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999" cy="624042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7021" y="147781"/>
            <a:ext cx="4097586" cy="2814571"/>
          </a:xfrm>
          <a:prstGeom prst="roundRect">
            <a:avLst>
              <a:gd name="adj" fmla="val 4773"/>
            </a:avLst>
          </a:prstGeom>
          <a:solidFill>
            <a:srgbClr val="B9B9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100760"/>
            <a:ext cx="4097586" cy="2814571"/>
          </a:xfrm>
          <a:prstGeom prst="roundRect">
            <a:avLst>
              <a:gd name="adj" fmla="val 4773"/>
            </a:avLst>
          </a:prstGeom>
          <a:solidFill>
            <a:srgbClr val="E2F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12542" y="147781"/>
            <a:ext cx="2371226" cy="2821289"/>
          </a:xfrm>
          <a:prstGeom prst="roundRect">
            <a:avLst>
              <a:gd name="adj" fmla="val 5099"/>
            </a:avLst>
          </a:prstGeom>
          <a:solidFill>
            <a:srgbClr val="B9B9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265520" y="100760"/>
            <a:ext cx="2371226" cy="2821289"/>
          </a:xfrm>
          <a:prstGeom prst="roundRect">
            <a:avLst>
              <a:gd name="adj" fmla="val 5099"/>
            </a:avLst>
          </a:prstGeom>
          <a:solidFill>
            <a:srgbClr val="FFF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65137" y="147781"/>
            <a:ext cx="5373884" cy="2807854"/>
          </a:xfrm>
          <a:prstGeom prst="roundRect">
            <a:avLst>
              <a:gd name="adj" fmla="val 5263"/>
            </a:avLst>
          </a:prstGeom>
          <a:solidFill>
            <a:srgbClr val="B9B9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18115" y="100760"/>
            <a:ext cx="5373884" cy="2807854"/>
          </a:xfrm>
          <a:prstGeom prst="roundRect">
            <a:avLst>
              <a:gd name="adj" fmla="val 5263"/>
            </a:avLst>
          </a:prstGeom>
          <a:solidFill>
            <a:srgbClr val="F1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7844" y="3190743"/>
            <a:ext cx="10727616" cy="3096700"/>
          </a:xfrm>
          <a:prstGeom prst="roundRect">
            <a:avLst>
              <a:gd name="adj" fmla="val 3470"/>
            </a:avLst>
          </a:prstGeom>
          <a:solidFill>
            <a:srgbClr val="B9B9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50823" y="3143722"/>
            <a:ext cx="10727616" cy="3096700"/>
          </a:xfrm>
          <a:prstGeom prst="roundRect">
            <a:avLst>
              <a:gd name="adj" fmla="val 3470"/>
            </a:avLst>
          </a:prstGeom>
          <a:solidFill>
            <a:srgbClr val="FFFFFF"/>
          </a:solidFill>
          <a:ln w="31496">
            <a:solidFill>
              <a:srgbClr val="EFE7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nput_fram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781" y="282128"/>
            <a:ext cx="1853990" cy="133003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47781" y="282128"/>
            <a:ext cx="1853990" cy="1330036"/>
          </a:xfrm>
          <a:prstGeom prst="rect">
            <a:avLst/>
          </a:prstGeom>
          <a:noFill/>
          <a:ln w="18897">
            <a:solidFill>
              <a:srgbClr val="426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2142836" y="369454"/>
            <a:ext cx="846342" cy="1054569"/>
          </a:xfrm>
          <a:custGeom>
            <a:avLst/>
            <a:gdLst/>
            <a:ahLst/>
            <a:cxnLst/>
            <a:rect l="l" t="t" r="r" b="b"/>
            <a:pathLst>
              <a:path w="126" h="157">
                <a:moveTo>
                  <a:pt x="0" y="0"/>
                </a:moveTo>
                <a:lnTo>
                  <a:pt x="126" y="38"/>
                </a:lnTo>
                <a:lnTo>
                  <a:pt x="126" y="118"/>
                </a:lnTo>
                <a:lnTo>
                  <a:pt x="0" y="157"/>
                </a:lnTo>
                <a:close/>
              </a:path>
            </a:pathLst>
          </a:custGeom>
          <a:solidFill>
            <a:srgbClr val="B9B9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2095814" y="322433"/>
            <a:ext cx="846342" cy="1054569"/>
          </a:xfrm>
          <a:custGeom>
            <a:avLst/>
            <a:gdLst/>
            <a:ahLst/>
            <a:cxnLst/>
            <a:rect l="l" t="t" r="r" b="b"/>
            <a:pathLst>
              <a:path w="126" h="157">
                <a:moveTo>
                  <a:pt x="0" y="0"/>
                </a:moveTo>
                <a:lnTo>
                  <a:pt x="126" y="38"/>
                </a:lnTo>
                <a:lnTo>
                  <a:pt x="126" y="118"/>
                </a:lnTo>
                <a:lnTo>
                  <a:pt x="0" y="157"/>
                </a:lnTo>
                <a:close/>
              </a:path>
            </a:pathLst>
          </a:custGeom>
          <a:solidFill>
            <a:srgbClr val="A8B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89857" y="544105"/>
            <a:ext cx="665018" cy="584409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1392" b="1" i="0">
                <a:solidFill>
                  <a:srgbClr val="000000"/>
                </a:solidFill>
                <a:latin typeface="Times New Roman"/>
              </a:defRPr>
            </a:pPr>
            <a:r>
              <a:t>Visual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1392" b="1" i="0">
                <a:solidFill>
                  <a:srgbClr val="000000"/>
                </a:solidFill>
                <a:latin typeface="Times New Roman"/>
              </a:defRPr>
            </a:pPr>
            <a:r>
              <a:t>Encoder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962353" y="839669"/>
            <a:ext cx="268694" cy="0"/>
          </a:xfrm>
          <a:prstGeom prst="line">
            <a:avLst/>
          </a:prstGeom>
          <a:ln w="1811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Freeform 15"/>
          <p:cNvSpPr/>
          <p:nvPr/>
        </p:nvSpPr>
        <p:spPr>
          <a:xfrm>
            <a:off x="3157160" y="799367"/>
            <a:ext cx="73887" cy="80604"/>
          </a:xfrm>
          <a:custGeom>
            <a:avLst/>
            <a:gdLst/>
            <a:ahLst/>
            <a:cxnLst/>
            <a:rect l="l" t="t" r="r" b="b"/>
            <a:pathLst>
              <a:path w="11" h="12">
                <a:moveTo>
                  <a:pt x="11" y="6"/>
                </a:move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3937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3110135" y="994176"/>
            <a:ext cx="940380" cy="147774"/>
          </a:xfrm>
          <a:custGeom>
            <a:avLst/>
            <a:gdLst/>
            <a:ahLst/>
            <a:cxnLst/>
            <a:rect l="l" t="t" r="r" b="b"/>
            <a:pathLst>
              <a:path w="140" h="22">
                <a:moveTo>
                  <a:pt x="0" y="22"/>
                </a:moveTo>
                <a:lnTo>
                  <a:pt x="124" y="22"/>
                </a:lnTo>
                <a:lnTo>
                  <a:pt x="140" y="0"/>
                </a:lnTo>
                <a:lnTo>
                  <a:pt x="16" y="0"/>
                </a:lnTo>
                <a:close/>
              </a:path>
            </a:pathLst>
          </a:custGeom>
          <a:solidFill>
            <a:srgbClr val="929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3083266" y="960589"/>
            <a:ext cx="940380" cy="147774"/>
          </a:xfrm>
          <a:custGeom>
            <a:avLst/>
            <a:gdLst/>
            <a:ahLst/>
            <a:cxnLst/>
            <a:rect l="l" t="t" r="r" b="b"/>
            <a:pathLst>
              <a:path w="140" h="22">
                <a:moveTo>
                  <a:pt x="0" y="22"/>
                </a:moveTo>
                <a:lnTo>
                  <a:pt x="124" y="22"/>
                </a:lnTo>
                <a:lnTo>
                  <a:pt x="140" y="0"/>
                </a:lnTo>
                <a:lnTo>
                  <a:pt x="16" y="0"/>
                </a:lnTo>
                <a:close/>
              </a:path>
            </a:pathLst>
          </a:custGeom>
          <a:solidFill>
            <a:srgbClr val="6887C3"/>
          </a:solidFill>
          <a:ln w="10236">
            <a:solidFill>
              <a:srgbClr val="2C4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71351" y="940429"/>
            <a:ext cx="651583" cy="167933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1055" b="1" i="1">
                <a:solidFill>
                  <a:srgbClr val="000000"/>
                </a:solidFill>
                <a:latin typeface="Times New Roman"/>
              </a:defRPr>
            </a:pPr>
            <a:r>
              <a:t>S₃</a:t>
            </a:r>
          </a:p>
        </p:txBody>
      </p:sp>
      <p:sp>
        <p:nvSpPr>
          <p:cNvPr id="20" name="Freeform 19"/>
          <p:cNvSpPr/>
          <p:nvPr/>
        </p:nvSpPr>
        <p:spPr>
          <a:xfrm>
            <a:off x="3278069" y="792655"/>
            <a:ext cx="685134" cy="147774"/>
          </a:xfrm>
          <a:custGeom>
            <a:avLst/>
            <a:gdLst/>
            <a:ahLst/>
            <a:cxnLst/>
            <a:rect l="l" t="t" r="r" b="b"/>
            <a:pathLst>
              <a:path w="102" h="22">
                <a:moveTo>
                  <a:pt x="0" y="22"/>
                </a:moveTo>
                <a:lnTo>
                  <a:pt x="86" y="22"/>
                </a:lnTo>
                <a:lnTo>
                  <a:pt x="102" y="0"/>
                </a:lnTo>
                <a:lnTo>
                  <a:pt x="16" y="0"/>
                </a:lnTo>
                <a:close/>
              </a:path>
            </a:pathLst>
          </a:custGeom>
          <a:solidFill>
            <a:srgbClr val="929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3251199" y="759068"/>
            <a:ext cx="685134" cy="147774"/>
          </a:xfrm>
          <a:custGeom>
            <a:avLst/>
            <a:gdLst/>
            <a:ahLst/>
            <a:cxnLst/>
            <a:rect l="l" t="t" r="r" b="b"/>
            <a:pathLst>
              <a:path w="102" h="22">
                <a:moveTo>
                  <a:pt x="0" y="22"/>
                </a:moveTo>
                <a:lnTo>
                  <a:pt x="86" y="22"/>
                </a:lnTo>
                <a:lnTo>
                  <a:pt x="102" y="0"/>
                </a:lnTo>
                <a:lnTo>
                  <a:pt x="16" y="0"/>
                </a:lnTo>
                <a:close/>
              </a:path>
            </a:pathLst>
          </a:custGeom>
          <a:solidFill>
            <a:srgbClr val="879ED2"/>
          </a:solidFill>
          <a:ln w="10236">
            <a:solidFill>
              <a:srgbClr val="2C4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39285" y="738909"/>
            <a:ext cx="396323" cy="167933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1055" b="1" i="1">
                <a:solidFill>
                  <a:srgbClr val="000000"/>
                </a:solidFill>
                <a:latin typeface="Times New Roman"/>
              </a:defRPr>
            </a:pPr>
            <a:r>
              <a:t>S₄</a:t>
            </a:r>
          </a:p>
        </p:txBody>
      </p:sp>
      <p:sp>
        <p:nvSpPr>
          <p:cNvPr id="23" name="Freeform 22"/>
          <p:cNvSpPr/>
          <p:nvPr/>
        </p:nvSpPr>
        <p:spPr>
          <a:xfrm>
            <a:off x="3385547" y="584417"/>
            <a:ext cx="429888" cy="147774"/>
          </a:xfrm>
          <a:custGeom>
            <a:avLst/>
            <a:gdLst/>
            <a:ahLst/>
            <a:cxnLst/>
            <a:rect l="l" t="t" r="r" b="b"/>
            <a:pathLst>
              <a:path w="64" h="22">
                <a:moveTo>
                  <a:pt x="0" y="22"/>
                </a:moveTo>
                <a:lnTo>
                  <a:pt x="48" y="22"/>
                </a:lnTo>
                <a:lnTo>
                  <a:pt x="64" y="0"/>
                </a:lnTo>
                <a:lnTo>
                  <a:pt x="16" y="0"/>
                </a:lnTo>
                <a:close/>
              </a:path>
            </a:pathLst>
          </a:custGeom>
          <a:solidFill>
            <a:srgbClr val="929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3358677" y="550830"/>
            <a:ext cx="429888" cy="147774"/>
          </a:xfrm>
          <a:custGeom>
            <a:avLst/>
            <a:gdLst/>
            <a:ahLst/>
            <a:cxnLst/>
            <a:rect l="l" t="t" r="r" b="b"/>
            <a:pathLst>
              <a:path w="64" h="22">
                <a:moveTo>
                  <a:pt x="0" y="22"/>
                </a:moveTo>
                <a:lnTo>
                  <a:pt x="48" y="22"/>
                </a:lnTo>
                <a:lnTo>
                  <a:pt x="64" y="0"/>
                </a:lnTo>
                <a:lnTo>
                  <a:pt x="16" y="0"/>
                </a:lnTo>
                <a:close/>
              </a:path>
            </a:pathLst>
          </a:custGeom>
          <a:solidFill>
            <a:srgbClr val="AABCE3"/>
          </a:solidFill>
          <a:ln w="10236">
            <a:solidFill>
              <a:srgbClr val="2C4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46763" y="530671"/>
            <a:ext cx="141064" cy="167933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1055" b="1" i="1">
                <a:solidFill>
                  <a:srgbClr val="000000"/>
                </a:solidFill>
                <a:latin typeface="Times New Roman"/>
              </a:defRPr>
            </a:pPr>
            <a:r>
              <a:t>S₅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990108" y="732191"/>
            <a:ext cx="403042" cy="0"/>
          </a:xfrm>
          <a:prstGeom prst="line">
            <a:avLst/>
          </a:prstGeom>
          <a:ln w="1811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4325980" y="698606"/>
            <a:ext cx="67170" cy="67170"/>
          </a:xfrm>
          <a:custGeom>
            <a:avLst/>
            <a:gdLst/>
            <a:ahLst/>
            <a:cxnLst/>
            <a:rect l="l" t="t" r="r" b="b"/>
            <a:pathLst>
              <a:path w="10" h="10">
                <a:moveTo>
                  <a:pt x="10" y="5"/>
                </a:moveTo>
                <a:lnTo>
                  <a:pt x="0" y="1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3937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3990108" y="940429"/>
            <a:ext cx="403042" cy="0"/>
          </a:xfrm>
          <a:prstGeom prst="line">
            <a:avLst/>
          </a:prstGeom>
          <a:ln w="1811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Freeform 28"/>
          <p:cNvSpPr/>
          <p:nvPr/>
        </p:nvSpPr>
        <p:spPr>
          <a:xfrm>
            <a:off x="4325980" y="906844"/>
            <a:ext cx="67170" cy="67170"/>
          </a:xfrm>
          <a:custGeom>
            <a:avLst/>
            <a:gdLst/>
            <a:ahLst/>
            <a:cxnLst/>
            <a:rect l="l" t="t" r="r" b="b"/>
            <a:pathLst>
              <a:path w="10" h="10">
                <a:moveTo>
                  <a:pt x="10" y="5"/>
                </a:moveTo>
                <a:lnTo>
                  <a:pt x="0" y="1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3937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0912" y="1706208"/>
            <a:ext cx="1874142" cy="1000885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1248" b="1" i="0">
                <a:solidFill>
                  <a:srgbClr val="000000"/>
                </a:solidFill>
                <a:latin typeface="Times New Roman"/>
              </a:defRPr>
            </a:pPr>
            <a:r>
              <a:t>The green bus that is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1248" b="1" i="0">
                <a:solidFill>
                  <a:srgbClr val="000000"/>
                </a:solidFill>
                <a:latin typeface="Times New Roman"/>
              </a:defRPr>
            </a:pPr>
            <a:r>
              <a:t>heading to the upper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1248" b="1" i="0">
                <a:solidFill>
                  <a:srgbClr val="000000"/>
                </a:solidFill>
                <a:latin typeface="Times New Roman"/>
              </a:defRPr>
            </a:pPr>
            <a:r>
              <a:t>right, from the lower left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1248" b="1" i="0">
                <a:solidFill>
                  <a:srgbClr val="000000"/>
                </a:solidFill>
                <a:latin typeface="Times New Roman"/>
              </a:defRPr>
            </a:pPr>
            <a:r>
              <a:t>corner of the Bell Tower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1248" b="1" i="0">
                <a:solidFill>
                  <a:srgbClr val="000000"/>
                </a:solidFill>
                <a:latin typeface="Times New Roman"/>
              </a:defRPr>
            </a:pPr>
            <a:r>
              <a:t>roundabout</a:t>
            </a:r>
          </a:p>
        </p:txBody>
      </p:sp>
      <p:sp>
        <p:nvSpPr>
          <p:cNvPr id="31" name="Freeform 30"/>
          <p:cNvSpPr/>
          <p:nvPr/>
        </p:nvSpPr>
        <p:spPr>
          <a:xfrm>
            <a:off x="2142836" y="1739794"/>
            <a:ext cx="846342" cy="1027701"/>
          </a:xfrm>
          <a:custGeom>
            <a:avLst/>
            <a:gdLst/>
            <a:ahLst/>
            <a:cxnLst/>
            <a:rect l="l" t="t" r="r" b="b"/>
            <a:pathLst>
              <a:path w="126" h="153">
                <a:moveTo>
                  <a:pt x="0" y="0"/>
                </a:moveTo>
                <a:lnTo>
                  <a:pt x="126" y="38"/>
                </a:lnTo>
                <a:lnTo>
                  <a:pt x="126" y="114"/>
                </a:lnTo>
                <a:lnTo>
                  <a:pt x="0" y="153"/>
                </a:lnTo>
                <a:close/>
              </a:path>
            </a:pathLst>
          </a:custGeom>
          <a:solidFill>
            <a:srgbClr val="B9B9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2095814" y="1692773"/>
            <a:ext cx="846342" cy="1027701"/>
          </a:xfrm>
          <a:custGeom>
            <a:avLst/>
            <a:gdLst/>
            <a:ahLst/>
            <a:cxnLst/>
            <a:rect l="l" t="t" r="r" b="b"/>
            <a:pathLst>
              <a:path w="126" h="153">
                <a:moveTo>
                  <a:pt x="0" y="0"/>
                </a:moveTo>
                <a:lnTo>
                  <a:pt x="126" y="38"/>
                </a:lnTo>
                <a:lnTo>
                  <a:pt x="126" y="114"/>
                </a:lnTo>
                <a:lnTo>
                  <a:pt x="0" y="153"/>
                </a:lnTo>
                <a:close/>
              </a:path>
            </a:pathLst>
          </a:custGeom>
          <a:solidFill>
            <a:srgbClr val="A8D1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115966" y="1934598"/>
            <a:ext cx="785930" cy="497084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1296" b="1" i="0">
                <a:solidFill>
                  <a:srgbClr val="000000"/>
                </a:solidFill>
                <a:latin typeface="Times New Roman"/>
              </a:defRPr>
            </a:pPr>
            <a:r>
              <a:t>Language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1296" b="1" i="0">
                <a:solidFill>
                  <a:srgbClr val="000000"/>
                </a:solidFill>
                <a:latin typeface="Times New Roman"/>
              </a:defRPr>
            </a:pPr>
            <a:r>
              <a:t>Encoder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948918" y="2203292"/>
            <a:ext cx="282129" cy="0"/>
          </a:xfrm>
          <a:prstGeom prst="line">
            <a:avLst/>
          </a:prstGeom>
          <a:ln w="1811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Freeform 34"/>
          <p:cNvSpPr/>
          <p:nvPr/>
        </p:nvSpPr>
        <p:spPr>
          <a:xfrm>
            <a:off x="3163877" y="2169707"/>
            <a:ext cx="67170" cy="67170"/>
          </a:xfrm>
          <a:custGeom>
            <a:avLst/>
            <a:gdLst/>
            <a:ahLst/>
            <a:cxnLst/>
            <a:rect l="l" t="t" r="r" b="b"/>
            <a:pathLst>
              <a:path w="10" h="10">
                <a:moveTo>
                  <a:pt x="10" y="5"/>
                </a:moveTo>
                <a:lnTo>
                  <a:pt x="0" y="1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3937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291504" y="1847272"/>
            <a:ext cx="288846" cy="806082"/>
          </a:xfrm>
          <a:prstGeom prst="roundRect">
            <a:avLst>
              <a:gd name="adj" fmla="val 13953"/>
            </a:avLst>
          </a:prstGeom>
          <a:solidFill>
            <a:srgbClr val="B9B9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3244482" y="1800251"/>
            <a:ext cx="288846" cy="806082"/>
          </a:xfrm>
          <a:prstGeom prst="roundRect">
            <a:avLst>
              <a:gd name="adj" fmla="val 13953"/>
            </a:avLst>
          </a:prstGeom>
          <a:solidFill>
            <a:srgbClr val="A9D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 rot="5400000">
            <a:off x="3029527" y="2082380"/>
            <a:ext cx="712039" cy="241824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1152" b="1" i="0">
                <a:solidFill>
                  <a:srgbClr val="000000"/>
                </a:solidFill>
                <a:latin typeface="Times New Roman"/>
              </a:defRPr>
            </a:pPr>
            <a:r>
              <a:t>Linear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3546763" y="2203292"/>
            <a:ext cx="241825" cy="0"/>
          </a:xfrm>
          <a:prstGeom prst="line">
            <a:avLst/>
          </a:prstGeom>
          <a:ln w="1811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Freeform 39"/>
          <p:cNvSpPr/>
          <p:nvPr/>
        </p:nvSpPr>
        <p:spPr>
          <a:xfrm>
            <a:off x="3721418" y="2169707"/>
            <a:ext cx="67170" cy="67170"/>
          </a:xfrm>
          <a:custGeom>
            <a:avLst/>
            <a:gdLst/>
            <a:ahLst/>
            <a:cxnLst/>
            <a:rect l="l" t="t" r="r" b="b"/>
            <a:pathLst>
              <a:path w="10" h="10">
                <a:moveTo>
                  <a:pt x="10" y="5"/>
                </a:moveTo>
                <a:lnTo>
                  <a:pt x="0" y="1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3937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3855761" y="1833837"/>
            <a:ext cx="100760" cy="100760"/>
          </a:xfrm>
          <a:prstGeom prst="roundRect">
            <a:avLst>
              <a:gd name="adj" fmla="val 16000"/>
            </a:avLst>
          </a:prstGeom>
          <a:solidFill>
            <a:srgbClr val="A8D18D"/>
          </a:solidFill>
          <a:ln w="14173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969956" y="1806968"/>
            <a:ext cx="47021" cy="114195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768" b="1" i="0">
                <a:solidFill>
                  <a:srgbClr val="000000"/>
                </a:solidFill>
                <a:latin typeface="Times New Roman"/>
              </a:defRPr>
            </a:pPr>
            <a:r>
              <a:t>···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023695" y="1833837"/>
            <a:ext cx="100760" cy="100760"/>
          </a:xfrm>
          <a:prstGeom prst="roundRect">
            <a:avLst>
              <a:gd name="adj" fmla="val 16000"/>
            </a:avLst>
          </a:prstGeom>
          <a:solidFill>
            <a:srgbClr val="A8D18D"/>
          </a:solidFill>
          <a:ln w="14173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37890" y="1806968"/>
            <a:ext cx="47021" cy="114195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768" b="1" i="0">
                <a:solidFill>
                  <a:srgbClr val="000000"/>
                </a:solidFill>
                <a:latin typeface="Times New Roman"/>
              </a:defRPr>
            </a:pPr>
            <a:r>
              <a:t>···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191629" y="1833837"/>
            <a:ext cx="100760" cy="100760"/>
          </a:xfrm>
          <a:prstGeom prst="roundRect">
            <a:avLst>
              <a:gd name="adj" fmla="val 16000"/>
            </a:avLst>
          </a:prstGeom>
          <a:solidFill>
            <a:srgbClr val="A8D18D"/>
          </a:solidFill>
          <a:ln w="14173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" name="Connector 45"/>
          <p:cNvCxnSpPr/>
          <p:nvPr/>
        </p:nvCxnSpPr>
        <p:spPr>
          <a:xfrm>
            <a:off x="4050565" y="2203292"/>
            <a:ext cx="208238" cy="0"/>
          </a:xfrm>
          <a:prstGeom prst="line">
            <a:avLst/>
          </a:prstGeom>
          <a:ln w="1811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Freeform 46"/>
          <p:cNvSpPr/>
          <p:nvPr/>
        </p:nvSpPr>
        <p:spPr>
          <a:xfrm>
            <a:off x="4191633" y="2169707"/>
            <a:ext cx="67170" cy="67170"/>
          </a:xfrm>
          <a:custGeom>
            <a:avLst/>
            <a:gdLst/>
            <a:ahLst/>
            <a:cxnLst/>
            <a:rect l="l" t="t" r="r" b="b"/>
            <a:pathLst>
              <a:path w="10" h="10">
                <a:moveTo>
                  <a:pt x="10" y="5"/>
                </a:moveTo>
                <a:lnTo>
                  <a:pt x="0" y="1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3937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833837" y="2922049"/>
            <a:ext cx="403041" cy="181368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1152" b="1" i="0">
                <a:solidFill>
                  <a:srgbClr val="000000"/>
                </a:solidFill>
                <a:latin typeface="Times New Roman"/>
              </a:defRPr>
            </a:pPr>
            <a:r>
              <a:t>(a)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460323" y="597844"/>
            <a:ext cx="2068945" cy="584409"/>
          </a:xfrm>
          <a:prstGeom prst="roundRect">
            <a:avLst>
              <a:gd name="adj" fmla="val 11494"/>
            </a:avLst>
          </a:prstGeom>
          <a:solidFill>
            <a:srgbClr val="B9B9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4413302" y="550823"/>
            <a:ext cx="2068945" cy="584409"/>
          </a:xfrm>
          <a:prstGeom prst="roundRect">
            <a:avLst>
              <a:gd name="adj" fmla="val 11494"/>
            </a:avLst>
          </a:prstGeom>
          <a:solidFill>
            <a:srgbClr val="EA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453606" y="624714"/>
            <a:ext cx="1988337" cy="443345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1344" b="1" i="0">
                <a:solidFill>
                  <a:srgbClr val="000000"/>
                </a:solidFill>
                <a:latin typeface="Times New Roman"/>
              </a:defRPr>
            </a:pPr>
            <a:r>
              <a:t>Cross-scale Visual-only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1344" b="1" i="0">
                <a:solidFill>
                  <a:srgbClr val="000000"/>
                </a:solidFill>
                <a:latin typeface="Times New Roman"/>
              </a:defRPr>
            </a:pPr>
            <a:r>
              <a:t>Fusion Branch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6589725" y="308998"/>
            <a:ext cx="0" cy="537388"/>
          </a:xfrm>
          <a:prstGeom prst="line">
            <a:avLst/>
          </a:prstGeom>
          <a:ln w="1811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Freeform 52"/>
          <p:cNvSpPr/>
          <p:nvPr/>
        </p:nvSpPr>
        <p:spPr>
          <a:xfrm>
            <a:off x="6549423" y="772499"/>
            <a:ext cx="80604" cy="73887"/>
          </a:xfrm>
          <a:custGeom>
            <a:avLst/>
            <a:gdLst/>
            <a:ahLst/>
            <a:cxnLst/>
            <a:rect l="l" t="t" r="r" b="b"/>
            <a:pathLst>
              <a:path w="12" h="11">
                <a:moveTo>
                  <a:pt x="6" y="11"/>
                </a:moveTo>
                <a:lnTo>
                  <a:pt x="0" y="0"/>
                </a:lnTo>
                <a:lnTo>
                  <a:pt x="12" y="0"/>
                </a:lnTo>
                <a:close/>
              </a:path>
            </a:pathLst>
          </a:custGeom>
          <a:solidFill>
            <a:srgbClr val="000000"/>
          </a:solidFill>
          <a:ln w="3937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>
            <a:off x="6368052" y="308998"/>
            <a:ext cx="221673" cy="0"/>
          </a:xfrm>
          <a:prstGeom prst="line">
            <a:avLst/>
          </a:prstGeom>
          <a:ln w="157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ounded Rectangle 54"/>
          <p:cNvSpPr/>
          <p:nvPr/>
        </p:nvSpPr>
        <p:spPr>
          <a:xfrm>
            <a:off x="4514062" y="221672"/>
            <a:ext cx="100760" cy="100760"/>
          </a:xfrm>
          <a:prstGeom prst="roundRect">
            <a:avLst>
              <a:gd name="adj" fmla="val 16000"/>
            </a:avLst>
          </a:prstGeom>
          <a:solidFill>
            <a:srgbClr val="D9E4F4"/>
          </a:solidFill>
          <a:ln w="14173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628257" y="194803"/>
            <a:ext cx="208238" cy="114195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768" b="1" i="0">
                <a:solidFill>
                  <a:srgbClr val="000000"/>
                </a:solidFill>
                <a:latin typeface="Times New Roman"/>
              </a:defRPr>
            </a:pPr>
            <a:r>
              <a:t>···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843213" y="221672"/>
            <a:ext cx="100760" cy="100760"/>
          </a:xfrm>
          <a:prstGeom prst="roundRect">
            <a:avLst>
              <a:gd name="adj" fmla="val 16000"/>
            </a:avLst>
          </a:prstGeom>
          <a:solidFill>
            <a:srgbClr val="D9E4F4"/>
          </a:solidFill>
          <a:ln w="14173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957408" y="194803"/>
            <a:ext cx="208238" cy="114195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768" b="1" i="0">
                <a:solidFill>
                  <a:srgbClr val="000000"/>
                </a:solidFill>
                <a:latin typeface="Times New Roman"/>
              </a:defRPr>
            </a:pPr>
            <a:r>
              <a:t>···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172363" y="221672"/>
            <a:ext cx="100760" cy="100760"/>
          </a:xfrm>
          <a:prstGeom prst="roundRect">
            <a:avLst>
              <a:gd name="adj" fmla="val 16000"/>
            </a:avLst>
          </a:prstGeom>
          <a:solidFill>
            <a:srgbClr val="D9E4F4"/>
          </a:solidFill>
          <a:ln w="14173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286558" y="194803"/>
            <a:ext cx="208238" cy="114195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768" b="1" i="0">
                <a:solidFill>
                  <a:srgbClr val="000000"/>
                </a:solidFill>
                <a:latin typeface="Times New Roman"/>
              </a:defRPr>
            </a:pPr>
            <a:r>
              <a:t>···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501513" y="221672"/>
            <a:ext cx="100760" cy="100760"/>
          </a:xfrm>
          <a:prstGeom prst="roundRect">
            <a:avLst>
              <a:gd name="adj" fmla="val 16000"/>
            </a:avLst>
          </a:prstGeom>
          <a:solidFill>
            <a:srgbClr val="D9E4F4"/>
          </a:solidFill>
          <a:ln w="14173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615708" y="194803"/>
            <a:ext cx="208238" cy="114195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768" b="1" i="0">
                <a:solidFill>
                  <a:srgbClr val="000000"/>
                </a:solidFill>
                <a:latin typeface="Times New Roman"/>
              </a:defRPr>
            </a:pPr>
            <a:r>
              <a:t>···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830664" y="221672"/>
            <a:ext cx="100760" cy="100760"/>
          </a:xfrm>
          <a:prstGeom prst="roundRect">
            <a:avLst>
              <a:gd name="adj" fmla="val 16000"/>
            </a:avLst>
          </a:prstGeom>
          <a:solidFill>
            <a:srgbClr val="D9E4F4"/>
          </a:solidFill>
          <a:ln w="14173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944859" y="194803"/>
            <a:ext cx="208238" cy="114195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768" b="1" i="0">
                <a:solidFill>
                  <a:srgbClr val="000000"/>
                </a:solidFill>
                <a:latin typeface="Times New Roman"/>
              </a:defRPr>
            </a:pPr>
            <a:r>
              <a:t>···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159814" y="221672"/>
            <a:ext cx="100760" cy="100760"/>
          </a:xfrm>
          <a:prstGeom prst="roundRect">
            <a:avLst>
              <a:gd name="adj" fmla="val 16000"/>
            </a:avLst>
          </a:prstGeom>
          <a:solidFill>
            <a:srgbClr val="D9E4F4"/>
          </a:solidFill>
          <a:ln w="14173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" name="Connector 65"/>
          <p:cNvCxnSpPr/>
          <p:nvPr/>
        </p:nvCxnSpPr>
        <p:spPr>
          <a:xfrm flipV="1">
            <a:off x="4628257" y="382889"/>
            <a:ext cx="0" cy="167934"/>
          </a:xfrm>
          <a:prstGeom prst="line">
            <a:avLst/>
          </a:prstGeom>
          <a:ln w="14173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Freeform 66"/>
          <p:cNvSpPr/>
          <p:nvPr/>
        </p:nvSpPr>
        <p:spPr>
          <a:xfrm>
            <a:off x="4601389" y="382889"/>
            <a:ext cx="53736" cy="47019"/>
          </a:xfrm>
          <a:custGeom>
            <a:avLst/>
            <a:gdLst/>
            <a:ahLst/>
            <a:cxnLst/>
            <a:rect l="l" t="t" r="r" b="b"/>
            <a:pathLst>
              <a:path w="8" h="7">
                <a:moveTo>
                  <a:pt x="4" y="0"/>
                </a:moveTo>
                <a:lnTo>
                  <a:pt x="8" y="7"/>
                </a:lnTo>
                <a:lnTo>
                  <a:pt x="0" y="7"/>
                </a:lnTo>
                <a:close/>
              </a:path>
            </a:pathLst>
          </a:custGeom>
          <a:solidFill>
            <a:srgbClr val="000000"/>
          </a:solidFill>
          <a:ln w="3937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8" name="Connector 67"/>
          <p:cNvCxnSpPr/>
          <p:nvPr/>
        </p:nvCxnSpPr>
        <p:spPr>
          <a:xfrm flipV="1">
            <a:off x="4930538" y="382889"/>
            <a:ext cx="0" cy="167934"/>
          </a:xfrm>
          <a:prstGeom prst="line">
            <a:avLst/>
          </a:prstGeom>
          <a:ln w="14173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Freeform 68"/>
          <p:cNvSpPr/>
          <p:nvPr/>
        </p:nvSpPr>
        <p:spPr>
          <a:xfrm>
            <a:off x="4903670" y="382889"/>
            <a:ext cx="53736" cy="47019"/>
          </a:xfrm>
          <a:custGeom>
            <a:avLst/>
            <a:gdLst/>
            <a:ahLst/>
            <a:cxnLst/>
            <a:rect l="l" t="t" r="r" b="b"/>
            <a:pathLst>
              <a:path w="8" h="7">
                <a:moveTo>
                  <a:pt x="4" y="0"/>
                </a:moveTo>
                <a:lnTo>
                  <a:pt x="8" y="7"/>
                </a:lnTo>
                <a:lnTo>
                  <a:pt x="0" y="7"/>
                </a:lnTo>
                <a:close/>
              </a:path>
            </a:pathLst>
          </a:custGeom>
          <a:solidFill>
            <a:srgbClr val="000000"/>
          </a:solidFill>
          <a:ln w="3937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" name="Connector 69"/>
          <p:cNvCxnSpPr/>
          <p:nvPr/>
        </p:nvCxnSpPr>
        <p:spPr>
          <a:xfrm flipV="1">
            <a:off x="5286558" y="382889"/>
            <a:ext cx="0" cy="167934"/>
          </a:xfrm>
          <a:prstGeom prst="line">
            <a:avLst/>
          </a:prstGeom>
          <a:ln w="14173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Freeform 70"/>
          <p:cNvSpPr/>
          <p:nvPr/>
        </p:nvSpPr>
        <p:spPr>
          <a:xfrm>
            <a:off x="5259690" y="382889"/>
            <a:ext cx="53736" cy="47019"/>
          </a:xfrm>
          <a:custGeom>
            <a:avLst/>
            <a:gdLst/>
            <a:ahLst/>
            <a:cxnLst/>
            <a:rect l="l" t="t" r="r" b="b"/>
            <a:pathLst>
              <a:path w="8" h="7">
                <a:moveTo>
                  <a:pt x="4" y="0"/>
                </a:moveTo>
                <a:lnTo>
                  <a:pt x="8" y="7"/>
                </a:lnTo>
                <a:lnTo>
                  <a:pt x="0" y="7"/>
                </a:lnTo>
                <a:close/>
              </a:path>
            </a:pathLst>
          </a:custGeom>
          <a:solidFill>
            <a:srgbClr val="000000"/>
          </a:solidFill>
          <a:ln w="3937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2" name="Connector 71"/>
          <p:cNvCxnSpPr/>
          <p:nvPr/>
        </p:nvCxnSpPr>
        <p:spPr>
          <a:xfrm flipV="1">
            <a:off x="5588839" y="382889"/>
            <a:ext cx="0" cy="167934"/>
          </a:xfrm>
          <a:prstGeom prst="line">
            <a:avLst/>
          </a:prstGeom>
          <a:ln w="14173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Freeform 72"/>
          <p:cNvSpPr/>
          <p:nvPr/>
        </p:nvSpPr>
        <p:spPr>
          <a:xfrm>
            <a:off x="5561971" y="382889"/>
            <a:ext cx="53736" cy="47019"/>
          </a:xfrm>
          <a:custGeom>
            <a:avLst/>
            <a:gdLst/>
            <a:ahLst/>
            <a:cxnLst/>
            <a:rect l="l" t="t" r="r" b="b"/>
            <a:pathLst>
              <a:path w="8" h="7">
                <a:moveTo>
                  <a:pt x="4" y="0"/>
                </a:moveTo>
                <a:lnTo>
                  <a:pt x="8" y="7"/>
                </a:lnTo>
                <a:lnTo>
                  <a:pt x="0" y="7"/>
                </a:lnTo>
                <a:close/>
              </a:path>
            </a:pathLst>
          </a:custGeom>
          <a:solidFill>
            <a:srgbClr val="000000"/>
          </a:solidFill>
          <a:ln w="3937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" name="Connector 73"/>
          <p:cNvCxnSpPr/>
          <p:nvPr/>
        </p:nvCxnSpPr>
        <p:spPr>
          <a:xfrm flipV="1">
            <a:off x="5944859" y="382889"/>
            <a:ext cx="0" cy="167934"/>
          </a:xfrm>
          <a:prstGeom prst="line">
            <a:avLst/>
          </a:prstGeom>
          <a:ln w="14173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Freeform 74"/>
          <p:cNvSpPr/>
          <p:nvPr/>
        </p:nvSpPr>
        <p:spPr>
          <a:xfrm>
            <a:off x="5917991" y="382889"/>
            <a:ext cx="53736" cy="47019"/>
          </a:xfrm>
          <a:custGeom>
            <a:avLst/>
            <a:gdLst/>
            <a:ahLst/>
            <a:cxnLst/>
            <a:rect l="l" t="t" r="r" b="b"/>
            <a:pathLst>
              <a:path w="8" h="7">
                <a:moveTo>
                  <a:pt x="4" y="0"/>
                </a:moveTo>
                <a:lnTo>
                  <a:pt x="8" y="7"/>
                </a:lnTo>
                <a:lnTo>
                  <a:pt x="0" y="7"/>
                </a:lnTo>
                <a:close/>
              </a:path>
            </a:pathLst>
          </a:custGeom>
          <a:solidFill>
            <a:srgbClr val="000000"/>
          </a:solidFill>
          <a:ln w="3937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6" name="Connector 75"/>
          <p:cNvCxnSpPr/>
          <p:nvPr/>
        </p:nvCxnSpPr>
        <p:spPr>
          <a:xfrm flipV="1">
            <a:off x="6260575" y="382889"/>
            <a:ext cx="0" cy="167934"/>
          </a:xfrm>
          <a:prstGeom prst="line">
            <a:avLst/>
          </a:prstGeom>
          <a:ln w="14173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Freeform 76"/>
          <p:cNvSpPr/>
          <p:nvPr/>
        </p:nvSpPr>
        <p:spPr>
          <a:xfrm>
            <a:off x="6233707" y="382889"/>
            <a:ext cx="53736" cy="47019"/>
          </a:xfrm>
          <a:custGeom>
            <a:avLst/>
            <a:gdLst/>
            <a:ahLst/>
            <a:cxnLst/>
            <a:rect l="l" t="t" r="r" b="b"/>
            <a:pathLst>
              <a:path w="8" h="7">
                <a:moveTo>
                  <a:pt x="4" y="0"/>
                </a:moveTo>
                <a:lnTo>
                  <a:pt x="8" y="7"/>
                </a:lnTo>
                <a:lnTo>
                  <a:pt x="0" y="7"/>
                </a:lnTo>
                <a:close/>
              </a:path>
            </a:pathLst>
          </a:custGeom>
          <a:solidFill>
            <a:srgbClr val="000000"/>
          </a:solidFill>
          <a:ln w="3937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8" name="Connector 77"/>
          <p:cNvCxnSpPr/>
          <p:nvPr/>
        </p:nvCxnSpPr>
        <p:spPr>
          <a:xfrm>
            <a:off x="6482247" y="853104"/>
            <a:ext cx="456780" cy="0"/>
          </a:xfrm>
          <a:prstGeom prst="line">
            <a:avLst/>
          </a:prstGeom>
          <a:ln w="1811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Freeform 78"/>
          <p:cNvSpPr/>
          <p:nvPr/>
        </p:nvSpPr>
        <p:spPr>
          <a:xfrm>
            <a:off x="6865140" y="812802"/>
            <a:ext cx="73887" cy="80604"/>
          </a:xfrm>
          <a:custGeom>
            <a:avLst/>
            <a:gdLst/>
            <a:ahLst/>
            <a:cxnLst/>
            <a:rect l="l" t="t" r="r" b="b"/>
            <a:pathLst>
              <a:path w="11" h="12">
                <a:moveTo>
                  <a:pt x="11" y="6"/>
                </a:move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3937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4460323" y="1853990"/>
            <a:ext cx="2068945" cy="759061"/>
          </a:xfrm>
          <a:prstGeom prst="roundRect">
            <a:avLst>
              <a:gd name="adj" fmla="val 8849"/>
            </a:avLst>
          </a:prstGeom>
          <a:solidFill>
            <a:srgbClr val="B9B9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4413302" y="1806968"/>
            <a:ext cx="2068945" cy="759061"/>
          </a:xfrm>
          <a:prstGeom prst="roundRect">
            <a:avLst>
              <a:gd name="adj" fmla="val 8849"/>
            </a:avLst>
          </a:prstGeom>
          <a:solidFill>
            <a:srgbClr val="ED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527497" y="1894294"/>
            <a:ext cx="1840555" cy="570975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1296" b="1" i="0">
                <a:solidFill>
                  <a:srgbClr val="000000"/>
                </a:solidFill>
                <a:latin typeface="Times New Roman"/>
              </a:defRPr>
            </a:pPr>
            <a:r>
              <a:t>Intra-scale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1296" b="1" i="0">
                <a:solidFill>
                  <a:srgbClr val="000000"/>
                </a:solidFill>
                <a:latin typeface="Times New Roman"/>
              </a:defRPr>
            </a:pPr>
            <a:r>
              <a:t>Multi-modality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1296" b="1" i="0">
                <a:solidFill>
                  <a:srgbClr val="000000"/>
                </a:solidFill>
                <a:latin typeface="Times New Roman"/>
              </a:defRPr>
            </a:pPr>
            <a:r>
              <a:t>Interaction Branch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4446889" y="1504687"/>
            <a:ext cx="107477" cy="107477"/>
          </a:xfrm>
          <a:prstGeom prst="roundRect">
            <a:avLst>
              <a:gd name="adj" fmla="val 16000"/>
            </a:avLst>
          </a:prstGeom>
          <a:solidFill>
            <a:srgbClr val="DBE7F7"/>
          </a:solidFill>
          <a:ln w="14173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567801" y="1477818"/>
            <a:ext cx="60456" cy="120912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768" b="1" i="0">
                <a:solidFill>
                  <a:srgbClr val="000000"/>
                </a:solidFill>
                <a:latin typeface="Times New Roman"/>
              </a:defRPr>
            </a:pPr>
            <a:r>
              <a:t>···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4634975" y="1504687"/>
            <a:ext cx="107477" cy="107477"/>
          </a:xfrm>
          <a:prstGeom prst="roundRect">
            <a:avLst>
              <a:gd name="adj" fmla="val 16000"/>
            </a:avLst>
          </a:prstGeom>
          <a:solidFill>
            <a:srgbClr val="DBE7F7"/>
          </a:solidFill>
          <a:ln w="14173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755887" y="1477818"/>
            <a:ext cx="60456" cy="120912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768" b="1" i="0">
                <a:solidFill>
                  <a:srgbClr val="000000"/>
                </a:solidFill>
                <a:latin typeface="Times New Roman"/>
              </a:defRPr>
            </a:pPr>
            <a:r>
              <a:t>···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4823061" y="1504687"/>
            <a:ext cx="107477" cy="107477"/>
          </a:xfrm>
          <a:prstGeom prst="roundRect">
            <a:avLst>
              <a:gd name="adj" fmla="val 16000"/>
            </a:avLst>
          </a:prstGeom>
          <a:solidFill>
            <a:srgbClr val="DBE7F7"/>
          </a:solidFill>
          <a:ln w="14173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5044733" y="1504687"/>
            <a:ext cx="107477" cy="107477"/>
          </a:xfrm>
          <a:prstGeom prst="roundRect">
            <a:avLst>
              <a:gd name="adj" fmla="val 16000"/>
            </a:avLst>
          </a:prstGeom>
          <a:solidFill>
            <a:srgbClr val="B9D99F"/>
          </a:solidFill>
          <a:ln w="14173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165646" y="1477818"/>
            <a:ext cx="60456" cy="120912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768" b="1" i="0">
                <a:solidFill>
                  <a:srgbClr val="000000"/>
                </a:solidFill>
                <a:latin typeface="Times New Roman"/>
              </a:defRPr>
            </a:pPr>
            <a:r>
              <a:t>···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5232819" y="1504687"/>
            <a:ext cx="107477" cy="107477"/>
          </a:xfrm>
          <a:prstGeom prst="roundRect">
            <a:avLst>
              <a:gd name="adj" fmla="val 16000"/>
            </a:avLst>
          </a:prstGeom>
          <a:solidFill>
            <a:srgbClr val="B9D99F"/>
          </a:solidFill>
          <a:ln w="14173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353732" y="1477818"/>
            <a:ext cx="60456" cy="120912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768" b="1" i="0">
                <a:solidFill>
                  <a:srgbClr val="000000"/>
                </a:solidFill>
                <a:latin typeface="Times New Roman"/>
              </a:defRPr>
            </a:pPr>
            <a:r>
              <a:t>···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5420905" y="1504687"/>
            <a:ext cx="107477" cy="107477"/>
          </a:xfrm>
          <a:prstGeom prst="roundRect">
            <a:avLst>
              <a:gd name="adj" fmla="val 16000"/>
            </a:avLst>
          </a:prstGeom>
          <a:solidFill>
            <a:srgbClr val="B9D99F"/>
          </a:solidFill>
          <a:ln w="14173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ounded Rectangle 92"/>
          <p:cNvSpPr/>
          <p:nvPr/>
        </p:nvSpPr>
        <p:spPr>
          <a:xfrm>
            <a:off x="5703034" y="1504687"/>
            <a:ext cx="107477" cy="107477"/>
          </a:xfrm>
          <a:prstGeom prst="roundRect">
            <a:avLst>
              <a:gd name="adj" fmla="val 16000"/>
            </a:avLst>
          </a:prstGeom>
          <a:solidFill>
            <a:srgbClr val="6488CB"/>
          </a:solidFill>
          <a:ln w="14173">
            <a:solidFill>
              <a:srgbClr val="FF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823946" y="1477818"/>
            <a:ext cx="60456" cy="120912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768" b="1" i="0">
                <a:solidFill>
                  <a:srgbClr val="000000"/>
                </a:solidFill>
                <a:latin typeface="Times New Roman"/>
              </a:defRPr>
            </a:pPr>
            <a:r>
              <a:t>···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5891120" y="1504687"/>
            <a:ext cx="107477" cy="107477"/>
          </a:xfrm>
          <a:prstGeom prst="roundRect">
            <a:avLst>
              <a:gd name="adj" fmla="val 16000"/>
            </a:avLst>
          </a:prstGeom>
          <a:solidFill>
            <a:srgbClr val="6488CB"/>
          </a:solidFill>
          <a:ln w="14173">
            <a:solidFill>
              <a:srgbClr val="FF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012032" y="1477818"/>
            <a:ext cx="60456" cy="120912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768" b="1" i="0">
                <a:solidFill>
                  <a:srgbClr val="000000"/>
                </a:solidFill>
                <a:latin typeface="Times New Roman"/>
              </a:defRPr>
            </a:pPr>
            <a:r>
              <a:t>···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6079206" y="1504687"/>
            <a:ext cx="107477" cy="107477"/>
          </a:xfrm>
          <a:prstGeom prst="roundRect">
            <a:avLst>
              <a:gd name="adj" fmla="val 16000"/>
            </a:avLst>
          </a:prstGeom>
          <a:solidFill>
            <a:srgbClr val="6488CB"/>
          </a:solidFill>
          <a:ln w="14173">
            <a:solidFill>
              <a:srgbClr val="FF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200118" y="1477818"/>
            <a:ext cx="60456" cy="120912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768" b="1" i="0">
                <a:solidFill>
                  <a:srgbClr val="000000"/>
                </a:solidFill>
                <a:latin typeface="Times New Roman"/>
              </a:defRPr>
            </a:pPr>
            <a:r>
              <a:t>···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6267292" y="1504687"/>
            <a:ext cx="107477" cy="107477"/>
          </a:xfrm>
          <a:prstGeom prst="roundRect">
            <a:avLst>
              <a:gd name="adj" fmla="val 16000"/>
            </a:avLst>
          </a:prstGeom>
          <a:solidFill>
            <a:srgbClr val="6488CB"/>
          </a:solidFill>
          <a:ln w="14173">
            <a:solidFill>
              <a:srgbClr val="FF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ounded Rectangle 99"/>
          <p:cNvSpPr/>
          <p:nvPr/>
        </p:nvSpPr>
        <p:spPr>
          <a:xfrm>
            <a:off x="4467041" y="2733963"/>
            <a:ext cx="107477" cy="107477"/>
          </a:xfrm>
          <a:prstGeom prst="roundRect">
            <a:avLst>
              <a:gd name="adj" fmla="val 16000"/>
            </a:avLst>
          </a:prstGeom>
          <a:solidFill>
            <a:srgbClr val="DBE7F7"/>
          </a:solidFill>
          <a:ln w="14173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587953" y="2707094"/>
            <a:ext cx="60456" cy="120912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768" b="1" i="0">
                <a:solidFill>
                  <a:srgbClr val="000000"/>
                </a:solidFill>
                <a:latin typeface="Times New Roman"/>
              </a:defRPr>
            </a:pPr>
            <a:r>
              <a:t>···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4655127" y="2733963"/>
            <a:ext cx="107477" cy="107477"/>
          </a:xfrm>
          <a:prstGeom prst="roundRect">
            <a:avLst>
              <a:gd name="adj" fmla="val 16000"/>
            </a:avLst>
          </a:prstGeom>
          <a:solidFill>
            <a:srgbClr val="DBE7F7"/>
          </a:solidFill>
          <a:ln w="14173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776039" y="2707094"/>
            <a:ext cx="60456" cy="120912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768" b="1" i="0">
                <a:solidFill>
                  <a:srgbClr val="000000"/>
                </a:solidFill>
                <a:latin typeface="Times New Roman"/>
              </a:defRPr>
            </a:pPr>
            <a:r>
              <a:t>···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4843213" y="2733963"/>
            <a:ext cx="107477" cy="107477"/>
          </a:xfrm>
          <a:prstGeom prst="roundRect">
            <a:avLst>
              <a:gd name="adj" fmla="val 16000"/>
            </a:avLst>
          </a:prstGeom>
          <a:solidFill>
            <a:srgbClr val="DBE7F7"/>
          </a:solidFill>
          <a:ln w="14173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ounded Rectangle 104"/>
          <p:cNvSpPr/>
          <p:nvPr/>
        </p:nvSpPr>
        <p:spPr>
          <a:xfrm>
            <a:off x="5078320" y="2733963"/>
            <a:ext cx="107477" cy="107477"/>
          </a:xfrm>
          <a:prstGeom prst="roundRect">
            <a:avLst>
              <a:gd name="adj" fmla="val 16000"/>
            </a:avLst>
          </a:prstGeom>
          <a:solidFill>
            <a:srgbClr val="B9D99F"/>
          </a:solidFill>
          <a:ln w="14173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5199232" y="2707094"/>
            <a:ext cx="60456" cy="120912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768" b="1" i="0">
                <a:solidFill>
                  <a:srgbClr val="000000"/>
                </a:solidFill>
                <a:latin typeface="Times New Roman"/>
              </a:defRPr>
            </a:pPr>
            <a:r>
              <a:t>···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5266406" y="2733963"/>
            <a:ext cx="107477" cy="107477"/>
          </a:xfrm>
          <a:prstGeom prst="roundRect">
            <a:avLst>
              <a:gd name="adj" fmla="val 16000"/>
            </a:avLst>
          </a:prstGeom>
          <a:solidFill>
            <a:srgbClr val="B9D99F"/>
          </a:solidFill>
          <a:ln w="14173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5387318" y="2707094"/>
            <a:ext cx="60456" cy="120912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768" b="1" i="0">
                <a:solidFill>
                  <a:srgbClr val="000000"/>
                </a:solidFill>
                <a:latin typeface="Times New Roman"/>
              </a:defRPr>
            </a:pPr>
            <a:r>
              <a:t>···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5454492" y="2733963"/>
            <a:ext cx="107477" cy="107477"/>
          </a:xfrm>
          <a:prstGeom prst="roundRect">
            <a:avLst>
              <a:gd name="adj" fmla="val 16000"/>
            </a:avLst>
          </a:prstGeom>
          <a:solidFill>
            <a:srgbClr val="B9D99F"/>
          </a:solidFill>
          <a:ln w="14173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ounded Rectangle 109"/>
          <p:cNvSpPr/>
          <p:nvPr/>
        </p:nvSpPr>
        <p:spPr>
          <a:xfrm>
            <a:off x="5729903" y="2733963"/>
            <a:ext cx="107477" cy="107477"/>
          </a:xfrm>
          <a:prstGeom prst="roundRect">
            <a:avLst>
              <a:gd name="adj" fmla="val 16000"/>
            </a:avLst>
          </a:prstGeom>
          <a:solidFill>
            <a:srgbClr val="6488CB"/>
          </a:solidFill>
          <a:ln w="14173">
            <a:solidFill>
              <a:srgbClr val="FF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5850816" y="2707094"/>
            <a:ext cx="60456" cy="120912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768" b="1" i="0">
                <a:solidFill>
                  <a:srgbClr val="000000"/>
                </a:solidFill>
                <a:latin typeface="Times New Roman"/>
              </a:defRPr>
            </a:pPr>
            <a:r>
              <a:t>···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5917989" y="2733963"/>
            <a:ext cx="107477" cy="107477"/>
          </a:xfrm>
          <a:prstGeom prst="roundRect">
            <a:avLst>
              <a:gd name="adj" fmla="val 16000"/>
            </a:avLst>
          </a:prstGeom>
          <a:solidFill>
            <a:srgbClr val="6488CB"/>
          </a:solidFill>
          <a:ln w="14173">
            <a:solidFill>
              <a:srgbClr val="FF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038902" y="2707094"/>
            <a:ext cx="60456" cy="120912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768" b="1" i="0">
                <a:solidFill>
                  <a:srgbClr val="000000"/>
                </a:solidFill>
                <a:latin typeface="Times New Roman"/>
              </a:defRPr>
            </a:pPr>
            <a:r>
              <a:t>···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6106075" y="2733963"/>
            <a:ext cx="107477" cy="107477"/>
          </a:xfrm>
          <a:prstGeom prst="roundRect">
            <a:avLst>
              <a:gd name="adj" fmla="val 16000"/>
            </a:avLst>
          </a:prstGeom>
          <a:solidFill>
            <a:srgbClr val="6488CB"/>
          </a:solidFill>
          <a:ln w="14173">
            <a:solidFill>
              <a:srgbClr val="FF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6226988" y="2707094"/>
            <a:ext cx="60456" cy="120912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768" b="1" i="0">
                <a:solidFill>
                  <a:srgbClr val="000000"/>
                </a:solidFill>
                <a:latin typeface="Times New Roman"/>
              </a:defRPr>
            </a:pPr>
            <a:r>
              <a:t>···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6294161" y="2733963"/>
            <a:ext cx="107477" cy="107477"/>
          </a:xfrm>
          <a:prstGeom prst="roundRect">
            <a:avLst>
              <a:gd name="adj" fmla="val 16000"/>
            </a:avLst>
          </a:prstGeom>
          <a:solidFill>
            <a:srgbClr val="6488CB"/>
          </a:solidFill>
          <a:ln w="14173">
            <a:solidFill>
              <a:srgbClr val="FF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7" name="Connector 116"/>
          <p:cNvCxnSpPr/>
          <p:nvPr/>
        </p:nvCxnSpPr>
        <p:spPr>
          <a:xfrm flipV="1">
            <a:off x="4527497" y="1679338"/>
            <a:ext cx="0" cy="127630"/>
          </a:xfrm>
          <a:prstGeom prst="line">
            <a:avLst/>
          </a:prstGeom>
          <a:ln w="1338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Freeform 117"/>
          <p:cNvSpPr/>
          <p:nvPr/>
        </p:nvSpPr>
        <p:spPr>
          <a:xfrm>
            <a:off x="4507346" y="1679338"/>
            <a:ext cx="40302" cy="40302"/>
          </a:xfrm>
          <a:custGeom>
            <a:avLst/>
            <a:gdLst/>
            <a:ahLst/>
            <a:cxnLst/>
            <a:rect l="l" t="t" r="r" b="b"/>
            <a:pathLst>
              <a:path w="6" h="6">
                <a:moveTo>
                  <a:pt x="3" y="0"/>
                </a:moveTo>
                <a:lnTo>
                  <a:pt x="6" y="6"/>
                </a:lnTo>
                <a:lnTo>
                  <a:pt x="0" y="6"/>
                </a:lnTo>
                <a:close/>
              </a:path>
            </a:pathLst>
          </a:custGeom>
          <a:solidFill>
            <a:srgbClr val="000000"/>
          </a:solidFill>
          <a:ln w="3937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9" name="Connector 118"/>
          <p:cNvCxnSpPr/>
          <p:nvPr/>
        </p:nvCxnSpPr>
        <p:spPr>
          <a:xfrm flipV="1">
            <a:off x="4527497" y="2579464"/>
            <a:ext cx="0" cy="154499"/>
          </a:xfrm>
          <a:prstGeom prst="line">
            <a:avLst/>
          </a:prstGeom>
          <a:ln w="1338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Freeform 119"/>
          <p:cNvSpPr/>
          <p:nvPr/>
        </p:nvSpPr>
        <p:spPr>
          <a:xfrm>
            <a:off x="4507346" y="2579464"/>
            <a:ext cx="40302" cy="40302"/>
          </a:xfrm>
          <a:custGeom>
            <a:avLst/>
            <a:gdLst/>
            <a:ahLst/>
            <a:cxnLst/>
            <a:rect l="l" t="t" r="r" b="b"/>
            <a:pathLst>
              <a:path w="6" h="6">
                <a:moveTo>
                  <a:pt x="3" y="0"/>
                </a:moveTo>
                <a:lnTo>
                  <a:pt x="6" y="6"/>
                </a:lnTo>
                <a:lnTo>
                  <a:pt x="0" y="6"/>
                </a:lnTo>
                <a:close/>
              </a:path>
            </a:pathLst>
          </a:custGeom>
          <a:solidFill>
            <a:srgbClr val="000000"/>
          </a:solidFill>
          <a:ln w="3937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1" name="Connector 120"/>
          <p:cNvCxnSpPr/>
          <p:nvPr/>
        </p:nvCxnSpPr>
        <p:spPr>
          <a:xfrm flipV="1">
            <a:off x="4829778" y="1679338"/>
            <a:ext cx="0" cy="127630"/>
          </a:xfrm>
          <a:prstGeom prst="line">
            <a:avLst/>
          </a:prstGeom>
          <a:ln w="1338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Freeform 121"/>
          <p:cNvSpPr/>
          <p:nvPr/>
        </p:nvSpPr>
        <p:spPr>
          <a:xfrm>
            <a:off x="4809627" y="1679338"/>
            <a:ext cx="40302" cy="40302"/>
          </a:xfrm>
          <a:custGeom>
            <a:avLst/>
            <a:gdLst/>
            <a:ahLst/>
            <a:cxnLst/>
            <a:rect l="l" t="t" r="r" b="b"/>
            <a:pathLst>
              <a:path w="6" h="6">
                <a:moveTo>
                  <a:pt x="3" y="0"/>
                </a:moveTo>
                <a:lnTo>
                  <a:pt x="6" y="6"/>
                </a:lnTo>
                <a:lnTo>
                  <a:pt x="0" y="6"/>
                </a:lnTo>
                <a:close/>
              </a:path>
            </a:pathLst>
          </a:custGeom>
          <a:solidFill>
            <a:srgbClr val="000000"/>
          </a:solidFill>
          <a:ln w="3937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3" name="Connector 122"/>
          <p:cNvCxnSpPr/>
          <p:nvPr/>
        </p:nvCxnSpPr>
        <p:spPr>
          <a:xfrm flipV="1">
            <a:off x="4829778" y="2579464"/>
            <a:ext cx="0" cy="154499"/>
          </a:xfrm>
          <a:prstGeom prst="line">
            <a:avLst/>
          </a:prstGeom>
          <a:ln w="1338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Freeform 123"/>
          <p:cNvSpPr/>
          <p:nvPr/>
        </p:nvSpPr>
        <p:spPr>
          <a:xfrm>
            <a:off x="4809627" y="2579464"/>
            <a:ext cx="40302" cy="40302"/>
          </a:xfrm>
          <a:custGeom>
            <a:avLst/>
            <a:gdLst/>
            <a:ahLst/>
            <a:cxnLst/>
            <a:rect l="l" t="t" r="r" b="b"/>
            <a:pathLst>
              <a:path w="6" h="6">
                <a:moveTo>
                  <a:pt x="3" y="0"/>
                </a:moveTo>
                <a:lnTo>
                  <a:pt x="6" y="6"/>
                </a:lnTo>
                <a:lnTo>
                  <a:pt x="0" y="6"/>
                </a:lnTo>
                <a:close/>
              </a:path>
            </a:pathLst>
          </a:custGeom>
          <a:solidFill>
            <a:srgbClr val="000000"/>
          </a:solidFill>
          <a:ln w="3937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5" name="Connector 124"/>
          <p:cNvCxnSpPr/>
          <p:nvPr/>
        </p:nvCxnSpPr>
        <p:spPr>
          <a:xfrm flipV="1">
            <a:off x="5125342" y="1679338"/>
            <a:ext cx="0" cy="127630"/>
          </a:xfrm>
          <a:prstGeom prst="line">
            <a:avLst/>
          </a:prstGeom>
          <a:ln w="1338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Freeform 125"/>
          <p:cNvSpPr/>
          <p:nvPr/>
        </p:nvSpPr>
        <p:spPr>
          <a:xfrm>
            <a:off x="5105191" y="1679338"/>
            <a:ext cx="40302" cy="40302"/>
          </a:xfrm>
          <a:custGeom>
            <a:avLst/>
            <a:gdLst/>
            <a:ahLst/>
            <a:cxnLst/>
            <a:rect l="l" t="t" r="r" b="b"/>
            <a:pathLst>
              <a:path w="6" h="6">
                <a:moveTo>
                  <a:pt x="3" y="0"/>
                </a:moveTo>
                <a:lnTo>
                  <a:pt x="6" y="6"/>
                </a:lnTo>
                <a:lnTo>
                  <a:pt x="0" y="6"/>
                </a:lnTo>
                <a:close/>
              </a:path>
            </a:pathLst>
          </a:custGeom>
          <a:solidFill>
            <a:srgbClr val="000000"/>
          </a:solidFill>
          <a:ln w="3937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7" name="Connector 126"/>
          <p:cNvCxnSpPr/>
          <p:nvPr/>
        </p:nvCxnSpPr>
        <p:spPr>
          <a:xfrm flipV="1">
            <a:off x="5125342" y="2579464"/>
            <a:ext cx="0" cy="154499"/>
          </a:xfrm>
          <a:prstGeom prst="line">
            <a:avLst/>
          </a:prstGeom>
          <a:ln w="1338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Freeform 127"/>
          <p:cNvSpPr/>
          <p:nvPr/>
        </p:nvSpPr>
        <p:spPr>
          <a:xfrm>
            <a:off x="5105191" y="2579464"/>
            <a:ext cx="40302" cy="40302"/>
          </a:xfrm>
          <a:custGeom>
            <a:avLst/>
            <a:gdLst/>
            <a:ahLst/>
            <a:cxnLst/>
            <a:rect l="l" t="t" r="r" b="b"/>
            <a:pathLst>
              <a:path w="6" h="6">
                <a:moveTo>
                  <a:pt x="3" y="0"/>
                </a:moveTo>
                <a:lnTo>
                  <a:pt x="6" y="6"/>
                </a:lnTo>
                <a:lnTo>
                  <a:pt x="0" y="6"/>
                </a:lnTo>
                <a:close/>
              </a:path>
            </a:pathLst>
          </a:custGeom>
          <a:solidFill>
            <a:srgbClr val="000000"/>
          </a:solidFill>
          <a:ln w="3937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9" name="Connector 128"/>
          <p:cNvCxnSpPr/>
          <p:nvPr/>
        </p:nvCxnSpPr>
        <p:spPr>
          <a:xfrm flipV="1">
            <a:off x="5454492" y="1679338"/>
            <a:ext cx="0" cy="127630"/>
          </a:xfrm>
          <a:prstGeom prst="line">
            <a:avLst/>
          </a:prstGeom>
          <a:ln w="1338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Freeform 129"/>
          <p:cNvSpPr/>
          <p:nvPr/>
        </p:nvSpPr>
        <p:spPr>
          <a:xfrm>
            <a:off x="5434341" y="1679338"/>
            <a:ext cx="40302" cy="40302"/>
          </a:xfrm>
          <a:custGeom>
            <a:avLst/>
            <a:gdLst/>
            <a:ahLst/>
            <a:cxnLst/>
            <a:rect l="l" t="t" r="r" b="b"/>
            <a:pathLst>
              <a:path w="6" h="6">
                <a:moveTo>
                  <a:pt x="3" y="0"/>
                </a:moveTo>
                <a:lnTo>
                  <a:pt x="6" y="6"/>
                </a:lnTo>
                <a:lnTo>
                  <a:pt x="0" y="6"/>
                </a:lnTo>
                <a:close/>
              </a:path>
            </a:pathLst>
          </a:custGeom>
          <a:solidFill>
            <a:srgbClr val="000000"/>
          </a:solidFill>
          <a:ln w="3937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1" name="Connector 130"/>
          <p:cNvCxnSpPr/>
          <p:nvPr/>
        </p:nvCxnSpPr>
        <p:spPr>
          <a:xfrm flipV="1">
            <a:off x="5454492" y="2579464"/>
            <a:ext cx="0" cy="154499"/>
          </a:xfrm>
          <a:prstGeom prst="line">
            <a:avLst/>
          </a:prstGeom>
          <a:ln w="1338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Freeform 131"/>
          <p:cNvSpPr/>
          <p:nvPr/>
        </p:nvSpPr>
        <p:spPr>
          <a:xfrm>
            <a:off x="5434341" y="2579464"/>
            <a:ext cx="40302" cy="40302"/>
          </a:xfrm>
          <a:custGeom>
            <a:avLst/>
            <a:gdLst/>
            <a:ahLst/>
            <a:cxnLst/>
            <a:rect l="l" t="t" r="r" b="b"/>
            <a:pathLst>
              <a:path w="6" h="6">
                <a:moveTo>
                  <a:pt x="3" y="0"/>
                </a:moveTo>
                <a:lnTo>
                  <a:pt x="6" y="6"/>
                </a:lnTo>
                <a:lnTo>
                  <a:pt x="0" y="6"/>
                </a:lnTo>
                <a:close/>
              </a:path>
            </a:pathLst>
          </a:custGeom>
          <a:solidFill>
            <a:srgbClr val="000000"/>
          </a:solidFill>
          <a:ln w="3937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3" name="Connector 132"/>
          <p:cNvCxnSpPr/>
          <p:nvPr/>
        </p:nvCxnSpPr>
        <p:spPr>
          <a:xfrm flipV="1">
            <a:off x="5736621" y="1679338"/>
            <a:ext cx="0" cy="127630"/>
          </a:xfrm>
          <a:prstGeom prst="line">
            <a:avLst/>
          </a:prstGeom>
          <a:ln w="1338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Freeform 133"/>
          <p:cNvSpPr/>
          <p:nvPr/>
        </p:nvSpPr>
        <p:spPr>
          <a:xfrm>
            <a:off x="5716470" y="1679338"/>
            <a:ext cx="40302" cy="40302"/>
          </a:xfrm>
          <a:custGeom>
            <a:avLst/>
            <a:gdLst/>
            <a:ahLst/>
            <a:cxnLst/>
            <a:rect l="l" t="t" r="r" b="b"/>
            <a:pathLst>
              <a:path w="6" h="6">
                <a:moveTo>
                  <a:pt x="3" y="0"/>
                </a:moveTo>
                <a:lnTo>
                  <a:pt x="6" y="6"/>
                </a:lnTo>
                <a:lnTo>
                  <a:pt x="0" y="6"/>
                </a:lnTo>
                <a:close/>
              </a:path>
            </a:pathLst>
          </a:custGeom>
          <a:solidFill>
            <a:srgbClr val="000000"/>
          </a:solidFill>
          <a:ln w="3937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5" name="Connector 134"/>
          <p:cNvCxnSpPr/>
          <p:nvPr/>
        </p:nvCxnSpPr>
        <p:spPr>
          <a:xfrm flipV="1">
            <a:off x="5736621" y="2579464"/>
            <a:ext cx="0" cy="154499"/>
          </a:xfrm>
          <a:prstGeom prst="line">
            <a:avLst/>
          </a:prstGeom>
          <a:ln w="1338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Freeform 135"/>
          <p:cNvSpPr/>
          <p:nvPr/>
        </p:nvSpPr>
        <p:spPr>
          <a:xfrm>
            <a:off x="5716470" y="2579464"/>
            <a:ext cx="40302" cy="40302"/>
          </a:xfrm>
          <a:custGeom>
            <a:avLst/>
            <a:gdLst/>
            <a:ahLst/>
            <a:cxnLst/>
            <a:rect l="l" t="t" r="r" b="b"/>
            <a:pathLst>
              <a:path w="6" h="6">
                <a:moveTo>
                  <a:pt x="3" y="0"/>
                </a:moveTo>
                <a:lnTo>
                  <a:pt x="6" y="6"/>
                </a:lnTo>
                <a:lnTo>
                  <a:pt x="0" y="6"/>
                </a:lnTo>
                <a:close/>
              </a:path>
            </a:pathLst>
          </a:custGeom>
          <a:solidFill>
            <a:srgbClr val="000000"/>
          </a:solidFill>
          <a:ln w="3937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7" name="Connector 136"/>
          <p:cNvCxnSpPr/>
          <p:nvPr/>
        </p:nvCxnSpPr>
        <p:spPr>
          <a:xfrm flipV="1">
            <a:off x="5978446" y="1679338"/>
            <a:ext cx="0" cy="127630"/>
          </a:xfrm>
          <a:prstGeom prst="line">
            <a:avLst/>
          </a:prstGeom>
          <a:ln w="1338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" name="Freeform 137"/>
          <p:cNvSpPr/>
          <p:nvPr/>
        </p:nvSpPr>
        <p:spPr>
          <a:xfrm>
            <a:off x="5958295" y="1679338"/>
            <a:ext cx="40302" cy="40302"/>
          </a:xfrm>
          <a:custGeom>
            <a:avLst/>
            <a:gdLst/>
            <a:ahLst/>
            <a:cxnLst/>
            <a:rect l="l" t="t" r="r" b="b"/>
            <a:pathLst>
              <a:path w="6" h="6">
                <a:moveTo>
                  <a:pt x="3" y="0"/>
                </a:moveTo>
                <a:lnTo>
                  <a:pt x="6" y="6"/>
                </a:lnTo>
                <a:lnTo>
                  <a:pt x="0" y="6"/>
                </a:lnTo>
                <a:close/>
              </a:path>
            </a:pathLst>
          </a:custGeom>
          <a:solidFill>
            <a:srgbClr val="000000"/>
          </a:solidFill>
          <a:ln w="3937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9" name="Connector 138"/>
          <p:cNvCxnSpPr/>
          <p:nvPr/>
        </p:nvCxnSpPr>
        <p:spPr>
          <a:xfrm flipV="1">
            <a:off x="5978446" y="2579464"/>
            <a:ext cx="0" cy="154499"/>
          </a:xfrm>
          <a:prstGeom prst="line">
            <a:avLst/>
          </a:prstGeom>
          <a:ln w="1338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" name="Freeform 139"/>
          <p:cNvSpPr/>
          <p:nvPr/>
        </p:nvSpPr>
        <p:spPr>
          <a:xfrm>
            <a:off x="5958295" y="2579464"/>
            <a:ext cx="40302" cy="40302"/>
          </a:xfrm>
          <a:custGeom>
            <a:avLst/>
            <a:gdLst/>
            <a:ahLst/>
            <a:cxnLst/>
            <a:rect l="l" t="t" r="r" b="b"/>
            <a:pathLst>
              <a:path w="6" h="6">
                <a:moveTo>
                  <a:pt x="3" y="0"/>
                </a:moveTo>
                <a:lnTo>
                  <a:pt x="6" y="6"/>
                </a:lnTo>
                <a:lnTo>
                  <a:pt x="0" y="6"/>
                </a:lnTo>
                <a:close/>
              </a:path>
            </a:pathLst>
          </a:custGeom>
          <a:solidFill>
            <a:srgbClr val="000000"/>
          </a:solidFill>
          <a:ln w="3937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1" name="Connector 140"/>
          <p:cNvCxnSpPr/>
          <p:nvPr/>
        </p:nvCxnSpPr>
        <p:spPr>
          <a:xfrm flipV="1">
            <a:off x="6274009" y="1679338"/>
            <a:ext cx="0" cy="127630"/>
          </a:xfrm>
          <a:prstGeom prst="line">
            <a:avLst/>
          </a:prstGeom>
          <a:ln w="1338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Freeform 141"/>
          <p:cNvSpPr/>
          <p:nvPr/>
        </p:nvSpPr>
        <p:spPr>
          <a:xfrm>
            <a:off x="6253858" y="1679338"/>
            <a:ext cx="40302" cy="40302"/>
          </a:xfrm>
          <a:custGeom>
            <a:avLst/>
            <a:gdLst/>
            <a:ahLst/>
            <a:cxnLst/>
            <a:rect l="l" t="t" r="r" b="b"/>
            <a:pathLst>
              <a:path w="6" h="6">
                <a:moveTo>
                  <a:pt x="3" y="0"/>
                </a:moveTo>
                <a:lnTo>
                  <a:pt x="6" y="6"/>
                </a:lnTo>
                <a:lnTo>
                  <a:pt x="0" y="6"/>
                </a:lnTo>
                <a:close/>
              </a:path>
            </a:pathLst>
          </a:custGeom>
          <a:solidFill>
            <a:srgbClr val="000000"/>
          </a:solidFill>
          <a:ln w="3937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3" name="Connector 142"/>
          <p:cNvCxnSpPr/>
          <p:nvPr/>
        </p:nvCxnSpPr>
        <p:spPr>
          <a:xfrm flipV="1">
            <a:off x="6274009" y="2579464"/>
            <a:ext cx="0" cy="154499"/>
          </a:xfrm>
          <a:prstGeom prst="line">
            <a:avLst/>
          </a:prstGeom>
          <a:ln w="1338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4" name="Freeform 143"/>
          <p:cNvSpPr/>
          <p:nvPr/>
        </p:nvSpPr>
        <p:spPr>
          <a:xfrm>
            <a:off x="6253858" y="2579464"/>
            <a:ext cx="40302" cy="40302"/>
          </a:xfrm>
          <a:custGeom>
            <a:avLst/>
            <a:gdLst/>
            <a:ahLst/>
            <a:cxnLst/>
            <a:rect l="l" t="t" r="r" b="b"/>
            <a:pathLst>
              <a:path w="6" h="6">
                <a:moveTo>
                  <a:pt x="3" y="0"/>
                </a:moveTo>
                <a:lnTo>
                  <a:pt x="6" y="6"/>
                </a:lnTo>
                <a:lnTo>
                  <a:pt x="0" y="6"/>
                </a:lnTo>
                <a:close/>
              </a:path>
            </a:pathLst>
          </a:custGeom>
          <a:solidFill>
            <a:srgbClr val="000000"/>
          </a:solidFill>
          <a:ln w="3937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Freeform 144"/>
          <p:cNvSpPr/>
          <p:nvPr/>
        </p:nvSpPr>
        <p:spPr>
          <a:xfrm>
            <a:off x="4547649" y="1303174"/>
            <a:ext cx="322416" cy="147774"/>
          </a:xfrm>
          <a:custGeom>
            <a:avLst/>
            <a:gdLst/>
            <a:ahLst/>
            <a:cxnLst/>
            <a:rect l="l" t="t" r="r" b="b"/>
            <a:pathLst>
              <a:path w="48" h="22">
                <a:moveTo>
                  <a:pt x="0" y="22"/>
                </a:moveTo>
                <a:lnTo>
                  <a:pt x="32" y="22"/>
                </a:lnTo>
                <a:lnTo>
                  <a:pt x="48" y="0"/>
                </a:lnTo>
                <a:lnTo>
                  <a:pt x="16" y="0"/>
                </a:lnTo>
                <a:close/>
              </a:path>
            </a:pathLst>
          </a:custGeom>
          <a:solidFill>
            <a:srgbClr val="929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Freeform 145"/>
          <p:cNvSpPr/>
          <p:nvPr/>
        </p:nvSpPr>
        <p:spPr>
          <a:xfrm>
            <a:off x="4520780" y="1269587"/>
            <a:ext cx="322416" cy="147774"/>
          </a:xfrm>
          <a:custGeom>
            <a:avLst/>
            <a:gdLst/>
            <a:ahLst/>
            <a:cxnLst/>
            <a:rect l="l" t="t" r="r" b="b"/>
            <a:pathLst>
              <a:path w="48" h="22">
                <a:moveTo>
                  <a:pt x="0" y="22"/>
                </a:moveTo>
                <a:lnTo>
                  <a:pt x="32" y="22"/>
                </a:lnTo>
                <a:lnTo>
                  <a:pt x="48" y="0"/>
                </a:lnTo>
                <a:lnTo>
                  <a:pt x="16" y="0"/>
                </a:lnTo>
                <a:close/>
              </a:path>
            </a:pathLst>
          </a:custGeom>
          <a:solidFill>
            <a:srgbClr val="8EA8DC"/>
          </a:solidFill>
          <a:ln w="10236">
            <a:solidFill>
              <a:srgbClr val="2C4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4708865" y="1249428"/>
            <a:ext cx="33586" cy="167933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1055" b="1" i="1">
                <a:solidFill>
                  <a:srgbClr val="000000"/>
                </a:solidFill>
                <a:latin typeface="Times New Roman"/>
              </a:defRPr>
            </a:pPr>
          </a:p>
        </p:txBody>
      </p:sp>
      <p:cxnSp>
        <p:nvCxnSpPr>
          <p:cNvPr id="148" name="Connector 147"/>
          <p:cNvCxnSpPr/>
          <p:nvPr/>
        </p:nvCxnSpPr>
        <p:spPr>
          <a:xfrm flipV="1">
            <a:off x="4681996" y="1377057"/>
            <a:ext cx="0" cy="107478"/>
          </a:xfrm>
          <a:prstGeom prst="line">
            <a:avLst/>
          </a:prstGeom>
          <a:ln w="1811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9" name="Freeform 148"/>
          <p:cNvSpPr/>
          <p:nvPr/>
        </p:nvSpPr>
        <p:spPr>
          <a:xfrm>
            <a:off x="4655128" y="1377057"/>
            <a:ext cx="53736" cy="47019"/>
          </a:xfrm>
          <a:custGeom>
            <a:avLst/>
            <a:gdLst/>
            <a:ahLst/>
            <a:cxnLst/>
            <a:rect l="l" t="t" r="r" b="b"/>
            <a:pathLst>
              <a:path w="8" h="7">
                <a:moveTo>
                  <a:pt x="4" y="0"/>
                </a:moveTo>
                <a:lnTo>
                  <a:pt x="8" y="7"/>
                </a:lnTo>
                <a:lnTo>
                  <a:pt x="0" y="7"/>
                </a:lnTo>
                <a:close/>
              </a:path>
            </a:pathLst>
          </a:custGeom>
          <a:solidFill>
            <a:srgbClr val="000000"/>
          </a:solidFill>
          <a:ln w="3937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0" name="Connector 149"/>
          <p:cNvCxnSpPr/>
          <p:nvPr/>
        </p:nvCxnSpPr>
        <p:spPr>
          <a:xfrm>
            <a:off x="6583008" y="2203292"/>
            <a:ext cx="362737" cy="0"/>
          </a:xfrm>
          <a:prstGeom prst="line">
            <a:avLst/>
          </a:prstGeom>
          <a:ln w="1811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Freeform 150"/>
          <p:cNvSpPr/>
          <p:nvPr/>
        </p:nvSpPr>
        <p:spPr>
          <a:xfrm>
            <a:off x="6878575" y="2169707"/>
            <a:ext cx="67170" cy="67170"/>
          </a:xfrm>
          <a:custGeom>
            <a:avLst/>
            <a:gdLst/>
            <a:ahLst/>
            <a:cxnLst/>
            <a:rect l="l" t="t" r="r" b="b"/>
            <a:pathLst>
              <a:path w="10" h="10">
                <a:moveTo>
                  <a:pt x="10" y="5"/>
                </a:moveTo>
                <a:lnTo>
                  <a:pt x="0" y="1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3937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2" name="Connector 151"/>
          <p:cNvCxnSpPr/>
          <p:nvPr/>
        </p:nvCxnSpPr>
        <p:spPr>
          <a:xfrm flipV="1">
            <a:off x="6589725" y="1235993"/>
            <a:ext cx="0" cy="967299"/>
          </a:xfrm>
          <a:prstGeom prst="line">
            <a:avLst/>
          </a:prstGeom>
          <a:ln w="157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H="1">
            <a:off x="5293275" y="1235993"/>
            <a:ext cx="1296450" cy="0"/>
          </a:xfrm>
          <a:prstGeom prst="line">
            <a:avLst/>
          </a:prstGeom>
          <a:ln w="157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5293275" y="1235993"/>
            <a:ext cx="0" cy="241825"/>
          </a:xfrm>
          <a:prstGeom prst="line">
            <a:avLst/>
          </a:prstGeom>
          <a:ln w="157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5293275" y="1477818"/>
            <a:ext cx="0" cy="26869"/>
          </a:xfrm>
          <a:prstGeom prst="line">
            <a:avLst/>
          </a:prstGeom>
          <a:ln w="1811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6" name="Freeform 155"/>
          <p:cNvSpPr/>
          <p:nvPr/>
        </p:nvSpPr>
        <p:spPr>
          <a:xfrm>
            <a:off x="5273124" y="1464385"/>
            <a:ext cx="40302" cy="40302"/>
          </a:xfrm>
          <a:custGeom>
            <a:avLst/>
            <a:gdLst/>
            <a:ahLst/>
            <a:cxnLst/>
            <a:rect l="l" t="t" r="r" b="b"/>
            <a:pathLst>
              <a:path w="6" h="6">
                <a:moveTo>
                  <a:pt x="3" y="6"/>
                </a:moveTo>
                <a:lnTo>
                  <a:pt x="0" y="0"/>
                </a:lnTo>
                <a:lnTo>
                  <a:pt x="6" y="0"/>
                </a:lnTo>
                <a:close/>
              </a:path>
            </a:pathLst>
          </a:custGeom>
          <a:solidFill>
            <a:srgbClr val="000000"/>
          </a:solidFill>
          <a:ln w="3937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5279841" y="2922049"/>
            <a:ext cx="403041" cy="181368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1152" b="1" i="0">
                <a:solidFill>
                  <a:srgbClr val="000000"/>
                </a:solidFill>
                <a:latin typeface="Times New Roman"/>
              </a:defRPr>
            </a:pPr>
            <a:r>
              <a:t>(b)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6999484" y="429910"/>
            <a:ext cx="1094928" cy="980733"/>
          </a:xfrm>
          <a:prstGeom prst="roundRect">
            <a:avLst>
              <a:gd name="adj" fmla="val 8904"/>
            </a:avLst>
          </a:prstGeom>
          <a:solidFill>
            <a:srgbClr val="B9B9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ounded Rectangle 158"/>
          <p:cNvSpPr/>
          <p:nvPr/>
        </p:nvSpPr>
        <p:spPr>
          <a:xfrm>
            <a:off x="6952462" y="382889"/>
            <a:ext cx="1094928" cy="980733"/>
          </a:xfrm>
          <a:prstGeom prst="roundRect">
            <a:avLst>
              <a:gd name="adj" fmla="val 8904"/>
            </a:avLst>
          </a:prstGeom>
          <a:solidFill>
            <a:srgbClr val="DCEACC"/>
          </a:solidFill>
          <a:ln w="11811">
            <a:solidFill>
              <a:srgbClr val="7CA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7019636" y="523953"/>
            <a:ext cx="967299" cy="705322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1344" b="1" i="0">
                <a:solidFill>
                  <a:srgbClr val="000000"/>
                </a:solidFill>
                <a:latin typeface="Times New Roman"/>
              </a:defRPr>
            </a:pPr>
            <a:r>
              <a:t>Multi-level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1344" b="1" i="0">
                <a:solidFill>
                  <a:srgbClr val="000000"/>
                </a:solidFill>
                <a:latin typeface="Times New Roman"/>
              </a:defRPr>
            </a:pPr>
            <a:r>
              <a:t>Language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1344" b="1" i="0">
                <a:solidFill>
                  <a:srgbClr val="000000"/>
                </a:solidFill>
                <a:latin typeface="Times New Roman"/>
              </a:defRPr>
            </a:pPr>
            <a:r>
              <a:t>Modulation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6992766" y="1847272"/>
            <a:ext cx="1101646" cy="819517"/>
          </a:xfrm>
          <a:prstGeom prst="roundRect">
            <a:avLst>
              <a:gd name="adj" fmla="val 9016"/>
            </a:avLst>
          </a:prstGeom>
          <a:solidFill>
            <a:srgbClr val="B9B9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ounded Rectangle 161"/>
          <p:cNvSpPr/>
          <p:nvPr/>
        </p:nvSpPr>
        <p:spPr>
          <a:xfrm>
            <a:off x="6945745" y="1800251"/>
            <a:ext cx="1101646" cy="819517"/>
          </a:xfrm>
          <a:prstGeom prst="roundRect">
            <a:avLst>
              <a:gd name="adj" fmla="val 9016"/>
            </a:avLst>
          </a:prstGeom>
          <a:solidFill>
            <a:srgbClr val="FAC58F"/>
          </a:solidFill>
          <a:ln w="11023">
            <a:solidFill>
              <a:srgbClr val="B45F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7019636" y="1880859"/>
            <a:ext cx="953864" cy="638148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1296" b="1" i="0">
                <a:solidFill>
                  <a:srgbClr val="000000"/>
                </a:solidFill>
                <a:latin typeface="Times New Roman"/>
              </a:defRPr>
            </a:pPr>
            <a:r>
              <a:t>Query and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1296" b="1" i="0">
                <a:solidFill>
                  <a:srgbClr val="000000"/>
                </a:solidFill>
                <a:latin typeface="Times New Roman"/>
              </a:defRPr>
            </a:pPr>
            <a:r>
              <a:t>Position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1296" b="1" i="0">
                <a:solidFill>
                  <a:srgbClr val="000000"/>
                </a:solidFill>
                <a:latin typeface="Times New Roman"/>
              </a:defRPr>
            </a:pPr>
            <a:r>
              <a:t>Generator</a:t>
            </a:r>
          </a:p>
        </p:txBody>
      </p:sp>
      <p:cxnSp>
        <p:nvCxnSpPr>
          <p:cNvPr id="164" name="Connector 163"/>
          <p:cNvCxnSpPr/>
          <p:nvPr/>
        </p:nvCxnSpPr>
        <p:spPr>
          <a:xfrm>
            <a:off x="8047391" y="846386"/>
            <a:ext cx="322433" cy="0"/>
          </a:xfrm>
          <a:prstGeom prst="line">
            <a:avLst/>
          </a:prstGeom>
          <a:ln w="157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8369824" y="490366"/>
            <a:ext cx="0" cy="356020"/>
          </a:xfrm>
          <a:prstGeom prst="line">
            <a:avLst/>
          </a:prstGeom>
          <a:ln w="157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>
            <a:off x="8369824" y="490366"/>
            <a:ext cx="517236" cy="0"/>
          </a:xfrm>
          <a:prstGeom prst="line">
            <a:avLst/>
          </a:prstGeom>
          <a:ln w="1811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7" name="Freeform 166"/>
          <p:cNvSpPr/>
          <p:nvPr/>
        </p:nvSpPr>
        <p:spPr>
          <a:xfrm>
            <a:off x="8813173" y="450064"/>
            <a:ext cx="73887" cy="80604"/>
          </a:xfrm>
          <a:custGeom>
            <a:avLst/>
            <a:gdLst/>
            <a:ahLst/>
            <a:cxnLst/>
            <a:rect l="l" t="t" r="r" b="b"/>
            <a:pathLst>
              <a:path w="11" h="12">
                <a:moveTo>
                  <a:pt x="11" y="6"/>
                </a:move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3937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8752713" y="221672"/>
            <a:ext cx="712039" cy="167933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960" b="0" i="0">
                <a:solidFill>
                  <a:srgbClr val="000000"/>
                </a:solidFill>
                <a:latin typeface="Times New Roman"/>
              </a:defRPr>
            </a:pPr>
            <a:r>
              <a:t>high-level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9464753" y="221672"/>
            <a:ext cx="671735" cy="167933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960" b="0" i="0">
                <a:solidFill>
                  <a:srgbClr val="000000"/>
                </a:solidFill>
                <a:latin typeface="Times New Roman"/>
              </a:defRPr>
            </a:pPr>
            <a:r>
              <a:t>mid-level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10170075" y="221672"/>
            <a:ext cx="671735" cy="167933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960" b="0" i="0">
                <a:solidFill>
                  <a:srgbClr val="000000"/>
                </a:solidFill>
                <a:latin typeface="Times New Roman"/>
              </a:defRPr>
            </a:pPr>
            <a:r>
              <a:t>low-level</a:t>
            </a:r>
          </a:p>
        </p:txBody>
      </p:sp>
      <p:sp>
        <p:nvSpPr>
          <p:cNvPr id="171" name="Rounded Rectangle 170"/>
          <p:cNvSpPr/>
          <p:nvPr/>
        </p:nvSpPr>
        <p:spPr>
          <a:xfrm>
            <a:off x="8913930" y="436628"/>
            <a:ext cx="100760" cy="100760"/>
          </a:xfrm>
          <a:prstGeom prst="roundRect">
            <a:avLst>
              <a:gd name="adj" fmla="val 16000"/>
            </a:avLst>
          </a:prstGeom>
          <a:solidFill>
            <a:srgbClr val="C8DDAF"/>
          </a:solidFill>
          <a:ln w="14173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9028125" y="409758"/>
            <a:ext cx="181368" cy="114195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768" b="1" i="0">
                <a:solidFill>
                  <a:srgbClr val="000000"/>
                </a:solidFill>
                <a:latin typeface="Times New Roman"/>
              </a:defRPr>
            </a:pPr>
            <a:r>
              <a:t>···</a:t>
            </a:r>
          </a:p>
        </p:txBody>
      </p:sp>
      <p:sp>
        <p:nvSpPr>
          <p:cNvPr id="173" name="Rounded Rectangle 172"/>
          <p:cNvSpPr/>
          <p:nvPr/>
        </p:nvSpPr>
        <p:spPr>
          <a:xfrm>
            <a:off x="9216211" y="436628"/>
            <a:ext cx="100760" cy="100760"/>
          </a:xfrm>
          <a:prstGeom prst="roundRect">
            <a:avLst>
              <a:gd name="adj" fmla="val 16000"/>
            </a:avLst>
          </a:prstGeom>
          <a:solidFill>
            <a:srgbClr val="C8DDAF"/>
          </a:solidFill>
          <a:ln w="14173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ounded Rectangle 173"/>
          <p:cNvSpPr/>
          <p:nvPr/>
        </p:nvSpPr>
        <p:spPr>
          <a:xfrm>
            <a:off x="8913930" y="624714"/>
            <a:ext cx="100760" cy="100760"/>
          </a:xfrm>
          <a:prstGeom prst="roundRect">
            <a:avLst>
              <a:gd name="adj" fmla="val 16000"/>
            </a:avLst>
          </a:prstGeom>
          <a:solidFill>
            <a:srgbClr val="CCDAEC"/>
          </a:solidFill>
          <a:ln w="14173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9028125" y="597844"/>
            <a:ext cx="181368" cy="114195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768" b="1" i="0">
                <a:solidFill>
                  <a:srgbClr val="000000"/>
                </a:solidFill>
                <a:latin typeface="Times New Roman"/>
              </a:defRPr>
            </a:pPr>
            <a:r>
              <a:t>···</a:t>
            </a:r>
          </a:p>
        </p:txBody>
      </p:sp>
      <p:sp>
        <p:nvSpPr>
          <p:cNvPr id="176" name="Rounded Rectangle 175"/>
          <p:cNvSpPr/>
          <p:nvPr/>
        </p:nvSpPr>
        <p:spPr>
          <a:xfrm>
            <a:off x="9216211" y="624714"/>
            <a:ext cx="100760" cy="100760"/>
          </a:xfrm>
          <a:prstGeom prst="roundRect">
            <a:avLst>
              <a:gd name="adj" fmla="val 16000"/>
            </a:avLst>
          </a:prstGeom>
          <a:solidFill>
            <a:srgbClr val="CCDAEC"/>
          </a:solidFill>
          <a:ln w="14173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ounded Rectangle 176"/>
          <p:cNvSpPr/>
          <p:nvPr/>
        </p:nvSpPr>
        <p:spPr>
          <a:xfrm>
            <a:off x="9585665" y="436628"/>
            <a:ext cx="100760" cy="100760"/>
          </a:xfrm>
          <a:prstGeom prst="roundRect">
            <a:avLst>
              <a:gd name="adj" fmla="val 16000"/>
            </a:avLst>
          </a:prstGeom>
          <a:solidFill>
            <a:srgbClr val="C8DDAF"/>
          </a:solidFill>
          <a:ln w="14173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9699860" y="409758"/>
            <a:ext cx="181368" cy="114195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768" b="1" i="0">
                <a:solidFill>
                  <a:srgbClr val="000000"/>
                </a:solidFill>
                <a:latin typeface="Times New Roman"/>
              </a:defRPr>
            </a:pPr>
            <a:r>
              <a:t>···</a:t>
            </a:r>
          </a:p>
        </p:txBody>
      </p:sp>
      <p:sp>
        <p:nvSpPr>
          <p:cNvPr id="179" name="Rounded Rectangle 178"/>
          <p:cNvSpPr/>
          <p:nvPr/>
        </p:nvSpPr>
        <p:spPr>
          <a:xfrm>
            <a:off x="9887946" y="436628"/>
            <a:ext cx="100760" cy="100760"/>
          </a:xfrm>
          <a:prstGeom prst="roundRect">
            <a:avLst>
              <a:gd name="adj" fmla="val 16000"/>
            </a:avLst>
          </a:prstGeom>
          <a:solidFill>
            <a:srgbClr val="C8DDAF"/>
          </a:solidFill>
          <a:ln w="14173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ounded Rectangle 179"/>
          <p:cNvSpPr/>
          <p:nvPr/>
        </p:nvSpPr>
        <p:spPr>
          <a:xfrm>
            <a:off x="9585665" y="624714"/>
            <a:ext cx="100760" cy="100760"/>
          </a:xfrm>
          <a:prstGeom prst="roundRect">
            <a:avLst>
              <a:gd name="adj" fmla="val 16000"/>
            </a:avLst>
          </a:prstGeom>
          <a:solidFill>
            <a:srgbClr val="CCDAEC"/>
          </a:solidFill>
          <a:ln w="14173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9699860" y="597844"/>
            <a:ext cx="181368" cy="114195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768" b="1" i="0">
                <a:solidFill>
                  <a:srgbClr val="000000"/>
                </a:solidFill>
                <a:latin typeface="Times New Roman"/>
              </a:defRPr>
            </a:pPr>
            <a:r>
              <a:t>···</a:t>
            </a:r>
          </a:p>
        </p:txBody>
      </p:sp>
      <p:sp>
        <p:nvSpPr>
          <p:cNvPr id="182" name="Rounded Rectangle 181"/>
          <p:cNvSpPr/>
          <p:nvPr/>
        </p:nvSpPr>
        <p:spPr>
          <a:xfrm>
            <a:off x="9887946" y="624714"/>
            <a:ext cx="100760" cy="100760"/>
          </a:xfrm>
          <a:prstGeom prst="roundRect">
            <a:avLst>
              <a:gd name="adj" fmla="val 16000"/>
            </a:avLst>
          </a:prstGeom>
          <a:solidFill>
            <a:srgbClr val="CCDAEC"/>
          </a:solidFill>
          <a:ln w="14173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ounded Rectangle 182"/>
          <p:cNvSpPr/>
          <p:nvPr/>
        </p:nvSpPr>
        <p:spPr>
          <a:xfrm>
            <a:off x="10257401" y="436628"/>
            <a:ext cx="100760" cy="100760"/>
          </a:xfrm>
          <a:prstGeom prst="roundRect">
            <a:avLst>
              <a:gd name="adj" fmla="val 16000"/>
            </a:avLst>
          </a:prstGeom>
          <a:solidFill>
            <a:srgbClr val="A9D18E"/>
          </a:solidFill>
          <a:ln w="14173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10371596" y="409758"/>
            <a:ext cx="181368" cy="114195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768" b="1" i="0">
                <a:solidFill>
                  <a:srgbClr val="000000"/>
                </a:solidFill>
                <a:latin typeface="Times New Roman"/>
              </a:defRPr>
            </a:pPr>
            <a:r>
              <a:t>···</a:t>
            </a:r>
          </a:p>
        </p:txBody>
      </p:sp>
      <p:sp>
        <p:nvSpPr>
          <p:cNvPr id="185" name="Rounded Rectangle 184"/>
          <p:cNvSpPr/>
          <p:nvPr/>
        </p:nvSpPr>
        <p:spPr>
          <a:xfrm>
            <a:off x="10559682" y="436628"/>
            <a:ext cx="100760" cy="100760"/>
          </a:xfrm>
          <a:prstGeom prst="roundRect">
            <a:avLst>
              <a:gd name="adj" fmla="val 16000"/>
            </a:avLst>
          </a:prstGeom>
          <a:solidFill>
            <a:srgbClr val="A9D18E"/>
          </a:solidFill>
          <a:ln w="14173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ounded Rectangle 185"/>
          <p:cNvSpPr/>
          <p:nvPr/>
        </p:nvSpPr>
        <p:spPr>
          <a:xfrm>
            <a:off x="10257401" y="624714"/>
            <a:ext cx="100760" cy="100760"/>
          </a:xfrm>
          <a:prstGeom prst="roundRect">
            <a:avLst>
              <a:gd name="adj" fmla="val 16000"/>
            </a:avLst>
          </a:prstGeom>
          <a:solidFill>
            <a:srgbClr val="95B3D7"/>
          </a:solidFill>
          <a:ln w="14173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10371596" y="597844"/>
            <a:ext cx="181368" cy="114195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768" b="1" i="0">
                <a:solidFill>
                  <a:srgbClr val="000000"/>
                </a:solidFill>
                <a:latin typeface="Times New Roman"/>
              </a:defRPr>
            </a:pPr>
            <a:r>
              <a:t>···</a:t>
            </a:r>
          </a:p>
        </p:txBody>
      </p:sp>
      <p:sp>
        <p:nvSpPr>
          <p:cNvPr id="188" name="Rounded Rectangle 187"/>
          <p:cNvSpPr/>
          <p:nvPr/>
        </p:nvSpPr>
        <p:spPr>
          <a:xfrm>
            <a:off x="10559682" y="624714"/>
            <a:ext cx="100760" cy="100760"/>
          </a:xfrm>
          <a:prstGeom prst="roundRect">
            <a:avLst>
              <a:gd name="adj" fmla="val 16000"/>
            </a:avLst>
          </a:prstGeom>
          <a:solidFill>
            <a:srgbClr val="95B3D7"/>
          </a:solidFill>
          <a:ln w="14173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ounded Rectangle 188"/>
          <p:cNvSpPr/>
          <p:nvPr/>
        </p:nvSpPr>
        <p:spPr>
          <a:xfrm>
            <a:off x="8819887" y="920277"/>
            <a:ext cx="2028641" cy="1350188"/>
          </a:xfrm>
          <a:prstGeom prst="roundRect">
            <a:avLst>
              <a:gd name="adj" fmla="val 7462"/>
            </a:avLst>
          </a:prstGeom>
          <a:solidFill>
            <a:srgbClr val="B9B9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ounded Rectangle 189"/>
          <p:cNvSpPr/>
          <p:nvPr/>
        </p:nvSpPr>
        <p:spPr>
          <a:xfrm>
            <a:off x="8772865" y="873256"/>
            <a:ext cx="2028641" cy="1350188"/>
          </a:xfrm>
          <a:prstGeom prst="roundRect">
            <a:avLst>
              <a:gd name="adj" fmla="val 7462"/>
            </a:avLst>
          </a:prstGeom>
          <a:solidFill>
            <a:srgbClr val="FFFFFF"/>
          </a:solidFill>
          <a:ln w="14173">
            <a:solidFill>
              <a:srgbClr val="7D2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ounded Rectangle 190"/>
          <p:cNvSpPr/>
          <p:nvPr/>
        </p:nvSpPr>
        <p:spPr>
          <a:xfrm>
            <a:off x="8940799" y="1041190"/>
            <a:ext cx="456780" cy="1108363"/>
          </a:xfrm>
          <a:prstGeom prst="roundRect">
            <a:avLst>
              <a:gd name="adj" fmla="val 11764"/>
            </a:avLst>
          </a:prstGeom>
          <a:solidFill>
            <a:srgbClr val="B9B9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ounded Rectangle 191"/>
          <p:cNvSpPr/>
          <p:nvPr/>
        </p:nvSpPr>
        <p:spPr>
          <a:xfrm>
            <a:off x="8893778" y="994168"/>
            <a:ext cx="456780" cy="1108363"/>
          </a:xfrm>
          <a:prstGeom prst="roundRect">
            <a:avLst>
              <a:gd name="adj" fmla="val 11764"/>
            </a:avLst>
          </a:prstGeom>
          <a:solidFill>
            <a:srgbClr val="EBD6F0"/>
          </a:solidFill>
          <a:ln w="9448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 rot="5400000">
            <a:off x="8615008" y="1366981"/>
            <a:ext cx="1007603" cy="356019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1152" b="1" i="0">
                <a:solidFill>
                  <a:srgbClr val="000000"/>
                </a:solidFill>
                <a:latin typeface="Times New Roman"/>
              </a:defRPr>
            </a:pPr>
            <a:r>
              <a:t>High-level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1152" b="1" i="0">
                <a:solidFill>
                  <a:srgbClr val="000000"/>
                </a:solidFill>
                <a:latin typeface="Times New Roman"/>
              </a:defRPr>
            </a:pPr>
            <a:r>
              <a:t>Decoder</a:t>
            </a:r>
          </a:p>
        </p:txBody>
      </p:sp>
      <p:sp>
        <p:nvSpPr>
          <p:cNvPr id="194" name="Rounded Rectangle 193"/>
          <p:cNvSpPr/>
          <p:nvPr/>
        </p:nvSpPr>
        <p:spPr>
          <a:xfrm>
            <a:off x="9612535" y="1041190"/>
            <a:ext cx="456780" cy="1108363"/>
          </a:xfrm>
          <a:prstGeom prst="roundRect">
            <a:avLst>
              <a:gd name="adj" fmla="val 11764"/>
            </a:avLst>
          </a:prstGeom>
          <a:solidFill>
            <a:srgbClr val="B9B9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ounded Rectangle 194"/>
          <p:cNvSpPr/>
          <p:nvPr/>
        </p:nvSpPr>
        <p:spPr>
          <a:xfrm>
            <a:off x="9565513" y="994168"/>
            <a:ext cx="456780" cy="1108363"/>
          </a:xfrm>
          <a:prstGeom prst="roundRect">
            <a:avLst>
              <a:gd name="adj" fmla="val 11764"/>
            </a:avLst>
          </a:prstGeom>
          <a:solidFill>
            <a:srgbClr val="EBD6F0"/>
          </a:solidFill>
          <a:ln w="9448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 rot="5400000">
            <a:off x="9286743" y="1366981"/>
            <a:ext cx="1007603" cy="356019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1152" b="1" i="0">
                <a:solidFill>
                  <a:srgbClr val="000000"/>
                </a:solidFill>
                <a:latin typeface="Times New Roman"/>
              </a:defRPr>
            </a:pPr>
            <a:r>
              <a:t>Mid-level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1152" b="1" i="0">
                <a:solidFill>
                  <a:srgbClr val="000000"/>
                </a:solidFill>
                <a:latin typeface="Times New Roman"/>
              </a:defRPr>
            </a:pPr>
            <a:r>
              <a:t>Decoder</a:t>
            </a:r>
          </a:p>
        </p:txBody>
      </p:sp>
      <p:sp>
        <p:nvSpPr>
          <p:cNvPr id="197" name="Rounded Rectangle 196"/>
          <p:cNvSpPr/>
          <p:nvPr/>
        </p:nvSpPr>
        <p:spPr>
          <a:xfrm>
            <a:off x="10284270" y="1041190"/>
            <a:ext cx="456780" cy="1108363"/>
          </a:xfrm>
          <a:prstGeom prst="roundRect">
            <a:avLst>
              <a:gd name="adj" fmla="val 11764"/>
            </a:avLst>
          </a:prstGeom>
          <a:solidFill>
            <a:srgbClr val="B9B9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ounded Rectangle 197"/>
          <p:cNvSpPr/>
          <p:nvPr/>
        </p:nvSpPr>
        <p:spPr>
          <a:xfrm>
            <a:off x="10237249" y="994168"/>
            <a:ext cx="456780" cy="1108363"/>
          </a:xfrm>
          <a:prstGeom prst="roundRect">
            <a:avLst>
              <a:gd name="adj" fmla="val 11764"/>
            </a:avLst>
          </a:prstGeom>
          <a:solidFill>
            <a:srgbClr val="EBD6F0"/>
          </a:solidFill>
          <a:ln w="9448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 rot="5400000">
            <a:off x="9958479" y="1366981"/>
            <a:ext cx="1007603" cy="356019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1152" b="1" i="0">
                <a:solidFill>
                  <a:srgbClr val="000000"/>
                </a:solidFill>
                <a:latin typeface="Times New Roman"/>
              </a:defRPr>
            </a:pPr>
            <a:r>
              <a:t>Low-level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1152" b="1" i="0">
                <a:solidFill>
                  <a:srgbClr val="000000"/>
                </a:solidFill>
                <a:latin typeface="Times New Roman"/>
              </a:defRPr>
            </a:pPr>
            <a:r>
              <a:t>Decoder</a:t>
            </a:r>
          </a:p>
        </p:txBody>
      </p:sp>
      <p:cxnSp>
        <p:nvCxnSpPr>
          <p:cNvPr id="200" name="Connector 199"/>
          <p:cNvCxnSpPr/>
          <p:nvPr/>
        </p:nvCxnSpPr>
        <p:spPr>
          <a:xfrm>
            <a:off x="9122168" y="765778"/>
            <a:ext cx="0" cy="228390"/>
          </a:xfrm>
          <a:prstGeom prst="line">
            <a:avLst/>
          </a:prstGeom>
          <a:ln w="1811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1" name="Freeform 200"/>
          <p:cNvSpPr/>
          <p:nvPr/>
        </p:nvSpPr>
        <p:spPr>
          <a:xfrm>
            <a:off x="9095300" y="940432"/>
            <a:ext cx="53736" cy="53736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4" y="8"/>
                </a:moveTo>
                <a:lnTo>
                  <a:pt x="0" y="0"/>
                </a:lnTo>
                <a:lnTo>
                  <a:pt x="8" y="0"/>
                </a:lnTo>
                <a:close/>
              </a:path>
            </a:pathLst>
          </a:custGeom>
          <a:solidFill>
            <a:srgbClr val="000000"/>
          </a:solidFill>
          <a:ln w="3937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2" name="Connector 201"/>
          <p:cNvCxnSpPr/>
          <p:nvPr/>
        </p:nvCxnSpPr>
        <p:spPr>
          <a:xfrm>
            <a:off x="9793903" y="765778"/>
            <a:ext cx="0" cy="228390"/>
          </a:xfrm>
          <a:prstGeom prst="line">
            <a:avLst/>
          </a:prstGeom>
          <a:ln w="1811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3" name="Freeform 202"/>
          <p:cNvSpPr/>
          <p:nvPr/>
        </p:nvSpPr>
        <p:spPr>
          <a:xfrm>
            <a:off x="9767035" y="940432"/>
            <a:ext cx="53736" cy="53736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4" y="8"/>
                </a:moveTo>
                <a:lnTo>
                  <a:pt x="0" y="0"/>
                </a:lnTo>
                <a:lnTo>
                  <a:pt x="8" y="0"/>
                </a:lnTo>
                <a:close/>
              </a:path>
            </a:pathLst>
          </a:custGeom>
          <a:solidFill>
            <a:srgbClr val="000000"/>
          </a:solidFill>
          <a:ln w="3937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4" name="Connector 203"/>
          <p:cNvCxnSpPr/>
          <p:nvPr/>
        </p:nvCxnSpPr>
        <p:spPr>
          <a:xfrm>
            <a:off x="10465639" y="765778"/>
            <a:ext cx="0" cy="228390"/>
          </a:xfrm>
          <a:prstGeom prst="line">
            <a:avLst/>
          </a:prstGeom>
          <a:ln w="1811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5" name="Freeform 204"/>
          <p:cNvSpPr/>
          <p:nvPr/>
        </p:nvSpPr>
        <p:spPr>
          <a:xfrm>
            <a:off x="10438771" y="940432"/>
            <a:ext cx="53736" cy="53736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4" y="8"/>
                </a:moveTo>
                <a:lnTo>
                  <a:pt x="0" y="0"/>
                </a:lnTo>
                <a:lnTo>
                  <a:pt x="8" y="0"/>
                </a:lnTo>
                <a:close/>
              </a:path>
            </a:pathLst>
          </a:custGeom>
          <a:solidFill>
            <a:srgbClr val="000000"/>
          </a:solidFill>
          <a:ln w="3937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6" name="Connector 205"/>
          <p:cNvCxnSpPr/>
          <p:nvPr/>
        </p:nvCxnSpPr>
        <p:spPr>
          <a:xfrm>
            <a:off x="9350558" y="1544991"/>
            <a:ext cx="214955" cy="0"/>
          </a:xfrm>
          <a:prstGeom prst="line">
            <a:avLst/>
          </a:prstGeom>
          <a:ln w="1811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7" name="Freeform 206"/>
          <p:cNvSpPr/>
          <p:nvPr/>
        </p:nvSpPr>
        <p:spPr>
          <a:xfrm>
            <a:off x="9505060" y="1511406"/>
            <a:ext cx="60453" cy="67170"/>
          </a:xfrm>
          <a:custGeom>
            <a:avLst/>
            <a:gdLst/>
            <a:ahLst/>
            <a:cxnLst/>
            <a:rect l="l" t="t" r="r" b="b"/>
            <a:pathLst>
              <a:path w="9" h="10">
                <a:moveTo>
                  <a:pt x="9" y="5"/>
                </a:moveTo>
                <a:lnTo>
                  <a:pt x="0" y="1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3937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8" name="Connector 207"/>
          <p:cNvCxnSpPr/>
          <p:nvPr/>
        </p:nvCxnSpPr>
        <p:spPr>
          <a:xfrm>
            <a:off x="10022293" y="1544991"/>
            <a:ext cx="214956" cy="0"/>
          </a:xfrm>
          <a:prstGeom prst="line">
            <a:avLst/>
          </a:prstGeom>
          <a:ln w="1811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9" name="Freeform 208"/>
          <p:cNvSpPr/>
          <p:nvPr/>
        </p:nvSpPr>
        <p:spPr>
          <a:xfrm>
            <a:off x="10176796" y="1511406"/>
            <a:ext cx="60453" cy="67170"/>
          </a:xfrm>
          <a:custGeom>
            <a:avLst/>
            <a:gdLst/>
            <a:ahLst/>
            <a:cxnLst/>
            <a:rect l="l" t="t" r="r" b="b"/>
            <a:pathLst>
              <a:path w="9" h="10">
                <a:moveTo>
                  <a:pt x="9" y="5"/>
                </a:moveTo>
                <a:lnTo>
                  <a:pt x="0" y="1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3937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0" name="Connector 209"/>
          <p:cNvCxnSpPr/>
          <p:nvPr/>
        </p:nvCxnSpPr>
        <p:spPr>
          <a:xfrm>
            <a:off x="10694029" y="1544991"/>
            <a:ext cx="268694" cy="0"/>
          </a:xfrm>
          <a:prstGeom prst="line">
            <a:avLst/>
          </a:prstGeom>
          <a:ln w="1811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1" name="Freeform 210"/>
          <p:cNvSpPr/>
          <p:nvPr/>
        </p:nvSpPr>
        <p:spPr>
          <a:xfrm>
            <a:off x="10902270" y="1511406"/>
            <a:ext cx="60453" cy="67170"/>
          </a:xfrm>
          <a:custGeom>
            <a:avLst/>
            <a:gdLst/>
            <a:ahLst/>
            <a:cxnLst/>
            <a:rect l="l" t="t" r="r" b="b"/>
            <a:pathLst>
              <a:path w="9" h="10">
                <a:moveTo>
                  <a:pt x="9" y="5"/>
                </a:moveTo>
                <a:lnTo>
                  <a:pt x="0" y="1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3937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ounded Rectangle 211"/>
          <p:cNvSpPr/>
          <p:nvPr/>
        </p:nvSpPr>
        <p:spPr>
          <a:xfrm>
            <a:off x="8376541" y="967299"/>
            <a:ext cx="141064" cy="141064"/>
          </a:xfrm>
          <a:prstGeom prst="roundRect">
            <a:avLst>
              <a:gd name="adj" fmla="val 16000"/>
            </a:avLst>
          </a:prstGeom>
          <a:solidFill>
            <a:srgbClr val="F5AC75"/>
          </a:solidFill>
          <a:ln w="1338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ounded Rectangle 212"/>
          <p:cNvSpPr/>
          <p:nvPr/>
        </p:nvSpPr>
        <p:spPr>
          <a:xfrm>
            <a:off x="8376541" y="1336753"/>
            <a:ext cx="141064" cy="141064"/>
          </a:xfrm>
          <a:prstGeom prst="roundRect">
            <a:avLst>
              <a:gd name="adj" fmla="val 16000"/>
            </a:avLst>
          </a:prstGeom>
          <a:solidFill>
            <a:srgbClr val="F5AC75"/>
          </a:solidFill>
          <a:ln w="1338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ounded Rectangle 213"/>
          <p:cNvSpPr/>
          <p:nvPr/>
        </p:nvSpPr>
        <p:spPr>
          <a:xfrm>
            <a:off x="8376541" y="1706208"/>
            <a:ext cx="141064" cy="141064"/>
          </a:xfrm>
          <a:prstGeom prst="roundRect">
            <a:avLst>
              <a:gd name="adj" fmla="val 16000"/>
            </a:avLst>
          </a:prstGeom>
          <a:solidFill>
            <a:srgbClr val="F5AC75"/>
          </a:solidFill>
          <a:ln w="1338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ounded Rectangle 214"/>
          <p:cNvSpPr/>
          <p:nvPr/>
        </p:nvSpPr>
        <p:spPr>
          <a:xfrm>
            <a:off x="8376541" y="1981619"/>
            <a:ext cx="141064" cy="141064"/>
          </a:xfrm>
          <a:prstGeom prst="roundRect">
            <a:avLst>
              <a:gd name="adj" fmla="val 16000"/>
            </a:avLst>
          </a:prstGeom>
          <a:solidFill>
            <a:srgbClr val="F5AC75"/>
          </a:solidFill>
          <a:ln w="1338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8369824" y="1377057"/>
            <a:ext cx="154499" cy="255259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1248" b="1" i="0">
                <a:solidFill>
                  <a:srgbClr val="000000"/>
                </a:solidFill>
                <a:latin typeface="Times New Roman"/>
              </a:defRPr>
            </a:pPr>
            <a:r>
              <a:t>⋮</a:t>
            </a:r>
          </a:p>
        </p:txBody>
      </p:sp>
      <p:cxnSp>
        <p:nvCxnSpPr>
          <p:cNvPr id="217" name="Connector 216"/>
          <p:cNvCxnSpPr/>
          <p:nvPr/>
        </p:nvCxnSpPr>
        <p:spPr>
          <a:xfrm>
            <a:off x="8047391" y="2203292"/>
            <a:ext cx="114195" cy="0"/>
          </a:xfrm>
          <a:prstGeom prst="line">
            <a:avLst/>
          </a:prstGeom>
          <a:ln w="1811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8" name="Freeform 217"/>
          <p:cNvSpPr/>
          <p:nvPr/>
        </p:nvSpPr>
        <p:spPr>
          <a:xfrm>
            <a:off x="8107850" y="2176424"/>
            <a:ext cx="53736" cy="53736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8" y="4"/>
                </a:moveTo>
                <a:lnTo>
                  <a:pt x="0" y="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3937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9" name="Connector 218"/>
          <p:cNvCxnSpPr/>
          <p:nvPr/>
        </p:nvCxnSpPr>
        <p:spPr>
          <a:xfrm flipV="1">
            <a:off x="8161586" y="1544991"/>
            <a:ext cx="0" cy="658301"/>
          </a:xfrm>
          <a:prstGeom prst="line">
            <a:avLst/>
          </a:prstGeom>
          <a:ln w="157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>
            <a:off x="8161586" y="1544991"/>
            <a:ext cx="167934" cy="0"/>
          </a:xfrm>
          <a:prstGeom prst="line">
            <a:avLst/>
          </a:prstGeom>
          <a:ln w="1811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1" name="Freeform 220"/>
          <p:cNvSpPr/>
          <p:nvPr/>
        </p:nvSpPr>
        <p:spPr>
          <a:xfrm>
            <a:off x="8269067" y="1511406"/>
            <a:ext cx="60453" cy="67170"/>
          </a:xfrm>
          <a:custGeom>
            <a:avLst/>
            <a:gdLst/>
            <a:ahLst/>
            <a:cxnLst/>
            <a:rect l="l" t="t" r="r" b="b"/>
            <a:pathLst>
              <a:path w="9" h="10">
                <a:moveTo>
                  <a:pt x="9" y="5"/>
                </a:moveTo>
                <a:lnTo>
                  <a:pt x="0" y="1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3937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2" name="Connector 221"/>
          <p:cNvCxnSpPr/>
          <p:nvPr/>
        </p:nvCxnSpPr>
        <p:spPr>
          <a:xfrm>
            <a:off x="8544475" y="1544991"/>
            <a:ext cx="228390" cy="0"/>
          </a:xfrm>
          <a:prstGeom prst="line">
            <a:avLst/>
          </a:prstGeom>
          <a:ln w="1811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3" name="Freeform 222"/>
          <p:cNvSpPr/>
          <p:nvPr/>
        </p:nvSpPr>
        <p:spPr>
          <a:xfrm>
            <a:off x="8712412" y="1511406"/>
            <a:ext cx="60453" cy="67170"/>
          </a:xfrm>
          <a:custGeom>
            <a:avLst/>
            <a:gdLst/>
            <a:ahLst/>
            <a:cxnLst/>
            <a:rect l="l" t="t" r="r" b="b"/>
            <a:pathLst>
              <a:path w="9" h="10">
                <a:moveTo>
                  <a:pt x="9" y="5"/>
                </a:moveTo>
                <a:lnTo>
                  <a:pt x="0" y="1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3937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TextBox 223"/>
          <p:cNvSpPr txBox="1"/>
          <p:nvPr/>
        </p:nvSpPr>
        <p:spPr>
          <a:xfrm>
            <a:off x="8242194" y="2283900"/>
            <a:ext cx="617996" cy="389606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1104" b="0" i="0">
                <a:solidFill>
                  <a:srgbClr val="000000"/>
                </a:solidFill>
                <a:latin typeface="Times New Roman"/>
              </a:defRPr>
            </a:pPr>
            <a:r>
              <a:t>Object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1104" b="0" i="0">
                <a:solidFill>
                  <a:srgbClr val="000000"/>
                </a:solidFill>
                <a:latin typeface="Times New Roman"/>
              </a:defRPr>
            </a:pPr>
            <a:r>
              <a:t>query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8793017" y="2283900"/>
            <a:ext cx="2008489" cy="376171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1296" b="1" i="0">
                <a:solidFill>
                  <a:srgbClr val="000000"/>
                </a:solidFill>
                <a:latin typeface="Times New Roman"/>
              </a:defRPr>
            </a:pPr>
            <a:r>
              <a:t>Multi-level Progressive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1296" b="1" i="0">
                <a:solidFill>
                  <a:srgbClr val="000000"/>
                </a:solidFill>
                <a:latin typeface="Times New Roman"/>
              </a:defRPr>
            </a:pPr>
            <a:r>
              <a:t>Spatial Decoder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9263232" y="2915332"/>
            <a:ext cx="396323" cy="181368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1152" b="1" i="0">
                <a:solidFill>
                  <a:srgbClr val="000000"/>
                </a:solidFill>
                <a:latin typeface="Times New Roman"/>
              </a:defRPr>
            </a:pPr>
            <a:r>
              <a:t>(c)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10915702" y="120912"/>
            <a:ext cx="1249428" cy="194803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000000"/>
                </a:solidFill>
                <a:latin typeface="Times New Roman"/>
              </a:defRPr>
            </a:pPr>
            <a:r>
              <a:t>Predicted Tube</a:t>
            </a:r>
          </a:p>
        </p:txBody>
      </p:sp>
      <p:pic>
        <p:nvPicPr>
          <p:cNvPr id="228" name="Picture 227" descr="predicted_t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2875" y="349302"/>
            <a:ext cx="1128515" cy="2377943"/>
          </a:xfrm>
          <a:prstGeom prst="rect">
            <a:avLst/>
          </a:prstGeom>
        </p:spPr>
      </p:pic>
      <p:sp>
        <p:nvSpPr>
          <p:cNvPr id="229" name="Rectangle 228"/>
          <p:cNvSpPr/>
          <p:nvPr/>
        </p:nvSpPr>
        <p:spPr>
          <a:xfrm>
            <a:off x="10982875" y="349302"/>
            <a:ext cx="1128515" cy="2377943"/>
          </a:xfrm>
          <a:prstGeom prst="rect">
            <a:avLst/>
          </a:prstGeom>
          <a:noFill/>
          <a:ln w="14173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0" name="Connector 229"/>
          <p:cNvCxnSpPr/>
          <p:nvPr/>
        </p:nvCxnSpPr>
        <p:spPr>
          <a:xfrm>
            <a:off x="3922935" y="732191"/>
            <a:ext cx="0" cy="2283901"/>
          </a:xfrm>
          <a:prstGeom prst="line">
            <a:avLst/>
          </a:prstGeom>
          <a:ln w="9448">
            <a:solidFill>
              <a:srgbClr val="C4C1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Connector 230"/>
          <p:cNvCxnSpPr/>
          <p:nvPr/>
        </p:nvCxnSpPr>
        <p:spPr>
          <a:xfrm>
            <a:off x="1565143" y="3224330"/>
            <a:ext cx="0" cy="167934"/>
          </a:xfrm>
          <a:prstGeom prst="line">
            <a:avLst/>
          </a:prstGeom>
          <a:ln w="157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Connector 231"/>
          <p:cNvCxnSpPr/>
          <p:nvPr/>
        </p:nvCxnSpPr>
        <p:spPr>
          <a:xfrm>
            <a:off x="1565143" y="3224330"/>
            <a:ext cx="5071603" cy="0"/>
          </a:xfrm>
          <a:prstGeom prst="line">
            <a:avLst/>
          </a:prstGeom>
          <a:ln w="157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Connector 232"/>
          <p:cNvCxnSpPr/>
          <p:nvPr/>
        </p:nvCxnSpPr>
        <p:spPr>
          <a:xfrm>
            <a:off x="6636746" y="3224330"/>
            <a:ext cx="0" cy="483650"/>
          </a:xfrm>
          <a:prstGeom prst="line">
            <a:avLst/>
          </a:prstGeom>
          <a:ln w="1811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4" name="Freeform 233"/>
          <p:cNvSpPr/>
          <p:nvPr/>
        </p:nvSpPr>
        <p:spPr>
          <a:xfrm>
            <a:off x="6603161" y="3647527"/>
            <a:ext cx="67170" cy="60453"/>
          </a:xfrm>
          <a:custGeom>
            <a:avLst/>
            <a:gdLst/>
            <a:ahLst/>
            <a:cxnLst/>
            <a:rect l="l" t="t" r="r" b="b"/>
            <a:pathLst>
              <a:path w="10" h="9">
                <a:moveTo>
                  <a:pt x="5" y="9"/>
                </a:moveTo>
                <a:lnTo>
                  <a:pt x="0" y="0"/>
                </a:lnTo>
                <a:lnTo>
                  <a:pt x="10" y="0"/>
                </a:lnTo>
                <a:close/>
              </a:path>
            </a:pathLst>
          </a:custGeom>
          <a:solidFill>
            <a:srgbClr val="000000"/>
          </a:solidFill>
          <a:ln w="3937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5" name="Connector 234"/>
          <p:cNvCxnSpPr/>
          <p:nvPr/>
        </p:nvCxnSpPr>
        <p:spPr>
          <a:xfrm>
            <a:off x="5467927" y="3365394"/>
            <a:ext cx="0" cy="2532443"/>
          </a:xfrm>
          <a:prstGeom prst="line">
            <a:avLst/>
          </a:prstGeom>
          <a:ln w="31496">
            <a:solidFill>
              <a:srgbClr val="EEE8D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6" name="Rounded Rectangle 235"/>
          <p:cNvSpPr/>
          <p:nvPr/>
        </p:nvSpPr>
        <p:spPr>
          <a:xfrm>
            <a:off x="947147" y="3768436"/>
            <a:ext cx="3613937" cy="1860707"/>
          </a:xfrm>
          <a:prstGeom prst="roundRect">
            <a:avLst>
              <a:gd name="adj" fmla="val 5054"/>
            </a:avLst>
          </a:prstGeom>
          <a:solidFill>
            <a:srgbClr val="B9B9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ounded Rectangle 236"/>
          <p:cNvSpPr/>
          <p:nvPr/>
        </p:nvSpPr>
        <p:spPr>
          <a:xfrm>
            <a:off x="900125" y="3721414"/>
            <a:ext cx="3613937" cy="1860707"/>
          </a:xfrm>
          <a:prstGeom prst="roundRect">
            <a:avLst>
              <a:gd name="adj" fmla="val 5054"/>
            </a:avLst>
          </a:prstGeom>
          <a:solidFill>
            <a:srgbClr val="EBE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ounded Rectangle 237"/>
          <p:cNvSpPr/>
          <p:nvPr/>
        </p:nvSpPr>
        <p:spPr>
          <a:xfrm>
            <a:off x="1592013" y="3768436"/>
            <a:ext cx="2525725" cy="416476"/>
          </a:xfrm>
          <a:prstGeom prst="roundRect">
            <a:avLst>
              <a:gd name="adj" fmla="val 14516"/>
            </a:avLst>
          </a:prstGeom>
          <a:solidFill>
            <a:srgbClr val="B9B9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ounded Rectangle 238"/>
          <p:cNvSpPr/>
          <p:nvPr/>
        </p:nvSpPr>
        <p:spPr>
          <a:xfrm>
            <a:off x="1544991" y="3721414"/>
            <a:ext cx="2525725" cy="416476"/>
          </a:xfrm>
          <a:prstGeom prst="roundRect">
            <a:avLst>
              <a:gd name="adj" fmla="val 14516"/>
            </a:avLst>
          </a:prstGeom>
          <a:solidFill>
            <a:srgbClr val="DCEB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TextBox 239"/>
          <p:cNvSpPr txBox="1"/>
          <p:nvPr/>
        </p:nvSpPr>
        <p:spPr>
          <a:xfrm>
            <a:off x="1766664" y="3781870"/>
            <a:ext cx="2115966" cy="282128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000000"/>
                </a:solidFill>
                <a:latin typeface="Times New Roman"/>
              </a:defRPr>
            </a:pPr>
            <a:r>
              <a:t>temporal interaction layer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4164760" y="3755001"/>
            <a:ext cx="389606" cy="228390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1008" b="1" i="1">
                <a:solidFill>
                  <a:srgbClr val="000000"/>
                </a:solidFill>
                <a:latin typeface="Times New Roman"/>
              </a:defRPr>
            </a:pPr>
            <a:r>
              <a:t>×N</a:t>
            </a:r>
          </a:p>
        </p:txBody>
      </p:sp>
      <p:sp>
        <p:nvSpPr>
          <p:cNvPr id="242" name="Rounded Rectangle 241"/>
          <p:cNvSpPr/>
          <p:nvPr/>
        </p:nvSpPr>
        <p:spPr>
          <a:xfrm>
            <a:off x="1209123" y="3398981"/>
            <a:ext cx="147781" cy="147781"/>
          </a:xfrm>
          <a:prstGeom prst="roundRect">
            <a:avLst>
              <a:gd name="adj" fmla="val 13636"/>
            </a:avLst>
          </a:prstGeom>
          <a:solidFill>
            <a:srgbClr val="DBE7F7"/>
          </a:solidFill>
          <a:ln w="14173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TextBox 242"/>
          <p:cNvSpPr txBox="1"/>
          <p:nvPr/>
        </p:nvSpPr>
        <p:spPr>
          <a:xfrm>
            <a:off x="1370340" y="3372112"/>
            <a:ext cx="73890" cy="161216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768" b="1" i="0">
                <a:solidFill>
                  <a:srgbClr val="000000"/>
                </a:solidFill>
                <a:latin typeface="Times New Roman"/>
              </a:defRPr>
            </a:pPr>
            <a:r>
              <a:t>···</a:t>
            </a:r>
          </a:p>
        </p:txBody>
      </p:sp>
      <p:sp>
        <p:nvSpPr>
          <p:cNvPr id="244" name="Rounded Rectangle 243"/>
          <p:cNvSpPr/>
          <p:nvPr/>
        </p:nvSpPr>
        <p:spPr>
          <a:xfrm>
            <a:off x="1450948" y="3398981"/>
            <a:ext cx="147781" cy="147781"/>
          </a:xfrm>
          <a:prstGeom prst="roundRect">
            <a:avLst>
              <a:gd name="adj" fmla="val 13636"/>
            </a:avLst>
          </a:prstGeom>
          <a:solidFill>
            <a:srgbClr val="DBE7F7"/>
          </a:solidFill>
          <a:ln w="14173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TextBox 244"/>
          <p:cNvSpPr txBox="1"/>
          <p:nvPr/>
        </p:nvSpPr>
        <p:spPr>
          <a:xfrm>
            <a:off x="1612165" y="3372112"/>
            <a:ext cx="73890" cy="161216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768" b="1" i="0">
                <a:solidFill>
                  <a:srgbClr val="000000"/>
                </a:solidFill>
                <a:latin typeface="Times New Roman"/>
              </a:defRPr>
            </a:pPr>
            <a:r>
              <a:t>···</a:t>
            </a:r>
          </a:p>
        </p:txBody>
      </p:sp>
      <p:sp>
        <p:nvSpPr>
          <p:cNvPr id="246" name="Rounded Rectangle 245"/>
          <p:cNvSpPr/>
          <p:nvPr/>
        </p:nvSpPr>
        <p:spPr>
          <a:xfrm>
            <a:off x="1692773" y="3398981"/>
            <a:ext cx="147781" cy="147781"/>
          </a:xfrm>
          <a:prstGeom prst="roundRect">
            <a:avLst>
              <a:gd name="adj" fmla="val 13636"/>
            </a:avLst>
          </a:prstGeom>
          <a:solidFill>
            <a:srgbClr val="DBE7F7"/>
          </a:solidFill>
          <a:ln w="14173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TextBox 246"/>
          <p:cNvSpPr txBox="1"/>
          <p:nvPr/>
        </p:nvSpPr>
        <p:spPr>
          <a:xfrm>
            <a:off x="1853990" y="3372112"/>
            <a:ext cx="73890" cy="161216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768" b="1" i="0">
                <a:solidFill>
                  <a:srgbClr val="000000"/>
                </a:solidFill>
                <a:latin typeface="Times New Roman"/>
              </a:defRPr>
            </a:pPr>
            <a:r>
              <a:t>···</a:t>
            </a:r>
          </a:p>
        </p:txBody>
      </p:sp>
      <p:sp>
        <p:nvSpPr>
          <p:cNvPr id="248" name="Rounded Rectangle 247"/>
          <p:cNvSpPr/>
          <p:nvPr/>
        </p:nvSpPr>
        <p:spPr>
          <a:xfrm>
            <a:off x="1934598" y="3398981"/>
            <a:ext cx="147781" cy="147781"/>
          </a:xfrm>
          <a:prstGeom prst="roundRect">
            <a:avLst>
              <a:gd name="adj" fmla="val 13636"/>
            </a:avLst>
          </a:prstGeom>
          <a:solidFill>
            <a:srgbClr val="DBE7F7"/>
          </a:solidFill>
          <a:ln w="14173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ounded Rectangle 248"/>
          <p:cNvSpPr/>
          <p:nvPr/>
        </p:nvSpPr>
        <p:spPr>
          <a:xfrm>
            <a:off x="2149553" y="3398981"/>
            <a:ext cx="147781" cy="147781"/>
          </a:xfrm>
          <a:prstGeom prst="roundRect">
            <a:avLst>
              <a:gd name="adj" fmla="val 13636"/>
            </a:avLst>
          </a:prstGeom>
          <a:solidFill>
            <a:srgbClr val="A8D18D"/>
          </a:solidFill>
          <a:ln w="14173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TextBox 249"/>
          <p:cNvSpPr txBox="1"/>
          <p:nvPr/>
        </p:nvSpPr>
        <p:spPr>
          <a:xfrm>
            <a:off x="2310770" y="3372112"/>
            <a:ext cx="73890" cy="161216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768" b="1" i="0">
                <a:solidFill>
                  <a:srgbClr val="000000"/>
                </a:solidFill>
                <a:latin typeface="Times New Roman"/>
              </a:defRPr>
            </a:pPr>
            <a:r>
              <a:t>···</a:t>
            </a:r>
          </a:p>
        </p:txBody>
      </p:sp>
      <p:sp>
        <p:nvSpPr>
          <p:cNvPr id="251" name="Rounded Rectangle 250"/>
          <p:cNvSpPr/>
          <p:nvPr/>
        </p:nvSpPr>
        <p:spPr>
          <a:xfrm>
            <a:off x="2391378" y="3398981"/>
            <a:ext cx="147781" cy="147781"/>
          </a:xfrm>
          <a:prstGeom prst="roundRect">
            <a:avLst>
              <a:gd name="adj" fmla="val 13636"/>
            </a:avLst>
          </a:prstGeom>
          <a:solidFill>
            <a:srgbClr val="A8D18D"/>
          </a:solidFill>
          <a:ln w="14173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TextBox 251"/>
          <p:cNvSpPr txBox="1"/>
          <p:nvPr/>
        </p:nvSpPr>
        <p:spPr>
          <a:xfrm>
            <a:off x="2552594" y="3372112"/>
            <a:ext cx="73890" cy="161216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768" b="1" i="0">
                <a:solidFill>
                  <a:srgbClr val="000000"/>
                </a:solidFill>
                <a:latin typeface="Times New Roman"/>
              </a:defRPr>
            </a:pPr>
            <a:r>
              <a:t>···</a:t>
            </a:r>
          </a:p>
        </p:txBody>
      </p:sp>
      <p:sp>
        <p:nvSpPr>
          <p:cNvPr id="253" name="Rounded Rectangle 252"/>
          <p:cNvSpPr/>
          <p:nvPr/>
        </p:nvSpPr>
        <p:spPr>
          <a:xfrm>
            <a:off x="2633203" y="3398981"/>
            <a:ext cx="147781" cy="147781"/>
          </a:xfrm>
          <a:prstGeom prst="roundRect">
            <a:avLst>
              <a:gd name="adj" fmla="val 13636"/>
            </a:avLst>
          </a:prstGeom>
          <a:solidFill>
            <a:srgbClr val="A8D18D"/>
          </a:solidFill>
          <a:ln w="14173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TextBox 253"/>
          <p:cNvSpPr txBox="1"/>
          <p:nvPr/>
        </p:nvSpPr>
        <p:spPr>
          <a:xfrm>
            <a:off x="2794419" y="3372112"/>
            <a:ext cx="73890" cy="161216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768" b="1" i="0">
                <a:solidFill>
                  <a:srgbClr val="000000"/>
                </a:solidFill>
                <a:latin typeface="Times New Roman"/>
              </a:defRPr>
            </a:pPr>
            <a:r>
              <a:t>···</a:t>
            </a:r>
          </a:p>
        </p:txBody>
      </p:sp>
      <p:sp>
        <p:nvSpPr>
          <p:cNvPr id="255" name="Rounded Rectangle 254"/>
          <p:cNvSpPr/>
          <p:nvPr/>
        </p:nvSpPr>
        <p:spPr>
          <a:xfrm>
            <a:off x="2875028" y="3398981"/>
            <a:ext cx="147781" cy="147781"/>
          </a:xfrm>
          <a:prstGeom prst="roundRect">
            <a:avLst>
              <a:gd name="adj" fmla="val 13636"/>
            </a:avLst>
          </a:prstGeom>
          <a:solidFill>
            <a:srgbClr val="A8D18D"/>
          </a:solidFill>
          <a:ln w="14173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Rounded Rectangle 255"/>
          <p:cNvSpPr/>
          <p:nvPr/>
        </p:nvSpPr>
        <p:spPr>
          <a:xfrm>
            <a:off x="3110135" y="3398981"/>
            <a:ext cx="147781" cy="147781"/>
          </a:xfrm>
          <a:prstGeom prst="roundRect">
            <a:avLst>
              <a:gd name="adj" fmla="val 13636"/>
            </a:avLst>
          </a:prstGeom>
          <a:solidFill>
            <a:srgbClr val="6887C3"/>
          </a:solidFill>
          <a:ln w="14173">
            <a:solidFill>
              <a:srgbClr val="FF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TextBox 256"/>
          <p:cNvSpPr txBox="1"/>
          <p:nvPr/>
        </p:nvSpPr>
        <p:spPr>
          <a:xfrm>
            <a:off x="3271351" y="3372112"/>
            <a:ext cx="73890" cy="161216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768" b="1" i="0">
                <a:solidFill>
                  <a:srgbClr val="000000"/>
                </a:solidFill>
                <a:latin typeface="Times New Roman"/>
              </a:defRPr>
            </a:pPr>
            <a:r>
              <a:t>···</a:t>
            </a:r>
          </a:p>
        </p:txBody>
      </p:sp>
      <p:sp>
        <p:nvSpPr>
          <p:cNvPr id="258" name="Rounded Rectangle 257"/>
          <p:cNvSpPr/>
          <p:nvPr/>
        </p:nvSpPr>
        <p:spPr>
          <a:xfrm>
            <a:off x="3351960" y="3398981"/>
            <a:ext cx="147781" cy="147781"/>
          </a:xfrm>
          <a:prstGeom prst="roundRect">
            <a:avLst>
              <a:gd name="adj" fmla="val 13636"/>
            </a:avLst>
          </a:prstGeom>
          <a:solidFill>
            <a:srgbClr val="6887C3"/>
          </a:solidFill>
          <a:ln w="14173">
            <a:solidFill>
              <a:srgbClr val="FF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TextBox 258"/>
          <p:cNvSpPr txBox="1"/>
          <p:nvPr/>
        </p:nvSpPr>
        <p:spPr>
          <a:xfrm>
            <a:off x="3513176" y="3372112"/>
            <a:ext cx="73890" cy="161216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768" b="1" i="0">
                <a:solidFill>
                  <a:srgbClr val="000000"/>
                </a:solidFill>
                <a:latin typeface="Times New Roman"/>
              </a:defRPr>
            </a:pPr>
            <a:r>
              <a:t>···</a:t>
            </a:r>
          </a:p>
        </p:txBody>
      </p:sp>
      <p:sp>
        <p:nvSpPr>
          <p:cNvPr id="260" name="Rounded Rectangle 259"/>
          <p:cNvSpPr/>
          <p:nvPr/>
        </p:nvSpPr>
        <p:spPr>
          <a:xfrm>
            <a:off x="3593785" y="3398981"/>
            <a:ext cx="147781" cy="147781"/>
          </a:xfrm>
          <a:prstGeom prst="roundRect">
            <a:avLst>
              <a:gd name="adj" fmla="val 13636"/>
            </a:avLst>
          </a:prstGeom>
          <a:solidFill>
            <a:srgbClr val="6887C3"/>
          </a:solidFill>
          <a:ln w="14173">
            <a:solidFill>
              <a:srgbClr val="FF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TextBox 260"/>
          <p:cNvSpPr txBox="1"/>
          <p:nvPr/>
        </p:nvSpPr>
        <p:spPr>
          <a:xfrm>
            <a:off x="3755001" y="3372112"/>
            <a:ext cx="73890" cy="161216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768" b="1" i="0">
                <a:solidFill>
                  <a:srgbClr val="000000"/>
                </a:solidFill>
                <a:latin typeface="Times New Roman"/>
              </a:defRPr>
            </a:pPr>
            <a:r>
              <a:t>···</a:t>
            </a:r>
          </a:p>
        </p:txBody>
      </p:sp>
      <p:sp>
        <p:nvSpPr>
          <p:cNvPr id="262" name="Rounded Rectangle 261"/>
          <p:cNvSpPr/>
          <p:nvPr/>
        </p:nvSpPr>
        <p:spPr>
          <a:xfrm>
            <a:off x="3835609" y="3398981"/>
            <a:ext cx="147781" cy="147781"/>
          </a:xfrm>
          <a:prstGeom prst="roundRect">
            <a:avLst>
              <a:gd name="adj" fmla="val 13636"/>
            </a:avLst>
          </a:prstGeom>
          <a:solidFill>
            <a:srgbClr val="6887C3"/>
          </a:solidFill>
          <a:ln w="14173">
            <a:solidFill>
              <a:srgbClr val="FF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TextBox 262"/>
          <p:cNvSpPr txBox="1"/>
          <p:nvPr/>
        </p:nvSpPr>
        <p:spPr>
          <a:xfrm>
            <a:off x="3996826" y="3372112"/>
            <a:ext cx="73890" cy="161216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768" b="1" i="0">
                <a:solidFill>
                  <a:srgbClr val="000000"/>
                </a:solidFill>
                <a:latin typeface="Times New Roman"/>
              </a:defRPr>
            </a:pPr>
            <a:r>
              <a:t>···</a:t>
            </a:r>
          </a:p>
        </p:txBody>
      </p:sp>
      <p:sp>
        <p:nvSpPr>
          <p:cNvPr id="264" name="Rounded Rectangle 263"/>
          <p:cNvSpPr/>
          <p:nvPr/>
        </p:nvSpPr>
        <p:spPr>
          <a:xfrm>
            <a:off x="4077434" y="3398981"/>
            <a:ext cx="147781" cy="147781"/>
          </a:xfrm>
          <a:prstGeom prst="roundRect">
            <a:avLst>
              <a:gd name="adj" fmla="val 13636"/>
            </a:avLst>
          </a:prstGeom>
          <a:solidFill>
            <a:srgbClr val="6887C3"/>
          </a:solidFill>
          <a:ln w="14173">
            <a:solidFill>
              <a:srgbClr val="FF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5" name="Connector 264"/>
          <p:cNvCxnSpPr/>
          <p:nvPr/>
        </p:nvCxnSpPr>
        <p:spPr>
          <a:xfrm flipV="1">
            <a:off x="1544991" y="3573632"/>
            <a:ext cx="0" cy="147782"/>
          </a:xfrm>
          <a:prstGeom prst="line">
            <a:avLst/>
          </a:prstGeom>
          <a:ln w="1811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6" name="Freeform 265"/>
          <p:cNvSpPr/>
          <p:nvPr/>
        </p:nvSpPr>
        <p:spPr>
          <a:xfrm>
            <a:off x="1518123" y="3573632"/>
            <a:ext cx="53736" cy="53736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4" y="0"/>
                </a:moveTo>
                <a:lnTo>
                  <a:pt x="8" y="8"/>
                </a:lnTo>
                <a:lnTo>
                  <a:pt x="0" y="8"/>
                </a:lnTo>
                <a:close/>
              </a:path>
            </a:pathLst>
          </a:custGeom>
          <a:solidFill>
            <a:srgbClr val="000000"/>
          </a:solidFill>
          <a:ln w="3937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7" name="Connector 266"/>
          <p:cNvCxnSpPr/>
          <p:nvPr/>
        </p:nvCxnSpPr>
        <p:spPr>
          <a:xfrm flipV="1">
            <a:off x="2498856" y="3573632"/>
            <a:ext cx="0" cy="147782"/>
          </a:xfrm>
          <a:prstGeom prst="line">
            <a:avLst/>
          </a:prstGeom>
          <a:ln w="1811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8" name="Freeform 267"/>
          <p:cNvSpPr/>
          <p:nvPr/>
        </p:nvSpPr>
        <p:spPr>
          <a:xfrm>
            <a:off x="2471988" y="3573632"/>
            <a:ext cx="53736" cy="53736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4" y="0"/>
                </a:moveTo>
                <a:lnTo>
                  <a:pt x="8" y="8"/>
                </a:lnTo>
                <a:lnTo>
                  <a:pt x="0" y="8"/>
                </a:lnTo>
                <a:close/>
              </a:path>
            </a:pathLst>
          </a:custGeom>
          <a:solidFill>
            <a:srgbClr val="000000"/>
          </a:solidFill>
          <a:ln w="3937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9" name="Connector 268"/>
          <p:cNvCxnSpPr/>
          <p:nvPr/>
        </p:nvCxnSpPr>
        <p:spPr>
          <a:xfrm flipV="1">
            <a:off x="3862479" y="3573632"/>
            <a:ext cx="0" cy="147782"/>
          </a:xfrm>
          <a:prstGeom prst="line">
            <a:avLst/>
          </a:prstGeom>
          <a:ln w="1811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0" name="Freeform 269"/>
          <p:cNvSpPr/>
          <p:nvPr/>
        </p:nvSpPr>
        <p:spPr>
          <a:xfrm>
            <a:off x="3835611" y="3573632"/>
            <a:ext cx="53736" cy="53736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4" y="0"/>
                </a:moveTo>
                <a:lnTo>
                  <a:pt x="8" y="8"/>
                </a:lnTo>
                <a:lnTo>
                  <a:pt x="0" y="8"/>
                </a:lnTo>
                <a:close/>
              </a:path>
            </a:pathLst>
          </a:custGeom>
          <a:solidFill>
            <a:srgbClr val="000000"/>
          </a:solidFill>
          <a:ln w="3937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Rounded Rectangle 270"/>
          <p:cNvSpPr/>
          <p:nvPr/>
        </p:nvSpPr>
        <p:spPr>
          <a:xfrm>
            <a:off x="1813685" y="4312542"/>
            <a:ext cx="147781" cy="147781"/>
          </a:xfrm>
          <a:prstGeom prst="roundRect">
            <a:avLst>
              <a:gd name="adj" fmla="val 16000"/>
            </a:avLst>
          </a:prstGeom>
          <a:solidFill>
            <a:srgbClr val="F4D6EE"/>
          </a:solidFill>
          <a:ln w="14173">
            <a:solidFill>
              <a:srgbClr val="FF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TextBox 271"/>
          <p:cNvSpPr txBox="1"/>
          <p:nvPr/>
        </p:nvSpPr>
        <p:spPr>
          <a:xfrm>
            <a:off x="1034472" y="4218499"/>
            <a:ext cx="698604" cy="403041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1104" b="0" i="0">
                <a:solidFill>
                  <a:srgbClr val="000000"/>
                </a:solidFill>
                <a:latin typeface="Times New Roman"/>
              </a:defRPr>
            </a:pPr>
            <a:r>
              <a:t>learnable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1104" b="0" i="0">
                <a:solidFill>
                  <a:srgbClr val="000000"/>
                </a:solidFill>
                <a:latin typeface="Times New Roman"/>
              </a:defRPr>
            </a:pPr>
            <a:r>
              <a:t>video token</a:t>
            </a:r>
          </a:p>
        </p:txBody>
      </p:sp>
      <p:cxnSp>
        <p:nvCxnSpPr>
          <p:cNvPr id="273" name="Connector 272"/>
          <p:cNvCxnSpPr/>
          <p:nvPr/>
        </p:nvCxnSpPr>
        <p:spPr>
          <a:xfrm flipV="1">
            <a:off x="1887576" y="4137890"/>
            <a:ext cx="0" cy="167934"/>
          </a:xfrm>
          <a:prstGeom prst="line">
            <a:avLst/>
          </a:prstGeom>
          <a:ln w="1811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4" name="Freeform 273"/>
          <p:cNvSpPr/>
          <p:nvPr/>
        </p:nvSpPr>
        <p:spPr>
          <a:xfrm>
            <a:off x="1860708" y="4137890"/>
            <a:ext cx="53736" cy="53736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4" y="0"/>
                </a:moveTo>
                <a:lnTo>
                  <a:pt x="8" y="8"/>
                </a:lnTo>
                <a:lnTo>
                  <a:pt x="0" y="8"/>
                </a:lnTo>
                <a:close/>
              </a:path>
            </a:pathLst>
          </a:custGeom>
          <a:solidFill>
            <a:srgbClr val="000000"/>
          </a:solidFill>
          <a:ln w="3937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Rounded Rectangle 274"/>
          <p:cNvSpPr/>
          <p:nvPr/>
        </p:nvSpPr>
        <p:spPr>
          <a:xfrm>
            <a:off x="2807854" y="4312542"/>
            <a:ext cx="147781" cy="147781"/>
          </a:xfrm>
          <a:prstGeom prst="roundRect">
            <a:avLst>
              <a:gd name="adj" fmla="val 16000"/>
            </a:avLst>
          </a:prstGeom>
          <a:solidFill>
            <a:srgbClr val="6887C3"/>
          </a:solidFill>
          <a:ln w="14173">
            <a:solidFill>
              <a:srgbClr val="FF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6" name="Connector 275"/>
          <p:cNvCxnSpPr/>
          <p:nvPr/>
        </p:nvCxnSpPr>
        <p:spPr>
          <a:xfrm flipV="1">
            <a:off x="2881745" y="4137890"/>
            <a:ext cx="0" cy="167934"/>
          </a:xfrm>
          <a:prstGeom prst="line">
            <a:avLst/>
          </a:prstGeom>
          <a:ln w="1811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7" name="Freeform 276"/>
          <p:cNvSpPr/>
          <p:nvPr/>
        </p:nvSpPr>
        <p:spPr>
          <a:xfrm>
            <a:off x="2854877" y="4137890"/>
            <a:ext cx="53736" cy="53736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4" y="0"/>
                </a:moveTo>
                <a:lnTo>
                  <a:pt x="8" y="8"/>
                </a:lnTo>
                <a:lnTo>
                  <a:pt x="0" y="8"/>
                </a:lnTo>
                <a:close/>
              </a:path>
            </a:pathLst>
          </a:custGeom>
          <a:solidFill>
            <a:srgbClr val="000000"/>
          </a:solidFill>
          <a:ln w="3937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Rounded Rectangle 277"/>
          <p:cNvSpPr/>
          <p:nvPr/>
        </p:nvSpPr>
        <p:spPr>
          <a:xfrm>
            <a:off x="3089983" y="4312542"/>
            <a:ext cx="147781" cy="147781"/>
          </a:xfrm>
          <a:prstGeom prst="roundRect">
            <a:avLst>
              <a:gd name="adj" fmla="val 16000"/>
            </a:avLst>
          </a:prstGeom>
          <a:solidFill>
            <a:srgbClr val="6887C3"/>
          </a:solidFill>
          <a:ln w="14173">
            <a:solidFill>
              <a:srgbClr val="FF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9" name="Connector 278"/>
          <p:cNvCxnSpPr/>
          <p:nvPr/>
        </p:nvCxnSpPr>
        <p:spPr>
          <a:xfrm flipV="1">
            <a:off x="3163874" y="4137890"/>
            <a:ext cx="0" cy="167934"/>
          </a:xfrm>
          <a:prstGeom prst="line">
            <a:avLst/>
          </a:prstGeom>
          <a:ln w="1811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0" name="Freeform 279"/>
          <p:cNvSpPr/>
          <p:nvPr/>
        </p:nvSpPr>
        <p:spPr>
          <a:xfrm>
            <a:off x="3137006" y="4137890"/>
            <a:ext cx="53736" cy="53736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4" y="0"/>
                </a:moveTo>
                <a:lnTo>
                  <a:pt x="8" y="8"/>
                </a:lnTo>
                <a:lnTo>
                  <a:pt x="0" y="8"/>
                </a:lnTo>
                <a:close/>
              </a:path>
            </a:pathLst>
          </a:custGeom>
          <a:solidFill>
            <a:srgbClr val="000000"/>
          </a:solidFill>
          <a:ln w="3937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Rounded Rectangle 280"/>
          <p:cNvSpPr/>
          <p:nvPr/>
        </p:nvSpPr>
        <p:spPr>
          <a:xfrm>
            <a:off x="3425851" y="4312542"/>
            <a:ext cx="147781" cy="147781"/>
          </a:xfrm>
          <a:prstGeom prst="roundRect">
            <a:avLst>
              <a:gd name="adj" fmla="val 16000"/>
            </a:avLst>
          </a:prstGeom>
          <a:solidFill>
            <a:srgbClr val="6887C3"/>
          </a:solidFill>
          <a:ln w="14173">
            <a:solidFill>
              <a:srgbClr val="FF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2" name="Connector 281"/>
          <p:cNvCxnSpPr/>
          <p:nvPr/>
        </p:nvCxnSpPr>
        <p:spPr>
          <a:xfrm flipV="1">
            <a:off x="3499742" y="4137890"/>
            <a:ext cx="0" cy="167934"/>
          </a:xfrm>
          <a:prstGeom prst="line">
            <a:avLst/>
          </a:prstGeom>
          <a:ln w="1811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3" name="Freeform 282"/>
          <p:cNvSpPr/>
          <p:nvPr/>
        </p:nvSpPr>
        <p:spPr>
          <a:xfrm>
            <a:off x="3472874" y="4137890"/>
            <a:ext cx="53736" cy="53736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4" y="0"/>
                </a:moveTo>
                <a:lnTo>
                  <a:pt x="8" y="8"/>
                </a:lnTo>
                <a:lnTo>
                  <a:pt x="0" y="8"/>
                </a:lnTo>
                <a:close/>
              </a:path>
            </a:pathLst>
          </a:custGeom>
          <a:solidFill>
            <a:srgbClr val="000000"/>
          </a:solidFill>
          <a:ln w="3937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Rounded Rectangle 283"/>
          <p:cNvSpPr/>
          <p:nvPr/>
        </p:nvSpPr>
        <p:spPr>
          <a:xfrm>
            <a:off x="3667675" y="4312542"/>
            <a:ext cx="147781" cy="147781"/>
          </a:xfrm>
          <a:prstGeom prst="roundRect">
            <a:avLst>
              <a:gd name="adj" fmla="val 16000"/>
            </a:avLst>
          </a:prstGeom>
          <a:solidFill>
            <a:srgbClr val="6887C3"/>
          </a:solidFill>
          <a:ln w="14173">
            <a:solidFill>
              <a:srgbClr val="FF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5" name="Connector 284"/>
          <p:cNvCxnSpPr/>
          <p:nvPr/>
        </p:nvCxnSpPr>
        <p:spPr>
          <a:xfrm flipV="1">
            <a:off x="3741566" y="4137890"/>
            <a:ext cx="0" cy="167934"/>
          </a:xfrm>
          <a:prstGeom prst="line">
            <a:avLst/>
          </a:prstGeom>
          <a:ln w="1811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6" name="Freeform 285"/>
          <p:cNvSpPr/>
          <p:nvPr/>
        </p:nvSpPr>
        <p:spPr>
          <a:xfrm>
            <a:off x="3714698" y="4137890"/>
            <a:ext cx="53736" cy="53736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4" y="0"/>
                </a:moveTo>
                <a:lnTo>
                  <a:pt x="8" y="8"/>
                </a:lnTo>
                <a:lnTo>
                  <a:pt x="0" y="8"/>
                </a:lnTo>
                <a:close/>
              </a:path>
            </a:pathLst>
          </a:custGeom>
          <a:solidFill>
            <a:srgbClr val="000000"/>
          </a:solidFill>
          <a:ln w="3937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TextBox 286"/>
          <p:cNvSpPr txBox="1"/>
          <p:nvPr/>
        </p:nvSpPr>
        <p:spPr>
          <a:xfrm>
            <a:off x="3217613" y="4473758"/>
            <a:ext cx="705322" cy="174651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1055" b="1" i="0">
                <a:solidFill>
                  <a:srgbClr val="000000"/>
                </a:solidFill>
                <a:latin typeface="Times New Roman"/>
              </a:defRPr>
            </a:pPr>
            <a:r>
              <a:t>⋯</a:t>
            </a:r>
          </a:p>
        </p:txBody>
      </p:sp>
      <p:sp>
        <p:nvSpPr>
          <p:cNvPr id="288" name="Rounded Rectangle 287"/>
          <p:cNvSpPr/>
          <p:nvPr/>
        </p:nvSpPr>
        <p:spPr>
          <a:xfrm>
            <a:off x="1780099" y="4708865"/>
            <a:ext cx="2129401" cy="416476"/>
          </a:xfrm>
          <a:prstGeom prst="roundRect">
            <a:avLst>
              <a:gd name="adj" fmla="val 12903"/>
            </a:avLst>
          </a:prstGeom>
          <a:solidFill>
            <a:srgbClr val="B9B9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Rounded Rectangle 288"/>
          <p:cNvSpPr/>
          <p:nvPr/>
        </p:nvSpPr>
        <p:spPr>
          <a:xfrm>
            <a:off x="1733077" y="4661844"/>
            <a:ext cx="2129401" cy="416476"/>
          </a:xfrm>
          <a:prstGeom prst="roundRect">
            <a:avLst>
              <a:gd name="adj" fmla="val 12903"/>
            </a:avLst>
          </a:prstGeom>
          <a:solidFill>
            <a:srgbClr val="FFFBE5"/>
          </a:solidFill>
          <a:ln w="9448">
            <a:solidFill>
              <a:srgbClr val="7D2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TextBox 289"/>
          <p:cNvSpPr txBox="1"/>
          <p:nvPr/>
        </p:nvSpPr>
        <p:spPr>
          <a:xfrm>
            <a:off x="1874142" y="4742452"/>
            <a:ext cx="1813685" cy="248542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1152" b="1" i="0">
                <a:solidFill>
                  <a:srgbClr val="000000"/>
                </a:solidFill>
                <a:latin typeface="Times New Roman"/>
              </a:defRPr>
            </a:pPr>
            <a:r>
              <a:t>spatial interaction layer</a:t>
            </a:r>
          </a:p>
        </p:txBody>
      </p:sp>
      <p:sp>
        <p:nvSpPr>
          <p:cNvPr id="291" name="Rounded Rectangle 290"/>
          <p:cNvSpPr/>
          <p:nvPr/>
        </p:nvSpPr>
        <p:spPr>
          <a:xfrm>
            <a:off x="1457666" y="4890234"/>
            <a:ext cx="2129401" cy="416476"/>
          </a:xfrm>
          <a:prstGeom prst="roundRect">
            <a:avLst>
              <a:gd name="adj" fmla="val 12903"/>
            </a:avLst>
          </a:prstGeom>
          <a:solidFill>
            <a:srgbClr val="B9B9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Rounded Rectangle 291"/>
          <p:cNvSpPr/>
          <p:nvPr/>
        </p:nvSpPr>
        <p:spPr>
          <a:xfrm>
            <a:off x="1410644" y="4843213"/>
            <a:ext cx="2129401" cy="416476"/>
          </a:xfrm>
          <a:prstGeom prst="roundRect">
            <a:avLst>
              <a:gd name="adj" fmla="val 12903"/>
            </a:avLst>
          </a:prstGeom>
          <a:solidFill>
            <a:srgbClr val="FFFBE5"/>
          </a:solidFill>
          <a:ln w="9448">
            <a:solidFill>
              <a:srgbClr val="7D2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TextBox 292"/>
          <p:cNvSpPr txBox="1"/>
          <p:nvPr/>
        </p:nvSpPr>
        <p:spPr>
          <a:xfrm>
            <a:off x="1558426" y="4930538"/>
            <a:ext cx="1813685" cy="248542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1152" b="1" i="0">
                <a:solidFill>
                  <a:srgbClr val="000000"/>
                </a:solidFill>
                <a:latin typeface="Times New Roman"/>
              </a:defRPr>
            </a:pPr>
            <a:r>
              <a:t>spatial interaction layer</a:t>
            </a:r>
          </a:p>
        </p:txBody>
      </p:sp>
      <p:sp>
        <p:nvSpPr>
          <p:cNvPr id="294" name="Rounded Rectangle 293"/>
          <p:cNvSpPr/>
          <p:nvPr/>
        </p:nvSpPr>
        <p:spPr>
          <a:xfrm>
            <a:off x="1108363" y="5071603"/>
            <a:ext cx="2129401" cy="409758"/>
          </a:xfrm>
          <a:prstGeom prst="roundRect">
            <a:avLst>
              <a:gd name="adj" fmla="val 13114"/>
            </a:avLst>
          </a:prstGeom>
          <a:solidFill>
            <a:srgbClr val="B9B9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Rounded Rectangle 294"/>
          <p:cNvSpPr/>
          <p:nvPr/>
        </p:nvSpPr>
        <p:spPr>
          <a:xfrm>
            <a:off x="1061342" y="5024581"/>
            <a:ext cx="2129401" cy="409758"/>
          </a:xfrm>
          <a:prstGeom prst="roundRect">
            <a:avLst>
              <a:gd name="adj" fmla="val 13114"/>
            </a:avLst>
          </a:prstGeom>
          <a:solidFill>
            <a:srgbClr val="FFFBE5"/>
          </a:solidFill>
          <a:ln w="9448">
            <a:solidFill>
              <a:srgbClr val="7D2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TextBox 295"/>
          <p:cNvSpPr txBox="1"/>
          <p:nvPr/>
        </p:nvSpPr>
        <p:spPr>
          <a:xfrm>
            <a:off x="1209123" y="5105189"/>
            <a:ext cx="1813685" cy="248542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1152" b="1" i="0">
                <a:solidFill>
                  <a:srgbClr val="000000"/>
                </a:solidFill>
                <a:latin typeface="Times New Roman"/>
              </a:defRPr>
            </a:pPr>
            <a:r>
              <a:t>spatial interaction layer</a:t>
            </a:r>
          </a:p>
        </p:txBody>
      </p:sp>
      <p:cxnSp>
        <p:nvCxnSpPr>
          <p:cNvPr id="297" name="Connector 296"/>
          <p:cNvCxnSpPr/>
          <p:nvPr/>
        </p:nvCxnSpPr>
        <p:spPr>
          <a:xfrm flipV="1">
            <a:off x="1289732" y="4467041"/>
            <a:ext cx="671735" cy="544105"/>
          </a:xfrm>
          <a:prstGeom prst="line">
            <a:avLst/>
          </a:prstGeom>
          <a:ln w="9448">
            <a:solidFill>
              <a:srgbClr val="9E69D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8" name="Connector 297"/>
          <p:cNvCxnSpPr/>
          <p:nvPr/>
        </p:nvCxnSpPr>
        <p:spPr>
          <a:xfrm flipV="1">
            <a:off x="1605447" y="4467041"/>
            <a:ext cx="1276298" cy="376172"/>
          </a:xfrm>
          <a:prstGeom prst="line">
            <a:avLst/>
          </a:prstGeom>
          <a:ln w="9448">
            <a:solidFill>
              <a:srgbClr val="9E69D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9" name="Connector 298"/>
          <p:cNvCxnSpPr/>
          <p:nvPr/>
        </p:nvCxnSpPr>
        <p:spPr>
          <a:xfrm flipV="1">
            <a:off x="1941315" y="4467041"/>
            <a:ext cx="1558427" cy="194803"/>
          </a:xfrm>
          <a:prstGeom prst="line">
            <a:avLst/>
          </a:prstGeom>
          <a:ln w="9448">
            <a:solidFill>
              <a:srgbClr val="9E69D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" name="TextBox 299"/>
          <p:cNvSpPr txBox="1"/>
          <p:nvPr/>
        </p:nvSpPr>
        <p:spPr>
          <a:xfrm>
            <a:off x="3956522" y="4829778"/>
            <a:ext cx="537388" cy="174651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960" b="0" i="0">
                <a:solidFill>
                  <a:srgbClr val="000000"/>
                </a:solidFill>
                <a:latin typeface="Times New Roman"/>
              </a:defRPr>
            </a:pPr>
            <a:r>
              <a:t>frame T</a:t>
            </a:r>
          </a:p>
        </p:txBody>
      </p:sp>
      <p:sp>
        <p:nvSpPr>
          <p:cNvPr id="301" name="TextBox 300"/>
          <p:cNvSpPr txBox="1"/>
          <p:nvPr/>
        </p:nvSpPr>
        <p:spPr>
          <a:xfrm>
            <a:off x="3479589" y="5179080"/>
            <a:ext cx="604561" cy="167933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960" b="0" i="0">
                <a:solidFill>
                  <a:srgbClr val="000000"/>
                </a:solidFill>
                <a:latin typeface="Times New Roman"/>
              </a:defRPr>
            </a:pPr>
            <a:r>
              <a:t>frame 2</a:t>
            </a:r>
          </a:p>
        </p:txBody>
      </p:sp>
      <p:sp>
        <p:nvSpPr>
          <p:cNvPr id="302" name="TextBox 301"/>
          <p:cNvSpPr txBox="1"/>
          <p:nvPr/>
        </p:nvSpPr>
        <p:spPr>
          <a:xfrm>
            <a:off x="3150439" y="5360449"/>
            <a:ext cx="617996" cy="167933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960" b="0" i="0">
                <a:solidFill>
                  <a:srgbClr val="000000"/>
                </a:solidFill>
                <a:latin typeface="Times New Roman"/>
              </a:defRPr>
            </a:pPr>
            <a:r>
              <a:t>frame 1</a:t>
            </a:r>
          </a:p>
        </p:txBody>
      </p:sp>
      <p:sp>
        <p:nvSpPr>
          <p:cNvPr id="303" name="Rounded Rectangle 302"/>
          <p:cNvSpPr/>
          <p:nvPr/>
        </p:nvSpPr>
        <p:spPr>
          <a:xfrm>
            <a:off x="1101646" y="5642578"/>
            <a:ext cx="141064" cy="141064"/>
          </a:xfrm>
          <a:prstGeom prst="roundRect">
            <a:avLst>
              <a:gd name="adj" fmla="val 14285"/>
            </a:avLst>
          </a:prstGeom>
          <a:solidFill>
            <a:srgbClr val="DBE7F7"/>
          </a:solidFill>
          <a:ln w="14173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TextBox 303"/>
          <p:cNvSpPr txBox="1"/>
          <p:nvPr/>
        </p:nvSpPr>
        <p:spPr>
          <a:xfrm>
            <a:off x="1256145" y="5615708"/>
            <a:ext cx="40304" cy="154499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768" b="1" i="0">
                <a:solidFill>
                  <a:srgbClr val="000000"/>
                </a:solidFill>
                <a:latin typeface="Times New Roman"/>
              </a:defRPr>
            </a:pPr>
            <a:r>
              <a:t>···</a:t>
            </a:r>
          </a:p>
        </p:txBody>
      </p:sp>
      <p:sp>
        <p:nvSpPr>
          <p:cNvPr id="305" name="Rounded Rectangle 304"/>
          <p:cNvSpPr/>
          <p:nvPr/>
        </p:nvSpPr>
        <p:spPr>
          <a:xfrm>
            <a:off x="1303166" y="5642578"/>
            <a:ext cx="141064" cy="141064"/>
          </a:xfrm>
          <a:prstGeom prst="roundRect">
            <a:avLst>
              <a:gd name="adj" fmla="val 14285"/>
            </a:avLst>
          </a:prstGeom>
          <a:solidFill>
            <a:srgbClr val="DBE7F7"/>
          </a:solidFill>
          <a:ln w="14173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TextBox 305"/>
          <p:cNvSpPr txBox="1"/>
          <p:nvPr/>
        </p:nvSpPr>
        <p:spPr>
          <a:xfrm>
            <a:off x="1457666" y="5615708"/>
            <a:ext cx="40304" cy="154499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768" b="1" i="0">
                <a:solidFill>
                  <a:srgbClr val="000000"/>
                </a:solidFill>
                <a:latin typeface="Times New Roman"/>
              </a:defRPr>
            </a:pPr>
            <a:r>
              <a:t>···</a:t>
            </a:r>
          </a:p>
        </p:txBody>
      </p:sp>
      <p:sp>
        <p:nvSpPr>
          <p:cNvPr id="307" name="Rounded Rectangle 306"/>
          <p:cNvSpPr/>
          <p:nvPr/>
        </p:nvSpPr>
        <p:spPr>
          <a:xfrm>
            <a:off x="1504687" y="5642578"/>
            <a:ext cx="141064" cy="141064"/>
          </a:xfrm>
          <a:prstGeom prst="roundRect">
            <a:avLst>
              <a:gd name="adj" fmla="val 14285"/>
            </a:avLst>
          </a:prstGeom>
          <a:solidFill>
            <a:srgbClr val="DBE7F7"/>
          </a:solidFill>
          <a:ln w="14173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TextBox 307"/>
          <p:cNvSpPr txBox="1"/>
          <p:nvPr/>
        </p:nvSpPr>
        <p:spPr>
          <a:xfrm>
            <a:off x="1659186" y="5615708"/>
            <a:ext cx="40304" cy="154499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768" b="1" i="0">
                <a:solidFill>
                  <a:srgbClr val="000000"/>
                </a:solidFill>
                <a:latin typeface="Times New Roman"/>
              </a:defRPr>
            </a:pPr>
            <a:r>
              <a:t>···</a:t>
            </a:r>
          </a:p>
        </p:txBody>
      </p:sp>
      <p:sp>
        <p:nvSpPr>
          <p:cNvPr id="309" name="Rounded Rectangle 308"/>
          <p:cNvSpPr/>
          <p:nvPr/>
        </p:nvSpPr>
        <p:spPr>
          <a:xfrm>
            <a:off x="1706208" y="5642578"/>
            <a:ext cx="141064" cy="141064"/>
          </a:xfrm>
          <a:prstGeom prst="roundRect">
            <a:avLst>
              <a:gd name="adj" fmla="val 14285"/>
            </a:avLst>
          </a:prstGeom>
          <a:solidFill>
            <a:srgbClr val="DBE7F7"/>
          </a:solidFill>
          <a:ln w="14173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Rounded Rectangle 309"/>
          <p:cNvSpPr/>
          <p:nvPr/>
        </p:nvSpPr>
        <p:spPr>
          <a:xfrm>
            <a:off x="1874142" y="5642578"/>
            <a:ext cx="141064" cy="141064"/>
          </a:xfrm>
          <a:prstGeom prst="roundRect">
            <a:avLst>
              <a:gd name="adj" fmla="val 14285"/>
            </a:avLst>
          </a:prstGeom>
          <a:solidFill>
            <a:srgbClr val="A8D18D"/>
          </a:solidFill>
          <a:ln w="14173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TextBox 310"/>
          <p:cNvSpPr txBox="1"/>
          <p:nvPr/>
        </p:nvSpPr>
        <p:spPr>
          <a:xfrm>
            <a:off x="2028641" y="5615708"/>
            <a:ext cx="40304" cy="154499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768" b="1" i="0">
                <a:solidFill>
                  <a:srgbClr val="000000"/>
                </a:solidFill>
                <a:latin typeface="Times New Roman"/>
              </a:defRPr>
            </a:pPr>
            <a:r>
              <a:t>···</a:t>
            </a:r>
          </a:p>
        </p:txBody>
      </p:sp>
      <p:sp>
        <p:nvSpPr>
          <p:cNvPr id="312" name="Rounded Rectangle 311"/>
          <p:cNvSpPr/>
          <p:nvPr/>
        </p:nvSpPr>
        <p:spPr>
          <a:xfrm>
            <a:off x="2075662" y="5642578"/>
            <a:ext cx="141064" cy="141064"/>
          </a:xfrm>
          <a:prstGeom prst="roundRect">
            <a:avLst>
              <a:gd name="adj" fmla="val 14285"/>
            </a:avLst>
          </a:prstGeom>
          <a:solidFill>
            <a:srgbClr val="A8D18D"/>
          </a:solidFill>
          <a:ln w="14173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TextBox 312"/>
          <p:cNvSpPr txBox="1"/>
          <p:nvPr/>
        </p:nvSpPr>
        <p:spPr>
          <a:xfrm>
            <a:off x="2230161" y="5615708"/>
            <a:ext cx="40304" cy="154499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768" b="1" i="0">
                <a:solidFill>
                  <a:srgbClr val="000000"/>
                </a:solidFill>
                <a:latin typeface="Times New Roman"/>
              </a:defRPr>
            </a:pPr>
            <a:r>
              <a:t>···</a:t>
            </a:r>
          </a:p>
        </p:txBody>
      </p:sp>
      <p:sp>
        <p:nvSpPr>
          <p:cNvPr id="314" name="Rounded Rectangle 313"/>
          <p:cNvSpPr/>
          <p:nvPr/>
        </p:nvSpPr>
        <p:spPr>
          <a:xfrm>
            <a:off x="2277183" y="5642578"/>
            <a:ext cx="141064" cy="141064"/>
          </a:xfrm>
          <a:prstGeom prst="roundRect">
            <a:avLst>
              <a:gd name="adj" fmla="val 14285"/>
            </a:avLst>
          </a:prstGeom>
          <a:solidFill>
            <a:srgbClr val="A8D18D"/>
          </a:solidFill>
          <a:ln w="14173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TextBox 314"/>
          <p:cNvSpPr txBox="1"/>
          <p:nvPr/>
        </p:nvSpPr>
        <p:spPr>
          <a:xfrm>
            <a:off x="2431682" y="5615708"/>
            <a:ext cx="40304" cy="154499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768" b="1" i="0">
                <a:solidFill>
                  <a:srgbClr val="000000"/>
                </a:solidFill>
                <a:latin typeface="Times New Roman"/>
              </a:defRPr>
            </a:pPr>
            <a:r>
              <a:t>···</a:t>
            </a:r>
          </a:p>
        </p:txBody>
      </p:sp>
      <p:sp>
        <p:nvSpPr>
          <p:cNvPr id="316" name="Rounded Rectangle 315"/>
          <p:cNvSpPr/>
          <p:nvPr/>
        </p:nvSpPr>
        <p:spPr>
          <a:xfrm>
            <a:off x="2478704" y="5642578"/>
            <a:ext cx="141064" cy="141064"/>
          </a:xfrm>
          <a:prstGeom prst="roundRect">
            <a:avLst>
              <a:gd name="adj" fmla="val 14285"/>
            </a:avLst>
          </a:prstGeom>
          <a:solidFill>
            <a:srgbClr val="A8D18D"/>
          </a:solidFill>
          <a:ln w="14173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Rounded Rectangle 316"/>
          <p:cNvSpPr/>
          <p:nvPr/>
        </p:nvSpPr>
        <p:spPr>
          <a:xfrm>
            <a:off x="2807854" y="5642578"/>
            <a:ext cx="141064" cy="141064"/>
          </a:xfrm>
          <a:prstGeom prst="roundRect">
            <a:avLst>
              <a:gd name="adj" fmla="val 16000"/>
            </a:avLst>
          </a:prstGeom>
          <a:solidFill>
            <a:srgbClr val="6887C3"/>
          </a:solidFill>
          <a:ln w="13385">
            <a:solidFill>
              <a:srgbClr val="FF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8" name="Connector 317"/>
          <p:cNvCxnSpPr/>
          <p:nvPr/>
        </p:nvCxnSpPr>
        <p:spPr>
          <a:xfrm flipV="1">
            <a:off x="1397209" y="5441057"/>
            <a:ext cx="0" cy="194804"/>
          </a:xfrm>
          <a:prstGeom prst="line">
            <a:avLst/>
          </a:prstGeom>
          <a:ln w="1811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9" name="Freeform 318"/>
          <p:cNvSpPr/>
          <p:nvPr/>
        </p:nvSpPr>
        <p:spPr>
          <a:xfrm>
            <a:off x="1370341" y="5441057"/>
            <a:ext cx="53736" cy="53736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4" y="0"/>
                </a:moveTo>
                <a:lnTo>
                  <a:pt x="8" y="8"/>
                </a:lnTo>
                <a:lnTo>
                  <a:pt x="0" y="8"/>
                </a:lnTo>
                <a:close/>
              </a:path>
            </a:pathLst>
          </a:custGeom>
          <a:solidFill>
            <a:srgbClr val="000000"/>
          </a:solidFill>
          <a:ln w="3937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0" name="Connector 319"/>
          <p:cNvCxnSpPr/>
          <p:nvPr/>
        </p:nvCxnSpPr>
        <p:spPr>
          <a:xfrm flipV="1">
            <a:off x="2210009" y="5441057"/>
            <a:ext cx="0" cy="194804"/>
          </a:xfrm>
          <a:prstGeom prst="line">
            <a:avLst/>
          </a:prstGeom>
          <a:ln w="1811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1" name="Freeform 320"/>
          <p:cNvSpPr/>
          <p:nvPr/>
        </p:nvSpPr>
        <p:spPr>
          <a:xfrm>
            <a:off x="2183141" y="5441057"/>
            <a:ext cx="53736" cy="53736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4" y="0"/>
                </a:moveTo>
                <a:lnTo>
                  <a:pt x="8" y="8"/>
                </a:lnTo>
                <a:lnTo>
                  <a:pt x="0" y="8"/>
                </a:lnTo>
                <a:close/>
              </a:path>
            </a:pathLst>
          </a:custGeom>
          <a:solidFill>
            <a:srgbClr val="000000"/>
          </a:solidFill>
          <a:ln w="3937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2" name="Connector 321"/>
          <p:cNvCxnSpPr/>
          <p:nvPr/>
        </p:nvCxnSpPr>
        <p:spPr>
          <a:xfrm flipV="1">
            <a:off x="2881745" y="5441057"/>
            <a:ext cx="0" cy="194804"/>
          </a:xfrm>
          <a:prstGeom prst="line">
            <a:avLst/>
          </a:prstGeom>
          <a:ln w="1811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3" name="Freeform 322"/>
          <p:cNvSpPr/>
          <p:nvPr/>
        </p:nvSpPr>
        <p:spPr>
          <a:xfrm>
            <a:off x="2854877" y="5441057"/>
            <a:ext cx="53736" cy="53736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4" y="0"/>
                </a:moveTo>
                <a:lnTo>
                  <a:pt x="8" y="8"/>
                </a:lnTo>
                <a:lnTo>
                  <a:pt x="0" y="8"/>
                </a:lnTo>
                <a:close/>
              </a:path>
            </a:pathLst>
          </a:custGeom>
          <a:solidFill>
            <a:srgbClr val="000000"/>
          </a:solidFill>
          <a:ln w="3937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TextBox 323"/>
          <p:cNvSpPr txBox="1"/>
          <p:nvPr/>
        </p:nvSpPr>
        <p:spPr>
          <a:xfrm>
            <a:off x="1168819" y="5844099"/>
            <a:ext cx="631431" cy="335867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1055" b="0" i="0">
                <a:solidFill>
                  <a:srgbClr val="000000"/>
                </a:solidFill>
                <a:latin typeface="Times New Roman"/>
              </a:defRPr>
            </a:pPr>
            <a:r>
              <a:t>visual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1055" b="0" i="0">
                <a:solidFill>
                  <a:srgbClr val="000000"/>
                </a:solidFill>
                <a:latin typeface="Times New Roman"/>
              </a:defRPr>
            </a:pPr>
            <a:r>
              <a:t>token</a:t>
            </a:r>
          </a:p>
        </p:txBody>
      </p:sp>
      <p:sp>
        <p:nvSpPr>
          <p:cNvPr id="325" name="TextBox 324"/>
          <p:cNvSpPr txBox="1"/>
          <p:nvPr/>
        </p:nvSpPr>
        <p:spPr>
          <a:xfrm>
            <a:off x="1894294" y="5844099"/>
            <a:ext cx="738909" cy="335867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1055" b="0" i="0">
                <a:solidFill>
                  <a:srgbClr val="000000"/>
                </a:solidFill>
                <a:latin typeface="Times New Roman"/>
              </a:defRPr>
            </a:pPr>
            <a:r>
              <a:t>language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1055" b="0" i="0">
                <a:solidFill>
                  <a:srgbClr val="000000"/>
                </a:solidFill>
                <a:latin typeface="Times New Roman"/>
              </a:defRPr>
            </a:pPr>
            <a:r>
              <a:t>token</a:t>
            </a:r>
          </a:p>
        </p:txBody>
      </p:sp>
      <p:sp>
        <p:nvSpPr>
          <p:cNvPr id="326" name="TextBox 325"/>
          <p:cNvSpPr txBox="1"/>
          <p:nvPr/>
        </p:nvSpPr>
        <p:spPr>
          <a:xfrm>
            <a:off x="2760832" y="5837381"/>
            <a:ext cx="1074776" cy="335867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1055" b="0" i="0">
                <a:solidFill>
                  <a:srgbClr val="000000"/>
                </a:solidFill>
                <a:latin typeface="Times New Roman"/>
              </a:defRPr>
            </a:pPr>
            <a:r>
              <a:t>learnable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1055" b="0" i="0">
                <a:solidFill>
                  <a:srgbClr val="000000"/>
                </a:solidFill>
                <a:latin typeface="Times New Roman"/>
              </a:defRPr>
            </a:pPr>
            <a:r>
              <a:t>frame token</a:t>
            </a:r>
          </a:p>
        </p:txBody>
      </p:sp>
      <p:sp>
        <p:nvSpPr>
          <p:cNvPr id="327" name="TextBox 326"/>
          <p:cNvSpPr txBox="1"/>
          <p:nvPr/>
        </p:nvSpPr>
        <p:spPr>
          <a:xfrm rot="5400000">
            <a:off x="3835609" y="4359563"/>
            <a:ext cx="2183140" cy="450062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1248" b="1" i="0">
                <a:solidFill>
                  <a:srgbClr val="000000"/>
                </a:solidFill>
                <a:latin typeface="Times New Roman"/>
              </a:defRPr>
            </a:pPr>
            <a:r>
              <a:t>Intra-scale Multi-modality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1248" b="1" i="0">
                <a:solidFill>
                  <a:srgbClr val="000000"/>
                </a:solidFill>
                <a:latin typeface="Times New Roman"/>
              </a:defRPr>
            </a:pPr>
            <a:r>
              <a:t>Interaction Branch</a:t>
            </a:r>
          </a:p>
        </p:txBody>
      </p:sp>
      <p:sp>
        <p:nvSpPr>
          <p:cNvPr id="328" name="TextBox 327"/>
          <p:cNvSpPr txBox="1"/>
          <p:nvPr/>
        </p:nvSpPr>
        <p:spPr>
          <a:xfrm>
            <a:off x="4688713" y="5850816"/>
            <a:ext cx="523953" cy="255259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000000"/>
                </a:solidFill>
                <a:latin typeface="Times New Roman"/>
              </a:defRPr>
            </a:pPr>
            <a:r>
              <a:t>(b.1)</a:t>
            </a:r>
          </a:p>
        </p:txBody>
      </p:sp>
      <p:sp>
        <p:nvSpPr>
          <p:cNvPr id="329" name="TextBox 328"/>
          <p:cNvSpPr txBox="1"/>
          <p:nvPr/>
        </p:nvSpPr>
        <p:spPr>
          <a:xfrm rot="16200000">
            <a:off x="4799550" y="4309183"/>
            <a:ext cx="2183140" cy="470214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1248" b="1" i="0">
                <a:solidFill>
                  <a:srgbClr val="000000"/>
                </a:solidFill>
                <a:latin typeface="Times New Roman"/>
              </a:defRPr>
            </a:pPr>
            <a:r>
              <a:t>Cross-scale Visual-only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1248" b="1" i="0">
                <a:solidFill>
                  <a:srgbClr val="000000"/>
                </a:solidFill>
                <a:latin typeface="Times New Roman"/>
              </a:defRPr>
            </a:pPr>
            <a:r>
              <a:t>Fusion Branch</a:t>
            </a:r>
          </a:p>
        </p:txBody>
      </p:sp>
      <p:sp>
        <p:nvSpPr>
          <p:cNvPr id="330" name="Rounded Rectangle 329"/>
          <p:cNvSpPr/>
          <p:nvPr/>
        </p:nvSpPr>
        <p:spPr>
          <a:xfrm>
            <a:off x="6945745" y="3298221"/>
            <a:ext cx="1612165" cy="2861593"/>
          </a:xfrm>
          <a:prstGeom prst="roundRect">
            <a:avLst>
              <a:gd name="adj" fmla="val 5833"/>
            </a:avLst>
          </a:prstGeom>
          <a:solidFill>
            <a:srgbClr val="B9B9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Rounded Rectangle 330"/>
          <p:cNvSpPr/>
          <p:nvPr/>
        </p:nvSpPr>
        <p:spPr>
          <a:xfrm>
            <a:off x="6898723" y="3251199"/>
            <a:ext cx="1612165" cy="2861593"/>
          </a:xfrm>
          <a:prstGeom prst="roundRect">
            <a:avLst>
              <a:gd name="adj" fmla="val 5833"/>
            </a:avLst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Freeform 331"/>
          <p:cNvSpPr/>
          <p:nvPr/>
        </p:nvSpPr>
        <p:spPr>
          <a:xfrm>
            <a:off x="6475530" y="3956530"/>
            <a:ext cx="369435" cy="147774"/>
          </a:xfrm>
          <a:custGeom>
            <a:avLst/>
            <a:gdLst/>
            <a:ahLst/>
            <a:cxnLst/>
            <a:rect l="l" t="t" r="r" b="b"/>
            <a:pathLst>
              <a:path w="55" h="22">
                <a:moveTo>
                  <a:pt x="0" y="22"/>
                </a:moveTo>
                <a:lnTo>
                  <a:pt x="39" y="22"/>
                </a:lnTo>
                <a:lnTo>
                  <a:pt x="55" y="0"/>
                </a:lnTo>
                <a:lnTo>
                  <a:pt x="16" y="0"/>
                </a:lnTo>
                <a:close/>
              </a:path>
            </a:pathLst>
          </a:custGeom>
          <a:solidFill>
            <a:srgbClr val="929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Freeform 332"/>
          <p:cNvSpPr/>
          <p:nvPr/>
        </p:nvSpPr>
        <p:spPr>
          <a:xfrm>
            <a:off x="6448660" y="3922943"/>
            <a:ext cx="369435" cy="147774"/>
          </a:xfrm>
          <a:custGeom>
            <a:avLst/>
            <a:gdLst/>
            <a:ahLst/>
            <a:cxnLst/>
            <a:rect l="l" t="t" r="r" b="b"/>
            <a:pathLst>
              <a:path w="55" h="22">
                <a:moveTo>
                  <a:pt x="0" y="22"/>
                </a:moveTo>
                <a:lnTo>
                  <a:pt x="39" y="22"/>
                </a:lnTo>
                <a:lnTo>
                  <a:pt x="55" y="0"/>
                </a:lnTo>
                <a:lnTo>
                  <a:pt x="16" y="0"/>
                </a:lnTo>
                <a:close/>
              </a:path>
            </a:pathLst>
          </a:custGeom>
          <a:solidFill>
            <a:srgbClr val="A9B9DD"/>
          </a:solidFill>
          <a:ln w="10236">
            <a:solidFill>
              <a:srgbClr val="2C4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TextBox 333"/>
          <p:cNvSpPr txBox="1"/>
          <p:nvPr/>
        </p:nvSpPr>
        <p:spPr>
          <a:xfrm>
            <a:off x="6636746" y="3902783"/>
            <a:ext cx="80608" cy="167933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1055" b="1" i="1">
                <a:solidFill>
                  <a:srgbClr val="000000"/>
                </a:solidFill>
                <a:latin typeface="Times New Roman"/>
              </a:defRPr>
            </a:pPr>
            <a:r>
              <a:t>Fᶰᵥ₅</a:t>
            </a:r>
          </a:p>
        </p:txBody>
      </p:sp>
      <p:sp>
        <p:nvSpPr>
          <p:cNvPr id="335" name="Freeform 334"/>
          <p:cNvSpPr/>
          <p:nvPr/>
        </p:nvSpPr>
        <p:spPr>
          <a:xfrm>
            <a:off x="6415074" y="4655134"/>
            <a:ext cx="436605" cy="147774"/>
          </a:xfrm>
          <a:custGeom>
            <a:avLst/>
            <a:gdLst/>
            <a:ahLst/>
            <a:cxnLst/>
            <a:rect l="l" t="t" r="r" b="b"/>
            <a:pathLst>
              <a:path w="65" h="22">
                <a:moveTo>
                  <a:pt x="0" y="22"/>
                </a:moveTo>
                <a:lnTo>
                  <a:pt x="49" y="22"/>
                </a:lnTo>
                <a:lnTo>
                  <a:pt x="65" y="0"/>
                </a:lnTo>
                <a:lnTo>
                  <a:pt x="16" y="0"/>
                </a:lnTo>
                <a:close/>
              </a:path>
            </a:pathLst>
          </a:custGeom>
          <a:solidFill>
            <a:srgbClr val="929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Freeform 335"/>
          <p:cNvSpPr/>
          <p:nvPr/>
        </p:nvSpPr>
        <p:spPr>
          <a:xfrm>
            <a:off x="6388204" y="4621548"/>
            <a:ext cx="436605" cy="147774"/>
          </a:xfrm>
          <a:custGeom>
            <a:avLst/>
            <a:gdLst/>
            <a:ahLst/>
            <a:cxnLst/>
            <a:rect l="l" t="t" r="r" b="b"/>
            <a:pathLst>
              <a:path w="65" h="22">
                <a:moveTo>
                  <a:pt x="0" y="22"/>
                </a:moveTo>
                <a:lnTo>
                  <a:pt x="49" y="22"/>
                </a:lnTo>
                <a:lnTo>
                  <a:pt x="65" y="0"/>
                </a:lnTo>
                <a:lnTo>
                  <a:pt x="16" y="0"/>
                </a:lnTo>
                <a:close/>
              </a:path>
            </a:pathLst>
          </a:custGeom>
          <a:solidFill>
            <a:srgbClr val="7897CE"/>
          </a:solidFill>
          <a:ln w="10236">
            <a:solidFill>
              <a:srgbClr val="2C4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TextBox 336"/>
          <p:cNvSpPr txBox="1"/>
          <p:nvPr/>
        </p:nvSpPr>
        <p:spPr>
          <a:xfrm>
            <a:off x="6576290" y="4601388"/>
            <a:ext cx="147781" cy="167933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1055" b="1" i="1">
                <a:solidFill>
                  <a:srgbClr val="000000"/>
                </a:solidFill>
                <a:latin typeface="Times New Roman"/>
              </a:defRPr>
            </a:pPr>
            <a:r>
              <a:t>Fᵥ₄</a:t>
            </a:r>
          </a:p>
        </p:txBody>
      </p:sp>
      <p:sp>
        <p:nvSpPr>
          <p:cNvPr id="338" name="Freeform 337"/>
          <p:cNvSpPr/>
          <p:nvPr/>
        </p:nvSpPr>
        <p:spPr>
          <a:xfrm>
            <a:off x="6381487" y="5568695"/>
            <a:ext cx="483624" cy="147774"/>
          </a:xfrm>
          <a:custGeom>
            <a:avLst/>
            <a:gdLst/>
            <a:ahLst/>
            <a:cxnLst/>
            <a:rect l="l" t="t" r="r" b="b"/>
            <a:pathLst>
              <a:path w="72" h="22">
                <a:moveTo>
                  <a:pt x="0" y="22"/>
                </a:moveTo>
                <a:lnTo>
                  <a:pt x="56" y="22"/>
                </a:lnTo>
                <a:lnTo>
                  <a:pt x="72" y="0"/>
                </a:lnTo>
                <a:lnTo>
                  <a:pt x="16" y="0"/>
                </a:lnTo>
                <a:close/>
              </a:path>
            </a:pathLst>
          </a:custGeom>
          <a:solidFill>
            <a:srgbClr val="929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Freeform 338"/>
          <p:cNvSpPr/>
          <p:nvPr/>
        </p:nvSpPr>
        <p:spPr>
          <a:xfrm>
            <a:off x="6354618" y="5535108"/>
            <a:ext cx="483624" cy="147774"/>
          </a:xfrm>
          <a:custGeom>
            <a:avLst/>
            <a:gdLst/>
            <a:ahLst/>
            <a:cxnLst/>
            <a:rect l="l" t="t" r="r" b="b"/>
            <a:pathLst>
              <a:path w="72" h="22">
                <a:moveTo>
                  <a:pt x="0" y="22"/>
                </a:moveTo>
                <a:lnTo>
                  <a:pt x="56" y="22"/>
                </a:lnTo>
                <a:lnTo>
                  <a:pt x="72" y="0"/>
                </a:lnTo>
                <a:lnTo>
                  <a:pt x="16" y="0"/>
                </a:lnTo>
                <a:close/>
              </a:path>
            </a:pathLst>
          </a:custGeom>
          <a:solidFill>
            <a:srgbClr val="4F74B6"/>
          </a:solidFill>
          <a:ln w="10236">
            <a:solidFill>
              <a:srgbClr val="2C4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TextBox 339"/>
          <p:cNvSpPr txBox="1"/>
          <p:nvPr/>
        </p:nvSpPr>
        <p:spPr>
          <a:xfrm>
            <a:off x="6542703" y="5514948"/>
            <a:ext cx="194803" cy="167933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1055" b="1" i="1">
                <a:solidFill>
                  <a:srgbClr val="000000"/>
                </a:solidFill>
                <a:latin typeface="Times New Roman"/>
              </a:defRPr>
            </a:pPr>
            <a:r>
              <a:t>Fᵥ₃</a:t>
            </a:r>
          </a:p>
        </p:txBody>
      </p:sp>
      <p:cxnSp>
        <p:nvCxnSpPr>
          <p:cNvPr id="341" name="Connector 340"/>
          <p:cNvCxnSpPr/>
          <p:nvPr/>
        </p:nvCxnSpPr>
        <p:spPr>
          <a:xfrm>
            <a:off x="6818115" y="4070717"/>
            <a:ext cx="235107" cy="0"/>
          </a:xfrm>
          <a:prstGeom prst="line">
            <a:avLst/>
          </a:prstGeom>
          <a:ln w="17322">
            <a:solidFill>
              <a:srgbClr val="EF6C1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2" name="Freeform 341"/>
          <p:cNvSpPr/>
          <p:nvPr/>
        </p:nvSpPr>
        <p:spPr>
          <a:xfrm>
            <a:off x="6992769" y="4037132"/>
            <a:ext cx="60453" cy="67170"/>
          </a:xfrm>
          <a:custGeom>
            <a:avLst/>
            <a:gdLst/>
            <a:ahLst/>
            <a:cxnLst/>
            <a:rect l="l" t="t" r="r" b="b"/>
            <a:pathLst>
              <a:path w="9" h="10">
                <a:moveTo>
                  <a:pt x="9" y="5"/>
                </a:moveTo>
                <a:lnTo>
                  <a:pt x="0" y="10"/>
                </a:lnTo>
                <a:lnTo>
                  <a:pt x="0" y="0"/>
                </a:lnTo>
                <a:close/>
              </a:path>
            </a:pathLst>
          </a:custGeom>
          <a:solidFill>
            <a:srgbClr val="EF6C1B"/>
          </a:solidFill>
          <a:ln w="3937">
            <a:solidFill>
              <a:srgbClr val="EF6C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3" name="Connector 342"/>
          <p:cNvCxnSpPr/>
          <p:nvPr/>
        </p:nvCxnSpPr>
        <p:spPr>
          <a:xfrm>
            <a:off x="6818115" y="4776039"/>
            <a:ext cx="235107" cy="0"/>
          </a:xfrm>
          <a:prstGeom prst="line">
            <a:avLst/>
          </a:prstGeom>
          <a:ln w="17322">
            <a:solidFill>
              <a:srgbClr val="EF6C1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4" name="Freeform 343"/>
          <p:cNvSpPr/>
          <p:nvPr/>
        </p:nvSpPr>
        <p:spPr>
          <a:xfrm>
            <a:off x="6992769" y="4742454"/>
            <a:ext cx="60453" cy="67170"/>
          </a:xfrm>
          <a:custGeom>
            <a:avLst/>
            <a:gdLst/>
            <a:ahLst/>
            <a:cxnLst/>
            <a:rect l="l" t="t" r="r" b="b"/>
            <a:pathLst>
              <a:path w="9" h="10">
                <a:moveTo>
                  <a:pt x="9" y="5"/>
                </a:moveTo>
                <a:lnTo>
                  <a:pt x="0" y="10"/>
                </a:lnTo>
                <a:lnTo>
                  <a:pt x="0" y="0"/>
                </a:lnTo>
                <a:close/>
              </a:path>
            </a:pathLst>
          </a:custGeom>
          <a:solidFill>
            <a:srgbClr val="EF6C1B"/>
          </a:solidFill>
          <a:ln w="3937">
            <a:solidFill>
              <a:srgbClr val="EF6C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5" name="Connector 344"/>
          <p:cNvCxnSpPr/>
          <p:nvPr/>
        </p:nvCxnSpPr>
        <p:spPr>
          <a:xfrm>
            <a:off x="6831550" y="5689599"/>
            <a:ext cx="221672" cy="0"/>
          </a:xfrm>
          <a:prstGeom prst="line">
            <a:avLst/>
          </a:prstGeom>
          <a:ln w="17322">
            <a:solidFill>
              <a:srgbClr val="EF6C1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6" name="Freeform 345"/>
          <p:cNvSpPr/>
          <p:nvPr/>
        </p:nvSpPr>
        <p:spPr>
          <a:xfrm>
            <a:off x="6992769" y="5656014"/>
            <a:ext cx="60453" cy="67170"/>
          </a:xfrm>
          <a:custGeom>
            <a:avLst/>
            <a:gdLst/>
            <a:ahLst/>
            <a:cxnLst/>
            <a:rect l="l" t="t" r="r" b="b"/>
            <a:pathLst>
              <a:path w="9" h="10">
                <a:moveTo>
                  <a:pt x="9" y="5"/>
                </a:moveTo>
                <a:lnTo>
                  <a:pt x="0" y="10"/>
                </a:lnTo>
                <a:lnTo>
                  <a:pt x="0" y="0"/>
                </a:lnTo>
                <a:close/>
              </a:path>
            </a:pathLst>
          </a:custGeom>
          <a:solidFill>
            <a:srgbClr val="EF6C1B"/>
          </a:solidFill>
          <a:ln w="3937">
            <a:solidFill>
              <a:srgbClr val="EF6C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Rounded Rectangle 346"/>
          <p:cNvSpPr/>
          <p:nvPr/>
        </p:nvSpPr>
        <p:spPr>
          <a:xfrm>
            <a:off x="7106961" y="4003543"/>
            <a:ext cx="302280" cy="241824"/>
          </a:xfrm>
          <a:prstGeom prst="roundRect">
            <a:avLst>
              <a:gd name="adj" fmla="val 16000"/>
            </a:avLst>
          </a:prstGeom>
          <a:solidFill>
            <a:srgbClr val="B9B9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Rounded Rectangle 347"/>
          <p:cNvSpPr/>
          <p:nvPr/>
        </p:nvSpPr>
        <p:spPr>
          <a:xfrm>
            <a:off x="7059940" y="3956522"/>
            <a:ext cx="302280" cy="241824"/>
          </a:xfrm>
          <a:prstGeom prst="roundRect">
            <a:avLst>
              <a:gd name="adj" fmla="val 16000"/>
            </a:avLst>
          </a:prstGeom>
          <a:solidFill>
            <a:srgbClr val="FFE3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Rounded Rectangle 348"/>
          <p:cNvSpPr/>
          <p:nvPr/>
        </p:nvSpPr>
        <p:spPr>
          <a:xfrm>
            <a:off x="7106961" y="4708865"/>
            <a:ext cx="302280" cy="241824"/>
          </a:xfrm>
          <a:prstGeom prst="roundRect">
            <a:avLst>
              <a:gd name="adj" fmla="val 16000"/>
            </a:avLst>
          </a:prstGeom>
          <a:solidFill>
            <a:srgbClr val="B9B9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Rounded Rectangle 349"/>
          <p:cNvSpPr/>
          <p:nvPr/>
        </p:nvSpPr>
        <p:spPr>
          <a:xfrm>
            <a:off x="7059940" y="4661844"/>
            <a:ext cx="302280" cy="241824"/>
          </a:xfrm>
          <a:prstGeom prst="roundRect">
            <a:avLst>
              <a:gd name="adj" fmla="val 16000"/>
            </a:avLst>
          </a:prstGeom>
          <a:solidFill>
            <a:srgbClr val="FFE3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Rounded Rectangle 350"/>
          <p:cNvSpPr/>
          <p:nvPr/>
        </p:nvSpPr>
        <p:spPr>
          <a:xfrm>
            <a:off x="7113679" y="5729903"/>
            <a:ext cx="906842" cy="282128"/>
          </a:xfrm>
          <a:prstGeom prst="roundRect">
            <a:avLst>
              <a:gd name="adj" fmla="val 14285"/>
            </a:avLst>
          </a:prstGeom>
          <a:solidFill>
            <a:srgbClr val="B9B9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Rounded Rectangle 351"/>
          <p:cNvSpPr/>
          <p:nvPr/>
        </p:nvSpPr>
        <p:spPr>
          <a:xfrm>
            <a:off x="7066657" y="5682882"/>
            <a:ext cx="906842" cy="282128"/>
          </a:xfrm>
          <a:prstGeom prst="roundRect">
            <a:avLst>
              <a:gd name="adj" fmla="val 14285"/>
            </a:avLst>
          </a:prstGeom>
          <a:solidFill>
            <a:srgbClr val="B8D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TextBox 352"/>
          <p:cNvSpPr txBox="1"/>
          <p:nvPr/>
        </p:nvSpPr>
        <p:spPr>
          <a:xfrm>
            <a:off x="7147265" y="5723186"/>
            <a:ext cx="732191" cy="194803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1055" b="1" i="0">
                <a:solidFill>
                  <a:srgbClr val="000000"/>
                </a:solidFill>
                <a:latin typeface="Times New Roman"/>
              </a:defRPr>
            </a:pPr>
            <a:r>
              <a:t>MSFF-FE</a:t>
            </a:r>
          </a:p>
        </p:txBody>
      </p:sp>
      <p:sp>
        <p:nvSpPr>
          <p:cNvPr id="354" name="Rounded Rectangle 353"/>
          <p:cNvSpPr/>
          <p:nvPr/>
        </p:nvSpPr>
        <p:spPr>
          <a:xfrm>
            <a:off x="7106961" y="3398981"/>
            <a:ext cx="906842" cy="315715"/>
          </a:xfrm>
          <a:prstGeom prst="roundRect">
            <a:avLst>
              <a:gd name="adj" fmla="val 8510"/>
            </a:avLst>
          </a:prstGeom>
          <a:solidFill>
            <a:srgbClr val="B9B9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Rounded Rectangle 354"/>
          <p:cNvSpPr/>
          <p:nvPr/>
        </p:nvSpPr>
        <p:spPr>
          <a:xfrm>
            <a:off x="7059940" y="3351960"/>
            <a:ext cx="906842" cy="315715"/>
          </a:xfrm>
          <a:prstGeom prst="roundRect">
            <a:avLst>
              <a:gd name="adj" fmla="val 8510"/>
            </a:avLst>
          </a:prstGeom>
          <a:solidFill>
            <a:srgbClr val="FFF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TextBox 355"/>
          <p:cNvSpPr txBox="1"/>
          <p:nvPr/>
        </p:nvSpPr>
        <p:spPr>
          <a:xfrm>
            <a:off x="7194287" y="3398981"/>
            <a:ext cx="638148" cy="214955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1296" b="1" i="0">
                <a:solidFill>
                  <a:srgbClr val="000000"/>
                </a:solidFill>
                <a:latin typeface="Times New Roman"/>
              </a:defRPr>
            </a:pPr>
            <a:r>
              <a:t>Fusion</a:t>
            </a:r>
          </a:p>
        </p:txBody>
      </p:sp>
      <p:sp>
        <p:nvSpPr>
          <p:cNvPr id="357" name="Rounded Rectangle 356"/>
          <p:cNvSpPr/>
          <p:nvPr/>
        </p:nvSpPr>
        <p:spPr>
          <a:xfrm>
            <a:off x="7113679" y="4406585"/>
            <a:ext cx="913560" cy="329150"/>
          </a:xfrm>
          <a:prstGeom prst="roundRect">
            <a:avLst>
              <a:gd name="adj" fmla="val 8163"/>
            </a:avLst>
          </a:prstGeom>
          <a:solidFill>
            <a:srgbClr val="B9B9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Rounded Rectangle 357"/>
          <p:cNvSpPr/>
          <p:nvPr/>
        </p:nvSpPr>
        <p:spPr>
          <a:xfrm>
            <a:off x="7066657" y="4359563"/>
            <a:ext cx="913560" cy="329150"/>
          </a:xfrm>
          <a:prstGeom prst="roundRect">
            <a:avLst>
              <a:gd name="adj" fmla="val 8163"/>
            </a:avLst>
          </a:prstGeom>
          <a:solidFill>
            <a:srgbClr val="FFF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TextBox 358"/>
          <p:cNvSpPr txBox="1"/>
          <p:nvPr/>
        </p:nvSpPr>
        <p:spPr>
          <a:xfrm>
            <a:off x="7214439" y="4399867"/>
            <a:ext cx="631431" cy="228390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1296" b="1" i="0">
                <a:solidFill>
                  <a:srgbClr val="000000"/>
                </a:solidFill>
                <a:latin typeface="Times New Roman"/>
              </a:defRPr>
            </a:pPr>
            <a:r>
              <a:t>Fusion</a:t>
            </a:r>
          </a:p>
        </p:txBody>
      </p:sp>
      <p:sp>
        <p:nvSpPr>
          <p:cNvPr id="360" name="Rounded Rectangle 359"/>
          <p:cNvSpPr/>
          <p:nvPr/>
        </p:nvSpPr>
        <p:spPr>
          <a:xfrm>
            <a:off x="7718241" y="3949804"/>
            <a:ext cx="282128" cy="322433"/>
          </a:xfrm>
          <a:prstGeom prst="roundRect">
            <a:avLst>
              <a:gd name="adj" fmla="val 14285"/>
            </a:avLst>
          </a:prstGeom>
          <a:solidFill>
            <a:srgbClr val="B9B9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Rounded Rectangle 360"/>
          <p:cNvSpPr/>
          <p:nvPr/>
        </p:nvSpPr>
        <p:spPr>
          <a:xfrm>
            <a:off x="7671219" y="3902783"/>
            <a:ext cx="282128" cy="322433"/>
          </a:xfrm>
          <a:prstGeom prst="roundRect">
            <a:avLst>
              <a:gd name="adj" fmla="val 14285"/>
            </a:avLst>
          </a:prstGeom>
          <a:solidFill>
            <a:srgbClr val="AEC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TextBox 361"/>
          <p:cNvSpPr txBox="1"/>
          <p:nvPr/>
        </p:nvSpPr>
        <p:spPr>
          <a:xfrm>
            <a:off x="7711523" y="3976674"/>
            <a:ext cx="201520" cy="174651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864" b="1" i="0">
                <a:solidFill>
                  <a:srgbClr val="000000"/>
                </a:solidFill>
                <a:latin typeface="Times New Roman"/>
              </a:defRPr>
            </a:pPr>
            <a:r>
              <a:t>FD</a:t>
            </a:r>
          </a:p>
        </p:txBody>
      </p:sp>
      <p:sp>
        <p:nvSpPr>
          <p:cNvPr id="363" name="Rounded Rectangle 362"/>
          <p:cNvSpPr/>
          <p:nvPr/>
        </p:nvSpPr>
        <p:spPr>
          <a:xfrm>
            <a:off x="7718241" y="4943973"/>
            <a:ext cx="282128" cy="322433"/>
          </a:xfrm>
          <a:prstGeom prst="roundRect">
            <a:avLst>
              <a:gd name="adj" fmla="val 14285"/>
            </a:avLst>
          </a:prstGeom>
          <a:solidFill>
            <a:srgbClr val="B9B9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Rounded Rectangle 363"/>
          <p:cNvSpPr/>
          <p:nvPr/>
        </p:nvSpPr>
        <p:spPr>
          <a:xfrm>
            <a:off x="7671219" y="4896951"/>
            <a:ext cx="282128" cy="322433"/>
          </a:xfrm>
          <a:prstGeom prst="roundRect">
            <a:avLst>
              <a:gd name="adj" fmla="val 14285"/>
            </a:avLst>
          </a:prstGeom>
          <a:solidFill>
            <a:srgbClr val="AEC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TextBox 364"/>
          <p:cNvSpPr txBox="1"/>
          <p:nvPr/>
        </p:nvSpPr>
        <p:spPr>
          <a:xfrm>
            <a:off x="7711523" y="4970842"/>
            <a:ext cx="201520" cy="174651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864" b="1" i="0">
                <a:solidFill>
                  <a:srgbClr val="000000"/>
                </a:solidFill>
                <a:latin typeface="Times New Roman"/>
              </a:defRPr>
            </a:pPr>
            <a:r>
              <a:t>FD</a:t>
            </a:r>
          </a:p>
        </p:txBody>
      </p:sp>
      <p:sp>
        <p:nvSpPr>
          <p:cNvPr id="366" name="Rounded Rectangle 365"/>
          <p:cNvSpPr/>
          <p:nvPr/>
        </p:nvSpPr>
        <p:spPr>
          <a:xfrm>
            <a:off x="8161586" y="4970842"/>
            <a:ext cx="322433" cy="322433"/>
          </a:xfrm>
          <a:prstGeom prst="roundRect">
            <a:avLst>
              <a:gd name="adj" fmla="val 12500"/>
            </a:avLst>
          </a:prstGeom>
          <a:solidFill>
            <a:srgbClr val="B9B9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Rounded Rectangle 366"/>
          <p:cNvSpPr/>
          <p:nvPr/>
        </p:nvSpPr>
        <p:spPr>
          <a:xfrm>
            <a:off x="8114565" y="4923821"/>
            <a:ext cx="322433" cy="322433"/>
          </a:xfrm>
          <a:prstGeom prst="roundRect">
            <a:avLst>
              <a:gd name="adj" fmla="val 12500"/>
            </a:avLst>
          </a:prstGeom>
          <a:solidFill>
            <a:srgbClr val="CFC2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TextBox 367"/>
          <p:cNvSpPr txBox="1"/>
          <p:nvPr/>
        </p:nvSpPr>
        <p:spPr>
          <a:xfrm>
            <a:off x="8134717" y="4997712"/>
            <a:ext cx="282128" cy="181368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864" b="1" i="0">
                <a:solidFill>
                  <a:srgbClr val="000000"/>
                </a:solidFill>
                <a:latin typeface="Times New Roman"/>
              </a:defRPr>
            </a:pPr>
            <a:r>
              <a:t>SAC</a:t>
            </a:r>
          </a:p>
        </p:txBody>
      </p:sp>
      <p:cxnSp>
        <p:nvCxnSpPr>
          <p:cNvPr id="369" name="Connector 368"/>
          <p:cNvCxnSpPr/>
          <p:nvPr/>
        </p:nvCxnSpPr>
        <p:spPr>
          <a:xfrm>
            <a:off x="7214439" y="4198347"/>
            <a:ext cx="0" cy="161216"/>
          </a:xfrm>
          <a:prstGeom prst="line">
            <a:avLst/>
          </a:prstGeom>
          <a:ln w="16535">
            <a:solidFill>
              <a:srgbClr val="EF6C1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0" name="Freeform 369"/>
          <p:cNvSpPr/>
          <p:nvPr/>
        </p:nvSpPr>
        <p:spPr>
          <a:xfrm>
            <a:off x="7187571" y="4305827"/>
            <a:ext cx="53736" cy="53736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4" y="8"/>
                </a:moveTo>
                <a:lnTo>
                  <a:pt x="0" y="0"/>
                </a:lnTo>
                <a:lnTo>
                  <a:pt x="8" y="0"/>
                </a:lnTo>
                <a:close/>
              </a:path>
            </a:pathLst>
          </a:custGeom>
          <a:solidFill>
            <a:srgbClr val="EF6C1B"/>
          </a:solidFill>
          <a:ln w="3937">
            <a:solidFill>
              <a:srgbClr val="EF6C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1" name="Connector 370"/>
          <p:cNvCxnSpPr/>
          <p:nvPr/>
        </p:nvCxnSpPr>
        <p:spPr>
          <a:xfrm>
            <a:off x="7214439" y="4903669"/>
            <a:ext cx="0" cy="779213"/>
          </a:xfrm>
          <a:prstGeom prst="line">
            <a:avLst/>
          </a:prstGeom>
          <a:ln w="16535">
            <a:solidFill>
              <a:srgbClr val="EF6C1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2" name="Freeform 371"/>
          <p:cNvSpPr/>
          <p:nvPr/>
        </p:nvSpPr>
        <p:spPr>
          <a:xfrm>
            <a:off x="7187571" y="5629146"/>
            <a:ext cx="53736" cy="53736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4" y="8"/>
                </a:moveTo>
                <a:lnTo>
                  <a:pt x="0" y="0"/>
                </a:lnTo>
                <a:lnTo>
                  <a:pt x="8" y="0"/>
                </a:lnTo>
                <a:close/>
              </a:path>
            </a:pathLst>
          </a:custGeom>
          <a:solidFill>
            <a:srgbClr val="EF6C1B"/>
          </a:solidFill>
          <a:ln w="3937">
            <a:solidFill>
              <a:srgbClr val="EF6C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3" name="Connector 372"/>
          <p:cNvCxnSpPr/>
          <p:nvPr/>
        </p:nvCxnSpPr>
        <p:spPr>
          <a:xfrm flipV="1">
            <a:off x="7624198" y="3674393"/>
            <a:ext cx="0" cy="685170"/>
          </a:xfrm>
          <a:prstGeom prst="line">
            <a:avLst/>
          </a:prstGeom>
          <a:ln w="16535">
            <a:solidFill>
              <a:srgbClr val="0071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4" name="Freeform 373"/>
          <p:cNvSpPr/>
          <p:nvPr/>
        </p:nvSpPr>
        <p:spPr>
          <a:xfrm>
            <a:off x="7597330" y="3674393"/>
            <a:ext cx="53736" cy="53736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4" y="0"/>
                </a:moveTo>
                <a:lnTo>
                  <a:pt x="8" y="8"/>
                </a:lnTo>
                <a:lnTo>
                  <a:pt x="0" y="8"/>
                </a:lnTo>
                <a:close/>
              </a:path>
            </a:pathLst>
          </a:custGeom>
          <a:solidFill>
            <a:srgbClr val="0071C8"/>
          </a:solidFill>
          <a:ln w="3937">
            <a:solidFill>
              <a:srgbClr val="007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5" name="Connector 374"/>
          <p:cNvCxnSpPr/>
          <p:nvPr/>
        </p:nvCxnSpPr>
        <p:spPr>
          <a:xfrm flipV="1">
            <a:off x="7812284" y="3674393"/>
            <a:ext cx="0" cy="228390"/>
          </a:xfrm>
          <a:prstGeom prst="line">
            <a:avLst/>
          </a:prstGeom>
          <a:ln w="16535">
            <a:solidFill>
              <a:srgbClr val="0071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6" name="Freeform 375"/>
          <p:cNvSpPr/>
          <p:nvPr/>
        </p:nvSpPr>
        <p:spPr>
          <a:xfrm>
            <a:off x="7785416" y="3674393"/>
            <a:ext cx="53736" cy="53736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4" y="0"/>
                </a:moveTo>
                <a:lnTo>
                  <a:pt x="8" y="8"/>
                </a:lnTo>
                <a:lnTo>
                  <a:pt x="0" y="8"/>
                </a:lnTo>
                <a:close/>
              </a:path>
            </a:pathLst>
          </a:custGeom>
          <a:solidFill>
            <a:srgbClr val="0071C8"/>
          </a:solidFill>
          <a:ln w="3937">
            <a:solidFill>
              <a:srgbClr val="007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7" name="Connector 376"/>
          <p:cNvCxnSpPr/>
          <p:nvPr/>
        </p:nvCxnSpPr>
        <p:spPr>
          <a:xfrm flipV="1">
            <a:off x="7624198" y="4695431"/>
            <a:ext cx="0" cy="987451"/>
          </a:xfrm>
          <a:prstGeom prst="line">
            <a:avLst/>
          </a:prstGeom>
          <a:ln w="16535">
            <a:solidFill>
              <a:srgbClr val="0071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8" name="Freeform 377"/>
          <p:cNvSpPr/>
          <p:nvPr/>
        </p:nvSpPr>
        <p:spPr>
          <a:xfrm>
            <a:off x="7597330" y="4695431"/>
            <a:ext cx="53736" cy="53736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4" y="0"/>
                </a:moveTo>
                <a:lnTo>
                  <a:pt x="8" y="8"/>
                </a:lnTo>
                <a:lnTo>
                  <a:pt x="0" y="8"/>
                </a:lnTo>
                <a:close/>
              </a:path>
            </a:pathLst>
          </a:custGeom>
          <a:solidFill>
            <a:srgbClr val="0071C8"/>
          </a:solidFill>
          <a:ln w="3937">
            <a:solidFill>
              <a:srgbClr val="007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9" name="Connector 378"/>
          <p:cNvCxnSpPr/>
          <p:nvPr/>
        </p:nvCxnSpPr>
        <p:spPr>
          <a:xfrm flipV="1">
            <a:off x="7812284" y="4695431"/>
            <a:ext cx="0" cy="201520"/>
          </a:xfrm>
          <a:prstGeom prst="line">
            <a:avLst/>
          </a:prstGeom>
          <a:ln w="16535">
            <a:solidFill>
              <a:srgbClr val="0071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0" name="Freeform 379"/>
          <p:cNvSpPr/>
          <p:nvPr/>
        </p:nvSpPr>
        <p:spPr>
          <a:xfrm>
            <a:off x="7785416" y="4695431"/>
            <a:ext cx="53736" cy="53736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4" y="0"/>
                </a:moveTo>
                <a:lnTo>
                  <a:pt x="8" y="8"/>
                </a:lnTo>
                <a:lnTo>
                  <a:pt x="0" y="8"/>
                </a:lnTo>
                <a:close/>
              </a:path>
            </a:pathLst>
          </a:custGeom>
          <a:solidFill>
            <a:srgbClr val="0071C8"/>
          </a:solidFill>
          <a:ln w="3937">
            <a:solidFill>
              <a:srgbClr val="007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1" name="Connector 380"/>
          <p:cNvCxnSpPr/>
          <p:nvPr/>
        </p:nvCxnSpPr>
        <p:spPr>
          <a:xfrm flipV="1">
            <a:off x="8282498" y="3674393"/>
            <a:ext cx="0" cy="1249428"/>
          </a:xfrm>
          <a:prstGeom prst="line">
            <a:avLst/>
          </a:prstGeom>
          <a:ln w="15748">
            <a:solidFill>
              <a:srgbClr val="7B2A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2" name="Freeform 381"/>
          <p:cNvSpPr/>
          <p:nvPr/>
        </p:nvSpPr>
        <p:spPr>
          <a:xfrm>
            <a:off x="8255630" y="3674393"/>
            <a:ext cx="53736" cy="53736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4" y="0"/>
                </a:moveTo>
                <a:lnTo>
                  <a:pt x="8" y="8"/>
                </a:lnTo>
                <a:lnTo>
                  <a:pt x="0" y="8"/>
                </a:lnTo>
                <a:close/>
              </a:path>
            </a:pathLst>
          </a:custGeom>
          <a:solidFill>
            <a:srgbClr val="7B2AA6"/>
          </a:solidFill>
          <a:ln w="3937">
            <a:solidFill>
              <a:srgbClr val="7B2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Rounded Rectangle 382"/>
          <p:cNvSpPr/>
          <p:nvPr/>
        </p:nvSpPr>
        <p:spPr>
          <a:xfrm>
            <a:off x="8745996" y="3257917"/>
            <a:ext cx="141064" cy="141064"/>
          </a:xfrm>
          <a:prstGeom prst="roundRect">
            <a:avLst>
              <a:gd name="adj" fmla="val 14285"/>
            </a:avLst>
          </a:prstGeom>
          <a:solidFill>
            <a:srgbClr val="B9CBE4"/>
          </a:solidFill>
          <a:ln w="14173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TextBox 383"/>
          <p:cNvSpPr txBox="1"/>
          <p:nvPr/>
        </p:nvSpPr>
        <p:spPr>
          <a:xfrm>
            <a:off x="8900495" y="3231047"/>
            <a:ext cx="20152" cy="154499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768" b="1" i="0">
                <a:solidFill>
                  <a:srgbClr val="000000"/>
                </a:solidFill>
                <a:latin typeface="Times New Roman"/>
              </a:defRPr>
            </a:pPr>
            <a:r>
              <a:t>···</a:t>
            </a:r>
          </a:p>
        </p:txBody>
      </p:sp>
      <p:sp>
        <p:nvSpPr>
          <p:cNvPr id="385" name="Rounded Rectangle 384"/>
          <p:cNvSpPr/>
          <p:nvPr/>
        </p:nvSpPr>
        <p:spPr>
          <a:xfrm>
            <a:off x="8927365" y="3257917"/>
            <a:ext cx="141064" cy="141064"/>
          </a:xfrm>
          <a:prstGeom prst="roundRect">
            <a:avLst>
              <a:gd name="adj" fmla="val 14285"/>
            </a:avLst>
          </a:prstGeom>
          <a:solidFill>
            <a:srgbClr val="B9CBE4"/>
          </a:solidFill>
          <a:ln w="14173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TextBox 385"/>
          <p:cNvSpPr txBox="1"/>
          <p:nvPr/>
        </p:nvSpPr>
        <p:spPr>
          <a:xfrm>
            <a:off x="9081864" y="3231047"/>
            <a:ext cx="20152" cy="154499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768" b="1" i="0">
                <a:solidFill>
                  <a:srgbClr val="000000"/>
                </a:solidFill>
                <a:latin typeface="Times New Roman"/>
              </a:defRPr>
            </a:pPr>
            <a:r>
              <a:t>···</a:t>
            </a:r>
          </a:p>
        </p:txBody>
      </p:sp>
      <p:sp>
        <p:nvSpPr>
          <p:cNvPr id="387" name="Rounded Rectangle 386"/>
          <p:cNvSpPr/>
          <p:nvPr/>
        </p:nvSpPr>
        <p:spPr>
          <a:xfrm>
            <a:off x="9108733" y="3257917"/>
            <a:ext cx="141064" cy="141064"/>
          </a:xfrm>
          <a:prstGeom prst="roundRect">
            <a:avLst>
              <a:gd name="adj" fmla="val 14285"/>
            </a:avLst>
          </a:prstGeom>
          <a:solidFill>
            <a:srgbClr val="B9CBE4"/>
          </a:solidFill>
          <a:ln w="14173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TextBox 387"/>
          <p:cNvSpPr txBox="1"/>
          <p:nvPr/>
        </p:nvSpPr>
        <p:spPr>
          <a:xfrm>
            <a:off x="9001255" y="3325090"/>
            <a:ext cx="530671" cy="188085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1055" b="1" i="1">
                <a:solidFill>
                  <a:srgbClr val="000000"/>
                </a:solidFill>
                <a:latin typeface="Times New Roman"/>
              </a:defRPr>
            </a:pPr>
            <a:r>
              <a:t>Fᶠᵥ₅</a:t>
            </a:r>
          </a:p>
        </p:txBody>
      </p:sp>
      <p:sp>
        <p:nvSpPr>
          <p:cNvPr id="389" name="Rounded Rectangle 388"/>
          <p:cNvSpPr/>
          <p:nvPr/>
        </p:nvSpPr>
        <p:spPr>
          <a:xfrm>
            <a:off x="8745996" y="4245368"/>
            <a:ext cx="141064" cy="141064"/>
          </a:xfrm>
          <a:prstGeom prst="roundRect">
            <a:avLst>
              <a:gd name="adj" fmla="val 14285"/>
            </a:avLst>
          </a:prstGeom>
          <a:solidFill>
            <a:srgbClr val="B9CBE4"/>
          </a:solidFill>
          <a:ln w="14173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TextBox 389"/>
          <p:cNvSpPr txBox="1"/>
          <p:nvPr/>
        </p:nvSpPr>
        <p:spPr>
          <a:xfrm>
            <a:off x="8900495" y="4218499"/>
            <a:ext cx="20152" cy="154499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768" b="1" i="0">
                <a:solidFill>
                  <a:srgbClr val="000000"/>
                </a:solidFill>
                <a:latin typeface="Times New Roman"/>
              </a:defRPr>
            </a:pPr>
            <a:r>
              <a:t>···</a:t>
            </a:r>
          </a:p>
        </p:txBody>
      </p:sp>
      <p:sp>
        <p:nvSpPr>
          <p:cNvPr id="391" name="Rounded Rectangle 390"/>
          <p:cNvSpPr/>
          <p:nvPr/>
        </p:nvSpPr>
        <p:spPr>
          <a:xfrm>
            <a:off x="8927365" y="4245368"/>
            <a:ext cx="141064" cy="141064"/>
          </a:xfrm>
          <a:prstGeom prst="roundRect">
            <a:avLst>
              <a:gd name="adj" fmla="val 14285"/>
            </a:avLst>
          </a:prstGeom>
          <a:solidFill>
            <a:srgbClr val="B9CBE4"/>
          </a:solidFill>
          <a:ln w="14173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TextBox 391"/>
          <p:cNvSpPr txBox="1"/>
          <p:nvPr/>
        </p:nvSpPr>
        <p:spPr>
          <a:xfrm>
            <a:off x="9081864" y="4218499"/>
            <a:ext cx="20152" cy="154499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768" b="1" i="0">
                <a:solidFill>
                  <a:srgbClr val="000000"/>
                </a:solidFill>
                <a:latin typeface="Times New Roman"/>
              </a:defRPr>
            </a:pPr>
            <a:r>
              <a:t>···</a:t>
            </a:r>
          </a:p>
        </p:txBody>
      </p:sp>
      <p:sp>
        <p:nvSpPr>
          <p:cNvPr id="393" name="Rounded Rectangle 392"/>
          <p:cNvSpPr/>
          <p:nvPr/>
        </p:nvSpPr>
        <p:spPr>
          <a:xfrm>
            <a:off x="9108733" y="4245368"/>
            <a:ext cx="141064" cy="141064"/>
          </a:xfrm>
          <a:prstGeom prst="roundRect">
            <a:avLst>
              <a:gd name="adj" fmla="val 14285"/>
            </a:avLst>
          </a:prstGeom>
          <a:solidFill>
            <a:srgbClr val="B9CBE4"/>
          </a:solidFill>
          <a:ln w="14173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TextBox 393"/>
          <p:cNvSpPr txBox="1"/>
          <p:nvPr/>
        </p:nvSpPr>
        <p:spPr>
          <a:xfrm>
            <a:off x="9001255" y="4312542"/>
            <a:ext cx="530671" cy="188085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1055" b="1" i="1">
                <a:solidFill>
                  <a:srgbClr val="000000"/>
                </a:solidFill>
                <a:latin typeface="Times New Roman"/>
              </a:defRPr>
            </a:pPr>
            <a:r>
              <a:t>Fᶠᵥ₄</a:t>
            </a:r>
          </a:p>
        </p:txBody>
      </p:sp>
      <p:sp>
        <p:nvSpPr>
          <p:cNvPr id="395" name="Rounded Rectangle 394"/>
          <p:cNvSpPr/>
          <p:nvPr/>
        </p:nvSpPr>
        <p:spPr>
          <a:xfrm>
            <a:off x="8745996" y="5232819"/>
            <a:ext cx="141064" cy="141064"/>
          </a:xfrm>
          <a:prstGeom prst="roundRect">
            <a:avLst>
              <a:gd name="adj" fmla="val 14285"/>
            </a:avLst>
          </a:prstGeom>
          <a:solidFill>
            <a:srgbClr val="B9CBE4"/>
          </a:solidFill>
          <a:ln w="14173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TextBox 395"/>
          <p:cNvSpPr txBox="1"/>
          <p:nvPr/>
        </p:nvSpPr>
        <p:spPr>
          <a:xfrm>
            <a:off x="8900495" y="5205950"/>
            <a:ext cx="20152" cy="154499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768" b="1" i="0">
                <a:solidFill>
                  <a:srgbClr val="000000"/>
                </a:solidFill>
                <a:latin typeface="Times New Roman"/>
              </a:defRPr>
            </a:pPr>
            <a:r>
              <a:t>···</a:t>
            </a:r>
          </a:p>
        </p:txBody>
      </p:sp>
      <p:sp>
        <p:nvSpPr>
          <p:cNvPr id="397" name="Rounded Rectangle 396"/>
          <p:cNvSpPr/>
          <p:nvPr/>
        </p:nvSpPr>
        <p:spPr>
          <a:xfrm>
            <a:off x="8927365" y="5232819"/>
            <a:ext cx="141064" cy="141064"/>
          </a:xfrm>
          <a:prstGeom prst="roundRect">
            <a:avLst>
              <a:gd name="adj" fmla="val 14285"/>
            </a:avLst>
          </a:prstGeom>
          <a:solidFill>
            <a:srgbClr val="B9CBE4"/>
          </a:solidFill>
          <a:ln w="14173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TextBox 397"/>
          <p:cNvSpPr txBox="1"/>
          <p:nvPr/>
        </p:nvSpPr>
        <p:spPr>
          <a:xfrm>
            <a:off x="9081864" y="5205950"/>
            <a:ext cx="20152" cy="154499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768" b="1" i="0">
                <a:solidFill>
                  <a:srgbClr val="000000"/>
                </a:solidFill>
                <a:latin typeface="Times New Roman"/>
              </a:defRPr>
            </a:pPr>
            <a:r>
              <a:t>···</a:t>
            </a:r>
          </a:p>
        </p:txBody>
      </p:sp>
      <p:sp>
        <p:nvSpPr>
          <p:cNvPr id="399" name="Rounded Rectangle 398"/>
          <p:cNvSpPr/>
          <p:nvPr/>
        </p:nvSpPr>
        <p:spPr>
          <a:xfrm>
            <a:off x="9108733" y="5232819"/>
            <a:ext cx="141064" cy="141064"/>
          </a:xfrm>
          <a:prstGeom prst="roundRect">
            <a:avLst>
              <a:gd name="adj" fmla="val 14285"/>
            </a:avLst>
          </a:prstGeom>
          <a:solidFill>
            <a:srgbClr val="B9CBE4"/>
          </a:solidFill>
          <a:ln w="14173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TextBox 399"/>
          <p:cNvSpPr txBox="1"/>
          <p:nvPr/>
        </p:nvSpPr>
        <p:spPr>
          <a:xfrm>
            <a:off x="9001255" y="5299993"/>
            <a:ext cx="530671" cy="188085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1055" b="1" i="1">
                <a:solidFill>
                  <a:srgbClr val="000000"/>
                </a:solidFill>
                <a:latin typeface="Times New Roman"/>
              </a:defRPr>
            </a:pPr>
            <a:r>
              <a:t>Fᶠᵥ₃</a:t>
            </a:r>
          </a:p>
        </p:txBody>
      </p:sp>
      <p:cxnSp>
        <p:nvCxnSpPr>
          <p:cNvPr id="401" name="Connector 400"/>
          <p:cNvCxnSpPr/>
          <p:nvPr/>
        </p:nvCxnSpPr>
        <p:spPr>
          <a:xfrm>
            <a:off x="7966783" y="3506459"/>
            <a:ext cx="678453" cy="0"/>
          </a:xfrm>
          <a:prstGeom prst="line">
            <a:avLst/>
          </a:prstGeom>
          <a:ln w="1811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2" name="Freeform 401"/>
          <p:cNvSpPr/>
          <p:nvPr/>
        </p:nvSpPr>
        <p:spPr>
          <a:xfrm>
            <a:off x="8584783" y="3472874"/>
            <a:ext cx="60453" cy="67170"/>
          </a:xfrm>
          <a:custGeom>
            <a:avLst/>
            <a:gdLst/>
            <a:ahLst/>
            <a:cxnLst/>
            <a:rect l="l" t="t" r="r" b="b"/>
            <a:pathLst>
              <a:path w="9" h="10">
                <a:moveTo>
                  <a:pt x="9" y="5"/>
                </a:moveTo>
                <a:lnTo>
                  <a:pt x="0" y="1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3937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3" name="Connector 402"/>
          <p:cNvCxnSpPr/>
          <p:nvPr/>
        </p:nvCxnSpPr>
        <p:spPr>
          <a:xfrm>
            <a:off x="7980217" y="4527497"/>
            <a:ext cx="665019" cy="0"/>
          </a:xfrm>
          <a:prstGeom prst="line">
            <a:avLst/>
          </a:prstGeom>
          <a:ln w="1811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4" name="Freeform 403"/>
          <p:cNvSpPr/>
          <p:nvPr/>
        </p:nvSpPr>
        <p:spPr>
          <a:xfrm>
            <a:off x="8584783" y="4493912"/>
            <a:ext cx="60453" cy="67170"/>
          </a:xfrm>
          <a:custGeom>
            <a:avLst/>
            <a:gdLst/>
            <a:ahLst/>
            <a:cxnLst/>
            <a:rect l="l" t="t" r="r" b="b"/>
            <a:pathLst>
              <a:path w="9" h="10">
                <a:moveTo>
                  <a:pt x="9" y="5"/>
                </a:moveTo>
                <a:lnTo>
                  <a:pt x="0" y="1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3937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5" name="Connector 404"/>
          <p:cNvCxnSpPr/>
          <p:nvPr/>
        </p:nvCxnSpPr>
        <p:spPr>
          <a:xfrm>
            <a:off x="7953348" y="5058168"/>
            <a:ext cx="691888" cy="0"/>
          </a:xfrm>
          <a:prstGeom prst="line">
            <a:avLst/>
          </a:prstGeom>
          <a:ln w="157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6" name="Connector 405"/>
          <p:cNvCxnSpPr/>
          <p:nvPr/>
        </p:nvCxnSpPr>
        <p:spPr>
          <a:xfrm>
            <a:off x="8645236" y="5058168"/>
            <a:ext cx="0" cy="382889"/>
          </a:xfrm>
          <a:prstGeom prst="line">
            <a:avLst/>
          </a:prstGeom>
          <a:ln w="157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7" name="Connector 406"/>
          <p:cNvCxnSpPr/>
          <p:nvPr/>
        </p:nvCxnSpPr>
        <p:spPr>
          <a:xfrm>
            <a:off x="8645236" y="5441057"/>
            <a:ext cx="100760" cy="0"/>
          </a:xfrm>
          <a:prstGeom prst="line">
            <a:avLst/>
          </a:prstGeom>
          <a:ln w="1811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8" name="Freeform 407"/>
          <p:cNvSpPr/>
          <p:nvPr/>
        </p:nvSpPr>
        <p:spPr>
          <a:xfrm>
            <a:off x="8692260" y="5414189"/>
            <a:ext cx="53736" cy="53736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8" y="4"/>
                </a:moveTo>
                <a:lnTo>
                  <a:pt x="0" y="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3937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TextBox 408"/>
          <p:cNvSpPr txBox="1"/>
          <p:nvPr/>
        </p:nvSpPr>
        <p:spPr>
          <a:xfrm>
            <a:off x="5723186" y="5857533"/>
            <a:ext cx="510518" cy="255259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000000"/>
                </a:solidFill>
                <a:latin typeface="Times New Roman"/>
              </a:defRPr>
            </a:pPr>
            <a:r>
              <a:t>(b.2)</a:t>
            </a:r>
          </a:p>
        </p:txBody>
      </p:sp>
      <p:sp>
        <p:nvSpPr>
          <p:cNvPr id="410" name="Rounded Rectangle 409"/>
          <p:cNvSpPr/>
          <p:nvPr/>
        </p:nvSpPr>
        <p:spPr>
          <a:xfrm>
            <a:off x="9464753" y="3271351"/>
            <a:ext cx="1444231" cy="906842"/>
          </a:xfrm>
          <a:prstGeom prst="roundRect">
            <a:avLst>
              <a:gd name="adj" fmla="val 10370"/>
            </a:avLst>
          </a:prstGeom>
          <a:solidFill>
            <a:srgbClr val="FFFFFF"/>
          </a:solidFill>
          <a:ln w="11023">
            <a:solidFill>
              <a:srgbClr val="F3C5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Rounded Rectangle 410"/>
          <p:cNvSpPr/>
          <p:nvPr/>
        </p:nvSpPr>
        <p:spPr>
          <a:xfrm>
            <a:off x="9558796" y="3613937"/>
            <a:ext cx="288846" cy="288846"/>
          </a:xfrm>
          <a:prstGeom prst="roundRect">
            <a:avLst>
              <a:gd name="adj" fmla="val 16000"/>
            </a:avLst>
          </a:prstGeom>
          <a:solidFill>
            <a:srgbClr val="B9B9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Rounded Rectangle 411"/>
          <p:cNvSpPr/>
          <p:nvPr/>
        </p:nvSpPr>
        <p:spPr>
          <a:xfrm>
            <a:off x="9511774" y="3566915"/>
            <a:ext cx="288846" cy="288846"/>
          </a:xfrm>
          <a:prstGeom prst="roundRect">
            <a:avLst>
              <a:gd name="adj" fmla="val 16000"/>
            </a:avLst>
          </a:prstGeom>
          <a:solidFill>
            <a:srgbClr val="FFE3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3" name="Connector 412"/>
          <p:cNvCxnSpPr/>
          <p:nvPr/>
        </p:nvCxnSpPr>
        <p:spPr>
          <a:xfrm>
            <a:off x="9800621" y="3707980"/>
            <a:ext cx="181368" cy="0"/>
          </a:xfrm>
          <a:prstGeom prst="line">
            <a:avLst/>
          </a:prstGeom>
          <a:ln w="1811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4" name="Freeform 413"/>
          <p:cNvSpPr/>
          <p:nvPr/>
        </p:nvSpPr>
        <p:spPr>
          <a:xfrm>
            <a:off x="9928253" y="3681112"/>
            <a:ext cx="53736" cy="53736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8" y="4"/>
                </a:moveTo>
                <a:lnTo>
                  <a:pt x="0" y="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3937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Rounded Rectangle 414"/>
          <p:cNvSpPr/>
          <p:nvPr/>
        </p:nvSpPr>
        <p:spPr>
          <a:xfrm>
            <a:off x="10035728" y="3358677"/>
            <a:ext cx="886690" cy="826234"/>
          </a:xfrm>
          <a:prstGeom prst="roundRect">
            <a:avLst>
              <a:gd name="adj" fmla="val 7317"/>
            </a:avLst>
          </a:prstGeom>
          <a:solidFill>
            <a:srgbClr val="B9B9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Rounded Rectangle 415"/>
          <p:cNvSpPr/>
          <p:nvPr/>
        </p:nvSpPr>
        <p:spPr>
          <a:xfrm>
            <a:off x="9988707" y="3311656"/>
            <a:ext cx="886690" cy="826234"/>
          </a:xfrm>
          <a:prstGeom prst="roundRect">
            <a:avLst>
              <a:gd name="adj" fmla="val 7317"/>
            </a:avLst>
          </a:prstGeom>
          <a:solidFill>
            <a:srgbClr val="FFF5CA"/>
          </a:solidFill>
          <a:ln w="9448">
            <a:solidFill>
              <a:srgbClr val="E6B8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Rounded Rectangle 416"/>
          <p:cNvSpPr/>
          <p:nvPr/>
        </p:nvSpPr>
        <p:spPr>
          <a:xfrm>
            <a:off x="10035728" y="3351960"/>
            <a:ext cx="792647" cy="214955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9448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TextBox 417"/>
          <p:cNvSpPr txBox="1"/>
          <p:nvPr/>
        </p:nvSpPr>
        <p:spPr>
          <a:xfrm>
            <a:off x="10082750" y="3372112"/>
            <a:ext cx="698604" cy="167933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864" b="1" i="0">
                <a:solidFill>
                  <a:srgbClr val="000000"/>
                </a:solidFill>
                <a:latin typeface="Times New Roman"/>
              </a:defRPr>
            </a:pPr>
            <a:r>
              <a:t>Conv1×1 s1</a:t>
            </a:r>
          </a:p>
        </p:txBody>
      </p:sp>
      <p:sp>
        <p:nvSpPr>
          <p:cNvPr id="419" name="Rounded Rectangle 418"/>
          <p:cNvSpPr/>
          <p:nvPr/>
        </p:nvSpPr>
        <p:spPr>
          <a:xfrm>
            <a:off x="10035728" y="3613937"/>
            <a:ext cx="792647" cy="214955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9448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TextBox 419"/>
          <p:cNvSpPr txBox="1"/>
          <p:nvPr/>
        </p:nvSpPr>
        <p:spPr>
          <a:xfrm>
            <a:off x="10082750" y="3634089"/>
            <a:ext cx="698604" cy="167933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864" b="1" i="0">
                <a:solidFill>
                  <a:srgbClr val="000000"/>
                </a:solidFill>
                <a:latin typeface="Times New Roman"/>
              </a:defRPr>
            </a:pPr>
            <a:r>
              <a:t>BN</a:t>
            </a:r>
          </a:p>
        </p:txBody>
      </p:sp>
      <p:sp>
        <p:nvSpPr>
          <p:cNvPr id="421" name="Rounded Rectangle 420"/>
          <p:cNvSpPr/>
          <p:nvPr/>
        </p:nvSpPr>
        <p:spPr>
          <a:xfrm>
            <a:off x="10035728" y="3869196"/>
            <a:ext cx="792647" cy="214955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9448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" name="TextBox 421"/>
          <p:cNvSpPr txBox="1"/>
          <p:nvPr/>
        </p:nvSpPr>
        <p:spPr>
          <a:xfrm>
            <a:off x="10082750" y="3889348"/>
            <a:ext cx="698604" cy="167933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864" b="1" i="0">
                <a:solidFill>
                  <a:srgbClr val="000000"/>
                </a:solidFill>
                <a:latin typeface="Times New Roman"/>
              </a:defRPr>
            </a:pPr>
            <a:r>
              <a:t>SiLU</a:t>
            </a:r>
          </a:p>
        </p:txBody>
      </p:sp>
      <p:sp>
        <p:nvSpPr>
          <p:cNvPr id="423" name="Rounded Rectangle 422"/>
          <p:cNvSpPr/>
          <p:nvPr/>
        </p:nvSpPr>
        <p:spPr>
          <a:xfrm>
            <a:off x="9525209" y="4325976"/>
            <a:ext cx="1410644" cy="1793533"/>
          </a:xfrm>
          <a:prstGeom prst="roundRect">
            <a:avLst>
              <a:gd name="adj" fmla="val 3809"/>
            </a:avLst>
          </a:prstGeom>
          <a:solidFill>
            <a:srgbClr val="B9B9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Rounded Rectangle 423"/>
          <p:cNvSpPr/>
          <p:nvPr/>
        </p:nvSpPr>
        <p:spPr>
          <a:xfrm>
            <a:off x="9478188" y="4278955"/>
            <a:ext cx="1410644" cy="1793533"/>
          </a:xfrm>
          <a:prstGeom prst="roundRect">
            <a:avLst>
              <a:gd name="adj" fmla="val 3809"/>
            </a:avLst>
          </a:prstGeom>
          <a:solidFill>
            <a:srgbClr val="FA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" name="Oval 424"/>
          <p:cNvSpPr/>
          <p:nvPr/>
        </p:nvSpPr>
        <p:spPr>
          <a:xfrm>
            <a:off x="10096184" y="4346128"/>
            <a:ext cx="188085" cy="188085"/>
          </a:xfrm>
          <a:prstGeom prst="ellipse">
            <a:avLst/>
          </a:prstGeom>
          <a:solidFill>
            <a:srgbClr val="FFFFFF"/>
          </a:solidFill>
          <a:ln w="1338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" name="TextBox 425"/>
          <p:cNvSpPr txBox="1"/>
          <p:nvPr/>
        </p:nvSpPr>
        <p:spPr>
          <a:xfrm>
            <a:off x="10102902" y="4352846"/>
            <a:ext cx="174651" cy="167933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864" b="1" i="0">
                <a:solidFill>
                  <a:srgbClr val="000000"/>
                </a:solidFill>
                <a:latin typeface="Times New Roman"/>
              </a:defRPr>
            </a:pPr>
            <a:r>
              <a:t>C</a:t>
            </a:r>
          </a:p>
        </p:txBody>
      </p:sp>
      <p:cxnSp>
        <p:nvCxnSpPr>
          <p:cNvPr id="427" name="Connector 426"/>
          <p:cNvCxnSpPr/>
          <p:nvPr/>
        </p:nvCxnSpPr>
        <p:spPr>
          <a:xfrm>
            <a:off x="9934968" y="4346128"/>
            <a:ext cx="0" cy="94043"/>
          </a:xfrm>
          <a:prstGeom prst="line">
            <a:avLst/>
          </a:prstGeom>
          <a:ln w="1811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8" name="Freeform 427"/>
          <p:cNvSpPr/>
          <p:nvPr/>
        </p:nvSpPr>
        <p:spPr>
          <a:xfrm>
            <a:off x="9908100" y="4393152"/>
            <a:ext cx="53736" cy="47019"/>
          </a:xfrm>
          <a:custGeom>
            <a:avLst/>
            <a:gdLst/>
            <a:ahLst/>
            <a:cxnLst/>
            <a:rect l="l" t="t" r="r" b="b"/>
            <a:pathLst>
              <a:path w="8" h="7">
                <a:moveTo>
                  <a:pt x="4" y="7"/>
                </a:moveTo>
                <a:lnTo>
                  <a:pt x="0" y="0"/>
                </a:lnTo>
                <a:lnTo>
                  <a:pt x="8" y="0"/>
                </a:lnTo>
                <a:close/>
              </a:path>
            </a:pathLst>
          </a:custGeom>
          <a:solidFill>
            <a:srgbClr val="000000"/>
          </a:solidFill>
          <a:ln w="3937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9" name="Connector 428"/>
          <p:cNvCxnSpPr/>
          <p:nvPr/>
        </p:nvCxnSpPr>
        <p:spPr>
          <a:xfrm flipV="1">
            <a:off x="9934968" y="4245368"/>
            <a:ext cx="0" cy="100760"/>
          </a:xfrm>
          <a:prstGeom prst="line">
            <a:avLst/>
          </a:prstGeom>
          <a:ln w="157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0" name="Connector 429"/>
          <p:cNvCxnSpPr/>
          <p:nvPr/>
        </p:nvCxnSpPr>
        <p:spPr>
          <a:xfrm>
            <a:off x="9934968" y="4245368"/>
            <a:ext cx="255259" cy="0"/>
          </a:xfrm>
          <a:prstGeom prst="line">
            <a:avLst/>
          </a:prstGeom>
          <a:ln w="157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1" name="Connector 430"/>
          <p:cNvCxnSpPr/>
          <p:nvPr/>
        </p:nvCxnSpPr>
        <p:spPr>
          <a:xfrm flipV="1">
            <a:off x="10445487" y="4245368"/>
            <a:ext cx="0" cy="100760"/>
          </a:xfrm>
          <a:prstGeom prst="line">
            <a:avLst/>
          </a:prstGeom>
          <a:ln w="157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2" name="Connector 431"/>
          <p:cNvCxnSpPr/>
          <p:nvPr/>
        </p:nvCxnSpPr>
        <p:spPr>
          <a:xfrm flipH="1">
            <a:off x="10190227" y="4245368"/>
            <a:ext cx="255260" cy="0"/>
          </a:xfrm>
          <a:prstGeom prst="line">
            <a:avLst/>
          </a:prstGeom>
          <a:ln w="157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3" name="Connector 432"/>
          <p:cNvCxnSpPr/>
          <p:nvPr/>
        </p:nvCxnSpPr>
        <p:spPr>
          <a:xfrm>
            <a:off x="10445487" y="4346128"/>
            <a:ext cx="0" cy="94043"/>
          </a:xfrm>
          <a:prstGeom prst="line">
            <a:avLst/>
          </a:prstGeom>
          <a:ln w="1811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4" name="Freeform 433"/>
          <p:cNvSpPr/>
          <p:nvPr/>
        </p:nvSpPr>
        <p:spPr>
          <a:xfrm>
            <a:off x="10418619" y="4393152"/>
            <a:ext cx="53736" cy="47019"/>
          </a:xfrm>
          <a:custGeom>
            <a:avLst/>
            <a:gdLst/>
            <a:ahLst/>
            <a:cxnLst/>
            <a:rect l="l" t="t" r="r" b="b"/>
            <a:pathLst>
              <a:path w="8" h="7">
                <a:moveTo>
                  <a:pt x="4" y="7"/>
                </a:moveTo>
                <a:lnTo>
                  <a:pt x="0" y="0"/>
                </a:lnTo>
                <a:lnTo>
                  <a:pt x="8" y="0"/>
                </a:lnTo>
                <a:close/>
              </a:path>
            </a:pathLst>
          </a:custGeom>
          <a:solidFill>
            <a:srgbClr val="000000"/>
          </a:solidFill>
          <a:ln w="3937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" name="Rounded Rectangle 434"/>
          <p:cNvSpPr/>
          <p:nvPr/>
        </p:nvSpPr>
        <p:spPr>
          <a:xfrm>
            <a:off x="9746882" y="4675279"/>
            <a:ext cx="450062" cy="369454"/>
          </a:xfrm>
          <a:prstGeom prst="roundRect">
            <a:avLst>
              <a:gd name="adj" fmla="val 12727"/>
            </a:avLst>
          </a:prstGeom>
          <a:solidFill>
            <a:srgbClr val="B9B9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Rounded Rectangle 435"/>
          <p:cNvSpPr/>
          <p:nvPr/>
        </p:nvSpPr>
        <p:spPr>
          <a:xfrm>
            <a:off x="9699860" y="4628257"/>
            <a:ext cx="450062" cy="369454"/>
          </a:xfrm>
          <a:prstGeom prst="roundRect">
            <a:avLst>
              <a:gd name="adj" fmla="val 12727"/>
            </a:avLst>
          </a:prstGeom>
          <a:solidFill>
            <a:srgbClr val="9BD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" name="Rounded Rectangle 436"/>
          <p:cNvSpPr/>
          <p:nvPr/>
        </p:nvSpPr>
        <p:spPr>
          <a:xfrm>
            <a:off x="10284270" y="4675279"/>
            <a:ext cx="450062" cy="369454"/>
          </a:xfrm>
          <a:prstGeom prst="roundRect">
            <a:avLst>
              <a:gd name="adj" fmla="val 12727"/>
            </a:avLst>
          </a:prstGeom>
          <a:solidFill>
            <a:srgbClr val="B9B9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" name="Rounded Rectangle 437"/>
          <p:cNvSpPr/>
          <p:nvPr/>
        </p:nvSpPr>
        <p:spPr>
          <a:xfrm>
            <a:off x="10237249" y="4628257"/>
            <a:ext cx="450062" cy="369454"/>
          </a:xfrm>
          <a:prstGeom prst="roundRect">
            <a:avLst>
              <a:gd name="adj" fmla="val 12727"/>
            </a:avLst>
          </a:prstGeom>
          <a:solidFill>
            <a:srgbClr val="9BD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TextBox 438"/>
          <p:cNvSpPr txBox="1"/>
          <p:nvPr/>
        </p:nvSpPr>
        <p:spPr>
          <a:xfrm>
            <a:off x="9753599" y="4681996"/>
            <a:ext cx="342585" cy="261976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864" b="1" i="0">
                <a:solidFill>
                  <a:srgbClr val="000000"/>
                </a:solidFill>
                <a:latin typeface="Times New Roman"/>
              </a:defRPr>
            </a:pPr>
            <a:r>
              <a:t>1×1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864" b="1" i="0">
                <a:solidFill>
                  <a:srgbClr val="000000"/>
                </a:solidFill>
                <a:latin typeface="Times New Roman"/>
              </a:defRPr>
            </a:pPr>
            <a:r>
              <a:t>Conv</a:t>
            </a:r>
          </a:p>
        </p:txBody>
      </p:sp>
      <p:sp>
        <p:nvSpPr>
          <p:cNvPr id="440" name="TextBox 439"/>
          <p:cNvSpPr txBox="1"/>
          <p:nvPr/>
        </p:nvSpPr>
        <p:spPr>
          <a:xfrm>
            <a:off x="10290988" y="4681996"/>
            <a:ext cx="342585" cy="261976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864" b="1" i="0">
                <a:solidFill>
                  <a:srgbClr val="000000"/>
                </a:solidFill>
                <a:latin typeface="Times New Roman"/>
              </a:defRPr>
            </a:pPr>
            <a:r>
              <a:t>1×1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864" b="1" i="0">
                <a:solidFill>
                  <a:srgbClr val="000000"/>
                </a:solidFill>
                <a:latin typeface="Times New Roman"/>
              </a:defRPr>
            </a:pPr>
            <a:r>
              <a:t>Conv</a:t>
            </a:r>
          </a:p>
        </p:txBody>
      </p:sp>
      <p:cxnSp>
        <p:nvCxnSpPr>
          <p:cNvPr id="441" name="Connector 440"/>
          <p:cNvCxnSpPr/>
          <p:nvPr/>
        </p:nvCxnSpPr>
        <p:spPr>
          <a:xfrm flipH="1">
            <a:off x="9928250" y="4540932"/>
            <a:ext cx="214956" cy="87325"/>
          </a:xfrm>
          <a:prstGeom prst="line">
            <a:avLst/>
          </a:prstGeom>
          <a:ln w="1811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2" name="Freeform 441"/>
          <p:cNvSpPr/>
          <p:nvPr/>
        </p:nvSpPr>
        <p:spPr>
          <a:xfrm>
            <a:off x="9928250" y="4587955"/>
            <a:ext cx="53736" cy="47019"/>
          </a:xfrm>
          <a:custGeom>
            <a:avLst/>
            <a:gdLst/>
            <a:ahLst/>
            <a:cxnLst/>
            <a:rect l="l" t="t" r="r" b="b"/>
            <a:pathLst>
              <a:path w="8" h="7">
                <a:moveTo>
                  <a:pt x="0" y="6"/>
                </a:moveTo>
                <a:lnTo>
                  <a:pt x="5" y="0"/>
                </a:lnTo>
                <a:lnTo>
                  <a:pt x="8" y="7"/>
                </a:lnTo>
                <a:close/>
              </a:path>
            </a:pathLst>
          </a:custGeom>
          <a:solidFill>
            <a:srgbClr val="000000"/>
          </a:solidFill>
          <a:ln w="3937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3" name="Connector 442"/>
          <p:cNvCxnSpPr/>
          <p:nvPr/>
        </p:nvCxnSpPr>
        <p:spPr>
          <a:xfrm>
            <a:off x="10237249" y="4540932"/>
            <a:ext cx="221673" cy="87325"/>
          </a:xfrm>
          <a:prstGeom prst="line">
            <a:avLst/>
          </a:prstGeom>
          <a:ln w="1811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4" name="Freeform 443"/>
          <p:cNvSpPr/>
          <p:nvPr/>
        </p:nvSpPr>
        <p:spPr>
          <a:xfrm>
            <a:off x="10405186" y="4587955"/>
            <a:ext cx="53736" cy="47019"/>
          </a:xfrm>
          <a:custGeom>
            <a:avLst/>
            <a:gdLst/>
            <a:ahLst/>
            <a:cxnLst/>
            <a:rect l="l" t="t" r="r" b="b"/>
            <a:pathLst>
              <a:path w="8" h="7">
                <a:moveTo>
                  <a:pt x="8" y="6"/>
                </a:moveTo>
                <a:lnTo>
                  <a:pt x="0" y="7"/>
                </a:lnTo>
                <a:lnTo>
                  <a:pt x="3" y="0"/>
                </a:lnTo>
                <a:close/>
              </a:path>
            </a:pathLst>
          </a:custGeom>
          <a:solidFill>
            <a:srgbClr val="000000"/>
          </a:solidFill>
          <a:ln w="3937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" name="Rounded Rectangle 444"/>
          <p:cNvSpPr/>
          <p:nvPr/>
        </p:nvSpPr>
        <p:spPr>
          <a:xfrm>
            <a:off x="9672991" y="5212667"/>
            <a:ext cx="738909" cy="275411"/>
          </a:xfrm>
          <a:prstGeom prst="roundRect">
            <a:avLst>
              <a:gd name="adj" fmla="val 14634"/>
            </a:avLst>
          </a:prstGeom>
          <a:solidFill>
            <a:srgbClr val="B9B9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" name="Rounded Rectangle 445"/>
          <p:cNvSpPr/>
          <p:nvPr/>
        </p:nvSpPr>
        <p:spPr>
          <a:xfrm>
            <a:off x="9625970" y="5165646"/>
            <a:ext cx="738909" cy="275411"/>
          </a:xfrm>
          <a:prstGeom prst="roundRect">
            <a:avLst>
              <a:gd name="adj" fmla="val 14634"/>
            </a:avLst>
          </a:prstGeom>
          <a:solidFill>
            <a:srgbClr val="FFE3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" name="TextBox 446"/>
          <p:cNvSpPr txBox="1"/>
          <p:nvPr/>
        </p:nvSpPr>
        <p:spPr>
          <a:xfrm>
            <a:off x="9672991" y="5219384"/>
            <a:ext cx="638148" cy="167933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864" b="1" i="0">
                <a:solidFill>
                  <a:srgbClr val="000000"/>
                </a:solidFill>
                <a:latin typeface="Times New Roman"/>
              </a:defRPr>
            </a:pPr>
            <a:r>
              <a:t>RepBlock ×3</a:t>
            </a:r>
          </a:p>
        </p:txBody>
      </p:sp>
      <p:cxnSp>
        <p:nvCxnSpPr>
          <p:cNvPr id="448" name="Connector 447"/>
          <p:cNvCxnSpPr/>
          <p:nvPr/>
        </p:nvCxnSpPr>
        <p:spPr>
          <a:xfrm>
            <a:off x="9928250" y="4997712"/>
            <a:ext cx="0" cy="167934"/>
          </a:xfrm>
          <a:prstGeom prst="line">
            <a:avLst/>
          </a:prstGeom>
          <a:ln w="1811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9" name="Freeform 448"/>
          <p:cNvSpPr/>
          <p:nvPr/>
        </p:nvSpPr>
        <p:spPr>
          <a:xfrm>
            <a:off x="9901382" y="5118627"/>
            <a:ext cx="53736" cy="47019"/>
          </a:xfrm>
          <a:custGeom>
            <a:avLst/>
            <a:gdLst/>
            <a:ahLst/>
            <a:cxnLst/>
            <a:rect l="l" t="t" r="r" b="b"/>
            <a:pathLst>
              <a:path w="8" h="7">
                <a:moveTo>
                  <a:pt x="4" y="7"/>
                </a:moveTo>
                <a:lnTo>
                  <a:pt x="0" y="0"/>
                </a:lnTo>
                <a:lnTo>
                  <a:pt x="8" y="0"/>
                </a:lnTo>
                <a:close/>
              </a:path>
            </a:pathLst>
          </a:custGeom>
          <a:solidFill>
            <a:srgbClr val="000000"/>
          </a:solidFill>
          <a:ln w="3937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0" name="Connector 449"/>
          <p:cNvCxnSpPr/>
          <p:nvPr/>
        </p:nvCxnSpPr>
        <p:spPr>
          <a:xfrm>
            <a:off x="10465639" y="4997712"/>
            <a:ext cx="0" cy="577692"/>
          </a:xfrm>
          <a:prstGeom prst="line">
            <a:avLst/>
          </a:prstGeom>
          <a:ln w="157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1" name="Connector 450"/>
          <p:cNvCxnSpPr/>
          <p:nvPr/>
        </p:nvCxnSpPr>
        <p:spPr>
          <a:xfrm flipH="1">
            <a:off x="10290988" y="5575404"/>
            <a:ext cx="174651" cy="0"/>
          </a:xfrm>
          <a:prstGeom prst="line">
            <a:avLst/>
          </a:prstGeom>
          <a:ln w="1811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2" name="Freeform 451"/>
          <p:cNvSpPr/>
          <p:nvPr/>
        </p:nvSpPr>
        <p:spPr>
          <a:xfrm>
            <a:off x="10290988" y="5548536"/>
            <a:ext cx="47019" cy="53736"/>
          </a:xfrm>
          <a:custGeom>
            <a:avLst/>
            <a:gdLst/>
            <a:ahLst/>
            <a:cxnLst/>
            <a:rect l="l" t="t" r="r" b="b"/>
            <a:pathLst>
              <a:path w="7" h="8">
                <a:moveTo>
                  <a:pt x="0" y="4"/>
                </a:moveTo>
                <a:lnTo>
                  <a:pt x="7" y="0"/>
                </a:lnTo>
                <a:lnTo>
                  <a:pt x="7" y="8"/>
                </a:lnTo>
                <a:close/>
              </a:path>
            </a:pathLst>
          </a:custGeom>
          <a:solidFill>
            <a:srgbClr val="000000"/>
          </a:solidFill>
          <a:ln w="3937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" name="Oval 452"/>
          <p:cNvSpPr/>
          <p:nvPr/>
        </p:nvSpPr>
        <p:spPr>
          <a:xfrm>
            <a:off x="10096184" y="5474644"/>
            <a:ext cx="201520" cy="201520"/>
          </a:xfrm>
          <a:prstGeom prst="ellipse">
            <a:avLst/>
          </a:prstGeom>
          <a:solidFill>
            <a:srgbClr val="FFFFFF"/>
          </a:solidFill>
          <a:ln w="1338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4" name="Connector 453"/>
          <p:cNvCxnSpPr/>
          <p:nvPr/>
        </p:nvCxnSpPr>
        <p:spPr>
          <a:xfrm>
            <a:off x="9995424" y="5441057"/>
            <a:ext cx="0" cy="134347"/>
          </a:xfrm>
          <a:prstGeom prst="line">
            <a:avLst/>
          </a:prstGeom>
          <a:ln w="157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5" name="Connector 454"/>
          <p:cNvCxnSpPr/>
          <p:nvPr/>
        </p:nvCxnSpPr>
        <p:spPr>
          <a:xfrm>
            <a:off x="9995424" y="5575404"/>
            <a:ext cx="100760" cy="0"/>
          </a:xfrm>
          <a:prstGeom prst="line">
            <a:avLst/>
          </a:prstGeom>
          <a:ln w="1811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6" name="Freeform 455"/>
          <p:cNvSpPr/>
          <p:nvPr/>
        </p:nvSpPr>
        <p:spPr>
          <a:xfrm>
            <a:off x="10049165" y="5548536"/>
            <a:ext cx="47019" cy="53736"/>
          </a:xfrm>
          <a:custGeom>
            <a:avLst/>
            <a:gdLst/>
            <a:ahLst/>
            <a:cxnLst/>
            <a:rect l="l" t="t" r="r" b="b"/>
            <a:pathLst>
              <a:path w="7" h="8">
                <a:moveTo>
                  <a:pt x="7" y="4"/>
                </a:moveTo>
                <a:lnTo>
                  <a:pt x="0" y="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3937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7" name="Connector 456"/>
          <p:cNvCxnSpPr/>
          <p:nvPr/>
        </p:nvCxnSpPr>
        <p:spPr>
          <a:xfrm>
            <a:off x="10196945" y="5676165"/>
            <a:ext cx="0" cy="107477"/>
          </a:xfrm>
          <a:prstGeom prst="line">
            <a:avLst/>
          </a:prstGeom>
          <a:ln w="157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8" name="Oval 457"/>
          <p:cNvSpPr/>
          <p:nvPr/>
        </p:nvSpPr>
        <p:spPr>
          <a:xfrm>
            <a:off x="10096184" y="5803794"/>
            <a:ext cx="201520" cy="201520"/>
          </a:xfrm>
          <a:prstGeom prst="ellipse">
            <a:avLst/>
          </a:prstGeom>
          <a:solidFill>
            <a:srgbClr val="FFFFFF"/>
          </a:solidFill>
          <a:ln w="1338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" name="TextBox 458"/>
          <p:cNvSpPr txBox="1"/>
          <p:nvPr/>
        </p:nvSpPr>
        <p:spPr>
          <a:xfrm>
            <a:off x="10109619" y="5817229"/>
            <a:ext cx="174651" cy="174651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864" b="1" i="0">
                <a:solidFill>
                  <a:srgbClr val="000000"/>
                </a:solidFill>
                <a:latin typeface="Times New Roman"/>
              </a:defRPr>
            </a:pPr>
            <a:r>
              <a:t>F</a:t>
            </a:r>
          </a:p>
        </p:txBody>
      </p:sp>
      <p:cxnSp>
        <p:nvCxnSpPr>
          <p:cNvPr id="460" name="Connector 459"/>
          <p:cNvCxnSpPr/>
          <p:nvPr/>
        </p:nvCxnSpPr>
        <p:spPr>
          <a:xfrm>
            <a:off x="10196945" y="6005315"/>
            <a:ext cx="0" cy="161217"/>
          </a:xfrm>
          <a:prstGeom prst="line">
            <a:avLst/>
          </a:prstGeom>
          <a:ln w="1811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1" name="Freeform 460"/>
          <p:cNvSpPr/>
          <p:nvPr/>
        </p:nvSpPr>
        <p:spPr>
          <a:xfrm>
            <a:off x="10170077" y="6112796"/>
            <a:ext cx="53736" cy="53736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4" y="8"/>
                </a:moveTo>
                <a:lnTo>
                  <a:pt x="0" y="0"/>
                </a:lnTo>
                <a:lnTo>
                  <a:pt x="8" y="0"/>
                </a:lnTo>
                <a:close/>
              </a:path>
            </a:pathLst>
          </a:custGeom>
          <a:solidFill>
            <a:srgbClr val="000000"/>
          </a:solidFill>
          <a:ln w="3937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" name="TextBox 461"/>
          <p:cNvSpPr txBox="1"/>
          <p:nvPr/>
        </p:nvSpPr>
        <p:spPr>
          <a:xfrm>
            <a:off x="9525209" y="5850816"/>
            <a:ext cx="550823" cy="201520"/>
          </a:xfrm>
          <a:prstGeom prst="rect">
            <a:avLst/>
          </a:prstGeom>
          <a:noFill/>
        </p:spPr>
        <p:txBody>
          <a:bodyPr wrap="square" lIns="13716" rIns="13716" tIns="4572" bIns="4572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1055" b="1" i="0">
                <a:solidFill>
                  <a:srgbClr val="000000"/>
                </a:solidFill>
                <a:latin typeface="Times New Roman"/>
              </a:defRPr>
            </a:pPr>
            <a:r>
              <a:t>Fusion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__ORIGINAL_REFERENCE_IMAGE__" descr="Where Does It Exist from the Low-Altitude Spatial Aerial Video Grounding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1997" cy="624042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Where Does It Exist? Low-Altitude Spatial Aerial Video Grounding</dc:title>
  <dc:subject>Editable vector reconstruction of the supplied research architecture diagram</dc:subject>
  <dc:creator>OpenAI Codex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