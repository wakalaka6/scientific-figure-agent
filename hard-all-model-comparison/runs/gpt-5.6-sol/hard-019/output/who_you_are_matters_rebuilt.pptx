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282160" cy="79735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182880"/>
            <a:ext cx="5797296" cy="7141464"/>
          </a:xfrm>
          <a:prstGeom prst="roundRect">
            <a:avLst>
              <a:gd name="adj" fmla="val 4416"/>
            </a:avLst>
          </a:prstGeom>
          <a:noFill/>
          <a:ln w="36576">
            <a:solidFill>
              <a:srgbClr val="56565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182880"/>
            <a:ext cx="5303520" cy="7141464"/>
          </a:xfrm>
          <a:prstGeom prst="roundRect">
            <a:avLst>
              <a:gd name="adj" fmla="val 4827"/>
            </a:avLst>
          </a:prstGeom>
          <a:noFill/>
          <a:ln w="36576">
            <a:solidFill>
              <a:srgbClr val="56565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740896" y="182880"/>
            <a:ext cx="5513832" cy="7141464"/>
          </a:xfrm>
          <a:prstGeom prst="roundRect">
            <a:avLst>
              <a:gd name="adj" fmla="val 4643"/>
            </a:avLst>
          </a:prstGeom>
          <a:noFill/>
          <a:ln w="36576">
            <a:solidFill>
              <a:srgbClr val="56565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562088"/>
            <a:ext cx="544068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>
                <a:solidFill>
                  <a:srgbClr val="080808"/>
                </a:solidFill>
                <a:latin typeface="Liberation Serif"/>
              </a:rPr>
              <a:t>(1) MLLM-based Tag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7562088"/>
            <a:ext cx="576072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>
                <a:solidFill>
                  <a:srgbClr val="080808"/>
                </a:solidFill>
                <a:latin typeface="Liberation Serif"/>
              </a:rPr>
              <a:t>(2) LLM-based Collaborative Logic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752" y="7562088"/>
            <a:ext cx="5541264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>
                <a:solidFill>
                  <a:srgbClr val="080808"/>
                </a:solidFill>
                <a:latin typeface="Liberation Serif"/>
              </a:rPr>
              <a:t>(3) Tag Logic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83464"/>
            <a:ext cx="7772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1">
                <a:solidFill>
                  <a:srgbClr val="080808"/>
                </a:solidFill>
                <a:latin typeface="Liberation Serif"/>
              </a:rPr>
              <a:t>Itemᵢ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6696" y="557784"/>
            <a:ext cx="0" cy="228600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956462" y="713232"/>
            <a:ext cx="80467" cy="73152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" y="850392"/>
            <a:ext cx="1572768" cy="740664"/>
          </a:xfrm>
          <a:prstGeom prst="roundRect">
            <a:avLst>
              <a:gd name="adj" fmla="val 17283"/>
            </a:avLst>
          </a:prstGeom>
          <a:solidFill>
            <a:srgbClr val="F0F0F0"/>
          </a:solidFill>
          <a:ln w="36576">
            <a:solidFill>
              <a:srgbClr val="56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1353312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>
                <a:solidFill>
                  <a:srgbClr val="080808"/>
                </a:solidFill>
                <a:latin typeface="Liberation Serif"/>
              </a:rPr>
              <a:t>Raw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>
                <a:solidFill>
                  <a:srgbClr val="080808"/>
                </a:solidFill>
                <a:latin typeface="Liberation Serif"/>
              </a:rPr>
              <a:t>Information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73936" y="1225296"/>
            <a:ext cx="393192" cy="0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084831" y="1180033"/>
            <a:ext cx="82296" cy="90525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468880" y="730422"/>
            <a:ext cx="0" cy="72421"/>
          </a:xfrm>
          <a:prstGeom prst="line">
            <a:avLst/>
          </a:prstGeom>
          <a:ln w="19751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42545" y="690920"/>
            <a:ext cx="52669" cy="52669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37206" y="796259"/>
            <a:ext cx="263347" cy="158008"/>
          </a:xfrm>
          <a:prstGeom prst="roundRect">
            <a:avLst>
              <a:gd name="adj" fmla="val 16666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96459" y="842345"/>
            <a:ext cx="32918" cy="3291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08382" y="842345"/>
            <a:ext cx="32918" cy="3291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10871" y="980602"/>
            <a:ext cx="316016" cy="223845"/>
          </a:xfrm>
          <a:prstGeom prst="roundRect">
            <a:avLst>
              <a:gd name="adj" fmla="val 14705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76708" y="1033271"/>
            <a:ext cx="184343" cy="85587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389875" y="1079357"/>
            <a:ext cx="32919" cy="0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22794" y="1046439"/>
            <a:ext cx="19751" cy="32918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2545" y="1046439"/>
            <a:ext cx="26335" cy="59253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68880" y="1059606"/>
            <a:ext cx="26334" cy="46086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95214" y="1059606"/>
            <a:ext cx="19751" cy="19751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14965" y="1079357"/>
            <a:ext cx="32919" cy="0"/>
          </a:xfrm>
          <a:prstGeom prst="line">
            <a:avLst/>
          </a:prstGeom>
          <a:ln w="9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245034" y="1033271"/>
            <a:ext cx="65837" cy="32919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45034" y="980602"/>
            <a:ext cx="0" cy="85588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218700" y="947684"/>
            <a:ext cx="46085" cy="46085"/>
          </a:xfrm>
          <a:prstGeom prst="ellipse">
            <a:avLst/>
          </a:prstGeom>
          <a:solidFill>
            <a:srgbClr val="FFFFFF"/>
          </a:solidFill>
          <a:ln w="19751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626888" y="1033271"/>
            <a:ext cx="59253" cy="32919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686141" y="993769"/>
            <a:ext cx="0" cy="72421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666390" y="960851"/>
            <a:ext cx="46085" cy="46085"/>
          </a:xfrm>
          <a:prstGeom prst="ellipse">
            <a:avLst/>
          </a:prstGeom>
          <a:solidFill>
            <a:srgbClr val="FFFFFF"/>
          </a:solidFill>
          <a:ln w="19751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2356957" y="1204447"/>
            <a:ext cx="32918" cy="52670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47884" y="1204447"/>
            <a:ext cx="32918" cy="52670"/>
          </a:xfrm>
          <a:prstGeom prst="line">
            <a:avLst/>
          </a:prstGeom>
          <a:ln w="26334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304288" y="1237366"/>
            <a:ext cx="125089" cy="46085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08382" y="1237366"/>
            <a:ext cx="125089" cy="46085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1290035"/>
            <a:ext cx="658368" cy="197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080808"/>
                </a:solidFill>
                <a:latin typeface="Liberation Serif"/>
              </a:rPr>
              <a:t>MLLM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34640" y="1216152"/>
            <a:ext cx="365760" cy="0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3118104" y="1170889"/>
            <a:ext cx="82296" cy="90525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6120" y="457200"/>
            <a:ext cx="1133856" cy="1755648"/>
          </a:xfrm>
          <a:prstGeom prst="rect">
            <a:avLst/>
          </a:prstGeom>
          <a:noFill/>
          <a:ln w="27432">
            <a:solidFill>
              <a:srgbClr val="56565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74136" y="530352"/>
            <a:ext cx="859536" cy="475488"/>
          </a:xfrm>
          <a:prstGeom prst="roundRect">
            <a:avLst>
              <a:gd name="adj" fmla="val 23076"/>
            </a:avLst>
          </a:prstGeom>
          <a:solidFill>
            <a:srgbClr val="EAF2F7"/>
          </a:solidFill>
          <a:ln w="27432">
            <a:solidFill>
              <a:srgbClr val="6A6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74136" y="1069848"/>
            <a:ext cx="859536" cy="475488"/>
          </a:xfrm>
          <a:prstGeom prst="roundRect">
            <a:avLst>
              <a:gd name="adj" fmla="val 23076"/>
            </a:avLst>
          </a:prstGeom>
          <a:solidFill>
            <a:srgbClr val="F2F2F7"/>
          </a:solidFill>
          <a:ln w="27432">
            <a:solidFill>
              <a:srgbClr val="6A6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374136" y="1609344"/>
            <a:ext cx="859536" cy="475488"/>
          </a:xfrm>
          <a:prstGeom prst="roundRect">
            <a:avLst>
              <a:gd name="adj" fmla="val 23076"/>
            </a:avLst>
          </a:prstGeom>
          <a:solidFill>
            <a:srgbClr val="FFF4D5"/>
          </a:solidFill>
          <a:ln w="27432">
            <a:solidFill>
              <a:srgbClr val="6A6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8" y="585216"/>
            <a:ext cx="80467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808"/>
                </a:solidFill>
                <a:latin typeface="Liberation Serif"/>
              </a:rPr>
              <a:t>ASR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1568" y="1124712"/>
            <a:ext cx="80467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808"/>
                </a:solidFill>
                <a:latin typeface="Liberation Serif"/>
              </a:rPr>
              <a:t>OCR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1664208"/>
            <a:ext cx="80467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808"/>
                </a:solidFill>
                <a:latin typeface="Liberation Serif"/>
              </a:rPr>
              <a:t>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18304" y="539496"/>
            <a:ext cx="1069848" cy="1563624"/>
          </a:xfrm>
          <a:prstGeom prst="roundRect">
            <a:avLst>
              <a:gd name="adj" fmla="val 16239"/>
            </a:avLst>
          </a:prstGeom>
          <a:solidFill>
            <a:srgbClr val="F5E6EF"/>
          </a:solidFill>
          <a:ln w="36576">
            <a:solidFill>
              <a:srgbClr val="5656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37176" y="950976"/>
            <a:ext cx="8321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MLLM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Emb Eᵢ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3017520" y="356616"/>
            <a:ext cx="0" cy="850392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017520" y="356616"/>
            <a:ext cx="2157984" cy="0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75504" y="356616"/>
            <a:ext cx="0" cy="173736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5135270" y="457200"/>
            <a:ext cx="80467" cy="73152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233672" y="777240"/>
            <a:ext cx="365760" cy="0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99432" y="777240"/>
            <a:ext cx="0" cy="1737360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44752" y="2514600"/>
            <a:ext cx="3154680" cy="0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44752" y="2514600"/>
            <a:ext cx="0" cy="493776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10800000">
            <a:off x="1404518" y="2935224"/>
            <a:ext cx="80467" cy="73152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233672" y="1316736"/>
            <a:ext cx="329184" cy="0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62856" y="1316736"/>
            <a:ext cx="0" cy="1700784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10800000">
            <a:off x="4522622" y="2944368"/>
            <a:ext cx="80467" cy="73152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4233672" y="1856231"/>
            <a:ext cx="374904" cy="0"/>
          </a:xfrm>
          <a:prstGeom prst="line">
            <a:avLst/>
          </a:prstGeom>
          <a:ln w="27432">
            <a:solidFill>
              <a:srgbClr val="56565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01168" y="3090672"/>
            <a:ext cx="2542032" cy="832104"/>
          </a:xfrm>
          <a:prstGeom prst="roundRect">
            <a:avLst>
              <a:gd name="adj" fmla="val 15384"/>
            </a:avLst>
          </a:prstGeom>
          <a:solidFill>
            <a:srgbClr val="E5F0D9"/>
          </a:solidFill>
          <a:ln w="36576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163824"/>
            <a:ext cx="2295144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080808"/>
                </a:solidFill>
                <a:latin typeface="Liberation Serif"/>
              </a:rPr>
              <a:t>ItemTag Extraction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080808"/>
                </a:solidFill>
                <a:latin typeface="Liberation Serif"/>
              </a:rPr>
              <a:t>Prompt Xᵢᶜ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82696" y="3090672"/>
            <a:ext cx="2478024" cy="832104"/>
          </a:xfrm>
          <a:prstGeom prst="roundRect">
            <a:avLst>
              <a:gd name="adj" fmla="val 15384"/>
            </a:avLst>
          </a:prstGeom>
          <a:solidFill>
            <a:srgbClr val="FAEDE9"/>
          </a:solidFill>
          <a:ln w="36576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0" y="3163824"/>
            <a:ext cx="2267712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80808"/>
                </a:solidFill>
                <a:latin typeface="Liberation Serif"/>
              </a:rPr>
              <a:t>UserTag Extraction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80808"/>
                </a:solidFill>
                <a:latin typeface="Liberation Serif"/>
              </a:rPr>
              <a:t>Prompt Xᵢᵀ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935224" y="4102729"/>
            <a:ext cx="0" cy="92538"/>
          </a:xfrm>
          <a:prstGeom prst="line">
            <a:avLst/>
          </a:prstGeom>
          <a:ln w="25237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2901574" y="4052255"/>
            <a:ext cx="67299" cy="67299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766974" y="4186854"/>
            <a:ext cx="336499" cy="201899"/>
          </a:xfrm>
          <a:prstGeom prst="roundRect">
            <a:avLst>
              <a:gd name="adj" fmla="val 16666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842686" y="4245742"/>
            <a:ext cx="42062" cy="4206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985698" y="4245742"/>
            <a:ext cx="42062" cy="4206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33324" y="4422404"/>
            <a:ext cx="403799" cy="286024"/>
          </a:xfrm>
          <a:prstGeom prst="roundRect">
            <a:avLst>
              <a:gd name="adj" fmla="val 14705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817449" y="4489704"/>
            <a:ext cx="235549" cy="10936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2834274" y="4548591"/>
            <a:ext cx="42062" cy="0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876336" y="4506528"/>
            <a:ext cx="25238" cy="42063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901574" y="4506528"/>
            <a:ext cx="33650" cy="75713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935224" y="4523353"/>
            <a:ext cx="33649" cy="58888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968873" y="4523353"/>
            <a:ext cx="25238" cy="25238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994111" y="4548591"/>
            <a:ext cx="42062" cy="0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2649199" y="4489704"/>
            <a:ext cx="84125" cy="420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649199" y="4422404"/>
            <a:ext cx="0" cy="1093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2615549" y="4380341"/>
            <a:ext cx="58887" cy="58887"/>
          </a:xfrm>
          <a:prstGeom prst="ellipse">
            <a:avLst/>
          </a:prstGeom>
          <a:solidFill>
            <a:srgbClr val="FFFFFF"/>
          </a:solidFill>
          <a:ln w="25237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3137123" y="4489704"/>
            <a:ext cx="75712" cy="420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212835" y="4439229"/>
            <a:ext cx="0" cy="92537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3187598" y="4397166"/>
            <a:ext cx="58887" cy="58887"/>
          </a:xfrm>
          <a:prstGeom prst="ellipse">
            <a:avLst/>
          </a:prstGeom>
          <a:solidFill>
            <a:srgbClr val="FFFFFF"/>
          </a:solidFill>
          <a:ln w="25237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2792211" y="4708428"/>
            <a:ext cx="42063" cy="67300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036173" y="4708428"/>
            <a:ext cx="42063" cy="67300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2724912" y="4750490"/>
            <a:ext cx="159837" cy="58887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985698" y="4750490"/>
            <a:ext cx="159837" cy="58887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14600" y="4817790"/>
            <a:ext cx="841248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8" b="1" i="0">
                <a:solidFill>
                  <a:srgbClr val="080808"/>
                </a:solidFill>
                <a:latin typeface="Liberation Serif"/>
              </a:rPr>
              <a:t>MLLM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408176" y="3922776"/>
            <a:ext cx="0" cy="420624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408176" y="4343400"/>
            <a:ext cx="1024128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/>
          <p:cNvSpPr/>
          <p:nvPr/>
        </p:nvSpPr>
        <p:spPr>
          <a:xfrm rot="5400000">
            <a:off x="2350008" y="4298137"/>
            <a:ext cx="82296" cy="90525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471416" y="3922776"/>
            <a:ext cx="0" cy="402336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3419856" y="4325112"/>
            <a:ext cx="1051560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16200000">
            <a:off x="3419856" y="4279849"/>
            <a:ext cx="82296" cy="90525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248656" y="2103120"/>
            <a:ext cx="0" cy="667512"/>
          </a:xfrm>
          <a:prstGeom prst="line">
            <a:avLst/>
          </a:prstGeom>
          <a:ln w="36576">
            <a:solidFill>
              <a:srgbClr val="FF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2944368" y="2770632"/>
            <a:ext cx="2304288" cy="0"/>
          </a:xfrm>
          <a:prstGeom prst="line">
            <a:avLst/>
          </a:prstGeom>
          <a:ln w="36576">
            <a:solidFill>
              <a:srgbClr val="FF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944368" y="2770632"/>
            <a:ext cx="0" cy="1225296"/>
          </a:xfrm>
          <a:prstGeom prst="line">
            <a:avLst/>
          </a:prstGeom>
          <a:ln w="36576">
            <a:solidFill>
              <a:srgbClr val="FF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10800000">
            <a:off x="2889046" y="3895344"/>
            <a:ext cx="110642" cy="100584"/>
          </a:xfrm>
          <a:prstGeom prst="triangle">
            <a:avLst/>
          </a:prstGeom>
          <a:solidFill>
            <a:srgbClr val="FF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30352" y="5266944"/>
            <a:ext cx="1536192" cy="502920"/>
          </a:xfrm>
          <a:prstGeom prst="roundRect">
            <a:avLst>
              <a:gd name="adj" fmla="val 18181"/>
            </a:avLst>
          </a:prstGeom>
          <a:solidFill>
            <a:srgbClr val="DCEBCF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74904" y="5550408"/>
            <a:ext cx="1536192" cy="502920"/>
          </a:xfrm>
          <a:prstGeom prst="roundRect">
            <a:avLst>
              <a:gd name="adj" fmla="val 18181"/>
            </a:avLst>
          </a:prstGeom>
          <a:solidFill>
            <a:srgbClr val="DCEBCF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5216" y="5266944"/>
            <a:ext cx="142646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Live Music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9768" y="5586984"/>
            <a:ext cx="142646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Instrument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Shows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0312" y="6135624"/>
            <a:ext cx="203911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80808"/>
                </a:solidFill>
                <a:latin typeface="Liberation Serif"/>
              </a:rPr>
              <a:t>ItemTag Set C*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408176" y="4352544"/>
            <a:ext cx="0" cy="32004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408176" y="4672584"/>
            <a:ext cx="1005840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5400000">
            <a:off x="2331720" y="4627321"/>
            <a:ext cx="82296" cy="90525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380744" y="4654296"/>
            <a:ext cx="0" cy="292608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10800000">
            <a:off x="1335481" y="4864608"/>
            <a:ext cx="90525" cy="82296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639312" y="5303520"/>
            <a:ext cx="1536192" cy="502920"/>
          </a:xfrm>
          <a:prstGeom prst="roundRect">
            <a:avLst>
              <a:gd name="adj" fmla="val 18181"/>
            </a:avLst>
          </a:prstGeom>
          <a:solidFill>
            <a:srgbClr val="FAE1D6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502152" y="5550408"/>
            <a:ext cx="1536192" cy="502920"/>
          </a:xfrm>
          <a:prstGeom prst="roundRect">
            <a:avLst>
              <a:gd name="adj" fmla="val 18181"/>
            </a:avLst>
          </a:prstGeom>
          <a:solidFill>
            <a:srgbClr val="FAE1D6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94176" y="5303520"/>
            <a:ext cx="142646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80808"/>
                </a:solidFill>
                <a:latin typeface="Liberation Serif"/>
              </a:rPr>
              <a:t>Folk Music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57016" y="5586984"/>
            <a:ext cx="142646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80808"/>
                </a:solidFill>
                <a:latin typeface="Liberation Serif"/>
              </a:rPr>
              <a:t>Music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80808"/>
                </a:solidFill>
                <a:latin typeface="Liberation Serif"/>
              </a:rPr>
              <a:t>Enthusiast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280" y="6135624"/>
            <a:ext cx="203911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80808"/>
                </a:solidFill>
                <a:latin typeface="Liberation Serif"/>
              </a:rPr>
              <a:t>UserTag Set T*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480560" y="4334256"/>
            <a:ext cx="0" cy="621792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10800000">
            <a:off x="4435297" y="4873752"/>
            <a:ext cx="90525" cy="82296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42415" y="6483096"/>
            <a:ext cx="0" cy="521208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42415" y="7004304"/>
            <a:ext cx="6848857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891272" y="6675120"/>
            <a:ext cx="0" cy="329184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>
            <a:off x="7846009" y="6675120"/>
            <a:ext cx="90525" cy="82296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443984" y="6483096"/>
            <a:ext cx="0" cy="68580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443984" y="7168896"/>
            <a:ext cx="5504688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948672" y="6675120"/>
            <a:ext cx="0" cy="493776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/>
          <p:cNvSpPr/>
          <p:nvPr/>
        </p:nvSpPr>
        <p:spPr>
          <a:xfrm>
            <a:off x="9903409" y="6675120"/>
            <a:ext cx="90525" cy="82296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739128" y="320040"/>
            <a:ext cx="4407408" cy="3465576"/>
          </a:xfrm>
          <a:prstGeom prst="roundRect">
            <a:avLst>
              <a:gd name="adj" fmla="val 8970"/>
            </a:avLst>
          </a:prstGeom>
          <a:solidFill>
            <a:srgbClr val="EAF2F7"/>
          </a:solidFill>
          <a:ln w="18288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94576" y="420624"/>
            <a:ext cx="164592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>
                <a:solidFill>
                  <a:srgbClr val="080808"/>
                </a:solidFill>
                <a:latin typeface="Liberation Serif"/>
              </a:rPr>
              <a:t>Logic Graph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147304" y="923544"/>
            <a:ext cx="1627632" cy="530352"/>
          </a:xfrm>
          <a:prstGeom prst="roundRect">
            <a:avLst>
              <a:gd name="adj" fmla="val 17241"/>
            </a:avLst>
          </a:prstGeom>
          <a:solidFill>
            <a:srgbClr val="F6D3C2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982712" y="1152144"/>
            <a:ext cx="1627632" cy="530352"/>
          </a:xfrm>
          <a:prstGeom prst="roundRect">
            <a:avLst>
              <a:gd name="adj" fmla="val 17241"/>
            </a:avLst>
          </a:prstGeom>
          <a:solidFill>
            <a:srgbClr val="F6D3C2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02168" y="923544"/>
            <a:ext cx="1517904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Folk Music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37575" y="1188720"/>
            <a:ext cx="1517904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Music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Enthusiast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63840" y="1700784"/>
            <a:ext cx="2048256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080808"/>
                </a:solidFill>
                <a:latin typeface="Liberation Serif"/>
              </a:rPr>
              <a:t>UserTag Set C*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46720" y="2624328"/>
            <a:ext cx="1527048" cy="512064"/>
          </a:xfrm>
          <a:prstGeom prst="roundRect">
            <a:avLst>
              <a:gd name="adj" fmla="val 17857"/>
            </a:avLst>
          </a:prstGeom>
          <a:solidFill>
            <a:srgbClr val="CDE3BE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891272" y="2916936"/>
            <a:ext cx="1527048" cy="512064"/>
          </a:xfrm>
          <a:prstGeom prst="roundRect">
            <a:avLst>
              <a:gd name="adj" fmla="val 17857"/>
            </a:avLst>
          </a:prstGeom>
          <a:solidFill>
            <a:srgbClr val="CDE3BE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01583" y="2624328"/>
            <a:ext cx="141732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Live Music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46136" y="2953512"/>
            <a:ext cx="14173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Instrument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808"/>
                </a:solidFill>
                <a:latin typeface="Liberation Serif"/>
              </a:rPr>
              <a:t>Shows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708392" y="3438144"/>
            <a:ext cx="216712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80808"/>
                </a:solidFill>
                <a:latin typeface="Liberation Serif"/>
              </a:rPr>
              <a:t>ItemTag Set T*</a:t>
            </a:r>
          </a:p>
        </p:txBody>
      </p:sp>
      <p:cxnSp>
        <p:nvCxnSpPr>
          <p:cNvPr id="138" name="Connector 137"/>
          <p:cNvCxnSpPr/>
          <p:nvPr/>
        </p:nvCxnSpPr>
        <p:spPr>
          <a:xfrm flipH="1">
            <a:off x="7671816" y="941832"/>
            <a:ext cx="685800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71816" y="941832"/>
            <a:ext cx="0" cy="164592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71816" y="2587752"/>
            <a:ext cx="512063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5400000">
            <a:off x="8110727" y="2547518"/>
            <a:ext cx="73152" cy="80467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 flipH="1">
            <a:off x="7671816" y="941832"/>
            <a:ext cx="685800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671816" y="941832"/>
            <a:ext cx="0" cy="2185416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671816" y="3127248"/>
            <a:ext cx="512063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Isosceles Triangle 144"/>
          <p:cNvSpPr/>
          <p:nvPr/>
        </p:nvSpPr>
        <p:spPr>
          <a:xfrm rot="5400000">
            <a:off x="8110727" y="3087014"/>
            <a:ext cx="73152" cy="80467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 flipH="1">
            <a:off x="7671816" y="1170432"/>
            <a:ext cx="685800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671816" y="1170432"/>
            <a:ext cx="0" cy="1709928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671816" y="2880360"/>
            <a:ext cx="512063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 rot="5400000">
            <a:off x="8110727" y="2840126"/>
            <a:ext cx="73152" cy="80467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 flipH="1">
            <a:off x="7671816" y="1408176"/>
            <a:ext cx="685800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671816" y="1408176"/>
            <a:ext cx="0" cy="1709928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671816" y="3118104"/>
            <a:ext cx="512063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/>
          <p:cNvSpPr/>
          <p:nvPr/>
        </p:nvSpPr>
        <p:spPr>
          <a:xfrm rot="5400000">
            <a:off x="8110727" y="3077870"/>
            <a:ext cx="73152" cy="80467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9418320" y="2862072"/>
            <a:ext cx="83210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250424" y="941832"/>
            <a:ext cx="0" cy="192024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9921240" y="941832"/>
            <a:ext cx="32918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Isosceles Triangle 156"/>
          <p:cNvSpPr/>
          <p:nvPr/>
        </p:nvSpPr>
        <p:spPr>
          <a:xfrm rot="16200000">
            <a:off x="9921240" y="901598"/>
            <a:ext cx="73152" cy="80467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9418320" y="3136392"/>
            <a:ext cx="83210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250424" y="1179576"/>
            <a:ext cx="0" cy="1956816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9921240" y="1179576"/>
            <a:ext cx="32918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Isosceles Triangle 160"/>
          <p:cNvSpPr/>
          <p:nvPr/>
        </p:nvSpPr>
        <p:spPr>
          <a:xfrm rot="16200000">
            <a:off x="9921240" y="1139342"/>
            <a:ext cx="73152" cy="80467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9418320" y="2862072"/>
            <a:ext cx="83210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250424" y="1426464"/>
            <a:ext cx="0" cy="1435608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9921240" y="1426464"/>
            <a:ext cx="32918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Isosceles Triangle 164"/>
          <p:cNvSpPr/>
          <p:nvPr/>
        </p:nvSpPr>
        <p:spPr>
          <a:xfrm rot="16200000">
            <a:off x="9921240" y="1386230"/>
            <a:ext cx="73152" cy="80467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9418320" y="3145536"/>
            <a:ext cx="83210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250424" y="1655064"/>
            <a:ext cx="0" cy="1490472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9921240" y="1655064"/>
            <a:ext cx="329184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Isosceles Triangle 168"/>
          <p:cNvSpPr/>
          <p:nvPr/>
        </p:nvSpPr>
        <p:spPr>
          <a:xfrm rot="16200000">
            <a:off x="9921240" y="1614830"/>
            <a:ext cx="73152" cy="80467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12864" y="1709928"/>
            <a:ext cx="72237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>
                <a:solidFill>
                  <a:srgbClr val="DC5A16"/>
                </a:solidFill>
                <a:latin typeface="Liberation Serif"/>
              </a:rPr>
              <a:t>Gᵁ²ᴵ*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305288" y="1874519"/>
            <a:ext cx="7955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>
                <a:solidFill>
                  <a:srgbClr val="5A9136"/>
                </a:solidFill>
                <a:latin typeface="Liberation Serif"/>
              </a:rPr>
              <a:t>Gᴵ²ᵁ*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8897112" y="4450201"/>
            <a:ext cx="0" cy="92538"/>
          </a:xfrm>
          <a:prstGeom prst="line">
            <a:avLst/>
          </a:prstGeom>
          <a:ln w="25237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8863462" y="4399727"/>
            <a:ext cx="67299" cy="67299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728862" y="4534326"/>
            <a:ext cx="336499" cy="201899"/>
          </a:xfrm>
          <a:prstGeom prst="roundRect">
            <a:avLst>
              <a:gd name="adj" fmla="val 16666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804574" y="4593214"/>
            <a:ext cx="42062" cy="4206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947586" y="4593214"/>
            <a:ext cx="42062" cy="4206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8695212" y="4769876"/>
            <a:ext cx="403799" cy="286024"/>
          </a:xfrm>
          <a:prstGeom prst="roundRect">
            <a:avLst>
              <a:gd name="adj" fmla="val 14705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8779337" y="4837176"/>
            <a:ext cx="235549" cy="10936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8796162" y="4896063"/>
            <a:ext cx="42062" cy="0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8838224" y="4854000"/>
            <a:ext cx="25238" cy="42063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863462" y="4854000"/>
            <a:ext cx="33650" cy="75713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8897112" y="4870825"/>
            <a:ext cx="33649" cy="58888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930761" y="4870825"/>
            <a:ext cx="25238" cy="25238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955999" y="4896063"/>
            <a:ext cx="42062" cy="0"/>
          </a:xfrm>
          <a:prstGeom prst="line">
            <a:avLst/>
          </a:prstGeom>
          <a:ln w="1261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8611087" y="4837176"/>
            <a:ext cx="84125" cy="420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611087" y="4769876"/>
            <a:ext cx="0" cy="1093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8577437" y="4727813"/>
            <a:ext cx="58887" cy="58887"/>
          </a:xfrm>
          <a:prstGeom prst="ellipse">
            <a:avLst/>
          </a:prstGeom>
          <a:solidFill>
            <a:srgbClr val="FFFFFF"/>
          </a:solidFill>
          <a:ln w="25237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9099011" y="4837176"/>
            <a:ext cx="75712" cy="42062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174723" y="4786701"/>
            <a:ext cx="0" cy="92537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9149486" y="4744638"/>
            <a:ext cx="58887" cy="58887"/>
          </a:xfrm>
          <a:prstGeom prst="ellipse">
            <a:avLst/>
          </a:prstGeom>
          <a:solidFill>
            <a:srgbClr val="FFFFFF"/>
          </a:solidFill>
          <a:ln w="25237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H="1">
            <a:off x="8754099" y="5055900"/>
            <a:ext cx="42063" cy="67300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998061" y="5055900"/>
            <a:ext cx="42063" cy="67300"/>
          </a:xfrm>
          <a:prstGeom prst="line">
            <a:avLst/>
          </a:prstGeom>
          <a:ln w="33649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8686800" y="5097962"/>
            <a:ext cx="159837" cy="58887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947586" y="5097962"/>
            <a:ext cx="159837" cy="58887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476488" y="5165262"/>
            <a:ext cx="841248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8" b="1" i="0">
                <a:solidFill>
                  <a:srgbClr val="080808"/>
                </a:solidFill>
                <a:latin typeface="Liberation Serif"/>
              </a:rPr>
              <a:t>LLM</a:t>
            </a:r>
          </a:p>
        </p:txBody>
      </p:sp>
      <p:cxnSp>
        <p:nvCxnSpPr>
          <p:cNvPr id="196" name="Connector 195"/>
          <p:cNvCxnSpPr/>
          <p:nvPr/>
        </p:nvCxnSpPr>
        <p:spPr>
          <a:xfrm flipV="1">
            <a:off x="8906256" y="3840480"/>
            <a:ext cx="0" cy="429768"/>
          </a:xfrm>
          <a:prstGeom prst="line">
            <a:avLst/>
          </a:prstGeom>
          <a:ln w="27432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Isosceles Triangle 196"/>
          <p:cNvSpPr/>
          <p:nvPr/>
        </p:nvSpPr>
        <p:spPr>
          <a:xfrm>
            <a:off x="8860993" y="3840480"/>
            <a:ext cx="90525" cy="82296"/>
          </a:xfrm>
          <a:prstGeom prst="triangl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6848856" y="5980176"/>
            <a:ext cx="2093976" cy="676656"/>
          </a:xfrm>
          <a:prstGeom prst="roundRect">
            <a:avLst>
              <a:gd name="adj" fmla="val 17567"/>
            </a:avLst>
          </a:prstGeom>
          <a:solidFill>
            <a:srgbClr val="E5F0D9"/>
          </a:solidFill>
          <a:ln w="36576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967728" y="6025896"/>
            <a:ext cx="1847088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I2U Logic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Prompt X꜀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9006840" y="5980176"/>
            <a:ext cx="2002536" cy="676656"/>
          </a:xfrm>
          <a:prstGeom prst="roundRect">
            <a:avLst>
              <a:gd name="adj" fmla="val 17567"/>
            </a:avLst>
          </a:prstGeom>
          <a:solidFill>
            <a:srgbClr val="FAE7DC"/>
          </a:solidFill>
          <a:ln w="36576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125712" y="6025896"/>
            <a:ext cx="1764792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U2I Logic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808"/>
                </a:solidFill>
                <a:latin typeface="Liberation Serif"/>
              </a:rPr>
              <a:t>Prompt Xₜ</a:t>
            </a:r>
          </a:p>
        </p:txBody>
      </p:sp>
      <p:cxnSp>
        <p:nvCxnSpPr>
          <p:cNvPr id="202" name="Connector 201"/>
          <p:cNvCxnSpPr/>
          <p:nvPr/>
        </p:nvCxnSpPr>
        <p:spPr>
          <a:xfrm flipV="1">
            <a:off x="7891272" y="4663440"/>
            <a:ext cx="0" cy="1316736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91272" y="4663440"/>
            <a:ext cx="457200" cy="0"/>
          </a:xfrm>
          <a:prstGeom prst="line">
            <a:avLst/>
          </a:prstGeom>
          <a:ln w="27432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Isosceles Triangle 203"/>
          <p:cNvSpPr/>
          <p:nvPr/>
        </p:nvSpPr>
        <p:spPr>
          <a:xfrm rot="5400000">
            <a:off x="8266175" y="4618177"/>
            <a:ext cx="82296" cy="90525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V="1">
            <a:off x="9957816" y="4663440"/>
            <a:ext cx="0" cy="1316736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>
            <a:off x="9427464" y="4663440"/>
            <a:ext cx="530352" cy="0"/>
          </a:xfrm>
          <a:prstGeom prst="line">
            <a:avLst/>
          </a:prstGeom>
          <a:ln w="27432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Isosceles Triangle 206"/>
          <p:cNvSpPr/>
          <p:nvPr/>
        </p:nvSpPr>
        <p:spPr>
          <a:xfrm rot="16200000">
            <a:off x="9427464" y="4618177"/>
            <a:ext cx="82296" cy="90525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11146536" y="2039112"/>
            <a:ext cx="393192" cy="0"/>
          </a:xfrm>
          <a:prstGeom prst="line">
            <a:avLst/>
          </a:prstGeom>
          <a:ln w="36576">
            <a:solidFill>
              <a:srgbClr val="8BB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1539728" y="2039112"/>
            <a:ext cx="0" cy="2907792"/>
          </a:xfrm>
          <a:prstGeom prst="line">
            <a:avLst/>
          </a:prstGeom>
          <a:ln w="36576">
            <a:solidFill>
              <a:srgbClr val="8BB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1539728" y="4946904"/>
            <a:ext cx="429768" cy="0"/>
          </a:xfrm>
          <a:prstGeom prst="line">
            <a:avLst/>
          </a:prstGeom>
          <a:ln w="36576">
            <a:solidFill>
              <a:srgbClr val="8BB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 rot="5400000">
            <a:off x="11878056" y="4896612"/>
            <a:ext cx="91440" cy="100584"/>
          </a:xfrm>
          <a:prstGeom prst="triangle">
            <a:avLst/>
          </a:prstGeom>
          <a:solidFill>
            <a:srgbClr val="8B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2271248" y="1517904"/>
            <a:ext cx="182880" cy="182880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2143232" y="1682496"/>
            <a:ext cx="448056" cy="274320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2143232" y="1810512"/>
            <a:ext cx="448056" cy="146304"/>
          </a:xfrm>
          <a:prstGeom prst="rect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042648" y="1984248"/>
            <a:ext cx="676656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80808"/>
                </a:solidFill>
                <a:latin typeface="Liberation Serif"/>
              </a:rPr>
              <a:t>user</a:t>
            </a:r>
          </a:p>
        </p:txBody>
      </p:sp>
      <p:cxnSp>
        <p:nvCxnSpPr>
          <p:cNvPr id="216" name="Connector 215"/>
          <p:cNvCxnSpPr/>
          <p:nvPr/>
        </p:nvCxnSpPr>
        <p:spPr>
          <a:xfrm flipH="1">
            <a:off x="12810744" y="859536"/>
            <a:ext cx="73152" cy="0"/>
          </a:xfrm>
          <a:prstGeom prst="line">
            <a:avLst/>
          </a:prstGeom>
          <a:ln w="36576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2810744" y="859536"/>
            <a:ext cx="0" cy="1901952"/>
          </a:xfrm>
          <a:prstGeom prst="line">
            <a:avLst/>
          </a:prstGeom>
          <a:ln w="36576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2810744" y="2761488"/>
            <a:ext cx="73152" cy="0"/>
          </a:xfrm>
          <a:prstGeom prst="line">
            <a:avLst/>
          </a:prstGeom>
          <a:ln w="36576">
            <a:solidFill>
              <a:srgbClr val="565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218"/>
          <p:cNvSpPr/>
          <p:nvPr/>
        </p:nvSpPr>
        <p:spPr>
          <a:xfrm>
            <a:off x="13222224" y="722376"/>
            <a:ext cx="402336" cy="283464"/>
          </a:xfrm>
          <a:prstGeom prst="roundRect">
            <a:avLst>
              <a:gd name="adj" fmla="val 9677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3286232" y="676656"/>
            <a:ext cx="128016" cy="73152"/>
          </a:xfrm>
          <a:prstGeom prst="roundRect">
            <a:avLst>
              <a:gd name="adj" fmla="val 12500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3331952" y="758952"/>
            <a:ext cx="201168" cy="20116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3368528" y="795528"/>
            <a:ext cx="128016" cy="128016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3185648" y="777240"/>
            <a:ext cx="73152" cy="73152"/>
          </a:xfrm>
          <a:prstGeom prst="rect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3240512" y="1069848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80808"/>
                </a:solidFill>
                <a:latin typeface="Liberation Serif"/>
              </a:rPr>
              <a:t>i₁</a:t>
            </a:r>
          </a:p>
        </p:txBody>
      </p:sp>
      <p:sp>
        <p:nvSpPr>
          <p:cNvPr id="225" name="Oval 224"/>
          <p:cNvSpPr/>
          <p:nvPr/>
        </p:nvSpPr>
        <p:spPr>
          <a:xfrm>
            <a:off x="13176504" y="1371600"/>
            <a:ext cx="201168" cy="201168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3341096" y="1380744"/>
            <a:ext cx="182880" cy="182880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3249656" y="1444752"/>
            <a:ext cx="54864" cy="54864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3405104" y="1444752"/>
            <a:ext cx="54864" cy="54864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13222224" y="1545336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 flipH="1">
            <a:off x="13295376" y="1773936"/>
            <a:ext cx="64008" cy="91440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3395960" y="1773936"/>
            <a:ext cx="73152" cy="91440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13240512" y="1847088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80808"/>
                </a:solidFill>
                <a:latin typeface="Liberation Serif"/>
              </a:rPr>
              <a:t>i₂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304520" y="2084831"/>
            <a:ext cx="43891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80808"/>
                </a:solidFill>
                <a:latin typeface="Liberation Serif"/>
              </a:rPr>
              <a:t>⋯</a:t>
            </a:r>
          </a:p>
        </p:txBody>
      </p:sp>
      <p:sp>
        <p:nvSpPr>
          <p:cNvPr id="234" name="Oval 233"/>
          <p:cNvSpPr/>
          <p:nvPr/>
        </p:nvSpPr>
        <p:spPr>
          <a:xfrm>
            <a:off x="13158216" y="2525572"/>
            <a:ext cx="477316" cy="279806"/>
          </a:xfrm>
          <a:prstGeom prst="ellipse">
            <a:avLst/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13232282" y="2509113"/>
            <a:ext cx="329184" cy="189280"/>
          </a:xfrm>
          <a:prstGeom prst="roundRect">
            <a:avLst>
              <a:gd name="adj" fmla="val 34782"/>
            </a:avLst>
          </a:prstGeom>
          <a:solidFill>
            <a:srgbClr val="080808"/>
          </a:solidFill>
          <a:ln w="9144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3256971" y="2607868"/>
            <a:ext cx="115214" cy="32918"/>
          </a:xfrm>
          <a:prstGeom prst="rect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3298119" y="2566720"/>
            <a:ext cx="32918" cy="115214"/>
          </a:xfrm>
          <a:prstGeom prst="rect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470940" y="2591409"/>
            <a:ext cx="41148" cy="4114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3528548" y="2640787"/>
            <a:ext cx="41148" cy="4114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3240512" y="2852928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80808"/>
                </a:solidFill>
                <a:latin typeface="Liberation Serif"/>
              </a:rPr>
              <a:t>iₙ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4026896" y="512064"/>
            <a:ext cx="2642616" cy="365760"/>
          </a:xfrm>
          <a:prstGeom prst="roundRect">
            <a:avLst>
              <a:gd name="adj" fmla="val 22500"/>
            </a:avLst>
          </a:prstGeom>
          <a:solidFill>
            <a:srgbClr val="FFF2EC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4081760" y="521207"/>
            <a:ext cx="252374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D55A1D"/>
                </a:solidFill>
                <a:latin typeface="Liberation Serif"/>
              </a:rPr>
              <a:t>T₁ = {t₁,₁, ..., t₁,k}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13935456" y="813816"/>
            <a:ext cx="2670048" cy="365760"/>
          </a:xfrm>
          <a:prstGeom prst="roundRect">
            <a:avLst>
              <a:gd name="adj" fmla="val 22500"/>
            </a:avLst>
          </a:prstGeom>
          <a:solidFill>
            <a:srgbClr val="E0EBD5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990320" y="822960"/>
            <a:ext cx="25511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3F6C24"/>
                </a:solidFill>
                <a:latin typeface="Liberation Serif"/>
              </a:rPr>
              <a:t>C₁ = {c₁,₁, ..., c₁,l}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4026896" y="1289304"/>
            <a:ext cx="2642616" cy="365760"/>
          </a:xfrm>
          <a:prstGeom prst="roundRect">
            <a:avLst>
              <a:gd name="adj" fmla="val 22500"/>
            </a:avLst>
          </a:prstGeom>
          <a:solidFill>
            <a:srgbClr val="FFF2EC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4081760" y="1298448"/>
            <a:ext cx="252374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D55A1D"/>
                </a:solidFill>
                <a:latin typeface="Liberation Serif"/>
              </a:rPr>
              <a:t>T₂ = {t₂,₁, ..., t₂,k}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3935456" y="1591056"/>
            <a:ext cx="2670048" cy="365760"/>
          </a:xfrm>
          <a:prstGeom prst="roundRect">
            <a:avLst>
              <a:gd name="adj" fmla="val 22500"/>
            </a:avLst>
          </a:prstGeom>
          <a:solidFill>
            <a:srgbClr val="E0EBD5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3990320" y="1600200"/>
            <a:ext cx="25511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3F6C24"/>
                </a:solidFill>
                <a:latin typeface="Liberation Serif"/>
              </a:rPr>
              <a:t>C₂ = {c₂,₁, ..., c₂,l}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14026896" y="2432304"/>
            <a:ext cx="2642616" cy="365760"/>
          </a:xfrm>
          <a:prstGeom prst="roundRect">
            <a:avLst>
              <a:gd name="adj" fmla="val 22500"/>
            </a:avLst>
          </a:prstGeom>
          <a:solidFill>
            <a:srgbClr val="FFF2EC"/>
          </a:solidFill>
          <a:ln w="18288">
            <a:solidFill>
              <a:srgbClr val="D3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4081760" y="2441448"/>
            <a:ext cx="252374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D55A1D"/>
                </a:solidFill>
                <a:latin typeface="Liberation Serif"/>
              </a:rPr>
              <a:t>Tn = {tn,₁, ..., tn,k}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13935456" y="2734056"/>
            <a:ext cx="2670048" cy="365760"/>
          </a:xfrm>
          <a:prstGeom prst="roundRect">
            <a:avLst>
              <a:gd name="adj" fmla="val 22500"/>
            </a:avLst>
          </a:prstGeom>
          <a:solidFill>
            <a:srgbClr val="E0EBD5"/>
          </a:solidFill>
          <a:ln w="18288">
            <a:solidFill>
              <a:srgbClr val="5A91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3990320" y="2743200"/>
            <a:ext cx="25511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3F6C24"/>
                </a:solidFill>
                <a:latin typeface="Liberation Serif"/>
              </a:rPr>
              <a:t>Cn = {cn,₁, ..., cn,l}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5133320" y="1993392"/>
            <a:ext cx="4114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80808"/>
                </a:solidFill>
                <a:latin typeface="Liberation Serif"/>
              </a:rPr>
              <a:t>⋯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447520" y="3383280"/>
            <a:ext cx="1636776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80808"/>
                </a:solidFill>
                <a:latin typeface="Liberation Serif"/>
              </a:rPr>
              <a:t>Input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15270480" y="3300984"/>
            <a:ext cx="0" cy="649224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Isosceles Triangle 255"/>
          <p:cNvSpPr/>
          <p:nvPr/>
        </p:nvSpPr>
        <p:spPr>
          <a:xfrm rot="10800000">
            <a:off x="15225217" y="3867912"/>
            <a:ext cx="90525" cy="82296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2042648" y="3941063"/>
            <a:ext cx="12252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80808"/>
                </a:solidFill>
                <a:latin typeface="Liberation Serif"/>
              </a:rPr>
              <a:t>Logic Graph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1969496" y="4178808"/>
            <a:ext cx="1271016" cy="1554480"/>
          </a:xfrm>
          <a:prstGeom prst="roundRect">
            <a:avLst>
              <a:gd name="adj" fmla="val 18705"/>
            </a:avLst>
          </a:prstGeom>
          <a:solidFill>
            <a:srgbClr val="E9EFF2"/>
          </a:solidFill>
          <a:ln w="27432">
            <a:solidFill>
              <a:srgbClr val="56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12252960" y="4462272"/>
            <a:ext cx="704088" cy="0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Isosceles Triangle 259"/>
          <p:cNvSpPr/>
          <p:nvPr/>
        </p:nvSpPr>
        <p:spPr>
          <a:xfrm rot="5400000">
            <a:off x="12902184" y="4432096"/>
            <a:ext cx="54864" cy="60350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12252960" y="4462272"/>
            <a:ext cx="704088" cy="374904"/>
          </a:xfrm>
          <a:prstGeom prst="line">
            <a:avLst/>
          </a:prstGeom>
          <a:ln w="18288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Isosceles Triangle 261"/>
          <p:cNvSpPr/>
          <p:nvPr/>
        </p:nvSpPr>
        <p:spPr>
          <a:xfrm rot="7082031">
            <a:off x="12894439" y="4784755"/>
            <a:ext cx="62608" cy="53269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12252960" y="4462272"/>
            <a:ext cx="704088" cy="749808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Isosceles Triangle 263"/>
          <p:cNvSpPr/>
          <p:nvPr/>
        </p:nvSpPr>
        <p:spPr>
          <a:xfrm rot="8208070">
            <a:off x="12897494" y="5151429"/>
            <a:ext cx="59553" cy="60650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12252960" y="4462272"/>
            <a:ext cx="704088" cy="374904"/>
          </a:xfrm>
          <a:prstGeom prst="line">
            <a:avLst/>
          </a:prstGeom>
          <a:ln w="18288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Isosceles Triangle 265"/>
          <p:cNvSpPr/>
          <p:nvPr/>
        </p:nvSpPr>
        <p:spPr>
          <a:xfrm rot="3717969">
            <a:off x="12894439" y="4461422"/>
            <a:ext cx="62608" cy="53269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2252960" y="4837176"/>
            <a:ext cx="704088" cy="0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Isosceles Triangle 267"/>
          <p:cNvSpPr/>
          <p:nvPr/>
        </p:nvSpPr>
        <p:spPr>
          <a:xfrm rot="5400000">
            <a:off x="12902184" y="4807000"/>
            <a:ext cx="54864" cy="60350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Connector 268"/>
          <p:cNvCxnSpPr/>
          <p:nvPr/>
        </p:nvCxnSpPr>
        <p:spPr>
          <a:xfrm>
            <a:off x="12252960" y="4837176"/>
            <a:ext cx="704088" cy="374904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Isosceles Triangle 269"/>
          <p:cNvSpPr/>
          <p:nvPr/>
        </p:nvSpPr>
        <p:spPr>
          <a:xfrm rot="7082031">
            <a:off x="12894439" y="5159659"/>
            <a:ext cx="62608" cy="53269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2252960" y="4462272"/>
            <a:ext cx="704088" cy="749808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Isosceles Triangle 271"/>
          <p:cNvSpPr/>
          <p:nvPr/>
        </p:nvSpPr>
        <p:spPr>
          <a:xfrm rot="2591930">
            <a:off x="12897494" y="4462272"/>
            <a:ext cx="59553" cy="60650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 flipV="1">
            <a:off x="12252960" y="4837176"/>
            <a:ext cx="704088" cy="374904"/>
          </a:xfrm>
          <a:prstGeom prst="line">
            <a:avLst/>
          </a:prstGeom>
          <a:ln w="18288">
            <a:solidFill>
              <a:srgbClr val="F4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Isosceles Triangle 273"/>
          <p:cNvSpPr/>
          <p:nvPr/>
        </p:nvSpPr>
        <p:spPr>
          <a:xfrm rot="3717969">
            <a:off x="12894439" y="4836326"/>
            <a:ext cx="62608" cy="53269"/>
          </a:xfrm>
          <a:prstGeom prst="triangle">
            <a:avLst/>
          </a:prstGeom>
          <a:solidFill>
            <a:srgbClr val="F4A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2252960" y="5212080"/>
            <a:ext cx="704088" cy="0"/>
          </a:xfrm>
          <a:prstGeom prst="line">
            <a:avLst/>
          </a:prstGeom>
          <a:ln w="18288">
            <a:solidFill>
              <a:srgbClr val="A8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Isosceles Triangle 275"/>
          <p:cNvSpPr/>
          <p:nvPr/>
        </p:nvSpPr>
        <p:spPr>
          <a:xfrm rot="5400000">
            <a:off x="12902184" y="5181904"/>
            <a:ext cx="54864" cy="60350"/>
          </a:xfrm>
          <a:prstGeom prst="triangle">
            <a:avLst/>
          </a:prstGeom>
          <a:solidFill>
            <a:srgbClr val="A8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2124944" y="4334256"/>
            <a:ext cx="256032" cy="256032"/>
          </a:xfrm>
          <a:prstGeom prst="ellipse">
            <a:avLst/>
          </a:prstGeom>
          <a:solidFill>
            <a:srgbClr val="F5D7C7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2124944" y="4709160"/>
            <a:ext cx="256032" cy="256032"/>
          </a:xfrm>
          <a:prstGeom prst="ellipse">
            <a:avLst/>
          </a:prstGeom>
          <a:solidFill>
            <a:srgbClr val="F5D7C7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2124944" y="5084064"/>
            <a:ext cx="256032" cy="256032"/>
          </a:xfrm>
          <a:prstGeom prst="ellipse">
            <a:avLst/>
          </a:prstGeom>
          <a:solidFill>
            <a:srgbClr val="F5D7C7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2829032" y="4334256"/>
            <a:ext cx="256032" cy="256032"/>
          </a:xfrm>
          <a:prstGeom prst="ellipse">
            <a:avLst/>
          </a:prstGeom>
          <a:solidFill>
            <a:srgbClr val="D8E7CC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2829032" y="4709160"/>
            <a:ext cx="256032" cy="256032"/>
          </a:xfrm>
          <a:prstGeom prst="ellipse">
            <a:avLst/>
          </a:prstGeom>
          <a:solidFill>
            <a:srgbClr val="D8E7CC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2829032" y="5084064"/>
            <a:ext cx="256032" cy="256032"/>
          </a:xfrm>
          <a:prstGeom prst="ellipse">
            <a:avLst/>
          </a:prstGeom>
          <a:solidFill>
            <a:srgbClr val="D8E7CC"/>
          </a:solidFill>
          <a:ln w="18288">
            <a:solidFill>
              <a:srgbClr val="305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2042648" y="5449824"/>
            <a:ext cx="4846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80808"/>
                </a:solidFill>
                <a:latin typeface="Liberation Serif"/>
              </a:rPr>
              <a:t>C*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2737592" y="5449824"/>
            <a:ext cx="4846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80808"/>
                </a:solidFill>
                <a:latin typeface="Liberation Serif"/>
              </a:rPr>
              <a:t>T*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3222224" y="4215384"/>
            <a:ext cx="65836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5A9136"/>
                </a:solidFill>
                <a:latin typeface="Liberation Serif"/>
              </a:rPr>
              <a:t>Gᴵ²ᵁ*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3222224" y="4919472"/>
            <a:ext cx="65836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DC5A16"/>
                </a:solidFill>
                <a:latin typeface="Liberation Serif"/>
              </a:rPr>
              <a:t>Gᵁ²ᴵ*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13240512" y="4471416"/>
            <a:ext cx="603504" cy="0"/>
          </a:xfrm>
          <a:prstGeom prst="line">
            <a:avLst/>
          </a:prstGeom>
          <a:ln w="27432">
            <a:solidFill>
              <a:srgbClr val="5A91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Isosceles Triangle 287"/>
          <p:cNvSpPr/>
          <p:nvPr/>
        </p:nvSpPr>
        <p:spPr>
          <a:xfrm rot="5400000">
            <a:off x="13770864" y="4431182"/>
            <a:ext cx="73152" cy="80467"/>
          </a:xfrm>
          <a:prstGeom prst="triangle">
            <a:avLst/>
          </a:prstGeom>
          <a:solidFill>
            <a:srgbClr val="5A9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>
            <a:off x="13240512" y="5193792"/>
            <a:ext cx="603504" cy="0"/>
          </a:xfrm>
          <a:prstGeom prst="line">
            <a:avLst/>
          </a:prstGeom>
          <a:ln w="27432">
            <a:solidFill>
              <a:srgbClr val="DC5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Isosceles Triangle 289"/>
          <p:cNvSpPr/>
          <p:nvPr/>
        </p:nvSpPr>
        <p:spPr>
          <a:xfrm rot="5400000">
            <a:off x="13770864" y="5153558"/>
            <a:ext cx="73152" cy="80467"/>
          </a:xfrm>
          <a:prstGeom prst="triangle">
            <a:avLst/>
          </a:prstGeom>
          <a:solidFill>
            <a:srgbClr val="DC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3871448" y="3959352"/>
            <a:ext cx="2724912" cy="1655064"/>
          </a:xfrm>
          <a:prstGeom prst="rect">
            <a:avLst/>
          </a:prstGeom>
          <a:solidFill>
            <a:srgbClr val="FFFFFF"/>
          </a:solidFill>
          <a:ln w="36576">
            <a:solidFill>
              <a:srgbClr val="56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3962888" y="4251960"/>
            <a:ext cx="65836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80808"/>
                </a:solidFill>
                <a:latin typeface="Liberation Serif"/>
              </a:rPr>
              <a:t>RecSys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4118336" y="4809744"/>
            <a:ext cx="237744" cy="100584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4118336" y="4809744"/>
            <a:ext cx="237744" cy="320040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4118336" y="4910328"/>
            <a:ext cx="237744" cy="109728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4118336" y="5020056"/>
            <a:ext cx="237744" cy="109728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4118336" y="4910328"/>
            <a:ext cx="237744" cy="320040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4118336" y="5129784"/>
            <a:ext cx="237744" cy="100584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4356080" y="4809744"/>
            <a:ext cx="219456" cy="100584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4356080" y="4910328"/>
            <a:ext cx="219456" cy="109728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4356080" y="4910328"/>
            <a:ext cx="219456" cy="320040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4356080" y="4809744"/>
            <a:ext cx="219456" cy="320040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4356080" y="5020056"/>
            <a:ext cx="219456" cy="109728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4356080" y="5129784"/>
            <a:ext cx="219456" cy="100584"/>
          </a:xfrm>
          <a:prstGeom prst="line">
            <a:avLst/>
          </a:prstGeom>
          <a:ln w="18288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Oval 304"/>
          <p:cNvSpPr/>
          <p:nvPr/>
        </p:nvSpPr>
        <p:spPr>
          <a:xfrm>
            <a:off x="14081760" y="4773168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4081760" y="4983480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4081760" y="5193792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4319504" y="4873752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4319504" y="5093208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4538960" y="4773168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4538960" y="4983480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4538960" y="5193792"/>
            <a:ext cx="73152" cy="7315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14630400" y="4187952"/>
            <a:ext cx="1892807" cy="640080"/>
          </a:xfrm>
          <a:prstGeom prst="roundRect">
            <a:avLst>
              <a:gd name="adj" fmla="val 18571"/>
            </a:avLst>
          </a:prstGeom>
          <a:solidFill>
            <a:srgbClr val="D8F4F1"/>
          </a:solidFill>
          <a:ln w="18288">
            <a:solidFill>
              <a:srgbClr val="B6D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4721840" y="4251960"/>
            <a:ext cx="1719072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080808"/>
                </a:solidFill>
                <a:latin typeface="Liberation Serif"/>
              </a:rPr>
              <a:t>Tag-based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080808"/>
                </a:solidFill>
                <a:latin typeface="Liberation Serif"/>
              </a:rPr>
              <a:t>Item/User Encoder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14612112" y="4873752"/>
            <a:ext cx="1920240" cy="612648"/>
          </a:xfrm>
          <a:prstGeom prst="roundRect">
            <a:avLst>
              <a:gd name="adj" fmla="val 19402"/>
            </a:avLst>
          </a:prstGeom>
          <a:solidFill>
            <a:srgbClr val="FFF5D8"/>
          </a:solidFill>
          <a:ln w="18288">
            <a:solidFill>
              <a:srgbClr val="E6D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4721840" y="4946904"/>
            <a:ext cx="1719072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080808"/>
                </a:solidFill>
                <a:latin typeface="Liberation Serif"/>
              </a:rPr>
              <a:t>Tag-logic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080808"/>
                </a:solidFill>
                <a:latin typeface="Liberation Serif"/>
              </a:rPr>
              <a:t>Inference Extension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6632936" y="3593592"/>
            <a:ext cx="612648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080808"/>
                </a:solidFill>
                <a:latin typeface="Liberation Serif"/>
              </a:rPr>
              <a:t>Candidate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080808"/>
                </a:solidFill>
                <a:latin typeface="Liberation Serif"/>
              </a:rPr>
              <a:t>item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6824960" y="4032504"/>
            <a:ext cx="0" cy="429768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Oval 318"/>
          <p:cNvSpPr/>
          <p:nvPr/>
        </p:nvSpPr>
        <p:spPr>
          <a:xfrm>
            <a:off x="16715232" y="4059936"/>
            <a:ext cx="228600" cy="310896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6760951" y="4114800"/>
            <a:ext cx="137160" cy="18288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6934688" y="4059936"/>
            <a:ext cx="292608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080808"/>
                </a:solidFill>
                <a:latin typeface="Liberation Serif"/>
              </a:rPr>
              <a:t>vᵢ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7053560" y="4389120"/>
            <a:ext cx="0" cy="713232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16614648" y="5102352"/>
            <a:ext cx="438912" cy="0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Isosceles Triangle 323"/>
          <p:cNvSpPr/>
          <p:nvPr/>
        </p:nvSpPr>
        <p:spPr>
          <a:xfrm rot="16200000">
            <a:off x="16614648" y="5057089"/>
            <a:ext cx="82296" cy="90525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11978640" y="6144768"/>
            <a:ext cx="3026664" cy="822960"/>
          </a:xfrm>
          <a:prstGeom prst="roundRect">
            <a:avLst>
              <a:gd name="adj" fmla="val 14444"/>
            </a:avLst>
          </a:prstGeom>
          <a:solidFill>
            <a:srgbClr val="CFEAF7"/>
          </a:solidFill>
          <a:ln w="18288">
            <a:solidFill>
              <a:srgbClr val="B9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2079224" y="6245352"/>
            <a:ext cx="282549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1">
                <a:solidFill>
                  <a:srgbClr val="080808"/>
                </a:solidFill>
                <a:latin typeface="Liberation Serif"/>
              </a:rPr>
              <a:t>L = λ(L_ut + L_it) + (1 − λ)L_ui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2079224" y="6592824"/>
            <a:ext cx="28254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080808"/>
                </a:solidFill>
                <a:latin typeface="Liberation Serif"/>
              </a:rPr>
              <a:t>Tag-based Learning Augmentation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19888" y="5779008"/>
            <a:ext cx="129844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080808"/>
                </a:solidFill>
                <a:latin typeface="Liberation Serif"/>
              </a:rPr>
              <a:t>Backpropagation</a:t>
            </a:r>
          </a:p>
        </p:txBody>
      </p:sp>
      <p:cxnSp>
        <p:nvCxnSpPr>
          <p:cNvPr id="329" name="Connector 328"/>
          <p:cNvCxnSpPr/>
          <p:nvPr/>
        </p:nvCxnSpPr>
        <p:spPr>
          <a:xfrm flipV="1">
            <a:off x="14164056" y="5614416"/>
            <a:ext cx="0" cy="530352"/>
          </a:xfrm>
          <a:prstGeom prst="line">
            <a:avLst/>
          </a:prstGeom>
          <a:ln w="27432">
            <a:solidFill>
              <a:srgbClr val="08080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Isosceles Triangle 329"/>
          <p:cNvSpPr/>
          <p:nvPr/>
        </p:nvSpPr>
        <p:spPr>
          <a:xfrm>
            <a:off x="14123822" y="5614416"/>
            <a:ext cx="80467" cy="73152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15307055" y="5614416"/>
            <a:ext cx="0" cy="512064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Isosceles Triangle 331"/>
          <p:cNvSpPr/>
          <p:nvPr/>
        </p:nvSpPr>
        <p:spPr>
          <a:xfrm rot="10800000">
            <a:off x="15266822" y="6053328"/>
            <a:ext cx="80467" cy="73152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16248888" y="5614416"/>
            <a:ext cx="0" cy="512064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Isosceles Triangle 333"/>
          <p:cNvSpPr/>
          <p:nvPr/>
        </p:nvSpPr>
        <p:spPr>
          <a:xfrm rot="10800000">
            <a:off x="16208654" y="6053328"/>
            <a:ext cx="80467" cy="73152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5032736" y="6181344"/>
            <a:ext cx="55778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80808"/>
                </a:solidFill>
                <a:latin typeface="Liberation Serif"/>
              </a:rPr>
              <a:t>ŷraw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5983712" y="6181344"/>
            <a:ext cx="55778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80808"/>
                </a:solidFill>
                <a:latin typeface="Liberation Serif"/>
              </a:rPr>
              <a:t>ŷtag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5334488" y="6519672"/>
            <a:ext cx="402336" cy="256032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Isosceles Triangle 337"/>
          <p:cNvSpPr/>
          <p:nvPr/>
        </p:nvSpPr>
        <p:spPr>
          <a:xfrm rot="7348272">
            <a:off x="15653508" y="6702486"/>
            <a:ext cx="83315" cy="73217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 flipH="1">
            <a:off x="15864840" y="6519672"/>
            <a:ext cx="384048" cy="256032"/>
          </a:xfrm>
          <a:prstGeom prst="line">
            <a:avLst/>
          </a:prstGeom>
          <a:ln w="27432">
            <a:solidFill>
              <a:srgbClr val="080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Isosceles Triangle 339"/>
          <p:cNvSpPr/>
          <p:nvPr/>
        </p:nvSpPr>
        <p:spPr>
          <a:xfrm rot="14178596">
            <a:off x="15864840" y="6701650"/>
            <a:ext cx="83183" cy="74053"/>
          </a:xfrm>
          <a:prstGeom prst="triangle">
            <a:avLst/>
          </a:prstGeom>
          <a:solidFill>
            <a:srgbClr val="08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5617951" y="6757416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80808"/>
                </a:solidFill>
                <a:latin typeface="Liberation Serif"/>
              </a:rPr>
              <a:t>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o You Are Matters Bridging Interests and Social Roles via LLM-Enhanced Logic Recommend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82160" cy="7973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You Are Matters — editable diagram rebuild</dc:title>
  <dc:subject>MLLM tag extraction, collaborative logic reasoning, and tag logic integration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