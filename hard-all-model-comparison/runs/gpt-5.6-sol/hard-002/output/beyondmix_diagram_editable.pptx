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1948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urce domain background"/>
          <p:cNvSpPr/>
          <p:nvPr/>
        </p:nvSpPr>
        <p:spPr>
          <a:xfrm>
            <a:off x="0" y="140357"/>
            <a:ext cx="7706926" cy="1882072"/>
          </a:xfrm>
          <a:prstGeom prst="roundRect">
            <a:avLst/>
          </a:prstGeom>
          <a:solidFill>
            <a:srgbClr val="F9EEE8"/>
          </a:solidFill>
          <a:ln>
            <a:solidFill>
              <a:srgbClr val="F9EE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Mixed domain background"/>
          <p:cNvSpPr/>
          <p:nvPr/>
        </p:nvSpPr>
        <p:spPr>
          <a:xfrm>
            <a:off x="0" y="2022430"/>
            <a:ext cx="7706926" cy="2341425"/>
          </a:xfrm>
          <a:prstGeom prst="rect">
            <a:avLst/>
          </a:prstGeom>
          <a:solidFill>
            <a:srgbClr val="F5FFE8"/>
          </a:solidFill>
          <a:ln>
            <a:solidFill>
              <a:srgbClr val="F5FF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arget domain background"/>
          <p:cNvSpPr/>
          <p:nvPr/>
        </p:nvSpPr>
        <p:spPr>
          <a:xfrm>
            <a:off x="0" y="4357475"/>
            <a:ext cx="7706926" cy="1837412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Main workflow boundary"/>
          <p:cNvSpPr/>
          <p:nvPr/>
        </p:nvSpPr>
        <p:spPr>
          <a:xfrm>
            <a:off x="6379" y="140357"/>
            <a:ext cx="7700546" cy="6054530"/>
          </a:xfrm>
          <a:prstGeom prst="roundRect">
            <a:avLst/>
          </a:prstGeom>
          <a:noFill/>
          <a:ln w="1913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ructural priors boundary"/>
          <p:cNvSpPr/>
          <p:nvPr/>
        </p:nvSpPr>
        <p:spPr>
          <a:xfrm>
            <a:off x="7706926" y="146737"/>
            <a:ext cx="4453174" cy="6048150"/>
          </a:xfrm>
          <a:prstGeom prst="roundRect">
            <a:avLst/>
          </a:prstGeom>
          <a:solidFill>
            <a:srgbClr val="FFFDE5"/>
          </a:solidFill>
          <a:ln w="1913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713305" y="1971390"/>
            <a:ext cx="4440415" cy="0"/>
          </a:xfrm>
          <a:prstGeom prst="line">
            <a:avLst/>
          </a:prstGeom>
          <a:ln w="191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13305" y="4255397"/>
            <a:ext cx="4440415" cy="0"/>
          </a:xfrm>
          <a:prstGeom prst="line">
            <a:avLst/>
          </a:prstGeom>
          <a:ln w="191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ource Domain title"/>
          <p:cNvSpPr txBox="1"/>
          <p:nvPr/>
        </p:nvSpPr>
        <p:spPr>
          <a:xfrm>
            <a:off x="210536" y="185017"/>
            <a:ext cx="1722574" cy="274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7" b="1" i="0">
                <a:solidFill>
                  <a:srgbClr val="000000"/>
                </a:solidFill>
                <a:latin typeface="DejaVu Sans"/>
              </a:rPr>
              <a:t>Sourse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536" y="2060709"/>
            <a:ext cx="1722574" cy="274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7" b="1" i="0">
                <a:solidFill>
                  <a:srgbClr val="000000"/>
                </a:solidFill>
                <a:latin typeface="DejaVu Sans"/>
              </a:rPr>
              <a:t>Mixed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536" y="4382995"/>
            <a:ext cx="1722574" cy="274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00000"/>
                </a:solidFill>
                <a:latin typeface="DejaVu Sans"/>
              </a:rPr>
              <a:t>Target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0078" y="185017"/>
            <a:ext cx="3445149" cy="274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7" b="1" i="0">
                <a:solidFill>
                  <a:srgbClr val="000000"/>
                </a:solidFill>
                <a:latin typeface="DejaVu Sans"/>
              </a:rPr>
              <a:t>Additional Structural Priors</a:t>
            </a:r>
          </a:p>
        </p:txBody>
      </p:sp>
      <p:pic>
        <p:nvPicPr>
          <p:cNvPr id="13" name="Source input" descr="source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57" y="472113"/>
            <a:ext cx="1327020" cy="880426"/>
          </a:xfrm>
          <a:prstGeom prst="rect">
            <a:avLst/>
          </a:prstGeom>
        </p:spPr>
      </p:pic>
      <p:sp>
        <p:nvSpPr>
          <p:cNvPr id="14" name="Source input frame"/>
          <p:cNvSpPr/>
          <p:nvPr/>
        </p:nvSpPr>
        <p:spPr>
          <a:xfrm>
            <a:off x="153117" y="452973"/>
            <a:ext cx="1365299" cy="918706"/>
          </a:xfrm>
          <a:prstGeom prst="rect">
            <a:avLst/>
          </a:prstGeom>
          <a:noFill/>
          <a:ln w="1275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tudent encoder"/>
          <p:cNvSpPr/>
          <p:nvPr/>
        </p:nvSpPr>
        <p:spPr>
          <a:xfrm>
            <a:off x="1837412" y="459353"/>
            <a:ext cx="523153" cy="905946"/>
          </a:xfrm>
          <a:custGeom>
            <a:avLst/>
            <a:gdLst/>
            <a:ahLst/>
            <a:cxnLst/>
            <a:rect l="l" t="t" r="r" b="b"/>
            <a:pathLst>
              <a:path w="523153" h="905946">
                <a:moveTo>
                  <a:pt x="0" y="0"/>
                </a:moveTo>
                <a:lnTo>
                  <a:pt x="523153" y="127598"/>
                </a:lnTo>
                <a:lnTo>
                  <a:pt x="523153" y="752829"/>
                </a:lnTo>
                <a:lnTo>
                  <a:pt x="0" y="905946"/>
                </a:lnTo>
                <a:close/>
              </a:path>
            </a:pathLst>
          </a:custGeom>
          <a:solidFill>
            <a:srgbClr val="FDE1C5"/>
          </a:solidFill>
          <a:ln w="31899">
            <a:solidFill>
              <a:srgbClr val="D45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3792" y="733689"/>
            <a:ext cx="510392" cy="3636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8" i="1">
                <a:solidFill>
                  <a:srgbClr val="000000"/>
                </a:solidFill>
                <a:latin typeface="DejaVu Math TeX Gyre"/>
              </a:rPr>
              <a:t>ℰ</a:t>
            </a:r>
            <a:r>
              <a:rPr sz="1208" i="1" baseline="-25000">
                <a:solidFill>
                  <a:srgbClr val="000000"/>
                </a:solidFill>
                <a:latin typeface="DejaVu Math TeX Gyre"/>
              </a:rPr>
              <a:t>stu</a:t>
            </a:r>
          </a:p>
        </p:txBody>
      </p:sp>
      <p:sp>
        <p:nvSpPr>
          <p:cNvPr id="17" name="Feature slice 1"/>
          <p:cNvSpPr/>
          <p:nvPr/>
        </p:nvSpPr>
        <p:spPr>
          <a:xfrm>
            <a:off x="2596621" y="606091"/>
            <a:ext cx="153117" cy="153117"/>
          </a:xfrm>
          <a:prstGeom prst="rect">
            <a:avLst/>
          </a:prstGeom>
          <a:solidFill>
            <a:srgbClr val="FFF4D6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eature slice 2"/>
          <p:cNvSpPr/>
          <p:nvPr/>
        </p:nvSpPr>
        <p:spPr>
          <a:xfrm>
            <a:off x="2596621" y="829387"/>
            <a:ext cx="153117" cy="153117"/>
          </a:xfrm>
          <a:prstGeom prst="rect">
            <a:avLst/>
          </a:prstGeom>
          <a:solidFill>
            <a:srgbClr val="EFF5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eature slice 3"/>
          <p:cNvSpPr/>
          <p:nvPr/>
        </p:nvSpPr>
        <p:spPr>
          <a:xfrm>
            <a:off x="2596621" y="1052684"/>
            <a:ext cx="153117" cy="153117"/>
          </a:xfrm>
          <a:prstGeom prst="rect">
            <a:avLst/>
          </a:prstGeom>
          <a:solidFill>
            <a:srgbClr val="F8E8CA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tudent decoder"/>
          <p:cNvSpPr/>
          <p:nvPr/>
        </p:nvSpPr>
        <p:spPr>
          <a:xfrm>
            <a:off x="2973036" y="459353"/>
            <a:ext cx="535912" cy="905946"/>
          </a:xfrm>
          <a:custGeom>
            <a:avLst/>
            <a:gdLst/>
            <a:ahLst/>
            <a:cxnLst/>
            <a:rect l="l" t="t" r="r" b="b"/>
            <a:pathLst>
              <a:path w="535912" h="905946">
                <a:moveTo>
                  <a:pt x="0" y="127598"/>
                </a:moveTo>
                <a:lnTo>
                  <a:pt x="535912" y="0"/>
                </a:lnTo>
                <a:lnTo>
                  <a:pt x="535912" y="905946"/>
                </a:lnTo>
                <a:lnTo>
                  <a:pt x="0" y="752829"/>
                </a:lnTo>
                <a:close/>
              </a:path>
            </a:pathLst>
          </a:custGeom>
          <a:solidFill>
            <a:srgbClr val="FDE1C5"/>
          </a:solidFill>
          <a:ln w="31899">
            <a:solidFill>
              <a:srgbClr val="D45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85795" y="733689"/>
            <a:ext cx="510392" cy="3636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8" i="1">
                <a:solidFill>
                  <a:srgbClr val="000000"/>
                </a:solidFill>
                <a:latin typeface="DejaVu Math TeX Gyre"/>
              </a:rPr>
              <a:t>𝒟</a:t>
            </a:r>
            <a:r>
              <a:rPr sz="1175" i="1" baseline="-25000">
                <a:solidFill>
                  <a:srgbClr val="000000"/>
                </a:solidFill>
                <a:latin typeface="DejaVu Math TeX Gyre"/>
              </a:rPr>
              <a:t>stu</a:t>
            </a:r>
          </a:p>
        </p:txBody>
      </p:sp>
      <p:pic>
        <p:nvPicPr>
          <p:cNvPr id="22" name="Source prediction" descr="source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681" y="472113"/>
            <a:ext cx="1339780" cy="880426"/>
          </a:xfrm>
          <a:prstGeom prst="rect">
            <a:avLst/>
          </a:prstGeom>
        </p:spPr>
      </p:pic>
      <p:sp>
        <p:nvSpPr>
          <p:cNvPr id="23" name="Source prediction frame"/>
          <p:cNvSpPr/>
          <p:nvPr/>
        </p:nvSpPr>
        <p:spPr>
          <a:xfrm>
            <a:off x="3955541" y="452973"/>
            <a:ext cx="1378059" cy="918706"/>
          </a:xfrm>
          <a:prstGeom prst="rect">
            <a:avLst/>
          </a:prstGeom>
          <a:noFill/>
          <a:ln w="1275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Source label" descr="source_lab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569" y="472113"/>
            <a:ext cx="1339780" cy="880426"/>
          </a:xfrm>
          <a:prstGeom prst="rect">
            <a:avLst/>
          </a:prstGeom>
        </p:spPr>
      </p:pic>
      <p:sp>
        <p:nvSpPr>
          <p:cNvPr id="25" name="Source label frame"/>
          <p:cNvSpPr/>
          <p:nvPr/>
        </p:nvSpPr>
        <p:spPr>
          <a:xfrm>
            <a:off x="6086429" y="452973"/>
            <a:ext cx="1378059" cy="918706"/>
          </a:xfrm>
          <a:prstGeom prst="rect">
            <a:avLst/>
          </a:prstGeom>
          <a:noFill/>
          <a:ln w="1275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518417" y="905946"/>
            <a:ext cx="318995" cy="0"/>
          </a:xfrm>
          <a:prstGeom prst="line">
            <a:avLst/>
          </a:prstGeom>
          <a:ln w="19139">
            <a:solidFill>
              <a:srgbClr val="CA17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60565" y="905946"/>
            <a:ext cx="236056" cy="0"/>
          </a:xfrm>
          <a:prstGeom prst="line">
            <a:avLst/>
          </a:prstGeom>
          <a:ln w="19139">
            <a:solidFill>
              <a:srgbClr val="CA17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49739" y="905946"/>
            <a:ext cx="223297" cy="0"/>
          </a:xfrm>
          <a:prstGeom prst="line">
            <a:avLst/>
          </a:prstGeom>
          <a:ln w="19139">
            <a:solidFill>
              <a:srgbClr val="CA17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08948" y="905946"/>
            <a:ext cx="401934" cy="0"/>
          </a:xfrm>
          <a:prstGeom prst="line">
            <a:avLst/>
          </a:prstGeom>
          <a:ln w="19139">
            <a:solidFill>
              <a:srgbClr val="CA17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33601" y="905946"/>
            <a:ext cx="752828" cy="0"/>
          </a:xfrm>
          <a:prstGeom prst="line">
            <a:avLst/>
          </a:prstGeom>
          <a:ln w="19139">
            <a:solidFill>
              <a:srgbClr val="CA1732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73959" y="580571"/>
            <a:ext cx="446593" cy="2679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6" i="1">
                <a:solidFill>
                  <a:srgbClr val="000000"/>
                </a:solidFill>
                <a:latin typeface="DejaVu Math TeX Gyre"/>
              </a:rPr>
              <a:t>ℒ</a:t>
            </a:r>
            <a:r>
              <a:rPr sz="946" i="1" baseline="30000">
                <a:solidFill>
                  <a:srgbClr val="000000"/>
                </a:solidFill>
                <a:latin typeface="DejaVu Math TeX Gyre"/>
              </a:rPr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488" y="1429098"/>
            <a:ext cx="350894" cy="2679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7" i="1">
                <a:solidFill>
                  <a:srgbClr val="000000"/>
                </a:solidFill>
                <a:latin typeface="DejaVu Math TeX Gyre"/>
              </a:rPr>
              <a:t>x</a:t>
            </a:r>
            <a:r>
              <a:rPr sz="1012" i="1" baseline="30000">
                <a:solidFill>
                  <a:srgbClr val="000000"/>
                </a:solidFill>
                <a:latin typeface="DejaVu Math TeX Gyre"/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3497" y="1422718"/>
            <a:ext cx="1307880" cy="287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7" i="1">
                <a:solidFill>
                  <a:srgbClr val="000000"/>
                </a:solidFill>
                <a:latin typeface="DejaVu Math TeX Gyre"/>
              </a:rPr>
              <a:t>f</a:t>
            </a:r>
            <a:r>
              <a:rPr sz="979" i="1" baseline="-25000">
                <a:solidFill>
                  <a:srgbClr val="000000"/>
                </a:solidFill>
                <a:latin typeface="DejaVu Math TeX Gyre"/>
              </a:rPr>
              <a:t>stu</a:t>
            </a:r>
            <a:r>
              <a:rPr sz="1507" i="1">
                <a:solidFill>
                  <a:srgbClr val="000000"/>
                </a:solidFill>
                <a:latin typeface="DejaVu Math TeX Gyre"/>
              </a:rPr>
              <a:t>(x</a:t>
            </a:r>
            <a:r>
              <a:rPr sz="979" i="1" baseline="30000">
                <a:solidFill>
                  <a:srgbClr val="000000"/>
                </a:solidFill>
                <a:latin typeface="DejaVu Math TeX Gyre"/>
              </a:rPr>
              <a:t>s</a:t>
            </a:r>
            <a:r>
              <a:rPr sz="1507" i="1">
                <a:solidFill>
                  <a:srgbClr val="000000"/>
                </a:solidFill>
                <a:latin typeface="DejaVu Math TeX Gyre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3560" y="1422718"/>
            <a:ext cx="382794" cy="287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7" i="1">
                <a:solidFill>
                  <a:srgbClr val="000000"/>
                </a:solidFill>
                <a:latin typeface="DejaVu Math TeX Gyre"/>
              </a:rPr>
              <a:t>y</a:t>
            </a:r>
            <a:r>
              <a:rPr sz="1012" i="1" baseline="30000">
                <a:solidFill>
                  <a:srgbClr val="000000"/>
                </a:solidFill>
                <a:latin typeface="DejaVu Math TeX Gyre"/>
              </a:rPr>
              <a:t>s</a:t>
            </a:r>
          </a:p>
        </p:txBody>
      </p:sp>
      <p:pic>
        <p:nvPicPr>
          <p:cNvPr id="35" name="Mixed input" descr="mixed_inp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017" y="2730599"/>
            <a:ext cx="1333400" cy="886806"/>
          </a:xfrm>
          <a:prstGeom prst="rect">
            <a:avLst/>
          </a:prstGeom>
        </p:spPr>
      </p:pic>
      <p:sp>
        <p:nvSpPr>
          <p:cNvPr id="36" name="Mixed input frame"/>
          <p:cNvSpPr/>
          <p:nvPr/>
        </p:nvSpPr>
        <p:spPr>
          <a:xfrm>
            <a:off x="165877" y="2711459"/>
            <a:ext cx="1371679" cy="925086"/>
          </a:xfrm>
          <a:prstGeom prst="rect">
            <a:avLst/>
          </a:prstGeom>
          <a:noFill/>
          <a:ln w="1275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Student encoder"/>
          <p:cNvSpPr/>
          <p:nvPr/>
        </p:nvSpPr>
        <p:spPr>
          <a:xfrm>
            <a:off x="1856552" y="2724219"/>
            <a:ext cx="523152" cy="905947"/>
          </a:xfrm>
          <a:custGeom>
            <a:avLst/>
            <a:gdLst/>
            <a:ahLst/>
            <a:cxnLst/>
            <a:rect l="l" t="t" r="r" b="b"/>
            <a:pathLst>
              <a:path w="523152" h="905947">
                <a:moveTo>
                  <a:pt x="0" y="0"/>
                </a:moveTo>
                <a:lnTo>
                  <a:pt x="523152" y="127598"/>
                </a:lnTo>
                <a:lnTo>
                  <a:pt x="523152" y="752829"/>
                </a:lnTo>
                <a:lnTo>
                  <a:pt x="0" y="905947"/>
                </a:lnTo>
                <a:close/>
              </a:path>
            </a:pathLst>
          </a:custGeom>
          <a:solidFill>
            <a:srgbClr val="FDE1C5"/>
          </a:solidFill>
          <a:ln w="31899">
            <a:solidFill>
              <a:srgbClr val="D45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62932" y="2998555"/>
            <a:ext cx="510392" cy="3636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8" i="1">
                <a:solidFill>
                  <a:srgbClr val="000000"/>
                </a:solidFill>
                <a:latin typeface="DejaVu Math TeX Gyre"/>
              </a:rPr>
              <a:t>ℰ</a:t>
            </a:r>
            <a:r>
              <a:rPr sz="1208" i="1" baseline="-25000">
                <a:solidFill>
                  <a:srgbClr val="000000"/>
                </a:solidFill>
                <a:latin typeface="DejaVu Math TeX Gyre"/>
              </a:rPr>
              <a:t>stu</a:t>
            </a:r>
          </a:p>
        </p:txBody>
      </p:sp>
      <p:sp>
        <p:nvSpPr>
          <p:cNvPr id="39" name="Feature slice 1"/>
          <p:cNvSpPr/>
          <p:nvPr/>
        </p:nvSpPr>
        <p:spPr>
          <a:xfrm>
            <a:off x="2615761" y="2864577"/>
            <a:ext cx="153117" cy="153117"/>
          </a:xfrm>
          <a:prstGeom prst="rect">
            <a:avLst/>
          </a:prstGeom>
          <a:solidFill>
            <a:srgbClr val="EFF5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Feature slice 2"/>
          <p:cNvSpPr/>
          <p:nvPr/>
        </p:nvSpPr>
        <p:spPr>
          <a:xfrm>
            <a:off x="2615761" y="3087874"/>
            <a:ext cx="153117" cy="153117"/>
          </a:xfrm>
          <a:prstGeom prst="rect">
            <a:avLst/>
          </a:prstGeom>
          <a:solidFill>
            <a:srgbClr val="D8F0CF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Feature slice 3"/>
          <p:cNvSpPr/>
          <p:nvPr/>
        </p:nvSpPr>
        <p:spPr>
          <a:xfrm>
            <a:off x="2615761" y="3311171"/>
            <a:ext cx="153117" cy="153117"/>
          </a:xfrm>
          <a:prstGeom prst="rect">
            <a:avLst/>
          </a:prstGeom>
          <a:solidFill>
            <a:srgbClr val="D2F2F2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tudent decoder"/>
          <p:cNvSpPr/>
          <p:nvPr/>
        </p:nvSpPr>
        <p:spPr>
          <a:xfrm>
            <a:off x="2998555" y="2724219"/>
            <a:ext cx="535912" cy="905947"/>
          </a:xfrm>
          <a:custGeom>
            <a:avLst/>
            <a:gdLst/>
            <a:ahLst/>
            <a:cxnLst/>
            <a:rect l="l" t="t" r="r" b="b"/>
            <a:pathLst>
              <a:path w="535912" h="905947">
                <a:moveTo>
                  <a:pt x="0" y="127598"/>
                </a:moveTo>
                <a:lnTo>
                  <a:pt x="535912" y="0"/>
                </a:lnTo>
                <a:lnTo>
                  <a:pt x="535912" y="905947"/>
                </a:lnTo>
                <a:lnTo>
                  <a:pt x="0" y="752829"/>
                </a:lnTo>
                <a:close/>
              </a:path>
            </a:pathLst>
          </a:custGeom>
          <a:solidFill>
            <a:srgbClr val="FDE1C5"/>
          </a:solidFill>
          <a:ln w="31899">
            <a:solidFill>
              <a:srgbClr val="D45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1315" y="2998555"/>
            <a:ext cx="510392" cy="3636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8" i="1">
                <a:solidFill>
                  <a:srgbClr val="000000"/>
                </a:solidFill>
                <a:latin typeface="DejaVu Math TeX Gyre"/>
              </a:rPr>
              <a:t>𝒟</a:t>
            </a:r>
            <a:r>
              <a:rPr sz="1175" i="1" baseline="-25000">
                <a:solidFill>
                  <a:srgbClr val="000000"/>
                </a:solidFill>
                <a:latin typeface="DejaVu Math TeX Gyre"/>
              </a:rPr>
              <a:t>stu</a:t>
            </a:r>
          </a:p>
        </p:txBody>
      </p:sp>
      <p:pic>
        <p:nvPicPr>
          <p:cNvPr id="44" name="Mixed prediction" descr="mixed_p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3820" y="2730599"/>
            <a:ext cx="1333400" cy="886806"/>
          </a:xfrm>
          <a:prstGeom prst="rect">
            <a:avLst/>
          </a:prstGeom>
        </p:spPr>
      </p:pic>
      <p:sp>
        <p:nvSpPr>
          <p:cNvPr id="45" name="Mixed prediction frame"/>
          <p:cNvSpPr/>
          <p:nvPr/>
        </p:nvSpPr>
        <p:spPr>
          <a:xfrm>
            <a:off x="3974681" y="2711459"/>
            <a:ext cx="1371679" cy="925086"/>
          </a:xfrm>
          <a:prstGeom prst="rect">
            <a:avLst/>
          </a:prstGeom>
          <a:noFill/>
          <a:ln w="1275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Mixed label" descr="mixed_lab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4709" y="2730599"/>
            <a:ext cx="1333400" cy="886806"/>
          </a:xfrm>
          <a:prstGeom prst="rect">
            <a:avLst/>
          </a:prstGeom>
        </p:spPr>
      </p:pic>
      <p:sp>
        <p:nvSpPr>
          <p:cNvPr id="47" name="Mixed label frame"/>
          <p:cNvSpPr/>
          <p:nvPr/>
        </p:nvSpPr>
        <p:spPr>
          <a:xfrm>
            <a:off x="6105569" y="2711459"/>
            <a:ext cx="1371679" cy="925086"/>
          </a:xfrm>
          <a:prstGeom prst="rect">
            <a:avLst/>
          </a:prstGeom>
          <a:noFill/>
          <a:ln w="1275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537557" y="3170813"/>
            <a:ext cx="318995" cy="0"/>
          </a:xfrm>
          <a:prstGeom prst="line">
            <a:avLst/>
          </a:prstGeom>
          <a:ln w="19139">
            <a:solidFill>
              <a:srgbClr val="34843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379704" y="3170813"/>
            <a:ext cx="236057" cy="0"/>
          </a:xfrm>
          <a:prstGeom prst="line">
            <a:avLst/>
          </a:prstGeom>
          <a:ln w="19139">
            <a:solidFill>
              <a:srgbClr val="34843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768879" y="3170813"/>
            <a:ext cx="229676" cy="0"/>
          </a:xfrm>
          <a:prstGeom prst="line">
            <a:avLst/>
          </a:prstGeom>
          <a:ln w="19139">
            <a:solidFill>
              <a:srgbClr val="34843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534467" y="3170813"/>
            <a:ext cx="395554" cy="0"/>
          </a:xfrm>
          <a:prstGeom prst="line">
            <a:avLst/>
          </a:prstGeom>
          <a:ln w="19139">
            <a:solidFill>
              <a:srgbClr val="34843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346360" y="3170813"/>
            <a:ext cx="759209" cy="0"/>
          </a:xfrm>
          <a:prstGeom prst="line">
            <a:avLst/>
          </a:prstGeom>
          <a:ln w="19139">
            <a:solidFill>
              <a:srgbClr val="34843B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473959" y="2832678"/>
            <a:ext cx="548671" cy="274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6" i="1">
                <a:solidFill>
                  <a:srgbClr val="000000"/>
                </a:solidFill>
                <a:latin typeface="DejaVu Math TeX Gyre"/>
              </a:rPr>
              <a:t>ℒ</a:t>
            </a:r>
            <a:r>
              <a:rPr sz="946" i="1" baseline="-25000">
                <a:solidFill>
                  <a:srgbClr val="000000"/>
                </a:solidFill>
                <a:latin typeface="DejaVu Math TeX Gyre"/>
              </a:rPr>
              <a:t>mix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5588" y="3687585"/>
            <a:ext cx="574191" cy="2551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7" i="1">
                <a:solidFill>
                  <a:srgbClr val="000000"/>
                </a:solidFill>
                <a:latin typeface="DejaVu Math TeX Gyre"/>
              </a:rPr>
              <a:t>x</a:t>
            </a:r>
            <a:r>
              <a:rPr sz="1012" i="1" baseline="30000">
                <a:solidFill>
                  <a:srgbClr val="000000"/>
                </a:solidFill>
                <a:latin typeface="DejaVu Math TeX Gyre"/>
              </a:rPr>
              <a:t>mix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17117" y="3681205"/>
            <a:ext cx="1403579" cy="287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7" i="1">
                <a:solidFill>
                  <a:srgbClr val="000000"/>
                </a:solidFill>
                <a:latin typeface="DejaVu Math TeX Gyre"/>
              </a:rPr>
              <a:t>f</a:t>
            </a:r>
            <a:r>
              <a:rPr sz="979" i="1" baseline="-25000">
                <a:solidFill>
                  <a:srgbClr val="000000"/>
                </a:solidFill>
                <a:latin typeface="DejaVu Math TeX Gyre"/>
              </a:rPr>
              <a:t>stu</a:t>
            </a:r>
            <a:r>
              <a:rPr sz="1507" i="1">
                <a:solidFill>
                  <a:srgbClr val="000000"/>
                </a:solidFill>
                <a:latin typeface="DejaVu Math TeX Gyre"/>
              </a:rPr>
              <a:t>(x</a:t>
            </a:r>
            <a:r>
              <a:rPr sz="979" i="1" baseline="30000">
                <a:solidFill>
                  <a:srgbClr val="000000"/>
                </a:solidFill>
                <a:latin typeface="DejaVu Math TeX Gyre"/>
              </a:rPr>
              <a:t>mix</a:t>
            </a:r>
            <a:r>
              <a:rPr sz="1507" i="1">
                <a:solidFill>
                  <a:srgbClr val="000000"/>
                </a:solidFill>
                <a:latin typeface="DejaVu Math TeX Gyre"/>
              </a:rPr>
              <a:t>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67001" y="3687585"/>
            <a:ext cx="701789" cy="2679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7" i="1">
                <a:solidFill>
                  <a:srgbClr val="000000"/>
                </a:solidFill>
                <a:latin typeface="DejaVu Math TeX Gyre"/>
              </a:rPr>
              <a:t>y</a:t>
            </a:r>
            <a:r>
              <a:rPr sz="1012" i="1" baseline="30000">
                <a:solidFill>
                  <a:srgbClr val="000000"/>
                </a:solidFill>
                <a:latin typeface="DejaVu Math TeX Gyre"/>
              </a:rPr>
              <a:t>mix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77626" y="3713105"/>
            <a:ext cx="829387" cy="2551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6" b="0" i="0">
                <a:solidFill>
                  <a:srgbClr val="000000"/>
                </a:solidFill>
                <a:latin typeface="DejaVu Sans"/>
              </a:rPr>
              <a:t>Feature F</a:t>
            </a:r>
          </a:p>
        </p:txBody>
      </p:sp>
      <p:pic>
        <p:nvPicPr>
          <p:cNvPr id="58" name="Target input" descr="target_inp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017" y="4765789"/>
            <a:ext cx="1333400" cy="886806"/>
          </a:xfrm>
          <a:prstGeom prst="rect">
            <a:avLst/>
          </a:prstGeom>
        </p:spPr>
      </p:pic>
      <p:sp>
        <p:nvSpPr>
          <p:cNvPr id="59" name="Target input frame"/>
          <p:cNvSpPr/>
          <p:nvPr/>
        </p:nvSpPr>
        <p:spPr>
          <a:xfrm>
            <a:off x="165877" y="4746649"/>
            <a:ext cx="1371679" cy="925086"/>
          </a:xfrm>
          <a:prstGeom prst="rect">
            <a:avLst/>
          </a:prstGeom>
          <a:noFill/>
          <a:ln w="1275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acher encoder"/>
          <p:cNvSpPr/>
          <p:nvPr/>
        </p:nvSpPr>
        <p:spPr>
          <a:xfrm>
            <a:off x="1869312" y="4759409"/>
            <a:ext cx="523152" cy="905947"/>
          </a:xfrm>
          <a:custGeom>
            <a:avLst/>
            <a:gdLst/>
            <a:ahLst/>
            <a:cxnLst/>
            <a:rect l="l" t="t" r="r" b="b"/>
            <a:pathLst>
              <a:path w="523152" h="905947">
                <a:moveTo>
                  <a:pt x="0" y="0"/>
                </a:moveTo>
                <a:lnTo>
                  <a:pt x="523152" y="127598"/>
                </a:lnTo>
                <a:lnTo>
                  <a:pt x="523152" y="752829"/>
                </a:lnTo>
                <a:lnTo>
                  <a:pt x="0" y="905947"/>
                </a:lnTo>
                <a:close/>
              </a:path>
            </a:pathLst>
          </a:custGeom>
          <a:solidFill>
            <a:srgbClr val="C9D5E6"/>
          </a:solidFill>
          <a:ln w="31899">
            <a:solidFill>
              <a:srgbClr val="587D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75692" y="5033745"/>
            <a:ext cx="510392" cy="3636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8" i="1">
                <a:solidFill>
                  <a:srgbClr val="000000"/>
                </a:solidFill>
                <a:latin typeface="DejaVu Math TeX Gyre"/>
              </a:rPr>
              <a:t>ℰ</a:t>
            </a:r>
            <a:r>
              <a:rPr sz="1208" i="1" baseline="-25000">
                <a:solidFill>
                  <a:srgbClr val="000000"/>
                </a:solidFill>
                <a:latin typeface="DejaVu Math TeX Gyre"/>
              </a:rPr>
              <a:t>tea</a:t>
            </a:r>
          </a:p>
        </p:txBody>
      </p:sp>
      <p:sp>
        <p:nvSpPr>
          <p:cNvPr id="62" name="Feature slice 1"/>
          <p:cNvSpPr/>
          <p:nvPr/>
        </p:nvSpPr>
        <p:spPr>
          <a:xfrm>
            <a:off x="2628521" y="4899767"/>
            <a:ext cx="153117" cy="153117"/>
          </a:xfrm>
          <a:prstGeom prst="rect">
            <a:avLst/>
          </a:prstGeom>
          <a:solidFill>
            <a:srgbClr val="EFF5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Feature slice 2"/>
          <p:cNvSpPr/>
          <p:nvPr/>
        </p:nvSpPr>
        <p:spPr>
          <a:xfrm>
            <a:off x="2628521" y="5123064"/>
            <a:ext cx="153117" cy="153117"/>
          </a:xfrm>
          <a:prstGeom prst="rect">
            <a:avLst/>
          </a:prstGeom>
          <a:solidFill>
            <a:srgbClr val="D8F0CF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eature slice 3"/>
          <p:cNvSpPr/>
          <p:nvPr/>
        </p:nvSpPr>
        <p:spPr>
          <a:xfrm>
            <a:off x="2628521" y="5346360"/>
            <a:ext cx="153117" cy="153117"/>
          </a:xfrm>
          <a:prstGeom prst="rect">
            <a:avLst/>
          </a:prstGeom>
          <a:solidFill>
            <a:srgbClr val="D2F2F2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acher decoder"/>
          <p:cNvSpPr/>
          <p:nvPr/>
        </p:nvSpPr>
        <p:spPr>
          <a:xfrm>
            <a:off x="3004935" y="4759409"/>
            <a:ext cx="535912" cy="905947"/>
          </a:xfrm>
          <a:custGeom>
            <a:avLst/>
            <a:gdLst/>
            <a:ahLst/>
            <a:cxnLst/>
            <a:rect l="l" t="t" r="r" b="b"/>
            <a:pathLst>
              <a:path w="535912" h="905947">
                <a:moveTo>
                  <a:pt x="0" y="127598"/>
                </a:moveTo>
                <a:lnTo>
                  <a:pt x="535912" y="0"/>
                </a:lnTo>
                <a:lnTo>
                  <a:pt x="535912" y="905947"/>
                </a:lnTo>
                <a:lnTo>
                  <a:pt x="0" y="752829"/>
                </a:lnTo>
                <a:close/>
              </a:path>
            </a:pathLst>
          </a:custGeom>
          <a:solidFill>
            <a:srgbClr val="C9D5E6"/>
          </a:solidFill>
          <a:ln w="31899">
            <a:solidFill>
              <a:srgbClr val="587D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17695" y="5033745"/>
            <a:ext cx="510392" cy="3636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8" i="1">
                <a:solidFill>
                  <a:srgbClr val="000000"/>
                </a:solidFill>
                <a:latin typeface="DejaVu Math TeX Gyre"/>
              </a:rPr>
              <a:t>𝒟</a:t>
            </a:r>
            <a:r>
              <a:rPr sz="1175" i="1" baseline="-25000">
                <a:solidFill>
                  <a:srgbClr val="000000"/>
                </a:solidFill>
                <a:latin typeface="DejaVu Math TeX Gyre"/>
              </a:rPr>
              <a:t>tea</a:t>
            </a:r>
          </a:p>
        </p:txBody>
      </p:sp>
      <p:pic>
        <p:nvPicPr>
          <p:cNvPr id="67" name="Target prediction" descr="target_p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93820" y="4765789"/>
            <a:ext cx="1333400" cy="886806"/>
          </a:xfrm>
          <a:prstGeom prst="rect">
            <a:avLst/>
          </a:prstGeom>
        </p:spPr>
      </p:pic>
      <p:sp>
        <p:nvSpPr>
          <p:cNvPr id="68" name="Target prediction frame"/>
          <p:cNvSpPr/>
          <p:nvPr/>
        </p:nvSpPr>
        <p:spPr>
          <a:xfrm>
            <a:off x="3974681" y="4746649"/>
            <a:ext cx="1371679" cy="925086"/>
          </a:xfrm>
          <a:prstGeom prst="rect">
            <a:avLst/>
          </a:prstGeom>
          <a:noFill/>
          <a:ln w="1275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9" name="Pseudo label" descr="target_labe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1089" y="4765789"/>
            <a:ext cx="1333400" cy="886806"/>
          </a:xfrm>
          <a:prstGeom prst="rect">
            <a:avLst/>
          </a:prstGeom>
        </p:spPr>
      </p:pic>
      <p:sp>
        <p:nvSpPr>
          <p:cNvPr id="70" name="Pseudo label frame"/>
          <p:cNvSpPr/>
          <p:nvPr/>
        </p:nvSpPr>
        <p:spPr>
          <a:xfrm>
            <a:off x="6111949" y="4746649"/>
            <a:ext cx="1371679" cy="925086"/>
          </a:xfrm>
          <a:prstGeom prst="rect">
            <a:avLst/>
          </a:prstGeom>
          <a:noFill/>
          <a:ln w="1275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537557" y="5212382"/>
            <a:ext cx="331755" cy="0"/>
          </a:xfrm>
          <a:prstGeom prst="line">
            <a:avLst/>
          </a:prstGeom>
          <a:ln w="19139">
            <a:solidFill>
              <a:srgbClr val="167B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392464" y="5212382"/>
            <a:ext cx="236057" cy="0"/>
          </a:xfrm>
          <a:prstGeom prst="line">
            <a:avLst/>
          </a:prstGeom>
          <a:ln w="19139">
            <a:solidFill>
              <a:srgbClr val="167B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781638" y="5212382"/>
            <a:ext cx="223297" cy="0"/>
          </a:xfrm>
          <a:prstGeom prst="line">
            <a:avLst/>
          </a:prstGeom>
          <a:ln w="19139">
            <a:solidFill>
              <a:srgbClr val="167B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540847" y="5212382"/>
            <a:ext cx="389174" cy="0"/>
          </a:xfrm>
          <a:prstGeom prst="line">
            <a:avLst/>
          </a:prstGeom>
          <a:ln w="19139">
            <a:solidFill>
              <a:srgbClr val="167B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346360" y="5212382"/>
            <a:ext cx="765589" cy="0"/>
          </a:xfrm>
          <a:prstGeom prst="line">
            <a:avLst/>
          </a:prstGeom>
          <a:ln w="19139">
            <a:solidFill>
              <a:srgbClr val="167B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493098" y="4899767"/>
            <a:ext cx="478492" cy="2679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6" i="1">
                <a:solidFill>
                  <a:srgbClr val="000000"/>
                </a:solidFill>
                <a:latin typeface="DejaVu Math TeX Gyre"/>
              </a:rPr>
              <a:t>ℒ</a:t>
            </a:r>
            <a:r>
              <a:rPr sz="946" i="1" baseline="30000">
                <a:solidFill>
                  <a:srgbClr val="000000"/>
                </a:solidFill>
                <a:latin typeface="DejaVu Math TeX Gyre"/>
              </a:rPr>
              <a:t>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71736" y="5276181"/>
            <a:ext cx="191397" cy="2169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6" b="0" i="1">
                <a:solidFill>
                  <a:srgbClr val="000000"/>
                </a:solidFill>
                <a:latin typeface="DejaVu Math TeX Gyre"/>
              </a:rPr>
              <a:t>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7453" y="5748294"/>
            <a:ext cx="669890" cy="274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00000"/>
                </a:solidFill>
                <a:latin typeface="DejaVu Sans"/>
              </a:rPr>
              <a:t>Input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4404" y="5741915"/>
            <a:ext cx="370034" cy="274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7" i="1">
                <a:solidFill>
                  <a:srgbClr val="000000"/>
                </a:solidFill>
                <a:latin typeface="DejaVu Math TeX Gyre"/>
              </a:rPr>
              <a:t>x</a:t>
            </a:r>
            <a:r>
              <a:rPr sz="1012" i="1" baseline="30000">
                <a:solidFill>
                  <a:srgbClr val="000000"/>
                </a:solidFill>
                <a:latin typeface="DejaVu Math TeX Gyre"/>
              </a:rPr>
              <a:t>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93820" y="5754674"/>
            <a:ext cx="988885" cy="274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6" b="1" i="0">
                <a:solidFill>
                  <a:srgbClr val="000000"/>
                </a:solidFill>
                <a:latin typeface="DejaVu Sans"/>
              </a:rPr>
              <a:t>Prediction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33745" y="5748294"/>
            <a:ext cx="956985" cy="274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6" i="1">
                <a:solidFill>
                  <a:srgbClr val="000000"/>
                </a:solidFill>
                <a:latin typeface="DejaVu Math TeX Gyre"/>
              </a:rPr>
              <a:t>f</a:t>
            </a:r>
            <a:r>
              <a:rPr sz="881" i="1" baseline="-25000">
                <a:solidFill>
                  <a:srgbClr val="000000"/>
                </a:solidFill>
                <a:latin typeface="DejaVu Math TeX Gyre"/>
              </a:rPr>
              <a:t>tea</a:t>
            </a:r>
            <a:r>
              <a:rPr sz="1356" i="1">
                <a:solidFill>
                  <a:srgbClr val="000000"/>
                </a:solidFill>
                <a:latin typeface="DejaVu Math TeX Gyre"/>
              </a:rPr>
              <a:t>(x</a:t>
            </a:r>
            <a:r>
              <a:rPr sz="881" i="1" baseline="30000">
                <a:solidFill>
                  <a:srgbClr val="000000"/>
                </a:solidFill>
                <a:latin typeface="DejaVu Math TeX Gyre"/>
              </a:rPr>
              <a:t>t</a:t>
            </a:r>
            <a:r>
              <a:rPr sz="1356" i="1">
                <a:solidFill>
                  <a:srgbClr val="000000"/>
                </a:solidFill>
                <a:latin typeface="DejaVu Math TeX Gyre"/>
              </a:rPr>
              <a:t>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33312" y="5748294"/>
            <a:ext cx="1403579" cy="274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DejaVu Sans"/>
              </a:rPr>
              <a:t>(Pseudo) Label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94310" y="5735535"/>
            <a:ext cx="267956" cy="2807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6" i="1">
                <a:solidFill>
                  <a:srgbClr val="000000"/>
                </a:solidFill>
                <a:latin typeface="DejaVu Sans"/>
              </a:rPr>
              <a:t>ŷ</a:t>
            </a:r>
            <a:r>
              <a:rPr sz="946" i="1" baseline="30000">
                <a:solidFill>
                  <a:srgbClr val="000000"/>
                </a:solidFill>
                <a:latin typeface="DejaVu Sans"/>
              </a:rPr>
              <a:t>t</a:t>
            </a:r>
          </a:p>
        </p:txBody>
      </p:sp>
      <p:cxnSp>
        <p:nvCxnSpPr>
          <p:cNvPr id="84" name="Connector 83"/>
          <p:cNvCxnSpPr/>
          <p:nvPr/>
        </p:nvCxnSpPr>
        <p:spPr>
          <a:xfrm flipV="1">
            <a:off x="2105368" y="1295120"/>
            <a:ext cx="0" cy="1429099"/>
          </a:xfrm>
          <a:prstGeom prst="line">
            <a:avLst/>
          </a:prstGeom>
          <a:ln w="19139">
            <a:solidFill>
              <a:srgbClr val="111111"/>
            </a:solidFill>
            <a:prstDash val="sysDot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247371" y="1295120"/>
            <a:ext cx="0" cy="1429099"/>
          </a:xfrm>
          <a:prstGeom prst="line">
            <a:avLst/>
          </a:prstGeom>
          <a:ln w="19139">
            <a:solidFill>
              <a:srgbClr val="111111"/>
            </a:solidFill>
            <a:prstDash val="sysDot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550317" y="1760853"/>
            <a:ext cx="669890" cy="22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DejaVu Sans"/>
              </a:rPr>
              <a:t>Shared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04791" y="1760853"/>
            <a:ext cx="669890" cy="22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DejaVu Sans"/>
              </a:rPr>
              <a:t>Shared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124508" y="3636546"/>
            <a:ext cx="0" cy="1110103"/>
          </a:xfrm>
          <a:prstGeom prst="line">
            <a:avLst/>
          </a:prstGeom>
          <a:ln w="19139">
            <a:solidFill>
              <a:srgbClr val="111111"/>
            </a:solidFill>
            <a:prstDash val="sysDot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260131" y="3636546"/>
            <a:ext cx="0" cy="1110103"/>
          </a:xfrm>
          <a:prstGeom prst="line">
            <a:avLst/>
          </a:prstGeom>
          <a:ln w="19139">
            <a:solidFill>
              <a:srgbClr val="111111"/>
            </a:solidFill>
            <a:prstDash val="sysDot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435478" y="3968301"/>
            <a:ext cx="797488" cy="4465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0" i="1">
                <a:solidFill>
                  <a:srgbClr val="000000"/>
                </a:solidFill>
                <a:latin typeface="DejaVu Sans"/>
              </a:rPr>
              <a:t>EMA
update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36690" y="3968301"/>
            <a:ext cx="797488" cy="4465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0" i="1">
                <a:solidFill>
                  <a:srgbClr val="000000"/>
                </a:solidFill>
                <a:latin typeface="DejaVu Sans"/>
              </a:rPr>
              <a:t>EMA
update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784728" y="1371679"/>
            <a:ext cx="0" cy="1339780"/>
          </a:xfrm>
          <a:prstGeom prst="line">
            <a:avLst/>
          </a:prstGeom>
          <a:ln w="1913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84728" y="3636546"/>
            <a:ext cx="0" cy="1110103"/>
          </a:xfrm>
          <a:prstGeom prst="line">
            <a:avLst/>
          </a:prstGeom>
          <a:ln w="1913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775459" y="1371679"/>
            <a:ext cx="0" cy="1339780"/>
          </a:xfrm>
          <a:prstGeom prst="line">
            <a:avLst/>
          </a:prstGeom>
          <a:ln w="1913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781839" y="3636546"/>
            <a:ext cx="0" cy="1110103"/>
          </a:xfrm>
          <a:prstGeom prst="line">
            <a:avLst/>
          </a:prstGeom>
          <a:ln w="1913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685940" y="2118128"/>
            <a:ext cx="0" cy="746449"/>
          </a:xfrm>
          <a:prstGeom prst="line">
            <a:avLst/>
          </a:prstGeom>
          <a:ln w="191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685940" y="2118128"/>
            <a:ext cx="5020986" cy="0"/>
          </a:xfrm>
          <a:prstGeom prst="line">
            <a:avLst/>
          </a:prstGeom>
          <a:ln w="1913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Hilbert curve panel"/>
          <p:cNvSpPr/>
          <p:nvPr/>
        </p:nvSpPr>
        <p:spPr>
          <a:xfrm>
            <a:off x="7923842" y="529532"/>
            <a:ext cx="1250461" cy="1167522"/>
          </a:xfrm>
          <a:prstGeom prst="roundRect">
            <a:avLst/>
          </a:prstGeom>
          <a:solidFill>
            <a:srgbClr val="FFFDE5"/>
          </a:solidFill>
          <a:ln w="1275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Node 1"/>
          <p:cNvSpPr/>
          <p:nvPr/>
        </p:nvSpPr>
        <p:spPr>
          <a:xfrm>
            <a:off x="8051440" y="625230"/>
            <a:ext cx="216916" cy="204156"/>
          </a:xfrm>
          <a:prstGeom prst="rect">
            <a:avLst/>
          </a:prstGeom>
          <a:solidFill>
            <a:srgbClr val="F7E7C4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Node label 1"/>
          <p:cNvSpPr txBox="1"/>
          <p:nvPr/>
        </p:nvSpPr>
        <p:spPr>
          <a:xfrm>
            <a:off x="8051440" y="61885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101" name="Node 2"/>
          <p:cNvSpPr/>
          <p:nvPr/>
        </p:nvSpPr>
        <p:spPr>
          <a:xfrm>
            <a:off x="8453374" y="625230"/>
            <a:ext cx="216916" cy="204156"/>
          </a:xfrm>
          <a:prstGeom prst="rect">
            <a:avLst/>
          </a:prstGeom>
          <a:solidFill>
            <a:srgbClr val="DC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Node label 2"/>
          <p:cNvSpPr txBox="1"/>
          <p:nvPr/>
        </p:nvSpPr>
        <p:spPr>
          <a:xfrm>
            <a:off x="8453374" y="61885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103" name="Node 3"/>
          <p:cNvSpPr/>
          <p:nvPr/>
        </p:nvSpPr>
        <p:spPr>
          <a:xfrm>
            <a:off x="8855309" y="625230"/>
            <a:ext cx="216916" cy="204156"/>
          </a:xfrm>
          <a:prstGeom prst="rect">
            <a:avLst/>
          </a:prstGeom>
          <a:solidFill>
            <a:srgbClr val="CCEBC5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Node label 3"/>
          <p:cNvSpPr txBox="1"/>
          <p:nvPr/>
        </p:nvSpPr>
        <p:spPr>
          <a:xfrm>
            <a:off x="8855309" y="61885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105" name="Node 4"/>
          <p:cNvSpPr/>
          <p:nvPr/>
        </p:nvSpPr>
        <p:spPr>
          <a:xfrm>
            <a:off x="8051440" y="982505"/>
            <a:ext cx="216916" cy="204156"/>
          </a:xfrm>
          <a:prstGeom prst="rect">
            <a:avLst/>
          </a:prstGeom>
          <a:solidFill>
            <a:srgbClr val="C8E9C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Node label 4"/>
          <p:cNvSpPr txBox="1"/>
          <p:nvPr/>
        </p:nvSpPr>
        <p:spPr>
          <a:xfrm>
            <a:off x="8051440" y="976125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107" name="Node 5"/>
          <p:cNvSpPr/>
          <p:nvPr/>
        </p:nvSpPr>
        <p:spPr>
          <a:xfrm>
            <a:off x="8453374" y="982505"/>
            <a:ext cx="216916" cy="204156"/>
          </a:xfrm>
          <a:prstGeom prst="rect">
            <a:avLst/>
          </a:prstGeom>
          <a:solidFill>
            <a:srgbClr val="EFCCD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Node label 5"/>
          <p:cNvSpPr txBox="1"/>
          <p:nvPr/>
        </p:nvSpPr>
        <p:spPr>
          <a:xfrm>
            <a:off x="8453374" y="976125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109" name="Node 6"/>
          <p:cNvSpPr/>
          <p:nvPr/>
        </p:nvSpPr>
        <p:spPr>
          <a:xfrm>
            <a:off x="8855309" y="982505"/>
            <a:ext cx="216916" cy="204156"/>
          </a:xfrm>
          <a:prstGeom prst="rect">
            <a:avLst/>
          </a:prstGeom>
          <a:solidFill>
            <a:srgbClr val="CDEBED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Node label 6"/>
          <p:cNvSpPr txBox="1"/>
          <p:nvPr/>
        </p:nvSpPr>
        <p:spPr>
          <a:xfrm>
            <a:off x="8855309" y="976125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6</a:t>
            </a:r>
          </a:p>
        </p:txBody>
      </p:sp>
      <p:sp>
        <p:nvSpPr>
          <p:cNvPr id="111" name="Node 7"/>
          <p:cNvSpPr/>
          <p:nvPr/>
        </p:nvSpPr>
        <p:spPr>
          <a:xfrm>
            <a:off x="8051440" y="1339780"/>
            <a:ext cx="216916" cy="204156"/>
          </a:xfrm>
          <a:prstGeom prst="rect">
            <a:avLst/>
          </a:prstGeom>
          <a:solidFill>
            <a:srgbClr val="C7E9E7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Node label 7"/>
          <p:cNvSpPr txBox="1"/>
          <p:nvPr/>
        </p:nvSpPr>
        <p:spPr>
          <a:xfrm>
            <a:off x="8051440" y="133340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7</a:t>
            </a:r>
          </a:p>
        </p:txBody>
      </p:sp>
      <p:sp>
        <p:nvSpPr>
          <p:cNvPr id="113" name="Node 8"/>
          <p:cNvSpPr/>
          <p:nvPr/>
        </p:nvSpPr>
        <p:spPr>
          <a:xfrm>
            <a:off x="8453374" y="1339780"/>
            <a:ext cx="216916" cy="204156"/>
          </a:xfrm>
          <a:prstGeom prst="rect">
            <a:avLst/>
          </a:prstGeom>
          <a:solidFill>
            <a:srgbClr val="D8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Node label 8"/>
          <p:cNvSpPr txBox="1"/>
          <p:nvPr/>
        </p:nvSpPr>
        <p:spPr>
          <a:xfrm>
            <a:off x="8453374" y="133340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8</a:t>
            </a:r>
          </a:p>
        </p:txBody>
      </p:sp>
      <p:sp>
        <p:nvSpPr>
          <p:cNvPr id="115" name="Node 9"/>
          <p:cNvSpPr/>
          <p:nvPr/>
        </p:nvSpPr>
        <p:spPr>
          <a:xfrm>
            <a:off x="8855309" y="1339780"/>
            <a:ext cx="216916" cy="204156"/>
          </a:xfrm>
          <a:prstGeom prst="rect">
            <a:avLst/>
          </a:prstGeom>
          <a:solidFill>
            <a:srgbClr val="EBCB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Node label 9"/>
          <p:cNvSpPr txBox="1"/>
          <p:nvPr/>
        </p:nvSpPr>
        <p:spPr>
          <a:xfrm>
            <a:off x="8855309" y="133340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9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8159899" y="727309"/>
            <a:ext cx="401934" cy="0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8159899" y="727309"/>
            <a:ext cx="401934" cy="357274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159899" y="1084583"/>
            <a:ext cx="0" cy="357275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8159899" y="1441858"/>
            <a:ext cx="401934" cy="0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561833" y="1084583"/>
            <a:ext cx="401934" cy="357275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963767" y="1084583"/>
            <a:ext cx="0" cy="357275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8561833" y="1084583"/>
            <a:ext cx="401934" cy="357275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8561833" y="727309"/>
            <a:ext cx="401934" cy="357274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Z-order curve panel"/>
          <p:cNvSpPr/>
          <p:nvPr/>
        </p:nvSpPr>
        <p:spPr>
          <a:xfrm>
            <a:off x="10731001" y="529532"/>
            <a:ext cx="1244081" cy="1167522"/>
          </a:xfrm>
          <a:prstGeom prst="roundRect">
            <a:avLst/>
          </a:prstGeom>
          <a:solidFill>
            <a:srgbClr val="FFFDE5"/>
          </a:solidFill>
          <a:ln w="1275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Node 1"/>
          <p:cNvSpPr/>
          <p:nvPr/>
        </p:nvSpPr>
        <p:spPr>
          <a:xfrm>
            <a:off x="10852219" y="625230"/>
            <a:ext cx="216916" cy="204156"/>
          </a:xfrm>
          <a:prstGeom prst="rect">
            <a:avLst/>
          </a:prstGeom>
          <a:solidFill>
            <a:srgbClr val="F7E7C4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Node label 1"/>
          <p:cNvSpPr txBox="1"/>
          <p:nvPr/>
        </p:nvSpPr>
        <p:spPr>
          <a:xfrm>
            <a:off x="10852219" y="61885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128" name="Node 2"/>
          <p:cNvSpPr/>
          <p:nvPr/>
        </p:nvSpPr>
        <p:spPr>
          <a:xfrm>
            <a:off x="11254153" y="625230"/>
            <a:ext cx="216916" cy="204156"/>
          </a:xfrm>
          <a:prstGeom prst="rect">
            <a:avLst/>
          </a:prstGeom>
          <a:solidFill>
            <a:srgbClr val="DC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Node label 2"/>
          <p:cNvSpPr txBox="1"/>
          <p:nvPr/>
        </p:nvSpPr>
        <p:spPr>
          <a:xfrm>
            <a:off x="11254153" y="61885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130" name="Node 3"/>
          <p:cNvSpPr/>
          <p:nvPr/>
        </p:nvSpPr>
        <p:spPr>
          <a:xfrm>
            <a:off x="11656087" y="625230"/>
            <a:ext cx="216916" cy="204156"/>
          </a:xfrm>
          <a:prstGeom prst="rect">
            <a:avLst/>
          </a:prstGeom>
          <a:solidFill>
            <a:srgbClr val="CCEBC5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Node label 3"/>
          <p:cNvSpPr txBox="1"/>
          <p:nvPr/>
        </p:nvSpPr>
        <p:spPr>
          <a:xfrm>
            <a:off x="11656087" y="61885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132" name="Node 4"/>
          <p:cNvSpPr/>
          <p:nvPr/>
        </p:nvSpPr>
        <p:spPr>
          <a:xfrm>
            <a:off x="10852219" y="982505"/>
            <a:ext cx="216916" cy="204156"/>
          </a:xfrm>
          <a:prstGeom prst="rect">
            <a:avLst/>
          </a:prstGeom>
          <a:solidFill>
            <a:srgbClr val="C8E9C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Node label 4"/>
          <p:cNvSpPr txBox="1"/>
          <p:nvPr/>
        </p:nvSpPr>
        <p:spPr>
          <a:xfrm>
            <a:off x="10852219" y="976125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134" name="Node 5"/>
          <p:cNvSpPr/>
          <p:nvPr/>
        </p:nvSpPr>
        <p:spPr>
          <a:xfrm>
            <a:off x="11254153" y="982505"/>
            <a:ext cx="216916" cy="204156"/>
          </a:xfrm>
          <a:prstGeom prst="rect">
            <a:avLst/>
          </a:prstGeom>
          <a:solidFill>
            <a:srgbClr val="EFCCD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Node label 5"/>
          <p:cNvSpPr txBox="1"/>
          <p:nvPr/>
        </p:nvSpPr>
        <p:spPr>
          <a:xfrm>
            <a:off x="11254153" y="976125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136" name="Node 6"/>
          <p:cNvSpPr/>
          <p:nvPr/>
        </p:nvSpPr>
        <p:spPr>
          <a:xfrm>
            <a:off x="11656087" y="982505"/>
            <a:ext cx="216916" cy="204156"/>
          </a:xfrm>
          <a:prstGeom prst="rect">
            <a:avLst/>
          </a:prstGeom>
          <a:solidFill>
            <a:srgbClr val="CDEBED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Node label 6"/>
          <p:cNvSpPr txBox="1"/>
          <p:nvPr/>
        </p:nvSpPr>
        <p:spPr>
          <a:xfrm>
            <a:off x="11656087" y="976125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6</a:t>
            </a:r>
          </a:p>
        </p:txBody>
      </p:sp>
      <p:sp>
        <p:nvSpPr>
          <p:cNvPr id="138" name="Node 7"/>
          <p:cNvSpPr/>
          <p:nvPr/>
        </p:nvSpPr>
        <p:spPr>
          <a:xfrm>
            <a:off x="10852219" y="1339780"/>
            <a:ext cx="216916" cy="204156"/>
          </a:xfrm>
          <a:prstGeom prst="rect">
            <a:avLst/>
          </a:prstGeom>
          <a:solidFill>
            <a:srgbClr val="C7E9E7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Node label 7"/>
          <p:cNvSpPr txBox="1"/>
          <p:nvPr/>
        </p:nvSpPr>
        <p:spPr>
          <a:xfrm>
            <a:off x="10852219" y="133340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7</a:t>
            </a:r>
          </a:p>
        </p:txBody>
      </p:sp>
      <p:sp>
        <p:nvSpPr>
          <p:cNvPr id="140" name="Node 8"/>
          <p:cNvSpPr/>
          <p:nvPr/>
        </p:nvSpPr>
        <p:spPr>
          <a:xfrm>
            <a:off x="11254153" y="1339780"/>
            <a:ext cx="216916" cy="204156"/>
          </a:xfrm>
          <a:prstGeom prst="rect">
            <a:avLst/>
          </a:prstGeom>
          <a:solidFill>
            <a:srgbClr val="D8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Node label 8"/>
          <p:cNvSpPr txBox="1"/>
          <p:nvPr/>
        </p:nvSpPr>
        <p:spPr>
          <a:xfrm>
            <a:off x="11254153" y="133340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8</a:t>
            </a:r>
          </a:p>
        </p:txBody>
      </p:sp>
      <p:sp>
        <p:nvSpPr>
          <p:cNvPr id="142" name="Node 9"/>
          <p:cNvSpPr/>
          <p:nvPr/>
        </p:nvSpPr>
        <p:spPr>
          <a:xfrm>
            <a:off x="11656087" y="1339780"/>
            <a:ext cx="216916" cy="204156"/>
          </a:xfrm>
          <a:prstGeom prst="rect">
            <a:avLst/>
          </a:prstGeom>
          <a:solidFill>
            <a:srgbClr val="EBCB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Node label 9"/>
          <p:cNvSpPr txBox="1"/>
          <p:nvPr/>
        </p:nvSpPr>
        <p:spPr>
          <a:xfrm>
            <a:off x="11656087" y="133340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9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10960677" y="727309"/>
            <a:ext cx="0" cy="357274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960677" y="1084583"/>
            <a:ext cx="0" cy="357275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960677" y="727309"/>
            <a:ext cx="401934" cy="714549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1362611" y="727309"/>
            <a:ext cx="0" cy="357274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1362611" y="1084583"/>
            <a:ext cx="0" cy="357275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1362611" y="727309"/>
            <a:ext cx="401935" cy="714549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1764546" y="727309"/>
            <a:ext cx="0" cy="357274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1764546" y="1084583"/>
            <a:ext cx="0" cy="357275"/>
          </a:xfrm>
          <a:prstGeom prst="line">
            <a:avLst/>
          </a:prstGeom>
          <a:ln w="12759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9193444" y="1122863"/>
            <a:ext cx="1524797" cy="0"/>
          </a:xfrm>
          <a:prstGeom prst="line">
            <a:avLst/>
          </a:prstGeom>
          <a:ln w="12759">
            <a:solidFill>
              <a:srgbClr val="11111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9314662" y="771968"/>
            <a:ext cx="1307880" cy="274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6" i="1">
                <a:solidFill>
                  <a:srgbClr val="000000"/>
                </a:solidFill>
                <a:latin typeface="DejaVu Math TeX Gyre"/>
              </a:rPr>
              <a:t>ℒ</a:t>
            </a:r>
            <a:r>
              <a:rPr sz="946" i="1" baseline="-25000">
                <a:solidFill>
                  <a:srgbClr val="000000"/>
                </a:solidFill>
                <a:latin typeface="DejaVu Math TeX Gyre"/>
              </a:rPr>
              <a:t>permutation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327422" y="1218561"/>
            <a:ext cx="1275981" cy="3700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4" b="1" i="0">
                <a:solidFill>
                  <a:srgbClr val="000000"/>
                </a:solidFill>
                <a:latin typeface="DejaVu Sans"/>
              </a:rPr>
              <a:t>Permutation
Invariance Prior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770725" y="1709814"/>
            <a:ext cx="2041569" cy="1786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5" b="1" i="0">
                <a:solidFill>
                  <a:srgbClr val="000000"/>
                </a:solidFill>
                <a:latin typeface="DejaVu Sans"/>
              </a:rPr>
              <a:t>Hilbert curves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080250" y="1709814"/>
            <a:ext cx="2054329" cy="1786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5" b="1" i="0">
                <a:solidFill>
                  <a:srgbClr val="000000"/>
                </a:solidFill>
                <a:latin typeface="DejaVu Sans"/>
              </a:rPr>
              <a:t>Z-order curves</a:t>
            </a:r>
          </a:p>
        </p:txBody>
      </p:sp>
      <p:sp>
        <p:nvSpPr>
          <p:cNvPr id="157" name="Sequence cell 1"/>
          <p:cNvSpPr/>
          <p:nvPr/>
        </p:nvSpPr>
        <p:spPr>
          <a:xfrm>
            <a:off x="7757965" y="1977770"/>
            <a:ext cx="221878" cy="210536"/>
          </a:xfrm>
          <a:prstGeom prst="rect">
            <a:avLst/>
          </a:prstGeom>
          <a:solidFill>
            <a:srgbClr val="F7E7C4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757965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159" name="Sequence cell 2"/>
          <p:cNvSpPr/>
          <p:nvPr/>
        </p:nvSpPr>
        <p:spPr>
          <a:xfrm>
            <a:off x="7979844" y="1977770"/>
            <a:ext cx="221878" cy="210536"/>
          </a:xfrm>
          <a:prstGeom prst="rect">
            <a:avLst/>
          </a:prstGeom>
          <a:solidFill>
            <a:srgbClr val="DC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979844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161" name="Sequence cell 3"/>
          <p:cNvSpPr/>
          <p:nvPr/>
        </p:nvSpPr>
        <p:spPr>
          <a:xfrm>
            <a:off x="8201723" y="1977770"/>
            <a:ext cx="221878" cy="210536"/>
          </a:xfrm>
          <a:prstGeom prst="rect">
            <a:avLst/>
          </a:prstGeom>
          <a:solidFill>
            <a:srgbClr val="C8E9C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201723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163" name="Sequence cell 4"/>
          <p:cNvSpPr/>
          <p:nvPr/>
        </p:nvSpPr>
        <p:spPr>
          <a:xfrm>
            <a:off x="8423602" y="1977770"/>
            <a:ext cx="221878" cy="210536"/>
          </a:xfrm>
          <a:prstGeom prst="rect">
            <a:avLst/>
          </a:prstGeom>
          <a:solidFill>
            <a:srgbClr val="CCEBC5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423602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165" name="Sequence cell 5"/>
          <p:cNvSpPr/>
          <p:nvPr/>
        </p:nvSpPr>
        <p:spPr>
          <a:xfrm>
            <a:off x="8645481" y="1977770"/>
            <a:ext cx="221878" cy="210536"/>
          </a:xfrm>
          <a:prstGeom prst="rect">
            <a:avLst/>
          </a:prstGeom>
          <a:solidFill>
            <a:srgbClr val="EFCCD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645481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167" name="Sequence cell 6"/>
          <p:cNvSpPr/>
          <p:nvPr/>
        </p:nvSpPr>
        <p:spPr>
          <a:xfrm>
            <a:off x="8867359" y="1977770"/>
            <a:ext cx="221878" cy="210536"/>
          </a:xfrm>
          <a:prstGeom prst="rect">
            <a:avLst/>
          </a:prstGeom>
          <a:solidFill>
            <a:srgbClr val="C7E9E7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867359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7</a:t>
            </a:r>
          </a:p>
        </p:txBody>
      </p:sp>
      <p:sp>
        <p:nvSpPr>
          <p:cNvPr id="169" name="Sequence cell 7"/>
          <p:cNvSpPr/>
          <p:nvPr/>
        </p:nvSpPr>
        <p:spPr>
          <a:xfrm>
            <a:off x="9089238" y="1977770"/>
            <a:ext cx="221878" cy="210536"/>
          </a:xfrm>
          <a:prstGeom prst="rect">
            <a:avLst/>
          </a:prstGeom>
          <a:solidFill>
            <a:srgbClr val="CDEBED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089238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6</a:t>
            </a:r>
          </a:p>
        </p:txBody>
      </p:sp>
      <p:sp>
        <p:nvSpPr>
          <p:cNvPr id="171" name="Sequence cell 8"/>
          <p:cNvSpPr/>
          <p:nvPr/>
        </p:nvSpPr>
        <p:spPr>
          <a:xfrm>
            <a:off x="9311117" y="1977770"/>
            <a:ext cx="221878" cy="210536"/>
          </a:xfrm>
          <a:prstGeom prst="rect">
            <a:avLst/>
          </a:prstGeom>
          <a:solidFill>
            <a:srgbClr val="D8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311117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8</a:t>
            </a:r>
          </a:p>
        </p:txBody>
      </p:sp>
      <p:sp>
        <p:nvSpPr>
          <p:cNvPr id="173" name="Sequence cell 9"/>
          <p:cNvSpPr/>
          <p:nvPr/>
        </p:nvSpPr>
        <p:spPr>
          <a:xfrm>
            <a:off x="9532996" y="1977770"/>
            <a:ext cx="221878" cy="210536"/>
          </a:xfrm>
          <a:prstGeom prst="rect">
            <a:avLst/>
          </a:prstGeom>
          <a:solidFill>
            <a:srgbClr val="EBCB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532996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9</a:t>
            </a:r>
          </a:p>
        </p:txBody>
      </p:sp>
      <p:sp>
        <p:nvSpPr>
          <p:cNvPr id="175" name="Sequence cell 1"/>
          <p:cNvSpPr/>
          <p:nvPr/>
        </p:nvSpPr>
        <p:spPr>
          <a:xfrm>
            <a:off x="10124910" y="1977770"/>
            <a:ext cx="221878" cy="210536"/>
          </a:xfrm>
          <a:prstGeom prst="rect">
            <a:avLst/>
          </a:prstGeom>
          <a:solidFill>
            <a:srgbClr val="F7E7C4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124910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177" name="Sequence cell 2"/>
          <p:cNvSpPr/>
          <p:nvPr/>
        </p:nvSpPr>
        <p:spPr>
          <a:xfrm>
            <a:off x="10346789" y="1977770"/>
            <a:ext cx="221878" cy="210536"/>
          </a:xfrm>
          <a:prstGeom prst="rect">
            <a:avLst/>
          </a:prstGeom>
          <a:solidFill>
            <a:srgbClr val="C8E9C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0346789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179" name="Sequence cell 3"/>
          <p:cNvSpPr/>
          <p:nvPr/>
        </p:nvSpPr>
        <p:spPr>
          <a:xfrm>
            <a:off x="10568668" y="1977770"/>
            <a:ext cx="221878" cy="210536"/>
          </a:xfrm>
          <a:prstGeom prst="rect">
            <a:avLst/>
          </a:prstGeom>
          <a:solidFill>
            <a:srgbClr val="C7E9E7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568668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7</a:t>
            </a:r>
          </a:p>
        </p:txBody>
      </p:sp>
      <p:sp>
        <p:nvSpPr>
          <p:cNvPr id="181" name="Sequence cell 4"/>
          <p:cNvSpPr/>
          <p:nvPr/>
        </p:nvSpPr>
        <p:spPr>
          <a:xfrm>
            <a:off x="10790547" y="1977770"/>
            <a:ext cx="221878" cy="210536"/>
          </a:xfrm>
          <a:prstGeom prst="rect">
            <a:avLst/>
          </a:prstGeom>
          <a:solidFill>
            <a:srgbClr val="DC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790547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183" name="Sequence cell 5"/>
          <p:cNvSpPr/>
          <p:nvPr/>
        </p:nvSpPr>
        <p:spPr>
          <a:xfrm>
            <a:off x="11012426" y="1977770"/>
            <a:ext cx="221878" cy="210536"/>
          </a:xfrm>
          <a:prstGeom prst="rect">
            <a:avLst/>
          </a:prstGeom>
          <a:solidFill>
            <a:srgbClr val="EFCCD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1012426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185" name="Sequence cell 6"/>
          <p:cNvSpPr/>
          <p:nvPr/>
        </p:nvSpPr>
        <p:spPr>
          <a:xfrm>
            <a:off x="11234304" y="1977770"/>
            <a:ext cx="221878" cy="210536"/>
          </a:xfrm>
          <a:prstGeom prst="rect">
            <a:avLst/>
          </a:prstGeom>
          <a:solidFill>
            <a:srgbClr val="D8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1234304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8</a:t>
            </a:r>
          </a:p>
        </p:txBody>
      </p:sp>
      <p:sp>
        <p:nvSpPr>
          <p:cNvPr id="187" name="Sequence cell 7"/>
          <p:cNvSpPr/>
          <p:nvPr/>
        </p:nvSpPr>
        <p:spPr>
          <a:xfrm>
            <a:off x="11456183" y="1977770"/>
            <a:ext cx="221878" cy="210536"/>
          </a:xfrm>
          <a:prstGeom prst="rect">
            <a:avLst/>
          </a:prstGeom>
          <a:solidFill>
            <a:srgbClr val="CCEBC5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1456183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189" name="Sequence cell 8"/>
          <p:cNvSpPr/>
          <p:nvPr/>
        </p:nvSpPr>
        <p:spPr>
          <a:xfrm>
            <a:off x="11678062" y="1977770"/>
            <a:ext cx="221878" cy="210536"/>
          </a:xfrm>
          <a:prstGeom prst="rect">
            <a:avLst/>
          </a:prstGeom>
          <a:solidFill>
            <a:srgbClr val="CDEBED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1678062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6</a:t>
            </a:r>
          </a:p>
        </p:txBody>
      </p:sp>
      <p:sp>
        <p:nvSpPr>
          <p:cNvPr id="191" name="Sequence cell 9"/>
          <p:cNvSpPr/>
          <p:nvPr/>
        </p:nvSpPr>
        <p:spPr>
          <a:xfrm>
            <a:off x="11899941" y="1977770"/>
            <a:ext cx="221878" cy="210536"/>
          </a:xfrm>
          <a:prstGeom prst="rect">
            <a:avLst/>
          </a:prstGeom>
          <a:solidFill>
            <a:srgbClr val="EBCB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1899941" y="197777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9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9767635" y="2079849"/>
            <a:ext cx="344515" cy="0"/>
          </a:xfrm>
          <a:prstGeom prst="line">
            <a:avLst/>
          </a:prstGeom>
          <a:ln w="12759">
            <a:solidFill>
              <a:srgbClr val="11111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tangular partition panel"/>
          <p:cNvSpPr/>
          <p:nvPr/>
        </p:nvSpPr>
        <p:spPr>
          <a:xfrm>
            <a:off x="7923842" y="2628521"/>
            <a:ext cx="1250461" cy="1090963"/>
          </a:xfrm>
          <a:prstGeom prst="roundRect">
            <a:avLst/>
          </a:prstGeom>
          <a:solidFill>
            <a:srgbClr val="FFFDE5"/>
          </a:solidFill>
          <a:ln w="1275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7949362" y="2634901"/>
            <a:ext cx="1205802" cy="293475"/>
          </a:xfrm>
          <a:custGeom>
            <a:avLst/>
            <a:gdLst/>
            <a:ahLst/>
            <a:cxnLst/>
            <a:rect l="l" t="t" r="r" b="b"/>
            <a:pathLst>
              <a:path w="1205802" h="293475">
                <a:moveTo>
                  <a:pt x="76559" y="0"/>
                </a:moveTo>
                <a:lnTo>
                  <a:pt x="1205802" y="0"/>
                </a:lnTo>
                <a:lnTo>
                  <a:pt x="1097344" y="293475"/>
                </a:lnTo>
                <a:lnTo>
                  <a:pt x="0" y="293475"/>
                </a:lnTo>
                <a:close/>
              </a:path>
            </a:pathLst>
          </a:custGeom>
          <a:solidFill>
            <a:srgbClr val="F7EDCA"/>
          </a:solidFill>
          <a:ln w="637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Node 1"/>
          <p:cNvSpPr/>
          <p:nvPr/>
        </p:nvSpPr>
        <p:spPr>
          <a:xfrm>
            <a:off x="8051440" y="2666800"/>
            <a:ext cx="216916" cy="204156"/>
          </a:xfrm>
          <a:prstGeom prst="rect">
            <a:avLst/>
          </a:prstGeom>
          <a:solidFill>
            <a:srgbClr val="F7E7C4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Node label 1"/>
          <p:cNvSpPr txBox="1"/>
          <p:nvPr/>
        </p:nvSpPr>
        <p:spPr>
          <a:xfrm>
            <a:off x="8051440" y="266042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8274737" y="2768879"/>
            <a:ext cx="172258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Node 2"/>
          <p:cNvSpPr/>
          <p:nvPr/>
        </p:nvSpPr>
        <p:spPr>
          <a:xfrm>
            <a:off x="8453374" y="2666800"/>
            <a:ext cx="216916" cy="204156"/>
          </a:xfrm>
          <a:prstGeom prst="rect">
            <a:avLst/>
          </a:prstGeom>
          <a:solidFill>
            <a:srgbClr val="DC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Node label 2"/>
          <p:cNvSpPr txBox="1"/>
          <p:nvPr/>
        </p:nvSpPr>
        <p:spPr>
          <a:xfrm>
            <a:off x="8453374" y="266042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8676671" y="2768879"/>
            <a:ext cx="172258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Node 3"/>
          <p:cNvSpPr/>
          <p:nvPr/>
        </p:nvSpPr>
        <p:spPr>
          <a:xfrm>
            <a:off x="8855309" y="2666800"/>
            <a:ext cx="216916" cy="204156"/>
          </a:xfrm>
          <a:prstGeom prst="rect">
            <a:avLst/>
          </a:prstGeom>
          <a:solidFill>
            <a:srgbClr val="CCEBC5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Node label 3"/>
          <p:cNvSpPr txBox="1"/>
          <p:nvPr/>
        </p:nvSpPr>
        <p:spPr>
          <a:xfrm>
            <a:off x="8855309" y="266042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204" name="Freeform 203"/>
          <p:cNvSpPr/>
          <p:nvPr/>
        </p:nvSpPr>
        <p:spPr>
          <a:xfrm>
            <a:off x="7949362" y="2966656"/>
            <a:ext cx="1205802" cy="293475"/>
          </a:xfrm>
          <a:custGeom>
            <a:avLst/>
            <a:gdLst/>
            <a:ahLst/>
            <a:cxnLst/>
            <a:rect l="l" t="t" r="r" b="b"/>
            <a:pathLst>
              <a:path w="1205802" h="293475">
                <a:moveTo>
                  <a:pt x="76559" y="0"/>
                </a:moveTo>
                <a:lnTo>
                  <a:pt x="1205802" y="0"/>
                </a:lnTo>
                <a:lnTo>
                  <a:pt x="1097344" y="293475"/>
                </a:lnTo>
                <a:lnTo>
                  <a:pt x="0" y="293475"/>
                </a:lnTo>
                <a:close/>
              </a:path>
            </a:pathLst>
          </a:custGeom>
          <a:solidFill>
            <a:srgbClr val="E7F3C4"/>
          </a:solidFill>
          <a:ln w="637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Node 4"/>
          <p:cNvSpPr/>
          <p:nvPr/>
        </p:nvSpPr>
        <p:spPr>
          <a:xfrm>
            <a:off x="8051440" y="2998555"/>
            <a:ext cx="216916" cy="204156"/>
          </a:xfrm>
          <a:prstGeom prst="rect">
            <a:avLst/>
          </a:prstGeom>
          <a:solidFill>
            <a:srgbClr val="C8E9C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Node label 4"/>
          <p:cNvSpPr txBox="1"/>
          <p:nvPr/>
        </p:nvSpPr>
        <p:spPr>
          <a:xfrm>
            <a:off x="8051440" y="2992175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8274737" y="3100634"/>
            <a:ext cx="172258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Node 5"/>
          <p:cNvSpPr/>
          <p:nvPr/>
        </p:nvSpPr>
        <p:spPr>
          <a:xfrm>
            <a:off x="8453374" y="2998555"/>
            <a:ext cx="216916" cy="204156"/>
          </a:xfrm>
          <a:prstGeom prst="rect">
            <a:avLst/>
          </a:prstGeom>
          <a:solidFill>
            <a:srgbClr val="EFCCD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Node label 5"/>
          <p:cNvSpPr txBox="1"/>
          <p:nvPr/>
        </p:nvSpPr>
        <p:spPr>
          <a:xfrm>
            <a:off x="8453374" y="2992175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8676671" y="3100634"/>
            <a:ext cx="172258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Node 6"/>
          <p:cNvSpPr/>
          <p:nvPr/>
        </p:nvSpPr>
        <p:spPr>
          <a:xfrm>
            <a:off x="8855309" y="2998555"/>
            <a:ext cx="216916" cy="204156"/>
          </a:xfrm>
          <a:prstGeom prst="rect">
            <a:avLst/>
          </a:prstGeom>
          <a:solidFill>
            <a:srgbClr val="CDEBED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Node label 6"/>
          <p:cNvSpPr txBox="1"/>
          <p:nvPr/>
        </p:nvSpPr>
        <p:spPr>
          <a:xfrm>
            <a:off x="8855309" y="2992175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6</a:t>
            </a:r>
          </a:p>
        </p:txBody>
      </p:sp>
      <p:sp>
        <p:nvSpPr>
          <p:cNvPr id="213" name="Freeform 212"/>
          <p:cNvSpPr/>
          <p:nvPr/>
        </p:nvSpPr>
        <p:spPr>
          <a:xfrm>
            <a:off x="7949362" y="3311171"/>
            <a:ext cx="1205802" cy="293475"/>
          </a:xfrm>
          <a:custGeom>
            <a:avLst/>
            <a:gdLst/>
            <a:ahLst/>
            <a:cxnLst/>
            <a:rect l="l" t="t" r="r" b="b"/>
            <a:pathLst>
              <a:path w="1205802" h="293475">
                <a:moveTo>
                  <a:pt x="76559" y="0"/>
                </a:moveTo>
                <a:lnTo>
                  <a:pt x="1205802" y="0"/>
                </a:lnTo>
                <a:lnTo>
                  <a:pt x="1097344" y="293475"/>
                </a:lnTo>
                <a:lnTo>
                  <a:pt x="0" y="293475"/>
                </a:lnTo>
                <a:close/>
              </a:path>
            </a:pathLst>
          </a:custGeom>
          <a:solidFill>
            <a:srgbClr val="D6E9F1"/>
          </a:solidFill>
          <a:ln w="637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Node 7"/>
          <p:cNvSpPr/>
          <p:nvPr/>
        </p:nvSpPr>
        <p:spPr>
          <a:xfrm>
            <a:off x="8051440" y="3343070"/>
            <a:ext cx="216916" cy="204156"/>
          </a:xfrm>
          <a:prstGeom prst="rect">
            <a:avLst/>
          </a:prstGeom>
          <a:solidFill>
            <a:srgbClr val="C7E9E7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Node label 7"/>
          <p:cNvSpPr txBox="1"/>
          <p:nvPr/>
        </p:nvSpPr>
        <p:spPr>
          <a:xfrm>
            <a:off x="8051440" y="333669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7</a:t>
            </a:r>
          </a:p>
        </p:txBody>
      </p:sp>
      <p:cxnSp>
        <p:nvCxnSpPr>
          <p:cNvPr id="216" name="Connector 215"/>
          <p:cNvCxnSpPr/>
          <p:nvPr/>
        </p:nvCxnSpPr>
        <p:spPr>
          <a:xfrm>
            <a:off x="8274737" y="3445149"/>
            <a:ext cx="172258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Node 8"/>
          <p:cNvSpPr/>
          <p:nvPr/>
        </p:nvSpPr>
        <p:spPr>
          <a:xfrm>
            <a:off x="8453374" y="3343070"/>
            <a:ext cx="216916" cy="204156"/>
          </a:xfrm>
          <a:prstGeom prst="rect">
            <a:avLst/>
          </a:prstGeom>
          <a:solidFill>
            <a:srgbClr val="D8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Node label 8"/>
          <p:cNvSpPr txBox="1"/>
          <p:nvPr/>
        </p:nvSpPr>
        <p:spPr>
          <a:xfrm>
            <a:off x="8453374" y="333669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8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8676671" y="3445149"/>
            <a:ext cx="172258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Node 9"/>
          <p:cNvSpPr/>
          <p:nvPr/>
        </p:nvSpPr>
        <p:spPr>
          <a:xfrm>
            <a:off x="8855309" y="3343070"/>
            <a:ext cx="216916" cy="204156"/>
          </a:xfrm>
          <a:prstGeom prst="rect">
            <a:avLst/>
          </a:prstGeom>
          <a:solidFill>
            <a:srgbClr val="EBCB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Node label 9"/>
          <p:cNvSpPr txBox="1"/>
          <p:nvPr/>
        </p:nvSpPr>
        <p:spPr>
          <a:xfrm>
            <a:off x="8855309" y="333669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9</a:t>
            </a:r>
          </a:p>
        </p:txBody>
      </p:sp>
      <p:cxnSp>
        <p:nvCxnSpPr>
          <p:cNvPr id="222" name="Connector 221"/>
          <p:cNvCxnSpPr/>
          <p:nvPr/>
        </p:nvCxnSpPr>
        <p:spPr>
          <a:xfrm flipV="1">
            <a:off x="8025921" y="2360565"/>
            <a:ext cx="0" cy="242436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8089720" y="2296766"/>
            <a:ext cx="159497" cy="1594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4" b="1" i="0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cxnSp>
        <p:nvCxnSpPr>
          <p:cNvPr id="224" name="Connector 223"/>
          <p:cNvCxnSpPr/>
          <p:nvPr/>
        </p:nvCxnSpPr>
        <p:spPr>
          <a:xfrm flipH="1">
            <a:off x="7860043" y="3534467"/>
            <a:ext cx="153118" cy="255196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7770725" y="3559987"/>
            <a:ext cx="178637" cy="1786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4" b="1" i="0">
                <a:solidFill>
                  <a:srgbClr val="000000"/>
                </a:solidFill>
                <a:latin typeface="DejaVu Sans"/>
              </a:rPr>
              <a:t>y</a:t>
            </a:r>
          </a:p>
        </p:txBody>
      </p:sp>
      <p:cxnSp>
        <p:nvCxnSpPr>
          <p:cNvPr id="226" name="Connector 225"/>
          <p:cNvCxnSpPr/>
          <p:nvPr/>
        </p:nvCxnSpPr>
        <p:spPr>
          <a:xfrm>
            <a:off x="9040326" y="3515328"/>
            <a:ext cx="325375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9238103" y="3292031"/>
            <a:ext cx="185017" cy="1850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4" b="1" i="0">
                <a:solidFill>
                  <a:srgbClr val="000000"/>
                </a:solidFill>
                <a:latin typeface="DejaVu Sans"/>
              </a:rPr>
              <a:t>x</a:t>
            </a:r>
          </a:p>
        </p:txBody>
      </p:sp>
      <p:sp>
        <p:nvSpPr>
          <p:cNvPr id="228" name="Oval 227"/>
          <p:cNvSpPr/>
          <p:nvPr/>
        </p:nvSpPr>
        <p:spPr>
          <a:xfrm>
            <a:off x="10443905" y="2252106"/>
            <a:ext cx="1665155" cy="1741714"/>
          </a:xfrm>
          <a:prstGeom prst="ellipse">
            <a:avLst/>
          </a:prstGeom>
          <a:solidFill>
            <a:srgbClr val="EEF0F1"/>
          </a:solidFill>
          <a:ln w="1275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590643" y="2360565"/>
            <a:ext cx="1409959" cy="1505657"/>
          </a:xfrm>
          <a:prstGeom prst="ellipse">
            <a:avLst/>
          </a:prstGeom>
          <a:noFill/>
          <a:ln w="1275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813940" y="2596621"/>
            <a:ext cx="976125" cy="899566"/>
          </a:xfrm>
          <a:prstGeom prst="ellipse">
            <a:avLst/>
          </a:prstGeom>
          <a:solidFill>
            <a:srgbClr val="FFF3C8"/>
          </a:solidFill>
          <a:ln w="1275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960677" y="2724219"/>
            <a:ext cx="663510" cy="644370"/>
          </a:xfrm>
          <a:prstGeom prst="ellipse">
            <a:avLst/>
          </a:prstGeom>
          <a:noFill/>
          <a:ln w="1275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Node 1"/>
          <p:cNvSpPr/>
          <p:nvPr/>
        </p:nvSpPr>
        <p:spPr>
          <a:xfrm>
            <a:off x="10609783" y="2724219"/>
            <a:ext cx="216916" cy="204156"/>
          </a:xfrm>
          <a:prstGeom prst="rect">
            <a:avLst/>
          </a:prstGeom>
          <a:solidFill>
            <a:srgbClr val="F7E7C4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Node label 1"/>
          <p:cNvSpPr txBox="1"/>
          <p:nvPr/>
        </p:nvSpPr>
        <p:spPr>
          <a:xfrm>
            <a:off x="10609783" y="2717839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234" name="Node 2"/>
          <p:cNvSpPr/>
          <p:nvPr/>
        </p:nvSpPr>
        <p:spPr>
          <a:xfrm>
            <a:off x="11183974" y="2615761"/>
            <a:ext cx="216916" cy="204156"/>
          </a:xfrm>
          <a:prstGeom prst="rect">
            <a:avLst/>
          </a:prstGeom>
          <a:solidFill>
            <a:srgbClr val="DC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Node label 2"/>
          <p:cNvSpPr txBox="1"/>
          <p:nvPr/>
        </p:nvSpPr>
        <p:spPr>
          <a:xfrm>
            <a:off x="11183974" y="2609381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236" name="Node 3"/>
          <p:cNvSpPr/>
          <p:nvPr/>
        </p:nvSpPr>
        <p:spPr>
          <a:xfrm>
            <a:off x="11719886" y="2724219"/>
            <a:ext cx="216916" cy="204156"/>
          </a:xfrm>
          <a:prstGeom prst="rect">
            <a:avLst/>
          </a:prstGeom>
          <a:solidFill>
            <a:srgbClr val="CCEBC5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Node label 3"/>
          <p:cNvSpPr txBox="1"/>
          <p:nvPr/>
        </p:nvSpPr>
        <p:spPr>
          <a:xfrm>
            <a:off x="11719886" y="2717839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238" name="Node 4"/>
          <p:cNvSpPr/>
          <p:nvPr/>
        </p:nvSpPr>
        <p:spPr>
          <a:xfrm>
            <a:off x="10877739" y="2934756"/>
            <a:ext cx="216916" cy="204156"/>
          </a:xfrm>
          <a:prstGeom prst="rect">
            <a:avLst/>
          </a:prstGeom>
          <a:solidFill>
            <a:srgbClr val="C8E9C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Node label 4"/>
          <p:cNvSpPr txBox="1"/>
          <p:nvPr/>
        </p:nvSpPr>
        <p:spPr>
          <a:xfrm>
            <a:off x="10877739" y="2928376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240" name="Node 5"/>
          <p:cNvSpPr/>
          <p:nvPr/>
        </p:nvSpPr>
        <p:spPr>
          <a:xfrm>
            <a:off x="11183974" y="2934756"/>
            <a:ext cx="216916" cy="204156"/>
          </a:xfrm>
          <a:prstGeom prst="rect">
            <a:avLst/>
          </a:prstGeom>
          <a:solidFill>
            <a:srgbClr val="EFCCD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Node label 5"/>
          <p:cNvSpPr txBox="1"/>
          <p:nvPr/>
        </p:nvSpPr>
        <p:spPr>
          <a:xfrm>
            <a:off x="11183974" y="2928376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242" name="Node 6"/>
          <p:cNvSpPr/>
          <p:nvPr/>
        </p:nvSpPr>
        <p:spPr>
          <a:xfrm>
            <a:off x="11483830" y="2934756"/>
            <a:ext cx="216916" cy="204156"/>
          </a:xfrm>
          <a:prstGeom prst="rect">
            <a:avLst/>
          </a:prstGeom>
          <a:solidFill>
            <a:srgbClr val="CDEBED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Node label 6"/>
          <p:cNvSpPr txBox="1"/>
          <p:nvPr/>
        </p:nvSpPr>
        <p:spPr>
          <a:xfrm>
            <a:off x="11483830" y="2928376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6</a:t>
            </a:r>
          </a:p>
        </p:txBody>
      </p:sp>
      <p:sp>
        <p:nvSpPr>
          <p:cNvPr id="244" name="Node 7"/>
          <p:cNvSpPr/>
          <p:nvPr/>
        </p:nvSpPr>
        <p:spPr>
          <a:xfrm>
            <a:off x="10609783" y="3304791"/>
            <a:ext cx="216916" cy="204156"/>
          </a:xfrm>
          <a:prstGeom prst="rect">
            <a:avLst/>
          </a:prstGeom>
          <a:solidFill>
            <a:srgbClr val="C7E9E7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Node label 7"/>
          <p:cNvSpPr txBox="1"/>
          <p:nvPr/>
        </p:nvSpPr>
        <p:spPr>
          <a:xfrm>
            <a:off x="10609783" y="3298411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7</a:t>
            </a:r>
          </a:p>
        </p:txBody>
      </p:sp>
      <p:sp>
        <p:nvSpPr>
          <p:cNvPr id="246" name="Node 8"/>
          <p:cNvSpPr/>
          <p:nvPr/>
        </p:nvSpPr>
        <p:spPr>
          <a:xfrm>
            <a:off x="11183974" y="3330310"/>
            <a:ext cx="216916" cy="204156"/>
          </a:xfrm>
          <a:prstGeom prst="rect">
            <a:avLst/>
          </a:prstGeom>
          <a:solidFill>
            <a:srgbClr val="D8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Node label 8"/>
          <p:cNvSpPr txBox="1"/>
          <p:nvPr/>
        </p:nvSpPr>
        <p:spPr>
          <a:xfrm>
            <a:off x="11183974" y="3323930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8</a:t>
            </a:r>
          </a:p>
        </p:txBody>
      </p:sp>
      <p:sp>
        <p:nvSpPr>
          <p:cNvPr id="248" name="Node 9"/>
          <p:cNvSpPr/>
          <p:nvPr/>
        </p:nvSpPr>
        <p:spPr>
          <a:xfrm>
            <a:off x="11719886" y="3304791"/>
            <a:ext cx="216916" cy="204156"/>
          </a:xfrm>
          <a:prstGeom prst="rect">
            <a:avLst/>
          </a:prstGeom>
          <a:solidFill>
            <a:srgbClr val="EBCB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Node label 9"/>
          <p:cNvSpPr txBox="1"/>
          <p:nvPr/>
        </p:nvSpPr>
        <p:spPr>
          <a:xfrm>
            <a:off x="11719886" y="3298411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9</a:t>
            </a:r>
          </a:p>
        </p:txBody>
      </p:sp>
      <p:cxnSp>
        <p:nvCxnSpPr>
          <p:cNvPr id="250" name="Connector 249"/>
          <p:cNvCxnSpPr/>
          <p:nvPr/>
        </p:nvCxnSpPr>
        <p:spPr>
          <a:xfrm flipV="1">
            <a:off x="10718241" y="2717839"/>
            <a:ext cx="574191" cy="108459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1292432" y="2717839"/>
            <a:ext cx="535913" cy="108459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H="1">
            <a:off x="11592288" y="2826298"/>
            <a:ext cx="236057" cy="210537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1592288" y="3036835"/>
            <a:ext cx="236057" cy="370034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H="1">
            <a:off x="11292432" y="3406869"/>
            <a:ext cx="535913" cy="2552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11292432" y="3036835"/>
            <a:ext cx="0" cy="395554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>
            <a:off x="10986197" y="3036835"/>
            <a:ext cx="306235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H="1">
            <a:off x="10718241" y="3036835"/>
            <a:ext cx="267956" cy="370034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437525" y="3853463"/>
            <a:ext cx="1646016" cy="0"/>
          </a:xfrm>
          <a:prstGeom prst="line">
            <a:avLst/>
          </a:prstGeom>
          <a:ln w="1913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1994222" y="3878982"/>
            <a:ext cx="178637" cy="1786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4" b="1" i="0">
                <a:solidFill>
                  <a:srgbClr val="000000"/>
                </a:solidFill>
                <a:latin typeface="DejaVu Sans"/>
              </a:rPr>
              <a:t>x</a:t>
            </a:r>
          </a:p>
        </p:txBody>
      </p:sp>
      <p:cxnSp>
        <p:nvCxnSpPr>
          <p:cNvPr id="260" name="Connector 259"/>
          <p:cNvCxnSpPr/>
          <p:nvPr/>
        </p:nvCxnSpPr>
        <p:spPr>
          <a:xfrm flipV="1">
            <a:off x="10443905" y="2360565"/>
            <a:ext cx="0" cy="1492898"/>
          </a:xfrm>
          <a:prstGeom prst="line">
            <a:avLst/>
          </a:prstGeom>
          <a:ln w="1913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TextBox 260"/>
          <p:cNvSpPr txBox="1"/>
          <p:nvPr/>
        </p:nvSpPr>
        <p:spPr>
          <a:xfrm>
            <a:off x="10226988" y="2366944"/>
            <a:ext cx="172257" cy="1786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4" b="1" i="0">
                <a:solidFill>
                  <a:srgbClr val="000000"/>
                </a:solidFill>
                <a:latin typeface="DejaVu Sans"/>
              </a:rPr>
              <a:t>y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278028" y="3764144"/>
            <a:ext cx="172257" cy="1786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4" b="1" i="0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cxnSp>
        <p:nvCxnSpPr>
          <p:cNvPr id="263" name="Connector 262"/>
          <p:cNvCxnSpPr/>
          <p:nvPr/>
        </p:nvCxnSpPr>
        <p:spPr>
          <a:xfrm>
            <a:off x="9263623" y="3081494"/>
            <a:ext cx="1167522" cy="0"/>
          </a:xfrm>
          <a:prstGeom prst="line">
            <a:avLst/>
          </a:prstGeom>
          <a:ln w="12759">
            <a:solidFill>
              <a:srgbClr val="00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9416740" y="2666800"/>
            <a:ext cx="956985" cy="274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6" i="1">
                <a:solidFill>
                  <a:srgbClr val="000000"/>
                </a:solidFill>
                <a:latin typeface="DejaVu Math TeX Gyre"/>
              </a:rPr>
              <a:t>ℒ</a:t>
            </a:r>
            <a:r>
              <a:rPr sz="946" i="1" baseline="-25000">
                <a:solidFill>
                  <a:srgbClr val="000000"/>
                </a:solidFill>
                <a:latin typeface="DejaVu Math TeX Gyre"/>
              </a:rPr>
              <a:t>local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9365701" y="3177193"/>
            <a:ext cx="1084583" cy="4019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4" b="1" i="0">
                <a:solidFill>
                  <a:srgbClr val="000000"/>
                </a:solidFill>
                <a:latin typeface="DejaVu Sans"/>
              </a:rPr>
              <a:t>Local
Consistency Prior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7770725" y="3770524"/>
            <a:ext cx="2041569" cy="1786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5" b="1" i="0">
                <a:solidFill>
                  <a:srgbClr val="000000"/>
                </a:solidFill>
                <a:latin typeface="DejaVu Sans"/>
              </a:rPr>
              <a:t>Rectangular Partition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0080250" y="3770524"/>
            <a:ext cx="2054329" cy="1786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5" b="1" i="0">
                <a:solidFill>
                  <a:srgbClr val="000000"/>
                </a:solidFill>
                <a:latin typeface="DejaVu Sans"/>
              </a:rPr>
              <a:t>Cylindrical Partition</a:t>
            </a:r>
          </a:p>
        </p:txBody>
      </p:sp>
      <p:sp>
        <p:nvSpPr>
          <p:cNvPr id="268" name="Sequence cell 1"/>
          <p:cNvSpPr/>
          <p:nvPr/>
        </p:nvSpPr>
        <p:spPr>
          <a:xfrm>
            <a:off x="7757965" y="4044860"/>
            <a:ext cx="221878" cy="210536"/>
          </a:xfrm>
          <a:prstGeom prst="rect">
            <a:avLst/>
          </a:prstGeom>
          <a:solidFill>
            <a:srgbClr val="F7E7C4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7757965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270" name="Sequence cell 2"/>
          <p:cNvSpPr/>
          <p:nvPr/>
        </p:nvSpPr>
        <p:spPr>
          <a:xfrm>
            <a:off x="7979844" y="4044860"/>
            <a:ext cx="221878" cy="210536"/>
          </a:xfrm>
          <a:prstGeom prst="rect">
            <a:avLst/>
          </a:prstGeom>
          <a:solidFill>
            <a:srgbClr val="DC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7979844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272" name="Sequence cell 3"/>
          <p:cNvSpPr/>
          <p:nvPr/>
        </p:nvSpPr>
        <p:spPr>
          <a:xfrm>
            <a:off x="8201723" y="4044860"/>
            <a:ext cx="221878" cy="210536"/>
          </a:xfrm>
          <a:prstGeom prst="rect">
            <a:avLst/>
          </a:prstGeom>
          <a:solidFill>
            <a:srgbClr val="CCEBC5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8201723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274" name="Sequence cell 4"/>
          <p:cNvSpPr/>
          <p:nvPr/>
        </p:nvSpPr>
        <p:spPr>
          <a:xfrm>
            <a:off x="8423602" y="4044860"/>
            <a:ext cx="221878" cy="210536"/>
          </a:xfrm>
          <a:prstGeom prst="rect">
            <a:avLst/>
          </a:prstGeom>
          <a:solidFill>
            <a:srgbClr val="C8E9C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8423602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276" name="Sequence cell 5"/>
          <p:cNvSpPr/>
          <p:nvPr/>
        </p:nvSpPr>
        <p:spPr>
          <a:xfrm>
            <a:off x="8645481" y="4044860"/>
            <a:ext cx="221878" cy="210536"/>
          </a:xfrm>
          <a:prstGeom prst="rect">
            <a:avLst/>
          </a:prstGeom>
          <a:solidFill>
            <a:srgbClr val="EFCCD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645481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278" name="Sequence cell 6"/>
          <p:cNvSpPr/>
          <p:nvPr/>
        </p:nvSpPr>
        <p:spPr>
          <a:xfrm>
            <a:off x="8867359" y="4044860"/>
            <a:ext cx="221878" cy="210536"/>
          </a:xfrm>
          <a:prstGeom prst="rect">
            <a:avLst/>
          </a:prstGeom>
          <a:solidFill>
            <a:srgbClr val="CDEBED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8867359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6</a:t>
            </a:r>
          </a:p>
        </p:txBody>
      </p:sp>
      <p:sp>
        <p:nvSpPr>
          <p:cNvPr id="280" name="Sequence cell 7"/>
          <p:cNvSpPr/>
          <p:nvPr/>
        </p:nvSpPr>
        <p:spPr>
          <a:xfrm>
            <a:off x="9089238" y="4044860"/>
            <a:ext cx="221878" cy="210536"/>
          </a:xfrm>
          <a:prstGeom prst="rect">
            <a:avLst/>
          </a:prstGeom>
          <a:solidFill>
            <a:srgbClr val="C7E9E7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9089238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7</a:t>
            </a:r>
          </a:p>
        </p:txBody>
      </p:sp>
      <p:sp>
        <p:nvSpPr>
          <p:cNvPr id="282" name="Sequence cell 8"/>
          <p:cNvSpPr/>
          <p:nvPr/>
        </p:nvSpPr>
        <p:spPr>
          <a:xfrm>
            <a:off x="9311117" y="4044860"/>
            <a:ext cx="221878" cy="210536"/>
          </a:xfrm>
          <a:prstGeom prst="rect">
            <a:avLst/>
          </a:prstGeom>
          <a:solidFill>
            <a:srgbClr val="D8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9311117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8</a:t>
            </a:r>
          </a:p>
        </p:txBody>
      </p:sp>
      <p:sp>
        <p:nvSpPr>
          <p:cNvPr id="284" name="Sequence cell 9"/>
          <p:cNvSpPr/>
          <p:nvPr/>
        </p:nvSpPr>
        <p:spPr>
          <a:xfrm>
            <a:off x="9532996" y="4044860"/>
            <a:ext cx="221878" cy="210536"/>
          </a:xfrm>
          <a:prstGeom prst="rect">
            <a:avLst/>
          </a:prstGeom>
          <a:solidFill>
            <a:srgbClr val="EBCB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9532996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9</a:t>
            </a:r>
          </a:p>
        </p:txBody>
      </p:sp>
      <p:sp>
        <p:nvSpPr>
          <p:cNvPr id="286" name="Sequence cell 1"/>
          <p:cNvSpPr/>
          <p:nvPr/>
        </p:nvSpPr>
        <p:spPr>
          <a:xfrm>
            <a:off x="10124910" y="4044860"/>
            <a:ext cx="221878" cy="210536"/>
          </a:xfrm>
          <a:prstGeom prst="rect">
            <a:avLst/>
          </a:prstGeom>
          <a:solidFill>
            <a:srgbClr val="EFCCD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0124910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288" name="Sequence cell 2"/>
          <p:cNvSpPr/>
          <p:nvPr/>
        </p:nvSpPr>
        <p:spPr>
          <a:xfrm>
            <a:off x="10346789" y="4044860"/>
            <a:ext cx="221878" cy="210536"/>
          </a:xfrm>
          <a:prstGeom prst="rect">
            <a:avLst/>
          </a:prstGeom>
          <a:solidFill>
            <a:srgbClr val="C8E9C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0346789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290" name="Sequence cell 3"/>
          <p:cNvSpPr/>
          <p:nvPr/>
        </p:nvSpPr>
        <p:spPr>
          <a:xfrm>
            <a:off x="10568668" y="4044860"/>
            <a:ext cx="221878" cy="210536"/>
          </a:xfrm>
          <a:prstGeom prst="rect">
            <a:avLst/>
          </a:prstGeom>
          <a:solidFill>
            <a:srgbClr val="DC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0568668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292" name="Sequence cell 4"/>
          <p:cNvSpPr/>
          <p:nvPr/>
        </p:nvSpPr>
        <p:spPr>
          <a:xfrm>
            <a:off x="10790547" y="4044860"/>
            <a:ext cx="221878" cy="210536"/>
          </a:xfrm>
          <a:prstGeom prst="rect">
            <a:avLst/>
          </a:prstGeom>
          <a:solidFill>
            <a:srgbClr val="CDEBED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0790547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6</a:t>
            </a:r>
          </a:p>
        </p:txBody>
      </p:sp>
      <p:sp>
        <p:nvSpPr>
          <p:cNvPr id="294" name="Sequence cell 5"/>
          <p:cNvSpPr/>
          <p:nvPr/>
        </p:nvSpPr>
        <p:spPr>
          <a:xfrm>
            <a:off x="11012426" y="4044860"/>
            <a:ext cx="221878" cy="210536"/>
          </a:xfrm>
          <a:prstGeom prst="rect">
            <a:avLst/>
          </a:prstGeom>
          <a:solidFill>
            <a:srgbClr val="D8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11012426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8</a:t>
            </a:r>
          </a:p>
        </p:txBody>
      </p:sp>
      <p:sp>
        <p:nvSpPr>
          <p:cNvPr id="296" name="Sequence cell 6"/>
          <p:cNvSpPr/>
          <p:nvPr/>
        </p:nvSpPr>
        <p:spPr>
          <a:xfrm>
            <a:off x="11234304" y="4044860"/>
            <a:ext cx="221878" cy="210536"/>
          </a:xfrm>
          <a:prstGeom prst="rect">
            <a:avLst/>
          </a:prstGeom>
          <a:solidFill>
            <a:srgbClr val="F7E7C4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1234304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298" name="Sequence cell 7"/>
          <p:cNvSpPr/>
          <p:nvPr/>
        </p:nvSpPr>
        <p:spPr>
          <a:xfrm>
            <a:off x="11456183" y="4044860"/>
            <a:ext cx="221878" cy="210536"/>
          </a:xfrm>
          <a:prstGeom prst="rect">
            <a:avLst/>
          </a:prstGeom>
          <a:solidFill>
            <a:srgbClr val="CCEBC5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11456183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300" name="Sequence cell 8"/>
          <p:cNvSpPr/>
          <p:nvPr/>
        </p:nvSpPr>
        <p:spPr>
          <a:xfrm>
            <a:off x="11678062" y="4044860"/>
            <a:ext cx="221878" cy="210536"/>
          </a:xfrm>
          <a:prstGeom prst="rect">
            <a:avLst/>
          </a:prstGeom>
          <a:solidFill>
            <a:srgbClr val="EBCB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1678062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9</a:t>
            </a:r>
          </a:p>
        </p:txBody>
      </p:sp>
      <p:sp>
        <p:nvSpPr>
          <p:cNvPr id="302" name="Sequence cell 9"/>
          <p:cNvSpPr/>
          <p:nvPr/>
        </p:nvSpPr>
        <p:spPr>
          <a:xfrm>
            <a:off x="11899941" y="4044860"/>
            <a:ext cx="221878" cy="210536"/>
          </a:xfrm>
          <a:prstGeom prst="rect">
            <a:avLst/>
          </a:prstGeom>
          <a:solidFill>
            <a:srgbClr val="C7E9E7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11899941" y="4044860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7</a:t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9767635" y="4146938"/>
            <a:ext cx="344515" cy="0"/>
          </a:xfrm>
          <a:prstGeom prst="line">
            <a:avLst/>
          </a:prstGeom>
          <a:ln w="12759">
            <a:solidFill>
              <a:srgbClr val="11111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High-density panel"/>
          <p:cNvSpPr/>
          <p:nvPr/>
        </p:nvSpPr>
        <p:spPr>
          <a:xfrm>
            <a:off x="7923842" y="4382995"/>
            <a:ext cx="1250461" cy="1167522"/>
          </a:xfrm>
          <a:prstGeom prst="roundRect">
            <a:avLst/>
          </a:prstGeom>
          <a:solidFill>
            <a:srgbClr val="FFFDE5"/>
          </a:solidFill>
          <a:ln w="1275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Node 1"/>
          <p:cNvSpPr/>
          <p:nvPr/>
        </p:nvSpPr>
        <p:spPr>
          <a:xfrm>
            <a:off x="8051440" y="4478693"/>
            <a:ext cx="216916" cy="204156"/>
          </a:xfrm>
          <a:prstGeom prst="rect">
            <a:avLst/>
          </a:prstGeom>
          <a:solidFill>
            <a:srgbClr val="F7E7C4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Node label 1"/>
          <p:cNvSpPr txBox="1"/>
          <p:nvPr/>
        </p:nvSpPr>
        <p:spPr>
          <a:xfrm>
            <a:off x="8051440" y="4472313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308" name="Node 2"/>
          <p:cNvSpPr/>
          <p:nvPr/>
        </p:nvSpPr>
        <p:spPr>
          <a:xfrm>
            <a:off x="8453374" y="4478693"/>
            <a:ext cx="216916" cy="204156"/>
          </a:xfrm>
          <a:prstGeom prst="rect">
            <a:avLst/>
          </a:prstGeom>
          <a:solidFill>
            <a:srgbClr val="DC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Node label 2"/>
          <p:cNvSpPr txBox="1"/>
          <p:nvPr/>
        </p:nvSpPr>
        <p:spPr>
          <a:xfrm>
            <a:off x="8453374" y="4472313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310" name="Node 3"/>
          <p:cNvSpPr/>
          <p:nvPr/>
        </p:nvSpPr>
        <p:spPr>
          <a:xfrm>
            <a:off x="8855309" y="4478693"/>
            <a:ext cx="216916" cy="204156"/>
          </a:xfrm>
          <a:prstGeom prst="rect">
            <a:avLst/>
          </a:prstGeom>
          <a:solidFill>
            <a:srgbClr val="CCEBC5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Node label 3"/>
          <p:cNvSpPr txBox="1"/>
          <p:nvPr/>
        </p:nvSpPr>
        <p:spPr>
          <a:xfrm>
            <a:off x="8855309" y="4472313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312" name="Node 4"/>
          <p:cNvSpPr/>
          <p:nvPr/>
        </p:nvSpPr>
        <p:spPr>
          <a:xfrm>
            <a:off x="8051440" y="4835968"/>
            <a:ext cx="216916" cy="204156"/>
          </a:xfrm>
          <a:prstGeom prst="rect">
            <a:avLst/>
          </a:prstGeom>
          <a:solidFill>
            <a:srgbClr val="C8E9C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Node label 4"/>
          <p:cNvSpPr txBox="1"/>
          <p:nvPr/>
        </p:nvSpPr>
        <p:spPr>
          <a:xfrm>
            <a:off x="8051440" y="4829588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314" name="Node 5"/>
          <p:cNvSpPr/>
          <p:nvPr/>
        </p:nvSpPr>
        <p:spPr>
          <a:xfrm>
            <a:off x="8453374" y="4835968"/>
            <a:ext cx="216916" cy="204156"/>
          </a:xfrm>
          <a:prstGeom prst="rect">
            <a:avLst/>
          </a:prstGeom>
          <a:solidFill>
            <a:srgbClr val="EFCCD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Node label 5"/>
          <p:cNvSpPr txBox="1"/>
          <p:nvPr/>
        </p:nvSpPr>
        <p:spPr>
          <a:xfrm>
            <a:off x="8453374" y="4829588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316" name="Node 6"/>
          <p:cNvSpPr/>
          <p:nvPr/>
        </p:nvSpPr>
        <p:spPr>
          <a:xfrm>
            <a:off x="8855309" y="4835968"/>
            <a:ext cx="216916" cy="204156"/>
          </a:xfrm>
          <a:prstGeom prst="rect">
            <a:avLst/>
          </a:prstGeom>
          <a:solidFill>
            <a:srgbClr val="CDEBED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Node label 6"/>
          <p:cNvSpPr txBox="1"/>
          <p:nvPr/>
        </p:nvSpPr>
        <p:spPr>
          <a:xfrm>
            <a:off x="8855309" y="4829588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6</a:t>
            </a:r>
          </a:p>
        </p:txBody>
      </p:sp>
      <p:sp>
        <p:nvSpPr>
          <p:cNvPr id="318" name="Node 7"/>
          <p:cNvSpPr/>
          <p:nvPr/>
        </p:nvSpPr>
        <p:spPr>
          <a:xfrm>
            <a:off x="8051440" y="5193243"/>
            <a:ext cx="216916" cy="204156"/>
          </a:xfrm>
          <a:prstGeom prst="rect">
            <a:avLst/>
          </a:prstGeom>
          <a:solidFill>
            <a:srgbClr val="C7E9E7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Node label 7"/>
          <p:cNvSpPr txBox="1"/>
          <p:nvPr/>
        </p:nvSpPr>
        <p:spPr>
          <a:xfrm>
            <a:off x="8051440" y="5186863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7</a:t>
            </a:r>
          </a:p>
        </p:txBody>
      </p:sp>
      <p:sp>
        <p:nvSpPr>
          <p:cNvPr id="320" name="Node 8"/>
          <p:cNvSpPr/>
          <p:nvPr/>
        </p:nvSpPr>
        <p:spPr>
          <a:xfrm>
            <a:off x="8453374" y="5193243"/>
            <a:ext cx="216916" cy="204156"/>
          </a:xfrm>
          <a:prstGeom prst="rect">
            <a:avLst/>
          </a:prstGeom>
          <a:solidFill>
            <a:srgbClr val="D8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Node label 8"/>
          <p:cNvSpPr txBox="1"/>
          <p:nvPr/>
        </p:nvSpPr>
        <p:spPr>
          <a:xfrm>
            <a:off x="8453374" y="5186863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8</a:t>
            </a:r>
          </a:p>
        </p:txBody>
      </p:sp>
      <p:sp>
        <p:nvSpPr>
          <p:cNvPr id="322" name="Node 9"/>
          <p:cNvSpPr/>
          <p:nvPr/>
        </p:nvSpPr>
        <p:spPr>
          <a:xfrm>
            <a:off x="8855309" y="5193243"/>
            <a:ext cx="216916" cy="204156"/>
          </a:xfrm>
          <a:prstGeom prst="rect">
            <a:avLst/>
          </a:prstGeom>
          <a:solidFill>
            <a:srgbClr val="EBCB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Node label 9"/>
          <p:cNvSpPr txBox="1"/>
          <p:nvPr/>
        </p:nvSpPr>
        <p:spPr>
          <a:xfrm>
            <a:off x="8855309" y="5186863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9</a:t>
            </a:r>
          </a:p>
        </p:txBody>
      </p:sp>
      <p:cxnSp>
        <p:nvCxnSpPr>
          <p:cNvPr id="324" name="Connector 323"/>
          <p:cNvCxnSpPr/>
          <p:nvPr/>
        </p:nvCxnSpPr>
        <p:spPr>
          <a:xfrm>
            <a:off x="8159899" y="4580772"/>
            <a:ext cx="401934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8561833" y="4580772"/>
            <a:ext cx="401934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8159899" y="4938046"/>
            <a:ext cx="401934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8561833" y="4938046"/>
            <a:ext cx="401934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8159899" y="5295321"/>
            <a:ext cx="401934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8561833" y="5295321"/>
            <a:ext cx="401934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8159899" y="4580772"/>
            <a:ext cx="0" cy="357274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8159899" y="4938046"/>
            <a:ext cx="0" cy="357275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8963767" y="4580772"/>
            <a:ext cx="0" cy="357274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8963767" y="4938046"/>
            <a:ext cx="0" cy="357275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4" name="Low-density panel"/>
          <p:cNvSpPr/>
          <p:nvPr/>
        </p:nvSpPr>
        <p:spPr>
          <a:xfrm>
            <a:off x="10813940" y="4382995"/>
            <a:ext cx="1161142" cy="1167522"/>
          </a:xfrm>
          <a:prstGeom prst="roundRect">
            <a:avLst/>
          </a:prstGeom>
          <a:solidFill>
            <a:srgbClr val="FFFDE5"/>
          </a:solidFill>
          <a:ln w="1275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Node 1"/>
          <p:cNvSpPr/>
          <p:nvPr/>
        </p:nvSpPr>
        <p:spPr>
          <a:xfrm>
            <a:off x="10845839" y="4478693"/>
            <a:ext cx="216916" cy="204156"/>
          </a:xfrm>
          <a:prstGeom prst="rect">
            <a:avLst/>
          </a:prstGeom>
          <a:solidFill>
            <a:srgbClr val="F7E7C4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Node label 1"/>
          <p:cNvSpPr txBox="1"/>
          <p:nvPr/>
        </p:nvSpPr>
        <p:spPr>
          <a:xfrm>
            <a:off x="10845839" y="4472313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337" name="Node 2"/>
          <p:cNvSpPr/>
          <p:nvPr/>
        </p:nvSpPr>
        <p:spPr>
          <a:xfrm>
            <a:off x="11247773" y="4478693"/>
            <a:ext cx="216916" cy="204156"/>
          </a:xfrm>
          <a:prstGeom prst="rect">
            <a:avLst/>
          </a:prstGeom>
          <a:solidFill>
            <a:srgbClr val="DC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Node label 2"/>
          <p:cNvSpPr txBox="1"/>
          <p:nvPr/>
        </p:nvSpPr>
        <p:spPr>
          <a:xfrm>
            <a:off x="11247773" y="4472313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339" name="Missing node"/>
          <p:cNvSpPr/>
          <p:nvPr/>
        </p:nvSpPr>
        <p:spPr>
          <a:xfrm>
            <a:off x="11649707" y="4478693"/>
            <a:ext cx="216916" cy="204156"/>
          </a:xfrm>
          <a:prstGeom prst="rect">
            <a:avLst/>
          </a:prstGeom>
          <a:solidFill>
            <a:srgbClr val="FFFFFF"/>
          </a:solidFill>
          <a:ln w="1913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Missing node"/>
          <p:cNvSpPr/>
          <p:nvPr/>
        </p:nvSpPr>
        <p:spPr>
          <a:xfrm>
            <a:off x="10845839" y="4835968"/>
            <a:ext cx="216916" cy="204156"/>
          </a:xfrm>
          <a:prstGeom prst="rect">
            <a:avLst/>
          </a:prstGeom>
          <a:solidFill>
            <a:srgbClr val="FFFFFF"/>
          </a:solidFill>
          <a:ln w="1913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Node 5"/>
          <p:cNvSpPr/>
          <p:nvPr/>
        </p:nvSpPr>
        <p:spPr>
          <a:xfrm>
            <a:off x="11247773" y="4835968"/>
            <a:ext cx="216916" cy="204156"/>
          </a:xfrm>
          <a:prstGeom prst="rect">
            <a:avLst/>
          </a:prstGeom>
          <a:solidFill>
            <a:srgbClr val="EFCCD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Node label 5"/>
          <p:cNvSpPr txBox="1"/>
          <p:nvPr/>
        </p:nvSpPr>
        <p:spPr>
          <a:xfrm>
            <a:off x="11247773" y="4829588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343" name="Node 6"/>
          <p:cNvSpPr/>
          <p:nvPr/>
        </p:nvSpPr>
        <p:spPr>
          <a:xfrm>
            <a:off x="11649707" y="4835968"/>
            <a:ext cx="216916" cy="204156"/>
          </a:xfrm>
          <a:prstGeom prst="rect">
            <a:avLst/>
          </a:prstGeom>
          <a:solidFill>
            <a:srgbClr val="CDEBED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Node label 6"/>
          <p:cNvSpPr txBox="1"/>
          <p:nvPr/>
        </p:nvSpPr>
        <p:spPr>
          <a:xfrm>
            <a:off x="11649707" y="4829588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6</a:t>
            </a:r>
          </a:p>
        </p:txBody>
      </p:sp>
      <p:sp>
        <p:nvSpPr>
          <p:cNvPr id="345" name="Node 7"/>
          <p:cNvSpPr/>
          <p:nvPr/>
        </p:nvSpPr>
        <p:spPr>
          <a:xfrm>
            <a:off x="10845839" y="5193243"/>
            <a:ext cx="216916" cy="204156"/>
          </a:xfrm>
          <a:prstGeom prst="rect">
            <a:avLst/>
          </a:prstGeom>
          <a:solidFill>
            <a:srgbClr val="C7E9E7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Node label 7"/>
          <p:cNvSpPr txBox="1"/>
          <p:nvPr/>
        </p:nvSpPr>
        <p:spPr>
          <a:xfrm>
            <a:off x="10845839" y="5186863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7</a:t>
            </a:r>
          </a:p>
        </p:txBody>
      </p:sp>
      <p:sp>
        <p:nvSpPr>
          <p:cNvPr id="347" name="Missing node"/>
          <p:cNvSpPr/>
          <p:nvPr/>
        </p:nvSpPr>
        <p:spPr>
          <a:xfrm>
            <a:off x="11247773" y="5193243"/>
            <a:ext cx="216916" cy="204156"/>
          </a:xfrm>
          <a:prstGeom prst="rect">
            <a:avLst/>
          </a:prstGeom>
          <a:solidFill>
            <a:srgbClr val="FFFFFF"/>
          </a:solidFill>
          <a:ln w="1913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Node 9"/>
          <p:cNvSpPr/>
          <p:nvPr/>
        </p:nvSpPr>
        <p:spPr>
          <a:xfrm>
            <a:off x="11649707" y="5193243"/>
            <a:ext cx="216916" cy="204156"/>
          </a:xfrm>
          <a:prstGeom prst="rect">
            <a:avLst/>
          </a:prstGeom>
          <a:solidFill>
            <a:srgbClr val="EBCB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Node label 9"/>
          <p:cNvSpPr txBox="1"/>
          <p:nvPr/>
        </p:nvSpPr>
        <p:spPr>
          <a:xfrm>
            <a:off x="11649707" y="5186863"/>
            <a:ext cx="216916" cy="204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9</a:t>
            </a:r>
          </a:p>
        </p:txBody>
      </p:sp>
      <p:cxnSp>
        <p:nvCxnSpPr>
          <p:cNvPr id="350" name="Connector 349"/>
          <p:cNvCxnSpPr/>
          <p:nvPr/>
        </p:nvCxnSpPr>
        <p:spPr>
          <a:xfrm>
            <a:off x="10954297" y="4580772"/>
            <a:ext cx="401935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11356232" y="4580772"/>
            <a:ext cx="0" cy="357274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11356232" y="4938046"/>
            <a:ext cx="401934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H="1">
            <a:off x="10954297" y="4938046"/>
            <a:ext cx="803869" cy="357275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0954297" y="5295321"/>
            <a:ext cx="803869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9193444" y="5014605"/>
            <a:ext cx="1607736" cy="0"/>
          </a:xfrm>
          <a:prstGeom prst="line">
            <a:avLst/>
          </a:prstGeom>
          <a:ln w="12759">
            <a:solidFill>
              <a:srgbClr val="00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TextBox 355"/>
          <p:cNvSpPr txBox="1"/>
          <p:nvPr/>
        </p:nvSpPr>
        <p:spPr>
          <a:xfrm>
            <a:off x="9378461" y="4606291"/>
            <a:ext cx="1212182" cy="274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6" i="1">
                <a:solidFill>
                  <a:srgbClr val="000000"/>
                </a:solidFill>
                <a:latin typeface="DejaVu Math TeX Gyre"/>
              </a:rPr>
              <a:t>ℒ</a:t>
            </a:r>
            <a:r>
              <a:rPr sz="946" i="1" baseline="-25000">
                <a:solidFill>
                  <a:srgbClr val="000000"/>
                </a:solidFill>
                <a:latin typeface="DejaVu Math TeX Gyre"/>
              </a:rPr>
              <a:t>geometric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9378461" y="5078404"/>
            <a:ext cx="1212182" cy="3955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4" b="1" i="0">
                <a:solidFill>
                  <a:srgbClr val="000000"/>
                </a:solidFill>
                <a:latin typeface="DejaVu Sans"/>
              </a:rPr>
              <a:t>Geometric
Consistency Prior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7770725" y="5582417"/>
            <a:ext cx="2041569" cy="1786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5" b="1" i="0">
                <a:solidFill>
                  <a:srgbClr val="000000"/>
                </a:solidFill>
                <a:latin typeface="DejaVu Sans"/>
              </a:rPr>
              <a:t>High Density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0080250" y="5582417"/>
            <a:ext cx="2054329" cy="1786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5" b="1" i="0">
                <a:solidFill>
                  <a:srgbClr val="000000"/>
                </a:solidFill>
                <a:latin typeface="DejaVu Sans"/>
              </a:rPr>
              <a:t>Low Density</a:t>
            </a:r>
          </a:p>
        </p:txBody>
      </p:sp>
      <p:sp>
        <p:nvSpPr>
          <p:cNvPr id="360" name="Sequence cell 1"/>
          <p:cNvSpPr/>
          <p:nvPr/>
        </p:nvSpPr>
        <p:spPr>
          <a:xfrm>
            <a:off x="7757965" y="5843993"/>
            <a:ext cx="221878" cy="210536"/>
          </a:xfrm>
          <a:prstGeom prst="rect">
            <a:avLst/>
          </a:prstGeom>
          <a:solidFill>
            <a:srgbClr val="F7E7C4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7757965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362" name="Sequence cell 2"/>
          <p:cNvSpPr/>
          <p:nvPr/>
        </p:nvSpPr>
        <p:spPr>
          <a:xfrm>
            <a:off x="7979844" y="5843993"/>
            <a:ext cx="221878" cy="210536"/>
          </a:xfrm>
          <a:prstGeom prst="rect">
            <a:avLst/>
          </a:prstGeom>
          <a:solidFill>
            <a:srgbClr val="DC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7979844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364" name="Sequence cell 3"/>
          <p:cNvSpPr/>
          <p:nvPr/>
        </p:nvSpPr>
        <p:spPr>
          <a:xfrm>
            <a:off x="8201723" y="5843993"/>
            <a:ext cx="221878" cy="210536"/>
          </a:xfrm>
          <a:prstGeom prst="rect">
            <a:avLst/>
          </a:prstGeom>
          <a:solidFill>
            <a:srgbClr val="CCEBC5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8201723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366" name="Sequence cell 4"/>
          <p:cNvSpPr/>
          <p:nvPr/>
        </p:nvSpPr>
        <p:spPr>
          <a:xfrm>
            <a:off x="8423602" y="5843993"/>
            <a:ext cx="221878" cy="210536"/>
          </a:xfrm>
          <a:prstGeom prst="rect">
            <a:avLst/>
          </a:prstGeom>
          <a:solidFill>
            <a:srgbClr val="C8E9C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8423602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368" name="Sequence cell 5"/>
          <p:cNvSpPr/>
          <p:nvPr/>
        </p:nvSpPr>
        <p:spPr>
          <a:xfrm>
            <a:off x="8645481" y="5843993"/>
            <a:ext cx="221878" cy="210536"/>
          </a:xfrm>
          <a:prstGeom prst="rect">
            <a:avLst/>
          </a:prstGeom>
          <a:solidFill>
            <a:srgbClr val="EFCCD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8645481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370" name="Sequence cell 6"/>
          <p:cNvSpPr/>
          <p:nvPr/>
        </p:nvSpPr>
        <p:spPr>
          <a:xfrm>
            <a:off x="8867359" y="5843993"/>
            <a:ext cx="221878" cy="210536"/>
          </a:xfrm>
          <a:prstGeom prst="rect">
            <a:avLst/>
          </a:prstGeom>
          <a:solidFill>
            <a:srgbClr val="CDEBED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8867359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6</a:t>
            </a:r>
          </a:p>
        </p:txBody>
      </p:sp>
      <p:sp>
        <p:nvSpPr>
          <p:cNvPr id="372" name="Sequence cell 7"/>
          <p:cNvSpPr/>
          <p:nvPr/>
        </p:nvSpPr>
        <p:spPr>
          <a:xfrm>
            <a:off x="9089238" y="5843993"/>
            <a:ext cx="221878" cy="210536"/>
          </a:xfrm>
          <a:prstGeom prst="rect">
            <a:avLst/>
          </a:prstGeom>
          <a:solidFill>
            <a:srgbClr val="C7E9E7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9089238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7</a:t>
            </a:r>
          </a:p>
        </p:txBody>
      </p:sp>
      <p:sp>
        <p:nvSpPr>
          <p:cNvPr id="374" name="Sequence cell 8"/>
          <p:cNvSpPr/>
          <p:nvPr/>
        </p:nvSpPr>
        <p:spPr>
          <a:xfrm>
            <a:off x="9311117" y="5843993"/>
            <a:ext cx="221878" cy="210536"/>
          </a:xfrm>
          <a:prstGeom prst="rect">
            <a:avLst/>
          </a:prstGeom>
          <a:solidFill>
            <a:srgbClr val="D8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9311117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8</a:t>
            </a:r>
          </a:p>
        </p:txBody>
      </p:sp>
      <p:sp>
        <p:nvSpPr>
          <p:cNvPr id="376" name="Sequence cell 9"/>
          <p:cNvSpPr/>
          <p:nvPr/>
        </p:nvSpPr>
        <p:spPr>
          <a:xfrm>
            <a:off x="9532996" y="5843993"/>
            <a:ext cx="221878" cy="210536"/>
          </a:xfrm>
          <a:prstGeom prst="rect">
            <a:avLst/>
          </a:prstGeom>
          <a:solidFill>
            <a:srgbClr val="EBCB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9532996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9</a:t>
            </a:r>
          </a:p>
        </p:txBody>
      </p:sp>
      <p:sp>
        <p:nvSpPr>
          <p:cNvPr id="378" name="Sequence cell 1"/>
          <p:cNvSpPr/>
          <p:nvPr/>
        </p:nvSpPr>
        <p:spPr>
          <a:xfrm>
            <a:off x="10124910" y="5843993"/>
            <a:ext cx="221878" cy="210536"/>
          </a:xfrm>
          <a:prstGeom prst="rect">
            <a:avLst/>
          </a:prstGeom>
          <a:solidFill>
            <a:srgbClr val="F7E7C4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10124910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380" name="Sequence cell 2"/>
          <p:cNvSpPr/>
          <p:nvPr/>
        </p:nvSpPr>
        <p:spPr>
          <a:xfrm>
            <a:off x="10346789" y="5843993"/>
            <a:ext cx="221878" cy="210536"/>
          </a:xfrm>
          <a:prstGeom prst="rect">
            <a:avLst/>
          </a:prstGeom>
          <a:solidFill>
            <a:srgbClr val="DCE2E9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10346789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10568668" y="5843993"/>
            <a:ext cx="221878" cy="210536"/>
          </a:xfrm>
          <a:prstGeom prst="rect">
            <a:avLst/>
          </a:prstGeom>
          <a:solidFill>
            <a:srgbClr val="FFFDE5"/>
          </a:solidFill>
          <a:ln w="1913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790547" y="5843993"/>
            <a:ext cx="221878" cy="210536"/>
          </a:xfrm>
          <a:prstGeom prst="rect">
            <a:avLst/>
          </a:prstGeom>
          <a:solidFill>
            <a:srgbClr val="FFFDE5"/>
          </a:solidFill>
          <a:ln w="1913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Sequence cell 5"/>
          <p:cNvSpPr/>
          <p:nvPr/>
        </p:nvSpPr>
        <p:spPr>
          <a:xfrm>
            <a:off x="11012426" y="5843993"/>
            <a:ext cx="221878" cy="210536"/>
          </a:xfrm>
          <a:prstGeom prst="rect">
            <a:avLst/>
          </a:prstGeom>
          <a:solidFill>
            <a:srgbClr val="EFCCD0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11012426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386" name="Sequence cell 6"/>
          <p:cNvSpPr/>
          <p:nvPr/>
        </p:nvSpPr>
        <p:spPr>
          <a:xfrm>
            <a:off x="11234304" y="5843993"/>
            <a:ext cx="221878" cy="210536"/>
          </a:xfrm>
          <a:prstGeom prst="rect">
            <a:avLst/>
          </a:prstGeom>
          <a:solidFill>
            <a:srgbClr val="CDEBED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11234304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6</a:t>
            </a:r>
          </a:p>
        </p:txBody>
      </p:sp>
      <p:sp>
        <p:nvSpPr>
          <p:cNvPr id="388" name="Sequence cell 7"/>
          <p:cNvSpPr/>
          <p:nvPr/>
        </p:nvSpPr>
        <p:spPr>
          <a:xfrm>
            <a:off x="11456183" y="5843993"/>
            <a:ext cx="221878" cy="210536"/>
          </a:xfrm>
          <a:prstGeom prst="rect">
            <a:avLst/>
          </a:prstGeom>
          <a:solidFill>
            <a:srgbClr val="C7E9E7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11456183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7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11678062" y="5843993"/>
            <a:ext cx="221878" cy="210536"/>
          </a:xfrm>
          <a:prstGeom prst="rect">
            <a:avLst/>
          </a:prstGeom>
          <a:solidFill>
            <a:srgbClr val="FFFDE5"/>
          </a:solidFill>
          <a:ln w="19139">
            <a:solidFill>
              <a:srgbClr val="111111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Sequence cell 9"/>
          <p:cNvSpPr/>
          <p:nvPr/>
        </p:nvSpPr>
        <p:spPr>
          <a:xfrm>
            <a:off x="11899941" y="5843993"/>
            <a:ext cx="221878" cy="210536"/>
          </a:xfrm>
          <a:prstGeom prst="rect">
            <a:avLst/>
          </a:prstGeom>
          <a:solidFill>
            <a:srgbClr val="EBCBD1"/>
          </a:solidFill>
          <a:ln w="19139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11899941" y="5843993"/>
            <a:ext cx="221878" cy="21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DejaVu Sans"/>
              </a:rPr>
              <a:t>9</a:t>
            </a:r>
          </a:p>
        </p:txBody>
      </p:sp>
      <p:cxnSp>
        <p:nvCxnSpPr>
          <p:cNvPr id="393" name="Connector 392"/>
          <p:cNvCxnSpPr/>
          <p:nvPr/>
        </p:nvCxnSpPr>
        <p:spPr>
          <a:xfrm>
            <a:off x="9767635" y="5946072"/>
            <a:ext cx="344515" cy="0"/>
          </a:xfrm>
          <a:prstGeom prst="line">
            <a:avLst/>
          </a:prstGeom>
          <a:ln w="12759">
            <a:solidFill>
              <a:srgbClr val="11111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BeyondMix Leveraging Structural Priors and Long-Range Dependencies for Domain-Invariant LiDAR Segment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194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