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61366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590" y="143435"/>
            <a:ext cx="14456767" cy="4831504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 w="22859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90" y="5110826"/>
            <a:ext cx="11406880" cy="3495291"/>
          </a:xfrm>
          <a:prstGeom prst="roundRect">
            <a:avLst>
              <a:gd name="adj" fmla="val 12000"/>
            </a:avLst>
          </a:prstGeom>
          <a:solidFill>
            <a:srgbClr val="FFFEFB"/>
          </a:solidFill>
          <a:ln w="22859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03160" y="5110826"/>
            <a:ext cx="2944198" cy="3495291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22859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7855" y="211378"/>
            <a:ext cx="2159078" cy="354813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22859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3150" y="226476"/>
            <a:ext cx="2068487" cy="3170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16" b="1" i="0">
                <a:solidFill>
                  <a:srgbClr val="101010"/>
                </a:solidFill>
                <a:latin typeface="Liberation Serif"/>
              </a:defRPr>
            </a:pPr>
            <a:r>
              <a:t>Sample t ∈ U(1,T)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0414" y="581290"/>
            <a:ext cx="1373959" cy="211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97" b="1" i="0">
                <a:solidFill>
                  <a:srgbClr val="101010"/>
                </a:solidFill>
                <a:latin typeface="Liberation Serif"/>
              </a:defRPr>
            </a:pPr>
            <a:r>
              <a:t>Timestep 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36648" y="211378"/>
            <a:ext cx="1472099" cy="354813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 w="22859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9493" y="234026"/>
            <a:ext cx="1366409" cy="30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97" b="1" i="0">
                <a:solidFill>
                  <a:srgbClr val="101010"/>
                </a:solidFill>
                <a:latin typeface="Liberation Serif"/>
              </a:defRPr>
            </a:pPr>
            <a:r>
              <a:t>Sinusoidal 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96933" y="385010"/>
            <a:ext cx="339715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7855" y="845513"/>
            <a:ext cx="2159078" cy="354813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22859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699" y="868160"/>
            <a:ext cx="2053389" cy="3019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80" b="1" i="0">
                <a:solidFill>
                  <a:srgbClr val="101010"/>
                </a:solidFill>
                <a:latin typeface="Liberation Serif"/>
              </a:defRPr>
            </a:pPr>
            <a:r>
              <a:t>&lt;spatula, scrape, plate&gt;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160" y="1230523"/>
            <a:ext cx="1298466" cy="211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97" b="1" i="0">
                <a:solidFill>
                  <a:srgbClr val="101010"/>
                </a:solidFill>
                <a:latin typeface="Liberation Serif"/>
              </a:defRPr>
            </a:pPr>
            <a:r>
              <a:t>Prompts 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9099" y="845513"/>
            <a:ext cx="1479648" cy="354813"/>
          </a:xfrm>
          <a:prstGeom prst="roundRect">
            <a:avLst>
              <a:gd name="adj" fmla="val 12000"/>
            </a:avLst>
          </a:prstGeom>
          <a:solidFill>
            <a:srgbClr val="91B7DF"/>
          </a:solidFill>
          <a:ln w="22859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2141" y="868160"/>
            <a:ext cx="1306016" cy="3019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56" b="1" i="0">
                <a:solidFill>
                  <a:srgbClr val="101010"/>
                </a:solidFill>
                <a:latin typeface="Liberation Serif"/>
              </a:defRPr>
            </a:pPr>
            <a:r>
              <a:t>T5 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7172" y="845513"/>
            <a:ext cx="211378" cy="188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67" b="1" i="0">
                <a:solidFill>
                  <a:srgbClr val="2F9EE4"/>
                </a:solidFill>
                <a:latin typeface="DejaVu Sans"/>
              </a:defRPr>
            </a:pPr>
            <a:r>
              <a:t>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96933" y="1019145"/>
            <a:ext cx="332166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08747" y="1019145"/>
            <a:ext cx="551094" cy="0"/>
          </a:xfrm>
          <a:prstGeom prst="line">
            <a:avLst/>
          </a:prstGeom>
          <a:ln w="22859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959841" y="1019145"/>
            <a:ext cx="0" cy="249124"/>
          </a:xfrm>
          <a:prstGeom prst="line">
            <a:avLst/>
          </a:prstGeom>
          <a:ln w="22859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23846" y="702078"/>
            <a:ext cx="588839" cy="286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1">
                <a:solidFill>
                  <a:srgbClr val="101010"/>
                </a:solidFill>
                <a:latin typeface="Liberation Serif"/>
              </a:defRPr>
            </a:pPr>
            <a:r>
              <a:t>e_text</a:t>
            </a:r>
          </a:p>
        </p:txBody>
      </p:sp>
      <p:pic>
        <p:nvPicPr>
          <p:cNvPr id="21" name="Picture 20" descr="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04" y="1879757"/>
            <a:ext cx="1547591" cy="102669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6979" y="2959296"/>
            <a:ext cx="1079539" cy="2340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Ref Img 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92995" y="2400653"/>
            <a:ext cx="166083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rapezoid 23"/>
          <p:cNvSpPr/>
          <p:nvPr/>
        </p:nvSpPr>
        <p:spPr>
          <a:xfrm rot="5400000">
            <a:off x="2159078" y="1879757"/>
            <a:ext cx="656782" cy="1026694"/>
          </a:xfrm>
          <a:prstGeom prst="trapezoid">
            <a:avLst/>
          </a:prstGeom>
          <a:solidFill>
            <a:srgbClr val="D8EAFB"/>
          </a:solidFill>
          <a:ln w="25400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 rot="5400000">
            <a:off x="2064713" y="2294964"/>
            <a:ext cx="905907" cy="2566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2" b="1" i="0">
                <a:solidFill>
                  <a:srgbClr val="101010"/>
                </a:solidFill>
                <a:latin typeface="Liberation Serif"/>
              </a:defRPr>
            </a:pPr>
            <a:r>
              <a:t>3D VAE Enc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6824" y="1909954"/>
            <a:ext cx="211378" cy="211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62" b="1" i="0">
                <a:solidFill>
                  <a:srgbClr val="1499E0"/>
                </a:solidFill>
                <a:latin typeface="DejaVu Sans"/>
              </a:defRPr>
            </a:pPr>
            <a:r>
              <a:t>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15861" y="2400653"/>
            <a:ext cx="354813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170674" y="2166627"/>
            <a:ext cx="490699" cy="483150"/>
          </a:xfrm>
          <a:prstGeom prst="rect">
            <a:avLst/>
          </a:prstGeom>
          <a:solidFill>
            <a:srgbClr val="FFCBD4"/>
          </a:solidFill>
          <a:ln w="22859">
            <a:solidFill>
              <a:srgbClr val="FF6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93322" y="2211923"/>
            <a:ext cx="445404" cy="3925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16" b="1" i="1">
                <a:solidFill>
                  <a:srgbClr val="101010"/>
                </a:solidFill>
                <a:latin typeface="Liberation Serif"/>
              </a:defRPr>
            </a:pPr>
            <a:r>
              <a:t>zᴵ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61374" y="2400653"/>
            <a:ext cx="317068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ube 30"/>
          <p:cNvSpPr/>
          <p:nvPr/>
        </p:nvSpPr>
        <p:spPr>
          <a:xfrm>
            <a:off x="3819908" y="1389057"/>
            <a:ext cx="641684" cy="649233"/>
          </a:xfrm>
          <a:prstGeom prst="cube">
            <a:avLst/>
          </a:prstGeom>
          <a:solidFill>
            <a:srgbClr val="F2D9EF"/>
          </a:solidFill>
          <a:ln w="25400">
            <a:solidFill>
              <a:srgbClr val="AA2C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7654" y="1524943"/>
            <a:ext cx="505798" cy="4605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zₜᴵ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44525" y="2038291"/>
            <a:ext cx="0" cy="166082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978442" y="2234570"/>
            <a:ext cx="332165" cy="3321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993540" y="2400653"/>
            <a:ext cx="301969" cy="0"/>
          </a:xfrm>
          <a:prstGeom prst="line">
            <a:avLst/>
          </a:prstGeom>
          <a:ln w="1524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144525" y="2249669"/>
            <a:ext cx="0" cy="301969"/>
          </a:xfrm>
          <a:prstGeom prst="line">
            <a:avLst/>
          </a:prstGeom>
          <a:ln w="1524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310608" y="2400653"/>
            <a:ext cx="535995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40804" y="2098684"/>
            <a:ext cx="528445" cy="2340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1">
                <a:solidFill>
                  <a:srgbClr val="101010"/>
                </a:solidFill>
                <a:latin typeface="Liberation Serif"/>
              </a:defRPr>
            </a:pPr>
            <a:r>
              <a:t>e_V</a:t>
            </a:r>
          </a:p>
        </p:txBody>
      </p:sp>
      <p:sp>
        <p:nvSpPr>
          <p:cNvPr id="39" name="Trapezoid 38"/>
          <p:cNvSpPr/>
          <p:nvPr/>
        </p:nvSpPr>
        <p:spPr>
          <a:xfrm rot="5400000">
            <a:off x="2159078" y="3140478"/>
            <a:ext cx="656782" cy="1026694"/>
          </a:xfrm>
          <a:prstGeom prst="trapezoid">
            <a:avLst/>
          </a:prstGeom>
          <a:solidFill>
            <a:srgbClr val="D8EAFB"/>
          </a:solidFill>
          <a:ln w="25400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 rot="5400000">
            <a:off x="2064713" y="3555685"/>
            <a:ext cx="905907" cy="2566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2" b="1" i="0">
                <a:solidFill>
                  <a:srgbClr val="101010"/>
                </a:solidFill>
                <a:latin typeface="Liberation Serif"/>
              </a:defRPr>
            </a:pPr>
            <a:r>
              <a:t>3D VAE Enc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6824" y="3170674"/>
            <a:ext cx="211378" cy="211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62" b="1" i="0">
                <a:solidFill>
                  <a:srgbClr val="1499E0"/>
                </a:solidFill>
                <a:latin typeface="DejaVu Sans"/>
              </a:defRPr>
            </a:pPr>
            <a:r>
              <a:t>❄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15861" y="3668923"/>
            <a:ext cx="271772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ube 42"/>
          <p:cNvSpPr/>
          <p:nvPr/>
        </p:nvSpPr>
        <p:spPr>
          <a:xfrm>
            <a:off x="3095182" y="3329208"/>
            <a:ext cx="656782" cy="641684"/>
          </a:xfrm>
          <a:prstGeom prst="cube">
            <a:avLst/>
          </a:prstGeom>
          <a:solidFill>
            <a:srgbClr val="32A9DF"/>
          </a:solidFill>
          <a:ln w="25400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2928" y="3465094"/>
            <a:ext cx="520896" cy="452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z̃₀ᴹ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751965" y="3668923"/>
            <a:ext cx="234026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be 45"/>
          <p:cNvSpPr/>
          <p:nvPr/>
        </p:nvSpPr>
        <p:spPr>
          <a:xfrm>
            <a:off x="3819908" y="4038835"/>
            <a:ext cx="641684" cy="641684"/>
          </a:xfrm>
          <a:prstGeom prst="cube">
            <a:avLst/>
          </a:prstGeom>
          <a:solidFill>
            <a:srgbClr val="E8F5E2"/>
          </a:solidFill>
          <a:ln w="25400">
            <a:solidFill>
              <a:srgbClr val="3A9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57654" y="4174721"/>
            <a:ext cx="505798" cy="452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zₜᴹ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4144525" y="3842556"/>
            <a:ext cx="0" cy="196279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978442" y="3502840"/>
            <a:ext cx="332165" cy="3321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3993540" y="3668923"/>
            <a:ext cx="301969" cy="0"/>
          </a:xfrm>
          <a:prstGeom prst="line">
            <a:avLst/>
          </a:prstGeom>
          <a:ln w="1524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144525" y="3517939"/>
            <a:ext cx="0" cy="301969"/>
          </a:xfrm>
          <a:prstGeom prst="line">
            <a:avLst/>
          </a:prstGeom>
          <a:ln w="1524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10608" y="3668923"/>
            <a:ext cx="535995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340804" y="3759514"/>
            <a:ext cx="528445" cy="241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1">
                <a:solidFill>
                  <a:srgbClr val="101010"/>
                </a:solidFill>
                <a:latin typeface="Liberation Serif"/>
              </a:defRPr>
            </a:pPr>
            <a:r>
              <a:t>e_M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603" y="1268269"/>
            <a:ext cx="256673" cy="301969"/>
          </a:xfrm>
          <a:prstGeom prst="rect">
            <a:avLst/>
          </a:prstGeom>
          <a:solidFill>
            <a:srgbClr val="DB91D6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6603" y="1568729"/>
            <a:ext cx="256673" cy="301969"/>
          </a:xfrm>
          <a:prstGeom prst="rect">
            <a:avLst/>
          </a:prstGeom>
          <a:solidFill>
            <a:srgbClr val="EFB298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46603" y="1869188"/>
            <a:ext cx="256673" cy="301969"/>
          </a:xfrm>
          <a:prstGeom prst="rect">
            <a:avLst/>
          </a:prstGeom>
          <a:solidFill>
            <a:srgbClr val="EFB298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46603" y="2169647"/>
            <a:ext cx="256673" cy="301969"/>
          </a:xfrm>
          <a:prstGeom prst="rect">
            <a:avLst/>
          </a:prstGeom>
          <a:solidFill>
            <a:srgbClr val="DB91D6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46603" y="2470106"/>
            <a:ext cx="256673" cy="301969"/>
          </a:xfrm>
          <a:prstGeom prst="rect">
            <a:avLst/>
          </a:prstGeom>
          <a:solidFill>
            <a:srgbClr val="DB91D6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46603" y="2770565"/>
            <a:ext cx="256673" cy="301969"/>
          </a:xfrm>
          <a:prstGeom prst="rect">
            <a:avLst/>
          </a:prstGeom>
          <a:solidFill>
            <a:srgbClr val="DB91D6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46603" y="3071025"/>
            <a:ext cx="256673" cy="301969"/>
          </a:xfrm>
          <a:prstGeom prst="rect">
            <a:avLst/>
          </a:prstGeom>
          <a:solidFill>
            <a:srgbClr val="7EDC80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46603" y="3371484"/>
            <a:ext cx="256673" cy="301969"/>
          </a:xfrm>
          <a:prstGeom prst="rect">
            <a:avLst/>
          </a:prstGeom>
          <a:solidFill>
            <a:srgbClr val="7EDC80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46603" y="3671943"/>
            <a:ext cx="256673" cy="301969"/>
          </a:xfrm>
          <a:prstGeom prst="rect">
            <a:avLst/>
          </a:prstGeom>
          <a:solidFill>
            <a:srgbClr val="7EDC80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846603" y="3972402"/>
            <a:ext cx="256673" cy="301969"/>
          </a:xfrm>
          <a:prstGeom prst="rect">
            <a:avLst/>
          </a:prstGeom>
          <a:solidFill>
            <a:srgbClr val="7EDC80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5103276" y="2785664"/>
            <a:ext cx="143436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246712" y="800217"/>
            <a:ext cx="4287960" cy="3706669"/>
          </a:xfrm>
          <a:prstGeom prst="roundRect">
            <a:avLst>
              <a:gd name="adj" fmla="val 12000"/>
            </a:avLst>
          </a:prstGeom>
          <a:solidFill>
            <a:srgbClr val="FFF8DF"/>
          </a:solidFill>
          <a:ln w="22859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593976" y="1004047"/>
            <a:ext cx="3684022" cy="369912"/>
          </a:xfrm>
          <a:prstGeom prst="roundRect">
            <a:avLst>
              <a:gd name="adj" fmla="val 12000"/>
            </a:avLst>
          </a:prstGeom>
          <a:solidFill>
            <a:srgbClr val="FFC27F"/>
          </a:solidFill>
          <a:ln w="22859">
            <a:solidFill>
              <a:srgbClr val="EF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14764" y="1041793"/>
            <a:ext cx="3442447" cy="294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56" b="1" i="0">
                <a:solidFill>
                  <a:srgbClr val="101010"/>
                </a:solidFill>
                <a:latin typeface="Liberation Serif"/>
              </a:defRPr>
            </a:pPr>
            <a:r>
              <a:t>Triple Modality Adaptive Modulation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85439" y="468052"/>
            <a:ext cx="528445" cy="286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34" b="1" i="0">
                <a:solidFill>
                  <a:srgbClr val="101010"/>
                </a:solidFill>
                <a:latin typeface="Liberation Serif"/>
              </a:defRPr>
            </a:pPr>
            <a:r>
              <a:t>× N</a:t>
            </a:r>
          </a:p>
        </p:txBody>
      </p:sp>
      <p:sp>
        <p:nvSpPr>
          <p:cNvPr id="69" name="Teardrop 68"/>
          <p:cNvSpPr/>
          <p:nvPr/>
        </p:nvSpPr>
        <p:spPr>
          <a:xfrm rot="18900000">
            <a:off x="9345941" y="943653"/>
            <a:ext cx="173632" cy="234026"/>
          </a:xfrm>
          <a:prstGeom prst="teardrop">
            <a:avLst/>
          </a:prstGeom>
          <a:solidFill>
            <a:srgbClr val="F04419"/>
          </a:solidFill>
          <a:ln>
            <a:solidFill>
              <a:srgbClr val="EF7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4408747" y="385010"/>
            <a:ext cx="2989494" cy="0"/>
          </a:xfrm>
          <a:prstGeom prst="line">
            <a:avLst/>
          </a:prstGeom>
          <a:ln w="22859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398241" y="385010"/>
            <a:ext cx="0" cy="611487"/>
          </a:xfrm>
          <a:prstGeom prst="line">
            <a:avLst/>
          </a:prstGeom>
          <a:ln w="22859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428438" y="430305"/>
            <a:ext cx="422756" cy="264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97" b="1" i="1">
                <a:solidFill>
                  <a:srgbClr val="101010"/>
                </a:solidFill>
                <a:latin typeface="Liberation Serif"/>
              </a:defRPr>
            </a:pPr>
            <a:r>
              <a:t>e_t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99556" y="2159078"/>
            <a:ext cx="543544" cy="294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97" b="1" i="1">
                <a:solidFill>
                  <a:srgbClr val="101010"/>
                </a:solidFill>
                <a:latin typeface="Liberation Serif"/>
              </a:defRPr>
            </a:pPr>
            <a:r>
              <a:t>f_text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99556" y="3057436"/>
            <a:ext cx="543544" cy="294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97" b="1" i="1">
                <a:solidFill>
                  <a:srgbClr val="101010"/>
                </a:solidFill>
                <a:latin typeface="Liberation Serif"/>
              </a:defRPr>
            </a:pPr>
            <a:r>
              <a:t>f_V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99556" y="3955794"/>
            <a:ext cx="543544" cy="294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97" b="1" i="1">
                <a:solidFill>
                  <a:srgbClr val="101010"/>
                </a:solidFill>
                <a:latin typeface="Liberation Serif"/>
              </a:defRPr>
            </a:pPr>
            <a:r>
              <a:t>f_M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90256" y="1796715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FFC27F"/>
          </a:solidFill>
          <a:ln w="22859">
            <a:solidFill>
              <a:srgbClr val="EF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 rot="5400000">
            <a:off x="5820453" y="1842011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S&amp;S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53055" y="1796715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FFC27F"/>
          </a:solidFill>
          <a:ln w="22859">
            <a:solidFill>
              <a:srgbClr val="EF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 rot="5400000">
            <a:off x="7783252" y="1842011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S&amp;S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877344" y="1796715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FFC27F"/>
          </a:solidFill>
          <a:ln w="22859">
            <a:solidFill>
              <a:srgbClr val="EF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 rot="5400000">
            <a:off x="6907541" y="1842011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Gate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72200" y="1796715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FFC27F"/>
          </a:solidFill>
          <a:ln w="22859">
            <a:solidFill>
              <a:srgbClr val="EF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 rot="5400000">
            <a:off x="8802397" y="1842011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Gate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405245" y="2159078"/>
            <a:ext cx="385011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152619" y="2159078"/>
            <a:ext cx="188730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696163" y="2159078"/>
            <a:ext cx="181181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239707" y="2159078"/>
            <a:ext cx="513348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115417" y="2159078"/>
            <a:ext cx="105690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91019" y="2159078"/>
            <a:ext cx="181181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134563" y="2159078"/>
            <a:ext cx="339715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5790256" y="2695073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DB91D6"/>
          </a:solidFill>
          <a:ln w="22859">
            <a:solidFill>
              <a:srgbClr val="AA2C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 rot="5400000">
            <a:off x="5820453" y="2740369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S&amp;S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753055" y="2695073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DB91D6"/>
          </a:solidFill>
          <a:ln w="22859">
            <a:solidFill>
              <a:srgbClr val="AA2C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 rot="5400000">
            <a:off x="7783252" y="2740369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S&amp;S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877344" y="2695073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DB91D6"/>
          </a:solidFill>
          <a:ln w="22859">
            <a:solidFill>
              <a:srgbClr val="AA2C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 rot="5400000">
            <a:off x="6907541" y="2740369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Gate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772200" y="2695073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DB91D6"/>
          </a:solidFill>
          <a:ln w="22859">
            <a:solidFill>
              <a:srgbClr val="AA2C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 rot="5400000">
            <a:off x="8802397" y="2740369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Gate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5405245" y="3057436"/>
            <a:ext cx="385011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152619" y="3057436"/>
            <a:ext cx="188730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696163" y="3057436"/>
            <a:ext cx="181181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239707" y="3057436"/>
            <a:ext cx="513348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115417" y="3057436"/>
            <a:ext cx="105690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591019" y="3057436"/>
            <a:ext cx="181181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134563" y="3057436"/>
            <a:ext cx="339715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5790256" y="3593431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7EDC80"/>
          </a:solidFill>
          <a:ln w="22859">
            <a:solidFill>
              <a:srgbClr val="3A9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 rot="5400000">
            <a:off x="5820453" y="3638726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S&amp;S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753055" y="3593431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7EDC80"/>
          </a:solidFill>
          <a:ln w="22859">
            <a:solidFill>
              <a:srgbClr val="3A9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 rot="5400000">
            <a:off x="7783252" y="3638726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S&amp;S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877344" y="3593431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7EDC80"/>
          </a:solidFill>
          <a:ln w="22859">
            <a:solidFill>
              <a:srgbClr val="3A9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 rot="5400000">
            <a:off x="6907541" y="3638726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Gate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772200" y="3593431"/>
            <a:ext cx="362362" cy="724725"/>
          </a:xfrm>
          <a:prstGeom prst="roundRect">
            <a:avLst>
              <a:gd name="adj" fmla="val 12000"/>
            </a:avLst>
          </a:prstGeom>
          <a:solidFill>
            <a:srgbClr val="7EDC80"/>
          </a:solidFill>
          <a:ln w="22859">
            <a:solidFill>
              <a:srgbClr val="3A9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 rot="5400000">
            <a:off x="8802397" y="3638726"/>
            <a:ext cx="301969" cy="6341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21" b="1" i="0">
                <a:solidFill>
                  <a:srgbClr val="101010"/>
                </a:solidFill>
                <a:latin typeface="Liberation Serif"/>
              </a:defRPr>
            </a:pPr>
            <a:r>
              <a:t>Gate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5405245" y="3955794"/>
            <a:ext cx="385011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152619" y="3955794"/>
            <a:ext cx="188730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696163" y="3955794"/>
            <a:ext cx="181181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239707" y="3955794"/>
            <a:ext cx="513348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115417" y="3955794"/>
            <a:ext cx="105690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591019" y="3955794"/>
            <a:ext cx="181181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134563" y="3955794"/>
            <a:ext cx="339715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6341349" y="1789166"/>
            <a:ext cx="354813" cy="2506343"/>
          </a:xfrm>
          <a:prstGeom prst="roundRect">
            <a:avLst>
              <a:gd name="adj" fmla="val 12000"/>
            </a:avLst>
          </a:prstGeom>
          <a:solidFill>
            <a:srgbClr val="91B7DF"/>
          </a:solidFill>
          <a:ln w="22859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 rot="5400000">
            <a:off x="5446766" y="2914001"/>
            <a:ext cx="2151529" cy="2566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2" b="1" i="0">
                <a:solidFill>
                  <a:srgbClr val="101010"/>
                </a:solidFill>
                <a:latin typeface="Liberation Serif"/>
              </a:defRPr>
            </a:pPr>
            <a:r>
              <a:t>3D Full Attention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221107" y="1789166"/>
            <a:ext cx="369912" cy="2506343"/>
          </a:xfrm>
          <a:prstGeom prst="roundRect">
            <a:avLst>
              <a:gd name="adj" fmla="val 12000"/>
            </a:avLst>
          </a:prstGeom>
          <a:solidFill>
            <a:srgbClr val="91B7DF"/>
          </a:solidFill>
          <a:ln w="22859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 rot="5400000">
            <a:off x="7277453" y="2914001"/>
            <a:ext cx="2264767" cy="2566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44" b="1" i="0">
                <a:solidFill>
                  <a:srgbClr val="101010"/>
                </a:solidFill>
                <a:latin typeface="Liberation Serif"/>
              </a:defRPr>
            </a:pPr>
            <a:r>
              <a:t>Point-wise Feedforward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601525" y="1396606"/>
            <a:ext cx="732274" cy="256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1">
                <a:solidFill>
                  <a:srgbClr val="101010"/>
                </a:solidFill>
                <a:latin typeface="Liberation Serif"/>
              </a:defRPr>
            </a:pPr>
            <a:r>
              <a:t>αₘ¹, βₘ¹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24500" y="1396606"/>
            <a:ext cx="490699" cy="256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1">
                <a:solidFill>
                  <a:srgbClr val="101010"/>
                </a:solidFill>
                <a:latin typeface="Liberation Serif"/>
              </a:defRPr>
            </a:pPr>
            <a:r>
              <a:t>γₘ¹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435987" y="1396606"/>
            <a:ext cx="898357" cy="256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1">
                <a:solidFill>
                  <a:srgbClr val="101010"/>
                </a:solidFill>
                <a:latin typeface="Liberation Serif"/>
              </a:defRPr>
            </a:pPr>
            <a:r>
              <a:t>αₘ², βₘ²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734454" y="1396606"/>
            <a:ext cx="460502" cy="256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1">
                <a:solidFill>
                  <a:srgbClr val="101010"/>
                </a:solidFill>
                <a:latin typeface="Liberation Serif"/>
              </a:defRPr>
            </a:pPr>
            <a:r>
              <a:t>γₘ²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978986" y="1615534"/>
            <a:ext cx="0" cy="181181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066075" y="1615534"/>
            <a:ext cx="0" cy="181181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934236" y="1615534"/>
            <a:ext cx="0" cy="181181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953382" y="1615534"/>
            <a:ext cx="0" cy="181181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5148572" y="4574830"/>
            <a:ext cx="4499338" cy="3623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93" b="1" i="0">
                <a:solidFill>
                  <a:srgbClr val="101010"/>
                </a:solidFill>
                <a:latin typeface="Liberation Serif"/>
              </a:defRPr>
            </a:pPr>
            <a:r>
              <a:t>Synchronized Video–Motion Diffusion (SViMo)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753600" y="1404156"/>
            <a:ext cx="256673" cy="317067"/>
          </a:xfrm>
          <a:prstGeom prst="rect">
            <a:avLst/>
          </a:prstGeom>
          <a:solidFill>
            <a:srgbClr val="DB91D6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753600" y="1721223"/>
            <a:ext cx="256673" cy="317067"/>
          </a:xfrm>
          <a:prstGeom prst="rect">
            <a:avLst/>
          </a:prstGeom>
          <a:solidFill>
            <a:srgbClr val="DB91D6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753600" y="2038291"/>
            <a:ext cx="256673" cy="317067"/>
          </a:xfrm>
          <a:prstGeom prst="rect">
            <a:avLst/>
          </a:prstGeom>
          <a:solidFill>
            <a:srgbClr val="DB91D6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753600" y="2355358"/>
            <a:ext cx="256673" cy="317067"/>
          </a:xfrm>
          <a:prstGeom prst="rect">
            <a:avLst/>
          </a:prstGeom>
          <a:solidFill>
            <a:srgbClr val="DB91D6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753600" y="2672426"/>
            <a:ext cx="256673" cy="317067"/>
          </a:xfrm>
          <a:prstGeom prst="rect">
            <a:avLst/>
          </a:prstGeom>
          <a:solidFill>
            <a:srgbClr val="7EDC80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753600" y="2989493"/>
            <a:ext cx="256673" cy="317067"/>
          </a:xfrm>
          <a:prstGeom prst="rect">
            <a:avLst/>
          </a:prstGeom>
          <a:solidFill>
            <a:srgbClr val="7EDC80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753600" y="3306560"/>
            <a:ext cx="256673" cy="317067"/>
          </a:xfrm>
          <a:prstGeom prst="rect">
            <a:avLst/>
          </a:prstGeom>
          <a:solidFill>
            <a:srgbClr val="7EDC80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753600" y="3623628"/>
            <a:ext cx="256673" cy="317067"/>
          </a:xfrm>
          <a:prstGeom prst="rect">
            <a:avLst/>
          </a:prstGeom>
          <a:solidFill>
            <a:srgbClr val="7EDC80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9534672" y="2023192"/>
            <a:ext cx="218928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9534672" y="3548136"/>
            <a:ext cx="218928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Cube 143"/>
          <p:cNvSpPr/>
          <p:nvPr/>
        </p:nvSpPr>
        <p:spPr>
          <a:xfrm>
            <a:off x="10266947" y="1811814"/>
            <a:ext cx="634134" cy="626585"/>
          </a:xfrm>
          <a:prstGeom prst="cube">
            <a:avLst/>
          </a:prstGeom>
          <a:solidFill>
            <a:srgbClr val="E6C8E6"/>
          </a:solidFill>
          <a:ln w="25400">
            <a:solidFill>
              <a:srgbClr val="AA2C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304693" y="1947700"/>
            <a:ext cx="498248" cy="4378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ẑ₀ⱽ</a:t>
            </a:r>
          </a:p>
        </p:txBody>
      </p:sp>
      <p:sp>
        <p:nvSpPr>
          <p:cNvPr id="146" name="Cube 145"/>
          <p:cNvSpPr/>
          <p:nvPr/>
        </p:nvSpPr>
        <p:spPr>
          <a:xfrm>
            <a:off x="10266947" y="3019690"/>
            <a:ext cx="634134" cy="626585"/>
          </a:xfrm>
          <a:prstGeom prst="cube">
            <a:avLst/>
          </a:prstGeom>
          <a:solidFill>
            <a:srgbClr val="BFE8B6"/>
          </a:solidFill>
          <a:ln w="25400">
            <a:solidFill>
              <a:srgbClr val="3A9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304693" y="3155576"/>
            <a:ext cx="498248" cy="4378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ẑ₀ᴹ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10010273" y="2023192"/>
            <a:ext cx="256674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010273" y="3351856"/>
            <a:ext cx="256674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901082" y="2015643"/>
            <a:ext cx="603938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901082" y="3344307"/>
            <a:ext cx="603938" cy="0"/>
          </a:xfrm>
          <a:prstGeom prst="line">
            <a:avLst/>
          </a:prstGeom>
          <a:ln w="1905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rapezoid 151"/>
          <p:cNvSpPr/>
          <p:nvPr/>
        </p:nvSpPr>
        <p:spPr>
          <a:xfrm rot="16200000">
            <a:off x="11505020" y="1494746"/>
            <a:ext cx="686979" cy="1026694"/>
          </a:xfrm>
          <a:prstGeom prst="trapezoid">
            <a:avLst/>
          </a:prstGeom>
          <a:solidFill>
            <a:srgbClr val="D8EAFB"/>
          </a:solidFill>
          <a:ln w="25400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 rot="5400000">
            <a:off x="11425753" y="1909954"/>
            <a:ext cx="905907" cy="2566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2" b="1" i="0">
                <a:solidFill>
                  <a:srgbClr val="101010"/>
                </a:solidFill>
                <a:latin typeface="Liberation Serif"/>
              </a:defRPr>
            </a:pPr>
            <a:r>
              <a:t>3D VAE Dec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542766" y="1524943"/>
            <a:ext cx="211378" cy="211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62" b="1" i="0">
                <a:solidFill>
                  <a:srgbClr val="1499E0"/>
                </a:solidFill>
                <a:latin typeface="DejaVu Sans"/>
              </a:defRPr>
            </a:pPr>
            <a:r>
              <a:t>❄</a:t>
            </a:r>
          </a:p>
        </p:txBody>
      </p:sp>
      <p:sp>
        <p:nvSpPr>
          <p:cNvPr id="155" name="Trapezoid 154"/>
          <p:cNvSpPr/>
          <p:nvPr/>
        </p:nvSpPr>
        <p:spPr>
          <a:xfrm rot="16200000">
            <a:off x="11505020" y="2793213"/>
            <a:ext cx="686979" cy="1155031"/>
          </a:xfrm>
          <a:prstGeom prst="trapezoid">
            <a:avLst/>
          </a:prstGeom>
          <a:solidFill>
            <a:srgbClr val="D8EAFB"/>
          </a:solidFill>
          <a:ln w="25400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 rot="5400000">
            <a:off x="11361585" y="3272589"/>
            <a:ext cx="1034243" cy="2566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2" b="1" i="0">
                <a:solidFill>
                  <a:srgbClr val="101010"/>
                </a:solidFill>
                <a:latin typeface="Liberation Serif"/>
              </a:defRPr>
            </a:pPr>
            <a:r>
              <a:t>3D VAE Dec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42766" y="2823410"/>
            <a:ext cx="211378" cy="211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62" b="1" i="0">
                <a:solidFill>
                  <a:srgbClr val="1499E0"/>
                </a:solidFill>
                <a:latin typeface="DejaVu Sans"/>
              </a:defRPr>
            </a:pPr>
            <a:r>
              <a:t>❄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12191999" y="2015643"/>
            <a:ext cx="309519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2191999" y="3366954"/>
            <a:ext cx="309519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12493969" y="1494746"/>
            <a:ext cx="1562689" cy="1011596"/>
          </a:xfrm>
          <a:prstGeom prst="rect">
            <a:avLst/>
          </a:prstGeom>
          <a:solidFill>
            <a:srgbClr val="080808"/>
          </a:solidFill>
          <a:ln w="762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4165" y="1623083"/>
            <a:ext cx="1502295" cy="754922"/>
          </a:xfrm>
          <a:prstGeom prst="rect">
            <a:avLst/>
          </a:prstGeom>
        </p:spPr>
      </p:pic>
      <p:sp>
        <p:nvSpPr>
          <p:cNvPr id="162" name="Rectangle 161"/>
          <p:cNvSpPr/>
          <p:nvPr/>
        </p:nvSpPr>
        <p:spPr>
          <a:xfrm>
            <a:off x="12554362" y="152494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2554362" y="240820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2743093" y="152494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2743093" y="240820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2931824" y="152494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2931824" y="240820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3120554" y="152494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3120554" y="240820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3309285" y="152494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3309285" y="240820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3498016" y="152494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3498016" y="240820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3686746" y="152494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3686746" y="240820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3875477" y="152494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3875477" y="2408203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2493969" y="2793213"/>
            <a:ext cx="1562689" cy="1155031"/>
          </a:xfrm>
          <a:prstGeom prst="rect">
            <a:avLst/>
          </a:prstGeom>
          <a:solidFill>
            <a:srgbClr val="080808"/>
          </a:solidFill>
          <a:ln w="762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Picture 178" descr="m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4165" y="2921550"/>
            <a:ext cx="1502295" cy="898357"/>
          </a:xfrm>
          <a:prstGeom prst="rect">
            <a:avLst/>
          </a:prstGeom>
        </p:spPr>
      </p:pic>
      <p:sp>
        <p:nvSpPr>
          <p:cNvPr id="180" name="Rectangle 179"/>
          <p:cNvSpPr/>
          <p:nvPr/>
        </p:nvSpPr>
        <p:spPr>
          <a:xfrm>
            <a:off x="12554362" y="2823410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2554362" y="385010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2743093" y="2823410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2743093" y="385010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2931824" y="2823410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2931824" y="385010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3120554" y="2823410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3120554" y="385010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3309285" y="2823410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3309285" y="385010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3498016" y="2823410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3498016" y="385010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3686746" y="2823410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3686746" y="385010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3875477" y="2823410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3875477" y="385010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 rot="5400000">
            <a:off x="13950969" y="1872208"/>
            <a:ext cx="815316" cy="2566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2" b="1" i="0">
                <a:solidFill>
                  <a:srgbClr val="101010"/>
                </a:solidFill>
                <a:latin typeface="Liberation Serif"/>
              </a:defRPr>
            </a:pPr>
            <a:r>
              <a:t>Video V̂</a:t>
            </a:r>
          </a:p>
        </p:txBody>
      </p:sp>
      <p:sp>
        <p:nvSpPr>
          <p:cNvPr id="197" name="TextBox 196"/>
          <p:cNvSpPr txBox="1"/>
          <p:nvPr/>
        </p:nvSpPr>
        <p:spPr>
          <a:xfrm rot="5400000">
            <a:off x="13716943" y="3246167"/>
            <a:ext cx="1283368" cy="2566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85" b="1" i="0">
                <a:solidFill>
                  <a:srgbClr val="101010"/>
                </a:solidFill>
                <a:latin typeface="Liberation Serif"/>
              </a:defRPr>
            </a:pPr>
            <a:r>
              <a:t>Rendered Motion Video M̂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866838" y="475601"/>
            <a:ext cx="4574830" cy="573741"/>
          </a:xfrm>
          <a:prstGeom prst="roundRect">
            <a:avLst>
              <a:gd name="adj" fmla="val 12000"/>
            </a:avLst>
          </a:prstGeom>
          <a:solidFill>
            <a:srgbClr val="EDFFF2"/>
          </a:solidFill>
          <a:ln w="22859">
            <a:solidFill>
              <a:srgbClr val="9DDD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964978" y="543544"/>
            <a:ext cx="4378551" cy="4378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L_SViMo = E[ ||z0V−ẑ0θV||² + ||z0M−ẑ0θM||² ]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11195502" y="2098684"/>
            <a:ext cx="0" cy="3978442"/>
          </a:xfrm>
          <a:prstGeom prst="line">
            <a:avLst/>
          </a:prstGeom>
          <a:ln w="38100">
            <a:solidFill>
              <a:srgbClr val="087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>
            <a:off x="9240252" y="6077126"/>
            <a:ext cx="1955250" cy="0"/>
          </a:xfrm>
          <a:prstGeom prst="line">
            <a:avLst/>
          </a:prstGeom>
          <a:ln w="38100">
            <a:solidFill>
              <a:srgbClr val="087B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11195502" y="3397151"/>
            <a:ext cx="0" cy="3616079"/>
          </a:xfrm>
          <a:prstGeom prst="line">
            <a:avLst/>
          </a:prstGeom>
          <a:ln w="38100">
            <a:solidFill>
              <a:srgbClr val="087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H="1">
            <a:off x="9240252" y="7013230"/>
            <a:ext cx="1955250" cy="0"/>
          </a:xfrm>
          <a:prstGeom prst="line">
            <a:avLst/>
          </a:prstGeom>
          <a:ln w="38100">
            <a:solidFill>
              <a:srgbClr val="087B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1316289" y="2264767"/>
            <a:ext cx="0" cy="3978442"/>
          </a:xfrm>
          <a:prstGeom prst="line">
            <a:avLst/>
          </a:prstGeom>
          <a:ln w="38100">
            <a:solidFill>
              <a:srgbClr val="EF76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H="1">
            <a:off x="4906996" y="6243209"/>
            <a:ext cx="6409293" cy="0"/>
          </a:xfrm>
          <a:prstGeom prst="line">
            <a:avLst/>
          </a:prstGeom>
          <a:ln w="38100">
            <a:solidFill>
              <a:srgbClr val="EF762F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1316289" y="3480193"/>
            <a:ext cx="0" cy="3382053"/>
          </a:xfrm>
          <a:prstGeom prst="line">
            <a:avLst/>
          </a:prstGeom>
          <a:ln w="38100">
            <a:solidFill>
              <a:srgbClr val="EF76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H="1">
            <a:off x="9194957" y="6862246"/>
            <a:ext cx="2121332" cy="0"/>
          </a:xfrm>
          <a:prstGeom prst="line">
            <a:avLst/>
          </a:prstGeom>
          <a:ln w="38100">
            <a:solidFill>
              <a:srgbClr val="EF762F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11437077" y="4167172"/>
            <a:ext cx="1268269" cy="6492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11" b="1" i="0">
                <a:solidFill>
                  <a:srgbClr val="EF762F"/>
                </a:solidFill>
                <a:latin typeface="Liberation Serif"/>
              </a:defRPr>
            </a:pPr>
            <a:r>
              <a:t>Gradient</a:t>
            </a:r>
            <a:br/>
            <a:r>
              <a:t>Constrain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774613" y="5163670"/>
            <a:ext cx="5118375" cy="347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34" b="1" i="0">
                <a:solidFill>
                  <a:srgbClr val="101010"/>
                </a:solidFill>
                <a:latin typeface="Liberation Serif"/>
              </a:defRPr>
            </a:pPr>
            <a:r>
              <a:t>Vision-aware 3D Interaction Diffusion (VID)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5254261" y="5593976"/>
            <a:ext cx="4280411" cy="2974395"/>
          </a:xfrm>
          <a:prstGeom prst="roundRect">
            <a:avLst>
              <a:gd name="adj" fmla="val 12000"/>
            </a:avLst>
          </a:prstGeom>
          <a:solidFill>
            <a:srgbClr val="F8DFE1"/>
          </a:solidFill>
          <a:ln w="22859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592886" y="5744960"/>
            <a:ext cx="4771110" cy="581290"/>
          </a:xfrm>
          <a:prstGeom prst="roundRect">
            <a:avLst>
              <a:gd name="adj" fmla="val 12000"/>
            </a:avLst>
          </a:prstGeom>
          <a:solidFill>
            <a:srgbClr val="EDFFF2"/>
          </a:solidFill>
          <a:ln w="22859">
            <a:solidFill>
              <a:srgbClr val="9DDD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683477" y="5812904"/>
            <a:ext cx="4589929" cy="4378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80" b="1" i="0">
                <a:solidFill>
                  <a:srgbClr val="101010"/>
                </a:solidFill>
                <a:latin typeface="Liberation Serif"/>
              </a:defRPr>
            </a:pPr>
            <a:r>
              <a:t>L_VID = E[ ||h0−ĥ0ϕ||² + D_chamfer(o0, ô0ϕ) ]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45404" y="6552728"/>
            <a:ext cx="1547591" cy="1004047"/>
          </a:xfrm>
          <a:prstGeom prst="rect">
            <a:avLst/>
          </a:prstGeom>
          <a:solidFill>
            <a:srgbClr val="080808"/>
          </a:solidFill>
          <a:ln w="7620">
            <a:solidFill>
              <a:srgbClr val="080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" name="Picture 213" descr="m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01" y="6681065"/>
            <a:ext cx="1487197" cy="747373"/>
          </a:xfrm>
          <a:prstGeom prst="rect">
            <a:avLst/>
          </a:prstGeom>
        </p:spPr>
      </p:pic>
      <p:sp>
        <p:nvSpPr>
          <p:cNvPr id="215" name="Rectangle 214"/>
          <p:cNvSpPr/>
          <p:nvPr/>
        </p:nvSpPr>
        <p:spPr>
          <a:xfrm>
            <a:off x="505798" y="658292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505798" y="745863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94528" y="658292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4528" y="745863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83259" y="658292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83259" y="745863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071990" y="658292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71990" y="745863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260720" y="658292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260720" y="745863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449451" y="658292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449451" y="745863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638182" y="658292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638182" y="745863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826912" y="658292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826912" y="7458635"/>
            <a:ext cx="120787" cy="679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43544" y="7685112"/>
            <a:ext cx="1358860" cy="588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80" b="1" i="0">
                <a:solidFill>
                  <a:srgbClr val="101010"/>
                </a:solidFill>
                <a:latin typeface="Liberation Serif"/>
              </a:defRPr>
            </a:pPr>
            <a:r>
              <a:t>Rendered</a:t>
            </a:r>
            <a:br/>
            <a:r>
              <a:t>Motion Video M̃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2249669" y="6884894"/>
            <a:ext cx="996497" cy="354813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22859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2310063" y="6915091"/>
            <a:ext cx="875710" cy="2868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Projection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3246167" y="7058526"/>
            <a:ext cx="339715" cy="0"/>
          </a:xfrm>
          <a:prstGeom prst="line">
            <a:avLst/>
          </a:prstGeom>
          <a:ln w="30480">
            <a:solidFill>
              <a:srgbClr val="00A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Oval 234"/>
          <p:cNvSpPr/>
          <p:nvPr/>
        </p:nvSpPr>
        <p:spPr>
          <a:xfrm>
            <a:off x="3951142" y="7053362"/>
            <a:ext cx="20964" cy="20964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48045" y="7005680"/>
            <a:ext cx="26464" cy="26464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215093" y="6977631"/>
            <a:ext cx="27241" cy="27241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4092075" y="6988439"/>
            <a:ext cx="24595" cy="24595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4043394" y="6822487"/>
            <a:ext cx="29820" cy="29820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4341747" y="7119344"/>
            <a:ext cx="20548" cy="20548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3601745" y="7000293"/>
            <a:ext cx="27787" cy="27787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4180851" y="6837688"/>
            <a:ext cx="30137" cy="30137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4328615" y="7100526"/>
            <a:ext cx="29052" cy="29052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089933" y="6825678"/>
            <a:ext cx="20197" cy="20197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207644" y="7129015"/>
            <a:ext cx="23118" cy="23118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203888" y="6908638"/>
            <a:ext cx="32256" cy="32256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4190821" y="6981972"/>
            <a:ext cx="24592" cy="24592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096058" y="7014539"/>
            <a:ext cx="25285" cy="25285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238760" y="6971609"/>
            <a:ext cx="27884" cy="27884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506954" y="7176662"/>
            <a:ext cx="32390" cy="32390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142704" y="7024794"/>
            <a:ext cx="20133" cy="20133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104707" y="7008179"/>
            <a:ext cx="20153" cy="20153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3602620" y="7019941"/>
            <a:ext cx="25216" cy="25216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3805162" y="7164766"/>
            <a:ext cx="20283" cy="20283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4082432" y="6964439"/>
            <a:ext cx="28066" cy="28066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4208023" y="7001552"/>
            <a:ext cx="27253" cy="27253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4019600" y="6956382"/>
            <a:ext cx="22924" cy="22924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702068" y="7002085"/>
            <a:ext cx="20705" cy="20705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3986025" y="6691023"/>
            <a:ext cx="22448" cy="22448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4179612" y="6988546"/>
            <a:ext cx="24398" cy="24398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957338" y="6799903"/>
            <a:ext cx="30568" cy="30568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367862" y="7099081"/>
            <a:ext cx="31918" cy="31918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3856857" y="6912874"/>
            <a:ext cx="24945" cy="24945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19595" y="6992641"/>
            <a:ext cx="19150" cy="19150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306887" y="6861458"/>
            <a:ext cx="25419" cy="25419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4210030" y="7204775"/>
            <a:ext cx="23775" cy="23775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4484359" y="7146232"/>
            <a:ext cx="20429" cy="20429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4146176" y="6987295"/>
            <a:ext cx="30660" cy="30660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4259814" y="6814036"/>
            <a:ext cx="29584" cy="29584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232566" y="7293849"/>
            <a:ext cx="25290" cy="25290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202863" y="7349293"/>
            <a:ext cx="24926" cy="24926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3781384" y="7236964"/>
            <a:ext cx="24449" cy="24449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4055477" y="6925589"/>
            <a:ext cx="31605" cy="31605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4133056" y="7056115"/>
            <a:ext cx="33597" cy="33597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4481729" y="7308798"/>
            <a:ext cx="33762" cy="33762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4117042" y="7003554"/>
            <a:ext cx="19792" cy="19792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4212153" y="7186479"/>
            <a:ext cx="28106" cy="28106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4404886" y="6978052"/>
            <a:ext cx="20996" cy="20996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4006483" y="6980413"/>
            <a:ext cx="20180" cy="20180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3815119" y="6920430"/>
            <a:ext cx="19863" cy="19863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3714670" y="7094877"/>
            <a:ext cx="30410" cy="30410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3750763" y="7227413"/>
            <a:ext cx="21425" cy="21425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4035307" y="6730371"/>
            <a:ext cx="32163" cy="32163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4024686" y="7015639"/>
            <a:ext cx="19604" cy="19604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4064259" y="6994881"/>
            <a:ext cx="28380" cy="28380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4547680" y="7160652"/>
            <a:ext cx="22231" cy="22231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4304127" y="7021632"/>
            <a:ext cx="25768" cy="25768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3864983" y="6948094"/>
            <a:ext cx="21485" cy="21485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595644" y="7050811"/>
            <a:ext cx="26957" cy="26957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4271623" y="7002784"/>
            <a:ext cx="33868" cy="33868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420490" y="6867516"/>
            <a:ext cx="26777" cy="26777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3621493" y="6938116"/>
            <a:ext cx="19863" cy="19863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3906917" y="6836400"/>
            <a:ext cx="23407" cy="23407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4066349" y="6740542"/>
            <a:ext cx="20431" cy="20431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4126040" y="6823532"/>
            <a:ext cx="26274" cy="26274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089709" y="6979605"/>
            <a:ext cx="27976" cy="27976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3775548" y="7240141"/>
            <a:ext cx="22362" cy="22362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4338328" y="6763616"/>
            <a:ext cx="28309" cy="28309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4176254" y="6989395"/>
            <a:ext cx="27886" cy="27886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3900916" y="6840427"/>
            <a:ext cx="25013" cy="25013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4297121" y="7058673"/>
            <a:ext cx="28054" cy="28054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4171882" y="7059720"/>
            <a:ext cx="24229" cy="24229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3777641" y="7054926"/>
            <a:ext cx="19265" cy="19265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4179004" y="6854194"/>
            <a:ext cx="30692" cy="30692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4774620" y="7031316"/>
            <a:ext cx="27784" cy="27784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4691560" y="6962343"/>
            <a:ext cx="31446" cy="31446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4349697" y="7116065"/>
            <a:ext cx="22365" cy="22365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4170398" y="6905714"/>
            <a:ext cx="22212" cy="22212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4235609" y="7063666"/>
            <a:ext cx="33037" cy="33037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4507991" y="6987310"/>
            <a:ext cx="30061" cy="30061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3785231" y="7057894"/>
            <a:ext cx="24451" cy="24451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4000363" y="6918535"/>
            <a:ext cx="22743" cy="22743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3956295" y="7000766"/>
            <a:ext cx="25505" cy="25505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173985" y="7004881"/>
            <a:ext cx="20432" cy="20432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4251338" y="6968329"/>
            <a:ext cx="22666" cy="22666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4374457" y="6817036"/>
            <a:ext cx="22205" cy="22205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4351048" y="7063892"/>
            <a:ext cx="23404" cy="23404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4309862" y="6688820"/>
            <a:ext cx="30744" cy="30744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576022" y="6822073"/>
            <a:ext cx="32107" cy="32107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 flipV="1">
            <a:off x="3570783" y="6507432"/>
            <a:ext cx="0" cy="505798"/>
          </a:xfrm>
          <a:prstGeom prst="line">
            <a:avLst/>
          </a:prstGeom>
          <a:ln w="22859">
            <a:solidFill>
              <a:srgbClr val="88888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4136975" y="7013230"/>
            <a:ext cx="505798" cy="0"/>
          </a:xfrm>
          <a:prstGeom prst="line">
            <a:avLst/>
          </a:prstGeom>
          <a:ln w="22859">
            <a:solidFill>
              <a:srgbClr val="88888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TextBox 321"/>
          <p:cNvSpPr txBox="1"/>
          <p:nvPr/>
        </p:nvSpPr>
        <p:spPr>
          <a:xfrm>
            <a:off x="3570783" y="7413339"/>
            <a:ext cx="1102186" cy="7549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80" b="1" i="0">
                <a:solidFill>
                  <a:srgbClr val="101010"/>
                </a:solidFill>
                <a:latin typeface="Liberation Serif"/>
              </a:defRPr>
            </a:pPr>
            <a:r>
              <a:t>Generated</a:t>
            </a:r>
            <a:br/>
            <a:r>
              <a:t>3D Interaction</a:t>
            </a:r>
            <a:br/>
            <a:r>
              <a:t>(ĥ₀, ô₀)</a:t>
            </a:r>
          </a:p>
        </p:txBody>
      </p:sp>
      <p:cxnSp>
        <p:nvCxnSpPr>
          <p:cNvPr id="323" name="Connector 322"/>
          <p:cNvCxnSpPr/>
          <p:nvPr/>
        </p:nvCxnSpPr>
        <p:spPr>
          <a:xfrm flipH="1">
            <a:off x="1222974" y="7058526"/>
            <a:ext cx="770021" cy="0"/>
          </a:xfrm>
          <a:prstGeom prst="line">
            <a:avLst/>
          </a:prstGeom>
          <a:ln w="45719">
            <a:solidFill>
              <a:srgbClr val="00A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222974" y="3412250"/>
            <a:ext cx="0" cy="3646276"/>
          </a:xfrm>
          <a:prstGeom prst="line">
            <a:avLst/>
          </a:prstGeom>
          <a:ln w="45719">
            <a:solidFill>
              <a:srgbClr val="00A7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222974" y="3412250"/>
            <a:ext cx="936104" cy="0"/>
          </a:xfrm>
          <a:prstGeom prst="line">
            <a:avLst/>
          </a:prstGeom>
          <a:ln w="45719">
            <a:solidFill>
              <a:srgbClr val="00A7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TextBox 325"/>
          <p:cNvSpPr txBox="1"/>
          <p:nvPr/>
        </p:nvSpPr>
        <p:spPr>
          <a:xfrm>
            <a:off x="1268269" y="4174721"/>
            <a:ext cx="1306016" cy="7020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93" b="1" i="0">
                <a:solidFill>
                  <a:srgbClr val="00A7A3"/>
                </a:solidFill>
                <a:latin typeface="Liberation Serif"/>
              </a:defRPr>
            </a:pPr>
            <a:r>
              <a:t>Interaction</a:t>
            </a:r>
            <a:br/>
            <a:r>
              <a:t>Guidance</a:t>
            </a:r>
          </a:p>
        </p:txBody>
      </p:sp>
      <p:sp>
        <p:nvSpPr>
          <p:cNvPr id="327" name="Oval 326"/>
          <p:cNvSpPr/>
          <p:nvPr/>
        </p:nvSpPr>
        <p:spPr>
          <a:xfrm>
            <a:off x="10661432" y="7875669"/>
            <a:ext cx="19229" cy="19229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10611383" y="7895655"/>
            <a:ext cx="20693" cy="20693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10229126" y="7773762"/>
            <a:ext cx="32303" cy="32303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0483419" y="8202485"/>
            <a:ext cx="23696" cy="23696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907209" y="7717327"/>
            <a:ext cx="29219" cy="29219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0958862" y="7781838"/>
            <a:ext cx="19604" cy="19604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743787" y="7747926"/>
            <a:ext cx="23563" cy="23563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25673" y="8159637"/>
            <a:ext cx="27672" cy="27672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918176" y="7795830"/>
            <a:ext cx="33385" cy="33385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9943242" y="7796684"/>
            <a:ext cx="28118" cy="28118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0467338" y="8203458"/>
            <a:ext cx="23590" cy="23590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0533867" y="7595406"/>
            <a:ext cx="28700" cy="28700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0770141" y="8112504"/>
            <a:ext cx="28951" cy="28951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442013" y="7931794"/>
            <a:ext cx="26902" cy="26902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1019585" y="7956941"/>
            <a:ext cx="26517" cy="26517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0151525" y="7878067"/>
            <a:ext cx="28853" cy="28853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0659229" y="7826927"/>
            <a:ext cx="24516" cy="24516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0166395" y="7829213"/>
            <a:ext cx="27866" cy="27866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0057885" y="7849222"/>
            <a:ext cx="29037" cy="29037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0292333" y="7886270"/>
            <a:ext cx="33918" cy="33918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0276101" y="8035180"/>
            <a:ext cx="24954" cy="24954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10983764" y="7765181"/>
            <a:ext cx="26603" cy="26603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10306616" y="7932569"/>
            <a:ext cx="32393" cy="32393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0614381" y="8079411"/>
            <a:ext cx="24144" cy="24144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10259484" y="8032443"/>
            <a:ext cx="21760" cy="21760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0913734" y="7943635"/>
            <a:ext cx="30890" cy="30890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10281435" y="7814037"/>
            <a:ext cx="29346" cy="29346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10743988" y="7951169"/>
            <a:ext cx="31376" cy="31376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10746042" y="7808747"/>
            <a:ext cx="31654" cy="31654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992639" y="7898351"/>
            <a:ext cx="27698" cy="27698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1033988" y="7882384"/>
            <a:ext cx="26015" cy="26015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0341691" y="7666041"/>
            <a:ext cx="24214" cy="24214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0532156" y="7626930"/>
            <a:ext cx="28059" cy="28059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0447583" y="7889733"/>
            <a:ext cx="26422" cy="26422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205416" y="7784854"/>
            <a:ext cx="21460" cy="21460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370555" y="7731197"/>
            <a:ext cx="22934" cy="22934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29908" y="7977032"/>
            <a:ext cx="24191" cy="24191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0576176" y="7969865"/>
            <a:ext cx="22722" cy="22722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0542602" y="7825177"/>
            <a:ext cx="23045" cy="23045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0727322" y="8003815"/>
            <a:ext cx="22009" cy="22009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0205800" y="8108650"/>
            <a:ext cx="32840" cy="32840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444137" y="7868598"/>
            <a:ext cx="24576" cy="24576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0445485" y="7872836"/>
            <a:ext cx="21941" cy="21941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0075918" y="7906657"/>
            <a:ext cx="30201" cy="30201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0334022" y="7714832"/>
            <a:ext cx="22632" cy="22632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0532374" y="8021141"/>
            <a:ext cx="19857" cy="19857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10319322" y="7821345"/>
            <a:ext cx="32301" cy="32301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0356749" y="7862695"/>
            <a:ext cx="26403" cy="26403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10353360" y="7875504"/>
            <a:ext cx="26221" cy="26221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945944" y="7945551"/>
            <a:ext cx="18934" cy="18934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10061898" y="7665031"/>
            <a:ext cx="31652" cy="31652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0454702" y="8099890"/>
            <a:ext cx="20984" cy="20984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0085557" y="8135901"/>
            <a:ext cx="31219" cy="31219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10743399" y="7905691"/>
            <a:ext cx="28539" cy="28539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0664498" y="8139073"/>
            <a:ext cx="32357" cy="32357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195112" y="7847075"/>
            <a:ext cx="31684" cy="31684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0206921" y="7888555"/>
            <a:ext cx="23066" cy="23066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0724220" y="8132361"/>
            <a:ext cx="26571" cy="26571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222817" y="7636484"/>
            <a:ext cx="33575" cy="33575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10537947" y="8053464"/>
            <a:ext cx="32072" cy="32072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10525751" y="7733871"/>
            <a:ext cx="28774" cy="28774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0472551" y="7979832"/>
            <a:ext cx="19637" cy="19637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236465" y="7975627"/>
            <a:ext cx="26689" cy="26689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583531" y="7880275"/>
            <a:ext cx="27293" cy="27293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0712835" y="7730149"/>
            <a:ext cx="26832" cy="26832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0506012" y="7874827"/>
            <a:ext cx="33194" cy="33194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0190758" y="7645146"/>
            <a:ext cx="31332" cy="31332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0490670" y="7924124"/>
            <a:ext cx="21566" cy="21566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9782498" y="7887381"/>
            <a:ext cx="32602" cy="32602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009367" y="8016005"/>
            <a:ext cx="30043" cy="30043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0182687" y="8166294"/>
            <a:ext cx="33092" cy="33092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0322262" y="7604723"/>
            <a:ext cx="30964" cy="30964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0239358" y="7779455"/>
            <a:ext cx="23121" cy="23121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0416807" y="7939256"/>
            <a:ext cx="32852" cy="32852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10396000" y="7918640"/>
            <a:ext cx="23645" cy="23645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0798084" y="8005128"/>
            <a:ext cx="23889" cy="23889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0586861" y="8064952"/>
            <a:ext cx="25136" cy="25136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0064748" y="8114273"/>
            <a:ext cx="23504" cy="23504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9830812" y="7822333"/>
            <a:ext cx="33353" cy="33353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10361250" y="7920283"/>
            <a:ext cx="33223" cy="33223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10276038" y="7886812"/>
            <a:ext cx="20808" cy="20808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10430378" y="8035979"/>
            <a:ext cx="20967" cy="20967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11033812" y="7992227"/>
            <a:ext cx="31257" cy="31257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10708150" y="8020551"/>
            <a:ext cx="30972" cy="30972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0309139" y="7895111"/>
            <a:ext cx="24001" cy="24001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10049440" y="8099451"/>
            <a:ext cx="27673" cy="27673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9950449" y="7955018"/>
            <a:ext cx="19607" cy="19607"/>
          </a:xfrm>
          <a:prstGeom prst="ellipse">
            <a:avLst/>
          </a:prstGeom>
          <a:solidFill>
            <a:srgbClr val="E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0189598" y="7645036"/>
            <a:ext cx="28999" cy="28999"/>
          </a:xfrm>
          <a:prstGeom prst="ellipse">
            <a:avLst/>
          </a:prstGeom>
          <a:solidFill>
            <a:srgbClr val="00A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10234931" y="7997735"/>
            <a:ext cx="19026" cy="19026"/>
          </a:xfrm>
          <a:prstGeom prst="ellipse">
            <a:avLst/>
          </a:prstGeom>
          <a:solidFill>
            <a:srgbClr val="084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10565043" y="7938782"/>
            <a:ext cx="25716" cy="25716"/>
          </a:xfrm>
          <a:prstGeom prst="ellipse">
            <a:avLst/>
          </a:prstGeom>
          <a:solidFill>
            <a:srgbClr val="FF2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Connector 416"/>
          <p:cNvCxnSpPr/>
          <p:nvPr/>
        </p:nvCxnSpPr>
        <p:spPr>
          <a:xfrm flipV="1">
            <a:off x="9715853" y="7805899"/>
            <a:ext cx="0" cy="422757"/>
          </a:xfrm>
          <a:prstGeom prst="line">
            <a:avLst/>
          </a:prstGeom>
          <a:ln w="22859">
            <a:solidFill>
              <a:srgbClr val="88888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10410382" y="8228656"/>
            <a:ext cx="581291" cy="0"/>
          </a:xfrm>
          <a:prstGeom prst="line">
            <a:avLst/>
          </a:prstGeom>
          <a:ln w="22859">
            <a:solidFill>
              <a:srgbClr val="888888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Box 418"/>
          <p:cNvSpPr txBox="1"/>
          <p:nvPr/>
        </p:nvSpPr>
        <p:spPr>
          <a:xfrm>
            <a:off x="10100864" y="8311697"/>
            <a:ext cx="634134" cy="256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97" b="1" i="1">
                <a:solidFill>
                  <a:srgbClr val="101010"/>
                </a:solidFill>
                <a:latin typeface="Liberation Serif"/>
              </a:defRPr>
            </a:pPr>
            <a:r>
              <a:t>(hₜ, oₜ)</a:t>
            </a:r>
          </a:p>
        </p:txBody>
      </p:sp>
      <p:cxnSp>
        <p:nvCxnSpPr>
          <p:cNvPr id="420" name="Connector 419"/>
          <p:cNvCxnSpPr/>
          <p:nvPr/>
        </p:nvCxnSpPr>
        <p:spPr>
          <a:xfrm flipH="1">
            <a:off x="8070122" y="7964433"/>
            <a:ext cx="1592887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Rounded Rectangle 420"/>
          <p:cNvSpPr/>
          <p:nvPr/>
        </p:nvSpPr>
        <p:spPr>
          <a:xfrm>
            <a:off x="5601525" y="7617169"/>
            <a:ext cx="128336" cy="724725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ounded Rectangle 421"/>
          <p:cNvSpPr/>
          <p:nvPr/>
        </p:nvSpPr>
        <p:spPr>
          <a:xfrm>
            <a:off x="5797805" y="7662464"/>
            <a:ext cx="128336" cy="679430"/>
          </a:xfrm>
          <a:prstGeom prst="roundRect">
            <a:avLst>
              <a:gd name="adj" fmla="val 12000"/>
            </a:avLst>
          </a:prstGeom>
          <a:solidFill>
            <a:srgbClr val="91B7DF"/>
          </a:solidFill>
          <a:ln w="15240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ounded Rectangle 422"/>
          <p:cNvSpPr/>
          <p:nvPr/>
        </p:nvSpPr>
        <p:spPr>
          <a:xfrm>
            <a:off x="5994085" y="7753055"/>
            <a:ext cx="128336" cy="588839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ounded Rectangle 423"/>
          <p:cNvSpPr/>
          <p:nvPr/>
        </p:nvSpPr>
        <p:spPr>
          <a:xfrm>
            <a:off x="6197914" y="7828547"/>
            <a:ext cx="128336" cy="513347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ounded Rectangle 424"/>
          <p:cNvSpPr/>
          <p:nvPr/>
        </p:nvSpPr>
        <p:spPr>
          <a:xfrm>
            <a:off x="6409292" y="7896490"/>
            <a:ext cx="128336" cy="445404"/>
          </a:xfrm>
          <a:prstGeom prst="roundRect">
            <a:avLst>
              <a:gd name="adj" fmla="val 12000"/>
            </a:avLst>
          </a:prstGeom>
          <a:solidFill>
            <a:srgbClr val="91B7DF"/>
          </a:solidFill>
          <a:ln w="15240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ounded Rectangle 425"/>
          <p:cNvSpPr/>
          <p:nvPr/>
        </p:nvSpPr>
        <p:spPr>
          <a:xfrm>
            <a:off x="6613121" y="7949334"/>
            <a:ext cx="128336" cy="392559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ounded Rectangle 426"/>
          <p:cNvSpPr/>
          <p:nvPr/>
        </p:nvSpPr>
        <p:spPr>
          <a:xfrm>
            <a:off x="6816951" y="7964433"/>
            <a:ext cx="128336" cy="377461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ounded Rectangle 427"/>
          <p:cNvSpPr/>
          <p:nvPr/>
        </p:nvSpPr>
        <p:spPr>
          <a:xfrm>
            <a:off x="7020780" y="7941785"/>
            <a:ext cx="128336" cy="400108"/>
          </a:xfrm>
          <a:prstGeom prst="roundRect">
            <a:avLst>
              <a:gd name="adj" fmla="val 12000"/>
            </a:avLst>
          </a:prstGeom>
          <a:solidFill>
            <a:srgbClr val="91B7DF"/>
          </a:solidFill>
          <a:ln w="15240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ounded Rectangle 428"/>
          <p:cNvSpPr/>
          <p:nvPr/>
        </p:nvSpPr>
        <p:spPr>
          <a:xfrm>
            <a:off x="7224609" y="7888941"/>
            <a:ext cx="128336" cy="452953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ounded Rectangle 429"/>
          <p:cNvSpPr/>
          <p:nvPr/>
        </p:nvSpPr>
        <p:spPr>
          <a:xfrm>
            <a:off x="7428438" y="7828547"/>
            <a:ext cx="128336" cy="513347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ounded Rectangle 430"/>
          <p:cNvSpPr/>
          <p:nvPr/>
        </p:nvSpPr>
        <p:spPr>
          <a:xfrm>
            <a:off x="7632267" y="7753055"/>
            <a:ext cx="128336" cy="588839"/>
          </a:xfrm>
          <a:prstGeom prst="roundRect">
            <a:avLst>
              <a:gd name="adj" fmla="val 12000"/>
            </a:avLst>
          </a:prstGeom>
          <a:solidFill>
            <a:srgbClr val="91B7DF"/>
          </a:solidFill>
          <a:ln w="15240">
            <a:solidFill>
              <a:srgbClr val="176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ounded Rectangle 431"/>
          <p:cNvSpPr/>
          <p:nvPr/>
        </p:nvSpPr>
        <p:spPr>
          <a:xfrm>
            <a:off x="7836096" y="7662464"/>
            <a:ext cx="128336" cy="679430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ounded Rectangle 432"/>
          <p:cNvSpPr/>
          <p:nvPr/>
        </p:nvSpPr>
        <p:spPr>
          <a:xfrm>
            <a:off x="8039925" y="7617169"/>
            <a:ext cx="128336" cy="724725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6235660" y="8341894"/>
            <a:ext cx="1230523" cy="2340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80" b="1" i="0">
                <a:solidFill>
                  <a:srgbClr val="101010"/>
                </a:solidFill>
                <a:latin typeface="Liberation Serif"/>
              </a:defRPr>
            </a:pPr>
            <a:r>
              <a:t>Denoising UNet</a:t>
            </a:r>
          </a:p>
        </p:txBody>
      </p:sp>
      <p:sp>
        <p:nvSpPr>
          <p:cNvPr id="435" name="Rounded Rectangle 434"/>
          <p:cNvSpPr/>
          <p:nvPr/>
        </p:nvSpPr>
        <p:spPr>
          <a:xfrm>
            <a:off x="6122422" y="7179313"/>
            <a:ext cx="1487197" cy="36236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22859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6197914" y="7224609"/>
            <a:ext cx="1336213" cy="27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80" b="1" i="0">
                <a:solidFill>
                  <a:srgbClr val="101010"/>
                </a:solidFill>
                <a:latin typeface="Liberation Serif"/>
              </a:defRPr>
            </a:pPr>
            <a:r>
              <a:t>Cross Attention</a:t>
            </a:r>
          </a:p>
        </p:txBody>
      </p:sp>
      <p:cxnSp>
        <p:nvCxnSpPr>
          <p:cNvPr id="437" name="Connector 436"/>
          <p:cNvCxnSpPr/>
          <p:nvPr/>
        </p:nvCxnSpPr>
        <p:spPr>
          <a:xfrm>
            <a:off x="6869795" y="7541676"/>
            <a:ext cx="0" cy="264223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Rounded Rectangle 437"/>
          <p:cNvSpPr/>
          <p:nvPr/>
        </p:nvSpPr>
        <p:spPr>
          <a:xfrm>
            <a:off x="6477235" y="6688614"/>
            <a:ext cx="113238" cy="286870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ounded Rectangle 438"/>
          <p:cNvSpPr/>
          <p:nvPr/>
        </p:nvSpPr>
        <p:spPr>
          <a:xfrm>
            <a:off x="6665966" y="6560277"/>
            <a:ext cx="113238" cy="415207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ounded Rectangle 439"/>
          <p:cNvSpPr/>
          <p:nvPr/>
        </p:nvSpPr>
        <p:spPr>
          <a:xfrm>
            <a:off x="6854697" y="6416842"/>
            <a:ext cx="113238" cy="558642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ounded Rectangle 440"/>
          <p:cNvSpPr/>
          <p:nvPr/>
        </p:nvSpPr>
        <p:spPr>
          <a:xfrm>
            <a:off x="7043427" y="6265857"/>
            <a:ext cx="113238" cy="709627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2" name="Connector 441"/>
          <p:cNvCxnSpPr/>
          <p:nvPr/>
        </p:nvCxnSpPr>
        <p:spPr>
          <a:xfrm>
            <a:off x="6832049" y="6975484"/>
            <a:ext cx="0" cy="203829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Rounded Rectangle 442"/>
          <p:cNvSpPr/>
          <p:nvPr/>
        </p:nvSpPr>
        <p:spPr>
          <a:xfrm>
            <a:off x="7473733" y="6469686"/>
            <a:ext cx="822865" cy="354813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22859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7519029" y="6514982"/>
            <a:ext cx="732274" cy="256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80" b="1" i="0">
                <a:solidFill>
                  <a:srgbClr val="101010"/>
                </a:solidFill>
                <a:latin typeface="Liberation Serif"/>
              </a:defRPr>
            </a:pPr>
            <a:r>
              <a:t>Fusion</a:t>
            </a:r>
          </a:p>
        </p:txBody>
      </p:sp>
      <p:cxnSp>
        <p:nvCxnSpPr>
          <p:cNvPr id="445" name="Connector 444"/>
          <p:cNvCxnSpPr/>
          <p:nvPr/>
        </p:nvCxnSpPr>
        <p:spPr>
          <a:xfrm flipH="1">
            <a:off x="7186863" y="6643318"/>
            <a:ext cx="286870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Rounded Rectangle 445"/>
          <p:cNvSpPr/>
          <p:nvPr/>
        </p:nvSpPr>
        <p:spPr>
          <a:xfrm>
            <a:off x="8568371" y="6190365"/>
            <a:ext cx="113238" cy="286870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ounded Rectangle 446"/>
          <p:cNvSpPr/>
          <p:nvPr/>
        </p:nvSpPr>
        <p:spPr>
          <a:xfrm>
            <a:off x="8757102" y="6062028"/>
            <a:ext cx="113238" cy="415207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ounded Rectangle 447"/>
          <p:cNvSpPr/>
          <p:nvPr/>
        </p:nvSpPr>
        <p:spPr>
          <a:xfrm>
            <a:off x="8945832" y="5918593"/>
            <a:ext cx="113238" cy="558642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ounded Rectangle 448"/>
          <p:cNvSpPr/>
          <p:nvPr/>
        </p:nvSpPr>
        <p:spPr>
          <a:xfrm>
            <a:off x="9134563" y="5767608"/>
            <a:ext cx="113238" cy="709627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ounded Rectangle 449"/>
          <p:cNvSpPr/>
          <p:nvPr/>
        </p:nvSpPr>
        <p:spPr>
          <a:xfrm>
            <a:off x="8568371" y="6696163"/>
            <a:ext cx="113238" cy="286870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ounded Rectangle 450"/>
          <p:cNvSpPr/>
          <p:nvPr/>
        </p:nvSpPr>
        <p:spPr>
          <a:xfrm>
            <a:off x="8757102" y="6696163"/>
            <a:ext cx="113238" cy="415207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ounded Rectangle 451"/>
          <p:cNvSpPr/>
          <p:nvPr/>
        </p:nvSpPr>
        <p:spPr>
          <a:xfrm>
            <a:off x="8945832" y="6696163"/>
            <a:ext cx="113238" cy="558642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ounded Rectangle 452"/>
          <p:cNvSpPr/>
          <p:nvPr/>
        </p:nvSpPr>
        <p:spPr>
          <a:xfrm>
            <a:off x="9134563" y="6696163"/>
            <a:ext cx="113238" cy="709627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4" name="Connector 453"/>
          <p:cNvCxnSpPr/>
          <p:nvPr/>
        </p:nvCxnSpPr>
        <p:spPr>
          <a:xfrm flipH="1">
            <a:off x="8296599" y="6643318"/>
            <a:ext cx="271772" cy="0"/>
          </a:xfrm>
          <a:prstGeom prst="line">
            <a:avLst/>
          </a:prstGeom>
          <a:ln w="19050">
            <a:solidFill>
              <a:srgbClr val="1010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8628765" y="6250759"/>
            <a:ext cx="0" cy="603938"/>
          </a:xfrm>
          <a:prstGeom prst="line">
            <a:avLst/>
          </a:prstGeom>
          <a:ln w="15240">
            <a:solidFill>
              <a:srgbClr val="48AC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8817495" y="6250759"/>
            <a:ext cx="0" cy="603938"/>
          </a:xfrm>
          <a:prstGeom prst="line">
            <a:avLst/>
          </a:prstGeom>
          <a:ln w="15240">
            <a:solidFill>
              <a:srgbClr val="48AC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9006226" y="6250759"/>
            <a:ext cx="0" cy="603938"/>
          </a:xfrm>
          <a:prstGeom prst="line">
            <a:avLst/>
          </a:prstGeom>
          <a:ln w="15240">
            <a:solidFill>
              <a:srgbClr val="48AC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9194957" y="6250759"/>
            <a:ext cx="0" cy="603938"/>
          </a:xfrm>
          <a:prstGeom prst="line">
            <a:avLst/>
          </a:prstGeom>
          <a:ln w="15240">
            <a:solidFill>
              <a:srgbClr val="48AC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Oval 458"/>
          <p:cNvSpPr/>
          <p:nvPr/>
        </p:nvSpPr>
        <p:spPr>
          <a:xfrm>
            <a:off x="11935326" y="5276908"/>
            <a:ext cx="332165" cy="3321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0" name="Connector 459"/>
          <p:cNvCxnSpPr/>
          <p:nvPr/>
        </p:nvCxnSpPr>
        <p:spPr>
          <a:xfrm>
            <a:off x="11950424" y="5442991"/>
            <a:ext cx="301969" cy="0"/>
          </a:xfrm>
          <a:prstGeom prst="line">
            <a:avLst/>
          </a:prstGeom>
          <a:ln w="1524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12101409" y="5292007"/>
            <a:ext cx="0" cy="301969"/>
          </a:xfrm>
          <a:prstGeom prst="line">
            <a:avLst/>
          </a:prstGeom>
          <a:ln w="1524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TextBox 461"/>
          <p:cNvSpPr txBox="1"/>
          <p:nvPr/>
        </p:nvSpPr>
        <p:spPr>
          <a:xfrm>
            <a:off x="12652502" y="5239162"/>
            <a:ext cx="1706125" cy="422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Channel-wise Concat</a:t>
            </a:r>
          </a:p>
        </p:txBody>
      </p:sp>
      <p:cxnSp>
        <p:nvCxnSpPr>
          <p:cNvPr id="463" name="Connector 462"/>
          <p:cNvCxnSpPr/>
          <p:nvPr/>
        </p:nvCxnSpPr>
        <p:spPr>
          <a:xfrm>
            <a:off x="11829637" y="5926142"/>
            <a:ext cx="543544" cy="0"/>
          </a:xfrm>
          <a:prstGeom prst="line">
            <a:avLst/>
          </a:prstGeom>
          <a:ln w="38100">
            <a:solidFill>
              <a:srgbClr val="EF762F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TextBox 463"/>
          <p:cNvSpPr txBox="1"/>
          <p:nvPr/>
        </p:nvSpPr>
        <p:spPr>
          <a:xfrm>
            <a:off x="12652502" y="5737411"/>
            <a:ext cx="1706125" cy="422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Grad. Backpropagate</a:t>
            </a:r>
          </a:p>
        </p:txBody>
      </p:sp>
      <p:sp>
        <p:nvSpPr>
          <p:cNvPr id="465" name="Cube 464"/>
          <p:cNvSpPr/>
          <p:nvPr/>
        </p:nvSpPr>
        <p:spPr>
          <a:xfrm>
            <a:off x="11874932" y="6265857"/>
            <a:ext cx="422756" cy="415207"/>
          </a:xfrm>
          <a:prstGeom prst="cube">
            <a:avLst/>
          </a:prstGeom>
          <a:solidFill>
            <a:srgbClr val="DDDDDD"/>
          </a:solidFill>
          <a:ln w="254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12652502" y="6258308"/>
            <a:ext cx="1706125" cy="4529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Diffused Latent Code</a:t>
            </a:r>
          </a:p>
        </p:txBody>
      </p:sp>
      <p:sp>
        <p:nvSpPr>
          <p:cNvPr id="467" name="Rounded Rectangle 466"/>
          <p:cNvSpPr/>
          <p:nvPr/>
        </p:nvSpPr>
        <p:spPr>
          <a:xfrm>
            <a:off x="11829637" y="7232158"/>
            <a:ext cx="113238" cy="286870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ounded Rectangle 467"/>
          <p:cNvSpPr/>
          <p:nvPr/>
        </p:nvSpPr>
        <p:spPr>
          <a:xfrm>
            <a:off x="12018367" y="7103821"/>
            <a:ext cx="113238" cy="415207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ounded Rectangle 468"/>
          <p:cNvSpPr/>
          <p:nvPr/>
        </p:nvSpPr>
        <p:spPr>
          <a:xfrm>
            <a:off x="12207098" y="6960386"/>
            <a:ext cx="113238" cy="558642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ounded Rectangle 469"/>
          <p:cNvSpPr/>
          <p:nvPr/>
        </p:nvSpPr>
        <p:spPr>
          <a:xfrm>
            <a:off x="12395829" y="6809401"/>
            <a:ext cx="113238" cy="709627"/>
          </a:xfrm>
          <a:prstGeom prst="roundRect">
            <a:avLst>
              <a:gd name="adj" fmla="val 12000"/>
            </a:avLst>
          </a:prstGeom>
          <a:solidFill>
            <a:srgbClr val="D87979"/>
          </a:solidFill>
          <a:ln w="15240">
            <a:solidFill>
              <a:srgbClr val="A63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12712896" y="6854697"/>
            <a:ext cx="1660829" cy="4378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Multiscale 3D Conv</a:t>
            </a:r>
          </a:p>
        </p:txBody>
      </p:sp>
      <p:sp>
        <p:nvSpPr>
          <p:cNvPr id="472" name="Rounded Rectangle 471"/>
          <p:cNvSpPr/>
          <p:nvPr/>
        </p:nvSpPr>
        <p:spPr>
          <a:xfrm>
            <a:off x="11723947" y="7609619"/>
            <a:ext cx="717176" cy="362362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22859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TextBox 472"/>
          <p:cNvSpPr txBox="1"/>
          <p:nvPr/>
        </p:nvSpPr>
        <p:spPr>
          <a:xfrm>
            <a:off x="11761694" y="7654915"/>
            <a:ext cx="641684" cy="27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S&amp;S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12743093" y="7579422"/>
            <a:ext cx="1585337" cy="422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Scale &amp; Shift</a:t>
            </a:r>
          </a:p>
        </p:txBody>
      </p:sp>
      <p:sp>
        <p:nvSpPr>
          <p:cNvPr id="475" name="Rounded Rectangle 474"/>
          <p:cNvSpPr/>
          <p:nvPr/>
        </p:nvSpPr>
        <p:spPr>
          <a:xfrm>
            <a:off x="11723947" y="8122967"/>
            <a:ext cx="717176" cy="362362"/>
          </a:xfrm>
          <a:prstGeom prst="roundRect">
            <a:avLst>
              <a:gd name="adj" fmla="val 12000"/>
            </a:avLst>
          </a:prstGeom>
          <a:solidFill>
            <a:srgbClr val="EDFFF2"/>
          </a:solidFill>
          <a:ln w="22859">
            <a:solidFill>
              <a:srgbClr val="9DDD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11761694" y="8168262"/>
            <a:ext cx="641684" cy="271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56" b="1" i="1">
                <a:solidFill>
                  <a:srgbClr val="101010"/>
                </a:solidFill>
                <a:latin typeface="Liberation Serif"/>
              </a:defRPr>
            </a:pPr>
            <a:r>
              <a:t>ℒ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2682699" y="8092770"/>
            <a:ext cx="1706125" cy="430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38" b="1" i="0">
                <a:solidFill>
                  <a:srgbClr val="101010"/>
                </a:solidFill>
                <a:latin typeface="Liberation Serif"/>
              </a:defRPr>
            </a:pPr>
            <a:r>
              <a:t>Training Loss Function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SViMo Synchronized Diffusion for Video and Motion Generation in Hand-object Interaction Scenario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398" cy="86136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SViMo and Vision-aware 3D Interaction Diffusion</dc:title>
  <dc:subject>Editable reconstruction of the supplied research diagram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