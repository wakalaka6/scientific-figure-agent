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71412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44787" y="2434190"/>
            <a:ext cx="9912137" cy="1220602"/>
          </a:xfrm>
          <a:prstGeom prst="rect">
            <a:avLst/>
          </a:prstGeom>
          <a:solidFill>
            <a:srgbClr val="E6F0DA"/>
          </a:solidFill>
          <a:ln>
            <a:solidFill>
              <a:srgbClr val="E6F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79" y="42089"/>
            <a:ext cx="5752266" cy="2946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7" b="1" i="0">
                <a:solidFill>
                  <a:srgbClr val="111111"/>
                </a:solidFill>
                <a:latin typeface="Arial"/>
              </a:rPr>
              <a:t>(a) Construction of Object Agent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64" y="392837"/>
            <a:ext cx="7344662" cy="206239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119" y="364777"/>
            <a:ext cx="7344662" cy="2062398"/>
          </a:xfrm>
          <a:prstGeom prst="rect">
            <a:avLst/>
          </a:prstGeom>
          <a:solidFill>
            <a:srgbClr val="EADDE1"/>
          </a:solidFill>
          <a:ln>
            <a:solidFill>
              <a:srgbClr val="EA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8" y="589256"/>
            <a:ext cx="1634485" cy="10311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388" y="589256"/>
            <a:ext cx="1634485" cy="1031199"/>
          </a:xfrm>
          <a:prstGeom prst="rect">
            <a:avLst/>
          </a:prstGeom>
          <a:noFill/>
          <a:ln w="10477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1196" y="1655530"/>
            <a:ext cx="1122393" cy="25253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0">
                <a:solidFill>
                  <a:srgbClr val="111111"/>
                </a:solidFill>
                <a:latin typeface="Arial"/>
              </a:rPr>
              <a:t>Source 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16874" y="1101348"/>
            <a:ext cx="196419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1963908" y="1074186"/>
            <a:ext cx="49385" cy="54324"/>
          </a:xfrm>
          <a:custGeom>
            <a:avLst/>
            <a:gdLst/>
            <a:ahLst/>
            <a:cxnLst/>
            <a:rect l="l" t="t" r="r" b="b"/>
            <a:pathLst>
              <a:path w="49385" h="54324">
                <a:moveTo>
                  <a:pt x="49385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34338" y="477017"/>
            <a:ext cx="582241" cy="1325827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3293" y="448957"/>
            <a:ext cx="582241" cy="1325827"/>
          </a:xfrm>
          <a:prstGeom prst="roundRect">
            <a:avLst/>
          </a:prstGeom>
          <a:solidFill>
            <a:srgbClr val="EADDE1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5400000">
            <a:off x="2013293" y="470002"/>
            <a:ext cx="582241" cy="128373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0">
                <a:solidFill>
                  <a:srgbClr val="111111"/>
                </a:solidFill>
                <a:latin typeface="Arial"/>
              </a:rPr>
              <a:t>Pre-trained Encoder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13146" y="1655530"/>
            <a:ext cx="140299" cy="0"/>
          </a:xfrm>
          <a:prstGeom prst="line">
            <a:avLst/>
          </a:prstGeom>
          <a:ln w="76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48220" y="1594779"/>
            <a:ext cx="70150" cy="121502"/>
          </a:xfrm>
          <a:prstGeom prst="line">
            <a:avLst/>
          </a:prstGeom>
          <a:ln w="76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448220" y="1594779"/>
            <a:ext cx="70150" cy="121502"/>
          </a:xfrm>
          <a:prstGeom prst="line">
            <a:avLst/>
          </a:prstGeom>
          <a:ln w="76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95535" y="1101348"/>
            <a:ext cx="350748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896897" y="1074186"/>
            <a:ext cx="49386" cy="54324"/>
          </a:xfrm>
          <a:custGeom>
            <a:avLst/>
            <a:gdLst/>
            <a:ahLst/>
            <a:cxnLst/>
            <a:rect l="l" t="t" r="r" b="b"/>
            <a:pathLst>
              <a:path w="49386" h="54324">
                <a:moveTo>
                  <a:pt x="49386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932253" y="589256"/>
            <a:ext cx="343733" cy="301643"/>
          </a:xfrm>
          <a:custGeom>
            <a:avLst/>
            <a:gdLst/>
            <a:ahLst/>
            <a:cxnLst/>
            <a:rect l="l" t="t" r="r" b="b"/>
            <a:pathLst>
              <a:path w="343733" h="301643">
                <a:moveTo>
                  <a:pt x="0" y="294628"/>
                </a:moveTo>
                <a:lnTo>
                  <a:pt x="280598" y="0"/>
                </a:lnTo>
                <a:lnTo>
                  <a:pt x="343733" y="0"/>
                </a:lnTo>
                <a:lnTo>
                  <a:pt x="70149" y="301643"/>
                </a:lnTo>
                <a:close/>
              </a:path>
            </a:pathLst>
          </a:custGeom>
          <a:solidFill>
            <a:srgbClr val="F9F9F7"/>
          </a:solidFill>
          <a:ln w="10477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02402" y="589256"/>
            <a:ext cx="273584" cy="925975"/>
          </a:xfrm>
          <a:custGeom>
            <a:avLst/>
            <a:gdLst/>
            <a:ahLst/>
            <a:cxnLst/>
            <a:rect l="l" t="t" r="r" b="b"/>
            <a:pathLst>
              <a:path w="273584" h="925975">
                <a:moveTo>
                  <a:pt x="0" y="301643"/>
                </a:moveTo>
                <a:lnTo>
                  <a:pt x="273584" y="0"/>
                </a:lnTo>
                <a:lnTo>
                  <a:pt x="273584" y="638361"/>
                </a:lnTo>
                <a:lnTo>
                  <a:pt x="0" y="925975"/>
                </a:lnTo>
                <a:close/>
              </a:path>
            </a:pathLst>
          </a:custGeom>
          <a:solidFill>
            <a:srgbClr val="C9C9C9"/>
          </a:solidFill>
          <a:ln w="10477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932253" y="883884"/>
            <a:ext cx="70149" cy="631347"/>
          </a:xfrm>
          <a:custGeom>
            <a:avLst/>
            <a:gdLst/>
            <a:ahLst/>
            <a:cxnLst/>
            <a:rect l="l" t="t" r="r" b="b"/>
            <a:pathLst>
              <a:path w="70149" h="631347">
                <a:moveTo>
                  <a:pt x="0" y="0"/>
                </a:moveTo>
                <a:lnTo>
                  <a:pt x="70149" y="7015"/>
                </a:lnTo>
                <a:lnTo>
                  <a:pt x="70149" y="631347"/>
                </a:lnTo>
                <a:lnTo>
                  <a:pt x="0" y="631347"/>
                </a:lnTo>
                <a:close/>
              </a:path>
            </a:pathLst>
          </a:custGeom>
          <a:solidFill>
            <a:srgbClr val="F5F5F5"/>
          </a:solidFill>
          <a:ln w="10477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5834" y="1529261"/>
            <a:ext cx="666421" cy="21746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444444"/>
                </a:solidFill>
                <a:latin typeface="Arial"/>
              </a:rPr>
              <a:t>Latent z₀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83001" y="1101348"/>
            <a:ext cx="336718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3570333" y="1074186"/>
            <a:ext cx="49386" cy="54324"/>
          </a:xfrm>
          <a:custGeom>
            <a:avLst/>
            <a:gdLst/>
            <a:ahLst/>
            <a:cxnLst/>
            <a:rect l="l" t="t" r="r" b="b"/>
            <a:pathLst>
              <a:path w="49386" h="54324">
                <a:moveTo>
                  <a:pt x="49386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26734" y="455972"/>
            <a:ext cx="350747" cy="1304782"/>
          </a:xfrm>
          <a:prstGeom prst="roundRect">
            <a:avLst/>
          </a:prstGeom>
          <a:solidFill>
            <a:srgbClr val="EADDE1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 rot="5400000">
            <a:off x="3626734" y="470002"/>
            <a:ext cx="350747" cy="127672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482" y="1101348"/>
            <a:ext cx="189403" cy="0"/>
          </a:xfrm>
          <a:prstGeom prst="line">
            <a:avLst/>
          </a:prstGeom>
          <a:ln w="1676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66885" y="1101348"/>
            <a:ext cx="0" cy="687466"/>
          </a:xfrm>
          <a:prstGeom prst="line">
            <a:avLst/>
          </a:prstGeom>
          <a:ln w="1676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66885" y="1788814"/>
            <a:ext cx="799706" cy="0"/>
          </a:xfrm>
          <a:prstGeom prst="line">
            <a:avLst/>
          </a:prstGeom>
          <a:ln w="1676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966591" y="1620455"/>
            <a:ext cx="0" cy="168359"/>
          </a:xfrm>
          <a:prstGeom prst="line">
            <a:avLst/>
          </a:prstGeom>
          <a:ln w="1676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4936960" y="1620455"/>
            <a:ext cx="59262" cy="53875"/>
          </a:xfrm>
          <a:custGeom>
            <a:avLst/>
            <a:gdLst/>
            <a:ahLst/>
            <a:cxnLst/>
            <a:rect l="l" t="t" r="r" b="b"/>
            <a:pathLst>
              <a:path w="59262" h="53875">
                <a:moveTo>
                  <a:pt x="29631" y="0"/>
                </a:moveTo>
                <a:lnTo>
                  <a:pt x="59262" y="53875"/>
                </a:lnTo>
                <a:lnTo>
                  <a:pt x="0" y="53875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125" y="883884"/>
            <a:ext cx="280598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1">
                <a:solidFill>
                  <a:srgbClr val="111111"/>
                </a:solidFill>
                <a:latin typeface="Times New Roman"/>
              </a:rP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125" y="1529261"/>
            <a:ext cx="294628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1">
                <a:solidFill>
                  <a:srgbClr val="111111"/>
                </a:solidFill>
                <a:latin typeface="Times New Roman"/>
              </a:rPr>
              <a:t>t′</a:t>
            </a:r>
          </a:p>
        </p:txBody>
      </p:sp>
      <p:sp>
        <p:nvSpPr>
          <p:cNvPr id="34" name="Freeform 33"/>
          <p:cNvSpPr/>
          <p:nvPr/>
        </p:nvSpPr>
        <p:spPr>
          <a:xfrm>
            <a:off x="4700022" y="680451"/>
            <a:ext cx="357763" cy="322688"/>
          </a:xfrm>
          <a:custGeom>
            <a:avLst/>
            <a:gdLst/>
            <a:ahLst/>
            <a:cxnLst/>
            <a:rect l="l" t="t" r="r" b="b"/>
            <a:pathLst>
              <a:path w="357763" h="322688">
                <a:moveTo>
                  <a:pt x="0" y="266568"/>
                </a:moveTo>
                <a:lnTo>
                  <a:pt x="287614" y="0"/>
                </a:lnTo>
                <a:lnTo>
                  <a:pt x="357763" y="21044"/>
                </a:lnTo>
                <a:lnTo>
                  <a:pt x="77165" y="322688"/>
                </a:lnTo>
                <a:close/>
              </a:path>
            </a:pathLst>
          </a:custGeom>
          <a:solidFill>
            <a:srgbClr val="DFE6E8"/>
          </a:solidFill>
          <a:ln w="9779">
            <a:solidFill>
              <a:srgbClr val="6E87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77187" y="701495"/>
            <a:ext cx="280598" cy="925975"/>
          </a:xfrm>
          <a:custGeom>
            <a:avLst/>
            <a:gdLst/>
            <a:ahLst/>
            <a:cxnLst/>
            <a:rect l="l" t="t" r="r" b="b"/>
            <a:pathLst>
              <a:path w="280598" h="925975">
                <a:moveTo>
                  <a:pt x="0" y="301644"/>
                </a:moveTo>
                <a:lnTo>
                  <a:pt x="280598" y="0"/>
                </a:lnTo>
                <a:lnTo>
                  <a:pt x="280598" y="617317"/>
                </a:lnTo>
                <a:lnTo>
                  <a:pt x="0" y="925975"/>
                </a:lnTo>
                <a:close/>
              </a:path>
            </a:pathLst>
          </a:custGeom>
          <a:solidFill>
            <a:srgbClr val="ADC1D1"/>
          </a:solidFill>
          <a:ln w="9779">
            <a:solidFill>
              <a:srgbClr val="6E87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707037" y="947019"/>
            <a:ext cx="70150" cy="680451"/>
          </a:xfrm>
          <a:custGeom>
            <a:avLst/>
            <a:gdLst/>
            <a:ahLst/>
            <a:cxnLst/>
            <a:rect l="l" t="t" r="r" b="b"/>
            <a:pathLst>
              <a:path w="70150" h="680451">
                <a:moveTo>
                  <a:pt x="0" y="0"/>
                </a:moveTo>
                <a:lnTo>
                  <a:pt x="70150" y="56120"/>
                </a:lnTo>
                <a:lnTo>
                  <a:pt x="70150" y="680451"/>
                </a:lnTo>
                <a:lnTo>
                  <a:pt x="0" y="624331"/>
                </a:lnTo>
                <a:close/>
              </a:path>
            </a:pathLst>
          </a:custGeom>
          <a:solidFill>
            <a:srgbClr val="C8D6E2"/>
          </a:solidFill>
          <a:ln w="9779">
            <a:solidFill>
              <a:srgbClr val="6E87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945546" y="687466"/>
            <a:ext cx="343733" cy="238508"/>
          </a:xfrm>
          <a:custGeom>
            <a:avLst/>
            <a:gdLst/>
            <a:ahLst/>
            <a:cxnLst/>
            <a:rect l="l" t="t" r="r" b="b"/>
            <a:pathLst>
              <a:path w="343733" h="238508">
                <a:moveTo>
                  <a:pt x="0" y="182388"/>
                </a:moveTo>
                <a:lnTo>
                  <a:pt x="266568" y="0"/>
                </a:lnTo>
                <a:lnTo>
                  <a:pt x="343733" y="7014"/>
                </a:lnTo>
                <a:lnTo>
                  <a:pt x="77165" y="238508"/>
                </a:lnTo>
                <a:close/>
              </a:path>
            </a:pathLst>
          </a:custGeom>
          <a:solidFill>
            <a:srgbClr val="70AEC3"/>
          </a:solidFill>
          <a:ln w="9779">
            <a:solidFill>
              <a:srgbClr val="59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022711" y="694480"/>
            <a:ext cx="266568" cy="925975"/>
          </a:xfrm>
          <a:custGeom>
            <a:avLst/>
            <a:gdLst/>
            <a:ahLst/>
            <a:cxnLst/>
            <a:rect l="l" t="t" r="r" b="b"/>
            <a:pathLst>
              <a:path w="266568" h="925975">
                <a:moveTo>
                  <a:pt x="0" y="231494"/>
                </a:moveTo>
                <a:lnTo>
                  <a:pt x="266568" y="0"/>
                </a:lnTo>
                <a:lnTo>
                  <a:pt x="266568" y="631347"/>
                </a:lnTo>
                <a:lnTo>
                  <a:pt x="0" y="925975"/>
                </a:lnTo>
                <a:close/>
              </a:path>
            </a:pathLst>
          </a:custGeom>
          <a:solidFill>
            <a:srgbClr val="3997B7"/>
          </a:solidFill>
          <a:ln w="9779">
            <a:solidFill>
              <a:srgbClr val="59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945546" y="869854"/>
            <a:ext cx="77165" cy="750601"/>
          </a:xfrm>
          <a:custGeom>
            <a:avLst/>
            <a:gdLst/>
            <a:ahLst/>
            <a:cxnLst/>
            <a:rect l="l" t="t" r="r" b="b"/>
            <a:pathLst>
              <a:path w="77165" h="750601">
                <a:moveTo>
                  <a:pt x="0" y="0"/>
                </a:moveTo>
                <a:lnTo>
                  <a:pt x="77165" y="56120"/>
                </a:lnTo>
                <a:lnTo>
                  <a:pt x="77165" y="750601"/>
                </a:lnTo>
                <a:lnTo>
                  <a:pt x="0" y="687467"/>
                </a:lnTo>
                <a:close/>
              </a:path>
            </a:pathLst>
          </a:custGeom>
          <a:solidFill>
            <a:srgbClr val="7CB7C9"/>
          </a:solidFill>
          <a:ln w="9779">
            <a:solidFill>
              <a:srgbClr val="59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289279" y="1101348"/>
            <a:ext cx="308658" cy="0"/>
          </a:xfrm>
          <a:prstGeom prst="line">
            <a:avLst/>
          </a:prstGeom>
          <a:ln w="1606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5546307" y="1072952"/>
            <a:ext cx="51630" cy="56793"/>
          </a:xfrm>
          <a:custGeom>
            <a:avLst/>
            <a:gdLst/>
            <a:ahLst/>
            <a:cxnLst/>
            <a:rect l="l" t="t" r="r" b="b"/>
            <a:pathLst>
              <a:path w="51630" h="56793">
                <a:moveTo>
                  <a:pt x="51630" y="28396"/>
                </a:moveTo>
                <a:lnTo>
                  <a:pt x="0" y="5679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18982" y="883884"/>
            <a:ext cx="1213588" cy="617316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97937" y="855825"/>
            <a:ext cx="1213588" cy="617316"/>
          </a:xfrm>
          <a:prstGeom prst="roundRect">
            <a:avLst/>
          </a:prstGeom>
          <a:solidFill>
            <a:srgbClr val="EADDE1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3012" y="862840"/>
            <a:ext cx="1143438" cy="60328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Diffusion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22121" y="989109"/>
            <a:ext cx="154329" cy="0"/>
          </a:xfrm>
          <a:prstGeom prst="line">
            <a:avLst/>
          </a:prstGeom>
          <a:ln w="76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660704" y="922282"/>
            <a:ext cx="77164" cy="133653"/>
          </a:xfrm>
          <a:prstGeom prst="line">
            <a:avLst/>
          </a:prstGeom>
          <a:ln w="76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660704" y="922282"/>
            <a:ext cx="77164" cy="133653"/>
          </a:xfrm>
          <a:prstGeom prst="line">
            <a:avLst/>
          </a:prstGeom>
          <a:ln w="76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022711" y="526121"/>
            <a:ext cx="0" cy="168359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022711" y="526121"/>
            <a:ext cx="1178513" cy="0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201224" y="526121"/>
            <a:ext cx="0" cy="329704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6164185" y="788481"/>
            <a:ext cx="74078" cy="67344"/>
          </a:xfrm>
          <a:custGeom>
            <a:avLst/>
            <a:gdLst/>
            <a:ahLst/>
            <a:cxnLst/>
            <a:rect l="l" t="t" r="r" b="b"/>
            <a:pathLst>
              <a:path w="74078" h="67344">
                <a:moveTo>
                  <a:pt x="37039" y="67344"/>
                </a:moveTo>
                <a:lnTo>
                  <a:pt x="0" y="0"/>
                </a:lnTo>
                <a:lnTo>
                  <a:pt x="74078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583907" y="1585380"/>
            <a:ext cx="147314" cy="98210"/>
          </a:xfrm>
          <a:custGeom>
            <a:avLst/>
            <a:gdLst/>
            <a:ahLst/>
            <a:cxnLst/>
            <a:rect l="l" t="t" r="r" b="b"/>
            <a:pathLst>
              <a:path w="147314" h="98210">
                <a:moveTo>
                  <a:pt x="0" y="77165"/>
                </a:moveTo>
                <a:lnTo>
                  <a:pt x="84180" y="0"/>
                </a:lnTo>
                <a:lnTo>
                  <a:pt x="147314" y="21045"/>
                </a:lnTo>
                <a:lnTo>
                  <a:pt x="63135" y="98210"/>
                </a:lnTo>
                <a:close/>
              </a:path>
            </a:pathLst>
          </a:custGeom>
          <a:solidFill>
            <a:srgbClr val="D6E1E5"/>
          </a:solidFill>
          <a:ln w="8382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83907" y="1669560"/>
            <a:ext cx="70149" cy="161344"/>
          </a:xfrm>
          <a:prstGeom prst="rect">
            <a:avLst/>
          </a:prstGeom>
          <a:solidFill>
            <a:srgbClr val="9FB7C5"/>
          </a:solidFill>
          <a:ln w="7683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5633012" y="1536276"/>
            <a:ext cx="147314" cy="98209"/>
          </a:xfrm>
          <a:custGeom>
            <a:avLst/>
            <a:gdLst/>
            <a:ahLst/>
            <a:cxnLst/>
            <a:rect l="l" t="t" r="r" b="b"/>
            <a:pathLst>
              <a:path w="147314" h="98209">
                <a:moveTo>
                  <a:pt x="0" y="77164"/>
                </a:moveTo>
                <a:lnTo>
                  <a:pt x="84180" y="0"/>
                </a:lnTo>
                <a:lnTo>
                  <a:pt x="147314" y="21045"/>
                </a:lnTo>
                <a:lnTo>
                  <a:pt x="63135" y="98209"/>
                </a:lnTo>
                <a:close/>
              </a:path>
            </a:pathLst>
          </a:custGeom>
          <a:solidFill>
            <a:srgbClr val="D6E1E5"/>
          </a:solidFill>
          <a:ln w="8382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33012" y="1620455"/>
            <a:ext cx="70149" cy="161344"/>
          </a:xfrm>
          <a:prstGeom prst="rect">
            <a:avLst/>
          </a:prstGeom>
          <a:solidFill>
            <a:srgbClr val="9FB7C5"/>
          </a:solidFill>
          <a:ln w="7683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682117" y="1487171"/>
            <a:ext cx="147314" cy="98209"/>
          </a:xfrm>
          <a:custGeom>
            <a:avLst/>
            <a:gdLst/>
            <a:ahLst/>
            <a:cxnLst/>
            <a:rect l="l" t="t" r="r" b="b"/>
            <a:pathLst>
              <a:path w="147314" h="98209">
                <a:moveTo>
                  <a:pt x="0" y="77164"/>
                </a:moveTo>
                <a:lnTo>
                  <a:pt x="84179" y="0"/>
                </a:lnTo>
                <a:lnTo>
                  <a:pt x="147314" y="21045"/>
                </a:lnTo>
                <a:lnTo>
                  <a:pt x="63134" y="98209"/>
                </a:lnTo>
                <a:close/>
              </a:path>
            </a:pathLst>
          </a:custGeom>
          <a:solidFill>
            <a:srgbClr val="D6E1E5"/>
          </a:solidFill>
          <a:ln w="8382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82117" y="1571350"/>
            <a:ext cx="70149" cy="161344"/>
          </a:xfrm>
          <a:prstGeom prst="rect">
            <a:avLst/>
          </a:prstGeom>
          <a:solidFill>
            <a:srgbClr val="9FB7C5"/>
          </a:solidFill>
          <a:ln w="7683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6278388" y="1585380"/>
            <a:ext cx="147314" cy="98210"/>
          </a:xfrm>
          <a:custGeom>
            <a:avLst/>
            <a:gdLst/>
            <a:ahLst/>
            <a:cxnLst/>
            <a:rect l="l" t="t" r="r" b="b"/>
            <a:pathLst>
              <a:path w="147314" h="98210">
                <a:moveTo>
                  <a:pt x="0" y="77165"/>
                </a:moveTo>
                <a:lnTo>
                  <a:pt x="84180" y="0"/>
                </a:lnTo>
                <a:lnTo>
                  <a:pt x="147314" y="21045"/>
                </a:lnTo>
                <a:lnTo>
                  <a:pt x="63135" y="98210"/>
                </a:lnTo>
                <a:close/>
              </a:path>
            </a:pathLst>
          </a:custGeom>
          <a:solidFill>
            <a:srgbClr val="62AEC1"/>
          </a:solidFill>
          <a:ln w="8382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78388" y="1669560"/>
            <a:ext cx="70149" cy="161344"/>
          </a:xfrm>
          <a:prstGeom prst="rect">
            <a:avLst/>
          </a:prstGeom>
          <a:solidFill>
            <a:srgbClr val="318FAD"/>
          </a:solidFill>
          <a:ln w="7683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6327493" y="1536276"/>
            <a:ext cx="147314" cy="98209"/>
          </a:xfrm>
          <a:custGeom>
            <a:avLst/>
            <a:gdLst/>
            <a:ahLst/>
            <a:cxnLst/>
            <a:rect l="l" t="t" r="r" b="b"/>
            <a:pathLst>
              <a:path w="147314" h="98209">
                <a:moveTo>
                  <a:pt x="0" y="77164"/>
                </a:moveTo>
                <a:lnTo>
                  <a:pt x="84180" y="0"/>
                </a:lnTo>
                <a:lnTo>
                  <a:pt x="147314" y="21045"/>
                </a:lnTo>
                <a:lnTo>
                  <a:pt x="63135" y="98209"/>
                </a:lnTo>
                <a:close/>
              </a:path>
            </a:pathLst>
          </a:custGeom>
          <a:solidFill>
            <a:srgbClr val="62AEC1"/>
          </a:solidFill>
          <a:ln w="8382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7493" y="1620455"/>
            <a:ext cx="70149" cy="161344"/>
          </a:xfrm>
          <a:prstGeom prst="rect">
            <a:avLst/>
          </a:prstGeom>
          <a:solidFill>
            <a:srgbClr val="318FAD"/>
          </a:solidFill>
          <a:ln w="7683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6376598" y="1487171"/>
            <a:ext cx="147314" cy="98209"/>
          </a:xfrm>
          <a:custGeom>
            <a:avLst/>
            <a:gdLst/>
            <a:ahLst/>
            <a:cxnLst/>
            <a:rect l="l" t="t" r="r" b="b"/>
            <a:pathLst>
              <a:path w="147314" h="98209">
                <a:moveTo>
                  <a:pt x="0" y="77164"/>
                </a:moveTo>
                <a:lnTo>
                  <a:pt x="84179" y="0"/>
                </a:lnTo>
                <a:lnTo>
                  <a:pt x="147314" y="21045"/>
                </a:lnTo>
                <a:lnTo>
                  <a:pt x="63134" y="98209"/>
                </a:lnTo>
                <a:close/>
              </a:path>
            </a:pathLst>
          </a:custGeom>
          <a:solidFill>
            <a:srgbClr val="62AEC1"/>
          </a:solidFill>
          <a:ln w="8382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76598" y="1571350"/>
            <a:ext cx="70149" cy="161344"/>
          </a:xfrm>
          <a:prstGeom prst="rect">
            <a:avLst/>
          </a:prstGeom>
          <a:solidFill>
            <a:srgbClr val="318FAD"/>
          </a:solidFill>
          <a:ln w="7683">
            <a:solidFill>
              <a:srgbClr val="68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5906595" y="1473141"/>
            <a:ext cx="0" cy="484032"/>
          </a:xfrm>
          <a:prstGeom prst="line">
            <a:avLst/>
          </a:prstGeom>
          <a:ln w="19558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5872026" y="1894319"/>
            <a:ext cx="69139" cy="62854"/>
          </a:xfrm>
          <a:custGeom>
            <a:avLst/>
            <a:gdLst/>
            <a:ahLst/>
            <a:cxnLst/>
            <a:rect l="l" t="t" r="r" b="b"/>
            <a:pathLst>
              <a:path w="69139" h="62854">
                <a:moveTo>
                  <a:pt x="34569" y="62854"/>
                </a:moveTo>
                <a:lnTo>
                  <a:pt x="0" y="0"/>
                </a:lnTo>
                <a:lnTo>
                  <a:pt x="69139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6580032" y="1473141"/>
            <a:ext cx="0" cy="484032"/>
          </a:xfrm>
          <a:prstGeom prst="line">
            <a:avLst/>
          </a:prstGeom>
          <a:ln w="19558">
            <a:solidFill>
              <a:srgbClr val="277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6545462" y="1894319"/>
            <a:ext cx="69139" cy="62854"/>
          </a:xfrm>
          <a:custGeom>
            <a:avLst/>
            <a:gdLst/>
            <a:ahLst/>
            <a:cxnLst/>
            <a:rect l="l" t="t" r="r" b="b"/>
            <a:pathLst>
              <a:path w="69139" h="62854">
                <a:moveTo>
                  <a:pt x="34570" y="62854"/>
                </a:moveTo>
                <a:lnTo>
                  <a:pt x="0" y="0"/>
                </a:lnTo>
                <a:lnTo>
                  <a:pt x="69139" y="0"/>
                </a:lnTo>
                <a:close/>
              </a:path>
            </a:pathLst>
          </a:custGeom>
          <a:solidFill>
            <a:srgbClr val="277F94"/>
          </a:solidFill>
          <a:ln w="3492">
            <a:solidFill>
              <a:srgbClr val="277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265095" y="1985233"/>
            <a:ext cx="3065537" cy="343733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244050" y="1957173"/>
            <a:ext cx="3065537" cy="343733"/>
          </a:xfrm>
          <a:prstGeom prst="roundRect">
            <a:avLst/>
          </a:prstGeom>
          <a:solidFill>
            <a:srgbClr val="EFD8E0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79125" y="1964188"/>
            <a:ext cx="2995387" cy="32970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6" b="0" i="0">
                <a:solidFill>
                  <a:srgbClr val="111111"/>
                </a:solidFill>
                <a:latin typeface="Arial"/>
              </a:rPr>
              <a:t>Aggregating Instance Semantic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14936" y="1851949"/>
            <a:ext cx="1473141" cy="1669560"/>
          </a:xfrm>
          <a:prstGeom prst="rect">
            <a:avLst/>
          </a:prstGeom>
          <a:noFill/>
          <a:ln w="24447">
            <a:solidFill>
              <a:srgbClr val="142B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92101" y="1950158"/>
            <a:ext cx="1325827" cy="462987"/>
          </a:xfrm>
          <a:prstGeom prst="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60460" y="2020308"/>
            <a:ext cx="189403" cy="189403"/>
          </a:xfrm>
          <a:prstGeom prst="rect">
            <a:avLst/>
          </a:prstGeom>
          <a:solidFill>
            <a:srgbClr val="DCE1E2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18370" y="2062398"/>
            <a:ext cx="189403" cy="189403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48220" y="2118517"/>
            <a:ext cx="203433" cy="203433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12998" y="2076428"/>
            <a:ext cx="182388" cy="17537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37477" y="2111502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26881" y="2111502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16285" y="2111502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16285" y="2034338"/>
            <a:ext cx="189403" cy="84179"/>
          </a:xfrm>
          <a:prstGeom prst="rect">
            <a:avLst/>
          </a:prstGeom>
          <a:solidFill>
            <a:srgbClr val="C7D8E8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392101" y="2560460"/>
            <a:ext cx="1325827" cy="470002"/>
          </a:xfrm>
          <a:prstGeom prst="rect">
            <a:avLst/>
          </a:prstGeom>
          <a:solidFill>
            <a:srgbClr val="E5F2DA"/>
          </a:solidFill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60460" y="2630609"/>
            <a:ext cx="189403" cy="189403"/>
          </a:xfrm>
          <a:prstGeom prst="rect">
            <a:avLst/>
          </a:prstGeom>
          <a:solidFill>
            <a:srgbClr val="DCE1E2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18370" y="2672699"/>
            <a:ext cx="189403" cy="189403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448220" y="2728819"/>
            <a:ext cx="203433" cy="203433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12998" y="2686729"/>
            <a:ext cx="182388" cy="17537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037477" y="2721804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26881" y="2721804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16285" y="2721804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416285" y="2644639"/>
            <a:ext cx="189403" cy="84179"/>
          </a:xfrm>
          <a:prstGeom prst="rect">
            <a:avLst/>
          </a:prstGeom>
          <a:solidFill>
            <a:srgbClr val="C7D8E8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41205" y="3058522"/>
            <a:ext cx="1241647" cy="38582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1">
                <a:solidFill>
                  <a:srgbClr val="111111"/>
                </a:solidFill>
                <a:latin typeface="Times New Roman"/>
              </a:rPr>
              <a:t>Dual-queries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1">
                <a:solidFill>
                  <a:srgbClr val="111111"/>
                </a:solidFill>
                <a:latin typeface="Times New Roman"/>
              </a:rPr>
              <a:t>Design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731958" y="2090457"/>
            <a:ext cx="512092" cy="0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4176706" y="2053418"/>
            <a:ext cx="67344" cy="74078"/>
          </a:xfrm>
          <a:custGeom>
            <a:avLst/>
            <a:gdLst/>
            <a:ahLst/>
            <a:cxnLst/>
            <a:rect l="l" t="t" r="r" b="b"/>
            <a:pathLst>
              <a:path w="67344" h="74078">
                <a:moveTo>
                  <a:pt x="67344" y="37039"/>
                </a:moveTo>
                <a:lnTo>
                  <a:pt x="0" y="74078"/>
                </a:lnTo>
                <a:lnTo>
                  <a:pt x="0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3731958" y="2904193"/>
            <a:ext cx="266568" cy="0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998526" y="2181652"/>
            <a:ext cx="0" cy="722541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998526" y="2181652"/>
            <a:ext cx="245524" cy="0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4176706" y="2144613"/>
            <a:ext cx="67344" cy="74078"/>
          </a:xfrm>
          <a:custGeom>
            <a:avLst/>
            <a:gdLst/>
            <a:ahLst/>
            <a:cxnLst/>
            <a:rect l="l" t="t" r="r" b="b"/>
            <a:pathLst>
              <a:path w="67344" h="74078">
                <a:moveTo>
                  <a:pt x="67344" y="37039"/>
                </a:moveTo>
                <a:lnTo>
                  <a:pt x="0" y="74078"/>
                </a:lnTo>
                <a:lnTo>
                  <a:pt x="0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4840322" y="2300906"/>
            <a:ext cx="0" cy="259554"/>
          </a:xfrm>
          <a:prstGeom prst="line">
            <a:avLst/>
          </a:prstGeom>
          <a:ln w="20955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4803283" y="2493116"/>
            <a:ext cx="74078" cy="67344"/>
          </a:xfrm>
          <a:custGeom>
            <a:avLst/>
            <a:gdLst/>
            <a:ahLst/>
            <a:cxnLst/>
            <a:rect l="l" t="t" r="r" b="b"/>
            <a:pathLst>
              <a:path w="74078" h="67344">
                <a:moveTo>
                  <a:pt x="37039" y="67344"/>
                </a:moveTo>
                <a:lnTo>
                  <a:pt x="0" y="0"/>
                </a:lnTo>
                <a:lnTo>
                  <a:pt x="74078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6453762" y="2300906"/>
            <a:ext cx="0" cy="259554"/>
          </a:xfrm>
          <a:prstGeom prst="line">
            <a:avLst/>
          </a:prstGeom>
          <a:ln w="20955">
            <a:solidFill>
              <a:srgbClr val="287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6416723" y="2493116"/>
            <a:ext cx="74078" cy="67344"/>
          </a:xfrm>
          <a:custGeom>
            <a:avLst/>
            <a:gdLst/>
            <a:ahLst/>
            <a:cxnLst/>
            <a:rect l="l" t="t" r="r" b="b"/>
            <a:pathLst>
              <a:path w="74078" h="67344">
                <a:moveTo>
                  <a:pt x="37039" y="67344"/>
                </a:moveTo>
                <a:lnTo>
                  <a:pt x="0" y="0"/>
                </a:lnTo>
                <a:lnTo>
                  <a:pt x="74078" y="0"/>
                </a:lnTo>
                <a:close/>
              </a:path>
            </a:pathLst>
          </a:custGeom>
          <a:solidFill>
            <a:srgbClr val="287F93"/>
          </a:solidFill>
          <a:ln w="3492">
            <a:solidFill>
              <a:srgbClr val="287F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138826" y="2560460"/>
            <a:ext cx="1185528" cy="448957"/>
          </a:xfrm>
          <a:prstGeom prst="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629873" y="2637624"/>
            <a:ext cx="799705" cy="308658"/>
          </a:xfrm>
          <a:prstGeom prst="ellipse">
            <a:avLst/>
          </a:prstGeom>
          <a:solidFill>
            <a:srgbClr val="F6EFD6"/>
          </a:solidFill>
          <a:ln w="8382">
            <a:solidFill>
              <a:srgbClr val="8D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08975" y="2693744"/>
            <a:ext cx="196418" cy="196418"/>
          </a:xfrm>
          <a:prstGeom prst="rect">
            <a:avLst/>
          </a:prstGeom>
          <a:solidFill>
            <a:srgbClr val="C7D8E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461514" y="2679714"/>
            <a:ext cx="196418" cy="19641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0022" y="2693744"/>
            <a:ext cx="196418" cy="196418"/>
          </a:xfrm>
          <a:prstGeom prst="rect">
            <a:avLst/>
          </a:prstGeom>
          <a:solidFill>
            <a:srgbClr val="C7D8E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889426" y="2693744"/>
            <a:ext cx="196418" cy="196418"/>
          </a:xfrm>
          <a:prstGeom prst="rect">
            <a:avLst/>
          </a:prstGeom>
          <a:solidFill>
            <a:srgbClr val="C7D8E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78830" y="2693744"/>
            <a:ext cx="196418" cy="196418"/>
          </a:xfrm>
          <a:prstGeom prst="rect">
            <a:avLst/>
          </a:prstGeom>
          <a:solidFill>
            <a:srgbClr val="C7D8E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94945" y="2995387"/>
            <a:ext cx="701495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1">
                <a:solidFill>
                  <a:srgbClr val="111111"/>
                </a:solidFill>
                <a:latin typeface="Times New Roman"/>
              </a:rPr>
              <a:t>qᵢₙₛ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815401" y="2560460"/>
            <a:ext cx="1199558" cy="448957"/>
          </a:xfrm>
          <a:prstGeom prst="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306448" y="2637624"/>
            <a:ext cx="799705" cy="308658"/>
          </a:xfrm>
          <a:prstGeom prst="ellipse">
            <a:avLst/>
          </a:prstGeom>
          <a:solidFill>
            <a:srgbClr val="F6EFD6"/>
          </a:solidFill>
          <a:ln w="8382">
            <a:solidFill>
              <a:srgbClr val="8D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885551" y="2693744"/>
            <a:ext cx="196418" cy="196418"/>
          </a:xfrm>
          <a:prstGeom prst="rect">
            <a:avLst/>
          </a:prstGeom>
          <a:solidFill>
            <a:srgbClr val="45A8C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8089" y="2679714"/>
            <a:ext cx="196418" cy="19641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76598" y="2693744"/>
            <a:ext cx="196418" cy="196418"/>
          </a:xfrm>
          <a:prstGeom prst="rect">
            <a:avLst/>
          </a:prstGeom>
          <a:solidFill>
            <a:srgbClr val="45A8C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566002" y="2693744"/>
            <a:ext cx="196418" cy="196418"/>
          </a:xfrm>
          <a:prstGeom prst="rect">
            <a:avLst/>
          </a:prstGeom>
          <a:solidFill>
            <a:srgbClr val="45A8C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755406" y="2693744"/>
            <a:ext cx="196418" cy="196418"/>
          </a:xfrm>
          <a:prstGeom prst="rect">
            <a:avLst/>
          </a:prstGeom>
          <a:solidFill>
            <a:srgbClr val="45A8C8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29431" y="2995387"/>
            <a:ext cx="757615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1">
                <a:solidFill>
                  <a:srgbClr val="111111"/>
                </a:solidFill>
                <a:latin typeface="Times New Roman"/>
              </a:rPr>
              <a:t>q′ᵢₙₛ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096736" y="3254941"/>
            <a:ext cx="3037477" cy="343733"/>
          </a:xfrm>
          <a:prstGeom prst="roundRect">
            <a:avLst/>
          </a:prstGeom>
          <a:solidFill>
            <a:srgbClr val="D9EBE4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31811" y="3261956"/>
            <a:ext cx="2967327" cy="32970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Principal Component Extraction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194" y="2546430"/>
            <a:ext cx="2132547" cy="1108363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149" y="2518370"/>
            <a:ext cx="2132547" cy="1108363"/>
          </a:xfrm>
          <a:prstGeom prst="rect">
            <a:avLst/>
          </a:prstGeom>
          <a:solidFill>
            <a:srgbClr val="F4F4F4"/>
          </a:solidFill>
          <a:ln w="14668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26269" y="2588520"/>
            <a:ext cx="133284" cy="133284"/>
          </a:xfrm>
          <a:prstGeom prst="rect">
            <a:avLst/>
          </a:prstGeom>
          <a:solidFill>
            <a:srgbClr val="F4F4F0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01643" y="2560460"/>
            <a:ext cx="1823889" cy="19641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7" b="0" i="0">
                <a:solidFill>
                  <a:srgbClr val="444444"/>
                </a:solidFill>
                <a:latin typeface="Arial"/>
              </a:rPr>
              <a:t>Learnable Queries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26269" y="2848073"/>
            <a:ext cx="133284" cy="133284"/>
          </a:xfrm>
          <a:prstGeom prst="rect">
            <a:avLst/>
          </a:prstGeom>
          <a:solidFill>
            <a:srgbClr val="C7D8E8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01643" y="2820013"/>
            <a:ext cx="1823889" cy="19641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7" b="0" i="0">
                <a:solidFill>
                  <a:srgbClr val="444444"/>
                </a:solidFill>
                <a:latin typeface="Arial"/>
              </a:rPr>
              <a:t>2D Object Agent Queries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6269" y="3107627"/>
            <a:ext cx="133284" cy="133284"/>
          </a:xfrm>
          <a:prstGeom prst="rect">
            <a:avLst/>
          </a:prstGeom>
          <a:solidFill>
            <a:srgbClr val="45A8C8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01643" y="3079567"/>
            <a:ext cx="1823889" cy="19641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7" b="0" i="0">
                <a:solidFill>
                  <a:srgbClr val="444444"/>
                </a:solidFill>
                <a:latin typeface="Arial"/>
              </a:rPr>
              <a:t>2D Auxiliary Object Agent Queries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26269" y="3367180"/>
            <a:ext cx="133284" cy="13328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01643" y="3339120"/>
            <a:ext cx="1823889" cy="19641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7" b="0" i="0">
                <a:solidFill>
                  <a:srgbClr val="444444"/>
                </a:solidFill>
                <a:latin typeface="Arial"/>
              </a:rPr>
              <a:t>3D Object Agent Queries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991" y="42089"/>
            <a:ext cx="4559723" cy="29462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7" b="1" i="0">
                <a:solidFill>
                  <a:srgbClr val="111111"/>
                </a:solidFill>
                <a:latin typeface="Arial"/>
              </a:rPr>
              <a:t>(b) Dual-queries Consistency Scheme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569141" y="427912"/>
            <a:ext cx="4552708" cy="2195682"/>
          </a:xfrm>
          <a:prstGeom prst="roundRect">
            <a:avLst/>
          </a:prstGeom>
          <a:solidFill>
            <a:srgbClr val="CFEAE6"/>
          </a:solidFill>
          <a:ln w="1885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361831" y="554181"/>
            <a:ext cx="196418" cy="196418"/>
          </a:xfrm>
          <a:prstGeom prst="rect">
            <a:avLst/>
          </a:prstGeom>
          <a:solidFill>
            <a:srgbClr val="FFF3C6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14370" y="540151"/>
            <a:ext cx="196418" cy="19641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852878" y="554181"/>
            <a:ext cx="196418" cy="196418"/>
          </a:xfrm>
          <a:prstGeom prst="rect">
            <a:avLst/>
          </a:prstGeom>
          <a:solidFill>
            <a:srgbClr val="FFF3C6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049297" y="554181"/>
            <a:ext cx="196418" cy="196418"/>
          </a:xfrm>
          <a:prstGeom prst="rect">
            <a:avLst/>
          </a:prstGeom>
          <a:solidFill>
            <a:srgbClr val="FFF3C6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245716" y="554181"/>
            <a:ext cx="196418" cy="196418"/>
          </a:xfrm>
          <a:prstGeom prst="rect">
            <a:avLst/>
          </a:prstGeom>
          <a:solidFill>
            <a:srgbClr val="FFF3C6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54374" y="512092"/>
            <a:ext cx="2321951" cy="308658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Object Agent Queries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8831834" y="778660"/>
            <a:ext cx="0" cy="210449"/>
          </a:xfrm>
          <a:prstGeom prst="line">
            <a:avLst/>
          </a:prstGeom>
          <a:ln w="1816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Freeform 137"/>
          <p:cNvSpPr/>
          <p:nvPr/>
        </p:nvSpPr>
        <p:spPr>
          <a:xfrm>
            <a:off x="8799733" y="930744"/>
            <a:ext cx="64201" cy="58365"/>
          </a:xfrm>
          <a:custGeom>
            <a:avLst/>
            <a:gdLst/>
            <a:ahLst/>
            <a:cxnLst/>
            <a:rect l="l" t="t" r="r" b="b"/>
            <a:pathLst>
              <a:path w="64201" h="58365">
                <a:moveTo>
                  <a:pt x="32101" y="58365"/>
                </a:moveTo>
                <a:lnTo>
                  <a:pt x="0" y="0"/>
                </a:lnTo>
                <a:lnTo>
                  <a:pt x="64201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639290" y="1003139"/>
            <a:ext cx="2342996" cy="1094333"/>
          </a:xfrm>
          <a:prstGeom prst="round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0150646" y="1003139"/>
            <a:ext cx="1908068" cy="1094333"/>
          </a:xfrm>
          <a:prstGeom prst="round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449150" y="1003139"/>
            <a:ext cx="533136" cy="28059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1">
                <a:solidFill>
                  <a:srgbClr val="111111"/>
                </a:solidFill>
                <a:latin typeface="Times New Roman"/>
              </a:rPr>
              <a:t>SVD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02425" y="1353887"/>
            <a:ext cx="484032" cy="484032"/>
          </a:xfrm>
          <a:prstGeom prst="rect">
            <a:avLst/>
          </a:prstGeom>
          <a:solidFill>
            <a:srgbClr val="9BC9D3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8228547" y="1388961"/>
            <a:ext cx="0" cy="420898"/>
          </a:xfrm>
          <a:prstGeom prst="line">
            <a:avLst/>
          </a:prstGeom>
          <a:ln w="90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270637" y="1388961"/>
            <a:ext cx="0" cy="420898"/>
          </a:xfrm>
          <a:prstGeom prst="line">
            <a:avLst/>
          </a:prstGeom>
          <a:ln w="90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7723470" y="1080303"/>
            <a:ext cx="392837" cy="25253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AA65C2"/>
                </a:solidFill>
                <a:latin typeface="Arial"/>
              </a:rPr>
              <a:t>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56607" y="1515231"/>
            <a:ext cx="168359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63475" y="1353887"/>
            <a:ext cx="427912" cy="484032"/>
          </a:xfrm>
          <a:prstGeom prst="rect">
            <a:avLst/>
          </a:prstGeom>
          <a:solidFill>
            <a:srgbClr val="CDE9E3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8663475" y="1353887"/>
            <a:ext cx="427912" cy="420897"/>
          </a:xfrm>
          <a:custGeom>
            <a:avLst/>
            <a:gdLst/>
            <a:ahLst/>
            <a:cxnLst/>
            <a:rect l="l" t="t" r="r" b="b"/>
            <a:pathLst>
              <a:path w="427912" h="420897">
                <a:moveTo>
                  <a:pt x="0" y="0"/>
                </a:moveTo>
                <a:lnTo>
                  <a:pt x="112239" y="0"/>
                </a:lnTo>
                <a:lnTo>
                  <a:pt x="427912" y="315673"/>
                </a:lnTo>
                <a:lnTo>
                  <a:pt x="427912" y="420897"/>
                </a:lnTo>
                <a:lnTo>
                  <a:pt x="322688" y="420897"/>
                </a:lnTo>
                <a:lnTo>
                  <a:pt x="0" y="105224"/>
                </a:lnTo>
                <a:close/>
              </a:path>
            </a:pathLst>
          </a:custGeom>
          <a:solidFill>
            <a:srgbClr val="F5D6B6"/>
          </a:solidFill>
          <a:ln w="6985">
            <a:solidFill>
              <a:srgbClr val="C9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600340" y="1059258"/>
            <a:ext cx="406867" cy="26656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AA65C2"/>
                </a:solidFill>
                <a:latin typeface="Arial"/>
              </a:rPr>
              <a:t>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47507" y="1508216"/>
            <a:ext cx="168359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38996" y="1381947"/>
            <a:ext cx="182388" cy="40686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1" b="0" i="0">
                <a:solidFill>
                  <a:srgbClr val="AA65C2"/>
                </a:solidFill>
                <a:latin typeface="Times New Roman"/>
              </a:rPr>
              <a:t>{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98402" y="1381947"/>
            <a:ext cx="182388" cy="40686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1" b="0" i="0">
                <a:solidFill>
                  <a:srgbClr val="AA65C2"/>
                </a:solidFill>
                <a:latin typeface="Times New Roman"/>
              </a:rPr>
              <a:t>{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677504" y="1830904"/>
            <a:ext cx="399852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1">
                <a:solidFill>
                  <a:srgbClr val="111111"/>
                </a:solidFill>
                <a:latin typeface="Times New Roman"/>
              </a:rPr>
              <a:t>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572280" y="1760754"/>
            <a:ext cx="582241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3" b="0" i="0">
                <a:solidFill>
                  <a:srgbClr val="111111"/>
                </a:solidFill>
                <a:latin typeface="Times New Roman"/>
              </a:rPr>
              <a:t>⌣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533330" y="1410006"/>
            <a:ext cx="378807" cy="399852"/>
          </a:xfrm>
          <a:prstGeom prst="rect">
            <a:avLst/>
          </a:prstGeom>
          <a:solidFill>
            <a:srgbClr val="E8C9D2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400045" y="1388961"/>
            <a:ext cx="196418" cy="39985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6" b="0" i="0">
                <a:solidFill>
                  <a:srgbClr val="AA65C2"/>
                </a:solidFill>
                <a:latin typeface="Times New Roman"/>
              </a:rPr>
              <a:t>{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568404" y="1830904"/>
            <a:ext cx="329703" cy="21746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5" b="0" i="1">
                <a:solidFill>
                  <a:srgbClr val="111111"/>
                </a:solidFill>
                <a:latin typeface="Times New Roman"/>
              </a:rPr>
              <a:t>c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484225" y="1760754"/>
            <a:ext cx="462987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2" b="0" i="0">
                <a:solidFill>
                  <a:srgbClr val="111111"/>
                </a:solidFill>
                <a:latin typeface="Times New Roman"/>
              </a:rPr>
              <a:t>⌣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9926167" y="1606425"/>
            <a:ext cx="217464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reeform 159"/>
          <p:cNvSpPr/>
          <p:nvPr/>
        </p:nvSpPr>
        <p:spPr>
          <a:xfrm>
            <a:off x="10094246" y="1579263"/>
            <a:ext cx="49385" cy="54324"/>
          </a:xfrm>
          <a:custGeom>
            <a:avLst/>
            <a:gdLst/>
            <a:ahLst/>
            <a:cxnLst/>
            <a:rect l="l" t="t" r="r" b="b"/>
            <a:pathLst>
              <a:path w="49385" h="54324">
                <a:moveTo>
                  <a:pt x="49385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220796" y="1374932"/>
            <a:ext cx="441942" cy="455972"/>
          </a:xfrm>
          <a:prstGeom prst="rect">
            <a:avLst/>
          </a:prstGeom>
          <a:solidFill>
            <a:srgbClr val="9BC9D3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255870" y="1087318"/>
            <a:ext cx="385822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AA65C2"/>
                </a:solidFill>
                <a:latin typeface="Arial"/>
              </a:rPr>
              <a:t>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704828" y="1501201"/>
            <a:ext cx="161344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006471" y="1388961"/>
            <a:ext cx="420897" cy="441942"/>
          </a:xfrm>
          <a:prstGeom prst="rect">
            <a:avLst/>
          </a:prstGeom>
          <a:solidFill>
            <a:srgbClr val="CEE9E5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1006471" y="1388961"/>
            <a:ext cx="420898" cy="413883"/>
          </a:xfrm>
          <a:custGeom>
            <a:avLst/>
            <a:gdLst/>
            <a:ahLst/>
            <a:cxnLst/>
            <a:rect l="l" t="t" r="r" b="b"/>
            <a:pathLst>
              <a:path w="420898" h="413883">
                <a:moveTo>
                  <a:pt x="0" y="0"/>
                </a:moveTo>
                <a:lnTo>
                  <a:pt x="112239" y="0"/>
                </a:lnTo>
                <a:lnTo>
                  <a:pt x="420898" y="308659"/>
                </a:lnTo>
                <a:lnTo>
                  <a:pt x="420898" y="413883"/>
                </a:lnTo>
                <a:lnTo>
                  <a:pt x="315673" y="413883"/>
                </a:lnTo>
                <a:lnTo>
                  <a:pt x="0" y="105225"/>
                </a:lnTo>
                <a:close/>
              </a:path>
            </a:pathLst>
          </a:custGeom>
          <a:solidFill>
            <a:srgbClr val="F4D5B3"/>
          </a:solidFill>
          <a:ln w="6985">
            <a:solidFill>
              <a:srgbClr val="C7A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978411" y="1108363"/>
            <a:ext cx="364777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AA65C2"/>
                </a:solidFill>
                <a:latin typeface="Arial"/>
              </a:rPr>
              <a:t>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31097" y="1410006"/>
            <a:ext cx="182388" cy="40686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1" b="0" i="0">
                <a:solidFill>
                  <a:srgbClr val="AA65C2"/>
                </a:solidFill>
                <a:latin typeface="Times New Roman"/>
              </a:rPr>
              <a:t>{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434384" y="1410006"/>
            <a:ext cx="182388" cy="40686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1" b="0" i="0">
                <a:solidFill>
                  <a:srgbClr val="AA65C2"/>
                </a:solidFill>
                <a:latin typeface="Times New Roman"/>
              </a:rPr>
              <a:t>{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623787" y="1452096"/>
            <a:ext cx="378807" cy="357762"/>
          </a:xfrm>
          <a:prstGeom prst="rect">
            <a:avLst/>
          </a:prstGeom>
          <a:solidFill>
            <a:srgbClr val="E8C9D2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483488" y="1410006"/>
            <a:ext cx="196418" cy="40686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6" b="0" i="0">
                <a:solidFill>
                  <a:srgbClr val="AA65C2"/>
                </a:solidFill>
                <a:latin typeface="Times New Roman"/>
              </a:rPr>
              <a:t>{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665877" y="1830904"/>
            <a:ext cx="329703" cy="21044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5" b="0" i="1">
                <a:solidFill>
                  <a:srgbClr val="111111"/>
                </a:solidFill>
                <a:latin typeface="Times New Roman"/>
              </a:rPr>
              <a:t>c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581698" y="1760754"/>
            <a:ext cx="462987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2" b="0" i="0">
                <a:solidFill>
                  <a:srgbClr val="111111"/>
                </a:solidFill>
                <a:latin typeface="Times New Roman"/>
              </a:rPr>
              <a:t>⌣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1118710" y="2090457"/>
            <a:ext cx="0" cy="168359"/>
          </a:xfrm>
          <a:prstGeom prst="line">
            <a:avLst/>
          </a:prstGeom>
          <a:ln w="1676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Freeform 173"/>
          <p:cNvSpPr/>
          <p:nvPr/>
        </p:nvSpPr>
        <p:spPr>
          <a:xfrm>
            <a:off x="11089079" y="2204942"/>
            <a:ext cx="59263" cy="53874"/>
          </a:xfrm>
          <a:custGeom>
            <a:avLst/>
            <a:gdLst/>
            <a:ahLst/>
            <a:cxnLst/>
            <a:rect l="l" t="t" r="r" b="b"/>
            <a:pathLst>
              <a:path w="59263" h="53874">
                <a:moveTo>
                  <a:pt x="29631" y="53874"/>
                </a:moveTo>
                <a:lnTo>
                  <a:pt x="0" y="0"/>
                </a:lnTo>
                <a:lnTo>
                  <a:pt x="59263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786605" y="2286876"/>
            <a:ext cx="2630609" cy="259553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Arial"/>
              </a:rPr>
              <a:t>Quantized Object Agent Queries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592588" y="2293891"/>
            <a:ext cx="210448" cy="203433"/>
          </a:xfrm>
          <a:prstGeom prst="rect">
            <a:avLst/>
          </a:prstGeom>
          <a:solidFill>
            <a:srgbClr val="FFF3C6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10592588" y="2497325"/>
            <a:ext cx="0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592588" y="2420161"/>
            <a:ext cx="77165" cy="7716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592588" y="2342996"/>
            <a:ext cx="154330" cy="154329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620648" y="2293891"/>
            <a:ext cx="182389" cy="17537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697813" y="2293891"/>
            <a:ext cx="105224" cy="9821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774977" y="2293891"/>
            <a:ext cx="28060" cy="21045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10831097" y="2293891"/>
            <a:ext cx="210448" cy="203433"/>
          </a:xfrm>
          <a:prstGeom prst="rect">
            <a:avLst/>
          </a:prstGeom>
          <a:solidFill>
            <a:srgbClr val="FFF3C6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10831097" y="2497325"/>
            <a:ext cx="0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831097" y="2420161"/>
            <a:ext cx="77165" cy="7716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831097" y="2342996"/>
            <a:ext cx="154329" cy="154329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859157" y="2293891"/>
            <a:ext cx="182389" cy="17537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36321" y="2293891"/>
            <a:ext cx="105225" cy="9821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013486" y="2293891"/>
            <a:ext cx="28060" cy="21045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11069606" y="2293891"/>
            <a:ext cx="210448" cy="203433"/>
          </a:xfrm>
          <a:prstGeom prst="rect">
            <a:avLst/>
          </a:prstGeom>
          <a:solidFill>
            <a:srgbClr val="FFF3C6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11069606" y="2497325"/>
            <a:ext cx="0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069606" y="2420161"/>
            <a:ext cx="77164" cy="7716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069606" y="2342996"/>
            <a:ext cx="154329" cy="154329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097666" y="2293891"/>
            <a:ext cx="182388" cy="17537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174830" y="2293891"/>
            <a:ext cx="105224" cy="9821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251995" y="2293891"/>
            <a:ext cx="28059" cy="21045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ectangle 196"/>
          <p:cNvSpPr/>
          <p:nvPr/>
        </p:nvSpPr>
        <p:spPr>
          <a:xfrm>
            <a:off x="11308114" y="2293891"/>
            <a:ext cx="210448" cy="203433"/>
          </a:xfrm>
          <a:prstGeom prst="rect">
            <a:avLst/>
          </a:prstGeom>
          <a:solidFill>
            <a:srgbClr val="FFF3C6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>
            <a:off x="11308114" y="2497325"/>
            <a:ext cx="0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1308114" y="2420161"/>
            <a:ext cx="77165" cy="7716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1308114" y="2342996"/>
            <a:ext cx="154329" cy="154329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1336174" y="2293891"/>
            <a:ext cx="182389" cy="17537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1413339" y="2293891"/>
            <a:ext cx="105224" cy="9821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1490503" y="2293891"/>
            <a:ext cx="28060" cy="21045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134213" y="3423300"/>
            <a:ext cx="189404" cy="0"/>
          </a:xfrm>
          <a:prstGeom prst="line">
            <a:avLst/>
          </a:prstGeom>
          <a:ln w="22352">
            <a:solidFill>
              <a:srgbClr val="2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323617" y="2784938"/>
            <a:ext cx="0" cy="638362"/>
          </a:xfrm>
          <a:prstGeom prst="line">
            <a:avLst/>
          </a:prstGeom>
          <a:ln w="22352">
            <a:solidFill>
              <a:srgbClr val="2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323617" y="2784938"/>
            <a:ext cx="4208976" cy="0"/>
          </a:xfrm>
          <a:prstGeom prst="line">
            <a:avLst/>
          </a:prstGeom>
          <a:ln w="22352">
            <a:solidFill>
              <a:srgbClr val="2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1532593" y="2784938"/>
            <a:ext cx="0" cy="126270"/>
          </a:xfrm>
          <a:prstGeom prst="line">
            <a:avLst/>
          </a:prstGeom>
          <a:ln w="22352">
            <a:solidFill>
              <a:srgbClr val="2D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Freeform 207"/>
          <p:cNvSpPr/>
          <p:nvPr/>
        </p:nvSpPr>
        <p:spPr>
          <a:xfrm>
            <a:off x="11493085" y="2839375"/>
            <a:ext cx="79016" cy="71833"/>
          </a:xfrm>
          <a:custGeom>
            <a:avLst/>
            <a:gdLst/>
            <a:ahLst/>
            <a:cxnLst/>
            <a:rect l="l" t="t" r="r" b="b"/>
            <a:pathLst>
              <a:path w="79016" h="71833">
                <a:moveTo>
                  <a:pt x="39508" y="71833"/>
                </a:moveTo>
                <a:lnTo>
                  <a:pt x="0" y="0"/>
                </a:lnTo>
                <a:lnTo>
                  <a:pt x="79016" y="0"/>
                </a:lnTo>
                <a:close/>
              </a:path>
            </a:pathLst>
          </a:custGeom>
          <a:solidFill>
            <a:srgbClr val="2D6678"/>
          </a:solidFill>
          <a:ln w="3492">
            <a:solidFill>
              <a:srgbClr val="2D6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674365" y="2918223"/>
            <a:ext cx="1136423" cy="441942"/>
          </a:xfrm>
          <a:prstGeom prst="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730485" y="3030462"/>
            <a:ext cx="196418" cy="203433"/>
          </a:xfrm>
          <a:prstGeom prst="rect">
            <a:avLst/>
          </a:prstGeom>
          <a:solidFill>
            <a:srgbClr val="C2D1D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7730485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730485" y="3156731"/>
            <a:ext cx="77164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730485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758545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835709" y="3030462"/>
            <a:ext cx="91195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912874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ctangle 216"/>
          <p:cNvSpPr/>
          <p:nvPr/>
        </p:nvSpPr>
        <p:spPr>
          <a:xfrm>
            <a:off x="7968994" y="3030462"/>
            <a:ext cx="196418" cy="203433"/>
          </a:xfrm>
          <a:prstGeom prst="rect">
            <a:avLst/>
          </a:prstGeom>
          <a:solidFill>
            <a:srgbClr val="C2D1D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7968994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7968994" y="3156731"/>
            <a:ext cx="77164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7968994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7997053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074218" y="3030462"/>
            <a:ext cx="91194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151382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ectangle 223"/>
          <p:cNvSpPr/>
          <p:nvPr/>
        </p:nvSpPr>
        <p:spPr>
          <a:xfrm>
            <a:off x="8207502" y="3030462"/>
            <a:ext cx="196418" cy="203433"/>
          </a:xfrm>
          <a:prstGeom prst="rect">
            <a:avLst/>
          </a:prstGeom>
          <a:solidFill>
            <a:srgbClr val="C2D1D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Connector 224"/>
          <p:cNvCxnSpPr/>
          <p:nvPr/>
        </p:nvCxnSpPr>
        <p:spPr>
          <a:xfrm>
            <a:off x="8207502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8207502" y="3156731"/>
            <a:ext cx="77165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207502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8235562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8312727" y="3030462"/>
            <a:ext cx="91194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8389891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ectangle 230"/>
          <p:cNvSpPr/>
          <p:nvPr/>
        </p:nvSpPr>
        <p:spPr>
          <a:xfrm>
            <a:off x="8446011" y="3030462"/>
            <a:ext cx="196418" cy="203433"/>
          </a:xfrm>
          <a:prstGeom prst="rect">
            <a:avLst/>
          </a:prstGeom>
          <a:solidFill>
            <a:srgbClr val="C2D1D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8446011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8446011" y="3156731"/>
            <a:ext cx="77164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8446011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8474071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8551235" y="3030462"/>
            <a:ext cx="91195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8628400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7695410" y="3346135"/>
            <a:ext cx="785675" cy="25955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5" b="0" i="1">
                <a:solidFill>
                  <a:srgbClr val="111111"/>
                </a:solidFill>
                <a:latin typeface="Times New Roman"/>
              </a:rPr>
              <a:t>qᵢₙₛ_ₚ꜀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8817804" y="3142701"/>
            <a:ext cx="231493" cy="0"/>
          </a:xfrm>
          <a:prstGeom prst="line">
            <a:avLst/>
          </a:prstGeom>
          <a:ln w="17462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Freeform 239"/>
          <p:cNvSpPr/>
          <p:nvPr/>
        </p:nvSpPr>
        <p:spPr>
          <a:xfrm>
            <a:off x="8993178" y="3111836"/>
            <a:ext cx="56119" cy="61731"/>
          </a:xfrm>
          <a:custGeom>
            <a:avLst/>
            <a:gdLst/>
            <a:ahLst/>
            <a:cxnLst/>
            <a:rect l="l" t="t" r="r" b="b"/>
            <a:pathLst>
              <a:path w="56119" h="61731">
                <a:moveTo>
                  <a:pt x="56119" y="30865"/>
                </a:moveTo>
                <a:lnTo>
                  <a:pt x="0" y="61731"/>
                </a:lnTo>
                <a:lnTo>
                  <a:pt x="0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9049297" y="3002402"/>
            <a:ext cx="645376" cy="294628"/>
          </a:xfrm>
          <a:prstGeom prst="roundRect">
            <a:avLst/>
          </a:prstGeom>
          <a:solidFill>
            <a:srgbClr val="E7EFDF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9084372" y="3009417"/>
            <a:ext cx="575226" cy="28059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Arial"/>
              </a:rPr>
              <a:t>MLP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9694674" y="3142701"/>
            <a:ext cx="217463" cy="0"/>
          </a:xfrm>
          <a:prstGeom prst="line">
            <a:avLst/>
          </a:prstGeom>
          <a:ln w="17462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Freeform 243"/>
          <p:cNvSpPr/>
          <p:nvPr/>
        </p:nvSpPr>
        <p:spPr>
          <a:xfrm>
            <a:off x="9856018" y="3111836"/>
            <a:ext cx="56119" cy="61731"/>
          </a:xfrm>
          <a:custGeom>
            <a:avLst/>
            <a:gdLst/>
            <a:ahLst/>
            <a:cxnLst/>
            <a:rect l="l" t="t" r="r" b="b"/>
            <a:pathLst>
              <a:path w="56119" h="61731">
                <a:moveTo>
                  <a:pt x="56119" y="30865"/>
                </a:moveTo>
                <a:lnTo>
                  <a:pt x="0" y="61731"/>
                </a:lnTo>
                <a:lnTo>
                  <a:pt x="0" y="0"/>
                </a:lnTo>
                <a:close/>
              </a:path>
            </a:pathLst>
          </a:custGeom>
          <a:solidFill>
            <a:srgbClr val="58A9B9"/>
          </a:solidFill>
          <a:ln w="3492">
            <a:solidFill>
              <a:srgbClr val="58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9912137" y="2960312"/>
            <a:ext cx="785675" cy="364777"/>
          </a:xfrm>
          <a:prstGeom prst="roundRect">
            <a:avLst/>
          </a:prstGeom>
          <a:solidFill>
            <a:srgbClr val="E7EFDF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947212" y="2967327"/>
            <a:ext cx="715525" cy="35074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1">
                <a:solidFill>
                  <a:srgbClr val="111111"/>
                </a:solidFill>
                <a:latin typeface="Arial"/>
              </a:rPr>
              <a:t>ℒ₍consist₎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10697813" y="3142701"/>
            <a:ext cx="224479" cy="0"/>
          </a:xfrm>
          <a:prstGeom prst="line">
            <a:avLst/>
          </a:prstGeom>
          <a:ln w="17462">
            <a:solidFill>
              <a:srgbClr val="58A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Rectangle 247"/>
          <p:cNvSpPr/>
          <p:nvPr/>
        </p:nvSpPr>
        <p:spPr>
          <a:xfrm>
            <a:off x="10943336" y="2918223"/>
            <a:ext cx="1115378" cy="441942"/>
          </a:xfrm>
          <a:prstGeom prst="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999456" y="3030462"/>
            <a:ext cx="196418" cy="203433"/>
          </a:xfrm>
          <a:prstGeom prst="rect">
            <a:avLst/>
          </a:prstGeom>
          <a:solidFill>
            <a:srgbClr val="6EB5C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10999456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0999456" y="3156731"/>
            <a:ext cx="77165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0999456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1027516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1104680" y="3030462"/>
            <a:ext cx="91195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1181845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ectangle 255"/>
          <p:cNvSpPr/>
          <p:nvPr/>
        </p:nvSpPr>
        <p:spPr>
          <a:xfrm>
            <a:off x="11237965" y="3030462"/>
            <a:ext cx="196418" cy="203433"/>
          </a:xfrm>
          <a:prstGeom prst="rect">
            <a:avLst/>
          </a:prstGeom>
          <a:solidFill>
            <a:srgbClr val="6EB5C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11237965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1237965" y="3156731"/>
            <a:ext cx="77164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1237965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1266025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1343189" y="3030462"/>
            <a:ext cx="91195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1420354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ectangle 262"/>
          <p:cNvSpPr/>
          <p:nvPr/>
        </p:nvSpPr>
        <p:spPr>
          <a:xfrm>
            <a:off x="11476473" y="3030462"/>
            <a:ext cx="196418" cy="203433"/>
          </a:xfrm>
          <a:prstGeom prst="rect">
            <a:avLst/>
          </a:prstGeom>
          <a:solidFill>
            <a:srgbClr val="6EB5C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11476473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1476473" y="3156731"/>
            <a:ext cx="77165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1476473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504533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581698" y="3030462"/>
            <a:ext cx="91194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658862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11714982" y="3030462"/>
            <a:ext cx="196418" cy="203433"/>
          </a:xfrm>
          <a:prstGeom prst="rect">
            <a:avLst/>
          </a:prstGeom>
          <a:solidFill>
            <a:srgbClr val="6EB5C9"/>
          </a:solidFill>
          <a:ln w="11176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>
            <a:off x="11714982" y="3233896"/>
            <a:ext cx="0" cy="0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714982" y="3156731"/>
            <a:ext cx="77165" cy="7716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1714982" y="3079567"/>
            <a:ext cx="154329" cy="15432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1743042" y="3030462"/>
            <a:ext cx="168359" cy="175374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1820206" y="3030462"/>
            <a:ext cx="91195" cy="98209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11897371" y="3030462"/>
            <a:ext cx="14030" cy="21045"/>
          </a:xfrm>
          <a:prstGeom prst="line">
            <a:avLst/>
          </a:prstGeom>
          <a:ln w="15367">
            <a:solidFill>
              <a:srgbClr val="14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11209905" y="3346135"/>
            <a:ext cx="841795" cy="25955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5" b="0" i="1">
                <a:solidFill>
                  <a:srgbClr val="111111"/>
                </a:solidFill>
                <a:latin typeface="Times New Roman"/>
              </a:rPr>
              <a:t>q′ᵢₙₛ_ₚ꜀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7164" y="3731958"/>
            <a:ext cx="12100805" cy="3156731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56119" y="3703898"/>
            <a:ext cx="12100805" cy="3156731"/>
          </a:xfrm>
          <a:prstGeom prst="rect">
            <a:avLst/>
          </a:prstGeom>
          <a:solidFill>
            <a:srgbClr val="FFF0C9"/>
          </a:solidFill>
          <a:ln>
            <a:solidFill>
              <a:srgbClr val="FFF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4496589" y="4840322"/>
            <a:ext cx="5415548" cy="1915083"/>
          </a:xfrm>
          <a:prstGeom prst="roundRect">
            <a:avLst/>
          </a:prstGeom>
          <a:solidFill>
            <a:srgbClr val="FBD39A"/>
          </a:solidFill>
          <a:ln>
            <a:solidFill>
              <a:srgbClr val="FB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84179" y="6902720"/>
            <a:ext cx="4980621" cy="231493"/>
          </a:xfrm>
          <a:prstGeom prst="rect">
            <a:avLst/>
          </a:prstGeom>
          <a:noFill/>
        </p:spPr>
        <p:txBody>
          <a:bodyPr wrap="square" lIns="9144" rIns="9144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6" b="1" i="0">
                <a:solidFill>
                  <a:srgbClr val="111111"/>
                </a:solidFill>
                <a:latin typeface="Arial"/>
              </a:rPr>
              <a:t>(c) Cross-modal Semantic Enhancement</a:t>
            </a:r>
          </a:p>
        </p:txBody>
      </p:sp>
      <p:cxnSp>
        <p:nvCxnSpPr>
          <p:cNvPr id="282" name="Connector 281"/>
          <p:cNvCxnSpPr/>
          <p:nvPr/>
        </p:nvCxnSpPr>
        <p:spPr>
          <a:xfrm flipV="1">
            <a:off x="434927" y="1627470"/>
            <a:ext cx="0" cy="3556585"/>
          </a:xfrm>
          <a:prstGeom prst="line">
            <a:avLst/>
          </a:prstGeom>
          <a:ln w="1397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Freeform 282"/>
          <p:cNvSpPr/>
          <p:nvPr/>
        </p:nvSpPr>
        <p:spPr>
          <a:xfrm>
            <a:off x="409849" y="1627470"/>
            <a:ext cx="50156" cy="45597"/>
          </a:xfrm>
          <a:custGeom>
            <a:avLst/>
            <a:gdLst/>
            <a:ahLst/>
            <a:cxnLst/>
            <a:rect l="l" t="t" r="r" b="b"/>
            <a:pathLst>
              <a:path w="50156" h="45597">
                <a:moveTo>
                  <a:pt x="25078" y="0"/>
                </a:moveTo>
                <a:lnTo>
                  <a:pt x="50156" y="45597"/>
                </a:lnTo>
                <a:lnTo>
                  <a:pt x="0" y="45597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 rot="5400000">
            <a:off x="161344" y="3914347"/>
            <a:ext cx="301643" cy="88388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55555"/>
                </a:solidFill>
                <a:latin typeface="Arial"/>
              </a:rPr>
              <a:t>Paired</a:t>
            </a:r>
          </a:p>
        </p:txBody>
      </p:sp>
      <p:pic>
        <p:nvPicPr>
          <p:cNvPr id="285" name="Picture 284" descr="source_point_clou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03" y="5191070"/>
            <a:ext cx="1522246" cy="1045228"/>
          </a:xfrm>
          <a:prstGeom prst="rect">
            <a:avLst/>
          </a:prstGeom>
        </p:spPr>
      </p:pic>
      <p:sp>
        <p:nvSpPr>
          <p:cNvPr id="286" name="Rectangle 285"/>
          <p:cNvSpPr/>
          <p:nvPr/>
        </p:nvSpPr>
        <p:spPr>
          <a:xfrm>
            <a:off x="189403" y="5191070"/>
            <a:ext cx="1522246" cy="1045228"/>
          </a:xfrm>
          <a:prstGeom prst="rect">
            <a:avLst/>
          </a:prstGeom>
          <a:noFill/>
          <a:ln w="1397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54329" y="6264358"/>
            <a:ext cx="1627470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Arial"/>
              </a:rPr>
              <a:t>Source Point Cloud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2153592" y="3774048"/>
            <a:ext cx="1346872" cy="455972"/>
          </a:xfrm>
          <a:prstGeom prst="rect">
            <a:avLst/>
          </a:prstGeom>
          <a:noFill/>
          <a:ln w="9779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342996" y="3844197"/>
            <a:ext cx="189403" cy="189403"/>
          </a:xfrm>
          <a:prstGeom prst="rect">
            <a:avLst/>
          </a:prstGeom>
          <a:solidFill>
            <a:srgbClr val="DCE1E2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300906" y="3886287"/>
            <a:ext cx="189403" cy="189403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230757" y="3942407"/>
            <a:ext cx="203433" cy="203433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2595535" y="3900317"/>
            <a:ext cx="182388" cy="17537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2820013" y="3935392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009417" y="3935392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198821" y="3935392"/>
            <a:ext cx="196418" cy="196418"/>
          </a:xfrm>
          <a:prstGeom prst="rect">
            <a:avLst/>
          </a:prstGeom>
          <a:solidFill>
            <a:srgbClr val="C7D8E8"/>
          </a:solidFill>
          <a:ln w="10477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198821" y="3858227"/>
            <a:ext cx="189403" cy="84179"/>
          </a:xfrm>
          <a:prstGeom prst="rect">
            <a:avLst/>
          </a:prstGeom>
          <a:solidFill>
            <a:srgbClr val="C7D8E8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>
            <a:off x="2834043" y="4230020"/>
            <a:ext cx="0" cy="175374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Freeform 297"/>
          <p:cNvSpPr/>
          <p:nvPr/>
        </p:nvSpPr>
        <p:spPr>
          <a:xfrm>
            <a:off x="2808116" y="4358254"/>
            <a:ext cx="51854" cy="47140"/>
          </a:xfrm>
          <a:custGeom>
            <a:avLst/>
            <a:gdLst/>
            <a:ahLst/>
            <a:cxnLst/>
            <a:rect l="l" t="t" r="r" b="b"/>
            <a:pathLst>
              <a:path w="51854" h="47140">
                <a:moveTo>
                  <a:pt x="25927" y="47140"/>
                </a:moveTo>
                <a:lnTo>
                  <a:pt x="0" y="0"/>
                </a:lnTo>
                <a:lnTo>
                  <a:pt x="51854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ounded Rectangle 298"/>
          <p:cNvSpPr/>
          <p:nvPr/>
        </p:nvSpPr>
        <p:spPr>
          <a:xfrm>
            <a:off x="1367917" y="4433454"/>
            <a:ext cx="3058522" cy="35776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346872" y="4405394"/>
            <a:ext cx="3058522" cy="357762"/>
          </a:xfrm>
          <a:prstGeom prst="roundRect">
            <a:avLst/>
          </a:prstGeom>
          <a:solidFill>
            <a:srgbClr val="FFE48E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381947" y="4412409"/>
            <a:ext cx="2988372" cy="34373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Aggregating Instance Semantic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1711650" y="5703162"/>
            <a:ext cx="266568" cy="0"/>
          </a:xfrm>
          <a:prstGeom prst="line">
            <a:avLst/>
          </a:prstGeom>
          <a:ln w="1676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Freeform 302"/>
          <p:cNvSpPr/>
          <p:nvPr/>
        </p:nvSpPr>
        <p:spPr>
          <a:xfrm>
            <a:off x="1924343" y="5673530"/>
            <a:ext cx="53875" cy="59263"/>
          </a:xfrm>
          <a:custGeom>
            <a:avLst/>
            <a:gdLst/>
            <a:ahLst/>
            <a:cxnLst/>
            <a:rect l="l" t="t" r="r" b="b"/>
            <a:pathLst>
              <a:path w="53875" h="59263">
                <a:moveTo>
                  <a:pt x="53875" y="29632"/>
                </a:moveTo>
                <a:lnTo>
                  <a:pt x="0" y="5926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1978218" y="5043755"/>
            <a:ext cx="1669560" cy="1445081"/>
          </a:xfrm>
          <a:prstGeom prst="roundRect">
            <a:avLst/>
          </a:prstGeom>
          <a:solidFill>
            <a:srgbClr val="FFEAB3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2111502" y="5155995"/>
            <a:ext cx="294628" cy="1073288"/>
          </a:xfrm>
          <a:prstGeom prst="rect">
            <a:avLst/>
          </a:prstGeom>
          <a:solidFill>
            <a:srgbClr val="FFF1C3"/>
          </a:solidFill>
          <a:ln w="14668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 rot="5400000">
            <a:off x="2118517" y="5219129"/>
            <a:ext cx="280598" cy="95403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5" b="0" i="0">
                <a:solidFill>
                  <a:srgbClr val="111111"/>
                </a:solidFill>
                <a:latin typeface="Arial"/>
              </a:rPr>
              <a:t>Layer 1</a:t>
            </a:r>
          </a:p>
        </p:txBody>
      </p:sp>
      <p:cxnSp>
        <p:nvCxnSpPr>
          <p:cNvPr id="307" name="Connector 306"/>
          <p:cNvCxnSpPr/>
          <p:nvPr/>
        </p:nvCxnSpPr>
        <p:spPr>
          <a:xfrm>
            <a:off x="2406131" y="5689132"/>
            <a:ext cx="238508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Freeform 307"/>
          <p:cNvSpPr/>
          <p:nvPr/>
        </p:nvSpPr>
        <p:spPr>
          <a:xfrm>
            <a:off x="2599042" y="5664053"/>
            <a:ext cx="45597" cy="50157"/>
          </a:xfrm>
          <a:custGeom>
            <a:avLst/>
            <a:gdLst/>
            <a:ahLst/>
            <a:cxnLst/>
            <a:rect l="l" t="t" r="r" b="b"/>
            <a:pathLst>
              <a:path w="45597" h="50157">
                <a:moveTo>
                  <a:pt x="45597" y="25079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2630609" y="5534803"/>
            <a:ext cx="406867" cy="29462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cxnSp>
        <p:nvCxnSpPr>
          <p:cNvPr id="310" name="Connector 309"/>
          <p:cNvCxnSpPr/>
          <p:nvPr/>
        </p:nvCxnSpPr>
        <p:spPr>
          <a:xfrm>
            <a:off x="3009417" y="5689132"/>
            <a:ext cx="140299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Freeform 310"/>
          <p:cNvSpPr/>
          <p:nvPr/>
        </p:nvSpPr>
        <p:spPr>
          <a:xfrm>
            <a:off x="3104119" y="5664053"/>
            <a:ext cx="45597" cy="50157"/>
          </a:xfrm>
          <a:custGeom>
            <a:avLst/>
            <a:gdLst/>
            <a:ahLst/>
            <a:cxnLst/>
            <a:rect l="l" t="t" r="r" b="b"/>
            <a:pathLst>
              <a:path w="45597" h="50157">
                <a:moveTo>
                  <a:pt x="45597" y="25079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3149716" y="5155995"/>
            <a:ext cx="301643" cy="1073288"/>
          </a:xfrm>
          <a:prstGeom prst="rect">
            <a:avLst/>
          </a:prstGeom>
          <a:solidFill>
            <a:srgbClr val="FFF1C3"/>
          </a:solidFill>
          <a:ln w="14668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 rot="5400000">
            <a:off x="3156731" y="5212114"/>
            <a:ext cx="280598" cy="95403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5" b="0" i="0">
                <a:solidFill>
                  <a:srgbClr val="111111"/>
                </a:solidFill>
                <a:latin typeface="Arial"/>
              </a:rPr>
              <a:t>Layer l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2083442" y="6236299"/>
            <a:ext cx="1459111" cy="23850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Backbone</a:t>
            </a:r>
          </a:p>
        </p:txBody>
      </p:sp>
      <p:cxnSp>
        <p:nvCxnSpPr>
          <p:cNvPr id="315" name="Connector 314"/>
          <p:cNvCxnSpPr/>
          <p:nvPr/>
        </p:nvCxnSpPr>
        <p:spPr>
          <a:xfrm flipV="1">
            <a:off x="2258816" y="4763157"/>
            <a:ext cx="0" cy="392838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Freeform 315"/>
          <p:cNvSpPr/>
          <p:nvPr/>
        </p:nvSpPr>
        <p:spPr>
          <a:xfrm>
            <a:off x="2231655" y="4763157"/>
            <a:ext cx="54323" cy="49385"/>
          </a:xfrm>
          <a:custGeom>
            <a:avLst/>
            <a:gdLst/>
            <a:ahLst/>
            <a:cxnLst/>
            <a:rect l="l" t="t" r="r" b="b"/>
            <a:pathLst>
              <a:path w="54323" h="49385">
                <a:moveTo>
                  <a:pt x="27161" y="0"/>
                </a:moveTo>
                <a:lnTo>
                  <a:pt x="54323" y="49385"/>
                </a:lnTo>
                <a:lnTo>
                  <a:pt x="0" y="49385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7" name="Connector 316"/>
          <p:cNvCxnSpPr/>
          <p:nvPr/>
        </p:nvCxnSpPr>
        <p:spPr>
          <a:xfrm flipV="1">
            <a:off x="3297030" y="4763157"/>
            <a:ext cx="0" cy="392838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Freeform 317"/>
          <p:cNvSpPr/>
          <p:nvPr/>
        </p:nvSpPr>
        <p:spPr>
          <a:xfrm>
            <a:off x="3269869" y="4763157"/>
            <a:ext cx="54323" cy="49385"/>
          </a:xfrm>
          <a:custGeom>
            <a:avLst/>
            <a:gdLst/>
            <a:ahLst/>
            <a:cxnLst/>
            <a:rect l="l" t="t" r="r" b="b"/>
            <a:pathLst>
              <a:path w="54323" h="49385">
                <a:moveTo>
                  <a:pt x="27161" y="0"/>
                </a:moveTo>
                <a:lnTo>
                  <a:pt x="54323" y="49385"/>
                </a:lnTo>
                <a:lnTo>
                  <a:pt x="0" y="49385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9" name="Connector 318"/>
          <p:cNvCxnSpPr/>
          <p:nvPr/>
        </p:nvCxnSpPr>
        <p:spPr>
          <a:xfrm>
            <a:off x="3451360" y="5689132"/>
            <a:ext cx="470002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Freeform 319"/>
          <p:cNvSpPr/>
          <p:nvPr/>
        </p:nvSpPr>
        <p:spPr>
          <a:xfrm>
            <a:off x="3871977" y="5661970"/>
            <a:ext cx="49385" cy="54324"/>
          </a:xfrm>
          <a:custGeom>
            <a:avLst/>
            <a:gdLst/>
            <a:ahLst/>
            <a:cxnLst/>
            <a:rect l="l" t="t" r="r" b="b"/>
            <a:pathLst>
              <a:path w="49385" h="54324">
                <a:moveTo>
                  <a:pt x="49385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3928377" y="5962715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4138826" y="5899580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5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928377" y="5808386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4138826" y="5745251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928377" y="5654057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4138826" y="5590922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3928377" y="5499728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4138826" y="5436593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928377" y="5345399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138826" y="5282264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3928377" y="5282264"/>
            <a:ext cx="273583" cy="63135"/>
          </a:xfrm>
          <a:custGeom>
            <a:avLst/>
            <a:gdLst/>
            <a:ahLst/>
            <a:cxnLst/>
            <a:rect l="l" t="t" r="r" b="b"/>
            <a:pathLst>
              <a:path w="273583" h="63135">
                <a:moveTo>
                  <a:pt x="0" y="63135"/>
                </a:moveTo>
                <a:lnTo>
                  <a:pt x="63134" y="0"/>
                </a:lnTo>
                <a:lnTo>
                  <a:pt x="273583" y="0"/>
                </a:lnTo>
                <a:lnTo>
                  <a:pt x="210449" y="63135"/>
                </a:lnTo>
                <a:close/>
              </a:path>
            </a:pathLst>
          </a:custGeom>
          <a:solidFill>
            <a:srgbClr val="F7C6B5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2" name="Connector 331"/>
          <p:cNvCxnSpPr/>
          <p:nvPr/>
        </p:nvCxnSpPr>
        <p:spPr>
          <a:xfrm>
            <a:off x="4201960" y="5569877"/>
            <a:ext cx="217464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4419424" y="5177040"/>
            <a:ext cx="0" cy="392837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4419424" y="5177040"/>
            <a:ext cx="224479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Freeform 334"/>
          <p:cNvSpPr/>
          <p:nvPr/>
        </p:nvSpPr>
        <p:spPr>
          <a:xfrm>
            <a:off x="4594517" y="5149878"/>
            <a:ext cx="49386" cy="54324"/>
          </a:xfrm>
          <a:custGeom>
            <a:avLst/>
            <a:gdLst/>
            <a:ahLst/>
            <a:cxnLst/>
            <a:rect l="l" t="t" r="r" b="b"/>
            <a:pathLst>
              <a:path w="49386" h="54324">
                <a:moveTo>
                  <a:pt x="49386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>
            <a:off x="4201960" y="5801371"/>
            <a:ext cx="217464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4419424" y="5801371"/>
            <a:ext cx="0" cy="589257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419424" y="6390628"/>
            <a:ext cx="224479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Freeform 338"/>
          <p:cNvSpPr/>
          <p:nvPr/>
        </p:nvSpPr>
        <p:spPr>
          <a:xfrm>
            <a:off x="4594517" y="6363466"/>
            <a:ext cx="49386" cy="54324"/>
          </a:xfrm>
          <a:custGeom>
            <a:avLst/>
            <a:gdLst/>
            <a:ahLst/>
            <a:cxnLst/>
            <a:rect l="l" t="t" r="r" b="b"/>
            <a:pathLst>
              <a:path w="49386" h="54324">
                <a:moveTo>
                  <a:pt x="49386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4405394" y="4251065"/>
            <a:ext cx="505077" cy="30164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1">
                <a:solidFill>
                  <a:srgbClr val="111111"/>
                </a:solidFill>
                <a:latin typeface="Times New Roman"/>
              </a:rPr>
              <a:t>q₃ᴅ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4405394" y="4580768"/>
            <a:ext cx="540152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Freeform 341"/>
          <p:cNvSpPr/>
          <p:nvPr/>
        </p:nvSpPr>
        <p:spPr>
          <a:xfrm>
            <a:off x="4896161" y="4553606"/>
            <a:ext cx="49385" cy="54324"/>
          </a:xfrm>
          <a:custGeom>
            <a:avLst/>
            <a:gdLst/>
            <a:ahLst/>
            <a:cxnLst/>
            <a:rect l="l" t="t" r="r" b="b"/>
            <a:pathLst>
              <a:path w="49385" h="54324">
                <a:moveTo>
                  <a:pt x="49385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4924501" y="4279125"/>
            <a:ext cx="1164483" cy="448957"/>
          </a:xfrm>
          <a:prstGeom prst="rect">
            <a:avLst/>
          </a:prstGeom>
          <a:noFill/>
          <a:ln w="10477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966591" y="4398379"/>
            <a:ext cx="196418" cy="196418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219129" y="4384349"/>
            <a:ext cx="196418" cy="19641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457638" y="4398379"/>
            <a:ext cx="196418" cy="196418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647042" y="4398379"/>
            <a:ext cx="196418" cy="196418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5836446" y="4398379"/>
            <a:ext cx="196418" cy="196418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Connector 348"/>
          <p:cNvCxnSpPr/>
          <p:nvPr/>
        </p:nvCxnSpPr>
        <p:spPr>
          <a:xfrm>
            <a:off x="5506743" y="4728082"/>
            <a:ext cx="0" cy="210449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Freeform 349"/>
          <p:cNvSpPr/>
          <p:nvPr/>
        </p:nvSpPr>
        <p:spPr>
          <a:xfrm>
            <a:off x="5479581" y="4889146"/>
            <a:ext cx="54324" cy="49385"/>
          </a:xfrm>
          <a:custGeom>
            <a:avLst/>
            <a:gdLst/>
            <a:ahLst/>
            <a:cxnLst/>
            <a:rect l="l" t="t" r="r" b="b"/>
            <a:pathLst>
              <a:path w="54324" h="49385">
                <a:moveTo>
                  <a:pt x="27162" y="49385"/>
                </a:moveTo>
                <a:lnTo>
                  <a:pt x="0" y="0"/>
                </a:lnTo>
                <a:lnTo>
                  <a:pt x="54324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6088984" y="4503604"/>
            <a:ext cx="427913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Freeform 351"/>
          <p:cNvSpPr/>
          <p:nvPr/>
        </p:nvSpPr>
        <p:spPr>
          <a:xfrm>
            <a:off x="6467512" y="4476442"/>
            <a:ext cx="49385" cy="54323"/>
          </a:xfrm>
          <a:custGeom>
            <a:avLst/>
            <a:gdLst/>
            <a:ahLst/>
            <a:cxnLst/>
            <a:rect l="l" t="t" r="r" b="b"/>
            <a:pathLst>
              <a:path w="49385" h="54323">
                <a:moveTo>
                  <a:pt x="49385" y="27162"/>
                </a:moveTo>
                <a:lnTo>
                  <a:pt x="0" y="54323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6320478" y="3788078"/>
            <a:ext cx="5618982" cy="947019"/>
          </a:xfrm>
          <a:prstGeom prst="rect">
            <a:avLst/>
          </a:prstGeom>
          <a:noFill/>
          <a:ln w="20955">
            <a:solidFill>
              <a:srgbClr val="142B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845863" y="3788078"/>
            <a:ext cx="2988372" cy="26656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1">
                <a:solidFill>
                  <a:srgbClr val="111111"/>
                </a:solidFill>
                <a:latin typeface="Times New Roman"/>
              </a:rPr>
              <a:t>Cross-modal Semantic Alignment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6636151" y="4033601"/>
            <a:ext cx="0" cy="224479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Freeform 355"/>
          <p:cNvSpPr/>
          <p:nvPr/>
        </p:nvSpPr>
        <p:spPr>
          <a:xfrm>
            <a:off x="6611073" y="4212483"/>
            <a:ext cx="50157" cy="45597"/>
          </a:xfrm>
          <a:custGeom>
            <a:avLst/>
            <a:gdLst/>
            <a:ahLst/>
            <a:cxnLst/>
            <a:rect l="l" t="t" r="r" b="b"/>
            <a:pathLst>
              <a:path w="50157" h="45597">
                <a:moveTo>
                  <a:pt x="25078" y="45597"/>
                </a:moveTo>
                <a:lnTo>
                  <a:pt x="0" y="0"/>
                </a:lnTo>
                <a:lnTo>
                  <a:pt x="50157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6523912" y="4265095"/>
            <a:ext cx="238508" cy="238508"/>
          </a:xfrm>
          <a:prstGeom prst="ellipse">
            <a:avLst/>
          </a:prstGeom>
          <a:solidFill>
            <a:srgbClr val="FFF9DC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>
            <a:off x="6566002" y="4307185"/>
            <a:ext cx="154329" cy="154329"/>
          </a:xfrm>
          <a:prstGeom prst="line">
            <a:avLst/>
          </a:prstGeom>
          <a:ln w="125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>
            <a:off x="6566002" y="4307185"/>
            <a:ext cx="154329" cy="154329"/>
          </a:xfrm>
          <a:prstGeom prst="line">
            <a:avLst/>
          </a:prstGeom>
          <a:ln w="125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6657196" y="4019571"/>
            <a:ext cx="448957" cy="22447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666666"/>
                </a:solidFill>
                <a:latin typeface="Arial"/>
              </a:rPr>
              <a:t>Linear</a:t>
            </a:r>
          </a:p>
        </p:txBody>
      </p:sp>
      <p:cxnSp>
        <p:nvCxnSpPr>
          <p:cNvPr id="361" name="Connector 360"/>
          <p:cNvCxnSpPr/>
          <p:nvPr/>
        </p:nvCxnSpPr>
        <p:spPr>
          <a:xfrm>
            <a:off x="6762421" y="4384349"/>
            <a:ext cx="252538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Freeform 361"/>
          <p:cNvSpPr/>
          <p:nvPr/>
        </p:nvSpPr>
        <p:spPr>
          <a:xfrm>
            <a:off x="6969362" y="4359271"/>
            <a:ext cx="45597" cy="50157"/>
          </a:xfrm>
          <a:custGeom>
            <a:avLst/>
            <a:gdLst/>
            <a:ahLst/>
            <a:cxnLst/>
            <a:rect l="l" t="t" r="r" b="b"/>
            <a:pathLst>
              <a:path w="45597" h="50157">
                <a:moveTo>
                  <a:pt x="45597" y="25078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7021974" y="4265095"/>
            <a:ext cx="238508" cy="238508"/>
          </a:xfrm>
          <a:prstGeom prst="ellipse">
            <a:avLst/>
          </a:prstGeom>
          <a:solidFill>
            <a:srgbClr val="FFF9DC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7028989" y="4251065"/>
            <a:ext cx="231493" cy="27358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1">
                <a:solidFill>
                  <a:srgbClr val="111111"/>
                </a:solidFill>
                <a:latin typeface="Times New Roman"/>
              </a:rPr>
              <a:t>S</a:t>
            </a:r>
          </a:p>
        </p:txBody>
      </p:sp>
      <p:cxnSp>
        <p:nvCxnSpPr>
          <p:cNvPr id="365" name="Connector 364"/>
          <p:cNvCxnSpPr/>
          <p:nvPr/>
        </p:nvCxnSpPr>
        <p:spPr>
          <a:xfrm>
            <a:off x="7260483" y="4384349"/>
            <a:ext cx="280598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Freeform 365"/>
          <p:cNvSpPr/>
          <p:nvPr/>
        </p:nvSpPr>
        <p:spPr>
          <a:xfrm>
            <a:off x="7495484" y="4359271"/>
            <a:ext cx="45597" cy="50157"/>
          </a:xfrm>
          <a:custGeom>
            <a:avLst/>
            <a:gdLst/>
            <a:ahLst/>
            <a:cxnLst/>
            <a:rect l="l" t="t" r="r" b="b"/>
            <a:pathLst>
              <a:path w="45597" h="50157">
                <a:moveTo>
                  <a:pt x="45597" y="25078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7541081" y="4096736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681380" y="4096736"/>
            <a:ext cx="140299" cy="140299"/>
          </a:xfrm>
          <a:prstGeom prst="rect">
            <a:avLst/>
          </a:prstGeom>
          <a:solidFill>
            <a:srgbClr val="FFF2E7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7821679" y="4096736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7961979" y="4096736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7541081" y="4237035"/>
            <a:ext cx="140299" cy="140299"/>
          </a:xfrm>
          <a:prstGeom prst="rect">
            <a:avLst/>
          </a:prstGeom>
          <a:solidFill>
            <a:srgbClr val="FFF2E7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7681380" y="4237035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7821679" y="4237035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7961979" y="4237035"/>
            <a:ext cx="140299" cy="140299"/>
          </a:xfrm>
          <a:prstGeom prst="rect">
            <a:avLst/>
          </a:prstGeom>
          <a:solidFill>
            <a:srgbClr val="FFF2E7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7541081" y="4377334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681380" y="4377334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7821679" y="4377334"/>
            <a:ext cx="140299" cy="140299"/>
          </a:xfrm>
          <a:prstGeom prst="rect">
            <a:avLst/>
          </a:prstGeom>
          <a:solidFill>
            <a:srgbClr val="FFF2E7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7961979" y="4377334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7541081" y="4517633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7681380" y="4517633"/>
            <a:ext cx="140299" cy="140299"/>
          </a:xfrm>
          <a:prstGeom prst="rect">
            <a:avLst/>
          </a:prstGeom>
          <a:solidFill>
            <a:srgbClr val="FFF2E7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7821679" y="4517633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961979" y="4517633"/>
            <a:ext cx="140299" cy="140299"/>
          </a:xfrm>
          <a:prstGeom prst="rect">
            <a:avLst/>
          </a:prstGeom>
          <a:solidFill>
            <a:srgbClr val="F5AA82"/>
          </a:solidFill>
          <a:ln w="4191">
            <a:solidFill>
              <a:srgbClr val="F3C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3" name="Connector 382"/>
          <p:cNvCxnSpPr/>
          <p:nvPr/>
        </p:nvCxnSpPr>
        <p:spPr>
          <a:xfrm>
            <a:off x="8102278" y="4384349"/>
            <a:ext cx="308658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Freeform 383"/>
          <p:cNvSpPr/>
          <p:nvPr/>
        </p:nvSpPr>
        <p:spPr>
          <a:xfrm>
            <a:off x="8365339" y="4359271"/>
            <a:ext cx="45597" cy="50157"/>
          </a:xfrm>
          <a:custGeom>
            <a:avLst/>
            <a:gdLst/>
            <a:ahLst/>
            <a:cxnLst/>
            <a:rect l="l" t="t" r="r" b="b"/>
            <a:pathLst>
              <a:path w="45597" h="50157">
                <a:moveTo>
                  <a:pt x="45597" y="25078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17951" y="4265095"/>
            <a:ext cx="238508" cy="238508"/>
          </a:xfrm>
          <a:prstGeom prst="ellipse">
            <a:avLst/>
          </a:prstGeom>
          <a:solidFill>
            <a:srgbClr val="FFF9DC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>
            <a:off x="8460041" y="4307185"/>
            <a:ext cx="154329" cy="154329"/>
          </a:xfrm>
          <a:prstGeom prst="line">
            <a:avLst/>
          </a:prstGeom>
          <a:ln w="125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>
            <a:off x="8460041" y="4307185"/>
            <a:ext cx="154329" cy="154329"/>
          </a:xfrm>
          <a:prstGeom prst="line">
            <a:avLst/>
          </a:prstGeom>
          <a:ln w="1257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TextBox 387"/>
          <p:cNvSpPr txBox="1"/>
          <p:nvPr/>
        </p:nvSpPr>
        <p:spPr>
          <a:xfrm>
            <a:off x="8516160" y="3998526"/>
            <a:ext cx="505077" cy="24552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666666"/>
                </a:solidFill>
                <a:latin typeface="Arial"/>
              </a:rPr>
              <a:t>Linear</a:t>
            </a:r>
          </a:p>
        </p:txBody>
      </p:sp>
      <p:cxnSp>
        <p:nvCxnSpPr>
          <p:cNvPr id="389" name="Connector 388"/>
          <p:cNvCxnSpPr/>
          <p:nvPr/>
        </p:nvCxnSpPr>
        <p:spPr>
          <a:xfrm>
            <a:off x="8656460" y="4384349"/>
            <a:ext cx="385822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Freeform 389"/>
          <p:cNvSpPr/>
          <p:nvPr/>
        </p:nvSpPr>
        <p:spPr>
          <a:xfrm>
            <a:off x="8996685" y="4359271"/>
            <a:ext cx="45597" cy="50157"/>
          </a:xfrm>
          <a:custGeom>
            <a:avLst/>
            <a:gdLst/>
            <a:ahLst/>
            <a:cxnLst/>
            <a:rect l="l" t="t" r="r" b="b"/>
            <a:pathLst>
              <a:path w="45597" h="50157">
                <a:moveTo>
                  <a:pt x="45597" y="25078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9042282" y="4237035"/>
            <a:ext cx="652391" cy="294628"/>
          </a:xfrm>
          <a:prstGeom prst="roundRect">
            <a:avLst/>
          </a:prstGeom>
          <a:solidFill>
            <a:srgbClr val="FFF6C9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9077357" y="4244050"/>
            <a:ext cx="582241" cy="28059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0">
                <a:solidFill>
                  <a:srgbClr val="111111"/>
                </a:solidFill>
                <a:latin typeface="Arial"/>
              </a:rPr>
              <a:t>MLP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9694674" y="4384349"/>
            <a:ext cx="357763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Freeform 393"/>
          <p:cNvSpPr/>
          <p:nvPr/>
        </p:nvSpPr>
        <p:spPr>
          <a:xfrm>
            <a:off x="10006839" y="4359271"/>
            <a:ext cx="45598" cy="50157"/>
          </a:xfrm>
          <a:custGeom>
            <a:avLst/>
            <a:gdLst/>
            <a:ahLst/>
            <a:cxnLst/>
            <a:rect l="l" t="t" r="r" b="b"/>
            <a:pathLst>
              <a:path w="45598" h="50157">
                <a:moveTo>
                  <a:pt x="45598" y="25078"/>
                </a:moveTo>
                <a:lnTo>
                  <a:pt x="0" y="5015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080496" y="4131811"/>
            <a:ext cx="1262692" cy="462987"/>
          </a:xfrm>
          <a:prstGeom prst="rect">
            <a:avLst/>
          </a:prstGeom>
          <a:noFill/>
          <a:ln w="9779">
            <a:solidFill>
              <a:srgbClr val="142B4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564529" y="4226513"/>
            <a:ext cx="799705" cy="308658"/>
          </a:xfrm>
          <a:prstGeom prst="ellipse">
            <a:avLst/>
          </a:prstGeom>
          <a:solidFill>
            <a:srgbClr val="F6EFD6"/>
          </a:solidFill>
          <a:ln w="8382">
            <a:solidFill>
              <a:srgbClr val="8D9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171691" y="4286140"/>
            <a:ext cx="189403" cy="189403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10417214" y="4272110"/>
            <a:ext cx="196418" cy="18940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655723" y="4286140"/>
            <a:ext cx="189403" cy="189403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8112" y="4286140"/>
            <a:ext cx="189403" cy="189403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1020501" y="4286140"/>
            <a:ext cx="189403" cy="189403"/>
          </a:xfrm>
          <a:prstGeom prst="rect">
            <a:avLst/>
          </a:prstGeom>
          <a:solidFill>
            <a:srgbClr val="F4B49C"/>
          </a:solidFill>
          <a:ln w="11874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11371249" y="4082706"/>
            <a:ext cx="448957" cy="32970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1">
                <a:solidFill>
                  <a:srgbClr val="111111"/>
                </a:solidFill>
                <a:latin typeface="Times New Roman"/>
              </a:rPr>
              <a:t>q̂₃ᴅ</a:t>
            </a:r>
          </a:p>
        </p:txBody>
      </p:sp>
      <p:cxnSp>
        <p:nvCxnSpPr>
          <p:cNvPr id="403" name="Connector 402"/>
          <p:cNvCxnSpPr/>
          <p:nvPr/>
        </p:nvCxnSpPr>
        <p:spPr>
          <a:xfrm flipV="1">
            <a:off x="8537205" y="3360165"/>
            <a:ext cx="0" cy="897915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8537205" y="3360165"/>
            <a:ext cx="0" cy="736571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Freeform 404"/>
          <p:cNvSpPr/>
          <p:nvPr/>
        </p:nvSpPr>
        <p:spPr>
          <a:xfrm>
            <a:off x="8511278" y="4049595"/>
            <a:ext cx="51855" cy="47141"/>
          </a:xfrm>
          <a:custGeom>
            <a:avLst/>
            <a:gdLst/>
            <a:ahLst/>
            <a:cxnLst/>
            <a:rect l="l" t="t" r="r" b="b"/>
            <a:pathLst>
              <a:path w="51855" h="47141">
                <a:moveTo>
                  <a:pt x="25927" y="47141"/>
                </a:moveTo>
                <a:lnTo>
                  <a:pt x="0" y="0"/>
                </a:lnTo>
                <a:lnTo>
                  <a:pt x="51855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ounded Rectangle 405"/>
          <p:cNvSpPr/>
          <p:nvPr/>
        </p:nvSpPr>
        <p:spPr>
          <a:xfrm>
            <a:off x="4664948" y="4966591"/>
            <a:ext cx="1452096" cy="47000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ounded Rectangle 406"/>
          <p:cNvSpPr/>
          <p:nvPr/>
        </p:nvSpPr>
        <p:spPr>
          <a:xfrm>
            <a:off x="4643903" y="4938531"/>
            <a:ext cx="1452096" cy="470002"/>
          </a:xfrm>
          <a:prstGeom prst="roundRect">
            <a:avLst/>
          </a:prstGeom>
          <a:solidFill>
            <a:srgbClr val="FFE084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4678978" y="4945546"/>
            <a:ext cx="1381947" cy="45597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Feature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Refinement</a:t>
            </a:r>
          </a:p>
        </p:txBody>
      </p:sp>
      <p:sp>
        <p:nvSpPr>
          <p:cNvPr id="409" name="Rounded Rectangle 408"/>
          <p:cNvSpPr/>
          <p:nvPr/>
        </p:nvSpPr>
        <p:spPr>
          <a:xfrm>
            <a:off x="4664948" y="6187194"/>
            <a:ext cx="1452096" cy="47000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ounded Rectangle 409"/>
          <p:cNvSpPr/>
          <p:nvPr/>
        </p:nvSpPr>
        <p:spPr>
          <a:xfrm>
            <a:off x="4643903" y="6159134"/>
            <a:ext cx="1452096" cy="470002"/>
          </a:xfrm>
          <a:prstGeom prst="roundRect">
            <a:avLst/>
          </a:prstGeom>
          <a:solidFill>
            <a:srgbClr val="FFE084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4678978" y="6166149"/>
            <a:ext cx="1381947" cy="45597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Feature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Refinement</a:t>
            </a:r>
          </a:p>
        </p:txBody>
      </p:sp>
      <p:cxnSp>
        <p:nvCxnSpPr>
          <p:cNvPr id="412" name="Connector 411"/>
          <p:cNvCxnSpPr/>
          <p:nvPr/>
        </p:nvCxnSpPr>
        <p:spPr>
          <a:xfrm>
            <a:off x="5366444" y="5408533"/>
            <a:ext cx="0" cy="196419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Freeform 412"/>
          <p:cNvSpPr/>
          <p:nvPr/>
        </p:nvSpPr>
        <p:spPr>
          <a:xfrm>
            <a:off x="5340516" y="5557812"/>
            <a:ext cx="51855" cy="47140"/>
          </a:xfrm>
          <a:custGeom>
            <a:avLst/>
            <a:gdLst/>
            <a:ahLst/>
            <a:cxnLst/>
            <a:rect l="l" t="t" r="r" b="b"/>
            <a:pathLst>
              <a:path w="51855" h="47140">
                <a:moveTo>
                  <a:pt x="25928" y="47140"/>
                </a:moveTo>
                <a:lnTo>
                  <a:pt x="0" y="0"/>
                </a:lnTo>
                <a:lnTo>
                  <a:pt x="51855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ounded Rectangle 413"/>
          <p:cNvSpPr/>
          <p:nvPr/>
        </p:nvSpPr>
        <p:spPr>
          <a:xfrm>
            <a:off x="5387488" y="5597937"/>
            <a:ext cx="694480" cy="371792"/>
          </a:xfrm>
          <a:prstGeom prst="roundRect">
            <a:avLst/>
          </a:prstGeom>
          <a:solidFill>
            <a:srgbClr val="F5D8BD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5422563" y="5604952"/>
            <a:ext cx="624331" cy="35776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1">
                <a:solidFill>
                  <a:srgbClr val="111111"/>
                </a:solidFill>
                <a:latin typeface="Arial"/>
              </a:rPr>
              <a:t>ℒ¹₍sup₎</a:t>
            </a:r>
          </a:p>
        </p:txBody>
      </p:sp>
      <p:cxnSp>
        <p:nvCxnSpPr>
          <p:cNvPr id="416" name="Connector 415"/>
          <p:cNvCxnSpPr/>
          <p:nvPr/>
        </p:nvCxnSpPr>
        <p:spPr>
          <a:xfrm flipV="1">
            <a:off x="5724206" y="5969730"/>
            <a:ext cx="0" cy="189404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Freeform 416"/>
          <p:cNvSpPr/>
          <p:nvPr/>
        </p:nvSpPr>
        <p:spPr>
          <a:xfrm>
            <a:off x="5698279" y="5969730"/>
            <a:ext cx="51855" cy="47141"/>
          </a:xfrm>
          <a:custGeom>
            <a:avLst/>
            <a:gdLst/>
            <a:ahLst/>
            <a:cxnLst/>
            <a:rect l="l" t="t" r="r" b="b"/>
            <a:pathLst>
              <a:path w="51855" h="47141">
                <a:moveTo>
                  <a:pt x="25927" y="0"/>
                </a:moveTo>
                <a:lnTo>
                  <a:pt x="51855" y="47141"/>
                </a:lnTo>
                <a:lnTo>
                  <a:pt x="0" y="47141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8" name="Connector 417"/>
          <p:cNvCxnSpPr/>
          <p:nvPr/>
        </p:nvCxnSpPr>
        <p:spPr>
          <a:xfrm>
            <a:off x="4777187" y="5408533"/>
            <a:ext cx="0" cy="750601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Freeform 418"/>
          <p:cNvSpPr/>
          <p:nvPr/>
        </p:nvSpPr>
        <p:spPr>
          <a:xfrm>
            <a:off x="4752108" y="6113537"/>
            <a:ext cx="50157" cy="45597"/>
          </a:xfrm>
          <a:custGeom>
            <a:avLst/>
            <a:gdLst/>
            <a:ahLst/>
            <a:cxnLst/>
            <a:rect l="l" t="t" r="r" b="b"/>
            <a:pathLst>
              <a:path w="50157" h="45597">
                <a:moveTo>
                  <a:pt x="25079" y="45597"/>
                </a:moveTo>
                <a:lnTo>
                  <a:pt x="0" y="0"/>
                </a:lnTo>
                <a:lnTo>
                  <a:pt x="50157" y="0"/>
                </a:lnTo>
                <a:close/>
              </a:path>
            </a:pathLst>
          </a:custGeom>
          <a:solidFill>
            <a:srgbClr val="8A8A8A"/>
          </a:solidFill>
          <a:ln w="3492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 flipV="1">
            <a:off x="4840322" y="5408533"/>
            <a:ext cx="0" cy="750601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Freeform 420"/>
          <p:cNvSpPr/>
          <p:nvPr/>
        </p:nvSpPr>
        <p:spPr>
          <a:xfrm>
            <a:off x="4815243" y="5408533"/>
            <a:ext cx="50157" cy="45598"/>
          </a:xfrm>
          <a:custGeom>
            <a:avLst/>
            <a:gdLst/>
            <a:ahLst/>
            <a:cxnLst/>
            <a:rect l="l" t="t" r="r" b="b"/>
            <a:pathLst>
              <a:path w="50157" h="45598">
                <a:moveTo>
                  <a:pt x="25079" y="0"/>
                </a:moveTo>
                <a:lnTo>
                  <a:pt x="50157" y="45598"/>
                </a:lnTo>
                <a:lnTo>
                  <a:pt x="0" y="45598"/>
                </a:lnTo>
                <a:close/>
              </a:path>
            </a:pathLst>
          </a:custGeom>
          <a:solidFill>
            <a:srgbClr val="8A8A8A"/>
          </a:solidFill>
          <a:ln w="3492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 rot="5400000">
            <a:off x="4728082" y="5520773"/>
            <a:ext cx="385822" cy="57522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9" b="0" i="0">
                <a:solidFill>
                  <a:srgbClr val="8A8A8A"/>
                </a:solidFill>
                <a:latin typeface="Arial"/>
              </a:rPr>
              <a:t>Share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9" b="0" i="0">
                <a:solidFill>
                  <a:srgbClr val="8A8A8A"/>
                </a:solidFill>
                <a:latin typeface="Arial"/>
              </a:rPr>
              <a:t>Weight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6095999" y="5177040"/>
            <a:ext cx="280599" cy="0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Freeform 423"/>
          <p:cNvSpPr/>
          <p:nvPr/>
        </p:nvSpPr>
        <p:spPr>
          <a:xfrm>
            <a:off x="6329457" y="5151112"/>
            <a:ext cx="47141" cy="51855"/>
          </a:xfrm>
          <a:custGeom>
            <a:avLst/>
            <a:gdLst/>
            <a:ahLst/>
            <a:cxnLst/>
            <a:rect l="l" t="t" r="r" b="b"/>
            <a:pathLst>
              <a:path w="47141" h="51855">
                <a:moveTo>
                  <a:pt x="47141" y="25928"/>
                </a:moveTo>
                <a:lnTo>
                  <a:pt x="0" y="518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6376598" y="5604952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6587047" y="5541818"/>
            <a:ext cx="63134" cy="224478"/>
          </a:xfrm>
          <a:custGeom>
            <a:avLst/>
            <a:gdLst/>
            <a:ahLst/>
            <a:cxnLst/>
            <a:rect l="l" t="t" r="r" b="b"/>
            <a:pathLst>
              <a:path w="63134" h="224478">
                <a:moveTo>
                  <a:pt x="0" y="63134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8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6376598" y="5450623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6587047" y="5387488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5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6376598" y="5296294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6587047" y="5233159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6376598" y="5141965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6587047" y="5078830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6376598" y="4987636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6587047" y="4924501"/>
            <a:ext cx="63134" cy="224479"/>
          </a:xfrm>
          <a:custGeom>
            <a:avLst/>
            <a:gdLst/>
            <a:ahLst/>
            <a:cxnLst/>
            <a:rect l="l" t="t" r="r" b="b"/>
            <a:pathLst>
              <a:path w="63134" h="224479">
                <a:moveTo>
                  <a:pt x="0" y="63135"/>
                </a:moveTo>
                <a:lnTo>
                  <a:pt x="63134" y="0"/>
                </a:lnTo>
                <a:lnTo>
                  <a:pt x="63134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6376598" y="4924501"/>
            <a:ext cx="273583" cy="63135"/>
          </a:xfrm>
          <a:custGeom>
            <a:avLst/>
            <a:gdLst/>
            <a:ahLst/>
            <a:cxnLst/>
            <a:rect l="l" t="t" r="r" b="b"/>
            <a:pathLst>
              <a:path w="273583" h="63135">
                <a:moveTo>
                  <a:pt x="0" y="63135"/>
                </a:moveTo>
                <a:lnTo>
                  <a:pt x="63134" y="0"/>
                </a:lnTo>
                <a:lnTo>
                  <a:pt x="273583" y="0"/>
                </a:lnTo>
                <a:lnTo>
                  <a:pt x="210449" y="63135"/>
                </a:lnTo>
                <a:close/>
              </a:path>
            </a:pathLst>
          </a:custGeom>
          <a:solidFill>
            <a:srgbClr val="F7C6B5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6671226" y="5050770"/>
            <a:ext cx="350747" cy="28059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cxnSp>
        <p:nvCxnSpPr>
          <p:cNvPr id="437" name="Connector 436"/>
          <p:cNvCxnSpPr/>
          <p:nvPr/>
        </p:nvCxnSpPr>
        <p:spPr>
          <a:xfrm>
            <a:off x="6902720" y="5177040"/>
            <a:ext cx="498062" cy="0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Freeform 437"/>
          <p:cNvSpPr/>
          <p:nvPr/>
        </p:nvSpPr>
        <p:spPr>
          <a:xfrm>
            <a:off x="7353641" y="5151112"/>
            <a:ext cx="47141" cy="51855"/>
          </a:xfrm>
          <a:custGeom>
            <a:avLst/>
            <a:gdLst/>
            <a:ahLst/>
            <a:cxnLst/>
            <a:rect l="l" t="t" r="r" b="b"/>
            <a:pathLst>
              <a:path w="47141" h="51855">
                <a:moveTo>
                  <a:pt x="47141" y="25928"/>
                </a:moveTo>
                <a:lnTo>
                  <a:pt x="0" y="518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ounded Rectangle 438"/>
          <p:cNvSpPr/>
          <p:nvPr/>
        </p:nvSpPr>
        <p:spPr>
          <a:xfrm>
            <a:off x="7421827" y="4945546"/>
            <a:ext cx="1431051" cy="48403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ounded Rectangle 439"/>
          <p:cNvSpPr/>
          <p:nvPr/>
        </p:nvSpPr>
        <p:spPr>
          <a:xfrm>
            <a:off x="7400782" y="4917486"/>
            <a:ext cx="1431051" cy="484032"/>
          </a:xfrm>
          <a:prstGeom prst="roundRect">
            <a:avLst/>
          </a:prstGeom>
          <a:solidFill>
            <a:srgbClr val="FFE084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7435857" y="4924501"/>
            <a:ext cx="1360902" cy="47000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Feature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Refinement</a:t>
            </a:r>
          </a:p>
        </p:txBody>
      </p:sp>
      <p:sp>
        <p:nvSpPr>
          <p:cNvPr id="442" name="Rounded Rectangle 441"/>
          <p:cNvSpPr/>
          <p:nvPr/>
        </p:nvSpPr>
        <p:spPr>
          <a:xfrm>
            <a:off x="7421827" y="6032865"/>
            <a:ext cx="1431051" cy="48403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ounded Rectangle 442"/>
          <p:cNvSpPr/>
          <p:nvPr/>
        </p:nvSpPr>
        <p:spPr>
          <a:xfrm>
            <a:off x="7400782" y="6004805"/>
            <a:ext cx="1431051" cy="484032"/>
          </a:xfrm>
          <a:prstGeom prst="roundRect">
            <a:avLst/>
          </a:prstGeom>
          <a:solidFill>
            <a:srgbClr val="FFE084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7435857" y="6011820"/>
            <a:ext cx="1360902" cy="47000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Feature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6" b="0" i="0">
                <a:solidFill>
                  <a:srgbClr val="111111"/>
                </a:solidFill>
                <a:latin typeface="Arial"/>
              </a:rPr>
              <a:t>Refinement</a:t>
            </a:r>
          </a:p>
        </p:txBody>
      </p:sp>
      <p:cxnSp>
        <p:nvCxnSpPr>
          <p:cNvPr id="445" name="Connector 444"/>
          <p:cNvCxnSpPr/>
          <p:nvPr/>
        </p:nvCxnSpPr>
        <p:spPr>
          <a:xfrm>
            <a:off x="8109293" y="5401518"/>
            <a:ext cx="0" cy="182389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Freeform 445"/>
          <p:cNvSpPr/>
          <p:nvPr/>
        </p:nvSpPr>
        <p:spPr>
          <a:xfrm>
            <a:off x="8083365" y="5536767"/>
            <a:ext cx="51855" cy="47140"/>
          </a:xfrm>
          <a:custGeom>
            <a:avLst/>
            <a:gdLst/>
            <a:ahLst/>
            <a:cxnLst/>
            <a:rect l="l" t="t" r="r" b="b"/>
            <a:pathLst>
              <a:path w="51855" h="47140">
                <a:moveTo>
                  <a:pt x="25928" y="47140"/>
                </a:moveTo>
                <a:lnTo>
                  <a:pt x="0" y="0"/>
                </a:lnTo>
                <a:lnTo>
                  <a:pt x="51855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ounded Rectangle 446"/>
          <p:cNvSpPr/>
          <p:nvPr/>
        </p:nvSpPr>
        <p:spPr>
          <a:xfrm>
            <a:off x="8109293" y="5520773"/>
            <a:ext cx="708510" cy="378807"/>
          </a:xfrm>
          <a:prstGeom prst="roundRect">
            <a:avLst/>
          </a:prstGeom>
          <a:solidFill>
            <a:srgbClr val="F5D8BD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8144368" y="5527788"/>
            <a:ext cx="638361" cy="36477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5" b="0" i="1">
                <a:solidFill>
                  <a:srgbClr val="111111"/>
                </a:solidFill>
                <a:latin typeface="Arial"/>
              </a:rPr>
              <a:t>ℒˢ₍sup₎</a:t>
            </a:r>
          </a:p>
        </p:txBody>
      </p:sp>
      <p:cxnSp>
        <p:nvCxnSpPr>
          <p:cNvPr id="449" name="Connector 448"/>
          <p:cNvCxnSpPr/>
          <p:nvPr/>
        </p:nvCxnSpPr>
        <p:spPr>
          <a:xfrm flipV="1">
            <a:off x="8467056" y="5899580"/>
            <a:ext cx="0" cy="105225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Freeform 449"/>
          <p:cNvSpPr/>
          <p:nvPr/>
        </p:nvSpPr>
        <p:spPr>
          <a:xfrm>
            <a:off x="8441128" y="5899580"/>
            <a:ext cx="51855" cy="47141"/>
          </a:xfrm>
          <a:custGeom>
            <a:avLst/>
            <a:gdLst/>
            <a:ahLst/>
            <a:cxnLst/>
            <a:rect l="l" t="t" r="r" b="b"/>
            <a:pathLst>
              <a:path w="51855" h="47141">
                <a:moveTo>
                  <a:pt x="25928" y="0"/>
                </a:moveTo>
                <a:lnTo>
                  <a:pt x="51855" y="47141"/>
                </a:lnTo>
                <a:lnTo>
                  <a:pt x="0" y="47141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7541081" y="5401518"/>
            <a:ext cx="0" cy="603287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Freeform 451"/>
          <p:cNvSpPr/>
          <p:nvPr/>
        </p:nvSpPr>
        <p:spPr>
          <a:xfrm>
            <a:off x="7516003" y="5959208"/>
            <a:ext cx="50156" cy="45597"/>
          </a:xfrm>
          <a:custGeom>
            <a:avLst/>
            <a:gdLst/>
            <a:ahLst/>
            <a:cxnLst/>
            <a:rect l="l" t="t" r="r" b="b"/>
            <a:pathLst>
              <a:path w="50156" h="45597">
                <a:moveTo>
                  <a:pt x="25078" y="45597"/>
                </a:moveTo>
                <a:lnTo>
                  <a:pt x="0" y="0"/>
                </a:lnTo>
                <a:lnTo>
                  <a:pt x="50156" y="0"/>
                </a:lnTo>
                <a:close/>
              </a:path>
            </a:pathLst>
          </a:custGeom>
          <a:solidFill>
            <a:srgbClr val="8A8A8A"/>
          </a:solidFill>
          <a:ln w="3492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 flipV="1">
            <a:off x="7604216" y="5401518"/>
            <a:ext cx="0" cy="603287"/>
          </a:xfrm>
          <a:prstGeom prst="line">
            <a:avLst/>
          </a:prstGeom>
          <a:ln w="1397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Freeform 453"/>
          <p:cNvSpPr/>
          <p:nvPr/>
        </p:nvSpPr>
        <p:spPr>
          <a:xfrm>
            <a:off x="7579137" y="5401518"/>
            <a:ext cx="50157" cy="45598"/>
          </a:xfrm>
          <a:custGeom>
            <a:avLst/>
            <a:gdLst/>
            <a:ahLst/>
            <a:cxnLst/>
            <a:rect l="l" t="t" r="r" b="b"/>
            <a:pathLst>
              <a:path w="50157" h="45598">
                <a:moveTo>
                  <a:pt x="25079" y="0"/>
                </a:moveTo>
                <a:lnTo>
                  <a:pt x="50157" y="45598"/>
                </a:lnTo>
                <a:lnTo>
                  <a:pt x="0" y="45598"/>
                </a:lnTo>
                <a:close/>
              </a:path>
            </a:pathLst>
          </a:custGeom>
          <a:solidFill>
            <a:srgbClr val="8A8A8A"/>
          </a:solidFill>
          <a:ln w="3492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 rot="5400000">
            <a:off x="7491976" y="5485698"/>
            <a:ext cx="399852" cy="49104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8A8A8A"/>
                </a:solidFill>
                <a:latin typeface="Arial"/>
              </a:rPr>
              <a:t>Share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8A8A8A"/>
                </a:solidFill>
                <a:latin typeface="Arial"/>
              </a:rPr>
              <a:t>Weight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8831834" y="5170025"/>
            <a:ext cx="231493" cy="0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Freeform 456"/>
          <p:cNvSpPr/>
          <p:nvPr/>
        </p:nvSpPr>
        <p:spPr>
          <a:xfrm>
            <a:off x="9016187" y="5144097"/>
            <a:ext cx="47140" cy="51855"/>
          </a:xfrm>
          <a:custGeom>
            <a:avLst/>
            <a:gdLst/>
            <a:ahLst/>
            <a:cxnLst/>
            <a:rect l="l" t="t" r="r" b="b"/>
            <a:pathLst>
              <a:path w="47140" h="51855">
                <a:moveTo>
                  <a:pt x="47140" y="25928"/>
                </a:moveTo>
                <a:lnTo>
                  <a:pt x="0" y="51855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9063327" y="5569877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9273776" y="5506743"/>
            <a:ext cx="63135" cy="224478"/>
          </a:xfrm>
          <a:custGeom>
            <a:avLst/>
            <a:gdLst/>
            <a:ahLst/>
            <a:cxnLst/>
            <a:rect l="l" t="t" r="r" b="b"/>
            <a:pathLst>
              <a:path w="63135" h="224478">
                <a:moveTo>
                  <a:pt x="0" y="63134"/>
                </a:moveTo>
                <a:lnTo>
                  <a:pt x="63135" y="0"/>
                </a:lnTo>
                <a:lnTo>
                  <a:pt x="63135" y="161344"/>
                </a:lnTo>
                <a:lnTo>
                  <a:pt x="0" y="224478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9063327" y="5415548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9273776" y="5352414"/>
            <a:ext cx="63135" cy="224478"/>
          </a:xfrm>
          <a:custGeom>
            <a:avLst/>
            <a:gdLst/>
            <a:ahLst/>
            <a:cxnLst/>
            <a:rect l="l" t="t" r="r" b="b"/>
            <a:pathLst>
              <a:path w="63135" h="224478">
                <a:moveTo>
                  <a:pt x="0" y="63134"/>
                </a:moveTo>
                <a:lnTo>
                  <a:pt x="63135" y="0"/>
                </a:lnTo>
                <a:lnTo>
                  <a:pt x="63135" y="161344"/>
                </a:lnTo>
                <a:lnTo>
                  <a:pt x="0" y="224478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9063327" y="5261219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9273776" y="5198085"/>
            <a:ext cx="63135" cy="224478"/>
          </a:xfrm>
          <a:custGeom>
            <a:avLst/>
            <a:gdLst/>
            <a:ahLst/>
            <a:cxnLst/>
            <a:rect l="l" t="t" r="r" b="b"/>
            <a:pathLst>
              <a:path w="63135" h="224478">
                <a:moveTo>
                  <a:pt x="0" y="63134"/>
                </a:moveTo>
                <a:lnTo>
                  <a:pt x="63135" y="0"/>
                </a:lnTo>
                <a:lnTo>
                  <a:pt x="63135" y="161344"/>
                </a:lnTo>
                <a:lnTo>
                  <a:pt x="0" y="224478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9063327" y="5106890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9273776" y="5043755"/>
            <a:ext cx="63135" cy="224479"/>
          </a:xfrm>
          <a:custGeom>
            <a:avLst/>
            <a:gdLst/>
            <a:ahLst/>
            <a:cxnLst/>
            <a:rect l="l" t="t" r="r" b="b"/>
            <a:pathLst>
              <a:path w="63135" h="224479">
                <a:moveTo>
                  <a:pt x="0" y="63135"/>
                </a:moveTo>
                <a:lnTo>
                  <a:pt x="63135" y="0"/>
                </a:lnTo>
                <a:lnTo>
                  <a:pt x="63135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9063327" y="4952561"/>
            <a:ext cx="210448" cy="161344"/>
          </a:xfrm>
          <a:prstGeom prst="rect">
            <a:avLst/>
          </a:prstGeom>
          <a:solidFill>
            <a:srgbClr val="F4B49C"/>
          </a:solidFill>
          <a:ln w="9779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9273776" y="4889426"/>
            <a:ext cx="63135" cy="224479"/>
          </a:xfrm>
          <a:custGeom>
            <a:avLst/>
            <a:gdLst/>
            <a:ahLst/>
            <a:cxnLst/>
            <a:rect l="l" t="t" r="r" b="b"/>
            <a:pathLst>
              <a:path w="63135" h="224479">
                <a:moveTo>
                  <a:pt x="0" y="63135"/>
                </a:moveTo>
                <a:lnTo>
                  <a:pt x="63135" y="0"/>
                </a:lnTo>
                <a:lnTo>
                  <a:pt x="63135" y="161344"/>
                </a:lnTo>
                <a:lnTo>
                  <a:pt x="0" y="224479"/>
                </a:lnTo>
                <a:close/>
              </a:path>
            </a:pathLst>
          </a:custGeom>
          <a:solidFill>
            <a:srgbClr val="EF9F8D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9063327" y="4889426"/>
            <a:ext cx="273584" cy="63135"/>
          </a:xfrm>
          <a:custGeom>
            <a:avLst/>
            <a:gdLst/>
            <a:ahLst/>
            <a:cxnLst/>
            <a:rect l="l" t="t" r="r" b="b"/>
            <a:pathLst>
              <a:path w="273584" h="63135">
                <a:moveTo>
                  <a:pt x="0" y="63135"/>
                </a:moveTo>
                <a:lnTo>
                  <a:pt x="63135" y="0"/>
                </a:lnTo>
                <a:lnTo>
                  <a:pt x="273584" y="0"/>
                </a:lnTo>
                <a:lnTo>
                  <a:pt x="210449" y="63135"/>
                </a:lnTo>
                <a:close/>
              </a:path>
            </a:pathLst>
          </a:custGeom>
          <a:solidFill>
            <a:srgbClr val="F7C6B5"/>
          </a:solidFill>
          <a:ln w="8382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 rot="5400000">
            <a:off x="9498255" y="5184055"/>
            <a:ext cx="350747" cy="27358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111111"/>
                </a:solidFill>
                <a:latin typeface="Arial"/>
              </a:rPr>
              <a:t>Decoder</a:t>
            </a:r>
          </a:p>
        </p:txBody>
      </p:sp>
      <p:cxnSp>
        <p:nvCxnSpPr>
          <p:cNvPr id="470" name="Connector 469"/>
          <p:cNvCxnSpPr/>
          <p:nvPr/>
        </p:nvCxnSpPr>
        <p:spPr>
          <a:xfrm>
            <a:off x="6095999" y="6566002"/>
            <a:ext cx="4152856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10248855" y="4580768"/>
            <a:ext cx="0" cy="1985234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0248855" y="4580768"/>
            <a:ext cx="1059259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8831834" y="6243313"/>
            <a:ext cx="1410006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10241840" y="5163010"/>
            <a:ext cx="0" cy="1080303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10241840" y="5163010"/>
            <a:ext cx="287614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6" name="Freeform 475"/>
          <p:cNvSpPr/>
          <p:nvPr/>
        </p:nvSpPr>
        <p:spPr>
          <a:xfrm>
            <a:off x="10480068" y="5135848"/>
            <a:ext cx="49386" cy="54324"/>
          </a:xfrm>
          <a:custGeom>
            <a:avLst/>
            <a:gdLst/>
            <a:ahLst/>
            <a:cxnLst/>
            <a:rect l="l" t="t" r="r" b="b"/>
            <a:pathLst>
              <a:path w="49386" h="54324">
                <a:moveTo>
                  <a:pt x="49386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>
            <a:off x="9336911" y="5247189"/>
            <a:ext cx="1143438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10529454" y="5001666"/>
            <a:ext cx="785675" cy="336718"/>
          </a:xfrm>
          <a:prstGeom prst="roundRect">
            <a:avLst/>
          </a:prstGeom>
          <a:solidFill>
            <a:srgbClr val="FFFBD7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10564529" y="5008681"/>
            <a:ext cx="715525" cy="322688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Arial"/>
              </a:rPr>
              <a:t>Conv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1315129" y="5170025"/>
            <a:ext cx="189404" cy="0"/>
          </a:xfrm>
          <a:prstGeom prst="line">
            <a:avLst/>
          </a:prstGeom>
          <a:ln w="1536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Freeform 480"/>
          <p:cNvSpPr/>
          <p:nvPr/>
        </p:nvSpPr>
        <p:spPr>
          <a:xfrm>
            <a:off x="11455148" y="5142863"/>
            <a:ext cx="49385" cy="54324"/>
          </a:xfrm>
          <a:custGeom>
            <a:avLst/>
            <a:gdLst/>
            <a:ahLst/>
            <a:cxnLst/>
            <a:rect l="l" t="t" r="r" b="b"/>
            <a:pathLst>
              <a:path w="49385" h="54324">
                <a:moveTo>
                  <a:pt x="49385" y="27162"/>
                </a:moveTo>
                <a:lnTo>
                  <a:pt x="0" y="54324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ounded Rectangle 481"/>
          <p:cNvSpPr/>
          <p:nvPr/>
        </p:nvSpPr>
        <p:spPr>
          <a:xfrm>
            <a:off x="11504533" y="4952561"/>
            <a:ext cx="519107" cy="406867"/>
          </a:xfrm>
          <a:prstGeom prst="roundRect">
            <a:avLst/>
          </a:prstGeom>
          <a:solidFill>
            <a:srgbClr val="FFFBD7"/>
          </a:solidFill>
          <a:ln w="18161">
            <a:solidFill>
              <a:srgbClr val="14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11539608" y="4959576"/>
            <a:ext cx="448957" cy="39283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1">
                <a:solidFill>
                  <a:srgbClr val="111111"/>
                </a:solidFill>
                <a:latin typeface="Arial"/>
              </a:rPr>
              <a:t>ℒ₍seg₎</a:t>
            </a:r>
          </a:p>
        </p:txBody>
      </p:sp>
      <p:pic>
        <p:nvPicPr>
          <p:cNvPr id="484" name="Picture 483" descr="label_point_clou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499" y="5885551"/>
            <a:ext cx="1494186" cy="932989"/>
          </a:xfrm>
          <a:prstGeom prst="rect">
            <a:avLst/>
          </a:prstGeom>
        </p:spPr>
      </p:pic>
      <p:sp>
        <p:nvSpPr>
          <p:cNvPr id="485" name="Rectangle 484"/>
          <p:cNvSpPr/>
          <p:nvPr/>
        </p:nvSpPr>
        <p:spPr>
          <a:xfrm>
            <a:off x="10550499" y="5885551"/>
            <a:ext cx="1494186" cy="932989"/>
          </a:xfrm>
          <a:prstGeom prst="rect">
            <a:avLst/>
          </a:prstGeom>
          <a:noFill/>
          <a:ln w="1397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10592588" y="5583907"/>
            <a:ext cx="1122393" cy="25955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Arial"/>
              </a:rPr>
              <a:t>Label</a:t>
            </a:r>
          </a:p>
        </p:txBody>
      </p:sp>
      <p:cxnSp>
        <p:nvCxnSpPr>
          <p:cNvPr id="487" name="Connector 486"/>
          <p:cNvCxnSpPr/>
          <p:nvPr/>
        </p:nvCxnSpPr>
        <p:spPr>
          <a:xfrm flipV="1">
            <a:off x="11764087" y="5359429"/>
            <a:ext cx="0" cy="526122"/>
          </a:xfrm>
          <a:prstGeom prst="line">
            <a:avLst/>
          </a:prstGeom>
          <a:ln w="1466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Freeform 487"/>
          <p:cNvSpPr/>
          <p:nvPr/>
        </p:nvSpPr>
        <p:spPr>
          <a:xfrm>
            <a:off x="11738159" y="5359429"/>
            <a:ext cx="51855" cy="47140"/>
          </a:xfrm>
          <a:custGeom>
            <a:avLst/>
            <a:gdLst/>
            <a:ahLst/>
            <a:cxnLst/>
            <a:rect l="l" t="t" r="r" b="b"/>
            <a:pathLst>
              <a:path w="51855" h="47140">
                <a:moveTo>
                  <a:pt x="25928" y="0"/>
                </a:moveTo>
                <a:lnTo>
                  <a:pt x="51855" y="47140"/>
                </a:lnTo>
                <a:lnTo>
                  <a:pt x="0" y="47140"/>
                </a:lnTo>
                <a:close/>
              </a:path>
            </a:pathLst>
          </a:custGeom>
          <a:solidFill>
            <a:srgbClr val="111111"/>
          </a:solidFill>
          <a:ln w="349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No Object Is an Island Enhancing 3D Semantic Segmentation Generalization with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" y="0"/>
            <a:ext cx="12177968" cy="7141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