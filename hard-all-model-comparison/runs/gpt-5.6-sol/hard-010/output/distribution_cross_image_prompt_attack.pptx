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529048" cy="739749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64592"/>
            <a:ext cx="9381744" cy="2112264"/>
          </a:xfrm>
          <a:prstGeom prst="roundRect">
            <a:avLst/>
          </a:prstGeom>
          <a:solidFill>
            <a:srgbClr val="FAFAFA"/>
          </a:solidFill>
          <a:ln w="10058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68712" y="137160"/>
            <a:ext cx="3895344" cy="2002536"/>
          </a:xfrm>
          <a:prstGeom prst="roundRect">
            <a:avLst/>
          </a:prstGeom>
          <a:solidFill>
            <a:srgbClr val="F6F6F6"/>
          </a:solidFill>
          <a:ln w="10972">
            <a:solidFill>
              <a:srgbClr val="5555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301216" y="128016"/>
            <a:ext cx="3145536" cy="3364992"/>
          </a:xfrm>
          <a:prstGeom prst="rect">
            <a:avLst/>
          </a:prstGeom>
          <a:solidFill>
            <a:srgbClr val="F7CBC8"/>
          </a:solidFill>
          <a:ln w="10972">
            <a:solidFill>
              <a:srgbClr val="D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2606040"/>
            <a:ext cx="3483864" cy="4462272"/>
          </a:xfrm>
          <a:prstGeom prst="rect">
            <a:avLst/>
          </a:prstGeom>
          <a:solidFill>
            <a:srgbClr val="FFFFFF"/>
          </a:solidFill>
          <a:ln w="20116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30752" y="2606040"/>
            <a:ext cx="5276088" cy="4462272"/>
          </a:xfrm>
          <a:prstGeom prst="rect">
            <a:avLst/>
          </a:prstGeom>
          <a:solidFill>
            <a:srgbClr val="FFFFFF"/>
          </a:solidFill>
          <a:ln w="20116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4856" y="2304288"/>
            <a:ext cx="5029200" cy="4764024"/>
          </a:xfrm>
          <a:prstGeom prst="rect">
            <a:avLst/>
          </a:prstGeom>
          <a:solidFill>
            <a:srgbClr val="FFFFFF"/>
          </a:solidFill>
          <a:ln w="20116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5614416"/>
            <a:ext cx="2852928" cy="1014984"/>
          </a:xfrm>
          <a:prstGeom prst="rect">
            <a:avLst/>
          </a:prstGeom>
          <a:solidFill>
            <a:srgbClr val="FFFFFF"/>
          </a:solidFill>
          <a:ln w="12801">
            <a:solidFill>
              <a:srgbClr val="44444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0176" y="5596128"/>
            <a:ext cx="2907792" cy="1216152"/>
          </a:xfrm>
          <a:prstGeom prst="rect">
            <a:avLst/>
          </a:prstGeom>
          <a:solidFill>
            <a:srgbClr val="FFFFFF"/>
          </a:solidFill>
          <a:ln w="12801">
            <a:solidFill>
              <a:srgbClr val="44444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17152" y="5596128"/>
            <a:ext cx="4809744" cy="1380744"/>
          </a:xfrm>
          <a:prstGeom prst="rect">
            <a:avLst/>
          </a:prstGeom>
          <a:solidFill>
            <a:srgbClr val="FFFFFF"/>
          </a:solidFill>
          <a:ln w="10972">
            <a:solidFill>
              <a:srgbClr val="C7554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17736" y="5934456"/>
            <a:ext cx="2322576" cy="777240"/>
          </a:xfrm>
          <a:prstGeom prst="roundRect">
            <a:avLst/>
          </a:prstGeom>
          <a:solidFill>
            <a:srgbClr val="F8D6A4"/>
          </a:solidFill>
          <a:ln w="10972">
            <a:solidFill>
              <a:srgbClr val="C67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887200" y="5687568"/>
            <a:ext cx="2039112" cy="530352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0" y="6327648"/>
            <a:ext cx="2039112" cy="539496"/>
          </a:xfrm>
          <a:prstGeom prst="roundRect">
            <a:avLst/>
          </a:prstGeom>
          <a:solidFill>
            <a:srgbClr val="F8CECA"/>
          </a:solidFill>
          <a:ln w="9144">
            <a:solidFill>
              <a:srgbClr val="D45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356080" y="5925312"/>
            <a:ext cx="3090672" cy="566928"/>
          </a:xfrm>
          <a:prstGeom prst="rect">
            <a:avLst/>
          </a:prstGeom>
          <a:solidFill>
            <a:srgbClr val="F6C9C6"/>
          </a:solidFill>
          <a:ln w="10972">
            <a:solidFill>
              <a:srgbClr val="D74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56080" y="6519672"/>
            <a:ext cx="3090672" cy="557784"/>
          </a:xfrm>
          <a:prstGeom prst="rect">
            <a:avLst/>
          </a:prstGeom>
          <a:solidFill>
            <a:srgbClr val="D6E8D2"/>
          </a:solidFill>
          <a:ln w="10972">
            <a:solidFill>
              <a:srgbClr val="6DA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173736"/>
            <a:ext cx="47548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5" b="1" i="0" u="none">
                <a:solidFill>
                  <a:srgbClr val="000000"/>
                </a:solidFill>
                <a:latin typeface="Arial"/>
              </a:defRPr>
            </a:pPr>
            <a:r>
              <a:t>Image and Prompt Set in the Real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6584" y="51206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5" y="512064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Prompt</a:t>
            </a:r>
          </a:p>
        </p:txBody>
      </p:sp>
      <p:pic>
        <p:nvPicPr>
          <p:cNvPr id="19" name="Picture 18" descr="v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420624"/>
            <a:ext cx="566928" cy="576072"/>
          </a:xfrm>
          <a:prstGeom prst="rect">
            <a:avLst/>
          </a:prstGeom>
        </p:spPr>
      </p:pic>
      <p:pic>
        <p:nvPicPr>
          <p:cNvPr id="20" name="Picture 19" descr="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987552"/>
            <a:ext cx="576072" cy="566928"/>
          </a:xfrm>
          <a:prstGeom prst="rect">
            <a:avLst/>
          </a:prstGeom>
        </p:spPr>
      </p:pic>
      <p:pic>
        <p:nvPicPr>
          <p:cNvPr id="21" name="Picture 20" descr="p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545336"/>
            <a:ext cx="576072" cy="585216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2224641" y="1218502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17301" y="1311356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60909" y="1066310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16684" y="1319479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870491" y="128615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23986" y="1664377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14649" y="1267613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343337" y="1111753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90081" y="1444020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68864" y="1032696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98468" y="1007156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91706" y="1118582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27411" y="1187080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52714" y="994199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519445" y="1087304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26759" y="1156521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284308" y="1322016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867408" y="1033525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881990" y="1013474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95360" y="1445441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072636" y="1351480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9045" y="1234287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442012" y="1478099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732822" y="1275334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203876" y="112763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541208" y="1435667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690901" y="1542786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537315" y="1162133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478577" y="1202884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554729" y="1072229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984136" y="1164507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152800" y="1074903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420609" y="1149144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740061" y="995294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605033" y="1398315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73712" y="1063555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688558" y="1033017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152253" y="124408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222939" y="1045622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81028" y="1013826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481375" y="1394961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660995" y="1236649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420157" y="1450927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14021" y="1550759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067390" y="1469395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779848" y="1380222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196602" y="1023944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610900" y="1615662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377874" y="1017432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536385" y="1559345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415626" y="1408612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204120" y="1320063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716633" y="1344226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824879" y="1624160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071022" y="1530118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435349" y="1550736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775173" y="1244952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445695" y="1650016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79756" y="1221079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725292" y="1254721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413309" y="1510091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537641" y="1090681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331319" y="1083385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525898" y="1191682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423584" y="1164328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311637" y="1016646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457805" y="1793673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88760" y="1405433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023501" y="1578974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054938" y="995413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82001" y="1348558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698271" y="1339252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441157" y="1495624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295421" y="1295327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61860" y="1470599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530957" y="1754548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289340" y="1176823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93147" y="1371685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062804" y="992726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720473" y="1334727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504601" y="961679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027402" y="1458115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447682" y="1422707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670712" y="1548434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462610" y="1599755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237649" y="1533857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341029" y="1354049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024028" y="1354943"/>
            <a:ext cx="58521" cy="58521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1060704" y="557784"/>
            <a:ext cx="1197864" cy="338328"/>
          </a:xfrm>
          <a:prstGeom prst="line">
            <a:avLst/>
          </a:prstGeom>
          <a:ln w="9144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783080" y="1271016"/>
            <a:ext cx="393192" cy="9144"/>
          </a:xfrm>
          <a:prstGeom prst="line">
            <a:avLst/>
          </a:prstGeom>
          <a:ln w="9144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115568" y="1728216"/>
            <a:ext cx="1152144" cy="109728"/>
          </a:xfrm>
          <a:prstGeom prst="line">
            <a:avLst/>
          </a:prstGeom>
          <a:ln w="9144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5833872" y="475488"/>
            <a:ext cx="3465576" cy="676656"/>
          </a:xfrm>
          <a:prstGeom prst="rect">
            <a:avLst/>
          </a:prstGeom>
          <a:solidFill>
            <a:srgbClr val="E5D8E8"/>
          </a:solidFill>
          <a:ln w="9144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833872" y="1216152"/>
            <a:ext cx="3465576" cy="457200"/>
          </a:xfrm>
          <a:prstGeom prst="rect">
            <a:avLst/>
          </a:prstGeom>
          <a:solidFill>
            <a:srgbClr val="E5D8E8"/>
          </a:solidFill>
          <a:ln w="9144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833872" y="1737360"/>
            <a:ext cx="3465576" cy="429768"/>
          </a:xfrm>
          <a:prstGeom prst="rect">
            <a:avLst/>
          </a:prstGeom>
          <a:solidFill>
            <a:srgbClr val="E5D8E8"/>
          </a:solidFill>
          <a:ln w="9144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907024" y="521208"/>
            <a:ext cx="33192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What colors are the patterns in the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picture?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07024" y="1243584"/>
            <a:ext cx="33192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What is that person wearing?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907024" y="1755648"/>
            <a:ext cx="3319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What's on the plate?</a:t>
            </a:r>
          </a:p>
        </p:txBody>
      </p:sp>
      <p:cxnSp>
        <p:nvCxnSpPr>
          <p:cNvPr id="119" name="Connector 118"/>
          <p:cNvCxnSpPr/>
          <p:nvPr/>
        </p:nvCxnSpPr>
        <p:spPr>
          <a:xfrm flipV="1">
            <a:off x="4837176" y="804672"/>
            <a:ext cx="996696" cy="228600"/>
          </a:xfrm>
          <a:prstGeom prst="line">
            <a:avLst/>
          </a:prstGeom>
          <a:ln w="9144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4837176" y="1380744"/>
            <a:ext cx="996696" cy="64008"/>
          </a:xfrm>
          <a:prstGeom prst="line">
            <a:avLst/>
          </a:prstGeom>
          <a:ln w="9144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764024" y="1819656"/>
            <a:ext cx="1069848" cy="128016"/>
          </a:xfrm>
          <a:prstGeom prst="line">
            <a:avLst/>
          </a:prstGeom>
          <a:ln w="9144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078992" y="2185416"/>
            <a:ext cx="160934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000000"/>
                </a:solidFill>
                <a:latin typeface="DejaVu Serif"/>
              </a:defRPr>
            </a:pPr>
            <a:r>
              <a:t>v ~ N (μ, Σ/N)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385816" y="2185416"/>
            <a:ext cx="17099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000000"/>
                </a:solidFill>
                <a:latin typeface="DejaVu Serif"/>
              </a:defRPr>
            </a:pPr>
            <a:r>
              <a:t>t ~ N (μ, Σ/N)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546336" y="85953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9555480" y="1152144"/>
            <a:ext cx="676656" cy="356616"/>
          </a:xfrm>
          <a:prstGeom prst="rightArrow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424160" y="182880"/>
            <a:ext cx="355701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Image and Prompt Set Distribution</a:t>
            </a:r>
          </a:p>
        </p:txBody>
      </p:sp>
      <p:sp>
        <p:nvSpPr>
          <p:cNvPr id="127" name="Oval 126"/>
          <p:cNvSpPr/>
          <p:nvPr/>
        </p:nvSpPr>
        <p:spPr>
          <a:xfrm rot="19740000">
            <a:off x="10789920" y="603504"/>
            <a:ext cx="1188720" cy="786384"/>
          </a:xfrm>
          <a:prstGeom prst="ellipse">
            <a:avLst/>
          </a:prstGeom>
          <a:solidFill>
            <a:srgbClr val="44C7E3"/>
          </a:solidFill>
          <a:ln w="9144">
            <a:solidFill>
              <a:srgbClr val="159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 rot="19740000">
            <a:off x="10908792" y="682142"/>
            <a:ext cx="950976" cy="629107"/>
          </a:xfrm>
          <a:prstGeom prst="ellipse">
            <a:avLst/>
          </a:prstGeom>
          <a:solidFill>
            <a:srgbClr val="37BEE0"/>
          </a:solidFill>
          <a:ln w="9144">
            <a:solidFill>
              <a:srgbClr val="159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 rot="19740000">
            <a:off x="11027664" y="760780"/>
            <a:ext cx="713232" cy="471830"/>
          </a:xfrm>
          <a:prstGeom prst="ellipse">
            <a:avLst/>
          </a:prstGeom>
          <a:solidFill>
            <a:srgbClr val="2EB4DC"/>
          </a:solidFill>
          <a:ln w="9144">
            <a:solidFill>
              <a:srgbClr val="159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 rot="19740000">
            <a:off x="11170310" y="855146"/>
            <a:ext cx="427939" cy="283098"/>
          </a:xfrm>
          <a:prstGeom prst="ellipse">
            <a:avLst/>
          </a:prstGeom>
          <a:solidFill>
            <a:srgbClr val="29A9D7"/>
          </a:solidFill>
          <a:ln w="9144">
            <a:solidFill>
              <a:srgbClr val="159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355933" y="968349"/>
            <a:ext cx="56692" cy="56692"/>
          </a:xfrm>
          <a:prstGeom prst="ellipse">
            <a:avLst/>
          </a:prstGeom>
          <a:solidFill>
            <a:srgbClr val="6C9BC4"/>
          </a:solidFill>
          <a:ln w="5080">
            <a:solidFill>
              <a:srgbClr val="6C9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 rot="19800000">
            <a:off x="12399264" y="630936"/>
            <a:ext cx="1115568" cy="768096"/>
          </a:xfrm>
          <a:prstGeom prst="ellipse">
            <a:avLst/>
          </a:prstGeom>
          <a:solidFill>
            <a:srgbClr val="E9E2ED"/>
          </a:solidFill>
          <a:ln w="9144">
            <a:solidFill>
              <a:srgbClr val="A99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 rot="19800000">
            <a:off x="12510820" y="707745"/>
            <a:ext cx="892454" cy="614476"/>
          </a:xfrm>
          <a:prstGeom prst="ellipse">
            <a:avLst/>
          </a:prstGeom>
          <a:solidFill>
            <a:srgbClr val="D6D0E9"/>
          </a:solidFill>
          <a:ln w="9144">
            <a:solidFill>
              <a:srgbClr val="A99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 rot="19800000">
            <a:off x="12622377" y="784555"/>
            <a:ext cx="669340" cy="460857"/>
          </a:xfrm>
          <a:prstGeom prst="ellipse">
            <a:avLst/>
          </a:prstGeom>
          <a:solidFill>
            <a:srgbClr val="C7C6E6"/>
          </a:solidFill>
          <a:ln w="9144">
            <a:solidFill>
              <a:srgbClr val="A99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 rot="19800000">
            <a:off x="12756245" y="876726"/>
            <a:ext cx="401604" cy="276514"/>
          </a:xfrm>
          <a:prstGeom prst="ellipse">
            <a:avLst/>
          </a:prstGeom>
          <a:solidFill>
            <a:srgbClr val="B5BCE0"/>
          </a:solidFill>
          <a:ln w="9144">
            <a:solidFill>
              <a:srgbClr val="A99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2928701" y="986637"/>
            <a:ext cx="56692" cy="56692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61904" y="1435608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000000"/>
                </a:solidFill>
                <a:latin typeface="DejaVu Serif"/>
              </a:defRPr>
            </a:pPr>
            <a:r>
              <a:t>v ~ N (v̂,Hᵥ⁻¹)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2326112" y="1435608"/>
            <a:ext cx="15910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000000"/>
                </a:solidFill>
                <a:latin typeface="DejaVu Serif"/>
              </a:defRPr>
            </a:pPr>
            <a:r>
              <a:t>t ~ N (tᵥ,Hₜ⁻¹)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4621256" y="210312"/>
            <a:ext cx="249631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Any combination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of images and prompts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4484096" y="923544"/>
            <a:ext cx="8778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Prompt: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4484096" y="1243584"/>
            <a:ext cx="28163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84" b="0" i="1" u="sng">
                <a:solidFill>
                  <a:srgbClr val="000000"/>
                </a:solidFill>
                <a:latin typeface="Arial"/>
              </a:defRPr>
            </a:pPr>
            <a:r>
              <a:t>What animal is in the toilet?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484096" y="1764792"/>
            <a:ext cx="8778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Image:</a:t>
            </a:r>
          </a:p>
        </p:txBody>
      </p:sp>
      <p:pic>
        <p:nvPicPr>
          <p:cNvPr id="143" name="Picture 142" descr="noi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48688" y="2185416"/>
            <a:ext cx="996696" cy="987552"/>
          </a:xfrm>
          <a:prstGeom prst="rect">
            <a:avLst/>
          </a:prstGeom>
        </p:spPr>
      </p:pic>
      <p:sp>
        <p:nvSpPr>
          <p:cNvPr id="144" name="Rectangle 143"/>
          <p:cNvSpPr/>
          <p:nvPr/>
        </p:nvSpPr>
        <p:spPr>
          <a:xfrm>
            <a:off x="14648688" y="2185416"/>
            <a:ext cx="996696" cy="987552"/>
          </a:xfrm>
          <a:prstGeom prst="rect">
            <a:avLst/>
          </a:prstGeom>
          <a:solidFill>
            <a:srgbClr val="FFFFFF"/>
          </a:solidFill>
          <a:ln w="18288">
            <a:solidFill>
              <a:srgbClr val="F0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noi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7832" y="2194560"/>
            <a:ext cx="978408" cy="969264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5700248" y="2523744"/>
            <a:ext cx="301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 u="none">
                <a:solidFill>
                  <a:srgbClr val="000000"/>
                </a:solidFill>
                <a:latin typeface="Arial"/>
              </a:defRPr>
            </a:pPr>
            <a:r>
              <a:t>+</a:t>
            </a:r>
          </a:p>
        </p:txBody>
      </p:sp>
      <p:pic>
        <p:nvPicPr>
          <p:cNvPr id="147" name="Picture 146" descr="c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29432" y="2185416"/>
            <a:ext cx="996696" cy="987552"/>
          </a:xfrm>
          <a:prstGeom prst="rect">
            <a:avLst/>
          </a:prstGeom>
        </p:spPr>
      </p:pic>
      <p:sp>
        <p:nvSpPr>
          <p:cNvPr id="148" name="Rectangle 147"/>
          <p:cNvSpPr/>
          <p:nvPr/>
        </p:nvSpPr>
        <p:spPr>
          <a:xfrm>
            <a:off x="16029432" y="2185416"/>
            <a:ext cx="996696" cy="987552"/>
          </a:xfrm>
          <a:prstGeom prst="rect">
            <a:avLst/>
          </a:prstGeom>
          <a:noFill/>
          <a:ln w="19050">
            <a:solidFill>
              <a:srgbClr val="16C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4392656" y="3593592"/>
            <a:ext cx="1380744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F01414"/>
                </a:solidFill>
                <a:latin typeface="Arial"/>
              </a:defRPr>
            </a:pPr>
            <a:r>
              <a:t>Universal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F01414"/>
                </a:solidFill>
                <a:latin typeface="Arial"/>
              </a:defRPr>
            </a:pPr>
            <a:r>
              <a:t>Perturbation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5691104" y="3520440"/>
            <a:ext cx="16276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sng">
                <a:solidFill>
                  <a:srgbClr val="F01414"/>
                </a:solidFill>
                <a:latin typeface="Arial"/>
              </a:defRPr>
            </a:pPr>
            <a:r>
              <a:t>Attack process</a:t>
            </a:r>
          </a:p>
        </p:txBody>
      </p:sp>
      <p:cxnSp>
        <p:nvCxnSpPr>
          <p:cNvPr id="151" name="Connector 150"/>
          <p:cNvCxnSpPr/>
          <p:nvPr/>
        </p:nvCxnSpPr>
        <p:spPr>
          <a:xfrm flipV="1">
            <a:off x="15087600" y="3218688"/>
            <a:ext cx="0" cy="310896"/>
          </a:xfrm>
          <a:prstGeom prst="line">
            <a:avLst/>
          </a:prstGeom>
          <a:ln w="13716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6495776" y="3831336"/>
            <a:ext cx="0" cy="585216"/>
          </a:xfrm>
          <a:prstGeom prst="line">
            <a:avLst/>
          </a:prstGeom>
          <a:ln w="27432">
            <a:solidFill>
              <a:srgbClr val="F0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356616" y="2715768"/>
            <a:ext cx="29260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95" b="0" i="0" u="none">
                <a:solidFill>
                  <a:srgbClr val="5E84BD"/>
                </a:solidFill>
                <a:latin typeface="DejaVu Serif"/>
              </a:defRPr>
            </a:pPr>
            <a:r>
              <a:t>1</a:t>
            </a:r>
          </a:p>
        </p:txBody>
      </p:sp>
      <p:sp>
        <p:nvSpPr>
          <p:cNvPr id="154" name="Oval 153"/>
          <p:cNvSpPr/>
          <p:nvPr/>
        </p:nvSpPr>
        <p:spPr>
          <a:xfrm>
            <a:off x="1015018" y="3782507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338524" y="3652343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288993" y="3410283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35256" y="3476307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217206" y="3859849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209573" y="323198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120690" y="3233730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931182" y="3185149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308271" y="3313857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46593" y="3527546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509615" y="359565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37051" y="3457615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388411" y="334562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597659" y="3521843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88232" y="3379915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05025" y="3325021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382082" y="3624385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18031" y="3586397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330226" y="353255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43778" y="334056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27348" y="3779709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252377" y="3402130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384468" y="3656680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15049" y="3809650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182572" y="3833163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383649" y="331218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51327" y="3270960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439106" y="3464440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85824" y="372278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93537" y="3779730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13551" y="366427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960" y="3732465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348773" y="361424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904853" y="3766972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98328" y="3510368"/>
            <a:ext cx="58521" cy="58521"/>
          </a:xfrm>
          <a:prstGeom prst="ellipse">
            <a:avLst/>
          </a:prstGeom>
          <a:solidFill>
            <a:srgbClr val="5E84BD"/>
          </a:solidFill>
          <a:ln w="5080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86968" y="3438144"/>
            <a:ext cx="256032" cy="256032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50976" y="3410712"/>
            <a:ext cx="137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191" name="Oval 190"/>
          <p:cNvSpPr/>
          <p:nvPr/>
        </p:nvSpPr>
        <p:spPr>
          <a:xfrm rot="19860000">
            <a:off x="2002536" y="3072384"/>
            <a:ext cx="1097280" cy="859536"/>
          </a:xfrm>
          <a:prstGeom prst="ellipse">
            <a:avLst/>
          </a:prstGeom>
          <a:solidFill>
            <a:srgbClr val="63D1E7"/>
          </a:solidFill>
          <a:ln w="9144">
            <a:solidFill>
              <a:srgbClr val="16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 rot="19860000">
            <a:off x="2112264" y="3158337"/>
            <a:ext cx="877824" cy="687628"/>
          </a:xfrm>
          <a:prstGeom prst="ellipse">
            <a:avLst/>
          </a:prstGeom>
          <a:solidFill>
            <a:srgbClr val="3BC3E0"/>
          </a:solidFill>
          <a:ln w="9144">
            <a:solidFill>
              <a:srgbClr val="16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 rot="19860000">
            <a:off x="2221992" y="3244291"/>
            <a:ext cx="658368" cy="515721"/>
          </a:xfrm>
          <a:prstGeom prst="ellipse">
            <a:avLst/>
          </a:prstGeom>
          <a:solidFill>
            <a:srgbClr val="28B5DB"/>
          </a:solidFill>
          <a:ln w="9144">
            <a:solidFill>
              <a:srgbClr val="16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 rot="19860000">
            <a:off x="2353665" y="3347435"/>
            <a:ext cx="395020" cy="309432"/>
          </a:xfrm>
          <a:prstGeom prst="ellipse">
            <a:avLst/>
          </a:prstGeom>
          <a:solidFill>
            <a:srgbClr val="31A3D7"/>
          </a:solidFill>
          <a:ln w="9144">
            <a:solidFill>
              <a:srgbClr val="16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2522829" y="3473805"/>
            <a:ext cx="56692" cy="56692"/>
          </a:xfrm>
          <a:prstGeom prst="ellipse">
            <a:avLst/>
          </a:prstGeom>
          <a:solidFill>
            <a:srgbClr val="6D92B8"/>
          </a:solidFill>
          <a:ln w="5080">
            <a:solidFill>
              <a:srgbClr val="6D9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517904" y="3044952"/>
            <a:ext cx="3200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96" b="0" i="0" u="none">
                <a:solidFill>
                  <a:srgbClr val="000000"/>
                </a:solidFill>
                <a:latin typeface="DejaVu Serif"/>
              </a:defRPr>
            </a:pPr>
            <a:r>
              <a:t>0</a:t>
            </a:r>
          </a:p>
        </p:txBody>
      </p:sp>
      <p:cxnSp>
        <p:nvCxnSpPr>
          <p:cNvPr id="197" name="Connector 196"/>
          <p:cNvCxnSpPr/>
          <p:nvPr/>
        </p:nvCxnSpPr>
        <p:spPr>
          <a:xfrm flipV="1">
            <a:off x="1764792" y="3300984"/>
            <a:ext cx="219456" cy="18288"/>
          </a:xfrm>
          <a:prstGeom prst="line">
            <a:avLst/>
          </a:prstGeom>
          <a:ln w="1005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1033272" y="2459736"/>
            <a:ext cx="0" cy="557784"/>
          </a:xfrm>
          <a:prstGeom prst="line">
            <a:avLst/>
          </a:prstGeom>
          <a:ln w="19202">
            <a:solidFill>
              <a:srgbClr val="5E84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2560320" y="2029968"/>
            <a:ext cx="0" cy="996696"/>
          </a:xfrm>
          <a:prstGeom prst="line">
            <a:avLst/>
          </a:prstGeom>
          <a:ln w="19202">
            <a:solidFill>
              <a:srgbClr val="5E84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3163824" y="2029968"/>
            <a:ext cx="0" cy="1069848"/>
          </a:xfrm>
          <a:prstGeom prst="line">
            <a:avLst/>
          </a:prstGeom>
          <a:ln w="19202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3163824" y="3099816"/>
            <a:ext cx="3566160" cy="0"/>
          </a:xfrm>
          <a:prstGeom prst="line">
            <a:avLst/>
          </a:prstGeom>
          <a:ln w="19202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1014984" y="4114800"/>
            <a:ext cx="0" cy="411480"/>
          </a:xfrm>
          <a:prstGeom prst="line">
            <a:avLst/>
          </a:prstGeom>
          <a:ln w="19202">
            <a:solidFill>
              <a:srgbClr val="5E84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2560320" y="3931920"/>
            <a:ext cx="0" cy="566928"/>
          </a:xfrm>
          <a:prstGeom prst="line">
            <a:avLst/>
          </a:prstGeom>
          <a:ln w="19202">
            <a:solidFill>
              <a:srgbClr val="2D6A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292608" y="4032504"/>
            <a:ext cx="295351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12" b="1" i="0" u="none">
                <a:solidFill>
                  <a:srgbClr val="000000"/>
                </a:solidFill>
                <a:latin typeface="DejaVu Serif"/>
              </a:defRPr>
            </a:pPr>
            <a:r>
              <a:t>v̂ = μ = mean(v)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840480" y="2715768"/>
            <a:ext cx="301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95" b="0" i="0" u="none">
                <a:solidFill>
                  <a:srgbClr val="9467AD"/>
                </a:solidFill>
                <a:latin typeface="DejaVu Serif"/>
              </a:defRPr>
            </a:pPr>
            <a:r>
              <a:t>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160520" y="2779776"/>
            <a:ext cx="229514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12" b="1" i="0" u="none">
                <a:solidFill>
                  <a:srgbClr val="000000"/>
                </a:solidFill>
                <a:latin typeface="Arial"/>
              </a:defRPr>
            </a:pPr>
            <a:r>
              <a:t>Image-Prompt Input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4507992" y="3063240"/>
            <a:ext cx="0" cy="411480"/>
          </a:xfrm>
          <a:prstGeom prst="line">
            <a:avLst/>
          </a:prstGeom>
          <a:ln w="19202">
            <a:solidFill>
              <a:srgbClr val="5E84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5175504" y="3063240"/>
            <a:ext cx="0" cy="411480"/>
          </a:xfrm>
          <a:prstGeom prst="line">
            <a:avLst/>
          </a:prstGeom>
          <a:ln w="19202">
            <a:solidFill>
              <a:srgbClr val="9467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Rounded Rectangle 208"/>
          <p:cNvSpPr/>
          <p:nvPr/>
        </p:nvSpPr>
        <p:spPr>
          <a:xfrm>
            <a:off x="4059936" y="3621024"/>
            <a:ext cx="795528" cy="402336"/>
          </a:xfrm>
          <a:prstGeom prst="roundRect">
            <a:avLst/>
          </a:prstGeom>
          <a:solidFill>
            <a:srgbClr val="FBFCFD"/>
          </a:solidFill>
          <a:ln w="18288">
            <a:solidFill>
              <a:srgbClr val="5E84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 flipV="1">
            <a:off x="4059936" y="3621024"/>
            <a:ext cx="73152" cy="73152"/>
          </a:xfrm>
          <a:prstGeom prst="line">
            <a:avLst/>
          </a:prstGeom>
          <a:ln w="1828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4059936" y="3621024"/>
            <a:ext cx="173736" cy="173736"/>
          </a:xfrm>
          <a:prstGeom prst="line">
            <a:avLst/>
          </a:prstGeom>
          <a:ln w="1828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4059936" y="3621024"/>
            <a:ext cx="274320" cy="274320"/>
          </a:xfrm>
          <a:prstGeom prst="line">
            <a:avLst/>
          </a:prstGeom>
          <a:ln w="1828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4059936" y="3621024"/>
            <a:ext cx="374904" cy="374904"/>
          </a:xfrm>
          <a:prstGeom prst="line">
            <a:avLst/>
          </a:prstGeom>
          <a:ln w="1828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4133088" y="3621024"/>
            <a:ext cx="402336" cy="402336"/>
          </a:xfrm>
          <a:prstGeom prst="line">
            <a:avLst/>
          </a:prstGeom>
          <a:ln w="1828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4233672" y="3621024"/>
            <a:ext cx="402336" cy="402336"/>
          </a:xfrm>
          <a:prstGeom prst="line">
            <a:avLst/>
          </a:prstGeom>
          <a:ln w="1828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4334256" y="3621024"/>
            <a:ext cx="402336" cy="402336"/>
          </a:xfrm>
          <a:prstGeom prst="line">
            <a:avLst/>
          </a:prstGeom>
          <a:ln w="1828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4434840" y="3621024"/>
            <a:ext cx="402336" cy="402336"/>
          </a:xfrm>
          <a:prstGeom prst="line">
            <a:avLst/>
          </a:prstGeom>
          <a:ln w="1828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4535424" y="3703320"/>
            <a:ext cx="320040" cy="320040"/>
          </a:xfrm>
          <a:prstGeom prst="line">
            <a:avLst/>
          </a:prstGeom>
          <a:ln w="1828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4636008" y="3803904"/>
            <a:ext cx="219456" cy="219456"/>
          </a:xfrm>
          <a:prstGeom prst="line">
            <a:avLst/>
          </a:prstGeom>
          <a:ln w="1828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4736592" y="3904488"/>
            <a:ext cx="118872" cy="118872"/>
          </a:xfrm>
          <a:prstGeom prst="line">
            <a:avLst/>
          </a:prstGeom>
          <a:ln w="1828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4837176" y="4005072"/>
            <a:ext cx="18288" cy="18288"/>
          </a:xfrm>
          <a:prstGeom prst="line">
            <a:avLst/>
          </a:prstGeom>
          <a:ln w="18288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Rounded Rectangle 221"/>
          <p:cNvSpPr/>
          <p:nvPr/>
        </p:nvSpPr>
        <p:spPr>
          <a:xfrm>
            <a:off x="4855464" y="3621024"/>
            <a:ext cx="795528" cy="402336"/>
          </a:xfrm>
          <a:prstGeom prst="roundRect">
            <a:avLst/>
          </a:prstGeom>
          <a:solidFill>
            <a:srgbClr val="FBFCFD"/>
          </a:solidFill>
          <a:ln w="18288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Connector 222"/>
          <p:cNvCxnSpPr/>
          <p:nvPr/>
        </p:nvCxnSpPr>
        <p:spPr>
          <a:xfrm flipV="1">
            <a:off x="4855464" y="3621024"/>
            <a:ext cx="73152" cy="73152"/>
          </a:xfrm>
          <a:prstGeom prst="line">
            <a:avLst/>
          </a:prstGeom>
          <a:ln w="18288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4855464" y="3621024"/>
            <a:ext cx="173736" cy="173736"/>
          </a:xfrm>
          <a:prstGeom prst="line">
            <a:avLst/>
          </a:prstGeom>
          <a:ln w="18288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4855464" y="3621024"/>
            <a:ext cx="274320" cy="274320"/>
          </a:xfrm>
          <a:prstGeom prst="line">
            <a:avLst/>
          </a:prstGeom>
          <a:ln w="18288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4855464" y="3621024"/>
            <a:ext cx="374904" cy="374904"/>
          </a:xfrm>
          <a:prstGeom prst="line">
            <a:avLst/>
          </a:prstGeom>
          <a:ln w="18288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4928616" y="3621024"/>
            <a:ext cx="402336" cy="402336"/>
          </a:xfrm>
          <a:prstGeom prst="line">
            <a:avLst/>
          </a:prstGeom>
          <a:ln w="18288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5029200" y="3621024"/>
            <a:ext cx="402336" cy="402336"/>
          </a:xfrm>
          <a:prstGeom prst="line">
            <a:avLst/>
          </a:prstGeom>
          <a:ln w="18288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5129784" y="3621024"/>
            <a:ext cx="402336" cy="402336"/>
          </a:xfrm>
          <a:prstGeom prst="line">
            <a:avLst/>
          </a:prstGeom>
          <a:ln w="18288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5230368" y="3621024"/>
            <a:ext cx="402336" cy="402336"/>
          </a:xfrm>
          <a:prstGeom prst="line">
            <a:avLst/>
          </a:prstGeom>
          <a:ln w="18288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5330952" y="3703320"/>
            <a:ext cx="320040" cy="320040"/>
          </a:xfrm>
          <a:prstGeom prst="line">
            <a:avLst/>
          </a:prstGeom>
          <a:ln w="18288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5431536" y="3803904"/>
            <a:ext cx="219456" cy="219456"/>
          </a:xfrm>
          <a:prstGeom prst="line">
            <a:avLst/>
          </a:prstGeom>
          <a:ln w="18288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5532120" y="3904488"/>
            <a:ext cx="118872" cy="118872"/>
          </a:xfrm>
          <a:prstGeom prst="line">
            <a:avLst/>
          </a:prstGeom>
          <a:ln w="18288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5632704" y="4005072"/>
            <a:ext cx="18288" cy="18288"/>
          </a:xfrm>
          <a:prstGeom prst="line">
            <a:avLst/>
          </a:prstGeom>
          <a:ln w="18288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3895344" y="4069080"/>
            <a:ext cx="90525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12" b="1" i="0" u="none">
                <a:solidFill>
                  <a:srgbClr val="000000"/>
                </a:solidFill>
                <a:latin typeface="Arial"/>
              </a:defRPr>
            </a:pPr>
            <a:r>
              <a:t>Image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084064" y="4069080"/>
            <a:ext cx="7589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12" b="1" i="0" u="none">
                <a:solidFill>
                  <a:srgbClr val="000000"/>
                </a:solidFill>
                <a:latin typeface="Arial"/>
              </a:defRPr>
            </a:pPr>
            <a:r>
              <a:t>Prompt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4736592" y="4023360"/>
            <a:ext cx="0" cy="493776"/>
          </a:xfrm>
          <a:prstGeom prst="line">
            <a:avLst/>
          </a:prstGeom>
          <a:ln w="19202">
            <a:solidFill>
              <a:srgbClr val="9467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5596128" y="31546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12" b="1" i="0" u="none">
                <a:solidFill>
                  <a:srgbClr val="000000"/>
                </a:solidFill>
                <a:latin typeface="Arial"/>
              </a:defRPr>
            </a:pPr>
            <a:r>
              <a:t>Random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12" b="1" i="0" u="none">
                <a:solidFill>
                  <a:srgbClr val="000000"/>
                </a:solidFill>
                <a:latin typeface="Arial"/>
              </a:defRPr>
            </a:pPr>
            <a:r>
              <a:t>sampling</a:t>
            </a:r>
          </a:p>
        </p:txBody>
      </p:sp>
      <p:sp>
        <p:nvSpPr>
          <p:cNvPr id="239" name="Oval 238"/>
          <p:cNvSpPr/>
          <p:nvPr/>
        </p:nvSpPr>
        <p:spPr>
          <a:xfrm rot="19980000">
            <a:off x="6665976" y="2825496"/>
            <a:ext cx="1060704" cy="713232"/>
          </a:xfrm>
          <a:prstGeom prst="ellipse">
            <a:avLst/>
          </a:prstGeom>
          <a:solidFill>
            <a:srgbClr val="E5DDED"/>
          </a:solidFill>
          <a:ln w="9144">
            <a:solidFill>
              <a:srgbClr val="A69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 rot="19980000">
            <a:off x="6772046" y="2896819"/>
            <a:ext cx="848563" cy="570585"/>
          </a:xfrm>
          <a:prstGeom prst="ellipse">
            <a:avLst/>
          </a:prstGeom>
          <a:solidFill>
            <a:srgbClr val="D5CBE7"/>
          </a:solidFill>
          <a:ln w="9144">
            <a:solidFill>
              <a:srgbClr val="A69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 rot="19980000">
            <a:off x="6878116" y="2968142"/>
            <a:ext cx="636422" cy="427939"/>
          </a:xfrm>
          <a:prstGeom prst="ellipse">
            <a:avLst/>
          </a:prstGeom>
          <a:solidFill>
            <a:srgbClr val="C4C3E4"/>
          </a:solidFill>
          <a:ln w="9144">
            <a:solidFill>
              <a:srgbClr val="A69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 rot="19980000">
            <a:off x="7005401" y="3053730"/>
            <a:ext cx="381853" cy="256763"/>
          </a:xfrm>
          <a:prstGeom prst="ellipse">
            <a:avLst/>
          </a:prstGeom>
          <a:solidFill>
            <a:srgbClr val="B0B9DF"/>
          </a:solidFill>
          <a:ln w="9144">
            <a:solidFill>
              <a:srgbClr val="A69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167981" y="3153765"/>
            <a:ext cx="56692" cy="56692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936992" y="268833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12" b="0" i="1" u="none">
                <a:solidFill>
                  <a:srgbClr val="000000"/>
                </a:solidFill>
                <a:latin typeface="DejaVu Serif"/>
              </a:defRPr>
            </a:pPr>
            <a:r>
              <a:t>cₓ</a:t>
            </a:r>
          </a:p>
        </p:txBody>
      </p:sp>
      <p:cxnSp>
        <p:nvCxnSpPr>
          <p:cNvPr id="245" name="Connector 244"/>
          <p:cNvCxnSpPr/>
          <p:nvPr/>
        </p:nvCxnSpPr>
        <p:spPr>
          <a:xfrm>
            <a:off x="6729984" y="3081528"/>
            <a:ext cx="402336" cy="100584"/>
          </a:xfrm>
          <a:prstGeom prst="line">
            <a:avLst/>
          </a:prstGeom>
          <a:ln w="10972">
            <a:solidFill>
              <a:srgbClr val="F0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7470648" y="2871216"/>
            <a:ext cx="493776" cy="219456"/>
          </a:xfrm>
          <a:prstGeom prst="line">
            <a:avLst/>
          </a:prstGeom>
          <a:ln w="10972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4507992" y="2029968"/>
            <a:ext cx="0" cy="448056"/>
          </a:xfrm>
          <a:prstGeom prst="line">
            <a:avLst/>
          </a:prstGeom>
          <a:ln w="19202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4507992" y="2478024"/>
            <a:ext cx="2688336" cy="0"/>
          </a:xfrm>
          <a:prstGeom prst="line">
            <a:avLst/>
          </a:prstGeom>
          <a:ln w="19202">
            <a:solidFill>
              <a:srgbClr val="94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7196328" y="2478024"/>
            <a:ext cx="0" cy="219456"/>
          </a:xfrm>
          <a:prstGeom prst="line">
            <a:avLst/>
          </a:prstGeom>
          <a:ln w="19202">
            <a:solidFill>
              <a:srgbClr val="9467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7196328" y="3767328"/>
            <a:ext cx="0" cy="740664"/>
          </a:xfrm>
          <a:prstGeom prst="line">
            <a:avLst/>
          </a:prstGeom>
          <a:ln w="19202">
            <a:solidFill>
              <a:srgbClr val="9467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4754880" y="5248656"/>
            <a:ext cx="0" cy="347472"/>
          </a:xfrm>
          <a:prstGeom prst="line">
            <a:avLst/>
          </a:prstGeom>
          <a:ln w="19202">
            <a:solidFill>
              <a:srgbClr val="9467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7187184" y="5248656"/>
            <a:ext cx="0" cy="347472"/>
          </a:xfrm>
          <a:prstGeom prst="line">
            <a:avLst/>
          </a:prstGeom>
          <a:ln w="19202">
            <a:solidFill>
              <a:srgbClr val="9467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4306824" y="5669280"/>
            <a:ext cx="475488" cy="128016"/>
          </a:xfrm>
          <a:prstGeom prst="line">
            <a:avLst/>
          </a:prstGeom>
          <a:ln w="10058">
            <a:solidFill>
              <a:srgbClr val="F0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H="1">
            <a:off x="4443984" y="5669280"/>
            <a:ext cx="338328" cy="438912"/>
          </a:xfrm>
          <a:prstGeom prst="line">
            <a:avLst/>
          </a:prstGeom>
          <a:ln w="10058">
            <a:solidFill>
              <a:srgbClr val="F0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4782312" y="5669280"/>
            <a:ext cx="0" cy="292608"/>
          </a:xfrm>
          <a:prstGeom prst="line">
            <a:avLst/>
          </a:prstGeom>
          <a:ln w="10058">
            <a:solidFill>
              <a:srgbClr val="F0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Oval 255"/>
          <p:cNvSpPr/>
          <p:nvPr/>
        </p:nvSpPr>
        <p:spPr>
          <a:xfrm rot="19980000">
            <a:off x="4334256" y="5477256"/>
            <a:ext cx="950976" cy="713232"/>
          </a:xfrm>
          <a:prstGeom prst="ellipse">
            <a:avLst/>
          </a:prstGeom>
          <a:solidFill>
            <a:srgbClr val="E9E3EF"/>
          </a:solidFill>
          <a:ln w="9144">
            <a:solidFill>
              <a:srgbClr val="A69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 rot="19980000">
            <a:off x="4429353" y="5548579"/>
            <a:ext cx="760780" cy="570585"/>
          </a:xfrm>
          <a:prstGeom prst="ellipse">
            <a:avLst/>
          </a:prstGeom>
          <a:solidFill>
            <a:srgbClr val="D9D1E9"/>
          </a:solidFill>
          <a:ln w="9144">
            <a:solidFill>
              <a:srgbClr val="A69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 rot="19980000">
            <a:off x="4524451" y="5619902"/>
            <a:ext cx="570585" cy="427939"/>
          </a:xfrm>
          <a:prstGeom prst="ellipse">
            <a:avLst/>
          </a:prstGeom>
          <a:solidFill>
            <a:srgbClr val="C9C7E5"/>
          </a:solidFill>
          <a:ln w="9144">
            <a:solidFill>
              <a:srgbClr val="A69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 rot="19980000">
            <a:off x="4638568" y="5705490"/>
            <a:ext cx="342351" cy="256763"/>
          </a:xfrm>
          <a:prstGeom prst="ellipse">
            <a:avLst/>
          </a:prstGeom>
          <a:solidFill>
            <a:srgbClr val="B6BCE0"/>
          </a:solidFill>
          <a:ln w="9144">
            <a:solidFill>
              <a:srgbClr val="A69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4781397" y="5805525"/>
            <a:ext cx="56692" cy="56692"/>
          </a:xfrm>
          <a:prstGeom prst="ellipse">
            <a:avLst/>
          </a:prstGeom>
          <a:solidFill>
            <a:srgbClr val="9467AD"/>
          </a:solidFill>
          <a:ln w="5080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3931920" y="6309360"/>
            <a:ext cx="178308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0" i="0" u="none">
                <a:solidFill>
                  <a:srgbClr val="000000"/>
                </a:solidFill>
                <a:latin typeface="DejaVu Serif"/>
              </a:defRPr>
            </a:pPr>
            <a:r>
              <a:t>tᵥ = arg min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39" b="0" i="0" u="none">
                <a:solidFill>
                  <a:srgbClr val="000000"/>
                </a:solidFill>
                <a:latin typeface="DejaVu Serif"/>
              </a:defRPr>
            </a:pPr>
            <a:r>
              <a:t>D(MLLM(v,t), yₑₓₚ)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9299448" y="2377440"/>
            <a:ext cx="301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95" b="0" i="0" u="none">
                <a:solidFill>
                  <a:srgbClr val="F01414"/>
                </a:solidFill>
                <a:latin typeface="DejaVu Serif"/>
              </a:defRPr>
            </a:pPr>
            <a: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9500616" y="2395728"/>
            <a:ext cx="13258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000000"/>
                </a:solidFill>
                <a:latin typeface="Arial"/>
              </a:defRPr>
            </a:pPr>
            <a:r>
              <a:t>Monte Carlo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000000"/>
                </a:solidFill>
                <a:latin typeface="Arial"/>
              </a:defRPr>
            </a:pPr>
            <a:r>
              <a:t>Sampling</a:t>
            </a:r>
          </a:p>
        </p:txBody>
      </p:sp>
      <p:pic>
        <p:nvPicPr>
          <p:cNvPr id="264" name="Picture 263" descr="noi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2328" y="2953512"/>
            <a:ext cx="1014984" cy="1014984"/>
          </a:xfrm>
          <a:prstGeom prst="rect">
            <a:avLst/>
          </a:prstGeom>
        </p:spPr>
      </p:pic>
      <p:sp>
        <p:nvSpPr>
          <p:cNvPr id="265" name="Rectangle 264"/>
          <p:cNvSpPr/>
          <p:nvPr/>
        </p:nvSpPr>
        <p:spPr>
          <a:xfrm>
            <a:off x="9482328" y="2953512"/>
            <a:ext cx="1014984" cy="1014984"/>
          </a:xfrm>
          <a:prstGeom prst="rect">
            <a:avLst/>
          </a:prstGeom>
          <a:noFill/>
          <a:ln w="17780">
            <a:solidFill>
              <a:srgbClr val="F0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9098280" y="3182112"/>
            <a:ext cx="31089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5" b="0" i="0" u="none">
                <a:solidFill>
                  <a:srgbClr val="000000"/>
                </a:solidFill>
                <a:latin typeface="DejaVu Serif"/>
              </a:defRPr>
            </a:pPr>
            <a:r>
              <a:t>δ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515600" y="3282696"/>
            <a:ext cx="301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1329416" y="23774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000000"/>
                </a:solidFill>
                <a:latin typeface="Arial"/>
              </a:defRPr>
            </a:pPr>
            <a:r>
              <a:t>Compute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000000"/>
                </a:solidFill>
                <a:latin typeface="Arial"/>
              </a:defRPr>
            </a:pPr>
            <a:r>
              <a:t>distribution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2691872" y="2395728"/>
            <a:ext cx="139903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000000"/>
                </a:solidFill>
                <a:latin typeface="Arial"/>
              </a:defRPr>
            </a:pPr>
            <a:r>
              <a:t>Monte Carlo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000000"/>
                </a:solidFill>
                <a:latin typeface="Arial"/>
              </a:defRPr>
            </a:pPr>
            <a:r>
              <a:t>Sampling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10771632" y="3236976"/>
            <a:ext cx="1636776" cy="393192"/>
          </a:xfrm>
          <a:prstGeom prst="rect">
            <a:avLst/>
          </a:prstGeom>
          <a:solidFill>
            <a:srgbClr val="D9E6F5"/>
          </a:solidFill>
          <a:ln w="9144">
            <a:solidFill>
              <a:srgbClr val="6B9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2408408" y="3236976"/>
            <a:ext cx="1636776" cy="393192"/>
          </a:xfrm>
          <a:prstGeom prst="rect">
            <a:avLst/>
          </a:prstGeom>
          <a:solidFill>
            <a:srgbClr val="E5D8E8"/>
          </a:solidFill>
          <a:ln w="9144">
            <a:solidFill>
              <a:srgbClr val="94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0890504" y="3273552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Image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2582144" y="3273552"/>
            <a:ext cx="13167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000000"/>
                </a:solidFill>
                <a:latin typeface="Arial"/>
              </a:defRPr>
            </a:pPr>
            <a:r>
              <a:t>Prompt</a:t>
            </a:r>
          </a:p>
        </p:txBody>
      </p:sp>
      <p:cxnSp>
        <p:nvCxnSpPr>
          <p:cNvPr id="274" name="Connector 273"/>
          <p:cNvCxnSpPr/>
          <p:nvPr/>
        </p:nvCxnSpPr>
        <p:spPr>
          <a:xfrm>
            <a:off x="11228832" y="1828800"/>
            <a:ext cx="0" cy="1316736"/>
          </a:xfrm>
          <a:prstGeom prst="line">
            <a:avLst/>
          </a:prstGeom>
          <a:ln w="27432">
            <a:solidFill>
              <a:srgbClr val="5E84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11558016" y="1993392"/>
            <a:ext cx="0" cy="1161288"/>
          </a:xfrm>
          <a:prstGeom prst="line">
            <a:avLst/>
          </a:prstGeom>
          <a:ln w="20116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1558016" y="1993392"/>
            <a:ext cx="1078992" cy="0"/>
          </a:xfrm>
          <a:prstGeom prst="line">
            <a:avLst/>
          </a:prstGeom>
          <a:ln w="20116">
            <a:solidFill>
              <a:srgbClr val="5E8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12637008" y="1764792"/>
            <a:ext cx="0" cy="228600"/>
          </a:xfrm>
          <a:prstGeom prst="line">
            <a:avLst/>
          </a:prstGeom>
          <a:ln w="20116">
            <a:solidFill>
              <a:srgbClr val="5E84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12819888" y="1783080"/>
            <a:ext cx="0" cy="1362456"/>
          </a:xfrm>
          <a:prstGeom prst="line">
            <a:avLst/>
          </a:prstGeom>
          <a:ln w="27432">
            <a:solidFill>
              <a:srgbClr val="9467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12362688" y="3922776"/>
            <a:ext cx="6126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12" b="1" i="0" u="none">
                <a:solidFill>
                  <a:srgbClr val="F01414"/>
                </a:solidFill>
                <a:latin typeface="Arial"/>
              </a:defRPr>
            </a:pPr>
            <a:r>
              <a:t>Input</a:t>
            </a:r>
          </a:p>
        </p:txBody>
      </p:sp>
      <p:cxnSp>
        <p:nvCxnSpPr>
          <p:cNvPr id="280" name="Connector 279"/>
          <p:cNvCxnSpPr/>
          <p:nvPr/>
        </p:nvCxnSpPr>
        <p:spPr>
          <a:xfrm>
            <a:off x="12344400" y="3730752"/>
            <a:ext cx="0" cy="795528"/>
          </a:xfrm>
          <a:prstGeom prst="line">
            <a:avLst/>
          </a:prstGeom>
          <a:ln w="27432">
            <a:solidFill>
              <a:srgbClr val="1484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0104120" y="3977640"/>
            <a:ext cx="0" cy="301752"/>
          </a:xfrm>
          <a:prstGeom prst="line">
            <a:avLst/>
          </a:prstGeom>
          <a:ln w="118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10104120" y="4279392"/>
            <a:ext cx="4983480" cy="0"/>
          </a:xfrm>
          <a:prstGeom prst="line">
            <a:avLst/>
          </a:prstGeom>
          <a:ln w="11887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15087600" y="3191256"/>
            <a:ext cx="0" cy="1088136"/>
          </a:xfrm>
          <a:prstGeom prst="line">
            <a:avLst/>
          </a:prstGeom>
          <a:ln w="11887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TextBox 283"/>
          <p:cNvSpPr txBox="1"/>
          <p:nvPr/>
        </p:nvSpPr>
        <p:spPr>
          <a:xfrm>
            <a:off x="9089136" y="41148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12" b="1" i="0" u="none">
                <a:solidFill>
                  <a:srgbClr val="F01414"/>
                </a:solidFill>
                <a:latin typeface="Arial"/>
              </a:defRPr>
            </a:pPr>
            <a:r>
              <a:t>Update</a:t>
            </a:r>
          </a:p>
        </p:txBody>
      </p:sp>
      <p:cxnSp>
        <p:nvCxnSpPr>
          <p:cNvPr id="285" name="Connector 284"/>
          <p:cNvCxnSpPr/>
          <p:nvPr/>
        </p:nvCxnSpPr>
        <p:spPr>
          <a:xfrm flipV="1">
            <a:off x="9884664" y="4041648"/>
            <a:ext cx="0" cy="466344"/>
          </a:xfrm>
          <a:prstGeom prst="line">
            <a:avLst/>
          </a:prstGeom>
          <a:ln w="22859">
            <a:solidFill>
              <a:srgbClr val="C76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1014984" y="5248656"/>
            <a:ext cx="0" cy="329184"/>
          </a:xfrm>
          <a:prstGeom prst="line">
            <a:avLst/>
          </a:prstGeom>
          <a:ln w="19202">
            <a:solidFill>
              <a:srgbClr val="5E84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2560320" y="5257800"/>
            <a:ext cx="0" cy="329184"/>
          </a:xfrm>
          <a:prstGeom prst="line">
            <a:avLst/>
          </a:prstGeom>
          <a:ln w="19202">
            <a:solidFill>
              <a:srgbClr val="5E84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9884664" y="5248656"/>
            <a:ext cx="0" cy="338328"/>
          </a:xfrm>
          <a:prstGeom prst="line">
            <a:avLst/>
          </a:prstGeom>
          <a:ln w="21945">
            <a:solidFill>
              <a:srgbClr val="C76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12344400" y="5248656"/>
            <a:ext cx="0" cy="365760"/>
          </a:xfrm>
          <a:prstGeom prst="line">
            <a:avLst/>
          </a:prstGeom>
          <a:ln w="25603">
            <a:solidFill>
              <a:srgbClr val="1484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Rounded Rectangle 289"/>
          <p:cNvSpPr/>
          <p:nvPr/>
        </p:nvSpPr>
        <p:spPr>
          <a:xfrm>
            <a:off x="137160" y="4572000"/>
            <a:ext cx="17373600" cy="676656"/>
          </a:xfrm>
          <a:prstGeom prst="roundRect">
            <a:avLst/>
          </a:prstGeom>
          <a:solidFill>
            <a:srgbClr val="FFF1C9"/>
          </a:solidFill>
          <a:ln w="10058">
            <a:solidFill>
              <a:srgbClr val="E5A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3566160" y="4690872"/>
            <a:ext cx="104790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88" b="1" i="0" u="none">
                <a:solidFill>
                  <a:srgbClr val="000000"/>
                </a:solidFill>
                <a:latin typeface="Arial"/>
              </a:defRPr>
            </a:pPr>
            <a:r>
              <a:t>Multi-Modal Large Language Model  (MLLM)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49224" y="5760720"/>
            <a:ext cx="243230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5" b="0" i="0" u="none">
                <a:solidFill>
                  <a:srgbClr val="000000"/>
                </a:solidFill>
                <a:latin typeface="DejaVu Serif"/>
              </a:defRPr>
            </a:pPr>
            <a:r>
              <a:t>Hᵥ⁻¹  =        ‖v−v̂‖²₂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5" b="0" i="0" u="none">
                <a:solidFill>
                  <a:srgbClr val="000000"/>
                </a:solidFill>
                <a:latin typeface="DejaVu Serif"/>
              </a:defRPr>
            </a:pPr>
            <a:r>
              <a:t>               2·(L(v)−L(v̂))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1965960" y="6199632"/>
            <a:ext cx="1078992" cy="0"/>
          </a:xfrm>
          <a:prstGeom prst="line">
            <a:avLst/>
          </a:prstGeom>
          <a:ln w="914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676656" y="6757416"/>
            <a:ext cx="234086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1" u="sng">
                <a:solidFill>
                  <a:srgbClr val="000000"/>
                </a:solidFill>
                <a:latin typeface="Arial"/>
              </a:defRPr>
            </a:pPr>
            <a:r>
              <a:t>Laplace approximation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6044184" y="5751576"/>
            <a:ext cx="27614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5" b="0" i="0" u="none">
                <a:solidFill>
                  <a:srgbClr val="000000"/>
                </a:solidFill>
                <a:latin typeface="DejaVu Serif"/>
              </a:defRPr>
            </a:pPr>
            <a:r>
              <a:t>Hₜ⁻¹  =      ‖t₀−tᵥ‖²₂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5" b="0" i="0" u="none">
                <a:solidFill>
                  <a:srgbClr val="000000"/>
                </a:solidFill>
                <a:latin typeface="DejaVu Serif"/>
              </a:defRPr>
            </a:pPr>
            <a:r>
              <a:t>             2·(L(v,t₀)−L(v,tᵥ))</a:t>
            </a:r>
          </a:p>
        </p:txBody>
      </p:sp>
      <p:cxnSp>
        <p:nvCxnSpPr>
          <p:cNvPr id="296" name="Connector 295"/>
          <p:cNvCxnSpPr/>
          <p:nvPr/>
        </p:nvCxnSpPr>
        <p:spPr>
          <a:xfrm>
            <a:off x="7479792" y="6199632"/>
            <a:ext cx="1298448" cy="0"/>
          </a:xfrm>
          <a:prstGeom prst="line">
            <a:avLst/>
          </a:prstGeom>
          <a:ln w="914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5157216" y="6757416"/>
            <a:ext cx="330098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1" u="sng">
                <a:solidFill>
                  <a:srgbClr val="000000"/>
                </a:solidFill>
                <a:latin typeface="Arial"/>
              </a:defRPr>
            </a:pPr>
            <a:r>
              <a:t>Laplace approximation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930384" y="5340096"/>
            <a:ext cx="14356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12" b="1" i="0" u="none">
                <a:solidFill>
                  <a:srgbClr val="F01414"/>
                </a:solidFill>
                <a:latin typeface="Arial"/>
              </a:defRPr>
            </a:pPr>
            <a:r>
              <a:t>Perturbation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12" b="1" i="0" u="none">
                <a:solidFill>
                  <a:srgbClr val="F01414"/>
                </a:solidFill>
                <a:latin typeface="Arial"/>
              </a:defRPr>
            </a:pPr>
            <a:r>
              <a:t>Training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9436608" y="6080760"/>
            <a:ext cx="2093976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0" i="0" u="none">
                <a:solidFill>
                  <a:srgbClr val="000000"/>
                </a:solidFill>
                <a:latin typeface="DejaVu Serif"/>
              </a:defRPr>
            </a:pPr>
            <a:r>
              <a:t>min D (MLLM(v + δ,t), yₜₐᵣ)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2" b="0" i="0" u="none">
                <a:solidFill>
                  <a:srgbClr val="000000"/>
                </a:solidFill>
                <a:latin typeface="DejaVu Serif"/>
              </a:defRPr>
            </a:pPr>
            <a:r>
              <a:t>‖δ‖≤η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1996928" y="5742432"/>
            <a:ext cx="18105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12" b="0" i="1" u="none">
                <a:solidFill>
                  <a:srgbClr val="000000"/>
                </a:solidFill>
                <a:latin typeface="DejaVu Serif"/>
              </a:defRPr>
            </a:pPr>
            <a:r>
              <a:t>MLLM(v + δ,t)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2042648" y="6364224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 i="0" u="none">
                <a:solidFill>
                  <a:srgbClr val="000000"/>
                </a:solidFill>
                <a:latin typeface="DejaVu Serif"/>
              </a:defRPr>
            </a:pPr>
            <a:r>
              <a:t>yₜₐᵣ: I am sorry.</a:t>
            </a:r>
          </a:p>
        </p:txBody>
      </p:sp>
      <p:cxnSp>
        <p:nvCxnSpPr>
          <p:cNvPr id="302" name="Connector 301"/>
          <p:cNvCxnSpPr/>
          <p:nvPr/>
        </p:nvCxnSpPr>
        <p:spPr>
          <a:xfrm>
            <a:off x="11649456" y="6318504"/>
            <a:ext cx="82296" cy="0"/>
          </a:xfrm>
          <a:prstGeom prst="line">
            <a:avLst/>
          </a:prstGeom>
          <a:ln w="1828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11731752" y="5870448"/>
            <a:ext cx="0" cy="448056"/>
          </a:xfrm>
          <a:prstGeom prst="line">
            <a:avLst/>
          </a:prstGeom>
          <a:ln w="1828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11731752" y="5870448"/>
            <a:ext cx="155448" cy="0"/>
          </a:xfrm>
          <a:prstGeom prst="line">
            <a:avLst/>
          </a:prstGeom>
          <a:ln w="1828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11731752" y="6547104"/>
            <a:ext cx="155448" cy="0"/>
          </a:xfrm>
          <a:prstGeom prst="line">
            <a:avLst/>
          </a:prstGeom>
          <a:ln w="18288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TextBox 305"/>
          <p:cNvSpPr txBox="1"/>
          <p:nvPr/>
        </p:nvSpPr>
        <p:spPr>
          <a:xfrm>
            <a:off x="14328648" y="5340096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1" i="0" u="none">
                <a:solidFill>
                  <a:srgbClr val="F01414"/>
                </a:solidFill>
                <a:latin typeface="Arial"/>
              </a:defRPr>
            </a:pPr>
            <a:r>
              <a:t>Successful attack</a:t>
            </a:r>
          </a:p>
        </p:txBody>
      </p:sp>
      <p:cxnSp>
        <p:nvCxnSpPr>
          <p:cNvPr id="307" name="Connector 306"/>
          <p:cNvCxnSpPr/>
          <p:nvPr/>
        </p:nvCxnSpPr>
        <p:spPr>
          <a:xfrm>
            <a:off x="16495776" y="5285232"/>
            <a:ext cx="0" cy="548640"/>
          </a:xfrm>
          <a:prstGeom prst="line">
            <a:avLst/>
          </a:prstGeom>
          <a:ln w="27432">
            <a:solidFill>
              <a:srgbClr val="F0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8" name="Picture 307" descr="dev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24376" y="5303520"/>
            <a:ext cx="566928" cy="557784"/>
          </a:xfrm>
          <a:prstGeom prst="rect">
            <a:avLst/>
          </a:prstGeom>
        </p:spPr>
      </p:pic>
      <p:sp>
        <p:nvSpPr>
          <p:cNvPr id="309" name="TextBox 308"/>
          <p:cNvSpPr txBox="1"/>
          <p:nvPr/>
        </p:nvSpPr>
        <p:spPr>
          <a:xfrm>
            <a:off x="14593824" y="6025896"/>
            <a:ext cx="2624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1" i="0" u="none">
                <a:solidFill>
                  <a:srgbClr val="000000"/>
                </a:solidFill>
                <a:latin typeface="Arial"/>
              </a:defRPr>
            </a:pPr>
            <a:r>
              <a:t>Answer: I am sorry.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4538960" y="6501384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16" b="1" i="0" u="none">
                <a:solidFill>
                  <a:srgbClr val="000000"/>
                </a:solidFill>
                <a:latin typeface="Arial"/>
              </a:defRPr>
            </a:pPr>
            <a:r>
              <a:t>Original answer: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16" b="1" i="0" u="none">
                <a:solidFill>
                  <a:srgbClr val="000000"/>
                </a:solidFill>
                <a:latin typeface="Arial"/>
              </a:defRPr>
            </a:pPr>
            <a:r>
              <a:t>A cat.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37160" y="7104888"/>
            <a:ext cx="3483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 i="0" u="sng">
                <a:solidFill>
                  <a:srgbClr val="5E84BD"/>
                </a:solidFill>
                <a:latin typeface="Arial"/>
              </a:defRPr>
            </a:pPr>
            <a:r>
              <a:t>Image Distribution Approximation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3749039" y="7104888"/>
            <a:ext cx="52395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 i="0" u="sng">
                <a:solidFill>
                  <a:srgbClr val="9467AD"/>
                </a:solidFill>
                <a:latin typeface="Arial"/>
              </a:defRPr>
            </a:pPr>
            <a:r>
              <a:t>Prompt Distribution Approximation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9198864" y="7104888"/>
            <a:ext cx="82387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96" b="1" i="0" u="sng">
                <a:solidFill>
                  <a:srgbClr val="000000"/>
                </a:solidFill>
                <a:latin typeface="Arial"/>
              </a:defRPr>
            </a:pPr>
            <a:r>
              <a:t>Distribution-Driven Perturbation Optimization via Monte Carlo Sampling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Fit the Distribution Cross-ImagePrompt Adversarial Attacks on Multimodal Large Language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29048" cy="7397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