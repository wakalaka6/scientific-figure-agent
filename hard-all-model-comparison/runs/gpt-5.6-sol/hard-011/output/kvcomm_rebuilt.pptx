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674821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23122" y="102467"/>
            <a:ext cx="9478239" cy="3959635"/>
          </a:xfrm>
          <a:prstGeom prst="roundRect">
            <a:avLst/>
          </a:prstGeom>
          <a:solidFill>
            <a:srgbClr val="A9D28F"/>
          </a:solidFill>
          <a:ln w="14731">
            <a:solidFill>
              <a:srgbClr val="4D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23122" y="109786"/>
            <a:ext cx="9478239" cy="475741"/>
          </a:xfrm>
          <a:prstGeom prst="roundRect">
            <a:avLst/>
          </a:prstGeom>
          <a:solidFill>
            <a:srgbClr val="7E718B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23122" y="431827"/>
            <a:ext cx="9478239" cy="153701"/>
          </a:xfrm>
          <a:prstGeom prst="rect">
            <a:avLst/>
          </a:prstGeom>
          <a:solidFill>
            <a:srgbClr val="7E718B"/>
          </a:solidFill>
          <a:ln w="3175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23122" y="124424"/>
            <a:ext cx="9478239" cy="402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79" b="1" i="0">
                <a:solidFill>
                  <a:srgbClr val="FFFFFF"/>
                </a:solidFill>
                <a:latin typeface="Arial"/>
              </a:defRPr>
            </a:pPr>
            <a:r>
              <a:t>KV-cache Communication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30441" y="585528"/>
            <a:ext cx="3337511" cy="3242362"/>
          </a:xfrm>
          <a:prstGeom prst="rect">
            <a:avLst/>
          </a:prstGeom>
          <a:solidFill>
            <a:srgbClr val="DDD4E4"/>
          </a:solidFill>
          <a:ln w="3175">
            <a:solidFill>
              <a:srgbClr val="DDD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67953" y="585528"/>
            <a:ext cx="3183810" cy="3242362"/>
          </a:xfrm>
          <a:prstGeom prst="rect">
            <a:avLst/>
          </a:prstGeom>
          <a:solidFill>
            <a:srgbClr val="FBE7D5"/>
          </a:solidFill>
          <a:ln w="3175">
            <a:solidFill>
              <a:srgbClr val="FBE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51763" y="585528"/>
            <a:ext cx="2934960" cy="3242362"/>
          </a:xfrm>
          <a:prstGeom prst="rect">
            <a:avLst/>
          </a:prstGeom>
          <a:solidFill>
            <a:srgbClr val="A9D28F"/>
          </a:solidFill>
          <a:ln w="3175">
            <a:solidFill>
              <a:srgbClr val="A9D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8271" y="578209"/>
            <a:ext cx="3147214" cy="329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73" b="1" i="0">
                <a:solidFill>
                  <a:srgbClr val="000000"/>
                </a:solidFill>
                <a:latin typeface="Arial"/>
              </a:defRPr>
            </a:pPr>
            <a:r>
              <a:t>Anchor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7953" y="578209"/>
            <a:ext cx="3183810" cy="329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58" b="1" i="0">
                <a:solidFill>
                  <a:srgbClr val="000000"/>
                </a:solidFill>
                <a:latin typeface="Arial"/>
              </a:defRPr>
            </a:pPr>
            <a:r>
              <a:t>Offset Approximation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51763" y="578209"/>
            <a:ext cx="2934960" cy="329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000000"/>
                </a:solidFill>
                <a:latin typeface="Arial"/>
              </a:defRPr>
            </a:pPr>
            <a:r>
              <a:t>Anchor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6610" y="1031993"/>
            <a:ext cx="1244247" cy="1171056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0014" y="995398"/>
            <a:ext cx="1244247" cy="1171056"/>
          </a:xfrm>
          <a:prstGeom prst="rect">
            <a:avLst/>
          </a:prstGeom>
          <a:solidFill>
            <a:srgbClr val="FFFEFC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0014" y="995398"/>
            <a:ext cx="1244247" cy="278125"/>
          </a:xfrm>
          <a:prstGeom prst="rect">
            <a:avLst/>
          </a:prstGeom>
          <a:solidFill>
            <a:srgbClr val="BEB3C6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8567" y="980759"/>
            <a:ext cx="1141780" cy="285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2" b="1" i="0">
                <a:solidFill>
                  <a:srgbClr val="111111"/>
                </a:solidFill>
                <a:latin typeface="DejaVu Serif"/>
              </a:defRPr>
            </a:pPr>
            <a:r>
              <a:t>φ(₁,₁) Pool</a:t>
            </a:r>
          </a:p>
        </p:txBody>
      </p:sp>
      <p:sp>
        <p:nvSpPr>
          <p:cNvPr id="16" name="Oval 15"/>
          <p:cNvSpPr/>
          <p:nvPr/>
        </p:nvSpPr>
        <p:spPr>
          <a:xfrm>
            <a:off x="4567120" y="1368672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8437" y="1566288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13669" y="1507735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32992" y="1815137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2648" y="1917605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67370" y="1793180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01415" y="1683393"/>
            <a:ext cx="424508" cy="424508"/>
          </a:xfrm>
          <a:prstGeom prst="ellipse">
            <a:avLst/>
          </a:prstGeom>
          <a:solidFill>
            <a:srgbClr val="DCE3F5"/>
          </a:solidFill>
          <a:ln w="7365">
            <a:solidFill>
              <a:srgbClr val="D4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5-Point Star 22"/>
          <p:cNvSpPr/>
          <p:nvPr/>
        </p:nvSpPr>
        <p:spPr>
          <a:xfrm>
            <a:off x="5218520" y="1793180"/>
            <a:ext cx="190296" cy="190296"/>
          </a:xfrm>
          <a:prstGeom prst="star5">
            <a:avLst/>
          </a:prstGeom>
          <a:solidFill>
            <a:srgbClr val="F07B34"/>
          </a:solidFill>
          <a:ln w="10160">
            <a:solidFill>
              <a:srgbClr val="9A3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77240" y="1031993"/>
            <a:ext cx="1244247" cy="1171056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40644" y="995398"/>
            <a:ext cx="1244247" cy="1171056"/>
          </a:xfrm>
          <a:prstGeom prst="rect">
            <a:avLst/>
          </a:prstGeom>
          <a:solidFill>
            <a:srgbClr val="FFFEFC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0644" y="995398"/>
            <a:ext cx="1244247" cy="278125"/>
          </a:xfrm>
          <a:prstGeom prst="rect">
            <a:avLst/>
          </a:prstGeom>
          <a:solidFill>
            <a:srgbClr val="BEB3C6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9197" y="980759"/>
            <a:ext cx="1141780" cy="285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2" b="1" i="0">
                <a:solidFill>
                  <a:srgbClr val="111111"/>
                </a:solidFill>
                <a:latin typeface="DejaVu Serif"/>
              </a:defRPr>
            </a:pPr>
            <a:r>
              <a:t>φ(₁,₂) Pool</a:t>
            </a:r>
          </a:p>
        </p:txBody>
      </p:sp>
      <p:sp>
        <p:nvSpPr>
          <p:cNvPr id="28" name="Oval 27"/>
          <p:cNvSpPr/>
          <p:nvPr/>
        </p:nvSpPr>
        <p:spPr>
          <a:xfrm>
            <a:off x="6067536" y="1405267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4002" y="1310119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4002" y="1529692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40894" y="1529692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21237" y="1822456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99447" y="1939562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06683" y="2020072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92044" y="1683393"/>
            <a:ext cx="424508" cy="424508"/>
          </a:xfrm>
          <a:prstGeom prst="ellipse">
            <a:avLst/>
          </a:prstGeom>
          <a:solidFill>
            <a:srgbClr val="DCE3F5"/>
          </a:solidFill>
          <a:ln w="7365">
            <a:solidFill>
              <a:srgbClr val="D4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5-Point Star 35"/>
          <p:cNvSpPr/>
          <p:nvPr/>
        </p:nvSpPr>
        <p:spPr>
          <a:xfrm>
            <a:off x="6609150" y="1793180"/>
            <a:ext cx="190296" cy="190296"/>
          </a:xfrm>
          <a:prstGeom prst="star5">
            <a:avLst/>
          </a:prstGeom>
          <a:solidFill>
            <a:srgbClr val="6CAB4D"/>
          </a:solidFill>
          <a:ln w="10160">
            <a:solidFill>
              <a:srgbClr val="596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6610" y="2305517"/>
            <a:ext cx="1244247" cy="1171056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50014" y="2268922"/>
            <a:ext cx="1244247" cy="1171056"/>
          </a:xfrm>
          <a:prstGeom prst="rect">
            <a:avLst/>
          </a:prstGeom>
          <a:solidFill>
            <a:srgbClr val="FFFEFC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50014" y="2268922"/>
            <a:ext cx="1244247" cy="278125"/>
          </a:xfrm>
          <a:prstGeom prst="rect">
            <a:avLst/>
          </a:prstGeom>
          <a:solidFill>
            <a:srgbClr val="BEB3C6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8567" y="2254283"/>
            <a:ext cx="1141780" cy="285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2" b="1" i="0">
                <a:solidFill>
                  <a:srgbClr val="111111"/>
                </a:solidFill>
                <a:latin typeface="DejaVu Serif"/>
              </a:defRPr>
            </a:pPr>
            <a:r>
              <a:t>φ(₁,₃) Pool</a:t>
            </a:r>
          </a:p>
        </p:txBody>
      </p:sp>
      <p:sp>
        <p:nvSpPr>
          <p:cNvPr id="41" name="Oval 40"/>
          <p:cNvSpPr/>
          <p:nvPr/>
        </p:nvSpPr>
        <p:spPr>
          <a:xfrm>
            <a:off x="4632992" y="2671472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72055" y="2590962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159967" y="2612919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18354" y="3015470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969671" y="3139895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467370" y="3022789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918437" y="3278958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101415" y="2956917"/>
            <a:ext cx="424508" cy="424508"/>
          </a:xfrm>
          <a:prstGeom prst="ellipse">
            <a:avLst/>
          </a:prstGeom>
          <a:solidFill>
            <a:srgbClr val="DCE3F5"/>
          </a:solidFill>
          <a:ln w="7365">
            <a:solidFill>
              <a:srgbClr val="D4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5-Point Star 48"/>
          <p:cNvSpPr/>
          <p:nvPr/>
        </p:nvSpPr>
        <p:spPr>
          <a:xfrm>
            <a:off x="5218520" y="3066704"/>
            <a:ext cx="190296" cy="190296"/>
          </a:xfrm>
          <a:prstGeom prst="star5">
            <a:avLst/>
          </a:prstGeom>
          <a:solidFill>
            <a:srgbClr val="F07B34"/>
          </a:solidFill>
          <a:ln w="10160">
            <a:solidFill>
              <a:srgbClr val="9A3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77240" y="2305517"/>
            <a:ext cx="1244247" cy="1171056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40644" y="2268922"/>
            <a:ext cx="1244247" cy="1171056"/>
          </a:xfrm>
          <a:prstGeom prst="rect">
            <a:avLst/>
          </a:prstGeom>
          <a:solidFill>
            <a:srgbClr val="FFFEFC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40644" y="2268922"/>
            <a:ext cx="1244247" cy="278125"/>
          </a:xfrm>
          <a:prstGeom prst="rect">
            <a:avLst/>
          </a:prstGeom>
          <a:solidFill>
            <a:srgbClr val="BEB3C6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9197" y="2254283"/>
            <a:ext cx="1141780" cy="285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2" b="1" i="0">
                <a:solidFill>
                  <a:srgbClr val="111111"/>
                </a:solidFill>
                <a:latin typeface="DejaVu Serif"/>
              </a:defRPr>
            </a:pPr>
            <a:r>
              <a:t>φ(₂,₁) Pool</a:t>
            </a:r>
          </a:p>
        </p:txBody>
      </p:sp>
      <p:sp>
        <p:nvSpPr>
          <p:cNvPr id="54" name="Oval 53"/>
          <p:cNvSpPr/>
          <p:nvPr/>
        </p:nvSpPr>
        <p:spPr>
          <a:xfrm>
            <a:off x="6030941" y="2656834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70087" y="2620239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740894" y="2686110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04132" y="3044747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16469" y="3044747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865319" y="3125257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418853" y="3271639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92044" y="2956917"/>
            <a:ext cx="424508" cy="424508"/>
          </a:xfrm>
          <a:prstGeom prst="ellipse">
            <a:avLst/>
          </a:prstGeom>
          <a:solidFill>
            <a:srgbClr val="DCE3F5"/>
          </a:solidFill>
          <a:ln w="7365">
            <a:solidFill>
              <a:srgbClr val="D4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5-Point Star 61"/>
          <p:cNvSpPr/>
          <p:nvPr/>
        </p:nvSpPr>
        <p:spPr>
          <a:xfrm>
            <a:off x="6609150" y="3066704"/>
            <a:ext cx="190296" cy="190296"/>
          </a:xfrm>
          <a:prstGeom prst="star5">
            <a:avLst/>
          </a:prstGeom>
          <a:solidFill>
            <a:srgbClr val="6CAB4D"/>
          </a:solidFill>
          <a:ln w="10160">
            <a:solidFill>
              <a:srgbClr val="596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43445" y="1741946"/>
            <a:ext cx="548932" cy="241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97" b="1" i="0">
                <a:solidFill>
                  <a:srgbClr val="000000"/>
                </a:solidFill>
                <a:latin typeface="Arial"/>
              </a:defRPr>
            </a:pPr>
            <a:r>
              <a:t>Hit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194678" y="2063987"/>
            <a:ext cx="702634" cy="0"/>
          </a:xfrm>
          <a:prstGeom prst="line">
            <a:avLst/>
          </a:prstGeom>
          <a:ln w="58927">
            <a:solidFill>
              <a:srgbClr val="7E71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7187359" y="2195731"/>
            <a:ext cx="58552" cy="58552"/>
          </a:xfrm>
          <a:prstGeom prst="ellipse">
            <a:avLst/>
          </a:prstGeom>
          <a:solidFill>
            <a:srgbClr val="7E718B"/>
          </a:solidFill>
          <a:ln w="3175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7146" y="2195731"/>
            <a:ext cx="58552" cy="58552"/>
          </a:xfrm>
          <a:prstGeom prst="ellipse">
            <a:avLst/>
          </a:prstGeom>
          <a:solidFill>
            <a:srgbClr val="7E718B"/>
          </a:solidFill>
          <a:ln w="3175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06932" y="2195731"/>
            <a:ext cx="58552" cy="58552"/>
          </a:xfrm>
          <a:prstGeom prst="ellipse">
            <a:avLst/>
          </a:prstGeom>
          <a:solidFill>
            <a:srgbClr val="7E718B"/>
          </a:solidFill>
          <a:ln w="3175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860717" y="1134461"/>
            <a:ext cx="936845" cy="936845"/>
          </a:xfrm>
          <a:prstGeom prst="ellipse">
            <a:avLst/>
          </a:prstGeom>
          <a:solidFill>
            <a:srgbClr val="DCE3F5"/>
          </a:solidFill>
          <a:ln w="14731">
            <a:solidFill>
              <a:srgbClr val="CEB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5-Point Star 68"/>
          <p:cNvSpPr/>
          <p:nvPr/>
        </p:nvSpPr>
        <p:spPr>
          <a:xfrm>
            <a:off x="8197395" y="1419906"/>
            <a:ext cx="248849" cy="248849"/>
          </a:xfrm>
          <a:prstGeom prst="star5">
            <a:avLst/>
          </a:prstGeom>
          <a:solidFill>
            <a:srgbClr val="F07B34"/>
          </a:solidFill>
          <a:ln w="10160">
            <a:solidFill>
              <a:srgbClr val="8F3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036375" y="1734627"/>
            <a:ext cx="146382" cy="146382"/>
          </a:xfrm>
          <a:prstGeom prst="ellipse">
            <a:avLst/>
          </a:prstGeom>
          <a:solidFill>
            <a:srgbClr val="C3AB85"/>
          </a:solidFill>
          <a:ln w="3175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H="1">
            <a:off x="8109566" y="1544330"/>
            <a:ext cx="212254" cy="256169"/>
          </a:xfrm>
          <a:prstGeom prst="line">
            <a:avLst/>
          </a:prstGeom>
          <a:ln w="22097">
            <a:solidFill>
              <a:srgbClr val="1111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321820" y="1544330"/>
            <a:ext cx="248850" cy="241531"/>
          </a:xfrm>
          <a:prstGeom prst="line">
            <a:avLst/>
          </a:prstGeom>
          <a:ln w="22097">
            <a:solidFill>
              <a:srgbClr val="1111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933908" y="1478458"/>
            <a:ext cx="322040" cy="2122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9" b="1" i="1">
                <a:solidFill>
                  <a:srgbClr val="111111"/>
                </a:solidFill>
                <a:latin typeface="DejaVu Serif"/>
              </a:defRPr>
            </a:pPr>
            <a:r>
              <a:t>w₁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6969" y="1493097"/>
            <a:ext cx="365955" cy="2122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9" b="1" i="1">
                <a:solidFill>
                  <a:srgbClr val="111111"/>
                </a:solidFill>
                <a:latin typeface="DejaVu Serif"/>
              </a:defRPr>
            </a:pPr>
            <a:r>
              <a:t>w₂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9056" y="1822456"/>
            <a:ext cx="256168" cy="1829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6" b="0" i="0">
                <a:solidFill>
                  <a:srgbClr val="111111"/>
                </a:solidFill>
                <a:latin typeface="DejaVu Serif"/>
              </a:defRPr>
            </a:pPr>
            <a:r>
              <a:t>(1)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5735" y="1822456"/>
            <a:ext cx="256168" cy="1829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6" b="0" i="0">
                <a:solidFill>
                  <a:srgbClr val="111111"/>
                </a:solidFill>
                <a:latin typeface="DejaVu Serif"/>
              </a:defRPr>
            </a:pPr>
            <a:r>
              <a:t>(2)</a:t>
            </a:r>
          </a:p>
        </p:txBody>
      </p:sp>
      <p:sp>
        <p:nvSpPr>
          <p:cNvPr id="77" name="Oval 76"/>
          <p:cNvSpPr/>
          <p:nvPr/>
        </p:nvSpPr>
        <p:spPr>
          <a:xfrm>
            <a:off x="8995178" y="1602883"/>
            <a:ext cx="175658" cy="175658"/>
          </a:xfrm>
          <a:prstGeom prst="ellipse">
            <a:avLst/>
          </a:prstGeom>
          <a:solidFill>
            <a:srgbClr val="C3AB85"/>
          </a:solidFill>
          <a:ln w="3175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8812200" y="1698032"/>
            <a:ext cx="168340" cy="0"/>
          </a:xfrm>
          <a:prstGeom prst="line">
            <a:avLst/>
          </a:prstGeom>
          <a:ln w="22097">
            <a:solidFill>
              <a:srgbClr val="C3A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8995178" y="1068589"/>
            <a:ext cx="1705351" cy="1141780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58582" y="1031993"/>
            <a:ext cx="1705351" cy="1141780"/>
          </a:xfrm>
          <a:prstGeom prst="rect">
            <a:avLst/>
          </a:prstGeom>
          <a:solidFill>
            <a:srgbClr val="FFFEFC"/>
          </a:solidFill>
          <a:ln w="11048">
            <a:solidFill>
              <a:srgbClr val="A7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39092" y="1046631"/>
            <a:ext cx="1558969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24" b="1" i="0">
                <a:solidFill>
                  <a:srgbClr val="111111"/>
                </a:solidFill>
                <a:latin typeface="Arial"/>
              </a:defRPr>
            </a:pPr>
            <a:r>
              <a:t>Each φ(₁,₁) Anchor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19602" y="1302800"/>
            <a:ext cx="219573" cy="6879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32" b="0" i="0">
                <a:solidFill>
                  <a:srgbClr val="000000"/>
                </a:solidFill>
                <a:latin typeface="DejaVu Serif"/>
              </a:defRPr>
            </a:pPr>
            <a:r>
              <a:t>{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90409" y="1295481"/>
            <a:ext cx="1002717" cy="256168"/>
          </a:xfrm>
          <a:prstGeom prst="rect">
            <a:avLst/>
          </a:prstGeom>
          <a:solidFill>
            <a:srgbClr val="FFF8F0"/>
          </a:solidFill>
          <a:ln w="8102">
            <a:solidFill>
              <a:srgbClr val="C6A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12367" y="1288162"/>
            <a:ext cx="958802" cy="256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hφ(₁,₁)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390409" y="1573607"/>
            <a:ext cx="1193013" cy="256168"/>
          </a:xfrm>
          <a:prstGeom prst="rect">
            <a:avLst/>
          </a:prstGeom>
          <a:solidFill>
            <a:srgbClr val="FFF8F0"/>
          </a:solidFill>
          <a:ln w="8102">
            <a:solidFill>
              <a:srgbClr val="C6A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12367" y="1566288"/>
            <a:ext cx="1149099" cy="256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DejaVu Serif"/>
              </a:defRPr>
            </a:pPr>
            <a:r>
              <a:t>(Δk, Δv) φ(₁,₁)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90409" y="1851733"/>
            <a:ext cx="1193013" cy="256168"/>
          </a:xfrm>
          <a:prstGeom prst="rect">
            <a:avLst/>
          </a:prstGeom>
          <a:solidFill>
            <a:srgbClr val="FFF8F0"/>
          </a:solidFill>
          <a:ln w="8102">
            <a:solidFill>
              <a:srgbClr val="C6A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12367" y="1844414"/>
            <a:ext cx="1149099" cy="256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DejaVu Serif"/>
              </a:defRPr>
            </a:pPr>
            <a:r>
              <a:t>(Δk, Δv) p(₁,₁)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70420" y="2188411"/>
            <a:ext cx="629442" cy="1390629"/>
          </a:xfrm>
          <a:prstGeom prst="rect">
            <a:avLst/>
          </a:prstGeom>
          <a:solidFill>
            <a:srgbClr val="FFF8F2"/>
          </a:solidFill>
          <a:ln w="18415">
            <a:solidFill>
              <a:srgbClr val="D25A0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14335" y="2239645"/>
            <a:ext cx="556251" cy="292764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36292" y="2232326"/>
            <a:ext cx="512337" cy="2927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24" b="1" i="0">
                <a:solidFill>
                  <a:srgbClr val="111111"/>
                </a:solidFill>
                <a:latin typeface="DejaVu Serif"/>
              </a:defRPr>
            </a:pPr>
            <a:r>
              <a:t>φ(₁,₁)</a:t>
            </a:r>
          </a:p>
        </p:txBody>
      </p:sp>
      <p:cxnSp>
        <p:nvCxnSpPr>
          <p:cNvPr id="92" name="Connector 91"/>
          <p:cNvCxnSpPr/>
          <p:nvPr/>
        </p:nvCxnSpPr>
        <p:spPr>
          <a:xfrm flipV="1">
            <a:off x="7780207" y="2261602"/>
            <a:ext cx="175658" cy="248850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911950" y="2261602"/>
            <a:ext cx="175659" cy="248850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043694" y="2261602"/>
            <a:ext cx="175659" cy="248850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7714335" y="2920322"/>
            <a:ext cx="556251" cy="292764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36292" y="2913003"/>
            <a:ext cx="512337" cy="2927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24" b="1" i="0">
                <a:solidFill>
                  <a:srgbClr val="111111"/>
                </a:solidFill>
                <a:latin typeface="DejaVu Serif"/>
              </a:defRPr>
            </a:pPr>
            <a:r>
              <a:t>p(₁,₁)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72887" y="3242362"/>
            <a:ext cx="439146" cy="2927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70" b="1" i="0">
                <a:solidFill>
                  <a:srgbClr val="743000"/>
                </a:solidFill>
                <a:latin typeface="Arial"/>
              </a:defRPr>
            </a:pPr>
            <a:r>
              <a:t>•••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92544" y="2225007"/>
            <a:ext cx="190296" cy="3074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70" b="0" i="0">
                <a:solidFill>
                  <a:srgbClr val="111111"/>
                </a:solidFill>
                <a:latin typeface="DejaVu Serif"/>
              </a:defRPr>
            </a:pPr>
            <a:r>
              <a:t>=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490160" y="2246964"/>
            <a:ext cx="556251" cy="270806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12117" y="2239645"/>
            <a:ext cx="512337" cy="270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9" b="1" i="0">
                <a:solidFill>
                  <a:srgbClr val="111111"/>
                </a:solidFill>
                <a:latin typeface="DejaVu Serif"/>
              </a:defRPr>
            </a:pPr>
            <a:r>
              <a:t>φ(₁,₁)</a:t>
            </a:r>
          </a:p>
        </p:txBody>
      </p:sp>
      <p:cxnSp>
        <p:nvCxnSpPr>
          <p:cNvPr id="101" name="Connector 100"/>
          <p:cNvCxnSpPr/>
          <p:nvPr/>
        </p:nvCxnSpPr>
        <p:spPr>
          <a:xfrm flipV="1">
            <a:off x="8556032" y="2268922"/>
            <a:ext cx="175658" cy="226892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687775" y="2268922"/>
            <a:ext cx="175659" cy="226892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819519" y="2268922"/>
            <a:ext cx="175659" cy="226892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061050" y="2232326"/>
            <a:ext cx="1646798" cy="3147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111111"/>
                </a:solidFill>
                <a:latin typeface="DejaVu Serif"/>
              </a:defRPr>
            </a:pPr>
            <a:r>
              <a:t>+ w₁(Δk, Δv) φ(₁)⁽¹⁾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61050" y="2547048"/>
            <a:ext cx="1646798" cy="3147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111111"/>
                </a:solidFill>
                <a:latin typeface="DejaVu Serif"/>
              </a:defRPr>
            </a:pPr>
            <a:r>
              <a:t>+ w₂(Δk, Δv) φ(₂)⁽¹⁾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92544" y="2927641"/>
            <a:ext cx="190296" cy="3074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70" b="0" i="0">
                <a:solidFill>
                  <a:srgbClr val="111111"/>
                </a:solidFill>
                <a:latin typeface="DejaVu Serif"/>
              </a:defRPr>
            </a:pPr>
            <a:r>
              <a:t>=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490160" y="2934960"/>
            <a:ext cx="556251" cy="270806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12117" y="2927641"/>
            <a:ext cx="512337" cy="270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9" b="1" i="0">
                <a:solidFill>
                  <a:srgbClr val="111111"/>
                </a:solidFill>
                <a:latin typeface="DejaVu Serif"/>
              </a:defRPr>
            </a:pPr>
            <a:r>
              <a:t>p(₁,₁)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61050" y="2905684"/>
            <a:ext cx="1646798" cy="3147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111111"/>
                </a:solidFill>
                <a:latin typeface="DejaVu Serif"/>
              </a:defRPr>
            </a:pPr>
            <a:r>
              <a:t>+ w₁(Δk, Δv) p(₁)⁽¹⁾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61050" y="3220405"/>
            <a:ext cx="1646798" cy="3147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0" i="0">
                <a:solidFill>
                  <a:srgbClr val="111111"/>
                </a:solidFill>
                <a:latin typeface="DejaVu Serif"/>
              </a:defRPr>
            </a:pPr>
            <a:r>
              <a:t>+ w₂(Δk, Δv) p(₂)⁽¹⁾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861549" y="958802"/>
            <a:ext cx="1368672" cy="2949598"/>
          </a:xfrm>
          <a:prstGeom prst="roundRect">
            <a:avLst/>
          </a:prstGeom>
          <a:solidFill>
            <a:srgbClr val="FFFFFF"/>
          </a:solidFill>
          <a:ln w="22097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964017" y="1053950"/>
            <a:ext cx="1236928" cy="1141780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927421" y="1017355"/>
            <a:ext cx="1236928" cy="1141780"/>
          </a:xfrm>
          <a:prstGeom prst="rect">
            <a:avLst/>
          </a:prstGeom>
          <a:solidFill>
            <a:srgbClr val="FFFEFC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927421" y="1017355"/>
            <a:ext cx="1236928" cy="270806"/>
          </a:xfrm>
          <a:prstGeom prst="rect">
            <a:avLst/>
          </a:prstGeom>
          <a:solidFill>
            <a:srgbClr val="BEB3C6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964017" y="1024674"/>
            <a:ext cx="1163737" cy="241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7" b="1" i="0">
                <a:solidFill>
                  <a:srgbClr val="111111"/>
                </a:solidFill>
                <a:latin typeface="DejaVu Serif"/>
              </a:defRPr>
            </a:pPr>
            <a:r>
              <a:t>hφ  Unmatched</a:t>
            </a:r>
          </a:p>
        </p:txBody>
      </p:sp>
      <p:sp>
        <p:nvSpPr>
          <p:cNvPr id="116" name="Oval 115"/>
          <p:cNvSpPr/>
          <p:nvPr/>
        </p:nvSpPr>
        <p:spPr>
          <a:xfrm>
            <a:off x="11051846" y="1405267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322653" y="1676074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54480" y="1493097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512949" y="1866371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864266" y="1793180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564183" y="1515054"/>
            <a:ext cx="409869" cy="409869"/>
          </a:xfrm>
          <a:prstGeom prst="ellipse">
            <a:avLst/>
          </a:prstGeom>
          <a:solidFill>
            <a:srgbClr val="DCE3F5"/>
          </a:solidFill>
          <a:ln w="7365">
            <a:solidFill>
              <a:srgbClr val="D4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5-Point Star 121"/>
          <p:cNvSpPr/>
          <p:nvPr/>
        </p:nvSpPr>
        <p:spPr>
          <a:xfrm>
            <a:off x="11681289" y="1632160"/>
            <a:ext cx="175658" cy="175658"/>
          </a:xfrm>
          <a:prstGeom prst="star5">
            <a:avLst/>
          </a:prstGeom>
          <a:solidFill>
            <a:srgbClr val="F07B34"/>
          </a:solidFill>
          <a:ln w="10160">
            <a:solidFill>
              <a:srgbClr val="9A3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934740" y="2188411"/>
            <a:ext cx="1222290" cy="2195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24" b="1" i="1">
                <a:solidFill>
                  <a:srgbClr val="111111"/>
                </a:solidFill>
                <a:latin typeface="DejaVu Serif"/>
              </a:defRPr>
            </a:pPr>
            <a:r>
              <a:t>OR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964017" y="2481176"/>
            <a:ext cx="1236928" cy="1134461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927421" y="2444580"/>
            <a:ext cx="1236928" cy="1134461"/>
          </a:xfrm>
          <a:prstGeom prst="rect">
            <a:avLst/>
          </a:prstGeom>
          <a:solidFill>
            <a:srgbClr val="FFFEFC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927421" y="2444580"/>
            <a:ext cx="1236928" cy="241530"/>
          </a:xfrm>
          <a:prstGeom prst="rect">
            <a:avLst/>
          </a:prstGeom>
          <a:solidFill>
            <a:srgbClr val="BEB3C6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949378" y="2451899"/>
            <a:ext cx="1193013" cy="2122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Arial"/>
              </a:defRPr>
            </a:pPr>
            <a:r>
              <a:t>Length Uncover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1081122" y="2788578"/>
            <a:ext cx="585528" cy="95148"/>
          </a:xfrm>
          <a:prstGeom prst="round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1044527" y="2751982"/>
            <a:ext cx="585528" cy="95148"/>
          </a:xfrm>
          <a:prstGeom prst="roundRect">
            <a:avLst/>
          </a:prstGeom>
          <a:solidFill>
            <a:srgbClr val="C9B590"/>
          </a:solidFill>
          <a:ln w="7365">
            <a:solidFill>
              <a:srgbClr val="867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11081122" y="2949598"/>
            <a:ext cx="409869" cy="95148"/>
          </a:xfrm>
          <a:prstGeom prst="round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11044527" y="2913003"/>
            <a:ext cx="409869" cy="95148"/>
          </a:xfrm>
          <a:prstGeom prst="roundRect">
            <a:avLst/>
          </a:prstGeom>
          <a:solidFill>
            <a:srgbClr val="C9B590"/>
          </a:solidFill>
          <a:ln w="7365">
            <a:solidFill>
              <a:srgbClr val="867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11081122" y="3110618"/>
            <a:ext cx="731910" cy="95148"/>
          </a:xfrm>
          <a:prstGeom prst="round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1044527" y="3074023"/>
            <a:ext cx="731910" cy="95148"/>
          </a:xfrm>
          <a:prstGeom prst="roundRect">
            <a:avLst/>
          </a:prstGeom>
          <a:solidFill>
            <a:srgbClr val="C9B590"/>
          </a:solidFill>
          <a:ln w="7365">
            <a:solidFill>
              <a:srgbClr val="867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1081122" y="3286277"/>
            <a:ext cx="922207" cy="95148"/>
          </a:xfrm>
          <a:prstGeom prst="round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1044527" y="3249681"/>
            <a:ext cx="922207" cy="95148"/>
          </a:xfrm>
          <a:prstGeom prst="roundRect">
            <a:avLst/>
          </a:prstGeom>
          <a:solidFill>
            <a:srgbClr val="F4A16A"/>
          </a:solidFill>
          <a:ln w="7365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1432439" y="3630275"/>
            <a:ext cx="234211" cy="234211"/>
          </a:xfrm>
          <a:prstGeom prst="ellipse">
            <a:avLst/>
          </a:prstGeom>
          <a:solidFill>
            <a:srgbClr val="D25A0A"/>
          </a:solidFill>
          <a:ln w="7365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11490992" y="3747381"/>
            <a:ext cx="117106" cy="0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1549545" y="3688828"/>
            <a:ext cx="0" cy="117105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12244860" y="958802"/>
            <a:ext cx="1368672" cy="2949598"/>
          </a:xfrm>
          <a:prstGeom prst="roundRect">
            <a:avLst/>
          </a:prstGeom>
          <a:solidFill>
            <a:srgbClr val="FFFFFF"/>
          </a:solidFill>
          <a:ln w="22097">
            <a:solidFill>
              <a:srgbClr val="4D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2347327" y="1053950"/>
            <a:ext cx="1236928" cy="1141780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2310732" y="1017355"/>
            <a:ext cx="1236928" cy="1141780"/>
          </a:xfrm>
          <a:prstGeom prst="rect">
            <a:avLst/>
          </a:prstGeom>
          <a:solidFill>
            <a:srgbClr val="FFFEFC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2310732" y="1017355"/>
            <a:ext cx="1236928" cy="270806"/>
          </a:xfrm>
          <a:prstGeom prst="rect">
            <a:avLst/>
          </a:prstGeom>
          <a:solidFill>
            <a:srgbClr val="BEB3C6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347327" y="1024674"/>
            <a:ext cx="1163737" cy="241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7" b="1" i="0">
                <a:solidFill>
                  <a:srgbClr val="111111"/>
                </a:solidFill>
                <a:latin typeface="DejaVu Serif"/>
              </a:defRPr>
            </a:pPr>
            <a:r>
              <a:t>hφ  Matched</a:t>
            </a:r>
          </a:p>
        </p:txBody>
      </p:sp>
      <p:sp>
        <p:nvSpPr>
          <p:cNvPr id="144" name="Oval 143"/>
          <p:cNvSpPr/>
          <p:nvPr/>
        </p:nvSpPr>
        <p:spPr>
          <a:xfrm>
            <a:off x="12559581" y="1383310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2874303" y="1493097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3232939" y="1507735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2705963" y="1807818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3130471" y="1807818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2998727" y="1310119"/>
            <a:ext cx="87829" cy="87829"/>
          </a:xfrm>
          <a:prstGeom prst="ellipse">
            <a:avLst/>
          </a:prstGeom>
          <a:solidFill>
            <a:srgbClr val="C3AB85"/>
          </a:solidFill>
          <a:ln w="3682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2947494" y="1515054"/>
            <a:ext cx="409869" cy="409869"/>
          </a:xfrm>
          <a:prstGeom prst="ellipse">
            <a:avLst/>
          </a:prstGeom>
          <a:solidFill>
            <a:srgbClr val="DCE3F5"/>
          </a:solidFill>
          <a:ln w="7365">
            <a:solidFill>
              <a:srgbClr val="D4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5-Point Star 150"/>
          <p:cNvSpPr/>
          <p:nvPr/>
        </p:nvSpPr>
        <p:spPr>
          <a:xfrm>
            <a:off x="12925536" y="1632160"/>
            <a:ext cx="175658" cy="175658"/>
          </a:xfrm>
          <a:prstGeom prst="star5">
            <a:avLst/>
          </a:prstGeom>
          <a:solidFill>
            <a:srgbClr val="F07B34"/>
          </a:solidFill>
          <a:ln w="10160">
            <a:solidFill>
              <a:srgbClr val="9A3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2318051" y="2188411"/>
            <a:ext cx="1222290" cy="2195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24" b="1" i="1">
                <a:solidFill>
                  <a:srgbClr val="111111"/>
                </a:solidFill>
                <a:latin typeface="DejaVu Serif"/>
              </a:defRPr>
            </a:pPr>
            <a:r>
              <a:t>AND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2347327" y="2481176"/>
            <a:ext cx="1236928" cy="1134461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2310732" y="2444580"/>
            <a:ext cx="1236928" cy="1134461"/>
          </a:xfrm>
          <a:prstGeom prst="rect">
            <a:avLst/>
          </a:prstGeom>
          <a:solidFill>
            <a:srgbClr val="FFFEFC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2310732" y="2444580"/>
            <a:ext cx="1236928" cy="241530"/>
          </a:xfrm>
          <a:prstGeom prst="rect">
            <a:avLst/>
          </a:prstGeom>
          <a:solidFill>
            <a:srgbClr val="BEB3C6"/>
          </a:solidFill>
          <a:ln w="29463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2332689" y="2451899"/>
            <a:ext cx="1193013" cy="2122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Arial"/>
              </a:defRPr>
            </a:pPr>
            <a:r>
              <a:t>Length Covered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64433" y="2788578"/>
            <a:ext cx="607485" cy="95148"/>
          </a:xfrm>
          <a:prstGeom prst="round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12427837" y="2751982"/>
            <a:ext cx="607485" cy="95148"/>
          </a:xfrm>
          <a:prstGeom prst="roundRect">
            <a:avLst/>
          </a:prstGeom>
          <a:solidFill>
            <a:srgbClr val="C9B590"/>
          </a:solidFill>
          <a:ln w="7365">
            <a:solidFill>
              <a:srgbClr val="867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2464433" y="2949598"/>
            <a:ext cx="402550" cy="95148"/>
          </a:xfrm>
          <a:prstGeom prst="round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12427837" y="2913003"/>
            <a:ext cx="402550" cy="95148"/>
          </a:xfrm>
          <a:prstGeom prst="roundRect">
            <a:avLst/>
          </a:prstGeom>
          <a:solidFill>
            <a:srgbClr val="C9B590"/>
          </a:solidFill>
          <a:ln w="7365">
            <a:solidFill>
              <a:srgbClr val="867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2464433" y="3110618"/>
            <a:ext cx="746548" cy="95148"/>
          </a:xfrm>
          <a:prstGeom prst="round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12427837" y="3074023"/>
            <a:ext cx="746548" cy="95148"/>
          </a:xfrm>
          <a:prstGeom prst="roundRect">
            <a:avLst/>
          </a:prstGeom>
          <a:solidFill>
            <a:srgbClr val="C9B590"/>
          </a:solidFill>
          <a:ln w="7365">
            <a:solidFill>
              <a:srgbClr val="867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12464433" y="3286277"/>
            <a:ext cx="453784" cy="95148"/>
          </a:xfrm>
          <a:prstGeom prst="round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12427837" y="3249681"/>
            <a:ext cx="453784" cy="95148"/>
          </a:xfrm>
          <a:prstGeom prst="roundRect">
            <a:avLst/>
          </a:prstGeom>
          <a:solidFill>
            <a:srgbClr val="F4A16A"/>
          </a:solidFill>
          <a:ln w="7365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2815750" y="3630275"/>
            <a:ext cx="234211" cy="234211"/>
          </a:xfrm>
          <a:prstGeom prst="ellipse">
            <a:avLst/>
          </a:prstGeom>
          <a:solidFill>
            <a:srgbClr val="4D8B32"/>
          </a:solidFill>
          <a:ln w="7365">
            <a:solidFill>
              <a:srgbClr val="4D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>
            <a:off x="12874303" y="3747381"/>
            <a:ext cx="43914" cy="51233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2918217" y="3688828"/>
            <a:ext cx="87829" cy="109786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ounded Rectangle 167"/>
          <p:cNvSpPr/>
          <p:nvPr/>
        </p:nvSpPr>
        <p:spPr>
          <a:xfrm>
            <a:off x="131743" y="102467"/>
            <a:ext cx="3425340" cy="3586360"/>
          </a:xfrm>
          <a:prstGeom prst="roundRect">
            <a:avLst/>
          </a:prstGeom>
          <a:solidFill>
            <a:srgbClr val="DFECF7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31743" y="578209"/>
            <a:ext cx="3425340" cy="3110618"/>
          </a:xfrm>
          <a:prstGeom prst="rect">
            <a:avLst/>
          </a:prstGeom>
          <a:solidFill>
            <a:srgbClr val="DFECF7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131743" y="109786"/>
            <a:ext cx="3425340" cy="475741"/>
          </a:xfrm>
          <a:prstGeom prst="roundRect">
            <a:avLst/>
          </a:prstGeom>
          <a:solidFill>
            <a:srgbClr val="9CC4E1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31743" y="439146"/>
            <a:ext cx="3425340" cy="146382"/>
          </a:xfrm>
          <a:prstGeom prst="rect">
            <a:avLst/>
          </a:prstGeom>
          <a:solidFill>
            <a:srgbClr val="9CC4E1"/>
          </a:solidFill>
          <a:ln w="3175">
            <a:solidFill>
              <a:srgbClr val="9CC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131743" y="578209"/>
            <a:ext cx="3425341" cy="0"/>
          </a:xfrm>
          <a:prstGeom prst="line">
            <a:avLst/>
          </a:prstGeom>
          <a:ln w="14731">
            <a:solidFill>
              <a:srgbClr val="3E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131743" y="131743"/>
            <a:ext cx="3425340" cy="402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243B68"/>
                </a:solidFill>
                <a:latin typeface="Arial"/>
              </a:defRPr>
            </a:pPr>
            <a:r>
              <a:t>Agent 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07402" y="600166"/>
            <a:ext cx="1317438" cy="256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5" b="1" i="0">
                <a:solidFill>
                  <a:srgbClr val="243B68"/>
                </a:solidFill>
                <a:latin typeface="Arial"/>
              </a:defRPr>
            </a:pPr>
            <a:r>
              <a:t>Prefix KV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07402" y="914887"/>
            <a:ext cx="534294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70806" y="878292"/>
            <a:ext cx="534294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92764" y="870973"/>
            <a:ext cx="490379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9" b="1" i="0">
                <a:solidFill>
                  <a:srgbClr val="111111"/>
                </a:solidFill>
                <a:latin typeface="DejaVu Serif"/>
              </a:defRPr>
            </a:pPr>
            <a:r>
              <a:t>p(₁,₀)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22207" y="914887"/>
            <a:ext cx="534294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85611" y="878292"/>
            <a:ext cx="534294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07568" y="870973"/>
            <a:ext cx="490379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9" b="1" i="0">
                <a:solidFill>
                  <a:srgbClr val="111111"/>
                </a:solidFill>
                <a:latin typeface="DejaVu Serif"/>
              </a:defRPr>
            </a:pPr>
            <a:r>
              <a:t>p(₁,₁)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537011" y="914887"/>
            <a:ext cx="534294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500416" y="878292"/>
            <a:ext cx="534294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522373" y="870973"/>
            <a:ext cx="490379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9" b="1" i="0">
                <a:solidFill>
                  <a:srgbClr val="111111"/>
                </a:solidFill>
                <a:latin typeface="DejaVu Serif"/>
              </a:defRPr>
            </a:pPr>
            <a:r>
              <a:t>p(₁,₂)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151816" y="914887"/>
            <a:ext cx="534294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115220" y="878292"/>
            <a:ext cx="534294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137178" y="870973"/>
            <a:ext cx="490379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9" b="1" i="0">
                <a:solidFill>
                  <a:srgbClr val="111111"/>
                </a:solidFill>
                <a:latin typeface="DejaVu Serif"/>
              </a:defRPr>
            </a:pPr>
            <a:r>
              <a:t>p(₁,₃)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07402" y="1141780"/>
            <a:ext cx="1829775" cy="256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5" b="1" i="0">
                <a:solidFill>
                  <a:srgbClr val="243B68"/>
                </a:solidFill>
                <a:latin typeface="Arial"/>
              </a:defRPr>
            </a:pPr>
            <a:r>
              <a:t>Placeholder KV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92764" y="1375991"/>
            <a:ext cx="490379" cy="234211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14721" y="1368672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6" b="1" i="0">
                <a:solidFill>
                  <a:srgbClr val="111111"/>
                </a:solidFill>
                <a:latin typeface="DejaVu Serif"/>
              </a:defRPr>
            </a:pPr>
            <a:r>
              <a:t>φ(₁,₁)</a:t>
            </a:r>
          </a:p>
        </p:txBody>
      </p:sp>
      <p:cxnSp>
        <p:nvCxnSpPr>
          <p:cNvPr id="190" name="Connector 189"/>
          <p:cNvCxnSpPr/>
          <p:nvPr/>
        </p:nvCxnSpPr>
        <p:spPr>
          <a:xfrm flipV="1">
            <a:off x="358636" y="1397948"/>
            <a:ext cx="175658" cy="19029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490379" y="1397948"/>
            <a:ext cx="175659" cy="19029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22123" y="1397948"/>
            <a:ext cx="139063" cy="19029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Rectangle 192"/>
          <p:cNvSpPr/>
          <p:nvPr/>
        </p:nvSpPr>
        <p:spPr>
          <a:xfrm>
            <a:off x="819739" y="1375991"/>
            <a:ext cx="490379" cy="234211"/>
          </a:xfrm>
          <a:prstGeom prst="rect">
            <a:avLst/>
          </a:prstGeom>
          <a:solidFill>
            <a:srgbClr val="B7DB9B"/>
          </a:solidFill>
          <a:ln w="8102">
            <a:solidFill>
              <a:srgbClr val="79A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41696" y="1368672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6" b="1" i="0">
                <a:solidFill>
                  <a:srgbClr val="111111"/>
                </a:solidFill>
                <a:latin typeface="DejaVu Serif"/>
              </a:defRPr>
            </a:pPr>
            <a:r>
              <a:t>φ(₁,₂)</a:t>
            </a:r>
          </a:p>
        </p:txBody>
      </p:sp>
      <p:cxnSp>
        <p:nvCxnSpPr>
          <p:cNvPr id="195" name="Connector 194"/>
          <p:cNvCxnSpPr/>
          <p:nvPr/>
        </p:nvCxnSpPr>
        <p:spPr>
          <a:xfrm flipV="1">
            <a:off x="885611" y="1397948"/>
            <a:ext cx="175659" cy="190297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7355" y="1397948"/>
            <a:ext cx="175658" cy="190297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149099" y="1397948"/>
            <a:ext cx="139063" cy="190297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/>
          <p:cNvSpPr/>
          <p:nvPr/>
        </p:nvSpPr>
        <p:spPr>
          <a:xfrm>
            <a:off x="1346715" y="1375991"/>
            <a:ext cx="490379" cy="234211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368672" y="1368672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6" b="1" i="0">
                <a:solidFill>
                  <a:srgbClr val="111111"/>
                </a:solidFill>
                <a:latin typeface="DejaVu Serif"/>
              </a:defRPr>
            </a:pPr>
            <a:r>
              <a:t>φ(₁,₃)</a:t>
            </a:r>
          </a:p>
        </p:txBody>
      </p:sp>
      <p:cxnSp>
        <p:nvCxnSpPr>
          <p:cNvPr id="200" name="Connector 199"/>
          <p:cNvCxnSpPr/>
          <p:nvPr/>
        </p:nvCxnSpPr>
        <p:spPr>
          <a:xfrm flipV="1">
            <a:off x="1412586" y="1397948"/>
            <a:ext cx="175659" cy="19029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544330" y="1397948"/>
            <a:ext cx="175659" cy="19029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676074" y="1397948"/>
            <a:ext cx="139063" cy="19029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ctangle 202"/>
          <p:cNvSpPr/>
          <p:nvPr/>
        </p:nvSpPr>
        <p:spPr>
          <a:xfrm>
            <a:off x="139062" y="1624840"/>
            <a:ext cx="3410702" cy="343997"/>
          </a:xfrm>
          <a:prstGeom prst="rect">
            <a:avLst/>
          </a:prstGeom>
          <a:solidFill>
            <a:srgbClr val="D8D0DD"/>
          </a:solidFill>
          <a:ln w="10312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26975" y="1639479"/>
            <a:ext cx="2071306" cy="2927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7" b="1" i="0">
                <a:solidFill>
                  <a:srgbClr val="000000"/>
                </a:solidFill>
                <a:latin typeface="Arial"/>
              </a:defRPr>
            </a:pPr>
            <a:r>
              <a:t>All placeholders</a:t>
            </a:r>
          </a:p>
        </p:txBody>
      </p:sp>
      <p:sp>
        <p:nvSpPr>
          <p:cNvPr id="205" name="Oval 204"/>
          <p:cNvSpPr/>
          <p:nvPr/>
        </p:nvSpPr>
        <p:spPr>
          <a:xfrm>
            <a:off x="2495814" y="1676074"/>
            <a:ext cx="234211" cy="234211"/>
          </a:xfrm>
          <a:prstGeom prst="ellipse">
            <a:avLst/>
          </a:prstGeom>
          <a:solidFill>
            <a:srgbClr val="4D8B32"/>
          </a:solidFill>
          <a:ln w="7365">
            <a:solidFill>
              <a:srgbClr val="4D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2554367" y="1793180"/>
            <a:ext cx="43914" cy="51234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2598281" y="1734627"/>
            <a:ext cx="87829" cy="109787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2759302" y="1646798"/>
            <a:ext cx="241530" cy="285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12" b="1" i="0">
                <a:solidFill>
                  <a:srgbClr val="000000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39062" y="1968838"/>
            <a:ext cx="1280843" cy="1097865"/>
          </a:xfrm>
          <a:prstGeom prst="rect">
            <a:avLst/>
          </a:prstGeom>
          <a:solidFill>
            <a:srgbClr val="DFECF7"/>
          </a:solidFill>
          <a:ln w="11048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82977" y="2137178"/>
            <a:ext cx="1200332" cy="63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55" b="1" i="0">
                <a:solidFill>
                  <a:srgbClr val="243B68"/>
                </a:solidFill>
                <a:latin typeface="Arial"/>
              </a:defRPr>
            </a:pPr>
            <a:r>
              <a:t>Dense</a:t>
            </a:r>
            <a:br/>
            <a:r>
              <a:t>Prefilling</a:t>
            </a:r>
          </a:p>
        </p:txBody>
      </p:sp>
      <p:sp>
        <p:nvSpPr>
          <p:cNvPr id="211" name="Oval 210"/>
          <p:cNvSpPr/>
          <p:nvPr/>
        </p:nvSpPr>
        <p:spPr>
          <a:xfrm>
            <a:off x="658719" y="2803216"/>
            <a:ext cx="234211" cy="234211"/>
          </a:xfrm>
          <a:prstGeom prst="ellipse">
            <a:avLst/>
          </a:prstGeom>
          <a:solidFill>
            <a:srgbClr val="D25A0A"/>
          </a:solidFill>
          <a:ln w="7365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2" name="Connector 211"/>
          <p:cNvCxnSpPr/>
          <p:nvPr/>
        </p:nvCxnSpPr>
        <p:spPr>
          <a:xfrm>
            <a:off x="717272" y="2920322"/>
            <a:ext cx="117105" cy="0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775824" y="2861769"/>
            <a:ext cx="0" cy="117106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Rectangle 213"/>
          <p:cNvSpPr/>
          <p:nvPr/>
        </p:nvSpPr>
        <p:spPr>
          <a:xfrm>
            <a:off x="1419906" y="1968838"/>
            <a:ext cx="2137178" cy="1097865"/>
          </a:xfrm>
          <a:prstGeom prst="rect">
            <a:avLst/>
          </a:prstGeom>
          <a:solidFill>
            <a:srgbClr val="FFF1E5"/>
          </a:solidFill>
          <a:ln w="11048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471139" y="2012753"/>
            <a:ext cx="1954200" cy="2634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5" b="1" i="0">
                <a:solidFill>
                  <a:srgbClr val="243B68"/>
                </a:solidFill>
                <a:latin typeface="Arial"/>
              </a:defRPr>
            </a:pPr>
            <a:r>
              <a:t>Cache Update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544330" y="2283560"/>
            <a:ext cx="314721" cy="226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4" b="1" i="0">
                <a:solidFill>
                  <a:srgbClr val="243B68"/>
                </a:solidFill>
                <a:latin typeface="Arial"/>
              </a:defRPr>
            </a:pPr>
            <a:r>
              <a:t>PH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844414" y="2268922"/>
            <a:ext cx="475741" cy="226892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866371" y="2261602"/>
            <a:ext cx="431827" cy="226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9" b="1" i="0">
                <a:solidFill>
                  <a:srgbClr val="111111"/>
                </a:solidFill>
                <a:latin typeface="DejaVu Serif"/>
              </a:defRPr>
            </a:pPr>
            <a:r>
              <a:t>φ(₁,₁)</a:t>
            </a:r>
          </a:p>
        </p:txBody>
      </p:sp>
      <p:cxnSp>
        <p:nvCxnSpPr>
          <p:cNvPr id="219" name="Connector 218"/>
          <p:cNvCxnSpPr/>
          <p:nvPr/>
        </p:nvCxnSpPr>
        <p:spPr>
          <a:xfrm flipV="1">
            <a:off x="1910286" y="2290879"/>
            <a:ext cx="175658" cy="18297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2042029" y="2290879"/>
            <a:ext cx="175659" cy="18297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2173773" y="2290879"/>
            <a:ext cx="124425" cy="18297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Rectangle 221"/>
          <p:cNvSpPr/>
          <p:nvPr/>
        </p:nvSpPr>
        <p:spPr>
          <a:xfrm>
            <a:off x="2371389" y="2268922"/>
            <a:ext cx="475741" cy="226892"/>
          </a:xfrm>
          <a:prstGeom prst="rect">
            <a:avLst/>
          </a:prstGeom>
          <a:solidFill>
            <a:srgbClr val="B7DB9B"/>
          </a:solidFill>
          <a:ln w="8102">
            <a:solidFill>
              <a:srgbClr val="79A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2393346" y="2261602"/>
            <a:ext cx="431827" cy="226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9" b="1" i="0">
                <a:solidFill>
                  <a:srgbClr val="111111"/>
                </a:solidFill>
                <a:latin typeface="DejaVu Serif"/>
              </a:defRPr>
            </a:pPr>
            <a:r>
              <a:t>φ(₁,₂)</a:t>
            </a:r>
          </a:p>
        </p:txBody>
      </p:sp>
      <p:cxnSp>
        <p:nvCxnSpPr>
          <p:cNvPr id="224" name="Connector 223"/>
          <p:cNvCxnSpPr/>
          <p:nvPr/>
        </p:nvCxnSpPr>
        <p:spPr>
          <a:xfrm flipV="1">
            <a:off x="2437261" y="2290879"/>
            <a:ext cx="175658" cy="182977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2569005" y="2290879"/>
            <a:ext cx="175658" cy="182977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2700749" y="2290879"/>
            <a:ext cx="124424" cy="182977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Rectangle 226"/>
          <p:cNvSpPr/>
          <p:nvPr/>
        </p:nvSpPr>
        <p:spPr>
          <a:xfrm>
            <a:off x="2898364" y="2268922"/>
            <a:ext cx="475741" cy="226892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2920322" y="2261602"/>
            <a:ext cx="431827" cy="226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9" b="1" i="0">
                <a:solidFill>
                  <a:srgbClr val="111111"/>
                </a:solidFill>
                <a:latin typeface="DejaVu Serif"/>
              </a:defRPr>
            </a:pPr>
            <a:r>
              <a:t>φ(₁,₃)</a:t>
            </a:r>
          </a:p>
        </p:txBody>
      </p:sp>
      <p:cxnSp>
        <p:nvCxnSpPr>
          <p:cNvPr id="229" name="Connector 228"/>
          <p:cNvCxnSpPr/>
          <p:nvPr/>
        </p:nvCxnSpPr>
        <p:spPr>
          <a:xfrm flipV="1">
            <a:off x="2964236" y="2290879"/>
            <a:ext cx="175659" cy="18297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3095980" y="2290879"/>
            <a:ext cx="175659" cy="18297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3227724" y="2290879"/>
            <a:ext cx="124425" cy="182977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1544330" y="2561686"/>
            <a:ext cx="314721" cy="226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4" b="1" i="0">
                <a:solidFill>
                  <a:srgbClr val="243B68"/>
                </a:solidFill>
                <a:latin typeface="Arial"/>
              </a:defRPr>
            </a:pPr>
            <a:r>
              <a:t>PF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844414" y="2547048"/>
            <a:ext cx="475741" cy="226892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866371" y="2539728"/>
            <a:ext cx="431827" cy="226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9" b="1" i="0">
                <a:solidFill>
                  <a:srgbClr val="111111"/>
                </a:solidFill>
                <a:latin typeface="DejaVu Serif"/>
              </a:defRPr>
            </a:pPr>
            <a:r>
              <a:t>p(₁,₁)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2371389" y="2547048"/>
            <a:ext cx="475741" cy="226892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2393346" y="2539728"/>
            <a:ext cx="431827" cy="226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9" b="1" i="0">
                <a:solidFill>
                  <a:srgbClr val="111111"/>
                </a:solidFill>
                <a:latin typeface="DejaVu Serif"/>
              </a:defRPr>
            </a:pPr>
            <a:r>
              <a:t>p(₁,₂)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898364" y="2547048"/>
            <a:ext cx="475741" cy="226892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920322" y="2539728"/>
            <a:ext cx="431827" cy="226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9" b="1" i="0">
                <a:solidFill>
                  <a:srgbClr val="111111"/>
                </a:solidFill>
                <a:latin typeface="DejaVu Serif"/>
              </a:defRPr>
            </a:pPr>
            <a:r>
              <a:t>p(₁,₃)</a:t>
            </a:r>
          </a:p>
        </p:txBody>
      </p:sp>
      <p:cxnSp>
        <p:nvCxnSpPr>
          <p:cNvPr id="239" name="Connector 238"/>
          <p:cNvCxnSpPr/>
          <p:nvPr/>
        </p:nvCxnSpPr>
        <p:spPr>
          <a:xfrm flipH="1">
            <a:off x="3235043" y="2576324"/>
            <a:ext cx="270807" cy="0"/>
          </a:xfrm>
          <a:prstGeom prst="line">
            <a:avLst/>
          </a:prstGeom>
          <a:ln w="73660">
            <a:solidFill>
              <a:srgbClr val="F3A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Rectangle 239"/>
          <p:cNvSpPr/>
          <p:nvPr/>
        </p:nvSpPr>
        <p:spPr>
          <a:xfrm>
            <a:off x="139062" y="3066704"/>
            <a:ext cx="1280843" cy="622123"/>
          </a:xfrm>
          <a:prstGeom prst="rect">
            <a:avLst/>
          </a:prstGeom>
          <a:solidFill>
            <a:srgbClr val="DFECF7"/>
          </a:solidFill>
          <a:ln w="11048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Connector 240"/>
          <p:cNvCxnSpPr/>
          <p:nvPr/>
        </p:nvCxnSpPr>
        <p:spPr>
          <a:xfrm>
            <a:off x="307402" y="3066704"/>
            <a:ext cx="980760" cy="0"/>
          </a:xfrm>
          <a:prstGeom prst="line">
            <a:avLst/>
          </a:prstGeom>
          <a:ln w="14731">
            <a:solidFill>
              <a:srgbClr val="3E6D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204934" y="3110618"/>
            <a:ext cx="1149099" cy="322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12" b="1" i="0">
                <a:solidFill>
                  <a:srgbClr val="243B68"/>
                </a:solidFill>
                <a:latin typeface="Arial"/>
              </a:defRPr>
            </a:pPr>
            <a:r>
              <a:t>Decoding</a:t>
            </a:r>
          </a:p>
        </p:txBody>
      </p:sp>
      <p:sp>
        <p:nvSpPr>
          <p:cNvPr id="243" name="Oval 242"/>
          <p:cNvSpPr/>
          <p:nvPr/>
        </p:nvSpPr>
        <p:spPr>
          <a:xfrm>
            <a:off x="658719" y="3396064"/>
            <a:ext cx="234211" cy="234211"/>
          </a:xfrm>
          <a:prstGeom prst="ellipse">
            <a:avLst/>
          </a:prstGeom>
          <a:solidFill>
            <a:srgbClr val="D25A0A"/>
          </a:solidFill>
          <a:ln w="7365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717272" y="3513169"/>
            <a:ext cx="117105" cy="0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775824" y="3454616"/>
            <a:ext cx="0" cy="117106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Rectangle 245"/>
          <p:cNvSpPr/>
          <p:nvPr/>
        </p:nvSpPr>
        <p:spPr>
          <a:xfrm>
            <a:off x="1419906" y="3066704"/>
            <a:ext cx="2137178" cy="622123"/>
          </a:xfrm>
          <a:prstGeom prst="rect">
            <a:avLst/>
          </a:prstGeom>
          <a:solidFill>
            <a:srgbClr val="FFF1E5"/>
          </a:solidFill>
          <a:ln w="11048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500416" y="3103299"/>
            <a:ext cx="1990796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97" b="1" i="0">
                <a:solidFill>
                  <a:srgbClr val="243B68"/>
                </a:solidFill>
                <a:latin typeface="Arial"/>
              </a:defRPr>
            </a:pPr>
            <a:r>
              <a:t>Response Cache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515054" y="3337511"/>
            <a:ext cx="775824" cy="226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4" b="1" i="0">
                <a:solidFill>
                  <a:srgbClr val="243B68"/>
                </a:solidFill>
                <a:latin typeface="Arial"/>
              </a:defRPr>
            </a:pPr>
            <a:r>
              <a:t>[PH, PF]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2305517" y="3505850"/>
            <a:ext cx="168339" cy="0"/>
          </a:xfrm>
          <a:prstGeom prst="line">
            <a:avLst/>
          </a:prstGeom>
          <a:ln w="29463">
            <a:solidFill>
              <a:srgbClr val="4D8B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Rounded Rectangle 249"/>
          <p:cNvSpPr/>
          <p:nvPr/>
        </p:nvSpPr>
        <p:spPr>
          <a:xfrm>
            <a:off x="2510452" y="3454616"/>
            <a:ext cx="922207" cy="182977"/>
          </a:xfrm>
          <a:prstGeom prst="round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2473856" y="3418021"/>
            <a:ext cx="922207" cy="182977"/>
          </a:xfrm>
          <a:prstGeom prst="roundRect">
            <a:avLst/>
          </a:prstGeom>
          <a:solidFill>
            <a:srgbClr val="A9D28F"/>
          </a:solidFill>
          <a:ln w="8839">
            <a:solidFill>
              <a:srgbClr val="4D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2510452" y="3410702"/>
            <a:ext cx="849016" cy="190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6" b="0" i="0">
                <a:solidFill>
                  <a:srgbClr val="13270A"/>
                </a:solidFill>
                <a:latin typeface="Arial"/>
              </a:defRPr>
            </a:pPr>
            <a:r>
              <a:t>Response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3557084" y="2093263"/>
            <a:ext cx="204935" cy="0"/>
          </a:xfrm>
          <a:prstGeom prst="line">
            <a:avLst/>
          </a:prstGeom>
          <a:ln w="58927">
            <a:solidFill>
              <a:srgbClr val="7E71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3762019" y="2093263"/>
            <a:ext cx="0" cy="3871806"/>
          </a:xfrm>
          <a:prstGeom prst="line">
            <a:avLst/>
          </a:prstGeom>
          <a:ln w="58927">
            <a:solidFill>
              <a:srgbClr val="7E71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>
            <a:off x="3557084" y="5965069"/>
            <a:ext cx="204935" cy="0"/>
          </a:xfrm>
          <a:prstGeom prst="line">
            <a:avLst/>
          </a:prstGeom>
          <a:ln w="58927">
            <a:solidFill>
              <a:srgbClr val="7E71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3557084" y="1771223"/>
            <a:ext cx="673357" cy="351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97" b="1" i="0">
                <a:solidFill>
                  <a:srgbClr val="000000"/>
                </a:solidFill>
                <a:latin typeface="Arial"/>
              </a:defRPr>
            </a:pPr>
            <a:r>
              <a:t>Query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3505850" y="2576324"/>
            <a:ext cx="431827" cy="0"/>
          </a:xfrm>
          <a:prstGeom prst="line">
            <a:avLst/>
          </a:prstGeom>
          <a:ln w="58927">
            <a:solidFill>
              <a:srgbClr val="F4A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3937677" y="2576324"/>
            <a:ext cx="0" cy="3791296"/>
          </a:xfrm>
          <a:prstGeom prst="line">
            <a:avLst/>
          </a:prstGeom>
          <a:ln w="58927">
            <a:solidFill>
              <a:srgbClr val="F4A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3557084" y="6367620"/>
            <a:ext cx="380593" cy="0"/>
          </a:xfrm>
          <a:prstGeom prst="line">
            <a:avLst/>
          </a:prstGeom>
          <a:ln w="58927">
            <a:solidFill>
              <a:srgbClr val="F4A0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3937677" y="2576324"/>
            <a:ext cx="0" cy="3791296"/>
          </a:xfrm>
          <a:prstGeom prst="line">
            <a:avLst/>
          </a:prstGeom>
          <a:ln w="58927">
            <a:solidFill>
              <a:srgbClr val="F4A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3937677" y="6367620"/>
            <a:ext cx="285445" cy="0"/>
          </a:xfrm>
          <a:prstGeom prst="line">
            <a:avLst/>
          </a:prstGeom>
          <a:ln w="58927">
            <a:solidFill>
              <a:srgbClr val="F4A0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3571722" y="6382258"/>
            <a:ext cx="629442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000000"/>
                </a:solidFill>
                <a:latin typeface="Arial"/>
              </a:defRPr>
            </a:pPr>
            <a:r>
              <a:t>Reuse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2898364" y="3600998"/>
            <a:ext cx="0" cy="322041"/>
          </a:xfrm>
          <a:prstGeom prst="line">
            <a:avLst/>
          </a:prstGeom>
          <a:ln w="58927">
            <a:solidFill>
              <a:srgbClr val="4D8B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2898364" y="3923039"/>
            <a:ext cx="1324758" cy="0"/>
          </a:xfrm>
          <a:prstGeom prst="line">
            <a:avLst/>
          </a:prstGeom>
          <a:ln w="58927">
            <a:solidFill>
              <a:srgbClr val="4D8B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4638" y="3923039"/>
            <a:ext cx="2883726" cy="0"/>
          </a:xfrm>
          <a:prstGeom prst="line">
            <a:avLst/>
          </a:prstGeom>
          <a:ln w="58927">
            <a:solidFill>
              <a:srgbClr val="4D8B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Rectangle 265"/>
          <p:cNvSpPr/>
          <p:nvPr/>
        </p:nvSpPr>
        <p:spPr>
          <a:xfrm>
            <a:off x="29276" y="3944996"/>
            <a:ext cx="3491212" cy="278125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58552" y="3923039"/>
            <a:ext cx="3454616" cy="300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70" b="1" i="0">
                <a:solidFill>
                  <a:srgbClr val="000000"/>
                </a:solidFill>
                <a:latin typeface="Arial"/>
              </a:defRPr>
            </a:pPr>
            <a:r>
              <a:t>Anchor Prediction of Response KV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131743" y="4223122"/>
            <a:ext cx="3425340" cy="2378708"/>
          </a:xfrm>
          <a:prstGeom prst="roundRect">
            <a:avLst/>
          </a:prstGeom>
          <a:solidFill>
            <a:srgbClr val="DFECF7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31743" y="4698864"/>
            <a:ext cx="3425340" cy="1902966"/>
          </a:xfrm>
          <a:prstGeom prst="rect">
            <a:avLst/>
          </a:prstGeom>
          <a:solidFill>
            <a:srgbClr val="DFECF7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ounded Rectangle 269"/>
          <p:cNvSpPr/>
          <p:nvPr/>
        </p:nvSpPr>
        <p:spPr>
          <a:xfrm>
            <a:off x="131743" y="4230441"/>
            <a:ext cx="3425340" cy="475741"/>
          </a:xfrm>
          <a:prstGeom prst="roundRect">
            <a:avLst/>
          </a:prstGeom>
          <a:solidFill>
            <a:srgbClr val="9CC4E1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31743" y="4559801"/>
            <a:ext cx="3425340" cy="146382"/>
          </a:xfrm>
          <a:prstGeom prst="rect">
            <a:avLst/>
          </a:prstGeom>
          <a:solidFill>
            <a:srgbClr val="9CC4E1"/>
          </a:solidFill>
          <a:ln w="3175">
            <a:solidFill>
              <a:srgbClr val="9CC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Connector 271"/>
          <p:cNvCxnSpPr/>
          <p:nvPr/>
        </p:nvCxnSpPr>
        <p:spPr>
          <a:xfrm>
            <a:off x="131743" y="4698864"/>
            <a:ext cx="3425341" cy="0"/>
          </a:xfrm>
          <a:prstGeom prst="line">
            <a:avLst/>
          </a:prstGeom>
          <a:ln w="14731">
            <a:solidFill>
              <a:srgbClr val="3E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131743" y="4252399"/>
            <a:ext cx="3425340" cy="402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243B68"/>
                </a:solidFill>
                <a:latin typeface="Arial"/>
              </a:defRPr>
            </a:pPr>
            <a:r>
              <a:t>Agent 2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307402" y="4742779"/>
            <a:ext cx="1317438" cy="241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97" b="1" i="0">
                <a:solidFill>
                  <a:srgbClr val="243B68"/>
                </a:solidFill>
                <a:latin typeface="Arial"/>
              </a:defRPr>
            </a:pPr>
            <a:r>
              <a:t>Prefix KV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314721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278125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300083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p(₂,₀)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29526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892930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914887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p(₂,₁)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544330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507735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529692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p(₂,₂)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2159135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2122540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144497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p(₂,₃)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2773940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2737344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2759302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p(₂,₄)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07402" y="5262435"/>
            <a:ext cx="1829775" cy="241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97" b="1" i="0">
                <a:solidFill>
                  <a:srgbClr val="243B68"/>
                </a:solidFill>
                <a:latin typeface="Arial"/>
              </a:defRPr>
            </a:pPr>
            <a:r>
              <a:t>Placeholder KV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292764" y="5503965"/>
            <a:ext cx="490379" cy="234211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314721" y="5496646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φ(₂,₁)</a:t>
            </a:r>
          </a:p>
        </p:txBody>
      </p:sp>
      <p:cxnSp>
        <p:nvCxnSpPr>
          <p:cNvPr id="293" name="Connector 292"/>
          <p:cNvCxnSpPr/>
          <p:nvPr/>
        </p:nvCxnSpPr>
        <p:spPr>
          <a:xfrm flipV="1">
            <a:off x="358636" y="5525923"/>
            <a:ext cx="175658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90379" y="5525923"/>
            <a:ext cx="175659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622123" y="5525923"/>
            <a:ext cx="139063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Rectangle 295"/>
          <p:cNvSpPr/>
          <p:nvPr/>
        </p:nvSpPr>
        <p:spPr>
          <a:xfrm>
            <a:off x="819739" y="5503965"/>
            <a:ext cx="490379" cy="234211"/>
          </a:xfrm>
          <a:prstGeom prst="rect">
            <a:avLst/>
          </a:prstGeom>
          <a:solidFill>
            <a:srgbClr val="B7DB9B"/>
          </a:solidFill>
          <a:ln w="8102">
            <a:solidFill>
              <a:srgbClr val="79A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841696" y="5496646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φ(₂,₂)</a:t>
            </a:r>
          </a:p>
        </p:txBody>
      </p:sp>
      <p:cxnSp>
        <p:nvCxnSpPr>
          <p:cNvPr id="298" name="Connector 297"/>
          <p:cNvCxnSpPr/>
          <p:nvPr/>
        </p:nvCxnSpPr>
        <p:spPr>
          <a:xfrm flipV="1">
            <a:off x="885611" y="5525923"/>
            <a:ext cx="175659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1017355" y="5525923"/>
            <a:ext cx="175658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1149099" y="5525923"/>
            <a:ext cx="139063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Rectangle 300"/>
          <p:cNvSpPr/>
          <p:nvPr/>
        </p:nvSpPr>
        <p:spPr>
          <a:xfrm>
            <a:off x="1346715" y="5503965"/>
            <a:ext cx="490379" cy="234211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1368672" y="5496646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φ(₂,₃)</a:t>
            </a:r>
          </a:p>
        </p:txBody>
      </p:sp>
      <p:cxnSp>
        <p:nvCxnSpPr>
          <p:cNvPr id="303" name="Connector 302"/>
          <p:cNvCxnSpPr/>
          <p:nvPr/>
        </p:nvCxnSpPr>
        <p:spPr>
          <a:xfrm flipV="1">
            <a:off x="1412586" y="5525923"/>
            <a:ext cx="175659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1544330" y="5525923"/>
            <a:ext cx="175659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676074" y="5525923"/>
            <a:ext cx="139063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Rectangle 305"/>
          <p:cNvSpPr/>
          <p:nvPr/>
        </p:nvSpPr>
        <p:spPr>
          <a:xfrm>
            <a:off x="1873690" y="5503965"/>
            <a:ext cx="490379" cy="234211"/>
          </a:xfrm>
          <a:prstGeom prst="rect">
            <a:avLst/>
          </a:prstGeom>
          <a:solidFill>
            <a:srgbClr val="B7DB9B"/>
          </a:solidFill>
          <a:ln w="8102">
            <a:solidFill>
              <a:srgbClr val="79A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1895647" y="5496646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φ(₂,₄)</a:t>
            </a:r>
          </a:p>
        </p:txBody>
      </p:sp>
      <p:cxnSp>
        <p:nvCxnSpPr>
          <p:cNvPr id="308" name="Connector 307"/>
          <p:cNvCxnSpPr/>
          <p:nvPr/>
        </p:nvCxnSpPr>
        <p:spPr>
          <a:xfrm flipV="1">
            <a:off x="1939562" y="5525923"/>
            <a:ext cx="175658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2071306" y="5525923"/>
            <a:ext cx="175658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2203050" y="5525923"/>
            <a:ext cx="139063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ectangle 310"/>
          <p:cNvSpPr/>
          <p:nvPr/>
        </p:nvSpPr>
        <p:spPr>
          <a:xfrm>
            <a:off x="139062" y="5804049"/>
            <a:ext cx="3410702" cy="343997"/>
          </a:xfrm>
          <a:prstGeom prst="rect">
            <a:avLst/>
          </a:prstGeom>
          <a:solidFill>
            <a:srgbClr val="D8D0DD"/>
          </a:solidFill>
          <a:ln w="10312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534294" y="5818687"/>
            <a:ext cx="2056668" cy="285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70" b="1" i="0">
                <a:solidFill>
                  <a:srgbClr val="000000"/>
                </a:solidFill>
                <a:latin typeface="Arial"/>
              </a:defRPr>
            </a:pPr>
            <a:r>
              <a:t>All placeholders</a:t>
            </a:r>
          </a:p>
        </p:txBody>
      </p:sp>
      <p:sp>
        <p:nvSpPr>
          <p:cNvPr id="313" name="Oval 312"/>
          <p:cNvSpPr/>
          <p:nvPr/>
        </p:nvSpPr>
        <p:spPr>
          <a:xfrm>
            <a:off x="2495814" y="5862601"/>
            <a:ext cx="234211" cy="234211"/>
          </a:xfrm>
          <a:prstGeom prst="ellipse">
            <a:avLst/>
          </a:prstGeom>
          <a:solidFill>
            <a:srgbClr val="4D8B32"/>
          </a:solidFill>
          <a:ln w="7365">
            <a:solidFill>
              <a:srgbClr val="4D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4" name="Connector 313"/>
          <p:cNvCxnSpPr/>
          <p:nvPr/>
        </p:nvCxnSpPr>
        <p:spPr>
          <a:xfrm>
            <a:off x="2554367" y="5979707"/>
            <a:ext cx="43914" cy="51234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2598281" y="5921154"/>
            <a:ext cx="87829" cy="109787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TextBox 315"/>
          <p:cNvSpPr txBox="1"/>
          <p:nvPr/>
        </p:nvSpPr>
        <p:spPr>
          <a:xfrm>
            <a:off x="2766621" y="5833325"/>
            <a:ext cx="234211" cy="270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12" b="1" i="0">
                <a:solidFill>
                  <a:srgbClr val="000000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39062" y="6148046"/>
            <a:ext cx="1280843" cy="453784"/>
          </a:xfrm>
          <a:prstGeom prst="rect">
            <a:avLst/>
          </a:prstGeom>
          <a:solidFill>
            <a:srgbClr val="DFECF7"/>
          </a:solidFill>
          <a:ln w="11048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175658" y="6191961"/>
            <a:ext cx="1024674" cy="336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243B68"/>
                </a:solidFill>
                <a:latin typeface="Arial"/>
              </a:defRPr>
            </a:pPr>
            <a:r>
              <a:t>(N) Dense</a:t>
            </a:r>
          </a:p>
        </p:txBody>
      </p:sp>
      <p:sp>
        <p:nvSpPr>
          <p:cNvPr id="319" name="Oval 318"/>
          <p:cNvSpPr/>
          <p:nvPr/>
        </p:nvSpPr>
        <p:spPr>
          <a:xfrm>
            <a:off x="1119822" y="6265152"/>
            <a:ext cx="234211" cy="234211"/>
          </a:xfrm>
          <a:prstGeom prst="ellipse">
            <a:avLst/>
          </a:prstGeom>
          <a:solidFill>
            <a:srgbClr val="D25A0A"/>
          </a:solidFill>
          <a:ln w="7365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178375" y="6382258"/>
            <a:ext cx="117106" cy="0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1236928" y="6323705"/>
            <a:ext cx="0" cy="117106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Rectangle 321"/>
          <p:cNvSpPr/>
          <p:nvPr/>
        </p:nvSpPr>
        <p:spPr>
          <a:xfrm>
            <a:off x="1419906" y="6148046"/>
            <a:ext cx="2137178" cy="453784"/>
          </a:xfrm>
          <a:prstGeom prst="rect">
            <a:avLst/>
          </a:prstGeom>
          <a:solidFill>
            <a:srgbClr val="FFF1E5"/>
          </a:solidFill>
          <a:ln w="11048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1493097" y="6191961"/>
            <a:ext cx="1976157" cy="336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243B68"/>
                </a:solidFill>
                <a:latin typeface="Arial"/>
              </a:defRPr>
            </a:pPr>
            <a:r>
              <a:t>(Y) Sharing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4223122" y="4223122"/>
            <a:ext cx="3410702" cy="2378708"/>
          </a:xfrm>
          <a:prstGeom prst="roundRect">
            <a:avLst/>
          </a:prstGeom>
          <a:solidFill>
            <a:srgbClr val="DFECF7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4223122" y="4698864"/>
            <a:ext cx="3410702" cy="1902966"/>
          </a:xfrm>
          <a:prstGeom prst="rect">
            <a:avLst/>
          </a:prstGeom>
          <a:solidFill>
            <a:srgbClr val="DFECF7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ounded Rectangle 325"/>
          <p:cNvSpPr/>
          <p:nvPr/>
        </p:nvSpPr>
        <p:spPr>
          <a:xfrm>
            <a:off x="4223122" y="4230441"/>
            <a:ext cx="3410702" cy="475741"/>
          </a:xfrm>
          <a:prstGeom prst="roundRect">
            <a:avLst/>
          </a:prstGeom>
          <a:solidFill>
            <a:srgbClr val="9CC4E1"/>
          </a:solidFill>
          <a:ln w="14731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4223122" y="4559801"/>
            <a:ext cx="3410702" cy="146382"/>
          </a:xfrm>
          <a:prstGeom prst="rect">
            <a:avLst/>
          </a:prstGeom>
          <a:solidFill>
            <a:srgbClr val="9CC4E1"/>
          </a:solidFill>
          <a:ln w="3175">
            <a:solidFill>
              <a:srgbClr val="9CC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8" name="Connector 327"/>
          <p:cNvCxnSpPr/>
          <p:nvPr/>
        </p:nvCxnSpPr>
        <p:spPr>
          <a:xfrm>
            <a:off x="4223122" y="4698864"/>
            <a:ext cx="3410702" cy="0"/>
          </a:xfrm>
          <a:prstGeom prst="line">
            <a:avLst/>
          </a:prstGeom>
          <a:ln w="14731">
            <a:solidFill>
              <a:srgbClr val="3E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/>
          <p:cNvSpPr txBox="1"/>
          <p:nvPr/>
        </p:nvSpPr>
        <p:spPr>
          <a:xfrm>
            <a:off x="4223122" y="4252399"/>
            <a:ext cx="3410702" cy="402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1" i="0">
                <a:solidFill>
                  <a:srgbClr val="243B68"/>
                </a:solidFill>
                <a:latin typeface="Arial"/>
              </a:defRPr>
            </a:pPr>
            <a:r>
              <a:t>Agent 3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391462" y="4742779"/>
            <a:ext cx="1317438" cy="241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97" b="1" i="0">
                <a:solidFill>
                  <a:srgbClr val="243B68"/>
                </a:solidFill>
                <a:latin typeface="Arial"/>
              </a:defRPr>
            </a:pPr>
            <a:r>
              <a:t>Prefix KV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398781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4362185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4384143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p(₃,₀)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5013585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976990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4998947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p(₃,₁)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5628390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5591795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5613752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p(₃,₂)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6243195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6206599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6228557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p(₃,₃)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6858000" y="5035543"/>
            <a:ext cx="526975" cy="248849"/>
          </a:xfrm>
          <a:prstGeom prst="rect">
            <a:avLst/>
          </a:prstGeom>
          <a:solidFill>
            <a:srgbClr val="B7B7B7"/>
          </a:solidFill>
          <a:ln w="317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6821404" y="4998947"/>
            <a:ext cx="526975" cy="248849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6843361" y="4991628"/>
            <a:ext cx="483060" cy="248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94" b="1" i="0">
                <a:solidFill>
                  <a:srgbClr val="111111"/>
                </a:solidFill>
                <a:latin typeface="DejaVu Serif"/>
              </a:defRPr>
            </a:pPr>
            <a:r>
              <a:t>p(₃,₄)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4391462" y="5262435"/>
            <a:ext cx="1829775" cy="241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97" b="1" i="0">
                <a:solidFill>
                  <a:srgbClr val="243B68"/>
                </a:solidFill>
                <a:latin typeface="Arial"/>
              </a:defRPr>
            </a:pPr>
            <a:r>
              <a:t>Placeholder KV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4376823" y="5503965"/>
            <a:ext cx="490379" cy="234211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4398781" y="5496646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φ(₃,₁)</a:t>
            </a:r>
          </a:p>
        </p:txBody>
      </p:sp>
      <p:cxnSp>
        <p:nvCxnSpPr>
          <p:cNvPr id="349" name="Connector 348"/>
          <p:cNvCxnSpPr/>
          <p:nvPr/>
        </p:nvCxnSpPr>
        <p:spPr>
          <a:xfrm flipV="1">
            <a:off x="4442695" y="5525923"/>
            <a:ext cx="175659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4574439" y="5525923"/>
            <a:ext cx="175659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4706183" y="5525923"/>
            <a:ext cx="139063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ctangle 351"/>
          <p:cNvSpPr/>
          <p:nvPr/>
        </p:nvSpPr>
        <p:spPr>
          <a:xfrm>
            <a:off x="4903799" y="5503965"/>
            <a:ext cx="490379" cy="234211"/>
          </a:xfrm>
          <a:prstGeom prst="rect">
            <a:avLst/>
          </a:prstGeom>
          <a:solidFill>
            <a:srgbClr val="B7DB9B"/>
          </a:solidFill>
          <a:ln w="8102">
            <a:solidFill>
              <a:srgbClr val="79A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4925756" y="5496646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φ(₃,₂)</a:t>
            </a:r>
          </a:p>
        </p:txBody>
      </p:sp>
      <p:cxnSp>
        <p:nvCxnSpPr>
          <p:cNvPr id="354" name="Connector 353"/>
          <p:cNvCxnSpPr/>
          <p:nvPr/>
        </p:nvCxnSpPr>
        <p:spPr>
          <a:xfrm flipV="1">
            <a:off x="4969671" y="5525923"/>
            <a:ext cx="175658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5101415" y="5525923"/>
            <a:ext cx="175658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5233159" y="5525923"/>
            <a:ext cx="139062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Rectangle 356"/>
          <p:cNvSpPr/>
          <p:nvPr/>
        </p:nvSpPr>
        <p:spPr>
          <a:xfrm>
            <a:off x="5430774" y="5503965"/>
            <a:ext cx="490379" cy="234211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5452732" y="5496646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φ(₃,₃)</a:t>
            </a:r>
          </a:p>
        </p:txBody>
      </p:sp>
      <p:cxnSp>
        <p:nvCxnSpPr>
          <p:cNvPr id="359" name="Connector 358"/>
          <p:cNvCxnSpPr/>
          <p:nvPr/>
        </p:nvCxnSpPr>
        <p:spPr>
          <a:xfrm flipV="1">
            <a:off x="5496646" y="5525923"/>
            <a:ext cx="175659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5628390" y="5525923"/>
            <a:ext cx="175659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5760134" y="5525923"/>
            <a:ext cx="139063" cy="190296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Rectangle 361"/>
          <p:cNvSpPr/>
          <p:nvPr/>
        </p:nvSpPr>
        <p:spPr>
          <a:xfrm>
            <a:off x="5957750" y="5503965"/>
            <a:ext cx="490379" cy="234211"/>
          </a:xfrm>
          <a:prstGeom prst="rect">
            <a:avLst/>
          </a:prstGeom>
          <a:solidFill>
            <a:srgbClr val="B7DB9B"/>
          </a:solidFill>
          <a:ln w="8102">
            <a:solidFill>
              <a:srgbClr val="79A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5979707" y="5496646"/>
            <a:ext cx="44646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φ(₃,₄)</a:t>
            </a:r>
          </a:p>
        </p:txBody>
      </p:sp>
      <p:cxnSp>
        <p:nvCxnSpPr>
          <p:cNvPr id="364" name="Connector 363"/>
          <p:cNvCxnSpPr/>
          <p:nvPr/>
        </p:nvCxnSpPr>
        <p:spPr>
          <a:xfrm flipV="1">
            <a:off x="6023622" y="5525923"/>
            <a:ext cx="175658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6155366" y="5525923"/>
            <a:ext cx="175658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6287109" y="5525923"/>
            <a:ext cx="139063" cy="190296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Rectangle 366"/>
          <p:cNvSpPr/>
          <p:nvPr/>
        </p:nvSpPr>
        <p:spPr>
          <a:xfrm>
            <a:off x="4230441" y="5804049"/>
            <a:ext cx="3396064" cy="343997"/>
          </a:xfrm>
          <a:prstGeom prst="rect">
            <a:avLst/>
          </a:prstGeom>
          <a:solidFill>
            <a:srgbClr val="D8D0DD"/>
          </a:solidFill>
          <a:ln w="10312">
            <a:solidFill>
              <a:srgbClr val="7E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4625673" y="5818687"/>
            <a:ext cx="2056668" cy="2854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70" b="1" i="0">
                <a:solidFill>
                  <a:srgbClr val="000000"/>
                </a:solidFill>
                <a:latin typeface="Arial"/>
              </a:defRPr>
            </a:pPr>
            <a:r>
              <a:t>All placeholders</a:t>
            </a:r>
          </a:p>
        </p:txBody>
      </p:sp>
      <p:sp>
        <p:nvSpPr>
          <p:cNvPr id="369" name="Oval 368"/>
          <p:cNvSpPr/>
          <p:nvPr/>
        </p:nvSpPr>
        <p:spPr>
          <a:xfrm>
            <a:off x="6587193" y="5862601"/>
            <a:ext cx="234211" cy="234211"/>
          </a:xfrm>
          <a:prstGeom prst="ellipse">
            <a:avLst/>
          </a:prstGeom>
          <a:solidFill>
            <a:srgbClr val="4D8B32"/>
          </a:solidFill>
          <a:ln w="7365">
            <a:solidFill>
              <a:srgbClr val="4D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0" name="Connector 369"/>
          <p:cNvCxnSpPr/>
          <p:nvPr/>
        </p:nvCxnSpPr>
        <p:spPr>
          <a:xfrm>
            <a:off x="6645745" y="5979707"/>
            <a:ext cx="43915" cy="51234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6689660" y="5921154"/>
            <a:ext cx="87829" cy="109787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2" name="TextBox 371"/>
          <p:cNvSpPr txBox="1"/>
          <p:nvPr/>
        </p:nvSpPr>
        <p:spPr>
          <a:xfrm>
            <a:off x="6858000" y="5833325"/>
            <a:ext cx="234211" cy="270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12" b="1" i="0">
                <a:solidFill>
                  <a:srgbClr val="000000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4230441" y="6148046"/>
            <a:ext cx="2122540" cy="453784"/>
          </a:xfrm>
          <a:prstGeom prst="rect">
            <a:avLst/>
          </a:prstGeom>
          <a:solidFill>
            <a:srgbClr val="FFF1E5"/>
          </a:solidFill>
          <a:ln w="11048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4310951" y="6191961"/>
            <a:ext cx="1961519" cy="336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243B68"/>
                </a:solidFill>
                <a:latin typeface="Arial"/>
              </a:defRPr>
            </a:pPr>
            <a:r>
              <a:t>(Y) Sharing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6352981" y="6148046"/>
            <a:ext cx="1273524" cy="453784"/>
          </a:xfrm>
          <a:prstGeom prst="rect">
            <a:avLst/>
          </a:prstGeom>
          <a:solidFill>
            <a:srgbClr val="DFECF7"/>
          </a:solidFill>
          <a:ln w="11048">
            <a:solidFill>
              <a:srgbClr val="3E6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396896" y="6191961"/>
            <a:ext cx="1010036" cy="336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2" b="1" i="0">
                <a:solidFill>
                  <a:srgbClr val="243B68"/>
                </a:solidFill>
                <a:latin typeface="Arial"/>
              </a:defRPr>
            </a:pPr>
            <a:r>
              <a:t>(N) Dense</a:t>
            </a:r>
          </a:p>
        </p:txBody>
      </p:sp>
      <p:sp>
        <p:nvSpPr>
          <p:cNvPr id="377" name="Oval 376"/>
          <p:cNvSpPr/>
          <p:nvPr/>
        </p:nvSpPr>
        <p:spPr>
          <a:xfrm>
            <a:off x="7355699" y="6272471"/>
            <a:ext cx="219573" cy="219573"/>
          </a:xfrm>
          <a:prstGeom prst="ellipse">
            <a:avLst/>
          </a:prstGeom>
          <a:solidFill>
            <a:srgbClr val="D25A0A"/>
          </a:solidFill>
          <a:ln w="7365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>
            <a:off x="7406932" y="6382258"/>
            <a:ext cx="117106" cy="0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7465485" y="6323705"/>
            <a:ext cx="0" cy="117106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Rectangle 379"/>
          <p:cNvSpPr/>
          <p:nvPr/>
        </p:nvSpPr>
        <p:spPr>
          <a:xfrm>
            <a:off x="7860717" y="4223122"/>
            <a:ext cx="5840644" cy="2517771"/>
          </a:xfrm>
          <a:prstGeom prst="rect">
            <a:avLst/>
          </a:prstGeom>
          <a:solidFill>
            <a:srgbClr val="FFFFFF"/>
          </a:solidFill>
          <a:ln w="22097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>
            <a:off x="12025287" y="4237760"/>
            <a:ext cx="0" cy="2495815"/>
          </a:xfrm>
          <a:prstGeom prst="line">
            <a:avLst/>
          </a:prstGeom>
          <a:ln w="22097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Rectangle 381"/>
          <p:cNvSpPr/>
          <p:nvPr/>
        </p:nvSpPr>
        <p:spPr>
          <a:xfrm>
            <a:off x="8014418" y="4252399"/>
            <a:ext cx="3513169" cy="1288162"/>
          </a:xfrm>
          <a:prstGeom prst="rect">
            <a:avLst/>
          </a:prstGeom>
          <a:solidFill>
            <a:srgbClr val="DDEAF4"/>
          </a:solidFill>
          <a:ln w="7365">
            <a:solidFill>
              <a:srgbClr val="D1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8051013" y="4252399"/>
            <a:ext cx="3330192" cy="3732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2" b="0" i="1">
                <a:solidFill>
                  <a:srgbClr val="243B68"/>
                </a:solidFill>
                <a:latin typeface="Arial"/>
              </a:defRPr>
            </a:pPr>
            <a:r>
              <a:t>You are a math expert. You will be given a math</a:t>
            </a:r>
            <a:br/>
            <a:r>
              <a:t>problem ... Q: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9090326" y="4450014"/>
            <a:ext cx="512337" cy="212254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9112283" y="4442695"/>
            <a:ext cx="468422" cy="2122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9" b="1" i="0">
                <a:solidFill>
                  <a:srgbClr val="111111"/>
                </a:solidFill>
                <a:latin typeface="DejaVu Serif"/>
              </a:defRPr>
            </a:pPr>
            <a:r>
              <a:t>φ(₁,₁)</a:t>
            </a:r>
          </a:p>
        </p:txBody>
      </p:sp>
      <p:cxnSp>
        <p:nvCxnSpPr>
          <p:cNvPr id="386" name="Connector 385"/>
          <p:cNvCxnSpPr/>
          <p:nvPr/>
        </p:nvCxnSpPr>
        <p:spPr>
          <a:xfrm flipV="1">
            <a:off x="9156198" y="4471972"/>
            <a:ext cx="175658" cy="168339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9287942" y="4471972"/>
            <a:ext cx="175658" cy="168339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9419686" y="4471972"/>
            <a:ext cx="161020" cy="168339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Rectangle 388"/>
          <p:cNvSpPr/>
          <p:nvPr/>
        </p:nvSpPr>
        <p:spPr>
          <a:xfrm>
            <a:off x="9844194" y="4391462"/>
            <a:ext cx="526975" cy="204934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9866151" y="4384143"/>
            <a:ext cx="483060" cy="2049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p(₁,₀)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8058332" y="4625673"/>
            <a:ext cx="3322872" cy="3659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1">
                <a:solidFill>
                  <a:srgbClr val="243B68"/>
                </a:solidFill>
                <a:latin typeface="Arial"/>
              </a:defRPr>
            </a:pPr>
            <a:r>
              <a:t>Answers from other agents are:</a:t>
            </a:r>
            <a:br/>
            <a:r>
              <a:t>Agent 2 as a mathematical analyst!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9368452" y="4786693"/>
            <a:ext cx="505018" cy="212254"/>
          </a:xfrm>
          <a:prstGeom prst="rect">
            <a:avLst/>
          </a:prstGeom>
          <a:solidFill>
            <a:srgbClr val="B7DB9B"/>
          </a:solidFill>
          <a:ln w="8102">
            <a:solidFill>
              <a:srgbClr val="79A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9390409" y="4779374"/>
            <a:ext cx="461103" cy="2122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φ(₁,₂)</a:t>
            </a:r>
          </a:p>
        </p:txBody>
      </p:sp>
      <p:cxnSp>
        <p:nvCxnSpPr>
          <p:cNvPr id="394" name="Connector 393"/>
          <p:cNvCxnSpPr/>
          <p:nvPr/>
        </p:nvCxnSpPr>
        <p:spPr>
          <a:xfrm flipV="1">
            <a:off x="9434324" y="4808651"/>
            <a:ext cx="175658" cy="168339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9566068" y="4808651"/>
            <a:ext cx="175658" cy="168339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9697812" y="4808651"/>
            <a:ext cx="153701" cy="168339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Rectangle 396"/>
          <p:cNvSpPr/>
          <p:nvPr/>
        </p:nvSpPr>
        <p:spPr>
          <a:xfrm>
            <a:off x="10517551" y="4625673"/>
            <a:ext cx="526975" cy="204934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10539509" y="4618354"/>
            <a:ext cx="483060" cy="2049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p(₁,₁)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8058332" y="4984309"/>
            <a:ext cx="3322872" cy="3074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1">
                <a:solidFill>
                  <a:srgbClr val="243B68"/>
                </a:solidFill>
                <a:latin typeface="Arial"/>
              </a:defRPr>
            </a:pPr>
            <a:r>
              <a:t>the execution result is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9200113" y="4955033"/>
            <a:ext cx="505018" cy="212254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9222070" y="4947713"/>
            <a:ext cx="461103" cy="2122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φ(₁,₃)</a:t>
            </a:r>
          </a:p>
        </p:txBody>
      </p:sp>
      <p:cxnSp>
        <p:nvCxnSpPr>
          <p:cNvPr id="402" name="Connector 401"/>
          <p:cNvCxnSpPr/>
          <p:nvPr/>
        </p:nvCxnSpPr>
        <p:spPr>
          <a:xfrm flipV="1">
            <a:off x="9265985" y="4976990"/>
            <a:ext cx="175658" cy="168339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9397728" y="4976990"/>
            <a:ext cx="175659" cy="168339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9529472" y="4976990"/>
            <a:ext cx="153701" cy="168339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Rectangle 404"/>
          <p:cNvSpPr/>
          <p:nvPr/>
        </p:nvSpPr>
        <p:spPr>
          <a:xfrm>
            <a:off x="8468202" y="5277073"/>
            <a:ext cx="526975" cy="204934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8490160" y="5269754"/>
            <a:ext cx="483060" cy="2049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p(₁,₂)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9829556" y="5277073"/>
            <a:ext cx="526975" cy="204934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9851513" y="5269754"/>
            <a:ext cx="483060" cy="2049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21" b="1" i="0">
                <a:solidFill>
                  <a:srgbClr val="111111"/>
                </a:solidFill>
                <a:latin typeface="DejaVu Serif"/>
              </a:defRPr>
            </a:pPr>
            <a:r>
              <a:t>p(₁,₃)</a:t>
            </a:r>
          </a:p>
        </p:txBody>
      </p:sp>
      <p:cxnSp>
        <p:nvCxnSpPr>
          <p:cNvPr id="409" name="Connector 408"/>
          <p:cNvCxnSpPr/>
          <p:nvPr/>
        </p:nvCxnSpPr>
        <p:spPr>
          <a:xfrm flipH="1">
            <a:off x="8797562" y="4545163"/>
            <a:ext cx="263488" cy="0"/>
          </a:xfrm>
          <a:prstGeom prst="line">
            <a:avLst/>
          </a:prstGeom>
          <a:ln w="14731">
            <a:solidFill>
              <a:srgbClr val="3E6D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8797562" y="4545163"/>
            <a:ext cx="0" cy="724591"/>
          </a:xfrm>
          <a:prstGeom prst="line">
            <a:avLst/>
          </a:prstGeom>
          <a:ln w="14731">
            <a:solidFill>
              <a:srgbClr val="3E6D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H="1">
            <a:off x="10078405" y="4720821"/>
            <a:ext cx="424508" cy="0"/>
          </a:xfrm>
          <a:prstGeom prst="line">
            <a:avLst/>
          </a:prstGeom>
          <a:ln w="14731">
            <a:solidFill>
              <a:srgbClr val="3E6D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10078405" y="4720821"/>
            <a:ext cx="0" cy="548933"/>
          </a:xfrm>
          <a:prstGeom prst="line">
            <a:avLst/>
          </a:prstGeom>
          <a:ln w="14731">
            <a:solidFill>
              <a:srgbClr val="3E6D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H="1">
            <a:off x="8797562" y="5057500"/>
            <a:ext cx="424508" cy="0"/>
          </a:xfrm>
          <a:prstGeom prst="line">
            <a:avLst/>
          </a:prstGeom>
          <a:ln w="14731">
            <a:solidFill>
              <a:srgbClr val="3E6D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8797562" y="5057500"/>
            <a:ext cx="0" cy="204935"/>
          </a:xfrm>
          <a:prstGeom prst="line">
            <a:avLst/>
          </a:prstGeom>
          <a:ln w="14731">
            <a:solidFill>
              <a:srgbClr val="3E6D9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TextBox 414"/>
          <p:cNvSpPr txBox="1"/>
          <p:nvPr/>
        </p:nvSpPr>
        <p:spPr>
          <a:xfrm>
            <a:off x="10495594" y="5218520"/>
            <a:ext cx="936845" cy="3074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70" b="1" i="0">
                <a:solidFill>
                  <a:srgbClr val="000000"/>
                </a:solidFill>
                <a:latin typeface="Arial"/>
              </a:defRPr>
            </a:pPr>
            <a:r>
              <a:t>Example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2135073" y="4230441"/>
            <a:ext cx="1493097" cy="3952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19" b="1" i="0">
                <a:solidFill>
                  <a:srgbClr val="000000"/>
                </a:solidFill>
                <a:latin typeface="Arial"/>
              </a:defRPr>
            </a:pPr>
            <a:r>
              <a:t>Legend</a:t>
            </a:r>
          </a:p>
        </p:txBody>
      </p:sp>
      <p:sp>
        <p:nvSpPr>
          <p:cNvPr id="417" name="5-Point Star 416"/>
          <p:cNvSpPr/>
          <p:nvPr/>
        </p:nvSpPr>
        <p:spPr>
          <a:xfrm>
            <a:off x="11688608" y="4764736"/>
            <a:ext cx="161020" cy="161020"/>
          </a:xfrm>
          <a:prstGeom prst="star5">
            <a:avLst/>
          </a:prstGeom>
          <a:solidFill>
            <a:srgbClr val="F07B34"/>
          </a:solidFill>
          <a:ln w="10160">
            <a:solidFill>
              <a:srgbClr val="8F3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1966734" y="4662268"/>
            <a:ext cx="1668755" cy="3732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0">
                <a:solidFill>
                  <a:srgbClr val="111111"/>
                </a:solidFill>
                <a:latin typeface="Arial"/>
              </a:defRPr>
            </a:pPr>
            <a:r>
              <a:t>Queried (external input)</a:t>
            </a:r>
            <a:br/>
            <a:r>
              <a:t>Placeholder</a:t>
            </a:r>
          </a:p>
        </p:txBody>
      </p:sp>
      <p:sp>
        <p:nvSpPr>
          <p:cNvPr id="419" name="5-Point Star 418"/>
          <p:cNvSpPr/>
          <p:nvPr/>
        </p:nvSpPr>
        <p:spPr>
          <a:xfrm>
            <a:off x="11688608" y="5108734"/>
            <a:ext cx="161020" cy="161020"/>
          </a:xfrm>
          <a:prstGeom prst="star5">
            <a:avLst/>
          </a:prstGeom>
          <a:solidFill>
            <a:srgbClr val="6CAB4D"/>
          </a:solidFill>
          <a:ln w="10160">
            <a:solidFill>
              <a:srgbClr val="466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11966734" y="5020905"/>
            <a:ext cx="1668755" cy="343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0">
                <a:solidFill>
                  <a:srgbClr val="111111"/>
                </a:solidFill>
                <a:latin typeface="Arial"/>
              </a:defRPr>
            </a:pPr>
            <a:r>
              <a:t>Queried (response)</a:t>
            </a:r>
            <a:br/>
            <a:r>
              <a:t>Placeholder</a:t>
            </a:r>
          </a:p>
        </p:txBody>
      </p:sp>
      <p:sp>
        <p:nvSpPr>
          <p:cNvPr id="421" name="Oval 420"/>
          <p:cNvSpPr/>
          <p:nvPr/>
        </p:nvSpPr>
        <p:spPr>
          <a:xfrm>
            <a:off x="11695927" y="5460051"/>
            <a:ext cx="146382" cy="146382"/>
          </a:xfrm>
          <a:prstGeom prst="ellipse">
            <a:avLst/>
          </a:prstGeom>
          <a:solidFill>
            <a:srgbClr val="C3AB85"/>
          </a:solidFill>
          <a:ln w="3175">
            <a:solidFill>
              <a:srgbClr val="C3A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11966734" y="5379541"/>
            <a:ext cx="1668755" cy="3147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0">
                <a:solidFill>
                  <a:srgbClr val="111111"/>
                </a:solidFill>
                <a:latin typeface="Arial"/>
              </a:defRPr>
            </a:pPr>
            <a:r>
              <a:t>KV Anchor of the</a:t>
            </a:r>
            <a:br/>
            <a:r>
              <a:t>Placeholder</a:t>
            </a:r>
          </a:p>
        </p:txBody>
      </p:sp>
      <p:sp>
        <p:nvSpPr>
          <p:cNvPr id="423" name="Oval 422"/>
          <p:cNvSpPr/>
          <p:nvPr/>
        </p:nvSpPr>
        <p:spPr>
          <a:xfrm>
            <a:off x="11644693" y="5774772"/>
            <a:ext cx="248849" cy="248849"/>
          </a:xfrm>
          <a:prstGeom prst="ellipse">
            <a:avLst/>
          </a:prstGeom>
          <a:solidFill>
            <a:srgbClr val="DCE3F5"/>
          </a:solidFill>
          <a:ln w="7365">
            <a:solidFill>
              <a:srgbClr val="CDD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11966734" y="5752815"/>
            <a:ext cx="1668755" cy="234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0">
                <a:solidFill>
                  <a:srgbClr val="111111"/>
                </a:solidFill>
                <a:latin typeface="Arial"/>
              </a:defRPr>
            </a:pPr>
            <a:r>
              <a:t>Anchor Hit Range</a:t>
            </a:r>
          </a:p>
        </p:txBody>
      </p:sp>
      <p:sp>
        <p:nvSpPr>
          <p:cNvPr id="425" name="Oval 424"/>
          <p:cNvSpPr/>
          <p:nvPr/>
        </p:nvSpPr>
        <p:spPr>
          <a:xfrm>
            <a:off x="11659331" y="6126089"/>
            <a:ext cx="219573" cy="219573"/>
          </a:xfrm>
          <a:prstGeom prst="ellipse">
            <a:avLst/>
          </a:prstGeom>
          <a:solidFill>
            <a:srgbClr val="D25A0A"/>
          </a:solidFill>
          <a:ln w="7365">
            <a:solidFill>
              <a:srgbClr val="D2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Connector 425"/>
          <p:cNvCxnSpPr/>
          <p:nvPr/>
        </p:nvCxnSpPr>
        <p:spPr>
          <a:xfrm>
            <a:off x="11710565" y="6235876"/>
            <a:ext cx="117106" cy="0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11769118" y="6177323"/>
            <a:ext cx="0" cy="117106"/>
          </a:xfrm>
          <a:prstGeom prst="line">
            <a:avLst/>
          </a:prstGeom>
          <a:ln w="184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11966734" y="6118770"/>
            <a:ext cx="1668755" cy="241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0">
                <a:solidFill>
                  <a:srgbClr val="111111"/>
                </a:solidFill>
                <a:latin typeface="Arial"/>
              </a:defRPr>
            </a:pPr>
            <a:r>
              <a:t>Add as a New Anchor</a:t>
            </a:r>
          </a:p>
        </p:txBody>
      </p:sp>
      <p:sp>
        <p:nvSpPr>
          <p:cNvPr id="429" name="Oval 428"/>
          <p:cNvSpPr/>
          <p:nvPr/>
        </p:nvSpPr>
        <p:spPr>
          <a:xfrm>
            <a:off x="11659331" y="6440811"/>
            <a:ext cx="219573" cy="219573"/>
          </a:xfrm>
          <a:prstGeom prst="ellipse">
            <a:avLst/>
          </a:prstGeom>
          <a:solidFill>
            <a:srgbClr val="4D8B32"/>
          </a:solidFill>
          <a:ln w="7365">
            <a:solidFill>
              <a:srgbClr val="4D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0" name="Connector 429"/>
          <p:cNvCxnSpPr/>
          <p:nvPr/>
        </p:nvCxnSpPr>
        <p:spPr>
          <a:xfrm>
            <a:off x="11710565" y="6550597"/>
            <a:ext cx="43915" cy="51234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11754480" y="6492044"/>
            <a:ext cx="87829" cy="109787"/>
          </a:xfrm>
          <a:prstGeom prst="line">
            <a:avLst/>
          </a:prstGeom>
          <a:ln w="22097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TextBox 431"/>
          <p:cNvSpPr txBox="1"/>
          <p:nvPr/>
        </p:nvSpPr>
        <p:spPr>
          <a:xfrm>
            <a:off x="11966734" y="6433491"/>
            <a:ext cx="1668755" cy="241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0">
                <a:solidFill>
                  <a:srgbClr val="111111"/>
                </a:solidFill>
                <a:latin typeface="Arial"/>
              </a:defRPr>
            </a:pPr>
            <a:r>
              <a:t>Sharable placeholder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8124204" y="5599114"/>
            <a:ext cx="585528" cy="263487"/>
          </a:xfrm>
          <a:prstGeom prst="rect">
            <a:avLst/>
          </a:prstGeom>
          <a:solidFill>
            <a:srgbClr val="F3C49F"/>
          </a:solidFill>
          <a:ln w="8102">
            <a:solidFill>
              <a:srgbClr val="D9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8146162" y="5591795"/>
            <a:ext cx="541613" cy="2634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7" b="1" i="0">
                <a:solidFill>
                  <a:srgbClr val="111111"/>
                </a:solidFill>
                <a:latin typeface="DejaVu Serif"/>
              </a:defRPr>
            </a:pPr>
            <a:r>
              <a:t>φ(ₘ,ᵢ)</a:t>
            </a:r>
          </a:p>
        </p:txBody>
      </p:sp>
      <p:cxnSp>
        <p:nvCxnSpPr>
          <p:cNvPr id="435" name="Connector 434"/>
          <p:cNvCxnSpPr/>
          <p:nvPr/>
        </p:nvCxnSpPr>
        <p:spPr>
          <a:xfrm flipV="1">
            <a:off x="8190076" y="5621071"/>
            <a:ext cx="175659" cy="219573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8321820" y="5621071"/>
            <a:ext cx="175659" cy="219573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8453564" y="5621071"/>
            <a:ext cx="175659" cy="219573"/>
          </a:xfrm>
          <a:prstGeom prst="line">
            <a:avLst/>
          </a:prstGeom>
          <a:ln w="5156">
            <a:solidFill>
              <a:srgbClr val="E7A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/>
          <p:cNvSpPr txBox="1"/>
          <p:nvPr/>
        </p:nvSpPr>
        <p:spPr>
          <a:xfrm>
            <a:off x="8782924" y="5555199"/>
            <a:ext cx="2964236" cy="351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0">
                <a:solidFill>
                  <a:srgbClr val="111111"/>
                </a:solidFill>
                <a:latin typeface="Arial"/>
              </a:defRPr>
            </a:pPr>
            <a:r>
              <a:t>Estimated KV of the i-th (external input)</a:t>
            </a:r>
            <a:br/>
            <a:r>
              <a:t>Placeholder of Agent m</a:t>
            </a:r>
          </a:p>
        </p:txBody>
      </p:sp>
      <p:sp>
        <p:nvSpPr>
          <p:cNvPr id="439" name="Rectangle 438"/>
          <p:cNvSpPr/>
          <p:nvPr/>
        </p:nvSpPr>
        <p:spPr>
          <a:xfrm>
            <a:off x="8124204" y="5987026"/>
            <a:ext cx="585528" cy="263487"/>
          </a:xfrm>
          <a:prstGeom prst="rect">
            <a:avLst/>
          </a:prstGeom>
          <a:solidFill>
            <a:srgbClr val="B7DB9B"/>
          </a:solidFill>
          <a:ln w="8102">
            <a:solidFill>
              <a:srgbClr val="79A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8146162" y="5979707"/>
            <a:ext cx="541613" cy="2634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7" b="1" i="0">
                <a:solidFill>
                  <a:srgbClr val="111111"/>
                </a:solidFill>
                <a:latin typeface="DejaVu Serif"/>
              </a:defRPr>
            </a:pPr>
            <a:r>
              <a:t>φ(ₘ,ᵢ)</a:t>
            </a:r>
          </a:p>
        </p:txBody>
      </p:sp>
      <p:cxnSp>
        <p:nvCxnSpPr>
          <p:cNvPr id="441" name="Connector 440"/>
          <p:cNvCxnSpPr/>
          <p:nvPr/>
        </p:nvCxnSpPr>
        <p:spPr>
          <a:xfrm flipV="1">
            <a:off x="8190076" y="6008983"/>
            <a:ext cx="175659" cy="219574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8321820" y="6008983"/>
            <a:ext cx="175659" cy="219574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8453564" y="6008983"/>
            <a:ext cx="175659" cy="219574"/>
          </a:xfrm>
          <a:prstGeom prst="line">
            <a:avLst/>
          </a:prstGeom>
          <a:ln w="5156">
            <a:solidFill>
              <a:srgbClr val="9BC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TextBox 443"/>
          <p:cNvSpPr txBox="1"/>
          <p:nvPr/>
        </p:nvSpPr>
        <p:spPr>
          <a:xfrm>
            <a:off x="8782924" y="5943112"/>
            <a:ext cx="2964236" cy="351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0">
                <a:solidFill>
                  <a:srgbClr val="111111"/>
                </a:solidFill>
                <a:latin typeface="Arial"/>
              </a:defRPr>
            </a:pPr>
            <a:r>
              <a:t>Estimated KV of the i-th (response)</a:t>
            </a:r>
            <a:br/>
            <a:r>
              <a:t>Placeholder of Agent m</a:t>
            </a:r>
          </a:p>
        </p:txBody>
      </p:sp>
      <p:sp>
        <p:nvSpPr>
          <p:cNvPr id="445" name="Rectangle 444"/>
          <p:cNvSpPr/>
          <p:nvPr/>
        </p:nvSpPr>
        <p:spPr>
          <a:xfrm>
            <a:off x="8124204" y="6374939"/>
            <a:ext cx="585528" cy="263487"/>
          </a:xfrm>
          <a:prstGeom prst="rect">
            <a:avLst/>
          </a:prstGeom>
          <a:solidFill>
            <a:srgbClr val="A8C0E6"/>
          </a:solidFill>
          <a:ln w="8102">
            <a:solidFill>
              <a:srgbClr val="77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8146162" y="6367620"/>
            <a:ext cx="541613" cy="2634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7" b="1" i="0">
                <a:solidFill>
                  <a:srgbClr val="111111"/>
                </a:solidFill>
                <a:latin typeface="DejaVu Serif"/>
              </a:defRPr>
            </a:pPr>
            <a:r>
              <a:t>p(ₘ,ᵢ)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8782924" y="6338343"/>
            <a:ext cx="2964236" cy="351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94" b="0" i="0">
                <a:solidFill>
                  <a:srgbClr val="111111"/>
                </a:solidFill>
                <a:latin typeface="Arial"/>
              </a:defRPr>
            </a:pPr>
            <a:r>
              <a:t>Estimated KV of the i-th Prefix</a:t>
            </a:r>
            <a:br/>
            <a:r>
              <a:t>Segment of Agent m</a:t>
            </a:r>
          </a:p>
        </p:txBody>
      </p:sp>
      <p:cxnSp>
        <p:nvCxnSpPr>
          <p:cNvPr id="448" name="Connector 447"/>
          <p:cNvCxnSpPr/>
          <p:nvPr/>
        </p:nvCxnSpPr>
        <p:spPr>
          <a:xfrm>
            <a:off x="2451899" y="6601831"/>
            <a:ext cx="0" cy="146382"/>
          </a:xfrm>
          <a:prstGeom prst="line">
            <a:avLst/>
          </a:prstGeom>
          <a:ln w="58927">
            <a:solidFill>
              <a:srgbClr val="4D8B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5284392" y="6601831"/>
            <a:ext cx="0" cy="146382"/>
          </a:xfrm>
          <a:prstGeom prst="line">
            <a:avLst/>
          </a:prstGeom>
          <a:ln w="58927">
            <a:solidFill>
              <a:srgbClr val="4D8B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KVCOMM Online Cross-context KV-cache Communication for Efficient LLM-based Multi-agent System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"/>
            <a:ext cx="13716000" cy="6748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