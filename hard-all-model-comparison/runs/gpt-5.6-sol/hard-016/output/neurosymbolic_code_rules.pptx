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556480" cy="9701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le green background"/>
          <p:cNvSpPr/>
          <p:nvPr/>
        </p:nvSpPr>
        <p:spPr>
          <a:xfrm>
            <a:off x="36576" y="164592"/>
            <a:ext cx="17483328" cy="9528048"/>
          </a:xfrm>
          <a:prstGeom prst="roundRect">
            <a:avLst>
              <a:gd name="adj" fmla="val 2879"/>
            </a:avLst>
          </a:prstGeom>
          <a:solidFill>
            <a:srgbClr val="C9EC8B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ain title"/>
          <p:cNvSpPr txBox="1"/>
          <p:nvPr/>
        </p:nvSpPr>
        <p:spPr>
          <a:xfrm>
            <a:off x="4800600" y="256032"/>
            <a:ext cx="795527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000000"/>
                </a:solidFill>
                <a:latin typeface="Arial"/>
              </a:rPr>
              <a:t>NeuroSymbolic Learning of Code Rules</a:t>
            </a:r>
          </a:p>
        </p:txBody>
      </p:sp>
      <p:sp>
        <p:nvSpPr>
          <p:cNvPr id="4" name="Stage 1 panel"/>
          <p:cNvSpPr/>
          <p:nvPr/>
        </p:nvSpPr>
        <p:spPr>
          <a:xfrm>
            <a:off x="210312" y="804672"/>
            <a:ext cx="5285232" cy="3666744"/>
          </a:xfrm>
          <a:prstGeom prst="roundRect">
            <a:avLst>
              <a:gd name="adj" fmla="val 6982"/>
            </a:avLst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ge 2 panel"/>
          <p:cNvSpPr/>
          <p:nvPr/>
        </p:nvSpPr>
        <p:spPr>
          <a:xfrm>
            <a:off x="5852160" y="804672"/>
            <a:ext cx="11576304" cy="3739896"/>
          </a:xfrm>
          <a:prstGeom prst="roundRect">
            <a:avLst>
              <a:gd name="adj" fmla="val 6845"/>
            </a:avLst>
          </a:prstGeom>
          <a:solidFill>
            <a:srgbClr val="E8E8E8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ge 4 panel"/>
          <p:cNvSpPr/>
          <p:nvPr/>
        </p:nvSpPr>
        <p:spPr>
          <a:xfrm>
            <a:off x="201168" y="4690872"/>
            <a:ext cx="7571231" cy="4873752"/>
          </a:xfrm>
          <a:prstGeom prst="roundRect">
            <a:avLst>
              <a:gd name="adj" fmla="val 5253"/>
            </a:avLst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ge 3 panel"/>
          <p:cNvSpPr/>
          <p:nvPr/>
        </p:nvSpPr>
        <p:spPr>
          <a:xfrm>
            <a:off x="7936992" y="4690872"/>
            <a:ext cx="9491472" cy="4873752"/>
          </a:xfrm>
          <a:prstGeom prst="roundRect">
            <a:avLst>
              <a:gd name="adj" fmla="val 5253"/>
            </a:avLst>
          </a:prstGeom>
          <a:solidFill>
            <a:srgbClr val="E8E8E8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ge 1. Exploration of Traj"/>
          <p:cNvSpPr txBox="1"/>
          <p:nvPr/>
        </p:nvSpPr>
        <p:spPr>
          <a:xfrm>
            <a:off x="429768" y="905256"/>
            <a:ext cx="484632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00000"/>
                </a:solidFill>
                <a:latin typeface="Arial"/>
              </a:rPr>
              <a:t>Stage 1. Exploration of Trajectory Data</a:t>
            </a:r>
          </a:p>
        </p:txBody>
      </p:sp>
      <p:sp>
        <p:nvSpPr>
          <p:cNvPr id="9" name="Stage 2. Learning Symbolic K"/>
          <p:cNvSpPr txBox="1"/>
          <p:nvPr/>
        </p:nvSpPr>
        <p:spPr>
          <a:xfrm>
            <a:off x="7132320" y="832104"/>
            <a:ext cx="9015984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000000"/>
                </a:solidFill>
                <a:latin typeface="Arial"/>
              </a:rPr>
              <a:t>Stage 2. Learning Symbolic Knowledge</a:t>
            </a:r>
          </a:p>
        </p:txBody>
      </p:sp>
      <p:sp>
        <p:nvSpPr>
          <p:cNvPr id="10" name="Stage 4. Code Rule Set Pruni"/>
          <p:cNvSpPr txBox="1"/>
          <p:nvPr/>
        </p:nvSpPr>
        <p:spPr>
          <a:xfrm>
            <a:off x="338328" y="4736592"/>
            <a:ext cx="728776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Stage 4. Code Rule Set Pruning via Maximum Set Coverage</a:t>
            </a:r>
          </a:p>
        </p:txBody>
      </p:sp>
      <p:sp>
        <p:nvSpPr>
          <p:cNvPr id="11" name="Stage 3. Translating Symboli"/>
          <p:cNvSpPr txBox="1"/>
          <p:nvPr/>
        </p:nvSpPr>
        <p:spPr>
          <a:xfrm>
            <a:off x="8449056" y="4736592"/>
            <a:ext cx="847648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00000"/>
                </a:solidFill>
                <a:latin typeface="Arial"/>
              </a:rPr>
              <a:t>Stage 3. Translating Symbolic Knowledge to Code</a:t>
            </a:r>
          </a:p>
        </p:txBody>
      </p:sp>
      <p:sp>
        <p:nvSpPr>
          <p:cNvPr id="12" name="Real trajectory group"/>
          <p:cNvSpPr/>
          <p:nvPr/>
        </p:nvSpPr>
        <p:spPr>
          <a:xfrm>
            <a:off x="411480" y="1508760"/>
            <a:ext cx="4828032" cy="1170432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36576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edicted trajectory group"/>
          <p:cNvSpPr/>
          <p:nvPr/>
        </p:nvSpPr>
        <p:spPr>
          <a:xfrm>
            <a:off x="411480" y="3108960"/>
            <a:ext cx="4828032" cy="1179576"/>
          </a:xfrm>
          <a:prstGeom prst="roundRect">
            <a:avLst>
              <a:gd name="adj" fmla="val 15503"/>
            </a:avLst>
          </a:prstGeom>
          <a:solidFill>
            <a:srgbClr val="FFFFFF"/>
          </a:solidFill>
          <a:ln w="36576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l Trajectory"/>
          <p:cNvSpPr txBox="1"/>
          <p:nvPr/>
        </p:nvSpPr>
        <p:spPr>
          <a:xfrm>
            <a:off x="1371600" y="1499616"/>
            <a:ext cx="301752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000000"/>
                </a:solidFill>
                <a:latin typeface="Arial"/>
              </a:rPr>
              <a:t>Real Trajectory</a:t>
            </a:r>
          </a:p>
        </p:txBody>
      </p:sp>
      <p:sp>
        <p:nvSpPr>
          <p:cNvPr id="15" name="Predicted Trajectory"/>
          <p:cNvSpPr txBox="1"/>
          <p:nvPr/>
        </p:nvSpPr>
        <p:spPr>
          <a:xfrm>
            <a:off x="1252728" y="3849624"/>
            <a:ext cx="329184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00000"/>
                </a:solidFill>
                <a:latin typeface="Arial"/>
              </a:rPr>
              <a:t>Predicted Trajectory</a:t>
            </a:r>
          </a:p>
        </p:txBody>
      </p:sp>
      <p:sp>
        <p:nvSpPr>
          <p:cNvPr id="16" name="Real a₀"/>
          <p:cNvSpPr/>
          <p:nvPr/>
        </p:nvSpPr>
        <p:spPr>
          <a:xfrm>
            <a:off x="502920" y="1911095"/>
            <a:ext cx="658368" cy="658368"/>
          </a:xfrm>
          <a:prstGeom prst="ellipse">
            <a:avLst/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₀"/>
          <p:cNvSpPr txBox="1"/>
          <p:nvPr/>
        </p:nvSpPr>
        <p:spPr>
          <a:xfrm>
            <a:off x="512064" y="1965960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i="1">
                <a:solidFill>
                  <a:srgbClr val="000000"/>
                </a:solidFill>
                <a:latin typeface="Times New Roman"/>
              </a:rPr>
              <a:t>a₀</a:t>
            </a:r>
          </a:p>
        </p:txBody>
      </p:sp>
      <p:sp>
        <p:nvSpPr>
          <p:cNvPr id="18" name="Real o₁"/>
          <p:cNvSpPr/>
          <p:nvPr/>
        </p:nvSpPr>
        <p:spPr>
          <a:xfrm>
            <a:off x="1408176" y="1911095"/>
            <a:ext cx="658368" cy="658368"/>
          </a:xfrm>
          <a:prstGeom prst="ellipse">
            <a:avLst/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₁"/>
          <p:cNvSpPr txBox="1"/>
          <p:nvPr/>
        </p:nvSpPr>
        <p:spPr>
          <a:xfrm>
            <a:off x="1417320" y="1965960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i="1">
                <a:solidFill>
                  <a:srgbClr val="000000"/>
                </a:solidFill>
                <a:latin typeface="Times New Roman"/>
              </a:rPr>
              <a:t>o₁</a:t>
            </a:r>
          </a:p>
        </p:txBody>
      </p:sp>
      <p:sp>
        <p:nvSpPr>
          <p:cNvPr id="20" name="Real a₁"/>
          <p:cNvSpPr/>
          <p:nvPr/>
        </p:nvSpPr>
        <p:spPr>
          <a:xfrm>
            <a:off x="2313432" y="1911095"/>
            <a:ext cx="658368" cy="658368"/>
          </a:xfrm>
          <a:prstGeom prst="ellipse">
            <a:avLst/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₁"/>
          <p:cNvSpPr txBox="1"/>
          <p:nvPr/>
        </p:nvSpPr>
        <p:spPr>
          <a:xfrm>
            <a:off x="2322576" y="1965960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i="1">
                <a:solidFill>
                  <a:srgbClr val="000000"/>
                </a:solidFill>
                <a:latin typeface="Times New Roman"/>
              </a:rPr>
              <a:t>a₁</a:t>
            </a:r>
          </a:p>
        </p:txBody>
      </p:sp>
      <p:sp>
        <p:nvSpPr>
          <p:cNvPr id="22" name="Real o₂"/>
          <p:cNvSpPr/>
          <p:nvPr/>
        </p:nvSpPr>
        <p:spPr>
          <a:xfrm>
            <a:off x="3218688" y="1911095"/>
            <a:ext cx="658368" cy="658368"/>
          </a:xfrm>
          <a:prstGeom prst="ellipse">
            <a:avLst/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₂"/>
          <p:cNvSpPr txBox="1"/>
          <p:nvPr/>
        </p:nvSpPr>
        <p:spPr>
          <a:xfrm>
            <a:off x="3227832" y="1965960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i="1">
                <a:solidFill>
                  <a:srgbClr val="000000"/>
                </a:solidFill>
                <a:latin typeface="Times New Roman"/>
              </a:rPr>
              <a:t>o₂</a:t>
            </a:r>
          </a:p>
        </p:txBody>
      </p:sp>
      <p:sp>
        <p:nvSpPr>
          <p:cNvPr id="24" name="Real oₜ"/>
          <p:cNvSpPr/>
          <p:nvPr/>
        </p:nvSpPr>
        <p:spPr>
          <a:xfrm>
            <a:off x="4498848" y="1911095"/>
            <a:ext cx="658368" cy="658368"/>
          </a:xfrm>
          <a:prstGeom prst="ellipse">
            <a:avLst/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ₜ"/>
          <p:cNvSpPr txBox="1"/>
          <p:nvPr/>
        </p:nvSpPr>
        <p:spPr>
          <a:xfrm>
            <a:off x="4507992" y="1965960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i="1">
                <a:solidFill>
                  <a:srgbClr val="000000"/>
                </a:solidFill>
                <a:latin typeface="Times New Roman"/>
              </a:rPr>
              <a:t>oₜ</a:t>
            </a:r>
          </a:p>
        </p:txBody>
      </p:sp>
      <p:sp>
        <p:nvSpPr>
          <p:cNvPr id="26" name="Predicted â₀"/>
          <p:cNvSpPr/>
          <p:nvPr/>
        </p:nvSpPr>
        <p:spPr>
          <a:xfrm>
            <a:off x="502920" y="3218688"/>
            <a:ext cx="658368" cy="658368"/>
          </a:xfrm>
          <a:prstGeom prst="ellipse">
            <a:avLst/>
          </a:prstGeom>
          <a:solidFill>
            <a:srgbClr val="55E9E6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â₀"/>
          <p:cNvSpPr txBox="1"/>
          <p:nvPr/>
        </p:nvSpPr>
        <p:spPr>
          <a:xfrm>
            <a:off x="512064" y="3273552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1">
                <a:solidFill>
                  <a:srgbClr val="000000"/>
                </a:solidFill>
                <a:latin typeface="Times New Roman"/>
              </a:rPr>
              <a:t>â₀</a:t>
            </a:r>
          </a:p>
        </p:txBody>
      </p:sp>
      <p:sp>
        <p:nvSpPr>
          <p:cNvPr id="28" name="Predicted ô₁"/>
          <p:cNvSpPr/>
          <p:nvPr/>
        </p:nvSpPr>
        <p:spPr>
          <a:xfrm>
            <a:off x="1408176" y="3218688"/>
            <a:ext cx="658368" cy="658368"/>
          </a:xfrm>
          <a:prstGeom prst="ellipse">
            <a:avLst/>
          </a:prstGeom>
          <a:solidFill>
            <a:srgbClr val="55E9E6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ô₁"/>
          <p:cNvSpPr txBox="1"/>
          <p:nvPr/>
        </p:nvSpPr>
        <p:spPr>
          <a:xfrm>
            <a:off x="1417320" y="3273552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1">
                <a:solidFill>
                  <a:srgbClr val="000000"/>
                </a:solidFill>
                <a:latin typeface="Times New Roman"/>
              </a:rPr>
              <a:t>ô₁</a:t>
            </a:r>
          </a:p>
        </p:txBody>
      </p:sp>
      <p:sp>
        <p:nvSpPr>
          <p:cNvPr id="30" name="Predicted â₁"/>
          <p:cNvSpPr/>
          <p:nvPr/>
        </p:nvSpPr>
        <p:spPr>
          <a:xfrm>
            <a:off x="2313432" y="3218688"/>
            <a:ext cx="658368" cy="658368"/>
          </a:xfrm>
          <a:prstGeom prst="ellipse">
            <a:avLst/>
          </a:prstGeom>
          <a:solidFill>
            <a:srgbClr val="F653A6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â₁"/>
          <p:cNvSpPr txBox="1"/>
          <p:nvPr/>
        </p:nvSpPr>
        <p:spPr>
          <a:xfrm>
            <a:off x="2322576" y="3273552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1">
                <a:solidFill>
                  <a:srgbClr val="000000"/>
                </a:solidFill>
                <a:latin typeface="Times New Roman"/>
              </a:rPr>
              <a:t>â₁</a:t>
            </a:r>
          </a:p>
        </p:txBody>
      </p:sp>
      <p:sp>
        <p:nvSpPr>
          <p:cNvPr id="32" name="Predicted ô₂"/>
          <p:cNvSpPr/>
          <p:nvPr/>
        </p:nvSpPr>
        <p:spPr>
          <a:xfrm>
            <a:off x="3218688" y="3218688"/>
            <a:ext cx="658368" cy="658368"/>
          </a:xfrm>
          <a:prstGeom prst="ellipse">
            <a:avLst/>
          </a:prstGeom>
          <a:solidFill>
            <a:srgbClr val="F653A6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ô₂"/>
          <p:cNvSpPr txBox="1"/>
          <p:nvPr/>
        </p:nvSpPr>
        <p:spPr>
          <a:xfrm>
            <a:off x="3227832" y="3273552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1">
                <a:solidFill>
                  <a:srgbClr val="000000"/>
                </a:solidFill>
                <a:latin typeface="Times New Roman"/>
              </a:rPr>
              <a:t>ô₂</a:t>
            </a:r>
          </a:p>
        </p:txBody>
      </p:sp>
      <p:sp>
        <p:nvSpPr>
          <p:cNvPr id="34" name="Predicted ôₜ"/>
          <p:cNvSpPr/>
          <p:nvPr/>
        </p:nvSpPr>
        <p:spPr>
          <a:xfrm>
            <a:off x="4498848" y="3218688"/>
            <a:ext cx="658368" cy="658368"/>
          </a:xfrm>
          <a:prstGeom prst="ellipse">
            <a:avLst/>
          </a:prstGeom>
          <a:solidFill>
            <a:srgbClr val="F653A6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ôₜ"/>
          <p:cNvSpPr txBox="1"/>
          <p:nvPr/>
        </p:nvSpPr>
        <p:spPr>
          <a:xfrm>
            <a:off x="4507992" y="3273552"/>
            <a:ext cx="6400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1">
                <a:solidFill>
                  <a:srgbClr val="000000"/>
                </a:solidFill>
                <a:latin typeface="Times New Roman"/>
              </a:rPr>
              <a:t>ôₜ</a:t>
            </a:r>
          </a:p>
        </p:txBody>
      </p:sp>
      <p:sp>
        <p:nvSpPr>
          <p:cNvPr id="36" name="…"/>
          <p:cNvSpPr txBox="1"/>
          <p:nvPr/>
        </p:nvSpPr>
        <p:spPr>
          <a:xfrm>
            <a:off x="4014215" y="1965960"/>
            <a:ext cx="393192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000000"/>
                </a:solidFill>
                <a:latin typeface="Arial"/>
              </a:rPr>
              <a:t>…</a:t>
            </a:r>
          </a:p>
        </p:txBody>
      </p:sp>
      <p:sp>
        <p:nvSpPr>
          <p:cNvPr id="37" name="…"/>
          <p:cNvSpPr txBox="1"/>
          <p:nvPr/>
        </p:nvSpPr>
        <p:spPr>
          <a:xfrm>
            <a:off x="4014215" y="3282696"/>
            <a:ext cx="393192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000000"/>
                </a:solidFill>
                <a:latin typeface="Arial"/>
              </a:rPr>
              <a:t>…</a:t>
            </a:r>
          </a:p>
        </p:txBody>
      </p:sp>
      <p:cxnSp>
        <p:nvCxnSpPr>
          <p:cNvPr id="38" name="Correct transition comparison"/>
          <p:cNvCxnSpPr/>
          <p:nvPr/>
        </p:nvCxnSpPr>
        <p:spPr>
          <a:xfrm>
            <a:off x="1737360" y="2596896"/>
            <a:ext cx="0" cy="594360"/>
          </a:xfrm>
          <a:prstGeom prst="line">
            <a:avLst/>
          </a:prstGeom>
          <a:ln w="45719">
            <a:solidFill>
              <a:srgbClr val="00C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Arrowhead"/>
          <p:cNvSpPr/>
          <p:nvPr/>
        </p:nvSpPr>
        <p:spPr>
          <a:xfrm>
            <a:off x="1662744" y="2441448"/>
            <a:ext cx="149231" cy="0"/>
          </a:xfrm>
          <a:custGeom>
            <a:avLst/>
            <a:gdLst/>
            <a:ahLst/>
            <a:cxnLst/>
            <a:rect l="l" t="t" r="r" b="b"/>
            <a:pathLst>
              <a:path w="149231" h="0">
                <a:moveTo>
                  <a:pt x="0" y="0"/>
                </a:moveTo>
                <a:lnTo>
                  <a:pt x="0" y="0"/>
                </a:lnTo>
                <a:lnTo>
                  <a:pt x="149231" y="0"/>
                </a:lnTo>
                <a:close/>
              </a:path>
            </a:pathLst>
          </a:custGeom>
          <a:solidFill>
            <a:srgbClr val="00C900"/>
          </a:solidFill>
          <a:ln>
            <a:solidFill>
              <a:srgbClr val="00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rowhead"/>
          <p:cNvSpPr/>
          <p:nvPr/>
        </p:nvSpPr>
        <p:spPr>
          <a:xfrm>
            <a:off x="1662744" y="3035808"/>
            <a:ext cx="149231" cy="0"/>
          </a:xfrm>
          <a:custGeom>
            <a:avLst/>
            <a:gdLst/>
            <a:ahLst/>
            <a:cxnLst/>
            <a:rect l="l" t="t" r="r" b="b"/>
            <a:pathLst>
              <a:path w="149231" h="0">
                <a:moveTo>
                  <a:pt x="0" y="0"/>
                </a:moveTo>
                <a:lnTo>
                  <a:pt x="0" y="0"/>
                </a:lnTo>
                <a:lnTo>
                  <a:pt x="149231" y="0"/>
                </a:lnTo>
                <a:close/>
              </a:path>
            </a:pathLst>
          </a:custGeom>
          <a:solidFill>
            <a:srgbClr val="00C900"/>
          </a:solidFill>
          <a:ln>
            <a:solidFill>
              <a:srgbClr val="00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Incorrect transition comparison"/>
          <p:cNvCxnSpPr/>
          <p:nvPr/>
        </p:nvCxnSpPr>
        <p:spPr>
          <a:xfrm>
            <a:off x="3547872" y="2596896"/>
            <a:ext cx="0" cy="594360"/>
          </a:xfrm>
          <a:prstGeom prst="line">
            <a:avLst/>
          </a:prstGeom>
          <a:ln w="45719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Arrowhead"/>
          <p:cNvSpPr/>
          <p:nvPr/>
        </p:nvSpPr>
        <p:spPr>
          <a:xfrm>
            <a:off x="3473256" y="2441448"/>
            <a:ext cx="149231" cy="0"/>
          </a:xfrm>
          <a:custGeom>
            <a:avLst/>
            <a:gdLst/>
            <a:ahLst/>
            <a:cxnLst/>
            <a:rect l="l" t="t" r="r" b="b"/>
            <a:pathLst>
              <a:path w="149231" h="0">
                <a:moveTo>
                  <a:pt x="0" y="0"/>
                </a:moveTo>
                <a:lnTo>
                  <a:pt x="0" y="0"/>
                </a:lnTo>
                <a:lnTo>
                  <a:pt x="149231" y="0"/>
                </a:lnTo>
                <a:close/>
              </a:path>
            </a:pathLst>
          </a:cu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rowhead"/>
          <p:cNvSpPr/>
          <p:nvPr/>
        </p:nvSpPr>
        <p:spPr>
          <a:xfrm>
            <a:off x="3473256" y="3035808"/>
            <a:ext cx="149231" cy="0"/>
          </a:xfrm>
          <a:custGeom>
            <a:avLst/>
            <a:gdLst/>
            <a:ahLst/>
            <a:cxnLst/>
            <a:rect l="l" t="t" r="r" b="b"/>
            <a:pathLst>
              <a:path w="149231" h="0">
                <a:moveTo>
                  <a:pt x="0" y="0"/>
                </a:moveTo>
                <a:lnTo>
                  <a:pt x="0" y="0"/>
                </a:lnTo>
                <a:lnTo>
                  <a:pt x="149231" y="0"/>
                </a:lnTo>
                <a:close/>
              </a:path>
            </a:pathLst>
          </a:cu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Incorrect transition comparison"/>
          <p:cNvCxnSpPr/>
          <p:nvPr/>
        </p:nvCxnSpPr>
        <p:spPr>
          <a:xfrm>
            <a:off x="4828032" y="2596896"/>
            <a:ext cx="0" cy="594360"/>
          </a:xfrm>
          <a:prstGeom prst="line">
            <a:avLst/>
          </a:prstGeom>
          <a:ln w="45719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rrowhead"/>
          <p:cNvSpPr/>
          <p:nvPr/>
        </p:nvSpPr>
        <p:spPr>
          <a:xfrm>
            <a:off x="4753416" y="2441448"/>
            <a:ext cx="149231" cy="0"/>
          </a:xfrm>
          <a:custGeom>
            <a:avLst/>
            <a:gdLst/>
            <a:ahLst/>
            <a:cxnLst/>
            <a:rect l="l" t="t" r="r" b="b"/>
            <a:pathLst>
              <a:path w="149231" h="0">
                <a:moveTo>
                  <a:pt x="0" y="0"/>
                </a:moveTo>
                <a:lnTo>
                  <a:pt x="0" y="0"/>
                </a:lnTo>
                <a:lnTo>
                  <a:pt x="149231" y="0"/>
                </a:lnTo>
                <a:close/>
              </a:path>
            </a:pathLst>
          </a:cu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rowhead"/>
          <p:cNvSpPr/>
          <p:nvPr/>
        </p:nvSpPr>
        <p:spPr>
          <a:xfrm>
            <a:off x="4753416" y="3035808"/>
            <a:ext cx="149231" cy="0"/>
          </a:xfrm>
          <a:custGeom>
            <a:avLst/>
            <a:gdLst/>
            <a:ahLst/>
            <a:cxnLst/>
            <a:rect l="l" t="t" r="r" b="b"/>
            <a:pathLst>
              <a:path w="149231" h="0">
                <a:moveTo>
                  <a:pt x="0" y="0"/>
                </a:moveTo>
                <a:lnTo>
                  <a:pt x="0" y="0"/>
                </a:lnTo>
                <a:lnTo>
                  <a:pt x="149231" y="0"/>
                </a:lnTo>
                <a:close/>
              </a:path>
            </a:pathLst>
          </a:cu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orrect prediction"/>
          <p:cNvSpPr/>
          <p:nvPr/>
        </p:nvSpPr>
        <p:spPr>
          <a:xfrm>
            <a:off x="1874519" y="2734056"/>
            <a:ext cx="237744" cy="237744"/>
          </a:xfrm>
          <a:prstGeom prst="roundRect">
            <a:avLst>
              <a:gd name="adj" fmla="val 15384"/>
            </a:avLst>
          </a:prstGeom>
          <a:solidFill>
            <a:srgbClr val="00C900"/>
          </a:solidFill>
          <a:ln w="9144">
            <a:solidFill>
              <a:srgbClr val="00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"/>
          <p:cNvCxnSpPr/>
          <p:nvPr/>
        </p:nvCxnSpPr>
        <p:spPr>
          <a:xfrm>
            <a:off x="1920240" y="2852928"/>
            <a:ext cx="54864" cy="64008"/>
          </a:xfrm>
          <a:prstGeom prst="line">
            <a:avLst/>
          </a:prstGeom>
          <a:ln w="36576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"/>
          <p:cNvCxnSpPr/>
          <p:nvPr/>
        </p:nvCxnSpPr>
        <p:spPr>
          <a:xfrm flipV="1">
            <a:off x="1975104" y="2779776"/>
            <a:ext cx="100584" cy="137160"/>
          </a:xfrm>
          <a:prstGeom prst="line">
            <a:avLst/>
          </a:prstGeom>
          <a:ln w="36576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"/>
          <p:cNvCxnSpPr/>
          <p:nvPr/>
        </p:nvCxnSpPr>
        <p:spPr>
          <a:xfrm>
            <a:off x="3675887" y="2734056"/>
            <a:ext cx="256033" cy="256032"/>
          </a:xfrm>
          <a:prstGeom prst="line">
            <a:avLst/>
          </a:prstGeom>
          <a:ln w="54864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"/>
          <p:cNvCxnSpPr/>
          <p:nvPr/>
        </p:nvCxnSpPr>
        <p:spPr>
          <a:xfrm flipH="1">
            <a:off x="3675887" y="2734056"/>
            <a:ext cx="256033" cy="256032"/>
          </a:xfrm>
          <a:prstGeom prst="line">
            <a:avLst/>
          </a:prstGeom>
          <a:ln w="54864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"/>
          <p:cNvCxnSpPr/>
          <p:nvPr/>
        </p:nvCxnSpPr>
        <p:spPr>
          <a:xfrm>
            <a:off x="4965192" y="2734056"/>
            <a:ext cx="256032" cy="256032"/>
          </a:xfrm>
          <a:prstGeom prst="line">
            <a:avLst/>
          </a:prstGeom>
          <a:ln w="54864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"/>
          <p:cNvCxnSpPr/>
          <p:nvPr/>
        </p:nvCxnSpPr>
        <p:spPr>
          <a:xfrm flipH="1">
            <a:off x="4965192" y="2734056"/>
            <a:ext cx="256032" cy="256032"/>
          </a:xfrm>
          <a:prstGeom prst="line">
            <a:avLst/>
          </a:prstGeom>
          <a:ln w="54864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al trajectory input"/>
          <p:cNvSpPr/>
          <p:nvPr/>
        </p:nvSpPr>
        <p:spPr>
          <a:xfrm>
            <a:off x="5980176" y="1335024"/>
            <a:ext cx="7488936" cy="32004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36576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bservation input"/>
          <p:cNvSpPr/>
          <p:nvPr/>
        </p:nvSpPr>
        <p:spPr>
          <a:xfrm>
            <a:off x="13642848" y="1335024"/>
            <a:ext cx="3621024" cy="32004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36576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al trajectory  t = k : t"/>
          <p:cNvSpPr txBox="1"/>
          <p:nvPr/>
        </p:nvSpPr>
        <p:spPr>
          <a:xfrm>
            <a:off x="6153912" y="1298448"/>
            <a:ext cx="7132320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>
                <a:solidFill>
                  <a:srgbClr val="000000"/>
                </a:solidFill>
                <a:latin typeface="Arial"/>
              </a:rPr>
              <a:t>Real trajectory  t = k : t</a:t>
            </a:r>
          </a:p>
        </p:txBody>
      </p:sp>
      <p:sp>
        <p:nvSpPr>
          <p:cNvPr id="57" name="oₜ in the real trajectory"/>
          <p:cNvSpPr txBox="1"/>
          <p:nvPr/>
        </p:nvSpPr>
        <p:spPr>
          <a:xfrm>
            <a:off x="13825728" y="1298448"/>
            <a:ext cx="3255264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0">
                <a:solidFill>
                  <a:srgbClr val="000000"/>
                </a:solidFill>
                <a:latin typeface="Times New Roman"/>
              </a:rPr>
              <a:t>oₜ in the real trajectory</a:t>
            </a:r>
          </a:p>
        </p:txBody>
      </p:sp>
      <p:cxnSp>
        <p:nvCxnSpPr>
          <p:cNvPr id="58" name="Connector"/>
          <p:cNvCxnSpPr/>
          <p:nvPr/>
        </p:nvCxnSpPr>
        <p:spPr>
          <a:xfrm>
            <a:off x="9729216" y="1655064"/>
            <a:ext cx="0" cy="210312"/>
          </a:xfrm>
          <a:prstGeom prst="line">
            <a:avLst/>
          </a:prstGeom>
          <a:ln w="365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"/>
          <p:cNvCxnSpPr/>
          <p:nvPr/>
        </p:nvCxnSpPr>
        <p:spPr>
          <a:xfrm>
            <a:off x="15435072" y="1655064"/>
            <a:ext cx="0" cy="210312"/>
          </a:xfrm>
          <a:prstGeom prst="line">
            <a:avLst/>
          </a:prstGeom>
          <a:ln w="365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LLM block"/>
          <p:cNvSpPr/>
          <p:nvPr/>
        </p:nvSpPr>
        <p:spPr>
          <a:xfrm>
            <a:off x="5980176" y="1883664"/>
            <a:ext cx="7488936" cy="420624"/>
          </a:xfrm>
          <a:prstGeom prst="roundRect">
            <a:avLst>
              <a:gd name="adj" fmla="val 13043"/>
            </a:avLst>
          </a:prstGeom>
          <a:solidFill>
            <a:srgbClr val="F6C4C4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rogram block"/>
          <p:cNvSpPr/>
          <p:nvPr/>
        </p:nvSpPr>
        <p:spPr>
          <a:xfrm>
            <a:off x="13624560" y="1883664"/>
            <a:ext cx="3648456" cy="420624"/>
          </a:xfrm>
          <a:prstGeom prst="roundRect">
            <a:avLst>
              <a:gd name="adj" fmla="val 13043"/>
            </a:avLst>
          </a:prstGeom>
          <a:solidFill>
            <a:srgbClr val="E2D6E7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LM"/>
          <p:cNvSpPr txBox="1"/>
          <p:nvPr/>
        </p:nvSpPr>
        <p:spPr>
          <a:xfrm>
            <a:off x="5980176" y="1883664"/>
            <a:ext cx="7488936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sp>
        <p:nvSpPr>
          <p:cNvPr id="63" name="Program"/>
          <p:cNvSpPr txBox="1"/>
          <p:nvPr/>
        </p:nvSpPr>
        <p:spPr>
          <a:xfrm>
            <a:off x="13624560" y="1883664"/>
            <a:ext cx="3648456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Arial"/>
              </a:rPr>
              <a:t>Program</a:t>
            </a:r>
          </a:p>
        </p:txBody>
      </p:sp>
      <p:cxnSp>
        <p:nvCxnSpPr>
          <p:cNvPr id="64" name="Connector"/>
          <p:cNvCxnSpPr/>
          <p:nvPr/>
        </p:nvCxnSpPr>
        <p:spPr>
          <a:xfrm>
            <a:off x="7808975" y="2304288"/>
            <a:ext cx="0" cy="228600"/>
          </a:xfrm>
          <a:prstGeom prst="line">
            <a:avLst/>
          </a:prstGeom>
          <a:ln w="365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Arrowhead"/>
          <p:cNvSpPr/>
          <p:nvPr/>
        </p:nvSpPr>
        <p:spPr>
          <a:xfrm>
            <a:off x="7749283" y="2408529"/>
            <a:ext cx="119385" cy="0"/>
          </a:xfrm>
          <a:custGeom>
            <a:avLst/>
            <a:gdLst/>
            <a:ahLst/>
            <a:cxnLst/>
            <a:rect l="l" t="t" r="r" b="b"/>
            <a:pathLst>
              <a:path w="119385" h="0">
                <a:moveTo>
                  <a:pt x="0" y="0"/>
                </a:moveTo>
                <a:lnTo>
                  <a:pt x="0" y="0"/>
                </a:lnTo>
                <a:lnTo>
                  <a:pt x="119385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"/>
          <p:cNvCxnSpPr/>
          <p:nvPr/>
        </p:nvCxnSpPr>
        <p:spPr>
          <a:xfrm>
            <a:off x="11631168" y="2304288"/>
            <a:ext cx="0" cy="228600"/>
          </a:xfrm>
          <a:prstGeom prst="line">
            <a:avLst/>
          </a:prstGeom>
          <a:ln w="365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Arrowhead"/>
          <p:cNvSpPr/>
          <p:nvPr/>
        </p:nvSpPr>
        <p:spPr>
          <a:xfrm>
            <a:off x="11571475" y="2408529"/>
            <a:ext cx="119385" cy="0"/>
          </a:xfrm>
          <a:custGeom>
            <a:avLst/>
            <a:gdLst/>
            <a:ahLst/>
            <a:cxnLst/>
            <a:rect l="l" t="t" r="r" b="b"/>
            <a:pathLst>
              <a:path w="119385" h="0">
                <a:moveTo>
                  <a:pt x="0" y="0"/>
                </a:moveTo>
                <a:lnTo>
                  <a:pt x="0" y="0"/>
                </a:lnTo>
                <a:lnTo>
                  <a:pt x="119385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"/>
          <p:cNvCxnSpPr/>
          <p:nvPr/>
        </p:nvCxnSpPr>
        <p:spPr>
          <a:xfrm>
            <a:off x="15444216" y="2304288"/>
            <a:ext cx="0" cy="228600"/>
          </a:xfrm>
          <a:prstGeom prst="line">
            <a:avLst/>
          </a:prstGeom>
          <a:ln w="365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Arrowhead"/>
          <p:cNvSpPr/>
          <p:nvPr/>
        </p:nvSpPr>
        <p:spPr>
          <a:xfrm>
            <a:off x="15384523" y="2408529"/>
            <a:ext cx="119385" cy="0"/>
          </a:xfrm>
          <a:custGeom>
            <a:avLst/>
            <a:gdLst/>
            <a:ahLst/>
            <a:cxnLst/>
            <a:rect l="l" t="t" r="r" b="b"/>
            <a:pathLst>
              <a:path w="119385" h="0">
                <a:moveTo>
                  <a:pt x="0" y="0"/>
                </a:moveTo>
                <a:lnTo>
                  <a:pt x="0" y="0"/>
                </a:lnTo>
                <a:lnTo>
                  <a:pt x="119385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ction Rules box"/>
          <p:cNvSpPr/>
          <p:nvPr/>
        </p:nvSpPr>
        <p:spPr>
          <a:xfrm>
            <a:off x="5980176" y="2551176"/>
            <a:ext cx="3675887" cy="1856231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Knowledge Graph box"/>
          <p:cNvSpPr/>
          <p:nvPr/>
        </p:nvSpPr>
        <p:spPr>
          <a:xfrm>
            <a:off x="9793224" y="2551176"/>
            <a:ext cx="3675887" cy="1856231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cene Graph box"/>
          <p:cNvSpPr/>
          <p:nvPr/>
        </p:nvSpPr>
        <p:spPr>
          <a:xfrm>
            <a:off x="13615416" y="2551176"/>
            <a:ext cx="3666744" cy="1856231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ction Rules"/>
          <p:cNvSpPr txBox="1"/>
          <p:nvPr/>
        </p:nvSpPr>
        <p:spPr>
          <a:xfrm>
            <a:off x="6135624" y="2560320"/>
            <a:ext cx="336499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00000"/>
                </a:solidFill>
                <a:latin typeface="Arial"/>
              </a:rPr>
              <a:t>Action Rules</a:t>
            </a:r>
          </a:p>
        </p:txBody>
      </p:sp>
      <p:sp>
        <p:nvSpPr>
          <p:cNvPr id="74" name="Knowledge Graph"/>
          <p:cNvSpPr txBox="1"/>
          <p:nvPr/>
        </p:nvSpPr>
        <p:spPr>
          <a:xfrm>
            <a:off x="9948672" y="2560320"/>
            <a:ext cx="336499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00000"/>
                </a:solidFill>
                <a:latin typeface="Arial"/>
              </a:rPr>
              <a:t>Knowledge Graph</a:t>
            </a:r>
          </a:p>
        </p:txBody>
      </p:sp>
      <p:sp>
        <p:nvSpPr>
          <p:cNvPr id="75" name="Scene Graph"/>
          <p:cNvSpPr txBox="1"/>
          <p:nvPr/>
        </p:nvSpPr>
        <p:spPr>
          <a:xfrm>
            <a:off x="13770864" y="2560320"/>
            <a:ext cx="3355848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00000"/>
                </a:solidFill>
                <a:latin typeface="Arial"/>
              </a:rPr>
              <a:t>Scene Graph</a:t>
            </a:r>
          </a:p>
        </p:txBody>
      </p:sp>
      <p:sp>
        <p:nvSpPr>
          <p:cNvPr id="76" name="1. For action 'craft', if th"/>
          <p:cNvSpPr txBox="1"/>
          <p:nvPr/>
        </p:nvSpPr>
        <p:spPr>
          <a:xfrm>
            <a:off x="6080760" y="2889504"/>
            <a:ext cx="3474720" cy="1399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1. For action 'craft',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if the player does not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have enough materials...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the action will 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2. For action ...</a:t>
            </a:r>
          </a:p>
        </p:txBody>
      </p:sp>
      <p:sp>
        <p:nvSpPr>
          <p:cNvPr id="77" name="Wood block top"/>
          <p:cNvSpPr/>
          <p:nvPr/>
        </p:nvSpPr>
        <p:spPr>
          <a:xfrm>
            <a:off x="11183112" y="2916936"/>
            <a:ext cx="356616" cy="201168"/>
          </a:xfrm>
          <a:custGeom>
            <a:avLst/>
            <a:gdLst/>
            <a:ahLst/>
            <a:cxnLst/>
            <a:rect l="l" t="t" r="r" b="b"/>
            <a:pathLst>
              <a:path w="356616" h="201168">
                <a:moveTo>
                  <a:pt x="0" y="0"/>
                </a:moveTo>
                <a:lnTo>
                  <a:pt x="173736" y="0"/>
                </a:lnTo>
                <a:lnTo>
                  <a:pt x="356616" y="91440"/>
                </a:lnTo>
                <a:lnTo>
                  <a:pt x="173736" y="201168"/>
                </a:lnTo>
                <a:close/>
              </a:path>
            </a:pathLst>
          </a:custGeom>
          <a:solidFill>
            <a:srgbClr val="8B653B"/>
          </a:solidFill>
          <a:ln w="18288">
            <a:solidFill>
              <a:srgbClr val="5F4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Wood block side"/>
          <p:cNvSpPr/>
          <p:nvPr/>
        </p:nvSpPr>
        <p:spPr>
          <a:xfrm>
            <a:off x="11183112" y="3008376"/>
            <a:ext cx="173736" cy="329184"/>
          </a:xfrm>
          <a:custGeom>
            <a:avLst/>
            <a:gdLst/>
            <a:ahLst/>
            <a:cxnLst/>
            <a:rect l="l" t="t" r="r" b="b"/>
            <a:pathLst>
              <a:path w="173736" h="329184">
                <a:moveTo>
                  <a:pt x="0" y="0"/>
                </a:moveTo>
                <a:lnTo>
                  <a:pt x="173736" y="109728"/>
                </a:lnTo>
                <a:lnTo>
                  <a:pt x="173736" y="329184"/>
                </a:lnTo>
                <a:lnTo>
                  <a:pt x="0" y="228600"/>
                </a:lnTo>
                <a:close/>
              </a:path>
            </a:pathLst>
          </a:custGeom>
          <a:solidFill>
            <a:srgbClr val="7B572E"/>
          </a:solidFill>
          <a:ln w="18288">
            <a:solidFill>
              <a:srgbClr val="5F4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Wood block face"/>
          <p:cNvSpPr/>
          <p:nvPr/>
        </p:nvSpPr>
        <p:spPr>
          <a:xfrm>
            <a:off x="11356848" y="3008376"/>
            <a:ext cx="182880" cy="329184"/>
          </a:xfrm>
          <a:custGeom>
            <a:avLst/>
            <a:gdLst/>
            <a:ahLst/>
            <a:cxnLst/>
            <a:rect l="l" t="t" r="r" b="b"/>
            <a:pathLst>
              <a:path w="182880" h="329184">
                <a:moveTo>
                  <a:pt x="0" y="0"/>
                </a:moveTo>
                <a:lnTo>
                  <a:pt x="182880" y="0"/>
                </a:lnTo>
                <a:lnTo>
                  <a:pt x="182880" y="219456"/>
                </a:lnTo>
                <a:lnTo>
                  <a:pt x="0" y="329184"/>
                </a:lnTo>
                <a:close/>
              </a:path>
            </a:pathLst>
          </a:custGeom>
          <a:solidFill>
            <a:srgbClr val="9A7040"/>
          </a:solidFill>
          <a:ln w="18288">
            <a:solidFill>
              <a:srgbClr val="5F4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rafting table top"/>
          <p:cNvSpPr/>
          <p:nvPr/>
        </p:nvSpPr>
        <p:spPr>
          <a:xfrm>
            <a:off x="12307824" y="2898648"/>
            <a:ext cx="393192" cy="219456"/>
          </a:xfrm>
          <a:custGeom>
            <a:avLst/>
            <a:gdLst/>
            <a:ahLst/>
            <a:cxnLst/>
            <a:rect l="l" t="t" r="r" b="b"/>
            <a:pathLst>
              <a:path w="393192" h="219456">
                <a:moveTo>
                  <a:pt x="0" y="0"/>
                </a:moveTo>
                <a:lnTo>
                  <a:pt x="192024" y="0"/>
                </a:lnTo>
                <a:lnTo>
                  <a:pt x="393192" y="109728"/>
                </a:lnTo>
                <a:lnTo>
                  <a:pt x="201168" y="219456"/>
                </a:lnTo>
                <a:close/>
              </a:path>
            </a:pathLst>
          </a:custGeom>
          <a:solidFill>
            <a:srgbClr val="A75B30"/>
          </a:solidFill>
          <a:ln w="18288">
            <a:solidFill>
              <a:srgbClr val="5D3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olygon"/>
          <p:cNvSpPr/>
          <p:nvPr/>
        </p:nvSpPr>
        <p:spPr>
          <a:xfrm>
            <a:off x="12307824" y="3017520"/>
            <a:ext cx="201168" cy="320040"/>
          </a:xfrm>
          <a:custGeom>
            <a:avLst/>
            <a:gdLst/>
            <a:ahLst/>
            <a:cxnLst/>
            <a:rect l="l" t="t" r="r" b="b"/>
            <a:pathLst>
              <a:path w="201168" h="320040">
                <a:moveTo>
                  <a:pt x="0" y="0"/>
                </a:moveTo>
                <a:lnTo>
                  <a:pt x="201168" y="100584"/>
                </a:lnTo>
                <a:lnTo>
                  <a:pt x="201168" y="320040"/>
                </a:lnTo>
                <a:lnTo>
                  <a:pt x="0" y="219456"/>
                </a:lnTo>
                <a:close/>
              </a:path>
            </a:pathLst>
          </a:custGeom>
          <a:solidFill>
            <a:srgbClr val="7C4B25"/>
          </a:solidFill>
          <a:ln w="18288">
            <a:solidFill>
              <a:srgbClr val="5D3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Polygon"/>
          <p:cNvSpPr/>
          <p:nvPr/>
        </p:nvSpPr>
        <p:spPr>
          <a:xfrm>
            <a:off x="12508992" y="3008376"/>
            <a:ext cx="192024" cy="329184"/>
          </a:xfrm>
          <a:custGeom>
            <a:avLst/>
            <a:gdLst/>
            <a:ahLst/>
            <a:cxnLst/>
            <a:rect l="l" t="t" r="r" b="b"/>
            <a:pathLst>
              <a:path w="192024" h="329184">
                <a:moveTo>
                  <a:pt x="0" y="0"/>
                </a:moveTo>
                <a:lnTo>
                  <a:pt x="192024" y="0"/>
                </a:lnTo>
                <a:lnTo>
                  <a:pt x="192024" y="219456"/>
                </a:lnTo>
                <a:lnTo>
                  <a:pt x="0" y="329184"/>
                </a:lnTo>
                <a:close/>
              </a:path>
            </a:pathLst>
          </a:custGeom>
          <a:solidFill>
            <a:srgbClr val="8B532A"/>
          </a:solidFill>
          <a:ln w="18288">
            <a:solidFill>
              <a:srgbClr val="5D3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"/>
          <p:cNvCxnSpPr/>
          <p:nvPr/>
        </p:nvCxnSpPr>
        <p:spPr>
          <a:xfrm>
            <a:off x="12399264" y="2953512"/>
            <a:ext cx="210312" cy="109728"/>
          </a:xfrm>
          <a:prstGeom prst="line">
            <a:avLst/>
          </a:prstGeom>
          <a:ln w="18288">
            <a:solidFill>
              <a:srgbClr val="4C2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"/>
          <p:cNvCxnSpPr/>
          <p:nvPr/>
        </p:nvCxnSpPr>
        <p:spPr>
          <a:xfrm flipH="1">
            <a:off x="12399264" y="2953512"/>
            <a:ext cx="210312" cy="109728"/>
          </a:xfrm>
          <a:prstGeom prst="line">
            <a:avLst/>
          </a:prstGeom>
          <a:ln w="18288">
            <a:solidFill>
              <a:srgbClr val="4C2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Pickaxe handle"/>
          <p:cNvCxnSpPr/>
          <p:nvPr/>
        </p:nvCxnSpPr>
        <p:spPr>
          <a:xfrm flipH="1">
            <a:off x="10607040" y="3300984"/>
            <a:ext cx="182880" cy="283464"/>
          </a:xfrm>
          <a:prstGeom prst="line">
            <a:avLst/>
          </a:prstGeom>
          <a:ln w="54864">
            <a:solidFill>
              <a:srgbClr val="5C4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"/>
          <p:cNvCxnSpPr/>
          <p:nvPr/>
        </p:nvCxnSpPr>
        <p:spPr>
          <a:xfrm>
            <a:off x="10579608" y="3328416"/>
            <a:ext cx="246888" cy="0"/>
          </a:xfrm>
          <a:prstGeom prst="line">
            <a:avLst/>
          </a:prstGeom>
          <a:ln w="54864">
            <a:solidFill>
              <a:srgbClr val="6B5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"/>
          <p:cNvCxnSpPr/>
          <p:nvPr/>
        </p:nvCxnSpPr>
        <p:spPr>
          <a:xfrm>
            <a:off x="10826496" y="3328416"/>
            <a:ext cx="109728" cy="109728"/>
          </a:xfrm>
          <a:prstGeom prst="line">
            <a:avLst/>
          </a:prstGeom>
          <a:ln w="54864">
            <a:solidFill>
              <a:srgbClr val="6B5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Stone block top"/>
          <p:cNvSpPr/>
          <p:nvPr/>
        </p:nvSpPr>
        <p:spPr>
          <a:xfrm>
            <a:off x="11759184" y="3355848"/>
            <a:ext cx="374904" cy="210312"/>
          </a:xfrm>
          <a:custGeom>
            <a:avLst/>
            <a:gdLst/>
            <a:ahLst/>
            <a:cxnLst/>
            <a:rect l="l" t="t" r="r" b="b"/>
            <a:pathLst>
              <a:path w="374904" h="210312">
                <a:moveTo>
                  <a:pt x="0" y="0"/>
                </a:moveTo>
                <a:lnTo>
                  <a:pt x="173736" y="0"/>
                </a:lnTo>
                <a:lnTo>
                  <a:pt x="374904" y="100584"/>
                </a:lnTo>
                <a:lnTo>
                  <a:pt x="182880" y="210312"/>
                </a:lnTo>
                <a:close/>
              </a:path>
            </a:pathLst>
          </a:custGeom>
          <a:solidFill>
            <a:srgbClr val="A7A7A7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olygon"/>
          <p:cNvSpPr/>
          <p:nvPr/>
        </p:nvSpPr>
        <p:spPr>
          <a:xfrm>
            <a:off x="11759184" y="3456432"/>
            <a:ext cx="182880" cy="329183"/>
          </a:xfrm>
          <a:custGeom>
            <a:avLst/>
            <a:gdLst/>
            <a:ahLst/>
            <a:cxnLst/>
            <a:rect l="l" t="t" r="r" b="b"/>
            <a:pathLst>
              <a:path w="182880" h="329183">
                <a:moveTo>
                  <a:pt x="0" y="0"/>
                </a:moveTo>
                <a:lnTo>
                  <a:pt x="182880" y="109728"/>
                </a:lnTo>
                <a:lnTo>
                  <a:pt x="182880" y="329183"/>
                </a:lnTo>
                <a:lnTo>
                  <a:pt x="0" y="219455"/>
                </a:lnTo>
                <a:close/>
              </a:path>
            </a:pathLst>
          </a:custGeom>
          <a:solidFill>
            <a:srgbClr val="8F8F8F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olygon"/>
          <p:cNvSpPr/>
          <p:nvPr/>
        </p:nvSpPr>
        <p:spPr>
          <a:xfrm>
            <a:off x="11942064" y="3456432"/>
            <a:ext cx="192024" cy="329183"/>
          </a:xfrm>
          <a:custGeom>
            <a:avLst/>
            <a:gdLst/>
            <a:ahLst/>
            <a:cxnLst/>
            <a:rect l="l" t="t" r="r" b="b"/>
            <a:pathLst>
              <a:path w="192024" h="329183">
                <a:moveTo>
                  <a:pt x="0" y="0"/>
                </a:moveTo>
                <a:lnTo>
                  <a:pt x="192024" y="0"/>
                </a:lnTo>
                <a:lnTo>
                  <a:pt x="192024" y="219455"/>
                </a:lnTo>
                <a:lnTo>
                  <a:pt x="0" y="329183"/>
                </a:lnTo>
                <a:close/>
              </a:path>
            </a:pathLst>
          </a:custGeom>
          <a:solidFill>
            <a:srgbClr val="B3B3B3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"/>
          <p:cNvCxnSpPr/>
          <p:nvPr/>
        </p:nvCxnSpPr>
        <p:spPr>
          <a:xfrm flipV="1">
            <a:off x="11585448" y="3127248"/>
            <a:ext cx="704088" cy="9144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Arrowhead"/>
          <p:cNvSpPr/>
          <p:nvPr/>
        </p:nvSpPr>
        <p:spPr>
          <a:xfrm>
            <a:off x="12215934" y="3093087"/>
            <a:ext cx="912" cy="70220"/>
          </a:xfrm>
          <a:custGeom>
            <a:avLst/>
            <a:gdLst/>
            <a:ahLst/>
            <a:cxnLst/>
            <a:rect l="l" t="t" r="r" b="b"/>
            <a:pathLst>
              <a:path w="912" h="70220">
                <a:moveTo>
                  <a:pt x="0" y="0"/>
                </a:moveTo>
                <a:lnTo>
                  <a:pt x="912" y="70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"/>
          <p:cNvCxnSpPr/>
          <p:nvPr/>
        </p:nvCxnSpPr>
        <p:spPr>
          <a:xfrm flipH="1">
            <a:off x="10890504" y="3209544"/>
            <a:ext cx="1380744" cy="137160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Arrowhead"/>
          <p:cNvSpPr/>
          <p:nvPr/>
        </p:nvSpPr>
        <p:spPr>
          <a:xfrm>
            <a:off x="10890504" y="3304531"/>
            <a:ext cx="76264" cy="69882"/>
          </a:xfrm>
          <a:custGeom>
            <a:avLst/>
            <a:gdLst/>
            <a:ahLst/>
            <a:cxnLst/>
            <a:rect l="l" t="t" r="r" b="b"/>
            <a:pathLst>
              <a:path w="76264" h="69882">
                <a:moveTo>
                  <a:pt x="0" y="0"/>
                </a:moveTo>
                <a:lnTo>
                  <a:pt x="69322" y="0"/>
                </a:lnTo>
                <a:lnTo>
                  <a:pt x="76264" y="69882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"/>
          <p:cNvCxnSpPr/>
          <p:nvPr/>
        </p:nvCxnSpPr>
        <p:spPr>
          <a:xfrm flipH="1">
            <a:off x="10890504" y="3557016"/>
            <a:ext cx="832104" cy="0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Arrowhead"/>
          <p:cNvSpPr/>
          <p:nvPr/>
        </p:nvSpPr>
        <p:spPr>
          <a:xfrm>
            <a:off x="10890504" y="3521903"/>
            <a:ext cx="73152" cy="70225"/>
          </a:xfrm>
          <a:custGeom>
            <a:avLst/>
            <a:gdLst/>
            <a:ahLst/>
            <a:cxnLst/>
            <a:rect l="l" t="t" r="r" b="b"/>
            <a:pathLst>
              <a:path w="73152" h="70225">
                <a:moveTo>
                  <a:pt x="0" y="0"/>
                </a:moveTo>
                <a:lnTo>
                  <a:pt x="73152" y="0"/>
                </a:lnTo>
                <a:lnTo>
                  <a:pt x="73152" y="70225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"/>
          <p:cNvCxnSpPr/>
          <p:nvPr/>
        </p:nvCxnSpPr>
        <p:spPr>
          <a:xfrm flipH="1">
            <a:off x="10863072" y="3456432"/>
            <a:ext cx="877824" cy="0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Arrowhead"/>
          <p:cNvSpPr/>
          <p:nvPr/>
        </p:nvSpPr>
        <p:spPr>
          <a:xfrm>
            <a:off x="10863072" y="3421319"/>
            <a:ext cx="73152" cy="70225"/>
          </a:xfrm>
          <a:custGeom>
            <a:avLst/>
            <a:gdLst/>
            <a:ahLst/>
            <a:cxnLst/>
            <a:rect l="l" t="t" r="r" b="b"/>
            <a:pathLst>
              <a:path w="73152" h="70225">
                <a:moveTo>
                  <a:pt x="0" y="0"/>
                </a:moveTo>
                <a:lnTo>
                  <a:pt x="73152" y="0"/>
                </a:lnTo>
                <a:lnTo>
                  <a:pt x="73152" y="70225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&quot;nodes&quot;: [{&quot;id&quot;:1,wood}..] &quot;"/>
          <p:cNvSpPr txBox="1"/>
          <p:nvPr/>
        </p:nvSpPr>
        <p:spPr>
          <a:xfrm>
            <a:off x="9875520" y="3712463"/>
            <a:ext cx="3474720" cy="576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Courier New"/>
              </a:rPr>
              <a:t>"nodes": [{"id":1,wood}..]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Courier New"/>
              </a:rPr>
              <a:t>"edges": [(1,2),(2,3),...]</a:t>
            </a:r>
          </a:p>
        </p:txBody>
      </p:sp>
      <p:cxnSp>
        <p:nvCxnSpPr>
          <p:cNvPr id="100" name="Connector"/>
          <p:cNvCxnSpPr/>
          <p:nvPr/>
        </p:nvCxnSpPr>
        <p:spPr>
          <a:xfrm>
            <a:off x="14813280" y="3044952"/>
            <a:ext cx="1426464" cy="45720"/>
          </a:xfrm>
          <a:prstGeom prst="line">
            <a:avLst/>
          </a:prstGeom>
          <a:ln w="36576">
            <a:solidFill>
              <a:srgbClr val="9B7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"/>
          <p:cNvCxnSpPr/>
          <p:nvPr/>
        </p:nvCxnSpPr>
        <p:spPr>
          <a:xfrm flipH="1">
            <a:off x="14383512" y="3044952"/>
            <a:ext cx="429768" cy="475488"/>
          </a:xfrm>
          <a:prstGeom prst="line">
            <a:avLst/>
          </a:prstGeom>
          <a:ln w="36576">
            <a:solidFill>
              <a:srgbClr val="9BB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"/>
          <p:cNvCxnSpPr/>
          <p:nvPr/>
        </p:nvCxnSpPr>
        <p:spPr>
          <a:xfrm>
            <a:off x="14813280" y="3044952"/>
            <a:ext cx="612648" cy="502920"/>
          </a:xfrm>
          <a:prstGeom prst="line">
            <a:avLst/>
          </a:prstGeom>
          <a:ln w="36576">
            <a:solidFill>
              <a:srgbClr val="9BB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"/>
          <p:cNvCxnSpPr/>
          <p:nvPr/>
        </p:nvCxnSpPr>
        <p:spPr>
          <a:xfrm>
            <a:off x="16248888" y="3090672"/>
            <a:ext cx="393192" cy="438912"/>
          </a:xfrm>
          <a:prstGeom prst="line">
            <a:avLst/>
          </a:prstGeom>
          <a:ln w="36576">
            <a:solidFill>
              <a:srgbClr val="9BB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"/>
          <p:cNvSpPr/>
          <p:nvPr/>
        </p:nvSpPr>
        <p:spPr>
          <a:xfrm>
            <a:off x="14365224" y="2880360"/>
            <a:ext cx="932688" cy="310896"/>
          </a:xfrm>
          <a:prstGeom prst="roundRect">
            <a:avLst>
              <a:gd name="adj" fmla="val 28000"/>
            </a:avLst>
          </a:prstGeom>
          <a:solidFill>
            <a:srgbClr val="9B72AF"/>
          </a:solidFill>
          <a:ln w="9144">
            <a:solidFill>
              <a:srgbClr val="9B7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"/>
          <p:cNvSpPr/>
          <p:nvPr/>
        </p:nvSpPr>
        <p:spPr>
          <a:xfrm>
            <a:off x="15809976" y="2907792"/>
            <a:ext cx="896112" cy="310896"/>
          </a:xfrm>
          <a:prstGeom prst="roundRect">
            <a:avLst>
              <a:gd name="adj" fmla="val 28000"/>
            </a:avLst>
          </a:prstGeom>
          <a:solidFill>
            <a:srgbClr val="9B72AF"/>
          </a:solidFill>
          <a:ln w="9144">
            <a:solidFill>
              <a:srgbClr val="9B7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"/>
          <p:cNvSpPr/>
          <p:nvPr/>
        </p:nvSpPr>
        <p:spPr>
          <a:xfrm>
            <a:off x="13880592" y="3374136"/>
            <a:ext cx="923544" cy="310896"/>
          </a:xfrm>
          <a:prstGeom prst="roundRect">
            <a:avLst>
              <a:gd name="adj" fmla="val 28000"/>
            </a:avLst>
          </a:prstGeom>
          <a:solidFill>
            <a:srgbClr val="9BBCE8"/>
          </a:solidFill>
          <a:ln w="9144">
            <a:solidFill>
              <a:srgbClr val="9BB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"/>
          <p:cNvSpPr/>
          <p:nvPr/>
        </p:nvSpPr>
        <p:spPr>
          <a:xfrm>
            <a:off x="14977872" y="3419856"/>
            <a:ext cx="950976" cy="310896"/>
          </a:xfrm>
          <a:prstGeom prst="roundRect">
            <a:avLst>
              <a:gd name="adj" fmla="val 28000"/>
            </a:avLst>
          </a:prstGeom>
          <a:solidFill>
            <a:srgbClr val="9BBCE8"/>
          </a:solidFill>
          <a:ln w="9144">
            <a:solidFill>
              <a:srgbClr val="9BB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"/>
          <p:cNvSpPr/>
          <p:nvPr/>
        </p:nvSpPr>
        <p:spPr>
          <a:xfrm>
            <a:off x="16175736" y="3374136"/>
            <a:ext cx="923544" cy="310896"/>
          </a:xfrm>
          <a:prstGeom prst="roundRect">
            <a:avLst>
              <a:gd name="adj" fmla="val 28000"/>
            </a:avLst>
          </a:prstGeom>
          <a:solidFill>
            <a:srgbClr val="9BBCE8"/>
          </a:solidFill>
          <a:ln w="9144">
            <a:solidFill>
              <a:srgbClr val="9BB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plains"/>
          <p:cNvSpPr txBox="1"/>
          <p:nvPr/>
        </p:nvSpPr>
        <p:spPr>
          <a:xfrm>
            <a:off x="14365224" y="2871216"/>
            <a:ext cx="93268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FFFFFF"/>
                </a:solidFill>
                <a:latin typeface="Arial"/>
              </a:rPr>
              <a:t>plains</a:t>
            </a:r>
          </a:p>
        </p:txBody>
      </p:sp>
      <p:sp>
        <p:nvSpPr>
          <p:cNvPr id="110" name="desert"/>
          <p:cNvSpPr txBox="1"/>
          <p:nvPr/>
        </p:nvSpPr>
        <p:spPr>
          <a:xfrm>
            <a:off x="15809976" y="2898648"/>
            <a:ext cx="89611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FFFFFF"/>
                </a:solidFill>
                <a:latin typeface="Arial"/>
              </a:rPr>
              <a:t>desert</a:t>
            </a:r>
          </a:p>
        </p:txBody>
      </p:sp>
      <p:sp>
        <p:nvSpPr>
          <p:cNvPr id="111" name="sheep"/>
          <p:cNvSpPr txBox="1"/>
          <p:nvPr/>
        </p:nvSpPr>
        <p:spPr>
          <a:xfrm>
            <a:off x="13880592" y="3364992"/>
            <a:ext cx="92354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sheep</a:t>
            </a:r>
          </a:p>
        </p:txBody>
      </p:sp>
      <p:sp>
        <p:nvSpPr>
          <p:cNvPr id="112" name="zombie"/>
          <p:cNvSpPr txBox="1"/>
          <p:nvPr/>
        </p:nvSpPr>
        <p:spPr>
          <a:xfrm>
            <a:off x="14977872" y="3410712"/>
            <a:ext cx="9509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zombie</a:t>
            </a:r>
          </a:p>
        </p:txBody>
      </p:sp>
      <p:sp>
        <p:nvSpPr>
          <p:cNvPr id="113" name="sand"/>
          <p:cNvSpPr txBox="1"/>
          <p:nvPr/>
        </p:nvSpPr>
        <p:spPr>
          <a:xfrm>
            <a:off x="16175736" y="3364992"/>
            <a:ext cx="92354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sand</a:t>
            </a:r>
          </a:p>
        </p:txBody>
      </p:sp>
      <p:sp>
        <p:nvSpPr>
          <p:cNvPr id="114" name="&quot;nodes&quot;: [{&quot;id&quot;:1,plains}] &quot;"/>
          <p:cNvSpPr txBox="1"/>
          <p:nvPr/>
        </p:nvSpPr>
        <p:spPr>
          <a:xfrm>
            <a:off x="13688568" y="3749039"/>
            <a:ext cx="3520440" cy="5394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00000"/>
                </a:solidFill>
                <a:latin typeface="Courier New"/>
              </a:rPr>
              <a:t>"nodes": [{"id":1,plains}]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00000"/>
                </a:solidFill>
                <a:latin typeface="Courier New"/>
              </a:rPr>
              <a:t>"edges": [(1,2),(2,3),...]</a:t>
            </a:r>
          </a:p>
        </p:txBody>
      </p:sp>
      <p:sp>
        <p:nvSpPr>
          <p:cNvPr id="115" name="Selected CodeRule 2 coverage"/>
          <p:cNvSpPr/>
          <p:nvPr/>
        </p:nvSpPr>
        <p:spPr>
          <a:xfrm>
            <a:off x="448056" y="5358384"/>
            <a:ext cx="2569464" cy="2825496"/>
          </a:xfrm>
          <a:prstGeom prst="ellipse">
            <a:avLst/>
          </a:prstGeom>
          <a:solidFill>
            <a:srgbClr val="FFD866"/>
          </a:solidFill>
          <a:ln w="36576">
            <a:solidFill>
              <a:srgbClr val="5356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elected CodeRule 1 coverage"/>
          <p:cNvSpPr/>
          <p:nvPr/>
        </p:nvSpPr>
        <p:spPr>
          <a:xfrm>
            <a:off x="3675887" y="5257800"/>
            <a:ext cx="3877056" cy="3054096"/>
          </a:xfrm>
          <a:prstGeom prst="ellipse">
            <a:avLst/>
          </a:prstGeom>
          <a:solidFill>
            <a:srgbClr val="FFD866"/>
          </a:solidFill>
          <a:ln w="36576">
            <a:solidFill>
              <a:srgbClr val="5356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Dropped CodeRule i coverage"/>
          <p:cNvSpPr/>
          <p:nvPr/>
        </p:nvSpPr>
        <p:spPr>
          <a:xfrm>
            <a:off x="2688336" y="7086600"/>
            <a:ext cx="1517904" cy="1563624"/>
          </a:xfrm>
          <a:prstGeom prst="ellipse">
            <a:avLst/>
          </a:prstGeom>
          <a:solidFill>
            <a:srgbClr val="E6E6E6"/>
          </a:solidFill>
          <a:ln w="36576">
            <a:solidFill>
              <a:srgbClr val="5356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Dropped CodeRule 0 coverage"/>
          <p:cNvSpPr/>
          <p:nvPr/>
        </p:nvSpPr>
        <p:spPr>
          <a:xfrm>
            <a:off x="4754880" y="5797296"/>
            <a:ext cx="1536192" cy="1600200"/>
          </a:xfrm>
          <a:prstGeom prst="ellipse">
            <a:avLst/>
          </a:prstGeom>
          <a:solidFill>
            <a:srgbClr val="E6E6E6"/>
          </a:solidFill>
          <a:ln w="36576">
            <a:solidFill>
              <a:srgbClr val="5356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Unpredictable transition"/>
          <p:cNvSpPr/>
          <p:nvPr/>
        </p:nvSpPr>
        <p:spPr>
          <a:xfrm>
            <a:off x="1069848" y="5833872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Unpredictable transition"/>
          <p:cNvSpPr/>
          <p:nvPr/>
        </p:nvSpPr>
        <p:spPr>
          <a:xfrm>
            <a:off x="1618488" y="5660136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Unpredictable transition"/>
          <p:cNvSpPr/>
          <p:nvPr/>
        </p:nvSpPr>
        <p:spPr>
          <a:xfrm>
            <a:off x="1984248" y="5971032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Unpredictable transition"/>
          <p:cNvSpPr/>
          <p:nvPr/>
        </p:nvSpPr>
        <p:spPr>
          <a:xfrm>
            <a:off x="932688" y="6364224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Unpredictable transition"/>
          <p:cNvSpPr/>
          <p:nvPr/>
        </p:nvSpPr>
        <p:spPr>
          <a:xfrm>
            <a:off x="1472184" y="6236208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Unpredictable transition"/>
          <p:cNvSpPr/>
          <p:nvPr/>
        </p:nvSpPr>
        <p:spPr>
          <a:xfrm>
            <a:off x="2359152" y="6373368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Unpredictable transition"/>
          <p:cNvSpPr/>
          <p:nvPr/>
        </p:nvSpPr>
        <p:spPr>
          <a:xfrm>
            <a:off x="1170432" y="6675120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Unpredictable transition"/>
          <p:cNvSpPr/>
          <p:nvPr/>
        </p:nvSpPr>
        <p:spPr>
          <a:xfrm>
            <a:off x="2404872" y="6739128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Unpredictable transition"/>
          <p:cNvSpPr/>
          <p:nvPr/>
        </p:nvSpPr>
        <p:spPr>
          <a:xfrm>
            <a:off x="2331720" y="7141464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Unpredictable transition"/>
          <p:cNvSpPr/>
          <p:nvPr/>
        </p:nvSpPr>
        <p:spPr>
          <a:xfrm>
            <a:off x="2011680" y="7644383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redictable transition"/>
          <p:cNvSpPr/>
          <p:nvPr/>
        </p:nvSpPr>
        <p:spPr>
          <a:xfrm>
            <a:off x="749808" y="7013448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Predictable transition"/>
          <p:cNvSpPr/>
          <p:nvPr/>
        </p:nvSpPr>
        <p:spPr>
          <a:xfrm>
            <a:off x="1783080" y="6547104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Predictable transition"/>
          <p:cNvSpPr/>
          <p:nvPr/>
        </p:nvSpPr>
        <p:spPr>
          <a:xfrm>
            <a:off x="1280160" y="7717536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Unpredictable transition"/>
          <p:cNvSpPr/>
          <p:nvPr/>
        </p:nvSpPr>
        <p:spPr>
          <a:xfrm>
            <a:off x="4069080" y="5696712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Unpredictable transition"/>
          <p:cNvSpPr/>
          <p:nvPr/>
        </p:nvSpPr>
        <p:spPr>
          <a:xfrm>
            <a:off x="4599432" y="5614416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Unpredictable transition"/>
          <p:cNvSpPr/>
          <p:nvPr/>
        </p:nvSpPr>
        <p:spPr>
          <a:xfrm>
            <a:off x="5340096" y="5559552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Unpredictable transition"/>
          <p:cNvSpPr/>
          <p:nvPr/>
        </p:nvSpPr>
        <p:spPr>
          <a:xfrm>
            <a:off x="4005072" y="6263640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Unpredictable transition"/>
          <p:cNvSpPr/>
          <p:nvPr/>
        </p:nvSpPr>
        <p:spPr>
          <a:xfrm>
            <a:off x="4544568" y="6254496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Unpredictable transition"/>
          <p:cNvSpPr/>
          <p:nvPr/>
        </p:nvSpPr>
        <p:spPr>
          <a:xfrm>
            <a:off x="6638544" y="6135624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Unpredictable transition"/>
          <p:cNvSpPr/>
          <p:nvPr/>
        </p:nvSpPr>
        <p:spPr>
          <a:xfrm>
            <a:off x="4178808" y="7013448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Unpredictable transition"/>
          <p:cNvSpPr/>
          <p:nvPr/>
        </p:nvSpPr>
        <p:spPr>
          <a:xfrm>
            <a:off x="4828032" y="7388352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Unpredictable transition"/>
          <p:cNvSpPr/>
          <p:nvPr/>
        </p:nvSpPr>
        <p:spPr>
          <a:xfrm>
            <a:off x="6199632" y="7242048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Unpredictable transition"/>
          <p:cNvSpPr/>
          <p:nvPr/>
        </p:nvSpPr>
        <p:spPr>
          <a:xfrm>
            <a:off x="7040880" y="7324344"/>
            <a:ext cx="201168" cy="20116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Predictable transition"/>
          <p:cNvSpPr/>
          <p:nvPr/>
        </p:nvSpPr>
        <p:spPr>
          <a:xfrm>
            <a:off x="5440680" y="6053328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Predictable transition"/>
          <p:cNvSpPr/>
          <p:nvPr/>
        </p:nvSpPr>
        <p:spPr>
          <a:xfrm>
            <a:off x="5129784" y="6976872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Predictable transition"/>
          <p:cNvSpPr/>
          <p:nvPr/>
        </p:nvSpPr>
        <p:spPr>
          <a:xfrm>
            <a:off x="5522976" y="7013448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Predictable transition"/>
          <p:cNvSpPr/>
          <p:nvPr/>
        </p:nvSpPr>
        <p:spPr>
          <a:xfrm>
            <a:off x="2962656" y="7562088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Predictable transition"/>
          <p:cNvSpPr/>
          <p:nvPr/>
        </p:nvSpPr>
        <p:spPr>
          <a:xfrm>
            <a:off x="3374136" y="7306056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Predictable transition"/>
          <p:cNvSpPr/>
          <p:nvPr/>
        </p:nvSpPr>
        <p:spPr>
          <a:xfrm>
            <a:off x="3721608" y="7598664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Predictable transition"/>
          <p:cNvSpPr/>
          <p:nvPr/>
        </p:nvSpPr>
        <p:spPr>
          <a:xfrm>
            <a:off x="2907792" y="8138160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Predictable transition"/>
          <p:cNvSpPr/>
          <p:nvPr/>
        </p:nvSpPr>
        <p:spPr>
          <a:xfrm>
            <a:off x="3474720" y="8147304"/>
            <a:ext cx="201168" cy="20116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CodeRule_2"/>
          <p:cNvSpPr txBox="1"/>
          <p:nvPr/>
        </p:nvSpPr>
        <p:spPr>
          <a:xfrm>
            <a:off x="694944" y="7251192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CodeRule_2</a:t>
            </a:r>
          </a:p>
        </p:txBody>
      </p:sp>
      <p:sp>
        <p:nvSpPr>
          <p:cNvPr id="151" name="CodeRule_1"/>
          <p:cNvSpPr txBox="1"/>
          <p:nvPr/>
        </p:nvSpPr>
        <p:spPr>
          <a:xfrm>
            <a:off x="5257800" y="7699248"/>
            <a:ext cx="20574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CodeRule_1</a:t>
            </a:r>
          </a:p>
        </p:txBody>
      </p:sp>
      <p:sp>
        <p:nvSpPr>
          <p:cNvPr id="152" name="CodeRule_0"/>
          <p:cNvSpPr txBox="1"/>
          <p:nvPr/>
        </p:nvSpPr>
        <p:spPr>
          <a:xfrm>
            <a:off x="4818888" y="6400800"/>
            <a:ext cx="14630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Arial"/>
              </a:rPr>
              <a:t>CodeRule_0</a:t>
            </a:r>
          </a:p>
        </p:txBody>
      </p:sp>
      <p:sp>
        <p:nvSpPr>
          <p:cNvPr id="153" name="CodeRule_i"/>
          <p:cNvSpPr txBox="1"/>
          <p:nvPr/>
        </p:nvSpPr>
        <p:spPr>
          <a:xfrm>
            <a:off x="2624328" y="7680960"/>
            <a:ext cx="16002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Arial"/>
              </a:rPr>
              <a:t>CodeRule_i</a:t>
            </a:r>
          </a:p>
        </p:txBody>
      </p:sp>
      <p:sp>
        <p:nvSpPr>
          <p:cNvPr id="154" name="Ellipse"/>
          <p:cNvSpPr/>
          <p:nvPr/>
        </p:nvSpPr>
        <p:spPr>
          <a:xfrm>
            <a:off x="420624" y="8833104"/>
            <a:ext cx="237744" cy="237744"/>
          </a:xfrm>
          <a:prstGeom prst="ellipse">
            <a:avLst/>
          </a:prstGeom>
          <a:solidFill>
            <a:srgbClr val="FFD866"/>
          </a:solidFill>
          <a:ln w="27432">
            <a:solidFill>
              <a:srgbClr val="5356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/"/>
          <p:cNvSpPr txBox="1"/>
          <p:nvPr/>
        </p:nvSpPr>
        <p:spPr>
          <a:xfrm>
            <a:off x="685800" y="8769096"/>
            <a:ext cx="21031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00000"/>
                </a:solidFill>
                <a:latin typeface="Arial"/>
              </a:rPr>
              <a:t>/</a:t>
            </a:r>
          </a:p>
        </p:txBody>
      </p:sp>
      <p:sp>
        <p:nvSpPr>
          <p:cNvPr id="156" name="Ellipse"/>
          <p:cNvSpPr/>
          <p:nvPr/>
        </p:nvSpPr>
        <p:spPr>
          <a:xfrm>
            <a:off x="905256" y="8833104"/>
            <a:ext cx="237744" cy="237744"/>
          </a:xfrm>
          <a:prstGeom prst="ellipse">
            <a:avLst/>
          </a:prstGeom>
          <a:solidFill>
            <a:srgbClr val="E6E6E6"/>
          </a:solidFill>
          <a:ln w="27432">
            <a:solidFill>
              <a:srgbClr val="5356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gions covered by selected/"/>
          <p:cNvSpPr txBox="1"/>
          <p:nvPr/>
        </p:nvSpPr>
        <p:spPr>
          <a:xfrm>
            <a:off x="1252728" y="8759952"/>
            <a:ext cx="630936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00000"/>
                </a:solidFill>
                <a:latin typeface="Arial"/>
              </a:rPr>
              <a:t>Regions covered by selected/dropped CodeRules</a:t>
            </a:r>
          </a:p>
        </p:txBody>
      </p:sp>
      <p:sp>
        <p:nvSpPr>
          <p:cNvPr id="158" name="Ellipse"/>
          <p:cNvSpPr/>
          <p:nvPr/>
        </p:nvSpPr>
        <p:spPr>
          <a:xfrm>
            <a:off x="420624" y="9189720"/>
            <a:ext cx="246888" cy="246888"/>
          </a:xfrm>
          <a:prstGeom prst="ellipse">
            <a:avLst/>
          </a:prstGeom>
          <a:solidFill>
            <a:srgbClr val="55E9E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/"/>
          <p:cNvSpPr txBox="1"/>
          <p:nvPr/>
        </p:nvSpPr>
        <p:spPr>
          <a:xfrm>
            <a:off x="685800" y="9116568"/>
            <a:ext cx="21031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00000"/>
                </a:solidFill>
                <a:latin typeface="Arial"/>
              </a:rPr>
              <a:t>/</a:t>
            </a:r>
          </a:p>
        </p:txBody>
      </p:sp>
      <p:sp>
        <p:nvSpPr>
          <p:cNvPr id="160" name="Ellipse"/>
          <p:cNvSpPr/>
          <p:nvPr/>
        </p:nvSpPr>
        <p:spPr>
          <a:xfrm>
            <a:off x="905256" y="9189720"/>
            <a:ext cx="246888" cy="246888"/>
          </a:xfrm>
          <a:prstGeom prst="ellipse">
            <a:avLst/>
          </a:prstGeom>
          <a:solidFill>
            <a:srgbClr val="F653A6"/>
          </a:solidFill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ransitions can/cannot be pr"/>
          <p:cNvSpPr txBox="1"/>
          <p:nvPr/>
        </p:nvSpPr>
        <p:spPr>
          <a:xfrm>
            <a:off x="1252728" y="9125712"/>
            <a:ext cx="630936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Transitions can/cannot be predicted by world model</a:t>
            </a:r>
          </a:p>
        </p:txBody>
      </p:sp>
      <p:sp>
        <p:nvSpPr>
          <p:cNvPr id="162" name="Prompt box"/>
          <p:cNvSpPr/>
          <p:nvPr/>
        </p:nvSpPr>
        <p:spPr>
          <a:xfrm>
            <a:off x="8339327" y="5138928"/>
            <a:ext cx="8732520" cy="1344168"/>
          </a:xfrm>
          <a:prstGeom prst="roundRect">
            <a:avLst>
              <a:gd name="adj" fmla="val 8843"/>
            </a:avLst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"/>
          <p:cNvSpPr/>
          <p:nvPr/>
        </p:nvSpPr>
        <p:spPr>
          <a:xfrm>
            <a:off x="8714232" y="5230368"/>
            <a:ext cx="859536" cy="274320"/>
          </a:xfrm>
          <a:prstGeom prst="rect">
            <a:avLst/>
          </a:prstGeom>
          <a:solidFill>
            <a:srgbClr val="FFD0A3"/>
          </a:solidFill>
          <a:ln>
            <a:solidFill>
              <a:srgbClr val="FFD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"/>
          <p:cNvSpPr/>
          <p:nvPr/>
        </p:nvSpPr>
        <p:spPr>
          <a:xfrm>
            <a:off x="14328648" y="5230368"/>
            <a:ext cx="2157984" cy="274320"/>
          </a:xfrm>
          <a:prstGeom prst="rect">
            <a:avLst/>
          </a:prstGeom>
          <a:solidFill>
            <a:srgbClr val="FFD0A3"/>
          </a:solidFill>
          <a:ln>
            <a:solidFill>
              <a:srgbClr val="FFD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"/>
          <p:cNvSpPr/>
          <p:nvPr/>
        </p:nvSpPr>
        <p:spPr>
          <a:xfrm>
            <a:off x="8714232" y="6080760"/>
            <a:ext cx="749808" cy="283464"/>
          </a:xfrm>
          <a:prstGeom prst="rect">
            <a:avLst/>
          </a:prstGeom>
          <a:solidFill>
            <a:srgbClr val="FFD0A3"/>
          </a:solidFill>
          <a:ln>
            <a:solidFill>
              <a:srgbClr val="FFD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"/>
          <p:cNvSpPr/>
          <p:nvPr/>
        </p:nvSpPr>
        <p:spPr>
          <a:xfrm>
            <a:off x="9875520" y="6080760"/>
            <a:ext cx="1874519" cy="283464"/>
          </a:xfrm>
          <a:prstGeom prst="rect">
            <a:avLst/>
          </a:prstGeom>
          <a:solidFill>
            <a:srgbClr val="FFD0A3"/>
          </a:solidFill>
          <a:ln>
            <a:solidFill>
              <a:srgbClr val="FFD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"/>
          <p:cNvSpPr/>
          <p:nvPr/>
        </p:nvSpPr>
        <p:spPr>
          <a:xfrm>
            <a:off x="12042648" y="6080760"/>
            <a:ext cx="2167128" cy="283464"/>
          </a:xfrm>
          <a:prstGeom prst="rect">
            <a:avLst/>
          </a:prstGeom>
          <a:solidFill>
            <a:srgbClr val="FFD0A3"/>
          </a:solidFill>
          <a:ln>
            <a:solidFill>
              <a:srgbClr val="FFD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"/>
          <p:cNvSpPr/>
          <p:nvPr/>
        </p:nvSpPr>
        <p:spPr>
          <a:xfrm>
            <a:off x="14465808" y="6080760"/>
            <a:ext cx="2020824" cy="283464"/>
          </a:xfrm>
          <a:prstGeom prst="rect">
            <a:avLst/>
          </a:prstGeom>
          <a:solidFill>
            <a:srgbClr val="FFD0A3"/>
          </a:solidFill>
          <a:ln>
            <a:solidFill>
              <a:srgbClr val="FFD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Prompt:"/>
          <p:cNvSpPr txBox="1"/>
          <p:nvPr/>
        </p:nvSpPr>
        <p:spPr>
          <a:xfrm>
            <a:off x="8714232" y="5193792"/>
            <a:ext cx="85953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Prompt:</a:t>
            </a:r>
          </a:p>
        </p:txBody>
      </p:sp>
      <p:sp>
        <p:nvSpPr>
          <p:cNvPr id="170" name="Implement the learned rules "/>
          <p:cNvSpPr txBox="1"/>
          <p:nvPr/>
        </p:nvSpPr>
        <p:spPr>
          <a:xfrm>
            <a:off x="9875520" y="5193792"/>
            <a:ext cx="445312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Implement the learned rules in</a:t>
            </a:r>
          </a:p>
        </p:txBody>
      </p:sp>
      <p:sp>
        <p:nvSpPr>
          <p:cNvPr id="171" name="Python function"/>
          <p:cNvSpPr txBox="1"/>
          <p:nvPr/>
        </p:nvSpPr>
        <p:spPr>
          <a:xfrm>
            <a:off x="14328648" y="5193792"/>
            <a:ext cx="22860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Python function</a:t>
            </a:r>
          </a:p>
        </p:txBody>
      </p:sp>
      <p:sp>
        <p:nvSpPr>
          <p:cNvPr id="172" name="to evaluate a observation an"/>
          <p:cNvSpPr txBox="1"/>
          <p:nvPr/>
        </p:nvSpPr>
        <p:spPr>
          <a:xfrm>
            <a:off x="8714232" y="5477256"/>
            <a:ext cx="79095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to evaluate a observation and action, optionally using</a:t>
            </a:r>
          </a:p>
        </p:txBody>
      </p:sp>
      <p:sp>
        <p:nvSpPr>
          <p:cNvPr id="173" name="the Knowledge Graph or Scene"/>
          <p:cNvSpPr txBox="1"/>
          <p:nvPr/>
        </p:nvSpPr>
        <p:spPr>
          <a:xfrm>
            <a:off x="8714232" y="5760720"/>
            <a:ext cx="80010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the Knowledge Graph or Scene Graph as extra arguments.</a:t>
            </a:r>
          </a:p>
        </p:txBody>
      </p:sp>
      <p:sp>
        <p:nvSpPr>
          <p:cNvPr id="174" name="Input:"/>
          <p:cNvSpPr txBox="1"/>
          <p:nvPr/>
        </p:nvSpPr>
        <p:spPr>
          <a:xfrm>
            <a:off x="8714232" y="6044184"/>
            <a:ext cx="74980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Input:</a:t>
            </a:r>
          </a:p>
        </p:txBody>
      </p:sp>
      <p:sp>
        <p:nvSpPr>
          <p:cNvPr id="175" name="["/>
          <p:cNvSpPr txBox="1"/>
          <p:nvPr/>
        </p:nvSpPr>
        <p:spPr>
          <a:xfrm>
            <a:off x="9729216" y="6044184"/>
            <a:ext cx="1828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[</a:t>
            </a:r>
          </a:p>
        </p:txBody>
      </p:sp>
      <p:sp>
        <p:nvSpPr>
          <p:cNvPr id="176" name="textual rules"/>
          <p:cNvSpPr txBox="1"/>
          <p:nvPr/>
        </p:nvSpPr>
        <p:spPr>
          <a:xfrm>
            <a:off x="9875520" y="6044184"/>
            <a:ext cx="187451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textual rules</a:t>
            </a:r>
          </a:p>
        </p:txBody>
      </p:sp>
      <p:sp>
        <p:nvSpPr>
          <p:cNvPr id="177" name=","/>
          <p:cNvSpPr txBox="1"/>
          <p:nvPr/>
        </p:nvSpPr>
        <p:spPr>
          <a:xfrm>
            <a:off x="11759184" y="6044184"/>
            <a:ext cx="283464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,</a:t>
            </a:r>
          </a:p>
        </p:txBody>
      </p:sp>
      <p:sp>
        <p:nvSpPr>
          <p:cNvPr id="178" name="knowledge_graph"/>
          <p:cNvSpPr txBox="1"/>
          <p:nvPr/>
        </p:nvSpPr>
        <p:spPr>
          <a:xfrm>
            <a:off x="12042648" y="6044184"/>
            <a:ext cx="216712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knowledge_graph</a:t>
            </a:r>
          </a:p>
        </p:txBody>
      </p:sp>
      <p:sp>
        <p:nvSpPr>
          <p:cNvPr id="179" name=","/>
          <p:cNvSpPr txBox="1"/>
          <p:nvPr/>
        </p:nvSpPr>
        <p:spPr>
          <a:xfrm>
            <a:off x="14209776" y="6044184"/>
            <a:ext cx="25603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,</a:t>
            </a:r>
          </a:p>
        </p:txBody>
      </p:sp>
      <p:sp>
        <p:nvSpPr>
          <p:cNvPr id="180" name="scene_graph"/>
          <p:cNvSpPr txBox="1"/>
          <p:nvPr/>
        </p:nvSpPr>
        <p:spPr>
          <a:xfrm>
            <a:off x="14465808" y="6044184"/>
            <a:ext cx="2020824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scene_graph</a:t>
            </a:r>
          </a:p>
        </p:txBody>
      </p:sp>
      <p:sp>
        <p:nvSpPr>
          <p:cNvPr id="181" name="]"/>
          <p:cNvSpPr txBox="1"/>
          <p:nvPr/>
        </p:nvSpPr>
        <p:spPr>
          <a:xfrm>
            <a:off x="16486632" y="6044184"/>
            <a:ext cx="1828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ourier New"/>
              </a:rPr>
              <a:t>]</a:t>
            </a:r>
          </a:p>
        </p:txBody>
      </p:sp>
      <p:cxnSp>
        <p:nvCxnSpPr>
          <p:cNvPr id="182" name="Connector"/>
          <p:cNvCxnSpPr/>
          <p:nvPr/>
        </p:nvCxnSpPr>
        <p:spPr>
          <a:xfrm>
            <a:off x="12710160" y="6483096"/>
            <a:ext cx="0" cy="155448"/>
          </a:xfrm>
          <a:prstGeom prst="line">
            <a:avLst/>
          </a:prstGeom>
          <a:ln w="365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LLM block"/>
          <p:cNvSpPr/>
          <p:nvPr/>
        </p:nvSpPr>
        <p:spPr>
          <a:xfrm>
            <a:off x="8339327" y="6647688"/>
            <a:ext cx="8750808" cy="420624"/>
          </a:xfrm>
          <a:prstGeom prst="roundRect">
            <a:avLst>
              <a:gd name="adj" fmla="val 13043"/>
            </a:avLst>
          </a:prstGeom>
          <a:solidFill>
            <a:srgbClr val="F6C4C4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LLM"/>
          <p:cNvSpPr txBox="1"/>
          <p:nvPr/>
        </p:nvSpPr>
        <p:spPr>
          <a:xfrm>
            <a:off x="8339327" y="6647688"/>
            <a:ext cx="8750808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cxnSp>
        <p:nvCxnSpPr>
          <p:cNvPr id="185" name="Connector"/>
          <p:cNvCxnSpPr/>
          <p:nvPr/>
        </p:nvCxnSpPr>
        <p:spPr>
          <a:xfrm>
            <a:off x="12719304" y="7068312"/>
            <a:ext cx="0" cy="210312"/>
          </a:xfrm>
          <a:prstGeom prst="line">
            <a:avLst/>
          </a:prstGeom>
          <a:ln w="365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Arrowhead"/>
          <p:cNvSpPr/>
          <p:nvPr/>
        </p:nvSpPr>
        <p:spPr>
          <a:xfrm>
            <a:off x="12659611" y="7154265"/>
            <a:ext cx="119385" cy="0"/>
          </a:xfrm>
          <a:custGeom>
            <a:avLst/>
            <a:gdLst/>
            <a:ahLst/>
            <a:cxnLst/>
            <a:rect l="l" t="t" r="r" b="b"/>
            <a:pathLst>
              <a:path w="119385" h="0">
                <a:moveTo>
                  <a:pt x="0" y="0"/>
                </a:moveTo>
                <a:lnTo>
                  <a:pt x="0" y="0"/>
                </a:lnTo>
                <a:lnTo>
                  <a:pt x="119385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Code output box"/>
          <p:cNvSpPr/>
          <p:nvPr/>
        </p:nvSpPr>
        <p:spPr>
          <a:xfrm>
            <a:off x="8339327" y="7296912"/>
            <a:ext cx="8750808" cy="2130552"/>
          </a:xfrm>
          <a:prstGeom prst="roundRect">
            <a:avLst>
              <a:gd name="adj" fmla="val 6437"/>
            </a:avLst>
          </a:prstGeom>
          <a:solidFill>
            <a:srgbClr val="FFFFFF"/>
          </a:solidFill>
          <a:ln w="365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"/>
          <p:cNvSpPr/>
          <p:nvPr/>
        </p:nvSpPr>
        <p:spPr>
          <a:xfrm>
            <a:off x="8714232" y="7379208"/>
            <a:ext cx="877824" cy="274320"/>
          </a:xfrm>
          <a:prstGeom prst="rect">
            <a:avLst/>
          </a:prstGeom>
          <a:solidFill>
            <a:srgbClr val="FFD0A3"/>
          </a:solidFill>
          <a:ln>
            <a:solidFill>
              <a:srgbClr val="FFD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"/>
          <p:cNvSpPr/>
          <p:nvPr/>
        </p:nvSpPr>
        <p:spPr>
          <a:xfrm>
            <a:off x="9884664" y="7379208"/>
            <a:ext cx="1554480" cy="274320"/>
          </a:xfrm>
          <a:prstGeom prst="rect">
            <a:avLst/>
          </a:prstGeom>
          <a:solidFill>
            <a:srgbClr val="CFF39A"/>
          </a:solidFill>
          <a:ln>
            <a:solidFill>
              <a:srgbClr val="CFF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"/>
          <p:cNvSpPr/>
          <p:nvPr/>
        </p:nvSpPr>
        <p:spPr>
          <a:xfrm>
            <a:off x="8714232" y="7662672"/>
            <a:ext cx="7635240" cy="274320"/>
          </a:xfrm>
          <a:prstGeom prst="rect">
            <a:avLst/>
          </a:prstGeom>
          <a:solidFill>
            <a:srgbClr val="CFF39A"/>
          </a:solidFill>
          <a:ln>
            <a:solidFill>
              <a:srgbClr val="CFF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"/>
          <p:cNvSpPr/>
          <p:nvPr/>
        </p:nvSpPr>
        <p:spPr>
          <a:xfrm>
            <a:off x="8714232" y="8549640"/>
            <a:ext cx="7040880" cy="274320"/>
          </a:xfrm>
          <a:prstGeom prst="rect">
            <a:avLst/>
          </a:prstGeom>
          <a:solidFill>
            <a:srgbClr val="CFF39A"/>
          </a:solidFill>
          <a:ln>
            <a:solidFill>
              <a:srgbClr val="CFF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utput:"/>
          <p:cNvSpPr txBox="1"/>
          <p:nvPr/>
        </p:nvSpPr>
        <p:spPr>
          <a:xfrm>
            <a:off x="8714232" y="7342631"/>
            <a:ext cx="877824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Output:</a:t>
            </a:r>
          </a:p>
        </p:txBody>
      </p:sp>
      <p:sp>
        <p:nvSpPr>
          <p:cNvPr id="193" name="["/>
          <p:cNvSpPr txBox="1"/>
          <p:nvPr/>
        </p:nvSpPr>
        <p:spPr>
          <a:xfrm>
            <a:off x="9601200" y="7342631"/>
            <a:ext cx="283464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[</a:t>
            </a:r>
          </a:p>
        </p:txBody>
      </p:sp>
      <p:sp>
        <p:nvSpPr>
          <p:cNvPr id="194" name="code rules"/>
          <p:cNvSpPr txBox="1"/>
          <p:nvPr/>
        </p:nvSpPr>
        <p:spPr>
          <a:xfrm>
            <a:off x="9884664" y="7342631"/>
            <a:ext cx="15544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code rules</a:t>
            </a:r>
          </a:p>
        </p:txBody>
      </p:sp>
      <p:sp>
        <p:nvSpPr>
          <p:cNvPr id="195" name="]"/>
          <p:cNvSpPr txBox="1"/>
          <p:nvPr/>
        </p:nvSpPr>
        <p:spPr>
          <a:xfrm>
            <a:off x="11439144" y="7342631"/>
            <a:ext cx="283464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]</a:t>
            </a:r>
          </a:p>
        </p:txBody>
      </p:sp>
      <p:sp>
        <p:nvSpPr>
          <p:cNvPr id="196" name="def CodeRule_0(observation, "/>
          <p:cNvSpPr txBox="1"/>
          <p:nvPr/>
        </p:nvSpPr>
        <p:spPr>
          <a:xfrm>
            <a:off x="8714232" y="7626096"/>
            <a:ext cx="772667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def CodeRule_0(observation, action, knowledge_graph):</a:t>
            </a:r>
          </a:p>
        </p:txBody>
      </p:sp>
      <p:sp>
        <p:nvSpPr>
          <p:cNvPr id="197" name="if state[&quot;inventory&quot;].get(ma"/>
          <p:cNvSpPr txBox="1"/>
          <p:nvPr/>
        </p:nvSpPr>
        <p:spPr>
          <a:xfrm>
            <a:off x="9299448" y="7927848"/>
            <a:ext cx="72237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Courier New"/>
              </a:rPr>
              <a:t>if state["inventory"].get(material, 0) &lt; quantity:</a:t>
            </a:r>
          </a:p>
        </p:txBody>
      </p:sp>
      <p:sp>
        <p:nvSpPr>
          <p:cNvPr id="198" name="..."/>
          <p:cNvSpPr txBox="1"/>
          <p:nvPr/>
        </p:nvSpPr>
        <p:spPr>
          <a:xfrm>
            <a:off x="9646920" y="8202168"/>
            <a:ext cx="109728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...</a:t>
            </a:r>
          </a:p>
        </p:txBody>
      </p:sp>
      <p:sp>
        <p:nvSpPr>
          <p:cNvPr id="199" name="def CodeRule_i(observation, "/>
          <p:cNvSpPr txBox="1"/>
          <p:nvPr/>
        </p:nvSpPr>
        <p:spPr>
          <a:xfrm>
            <a:off x="8714232" y="8513064"/>
            <a:ext cx="72237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def CodeRule_i(observation, action, scene_graph):</a:t>
            </a:r>
          </a:p>
        </p:txBody>
      </p:sp>
      <p:sp>
        <p:nvSpPr>
          <p:cNvPr id="200" name="if &quot;Unexplored&quot; not in locat"/>
          <p:cNvSpPr txBox="1"/>
          <p:nvPr/>
        </p:nvSpPr>
        <p:spPr>
          <a:xfrm>
            <a:off x="9299448" y="8814816"/>
            <a:ext cx="713232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Courier New"/>
              </a:rPr>
              <a:t>if "Unexplored" not in location_items:</a:t>
            </a:r>
          </a:p>
        </p:txBody>
      </p:sp>
      <p:sp>
        <p:nvSpPr>
          <p:cNvPr id="201" name="..."/>
          <p:cNvSpPr txBox="1"/>
          <p:nvPr/>
        </p:nvSpPr>
        <p:spPr>
          <a:xfrm>
            <a:off x="9646920" y="9089136"/>
            <a:ext cx="109728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Courier New"/>
              </a:rPr>
              <a:t>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ALL-E World Alignment by NeuroSymbolic Learning improves World Model-based LLM Agent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"/>
            <a:ext cx="17556480" cy="9692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