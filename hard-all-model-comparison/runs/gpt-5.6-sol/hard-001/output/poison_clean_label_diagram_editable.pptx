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704522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290" y="108683"/>
            <a:ext cx="11987115" cy="3580151"/>
          </a:xfrm>
          <a:prstGeom prst="roundRect">
            <a:avLst>
              <a:gd name="adj" fmla="val 959"/>
            </a:avLst>
          </a:prstGeom>
          <a:solidFill>
            <a:srgbClr val="FBFBF9"/>
          </a:solidFill>
          <a:ln w="20955">
            <a:solidFill>
              <a:srgbClr val="090909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683" y="767175"/>
            <a:ext cx="6003147" cy="2908873"/>
          </a:xfrm>
          <a:prstGeom prst="rect">
            <a:avLst/>
          </a:prstGeom>
          <a:solidFill>
            <a:srgbClr val="F2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11830" y="767175"/>
            <a:ext cx="5977574" cy="2908873"/>
          </a:xfrm>
          <a:prstGeom prst="rect">
            <a:avLst/>
          </a:prstGeom>
          <a:solidFill>
            <a:srgbClr val="ED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2290" y="4117174"/>
            <a:ext cx="11987115" cy="2928052"/>
          </a:xfrm>
          <a:prstGeom prst="roundRect">
            <a:avLst>
              <a:gd name="adj" fmla="val 959"/>
            </a:avLst>
          </a:prstGeom>
          <a:solidFill>
            <a:srgbClr val="FFF5F3"/>
          </a:solidFill>
          <a:ln w="20955">
            <a:solidFill>
              <a:srgbClr val="090909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1297" y="230152"/>
            <a:ext cx="3196564" cy="35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90909"/>
                </a:solidFill>
                <a:latin typeface="DejaVu Sans Mono"/>
              </a:rPr>
              <a:t>Sample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1945" y="121469"/>
            <a:ext cx="7927478" cy="3068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90909"/>
                </a:solidFill>
                <a:latin typeface="DejaVu Sans Mono"/>
              </a:rPr>
              <a:t>Explore the effect of </a:t>
            </a:r>
            <a:r>
              <a:rPr sz="1800" b="1">
                <a:solidFill>
                  <a:srgbClr val="F00000"/>
                </a:solidFill>
                <a:latin typeface="DejaVu Sans Mono"/>
              </a:rPr>
              <a:t>triggers</a:t>
            </a:r>
            <a:r>
              <a:rPr sz="1800" b="1">
                <a:solidFill>
                  <a:srgbClr val="090909"/>
                </a:solidFill>
                <a:latin typeface="DejaVu Sans Mono"/>
              </a:rPr>
              <a:t> on </a:t>
            </a:r>
            <a:r>
              <a:rPr sz="1800" b="1">
                <a:solidFill>
                  <a:srgbClr val="F00000"/>
                </a:solidFill>
                <a:latin typeface="DejaVu Sans Mono"/>
              </a:rPr>
              <a:t>sample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2785" y="421946"/>
            <a:ext cx="8183203" cy="3068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90909"/>
                </a:solidFill>
                <a:latin typeface="DejaVu Sans Mono"/>
              </a:rPr>
              <a:t>via the enhancement of </a:t>
            </a:r>
            <a:r>
              <a:rPr sz="1700" b="1">
                <a:solidFill>
                  <a:srgbClr val="0918D2"/>
                </a:solidFill>
                <a:latin typeface="DejaVu Sans Mono"/>
              </a:rPr>
              <a:t>attack success rate</a:t>
            </a:r>
            <a:r>
              <a:rPr sz="1700" b="1">
                <a:solidFill>
                  <a:srgbClr val="090909"/>
                </a:solidFill>
                <a:latin typeface="DejaVu Sans Mono"/>
              </a:rPr>
              <a:t> and </a:t>
            </a:r>
            <a:r>
              <a:rPr sz="1700" b="1">
                <a:solidFill>
                  <a:srgbClr val="006B3D"/>
                </a:solidFill>
                <a:latin typeface="DejaVu Sans Mono"/>
              </a:rPr>
              <a:t>stealthiness</a:t>
            </a:r>
            <a:r>
              <a:rPr sz="1700" b="1">
                <a:solidFill>
                  <a:srgbClr val="090909"/>
                </a:solidFill>
                <a:latin typeface="DejaVu Sans Mono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297" y="805534"/>
            <a:ext cx="1790075" cy="3132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918D2"/>
                </a:solidFill>
                <a:latin typeface="Liberation Serif"/>
              </a:rPr>
              <a:t>Component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228" y="1112404"/>
            <a:ext cx="1214694" cy="255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5262D"/>
                </a:solidFill>
                <a:latin typeface="Liberation Serif"/>
              </a:rPr>
              <a:t>highlight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973" y="1432060"/>
            <a:ext cx="1534350" cy="2940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1D73"/>
                </a:solidFill>
                <a:latin typeface="Liberation Serif"/>
              </a:rPr>
              <a:t>large trigger scale</a:t>
            </a:r>
          </a:p>
        </p:txBody>
      </p:sp>
      <p:pic>
        <p:nvPicPr>
          <p:cNvPr id="12" name="Picture 11" descr="trigger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80" y="1822041"/>
            <a:ext cx="1010114" cy="10229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272232" y="1566316"/>
            <a:ext cx="134255" cy="1310591"/>
          </a:xfrm>
          <a:prstGeom prst="roundRect">
            <a:avLst>
              <a:gd name="adj" fmla="val 4878"/>
            </a:avLst>
          </a:prstGeom>
          <a:solidFill>
            <a:srgbClr val="4E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9274" y="1579102"/>
            <a:ext cx="447518" cy="13105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0" b="0">
                <a:solidFill>
                  <a:srgbClr val="090909"/>
                </a:solidFill>
                <a:latin typeface="Liberation Serif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614" y="2857728"/>
            <a:ext cx="1566316" cy="3068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1D73"/>
                </a:solidFill>
                <a:latin typeface="Liberation Serif"/>
              </a:rPr>
              <a:t>small trigger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656" y="3126239"/>
            <a:ext cx="1150763" cy="2685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5262D"/>
                </a:solidFill>
                <a:latin typeface="Liberation Serif"/>
              </a:rPr>
              <a:t>highlight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85018" y="1163549"/>
            <a:ext cx="620134" cy="0"/>
          </a:xfrm>
          <a:prstGeom prst="line">
            <a:avLst/>
          </a:prstGeom>
          <a:ln w="38100">
            <a:solidFill>
              <a:srgbClr val="C5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85018" y="1163549"/>
            <a:ext cx="0" cy="268511"/>
          </a:xfrm>
          <a:prstGeom prst="line">
            <a:avLst/>
          </a:prstGeom>
          <a:ln w="38100">
            <a:solidFill>
              <a:srgbClr val="C5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895562" y="1214694"/>
            <a:ext cx="19179" cy="95896"/>
          </a:xfrm>
          <a:prstGeom prst="rect">
            <a:avLst/>
          </a:prstGeom>
          <a:solidFill>
            <a:srgbClr val="C5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1854007" y="1310591"/>
            <a:ext cx="102290" cy="102290"/>
          </a:xfrm>
          <a:prstGeom prst="triangle">
            <a:avLst/>
          </a:prstGeom>
          <a:solidFill>
            <a:srgbClr val="C5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285018" y="3375571"/>
            <a:ext cx="620134" cy="0"/>
          </a:xfrm>
          <a:prstGeom prst="line">
            <a:avLst/>
          </a:prstGeom>
          <a:ln w="38100">
            <a:solidFill>
              <a:srgbClr val="C5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85018" y="3107060"/>
            <a:ext cx="0" cy="268511"/>
          </a:xfrm>
          <a:prstGeom prst="line">
            <a:avLst/>
          </a:prstGeom>
          <a:ln w="38100">
            <a:solidFill>
              <a:srgbClr val="C5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895562" y="3234922"/>
            <a:ext cx="19179" cy="89503"/>
          </a:xfrm>
          <a:prstGeom prst="rect">
            <a:avLst/>
          </a:prstGeom>
          <a:solidFill>
            <a:srgbClr val="C5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1854007" y="3132632"/>
            <a:ext cx="102290" cy="102290"/>
          </a:xfrm>
          <a:prstGeom prst="triangle">
            <a:avLst/>
          </a:prstGeom>
          <a:solidFill>
            <a:srgbClr val="C5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49140" y="850286"/>
            <a:ext cx="1854007" cy="4603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918D2"/>
                </a:solidFill>
                <a:latin typeface="Liberation Serif"/>
              </a:rPr>
              <a:t>attack success rate</a:t>
            </a:r>
            <a:br/>
            <a:r>
              <a:rPr sz="1550" b="1">
                <a:solidFill>
                  <a:srgbClr val="0918D2"/>
                </a:solidFill>
                <a:latin typeface="Liberation Serif"/>
              </a:rPr>
              <a:t>enhancement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15648" y="1368129"/>
            <a:ext cx="3906201" cy="505057"/>
          </a:xfrm>
          <a:prstGeom prst="roundRect">
            <a:avLst>
              <a:gd name="adj" fmla="val 4582"/>
            </a:avLst>
          </a:prstGeom>
          <a:solidFill>
            <a:srgbClr val="C5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15648" y="1406488"/>
            <a:ext cx="3906201" cy="4027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Liberation Serif"/>
              </a:rPr>
              <a:t>Category Diversity (ours)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15648" y="2685113"/>
            <a:ext cx="3906201" cy="505057"/>
          </a:xfrm>
          <a:prstGeom prst="roundRect">
            <a:avLst>
              <a:gd name="adj" fmla="val 4582"/>
            </a:avLst>
          </a:prstGeom>
          <a:solidFill>
            <a:srgbClr val="C5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15648" y="2723472"/>
            <a:ext cx="3906201" cy="4027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Liberation Serif"/>
              </a:rPr>
              <a:t>Forgetting Events (traditional)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66793" y="2001049"/>
            <a:ext cx="4034063" cy="543415"/>
          </a:xfrm>
          <a:prstGeom prst="rect">
            <a:avLst/>
          </a:prstGeom>
          <a:solidFill>
            <a:srgbClr val="FFFFFF"/>
          </a:solidFill>
          <a:ln w="19050">
            <a:solidFill>
              <a:srgbClr val="E9E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84159" y="2039407"/>
            <a:ext cx="3580151" cy="2429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90909"/>
                </a:solidFill>
                <a:latin typeface="Liberation Serif"/>
              </a:rPr>
              <a:t>Find the appropriate combination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75476" y="2250381"/>
            <a:ext cx="3739979" cy="2429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90909"/>
                </a:solidFill>
                <a:latin typeface="Liberation Serif"/>
              </a:rPr>
              <a:t>based on </a:t>
            </a:r>
            <a:r>
              <a:rPr sz="1500" b="1">
                <a:solidFill>
                  <a:srgbClr val="C5262D"/>
                </a:solidFill>
                <a:latin typeface="Liberation Serif"/>
              </a:rPr>
              <a:t>the scale of trigger features</a:t>
            </a:r>
            <a:r>
              <a:rPr sz="1500" b="1">
                <a:solidFill>
                  <a:srgbClr val="090909"/>
                </a:solidFill>
                <a:latin typeface="Liberation Serif"/>
              </a:rPr>
              <a:t>  .</a:t>
            </a:r>
          </a:p>
        </p:txBody>
      </p:sp>
      <p:sp>
        <p:nvSpPr>
          <p:cNvPr id="33" name="12-Point Star 32"/>
          <p:cNvSpPr/>
          <p:nvPr/>
        </p:nvSpPr>
        <p:spPr>
          <a:xfrm>
            <a:off x="5517269" y="2301526"/>
            <a:ext cx="179007" cy="179007"/>
          </a:xfrm>
          <a:prstGeom prst="star12">
            <a:avLst/>
          </a:prstGeom>
          <a:solidFill>
            <a:srgbClr val="57A44A"/>
          </a:solidFill>
          <a:ln w="8890">
            <a:solidFill>
              <a:srgbClr val="C5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562021" y="2346277"/>
            <a:ext cx="89503" cy="89503"/>
          </a:xfrm>
          <a:prstGeom prst="ellipse">
            <a:avLst/>
          </a:prstGeom>
          <a:solidFill>
            <a:srgbClr val="51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7555" y="818320"/>
            <a:ext cx="1917938" cy="3132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6B3D"/>
                </a:solidFill>
                <a:latin typeface="Liberation Serif"/>
              </a:rPr>
              <a:t>Component B</a:t>
            </a:r>
          </a:p>
        </p:txBody>
      </p:sp>
      <p:pic>
        <p:nvPicPr>
          <p:cNvPr id="36" name="Picture 35" descr="b_source_bot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734" y="1125190"/>
            <a:ext cx="946182" cy="1074045"/>
          </a:xfrm>
          <a:prstGeom prst="rect">
            <a:avLst/>
          </a:prstGeom>
        </p:spPr>
      </p:pic>
      <p:pic>
        <p:nvPicPr>
          <p:cNvPr id="37" name="Picture 36" descr="b_method_bott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532" y="1125190"/>
            <a:ext cx="958969" cy="1093224"/>
          </a:xfrm>
          <a:prstGeom prst="rect">
            <a:avLst/>
          </a:prstGeom>
        </p:spPr>
      </p:pic>
      <p:pic>
        <p:nvPicPr>
          <p:cNvPr id="38" name="Picture 37" descr="b_source_kit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6734" y="2538071"/>
            <a:ext cx="946182" cy="1067652"/>
          </a:xfrm>
          <a:prstGeom prst="rect">
            <a:avLst/>
          </a:prstGeom>
        </p:spPr>
      </p:pic>
      <p:pic>
        <p:nvPicPr>
          <p:cNvPr id="39" name="Picture 38" descr="b_method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5532" y="2538071"/>
            <a:ext cx="958969" cy="1067652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7435207" y="1080438"/>
            <a:ext cx="1080438" cy="2563644"/>
          </a:xfrm>
          <a:prstGeom prst="rect">
            <a:avLst/>
          </a:prstGeom>
          <a:noFill/>
          <a:ln w="19050">
            <a:solidFill>
              <a:srgbClr val="C5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9139" y="2224808"/>
            <a:ext cx="978148" cy="255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5262D"/>
                </a:solidFill>
                <a:latin typeface="Liberation Serif"/>
              </a:rPr>
              <a:t>our method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1867" y="1316984"/>
            <a:ext cx="703244" cy="2940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1D73"/>
                </a:solidFill>
                <a:latin typeface="Liberation Serif"/>
              </a:rPr>
              <a:t>Trigger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29863" y="1374522"/>
            <a:ext cx="83110" cy="153435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89692" y="1316984"/>
            <a:ext cx="1022900" cy="2940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1D73"/>
                </a:solidFill>
                <a:latin typeface="Liberation Serif"/>
              </a:rPr>
              <a:t>can be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1867" y="1579102"/>
            <a:ext cx="2205629" cy="5562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91D73"/>
                </a:solidFill>
                <a:latin typeface="Liberation Serif"/>
              </a:rPr>
              <a:t>concealed in the</a:t>
            </a:r>
            <a:br/>
            <a:r>
              <a:rPr sz="1450" b="1">
                <a:solidFill>
                  <a:srgbClr val="191D73"/>
                </a:solidFill>
                <a:latin typeface="Liberation Serif"/>
              </a:rPr>
              <a:t>black</a:t>
            </a:r>
            <a:br/>
            <a:r>
              <a:rPr sz="1450" b="1">
                <a:solidFill>
                  <a:srgbClr val="191D73"/>
                </a:solidFill>
                <a:latin typeface="Liberation Serif"/>
              </a:rPr>
              <a:t>background.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1867" y="2570037"/>
            <a:ext cx="703244" cy="2940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1D73"/>
                </a:solidFill>
                <a:latin typeface="Liberation Serif"/>
              </a:rPr>
              <a:t>Trigger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85111" y="2653148"/>
            <a:ext cx="185400" cy="153435"/>
          </a:xfrm>
          <a:prstGeom prst="roundRect">
            <a:avLst>
              <a:gd name="adj" fmla="val 27586"/>
            </a:avLst>
          </a:prstGeom>
          <a:solidFill>
            <a:srgbClr val="F3C8DC"/>
          </a:solidFill>
          <a:ln w="9525">
            <a:solidFill>
              <a:srgbClr val="191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53623" y="2570037"/>
            <a:ext cx="1022900" cy="2940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1D73"/>
                </a:solidFill>
                <a:latin typeface="Liberation Serif"/>
              </a:rPr>
              <a:t>can be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1867" y="2825762"/>
            <a:ext cx="1790075" cy="5817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91D73"/>
                </a:solidFill>
                <a:latin typeface="Liberation Serif"/>
              </a:rPr>
              <a:t>concealed in the
</a:t>
            </a:r>
            <a:r>
              <a:rPr sz="1450" b="1">
                <a:solidFill>
                  <a:srgbClr val="C5262D"/>
                </a:solidFill>
                <a:latin typeface="Liberation Serif"/>
              </a:rPr>
              <a:t>complexly texture
</a:t>
            </a:r>
            <a:r>
              <a:rPr sz="1450" b="1">
                <a:solidFill>
                  <a:srgbClr val="191D73"/>
                </a:solidFill>
                <a:latin typeface="Liberation Serif"/>
              </a:rPr>
              <a:t>background.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82439" y="1777289"/>
            <a:ext cx="1521564" cy="1214694"/>
          </a:xfrm>
          <a:prstGeom prst="rect">
            <a:avLst/>
          </a:prstGeom>
          <a:solidFill>
            <a:srgbClr val="FFFFFF"/>
          </a:solidFill>
          <a:ln w="19050">
            <a:solidFill>
              <a:srgbClr val="E9E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39978" y="1828434"/>
            <a:ext cx="1419274" cy="249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90909"/>
                </a:solidFill>
                <a:latin typeface="Liberation Serif"/>
              </a:rPr>
              <a:t>Cancel </a:t>
            </a:r>
            <a:r>
              <a:rPr sz="1500" b="1">
                <a:solidFill>
                  <a:srgbClr val="C5262D"/>
                </a:solidFill>
                <a:latin typeface="Liberation Serif"/>
              </a:rPr>
              <a:t>trigger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39978" y="2071373"/>
            <a:ext cx="882251" cy="2685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5262D"/>
                </a:solidFill>
                <a:latin typeface="Liberation Serif"/>
              </a:rPr>
              <a:t>features</a:t>
            </a:r>
          </a:p>
        </p:txBody>
      </p:sp>
      <p:sp>
        <p:nvSpPr>
          <p:cNvPr id="53" name="12-Point Star 52"/>
          <p:cNvSpPr/>
          <p:nvPr/>
        </p:nvSpPr>
        <p:spPr>
          <a:xfrm>
            <a:off x="11294100" y="2119961"/>
            <a:ext cx="196908" cy="196908"/>
          </a:xfrm>
          <a:prstGeom prst="star12">
            <a:avLst/>
          </a:prstGeom>
          <a:solidFill>
            <a:srgbClr val="57A44A"/>
          </a:solidFill>
          <a:ln w="8890">
            <a:solidFill>
              <a:srgbClr val="C5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343327" y="2169188"/>
            <a:ext cx="98454" cy="98454"/>
          </a:xfrm>
          <a:prstGeom prst="ellipse">
            <a:avLst/>
          </a:prstGeom>
          <a:solidFill>
            <a:srgbClr val="51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507630" y="2071373"/>
            <a:ext cx="345228" cy="2685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90909"/>
                </a:solidFill>
                <a:latin typeface="Liberation Serif"/>
              </a:rPr>
              <a:t>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39978" y="2333491"/>
            <a:ext cx="1406488" cy="249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90909"/>
                </a:solidFill>
                <a:latin typeface="Liberation Serif"/>
              </a:rPr>
              <a:t>images by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39978" y="2576430"/>
            <a:ext cx="1406488" cy="249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5262D"/>
                </a:solidFill>
                <a:latin typeface="Liberation Serif"/>
              </a:rPr>
              <a:t>similarity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39978" y="2800190"/>
            <a:ext cx="1406488" cy="18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5262D"/>
                </a:solidFill>
                <a:latin typeface="Liberation Serif"/>
              </a:rPr>
              <a:t>calculation.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67270" y="3586544"/>
            <a:ext cx="25572" cy="837499"/>
          </a:xfrm>
          <a:prstGeom prst="rect">
            <a:avLst/>
          </a:prstGeom>
          <a:solidFill>
            <a:srgbClr val="091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Isosceles Triangle 59"/>
          <p:cNvSpPr/>
          <p:nvPr/>
        </p:nvSpPr>
        <p:spPr>
          <a:xfrm rot="10800000">
            <a:off x="2096946" y="4424044"/>
            <a:ext cx="166221" cy="166221"/>
          </a:xfrm>
          <a:prstGeom prst="triangle">
            <a:avLst/>
          </a:prstGeom>
          <a:solidFill>
            <a:srgbClr val="091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Isosceles Triangle 60"/>
          <p:cNvSpPr/>
          <p:nvPr/>
        </p:nvSpPr>
        <p:spPr>
          <a:xfrm>
            <a:off x="2096946" y="3420323"/>
            <a:ext cx="166221" cy="166221"/>
          </a:xfrm>
          <a:prstGeom prst="triangle">
            <a:avLst/>
          </a:prstGeom>
          <a:solidFill>
            <a:srgbClr val="091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864121" y="3586544"/>
            <a:ext cx="25572" cy="837499"/>
          </a:xfrm>
          <a:prstGeom prst="rect">
            <a:avLst/>
          </a:prstGeom>
          <a:solidFill>
            <a:srgbClr val="C5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Isosceles Triangle 62"/>
          <p:cNvSpPr/>
          <p:nvPr/>
        </p:nvSpPr>
        <p:spPr>
          <a:xfrm rot="10800000">
            <a:off x="2793796" y="4424044"/>
            <a:ext cx="166221" cy="166221"/>
          </a:xfrm>
          <a:prstGeom prst="triangle">
            <a:avLst/>
          </a:prstGeom>
          <a:solidFill>
            <a:srgbClr val="C5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Isosceles Triangle 63"/>
          <p:cNvSpPr/>
          <p:nvPr/>
        </p:nvSpPr>
        <p:spPr>
          <a:xfrm>
            <a:off x="2793796" y="3420323"/>
            <a:ext cx="166221" cy="166221"/>
          </a:xfrm>
          <a:prstGeom prst="triangle">
            <a:avLst/>
          </a:prstGeom>
          <a:solidFill>
            <a:srgbClr val="C5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755913" y="3586544"/>
            <a:ext cx="25572" cy="837499"/>
          </a:xfrm>
          <a:prstGeom prst="rect">
            <a:avLst/>
          </a:prstGeom>
          <a:solidFill>
            <a:srgbClr val="C5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Isosceles Triangle 65"/>
          <p:cNvSpPr/>
          <p:nvPr/>
        </p:nvSpPr>
        <p:spPr>
          <a:xfrm rot="10800000">
            <a:off x="9685589" y="4424044"/>
            <a:ext cx="166221" cy="166221"/>
          </a:xfrm>
          <a:prstGeom prst="triangle">
            <a:avLst/>
          </a:prstGeom>
          <a:solidFill>
            <a:srgbClr val="C5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Isosceles Triangle 66"/>
          <p:cNvSpPr/>
          <p:nvPr/>
        </p:nvSpPr>
        <p:spPr>
          <a:xfrm>
            <a:off x="9685589" y="3420323"/>
            <a:ext cx="166221" cy="166221"/>
          </a:xfrm>
          <a:prstGeom prst="triangle">
            <a:avLst/>
          </a:prstGeom>
          <a:solidFill>
            <a:srgbClr val="C5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491123" y="3586544"/>
            <a:ext cx="25572" cy="837499"/>
          </a:xfrm>
          <a:prstGeom prst="rect">
            <a:avLst/>
          </a:prstGeom>
          <a:solidFill>
            <a:srgbClr val="00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Isosceles Triangle 68"/>
          <p:cNvSpPr/>
          <p:nvPr/>
        </p:nvSpPr>
        <p:spPr>
          <a:xfrm rot="10800000">
            <a:off x="10420798" y="4424044"/>
            <a:ext cx="166221" cy="166221"/>
          </a:xfrm>
          <a:prstGeom prst="triangle">
            <a:avLst/>
          </a:prstGeom>
          <a:solidFill>
            <a:srgbClr val="00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Isosceles Triangle 69"/>
          <p:cNvSpPr/>
          <p:nvPr/>
        </p:nvSpPr>
        <p:spPr>
          <a:xfrm>
            <a:off x="10420798" y="3420323"/>
            <a:ext cx="166221" cy="166221"/>
          </a:xfrm>
          <a:prstGeom prst="triangle">
            <a:avLst/>
          </a:prstGeom>
          <a:solidFill>
            <a:srgbClr val="00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6049" y="3650476"/>
            <a:ext cx="1802862" cy="4155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918D2"/>
                </a:solidFill>
                <a:latin typeface="Liberation Serif"/>
              </a:rPr>
              <a:t>attack success rate</a:t>
            </a:r>
            <a:br/>
            <a:r>
              <a:rPr sz="1450" b="1">
                <a:solidFill>
                  <a:srgbClr val="0918D2"/>
                </a:solidFill>
                <a:latin typeface="Liberation Serif"/>
              </a:rPr>
              <a:t>enhancement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07060" y="3695228"/>
            <a:ext cx="2589216" cy="28129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C5262D"/>
                </a:solidFill>
                <a:latin typeface="Liberation Serif"/>
              </a:rPr>
              <a:t>the scale of triggers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68127" y="3701621"/>
            <a:ext cx="1790075" cy="28129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C5262D"/>
                </a:solidFill>
                <a:latin typeface="Liberation Serif"/>
              </a:rPr>
              <a:t>trigger features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791600" y="3676048"/>
            <a:ext cx="1278625" cy="4219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06B3D"/>
                </a:solidFill>
                <a:latin typeface="Liberation Serif"/>
              </a:rPr>
              <a:t>stealthiness</a:t>
            </a:r>
            <a:br/>
            <a:r>
              <a:rPr sz="1450" b="1">
                <a:solidFill>
                  <a:srgbClr val="006B3D"/>
                </a:solidFill>
                <a:latin typeface="Liberation Serif"/>
              </a:rPr>
              <a:t>ensurement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1297" y="4136353"/>
            <a:ext cx="2301526" cy="3452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90909"/>
                </a:solidFill>
                <a:latin typeface="DejaVu Sans Mono"/>
              </a:rPr>
              <a:t>Triggers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81964" y="4136353"/>
            <a:ext cx="8311066" cy="3516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90909"/>
                </a:solidFill>
                <a:latin typeface="DejaVu Sans Mono"/>
              </a:rPr>
              <a:t>Explore the effect of </a:t>
            </a:r>
            <a:r>
              <a:rPr sz="1700" b="1">
                <a:solidFill>
                  <a:srgbClr val="F00000"/>
                </a:solidFill>
                <a:latin typeface="DejaVu Sans Mono"/>
              </a:rPr>
              <a:t>sample selection</a:t>
            </a:r>
            <a:r>
              <a:rPr sz="1700" b="1">
                <a:solidFill>
                  <a:srgbClr val="090909"/>
                </a:solidFill>
                <a:latin typeface="DejaVu Sans Mono"/>
              </a:rPr>
              <a:t> on </a:t>
            </a:r>
            <a:r>
              <a:rPr sz="1700" b="1">
                <a:solidFill>
                  <a:srgbClr val="F00000"/>
                </a:solidFill>
                <a:latin typeface="DejaVu Sans Mono"/>
              </a:rPr>
              <a:t>triggers</a:t>
            </a:r>
            <a:r>
              <a:rPr sz="1700" b="1">
                <a:solidFill>
                  <a:srgbClr val="090909"/>
                </a:solidFill>
                <a:latin typeface="DejaVu Sans Mono"/>
              </a:rPr>
              <a:t>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1297" y="4449617"/>
            <a:ext cx="1981869" cy="3068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F1823"/>
                </a:solidFill>
                <a:latin typeface="Liberation Serif"/>
              </a:rPr>
              <a:t>Component 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60018" y="4481582"/>
            <a:ext cx="7032440" cy="3132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5262D"/>
                </a:solidFill>
                <a:latin typeface="Liberation Serif"/>
              </a:rPr>
              <a:t>Stealthiness ensurement via </a:t>
            </a:r>
            <a:r>
              <a:rPr sz="1550" b="1">
                <a:solidFill>
                  <a:srgbClr val="C5262D"/>
                </a:solidFill>
                <a:latin typeface="Liberation Serif"/>
              </a:rPr>
              <a:t>avoid selecting single-color dominated samples.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94083" y="4897136"/>
            <a:ext cx="198186" cy="1387308"/>
          </a:xfrm>
          <a:prstGeom prst="roundRect">
            <a:avLst>
              <a:gd name="adj" fmla="val 4147"/>
            </a:avLst>
          </a:prstGeom>
          <a:solidFill>
            <a:srgbClr val="F58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24236" y="4737307"/>
            <a:ext cx="306870" cy="230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6B3D"/>
                </a:solidFill>
                <a:latin typeface="Liberation Serif"/>
              </a:rPr>
              <a:t>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9809" y="5363834"/>
            <a:ext cx="306870" cy="230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5262D"/>
                </a:solidFill>
                <a:latin typeface="Liberation Serif"/>
              </a:rPr>
              <a:t>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0477" y="6278051"/>
            <a:ext cx="1700572" cy="568988"/>
          </a:xfrm>
          <a:prstGeom prst="rect">
            <a:avLst/>
          </a:prstGeom>
          <a:noFill/>
          <a:ln w="19050">
            <a:solidFill>
              <a:srgbClr val="090909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8988" y="6303624"/>
            <a:ext cx="1342556" cy="255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91D73"/>
                </a:solidFill>
                <a:latin typeface="Liberation Serif"/>
              </a:rPr>
              <a:t>low sensitivity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4236" y="6559349"/>
            <a:ext cx="255725" cy="2429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918D2"/>
                </a:solidFill>
                <a:latin typeface="Liberation Serif"/>
              </a:rPr>
              <a:t>B</a:t>
            </a:r>
          </a:p>
        </p:txBody>
      </p:sp>
      <p:pic>
        <p:nvPicPr>
          <p:cNvPr id="85" name="Picture 84" descr="ey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679" y="6591315"/>
            <a:ext cx="620133" cy="159828"/>
          </a:xfrm>
          <a:prstGeom prst="rect">
            <a:avLst/>
          </a:prstGeom>
        </p:spPr>
      </p:pic>
      <p:cxnSp>
        <p:nvCxnSpPr>
          <p:cNvPr id="86" name="Connector 85"/>
          <p:cNvCxnSpPr/>
          <p:nvPr/>
        </p:nvCxnSpPr>
        <p:spPr>
          <a:xfrm flipV="1">
            <a:off x="1099618" y="5907250"/>
            <a:ext cx="249332" cy="370801"/>
          </a:xfrm>
          <a:prstGeom prst="line">
            <a:avLst/>
          </a:prstGeom>
          <a:ln w="19050">
            <a:solidFill>
              <a:srgbClr val="0909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1655820" y="5907250"/>
            <a:ext cx="204580" cy="370801"/>
          </a:xfrm>
          <a:prstGeom prst="line">
            <a:avLst/>
          </a:prstGeom>
          <a:ln w="19050">
            <a:solidFill>
              <a:srgbClr val="0909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843892" y="5216792"/>
            <a:ext cx="2774617" cy="690457"/>
          </a:xfrm>
          <a:prstGeom prst="rect">
            <a:avLst/>
          </a:prstGeom>
          <a:solidFill>
            <a:srgbClr val="FFFFFF"/>
          </a:solidFill>
          <a:ln w="19050">
            <a:solidFill>
              <a:srgbClr val="E9E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4217" y="5293510"/>
            <a:ext cx="2646755" cy="2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90909"/>
                </a:solidFill>
                <a:latin typeface="Liberation Serif"/>
              </a:rPr>
              <a:t>Enhance the </a:t>
            </a:r>
            <a:r>
              <a:rPr sz="1450" b="1">
                <a:solidFill>
                  <a:srgbClr val="C5262D"/>
                </a:solidFill>
                <a:latin typeface="Liberation Serif"/>
              </a:rPr>
              <a:t>trigger feature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217" y="5549235"/>
            <a:ext cx="2646755" cy="2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90909"/>
                </a:solidFill>
                <a:latin typeface="Liberation Serif"/>
              </a:rPr>
              <a:t>on the </a:t>
            </a:r>
            <a:r>
              <a:rPr sz="1450" b="1">
                <a:solidFill>
                  <a:srgbClr val="C5262D"/>
                </a:solidFill>
                <a:latin typeface="Liberation Serif"/>
              </a:rPr>
              <a:t>Blue</a:t>
            </a:r>
            <a:r>
              <a:rPr sz="1450" b="1">
                <a:solidFill>
                  <a:srgbClr val="090909"/>
                </a:solidFill>
                <a:latin typeface="Liberation Serif"/>
              </a:rPr>
              <a:t> color channel.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2180056" y="4807632"/>
            <a:ext cx="8688261" cy="0"/>
          </a:xfrm>
          <a:prstGeom prst="line">
            <a:avLst/>
          </a:prstGeom>
          <a:ln w="28575">
            <a:solidFill>
              <a:srgbClr val="C5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2170466" y="4871563"/>
            <a:ext cx="19179" cy="242938"/>
          </a:xfrm>
          <a:prstGeom prst="rect">
            <a:avLst/>
          </a:prstGeom>
          <a:solidFill>
            <a:srgbClr val="C5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Isosceles Triangle 92"/>
          <p:cNvSpPr/>
          <p:nvPr/>
        </p:nvSpPr>
        <p:spPr>
          <a:xfrm rot="10800000">
            <a:off x="2116125" y="5114502"/>
            <a:ext cx="127862" cy="127862"/>
          </a:xfrm>
          <a:prstGeom prst="triangle">
            <a:avLst/>
          </a:prstGeom>
          <a:solidFill>
            <a:srgbClr val="C5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10868317" y="4807632"/>
            <a:ext cx="0" cy="306870"/>
          </a:xfrm>
          <a:prstGeom prst="line">
            <a:avLst/>
          </a:prstGeom>
          <a:ln w="28575">
            <a:solidFill>
              <a:srgbClr val="C5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2327098" y="6533776"/>
            <a:ext cx="1093224" cy="51145"/>
          </a:xfrm>
          <a:prstGeom prst="rect">
            <a:avLst/>
          </a:prstGeom>
          <a:solidFill>
            <a:srgbClr val="C5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Isosceles Triangle 95"/>
          <p:cNvSpPr/>
          <p:nvPr/>
        </p:nvSpPr>
        <p:spPr>
          <a:xfrm rot="16200000">
            <a:off x="2148091" y="6469845"/>
            <a:ext cx="179007" cy="179007"/>
          </a:xfrm>
          <a:prstGeom prst="triangle">
            <a:avLst/>
          </a:prstGeom>
          <a:solidFill>
            <a:srgbClr val="C5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333491" y="6169368"/>
            <a:ext cx="1150763" cy="28129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5262D"/>
                </a:solidFill>
                <a:latin typeface="Liberation Serif"/>
              </a:rPr>
              <a:t>distinct-color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435781" y="6636066"/>
            <a:ext cx="1022900" cy="28129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5262D"/>
                </a:solidFill>
                <a:latin typeface="Liberation Serif"/>
              </a:rPr>
              <a:t>poisoning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46850" y="4826811"/>
            <a:ext cx="5210399" cy="3324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91D73"/>
                </a:solidFill>
                <a:latin typeface="Liberation Serif"/>
              </a:rPr>
              <a:t>Distinct sensitivity of human visual system on RGB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682441" y="5165647"/>
            <a:ext cx="5408586" cy="1726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816697" y="5152861"/>
            <a:ext cx="1451240" cy="255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5262D"/>
                </a:solidFill>
                <a:latin typeface="Liberation Serif"/>
              </a:rPr>
              <a:t>mild </a:t>
            </a:r>
            <a:r>
              <a:rPr sz="1500" b="1">
                <a:solidFill>
                  <a:srgbClr val="191D73"/>
                </a:solidFill>
                <a:latin typeface="Liberation Serif"/>
              </a:rPr>
              <a:t>distortion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19559" y="5152861"/>
            <a:ext cx="1566316" cy="255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5262D"/>
                </a:solidFill>
                <a:latin typeface="Liberation Serif"/>
              </a:rPr>
              <a:t>severe </a:t>
            </a:r>
            <a:r>
              <a:rPr sz="1500" b="1">
                <a:solidFill>
                  <a:srgbClr val="191D73"/>
                </a:solidFill>
                <a:latin typeface="Liberation Serif"/>
              </a:rPr>
              <a:t>distortion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524711" y="5152861"/>
            <a:ext cx="1566316" cy="255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5262D"/>
                </a:solidFill>
                <a:latin typeface="Liberation Serif"/>
              </a:rPr>
              <a:t>subtle </a:t>
            </a:r>
            <a:r>
              <a:rPr sz="1500" b="1">
                <a:solidFill>
                  <a:srgbClr val="191D73"/>
                </a:solidFill>
                <a:latin typeface="Liberation Serif"/>
              </a:rPr>
              <a:t>distortion</a:t>
            </a:r>
          </a:p>
        </p:txBody>
      </p:sp>
      <p:pic>
        <p:nvPicPr>
          <p:cNvPr id="104" name="Picture 103" descr="mi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1621" y="5440551"/>
            <a:ext cx="1566316" cy="1451240"/>
          </a:xfrm>
          <a:prstGeom prst="rect">
            <a:avLst/>
          </a:prstGeom>
        </p:spPr>
      </p:pic>
      <p:pic>
        <p:nvPicPr>
          <p:cNvPr id="105" name="Picture 104" descr="seve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3166" y="5440551"/>
            <a:ext cx="1566316" cy="1451240"/>
          </a:xfrm>
          <a:prstGeom prst="rect">
            <a:avLst/>
          </a:prstGeom>
        </p:spPr>
      </p:pic>
      <p:pic>
        <p:nvPicPr>
          <p:cNvPr id="106" name="Picture 105" descr="subt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1104" y="5440551"/>
            <a:ext cx="1553530" cy="145124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5370227" y="6610494"/>
            <a:ext cx="242938" cy="249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C5262D"/>
                </a:solidFill>
                <a:latin typeface="Liberation Serif"/>
              </a:rPr>
              <a:t>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268986" y="6610494"/>
            <a:ext cx="242938" cy="249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06B3D"/>
                </a:solidFill>
                <a:latin typeface="Liberation Serif"/>
              </a:rPr>
              <a:t>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67745" y="6610494"/>
            <a:ext cx="242938" cy="249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918D2"/>
                </a:solidFill>
                <a:latin typeface="Liberation Serif"/>
              </a:rPr>
              <a:t>B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691982" y="5133681"/>
            <a:ext cx="2237594" cy="1777289"/>
          </a:xfrm>
          <a:prstGeom prst="rect">
            <a:avLst/>
          </a:prstGeom>
          <a:solidFill>
            <a:srgbClr val="FFFFFF"/>
          </a:solidFill>
          <a:ln w="19050">
            <a:solidFill>
              <a:srgbClr val="00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088356" y="5178433"/>
            <a:ext cx="1470419" cy="2429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90909"/>
                </a:solidFill>
                <a:latin typeface="Liberation Serif"/>
              </a:rPr>
              <a:t>Special samples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704768" y="5434158"/>
            <a:ext cx="1086831" cy="3963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90909"/>
                </a:solidFill>
                <a:latin typeface="Liberation Serif"/>
              </a:rPr>
              <a:t>Green</a:t>
            </a:r>
            <a:br/>
            <a:r>
              <a:rPr sz="1450" b="1">
                <a:solidFill>
                  <a:srgbClr val="090909"/>
                </a:solidFill>
                <a:latin typeface="Liberation Serif"/>
              </a:rPr>
              <a:t>dominated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17172" y="5434158"/>
            <a:ext cx="1093224" cy="3963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90909"/>
                </a:solidFill>
                <a:latin typeface="Liberation Serif"/>
              </a:rPr>
              <a:t>Blue</a:t>
            </a:r>
            <a:br/>
            <a:r>
              <a:rPr sz="1450" b="1">
                <a:solidFill>
                  <a:srgbClr val="090909"/>
                </a:solidFill>
                <a:latin typeface="Liberation Serif"/>
              </a:rPr>
              <a:t>dominated</a:t>
            </a:r>
          </a:p>
        </p:txBody>
      </p:sp>
      <p:pic>
        <p:nvPicPr>
          <p:cNvPr id="114" name="Picture 113" descr="green_samp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62306" y="5894464"/>
            <a:ext cx="958969" cy="933396"/>
          </a:xfrm>
          <a:prstGeom prst="rect">
            <a:avLst/>
          </a:prstGeom>
        </p:spPr>
      </p:pic>
      <p:pic>
        <p:nvPicPr>
          <p:cNvPr id="115" name="Picture 114" descr="blue_sam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45035" y="5894464"/>
            <a:ext cx="907824" cy="9333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A Set of Generalized Components to Achieve Effective Poison-only Clean-label Backdoor Attacks with Collaborative Sample Selection and Trigger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" y="0"/>
            <a:ext cx="12178908" cy="70452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