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7474184" cy="715975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474184" cy="7159752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" y="210312"/>
            <a:ext cx="17410176" cy="2002536"/>
          </a:xfrm>
          <a:prstGeom prst="roundRect">
            <a:avLst/>
          </a:prstGeom>
          <a:solidFill>
            <a:srgbClr val="F6FBEA"/>
          </a:solidFill>
          <a:ln w="14287">
            <a:solidFill>
              <a:srgbClr val="8C9694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228600"/>
            <a:ext cx="6583680" cy="274320"/>
          </a:xfrm>
          <a:prstGeom prst="rect">
            <a:avLst/>
          </a:prstGeom>
          <a:noFill/>
          <a:effectLst/>
        </p:spPr>
        <p:txBody>
          <a:bodyPr wrap="none" lIns="9144" rIns="9144" tIns="0" bIns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82B61"/>
                </a:solidFill>
                <a:latin typeface="Times New Roman"/>
              </a:defRPr>
            </a:pPr>
            <a:r>
              <a:t>(a) The whole process of evolutionary multi-view classification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02336" y="694944"/>
            <a:ext cx="1207008" cy="502920"/>
          </a:xfrm>
          <a:prstGeom prst="rect">
            <a:avLst/>
          </a:prstGeom>
          <a:solidFill>
            <a:srgbClr val="FFFFFF"/>
          </a:solidFill>
          <a:ln w="13334">
            <a:solidFill>
              <a:srgbClr val="082B61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749808"/>
            <a:ext cx="173736" cy="164592"/>
          </a:xfrm>
          <a:prstGeom prst="ellipse">
            <a:avLst/>
          </a:prstGeom>
          <a:solidFill>
            <a:srgbClr val="DCE8F7"/>
          </a:solidFill>
          <a:ln w="16192">
            <a:solidFill>
              <a:srgbClr val="082B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94944" y="749808"/>
            <a:ext cx="173736" cy="164592"/>
          </a:xfrm>
          <a:prstGeom prst="ellipse">
            <a:avLst/>
          </a:prstGeom>
          <a:solidFill>
            <a:srgbClr val="DCE8F7"/>
          </a:solidFill>
          <a:ln w="16192">
            <a:solidFill>
              <a:srgbClr val="082B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08176" y="749808"/>
            <a:ext cx="173736" cy="164592"/>
          </a:xfrm>
          <a:prstGeom prst="ellipse">
            <a:avLst/>
          </a:prstGeom>
          <a:solidFill>
            <a:srgbClr val="DCE8F7"/>
          </a:solidFill>
          <a:ln w="16192">
            <a:solidFill>
              <a:srgbClr val="082B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8408" y="822960"/>
            <a:ext cx="45720" cy="4572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15568" y="822960"/>
            <a:ext cx="45720" cy="4572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7200" y="987552"/>
            <a:ext cx="173736" cy="164592"/>
          </a:xfrm>
          <a:prstGeom prst="ellipse">
            <a:avLst/>
          </a:prstGeom>
          <a:solidFill>
            <a:srgbClr val="DCE8F7"/>
          </a:solidFill>
          <a:ln w="16192">
            <a:solidFill>
              <a:srgbClr val="082B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94944" y="987552"/>
            <a:ext cx="173736" cy="164592"/>
          </a:xfrm>
          <a:prstGeom prst="ellipse">
            <a:avLst/>
          </a:prstGeom>
          <a:solidFill>
            <a:srgbClr val="DCE8F7"/>
          </a:solidFill>
          <a:ln w="16192">
            <a:solidFill>
              <a:srgbClr val="082B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08176" y="987552"/>
            <a:ext cx="173736" cy="164592"/>
          </a:xfrm>
          <a:prstGeom prst="ellipse">
            <a:avLst/>
          </a:prstGeom>
          <a:solidFill>
            <a:srgbClr val="DCE8F7"/>
          </a:solidFill>
          <a:ln w="16192">
            <a:solidFill>
              <a:srgbClr val="082B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78408" y="1060704"/>
            <a:ext cx="45720" cy="4572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15568" y="1060704"/>
            <a:ext cx="45720" cy="4572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02336" y="1481328"/>
            <a:ext cx="1207008" cy="502920"/>
          </a:xfrm>
          <a:prstGeom prst="rect">
            <a:avLst/>
          </a:prstGeom>
          <a:solidFill>
            <a:srgbClr val="FFFFFF"/>
          </a:solidFill>
          <a:ln w="13334">
            <a:solidFill>
              <a:srgbClr val="082B61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66344" y="1563624"/>
            <a:ext cx="228600" cy="109728"/>
          </a:xfrm>
          <a:prstGeom prst="ellipse">
            <a:avLst/>
          </a:prstGeom>
          <a:solidFill>
            <a:srgbClr val="F39969"/>
          </a:solidFill>
          <a:ln w="14287">
            <a:solidFill>
              <a:srgbClr val="082B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1563624"/>
            <a:ext cx="228600" cy="109728"/>
          </a:xfrm>
          <a:prstGeom prst="ellipse">
            <a:avLst/>
          </a:prstGeom>
          <a:solidFill>
            <a:srgbClr val="E4815F"/>
          </a:solidFill>
          <a:ln w="14287">
            <a:solidFill>
              <a:srgbClr val="082B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316736" y="1563624"/>
            <a:ext cx="228600" cy="109728"/>
          </a:xfrm>
          <a:prstGeom prst="ellipse">
            <a:avLst/>
          </a:prstGeom>
          <a:solidFill>
            <a:srgbClr val="F3D05D"/>
          </a:solidFill>
          <a:ln w="14287">
            <a:solidFill>
              <a:srgbClr val="082B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66344" y="1810512"/>
            <a:ext cx="228600" cy="109728"/>
          </a:xfrm>
          <a:prstGeom prst="ellipse">
            <a:avLst/>
          </a:prstGeom>
          <a:solidFill>
            <a:srgbClr val="438ACA"/>
          </a:solidFill>
          <a:ln w="14287">
            <a:solidFill>
              <a:srgbClr val="082B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1810512"/>
            <a:ext cx="228600" cy="109728"/>
          </a:xfrm>
          <a:prstGeom prst="ellipse">
            <a:avLst/>
          </a:prstGeom>
          <a:solidFill>
            <a:srgbClr val="9DCE87"/>
          </a:solidFill>
          <a:ln w="14287">
            <a:solidFill>
              <a:srgbClr val="082B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316736" y="1810512"/>
            <a:ext cx="228600" cy="109728"/>
          </a:xfrm>
          <a:prstGeom prst="ellipse">
            <a:avLst/>
          </a:prstGeom>
          <a:solidFill>
            <a:srgbClr val="D1D1CF"/>
          </a:solidFill>
          <a:ln w="14287">
            <a:solidFill>
              <a:srgbClr val="082B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05840" y="1618488"/>
            <a:ext cx="45720" cy="4572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24712" y="1618488"/>
            <a:ext cx="45720" cy="4572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05840" y="1865376"/>
            <a:ext cx="45720" cy="4572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24712" y="1865376"/>
            <a:ext cx="45720" cy="4572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2608" y="1216152"/>
            <a:ext cx="1408176" cy="182880"/>
          </a:xfrm>
          <a:prstGeom prst="rect">
            <a:avLst/>
          </a:prstGeom>
          <a:noFill/>
          <a:effectLst/>
        </p:spPr>
        <p:txBody>
          <a:bodyPr wrap="none" lIns="9144" rIns="9144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275" b="1" i="0">
                <a:solidFill>
                  <a:srgbClr val="101010"/>
                </a:solidFill>
                <a:latin typeface="Times New Roman"/>
              </a:defRPr>
            </a:pPr>
            <a:r>
              <a:t>Fusion operator set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1984248"/>
            <a:ext cx="1060704" cy="182880"/>
          </a:xfrm>
          <a:prstGeom prst="rect">
            <a:avLst/>
          </a:prstGeom>
          <a:noFill/>
          <a:effectLst/>
        </p:spPr>
        <p:txBody>
          <a:bodyPr wrap="none" lIns="9144" rIns="9144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275" b="1" i="0">
                <a:solidFill>
                  <a:srgbClr val="101010"/>
                </a:solidFill>
                <a:latin typeface="Times New Roman"/>
              </a:defRPr>
            </a:pPr>
            <a:r>
              <a:t>View set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618488" y="923544"/>
            <a:ext cx="100584" cy="0"/>
          </a:xfrm>
          <a:prstGeom prst="line">
            <a:avLst/>
          </a:prstGeom>
          <a:ln w="28575">
            <a:solidFill>
              <a:srgbClr val="082B6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719072" y="923544"/>
            <a:ext cx="73152" cy="73152"/>
          </a:xfrm>
          <a:prstGeom prst="line">
            <a:avLst/>
          </a:prstGeom>
          <a:ln w="28575">
            <a:solidFill>
              <a:srgbClr val="082B6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792224" y="996696"/>
            <a:ext cx="0" cy="658368"/>
          </a:xfrm>
          <a:prstGeom prst="line">
            <a:avLst/>
          </a:prstGeom>
          <a:ln w="28575">
            <a:solidFill>
              <a:srgbClr val="082B6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1719072" y="1655064"/>
            <a:ext cx="73152" cy="82296"/>
          </a:xfrm>
          <a:prstGeom prst="line">
            <a:avLst/>
          </a:prstGeom>
          <a:ln w="28575">
            <a:solidFill>
              <a:srgbClr val="082B6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1618488" y="1737360"/>
            <a:ext cx="100584" cy="0"/>
          </a:xfrm>
          <a:prstGeom prst="line">
            <a:avLst/>
          </a:prstGeom>
          <a:ln w="28575">
            <a:solidFill>
              <a:srgbClr val="082B6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792224" y="1380744"/>
            <a:ext cx="283464" cy="0"/>
          </a:xfrm>
          <a:prstGeom prst="line">
            <a:avLst/>
          </a:prstGeom>
          <a:ln w="28575">
            <a:solidFill>
              <a:srgbClr val="082B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eform 34"/>
          <p:cNvSpPr/>
          <p:nvPr/>
        </p:nvSpPr>
        <p:spPr>
          <a:xfrm>
            <a:off x="2057400" y="658368"/>
            <a:ext cx="1737360" cy="1335024"/>
          </a:xfrm>
          <a:custGeom>
            <a:avLst/>
            <a:gdLst/>
            <a:ahLst/>
            <a:cxnLst/>
            <a:rect l="l" t="t" r="r" b="b"/>
            <a:pathLst>
              <a:path w="190" h="146">
                <a:moveTo>
                  <a:pt x="0" y="102"/>
                </a:moveTo>
                <a:lnTo>
                  <a:pt x="8" y="103"/>
                </a:lnTo>
                <a:lnTo>
                  <a:pt x="16" y="101"/>
                </a:lnTo>
                <a:lnTo>
                  <a:pt x="24" y="94"/>
                </a:lnTo>
                <a:lnTo>
                  <a:pt x="32" y="86"/>
                </a:lnTo>
                <a:lnTo>
                  <a:pt x="40" y="80"/>
                </a:lnTo>
                <a:lnTo>
                  <a:pt x="47" y="72"/>
                </a:lnTo>
                <a:lnTo>
                  <a:pt x="55" y="61"/>
                </a:lnTo>
                <a:lnTo>
                  <a:pt x="63" y="56"/>
                </a:lnTo>
                <a:lnTo>
                  <a:pt x="71" y="69"/>
                </a:lnTo>
                <a:lnTo>
                  <a:pt x="79" y="88"/>
                </a:lnTo>
                <a:lnTo>
                  <a:pt x="87" y="100"/>
                </a:lnTo>
                <a:lnTo>
                  <a:pt x="95" y="104"/>
                </a:lnTo>
                <a:lnTo>
                  <a:pt x="103" y="99"/>
                </a:lnTo>
                <a:lnTo>
                  <a:pt x="111" y="56"/>
                </a:lnTo>
                <a:lnTo>
                  <a:pt x="119" y="0"/>
                </a:lnTo>
                <a:lnTo>
                  <a:pt x="127" y="35"/>
                </a:lnTo>
                <a:lnTo>
                  <a:pt x="135" y="84"/>
                </a:lnTo>
                <a:lnTo>
                  <a:pt x="143" y="88"/>
                </a:lnTo>
                <a:lnTo>
                  <a:pt x="150" y="85"/>
                </a:lnTo>
                <a:lnTo>
                  <a:pt x="158" y="87"/>
                </a:lnTo>
                <a:lnTo>
                  <a:pt x="166" y="94"/>
                </a:lnTo>
                <a:lnTo>
                  <a:pt x="174" y="101"/>
                </a:lnTo>
                <a:lnTo>
                  <a:pt x="182" y="103"/>
                </a:lnTo>
                <a:lnTo>
                  <a:pt x="190" y="102"/>
                </a:lnTo>
                <a:lnTo>
                  <a:pt x="190" y="122"/>
                </a:lnTo>
                <a:lnTo>
                  <a:pt x="167" y="132"/>
                </a:lnTo>
                <a:lnTo>
                  <a:pt x="137" y="117"/>
                </a:lnTo>
                <a:lnTo>
                  <a:pt x="110" y="146"/>
                </a:lnTo>
                <a:lnTo>
                  <a:pt x="84" y="124"/>
                </a:lnTo>
                <a:lnTo>
                  <a:pt x="55" y="138"/>
                </a:lnTo>
                <a:lnTo>
                  <a:pt x="23" y="119"/>
                </a:lnTo>
                <a:lnTo>
                  <a:pt x="0" y="102"/>
                </a:lnTo>
                <a:close/>
              </a:path>
            </a:pathLst>
          </a:custGeom>
          <a:solidFill>
            <a:srgbClr val="BCD6FA"/>
          </a:solidFill>
          <a:ln w="4762">
            <a:solidFill>
              <a:srgbClr val="9BB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 flipV="1">
            <a:off x="2144268" y="1488368"/>
            <a:ext cx="399592" cy="43069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543860" y="1488368"/>
            <a:ext cx="295352" cy="71781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2839212" y="1474012"/>
            <a:ext cx="260604" cy="86137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099816" y="1474012"/>
            <a:ext cx="330098" cy="100493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3429914" y="1531437"/>
            <a:ext cx="260604" cy="43068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2144268" y="1531437"/>
            <a:ext cx="399592" cy="35890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543860" y="1531437"/>
            <a:ext cx="295352" cy="68909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2839212" y="1531437"/>
            <a:ext cx="260604" cy="68909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3099816" y="1531437"/>
            <a:ext cx="330098" cy="78958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3429914" y="1560149"/>
            <a:ext cx="260604" cy="50246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2144268" y="1574505"/>
            <a:ext cx="399592" cy="28712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543860" y="1574505"/>
            <a:ext cx="295352" cy="66038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2839212" y="1588861"/>
            <a:ext cx="260604" cy="51682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3099816" y="1588861"/>
            <a:ext cx="330098" cy="57424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3429914" y="1588861"/>
            <a:ext cx="260604" cy="57424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2144268" y="1617573"/>
            <a:ext cx="399592" cy="21534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2543860" y="1617573"/>
            <a:ext cx="295352" cy="63167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2839212" y="1646285"/>
            <a:ext cx="260604" cy="34455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3099816" y="1646285"/>
            <a:ext cx="330098" cy="35890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3429914" y="1617573"/>
            <a:ext cx="260604" cy="64602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2144268" y="1660641"/>
            <a:ext cx="399592" cy="14356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2543860" y="1660641"/>
            <a:ext cx="295352" cy="60296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2839212" y="1703710"/>
            <a:ext cx="260604" cy="17227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3099816" y="1703710"/>
            <a:ext cx="330098" cy="14356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3429914" y="1646285"/>
            <a:ext cx="260604" cy="71781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2144268" y="1703710"/>
            <a:ext cx="399592" cy="7178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2543860" y="1703710"/>
            <a:ext cx="295352" cy="57424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2839212" y="1761134"/>
            <a:ext cx="260604" cy="0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3099816" y="1753956"/>
            <a:ext cx="330098" cy="7178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3429914" y="1674997"/>
            <a:ext cx="260604" cy="78959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2144268" y="1746778"/>
            <a:ext cx="399592" cy="0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2543860" y="1746778"/>
            <a:ext cx="295352" cy="54553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2839212" y="1801331"/>
            <a:ext cx="260604" cy="17227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3099816" y="1789846"/>
            <a:ext cx="330098" cy="28712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3429914" y="1703710"/>
            <a:ext cx="260604" cy="86136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Freeform 70"/>
          <p:cNvSpPr/>
          <p:nvPr/>
        </p:nvSpPr>
        <p:spPr>
          <a:xfrm>
            <a:off x="2404872" y="932688"/>
            <a:ext cx="402336" cy="612648"/>
          </a:xfrm>
          <a:custGeom>
            <a:avLst/>
            <a:gdLst/>
            <a:ahLst/>
            <a:cxnLst/>
            <a:rect l="l" t="t" r="r" b="b"/>
            <a:pathLst>
              <a:path w="44" h="67">
                <a:moveTo>
                  <a:pt x="0" y="61"/>
                </a:moveTo>
                <a:lnTo>
                  <a:pt x="27" y="0"/>
                </a:lnTo>
                <a:lnTo>
                  <a:pt x="44" y="67"/>
                </a:lnTo>
                <a:close/>
              </a:path>
            </a:pathLst>
          </a:custGeom>
          <a:solidFill>
            <a:srgbClr val="FFB189"/>
          </a:solidFill>
          <a:ln w="4762">
            <a:solidFill>
              <a:srgbClr val="EFA1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Freeform 71"/>
          <p:cNvSpPr/>
          <p:nvPr/>
        </p:nvSpPr>
        <p:spPr>
          <a:xfrm>
            <a:off x="2889504" y="658368"/>
            <a:ext cx="384048" cy="886968"/>
          </a:xfrm>
          <a:custGeom>
            <a:avLst/>
            <a:gdLst/>
            <a:ahLst/>
            <a:cxnLst/>
            <a:rect l="l" t="t" r="r" b="b"/>
            <a:pathLst>
              <a:path w="42" h="97">
                <a:moveTo>
                  <a:pt x="0" y="94"/>
                </a:moveTo>
                <a:lnTo>
                  <a:pt x="29" y="0"/>
                </a:lnTo>
                <a:lnTo>
                  <a:pt x="42" y="97"/>
                </a:lnTo>
                <a:close/>
              </a:path>
            </a:pathLst>
          </a:custGeom>
          <a:solidFill>
            <a:srgbClr val="E65B53"/>
          </a:solidFill>
          <a:ln w="4762">
            <a:solidFill>
              <a:srgbClr val="D64B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Freeform 72"/>
          <p:cNvSpPr/>
          <p:nvPr/>
        </p:nvSpPr>
        <p:spPr>
          <a:xfrm>
            <a:off x="3026664" y="658368"/>
            <a:ext cx="173736" cy="868680"/>
          </a:xfrm>
          <a:custGeom>
            <a:avLst/>
            <a:gdLst/>
            <a:ahLst/>
            <a:cxnLst/>
            <a:rect l="l" t="t" r="r" b="b"/>
            <a:pathLst>
              <a:path w="19" h="95">
                <a:moveTo>
                  <a:pt x="0" y="91"/>
                </a:moveTo>
                <a:lnTo>
                  <a:pt x="14" y="0"/>
                </a:lnTo>
                <a:lnTo>
                  <a:pt x="19" y="95"/>
                </a:lnTo>
                <a:close/>
              </a:path>
            </a:pathLst>
          </a:custGeom>
          <a:solidFill>
            <a:srgbClr val="AF1831"/>
          </a:solidFill>
          <a:ln w="3810">
            <a:solidFill>
              <a:srgbClr val="A20E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" name="Connector 73"/>
          <p:cNvCxnSpPr/>
          <p:nvPr/>
        </p:nvCxnSpPr>
        <p:spPr>
          <a:xfrm>
            <a:off x="2274570" y="1558813"/>
            <a:ext cx="0" cy="259745"/>
          </a:xfrm>
          <a:prstGeom prst="line">
            <a:avLst/>
          </a:prstGeom>
          <a:ln w="4286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2419349" y="1512867"/>
            <a:ext cx="0" cy="269801"/>
          </a:xfrm>
          <a:prstGeom prst="line">
            <a:avLst/>
          </a:prstGeom>
          <a:ln w="4286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2564130" y="1258890"/>
            <a:ext cx="0" cy="451998"/>
          </a:xfrm>
          <a:prstGeom prst="line">
            <a:avLst/>
          </a:prstGeom>
          <a:ln w="4286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2708910" y="1214597"/>
            <a:ext cx="0" cy="460400"/>
          </a:xfrm>
          <a:prstGeom prst="line">
            <a:avLst/>
          </a:prstGeom>
          <a:ln w="4286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2853690" y="1488552"/>
            <a:ext cx="0" cy="222336"/>
          </a:xfrm>
          <a:prstGeom prst="line">
            <a:avLst/>
          </a:prstGeom>
          <a:ln w="4286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2998469" y="1457252"/>
            <a:ext cx="0" cy="325416"/>
          </a:xfrm>
          <a:prstGeom prst="line">
            <a:avLst/>
          </a:prstGeom>
          <a:ln w="4286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3143250" y="690470"/>
            <a:ext cx="0" cy="1128088"/>
          </a:xfrm>
          <a:prstGeom prst="line">
            <a:avLst/>
          </a:prstGeom>
          <a:ln w="4286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3288030" y="1400883"/>
            <a:ext cx="0" cy="381785"/>
          </a:xfrm>
          <a:prstGeom prst="line">
            <a:avLst/>
          </a:prstGeom>
          <a:ln w="4286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3432810" y="1559533"/>
            <a:ext cx="0" cy="151355"/>
          </a:xfrm>
          <a:prstGeom prst="line">
            <a:avLst/>
          </a:prstGeom>
          <a:ln w="4286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3577590" y="1560149"/>
            <a:ext cx="0" cy="114848"/>
          </a:xfrm>
          <a:prstGeom prst="line">
            <a:avLst/>
          </a:prstGeom>
          <a:ln w="4286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2304288" y="1947672"/>
            <a:ext cx="1325880" cy="228600"/>
          </a:xfrm>
          <a:prstGeom prst="rect">
            <a:avLst/>
          </a:prstGeom>
          <a:noFill/>
          <a:effectLst/>
        </p:spPr>
        <p:txBody>
          <a:bodyPr wrap="none" lIns="9144" rIns="9144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350" b="1" i="0">
                <a:solidFill>
                  <a:srgbClr val="101010"/>
                </a:solidFill>
                <a:latin typeface="Times New Roman"/>
              </a:defRPr>
            </a:pPr>
            <a:r>
              <a:t>Search space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3785615" y="1380744"/>
            <a:ext cx="832105" cy="0"/>
          </a:xfrm>
          <a:prstGeom prst="line">
            <a:avLst/>
          </a:prstGeom>
          <a:ln w="28575">
            <a:solidFill>
              <a:srgbClr val="082B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3749039" y="786384"/>
            <a:ext cx="1143000" cy="530352"/>
          </a:xfrm>
          <a:prstGeom prst="rect">
            <a:avLst/>
          </a:prstGeom>
          <a:noFill/>
          <a:effectLst/>
        </p:spPr>
        <p:txBody>
          <a:bodyPr wrap="none" lIns="9144" rIns="9144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D00000"/>
                </a:solidFill>
                <a:latin typeface="Times New Roman"/>
              </a:defRPr>
            </a:pPr>
            <a:r>
              <a:t>① Initialize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D00000"/>
                </a:solidFill>
                <a:latin typeface="Times New Roman"/>
              </a:defRPr>
            </a:pPr>
            <a:r>
              <a:t>population</a:t>
            </a:r>
          </a:p>
        </p:txBody>
      </p:sp>
      <p:sp>
        <p:nvSpPr>
          <p:cNvPr id="87" name="Freeform 86"/>
          <p:cNvSpPr/>
          <p:nvPr/>
        </p:nvSpPr>
        <p:spPr>
          <a:xfrm>
            <a:off x="4617720" y="685800"/>
            <a:ext cx="1709928" cy="1133856"/>
          </a:xfrm>
          <a:custGeom>
            <a:avLst/>
            <a:gdLst/>
            <a:ahLst/>
            <a:cxnLst/>
            <a:rect l="l" t="t" r="r" b="b"/>
            <a:pathLst>
              <a:path w="187" h="124">
                <a:moveTo>
                  <a:pt x="0" y="86"/>
                </a:moveTo>
                <a:lnTo>
                  <a:pt x="8" y="87"/>
                </a:lnTo>
                <a:lnTo>
                  <a:pt x="16" y="85"/>
                </a:lnTo>
                <a:lnTo>
                  <a:pt x="23" y="78"/>
                </a:lnTo>
                <a:lnTo>
                  <a:pt x="31" y="71"/>
                </a:lnTo>
                <a:lnTo>
                  <a:pt x="39" y="65"/>
                </a:lnTo>
                <a:lnTo>
                  <a:pt x="47" y="59"/>
                </a:lnTo>
                <a:lnTo>
                  <a:pt x="55" y="50"/>
                </a:lnTo>
                <a:lnTo>
                  <a:pt x="62" y="48"/>
                </a:lnTo>
                <a:lnTo>
                  <a:pt x="70" y="59"/>
                </a:lnTo>
                <a:lnTo>
                  <a:pt x="78" y="76"/>
                </a:lnTo>
                <a:lnTo>
                  <a:pt x="86" y="85"/>
                </a:lnTo>
                <a:lnTo>
                  <a:pt x="93" y="88"/>
                </a:lnTo>
                <a:lnTo>
                  <a:pt x="101" y="84"/>
                </a:lnTo>
                <a:lnTo>
                  <a:pt x="109" y="48"/>
                </a:lnTo>
                <a:lnTo>
                  <a:pt x="117" y="0"/>
                </a:lnTo>
                <a:lnTo>
                  <a:pt x="125" y="30"/>
                </a:lnTo>
                <a:lnTo>
                  <a:pt x="132" y="70"/>
                </a:lnTo>
                <a:lnTo>
                  <a:pt x="140" y="72"/>
                </a:lnTo>
                <a:lnTo>
                  <a:pt x="148" y="69"/>
                </a:lnTo>
                <a:lnTo>
                  <a:pt x="156" y="71"/>
                </a:lnTo>
                <a:lnTo>
                  <a:pt x="164" y="78"/>
                </a:lnTo>
                <a:lnTo>
                  <a:pt x="171" y="85"/>
                </a:lnTo>
                <a:lnTo>
                  <a:pt x="179" y="87"/>
                </a:lnTo>
                <a:lnTo>
                  <a:pt x="187" y="86"/>
                </a:lnTo>
                <a:lnTo>
                  <a:pt x="187" y="103"/>
                </a:lnTo>
                <a:lnTo>
                  <a:pt x="165" y="111"/>
                </a:lnTo>
                <a:lnTo>
                  <a:pt x="135" y="99"/>
                </a:lnTo>
                <a:lnTo>
                  <a:pt x="108" y="124"/>
                </a:lnTo>
                <a:lnTo>
                  <a:pt x="82" y="105"/>
                </a:lnTo>
                <a:lnTo>
                  <a:pt x="54" y="117"/>
                </a:lnTo>
                <a:lnTo>
                  <a:pt x="22" y="101"/>
                </a:lnTo>
                <a:lnTo>
                  <a:pt x="0" y="86"/>
                </a:lnTo>
                <a:close/>
              </a:path>
            </a:pathLst>
          </a:custGeom>
          <a:solidFill>
            <a:srgbClr val="BCD6FA"/>
          </a:solidFill>
          <a:ln w="4762">
            <a:solidFill>
              <a:srgbClr val="9BB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8" name="Connector 87"/>
          <p:cNvCxnSpPr/>
          <p:nvPr/>
        </p:nvCxnSpPr>
        <p:spPr>
          <a:xfrm flipV="1">
            <a:off x="4703216" y="1383944"/>
            <a:ext cx="393283" cy="37033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5096499" y="1383944"/>
            <a:ext cx="290688" cy="61722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5387187" y="1371600"/>
            <a:ext cx="256489" cy="74066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5643676" y="1371600"/>
            <a:ext cx="324887" cy="86410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5968563" y="1420977"/>
            <a:ext cx="256489" cy="37033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4703216" y="1420977"/>
            <a:ext cx="393283" cy="30861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5096499" y="1420977"/>
            <a:ext cx="290688" cy="59253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5387187" y="1420977"/>
            <a:ext cx="256489" cy="59253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5643676" y="1420977"/>
            <a:ext cx="324887" cy="67894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5968563" y="1445666"/>
            <a:ext cx="256489" cy="43205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4703216" y="1458010"/>
            <a:ext cx="393283" cy="24689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5096499" y="1458010"/>
            <a:ext cx="290688" cy="56785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5387187" y="1470355"/>
            <a:ext cx="256489" cy="44440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5643676" y="1470355"/>
            <a:ext cx="324887" cy="49377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5968563" y="1470355"/>
            <a:ext cx="256489" cy="49377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4703216" y="1495044"/>
            <a:ext cx="393283" cy="18516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5096499" y="1495044"/>
            <a:ext cx="290688" cy="54315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5387187" y="1519732"/>
            <a:ext cx="256489" cy="29627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5643676" y="1519732"/>
            <a:ext cx="324887" cy="30861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5968563" y="1495044"/>
            <a:ext cx="256489" cy="55549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4703216" y="1532077"/>
            <a:ext cx="393283" cy="12344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5096499" y="1532077"/>
            <a:ext cx="290688" cy="51846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5387187" y="1569110"/>
            <a:ext cx="256489" cy="14813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5643676" y="1569110"/>
            <a:ext cx="324887" cy="12344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5968563" y="1519732"/>
            <a:ext cx="256489" cy="61722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4703216" y="1569110"/>
            <a:ext cx="393283" cy="6172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5096499" y="1569110"/>
            <a:ext cx="290688" cy="49378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5387187" y="1618488"/>
            <a:ext cx="256489" cy="0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5643676" y="1612315"/>
            <a:ext cx="324887" cy="6173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5968563" y="1544421"/>
            <a:ext cx="256489" cy="67894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4703216" y="1606143"/>
            <a:ext cx="393283" cy="0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5096499" y="1606143"/>
            <a:ext cx="290688" cy="46909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5387187" y="1653052"/>
            <a:ext cx="256489" cy="14813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5643676" y="1643176"/>
            <a:ext cx="324887" cy="24689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5968563" y="1569110"/>
            <a:ext cx="256489" cy="74066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Freeform 122"/>
          <p:cNvSpPr/>
          <p:nvPr/>
        </p:nvSpPr>
        <p:spPr>
          <a:xfrm>
            <a:off x="4956048" y="905256"/>
            <a:ext cx="393192" cy="530352"/>
          </a:xfrm>
          <a:custGeom>
            <a:avLst/>
            <a:gdLst/>
            <a:ahLst/>
            <a:cxnLst/>
            <a:rect l="l" t="t" r="r" b="b"/>
            <a:pathLst>
              <a:path w="43" h="58">
                <a:moveTo>
                  <a:pt x="0" y="52"/>
                </a:moveTo>
                <a:lnTo>
                  <a:pt x="27" y="0"/>
                </a:lnTo>
                <a:lnTo>
                  <a:pt x="43" y="58"/>
                </a:lnTo>
                <a:close/>
              </a:path>
            </a:pathLst>
          </a:custGeom>
          <a:solidFill>
            <a:srgbClr val="FFB189"/>
          </a:solidFill>
          <a:ln w="4762">
            <a:solidFill>
              <a:srgbClr val="EFA1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Freeform 123"/>
          <p:cNvSpPr/>
          <p:nvPr/>
        </p:nvSpPr>
        <p:spPr>
          <a:xfrm>
            <a:off x="5440680" y="667512"/>
            <a:ext cx="374904" cy="768096"/>
          </a:xfrm>
          <a:custGeom>
            <a:avLst/>
            <a:gdLst/>
            <a:ahLst/>
            <a:cxnLst/>
            <a:rect l="l" t="t" r="r" b="b"/>
            <a:pathLst>
              <a:path w="41" h="84">
                <a:moveTo>
                  <a:pt x="0" y="81"/>
                </a:moveTo>
                <a:lnTo>
                  <a:pt x="28" y="0"/>
                </a:lnTo>
                <a:lnTo>
                  <a:pt x="41" y="84"/>
                </a:lnTo>
                <a:close/>
              </a:path>
            </a:pathLst>
          </a:custGeom>
          <a:solidFill>
            <a:srgbClr val="E65B53"/>
          </a:solidFill>
          <a:ln w="4762">
            <a:solidFill>
              <a:srgbClr val="D64B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Freeform 124"/>
          <p:cNvSpPr/>
          <p:nvPr/>
        </p:nvSpPr>
        <p:spPr>
          <a:xfrm>
            <a:off x="5577840" y="667512"/>
            <a:ext cx="164592" cy="749808"/>
          </a:xfrm>
          <a:custGeom>
            <a:avLst/>
            <a:gdLst/>
            <a:ahLst/>
            <a:cxnLst/>
            <a:rect l="l" t="t" r="r" b="b"/>
            <a:pathLst>
              <a:path w="18" h="82">
                <a:moveTo>
                  <a:pt x="0" y="78"/>
                </a:moveTo>
                <a:lnTo>
                  <a:pt x="13" y="0"/>
                </a:lnTo>
                <a:lnTo>
                  <a:pt x="18" y="82"/>
                </a:lnTo>
                <a:close/>
              </a:path>
            </a:pathLst>
          </a:custGeom>
          <a:solidFill>
            <a:srgbClr val="AF1831"/>
          </a:solidFill>
          <a:ln w="3810">
            <a:solidFill>
              <a:srgbClr val="A20E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6" name="Connector 125"/>
          <p:cNvCxnSpPr/>
          <p:nvPr/>
        </p:nvCxnSpPr>
        <p:spPr>
          <a:xfrm>
            <a:off x="4831461" y="1444517"/>
            <a:ext cx="0" cy="223348"/>
          </a:xfrm>
          <a:prstGeom prst="line">
            <a:avLst/>
          </a:prstGeom>
          <a:ln w="4286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4973955" y="1405010"/>
            <a:ext cx="0" cy="231994"/>
          </a:xfrm>
          <a:prstGeom prst="line">
            <a:avLst/>
          </a:prstGeom>
          <a:ln w="4286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5116448" y="1186622"/>
            <a:ext cx="0" cy="388660"/>
          </a:xfrm>
          <a:prstGeom prst="line">
            <a:avLst/>
          </a:prstGeom>
          <a:ln w="4286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5258943" y="1148535"/>
            <a:ext cx="0" cy="395886"/>
          </a:xfrm>
          <a:prstGeom prst="line">
            <a:avLst/>
          </a:prstGeom>
          <a:ln w="4286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5401437" y="1384102"/>
            <a:ext cx="0" cy="191180"/>
          </a:xfrm>
          <a:prstGeom prst="line">
            <a:avLst/>
          </a:prstGeom>
          <a:ln w="4286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5543931" y="1357188"/>
            <a:ext cx="0" cy="279816"/>
          </a:xfrm>
          <a:prstGeom prst="line">
            <a:avLst/>
          </a:prstGeom>
          <a:ln w="4286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5686425" y="697853"/>
            <a:ext cx="0" cy="970012"/>
          </a:xfrm>
          <a:prstGeom prst="line">
            <a:avLst/>
          </a:prstGeom>
          <a:ln w="4286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5828919" y="1308718"/>
            <a:ext cx="0" cy="328286"/>
          </a:xfrm>
          <a:prstGeom prst="line">
            <a:avLst/>
          </a:prstGeom>
          <a:ln w="4286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5971413" y="1445136"/>
            <a:ext cx="0" cy="130146"/>
          </a:xfrm>
          <a:prstGeom prst="line">
            <a:avLst/>
          </a:prstGeom>
          <a:ln w="4286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6113907" y="1445666"/>
            <a:ext cx="0" cy="98755"/>
          </a:xfrm>
          <a:prstGeom prst="line">
            <a:avLst/>
          </a:prstGeom>
          <a:ln w="4286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Oval 135"/>
          <p:cNvSpPr/>
          <p:nvPr/>
        </p:nvSpPr>
        <p:spPr>
          <a:xfrm>
            <a:off x="5316413" y="1421434"/>
            <a:ext cx="73152" cy="73152"/>
          </a:xfrm>
          <a:prstGeom prst="ellipse">
            <a:avLst/>
          </a:prstGeom>
          <a:solidFill>
            <a:srgbClr val="4C8D35"/>
          </a:solidFill>
          <a:ln w="4762">
            <a:solidFill>
              <a:srgbClr val="4C8D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5983284" y="1520190"/>
            <a:ext cx="73152" cy="73152"/>
          </a:xfrm>
          <a:prstGeom prst="ellipse">
            <a:avLst/>
          </a:prstGeom>
          <a:solidFill>
            <a:srgbClr val="4C8D35"/>
          </a:solidFill>
          <a:ln w="4762">
            <a:solidFill>
              <a:srgbClr val="4C8D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6051682" y="841248"/>
            <a:ext cx="73152" cy="73152"/>
          </a:xfrm>
          <a:prstGeom prst="ellipse">
            <a:avLst/>
          </a:prstGeom>
          <a:solidFill>
            <a:srgbClr val="4C8D35"/>
          </a:solidFill>
          <a:ln w="4762">
            <a:solidFill>
              <a:srgbClr val="4C8D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4434840" y="1819656"/>
            <a:ext cx="1234440" cy="228600"/>
          </a:xfrm>
          <a:prstGeom prst="rect">
            <a:avLst/>
          </a:prstGeom>
          <a:noFill/>
          <a:effectLst/>
        </p:spPr>
        <p:txBody>
          <a:bodyPr wrap="none" lIns="9144" rIns="9144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350" b="1" i="0">
                <a:solidFill>
                  <a:srgbClr val="101010"/>
                </a:solidFill>
                <a:latin typeface="Times New Roman"/>
              </a:defRPr>
            </a:pPr>
            <a:r>
              <a:t>Individual</a:t>
            </a:r>
          </a:p>
        </p:txBody>
      </p:sp>
      <p:cxnSp>
        <p:nvCxnSpPr>
          <p:cNvPr id="140" name="Connector 139"/>
          <p:cNvCxnSpPr/>
          <p:nvPr/>
        </p:nvCxnSpPr>
        <p:spPr>
          <a:xfrm>
            <a:off x="6327648" y="1380744"/>
            <a:ext cx="987552" cy="0"/>
          </a:xfrm>
          <a:prstGeom prst="line">
            <a:avLst/>
          </a:prstGeom>
          <a:ln w="28575">
            <a:solidFill>
              <a:srgbClr val="082B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TextBox 140"/>
          <p:cNvSpPr txBox="1"/>
          <p:nvPr/>
        </p:nvSpPr>
        <p:spPr>
          <a:xfrm>
            <a:off x="6428232" y="777240"/>
            <a:ext cx="1005840" cy="530352"/>
          </a:xfrm>
          <a:prstGeom prst="rect">
            <a:avLst/>
          </a:prstGeom>
          <a:noFill/>
          <a:effectLst/>
        </p:spPr>
        <p:txBody>
          <a:bodyPr wrap="none" lIns="9144" rIns="9144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D00000"/>
                </a:solidFill>
                <a:latin typeface="Times New Roman"/>
              </a:defRPr>
            </a:pPr>
            <a:r>
              <a:t>② Fitness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D00000"/>
                </a:solidFill>
                <a:latin typeface="Times New Roman"/>
              </a:defRPr>
            </a:pPr>
            <a:r>
              <a:t>evaluation</a:t>
            </a:r>
          </a:p>
        </p:txBody>
      </p:sp>
      <p:sp>
        <p:nvSpPr>
          <p:cNvPr id="142" name="Freeform 141"/>
          <p:cNvSpPr/>
          <p:nvPr/>
        </p:nvSpPr>
        <p:spPr>
          <a:xfrm>
            <a:off x="7315200" y="658368"/>
            <a:ext cx="1847088" cy="1325880"/>
          </a:xfrm>
          <a:custGeom>
            <a:avLst/>
            <a:gdLst/>
            <a:ahLst/>
            <a:cxnLst/>
            <a:rect l="l" t="t" r="r" b="b"/>
            <a:pathLst>
              <a:path w="202" h="145">
                <a:moveTo>
                  <a:pt x="0" y="101"/>
                </a:moveTo>
                <a:lnTo>
                  <a:pt x="8" y="102"/>
                </a:lnTo>
                <a:lnTo>
                  <a:pt x="17" y="100"/>
                </a:lnTo>
                <a:lnTo>
                  <a:pt x="25" y="94"/>
                </a:lnTo>
                <a:lnTo>
                  <a:pt x="34" y="86"/>
                </a:lnTo>
                <a:lnTo>
                  <a:pt x="42" y="79"/>
                </a:lnTo>
                <a:lnTo>
                  <a:pt x="50" y="72"/>
                </a:lnTo>
                <a:lnTo>
                  <a:pt x="59" y="61"/>
                </a:lnTo>
                <a:lnTo>
                  <a:pt x="67" y="56"/>
                </a:lnTo>
                <a:lnTo>
                  <a:pt x="76" y="68"/>
                </a:lnTo>
                <a:lnTo>
                  <a:pt x="84" y="88"/>
                </a:lnTo>
                <a:lnTo>
                  <a:pt x="93" y="100"/>
                </a:lnTo>
                <a:lnTo>
                  <a:pt x="101" y="103"/>
                </a:lnTo>
                <a:lnTo>
                  <a:pt x="109" y="98"/>
                </a:lnTo>
                <a:lnTo>
                  <a:pt x="118" y="56"/>
                </a:lnTo>
                <a:lnTo>
                  <a:pt x="126" y="0"/>
                </a:lnTo>
                <a:lnTo>
                  <a:pt x="135" y="35"/>
                </a:lnTo>
                <a:lnTo>
                  <a:pt x="143" y="83"/>
                </a:lnTo>
                <a:lnTo>
                  <a:pt x="152" y="87"/>
                </a:lnTo>
                <a:lnTo>
                  <a:pt x="160" y="84"/>
                </a:lnTo>
                <a:lnTo>
                  <a:pt x="168" y="87"/>
                </a:lnTo>
                <a:lnTo>
                  <a:pt x="177" y="94"/>
                </a:lnTo>
                <a:lnTo>
                  <a:pt x="185" y="100"/>
                </a:lnTo>
                <a:lnTo>
                  <a:pt x="194" y="102"/>
                </a:lnTo>
                <a:lnTo>
                  <a:pt x="202" y="101"/>
                </a:lnTo>
                <a:lnTo>
                  <a:pt x="202" y="121"/>
                </a:lnTo>
                <a:lnTo>
                  <a:pt x="178" y="131"/>
                </a:lnTo>
                <a:lnTo>
                  <a:pt x="145" y="117"/>
                </a:lnTo>
                <a:lnTo>
                  <a:pt x="117" y="145"/>
                </a:lnTo>
                <a:lnTo>
                  <a:pt x="89" y="123"/>
                </a:lnTo>
                <a:lnTo>
                  <a:pt x="59" y="137"/>
                </a:lnTo>
                <a:lnTo>
                  <a:pt x="24" y="118"/>
                </a:lnTo>
                <a:lnTo>
                  <a:pt x="0" y="101"/>
                </a:lnTo>
                <a:close/>
              </a:path>
            </a:pathLst>
          </a:custGeom>
          <a:solidFill>
            <a:srgbClr val="BCD6FA"/>
          </a:solidFill>
          <a:ln w="4762">
            <a:solidFill>
              <a:srgbClr val="9BB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3" name="Connector 142"/>
          <p:cNvCxnSpPr/>
          <p:nvPr/>
        </p:nvCxnSpPr>
        <p:spPr>
          <a:xfrm flipV="1">
            <a:off x="7407554" y="1482791"/>
            <a:ext cx="424830" cy="42793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7832384" y="1482791"/>
            <a:ext cx="314005" cy="71323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8146389" y="1468526"/>
            <a:ext cx="277063" cy="85588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8423452" y="1468526"/>
            <a:ext cx="350947" cy="99852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8774399" y="1525584"/>
            <a:ext cx="277063" cy="42794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7407554" y="1525584"/>
            <a:ext cx="424830" cy="35662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7832384" y="1525584"/>
            <a:ext cx="314005" cy="68471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8146389" y="1525584"/>
            <a:ext cx="277063" cy="68471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8423452" y="1525584"/>
            <a:ext cx="350947" cy="78456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8774399" y="1554114"/>
            <a:ext cx="277063" cy="49926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7407554" y="1568378"/>
            <a:ext cx="424830" cy="28530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7832384" y="1568378"/>
            <a:ext cx="314005" cy="65618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8146389" y="1582643"/>
            <a:ext cx="277063" cy="51353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8423452" y="1582643"/>
            <a:ext cx="350947" cy="57059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8774399" y="1582643"/>
            <a:ext cx="277063" cy="57059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7407554" y="1611172"/>
            <a:ext cx="424830" cy="21397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7832384" y="1611172"/>
            <a:ext cx="314005" cy="62765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8146389" y="1639702"/>
            <a:ext cx="277063" cy="34235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8423452" y="1639702"/>
            <a:ext cx="350947" cy="35661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V="1">
            <a:off x="8774399" y="1611172"/>
            <a:ext cx="277063" cy="64191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7407554" y="1653966"/>
            <a:ext cx="424830" cy="14265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7832384" y="1653966"/>
            <a:ext cx="314005" cy="59912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8146389" y="1696760"/>
            <a:ext cx="277063" cy="17118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8423452" y="1696760"/>
            <a:ext cx="350947" cy="14265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8774399" y="1639702"/>
            <a:ext cx="277063" cy="71323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7407554" y="1696760"/>
            <a:ext cx="424830" cy="7132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>
            <a:off x="7832384" y="1696760"/>
            <a:ext cx="314005" cy="57059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>
            <a:off x="8146389" y="1753819"/>
            <a:ext cx="277063" cy="0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8423452" y="1746686"/>
            <a:ext cx="350947" cy="7133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8774399" y="1668231"/>
            <a:ext cx="277063" cy="78455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>
            <a:off x="7407554" y="1739554"/>
            <a:ext cx="424830" cy="0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>
            <a:off x="7832384" y="1739554"/>
            <a:ext cx="314005" cy="54206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>
            <a:off x="8146389" y="1793760"/>
            <a:ext cx="277063" cy="17117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8423452" y="1782348"/>
            <a:ext cx="350947" cy="28529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8774399" y="1696760"/>
            <a:ext cx="277063" cy="85588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Freeform 177"/>
          <p:cNvSpPr/>
          <p:nvPr/>
        </p:nvSpPr>
        <p:spPr>
          <a:xfrm>
            <a:off x="7680960" y="923544"/>
            <a:ext cx="429768" cy="612648"/>
          </a:xfrm>
          <a:custGeom>
            <a:avLst/>
            <a:gdLst/>
            <a:ahLst/>
            <a:cxnLst/>
            <a:rect l="l" t="t" r="r" b="b"/>
            <a:pathLst>
              <a:path w="47" h="67">
                <a:moveTo>
                  <a:pt x="0" y="61"/>
                </a:moveTo>
                <a:lnTo>
                  <a:pt x="29" y="0"/>
                </a:lnTo>
                <a:lnTo>
                  <a:pt x="47" y="67"/>
                </a:lnTo>
                <a:close/>
              </a:path>
            </a:pathLst>
          </a:custGeom>
          <a:solidFill>
            <a:srgbClr val="FFB189"/>
          </a:solidFill>
          <a:ln w="4762">
            <a:solidFill>
              <a:srgbClr val="EFA1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Freeform 178"/>
          <p:cNvSpPr/>
          <p:nvPr/>
        </p:nvSpPr>
        <p:spPr>
          <a:xfrm>
            <a:off x="8202168" y="658368"/>
            <a:ext cx="402336" cy="877824"/>
          </a:xfrm>
          <a:custGeom>
            <a:avLst/>
            <a:gdLst/>
            <a:ahLst/>
            <a:cxnLst/>
            <a:rect l="l" t="t" r="r" b="b"/>
            <a:pathLst>
              <a:path w="44" h="96">
                <a:moveTo>
                  <a:pt x="0" y="93"/>
                </a:moveTo>
                <a:lnTo>
                  <a:pt x="30" y="0"/>
                </a:lnTo>
                <a:lnTo>
                  <a:pt x="44" y="96"/>
                </a:lnTo>
                <a:close/>
              </a:path>
            </a:pathLst>
          </a:custGeom>
          <a:solidFill>
            <a:srgbClr val="E65B53"/>
          </a:solidFill>
          <a:ln w="4762">
            <a:solidFill>
              <a:srgbClr val="D64B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Freeform 179"/>
          <p:cNvSpPr/>
          <p:nvPr/>
        </p:nvSpPr>
        <p:spPr>
          <a:xfrm>
            <a:off x="8348472" y="658368"/>
            <a:ext cx="182880" cy="868680"/>
          </a:xfrm>
          <a:custGeom>
            <a:avLst/>
            <a:gdLst/>
            <a:ahLst/>
            <a:cxnLst/>
            <a:rect l="l" t="t" r="r" b="b"/>
            <a:pathLst>
              <a:path w="20" h="95">
                <a:moveTo>
                  <a:pt x="0" y="90"/>
                </a:moveTo>
                <a:lnTo>
                  <a:pt x="14" y="0"/>
                </a:lnTo>
                <a:lnTo>
                  <a:pt x="20" y="95"/>
                </a:lnTo>
                <a:close/>
              </a:path>
            </a:pathLst>
          </a:custGeom>
          <a:solidFill>
            <a:srgbClr val="AF1831"/>
          </a:solidFill>
          <a:ln w="3810">
            <a:solidFill>
              <a:srgbClr val="A20E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1" name="Connector 180"/>
          <p:cNvCxnSpPr/>
          <p:nvPr/>
        </p:nvCxnSpPr>
        <p:spPr>
          <a:xfrm>
            <a:off x="7546086" y="1552786"/>
            <a:ext cx="0" cy="258091"/>
          </a:xfrm>
          <a:prstGeom prst="line">
            <a:avLst/>
          </a:prstGeom>
          <a:ln w="4286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>
            <a:off x="7700010" y="1507133"/>
            <a:ext cx="0" cy="268083"/>
          </a:xfrm>
          <a:prstGeom prst="line">
            <a:avLst/>
          </a:prstGeom>
          <a:ln w="4286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>
            <a:off x="7853934" y="1254774"/>
            <a:ext cx="0" cy="449118"/>
          </a:xfrm>
          <a:prstGeom prst="line">
            <a:avLst/>
          </a:prstGeom>
          <a:ln w="4286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>
            <a:off x="8007858" y="1210763"/>
            <a:ext cx="0" cy="457468"/>
          </a:xfrm>
          <a:prstGeom prst="line">
            <a:avLst/>
          </a:prstGeom>
          <a:ln w="4286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>
            <a:off x="8161782" y="1482973"/>
            <a:ext cx="0" cy="220919"/>
          </a:xfrm>
          <a:prstGeom prst="line">
            <a:avLst/>
          </a:prstGeom>
          <a:ln w="4286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>
            <a:off x="8315706" y="1451872"/>
            <a:ext cx="0" cy="323344"/>
          </a:xfrm>
          <a:prstGeom prst="line">
            <a:avLst/>
          </a:prstGeom>
          <a:ln w="4286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>
            <a:off x="8469630" y="689975"/>
            <a:ext cx="0" cy="1120902"/>
          </a:xfrm>
          <a:prstGeom prst="line">
            <a:avLst/>
          </a:prstGeom>
          <a:ln w="4286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>
            <a:off x="8623554" y="1395863"/>
            <a:ext cx="0" cy="379353"/>
          </a:xfrm>
          <a:prstGeom prst="line">
            <a:avLst/>
          </a:prstGeom>
          <a:ln w="4286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>
            <a:off x="8777478" y="1553502"/>
            <a:ext cx="0" cy="150390"/>
          </a:xfrm>
          <a:prstGeom prst="line">
            <a:avLst/>
          </a:prstGeom>
          <a:ln w="4286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>
            <a:off x="8931402" y="1554114"/>
            <a:ext cx="0" cy="114117"/>
          </a:xfrm>
          <a:prstGeom prst="line">
            <a:avLst/>
          </a:prstGeom>
          <a:ln w="4286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1" name="Oval 190"/>
          <p:cNvSpPr/>
          <p:nvPr/>
        </p:nvSpPr>
        <p:spPr>
          <a:xfrm>
            <a:off x="7980517" y="1546067"/>
            <a:ext cx="73152" cy="73152"/>
          </a:xfrm>
          <a:prstGeom prst="ellipse">
            <a:avLst/>
          </a:prstGeom>
          <a:solidFill>
            <a:srgbClr val="4C8D35"/>
          </a:solidFill>
          <a:ln w="4762">
            <a:solidFill>
              <a:srgbClr val="4C8D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8460760" y="1645920"/>
            <a:ext cx="73152" cy="73152"/>
          </a:xfrm>
          <a:prstGeom prst="ellipse">
            <a:avLst/>
          </a:prstGeom>
          <a:solidFill>
            <a:srgbClr val="4C8D35"/>
          </a:solidFill>
          <a:ln w="4762">
            <a:solidFill>
              <a:srgbClr val="4C8D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7382134" y="1528876"/>
            <a:ext cx="502920" cy="164592"/>
          </a:xfrm>
          <a:prstGeom prst="rect">
            <a:avLst/>
          </a:prstGeom>
          <a:noFill/>
          <a:effectLst/>
        </p:spPr>
        <p:txBody>
          <a:bodyPr wrap="none" lIns="9144" rIns="9144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975" b="1" i="0">
                <a:solidFill>
                  <a:srgbClr val="101010"/>
                </a:solidFill>
                <a:latin typeface="Times New Roman"/>
              </a:defRPr>
            </a:pPr>
            <a:r>
              <a:t>78.89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7899318" y="1628729"/>
            <a:ext cx="502920" cy="164592"/>
          </a:xfrm>
          <a:prstGeom prst="rect">
            <a:avLst/>
          </a:prstGeom>
          <a:noFill/>
          <a:effectLst/>
        </p:spPr>
        <p:txBody>
          <a:bodyPr wrap="none" lIns="9144" rIns="9144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975" b="1" i="0">
                <a:solidFill>
                  <a:srgbClr val="101010"/>
                </a:solidFill>
                <a:latin typeface="Times New Roman"/>
              </a:defRPr>
            </a:pPr>
            <a:r>
              <a:t>77.23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8342619" y="972555"/>
            <a:ext cx="502920" cy="164592"/>
          </a:xfrm>
          <a:prstGeom prst="rect">
            <a:avLst/>
          </a:prstGeom>
          <a:noFill/>
          <a:effectLst/>
        </p:spPr>
        <p:txBody>
          <a:bodyPr wrap="none" lIns="9144" rIns="9144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975" b="1" i="0">
                <a:solidFill>
                  <a:srgbClr val="101010"/>
                </a:solidFill>
                <a:latin typeface="Times New Roman"/>
              </a:defRPr>
            </a:pPr>
            <a:r>
              <a:t>83.01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7845552" y="1956816"/>
            <a:ext cx="530352" cy="219456"/>
          </a:xfrm>
          <a:prstGeom prst="rect">
            <a:avLst/>
          </a:prstGeom>
          <a:noFill/>
          <a:effectLst/>
        </p:spPr>
        <p:txBody>
          <a:bodyPr wrap="none" lIns="9144" rIns="9144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350" b="1" i="0">
                <a:solidFill>
                  <a:srgbClr val="101010"/>
                </a:solidFill>
                <a:latin typeface="Times New Roman"/>
              </a:defRPr>
            </a:pPr>
            <a:r>
              <a:t>Pₜ</a:t>
            </a:r>
          </a:p>
        </p:txBody>
      </p:sp>
      <p:cxnSp>
        <p:nvCxnSpPr>
          <p:cNvPr id="197" name="Connector 196"/>
          <p:cNvCxnSpPr/>
          <p:nvPr/>
        </p:nvCxnSpPr>
        <p:spPr>
          <a:xfrm>
            <a:off x="9144000" y="1380744"/>
            <a:ext cx="1078992" cy="0"/>
          </a:xfrm>
          <a:prstGeom prst="line">
            <a:avLst/>
          </a:prstGeom>
          <a:ln w="28575">
            <a:solidFill>
              <a:srgbClr val="082B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TextBox 197"/>
          <p:cNvSpPr txBox="1"/>
          <p:nvPr/>
        </p:nvSpPr>
        <p:spPr>
          <a:xfrm>
            <a:off x="8741664" y="768096"/>
            <a:ext cx="1078992" cy="557784"/>
          </a:xfrm>
          <a:prstGeom prst="rect">
            <a:avLst/>
          </a:prstGeom>
          <a:noFill/>
          <a:effectLst/>
        </p:spPr>
        <p:txBody>
          <a:bodyPr wrap="none" lIns="9144" rIns="9144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D00000"/>
                </a:solidFill>
                <a:latin typeface="Times New Roman"/>
              </a:defRPr>
            </a:pPr>
            <a:r>
              <a:t>③ Offspring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D00000"/>
                </a:solidFill>
                <a:latin typeface="Times New Roman"/>
              </a:defRPr>
            </a:pPr>
            <a:r>
              <a:t>generation</a:t>
            </a:r>
          </a:p>
        </p:txBody>
      </p:sp>
      <p:sp>
        <p:nvSpPr>
          <p:cNvPr id="199" name="Rounded Rectangle 198"/>
          <p:cNvSpPr/>
          <p:nvPr/>
        </p:nvSpPr>
        <p:spPr>
          <a:xfrm>
            <a:off x="9875520" y="768096"/>
            <a:ext cx="813816" cy="475488"/>
          </a:xfrm>
          <a:prstGeom prst="roundRect">
            <a:avLst/>
          </a:prstGeom>
          <a:solidFill>
            <a:srgbClr val="FFFFFF"/>
          </a:solidFill>
          <a:ln w="13334">
            <a:solidFill>
              <a:srgbClr val="777777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9930384" y="731520"/>
            <a:ext cx="914400" cy="228600"/>
          </a:xfrm>
          <a:prstGeom prst="rect">
            <a:avLst/>
          </a:prstGeom>
          <a:noFill/>
          <a:effectLst/>
        </p:spPr>
        <p:txBody>
          <a:bodyPr wrap="none" lIns="9144" rIns="9144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5B2D93"/>
                </a:solidFill>
                <a:latin typeface="Times New Roman"/>
              </a:defRPr>
            </a:pPr>
            <a:r>
              <a:t>Crossover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9921240" y="1078992"/>
            <a:ext cx="850392" cy="228600"/>
          </a:xfrm>
          <a:prstGeom prst="rect">
            <a:avLst/>
          </a:prstGeom>
          <a:noFill/>
          <a:effectLst/>
        </p:spPr>
        <p:txBody>
          <a:bodyPr wrap="none" lIns="9144" rIns="9144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5B2D93"/>
                </a:solidFill>
                <a:latin typeface="Times New Roman"/>
              </a:defRPr>
            </a:pPr>
            <a:r>
              <a:t>Mutation</a:t>
            </a:r>
          </a:p>
        </p:txBody>
      </p:sp>
      <p:sp>
        <p:nvSpPr>
          <p:cNvPr id="202" name="Freeform 201"/>
          <p:cNvSpPr/>
          <p:nvPr/>
        </p:nvSpPr>
        <p:spPr>
          <a:xfrm>
            <a:off x="10241280" y="667512"/>
            <a:ext cx="1810512" cy="1335024"/>
          </a:xfrm>
          <a:custGeom>
            <a:avLst/>
            <a:gdLst/>
            <a:ahLst/>
            <a:cxnLst/>
            <a:rect l="l" t="t" r="r" b="b"/>
            <a:pathLst>
              <a:path w="198" h="146">
                <a:moveTo>
                  <a:pt x="0" y="102"/>
                </a:moveTo>
                <a:lnTo>
                  <a:pt x="8" y="103"/>
                </a:lnTo>
                <a:lnTo>
                  <a:pt x="16" y="101"/>
                </a:lnTo>
                <a:lnTo>
                  <a:pt x="25" y="94"/>
                </a:lnTo>
                <a:lnTo>
                  <a:pt x="33" y="86"/>
                </a:lnTo>
                <a:lnTo>
                  <a:pt x="41" y="80"/>
                </a:lnTo>
                <a:lnTo>
                  <a:pt x="50" y="72"/>
                </a:lnTo>
                <a:lnTo>
                  <a:pt x="58" y="61"/>
                </a:lnTo>
                <a:lnTo>
                  <a:pt x="66" y="56"/>
                </a:lnTo>
                <a:lnTo>
                  <a:pt x="74" y="69"/>
                </a:lnTo>
                <a:lnTo>
                  <a:pt x="82" y="88"/>
                </a:lnTo>
                <a:lnTo>
                  <a:pt x="91" y="100"/>
                </a:lnTo>
                <a:lnTo>
                  <a:pt x="99" y="104"/>
                </a:lnTo>
                <a:lnTo>
                  <a:pt x="107" y="99"/>
                </a:lnTo>
                <a:lnTo>
                  <a:pt x="116" y="56"/>
                </a:lnTo>
                <a:lnTo>
                  <a:pt x="124" y="0"/>
                </a:lnTo>
                <a:lnTo>
                  <a:pt x="132" y="35"/>
                </a:lnTo>
                <a:lnTo>
                  <a:pt x="140" y="84"/>
                </a:lnTo>
                <a:lnTo>
                  <a:pt x="148" y="88"/>
                </a:lnTo>
                <a:lnTo>
                  <a:pt x="157" y="85"/>
                </a:lnTo>
                <a:lnTo>
                  <a:pt x="165" y="87"/>
                </a:lnTo>
                <a:lnTo>
                  <a:pt x="173" y="94"/>
                </a:lnTo>
                <a:lnTo>
                  <a:pt x="182" y="101"/>
                </a:lnTo>
                <a:lnTo>
                  <a:pt x="190" y="103"/>
                </a:lnTo>
                <a:lnTo>
                  <a:pt x="198" y="102"/>
                </a:lnTo>
                <a:lnTo>
                  <a:pt x="198" y="122"/>
                </a:lnTo>
                <a:lnTo>
                  <a:pt x="174" y="132"/>
                </a:lnTo>
                <a:lnTo>
                  <a:pt x="143" y="117"/>
                </a:lnTo>
                <a:lnTo>
                  <a:pt x="115" y="146"/>
                </a:lnTo>
                <a:lnTo>
                  <a:pt x="87" y="124"/>
                </a:lnTo>
                <a:lnTo>
                  <a:pt x="57" y="138"/>
                </a:lnTo>
                <a:lnTo>
                  <a:pt x="24" y="119"/>
                </a:lnTo>
                <a:lnTo>
                  <a:pt x="0" y="102"/>
                </a:lnTo>
                <a:close/>
              </a:path>
            </a:pathLst>
          </a:custGeom>
          <a:solidFill>
            <a:srgbClr val="BCD6FA"/>
          </a:solidFill>
          <a:ln w="4762">
            <a:solidFill>
              <a:srgbClr val="9BB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3" name="Connector 202"/>
          <p:cNvCxnSpPr/>
          <p:nvPr/>
        </p:nvCxnSpPr>
        <p:spPr>
          <a:xfrm flipV="1">
            <a:off x="10331805" y="1497512"/>
            <a:ext cx="416418" cy="43069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>
            <a:off x="10748223" y="1497512"/>
            <a:ext cx="307787" cy="71781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 flipV="1">
            <a:off x="11056010" y="1483156"/>
            <a:ext cx="271577" cy="86137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>
            <a:off x="11327587" y="1483156"/>
            <a:ext cx="343997" cy="100493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 flipV="1">
            <a:off x="11671584" y="1540581"/>
            <a:ext cx="271577" cy="43068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 flipV="1">
            <a:off x="10331805" y="1540581"/>
            <a:ext cx="416418" cy="35890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10748223" y="1540581"/>
            <a:ext cx="307787" cy="68909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 flipV="1">
            <a:off x="11056010" y="1540581"/>
            <a:ext cx="271577" cy="68909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11327587" y="1540581"/>
            <a:ext cx="343997" cy="78958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 flipV="1">
            <a:off x="11671584" y="1569293"/>
            <a:ext cx="271577" cy="50246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 flipV="1">
            <a:off x="10331805" y="1583649"/>
            <a:ext cx="416418" cy="28712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10748223" y="1583649"/>
            <a:ext cx="307787" cy="66038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 flipV="1">
            <a:off x="11056010" y="1598005"/>
            <a:ext cx="271577" cy="51682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>
            <a:off x="11327587" y="1598005"/>
            <a:ext cx="343997" cy="57424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 flipV="1">
            <a:off x="11671584" y="1598005"/>
            <a:ext cx="271577" cy="57424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 flipV="1">
            <a:off x="10331805" y="1626717"/>
            <a:ext cx="416418" cy="21534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>
            <a:off x="10748223" y="1626717"/>
            <a:ext cx="307787" cy="63167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 flipV="1">
            <a:off x="11056010" y="1655429"/>
            <a:ext cx="271577" cy="34455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>
            <a:off x="11327587" y="1655429"/>
            <a:ext cx="343997" cy="35890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 flipV="1">
            <a:off x="11671584" y="1626717"/>
            <a:ext cx="271577" cy="64602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 222"/>
          <p:cNvCxnSpPr/>
          <p:nvPr/>
        </p:nvCxnSpPr>
        <p:spPr>
          <a:xfrm flipV="1">
            <a:off x="10331805" y="1669785"/>
            <a:ext cx="416418" cy="14356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 223"/>
          <p:cNvCxnSpPr/>
          <p:nvPr/>
        </p:nvCxnSpPr>
        <p:spPr>
          <a:xfrm>
            <a:off x="10748223" y="1669785"/>
            <a:ext cx="307787" cy="60296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224"/>
          <p:cNvCxnSpPr/>
          <p:nvPr/>
        </p:nvCxnSpPr>
        <p:spPr>
          <a:xfrm flipV="1">
            <a:off x="11056010" y="1712854"/>
            <a:ext cx="271577" cy="17227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 225"/>
          <p:cNvCxnSpPr/>
          <p:nvPr/>
        </p:nvCxnSpPr>
        <p:spPr>
          <a:xfrm>
            <a:off x="11327587" y="1712854"/>
            <a:ext cx="343997" cy="14356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 226"/>
          <p:cNvCxnSpPr/>
          <p:nvPr/>
        </p:nvCxnSpPr>
        <p:spPr>
          <a:xfrm flipV="1">
            <a:off x="11671584" y="1655429"/>
            <a:ext cx="271577" cy="71781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227"/>
          <p:cNvCxnSpPr/>
          <p:nvPr/>
        </p:nvCxnSpPr>
        <p:spPr>
          <a:xfrm flipV="1">
            <a:off x="10331805" y="1712854"/>
            <a:ext cx="416418" cy="7178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 228"/>
          <p:cNvCxnSpPr/>
          <p:nvPr/>
        </p:nvCxnSpPr>
        <p:spPr>
          <a:xfrm>
            <a:off x="10748223" y="1712854"/>
            <a:ext cx="307787" cy="57424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 229"/>
          <p:cNvCxnSpPr/>
          <p:nvPr/>
        </p:nvCxnSpPr>
        <p:spPr>
          <a:xfrm>
            <a:off x="11056010" y="1770278"/>
            <a:ext cx="271577" cy="0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 230"/>
          <p:cNvCxnSpPr/>
          <p:nvPr/>
        </p:nvCxnSpPr>
        <p:spPr>
          <a:xfrm flipV="1">
            <a:off x="11327587" y="1763100"/>
            <a:ext cx="343997" cy="7178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Connector 231"/>
          <p:cNvCxnSpPr/>
          <p:nvPr/>
        </p:nvCxnSpPr>
        <p:spPr>
          <a:xfrm flipV="1">
            <a:off x="11671584" y="1684141"/>
            <a:ext cx="271577" cy="78959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Connector 232"/>
          <p:cNvCxnSpPr/>
          <p:nvPr/>
        </p:nvCxnSpPr>
        <p:spPr>
          <a:xfrm>
            <a:off x="10331805" y="1755922"/>
            <a:ext cx="416418" cy="0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Connector 233"/>
          <p:cNvCxnSpPr/>
          <p:nvPr/>
        </p:nvCxnSpPr>
        <p:spPr>
          <a:xfrm>
            <a:off x="10748223" y="1755922"/>
            <a:ext cx="307787" cy="54553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 234"/>
          <p:cNvCxnSpPr/>
          <p:nvPr/>
        </p:nvCxnSpPr>
        <p:spPr>
          <a:xfrm>
            <a:off x="11056010" y="1810475"/>
            <a:ext cx="271577" cy="17227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Connector 235"/>
          <p:cNvCxnSpPr/>
          <p:nvPr/>
        </p:nvCxnSpPr>
        <p:spPr>
          <a:xfrm flipV="1">
            <a:off x="11327587" y="1798990"/>
            <a:ext cx="343997" cy="28712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Connector 236"/>
          <p:cNvCxnSpPr/>
          <p:nvPr/>
        </p:nvCxnSpPr>
        <p:spPr>
          <a:xfrm flipV="1">
            <a:off x="11671584" y="1712854"/>
            <a:ext cx="271577" cy="86136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8" name="Freeform 237"/>
          <p:cNvSpPr/>
          <p:nvPr/>
        </p:nvSpPr>
        <p:spPr>
          <a:xfrm>
            <a:off x="10607040" y="941832"/>
            <a:ext cx="411480" cy="612648"/>
          </a:xfrm>
          <a:custGeom>
            <a:avLst/>
            <a:gdLst/>
            <a:ahLst/>
            <a:cxnLst/>
            <a:rect l="l" t="t" r="r" b="b"/>
            <a:pathLst>
              <a:path w="45" h="67">
                <a:moveTo>
                  <a:pt x="0" y="61"/>
                </a:moveTo>
                <a:lnTo>
                  <a:pt x="27" y="0"/>
                </a:lnTo>
                <a:lnTo>
                  <a:pt x="45" y="67"/>
                </a:lnTo>
                <a:close/>
              </a:path>
            </a:pathLst>
          </a:custGeom>
          <a:solidFill>
            <a:srgbClr val="FFB189"/>
          </a:solidFill>
          <a:ln w="4762">
            <a:solidFill>
              <a:srgbClr val="EFA1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Freeform 238"/>
          <p:cNvSpPr/>
          <p:nvPr/>
        </p:nvSpPr>
        <p:spPr>
          <a:xfrm>
            <a:off x="11109960" y="667512"/>
            <a:ext cx="402336" cy="886968"/>
          </a:xfrm>
          <a:custGeom>
            <a:avLst/>
            <a:gdLst/>
            <a:ahLst/>
            <a:cxnLst/>
            <a:rect l="l" t="t" r="r" b="b"/>
            <a:pathLst>
              <a:path w="44" h="97">
                <a:moveTo>
                  <a:pt x="0" y="94"/>
                </a:moveTo>
                <a:lnTo>
                  <a:pt x="30" y="0"/>
                </a:lnTo>
                <a:lnTo>
                  <a:pt x="44" y="97"/>
                </a:lnTo>
                <a:close/>
              </a:path>
            </a:pathLst>
          </a:custGeom>
          <a:solidFill>
            <a:srgbClr val="E65B53"/>
          </a:solidFill>
          <a:ln w="4762">
            <a:solidFill>
              <a:srgbClr val="D64B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Freeform 239"/>
          <p:cNvSpPr/>
          <p:nvPr/>
        </p:nvSpPr>
        <p:spPr>
          <a:xfrm>
            <a:off x="11256264" y="667512"/>
            <a:ext cx="182880" cy="868680"/>
          </a:xfrm>
          <a:custGeom>
            <a:avLst/>
            <a:gdLst/>
            <a:ahLst/>
            <a:cxnLst/>
            <a:rect l="l" t="t" r="r" b="b"/>
            <a:pathLst>
              <a:path w="20" h="95">
                <a:moveTo>
                  <a:pt x="0" y="91"/>
                </a:moveTo>
                <a:lnTo>
                  <a:pt x="14" y="0"/>
                </a:lnTo>
                <a:lnTo>
                  <a:pt x="20" y="95"/>
                </a:lnTo>
                <a:close/>
              </a:path>
            </a:pathLst>
          </a:custGeom>
          <a:solidFill>
            <a:srgbClr val="AF1831"/>
          </a:solidFill>
          <a:ln w="3810">
            <a:solidFill>
              <a:srgbClr val="A20E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1" name="Connector 240"/>
          <p:cNvCxnSpPr/>
          <p:nvPr/>
        </p:nvCxnSpPr>
        <p:spPr>
          <a:xfrm>
            <a:off x="10467594" y="1567957"/>
            <a:ext cx="0" cy="259745"/>
          </a:xfrm>
          <a:prstGeom prst="line">
            <a:avLst/>
          </a:prstGeom>
          <a:ln w="4286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Connector 241"/>
          <p:cNvCxnSpPr/>
          <p:nvPr/>
        </p:nvCxnSpPr>
        <p:spPr>
          <a:xfrm>
            <a:off x="10618470" y="1522011"/>
            <a:ext cx="0" cy="269801"/>
          </a:xfrm>
          <a:prstGeom prst="line">
            <a:avLst/>
          </a:prstGeom>
          <a:ln w="4286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Connector 242"/>
          <p:cNvCxnSpPr/>
          <p:nvPr/>
        </p:nvCxnSpPr>
        <p:spPr>
          <a:xfrm>
            <a:off x="10769346" y="1268034"/>
            <a:ext cx="0" cy="451998"/>
          </a:xfrm>
          <a:prstGeom prst="line">
            <a:avLst/>
          </a:prstGeom>
          <a:ln w="4286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Connector 243"/>
          <p:cNvCxnSpPr/>
          <p:nvPr/>
        </p:nvCxnSpPr>
        <p:spPr>
          <a:xfrm>
            <a:off x="10920222" y="1223741"/>
            <a:ext cx="0" cy="460400"/>
          </a:xfrm>
          <a:prstGeom prst="line">
            <a:avLst/>
          </a:prstGeom>
          <a:ln w="4286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Connector 244"/>
          <p:cNvCxnSpPr/>
          <p:nvPr/>
        </p:nvCxnSpPr>
        <p:spPr>
          <a:xfrm>
            <a:off x="11071098" y="1497696"/>
            <a:ext cx="0" cy="222336"/>
          </a:xfrm>
          <a:prstGeom prst="line">
            <a:avLst/>
          </a:prstGeom>
          <a:ln w="4286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Connector 245"/>
          <p:cNvCxnSpPr/>
          <p:nvPr/>
        </p:nvCxnSpPr>
        <p:spPr>
          <a:xfrm>
            <a:off x="11221974" y="1466396"/>
            <a:ext cx="0" cy="325416"/>
          </a:xfrm>
          <a:prstGeom prst="line">
            <a:avLst/>
          </a:prstGeom>
          <a:ln w="4286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Connector 246"/>
          <p:cNvCxnSpPr/>
          <p:nvPr/>
        </p:nvCxnSpPr>
        <p:spPr>
          <a:xfrm>
            <a:off x="11372850" y="699614"/>
            <a:ext cx="0" cy="1128088"/>
          </a:xfrm>
          <a:prstGeom prst="line">
            <a:avLst/>
          </a:prstGeom>
          <a:ln w="4286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Connector 247"/>
          <p:cNvCxnSpPr/>
          <p:nvPr/>
        </p:nvCxnSpPr>
        <p:spPr>
          <a:xfrm>
            <a:off x="11523726" y="1410027"/>
            <a:ext cx="0" cy="381785"/>
          </a:xfrm>
          <a:prstGeom prst="line">
            <a:avLst/>
          </a:prstGeom>
          <a:ln w="4286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Connector 248"/>
          <p:cNvCxnSpPr/>
          <p:nvPr/>
        </p:nvCxnSpPr>
        <p:spPr>
          <a:xfrm>
            <a:off x="11674602" y="1568677"/>
            <a:ext cx="0" cy="151355"/>
          </a:xfrm>
          <a:prstGeom prst="line">
            <a:avLst/>
          </a:prstGeom>
          <a:ln w="4286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Connector 249"/>
          <p:cNvCxnSpPr/>
          <p:nvPr/>
        </p:nvCxnSpPr>
        <p:spPr>
          <a:xfrm>
            <a:off x="11825478" y="1569293"/>
            <a:ext cx="0" cy="114848"/>
          </a:xfrm>
          <a:prstGeom prst="line">
            <a:avLst/>
          </a:prstGeom>
          <a:ln w="4286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1" name="Oval 250"/>
          <p:cNvSpPr/>
          <p:nvPr/>
        </p:nvSpPr>
        <p:spPr>
          <a:xfrm>
            <a:off x="10910803" y="1532717"/>
            <a:ext cx="73152" cy="73152"/>
          </a:xfrm>
          <a:prstGeom prst="ellipse">
            <a:avLst/>
          </a:prstGeom>
          <a:solidFill>
            <a:srgbClr val="E00000"/>
          </a:solidFill>
          <a:ln w="4762">
            <a:solidFill>
              <a:srgbClr val="E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11146170" y="1704990"/>
            <a:ext cx="73152" cy="73152"/>
          </a:xfrm>
          <a:prstGeom prst="ellipse">
            <a:avLst/>
          </a:prstGeom>
          <a:solidFill>
            <a:srgbClr val="E00000"/>
          </a:solidFill>
          <a:ln w="4762">
            <a:solidFill>
              <a:srgbClr val="E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11598798" y="1676278"/>
            <a:ext cx="73152" cy="73152"/>
          </a:xfrm>
          <a:prstGeom prst="ellipse">
            <a:avLst/>
          </a:prstGeom>
          <a:solidFill>
            <a:srgbClr val="4C8D35"/>
          </a:solidFill>
          <a:ln w="4762">
            <a:solidFill>
              <a:srgbClr val="4C8D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TextBox 253"/>
          <p:cNvSpPr txBox="1"/>
          <p:nvPr/>
        </p:nvSpPr>
        <p:spPr>
          <a:xfrm>
            <a:off x="10374782" y="1544421"/>
            <a:ext cx="502920" cy="164592"/>
          </a:xfrm>
          <a:prstGeom prst="rect">
            <a:avLst/>
          </a:prstGeom>
          <a:noFill/>
          <a:effectLst/>
        </p:spPr>
        <p:txBody>
          <a:bodyPr wrap="none" lIns="9144" rIns="9144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975" b="1" i="0">
                <a:solidFill>
                  <a:srgbClr val="101010"/>
                </a:solidFill>
                <a:latin typeface="Times New Roman"/>
              </a:defRPr>
            </a:pPr>
            <a:r>
              <a:t>78.89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11207617" y="1673626"/>
            <a:ext cx="502920" cy="164592"/>
          </a:xfrm>
          <a:prstGeom prst="rect">
            <a:avLst/>
          </a:prstGeom>
          <a:noFill/>
          <a:effectLst/>
        </p:spPr>
        <p:txBody>
          <a:bodyPr wrap="none" lIns="9144" rIns="9144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975" b="1" i="0">
                <a:solidFill>
                  <a:srgbClr val="101010"/>
                </a:solidFill>
                <a:latin typeface="Times New Roman"/>
              </a:defRPr>
            </a:pPr>
            <a:r>
              <a:t>77.23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11243828" y="984534"/>
            <a:ext cx="502920" cy="164592"/>
          </a:xfrm>
          <a:prstGeom prst="rect">
            <a:avLst/>
          </a:prstGeom>
          <a:noFill/>
          <a:effectLst/>
        </p:spPr>
        <p:txBody>
          <a:bodyPr wrap="none" lIns="9144" rIns="9144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975" b="1" i="0">
                <a:solidFill>
                  <a:srgbClr val="101010"/>
                </a:solidFill>
                <a:latin typeface="Times New Roman"/>
              </a:defRPr>
            </a:pPr>
            <a:r>
              <a:t>83.01</a:t>
            </a:r>
          </a:p>
        </p:txBody>
      </p:sp>
      <p:cxnSp>
        <p:nvCxnSpPr>
          <p:cNvPr id="257" name="Connector 256"/>
          <p:cNvCxnSpPr/>
          <p:nvPr/>
        </p:nvCxnSpPr>
        <p:spPr>
          <a:xfrm>
            <a:off x="11045952" y="1728216"/>
            <a:ext cx="265176" cy="137160"/>
          </a:xfrm>
          <a:prstGeom prst="line">
            <a:avLst/>
          </a:prstGeom>
          <a:ln w="19050">
            <a:solidFill>
              <a:srgbClr val="666666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Connector 257"/>
          <p:cNvCxnSpPr/>
          <p:nvPr/>
        </p:nvCxnSpPr>
        <p:spPr>
          <a:xfrm>
            <a:off x="11311128" y="1865376"/>
            <a:ext cx="210312" cy="73152"/>
          </a:xfrm>
          <a:prstGeom prst="line">
            <a:avLst/>
          </a:prstGeom>
          <a:ln w="19050">
            <a:solidFill>
              <a:srgbClr val="666666"/>
            </a:solidFill>
            <a:prstDash val="sysDot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9" name="TextBox 258"/>
          <p:cNvSpPr txBox="1"/>
          <p:nvPr/>
        </p:nvSpPr>
        <p:spPr>
          <a:xfrm>
            <a:off x="11402568" y="1874519"/>
            <a:ext cx="1143000" cy="256032"/>
          </a:xfrm>
          <a:prstGeom prst="rect">
            <a:avLst/>
          </a:prstGeom>
          <a:noFill/>
          <a:effectLst/>
        </p:spPr>
        <p:txBody>
          <a:bodyPr wrap="none" lIns="9144" rIns="9144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275" b="1" i="0">
                <a:solidFill>
                  <a:srgbClr val="101010"/>
                </a:solidFill>
                <a:latin typeface="Times New Roman"/>
              </a:defRPr>
            </a:pPr>
            <a:r>
              <a:t>New individual</a:t>
            </a:r>
          </a:p>
        </p:txBody>
      </p:sp>
      <p:cxnSp>
        <p:nvCxnSpPr>
          <p:cNvPr id="260" name="Connector 259"/>
          <p:cNvCxnSpPr/>
          <p:nvPr/>
        </p:nvCxnSpPr>
        <p:spPr>
          <a:xfrm>
            <a:off x="12051792" y="1380744"/>
            <a:ext cx="704088" cy="0"/>
          </a:xfrm>
          <a:prstGeom prst="line">
            <a:avLst/>
          </a:prstGeom>
          <a:ln w="28575">
            <a:solidFill>
              <a:srgbClr val="082B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1" name="TextBox 260"/>
          <p:cNvSpPr txBox="1"/>
          <p:nvPr/>
        </p:nvSpPr>
        <p:spPr>
          <a:xfrm>
            <a:off x="11987784" y="777240"/>
            <a:ext cx="1024128" cy="530352"/>
          </a:xfrm>
          <a:prstGeom prst="rect">
            <a:avLst/>
          </a:prstGeom>
          <a:noFill/>
          <a:effectLst/>
        </p:spPr>
        <p:txBody>
          <a:bodyPr wrap="none" lIns="9144" rIns="9144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D00000"/>
                </a:solidFill>
                <a:latin typeface="Times New Roman"/>
              </a:defRPr>
            </a:pPr>
            <a:r>
              <a:t>④ Fitness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D00000"/>
                </a:solidFill>
                <a:latin typeface="Times New Roman"/>
              </a:defRPr>
            </a:pPr>
            <a:r>
              <a:t>evaluation</a:t>
            </a:r>
          </a:p>
        </p:txBody>
      </p:sp>
      <p:sp>
        <p:nvSpPr>
          <p:cNvPr id="262" name="Freeform 261"/>
          <p:cNvSpPr/>
          <p:nvPr/>
        </p:nvSpPr>
        <p:spPr>
          <a:xfrm>
            <a:off x="12719304" y="676656"/>
            <a:ext cx="1874520" cy="1307592"/>
          </a:xfrm>
          <a:custGeom>
            <a:avLst/>
            <a:gdLst/>
            <a:ahLst/>
            <a:cxnLst/>
            <a:rect l="l" t="t" r="r" b="b"/>
            <a:pathLst>
              <a:path w="205" h="143">
                <a:moveTo>
                  <a:pt x="0" y="100"/>
                </a:moveTo>
                <a:lnTo>
                  <a:pt x="9" y="101"/>
                </a:lnTo>
                <a:lnTo>
                  <a:pt x="17" y="99"/>
                </a:lnTo>
                <a:lnTo>
                  <a:pt x="26" y="92"/>
                </a:lnTo>
                <a:lnTo>
                  <a:pt x="34" y="84"/>
                </a:lnTo>
                <a:lnTo>
                  <a:pt x="43" y="78"/>
                </a:lnTo>
                <a:lnTo>
                  <a:pt x="51" y="70"/>
                </a:lnTo>
                <a:lnTo>
                  <a:pt x="60" y="60"/>
                </a:lnTo>
                <a:lnTo>
                  <a:pt x="68" y="55"/>
                </a:lnTo>
                <a:lnTo>
                  <a:pt x="77" y="68"/>
                </a:lnTo>
                <a:lnTo>
                  <a:pt x="85" y="87"/>
                </a:lnTo>
                <a:lnTo>
                  <a:pt x="94" y="98"/>
                </a:lnTo>
                <a:lnTo>
                  <a:pt x="103" y="102"/>
                </a:lnTo>
                <a:lnTo>
                  <a:pt x="111" y="97"/>
                </a:lnTo>
                <a:lnTo>
                  <a:pt x="120" y="55"/>
                </a:lnTo>
                <a:lnTo>
                  <a:pt x="128" y="0"/>
                </a:lnTo>
                <a:lnTo>
                  <a:pt x="137" y="35"/>
                </a:lnTo>
                <a:lnTo>
                  <a:pt x="145" y="82"/>
                </a:lnTo>
                <a:lnTo>
                  <a:pt x="154" y="86"/>
                </a:lnTo>
                <a:lnTo>
                  <a:pt x="162" y="83"/>
                </a:lnTo>
                <a:lnTo>
                  <a:pt x="171" y="85"/>
                </a:lnTo>
                <a:lnTo>
                  <a:pt x="179" y="92"/>
                </a:lnTo>
                <a:lnTo>
                  <a:pt x="188" y="99"/>
                </a:lnTo>
                <a:lnTo>
                  <a:pt x="196" y="101"/>
                </a:lnTo>
                <a:lnTo>
                  <a:pt x="205" y="100"/>
                </a:lnTo>
                <a:lnTo>
                  <a:pt x="205" y="120"/>
                </a:lnTo>
                <a:lnTo>
                  <a:pt x="180" y="129"/>
                </a:lnTo>
                <a:lnTo>
                  <a:pt x="148" y="115"/>
                </a:lnTo>
                <a:lnTo>
                  <a:pt x="119" y="143"/>
                </a:lnTo>
                <a:lnTo>
                  <a:pt x="90" y="121"/>
                </a:lnTo>
                <a:lnTo>
                  <a:pt x="59" y="135"/>
                </a:lnTo>
                <a:lnTo>
                  <a:pt x="25" y="117"/>
                </a:lnTo>
                <a:lnTo>
                  <a:pt x="0" y="100"/>
                </a:lnTo>
                <a:close/>
              </a:path>
            </a:pathLst>
          </a:custGeom>
          <a:solidFill>
            <a:srgbClr val="BCD6FA"/>
          </a:solidFill>
          <a:ln w="4762">
            <a:solidFill>
              <a:srgbClr val="9BB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3" name="Connector 262"/>
          <p:cNvCxnSpPr/>
          <p:nvPr/>
        </p:nvCxnSpPr>
        <p:spPr>
          <a:xfrm flipV="1">
            <a:off x="12813030" y="1489923"/>
            <a:ext cx="431139" cy="42245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Connector 263"/>
          <p:cNvCxnSpPr/>
          <p:nvPr/>
        </p:nvCxnSpPr>
        <p:spPr>
          <a:xfrm>
            <a:off x="13244169" y="1489923"/>
            <a:ext cx="318669" cy="70409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Connector 264"/>
          <p:cNvCxnSpPr/>
          <p:nvPr/>
        </p:nvCxnSpPr>
        <p:spPr>
          <a:xfrm flipV="1">
            <a:off x="13562838" y="1475841"/>
            <a:ext cx="281178" cy="84491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Connector 265"/>
          <p:cNvCxnSpPr/>
          <p:nvPr/>
        </p:nvCxnSpPr>
        <p:spPr>
          <a:xfrm>
            <a:off x="13844016" y="1475841"/>
            <a:ext cx="356158" cy="98572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Connector 266"/>
          <p:cNvCxnSpPr/>
          <p:nvPr/>
        </p:nvCxnSpPr>
        <p:spPr>
          <a:xfrm flipV="1">
            <a:off x="14200174" y="1532168"/>
            <a:ext cx="281178" cy="42245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Connector 267"/>
          <p:cNvCxnSpPr/>
          <p:nvPr/>
        </p:nvCxnSpPr>
        <p:spPr>
          <a:xfrm flipV="1">
            <a:off x="12813030" y="1532168"/>
            <a:ext cx="431139" cy="35205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Connector 268"/>
          <p:cNvCxnSpPr/>
          <p:nvPr/>
        </p:nvCxnSpPr>
        <p:spPr>
          <a:xfrm>
            <a:off x="13244169" y="1532168"/>
            <a:ext cx="318669" cy="67593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Connector 269"/>
          <p:cNvCxnSpPr/>
          <p:nvPr/>
        </p:nvCxnSpPr>
        <p:spPr>
          <a:xfrm flipV="1">
            <a:off x="13562838" y="1532168"/>
            <a:ext cx="281178" cy="67593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Connector 270"/>
          <p:cNvCxnSpPr/>
          <p:nvPr/>
        </p:nvCxnSpPr>
        <p:spPr>
          <a:xfrm>
            <a:off x="13844016" y="1532168"/>
            <a:ext cx="356158" cy="77450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Connector 271"/>
          <p:cNvCxnSpPr/>
          <p:nvPr/>
        </p:nvCxnSpPr>
        <p:spPr>
          <a:xfrm flipV="1">
            <a:off x="14200174" y="1560332"/>
            <a:ext cx="281178" cy="49286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Connector 272"/>
          <p:cNvCxnSpPr/>
          <p:nvPr/>
        </p:nvCxnSpPr>
        <p:spPr>
          <a:xfrm flipV="1">
            <a:off x="12813030" y="1574413"/>
            <a:ext cx="431139" cy="28164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Connector 273"/>
          <p:cNvCxnSpPr/>
          <p:nvPr/>
        </p:nvCxnSpPr>
        <p:spPr>
          <a:xfrm>
            <a:off x="13244169" y="1574413"/>
            <a:ext cx="318669" cy="64777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Connector 274"/>
          <p:cNvCxnSpPr/>
          <p:nvPr/>
        </p:nvCxnSpPr>
        <p:spPr>
          <a:xfrm flipV="1">
            <a:off x="13562838" y="1588495"/>
            <a:ext cx="281178" cy="50695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Connector 275"/>
          <p:cNvCxnSpPr/>
          <p:nvPr/>
        </p:nvCxnSpPr>
        <p:spPr>
          <a:xfrm>
            <a:off x="13844016" y="1588495"/>
            <a:ext cx="356158" cy="56327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Connector 276"/>
          <p:cNvCxnSpPr/>
          <p:nvPr/>
        </p:nvCxnSpPr>
        <p:spPr>
          <a:xfrm flipV="1">
            <a:off x="14200174" y="1588495"/>
            <a:ext cx="281178" cy="56327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Connector 277"/>
          <p:cNvCxnSpPr/>
          <p:nvPr/>
        </p:nvCxnSpPr>
        <p:spPr>
          <a:xfrm flipV="1">
            <a:off x="12813030" y="1616659"/>
            <a:ext cx="431139" cy="21122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Connector 278"/>
          <p:cNvCxnSpPr/>
          <p:nvPr/>
        </p:nvCxnSpPr>
        <p:spPr>
          <a:xfrm>
            <a:off x="13244169" y="1616659"/>
            <a:ext cx="318669" cy="61959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Connector 279"/>
          <p:cNvCxnSpPr/>
          <p:nvPr/>
        </p:nvCxnSpPr>
        <p:spPr>
          <a:xfrm flipV="1">
            <a:off x="13562838" y="1644822"/>
            <a:ext cx="281178" cy="33796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Connector 280"/>
          <p:cNvCxnSpPr/>
          <p:nvPr/>
        </p:nvCxnSpPr>
        <p:spPr>
          <a:xfrm>
            <a:off x="13844016" y="1644822"/>
            <a:ext cx="356158" cy="35205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Connector 281"/>
          <p:cNvCxnSpPr/>
          <p:nvPr/>
        </p:nvCxnSpPr>
        <p:spPr>
          <a:xfrm flipV="1">
            <a:off x="14200174" y="1616659"/>
            <a:ext cx="281178" cy="63368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Connector 282"/>
          <p:cNvCxnSpPr/>
          <p:nvPr/>
        </p:nvCxnSpPr>
        <p:spPr>
          <a:xfrm flipV="1">
            <a:off x="12813030" y="1658904"/>
            <a:ext cx="431139" cy="14082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Connector 283"/>
          <p:cNvCxnSpPr/>
          <p:nvPr/>
        </p:nvCxnSpPr>
        <p:spPr>
          <a:xfrm>
            <a:off x="13244169" y="1658904"/>
            <a:ext cx="318669" cy="59143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Connector 284"/>
          <p:cNvCxnSpPr/>
          <p:nvPr/>
        </p:nvCxnSpPr>
        <p:spPr>
          <a:xfrm flipV="1">
            <a:off x="13562838" y="1701149"/>
            <a:ext cx="281178" cy="16898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Connector 285"/>
          <p:cNvCxnSpPr/>
          <p:nvPr/>
        </p:nvCxnSpPr>
        <p:spPr>
          <a:xfrm>
            <a:off x="13844016" y="1701149"/>
            <a:ext cx="356158" cy="14082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Connector 286"/>
          <p:cNvCxnSpPr/>
          <p:nvPr/>
        </p:nvCxnSpPr>
        <p:spPr>
          <a:xfrm flipV="1">
            <a:off x="14200174" y="1644822"/>
            <a:ext cx="281178" cy="70409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Connector 287"/>
          <p:cNvCxnSpPr/>
          <p:nvPr/>
        </p:nvCxnSpPr>
        <p:spPr>
          <a:xfrm flipV="1">
            <a:off x="12813030" y="1701149"/>
            <a:ext cx="431139" cy="7041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Connector 288"/>
          <p:cNvCxnSpPr/>
          <p:nvPr/>
        </p:nvCxnSpPr>
        <p:spPr>
          <a:xfrm>
            <a:off x="13244169" y="1701149"/>
            <a:ext cx="318669" cy="56327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Connector 289"/>
          <p:cNvCxnSpPr/>
          <p:nvPr/>
        </p:nvCxnSpPr>
        <p:spPr>
          <a:xfrm>
            <a:off x="13562838" y="1757476"/>
            <a:ext cx="281178" cy="0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Connector 290"/>
          <p:cNvCxnSpPr/>
          <p:nvPr/>
        </p:nvCxnSpPr>
        <p:spPr>
          <a:xfrm flipV="1">
            <a:off x="13844016" y="1750435"/>
            <a:ext cx="356158" cy="7041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2" name="Connector 291"/>
          <p:cNvCxnSpPr/>
          <p:nvPr/>
        </p:nvCxnSpPr>
        <p:spPr>
          <a:xfrm flipV="1">
            <a:off x="14200174" y="1672986"/>
            <a:ext cx="281178" cy="77449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" name="Connector 292"/>
          <p:cNvCxnSpPr/>
          <p:nvPr/>
        </p:nvCxnSpPr>
        <p:spPr>
          <a:xfrm>
            <a:off x="12813030" y="1743395"/>
            <a:ext cx="431139" cy="0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Connector 293"/>
          <p:cNvCxnSpPr/>
          <p:nvPr/>
        </p:nvCxnSpPr>
        <p:spPr>
          <a:xfrm>
            <a:off x="13244169" y="1743395"/>
            <a:ext cx="318669" cy="53510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Connector 294"/>
          <p:cNvCxnSpPr/>
          <p:nvPr/>
        </p:nvCxnSpPr>
        <p:spPr>
          <a:xfrm>
            <a:off x="13562838" y="1796905"/>
            <a:ext cx="281178" cy="16898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" name="Connector 295"/>
          <p:cNvCxnSpPr/>
          <p:nvPr/>
        </p:nvCxnSpPr>
        <p:spPr>
          <a:xfrm flipV="1">
            <a:off x="13844016" y="1785640"/>
            <a:ext cx="356158" cy="28163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" name="Connector 296"/>
          <p:cNvCxnSpPr/>
          <p:nvPr/>
        </p:nvCxnSpPr>
        <p:spPr>
          <a:xfrm flipV="1">
            <a:off x="14200174" y="1701149"/>
            <a:ext cx="281178" cy="84491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8" name="Freeform 297"/>
          <p:cNvSpPr/>
          <p:nvPr/>
        </p:nvSpPr>
        <p:spPr>
          <a:xfrm>
            <a:off x="13094208" y="941832"/>
            <a:ext cx="429768" cy="603504"/>
          </a:xfrm>
          <a:custGeom>
            <a:avLst/>
            <a:gdLst/>
            <a:ahLst/>
            <a:cxnLst/>
            <a:rect l="l" t="t" r="r" b="b"/>
            <a:pathLst>
              <a:path w="47" h="66">
                <a:moveTo>
                  <a:pt x="0" y="60"/>
                </a:moveTo>
                <a:lnTo>
                  <a:pt x="29" y="0"/>
                </a:lnTo>
                <a:lnTo>
                  <a:pt x="47" y="66"/>
                </a:lnTo>
                <a:close/>
              </a:path>
            </a:pathLst>
          </a:custGeom>
          <a:solidFill>
            <a:srgbClr val="FFB189"/>
          </a:solidFill>
          <a:ln w="4762">
            <a:solidFill>
              <a:srgbClr val="EFA1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Freeform 298"/>
          <p:cNvSpPr/>
          <p:nvPr/>
        </p:nvSpPr>
        <p:spPr>
          <a:xfrm>
            <a:off x="13615416" y="676656"/>
            <a:ext cx="411480" cy="868680"/>
          </a:xfrm>
          <a:custGeom>
            <a:avLst/>
            <a:gdLst/>
            <a:ahLst/>
            <a:cxnLst/>
            <a:rect l="l" t="t" r="r" b="b"/>
            <a:pathLst>
              <a:path w="45" h="95">
                <a:moveTo>
                  <a:pt x="0" y="92"/>
                </a:moveTo>
                <a:lnTo>
                  <a:pt x="31" y="0"/>
                </a:lnTo>
                <a:lnTo>
                  <a:pt x="45" y="95"/>
                </a:lnTo>
                <a:close/>
              </a:path>
            </a:pathLst>
          </a:custGeom>
          <a:solidFill>
            <a:srgbClr val="E65B53"/>
          </a:solidFill>
          <a:ln w="4762">
            <a:solidFill>
              <a:srgbClr val="D64B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Freeform 299"/>
          <p:cNvSpPr/>
          <p:nvPr/>
        </p:nvSpPr>
        <p:spPr>
          <a:xfrm>
            <a:off x="13770864" y="676656"/>
            <a:ext cx="182880" cy="859536"/>
          </a:xfrm>
          <a:custGeom>
            <a:avLst/>
            <a:gdLst/>
            <a:ahLst/>
            <a:cxnLst/>
            <a:rect l="l" t="t" r="r" b="b"/>
            <a:pathLst>
              <a:path w="20" h="94">
                <a:moveTo>
                  <a:pt x="0" y="89"/>
                </a:moveTo>
                <a:lnTo>
                  <a:pt x="14" y="0"/>
                </a:lnTo>
                <a:lnTo>
                  <a:pt x="20" y="94"/>
                </a:lnTo>
                <a:close/>
              </a:path>
            </a:pathLst>
          </a:custGeom>
          <a:solidFill>
            <a:srgbClr val="AF1831"/>
          </a:solidFill>
          <a:ln w="3810">
            <a:solidFill>
              <a:srgbClr val="A20E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1" name="Connector 300"/>
          <p:cNvCxnSpPr/>
          <p:nvPr/>
        </p:nvCxnSpPr>
        <p:spPr>
          <a:xfrm>
            <a:off x="12953619" y="1559021"/>
            <a:ext cx="0" cy="254782"/>
          </a:xfrm>
          <a:prstGeom prst="line">
            <a:avLst/>
          </a:prstGeom>
          <a:ln w="4286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2" name="Connector 301"/>
          <p:cNvCxnSpPr/>
          <p:nvPr/>
        </p:nvCxnSpPr>
        <p:spPr>
          <a:xfrm>
            <a:off x="13109828" y="1513954"/>
            <a:ext cx="0" cy="264645"/>
          </a:xfrm>
          <a:prstGeom prst="line">
            <a:avLst/>
          </a:prstGeom>
          <a:ln w="4286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Connector 302"/>
          <p:cNvCxnSpPr/>
          <p:nvPr/>
        </p:nvCxnSpPr>
        <p:spPr>
          <a:xfrm>
            <a:off x="13266039" y="1264829"/>
            <a:ext cx="0" cy="443361"/>
          </a:xfrm>
          <a:prstGeom prst="line">
            <a:avLst/>
          </a:prstGeom>
          <a:ln w="4286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Connector 303"/>
          <p:cNvCxnSpPr/>
          <p:nvPr/>
        </p:nvCxnSpPr>
        <p:spPr>
          <a:xfrm>
            <a:off x="13422249" y="1221382"/>
            <a:ext cx="0" cy="451604"/>
          </a:xfrm>
          <a:prstGeom prst="line">
            <a:avLst/>
          </a:prstGeom>
          <a:ln w="4286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5" name="Connector 304"/>
          <p:cNvCxnSpPr/>
          <p:nvPr/>
        </p:nvCxnSpPr>
        <p:spPr>
          <a:xfrm>
            <a:off x="13578459" y="1490103"/>
            <a:ext cx="0" cy="218087"/>
          </a:xfrm>
          <a:prstGeom prst="line">
            <a:avLst/>
          </a:prstGeom>
          <a:ln w="4286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6" name="Connector 305"/>
          <p:cNvCxnSpPr/>
          <p:nvPr/>
        </p:nvCxnSpPr>
        <p:spPr>
          <a:xfrm>
            <a:off x="13734669" y="1459401"/>
            <a:ext cx="0" cy="319198"/>
          </a:xfrm>
          <a:prstGeom prst="line">
            <a:avLst/>
          </a:prstGeom>
          <a:ln w="4286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" name="Connector 306"/>
          <p:cNvCxnSpPr/>
          <p:nvPr/>
        </p:nvCxnSpPr>
        <p:spPr>
          <a:xfrm>
            <a:off x="13890879" y="707271"/>
            <a:ext cx="0" cy="1106532"/>
          </a:xfrm>
          <a:prstGeom prst="line">
            <a:avLst/>
          </a:prstGeom>
          <a:ln w="4286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" name="Connector 307"/>
          <p:cNvCxnSpPr/>
          <p:nvPr/>
        </p:nvCxnSpPr>
        <p:spPr>
          <a:xfrm>
            <a:off x="14047089" y="1404109"/>
            <a:ext cx="0" cy="374490"/>
          </a:xfrm>
          <a:prstGeom prst="line">
            <a:avLst/>
          </a:prstGeom>
          <a:ln w="4286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Connector 308"/>
          <p:cNvCxnSpPr/>
          <p:nvPr/>
        </p:nvCxnSpPr>
        <p:spPr>
          <a:xfrm>
            <a:off x="14203299" y="1559728"/>
            <a:ext cx="0" cy="148462"/>
          </a:xfrm>
          <a:prstGeom prst="line">
            <a:avLst/>
          </a:prstGeom>
          <a:ln w="4286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Connector 309"/>
          <p:cNvCxnSpPr/>
          <p:nvPr/>
        </p:nvCxnSpPr>
        <p:spPr>
          <a:xfrm>
            <a:off x="14359509" y="1560332"/>
            <a:ext cx="0" cy="112654"/>
          </a:xfrm>
          <a:prstGeom prst="line">
            <a:avLst/>
          </a:prstGeom>
          <a:ln w="4286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1" name="Oval 310"/>
          <p:cNvSpPr/>
          <p:nvPr/>
        </p:nvSpPr>
        <p:spPr>
          <a:xfrm>
            <a:off x="13601242" y="1537837"/>
            <a:ext cx="73152" cy="73152"/>
          </a:xfrm>
          <a:prstGeom prst="ellipse">
            <a:avLst/>
          </a:prstGeom>
          <a:solidFill>
            <a:srgbClr val="E00000"/>
          </a:solidFill>
          <a:ln w="4762">
            <a:solidFill>
              <a:srgbClr val="E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Oval 311"/>
          <p:cNvSpPr/>
          <p:nvPr/>
        </p:nvSpPr>
        <p:spPr>
          <a:xfrm>
            <a:off x="13976146" y="1692737"/>
            <a:ext cx="73152" cy="73152"/>
          </a:xfrm>
          <a:prstGeom prst="ellipse">
            <a:avLst/>
          </a:prstGeom>
          <a:solidFill>
            <a:srgbClr val="E00000"/>
          </a:solidFill>
          <a:ln w="4762">
            <a:solidFill>
              <a:srgbClr val="E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Oval 312"/>
          <p:cNvSpPr/>
          <p:nvPr/>
        </p:nvSpPr>
        <p:spPr>
          <a:xfrm>
            <a:off x="14426031" y="1509674"/>
            <a:ext cx="73152" cy="73152"/>
          </a:xfrm>
          <a:prstGeom prst="ellipse">
            <a:avLst/>
          </a:prstGeom>
          <a:solidFill>
            <a:srgbClr val="E00000"/>
          </a:solidFill>
          <a:ln w="4762">
            <a:solidFill>
              <a:srgbClr val="E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Oval 313"/>
          <p:cNvSpPr/>
          <p:nvPr/>
        </p:nvSpPr>
        <p:spPr>
          <a:xfrm>
            <a:off x="13563752" y="861913"/>
            <a:ext cx="73152" cy="73152"/>
          </a:xfrm>
          <a:prstGeom prst="ellipse">
            <a:avLst/>
          </a:prstGeom>
          <a:solidFill>
            <a:srgbClr val="4C8D35"/>
          </a:solidFill>
          <a:ln w="4762">
            <a:solidFill>
              <a:srgbClr val="4C8D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TextBox 314"/>
          <p:cNvSpPr txBox="1"/>
          <p:nvPr/>
        </p:nvSpPr>
        <p:spPr>
          <a:xfrm>
            <a:off x="12940588" y="1520281"/>
            <a:ext cx="502920" cy="164592"/>
          </a:xfrm>
          <a:prstGeom prst="rect">
            <a:avLst/>
          </a:prstGeom>
          <a:noFill/>
          <a:effectLst/>
        </p:spPr>
        <p:txBody>
          <a:bodyPr wrap="none" lIns="9144" rIns="9144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975" b="1" i="0">
                <a:solidFill>
                  <a:srgbClr val="101010"/>
                </a:solidFill>
                <a:latin typeface="Times New Roman"/>
              </a:defRPr>
            </a:pPr>
            <a:r>
              <a:t>78.89</a:t>
            </a:r>
          </a:p>
        </p:txBody>
      </p:sp>
      <p:sp>
        <p:nvSpPr>
          <p:cNvPr id="316" name="TextBox 315"/>
          <p:cNvSpPr txBox="1"/>
          <p:nvPr/>
        </p:nvSpPr>
        <p:spPr>
          <a:xfrm>
            <a:off x="13371728" y="1661099"/>
            <a:ext cx="502920" cy="164592"/>
          </a:xfrm>
          <a:prstGeom prst="rect">
            <a:avLst/>
          </a:prstGeom>
          <a:noFill/>
          <a:effectLst/>
        </p:spPr>
        <p:txBody>
          <a:bodyPr wrap="none" lIns="9144" rIns="9144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975" b="1" i="0">
                <a:solidFill>
                  <a:srgbClr val="101010"/>
                </a:solidFill>
                <a:latin typeface="Times New Roman"/>
              </a:defRPr>
            </a:pPr>
            <a:r>
              <a:t>77.12</a:t>
            </a:r>
          </a:p>
        </p:txBody>
      </p:sp>
      <p:sp>
        <p:nvSpPr>
          <p:cNvPr id="317" name="TextBox 316"/>
          <p:cNvSpPr txBox="1"/>
          <p:nvPr/>
        </p:nvSpPr>
        <p:spPr>
          <a:xfrm>
            <a:off x="13502944" y="1083746"/>
            <a:ext cx="502920" cy="164592"/>
          </a:xfrm>
          <a:prstGeom prst="rect">
            <a:avLst/>
          </a:prstGeom>
          <a:noFill/>
          <a:effectLst/>
        </p:spPr>
        <p:txBody>
          <a:bodyPr wrap="none" lIns="9144" rIns="9144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975" b="1" i="0">
                <a:solidFill>
                  <a:srgbClr val="101010"/>
                </a:solidFill>
                <a:latin typeface="Times New Roman"/>
              </a:defRPr>
            </a:pPr>
            <a:r>
              <a:t>80.10</a:t>
            </a:r>
          </a:p>
        </p:txBody>
      </p:sp>
      <p:sp>
        <p:nvSpPr>
          <p:cNvPr id="318" name="TextBox 317"/>
          <p:cNvSpPr txBox="1"/>
          <p:nvPr/>
        </p:nvSpPr>
        <p:spPr>
          <a:xfrm>
            <a:off x="13802868" y="1689262"/>
            <a:ext cx="502920" cy="164592"/>
          </a:xfrm>
          <a:prstGeom prst="rect">
            <a:avLst/>
          </a:prstGeom>
          <a:noFill/>
          <a:effectLst/>
        </p:spPr>
        <p:txBody>
          <a:bodyPr wrap="none" lIns="9144" rIns="9144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975" b="1" i="0">
                <a:solidFill>
                  <a:srgbClr val="101010"/>
                </a:solidFill>
                <a:latin typeface="Times New Roman"/>
              </a:defRPr>
            </a:pPr>
            <a:r>
              <a:t>77.23</a:t>
            </a:r>
          </a:p>
        </p:txBody>
      </p:sp>
      <p:sp>
        <p:nvSpPr>
          <p:cNvPr id="319" name="TextBox 318"/>
          <p:cNvSpPr txBox="1"/>
          <p:nvPr/>
        </p:nvSpPr>
        <p:spPr>
          <a:xfrm>
            <a:off x="13934084" y="858438"/>
            <a:ext cx="502920" cy="164592"/>
          </a:xfrm>
          <a:prstGeom prst="rect">
            <a:avLst/>
          </a:prstGeom>
          <a:noFill/>
          <a:effectLst/>
        </p:spPr>
        <p:txBody>
          <a:bodyPr wrap="none" lIns="9144" rIns="9144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975" b="1" i="0">
                <a:solidFill>
                  <a:srgbClr val="101010"/>
                </a:solidFill>
                <a:latin typeface="Times New Roman"/>
              </a:defRPr>
            </a:pPr>
            <a:r>
              <a:t>83.01</a:t>
            </a:r>
          </a:p>
        </p:txBody>
      </p:sp>
      <p:sp>
        <p:nvSpPr>
          <p:cNvPr id="320" name="TextBox 319"/>
          <p:cNvSpPr txBox="1"/>
          <p:nvPr/>
        </p:nvSpPr>
        <p:spPr>
          <a:xfrm>
            <a:off x="14140281" y="1562526"/>
            <a:ext cx="502920" cy="164592"/>
          </a:xfrm>
          <a:prstGeom prst="rect">
            <a:avLst/>
          </a:prstGeom>
          <a:noFill/>
          <a:effectLst/>
        </p:spPr>
        <p:txBody>
          <a:bodyPr wrap="none" lIns="9144" rIns="9144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975" b="1" i="0">
                <a:solidFill>
                  <a:srgbClr val="101010"/>
                </a:solidFill>
                <a:latin typeface="Times New Roman"/>
              </a:defRPr>
            </a:pPr>
            <a:r>
              <a:t>80.91</a:t>
            </a:r>
          </a:p>
        </p:txBody>
      </p:sp>
      <p:cxnSp>
        <p:nvCxnSpPr>
          <p:cNvPr id="321" name="Connector 320"/>
          <p:cNvCxnSpPr/>
          <p:nvPr/>
        </p:nvCxnSpPr>
        <p:spPr>
          <a:xfrm>
            <a:off x="14703552" y="1380744"/>
            <a:ext cx="658368" cy="0"/>
          </a:xfrm>
          <a:prstGeom prst="line">
            <a:avLst/>
          </a:prstGeom>
          <a:ln w="28575">
            <a:solidFill>
              <a:srgbClr val="082B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2" name="TextBox 321"/>
          <p:cNvSpPr txBox="1"/>
          <p:nvPr/>
        </p:nvSpPr>
        <p:spPr>
          <a:xfrm>
            <a:off x="14429232" y="749808"/>
            <a:ext cx="987552" cy="347472"/>
          </a:xfrm>
          <a:prstGeom prst="rect">
            <a:avLst/>
          </a:prstGeom>
          <a:noFill/>
          <a:effectLst/>
        </p:spPr>
        <p:txBody>
          <a:bodyPr wrap="none" lIns="9144" rIns="9144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D00000"/>
                </a:solidFill>
                <a:latin typeface="Times New Roman"/>
              </a:defRPr>
            </a:pPr>
            <a:r>
              <a:t>⑤ Selection</a:t>
            </a:r>
          </a:p>
        </p:txBody>
      </p:sp>
      <p:sp>
        <p:nvSpPr>
          <p:cNvPr id="323" name="Freeform 322"/>
          <p:cNvSpPr/>
          <p:nvPr/>
        </p:nvSpPr>
        <p:spPr>
          <a:xfrm>
            <a:off x="15380208" y="658368"/>
            <a:ext cx="1856232" cy="1335024"/>
          </a:xfrm>
          <a:custGeom>
            <a:avLst/>
            <a:gdLst/>
            <a:ahLst/>
            <a:cxnLst/>
            <a:rect l="l" t="t" r="r" b="b"/>
            <a:pathLst>
              <a:path w="203" h="146">
                <a:moveTo>
                  <a:pt x="0" y="102"/>
                </a:moveTo>
                <a:lnTo>
                  <a:pt x="8" y="103"/>
                </a:lnTo>
                <a:lnTo>
                  <a:pt x="17" y="101"/>
                </a:lnTo>
                <a:lnTo>
                  <a:pt x="25" y="94"/>
                </a:lnTo>
                <a:lnTo>
                  <a:pt x="34" y="86"/>
                </a:lnTo>
                <a:lnTo>
                  <a:pt x="42" y="80"/>
                </a:lnTo>
                <a:lnTo>
                  <a:pt x="51" y="72"/>
                </a:lnTo>
                <a:lnTo>
                  <a:pt x="59" y="61"/>
                </a:lnTo>
                <a:lnTo>
                  <a:pt x="68" y="56"/>
                </a:lnTo>
                <a:lnTo>
                  <a:pt x="76" y="69"/>
                </a:lnTo>
                <a:lnTo>
                  <a:pt x="85" y="88"/>
                </a:lnTo>
                <a:lnTo>
                  <a:pt x="93" y="100"/>
                </a:lnTo>
                <a:lnTo>
                  <a:pt x="102" y="104"/>
                </a:lnTo>
                <a:lnTo>
                  <a:pt x="110" y="99"/>
                </a:lnTo>
                <a:lnTo>
                  <a:pt x="118" y="56"/>
                </a:lnTo>
                <a:lnTo>
                  <a:pt x="127" y="0"/>
                </a:lnTo>
                <a:lnTo>
                  <a:pt x="135" y="35"/>
                </a:lnTo>
                <a:lnTo>
                  <a:pt x="144" y="84"/>
                </a:lnTo>
                <a:lnTo>
                  <a:pt x="152" y="88"/>
                </a:lnTo>
                <a:lnTo>
                  <a:pt x="161" y="85"/>
                </a:lnTo>
                <a:lnTo>
                  <a:pt x="169" y="87"/>
                </a:lnTo>
                <a:lnTo>
                  <a:pt x="178" y="94"/>
                </a:lnTo>
                <a:lnTo>
                  <a:pt x="186" y="101"/>
                </a:lnTo>
                <a:lnTo>
                  <a:pt x="195" y="103"/>
                </a:lnTo>
                <a:lnTo>
                  <a:pt x="203" y="102"/>
                </a:lnTo>
                <a:lnTo>
                  <a:pt x="203" y="122"/>
                </a:lnTo>
                <a:lnTo>
                  <a:pt x="179" y="132"/>
                </a:lnTo>
                <a:lnTo>
                  <a:pt x="146" y="117"/>
                </a:lnTo>
                <a:lnTo>
                  <a:pt x="118" y="146"/>
                </a:lnTo>
                <a:lnTo>
                  <a:pt x="89" y="124"/>
                </a:lnTo>
                <a:lnTo>
                  <a:pt x="59" y="138"/>
                </a:lnTo>
                <a:lnTo>
                  <a:pt x="24" y="119"/>
                </a:lnTo>
                <a:lnTo>
                  <a:pt x="0" y="102"/>
                </a:lnTo>
                <a:close/>
              </a:path>
            </a:pathLst>
          </a:custGeom>
          <a:solidFill>
            <a:srgbClr val="BCD6FA"/>
          </a:solidFill>
          <a:ln w="4762">
            <a:solidFill>
              <a:srgbClr val="9BB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4" name="Connector 323"/>
          <p:cNvCxnSpPr/>
          <p:nvPr/>
        </p:nvCxnSpPr>
        <p:spPr>
          <a:xfrm flipV="1">
            <a:off x="15473019" y="1488368"/>
            <a:ext cx="426933" cy="43069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5" name="Connector 324"/>
          <p:cNvCxnSpPr/>
          <p:nvPr/>
        </p:nvCxnSpPr>
        <p:spPr>
          <a:xfrm>
            <a:off x="15899952" y="1488368"/>
            <a:ext cx="315560" cy="71781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6" name="Connector 325"/>
          <p:cNvCxnSpPr/>
          <p:nvPr/>
        </p:nvCxnSpPr>
        <p:spPr>
          <a:xfrm flipV="1">
            <a:off x="16215512" y="1474012"/>
            <a:ext cx="278435" cy="86137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7" name="Connector 326"/>
          <p:cNvCxnSpPr/>
          <p:nvPr/>
        </p:nvCxnSpPr>
        <p:spPr>
          <a:xfrm>
            <a:off x="16493947" y="1474012"/>
            <a:ext cx="352684" cy="100493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" name="Connector 327"/>
          <p:cNvCxnSpPr/>
          <p:nvPr/>
        </p:nvCxnSpPr>
        <p:spPr>
          <a:xfrm flipV="1">
            <a:off x="16846631" y="1531437"/>
            <a:ext cx="278435" cy="43068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9" name="Connector 328"/>
          <p:cNvCxnSpPr/>
          <p:nvPr/>
        </p:nvCxnSpPr>
        <p:spPr>
          <a:xfrm flipV="1">
            <a:off x="15473019" y="1531437"/>
            <a:ext cx="426933" cy="35890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0" name="Connector 329"/>
          <p:cNvCxnSpPr/>
          <p:nvPr/>
        </p:nvCxnSpPr>
        <p:spPr>
          <a:xfrm>
            <a:off x="15899952" y="1531437"/>
            <a:ext cx="315560" cy="68909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1" name="Connector 330"/>
          <p:cNvCxnSpPr/>
          <p:nvPr/>
        </p:nvCxnSpPr>
        <p:spPr>
          <a:xfrm flipV="1">
            <a:off x="16215512" y="1531437"/>
            <a:ext cx="278435" cy="68909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2" name="Connector 331"/>
          <p:cNvCxnSpPr/>
          <p:nvPr/>
        </p:nvCxnSpPr>
        <p:spPr>
          <a:xfrm>
            <a:off x="16493947" y="1531437"/>
            <a:ext cx="352684" cy="78958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3" name="Connector 332"/>
          <p:cNvCxnSpPr/>
          <p:nvPr/>
        </p:nvCxnSpPr>
        <p:spPr>
          <a:xfrm flipV="1">
            <a:off x="16846631" y="1560149"/>
            <a:ext cx="278435" cy="50246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4" name="Connector 333"/>
          <p:cNvCxnSpPr/>
          <p:nvPr/>
        </p:nvCxnSpPr>
        <p:spPr>
          <a:xfrm flipV="1">
            <a:off x="15473019" y="1574505"/>
            <a:ext cx="426933" cy="28712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5" name="Connector 334"/>
          <p:cNvCxnSpPr/>
          <p:nvPr/>
        </p:nvCxnSpPr>
        <p:spPr>
          <a:xfrm>
            <a:off x="15899952" y="1574505"/>
            <a:ext cx="315560" cy="66038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6" name="Connector 335"/>
          <p:cNvCxnSpPr/>
          <p:nvPr/>
        </p:nvCxnSpPr>
        <p:spPr>
          <a:xfrm flipV="1">
            <a:off x="16215512" y="1588861"/>
            <a:ext cx="278435" cy="51682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7" name="Connector 336"/>
          <p:cNvCxnSpPr/>
          <p:nvPr/>
        </p:nvCxnSpPr>
        <p:spPr>
          <a:xfrm>
            <a:off x="16493947" y="1588861"/>
            <a:ext cx="352684" cy="57424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8" name="Connector 337"/>
          <p:cNvCxnSpPr/>
          <p:nvPr/>
        </p:nvCxnSpPr>
        <p:spPr>
          <a:xfrm flipV="1">
            <a:off x="16846631" y="1588861"/>
            <a:ext cx="278435" cy="57424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9" name="Connector 338"/>
          <p:cNvCxnSpPr/>
          <p:nvPr/>
        </p:nvCxnSpPr>
        <p:spPr>
          <a:xfrm flipV="1">
            <a:off x="15473019" y="1617573"/>
            <a:ext cx="426933" cy="21534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" name="Connector 339"/>
          <p:cNvCxnSpPr/>
          <p:nvPr/>
        </p:nvCxnSpPr>
        <p:spPr>
          <a:xfrm>
            <a:off x="15899952" y="1617573"/>
            <a:ext cx="315560" cy="63167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1" name="Connector 340"/>
          <p:cNvCxnSpPr/>
          <p:nvPr/>
        </p:nvCxnSpPr>
        <p:spPr>
          <a:xfrm flipV="1">
            <a:off x="16215512" y="1646285"/>
            <a:ext cx="278435" cy="34455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" name="Connector 341"/>
          <p:cNvCxnSpPr/>
          <p:nvPr/>
        </p:nvCxnSpPr>
        <p:spPr>
          <a:xfrm>
            <a:off x="16493947" y="1646285"/>
            <a:ext cx="352684" cy="35890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" name="Connector 342"/>
          <p:cNvCxnSpPr/>
          <p:nvPr/>
        </p:nvCxnSpPr>
        <p:spPr>
          <a:xfrm flipV="1">
            <a:off x="16846631" y="1617573"/>
            <a:ext cx="278435" cy="64602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4" name="Connector 343"/>
          <p:cNvCxnSpPr/>
          <p:nvPr/>
        </p:nvCxnSpPr>
        <p:spPr>
          <a:xfrm flipV="1">
            <a:off x="15473019" y="1660641"/>
            <a:ext cx="426933" cy="14356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Connector 344"/>
          <p:cNvCxnSpPr/>
          <p:nvPr/>
        </p:nvCxnSpPr>
        <p:spPr>
          <a:xfrm>
            <a:off x="15899952" y="1660641"/>
            <a:ext cx="315560" cy="60296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6" name="Connector 345"/>
          <p:cNvCxnSpPr/>
          <p:nvPr/>
        </p:nvCxnSpPr>
        <p:spPr>
          <a:xfrm flipV="1">
            <a:off x="16215512" y="1703710"/>
            <a:ext cx="278435" cy="17227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7" name="Connector 346"/>
          <p:cNvCxnSpPr/>
          <p:nvPr/>
        </p:nvCxnSpPr>
        <p:spPr>
          <a:xfrm>
            <a:off x="16493947" y="1703710"/>
            <a:ext cx="352684" cy="14356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8" name="Connector 347"/>
          <p:cNvCxnSpPr/>
          <p:nvPr/>
        </p:nvCxnSpPr>
        <p:spPr>
          <a:xfrm flipV="1">
            <a:off x="16846631" y="1646285"/>
            <a:ext cx="278435" cy="71781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9" name="Connector 348"/>
          <p:cNvCxnSpPr/>
          <p:nvPr/>
        </p:nvCxnSpPr>
        <p:spPr>
          <a:xfrm flipV="1">
            <a:off x="15473019" y="1703710"/>
            <a:ext cx="426933" cy="7178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0" name="Connector 349"/>
          <p:cNvCxnSpPr/>
          <p:nvPr/>
        </p:nvCxnSpPr>
        <p:spPr>
          <a:xfrm>
            <a:off x="15899952" y="1703710"/>
            <a:ext cx="315560" cy="57424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1" name="Connector 350"/>
          <p:cNvCxnSpPr/>
          <p:nvPr/>
        </p:nvCxnSpPr>
        <p:spPr>
          <a:xfrm>
            <a:off x="16215512" y="1761134"/>
            <a:ext cx="278435" cy="0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2" name="Connector 351"/>
          <p:cNvCxnSpPr/>
          <p:nvPr/>
        </p:nvCxnSpPr>
        <p:spPr>
          <a:xfrm flipV="1">
            <a:off x="16493947" y="1753956"/>
            <a:ext cx="352684" cy="7178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3" name="Connector 352"/>
          <p:cNvCxnSpPr/>
          <p:nvPr/>
        </p:nvCxnSpPr>
        <p:spPr>
          <a:xfrm flipV="1">
            <a:off x="16846631" y="1674997"/>
            <a:ext cx="278435" cy="78959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4" name="Connector 353"/>
          <p:cNvCxnSpPr/>
          <p:nvPr/>
        </p:nvCxnSpPr>
        <p:spPr>
          <a:xfrm>
            <a:off x="15473019" y="1746778"/>
            <a:ext cx="426933" cy="0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5" name="Connector 354"/>
          <p:cNvCxnSpPr/>
          <p:nvPr/>
        </p:nvCxnSpPr>
        <p:spPr>
          <a:xfrm>
            <a:off x="15899952" y="1746778"/>
            <a:ext cx="315560" cy="54553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6" name="Connector 355"/>
          <p:cNvCxnSpPr/>
          <p:nvPr/>
        </p:nvCxnSpPr>
        <p:spPr>
          <a:xfrm>
            <a:off x="16215512" y="1801331"/>
            <a:ext cx="278435" cy="17227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7" name="Connector 356"/>
          <p:cNvCxnSpPr/>
          <p:nvPr/>
        </p:nvCxnSpPr>
        <p:spPr>
          <a:xfrm flipV="1">
            <a:off x="16493947" y="1789846"/>
            <a:ext cx="352684" cy="28712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8" name="Connector 357"/>
          <p:cNvCxnSpPr/>
          <p:nvPr/>
        </p:nvCxnSpPr>
        <p:spPr>
          <a:xfrm flipV="1">
            <a:off x="16846631" y="1703710"/>
            <a:ext cx="278435" cy="86136"/>
          </a:xfrm>
          <a:prstGeom prst="line">
            <a:avLst/>
          </a:prstGeom>
          <a:ln w="5714">
            <a:solidFill>
              <a:srgbClr val="779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9" name="Freeform 358"/>
          <p:cNvSpPr/>
          <p:nvPr/>
        </p:nvSpPr>
        <p:spPr>
          <a:xfrm>
            <a:off x="15755112" y="932688"/>
            <a:ext cx="420624" cy="612648"/>
          </a:xfrm>
          <a:custGeom>
            <a:avLst/>
            <a:gdLst/>
            <a:ahLst/>
            <a:cxnLst/>
            <a:rect l="l" t="t" r="r" b="b"/>
            <a:pathLst>
              <a:path w="46" h="67">
                <a:moveTo>
                  <a:pt x="0" y="61"/>
                </a:moveTo>
                <a:lnTo>
                  <a:pt x="28" y="0"/>
                </a:lnTo>
                <a:lnTo>
                  <a:pt x="46" y="67"/>
                </a:lnTo>
                <a:close/>
              </a:path>
            </a:pathLst>
          </a:custGeom>
          <a:solidFill>
            <a:srgbClr val="FFB189"/>
          </a:solidFill>
          <a:ln w="4762">
            <a:solidFill>
              <a:srgbClr val="EFA1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Freeform 359"/>
          <p:cNvSpPr/>
          <p:nvPr/>
        </p:nvSpPr>
        <p:spPr>
          <a:xfrm>
            <a:off x="16267176" y="658368"/>
            <a:ext cx="411480" cy="886968"/>
          </a:xfrm>
          <a:custGeom>
            <a:avLst/>
            <a:gdLst/>
            <a:ahLst/>
            <a:cxnLst/>
            <a:rect l="l" t="t" r="r" b="b"/>
            <a:pathLst>
              <a:path w="45" h="97">
                <a:moveTo>
                  <a:pt x="0" y="94"/>
                </a:moveTo>
                <a:lnTo>
                  <a:pt x="31" y="0"/>
                </a:lnTo>
                <a:lnTo>
                  <a:pt x="45" y="97"/>
                </a:lnTo>
                <a:close/>
              </a:path>
            </a:pathLst>
          </a:custGeom>
          <a:solidFill>
            <a:srgbClr val="E65B53"/>
          </a:solidFill>
          <a:ln w="4762">
            <a:solidFill>
              <a:srgbClr val="D64B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Freeform 360"/>
          <p:cNvSpPr/>
          <p:nvPr/>
        </p:nvSpPr>
        <p:spPr>
          <a:xfrm>
            <a:off x="16422624" y="658368"/>
            <a:ext cx="182880" cy="868680"/>
          </a:xfrm>
          <a:custGeom>
            <a:avLst/>
            <a:gdLst/>
            <a:ahLst/>
            <a:cxnLst/>
            <a:rect l="l" t="t" r="r" b="b"/>
            <a:pathLst>
              <a:path w="20" h="95">
                <a:moveTo>
                  <a:pt x="0" y="91"/>
                </a:moveTo>
                <a:lnTo>
                  <a:pt x="14" y="0"/>
                </a:lnTo>
                <a:lnTo>
                  <a:pt x="20" y="95"/>
                </a:lnTo>
                <a:close/>
              </a:path>
            </a:pathLst>
          </a:custGeom>
          <a:solidFill>
            <a:srgbClr val="AF1831"/>
          </a:solidFill>
          <a:ln w="3810">
            <a:solidFill>
              <a:srgbClr val="A20E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2" name="Connector 361"/>
          <p:cNvCxnSpPr/>
          <p:nvPr/>
        </p:nvCxnSpPr>
        <p:spPr>
          <a:xfrm>
            <a:off x="15612237" y="1558813"/>
            <a:ext cx="0" cy="259745"/>
          </a:xfrm>
          <a:prstGeom prst="line">
            <a:avLst/>
          </a:prstGeom>
          <a:ln w="4286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3" name="Connector 362"/>
          <p:cNvCxnSpPr/>
          <p:nvPr/>
        </p:nvCxnSpPr>
        <p:spPr>
          <a:xfrm>
            <a:off x="15766923" y="1512867"/>
            <a:ext cx="0" cy="269801"/>
          </a:xfrm>
          <a:prstGeom prst="line">
            <a:avLst/>
          </a:prstGeom>
          <a:ln w="4286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4" name="Connector 363"/>
          <p:cNvCxnSpPr/>
          <p:nvPr/>
        </p:nvCxnSpPr>
        <p:spPr>
          <a:xfrm>
            <a:off x="15921608" y="1258890"/>
            <a:ext cx="0" cy="451998"/>
          </a:xfrm>
          <a:prstGeom prst="line">
            <a:avLst/>
          </a:prstGeom>
          <a:ln w="4286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5" name="Connector 364"/>
          <p:cNvCxnSpPr/>
          <p:nvPr/>
        </p:nvCxnSpPr>
        <p:spPr>
          <a:xfrm>
            <a:off x="16076295" y="1214597"/>
            <a:ext cx="0" cy="460400"/>
          </a:xfrm>
          <a:prstGeom prst="line">
            <a:avLst/>
          </a:prstGeom>
          <a:ln w="4286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6" name="Connector 365"/>
          <p:cNvCxnSpPr/>
          <p:nvPr/>
        </p:nvCxnSpPr>
        <p:spPr>
          <a:xfrm>
            <a:off x="16230981" y="1488552"/>
            <a:ext cx="0" cy="222336"/>
          </a:xfrm>
          <a:prstGeom prst="line">
            <a:avLst/>
          </a:prstGeom>
          <a:ln w="4286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7" name="Connector 366"/>
          <p:cNvCxnSpPr/>
          <p:nvPr/>
        </p:nvCxnSpPr>
        <p:spPr>
          <a:xfrm>
            <a:off x="16385666" y="1457252"/>
            <a:ext cx="0" cy="325416"/>
          </a:xfrm>
          <a:prstGeom prst="line">
            <a:avLst/>
          </a:prstGeom>
          <a:ln w="4286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8" name="Connector 367"/>
          <p:cNvCxnSpPr/>
          <p:nvPr/>
        </p:nvCxnSpPr>
        <p:spPr>
          <a:xfrm>
            <a:off x="16540353" y="690470"/>
            <a:ext cx="0" cy="1128088"/>
          </a:xfrm>
          <a:prstGeom prst="line">
            <a:avLst/>
          </a:prstGeom>
          <a:ln w="4286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9" name="Connector 368"/>
          <p:cNvCxnSpPr/>
          <p:nvPr/>
        </p:nvCxnSpPr>
        <p:spPr>
          <a:xfrm>
            <a:off x="16695039" y="1400883"/>
            <a:ext cx="0" cy="381785"/>
          </a:xfrm>
          <a:prstGeom prst="line">
            <a:avLst/>
          </a:prstGeom>
          <a:ln w="4286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Connector 369"/>
          <p:cNvCxnSpPr/>
          <p:nvPr/>
        </p:nvCxnSpPr>
        <p:spPr>
          <a:xfrm>
            <a:off x="16849725" y="1559533"/>
            <a:ext cx="0" cy="151355"/>
          </a:xfrm>
          <a:prstGeom prst="line">
            <a:avLst/>
          </a:prstGeom>
          <a:ln w="4286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1" name="Connector 370"/>
          <p:cNvCxnSpPr/>
          <p:nvPr/>
        </p:nvCxnSpPr>
        <p:spPr>
          <a:xfrm>
            <a:off x="17004411" y="1560149"/>
            <a:ext cx="0" cy="114848"/>
          </a:xfrm>
          <a:prstGeom prst="line">
            <a:avLst/>
          </a:prstGeom>
          <a:ln w="4286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2" name="Oval 371"/>
          <p:cNvSpPr/>
          <p:nvPr/>
        </p:nvSpPr>
        <p:spPr>
          <a:xfrm>
            <a:off x="15993313" y="1523573"/>
            <a:ext cx="73152" cy="73152"/>
          </a:xfrm>
          <a:prstGeom prst="ellipse">
            <a:avLst/>
          </a:prstGeom>
          <a:solidFill>
            <a:srgbClr val="E00000"/>
          </a:solidFill>
          <a:ln w="4762">
            <a:solidFill>
              <a:srgbClr val="E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Oval 372"/>
          <p:cNvSpPr/>
          <p:nvPr/>
        </p:nvSpPr>
        <p:spPr>
          <a:xfrm>
            <a:off x="16494495" y="1652778"/>
            <a:ext cx="73152" cy="73152"/>
          </a:xfrm>
          <a:prstGeom prst="ellipse">
            <a:avLst/>
          </a:prstGeom>
          <a:solidFill>
            <a:srgbClr val="E00000"/>
          </a:solidFill>
          <a:ln w="4762">
            <a:solidFill>
              <a:srgbClr val="E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Oval 373"/>
          <p:cNvSpPr/>
          <p:nvPr/>
        </p:nvSpPr>
        <p:spPr>
          <a:xfrm>
            <a:off x="16605869" y="863193"/>
            <a:ext cx="73152" cy="73152"/>
          </a:xfrm>
          <a:prstGeom prst="ellipse">
            <a:avLst/>
          </a:prstGeom>
          <a:solidFill>
            <a:srgbClr val="4C8D35"/>
          </a:solidFill>
          <a:ln w="4762">
            <a:solidFill>
              <a:srgbClr val="4C8D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TextBox 374"/>
          <p:cNvSpPr txBox="1"/>
          <p:nvPr/>
        </p:nvSpPr>
        <p:spPr>
          <a:xfrm>
            <a:off x="15380208" y="1938528"/>
            <a:ext cx="1773936" cy="237744"/>
          </a:xfrm>
          <a:prstGeom prst="rect">
            <a:avLst/>
          </a:prstGeom>
          <a:noFill/>
          <a:effectLst/>
        </p:spPr>
        <p:txBody>
          <a:bodyPr wrap="none" lIns="9144" rIns="9144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350" b="1" i="0">
                <a:solidFill>
                  <a:srgbClr val="101010"/>
                </a:solidFill>
                <a:latin typeface="Times New Roman"/>
              </a:defRPr>
            </a:pPr>
            <a:r>
              <a:t>New population  Pₜ₊₁</a:t>
            </a:r>
          </a:p>
        </p:txBody>
      </p:sp>
      <p:cxnSp>
        <p:nvCxnSpPr>
          <p:cNvPr id="376" name="Connector 375"/>
          <p:cNvCxnSpPr/>
          <p:nvPr/>
        </p:nvCxnSpPr>
        <p:spPr>
          <a:xfrm flipV="1">
            <a:off x="15928848" y="438912"/>
            <a:ext cx="0" cy="996696"/>
          </a:xfrm>
          <a:prstGeom prst="line">
            <a:avLst/>
          </a:prstGeom>
          <a:ln w="28575">
            <a:solidFill>
              <a:srgbClr val="082B6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Connector 376"/>
          <p:cNvCxnSpPr/>
          <p:nvPr/>
        </p:nvCxnSpPr>
        <p:spPr>
          <a:xfrm flipH="1">
            <a:off x="9400032" y="438912"/>
            <a:ext cx="6528816" cy="0"/>
          </a:xfrm>
          <a:prstGeom prst="line">
            <a:avLst/>
          </a:prstGeom>
          <a:ln w="28575">
            <a:solidFill>
              <a:srgbClr val="082B6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8" name="Connector 377"/>
          <p:cNvCxnSpPr/>
          <p:nvPr/>
        </p:nvCxnSpPr>
        <p:spPr>
          <a:xfrm flipH="1">
            <a:off x="9281160" y="438912"/>
            <a:ext cx="118872" cy="91440"/>
          </a:xfrm>
          <a:prstGeom prst="line">
            <a:avLst/>
          </a:prstGeom>
          <a:ln w="28575">
            <a:solidFill>
              <a:srgbClr val="082B6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9" name="Connector 378"/>
          <p:cNvCxnSpPr/>
          <p:nvPr/>
        </p:nvCxnSpPr>
        <p:spPr>
          <a:xfrm>
            <a:off x="9281160" y="530352"/>
            <a:ext cx="0" cy="219456"/>
          </a:xfrm>
          <a:prstGeom prst="line">
            <a:avLst/>
          </a:prstGeom>
          <a:ln w="28575">
            <a:solidFill>
              <a:srgbClr val="082B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0" name="TextBox 379"/>
          <p:cNvSpPr txBox="1"/>
          <p:nvPr/>
        </p:nvSpPr>
        <p:spPr>
          <a:xfrm>
            <a:off x="493776" y="2304288"/>
            <a:ext cx="3931920" cy="274320"/>
          </a:xfrm>
          <a:prstGeom prst="rect">
            <a:avLst/>
          </a:prstGeom>
          <a:noFill/>
          <a:effectLst/>
        </p:spPr>
        <p:txBody>
          <a:bodyPr wrap="none" lIns="9144" rIns="9144" tIns="0" bIns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875" b="1" i="0">
                <a:solidFill>
                  <a:srgbClr val="082B61"/>
                </a:solidFill>
                <a:latin typeface="Times New Roman"/>
              </a:defRPr>
            </a:pPr>
            <a:r>
              <a:t>(b) Unbiased fitness evaluation</a:t>
            </a:r>
          </a:p>
        </p:txBody>
      </p:sp>
      <p:sp>
        <p:nvSpPr>
          <p:cNvPr id="381" name="Rectangle 380"/>
          <p:cNvSpPr/>
          <p:nvPr/>
        </p:nvSpPr>
        <p:spPr>
          <a:xfrm>
            <a:off x="347472" y="2596896"/>
            <a:ext cx="2926080" cy="4425696"/>
          </a:xfrm>
          <a:prstGeom prst="rect">
            <a:avLst/>
          </a:prstGeom>
          <a:solidFill>
            <a:srgbClr val="F7FAFB"/>
          </a:solidFill>
          <a:ln w="19050">
            <a:solidFill>
              <a:srgbClr val="7C8E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Rectangle 381"/>
          <p:cNvSpPr/>
          <p:nvPr/>
        </p:nvSpPr>
        <p:spPr>
          <a:xfrm>
            <a:off x="3593592" y="2596896"/>
            <a:ext cx="1481328" cy="4425696"/>
          </a:xfrm>
          <a:prstGeom prst="rect">
            <a:avLst/>
          </a:prstGeom>
          <a:solidFill>
            <a:srgbClr val="EAF6FD"/>
          </a:solidFill>
          <a:ln w="19050">
            <a:solidFill>
              <a:srgbClr val="7C8E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Rounded Rectangle 382"/>
          <p:cNvSpPr/>
          <p:nvPr/>
        </p:nvSpPr>
        <p:spPr>
          <a:xfrm>
            <a:off x="5833872" y="2368296"/>
            <a:ext cx="11274552" cy="4745736"/>
          </a:xfrm>
          <a:prstGeom prst="roundRect">
            <a:avLst/>
          </a:prstGeom>
          <a:solidFill>
            <a:srgbClr val="E9F6FB"/>
          </a:solidFill>
          <a:ln w="19050">
            <a:solidFill>
              <a:srgbClr val="77858F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Rounded Rectangle 383"/>
          <p:cNvSpPr/>
          <p:nvPr/>
        </p:nvSpPr>
        <p:spPr>
          <a:xfrm>
            <a:off x="420624" y="2724912"/>
            <a:ext cx="2798064" cy="59436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65727A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Oval 384"/>
          <p:cNvSpPr/>
          <p:nvPr/>
        </p:nvSpPr>
        <p:spPr>
          <a:xfrm>
            <a:off x="573786" y="2816352"/>
            <a:ext cx="157734" cy="157734"/>
          </a:xfrm>
          <a:prstGeom prst="ellipse">
            <a:avLst/>
          </a:prstGeom>
          <a:solidFill>
            <a:srgbClr val="4C8D35"/>
          </a:solidFill>
          <a:ln w="6667">
            <a:solidFill>
              <a:srgbClr val="4C8D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Oval 385"/>
          <p:cNvSpPr/>
          <p:nvPr/>
        </p:nvSpPr>
        <p:spPr>
          <a:xfrm>
            <a:off x="531723" y="2932023"/>
            <a:ext cx="189280" cy="231343"/>
          </a:xfrm>
          <a:prstGeom prst="ellipse">
            <a:avLst/>
          </a:prstGeom>
          <a:solidFill>
            <a:srgbClr val="4C8D35"/>
          </a:solidFill>
          <a:ln w="6667">
            <a:solidFill>
              <a:srgbClr val="4C8D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Freeform 386"/>
          <p:cNvSpPr/>
          <p:nvPr/>
        </p:nvSpPr>
        <p:spPr>
          <a:xfrm>
            <a:off x="676656" y="2907792"/>
            <a:ext cx="137160" cy="109728"/>
          </a:xfrm>
          <a:custGeom>
            <a:avLst/>
            <a:gdLst/>
            <a:ahLst/>
            <a:cxnLst/>
            <a:rect l="l" t="t" r="r" b="b"/>
            <a:pathLst>
              <a:path w="15" h="12">
                <a:moveTo>
                  <a:pt x="0" y="0"/>
                </a:moveTo>
                <a:lnTo>
                  <a:pt x="15" y="5"/>
                </a:lnTo>
                <a:lnTo>
                  <a:pt x="3" y="12"/>
                </a:lnTo>
                <a:close/>
              </a:path>
            </a:pathLst>
          </a:custGeom>
          <a:solidFill>
            <a:srgbClr val="4C8D35"/>
          </a:solidFill>
          <a:ln w="4762">
            <a:solidFill>
              <a:srgbClr val="4C8D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8" name="Connector 387"/>
          <p:cNvCxnSpPr/>
          <p:nvPr/>
        </p:nvCxnSpPr>
        <p:spPr>
          <a:xfrm flipV="1">
            <a:off x="710488" y="2858414"/>
            <a:ext cx="94641" cy="31547"/>
          </a:xfrm>
          <a:prstGeom prst="line">
            <a:avLst/>
          </a:prstGeom>
          <a:ln w="9525">
            <a:solidFill>
              <a:srgbClr val="4C8D3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9" name="Oval 388"/>
          <p:cNvSpPr/>
          <p:nvPr/>
        </p:nvSpPr>
        <p:spPr>
          <a:xfrm>
            <a:off x="794613" y="2837383"/>
            <a:ext cx="42062" cy="42062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Oval 389"/>
          <p:cNvSpPr/>
          <p:nvPr/>
        </p:nvSpPr>
        <p:spPr>
          <a:xfrm>
            <a:off x="742035" y="2889961"/>
            <a:ext cx="42062" cy="42062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TextBox 390"/>
          <p:cNvSpPr txBox="1"/>
          <p:nvPr/>
        </p:nvSpPr>
        <p:spPr>
          <a:xfrm>
            <a:off x="941832" y="2779776"/>
            <a:ext cx="2084832" cy="484632"/>
          </a:xfrm>
          <a:prstGeom prst="rect">
            <a:avLst/>
          </a:prstGeom>
          <a:noFill/>
          <a:effectLst/>
        </p:spPr>
        <p:txBody>
          <a:bodyPr wrap="none" lIns="9144" rIns="9144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350" b="1" i="0">
                <a:solidFill>
                  <a:srgbClr val="101010"/>
                </a:solidFill>
                <a:latin typeface="Times New Roman"/>
              </a:defRPr>
            </a:pPr>
            <a:r>
              <a:t>Evolutionary navigator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350" b="1" i="0">
                <a:solidFill>
                  <a:srgbClr val="101010"/>
                </a:solidFill>
                <a:latin typeface="Times New Roman"/>
              </a:defRPr>
            </a:pPr>
            <a:r>
              <a:t>of the view⁽ᵛ⁾</a:t>
            </a:r>
          </a:p>
        </p:txBody>
      </p:sp>
      <p:cxnSp>
        <p:nvCxnSpPr>
          <p:cNvPr id="392" name="Connector 391"/>
          <p:cNvCxnSpPr/>
          <p:nvPr/>
        </p:nvCxnSpPr>
        <p:spPr>
          <a:xfrm>
            <a:off x="786384" y="3337560"/>
            <a:ext cx="0" cy="484631"/>
          </a:xfrm>
          <a:prstGeom prst="line">
            <a:avLst/>
          </a:prstGeom>
          <a:ln w="28575">
            <a:solidFill>
              <a:srgbClr val="082B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3" name="TextBox 392"/>
          <p:cNvSpPr txBox="1"/>
          <p:nvPr/>
        </p:nvSpPr>
        <p:spPr>
          <a:xfrm>
            <a:off x="841248" y="3419856"/>
            <a:ext cx="1783080" cy="274320"/>
          </a:xfrm>
          <a:prstGeom prst="rect">
            <a:avLst/>
          </a:prstGeom>
          <a:noFill/>
          <a:effectLst/>
        </p:spPr>
        <p:txBody>
          <a:bodyPr wrap="none" lIns="9144" rIns="9144" tIns="0" bIns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275" b="1" i="0">
                <a:solidFill>
                  <a:srgbClr val="101010"/>
                </a:solidFill>
                <a:latin typeface="Times New Roman"/>
              </a:defRPr>
            </a:pPr>
            <a:r>
              <a:t>Pre-training process</a:t>
            </a:r>
          </a:p>
        </p:txBody>
      </p:sp>
      <p:cxnSp>
        <p:nvCxnSpPr>
          <p:cNvPr id="394" name="Connector 393"/>
          <p:cNvCxnSpPr/>
          <p:nvPr/>
        </p:nvCxnSpPr>
        <p:spPr>
          <a:xfrm>
            <a:off x="3209544" y="2980944"/>
            <a:ext cx="146304" cy="0"/>
          </a:xfrm>
          <a:prstGeom prst="line">
            <a:avLst/>
          </a:prstGeom>
          <a:ln w="28575">
            <a:solidFill>
              <a:srgbClr val="4C8D3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5" name="Connector 394"/>
          <p:cNvCxnSpPr/>
          <p:nvPr/>
        </p:nvCxnSpPr>
        <p:spPr>
          <a:xfrm>
            <a:off x="3355848" y="2980944"/>
            <a:ext cx="0" cy="731520"/>
          </a:xfrm>
          <a:prstGeom prst="line">
            <a:avLst/>
          </a:prstGeom>
          <a:ln w="28575">
            <a:solidFill>
              <a:srgbClr val="4C8D3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6" name="Connector 395"/>
          <p:cNvCxnSpPr/>
          <p:nvPr/>
        </p:nvCxnSpPr>
        <p:spPr>
          <a:xfrm flipH="1">
            <a:off x="3200400" y="3712464"/>
            <a:ext cx="155448" cy="0"/>
          </a:xfrm>
          <a:prstGeom prst="line">
            <a:avLst/>
          </a:prstGeom>
          <a:ln w="28575">
            <a:solidFill>
              <a:srgbClr val="4C8D3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7" name="Rounded Rectangle 396"/>
          <p:cNvSpPr/>
          <p:nvPr/>
        </p:nvSpPr>
        <p:spPr>
          <a:xfrm>
            <a:off x="429768" y="3849624"/>
            <a:ext cx="2798064" cy="1892807"/>
          </a:xfrm>
          <a:prstGeom prst="roundRect">
            <a:avLst/>
          </a:prstGeom>
          <a:solidFill>
            <a:srgbClr val="F5FAFC"/>
          </a:solidFill>
          <a:ln w="17145">
            <a:solidFill>
              <a:srgbClr val="65727A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Oval 397"/>
          <p:cNvSpPr/>
          <p:nvPr/>
        </p:nvSpPr>
        <p:spPr>
          <a:xfrm>
            <a:off x="475488" y="3986784"/>
            <a:ext cx="813816" cy="438912"/>
          </a:xfrm>
          <a:prstGeom prst="ellipse">
            <a:avLst/>
          </a:prstGeom>
          <a:solidFill>
            <a:srgbClr val="4C8D35"/>
          </a:solidFill>
          <a:ln w="14287">
            <a:solidFill>
              <a:srgbClr val="082B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TextBox 398"/>
          <p:cNvSpPr txBox="1"/>
          <p:nvPr/>
        </p:nvSpPr>
        <p:spPr>
          <a:xfrm>
            <a:off x="512064" y="4032504"/>
            <a:ext cx="740664" cy="356616"/>
          </a:xfrm>
          <a:prstGeom prst="rect">
            <a:avLst/>
          </a:prstGeom>
          <a:noFill/>
          <a:effectLst/>
        </p:spPr>
        <p:txBody>
          <a:bodyPr wrap="none" lIns="9144" rIns="9144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425" b="1" i="0">
                <a:solidFill>
                  <a:srgbClr val="101010"/>
                </a:solidFill>
                <a:latin typeface="Times New Roman"/>
              </a:defRPr>
            </a:pPr>
            <a:r>
              <a:t>View⁽ᵛ⁾</a:t>
            </a:r>
          </a:p>
        </p:txBody>
      </p:sp>
      <p:cxnSp>
        <p:nvCxnSpPr>
          <p:cNvPr id="400" name="Connector 399"/>
          <p:cNvCxnSpPr/>
          <p:nvPr/>
        </p:nvCxnSpPr>
        <p:spPr>
          <a:xfrm>
            <a:off x="1289304" y="4206240"/>
            <a:ext cx="429768" cy="0"/>
          </a:xfrm>
          <a:prstGeom prst="line">
            <a:avLst/>
          </a:prstGeom>
          <a:ln w="28575">
            <a:solidFill>
              <a:srgbClr val="082B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1" name="Rectangle 400"/>
          <p:cNvSpPr/>
          <p:nvPr/>
        </p:nvSpPr>
        <p:spPr>
          <a:xfrm>
            <a:off x="1719072" y="3959352"/>
            <a:ext cx="329184" cy="493776"/>
          </a:xfrm>
          <a:prstGeom prst="rect">
            <a:avLst/>
          </a:prstGeom>
          <a:solidFill>
            <a:srgbClr val="D7E2EA"/>
          </a:solidFill>
          <a:ln w="17145">
            <a:solidFill>
              <a:srgbClr val="082B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TextBox 401"/>
          <p:cNvSpPr txBox="1"/>
          <p:nvPr/>
        </p:nvSpPr>
        <p:spPr>
          <a:xfrm>
            <a:off x="1719072" y="3959352"/>
            <a:ext cx="329184" cy="493776"/>
          </a:xfrm>
          <a:prstGeom prst="rect">
            <a:avLst/>
          </a:prstGeom>
          <a:noFill/>
          <a:effectLst/>
        </p:spPr>
        <p:txBody>
          <a:bodyPr wrap="none" lIns="9144" rIns="9144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350" b="1" i="0">
                <a:solidFill>
                  <a:srgbClr val="101010"/>
                </a:solidFill>
                <a:latin typeface="Times New Roman"/>
              </a:defRPr>
            </a:pPr>
            <a:r>
              <a:t>FC</a:t>
            </a:r>
          </a:p>
        </p:txBody>
      </p:sp>
      <p:cxnSp>
        <p:nvCxnSpPr>
          <p:cNvPr id="403" name="Connector 402"/>
          <p:cNvCxnSpPr/>
          <p:nvPr/>
        </p:nvCxnSpPr>
        <p:spPr>
          <a:xfrm>
            <a:off x="2048256" y="4206240"/>
            <a:ext cx="393192" cy="0"/>
          </a:xfrm>
          <a:prstGeom prst="line">
            <a:avLst/>
          </a:prstGeom>
          <a:ln w="28575">
            <a:solidFill>
              <a:srgbClr val="082B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4" name="Rectangle 403"/>
          <p:cNvSpPr/>
          <p:nvPr/>
        </p:nvSpPr>
        <p:spPr>
          <a:xfrm>
            <a:off x="2441448" y="3959352"/>
            <a:ext cx="338328" cy="493776"/>
          </a:xfrm>
          <a:prstGeom prst="rect">
            <a:avLst/>
          </a:prstGeom>
          <a:solidFill>
            <a:srgbClr val="D7E2EA"/>
          </a:solidFill>
          <a:ln w="17145">
            <a:solidFill>
              <a:srgbClr val="082B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TextBox 404"/>
          <p:cNvSpPr txBox="1"/>
          <p:nvPr/>
        </p:nvSpPr>
        <p:spPr>
          <a:xfrm>
            <a:off x="2441448" y="3959352"/>
            <a:ext cx="338328" cy="493776"/>
          </a:xfrm>
          <a:prstGeom prst="rect">
            <a:avLst/>
          </a:prstGeom>
          <a:noFill/>
          <a:effectLst/>
        </p:spPr>
        <p:txBody>
          <a:bodyPr wrap="none" lIns="9144" rIns="9144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350" b="1" i="0">
                <a:solidFill>
                  <a:srgbClr val="101010"/>
                </a:solidFill>
                <a:latin typeface="Times New Roman"/>
              </a:defRPr>
            </a:pPr>
            <a:r>
              <a:t>FC</a:t>
            </a:r>
          </a:p>
        </p:txBody>
      </p:sp>
      <p:cxnSp>
        <p:nvCxnSpPr>
          <p:cNvPr id="406" name="Connector 405"/>
          <p:cNvCxnSpPr/>
          <p:nvPr/>
        </p:nvCxnSpPr>
        <p:spPr>
          <a:xfrm>
            <a:off x="2779776" y="4206240"/>
            <a:ext cx="274320" cy="0"/>
          </a:xfrm>
          <a:prstGeom prst="line">
            <a:avLst/>
          </a:prstGeom>
          <a:ln w="28575">
            <a:solidFill>
              <a:srgbClr val="082B6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7" name="Connector 406"/>
          <p:cNvCxnSpPr/>
          <p:nvPr/>
        </p:nvCxnSpPr>
        <p:spPr>
          <a:xfrm>
            <a:off x="3054096" y="4206240"/>
            <a:ext cx="54864" cy="82296"/>
          </a:xfrm>
          <a:prstGeom prst="line">
            <a:avLst/>
          </a:prstGeom>
          <a:ln w="28575">
            <a:solidFill>
              <a:srgbClr val="082B6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8" name="Connector 407"/>
          <p:cNvCxnSpPr/>
          <p:nvPr/>
        </p:nvCxnSpPr>
        <p:spPr>
          <a:xfrm>
            <a:off x="3108960" y="4288536"/>
            <a:ext cx="0" cy="722376"/>
          </a:xfrm>
          <a:prstGeom prst="line">
            <a:avLst/>
          </a:prstGeom>
          <a:ln w="28575">
            <a:solidFill>
              <a:srgbClr val="082B6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9" name="Connector 408"/>
          <p:cNvCxnSpPr/>
          <p:nvPr/>
        </p:nvCxnSpPr>
        <p:spPr>
          <a:xfrm flipH="1">
            <a:off x="2990088" y="5010912"/>
            <a:ext cx="118872" cy="0"/>
          </a:xfrm>
          <a:prstGeom prst="line">
            <a:avLst/>
          </a:prstGeom>
          <a:ln w="28575">
            <a:solidFill>
              <a:srgbClr val="082B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0" name="Rectangle 409"/>
          <p:cNvSpPr/>
          <p:nvPr/>
        </p:nvSpPr>
        <p:spPr>
          <a:xfrm>
            <a:off x="2468880" y="4562856"/>
            <a:ext cx="292608" cy="905256"/>
          </a:xfrm>
          <a:prstGeom prst="rect">
            <a:avLst/>
          </a:prstGeom>
          <a:solidFill>
            <a:srgbClr val="FFF0A3"/>
          </a:solidFill>
          <a:ln w="17145">
            <a:solidFill>
              <a:srgbClr val="082B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TextBox 410"/>
          <p:cNvSpPr txBox="1"/>
          <p:nvPr/>
        </p:nvSpPr>
        <p:spPr>
          <a:xfrm rot="16200000">
            <a:off x="2468880" y="4562856"/>
            <a:ext cx="292608" cy="905256"/>
          </a:xfrm>
          <a:prstGeom prst="rect">
            <a:avLst/>
          </a:prstGeom>
          <a:noFill/>
          <a:effectLst/>
        </p:spPr>
        <p:txBody>
          <a:bodyPr wrap="none" lIns="9144" rIns="9144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275" b="1" i="0">
                <a:solidFill>
                  <a:srgbClr val="101010"/>
                </a:solidFill>
                <a:latin typeface="Times New Roman"/>
              </a:defRPr>
            </a:pPr>
            <a:r>
              <a:t>Softmax</a:t>
            </a:r>
          </a:p>
        </p:txBody>
      </p:sp>
      <p:cxnSp>
        <p:nvCxnSpPr>
          <p:cNvPr id="412" name="Connector 411"/>
          <p:cNvCxnSpPr/>
          <p:nvPr/>
        </p:nvCxnSpPr>
        <p:spPr>
          <a:xfrm flipH="1">
            <a:off x="2039112" y="5010912"/>
            <a:ext cx="429768" cy="0"/>
          </a:xfrm>
          <a:prstGeom prst="line">
            <a:avLst/>
          </a:prstGeom>
          <a:ln w="28575">
            <a:solidFill>
              <a:srgbClr val="082B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3" name="Rectangle 412"/>
          <p:cNvSpPr/>
          <p:nvPr/>
        </p:nvSpPr>
        <p:spPr>
          <a:xfrm>
            <a:off x="1719072" y="4718304"/>
            <a:ext cx="310896" cy="621792"/>
          </a:xfrm>
          <a:prstGeom prst="rect">
            <a:avLst/>
          </a:prstGeom>
          <a:solidFill>
            <a:srgbClr val="FFF0B8"/>
          </a:solidFill>
          <a:ln w="17145">
            <a:solidFill>
              <a:srgbClr val="082B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TextBox 413"/>
          <p:cNvSpPr txBox="1"/>
          <p:nvPr/>
        </p:nvSpPr>
        <p:spPr>
          <a:xfrm rot="16200000">
            <a:off x="1719072" y="4718304"/>
            <a:ext cx="310896" cy="621792"/>
          </a:xfrm>
          <a:prstGeom prst="rect">
            <a:avLst/>
          </a:prstGeom>
          <a:noFill/>
          <a:effectLst/>
        </p:spPr>
        <p:txBody>
          <a:bodyPr wrap="none" lIns="9144" rIns="9144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350" b="1" i="0">
                <a:solidFill>
                  <a:srgbClr val="101010"/>
                </a:solidFill>
                <a:latin typeface="Times New Roman"/>
              </a:defRPr>
            </a:pPr>
            <a:r>
              <a:t>L꜀ₑ</a:t>
            </a:r>
          </a:p>
        </p:txBody>
      </p:sp>
      <p:sp>
        <p:nvSpPr>
          <p:cNvPr id="415" name="TextBox 414"/>
          <p:cNvSpPr txBox="1"/>
          <p:nvPr/>
        </p:nvSpPr>
        <p:spPr>
          <a:xfrm>
            <a:off x="868680" y="5486400"/>
            <a:ext cx="1938528" cy="228600"/>
          </a:xfrm>
          <a:prstGeom prst="rect">
            <a:avLst/>
          </a:prstGeom>
          <a:noFill/>
          <a:effectLst/>
        </p:spPr>
        <p:txBody>
          <a:bodyPr wrap="none" lIns="9144" rIns="9144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275" b="1" i="0">
                <a:solidFill>
                  <a:srgbClr val="101010"/>
                </a:solidFill>
                <a:latin typeface="Times New Roman"/>
              </a:defRPr>
            </a:pPr>
            <a:r>
              <a:t>Evolutionary navigator</a:t>
            </a:r>
          </a:p>
        </p:txBody>
      </p:sp>
      <p:sp>
        <p:nvSpPr>
          <p:cNvPr id="416" name="Rounded Rectangle 415"/>
          <p:cNvSpPr/>
          <p:nvPr/>
        </p:nvSpPr>
        <p:spPr>
          <a:xfrm>
            <a:off x="438912" y="5852160"/>
            <a:ext cx="2788920" cy="1124712"/>
          </a:xfrm>
          <a:prstGeom prst="roundRect">
            <a:avLst/>
          </a:prstGeom>
          <a:solidFill>
            <a:srgbClr val="F7FAFB"/>
          </a:solidFill>
          <a:ln w="14287">
            <a:solidFill>
              <a:srgbClr val="65727A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Rectangle 416"/>
          <p:cNvSpPr/>
          <p:nvPr/>
        </p:nvSpPr>
        <p:spPr>
          <a:xfrm>
            <a:off x="557784" y="5907024"/>
            <a:ext cx="329184" cy="438912"/>
          </a:xfrm>
          <a:prstGeom prst="rect">
            <a:avLst/>
          </a:prstGeom>
          <a:solidFill>
            <a:srgbClr val="D7E2EA"/>
          </a:solidFill>
          <a:ln w="17145">
            <a:solidFill>
              <a:srgbClr val="082B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TextBox 417"/>
          <p:cNvSpPr txBox="1"/>
          <p:nvPr/>
        </p:nvSpPr>
        <p:spPr>
          <a:xfrm rot="16200000">
            <a:off x="557784" y="5907024"/>
            <a:ext cx="329184" cy="438912"/>
          </a:xfrm>
          <a:prstGeom prst="rect">
            <a:avLst/>
          </a:prstGeom>
          <a:noFill/>
          <a:effectLst/>
        </p:spPr>
        <p:txBody>
          <a:bodyPr wrap="none" lIns="9144" rIns="9144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101010"/>
                </a:solidFill>
                <a:latin typeface="Times New Roman"/>
              </a:defRPr>
            </a:pPr>
            <a:r>
              <a:t>FC</a:t>
            </a:r>
          </a:p>
        </p:txBody>
      </p:sp>
      <p:sp>
        <p:nvSpPr>
          <p:cNvPr id="419" name="TextBox 418"/>
          <p:cNvSpPr txBox="1"/>
          <p:nvPr/>
        </p:nvSpPr>
        <p:spPr>
          <a:xfrm>
            <a:off x="978408" y="5925312"/>
            <a:ext cx="2112264" cy="393192"/>
          </a:xfrm>
          <a:prstGeom prst="rect">
            <a:avLst/>
          </a:prstGeom>
          <a:noFill/>
          <a:effectLst/>
        </p:spPr>
        <p:txBody>
          <a:bodyPr wrap="none" lIns="9144" rIns="9144" tIns="0" bIns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101010"/>
                </a:solidFill>
                <a:latin typeface="Times New Roman"/>
              </a:defRPr>
            </a:pPr>
            <a:r>
              <a:t>Dimensions of fused views</a:t>
            </a:r>
          </a:p>
        </p:txBody>
      </p:sp>
      <p:sp>
        <p:nvSpPr>
          <p:cNvPr id="420" name="Rectangle 419"/>
          <p:cNvSpPr/>
          <p:nvPr/>
        </p:nvSpPr>
        <p:spPr>
          <a:xfrm>
            <a:off x="557784" y="6446520"/>
            <a:ext cx="329184" cy="438912"/>
          </a:xfrm>
          <a:prstGeom prst="rect">
            <a:avLst/>
          </a:prstGeom>
          <a:solidFill>
            <a:srgbClr val="D7E2EA"/>
          </a:solidFill>
          <a:ln w="17145">
            <a:solidFill>
              <a:srgbClr val="082B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TextBox 420"/>
          <p:cNvSpPr txBox="1"/>
          <p:nvPr/>
        </p:nvSpPr>
        <p:spPr>
          <a:xfrm rot="16200000">
            <a:off x="557784" y="6446520"/>
            <a:ext cx="329184" cy="438912"/>
          </a:xfrm>
          <a:prstGeom prst="rect">
            <a:avLst/>
          </a:prstGeom>
          <a:noFill/>
          <a:effectLst/>
        </p:spPr>
        <p:txBody>
          <a:bodyPr wrap="none" lIns="9144" rIns="9144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101010"/>
                </a:solidFill>
                <a:latin typeface="Times New Roman"/>
              </a:defRPr>
            </a:pPr>
            <a:r>
              <a:t>FC</a:t>
            </a:r>
          </a:p>
        </p:txBody>
      </p:sp>
      <p:sp>
        <p:nvSpPr>
          <p:cNvPr id="422" name="TextBox 421"/>
          <p:cNvSpPr txBox="1"/>
          <p:nvPr/>
        </p:nvSpPr>
        <p:spPr>
          <a:xfrm>
            <a:off x="978408" y="6428232"/>
            <a:ext cx="2157984" cy="475488"/>
          </a:xfrm>
          <a:prstGeom prst="rect">
            <a:avLst/>
          </a:prstGeom>
          <a:noFill/>
          <a:effectLst/>
        </p:spPr>
        <p:txBody>
          <a:bodyPr wrap="none" lIns="9144" rIns="9144" tIns="0" bIns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101010"/>
                </a:solidFill>
                <a:latin typeface="Times New Roman"/>
              </a:defRPr>
            </a:pPr>
            <a:r>
              <a:t>Dimensions of the number of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101010"/>
                </a:solidFill>
                <a:latin typeface="Times New Roman"/>
              </a:defRPr>
            </a:pPr>
            <a:r>
              <a:t>category</a:t>
            </a:r>
          </a:p>
        </p:txBody>
      </p:sp>
      <p:sp>
        <p:nvSpPr>
          <p:cNvPr id="423" name="Rounded Rectangle 422"/>
          <p:cNvSpPr/>
          <p:nvPr/>
        </p:nvSpPr>
        <p:spPr>
          <a:xfrm>
            <a:off x="3657600" y="2688336"/>
            <a:ext cx="1362456" cy="1408176"/>
          </a:xfrm>
          <a:prstGeom prst="roundRect">
            <a:avLst/>
          </a:prstGeom>
          <a:solidFill>
            <a:srgbClr val="F8FCFF"/>
          </a:solidFill>
          <a:ln w="14287">
            <a:solidFill>
              <a:srgbClr val="082B61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Rounded Rectangle 423"/>
          <p:cNvSpPr/>
          <p:nvPr/>
        </p:nvSpPr>
        <p:spPr>
          <a:xfrm>
            <a:off x="3785615" y="2807208"/>
            <a:ext cx="1133856" cy="393192"/>
          </a:xfrm>
          <a:prstGeom prst="roundRect">
            <a:avLst/>
          </a:prstGeom>
          <a:solidFill>
            <a:srgbClr val="FFF8D1"/>
          </a:solidFill>
          <a:ln w="9525">
            <a:solidFill>
              <a:srgbClr val="F1E2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Oval 424"/>
          <p:cNvSpPr/>
          <p:nvPr/>
        </p:nvSpPr>
        <p:spPr>
          <a:xfrm>
            <a:off x="3922776" y="2862072"/>
            <a:ext cx="109728" cy="109728"/>
          </a:xfrm>
          <a:prstGeom prst="ellipse">
            <a:avLst/>
          </a:prstGeom>
          <a:solidFill>
            <a:srgbClr val="4C8D35"/>
          </a:solidFill>
          <a:ln w="6667">
            <a:solidFill>
              <a:srgbClr val="4C8D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Oval 425"/>
          <p:cNvSpPr/>
          <p:nvPr/>
        </p:nvSpPr>
        <p:spPr>
          <a:xfrm>
            <a:off x="3893515" y="2942539"/>
            <a:ext cx="131673" cy="160934"/>
          </a:xfrm>
          <a:prstGeom prst="ellipse">
            <a:avLst/>
          </a:prstGeom>
          <a:solidFill>
            <a:srgbClr val="4C8D35"/>
          </a:solidFill>
          <a:ln w="6667">
            <a:solidFill>
              <a:srgbClr val="4C8D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Freeform 426"/>
          <p:cNvSpPr/>
          <p:nvPr/>
        </p:nvSpPr>
        <p:spPr>
          <a:xfrm>
            <a:off x="3995928" y="2926080"/>
            <a:ext cx="91440" cy="73152"/>
          </a:xfrm>
          <a:custGeom>
            <a:avLst/>
            <a:gdLst/>
            <a:ahLst/>
            <a:cxnLst/>
            <a:rect l="l" t="t" r="r" b="b"/>
            <a:pathLst>
              <a:path w="10" h="8">
                <a:moveTo>
                  <a:pt x="0" y="0"/>
                </a:moveTo>
                <a:lnTo>
                  <a:pt x="10" y="3"/>
                </a:lnTo>
                <a:lnTo>
                  <a:pt x="2" y="8"/>
                </a:lnTo>
                <a:close/>
              </a:path>
            </a:pathLst>
          </a:custGeom>
          <a:solidFill>
            <a:srgbClr val="4C8D35"/>
          </a:solidFill>
          <a:ln w="4762">
            <a:solidFill>
              <a:srgbClr val="4C8D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8" name="Connector 427"/>
          <p:cNvCxnSpPr/>
          <p:nvPr/>
        </p:nvCxnSpPr>
        <p:spPr>
          <a:xfrm flipV="1">
            <a:off x="4017873" y="2891332"/>
            <a:ext cx="65837" cy="21946"/>
          </a:xfrm>
          <a:prstGeom prst="line">
            <a:avLst/>
          </a:prstGeom>
          <a:ln w="9525">
            <a:solidFill>
              <a:srgbClr val="4C8D3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9" name="Oval 428"/>
          <p:cNvSpPr/>
          <p:nvPr/>
        </p:nvSpPr>
        <p:spPr>
          <a:xfrm>
            <a:off x="4076395" y="2876702"/>
            <a:ext cx="29260" cy="2926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Oval 429"/>
          <p:cNvSpPr/>
          <p:nvPr/>
        </p:nvSpPr>
        <p:spPr>
          <a:xfrm>
            <a:off x="4039819" y="2913278"/>
            <a:ext cx="29260" cy="2926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Oval 430"/>
          <p:cNvSpPr/>
          <p:nvPr/>
        </p:nvSpPr>
        <p:spPr>
          <a:xfrm>
            <a:off x="4187952" y="2862072"/>
            <a:ext cx="109728" cy="109728"/>
          </a:xfrm>
          <a:prstGeom prst="ellipse">
            <a:avLst/>
          </a:prstGeom>
          <a:solidFill>
            <a:srgbClr val="3D7CB8"/>
          </a:solidFill>
          <a:ln w="6667">
            <a:solidFill>
              <a:srgbClr val="3D7C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Oval 431"/>
          <p:cNvSpPr/>
          <p:nvPr/>
        </p:nvSpPr>
        <p:spPr>
          <a:xfrm>
            <a:off x="4158691" y="2942539"/>
            <a:ext cx="131673" cy="160934"/>
          </a:xfrm>
          <a:prstGeom prst="ellipse">
            <a:avLst/>
          </a:prstGeom>
          <a:solidFill>
            <a:srgbClr val="3D7CB8"/>
          </a:solidFill>
          <a:ln w="6667">
            <a:solidFill>
              <a:srgbClr val="3D7C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Freeform 432"/>
          <p:cNvSpPr/>
          <p:nvPr/>
        </p:nvSpPr>
        <p:spPr>
          <a:xfrm>
            <a:off x="4261104" y="2926080"/>
            <a:ext cx="91440" cy="73152"/>
          </a:xfrm>
          <a:custGeom>
            <a:avLst/>
            <a:gdLst/>
            <a:ahLst/>
            <a:cxnLst/>
            <a:rect l="l" t="t" r="r" b="b"/>
            <a:pathLst>
              <a:path w="10" h="8">
                <a:moveTo>
                  <a:pt x="0" y="0"/>
                </a:moveTo>
                <a:lnTo>
                  <a:pt x="10" y="3"/>
                </a:lnTo>
                <a:lnTo>
                  <a:pt x="2" y="8"/>
                </a:lnTo>
                <a:close/>
              </a:path>
            </a:pathLst>
          </a:custGeom>
          <a:solidFill>
            <a:srgbClr val="3D7CB8"/>
          </a:solidFill>
          <a:ln w="4762">
            <a:solidFill>
              <a:srgbClr val="3D7C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4" name="Connector 433"/>
          <p:cNvCxnSpPr/>
          <p:nvPr/>
        </p:nvCxnSpPr>
        <p:spPr>
          <a:xfrm flipV="1">
            <a:off x="4283049" y="2891332"/>
            <a:ext cx="65837" cy="21946"/>
          </a:xfrm>
          <a:prstGeom prst="line">
            <a:avLst/>
          </a:prstGeom>
          <a:ln w="9525">
            <a:solidFill>
              <a:srgbClr val="3D7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5" name="Oval 434"/>
          <p:cNvSpPr/>
          <p:nvPr/>
        </p:nvSpPr>
        <p:spPr>
          <a:xfrm>
            <a:off x="4341571" y="2876702"/>
            <a:ext cx="29260" cy="2926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Oval 435"/>
          <p:cNvSpPr/>
          <p:nvPr/>
        </p:nvSpPr>
        <p:spPr>
          <a:xfrm>
            <a:off x="4304995" y="2913278"/>
            <a:ext cx="29260" cy="2926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Oval 436"/>
          <p:cNvSpPr/>
          <p:nvPr/>
        </p:nvSpPr>
        <p:spPr>
          <a:xfrm>
            <a:off x="4507992" y="2990088"/>
            <a:ext cx="54864" cy="54864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Oval 437"/>
          <p:cNvSpPr/>
          <p:nvPr/>
        </p:nvSpPr>
        <p:spPr>
          <a:xfrm>
            <a:off x="4626864" y="2990088"/>
            <a:ext cx="54864" cy="54864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Oval 438"/>
          <p:cNvSpPr/>
          <p:nvPr/>
        </p:nvSpPr>
        <p:spPr>
          <a:xfrm>
            <a:off x="4745736" y="2990088"/>
            <a:ext cx="54864" cy="54864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TextBox 439"/>
          <p:cNvSpPr txBox="1"/>
          <p:nvPr/>
        </p:nvSpPr>
        <p:spPr>
          <a:xfrm>
            <a:off x="3767328" y="3209544"/>
            <a:ext cx="1143000" cy="493776"/>
          </a:xfrm>
          <a:prstGeom prst="rect">
            <a:avLst/>
          </a:prstGeom>
          <a:noFill/>
          <a:effectLst/>
        </p:spPr>
        <p:txBody>
          <a:bodyPr wrap="none" lIns="9144" rIns="9144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350" b="1" i="0">
                <a:solidFill>
                  <a:srgbClr val="101010"/>
                </a:solidFill>
                <a:latin typeface="Times New Roman"/>
              </a:defRPr>
            </a:pPr>
            <a:r>
              <a:t>Evolutionary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350" b="1" i="0">
                <a:solidFill>
                  <a:srgbClr val="101010"/>
                </a:solidFill>
                <a:latin typeface="Times New Roman"/>
              </a:defRPr>
            </a:pPr>
            <a:r>
              <a:t>navigator set</a:t>
            </a:r>
          </a:p>
        </p:txBody>
      </p:sp>
      <p:cxnSp>
        <p:nvCxnSpPr>
          <p:cNvPr id="441" name="Connector 440"/>
          <p:cNvCxnSpPr/>
          <p:nvPr/>
        </p:nvCxnSpPr>
        <p:spPr>
          <a:xfrm>
            <a:off x="4325112" y="3721608"/>
            <a:ext cx="0" cy="475488"/>
          </a:xfrm>
          <a:prstGeom prst="line">
            <a:avLst/>
          </a:prstGeom>
          <a:ln w="28575">
            <a:solidFill>
              <a:srgbClr val="082B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2" name="Rectangle 441"/>
          <p:cNvSpPr/>
          <p:nvPr/>
        </p:nvSpPr>
        <p:spPr>
          <a:xfrm>
            <a:off x="4352544" y="3822191"/>
            <a:ext cx="566928" cy="237744"/>
          </a:xfrm>
          <a:prstGeom prst="rect">
            <a:avLst/>
          </a:prstGeom>
          <a:solidFill>
            <a:srgbClr val="FFE03E"/>
          </a:solidFill>
          <a:ln w="9525">
            <a:solidFill>
              <a:srgbClr val="F0B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TextBox 442"/>
          <p:cNvSpPr txBox="1"/>
          <p:nvPr/>
        </p:nvSpPr>
        <p:spPr>
          <a:xfrm>
            <a:off x="4352544" y="3822191"/>
            <a:ext cx="566928" cy="237744"/>
          </a:xfrm>
          <a:prstGeom prst="rect">
            <a:avLst/>
          </a:prstGeom>
          <a:noFill/>
          <a:effectLst/>
        </p:spPr>
        <p:txBody>
          <a:bodyPr wrap="none" lIns="9144" rIns="9144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101010"/>
                </a:solidFill>
                <a:latin typeface="Times New Roman"/>
              </a:defRPr>
            </a:pPr>
            <a:r>
              <a:t>Search</a:t>
            </a:r>
          </a:p>
        </p:txBody>
      </p:sp>
      <p:sp>
        <p:nvSpPr>
          <p:cNvPr id="444" name="Rounded Rectangle 443"/>
          <p:cNvSpPr/>
          <p:nvPr/>
        </p:nvSpPr>
        <p:spPr>
          <a:xfrm>
            <a:off x="3666744" y="4215384"/>
            <a:ext cx="1353312" cy="1307592"/>
          </a:xfrm>
          <a:prstGeom prst="roundRect">
            <a:avLst/>
          </a:prstGeom>
          <a:solidFill>
            <a:srgbClr val="F8FCFF"/>
          </a:solidFill>
          <a:ln w="14287">
            <a:solidFill>
              <a:srgbClr val="082B61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" name="Rounded Rectangle 444"/>
          <p:cNvSpPr/>
          <p:nvPr/>
        </p:nvSpPr>
        <p:spPr>
          <a:xfrm>
            <a:off x="3785615" y="4352544"/>
            <a:ext cx="1124712" cy="402336"/>
          </a:xfrm>
          <a:prstGeom prst="roundRect">
            <a:avLst/>
          </a:prstGeom>
          <a:solidFill>
            <a:srgbClr val="FFF7D2"/>
          </a:solidFill>
          <a:ln w="9525">
            <a:solidFill>
              <a:srgbClr val="F1E2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Oval 445"/>
          <p:cNvSpPr/>
          <p:nvPr/>
        </p:nvSpPr>
        <p:spPr>
          <a:xfrm>
            <a:off x="3913632" y="4407408"/>
            <a:ext cx="109728" cy="109728"/>
          </a:xfrm>
          <a:prstGeom prst="ellipse">
            <a:avLst/>
          </a:prstGeom>
          <a:solidFill>
            <a:srgbClr val="FDA978"/>
          </a:solidFill>
          <a:ln w="6667">
            <a:solidFill>
              <a:srgbClr val="FDA9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Oval 446"/>
          <p:cNvSpPr/>
          <p:nvPr/>
        </p:nvSpPr>
        <p:spPr>
          <a:xfrm>
            <a:off x="3884371" y="4487875"/>
            <a:ext cx="131673" cy="160934"/>
          </a:xfrm>
          <a:prstGeom prst="ellipse">
            <a:avLst/>
          </a:prstGeom>
          <a:solidFill>
            <a:srgbClr val="FDA978"/>
          </a:solidFill>
          <a:ln w="6667">
            <a:solidFill>
              <a:srgbClr val="FDA9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Freeform 447"/>
          <p:cNvSpPr/>
          <p:nvPr/>
        </p:nvSpPr>
        <p:spPr>
          <a:xfrm>
            <a:off x="3986784" y="4471416"/>
            <a:ext cx="91440" cy="73152"/>
          </a:xfrm>
          <a:custGeom>
            <a:avLst/>
            <a:gdLst/>
            <a:ahLst/>
            <a:cxnLst/>
            <a:rect l="l" t="t" r="r" b="b"/>
            <a:pathLst>
              <a:path w="10" h="8">
                <a:moveTo>
                  <a:pt x="0" y="0"/>
                </a:moveTo>
                <a:lnTo>
                  <a:pt x="10" y="3"/>
                </a:lnTo>
                <a:lnTo>
                  <a:pt x="2" y="8"/>
                </a:lnTo>
                <a:close/>
              </a:path>
            </a:pathLst>
          </a:custGeom>
          <a:solidFill>
            <a:srgbClr val="FDA978"/>
          </a:solidFill>
          <a:ln w="4762">
            <a:solidFill>
              <a:srgbClr val="FDA9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9" name="Connector 448"/>
          <p:cNvCxnSpPr/>
          <p:nvPr/>
        </p:nvCxnSpPr>
        <p:spPr>
          <a:xfrm flipV="1">
            <a:off x="4008729" y="4436668"/>
            <a:ext cx="65837" cy="21946"/>
          </a:xfrm>
          <a:prstGeom prst="line">
            <a:avLst/>
          </a:prstGeom>
          <a:ln w="9525">
            <a:solidFill>
              <a:srgbClr val="FDA9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0" name="Oval 449"/>
          <p:cNvSpPr/>
          <p:nvPr/>
        </p:nvSpPr>
        <p:spPr>
          <a:xfrm>
            <a:off x="4067251" y="4422038"/>
            <a:ext cx="29260" cy="2926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" name="Oval 450"/>
          <p:cNvSpPr/>
          <p:nvPr/>
        </p:nvSpPr>
        <p:spPr>
          <a:xfrm>
            <a:off x="4030675" y="4458614"/>
            <a:ext cx="29260" cy="2926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Oval 451"/>
          <p:cNvSpPr/>
          <p:nvPr/>
        </p:nvSpPr>
        <p:spPr>
          <a:xfrm>
            <a:off x="4572000" y="4407408"/>
            <a:ext cx="109728" cy="109728"/>
          </a:xfrm>
          <a:prstGeom prst="ellipse">
            <a:avLst/>
          </a:prstGeom>
          <a:solidFill>
            <a:srgbClr val="9ECB69"/>
          </a:solidFill>
          <a:ln w="6667">
            <a:solidFill>
              <a:srgbClr val="9ECB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" name="Oval 452"/>
          <p:cNvSpPr/>
          <p:nvPr/>
        </p:nvSpPr>
        <p:spPr>
          <a:xfrm>
            <a:off x="4542739" y="4487875"/>
            <a:ext cx="131673" cy="160934"/>
          </a:xfrm>
          <a:prstGeom prst="ellipse">
            <a:avLst/>
          </a:prstGeom>
          <a:solidFill>
            <a:srgbClr val="9ECB69"/>
          </a:solidFill>
          <a:ln w="6667">
            <a:solidFill>
              <a:srgbClr val="9ECB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" name="Freeform 453"/>
          <p:cNvSpPr/>
          <p:nvPr/>
        </p:nvSpPr>
        <p:spPr>
          <a:xfrm>
            <a:off x="4645152" y="4471416"/>
            <a:ext cx="91440" cy="73152"/>
          </a:xfrm>
          <a:custGeom>
            <a:avLst/>
            <a:gdLst/>
            <a:ahLst/>
            <a:cxnLst/>
            <a:rect l="l" t="t" r="r" b="b"/>
            <a:pathLst>
              <a:path w="10" h="8">
                <a:moveTo>
                  <a:pt x="0" y="0"/>
                </a:moveTo>
                <a:lnTo>
                  <a:pt x="10" y="3"/>
                </a:lnTo>
                <a:lnTo>
                  <a:pt x="2" y="8"/>
                </a:lnTo>
                <a:close/>
              </a:path>
            </a:pathLst>
          </a:custGeom>
          <a:solidFill>
            <a:srgbClr val="9ECB69"/>
          </a:solidFill>
          <a:ln w="4762">
            <a:solidFill>
              <a:srgbClr val="9ECB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5" name="Connector 454"/>
          <p:cNvCxnSpPr/>
          <p:nvPr/>
        </p:nvCxnSpPr>
        <p:spPr>
          <a:xfrm flipV="1">
            <a:off x="4667097" y="4436668"/>
            <a:ext cx="65837" cy="21946"/>
          </a:xfrm>
          <a:prstGeom prst="line">
            <a:avLst/>
          </a:prstGeom>
          <a:ln w="9525">
            <a:solidFill>
              <a:srgbClr val="9ECB6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6" name="Oval 455"/>
          <p:cNvSpPr/>
          <p:nvPr/>
        </p:nvSpPr>
        <p:spPr>
          <a:xfrm>
            <a:off x="4725619" y="4422038"/>
            <a:ext cx="29260" cy="2926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" name="Oval 456"/>
          <p:cNvSpPr/>
          <p:nvPr/>
        </p:nvSpPr>
        <p:spPr>
          <a:xfrm>
            <a:off x="4689043" y="4458614"/>
            <a:ext cx="29260" cy="2926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TextBox 457"/>
          <p:cNvSpPr txBox="1"/>
          <p:nvPr/>
        </p:nvSpPr>
        <p:spPr>
          <a:xfrm>
            <a:off x="3739896" y="4754880"/>
            <a:ext cx="1225296" cy="694944"/>
          </a:xfrm>
          <a:prstGeom prst="rect">
            <a:avLst/>
          </a:prstGeom>
          <a:noFill/>
          <a:effectLst/>
        </p:spPr>
        <p:txBody>
          <a:bodyPr wrap="none" lIns="9144" rIns="9144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275" b="1" i="0">
                <a:solidFill>
                  <a:srgbClr val="101010"/>
                </a:solidFill>
                <a:latin typeface="Times New Roman"/>
              </a:defRPr>
            </a:pPr>
            <a:r>
              <a:t>Evolutionary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275" b="1" i="0">
                <a:solidFill>
                  <a:srgbClr val="101010"/>
                </a:solidFill>
                <a:latin typeface="Times New Roman"/>
              </a:defRPr>
            </a:pPr>
            <a:r>
              <a:t>navigators of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275" b="1" i="0">
                <a:solidFill>
                  <a:srgbClr val="101010"/>
                </a:solidFill>
                <a:latin typeface="Times New Roman"/>
              </a:defRPr>
            </a:pPr>
            <a:r>
              <a:t>individual</a:t>
            </a:r>
          </a:p>
        </p:txBody>
      </p:sp>
      <p:sp>
        <p:nvSpPr>
          <p:cNvPr id="459" name="Rounded Rectangle 458"/>
          <p:cNvSpPr/>
          <p:nvPr/>
        </p:nvSpPr>
        <p:spPr>
          <a:xfrm>
            <a:off x="3803904" y="5705856"/>
            <a:ext cx="1078992" cy="1115568"/>
          </a:xfrm>
          <a:prstGeom prst="roundRect">
            <a:avLst/>
          </a:prstGeom>
          <a:solidFill>
            <a:srgbClr val="F8FCFF"/>
          </a:solidFill>
          <a:ln w="14287">
            <a:solidFill>
              <a:srgbClr val="082B61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" name="Oval 459"/>
          <p:cNvSpPr/>
          <p:nvPr/>
        </p:nvSpPr>
        <p:spPr>
          <a:xfrm>
            <a:off x="4187952" y="5779008"/>
            <a:ext cx="292608" cy="292608"/>
          </a:xfrm>
          <a:prstGeom prst="ellipse">
            <a:avLst/>
          </a:prstGeom>
          <a:solidFill>
            <a:srgbClr val="B5C8E8"/>
          </a:solidFill>
          <a:ln w="16192">
            <a:solidFill>
              <a:srgbClr val="082B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" name="Oval 460"/>
          <p:cNvSpPr/>
          <p:nvPr/>
        </p:nvSpPr>
        <p:spPr>
          <a:xfrm>
            <a:off x="3913632" y="6291072"/>
            <a:ext cx="338328" cy="228600"/>
          </a:xfrm>
          <a:prstGeom prst="ellipse">
            <a:avLst/>
          </a:prstGeom>
          <a:solidFill>
            <a:srgbClr val="FDA978"/>
          </a:solidFill>
          <a:ln w="14287">
            <a:solidFill>
              <a:srgbClr val="082B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" name="Oval 461"/>
          <p:cNvSpPr/>
          <p:nvPr/>
        </p:nvSpPr>
        <p:spPr>
          <a:xfrm>
            <a:off x="4425696" y="6291072"/>
            <a:ext cx="338328" cy="228600"/>
          </a:xfrm>
          <a:prstGeom prst="ellipse">
            <a:avLst/>
          </a:prstGeom>
          <a:solidFill>
            <a:srgbClr val="9ECB69"/>
          </a:solidFill>
          <a:ln w="14287">
            <a:solidFill>
              <a:srgbClr val="082B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3" name="Connector 462"/>
          <p:cNvCxnSpPr/>
          <p:nvPr/>
        </p:nvCxnSpPr>
        <p:spPr>
          <a:xfrm flipH="1">
            <a:off x="4078224" y="6080760"/>
            <a:ext cx="256032" cy="210312"/>
          </a:xfrm>
          <a:prstGeom prst="line">
            <a:avLst/>
          </a:prstGeom>
          <a:ln w="28575">
            <a:solidFill>
              <a:srgbClr val="082B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4" name="Connector 463"/>
          <p:cNvCxnSpPr/>
          <p:nvPr/>
        </p:nvCxnSpPr>
        <p:spPr>
          <a:xfrm>
            <a:off x="4334256" y="6080760"/>
            <a:ext cx="265176" cy="210312"/>
          </a:xfrm>
          <a:prstGeom prst="line">
            <a:avLst/>
          </a:prstGeom>
          <a:ln w="28575">
            <a:solidFill>
              <a:srgbClr val="082B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5" name="TextBox 464"/>
          <p:cNvSpPr txBox="1"/>
          <p:nvPr/>
        </p:nvSpPr>
        <p:spPr>
          <a:xfrm>
            <a:off x="3867912" y="6528816"/>
            <a:ext cx="960120" cy="237744"/>
          </a:xfrm>
          <a:prstGeom prst="rect">
            <a:avLst/>
          </a:prstGeom>
          <a:noFill/>
          <a:effectLst/>
        </p:spPr>
        <p:txBody>
          <a:bodyPr wrap="none" lIns="9144" rIns="9144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275" b="1" i="0">
                <a:solidFill>
                  <a:srgbClr val="101010"/>
                </a:solidFill>
                <a:latin typeface="Times New Roman"/>
              </a:defRPr>
            </a:pPr>
            <a:r>
              <a:t>Individual</a:t>
            </a:r>
          </a:p>
        </p:txBody>
      </p:sp>
      <p:cxnSp>
        <p:nvCxnSpPr>
          <p:cNvPr id="466" name="Connector 465"/>
          <p:cNvCxnSpPr/>
          <p:nvPr/>
        </p:nvCxnSpPr>
        <p:spPr>
          <a:xfrm>
            <a:off x="4882896" y="5961888"/>
            <a:ext cx="950976" cy="0"/>
          </a:xfrm>
          <a:prstGeom prst="line">
            <a:avLst/>
          </a:prstGeom>
          <a:ln w="28575">
            <a:solidFill>
              <a:srgbClr val="082B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7" name="TextBox 466"/>
          <p:cNvSpPr txBox="1"/>
          <p:nvPr/>
        </p:nvSpPr>
        <p:spPr>
          <a:xfrm>
            <a:off x="5056632" y="5742432"/>
            <a:ext cx="585216" cy="246888"/>
          </a:xfrm>
          <a:prstGeom prst="rect">
            <a:avLst/>
          </a:prstGeom>
          <a:noFill/>
          <a:effectLst/>
        </p:spPr>
        <p:txBody>
          <a:bodyPr wrap="none" lIns="9144" rIns="9144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101010"/>
                </a:solidFill>
                <a:latin typeface="Times New Roman"/>
              </a:defRPr>
            </a:pPr>
            <a:r>
              <a:t>Decode</a:t>
            </a:r>
          </a:p>
        </p:txBody>
      </p:sp>
      <p:cxnSp>
        <p:nvCxnSpPr>
          <p:cNvPr id="468" name="Connector 467"/>
          <p:cNvCxnSpPr/>
          <p:nvPr/>
        </p:nvCxnSpPr>
        <p:spPr>
          <a:xfrm flipH="1">
            <a:off x="4882896" y="6519672"/>
            <a:ext cx="950976" cy="0"/>
          </a:xfrm>
          <a:prstGeom prst="line">
            <a:avLst/>
          </a:prstGeom>
          <a:ln w="28575">
            <a:solidFill>
              <a:srgbClr val="082B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9" name="TextBox 468"/>
          <p:cNvSpPr txBox="1"/>
          <p:nvPr/>
        </p:nvSpPr>
        <p:spPr>
          <a:xfrm>
            <a:off x="5056632" y="6455664"/>
            <a:ext cx="585216" cy="237744"/>
          </a:xfrm>
          <a:prstGeom prst="rect">
            <a:avLst/>
          </a:prstGeom>
          <a:noFill/>
          <a:effectLst/>
        </p:spPr>
        <p:txBody>
          <a:bodyPr wrap="none" lIns="9144" rIns="9144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101010"/>
                </a:solidFill>
                <a:latin typeface="Times New Roman"/>
              </a:defRPr>
            </a:pPr>
            <a:r>
              <a:t>Encode</a:t>
            </a:r>
          </a:p>
        </p:txBody>
      </p:sp>
      <p:cxnSp>
        <p:nvCxnSpPr>
          <p:cNvPr id="470" name="Connector 469"/>
          <p:cNvCxnSpPr/>
          <p:nvPr/>
        </p:nvCxnSpPr>
        <p:spPr>
          <a:xfrm>
            <a:off x="5020056" y="4882896"/>
            <a:ext cx="365760" cy="0"/>
          </a:xfrm>
          <a:prstGeom prst="line">
            <a:avLst/>
          </a:prstGeom>
          <a:ln w="28575">
            <a:solidFill>
              <a:srgbClr val="082B6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1" name="Connector 470"/>
          <p:cNvCxnSpPr/>
          <p:nvPr/>
        </p:nvCxnSpPr>
        <p:spPr>
          <a:xfrm>
            <a:off x="5385816" y="4882896"/>
            <a:ext cx="27432" cy="91440"/>
          </a:xfrm>
          <a:prstGeom prst="line">
            <a:avLst/>
          </a:prstGeom>
          <a:ln w="28575">
            <a:solidFill>
              <a:srgbClr val="082B6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2" name="Connector 471"/>
          <p:cNvCxnSpPr/>
          <p:nvPr/>
        </p:nvCxnSpPr>
        <p:spPr>
          <a:xfrm>
            <a:off x="5413248" y="4974336"/>
            <a:ext cx="0" cy="978408"/>
          </a:xfrm>
          <a:prstGeom prst="line">
            <a:avLst/>
          </a:prstGeom>
          <a:ln w="28575">
            <a:solidFill>
              <a:srgbClr val="082B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3" name="Rectangle 472"/>
          <p:cNvSpPr/>
          <p:nvPr/>
        </p:nvSpPr>
        <p:spPr>
          <a:xfrm>
            <a:off x="5394960" y="4983480"/>
            <a:ext cx="237744" cy="612648"/>
          </a:xfrm>
          <a:prstGeom prst="rect">
            <a:avLst/>
          </a:prstGeom>
          <a:solidFill>
            <a:srgbClr val="FFE85B"/>
          </a:solidFill>
          <a:ln w="9525">
            <a:solidFill>
              <a:srgbClr val="F3B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" name="TextBox 473"/>
          <p:cNvSpPr txBox="1"/>
          <p:nvPr/>
        </p:nvSpPr>
        <p:spPr>
          <a:xfrm rot="16200000">
            <a:off x="5394960" y="4983480"/>
            <a:ext cx="237744" cy="612648"/>
          </a:xfrm>
          <a:prstGeom prst="rect">
            <a:avLst/>
          </a:prstGeom>
          <a:noFill/>
          <a:effectLst/>
        </p:spPr>
        <p:txBody>
          <a:bodyPr wrap="none" lIns="9144" rIns="9144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101010"/>
                </a:solidFill>
                <a:latin typeface="Times New Roman"/>
              </a:defRPr>
            </a:pPr>
            <a:r>
              <a:t>Guide</a:t>
            </a:r>
          </a:p>
        </p:txBody>
      </p:sp>
      <p:sp>
        <p:nvSpPr>
          <p:cNvPr id="475" name="Rounded Rectangle 474"/>
          <p:cNvSpPr/>
          <p:nvPr/>
        </p:nvSpPr>
        <p:spPr>
          <a:xfrm>
            <a:off x="5897880" y="2468880"/>
            <a:ext cx="3657600" cy="914400"/>
          </a:xfrm>
          <a:prstGeom prst="roundRect">
            <a:avLst/>
          </a:prstGeom>
          <a:solidFill>
            <a:srgbClr val="FFF0E7"/>
          </a:solidFill>
          <a:ln w="16192">
            <a:solidFill>
              <a:srgbClr val="FDA978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" name="TextBox 475"/>
          <p:cNvSpPr txBox="1"/>
          <p:nvPr/>
        </p:nvSpPr>
        <p:spPr>
          <a:xfrm>
            <a:off x="5952744" y="2468880"/>
            <a:ext cx="2011680" cy="246888"/>
          </a:xfrm>
          <a:prstGeom prst="rect">
            <a:avLst/>
          </a:prstGeom>
          <a:noFill/>
          <a:effectLst/>
        </p:spPr>
        <p:txBody>
          <a:bodyPr wrap="none" lIns="9144" rIns="9144" tIns="0" bIns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650" b="1" i="0">
                <a:solidFill>
                  <a:srgbClr val="3187D8"/>
                </a:solidFill>
                <a:latin typeface="Times New Roman"/>
              </a:defRPr>
            </a:pPr>
            <a:r>
              <a:t>❄ Parameter freeze</a:t>
            </a:r>
          </a:p>
        </p:txBody>
      </p:sp>
      <p:sp>
        <p:nvSpPr>
          <p:cNvPr id="477" name="Rounded Rectangle 476"/>
          <p:cNvSpPr/>
          <p:nvPr/>
        </p:nvSpPr>
        <p:spPr>
          <a:xfrm>
            <a:off x="5897880" y="6144768"/>
            <a:ext cx="3657600" cy="896112"/>
          </a:xfrm>
          <a:prstGeom prst="roundRect">
            <a:avLst/>
          </a:prstGeom>
          <a:solidFill>
            <a:srgbClr val="EDF7E8"/>
          </a:solidFill>
          <a:ln w="16192">
            <a:solidFill>
              <a:srgbClr val="9ECB69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" name="TextBox 477"/>
          <p:cNvSpPr txBox="1"/>
          <p:nvPr/>
        </p:nvSpPr>
        <p:spPr>
          <a:xfrm>
            <a:off x="5952744" y="6748272"/>
            <a:ext cx="2011680" cy="246888"/>
          </a:xfrm>
          <a:prstGeom prst="rect">
            <a:avLst/>
          </a:prstGeom>
          <a:noFill/>
          <a:effectLst/>
        </p:spPr>
        <p:txBody>
          <a:bodyPr wrap="none" lIns="9144" rIns="9144" tIns="0" bIns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650" b="1" i="0">
                <a:solidFill>
                  <a:srgbClr val="3187D8"/>
                </a:solidFill>
                <a:latin typeface="Times New Roman"/>
              </a:defRPr>
            </a:pPr>
            <a:r>
              <a:t>❄ Parameter freeze</a:t>
            </a:r>
          </a:p>
        </p:txBody>
      </p:sp>
      <p:sp>
        <p:nvSpPr>
          <p:cNvPr id="479" name="Oval 478"/>
          <p:cNvSpPr/>
          <p:nvPr/>
        </p:nvSpPr>
        <p:spPr>
          <a:xfrm>
            <a:off x="5961888" y="2788920"/>
            <a:ext cx="832104" cy="365760"/>
          </a:xfrm>
          <a:prstGeom prst="ellipse">
            <a:avLst/>
          </a:prstGeom>
          <a:solidFill>
            <a:srgbClr val="FDA978"/>
          </a:solidFill>
          <a:ln w="15240">
            <a:solidFill>
              <a:srgbClr val="082B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" name="TextBox 479"/>
          <p:cNvSpPr txBox="1"/>
          <p:nvPr/>
        </p:nvSpPr>
        <p:spPr>
          <a:xfrm>
            <a:off x="5980176" y="2807208"/>
            <a:ext cx="795528" cy="329184"/>
          </a:xfrm>
          <a:prstGeom prst="rect">
            <a:avLst/>
          </a:prstGeom>
          <a:noFill/>
          <a:effectLst/>
        </p:spPr>
        <p:txBody>
          <a:bodyPr wrap="none" lIns="9144" rIns="9144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350" b="1" i="0">
                <a:solidFill>
                  <a:srgbClr val="101010"/>
                </a:solidFill>
                <a:latin typeface="Times New Roman"/>
              </a:defRPr>
            </a:pPr>
            <a:r>
              <a:t>View⁽¹⁾</a:t>
            </a:r>
          </a:p>
        </p:txBody>
      </p:sp>
      <p:sp>
        <p:nvSpPr>
          <p:cNvPr id="481" name="Oval 480"/>
          <p:cNvSpPr/>
          <p:nvPr/>
        </p:nvSpPr>
        <p:spPr>
          <a:xfrm>
            <a:off x="5961888" y="3776472"/>
            <a:ext cx="832104" cy="365760"/>
          </a:xfrm>
          <a:prstGeom prst="ellipse">
            <a:avLst/>
          </a:prstGeom>
          <a:solidFill>
            <a:srgbClr val="FDA978"/>
          </a:solidFill>
          <a:ln w="15240">
            <a:solidFill>
              <a:srgbClr val="082B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" name="TextBox 481"/>
          <p:cNvSpPr txBox="1"/>
          <p:nvPr/>
        </p:nvSpPr>
        <p:spPr>
          <a:xfrm>
            <a:off x="5980176" y="3794760"/>
            <a:ext cx="795528" cy="329184"/>
          </a:xfrm>
          <a:prstGeom prst="rect">
            <a:avLst/>
          </a:prstGeom>
          <a:noFill/>
          <a:effectLst/>
        </p:spPr>
        <p:txBody>
          <a:bodyPr wrap="none" lIns="9144" rIns="9144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350" b="1" i="0">
                <a:solidFill>
                  <a:srgbClr val="101010"/>
                </a:solidFill>
                <a:latin typeface="Times New Roman"/>
              </a:defRPr>
            </a:pPr>
            <a:r>
              <a:t>View⁽¹⁾</a:t>
            </a:r>
          </a:p>
        </p:txBody>
      </p:sp>
      <p:sp>
        <p:nvSpPr>
          <p:cNvPr id="483" name="Oval 482"/>
          <p:cNvSpPr/>
          <p:nvPr/>
        </p:nvSpPr>
        <p:spPr>
          <a:xfrm>
            <a:off x="5961888" y="5157216"/>
            <a:ext cx="832104" cy="365760"/>
          </a:xfrm>
          <a:prstGeom prst="ellipse">
            <a:avLst/>
          </a:prstGeom>
          <a:solidFill>
            <a:srgbClr val="9ECB69"/>
          </a:solidFill>
          <a:ln w="15240">
            <a:solidFill>
              <a:srgbClr val="082B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" name="TextBox 483"/>
          <p:cNvSpPr txBox="1"/>
          <p:nvPr/>
        </p:nvSpPr>
        <p:spPr>
          <a:xfrm>
            <a:off x="5980176" y="5175504"/>
            <a:ext cx="795528" cy="329184"/>
          </a:xfrm>
          <a:prstGeom prst="rect">
            <a:avLst/>
          </a:prstGeom>
          <a:noFill/>
          <a:effectLst/>
        </p:spPr>
        <p:txBody>
          <a:bodyPr wrap="none" lIns="9144" rIns="9144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350" b="1" i="0">
                <a:solidFill>
                  <a:srgbClr val="101010"/>
                </a:solidFill>
                <a:latin typeface="Times New Roman"/>
              </a:defRPr>
            </a:pPr>
            <a:r>
              <a:t>View⁽²⁾</a:t>
            </a:r>
          </a:p>
        </p:txBody>
      </p:sp>
      <p:sp>
        <p:nvSpPr>
          <p:cNvPr id="485" name="Oval 484"/>
          <p:cNvSpPr/>
          <p:nvPr/>
        </p:nvSpPr>
        <p:spPr>
          <a:xfrm>
            <a:off x="5961888" y="6281928"/>
            <a:ext cx="832104" cy="365760"/>
          </a:xfrm>
          <a:prstGeom prst="ellipse">
            <a:avLst/>
          </a:prstGeom>
          <a:solidFill>
            <a:srgbClr val="9ECB69"/>
          </a:solidFill>
          <a:ln w="15240">
            <a:solidFill>
              <a:srgbClr val="082B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" name="TextBox 485"/>
          <p:cNvSpPr txBox="1"/>
          <p:nvPr/>
        </p:nvSpPr>
        <p:spPr>
          <a:xfrm>
            <a:off x="5980176" y="6300216"/>
            <a:ext cx="795528" cy="329184"/>
          </a:xfrm>
          <a:prstGeom prst="rect">
            <a:avLst/>
          </a:prstGeom>
          <a:noFill/>
          <a:effectLst/>
        </p:spPr>
        <p:txBody>
          <a:bodyPr wrap="none" lIns="9144" rIns="9144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350" b="1" i="0">
                <a:solidFill>
                  <a:srgbClr val="101010"/>
                </a:solidFill>
                <a:latin typeface="Times New Roman"/>
              </a:defRPr>
            </a:pPr>
            <a:r>
              <a:t>View⁽²⁾</a:t>
            </a:r>
          </a:p>
        </p:txBody>
      </p:sp>
      <p:cxnSp>
        <p:nvCxnSpPr>
          <p:cNvPr id="487" name="Connector 486"/>
          <p:cNvCxnSpPr/>
          <p:nvPr/>
        </p:nvCxnSpPr>
        <p:spPr>
          <a:xfrm>
            <a:off x="6793992" y="2971800"/>
            <a:ext cx="1042416" cy="0"/>
          </a:xfrm>
          <a:prstGeom prst="line">
            <a:avLst/>
          </a:prstGeom>
          <a:ln w="28575">
            <a:solidFill>
              <a:srgbClr val="082B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8" name="Rectangle 487"/>
          <p:cNvSpPr/>
          <p:nvPr/>
        </p:nvSpPr>
        <p:spPr>
          <a:xfrm>
            <a:off x="7836408" y="2660904"/>
            <a:ext cx="347472" cy="502920"/>
          </a:xfrm>
          <a:prstGeom prst="rect">
            <a:avLst/>
          </a:prstGeom>
          <a:solidFill>
            <a:srgbClr val="D7E2EA"/>
          </a:solidFill>
          <a:ln w="17145">
            <a:solidFill>
              <a:srgbClr val="082B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" name="TextBox 488"/>
          <p:cNvSpPr txBox="1"/>
          <p:nvPr/>
        </p:nvSpPr>
        <p:spPr>
          <a:xfrm rot="16200000">
            <a:off x="7836408" y="2660904"/>
            <a:ext cx="347472" cy="502920"/>
          </a:xfrm>
          <a:prstGeom prst="rect">
            <a:avLst/>
          </a:prstGeom>
          <a:noFill/>
          <a:effectLst/>
        </p:spPr>
        <p:txBody>
          <a:bodyPr wrap="none" lIns="9144" rIns="9144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350" b="1" i="0">
                <a:solidFill>
                  <a:srgbClr val="101010"/>
                </a:solidFill>
                <a:latin typeface="Times New Roman"/>
              </a:defRPr>
            </a:pPr>
            <a:r>
              <a:t>FC</a:t>
            </a:r>
          </a:p>
        </p:txBody>
      </p:sp>
      <p:cxnSp>
        <p:nvCxnSpPr>
          <p:cNvPr id="490" name="Connector 489"/>
          <p:cNvCxnSpPr/>
          <p:nvPr/>
        </p:nvCxnSpPr>
        <p:spPr>
          <a:xfrm>
            <a:off x="8183880" y="2916936"/>
            <a:ext cx="347472" cy="0"/>
          </a:xfrm>
          <a:prstGeom prst="line">
            <a:avLst/>
          </a:prstGeom>
          <a:ln w="28575">
            <a:solidFill>
              <a:srgbClr val="082B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1" name="Rounded Rectangle 490"/>
          <p:cNvSpPr/>
          <p:nvPr/>
        </p:nvSpPr>
        <p:spPr>
          <a:xfrm>
            <a:off x="8558784" y="2551176"/>
            <a:ext cx="210312" cy="768096"/>
          </a:xfrm>
          <a:prstGeom prst="roundRect">
            <a:avLst/>
          </a:prstGeom>
          <a:solidFill>
            <a:srgbClr val="F5F5F3"/>
          </a:solidFill>
          <a:ln w="16192">
            <a:solidFill>
              <a:srgbClr val="082B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" name="Oval 491"/>
          <p:cNvSpPr/>
          <p:nvPr/>
        </p:nvSpPr>
        <p:spPr>
          <a:xfrm>
            <a:off x="8629192" y="2607868"/>
            <a:ext cx="69494" cy="69494"/>
          </a:xfrm>
          <a:prstGeom prst="ellipse">
            <a:avLst/>
          </a:prstGeom>
          <a:solidFill>
            <a:srgbClr val="111111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" name="Oval 492"/>
          <p:cNvSpPr/>
          <p:nvPr/>
        </p:nvSpPr>
        <p:spPr>
          <a:xfrm>
            <a:off x="8629192" y="2802940"/>
            <a:ext cx="69494" cy="69494"/>
          </a:xfrm>
          <a:prstGeom prst="ellipse">
            <a:avLst/>
          </a:prstGeom>
          <a:solidFill>
            <a:srgbClr val="111111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" name="Oval 493"/>
          <p:cNvSpPr/>
          <p:nvPr/>
        </p:nvSpPr>
        <p:spPr>
          <a:xfrm>
            <a:off x="8629192" y="2998012"/>
            <a:ext cx="69494" cy="69494"/>
          </a:xfrm>
          <a:prstGeom prst="ellipse">
            <a:avLst/>
          </a:prstGeom>
          <a:solidFill>
            <a:srgbClr val="111111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" name="Oval 494"/>
          <p:cNvSpPr/>
          <p:nvPr/>
        </p:nvSpPr>
        <p:spPr>
          <a:xfrm>
            <a:off x="8629192" y="3193084"/>
            <a:ext cx="69494" cy="69494"/>
          </a:xfrm>
          <a:prstGeom prst="ellipse">
            <a:avLst/>
          </a:prstGeom>
          <a:solidFill>
            <a:srgbClr val="111111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" name="Oval 495"/>
          <p:cNvSpPr/>
          <p:nvPr/>
        </p:nvSpPr>
        <p:spPr>
          <a:xfrm>
            <a:off x="8613648" y="2596896"/>
            <a:ext cx="100584" cy="100584"/>
          </a:xfrm>
          <a:prstGeom prst="ellipse">
            <a:avLst/>
          </a:prstGeom>
          <a:solidFill>
            <a:srgbClr val="F49B56"/>
          </a:solidFill>
          <a:ln w="9525">
            <a:solidFill>
              <a:srgbClr val="082B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" name="Oval 496"/>
          <p:cNvSpPr/>
          <p:nvPr/>
        </p:nvSpPr>
        <p:spPr>
          <a:xfrm>
            <a:off x="8613648" y="3172968"/>
            <a:ext cx="100584" cy="100584"/>
          </a:xfrm>
          <a:prstGeom prst="ellipse">
            <a:avLst/>
          </a:prstGeom>
          <a:solidFill>
            <a:srgbClr val="F49B56"/>
          </a:solidFill>
          <a:ln w="9525">
            <a:solidFill>
              <a:srgbClr val="082B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8" name="Connector 497"/>
          <p:cNvCxnSpPr/>
          <p:nvPr/>
        </p:nvCxnSpPr>
        <p:spPr>
          <a:xfrm>
            <a:off x="8769096" y="2916936"/>
            <a:ext cx="365760" cy="0"/>
          </a:xfrm>
          <a:prstGeom prst="line">
            <a:avLst/>
          </a:prstGeom>
          <a:ln w="28575">
            <a:solidFill>
              <a:srgbClr val="082B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9" name="Rectangle 498"/>
          <p:cNvSpPr/>
          <p:nvPr/>
        </p:nvSpPr>
        <p:spPr>
          <a:xfrm>
            <a:off x="9134856" y="2679192"/>
            <a:ext cx="329184" cy="457200"/>
          </a:xfrm>
          <a:prstGeom prst="rect">
            <a:avLst/>
          </a:prstGeom>
          <a:solidFill>
            <a:srgbClr val="D7E2EA"/>
          </a:solidFill>
          <a:ln w="17145">
            <a:solidFill>
              <a:srgbClr val="082B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" name="TextBox 499"/>
          <p:cNvSpPr txBox="1"/>
          <p:nvPr/>
        </p:nvSpPr>
        <p:spPr>
          <a:xfrm rot="16200000">
            <a:off x="9134856" y="2679192"/>
            <a:ext cx="329184" cy="457200"/>
          </a:xfrm>
          <a:prstGeom prst="rect">
            <a:avLst/>
          </a:prstGeom>
          <a:noFill/>
          <a:effectLst/>
        </p:spPr>
        <p:txBody>
          <a:bodyPr wrap="none" lIns="9144" rIns="9144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350" b="1" i="0">
                <a:solidFill>
                  <a:srgbClr val="101010"/>
                </a:solidFill>
                <a:latin typeface="Times New Roman"/>
              </a:defRPr>
            </a:pPr>
            <a:r>
              <a:t>FC</a:t>
            </a:r>
          </a:p>
        </p:txBody>
      </p:sp>
      <p:cxnSp>
        <p:nvCxnSpPr>
          <p:cNvPr id="501" name="Connector 500"/>
          <p:cNvCxnSpPr/>
          <p:nvPr/>
        </p:nvCxnSpPr>
        <p:spPr>
          <a:xfrm>
            <a:off x="9464040" y="2916936"/>
            <a:ext cx="621792" cy="0"/>
          </a:xfrm>
          <a:prstGeom prst="line">
            <a:avLst/>
          </a:prstGeom>
          <a:ln w="28575">
            <a:solidFill>
              <a:srgbClr val="082B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2" name="Rounded Rectangle 501"/>
          <p:cNvSpPr/>
          <p:nvPr/>
        </p:nvSpPr>
        <p:spPr>
          <a:xfrm>
            <a:off x="10113264" y="2560320"/>
            <a:ext cx="201168" cy="758952"/>
          </a:xfrm>
          <a:prstGeom prst="roundRect">
            <a:avLst/>
          </a:prstGeom>
          <a:solidFill>
            <a:srgbClr val="F5F5F3"/>
          </a:solidFill>
          <a:ln w="16192">
            <a:solidFill>
              <a:srgbClr val="082B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" name="Oval 502"/>
          <p:cNvSpPr/>
          <p:nvPr/>
        </p:nvSpPr>
        <p:spPr>
          <a:xfrm>
            <a:off x="10179100" y="2617012"/>
            <a:ext cx="69494" cy="69494"/>
          </a:xfrm>
          <a:prstGeom prst="ellipse">
            <a:avLst/>
          </a:prstGeom>
          <a:solidFill>
            <a:srgbClr val="111111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" name="Oval 503"/>
          <p:cNvSpPr/>
          <p:nvPr/>
        </p:nvSpPr>
        <p:spPr>
          <a:xfrm>
            <a:off x="10179100" y="2809036"/>
            <a:ext cx="69494" cy="69494"/>
          </a:xfrm>
          <a:prstGeom prst="ellipse">
            <a:avLst/>
          </a:prstGeom>
          <a:solidFill>
            <a:srgbClr val="111111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" name="Oval 504"/>
          <p:cNvSpPr/>
          <p:nvPr/>
        </p:nvSpPr>
        <p:spPr>
          <a:xfrm>
            <a:off x="10179100" y="3001060"/>
            <a:ext cx="69494" cy="69494"/>
          </a:xfrm>
          <a:prstGeom prst="ellipse">
            <a:avLst/>
          </a:prstGeom>
          <a:solidFill>
            <a:srgbClr val="111111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" name="Oval 505"/>
          <p:cNvSpPr/>
          <p:nvPr/>
        </p:nvSpPr>
        <p:spPr>
          <a:xfrm>
            <a:off x="10179100" y="3193084"/>
            <a:ext cx="69494" cy="69494"/>
          </a:xfrm>
          <a:prstGeom prst="ellipse">
            <a:avLst/>
          </a:prstGeom>
          <a:solidFill>
            <a:srgbClr val="111111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" name="Oval 506"/>
          <p:cNvSpPr/>
          <p:nvPr/>
        </p:nvSpPr>
        <p:spPr>
          <a:xfrm>
            <a:off x="10163556" y="2606040"/>
            <a:ext cx="100584" cy="100584"/>
          </a:xfrm>
          <a:prstGeom prst="ellipse">
            <a:avLst/>
          </a:prstGeom>
          <a:solidFill>
            <a:srgbClr val="F49B56"/>
          </a:solidFill>
          <a:ln w="9525">
            <a:solidFill>
              <a:srgbClr val="082B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" name="Oval 507"/>
          <p:cNvSpPr/>
          <p:nvPr/>
        </p:nvSpPr>
        <p:spPr>
          <a:xfrm>
            <a:off x="10163556" y="3172968"/>
            <a:ext cx="100584" cy="100584"/>
          </a:xfrm>
          <a:prstGeom prst="ellipse">
            <a:avLst/>
          </a:prstGeom>
          <a:solidFill>
            <a:srgbClr val="F49B56"/>
          </a:solidFill>
          <a:ln w="9525">
            <a:solidFill>
              <a:srgbClr val="082B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9" name="Connector 508"/>
          <p:cNvCxnSpPr/>
          <p:nvPr/>
        </p:nvCxnSpPr>
        <p:spPr>
          <a:xfrm>
            <a:off x="6793992" y="3959352"/>
            <a:ext cx="1042416" cy="0"/>
          </a:xfrm>
          <a:prstGeom prst="line">
            <a:avLst/>
          </a:prstGeom>
          <a:ln w="28575">
            <a:solidFill>
              <a:srgbClr val="082B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0" name="Rectangle 509"/>
          <p:cNvSpPr/>
          <p:nvPr/>
        </p:nvSpPr>
        <p:spPr>
          <a:xfrm>
            <a:off x="7836408" y="3712464"/>
            <a:ext cx="347472" cy="502920"/>
          </a:xfrm>
          <a:prstGeom prst="rect">
            <a:avLst/>
          </a:prstGeom>
          <a:solidFill>
            <a:srgbClr val="D7E2EA"/>
          </a:solidFill>
          <a:ln w="17145">
            <a:solidFill>
              <a:srgbClr val="082B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" name="TextBox 510"/>
          <p:cNvSpPr txBox="1"/>
          <p:nvPr/>
        </p:nvSpPr>
        <p:spPr>
          <a:xfrm rot="16200000">
            <a:off x="7836408" y="3712464"/>
            <a:ext cx="347472" cy="502920"/>
          </a:xfrm>
          <a:prstGeom prst="rect">
            <a:avLst/>
          </a:prstGeom>
          <a:noFill/>
          <a:effectLst/>
        </p:spPr>
        <p:txBody>
          <a:bodyPr wrap="none" lIns="9144" rIns="9144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350" b="1" i="0">
                <a:solidFill>
                  <a:srgbClr val="101010"/>
                </a:solidFill>
                <a:latin typeface="Times New Roman"/>
              </a:defRPr>
            </a:pPr>
            <a:r>
              <a:t>FC</a:t>
            </a:r>
          </a:p>
        </p:txBody>
      </p:sp>
      <p:cxnSp>
        <p:nvCxnSpPr>
          <p:cNvPr id="512" name="Connector 511"/>
          <p:cNvCxnSpPr/>
          <p:nvPr/>
        </p:nvCxnSpPr>
        <p:spPr>
          <a:xfrm>
            <a:off x="8183880" y="3959352"/>
            <a:ext cx="356616" cy="0"/>
          </a:xfrm>
          <a:prstGeom prst="line">
            <a:avLst/>
          </a:prstGeom>
          <a:ln w="28575">
            <a:solidFill>
              <a:srgbClr val="082B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3" name="Rounded Rectangle 512"/>
          <p:cNvSpPr/>
          <p:nvPr/>
        </p:nvSpPr>
        <p:spPr>
          <a:xfrm>
            <a:off x="8558784" y="3593592"/>
            <a:ext cx="210312" cy="768096"/>
          </a:xfrm>
          <a:prstGeom prst="roundRect">
            <a:avLst/>
          </a:prstGeom>
          <a:solidFill>
            <a:srgbClr val="F5F5F3"/>
          </a:solidFill>
          <a:ln w="16192">
            <a:solidFill>
              <a:srgbClr val="082B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" name="Oval 513"/>
          <p:cNvSpPr/>
          <p:nvPr/>
        </p:nvSpPr>
        <p:spPr>
          <a:xfrm>
            <a:off x="8629192" y="3650284"/>
            <a:ext cx="69494" cy="69494"/>
          </a:xfrm>
          <a:prstGeom prst="ellipse">
            <a:avLst/>
          </a:prstGeom>
          <a:solidFill>
            <a:srgbClr val="111111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5" name="Oval 514"/>
          <p:cNvSpPr/>
          <p:nvPr/>
        </p:nvSpPr>
        <p:spPr>
          <a:xfrm>
            <a:off x="8629192" y="3845356"/>
            <a:ext cx="69494" cy="69494"/>
          </a:xfrm>
          <a:prstGeom prst="ellipse">
            <a:avLst/>
          </a:prstGeom>
          <a:solidFill>
            <a:srgbClr val="111111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" name="Oval 515"/>
          <p:cNvSpPr/>
          <p:nvPr/>
        </p:nvSpPr>
        <p:spPr>
          <a:xfrm>
            <a:off x="8629192" y="4040428"/>
            <a:ext cx="69494" cy="69494"/>
          </a:xfrm>
          <a:prstGeom prst="ellipse">
            <a:avLst/>
          </a:prstGeom>
          <a:solidFill>
            <a:srgbClr val="111111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" name="Oval 516"/>
          <p:cNvSpPr/>
          <p:nvPr/>
        </p:nvSpPr>
        <p:spPr>
          <a:xfrm>
            <a:off x="8629192" y="4235500"/>
            <a:ext cx="69494" cy="69494"/>
          </a:xfrm>
          <a:prstGeom prst="ellipse">
            <a:avLst/>
          </a:prstGeom>
          <a:solidFill>
            <a:srgbClr val="111111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" name="Oval 517"/>
          <p:cNvSpPr/>
          <p:nvPr/>
        </p:nvSpPr>
        <p:spPr>
          <a:xfrm>
            <a:off x="8613648" y="3639312"/>
            <a:ext cx="100584" cy="100584"/>
          </a:xfrm>
          <a:prstGeom prst="ellipse">
            <a:avLst/>
          </a:prstGeom>
          <a:solidFill>
            <a:srgbClr val="FDA978"/>
          </a:solidFill>
          <a:ln w="9525">
            <a:solidFill>
              <a:srgbClr val="082B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9" name="Oval 518"/>
          <p:cNvSpPr/>
          <p:nvPr/>
        </p:nvSpPr>
        <p:spPr>
          <a:xfrm>
            <a:off x="8613648" y="4215384"/>
            <a:ext cx="100584" cy="100584"/>
          </a:xfrm>
          <a:prstGeom prst="ellipse">
            <a:avLst/>
          </a:prstGeom>
          <a:solidFill>
            <a:srgbClr val="FDA978"/>
          </a:solidFill>
          <a:ln w="9525">
            <a:solidFill>
              <a:srgbClr val="082B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0" name="Connector 519"/>
          <p:cNvCxnSpPr/>
          <p:nvPr/>
        </p:nvCxnSpPr>
        <p:spPr>
          <a:xfrm>
            <a:off x="8769096" y="3785615"/>
            <a:ext cx="246888" cy="0"/>
          </a:xfrm>
          <a:prstGeom prst="line">
            <a:avLst/>
          </a:prstGeom>
          <a:ln w="28575">
            <a:solidFill>
              <a:srgbClr val="082B6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1" name="Connector 520"/>
          <p:cNvCxnSpPr/>
          <p:nvPr/>
        </p:nvCxnSpPr>
        <p:spPr>
          <a:xfrm>
            <a:off x="9015984" y="3785615"/>
            <a:ext cx="0" cy="987553"/>
          </a:xfrm>
          <a:prstGeom prst="line">
            <a:avLst/>
          </a:prstGeom>
          <a:ln w="28575">
            <a:solidFill>
              <a:srgbClr val="082B6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2" name="Connector 521"/>
          <p:cNvCxnSpPr/>
          <p:nvPr/>
        </p:nvCxnSpPr>
        <p:spPr>
          <a:xfrm>
            <a:off x="9015984" y="4773168"/>
            <a:ext cx="475488" cy="0"/>
          </a:xfrm>
          <a:prstGeom prst="line">
            <a:avLst/>
          </a:prstGeom>
          <a:ln w="28575">
            <a:solidFill>
              <a:srgbClr val="082B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3" name="Connector 522"/>
          <p:cNvCxnSpPr/>
          <p:nvPr/>
        </p:nvCxnSpPr>
        <p:spPr>
          <a:xfrm>
            <a:off x="8769096" y="4133088"/>
            <a:ext cx="246888" cy="0"/>
          </a:xfrm>
          <a:prstGeom prst="line">
            <a:avLst/>
          </a:prstGeom>
          <a:ln w="28575">
            <a:solidFill>
              <a:srgbClr val="082B6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4" name="Connector 523"/>
          <p:cNvCxnSpPr/>
          <p:nvPr/>
        </p:nvCxnSpPr>
        <p:spPr>
          <a:xfrm flipV="1">
            <a:off x="9015984" y="3730752"/>
            <a:ext cx="0" cy="402336"/>
          </a:xfrm>
          <a:prstGeom prst="line">
            <a:avLst/>
          </a:prstGeom>
          <a:ln w="28575">
            <a:solidFill>
              <a:srgbClr val="082B6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5" name="Connector 524"/>
          <p:cNvCxnSpPr/>
          <p:nvPr/>
        </p:nvCxnSpPr>
        <p:spPr>
          <a:xfrm>
            <a:off x="9015984" y="3730752"/>
            <a:ext cx="365760" cy="0"/>
          </a:xfrm>
          <a:prstGeom prst="line">
            <a:avLst/>
          </a:prstGeom>
          <a:ln w="28575">
            <a:solidFill>
              <a:srgbClr val="082B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6" name="Rectangle 525"/>
          <p:cNvSpPr/>
          <p:nvPr/>
        </p:nvSpPr>
        <p:spPr>
          <a:xfrm>
            <a:off x="9381744" y="3474720"/>
            <a:ext cx="347472" cy="521208"/>
          </a:xfrm>
          <a:prstGeom prst="rect">
            <a:avLst/>
          </a:prstGeom>
          <a:solidFill>
            <a:srgbClr val="D7E2EA"/>
          </a:solidFill>
          <a:ln w="17145">
            <a:solidFill>
              <a:srgbClr val="082B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7" name="TextBox 526"/>
          <p:cNvSpPr txBox="1"/>
          <p:nvPr/>
        </p:nvSpPr>
        <p:spPr>
          <a:xfrm rot="16200000">
            <a:off x="9381744" y="3474720"/>
            <a:ext cx="347472" cy="521208"/>
          </a:xfrm>
          <a:prstGeom prst="rect">
            <a:avLst/>
          </a:prstGeom>
          <a:noFill/>
          <a:effectLst/>
        </p:spPr>
        <p:txBody>
          <a:bodyPr wrap="none" lIns="9144" rIns="9144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350" b="1" i="0">
                <a:solidFill>
                  <a:srgbClr val="101010"/>
                </a:solidFill>
                <a:latin typeface="Times New Roman"/>
              </a:defRPr>
            </a:pPr>
            <a:r>
              <a:t>FC</a:t>
            </a:r>
          </a:p>
        </p:txBody>
      </p:sp>
      <p:cxnSp>
        <p:nvCxnSpPr>
          <p:cNvPr id="528" name="Connector 527"/>
          <p:cNvCxnSpPr/>
          <p:nvPr/>
        </p:nvCxnSpPr>
        <p:spPr>
          <a:xfrm>
            <a:off x="9729216" y="3730752"/>
            <a:ext cx="365760" cy="0"/>
          </a:xfrm>
          <a:prstGeom prst="line">
            <a:avLst/>
          </a:prstGeom>
          <a:ln w="28575">
            <a:solidFill>
              <a:srgbClr val="082B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9" name="Rounded Rectangle 528"/>
          <p:cNvSpPr/>
          <p:nvPr/>
        </p:nvSpPr>
        <p:spPr>
          <a:xfrm>
            <a:off x="10113264" y="3374136"/>
            <a:ext cx="201168" cy="758952"/>
          </a:xfrm>
          <a:prstGeom prst="roundRect">
            <a:avLst/>
          </a:prstGeom>
          <a:solidFill>
            <a:srgbClr val="F5F5F3"/>
          </a:solidFill>
          <a:ln w="16192">
            <a:solidFill>
              <a:srgbClr val="082B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" name="Oval 529"/>
          <p:cNvSpPr/>
          <p:nvPr/>
        </p:nvSpPr>
        <p:spPr>
          <a:xfrm>
            <a:off x="10179100" y="3430828"/>
            <a:ext cx="69494" cy="69494"/>
          </a:xfrm>
          <a:prstGeom prst="ellipse">
            <a:avLst/>
          </a:prstGeom>
          <a:solidFill>
            <a:srgbClr val="111111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1" name="Oval 530"/>
          <p:cNvSpPr/>
          <p:nvPr/>
        </p:nvSpPr>
        <p:spPr>
          <a:xfrm>
            <a:off x="10179100" y="3622852"/>
            <a:ext cx="69494" cy="69494"/>
          </a:xfrm>
          <a:prstGeom prst="ellipse">
            <a:avLst/>
          </a:prstGeom>
          <a:solidFill>
            <a:srgbClr val="111111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2" name="Oval 531"/>
          <p:cNvSpPr/>
          <p:nvPr/>
        </p:nvSpPr>
        <p:spPr>
          <a:xfrm>
            <a:off x="10179100" y="3814876"/>
            <a:ext cx="69494" cy="69494"/>
          </a:xfrm>
          <a:prstGeom prst="ellipse">
            <a:avLst/>
          </a:prstGeom>
          <a:solidFill>
            <a:srgbClr val="111111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3" name="Oval 532"/>
          <p:cNvSpPr/>
          <p:nvPr/>
        </p:nvSpPr>
        <p:spPr>
          <a:xfrm>
            <a:off x="10179100" y="4006900"/>
            <a:ext cx="69494" cy="69494"/>
          </a:xfrm>
          <a:prstGeom prst="ellipse">
            <a:avLst/>
          </a:prstGeom>
          <a:solidFill>
            <a:srgbClr val="111111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4" name="Oval 533"/>
          <p:cNvSpPr/>
          <p:nvPr/>
        </p:nvSpPr>
        <p:spPr>
          <a:xfrm>
            <a:off x="10163556" y="3419856"/>
            <a:ext cx="100584" cy="100584"/>
          </a:xfrm>
          <a:prstGeom prst="ellipse">
            <a:avLst/>
          </a:prstGeom>
          <a:solidFill>
            <a:srgbClr val="FDA978"/>
          </a:solidFill>
          <a:ln w="9525">
            <a:solidFill>
              <a:srgbClr val="082B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5" name="Oval 534"/>
          <p:cNvSpPr/>
          <p:nvPr/>
        </p:nvSpPr>
        <p:spPr>
          <a:xfrm>
            <a:off x="10163556" y="3986784"/>
            <a:ext cx="100584" cy="100584"/>
          </a:xfrm>
          <a:prstGeom prst="ellipse">
            <a:avLst/>
          </a:prstGeom>
          <a:solidFill>
            <a:srgbClr val="FDA978"/>
          </a:solidFill>
          <a:ln w="9525">
            <a:solidFill>
              <a:srgbClr val="082B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6" name="Connector 535"/>
          <p:cNvCxnSpPr/>
          <p:nvPr/>
        </p:nvCxnSpPr>
        <p:spPr>
          <a:xfrm>
            <a:off x="6793992" y="5340096"/>
            <a:ext cx="1042416" cy="0"/>
          </a:xfrm>
          <a:prstGeom prst="line">
            <a:avLst/>
          </a:prstGeom>
          <a:ln w="28575">
            <a:solidFill>
              <a:srgbClr val="082B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7" name="Rectangle 536"/>
          <p:cNvSpPr/>
          <p:nvPr/>
        </p:nvSpPr>
        <p:spPr>
          <a:xfrm>
            <a:off x="7836408" y="5093208"/>
            <a:ext cx="347472" cy="502920"/>
          </a:xfrm>
          <a:prstGeom prst="rect">
            <a:avLst/>
          </a:prstGeom>
          <a:solidFill>
            <a:srgbClr val="D7E2EA"/>
          </a:solidFill>
          <a:ln w="17145">
            <a:solidFill>
              <a:srgbClr val="082B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8" name="TextBox 537"/>
          <p:cNvSpPr txBox="1"/>
          <p:nvPr/>
        </p:nvSpPr>
        <p:spPr>
          <a:xfrm rot="16200000">
            <a:off x="7836408" y="5093208"/>
            <a:ext cx="347472" cy="502920"/>
          </a:xfrm>
          <a:prstGeom prst="rect">
            <a:avLst/>
          </a:prstGeom>
          <a:noFill/>
          <a:effectLst/>
        </p:spPr>
        <p:txBody>
          <a:bodyPr wrap="none" lIns="9144" rIns="9144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350" b="1" i="0">
                <a:solidFill>
                  <a:srgbClr val="101010"/>
                </a:solidFill>
                <a:latin typeface="Times New Roman"/>
              </a:defRPr>
            </a:pPr>
            <a:r>
              <a:t>FC</a:t>
            </a:r>
          </a:p>
        </p:txBody>
      </p:sp>
      <p:cxnSp>
        <p:nvCxnSpPr>
          <p:cNvPr id="539" name="Connector 538"/>
          <p:cNvCxnSpPr/>
          <p:nvPr/>
        </p:nvCxnSpPr>
        <p:spPr>
          <a:xfrm>
            <a:off x="8183880" y="5340096"/>
            <a:ext cx="356616" cy="0"/>
          </a:xfrm>
          <a:prstGeom prst="line">
            <a:avLst/>
          </a:prstGeom>
          <a:ln w="28575">
            <a:solidFill>
              <a:srgbClr val="082B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0" name="Rounded Rectangle 539"/>
          <p:cNvSpPr/>
          <p:nvPr/>
        </p:nvSpPr>
        <p:spPr>
          <a:xfrm>
            <a:off x="8558784" y="4974336"/>
            <a:ext cx="210312" cy="768096"/>
          </a:xfrm>
          <a:prstGeom prst="roundRect">
            <a:avLst/>
          </a:prstGeom>
          <a:solidFill>
            <a:srgbClr val="F5F5F3"/>
          </a:solidFill>
          <a:ln w="16192">
            <a:solidFill>
              <a:srgbClr val="082B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Oval 540"/>
          <p:cNvSpPr/>
          <p:nvPr/>
        </p:nvSpPr>
        <p:spPr>
          <a:xfrm>
            <a:off x="8629192" y="5031028"/>
            <a:ext cx="69494" cy="69494"/>
          </a:xfrm>
          <a:prstGeom prst="ellipse">
            <a:avLst/>
          </a:prstGeom>
          <a:solidFill>
            <a:srgbClr val="111111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Oval 541"/>
          <p:cNvSpPr/>
          <p:nvPr/>
        </p:nvSpPr>
        <p:spPr>
          <a:xfrm>
            <a:off x="8629192" y="5226100"/>
            <a:ext cx="69494" cy="69494"/>
          </a:xfrm>
          <a:prstGeom prst="ellipse">
            <a:avLst/>
          </a:prstGeom>
          <a:solidFill>
            <a:srgbClr val="111111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Oval 542"/>
          <p:cNvSpPr/>
          <p:nvPr/>
        </p:nvSpPr>
        <p:spPr>
          <a:xfrm>
            <a:off x="8629192" y="5421172"/>
            <a:ext cx="69494" cy="69494"/>
          </a:xfrm>
          <a:prstGeom prst="ellipse">
            <a:avLst/>
          </a:prstGeom>
          <a:solidFill>
            <a:srgbClr val="111111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4" name="Oval 543"/>
          <p:cNvSpPr/>
          <p:nvPr/>
        </p:nvSpPr>
        <p:spPr>
          <a:xfrm>
            <a:off x="8629192" y="5616244"/>
            <a:ext cx="69494" cy="69494"/>
          </a:xfrm>
          <a:prstGeom prst="ellipse">
            <a:avLst/>
          </a:prstGeom>
          <a:solidFill>
            <a:srgbClr val="111111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" name="Oval 544"/>
          <p:cNvSpPr/>
          <p:nvPr/>
        </p:nvSpPr>
        <p:spPr>
          <a:xfrm>
            <a:off x="8613648" y="5020056"/>
            <a:ext cx="100584" cy="100584"/>
          </a:xfrm>
          <a:prstGeom prst="ellipse">
            <a:avLst/>
          </a:prstGeom>
          <a:solidFill>
            <a:srgbClr val="9ECB69"/>
          </a:solidFill>
          <a:ln w="9525">
            <a:solidFill>
              <a:srgbClr val="082B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Oval 545"/>
          <p:cNvSpPr/>
          <p:nvPr/>
        </p:nvSpPr>
        <p:spPr>
          <a:xfrm>
            <a:off x="8613648" y="5596128"/>
            <a:ext cx="100584" cy="100584"/>
          </a:xfrm>
          <a:prstGeom prst="ellipse">
            <a:avLst/>
          </a:prstGeom>
          <a:solidFill>
            <a:srgbClr val="9ECB69"/>
          </a:solidFill>
          <a:ln w="9525">
            <a:solidFill>
              <a:srgbClr val="082B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7" name="Connector 546"/>
          <p:cNvCxnSpPr/>
          <p:nvPr/>
        </p:nvCxnSpPr>
        <p:spPr>
          <a:xfrm>
            <a:off x="8769096" y="5166360"/>
            <a:ext cx="246888" cy="0"/>
          </a:xfrm>
          <a:prstGeom prst="line">
            <a:avLst/>
          </a:prstGeom>
          <a:ln w="28575">
            <a:solidFill>
              <a:srgbClr val="082B6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8" name="Connector 547"/>
          <p:cNvCxnSpPr/>
          <p:nvPr/>
        </p:nvCxnSpPr>
        <p:spPr>
          <a:xfrm flipV="1">
            <a:off x="9015984" y="4773168"/>
            <a:ext cx="0" cy="393192"/>
          </a:xfrm>
          <a:prstGeom prst="line">
            <a:avLst/>
          </a:prstGeom>
          <a:ln w="28575">
            <a:solidFill>
              <a:srgbClr val="082B6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9" name="Connector 548"/>
          <p:cNvCxnSpPr/>
          <p:nvPr/>
        </p:nvCxnSpPr>
        <p:spPr>
          <a:xfrm>
            <a:off x="9015984" y="4773168"/>
            <a:ext cx="475488" cy="0"/>
          </a:xfrm>
          <a:prstGeom prst="line">
            <a:avLst/>
          </a:prstGeom>
          <a:ln w="28575">
            <a:solidFill>
              <a:srgbClr val="082B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0" name="Connector 549"/>
          <p:cNvCxnSpPr/>
          <p:nvPr/>
        </p:nvCxnSpPr>
        <p:spPr>
          <a:xfrm>
            <a:off x="8769096" y="5513832"/>
            <a:ext cx="246888" cy="0"/>
          </a:xfrm>
          <a:prstGeom prst="line">
            <a:avLst/>
          </a:prstGeom>
          <a:ln w="28575">
            <a:solidFill>
              <a:srgbClr val="082B6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1" name="Connector 550"/>
          <p:cNvCxnSpPr/>
          <p:nvPr/>
        </p:nvCxnSpPr>
        <p:spPr>
          <a:xfrm>
            <a:off x="9015984" y="5513832"/>
            <a:ext cx="0" cy="237744"/>
          </a:xfrm>
          <a:prstGeom prst="line">
            <a:avLst/>
          </a:prstGeom>
          <a:ln w="28575">
            <a:solidFill>
              <a:srgbClr val="082B6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2" name="Connector 551"/>
          <p:cNvCxnSpPr/>
          <p:nvPr/>
        </p:nvCxnSpPr>
        <p:spPr>
          <a:xfrm>
            <a:off x="9015984" y="5751576"/>
            <a:ext cx="365760" cy="0"/>
          </a:xfrm>
          <a:prstGeom prst="line">
            <a:avLst/>
          </a:prstGeom>
          <a:ln w="28575">
            <a:solidFill>
              <a:srgbClr val="082B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3" name="Rectangle 552"/>
          <p:cNvSpPr/>
          <p:nvPr/>
        </p:nvSpPr>
        <p:spPr>
          <a:xfrm>
            <a:off x="9381744" y="5486400"/>
            <a:ext cx="347472" cy="521208"/>
          </a:xfrm>
          <a:prstGeom prst="rect">
            <a:avLst/>
          </a:prstGeom>
          <a:solidFill>
            <a:srgbClr val="D7E2EA"/>
          </a:solidFill>
          <a:ln w="17145">
            <a:solidFill>
              <a:srgbClr val="082B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4" name="TextBox 553"/>
          <p:cNvSpPr txBox="1"/>
          <p:nvPr/>
        </p:nvSpPr>
        <p:spPr>
          <a:xfrm rot="16200000">
            <a:off x="9381744" y="5486400"/>
            <a:ext cx="347472" cy="521208"/>
          </a:xfrm>
          <a:prstGeom prst="rect">
            <a:avLst/>
          </a:prstGeom>
          <a:noFill/>
          <a:effectLst/>
        </p:spPr>
        <p:txBody>
          <a:bodyPr wrap="none" lIns="9144" rIns="9144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350" b="1" i="0">
                <a:solidFill>
                  <a:srgbClr val="101010"/>
                </a:solidFill>
                <a:latin typeface="Times New Roman"/>
              </a:defRPr>
            </a:pPr>
            <a:r>
              <a:t>FC</a:t>
            </a:r>
          </a:p>
        </p:txBody>
      </p:sp>
      <p:cxnSp>
        <p:nvCxnSpPr>
          <p:cNvPr id="555" name="Connector 554"/>
          <p:cNvCxnSpPr/>
          <p:nvPr/>
        </p:nvCxnSpPr>
        <p:spPr>
          <a:xfrm>
            <a:off x="9729216" y="5751576"/>
            <a:ext cx="365760" cy="0"/>
          </a:xfrm>
          <a:prstGeom prst="line">
            <a:avLst/>
          </a:prstGeom>
          <a:ln w="28575">
            <a:solidFill>
              <a:srgbClr val="082B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6" name="Rounded Rectangle 555"/>
          <p:cNvSpPr/>
          <p:nvPr/>
        </p:nvSpPr>
        <p:spPr>
          <a:xfrm>
            <a:off x="10113264" y="5394960"/>
            <a:ext cx="201168" cy="758952"/>
          </a:xfrm>
          <a:prstGeom prst="roundRect">
            <a:avLst/>
          </a:prstGeom>
          <a:solidFill>
            <a:srgbClr val="F5F5F3"/>
          </a:solidFill>
          <a:ln w="16192">
            <a:solidFill>
              <a:srgbClr val="082B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7" name="Oval 556"/>
          <p:cNvSpPr/>
          <p:nvPr/>
        </p:nvSpPr>
        <p:spPr>
          <a:xfrm>
            <a:off x="10179100" y="5451652"/>
            <a:ext cx="69494" cy="69494"/>
          </a:xfrm>
          <a:prstGeom prst="ellipse">
            <a:avLst/>
          </a:prstGeom>
          <a:solidFill>
            <a:srgbClr val="111111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" name="Oval 557"/>
          <p:cNvSpPr/>
          <p:nvPr/>
        </p:nvSpPr>
        <p:spPr>
          <a:xfrm>
            <a:off x="10179100" y="5643676"/>
            <a:ext cx="69494" cy="69494"/>
          </a:xfrm>
          <a:prstGeom prst="ellipse">
            <a:avLst/>
          </a:prstGeom>
          <a:solidFill>
            <a:srgbClr val="111111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9" name="Oval 558"/>
          <p:cNvSpPr/>
          <p:nvPr/>
        </p:nvSpPr>
        <p:spPr>
          <a:xfrm>
            <a:off x="10179100" y="5835700"/>
            <a:ext cx="69494" cy="69494"/>
          </a:xfrm>
          <a:prstGeom prst="ellipse">
            <a:avLst/>
          </a:prstGeom>
          <a:solidFill>
            <a:srgbClr val="111111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" name="Oval 559"/>
          <p:cNvSpPr/>
          <p:nvPr/>
        </p:nvSpPr>
        <p:spPr>
          <a:xfrm>
            <a:off x="10179100" y="6027724"/>
            <a:ext cx="69494" cy="69494"/>
          </a:xfrm>
          <a:prstGeom prst="ellipse">
            <a:avLst/>
          </a:prstGeom>
          <a:solidFill>
            <a:srgbClr val="111111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1" name="Oval 560"/>
          <p:cNvSpPr/>
          <p:nvPr/>
        </p:nvSpPr>
        <p:spPr>
          <a:xfrm>
            <a:off x="10163556" y="5440680"/>
            <a:ext cx="100584" cy="100584"/>
          </a:xfrm>
          <a:prstGeom prst="ellipse">
            <a:avLst/>
          </a:prstGeom>
          <a:solidFill>
            <a:srgbClr val="9ECB69"/>
          </a:solidFill>
          <a:ln w="9525">
            <a:solidFill>
              <a:srgbClr val="082B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" name="Oval 561"/>
          <p:cNvSpPr/>
          <p:nvPr/>
        </p:nvSpPr>
        <p:spPr>
          <a:xfrm>
            <a:off x="10163556" y="6007608"/>
            <a:ext cx="100584" cy="100584"/>
          </a:xfrm>
          <a:prstGeom prst="ellipse">
            <a:avLst/>
          </a:prstGeom>
          <a:solidFill>
            <a:srgbClr val="9ECB69"/>
          </a:solidFill>
          <a:ln w="9525">
            <a:solidFill>
              <a:srgbClr val="082B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3" name="Connector 562"/>
          <p:cNvCxnSpPr/>
          <p:nvPr/>
        </p:nvCxnSpPr>
        <p:spPr>
          <a:xfrm>
            <a:off x="6793992" y="6464808"/>
            <a:ext cx="1042416" cy="0"/>
          </a:xfrm>
          <a:prstGeom prst="line">
            <a:avLst/>
          </a:prstGeom>
          <a:ln w="28575">
            <a:solidFill>
              <a:srgbClr val="082B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4" name="Rectangle 563"/>
          <p:cNvSpPr/>
          <p:nvPr/>
        </p:nvSpPr>
        <p:spPr>
          <a:xfrm>
            <a:off x="7836408" y="6217920"/>
            <a:ext cx="347472" cy="502920"/>
          </a:xfrm>
          <a:prstGeom prst="rect">
            <a:avLst/>
          </a:prstGeom>
          <a:solidFill>
            <a:srgbClr val="D7E2EA"/>
          </a:solidFill>
          <a:ln w="17145">
            <a:solidFill>
              <a:srgbClr val="082B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5" name="TextBox 564"/>
          <p:cNvSpPr txBox="1"/>
          <p:nvPr/>
        </p:nvSpPr>
        <p:spPr>
          <a:xfrm rot="16200000">
            <a:off x="7836408" y="6217920"/>
            <a:ext cx="347472" cy="502920"/>
          </a:xfrm>
          <a:prstGeom prst="rect">
            <a:avLst/>
          </a:prstGeom>
          <a:noFill/>
          <a:effectLst/>
        </p:spPr>
        <p:txBody>
          <a:bodyPr wrap="none" lIns="9144" rIns="9144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350" b="1" i="0">
                <a:solidFill>
                  <a:srgbClr val="101010"/>
                </a:solidFill>
                <a:latin typeface="Times New Roman"/>
              </a:defRPr>
            </a:pPr>
            <a:r>
              <a:t>FC</a:t>
            </a:r>
          </a:p>
        </p:txBody>
      </p:sp>
      <p:cxnSp>
        <p:nvCxnSpPr>
          <p:cNvPr id="566" name="Connector 565"/>
          <p:cNvCxnSpPr/>
          <p:nvPr/>
        </p:nvCxnSpPr>
        <p:spPr>
          <a:xfrm>
            <a:off x="8183880" y="6464808"/>
            <a:ext cx="356616" cy="0"/>
          </a:xfrm>
          <a:prstGeom prst="line">
            <a:avLst/>
          </a:prstGeom>
          <a:ln w="28575">
            <a:solidFill>
              <a:srgbClr val="082B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7" name="Rounded Rectangle 566"/>
          <p:cNvSpPr/>
          <p:nvPr/>
        </p:nvSpPr>
        <p:spPr>
          <a:xfrm>
            <a:off x="8558784" y="6099048"/>
            <a:ext cx="210312" cy="768096"/>
          </a:xfrm>
          <a:prstGeom prst="roundRect">
            <a:avLst/>
          </a:prstGeom>
          <a:solidFill>
            <a:srgbClr val="F5F5F3"/>
          </a:solidFill>
          <a:ln w="16192">
            <a:solidFill>
              <a:srgbClr val="082B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8" name="Oval 567"/>
          <p:cNvSpPr/>
          <p:nvPr/>
        </p:nvSpPr>
        <p:spPr>
          <a:xfrm>
            <a:off x="8629192" y="6155740"/>
            <a:ext cx="69494" cy="69494"/>
          </a:xfrm>
          <a:prstGeom prst="ellipse">
            <a:avLst/>
          </a:prstGeom>
          <a:solidFill>
            <a:srgbClr val="111111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9" name="Oval 568"/>
          <p:cNvSpPr/>
          <p:nvPr/>
        </p:nvSpPr>
        <p:spPr>
          <a:xfrm>
            <a:off x="8629192" y="6350812"/>
            <a:ext cx="69494" cy="69494"/>
          </a:xfrm>
          <a:prstGeom prst="ellipse">
            <a:avLst/>
          </a:prstGeom>
          <a:solidFill>
            <a:srgbClr val="111111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0" name="Oval 569"/>
          <p:cNvSpPr/>
          <p:nvPr/>
        </p:nvSpPr>
        <p:spPr>
          <a:xfrm>
            <a:off x="8629192" y="6545884"/>
            <a:ext cx="69494" cy="69494"/>
          </a:xfrm>
          <a:prstGeom prst="ellipse">
            <a:avLst/>
          </a:prstGeom>
          <a:solidFill>
            <a:srgbClr val="111111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1" name="Oval 570"/>
          <p:cNvSpPr/>
          <p:nvPr/>
        </p:nvSpPr>
        <p:spPr>
          <a:xfrm>
            <a:off x="8629192" y="6740956"/>
            <a:ext cx="69494" cy="69494"/>
          </a:xfrm>
          <a:prstGeom prst="ellipse">
            <a:avLst/>
          </a:prstGeom>
          <a:solidFill>
            <a:srgbClr val="111111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2" name="Oval 571"/>
          <p:cNvSpPr/>
          <p:nvPr/>
        </p:nvSpPr>
        <p:spPr>
          <a:xfrm>
            <a:off x="8613648" y="6144768"/>
            <a:ext cx="100584" cy="100584"/>
          </a:xfrm>
          <a:prstGeom prst="ellipse">
            <a:avLst/>
          </a:prstGeom>
          <a:solidFill>
            <a:srgbClr val="4C8D35"/>
          </a:solidFill>
          <a:ln w="9525">
            <a:solidFill>
              <a:srgbClr val="082B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" name="Oval 572"/>
          <p:cNvSpPr/>
          <p:nvPr/>
        </p:nvSpPr>
        <p:spPr>
          <a:xfrm>
            <a:off x="8613648" y="6720840"/>
            <a:ext cx="100584" cy="100584"/>
          </a:xfrm>
          <a:prstGeom prst="ellipse">
            <a:avLst/>
          </a:prstGeom>
          <a:solidFill>
            <a:srgbClr val="4C8D35"/>
          </a:solidFill>
          <a:ln w="9525">
            <a:solidFill>
              <a:srgbClr val="082B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4" name="Connector 573"/>
          <p:cNvCxnSpPr/>
          <p:nvPr/>
        </p:nvCxnSpPr>
        <p:spPr>
          <a:xfrm>
            <a:off x="8769096" y="6464808"/>
            <a:ext cx="365760" cy="0"/>
          </a:xfrm>
          <a:prstGeom prst="line">
            <a:avLst/>
          </a:prstGeom>
          <a:ln w="28575">
            <a:solidFill>
              <a:srgbClr val="082B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5" name="Rectangle 574"/>
          <p:cNvSpPr/>
          <p:nvPr/>
        </p:nvSpPr>
        <p:spPr>
          <a:xfrm>
            <a:off x="9134856" y="6217920"/>
            <a:ext cx="329184" cy="475488"/>
          </a:xfrm>
          <a:prstGeom prst="rect">
            <a:avLst/>
          </a:prstGeom>
          <a:solidFill>
            <a:srgbClr val="D7E2EA"/>
          </a:solidFill>
          <a:ln w="17145">
            <a:solidFill>
              <a:srgbClr val="082B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" name="TextBox 575"/>
          <p:cNvSpPr txBox="1"/>
          <p:nvPr/>
        </p:nvSpPr>
        <p:spPr>
          <a:xfrm rot="16200000">
            <a:off x="9134856" y="6217920"/>
            <a:ext cx="329184" cy="475488"/>
          </a:xfrm>
          <a:prstGeom prst="rect">
            <a:avLst/>
          </a:prstGeom>
          <a:noFill/>
          <a:effectLst/>
        </p:spPr>
        <p:txBody>
          <a:bodyPr wrap="none" lIns="9144" rIns="9144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350" b="1" i="0">
                <a:solidFill>
                  <a:srgbClr val="101010"/>
                </a:solidFill>
                <a:latin typeface="Times New Roman"/>
              </a:defRPr>
            </a:pPr>
            <a:r>
              <a:t>FC</a:t>
            </a:r>
          </a:p>
        </p:txBody>
      </p:sp>
      <p:cxnSp>
        <p:nvCxnSpPr>
          <p:cNvPr id="577" name="Connector 576"/>
          <p:cNvCxnSpPr/>
          <p:nvPr/>
        </p:nvCxnSpPr>
        <p:spPr>
          <a:xfrm>
            <a:off x="9464040" y="6464808"/>
            <a:ext cx="630936" cy="0"/>
          </a:xfrm>
          <a:prstGeom prst="line">
            <a:avLst/>
          </a:prstGeom>
          <a:ln w="28575">
            <a:solidFill>
              <a:srgbClr val="082B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8" name="Rounded Rectangle 577"/>
          <p:cNvSpPr/>
          <p:nvPr/>
        </p:nvSpPr>
        <p:spPr>
          <a:xfrm>
            <a:off x="10113264" y="6108192"/>
            <a:ext cx="201168" cy="758952"/>
          </a:xfrm>
          <a:prstGeom prst="roundRect">
            <a:avLst/>
          </a:prstGeom>
          <a:solidFill>
            <a:srgbClr val="F5F5F3"/>
          </a:solidFill>
          <a:ln w="16192">
            <a:solidFill>
              <a:srgbClr val="082B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" name="Oval 578"/>
          <p:cNvSpPr/>
          <p:nvPr/>
        </p:nvSpPr>
        <p:spPr>
          <a:xfrm>
            <a:off x="10179100" y="6164884"/>
            <a:ext cx="69494" cy="69494"/>
          </a:xfrm>
          <a:prstGeom prst="ellipse">
            <a:avLst/>
          </a:prstGeom>
          <a:solidFill>
            <a:srgbClr val="111111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" name="Oval 579"/>
          <p:cNvSpPr/>
          <p:nvPr/>
        </p:nvSpPr>
        <p:spPr>
          <a:xfrm>
            <a:off x="10179100" y="6356908"/>
            <a:ext cx="69494" cy="69494"/>
          </a:xfrm>
          <a:prstGeom prst="ellipse">
            <a:avLst/>
          </a:prstGeom>
          <a:solidFill>
            <a:srgbClr val="111111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1" name="Oval 580"/>
          <p:cNvSpPr/>
          <p:nvPr/>
        </p:nvSpPr>
        <p:spPr>
          <a:xfrm>
            <a:off x="10179100" y="6548932"/>
            <a:ext cx="69494" cy="69494"/>
          </a:xfrm>
          <a:prstGeom prst="ellipse">
            <a:avLst/>
          </a:prstGeom>
          <a:solidFill>
            <a:srgbClr val="111111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" name="Oval 581"/>
          <p:cNvSpPr/>
          <p:nvPr/>
        </p:nvSpPr>
        <p:spPr>
          <a:xfrm>
            <a:off x="10179100" y="6740956"/>
            <a:ext cx="69494" cy="69494"/>
          </a:xfrm>
          <a:prstGeom prst="ellipse">
            <a:avLst/>
          </a:prstGeom>
          <a:solidFill>
            <a:srgbClr val="111111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" name="Oval 582"/>
          <p:cNvSpPr/>
          <p:nvPr/>
        </p:nvSpPr>
        <p:spPr>
          <a:xfrm>
            <a:off x="10163556" y="6153912"/>
            <a:ext cx="100584" cy="100584"/>
          </a:xfrm>
          <a:prstGeom prst="ellipse">
            <a:avLst/>
          </a:prstGeom>
          <a:solidFill>
            <a:srgbClr val="4C8D35"/>
          </a:solidFill>
          <a:ln w="9525">
            <a:solidFill>
              <a:srgbClr val="082B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" name="Oval 583"/>
          <p:cNvSpPr/>
          <p:nvPr/>
        </p:nvSpPr>
        <p:spPr>
          <a:xfrm>
            <a:off x="10163556" y="6720840"/>
            <a:ext cx="100584" cy="100584"/>
          </a:xfrm>
          <a:prstGeom prst="ellipse">
            <a:avLst/>
          </a:prstGeom>
          <a:solidFill>
            <a:srgbClr val="4C8D35"/>
          </a:solidFill>
          <a:ln w="9525">
            <a:solidFill>
              <a:srgbClr val="082B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" name="Rectangle 584"/>
          <p:cNvSpPr/>
          <p:nvPr/>
        </p:nvSpPr>
        <p:spPr>
          <a:xfrm>
            <a:off x="7744968" y="4507992"/>
            <a:ext cx="722376" cy="402336"/>
          </a:xfrm>
          <a:prstGeom prst="rect">
            <a:avLst/>
          </a:prstGeom>
          <a:solidFill>
            <a:srgbClr val="FFF0A8"/>
          </a:solidFill>
          <a:ln>
            <a:solidFill>
              <a:srgbClr val="FFF0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" name="TextBox 585"/>
          <p:cNvSpPr txBox="1"/>
          <p:nvPr/>
        </p:nvSpPr>
        <p:spPr>
          <a:xfrm>
            <a:off x="7744968" y="4507992"/>
            <a:ext cx="722376" cy="402336"/>
          </a:xfrm>
          <a:prstGeom prst="rect">
            <a:avLst/>
          </a:prstGeom>
          <a:noFill/>
          <a:effectLst/>
        </p:spPr>
        <p:txBody>
          <a:bodyPr wrap="none" lIns="9144" rIns="9144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275" b="1" i="0">
                <a:solidFill>
                  <a:srgbClr val="101010"/>
                </a:solidFill>
                <a:latin typeface="Times New Roman"/>
              </a:defRPr>
            </a:pPr>
            <a:r>
              <a:t>Feature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275" b="1" i="0">
                <a:solidFill>
                  <a:srgbClr val="101010"/>
                </a:solidFill>
                <a:latin typeface="Times New Roman"/>
              </a:defRPr>
            </a:pPr>
            <a:r>
              <a:t>vector</a:t>
            </a:r>
          </a:p>
        </p:txBody>
      </p:sp>
      <p:sp>
        <p:nvSpPr>
          <p:cNvPr id="587" name="Oval 586"/>
          <p:cNvSpPr/>
          <p:nvPr/>
        </p:nvSpPr>
        <p:spPr>
          <a:xfrm>
            <a:off x="6983730" y="3493008"/>
            <a:ext cx="102870" cy="102870"/>
          </a:xfrm>
          <a:prstGeom prst="ellipse">
            <a:avLst/>
          </a:prstGeom>
          <a:solidFill>
            <a:srgbClr val="FDA978"/>
          </a:solidFill>
          <a:ln w="6667">
            <a:solidFill>
              <a:srgbClr val="FDA9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" name="Oval 587"/>
          <p:cNvSpPr/>
          <p:nvPr/>
        </p:nvSpPr>
        <p:spPr>
          <a:xfrm>
            <a:off x="6956298" y="3568446"/>
            <a:ext cx="123444" cy="150876"/>
          </a:xfrm>
          <a:prstGeom prst="ellipse">
            <a:avLst/>
          </a:prstGeom>
          <a:solidFill>
            <a:srgbClr val="FDA978"/>
          </a:solidFill>
          <a:ln w="6667">
            <a:solidFill>
              <a:srgbClr val="FDA9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" name="Freeform 588"/>
          <p:cNvSpPr/>
          <p:nvPr/>
        </p:nvSpPr>
        <p:spPr>
          <a:xfrm>
            <a:off x="7050024" y="3557016"/>
            <a:ext cx="91440" cy="64008"/>
          </a:xfrm>
          <a:custGeom>
            <a:avLst/>
            <a:gdLst/>
            <a:ahLst/>
            <a:cxnLst/>
            <a:rect l="l" t="t" r="r" b="b"/>
            <a:pathLst>
              <a:path w="10" h="7">
                <a:moveTo>
                  <a:pt x="0" y="0"/>
                </a:moveTo>
                <a:lnTo>
                  <a:pt x="10" y="3"/>
                </a:lnTo>
                <a:lnTo>
                  <a:pt x="2" y="7"/>
                </a:lnTo>
                <a:close/>
              </a:path>
            </a:pathLst>
          </a:custGeom>
          <a:solidFill>
            <a:srgbClr val="FDA978"/>
          </a:solidFill>
          <a:ln w="4762">
            <a:solidFill>
              <a:srgbClr val="FDA9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0" name="Connector 589"/>
          <p:cNvCxnSpPr/>
          <p:nvPr/>
        </p:nvCxnSpPr>
        <p:spPr>
          <a:xfrm flipV="1">
            <a:off x="7072884" y="3520440"/>
            <a:ext cx="61722" cy="20574"/>
          </a:xfrm>
          <a:prstGeom prst="line">
            <a:avLst/>
          </a:prstGeom>
          <a:ln w="9525">
            <a:solidFill>
              <a:srgbClr val="FDA9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1" name="Oval 590"/>
          <p:cNvSpPr/>
          <p:nvPr/>
        </p:nvSpPr>
        <p:spPr>
          <a:xfrm>
            <a:off x="7127748" y="3506724"/>
            <a:ext cx="27432" cy="27432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" name="Oval 591"/>
          <p:cNvSpPr/>
          <p:nvPr/>
        </p:nvSpPr>
        <p:spPr>
          <a:xfrm>
            <a:off x="7093458" y="3541014"/>
            <a:ext cx="27432" cy="27432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3" name="Connector 592"/>
          <p:cNvCxnSpPr/>
          <p:nvPr/>
        </p:nvCxnSpPr>
        <p:spPr>
          <a:xfrm>
            <a:off x="7196328" y="3630168"/>
            <a:ext cx="576072" cy="164592"/>
          </a:xfrm>
          <a:prstGeom prst="line">
            <a:avLst/>
          </a:prstGeom>
          <a:ln w="19050">
            <a:solidFill>
              <a:srgbClr val="FDA978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4" name="Connector 593"/>
          <p:cNvCxnSpPr/>
          <p:nvPr/>
        </p:nvCxnSpPr>
        <p:spPr>
          <a:xfrm>
            <a:off x="7772400" y="3794760"/>
            <a:ext cx="758952" cy="155448"/>
          </a:xfrm>
          <a:prstGeom prst="line">
            <a:avLst/>
          </a:prstGeom>
          <a:ln w="19050">
            <a:solidFill>
              <a:srgbClr val="FDA978"/>
            </a:solidFill>
            <a:prstDash val="sysDot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5" name="Oval 594"/>
          <p:cNvSpPr/>
          <p:nvPr/>
        </p:nvSpPr>
        <p:spPr>
          <a:xfrm>
            <a:off x="6983730" y="5769864"/>
            <a:ext cx="102870" cy="102870"/>
          </a:xfrm>
          <a:prstGeom prst="ellipse">
            <a:avLst/>
          </a:prstGeom>
          <a:solidFill>
            <a:srgbClr val="9ECB69"/>
          </a:solidFill>
          <a:ln w="6667">
            <a:solidFill>
              <a:srgbClr val="9ECB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" name="Oval 595"/>
          <p:cNvSpPr/>
          <p:nvPr/>
        </p:nvSpPr>
        <p:spPr>
          <a:xfrm>
            <a:off x="6956298" y="5845302"/>
            <a:ext cx="123444" cy="150876"/>
          </a:xfrm>
          <a:prstGeom prst="ellipse">
            <a:avLst/>
          </a:prstGeom>
          <a:solidFill>
            <a:srgbClr val="9ECB69"/>
          </a:solidFill>
          <a:ln w="6667">
            <a:solidFill>
              <a:srgbClr val="9ECB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" name="Freeform 596"/>
          <p:cNvSpPr/>
          <p:nvPr/>
        </p:nvSpPr>
        <p:spPr>
          <a:xfrm>
            <a:off x="7050024" y="5833872"/>
            <a:ext cx="91440" cy="64008"/>
          </a:xfrm>
          <a:custGeom>
            <a:avLst/>
            <a:gdLst/>
            <a:ahLst/>
            <a:cxnLst/>
            <a:rect l="l" t="t" r="r" b="b"/>
            <a:pathLst>
              <a:path w="10" h="7">
                <a:moveTo>
                  <a:pt x="0" y="0"/>
                </a:moveTo>
                <a:lnTo>
                  <a:pt x="10" y="3"/>
                </a:lnTo>
                <a:lnTo>
                  <a:pt x="2" y="7"/>
                </a:lnTo>
                <a:close/>
              </a:path>
            </a:pathLst>
          </a:custGeom>
          <a:solidFill>
            <a:srgbClr val="9ECB69"/>
          </a:solidFill>
          <a:ln w="4762">
            <a:solidFill>
              <a:srgbClr val="9ECB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8" name="Connector 597"/>
          <p:cNvCxnSpPr/>
          <p:nvPr/>
        </p:nvCxnSpPr>
        <p:spPr>
          <a:xfrm flipV="1">
            <a:off x="7072884" y="5797296"/>
            <a:ext cx="61722" cy="20574"/>
          </a:xfrm>
          <a:prstGeom prst="line">
            <a:avLst/>
          </a:prstGeom>
          <a:ln w="9525">
            <a:solidFill>
              <a:srgbClr val="9ECB6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9" name="Oval 598"/>
          <p:cNvSpPr/>
          <p:nvPr/>
        </p:nvSpPr>
        <p:spPr>
          <a:xfrm>
            <a:off x="7127748" y="5783580"/>
            <a:ext cx="27432" cy="27432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" name="Oval 599"/>
          <p:cNvSpPr/>
          <p:nvPr/>
        </p:nvSpPr>
        <p:spPr>
          <a:xfrm>
            <a:off x="7093458" y="5817870"/>
            <a:ext cx="27432" cy="27432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1" name="Connector 600"/>
          <p:cNvCxnSpPr/>
          <p:nvPr/>
        </p:nvCxnSpPr>
        <p:spPr>
          <a:xfrm flipV="1">
            <a:off x="7196328" y="5669280"/>
            <a:ext cx="576072" cy="246888"/>
          </a:xfrm>
          <a:prstGeom prst="line">
            <a:avLst/>
          </a:prstGeom>
          <a:ln w="19050">
            <a:solidFill>
              <a:srgbClr val="9ECB69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2" name="Connector 601"/>
          <p:cNvCxnSpPr/>
          <p:nvPr/>
        </p:nvCxnSpPr>
        <p:spPr>
          <a:xfrm flipV="1">
            <a:off x="7772400" y="5340096"/>
            <a:ext cx="758952" cy="329184"/>
          </a:xfrm>
          <a:prstGeom prst="line">
            <a:avLst/>
          </a:prstGeom>
          <a:ln w="19050">
            <a:solidFill>
              <a:srgbClr val="9ECB69"/>
            </a:solidFill>
            <a:prstDash val="sysDot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3" name="Connector 602"/>
          <p:cNvCxnSpPr/>
          <p:nvPr/>
        </p:nvCxnSpPr>
        <p:spPr>
          <a:xfrm flipV="1">
            <a:off x="8430768" y="4590288"/>
            <a:ext cx="155448" cy="182880"/>
          </a:xfrm>
          <a:prstGeom prst="line">
            <a:avLst/>
          </a:prstGeom>
          <a:ln w="19050">
            <a:solidFill>
              <a:srgbClr val="666666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4" name="Connector 603"/>
          <p:cNvCxnSpPr/>
          <p:nvPr/>
        </p:nvCxnSpPr>
        <p:spPr>
          <a:xfrm flipV="1">
            <a:off x="8586216" y="4361688"/>
            <a:ext cx="73152" cy="228600"/>
          </a:xfrm>
          <a:prstGeom prst="line">
            <a:avLst/>
          </a:prstGeom>
          <a:ln w="19050">
            <a:solidFill>
              <a:srgbClr val="666666"/>
            </a:solidFill>
            <a:prstDash val="sysDot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5" name="Oval 604"/>
          <p:cNvSpPr/>
          <p:nvPr/>
        </p:nvSpPr>
        <p:spPr>
          <a:xfrm>
            <a:off x="9500616" y="4626864"/>
            <a:ext cx="301752" cy="292608"/>
          </a:xfrm>
          <a:prstGeom prst="ellipse">
            <a:avLst/>
          </a:prstGeom>
          <a:solidFill>
            <a:srgbClr val="B4C8E8"/>
          </a:solidFill>
          <a:ln w="14287">
            <a:solidFill>
              <a:srgbClr val="082B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" name="TextBox 605"/>
          <p:cNvSpPr txBox="1"/>
          <p:nvPr/>
        </p:nvSpPr>
        <p:spPr>
          <a:xfrm>
            <a:off x="9290304" y="4050791"/>
            <a:ext cx="777240" cy="502920"/>
          </a:xfrm>
          <a:prstGeom prst="rect">
            <a:avLst/>
          </a:prstGeom>
          <a:noFill/>
          <a:effectLst/>
        </p:spPr>
        <p:txBody>
          <a:bodyPr wrap="none" lIns="9144" rIns="9144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101010"/>
                </a:solidFill>
                <a:latin typeface="Times New Roman"/>
              </a:defRPr>
            </a:pPr>
            <a:r>
              <a:t>Fusion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101010"/>
                </a:solidFill>
                <a:latin typeface="Times New Roman"/>
              </a:defRPr>
            </a:pPr>
            <a:r>
              <a:t>operator</a:t>
            </a:r>
          </a:p>
        </p:txBody>
      </p:sp>
      <p:cxnSp>
        <p:nvCxnSpPr>
          <p:cNvPr id="607" name="Connector 606"/>
          <p:cNvCxnSpPr/>
          <p:nvPr/>
        </p:nvCxnSpPr>
        <p:spPr>
          <a:xfrm>
            <a:off x="9802368" y="4773168"/>
            <a:ext cx="292608" cy="0"/>
          </a:xfrm>
          <a:prstGeom prst="line">
            <a:avLst/>
          </a:prstGeom>
          <a:ln w="28575">
            <a:solidFill>
              <a:srgbClr val="082B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8" name="Rounded Rectangle 607"/>
          <p:cNvSpPr/>
          <p:nvPr/>
        </p:nvSpPr>
        <p:spPr>
          <a:xfrm>
            <a:off x="10113264" y="4389120"/>
            <a:ext cx="201168" cy="768096"/>
          </a:xfrm>
          <a:prstGeom prst="roundRect">
            <a:avLst/>
          </a:prstGeom>
          <a:solidFill>
            <a:srgbClr val="F5F5F3"/>
          </a:solidFill>
          <a:ln w="16192">
            <a:solidFill>
              <a:srgbClr val="082B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" name="Oval 608"/>
          <p:cNvSpPr/>
          <p:nvPr/>
        </p:nvSpPr>
        <p:spPr>
          <a:xfrm>
            <a:off x="10179100" y="4445812"/>
            <a:ext cx="69494" cy="69494"/>
          </a:xfrm>
          <a:prstGeom prst="ellipse">
            <a:avLst/>
          </a:prstGeom>
          <a:solidFill>
            <a:srgbClr val="111111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" name="Oval 609"/>
          <p:cNvSpPr/>
          <p:nvPr/>
        </p:nvSpPr>
        <p:spPr>
          <a:xfrm>
            <a:off x="10179100" y="4640884"/>
            <a:ext cx="69494" cy="69494"/>
          </a:xfrm>
          <a:prstGeom prst="ellipse">
            <a:avLst/>
          </a:prstGeom>
          <a:solidFill>
            <a:srgbClr val="111111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" name="Oval 610"/>
          <p:cNvSpPr/>
          <p:nvPr/>
        </p:nvSpPr>
        <p:spPr>
          <a:xfrm>
            <a:off x="10179100" y="4835956"/>
            <a:ext cx="69494" cy="69494"/>
          </a:xfrm>
          <a:prstGeom prst="ellipse">
            <a:avLst/>
          </a:prstGeom>
          <a:solidFill>
            <a:srgbClr val="111111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" name="Oval 611"/>
          <p:cNvSpPr/>
          <p:nvPr/>
        </p:nvSpPr>
        <p:spPr>
          <a:xfrm>
            <a:off x="10179100" y="5031028"/>
            <a:ext cx="69494" cy="69494"/>
          </a:xfrm>
          <a:prstGeom prst="ellipse">
            <a:avLst/>
          </a:prstGeom>
          <a:solidFill>
            <a:srgbClr val="111111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" name="Oval 612"/>
          <p:cNvSpPr/>
          <p:nvPr/>
        </p:nvSpPr>
        <p:spPr>
          <a:xfrm>
            <a:off x="10163556" y="4434840"/>
            <a:ext cx="100584" cy="100584"/>
          </a:xfrm>
          <a:prstGeom prst="ellipse">
            <a:avLst/>
          </a:prstGeom>
          <a:solidFill>
            <a:srgbClr val="6E91C5"/>
          </a:solidFill>
          <a:ln w="9525">
            <a:solidFill>
              <a:srgbClr val="082B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" name="Oval 613"/>
          <p:cNvSpPr/>
          <p:nvPr/>
        </p:nvSpPr>
        <p:spPr>
          <a:xfrm>
            <a:off x="10163556" y="5010912"/>
            <a:ext cx="100584" cy="100584"/>
          </a:xfrm>
          <a:prstGeom prst="ellipse">
            <a:avLst/>
          </a:prstGeom>
          <a:solidFill>
            <a:srgbClr val="6E91C5"/>
          </a:solidFill>
          <a:ln w="9525">
            <a:solidFill>
              <a:srgbClr val="082B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5" name="Connector 614"/>
          <p:cNvCxnSpPr/>
          <p:nvPr/>
        </p:nvCxnSpPr>
        <p:spPr>
          <a:xfrm>
            <a:off x="10314432" y="4773168"/>
            <a:ext cx="365760" cy="0"/>
          </a:xfrm>
          <a:prstGeom prst="line">
            <a:avLst/>
          </a:prstGeom>
          <a:ln w="28575">
            <a:solidFill>
              <a:srgbClr val="082B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6" name="Rectangle 615"/>
          <p:cNvSpPr/>
          <p:nvPr/>
        </p:nvSpPr>
        <p:spPr>
          <a:xfrm>
            <a:off x="10680192" y="4535424"/>
            <a:ext cx="338328" cy="484632"/>
          </a:xfrm>
          <a:prstGeom prst="rect">
            <a:avLst/>
          </a:prstGeom>
          <a:solidFill>
            <a:srgbClr val="D7E2EA"/>
          </a:solidFill>
          <a:ln w="17145">
            <a:solidFill>
              <a:srgbClr val="082B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7" name="TextBox 616"/>
          <p:cNvSpPr txBox="1"/>
          <p:nvPr/>
        </p:nvSpPr>
        <p:spPr>
          <a:xfrm rot="16200000">
            <a:off x="10680192" y="4535424"/>
            <a:ext cx="338328" cy="484632"/>
          </a:xfrm>
          <a:prstGeom prst="rect">
            <a:avLst/>
          </a:prstGeom>
          <a:noFill/>
          <a:effectLst/>
        </p:spPr>
        <p:txBody>
          <a:bodyPr wrap="none" lIns="9144" rIns="9144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350" b="1" i="0">
                <a:solidFill>
                  <a:srgbClr val="101010"/>
                </a:solidFill>
                <a:latin typeface="Times New Roman"/>
              </a:defRPr>
            </a:pPr>
            <a:r>
              <a:t>FC</a:t>
            </a:r>
          </a:p>
        </p:txBody>
      </p:sp>
      <p:cxnSp>
        <p:nvCxnSpPr>
          <p:cNvPr id="618" name="Connector 617"/>
          <p:cNvCxnSpPr/>
          <p:nvPr/>
        </p:nvCxnSpPr>
        <p:spPr>
          <a:xfrm>
            <a:off x="11018520" y="4773168"/>
            <a:ext cx="374904" cy="0"/>
          </a:xfrm>
          <a:prstGeom prst="line">
            <a:avLst/>
          </a:prstGeom>
          <a:ln w="28575">
            <a:solidFill>
              <a:srgbClr val="082B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9" name="Rectangle 618"/>
          <p:cNvSpPr/>
          <p:nvPr/>
        </p:nvSpPr>
        <p:spPr>
          <a:xfrm>
            <a:off x="11393424" y="4361688"/>
            <a:ext cx="310896" cy="822960"/>
          </a:xfrm>
          <a:prstGeom prst="rect">
            <a:avLst/>
          </a:prstGeom>
          <a:solidFill>
            <a:srgbClr val="FFEFA7"/>
          </a:solidFill>
          <a:ln w="17145">
            <a:solidFill>
              <a:srgbClr val="082B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0" name="TextBox 619"/>
          <p:cNvSpPr txBox="1"/>
          <p:nvPr/>
        </p:nvSpPr>
        <p:spPr>
          <a:xfrm rot="16200000">
            <a:off x="11393424" y="4361688"/>
            <a:ext cx="310896" cy="822960"/>
          </a:xfrm>
          <a:prstGeom prst="rect">
            <a:avLst/>
          </a:prstGeom>
          <a:noFill/>
          <a:effectLst/>
        </p:spPr>
        <p:txBody>
          <a:bodyPr wrap="none" lIns="9144" rIns="9144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275" b="1" i="0">
                <a:solidFill>
                  <a:srgbClr val="101010"/>
                </a:solidFill>
                <a:latin typeface="Times New Roman"/>
              </a:defRPr>
            </a:pPr>
            <a:r>
              <a:t>Softmax</a:t>
            </a:r>
          </a:p>
        </p:txBody>
      </p:sp>
      <p:cxnSp>
        <p:nvCxnSpPr>
          <p:cNvPr id="621" name="Connector 620"/>
          <p:cNvCxnSpPr/>
          <p:nvPr/>
        </p:nvCxnSpPr>
        <p:spPr>
          <a:xfrm>
            <a:off x="11704320" y="4773168"/>
            <a:ext cx="676656" cy="0"/>
          </a:xfrm>
          <a:prstGeom prst="line">
            <a:avLst/>
          </a:prstGeom>
          <a:ln w="28575">
            <a:solidFill>
              <a:srgbClr val="082B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2" name="Rounded Rectangle 621"/>
          <p:cNvSpPr/>
          <p:nvPr/>
        </p:nvSpPr>
        <p:spPr>
          <a:xfrm>
            <a:off x="10652760" y="2468880"/>
            <a:ext cx="6355080" cy="1682496"/>
          </a:xfrm>
          <a:prstGeom prst="roundRect">
            <a:avLst/>
          </a:prstGeom>
          <a:solidFill>
            <a:srgbClr val="F6EEEA"/>
          </a:solidFill>
          <a:ln w="15240">
            <a:solidFill>
              <a:srgbClr val="FDA978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3" name="TextBox 622"/>
          <p:cNvSpPr txBox="1"/>
          <p:nvPr/>
        </p:nvSpPr>
        <p:spPr>
          <a:xfrm>
            <a:off x="10780776" y="2651760"/>
            <a:ext cx="1545336" cy="521208"/>
          </a:xfrm>
          <a:prstGeom prst="rect">
            <a:avLst/>
          </a:prstGeom>
          <a:noFill/>
          <a:effectLst/>
        </p:spPr>
        <p:txBody>
          <a:bodyPr wrap="none" lIns="9144" rIns="9144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350" b="1" i="0">
                <a:solidFill>
                  <a:srgbClr val="101010"/>
                </a:solidFill>
                <a:latin typeface="Times New Roman"/>
              </a:defRPr>
            </a:pPr>
            <a:r>
              <a:t>Corresponding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350" b="1" i="0">
                <a:solidFill>
                  <a:srgbClr val="101010"/>
                </a:solidFill>
                <a:latin typeface="Times New Roman"/>
              </a:defRPr>
            </a:pPr>
            <a:r>
              <a:t>category</a:t>
            </a:r>
          </a:p>
        </p:txBody>
      </p:sp>
      <p:sp>
        <p:nvSpPr>
          <p:cNvPr id="624" name="TextBox 623"/>
          <p:cNvSpPr txBox="1"/>
          <p:nvPr/>
        </p:nvSpPr>
        <p:spPr>
          <a:xfrm>
            <a:off x="10780776" y="3493008"/>
            <a:ext cx="1463040" cy="384048"/>
          </a:xfrm>
          <a:prstGeom prst="rect">
            <a:avLst/>
          </a:prstGeom>
          <a:noFill/>
          <a:effectLst/>
        </p:spPr>
        <p:txBody>
          <a:bodyPr wrap="none" lIns="9144" rIns="9144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350" b="1" i="0">
                <a:solidFill>
                  <a:srgbClr val="101010"/>
                </a:solidFill>
                <a:latin typeface="Times New Roman"/>
              </a:defRPr>
            </a:pPr>
            <a:r>
              <a:t>Cross-category</a:t>
            </a:r>
          </a:p>
        </p:txBody>
      </p:sp>
      <p:cxnSp>
        <p:nvCxnSpPr>
          <p:cNvPr id="625" name="Connector 624"/>
          <p:cNvCxnSpPr/>
          <p:nvPr/>
        </p:nvCxnSpPr>
        <p:spPr>
          <a:xfrm>
            <a:off x="11777472" y="2944368"/>
            <a:ext cx="539496" cy="0"/>
          </a:xfrm>
          <a:prstGeom prst="line">
            <a:avLst/>
          </a:prstGeom>
          <a:ln w="28575">
            <a:solidFill>
              <a:srgbClr val="082B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6" name="Connector 625"/>
          <p:cNvCxnSpPr/>
          <p:nvPr/>
        </p:nvCxnSpPr>
        <p:spPr>
          <a:xfrm>
            <a:off x="11868912" y="3776472"/>
            <a:ext cx="448056" cy="0"/>
          </a:xfrm>
          <a:prstGeom prst="line">
            <a:avLst/>
          </a:prstGeom>
          <a:ln w="28575">
            <a:solidFill>
              <a:srgbClr val="082B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7" name="Rounded Rectangle 626"/>
          <p:cNvSpPr/>
          <p:nvPr/>
        </p:nvSpPr>
        <p:spPr>
          <a:xfrm>
            <a:off x="12316968" y="2578608"/>
            <a:ext cx="1179576" cy="7132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" name="Rounded Rectangle 627"/>
          <p:cNvSpPr/>
          <p:nvPr/>
        </p:nvSpPr>
        <p:spPr>
          <a:xfrm>
            <a:off x="12390120" y="2642616"/>
            <a:ext cx="182880" cy="585216"/>
          </a:xfrm>
          <a:prstGeom prst="roundRect">
            <a:avLst/>
          </a:prstGeom>
          <a:solidFill>
            <a:srgbClr val="F5F5F3"/>
          </a:solidFill>
          <a:ln w="16192">
            <a:solidFill>
              <a:srgbClr val="082B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" name="Oval 628"/>
          <p:cNvSpPr/>
          <p:nvPr/>
        </p:nvSpPr>
        <p:spPr>
          <a:xfrm>
            <a:off x="12446812" y="2699308"/>
            <a:ext cx="69494" cy="69494"/>
          </a:xfrm>
          <a:prstGeom prst="ellipse">
            <a:avLst/>
          </a:prstGeom>
          <a:solidFill>
            <a:srgbClr val="111111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" name="Oval 629"/>
          <p:cNvSpPr/>
          <p:nvPr/>
        </p:nvSpPr>
        <p:spPr>
          <a:xfrm>
            <a:off x="12446812" y="2833420"/>
            <a:ext cx="69494" cy="69494"/>
          </a:xfrm>
          <a:prstGeom prst="ellipse">
            <a:avLst/>
          </a:prstGeom>
          <a:solidFill>
            <a:srgbClr val="111111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Oval 630"/>
          <p:cNvSpPr/>
          <p:nvPr/>
        </p:nvSpPr>
        <p:spPr>
          <a:xfrm>
            <a:off x="12446812" y="2967532"/>
            <a:ext cx="69494" cy="69494"/>
          </a:xfrm>
          <a:prstGeom prst="ellipse">
            <a:avLst/>
          </a:prstGeom>
          <a:solidFill>
            <a:srgbClr val="111111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" name="Oval 631"/>
          <p:cNvSpPr/>
          <p:nvPr/>
        </p:nvSpPr>
        <p:spPr>
          <a:xfrm>
            <a:off x="12446812" y="3101644"/>
            <a:ext cx="69494" cy="69494"/>
          </a:xfrm>
          <a:prstGeom prst="ellipse">
            <a:avLst/>
          </a:prstGeom>
          <a:solidFill>
            <a:srgbClr val="111111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" name="Oval 632"/>
          <p:cNvSpPr/>
          <p:nvPr/>
        </p:nvSpPr>
        <p:spPr>
          <a:xfrm>
            <a:off x="12431268" y="2688336"/>
            <a:ext cx="100584" cy="100584"/>
          </a:xfrm>
          <a:prstGeom prst="ellipse">
            <a:avLst/>
          </a:prstGeom>
          <a:solidFill>
            <a:srgbClr val="F49B56"/>
          </a:solidFill>
          <a:ln w="9525">
            <a:solidFill>
              <a:srgbClr val="082B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" name="Oval 633"/>
          <p:cNvSpPr/>
          <p:nvPr/>
        </p:nvSpPr>
        <p:spPr>
          <a:xfrm>
            <a:off x="12431268" y="3081528"/>
            <a:ext cx="100584" cy="100584"/>
          </a:xfrm>
          <a:prstGeom prst="ellipse">
            <a:avLst/>
          </a:prstGeom>
          <a:solidFill>
            <a:srgbClr val="F49B56"/>
          </a:solidFill>
          <a:ln w="9525">
            <a:solidFill>
              <a:srgbClr val="082B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5" name="Rounded Rectangle 634"/>
          <p:cNvSpPr/>
          <p:nvPr/>
        </p:nvSpPr>
        <p:spPr>
          <a:xfrm>
            <a:off x="13240512" y="2642616"/>
            <a:ext cx="182880" cy="585216"/>
          </a:xfrm>
          <a:prstGeom prst="roundRect">
            <a:avLst/>
          </a:prstGeom>
          <a:solidFill>
            <a:srgbClr val="F5F5F3"/>
          </a:solidFill>
          <a:ln w="16192">
            <a:solidFill>
              <a:srgbClr val="082B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" name="Oval 635"/>
          <p:cNvSpPr/>
          <p:nvPr/>
        </p:nvSpPr>
        <p:spPr>
          <a:xfrm>
            <a:off x="13297204" y="2699308"/>
            <a:ext cx="69494" cy="69494"/>
          </a:xfrm>
          <a:prstGeom prst="ellipse">
            <a:avLst/>
          </a:prstGeom>
          <a:solidFill>
            <a:srgbClr val="111111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7" name="Oval 636"/>
          <p:cNvSpPr/>
          <p:nvPr/>
        </p:nvSpPr>
        <p:spPr>
          <a:xfrm>
            <a:off x="13297204" y="2833420"/>
            <a:ext cx="69494" cy="69494"/>
          </a:xfrm>
          <a:prstGeom prst="ellipse">
            <a:avLst/>
          </a:prstGeom>
          <a:solidFill>
            <a:srgbClr val="111111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8" name="Oval 637"/>
          <p:cNvSpPr/>
          <p:nvPr/>
        </p:nvSpPr>
        <p:spPr>
          <a:xfrm>
            <a:off x="13297204" y="2967532"/>
            <a:ext cx="69494" cy="69494"/>
          </a:xfrm>
          <a:prstGeom prst="ellipse">
            <a:avLst/>
          </a:prstGeom>
          <a:solidFill>
            <a:srgbClr val="111111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9" name="Oval 638"/>
          <p:cNvSpPr/>
          <p:nvPr/>
        </p:nvSpPr>
        <p:spPr>
          <a:xfrm>
            <a:off x="13297204" y="3101644"/>
            <a:ext cx="69494" cy="69494"/>
          </a:xfrm>
          <a:prstGeom prst="ellipse">
            <a:avLst/>
          </a:prstGeom>
          <a:solidFill>
            <a:srgbClr val="111111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0" name="Oval 639"/>
          <p:cNvSpPr/>
          <p:nvPr/>
        </p:nvSpPr>
        <p:spPr>
          <a:xfrm>
            <a:off x="13281660" y="2688336"/>
            <a:ext cx="100584" cy="100584"/>
          </a:xfrm>
          <a:prstGeom prst="ellipse">
            <a:avLst/>
          </a:prstGeom>
          <a:solidFill>
            <a:srgbClr val="E6B48F"/>
          </a:solidFill>
          <a:ln w="9525">
            <a:solidFill>
              <a:srgbClr val="082B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1" name="Oval 640"/>
          <p:cNvSpPr/>
          <p:nvPr/>
        </p:nvSpPr>
        <p:spPr>
          <a:xfrm>
            <a:off x="13281660" y="3081528"/>
            <a:ext cx="100584" cy="100584"/>
          </a:xfrm>
          <a:prstGeom prst="ellipse">
            <a:avLst/>
          </a:prstGeom>
          <a:solidFill>
            <a:srgbClr val="E6B48F"/>
          </a:solidFill>
          <a:ln w="9525">
            <a:solidFill>
              <a:srgbClr val="082B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2" name="Connector 641"/>
          <p:cNvCxnSpPr/>
          <p:nvPr/>
        </p:nvCxnSpPr>
        <p:spPr>
          <a:xfrm>
            <a:off x="12600432" y="2715768"/>
            <a:ext cx="612648" cy="0"/>
          </a:xfrm>
          <a:prstGeom prst="line">
            <a:avLst/>
          </a:prstGeom>
          <a:ln w="12382">
            <a:solidFill>
              <a:srgbClr val="111111"/>
            </a:solidFill>
            <a:prstDash val="sysDot"/>
            <a:tailEnd type="triangle" w="med" len="med"/>
            <a:head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3" name="Connector 642"/>
          <p:cNvCxnSpPr/>
          <p:nvPr/>
        </p:nvCxnSpPr>
        <p:spPr>
          <a:xfrm>
            <a:off x="12600432" y="3154680"/>
            <a:ext cx="612648" cy="0"/>
          </a:xfrm>
          <a:prstGeom prst="line">
            <a:avLst/>
          </a:prstGeom>
          <a:ln w="12382">
            <a:solidFill>
              <a:srgbClr val="111111"/>
            </a:solidFill>
            <a:prstDash val="sysDot"/>
            <a:tailEnd type="triangle" w="med" len="med"/>
            <a:head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4" name="Rounded Rectangle 643"/>
          <p:cNvSpPr/>
          <p:nvPr/>
        </p:nvSpPr>
        <p:spPr>
          <a:xfrm>
            <a:off x="12316968" y="3410712"/>
            <a:ext cx="1179576" cy="7132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5" name="Rounded Rectangle 644"/>
          <p:cNvSpPr/>
          <p:nvPr/>
        </p:nvSpPr>
        <p:spPr>
          <a:xfrm>
            <a:off x="12390120" y="3474720"/>
            <a:ext cx="182880" cy="585216"/>
          </a:xfrm>
          <a:prstGeom prst="roundRect">
            <a:avLst/>
          </a:prstGeom>
          <a:solidFill>
            <a:srgbClr val="F5F5F3"/>
          </a:solidFill>
          <a:ln w="16192">
            <a:solidFill>
              <a:srgbClr val="082B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6" name="Oval 645"/>
          <p:cNvSpPr/>
          <p:nvPr/>
        </p:nvSpPr>
        <p:spPr>
          <a:xfrm>
            <a:off x="12446812" y="3531412"/>
            <a:ext cx="69494" cy="69494"/>
          </a:xfrm>
          <a:prstGeom prst="ellipse">
            <a:avLst/>
          </a:prstGeom>
          <a:solidFill>
            <a:srgbClr val="111111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7" name="Oval 646"/>
          <p:cNvSpPr/>
          <p:nvPr/>
        </p:nvSpPr>
        <p:spPr>
          <a:xfrm>
            <a:off x="12446812" y="3665524"/>
            <a:ext cx="69494" cy="69494"/>
          </a:xfrm>
          <a:prstGeom prst="ellipse">
            <a:avLst/>
          </a:prstGeom>
          <a:solidFill>
            <a:srgbClr val="111111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8" name="Oval 647"/>
          <p:cNvSpPr/>
          <p:nvPr/>
        </p:nvSpPr>
        <p:spPr>
          <a:xfrm>
            <a:off x="12446812" y="3799636"/>
            <a:ext cx="69494" cy="69494"/>
          </a:xfrm>
          <a:prstGeom prst="ellipse">
            <a:avLst/>
          </a:prstGeom>
          <a:solidFill>
            <a:srgbClr val="111111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9" name="Oval 648"/>
          <p:cNvSpPr/>
          <p:nvPr/>
        </p:nvSpPr>
        <p:spPr>
          <a:xfrm>
            <a:off x="12446812" y="3933748"/>
            <a:ext cx="69494" cy="69494"/>
          </a:xfrm>
          <a:prstGeom prst="ellipse">
            <a:avLst/>
          </a:prstGeom>
          <a:solidFill>
            <a:srgbClr val="111111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0" name="Oval 649"/>
          <p:cNvSpPr/>
          <p:nvPr/>
        </p:nvSpPr>
        <p:spPr>
          <a:xfrm>
            <a:off x="12431268" y="3520440"/>
            <a:ext cx="100584" cy="100584"/>
          </a:xfrm>
          <a:prstGeom prst="ellipse">
            <a:avLst/>
          </a:prstGeom>
          <a:solidFill>
            <a:srgbClr val="F49B56"/>
          </a:solidFill>
          <a:ln w="9525">
            <a:solidFill>
              <a:srgbClr val="082B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1" name="Oval 650"/>
          <p:cNvSpPr/>
          <p:nvPr/>
        </p:nvSpPr>
        <p:spPr>
          <a:xfrm>
            <a:off x="12431268" y="3913632"/>
            <a:ext cx="100584" cy="100584"/>
          </a:xfrm>
          <a:prstGeom prst="ellipse">
            <a:avLst/>
          </a:prstGeom>
          <a:solidFill>
            <a:srgbClr val="F49B56"/>
          </a:solidFill>
          <a:ln w="9525">
            <a:solidFill>
              <a:srgbClr val="082B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2" name="Rounded Rectangle 651"/>
          <p:cNvSpPr/>
          <p:nvPr/>
        </p:nvSpPr>
        <p:spPr>
          <a:xfrm>
            <a:off x="13240512" y="3474720"/>
            <a:ext cx="182880" cy="585216"/>
          </a:xfrm>
          <a:prstGeom prst="roundRect">
            <a:avLst/>
          </a:prstGeom>
          <a:solidFill>
            <a:srgbClr val="F5F5F3"/>
          </a:solidFill>
          <a:ln w="16192">
            <a:solidFill>
              <a:srgbClr val="082B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3" name="Oval 652"/>
          <p:cNvSpPr/>
          <p:nvPr/>
        </p:nvSpPr>
        <p:spPr>
          <a:xfrm>
            <a:off x="13297204" y="3531412"/>
            <a:ext cx="69494" cy="69494"/>
          </a:xfrm>
          <a:prstGeom prst="ellipse">
            <a:avLst/>
          </a:prstGeom>
          <a:solidFill>
            <a:srgbClr val="111111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4" name="Oval 653"/>
          <p:cNvSpPr/>
          <p:nvPr/>
        </p:nvSpPr>
        <p:spPr>
          <a:xfrm>
            <a:off x="13297204" y="3665524"/>
            <a:ext cx="69494" cy="69494"/>
          </a:xfrm>
          <a:prstGeom prst="ellipse">
            <a:avLst/>
          </a:prstGeom>
          <a:solidFill>
            <a:srgbClr val="111111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5" name="Oval 654"/>
          <p:cNvSpPr/>
          <p:nvPr/>
        </p:nvSpPr>
        <p:spPr>
          <a:xfrm>
            <a:off x="13297204" y="3799636"/>
            <a:ext cx="69494" cy="69494"/>
          </a:xfrm>
          <a:prstGeom prst="ellipse">
            <a:avLst/>
          </a:prstGeom>
          <a:solidFill>
            <a:srgbClr val="111111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6" name="Oval 655"/>
          <p:cNvSpPr/>
          <p:nvPr/>
        </p:nvSpPr>
        <p:spPr>
          <a:xfrm>
            <a:off x="13297204" y="3933748"/>
            <a:ext cx="69494" cy="69494"/>
          </a:xfrm>
          <a:prstGeom prst="ellipse">
            <a:avLst/>
          </a:prstGeom>
          <a:solidFill>
            <a:srgbClr val="111111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7" name="Oval 656"/>
          <p:cNvSpPr/>
          <p:nvPr/>
        </p:nvSpPr>
        <p:spPr>
          <a:xfrm>
            <a:off x="13281660" y="3520440"/>
            <a:ext cx="100584" cy="100584"/>
          </a:xfrm>
          <a:prstGeom prst="ellipse">
            <a:avLst/>
          </a:prstGeom>
          <a:solidFill>
            <a:srgbClr val="E6B48F"/>
          </a:solidFill>
          <a:ln w="9525">
            <a:solidFill>
              <a:srgbClr val="082B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8" name="Oval 657"/>
          <p:cNvSpPr/>
          <p:nvPr/>
        </p:nvSpPr>
        <p:spPr>
          <a:xfrm>
            <a:off x="13281660" y="3913632"/>
            <a:ext cx="100584" cy="100584"/>
          </a:xfrm>
          <a:prstGeom prst="ellipse">
            <a:avLst/>
          </a:prstGeom>
          <a:solidFill>
            <a:srgbClr val="E6B48F"/>
          </a:solidFill>
          <a:ln w="9525">
            <a:solidFill>
              <a:srgbClr val="082B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9" name="Connector 658"/>
          <p:cNvCxnSpPr/>
          <p:nvPr/>
        </p:nvCxnSpPr>
        <p:spPr>
          <a:xfrm>
            <a:off x="12600432" y="3547872"/>
            <a:ext cx="612648" cy="438912"/>
          </a:xfrm>
          <a:prstGeom prst="line">
            <a:avLst/>
          </a:prstGeom>
          <a:ln w="11429">
            <a:solidFill>
              <a:srgbClr val="111111"/>
            </a:solidFill>
            <a:prstDash val="sysDot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0" name="Connector 659"/>
          <p:cNvCxnSpPr/>
          <p:nvPr/>
        </p:nvCxnSpPr>
        <p:spPr>
          <a:xfrm flipV="1">
            <a:off x="12600432" y="3547872"/>
            <a:ext cx="612648" cy="438912"/>
          </a:xfrm>
          <a:prstGeom prst="line">
            <a:avLst/>
          </a:prstGeom>
          <a:ln w="11429">
            <a:solidFill>
              <a:srgbClr val="111111"/>
            </a:solidFill>
            <a:prstDash val="sysDot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1" name="Connector 660"/>
          <p:cNvCxnSpPr/>
          <p:nvPr/>
        </p:nvCxnSpPr>
        <p:spPr>
          <a:xfrm>
            <a:off x="13670280" y="2642616"/>
            <a:ext cx="91440" cy="0"/>
          </a:xfrm>
          <a:prstGeom prst="line">
            <a:avLst/>
          </a:prstGeom>
          <a:ln w="28575">
            <a:solidFill>
              <a:srgbClr val="082B6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2" name="Connector 661"/>
          <p:cNvCxnSpPr/>
          <p:nvPr/>
        </p:nvCxnSpPr>
        <p:spPr>
          <a:xfrm>
            <a:off x="13761720" y="2642616"/>
            <a:ext cx="45720" cy="73152"/>
          </a:xfrm>
          <a:prstGeom prst="line">
            <a:avLst/>
          </a:prstGeom>
          <a:ln w="28575">
            <a:solidFill>
              <a:srgbClr val="082B6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3" name="Connector 662"/>
          <p:cNvCxnSpPr/>
          <p:nvPr/>
        </p:nvCxnSpPr>
        <p:spPr>
          <a:xfrm>
            <a:off x="13807440" y="2715768"/>
            <a:ext cx="0" cy="566928"/>
          </a:xfrm>
          <a:prstGeom prst="line">
            <a:avLst/>
          </a:prstGeom>
          <a:ln w="28575">
            <a:solidFill>
              <a:srgbClr val="082B6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4" name="Connector 663"/>
          <p:cNvCxnSpPr/>
          <p:nvPr/>
        </p:nvCxnSpPr>
        <p:spPr>
          <a:xfrm>
            <a:off x="13807440" y="3282696"/>
            <a:ext cx="54864" cy="73152"/>
          </a:xfrm>
          <a:prstGeom prst="line">
            <a:avLst/>
          </a:prstGeom>
          <a:ln w="28575">
            <a:solidFill>
              <a:srgbClr val="082B6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5" name="Connector 664"/>
          <p:cNvCxnSpPr/>
          <p:nvPr/>
        </p:nvCxnSpPr>
        <p:spPr>
          <a:xfrm flipH="1">
            <a:off x="13807440" y="3355848"/>
            <a:ext cx="54864" cy="73152"/>
          </a:xfrm>
          <a:prstGeom prst="line">
            <a:avLst/>
          </a:prstGeom>
          <a:ln w="28575">
            <a:solidFill>
              <a:srgbClr val="082B6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6" name="Connector 665"/>
          <p:cNvCxnSpPr/>
          <p:nvPr/>
        </p:nvCxnSpPr>
        <p:spPr>
          <a:xfrm>
            <a:off x="13807440" y="3429000"/>
            <a:ext cx="0" cy="566928"/>
          </a:xfrm>
          <a:prstGeom prst="line">
            <a:avLst/>
          </a:prstGeom>
          <a:ln w="28575">
            <a:solidFill>
              <a:srgbClr val="082B6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7" name="Connector 666"/>
          <p:cNvCxnSpPr/>
          <p:nvPr/>
        </p:nvCxnSpPr>
        <p:spPr>
          <a:xfrm flipH="1">
            <a:off x="13761720" y="3995928"/>
            <a:ext cx="45720" cy="73152"/>
          </a:xfrm>
          <a:prstGeom prst="line">
            <a:avLst/>
          </a:prstGeom>
          <a:ln w="28575">
            <a:solidFill>
              <a:srgbClr val="082B6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8" name="Connector 667"/>
          <p:cNvCxnSpPr/>
          <p:nvPr/>
        </p:nvCxnSpPr>
        <p:spPr>
          <a:xfrm flipH="1">
            <a:off x="13670280" y="4069080"/>
            <a:ext cx="91440" cy="0"/>
          </a:xfrm>
          <a:prstGeom prst="line">
            <a:avLst/>
          </a:prstGeom>
          <a:ln w="28575">
            <a:solidFill>
              <a:srgbClr val="082B6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9" name="Connector 668"/>
          <p:cNvCxnSpPr/>
          <p:nvPr/>
        </p:nvCxnSpPr>
        <p:spPr>
          <a:xfrm>
            <a:off x="13862304" y="3355848"/>
            <a:ext cx="128016" cy="0"/>
          </a:xfrm>
          <a:prstGeom prst="line">
            <a:avLst/>
          </a:prstGeom>
          <a:ln w="28575">
            <a:solidFill>
              <a:srgbClr val="082B6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0" name="Connector 669"/>
          <p:cNvCxnSpPr/>
          <p:nvPr/>
        </p:nvCxnSpPr>
        <p:spPr>
          <a:xfrm flipV="1">
            <a:off x="13990320" y="2926080"/>
            <a:ext cx="0" cy="429768"/>
          </a:xfrm>
          <a:prstGeom prst="line">
            <a:avLst/>
          </a:prstGeom>
          <a:ln w="28575">
            <a:solidFill>
              <a:srgbClr val="082B6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1" name="Connector 670"/>
          <p:cNvCxnSpPr/>
          <p:nvPr/>
        </p:nvCxnSpPr>
        <p:spPr>
          <a:xfrm>
            <a:off x="13990320" y="2926080"/>
            <a:ext cx="576072" cy="0"/>
          </a:xfrm>
          <a:prstGeom prst="line">
            <a:avLst/>
          </a:prstGeom>
          <a:ln w="28575">
            <a:solidFill>
              <a:srgbClr val="082B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2" name="Connector 671"/>
          <p:cNvCxnSpPr/>
          <p:nvPr/>
        </p:nvCxnSpPr>
        <p:spPr>
          <a:xfrm>
            <a:off x="13990320" y="3355848"/>
            <a:ext cx="0" cy="420624"/>
          </a:xfrm>
          <a:prstGeom prst="line">
            <a:avLst/>
          </a:prstGeom>
          <a:ln w="28575">
            <a:solidFill>
              <a:srgbClr val="082B6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3" name="Connector 672"/>
          <p:cNvCxnSpPr/>
          <p:nvPr/>
        </p:nvCxnSpPr>
        <p:spPr>
          <a:xfrm>
            <a:off x="13990320" y="3776472"/>
            <a:ext cx="576072" cy="0"/>
          </a:xfrm>
          <a:prstGeom prst="line">
            <a:avLst/>
          </a:prstGeom>
          <a:ln w="28575">
            <a:solidFill>
              <a:srgbClr val="082B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4" name="Rectangle 673"/>
          <p:cNvSpPr/>
          <p:nvPr/>
        </p:nvSpPr>
        <p:spPr>
          <a:xfrm>
            <a:off x="14566392" y="2770632"/>
            <a:ext cx="905256" cy="347472"/>
          </a:xfrm>
          <a:prstGeom prst="rect">
            <a:avLst/>
          </a:prstGeom>
          <a:solidFill>
            <a:srgbClr val="F4DFD5"/>
          </a:solidFill>
          <a:ln w="17145">
            <a:solidFill>
              <a:srgbClr val="082B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" name="TextBox 674"/>
          <p:cNvSpPr txBox="1"/>
          <p:nvPr/>
        </p:nvSpPr>
        <p:spPr>
          <a:xfrm>
            <a:off x="14566392" y="2770632"/>
            <a:ext cx="905256" cy="347472"/>
          </a:xfrm>
          <a:prstGeom prst="rect">
            <a:avLst/>
          </a:prstGeom>
          <a:noFill/>
          <a:effectLst/>
        </p:spPr>
        <p:txBody>
          <a:bodyPr wrap="none" lIns="9144" rIns="9144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575" b="1" i="0">
                <a:solidFill>
                  <a:srgbClr val="101010"/>
                </a:solidFill>
                <a:latin typeface="Times New Roman"/>
              </a:defRPr>
            </a:pPr>
            <a:r>
              <a:t>Lₜ⁽¹⁾</a:t>
            </a:r>
          </a:p>
        </p:txBody>
      </p:sp>
      <p:sp>
        <p:nvSpPr>
          <p:cNvPr id="676" name="Rectangle 675"/>
          <p:cNvSpPr/>
          <p:nvPr/>
        </p:nvSpPr>
        <p:spPr>
          <a:xfrm>
            <a:off x="14566392" y="3602736"/>
            <a:ext cx="905256" cy="347472"/>
          </a:xfrm>
          <a:prstGeom prst="rect">
            <a:avLst/>
          </a:prstGeom>
          <a:solidFill>
            <a:srgbClr val="F4DFD5"/>
          </a:solidFill>
          <a:ln w="17145">
            <a:solidFill>
              <a:srgbClr val="082B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7" name="TextBox 676"/>
          <p:cNvSpPr txBox="1"/>
          <p:nvPr/>
        </p:nvSpPr>
        <p:spPr>
          <a:xfrm>
            <a:off x="14566392" y="3602736"/>
            <a:ext cx="905256" cy="347472"/>
          </a:xfrm>
          <a:prstGeom prst="rect">
            <a:avLst/>
          </a:prstGeom>
          <a:noFill/>
          <a:effectLst/>
        </p:spPr>
        <p:txBody>
          <a:bodyPr wrap="none" lIns="9144" rIns="9144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575" b="1" i="0">
                <a:solidFill>
                  <a:srgbClr val="101010"/>
                </a:solidFill>
                <a:latin typeface="Times New Roman"/>
              </a:defRPr>
            </a:pPr>
            <a:r>
              <a:t>Lwd⁽¹⁾</a:t>
            </a:r>
          </a:p>
        </p:txBody>
      </p:sp>
      <p:cxnSp>
        <p:nvCxnSpPr>
          <p:cNvPr id="678" name="Connector 677"/>
          <p:cNvCxnSpPr/>
          <p:nvPr/>
        </p:nvCxnSpPr>
        <p:spPr>
          <a:xfrm>
            <a:off x="15480792" y="2926080"/>
            <a:ext cx="91440" cy="0"/>
          </a:xfrm>
          <a:prstGeom prst="line">
            <a:avLst/>
          </a:prstGeom>
          <a:ln w="28575">
            <a:solidFill>
              <a:srgbClr val="082B6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9" name="Connector 678"/>
          <p:cNvCxnSpPr/>
          <p:nvPr/>
        </p:nvCxnSpPr>
        <p:spPr>
          <a:xfrm>
            <a:off x="15572232" y="2926080"/>
            <a:ext cx="45720" cy="73152"/>
          </a:xfrm>
          <a:prstGeom prst="line">
            <a:avLst/>
          </a:prstGeom>
          <a:ln w="28575">
            <a:solidFill>
              <a:srgbClr val="082B6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0" name="Connector 679"/>
          <p:cNvCxnSpPr/>
          <p:nvPr/>
        </p:nvCxnSpPr>
        <p:spPr>
          <a:xfrm>
            <a:off x="15617952" y="2999232"/>
            <a:ext cx="0" cy="278892"/>
          </a:xfrm>
          <a:prstGeom prst="line">
            <a:avLst/>
          </a:prstGeom>
          <a:ln w="28575">
            <a:solidFill>
              <a:srgbClr val="082B6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1" name="Connector 680"/>
          <p:cNvCxnSpPr/>
          <p:nvPr/>
        </p:nvCxnSpPr>
        <p:spPr>
          <a:xfrm>
            <a:off x="15617952" y="3278124"/>
            <a:ext cx="54864" cy="73152"/>
          </a:xfrm>
          <a:prstGeom prst="line">
            <a:avLst/>
          </a:prstGeom>
          <a:ln w="28575">
            <a:solidFill>
              <a:srgbClr val="082B6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2" name="Connector 681"/>
          <p:cNvCxnSpPr/>
          <p:nvPr/>
        </p:nvCxnSpPr>
        <p:spPr>
          <a:xfrm flipH="1">
            <a:off x="15617952" y="3351276"/>
            <a:ext cx="54864" cy="73152"/>
          </a:xfrm>
          <a:prstGeom prst="line">
            <a:avLst/>
          </a:prstGeom>
          <a:ln w="28575">
            <a:solidFill>
              <a:srgbClr val="082B6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3" name="Connector 682"/>
          <p:cNvCxnSpPr/>
          <p:nvPr/>
        </p:nvCxnSpPr>
        <p:spPr>
          <a:xfrm>
            <a:off x="15617952" y="3424428"/>
            <a:ext cx="0" cy="278892"/>
          </a:xfrm>
          <a:prstGeom prst="line">
            <a:avLst/>
          </a:prstGeom>
          <a:ln w="28575">
            <a:solidFill>
              <a:srgbClr val="082B6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4" name="Connector 683"/>
          <p:cNvCxnSpPr/>
          <p:nvPr/>
        </p:nvCxnSpPr>
        <p:spPr>
          <a:xfrm flipH="1">
            <a:off x="15572232" y="3703320"/>
            <a:ext cx="45720" cy="73152"/>
          </a:xfrm>
          <a:prstGeom prst="line">
            <a:avLst/>
          </a:prstGeom>
          <a:ln w="28575">
            <a:solidFill>
              <a:srgbClr val="082B6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5" name="Connector 684"/>
          <p:cNvCxnSpPr/>
          <p:nvPr/>
        </p:nvCxnSpPr>
        <p:spPr>
          <a:xfrm flipH="1">
            <a:off x="15480792" y="3776472"/>
            <a:ext cx="91440" cy="0"/>
          </a:xfrm>
          <a:prstGeom prst="line">
            <a:avLst/>
          </a:prstGeom>
          <a:ln w="28575">
            <a:solidFill>
              <a:srgbClr val="082B6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6" name="Connector 685"/>
          <p:cNvCxnSpPr/>
          <p:nvPr/>
        </p:nvCxnSpPr>
        <p:spPr>
          <a:xfrm>
            <a:off x="15672816" y="3355848"/>
            <a:ext cx="429768" cy="0"/>
          </a:xfrm>
          <a:prstGeom prst="line">
            <a:avLst/>
          </a:prstGeom>
          <a:ln w="28575">
            <a:solidFill>
              <a:srgbClr val="082B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7" name="Rectangle 686"/>
          <p:cNvSpPr/>
          <p:nvPr/>
        </p:nvSpPr>
        <p:spPr>
          <a:xfrm>
            <a:off x="16102584" y="3108960"/>
            <a:ext cx="896112" cy="365760"/>
          </a:xfrm>
          <a:prstGeom prst="rect">
            <a:avLst/>
          </a:prstGeom>
          <a:solidFill>
            <a:srgbClr val="D99A69"/>
          </a:solidFill>
          <a:ln w="17145">
            <a:solidFill>
              <a:srgbClr val="082B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8" name="TextBox 687"/>
          <p:cNvSpPr txBox="1"/>
          <p:nvPr/>
        </p:nvSpPr>
        <p:spPr>
          <a:xfrm>
            <a:off x="16102584" y="3108960"/>
            <a:ext cx="896112" cy="365760"/>
          </a:xfrm>
          <a:prstGeom prst="rect">
            <a:avLst/>
          </a:prstGeom>
          <a:noFill/>
          <a:effectLst/>
        </p:spPr>
        <p:txBody>
          <a:bodyPr wrap="none" lIns="9144" rIns="9144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101010"/>
                </a:solidFill>
                <a:latin typeface="Times New Roman"/>
              </a:defRPr>
            </a:pPr>
            <a:r>
              <a:t>Lₑₙₗ⁽¹⁾</a:t>
            </a:r>
          </a:p>
        </p:txBody>
      </p:sp>
      <p:sp>
        <p:nvSpPr>
          <p:cNvPr id="689" name="TextBox 688"/>
          <p:cNvSpPr txBox="1"/>
          <p:nvPr/>
        </p:nvSpPr>
        <p:spPr>
          <a:xfrm>
            <a:off x="15681960" y="2441448"/>
            <a:ext cx="1252728" cy="274320"/>
          </a:xfrm>
          <a:prstGeom prst="rect">
            <a:avLst/>
          </a:prstGeom>
          <a:noFill/>
          <a:effectLst/>
        </p:spPr>
        <p:txBody>
          <a:bodyPr wrap="none" lIns="9144" rIns="9144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101010"/>
                </a:solidFill>
                <a:latin typeface="Times New Roman"/>
              </a:defRPr>
            </a:pPr>
            <a:r>
              <a:t>Distillation loss</a:t>
            </a:r>
          </a:p>
        </p:txBody>
      </p:sp>
      <p:cxnSp>
        <p:nvCxnSpPr>
          <p:cNvPr id="690" name="Connector 689"/>
          <p:cNvCxnSpPr/>
          <p:nvPr/>
        </p:nvCxnSpPr>
        <p:spPr>
          <a:xfrm flipH="1" flipV="1">
            <a:off x="16532352" y="2862072"/>
            <a:ext cx="27432" cy="228600"/>
          </a:xfrm>
          <a:prstGeom prst="line">
            <a:avLst/>
          </a:prstGeom>
          <a:ln w="19050">
            <a:solidFill>
              <a:srgbClr val="666666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1" name="Connector 690"/>
          <p:cNvCxnSpPr/>
          <p:nvPr/>
        </p:nvCxnSpPr>
        <p:spPr>
          <a:xfrm flipH="1" flipV="1">
            <a:off x="16358616" y="2670048"/>
            <a:ext cx="173736" cy="192024"/>
          </a:xfrm>
          <a:prstGeom prst="line">
            <a:avLst/>
          </a:prstGeom>
          <a:ln w="19050">
            <a:solidFill>
              <a:srgbClr val="666666"/>
            </a:solidFill>
            <a:prstDash val="sysDot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2" name="Rounded Rectangle 691"/>
          <p:cNvSpPr/>
          <p:nvPr/>
        </p:nvSpPr>
        <p:spPr>
          <a:xfrm>
            <a:off x="12152376" y="4233672"/>
            <a:ext cx="2898648" cy="1014984"/>
          </a:xfrm>
          <a:prstGeom prst="roundRect">
            <a:avLst/>
          </a:prstGeom>
          <a:solidFill>
            <a:srgbClr val="FFF9D9"/>
          </a:solidFill>
          <a:ln w="14287">
            <a:solidFill>
              <a:srgbClr val="EABB27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3" name="Rounded Rectangle 692"/>
          <p:cNvSpPr/>
          <p:nvPr/>
        </p:nvSpPr>
        <p:spPr>
          <a:xfrm>
            <a:off x="12390120" y="4370832"/>
            <a:ext cx="1152144" cy="72237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4" name="Rounded Rectangle 693"/>
          <p:cNvSpPr/>
          <p:nvPr/>
        </p:nvSpPr>
        <p:spPr>
          <a:xfrm>
            <a:off x="12463272" y="4434840"/>
            <a:ext cx="182880" cy="594360"/>
          </a:xfrm>
          <a:prstGeom prst="roundRect">
            <a:avLst/>
          </a:prstGeom>
          <a:solidFill>
            <a:srgbClr val="F5F5F3"/>
          </a:solidFill>
          <a:ln w="16192">
            <a:solidFill>
              <a:srgbClr val="082B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5" name="Oval 694"/>
          <p:cNvSpPr/>
          <p:nvPr/>
        </p:nvSpPr>
        <p:spPr>
          <a:xfrm>
            <a:off x="12519964" y="4491532"/>
            <a:ext cx="69494" cy="69494"/>
          </a:xfrm>
          <a:prstGeom prst="ellipse">
            <a:avLst/>
          </a:prstGeom>
          <a:solidFill>
            <a:srgbClr val="111111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6" name="Oval 695"/>
          <p:cNvSpPr/>
          <p:nvPr/>
        </p:nvSpPr>
        <p:spPr>
          <a:xfrm>
            <a:off x="12519964" y="4628692"/>
            <a:ext cx="69494" cy="69494"/>
          </a:xfrm>
          <a:prstGeom prst="ellipse">
            <a:avLst/>
          </a:prstGeom>
          <a:solidFill>
            <a:srgbClr val="111111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7" name="Oval 696"/>
          <p:cNvSpPr/>
          <p:nvPr/>
        </p:nvSpPr>
        <p:spPr>
          <a:xfrm>
            <a:off x="12519964" y="4765852"/>
            <a:ext cx="69494" cy="69494"/>
          </a:xfrm>
          <a:prstGeom prst="ellipse">
            <a:avLst/>
          </a:prstGeom>
          <a:solidFill>
            <a:srgbClr val="111111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8" name="Oval 697"/>
          <p:cNvSpPr/>
          <p:nvPr/>
        </p:nvSpPr>
        <p:spPr>
          <a:xfrm>
            <a:off x="12519964" y="4903012"/>
            <a:ext cx="69494" cy="69494"/>
          </a:xfrm>
          <a:prstGeom prst="ellipse">
            <a:avLst/>
          </a:prstGeom>
          <a:solidFill>
            <a:srgbClr val="111111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9" name="Oval 698"/>
          <p:cNvSpPr/>
          <p:nvPr/>
        </p:nvSpPr>
        <p:spPr>
          <a:xfrm>
            <a:off x="12504420" y="4480560"/>
            <a:ext cx="100584" cy="100584"/>
          </a:xfrm>
          <a:prstGeom prst="ellipse">
            <a:avLst/>
          </a:prstGeom>
          <a:solidFill>
            <a:srgbClr val="F0C22A"/>
          </a:solidFill>
          <a:ln w="9525">
            <a:solidFill>
              <a:srgbClr val="082B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0" name="Oval 699"/>
          <p:cNvSpPr/>
          <p:nvPr/>
        </p:nvSpPr>
        <p:spPr>
          <a:xfrm>
            <a:off x="12504420" y="4882896"/>
            <a:ext cx="100584" cy="100584"/>
          </a:xfrm>
          <a:prstGeom prst="ellipse">
            <a:avLst/>
          </a:prstGeom>
          <a:solidFill>
            <a:srgbClr val="F0C22A"/>
          </a:solidFill>
          <a:ln w="9525">
            <a:solidFill>
              <a:srgbClr val="082B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1" name="Rounded Rectangle 700"/>
          <p:cNvSpPr/>
          <p:nvPr/>
        </p:nvSpPr>
        <p:spPr>
          <a:xfrm>
            <a:off x="13286232" y="4434840"/>
            <a:ext cx="182880" cy="594360"/>
          </a:xfrm>
          <a:prstGeom prst="roundRect">
            <a:avLst/>
          </a:prstGeom>
          <a:solidFill>
            <a:srgbClr val="F5F5F3"/>
          </a:solidFill>
          <a:ln w="16192">
            <a:solidFill>
              <a:srgbClr val="082B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2" name="Oval 701"/>
          <p:cNvSpPr/>
          <p:nvPr/>
        </p:nvSpPr>
        <p:spPr>
          <a:xfrm>
            <a:off x="13342924" y="4491532"/>
            <a:ext cx="69494" cy="69494"/>
          </a:xfrm>
          <a:prstGeom prst="ellipse">
            <a:avLst/>
          </a:prstGeom>
          <a:solidFill>
            <a:srgbClr val="111111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3" name="Oval 702"/>
          <p:cNvSpPr/>
          <p:nvPr/>
        </p:nvSpPr>
        <p:spPr>
          <a:xfrm>
            <a:off x="13342924" y="4628692"/>
            <a:ext cx="69494" cy="69494"/>
          </a:xfrm>
          <a:prstGeom prst="ellipse">
            <a:avLst/>
          </a:prstGeom>
          <a:solidFill>
            <a:srgbClr val="111111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4" name="Oval 703"/>
          <p:cNvSpPr/>
          <p:nvPr/>
        </p:nvSpPr>
        <p:spPr>
          <a:xfrm>
            <a:off x="13342924" y="4765852"/>
            <a:ext cx="69494" cy="69494"/>
          </a:xfrm>
          <a:prstGeom prst="ellipse">
            <a:avLst/>
          </a:prstGeom>
          <a:solidFill>
            <a:srgbClr val="111111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5" name="Oval 704"/>
          <p:cNvSpPr/>
          <p:nvPr/>
        </p:nvSpPr>
        <p:spPr>
          <a:xfrm>
            <a:off x="13342924" y="4903012"/>
            <a:ext cx="69494" cy="69494"/>
          </a:xfrm>
          <a:prstGeom prst="ellipse">
            <a:avLst/>
          </a:prstGeom>
          <a:solidFill>
            <a:srgbClr val="111111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6" name="Oval 705"/>
          <p:cNvSpPr/>
          <p:nvPr/>
        </p:nvSpPr>
        <p:spPr>
          <a:xfrm>
            <a:off x="13327380" y="4480560"/>
            <a:ext cx="100584" cy="100584"/>
          </a:xfrm>
          <a:prstGeom prst="ellipse">
            <a:avLst/>
          </a:prstGeom>
          <a:solidFill>
            <a:srgbClr val="F00027"/>
          </a:solidFill>
          <a:ln w="9525">
            <a:solidFill>
              <a:srgbClr val="082B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7" name="Oval 706"/>
          <p:cNvSpPr/>
          <p:nvPr/>
        </p:nvSpPr>
        <p:spPr>
          <a:xfrm>
            <a:off x="13327380" y="4882896"/>
            <a:ext cx="100584" cy="100584"/>
          </a:xfrm>
          <a:prstGeom prst="ellipse">
            <a:avLst/>
          </a:prstGeom>
          <a:solidFill>
            <a:srgbClr val="F00027"/>
          </a:solidFill>
          <a:ln w="9525">
            <a:solidFill>
              <a:srgbClr val="082B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8" name="Connector 707"/>
          <p:cNvCxnSpPr/>
          <p:nvPr/>
        </p:nvCxnSpPr>
        <p:spPr>
          <a:xfrm>
            <a:off x="12673584" y="4507992"/>
            <a:ext cx="585216" cy="0"/>
          </a:xfrm>
          <a:prstGeom prst="line">
            <a:avLst/>
          </a:prstGeom>
          <a:ln w="12382">
            <a:solidFill>
              <a:srgbClr val="111111"/>
            </a:solidFill>
            <a:prstDash val="sysDot"/>
            <a:tailEnd type="triangle" w="med" len="med"/>
            <a:head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9" name="Connector 708"/>
          <p:cNvCxnSpPr/>
          <p:nvPr/>
        </p:nvCxnSpPr>
        <p:spPr>
          <a:xfrm>
            <a:off x="12673584" y="4956048"/>
            <a:ext cx="585216" cy="0"/>
          </a:xfrm>
          <a:prstGeom prst="line">
            <a:avLst/>
          </a:prstGeom>
          <a:ln w="12382">
            <a:solidFill>
              <a:srgbClr val="111111"/>
            </a:solidFill>
            <a:prstDash val="sysDot"/>
            <a:tailEnd type="triangle" w="med" len="med"/>
            <a:head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0" name="Connector 709"/>
          <p:cNvCxnSpPr/>
          <p:nvPr/>
        </p:nvCxnSpPr>
        <p:spPr>
          <a:xfrm>
            <a:off x="13542264" y="4745736"/>
            <a:ext cx="758952" cy="0"/>
          </a:xfrm>
          <a:prstGeom prst="line">
            <a:avLst/>
          </a:prstGeom>
          <a:ln w="28575">
            <a:solidFill>
              <a:srgbClr val="082B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1" name="Rectangle 710"/>
          <p:cNvSpPr/>
          <p:nvPr/>
        </p:nvSpPr>
        <p:spPr>
          <a:xfrm>
            <a:off x="14301216" y="4526280"/>
            <a:ext cx="640080" cy="448056"/>
          </a:xfrm>
          <a:prstGeom prst="rect">
            <a:avLst/>
          </a:prstGeom>
          <a:solidFill>
            <a:srgbClr val="FFEBA0"/>
          </a:solidFill>
          <a:ln w="17145">
            <a:solidFill>
              <a:srgbClr val="082B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2" name="TextBox 711"/>
          <p:cNvSpPr txBox="1"/>
          <p:nvPr/>
        </p:nvSpPr>
        <p:spPr>
          <a:xfrm>
            <a:off x="14301216" y="4526280"/>
            <a:ext cx="640080" cy="448056"/>
          </a:xfrm>
          <a:prstGeom prst="rect">
            <a:avLst/>
          </a:prstGeom>
          <a:noFill/>
          <a:effectLst/>
        </p:spPr>
        <p:txBody>
          <a:bodyPr wrap="none" lIns="9144" rIns="9144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650" b="1" i="0">
                <a:solidFill>
                  <a:srgbClr val="101010"/>
                </a:solidFill>
                <a:latin typeface="Times New Roman"/>
              </a:defRPr>
            </a:pPr>
            <a:r>
              <a:t>L꜀ₑ</a:t>
            </a:r>
          </a:p>
        </p:txBody>
      </p:sp>
      <p:sp>
        <p:nvSpPr>
          <p:cNvPr id="713" name="TextBox 712"/>
          <p:cNvSpPr txBox="1"/>
          <p:nvPr/>
        </p:nvSpPr>
        <p:spPr>
          <a:xfrm>
            <a:off x="13551408" y="4160520"/>
            <a:ext cx="1426464" cy="274320"/>
          </a:xfrm>
          <a:prstGeom prst="rect">
            <a:avLst/>
          </a:prstGeom>
          <a:noFill/>
          <a:effectLst/>
        </p:spPr>
        <p:txBody>
          <a:bodyPr wrap="none" lIns="9144" rIns="9144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275" b="1" i="0">
                <a:solidFill>
                  <a:srgbClr val="101010"/>
                </a:solidFill>
                <a:latin typeface="Times New Roman"/>
              </a:defRPr>
            </a:pPr>
            <a:r>
              <a:t>Cross-entropy loss</a:t>
            </a:r>
          </a:p>
        </p:txBody>
      </p:sp>
      <p:cxnSp>
        <p:nvCxnSpPr>
          <p:cNvPr id="714" name="Connector 713"/>
          <p:cNvCxnSpPr/>
          <p:nvPr/>
        </p:nvCxnSpPr>
        <p:spPr>
          <a:xfrm flipH="1" flipV="1">
            <a:off x="14374368" y="4279392"/>
            <a:ext cx="82296" cy="137160"/>
          </a:xfrm>
          <a:prstGeom prst="line">
            <a:avLst/>
          </a:prstGeom>
          <a:ln w="19050">
            <a:solidFill>
              <a:srgbClr val="666666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5" name="Connector 714"/>
          <p:cNvCxnSpPr/>
          <p:nvPr/>
        </p:nvCxnSpPr>
        <p:spPr>
          <a:xfrm flipH="1" flipV="1">
            <a:off x="14200632" y="4233672"/>
            <a:ext cx="173736" cy="45720"/>
          </a:xfrm>
          <a:prstGeom prst="line">
            <a:avLst/>
          </a:prstGeom>
          <a:ln w="19050">
            <a:solidFill>
              <a:srgbClr val="666666"/>
            </a:solidFill>
            <a:prstDash val="sysDot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6" name="TextBox 715"/>
          <p:cNvSpPr txBox="1"/>
          <p:nvPr/>
        </p:nvSpPr>
        <p:spPr>
          <a:xfrm>
            <a:off x="14072616" y="4974336"/>
            <a:ext cx="713232" cy="246888"/>
          </a:xfrm>
          <a:prstGeom prst="rect">
            <a:avLst/>
          </a:prstGeom>
          <a:noFill/>
          <a:effectLst/>
        </p:spPr>
        <p:txBody>
          <a:bodyPr wrap="none" lIns="9144" rIns="9144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275" b="1" i="0">
                <a:solidFill>
                  <a:srgbClr val="101010"/>
                </a:solidFill>
                <a:latin typeface="Times New Roman"/>
              </a:defRPr>
            </a:pPr>
            <a:r>
              <a:t>Label</a:t>
            </a:r>
          </a:p>
        </p:txBody>
      </p:sp>
      <p:cxnSp>
        <p:nvCxnSpPr>
          <p:cNvPr id="717" name="Connector 716"/>
          <p:cNvCxnSpPr/>
          <p:nvPr/>
        </p:nvCxnSpPr>
        <p:spPr>
          <a:xfrm flipH="1" flipV="1">
            <a:off x="13569696" y="4965192"/>
            <a:ext cx="493776" cy="128016"/>
          </a:xfrm>
          <a:prstGeom prst="line">
            <a:avLst/>
          </a:prstGeom>
          <a:ln w="19050">
            <a:solidFill>
              <a:srgbClr val="666666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8" name="Connector 717"/>
          <p:cNvCxnSpPr/>
          <p:nvPr/>
        </p:nvCxnSpPr>
        <p:spPr>
          <a:xfrm flipH="1" flipV="1">
            <a:off x="13359384" y="4901184"/>
            <a:ext cx="210312" cy="64008"/>
          </a:xfrm>
          <a:prstGeom prst="line">
            <a:avLst/>
          </a:prstGeom>
          <a:ln w="19050">
            <a:solidFill>
              <a:srgbClr val="666666"/>
            </a:solidFill>
            <a:prstDash val="sysDot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9" name="Rounded Rectangle 718"/>
          <p:cNvSpPr/>
          <p:nvPr/>
        </p:nvSpPr>
        <p:spPr>
          <a:xfrm>
            <a:off x="10652760" y="5321808"/>
            <a:ext cx="6355080" cy="1719072"/>
          </a:xfrm>
          <a:prstGeom prst="roundRect">
            <a:avLst/>
          </a:prstGeom>
          <a:solidFill>
            <a:srgbClr val="DFF0E4"/>
          </a:solidFill>
          <a:ln w="15240">
            <a:solidFill>
              <a:srgbClr val="9ECB69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0" name="TextBox 719"/>
          <p:cNvSpPr txBox="1"/>
          <p:nvPr/>
        </p:nvSpPr>
        <p:spPr>
          <a:xfrm>
            <a:off x="10780776" y="5486400"/>
            <a:ext cx="1545336" cy="521208"/>
          </a:xfrm>
          <a:prstGeom prst="rect">
            <a:avLst/>
          </a:prstGeom>
          <a:noFill/>
          <a:effectLst/>
        </p:spPr>
        <p:txBody>
          <a:bodyPr wrap="none" lIns="9144" rIns="9144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350" b="1" i="0">
                <a:solidFill>
                  <a:srgbClr val="101010"/>
                </a:solidFill>
                <a:latin typeface="Times New Roman"/>
              </a:defRPr>
            </a:pPr>
            <a:r>
              <a:t>Corresponding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350" b="1" i="0">
                <a:solidFill>
                  <a:srgbClr val="101010"/>
                </a:solidFill>
                <a:latin typeface="Times New Roman"/>
              </a:defRPr>
            </a:pPr>
            <a:r>
              <a:t>category</a:t>
            </a:r>
          </a:p>
        </p:txBody>
      </p:sp>
      <p:sp>
        <p:nvSpPr>
          <p:cNvPr id="721" name="TextBox 720"/>
          <p:cNvSpPr txBox="1"/>
          <p:nvPr/>
        </p:nvSpPr>
        <p:spPr>
          <a:xfrm>
            <a:off x="10780776" y="6336792"/>
            <a:ext cx="1463040" cy="384048"/>
          </a:xfrm>
          <a:prstGeom prst="rect">
            <a:avLst/>
          </a:prstGeom>
          <a:noFill/>
          <a:effectLst/>
        </p:spPr>
        <p:txBody>
          <a:bodyPr wrap="none" lIns="9144" rIns="9144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350" b="1" i="0">
                <a:solidFill>
                  <a:srgbClr val="101010"/>
                </a:solidFill>
                <a:latin typeface="Times New Roman"/>
              </a:defRPr>
            </a:pPr>
            <a:r>
              <a:t>Cross-category</a:t>
            </a:r>
          </a:p>
        </p:txBody>
      </p:sp>
      <p:cxnSp>
        <p:nvCxnSpPr>
          <p:cNvPr id="722" name="Connector 721"/>
          <p:cNvCxnSpPr/>
          <p:nvPr/>
        </p:nvCxnSpPr>
        <p:spPr>
          <a:xfrm>
            <a:off x="11777472" y="5760720"/>
            <a:ext cx="539496" cy="0"/>
          </a:xfrm>
          <a:prstGeom prst="line">
            <a:avLst/>
          </a:prstGeom>
          <a:ln w="28575">
            <a:solidFill>
              <a:srgbClr val="082B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3" name="Connector 722"/>
          <p:cNvCxnSpPr/>
          <p:nvPr/>
        </p:nvCxnSpPr>
        <p:spPr>
          <a:xfrm>
            <a:off x="11868912" y="6601968"/>
            <a:ext cx="448056" cy="0"/>
          </a:xfrm>
          <a:prstGeom prst="line">
            <a:avLst/>
          </a:prstGeom>
          <a:ln w="28575">
            <a:solidFill>
              <a:srgbClr val="082B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4" name="Rounded Rectangle 723"/>
          <p:cNvSpPr/>
          <p:nvPr/>
        </p:nvSpPr>
        <p:spPr>
          <a:xfrm>
            <a:off x="12316968" y="5394960"/>
            <a:ext cx="1179576" cy="7132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5" name="Rounded Rectangle 724"/>
          <p:cNvSpPr/>
          <p:nvPr/>
        </p:nvSpPr>
        <p:spPr>
          <a:xfrm>
            <a:off x="12390120" y="5458968"/>
            <a:ext cx="182880" cy="585216"/>
          </a:xfrm>
          <a:prstGeom prst="roundRect">
            <a:avLst/>
          </a:prstGeom>
          <a:solidFill>
            <a:srgbClr val="F5F5F3"/>
          </a:solidFill>
          <a:ln w="16192">
            <a:solidFill>
              <a:srgbClr val="082B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6" name="Oval 725"/>
          <p:cNvSpPr/>
          <p:nvPr/>
        </p:nvSpPr>
        <p:spPr>
          <a:xfrm>
            <a:off x="12446812" y="5515660"/>
            <a:ext cx="69494" cy="69494"/>
          </a:xfrm>
          <a:prstGeom prst="ellipse">
            <a:avLst/>
          </a:prstGeom>
          <a:solidFill>
            <a:srgbClr val="111111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7" name="Oval 726"/>
          <p:cNvSpPr/>
          <p:nvPr/>
        </p:nvSpPr>
        <p:spPr>
          <a:xfrm>
            <a:off x="12446812" y="5649772"/>
            <a:ext cx="69494" cy="69494"/>
          </a:xfrm>
          <a:prstGeom prst="ellipse">
            <a:avLst/>
          </a:prstGeom>
          <a:solidFill>
            <a:srgbClr val="111111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8" name="Oval 727"/>
          <p:cNvSpPr/>
          <p:nvPr/>
        </p:nvSpPr>
        <p:spPr>
          <a:xfrm>
            <a:off x="12446812" y="5783884"/>
            <a:ext cx="69494" cy="69494"/>
          </a:xfrm>
          <a:prstGeom prst="ellipse">
            <a:avLst/>
          </a:prstGeom>
          <a:solidFill>
            <a:srgbClr val="111111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9" name="Oval 728"/>
          <p:cNvSpPr/>
          <p:nvPr/>
        </p:nvSpPr>
        <p:spPr>
          <a:xfrm>
            <a:off x="12446812" y="5917996"/>
            <a:ext cx="69494" cy="69494"/>
          </a:xfrm>
          <a:prstGeom prst="ellipse">
            <a:avLst/>
          </a:prstGeom>
          <a:solidFill>
            <a:srgbClr val="111111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0" name="Oval 729"/>
          <p:cNvSpPr/>
          <p:nvPr/>
        </p:nvSpPr>
        <p:spPr>
          <a:xfrm>
            <a:off x="12431268" y="5504688"/>
            <a:ext cx="100584" cy="100584"/>
          </a:xfrm>
          <a:prstGeom prst="ellipse">
            <a:avLst/>
          </a:prstGeom>
          <a:solidFill>
            <a:srgbClr val="4C8D35"/>
          </a:solidFill>
          <a:ln w="9525">
            <a:solidFill>
              <a:srgbClr val="082B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1" name="Oval 730"/>
          <p:cNvSpPr/>
          <p:nvPr/>
        </p:nvSpPr>
        <p:spPr>
          <a:xfrm>
            <a:off x="12431268" y="5897880"/>
            <a:ext cx="100584" cy="100584"/>
          </a:xfrm>
          <a:prstGeom prst="ellipse">
            <a:avLst/>
          </a:prstGeom>
          <a:solidFill>
            <a:srgbClr val="4C8D35"/>
          </a:solidFill>
          <a:ln w="9525">
            <a:solidFill>
              <a:srgbClr val="082B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2" name="Rounded Rectangle 731"/>
          <p:cNvSpPr/>
          <p:nvPr/>
        </p:nvSpPr>
        <p:spPr>
          <a:xfrm>
            <a:off x="13240512" y="5458968"/>
            <a:ext cx="182880" cy="585216"/>
          </a:xfrm>
          <a:prstGeom prst="roundRect">
            <a:avLst/>
          </a:prstGeom>
          <a:solidFill>
            <a:srgbClr val="F5F5F3"/>
          </a:solidFill>
          <a:ln w="16192">
            <a:solidFill>
              <a:srgbClr val="082B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3" name="Oval 732"/>
          <p:cNvSpPr/>
          <p:nvPr/>
        </p:nvSpPr>
        <p:spPr>
          <a:xfrm>
            <a:off x="13297204" y="5515660"/>
            <a:ext cx="69494" cy="69494"/>
          </a:xfrm>
          <a:prstGeom prst="ellipse">
            <a:avLst/>
          </a:prstGeom>
          <a:solidFill>
            <a:srgbClr val="111111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4" name="Oval 733"/>
          <p:cNvSpPr/>
          <p:nvPr/>
        </p:nvSpPr>
        <p:spPr>
          <a:xfrm>
            <a:off x="13297204" y="5649772"/>
            <a:ext cx="69494" cy="69494"/>
          </a:xfrm>
          <a:prstGeom prst="ellipse">
            <a:avLst/>
          </a:prstGeom>
          <a:solidFill>
            <a:srgbClr val="111111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5" name="Oval 734"/>
          <p:cNvSpPr/>
          <p:nvPr/>
        </p:nvSpPr>
        <p:spPr>
          <a:xfrm>
            <a:off x="13297204" y="5783884"/>
            <a:ext cx="69494" cy="69494"/>
          </a:xfrm>
          <a:prstGeom prst="ellipse">
            <a:avLst/>
          </a:prstGeom>
          <a:solidFill>
            <a:srgbClr val="111111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6" name="Oval 735"/>
          <p:cNvSpPr/>
          <p:nvPr/>
        </p:nvSpPr>
        <p:spPr>
          <a:xfrm>
            <a:off x="13297204" y="5917996"/>
            <a:ext cx="69494" cy="69494"/>
          </a:xfrm>
          <a:prstGeom prst="ellipse">
            <a:avLst/>
          </a:prstGeom>
          <a:solidFill>
            <a:srgbClr val="111111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7" name="Oval 736"/>
          <p:cNvSpPr/>
          <p:nvPr/>
        </p:nvSpPr>
        <p:spPr>
          <a:xfrm>
            <a:off x="13281660" y="5504688"/>
            <a:ext cx="100584" cy="100584"/>
          </a:xfrm>
          <a:prstGeom prst="ellipse">
            <a:avLst/>
          </a:prstGeom>
          <a:solidFill>
            <a:srgbClr val="ADD2A2"/>
          </a:solidFill>
          <a:ln w="9525">
            <a:solidFill>
              <a:srgbClr val="082B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8" name="Oval 737"/>
          <p:cNvSpPr/>
          <p:nvPr/>
        </p:nvSpPr>
        <p:spPr>
          <a:xfrm>
            <a:off x="13281660" y="5897880"/>
            <a:ext cx="100584" cy="100584"/>
          </a:xfrm>
          <a:prstGeom prst="ellipse">
            <a:avLst/>
          </a:prstGeom>
          <a:solidFill>
            <a:srgbClr val="ADD2A2"/>
          </a:solidFill>
          <a:ln w="9525">
            <a:solidFill>
              <a:srgbClr val="082B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9" name="Connector 738"/>
          <p:cNvCxnSpPr/>
          <p:nvPr/>
        </p:nvCxnSpPr>
        <p:spPr>
          <a:xfrm>
            <a:off x="12600432" y="5532120"/>
            <a:ext cx="612648" cy="0"/>
          </a:xfrm>
          <a:prstGeom prst="line">
            <a:avLst/>
          </a:prstGeom>
          <a:ln w="12382">
            <a:solidFill>
              <a:srgbClr val="111111"/>
            </a:solidFill>
            <a:prstDash val="sysDot"/>
            <a:tailEnd type="triangle" w="med" len="med"/>
            <a:head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0" name="Connector 739"/>
          <p:cNvCxnSpPr/>
          <p:nvPr/>
        </p:nvCxnSpPr>
        <p:spPr>
          <a:xfrm>
            <a:off x="12600432" y="5971032"/>
            <a:ext cx="612648" cy="0"/>
          </a:xfrm>
          <a:prstGeom prst="line">
            <a:avLst/>
          </a:prstGeom>
          <a:ln w="12382">
            <a:solidFill>
              <a:srgbClr val="111111"/>
            </a:solidFill>
            <a:prstDash val="sysDot"/>
            <a:tailEnd type="triangle" w="med" len="med"/>
            <a:head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1" name="Rounded Rectangle 740"/>
          <p:cNvSpPr/>
          <p:nvPr/>
        </p:nvSpPr>
        <p:spPr>
          <a:xfrm>
            <a:off x="12316968" y="6227064"/>
            <a:ext cx="1179576" cy="7132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2" name="Rounded Rectangle 741"/>
          <p:cNvSpPr/>
          <p:nvPr/>
        </p:nvSpPr>
        <p:spPr>
          <a:xfrm>
            <a:off x="12390120" y="6291072"/>
            <a:ext cx="182880" cy="585216"/>
          </a:xfrm>
          <a:prstGeom prst="roundRect">
            <a:avLst/>
          </a:prstGeom>
          <a:solidFill>
            <a:srgbClr val="F5F5F3"/>
          </a:solidFill>
          <a:ln w="16192">
            <a:solidFill>
              <a:srgbClr val="082B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3" name="Oval 742"/>
          <p:cNvSpPr/>
          <p:nvPr/>
        </p:nvSpPr>
        <p:spPr>
          <a:xfrm>
            <a:off x="12446812" y="6347764"/>
            <a:ext cx="69494" cy="69494"/>
          </a:xfrm>
          <a:prstGeom prst="ellipse">
            <a:avLst/>
          </a:prstGeom>
          <a:solidFill>
            <a:srgbClr val="111111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4" name="Oval 743"/>
          <p:cNvSpPr/>
          <p:nvPr/>
        </p:nvSpPr>
        <p:spPr>
          <a:xfrm>
            <a:off x="12446812" y="6481876"/>
            <a:ext cx="69494" cy="69494"/>
          </a:xfrm>
          <a:prstGeom prst="ellipse">
            <a:avLst/>
          </a:prstGeom>
          <a:solidFill>
            <a:srgbClr val="111111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5" name="Oval 744"/>
          <p:cNvSpPr/>
          <p:nvPr/>
        </p:nvSpPr>
        <p:spPr>
          <a:xfrm>
            <a:off x="12446812" y="6615988"/>
            <a:ext cx="69494" cy="69494"/>
          </a:xfrm>
          <a:prstGeom prst="ellipse">
            <a:avLst/>
          </a:prstGeom>
          <a:solidFill>
            <a:srgbClr val="111111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6" name="Oval 745"/>
          <p:cNvSpPr/>
          <p:nvPr/>
        </p:nvSpPr>
        <p:spPr>
          <a:xfrm>
            <a:off x="12446812" y="6750100"/>
            <a:ext cx="69494" cy="69494"/>
          </a:xfrm>
          <a:prstGeom prst="ellipse">
            <a:avLst/>
          </a:prstGeom>
          <a:solidFill>
            <a:srgbClr val="111111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7" name="Oval 746"/>
          <p:cNvSpPr/>
          <p:nvPr/>
        </p:nvSpPr>
        <p:spPr>
          <a:xfrm>
            <a:off x="12431268" y="6336792"/>
            <a:ext cx="100584" cy="100584"/>
          </a:xfrm>
          <a:prstGeom prst="ellipse">
            <a:avLst/>
          </a:prstGeom>
          <a:solidFill>
            <a:srgbClr val="4C8D35"/>
          </a:solidFill>
          <a:ln w="9525">
            <a:solidFill>
              <a:srgbClr val="082B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8" name="Oval 747"/>
          <p:cNvSpPr/>
          <p:nvPr/>
        </p:nvSpPr>
        <p:spPr>
          <a:xfrm>
            <a:off x="12431268" y="6729984"/>
            <a:ext cx="100584" cy="100584"/>
          </a:xfrm>
          <a:prstGeom prst="ellipse">
            <a:avLst/>
          </a:prstGeom>
          <a:solidFill>
            <a:srgbClr val="4C8D35"/>
          </a:solidFill>
          <a:ln w="9525">
            <a:solidFill>
              <a:srgbClr val="082B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9" name="Rounded Rectangle 748"/>
          <p:cNvSpPr/>
          <p:nvPr/>
        </p:nvSpPr>
        <p:spPr>
          <a:xfrm>
            <a:off x="13240512" y="6291072"/>
            <a:ext cx="182880" cy="585216"/>
          </a:xfrm>
          <a:prstGeom prst="roundRect">
            <a:avLst/>
          </a:prstGeom>
          <a:solidFill>
            <a:srgbClr val="F5F5F3"/>
          </a:solidFill>
          <a:ln w="16192">
            <a:solidFill>
              <a:srgbClr val="082B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0" name="Oval 749"/>
          <p:cNvSpPr/>
          <p:nvPr/>
        </p:nvSpPr>
        <p:spPr>
          <a:xfrm>
            <a:off x="13297204" y="6347764"/>
            <a:ext cx="69494" cy="69494"/>
          </a:xfrm>
          <a:prstGeom prst="ellipse">
            <a:avLst/>
          </a:prstGeom>
          <a:solidFill>
            <a:srgbClr val="111111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1" name="Oval 750"/>
          <p:cNvSpPr/>
          <p:nvPr/>
        </p:nvSpPr>
        <p:spPr>
          <a:xfrm>
            <a:off x="13297204" y="6481876"/>
            <a:ext cx="69494" cy="69494"/>
          </a:xfrm>
          <a:prstGeom prst="ellipse">
            <a:avLst/>
          </a:prstGeom>
          <a:solidFill>
            <a:srgbClr val="111111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2" name="Oval 751"/>
          <p:cNvSpPr/>
          <p:nvPr/>
        </p:nvSpPr>
        <p:spPr>
          <a:xfrm>
            <a:off x="13297204" y="6615988"/>
            <a:ext cx="69494" cy="69494"/>
          </a:xfrm>
          <a:prstGeom prst="ellipse">
            <a:avLst/>
          </a:prstGeom>
          <a:solidFill>
            <a:srgbClr val="111111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3" name="Oval 752"/>
          <p:cNvSpPr/>
          <p:nvPr/>
        </p:nvSpPr>
        <p:spPr>
          <a:xfrm>
            <a:off x="13297204" y="6750100"/>
            <a:ext cx="69494" cy="69494"/>
          </a:xfrm>
          <a:prstGeom prst="ellipse">
            <a:avLst/>
          </a:prstGeom>
          <a:solidFill>
            <a:srgbClr val="111111"/>
          </a:solidFill>
          <a:ln w="571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4" name="Oval 753"/>
          <p:cNvSpPr/>
          <p:nvPr/>
        </p:nvSpPr>
        <p:spPr>
          <a:xfrm>
            <a:off x="13281660" y="6336792"/>
            <a:ext cx="100584" cy="100584"/>
          </a:xfrm>
          <a:prstGeom prst="ellipse">
            <a:avLst/>
          </a:prstGeom>
          <a:solidFill>
            <a:srgbClr val="ADD2A2"/>
          </a:solidFill>
          <a:ln w="9525">
            <a:solidFill>
              <a:srgbClr val="082B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5" name="Oval 754"/>
          <p:cNvSpPr/>
          <p:nvPr/>
        </p:nvSpPr>
        <p:spPr>
          <a:xfrm>
            <a:off x="13281660" y="6729984"/>
            <a:ext cx="100584" cy="100584"/>
          </a:xfrm>
          <a:prstGeom prst="ellipse">
            <a:avLst/>
          </a:prstGeom>
          <a:solidFill>
            <a:srgbClr val="ADD2A2"/>
          </a:solidFill>
          <a:ln w="9525">
            <a:solidFill>
              <a:srgbClr val="082B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6" name="Connector 755"/>
          <p:cNvCxnSpPr/>
          <p:nvPr/>
        </p:nvCxnSpPr>
        <p:spPr>
          <a:xfrm>
            <a:off x="12600432" y="6364224"/>
            <a:ext cx="612648" cy="438912"/>
          </a:xfrm>
          <a:prstGeom prst="line">
            <a:avLst/>
          </a:prstGeom>
          <a:ln w="11429">
            <a:solidFill>
              <a:srgbClr val="111111"/>
            </a:solidFill>
            <a:prstDash val="sysDot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7" name="Connector 756"/>
          <p:cNvCxnSpPr/>
          <p:nvPr/>
        </p:nvCxnSpPr>
        <p:spPr>
          <a:xfrm flipV="1">
            <a:off x="12600432" y="6364224"/>
            <a:ext cx="612648" cy="438912"/>
          </a:xfrm>
          <a:prstGeom prst="line">
            <a:avLst/>
          </a:prstGeom>
          <a:ln w="11429">
            <a:solidFill>
              <a:srgbClr val="111111"/>
            </a:solidFill>
            <a:prstDash val="sysDot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8" name="Connector 757"/>
          <p:cNvCxnSpPr/>
          <p:nvPr/>
        </p:nvCxnSpPr>
        <p:spPr>
          <a:xfrm>
            <a:off x="13670280" y="5458968"/>
            <a:ext cx="91440" cy="0"/>
          </a:xfrm>
          <a:prstGeom prst="line">
            <a:avLst/>
          </a:prstGeom>
          <a:ln w="28575">
            <a:solidFill>
              <a:srgbClr val="082B6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9" name="Connector 758"/>
          <p:cNvCxnSpPr/>
          <p:nvPr/>
        </p:nvCxnSpPr>
        <p:spPr>
          <a:xfrm>
            <a:off x="13761720" y="5458968"/>
            <a:ext cx="45720" cy="73152"/>
          </a:xfrm>
          <a:prstGeom prst="line">
            <a:avLst/>
          </a:prstGeom>
          <a:ln w="28575">
            <a:solidFill>
              <a:srgbClr val="082B6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0" name="Connector 759"/>
          <p:cNvCxnSpPr/>
          <p:nvPr/>
        </p:nvCxnSpPr>
        <p:spPr>
          <a:xfrm>
            <a:off x="13807440" y="5532120"/>
            <a:ext cx="0" cy="566928"/>
          </a:xfrm>
          <a:prstGeom prst="line">
            <a:avLst/>
          </a:prstGeom>
          <a:ln w="28575">
            <a:solidFill>
              <a:srgbClr val="082B6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1" name="Connector 760"/>
          <p:cNvCxnSpPr/>
          <p:nvPr/>
        </p:nvCxnSpPr>
        <p:spPr>
          <a:xfrm>
            <a:off x="13807440" y="6099048"/>
            <a:ext cx="54864" cy="73152"/>
          </a:xfrm>
          <a:prstGeom prst="line">
            <a:avLst/>
          </a:prstGeom>
          <a:ln w="28575">
            <a:solidFill>
              <a:srgbClr val="082B6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2" name="Connector 761"/>
          <p:cNvCxnSpPr/>
          <p:nvPr/>
        </p:nvCxnSpPr>
        <p:spPr>
          <a:xfrm flipH="1">
            <a:off x="13807440" y="6172200"/>
            <a:ext cx="54864" cy="73152"/>
          </a:xfrm>
          <a:prstGeom prst="line">
            <a:avLst/>
          </a:prstGeom>
          <a:ln w="28575">
            <a:solidFill>
              <a:srgbClr val="082B6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3" name="Connector 762"/>
          <p:cNvCxnSpPr/>
          <p:nvPr/>
        </p:nvCxnSpPr>
        <p:spPr>
          <a:xfrm>
            <a:off x="13807440" y="6245352"/>
            <a:ext cx="0" cy="566928"/>
          </a:xfrm>
          <a:prstGeom prst="line">
            <a:avLst/>
          </a:prstGeom>
          <a:ln w="28575">
            <a:solidFill>
              <a:srgbClr val="082B6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4" name="Connector 763"/>
          <p:cNvCxnSpPr/>
          <p:nvPr/>
        </p:nvCxnSpPr>
        <p:spPr>
          <a:xfrm flipH="1">
            <a:off x="13761720" y="6812280"/>
            <a:ext cx="45720" cy="73152"/>
          </a:xfrm>
          <a:prstGeom prst="line">
            <a:avLst/>
          </a:prstGeom>
          <a:ln w="28575">
            <a:solidFill>
              <a:srgbClr val="082B6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5" name="Connector 764"/>
          <p:cNvCxnSpPr/>
          <p:nvPr/>
        </p:nvCxnSpPr>
        <p:spPr>
          <a:xfrm flipH="1">
            <a:off x="13670280" y="6885432"/>
            <a:ext cx="91440" cy="0"/>
          </a:xfrm>
          <a:prstGeom prst="line">
            <a:avLst/>
          </a:prstGeom>
          <a:ln w="28575">
            <a:solidFill>
              <a:srgbClr val="082B6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6" name="Connector 765"/>
          <p:cNvCxnSpPr/>
          <p:nvPr/>
        </p:nvCxnSpPr>
        <p:spPr>
          <a:xfrm>
            <a:off x="13862304" y="6172200"/>
            <a:ext cx="128016" cy="0"/>
          </a:xfrm>
          <a:prstGeom prst="line">
            <a:avLst/>
          </a:prstGeom>
          <a:ln w="28575">
            <a:solidFill>
              <a:srgbClr val="082B6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7" name="Connector 766"/>
          <p:cNvCxnSpPr/>
          <p:nvPr/>
        </p:nvCxnSpPr>
        <p:spPr>
          <a:xfrm flipV="1">
            <a:off x="13990320" y="5742432"/>
            <a:ext cx="0" cy="429768"/>
          </a:xfrm>
          <a:prstGeom prst="line">
            <a:avLst/>
          </a:prstGeom>
          <a:ln w="28575">
            <a:solidFill>
              <a:srgbClr val="082B6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8" name="Connector 767"/>
          <p:cNvCxnSpPr/>
          <p:nvPr/>
        </p:nvCxnSpPr>
        <p:spPr>
          <a:xfrm>
            <a:off x="13990320" y="5742432"/>
            <a:ext cx="576072" cy="0"/>
          </a:xfrm>
          <a:prstGeom prst="line">
            <a:avLst/>
          </a:prstGeom>
          <a:ln w="28575">
            <a:solidFill>
              <a:srgbClr val="082B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9" name="Connector 768"/>
          <p:cNvCxnSpPr/>
          <p:nvPr/>
        </p:nvCxnSpPr>
        <p:spPr>
          <a:xfrm>
            <a:off x="13990320" y="6172200"/>
            <a:ext cx="0" cy="420624"/>
          </a:xfrm>
          <a:prstGeom prst="line">
            <a:avLst/>
          </a:prstGeom>
          <a:ln w="28575">
            <a:solidFill>
              <a:srgbClr val="082B6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0" name="Connector 769"/>
          <p:cNvCxnSpPr/>
          <p:nvPr/>
        </p:nvCxnSpPr>
        <p:spPr>
          <a:xfrm>
            <a:off x="13990320" y="6592824"/>
            <a:ext cx="576072" cy="0"/>
          </a:xfrm>
          <a:prstGeom prst="line">
            <a:avLst/>
          </a:prstGeom>
          <a:ln w="28575">
            <a:solidFill>
              <a:srgbClr val="082B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1" name="Rectangle 770"/>
          <p:cNvSpPr/>
          <p:nvPr/>
        </p:nvSpPr>
        <p:spPr>
          <a:xfrm>
            <a:off x="14566392" y="5577840"/>
            <a:ext cx="905256" cy="347472"/>
          </a:xfrm>
          <a:prstGeom prst="rect">
            <a:avLst/>
          </a:prstGeom>
          <a:solidFill>
            <a:srgbClr val="B9DDAA"/>
          </a:solidFill>
          <a:ln w="17145">
            <a:solidFill>
              <a:srgbClr val="082B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2" name="TextBox 771"/>
          <p:cNvSpPr txBox="1"/>
          <p:nvPr/>
        </p:nvSpPr>
        <p:spPr>
          <a:xfrm>
            <a:off x="14566392" y="5577840"/>
            <a:ext cx="905256" cy="347472"/>
          </a:xfrm>
          <a:prstGeom prst="rect">
            <a:avLst/>
          </a:prstGeom>
          <a:noFill/>
          <a:effectLst/>
        </p:spPr>
        <p:txBody>
          <a:bodyPr wrap="none" lIns="9144" rIns="9144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575" b="1" i="0">
                <a:solidFill>
                  <a:srgbClr val="101010"/>
                </a:solidFill>
                <a:latin typeface="Times New Roman"/>
              </a:defRPr>
            </a:pPr>
            <a:r>
              <a:t>Lₜ⁽²⁾</a:t>
            </a:r>
          </a:p>
        </p:txBody>
      </p:sp>
      <p:sp>
        <p:nvSpPr>
          <p:cNvPr id="773" name="Rectangle 772"/>
          <p:cNvSpPr/>
          <p:nvPr/>
        </p:nvSpPr>
        <p:spPr>
          <a:xfrm>
            <a:off x="14566392" y="6419088"/>
            <a:ext cx="905256" cy="347472"/>
          </a:xfrm>
          <a:prstGeom prst="rect">
            <a:avLst/>
          </a:prstGeom>
          <a:solidFill>
            <a:srgbClr val="B9DDAA"/>
          </a:solidFill>
          <a:ln w="17145">
            <a:solidFill>
              <a:srgbClr val="082B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4" name="TextBox 773"/>
          <p:cNvSpPr txBox="1"/>
          <p:nvPr/>
        </p:nvSpPr>
        <p:spPr>
          <a:xfrm>
            <a:off x="14566392" y="6419088"/>
            <a:ext cx="905256" cy="347472"/>
          </a:xfrm>
          <a:prstGeom prst="rect">
            <a:avLst/>
          </a:prstGeom>
          <a:noFill/>
          <a:effectLst/>
        </p:spPr>
        <p:txBody>
          <a:bodyPr wrap="none" lIns="9144" rIns="9144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575" b="1" i="0">
                <a:solidFill>
                  <a:srgbClr val="101010"/>
                </a:solidFill>
                <a:latin typeface="Times New Roman"/>
              </a:defRPr>
            </a:pPr>
            <a:r>
              <a:t>Lwd⁽²⁾</a:t>
            </a:r>
          </a:p>
        </p:txBody>
      </p:sp>
      <p:cxnSp>
        <p:nvCxnSpPr>
          <p:cNvPr id="775" name="Connector 774"/>
          <p:cNvCxnSpPr/>
          <p:nvPr/>
        </p:nvCxnSpPr>
        <p:spPr>
          <a:xfrm>
            <a:off x="15480792" y="5742432"/>
            <a:ext cx="91440" cy="0"/>
          </a:xfrm>
          <a:prstGeom prst="line">
            <a:avLst/>
          </a:prstGeom>
          <a:ln w="28575">
            <a:solidFill>
              <a:srgbClr val="082B6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6" name="Connector 775"/>
          <p:cNvCxnSpPr/>
          <p:nvPr/>
        </p:nvCxnSpPr>
        <p:spPr>
          <a:xfrm>
            <a:off x="15572232" y="5742432"/>
            <a:ext cx="45720" cy="73152"/>
          </a:xfrm>
          <a:prstGeom prst="line">
            <a:avLst/>
          </a:prstGeom>
          <a:ln w="28575">
            <a:solidFill>
              <a:srgbClr val="082B6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7" name="Connector 776"/>
          <p:cNvCxnSpPr/>
          <p:nvPr/>
        </p:nvCxnSpPr>
        <p:spPr>
          <a:xfrm>
            <a:off x="15617952" y="5815584"/>
            <a:ext cx="0" cy="278892"/>
          </a:xfrm>
          <a:prstGeom prst="line">
            <a:avLst/>
          </a:prstGeom>
          <a:ln w="28575">
            <a:solidFill>
              <a:srgbClr val="082B6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8" name="Connector 777"/>
          <p:cNvCxnSpPr/>
          <p:nvPr/>
        </p:nvCxnSpPr>
        <p:spPr>
          <a:xfrm>
            <a:off x="15617952" y="6094476"/>
            <a:ext cx="54864" cy="73152"/>
          </a:xfrm>
          <a:prstGeom prst="line">
            <a:avLst/>
          </a:prstGeom>
          <a:ln w="28575">
            <a:solidFill>
              <a:srgbClr val="082B6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9" name="Connector 778"/>
          <p:cNvCxnSpPr/>
          <p:nvPr/>
        </p:nvCxnSpPr>
        <p:spPr>
          <a:xfrm flipH="1">
            <a:off x="15617952" y="6167628"/>
            <a:ext cx="54864" cy="73152"/>
          </a:xfrm>
          <a:prstGeom prst="line">
            <a:avLst/>
          </a:prstGeom>
          <a:ln w="28575">
            <a:solidFill>
              <a:srgbClr val="082B6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0" name="Connector 779"/>
          <p:cNvCxnSpPr/>
          <p:nvPr/>
        </p:nvCxnSpPr>
        <p:spPr>
          <a:xfrm>
            <a:off x="15617952" y="6240780"/>
            <a:ext cx="0" cy="278892"/>
          </a:xfrm>
          <a:prstGeom prst="line">
            <a:avLst/>
          </a:prstGeom>
          <a:ln w="28575">
            <a:solidFill>
              <a:srgbClr val="082B6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1" name="Connector 780"/>
          <p:cNvCxnSpPr/>
          <p:nvPr/>
        </p:nvCxnSpPr>
        <p:spPr>
          <a:xfrm flipH="1">
            <a:off x="15572232" y="6519672"/>
            <a:ext cx="45720" cy="73152"/>
          </a:xfrm>
          <a:prstGeom prst="line">
            <a:avLst/>
          </a:prstGeom>
          <a:ln w="28575">
            <a:solidFill>
              <a:srgbClr val="082B6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2" name="Connector 781"/>
          <p:cNvCxnSpPr/>
          <p:nvPr/>
        </p:nvCxnSpPr>
        <p:spPr>
          <a:xfrm flipH="1">
            <a:off x="15480792" y="6592824"/>
            <a:ext cx="91440" cy="0"/>
          </a:xfrm>
          <a:prstGeom prst="line">
            <a:avLst/>
          </a:prstGeom>
          <a:ln w="28575">
            <a:solidFill>
              <a:srgbClr val="082B6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3" name="Connector 782"/>
          <p:cNvCxnSpPr/>
          <p:nvPr/>
        </p:nvCxnSpPr>
        <p:spPr>
          <a:xfrm>
            <a:off x="15672816" y="6172200"/>
            <a:ext cx="429768" cy="0"/>
          </a:xfrm>
          <a:prstGeom prst="line">
            <a:avLst/>
          </a:prstGeom>
          <a:ln w="28575">
            <a:solidFill>
              <a:srgbClr val="082B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4" name="Rectangle 783"/>
          <p:cNvSpPr/>
          <p:nvPr/>
        </p:nvSpPr>
        <p:spPr>
          <a:xfrm>
            <a:off x="16102584" y="5916168"/>
            <a:ext cx="896112" cy="365760"/>
          </a:xfrm>
          <a:prstGeom prst="rect">
            <a:avLst/>
          </a:prstGeom>
          <a:solidFill>
            <a:srgbClr val="85BA70"/>
          </a:solidFill>
          <a:ln w="17145">
            <a:solidFill>
              <a:srgbClr val="082B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5" name="TextBox 784"/>
          <p:cNvSpPr txBox="1"/>
          <p:nvPr/>
        </p:nvSpPr>
        <p:spPr>
          <a:xfrm>
            <a:off x="16102584" y="5916168"/>
            <a:ext cx="896112" cy="365760"/>
          </a:xfrm>
          <a:prstGeom prst="rect">
            <a:avLst/>
          </a:prstGeom>
          <a:noFill/>
          <a:effectLst/>
        </p:spPr>
        <p:txBody>
          <a:bodyPr wrap="none" lIns="9144" rIns="9144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101010"/>
                </a:solidFill>
                <a:latin typeface="Times New Roman"/>
              </a:defRPr>
            </a:pPr>
            <a:r>
              <a:t>Lₑₙₗ⁽²⁾</a:t>
            </a:r>
          </a:p>
        </p:txBody>
      </p:sp>
      <p:sp>
        <p:nvSpPr>
          <p:cNvPr id="786" name="TextBox 785"/>
          <p:cNvSpPr txBox="1"/>
          <p:nvPr/>
        </p:nvSpPr>
        <p:spPr>
          <a:xfrm>
            <a:off x="15681960" y="6766560"/>
            <a:ext cx="1252728" cy="228600"/>
          </a:xfrm>
          <a:prstGeom prst="rect">
            <a:avLst/>
          </a:prstGeom>
          <a:noFill/>
          <a:effectLst/>
        </p:spPr>
        <p:txBody>
          <a:bodyPr wrap="none" lIns="9144" rIns="9144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101010"/>
                </a:solidFill>
                <a:latin typeface="Times New Roman"/>
              </a:defRPr>
            </a:pPr>
            <a:r>
              <a:t>Distillation loss</a:t>
            </a:r>
          </a:p>
        </p:txBody>
      </p:sp>
      <p:cxnSp>
        <p:nvCxnSpPr>
          <p:cNvPr id="787" name="Connector 786"/>
          <p:cNvCxnSpPr/>
          <p:nvPr/>
        </p:nvCxnSpPr>
        <p:spPr>
          <a:xfrm flipH="1">
            <a:off x="16532352" y="6300216"/>
            <a:ext cx="27432" cy="219456"/>
          </a:xfrm>
          <a:prstGeom prst="line">
            <a:avLst/>
          </a:prstGeom>
          <a:ln w="19050">
            <a:solidFill>
              <a:srgbClr val="666666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8" name="Connector 787"/>
          <p:cNvCxnSpPr/>
          <p:nvPr/>
        </p:nvCxnSpPr>
        <p:spPr>
          <a:xfrm flipH="1">
            <a:off x="16358616" y="6519672"/>
            <a:ext cx="173736" cy="210312"/>
          </a:xfrm>
          <a:prstGeom prst="line">
            <a:avLst/>
          </a:prstGeom>
          <a:ln w="19050">
            <a:solidFill>
              <a:srgbClr val="666666"/>
            </a:solidFill>
            <a:prstDash val="sysDot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9" name="Rectangle 788"/>
          <p:cNvSpPr/>
          <p:nvPr/>
        </p:nvSpPr>
        <p:spPr>
          <a:xfrm>
            <a:off x="16056863" y="4553712"/>
            <a:ext cx="960120" cy="493776"/>
          </a:xfrm>
          <a:prstGeom prst="rect">
            <a:avLst/>
          </a:prstGeom>
          <a:solidFill>
            <a:srgbClr val="CB596A"/>
          </a:solidFill>
          <a:ln w="17145">
            <a:solidFill>
              <a:srgbClr val="082B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0" name="TextBox 789"/>
          <p:cNvSpPr txBox="1"/>
          <p:nvPr/>
        </p:nvSpPr>
        <p:spPr>
          <a:xfrm>
            <a:off x="16056863" y="4553712"/>
            <a:ext cx="960120" cy="493776"/>
          </a:xfrm>
          <a:prstGeom prst="rect">
            <a:avLst/>
          </a:prstGeom>
          <a:noFill/>
          <a:effectLst/>
        </p:spPr>
        <p:txBody>
          <a:bodyPr wrap="none" lIns="9144" rIns="9144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650" b="1" i="0">
                <a:solidFill>
                  <a:srgbClr val="101010"/>
                </a:solidFill>
                <a:latin typeface="Times New Roman"/>
              </a:defRPr>
            </a:pPr>
            <a:r>
              <a:t>LᵂᴰᴼᴸF</a:t>
            </a:r>
          </a:p>
        </p:txBody>
      </p:sp>
      <p:cxnSp>
        <p:nvCxnSpPr>
          <p:cNvPr id="791" name="Connector 790"/>
          <p:cNvCxnSpPr/>
          <p:nvPr/>
        </p:nvCxnSpPr>
        <p:spPr>
          <a:xfrm>
            <a:off x="14941296" y="4745736"/>
            <a:ext cx="1115567" cy="0"/>
          </a:xfrm>
          <a:prstGeom prst="line">
            <a:avLst/>
          </a:prstGeom>
          <a:ln w="28575">
            <a:solidFill>
              <a:srgbClr val="082B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2" name="Connector 791"/>
          <p:cNvCxnSpPr/>
          <p:nvPr/>
        </p:nvCxnSpPr>
        <p:spPr>
          <a:xfrm>
            <a:off x="16550640" y="3474720"/>
            <a:ext cx="0" cy="1078992"/>
          </a:xfrm>
          <a:prstGeom prst="line">
            <a:avLst/>
          </a:prstGeom>
          <a:ln w="28575">
            <a:solidFill>
              <a:srgbClr val="082B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3" name="Connector 792"/>
          <p:cNvCxnSpPr/>
          <p:nvPr/>
        </p:nvCxnSpPr>
        <p:spPr>
          <a:xfrm flipV="1">
            <a:off x="16550640" y="5047488"/>
            <a:ext cx="0" cy="868680"/>
          </a:xfrm>
          <a:prstGeom prst="line">
            <a:avLst/>
          </a:prstGeom>
          <a:ln w="28575">
            <a:solidFill>
              <a:srgbClr val="082B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__ORIGINAL_REFERENCE_IMAGE__" descr="Evolutionary Multi-View Classification via Eliminating Individual Fitness Bias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474184" cy="71597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