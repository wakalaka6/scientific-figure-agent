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760951" cy="694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6760952" cy="6949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separator-left-center"/>
          <p:cNvCxnSpPr/>
          <p:nvPr/>
        </p:nvCxnSpPr>
        <p:spPr>
          <a:xfrm>
            <a:off x="4544568" y="128016"/>
            <a:ext cx="0" cy="6748272"/>
          </a:xfrm>
          <a:prstGeom prst="line">
            <a:avLst/>
          </a:prstGeom>
          <a:ln w="54864">
            <a:solidFill>
              <a:srgbClr val="000000"/>
            </a:solidFill>
            <a:prstDash val="dash"/>
          </a:ln>
        </p:spPr>
      </p:cxnSp>
      <p:cxnSp>
        <p:nvCxnSpPr>
          <p:cNvPr id="4" name="separator-center-right"/>
          <p:cNvCxnSpPr/>
          <p:nvPr/>
        </p:nvCxnSpPr>
        <p:spPr>
          <a:xfrm>
            <a:off x="9354312" y="128016"/>
            <a:ext cx="0" cy="6748272"/>
          </a:xfrm>
          <a:prstGeom prst="line">
            <a:avLst/>
          </a:prstGeom>
          <a:ln w="54864">
            <a:solidFill>
              <a:srgbClr val="000000"/>
            </a:solidFill>
            <a:prstDash val="dash"/>
          </a:ln>
        </p:spPr>
      </p:cxnSp>
      <p:sp>
        <p:nvSpPr>
          <p:cNvPr id="5" name="left-concept-panel"/>
          <p:cNvSpPr/>
          <p:nvPr/>
        </p:nvSpPr>
        <p:spPr>
          <a:xfrm>
            <a:off x="137160" y="201168"/>
            <a:ext cx="4187952" cy="2487168"/>
          </a:xfrm>
          <a:prstGeom prst="roundRect">
            <a:avLst>
              <a:gd name="adj" fmla="val 7860"/>
            </a:avLst>
          </a:prstGeom>
          <a:solidFill>
            <a:srgbClr val="C2D7EA"/>
          </a:solidFill>
          <a:ln w="36576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xpert-label"/>
          <p:cNvSpPr txBox="1"/>
          <p:nvPr/>
        </p:nvSpPr>
        <p:spPr>
          <a:xfrm>
            <a:off x="283464" y="429768"/>
            <a:ext cx="10058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Expert</a:t>
            </a:r>
          </a:p>
        </p:txBody>
      </p:sp>
      <p:sp>
        <p:nvSpPr>
          <p:cNvPr id="7" name="lay-label"/>
          <p:cNvSpPr txBox="1"/>
          <p:nvPr/>
        </p:nvSpPr>
        <p:spPr>
          <a:xfrm>
            <a:off x="3364992" y="2048256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Lay</a:t>
            </a:r>
          </a:p>
        </p:txBody>
      </p:sp>
      <p:cxnSp>
        <p:nvCxnSpPr>
          <p:cNvPr id="8" name="expert-lay-diagonal"/>
          <p:cNvCxnSpPr/>
          <p:nvPr/>
        </p:nvCxnSpPr>
        <p:spPr>
          <a:xfrm flipV="1">
            <a:off x="502920" y="338328"/>
            <a:ext cx="3538728" cy="2249424"/>
          </a:xfrm>
          <a:prstGeom prst="line">
            <a:avLst/>
          </a:prstGeom>
          <a:ln w="54864">
            <a:solidFill>
              <a:srgbClr val="4471C4"/>
            </a:solidFill>
            <a:prstDash val="dash"/>
          </a:ln>
        </p:spPr>
      </p:cxnSp>
      <p:sp>
        <p:nvSpPr>
          <p:cNvPr id="9" name="expert-book-left"/>
          <p:cNvSpPr/>
          <p:nvPr/>
        </p:nvSpPr>
        <p:spPr>
          <a:xfrm>
            <a:off x="621792" y="1216152"/>
            <a:ext cx="493776" cy="502920"/>
          </a:xfrm>
          <a:custGeom>
            <a:avLst/>
            <a:gdLst/>
            <a:ahLst/>
            <a:cxnLst/>
            <a:rect l="l" t="t" r="r" b="b"/>
            <a:pathLst>
              <a:path w="54" h="55">
                <a:moveTo>
                  <a:pt x="54" y="12"/>
                </a:moveTo>
                <a:lnTo>
                  <a:pt x="6" y="0"/>
                </a:lnTo>
                <a:lnTo>
                  <a:pt x="0" y="45"/>
                </a:lnTo>
                <a:lnTo>
                  <a:pt x="54" y="55"/>
                </a:lnTo>
                <a:close/>
              </a:path>
            </a:pathLst>
          </a:custGeom>
          <a:solidFill>
            <a:srgbClr val="FFF8EA"/>
          </a:solidFill>
          <a:ln w="18288">
            <a:solidFill>
              <a:srgbClr val="9A5C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expert-book-right"/>
          <p:cNvSpPr/>
          <p:nvPr/>
        </p:nvSpPr>
        <p:spPr>
          <a:xfrm>
            <a:off x="1115568" y="1216152"/>
            <a:ext cx="493776" cy="502920"/>
          </a:xfrm>
          <a:custGeom>
            <a:avLst/>
            <a:gdLst/>
            <a:ahLst/>
            <a:cxnLst/>
            <a:rect l="l" t="t" r="r" b="b"/>
            <a:pathLst>
              <a:path w="54" h="55">
                <a:moveTo>
                  <a:pt x="0" y="12"/>
                </a:moveTo>
                <a:lnTo>
                  <a:pt x="48" y="0"/>
                </a:lnTo>
                <a:lnTo>
                  <a:pt x="54" y="45"/>
                </a:lnTo>
                <a:lnTo>
                  <a:pt x="0" y="55"/>
                </a:lnTo>
                <a:close/>
              </a:path>
            </a:pathLst>
          </a:custGeom>
          <a:solidFill>
            <a:srgbClr val="FFF8EA"/>
          </a:solidFill>
          <a:ln w="18288">
            <a:solidFill>
              <a:srgbClr val="9A5C4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expert-book-spine"/>
          <p:cNvCxnSpPr/>
          <p:nvPr/>
        </p:nvCxnSpPr>
        <p:spPr>
          <a:xfrm>
            <a:off x="1115568" y="1325880"/>
            <a:ext cx="0" cy="392278"/>
          </a:xfrm>
          <a:prstGeom prst="line">
            <a:avLst/>
          </a:prstGeom>
          <a:ln w="18288">
            <a:solidFill>
              <a:srgbClr val="9A5C47"/>
            </a:solidFill>
          </a:ln>
        </p:spPr>
      </p:cxnSp>
      <p:cxnSp>
        <p:nvCxnSpPr>
          <p:cNvPr id="12" name="expert-book-text-l-0"/>
          <p:cNvCxnSpPr/>
          <p:nvPr/>
        </p:nvCxnSpPr>
        <p:spPr>
          <a:xfrm>
            <a:off x="723290" y="1368674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3" name="expert-book-text-r-0"/>
          <p:cNvCxnSpPr/>
          <p:nvPr/>
        </p:nvCxnSpPr>
        <p:spPr>
          <a:xfrm flipV="1">
            <a:off x="1172627" y="1368674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4" name="expert-book-text-l-1"/>
          <p:cNvCxnSpPr/>
          <p:nvPr/>
        </p:nvCxnSpPr>
        <p:spPr>
          <a:xfrm>
            <a:off x="723290" y="1418600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5" name="expert-book-text-r-1"/>
          <p:cNvCxnSpPr/>
          <p:nvPr/>
        </p:nvCxnSpPr>
        <p:spPr>
          <a:xfrm flipV="1">
            <a:off x="1172627" y="1418600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6" name="expert-book-text-l-2"/>
          <p:cNvCxnSpPr/>
          <p:nvPr/>
        </p:nvCxnSpPr>
        <p:spPr>
          <a:xfrm>
            <a:off x="723290" y="1468526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7" name="expert-book-text-r-2"/>
          <p:cNvCxnSpPr/>
          <p:nvPr/>
        </p:nvCxnSpPr>
        <p:spPr>
          <a:xfrm flipV="1">
            <a:off x="1172627" y="1468526"/>
            <a:ext cx="335219" cy="35662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8" name="expert-book-text-l-3"/>
          <p:cNvCxnSpPr/>
          <p:nvPr/>
        </p:nvCxnSpPr>
        <p:spPr>
          <a:xfrm>
            <a:off x="723290" y="1518453"/>
            <a:ext cx="335219" cy="35661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19" name="expert-book-text-r-3"/>
          <p:cNvCxnSpPr/>
          <p:nvPr/>
        </p:nvCxnSpPr>
        <p:spPr>
          <a:xfrm flipV="1">
            <a:off x="1172627" y="1518453"/>
            <a:ext cx="335219" cy="35661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20" name="expert-book-text-l-4"/>
          <p:cNvCxnSpPr/>
          <p:nvPr/>
        </p:nvCxnSpPr>
        <p:spPr>
          <a:xfrm>
            <a:off x="723290" y="1568379"/>
            <a:ext cx="335219" cy="35661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cxnSp>
        <p:nvCxnSpPr>
          <p:cNvPr id="21" name="expert-book-text-r-4"/>
          <p:cNvCxnSpPr/>
          <p:nvPr/>
        </p:nvCxnSpPr>
        <p:spPr>
          <a:xfrm flipV="1">
            <a:off x="1172627" y="1568379"/>
            <a:ext cx="335219" cy="35661"/>
          </a:xfrm>
          <a:prstGeom prst="line">
            <a:avLst/>
          </a:prstGeom>
          <a:ln w="8229">
            <a:solidFill>
              <a:srgbClr val="A66A57"/>
            </a:solidFill>
          </a:ln>
        </p:spPr>
      </p:cxnSp>
      <p:sp>
        <p:nvSpPr>
          <p:cNvPr id="22" name="expert-doctor-head"/>
          <p:cNvSpPr/>
          <p:nvPr/>
        </p:nvSpPr>
        <p:spPr>
          <a:xfrm>
            <a:off x="2007108" y="309250"/>
            <a:ext cx="356616" cy="442204"/>
          </a:xfrm>
          <a:prstGeom prst="ellipse">
            <a:avLst/>
          </a:prstGeom>
          <a:solidFill>
            <a:srgbClr val="F7BB82"/>
          </a:solidFill>
          <a:ln w="18288">
            <a:solidFill>
              <a:srgbClr val="7741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xpert-doctor-hair"/>
          <p:cNvSpPr/>
          <p:nvPr/>
        </p:nvSpPr>
        <p:spPr>
          <a:xfrm>
            <a:off x="2007108" y="287853"/>
            <a:ext cx="356616" cy="171176"/>
          </a:xfrm>
          <a:prstGeom prst="ellipse">
            <a:avLst/>
          </a:prstGeom>
          <a:solidFill>
            <a:srgbClr val="834721"/>
          </a:solidFill>
          <a:ln w="18288">
            <a:solidFill>
              <a:srgbClr val="7741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xpert-doctor-eye-l"/>
          <p:cNvSpPr/>
          <p:nvPr/>
        </p:nvSpPr>
        <p:spPr>
          <a:xfrm>
            <a:off x="2114093" y="497543"/>
            <a:ext cx="28529" cy="37088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xpert-doctor-eye-r"/>
          <p:cNvSpPr/>
          <p:nvPr/>
        </p:nvSpPr>
        <p:spPr>
          <a:xfrm>
            <a:off x="2228210" y="497543"/>
            <a:ext cx="28529" cy="37088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expert-doctor-smile-1"/>
          <p:cNvCxnSpPr/>
          <p:nvPr/>
        </p:nvCxnSpPr>
        <p:spPr>
          <a:xfrm>
            <a:off x="2128357" y="615940"/>
            <a:ext cx="57059" cy="28529"/>
          </a:xfrm>
          <a:prstGeom prst="line">
            <a:avLst/>
          </a:prstGeom>
          <a:ln w="14630">
            <a:solidFill>
              <a:srgbClr val="9D3C31"/>
            </a:solidFill>
          </a:ln>
        </p:spPr>
      </p:cxnSp>
      <p:cxnSp>
        <p:nvCxnSpPr>
          <p:cNvPr id="27" name="expert-doctor-smile-2"/>
          <p:cNvCxnSpPr/>
          <p:nvPr/>
        </p:nvCxnSpPr>
        <p:spPr>
          <a:xfrm flipV="1">
            <a:off x="2185416" y="615940"/>
            <a:ext cx="57059" cy="28529"/>
          </a:xfrm>
          <a:prstGeom prst="line">
            <a:avLst/>
          </a:prstGeom>
          <a:ln w="14630">
            <a:solidFill>
              <a:srgbClr val="9D3C31"/>
            </a:solidFill>
          </a:ln>
        </p:spPr>
      </p:cxnSp>
      <p:sp>
        <p:nvSpPr>
          <p:cNvPr id="28" name="expert-doctor-coat"/>
          <p:cNvSpPr/>
          <p:nvPr/>
        </p:nvSpPr>
        <p:spPr>
          <a:xfrm>
            <a:off x="1920240" y="704088"/>
            <a:ext cx="530352" cy="265176"/>
          </a:xfrm>
          <a:custGeom>
            <a:avLst/>
            <a:gdLst/>
            <a:ahLst/>
            <a:cxnLst/>
            <a:rect l="l" t="t" r="r" b="b"/>
            <a:pathLst>
              <a:path w="58" h="29">
                <a:moveTo>
                  <a:pt x="0" y="29"/>
                </a:moveTo>
                <a:lnTo>
                  <a:pt x="8" y="4"/>
                </a:lnTo>
                <a:lnTo>
                  <a:pt x="29" y="0"/>
                </a:lnTo>
                <a:lnTo>
                  <a:pt x="50" y="4"/>
                </a:lnTo>
                <a:lnTo>
                  <a:pt x="58" y="29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53627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expert-doctor-lapel-l"/>
          <p:cNvCxnSpPr/>
          <p:nvPr/>
        </p:nvCxnSpPr>
        <p:spPr>
          <a:xfrm>
            <a:off x="2121225" y="722925"/>
            <a:ext cx="64191" cy="185440"/>
          </a:xfrm>
          <a:prstGeom prst="line">
            <a:avLst/>
          </a:prstGeom>
          <a:ln w="18288">
            <a:solidFill>
              <a:srgbClr val="536276"/>
            </a:solidFill>
          </a:ln>
        </p:spPr>
      </p:cxnSp>
      <p:cxnSp>
        <p:nvCxnSpPr>
          <p:cNvPr id="30" name="expert-doctor-lapel-r"/>
          <p:cNvCxnSpPr/>
          <p:nvPr/>
        </p:nvCxnSpPr>
        <p:spPr>
          <a:xfrm flipH="1">
            <a:off x="2185416" y="722925"/>
            <a:ext cx="64191" cy="185440"/>
          </a:xfrm>
          <a:prstGeom prst="line">
            <a:avLst/>
          </a:prstGeom>
          <a:ln w="18288">
            <a:solidFill>
              <a:srgbClr val="536276"/>
            </a:solidFill>
          </a:ln>
        </p:spPr>
      </p:cxnSp>
      <p:sp>
        <p:nvSpPr>
          <p:cNvPr id="31" name="expert-doctor-scope"/>
          <p:cNvSpPr/>
          <p:nvPr/>
        </p:nvSpPr>
        <p:spPr>
          <a:xfrm>
            <a:off x="2256739" y="794248"/>
            <a:ext cx="85588" cy="85588"/>
          </a:xfrm>
          <a:prstGeom prst="ellipse">
            <a:avLst/>
          </a:prstGeom>
          <a:noFill/>
          <a:ln w="18288">
            <a:solidFill>
              <a:srgbClr val="5362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lay-city-book-left"/>
          <p:cNvSpPr/>
          <p:nvPr/>
        </p:nvSpPr>
        <p:spPr>
          <a:xfrm>
            <a:off x="2944368" y="1152144"/>
            <a:ext cx="493776" cy="502920"/>
          </a:xfrm>
          <a:custGeom>
            <a:avLst/>
            <a:gdLst/>
            <a:ahLst/>
            <a:cxnLst/>
            <a:rect l="l" t="t" r="r" b="b"/>
            <a:pathLst>
              <a:path w="54" h="55">
                <a:moveTo>
                  <a:pt x="54" y="12"/>
                </a:moveTo>
                <a:lnTo>
                  <a:pt x="6" y="0"/>
                </a:lnTo>
                <a:lnTo>
                  <a:pt x="0" y="45"/>
                </a:lnTo>
                <a:lnTo>
                  <a:pt x="54" y="55"/>
                </a:lnTo>
                <a:close/>
              </a:path>
            </a:pathLst>
          </a:custGeom>
          <a:solidFill>
            <a:srgbClr val="FFF8EA"/>
          </a:solidFill>
          <a:ln w="18288">
            <a:solidFill>
              <a:srgbClr val="9A5C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lay-city-book-right"/>
          <p:cNvSpPr/>
          <p:nvPr/>
        </p:nvSpPr>
        <p:spPr>
          <a:xfrm>
            <a:off x="3438144" y="1152144"/>
            <a:ext cx="493776" cy="502920"/>
          </a:xfrm>
          <a:custGeom>
            <a:avLst/>
            <a:gdLst/>
            <a:ahLst/>
            <a:cxnLst/>
            <a:rect l="l" t="t" r="r" b="b"/>
            <a:pathLst>
              <a:path w="54" h="55">
                <a:moveTo>
                  <a:pt x="0" y="12"/>
                </a:moveTo>
                <a:lnTo>
                  <a:pt x="48" y="0"/>
                </a:lnTo>
                <a:lnTo>
                  <a:pt x="54" y="45"/>
                </a:lnTo>
                <a:lnTo>
                  <a:pt x="0" y="55"/>
                </a:lnTo>
                <a:close/>
              </a:path>
            </a:pathLst>
          </a:custGeom>
          <a:solidFill>
            <a:srgbClr val="FFF8EA"/>
          </a:solidFill>
          <a:ln w="18288">
            <a:solidFill>
              <a:srgbClr val="9A5C4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lay-city-book-spine"/>
          <p:cNvCxnSpPr/>
          <p:nvPr/>
        </p:nvCxnSpPr>
        <p:spPr>
          <a:xfrm>
            <a:off x="3438144" y="1261872"/>
            <a:ext cx="0" cy="392278"/>
          </a:xfrm>
          <a:prstGeom prst="line">
            <a:avLst/>
          </a:prstGeom>
          <a:ln w="18288">
            <a:solidFill>
              <a:srgbClr val="9A5C47"/>
            </a:solidFill>
          </a:ln>
        </p:spPr>
      </p:cxnSp>
      <p:sp>
        <p:nvSpPr>
          <p:cNvPr id="35" name="lay-city-book-building-0"/>
          <p:cNvSpPr/>
          <p:nvPr/>
        </p:nvSpPr>
        <p:spPr>
          <a:xfrm>
            <a:off x="3131454" y="1297534"/>
            <a:ext cx="121249" cy="164043"/>
          </a:xfrm>
          <a:prstGeom prst="rect">
            <a:avLst/>
          </a:prstGeom>
          <a:solidFill>
            <a:srgbClr val="C7D5E1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lay-city-book-window-0-0"/>
          <p:cNvSpPr/>
          <p:nvPr/>
        </p:nvSpPr>
        <p:spPr>
          <a:xfrm>
            <a:off x="3159984" y="1333195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lay-city-book-window-0-1"/>
          <p:cNvSpPr/>
          <p:nvPr/>
        </p:nvSpPr>
        <p:spPr>
          <a:xfrm>
            <a:off x="3209910" y="1333195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lay-city-book-building-1"/>
          <p:cNvSpPr/>
          <p:nvPr/>
        </p:nvSpPr>
        <p:spPr>
          <a:xfrm>
            <a:off x="3266968" y="1368857"/>
            <a:ext cx="128382" cy="242499"/>
          </a:xfrm>
          <a:prstGeom prst="rect">
            <a:avLst/>
          </a:prstGeom>
          <a:solidFill>
            <a:srgbClr val="EBC6A8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lay-city-book-window-1-0"/>
          <p:cNvSpPr/>
          <p:nvPr/>
        </p:nvSpPr>
        <p:spPr>
          <a:xfrm>
            <a:off x="3295498" y="1404518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lay-city-book-window-1-1"/>
          <p:cNvSpPr/>
          <p:nvPr/>
        </p:nvSpPr>
        <p:spPr>
          <a:xfrm>
            <a:off x="3345424" y="1404518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lay-city-book-building-2"/>
          <p:cNvSpPr/>
          <p:nvPr/>
        </p:nvSpPr>
        <p:spPr>
          <a:xfrm>
            <a:off x="3409615" y="1261872"/>
            <a:ext cx="114117" cy="135514"/>
          </a:xfrm>
          <a:prstGeom prst="rect">
            <a:avLst/>
          </a:prstGeom>
          <a:solidFill>
            <a:srgbClr val="D8C8DA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lay-city-book-window-2-0"/>
          <p:cNvSpPr/>
          <p:nvPr/>
        </p:nvSpPr>
        <p:spPr>
          <a:xfrm>
            <a:off x="3438144" y="1297534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lay-city-book-window-2-1"/>
          <p:cNvSpPr/>
          <p:nvPr/>
        </p:nvSpPr>
        <p:spPr>
          <a:xfrm>
            <a:off x="3488070" y="1297534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lay-city-book-building-3"/>
          <p:cNvSpPr/>
          <p:nvPr/>
        </p:nvSpPr>
        <p:spPr>
          <a:xfrm>
            <a:off x="3559393" y="1333195"/>
            <a:ext cx="135514" cy="206837"/>
          </a:xfrm>
          <a:prstGeom prst="rect">
            <a:avLst/>
          </a:prstGeom>
          <a:solidFill>
            <a:srgbClr val="BFD7D0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lay-city-book-window-3-0"/>
          <p:cNvSpPr/>
          <p:nvPr/>
        </p:nvSpPr>
        <p:spPr>
          <a:xfrm>
            <a:off x="3587923" y="1368857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lay-city-book-window-3-1"/>
          <p:cNvSpPr/>
          <p:nvPr/>
        </p:nvSpPr>
        <p:spPr>
          <a:xfrm>
            <a:off x="3637849" y="1368857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lay-city-book-building-4"/>
          <p:cNvSpPr/>
          <p:nvPr/>
        </p:nvSpPr>
        <p:spPr>
          <a:xfrm>
            <a:off x="3716304" y="1276137"/>
            <a:ext cx="114117" cy="156911"/>
          </a:xfrm>
          <a:prstGeom prst="rect">
            <a:avLst/>
          </a:prstGeom>
          <a:solidFill>
            <a:srgbClr val="F3D594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lay-city-book-window-4-0"/>
          <p:cNvSpPr/>
          <p:nvPr/>
        </p:nvSpPr>
        <p:spPr>
          <a:xfrm>
            <a:off x="3744834" y="1311798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lay-city-book-window-4-1"/>
          <p:cNvSpPr/>
          <p:nvPr/>
        </p:nvSpPr>
        <p:spPr>
          <a:xfrm>
            <a:off x="3794760" y="1311798"/>
            <a:ext cx="21397" cy="28529"/>
          </a:xfrm>
          <a:prstGeom prst="rect">
            <a:avLst/>
          </a:prstGeom>
          <a:solidFill>
            <a:srgbClr val="F8FBFF"/>
          </a:solidFill>
          <a:ln w="4572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lay-city-book-moon"/>
          <p:cNvSpPr/>
          <p:nvPr/>
        </p:nvSpPr>
        <p:spPr>
          <a:xfrm>
            <a:off x="3744834" y="1112093"/>
            <a:ext cx="57059" cy="85588"/>
          </a:xfrm>
          <a:prstGeom prst="ellipse">
            <a:avLst/>
          </a:prstGeom>
          <a:solidFill>
            <a:srgbClr val="FFD762"/>
          </a:solidFill>
          <a:ln w="9144">
            <a:solidFill>
              <a:srgbClr val="7254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lay-person-head"/>
          <p:cNvSpPr/>
          <p:nvPr/>
        </p:nvSpPr>
        <p:spPr>
          <a:xfrm>
            <a:off x="2066544" y="1807586"/>
            <a:ext cx="329184" cy="408188"/>
          </a:xfrm>
          <a:prstGeom prst="ellipse">
            <a:avLst/>
          </a:prstGeom>
          <a:solidFill>
            <a:srgbClr val="F7BB82"/>
          </a:solidFill>
          <a:ln w="18288">
            <a:solidFill>
              <a:srgbClr val="7741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lay-person-hair"/>
          <p:cNvSpPr/>
          <p:nvPr/>
        </p:nvSpPr>
        <p:spPr>
          <a:xfrm>
            <a:off x="2066544" y="1787835"/>
            <a:ext cx="329184" cy="158008"/>
          </a:xfrm>
          <a:prstGeom prst="ellipse">
            <a:avLst/>
          </a:prstGeom>
          <a:solidFill>
            <a:srgbClr val="EFE5D4"/>
          </a:solidFill>
          <a:ln w="18288">
            <a:solidFill>
              <a:srgbClr val="7741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lay-person-sidehair-l"/>
          <p:cNvSpPr/>
          <p:nvPr/>
        </p:nvSpPr>
        <p:spPr>
          <a:xfrm>
            <a:off x="2033626" y="1893174"/>
            <a:ext cx="92172" cy="171176"/>
          </a:xfrm>
          <a:prstGeom prst="ellipse">
            <a:avLst/>
          </a:prstGeom>
          <a:solidFill>
            <a:srgbClr val="EFE5D4"/>
          </a:solidFill>
          <a:ln w="9144">
            <a:solidFill>
              <a:srgbClr val="EF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lay-person-sidehair-r"/>
          <p:cNvSpPr/>
          <p:nvPr/>
        </p:nvSpPr>
        <p:spPr>
          <a:xfrm>
            <a:off x="2336475" y="1893174"/>
            <a:ext cx="92172" cy="171176"/>
          </a:xfrm>
          <a:prstGeom prst="ellipse">
            <a:avLst/>
          </a:prstGeom>
          <a:solidFill>
            <a:srgbClr val="EFE5D4"/>
          </a:solidFill>
          <a:ln w="9144">
            <a:solidFill>
              <a:srgbClr val="EF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lay-person-eye-l"/>
          <p:cNvSpPr/>
          <p:nvPr/>
        </p:nvSpPr>
        <p:spPr>
          <a:xfrm>
            <a:off x="2165299" y="1981395"/>
            <a:ext cx="26335" cy="34235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lay-person-eye-r"/>
          <p:cNvSpPr/>
          <p:nvPr/>
        </p:nvSpPr>
        <p:spPr>
          <a:xfrm>
            <a:off x="2270638" y="1981395"/>
            <a:ext cx="26335" cy="34235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ay-person-smile-1"/>
          <p:cNvCxnSpPr/>
          <p:nvPr/>
        </p:nvCxnSpPr>
        <p:spPr>
          <a:xfrm>
            <a:off x="2178467" y="2090684"/>
            <a:ext cx="52669" cy="26335"/>
          </a:xfrm>
          <a:prstGeom prst="line">
            <a:avLst/>
          </a:prstGeom>
          <a:ln w="14630">
            <a:solidFill>
              <a:srgbClr val="9D3C31"/>
            </a:solidFill>
          </a:ln>
        </p:spPr>
      </p:cxnSp>
      <p:cxnSp>
        <p:nvCxnSpPr>
          <p:cNvPr id="58" name="lay-person-smile-2"/>
          <p:cNvCxnSpPr/>
          <p:nvPr/>
        </p:nvCxnSpPr>
        <p:spPr>
          <a:xfrm flipV="1">
            <a:off x="2231136" y="2090684"/>
            <a:ext cx="52669" cy="26335"/>
          </a:xfrm>
          <a:prstGeom prst="line">
            <a:avLst/>
          </a:prstGeom>
          <a:ln w="14630">
            <a:solidFill>
              <a:srgbClr val="9D3C31"/>
            </a:solidFill>
          </a:ln>
        </p:spPr>
      </p:cxnSp>
      <p:sp>
        <p:nvSpPr>
          <p:cNvPr id="59" name="lay-person-shirt"/>
          <p:cNvSpPr/>
          <p:nvPr/>
        </p:nvSpPr>
        <p:spPr>
          <a:xfrm>
            <a:off x="1965960" y="2221992"/>
            <a:ext cx="530352" cy="201168"/>
          </a:xfrm>
          <a:custGeom>
            <a:avLst/>
            <a:gdLst/>
            <a:ahLst/>
            <a:cxnLst/>
            <a:rect l="l" t="t" r="r" b="b"/>
            <a:pathLst>
              <a:path w="58" h="22">
                <a:moveTo>
                  <a:pt x="0" y="22"/>
                </a:moveTo>
                <a:lnTo>
                  <a:pt x="11" y="0"/>
                </a:lnTo>
                <a:lnTo>
                  <a:pt x="47" y="0"/>
                </a:lnTo>
                <a:lnTo>
                  <a:pt x="58" y="22"/>
                </a:lnTo>
                <a:close/>
              </a:path>
            </a:pathLst>
          </a:custGeom>
          <a:solidFill>
            <a:srgbClr val="B55F62"/>
          </a:solidFill>
          <a:ln w="9144">
            <a:solidFill>
              <a:srgbClr val="B55F6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0" name="expert-arrow-shaft-1"/>
          <p:cNvCxnSpPr/>
          <p:nvPr/>
        </p:nvCxnSpPr>
        <p:spPr>
          <a:xfrm flipV="1">
            <a:off x="1115568" y="786384"/>
            <a:ext cx="192024" cy="402336"/>
          </a:xfrm>
          <a:prstGeom prst="line">
            <a:avLst/>
          </a:prstGeom>
          <a:ln w="100584">
            <a:solidFill>
              <a:srgbClr val="424854"/>
            </a:solidFill>
          </a:ln>
        </p:spPr>
      </p:cxnSp>
      <p:cxnSp>
        <p:nvCxnSpPr>
          <p:cNvPr id="61" name="expert-arrow-shaft-2"/>
          <p:cNvCxnSpPr/>
          <p:nvPr/>
        </p:nvCxnSpPr>
        <p:spPr>
          <a:xfrm flipV="1">
            <a:off x="1307592" y="612648"/>
            <a:ext cx="393192" cy="173736"/>
          </a:xfrm>
          <a:prstGeom prst="line">
            <a:avLst/>
          </a:prstGeom>
          <a:ln w="100584">
            <a:solidFill>
              <a:srgbClr val="424854"/>
            </a:solidFill>
          </a:ln>
        </p:spPr>
      </p:cxnSp>
      <p:sp>
        <p:nvSpPr>
          <p:cNvPr id="62" name="expert-arrow-head"/>
          <p:cNvSpPr/>
          <p:nvPr/>
        </p:nvSpPr>
        <p:spPr>
          <a:xfrm>
            <a:off x="1444752" y="594360"/>
            <a:ext cx="256032" cy="228600"/>
          </a:xfrm>
          <a:custGeom>
            <a:avLst/>
            <a:gdLst/>
            <a:ahLst/>
            <a:cxnLst/>
            <a:rect l="l" t="t" r="r" b="b"/>
            <a:pathLst>
              <a:path w="28" h="25">
                <a:moveTo>
                  <a:pt x="28" y="2"/>
                </a:moveTo>
                <a:lnTo>
                  <a:pt x="0" y="0"/>
                </a:lnTo>
                <a:lnTo>
                  <a:pt x="11" y="25"/>
                </a:lnTo>
                <a:close/>
              </a:path>
            </a:pathLst>
          </a:custGeom>
          <a:solidFill>
            <a:srgbClr val="424854"/>
          </a:solidFill>
          <a:ln w="9144">
            <a:solidFill>
              <a:srgbClr val="42485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lay-arrow-shaft-1"/>
          <p:cNvCxnSpPr/>
          <p:nvPr/>
        </p:nvCxnSpPr>
        <p:spPr>
          <a:xfrm flipH="1">
            <a:off x="3090672" y="1828800"/>
            <a:ext cx="329184" cy="201168"/>
          </a:xfrm>
          <a:prstGeom prst="line">
            <a:avLst/>
          </a:prstGeom>
          <a:ln w="100584">
            <a:solidFill>
              <a:srgbClr val="424854"/>
            </a:solidFill>
          </a:ln>
        </p:spPr>
      </p:cxnSp>
      <p:cxnSp>
        <p:nvCxnSpPr>
          <p:cNvPr id="64" name="lay-arrow-shaft-2"/>
          <p:cNvCxnSpPr/>
          <p:nvPr/>
        </p:nvCxnSpPr>
        <p:spPr>
          <a:xfrm flipH="1">
            <a:off x="2715768" y="2029968"/>
            <a:ext cx="374904" cy="155448"/>
          </a:xfrm>
          <a:prstGeom prst="line">
            <a:avLst/>
          </a:prstGeom>
          <a:ln w="100584">
            <a:solidFill>
              <a:srgbClr val="424854"/>
            </a:solidFill>
          </a:ln>
        </p:spPr>
      </p:cxnSp>
      <p:sp>
        <p:nvSpPr>
          <p:cNvPr id="65" name="lay-arrow-head"/>
          <p:cNvSpPr/>
          <p:nvPr/>
        </p:nvSpPr>
        <p:spPr>
          <a:xfrm>
            <a:off x="2715768" y="1984248"/>
            <a:ext cx="256032" cy="228600"/>
          </a:xfrm>
          <a:custGeom>
            <a:avLst/>
            <a:gdLst/>
            <a:ahLst/>
            <a:cxnLst/>
            <a:rect l="l" t="t" r="r" b="b"/>
            <a:pathLst>
              <a:path w="28" h="25">
                <a:moveTo>
                  <a:pt x="0" y="22"/>
                </a:moveTo>
                <a:lnTo>
                  <a:pt x="28" y="25"/>
                </a:lnTo>
                <a:lnTo>
                  <a:pt x="18" y="0"/>
                </a:lnTo>
                <a:close/>
              </a:path>
            </a:pathLst>
          </a:custGeom>
          <a:solidFill>
            <a:srgbClr val="424854"/>
          </a:solidFill>
          <a:ln w="9144">
            <a:solidFill>
              <a:srgbClr val="424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dataset-panel"/>
          <p:cNvSpPr/>
          <p:nvPr/>
        </p:nvSpPr>
        <p:spPr>
          <a:xfrm>
            <a:off x="128016" y="2926080"/>
            <a:ext cx="4197096" cy="3182112"/>
          </a:xfrm>
          <a:prstGeom prst="roundRect">
            <a:avLst>
              <a:gd name="adj" fmla="val 7843"/>
            </a:avLst>
          </a:prstGeom>
          <a:solidFill>
            <a:srgbClr val="E4F0DC"/>
          </a:solidFill>
          <a:ln w="36576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heterogeneous-label"/>
          <p:cNvSpPr txBox="1"/>
          <p:nvPr/>
        </p:nvSpPr>
        <p:spPr>
          <a:xfrm>
            <a:off x="2231136" y="2953512"/>
            <a:ext cx="194767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i="1" b="0">
                <a:solidFill>
                  <a:srgbClr val="000000"/>
                </a:solidFill>
                <a:latin typeface="Liberation Sans"/>
              </a:rPr>
              <a:t>Heterogeneous</a:t>
            </a:r>
          </a:p>
        </p:txBody>
      </p:sp>
      <p:sp>
        <p:nvSpPr>
          <p:cNvPr id="68" name="expert-card-1-frame"/>
          <p:cNvSpPr/>
          <p:nvPr/>
        </p:nvSpPr>
        <p:spPr>
          <a:xfrm>
            <a:off x="365760" y="3319272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FCEAE6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9" name="expert-card-1-rule-0"/>
          <p:cNvCxnSpPr/>
          <p:nvPr/>
        </p:nvCxnSpPr>
        <p:spPr>
          <a:xfrm>
            <a:off x="502920" y="355701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0" name="expert-card-1-rule-1"/>
          <p:cNvCxnSpPr/>
          <p:nvPr/>
        </p:nvCxnSpPr>
        <p:spPr>
          <a:xfrm>
            <a:off x="502920" y="3685032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1" name="expert-card-1-rule-2"/>
          <p:cNvCxnSpPr/>
          <p:nvPr/>
        </p:nvCxnSpPr>
        <p:spPr>
          <a:xfrm>
            <a:off x="502920" y="3813048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2" name="expert-card-1-rule-3"/>
          <p:cNvCxnSpPr/>
          <p:nvPr/>
        </p:nvCxnSpPr>
        <p:spPr>
          <a:xfrm>
            <a:off x="502920" y="3941064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73" name="lay-card-1-frame"/>
          <p:cNvSpPr/>
          <p:nvPr/>
        </p:nvSpPr>
        <p:spPr>
          <a:xfrm>
            <a:off x="365760" y="4480560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D6DDE5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4" name="lay-card-1-rule-0"/>
          <p:cNvCxnSpPr/>
          <p:nvPr/>
        </p:nvCxnSpPr>
        <p:spPr>
          <a:xfrm>
            <a:off x="502920" y="4718304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5" name="lay-card-1-rule-1"/>
          <p:cNvCxnSpPr/>
          <p:nvPr/>
        </p:nvCxnSpPr>
        <p:spPr>
          <a:xfrm>
            <a:off x="502920" y="4846320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6" name="lay-card-1-rule-2"/>
          <p:cNvCxnSpPr/>
          <p:nvPr/>
        </p:nvCxnSpPr>
        <p:spPr>
          <a:xfrm>
            <a:off x="502920" y="497433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77" name="lay-card-1-rule-3"/>
          <p:cNvCxnSpPr/>
          <p:nvPr/>
        </p:nvCxnSpPr>
        <p:spPr>
          <a:xfrm>
            <a:off x="502920" y="5102352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78" name="expert-card-2-frame"/>
          <p:cNvSpPr/>
          <p:nvPr/>
        </p:nvSpPr>
        <p:spPr>
          <a:xfrm>
            <a:off x="1691640" y="3319272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FCEAE6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9" name="expert-card-2-rule-0"/>
          <p:cNvCxnSpPr/>
          <p:nvPr/>
        </p:nvCxnSpPr>
        <p:spPr>
          <a:xfrm>
            <a:off x="1828800" y="355701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0" name="expert-card-2-rule-1"/>
          <p:cNvCxnSpPr/>
          <p:nvPr/>
        </p:nvCxnSpPr>
        <p:spPr>
          <a:xfrm>
            <a:off x="1828800" y="3685032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1" name="expert-card-2-rule-2"/>
          <p:cNvCxnSpPr/>
          <p:nvPr/>
        </p:nvCxnSpPr>
        <p:spPr>
          <a:xfrm>
            <a:off x="1828800" y="3813048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2" name="expert-card-2-rule-3"/>
          <p:cNvCxnSpPr/>
          <p:nvPr/>
        </p:nvCxnSpPr>
        <p:spPr>
          <a:xfrm>
            <a:off x="1828800" y="3941064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83" name="lay-card-2-frame"/>
          <p:cNvSpPr/>
          <p:nvPr/>
        </p:nvSpPr>
        <p:spPr>
          <a:xfrm>
            <a:off x="1691640" y="4480560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D6DDE5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4" name="lay-card-2-rule-0"/>
          <p:cNvCxnSpPr/>
          <p:nvPr/>
        </p:nvCxnSpPr>
        <p:spPr>
          <a:xfrm>
            <a:off x="1828800" y="4718304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5" name="lay-card-2-rule-1"/>
          <p:cNvCxnSpPr/>
          <p:nvPr/>
        </p:nvCxnSpPr>
        <p:spPr>
          <a:xfrm>
            <a:off x="1828800" y="4846320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6" name="lay-card-2-rule-2"/>
          <p:cNvCxnSpPr/>
          <p:nvPr/>
        </p:nvCxnSpPr>
        <p:spPr>
          <a:xfrm>
            <a:off x="1828800" y="497433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87" name="lay-card-2-rule-3"/>
          <p:cNvCxnSpPr/>
          <p:nvPr/>
        </p:nvCxnSpPr>
        <p:spPr>
          <a:xfrm>
            <a:off x="1828800" y="5102352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88" name="expert-card-3-frame"/>
          <p:cNvSpPr/>
          <p:nvPr/>
        </p:nvSpPr>
        <p:spPr>
          <a:xfrm>
            <a:off x="3017520" y="3319272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FCEAE6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9" name="expert-card-3-rule-0"/>
          <p:cNvCxnSpPr/>
          <p:nvPr/>
        </p:nvCxnSpPr>
        <p:spPr>
          <a:xfrm>
            <a:off x="3154680" y="355701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0" name="expert-card-3-rule-1"/>
          <p:cNvCxnSpPr/>
          <p:nvPr/>
        </p:nvCxnSpPr>
        <p:spPr>
          <a:xfrm>
            <a:off x="3154680" y="3685032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1" name="expert-card-3-rule-2"/>
          <p:cNvCxnSpPr/>
          <p:nvPr/>
        </p:nvCxnSpPr>
        <p:spPr>
          <a:xfrm>
            <a:off x="3154680" y="3813048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2" name="expert-card-3-rule-3"/>
          <p:cNvCxnSpPr/>
          <p:nvPr/>
        </p:nvCxnSpPr>
        <p:spPr>
          <a:xfrm>
            <a:off x="3154680" y="3941064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93" name="lay-card-3-frame"/>
          <p:cNvSpPr/>
          <p:nvPr/>
        </p:nvSpPr>
        <p:spPr>
          <a:xfrm>
            <a:off x="3017520" y="4480560"/>
            <a:ext cx="1097280" cy="832104"/>
          </a:xfrm>
          <a:prstGeom prst="roundRect">
            <a:avLst>
              <a:gd name="adj" fmla="val 22500"/>
            </a:avLst>
          </a:prstGeom>
          <a:solidFill>
            <a:srgbClr val="D6DDE5"/>
          </a:solidFill>
          <a:ln w="4571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" name="lay-card-3-rule-0"/>
          <p:cNvCxnSpPr/>
          <p:nvPr/>
        </p:nvCxnSpPr>
        <p:spPr>
          <a:xfrm>
            <a:off x="3154680" y="4718304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5" name="lay-card-3-rule-1"/>
          <p:cNvCxnSpPr/>
          <p:nvPr/>
        </p:nvCxnSpPr>
        <p:spPr>
          <a:xfrm>
            <a:off x="3154680" y="4846320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6" name="lay-card-3-rule-2"/>
          <p:cNvCxnSpPr/>
          <p:nvPr/>
        </p:nvCxnSpPr>
        <p:spPr>
          <a:xfrm>
            <a:off x="3154680" y="4974336"/>
            <a:ext cx="8229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97" name="lay-card-3-rule-3"/>
          <p:cNvCxnSpPr/>
          <p:nvPr/>
        </p:nvCxnSpPr>
        <p:spPr>
          <a:xfrm>
            <a:off x="3154680" y="5102352"/>
            <a:ext cx="69494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98" name="expert-snake-body-0"/>
          <p:cNvSpPr/>
          <p:nvPr/>
        </p:nvSpPr>
        <p:spPr>
          <a:xfrm>
            <a:off x="1201522" y="3168396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expert-snake-body-1"/>
          <p:cNvSpPr/>
          <p:nvPr/>
        </p:nvSpPr>
        <p:spPr>
          <a:xfrm>
            <a:off x="1388974" y="3213551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expert-snake-body-2"/>
          <p:cNvSpPr/>
          <p:nvPr/>
        </p:nvSpPr>
        <p:spPr>
          <a:xfrm>
            <a:off x="1576426" y="3250704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expert-snake-body-3"/>
          <p:cNvSpPr/>
          <p:nvPr/>
        </p:nvSpPr>
        <p:spPr>
          <a:xfrm>
            <a:off x="1763878" y="3273273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expert-snake-body-4"/>
          <p:cNvSpPr/>
          <p:nvPr/>
        </p:nvSpPr>
        <p:spPr>
          <a:xfrm>
            <a:off x="1951330" y="3277259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xpert-snake-body-5"/>
          <p:cNvSpPr/>
          <p:nvPr/>
        </p:nvSpPr>
        <p:spPr>
          <a:xfrm>
            <a:off x="2138782" y="3261954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expert-snake-body-6"/>
          <p:cNvSpPr/>
          <p:nvPr/>
        </p:nvSpPr>
        <p:spPr>
          <a:xfrm>
            <a:off x="2326234" y="3230072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expert-snake-body-7"/>
          <p:cNvSpPr/>
          <p:nvPr/>
        </p:nvSpPr>
        <p:spPr>
          <a:xfrm>
            <a:off x="2513686" y="3187261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expert-snake-body-8"/>
          <p:cNvSpPr/>
          <p:nvPr/>
        </p:nvSpPr>
        <p:spPr>
          <a:xfrm>
            <a:off x="2701138" y="3177684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expert-snake-body-9"/>
          <p:cNvSpPr/>
          <p:nvPr/>
        </p:nvSpPr>
        <p:spPr>
          <a:xfrm>
            <a:off x="2888590" y="3136365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expert-snake-body-10"/>
          <p:cNvSpPr/>
          <p:nvPr/>
        </p:nvSpPr>
        <p:spPr>
          <a:xfrm>
            <a:off x="3076042" y="3107204"/>
            <a:ext cx="248717" cy="155448"/>
          </a:xfrm>
          <a:prstGeom prst="ellipse">
            <a:avLst/>
          </a:prstGeom>
          <a:solidFill>
            <a:srgbClr val="A9C268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expert-snake-head"/>
          <p:cNvSpPr/>
          <p:nvPr/>
        </p:nvSpPr>
        <p:spPr>
          <a:xfrm>
            <a:off x="1116940" y="2880817"/>
            <a:ext cx="326441" cy="419710"/>
          </a:xfrm>
          <a:prstGeom prst="ellipse">
            <a:avLst/>
          </a:prstGeom>
          <a:solidFill>
            <a:srgbClr val="A9C268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expert-snake-eye"/>
          <p:cNvSpPr/>
          <p:nvPr/>
        </p:nvSpPr>
        <p:spPr>
          <a:xfrm>
            <a:off x="1205088" y="3038368"/>
            <a:ext cx="40416" cy="49743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expert-snake-cheek"/>
          <p:cNvSpPr/>
          <p:nvPr/>
        </p:nvSpPr>
        <p:spPr>
          <a:xfrm>
            <a:off x="1340510" y="3141878"/>
            <a:ext cx="62179" cy="62179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2" name="expert-snake-tongue"/>
          <p:cNvCxnSpPr/>
          <p:nvPr/>
        </p:nvCxnSpPr>
        <p:spPr>
          <a:xfrm flipH="1">
            <a:off x="1038301" y="3183941"/>
            <a:ext cx="93269" cy="23317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113" name="expert-snake-tongue-fork"/>
          <p:cNvCxnSpPr/>
          <p:nvPr/>
        </p:nvCxnSpPr>
        <p:spPr>
          <a:xfrm flipH="1" flipV="1">
            <a:off x="1007212" y="3176168"/>
            <a:ext cx="31089" cy="31090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114" name="lay-snake-1-body-0"/>
          <p:cNvSpPr/>
          <p:nvPr/>
        </p:nvSpPr>
        <p:spPr>
          <a:xfrm>
            <a:off x="699333" y="4323283"/>
            <a:ext cx="210678" cy="131674"/>
          </a:xfrm>
          <a:prstGeom prst="ellipse">
            <a:avLst/>
          </a:prstGeom>
          <a:solidFill>
            <a:srgbClr val="F1B84D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lay-snake-1-body-1"/>
          <p:cNvSpPr/>
          <p:nvPr/>
        </p:nvSpPr>
        <p:spPr>
          <a:xfrm>
            <a:off x="876117" y="4431660"/>
            <a:ext cx="210678" cy="131674"/>
          </a:xfrm>
          <a:prstGeom prst="ellipse">
            <a:avLst/>
          </a:prstGeom>
          <a:solidFill>
            <a:srgbClr val="F1B84D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lay-snake-1-body-2"/>
          <p:cNvSpPr/>
          <p:nvPr/>
        </p:nvSpPr>
        <p:spPr>
          <a:xfrm>
            <a:off x="1052901" y="4357191"/>
            <a:ext cx="210678" cy="131674"/>
          </a:xfrm>
          <a:prstGeom prst="ellipse">
            <a:avLst/>
          </a:prstGeom>
          <a:solidFill>
            <a:srgbClr val="F1B84D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lay-snake-1-body-3"/>
          <p:cNvSpPr/>
          <p:nvPr/>
        </p:nvSpPr>
        <p:spPr>
          <a:xfrm>
            <a:off x="1229685" y="4262091"/>
            <a:ext cx="210678" cy="131674"/>
          </a:xfrm>
          <a:prstGeom prst="ellipse">
            <a:avLst/>
          </a:prstGeom>
          <a:solidFill>
            <a:srgbClr val="F1B84D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lay-snake-1-head"/>
          <p:cNvSpPr/>
          <p:nvPr/>
        </p:nvSpPr>
        <p:spPr>
          <a:xfrm>
            <a:off x="620695" y="4055913"/>
            <a:ext cx="276515" cy="355519"/>
          </a:xfrm>
          <a:prstGeom prst="ellipse">
            <a:avLst/>
          </a:prstGeom>
          <a:solidFill>
            <a:srgbClr val="F1B84D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lay-snake-1-eye"/>
          <p:cNvSpPr/>
          <p:nvPr/>
        </p:nvSpPr>
        <p:spPr>
          <a:xfrm>
            <a:off x="686970" y="4185172"/>
            <a:ext cx="34235" cy="4213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lay-snake-1-cheek"/>
          <p:cNvSpPr/>
          <p:nvPr/>
        </p:nvSpPr>
        <p:spPr>
          <a:xfrm>
            <a:off x="824057" y="4289633"/>
            <a:ext cx="52669" cy="52669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lay-snake-1-tongue"/>
          <p:cNvCxnSpPr/>
          <p:nvPr/>
        </p:nvCxnSpPr>
        <p:spPr>
          <a:xfrm flipH="1">
            <a:off x="561076" y="4336451"/>
            <a:ext cx="79004" cy="19751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122" name="lay-snake-1-tongue-fork"/>
          <p:cNvCxnSpPr/>
          <p:nvPr/>
        </p:nvCxnSpPr>
        <p:spPr>
          <a:xfrm flipH="1" flipV="1">
            <a:off x="534741" y="4329867"/>
            <a:ext cx="26335" cy="26335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123" name="lay-snake-2-body-0"/>
          <p:cNvSpPr/>
          <p:nvPr/>
        </p:nvSpPr>
        <p:spPr>
          <a:xfrm>
            <a:off x="2006925" y="4314139"/>
            <a:ext cx="210678" cy="131674"/>
          </a:xfrm>
          <a:prstGeom prst="ellipse">
            <a:avLst/>
          </a:prstGeom>
          <a:solidFill>
            <a:srgbClr val="BE5F45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lay-snake-2-body-1"/>
          <p:cNvSpPr/>
          <p:nvPr/>
        </p:nvSpPr>
        <p:spPr>
          <a:xfrm>
            <a:off x="2205045" y="4422516"/>
            <a:ext cx="210678" cy="131674"/>
          </a:xfrm>
          <a:prstGeom prst="ellipse">
            <a:avLst/>
          </a:prstGeom>
          <a:solidFill>
            <a:srgbClr val="BE5F45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lay-snake-2-body-2"/>
          <p:cNvSpPr/>
          <p:nvPr/>
        </p:nvSpPr>
        <p:spPr>
          <a:xfrm>
            <a:off x="2403165" y="4348047"/>
            <a:ext cx="210678" cy="131674"/>
          </a:xfrm>
          <a:prstGeom prst="ellipse">
            <a:avLst/>
          </a:prstGeom>
          <a:solidFill>
            <a:srgbClr val="BE5F45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lay-snake-2-body-3"/>
          <p:cNvSpPr/>
          <p:nvPr/>
        </p:nvSpPr>
        <p:spPr>
          <a:xfrm>
            <a:off x="2601285" y="4252947"/>
            <a:ext cx="210678" cy="131674"/>
          </a:xfrm>
          <a:prstGeom prst="ellipse">
            <a:avLst/>
          </a:prstGeom>
          <a:solidFill>
            <a:srgbClr val="BE5F45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lay-snake-2-head"/>
          <p:cNvSpPr/>
          <p:nvPr/>
        </p:nvSpPr>
        <p:spPr>
          <a:xfrm>
            <a:off x="1928287" y="4046769"/>
            <a:ext cx="276515" cy="355519"/>
          </a:xfrm>
          <a:prstGeom prst="ellipse">
            <a:avLst/>
          </a:prstGeom>
          <a:solidFill>
            <a:srgbClr val="BE5F45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lay-snake-2-eye"/>
          <p:cNvSpPr/>
          <p:nvPr/>
        </p:nvSpPr>
        <p:spPr>
          <a:xfrm>
            <a:off x="1994562" y="4176028"/>
            <a:ext cx="34235" cy="4213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lay-snake-2-cheek"/>
          <p:cNvSpPr/>
          <p:nvPr/>
        </p:nvSpPr>
        <p:spPr>
          <a:xfrm>
            <a:off x="2131649" y="4280489"/>
            <a:ext cx="52669" cy="52669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0" name="lay-snake-2-tongue"/>
          <p:cNvCxnSpPr/>
          <p:nvPr/>
        </p:nvCxnSpPr>
        <p:spPr>
          <a:xfrm flipH="1">
            <a:off x="1868668" y="4327307"/>
            <a:ext cx="79004" cy="19751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131" name="lay-snake-2-tongue-fork"/>
          <p:cNvCxnSpPr/>
          <p:nvPr/>
        </p:nvCxnSpPr>
        <p:spPr>
          <a:xfrm flipH="1" flipV="1">
            <a:off x="1842333" y="4320723"/>
            <a:ext cx="26335" cy="26335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132" name="lay-snake-3-body-0"/>
          <p:cNvSpPr/>
          <p:nvPr/>
        </p:nvSpPr>
        <p:spPr>
          <a:xfrm>
            <a:off x="3332805" y="4314139"/>
            <a:ext cx="210678" cy="131674"/>
          </a:xfrm>
          <a:prstGeom prst="ellipse">
            <a:avLst/>
          </a:prstGeom>
          <a:solidFill>
            <a:srgbClr val="70A886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lay-snake-3-body-1"/>
          <p:cNvSpPr/>
          <p:nvPr/>
        </p:nvSpPr>
        <p:spPr>
          <a:xfrm>
            <a:off x="3533973" y="4422516"/>
            <a:ext cx="210678" cy="131674"/>
          </a:xfrm>
          <a:prstGeom prst="ellipse">
            <a:avLst/>
          </a:prstGeom>
          <a:solidFill>
            <a:srgbClr val="70A886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lay-snake-3-body-2"/>
          <p:cNvSpPr/>
          <p:nvPr/>
        </p:nvSpPr>
        <p:spPr>
          <a:xfrm>
            <a:off x="3735141" y="4348047"/>
            <a:ext cx="210678" cy="131674"/>
          </a:xfrm>
          <a:prstGeom prst="ellipse">
            <a:avLst/>
          </a:prstGeom>
          <a:solidFill>
            <a:srgbClr val="70A886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lay-snake-3-body-3"/>
          <p:cNvSpPr/>
          <p:nvPr/>
        </p:nvSpPr>
        <p:spPr>
          <a:xfrm>
            <a:off x="3936309" y="4252947"/>
            <a:ext cx="210678" cy="131674"/>
          </a:xfrm>
          <a:prstGeom prst="ellipse">
            <a:avLst/>
          </a:prstGeom>
          <a:solidFill>
            <a:srgbClr val="70A886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lay-snake-3-head"/>
          <p:cNvSpPr/>
          <p:nvPr/>
        </p:nvSpPr>
        <p:spPr>
          <a:xfrm>
            <a:off x="3254167" y="4046769"/>
            <a:ext cx="276515" cy="355519"/>
          </a:xfrm>
          <a:prstGeom prst="ellipse">
            <a:avLst/>
          </a:prstGeom>
          <a:solidFill>
            <a:srgbClr val="70A886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lay-snake-3-eye"/>
          <p:cNvSpPr/>
          <p:nvPr/>
        </p:nvSpPr>
        <p:spPr>
          <a:xfrm>
            <a:off x="3320442" y="4176028"/>
            <a:ext cx="34235" cy="4213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lay-snake-3-cheek"/>
          <p:cNvSpPr/>
          <p:nvPr/>
        </p:nvSpPr>
        <p:spPr>
          <a:xfrm>
            <a:off x="3457529" y="4280489"/>
            <a:ext cx="52669" cy="52669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9" name="lay-snake-3-tongue"/>
          <p:cNvCxnSpPr/>
          <p:nvPr/>
        </p:nvCxnSpPr>
        <p:spPr>
          <a:xfrm flipH="1">
            <a:off x="3194548" y="4327307"/>
            <a:ext cx="79004" cy="19751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140" name="lay-snake-3-tongue-fork"/>
          <p:cNvCxnSpPr/>
          <p:nvPr/>
        </p:nvCxnSpPr>
        <p:spPr>
          <a:xfrm flipH="1" flipV="1">
            <a:off x="3168213" y="4320723"/>
            <a:ext cx="26335" cy="26335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141" name="expert-language"/>
          <p:cNvSpPr txBox="1"/>
          <p:nvPr/>
        </p:nvSpPr>
        <p:spPr>
          <a:xfrm>
            <a:off x="758952" y="3502152"/>
            <a:ext cx="31089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1">
                <a:solidFill>
                  <a:srgbClr val="777777"/>
                </a:solidFill>
                <a:latin typeface="Liberation Sans"/>
              </a:rPr>
              <a:t>Expert Language</a:t>
            </a:r>
          </a:p>
        </p:txBody>
      </p:sp>
      <p:sp>
        <p:nvSpPr>
          <p:cNvPr id="142" name="lay-language"/>
          <p:cNvSpPr txBox="1"/>
          <p:nvPr/>
        </p:nvSpPr>
        <p:spPr>
          <a:xfrm>
            <a:off x="923544" y="4663440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1">
                <a:solidFill>
                  <a:srgbClr val="777777"/>
                </a:solidFill>
                <a:latin typeface="Liberation Sans"/>
              </a:rPr>
              <a:t>Lay Language</a:t>
            </a:r>
          </a:p>
        </p:txBody>
      </p:sp>
      <p:sp>
        <p:nvSpPr>
          <p:cNvPr id="143" name="tip-star-left"/>
          <p:cNvSpPr/>
          <p:nvPr/>
        </p:nvSpPr>
        <p:spPr>
          <a:xfrm>
            <a:off x="603504" y="5385816"/>
            <a:ext cx="237744" cy="228600"/>
          </a:xfrm>
          <a:custGeom>
            <a:avLst/>
            <a:gdLst/>
            <a:ahLst/>
            <a:cxnLst/>
            <a:rect l="l" t="t" r="r" b="b"/>
            <a:pathLst>
              <a:path w="26" h="25">
                <a:moveTo>
                  <a:pt x="13" y="0"/>
                </a:moveTo>
                <a:lnTo>
                  <a:pt x="17" y="9"/>
                </a:lnTo>
                <a:lnTo>
                  <a:pt x="26" y="10"/>
                </a:lnTo>
                <a:lnTo>
                  <a:pt x="19" y="16"/>
                </a:lnTo>
                <a:lnTo>
                  <a:pt x="21" y="25"/>
                </a:lnTo>
                <a:lnTo>
                  <a:pt x="13" y="20"/>
                </a:lnTo>
                <a:lnTo>
                  <a:pt x="5" y="25"/>
                </a:lnTo>
                <a:lnTo>
                  <a:pt x="7" y="16"/>
                </a:lnTo>
                <a:lnTo>
                  <a:pt x="0" y="10"/>
                </a:lnTo>
                <a:lnTo>
                  <a:pt x="9" y="9"/>
                </a:lnTo>
                <a:close/>
              </a:path>
            </a:pathLst>
          </a:custGeom>
          <a:solidFill>
            <a:srgbClr val="FFE34E"/>
          </a:solidFill>
          <a:ln w="18288">
            <a:solidFill>
              <a:srgbClr val="9C66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ip-word"/>
          <p:cNvSpPr txBox="1"/>
          <p:nvPr/>
        </p:nvSpPr>
        <p:spPr>
          <a:xfrm>
            <a:off x="850392" y="5340096"/>
            <a:ext cx="4114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72" i="1" b="0">
                <a:solidFill>
                  <a:srgbClr val="000000"/>
                </a:solidFill>
                <a:latin typeface="Liberation Sans"/>
              </a:rPr>
              <a:t>Tip</a:t>
            </a:r>
          </a:p>
        </p:txBody>
      </p:sp>
      <p:sp>
        <p:nvSpPr>
          <p:cNvPr id="145" name="tip-star-right"/>
          <p:cNvSpPr/>
          <p:nvPr/>
        </p:nvSpPr>
        <p:spPr>
          <a:xfrm>
            <a:off x="1216152" y="5385816"/>
            <a:ext cx="237744" cy="228600"/>
          </a:xfrm>
          <a:custGeom>
            <a:avLst/>
            <a:gdLst/>
            <a:ahLst/>
            <a:cxnLst/>
            <a:rect l="l" t="t" r="r" b="b"/>
            <a:pathLst>
              <a:path w="26" h="25">
                <a:moveTo>
                  <a:pt x="13" y="0"/>
                </a:moveTo>
                <a:lnTo>
                  <a:pt x="17" y="9"/>
                </a:lnTo>
                <a:lnTo>
                  <a:pt x="26" y="10"/>
                </a:lnTo>
                <a:lnTo>
                  <a:pt x="19" y="16"/>
                </a:lnTo>
                <a:lnTo>
                  <a:pt x="21" y="25"/>
                </a:lnTo>
                <a:lnTo>
                  <a:pt x="13" y="20"/>
                </a:lnTo>
                <a:lnTo>
                  <a:pt x="5" y="25"/>
                </a:lnTo>
                <a:lnTo>
                  <a:pt x="7" y="16"/>
                </a:lnTo>
                <a:lnTo>
                  <a:pt x="0" y="10"/>
                </a:lnTo>
                <a:lnTo>
                  <a:pt x="9" y="9"/>
                </a:lnTo>
                <a:close/>
              </a:path>
            </a:pathLst>
          </a:custGeom>
          <a:solidFill>
            <a:srgbClr val="FFE34E"/>
          </a:solidFill>
          <a:ln w="18288">
            <a:solidFill>
              <a:srgbClr val="9C66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ip-colon"/>
          <p:cNvSpPr txBox="1"/>
          <p:nvPr/>
        </p:nvSpPr>
        <p:spPr>
          <a:xfrm>
            <a:off x="1490472" y="5340096"/>
            <a:ext cx="12801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72" i="1" b="0">
                <a:solidFill>
                  <a:srgbClr val="000000"/>
                </a:solidFill>
                <a:latin typeface="Liberation Sans"/>
              </a:rPr>
              <a:t>:</a:t>
            </a:r>
          </a:p>
        </p:txBody>
      </p:sp>
      <p:sp>
        <p:nvSpPr>
          <p:cNvPr id="147" name="tip-line-1"/>
          <p:cNvSpPr txBox="1"/>
          <p:nvPr/>
        </p:nvSpPr>
        <p:spPr>
          <a:xfrm>
            <a:off x="1618488" y="5340096"/>
            <a:ext cx="245973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72" i="1" b="0">
                <a:solidFill>
                  <a:srgbClr val="000000"/>
                </a:solidFill>
                <a:latin typeface="Liberation Sans"/>
              </a:rPr>
              <a:t>the long snake is</a:t>
            </a:r>
          </a:p>
        </p:txBody>
      </p:sp>
      <p:sp>
        <p:nvSpPr>
          <p:cNvPr id="148" name="tip-line-2"/>
          <p:cNvSpPr txBox="1"/>
          <p:nvPr/>
        </p:nvSpPr>
        <p:spPr>
          <a:xfrm>
            <a:off x="557784" y="5715000"/>
            <a:ext cx="35204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simplified into a shorter snake.</a:t>
            </a:r>
          </a:p>
        </p:txBody>
      </p:sp>
      <p:sp>
        <p:nvSpPr>
          <p:cNvPr id="149" name="legend-filled"/>
          <p:cNvSpPr/>
          <p:nvPr/>
        </p:nvSpPr>
        <p:spPr>
          <a:xfrm>
            <a:off x="5120640" y="356616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legend-and"/>
          <p:cNvSpPr txBox="1"/>
          <p:nvPr/>
        </p:nvSpPr>
        <p:spPr>
          <a:xfrm>
            <a:off x="5431536" y="320040"/>
            <a:ext cx="23774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43" i="1" b="0">
                <a:solidFill>
                  <a:srgbClr val="000000"/>
                </a:solidFill>
                <a:latin typeface="Liberation Sans"/>
              </a:rPr>
              <a:t>&amp;</a:t>
            </a:r>
          </a:p>
        </p:txBody>
      </p:sp>
      <p:sp>
        <p:nvSpPr>
          <p:cNvPr id="151" name="legend-hollow"/>
          <p:cNvSpPr/>
          <p:nvPr/>
        </p:nvSpPr>
        <p:spPr>
          <a:xfrm>
            <a:off x="5715000" y="356616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legend-text"/>
          <p:cNvSpPr txBox="1"/>
          <p:nvPr/>
        </p:nvSpPr>
        <p:spPr>
          <a:xfrm>
            <a:off x="6199632" y="329184"/>
            <a:ext cx="2697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Probing of Semantic</a:t>
            </a:r>
          </a:p>
        </p:txBody>
      </p:sp>
      <p:sp>
        <p:nvSpPr>
          <p:cNvPr id="153" name="semantic-relevant-region"/>
          <p:cNvSpPr/>
          <p:nvPr/>
        </p:nvSpPr>
        <p:spPr>
          <a:xfrm>
            <a:off x="4773168" y="841248"/>
            <a:ext cx="4416552" cy="1755648"/>
          </a:xfrm>
          <a:custGeom>
            <a:avLst/>
            <a:gdLst/>
            <a:ahLst/>
            <a:cxnLst/>
            <a:rect l="l" t="t" r="r" b="b"/>
            <a:pathLst>
              <a:path w="483" h="192">
                <a:moveTo>
                  <a:pt x="0" y="0"/>
                </a:moveTo>
                <a:lnTo>
                  <a:pt x="483" y="0"/>
                </a:lnTo>
                <a:lnTo>
                  <a:pt x="483" y="192"/>
                </a:lnTo>
                <a:lnTo>
                  <a:pt x="0" y="93"/>
                </a:lnTo>
                <a:close/>
              </a:path>
            </a:pathLst>
          </a:custGeom>
          <a:solidFill>
            <a:srgbClr val="BDD8ED"/>
          </a:solidFill>
          <a:ln w="4571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robe-handle"/>
          <p:cNvSpPr/>
          <p:nvPr/>
        </p:nvSpPr>
        <p:spPr>
          <a:xfrm>
            <a:off x="4919472" y="877824"/>
            <a:ext cx="128016" cy="292608"/>
          </a:xfrm>
          <a:prstGeom prst="ellipse">
            <a:avLst/>
          </a:prstGeom>
          <a:solidFill>
            <a:srgbClr val="F07A7F"/>
          </a:solidFill>
          <a:ln w="9144">
            <a:solidFill>
              <a:srgbClr val="73504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probe-stick"/>
          <p:cNvCxnSpPr/>
          <p:nvPr/>
        </p:nvCxnSpPr>
        <p:spPr>
          <a:xfrm flipV="1">
            <a:off x="5020056" y="832104"/>
            <a:ext cx="82296" cy="100584"/>
          </a:xfrm>
          <a:prstGeom prst="line">
            <a:avLst/>
          </a:prstGeom>
          <a:ln w="36576">
            <a:solidFill>
              <a:srgbClr val="73504B"/>
            </a:solidFill>
          </a:ln>
        </p:spPr>
      </p:cxnSp>
      <p:sp>
        <p:nvSpPr>
          <p:cNvPr id="156" name="probe-lens"/>
          <p:cNvSpPr/>
          <p:nvPr/>
        </p:nvSpPr>
        <p:spPr>
          <a:xfrm>
            <a:off x="4974336" y="704088"/>
            <a:ext cx="219456" cy="219456"/>
          </a:xfrm>
          <a:prstGeom prst="ellipse">
            <a:avLst/>
          </a:prstGeom>
          <a:solidFill>
            <a:srgbClr val="70B552"/>
          </a:solidFill>
          <a:ln w="18288">
            <a:solidFill>
              <a:srgbClr val="4A8F3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probe-glyph"/>
          <p:cNvSpPr txBox="1"/>
          <p:nvPr/>
        </p:nvSpPr>
        <p:spPr>
          <a:xfrm>
            <a:off x="5001768" y="713232"/>
            <a:ext cx="1828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4" i="1" b="1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158" name="semantic-relevant-label"/>
          <p:cNvSpPr txBox="1"/>
          <p:nvPr/>
        </p:nvSpPr>
        <p:spPr>
          <a:xfrm>
            <a:off x="5202936" y="941832"/>
            <a:ext cx="2697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Semantic-relevant</a:t>
            </a:r>
          </a:p>
        </p:txBody>
      </p:sp>
      <p:sp>
        <p:nvSpPr>
          <p:cNvPr id="159" name="relevant-filled-0"/>
          <p:cNvSpPr/>
          <p:nvPr/>
        </p:nvSpPr>
        <p:spPr>
          <a:xfrm>
            <a:off x="7744968" y="969264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levant-filled-1"/>
          <p:cNvSpPr/>
          <p:nvPr/>
        </p:nvSpPr>
        <p:spPr>
          <a:xfrm>
            <a:off x="7306056" y="1325880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levant-filled-2"/>
          <p:cNvSpPr/>
          <p:nvPr/>
        </p:nvSpPr>
        <p:spPr>
          <a:xfrm>
            <a:off x="7763256" y="1453896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levant-filled-3"/>
          <p:cNvSpPr/>
          <p:nvPr/>
        </p:nvSpPr>
        <p:spPr>
          <a:xfrm>
            <a:off x="7132320" y="1783080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levant-hollow-0"/>
          <p:cNvSpPr/>
          <p:nvPr/>
        </p:nvSpPr>
        <p:spPr>
          <a:xfrm>
            <a:off x="8705088" y="1362456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levant-hollow-1"/>
          <p:cNvSpPr/>
          <p:nvPr/>
        </p:nvSpPr>
        <p:spPr>
          <a:xfrm>
            <a:off x="8485632" y="1856232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relevant-hollow-2"/>
          <p:cNvSpPr/>
          <p:nvPr/>
        </p:nvSpPr>
        <p:spPr>
          <a:xfrm>
            <a:off x="7973568" y="1947672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6" name="relevant-feature-slash"/>
          <p:cNvCxnSpPr/>
          <p:nvPr/>
        </p:nvCxnSpPr>
        <p:spPr>
          <a:xfrm flipH="1">
            <a:off x="7744968" y="1152144"/>
            <a:ext cx="950976" cy="1069848"/>
          </a:xfrm>
          <a:prstGeom prst="line">
            <a:avLst/>
          </a:prstGeom>
          <a:ln w="54864">
            <a:solidFill>
              <a:srgbClr val="4471C4"/>
            </a:solidFill>
            <a:prstDash val="dash"/>
          </a:ln>
        </p:spPr>
      </p:cxnSp>
      <p:sp>
        <p:nvSpPr>
          <p:cNvPr id="167" name="upper-layer-wedge"/>
          <p:cNvSpPr/>
          <p:nvPr/>
        </p:nvSpPr>
        <p:spPr>
          <a:xfrm>
            <a:off x="4782312" y="1773936"/>
            <a:ext cx="4334256" cy="804672"/>
          </a:xfrm>
          <a:custGeom>
            <a:avLst/>
            <a:gdLst/>
            <a:ahLst/>
            <a:cxnLst/>
            <a:rect l="l" t="t" r="r" b="b"/>
            <a:pathLst>
              <a:path w="474" h="88">
                <a:moveTo>
                  <a:pt x="0" y="0"/>
                </a:moveTo>
                <a:lnTo>
                  <a:pt x="474" y="88"/>
                </a:lnTo>
                <a:lnTo>
                  <a:pt x="474" y="87"/>
                </a:lnTo>
                <a:lnTo>
                  <a:pt x="0" y="87"/>
                </a:lnTo>
                <a:close/>
              </a:path>
            </a:pathLst>
          </a:custGeom>
          <a:solidFill>
            <a:srgbClr val="DDE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8" name="upper-wedge-snowflake-axis-0"/>
          <p:cNvCxnSpPr/>
          <p:nvPr/>
        </p:nvCxnSpPr>
        <p:spPr>
          <a:xfrm>
            <a:off x="4919472" y="2221992"/>
            <a:ext cx="384048" cy="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69" name="upper-wedge-snowflake-branch-0--1--0.55"/>
          <p:cNvCxnSpPr/>
          <p:nvPr/>
        </p:nvCxnSpPr>
        <p:spPr>
          <a:xfrm flipV="1">
            <a:off x="4984760" y="2193889"/>
            <a:ext cx="45838" cy="28103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0" name="upper-wedge-snowflake-branch-0--1-0.55"/>
          <p:cNvCxnSpPr/>
          <p:nvPr/>
        </p:nvCxnSpPr>
        <p:spPr>
          <a:xfrm>
            <a:off x="4984760" y="2221992"/>
            <a:ext cx="45838" cy="28103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1" name="upper-wedge-snowflake-branch-0-1--0.55"/>
          <p:cNvCxnSpPr/>
          <p:nvPr/>
        </p:nvCxnSpPr>
        <p:spPr>
          <a:xfrm flipH="1">
            <a:off x="5192394" y="2221992"/>
            <a:ext cx="45838" cy="28103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2" name="upper-wedge-snowflake-branch-0-1-0.55"/>
          <p:cNvCxnSpPr/>
          <p:nvPr/>
        </p:nvCxnSpPr>
        <p:spPr>
          <a:xfrm flipH="1" flipV="1">
            <a:off x="5192394" y="2193889"/>
            <a:ext cx="45838" cy="28103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3" name="upper-wedge-snowflake-axis-1"/>
          <p:cNvCxnSpPr/>
          <p:nvPr/>
        </p:nvCxnSpPr>
        <p:spPr>
          <a:xfrm>
            <a:off x="5015484" y="2055694"/>
            <a:ext cx="192024" cy="332596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74" name="upper-wedge-snowflake-branch-1--1--0.55"/>
          <p:cNvCxnSpPr/>
          <p:nvPr/>
        </p:nvCxnSpPr>
        <p:spPr>
          <a:xfrm>
            <a:off x="5048128" y="2112236"/>
            <a:ext cx="47257" cy="2564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5" name="upper-wedge-snowflake-branch-1--1-0.55"/>
          <p:cNvCxnSpPr/>
          <p:nvPr/>
        </p:nvCxnSpPr>
        <p:spPr>
          <a:xfrm flipH="1">
            <a:off x="5046709" y="2112236"/>
            <a:ext cx="1419" cy="53748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6" name="upper-wedge-snowflake-branch-1-1--0.55"/>
          <p:cNvCxnSpPr/>
          <p:nvPr/>
        </p:nvCxnSpPr>
        <p:spPr>
          <a:xfrm flipH="1" flipV="1">
            <a:off x="5127607" y="2306104"/>
            <a:ext cx="47257" cy="2564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7" name="upper-wedge-snowflake-branch-1-1-0.55"/>
          <p:cNvCxnSpPr/>
          <p:nvPr/>
        </p:nvCxnSpPr>
        <p:spPr>
          <a:xfrm flipV="1">
            <a:off x="5174864" y="2278000"/>
            <a:ext cx="1419" cy="53748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78" name="upper-wedge-snowflake-axis-2"/>
          <p:cNvCxnSpPr/>
          <p:nvPr/>
        </p:nvCxnSpPr>
        <p:spPr>
          <a:xfrm flipH="1">
            <a:off x="5015484" y="2055694"/>
            <a:ext cx="192024" cy="332596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79" name="upper-wedge-snowflake-branch-2--1--0.55"/>
          <p:cNvCxnSpPr/>
          <p:nvPr/>
        </p:nvCxnSpPr>
        <p:spPr>
          <a:xfrm>
            <a:off x="5174864" y="2112236"/>
            <a:ext cx="1419" cy="53748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0" name="upper-wedge-snowflake-branch-2--1-0.55"/>
          <p:cNvCxnSpPr/>
          <p:nvPr/>
        </p:nvCxnSpPr>
        <p:spPr>
          <a:xfrm flipH="1">
            <a:off x="5127607" y="2112236"/>
            <a:ext cx="47257" cy="2564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1" name="upper-wedge-snowflake-branch-2-1--0.55"/>
          <p:cNvCxnSpPr/>
          <p:nvPr/>
        </p:nvCxnSpPr>
        <p:spPr>
          <a:xfrm flipH="1" flipV="1">
            <a:off x="5046709" y="2278000"/>
            <a:ext cx="1419" cy="53748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2" name="upper-wedge-snowflake-branch-2-1-0.55"/>
          <p:cNvCxnSpPr/>
          <p:nvPr/>
        </p:nvCxnSpPr>
        <p:spPr>
          <a:xfrm flipV="1">
            <a:off x="5048128" y="2306104"/>
            <a:ext cx="47257" cy="2564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sp>
        <p:nvSpPr>
          <p:cNvPr id="183" name="upper-wedge-snowflake-core"/>
          <p:cNvSpPr/>
          <p:nvPr/>
        </p:nvSpPr>
        <p:spPr>
          <a:xfrm>
            <a:off x="5084064" y="2194560"/>
            <a:ext cx="54864" cy="54864"/>
          </a:xfrm>
          <a:prstGeom prst="ellipse">
            <a:avLst/>
          </a:prstGeom>
          <a:solidFill>
            <a:srgbClr val="DDFBFF"/>
          </a:solidFill>
          <a:ln w="9144">
            <a:solidFill>
              <a:srgbClr val="67DF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transformer-layer-1"/>
          <p:cNvSpPr/>
          <p:nvPr/>
        </p:nvSpPr>
        <p:spPr>
          <a:xfrm>
            <a:off x="4782312" y="2651760"/>
            <a:ext cx="4416552" cy="731520"/>
          </a:xfrm>
          <a:prstGeom prst="roundRect">
            <a:avLst>
              <a:gd name="adj" fmla="val 5217"/>
            </a:avLst>
          </a:prstGeom>
          <a:solidFill>
            <a:srgbClr val="DDE7FF"/>
          </a:solidFill>
          <a:ln w="3657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layer-1-snowflake-axis-0"/>
          <p:cNvCxnSpPr/>
          <p:nvPr/>
        </p:nvCxnSpPr>
        <p:spPr>
          <a:xfrm>
            <a:off x="4937760" y="3017520"/>
            <a:ext cx="365760" cy="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86" name="layer-1-snowflake-branch-0--1--0.55"/>
          <p:cNvCxnSpPr/>
          <p:nvPr/>
        </p:nvCxnSpPr>
        <p:spPr>
          <a:xfrm flipV="1">
            <a:off x="4999939" y="2990755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7" name="layer-1-snowflake-branch-0--1-0.55"/>
          <p:cNvCxnSpPr/>
          <p:nvPr/>
        </p:nvCxnSpPr>
        <p:spPr>
          <a:xfrm>
            <a:off x="4999939" y="3017520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8" name="layer-1-snowflake-branch-0-1--0.55"/>
          <p:cNvCxnSpPr/>
          <p:nvPr/>
        </p:nvCxnSpPr>
        <p:spPr>
          <a:xfrm flipH="1">
            <a:off x="5197686" y="3017520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89" name="layer-1-snowflake-branch-0-1-0.55"/>
          <p:cNvCxnSpPr/>
          <p:nvPr/>
        </p:nvCxnSpPr>
        <p:spPr>
          <a:xfrm flipH="1" flipV="1">
            <a:off x="5197686" y="2990755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0" name="layer-1-snowflake-axis-1"/>
          <p:cNvCxnSpPr/>
          <p:nvPr/>
        </p:nvCxnSpPr>
        <p:spPr>
          <a:xfrm>
            <a:off x="5029200" y="2859141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91" name="layer-1-snowflake-branch-1--1--0.55"/>
          <p:cNvCxnSpPr/>
          <p:nvPr/>
        </p:nvCxnSpPr>
        <p:spPr>
          <a:xfrm>
            <a:off x="5060290" y="291299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2" name="layer-1-snowflake-branch-1--1-0.55"/>
          <p:cNvCxnSpPr/>
          <p:nvPr/>
        </p:nvCxnSpPr>
        <p:spPr>
          <a:xfrm flipH="1">
            <a:off x="5058938" y="2912990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3" name="layer-1-snowflake-branch-1-1--0.55"/>
          <p:cNvCxnSpPr/>
          <p:nvPr/>
        </p:nvCxnSpPr>
        <p:spPr>
          <a:xfrm flipH="1" flipV="1">
            <a:off x="5135984" y="3097626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4" name="layer-1-snowflake-branch-1-1-0.55"/>
          <p:cNvCxnSpPr/>
          <p:nvPr/>
        </p:nvCxnSpPr>
        <p:spPr>
          <a:xfrm flipV="1">
            <a:off x="5180990" y="3070861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5" name="layer-1-snowflake-axis-2"/>
          <p:cNvCxnSpPr/>
          <p:nvPr/>
        </p:nvCxnSpPr>
        <p:spPr>
          <a:xfrm flipH="1">
            <a:off x="5029200" y="2859141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196" name="layer-1-snowflake-branch-2--1--0.55"/>
          <p:cNvCxnSpPr/>
          <p:nvPr/>
        </p:nvCxnSpPr>
        <p:spPr>
          <a:xfrm>
            <a:off x="5180990" y="2912990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7" name="layer-1-snowflake-branch-2--1-0.55"/>
          <p:cNvCxnSpPr/>
          <p:nvPr/>
        </p:nvCxnSpPr>
        <p:spPr>
          <a:xfrm flipH="1">
            <a:off x="5135984" y="291299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8" name="layer-1-snowflake-branch-2-1--0.55"/>
          <p:cNvCxnSpPr/>
          <p:nvPr/>
        </p:nvCxnSpPr>
        <p:spPr>
          <a:xfrm flipH="1" flipV="1">
            <a:off x="5058938" y="3070861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199" name="layer-1-snowflake-branch-2-1-0.55"/>
          <p:cNvCxnSpPr/>
          <p:nvPr/>
        </p:nvCxnSpPr>
        <p:spPr>
          <a:xfrm flipV="1">
            <a:off x="5060290" y="3097626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sp>
        <p:nvSpPr>
          <p:cNvPr id="200" name="layer-1-snowflake-core"/>
          <p:cNvSpPr/>
          <p:nvPr/>
        </p:nvSpPr>
        <p:spPr>
          <a:xfrm>
            <a:off x="5093208" y="2990088"/>
            <a:ext cx="54864" cy="54864"/>
          </a:xfrm>
          <a:prstGeom prst="ellipse">
            <a:avLst/>
          </a:prstGeom>
          <a:solidFill>
            <a:srgbClr val="DDFBFF"/>
          </a:solidFill>
          <a:ln w="9144">
            <a:solidFill>
              <a:srgbClr val="67DF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ransformer-layer-1-text"/>
          <p:cNvSpPr txBox="1"/>
          <p:nvPr/>
        </p:nvSpPr>
        <p:spPr>
          <a:xfrm>
            <a:off x="5678424" y="2788920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04" i="1" b="0">
                <a:solidFill>
                  <a:srgbClr val="000000"/>
                </a:solidFill>
                <a:latin typeface="Liberation Sans"/>
              </a:rPr>
              <a:t>Transformer Layer</a:t>
            </a:r>
          </a:p>
        </p:txBody>
      </p:sp>
      <p:sp>
        <p:nvSpPr>
          <p:cNvPr id="202" name="transformer-ellipsis"/>
          <p:cNvSpPr txBox="1"/>
          <p:nvPr/>
        </p:nvSpPr>
        <p:spPr>
          <a:xfrm>
            <a:off x="6537960" y="3383280"/>
            <a:ext cx="91440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203" name="semantic-irrelevant-region"/>
          <p:cNvSpPr/>
          <p:nvPr/>
        </p:nvSpPr>
        <p:spPr>
          <a:xfrm>
            <a:off x="4782312" y="3840480"/>
            <a:ext cx="4407408" cy="2130552"/>
          </a:xfrm>
          <a:custGeom>
            <a:avLst/>
            <a:gdLst/>
            <a:ahLst/>
            <a:cxnLst/>
            <a:rect l="l" t="t" r="r" b="b"/>
            <a:pathLst>
              <a:path w="482" h="233">
                <a:moveTo>
                  <a:pt x="0" y="0"/>
                </a:moveTo>
                <a:lnTo>
                  <a:pt x="482" y="90"/>
                </a:lnTo>
                <a:lnTo>
                  <a:pt x="482" y="233"/>
                </a:lnTo>
                <a:lnTo>
                  <a:pt x="0" y="233"/>
                </a:lnTo>
                <a:close/>
              </a:path>
            </a:pathLst>
          </a:custGeom>
          <a:solidFill>
            <a:srgbClr val="E4F0DC"/>
          </a:solidFill>
          <a:ln w="4571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4" name="irrelevant-feature-slash"/>
          <p:cNvCxnSpPr/>
          <p:nvPr/>
        </p:nvCxnSpPr>
        <p:spPr>
          <a:xfrm>
            <a:off x="5239512" y="4105656"/>
            <a:ext cx="768096" cy="777240"/>
          </a:xfrm>
          <a:prstGeom prst="line">
            <a:avLst/>
          </a:prstGeom>
          <a:ln w="54864">
            <a:solidFill>
              <a:srgbClr val="4471C4"/>
            </a:solidFill>
            <a:prstDash val="dash"/>
          </a:ln>
        </p:spPr>
      </p:cxnSp>
      <p:sp>
        <p:nvSpPr>
          <p:cNvPr id="205" name="irrelevant-hollow-0"/>
          <p:cNvSpPr/>
          <p:nvPr/>
        </p:nvSpPr>
        <p:spPr>
          <a:xfrm>
            <a:off x="5532120" y="4087368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irrelevant-filled-0"/>
          <p:cNvSpPr/>
          <p:nvPr/>
        </p:nvSpPr>
        <p:spPr>
          <a:xfrm>
            <a:off x="5340096" y="4453128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irrelevant-filled-1"/>
          <p:cNvSpPr/>
          <p:nvPr/>
        </p:nvSpPr>
        <p:spPr>
          <a:xfrm>
            <a:off x="5641848" y="4608576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irrelevant-filled-2"/>
          <p:cNvSpPr/>
          <p:nvPr/>
        </p:nvSpPr>
        <p:spPr>
          <a:xfrm>
            <a:off x="6254496" y="4489704"/>
            <a:ext cx="274320" cy="292608"/>
          </a:xfrm>
          <a:prstGeom prst="ellipse">
            <a:avLst/>
          </a:prstGeom>
          <a:solidFill>
            <a:srgbClr val="F07A7F"/>
          </a:solidFill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irrelevant-hollow-1"/>
          <p:cNvSpPr/>
          <p:nvPr/>
        </p:nvSpPr>
        <p:spPr>
          <a:xfrm>
            <a:off x="5330952" y="4078224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irrelevant-hollow-2"/>
          <p:cNvSpPr/>
          <p:nvPr/>
        </p:nvSpPr>
        <p:spPr>
          <a:xfrm>
            <a:off x="5111496" y="4434840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irrelevant-hollow-3"/>
          <p:cNvSpPr/>
          <p:nvPr/>
        </p:nvSpPr>
        <p:spPr>
          <a:xfrm>
            <a:off x="5980176" y="4892040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irrelevant-hollow-4"/>
          <p:cNvSpPr/>
          <p:nvPr/>
        </p:nvSpPr>
        <p:spPr>
          <a:xfrm>
            <a:off x="6327648" y="4901184"/>
            <a:ext cx="274320" cy="292608"/>
          </a:xfrm>
          <a:prstGeom prst="ellipse">
            <a:avLst/>
          </a:prstGeom>
          <a:noFill/>
          <a:ln w="45719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transformer-layer-2"/>
          <p:cNvSpPr/>
          <p:nvPr/>
        </p:nvSpPr>
        <p:spPr>
          <a:xfrm>
            <a:off x="4782312" y="3657600"/>
            <a:ext cx="4416552" cy="731520"/>
          </a:xfrm>
          <a:prstGeom prst="roundRect">
            <a:avLst>
              <a:gd name="adj" fmla="val 5217"/>
            </a:avLst>
          </a:prstGeom>
          <a:solidFill>
            <a:srgbClr val="DDE7FF"/>
          </a:solidFill>
          <a:ln w="3657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layer-2-snowflake-axis-0"/>
          <p:cNvCxnSpPr/>
          <p:nvPr/>
        </p:nvCxnSpPr>
        <p:spPr>
          <a:xfrm>
            <a:off x="8650224" y="4032504"/>
            <a:ext cx="365760" cy="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15" name="layer-2-snowflake-branch-0--1--0.55"/>
          <p:cNvCxnSpPr/>
          <p:nvPr/>
        </p:nvCxnSpPr>
        <p:spPr>
          <a:xfrm flipV="1">
            <a:off x="8712403" y="4005739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16" name="layer-2-snowflake-branch-0--1-0.55"/>
          <p:cNvCxnSpPr/>
          <p:nvPr/>
        </p:nvCxnSpPr>
        <p:spPr>
          <a:xfrm>
            <a:off x="8712403" y="4032504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17" name="layer-2-snowflake-branch-0-1--0.55"/>
          <p:cNvCxnSpPr/>
          <p:nvPr/>
        </p:nvCxnSpPr>
        <p:spPr>
          <a:xfrm flipH="1">
            <a:off x="8910150" y="4032504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18" name="layer-2-snowflake-branch-0-1-0.55"/>
          <p:cNvCxnSpPr/>
          <p:nvPr/>
        </p:nvCxnSpPr>
        <p:spPr>
          <a:xfrm flipH="1" flipV="1">
            <a:off x="8910150" y="4005739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19" name="layer-2-snowflake-axis-1"/>
          <p:cNvCxnSpPr/>
          <p:nvPr/>
        </p:nvCxnSpPr>
        <p:spPr>
          <a:xfrm>
            <a:off x="8741664" y="3874125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20" name="layer-2-snowflake-branch-1--1--0.55"/>
          <p:cNvCxnSpPr/>
          <p:nvPr/>
        </p:nvCxnSpPr>
        <p:spPr>
          <a:xfrm>
            <a:off x="8772754" y="3927974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1" name="layer-2-snowflake-branch-1--1-0.55"/>
          <p:cNvCxnSpPr/>
          <p:nvPr/>
        </p:nvCxnSpPr>
        <p:spPr>
          <a:xfrm flipH="1">
            <a:off x="8771402" y="3927974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2" name="layer-2-snowflake-branch-1-1--0.55"/>
          <p:cNvCxnSpPr/>
          <p:nvPr/>
        </p:nvCxnSpPr>
        <p:spPr>
          <a:xfrm flipH="1" flipV="1">
            <a:off x="8848448" y="411261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3" name="layer-2-snowflake-branch-1-1-0.55"/>
          <p:cNvCxnSpPr/>
          <p:nvPr/>
        </p:nvCxnSpPr>
        <p:spPr>
          <a:xfrm flipV="1">
            <a:off x="8893454" y="4085845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4" name="layer-2-snowflake-axis-2"/>
          <p:cNvCxnSpPr/>
          <p:nvPr/>
        </p:nvCxnSpPr>
        <p:spPr>
          <a:xfrm flipH="1">
            <a:off x="8741664" y="3874125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25" name="layer-2-snowflake-branch-2--1--0.55"/>
          <p:cNvCxnSpPr/>
          <p:nvPr/>
        </p:nvCxnSpPr>
        <p:spPr>
          <a:xfrm>
            <a:off x="8893454" y="3927974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6" name="layer-2-snowflake-branch-2--1-0.55"/>
          <p:cNvCxnSpPr/>
          <p:nvPr/>
        </p:nvCxnSpPr>
        <p:spPr>
          <a:xfrm flipH="1">
            <a:off x="8848448" y="3927974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7" name="layer-2-snowflake-branch-2-1--0.55"/>
          <p:cNvCxnSpPr/>
          <p:nvPr/>
        </p:nvCxnSpPr>
        <p:spPr>
          <a:xfrm flipH="1" flipV="1">
            <a:off x="8771402" y="4085845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28" name="layer-2-snowflake-branch-2-1-0.55"/>
          <p:cNvCxnSpPr/>
          <p:nvPr/>
        </p:nvCxnSpPr>
        <p:spPr>
          <a:xfrm flipV="1">
            <a:off x="8772754" y="411261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sp>
        <p:nvSpPr>
          <p:cNvPr id="229" name="layer-2-snowflake-core"/>
          <p:cNvSpPr/>
          <p:nvPr/>
        </p:nvSpPr>
        <p:spPr>
          <a:xfrm>
            <a:off x="8805672" y="4005072"/>
            <a:ext cx="54864" cy="54864"/>
          </a:xfrm>
          <a:prstGeom prst="ellipse">
            <a:avLst/>
          </a:prstGeom>
          <a:solidFill>
            <a:srgbClr val="DDFBFF"/>
          </a:solidFill>
          <a:ln w="9144">
            <a:solidFill>
              <a:srgbClr val="67DF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transformer-layer-2-text"/>
          <p:cNvSpPr txBox="1"/>
          <p:nvPr/>
        </p:nvSpPr>
        <p:spPr>
          <a:xfrm>
            <a:off x="5678424" y="3794760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04" i="1" b="0">
                <a:solidFill>
                  <a:srgbClr val="000000"/>
                </a:solidFill>
                <a:latin typeface="Liberation Sans"/>
              </a:rPr>
              <a:t>Transformer Layer</a:t>
            </a:r>
          </a:p>
        </p:txBody>
      </p:sp>
      <p:cxnSp>
        <p:nvCxnSpPr>
          <p:cNvPr id="231" name="lower-wedge-snowflake-axis-0"/>
          <p:cNvCxnSpPr/>
          <p:nvPr/>
        </p:nvCxnSpPr>
        <p:spPr>
          <a:xfrm>
            <a:off x="8677656" y="4754880"/>
            <a:ext cx="365760" cy="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32" name="lower-wedge-snowflake-branch-0--1--0.55"/>
          <p:cNvCxnSpPr/>
          <p:nvPr/>
        </p:nvCxnSpPr>
        <p:spPr>
          <a:xfrm flipV="1">
            <a:off x="8739835" y="4728115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3" name="lower-wedge-snowflake-branch-0--1-0.55"/>
          <p:cNvCxnSpPr/>
          <p:nvPr/>
        </p:nvCxnSpPr>
        <p:spPr>
          <a:xfrm>
            <a:off x="8739835" y="4754880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4" name="lower-wedge-snowflake-branch-0-1--0.55"/>
          <p:cNvCxnSpPr/>
          <p:nvPr/>
        </p:nvCxnSpPr>
        <p:spPr>
          <a:xfrm flipH="1">
            <a:off x="8937582" y="4754880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5" name="lower-wedge-snowflake-branch-0-1-0.55"/>
          <p:cNvCxnSpPr/>
          <p:nvPr/>
        </p:nvCxnSpPr>
        <p:spPr>
          <a:xfrm flipH="1" flipV="1">
            <a:off x="8937582" y="4728115"/>
            <a:ext cx="43655" cy="26765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6" name="lower-wedge-snowflake-axis-1"/>
          <p:cNvCxnSpPr/>
          <p:nvPr/>
        </p:nvCxnSpPr>
        <p:spPr>
          <a:xfrm>
            <a:off x="8769096" y="4596501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37" name="lower-wedge-snowflake-branch-1--1--0.55"/>
          <p:cNvCxnSpPr/>
          <p:nvPr/>
        </p:nvCxnSpPr>
        <p:spPr>
          <a:xfrm>
            <a:off x="8800186" y="465035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8" name="lower-wedge-snowflake-branch-1--1-0.55"/>
          <p:cNvCxnSpPr/>
          <p:nvPr/>
        </p:nvCxnSpPr>
        <p:spPr>
          <a:xfrm flipH="1">
            <a:off x="8798834" y="4650350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39" name="lower-wedge-snowflake-branch-1-1--0.55"/>
          <p:cNvCxnSpPr/>
          <p:nvPr/>
        </p:nvCxnSpPr>
        <p:spPr>
          <a:xfrm flipH="1" flipV="1">
            <a:off x="8875880" y="4834986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40" name="lower-wedge-snowflake-branch-1-1-0.55"/>
          <p:cNvCxnSpPr/>
          <p:nvPr/>
        </p:nvCxnSpPr>
        <p:spPr>
          <a:xfrm flipV="1">
            <a:off x="8920886" y="4808221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41" name="lower-wedge-snowflake-axis-2"/>
          <p:cNvCxnSpPr/>
          <p:nvPr/>
        </p:nvCxnSpPr>
        <p:spPr>
          <a:xfrm flipH="1">
            <a:off x="8769096" y="4596501"/>
            <a:ext cx="182880" cy="316758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242" name="lower-wedge-snowflake-branch-2--1--0.55"/>
          <p:cNvCxnSpPr/>
          <p:nvPr/>
        </p:nvCxnSpPr>
        <p:spPr>
          <a:xfrm>
            <a:off x="8920886" y="4650350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43" name="lower-wedge-snowflake-branch-2--1-0.55"/>
          <p:cNvCxnSpPr/>
          <p:nvPr/>
        </p:nvCxnSpPr>
        <p:spPr>
          <a:xfrm flipH="1">
            <a:off x="8875880" y="4650350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44" name="lower-wedge-snowflake-branch-2-1--0.55"/>
          <p:cNvCxnSpPr/>
          <p:nvPr/>
        </p:nvCxnSpPr>
        <p:spPr>
          <a:xfrm flipH="1" flipV="1">
            <a:off x="8798834" y="4808221"/>
            <a:ext cx="1352" cy="5118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245" name="lower-wedge-snowflake-branch-2-1-0.55"/>
          <p:cNvCxnSpPr/>
          <p:nvPr/>
        </p:nvCxnSpPr>
        <p:spPr>
          <a:xfrm flipV="1">
            <a:off x="8800186" y="4834986"/>
            <a:ext cx="45006" cy="24424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sp>
        <p:nvSpPr>
          <p:cNvPr id="246" name="lower-wedge-snowflake-core"/>
          <p:cNvSpPr/>
          <p:nvPr/>
        </p:nvSpPr>
        <p:spPr>
          <a:xfrm>
            <a:off x="8833104" y="4727448"/>
            <a:ext cx="54864" cy="54864"/>
          </a:xfrm>
          <a:prstGeom prst="ellipse">
            <a:avLst/>
          </a:prstGeom>
          <a:solidFill>
            <a:srgbClr val="DDFBFF"/>
          </a:solidFill>
          <a:ln w="9144">
            <a:solidFill>
              <a:srgbClr val="67DF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no-token"/>
          <p:cNvSpPr/>
          <p:nvPr/>
        </p:nvSpPr>
        <p:spPr>
          <a:xfrm>
            <a:off x="6345936" y="5157216"/>
            <a:ext cx="256032" cy="256032"/>
          </a:xfrm>
          <a:prstGeom prst="ellipse">
            <a:avLst/>
          </a:prstGeom>
          <a:solidFill>
            <a:srgbClr val="DA3B38"/>
          </a:solidFill>
          <a:ln w="18288">
            <a:solidFill>
              <a:srgbClr val="A52C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no-token-text"/>
          <p:cNvSpPr txBox="1"/>
          <p:nvPr/>
        </p:nvSpPr>
        <p:spPr>
          <a:xfrm>
            <a:off x="6373368" y="5175504"/>
            <a:ext cx="201168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9" i="1" b="1">
                <a:solidFill>
                  <a:srgbClr val="FFFFFF"/>
                </a:solidFill>
                <a:latin typeface="Liberation Sans"/>
              </a:rPr>
              <a:t>No</a:t>
            </a:r>
          </a:p>
        </p:txBody>
      </p:sp>
      <p:cxnSp>
        <p:nvCxnSpPr>
          <p:cNvPr id="249" name="no-token-stick"/>
          <p:cNvCxnSpPr/>
          <p:nvPr/>
        </p:nvCxnSpPr>
        <p:spPr>
          <a:xfrm>
            <a:off x="6473952" y="5413248"/>
            <a:ext cx="0" cy="274320"/>
          </a:xfrm>
          <a:prstGeom prst="line">
            <a:avLst/>
          </a:prstGeom>
          <a:ln w="36576">
            <a:solidFill>
              <a:srgbClr val="9C5C4D"/>
            </a:solidFill>
          </a:ln>
        </p:spPr>
      </p:cxnSp>
      <p:sp>
        <p:nvSpPr>
          <p:cNvPr id="250" name="semantic-irrelevant-label"/>
          <p:cNvSpPr txBox="1"/>
          <p:nvPr/>
        </p:nvSpPr>
        <p:spPr>
          <a:xfrm>
            <a:off x="6592824" y="5349240"/>
            <a:ext cx="2587752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88" i="1" b="0">
                <a:solidFill>
                  <a:srgbClr val="000000"/>
                </a:solidFill>
                <a:latin typeface="Liberation Sans"/>
              </a:rPr>
              <a:t>Semantic-irrelevant</a:t>
            </a:r>
          </a:p>
        </p:txBody>
      </p:sp>
      <p:sp>
        <p:nvSpPr>
          <p:cNvPr id="251" name="upper-pickaxe-handle"/>
          <p:cNvSpPr/>
          <p:nvPr/>
        </p:nvSpPr>
        <p:spPr>
          <a:xfrm>
            <a:off x="8659368" y="2441448"/>
            <a:ext cx="384048" cy="374904"/>
          </a:xfrm>
          <a:custGeom>
            <a:avLst/>
            <a:gdLst/>
            <a:ahLst/>
            <a:cxnLst/>
            <a:rect l="l" t="t" r="r" b="b"/>
            <a:pathLst>
              <a:path w="42" h="41">
                <a:moveTo>
                  <a:pt x="37" y="41"/>
                </a:moveTo>
                <a:lnTo>
                  <a:pt x="42" y="35"/>
                </a:lnTo>
                <a:lnTo>
                  <a:pt x="5" y="0"/>
                </a:lnTo>
                <a:lnTo>
                  <a:pt x="0" y="5"/>
                </a:lnTo>
                <a:close/>
              </a:path>
            </a:pathLst>
          </a:custGeom>
          <a:solidFill>
            <a:srgbClr val="B6602E"/>
          </a:solidFill>
          <a:ln w="18288">
            <a:solidFill>
              <a:srgbClr val="3B2A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upper-pickaxe-head"/>
          <p:cNvSpPr/>
          <p:nvPr/>
        </p:nvSpPr>
        <p:spPr>
          <a:xfrm>
            <a:off x="8503920" y="2267712"/>
            <a:ext cx="420624" cy="438912"/>
          </a:xfrm>
          <a:custGeom>
            <a:avLst/>
            <a:gdLst/>
            <a:ahLst/>
            <a:cxnLst/>
            <a:rect l="l" t="t" r="r" b="b"/>
            <a:pathLst>
              <a:path w="46" h="48">
                <a:moveTo>
                  <a:pt x="0" y="48"/>
                </a:moveTo>
                <a:lnTo>
                  <a:pt x="11" y="23"/>
                </a:lnTo>
                <a:lnTo>
                  <a:pt x="21" y="13"/>
                </a:lnTo>
                <a:lnTo>
                  <a:pt x="46" y="0"/>
                </a:lnTo>
                <a:lnTo>
                  <a:pt x="29" y="15"/>
                </a:lnTo>
                <a:lnTo>
                  <a:pt x="29" y="30"/>
                </a:lnTo>
                <a:lnTo>
                  <a:pt x="14" y="31"/>
                </a:lnTo>
                <a:close/>
              </a:path>
            </a:pathLst>
          </a:custGeom>
          <a:solidFill>
            <a:srgbClr val="61636A"/>
          </a:solidFill>
          <a:ln w="18288">
            <a:solidFill>
              <a:srgbClr val="292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lower-pickaxe-visible-handle"/>
          <p:cNvSpPr/>
          <p:nvPr/>
        </p:nvSpPr>
        <p:spPr>
          <a:xfrm>
            <a:off x="5221224" y="384048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42" h="42">
                <a:moveTo>
                  <a:pt x="0" y="37"/>
                </a:moveTo>
                <a:lnTo>
                  <a:pt x="5" y="42"/>
                </a:lnTo>
                <a:lnTo>
                  <a:pt x="42" y="6"/>
                </a:lnTo>
                <a:lnTo>
                  <a:pt x="36" y="0"/>
                </a:lnTo>
                <a:close/>
              </a:path>
            </a:pathLst>
          </a:custGeom>
          <a:solidFill>
            <a:srgbClr val="B6602E"/>
          </a:solidFill>
          <a:ln w="18288">
            <a:solidFill>
              <a:srgbClr val="3B2A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lower-pickaxe-visible-head"/>
          <p:cNvSpPr/>
          <p:nvPr/>
        </p:nvSpPr>
        <p:spPr>
          <a:xfrm>
            <a:off x="5340096" y="3675888"/>
            <a:ext cx="429768" cy="429768"/>
          </a:xfrm>
          <a:custGeom>
            <a:avLst/>
            <a:gdLst/>
            <a:ahLst/>
            <a:cxnLst/>
            <a:rect l="l" t="t" r="r" b="b"/>
            <a:pathLst>
              <a:path w="47" h="47">
                <a:moveTo>
                  <a:pt x="0" y="0"/>
                </a:moveTo>
                <a:lnTo>
                  <a:pt x="25" y="13"/>
                </a:lnTo>
                <a:lnTo>
                  <a:pt x="34" y="22"/>
                </a:lnTo>
                <a:lnTo>
                  <a:pt x="47" y="47"/>
                </a:lnTo>
                <a:lnTo>
                  <a:pt x="32" y="31"/>
                </a:lnTo>
                <a:lnTo>
                  <a:pt x="17" y="30"/>
                </a:lnTo>
                <a:lnTo>
                  <a:pt x="16" y="15"/>
                </a:lnTo>
                <a:close/>
              </a:path>
            </a:pathLst>
          </a:custGeom>
          <a:solidFill>
            <a:srgbClr val="61636A"/>
          </a:solidFill>
          <a:ln w="18288">
            <a:solidFill>
              <a:srgbClr val="292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adaptation-outer-panel"/>
          <p:cNvSpPr/>
          <p:nvPr/>
        </p:nvSpPr>
        <p:spPr>
          <a:xfrm>
            <a:off x="9528048" y="201168"/>
            <a:ext cx="7104888" cy="5907024"/>
          </a:xfrm>
          <a:prstGeom prst="roundRect">
            <a:avLst>
              <a:gd name="adj" fmla="val 4169"/>
            </a:avLst>
          </a:prstGeom>
          <a:solidFill>
            <a:srgbClr val="E5F3F3"/>
          </a:solidFill>
          <a:ln w="36576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top-memory-1-outer"/>
          <p:cNvSpPr/>
          <p:nvPr/>
        </p:nvSpPr>
        <p:spPr>
          <a:xfrm>
            <a:off x="10104120" y="384048"/>
            <a:ext cx="1554480" cy="557784"/>
          </a:xfrm>
          <a:prstGeom prst="roundRect">
            <a:avLst>
              <a:gd name="adj" fmla="val 12705"/>
            </a:avLst>
          </a:prstGeom>
          <a:solidFill>
            <a:srgbClr val="FFFFFF"/>
          </a:solidFill>
          <a:ln w="27432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op-memory-1-inner"/>
          <p:cNvSpPr/>
          <p:nvPr/>
        </p:nvSpPr>
        <p:spPr>
          <a:xfrm>
            <a:off x="10195560" y="493776"/>
            <a:ext cx="1371600" cy="338328"/>
          </a:xfrm>
          <a:prstGeom prst="rect">
            <a:avLst/>
          </a:prstGeom>
          <a:solidFill>
            <a:srgbClr val="D6DDE5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8" name="top-memory-1-divider-1"/>
          <p:cNvCxnSpPr/>
          <p:nvPr/>
        </p:nvCxnSpPr>
        <p:spPr>
          <a:xfrm>
            <a:off x="10538460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59" name="top-memory-1-divider-2"/>
          <p:cNvCxnSpPr/>
          <p:nvPr/>
        </p:nvCxnSpPr>
        <p:spPr>
          <a:xfrm>
            <a:off x="10881360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60" name="top-memory-1-divider-3"/>
          <p:cNvCxnSpPr/>
          <p:nvPr/>
        </p:nvCxnSpPr>
        <p:spPr>
          <a:xfrm>
            <a:off x="11224260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261" name="top-memory-1-snake-body-0"/>
          <p:cNvSpPr/>
          <p:nvPr/>
        </p:nvSpPr>
        <p:spPr>
          <a:xfrm>
            <a:off x="10605211" y="653796"/>
            <a:ext cx="131674" cy="82296"/>
          </a:xfrm>
          <a:prstGeom prst="ellipse">
            <a:avLst/>
          </a:prstGeom>
          <a:solidFill>
            <a:srgbClr val="D8BB82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top-memory-1-snake-body-1"/>
          <p:cNvSpPr/>
          <p:nvPr/>
        </p:nvSpPr>
        <p:spPr>
          <a:xfrm>
            <a:off x="10711891" y="762173"/>
            <a:ext cx="131674" cy="82296"/>
          </a:xfrm>
          <a:prstGeom prst="ellipse">
            <a:avLst/>
          </a:prstGeom>
          <a:solidFill>
            <a:srgbClr val="D8BB82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top-memory-1-snake-body-2"/>
          <p:cNvSpPr/>
          <p:nvPr/>
        </p:nvSpPr>
        <p:spPr>
          <a:xfrm>
            <a:off x="10818571" y="687704"/>
            <a:ext cx="131674" cy="82296"/>
          </a:xfrm>
          <a:prstGeom prst="ellipse">
            <a:avLst/>
          </a:prstGeom>
          <a:solidFill>
            <a:srgbClr val="D8BB82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top-memory-1-snake-body-3"/>
          <p:cNvSpPr/>
          <p:nvPr/>
        </p:nvSpPr>
        <p:spPr>
          <a:xfrm>
            <a:off x="10925251" y="592604"/>
            <a:ext cx="131674" cy="82296"/>
          </a:xfrm>
          <a:prstGeom prst="ellipse">
            <a:avLst/>
          </a:prstGeom>
          <a:solidFill>
            <a:srgbClr val="D8BB82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top-memory-1-snake-head"/>
          <p:cNvSpPr/>
          <p:nvPr/>
        </p:nvSpPr>
        <p:spPr>
          <a:xfrm>
            <a:off x="10538917" y="428396"/>
            <a:ext cx="172822" cy="222199"/>
          </a:xfrm>
          <a:prstGeom prst="ellipse">
            <a:avLst/>
          </a:prstGeom>
          <a:solidFill>
            <a:srgbClr val="D8BB82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top-memory-1-snake-eye"/>
          <p:cNvSpPr/>
          <p:nvPr/>
        </p:nvSpPr>
        <p:spPr>
          <a:xfrm>
            <a:off x="10559766" y="498897"/>
            <a:ext cx="21397" cy="26335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top-memory-1-snake-cheek"/>
          <p:cNvSpPr/>
          <p:nvPr/>
        </p:nvSpPr>
        <p:spPr>
          <a:xfrm>
            <a:off x="10700309" y="605333"/>
            <a:ext cx="32918" cy="32918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8" name="top-memory-1-snake-tongue"/>
          <p:cNvCxnSpPr/>
          <p:nvPr/>
        </p:nvCxnSpPr>
        <p:spPr>
          <a:xfrm flipH="1">
            <a:off x="10518800" y="662026"/>
            <a:ext cx="49378" cy="12344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269" name="top-memory-1-snake-tongue-fork"/>
          <p:cNvCxnSpPr/>
          <p:nvPr/>
        </p:nvCxnSpPr>
        <p:spPr>
          <a:xfrm flipH="1" flipV="1">
            <a:off x="10502341" y="657911"/>
            <a:ext cx="16459" cy="16459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270" name="top-memory-2-outer"/>
          <p:cNvSpPr/>
          <p:nvPr/>
        </p:nvSpPr>
        <p:spPr>
          <a:xfrm>
            <a:off x="11814048" y="384048"/>
            <a:ext cx="1554480" cy="557784"/>
          </a:xfrm>
          <a:prstGeom prst="roundRect">
            <a:avLst>
              <a:gd name="adj" fmla="val 12705"/>
            </a:avLst>
          </a:prstGeom>
          <a:solidFill>
            <a:srgbClr val="FFFFFF"/>
          </a:solidFill>
          <a:ln w="27432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top-memory-2-inner"/>
          <p:cNvSpPr/>
          <p:nvPr/>
        </p:nvSpPr>
        <p:spPr>
          <a:xfrm>
            <a:off x="11905488" y="493776"/>
            <a:ext cx="1371600" cy="338328"/>
          </a:xfrm>
          <a:prstGeom prst="rect">
            <a:avLst/>
          </a:prstGeom>
          <a:solidFill>
            <a:srgbClr val="D6DDE5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2" name="top-memory-2-divider-1"/>
          <p:cNvCxnSpPr/>
          <p:nvPr/>
        </p:nvCxnSpPr>
        <p:spPr>
          <a:xfrm>
            <a:off x="12248388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73" name="top-memory-2-divider-2"/>
          <p:cNvCxnSpPr/>
          <p:nvPr/>
        </p:nvCxnSpPr>
        <p:spPr>
          <a:xfrm>
            <a:off x="12591288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74" name="top-memory-2-divider-3"/>
          <p:cNvCxnSpPr/>
          <p:nvPr/>
        </p:nvCxnSpPr>
        <p:spPr>
          <a:xfrm>
            <a:off x="12934188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275" name="top-memory-2-snake-body-0"/>
          <p:cNvSpPr/>
          <p:nvPr/>
        </p:nvSpPr>
        <p:spPr>
          <a:xfrm>
            <a:off x="12315139" y="653796"/>
            <a:ext cx="131674" cy="82296"/>
          </a:xfrm>
          <a:prstGeom prst="ellipse">
            <a:avLst/>
          </a:prstGeom>
          <a:solidFill>
            <a:srgbClr val="B87D74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top-memory-2-snake-body-1"/>
          <p:cNvSpPr/>
          <p:nvPr/>
        </p:nvSpPr>
        <p:spPr>
          <a:xfrm>
            <a:off x="12421819" y="762173"/>
            <a:ext cx="131674" cy="82296"/>
          </a:xfrm>
          <a:prstGeom prst="ellipse">
            <a:avLst/>
          </a:prstGeom>
          <a:solidFill>
            <a:srgbClr val="B87D74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op-memory-2-snake-body-2"/>
          <p:cNvSpPr/>
          <p:nvPr/>
        </p:nvSpPr>
        <p:spPr>
          <a:xfrm>
            <a:off x="12528499" y="687704"/>
            <a:ext cx="131674" cy="82296"/>
          </a:xfrm>
          <a:prstGeom prst="ellipse">
            <a:avLst/>
          </a:prstGeom>
          <a:solidFill>
            <a:srgbClr val="B87D74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top-memory-2-snake-body-3"/>
          <p:cNvSpPr/>
          <p:nvPr/>
        </p:nvSpPr>
        <p:spPr>
          <a:xfrm>
            <a:off x="12635179" y="592604"/>
            <a:ext cx="131674" cy="82296"/>
          </a:xfrm>
          <a:prstGeom prst="ellipse">
            <a:avLst/>
          </a:prstGeom>
          <a:solidFill>
            <a:srgbClr val="B87D74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top-memory-2-snake-head"/>
          <p:cNvSpPr/>
          <p:nvPr/>
        </p:nvSpPr>
        <p:spPr>
          <a:xfrm>
            <a:off x="12248845" y="428396"/>
            <a:ext cx="172822" cy="222199"/>
          </a:xfrm>
          <a:prstGeom prst="ellipse">
            <a:avLst/>
          </a:prstGeom>
          <a:solidFill>
            <a:srgbClr val="B87D74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top-memory-2-snake-eye"/>
          <p:cNvSpPr/>
          <p:nvPr/>
        </p:nvSpPr>
        <p:spPr>
          <a:xfrm>
            <a:off x="12269694" y="498897"/>
            <a:ext cx="21397" cy="26335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top-memory-2-snake-cheek"/>
          <p:cNvSpPr/>
          <p:nvPr/>
        </p:nvSpPr>
        <p:spPr>
          <a:xfrm>
            <a:off x="12410237" y="605333"/>
            <a:ext cx="32918" cy="32918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top-memory-2-snake-tongue"/>
          <p:cNvCxnSpPr/>
          <p:nvPr/>
        </p:nvCxnSpPr>
        <p:spPr>
          <a:xfrm flipH="1">
            <a:off x="12228728" y="662026"/>
            <a:ext cx="49378" cy="12344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283" name="top-memory-2-snake-tongue-fork"/>
          <p:cNvCxnSpPr/>
          <p:nvPr/>
        </p:nvCxnSpPr>
        <p:spPr>
          <a:xfrm flipH="1" flipV="1">
            <a:off x="12212269" y="657911"/>
            <a:ext cx="16459" cy="16459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284" name="top-memory-3-outer"/>
          <p:cNvSpPr/>
          <p:nvPr/>
        </p:nvSpPr>
        <p:spPr>
          <a:xfrm>
            <a:off x="13523976" y="384048"/>
            <a:ext cx="1554480" cy="557784"/>
          </a:xfrm>
          <a:prstGeom prst="roundRect">
            <a:avLst>
              <a:gd name="adj" fmla="val 12705"/>
            </a:avLst>
          </a:prstGeom>
          <a:solidFill>
            <a:srgbClr val="FFFFFF"/>
          </a:solidFill>
          <a:ln w="27432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top-memory-3-inner"/>
          <p:cNvSpPr/>
          <p:nvPr/>
        </p:nvSpPr>
        <p:spPr>
          <a:xfrm>
            <a:off x="13615416" y="493776"/>
            <a:ext cx="1371600" cy="338328"/>
          </a:xfrm>
          <a:prstGeom prst="rect">
            <a:avLst/>
          </a:prstGeom>
          <a:solidFill>
            <a:srgbClr val="D6DDE5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6" name="top-memory-3-divider-1"/>
          <p:cNvCxnSpPr/>
          <p:nvPr/>
        </p:nvCxnSpPr>
        <p:spPr>
          <a:xfrm>
            <a:off x="13958316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87" name="top-memory-3-divider-2"/>
          <p:cNvCxnSpPr/>
          <p:nvPr/>
        </p:nvCxnSpPr>
        <p:spPr>
          <a:xfrm>
            <a:off x="14301216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288" name="top-memory-3-divider-3"/>
          <p:cNvCxnSpPr/>
          <p:nvPr/>
        </p:nvCxnSpPr>
        <p:spPr>
          <a:xfrm>
            <a:off x="14644116" y="493776"/>
            <a:ext cx="0" cy="338328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289" name="top-memory-3-snake-body-0"/>
          <p:cNvSpPr/>
          <p:nvPr/>
        </p:nvSpPr>
        <p:spPr>
          <a:xfrm>
            <a:off x="14025067" y="653796"/>
            <a:ext cx="131674" cy="82296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op-memory-3-snake-body-1"/>
          <p:cNvSpPr/>
          <p:nvPr/>
        </p:nvSpPr>
        <p:spPr>
          <a:xfrm>
            <a:off x="14131747" y="762173"/>
            <a:ext cx="131674" cy="82296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top-memory-3-snake-body-2"/>
          <p:cNvSpPr/>
          <p:nvPr/>
        </p:nvSpPr>
        <p:spPr>
          <a:xfrm>
            <a:off x="14238427" y="687704"/>
            <a:ext cx="131674" cy="82296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op-memory-3-snake-body-3"/>
          <p:cNvSpPr/>
          <p:nvPr/>
        </p:nvSpPr>
        <p:spPr>
          <a:xfrm>
            <a:off x="14345107" y="592604"/>
            <a:ext cx="131674" cy="82296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top-memory-3-snake-head"/>
          <p:cNvSpPr/>
          <p:nvPr/>
        </p:nvSpPr>
        <p:spPr>
          <a:xfrm>
            <a:off x="13958773" y="428396"/>
            <a:ext cx="172822" cy="222199"/>
          </a:xfrm>
          <a:prstGeom prst="ellipse">
            <a:avLst/>
          </a:prstGeom>
          <a:solidFill>
            <a:srgbClr val="7EB399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op-memory-3-snake-eye"/>
          <p:cNvSpPr/>
          <p:nvPr/>
        </p:nvSpPr>
        <p:spPr>
          <a:xfrm>
            <a:off x="13979622" y="498897"/>
            <a:ext cx="21397" cy="26335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top-memory-3-snake-cheek"/>
          <p:cNvSpPr/>
          <p:nvPr/>
        </p:nvSpPr>
        <p:spPr>
          <a:xfrm>
            <a:off x="14120165" y="605333"/>
            <a:ext cx="32918" cy="32918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6" name="top-memory-3-snake-tongue"/>
          <p:cNvCxnSpPr/>
          <p:nvPr/>
        </p:nvCxnSpPr>
        <p:spPr>
          <a:xfrm flipH="1">
            <a:off x="13938656" y="662026"/>
            <a:ext cx="49378" cy="12344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297" name="top-memory-3-snake-tongue-fork"/>
          <p:cNvCxnSpPr/>
          <p:nvPr/>
        </p:nvCxnSpPr>
        <p:spPr>
          <a:xfrm flipH="1" flipV="1">
            <a:off x="13922197" y="657911"/>
            <a:ext cx="16459" cy="16459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cxnSp>
        <p:nvCxnSpPr>
          <p:cNvPr id="298" name="top-route-gray-left-1"/>
          <p:cNvCxnSpPr/>
          <p:nvPr/>
        </p:nvCxnSpPr>
        <p:spPr>
          <a:xfrm>
            <a:off x="11036808" y="941832"/>
            <a:ext cx="0" cy="557784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299" name="top-route-gray-left-2"/>
          <p:cNvCxnSpPr/>
          <p:nvPr/>
        </p:nvCxnSpPr>
        <p:spPr>
          <a:xfrm flipH="1">
            <a:off x="10533888" y="1499616"/>
            <a:ext cx="502920" cy="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0" name="top-route-gray-left-3"/>
          <p:cNvCxnSpPr/>
          <p:nvPr/>
        </p:nvCxnSpPr>
        <p:spPr>
          <a:xfrm>
            <a:off x="10533888" y="1499616"/>
            <a:ext cx="0" cy="173736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1" name="top-route-gray-mid-1"/>
          <p:cNvCxnSpPr/>
          <p:nvPr/>
        </p:nvCxnSpPr>
        <p:spPr>
          <a:xfrm>
            <a:off x="14008608" y="941832"/>
            <a:ext cx="0" cy="265176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2" name="top-route-gray-mid-2"/>
          <p:cNvCxnSpPr/>
          <p:nvPr/>
        </p:nvCxnSpPr>
        <p:spPr>
          <a:xfrm flipH="1">
            <a:off x="10533888" y="1207008"/>
            <a:ext cx="3474720" cy="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3" name="top-route-gray-mid-3"/>
          <p:cNvCxnSpPr/>
          <p:nvPr/>
        </p:nvCxnSpPr>
        <p:spPr>
          <a:xfrm>
            <a:off x="10533888" y="1207008"/>
            <a:ext cx="0" cy="45720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4" name="top-route-gray-right-1"/>
          <p:cNvCxnSpPr/>
          <p:nvPr/>
        </p:nvCxnSpPr>
        <p:spPr>
          <a:xfrm>
            <a:off x="14959584" y="941832"/>
            <a:ext cx="0" cy="265176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5" name="top-route-gray-right-2"/>
          <p:cNvCxnSpPr/>
          <p:nvPr/>
        </p:nvCxnSpPr>
        <p:spPr>
          <a:xfrm flipH="1">
            <a:off x="14008608" y="1207008"/>
            <a:ext cx="950976" cy="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06" name="top-memory-mid-arrow-shaft"/>
          <p:cNvCxnSpPr/>
          <p:nvPr/>
        </p:nvCxnSpPr>
        <p:spPr>
          <a:xfrm flipV="1">
            <a:off x="12600432" y="932688"/>
            <a:ext cx="0" cy="73152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07" name="top-memory-mid-arrow-head"/>
          <p:cNvSpPr/>
          <p:nvPr/>
        </p:nvSpPr>
        <p:spPr>
          <a:xfrm>
            <a:off x="12545568" y="932688"/>
            <a:ext cx="109728" cy="100584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6" y="0"/>
                </a:moveTo>
                <a:lnTo>
                  <a:pt x="0" y="11"/>
                </a:lnTo>
                <a:lnTo>
                  <a:pt x="12" y="11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top-route-black-1"/>
          <p:cNvCxnSpPr/>
          <p:nvPr/>
        </p:nvCxnSpPr>
        <p:spPr>
          <a:xfrm>
            <a:off x="10533888" y="1344168"/>
            <a:ext cx="2066544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309" name="top-route-black-2"/>
          <p:cNvCxnSpPr/>
          <p:nvPr/>
        </p:nvCxnSpPr>
        <p:spPr>
          <a:xfrm flipV="1">
            <a:off x="12600432" y="932688"/>
            <a:ext cx="0" cy="41148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10" name="top-plus-left-ring"/>
          <p:cNvSpPr/>
          <p:nvPr/>
        </p:nvSpPr>
        <p:spPr>
          <a:xfrm>
            <a:off x="10927080" y="1389888"/>
            <a:ext cx="219456" cy="219456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A8E9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1" name="top-plus-left-h"/>
          <p:cNvCxnSpPr/>
          <p:nvPr/>
        </p:nvCxnSpPr>
        <p:spPr>
          <a:xfrm>
            <a:off x="10945368" y="1499616"/>
            <a:ext cx="182880" cy="0"/>
          </a:xfrm>
          <a:prstGeom prst="line">
            <a:avLst/>
          </a:prstGeom>
          <a:ln w="22859">
            <a:solidFill>
              <a:srgbClr val="8A8E90"/>
            </a:solidFill>
          </a:ln>
        </p:spPr>
      </p:cxnSp>
      <p:cxnSp>
        <p:nvCxnSpPr>
          <p:cNvPr id="312" name="top-plus-left-v"/>
          <p:cNvCxnSpPr/>
          <p:nvPr/>
        </p:nvCxnSpPr>
        <p:spPr>
          <a:xfrm>
            <a:off x="11036808" y="1408176"/>
            <a:ext cx="0" cy="182880"/>
          </a:xfrm>
          <a:prstGeom prst="line">
            <a:avLst/>
          </a:prstGeom>
          <a:ln w="22859">
            <a:solidFill>
              <a:srgbClr val="8A8E90"/>
            </a:solidFill>
          </a:ln>
        </p:spPr>
      </p:cxnSp>
      <p:sp>
        <p:nvSpPr>
          <p:cNvPr id="313" name="top-plus-mid-ring"/>
          <p:cNvSpPr/>
          <p:nvPr/>
        </p:nvSpPr>
        <p:spPr>
          <a:xfrm>
            <a:off x="12490704" y="1234440"/>
            <a:ext cx="219456" cy="219456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4" name="top-plus-mid-h"/>
          <p:cNvCxnSpPr/>
          <p:nvPr/>
        </p:nvCxnSpPr>
        <p:spPr>
          <a:xfrm>
            <a:off x="12508992" y="1344168"/>
            <a:ext cx="182880" cy="0"/>
          </a:xfrm>
          <a:prstGeom prst="line">
            <a:avLst/>
          </a:prstGeom>
          <a:ln w="22859">
            <a:solidFill>
              <a:srgbClr val="000000"/>
            </a:solidFill>
          </a:ln>
        </p:spPr>
      </p:cxnSp>
      <p:cxnSp>
        <p:nvCxnSpPr>
          <p:cNvPr id="315" name="top-plus-mid-v"/>
          <p:cNvCxnSpPr/>
          <p:nvPr/>
        </p:nvCxnSpPr>
        <p:spPr>
          <a:xfrm>
            <a:off x="12600432" y="1252728"/>
            <a:ext cx="0" cy="182880"/>
          </a:xfrm>
          <a:prstGeom prst="line">
            <a:avLst/>
          </a:prstGeom>
          <a:ln w="22859">
            <a:solidFill>
              <a:srgbClr val="000000"/>
            </a:solidFill>
          </a:ln>
        </p:spPr>
      </p:cxnSp>
      <p:sp>
        <p:nvSpPr>
          <p:cNvPr id="316" name="top-plus-right-ring"/>
          <p:cNvSpPr/>
          <p:nvPr/>
        </p:nvSpPr>
        <p:spPr>
          <a:xfrm>
            <a:off x="14191488" y="1097280"/>
            <a:ext cx="219456" cy="219456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A8E9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7" name="top-plus-right-h"/>
          <p:cNvCxnSpPr/>
          <p:nvPr/>
        </p:nvCxnSpPr>
        <p:spPr>
          <a:xfrm>
            <a:off x="14209776" y="1207008"/>
            <a:ext cx="182880" cy="0"/>
          </a:xfrm>
          <a:prstGeom prst="line">
            <a:avLst/>
          </a:prstGeom>
          <a:ln w="22859">
            <a:solidFill>
              <a:srgbClr val="8A8E90"/>
            </a:solidFill>
          </a:ln>
        </p:spPr>
      </p:cxnSp>
      <p:cxnSp>
        <p:nvCxnSpPr>
          <p:cNvPr id="318" name="top-plus-right-v"/>
          <p:cNvCxnSpPr/>
          <p:nvPr/>
        </p:nvCxnSpPr>
        <p:spPr>
          <a:xfrm>
            <a:off x="14301216" y="1115568"/>
            <a:ext cx="0" cy="182880"/>
          </a:xfrm>
          <a:prstGeom prst="line">
            <a:avLst/>
          </a:prstGeom>
          <a:ln w="22859">
            <a:solidFill>
              <a:srgbClr val="8A8E90"/>
            </a:solidFill>
          </a:ln>
        </p:spPr>
      </p:cxnSp>
      <p:sp>
        <p:nvSpPr>
          <p:cNvPr id="319" name="pretrained-panel"/>
          <p:cNvSpPr/>
          <p:nvPr/>
        </p:nvSpPr>
        <p:spPr>
          <a:xfrm>
            <a:off x="9619488" y="1664208"/>
            <a:ext cx="1847088" cy="3200400"/>
          </a:xfrm>
          <a:prstGeom prst="rect">
            <a:avLst/>
          </a:prstGeom>
          <a:solidFill>
            <a:srgbClr val="DDE7FF"/>
          </a:solidFill>
          <a:ln w="27432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retrained-title"/>
          <p:cNvSpPr txBox="1"/>
          <p:nvPr/>
        </p:nvSpPr>
        <p:spPr>
          <a:xfrm>
            <a:off x="9793224" y="1737360"/>
            <a:ext cx="1517904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0">
                <a:solidFill>
                  <a:srgbClr val="000000"/>
                </a:solidFill>
                <a:latin typeface="Liberation Sans"/>
              </a:rPr>
              <a:t>Pre-trained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0">
                <a:solidFill>
                  <a:srgbClr val="000000"/>
                </a:solidFill>
                <a:latin typeface="Liberation Sans"/>
              </a:rPr>
              <a:t>Weights</a:t>
            </a:r>
          </a:p>
        </p:txBody>
      </p:sp>
      <p:cxnSp>
        <p:nvCxnSpPr>
          <p:cNvPr id="321" name="pretrained-snowflake-axis-0"/>
          <p:cNvCxnSpPr/>
          <p:nvPr/>
        </p:nvCxnSpPr>
        <p:spPr>
          <a:xfrm>
            <a:off x="10927080" y="2340864"/>
            <a:ext cx="347472" cy="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322" name="pretrained-snowflake-branch-0--1--0.55"/>
          <p:cNvCxnSpPr/>
          <p:nvPr/>
        </p:nvCxnSpPr>
        <p:spPr>
          <a:xfrm flipV="1">
            <a:off x="10986150" y="2315437"/>
            <a:ext cx="41472" cy="25427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3" name="pretrained-snowflake-branch-0--1-0.55"/>
          <p:cNvCxnSpPr/>
          <p:nvPr/>
        </p:nvCxnSpPr>
        <p:spPr>
          <a:xfrm>
            <a:off x="10986150" y="2340864"/>
            <a:ext cx="41472" cy="25427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4" name="pretrained-snowflake-branch-0-1--0.55"/>
          <p:cNvCxnSpPr/>
          <p:nvPr/>
        </p:nvCxnSpPr>
        <p:spPr>
          <a:xfrm flipH="1">
            <a:off x="11174010" y="2340864"/>
            <a:ext cx="41472" cy="25427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5" name="pretrained-snowflake-branch-0-1-0.55"/>
          <p:cNvCxnSpPr/>
          <p:nvPr/>
        </p:nvCxnSpPr>
        <p:spPr>
          <a:xfrm flipH="1" flipV="1">
            <a:off x="11174010" y="2315437"/>
            <a:ext cx="41472" cy="25427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6" name="pretrained-snowflake-axis-1"/>
          <p:cNvCxnSpPr/>
          <p:nvPr/>
        </p:nvCxnSpPr>
        <p:spPr>
          <a:xfrm>
            <a:off x="11013948" y="2190404"/>
            <a:ext cx="173736" cy="30092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327" name="pretrained-snowflake-branch-1--1--0.55"/>
          <p:cNvCxnSpPr/>
          <p:nvPr/>
        </p:nvCxnSpPr>
        <p:spPr>
          <a:xfrm>
            <a:off x="11043483" y="2241561"/>
            <a:ext cx="42756" cy="23202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8" name="pretrained-snowflake-branch-1--1-0.55"/>
          <p:cNvCxnSpPr/>
          <p:nvPr/>
        </p:nvCxnSpPr>
        <p:spPr>
          <a:xfrm flipH="1">
            <a:off x="11042199" y="2241561"/>
            <a:ext cx="1284" cy="4862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29" name="pretrained-snowflake-branch-1-1--0.55"/>
          <p:cNvCxnSpPr/>
          <p:nvPr/>
        </p:nvCxnSpPr>
        <p:spPr>
          <a:xfrm flipH="1" flipV="1">
            <a:off x="11115393" y="2416965"/>
            <a:ext cx="42756" cy="23202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30" name="pretrained-snowflake-branch-1-1-0.55"/>
          <p:cNvCxnSpPr/>
          <p:nvPr/>
        </p:nvCxnSpPr>
        <p:spPr>
          <a:xfrm flipV="1">
            <a:off x="11158149" y="2391538"/>
            <a:ext cx="1284" cy="4862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31" name="pretrained-snowflake-axis-2"/>
          <p:cNvCxnSpPr/>
          <p:nvPr/>
        </p:nvCxnSpPr>
        <p:spPr>
          <a:xfrm flipH="1">
            <a:off x="11013948" y="2190404"/>
            <a:ext cx="173736" cy="300920"/>
          </a:xfrm>
          <a:prstGeom prst="line">
            <a:avLst/>
          </a:prstGeom>
          <a:ln w="16459">
            <a:solidFill>
              <a:srgbClr val="67DFF4"/>
            </a:solidFill>
          </a:ln>
        </p:spPr>
      </p:cxnSp>
      <p:cxnSp>
        <p:nvCxnSpPr>
          <p:cNvPr id="332" name="pretrained-snowflake-branch-2--1--0.55"/>
          <p:cNvCxnSpPr/>
          <p:nvPr/>
        </p:nvCxnSpPr>
        <p:spPr>
          <a:xfrm>
            <a:off x="11158149" y="2241561"/>
            <a:ext cx="1284" cy="4862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33" name="pretrained-snowflake-branch-2--1-0.55"/>
          <p:cNvCxnSpPr/>
          <p:nvPr/>
        </p:nvCxnSpPr>
        <p:spPr>
          <a:xfrm flipH="1">
            <a:off x="11115393" y="2241561"/>
            <a:ext cx="42756" cy="23202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34" name="pretrained-snowflake-branch-2-1--0.55"/>
          <p:cNvCxnSpPr/>
          <p:nvPr/>
        </p:nvCxnSpPr>
        <p:spPr>
          <a:xfrm flipH="1" flipV="1">
            <a:off x="11042199" y="2391538"/>
            <a:ext cx="1284" cy="48629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cxnSp>
        <p:nvCxnSpPr>
          <p:cNvPr id="335" name="pretrained-snowflake-branch-2-1-0.55"/>
          <p:cNvCxnSpPr/>
          <p:nvPr/>
        </p:nvCxnSpPr>
        <p:spPr>
          <a:xfrm flipV="1">
            <a:off x="11043483" y="2416965"/>
            <a:ext cx="42756" cy="23202"/>
          </a:xfrm>
          <a:prstGeom prst="line">
            <a:avLst/>
          </a:prstGeom>
          <a:ln w="10972">
            <a:solidFill>
              <a:srgbClr val="67DFF4"/>
            </a:solidFill>
          </a:ln>
        </p:spPr>
      </p:cxnSp>
      <p:sp>
        <p:nvSpPr>
          <p:cNvPr id="336" name="pretrained-snowflake-core"/>
          <p:cNvSpPr/>
          <p:nvPr/>
        </p:nvSpPr>
        <p:spPr>
          <a:xfrm>
            <a:off x="11073384" y="2313432"/>
            <a:ext cx="54864" cy="54864"/>
          </a:xfrm>
          <a:prstGeom prst="ellipse">
            <a:avLst/>
          </a:prstGeom>
          <a:solidFill>
            <a:srgbClr val="DDFBFF"/>
          </a:solidFill>
          <a:ln w="9144">
            <a:solidFill>
              <a:srgbClr val="67DF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retrained-block-0"/>
          <p:cNvSpPr/>
          <p:nvPr/>
        </p:nvSpPr>
        <p:spPr>
          <a:xfrm>
            <a:off x="9829800" y="2487168"/>
            <a:ext cx="1389888" cy="411480"/>
          </a:xfrm>
          <a:prstGeom prst="roundRect">
            <a:avLst>
              <a:gd name="adj" fmla="val 9473"/>
            </a:avLst>
          </a:prstGeom>
          <a:solidFill>
            <a:srgbClr val="D6DDE5"/>
          </a:solidFill>
          <a:ln w="27432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retrained-block-label-0"/>
          <p:cNvSpPr txBox="1"/>
          <p:nvPr/>
        </p:nvSpPr>
        <p:spPr>
          <a:xfrm>
            <a:off x="9912096" y="2514600"/>
            <a:ext cx="1225296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LN</a:t>
            </a:r>
          </a:p>
        </p:txBody>
      </p:sp>
      <p:sp>
        <p:nvSpPr>
          <p:cNvPr id="339" name="pretrained-block-1"/>
          <p:cNvSpPr/>
          <p:nvPr/>
        </p:nvSpPr>
        <p:spPr>
          <a:xfrm>
            <a:off x="9829800" y="3054096"/>
            <a:ext cx="1389888" cy="411480"/>
          </a:xfrm>
          <a:prstGeom prst="roundRect">
            <a:avLst>
              <a:gd name="adj" fmla="val 9473"/>
            </a:avLst>
          </a:prstGeom>
          <a:solidFill>
            <a:srgbClr val="D6DDE5"/>
          </a:solidFill>
          <a:ln w="27432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retrained-block-label-1"/>
          <p:cNvSpPr txBox="1"/>
          <p:nvPr/>
        </p:nvSpPr>
        <p:spPr>
          <a:xfrm>
            <a:off x="9912096" y="3081528"/>
            <a:ext cx="1225296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FNN</a:t>
            </a:r>
          </a:p>
        </p:txBody>
      </p:sp>
      <p:sp>
        <p:nvSpPr>
          <p:cNvPr id="341" name="pretrained-block-2"/>
          <p:cNvSpPr/>
          <p:nvPr/>
        </p:nvSpPr>
        <p:spPr>
          <a:xfrm>
            <a:off x="9829800" y="3657600"/>
            <a:ext cx="1389888" cy="411480"/>
          </a:xfrm>
          <a:prstGeom prst="roundRect">
            <a:avLst>
              <a:gd name="adj" fmla="val 9473"/>
            </a:avLst>
          </a:prstGeom>
          <a:solidFill>
            <a:srgbClr val="D6DDE5"/>
          </a:solidFill>
          <a:ln w="27432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retrained-block-label-2"/>
          <p:cNvSpPr txBox="1"/>
          <p:nvPr/>
        </p:nvSpPr>
        <p:spPr>
          <a:xfrm>
            <a:off x="9912096" y="3685032"/>
            <a:ext cx="1225296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LN</a:t>
            </a:r>
          </a:p>
        </p:txBody>
      </p:sp>
      <p:sp>
        <p:nvSpPr>
          <p:cNvPr id="343" name="pretrained-block-3"/>
          <p:cNvSpPr/>
          <p:nvPr/>
        </p:nvSpPr>
        <p:spPr>
          <a:xfrm>
            <a:off x="9829800" y="4261104"/>
            <a:ext cx="1389888" cy="411480"/>
          </a:xfrm>
          <a:prstGeom prst="roundRect">
            <a:avLst>
              <a:gd name="adj" fmla="val 9473"/>
            </a:avLst>
          </a:prstGeom>
          <a:solidFill>
            <a:srgbClr val="D6DDE5"/>
          </a:solidFill>
          <a:ln w="27432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retrained-block-label-3"/>
          <p:cNvSpPr txBox="1"/>
          <p:nvPr/>
        </p:nvSpPr>
        <p:spPr>
          <a:xfrm>
            <a:off x="9912096" y="4288536"/>
            <a:ext cx="1225296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Attention</a:t>
            </a:r>
          </a:p>
        </p:txBody>
      </p:sp>
      <p:cxnSp>
        <p:nvCxnSpPr>
          <p:cNvPr id="345" name="frozen-arrow-1-shaft"/>
          <p:cNvCxnSpPr/>
          <p:nvPr/>
        </p:nvCxnSpPr>
        <p:spPr>
          <a:xfrm flipV="1">
            <a:off x="10524744" y="2907792"/>
            <a:ext cx="0" cy="146304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46" name="frozen-arrow-1-head"/>
          <p:cNvSpPr/>
          <p:nvPr/>
        </p:nvSpPr>
        <p:spPr>
          <a:xfrm>
            <a:off x="10479024" y="2907792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0"/>
                </a:moveTo>
                <a:lnTo>
                  <a:pt x="0" y="9"/>
                </a:lnTo>
                <a:lnTo>
                  <a:pt x="10" y="9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frozen-arrow-2-shaft"/>
          <p:cNvCxnSpPr/>
          <p:nvPr/>
        </p:nvCxnSpPr>
        <p:spPr>
          <a:xfrm flipV="1">
            <a:off x="10524744" y="3474720"/>
            <a:ext cx="0" cy="18288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48" name="frozen-arrow-2-head"/>
          <p:cNvSpPr/>
          <p:nvPr/>
        </p:nvSpPr>
        <p:spPr>
          <a:xfrm>
            <a:off x="10479024" y="3474720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0"/>
                </a:moveTo>
                <a:lnTo>
                  <a:pt x="0" y="9"/>
                </a:lnTo>
                <a:lnTo>
                  <a:pt x="10" y="9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9" name="frozen-arrow-3-shaft"/>
          <p:cNvCxnSpPr/>
          <p:nvPr/>
        </p:nvCxnSpPr>
        <p:spPr>
          <a:xfrm flipV="1">
            <a:off x="10524744" y="4078224"/>
            <a:ext cx="0" cy="18288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50" name="frozen-arrow-3-head"/>
          <p:cNvSpPr/>
          <p:nvPr/>
        </p:nvSpPr>
        <p:spPr>
          <a:xfrm>
            <a:off x="10479024" y="4078224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0"/>
                </a:moveTo>
                <a:lnTo>
                  <a:pt x="0" y="9"/>
                </a:lnTo>
                <a:lnTo>
                  <a:pt x="10" y="9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frozen-arrow-4-shaft"/>
          <p:cNvCxnSpPr/>
          <p:nvPr/>
        </p:nvCxnSpPr>
        <p:spPr>
          <a:xfrm flipV="1">
            <a:off x="10524744" y="4681728"/>
            <a:ext cx="0" cy="18288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52" name="frozen-arrow-4-head"/>
          <p:cNvSpPr/>
          <p:nvPr/>
        </p:nvSpPr>
        <p:spPr>
          <a:xfrm>
            <a:off x="10479024" y="4681728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0"/>
                </a:moveTo>
                <a:lnTo>
                  <a:pt x="0" y="9"/>
                </a:lnTo>
                <a:lnTo>
                  <a:pt x="10" y="9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dapter-panel"/>
          <p:cNvSpPr/>
          <p:nvPr/>
        </p:nvSpPr>
        <p:spPr>
          <a:xfrm>
            <a:off x="11594592" y="1664208"/>
            <a:ext cx="3995928" cy="3200400"/>
          </a:xfrm>
          <a:prstGeom prst="rect">
            <a:avLst/>
          </a:prstGeom>
          <a:solidFill>
            <a:srgbClr val="F7F6DA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dapter-b1"/>
          <p:cNvSpPr/>
          <p:nvPr/>
        </p:nvSpPr>
        <p:spPr>
          <a:xfrm>
            <a:off x="11704320" y="1810512"/>
            <a:ext cx="1078992" cy="557784"/>
          </a:xfrm>
          <a:custGeom>
            <a:avLst/>
            <a:gdLst/>
            <a:ahLst/>
            <a:cxnLst/>
            <a:rect l="l" t="t" r="r" b="b"/>
            <a:pathLst>
              <a:path w="118" h="61">
                <a:moveTo>
                  <a:pt x="0" y="0"/>
                </a:moveTo>
                <a:lnTo>
                  <a:pt x="118" y="0"/>
                </a:lnTo>
                <a:lnTo>
                  <a:pt x="98" y="61"/>
                </a:lnTo>
                <a:lnTo>
                  <a:pt x="24" y="61"/>
                </a:lnTo>
                <a:close/>
              </a:path>
            </a:pathLst>
          </a:custGeom>
          <a:solidFill>
            <a:srgbClr val="F5BA5C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dapter-b1-label"/>
          <p:cNvSpPr txBox="1"/>
          <p:nvPr/>
        </p:nvSpPr>
        <p:spPr>
          <a:xfrm>
            <a:off x="11704320" y="1874520"/>
            <a:ext cx="10789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i="1" b="0">
                <a:solidFill>
                  <a:srgbClr val="000000"/>
                </a:solidFill>
                <a:latin typeface="DejaVu Serif"/>
              </a:rPr>
              <a:t>B₁</a:t>
            </a:r>
          </a:p>
        </p:txBody>
      </p:sp>
      <p:sp>
        <p:nvSpPr>
          <p:cNvPr id="356" name="adapter-b2"/>
          <p:cNvSpPr/>
          <p:nvPr/>
        </p:nvSpPr>
        <p:spPr>
          <a:xfrm>
            <a:off x="12929616" y="1810512"/>
            <a:ext cx="1097280" cy="557784"/>
          </a:xfrm>
          <a:custGeom>
            <a:avLst/>
            <a:gdLst/>
            <a:ahLst/>
            <a:cxnLst/>
            <a:rect l="l" t="t" r="r" b="b"/>
            <a:pathLst>
              <a:path w="120" h="61">
                <a:moveTo>
                  <a:pt x="0" y="0"/>
                </a:moveTo>
                <a:lnTo>
                  <a:pt x="120" y="0"/>
                </a:lnTo>
                <a:lnTo>
                  <a:pt x="98" y="61"/>
                </a:lnTo>
                <a:lnTo>
                  <a:pt x="24" y="61"/>
                </a:lnTo>
                <a:close/>
              </a:path>
            </a:pathLst>
          </a:custGeom>
          <a:solidFill>
            <a:srgbClr val="C7634D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dapter-b2-label"/>
          <p:cNvSpPr txBox="1"/>
          <p:nvPr/>
        </p:nvSpPr>
        <p:spPr>
          <a:xfrm>
            <a:off x="12929616" y="1874520"/>
            <a:ext cx="10972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i="1" b="0">
                <a:solidFill>
                  <a:srgbClr val="000000"/>
                </a:solidFill>
                <a:latin typeface="DejaVu Serif"/>
              </a:rPr>
              <a:t>B₂</a:t>
            </a:r>
          </a:p>
        </p:txBody>
      </p:sp>
      <p:sp>
        <p:nvSpPr>
          <p:cNvPr id="358" name="adapter-bn"/>
          <p:cNvSpPr/>
          <p:nvPr/>
        </p:nvSpPr>
        <p:spPr>
          <a:xfrm>
            <a:off x="14410944" y="1810512"/>
            <a:ext cx="1078992" cy="557784"/>
          </a:xfrm>
          <a:custGeom>
            <a:avLst/>
            <a:gdLst/>
            <a:ahLst/>
            <a:cxnLst/>
            <a:rect l="l" t="t" r="r" b="b"/>
            <a:pathLst>
              <a:path w="118" h="61">
                <a:moveTo>
                  <a:pt x="0" y="0"/>
                </a:moveTo>
                <a:lnTo>
                  <a:pt x="118" y="0"/>
                </a:lnTo>
                <a:lnTo>
                  <a:pt x="96" y="61"/>
                </a:lnTo>
                <a:lnTo>
                  <a:pt x="24" y="61"/>
                </a:lnTo>
                <a:close/>
              </a:path>
            </a:pathLst>
          </a:custGeom>
          <a:solidFill>
            <a:srgbClr val="70A886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dapter-bn-label"/>
          <p:cNvSpPr txBox="1"/>
          <p:nvPr/>
        </p:nvSpPr>
        <p:spPr>
          <a:xfrm>
            <a:off x="14410944" y="1874520"/>
            <a:ext cx="10789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i="1" b="0">
                <a:solidFill>
                  <a:srgbClr val="000000"/>
                </a:solidFill>
                <a:latin typeface="DejaVu Serif"/>
              </a:rPr>
              <a:t>Bₙ</a:t>
            </a:r>
          </a:p>
        </p:txBody>
      </p:sp>
      <p:sp>
        <p:nvSpPr>
          <p:cNvPr id="360" name="adapter-ellipsis"/>
          <p:cNvSpPr txBox="1"/>
          <p:nvPr/>
        </p:nvSpPr>
        <p:spPr>
          <a:xfrm>
            <a:off x="13935456" y="1883664"/>
            <a:ext cx="41148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72" i="1" b="0">
                <a:solidFill>
                  <a:srgbClr val="000000"/>
                </a:solidFill>
                <a:latin typeface="DejaVu Serif"/>
              </a:rPr>
              <a:t>...</a:t>
            </a:r>
          </a:p>
        </p:txBody>
      </p:sp>
      <p:sp>
        <p:nvSpPr>
          <p:cNvPr id="361" name="adapter-b1-flame-outer"/>
          <p:cNvSpPr/>
          <p:nvPr/>
        </p:nvSpPr>
        <p:spPr>
          <a:xfrm>
            <a:off x="12508992" y="1819656"/>
            <a:ext cx="210312" cy="347472"/>
          </a:xfrm>
          <a:custGeom>
            <a:avLst/>
            <a:gdLst/>
            <a:ahLst/>
            <a:cxnLst/>
            <a:rect l="l" t="t" r="r" b="b"/>
            <a:pathLst>
              <a:path w="23" h="38">
                <a:moveTo>
                  <a:pt x="11" y="38"/>
                </a:moveTo>
                <a:lnTo>
                  <a:pt x="0" y="29"/>
                </a:lnTo>
                <a:lnTo>
                  <a:pt x="2" y="17"/>
                </a:lnTo>
                <a:lnTo>
                  <a:pt x="8" y="7"/>
                </a:lnTo>
                <a:lnTo>
                  <a:pt x="9" y="19"/>
                </a:lnTo>
                <a:lnTo>
                  <a:pt x="18" y="0"/>
                </a:lnTo>
                <a:lnTo>
                  <a:pt x="17" y="15"/>
                </a:lnTo>
                <a:lnTo>
                  <a:pt x="23" y="23"/>
                </a:lnTo>
                <a:lnTo>
                  <a:pt x="21" y="33"/>
                </a:lnTo>
                <a:close/>
              </a:path>
            </a:pathLst>
          </a:custGeom>
          <a:solidFill>
            <a:srgbClr val="FF5A36"/>
          </a:solidFill>
          <a:ln w="9144">
            <a:solidFill>
              <a:srgbClr val="E23B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dapter-b1-flame-inner"/>
          <p:cNvSpPr/>
          <p:nvPr/>
        </p:nvSpPr>
        <p:spPr>
          <a:xfrm>
            <a:off x="12563856" y="1911096"/>
            <a:ext cx="109728" cy="228600"/>
          </a:xfrm>
          <a:custGeom>
            <a:avLst/>
            <a:gdLst/>
            <a:ahLst/>
            <a:cxnLst/>
            <a:rect l="l" t="t" r="r" b="b"/>
            <a:pathLst>
              <a:path w="12" h="25">
                <a:moveTo>
                  <a:pt x="5" y="25"/>
                </a:moveTo>
                <a:lnTo>
                  <a:pt x="0" y="17"/>
                </a:lnTo>
                <a:lnTo>
                  <a:pt x="3" y="7"/>
                </a:lnTo>
                <a:lnTo>
                  <a:pt x="7" y="0"/>
                </a:lnTo>
                <a:lnTo>
                  <a:pt x="8" y="11"/>
                </a:lnTo>
                <a:lnTo>
                  <a:pt x="12" y="18"/>
                </a:lnTo>
                <a:close/>
              </a:path>
            </a:pathLst>
          </a:custGeom>
          <a:solidFill>
            <a:srgbClr val="FFD739"/>
          </a:solidFill>
          <a:ln w="9144">
            <a:solidFill>
              <a:srgbClr val="FFA7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dapter-b2-flame-outer"/>
          <p:cNvSpPr/>
          <p:nvPr/>
        </p:nvSpPr>
        <p:spPr>
          <a:xfrm>
            <a:off x="13725144" y="1819656"/>
            <a:ext cx="210312" cy="347472"/>
          </a:xfrm>
          <a:custGeom>
            <a:avLst/>
            <a:gdLst/>
            <a:ahLst/>
            <a:cxnLst/>
            <a:rect l="l" t="t" r="r" b="b"/>
            <a:pathLst>
              <a:path w="23" h="38">
                <a:moveTo>
                  <a:pt x="11" y="38"/>
                </a:moveTo>
                <a:lnTo>
                  <a:pt x="0" y="29"/>
                </a:lnTo>
                <a:lnTo>
                  <a:pt x="2" y="17"/>
                </a:lnTo>
                <a:lnTo>
                  <a:pt x="8" y="7"/>
                </a:lnTo>
                <a:lnTo>
                  <a:pt x="9" y="19"/>
                </a:lnTo>
                <a:lnTo>
                  <a:pt x="18" y="0"/>
                </a:lnTo>
                <a:lnTo>
                  <a:pt x="17" y="15"/>
                </a:lnTo>
                <a:lnTo>
                  <a:pt x="23" y="23"/>
                </a:lnTo>
                <a:lnTo>
                  <a:pt x="21" y="33"/>
                </a:lnTo>
                <a:close/>
              </a:path>
            </a:pathLst>
          </a:custGeom>
          <a:solidFill>
            <a:srgbClr val="FF5A36"/>
          </a:solidFill>
          <a:ln w="9144">
            <a:solidFill>
              <a:srgbClr val="E23B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dapter-b2-flame-inner"/>
          <p:cNvSpPr/>
          <p:nvPr/>
        </p:nvSpPr>
        <p:spPr>
          <a:xfrm>
            <a:off x="13780008" y="1911096"/>
            <a:ext cx="109728" cy="228600"/>
          </a:xfrm>
          <a:custGeom>
            <a:avLst/>
            <a:gdLst/>
            <a:ahLst/>
            <a:cxnLst/>
            <a:rect l="l" t="t" r="r" b="b"/>
            <a:pathLst>
              <a:path w="12" h="25">
                <a:moveTo>
                  <a:pt x="5" y="25"/>
                </a:moveTo>
                <a:lnTo>
                  <a:pt x="0" y="17"/>
                </a:lnTo>
                <a:lnTo>
                  <a:pt x="3" y="7"/>
                </a:lnTo>
                <a:lnTo>
                  <a:pt x="7" y="0"/>
                </a:lnTo>
                <a:lnTo>
                  <a:pt x="8" y="11"/>
                </a:lnTo>
                <a:lnTo>
                  <a:pt x="12" y="18"/>
                </a:lnTo>
                <a:close/>
              </a:path>
            </a:pathLst>
          </a:custGeom>
          <a:solidFill>
            <a:srgbClr val="FFD739"/>
          </a:solidFill>
          <a:ln w="9144">
            <a:solidFill>
              <a:srgbClr val="FFA7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dapter-bn-flame-outer"/>
          <p:cNvSpPr/>
          <p:nvPr/>
        </p:nvSpPr>
        <p:spPr>
          <a:xfrm>
            <a:off x="15206472" y="1819656"/>
            <a:ext cx="210312" cy="347472"/>
          </a:xfrm>
          <a:custGeom>
            <a:avLst/>
            <a:gdLst/>
            <a:ahLst/>
            <a:cxnLst/>
            <a:rect l="l" t="t" r="r" b="b"/>
            <a:pathLst>
              <a:path w="23" h="38">
                <a:moveTo>
                  <a:pt x="11" y="38"/>
                </a:moveTo>
                <a:lnTo>
                  <a:pt x="0" y="29"/>
                </a:lnTo>
                <a:lnTo>
                  <a:pt x="2" y="17"/>
                </a:lnTo>
                <a:lnTo>
                  <a:pt x="8" y="7"/>
                </a:lnTo>
                <a:lnTo>
                  <a:pt x="9" y="19"/>
                </a:lnTo>
                <a:lnTo>
                  <a:pt x="18" y="0"/>
                </a:lnTo>
                <a:lnTo>
                  <a:pt x="17" y="15"/>
                </a:lnTo>
                <a:lnTo>
                  <a:pt x="23" y="23"/>
                </a:lnTo>
                <a:lnTo>
                  <a:pt x="21" y="33"/>
                </a:lnTo>
                <a:close/>
              </a:path>
            </a:pathLst>
          </a:custGeom>
          <a:solidFill>
            <a:srgbClr val="FF5A36"/>
          </a:solidFill>
          <a:ln w="9144">
            <a:solidFill>
              <a:srgbClr val="E23B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dapter-bn-flame-inner"/>
          <p:cNvSpPr/>
          <p:nvPr/>
        </p:nvSpPr>
        <p:spPr>
          <a:xfrm>
            <a:off x="15261336" y="1911096"/>
            <a:ext cx="109728" cy="228600"/>
          </a:xfrm>
          <a:custGeom>
            <a:avLst/>
            <a:gdLst/>
            <a:ahLst/>
            <a:cxnLst/>
            <a:rect l="l" t="t" r="r" b="b"/>
            <a:pathLst>
              <a:path w="12" h="25">
                <a:moveTo>
                  <a:pt x="5" y="25"/>
                </a:moveTo>
                <a:lnTo>
                  <a:pt x="0" y="17"/>
                </a:lnTo>
                <a:lnTo>
                  <a:pt x="3" y="7"/>
                </a:lnTo>
                <a:lnTo>
                  <a:pt x="7" y="0"/>
                </a:lnTo>
                <a:lnTo>
                  <a:pt x="8" y="11"/>
                </a:lnTo>
                <a:lnTo>
                  <a:pt x="12" y="18"/>
                </a:lnTo>
                <a:close/>
              </a:path>
            </a:pathLst>
          </a:custGeom>
          <a:solidFill>
            <a:srgbClr val="FFD739"/>
          </a:solidFill>
          <a:ln w="9144">
            <a:solidFill>
              <a:srgbClr val="FFA7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switch-node-ring"/>
          <p:cNvSpPr/>
          <p:nvPr/>
        </p:nvSpPr>
        <p:spPr>
          <a:xfrm>
            <a:off x="13935456" y="2862072"/>
            <a:ext cx="182880" cy="18288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switch-node-h"/>
          <p:cNvCxnSpPr/>
          <p:nvPr/>
        </p:nvCxnSpPr>
        <p:spPr>
          <a:xfrm>
            <a:off x="13953744" y="2953512"/>
            <a:ext cx="146304" cy="0"/>
          </a:xfrm>
          <a:prstGeom prst="line">
            <a:avLst/>
          </a:prstGeom>
          <a:ln w="22859">
            <a:solidFill>
              <a:srgbClr val="4471C4"/>
            </a:solidFill>
          </a:ln>
        </p:spPr>
      </p:cxnSp>
      <p:cxnSp>
        <p:nvCxnSpPr>
          <p:cNvPr id="369" name="switch-node-v"/>
          <p:cNvCxnSpPr/>
          <p:nvPr/>
        </p:nvCxnSpPr>
        <p:spPr>
          <a:xfrm>
            <a:off x="14026896" y="2880360"/>
            <a:ext cx="0" cy="146304"/>
          </a:xfrm>
          <a:prstGeom prst="line">
            <a:avLst/>
          </a:prstGeom>
          <a:ln w="22859">
            <a:solidFill>
              <a:srgbClr val="4471C4"/>
            </a:solidFill>
          </a:ln>
        </p:spPr>
      </p:cxnSp>
      <p:sp>
        <p:nvSpPr>
          <p:cNvPr id="370" name="switch-label"/>
          <p:cNvSpPr txBox="1"/>
          <p:nvPr/>
        </p:nvSpPr>
        <p:spPr>
          <a:xfrm>
            <a:off x="13441680" y="3044952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43" i="1" b="0">
                <a:solidFill>
                  <a:srgbClr val="000000"/>
                </a:solidFill>
                <a:latin typeface="Liberation Sans"/>
              </a:rPr>
              <a:t>Switch</a:t>
            </a:r>
          </a:p>
        </p:txBody>
      </p:sp>
      <p:cxnSp>
        <p:nvCxnSpPr>
          <p:cNvPr id="371" name="switch-branch-1"/>
          <p:cNvCxnSpPr/>
          <p:nvPr/>
        </p:nvCxnSpPr>
        <p:spPr>
          <a:xfrm flipV="1">
            <a:off x="14026896" y="2615184"/>
            <a:ext cx="0" cy="246888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372" name="switch-branch-2"/>
          <p:cNvCxnSpPr/>
          <p:nvPr/>
        </p:nvCxnSpPr>
        <p:spPr>
          <a:xfrm flipH="1">
            <a:off x="13478256" y="2615184"/>
            <a:ext cx="548640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373" name="switch-branch-3"/>
          <p:cNvCxnSpPr/>
          <p:nvPr/>
        </p:nvCxnSpPr>
        <p:spPr>
          <a:xfrm flipV="1">
            <a:off x="13478256" y="2368296"/>
            <a:ext cx="0" cy="246888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374" name="switch-to-b2-shaft"/>
          <p:cNvCxnSpPr/>
          <p:nvPr/>
        </p:nvCxnSpPr>
        <p:spPr>
          <a:xfrm flipV="1">
            <a:off x="13478256" y="2368296"/>
            <a:ext cx="0" cy="246888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75" name="switch-to-b2-head"/>
          <p:cNvSpPr/>
          <p:nvPr/>
        </p:nvSpPr>
        <p:spPr>
          <a:xfrm>
            <a:off x="13423392" y="2368296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0"/>
                </a:moveTo>
                <a:lnTo>
                  <a:pt x="0" y="10"/>
                </a:lnTo>
                <a:lnTo>
                  <a:pt x="12" y="1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switch-to-b1-gray-shaft-1"/>
          <p:cNvCxnSpPr/>
          <p:nvPr/>
        </p:nvCxnSpPr>
        <p:spPr>
          <a:xfrm flipH="1">
            <a:off x="12262104" y="2615184"/>
            <a:ext cx="1216152" cy="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77" name="switch-to-b1-gray-shaft-2"/>
          <p:cNvCxnSpPr/>
          <p:nvPr/>
        </p:nvCxnSpPr>
        <p:spPr>
          <a:xfrm flipV="1">
            <a:off x="12262104" y="2377440"/>
            <a:ext cx="0" cy="237744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sp>
        <p:nvSpPr>
          <p:cNvPr id="378" name="switch-to-b1-gray-head"/>
          <p:cNvSpPr/>
          <p:nvPr/>
        </p:nvSpPr>
        <p:spPr>
          <a:xfrm>
            <a:off x="12216384" y="23774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0" y="10"/>
                </a:lnTo>
                <a:lnTo>
                  <a:pt x="10" y="10"/>
                </a:lnTo>
                <a:close/>
              </a:path>
            </a:pathLst>
          </a:custGeom>
          <a:solidFill>
            <a:srgbClr val="A6AAAA"/>
          </a:solidFill>
          <a:ln w="9144">
            <a:solidFill>
              <a:srgbClr val="A6AAA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switch-to-bn-gray-shaft-1"/>
          <p:cNvCxnSpPr/>
          <p:nvPr/>
        </p:nvCxnSpPr>
        <p:spPr>
          <a:xfrm>
            <a:off x="14026896" y="2615184"/>
            <a:ext cx="923544" cy="0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cxnSp>
        <p:nvCxnSpPr>
          <p:cNvPr id="380" name="switch-to-bn-gray-shaft-2"/>
          <p:cNvCxnSpPr/>
          <p:nvPr/>
        </p:nvCxnSpPr>
        <p:spPr>
          <a:xfrm flipV="1">
            <a:off x="14950440" y="2377440"/>
            <a:ext cx="0" cy="237744"/>
          </a:xfrm>
          <a:prstGeom prst="line">
            <a:avLst/>
          </a:prstGeom>
          <a:ln w="27432">
            <a:solidFill>
              <a:srgbClr val="A6AAAA"/>
            </a:solidFill>
          </a:ln>
        </p:spPr>
      </p:cxnSp>
      <p:sp>
        <p:nvSpPr>
          <p:cNvPr id="381" name="switch-to-bn-gray-head"/>
          <p:cNvSpPr/>
          <p:nvPr/>
        </p:nvSpPr>
        <p:spPr>
          <a:xfrm>
            <a:off x="14904720" y="23774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0" y="10"/>
                </a:lnTo>
                <a:lnTo>
                  <a:pt x="10" y="10"/>
                </a:lnTo>
                <a:close/>
              </a:path>
            </a:pathLst>
          </a:custGeom>
          <a:solidFill>
            <a:srgbClr val="A6AAAA"/>
          </a:solidFill>
          <a:ln w="9144">
            <a:solidFill>
              <a:srgbClr val="A6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query-docs-sheet-3"/>
          <p:cNvSpPr/>
          <p:nvPr/>
        </p:nvSpPr>
        <p:spPr>
          <a:xfrm>
            <a:off x="12143232" y="2880360"/>
            <a:ext cx="713232" cy="29260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query-docs-sheet-2"/>
          <p:cNvSpPr/>
          <p:nvPr/>
        </p:nvSpPr>
        <p:spPr>
          <a:xfrm>
            <a:off x="12060936" y="2953512"/>
            <a:ext cx="713232" cy="29260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query-docs-sheet-1"/>
          <p:cNvSpPr/>
          <p:nvPr/>
        </p:nvSpPr>
        <p:spPr>
          <a:xfrm>
            <a:off x="11978640" y="3026664"/>
            <a:ext cx="713232" cy="29260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query-docs-sheet-0"/>
          <p:cNvSpPr/>
          <p:nvPr/>
        </p:nvSpPr>
        <p:spPr>
          <a:xfrm>
            <a:off x="11896344" y="3099816"/>
            <a:ext cx="713232" cy="292608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query-docs-snake-body-0"/>
          <p:cNvSpPr/>
          <p:nvPr/>
        </p:nvSpPr>
        <p:spPr>
          <a:xfrm>
            <a:off x="12126773" y="3246120"/>
            <a:ext cx="87782" cy="54864"/>
          </a:xfrm>
          <a:prstGeom prst="ellipse">
            <a:avLst/>
          </a:prstGeom>
          <a:solidFill>
            <a:srgbClr val="D7C9B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query-docs-snake-body-1"/>
          <p:cNvSpPr/>
          <p:nvPr/>
        </p:nvSpPr>
        <p:spPr>
          <a:xfrm>
            <a:off x="12206021" y="3354497"/>
            <a:ext cx="87782" cy="54864"/>
          </a:xfrm>
          <a:prstGeom prst="ellipse">
            <a:avLst/>
          </a:prstGeom>
          <a:solidFill>
            <a:srgbClr val="D7C9B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query-docs-snake-body-2"/>
          <p:cNvSpPr/>
          <p:nvPr/>
        </p:nvSpPr>
        <p:spPr>
          <a:xfrm>
            <a:off x="12285269" y="3280028"/>
            <a:ext cx="87782" cy="54864"/>
          </a:xfrm>
          <a:prstGeom prst="ellipse">
            <a:avLst/>
          </a:prstGeom>
          <a:solidFill>
            <a:srgbClr val="D7C9B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query-docs-snake-body-3"/>
          <p:cNvSpPr/>
          <p:nvPr/>
        </p:nvSpPr>
        <p:spPr>
          <a:xfrm>
            <a:off x="12364517" y="3184928"/>
            <a:ext cx="87782" cy="54864"/>
          </a:xfrm>
          <a:prstGeom prst="ellipse">
            <a:avLst/>
          </a:prstGeom>
          <a:solidFill>
            <a:srgbClr val="D7C9B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query-docs-snake-head"/>
          <p:cNvSpPr/>
          <p:nvPr/>
        </p:nvSpPr>
        <p:spPr>
          <a:xfrm>
            <a:off x="12067337" y="3044038"/>
            <a:ext cx="115214" cy="148133"/>
          </a:xfrm>
          <a:prstGeom prst="ellipse">
            <a:avLst/>
          </a:prstGeom>
          <a:solidFill>
            <a:srgbClr val="D7C9B9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query-docs-snake-eye"/>
          <p:cNvSpPr/>
          <p:nvPr/>
        </p:nvSpPr>
        <p:spPr>
          <a:xfrm>
            <a:off x="12062948" y="3081894"/>
            <a:ext cx="14265" cy="1755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query-docs-snake-cheek"/>
          <p:cNvSpPr/>
          <p:nvPr/>
        </p:nvSpPr>
        <p:spPr>
          <a:xfrm>
            <a:off x="12205411" y="3189427"/>
            <a:ext cx="21946" cy="21946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3" name="query-docs-snake-tongue"/>
          <p:cNvCxnSpPr/>
          <p:nvPr/>
        </p:nvCxnSpPr>
        <p:spPr>
          <a:xfrm flipH="1">
            <a:off x="12069166" y="3251606"/>
            <a:ext cx="32918" cy="8230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394" name="query-docs-snake-tongue-fork"/>
          <p:cNvCxnSpPr/>
          <p:nvPr/>
        </p:nvCxnSpPr>
        <p:spPr>
          <a:xfrm flipH="1" flipV="1">
            <a:off x="12058193" y="3248863"/>
            <a:ext cx="10973" cy="10973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cxnSp>
        <p:nvCxnSpPr>
          <p:cNvPr id="395" name="query-docs-to-switch-shaft"/>
          <p:cNvCxnSpPr/>
          <p:nvPr/>
        </p:nvCxnSpPr>
        <p:spPr>
          <a:xfrm>
            <a:off x="12573000" y="2953512"/>
            <a:ext cx="1353312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396" name="query-docs-to-switch-head"/>
          <p:cNvSpPr/>
          <p:nvPr/>
        </p:nvSpPr>
        <p:spPr>
          <a:xfrm>
            <a:off x="13825728" y="2898648"/>
            <a:ext cx="100584" cy="109728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11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adapter-a"/>
          <p:cNvSpPr/>
          <p:nvPr/>
        </p:nvSpPr>
        <p:spPr>
          <a:xfrm>
            <a:off x="11713464" y="4005072"/>
            <a:ext cx="1033272" cy="566928"/>
          </a:xfrm>
          <a:custGeom>
            <a:avLst/>
            <a:gdLst/>
            <a:ahLst/>
            <a:cxnLst/>
            <a:rect l="l" t="t" r="r" b="b"/>
            <a:pathLst>
              <a:path w="113" h="62">
                <a:moveTo>
                  <a:pt x="24" y="0"/>
                </a:moveTo>
                <a:lnTo>
                  <a:pt x="93" y="0"/>
                </a:lnTo>
                <a:lnTo>
                  <a:pt x="11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4471C4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adapter-a-label"/>
          <p:cNvSpPr txBox="1"/>
          <p:nvPr/>
        </p:nvSpPr>
        <p:spPr>
          <a:xfrm>
            <a:off x="11887200" y="4114800"/>
            <a:ext cx="75895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0">
                <a:solidFill>
                  <a:srgbClr val="000000"/>
                </a:solidFill>
                <a:latin typeface="DejaVu Serif"/>
              </a:rPr>
              <a:t>A</a:t>
            </a:r>
          </a:p>
        </p:txBody>
      </p:sp>
      <p:sp>
        <p:nvSpPr>
          <p:cNvPr id="399" name="adapter-a-flame-outer"/>
          <p:cNvSpPr/>
          <p:nvPr/>
        </p:nvSpPr>
        <p:spPr>
          <a:xfrm>
            <a:off x="12499848" y="4178808"/>
            <a:ext cx="210312" cy="347472"/>
          </a:xfrm>
          <a:custGeom>
            <a:avLst/>
            <a:gdLst/>
            <a:ahLst/>
            <a:cxnLst/>
            <a:rect l="l" t="t" r="r" b="b"/>
            <a:pathLst>
              <a:path w="23" h="38">
                <a:moveTo>
                  <a:pt x="11" y="38"/>
                </a:moveTo>
                <a:lnTo>
                  <a:pt x="0" y="29"/>
                </a:lnTo>
                <a:lnTo>
                  <a:pt x="2" y="17"/>
                </a:lnTo>
                <a:lnTo>
                  <a:pt x="8" y="7"/>
                </a:lnTo>
                <a:lnTo>
                  <a:pt x="9" y="19"/>
                </a:lnTo>
                <a:lnTo>
                  <a:pt x="18" y="0"/>
                </a:lnTo>
                <a:lnTo>
                  <a:pt x="17" y="15"/>
                </a:lnTo>
                <a:lnTo>
                  <a:pt x="23" y="23"/>
                </a:lnTo>
                <a:lnTo>
                  <a:pt x="21" y="33"/>
                </a:lnTo>
                <a:close/>
              </a:path>
            </a:pathLst>
          </a:custGeom>
          <a:solidFill>
            <a:srgbClr val="FF5A36"/>
          </a:solidFill>
          <a:ln w="9144">
            <a:solidFill>
              <a:srgbClr val="E23B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adapter-a-flame-inner"/>
          <p:cNvSpPr/>
          <p:nvPr/>
        </p:nvSpPr>
        <p:spPr>
          <a:xfrm>
            <a:off x="12554712" y="4270248"/>
            <a:ext cx="109728" cy="228600"/>
          </a:xfrm>
          <a:custGeom>
            <a:avLst/>
            <a:gdLst/>
            <a:ahLst/>
            <a:cxnLst/>
            <a:rect l="l" t="t" r="r" b="b"/>
            <a:pathLst>
              <a:path w="12" h="25">
                <a:moveTo>
                  <a:pt x="5" y="25"/>
                </a:moveTo>
                <a:lnTo>
                  <a:pt x="0" y="17"/>
                </a:lnTo>
                <a:lnTo>
                  <a:pt x="3" y="7"/>
                </a:lnTo>
                <a:lnTo>
                  <a:pt x="7" y="0"/>
                </a:lnTo>
                <a:lnTo>
                  <a:pt x="8" y="11"/>
                </a:lnTo>
                <a:lnTo>
                  <a:pt x="12" y="18"/>
                </a:lnTo>
                <a:close/>
              </a:path>
            </a:pathLst>
          </a:custGeom>
          <a:solidFill>
            <a:srgbClr val="FFD739"/>
          </a:solidFill>
          <a:ln w="9144">
            <a:solidFill>
              <a:srgbClr val="FFA7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1" name="a-to-query-shaft"/>
          <p:cNvCxnSpPr/>
          <p:nvPr/>
        </p:nvCxnSpPr>
        <p:spPr>
          <a:xfrm flipV="1">
            <a:off x="12252960" y="3337560"/>
            <a:ext cx="0" cy="667512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02" name="a-to-query-head"/>
          <p:cNvSpPr/>
          <p:nvPr/>
        </p:nvSpPr>
        <p:spPr>
          <a:xfrm>
            <a:off x="12198096" y="3337560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0"/>
                </a:moveTo>
                <a:lnTo>
                  <a:pt x="0" y="10"/>
                </a:lnTo>
                <a:lnTo>
                  <a:pt x="12" y="1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query-token-red"/>
          <p:cNvSpPr/>
          <p:nvPr/>
        </p:nvSpPr>
        <p:spPr>
          <a:xfrm>
            <a:off x="12691872" y="3657600"/>
            <a:ext cx="128016" cy="128016"/>
          </a:xfrm>
          <a:prstGeom prst="ellipse">
            <a:avLst/>
          </a:prstGeom>
          <a:solidFill>
            <a:srgbClr val="D83A3B"/>
          </a:solidFill>
          <a:ln w="9144">
            <a:solidFill>
              <a:srgbClr val="A52C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query-token-no"/>
          <p:cNvSpPr txBox="1"/>
          <p:nvPr/>
        </p:nvSpPr>
        <p:spPr>
          <a:xfrm>
            <a:off x="12682728" y="3630168"/>
            <a:ext cx="146304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04" i="1" b="1">
                <a:solidFill>
                  <a:srgbClr val="FFFFFF"/>
                </a:solidFill>
                <a:latin typeface="Liberation Sans"/>
              </a:rPr>
              <a:t>No</a:t>
            </a:r>
          </a:p>
        </p:txBody>
      </p:sp>
      <p:cxnSp>
        <p:nvCxnSpPr>
          <p:cNvPr id="405" name="query-token-red-stick"/>
          <p:cNvCxnSpPr/>
          <p:nvPr/>
        </p:nvCxnSpPr>
        <p:spPr>
          <a:xfrm flipH="1">
            <a:off x="12728448" y="3785616"/>
            <a:ext cx="27432" cy="173736"/>
          </a:xfrm>
          <a:prstGeom prst="line">
            <a:avLst/>
          </a:prstGeom>
          <a:ln w="18288">
            <a:solidFill>
              <a:srgbClr val="9C5C4D"/>
            </a:solidFill>
          </a:ln>
        </p:spPr>
      </p:cxnSp>
      <p:sp>
        <p:nvSpPr>
          <p:cNvPr id="406" name="query-token-green"/>
          <p:cNvSpPr/>
          <p:nvPr/>
        </p:nvSpPr>
        <p:spPr>
          <a:xfrm>
            <a:off x="12865608" y="3685032"/>
            <a:ext cx="128016" cy="128016"/>
          </a:xfrm>
          <a:prstGeom prst="ellipse">
            <a:avLst/>
          </a:prstGeom>
          <a:solidFill>
            <a:srgbClr val="70B552"/>
          </a:solidFill>
          <a:ln w="9144">
            <a:solidFill>
              <a:srgbClr val="4A8F3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7" name="query-token-green-stick"/>
          <p:cNvCxnSpPr/>
          <p:nvPr/>
        </p:nvCxnSpPr>
        <p:spPr>
          <a:xfrm flipH="1">
            <a:off x="12883896" y="3813048"/>
            <a:ext cx="45720" cy="146304"/>
          </a:xfrm>
          <a:prstGeom prst="line">
            <a:avLst/>
          </a:prstGeom>
          <a:ln w="18288">
            <a:solidFill>
              <a:srgbClr val="6F7557"/>
            </a:solidFill>
          </a:ln>
        </p:spPr>
      </p:cxnSp>
      <p:cxnSp>
        <p:nvCxnSpPr>
          <p:cNvPr id="408" name="query-arrow-shaft"/>
          <p:cNvCxnSpPr/>
          <p:nvPr/>
        </p:nvCxnSpPr>
        <p:spPr>
          <a:xfrm>
            <a:off x="13002768" y="3840480"/>
            <a:ext cx="356616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09" name="query-arrow-head"/>
          <p:cNvSpPr/>
          <p:nvPr/>
        </p:nvSpPr>
        <p:spPr>
          <a:xfrm>
            <a:off x="13267944" y="3785616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query-label"/>
          <p:cNvSpPr txBox="1"/>
          <p:nvPr/>
        </p:nvSpPr>
        <p:spPr>
          <a:xfrm>
            <a:off x="12618720" y="3877056"/>
            <a:ext cx="78638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28" i="1" b="0">
                <a:solidFill>
                  <a:srgbClr val="000000"/>
                </a:solidFill>
                <a:latin typeface="Liberation Sans"/>
              </a:rPr>
              <a:t>Query</a:t>
            </a:r>
          </a:p>
        </p:txBody>
      </p:sp>
      <p:sp>
        <p:nvSpPr>
          <p:cNvPr id="411" name="matrix-cell-0-0"/>
          <p:cNvSpPr/>
          <p:nvPr/>
        </p:nvSpPr>
        <p:spPr>
          <a:xfrm>
            <a:off x="13432536" y="3410712"/>
            <a:ext cx="164592" cy="164592"/>
          </a:xfrm>
          <a:prstGeom prst="rect">
            <a:avLst/>
          </a:prstGeom>
          <a:solidFill>
            <a:srgbClr val="4471C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matrix-cell-0-1"/>
          <p:cNvSpPr/>
          <p:nvPr/>
        </p:nvSpPr>
        <p:spPr>
          <a:xfrm>
            <a:off x="13597128" y="3410712"/>
            <a:ext cx="164592" cy="164592"/>
          </a:xfrm>
          <a:prstGeom prst="rect">
            <a:avLst/>
          </a:prstGeom>
          <a:solidFill>
            <a:srgbClr val="90B0DF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matrix-cell-0-2"/>
          <p:cNvSpPr/>
          <p:nvPr/>
        </p:nvSpPr>
        <p:spPr>
          <a:xfrm>
            <a:off x="13761720" y="3410712"/>
            <a:ext cx="164592" cy="164592"/>
          </a:xfrm>
          <a:prstGeom prst="rect">
            <a:avLst/>
          </a:prstGeom>
          <a:solidFill>
            <a:srgbClr val="4471C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matrix-cell-0-3"/>
          <p:cNvSpPr/>
          <p:nvPr/>
        </p:nvSpPr>
        <p:spPr>
          <a:xfrm>
            <a:off x="13926312" y="3410712"/>
            <a:ext cx="164592" cy="164592"/>
          </a:xfrm>
          <a:prstGeom prst="rect">
            <a:avLst/>
          </a:prstGeom>
          <a:solidFill>
            <a:srgbClr val="B9D0E8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matrix-cell-0-4"/>
          <p:cNvSpPr/>
          <p:nvPr/>
        </p:nvSpPr>
        <p:spPr>
          <a:xfrm>
            <a:off x="14090904" y="3410712"/>
            <a:ext cx="164592" cy="164592"/>
          </a:xfrm>
          <a:prstGeom prst="rect">
            <a:avLst/>
          </a:prstGeom>
          <a:solidFill>
            <a:srgbClr val="9BB8DA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matrix-cell-1-0"/>
          <p:cNvSpPr/>
          <p:nvPr/>
        </p:nvSpPr>
        <p:spPr>
          <a:xfrm>
            <a:off x="13432536" y="3575304"/>
            <a:ext cx="164592" cy="164592"/>
          </a:xfrm>
          <a:prstGeom prst="rect">
            <a:avLst/>
          </a:prstGeom>
          <a:solidFill>
            <a:srgbClr val="7698CC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matrix-cell-1-1"/>
          <p:cNvSpPr/>
          <p:nvPr/>
        </p:nvSpPr>
        <p:spPr>
          <a:xfrm>
            <a:off x="13597128" y="3575304"/>
            <a:ext cx="164592" cy="164592"/>
          </a:xfrm>
          <a:prstGeom prst="rect">
            <a:avLst/>
          </a:prstGeom>
          <a:solidFill>
            <a:srgbClr val="4471C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matrix-cell-1-2"/>
          <p:cNvSpPr/>
          <p:nvPr/>
        </p:nvSpPr>
        <p:spPr>
          <a:xfrm>
            <a:off x="13761720" y="3575304"/>
            <a:ext cx="164592" cy="164592"/>
          </a:xfrm>
          <a:prstGeom prst="rect">
            <a:avLst/>
          </a:prstGeom>
          <a:solidFill>
            <a:srgbClr val="B3CCE5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matrix-cell-1-3"/>
          <p:cNvSpPr/>
          <p:nvPr/>
        </p:nvSpPr>
        <p:spPr>
          <a:xfrm>
            <a:off x="13926312" y="3575304"/>
            <a:ext cx="164592" cy="164592"/>
          </a:xfrm>
          <a:prstGeom prst="rect">
            <a:avLst/>
          </a:prstGeom>
          <a:solidFill>
            <a:srgbClr val="92B0D5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matrix-cell-1-4"/>
          <p:cNvSpPr/>
          <p:nvPr/>
        </p:nvSpPr>
        <p:spPr>
          <a:xfrm>
            <a:off x="14090904" y="3575304"/>
            <a:ext cx="164592" cy="164592"/>
          </a:xfrm>
          <a:prstGeom prst="rect">
            <a:avLst/>
          </a:prstGeom>
          <a:solidFill>
            <a:srgbClr val="AEC5DF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matrix-cell-2-0"/>
          <p:cNvSpPr/>
          <p:nvPr/>
        </p:nvSpPr>
        <p:spPr>
          <a:xfrm>
            <a:off x="13432536" y="3739896"/>
            <a:ext cx="164592" cy="164592"/>
          </a:xfrm>
          <a:prstGeom prst="rect">
            <a:avLst/>
          </a:prstGeom>
          <a:solidFill>
            <a:srgbClr val="AFC9E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matrix-cell-2-1"/>
          <p:cNvSpPr/>
          <p:nvPr/>
        </p:nvSpPr>
        <p:spPr>
          <a:xfrm>
            <a:off x="13597128" y="3739896"/>
            <a:ext cx="164592" cy="164592"/>
          </a:xfrm>
          <a:prstGeom prst="rect">
            <a:avLst/>
          </a:prstGeom>
          <a:solidFill>
            <a:srgbClr val="8BA9D2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matrix-cell-2-2"/>
          <p:cNvSpPr/>
          <p:nvPr/>
        </p:nvSpPr>
        <p:spPr>
          <a:xfrm>
            <a:off x="13761720" y="3739896"/>
            <a:ext cx="164592" cy="164592"/>
          </a:xfrm>
          <a:prstGeom prst="rect">
            <a:avLst/>
          </a:prstGeom>
          <a:solidFill>
            <a:srgbClr val="4471C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matrix-cell-2-3"/>
          <p:cNvSpPr/>
          <p:nvPr/>
        </p:nvSpPr>
        <p:spPr>
          <a:xfrm>
            <a:off x="13926312" y="3739896"/>
            <a:ext cx="164592" cy="164592"/>
          </a:xfrm>
          <a:prstGeom prst="rect">
            <a:avLst/>
          </a:prstGeom>
          <a:solidFill>
            <a:srgbClr val="A7C4E2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matrix-cell-2-4"/>
          <p:cNvSpPr/>
          <p:nvPr/>
        </p:nvSpPr>
        <p:spPr>
          <a:xfrm>
            <a:off x="14090904" y="3739896"/>
            <a:ext cx="164592" cy="164592"/>
          </a:xfrm>
          <a:prstGeom prst="rect">
            <a:avLst/>
          </a:prstGeom>
          <a:solidFill>
            <a:srgbClr val="97B4D9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matrix-cell-3-0"/>
          <p:cNvSpPr/>
          <p:nvPr/>
        </p:nvSpPr>
        <p:spPr>
          <a:xfrm>
            <a:off x="13432536" y="3904488"/>
            <a:ext cx="164592" cy="164592"/>
          </a:xfrm>
          <a:prstGeom prst="rect">
            <a:avLst/>
          </a:prstGeom>
          <a:solidFill>
            <a:srgbClr val="7295CD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matrix-cell-3-1"/>
          <p:cNvSpPr/>
          <p:nvPr/>
        </p:nvSpPr>
        <p:spPr>
          <a:xfrm>
            <a:off x="13597128" y="3904488"/>
            <a:ext cx="164592" cy="164592"/>
          </a:xfrm>
          <a:prstGeom prst="rect">
            <a:avLst/>
          </a:prstGeom>
          <a:solidFill>
            <a:srgbClr val="B8D0E8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matrix-cell-3-2"/>
          <p:cNvSpPr/>
          <p:nvPr/>
        </p:nvSpPr>
        <p:spPr>
          <a:xfrm>
            <a:off x="13761720" y="3904488"/>
            <a:ext cx="164592" cy="164592"/>
          </a:xfrm>
          <a:prstGeom prst="rect">
            <a:avLst/>
          </a:prstGeom>
          <a:solidFill>
            <a:srgbClr val="91AED5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matrix-cell-3-3"/>
          <p:cNvSpPr/>
          <p:nvPr/>
        </p:nvSpPr>
        <p:spPr>
          <a:xfrm>
            <a:off x="13926312" y="3904488"/>
            <a:ext cx="164592" cy="164592"/>
          </a:xfrm>
          <a:prstGeom prst="rect">
            <a:avLst/>
          </a:prstGeom>
          <a:solidFill>
            <a:srgbClr val="BBD1E6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matrix-cell-3-4"/>
          <p:cNvSpPr/>
          <p:nvPr/>
        </p:nvSpPr>
        <p:spPr>
          <a:xfrm>
            <a:off x="14090904" y="3904488"/>
            <a:ext cx="164592" cy="164592"/>
          </a:xfrm>
          <a:prstGeom prst="rect">
            <a:avLst/>
          </a:prstGeom>
          <a:solidFill>
            <a:srgbClr val="4471C4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matrix-cell-4-0"/>
          <p:cNvSpPr/>
          <p:nvPr/>
        </p:nvSpPr>
        <p:spPr>
          <a:xfrm>
            <a:off x="13432536" y="4069080"/>
            <a:ext cx="164592" cy="164592"/>
          </a:xfrm>
          <a:prstGeom prst="rect">
            <a:avLst/>
          </a:prstGeom>
          <a:solidFill>
            <a:srgbClr val="B1C9E2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matrix-cell-4-1"/>
          <p:cNvSpPr/>
          <p:nvPr/>
        </p:nvSpPr>
        <p:spPr>
          <a:xfrm>
            <a:off x="13597128" y="4069080"/>
            <a:ext cx="164592" cy="164592"/>
          </a:xfrm>
          <a:prstGeom prst="rect">
            <a:avLst/>
          </a:prstGeom>
          <a:solidFill>
            <a:srgbClr val="7C9ED1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matrix-cell-4-2"/>
          <p:cNvSpPr/>
          <p:nvPr/>
        </p:nvSpPr>
        <p:spPr>
          <a:xfrm>
            <a:off x="13761720" y="4069080"/>
            <a:ext cx="164592" cy="164592"/>
          </a:xfrm>
          <a:prstGeom prst="rect">
            <a:avLst/>
          </a:prstGeom>
          <a:solidFill>
            <a:srgbClr val="A4BEDC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matrix-cell-4-3"/>
          <p:cNvSpPr/>
          <p:nvPr/>
        </p:nvSpPr>
        <p:spPr>
          <a:xfrm>
            <a:off x="13926312" y="4069080"/>
            <a:ext cx="164592" cy="164592"/>
          </a:xfrm>
          <a:prstGeom prst="rect">
            <a:avLst/>
          </a:prstGeom>
          <a:solidFill>
            <a:srgbClr val="89A8D1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matrix-cell-4-4"/>
          <p:cNvSpPr/>
          <p:nvPr/>
        </p:nvSpPr>
        <p:spPr>
          <a:xfrm>
            <a:off x="14090904" y="4069080"/>
            <a:ext cx="164592" cy="164592"/>
          </a:xfrm>
          <a:prstGeom prst="rect">
            <a:avLst/>
          </a:prstGeom>
          <a:solidFill>
            <a:srgbClr val="B9CEE5"/>
          </a:solidFill>
          <a:ln w="14630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matrix-title"/>
          <p:cNvSpPr txBox="1"/>
          <p:nvPr/>
        </p:nvSpPr>
        <p:spPr>
          <a:xfrm>
            <a:off x="13002768" y="4224528"/>
            <a:ext cx="16459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Cross-correlation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Matrix</a:t>
            </a:r>
          </a:p>
        </p:txBody>
      </p:sp>
      <p:sp>
        <p:nvSpPr>
          <p:cNvPr id="437" name="cached-dictionary-panel"/>
          <p:cNvSpPr/>
          <p:nvPr/>
        </p:nvSpPr>
        <p:spPr>
          <a:xfrm>
            <a:off x="14987016" y="3931920"/>
            <a:ext cx="1417320" cy="2093976"/>
          </a:xfrm>
          <a:prstGeom prst="roundRect">
            <a:avLst>
              <a:gd name="adj" fmla="val 6288"/>
            </a:avLst>
          </a:prstGeom>
          <a:solidFill>
            <a:srgbClr val="DADADA"/>
          </a:solidFill>
          <a:ln w="22859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adapter-a-star"/>
          <p:cNvSpPr/>
          <p:nvPr/>
        </p:nvSpPr>
        <p:spPr>
          <a:xfrm>
            <a:off x="14996160" y="4041648"/>
            <a:ext cx="1133856" cy="530352"/>
          </a:xfrm>
          <a:custGeom>
            <a:avLst/>
            <a:gdLst/>
            <a:ahLst/>
            <a:cxnLst/>
            <a:rect l="l" t="t" r="r" b="b"/>
            <a:pathLst>
              <a:path w="124" h="58">
                <a:moveTo>
                  <a:pt x="22" y="0"/>
                </a:moveTo>
                <a:lnTo>
                  <a:pt x="103" y="0"/>
                </a:lnTo>
                <a:lnTo>
                  <a:pt x="124" y="58"/>
                </a:lnTo>
                <a:lnTo>
                  <a:pt x="0" y="58"/>
                </a:lnTo>
                <a:close/>
              </a:path>
            </a:pathLst>
          </a:custGeom>
          <a:solidFill>
            <a:srgbClr val="4471C4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adapter-a-star-label"/>
          <p:cNvSpPr txBox="1"/>
          <p:nvPr/>
        </p:nvSpPr>
        <p:spPr>
          <a:xfrm>
            <a:off x="15261336" y="4123944"/>
            <a:ext cx="71323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32" i="1" b="0">
                <a:solidFill>
                  <a:srgbClr val="000000"/>
                </a:solidFill>
                <a:latin typeface="DejaVu Serif"/>
              </a:rPr>
              <a:t>A*</a:t>
            </a:r>
          </a:p>
        </p:txBody>
      </p:sp>
      <p:cxnSp>
        <p:nvCxnSpPr>
          <p:cNvPr id="440" name="dictionary-to-a-star-shaft"/>
          <p:cNvCxnSpPr/>
          <p:nvPr/>
        </p:nvCxnSpPr>
        <p:spPr>
          <a:xfrm flipV="1">
            <a:off x="15709392" y="4572000"/>
            <a:ext cx="0" cy="237744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41" name="dictionary-to-a-star-head"/>
          <p:cNvSpPr/>
          <p:nvPr/>
        </p:nvSpPr>
        <p:spPr>
          <a:xfrm>
            <a:off x="15654528" y="4572000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0"/>
                </a:moveTo>
                <a:lnTo>
                  <a:pt x="0" y="10"/>
                </a:lnTo>
                <a:lnTo>
                  <a:pt x="12" y="1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cached-key-stack-back"/>
          <p:cNvSpPr/>
          <p:nvPr/>
        </p:nvSpPr>
        <p:spPr>
          <a:xfrm>
            <a:off x="15307056" y="4690872"/>
            <a:ext cx="1097280" cy="502920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cached-key-stack-middle"/>
          <p:cNvSpPr/>
          <p:nvPr/>
        </p:nvSpPr>
        <p:spPr>
          <a:xfrm>
            <a:off x="15206472" y="4754880"/>
            <a:ext cx="1097280" cy="502920"/>
          </a:xfrm>
          <a:prstGeom prst="rect">
            <a:avLst/>
          </a:prstGeom>
          <a:solidFill>
            <a:srgbClr val="FFFFFF"/>
          </a:solidFill>
          <a:ln w="20116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cached-key-stack-front"/>
          <p:cNvSpPr/>
          <p:nvPr/>
        </p:nvSpPr>
        <p:spPr>
          <a:xfrm>
            <a:off x="15105888" y="4818888"/>
            <a:ext cx="1097280" cy="502920"/>
          </a:xfrm>
          <a:prstGeom prst="rect">
            <a:avLst/>
          </a:prstGeom>
          <a:solidFill>
            <a:srgbClr val="F7E7D8"/>
          </a:solidFill>
          <a:ln w="228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45" name="cached-key-stack-v-1"/>
          <p:cNvCxnSpPr/>
          <p:nvPr/>
        </p:nvCxnSpPr>
        <p:spPr>
          <a:xfrm>
            <a:off x="15380208" y="4818888"/>
            <a:ext cx="0" cy="50292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46" name="cached-key-stack-v-2"/>
          <p:cNvCxnSpPr/>
          <p:nvPr/>
        </p:nvCxnSpPr>
        <p:spPr>
          <a:xfrm>
            <a:off x="15654528" y="4818888"/>
            <a:ext cx="0" cy="50292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47" name="cached-key-stack-v-3"/>
          <p:cNvCxnSpPr/>
          <p:nvPr/>
        </p:nvCxnSpPr>
        <p:spPr>
          <a:xfrm>
            <a:off x="15928848" y="4818888"/>
            <a:ext cx="0" cy="50292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48" name="cached-key-stack-h-1"/>
          <p:cNvCxnSpPr/>
          <p:nvPr/>
        </p:nvCxnSpPr>
        <p:spPr>
          <a:xfrm>
            <a:off x="15105888" y="5070348"/>
            <a:ext cx="109728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449" name="cached-key-stack-snake-body-0"/>
          <p:cNvSpPr/>
          <p:nvPr/>
        </p:nvSpPr>
        <p:spPr>
          <a:xfrm>
            <a:off x="15361342" y="5042555"/>
            <a:ext cx="169405" cy="105878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cached-key-stack-snake-body-1"/>
          <p:cNvSpPr/>
          <p:nvPr/>
        </p:nvSpPr>
        <p:spPr>
          <a:xfrm>
            <a:off x="15536907" y="5150932"/>
            <a:ext cx="169405" cy="105878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cached-key-stack-snake-body-2"/>
          <p:cNvSpPr/>
          <p:nvPr/>
        </p:nvSpPr>
        <p:spPr>
          <a:xfrm>
            <a:off x="15712472" y="5076463"/>
            <a:ext cx="169405" cy="105878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cached-key-stack-snake-body-3"/>
          <p:cNvSpPr/>
          <p:nvPr/>
        </p:nvSpPr>
        <p:spPr>
          <a:xfrm>
            <a:off x="15888037" y="4981363"/>
            <a:ext cx="169405" cy="105878"/>
          </a:xfrm>
          <a:prstGeom prst="ellipse">
            <a:avLst/>
          </a:prstGeom>
          <a:solidFill>
            <a:srgbClr val="7EB399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cached-key-stack-snake-head"/>
          <p:cNvSpPr/>
          <p:nvPr/>
        </p:nvSpPr>
        <p:spPr>
          <a:xfrm>
            <a:off x="15289153" y="4797111"/>
            <a:ext cx="222344" cy="285870"/>
          </a:xfrm>
          <a:prstGeom prst="ellipse">
            <a:avLst/>
          </a:prstGeom>
          <a:solidFill>
            <a:srgbClr val="7EB399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cached-key-stack-snake-eye"/>
          <p:cNvSpPr/>
          <p:nvPr/>
        </p:nvSpPr>
        <p:spPr>
          <a:xfrm>
            <a:off x="15331697" y="4895674"/>
            <a:ext cx="27528" cy="33881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cached-key-stack-snake-cheek"/>
          <p:cNvSpPr/>
          <p:nvPr/>
        </p:nvSpPr>
        <p:spPr>
          <a:xfrm>
            <a:off x="15470589" y="5001166"/>
            <a:ext cx="42351" cy="42351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6" name="cached-key-stack-snake-tongue"/>
          <p:cNvCxnSpPr/>
          <p:nvPr/>
        </p:nvCxnSpPr>
        <p:spPr>
          <a:xfrm flipH="1">
            <a:off x="15250171" y="5053143"/>
            <a:ext cx="63526" cy="15882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457" name="cached-key-stack-snake-tongue-fork"/>
          <p:cNvCxnSpPr/>
          <p:nvPr/>
        </p:nvCxnSpPr>
        <p:spPr>
          <a:xfrm flipH="1" flipV="1">
            <a:off x="15228995" y="5047849"/>
            <a:ext cx="21176" cy="21176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sp>
        <p:nvSpPr>
          <p:cNvPr id="458" name="cached-key-label"/>
          <p:cNvSpPr txBox="1"/>
          <p:nvPr/>
        </p:nvSpPr>
        <p:spPr>
          <a:xfrm>
            <a:off x="15060168" y="5413248"/>
            <a:ext cx="12893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Cached key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dictionary</a:t>
            </a:r>
          </a:p>
        </p:txBody>
      </p:sp>
      <p:cxnSp>
        <p:nvCxnSpPr>
          <p:cNvPr id="459" name="key-arrow-shaft-1"/>
          <p:cNvCxnSpPr/>
          <p:nvPr/>
        </p:nvCxnSpPr>
        <p:spPr>
          <a:xfrm flipV="1">
            <a:off x="15581376" y="3840480"/>
            <a:ext cx="0" cy="9144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460" name="key-arrow-shaft-2"/>
          <p:cNvCxnSpPr/>
          <p:nvPr/>
        </p:nvCxnSpPr>
        <p:spPr>
          <a:xfrm flipH="1">
            <a:off x="14356080" y="3840480"/>
            <a:ext cx="1225296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61" name="key-arrow-head"/>
          <p:cNvSpPr/>
          <p:nvPr/>
        </p:nvSpPr>
        <p:spPr>
          <a:xfrm>
            <a:off x="14356080" y="3785616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6"/>
                </a:moveTo>
                <a:lnTo>
                  <a:pt x="10" y="12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key-label"/>
          <p:cNvSpPr txBox="1"/>
          <p:nvPr/>
        </p:nvSpPr>
        <p:spPr>
          <a:xfrm>
            <a:off x="14493240" y="3538728"/>
            <a:ext cx="65836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i="1" b="0">
                <a:solidFill>
                  <a:srgbClr val="000000"/>
                </a:solidFill>
                <a:latin typeface="Liberation Sans"/>
              </a:rPr>
              <a:t>Key</a:t>
            </a:r>
          </a:p>
        </p:txBody>
      </p:sp>
      <p:sp>
        <p:nvSpPr>
          <p:cNvPr id="463" name="bottom-input-memory-back"/>
          <p:cNvSpPr/>
          <p:nvPr/>
        </p:nvSpPr>
        <p:spPr>
          <a:xfrm>
            <a:off x="10570464" y="5084064"/>
            <a:ext cx="1883664" cy="804672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bottom-input-memory-middle"/>
          <p:cNvSpPr/>
          <p:nvPr/>
        </p:nvSpPr>
        <p:spPr>
          <a:xfrm>
            <a:off x="10469880" y="5148072"/>
            <a:ext cx="1883664" cy="804672"/>
          </a:xfrm>
          <a:prstGeom prst="rect">
            <a:avLst/>
          </a:prstGeom>
          <a:solidFill>
            <a:srgbClr val="FFFFFF"/>
          </a:solidFill>
          <a:ln w="20116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bottom-input-memory-front"/>
          <p:cNvSpPr/>
          <p:nvPr/>
        </p:nvSpPr>
        <p:spPr>
          <a:xfrm>
            <a:off x="10369296" y="5212080"/>
            <a:ext cx="1883664" cy="804672"/>
          </a:xfrm>
          <a:prstGeom prst="rect">
            <a:avLst/>
          </a:prstGeom>
          <a:solidFill>
            <a:srgbClr val="F7E7D8"/>
          </a:solidFill>
          <a:ln w="22859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6" name="bottom-input-memory-v-1"/>
          <p:cNvCxnSpPr/>
          <p:nvPr/>
        </p:nvCxnSpPr>
        <p:spPr>
          <a:xfrm>
            <a:off x="10746029" y="5212080"/>
            <a:ext cx="0" cy="804672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67" name="bottom-input-memory-v-2"/>
          <p:cNvCxnSpPr/>
          <p:nvPr/>
        </p:nvCxnSpPr>
        <p:spPr>
          <a:xfrm>
            <a:off x="11122762" y="5212080"/>
            <a:ext cx="0" cy="804672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68" name="bottom-input-memory-v-3"/>
          <p:cNvCxnSpPr/>
          <p:nvPr/>
        </p:nvCxnSpPr>
        <p:spPr>
          <a:xfrm>
            <a:off x="11499494" y="5212080"/>
            <a:ext cx="0" cy="804672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69" name="bottom-input-memory-v-4"/>
          <p:cNvCxnSpPr/>
          <p:nvPr/>
        </p:nvCxnSpPr>
        <p:spPr>
          <a:xfrm>
            <a:off x="11876227" y="5212080"/>
            <a:ext cx="0" cy="804672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70" name="bottom-input-memory-h-1"/>
          <p:cNvCxnSpPr/>
          <p:nvPr/>
        </p:nvCxnSpPr>
        <p:spPr>
          <a:xfrm>
            <a:off x="10369296" y="5614416"/>
            <a:ext cx="1883664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471" name="bottom-input-memory-snake-body-0"/>
          <p:cNvSpPr/>
          <p:nvPr/>
        </p:nvSpPr>
        <p:spPr>
          <a:xfrm>
            <a:off x="10817708" y="5569947"/>
            <a:ext cx="271047" cy="169405"/>
          </a:xfrm>
          <a:prstGeom prst="ellipse">
            <a:avLst/>
          </a:prstGeom>
          <a:solidFill>
            <a:srgbClr val="A6B77A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bottom-input-memory-snake-body-1"/>
          <p:cNvSpPr/>
          <p:nvPr/>
        </p:nvSpPr>
        <p:spPr>
          <a:xfrm>
            <a:off x="11043748" y="5665685"/>
            <a:ext cx="271047" cy="169405"/>
          </a:xfrm>
          <a:prstGeom prst="ellipse">
            <a:avLst/>
          </a:prstGeom>
          <a:solidFill>
            <a:srgbClr val="A6B77A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bottom-input-memory-snake-body-2"/>
          <p:cNvSpPr/>
          <p:nvPr/>
        </p:nvSpPr>
        <p:spPr>
          <a:xfrm>
            <a:off x="11269787" y="5663506"/>
            <a:ext cx="271047" cy="169405"/>
          </a:xfrm>
          <a:prstGeom prst="ellipse">
            <a:avLst/>
          </a:prstGeom>
          <a:solidFill>
            <a:srgbClr val="A6B77A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bottom-input-memory-snake-body-3"/>
          <p:cNvSpPr/>
          <p:nvPr/>
        </p:nvSpPr>
        <p:spPr>
          <a:xfrm>
            <a:off x="11495827" y="5602215"/>
            <a:ext cx="271047" cy="169405"/>
          </a:xfrm>
          <a:prstGeom prst="ellipse">
            <a:avLst/>
          </a:prstGeom>
          <a:solidFill>
            <a:srgbClr val="A6B77A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bottom-input-memory-snake-body-4"/>
          <p:cNvSpPr/>
          <p:nvPr/>
        </p:nvSpPr>
        <p:spPr>
          <a:xfrm>
            <a:off x="11721867" y="5508755"/>
            <a:ext cx="271047" cy="169405"/>
          </a:xfrm>
          <a:prstGeom prst="ellipse">
            <a:avLst/>
          </a:prstGeom>
          <a:solidFill>
            <a:srgbClr val="A6B77A"/>
          </a:solidFill>
          <a:ln w="13716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bottom-input-memory-snake-head"/>
          <p:cNvSpPr/>
          <p:nvPr/>
        </p:nvSpPr>
        <p:spPr>
          <a:xfrm>
            <a:off x="10729637" y="5270505"/>
            <a:ext cx="355750" cy="457393"/>
          </a:xfrm>
          <a:prstGeom prst="ellipse">
            <a:avLst/>
          </a:prstGeom>
          <a:solidFill>
            <a:srgbClr val="A6B77A"/>
          </a:solidFill>
          <a:ln w="18288">
            <a:solidFill>
              <a:srgbClr val="4A332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bottom-input-memory-snake-eye"/>
          <p:cNvSpPr/>
          <p:nvPr/>
        </p:nvSpPr>
        <p:spPr>
          <a:xfrm>
            <a:off x="10830625" y="5444665"/>
            <a:ext cx="44045" cy="54209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bottom-input-memory-snake-cheek"/>
          <p:cNvSpPr/>
          <p:nvPr/>
        </p:nvSpPr>
        <p:spPr>
          <a:xfrm>
            <a:off x="10965071" y="5547617"/>
            <a:ext cx="67762" cy="67762"/>
          </a:xfrm>
          <a:prstGeom prst="ellipse">
            <a:avLst/>
          </a:prstGeom>
          <a:solidFill>
            <a:srgbClr val="F27F7F"/>
          </a:solidFill>
          <a:ln w="9144">
            <a:solidFill>
              <a:srgbClr val="F2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9" name="bottom-input-memory-snake-tongue"/>
          <p:cNvCxnSpPr/>
          <p:nvPr/>
        </p:nvCxnSpPr>
        <p:spPr>
          <a:xfrm flipH="1">
            <a:off x="10639833" y="5586888"/>
            <a:ext cx="101643" cy="25410"/>
          </a:xfrm>
          <a:prstGeom prst="line">
            <a:avLst/>
          </a:prstGeom>
          <a:ln w="18288">
            <a:solidFill>
              <a:srgbClr val="C74C42"/>
            </a:solidFill>
          </a:ln>
        </p:spPr>
      </p:cxnSp>
      <p:cxnSp>
        <p:nvCxnSpPr>
          <p:cNvPr id="480" name="bottom-input-memory-snake-tongue-fork"/>
          <p:cNvCxnSpPr/>
          <p:nvPr/>
        </p:nvCxnSpPr>
        <p:spPr>
          <a:xfrm flipH="1" flipV="1">
            <a:off x="10605952" y="5578418"/>
            <a:ext cx="33881" cy="33880"/>
          </a:xfrm>
          <a:prstGeom prst="line">
            <a:avLst/>
          </a:prstGeom>
          <a:ln w="12801">
            <a:solidFill>
              <a:srgbClr val="C74C42"/>
            </a:solidFill>
          </a:ln>
        </p:spPr>
      </p:cxnSp>
      <p:cxnSp>
        <p:nvCxnSpPr>
          <p:cNvPr id="481" name="bottom-input-to-a-shaft-1"/>
          <p:cNvCxnSpPr/>
          <p:nvPr/>
        </p:nvCxnSpPr>
        <p:spPr>
          <a:xfrm>
            <a:off x="10524744" y="4864608"/>
            <a:ext cx="0" cy="73152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482" name="bottom-input-to-a-shaft-2"/>
          <p:cNvCxnSpPr/>
          <p:nvPr/>
        </p:nvCxnSpPr>
        <p:spPr>
          <a:xfrm>
            <a:off x="10524744" y="4937760"/>
            <a:ext cx="1728216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483" name="bottom-input-to-a-shaft-3"/>
          <p:cNvCxnSpPr/>
          <p:nvPr/>
        </p:nvCxnSpPr>
        <p:spPr>
          <a:xfrm flipV="1">
            <a:off x="12252960" y="4581144"/>
            <a:ext cx="0" cy="356616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84" name="bottom-input-to-a-head"/>
          <p:cNvSpPr/>
          <p:nvPr/>
        </p:nvSpPr>
        <p:spPr>
          <a:xfrm>
            <a:off x="12198096" y="4581144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0"/>
                </a:moveTo>
                <a:lnTo>
                  <a:pt x="0" y="10"/>
                </a:lnTo>
                <a:lnTo>
                  <a:pt x="12" y="1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5" name="input-side-route-1"/>
          <p:cNvCxnSpPr/>
          <p:nvPr/>
        </p:nvCxnSpPr>
        <p:spPr>
          <a:xfrm flipV="1">
            <a:off x="11247120" y="4946904"/>
            <a:ext cx="0" cy="694944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486" name="input-side-route-2"/>
          <p:cNvCxnSpPr/>
          <p:nvPr/>
        </p:nvCxnSpPr>
        <p:spPr>
          <a:xfrm flipH="1">
            <a:off x="10524744" y="4946904"/>
            <a:ext cx="722376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87" name="interface-body"/>
          <p:cNvSpPr/>
          <p:nvPr/>
        </p:nvSpPr>
        <p:spPr>
          <a:xfrm>
            <a:off x="15901416" y="2679192"/>
            <a:ext cx="457200" cy="448056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interface-tab"/>
          <p:cNvSpPr/>
          <p:nvPr/>
        </p:nvSpPr>
        <p:spPr>
          <a:xfrm>
            <a:off x="16029432" y="2615184"/>
            <a:ext cx="219456" cy="64008"/>
          </a:xfrm>
          <a:custGeom>
            <a:avLst/>
            <a:gdLst/>
            <a:ahLst/>
            <a:cxnLst/>
            <a:rect l="l" t="t" r="r" b="b"/>
            <a:pathLst>
              <a:path w="24" h="7">
                <a:moveTo>
                  <a:pt x="0" y="7"/>
                </a:moveTo>
                <a:lnTo>
                  <a:pt x="5" y="0"/>
                </a:lnTo>
                <a:lnTo>
                  <a:pt x="20" y="0"/>
                </a:lnTo>
                <a:lnTo>
                  <a:pt x="24" y="7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interface-screen"/>
          <p:cNvSpPr/>
          <p:nvPr/>
        </p:nvSpPr>
        <p:spPr>
          <a:xfrm>
            <a:off x="15983712" y="2788920"/>
            <a:ext cx="292608" cy="228600"/>
          </a:xfrm>
          <a:prstGeom prst="rect">
            <a:avLst/>
          </a:prstGeom>
          <a:solidFill>
            <a:srgbClr val="E4F3F3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0" name="interface-screen-1"/>
          <p:cNvCxnSpPr/>
          <p:nvPr/>
        </p:nvCxnSpPr>
        <p:spPr>
          <a:xfrm>
            <a:off x="16047720" y="2871216"/>
            <a:ext cx="164592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cxnSp>
        <p:nvCxnSpPr>
          <p:cNvPr id="491" name="interface-screen-2"/>
          <p:cNvCxnSpPr/>
          <p:nvPr/>
        </p:nvCxnSpPr>
        <p:spPr>
          <a:xfrm>
            <a:off x="16047720" y="2944368"/>
            <a:ext cx="137160" cy="0"/>
          </a:xfrm>
          <a:prstGeom prst="line">
            <a:avLst/>
          </a:prstGeom>
          <a:ln w="18288">
            <a:solidFill>
              <a:srgbClr val="000000"/>
            </a:solidFill>
          </a:ln>
        </p:spPr>
      </p:cxnSp>
      <p:sp>
        <p:nvSpPr>
          <p:cNvPr id="492" name="interface-label"/>
          <p:cNvSpPr txBox="1"/>
          <p:nvPr/>
        </p:nvSpPr>
        <p:spPr>
          <a:xfrm>
            <a:off x="15645384" y="3136392"/>
            <a:ext cx="969264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72" i="1" b="0">
                <a:solidFill>
                  <a:srgbClr val="000000"/>
                </a:solidFill>
                <a:latin typeface="Liberation Sans"/>
              </a:rPr>
              <a:t>Interface</a:t>
            </a:r>
          </a:p>
        </p:txBody>
      </p:sp>
      <p:cxnSp>
        <p:nvCxnSpPr>
          <p:cNvPr id="493" name="interface-to-switch"/>
          <p:cNvCxnSpPr/>
          <p:nvPr/>
        </p:nvCxnSpPr>
        <p:spPr>
          <a:xfrm flipH="1">
            <a:off x="14118336" y="2953512"/>
            <a:ext cx="1783080" cy="0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cxnSp>
        <p:nvCxnSpPr>
          <p:cNvPr id="494" name="interface-down-route-shaft"/>
          <p:cNvCxnSpPr/>
          <p:nvPr/>
        </p:nvCxnSpPr>
        <p:spPr>
          <a:xfrm>
            <a:off x="16130016" y="1051560"/>
            <a:ext cx="0" cy="1563624"/>
          </a:xfrm>
          <a:prstGeom prst="line">
            <a:avLst/>
          </a:prstGeom>
          <a:ln w="27432">
            <a:solidFill>
              <a:srgbClr val="000000"/>
            </a:solidFill>
          </a:ln>
        </p:spPr>
      </p:cxnSp>
      <p:sp>
        <p:nvSpPr>
          <p:cNvPr id="495" name="interface-down-route-head"/>
          <p:cNvSpPr/>
          <p:nvPr/>
        </p:nvSpPr>
        <p:spPr>
          <a:xfrm>
            <a:off x="16075152" y="2514600"/>
            <a:ext cx="109728" cy="100584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6" y="11"/>
                </a:move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recommendation-agent-bubble"/>
          <p:cNvSpPr/>
          <p:nvPr/>
        </p:nvSpPr>
        <p:spPr>
          <a:xfrm>
            <a:off x="15508224" y="594360"/>
            <a:ext cx="658368" cy="438912"/>
          </a:xfrm>
          <a:prstGeom prst="roundRect">
            <a:avLst>
              <a:gd name="adj" fmla="val 22500"/>
            </a:avLst>
          </a:prstGeom>
          <a:solidFill>
            <a:srgbClr val="FFE0AA"/>
          </a:solidFill>
          <a:ln w="22859">
            <a:solidFill>
              <a:srgbClr val="7A4E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recommendation-agent-screen"/>
          <p:cNvSpPr/>
          <p:nvPr/>
        </p:nvSpPr>
        <p:spPr>
          <a:xfrm>
            <a:off x="15681960" y="749808"/>
            <a:ext cx="301752" cy="201168"/>
          </a:xfrm>
          <a:prstGeom prst="rect">
            <a:avLst/>
          </a:prstGeom>
          <a:solidFill>
            <a:srgbClr val="D9E7F3"/>
          </a:solidFill>
          <a:ln w="18288">
            <a:solidFill>
              <a:srgbClr val="172B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recommendation-agent-mouth"/>
          <p:cNvSpPr/>
          <p:nvPr/>
        </p:nvSpPr>
        <p:spPr>
          <a:xfrm>
            <a:off x="15755112" y="868680"/>
            <a:ext cx="155448" cy="36576"/>
          </a:xfrm>
          <a:prstGeom prst="rect">
            <a:avLst/>
          </a:prstGeom>
          <a:solidFill>
            <a:srgbClr val="4471C4"/>
          </a:solidFill>
          <a:ln w="9144">
            <a:solidFill>
              <a:srgbClr val="4471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recommendation-agent-eye-l"/>
          <p:cNvSpPr/>
          <p:nvPr/>
        </p:nvSpPr>
        <p:spPr>
          <a:xfrm>
            <a:off x="15750540" y="790956"/>
            <a:ext cx="45720" cy="45720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recommendation-agent-eye-r"/>
          <p:cNvSpPr/>
          <p:nvPr/>
        </p:nvSpPr>
        <p:spPr>
          <a:xfrm>
            <a:off x="15869412" y="790956"/>
            <a:ext cx="45720" cy="45720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recommendation-agent-antenna"/>
          <p:cNvCxnSpPr/>
          <p:nvPr/>
        </p:nvCxnSpPr>
        <p:spPr>
          <a:xfrm flipV="1">
            <a:off x="15828264" y="685800"/>
            <a:ext cx="0" cy="64008"/>
          </a:xfrm>
          <a:prstGeom prst="line">
            <a:avLst/>
          </a:prstGeom>
          <a:ln w="13716">
            <a:solidFill>
              <a:srgbClr val="000000"/>
            </a:solidFill>
          </a:ln>
        </p:spPr>
      </p:cxnSp>
      <p:sp>
        <p:nvSpPr>
          <p:cNvPr id="502" name="recommendation-agent-antenna-tip"/>
          <p:cNvSpPr/>
          <p:nvPr/>
        </p:nvSpPr>
        <p:spPr>
          <a:xfrm>
            <a:off x="15805404" y="644652"/>
            <a:ext cx="45720" cy="45720"/>
          </a:xfrm>
          <a:prstGeom prst="ellipse">
            <a:avLst/>
          </a:prstGeom>
          <a:solidFill>
            <a:srgbClr val="F5BA5C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recommendation-agent-thumb"/>
          <p:cNvSpPr/>
          <p:nvPr/>
        </p:nvSpPr>
        <p:spPr>
          <a:xfrm>
            <a:off x="16203168" y="813816"/>
            <a:ext cx="228600" cy="265176"/>
          </a:xfrm>
          <a:custGeom>
            <a:avLst/>
            <a:gdLst/>
            <a:ahLst/>
            <a:cxnLst/>
            <a:rect l="l" t="t" r="r" b="b"/>
            <a:pathLst>
              <a:path w="25" h="29">
                <a:moveTo>
                  <a:pt x="0" y="18"/>
                </a:moveTo>
                <a:lnTo>
                  <a:pt x="5" y="1"/>
                </a:lnTo>
                <a:lnTo>
                  <a:pt x="11" y="0"/>
                </a:lnTo>
                <a:lnTo>
                  <a:pt x="13" y="8"/>
                </a:lnTo>
                <a:lnTo>
                  <a:pt x="22" y="8"/>
                </a:lnTo>
                <a:lnTo>
                  <a:pt x="25" y="13"/>
                </a:lnTo>
                <a:lnTo>
                  <a:pt x="22" y="24"/>
                </a:lnTo>
                <a:lnTo>
                  <a:pt x="16" y="29"/>
                </a:lnTo>
                <a:lnTo>
                  <a:pt x="2" y="25"/>
                </a:lnTo>
                <a:close/>
              </a:path>
            </a:pathLst>
          </a:custGeom>
          <a:solidFill>
            <a:srgbClr val="B9C7C7"/>
          </a:solidFill>
          <a:ln w="18288">
            <a:solidFill>
              <a:srgbClr val="5746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agent-star-1"/>
          <p:cNvSpPr/>
          <p:nvPr/>
        </p:nvSpPr>
        <p:spPr>
          <a:xfrm>
            <a:off x="15563088" y="36576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10" y="0"/>
                </a:moveTo>
                <a:lnTo>
                  <a:pt x="13" y="7"/>
                </a:lnTo>
                <a:lnTo>
                  <a:pt x="20" y="8"/>
                </a:lnTo>
                <a:lnTo>
                  <a:pt x="15" y="13"/>
                </a:lnTo>
                <a:lnTo>
                  <a:pt x="16" y="20"/>
                </a:lnTo>
                <a:lnTo>
                  <a:pt x="10" y="16"/>
                </a:lnTo>
                <a:lnTo>
                  <a:pt x="4" y="20"/>
                </a:lnTo>
                <a:lnTo>
                  <a:pt x="5" y="13"/>
                </a:lnTo>
                <a:lnTo>
                  <a:pt x="0" y="8"/>
                </a:lnTo>
                <a:lnTo>
                  <a:pt x="7" y="7"/>
                </a:lnTo>
                <a:close/>
              </a:path>
            </a:pathLst>
          </a:custGeom>
          <a:solidFill>
            <a:srgbClr val="FFD44D"/>
          </a:solidFill>
          <a:ln w="18288">
            <a:solidFill>
              <a:srgbClr val="9C66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agent-star-2"/>
          <p:cNvSpPr/>
          <p:nvPr/>
        </p:nvSpPr>
        <p:spPr>
          <a:xfrm>
            <a:off x="15800832" y="32004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11" y="0"/>
                </a:moveTo>
                <a:lnTo>
                  <a:pt x="14" y="8"/>
                </a:lnTo>
                <a:lnTo>
                  <a:pt x="22" y="8"/>
                </a:lnTo>
                <a:lnTo>
                  <a:pt x="16" y="14"/>
                </a:lnTo>
                <a:lnTo>
                  <a:pt x="18" y="22"/>
                </a:lnTo>
                <a:lnTo>
                  <a:pt x="11" y="18"/>
                </a:lnTo>
                <a:lnTo>
                  <a:pt x="4" y="22"/>
                </a:lnTo>
                <a:lnTo>
                  <a:pt x="6" y="14"/>
                </a:lnTo>
                <a:lnTo>
                  <a:pt x="0" y="8"/>
                </a:lnTo>
                <a:lnTo>
                  <a:pt x="8" y="8"/>
                </a:lnTo>
                <a:close/>
              </a:path>
            </a:pathLst>
          </a:custGeom>
          <a:solidFill>
            <a:srgbClr val="FFD44D"/>
          </a:solidFill>
          <a:ln w="18288">
            <a:solidFill>
              <a:srgbClr val="9C66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agent-star-3"/>
          <p:cNvSpPr/>
          <p:nvPr/>
        </p:nvSpPr>
        <p:spPr>
          <a:xfrm>
            <a:off x="16066008" y="3749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10" y="0"/>
                </a:moveTo>
                <a:lnTo>
                  <a:pt x="13" y="7"/>
                </a:lnTo>
                <a:lnTo>
                  <a:pt x="20" y="8"/>
                </a:lnTo>
                <a:lnTo>
                  <a:pt x="15" y="13"/>
                </a:lnTo>
                <a:lnTo>
                  <a:pt x="16" y="20"/>
                </a:lnTo>
                <a:lnTo>
                  <a:pt x="10" y="16"/>
                </a:lnTo>
                <a:lnTo>
                  <a:pt x="4" y="20"/>
                </a:lnTo>
                <a:lnTo>
                  <a:pt x="5" y="13"/>
                </a:lnTo>
                <a:lnTo>
                  <a:pt x="0" y="8"/>
                </a:lnTo>
                <a:lnTo>
                  <a:pt x="7" y="7"/>
                </a:lnTo>
                <a:close/>
              </a:path>
            </a:pathLst>
          </a:custGeom>
          <a:solidFill>
            <a:srgbClr val="FFD44D"/>
          </a:solidFill>
          <a:ln w="18288">
            <a:solidFill>
              <a:srgbClr val="9C66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recommendation-label"/>
          <p:cNvSpPr txBox="1"/>
          <p:nvPr/>
        </p:nvSpPr>
        <p:spPr>
          <a:xfrm>
            <a:off x="15014448" y="1097280"/>
            <a:ext cx="151790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12" i="1" b="0">
                <a:solidFill>
                  <a:srgbClr val="000000"/>
                </a:solidFill>
                <a:latin typeface="Liberation Sans"/>
              </a:rPr>
              <a:t>Recommendation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12" i="1" b="0">
                <a:solidFill>
                  <a:srgbClr val="000000"/>
                </a:solidFill>
                <a:latin typeface="Liberation Sans"/>
              </a:rPr>
              <a:t>Agent</a:t>
            </a:r>
          </a:p>
        </p:txBody>
      </p:sp>
      <p:sp>
        <p:nvSpPr>
          <p:cNvPr id="508" name="caption-a"/>
          <p:cNvSpPr txBox="1"/>
          <p:nvPr/>
        </p:nvSpPr>
        <p:spPr>
          <a:xfrm>
            <a:off x="539496" y="6245352"/>
            <a:ext cx="338328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(a) Heterogeneous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Expert-Lay Datasets</a:t>
            </a:r>
          </a:p>
        </p:txBody>
      </p:sp>
      <p:sp>
        <p:nvSpPr>
          <p:cNvPr id="509" name="caption-b"/>
          <p:cNvSpPr txBox="1"/>
          <p:nvPr/>
        </p:nvSpPr>
        <p:spPr>
          <a:xfrm>
            <a:off x="5303520" y="6245352"/>
            <a:ext cx="338328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(b) Semantic-Relevant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Layer Identification</a:t>
            </a:r>
          </a:p>
        </p:txBody>
      </p:sp>
      <p:sp>
        <p:nvSpPr>
          <p:cNvPr id="510" name="caption-c"/>
          <p:cNvSpPr txBox="1"/>
          <p:nvPr/>
        </p:nvSpPr>
        <p:spPr>
          <a:xfrm>
            <a:off x="10369296" y="6245352"/>
            <a:ext cx="557784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(c) Semantic Invariance Constraint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16" i="1" b="0">
                <a:solidFill>
                  <a:srgbClr val="000000"/>
                </a:solidFill>
                <a:latin typeface="Liberation Sans"/>
              </a:rPr>
              <a:t>&amp; Layperson-tailored Adaptation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Magical Medical Lay Language Generation via Semantic Invariance and Layperson-tailored Adap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760951" cy="6949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