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314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background"/>
          <p:cNvSpPr/>
          <p:nvPr/>
        </p:nvSpPr>
        <p:spPr>
          <a:xfrm>
            <a:off x="0" y="0"/>
            <a:ext cx="12191999" cy="68531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tage1-panel"/>
          <p:cNvSpPr/>
          <p:nvPr/>
        </p:nvSpPr>
        <p:spPr>
          <a:xfrm>
            <a:off x="90599" y="90599"/>
            <a:ext cx="4885859" cy="4296968"/>
          </a:xfrm>
          <a:prstGeom prst="rect">
            <a:avLst/>
          </a:prstGeom>
          <a:noFill/>
          <a:ln w="25885">
            <a:solidFill>
              <a:srgbClr val="A6A6A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stage1-header-rule"/>
          <p:cNvCxnSpPr/>
          <p:nvPr/>
        </p:nvCxnSpPr>
        <p:spPr>
          <a:xfrm>
            <a:off x="97070" y="524178"/>
            <a:ext cx="4872917" cy="0"/>
          </a:xfrm>
          <a:prstGeom prst="line">
            <a:avLst/>
          </a:prstGeom>
          <a:ln w="25885">
            <a:solidFill>
              <a:srgbClr val="A6A6A6"/>
            </a:solidFill>
            <a:prstDash val="dash"/>
          </a:ln>
        </p:spPr>
      </p:cxnSp>
      <p:sp>
        <p:nvSpPr>
          <p:cNvPr id="5" name="stage1-prompt-panel"/>
          <p:cNvSpPr/>
          <p:nvPr/>
        </p:nvSpPr>
        <p:spPr>
          <a:xfrm>
            <a:off x="90599" y="4614063"/>
            <a:ext cx="4885859" cy="1307210"/>
          </a:xfrm>
          <a:prstGeom prst="rect">
            <a:avLst/>
          </a:prstGeom>
          <a:noFill/>
          <a:ln w="25885">
            <a:solidFill>
              <a:srgbClr val="A6A6A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gend-panel"/>
          <p:cNvSpPr/>
          <p:nvPr/>
        </p:nvSpPr>
        <p:spPr>
          <a:xfrm>
            <a:off x="90599" y="6141299"/>
            <a:ext cx="4885859" cy="705376"/>
          </a:xfrm>
          <a:prstGeom prst="rect">
            <a:avLst/>
          </a:prstGeom>
          <a:noFill/>
          <a:ln w="25885">
            <a:solidFill>
              <a:srgbClr val="A6A6A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ge2-panel"/>
          <p:cNvSpPr/>
          <p:nvPr/>
        </p:nvSpPr>
        <p:spPr>
          <a:xfrm>
            <a:off x="5202955" y="90599"/>
            <a:ext cx="6904917" cy="6756076"/>
          </a:xfrm>
          <a:prstGeom prst="rect">
            <a:avLst/>
          </a:prstGeom>
          <a:noFill/>
          <a:ln w="25885">
            <a:solidFill>
              <a:srgbClr val="A6A6A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" name="stage2-header-rule"/>
          <p:cNvCxnSpPr/>
          <p:nvPr/>
        </p:nvCxnSpPr>
        <p:spPr>
          <a:xfrm>
            <a:off x="5209426" y="524178"/>
            <a:ext cx="6891974" cy="0"/>
          </a:xfrm>
          <a:prstGeom prst="line">
            <a:avLst/>
          </a:prstGeom>
          <a:ln w="25885">
            <a:solidFill>
              <a:srgbClr val="A6A6A6"/>
            </a:solidFill>
            <a:prstDash val="dash"/>
          </a:ln>
        </p:spPr>
      </p:cxnSp>
      <p:cxnSp>
        <p:nvCxnSpPr>
          <p:cNvPr id="9" name="stage2-step1-rule"/>
          <p:cNvCxnSpPr/>
          <p:nvPr/>
        </p:nvCxnSpPr>
        <p:spPr>
          <a:xfrm>
            <a:off x="5209426" y="1689019"/>
            <a:ext cx="6891974" cy="0"/>
          </a:xfrm>
          <a:prstGeom prst="line">
            <a:avLst/>
          </a:prstGeom>
          <a:ln w="16178">
            <a:solidFill>
              <a:srgbClr val="A6A6A6"/>
            </a:solidFill>
            <a:prstDash val="dash"/>
          </a:ln>
        </p:spPr>
      </p:cxnSp>
      <p:cxnSp>
        <p:nvCxnSpPr>
          <p:cNvPr id="10" name="stage2-step2-rule"/>
          <p:cNvCxnSpPr/>
          <p:nvPr/>
        </p:nvCxnSpPr>
        <p:spPr>
          <a:xfrm>
            <a:off x="5209426" y="4898802"/>
            <a:ext cx="6891974" cy="0"/>
          </a:xfrm>
          <a:prstGeom prst="line">
            <a:avLst/>
          </a:prstGeom>
          <a:ln w="16178">
            <a:solidFill>
              <a:srgbClr val="A6A6A6"/>
            </a:solidFill>
            <a:prstDash val="dash"/>
          </a:ln>
        </p:spPr>
      </p:cxnSp>
      <p:cxnSp>
        <p:nvCxnSpPr>
          <p:cNvPr id="11" name="stage2-bottom-split"/>
          <p:cNvCxnSpPr/>
          <p:nvPr/>
        </p:nvCxnSpPr>
        <p:spPr>
          <a:xfrm>
            <a:off x="9299311" y="4905273"/>
            <a:ext cx="0" cy="1934930"/>
          </a:xfrm>
          <a:prstGeom prst="line">
            <a:avLst/>
          </a:prstGeom>
          <a:ln w="16178">
            <a:solidFill>
              <a:srgbClr val="A6A6A6"/>
            </a:solidFill>
            <a:prstDash val="dash"/>
          </a:ln>
        </p:spPr>
      </p:cxnSp>
      <p:sp>
        <p:nvSpPr>
          <p:cNvPr id="12" name="stage1-title"/>
          <p:cNvSpPr txBox="1"/>
          <p:nvPr/>
        </p:nvSpPr>
        <p:spPr>
          <a:xfrm>
            <a:off x="161783" y="142369"/>
            <a:ext cx="4724076" cy="304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2" b="1" i="0">
                <a:solidFill>
                  <a:srgbClr val="000000"/>
                </a:solidFill>
                <a:latin typeface="DejaVu Sans Condensed"/>
              </a:rPr>
              <a:t>Stage 1: SFT with Reasoning Annotations</a:t>
            </a:r>
          </a:p>
        </p:txBody>
      </p:sp>
      <p:sp>
        <p:nvSpPr>
          <p:cNvPr id="13" name="stage2-title"/>
          <p:cNvSpPr txBox="1"/>
          <p:nvPr/>
        </p:nvSpPr>
        <p:spPr>
          <a:xfrm>
            <a:off x="5733605" y="135898"/>
            <a:ext cx="6083057" cy="31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34" b="1" i="0">
                <a:solidFill>
                  <a:srgbClr val="000000"/>
                </a:solidFill>
                <a:latin typeface="DejaVu Sans Condensed"/>
              </a:rPr>
              <a:t>Stage 2: AVA-GRPO with Video-level Weak Labels</a:t>
            </a:r>
          </a:p>
        </p:txBody>
      </p:sp>
      <p:sp>
        <p:nvSpPr>
          <p:cNvPr id="14" name="s1-video-label-1"/>
          <p:cNvSpPr txBox="1"/>
          <p:nvPr/>
        </p:nvSpPr>
        <p:spPr>
          <a:xfrm>
            <a:off x="213554" y="757146"/>
            <a:ext cx="938344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6" b="1" i="0">
                <a:solidFill>
                  <a:srgbClr val="000000"/>
                </a:solidFill>
                <a:latin typeface="DejaVu Sans Condensed"/>
              </a:rPr>
              <a:t>Untrimmed</a:t>
            </a:r>
          </a:p>
        </p:txBody>
      </p:sp>
      <p:sp>
        <p:nvSpPr>
          <p:cNvPr id="15" name="s1-video-label-2"/>
          <p:cNvSpPr txBox="1"/>
          <p:nvPr/>
        </p:nvSpPr>
        <p:spPr>
          <a:xfrm>
            <a:off x="213554" y="977172"/>
            <a:ext cx="938344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6" b="1" i="0">
                <a:solidFill>
                  <a:srgbClr val="000000"/>
                </a:solidFill>
                <a:latin typeface="DejaVu Sans Condensed"/>
              </a:rPr>
              <a:t>Video</a:t>
            </a:r>
          </a:p>
        </p:txBody>
      </p:sp>
      <p:sp>
        <p:nvSpPr>
          <p:cNvPr id="16" name="s1-video-body"/>
          <p:cNvSpPr/>
          <p:nvPr/>
        </p:nvSpPr>
        <p:spPr>
          <a:xfrm>
            <a:off x="1307210" y="666548"/>
            <a:ext cx="2957401" cy="595363"/>
          </a:xfrm>
          <a:prstGeom prst="rect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-video-perf-top-0"/>
          <p:cNvSpPr/>
          <p:nvPr/>
        </p:nvSpPr>
        <p:spPr>
          <a:xfrm>
            <a:off x="1339567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-video-perf-bottom-0"/>
          <p:cNvSpPr/>
          <p:nvPr/>
        </p:nvSpPr>
        <p:spPr>
          <a:xfrm>
            <a:off x="1339567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-video-perf-top-1"/>
          <p:cNvSpPr/>
          <p:nvPr/>
        </p:nvSpPr>
        <p:spPr>
          <a:xfrm>
            <a:off x="1457863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1-video-perf-bottom-1"/>
          <p:cNvSpPr/>
          <p:nvPr/>
        </p:nvSpPr>
        <p:spPr>
          <a:xfrm>
            <a:off x="1457863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1-video-perf-top-2"/>
          <p:cNvSpPr/>
          <p:nvPr/>
        </p:nvSpPr>
        <p:spPr>
          <a:xfrm>
            <a:off x="1576159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1-video-perf-bottom-2"/>
          <p:cNvSpPr/>
          <p:nvPr/>
        </p:nvSpPr>
        <p:spPr>
          <a:xfrm>
            <a:off x="1576159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1-video-perf-top-3"/>
          <p:cNvSpPr/>
          <p:nvPr/>
        </p:nvSpPr>
        <p:spPr>
          <a:xfrm>
            <a:off x="1694455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-video-perf-bottom-3"/>
          <p:cNvSpPr/>
          <p:nvPr/>
        </p:nvSpPr>
        <p:spPr>
          <a:xfrm>
            <a:off x="1694455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1-video-perf-top-4"/>
          <p:cNvSpPr/>
          <p:nvPr/>
        </p:nvSpPr>
        <p:spPr>
          <a:xfrm>
            <a:off x="1812751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-video-perf-bottom-4"/>
          <p:cNvSpPr/>
          <p:nvPr/>
        </p:nvSpPr>
        <p:spPr>
          <a:xfrm>
            <a:off x="1812751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-video-perf-top-5"/>
          <p:cNvSpPr/>
          <p:nvPr/>
        </p:nvSpPr>
        <p:spPr>
          <a:xfrm>
            <a:off x="1931047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s1-video-perf-bottom-5"/>
          <p:cNvSpPr/>
          <p:nvPr/>
        </p:nvSpPr>
        <p:spPr>
          <a:xfrm>
            <a:off x="1931047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1-video-perf-top-6"/>
          <p:cNvSpPr/>
          <p:nvPr/>
        </p:nvSpPr>
        <p:spPr>
          <a:xfrm>
            <a:off x="2049343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1-video-perf-bottom-6"/>
          <p:cNvSpPr/>
          <p:nvPr/>
        </p:nvSpPr>
        <p:spPr>
          <a:xfrm>
            <a:off x="2049343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1-video-perf-top-7"/>
          <p:cNvSpPr/>
          <p:nvPr/>
        </p:nvSpPr>
        <p:spPr>
          <a:xfrm>
            <a:off x="2167639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s1-video-perf-bottom-7"/>
          <p:cNvSpPr/>
          <p:nvPr/>
        </p:nvSpPr>
        <p:spPr>
          <a:xfrm>
            <a:off x="2167639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1-video-perf-top-8"/>
          <p:cNvSpPr/>
          <p:nvPr/>
        </p:nvSpPr>
        <p:spPr>
          <a:xfrm>
            <a:off x="2285935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-video-perf-bottom-8"/>
          <p:cNvSpPr/>
          <p:nvPr/>
        </p:nvSpPr>
        <p:spPr>
          <a:xfrm>
            <a:off x="2285935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1-video-perf-top-9"/>
          <p:cNvSpPr/>
          <p:nvPr/>
        </p:nvSpPr>
        <p:spPr>
          <a:xfrm>
            <a:off x="2404231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1-video-perf-bottom-9"/>
          <p:cNvSpPr/>
          <p:nvPr/>
        </p:nvSpPr>
        <p:spPr>
          <a:xfrm>
            <a:off x="2404231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s1-video-perf-top-10"/>
          <p:cNvSpPr/>
          <p:nvPr/>
        </p:nvSpPr>
        <p:spPr>
          <a:xfrm>
            <a:off x="2522527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s1-video-perf-bottom-10"/>
          <p:cNvSpPr/>
          <p:nvPr/>
        </p:nvSpPr>
        <p:spPr>
          <a:xfrm>
            <a:off x="2522527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1-video-perf-top-11"/>
          <p:cNvSpPr/>
          <p:nvPr/>
        </p:nvSpPr>
        <p:spPr>
          <a:xfrm>
            <a:off x="2640823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1-video-perf-bottom-11"/>
          <p:cNvSpPr/>
          <p:nvPr/>
        </p:nvSpPr>
        <p:spPr>
          <a:xfrm>
            <a:off x="2640823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1-video-perf-top-12"/>
          <p:cNvSpPr/>
          <p:nvPr/>
        </p:nvSpPr>
        <p:spPr>
          <a:xfrm>
            <a:off x="2759119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1-video-perf-bottom-12"/>
          <p:cNvSpPr/>
          <p:nvPr/>
        </p:nvSpPr>
        <p:spPr>
          <a:xfrm>
            <a:off x="2759119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s1-video-perf-top-13"/>
          <p:cNvSpPr/>
          <p:nvPr/>
        </p:nvSpPr>
        <p:spPr>
          <a:xfrm>
            <a:off x="2877415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s1-video-perf-bottom-13"/>
          <p:cNvSpPr/>
          <p:nvPr/>
        </p:nvSpPr>
        <p:spPr>
          <a:xfrm>
            <a:off x="2877415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s1-video-perf-top-14"/>
          <p:cNvSpPr/>
          <p:nvPr/>
        </p:nvSpPr>
        <p:spPr>
          <a:xfrm>
            <a:off x="2995711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s1-video-perf-bottom-14"/>
          <p:cNvSpPr/>
          <p:nvPr/>
        </p:nvSpPr>
        <p:spPr>
          <a:xfrm>
            <a:off x="2995711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-video-perf-top-15"/>
          <p:cNvSpPr/>
          <p:nvPr/>
        </p:nvSpPr>
        <p:spPr>
          <a:xfrm>
            <a:off x="3114007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s1-video-perf-bottom-15"/>
          <p:cNvSpPr/>
          <p:nvPr/>
        </p:nvSpPr>
        <p:spPr>
          <a:xfrm>
            <a:off x="3114007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s1-video-perf-top-16"/>
          <p:cNvSpPr/>
          <p:nvPr/>
        </p:nvSpPr>
        <p:spPr>
          <a:xfrm>
            <a:off x="3232303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s1-video-perf-bottom-16"/>
          <p:cNvSpPr/>
          <p:nvPr/>
        </p:nvSpPr>
        <p:spPr>
          <a:xfrm>
            <a:off x="3232303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s1-video-perf-top-17"/>
          <p:cNvSpPr/>
          <p:nvPr/>
        </p:nvSpPr>
        <p:spPr>
          <a:xfrm>
            <a:off x="3350599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s1-video-perf-bottom-17"/>
          <p:cNvSpPr/>
          <p:nvPr/>
        </p:nvSpPr>
        <p:spPr>
          <a:xfrm>
            <a:off x="3350599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s1-video-perf-top-18"/>
          <p:cNvSpPr/>
          <p:nvPr/>
        </p:nvSpPr>
        <p:spPr>
          <a:xfrm>
            <a:off x="3468896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s1-video-perf-bottom-18"/>
          <p:cNvSpPr/>
          <p:nvPr/>
        </p:nvSpPr>
        <p:spPr>
          <a:xfrm>
            <a:off x="3468896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1-video-perf-top-19"/>
          <p:cNvSpPr/>
          <p:nvPr/>
        </p:nvSpPr>
        <p:spPr>
          <a:xfrm>
            <a:off x="3587192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s1-video-perf-bottom-19"/>
          <p:cNvSpPr/>
          <p:nvPr/>
        </p:nvSpPr>
        <p:spPr>
          <a:xfrm>
            <a:off x="3587192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s1-video-perf-top-20"/>
          <p:cNvSpPr/>
          <p:nvPr/>
        </p:nvSpPr>
        <p:spPr>
          <a:xfrm>
            <a:off x="3705488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s1-video-perf-bottom-20"/>
          <p:cNvSpPr/>
          <p:nvPr/>
        </p:nvSpPr>
        <p:spPr>
          <a:xfrm>
            <a:off x="3705488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s1-video-perf-top-21"/>
          <p:cNvSpPr/>
          <p:nvPr/>
        </p:nvSpPr>
        <p:spPr>
          <a:xfrm>
            <a:off x="3823784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s1-video-perf-bottom-21"/>
          <p:cNvSpPr/>
          <p:nvPr/>
        </p:nvSpPr>
        <p:spPr>
          <a:xfrm>
            <a:off x="3823784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s1-video-perf-top-22"/>
          <p:cNvSpPr/>
          <p:nvPr/>
        </p:nvSpPr>
        <p:spPr>
          <a:xfrm>
            <a:off x="3942080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s1-video-perf-bottom-22"/>
          <p:cNvSpPr/>
          <p:nvPr/>
        </p:nvSpPr>
        <p:spPr>
          <a:xfrm>
            <a:off x="3942080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s1-video-perf-top-23"/>
          <p:cNvSpPr/>
          <p:nvPr/>
        </p:nvSpPr>
        <p:spPr>
          <a:xfrm>
            <a:off x="4060376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s1-video-perf-bottom-23"/>
          <p:cNvSpPr/>
          <p:nvPr/>
        </p:nvSpPr>
        <p:spPr>
          <a:xfrm>
            <a:off x="4060376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s1-video-perf-top-24"/>
          <p:cNvSpPr/>
          <p:nvPr/>
        </p:nvSpPr>
        <p:spPr>
          <a:xfrm>
            <a:off x="4178672" y="699293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s1-video-perf-bottom-24"/>
          <p:cNvSpPr/>
          <p:nvPr/>
        </p:nvSpPr>
        <p:spPr>
          <a:xfrm>
            <a:off x="4178672" y="1184514"/>
            <a:ext cx="65063" cy="44652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" name="s1-video-frame-0" descr="surveillance-fram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038" y="797528"/>
            <a:ext cx="561753" cy="357218"/>
          </a:xfrm>
          <a:prstGeom prst="rect">
            <a:avLst/>
          </a:prstGeom>
        </p:spPr>
      </p:pic>
      <p:sp>
        <p:nvSpPr>
          <p:cNvPr id="68" name="s1-video-frame-border-0"/>
          <p:cNvSpPr/>
          <p:nvPr/>
        </p:nvSpPr>
        <p:spPr>
          <a:xfrm>
            <a:off x="1346038" y="797528"/>
            <a:ext cx="561753" cy="357218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9" name="s1-video-frame-1" descr="surveillance-frame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536" y="797528"/>
            <a:ext cx="561753" cy="357218"/>
          </a:xfrm>
          <a:prstGeom prst="rect">
            <a:avLst/>
          </a:prstGeom>
        </p:spPr>
      </p:pic>
      <p:sp>
        <p:nvSpPr>
          <p:cNvPr id="70" name="s1-video-frame-border-1"/>
          <p:cNvSpPr/>
          <p:nvPr/>
        </p:nvSpPr>
        <p:spPr>
          <a:xfrm>
            <a:off x="1925536" y="797528"/>
            <a:ext cx="561753" cy="357218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1" name="s1-video-frame-2" descr="surveillance-frame-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034" y="797528"/>
            <a:ext cx="561753" cy="357218"/>
          </a:xfrm>
          <a:prstGeom prst="rect">
            <a:avLst/>
          </a:prstGeom>
        </p:spPr>
      </p:pic>
      <p:sp>
        <p:nvSpPr>
          <p:cNvPr id="72" name="s1-video-frame-border-2"/>
          <p:cNvSpPr/>
          <p:nvPr/>
        </p:nvSpPr>
        <p:spPr>
          <a:xfrm>
            <a:off x="2505034" y="797528"/>
            <a:ext cx="561753" cy="357218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3" name="s1-video-frame-3" descr="surveillance-frame-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4532" y="797528"/>
            <a:ext cx="561753" cy="357218"/>
          </a:xfrm>
          <a:prstGeom prst="rect">
            <a:avLst/>
          </a:prstGeom>
        </p:spPr>
      </p:pic>
      <p:sp>
        <p:nvSpPr>
          <p:cNvPr id="74" name="s1-video-frame-border-3"/>
          <p:cNvSpPr/>
          <p:nvPr/>
        </p:nvSpPr>
        <p:spPr>
          <a:xfrm>
            <a:off x="3084532" y="797528"/>
            <a:ext cx="561753" cy="357218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5" name="s1-video-frame-4" descr="surveillance-frame-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4030" y="797528"/>
            <a:ext cx="561753" cy="357218"/>
          </a:xfrm>
          <a:prstGeom prst="rect">
            <a:avLst/>
          </a:prstGeom>
        </p:spPr>
      </p:pic>
      <p:sp>
        <p:nvSpPr>
          <p:cNvPr id="76" name="s1-video-frame-border-4"/>
          <p:cNvSpPr/>
          <p:nvPr/>
        </p:nvSpPr>
        <p:spPr>
          <a:xfrm>
            <a:off x="3664030" y="797528"/>
            <a:ext cx="561753" cy="357218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7" name="s1-video-to-model"/>
          <p:cNvCxnSpPr/>
          <p:nvPr/>
        </p:nvCxnSpPr>
        <p:spPr>
          <a:xfrm>
            <a:off x="2685605" y="1281325"/>
            <a:ext cx="0" cy="220025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78" name="s1-prompt-label"/>
          <p:cNvSpPr txBox="1"/>
          <p:nvPr/>
        </p:nvSpPr>
        <p:spPr>
          <a:xfrm>
            <a:off x="375338" y="1598420"/>
            <a:ext cx="724790" cy="271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6" b="1" i="0">
                <a:solidFill>
                  <a:srgbClr val="000000"/>
                </a:solidFill>
                <a:latin typeface="DejaVu Sans Condensed"/>
              </a:rPr>
              <a:t>Prompt</a:t>
            </a:r>
          </a:p>
        </p:txBody>
      </p:sp>
      <p:sp>
        <p:nvSpPr>
          <p:cNvPr id="79" name="s1-presenter-board"/>
          <p:cNvSpPr/>
          <p:nvPr/>
        </p:nvSpPr>
        <p:spPr>
          <a:xfrm>
            <a:off x="1269806" y="1572535"/>
            <a:ext cx="261571" cy="161395"/>
          </a:xfrm>
          <a:prstGeom prst="rect">
            <a:avLst/>
          </a:prstGeom>
          <a:solidFill>
            <a:srgbClr val="DAEEF9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0" name="s1-presenter-board-line1"/>
          <p:cNvCxnSpPr/>
          <p:nvPr/>
        </p:nvCxnSpPr>
        <p:spPr>
          <a:xfrm>
            <a:off x="1331025" y="1617058"/>
            <a:ext cx="155829" cy="0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81" name="s1-presenter-board-line2"/>
          <p:cNvCxnSpPr/>
          <p:nvPr/>
        </p:nvCxnSpPr>
        <p:spPr>
          <a:xfrm>
            <a:off x="1353286" y="1650450"/>
            <a:ext cx="116872" cy="0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82" name="s1-presenter-pointer"/>
          <p:cNvCxnSpPr/>
          <p:nvPr/>
        </p:nvCxnSpPr>
        <p:spPr>
          <a:xfrm flipV="1">
            <a:off x="1280936" y="1683842"/>
            <a:ext cx="139134" cy="150264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83" name="s1-presenter-hair"/>
          <p:cNvSpPr/>
          <p:nvPr/>
        </p:nvSpPr>
        <p:spPr>
          <a:xfrm>
            <a:off x="1158499" y="1672711"/>
            <a:ext cx="172526" cy="217049"/>
          </a:xfrm>
          <a:prstGeom prst="ellipse">
            <a:avLst/>
          </a:prstGeom>
          <a:solidFill>
            <a:srgbClr val="29292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s1-presenter-face"/>
          <p:cNvSpPr/>
          <p:nvPr/>
        </p:nvSpPr>
        <p:spPr>
          <a:xfrm>
            <a:off x="1197456" y="1683842"/>
            <a:ext cx="122438" cy="144699"/>
          </a:xfrm>
          <a:prstGeom prst="ellipse">
            <a:avLst/>
          </a:prstGeom>
          <a:solidFill>
            <a:srgbClr val="F7C7AC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s1-presenter-body"/>
          <p:cNvSpPr/>
          <p:nvPr/>
        </p:nvSpPr>
        <p:spPr>
          <a:xfrm>
            <a:off x="1158499" y="1811845"/>
            <a:ext cx="217049" cy="172526"/>
          </a:xfrm>
          <a:prstGeom prst="roundRect">
            <a:avLst>
              <a:gd name="adj" fmla="val 22580"/>
            </a:avLst>
          </a:prstGeom>
          <a:solidFill>
            <a:srgbClr val="92D050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6" name="s1-presenter-shirt-left"/>
          <p:cNvCxnSpPr/>
          <p:nvPr/>
        </p:nvCxnSpPr>
        <p:spPr>
          <a:xfrm>
            <a:off x="1219718" y="1822976"/>
            <a:ext cx="38957" cy="144699"/>
          </a:xfrm>
          <a:prstGeom prst="line">
            <a:avLst/>
          </a:prstGeom>
          <a:ln w="9707">
            <a:solidFill>
              <a:srgbClr val="000000"/>
            </a:solidFill>
          </a:ln>
        </p:spPr>
      </p:cxnSp>
      <p:cxnSp>
        <p:nvCxnSpPr>
          <p:cNvPr id="87" name="s1-presenter-shirt-right"/>
          <p:cNvCxnSpPr/>
          <p:nvPr/>
        </p:nvCxnSpPr>
        <p:spPr>
          <a:xfrm flipH="1">
            <a:off x="1258675" y="1822976"/>
            <a:ext cx="50088" cy="144699"/>
          </a:xfrm>
          <a:prstGeom prst="line">
            <a:avLst/>
          </a:prstGeom>
          <a:ln w="9707">
            <a:solidFill>
              <a:srgbClr val="000000"/>
            </a:solidFill>
          </a:ln>
        </p:spPr>
      </p:cxnSp>
      <p:cxnSp>
        <p:nvCxnSpPr>
          <p:cNvPr id="88" name="s1-presenter-collar"/>
          <p:cNvCxnSpPr/>
          <p:nvPr/>
        </p:nvCxnSpPr>
        <p:spPr>
          <a:xfrm>
            <a:off x="1241979" y="1822976"/>
            <a:ext cx="38957" cy="55653"/>
          </a:xfrm>
          <a:prstGeom prst="line">
            <a:avLst/>
          </a:prstGeom>
          <a:ln w="9707">
            <a:solidFill>
              <a:srgbClr val="000000"/>
            </a:solidFill>
          </a:ln>
        </p:spPr>
      </p:cxnSp>
      <p:cxnSp>
        <p:nvCxnSpPr>
          <p:cNvPr id="89" name="s1-prompt-arrow"/>
          <p:cNvCxnSpPr/>
          <p:nvPr/>
        </p:nvCxnSpPr>
        <p:spPr>
          <a:xfrm>
            <a:off x="1604892" y="1786089"/>
            <a:ext cx="634191" cy="0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90" name="s1-mllm-ear-left"/>
          <p:cNvSpPr/>
          <p:nvPr/>
        </p:nvSpPr>
        <p:spPr>
          <a:xfrm>
            <a:off x="2368509" y="1676594"/>
            <a:ext cx="69890" cy="209671"/>
          </a:xfrm>
          <a:prstGeom prst="roundRect">
            <a:avLst>
              <a:gd name="adj" fmla="val 25000"/>
            </a:avLst>
          </a:prstGeom>
          <a:solidFill>
            <a:srgbClr val="5BC0EB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s1-mllm-ear-right"/>
          <p:cNvSpPr/>
          <p:nvPr/>
        </p:nvSpPr>
        <p:spPr>
          <a:xfrm>
            <a:off x="2857742" y="1676594"/>
            <a:ext cx="69890" cy="209671"/>
          </a:xfrm>
          <a:prstGeom prst="roundRect">
            <a:avLst>
              <a:gd name="adj" fmla="val 25000"/>
            </a:avLst>
          </a:prstGeom>
          <a:solidFill>
            <a:srgbClr val="5BC0EB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2" name="s1-mllm-antenna"/>
          <p:cNvCxnSpPr/>
          <p:nvPr/>
        </p:nvCxnSpPr>
        <p:spPr>
          <a:xfrm>
            <a:off x="2648071" y="1564769"/>
            <a:ext cx="0" cy="76880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93" name="s1-mllm-dot-0"/>
          <p:cNvSpPr/>
          <p:nvPr/>
        </p:nvSpPr>
        <p:spPr>
          <a:xfrm>
            <a:off x="2543235" y="1529824"/>
            <a:ext cx="41934" cy="41934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s1-mllm-dot-1"/>
          <p:cNvSpPr/>
          <p:nvPr/>
        </p:nvSpPr>
        <p:spPr>
          <a:xfrm>
            <a:off x="2613126" y="1515846"/>
            <a:ext cx="41934" cy="41934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s1-mllm-dot-2"/>
          <p:cNvSpPr/>
          <p:nvPr/>
        </p:nvSpPr>
        <p:spPr>
          <a:xfrm>
            <a:off x="2683016" y="1529824"/>
            <a:ext cx="41934" cy="41934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s1-mllm-dot-3"/>
          <p:cNvSpPr/>
          <p:nvPr/>
        </p:nvSpPr>
        <p:spPr>
          <a:xfrm>
            <a:off x="2752907" y="1515846"/>
            <a:ext cx="41934" cy="41934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s1-mllm-head"/>
          <p:cNvSpPr/>
          <p:nvPr/>
        </p:nvSpPr>
        <p:spPr>
          <a:xfrm>
            <a:off x="2417433" y="1620682"/>
            <a:ext cx="461277" cy="363430"/>
          </a:xfrm>
          <a:prstGeom prst="roundRect">
            <a:avLst>
              <a:gd name="adj" fmla="val 23076"/>
            </a:avLst>
          </a:prstGeom>
          <a:solidFill>
            <a:srgbClr val="8FD8F9"/>
          </a:solidFill>
          <a:ln w="1617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s1-mllm-screen"/>
          <p:cNvSpPr/>
          <p:nvPr/>
        </p:nvSpPr>
        <p:spPr>
          <a:xfrm>
            <a:off x="2473345" y="1662616"/>
            <a:ext cx="349452" cy="251606"/>
          </a:xfrm>
          <a:prstGeom prst="roundRect">
            <a:avLst>
              <a:gd name="adj" fmla="val 22222"/>
            </a:avLst>
          </a:prstGeom>
          <a:solidFill>
            <a:srgbClr val="DAEEF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s1-mllm-eye-left"/>
          <p:cNvSpPr/>
          <p:nvPr/>
        </p:nvSpPr>
        <p:spPr>
          <a:xfrm>
            <a:off x="2529257" y="1725517"/>
            <a:ext cx="34945" cy="48923"/>
          </a:xfrm>
          <a:prstGeom prst="ellipse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s1-mllm-eye-right"/>
          <p:cNvSpPr/>
          <p:nvPr/>
        </p:nvSpPr>
        <p:spPr>
          <a:xfrm>
            <a:off x="2731940" y="1725517"/>
            <a:ext cx="34945" cy="48923"/>
          </a:xfrm>
          <a:prstGeom prst="ellipse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1" name="s1-mllm-mouth"/>
          <p:cNvCxnSpPr/>
          <p:nvPr/>
        </p:nvCxnSpPr>
        <p:spPr>
          <a:xfrm>
            <a:off x="2599148" y="1837342"/>
            <a:ext cx="90857" cy="0"/>
          </a:xfrm>
          <a:prstGeom prst="line">
            <a:avLst/>
          </a:prstGeom>
          <a:ln w="11001">
            <a:solidFill>
              <a:srgbClr val="000000"/>
            </a:solidFill>
          </a:ln>
        </p:spPr>
      </p:cxnSp>
      <p:cxnSp>
        <p:nvCxnSpPr>
          <p:cNvPr id="102" name="s1-mllm-cheek-left"/>
          <p:cNvCxnSpPr/>
          <p:nvPr/>
        </p:nvCxnSpPr>
        <p:spPr>
          <a:xfrm>
            <a:off x="2494312" y="1816375"/>
            <a:ext cx="48923" cy="0"/>
          </a:xfrm>
          <a:prstGeom prst="line">
            <a:avLst/>
          </a:prstGeom>
          <a:ln w="8412">
            <a:solidFill>
              <a:srgbClr val="2E75B6"/>
            </a:solidFill>
          </a:ln>
        </p:spPr>
      </p:cxnSp>
      <p:cxnSp>
        <p:nvCxnSpPr>
          <p:cNvPr id="103" name="s1-mllm-cheek-right"/>
          <p:cNvCxnSpPr/>
          <p:nvPr/>
        </p:nvCxnSpPr>
        <p:spPr>
          <a:xfrm>
            <a:off x="2752907" y="1816375"/>
            <a:ext cx="48923" cy="0"/>
          </a:xfrm>
          <a:prstGeom prst="line">
            <a:avLst/>
          </a:prstGeom>
          <a:ln w="8412">
            <a:solidFill>
              <a:srgbClr val="2E75B6"/>
            </a:solidFill>
          </a:ln>
        </p:spPr>
      </p:cxnSp>
      <p:sp>
        <p:nvSpPr>
          <p:cNvPr id="104" name="s1-mllm-neck"/>
          <p:cNvSpPr/>
          <p:nvPr/>
        </p:nvSpPr>
        <p:spPr>
          <a:xfrm>
            <a:off x="2599148" y="1984112"/>
            <a:ext cx="97847" cy="62901"/>
          </a:xfrm>
          <a:prstGeom prst="rect">
            <a:avLst/>
          </a:prstGeom>
          <a:solidFill>
            <a:srgbClr val="8FD8F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s1-mllm-base"/>
          <p:cNvSpPr/>
          <p:nvPr/>
        </p:nvSpPr>
        <p:spPr>
          <a:xfrm>
            <a:off x="2501301" y="2040024"/>
            <a:ext cx="300529" cy="90858"/>
          </a:xfrm>
          <a:prstGeom prst="roundRect">
            <a:avLst>
              <a:gd name="adj" fmla="val 15384"/>
            </a:avLst>
          </a:prstGeom>
          <a:solidFill>
            <a:srgbClr val="8FD8F9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s1-mllm-ai"/>
          <p:cNvSpPr txBox="1"/>
          <p:nvPr/>
        </p:nvSpPr>
        <p:spPr>
          <a:xfrm>
            <a:off x="2564203" y="2033035"/>
            <a:ext cx="125803" cy="76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85" b="1" i="0">
                <a:solidFill>
                  <a:srgbClr val="000000"/>
                </a:solidFill>
                <a:latin typeface="DejaVu Sans Condensed"/>
              </a:rPr>
              <a:t>AI</a:t>
            </a:r>
          </a:p>
        </p:txBody>
      </p:sp>
      <p:sp>
        <p:nvSpPr>
          <p:cNvPr id="107" name="s1-mllm-flame-outer"/>
          <p:cNvSpPr/>
          <p:nvPr/>
        </p:nvSpPr>
        <p:spPr>
          <a:xfrm>
            <a:off x="2829786" y="1533738"/>
            <a:ext cx="137544" cy="183393"/>
          </a:xfrm>
          <a:prstGeom prst="ellipse">
            <a:avLst/>
          </a:prstGeom>
          <a:solidFill>
            <a:srgbClr val="FF3B30"/>
          </a:solidFill>
          <a:ln w="1164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s1-mllm-flame-inner"/>
          <p:cNvSpPr/>
          <p:nvPr/>
        </p:nvSpPr>
        <p:spPr>
          <a:xfrm>
            <a:off x="2869903" y="1591048"/>
            <a:ext cx="57310" cy="97427"/>
          </a:xfrm>
          <a:prstGeom prst="ellipse">
            <a:avLst/>
          </a:prstGeom>
          <a:solidFill>
            <a:srgbClr val="FFC000"/>
          </a:solidFill>
          <a:ln w="6471">
            <a:solidFill>
              <a:srgbClr val="C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9" name="s1-mllm-flame-tip1"/>
          <p:cNvCxnSpPr/>
          <p:nvPr/>
        </p:nvCxnSpPr>
        <p:spPr>
          <a:xfrm flipV="1">
            <a:off x="2852710" y="1487890"/>
            <a:ext cx="40117" cy="80234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cxnSp>
        <p:nvCxnSpPr>
          <p:cNvPr id="110" name="s1-mllm-flame-tip2"/>
          <p:cNvCxnSpPr/>
          <p:nvPr/>
        </p:nvCxnSpPr>
        <p:spPr>
          <a:xfrm>
            <a:off x="2892827" y="1487890"/>
            <a:ext cx="17193" cy="91696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cxnSp>
        <p:nvCxnSpPr>
          <p:cNvPr id="111" name="s1-mllm-flame-tip3"/>
          <p:cNvCxnSpPr/>
          <p:nvPr/>
        </p:nvCxnSpPr>
        <p:spPr>
          <a:xfrm flipV="1">
            <a:off x="2910020" y="1516545"/>
            <a:ext cx="40118" cy="63041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sp>
        <p:nvSpPr>
          <p:cNvPr id="112" name="s1-mllm-label"/>
          <p:cNvSpPr txBox="1"/>
          <p:nvPr/>
        </p:nvSpPr>
        <p:spPr>
          <a:xfrm>
            <a:off x="3164484" y="1456051"/>
            <a:ext cx="724790" cy="2912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000000"/>
                </a:solidFill>
                <a:latin typeface="DejaVu Sans Condensed"/>
              </a:rPr>
              <a:t>MLLM</a:t>
            </a:r>
          </a:p>
        </p:txBody>
      </p:sp>
      <p:cxnSp>
        <p:nvCxnSpPr>
          <p:cNvPr id="113" name="s1-reason-arrow"/>
          <p:cNvCxnSpPr/>
          <p:nvPr/>
        </p:nvCxnSpPr>
        <p:spPr>
          <a:xfrm>
            <a:off x="2685605" y="2200255"/>
            <a:ext cx="0" cy="213554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114" name="s1-reason-task"/>
          <p:cNvSpPr txBox="1"/>
          <p:nvPr/>
        </p:nvSpPr>
        <p:spPr>
          <a:xfrm>
            <a:off x="485350" y="2180841"/>
            <a:ext cx="2103185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000000"/>
                </a:solidFill>
                <a:latin typeface="DejaVu Sans Condensed"/>
              </a:rPr>
              <a:t>Perform Anomaly Reasoning</a:t>
            </a:r>
          </a:p>
        </p:txBody>
      </p:sp>
      <p:sp>
        <p:nvSpPr>
          <p:cNvPr id="115" name="s1-completion-label"/>
          <p:cNvSpPr txBox="1"/>
          <p:nvPr/>
        </p:nvSpPr>
        <p:spPr>
          <a:xfrm>
            <a:off x="213554" y="2614420"/>
            <a:ext cx="905987" cy="2523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6" b="1" i="0">
                <a:solidFill>
                  <a:srgbClr val="000000"/>
                </a:solidFill>
                <a:latin typeface="DejaVu Sans Condensed"/>
              </a:rPr>
              <a:t>Completion</a:t>
            </a:r>
          </a:p>
        </p:txBody>
      </p:sp>
      <p:sp>
        <p:nvSpPr>
          <p:cNvPr id="116" name="s1-completion-note-body"/>
          <p:cNvSpPr/>
          <p:nvPr/>
        </p:nvSpPr>
        <p:spPr>
          <a:xfrm>
            <a:off x="1216611" y="2439694"/>
            <a:ext cx="3552764" cy="68596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s1-completion-note-cover"/>
          <p:cNvSpPr/>
          <p:nvPr/>
        </p:nvSpPr>
        <p:spPr>
          <a:xfrm>
            <a:off x="4478165" y="2433223"/>
            <a:ext cx="304153" cy="3041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8" name="s1-completion-note-fold-diag"/>
          <p:cNvCxnSpPr/>
          <p:nvPr/>
        </p:nvCxnSpPr>
        <p:spPr>
          <a:xfrm>
            <a:off x="4491108" y="2439694"/>
            <a:ext cx="278267" cy="278268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cxnSp>
        <p:nvCxnSpPr>
          <p:cNvPr id="119" name="s1-completion-note-fold-left"/>
          <p:cNvCxnSpPr/>
          <p:nvPr/>
        </p:nvCxnSpPr>
        <p:spPr>
          <a:xfrm>
            <a:off x="4491108" y="2439694"/>
            <a:ext cx="0" cy="278268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cxnSp>
        <p:nvCxnSpPr>
          <p:cNvPr id="120" name="s1-completion-note-fold-bottom"/>
          <p:cNvCxnSpPr/>
          <p:nvPr/>
        </p:nvCxnSpPr>
        <p:spPr>
          <a:xfrm>
            <a:off x="4491108" y="2717962"/>
            <a:ext cx="278267" cy="0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121" name="s1-comp-line1"/>
          <p:cNvSpPr txBox="1"/>
          <p:nvPr/>
        </p:nvSpPr>
        <p:spPr>
          <a:xfrm>
            <a:off x="1320153" y="2465579"/>
            <a:ext cx="3300382" cy="200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000000"/>
                </a:solidFill>
                <a:latin typeface="DejaVu Sans Condensed"/>
              </a:rPr>
              <a:t>&lt;think&gt;The video shows ... &lt;/think&gt;</a:t>
            </a:r>
          </a:p>
        </p:txBody>
      </p:sp>
      <p:sp>
        <p:nvSpPr>
          <p:cNvPr id="122" name="s1-comp-line2"/>
          <p:cNvSpPr txBox="1"/>
          <p:nvPr/>
        </p:nvSpPr>
        <p:spPr>
          <a:xfrm>
            <a:off x="1320153" y="2659720"/>
            <a:ext cx="3365095" cy="200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1" b="0" i="0">
                <a:solidFill>
                  <a:srgbClr val="000000"/>
                </a:solidFill>
                <a:latin typeface="DejaVu Sans Condensed"/>
              </a:rPr>
              <a:t>&lt;answer&gt;The anomaly </a:t>
            </a:r>
            <a:r>
              <a:rPr sz="1171" b="0" i="0">
                <a:solidFill>
                  <a:srgbClr val="FF0000"/>
                </a:solidFill>
                <a:latin typeface="DejaVu Sans Condensed"/>
              </a:rPr>
              <a:t>occurred in</a:t>
            </a:r>
            <a:r>
              <a:rPr sz="1171" b="0" i="0">
                <a:solidFill>
                  <a:srgbClr val="000000"/>
                </a:solidFill>
                <a:latin typeface="DejaVu Sans Condensed"/>
              </a:rPr>
              <a:t> the video is</a:t>
            </a:r>
          </a:p>
        </p:txBody>
      </p:sp>
      <p:sp>
        <p:nvSpPr>
          <p:cNvPr id="123" name="s1-comp-line3"/>
          <p:cNvSpPr txBox="1"/>
          <p:nvPr/>
        </p:nvSpPr>
        <p:spPr>
          <a:xfrm>
            <a:off x="1320153" y="2853860"/>
            <a:ext cx="3365095" cy="200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000000"/>
                </a:solidFill>
                <a:latin typeface="DejaVu Sans Condensed"/>
              </a:rPr>
              <a:t>Fighting ... </a:t>
            </a:r>
            <a:r>
              <a:rPr sz="1146" b="0" i="0">
                <a:solidFill>
                  <a:srgbClr val="FF0000"/>
                </a:solidFill>
                <a:latin typeface="DejaVu Sans Condensed"/>
              </a:rPr>
              <a:t>a physical altercation</a:t>
            </a:r>
            <a:r>
              <a:rPr sz="1146" b="0" i="0">
                <a:solidFill>
                  <a:srgbClr val="000000"/>
                </a:solidFill>
                <a:latin typeface="DejaVu Sans Condensed"/>
              </a:rPr>
              <a:t> ... &lt;/answer&gt;</a:t>
            </a:r>
          </a:p>
        </p:txBody>
      </p:sp>
      <p:cxnSp>
        <p:nvCxnSpPr>
          <p:cNvPr id="124" name="s1-loss-up"/>
          <p:cNvCxnSpPr/>
          <p:nvPr/>
        </p:nvCxnSpPr>
        <p:spPr>
          <a:xfrm flipV="1">
            <a:off x="2659720" y="3151541"/>
            <a:ext cx="0" cy="336510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cxnSp>
        <p:nvCxnSpPr>
          <p:cNvPr id="125" name="s1-loss-down"/>
          <p:cNvCxnSpPr/>
          <p:nvPr/>
        </p:nvCxnSpPr>
        <p:spPr>
          <a:xfrm>
            <a:off x="2659720" y="3151541"/>
            <a:ext cx="0" cy="336510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126" name="s1-loss-label"/>
          <p:cNvSpPr txBox="1"/>
          <p:nvPr/>
        </p:nvSpPr>
        <p:spPr>
          <a:xfrm>
            <a:off x="2918573" y="3216255"/>
            <a:ext cx="1773146" cy="2459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000000"/>
                </a:solidFill>
                <a:latin typeface="DejaVu Sans Condensed"/>
              </a:rPr>
              <a:t>Token Prediction Loss</a:t>
            </a:r>
          </a:p>
        </p:txBody>
      </p:sp>
      <p:sp>
        <p:nvSpPr>
          <p:cNvPr id="127" name="s1-reasoning-label1"/>
          <p:cNvSpPr txBox="1"/>
          <p:nvPr/>
        </p:nvSpPr>
        <p:spPr>
          <a:xfrm>
            <a:off x="232968" y="3662777"/>
            <a:ext cx="905987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000000"/>
                </a:solidFill>
                <a:latin typeface="DejaVu Sans Condensed"/>
              </a:rPr>
              <a:t>Reasoning</a:t>
            </a:r>
          </a:p>
        </p:txBody>
      </p:sp>
      <p:sp>
        <p:nvSpPr>
          <p:cNvPr id="128" name="s1-reasoning-label2"/>
          <p:cNvSpPr txBox="1"/>
          <p:nvPr/>
        </p:nvSpPr>
        <p:spPr>
          <a:xfrm>
            <a:off x="232968" y="3882802"/>
            <a:ext cx="905987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000000"/>
                </a:solidFill>
                <a:latin typeface="DejaVu Sans Condensed"/>
              </a:rPr>
              <a:t>Annotation</a:t>
            </a:r>
          </a:p>
        </p:txBody>
      </p:sp>
      <p:sp>
        <p:nvSpPr>
          <p:cNvPr id="129" name="s1-annotation-note-body"/>
          <p:cNvSpPr/>
          <p:nvPr/>
        </p:nvSpPr>
        <p:spPr>
          <a:xfrm>
            <a:off x="1216611" y="3539821"/>
            <a:ext cx="3591592" cy="75714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s1-annotation-note-cover"/>
          <p:cNvSpPr/>
          <p:nvPr/>
        </p:nvSpPr>
        <p:spPr>
          <a:xfrm>
            <a:off x="4504051" y="3533350"/>
            <a:ext cx="317096" cy="317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1" name="s1-annotation-note-fold-diag"/>
          <p:cNvCxnSpPr/>
          <p:nvPr/>
        </p:nvCxnSpPr>
        <p:spPr>
          <a:xfrm>
            <a:off x="4516993" y="3539821"/>
            <a:ext cx="291210" cy="291211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cxnSp>
        <p:nvCxnSpPr>
          <p:cNvPr id="132" name="s1-annotation-note-fold-left"/>
          <p:cNvCxnSpPr/>
          <p:nvPr/>
        </p:nvCxnSpPr>
        <p:spPr>
          <a:xfrm>
            <a:off x="4516993" y="3539821"/>
            <a:ext cx="0" cy="291211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cxnSp>
        <p:nvCxnSpPr>
          <p:cNvPr id="133" name="s1-annotation-note-fold-bottom"/>
          <p:cNvCxnSpPr/>
          <p:nvPr/>
        </p:nvCxnSpPr>
        <p:spPr>
          <a:xfrm>
            <a:off x="4516993" y="3831032"/>
            <a:ext cx="291210" cy="0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134" name="s1-ann-line1"/>
          <p:cNvSpPr txBox="1"/>
          <p:nvPr/>
        </p:nvSpPr>
        <p:spPr>
          <a:xfrm>
            <a:off x="1287796" y="3598063"/>
            <a:ext cx="3319796" cy="200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1" b="0" i="0">
                <a:solidFill>
                  <a:srgbClr val="000000"/>
                </a:solidFill>
                <a:latin typeface="DejaVu Sans Condensed"/>
              </a:rPr>
              <a:t>&lt;think&gt;The video shows ... &lt;/think&gt;</a:t>
            </a:r>
          </a:p>
        </p:txBody>
      </p:sp>
      <p:sp>
        <p:nvSpPr>
          <p:cNvPr id="135" name="s1-ann-line2"/>
          <p:cNvSpPr txBox="1"/>
          <p:nvPr/>
        </p:nvSpPr>
        <p:spPr>
          <a:xfrm>
            <a:off x="1287796" y="3798675"/>
            <a:ext cx="3332739" cy="200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000000"/>
                </a:solidFill>
                <a:latin typeface="DejaVu Sans Condensed"/>
              </a:rPr>
              <a:t>&lt;answer&gt;The anomaly </a:t>
            </a:r>
            <a:r>
              <a:rPr sz="1146" b="0" i="0">
                <a:solidFill>
                  <a:srgbClr val="548235"/>
                </a:solidFill>
                <a:latin typeface="DejaVu Sans Condensed"/>
              </a:rPr>
              <a:t>category of</a:t>
            </a:r>
            <a:r>
              <a:rPr sz="1146" b="0" i="0">
                <a:solidFill>
                  <a:srgbClr val="000000"/>
                </a:solidFill>
                <a:latin typeface="DejaVu Sans Condensed"/>
              </a:rPr>
              <a:t> the video is</a:t>
            </a:r>
          </a:p>
        </p:txBody>
      </p:sp>
      <p:sp>
        <p:nvSpPr>
          <p:cNvPr id="136" name="s1-ann-line3"/>
          <p:cNvSpPr txBox="1"/>
          <p:nvPr/>
        </p:nvSpPr>
        <p:spPr>
          <a:xfrm>
            <a:off x="1287796" y="3999286"/>
            <a:ext cx="3332739" cy="200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000000"/>
                </a:solidFill>
                <a:latin typeface="DejaVu Sans Condensed"/>
              </a:rPr>
              <a:t>Fighting ... </a:t>
            </a:r>
            <a:r>
              <a:rPr sz="1146" b="0" i="0">
                <a:solidFill>
                  <a:srgbClr val="548235"/>
                </a:solidFill>
                <a:latin typeface="DejaVu Sans Condensed"/>
              </a:rPr>
              <a:t>two individuals</a:t>
            </a:r>
            <a:r>
              <a:rPr sz="1146" b="0" i="0">
                <a:solidFill>
                  <a:srgbClr val="000000"/>
                </a:solidFill>
                <a:latin typeface="DejaVu Sans Condensed"/>
              </a:rPr>
              <a:t> ... &lt;/answer&gt;</a:t>
            </a:r>
          </a:p>
        </p:txBody>
      </p:sp>
      <p:cxnSp>
        <p:nvCxnSpPr>
          <p:cNvPr id="137" name="s1-update-v"/>
          <p:cNvCxnSpPr/>
          <p:nvPr/>
        </p:nvCxnSpPr>
        <p:spPr>
          <a:xfrm flipV="1">
            <a:off x="4853503" y="1779618"/>
            <a:ext cx="0" cy="1540178"/>
          </a:xfrm>
          <a:prstGeom prst="line">
            <a:avLst/>
          </a:prstGeom>
          <a:ln w="25885">
            <a:solidFill>
              <a:srgbClr val="2E75B6"/>
            </a:solidFill>
            <a:prstDash val="dash"/>
          </a:ln>
        </p:spPr>
      </p:cxnSp>
      <p:cxnSp>
        <p:nvCxnSpPr>
          <p:cNvPr id="138" name="s1-update-h"/>
          <p:cNvCxnSpPr/>
          <p:nvPr/>
        </p:nvCxnSpPr>
        <p:spPr>
          <a:xfrm flipH="1">
            <a:off x="3151541" y="1779618"/>
            <a:ext cx="1701962" cy="0"/>
          </a:xfrm>
          <a:prstGeom prst="line">
            <a:avLst/>
          </a:prstGeom>
          <a:ln w="25885">
            <a:solidFill>
              <a:srgbClr val="2E75B6"/>
            </a:solidFill>
            <a:prstDash val="dash"/>
            <a:tailEnd type="triangle" w="med" len="med"/>
          </a:ln>
        </p:spPr>
      </p:cxnSp>
      <p:sp>
        <p:nvSpPr>
          <p:cNvPr id="139" name="s1-update-label"/>
          <p:cNvSpPr txBox="1"/>
          <p:nvPr/>
        </p:nvSpPr>
        <p:spPr>
          <a:xfrm>
            <a:off x="3513936" y="1799032"/>
            <a:ext cx="776560" cy="2459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2E75B6"/>
                </a:solidFill>
                <a:latin typeface="DejaVu Sans Condensed"/>
              </a:rPr>
              <a:t>Update</a:t>
            </a:r>
          </a:p>
        </p:txBody>
      </p:sp>
      <p:sp>
        <p:nvSpPr>
          <p:cNvPr id="140" name="prompt-title"/>
          <p:cNvSpPr txBox="1"/>
          <p:nvPr/>
        </p:nvSpPr>
        <p:spPr>
          <a:xfrm>
            <a:off x="239439" y="4795261"/>
            <a:ext cx="873631" cy="271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000000"/>
                </a:solidFill>
                <a:latin typeface="DejaVu Sans Condensed"/>
              </a:rPr>
              <a:t>Prompt</a:t>
            </a:r>
          </a:p>
        </p:txBody>
      </p:sp>
      <p:sp>
        <p:nvSpPr>
          <p:cNvPr id="141" name="prompt-presenter-board"/>
          <p:cNvSpPr/>
          <p:nvPr/>
        </p:nvSpPr>
        <p:spPr>
          <a:xfrm>
            <a:off x="507029" y="5183541"/>
            <a:ext cx="319360" cy="197052"/>
          </a:xfrm>
          <a:prstGeom prst="rect">
            <a:avLst/>
          </a:prstGeom>
          <a:solidFill>
            <a:srgbClr val="DAEEF9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2" name="prompt-presenter-board-line1"/>
          <p:cNvCxnSpPr/>
          <p:nvPr/>
        </p:nvCxnSpPr>
        <p:spPr>
          <a:xfrm>
            <a:off x="581773" y="5237900"/>
            <a:ext cx="190258" cy="0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143" name="prompt-presenter-board-line2"/>
          <p:cNvCxnSpPr/>
          <p:nvPr/>
        </p:nvCxnSpPr>
        <p:spPr>
          <a:xfrm>
            <a:off x="608953" y="5278670"/>
            <a:ext cx="142693" cy="0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144" name="prompt-presenter-pointer"/>
          <p:cNvCxnSpPr/>
          <p:nvPr/>
        </p:nvCxnSpPr>
        <p:spPr>
          <a:xfrm flipV="1">
            <a:off x="520619" y="5319439"/>
            <a:ext cx="169873" cy="183462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145" name="prompt-presenter-hair"/>
          <p:cNvSpPr/>
          <p:nvPr/>
        </p:nvSpPr>
        <p:spPr>
          <a:xfrm>
            <a:off x="371131" y="5305849"/>
            <a:ext cx="210642" cy="265001"/>
          </a:xfrm>
          <a:prstGeom prst="ellipse">
            <a:avLst/>
          </a:prstGeom>
          <a:solidFill>
            <a:srgbClr val="29292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prompt-presenter-face"/>
          <p:cNvSpPr/>
          <p:nvPr/>
        </p:nvSpPr>
        <p:spPr>
          <a:xfrm>
            <a:off x="418696" y="5319439"/>
            <a:ext cx="149488" cy="176668"/>
          </a:xfrm>
          <a:prstGeom prst="ellipse">
            <a:avLst/>
          </a:prstGeom>
          <a:solidFill>
            <a:srgbClr val="F7C7AC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prompt-presenter-body"/>
          <p:cNvSpPr/>
          <p:nvPr/>
        </p:nvSpPr>
        <p:spPr>
          <a:xfrm>
            <a:off x="371131" y="5475722"/>
            <a:ext cx="265001" cy="210642"/>
          </a:xfrm>
          <a:prstGeom prst="roundRect">
            <a:avLst>
              <a:gd name="adj" fmla="val 22580"/>
            </a:avLst>
          </a:prstGeom>
          <a:solidFill>
            <a:srgbClr val="92D050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8" name="prompt-presenter-shirt-left"/>
          <p:cNvCxnSpPr/>
          <p:nvPr/>
        </p:nvCxnSpPr>
        <p:spPr>
          <a:xfrm>
            <a:off x="445875" y="5489312"/>
            <a:ext cx="47564" cy="176667"/>
          </a:xfrm>
          <a:prstGeom prst="line">
            <a:avLst/>
          </a:prstGeom>
          <a:ln w="9707">
            <a:solidFill>
              <a:srgbClr val="000000"/>
            </a:solidFill>
          </a:ln>
        </p:spPr>
      </p:cxnSp>
      <p:cxnSp>
        <p:nvCxnSpPr>
          <p:cNvPr id="149" name="prompt-presenter-shirt-right"/>
          <p:cNvCxnSpPr/>
          <p:nvPr/>
        </p:nvCxnSpPr>
        <p:spPr>
          <a:xfrm flipH="1">
            <a:off x="493439" y="5489312"/>
            <a:ext cx="61155" cy="176667"/>
          </a:xfrm>
          <a:prstGeom prst="line">
            <a:avLst/>
          </a:prstGeom>
          <a:ln w="9707">
            <a:solidFill>
              <a:srgbClr val="000000"/>
            </a:solidFill>
          </a:ln>
        </p:spPr>
      </p:cxnSp>
      <p:cxnSp>
        <p:nvCxnSpPr>
          <p:cNvPr id="150" name="prompt-presenter-collar"/>
          <p:cNvCxnSpPr/>
          <p:nvPr/>
        </p:nvCxnSpPr>
        <p:spPr>
          <a:xfrm>
            <a:off x="473055" y="5489312"/>
            <a:ext cx="47564" cy="67949"/>
          </a:xfrm>
          <a:prstGeom prst="line">
            <a:avLst/>
          </a:prstGeom>
          <a:ln w="9707">
            <a:solidFill>
              <a:srgbClr val="000000"/>
            </a:solidFill>
          </a:ln>
        </p:spPr>
      </p:cxnSp>
      <p:sp>
        <p:nvSpPr>
          <p:cNvPr id="151" name="prompt-note-body"/>
          <p:cNvSpPr/>
          <p:nvPr/>
        </p:nvSpPr>
        <p:spPr>
          <a:xfrm>
            <a:off x="1203669" y="4788789"/>
            <a:ext cx="3598063" cy="977172"/>
          </a:xfrm>
          <a:prstGeom prst="roundRect">
            <a:avLst>
              <a:gd name="adj" fmla="val 1986"/>
            </a:avLst>
          </a:prstGeom>
          <a:solidFill>
            <a:srgbClr val="FFFFFF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prompt-note-cover"/>
          <p:cNvSpPr/>
          <p:nvPr/>
        </p:nvSpPr>
        <p:spPr>
          <a:xfrm>
            <a:off x="4497579" y="4782318"/>
            <a:ext cx="317096" cy="317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3" name="prompt-note-fold-diag"/>
          <p:cNvCxnSpPr/>
          <p:nvPr/>
        </p:nvCxnSpPr>
        <p:spPr>
          <a:xfrm>
            <a:off x="4510522" y="4788789"/>
            <a:ext cx="291210" cy="291211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cxnSp>
        <p:nvCxnSpPr>
          <p:cNvPr id="154" name="prompt-note-fold-left"/>
          <p:cNvCxnSpPr/>
          <p:nvPr/>
        </p:nvCxnSpPr>
        <p:spPr>
          <a:xfrm>
            <a:off x="4510522" y="4788789"/>
            <a:ext cx="0" cy="291211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cxnSp>
        <p:nvCxnSpPr>
          <p:cNvPr id="155" name="prompt-note-fold-bottom"/>
          <p:cNvCxnSpPr/>
          <p:nvPr/>
        </p:nvCxnSpPr>
        <p:spPr>
          <a:xfrm>
            <a:off x="4510522" y="5080000"/>
            <a:ext cx="291210" cy="0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156" name="prompt-line1"/>
          <p:cNvSpPr txBox="1"/>
          <p:nvPr/>
        </p:nvSpPr>
        <p:spPr>
          <a:xfrm>
            <a:off x="1274853" y="4879388"/>
            <a:ext cx="3300382" cy="19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Analyze whether the video is abnormal or</a:t>
            </a:r>
          </a:p>
        </p:txBody>
      </p:sp>
      <p:sp>
        <p:nvSpPr>
          <p:cNvPr id="157" name="prompt-line2"/>
          <p:cNvSpPr txBox="1"/>
          <p:nvPr/>
        </p:nvSpPr>
        <p:spPr>
          <a:xfrm>
            <a:off x="1274853" y="5073528"/>
            <a:ext cx="3300382" cy="19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normal, </a:t>
            </a:r>
            <a:r>
              <a:rPr sz="1121" b="0" i="0">
                <a:solidFill>
                  <a:srgbClr val="00AEEF"/>
                </a:solidFill>
                <a:latin typeface="DejaVu Sans Condensed"/>
              </a:rPr>
              <a:t>think before answering</a:t>
            </a:r>
            <a:r>
              <a:rPr sz="1121" b="0" i="0">
                <a:solidFill>
                  <a:srgbClr val="000000"/>
                </a:solidFill>
                <a:latin typeface="DejaVu Sans Condensed"/>
              </a:rPr>
              <a:t>, generate your</a:t>
            </a:r>
          </a:p>
        </p:txBody>
      </p:sp>
      <p:sp>
        <p:nvSpPr>
          <p:cNvPr id="158" name="prompt-line3"/>
          <p:cNvSpPr txBox="1"/>
          <p:nvPr/>
        </p:nvSpPr>
        <p:spPr>
          <a:xfrm>
            <a:off x="1274853" y="5267668"/>
            <a:ext cx="3300382" cy="19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reasoning process and answer enclosed in</a:t>
            </a:r>
          </a:p>
        </p:txBody>
      </p:sp>
      <p:sp>
        <p:nvSpPr>
          <p:cNvPr id="159" name="prompt-line4"/>
          <p:cNvSpPr txBox="1"/>
          <p:nvPr/>
        </p:nvSpPr>
        <p:spPr>
          <a:xfrm>
            <a:off x="1274853" y="5461808"/>
            <a:ext cx="3365095" cy="19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95" b="0" i="0">
                <a:solidFill>
                  <a:srgbClr val="000000"/>
                </a:solidFill>
                <a:latin typeface="DejaVu Sans Condensed"/>
              </a:rPr>
              <a:t>&lt;think&gt;...&lt;/think&gt; and &lt;answer&gt;...&lt;/answer&gt; tags ...</a:t>
            </a:r>
          </a:p>
        </p:txBody>
      </p:sp>
      <p:sp>
        <p:nvSpPr>
          <p:cNvPr id="160" name="legend-trainable-outer"/>
          <p:cNvSpPr/>
          <p:nvPr/>
        </p:nvSpPr>
        <p:spPr>
          <a:xfrm>
            <a:off x="200611" y="6295058"/>
            <a:ext cx="111825" cy="149100"/>
          </a:xfrm>
          <a:prstGeom prst="ellipse">
            <a:avLst/>
          </a:prstGeom>
          <a:solidFill>
            <a:srgbClr val="FF3B30"/>
          </a:solidFill>
          <a:ln w="1164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legend-trainable-inner"/>
          <p:cNvSpPr/>
          <p:nvPr/>
        </p:nvSpPr>
        <p:spPr>
          <a:xfrm>
            <a:off x="233227" y="6341651"/>
            <a:ext cx="46594" cy="79209"/>
          </a:xfrm>
          <a:prstGeom prst="ellipse">
            <a:avLst/>
          </a:prstGeom>
          <a:solidFill>
            <a:srgbClr val="FFC000"/>
          </a:solidFill>
          <a:ln w="6471">
            <a:solidFill>
              <a:srgbClr val="C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2" name="legend-trainable-tip1"/>
          <p:cNvCxnSpPr/>
          <p:nvPr/>
        </p:nvCxnSpPr>
        <p:spPr>
          <a:xfrm flipV="1">
            <a:off x="219249" y="6257783"/>
            <a:ext cx="32615" cy="65231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cxnSp>
        <p:nvCxnSpPr>
          <p:cNvPr id="163" name="legend-trainable-tip2"/>
          <p:cNvCxnSpPr/>
          <p:nvPr/>
        </p:nvCxnSpPr>
        <p:spPr>
          <a:xfrm>
            <a:off x="251864" y="6257783"/>
            <a:ext cx="13979" cy="74550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cxnSp>
        <p:nvCxnSpPr>
          <p:cNvPr id="164" name="legend-trainable-tip3"/>
          <p:cNvCxnSpPr/>
          <p:nvPr/>
        </p:nvCxnSpPr>
        <p:spPr>
          <a:xfrm flipV="1">
            <a:off x="265843" y="6281080"/>
            <a:ext cx="32615" cy="51253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sp>
        <p:nvSpPr>
          <p:cNvPr id="165" name="legend-trainable-text"/>
          <p:cNvSpPr txBox="1"/>
          <p:nvPr/>
        </p:nvSpPr>
        <p:spPr>
          <a:xfrm>
            <a:off x="427108" y="6212484"/>
            <a:ext cx="834802" cy="2329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1" b="0" i="0">
                <a:solidFill>
                  <a:srgbClr val="000000"/>
                </a:solidFill>
                <a:latin typeface="DejaVu Sans Condensed"/>
              </a:rPr>
              <a:t>Trainable</a:t>
            </a:r>
          </a:p>
        </p:txBody>
      </p:sp>
      <p:sp>
        <p:nvSpPr>
          <p:cNvPr id="166" name="legend-r"/>
          <p:cNvSpPr/>
          <p:nvPr/>
        </p:nvSpPr>
        <p:spPr>
          <a:xfrm>
            <a:off x="1294267" y="6231898"/>
            <a:ext cx="226497" cy="220025"/>
          </a:xfrm>
          <a:prstGeom prst="roundRect">
            <a:avLst>
              <a:gd name="adj" fmla="val 23529"/>
            </a:avLst>
          </a:prstGeom>
          <a:solidFill>
            <a:srgbClr val="00A01A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legend-r-text"/>
          <p:cNvSpPr txBox="1"/>
          <p:nvPr/>
        </p:nvSpPr>
        <p:spPr>
          <a:xfrm>
            <a:off x="1294267" y="6231898"/>
            <a:ext cx="226497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R</a:t>
            </a:r>
          </a:p>
        </p:txBody>
      </p:sp>
      <p:sp>
        <p:nvSpPr>
          <p:cNvPr id="168" name="legend-reward-text"/>
          <p:cNvSpPr txBox="1"/>
          <p:nvPr/>
        </p:nvSpPr>
        <p:spPr>
          <a:xfrm>
            <a:off x="1559592" y="6212484"/>
            <a:ext cx="750675" cy="2329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1" b="0" i="0">
                <a:solidFill>
                  <a:srgbClr val="000000"/>
                </a:solidFill>
                <a:latin typeface="DejaVu Sans Condensed"/>
              </a:rPr>
              <a:t>Rewards</a:t>
            </a:r>
          </a:p>
        </p:txBody>
      </p:sp>
      <p:sp>
        <p:nvSpPr>
          <p:cNvPr id="169" name="legend-d"/>
          <p:cNvSpPr/>
          <p:nvPr/>
        </p:nvSpPr>
        <p:spPr>
          <a:xfrm>
            <a:off x="2303796" y="6231898"/>
            <a:ext cx="226497" cy="220025"/>
          </a:xfrm>
          <a:prstGeom prst="roundRect">
            <a:avLst>
              <a:gd name="adj" fmla="val 23529"/>
            </a:avLst>
          </a:prstGeom>
          <a:solidFill>
            <a:srgbClr val="9DC3E6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legend-d-text"/>
          <p:cNvSpPr txBox="1"/>
          <p:nvPr/>
        </p:nvSpPr>
        <p:spPr>
          <a:xfrm>
            <a:off x="2303796" y="6231898"/>
            <a:ext cx="226497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D</a:t>
            </a:r>
          </a:p>
        </p:txBody>
      </p:sp>
      <p:sp>
        <p:nvSpPr>
          <p:cNvPr id="171" name="legend-kl-text"/>
          <p:cNvSpPr txBox="1"/>
          <p:nvPr/>
        </p:nvSpPr>
        <p:spPr>
          <a:xfrm>
            <a:off x="2569121" y="6212484"/>
            <a:ext cx="1184255" cy="2329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1" b="0" i="0">
                <a:solidFill>
                  <a:srgbClr val="000000"/>
                </a:solidFill>
                <a:latin typeface="DejaVu Sans Condensed"/>
              </a:rPr>
              <a:t>KL Divergence</a:t>
            </a:r>
          </a:p>
        </p:txBody>
      </p:sp>
      <p:sp>
        <p:nvSpPr>
          <p:cNvPr id="172" name="legend-a"/>
          <p:cNvSpPr/>
          <p:nvPr/>
        </p:nvSpPr>
        <p:spPr>
          <a:xfrm>
            <a:off x="3785732" y="6231898"/>
            <a:ext cx="226497" cy="220025"/>
          </a:xfrm>
          <a:prstGeom prst="roundRect">
            <a:avLst>
              <a:gd name="adj" fmla="val 23529"/>
            </a:avLst>
          </a:prstGeom>
          <a:solidFill>
            <a:srgbClr val="FFE699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legend-a-text"/>
          <p:cNvSpPr txBox="1"/>
          <p:nvPr/>
        </p:nvSpPr>
        <p:spPr>
          <a:xfrm>
            <a:off x="3785732" y="6231898"/>
            <a:ext cx="226497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A</a:t>
            </a:r>
          </a:p>
        </p:txBody>
      </p:sp>
      <p:sp>
        <p:nvSpPr>
          <p:cNvPr id="174" name="legend-adv-text"/>
          <p:cNvSpPr txBox="1"/>
          <p:nvPr/>
        </p:nvSpPr>
        <p:spPr>
          <a:xfrm>
            <a:off x="4051057" y="6212484"/>
            <a:ext cx="815388" cy="2329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1" b="0" i="0">
                <a:solidFill>
                  <a:srgbClr val="000000"/>
                </a:solidFill>
                <a:latin typeface="DejaVu Sans Condensed"/>
              </a:rPr>
              <a:t>Advantage</a:t>
            </a:r>
          </a:p>
        </p:txBody>
      </p:sp>
      <p:cxnSp>
        <p:nvCxnSpPr>
          <p:cNvPr id="175" name="legend-frozen-axis-0"/>
          <p:cNvCxnSpPr/>
          <p:nvPr/>
        </p:nvCxnSpPr>
        <p:spPr>
          <a:xfrm>
            <a:off x="187669" y="6646063"/>
            <a:ext cx="207083" cy="0"/>
          </a:xfrm>
          <a:prstGeom prst="line">
            <a:avLst/>
          </a:prstGeom>
          <a:ln w="12942">
            <a:solidFill>
              <a:srgbClr val="2E75B6"/>
            </a:solidFill>
          </a:ln>
        </p:spPr>
      </p:cxnSp>
      <p:cxnSp>
        <p:nvCxnSpPr>
          <p:cNvPr id="176" name="legend-frozen-branch-0--1--0.55"/>
          <p:cNvCxnSpPr/>
          <p:nvPr/>
        </p:nvCxnSpPr>
        <p:spPr>
          <a:xfrm flipV="1">
            <a:off x="187669" y="6622386"/>
            <a:ext cx="38619" cy="23677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177" name="legend-frozen-branch-0--1-0.55"/>
          <p:cNvCxnSpPr/>
          <p:nvPr/>
        </p:nvCxnSpPr>
        <p:spPr>
          <a:xfrm>
            <a:off x="187669" y="6646063"/>
            <a:ext cx="38619" cy="23678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178" name="legend-frozen-branch-0-1--0.55"/>
          <p:cNvCxnSpPr/>
          <p:nvPr/>
        </p:nvCxnSpPr>
        <p:spPr>
          <a:xfrm flipH="1">
            <a:off x="356133" y="6646063"/>
            <a:ext cx="38619" cy="23678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179" name="legend-frozen-branch-0-1-0.55"/>
          <p:cNvCxnSpPr/>
          <p:nvPr/>
        </p:nvCxnSpPr>
        <p:spPr>
          <a:xfrm flipH="1" flipV="1">
            <a:off x="356133" y="6622386"/>
            <a:ext cx="38619" cy="23677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180" name="legend-frozen-axis-1"/>
          <p:cNvCxnSpPr/>
          <p:nvPr/>
        </p:nvCxnSpPr>
        <p:spPr>
          <a:xfrm>
            <a:off x="239439" y="6556394"/>
            <a:ext cx="103542" cy="179339"/>
          </a:xfrm>
          <a:prstGeom prst="line">
            <a:avLst/>
          </a:prstGeom>
          <a:ln w="12942">
            <a:solidFill>
              <a:srgbClr val="2E75B6"/>
            </a:solidFill>
          </a:ln>
        </p:spPr>
      </p:cxnSp>
      <p:cxnSp>
        <p:nvCxnSpPr>
          <p:cNvPr id="181" name="legend-frozen-branch-1--1--0.55"/>
          <p:cNvCxnSpPr/>
          <p:nvPr/>
        </p:nvCxnSpPr>
        <p:spPr>
          <a:xfrm>
            <a:off x="239439" y="6556394"/>
            <a:ext cx="39815" cy="21606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182" name="legend-frozen-branch-1--1-0.55"/>
          <p:cNvCxnSpPr/>
          <p:nvPr/>
        </p:nvCxnSpPr>
        <p:spPr>
          <a:xfrm flipH="1">
            <a:off x="238244" y="6556394"/>
            <a:ext cx="1195" cy="45283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183" name="legend-frozen-branch-1-1--0.55"/>
          <p:cNvCxnSpPr/>
          <p:nvPr/>
        </p:nvCxnSpPr>
        <p:spPr>
          <a:xfrm flipH="1" flipV="1">
            <a:off x="303166" y="6714126"/>
            <a:ext cx="39815" cy="21607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184" name="legend-frozen-branch-1-1-0.55"/>
          <p:cNvCxnSpPr/>
          <p:nvPr/>
        </p:nvCxnSpPr>
        <p:spPr>
          <a:xfrm flipV="1">
            <a:off x="342981" y="6690449"/>
            <a:ext cx="1196" cy="45284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185" name="legend-frozen-axis-2"/>
          <p:cNvCxnSpPr/>
          <p:nvPr/>
        </p:nvCxnSpPr>
        <p:spPr>
          <a:xfrm flipH="1">
            <a:off x="239439" y="6556394"/>
            <a:ext cx="103542" cy="179339"/>
          </a:xfrm>
          <a:prstGeom prst="line">
            <a:avLst/>
          </a:prstGeom>
          <a:ln w="12942">
            <a:solidFill>
              <a:srgbClr val="2E75B6"/>
            </a:solidFill>
          </a:ln>
        </p:spPr>
      </p:cxnSp>
      <p:cxnSp>
        <p:nvCxnSpPr>
          <p:cNvPr id="186" name="legend-frozen-branch-2--1--0.55"/>
          <p:cNvCxnSpPr/>
          <p:nvPr/>
        </p:nvCxnSpPr>
        <p:spPr>
          <a:xfrm>
            <a:off x="342981" y="6556394"/>
            <a:ext cx="1196" cy="45283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187" name="legend-frozen-branch-2--1-0.55"/>
          <p:cNvCxnSpPr/>
          <p:nvPr/>
        </p:nvCxnSpPr>
        <p:spPr>
          <a:xfrm flipH="1">
            <a:off x="303166" y="6556394"/>
            <a:ext cx="39815" cy="21606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188" name="legend-frozen-branch-2-1--0.55"/>
          <p:cNvCxnSpPr/>
          <p:nvPr/>
        </p:nvCxnSpPr>
        <p:spPr>
          <a:xfrm flipH="1" flipV="1">
            <a:off x="238244" y="6690449"/>
            <a:ext cx="1195" cy="45284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189" name="legend-frozen-branch-2-1-0.55"/>
          <p:cNvCxnSpPr/>
          <p:nvPr/>
        </p:nvCxnSpPr>
        <p:spPr>
          <a:xfrm flipV="1">
            <a:off x="239439" y="6714126"/>
            <a:ext cx="39815" cy="21607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sp>
        <p:nvSpPr>
          <p:cNvPr id="190" name="legend-frozen-text"/>
          <p:cNvSpPr txBox="1"/>
          <p:nvPr/>
        </p:nvSpPr>
        <p:spPr>
          <a:xfrm>
            <a:off x="440051" y="6529579"/>
            <a:ext cx="627720" cy="2329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1" b="0" i="0">
                <a:solidFill>
                  <a:srgbClr val="000000"/>
                </a:solidFill>
                <a:latin typeface="DejaVu Sans Condensed"/>
              </a:rPr>
              <a:t>Frozen</a:t>
            </a:r>
          </a:p>
        </p:txBody>
      </p:sp>
      <p:sp>
        <p:nvSpPr>
          <p:cNvPr id="191" name="legend-mean"/>
          <p:cNvSpPr/>
          <p:nvPr/>
        </p:nvSpPr>
        <p:spPr>
          <a:xfrm>
            <a:off x="1048357" y="6536050"/>
            <a:ext cx="504764" cy="220025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legend-mean-text"/>
          <p:cNvSpPr txBox="1"/>
          <p:nvPr/>
        </p:nvSpPr>
        <p:spPr>
          <a:xfrm>
            <a:off x="1048357" y="6536050"/>
            <a:ext cx="504764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Mean</a:t>
            </a:r>
          </a:p>
        </p:txBody>
      </p:sp>
      <p:sp>
        <p:nvSpPr>
          <p:cNvPr id="193" name="legend-std"/>
          <p:cNvSpPr/>
          <p:nvPr/>
        </p:nvSpPr>
        <p:spPr>
          <a:xfrm>
            <a:off x="1604892" y="6536050"/>
            <a:ext cx="401223" cy="220025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legend-std-text"/>
          <p:cNvSpPr txBox="1"/>
          <p:nvPr/>
        </p:nvSpPr>
        <p:spPr>
          <a:xfrm>
            <a:off x="1604892" y="6536050"/>
            <a:ext cx="401223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Std</a:t>
            </a:r>
          </a:p>
        </p:txBody>
      </p:sp>
      <p:sp>
        <p:nvSpPr>
          <p:cNvPr id="195" name="legend-stats-text"/>
          <p:cNvSpPr txBox="1"/>
          <p:nvPr/>
        </p:nvSpPr>
        <p:spPr>
          <a:xfrm>
            <a:off x="2044943" y="6529579"/>
            <a:ext cx="2815032" cy="2329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000000"/>
                </a:solidFill>
                <a:latin typeface="DejaVu Sans Condensed"/>
              </a:rPr>
              <a:t>Mean &amp; Standard Deviation of Rewards</a:t>
            </a:r>
          </a:p>
        </p:txBody>
      </p:sp>
      <p:sp>
        <p:nvSpPr>
          <p:cNvPr id="196" name="step1-heading"/>
          <p:cNvSpPr txBox="1"/>
          <p:nvPr/>
        </p:nvSpPr>
        <p:spPr>
          <a:xfrm>
            <a:off x="5312968" y="569478"/>
            <a:ext cx="3332739" cy="2847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9" b="1" i="0">
                <a:solidFill>
                  <a:srgbClr val="000000"/>
                </a:solidFill>
                <a:latin typeface="DejaVu Sans Condensed"/>
              </a:rPr>
              <a:t>Step 1: Generating Completions</a:t>
            </a:r>
          </a:p>
        </p:txBody>
      </p:sp>
      <p:cxnSp>
        <p:nvCxnSpPr>
          <p:cNvPr id="197" name="step1-underline"/>
          <p:cNvCxnSpPr/>
          <p:nvPr/>
        </p:nvCxnSpPr>
        <p:spPr>
          <a:xfrm>
            <a:off x="5312968" y="841274"/>
            <a:ext cx="3196840" cy="0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198" name="s2-video-body"/>
          <p:cNvSpPr/>
          <p:nvPr/>
        </p:nvSpPr>
        <p:spPr>
          <a:xfrm>
            <a:off x="5306496" y="938344"/>
            <a:ext cx="2685605" cy="530650"/>
          </a:xfrm>
          <a:prstGeom prst="rect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s2-video-perf-top-0"/>
          <p:cNvSpPr/>
          <p:nvPr/>
        </p:nvSpPr>
        <p:spPr>
          <a:xfrm>
            <a:off x="5338853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s2-video-perf-bottom-0"/>
          <p:cNvSpPr/>
          <p:nvPr/>
        </p:nvSpPr>
        <p:spPr>
          <a:xfrm>
            <a:off x="5338853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s2-video-perf-top-1"/>
          <p:cNvSpPr/>
          <p:nvPr/>
        </p:nvSpPr>
        <p:spPr>
          <a:xfrm>
            <a:off x="5455618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s2-video-perf-bottom-1"/>
          <p:cNvSpPr/>
          <p:nvPr/>
        </p:nvSpPr>
        <p:spPr>
          <a:xfrm>
            <a:off x="5455618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s2-video-perf-top-2"/>
          <p:cNvSpPr/>
          <p:nvPr/>
        </p:nvSpPr>
        <p:spPr>
          <a:xfrm>
            <a:off x="5572384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s2-video-perf-bottom-2"/>
          <p:cNvSpPr/>
          <p:nvPr/>
        </p:nvSpPr>
        <p:spPr>
          <a:xfrm>
            <a:off x="5572384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s2-video-perf-top-3"/>
          <p:cNvSpPr/>
          <p:nvPr/>
        </p:nvSpPr>
        <p:spPr>
          <a:xfrm>
            <a:off x="5689149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s2-video-perf-bottom-3"/>
          <p:cNvSpPr/>
          <p:nvPr/>
        </p:nvSpPr>
        <p:spPr>
          <a:xfrm>
            <a:off x="5689149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s2-video-perf-top-4"/>
          <p:cNvSpPr/>
          <p:nvPr/>
        </p:nvSpPr>
        <p:spPr>
          <a:xfrm>
            <a:off x="5805915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s2-video-perf-bottom-4"/>
          <p:cNvSpPr/>
          <p:nvPr/>
        </p:nvSpPr>
        <p:spPr>
          <a:xfrm>
            <a:off x="5805915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s2-video-perf-top-5"/>
          <p:cNvSpPr/>
          <p:nvPr/>
        </p:nvSpPr>
        <p:spPr>
          <a:xfrm>
            <a:off x="5922680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s2-video-perf-bottom-5"/>
          <p:cNvSpPr/>
          <p:nvPr/>
        </p:nvSpPr>
        <p:spPr>
          <a:xfrm>
            <a:off x="5922680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s2-video-perf-top-6"/>
          <p:cNvSpPr/>
          <p:nvPr/>
        </p:nvSpPr>
        <p:spPr>
          <a:xfrm>
            <a:off x="6039446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s2-video-perf-bottom-6"/>
          <p:cNvSpPr/>
          <p:nvPr/>
        </p:nvSpPr>
        <p:spPr>
          <a:xfrm>
            <a:off x="6039446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s2-video-perf-top-7"/>
          <p:cNvSpPr/>
          <p:nvPr/>
        </p:nvSpPr>
        <p:spPr>
          <a:xfrm>
            <a:off x="6156211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s2-video-perf-bottom-7"/>
          <p:cNvSpPr/>
          <p:nvPr/>
        </p:nvSpPr>
        <p:spPr>
          <a:xfrm>
            <a:off x="6156211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s2-video-perf-top-8"/>
          <p:cNvSpPr/>
          <p:nvPr/>
        </p:nvSpPr>
        <p:spPr>
          <a:xfrm>
            <a:off x="6272977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s2-video-perf-bottom-8"/>
          <p:cNvSpPr/>
          <p:nvPr/>
        </p:nvSpPr>
        <p:spPr>
          <a:xfrm>
            <a:off x="6272977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s2-video-perf-top-9"/>
          <p:cNvSpPr/>
          <p:nvPr/>
        </p:nvSpPr>
        <p:spPr>
          <a:xfrm>
            <a:off x="6389742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s2-video-perf-bottom-9"/>
          <p:cNvSpPr/>
          <p:nvPr/>
        </p:nvSpPr>
        <p:spPr>
          <a:xfrm>
            <a:off x="6389742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s2-video-perf-top-10"/>
          <p:cNvSpPr/>
          <p:nvPr/>
        </p:nvSpPr>
        <p:spPr>
          <a:xfrm>
            <a:off x="6506507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s2-video-perf-bottom-10"/>
          <p:cNvSpPr/>
          <p:nvPr/>
        </p:nvSpPr>
        <p:spPr>
          <a:xfrm>
            <a:off x="6506507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s2-video-perf-top-11"/>
          <p:cNvSpPr/>
          <p:nvPr/>
        </p:nvSpPr>
        <p:spPr>
          <a:xfrm>
            <a:off x="6623273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s2-video-perf-bottom-11"/>
          <p:cNvSpPr/>
          <p:nvPr/>
        </p:nvSpPr>
        <p:spPr>
          <a:xfrm>
            <a:off x="6623273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s2-video-perf-top-12"/>
          <p:cNvSpPr/>
          <p:nvPr/>
        </p:nvSpPr>
        <p:spPr>
          <a:xfrm>
            <a:off x="6740038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s2-video-perf-bottom-12"/>
          <p:cNvSpPr/>
          <p:nvPr/>
        </p:nvSpPr>
        <p:spPr>
          <a:xfrm>
            <a:off x="6740038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s2-video-perf-top-13"/>
          <p:cNvSpPr/>
          <p:nvPr/>
        </p:nvSpPr>
        <p:spPr>
          <a:xfrm>
            <a:off x="6856804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s2-video-perf-bottom-13"/>
          <p:cNvSpPr/>
          <p:nvPr/>
        </p:nvSpPr>
        <p:spPr>
          <a:xfrm>
            <a:off x="6856804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s2-video-perf-top-14"/>
          <p:cNvSpPr/>
          <p:nvPr/>
        </p:nvSpPr>
        <p:spPr>
          <a:xfrm>
            <a:off x="6973569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s2-video-perf-bottom-14"/>
          <p:cNvSpPr/>
          <p:nvPr/>
        </p:nvSpPr>
        <p:spPr>
          <a:xfrm>
            <a:off x="6973569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s2-video-perf-top-15"/>
          <p:cNvSpPr/>
          <p:nvPr/>
        </p:nvSpPr>
        <p:spPr>
          <a:xfrm>
            <a:off x="7090335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s2-video-perf-bottom-15"/>
          <p:cNvSpPr/>
          <p:nvPr/>
        </p:nvSpPr>
        <p:spPr>
          <a:xfrm>
            <a:off x="7090335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s2-video-perf-top-16"/>
          <p:cNvSpPr/>
          <p:nvPr/>
        </p:nvSpPr>
        <p:spPr>
          <a:xfrm>
            <a:off x="7207100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s2-video-perf-bottom-16"/>
          <p:cNvSpPr/>
          <p:nvPr/>
        </p:nvSpPr>
        <p:spPr>
          <a:xfrm>
            <a:off x="7207100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s2-video-perf-top-17"/>
          <p:cNvSpPr/>
          <p:nvPr/>
        </p:nvSpPr>
        <p:spPr>
          <a:xfrm>
            <a:off x="7323865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s2-video-perf-bottom-17"/>
          <p:cNvSpPr/>
          <p:nvPr/>
        </p:nvSpPr>
        <p:spPr>
          <a:xfrm>
            <a:off x="7323865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s2-video-perf-top-18"/>
          <p:cNvSpPr/>
          <p:nvPr/>
        </p:nvSpPr>
        <p:spPr>
          <a:xfrm>
            <a:off x="7440631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s2-video-perf-bottom-18"/>
          <p:cNvSpPr/>
          <p:nvPr/>
        </p:nvSpPr>
        <p:spPr>
          <a:xfrm>
            <a:off x="7440631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s2-video-perf-top-19"/>
          <p:cNvSpPr/>
          <p:nvPr/>
        </p:nvSpPr>
        <p:spPr>
          <a:xfrm>
            <a:off x="7557396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s2-video-perf-bottom-19"/>
          <p:cNvSpPr/>
          <p:nvPr/>
        </p:nvSpPr>
        <p:spPr>
          <a:xfrm>
            <a:off x="7557396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s2-video-perf-top-20"/>
          <p:cNvSpPr/>
          <p:nvPr/>
        </p:nvSpPr>
        <p:spPr>
          <a:xfrm>
            <a:off x="7674162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s2-video-perf-bottom-20"/>
          <p:cNvSpPr/>
          <p:nvPr/>
        </p:nvSpPr>
        <p:spPr>
          <a:xfrm>
            <a:off x="7674162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s2-video-perf-top-21"/>
          <p:cNvSpPr/>
          <p:nvPr/>
        </p:nvSpPr>
        <p:spPr>
          <a:xfrm>
            <a:off x="7790927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s2-video-perf-bottom-21"/>
          <p:cNvSpPr/>
          <p:nvPr/>
        </p:nvSpPr>
        <p:spPr>
          <a:xfrm>
            <a:off x="7790927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s2-video-perf-top-22"/>
          <p:cNvSpPr/>
          <p:nvPr/>
        </p:nvSpPr>
        <p:spPr>
          <a:xfrm>
            <a:off x="7907693" y="967530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s2-video-perf-bottom-22"/>
          <p:cNvSpPr/>
          <p:nvPr/>
        </p:nvSpPr>
        <p:spPr>
          <a:xfrm>
            <a:off x="7907693" y="1400009"/>
            <a:ext cx="64221" cy="39799"/>
          </a:xfrm>
          <a:prstGeom prst="roundRect">
            <a:avLst>
              <a:gd name="adj" fmla="val 1626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5" name="s2-video-frame-0" descr="surveillance-fram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324" y="1055087"/>
            <a:ext cx="508699" cy="318390"/>
          </a:xfrm>
          <a:prstGeom prst="rect">
            <a:avLst/>
          </a:prstGeom>
        </p:spPr>
      </p:pic>
      <p:sp>
        <p:nvSpPr>
          <p:cNvPr id="246" name="s2-video-frame-border-0"/>
          <p:cNvSpPr/>
          <p:nvPr/>
        </p:nvSpPr>
        <p:spPr>
          <a:xfrm>
            <a:off x="5345324" y="1055087"/>
            <a:ext cx="508699" cy="318390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7" name="s2-video-frame-1" descr="surveillance-frame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137" y="1055087"/>
            <a:ext cx="508699" cy="318390"/>
          </a:xfrm>
          <a:prstGeom prst="rect">
            <a:avLst/>
          </a:prstGeom>
        </p:spPr>
      </p:pic>
      <p:sp>
        <p:nvSpPr>
          <p:cNvPr id="248" name="s2-video-frame-border-1"/>
          <p:cNvSpPr/>
          <p:nvPr/>
        </p:nvSpPr>
        <p:spPr>
          <a:xfrm>
            <a:off x="5870137" y="1055087"/>
            <a:ext cx="508699" cy="318390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9" name="s2-video-frame-2" descr="surveillance-frame-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949" y="1055087"/>
            <a:ext cx="508699" cy="318390"/>
          </a:xfrm>
          <a:prstGeom prst="rect">
            <a:avLst/>
          </a:prstGeom>
        </p:spPr>
      </p:pic>
      <p:sp>
        <p:nvSpPr>
          <p:cNvPr id="250" name="s2-video-frame-border-2"/>
          <p:cNvSpPr/>
          <p:nvPr/>
        </p:nvSpPr>
        <p:spPr>
          <a:xfrm>
            <a:off x="6394949" y="1055087"/>
            <a:ext cx="508699" cy="318390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1" name="s2-video-frame-3" descr="surveillance-frame-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9762" y="1055087"/>
            <a:ext cx="508699" cy="318390"/>
          </a:xfrm>
          <a:prstGeom prst="rect">
            <a:avLst/>
          </a:prstGeom>
        </p:spPr>
      </p:pic>
      <p:sp>
        <p:nvSpPr>
          <p:cNvPr id="252" name="s2-video-frame-border-3"/>
          <p:cNvSpPr/>
          <p:nvPr/>
        </p:nvSpPr>
        <p:spPr>
          <a:xfrm>
            <a:off x="6919762" y="1055087"/>
            <a:ext cx="508699" cy="318390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3" name="s2-video-frame-4" descr="surveillance-frame-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4574" y="1055087"/>
            <a:ext cx="508699" cy="318390"/>
          </a:xfrm>
          <a:prstGeom prst="rect">
            <a:avLst/>
          </a:prstGeom>
        </p:spPr>
      </p:pic>
      <p:sp>
        <p:nvSpPr>
          <p:cNvPr id="254" name="s2-video-frame-border-4"/>
          <p:cNvSpPr/>
          <p:nvPr/>
        </p:nvSpPr>
        <p:spPr>
          <a:xfrm>
            <a:off x="7444574" y="1055087"/>
            <a:ext cx="508699" cy="318390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s2-video-label"/>
          <p:cNvSpPr txBox="1"/>
          <p:nvPr/>
        </p:nvSpPr>
        <p:spPr>
          <a:xfrm>
            <a:off x="5837146" y="1494879"/>
            <a:ext cx="1650191" cy="187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DejaVu Sans Condensed"/>
              </a:rPr>
              <a:t>Untrimmed Video</a:t>
            </a:r>
          </a:p>
        </p:txBody>
      </p:sp>
      <p:sp>
        <p:nvSpPr>
          <p:cNvPr id="256" name="step1-plus"/>
          <p:cNvSpPr txBox="1"/>
          <p:nvPr/>
        </p:nvSpPr>
        <p:spPr>
          <a:xfrm>
            <a:off x="8037401" y="1061299"/>
            <a:ext cx="323567" cy="3235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87" b="1" i="0">
                <a:solidFill>
                  <a:srgbClr val="000000"/>
                </a:solidFill>
                <a:latin typeface="DejaVu Sans Condensed"/>
              </a:rPr>
              <a:t>+</a:t>
            </a:r>
          </a:p>
        </p:txBody>
      </p:sp>
      <p:sp>
        <p:nvSpPr>
          <p:cNvPr id="257" name="s2-presenter-board"/>
          <p:cNvSpPr/>
          <p:nvPr/>
        </p:nvSpPr>
        <p:spPr>
          <a:xfrm>
            <a:off x="8488323" y="957758"/>
            <a:ext cx="255488" cy="157642"/>
          </a:xfrm>
          <a:prstGeom prst="rect">
            <a:avLst/>
          </a:prstGeom>
          <a:solidFill>
            <a:srgbClr val="DAEEF9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8" name="s2-presenter-board-line1"/>
          <p:cNvCxnSpPr/>
          <p:nvPr/>
        </p:nvCxnSpPr>
        <p:spPr>
          <a:xfrm>
            <a:off x="8548119" y="1001245"/>
            <a:ext cx="152205" cy="0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259" name="s2-presenter-board-line2"/>
          <p:cNvCxnSpPr/>
          <p:nvPr/>
        </p:nvCxnSpPr>
        <p:spPr>
          <a:xfrm>
            <a:off x="8569862" y="1033861"/>
            <a:ext cx="114155" cy="0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260" name="s2-presenter-pointer"/>
          <p:cNvCxnSpPr/>
          <p:nvPr/>
        </p:nvCxnSpPr>
        <p:spPr>
          <a:xfrm flipV="1">
            <a:off x="8499195" y="1066476"/>
            <a:ext cx="135898" cy="146770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261" name="s2-presenter-hair"/>
          <p:cNvSpPr/>
          <p:nvPr/>
        </p:nvSpPr>
        <p:spPr>
          <a:xfrm>
            <a:off x="8379605" y="1055604"/>
            <a:ext cx="168514" cy="212001"/>
          </a:xfrm>
          <a:prstGeom prst="ellipse">
            <a:avLst/>
          </a:prstGeom>
          <a:solidFill>
            <a:srgbClr val="29292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s2-presenter-face"/>
          <p:cNvSpPr/>
          <p:nvPr/>
        </p:nvSpPr>
        <p:spPr>
          <a:xfrm>
            <a:off x="8417656" y="1066476"/>
            <a:ext cx="119590" cy="141334"/>
          </a:xfrm>
          <a:prstGeom prst="ellipse">
            <a:avLst/>
          </a:prstGeom>
          <a:solidFill>
            <a:srgbClr val="F7C7AC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s2-presenter-body"/>
          <p:cNvSpPr/>
          <p:nvPr/>
        </p:nvSpPr>
        <p:spPr>
          <a:xfrm>
            <a:off x="8379605" y="1191503"/>
            <a:ext cx="212001" cy="168514"/>
          </a:xfrm>
          <a:prstGeom prst="roundRect">
            <a:avLst>
              <a:gd name="adj" fmla="val 22580"/>
            </a:avLst>
          </a:prstGeom>
          <a:solidFill>
            <a:srgbClr val="92D050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4" name="s2-presenter-shirt-left"/>
          <p:cNvCxnSpPr/>
          <p:nvPr/>
        </p:nvCxnSpPr>
        <p:spPr>
          <a:xfrm>
            <a:off x="8439400" y="1202374"/>
            <a:ext cx="38052" cy="141334"/>
          </a:xfrm>
          <a:prstGeom prst="line">
            <a:avLst/>
          </a:prstGeom>
          <a:ln w="9707">
            <a:solidFill>
              <a:srgbClr val="000000"/>
            </a:solidFill>
          </a:ln>
        </p:spPr>
      </p:cxnSp>
      <p:cxnSp>
        <p:nvCxnSpPr>
          <p:cNvPr id="265" name="s2-presenter-shirt-right"/>
          <p:cNvCxnSpPr/>
          <p:nvPr/>
        </p:nvCxnSpPr>
        <p:spPr>
          <a:xfrm flipH="1">
            <a:off x="8477452" y="1202374"/>
            <a:ext cx="48923" cy="141334"/>
          </a:xfrm>
          <a:prstGeom prst="line">
            <a:avLst/>
          </a:prstGeom>
          <a:ln w="9707">
            <a:solidFill>
              <a:srgbClr val="000000"/>
            </a:solidFill>
          </a:ln>
        </p:spPr>
      </p:cxnSp>
      <p:cxnSp>
        <p:nvCxnSpPr>
          <p:cNvPr id="266" name="s2-presenter-collar"/>
          <p:cNvCxnSpPr/>
          <p:nvPr/>
        </p:nvCxnSpPr>
        <p:spPr>
          <a:xfrm>
            <a:off x="8461144" y="1202374"/>
            <a:ext cx="38051" cy="54360"/>
          </a:xfrm>
          <a:prstGeom prst="line">
            <a:avLst/>
          </a:prstGeom>
          <a:ln w="9707">
            <a:solidFill>
              <a:srgbClr val="000000"/>
            </a:solidFill>
          </a:ln>
        </p:spPr>
      </p:cxnSp>
      <p:sp>
        <p:nvSpPr>
          <p:cNvPr id="267" name="s2-prompt-label"/>
          <p:cNvSpPr txBox="1"/>
          <p:nvPr/>
        </p:nvSpPr>
        <p:spPr>
          <a:xfrm>
            <a:off x="8270369" y="1404280"/>
            <a:ext cx="582420" cy="2588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1" i="0">
                <a:solidFill>
                  <a:srgbClr val="000000"/>
                </a:solidFill>
                <a:latin typeface="DejaVu Sans Condensed"/>
              </a:rPr>
              <a:t>Prompt</a:t>
            </a:r>
          </a:p>
        </p:txBody>
      </p:sp>
      <p:cxnSp>
        <p:nvCxnSpPr>
          <p:cNvPr id="268" name="s2-input-arrow"/>
          <p:cNvCxnSpPr/>
          <p:nvPr/>
        </p:nvCxnSpPr>
        <p:spPr>
          <a:xfrm>
            <a:off x="8885146" y="1190726"/>
            <a:ext cx="310624" cy="0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269" name="s2-policy-ear-left"/>
          <p:cNvSpPr/>
          <p:nvPr/>
        </p:nvSpPr>
        <p:spPr>
          <a:xfrm>
            <a:off x="9305783" y="897316"/>
            <a:ext cx="58889" cy="176668"/>
          </a:xfrm>
          <a:prstGeom prst="roundRect">
            <a:avLst>
              <a:gd name="adj" fmla="val 25000"/>
            </a:avLst>
          </a:prstGeom>
          <a:solidFill>
            <a:srgbClr val="5BC0EB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s2-policy-ear-right"/>
          <p:cNvSpPr/>
          <p:nvPr/>
        </p:nvSpPr>
        <p:spPr>
          <a:xfrm>
            <a:off x="9718007" y="897316"/>
            <a:ext cx="58889" cy="176668"/>
          </a:xfrm>
          <a:prstGeom prst="roundRect">
            <a:avLst>
              <a:gd name="adj" fmla="val 25000"/>
            </a:avLst>
          </a:prstGeom>
          <a:solidFill>
            <a:srgbClr val="5BC0EB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1" name="s2-policy-antenna"/>
          <p:cNvCxnSpPr/>
          <p:nvPr/>
        </p:nvCxnSpPr>
        <p:spPr>
          <a:xfrm>
            <a:off x="9541339" y="803093"/>
            <a:ext cx="0" cy="64778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272" name="s2-policy-dot-0"/>
          <p:cNvSpPr/>
          <p:nvPr/>
        </p:nvSpPr>
        <p:spPr>
          <a:xfrm>
            <a:off x="9453006" y="773648"/>
            <a:ext cx="35334" cy="35334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s2-policy-dot-1"/>
          <p:cNvSpPr/>
          <p:nvPr/>
        </p:nvSpPr>
        <p:spPr>
          <a:xfrm>
            <a:off x="9511895" y="761871"/>
            <a:ext cx="35334" cy="35334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s2-policy-dot-2"/>
          <p:cNvSpPr/>
          <p:nvPr/>
        </p:nvSpPr>
        <p:spPr>
          <a:xfrm>
            <a:off x="9570784" y="773648"/>
            <a:ext cx="35334" cy="35334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s2-policy-dot-3"/>
          <p:cNvSpPr/>
          <p:nvPr/>
        </p:nvSpPr>
        <p:spPr>
          <a:xfrm>
            <a:off x="9629673" y="761871"/>
            <a:ext cx="35334" cy="35334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s2-policy-head"/>
          <p:cNvSpPr/>
          <p:nvPr/>
        </p:nvSpPr>
        <p:spPr>
          <a:xfrm>
            <a:off x="9347005" y="850204"/>
            <a:ext cx="388669" cy="306224"/>
          </a:xfrm>
          <a:prstGeom prst="roundRect">
            <a:avLst>
              <a:gd name="adj" fmla="val 23076"/>
            </a:avLst>
          </a:prstGeom>
          <a:solidFill>
            <a:srgbClr val="8FD8F9"/>
          </a:solidFill>
          <a:ln w="1617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s2-policy-screen"/>
          <p:cNvSpPr/>
          <p:nvPr/>
        </p:nvSpPr>
        <p:spPr>
          <a:xfrm>
            <a:off x="9394116" y="885538"/>
            <a:ext cx="294446" cy="212001"/>
          </a:xfrm>
          <a:prstGeom prst="roundRect">
            <a:avLst>
              <a:gd name="adj" fmla="val 22222"/>
            </a:avLst>
          </a:prstGeom>
          <a:solidFill>
            <a:srgbClr val="DAEEF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s2-policy-eye-left"/>
          <p:cNvSpPr/>
          <p:nvPr/>
        </p:nvSpPr>
        <p:spPr>
          <a:xfrm>
            <a:off x="9441228" y="938538"/>
            <a:ext cx="29445" cy="41222"/>
          </a:xfrm>
          <a:prstGeom prst="ellipse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s2-policy-eye-right"/>
          <p:cNvSpPr/>
          <p:nvPr/>
        </p:nvSpPr>
        <p:spPr>
          <a:xfrm>
            <a:off x="9612006" y="938538"/>
            <a:ext cx="29445" cy="41222"/>
          </a:xfrm>
          <a:prstGeom prst="ellipse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0" name="s2-policy-mouth"/>
          <p:cNvCxnSpPr/>
          <p:nvPr/>
        </p:nvCxnSpPr>
        <p:spPr>
          <a:xfrm>
            <a:off x="9500117" y="1032761"/>
            <a:ext cx="76556" cy="0"/>
          </a:xfrm>
          <a:prstGeom prst="line">
            <a:avLst/>
          </a:prstGeom>
          <a:ln w="11001">
            <a:solidFill>
              <a:srgbClr val="000000"/>
            </a:solidFill>
          </a:ln>
        </p:spPr>
      </p:cxnSp>
      <p:cxnSp>
        <p:nvCxnSpPr>
          <p:cNvPr id="281" name="s2-policy-cheek-left"/>
          <p:cNvCxnSpPr/>
          <p:nvPr/>
        </p:nvCxnSpPr>
        <p:spPr>
          <a:xfrm>
            <a:off x="9411783" y="1015094"/>
            <a:ext cx="41223" cy="0"/>
          </a:xfrm>
          <a:prstGeom prst="line">
            <a:avLst/>
          </a:prstGeom>
          <a:ln w="8412">
            <a:solidFill>
              <a:srgbClr val="2E75B6"/>
            </a:solidFill>
          </a:ln>
        </p:spPr>
      </p:cxnSp>
      <p:cxnSp>
        <p:nvCxnSpPr>
          <p:cNvPr id="282" name="s2-policy-cheek-right"/>
          <p:cNvCxnSpPr/>
          <p:nvPr/>
        </p:nvCxnSpPr>
        <p:spPr>
          <a:xfrm>
            <a:off x="9629673" y="1015094"/>
            <a:ext cx="41223" cy="0"/>
          </a:xfrm>
          <a:prstGeom prst="line">
            <a:avLst/>
          </a:prstGeom>
          <a:ln w="8412">
            <a:solidFill>
              <a:srgbClr val="2E75B6"/>
            </a:solidFill>
          </a:ln>
        </p:spPr>
      </p:cxnSp>
      <p:sp>
        <p:nvSpPr>
          <p:cNvPr id="283" name="s2-policy-neck"/>
          <p:cNvSpPr/>
          <p:nvPr/>
        </p:nvSpPr>
        <p:spPr>
          <a:xfrm>
            <a:off x="9500117" y="1156428"/>
            <a:ext cx="82445" cy="53000"/>
          </a:xfrm>
          <a:prstGeom prst="rect">
            <a:avLst/>
          </a:prstGeom>
          <a:solidFill>
            <a:srgbClr val="8FD8F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s2-policy-base"/>
          <p:cNvSpPr/>
          <p:nvPr/>
        </p:nvSpPr>
        <p:spPr>
          <a:xfrm>
            <a:off x="9417672" y="1203539"/>
            <a:ext cx="253223" cy="76556"/>
          </a:xfrm>
          <a:prstGeom prst="roundRect">
            <a:avLst>
              <a:gd name="adj" fmla="val 15384"/>
            </a:avLst>
          </a:prstGeom>
          <a:solidFill>
            <a:srgbClr val="8FD8F9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s2-policy-ai"/>
          <p:cNvSpPr txBox="1"/>
          <p:nvPr/>
        </p:nvSpPr>
        <p:spPr>
          <a:xfrm>
            <a:off x="9470672" y="1197650"/>
            <a:ext cx="106001" cy="647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4" b="1" i="0">
                <a:solidFill>
                  <a:srgbClr val="000000"/>
                </a:solidFill>
                <a:latin typeface="DejaVu Sans Condensed"/>
              </a:rPr>
              <a:t>AI</a:t>
            </a:r>
          </a:p>
        </p:txBody>
      </p:sp>
      <p:sp>
        <p:nvSpPr>
          <p:cNvPr id="286" name="s2-policy-flame-outer"/>
          <p:cNvSpPr/>
          <p:nvPr/>
        </p:nvSpPr>
        <p:spPr>
          <a:xfrm>
            <a:off x="9694451" y="776946"/>
            <a:ext cx="115894" cy="154525"/>
          </a:xfrm>
          <a:prstGeom prst="ellipse">
            <a:avLst/>
          </a:prstGeom>
          <a:solidFill>
            <a:srgbClr val="FF3B30"/>
          </a:solidFill>
          <a:ln w="1164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s2-policy-flame-inner"/>
          <p:cNvSpPr/>
          <p:nvPr/>
        </p:nvSpPr>
        <p:spPr>
          <a:xfrm>
            <a:off x="9728254" y="825235"/>
            <a:ext cx="48289" cy="82091"/>
          </a:xfrm>
          <a:prstGeom prst="ellipse">
            <a:avLst/>
          </a:prstGeom>
          <a:solidFill>
            <a:srgbClr val="FFC000"/>
          </a:solidFill>
          <a:ln w="6471">
            <a:solidFill>
              <a:srgbClr val="C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8" name="s2-policy-flame-tip1"/>
          <p:cNvCxnSpPr/>
          <p:nvPr/>
        </p:nvCxnSpPr>
        <p:spPr>
          <a:xfrm flipV="1">
            <a:off x="9713767" y="738315"/>
            <a:ext cx="33802" cy="67605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cxnSp>
        <p:nvCxnSpPr>
          <p:cNvPr id="289" name="s2-policy-flame-tip2"/>
          <p:cNvCxnSpPr/>
          <p:nvPr/>
        </p:nvCxnSpPr>
        <p:spPr>
          <a:xfrm>
            <a:off x="9747569" y="738315"/>
            <a:ext cx="14487" cy="77262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cxnSp>
        <p:nvCxnSpPr>
          <p:cNvPr id="290" name="s2-policy-flame-tip3"/>
          <p:cNvCxnSpPr/>
          <p:nvPr/>
        </p:nvCxnSpPr>
        <p:spPr>
          <a:xfrm flipV="1">
            <a:off x="9762056" y="762459"/>
            <a:ext cx="33802" cy="53118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sp>
        <p:nvSpPr>
          <p:cNvPr id="291" name="s2-policy-label-1"/>
          <p:cNvSpPr txBox="1"/>
          <p:nvPr/>
        </p:nvSpPr>
        <p:spPr>
          <a:xfrm>
            <a:off x="9137528" y="1236025"/>
            <a:ext cx="808917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000000"/>
                </a:solidFill>
                <a:latin typeface="DejaVu Sans Condensed"/>
              </a:rPr>
              <a:t>Policy</a:t>
            </a:r>
          </a:p>
        </p:txBody>
      </p:sp>
      <p:sp>
        <p:nvSpPr>
          <p:cNvPr id="292" name="s2-policy-label-2"/>
          <p:cNvSpPr txBox="1"/>
          <p:nvPr/>
        </p:nvSpPr>
        <p:spPr>
          <a:xfrm>
            <a:off x="9137528" y="1456051"/>
            <a:ext cx="808917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000000"/>
                </a:solidFill>
                <a:latin typeface="DejaVu Sans Condensed"/>
              </a:rPr>
              <a:t>Model</a:t>
            </a:r>
          </a:p>
        </p:txBody>
      </p:sp>
      <p:sp>
        <p:nvSpPr>
          <p:cNvPr id="293" name="s2-generate"/>
          <p:cNvSpPr txBox="1"/>
          <p:nvPr/>
        </p:nvSpPr>
        <p:spPr>
          <a:xfrm>
            <a:off x="9946445" y="912459"/>
            <a:ext cx="776560" cy="2459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0" i="1">
                <a:solidFill>
                  <a:srgbClr val="000000"/>
                </a:solidFill>
                <a:latin typeface="DejaVu Sans Condensed"/>
              </a:rPr>
              <a:t>Generate</a:t>
            </a:r>
          </a:p>
        </p:txBody>
      </p:sp>
      <p:cxnSp>
        <p:nvCxnSpPr>
          <p:cNvPr id="294" name="s2-generate-arrow"/>
          <p:cNvCxnSpPr/>
          <p:nvPr/>
        </p:nvCxnSpPr>
        <p:spPr>
          <a:xfrm>
            <a:off x="9862318" y="1197197"/>
            <a:ext cx="802445" cy="0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295" name="s2-completion1"/>
          <p:cNvSpPr/>
          <p:nvPr/>
        </p:nvSpPr>
        <p:spPr>
          <a:xfrm>
            <a:off x="10748891" y="595363"/>
            <a:ext cx="1087185" cy="252382"/>
          </a:xfrm>
          <a:prstGeom prst="roundRect">
            <a:avLst>
              <a:gd name="adj" fmla="val 25000"/>
            </a:avLst>
          </a:prstGeom>
          <a:solidFill>
            <a:srgbClr val="F4B083"/>
          </a:solidFill>
          <a:ln w="12942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s2-completion1-text"/>
          <p:cNvSpPr txBox="1"/>
          <p:nvPr/>
        </p:nvSpPr>
        <p:spPr>
          <a:xfrm>
            <a:off x="10774776" y="601834"/>
            <a:ext cx="1035414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Completion 1</a:t>
            </a:r>
          </a:p>
        </p:txBody>
      </p:sp>
      <p:sp>
        <p:nvSpPr>
          <p:cNvPr id="297" name="s2-completion2"/>
          <p:cNvSpPr/>
          <p:nvPr/>
        </p:nvSpPr>
        <p:spPr>
          <a:xfrm>
            <a:off x="10748891" y="905987"/>
            <a:ext cx="1087185" cy="252382"/>
          </a:xfrm>
          <a:prstGeom prst="roundRect">
            <a:avLst>
              <a:gd name="adj" fmla="val 25000"/>
            </a:avLst>
          </a:prstGeom>
          <a:solidFill>
            <a:srgbClr val="F4B083"/>
          </a:solidFill>
          <a:ln w="12942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s2-completion2-text"/>
          <p:cNvSpPr txBox="1"/>
          <p:nvPr/>
        </p:nvSpPr>
        <p:spPr>
          <a:xfrm>
            <a:off x="10774776" y="912459"/>
            <a:ext cx="1035414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Completion 2</a:t>
            </a:r>
          </a:p>
        </p:txBody>
      </p:sp>
      <p:sp>
        <p:nvSpPr>
          <p:cNvPr id="299" name="s2-group-label-1"/>
          <p:cNvSpPr txBox="1"/>
          <p:nvPr/>
        </p:nvSpPr>
        <p:spPr>
          <a:xfrm>
            <a:off x="10580636" y="1242497"/>
            <a:ext cx="1358981" cy="2264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DejaVu Sans Condensed"/>
              </a:rPr>
              <a:t>A Group of</a:t>
            </a:r>
          </a:p>
        </p:txBody>
      </p:sp>
      <p:sp>
        <p:nvSpPr>
          <p:cNvPr id="300" name="s2-group-label-2"/>
          <p:cNvSpPr txBox="1"/>
          <p:nvPr/>
        </p:nvSpPr>
        <p:spPr>
          <a:xfrm>
            <a:off x="10580636" y="1449579"/>
            <a:ext cx="1358981" cy="2264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DejaVu Sans Condensed"/>
              </a:rPr>
              <a:t>Completions</a:t>
            </a:r>
          </a:p>
        </p:txBody>
      </p:sp>
      <p:sp>
        <p:nvSpPr>
          <p:cNvPr id="301" name="step2-heading"/>
          <p:cNvSpPr txBox="1"/>
          <p:nvPr/>
        </p:nvSpPr>
        <p:spPr>
          <a:xfrm>
            <a:off x="5312968" y="1727847"/>
            <a:ext cx="3106242" cy="2847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9" b="1" i="0">
                <a:solidFill>
                  <a:srgbClr val="000000"/>
                </a:solidFill>
                <a:latin typeface="DejaVu Sans Condensed"/>
              </a:rPr>
              <a:t>Step 2: Computing Rewards</a:t>
            </a:r>
          </a:p>
        </p:txBody>
      </p:sp>
      <p:cxnSp>
        <p:nvCxnSpPr>
          <p:cNvPr id="302" name="step2-underline"/>
          <p:cNvCxnSpPr/>
          <p:nvPr/>
        </p:nvCxnSpPr>
        <p:spPr>
          <a:xfrm>
            <a:off x="5312968" y="1986700"/>
            <a:ext cx="2750318" cy="0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303" name="reward-completion1"/>
          <p:cNvSpPr/>
          <p:nvPr/>
        </p:nvSpPr>
        <p:spPr>
          <a:xfrm>
            <a:off x="5377681" y="2109656"/>
            <a:ext cx="1087185" cy="252382"/>
          </a:xfrm>
          <a:prstGeom prst="roundRect">
            <a:avLst>
              <a:gd name="adj" fmla="val 25000"/>
            </a:avLst>
          </a:prstGeom>
          <a:solidFill>
            <a:srgbClr val="F4B083"/>
          </a:solidFill>
          <a:ln w="12942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reward-completion1-text"/>
          <p:cNvSpPr txBox="1"/>
          <p:nvPr/>
        </p:nvSpPr>
        <p:spPr>
          <a:xfrm>
            <a:off x="5403566" y="2116127"/>
            <a:ext cx="1035414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Completion 1</a:t>
            </a:r>
          </a:p>
        </p:txBody>
      </p:sp>
      <p:cxnSp>
        <p:nvCxnSpPr>
          <p:cNvPr id="305" name="reward-format-arrow"/>
          <p:cNvCxnSpPr/>
          <p:nvPr/>
        </p:nvCxnSpPr>
        <p:spPr>
          <a:xfrm>
            <a:off x="6510165" y="2180841"/>
            <a:ext cx="2019057" cy="0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306" name="reward-format-label"/>
          <p:cNvSpPr txBox="1"/>
          <p:nvPr/>
        </p:nvSpPr>
        <p:spPr>
          <a:xfrm>
            <a:off x="6652534" y="2226140"/>
            <a:ext cx="1747261" cy="2523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000000"/>
                </a:solidFill>
                <a:latin typeface="DejaVu Sans Condensed"/>
              </a:rPr>
              <a:t>(1) Format Reward</a:t>
            </a:r>
          </a:p>
        </p:txBody>
      </p:sp>
      <p:cxnSp>
        <p:nvCxnSpPr>
          <p:cNvPr id="307" name="reward-extract-v"/>
          <p:cNvCxnSpPr/>
          <p:nvPr/>
        </p:nvCxnSpPr>
        <p:spPr>
          <a:xfrm>
            <a:off x="5474751" y="2387923"/>
            <a:ext cx="0" cy="388281"/>
          </a:xfrm>
          <a:prstGeom prst="line">
            <a:avLst/>
          </a:prstGeom>
          <a:ln w="25885">
            <a:solidFill>
              <a:srgbClr val="000000"/>
            </a:solidFill>
          </a:ln>
        </p:spPr>
      </p:cxnSp>
      <p:sp>
        <p:nvSpPr>
          <p:cNvPr id="308" name="reward-extract1"/>
          <p:cNvSpPr txBox="1"/>
          <p:nvPr/>
        </p:nvSpPr>
        <p:spPr>
          <a:xfrm>
            <a:off x="5662420" y="2362038"/>
            <a:ext cx="1035414" cy="200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Extract</a:t>
            </a:r>
          </a:p>
        </p:txBody>
      </p:sp>
      <p:sp>
        <p:nvSpPr>
          <p:cNvPr id="309" name="reward-extract2"/>
          <p:cNvSpPr txBox="1"/>
          <p:nvPr/>
        </p:nvSpPr>
        <p:spPr>
          <a:xfrm>
            <a:off x="5662420" y="2549707"/>
            <a:ext cx="1035414" cy="200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Prediction</a:t>
            </a:r>
          </a:p>
        </p:txBody>
      </p:sp>
      <p:cxnSp>
        <p:nvCxnSpPr>
          <p:cNvPr id="310" name="reward-accuracy-arrow"/>
          <p:cNvCxnSpPr/>
          <p:nvPr/>
        </p:nvCxnSpPr>
        <p:spPr>
          <a:xfrm>
            <a:off x="5474751" y="2782675"/>
            <a:ext cx="3054471" cy="0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311" name="reward-accuracy-label"/>
          <p:cNvSpPr txBox="1"/>
          <p:nvPr/>
        </p:nvSpPr>
        <p:spPr>
          <a:xfrm>
            <a:off x="6652534" y="2575592"/>
            <a:ext cx="1876688" cy="2523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000000"/>
                </a:solidFill>
                <a:latin typeface="DejaVu Sans Condensed"/>
              </a:rPr>
              <a:t>(2) Accuracy Reward</a:t>
            </a:r>
          </a:p>
        </p:txBody>
      </p:sp>
      <p:cxnSp>
        <p:nvCxnSpPr>
          <p:cNvPr id="312" name="reward-anomaly-v"/>
          <p:cNvCxnSpPr/>
          <p:nvPr/>
        </p:nvCxnSpPr>
        <p:spPr>
          <a:xfrm>
            <a:off x="5377681" y="2394395"/>
            <a:ext cx="0" cy="724789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313" name="reward-anomaly-label"/>
          <p:cNvSpPr txBox="1"/>
          <p:nvPr/>
        </p:nvSpPr>
        <p:spPr>
          <a:xfrm>
            <a:off x="5500636" y="2840917"/>
            <a:ext cx="2976815" cy="271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3" b="0" i="1">
                <a:solidFill>
                  <a:srgbClr val="FF0000"/>
                </a:solidFill>
                <a:latin typeface="DejaVu Sans Condensed"/>
              </a:rPr>
              <a:t>(3) Anomaly Verification Reward</a:t>
            </a:r>
          </a:p>
        </p:txBody>
      </p:sp>
      <p:sp>
        <p:nvSpPr>
          <p:cNvPr id="314" name="format-card"/>
          <p:cNvSpPr/>
          <p:nvPr/>
        </p:nvSpPr>
        <p:spPr>
          <a:xfrm>
            <a:off x="8606878" y="1792560"/>
            <a:ext cx="3390981" cy="569478"/>
          </a:xfrm>
          <a:prstGeom prst="roundRect">
            <a:avLst>
              <a:gd name="adj" fmla="val 20454"/>
            </a:avLst>
          </a:prstGeom>
          <a:noFill/>
          <a:ln w="12942">
            <a:solidFill>
              <a:srgbClr val="D9D9D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format-code"/>
          <p:cNvSpPr/>
          <p:nvPr/>
        </p:nvSpPr>
        <p:spPr>
          <a:xfrm>
            <a:off x="8684534" y="1870216"/>
            <a:ext cx="1507822" cy="420637"/>
          </a:xfrm>
          <a:prstGeom prst="rect">
            <a:avLst/>
          </a:prstGeom>
          <a:solidFill>
            <a:srgbClr val="FA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format-code-line1"/>
          <p:cNvSpPr txBox="1"/>
          <p:nvPr/>
        </p:nvSpPr>
        <p:spPr>
          <a:xfrm>
            <a:off x="8794547" y="1870216"/>
            <a:ext cx="1307210" cy="200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&lt;think&gt;...&lt;/think&gt;</a:t>
            </a:r>
          </a:p>
        </p:txBody>
      </p:sp>
      <p:sp>
        <p:nvSpPr>
          <p:cNvPr id="317" name="format-code-line2"/>
          <p:cNvSpPr txBox="1"/>
          <p:nvPr/>
        </p:nvSpPr>
        <p:spPr>
          <a:xfrm>
            <a:off x="8794547" y="2064357"/>
            <a:ext cx="1307210" cy="200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&lt;answer&gt;...&lt;/answer&gt;</a:t>
            </a:r>
          </a:p>
        </p:txBody>
      </p:sp>
      <p:sp>
        <p:nvSpPr>
          <p:cNvPr id="318" name="format-if"/>
          <p:cNvSpPr txBox="1"/>
          <p:nvPr/>
        </p:nvSpPr>
        <p:spPr>
          <a:xfrm>
            <a:off x="10282955" y="1831388"/>
            <a:ext cx="1009529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If satisfied:</a:t>
            </a:r>
          </a:p>
        </p:txBody>
      </p:sp>
      <p:sp>
        <p:nvSpPr>
          <p:cNvPr id="319" name="format-r1"/>
          <p:cNvSpPr/>
          <p:nvPr/>
        </p:nvSpPr>
        <p:spPr>
          <a:xfrm>
            <a:off x="11279540" y="1850802"/>
            <a:ext cx="220025" cy="207083"/>
          </a:xfrm>
          <a:prstGeom prst="roundRect">
            <a:avLst>
              <a:gd name="adj" fmla="val 25000"/>
            </a:avLst>
          </a:prstGeom>
          <a:solidFill>
            <a:srgbClr val="E1EFD8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format-r1-text"/>
          <p:cNvSpPr txBox="1"/>
          <p:nvPr/>
        </p:nvSpPr>
        <p:spPr>
          <a:xfrm>
            <a:off x="11279540" y="1850802"/>
            <a:ext cx="220025" cy="2070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R</a:t>
            </a:r>
          </a:p>
        </p:txBody>
      </p:sp>
      <p:sp>
        <p:nvSpPr>
          <p:cNvPr id="321" name="format-eq1"/>
          <p:cNvSpPr txBox="1"/>
          <p:nvPr/>
        </p:nvSpPr>
        <p:spPr>
          <a:xfrm>
            <a:off x="11544865" y="1831388"/>
            <a:ext cx="420637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== 1</a:t>
            </a:r>
          </a:p>
        </p:txBody>
      </p:sp>
      <p:sp>
        <p:nvSpPr>
          <p:cNvPr id="322" name="format-else"/>
          <p:cNvSpPr txBox="1"/>
          <p:nvPr/>
        </p:nvSpPr>
        <p:spPr>
          <a:xfrm>
            <a:off x="10548279" y="2096713"/>
            <a:ext cx="595363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Else:</a:t>
            </a:r>
          </a:p>
        </p:txBody>
      </p:sp>
      <p:sp>
        <p:nvSpPr>
          <p:cNvPr id="323" name="format-r0"/>
          <p:cNvSpPr/>
          <p:nvPr/>
        </p:nvSpPr>
        <p:spPr>
          <a:xfrm>
            <a:off x="11014216" y="2116127"/>
            <a:ext cx="220025" cy="207083"/>
          </a:xfrm>
          <a:prstGeom prst="roundRect">
            <a:avLst>
              <a:gd name="adj" fmla="val 25000"/>
            </a:avLst>
          </a:prstGeom>
          <a:solidFill>
            <a:srgbClr val="E1EFD8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format-r0-text"/>
          <p:cNvSpPr txBox="1"/>
          <p:nvPr/>
        </p:nvSpPr>
        <p:spPr>
          <a:xfrm>
            <a:off x="11014216" y="2116127"/>
            <a:ext cx="220025" cy="2070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R</a:t>
            </a:r>
          </a:p>
        </p:txBody>
      </p:sp>
      <p:sp>
        <p:nvSpPr>
          <p:cNvPr id="325" name="format-eq0"/>
          <p:cNvSpPr txBox="1"/>
          <p:nvPr/>
        </p:nvSpPr>
        <p:spPr>
          <a:xfrm>
            <a:off x="11279540" y="2096713"/>
            <a:ext cx="575949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== 0</a:t>
            </a:r>
          </a:p>
        </p:txBody>
      </p:sp>
      <p:sp>
        <p:nvSpPr>
          <p:cNvPr id="326" name="accuracy-card"/>
          <p:cNvSpPr/>
          <p:nvPr/>
        </p:nvSpPr>
        <p:spPr>
          <a:xfrm>
            <a:off x="8606878" y="2400866"/>
            <a:ext cx="3390981" cy="582420"/>
          </a:xfrm>
          <a:prstGeom prst="roundRect">
            <a:avLst>
              <a:gd name="adj" fmla="val 20000"/>
            </a:avLst>
          </a:prstGeom>
          <a:noFill/>
          <a:ln w="12942">
            <a:solidFill>
              <a:srgbClr val="D9D9D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accuracy-pred-bg"/>
          <p:cNvSpPr/>
          <p:nvPr/>
        </p:nvSpPr>
        <p:spPr>
          <a:xfrm>
            <a:off x="8684534" y="2588535"/>
            <a:ext cx="893045" cy="258853"/>
          </a:xfrm>
          <a:prstGeom prst="roundRect">
            <a:avLst>
              <a:gd name="adj" fmla="val 17500"/>
            </a:avLst>
          </a:prstGeom>
          <a:solidFill>
            <a:srgbClr val="FFE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accuracy-pred"/>
          <p:cNvSpPr txBox="1"/>
          <p:nvPr/>
        </p:nvSpPr>
        <p:spPr>
          <a:xfrm>
            <a:off x="8729834" y="2595006"/>
            <a:ext cx="802446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Prediction</a:t>
            </a:r>
          </a:p>
        </p:txBody>
      </p:sp>
      <p:sp>
        <p:nvSpPr>
          <p:cNvPr id="329" name="accuracy-vs"/>
          <p:cNvSpPr txBox="1"/>
          <p:nvPr/>
        </p:nvSpPr>
        <p:spPr>
          <a:xfrm>
            <a:off x="9596993" y="2595006"/>
            <a:ext cx="362395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1" b="0" i="1">
                <a:solidFill>
                  <a:srgbClr val="000000"/>
                </a:solidFill>
                <a:latin typeface="DejaVu Sans Condensed"/>
              </a:rPr>
              <a:t>v.s.</a:t>
            </a:r>
          </a:p>
        </p:txBody>
      </p:sp>
      <p:sp>
        <p:nvSpPr>
          <p:cNvPr id="330" name="accuracy-label-bg"/>
          <p:cNvSpPr/>
          <p:nvPr/>
        </p:nvSpPr>
        <p:spPr>
          <a:xfrm>
            <a:off x="9946445" y="2588535"/>
            <a:ext cx="563006" cy="258853"/>
          </a:xfrm>
          <a:prstGeom prst="roundRect">
            <a:avLst>
              <a:gd name="adj" fmla="val 17500"/>
            </a:avLst>
          </a:prstGeom>
          <a:solidFill>
            <a:srgbClr val="BDD7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accuracy-label"/>
          <p:cNvSpPr txBox="1"/>
          <p:nvPr/>
        </p:nvSpPr>
        <p:spPr>
          <a:xfrm>
            <a:off x="9965859" y="2595006"/>
            <a:ext cx="530650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Label</a:t>
            </a:r>
          </a:p>
        </p:txBody>
      </p:sp>
      <p:sp>
        <p:nvSpPr>
          <p:cNvPr id="332" name="accuracy-if"/>
          <p:cNvSpPr txBox="1"/>
          <p:nvPr/>
        </p:nvSpPr>
        <p:spPr>
          <a:xfrm>
            <a:off x="10638878" y="2426751"/>
            <a:ext cx="660076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000000"/>
                </a:solidFill>
                <a:latin typeface="DejaVu Sans Condensed"/>
              </a:rPr>
              <a:t>If same:</a:t>
            </a:r>
          </a:p>
        </p:txBody>
      </p:sp>
      <p:sp>
        <p:nvSpPr>
          <p:cNvPr id="333" name="accuracy-r1"/>
          <p:cNvSpPr/>
          <p:nvPr/>
        </p:nvSpPr>
        <p:spPr>
          <a:xfrm>
            <a:off x="11298954" y="2433223"/>
            <a:ext cx="220025" cy="207083"/>
          </a:xfrm>
          <a:prstGeom prst="roundRect">
            <a:avLst>
              <a:gd name="adj" fmla="val 25000"/>
            </a:avLst>
          </a:prstGeom>
          <a:solidFill>
            <a:srgbClr val="00A01A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accuracy-r1-text"/>
          <p:cNvSpPr txBox="1"/>
          <p:nvPr/>
        </p:nvSpPr>
        <p:spPr>
          <a:xfrm>
            <a:off x="11298954" y="2433223"/>
            <a:ext cx="220025" cy="2070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R</a:t>
            </a:r>
          </a:p>
        </p:txBody>
      </p:sp>
      <p:sp>
        <p:nvSpPr>
          <p:cNvPr id="335" name="accuracy-eq1"/>
          <p:cNvSpPr txBox="1"/>
          <p:nvPr/>
        </p:nvSpPr>
        <p:spPr>
          <a:xfrm>
            <a:off x="11551337" y="2413809"/>
            <a:ext cx="427108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== 1</a:t>
            </a:r>
          </a:p>
        </p:txBody>
      </p:sp>
      <p:sp>
        <p:nvSpPr>
          <p:cNvPr id="336" name="accuracy-else"/>
          <p:cNvSpPr txBox="1"/>
          <p:nvPr/>
        </p:nvSpPr>
        <p:spPr>
          <a:xfrm>
            <a:off x="10710063" y="2679134"/>
            <a:ext cx="511236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000000"/>
                </a:solidFill>
                <a:latin typeface="DejaVu Sans Condensed"/>
              </a:rPr>
              <a:t>Else:</a:t>
            </a:r>
          </a:p>
        </p:txBody>
      </p:sp>
      <p:sp>
        <p:nvSpPr>
          <p:cNvPr id="337" name="accuracy-r0"/>
          <p:cNvSpPr/>
          <p:nvPr/>
        </p:nvSpPr>
        <p:spPr>
          <a:xfrm>
            <a:off x="11098343" y="2698548"/>
            <a:ext cx="220025" cy="207083"/>
          </a:xfrm>
          <a:prstGeom prst="roundRect">
            <a:avLst>
              <a:gd name="adj" fmla="val 25000"/>
            </a:avLst>
          </a:prstGeom>
          <a:solidFill>
            <a:srgbClr val="00A01A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accuracy-r0-text"/>
          <p:cNvSpPr txBox="1"/>
          <p:nvPr/>
        </p:nvSpPr>
        <p:spPr>
          <a:xfrm>
            <a:off x="11098343" y="2698548"/>
            <a:ext cx="220025" cy="2070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R</a:t>
            </a:r>
          </a:p>
        </p:txBody>
      </p:sp>
      <p:sp>
        <p:nvSpPr>
          <p:cNvPr id="339" name="accuracy-eq0"/>
          <p:cNvSpPr txBox="1"/>
          <p:nvPr/>
        </p:nvSpPr>
        <p:spPr>
          <a:xfrm>
            <a:off x="11350725" y="2679134"/>
            <a:ext cx="537121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== 0</a:t>
            </a:r>
          </a:p>
        </p:txBody>
      </p:sp>
      <p:sp>
        <p:nvSpPr>
          <p:cNvPr id="340" name="prediction-tag"/>
          <p:cNvSpPr/>
          <p:nvPr/>
        </p:nvSpPr>
        <p:spPr>
          <a:xfrm>
            <a:off x="5261197" y="3190369"/>
            <a:ext cx="854216" cy="271796"/>
          </a:xfrm>
          <a:prstGeom prst="roundRect">
            <a:avLst>
              <a:gd name="adj" fmla="val 19047"/>
            </a:avLst>
          </a:prstGeom>
          <a:solidFill>
            <a:srgbClr val="FFE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prediction-tag-text"/>
          <p:cNvSpPr txBox="1"/>
          <p:nvPr/>
        </p:nvSpPr>
        <p:spPr>
          <a:xfrm>
            <a:off x="5280611" y="3190369"/>
            <a:ext cx="815388" cy="271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0" i="0">
                <a:solidFill>
                  <a:srgbClr val="000000"/>
                </a:solidFill>
                <a:latin typeface="DejaVu Sans Condensed"/>
              </a:rPr>
              <a:t>Prediction</a:t>
            </a:r>
          </a:p>
        </p:txBody>
      </p:sp>
      <p:cxnSp>
        <p:nvCxnSpPr>
          <p:cNvPr id="342" name="prediction-spine"/>
          <p:cNvCxnSpPr/>
          <p:nvPr/>
        </p:nvCxnSpPr>
        <p:spPr>
          <a:xfrm>
            <a:off x="5371210" y="3481579"/>
            <a:ext cx="0" cy="1022472"/>
          </a:xfrm>
          <a:prstGeom prst="line">
            <a:avLst/>
          </a:prstGeom>
          <a:ln w="25885">
            <a:solidFill>
              <a:srgbClr val="000000"/>
            </a:solidFill>
          </a:ln>
        </p:spPr>
      </p:cxnSp>
      <p:cxnSp>
        <p:nvCxnSpPr>
          <p:cNvPr id="343" name="prediction-abnormal-arrow"/>
          <p:cNvCxnSpPr/>
          <p:nvPr/>
        </p:nvCxnSpPr>
        <p:spPr>
          <a:xfrm>
            <a:off x="5371210" y="3572178"/>
            <a:ext cx="1022471" cy="0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344" name="prediction-abnormal"/>
          <p:cNvSpPr/>
          <p:nvPr/>
        </p:nvSpPr>
        <p:spPr>
          <a:xfrm>
            <a:off x="5403566" y="3623949"/>
            <a:ext cx="834802" cy="265325"/>
          </a:xfrm>
          <a:prstGeom prst="roundRect">
            <a:avLst>
              <a:gd name="adj" fmla="val 25000"/>
            </a:avLst>
          </a:prstGeom>
          <a:solidFill>
            <a:srgbClr val="FF9899"/>
          </a:solidFill>
          <a:ln w="12942">
            <a:solidFill>
              <a:srgbClr val="FF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prediction-abnormal-text"/>
          <p:cNvSpPr txBox="1"/>
          <p:nvPr/>
        </p:nvSpPr>
        <p:spPr>
          <a:xfrm>
            <a:off x="5429452" y="3630420"/>
            <a:ext cx="783032" cy="2523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C00000"/>
                </a:solidFill>
                <a:latin typeface="DejaVu Sans Condensed"/>
              </a:rPr>
              <a:t>Abnormal</a:t>
            </a:r>
          </a:p>
        </p:txBody>
      </p:sp>
      <p:sp>
        <p:nvSpPr>
          <p:cNvPr id="346" name="prediction-or"/>
          <p:cNvSpPr txBox="1"/>
          <p:nvPr/>
        </p:nvSpPr>
        <p:spPr>
          <a:xfrm>
            <a:off x="5552407" y="3953987"/>
            <a:ext cx="556535" cy="2264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000000"/>
                </a:solidFill>
                <a:latin typeface="DejaVu Sans Condensed"/>
              </a:rPr>
              <a:t>or</a:t>
            </a:r>
          </a:p>
        </p:txBody>
      </p:sp>
      <p:cxnSp>
        <p:nvCxnSpPr>
          <p:cNvPr id="347" name="prediction-normal-arrow"/>
          <p:cNvCxnSpPr/>
          <p:nvPr/>
        </p:nvCxnSpPr>
        <p:spPr>
          <a:xfrm>
            <a:off x="5371210" y="4504051"/>
            <a:ext cx="893044" cy="0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348" name="prediction-normal"/>
          <p:cNvSpPr/>
          <p:nvPr/>
        </p:nvSpPr>
        <p:spPr>
          <a:xfrm>
            <a:off x="5371210" y="4542879"/>
            <a:ext cx="899516" cy="258853"/>
          </a:xfrm>
          <a:prstGeom prst="roundRect">
            <a:avLst>
              <a:gd name="adj" fmla="val 25000"/>
            </a:avLst>
          </a:prstGeom>
          <a:solidFill>
            <a:srgbClr val="E1EFD8"/>
          </a:solidFill>
          <a:ln w="12942">
            <a:solidFill>
              <a:srgbClr val="5482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prediction-normal-text"/>
          <p:cNvSpPr txBox="1"/>
          <p:nvPr/>
        </p:nvSpPr>
        <p:spPr>
          <a:xfrm>
            <a:off x="5397095" y="4549350"/>
            <a:ext cx="847745" cy="2459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8000"/>
                </a:solidFill>
                <a:latin typeface="DejaVu Sans Condensed"/>
              </a:rPr>
              <a:t>Normal</a:t>
            </a:r>
          </a:p>
        </p:txBody>
      </p:sp>
      <p:sp>
        <p:nvSpPr>
          <p:cNvPr id="350" name="abnormal-video-card"/>
          <p:cNvSpPr/>
          <p:nvPr/>
        </p:nvSpPr>
        <p:spPr>
          <a:xfrm>
            <a:off x="6451923" y="3158012"/>
            <a:ext cx="2116127" cy="873631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abnormal-film-body"/>
          <p:cNvSpPr/>
          <p:nvPr/>
        </p:nvSpPr>
        <p:spPr>
          <a:xfrm>
            <a:off x="6548993" y="3216255"/>
            <a:ext cx="1928458" cy="420637"/>
          </a:xfrm>
          <a:prstGeom prst="rect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abnormal-film-perf-top-0"/>
          <p:cNvSpPr/>
          <p:nvPr/>
        </p:nvSpPr>
        <p:spPr>
          <a:xfrm>
            <a:off x="6581350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abnormal-film-perf-bottom-0"/>
          <p:cNvSpPr/>
          <p:nvPr/>
        </p:nvSpPr>
        <p:spPr>
          <a:xfrm>
            <a:off x="6581350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abnormal-film-perf-top-1"/>
          <p:cNvSpPr/>
          <p:nvPr/>
        </p:nvSpPr>
        <p:spPr>
          <a:xfrm>
            <a:off x="6701878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abnormal-film-perf-bottom-1"/>
          <p:cNvSpPr/>
          <p:nvPr/>
        </p:nvSpPr>
        <p:spPr>
          <a:xfrm>
            <a:off x="6701878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abnormal-film-perf-top-2"/>
          <p:cNvSpPr/>
          <p:nvPr/>
        </p:nvSpPr>
        <p:spPr>
          <a:xfrm>
            <a:off x="6822407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abnormal-film-perf-bottom-2"/>
          <p:cNvSpPr/>
          <p:nvPr/>
        </p:nvSpPr>
        <p:spPr>
          <a:xfrm>
            <a:off x="6822407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abnormal-film-perf-top-3"/>
          <p:cNvSpPr/>
          <p:nvPr/>
        </p:nvSpPr>
        <p:spPr>
          <a:xfrm>
            <a:off x="6942936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abnormal-film-perf-bottom-3"/>
          <p:cNvSpPr/>
          <p:nvPr/>
        </p:nvSpPr>
        <p:spPr>
          <a:xfrm>
            <a:off x="6942936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abnormal-film-perf-top-4"/>
          <p:cNvSpPr/>
          <p:nvPr/>
        </p:nvSpPr>
        <p:spPr>
          <a:xfrm>
            <a:off x="7063464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abnormal-film-perf-bottom-4"/>
          <p:cNvSpPr/>
          <p:nvPr/>
        </p:nvSpPr>
        <p:spPr>
          <a:xfrm>
            <a:off x="7063464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abnormal-film-perf-top-5"/>
          <p:cNvSpPr/>
          <p:nvPr/>
        </p:nvSpPr>
        <p:spPr>
          <a:xfrm>
            <a:off x="7183993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abnormal-film-perf-bottom-5"/>
          <p:cNvSpPr/>
          <p:nvPr/>
        </p:nvSpPr>
        <p:spPr>
          <a:xfrm>
            <a:off x="7183993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abnormal-film-perf-top-6"/>
          <p:cNvSpPr/>
          <p:nvPr/>
        </p:nvSpPr>
        <p:spPr>
          <a:xfrm>
            <a:off x="7304522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abnormal-film-perf-bottom-6"/>
          <p:cNvSpPr/>
          <p:nvPr/>
        </p:nvSpPr>
        <p:spPr>
          <a:xfrm>
            <a:off x="7304522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abnormal-film-perf-top-7"/>
          <p:cNvSpPr/>
          <p:nvPr/>
        </p:nvSpPr>
        <p:spPr>
          <a:xfrm>
            <a:off x="7425050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abnormal-film-perf-bottom-7"/>
          <p:cNvSpPr/>
          <p:nvPr/>
        </p:nvSpPr>
        <p:spPr>
          <a:xfrm>
            <a:off x="7425050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abnormal-film-perf-top-8"/>
          <p:cNvSpPr/>
          <p:nvPr/>
        </p:nvSpPr>
        <p:spPr>
          <a:xfrm>
            <a:off x="7545579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abnormal-film-perf-bottom-8"/>
          <p:cNvSpPr/>
          <p:nvPr/>
        </p:nvSpPr>
        <p:spPr>
          <a:xfrm>
            <a:off x="7545579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abnormal-film-perf-top-9"/>
          <p:cNvSpPr/>
          <p:nvPr/>
        </p:nvSpPr>
        <p:spPr>
          <a:xfrm>
            <a:off x="7666108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abnormal-film-perf-bottom-9"/>
          <p:cNvSpPr/>
          <p:nvPr/>
        </p:nvSpPr>
        <p:spPr>
          <a:xfrm>
            <a:off x="7666108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abnormal-film-perf-top-10"/>
          <p:cNvSpPr/>
          <p:nvPr/>
        </p:nvSpPr>
        <p:spPr>
          <a:xfrm>
            <a:off x="7786636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abnormal-film-perf-bottom-10"/>
          <p:cNvSpPr/>
          <p:nvPr/>
        </p:nvSpPr>
        <p:spPr>
          <a:xfrm>
            <a:off x="7786636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abnormal-film-perf-top-11"/>
          <p:cNvSpPr/>
          <p:nvPr/>
        </p:nvSpPr>
        <p:spPr>
          <a:xfrm>
            <a:off x="7907165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abnormal-film-perf-bottom-11"/>
          <p:cNvSpPr/>
          <p:nvPr/>
        </p:nvSpPr>
        <p:spPr>
          <a:xfrm>
            <a:off x="7907165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abnormal-film-perf-top-12"/>
          <p:cNvSpPr/>
          <p:nvPr/>
        </p:nvSpPr>
        <p:spPr>
          <a:xfrm>
            <a:off x="8027694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abnormal-film-perf-bottom-12"/>
          <p:cNvSpPr/>
          <p:nvPr/>
        </p:nvSpPr>
        <p:spPr>
          <a:xfrm>
            <a:off x="8027694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abnormal-film-perf-top-13"/>
          <p:cNvSpPr/>
          <p:nvPr/>
        </p:nvSpPr>
        <p:spPr>
          <a:xfrm>
            <a:off x="8148222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abnormal-film-perf-bottom-13"/>
          <p:cNvSpPr/>
          <p:nvPr/>
        </p:nvSpPr>
        <p:spPr>
          <a:xfrm>
            <a:off x="8148222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abnormal-film-perf-top-14"/>
          <p:cNvSpPr/>
          <p:nvPr/>
        </p:nvSpPr>
        <p:spPr>
          <a:xfrm>
            <a:off x="8268751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abnormal-film-perf-bottom-14"/>
          <p:cNvSpPr/>
          <p:nvPr/>
        </p:nvSpPr>
        <p:spPr>
          <a:xfrm>
            <a:off x="8268751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abnormal-film-perf-top-15"/>
          <p:cNvSpPr/>
          <p:nvPr/>
        </p:nvSpPr>
        <p:spPr>
          <a:xfrm>
            <a:off x="8389280" y="3239390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abnormal-film-perf-bottom-15"/>
          <p:cNvSpPr/>
          <p:nvPr/>
        </p:nvSpPr>
        <p:spPr>
          <a:xfrm>
            <a:off x="8389280" y="3582209"/>
            <a:ext cx="6629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4" name="abnormal-film-frame-0" descr="surveillance-fram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821" y="3308795"/>
            <a:ext cx="359806" cy="252382"/>
          </a:xfrm>
          <a:prstGeom prst="rect">
            <a:avLst/>
          </a:prstGeom>
        </p:spPr>
      </p:pic>
      <p:sp>
        <p:nvSpPr>
          <p:cNvPr id="385" name="abnormal-film-frame-border-0"/>
          <p:cNvSpPr/>
          <p:nvPr/>
        </p:nvSpPr>
        <p:spPr>
          <a:xfrm>
            <a:off x="6587821" y="3308795"/>
            <a:ext cx="359806" cy="252382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6" name="abnormal-film-frame-1" descr="surveillance-frame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570" y="3308795"/>
            <a:ext cx="359806" cy="252382"/>
          </a:xfrm>
          <a:prstGeom prst="rect">
            <a:avLst/>
          </a:prstGeom>
        </p:spPr>
      </p:pic>
      <p:sp>
        <p:nvSpPr>
          <p:cNvPr id="387" name="abnormal-film-frame-border-1"/>
          <p:cNvSpPr/>
          <p:nvPr/>
        </p:nvSpPr>
        <p:spPr>
          <a:xfrm>
            <a:off x="6960570" y="3308795"/>
            <a:ext cx="359806" cy="252382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abnormal-film-blank-2"/>
          <p:cNvSpPr/>
          <p:nvPr/>
        </p:nvSpPr>
        <p:spPr>
          <a:xfrm>
            <a:off x="7333319" y="3308795"/>
            <a:ext cx="359806" cy="252382"/>
          </a:xfrm>
          <a:prstGeom prst="rect">
            <a:avLst/>
          </a:prstGeom>
          <a:solidFill>
            <a:srgbClr val="FFFFFF"/>
          </a:solidFill>
          <a:ln w="25885">
            <a:solidFill>
              <a:srgbClr val="FF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abnormal-film-blank-3"/>
          <p:cNvSpPr/>
          <p:nvPr/>
        </p:nvSpPr>
        <p:spPr>
          <a:xfrm>
            <a:off x="7706068" y="3308795"/>
            <a:ext cx="359806" cy="252382"/>
          </a:xfrm>
          <a:prstGeom prst="rect">
            <a:avLst/>
          </a:prstGeom>
          <a:solidFill>
            <a:srgbClr val="FFFFFF"/>
          </a:solidFill>
          <a:ln w="25885">
            <a:solidFill>
              <a:srgbClr val="FF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0" name="abnormal-film-frame-4" descr="surveillance-frame-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8817" y="3308795"/>
            <a:ext cx="359806" cy="252382"/>
          </a:xfrm>
          <a:prstGeom prst="rect">
            <a:avLst/>
          </a:prstGeom>
        </p:spPr>
      </p:pic>
      <p:sp>
        <p:nvSpPr>
          <p:cNvPr id="391" name="abnormal-film-frame-border-4"/>
          <p:cNvSpPr/>
          <p:nvPr/>
        </p:nvSpPr>
        <p:spPr>
          <a:xfrm>
            <a:off x="8078817" y="3308795"/>
            <a:ext cx="359806" cy="252382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abnormal-caption-1"/>
          <p:cNvSpPr txBox="1"/>
          <p:nvPr/>
        </p:nvSpPr>
        <p:spPr>
          <a:xfrm>
            <a:off x="6536050" y="3643363"/>
            <a:ext cx="1941401" cy="200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Video with Abnormal</a:t>
            </a:r>
          </a:p>
        </p:txBody>
      </p:sp>
      <p:sp>
        <p:nvSpPr>
          <p:cNvPr id="393" name="abnormal-caption-2"/>
          <p:cNvSpPr txBox="1"/>
          <p:nvPr/>
        </p:nvSpPr>
        <p:spPr>
          <a:xfrm>
            <a:off x="6536050" y="3824560"/>
            <a:ext cx="1941401" cy="200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000000"/>
                </a:solidFill>
                <a:latin typeface="DejaVu Sans Condensed"/>
              </a:rPr>
              <a:t>Segment Discarded</a:t>
            </a:r>
          </a:p>
        </p:txBody>
      </p:sp>
      <p:sp>
        <p:nvSpPr>
          <p:cNvPr id="394" name="normal-video-card"/>
          <p:cNvSpPr/>
          <p:nvPr/>
        </p:nvSpPr>
        <p:spPr>
          <a:xfrm>
            <a:off x="6270726" y="4128713"/>
            <a:ext cx="2394395" cy="685962"/>
          </a:xfrm>
          <a:prstGeom prst="roundRect">
            <a:avLst>
              <a:gd name="adj" fmla="val 18867"/>
            </a:avLst>
          </a:prstGeom>
          <a:solidFill>
            <a:srgbClr val="FFFFFF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normal-film-body"/>
          <p:cNvSpPr/>
          <p:nvPr/>
        </p:nvSpPr>
        <p:spPr>
          <a:xfrm>
            <a:off x="6354853" y="4193426"/>
            <a:ext cx="2226140" cy="278267"/>
          </a:xfrm>
          <a:prstGeom prst="rect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normal-film-perf-top-0"/>
          <p:cNvSpPr/>
          <p:nvPr/>
        </p:nvSpPr>
        <p:spPr>
          <a:xfrm>
            <a:off x="6387210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normal-film-perf-bottom-0"/>
          <p:cNvSpPr/>
          <p:nvPr/>
        </p:nvSpPr>
        <p:spPr>
          <a:xfrm>
            <a:off x="6387210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normal-film-perf-top-1"/>
          <p:cNvSpPr/>
          <p:nvPr/>
        </p:nvSpPr>
        <p:spPr>
          <a:xfrm>
            <a:off x="6504375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normal-film-perf-bottom-1"/>
          <p:cNvSpPr/>
          <p:nvPr/>
        </p:nvSpPr>
        <p:spPr>
          <a:xfrm>
            <a:off x="6504375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normal-film-perf-top-2"/>
          <p:cNvSpPr/>
          <p:nvPr/>
        </p:nvSpPr>
        <p:spPr>
          <a:xfrm>
            <a:off x="6621540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normal-film-perf-bottom-2"/>
          <p:cNvSpPr/>
          <p:nvPr/>
        </p:nvSpPr>
        <p:spPr>
          <a:xfrm>
            <a:off x="6621540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normal-film-perf-top-3"/>
          <p:cNvSpPr/>
          <p:nvPr/>
        </p:nvSpPr>
        <p:spPr>
          <a:xfrm>
            <a:off x="6738705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normal-film-perf-bottom-3"/>
          <p:cNvSpPr/>
          <p:nvPr/>
        </p:nvSpPr>
        <p:spPr>
          <a:xfrm>
            <a:off x="6738705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normal-film-perf-top-4"/>
          <p:cNvSpPr/>
          <p:nvPr/>
        </p:nvSpPr>
        <p:spPr>
          <a:xfrm>
            <a:off x="6855871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normal-film-perf-bottom-4"/>
          <p:cNvSpPr/>
          <p:nvPr/>
        </p:nvSpPr>
        <p:spPr>
          <a:xfrm>
            <a:off x="6855871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normal-film-perf-top-5"/>
          <p:cNvSpPr/>
          <p:nvPr/>
        </p:nvSpPr>
        <p:spPr>
          <a:xfrm>
            <a:off x="6973036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normal-film-perf-bottom-5"/>
          <p:cNvSpPr/>
          <p:nvPr/>
        </p:nvSpPr>
        <p:spPr>
          <a:xfrm>
            <a:off x="6973036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normal-film-perf-top-6"/>
          <p:cNvSpPr/>
          <p:nvPr/>
        </p:nvSpPr>
        <p:spPr>
          <a:xfrm>
            <a:off x="7090201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normal-film-perf-bottom-6"/>
          <p:cNvSpPr/>
          <p:nvPr/>
        </p:nvSpPr>
        <p:spPr>
          <a:xfrm>
            <a:off x="7090201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normal-film-perf-top-7"/>
          <p:cNvSpPr/>
          <p:nvPr/>
        </p:nvSpPr>
        <p:spPr>
          <a:xfrm>
            <a:off x="7207366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normal-film-perf-bottom-7"/>
          <p:cNvSpPr/>
          <p:nvPr/>
        </p:nvSpPr>
        <p:spPr>
          <a:xfrm>
            <a:off x="7207366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normal-film-perf-top-8"/>
          <p:cNvSpPr/>
          <p:nvPr/>
        </p:nvSpPr>
        <p:spPr>
          <a:xfrm>
            <a:off x="7324532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normal-film-perf-bottom-8"/>
          <p:cNvSpPr/>
          <p:nvPr/>
        </p:nvSpPr>
        <p:spPr>
          <a:xfrm>
            <a:off x="7324532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normal-film-perf-top-9"/>
          <p:cNvSpPr/>
          <p:nvPr/>
        </p:nvSpPr>
        <p:spPr>
          <a:xfrm>
            <a:off x="7441697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normal-film-perf-bottom-9"/>
          <p:cNvSpPr/>
          <p:nvPr/>
        </p:nvSpPr>
        <p:spPr>
          <a:xfrm>
            <a:off x="7441697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normal-film-perf-top-10"/>
          <p:cNvSpPr/>
          <p:nvPr/>
        </p:nvSpPr>
        <p:spPr>
          <a:xfrm>
            <a:off x="7558862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normal-film-perf-bottom-10"/>
          <p:cNvSpPr/>
          <p:nvPr/>
        </p:nvSpPr>
        <p:spPr>
          <a:xfrm>
            <a:off x="7558862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normal-film-perf-top-11"/>
          <p:cNvSpPr/>
          <p:nvPr/>
        </p:nvSpPr>
        <p:spPr>
          <a:xfrm>
            <a:off x="7676028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normal-film-perf-bottom-11"/>
          <p:cNvSpPr/>
          <p:nvPr/>
        </p:nvSpPr>
        <p:spPr>
          <a:xfrm>
            <a:off x="7676028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normal-film-perf-top-12"/>
          <p:cNvSpPr/>
          <p:nvPr/>
        </p:nvSpPr>
        <p:spPr>
          <a:xfrm>
            <a:off x="7793193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normal-film-perf-bottom-12"/>
          <p:cNvSpPr/>
          <p:nvPr/>
        </p:nvSpPr>
        <p:spPr>
          <a:xfrm>
            <a:off x="7793193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normal-film-perf-top-13"/>
          <p:cNvSpPr/>
          <p:nvPr/>
        </p:nvSpPr>
        <p:spPr>
          <a:xfrm>
            <a:off x="7910358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normal-film-perf-bottom-13"/>
          <p:cNvSpPr/>
          <p:nvPr/>
        </p:nvSpPr>
        <p:spPr>
          <a:xfrm>
            <a:off x="7910358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normal-film-perf-top-14"/>
          <p:cNvSpPr/>
          <p:nvPr/>
        </p:nvSpPr>
        <p:spPr>
          <a:xfrm>
            <a:off x="8027523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normal-film-perf-bottom-14"/>
          <p:cNvSpPr/>
          <p:nvPr/>
        </p:nvSpPr>
        <p:spPr>
          <a:xfrm>
            <a:off x="8027523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normal-film-perf-top-15"/>
          <p:cNvSpPr/>
          <p:nvPr/>
        </p:nvSpPr>
        <p:spPr>
          <a:xfrm>
            <a:off x="8144689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normal-film-perf-bottom-15"/>
          <p:cNvSpPr/>
          <p:nvPr/>
        </p:nvSpPr>
        <p:spPr>
          <a:xfrm>
            <a:off x="8144689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normal-film-perf-top-16"/>
          <p:cNvSpPr/>
          <p:nvPr/>
        </p:nvSpPr>
        <p:spPr>
          <a:xfrm>
            <a:off x="8261854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normal-film-perf-bottom-16"/>
          <p:cNvSpPr/>
          <p:nvPr/>
        </p:nvSpPr>
        <p:spPr>
          <a:xfrm>
            <a:off x="8261854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normal-film-perf-top-17"/>
          <p:cNvSpPr/>
          <p:nvPr/>
        </p:nvSpPr>
        <p:spPr>
          <a:xfrm>
            <a:off x="8379019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normal-film-perf-bottom-17"/>
          <p:cNvSpPr/>
          <p:nvPr/>
        </p:nvSpPr>
        <p:spPr>
          <a:xfrm>
            <a:off x="8379019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normal-film-perf-top-18"/>
          <p:cNvSpPr/>
          <p:nvPr/>
        </p:nvSpPr>
        <p:spPr>
          <a:xfrm>
            <a:off x="8496184" y="4208731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normal-film-perf-bottom-18"/>
          <p:cNvSpPr/>
          <p:nvPr/>
        </p:nvSpPr>
        <p:spPr>
          <a:xfrm>
            <a:off x="8496184" y="4435519"/>
            <a:ext cx="64441" cy="3235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normal-film-blank-0"/>
          <p:cNvSpPr/>
          <p:nvPr/>
        </p:nvSpPr>
        <p:spPr>
          <a:xfrm>
            <a:off x="6393681" y="4254645"/>
            <a:ext cx="419011" cy="166960"/>
          </a:xfrm>
          <a:prstGeom prst="rect">
            <a:avLst/>
          </a:prstGeom>
          <a:solidFill>
            <a:srgbClr val="FFFFFF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5" name="normal-film-frame-1" descr="surveillance-frame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049" y="4254645"/>
            <a:ext cx="419011" cy="166960"/>
          </a:xfrm>
          <a:prstGeom prst="rect">
            <a:avLst/>
          </a:prstGeom>
        </p:spPr>
      </p:pic>
      <p:sp>
        <p:nvSpPr>
          <p:cNvPr id="436" name="normal-film-frame-border-1"/>
          <p:cNvSpPr/>
          <p:nvPr/>
        </p:nvSpPr>
        <p:spPr>
          <a:xfrm>
            <a:off x="6826049" y="4254645"/>
            <a:ext cx="419011" cy="166960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7" name="normal-film-frame-2" descr="surveillance-frame-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417" y="4254645"/>
            <a:ext cx="419011" cy="166960"/>
          </a:xfrm>
          <a:prstGeom prst="rect">
            <a:avLst/>
          </a:prstGeom>
        </p:spPr>
      </p:pic>
      <p:sp>
        <p:nvSpPr>
          <p:cNvPr id="438" name="normal-film-frame-border-2"/>
          <p:cNvSpPr/>
          <p:nvPr/>
        </p:nvSpPr>
        <p:spPr>
          <a:xfrm>
            <a:off x="7258417" y="4254645"/>
            <a:ext cx="419011" cy="166960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9" name="normal-film-frame-3" descr="surveillance-frame-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785" y="4254645"/>
            <a:ext cx="419011" cy="166960"/>
          </a:xfrm>
          <a:prstGeom prst="rect">
            <a:avLst/>
          </a:prstGeom>
        </p:spPr>
      </p:pic>
      <p:sp>
        <p:nvSpPr>
          <p:cNvPr id="440" name="normal-film-frame-border-3"/>
          <p:cNvSpPr/>
          <p:nvPr/>
        </p:nvSpPr>
        <p:spPr>
          <a:xfrm>
            <a:off x="7690785" y="4254645"/>
            <a:ext cx="419011" cy="166960"/>
          </a:xfrm>
          <a:prstGeom prst="rect">
            <a:avLst/>
          </a:prstGeom>
          <a:noFill/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normal-film-blank-4"/>
          <p:cNvSpPr/>
          <p:nvPr/>
        </p:nvSpPr>
        <p:spPr>
          <a:xfrm>
            <a:off x="8123154" y="4254645"/>
            <a:ext cx="419011" cy="166960"/>
          </a:xfrm>
          <a:prstGeom prst="rect">
            <a:avLst/>
          </a:prstGeom>
          <a:solidFill>
            <a:srgbClr val="FFFFFF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normal-caption-1"/>
          <p:cNvSpPr txBox="1"/>
          <p:nvPr/>
        </p:nvSpPr>
        <p:spPr>
          <a:xfrm>
            <a:off x="6328968" y="4478165"/>
            <a:ext cx="2277911" cy="19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000000"/>
                </a:solidFill>
                <a:latin typeface="DejaVu Sans Condensed"/>
              </a:rPr>
              <a:t>Video with Beginning or Ending</a:t>
            </a:r>
          </a:p>
        </p:txBody>
      </p:sp>
      <p:sp>
        <p:nvSpPr>
          <p:cNvPr id="443" name="normal-caption-2"/>
          <p:cNvSpPr txBox="1"/>
          <p:nvPr/>
        </p:nvSpPr>
        <p:spPr>
          <a:xfrm>
            <a:off x="6328968" y="4652891"/>
            <a:ext cx="2277911" cy="19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000000"/>
                </a:solidFill>
                <a:latin typeface="DejaVu Sans Condensed"/>
              </a:rPr>
              <a:t>Segment Discarded</a:t>
            </a:r>
          </a:p>
        </p:txBody>
      </p:sp>
      <p:sp>
        <p:nvSpPr>
          <p:cNvPr id="444" name="normal-film-or"/>
          <p:cNvSpPr txBox="1"/>
          <p:nvPr/>
        </p:nvSpPr>
        <p:spPr>
          <a:xfrm>
            <a:off x="7273783" y="4167541"/>
            <a:ext cx="375338" cy="2264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or</a:t>
            </a:r>
          </a:p>
        </p:txBody>
      </p:sp>
      <p:sp>
        <p:nvSpPr>
          <p:cNvPr id="445" name="verify-presenter-board"/>
          <p:cNvSpPr/>
          <p:nvPr/>
        </p:nvSpPr>
        <p:spPr>
          <a:xfrm>
            <a:off x="8929798" y="3093299"/>
            <a:ext cx="212907" cy="131368"/>
          </a:xfrm>
          <a:prstGeom prst="rect">
            <a:avLst/>
          </a:prstGeom>
          <a:solidFill>
            <a:srgbClr val="DAEEF9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46" name="verify-presenter-board-line1"/>
          <p:cNvCxnSpPr/>
          <p:nvPr/>
        </p:nvCxnSpPr>
        <p:spPr>
          <a:xfrm>
            <a:off x="8979627" y="3129539"/>
            <a:ext cx="126838" cy="0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447" name="verify-presenter-board-line2"/>
          <p:cNvCxnSpPr/>
          <p:nvPr/>
        </p:nvCxnSpPr>
        <p:spPr>
          <a:xfrm>
            <a:off x="8997747" y="3156718"/>
            <a:ext cx="95129" cy="0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448" name="verify-presenter-pointer"/>
          <p:cNvCxnSpPr/>
          <p:nvPr/>
        </p:nvCxnSpPr>
        <p:spPr>
          <a:xfrm flipV="1">
            <a:off x="8938858" y="3183898"/>
            <a:ext cx="113248" cy="122308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449" name="verify-presenter-hair"/>
          <p:cNvSpPr/>
          <p:nvPr/>
        </p:nvSpPr>
        <p:spPr>
          <a:xfrm>
            <a:off x="8839199" y="3174838"/>
            <a:ext cx="140428" cy="176668"/>
          </a:xfrm>
          <a:prstGeom prst="ellipse">
            <a:avLst/>
          </a:prstGeom>
          <a:solidFill>
            <a:srgbClr val="29292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verify-presenter-face"/>
          <p:cNvSpPr/>
          <p:nvPr/>
        </p:nvSpPr>
        <p:spPr>
          <a:xfrm>
            <a:off x="8870909" y="3183898"/>
            <a:ext cx="99659" cy="117778"/>
          </a:xfrm>
          <a:prstGeom prst="ellipse">
            <a:avLst/>
          </a:prstGeom>
          <a:solidFill>
            <a:srgbClr val="F7C7AC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verify-presenter-body"/>
          <p:cNvSpPr/>
          <p:nvPr/>
        </p:nvSpPr>
        <p:spPr>
          <a:xfrm>
            <a:off x="8839199" y="3288086"/>
            <a:ext cx="176668" cy="140428"/>
          </a:xfrm>
          <a:prstGeom prst="roundRect">
            <a:avLst>
              <a:gd name="adj" fmla="val 22580"/>
            </a:avLst>
          </a:prstGeom>
          <a:solidFill>
            <a:srgbClr val="92D050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52" name="verify-presenter-shirt-left"/>
          <p:cNvCxnSpPr/>
          <p:nvPr/>
        </p:nvCxnSpPr>
        <p:spPr>
          <a:xfrm>
            <a:off x="8889029" y="3297146"/>
            <a:ext cx="31709" cy="117779"/>
          </a:xfrm>
          <a:prstGeom prst="line">
            <a:avLst/>
          </a:prstGeom>
          <a:ln w="9707">
            <a:solidFill>
              <a:srgbClr val="000000"/>
            </a:solidFill>
          </a:ln>
        </p:spPr>
      </p:cxnSp>
      <p:cxnSp>
        <p:nvCxnSpPr>
          <p:cNvPr id="453" name="verify-presenter-shirt-right"/>
          <p:cNvCxnSpPr/>
          <p:nvPr/>
        </p:nvCxnSpPr>
        <p:spPr>
          <a:xfrm flipH="1">
            <a:off x="8920738" y="3297146"/>
            <a:ext cx="40770" cy="117779"/>
          </a:xfrm>
          <a:prstGeom prst="line">
            <a:avLst/>
          </a:prstGeom>
          <a:ln w="9707">
            <a:solidFill>
              <a:srgbClr val="000000"/>
            </a:solidFill>
          </a:ln>
        </p:spPr>
      </p:cxnSp>
      <p:cxnSp>
        <p:nvCxnSpPr>
          <p:cNvPr id="454" name="verify-presenter-collar"/>
          <p:cNvCxnSpPr/>
          <p:nvPr/>
        </p:nvCxnSpPr>
        <p:spPr>
          <a:xfrm>
            <a:off x="8907148" y="3297146"/>
            <a:ext cx="31710" cy="45300"/>
          </a:xfrm>
          <a:prstGeom prst="line">
            <a:avLst/>
          </a:prstGeom>
          <a:ln w="9707">
            <a:solidFill>
              <a:srgbClr val="000000"/>
            </a:solidFill>
          </a:ln>
        </p:spPr>
      </p:cxnSp>
      <p:sp>
        <p:nvSpPr>
          <p:cNvPr id="455" name="verify-prompt-label"/>
          <p:cNvSpPr txBox="1"/>
          <p:nvPr/>
        </p:nvSpPr>
        <p:spPr>
          <a:xfrm>
            <a:off x="8710420" y="3390981"/>
            <a:ext cx="750675" cy="2459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Prompt</a:t>
            </a:r>
          </a:p>
        </p:txBody>
      </p:sp>
      <p:cxnSp>
        <p:nvCxnSpPr>
          <p:cNvPr id="456" name="verify-prompt-right"/>
          <p:cNvCxnSpPr/>
          <p:nvPr/>
        </p:nvCxnSpPr>
        <p:spPr>
          <a:xfrm>
            <a:off x="9305783" y="3475108"/>
            <a:ext cx="349452" cy="0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cxnSp>
        <p:nvCxnSpPr>
          <p:cNvPr id="457" name="verify-prompt-down"/>
          <p:cNvCxnSpPr/>
          <p:nvPr/>
        </p:nvCxnSpPr>
        <p:spPr>
          <a:xfrm>
            <a:off x="9111643" y="3630420"/>
            <a:ext cx="0" cy="181198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458" name="verify-or-left"/>
          <p:cNvSpPr txBox="1"/>
          <p:nvPr/>
        </p:nvSpPr>
        <p:spPr>
          <a:xfrm>
            <a:off x="8619821" y="3811618"/>
            <a:ext cx="375338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or</a:t>
            </a:r>
          </a:p>
        </p:txBody>
      </p:sp>
      <p:cxnSp>
        <p:nvCxnSpPr>
          <p:cNvPr id="459" name="verify-abnormal-to-model1"/>
          <p:cNvCxnSpPr/>
          <p:nvPr/>
        </p:nvCxnSpPr>
        <p:spPr>
          <a:xfrm>
            <a:off x="8574522" y="3649834"/>
            <a:ext cx="239439" cy="271796"/>
          </a:xfrm>
          <a:prstGeom prst="line">
            <a:avLst/>
          </a:prstGeom>
          <a:ln w="25885">
            <a:solidFill>
              <a:srgbClr val="000000"/>
            </a:solidFill>
          </a:ln>
        </p:spPr>
      </p:cxnSp>
      <p:cxnSp>
        <p:nvCxnSpPr>
          <p:cNvPr id="460" name="verify-abnormal-to-model2"/>
          <p:cNvCxnSpPr/>
          <p:nvPr/>
        </p:nvCxnSpPr>
        <p:spPr>
          <a:xfrm>
            <a:off x="8813961" y="3921630"/>
            <a:ext cx="77656" cy="0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cxnSp>
        <p:nvCxnSpPr>
          <p:cNvPr id="461" name="verify-normal-to-model"/>
          <p:cNvCxnSpPr/>
          <p:nvPr/>
        </p:nvCxnSpPr>
        <p:spPr>
          <a:xfrm flipV="1">
            <a:off x="8665120" y="4128713"/>
            <a:ext cx="226497" cy="330038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462" name="verify-policy-ear-left"/>
          <p:cNvSpPr/>
          <p:nvPr/>
        </p:nvSpPr>
        <p:spPr>
          <a:xfrm>
            <a:off x="8904560" y="3923960"/>
            <a:ext cx="55653" cy="166960"/>
          </a:xfrm>
          <a:prstGeom prst="roundRect">
            <a:avLst>
              <a:gd name="adj" fmla="val 25000"/>
            </a:avLst>
          </a:prstGeom>
          <a:solidFill>
            <a:srgbClr val="5BC0EB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verify-policy-ear-right"/>
          <p:cNvSpPr/>
          <p:nvPr/>
        </p:nvSpPr>
        <p:spPr>
          <a:xfrm>
            <a:off x="9294134" y="3923960"/>
            <a:ext cx="55653" cy="166960"/>
          </a:xfrm>
          <a:prstGeom prst="roundRect">
            <a:avLst>
              <a:gd name="adj" fmla="val 25000"/>
            </a:avLst>
          </a:prstGeom>
          <a:solidFill>
            <a:srgbClr val="5BC0EB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64" name="verify-policy-antenna"/>
          <p:cNvCxnSpPr/>
          <p:nvPr/>
        </p:nvCxnSpPr>
        <p:spPr>
          <a:xfrm>
            <a:off x="9127174" y="3834914"/>
            <a:ext cx="0" cy="61219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465" name="verify-policy-dot-0"/>
          <p:cNvSpPr/>
          <p:nvPr/>
        </p:nvSpPr>
        <p:spPr>
          <a:xfrm>
            <a:off x="9043694" y="3807088"/>
            <a:ext cx="33392" cy="33392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verify-policy-dot-1"/>
          <p:cNvSpPr/>
          <p:nvPr/>
        </p:nvSpPr>
        <p:spPr>
          <a:xfrm>
            <a:off x="9099347" y="3795957"/>
            <a:ext cx="33392" cy="33392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verify-policy-dot-2"/>
          <p:cNvSpPr/>
          <p:nvPr/>
        </p:nvSpPr>
        <p:spPr>
          <a:xfrm>
            <a:off x="9155001" y="3807088"/>
            <a:ext cx="33392" cy="33392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verify-policy-dot-3"/>
          <p:cNvSpPr/>
          <p:nvPr/>
        </p:nvSpPr>
        <p:spPr>
          <a:xfrm>
            <a:off x="9210654" y="3795957"/>
            <a:ext cx="33392" cy="33392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verify-policy-head"/>
          <p:cNvSpPr/>
          <p:nvPr/>
        </p:nvSpPr>
        <p:spPr>
          <a:xfrm>
            <a:off x="8943517" y="3879437"/>
            <a:ext cx="367313" cy="289398"/>
          </a:xfrm>
          <a:prstGeom prst="roundRect">
            <a:avLst>
              <a:gd name="adj" fmla="val 23076"/>
            </a:avLst>
          </a:prstGeom>
          <a:solidFill>
            <a:srgbClr val="8FD8F9"/>
          </a:solidFill>
          <a:ln w="1617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verify-policy-screen"/>
          <p:cNvSpPr/>
          <p:nvPr/>
        </p:nvSpPr>
        <p:spPr>
          <a:xfrm>
            <a:off x="8988040" y="3912829"/>
            <a:ext cx="278267" cy="200353"/>
          </a:xfrm>
          <a:prstGeom prst="roundRect">
            <a:avLst>
              <a:gd name="adj" fmla="val 22222"/>
            </a:avLst>
          </a:prstGeom>
          <a:solidFill>
            <a:srgbClr val="DAEEF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verify-policy-eye-left"/>
          <p:cNvSpPr/>
          <p:nvPr/>
        </p:nvSpPr>
        <p:spPr>
          <a:xfrm>
            <a:off x="9032563" y="3962917"/>
            <a:ext cx="27827" cy="38957"/>
          </a:xfrm>
          <a:prstGeom prst="ellipse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verify-policy-eye-right"/>
          <p:cNvSpPr/>
          <p:nvPr/>
        </p:nvSpPr>
        <p:spPr>
          <a:xfrm>
            <a:off x="9193958" y="3962917"/>
            <a:ext cx="27827" cy="38957"/>
          </a:xfrm>
          <a:prstGeom prst="ellipse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73" name="verify-policy-mouth"/>
          <p:cNvCxnSpPr/>
          <p:nvPr/>
        </p:nvCxnSpPr>
        <p:spPr>
          <a:xfrm>
            <a:off x="9088216" y="4051963"/>
            <a:ext cx="72350" cy="0"/>
          </a:xfrm>
          <a:prstGeom prst="line">
            <a:avLst/>
          </a:prstGeom>
          <a:ln w="11001">
            <a:solidFill>
              <a:srgbClr val="000000"/>
            </a:solidFill>
          </a:ln>
        </p:spPr>
      </p:cxnSp>
      <p:cxnSp>
        <p:nvCxnSpPr>
          <p:cNvPr id="474" name="verify-policy-cheek-left"/>
          <p:cNvCxnSpPr/>
          <p:nvPr/>
        </p:nvCxnSpPr>
        <p:spPr>
          <a:xfrm>
            <a:off x="9004736" y="4035267"/>
            <a:ext cx="38958" cy="0"/>
          </a:xfrm>
          <a:prstGeom prst="line">
            <a:avLst/>
          </a:prstGeom>
          <a:ln w="8412">
            <a:solidFill>
              <a:srgbClr val="2E75B6"/>
            </a:solidFill>
          </a:ln>
        </p:spPr>
      </p:cxnSp>
      <p:cxnSp>
        <p:nvCxnSpPr>
          <p:cNvPr id="475" name="verify-policy-cheek-right"/>
          <p:cNvCxnSpPr/>
          <p:nvPr/>
        </p:nvCxnSpPr>
        <p:spPr>
          <a:xfrm>
            <a:off x="9210654" y="4035267"/>
            <a:ext cx="38957" cy="0"/>
          </a:xfrm>
          <a:prstGeom prst="line">
            <a:avLst/>
          </a:prstGeom>
          <a:ln w="8412">
            <a:solidFill>
              <a:srgbClr val="2E75B6"/>
            </a:solidFill>
          </a:ln>
        </p:spPr>
      </p:cxnSp>
      <p:sp>
        <p:nvSpPr>
          <p:cNvPr id="476" name="verify-policy-neck"/>
          <p:cNvSpPr/>
          <p:nvPr/>
        </p:nvSpPr>
        <p:spPr>
          <a:xfrm>
            <a:off x="9088216" y="4168835"/>
            <a:ext cx="77915" cy="50088"/>
          </a:xfrm>
          <a:prstGeom prst="rect">
            <a:avLst/>
          </a:prstGeom>
          <a:solidFill>
            <a:srgbClr val="8FD8F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verify-policy-base"/>
          <p:cNvSpPr/>
          <p:nvPr/>
        </p:nvSpPr>
        <p:spPr>
          <a:xfrm>
            <a:off x="9010301" y="4213358"/>
            <a:ext cx="239310" cy="72350"/>
          </a:xfrm>
          <a:prstGeom prst="roundRect">
            <a:avLst>
              <a:gd name="adj" fmla="val 15384"/>
            </a:avLst>
          </a:prstGeom>
          <a:solidFill>
            <a:srgbClr val="8FD8F9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verify-policy-ai"/>
          <p:cNvSpPr txBox="1"/>
          <p:nvPr/>
        </p:nvSpPr>
        <p:spPr>
          <a:xfrm>
            <a:off x="9060390" y="4207793"/>
            <a:ext cx="100176" cy="61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6" b="1" i="0">
                <a:solidFill>
                  <a:srgbClr val="000000"/>
                </a:solidFill>
                <a:latin typeface="DejaVu Sans Condensed"/>
              </a:rPr>
              <a:t>AI</a:t>
            </a:r>
          </a:p>
        </p:txBody>
      </p:sp>
      <p:sp>
        <p:nvSpPr>
          <p:cNvPr id="479" name="verify-policy-flame-outer"/>
          <p:cNvSpPr/>
          <p:nvPr/>
        </p:nvSpPr>
        <p:spPr>
          <a:xfrm>
            <a:off x="9271873" y="3810204"/>
            <a:ext cx="109526" cy="146035"/>
          </a:xfrm>
          <a:prstGeom prst="ellipse">
            <a:avLst/>
          </a:prstGeom>
          <a:solidFill>
            <a:srgbClr val="FF3B30"/>
          </a:solidFill>
          <a:ln w="1164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verify-policy-flame-inner"/>
          <p:cNvSpPr/>
          <p:nvPr/>
        </p:nvSpPr>
        <p:spPr>
          <a:xfrm>
            <a:off x="9303818" y="3855840"/>
            <a:ext cx="45636" cy="77581"/>
          </a:xfrm>
          <a:prstGeom prst="ellipse">
            <a:avLst/>
          </a:prstGeom>
          <a:solidFill>
            <a:srgbClr val="FFC000"/>
          </a:solidFill>
          <a:ln w="6471">
            <a:solidFill>
              <a:srgbClr val="C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81" name="verify-policy-flame-tip1"/>
          <p:cNvCxnSpPr/>
          <p:nvPr/>
        </p:nvCxnSpPr>
        <p:spPr>
          <a:xfrm flipV="1">
            <a:off x="9290127" y="3773695"/>
            <a:ext cx="31945" cy="63891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cxnSp>
        <p:nvCxnSpPr>
          <p:cNvPr id="482" name="verify-policy-flame-tip2"/>
          <p:cNvCxnSpPr/>
          <p:nvPr/>
        </p:nvCxnSpPr>
        <p:spPr>
          <a:xfrm>
            <a:off x="9322072" y="3773695"/>
            <a:ext cx="13691" cy="73018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cxnSp>
        <p:nvCxnSpPr>
          <p:cNvPr id="483" name="verify-policy-flame-tip3"/>
          <p:cNvCxnSpPr/>
          <p:nvPr/>
        </p:nvCxnSpPr>
        <p:spPr>
          <a:xfrm flipV="1">
            <a:off x="9335763" y="3796513"/>
            <a:ext cx="31945" cy="50200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sp>
        <p:nvSpPr>
          <p:cNvPr id="484" name="verify-policy-label-1"/>
          <p:cNvSpPr txBox="1"/>
          <p:nvPr/>
        </p:nvSpPr>
        <p:spPr>
          <a:xfrm>
            <a:off x="8742776" y="4309910"/>
            <a:ext cx="841274" cy="2135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000000"/>
                </a:solidFill>
                <a:latin typeface="DejaVu Sans Condensed"/>
              </a:rPr>
              <a:t>Policy</a:t>
            </a:r>
          </a:p>
        </p:txBody>
      </p:sp>
      <p:sp>
        <p:nvSpPr>
          <p:cNvPr id="485" name="verify-policy-label-2"/>
          <p:cNvSpPr txBox="1"/>
          <p:nvPr/>
        </p:nvSpPr>
        <p:spPr>
          <a:xfrm>
            <a:off x="8742776" y="4504051"/>
            <a:ext cx="841274" cy="2135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000000"/>
                </a:solidFill>
                <a:latin typeface="DejaVu Sans Condensed"/>
              </a:rPr>
              <a:t>Model</a:t>
            </a:r>
          </a:p>
        </p:txBody>
      </p:sp>
      <p:cxnSp>
        <p:nvCxnSpPr>
          <p:cNvPr id="486" name="verify-policy-output-v"/>
          <p:cNvCxnSpPr/>
          <p:nvPr/>
        </p:nvCxnSpPr>
        <p:spPr>
          <a:xfrm>
            <a:off x="9441681" y="4051057"/>
            <a:ext cx="181197" cy="0"/>
          </a:xfrm>
          <a:prstGeom prst="line">
            <a:avLst/>
          </a:prstGeom>
          <a:ln w="25885">
            <a:solidFill>
              <a:srgbClr val="000000"/>
            </a:solidFill>
          </a:ln>
        </p:spPr>
      </p:cxnSp>
      <p:cxnSp>
        <p:nvCxnSpPr>
          <p:cNvPr id="487" name="verify-policy-output-top"/>
          <p:cNvCxnSpPr/>
          <p:nvPr/>
        </p:nvCxnSpPr>
        <p:spPr>
          <a:xfrm flipV="1">
            <a:off x="9622878" y="3475108"/>
            <a:ext cx="0" cy="575949"/>
          </a:xfrm>
          <a:prstGeom prst="line">
            <a:avLst/>
          </a:prstGeom>
          <a:ln w="25885">
            <a:solidFill>
              <a:srgbClr val="000000"/>
            </a:solidFill>
          </a:ln>
        </p:spPr>
      </p:cxnSp>
      <p:cxnSp>
        <p:nvCxnSpPr>
          <p:cNvPr id="488" name="verify-policy-output-bottom"/>
          <p:cNvCxnSpPr/>
          <p:nvPr/>
        </p:nvCxnSpPr>
        <p:spPr>
          <a:xfrm>
            <a:off x="9622878" y="4051057"/>
            <a:ext cx="0" cy="394752"/>
          </a:xfrm>
          <a:prstGeom prst="line">
            <a:avLst/>
          </a:prstGeom>
          <a:ln w="25885">
            <a:solidFill>
              <a:srgbClr val="000000"/>
            </a:solidFill>
          </a:ln>
        </p:spPr>
      </p:cxnSp>
      <p:cxnSp>
        <p:nvCxnSpPr>
          <p:cNvPr id="489" name="verify-top-output-arrow"/>
          <p:cNvCxnSpPr/>
          <p:nvPr/>
        </p:nvCxnSpPr>
        <p:spPr>
          <a:xfrm>
            <a:off x="9622878" y="3475108"/>
            <a:ext cx="84128" cy="0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cxnSp>
        <p:nvCxnSpPr>
          <p:cNvPr id="490" name="verify-bottom-output-arrow"/>
          <p:cNvCxnSpPr/>
          <p:nvPr/>
        </p:nvCxnSpPr>
        <p:spPr>
          <a:xfrm>
            <a:off x="9622878" y="4445809"/>
            <a:ext cx="84128" cy="0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491" name="verify-top-card"/>
          <p:cNvSpPr/>
          <p:nvPr/>
        </p:nvSpPr>
        <p:spPr>
          <a:xfrm>
            <a:off x="9726420" y="3080356"/>
            <a:ext cx="2271439" cy="957758"/>
          </a:xfrm>
          <a:prstGeom prst="roundRect">
            <a:avLst>
              <a:gd name="adj" fmla="val 12162"/>
            </a:avLst>
          </a:prstGeom>
          <a:noFill/>
          <a:ln w="12942">
            <a:solidFill>
              <a:srgbClr val="D9D9D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verify-original"/>
          <p:cNvSpPr txBox="1"/>
          <p:nvPr/>
        </p:nvSpPr>
        <p:spPr>
          <a:xfrm>
            <a:off x="9985273" y="3054471"/>
            <a:ext cx="1100127" cy="2264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DejaVu Sans Condensed"/>
              </a:rPr>
              <a:t>Original</a:t>
            </a:r>
          </a:p>
        </p:txBody>
      </p:sp>
      <p:sp>
        <p:nvSpPr>
          <p:cNvPr id="493" name="verify-new"/>
          <p:cNvSpPr txBox="1"/>
          <p:nvPr/>
        </p:nvSpPr>
        <p:spPr>
          <a:xfrm>
            <a:off x="11370139" y="3054471"/>
            <a:ext cx="595363" cy="2264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DejaVu Sans Condensed"/>
              </a:rPr>
              <a:t>New</a:t>
            </a:r>
          </a:p>
        </p:txBody>
      </p:sp>
      <p:sp>
        <p:nvSpPr>
          <p:cNvPr id="494" name="verify-top-if"/>
          <p:cNvSpPr txBox="1"/>
          <p:nvPr/>
        </p:nvSpPr>
        <p:spPr>
          <a:xfrm>
            <a:off x="9765248" y="3255083"/>
            <a:ext cx="323567" cy="2782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1" b="0" i="0">
                <a:solidFill>
                  <a:srgbClr val="000000"/>
                </a:solidFill>
                <a:latin typeface="DejaVu Sans Condensed"/>
              </a:rPr>
              <a:t>If:</a:t>
            </a:r>
          </a:p>
        </p:txBody>
      </p:sp>
      <p:sp>
        <p:nvSpPr>
          <p:cNvPr id="495" name="verify-top-abnormal"/>
          <p:cNvSpPr/>
          <p:nvPr/>
        </p:nvSpPr>
        <p:spPr>
          <a:xfrm>
            <a:off x="10043515" y="3268025"/>
            <a:ext cx="860688" cy="252382"/>
          </a:xfrm>
          <a:prstGeom prst="roundRect">
            <a:avLst>
              <a:gd name="adj" fmla="val 25000"/>
            </a:avLst>
          </a:prstGeom>
          <a:solidFill>
            <a:srgbClr val="FF9899"/>
          </a:solidFill>
          <a:ln w="12942">
            <a:solidFill>
              <a:srgbClr val="FF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verify-top-abnormal-text"/>
          <p:cNvSpPr txBox="1"/>
          <p:nvPr/>
        </p:nvSpPr>
        <p:spPr>
          <a:xfrm>
            <a:off x="10069400" y="3274497"/>
            <a:ext cx="808917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C00000"/>
                </a:solidFill>
                <a:latin typeface="DejaVu Sans Condensed"/>
              </a:rPr>
              <a:t>Abnormal</a:t>
            </a:r>
          </a:p>
        </p:txBody>
      </p:sp>
      <p:cxnSp>
        <p:nvCxnSpPr>
          <p:cNvPr id="497" name="verify-top-flip"/>
          <p:cNvCxnSpPr/>
          <p:nvPr/>
        </p:nvCxnSpPr>
        <p:spPr>
          <a:xfrm>
            <a:off x="10930088" y="3390981"/>
            <a:ext cx="226497" cy="0"/>
          </a:xfrm>
          <a:prstGeom prst="line">
            <a:avLst/>
          </a:prstGeom>
          <a:ln w="22649">
            <a:solidFill>
              <a:srgbClr val="000000"/>
            </a:solidFill>
            <a:tailEnd type="triangle" w="med" len="med"/>
          </a:ln>
        </p:spPr>
      </p:cxnSp>
      <p:sp>
        <p:nvSpPr>
          <p:cNvPr id="498" name="verify-top-normal"/>
          <p:cNvSpPr/>
          <p:nvPr/>
        </p:nvSpPr>
        <p:spPr>
          <a:xfrm>
            <a:off x="11188942" y="3268025"/>
            <a:ext cx="750675" cy="252382"/>
          </a:xfrm>
          <a:prstGeom prst="roundRect">
            <a:avLst>
              <a:gd name="adj" fmla="val 25000"/>
            </a:avLst>
          </a:prstGeom>
          <a:solidFill>
            <a:srgbClr val="E1EFD8"/>
          </a:solidFill>
          <a:ln w="12942">
            <a:solidFill>
              <a:srgbClr val="54823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verify-top-normal-text"/>
          <p:cNvSpPr txBox="1"/>
          <p:nvPr/>
        </p:nvSpPr>
        <p:spPr>
          <a:xfrm>
            <a:off x="11214827" y="3274497"/>
            <a:ext cx="698904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008000"/>
                </a:solidFill>
                <a:latin typeface="DejaVu Sans Condensed"/>
              </a:rPr>
              <a:t>Normal</a:t>
            </a:r>
          </a:p>
        </p:txBody>
      </p:sp>
      <p:sp>
        <p:nvSpPr>
          <p:cNvPr id="500" name="verify-check-circle"/>
          <p:cNvSpPr/>
          <p:nvPr/>
        </p:nvSpPr>
        <p:spPr>
          <a:xfrm>
            <a:off x="9855846" y="3611006"/>
            <a:ext cx="181197" cy="181197"/>
          </a:xfrm>
          <a:prstGeom prst="ellipse">
            <a:avLst/>
          </a:prstGeom>
          <a:solidFill>
            <a:srgbClr val="92D050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" name="verify-check"/>
          <p:cNvSpPr txBox="1"/>
          <p:nvPr/>
        </p:nvSpPr>
        <p:spPr>
          <a:xfrm>
            <a:off x="9862318" y="3604535"/>
            <a:ext cx="168255" cy="1811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8" b="1" i="0">
                <a:solidFill>
                  <a:srgbClr val="000000"/>
                </a:solidFill>
                <a:latin typeface="DejaVu Sans Condensed"/>
              </a:rPr>
              <a:t>✓</a:t>
            </a:r>
          </a:p>
        </p:txBody>
      </p:sp>
      <p:sp>
        <p:nvSpPr>
          <p:cNvPr id="502" name="verify-top-msg-1"/>
          <p:cNvSpPr txBox="1"/>
          <p:nvPr/>
        </p:nvSpPr>
        <p:spPr>
          <a:xfrm>
            <a:off x="10082343" y="3546293"/>
            <a:ext cx="1307210" cy="19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DejaVu Sans Condensed"/>
              </a:rPr>
              <a:t>The model gave right</a:t>
            </a:r>
          </a:p>
        </p:txBody>
      </p:sp>
      <p:sp>
        <p:nvSpPr>
          <p:cNvPr id="503" name="verify-top-msg-2"/>
          <p:cNvSpPr txBox="1"/>
          <p:nvPr/>
        </p:nvSpPr>
        <p:spPr>
          <a:xfrm>
            <a:off x="10082343" y="3721019"/>
            <a:ext cx="1307210" cy="19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000000"/>
                </a:solidFill>
                <a:latin typeface="DejaVu Sans Condensed"/>
              </a:rPr>
              <a:t>prediction!</a:t>
            </a:r>
          </a:p>
        </p:txBody>
      </p:sp>
      <p:sp>
        <p:nvSpPr>
          <p:cNvPr id="504" name="verify-top-r"/>
          <p:cNvSpPr/>
          <p:nvPr/>
        </p:nvSpPr>
        <p:spPr>
          <a:xfrm>
            <a:off x="11298954" y="3733961"/>
            <a:ext cx="220025" cy="207083"/>
          </a:xfrm>
          <a:prstGeom prst="roundRect">
            <a:avLst>
              <a:gd name="adj" fmla="val 25000"/>
            </a:avLst>
          </a:prstGeom>
          <a:solidFill>
            <a:srgbClr val="00A01A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verify-top-r-text"/>
          <p:cNvSpPr txBox="1"/>
          <p:nvPr/>
        </p:nvSpPr>
        <p:spPr>
          <a:xfrm>
            <a:off x="11298954" y="3733961"/>
            <a:ext cx="220025" cy="2070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R</a:t>
            </a:r>
          </a:p>
        </p:txBody>
      </p:sp>
      <p:sp>
        <p:nvSpPr>
          <p:cNvPr id="506" name="verify-top-score"/>
          <p:cNvSpPr txBox="1"/>
          <p:nvPr/>
        </p:nvSpPr>
        <p:spPr>
          <a:xfrm>
            <a:off x="11538394" y="3714547"/>
            <a:ext cx="414166" cy="2264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000000"/>
                </a:solidFill>
                <a:latin typeface="DejaVu Sans Condensed"/>
              </a:rPr>
              <a:t>= 0.5</a:t>
            </a:r>
          </a:p>
        </p:txBody>
      </p:sp>
      <p:sp>
        <p:nvSpPr>
          <p:cNvPr id="507" name="verify-bottom-card"/>
          <p:cNvSpPr/>
          <p:nvPr/>
        </p:nvSpPr>
        <p:spPr>
          <a:xfrm>
            <a:off x="9726420" y="4089885"/>
            <a:ext cx="2271439" cy="744204"/>
          </a:xfrm>
          <a:prstGeom prst="roundRect">
            <a:avLst>
              <a:gd name="adj" fmla="val 15652"/>
            </a:avLst>
          </a:prstGeom>
          <a:noFill/>
          <a:ln w="12942">
            <a:solidFill>
              <a:srgbClr val="D9D9D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verify-bottom-if"/>
          <p:cNvSpPr txBox="1"/>
          <p:nvPr/>
        </p:nvSpPr>
        <p:spPr>
          <a:xfrm>
            <a:off x="9765248" y="4141656"/>
            <a:ext cx="323567" cy="271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1" b="0" i="0">
                <a:solidFill>
                  <a:srgbClr val="000000"/>
                </a:solidFill>
                <a:latin typeface="DejaVu Sans Condensed"/>
              </a:rPr>
              <a:t>If:</a:t>
            </a:r>
          </a:p>
        </p:txBody>
      </p:sp>
      <p:sp>
        <p:nvSpPr>
          <p:cNvPr id="509" name="verify-bottom-normal"/>
          <p:cNvSpPr/>
          <p:nvPr/>
        </p:nvSpPr>
        <p:spPr>
          <a:xfrm>
            <a:off x="10049986" y="4154598"/>
            <a:ext cx="770089" cy="252382"/>
          </a:xfrm>
          <a:prstGeom prst="roundRect">
            <a:avLst>
              <a:gd name="adj" fmla="val 25000"/>
            </a:avLst>
          </a:prstGeom>
          <a:solidFill>
            <a:srgbClr val="E1EFD8"/>
          </a:solidFill>
          <a:ln w="12942">
            <a:solidFill>
              <a:srgbClr val="5482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verify-bottom-normal-text"/>
          <p:cNvSpPr txBox="1"/>
          <p:nvPr/>
        </p:nvSpPr>
        <p:spPr>
          <a:xfrm>
            <a:off x="10075872" y="4161070"/>
            <a:ext cx="718318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008000"/>
                </a:solidFill>
                <a:latin typeface="DejaVu Sans Condensed"/>
              </a:rPr>
              <a:t>Normal</a:t>
            </a:r>
          </a:p>
        </p:txBody>
      </p:sp>
      <p:cxnSp>
        <p:nvCxnSpPr>
          <p:cNvPr id="511" name="verify-bottom-flip"/>
          <p:cNvCxnSpPr/>
          <p:nvPr/>
        </p:nvCxnSpPr>
        <p:spPr>
          <a:xfrm>
            <a:off x="10852432" y="4277554"/>
            <a:ext cx="226497" cy="0"/>
          </a:xfrm>
          <a:prstGeom prst="line">
            <a:avLst/>
          </a:prstGeom>
          <a:ln w="22649">
            <a:solidFill>
              <a:srgbClr val="000000"/>
            </a:solidFill>
            <a:tailEnd type="triangle" w="med" len="med"/>
          </a:ln>
        </p:spPr>
      </p:cxnSp>
      <p:sp>
        <p:nvSpPr>
          <p:cNvPr id="512" name="verify-bottom-abnormal"/>
          <p:cNvSpPr/>
          <p:nvPr/>
        </p:nvSpPr>
        <p:spPr>
          <a:xfrm>
            <a:off x="11111286" y="4154598"/>
            <a:ext cx="828331" cy="252382"/>
          </a:xfrm>
          <a:prstGeom prst="roundRect">
            <a:avLst>
              <a:gd name="adj" fmla="val 25000"/>
            </a:avLst>
          </a:prstGeom>
          <a:solidFill>
            <a:srgbClr val="FF9899"/>
          </a:solidFill>
          <a:ln w="12942">
            <a:solidFill>
              <a:srgbClr val="FF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verify-bottom-abnormal-text"/>
          <p:cNvSpPr txBox="1"/>
          <p:nvPr/>
        </p:nvSpPr>
        <p:spPr>
          <a:xfrm>
            <a:off x="11137171" y="4161070"/>
            <a:ext cx="776560" cy="239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C00000"/>
                </a:solidFill>
                <a:latin typeface="DejaVu Sans Condensed"/>
              </a:rPr>
              <a:t>Abnormal</a:t>
            </a:r>
          </a:p>
        </p:txBody>
      </p:sp>
      <p:sp>
        <p:nvSpPr>
          <p:cNvPr id="514" name="verify-x-circle"/>
          <p:cNvSpPr/>
          <p:nvPr/>
        </p:nvSpPr>
        <p:spPr>
          <a:xfrm>
            <a:off x="9855846" y="4504051"/>
            <a:ext cx="181197" cy="181197"/>
          </a:xfrm>
          <a:prstGeom prst="ellipse">
            <a:avLst/>
          </a:prstGeom>
          <a:solidFill>
            <a:srgbClr val="FF5B4D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verify-x"/>
          <p:cNvSpPr txBox="1"/>
          <p:nvPr/>
        </p:nvSpPr>
        <p:spPr>
          <a:xfrm>
            <a:off x="9862318" y="4497579"/>
            <a:ext cx="168255" cy="1811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0000"/>
                </a:solidFill>
                <a:latin typeface="DejaVu Sans Condensed"/>
              </a:rPr>
              <a:t>×</a:t>
            </a:r>
          </a:p>
        </p:txBody>
      </p:sp>
      <p:sp>
        <p:nvSpPr>
          <p:cNvPr id="516" name="verify-bottom-msg-1"/>
          <p:cNvSpPr txBox="1"/>
          <p:nvPr/>
        </p:nvSpPr>
        <p:spPr>
          <a:xfrm>
            <a:off x="10075872" y="4426395"/>
            <a:ext cx="1430165" cy="1811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000000"/>
                </a:solidFill>
                <a:latin typeface="DejaVu Sans Condensed"/>
              </a:rPr>
              <a:t>The model just saw a few</a:t>
            </a:r>
          </a:p>
        </p:txBody>
      </p:sp>
      <p:sp>
        <p:nvSpPr>
          <p:cNvPr id="517" name="verify-bottom-msg-2"/>
          <p:cNvSpPr txBox="1"/>
          <p:nvPr/>
        </p:nvSpPr>
        <p:spPr>
          <a:xfrm>
            <a:off x="10075872" y="4588178"/>
            <a:ext cx="1430165" cy="1811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000000"/>
                </a:solidFill>
                <a:latin typeface="DejaVu Sans Condensed"/>
              </a:rPr>
              <a:t>frames!</a:t>
            </a:r>
          </a:p>
        </p:txBody>
      </p:sp>
      <p:sp>
        <p:nvSpPr>
          <p:cNvPr id="518" name="verify-bottom-r"/>
          <p:cNvSpPr/>
          <p:nvPr/>
        </p:nvSpPr>
        <p:spPr>
          <a:xfrm>
            <a:off x="11169528" y="4601121"/>
            <a:ext cx="220025" cy="207083"/>
          </a:xfrm>
          <a:prstGeom prst="roundRect">
            <a:avLst>
              <a:gd name="adj" fmla="val 25000"/>
            </a:avLst>
          </a:prstGeom>
          <a:solidFill>
            <a:srgbClr val="00A01A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verify-bottom-r-text"/>
          <p:cNvSpPr txBox="1"/>
          <p:nvPr/>
        </p:nvSpPr>
        <p:spPr>
          <a:xfrm>
            <a:off x="11169528" y="4601121"/>
            <a:ext cx="220025" cy="2070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R</a:t>
            </a:r>
          </a:p>
        </p:txBody>
      </p:sp>
      <p:sp>
        <p:nvSpPr>
          <p:cNvPr id="520" name="verify-bottom-score"/>
          <p:cNvSpPr txBox="1"/>
          <p:nvPr/>
        </p:nvSpPr>
        <p:spPr>
          <a:xfrm>
            <a:off x="11415439" y="4581707"/>
            <a:ext cx="530650" cy="2264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000000"/>
                </a:solidFill>
                <a:latin typeface="DejaVu Sans Condensed"/>
              </a:rPr>
              <a:t>= -0.2</a:t>
            </a:r>
          </a:p>
        </p:txBody>
      </p:sp>
      <p:sp>
        <p:nvSpPr>
          <p:cNvPr id="521" name="step3-heading"/>
          <p:cNvSpPr txBox="1"/>
          <p:nvPr/>
        </p:nvSpPr>
        <p:spPr>
          <a:xfrm>
            <a:off x="5312968" y="4944102"/>
            <a:ext cx="3429809" cy="2912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9" b="1" i="0">
                <a:solidFill>
                  <a:srgbClr val="000000"/>
                </a:solidFill>
                <a:latin typeface="DejaVu Sans Condensed"/>
              </a:rPr>
              <a:t>Step 3: Computing KL Divergence</a:t>
            </a:r>
          </a:p>
        </p:txBody>
      </p:sp>
      <p:cxnSp>
        <p:nvCxnSpPr>
          <p:cNvPr id="522" name="step3-underline"/>
          <p:cNvCxnSpPr/>
          <p:nvPr/>
        </p:nvCxnSpPr>
        <p:spPr>
          <a:xfrm>
            <a:off x="5312968" y="5215898"/>
            <a:ext cx="3468636" cy="0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523" name="step3-completion1"/>
          <p:cNvSpPr/>
          <p:nvPr/>
        </p:nvSpPr>
        <p:spPr>
          <a:xfrm>
            <a:off x="5261197" y="5455337"/>
            <a:ext cx="1080713" cy="258853"/>
          </a:xfrm>
          <a:prstGeom prst="roundRect">
            <a:avLst>
              <a:gd name="adj" fmla="val 25000"/>
            </a:avLst>
          </a:prstGeom>
          <a:solidFill>
            <a:srgbClr val="F4B083"/>
          </a:solidFill>
          <a:ln w="12942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step3-completion1-text"/>
          <p:cNvSpPr txBox="1"/>
          <p:nvPr/>
        </p:nvSpPr>
        <p:spPr>
          <a:xfrm>
            <a:off x="5287082" y="5461808"/>
            <a:ext cx="1028943" cy="2459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000000"/>
                </a:solidFill>
                <a:latin typeface="DejaVu Sans Condensed"/>
              </a:rPr>
              <a:t>Completion 1</a:t>
            </a:r>
          </a:p>
        </p:txBody>
      </p:sp>
      <p:sp>
        <p:nvSpPr>
          <p:cNvPr id="525" name="step3-completion2"/>
          <p:cNvSpPr/>
          <p:nvPr/>
        </p:nvSpPr>
        <p:spPr>
          <a:xfrm>
            <a:off x="5261197" y="5765961"/>
            <a:ext cx="1080713" cy="258853"/>
          </a:xfrm>
          <a:prstGeom prst="roundRect">
            <a:avLst>
              <a:gd name="adj" fmla="val 25000"/>
            </a:avLst>
          </a:prstGeom>
          <a:solidFill>
            <a:srgbClr val="F4B083"/>
          </a:solidFill>
          <a:ln w="12942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step3-completion2-text"/>
          <p:cNvSpPr txBox="1"/>
          <p:nvPr/>
        </p:nvSpPr>
        <p:spPr>
          <a:xfrm>
            <a:off x="5287082" y="5772433"/>
            <a:ext cx="1028943" cy="2459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000000"/>
                </a:solidFill>
                <a:latin typeface="DejaVu Sans Condensed"/>
              </a:rPr>
              <a:t>Completion 2</a:t>
            </a:r>
          </a:p>
        </p:txBody>
      </p:sp>
      <p:sp>
        <p:nvSpPr>
          <p:cNvPr id="527" name="step3-dots"/>
          <p:cNvSpPr txBox="1"/>
          <p:nvPr/>
        </p:nvSpPr>
        <p:spPr>
          <a:xfrm>
            <a:off x="5649477" y="6005401"/>
            <a:ext cx="323567" cy="2329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000000"/>
                </a:solidFill>
                <a:latin typeface="DejaVu Sans Condensed"/>
              </a:rPr>
              <a:t>...</a:t>
            </a:r>
          </a:p>
        </p:txBody>
      </p:sp>
      <p:sp>
        <p:nvSpPr>
          <p:cNvPr id="528" name="step3-group-1"/>
          <p:cNvSpPr txBox="1"/>
          <p:nvPr/>
        </p:nvSpPr>
        <p:spPr>
          <a:xfrm>
            <a:off x="5306496" y="6238369"/>
            <a:ext cx="1106599" cy="2070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A Group of</a:t>
            </a:r>
          </a:p>
        </p:txBody>
      </p:sp>
      <p:sp>
        <p:nvSpPr>
          <p:cNvPr id="529" name="step3-group-2"/>
          <p:cNvSpPr txBox="1"/>
          <p:nvPr/>
        </p:nvSpPr>
        <p:spPr>
          <a:xfrm>
            <a:off x="5306496" y="6426038"/>
            <a:ext cx="1106599" cy="2070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Completions</a:t>
            </a:r>
          </a:p>
        </p:txBody>
      </p:sp>
      <p:cxnSp>
        <p:nvCxnSpPr>
          <p:cNvPr id="530" name="step3-bracket-v"/>
          <p:cNvCxnSpPr/>
          <p:nvPr/>
        </p:nvCxnSpPr>
        <p:spPr>
          <a:xfrm>
            <a:off x="6529579" y="5520051"/>
            <a:ext cx="0" cy="1132483"/>
          </a:xfrm>
          <a:prstGeom prst="line">
            <a:avLst/>
          </a:prstGeom>
          <a:ln w="25885">
            <a:solidFill>
              <a:srgbClr val="000000"/>
            </a:solidFill>
          </a:ln>
        </p:spPr>
      </p:cxnSp>
      <p:cxnSp>
        <p:nvCxnSpPr>
          <p:cNvPr id="531" name="step3-bracket-top"/>
          <p:cNvCxnSpPr/>
          <p:nvPr/>
        </p:nvCxnSpPr>
        <p:spPr>
          <a:xfrm>
            <a:off x="6341910" y="5584764"/>
            <a:ext cx="187669" cy="0"/>
          </a:xfrm>
          <a:prstGeom prst="line">
            <a:avLst/>
          </a:prstGeom>
          <a:ln w="25885">
            <a:solidFill>
              <a:srgbClr val="000000"/>
            </a:solidFill>
          </a:ln>
        </p:spPr>
      </p:cxnSp>
      <p:cxnSp>
        <p:nvCxnSpPr>
          <p:cNvPr id="532" name="step3-bracket-mid"/>
          <p:cNvCxnSpPr/>
          <p:nvPr/>
        </p:nvCxnSpPr>
        <p:spPr>
          <a:xfrm>
            <a:off x="6341910" y="5901859"/>
            <a:ext cx="187669" cy="0"/>
          </a:xfrm>
          <a:prstGeom prst="line">
            <a:avLst/>
          </a:prstGeom>
          <a:ln w="25885">
            <a:solidFill>
              <a:srgbClr val="000000"/>
            </a:solidFill>
          </a:ln>
        </p:spPr>
      </p:cxnSp>
      <p:cxnSp>
        <p:nvCxnSpPr>
          <p:cNvPr id="533" name="step3-policy-arrow"/>
          <p:cNvCxnSpPr/>
          <p:nvPr/>
        </p:nvCxnSpPr>
        <p:spPr>
          <a:xfrm>
            <a:off x="6529579" y="5520051"/>
            <a:ext cx="213554" cy="0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cxnSp>
        <p:nvCxnSpPr>
          <p:cNvPr id="534" name="step3-ref-arrow"/>
          <p:cNvCxnSpPr/>
          <p:nvPr/>
        </p:nvCxnSpPr>
        <p:spPr>
          <a:xfrm>
            <a:off x="6529579" y="6568407"/>
            <a:ext cx="213554" cy="0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535" name="step3-policy-label-1"/>
          <p:cNvSpPr txBox="1"/>
          <p:nvPr/>
        </p:nvSpPr>
        <p:spPr>
          <a:xfrm>
            <a:off x="6781961" y="5287082"/>
            <a:ext cx="873631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DejaVu Sans Condensed"/>
              </a:rPr>
              <a:t>Policy</a:t>
            </a:r>
          </a:p>
        </p:txBody>
      </p:sp>
      <p:sp>
        <p:nvSpPr>
          <p:cNvPr id="536" name="step3-policy-label-2"/>
          <p:cNvSpPr txBox="1"/>
          <p:nvPr/>
        </p:nvSpPr>
        <p:spPr>
          <a:xfrm>
            <a:off x="6781961" y="5487694"/>
            <a:ext cx="873631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DejaVu Sans Condensed"/>
              </a:rPr>
              <a:t>Model</a:t>
            </a:r>
          </a:p>
        </p:txBody>
      </p:sp>
      <p:sp>
        <p:nvSpPr>
          <p:cNvPr id="537" name="step3-policy-ear-left"/>
          <p:cNvSpPr/>
          <p:nvPr/>
        </p:nvSpPr>
        <p:spPr>
          <a:xfrm>
            <a:off x="7642649" y="5357102"/>
            <a:ext cx="36887" cy="110660"/>
          </a:xfrm>
          <a:prstGeom prst="roundRect">
            <a:avLst>
              <a:gd name="adj" fmla="val 25000"/>
            </a:avLst>
          </a:prstGeom>
          <a:solidFill>
            <a:srgbClr val="5BC0EB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step3-policy-ear-right"/>
          <p:cNvSpPr/>
          <p:nvPr/>
        </p:nvSpPr>
        <p:spPr>
          <a:xfrm>
            <a:off x="7900855" y="5357102"/>
            <a:ext cx="36887" cy="110660"/>
          </a:xfrm>
          <a:prstGeom prst="roundRect">
            <a:avLst>
              <a:gd name="adj" fmla="val 25000"/>
            </a:avLst>
          </a:prstGeom>
          <a:solidFill>
            <a:srgbClr val="5BC0EB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39" name="step3-policy-antenna"/>
          <p:cNvCxnSpPr/>
          <p:nvPr/>
        </p:nvCxnSpPr>
        <p:spPr>
          <a:xfrm>
            <a:off x="7790196" y="5298084"/>
            <a:ext cx="0" cy="40575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540" name="step3-policy-dot-0"/>
          <p:cNvSpPr/>
          <p:nvPr/>
        </p:nvSpPr>
        <p:spPr>
          <a:xfrm>
            <a:off x="7734866" y="5279640"/>
            <a:ext cx="22132" cy="22132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1" name="step3-policy-dot-1"/>
          <p:cNvSpPr/>
          <p:nvPr/>
        </p:nvSpPr>
        <p:spPr>
          <a:xfrm>
            <a:off x="7771752" y="5272263"/>
            <a:ext cx="22132" cy="22132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2" name="step3-policy-dot-2"/>
          <p:cNvSpPr/>
          <p:nvPr/>
        </p:nvSpPr>
        <p:spPr>
          <a:xfrm>
            <a:off x="7808639" y="5279640"/>
            <a:ext cx="22132" cy="22132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step3-policy-dot-3"/>
          <p:cNvSpPr/>
          <p:nvPr/>
        </p:nvSpPr>
        <p:spPr>
          <a:xfrm>
            <a:off x="7845525" y="5272263"/>
            <a:ext cx="22132" cy="22132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4" name="step3-policy-head"/>
          <p:cNvSpPr/>
          <p:nvPr/>
        </p:nvSpPr>
        <p:spPr>
          <a:xfrm>
            <a:off x="7668470" y="5327593"/>
            <a:ext cx="243452" cy="191810"/>
          </a:xfrm>
          <a:prstGeom prst="roundRect">
            <a:avLst>
              <a:gd name="adj" fmla="val 23076"/>
            </a:avLst>
          </a:prstGeom>
          <a:solidFill>
            <a:srgbClr val="8FD8F9"/>
          </a:solidFill>
          <a:ln w="1617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5" name="step3-policy-screen"/>
          <p:cNvSpPr/>
          <p:nvPr/>
        </p:nvSpPr>
        <p:spPr>
          <a:xfrm>
            <a:off x="7697979" y="5349725"/>
            <a:ext cx="184433" cy="132792"/>
          </a:xfrm>
          <a:prstGeom prst="roundRect">
            <a:avLst>
              <a:gd name="adj" fmla="val 22222"/>
            </a:avLst>
          </a:prstGeom>
          <a:solidFill>
            <a:srgbClr val="DAEEF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6" name="step3-policy-eye-left"/>
          <p:cNvSpPr/>
          <p:nvPr/>
        </p:nvSpPr>
        <p:spPr>
          <a:xfrm>
            <a:off x="7727488" y="5382923"/>
            <a:ext cx="18443" cy="25821"/>
          </a:xfrm>
          <a:prstGeom prst="ellipse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step3-policy-eye-right"/>
          <p:cNvSpPr/>
          <p:nvPr/>
        </p:nvSpPr>
        <p:spPr>
          <a:xfrm>
            <a:off x="7834459" y="5382923"/>
            <a:ext cx="18443" cy="25821"/>
          </a:xfrm>
          <a:prstGeom prst="ellipse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48" name="step3-policy-mouth"/>
          <p:cNvCxnSpPr/>
          <p:nvPr/>
        </p:nvCxnSpPr>
        <p:spPr>
          <a:xfrm>
            <a:off x="7764375" y="5441941"/>
            <a:ext cx="47953" cy="0"/>
          </a:xfrm>
          <a:prstGeom prst="line">
            <a:avLst/>
          </a:prstGeom>
          <a:ln w="11001">
            <a:solidFill>
              <a:srgbClr val="000000"/>
            </a:solidFill>
          </a:ln>
        </p:spPr>
      </p:cxnSp>
      <p:cxnSp>
        <p:nvCxnSpPr>
          <p:cNvPr id="549" name="step3-policy-cheek-left"/>
          <p:cNvCxnSpPr/>
          <p:nvPr/>
        </p:nvCxnSpPr>
        <p:spPr>
          <a:xfrm>
            <a:off x="7709045" y="5430875"/>
            <a:ext cx="25821" cy="0"/>
          </a:xfrm>
          <a:prstGeom prst="line">
            <a:avLst/>
          </a:prstGeom>
          <a:ln w="8412">
            <a:solidFill>
              <a:srgbClr val="2E75B6"/>
            </a:solidFill>
          </a:ln>
        </p:spPr>
      </p:cxnSp>
      <p:cxnSp>
        <p:nvCxnSpPr>
          <p:cNvPr id="550" name="step3-policy-cheek-right"/>
          <p:cNvCxnSpPr/>
          <p:nvPr/>
        </p:nvCxnSpPr>
        <p:spPr>
          <a:xfrm>
            <a:off x="7845525" y="5430875"/>
            <a:ext cx="25821" cy="0"/>
          </a:xfrm>
          <a:prstGeom prst="line">
            <a:avLst/>
          </a:prstGeom>
          <a:ln w="8412">
            <a:solidFill>
              <a:srgbClr val="2E75B6"/>
            </a:solidFill>
          </a:ln>
        </p:spPr>
      </p:cxnSp>
      <p:sp>
        <p:nvSpPr>
          <p:cNvPr id="551" name="step3-policy-neck"/>
          <p:cNvSpPr/>
          <p:nvPr/>
        </p:nvSpPr>
        <p:spPr>
          <a:xfrm>
            <a:off x="7764375" y="5519403"/>
            <a:ext cx="51641" cy="33198"/>
          </a:xfrm>
          <a:prstGeom prst="rect">
            <a:avLst/>
          </a:prstGeom>
          <a:solidFill>
            <a:srgbClr val="8FD8F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step3-policy-base"/>
          <p:cNvSpPr/>
          <p:nvPr/>
        </p:nvSpPr>
        <p:spPr>
          <a:xfrm>
            <a:off x="7712734" y="5548913"/>
            <a:ext cx="158612" cy="47953"/>
          </a:xfrm>
          <a:prstGeom prst="roundRect">
            <a:avLst>
              <a:gd name="adj" fmla="val 15384"/>
            </a:avLst>
          </a:prstGeom>
          <a:solidFill>
            <a:srgbClr val="8FD8F9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step3-policy-ai"/>
          <p:cNvSpPr txBox="1"/>
          <p:nvPr/>
        </p:nvSpPr>
        <p:spPr>
          <a:xfrm>
            <a:off x="7745932" y="5545224"/>
            <a:ext cx="66396" cy="405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3" b="1" i="0">
                <a:solidFill>
                  <a:srgbClr val="000000"/>
                </a:solidFill>
                <a:latin typeface="DejaVu Sans Condensed"/>
              </a:rPr>
              <a:t>AI</a:t>
            </a:r>
          </a:p>
        </p:txBody>
      </p:sp>
      <p:sp>
        <p:nvSpPr>
          <p:cNvPr id="554" name="step3-policy-flame-outer"/>
          <p:cNvSpPr/>
          <p:nvPr/>
        </p:nvSpPr>
        <p:spPr>
          <a:xfrm>
            <a:off x="7886101" y="5281706"/>
            <a:ext cx="72593" cy="96790"/>
          </a:xfrm>
          <a:prstGeom prst="ellipse">
            <a:avLst/>
          </a:prstGeom>
          <a:solidFill>
            <a:srgbClr val="FF3B30"/>
          </a:solidFill>
          <a:ln w="1164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step3-policy-flame-inner"/>
          <p:cNvSpPr/>
          <p:nvPr/>
        </p:nvSpPr>
        <p:spPr>
          <a:xfrm>
            <a:off x="7907274" y="5311953"/>
            <a:ext cx="30247" cy="51420"/>
          </a:xfrm>
          <a:prstGeom prst="ellipse">
            <a:avLst/>
          </a:prstGeom>
          <a:solidFill>
            <a:srgbClr val="FFC000"/>
          </a:solidFill>
          <a:ln w="6471">
            <a:solidFill>
              <a:srgbClr val="C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56" name="step3-policy-flame-tip1"/>
          <p:cNvCxnSpPr/>
          <p:nvPr/>
        </p:nvCxnSpPr>
        <p:spPr>
          <a:xfrm flipV="1">
            <a:off x="7898200" y="5257508"/>
            <a:ext cx="21172" cy="42346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cxnSp>
        <p:nvCxnSpPr>
          <p:cNvPr id="557" name="step3-policy-flame-tip2"/>
          <p:cNvCxnSpPr/>
          <p:nvPr/>
        </p:nvCxnSpPr>
        <p:spPr>
          <a:xfrm>
            <a:off x="7919372" y="5257508"/>
            <a:ext cx="9075" cy="48396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cxnSp>
        <p:nvCxnSpPr>
          <p:cNvPr id="558" name="step3-policy-flame-tip3"/>
          <p:cNvCxnSpPr/>
          <p:nvPr/>
        </p:nvCxnSpPr>
        <p:spPr>
          <a:xfrm flipV="1">
            <a:off x="7928447" y="5272632"/>
            <a:ext cx="21173" cy="33272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sp>
        <p:nvSpPr>
          <p:cNvPr id="559" name="step3-token-label-1"/>
          <p:cNvSpPr txBox="1"/>
          <p:nvPr/>
        </p:nvSpPr>
        <p:spPr>
          <a:xfrm>
            <a:off x="8218598" y="5293554"/>
            <a:ext cx="970701" cy="200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000000"/>
                </a:solidFill>
                <a:latin typeface="DejaVu Sans Condensed"/>
              </a:rPr>
              <a:t>Token Wise</a:t>
            </a:r>
          </a:p>
        </p:txBody>
      </p:sp>
      <p:sp>
        <p:nvSpPr>
          <p:cNvPr id="560" name="step3-token-label-2"/>
          <p:cNvSpPr txBox="1"/>
          <p:nvPr/>
        </p:nvSpPr>
        <p:spPr>
          <a:xfrm>
            <a:off x="8218598" y="5474751"/>
            <a:ext cx="970701" cy="2006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000000"/>
                </a:solidFill>
                <a:latin typeface="DejaVu Sans Condensed"/>
              </a:rPr>
              <a:t>Logits</a:t>
            </a:r>
          </a:p>
        </p:txBody>
      </p:sp>
      <p:cxnSp>
        <p:nvCxnSpPr>
          <p:cNvPr id="561" name="step3-policy-logits-h"/>
          <p:cNvCxnSpPr/>
          <p:nvPr/>
        </p:nvCxnSpPr>
        <p:spPr>
          <a:xfrm>
            <a:off x="7972687" y="5500636"/>
            <a:ext cx="388280" cy="0"/>
          </a:xfrm>
          <a:prstGeom prst="line">
            <a:avLst/>
          </a:prstGeom>
          <a:ln w="25885">
            <a:solidFill>
              <a:srgbClr val="000000"/>
            </a:solidFill>
          </a:ln>
        </p:spPr>
      </p:cxnSp>
      <p:cxnSp>
        <p:nvCxnSpPr>
          <p:cNvPr id="562" name="step3-policy-logits-v"/>
          <p:cNvCxnSpPr/>
          <p:nvPr/>
        </p:nvCxnSpPr>
        <p:spPr>
          <a:xfrm>
            <a:off x="8360967" y="5500636"/>
            <a:ext cx="0" cy="232969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563" name="step3-ref-label-1"/>
          <p:cNvSpPr txBox="1"/>
          <p:nvPr/>
        </p:nvSpPr>
        <p:spPr>
          <a:xfrm>
            <a:off x="6762547" y="6173656"/>
            <a:ext cx="970701" cy="2135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000000"/>
                </a:solidFill>
                <a:latin typeface="DejaVu Sans Condensed"/>
              </a:rPr>
              <a:t>Reference</a:t>
            </a:r>
          </a:p>
        </p:txBody>
      </p:sp>
      <p:sp>
        <p:nvSpPr>
          <p:cNvPr id="564" name="step3-ref-label-2"/>
          <p:cNvSpPr txBox="1"/>
          <p:nvPr/>
        </p:nvSpPr>
        <p:spPr>
          <a:xfrm>
            <a:off x="6762547" y="6367796"/>
            <a:ext cx="970701" cy="2135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000000"/>
                </a:solidFill>
                <a:latin typeface="DejaVu Sans Condensed"/>
              </a:rPr>
              <a:t>Model</a:t>
            </a:r>
          </a:p>
        </p:txBody>
      </p:sp>
      <p:sp>
        <p:nvSpPr>
          <p:cNvPr id="565" name="step3-reference-ear-left"/>
          <p:cNvSpPr/>
          <p:nvPr/>
        </p:nvSpPr>
        <p:spPr>
          <a:xfrm>
            <a:off x="7636178" y="6243675"/>
            <a:ext cx="36887" cy="110660"/>
          </a:xfrm>
          <a:prstGeom prst="roundRect">
            <a:avLst>
              <a:gd name="adj" fmla="val 25000"/>
            </a:avLst>
          </a:prstGeom>
          <a:solidFill>
            <a:srgbClr val="5BC0EB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6" name="step3-reference-ear-right"/>
          <p:cNvSpPr/>
          <p:nvPr/>
        </p:nvSpPr>
        <p:spPr>
          <a:xfrm>
            <a:off x="7894384" y="6243675"/>
            <a:ext cx="36887" cy="110660"/>
          </a:xfrm>
          <a:prstGeom prst="roundRect">
            <a:avLst>
              <a:gd name="adj" fmla="val 25000"/>
            </a:avLst>
          </a:prstGeom>
          <a:solidFill>
            <a:srgbClr val="5BC0EB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67" name="step3-reference-antenna"/>
          <p:cNvCxnSpPr/>
          <p:nvPr/>
        </p:nvCxnSpPr>
        <p:spPr>
          <a:xfrm>
            <a:off x="7783724" y="6184657"/>
            <a:ext cx="0" cy="40575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568" name="step3-reference-dot-0"/>
          <p:cNvSpPr/>
          <p:nvPr/>
        </p:nvSpPr>
        <p:spPr>
          <a:xfrm>
            <a:off x="7728394" y="6166214"/>
            <a:ext cx="22132" cy="22132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9" name="step3-reference-dot-1"/>
          <p:cNvSpPr/>
          <p:nvPr/>
        </p:nvSpPr>
        <p:spPr>
          <a:xfrm>
            <a:off x="7765281" y="6158836"/>
            <a:ext cx="22132" cy="22132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0" name="step3-reference-dot-2"/>
          <p:cNvSpPr/>
          <p:nvPr/>
        </p:nvSpPr>
        <p:spPr>
          <a:xfrm>
            <a:off x="7802168" y="6166214"/>
            <a:ext cx="22132" cy="22132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1" name="step3-reference-dot-3"/>
          <p:cNvSpPr/>
          <p:nvPr/>
        </p:nvSpPr>
        <p:spPr>
          <a:xfrm>
            <a:off x="7839054" y="6158836"/>
            <a:ext cx="22132" cy="22132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2" name="step3-reference-head"/>
          <p:cNvSpPr/>
          <p:nvPr/>
        </p:nvSpPr>
        <p:spPr>
          <a:xfrm>
            <a:off x="7661998" y="6214166"/>
            <a:ext cx="243452" cy="191810"/>
          </a:xfrm>
          <a:prstGeom prst="roundRect">
            <a:avLst>
              <a:gd name="adj" fmla="val 23076"/>
            </a:avLst>
          </a:prstGeom>
          <a:solidFill>
            <a:srgbClr val="8FD8F9"/>
          </a:solidFill>
          <a:ln w="1617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3" name="step3-reference-screen"/>
          <p:cNvSpPr/>
          <p:nvPr/>
        </p:nvSpPr>
        <p:spPr>
          <a:xfrm>
            <a:off x="7691508" y="6236298"/>
            <a:ext cx="184433" cy="132792"/>
          </a:xfrm>
          <a:prstGeom prst="roundRect">
            <a:avLst>
              <a:gd name="adj" fmla="val 22222"/>
            </a:avLst>
          </a:prstGeom>
          <a:solidFill>
            <a:srgbClr val="DAEEF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step3-reference-eye-left"/>
          <p:cNvSpPr/>
          <p:nvPr/>
        </p:nvSpPr>
        <p:spPr>
          <a:xfrm>
            <a:off x="7721017" y="6269496"/>
            <a:ext cx="18443" cy="25821"/>
          </a:xfrm>
          <a:prstGeom prst="ellipse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" name="step3-reference-eye-right"/>
          <p:cNvSpPr/>
          <p:nvPr/>
        </p:nvSpPr>
        <p:spPr>
          <a:xfrm>
            <a:off x="7827988" y="6269496"/>
            <a:ext cx="18443" cy="25821"/>
          </a:xfrm>
          <a:prstGeom prst="ellipse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76" name="step3-reference-mouth"/>
          <p:cNvCxnSpPr/>
          <p:nvPr/>
        </p:nvCxnSpPr>
        <p:spPr>
          <a:xfrm>
            <a:off x="7757904" y="6328515"/>
            <a:ext cx="47952" cy="0"/>
          </a:xfrm>
          <a:prstGeom prst="line">
            <a:avLst/>
          </a:prstGeom>
          <a:ln w="11001">
            <a:solidFill>
              <a:srgbClr val="000000"/>
            </a:solidFill>
          </a:ln>
        </p:spPr>
      </p:cxnSp>
      <p:cxnSp>
        <p:nvCxnSpPr>
          <p:cNvPr id="577" name="step3-reference-cheek-left"/>
          <p:cNvCxnSpPr/>
          <p:nvPr/>
        </p:nvCxnSpPr>
        <p:spPr>
          <a:xfrm>
            <a:off x="7702574" y="6317449"/>
            <a:ext cx="25820" cy="0"/>
          </a:xfrm>
          <a:prstGeom prst="line">
            <a:avLst/>
          </a:prstGeom>
          <a:ln w="8412">
            <a:solidFill>
              <a:srgbClr val="2E75B6"/>
            </a:solidFill>
          </a:ln>
        </p:spPr>
      </p:cxnSp>
      <p:cxnSp>
        <p:nvCxnSpPr>
          <p:cNvPr id="578" name="step3-reference-cheek-right"/>
          <p:cNvCxnSpPr/>
          <p:nvPr/>
        </p:nvCxnSpPr>
        <p:spPr>
          <a:xfrm>
            <a:off x="7839054" y="6317449"/>
            <a:ext cx="25821" cy="0"/>
          </a:xfrm>
          <a:prstGeom prst="line">
            <a:avLst/>
          </a:prstGeom>
          <a:ln w="8412">
            <a:solidFill>
              <a:srgbClr val="2E75B6"/>
            </a:solidFill>
          </a:ln>
        </p:spPr>
      </p:cxnSp>
      <p:sp>
        <p:nvSpPr>
          <p:cNvPr id="579" name="step3-reference-neck"/>
          <p:cNvSpPr/>
          <p:nvPr/>
        </p:nvSpPr>
        <p:spPr>
          <a:xfrm>
            <a:off x="7757904" y="6405977"/>
            <a:ext cx="51641" cy="33198"/>
          </a:xfrm>
          <a:prstGeom prst="rect">
            <a:avLst/>
          </a:prstGeom>
          <a:solidFill>
            <a:srgbClr val="8FD8F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0" name="step3-reference-base"/>
          <p:cNvSpPr/>
          <p:nvPr/>
        </p:nvSpPr>
        <p:spPr>
          <a:xfrm>
            <a:off x="7706262" y="6435486"/>
            <a:ext cx="158612" cy="47953"/>
          </a:xfrm>
          <a:prstGeom prst="roundRect">
            <a:avLst>
              <a:gd name="adj" fmla="val 15384"/>
            </a:avLst>
          </a:prstGeom>
          <a:solidFill>
            <a:srgbClr val="8FD8F9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1" name="step3-reference-ai"/>
          <p:cNvSpPr txBox="1"/>
          <p:nvPr/>
        </p:nvSpPr>
        <p:spPr>
          <a:xfrm>
            <a:off x="7739460" y="6431797"/>
            <a:ext cx="66396" cy="405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3" b="1" i="0">
                <a:solidFill>
                  <a:srgbClr val="000000"/>
                </a:solidFill>
                <a:latin typeface="DejaVu Sans Condensed"/>
              </a:rPr>
              <a:t>AI</a:t>
            </a:r>
          </a:p>
        </p:txBody>
      </p:sp>
      <p:cxnSp>
        <p:nvCxnSpPr>
          <p:cNvPr id="582" name="step3-reference-snow-axis-0"/>
          <p:cNvCxnSpPr/>
          <p:nvPr/>
        </p:nvCxnSpPr>
        <p:spPr>
          <a:xfrm>
            <a:off x="7859268" y="6173591"/>
            <a:ext cx="84987" cy="0"/>
          </a:xfrm>
          <a:prstGeom prst="line">
            <a:avLst/>
          </a:prstGeom>
          <a:ln w="12942">
            <a:solidFill>
              <a:srgbClr val="2E75B6"/>
            </a:solidFill>
          </a:ln>
        </p:spPr>
      </p:cxnSp>
      <p:cxnSp>
        <p:nvCxnSpPr>
          <p:cNvPr id="583" name="step3-reference-snow-branch-0--1--0.55"/>
          <p:cNvCxnSpPr/>
          <p:nvPr/>
        </p:nvCxnSpPr>
        <p:spPr>
          <a:xfrm flipV="1">
            <a:off x="7859268" y="6163874"/>
            <a:ext cx="15849" cy="9717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584" name="step3-reference-snow-branch-0--1-0.55"/>
          <p:cNvCxnSpPr/>
          <p:nvPr/>
        </p:nvCxnSpPr>
        <p:spPr>
          <a:xfrm>
            <a:off x="7859268" y="6173591"/>
            <a:ext cx="15849" cy="9717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585" name="step3-reference-snow-branch-0-1--0.55"/>
          <p:cNvCxnSpPr/>
          <p:nvPr/>
        </p:nvCxnSpPr>
        <p:spPr>
          <a:xfrm flipH="1">
            <a:off x="7928406" y="6173591"/>
            <a:ext cx="15849" cy="9717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586" name="step3-reference-snow-branch-0-1-0.55"/>
          <p:cNvCxnSpPr/>
          <p:nvPr/>
        </p:nvCxnSpPr>
        <p:spPr>
          <a:xfrm flipH="1" flipV="1">
            <a:off x="7928406" y="6163874"/>
            <a:ext cx="15849" cy="9717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587" name="step3-reference-snow-axis-1"/>
          <p:cNvCxnSpPr/>
          <p:nvPr/>
        </p:nvCxnSpPr>
        <p:spPr>
          <a:xfrm>
            <a:off x="7880515" y="6136790"/>
            <a:ext cx="42493" cy="73601"/>
          </a:xfrm>
          <a:prstGeom prst="line">
            <a:avLst/>
          </a:prstGeom>
          <a:ln w="12942">
            <a:solidFill>
              <a:srgbClr val="2E75B6"/>
            </a:solidFill>
          </a:ln>
        </p:spPr>
      </p:cxnSp>
      <p:cxnSp>
        <p:nvCxnSpPr>
          <p:cNvPr id="588" name="step3-reference-snow-branch-1--1--0.55"/>
          <p:cNvCxnSpPr/>
          <p:nvPr/>
        </p:nvCxnSpPr>
        <p:spPr>
          <a:xfrm>
            <a:off x="7880515" y="6136790"/>
            <a:ext cx="16340" cy="8868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589" name="step3-reference-snow-branch-1--1-0.55"/>
          <p:cNvCxnSpPr/>
          <p:nvPr/>
        </p:nvCxnSpPr>
        <p:spPr>
          <a:xfrm flipH="1">
            <a:off x="7880024" y="6136790"/>
            <a:ext cx="491" cy="18585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590" name="step3-reference-snow-branch-1-1--0.55"/>
          <p:cNvCxnSpPr/>
          <p:nvPr/>
        </p:nvCxnSpPr>
        <p:spPr>
          <a:xfrm flipH="1" flipV="1">
            <a:off x="7906668" y="6201524"/>
            <a:ext cx="16340" cy="8867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591" name="step3-reference-snow-branch-1-1-0.55"/>
          <p:cNvCxnSpPr/>
          <p:nvPr/>
        </p:nvCxnSpPr>
        <p:spPr>
          <a:xfrm flipV="1">
            <a:off x="7923008" y="6191807"/>
            <a:ext cx="491" cy="18584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592" name="step3-reference-snow-axis-2"/>
          <p:cNvCxnSpPr/>
          <p:nvPr/>
        </p:nvCxnSpPr>
        <p:spPr>
          <a:xfrm flipH="1">
            <a:off x="7880515" y="6136790"/>
            <a:ext cx="42493" cy="73601"/>
          </a:xfrm>
          <a:prstGeom prst="line">
            <a:avLst/>
          </a:prstGeom>
          <a:ln w="12942">
            <a:solidFill>
              <a:srgbClr val="2E75B6"/>
            </a:solidFill>
          </a:ln>
        </p:spPr>
      </p:cxnSp>
      <p:cxnSp>
        <p:nvCxnSpPr>
          <p:cNvPr id="593" name="step3-reference-snow-branch-2--1--0.55"/>
          <p:cNvCxnSpPr/>
          <p:nvPr/>
        </p:nvCxnSpPr>
        <p:spPr>
          <a:xfrm>
            <a:off x="7923008" y="6136790"/>
            <a:ext cx="491" cy="18585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594" name="step3-reference-snow-branch-2--1-0.55"/>
          <p:cNvCxnSpPr/>
          <p:nvPr/>
        </p:nvCxnSpPr>
        <p:spPr>
          <a:xfrm flipH="1">
            <a:off x="7906668" y="6136790"/>
            <a:ext cx="16340" cy="8868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595" name="step3-reference-snow-branch-2-1--0.55"/>
          <p:cNvCxnSpPr/>
          <p:nvPr/>
        </p:nvCxnSpPr>
        <p:spPr>
          <a:xfrm flipH="1" flipV="1">
            <a:off x="7880024" y="6191807"/>
            <a:ext cx="491" cy="18584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596" name="step3-reference-snow-branch-2-1-0.55"/>
          <p:cNvCxnSpPr/>
          <p:nvPr/>
        </p:nvCxnSpPr>
        <p:spPr>
          <a:xfrm flipV="1">
            <a:off x="7880515" y="6201524"/>
            <a:ext cx="16340" cy="8867"/>
          </a:xfrm>
          <a:prstGeom prst="line">
            <a:avLst/>
          </a:prstGeom>
          <a:ln w="9059">
            <a:solidFill>
              <a:srgbClr val="2E75B6"/>
            </a:solidFill>
          </a:ln>
        </p:spPr>
      </p:cxnSp>
      <p:cxnSp>
        <p:nvCxnSpPr>
          <p:cNvPr id="597" name="step3-ref-logits-h"/>
          <p:cNvCxnSpPr/>
          <p:nvPr/>
        </p:nvCxnSpPr>
        <p:spPr>
          <a:xfrm>
            <a:off x="7985630" y="6568407"/>
            <a:ext cx="880102" cy="0"/>
          </a:xfrm>
          <a:prstGeom prst="line">
            <a:avLst/>
          </a:prstGeom>
          <a:ln w="25885">
            <a:solidFill>
              <a:srgbClr val="000000"/>
            </a:solidFill>
          </a:ln>
        </p:spPr>
      </p:cxnSp>
      <p:cxnSp>
        <p:nvCxnSpPr>
          <p:cNvPr id="598" name="step3-ref-logits-v"/>
          <p:cNvCxnSpPr/>
          <p:nvPr/>
        </p:nvCxnSpPr>
        <p:spPr>
          <a:xfrm flipV="1">
            <a:off x="8865732" y="6186598"/>
            <a:ext cx="0" cy="381809"/>
          </a:xfrm>
          <a:prstGeom prst="line">
            <a:avLst/>
          </a:prstGeom>
          <a:ln w="25885">
            <a:solidFill>
              <a:srgbClr val="000000"/>
            </a:solidFill>
            <a:tailEnd type="triangle" w="med" len="med"/>
          </a:ln>
        </p:spPr>
      </p:cxnSp>
      <p:sp>
        <p:nvSpPr>
          <p:cNvPr id="599" name="step3-d-badge"/>
          <p:cNvSpPr/>
          <p:nvPr/>
        </p:nvSpPr>
        <p:spPr>
          <a:xfrm>
            <a:off x="7280254" y="5824203"/>
            <a:ext cx="226497" cy="220025"/>
          </a:xfrm>
          <a:prstGeom prst="roundRect">
            <a:avLst>
              <a:gd name="adj" fmla="val 23529"/>
            </a:avLst>
          </a:prstGeom>
          <a:solidFill>
            <a:srgbClr val="9DC3E6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" name="step3-d-badge-text"/>
          <p:cNvSpPr txBox="1"/>
          <p:nvPr/>
        </p:nvSpPr>
        <p:spPr>
          <a:xfrm>
            <a:off x="7280254" y="5824203"/>
            <a:ext cx="226497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D</a:t>
            </a:r>
          </a:p>
        </p:txBody>
      </p:sp>
      <p:sp>
        <p:nvSpPr>
          <p:cNvPr id="601" name="step3-kl-formula"/>
          <p:cNvSpPr txBox="1"/>
          <p:nvPr/>
        </p:nvSpPr>
        <p:spPr>
          <a:xfrm>
            <a:off x="7539108" y="5785375"/>
            <a:ext cx="401223" cy="2912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5" b="0" i="0">
                <a:solidFill>
                  <a:srgbClr val="000000"/>
                </a:solidFill>
                <a:latin typeface="DejaVu Sans Condensed"/>
              </a:rPr>
              <a:t>= D</a:t>
            </a:r>
          </a:p>
        </p:txBody>
      </p:sp>
      <p:sp>
        <p:nvSpPr>
          <p:cNvPr id="602" name="step3-kl-subscript"/>
          <p:cNvSpPr txBox="1"/>
          <p:nvPr/>
        </p:nvSpPr>
        <p:spPr>
          <a:xfrm>
            <a:off x="7862675" y="5927745"/>
            <a:ext cx="181197" cy="174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5" b="1" i="0">
                <a:solidFill>
                  <a:srgbClr val="000000"/>
                </a:solidFill>
                <a:latin typeface="DejaVu Sans Condensed"/>
              </a:rPr>
              <a:t>KL</a:t>
            </a:r>
          </a:p>
        </p:txBody>
      </p:sp>
      <p:sp>
        <p:nvSpPr>
          <p:cNvPr id="603" name="matrix-left-bracket"/>
          <p:cNvSpPr txBox="1"/>
          <p:nvPr/>
        </p:nvSpPr>
        <p:spPr>
          <a:xfrm>
            <a:off x="7966216" y="5714191"/>
            <a:ext cx="181197" cy="595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68" b="1" i="0">
                <a:solidFill>
                  <a:srgbClr val="000000"/>
                </a:solidFill>
                <a:latin typeface="DejaVu Sans Condensed"/>
              </a:rPr>
              <a:t>⟨</a:t>
            </a:r>
          </a:p>
        </p:txBody>
      </p:sp>
      <p:sp>
        <p:nvSpPr>
          <p:cNvPr id="604" name="matrix-divider"/>
          <p:cNvSpPr txBox="1"/>
          <p:nvPr/>
        </p:nvSpPr>
        <p:spPr>
          <a:xfrm>
            <a:off x="8568050" y="5688305"/>
            <a:ext cx="155312" cy="6471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6" b="1" i="0">
                <a:solidFill>
                  <a:srgbClr val="000000"/>
                </a:solidFill>
                <a:latin typeface="DejaVu Sans Condensed"/>
              </a:rPr>
              <a:t>Ⅱ</a:t>
            </a:r>
          </a:p>
        </p:txBody>
      </p:sp>
      <p:sp>
        <p:nvSpPr>
          <p:cNvPr id="605" name="matrix-right-bracket"/>
          <p:cNvSpPr txBox="1"/>
          <p:nvPr/>
        </p:nvSpPr>
        <p:spPr>
          <a:xfrm>
            <a:off x="9085757" y="5714191"/>
            <a:ext cx="181197" cy="595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68" b="1" i="0">
                <a:solidFill>
                  <a:srgbClr val="000000"/>
                </a:solidFill>
                <a:latin typeface="DejaVu Sans Condensed"/>
              </a:rPr>
              <a:t>⟩</a:t>
            </a:r>
          </a:p>
        </p:txBody>
      </p:sp>
      <p:sp>
        <p:nvSpPr>
          <p:cNvPr id="606" name="matrix-left-0-0"/>
          <p:cNvSpPr/>
          <p:nvPr/>
        </p:nvSpPr>
        <p:spPr>
          <a:xfrm>
            <a:off x="8153885" y="5785375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7" name="matrix-right-0-0"/>
          <p:cNvSpPr/>
          <p:nvPr/>
        </p:nvSpPr>
        <p:spPr>
          <a:xfrm>
            <a:off x="8749248" y="5785375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8" name="matrix-left-0-1"/>
          <p:cNvSpPr/>
          <p:nvPr/>
        </p:nvSpPr>
        <p:spPr>
          <a:xfrm>
            <a:off x="8289783" y="5785375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9" name="matrix-right-0-1"/>
          <p:cNvSpPr/>
          <p:nvPr/>
        </p:nvSpPr>
        <p:spPr>
          <a:xfrm>
            <a:off x="8885146" y="5785375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0" name="matrix-left-0-2"/>
          <p:cNvSpPr/>
          <p:nvPr/>
        </p:nvSpPr>
        <p:spPr>
          <a:xfrm>
            <a:off x="8425681" y="5785375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1" name="matrix-right-0-2"/>
          <p:cNvSpPr/>
          <p:nvPr/>
        </p:nvSpPr>
        <p:spPr>
          <a:xfrm>
            <a:off x="9021044" y="5785375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C659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matrix-left-1-0"/>
          <p:cNvSpPr/>
          <p:nvPr/>
        </p:nvSpPr>
        <p:spPr>
          <a:xfrm>
            <a:off x="8153885" y="5914802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3" name="matrix-right-1-0"/>
          <p:cNvSpPr/>
          <p:nvPr/>
        </p:nvSpPr>
        <p:spPr>
          <a:xfrm>
            <a:off x="8749248" y="5914802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C659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4" name="matrix-left-1-1"/>
          <p:cNvSpPr/>
          <p:nvPr/>
        </p:nvSpPr>
        <p:spPr>
          <a:xfrm>
            <a:off x="8289783" y="5914802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5" name="matrix-right-1-1"/>
          <p:cNvSpPr/>
          <p:nvPr/>
        </p:nvSpPr>
        <p:spPr>
          <a:xfrm>
            <a:off x="8885146" y="5914802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6" name="matrix-left-1-2"/>
          <p:cNvSpPr/>
          <p:nvPr/>
        </p:nvSpPr>
        <p:spPr>
          <a:xfrm>
            <a:off x="8425681" y="5914802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7" name="matrix-right-1-2"/>
          <p:cNvSpPr/>
          <p:nvPr/>
        </p:nvSpPr>
        <p:spPr>
          <a:xfrm>
            <a:off x="9021044" y="5914802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8" name="matrix-left-2-0"/>
          <p:cNvSpPr/>
          <p:nvPr/>
        </p:nvSpPr>
        <p:spPr>
          <a:xfrm>
            <a:off x="8153885" y="6044229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9" name="matrix-right-2-0"/>
          <p:cNvSpPr/>
          <p:nvPr/>
        </p:nvSpPr>
        <p:spPr>
          <a:xfrm>
            <a:off x="8749248" y="6044229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0" name="matrix-left-2-1"/>
          <p:cNvSpPr/>
          <p:nvPr/>
        </p:nvSpPr>
        <p:spPr>
          <a:xfrm>
            <a:off x="8289783" y="6044229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1" name="matrix-right-2-1"/>
          <p:cNvSpPr/>
          <p:nvPr/>
        </p:nvSpPr>
        <p:spPr>
          <a:xfrm>
            <a:off x="8885146" y="6044229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C659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2" name="matrix-left-2-2"/>
          <p:cNvSpPr/>
          <p:nvPr/>
        </p:nvSpPr>
        <p:spPr>
          <a:xfrm>
            <a:off x="8425681" y="6044229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3" name="matrix-right-2-2"/>
          <p:cNvSpPr/>
          <p:nvPr/>
        </p:nvSpPr>
        <p:spPr>
          <a:xfrm>
            <a:off x="9021044" y="6044229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4" name="matrix-left-3-0"/>
          <p:cNvSpPr/>
          <p:nvPr/>
        </p:nvSpPr>
        <p:spPr>
          <a:xfrm>
            <a:off x="8153885" y="6173656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5" name="matrix-right-3-0"/>
          <p:cNvSpPr/>
          <p:nvPr/>
        </p:nvSpPr>
        <p:spPr>
          <a:xfrm>
            <a:off x="8749248" y="6173656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6" name="matrix-left-3-1"/>
          <p:cNvSpPr/>
          <p:nvPr/>
        </p:nvSpPr>
        <p:spPr>
          <a:xfrm>
            <a:off x="8289783" y="6173656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7" name="matrix-right-3-1"/>
          <p:cNvSpPr/>
          <p:nvPr/>
        </p:nvSpPr>
        <p:spPr>
          <a:xfrm>
            <a:off x="8885146" y="6173656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4B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8" name="matrix-left-3-2"/>
          <p:cNvSpPr/>
          <p:nvPr/>
        </p:nvSpPr>
        <p:spPr>
          <a:xfrm>
            <a:off x="8425681" y="6173656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F8CB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9" name="matrix-right-3-2"/>
          <p:cNvSpPr/>
          <p:nvPr/>
        </p:nvSpPr>
        <p:spPr>
          <a:xfrm>
            <a:off x="9021044" y="6173656"/>
            <a:ext cx="103541" cy="103541"/>
          </a:xfrm>
          <a:prstGeom prst="roundRect">
            <a:avLst>
              <a:gd name="adj" fmla="val 25000"/>
            </a:avLst>
          </a:prstGeom>
          <a:solidFill>
            <a:srgbClr val="C659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0" name="step4-heading"/>
          <p:cNvSpPr txBox="1"/>
          <p:nvPr/>
        </p:nvSpPr>
        <p:spPr>
          <a:xfrm>
            <a:off x="9402853" y="4944102"/>
            <a:ext cx="2556178" cy="2912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79" b="1" i="0">
                <a:solidFill>
                  <a:srgbClr val="000000"/>
                </a:solidFill>
                <a:latin typeface="DejaVu Sans Condensed"/>
              </a:rPr>
              <a:t>Step 4: Computing Loss</a:t>
            </a:r>
          </a:p>
        </p:txBody>
      </p:sp>
      <p:cxnSp>
        <p:nvCxnSpPr>
          <p:cNvPr id="631" name="step4-underline"/>
          <p:cNvCxnSpPr/>
          <p:nvPr/>
        </p:nvCxnSpPr>
        <p:spPr>
          <a:xfrm>
            <a:off x="9409324" y="5215898"/>
            <a:ext cx="2374981" cy="0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632" name="step4-sum"/>
          <p:cNvSpPr txBox="1"/>
          <p:nvPr/>
        </p:nvSpPr>
        <p:spPr>
          <a:xfrm>
            <a:off x="9603464" y="5287082"/>
            <a:ext cx="679490" cy="2717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000000"/>
                </a:solidFill>
                <a:latin typeface="DejaVu Sans Condensed"/>
              </a:rPr>
              <a:t>Sum:</a:t>
            </a:r>
          </a:p>
        </p:txBody>
      </p:sp>
      <p:sp>
        <p:nvSpPr>
          <p:cNvPr id="633" name="sum-r1"/>
          <p:cNvSpPr/>
          <p:nvPr/>
        </p:nvSpPr>
        <p:spPr>
          <a:xfrm>
            <a:off x="10334725" y="5280611"/>
            <a:ext cx="226497" cy="220025"/>
          </a:xfrm>
          <a:prstGeom prst="roundRect">
            <a:avLst>
              <a:gd name="adj" fmla="val 23529"/>
            </a:avLst>
          </a:prstGeom>
          <a:solidFill>
            <a:srgbClr val="00A01A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4" name="sum-r1-text"/>
          <p:cNvSpPr txBox="1"/>
          <p:nvPr/>
        </p:nvSpPr>
        <p:spPr>
          <a:xfrm>
            <a:off x="10334725" y="5280611"/>
            <a:ext cx="226497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R</a:t>
            </a:r>
          </a:p>
        </p:txBody>
      </p:sp>
      <p:sp>
        <p:nvSpPr>
          <p:cNvPr id="635" name="sum-eq"/>
          <p:cNvSpPr txBox="1"/>
          <p:nvPr/>
        </p:nvSpPr>
        <p:spPr>
          <a:xfrm>
            <a:off x="10600050" y="5280611"/>
            <a:ext cx="181197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3" b="0" i="0">
                <a:solidFill>
                  <a:srgbClr val="000000"/>
                </a:solidFill>
                <a:latin typeface="DejaVu Sans Condensed"/>
              </a:rPr>
              <a:t>=</a:t>
            </a:r>
          </a:p>
        </p:txBody>
      </p:sp>
      <p:sp>
        <p:nvSpPr>
          <p:cNvPr id="636" name="sum-r2"/>
          <p:cNvSpPr/>
          <p:nvPr/>
        </p:nvSpPr>
        <p:spPr>
          <a:xfrm>
            <a:off x="10807133" y="5280611"/>
            <a:ext cx="226497" cy="220025"/>
          </a:xfrm>
          <a:prstGeom prst="roundRect">
            <a:avLst>
              <a:gd name="adj" fmla="val 23529"/>
            </a:avLst>
          </a:prstGeom>
          <a:solidFill>
            <a:srgbClr val="E1EFD8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7" name="sum-r2-text"/>
          <p:cNvSpPr txBox="1"/>
          <p:nvPr/>
        </p:nvSpPr>
        <p:spPr>
          <a:xfrm>
            <a:off x="10807133" y="5280611"/>
            <a:ext cx="226497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R</a:t>
            </a:r>
          </a:p>
        </p:txBody>
      </p:sp>
      <p:sp>
        <p:nvSpPr>
          <p:cNvPr id="638" name="sum-plus1"/>
          <p:cNvSpPr txBox="1"/>
          <p:nvPr/>
        </p:nvSpPr>
        <p:spPr>
          <a:xfrm>
            <a:off x="11053044" y="5280611"/>
            <a:ext cx="181197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3" b="0" i="0">
                <a:solidFill>
                  <a:srgbClr val="000000"/>
                </a:solidFill>
                <a:latin typeface="DejaVu Sans Condensed"/>
              </a:rPr>
              <a:t>+</a:t>
            </a:r>
          </a:p>
        </p:txBody>
      </p:sp>
      <p:sp>
        <p:nvSpPr>
          <p:cNvPr id="639" name="sum-r3"/>
          <p:cNvSpPr/>
          <p:nvPr/>
        </p:nvSpPr>
        <p:spPr>
          <a:xfrm>
            <a:off x="11234241" y="5280611"/>
            <a:ext cx="226497" cy="220025"/>
          </a:xfrm>
          <a:prstGeom prst="roundRect">
            <a:avLst>
              <a:gd name="adj" fmla="val 23529"/>
            </a:avLst>
          </a:prstGeom>
          <a:solidFill>
            <a:srgbClr val="70AD47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sum-r3-text"/>
          <p:cNvSpPr txBox="1"/>
          <p:nvPr/>
        </p:nvSpPr>
        <p:spPr>
          <a:xfrm>
            <a:off x="11234241" y="5280611"/>
            <a:ext cx="226497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R</a:t>
            </a:r>
          </a:p>
        </p:txBody>
      </p:sp>
      <p:sp>
        <p:nvSpPr>
          <p:cNvPr id="641" name="sum-plus2"/>
          <p:cNvSpPr txBox="1"/>
          <p:nvPr/>
        </p:nvSpPr>
        <p:spPr>
          <a:xfrm>
            <a:off x="11473681" y="5280611"/>
            <a:ext cx="181197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3" b="0" i="0">
                <a:solidFill>
                  <a:srgbClr val="000000"/>
                </a:solidFill>
                <a:latin typeface="DejaVu Sans Condensed"/>
              </a:rPr>
              <a:t>+</a:t>
            </a:r>
          </a:p>
        </p:txBody>
      </p:sp>
      <p:sp>
        <p:nvSpPr>
          <p:cNvPr id="642" name="sum-r4"/>
          <p:cNvSpPr/>
          <p:nvPr/>
        </p:nvSpPr>
        <p:spPr>
          <a:xfrm>
            <a:off x="11654878" y="5280611"/>
            <a:ext cx="226497" cy="220025"/>
          </a:xfrm>
          <a:prstGeom prst="roundRect">
            <a:avLst>
              <a:gd name="adj" fmla="val 23529"/>
            </a:avLst>
          </a:prstGeom>
          <a:solidFill>
            <a:srgbClr val="00A01A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3" name="sum-r4-text"/>
          <p:cNvSpPr txBox="1"/>
          <p:nvPr/>
        </p:nvSpPr>
        <p:spPr>
          <a:xfrm>
            <a:off x="11654878" y="5280611"/>
            <a:ext cx="226497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R</a:t>
            </a:r>
          </a:p>
        </p:txBody>
      </p:sp>
      <p:sp>
        <p:nvSpPr>
          <p:cNvPr id="644" name="step4-normalize"/>
          <p:cNvSpPr txBox="1"/>
          <p:nvPr/>
        </p:nvSpPr>
        <p:spPr>
          <a:xfrm>
            <a:off x="9435209" y="5610649"/>
            <a:ext cx="1061299" cy="2782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4" b="1" i="0">
                <a:solidFill>
                  <a:srgbClr val="000000"/>
                </a:solidFill>
                <a:latin typeface="DejaVu Sans Condensed"/>
              </a:rPr>
              <a:t>Normalize:</a:t>
            </a:r>
          </a:p>
        </p:txBody>
      </p:sp>
      <p:sp>
        <p:nvSpPr>
          <p:cNvPr id="645" name="step4-a"/>
          <p:cNvSpPr/>
          <p:nvPr/>
        </p:nvSpPr>
        <p:spPr>
          <a:xfrm>
            <a:off x="10464152" y="5623592"/>
            <a:ext cx="226497" cy="220025"/>
          </a:xfrm>
          <a:prstGeom prst="roundRect">
            <a:avLst>
              <a:gd name="adj" fmla="val 23529"/>
            </a:avLst>
          </a:prstGeom>
          <a:solidFill>
            <a:srgbClr val="FFE699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" name="step4-a-text"/>
          <p:cNvSpPr txBox="1"/>
          <p:nvPr/>
        </p:nvSpPr>
        <p:spPr>
          <a:xfrm>
            <a:off x="10464152" y="5623592"/>
            <a:ext cx="226497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A</a:t>
            </a:r>
          </a:p>
        </p:txBody>
      </p:sp>
      <p:sp>
        <p:nvSpPr>
          <p:cNvPr id="647" name="normalize-eq"/>
          <p:cNvSpPr txBox="1"/>
          <p:nvPr/>
        </p:nvSpPr>
        <p:spPr>
          <a:xfrm>
            <a:off x="10716534" y="5623592"/>
            <a:ext cx="168255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3" b="0" i="0">
                <a:solidFill>
                  <a:srgbClr val="000000"/>
                </a:solidFill>
                <a:latin typeface="DejaVu Sans Condensed"/>
              </a:rPr>
              <a:t>=</a:t>
            </a:r>
          </a:p>
        </p:txBody>
      </p:sp>
      <p:sp>
        <p:nvSpPr>
          <p:cNvPr id="648" name="normalize-r"/>
          <p:cNvSpPr/>
          <p:nvPr/>
        </p:nvSpPr>
        <p:spPr>
          <a:xfrm>
            <a:off x="11065986" y="5552407"/>
            <a:ext cx="226497" cy="220025"/>
          </a:xfrm>
          <a:prstGeom prst="roundRect">
            <a:avLst>
              <a:gd name="adj" fmla="val 23529"/>
            </a:avLst>
          </a:prstGeom>
          <a:solidFill>
            <a:srgbClr val="00A01A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9" name="normalize-r-text"/>
          <p:cNvSpPr txBox="1"/>
          <p:nvPr/>
        </p:nvSpPr>
        <p:spPr>
          <a:xfrm>
            <a:off x="11065986" y="5552407"/>
            <a:ext cx="226497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R</a:t>
            </a:r>
          </a:p>
        </p:txBody>
      </p:sp>
      <p:sp>
        <p:nvSpPr>
          <p:cNvPr id="650" name="normalize-minus"/>
          <p:cNvSpPr txBox="1"/>
          <p:nvPr/>
        </p:nvSpPr>
        <p:spPr>
          <a:xfrm>
            <a:off x="11298954" y="5545936"/>
            <a:ext cx="116484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3" b="0" i="0">
                <a:solidFill>
                  <a:srgbClr val="000000"/>
                </a:solidFill>
                <a:latin typeface="DejaVu Sans Condensed"/>
              </a:rPr>
              <a:t>−</a:t>
            </a:r>
          </a:p>
        </p:txBody>
      </p:sp>
      <p:sp>
        <p:nvSpPr>
          <p:cNvPr id="651" name="normalize-mean"/>
          <p:cNvSpPr/>
          <p:nvPr/>
        </p:nvSpPr>
        <p:spPr>
          <a:xfrm>
            <a:off x="11415439" y="5545936"/>
            <a:ext cx="524178" cy="220025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2" name="normalize-mean-text"/>
          <p:cNvSpPr txBox="1"/>
          <p:nvPr/>
        </p:nvSpPr>
        <p:spPr>
          <a:xfrm>
            <a:off x="11415439" y="5545936"/>
            <a:ext cx="524178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Mean</a:t>
            </a:r>
          </a:p>
        </p:txBody>
      </p:sp>
      <p:cxnSp>
        <p:nvCxnSpPr>
          <p:cNvPr id="653" name="normalize-fraction"/>
          <p:cNvCxnSpPr/>
          <p:nvPr/>
        </p:nvCxnSpPr>
        <p:spPr>
          <a:xfrm>
            <a:off x="10981859" y="5798318"/>
            <a:ext cx="938344" cy="0"/>
          </a:xfrm>
          <a:prstGeom prst="line">
            <a:avLst/>
          </a:prstGeom>
          <a:ln w="16178">
            <a:solidFill>
              <a:srgbClr val="000000"/>
            </a:solidFill>
          </a:ln>
        </p:spPr>
      </p:cxnSp>
      <p:sp>
        <p:nvSpPr>
          <p:cNvPr id="654" name="normalize-std"/>
          <p:cNvSpPr/>
          <p:nvPr/>
        </p:nvSpPr>
        <p:spPr>
          <a:xfrm>
            <a:off x="11331311" y="5830675"/>
            <a:ext cx="414166" cy="220025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5" name="normalize-std-text"/>
          <p:cNvSpPr txBox="1"/>
          <p:nvPr/>
        </p:nvSpPr>
        <p:spPr>
          <a:xfrm>
            <a:off x="11331311" y="5830675"/>
            <a:ext cx="414166" cy="22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Std</a:t>
            </a:r>
          </a:p>
        </p:txBody>
      </p:sp>
      <p:sp>
        <p:nvSpPr>
          <p:cNvPr id="656" name="loss-policy-label-1"/>
          <p:cNvSpPr txBox="1"/>
          <p:nvPr/>
        </p:nvSpPr>
        <p:spPr>
          <a:xfrm>
            <a:off x="9383439" y="5940687"/>
            <a:ext cx="815388" cy="2135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000000"/>
                </a:solidFill>
                <a:latin typeface="DejaVu Sans Condensed"/>
              </a:rPr>
              <a:t>Policy</a:t>
            </a:r>
          </a:p>
        </p:txBody>
      </p:sp>
      <p:sp>
        <p:nvSpPr>
          <p:cNvPr id="657" name="loss-policy-label-2"/>
          <p:cNvSpPr txBox="1"/>
          <p:nvPr/>
        </p:nvSpPr>
        <p:spPr>
          <a:xfrm>
            <a:off x="9383439" y="6134828"/>
            <a:ext cx="815388" cy="2135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000000"/>
                </a:solidFill>
                <a:latin typeface="DejaVu Sans Condensed"/>
              </a:rPr>
              <a:t>Model</a:t>
            </a:r>
          </a:p>
        </p:txBody>
      </p:sp>
      <p:sp>
        <p:nvSpPr>
          <p:cNvPr id="658" name="loss-policy-ear-left"/>
          <p:cNvSpPr/>
          <p:nvPr/>
        </p:nvSpPr>
        <p:spPr>
          <a:xfrm>
            <a:off x="10159999" y="5996600"/>
            <a:ext cx="41417" cy="124250"/>
          </a:xfrm>
          <a:prstGeom prst="roundRect">
            <a:avLst>
              <a:gd name="adj" fmla="val 25000"/>
            </a:avLst>
          </a:prstGeom>
          <a:solidFill>
            <a:srgbClr val="5BC0EB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9" name="loss-policy-ear-right"/>
          <p:cNvSpPr/>
          <p:nvPr/>
        </p:nvSpPr>
        <p:spPr>
          <a:xfrm>
            <a:off x="10449915" y="5996600"/>
            <a:ext cx="41417" cy="124250"/>
          </a:xfrm>
          <a:prstGeom prst="roundRect">
            <a:avLst>
              <a:gd name="adj" fmla="val 25000"/>
            </a:avLst>
          </a:prstGeom>
          <a:solidFill>
            <a:srgbClr val="5BC0EB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60" name="loss-policy-antenna"/>
          <p:cNvCxnSpPr/>
          <p:nvPr/>
        </p:nvCxnSpPr>
        <p:spPr>
          <a:xfrm>
            <a:off x="10325665" y="5930333"/>
            <a:ext cx="0" cy="45558"/>
          </a:xfrm>
          <a:prstGeom prst="line">
            <a:avLst/>
          </a:prstGeom>
          <a:ln w="12942">
            <a:solidFill>
              <a:srgbClr val="000000"/>
            </a:solidFill>
          </a:ln>
        </p:spPr>
      </p:cxnSp>
      <p:sp>
        <p:nvSpPr>
          <p:cNvPr id="661" name="loss-policy-dot-0"/>
          <p:cNvSpPr/>
          <p:nvPr/>
        </p:nvSpPr>
        <p:spPr>
          <a:xfrm>
            <a:off x="10263541" y="5909625"/>
            <a:ext cx="24850" cy="24850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2" name="loss-policy-dot-1"/>
          <p:cNvSpPr/>
          <p:nvPr/>
        </p:nvSpPr>
        <p:spPr>
          <a:xfrm>
            <a:off x="10304957" y="5901342"/>
            <a:ext cx="24850" cy="24850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3" name="loss-policy-dot-2"/>
          <p:cNvSpPr/>
          <p:nvPr/>
        </p:nvSpPr>
        <p:spPr>
          <a:xfrm>
            <a:off x="10346374" y="5909625"/>
            <a:ext cx="24850" cy="24850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4" name="loss-policy-dot-3"/>
          <p:cNvSpPr/>
          <p:nvPr/>
        </p:nvSpPr>
        <p:spPr>
          <a:xfrm>
            <a:off x="10387790" y="5901342"/>
            <a:ext cx="24850" cy="24850"/>
          </a:xfrm>
          <a:prstGeom prst="ellipse">
            <a:avLst/>
          </a:prstGeom>
          <a:solidFill>
            <a:srgbClr val="FF6B6B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loss-policy-head"/>
          <p:cNvSpPr/>
          <p:nvPr/>
        </p:nvSpPr>
        <p:spPr>
          <a:xfrm>
            <a:off x="10188991" y="5963467"/>
            <a:ext cx="273349" cy="215366"/>
          </a:xfrm>
          <a:prstGeom prst="roundRect">
            <a:avLst>
              <a:gd name="adj" fmla="val 23076"/>
            </a:avLst>
          </a:prstGeom>
          <a:solidFill>
            <a:srgbClr val="8FD8F9"/>
          </a:solidFill>
          <a:ln w="1617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6" name="loss-policy-screen"/>
          <p:cNvSpPr/>
          <p:nvPr/>
        </p:nvSpPr>
        <p:spPr>
          <a:xfrm>
            <a:off x="10222124" y="5988316"/>
            <a:ext cx="207083" cy="149100"/>
          </a:xfrm>
          <a:prstGeom prst="roundRect">
            <a:avLst>
              <a:gd name="adj" fmla="val 22222"/>
            </a:avLst>
          </a:prstGeom>
          <a:solidFill>
            <a:srgbClr val="DAEEF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7" name="loss-policy-eye-left"/>
          <p:cNvSpPr/>
          <p:nvPr/>
        </p:nvSpPr>
        <p:spPr>
          <a:xfrm>
            <a:off x="10255257" y="6025591"/>
            <a:ext cx="20708" cy="28992"/>
          </a:xfrm>
          <a:prstGeom prst="ellipse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8" name="loss-policy-eye-right"/>
          <p:cNvSpPr/>
          <p:nvPr/>
        </p:nvSpPr>
        <p:spPr>
          <a:xfrm>
            <a:off x="10375365" y="6025591"/>
            <a:ext cx="20708" cy="28992"/>
          </a:xfrm>
          <a:prstGeom prst="ellipse">
            <a:avLst/>
          </a:prstGeom>
          <a:solidFill>
            <a:srgbClr val="000000"/>
          </a:solidFill>
          <a:ln w="647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69" name="loss-policy-mouth"/>
          <p:cNvCxnSpPr/>
          <p:nvPr/>
        </p:nvCxnSpPr>
        <p:spPr>
          <a:xfrm>
            <a:off x="10296674" y="6091858"/>
            <a:ext cx="53841" cy="0"/>
          </a:xfrm>
          <a:prstGeom prst="line">
            <a:avLst/>
          </a:prstGeom>
          <a:ln w="11001">
            <a:solidFill>
              <a:srgbClr val="000000"/>
            </a:solidFill>
          </a:ln>
        </p:spPr>
      </p:cxnSp>
      <p:cxnSp>
        <p:nvCxnSpPr>
          <p:cNvPr id="670" name="loss-policy-cheek-left"/>
          <p:cNvCxnSpPr/>
          <p:nvPr/>
        </p:nvCxnSpPr>
        <p:spPr>
          <a:xfrm>
            <a:off x="10234549" y="6079433"/>
            <a:ext cx="28992" cy="0"/>
          </a:xfrm>
          <a:prstGeom prst="line">
            <a:avLst/>
          </a:prstGeom>
          <a:ln w="8412">
            <a:solidFill>
              <a:srgbClr val="2E75B6"/>
            </a:solidFill>
          </a:ln>
        </p:spPr>
      </p:cxnSp>
      <p:cxnSp>
        <p:nvCxnSpPr>
          <p:cNvPr id="671" name="loss-policy-cheek-right"/>
          <p:cNvCxnSpPr/>
          <p:nvPr/>
        </p:nvCxnSpPr>
        <p:spPr>
          <a:xfrm>
            <a:off x="10387790" y="6079433"/>
            <a:ext cx="28992" cy="0"/>
          </a:xfrm>
          <a:prstGeom prst="line">
            <a:avLst/>
          </a:prstGeom>
          <a:ln w="8412">
            <a:solidFill>
              <a:srgbClr val="2E75B6"/>
            </a:solidFill>
          </a:ln>
        </p:spPr>
      </p:cxnSp>
      <p:sp>
        <p:nvSpPr>
          <p:cNvPr id="672" name="loss-policy-neck"/>
          <p:cNvSpPr/>
          <p:nvPr/>
        </p:nvSpPr>
        <p:spPr>
          <a:xfrm>
            <a:off x="10296674" y="6178833"/>
            <a:ext cx="57983" cy="37275"/>
          </a:xfrm>
          <a:prstGeom prst="rect">
            <a:avLst/>
          </a:prstGeom>
          <a:solidFill>
            <a:srgbClr val="8FD8F9"/>
          </a:solidFill>
          <a:ln w="9707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3" name="loss-policy-base"/>
          <p:cNvSpPr/>
          <p:nvPr/>
        </p:nvSpPr>
        <p:spPr>
          <a:xfrm>
            <a:off x="10238691" y="6211966"/>
            <a:ext cx="178091" cy="53842"/>
          </a:xfrm>
          <a:prstGeom prst="roundRect">
            <a:avLst>
              <a:gd name="adj" fmla="val 15384"/>
            </a:avLst>
          </a:prstGeom>
          <a:solidFill>
            <a:srgbClr val="8FD8F9"/>
          </a:solidFill>
          <a:ln w="1294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4" name="loss-policy-ai"/>
          <p:cNvSpPr txBox="1"/>
          <p:nvPr/>
        </p:nvSpPr>
        <p:spPr>
          <a:xfrm>
            <a:off x="10275966" y="6207824"/>
            <a:ext cx="74550" cy="455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8" b="1" i="0">
                <a:solidFill>
                  <a:srgbClr val="000000"/>
                </a:solidFill>
                <a:latin typeface="DejaVu Sans Condensed"/>
              </a:rPr>
              <a:t>AI</a:t>
            </a:r>
          </a:p>
        </p:txBody>
      </p:sp>
      <p:sp>
        <p:nvSpPr>
          <p:cNvPr id="675" name="loss-policy-flame-outer"/>
          <p:cNvSpPr/>
          <p:nvPr/>
        </p:nvSpPr>
        <p:spPr>
          <a:xfrm>
            <a:off x="10433348" y="5911944"/>
            <a:ext cx="81508" cy="108677"/>
          </a:xfrm>
          <a:prstGeom prst="ellipse">
            <a:avLst/>
          </a:prstGeom>
          <a:solidFill>
            <a:srgbClr val="FF3B30"/>
          </a:solidFill>
          <a:ln w="1164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6" name="loss-policy-flame-inner"/>
          <p:cNvSpPr/>
          <p:nvPr/>
        </p:nvSpPr>
        <p:spPr>
          <a:xfrm>
            <a:off x="10457122" y="5945906"/>
            <a:ext cx="33962" cy="57735"/>
          </a:xfrm>
          <a:prstGeom prst="ellipse">
            <a:avLst/>
          </a:prstGeom>
          <a:solidFill>
            <a:srgbClr val="FFC000"/>
          </a:solidFill>
          <a:ln w="6471">
            <a:solidFill>
              <a:srgbClr val="C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77" name="loss-policy-flame-tip1"/>
          <p:cNvCxnSpPr/>
          <p:nvPr/>
        </p:nvCxnSpPr>
        <p:spPr>
          <a:xfrm flipV="1">
            <a:off x="10446933" y="5884775"/>
            <a:ext cx="23773" cy="47546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cxnSp>
        <p:nvCxnSpPr>
          <p:cNvPr id="678" name="loss-policy-flame-tip2"/>
          <p:cNvCxnSpPr/>
          <p:nvPr/>
        </p:nvCxnSpPr>
        <p:spPr>
          <a:xfrm>
            <a:off x="10470706" y="5884775"/>
            <a:ext cx="10189" cy="54339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cxnSp>
        <p:nvCxnSpPr>
          <p:cNvPr id="679" name="loss-policy-flame-tip3"/>
          <p:cNvCxnSpPr/>
          <p:nvPr/>
        </p:nvCxnSpPr>
        <p:spPr>
          <a:xfrm flipV="1">
            <a:off x="10480895" y="5901756"/>
            <a:ext cx="23773" cy="37358"/>
          </a:xfrm>
          <a:prstGeom prst="line">
            <a:avLst/>
          </a:prstGeom>
          <a:ln w="12942">
            <a:solidFill>
              <a:srgbClr val="C00000"/>
            </a:solidFill>
          </a:ln>
        </p:spPr>
      </p:cxnSp>
      <p:cxnSp>
        <p:nvCxnSpPr>
          <p:cNvPr id="680" name="loss-update-h"/>
          <p:cNvCxnSpPr/>
          <p:nvPr/>
        </p:nvCxnSpPr>
        <p:spPr>
          <a:xfrm flipH="1">
            <a:off x="10392967" y="6083057"/>
            <a:ext cx="530650" cy="0"/>
          </a:xfrm>
          <a:prstGeom prst="line">
            <a:avLst/>
          </a:prstGeom>
          <a:ln w="25885">
            <a:solidFill>
              <a:srgbClr val="2E75B6"/>
            </a:solidFill>
            <a:prstDash val="dash"/>
            <a:tailEnd type="triangle" w="med" len="med"/>
          </a:ln>
        </p:spPr>
      </p:cxnSp>
      <p:cxnSp>
        <p:nvCxnSpPr>
          <p:cNvPr id="681" name="loss-update-v"/>
          <p:cNvCxnSpPr/>
          <p:nvPr/>
        </p:nvCxnSpPr>
        <p:spPr>
          <a:xfrm>
            <a:off x="10923617" y="6083057"/>
            <a:ext cx="0" cy="330038"/>
          </a:xfrm>
          <a:prstGeom prst="line">
            <a:avLst/>
          </a:prstGeom>
          <a:ln w="25885">
            <a:solidFill>
              <a:srgbClr val="2E75B6"/>
            </a:solidFill>
            <a:prstDash val="dash"/>
          </a:ln>
        </p:spPr>
      </p:cxnSp>
      <p:sp>
        <p:nvSpPr>
          <p:cNvPr id="682" name="loss-update-label"/>
          <p:cNvSpPr txBox="1"/>
          <p:nvPr/>
        </p:nvSpPr>
        <p:spPr>
          <a:xfrm>
            <a:off x="11027158" y="5966573"/>
            <a:ext cx="724790" cy="2459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4" b="1" i="0">
                <a:solidFill>
                  <a:srgbClr val="2E75B6"/>
                </a:solidFill>
                <a:latin typeface="DejaVu Sans Condensed"/>
              </a:rPr>
              <a:t>Update</a:t>
            </a:r>
          </a:p>
        </p:txBody>
      </p:sp>
      <p:sp>
        <p:nvSpPr>
          <p:cNvPr id="683" name="loss-formula-prefix"/>
          <p:cNvSpPr txBox="1"/>
          <p:nvPr/>
        </p:nvSpPr>
        <p:spPr>
          <a:xfrm>
            <a:off x="10690649" y="6361324"/>
            <a:ext cx="666548" cy="31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DejaVu Sans Condensed"/>
              </a:rPr>
              <a:t>Loss = ∑(</a:t>
            </a:r>
          </a:p>
        </p:txBody>
      </p:sp>
      <p:sp>
        <p:nvSpPr>
          <p:cNvPr id="684" name="loss-a"/>
          <p:cNvSpPr/>
          <p:nvPr/>
        </p:nvSpPr>
        <p:spPr>
          <a:xfrm>
            <a:off x="11337783" y="6406624"/>
            <a:ext cx="200611" cy="194140"/>
          </a:xfrm>
          <a:prstGeom prst="roundRect">
            <a:avLst>
              <a:gd name="adj" fmla="val 25000"/>
            </a:avLst>
          </a:prstGeom>
          <a:solidFill>
            <a:srgbClr val="FFE699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5" name="loss-a-text"/>
          <p:cNvSpPr txBox="1"/>
          <p:nvPr/>
        </p:nvSpPr>
        <p:spPr>
          <a:xfrm>
            <a:off x="11337783" y="6406624"/>
            <a:ext cx="200611" cy="19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A</a:t>
            </a:r>
          </a:p>
        </p:txBody>
      </p:sp>
      <p:sp>
        <p:nvSpPr>
          <p:cNvPr id="686" name="loss-formula-minus"/>
          <p:cNvSpPr txBox="1"/>
          <p:nvPr/>
        </p:nvSpPr>
        <p:spPr>
          <a:xfrm>
            <a:off x="11544865" y="6387210"/>
            <a:ext cx="200611" cy="2264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DejaVu Sans Condensed"/>
              </a:rPr>
              <a:t>−</a:t>
            </a:r>
          </a:p>
        </p:txBody>
      </p:sp>
      <p:sp>
        <p:nvSpPr>
          <p:cNvPr id="687" name="loss-d"/>
          <p:cNvSpPr/>
          <p:nvPr/>
        </p:nvSpPr>
        <p:spPr>
          <a:xfrm>
            <a:off x="11745477" y="6406624"/>
            <a:ext cx="200611" cy="194140"/>
          </a:xfrm>
          <a:prstGeom prst="roundRect">
            <a:avLst>
              <a:gd name="adj" fmla="val 25000"/>
            </a:avLst>
          </a:prstGeom>
          <a:solidFill>
            <a:srgbClr val="9DC3E6"/>
          </a:solidFill>
          <a:ln w="11648">
            <a:solidFill>
              <a:srgbClr val="17365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8" name="loss-d-text"/>
          <p:cNvSpPr txBox="1"/>
          <p:nvPr/>
        </p:nvSpPr>
        <p:spPr>
          <a:xfrm>
            <a:off x="11745477" y="6406624"/>
            <a:ext cx="200611" cy="19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DejaVu Sans Condensed"/>
              </a:rPr>
              <a:t>D</a:t>
            </a:r>
          </a:p>
        </p:txBody>
      </p:sp>
      <p:sp>
        <p:nvSpPr>
          <p:cNvPr id="689" name="loss-formula-close"/>
          <p:cNvSpPr txBox="1"/>
          <p:nvPr/>
        </p:nvSpPr>
        <p:spPr>
          <a:xfrm>
            <a:off x="11952560" y="6380738"/>
            <a:ext cx="110013" cy="2264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DejaVu Sans Condensed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Vad-R1 Towards Video Anomaly Reasoning via Perception-to-Cognition Chain-of-Thought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31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