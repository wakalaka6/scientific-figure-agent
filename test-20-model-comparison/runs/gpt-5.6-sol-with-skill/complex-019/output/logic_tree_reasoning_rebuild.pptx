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700092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upper_left_panel"/>
          <p:cNvSpPr/>
          <p:nvPr/>
        </p:nvSpPr>
        <p:spPr>
          <a:xfrm>
            <a:off x="0" y="106499"/>
            <a:ext cx="6962419" cy="4592800"/>
          </a:xfrm>
          <a:prstGeom prst="rect">
            <a:avLst/>
          </a:prstGeom>
          <a:solidFill>
            <a:srgbClr val="F6FCFC"/>
          </a:solidFill>
          <a:ln w="36576">
            <a:solidFill>
              <a:srgbClr val="73DD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ottom_left_panel"/>
          <p:cNvSpPr/>
          <p:nvPr/>
        </p:nvSpPr>
        <p:spPr>
          <a:xfrm>
            <a:off x="0" y="4765862"/>
            <a:ext cx="6969075" cy="2549337"/>
          </a:xfrm>
          <a:prstGeom prst="rect">
            <a:avLst/>
          </a:prstGeom>
          <a:solidFill>
            <a:srgbClr val="F3F9EF"/>
          </a:solidFill>
          <a:ln w="36576">
            <a:solidFill>
              <a:srgbClr val="2692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ight_panel"/>
          <p:cNvSpPr/>
          <p:nvPr/>
        </p:nvSpPr>
        <p:spPr>
          <a:xfrm>
            <a:off x="7062263" y="106499"/>
            <a:ext cx="5637829" cy="7208700"/>
          </a:xfrm>
          <a:prstGeom prst="rect">
            <a:avLst/>
          </a:prstGeom>
          <a:solidFill>
            <a:srgbClr val="FCF2E9"/>
          </a:solidFill>
          <a:ln w="36576">
            <a:solidFill>
              <a:srgbClr val="C55A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ft_title"/>
          <p:cNvSpPr txBox="1"/>
          <p:nvPr/>
        </p:nvSpPr>
        <p:spPr>
          <a:xfrm>
            <a:off x="1863745" y="133124"/>
            <a:ext cx="3261554" cy="2995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6" b="1" i="1">
                <a:solidFill>
                  <a:srgbClr val="000000"/>
                </a:solidFill>
                <a:latin typeface="DejaVu Sans"/>
              </a:rPr>
              <a:t>Logical Tree Generation</a:t>
            </a:r>
          </a:p>
        </p:txBody>
      </p:sp>
      <p:sp>
        <p:nvSpPr>
          <p:cNvPr id="6" name="right_title"/>
          <p:cNvSpPr txBox="1"/>
          <p:nvPr/>
        </p:nvSpPr>
        <p:spPr>
          <a:xfrm>
            <a:off x="8120604" y="133124"/>
            <a:ext cx="3361397" cy="2995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6" b="1" i="1">
                <a:solidFill>
                  <a:srgbClr val="000000"/>
                </a:solidFill>
                <a:latin typeface="DejaVu Sans"/>
              </a:rPr>
              <a:t>Instantiation via LLM</a:t>
            </a:r>
          </a:p>
        </p:txBody>
      </p:sp>
      <p:sp>
        <p:nvSpPr>
          <p:cNvPr id="7" name="bottom_title"/>
          <p:cNvSpPr txBox="1"/>
          <p:nvPr/>
        </p:nvSpPr>
        <p:spPr>
          <a:xfrm>
            <a:off x="1131559" y="4859050"/>
            <a:ext cx="4659363" cy="3328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6" b="1" i="1">
                <a:solidFill>
                  <a:srgbClr val="000000"/>
                </a:solidFill>
                <a:latin typeface="DejaVu Sans"/>
              </a:rPr>
              <a:t>Synthetic Example Post-processing</a:t>
            </a:r>
          </a:p>
        </p:txBody>
      </p:sp>
      <p:sp>
        <p:nvSpPr>
          <p:cNvPr id="8" name="logical_tree_inner"/>
          <p:cNvSpPr/>
          <p:nvPr/>
        </p:nvSpPr>
        <p:spPr>
          <a:xfrm>
            <a:off x="199686" y="445967"/>
            <a:ext cx="6523108" cy="4133520"/>
          </a:xfrm>
          <a:prstGeom prst="roundRect">
            <a:avLst>
              <a:gd name="adj" fmla="val 2576"/>
            </a:avLst>
          </a:prstGeom>
          <a:solidFill>
            <a:srgbClr val="F1F7F7"/>
          </a:solidFill>
          <a:ln w="27432">
            <a:solidFill>
              <a:srgbClr val="8D96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ogical_rules_outer"/>
          <p:cNvSpPr/>
          <p:nvPr/>
        </p:nvSpPr>
        <p:spPr>
          <a:xfrm>
            <a:off x="326155" y="792091"/>
            <a:ext cx="1936963" cy="2223181"/>
          </a:xfrm>
          <a:prstGeom prst="rect">
            <a:avLst/>
          </a:prstGeom>
          <a:solidFill>
            <a:srgbClr val="F6FCFC"/>
          </a:solidFill>
          <a:ln w="27432">
            <a:solidFill>
              <a:srgbClr val="2692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logical_rules_divider_1"/>
          <p:cNvCxnSpPr/>
          <p:nvPr/>
        </p:nvCxnSpPr>
        <p:spPr>
          <a:xfrm>
            <a:off x="326155" y="1231403"/>
            <a:ext cx="1936964" cy="0"/>
          </a:xfrm>
          <a:prstGeom prst="line">
            <a:avLst/>
          </a:prstGeom>
          <a:ln w="27432">
            <a:solidFill>
              <a:srgbClr val="269286"/>
            </a:solidFill>
          </a:ln>
          <a:effectLst/>
        </p:spPr>
      </p:cxnSp>
      <p:sp>
        <p:nvSpPr>
          <p:cNvPr id="11" name="logical_rules_title"/>
          <p:cNvSpPr txBox="1"/>
          <p:nvPr/>
        </p:nvSpPr>
        <p:spPr>
          <a:xfrm>
            <a:off x="499217" y="938528"/>
            <a:ext cx="1597495" cy="2595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Logical Rules</a:t>
            </a:r>
          </a:p>
        </p:txBody>
      </p:sp>
      <p:sp>
        <p:nvSpPr>
          <p:cNvPr id="12" name="syllogism_card"/>
          <p:cNvSpPr/>
          <p:nvPr/>
        </p:nvSpPr>
        <p:spPr>
          <a:xfrm>
            <a:off x="472592" y="1337902"/>
            <a:ext cx="1018403" cy="865310"/>
          </a:xfrm>
          <a:prstGeom prst="rect">
            <a:avLst/>
          </a:prstGeom>
          <a:solidFill>
            <a:srgbClr val="FFFFFF"/>
          </a:solidFill>
          <a:ln w="36576">
            <a:solidFill>
              <a:srgbClr val="73DD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syllogism_card_divider_1"/>
          <p:cNvCxnSpPr/>
          <p:nvPr/>
        </p:nvCxnSpPr>
        <p:spPr>
          <a:xfrm>
            <a:off x="472592" y="1597495"/>
            <a:ext cx="1018404" cy="0"/>
          </a:xfrm>
          <a:prstGeom prst="line">
            <a:avLst/>
          </a:prstGeom>
          <a:ln w="27432">
            <a:solidFill>
              <a:srgbClr val="73DDD3"/>
            </a:solidFill>
          </a:ln>
          <a:effectLst/>
        </p:spPr>
      </p:cxnSp>
      <p:sp>
        <p:nvSpPr>
          <p:cNvPr id="14" name="syllogism_card_title"/>
          <p:cNvSpPr txBox="1"/>
          <p:nvPr/>
        </p:nvSpPr>
        <p:spPr>
          <a:xfrm>
            <a:off x="525842" y="1397808"/>
            <a:ext cx="911903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Syllogism</a:t>
            </a:r>
          </a:p>
        </p:txBody>
      </p:sp>
      <p:sp>
        <p:nvSpPr>
          <p:cNvPr id="15" name="syllogism_ellipsis"/>
          <p:cNvSpPr txBox="1"/>
          <p:nvPr/>
        </p:nvSpPr>
        <p:spPr>
          <a:xfrm>
            <a:off x="552467" y="1823807"/>
            <a:ext cx="266249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000000"/>
                </a:solidFill>
                <a:latin typeface="DejaVu Sans"/>
              </a:rPr>
              <a:t>…</a:t>
            </a:r>
          </a:p>
        </p:txBody>
      </p:sp>
      <p:sp>
        <p:nvSpPr>
          <p:cNvPr id="16" name="instantiation_card"/>
          <p:cNvSpPr/>
          <p:nvPr/>
        </p:nvSpPr>
        <p:spPr>
          <a:xfrm>
            <a:off x="792091" y="1710651"/>
            <a:ext cx="971810" cy="838685"/>
          </a:xfrm>
          <a:prstGeom prst="rect">
            <a:avLst/>
          </a:prstGeom>
          <a:solidFill>
            <a:srgbClr val="FFFFFF"/>
          </a:solidFill>
          <a:ln w="36576">
            <a:solidFill>
              <a:srgbClr val="73DD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instantiation_card_divider_1"/>
          <p:cNvCxnSpPr/>
          <p:nvPr/>
        </p:nvCxnSpPr>
        <p:spPr>
          <a:xfrm>
            <a:off x="792091" y="1976901"/>
            <a:ext cx="971810" cy="0"/>
          </a:xfrm>
          <a:prstGeom prst="line">
            <a:avLst/>
          </a:prstGeom>
          <a:ln w="27432">
            <a:solidFill>
              <a:srgbClr val="73DDD3"/>
            </a:solidFill>
          </a:ln>
          <a:effectLst/>
        </p:spPr>
      </p:cxnSp>
      <p:sp>
        <p:nvSpPr>
          <p:cNvPr id="18" name="instantiation_card_title"/>
          <p:cNvSpPr txBox="1"/>
          <p:nvPr/>
        </p:nvSpPr>
        <p:spPr>
          <a:xfrm>
            <a:off x="812060" y="1770557"/>
            <a:ext cx="938528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8" b="1" i="0">
                <a:solidFill>
                  <a:srgbClr val="000000"/>
                </a:solidFill>
                <a:latin typeface="DejaVu Sans"/>
              </a:rPr>
              <a:t>Instantiation</a:t>
            </a:r>
          </a:p>
        </p:txBody>
      </p:sp>
      <p:sp>
        <p:nvSpPr>
          <p:cNvPr id="19" name="instantiation_ellipsis"/>
          <p:cNvSpPr txBox="1"/>
          <p:nvPr/>
        </p:nvSpPr>
        <p:spPr>
          <a:xfrm>
            <a:off x="838685" y="2169931"/>
            <a:ext cx="266249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00000"/>
                </a:solidFill>
                <a:latin typeface="DejaVu Sans"/>
              </a:rPr>
              <a:t>…</a:t>
            </a:r>
          </a:p>
        </p:txBody>
      </p:sp>
      <p:sp>
        <p:nvSpPr>
          <p:cNvPr id="20" name="modus_card"/>
          <p:cNvSpPr/>
          <p:nvPr/>
        </p:nvSpPr>
        <p:spPr>
          <a:xfrm>
            <a:off x="998434" y="2083400"/>
            <a:ext cx="1164840" cy="871966"/>
          </a:xfrm>
          <a:prstGeom prst="rect">
            <a:avLst/>
          </a:prstGeom>
          <a:solidFill>
            <a:srgbClr val="FFFFFF"/>
          </a:solidFill>
          <a:ln w="36576">
            <a:solidFill>
              <a:srgbClr val="73DDD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modus_card_divider_1"/>
          <p:cNvCxnSpPr/>
          <p:nvPr/>
        </p:nvCxnSpPr>
        <p:spPr>
          <a:xfrm>
            <a:off x="998434" y="2342993"/>
            <a:ext cx="1164841" cy="0"/>
          </a:xfrm>
          <a:prstGeom prst="line">
            <a:avLst/>
          </a:prstGeom>
          <a:ln w="27432">
            <a:solidFill>
              <a:srgbClr val="73DDD3"/>
            </a:solidFill>
          </a:ln>
          <a:effectLst/>
        </p:spPr>
      </p:cxnSp>
      <p:sp>
        <p:nvSpPr>
          <p:cNvPr id="22" name="modus_card_title"/>
          <p:cNvSpPr txBox="1"/>
          <p:nvPr/>
        </p:nvSpPr>
        <p:spPr>
          <a:xfrm>
            <a:off x="1045028" y="2136650"/>
            <a:ext cx="1078309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"/>
              </a:rPr>
              <a:t>Modus Ponens</a:t>
            </a:r>
          </a:p>
        </p:txBody>
      </p:sp>
      <p:sp>
        <p:nvSpPr>
          <p:cNvPr id="23" name="modus_numerator"/>
          <p:cNvSpPr txBox="1"/>
          <p:nvPr/>
        </p:nvSpPr>
        <p:spPr>
          <a:xfrm>
            <a:off x="1144872" y="2436181"/>
            <a:ext cx="878622" cy="1664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8" b="0" i="1">
                <a:solidFill>
                  <a:srgbClr val="000000"/>
                </a:solidFill>
                <a:latin typeface="DejaVu Serif"/>
              </a:rPr>
              <a:t>F    F → G</a:t>
            </a:r>
          </a:p>
        </p:txBody>
      </p:sp>
      <p:cxnSp>
        <p:nvCxnSpPr>
          <p:cNvPr id="24" name="modus_fraction_1"/>
          <p:cNvCxnSpPr/>
          <p:nvPr/>
        </p:nvCxnSpPr>
        <p:spPr>
          <a:xfrm>
            <a:off x="1158184" y="2622555"/>
            <a:ext cx="818717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</p:cxnSp>
      <p:sp>
        <p:nvSpPr>
          <p:cNvPr id="25" name="modus_denominator"/>
          <p:cNvSpPr txBox="1"/>
          <p:nvPr/>
        </p:nvSpPr>
        <p:spPr>
          <a:xfrm>
            <a:off x="1391152" y="2642524"/>
            <a:ext cx="479248" cy="18637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DejaVu Serif"/>
              </a:rPr>
              <a:t>G</a:t>
            </a:r>
          </a:p>
        </p:txBody>
      </p:sp>
      <p:sp>
        <p:nvSpPr>
          <p:cNvPr id="26" name="report_icon_back"/>
          <p:cNvSpPr/>
          <p:nvPr/>
        </p:nvSpPr>
        <p:spPr>
          <a:xfrm>
            <a:off x="2103369" y="1644089"/>
            <a:ext cx="279561" cy="366092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port_icon_fold"/>
          <p:cNvSpPr/>
          <p:nvPr/>
        </p:nvSpPr>
        <p:spPr>
          <a:xfrm>
            <a:off x="2289744" y="1644089"/>
            <a:ext cx="93187" cy="93187"/>
          </a:xfrm>
          <a:custGeom>
            <a:avLst/>
            <a:gdLst/>
            <a:ahLst/>
            <a:cxnLst/>
            <a:rect l="l" t="t" r="r" b="b"/>
            <a:pathLst>
              <a:path w="93187" h="93187">
                <a:moveTo>
                  <a:pt x="0" y="0"/>
                </a:moveTo>
                <a:lnTo>
                  <a:pt x="93187" y="93187"/>
                </a:lnTo>
                <a:close/>
                <a:lnTo>
                  <a:pt x="0" y="93187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report_icon_line1_1"/>
          <p:cNvCxnSpPr/>
          <p:nvPr/>
        </p:nvCxnSpPr>
        <p:spPr>
          <a:xfrm>
            <a:off x="2249806" y="1797182"/>
            <a:ext cx="93187" cy="0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</p:cxnSp>
      <p:cxnSp>
        <p:nvCxnSpPr>
          <p:cNvPr id="29" name="report_icon_line2_1"/>
          <p:cNvCxnSpPr/>
          <p:nvPr/>
        </p:nvCxnSpPr>
        <p:spPr>
          <a:xfrm>
            <a:off x="2243150" y="1850432"/>
            <a:ext cx="99843" cy="0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</p:cxnSp>
      <p:cxnSp>
        <p:nvCxnSpPr>
          <p:cNvPr id="30" name="report_icon_line3_1"/>
          <p:cNvCxnSpPr/>
          <p:nvPr/>
        </p:nvCxnSpPr>
        <p:spPr>
          <a:xfrm>
            <a:off x="2256462" y="1903682"/>
            <a:ext cx="79875" cy="0"/>
          </a:xfrm>
          <a:prstGeom prst="line">
            <a:avLst/>
          </a:prstGeom>
          <a:ln w="18288">
            <a:solidFill>
              <a:srgbClr val="000000"/>
            </a:solidFill>
          </a:ln>
          <a:effectLst/>
        </p:spPr>
      </p:cxnSp>
      <p:sp>
        <p:nvSpPr>
          <p:cNvPr id="31" name="report_icon_lens_outer"/>
          <p:cNvSpPr/>
          <p:nvPr/>
        </p:nvSpPr>
        <p:spPr>
          <a:xfrm>
            <a:off x="1990213" y="1723964"/>
            <a:ext cx="299530" cy="29953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port_icon_lens_inner"/>
          <p:cNvSpPr/>
          <p:nvPr/>
        </p:nvSpPr>
        <p:spPr>
          <a:xfrm>
            <a:off x="2036807" y="1770557"/>
            <a:ext cx="206343" cy="206343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report_icon_handle_1"/>
          <p:cNvCxnSpPr/>
          <p:nvPr/>
        </p:nvCxnSpPr>
        <p:spPr>
          <a:xfrm>
            <a:off x="2223181" y="1956932"/>
            <a:ext cx="106500" cy="106500"/>
          </a:xfrm>
          <a:prstGeom prst="line">
            <a:avLst/>
          </a:prstGeom>
          <a:ln w="45719">
            <a:solidFill>
              <a:srgbClr val="000000"/>
            </a:solidFill>
          </a:ln>
          <a:effectLst/>
        </p:spPr>
      </p:cxnSp>
      <p:cxnSp>
        <p:nvCxnSpPr>
          <p:cNvPr id="34" name="report_icon_glass_l1_1"/>
          <p:cNvCxnSpPr/>
          <p:nvPr/>
        </p:nvCxnSpPr>
        <p:spPr>
          <a:xfrm>
            <a:off x="2076744" y="1830464"/>
            <a:ext cx="119812" cy="0"/>
          </a:xfrm>
          <a:prstGeom prst="line">
            <a:avLst/>
          </a:prstGeom>
          <a:ln w="14630">
            <a:solidFill>
              <a:srgbClr val="000000"/>
            </a:solidFill>
          </a:ln>
          <a:effectLst/>
        </p:spPr>
      </p:cxnSp>
      <p:cxnSp>
        <p:nvCxnSpPr>
          <p:cNvPr id="35" name="report_icon_glass_l2_1"/>
          <p:cNvCxnSpPr/>
          <p:nvPr/>
        </p:nvCxnSpPr>
        <p:spPr>
          <a:xfrm>
            <a:off x="2096713" y="1877057"/>
            <a:ext cx="86531" cy="0"/>
          </a:xfrm>
          <a:prstGeom prst="line">
            <a:avLst/>
          </a:prstGeom>
          <a:ln w="14630">
            <a:solidFill>
              <a:srgbClr val="000000"/>
            </a:solidFill>
          </a:ln>
          <a:effectLst/>
        </p:spPr>
      </p:cxnSp>
      <p:sp>
        <p:nvSpPr>
          <p:cNvPr id="36" name="search_box"/>
          <p:cNvSpPr/>
          <p:nvPr/>
        </p:nvSpPr>
        <p:spPr>
          <a:xfrm>
            <a:off x="332811" y="3268210"/>
            <a:ext cx="2070088" cy="619029"/>
          </a:xfrm>
          <a:prstGeom prst="rect">
            <a:avLst/>
          </a:prstGeom>
          <a:solidFill>
            <a:srgbClr val="D5F2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search_line1"/>
          <p:cNvSpPr txBox="1"/>
          <p:nvPr/>
        </p:nvSpPr>
        <p:spPr>
          <a:xfrm>
            <a:off x="445967" y="3368053"/>
            <a:ext cx="1843776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Search for</a:t>
            </a:r>
          </a:p>
        </p:txBody>
      </p:sp>
      <p:sp>
        <p:nvSpPr>
          <p:cNvPr id="38" name="search_line2"/>
          <p:cNvSpPr txBox="1"/>
          <p:nvPr/>
        </p:nvSpPr>
        <p:spPr>
          <a:xfrm>
            <a:off x="439311" y="3627646"/>
            <a:ext cx="1850432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Applicable Rules</a:t>
            </a:r>
          </a:p>
        </p:txBody>
      </p:sp>
      <p:sp>
        <p:nvSpPr>
          <p:cNvPr id="39" name="backward_arrow_shaft"/>
          <p:cNvSpPr/>
          <p:nvPr/>
        </p:nvSpPr>
        <p:spPr>
          <a:xfrm>
            <a:off x="2489431" y="585748"/>
            <a:ext cx="199687" cy="3847303"/>
          </a:xfrm>
          <a:custGeom>
            <a:avLst/>
            <a:gdLst/>
            <a:ahLst/>
            <a:cxnLst/>
            <a:rect l="l" t="t" r="r" b="b"/>
            <a:pathLst>
              <a:path w="199687" h="3847303">
                <a:moveTo>
                  <a:pt x="53249" y="3847303"/>
                </a:moveTo>
                <a:lnTo>
                  <a:pt x="146437" y="3847303"/>
                </a:lnTo>
                <a:close/>
                <a:lnTo>
                  <a:pt x="146437" y="106500"/>
                </a:lnTo>
                <a:close/>
                <a:lnTo>
                  <a:pt x="199687" y="106500"/>
                </a:lnTo>
                <a:close/>
                <a:lnTo>
                  <a:pt x="99843" y="0"/>
                </a:lnTo>
                <a:close/>
                <a:lnTo>
                  <a:pt x="0" y="106500"/>
                </a:lnTo>
                <a:close/>
                <a:lnTo>
                  <a:pt x="53249" y="106500"/>
                </a:lnTo>
                <a:close/>
                <a:lnTo>
                  <a:pt x="53249" y="3847303"/>
                </a:lnTo>
                <a:close/>
              </a:path>
            </a:pathLst>
          </a:custGeom>
          <a:solidFill>
            <a:srgbClr val="73DD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ackward_arrow_dark_base"/>
          <p:cNvSpPr/>
          <p:nvPr/>
        </p:nvSpPr>
        <p:spPr>
          <a:xfrm>
            <a:off x="2542680" y="3541115"/>
            <a:ext cx="93187" cy="891935"/>
          </a:xfrm>
          <a:prstGeom prst="rect">
            <a:avLst/>
          </a:prstGeom>
          <a:solidFill>
            <a:srgbClr val="2692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ackward_label_1"/>
          <p:cNvSpPr txBox="1"/>
          <p:nvPr/>
        </p:nvSpPr>
        <p:spPr>
          <a:xfrm>
            <a:off x="2522712" y="3614334"/>
            <a:ext cx="705560" cy="18637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DejaVu Sans"/>
              </a:rPr>
              <a:t>Backward</a:t>
            </a:r>
          </a:p>
        </p:txBody>
      </p:sp>
      <p:sp>
        <p:nvSpPr>
          <p:cNvPr id="42" name="backward_label_2"/>
          <p:cNvSpPr txBox="1"/>
          <p:nvPr/>
        </p:nvSpPr>
        <p:spPr>
          <a:xfrm>
            <a:off x="2522712" y="3794052"/>
            <a:ext cx="705560" cy="18637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DejaVu Sans"/>
              </a:rPr>
              <a:t>Deduction</a:t>
            </a:r>
          </a:p>
        </p:txBody>
      </p:sp>
      <p:sp>
        <p:nvSpPr>
          <p:cNvPr id="43" name="group_instantiation_top"/>
          <p:cNvSpPr/>
          <p:nvPr/>
        </p:nvSpPr>
        <p:spPr>
          <a:xfrm>
            <a:off x="3161710" y="712216"/>
            <a:ext cx="1357871" cy="1011747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group_instantiation_mid"/>
          <p:cNvSpPr/>
          <p:nvPr/>
        </p:nvSpPr>
        <p:spPr>
          <a:xfrm>
            <a:off x="2935398" y="1723964"/>
            <a:ext cx="1584183" cy="452623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group_left_rule"/>
          <p:cNvSpPr/>
          <p:nvPr/>
        </p:nvSpPr>
        <p:spPr>
          <a:xfrm>
            <a:off x="2935398" y="2176588"/>
            <a:ext cx="1357871" cy="1297965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group_syllogism_outer"/>
          <p:cNvSpPr/>
          <p:nvPr/>
        </p:nvSpPr>
        <p:spPr>
          <a:xfrm>
            <a:off x="4719269" y="1058341"/>
            <a:ext cx="1637433" cy="1903682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group_syllogism_inner"/>
          <p:cNvSpPr/>
          <p:nvPr/>
        </p:nvSpPr>
        <p:spPr>
          <a:xfrm>
            <a:off x="4932268" y="1710651"/>
            <a:ext cx="1417777" cy="785435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group_modus"/>
          <p:cNvSpPr/>
          <p:nvPr/>
        </p:nvSpPr>
        <p:spPr>
          <a:xfrm>
            <a:off x="4266645" y="2436181"/>
            <a:ext cx="1617464" cy="1637433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group_q_top"/>
          <p:cNvSpPr/>
          <p:nvPr/>
        </p:nvSpPr>
        <p:spPr>
          <a:xfrm>
            <a:off x="4266645" y="2955367"/>
            <a:ext cx="665623" cy="525842"/>
          </a:xfrm>
          <a:prstGeom prst="rect">
            <a:avLst/>
          </a:prstGeom>
          <a:noFill/>
          <a:ln w="36576">
            <a:solidFill>
              <a:srgbClr val="EFA7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nstantiation_step_label"/>
          <p:cNvSpPr txBox="1"/>
          <p:nvPr/>
        </p:nvSpPr>
        <p:spPr>
          <a:xfrm>
            <a:off x="3188335" y="512529"/>
            <a:ext cx="1530933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 i="0">
                <a:solidFill>
                  <a:srgbClr val="000000"/>
                </a:solidFill>
                <a:latin typeface="DejaVu Sans"/>
              </a:rPr>
              <a:t>4. Instantiation</a:t>
            </a:r>
          </a:p>
        </p:txBody>
      </p:sp>
      <p:sp>
        <p:nvSpPr>
          <p:cNvPr id="51" name="syllogism_step_label"/>
          <p:cNvSpPr txBox="1"/>
          <p:nvPr/>
        </p:nvSpPr>
        <p:spPr>
          <a:xfrm>
            <a:off x="5118643" y="851997"/>
            <a:ext cx="1431090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 i="0">
                <a:solidFill>
                  <a:srgbClr val="000000"/>
                </a:solidFill>
                <a:latin typeface="DejaVu Sans"/>
              </a:rPr>
              <a:t>2. Syllogism</a:t>
            </a:r>
          </a:p>
        </p:txBody>
      </p:sp>
      <p:sp>
        <p:nvSpPr>
          <p:cNvPr id="52" name="modus_step_label_1"/>
          <p:cNvSpPr txBox="1"/>
          <p:nvPr/>
        </p:nvSpPr>
        <p:spPr>
          <a:xfrm>
            <a:off x="5917391" y="3368053"/>
            <a:ext cx="758810" cy="212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 i="0">
                <a:solidFill>
                  <a:srgbClr val="000000"/>
                </a:solidFill>
                <a:latin typeface="DejaVu Sans"/>
              </a:rPr>
              <a:t>1. Modus</a:t>
            </a:r>
          </a:p>
        </p:txBody>
      </p:sp>
      <p:sp>
        <p:nvSpPr>
          <p:cNvPr id="53" name="modus_step_label_2"/>
          <p:cNvSpPr txBox="1"/>
          <p:nvPr/>
        </p:nvSpPr>
        <p:spPr>
          <a:xfrm>
            <a:off x="5990609" y="3620990"/>
            <a:ext cx="665623" cy="212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 i="0">
                <a:solidFill>
                  <a:srgbClr val="000000"/>
                </a:solidFill>
                <a:latin typeface="DejaVu Sans"/>
              </a:rPr>
              <a:t>Ponens</a:t>
            </a:r>
          </a:p>
        </p:txBody>
      </p:sp>
      <p:cxnSp>
        <p:nvCxnSpPr>
          <p:cNvPr id="54" name="edge_instantiation_1"/>
          <p:cNvCxnSpPr/>
          <p:nvPr/>
        </p:nvCxnSpPr>
        <p:spPr>
          <a:xfrm>
            <a:off x="3760771" y="1131559"/>
            <a:ext cx="332812" cy="705561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55" name="edge_neg_to_p_1"/>
          <p:cNvCxnSpPr/>
          <p:nvPr/>
        </p:nvCxnSpPr>
        <p:spPr>
          <a:xfrm>
            <a:off x="4093583" y="2043463"/>
            <a:ext cx="479249" cy="1064997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56" name="edge_or_to_p_1"/>
          <p:cNvCxnSpPr/>
          <p:nvPr/>
        </p:nvCxnSpPr>
        <p:spPr>
          <a:xfrm>
            <a:off x="3561084" y="2729055"/>
            <a:ext cx="1011748" cy="379405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57" name="edge_p_to_q_1"/>
          <p:cNvCxnSpPr/>
          <p:nvPr/>
        </p:nvCxnSpPr>
        <p:spPr>
          <a:xfrm>
            <a:off x="4572832" y="3427959"/>
            <a:ext cx="525842" cy="272906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58" name="edge_pt_to_pq_1"/>
          <p:cNvCxnSpPr/>
          <p:nvPr/>
        </p:nvCxnSpPr>
        <p:spPr>
          <a:xfrm>
            <a:off x="5138611" y="1437746"/>
            <a:ext cx="286218" cy="1104934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59" name="edge_tq_to_pq_1"/>
          <p:cNvCxnSpPr/>
          <p:nvPr/>
        </p:nvCxnSpPr>
        <p:spPr>
          <a:xfrm flipH="1">
            <a:off x="5424829" y="2070088"/>
            <a:ext cx="419343" cy="472592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cxnSp>
        <p:nvCxnSpPr>
          <p:cNvPr id="60" name="edge_pq_to_q_1"/>
          <p:cNvCxnSpPr/>
          <p:nvPr/>
        </p:nvCxnSpPr>
        <p:spPr>
          <a:xfrm flipH="1">
            <a:off x="5098674" y="2815586"/>
            <a:ext cx="326155" cy="885279"/>
          </a:xfrm>
          <a:prstGeom prst="line">
            <a:avLst/>
          </a:prstGeom>
          <a:ln w="36576">
            <a:solidFill>
              <a:srgbClr val="A7A7A7"/>
            </a:solidFill>
          </a:ln>
          <a:effectLst/>
        </p:spPr>
      </p:cxnSp>
      <p:sp>
        <p:nvSpPr>
          <p:cNvPr id="61" name="leaf_forall"/>
          <p:cNvSpPr/>
          <p:nvPr/>
        </p:nvSpPr>
        <p:spPr>
          <a:xfrm>
            <a:off x="3294835" y="851997"/>
            <a:ext cx="985122" cy="292874"/>
          </a:xfrm>
          <a:prstGeom prst="rect">
            <a:avLst/>
          </a:prstGeom>
          <a:solidFill>
            <a:srgbClr val="F1F7F7"/>
          </a:solidFill>
          <a:ln w="36576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leaf_forall_text"/>
          <p:cNvSpPr txBox="1"/>
          <p:nvPr/>
        </p:nvSpPr>
        <p:spPr>
          <a:xfrm>
            <a:off x="3321460" y="878622"/>
            <a:ext cx="931872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∀x (¬R(x))</a:t>
            </a:r>
          </a:p>
        </p:txBody>
      </p:sp>
      <p:sp>
        <p:nvSpPr>
          <p:cNvPr id="63" name="inode_not_ra"/>
          <p:cNvSpPr/>
          <p:nvPr/>
        </p:nvSpPr>
        <p:spPr>
          <a:xfrm>
            <a:off x="3814021" y="1817151"/>
            <a:ext cx="579092" cy="292874"/>
          </a:xfrm>
          <a:prstGeom prst="rect">
            <a:avLst/>
          </a:prstGeom>
          <a:solidFill>
            <a:srgbClr val="F1F7F7"/>
          </a:solidFill>
          <a:ln w="36576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node_not_ra_text"/>
          <p:cNvSpPr txBox="1"/>
          <p:nvPr/>
        </p:nvSpPr>
        <p:spPr>
          <a:xfrm>
            <a:off x="3840646" y="1843776"/>
            <a:ext cx="525842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¬R(a)</a:t>
            </a:r>
          </a:p>
        </p:txBody>
      </p:sp>
      <p:sp>
        <p:nvSpPr>
          <p:cNvPr id="65" name="leaf_or"/>
          <p:cNvSpPr/>
          <p:nvPr/>
        </p:nvSpPr>
        <p:spPr>
          <a:xfrm>
            <a:off x="3088492" y="2436181"/>
            <a:ext cx="945185" cy="292874"/>
          </a:xfrm>
          <a:prstGeom prst="rect">
            <a:avLst/>
          </a:prstGeom>
          <a:solidFill>
            <a:srgbClr val="F1F7F7"/>
          </a:solidFill>
          <a:ln w="36576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eaf_or_text"/>
          <p:cNvSpPr txBox="1"/>
          <p:nvPr/>
        </p:nvSpPr>
        <p:spPr>
          <a:xfrm>
            <a:off x="3115117" y="2462806"/>
            <a:ext cx="891935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 ∨ (R(a))</a:t>
            </a:r>
          </a:p>
        </p:txBody>
      </p:sp>
      <p:sp>
        <p:nvSpPr>
          <p:cNvPr id="67" name="inode_p"/>
          <p:cNvSpPr/>
          <p:nvPr/>
        </p:nvSpPr>
        <p:spPr>
          <a:xfrm>
            <a:off x="4399769" y="3101804"/>
            <a:ext cx="339467" cy="339467"/>
          </a:xfrm>
          <a:prstGeom prst="rect">
            <a:avLst/>
          </a:prstGeom>
          <a:solidFill>
            <a:srgbClr val="F1F7F7"/>
          </a:solidFill>
          <a:ln w="36576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inode_p_text"/>
          <p:cNvSpPr txBox="1"/>
          <p:nvPr/>
        </p:nvSpPr>
        <p:spPr>
          <a:xfrm>
            <a:off x="4426394" y="3128429"/>
            <a:ext cx="286218" cy="2862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</a:t>
            </a:r>
          </a:p>
        </p:txBody>
      </p:sp>
      <p:sp>
        <p:nvSpPr>
          <p:cNvPr id="69" name="leaf_pt"/>
          <p:cNvSpPr/>
          <p:nvPr/>
        </p:nvSpPr>
        <p:spPr>
          <a:xfrm>
            <a:off x="4799143" y="1164840"/>
            <a:ext cx="658967" cy="286218"/>
          </a:xfrm>
          <a:prstGeom prst="rect">
            <a:avLst/>
          </a:prstGeom>
          <a:solidFill>
            <a:srgbClr val="F1F7F7"/>
          </a:solidFill>
          <a:ln w="36576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leaf_pt_text"/>
          <p:cNvSpPr txBox="1"/>
          <p:nvPr/>
        </p:nvSpPr>
        <p:spPr>
          <a:xfrm>
            <a:off x="4825768" y="1191465"/>
            <a:ext cx="605717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 → T</a:t>
            </a:r>
          </a:p>
        </p:txBody>
      </p:sp>
      <p:sp>
        <p:nvSpPr>
          <p:cNvPr id="71" name="leaf_tq"/>
          <p:cNvSpPr/>
          <p:nvPr/>
        </p:nvSpPr>
        <p:spPr>
          <a:xfrm>
            <a:off x="5557954" y="1790526"/>
            <a:ext cx="612373" cy="292874"/>
          </a:xfrm>
          <a:prstGeom prst="rect">
            <a:avLst/>
          </a:prstGeom>
          <a:solidFill>
            <a:srgbClr val="F1F7F7"/>
          </a:solidFill>
          <a:ln w="36576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leaf_tq_text"/>
          <p:cNvSpPr txBox="1"/>
          <p:nvPr/>
        </p:nvSpPr>
        <p:spPr>
          <a:xfrm>
            <a:off x="5584579" y="1817151"/>
            <a:ext cx="559123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T → Q</a:t>
            </a:r>
          </a:p>
        </p:txBody>
      </p:sp>
      <p:sp>
        <p:nvSpPr>
          <p:cNvPr id="73" name="inode_pq"/>
          <p:cNvSpPr/>
          <p:nvPr/>
        </p:nvSpPr>
        <p:spPr>
          <a:xfrm>
            <a:off x="5038768" y="2549337"/>
            <a:ext cx="752154" cy="286218"/>
          </a:xfrm>
          <a:prstGeom prst="rect">
            <a:avLst/>
          </a:prstGeom>
          <a:solidFill>
            <a:srgbClr val="F1F7F7"/>
          </a:solidFill>
          <a:ln w="36576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inode_pq_text"/>
          <p:cNvSpPr txBox="1"/>
          <p:nvPr/>
        </p:nvSpPr>
        <p:spPr>
          <a:xfrm>
            <a:off x="5065393" y="2575962"/>
            <a:ext cx="698904" cy="23296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 → Q</a:t>
            </a:r>
          </a:p>
        </p:txBody>
      </p:sp>
      <p:sp>
        <p:nvSpPr>
          <p:cNvPr id="75" name="root_q"/>
          <p:cNvSpPr/>
          <p:nvPr/>
        </p:nvSpPr>
        <p:spPr>
          <a:xfrm>
            <a:off x="4912299" y="3694209"/>
            <a:ext cx="346124" cy="326155"/>
          </a:xfrm>
          <a:prstGeom prst="rect">
            <a:avLst/>
          </a:prstGeom>
          <a:solidFill>
            <a:srgbClr val="F1F7F7"/>
          </a:solidFill>
          <a:ln w="36576">
            <a:solidFill>
              <a:srgbClr val="00A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ot_q_text"/>
          <p:cNvSpPr txBox="1"/>
          <p:nvPr/>
        </p:nvSpPr>
        <p:spPr>
          <a:xfrm>
            <a:off x="4938924" y="3720834"/>
            <a:ext cx="292874" cy="27290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Q</a:t>
            </a:r>
          </a:p>
        </p:txBody>
      </p:sp>
      <p:sp>
        <p:nvSpPr>
          <p:cNvPr id="77" name="legend_root_box"/>
          <p:cNvSpPr/>
          <p:nvPr/>
        </p:nvSpPr>
        <p:spPr>
          <a:xfrm>
            <a:off x="2935398" y="4273301"/>
            <a:ext cx="359436" cy="166405"/>
          </a:xfrm>
          <a:prstGeom prst="rect">
            <a:avLst/>
          </a:prstGeom>
          <a:solidFill>
            <a:srgbClr val="FFFFFF"/>
          </a:solidFill>
          <a:ln w="36576">
            <a:solidFill>
              <a:srgbClr val="00A95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legend_root_text"/>
          <p:cNvSpPr txBox="1"/>
          <p:nvPr/>
        </p:nvSpPr>
        <p:spPr>
          <a:xfrm>
            <a:off x="3348085" y="4246676"/>
            <a:ext cx="838685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root node</a:t>
            </a:r>
          </a:p>
        </p:txBody>
      </p:sp>
      <p:sp>
        <p:nvSpPr>
          <p:cNvPr id="79" name="legend_inode_box"/>
          <p:cNvSpPr/>
          <p:nvPr/>
        </p:nvSpPr>
        <p:spPr>
          <a:xfrm>
            <a:off x="4253332" y="4273301"/>
            <a:ext cx="359436" cy="166405"/>
          </a:xfrm>
          <a:prstGeom prst="rect">
            <a:avLst/>
          </a:prstGeom>
          <a:solidFill>
            <a:srgbClr val="FFFFFF"/>
          </a:solidFill>
          <a:ln w="36576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legend_inode_text"/>
          <p:cNvSpPr txBox="1"/>
          <p:nvPr/>
        </p:nvSpPr>
        <p:spPr>
          <a:xfrm>
            <a:off x="4672675" y="4246676"/>
            <a:ext cx="599060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inode</a:t>
            </a:r>
          </a:p>
        </p:txBody>
      </p:sp>
      <p:sp>
        <p:nvSpPr>
          <p:cNvPr id="81" name="legend_leaf_box"/>
          <p:cNvSpPr/>
          <p:nvPr/>
        </p:nvSpPr>
        <p:spPr>
          <a:xfrm>
            <a:off x="5298361" y="4273301"/>
            <a:ext cx="359436" cy="166405"/>
          </a:xfrm>
          <a:prstGeom prst="rect">
            <a:avLst/>
          </a:prstGeom>
          <a:solidFill>
            <a:srgbClr val="FFFFFF"/>
          </a:solidFill>
          <a:ln w="36576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legend_leaf_text"/>
          <p:cNvSpPr txBox="1"/>
          <p:nvPr/>
        </p:nvSpPr>
        <p:spPr>
          <a:xfrm>
            <a:off x="5724360" y="4246676"/>
            <a:ext cx="798747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leaf node</a:t>
            </a:r>
          </a:p>
        </p:txBody>
      </p:sp>
      <p:sp>
        <p:nvSpPr>
          <p:cNvPr id="83" name="leaf_to_llm_arrow"/>
          <p:cNvSpPr/>
          <p:nvPr/>
        </p:nvSpPr>
        <p:spPr>
          <a:xfrm>
            <a:off x="6776045" y="1104934"/>
            <a:ext cx="445967" cy="199686"/>
          </a:xfrm>
          <a:prstGeom prst="rightArrow">
            <a:avLst/>
          </a:prstGeom>
          <a:solidFill>
            <a:srgbClr val="F7B382"/>
          </a:solidFill>
          <a:ln w="9144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inode_to_llm_arrow"/>
          <p:cNvSpPr/>
          <p:nvPr/>
        </p:nvSpPr>
        <p:spPr>
          <a:xfrm>
            <a:off x="6776045" y="3634303"/>
            <a:ext cx="445967" cy="199686"/>
          </a:xfrm>
          <a:prstGeom prst="rightArrow">
            <a:avLst/>
          </a:prstGeom>
          <a:solidFill>
            <a:srgbClr val="A9D88E"/>
          </a:solidFill>
          <a:ln w="9144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asoning_to_post_arrow"/>
          <p:cNvSpPr/>
          <p:nvPr/>
        </p:nvSpPr>
        <p:spPr>
          <a:xfrm>
            <a:off x="6716139" y="5657797"/>
            <a:ext cx="479248" cy="212999"/>
          </a:xfrm>
          <a:prstGeom prst="leftArrow">
            <a:avLst/>
          </a:prstGeom>
          <a:solidFill>
            <a:srgbClr val="285BAD"/>
          </a:solidFill>
          <a:ln w="9144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leaf_node_list"/>
          <p:cNvSpPr/>
          <p:nvPr/>
        </p:nvSpPr>
        <p:spPr>
          <a:xfrm>
            <a:off x="7235325" y="465936"/>
            <a:ext cx="1490996" cy="1297965"/>
          </a:xfrm>
          <a:prstGeom prst="roundRect">
            <a:avLst>
              <a:gd name="adj" fmla="val 8717"/>
            </a:avLst>
          </a:prstGeom>
          <a:solidFill>
            <a:srgbClr val="FBE6D3"/>
          </a:solidFill>
          <a:ln w="27432">
            <a:solidFill>
              <a:srgbClr val="F7B38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leaf_list_title"/>
          <p:cNvSpPr txBox="1"/>
          <p:nvPr/>
        </p:nvSpPr>
        <p:spPr>
          <a:xfrm>
            <a:off x="7375106" y="559123"/>
            <a:ext cx="1264684" cy="2662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Leaf Node List</a:t>
            </a:r>
          </a:p>
        </p:txBody>
      </p:sp>
      <p:sp>
        <p:nvSpPr>
          <p:cNvPr id="88" name="leaf_formula_0"/>
          <p:cNvSpPr txBox="1"/>
          <p:nvPr/>
        </p:nvSpPr>
        <p:spPr>
          <a:xfrm>
            <a:off x="7388418" y="871966"/>
            <a:ext cx="1198121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∀x (¬R(x))</a:t>
            </a:r>
          </a:p>
        </p:txBody>
      </p:sp>
      <p:sp>
        <p:nvSpPr>
          <p:cNvPr id="89" name="leaf_formula_1"/>
          <p:cNvSpPr txBox="1"/>
          <p:nvPr/>
        </p:nvSpPr>
        <p:spPr>
          <a:xfrm>
            <a:off x="7388418" y="1064997"/>
            <a:ext cx="1198121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 → T</a:t>
            </a:r>
          </a:p>
        </p:txBody>
      </p:sp>
      <p:sp>
        <p:nvSpPr>
          <p:cNvPr id="90" name="leaf_formula_2"/>
          <p:cNvSpPr txBox="1"/>
          <p:nvPr/>
        </p:nvSpPr>
        <p:spPr>
          <a:xfrm>
            <a:off x="7388418" y="1251371"/>
            <a:ext cx="1198121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T → Q</a:t>
            </a:r>
          </a:p>
        </p:txBody>
      </p:sp>
      <p:sp>
        <p:nvSpPr>
          <p:cNvPr id="91" name="leaf_formula_3"/>
          <p:cNvSpPr txBox="1"/>
          <p:nvPr/>
        </p:nvSpPr>
        <p:spPr>
          <a:xfrm>
            <a:off x="7388418" y="1437746"/>
            <a:ext cx="1198121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1">
                <a:solidFill>
                  <a:srgbClr val="000000"/>
                </a:solidFill>
                <a:latin typeface="DejaVu Serif"/>
              </a:rPr>
              <a:t>P ∨ (R(a))</a:t>
            </a:r>
          </a:p>
        </p:txBody>
      </p:sp>
      <p:sp>
        <p:nvSpPr>
          <p:cNvPr id="92" name="diversity_panel"/>
          <p:cNvSpPr/>
          <p:nvPr/>
        </p:nvSpPr>
        <p:spPr>
          <a:xfrm>
            <a:off x="10170723" y="465936"/>
            <a:ext cx="2263119" cy="1291309"/>
          </a:xfrm>
          <a:prstGeom prst="roundRect">
            <a:avLst>
              <a:gd name="adj" fmla="val 8762"/>
            </a:avLst>
          </a:prstGeom>
          <a:solidFill>
            <a:srgbClr val="DAE2F5"/>
          </a:solidFill>
          <a:ln w="27432">
            <a:solidFill>
              <a:srgbClr val="8D96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diversity_title"/>
          <p:cNvSpPr txBox="1"/>
          <p:nvPr/>
        </p:nvSpPr>
        <p:spPr>
          <a:xfrm>
            <a:off x="10297192" y="579092"/>
            <a:ext cx="1863745" cy="23962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9" b="1" i="0">
                <a:solidFill>
                  <a:srgbClr val="000000"/>
                </a:solidFill>
                <a:latin typeface="DejaVu Sans"/>
              </a:rPr>
              <a:t>Diversity</a:t>
            </a:r>
          </a:p>
        </p:txBody>
      </p:sp>
      <p:sp>
        <p:nvSpPr>
          <p:cNvPr id="94" name="diversity_line1"/>
          <p:cNvSpPr txBox="1"/>
          <p:nvPr/>
        </p:nvSpPr>
        <p:spPr>
          <a:xfrm>
            <a:off x="10297192" y="818716"/>
            <a:ext cx="1996869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000000"/>
                </a:solidFill>
                <a:latin typeface="DejaVu Sans"/>
              </a:rPr>
              <a:t>randomly select scenarios</a:t>
            </a:r>
          </a:p>
        </p:txBody>
      </p:sp>
      <p:sp>
        <p:nvSpPr>
          <p:cNvPr id="95" name="diversity_line2"/>
          <p:cNvSpPr txBox="1"/>
          <p:nvPr/>
        </p:nvSpPr>
        <p:spPr>
          <a:xfrm>
            <a:off x="10297192" y="1031716"/>
            <a:ext cx="1996869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000000"/>
                </a:solidFill>
                <a:latin typeface="DejaVu Sans"/>
              </a:rPr>
              <a:t>topics   (num=3)</a:t>
            </a:r>
          </a:p>
        </p:txBody>
      </p:sp>
      <p:sp>
        <p:nvSpPr>
          <p:cNvPr id="96" name="diversity_bullet1"/>
          <p:cNvSpPr txBox="1"/>
          <p:nvPr/>
        </p:nvSpPr>
        <p:spPr>
          <a:xfrm>
            <a:off x="10303848" y="1258028"/>
            <a:ext cx="146437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C00000"/>
                </a:solidFill>
                <a:latin typeface="DejaVu Sans"/>
              </a:rPr>
              <a:t>•</a:t>
            </a:r>
          </a:p>
        </p:txBody>
      </p:sp>
      <p:sp>
        <p:nvSpPr>
          <p:cNvPr id="97" name="diversity_public"/>
          <p:cNvSpPr txBox="1"/>
          <p:nvPr/>
        </p:nvSpPr>
        <p:spPr>
          <a:xfrm>
            <a:off x="10483566" y="1244715"/>
            <a:ext cx="1597495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C00000"/>
                </a:solidFill>
                <a:latin typeface="DejaVu Sans"/>
              </a:rPr>
              <a:t>Public Health</a:t>
            </a:r>
          </a:p>
        </p:txBody>
      </p:sp>
      <p:sp>
        <p:nvSpPr>
          <p:cNvPr id="98" name="diversity_bullet2"/>
          <p:cNvSpPr txBox="1"/>
          <p:nvPr/>
        </p:nvSpPr>
        <p:spPr>
          <a:xfrm>
            <a:off x="10303848" y="1477683"/>
            <a:ext cx="146437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000000"/>
                </a:solidFill>
                <a:latin typeface="DejaVu Sans"/>
              </a:rPr>
              <a:t>•</a:t>
            </a:r>
          </a:p>
        </p:txBody>
      </p:sp>
      <p:sp>
        <p:nvSpPr>
          <p:cNvPr id="99" name="diversity_econ"/>
          <p:cNvSpPr txBox="1"/>
          <p:nvPr/>
        </p:nvSpPr>
        <p:spPr>
          <a:xfrm>
            <a:off x="10483566" y="1464371"/>
            <a:ext cx="1331246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000000"/>
                </a:solidFill>
                <a:latin typeface="DejaVu Sans"/>
              </a:rPr>
              <a:t>Economics</a:t>
            </a:r>
          </a:p>
        </p:txBody>
      </p:sp>
      <p:sp>
        <p:nvSpPr>
          <p:cNvPr id="100" name="leaf_list_to_robot"/>
          <p:cNvSpPr/>
          <p:nvPr/>
        </p:nvSpPr>
        <p:spPr>
          <a:xfrm>
            <a:off x="8713008" y="951841"/>
            <a:ext cx="445967" cy="206343"/>
          </a:xfrm>
          <a:prstGeom prst="right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iversity_to_robot"/>
          <p:cNvSpPr/>
          <p:nvPr/>
        </p:nvSpPr>
        <p:spPr>
          <a:xfrm>
            <a:off x="9751381" y="951841"/>
            <a:ext cx="425998" cy="206343"/>
          </a:xfrm>
          <a:prstGeom prst="left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2" name="robot_1_antenna_1"/>
          <p:cNvCxnSpPr/>
          <p:nvPr/>
        </p:nvCxnSpPr>
        <p:spPr>
          <a:xfrm flipV="1">
            <a:off x="9418569" y="822577"/>
            <a:ext cx="0" cy="46727"/>
          </a:xfrm>
          <a:prstGeom prst="line">
            <a:avLst/>
          </a:prstGeom>
          <a:ln w="14264">
            <a:solidFill>
              <a:srgbClr val="7FB5E6"/>
            </a:solidFill>
          </a:ln>
          <a:effectLst/>
        </p:spPr>
      </p:cxnSp>
      <p:sp>
        <p:nvSpPr>
          <p:cNvPr id="103" name="robot_1_antenna_ball"/>
          <p:cNvSpPr/>
          <p:nvPr/>
        </p:nvSpPr>
        <p:spPr>
          <a:xfrm>
            <a:off x="9400398" y="801809"/>
            <a:ext cx="36343" cy="36343"/>
          </a:xfrm>
          <a:prstGeom prst="ellipse">
            <a:avLst/>
          </a:prstGeom>
          <a:solidFill>
            <a:srgbClr val="13E0DA"/>
          </a:solidFill>
          <a:ln w="7132">
            <a:solidFill>
              <a:srgbClr val="153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obot_1_left_ear"/>
          <p:cNvSpPr/>
          <p:nvPr/>
        </p:nvSpPr>
        <p:spPr>
          <a:xfrm>
            <a:off x="9195319" y="952373"/>
            <a:ext cx="72686" cy="150563"/>
          </a:xfrm>
          <a:prstGeom prst="ellipse">
            <a:avLst/>
          </a:prstGeom>
          <a:solidFill>
            <a:srgbClr val="7FB5E6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obot_1_right_ear"/>
          <p:cNvSpPr/>
          <p:nvPr/>
        </p:nvSpPr>
        <p:spPr>
          <a:xfrm>
            <a:off x="9569133" y="952373"/>
            <a:ext cx="72686" cy="150563"/>
          </a:xfrm>
          <a:prstGeom prst="ellipse">
            <a:avLst/>
          </a:prstGeom>
          <a:solidFill>
            <a:srgbClr val="7FB5E6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obot_1_body"/>
          <p:cNvSpPr/>
          <p:nvPr/>
        </p:nvSpPr>
        <p:spPr>
          <a:xfrm>
            <a:off x="9278389" y="1118513"/>
            <a:ext cx="280360" cy="223250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bot_1_left_arm"/>
          <p:cNvSpPr/>
          <p:nvPr/>
        </p:nvSpPr>
        <p:spPr>
          <a:xfrm>
            <a:off x="9216087" y="1160048"/>
            <a:ext cx="72686" cy="171331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obot_1_right_arm"/>
          <p:cNvSpPr/>
          <p:nvPr/>
        </p:nvSpPr>
        <p:spPr>
          <a:xfrm>
            <a:off x="9548366" y="1160048"/>
            <a:ext cx="72686" cy="171331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obot_1_left_foot"/>
          <p:cNvSpPr/>
          <p:nvPr/>
        </p:nvSpPr>
        <p:spPr>
          <a:xfrm>
            <a:off x="9299156" y="1310612"/>
            <a:ext cx="98646" cy="67494"/>
          </a:xfrm>
          <a:custGeom>
            <a:avLst/>
            <a:gdLst/>
            <a:ahLst/>
            <a:cxnLst/>
            <a:rect l="l" t="t" r="r" b="b"/>
            <a:pathLst>
              <a:path w="98646" h="67494">
                <a:moveTo>
                  <a:pt x="31151" y="0"/>
                </a:moveTo>
                <a:lnTo>
                  <a:pt x="98646" y="0"/>
                </a:lnTo>
                <a:close/>
                <a:lnTo>
                  <a:pt x="72686" y="67494"/>
                </a:lnTo>
                <a:close/>
                <a:lnTo>
                  <a:pt x="0" y="57110"/>
                </a:lnTo>
                <a:close/>
                <a:lnTo>
                  <a:pt x="31151" y="0"/>
                </a:lnTo>
                <a:close/>
              </a:path>
            </a:pathLst>
          </a:cu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obot_1_right_foot"/>
          <p:cNvSpPr/>
          <p:nvPr/>
        </p:nvSpPr>
        <p:spPr>
          <a:xfrm>
            <a:off x="9439337" y="1310612"/>
            <a:ext cx="98645" cy="67494"/>
          </a:xfrm>
          <a:custGeom>
            <a:avLst/>
            <a:gdLst/>
            <a:ahLst/>
            <a:cxnLst/>
            <a:rect l="l" t="t" r="r" b="b"/>
            <a:pathLst>
              <a:path w="98645" h="67494">
                <a:moveTo>
                  <a:pt x="0" y="0"/>
                </a:moveTo>
                <a:lnTo>
                  <a:pt x="67494" y="0"/>
                </a:lnTo>
                <a:close/>
                <a:lnTo>
                  <a:pt x="98645" y="57110"/>
                </a:lnTo>
                <a:close/>
                <a:lnTo>
                  <a:pt x="25959" y="67494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obot_1_chest"/>
          <p:cNvSpPr/>
          <p:nvPr/>
        </p:nvSpPr>
        <p:spPr>
          <a:xfrm>
            <a:off x="9382226" y="1201583"/>
            <a:ext cx="72686" cy="72686"/>
          </a:xfrm>
          <a:prstGeom prst="ellipse">
            <a:avLst/>
          </a:prstGeom>
          <a:solidFill>
            <a:srgbClr val="153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obot_1_head"/>
          <p:cNvSpPr/>
          <p:nvPr/>
        </p:nvSpPr>
        <p:spPr>
          <a:xfrm>
            <a:off x="9231662" y="864112"/>
            <a:ext cx="373814" cy="275168"/>
          </a:xfrm>
          <a:prstGeom prst="roundRect">
            <a:avLst>
              <a:gd name="adj" fmla="val 26415"/>
            </a:avLst>
          </a:prstGeom>
          <a:solidFill>
            <a:srgbClr val="B8D9F4"/>
          </a:solidFill>
          <a:ln w="8558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bot_1_screen"/>
          <p:cNvSpPr/>
          <p:nvPr/>
        </p:nvSpPr>
        <p:spPr>
          <a:xfrm>
            <a:off x="9268005" y="905647"/>
            <a:ext cx="301127" cy="181715"/>
          </a:xfrm>
          <a:prstGeom prst="roundRect">
            <a:avLst>
              <a:gd name="adj" fmla="val 28571"/>
            </a:avLst>
          </a:prstGeom>
          <a:solidFill>
            <a:srgbClr val="07517C"/>
          </a:solidFill>
          <a:ln w="7132">
            <a:solidFill>
              <a:srgbClr val="153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obot_1_left_eye"/>
          <p:cNvSpPr/>
          <p:nvPr/>
        </p:nvSpPr>
        <p:spPr>
          <a:xfrm>
            <a:off x="9325116" y="952373"/>
            <a:ext cx="41534" cy="41534"/>
          </a:xfrm>
          <a:prstGeom prst="ellipse">
            <a:avLst/>
          </a:prstGeom>
          <a:solidFill>
            <a:srgbClr val="13E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obot_1_right_eye"/>
          <p:cNvSpPr/>
          <p:nvPr/>
        </p:nvSpPr>
        <p:spPr>
          <a:xfrm>
            <a:off x="9470488" y="952373"/>
            <a:ext cx="41534" cy="41534"/>
          </a:xfrm>
          <a:prstGeom prst="ellipse">
            <a:avLst/>
          </a:prstGeom>
          <a:solidFill>
            <a:srgbClr val="13E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robot_1_smile_1"/>
          <p:cNvCxnSpPr/>
          <p:nvPr/>
        </p:nvCxnSpPr>
        <p:spPr>
          <a:xfrm>
            <a:off x="9392610" y="1030251"/>
            <a:ext cx="51918" cy="0"/>
          </a:xfrm>
          <a:prstGeom prst="line">
            <a:avLst/>
          </a:prstGeom>
          <a:ln w="14264">
            <a:solidFill>
              <a:srgbClr val="13E0DA"/>
            </a:solidFill>
          </a:ln>
          <a:effectLst/>
        </p:spPr>
      </p:cxnSp>
      <p:sp>
        <p:nvSpPr>
          <p:cNvPr id="117" name="robot_1_bubble_tail"/>
          <p:cNvSpPr/>
          <p:nvPr/>
        </p:nvSpPr>
        <p:spPr>
          <a:xfrm>
            <a:off x="9522406" y="864112"/>
            <a:ext cx="57111" cy="72686"/>
          </a:xfrm>
          <a:custGeom>
            <a:avLst/>
            <a:gdLst/>
            <a:ahLst/>
            <a:cxnLst/>
            <a:rect l="l" t="t" r="r" b="b"/>
            <a:pathLst>
              <a:path w="57111" h="72686">
                <a:moveTo>
                  <a:pt x="0" y="20767"/>
                </a:moveTo>
                <a:lnTo>
                  <a:pt x="41535" y="72686"/>
                </a:lnTo>
                <a:close/>
                <a:lnTo>
                  <a:pt x="57111" y="0"/>
                </a:lnTo>
                <a:close/>
                <a:lnTo>
                  <a:pt x="0" y="20767"/>
                </a:lnTo>
                <a:close/>
              </a:path>
            </a:pathLst>
          </a:custGeom>
          <a:solidFill>
            <a:srgbClr val="58C6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obot_1_bubble"/>
          <p:cNvSpPr/>
          <p:nvPr/>
        </p:nvSpPr>
        <p:spPr>
          <a:xfrm>
            <a:off x="9506831" y="760274"/>
            <a:ext cx="223250" cy="160947"/>
          </a:xfrm>
          <a:prstGeom prst="roundRect">
            <a:avLst>
              <a:gd name="adj" fmla="val 12903"/>
            </a:avLst>
          </a:prstGeom>
          <a:solidFill>
            <a:srgbClr val="58C6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robot_1_bubble_l1_1"/>
          <p:cNvCxnSpPr/>
          <p:nvPr/>
        </p:nvCxnSpPr>
        <p:spPr>
          <a:xfrm>
            <a:off x="9548366" y="807001"/>
            <a:ext cx="134988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cxnSp>
        <p:nvCxnSpPr>
          <p:cNvPr id="120" name="robot_1_bubble_l2_1"/>
          <p:cNvCxnSpPr/>
          <p:nvPr/>
        </p:nvCxnSpPr>
        <p:spPr>
          <a:xfrm>
            <a:off x="9548366" y="843344"/>
            <a:ext cx="124604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cxnSp>
        <p:nvCxnSpPr>
          <p:cNvPr id="121" name="robot_1_bubble_l3_1"/>
          <p:cNvCxnSpPr/>
          <p:nvPr/>
        </p:nvCxnSpPr>
        <p:spPr>
          <a:xfrm>
            <a:off x="9548366" y="879687"/>
            <a:ext cx="93453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sp>
        <p:nvSpPr>
          <p:cNvPr id="122" name="step1_down"/>
          <p:cNvSpPr/>
          <p:nvPr/>
        </p:nvSpPr>
        <p:spPr>
          <a:xfrm>
            <a:off x="9332038" y="1424433"/>
            <a:ext cx="179718" cy="439311"/>
          </a:xfrm>
          <a:prstGeom prst="down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step1_label"/>
          <p:cNvSpPr txBox="1"/>
          <p:nvPr/>
        </p:nvSpPr>
        <p:spPr>
          <a:xfrm>
            <a:off x="9565006" y="1431090"/>
            <a:ext cx="512529" cy="212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C00000"/>
                </a:solidFill>
                <a:latin typeface="DejaVu Sans"/>
              </a:rPr>
              <a:t>Step</a:t>
            </a:r>
          </a:p>
        </p:txBody>
      </p:sp>
      <p:sp>
        <p:nvSpPr>
          <p:cNvPr id="124" name="step1_circle"/>
          <p:cNvSpPr/>
          <p:nvPr/>
        </p:nvSpPr>
        <p:spPr>
          <a:xfrm>
            <a:off x="9671506" y="1644089"/>
            <a:ext cx="179718" cy="179718"/>
          </a:xfrm>
          <a:prstGeom prst="ellipse">
            <a:avLst/>
          </a:prstGeom>
          <a:solidFill>
            <a:srgbClr val="FCF2E9"/>
          </a:solidFill>
          <a:ln w="18288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step1_number"/>
          <p:cNvSpPr txBox="1"/>
          <p:nvPr/>
        </p:nvSpPr>
        <p:spPr>
          <a:xfrm>
            <a:off x="9678162" y="1644089"/>
            <a:ext cx="166405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8" b="1" i="0">
                <a:solidFill>
                  <a:srgbClr val="C00000"/>
                </a:solidFill>
                <a:latin typeface="DejaVu Sans"/>
              </a:rPr>
              <a:t>1</a:t>
            </a:r>
          </a:p>
        </p:txBody>
      </p:sp>
      <p:sp>
        <p:nvSpPr>
          <p:cNvPr id="126" name="scenario_panel"/>
          <p:cNvSpPr/>
          <p:nvPr/>
        </p:nvSpPr>
        <p:spPr>
          <a:xfrm>
            <a:off x="7235325" y="1870401"/>
            <a:ext cx="4799143" cy="1118247"/>
          </a:xfrm>
          <a:prstGeom prst="roundRect">
            <a:avLst>
              <a:gd name="adj" fmla="val 8928"/>
            </a:avLst>
          </a:prstGeom>
          <a:solidFill>
            <a:srgbClr val="F2F2F2"/>
          </a:solidFill>
          <a:ln w="27432">
            <a:solidFill>
              <a:srgbClr val="CFCF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scenario_title"/>
          <p:cNvSpPr txBox="1"/>
          <p:nvPr/>
        </p:nvSpPr>
        <p:spPr>
          <a:xfrm>
            <a:off x="7441668" y="1990213"/>
            <a:ext cx="4359832" cy="2462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Instantiated Realistic Reasoning Scenarios</a:t>
            </a:r>
          </a:p>
        </p:txBody>
      </p:sp>
      <p:sp>
        <p:nvSpPr>
          <p:cNvPr id="128" name="scenario_line_0"/>
          <p:cNvSpPr txBox="1"/>
          <p:nvPr/>
        </p:nvSpPr>
        <p:spPr>
          <a:xfrm>
            <a:off x="7441668" y="2256462"/>
            <a:ext cx="4399769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"P": "The government initiated a nationwide vaccination campaign.",</a:t>
            </a:r>
          </a:p>
        </p:txBody>
      </p:sp>
      <p:sp>
        <p:nvSpPr>
          <p:cNvPr id="129" name="scenario_line_1"/>
          <p:cNvSpPr txBox="1"/>
          <p:nvPr/>
        </p:nvSpPr>
        <p:spPr>
          <a:xfrm>
            <a:off x="7441668" y="2436181"/>
            <a:ext cx="4399769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"Q": "The spread of the disease was effectively contained.",</a:t>
            </a:r>
          </a:p>
        </p:txBody>
      </p:sp>
      <p:sp>
        <p:nvSpPr>
          <p:cNvPr id="130" name="scenario_line_2"/>
          <p:cNvSpPr txBox="1"/>
          <p:nvPr/>
        </p:nvSpPr>
        <p:spPr>
          <a:xfrm>
            <a:off x="7441668" y="2615899"/>
            <a:ext cx="4399769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“R(x)”: “Region x has achieved full vaccination coverage.”,</a:t>
            </a:r>
          </a:p>
        </p:txBody>
      </p:sp>
      <p:sp>
        <p:nvSpPr>
          <p:cNvPr id="131" name="scenario_line_3"/>
          <p:cNvSpPr txBox="1"/>
          <p:nvPr/>
        </p:nvSpPr>
        <p:spPr>
          <a:xfrm>
            <a:off x="7441668" y="2795617"/>
            <a:ext cx="4399769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"T": "Vaccination rates across regions increased significantly."</a:t>
            </a:r>
          </a:p>
        </p:txBody>
      </p:sp>
      <p:sp>
        <p:nvSpPr>
          <p:cNvPr id="132" name="inode_sequence_panel"/>
          <p:cNvSpPr/>
          <p:nvPr/>
        </p:nvSpPr>
        <p:spPr>
          <a:xfrm>
            <a:off x="7235325" y="3075179"/>
            <a:ext cx="3214960" cy="1311277"/>
          </a:xfrm>
          <a:prstGeom prst="roundRect">
            <a:avLst>
              <a:gd name="adj" fmla="val 7614"/>
            </a:avLst>
          </a:prstGeom>
          <a:solidFill>
            <a:srgbClr val="E2F1DA"/>
          </a:solidFill>
          <a:ln w="27432">
            <a:solidFill>
              <a:srgbClr val="A9D8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inode_title"/>
          <p:cNvSpPr txBox="1"/>
          <p:nvPr/>
        </p:nvSpPr>
        <p:spPr>
          <a:xfrm>
            <a:off x="7408387" y="3208304"/>
            <a:ext cx="2862180" cy="25293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000000"/>
                </a:solidFill>
                <a:latin typeface="DejaVu Sans"/>
              </a:rPr>
              <a:t>Inode Sequence based on depth</a:t>
            </a:r>
          </a:p>
        </p:txBody>
      </p:sp>
      <p:sp>
        <p:nvSpPr>
          <p:cNvPr id="134" name="inode_prefix_0"/>
          <p:cNvSpPr txBox="1"/>
          <p:nvPr/>
        </p:nvSpPr>
        <p:spPr>
          <a:xfrm>
            <a:off x="7408387" y="3507834"/>
            <a:ext cx="525842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"/>
              </a:rPr>
              <a:t>Step1:</a:t>
            </a:r>
          </a:p>
        </p:txBody>
      </p:sp>
      <p:sp>
        <p:nvSpPr>
          <p:cNvPr id="135" name="inode_formula_0"/>
          <p:cNvSpPr txBox="1"/>
          <p:nvPr/>
        </p:nvSpPr>
        <p:spPr>
          <a:xfrm>
            <a:off x="7954198" y="3501178"/>
            <a:ext cx="230971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1">
                <a:solidFill>
                  <a:srgbClr val="000000"/>
                </a:solidFill>
                <a:latin typeface="DejaVu Serif"/>
              </a:rPr>
              <a:t>(P → T), (T → Q)  ⊢  (P → Q)</a:t>
            </a:r>
          </a:p>
        </p:txBody>
      </p:sp>
      <p:sp>
        <p:nvSpPr>
          <p:cNvPr id="136" name="inode_prefix_1"/>
          <p:cNvSpPr txBox="1"/>
          <p:nvPr/>
        </p:nvSpPr>
        <p:spPr>
          <a:xfrm>
            <a:off x="7408387" y="3714177"/>
            <a:ext cx="525842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"/>
              </a:rPr>
              <a:t>Step2:</a:t>
            </a:r>
          </a:p>
        </p:txBody>
      </p:sp>
      <p:sp>
        <p:nvSpPr>
          <p:cNvPr id="137" name="inode_formula_1"/>
          <p:cNvSpPr txBox="1"/>
          <p:nvPr/>
        </p:nvSpPr>
        <p:spPr>
          <a:xfrm>
            <a:off x="7954198" y="3707521"/>
            <a:ext cx="230971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1">
                <a:solidFill>
                  <a:srgbClr val="000000"/>
                </a:solidFill>
                <a:latin typeface="DejaVu Serif"/>
              </a:rPr>
              <a:t>∀x (¬R(x))  ⊢  ¬R(a)</a:t>
            </a:r>
          </a:p>
        </p:txBody>
      </p:sp>
      <p:sp>
        <p:nvSpPr>
          <p:cNvPr id="138" name="inode_prefix_2"/>
          <p:cNvSpPr txBox="1"/>
          <p:nvPr/>
        </p:nvSpPr>
        <p:spPr>
          <a:xfrm>
            <a:off x="7408387" y="3920521"/>
            <a:ext cx="525842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"/>
              </a:rPr>
              <a:t>Step3:</a:t>
            </a:r>
          </a:p>
        </p:txBody>
      </p:sp>
      <p:sp>
        <p:nvSpPr>
          <p:cNvPr id="139" name="inode_formula_2"/>
          <p:cNvSpPr txBox="1"/>
          <p:nvPr/>
        </p:nvSpPr>
        <p:spPr>
          <a:xfrm>
            <a:off x="7954198" y="3913864"/>
            <a:ext cx="230971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1">
                <a:solidFill>
                  <a:srgbClr val="000000"/>
                </a:solidFill>
                <a:latin typeface="DejaVu Serif"/>
              </a:rPr>
              <a:t>(¬R(a) ∨ P), (¬R(a))  ⊢  P</a:t>
            </a:r>
          </a:p>
        </p:txBody>
      </p:sp>
      <p:sp>
        <p:nvSpPr>
          <p:cNvPr id="140" name="inode_prefix_3"/>
          <p:cNvSpPr txBox="1"/>
          <p:nvPr/>
        </p:nvSpPr>
        <p:spPr>
          <a:xfrm>
            <a:off x="7408387" y="4126864"/>
            <a:ext cx="525842" cy="1930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"/>
              </a:rPr>
              <a:t>Step4:</a:t>
            </a:r>
          </a:p>
        </p:txBody>
      </p:sp>
      <p:sp>
        <p:nvSpPr>
          <p:cNvPr id="141" name="inode_formula_3"/>
          <p:cNvSpPr txBox="1"/>
          <p:nvPr/>
        </p:nvSpPr>
        <p:spPr>
          <a:xfrm>
            <a:off x="7954198" y="4120208"/>
            <a:ext cx="230971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1">
                <a:solidFill>
                  <a:srgbClr val="000000"/>
                </a:solidFill>
                <a:latin typeface="DejaVu Serif"/>
              </a:rPr>
              <a:t>P, (P → Q)  ⊢  P</a:t>
            </a:r>
          </a:p>
        </p:txBody>
      </p:sp>
      <p:sp>
        <p:nvSpPr>
          <p:cNvPr id="142" name="scenario_to_robot2"/>
          <p:cNvSpPr/>
          <p:nvPr/>
        </p:nvSpPr>
        <p:spPr>
          <a:xfrm>
            <a:off x="11056002" y="3041898"/>
            <a:ext cx="186374" cy="346124"/>
          </a:xfrm>
          <a:prstGeom prst="down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inode_to_robot2"/>
          <p:cNvSpPr/>
          <p:nvPr/>
        </p:nvSpPr>
        <p:spPr>
          <a:xfrm>
            <a:off x="10436973" y="3501178"/>
            <a:ext cx="432655" cy="206343"/>
          </a:xfrm>
          <a:prstGeom prst="right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4" name="robot_2_antenna_1"/>
          <p:cNvCxnSpPr/>
          <p:nvPr/>
        </p:nvCxnSpPr>
        <p:spPr>
          <a:xfrm flipV="1">
            <a:off x="11142533" y="3385226"/>
            <a:ext cx="0" cy="46727"/>
          </a:xfrm>
          <a:prstGeom prst="line">
            <a:avLst/>
          </a:prstGeom>
          <a:ln w="14264">
            <a:solidFill>
              <a:srgbClr val="7FB5E6"/>
            </a:solidFill>
          </a:ln>
          <a:effectLst/>
        </p:spPr>
      </p:cxnSp>
      <p:sp>
        <p:nvSpPr>
          <p:cNvPr id="145" name="robot_2_antenna_ball"/>
          <p:cNvSpPr/>
          <p:nvPr/>
        </p:nvSpPr>
        <p:spPr>
          <a:xfrm>
            <a:off x="11124362" y="3364459"/>
            <a:ext cx="36343" cy="36343"/>
          </a:xfrm>
          <a:prstGeom prst="ellipse">
            <a:avLst/>
          </a:prstGeom>
          <a:solidFill>
            <a:srgbClr val="13E0DA"/>
          </a:solidFill>
          <a:ln w="7132">
            <a:solidFill>
              <a:srgbClr val="153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obot_2_left_ear"/>
          <p:cNvSpPr/>
          <p:nvPr/>
        </p:nvSpPr>
        <p:spPr>
          <a:xfrm>
            <a:off x="10919283" y="3515023"/>
            <a:ext cx="72686" cy="150563"/>
          </a:xfrm>
          <a:prstGeom prst="ellipse">
            <a:avLst/>
          </a:prstGeom>
          <a:solidFill>
            <a:srgbClr val="7FB5E6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obot_2_right_ear"/>
          <p:cNvSpPr/>
          <p:nvPr/>
        </p:nvSpPr>
        <p:spPr>
          <a:xfrm>
            <a:off x="11293097" y="3515023"/>
            <a:ext cx="72686" cy="150563"/>
          </a:xfrm>
          <a:prstGeom prst="ellipse">
            <a:avLst/>
          </a:prstGeom>
          <a:solidFill>
            <a:srgbClr val="7FB5E6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obot_2_body"/>
          <p:cNvSpPr/>
          <p:nvPr/>
        </p:nvSpPr>
        <p:spPr>
          <a:xfrm>
            <a:off x="11002353" y="3681163"/>
            <a:ext cx="280360" cy="223250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obot_2_left_arm"/>
          <p:cNvSpPr/>
          <p:nvPr/>
        </p:nvSpPr>
        <p:spPr>
          <a:xfrm>
            <a:off x="10940051" y="3722697"/>
            <a:ext cx="72686" cy="171331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obot_2_right_arm"/>
          <p:cNvSpPr/>
          <p:nvPr/>
        </p:nvSpPr>
        <p:spPr>
          <a:xfrm>
            <a:off x="11272330" y="3722697"/>
            <a:ext cx="72686" cy="171331"/>
          </a:xfrm>
          <a:prstGeom prst="ellipse">
            <a:avLst/>
          </a:pr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obot_2_left_foot"/>
          <p:cNvSpPr/>
          <p:nvPr/>
        </p:nvSpPr>
        <p:spPr>
          <a:xfrm>
            <a:off x="11023121" y="3873261"/>
            <a:ext cx="98645" cy="67495"/>
          </a:xfrm>
          <a:custGeom>
            <a:avLst/>
            <a:gdLst/>
            <a:ahLst/>
            <a:cxnLst/>
            <a:rect l="l" t="t" r="r" b="b"/>
            <a:pathLst>
              <a:path w="98645" h="67495">
                <a:moveTo>
                  <a:pt x="31151" y="0"/>
                </a:moveTo>
                <a:lnTo>
                  <a:pt x="98645" y="0"/>
                </a:lnTo>
                <a:close/>
                <a:lnTo>
                  <a:pt x="72686" y="67495"/>
                </a:lnTo>
                <a:close/>
                <a:lnTo>
                  <a:pt x="0" y="57111"/>
                </a:lnTo>
                <a:close/>
                <a:lnTo>
                  <a:pt x="31151" y="0"/>
                </a:lnTo>
                <a:close/>
              </a:path>
            </a:pathLst>
          </a:cu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obot_2_right_foot"/>
          <p:cNvSpPr/>
          <p:nvPr/>
        </p:nvSpPr>
        <p:spPr>
          <a:xfrm>
            <a:off x="11163301" y="3873261"/>
            <a:ext cx="98645" cy="67495"/>
          </a:xfrm>
          <a:custGeom>
            <a:avLst/>
            <a:gdLst/>
            <a:ahLst/>
            <a:cxnLst/>
            <a:rect l="l" t="t" r="r" b="b"/>
            <a:pathLst>
              <a:path w="98645" h="67495">
                <a:moveTo>
                  <a:pt x="0" y="0"/>
                </a:moveTo>
                <a:lnTo>
                  <a:pt x="67494" y="0"/>
                </a:lnTo>
                <a:close/>
                <a:lnTo>
                  <a:pt x="98645" y="57111"/>
                </a:lnTo>
                <a:close/>
                <a:lnTo>
                  <a:pt x="25959" y="67495"/>
                </a:lnTo>
                <a:close/>
                <a:lnTo>
                  <a:pt x="0" y="0"/>
                </a:lnTo>
                <a:close/>
              </a:path>
            </a:pathLst>
          </a:custGeom>
          <a:solidFill>
            <a:srgbClr val="B8D9F4"/>
          </a:solidFill>
          <a:ln w="71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obot_2_chest"/>
          <p:cNvSpPr/>
          <p:nvPr/>
        </p:nvSpPr>
        <p:spPr>
          <a:xfrm>
            <a:off x="11106190" y="3764232"/>
            <a:ext cx="72686" cy="72686"/>
          </a:xfrm>
          <a:prstGeom prst="ellipse">
            <a:avLst/>
          </a:prstGeom>
          <a:solidFill>
            <a:srgbClr val="153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obot_2_head"/>
          <p:cNvSpPr/>
          <p:nvPr/>
        </p:nvSpPr>
        <p:spPr>
          <a:xfrm>
            <a:off x="10955626" y="3426761"/>
            <a:ext cx="373814" cy="275168"/>
          </a:xfrm>
          <a:prstGeom prst="roundRect">
            <a:avLst>
              <a:gd name="adj" fmla="val 26415"/>
            </a:avLst>
          </a:prstGeom>
          <a:solidFill>
            <a:srgbClr val="B8D9F4"/>
          </a:solidFill>
          <a:ln w="8558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obot_2_screen"/>
          <p:cNvSpPr/>
          <p:nvPr/>
        </p:nvSpPr>
        <p:spPr>
          <a:xfrm>
            <a:off x="10991969" y="3468296"/>
            <a:ext cx="301127" cy="181715"/>
          </a:xfrm>
          <a:prstGeom prst="roundRect">
            <a:avLst>
              <a:gd name="adj" fmla="val 28571"/>
            </a:avLst>
          </a:prstGeom>
          <a:solidFill>
            <a:srgbClr val="07517C"/>
          </a:solidFill>
          <a:ln w="7132">
            <a:solidFill>
              <a:srgbClr val="153E7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obot_2_left_eye"/>
          <p:cNvSpPr/>
          <p:nvPr/>
        </p:nvSpPr>
        <p:spPr>
          <a:xfrm>
            <a:off x="11049080" y="3515023"/>
            <a:ext cx="41534" cy="41534"/>
          </a:xfrm>
          <a:prstGeom prst="ellipse">
            <a:avLst/>
          </a:prstGeom>
          <a:solidFill>
            <a:srgbClr val="13E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obot_2_right_eye"/>
          <p:cNvSpPr/>
          <p:nvPr/>
        </p:nvSpPr>
        <p:spPr>
          <a:xfrm>
            <a:off x="11194452" y="3515023"/>
            <a:ext cx="41534" cy="41534"/>
          </a:xfrm>
          <a:prstGeom prst="ellipse">
            <a:avLst/>
          </a:prstGeom>
          <a:solidFill>
            <a:srgbClr val="13E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8" name="robot_2_smile_1"/>
          <p:cNvCxnSpPr/>
          <p:nvPr/>
        </p:nvCxnSpPr>
        <p:spPr>
          <a:xfrm>
            <a:off x="11116574" y="3592901"/>
            <a:ext cx="51919" cy="0"/>
          </a:xfrm>
          <a:prstGeom prst="line">
            <a:avLst/>
          </a:prstGeom>
          <a:ln w="14264">
            <a:solidFill>
              <a:srgbClr val="13E0DA"/>
            </a:solidFill>
          </a:ln>
          <a:effectLst/>
        </p:spPr>
      </p:cxnSp>
      <p:sp>
        <p:nvSpPr>
          <p:cNvPr id="159" name="robot_2_bubble_tail"/>
          <p:cNvSpPr/>
          <p:nvPr/>
        </p:nvSpPr>
        <p:spPr>
          <a:xfrm>
            <a:off x="11246371" y="3426761"/>
            <a:ext cx="57110" cy="72686"/>
          </a:xfrm>
          <a:custGeom>
            <a:avLst/>
            <a:gdLst/>
            <a:ahLst/>
            <a:cxnLst/>
            <a:rect l="l" t="t" r="r" b="b"/>
            <a:pathLst>
              <a:path w="57110" h="72686">
                <a:moveTo>
                  <a:pt x="0" y="20768"/>
                </a:moveTo>
                <a:lnTo>
                  <a:pt x="41535" y="72686"/>
                </a:lnTo>
                <a:close/>
                <a:lnTo>
                  <a:pt x="57110" y="0"/>
                </a:lnTo>
                <a:close/>
                <a:lnTo>
                  <a:pt x="0" y="20768"/>
                </a:lnTo>
                <a:close/>
              </a:path>
            </a:pathLst>
          </a:custGeom>
          <a:solidFill>
            <a:srgbClr val="58C6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obot_2_bubble"/>
          <p:cNvSpPr/>
          <p:nvPr/>
        </p:nvSpPr>
        <p:spPr>
          <a:xfrm>
            <a:off x="11230795" y="3322924"/>
            <a:ext cx="223250" cy="160947"/>
          </a:xfrm>
          <a:prstGeom prst="roundRect">
            <a:avLst>
              <a:gd name="adj" fmla="val 12903"/>
            </a:avLst>
          </a:prstGeom>
          <a:solidFill>
            <a:srgbClr val="58C6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1" name="robot_2_bubble_l1_1"/>
          <p:cNvCxnSpPr/>
          <p:nvPr/>
        </p:nvCxnSpPr>
        <p:spPr>
          <a:xfrm>
            <a:off x="11272330" y="3369651"/>
            <a:ext cx="134988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cxnSp>
        <p:nvCxnSpPr>
          <p:cNvPr id="162" name="robot_2_bubble_l2_1"/>
          <p:cNvCxnSpPr/>
          <p:nvPr/>
        </p:nvCxnSpPr>
        <p:spPr>
          <a:xfrm>
            <a:off x="11272330" y="3405994"/>
            <a:ext cx="124605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cxnSp>
        <p:nvCxnSpPr>
          <p:cNvPr id="163" name="robot_2_bubble_l3_1"/>
          <p:cNvCxnSpPr/>
          <p:nvPr/>
        </p:nvCxnSpPr>
        <p:spPr>
          <a:xfrm>
            <a:off x="11272330" y="3442337"/>
            <a:ext cx="93453" cy="0"/>
          </a:xfrm>
          <a:prstGeom prst="line">
            <a:avLst/>
          </a:prstGeom>
          <a:ln w="14264">
            <a:solidFill>
              <a:srgbClr val="319B55"/>
            </a:solidFill>
          </a:ln>
          <a:effectLst/>
        </p:spPr>
      </p:cxnSp>
      <p:sp>
        <p:nvSpPr>
          <p:cNvPr id="164" name="step2_down"/>
          <p:cNvSpPr/>
          <p:nvPr/>
        </p:nvSpPr>
        <p:spPr>
          <a:xfrm>
            <a:off x="11056002" y="4080270"/>
            <a:ext cx="186374" cy="445967"/>
          </a:xfrm>
          <a:prstGeom prst="downArrow">
            <a:avLst/>
          </a:prstGeom>
          <a:solidFill>
            <a:srgbClr val="FFFFFF"/>
          </a:solidFill>
          <a:ln w="18288">
            <a:solidFill>
              <a:srgbClr val="285B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step2_label"/>
          <p:cNvSpPr txBox="1"/>
          <p:nvPr/>
        </p:nvSpPr>
        <p:spPr>
          <a:xfrm>
            <a:off x="11288971" y="4073614"/>
            <a:ext cx="512529" cy="2196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C00000"/>
                </a:solidFill>
                <a:latin typeface="DejaVu Sans"/>
              </a:rPr>
              <a:t>Step</a:t>
            </a:r>
          </a:p>
        </p:txBody>
      </p:sp>
      <p:sp>
        <p:nvSpPr>
          <p:cNvPr id="166" name="step2_circle"/>
          <p:cNvSpPr/>
          <p:nvPr/>
        </p:nvSpPr>
        <p:spPr>
          <a:xfrm>
            <a:off x="11395470" y="4299926"/>
            <a:ext cx="179718" cy="179718"/>
          </a:xfrm>
          <a:prstGeom prst="ellipse">
            <a:avLst/>
          </a:prstGeom>
          <a:solidFill>
            <a:srgbClr val="FCF2E9"/>
          </a:solidFill>
          <a:ln w="18288">
            <a:solidFill>
              <a:srgbClr val="C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step2_number"/>
          <p:cNvSpPr txBox="1"/>
          <p:nvPr/>
        </p:nvSpPr>
        <p:spPr>
          <a:xfrm>
            <a:off x="11402127" y="4299926"/>
            <a:ext cx="166405" cy="1797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8" b="1" i="0">
                <a:solidFill>
                  <a:srgbClr val="C00000"/>
                </a:solidFill>
                <a:latin typeface="DejaVu Sans"/>
              </a:rPr>
              <a:t>2</a:t>
            </a:r>
          </a:p>
        </p:txBody>
      </p:sp>
      <p:sp>
        <p:nvSpPr>
          <p:cNvPr id="168" name="reasoning_panel"/>
          <p:cNvSpPr/>
          <p:nvPr/>
        </p:nvSpPr>
        <p:spPr>
          <a:xfrm>
            <a:off x="7235325" y="4526238"/>
            <a:ext cx="5391548" cy="2642524"/>
          </a:xfrm>
          <a:prstGeom prst="roundRect">
            <a:avLst>
              <a:gd name="adj" fmla="val 3778"/>
            </a:avLst>
          </a:prstGeom>
          <a:solidFill>
            <a:srgbClr val="F2F2F2"/>
          </a:solidFill>
          <a:ln w="27432">
            <a:solidFill>
              <a:srgbClr val="B9B9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asoning_title"/>
          <p:cNvSpPr txBox="1"/>
          <p:nvPr/>
        </p:nvSpPr>
        <p:spPr>
          <a:xfrm>
            <a:off x="7388418" y="4626081"/>
            <a:ext cx="4892331" cy="25293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67" b="1" i="0">
                <a:solidFill>
                  <a:srgbClr val="000000"/>
                </a:solidFill>
                <a:latin typeface="DejaVu Sans"/>
              </a:rPr>
              <a:t>Natural Language Reasoning Processes</a:t>
            </a:r>
          </a:p>
        </p:txBody>
      </p:sp>
      <p:sp>
        <p:nvSpPr>
          <p:cNvPr id="170" name="reasoning_prefix_0"/>
          <p:cNvSpPr txBox="1"/>
          <p:nvPr/>
        </p:nvSpPr>
        <p:spPr>
          <a:xfrm>
            <a:off x="7388418" y="4905643"/>
            <a:ext cx="57909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Step 1:</a:t>
            </a:r>
          </a:p>
        </p:txBody>
      </p:sp>
      <p:sp>
        <p:nvSpPr>
          <p:cNvPr id="171" name="reasoning_body_0"/>
          <p:cNvSpPr txBox="1"/>
          <p:nvPr/>
        </p:nvSpPr>
        <p:spPr>
          <a:xfrm>
            <a:off x="8027416" y="4905643"/>
            <a:ext cx="4359832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From rule (∀x ¬R(x)), we deduce that no region has achieved</a:t>
            </a:r>
          </a:p>
        </p:txBody>
      </p:sp>
      <p:sp>
        <p:nvSpPr>
          <p:cNvPr id="172" name="reasoning_body_1"/>
          <p:cNvSpPr txBox="1"/>
          <p:nvPr/>
        </p:nvSpPr>
        <p:spPr>
          <a:xfrm>
            <a:off x="7388418" y="5145268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full vaccination coverage. Therefore, City Z has not achieved full</a:t>
            </a:r>
          </a:p>
        </p:txBody>
      </p:sp>
      <p:sp>
        <p:nvSpPr>
          <p:cNvPr id="173" name="reasoning_body_2"/>
          <p:cNvSpPr txBox="1"/>
          <p:nvPr/>
        </p:nvSpPr>
        <p:spPr>
          <a:xfrm>
            <a:off x="7388418" y="5384892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vaccination coverage (~R(a)).</a:t>
            </a:r>
          </a:p>
        </p:txBody>
      </p:sp>
      <p:sp>
        <p:nvSpPr>
          <p:cNvPr id="174" name="reasoning_prefix_3"/>
          <p:cNvSpPr txBox="1"/>
          <p:nvPr/>
        </p:nvSpPr>
        <p:spPr>
          <a:xfrm>
            <a:off x="7388418" y="5577923"/>
            <a:ext cx="57909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Step 2:</a:t>
            </a:r>
          </a:p>
        </p:txBody>
      </p:sp>
      <p:sp>
        <p:nvSpPr>
          <p:cNvPr id="175" name="reasoning_body_3"/>
          <p:cNvSpPr txBox="1"/>
          <p:nvPr/>
        </p:nvSpPr>
        <p:spPr>
          <a:xfrm>
            <a:off x="8027416" y="5577923"/>
            <a:ext cx="4359832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Using rule (P → T) and rule (T → Q), we deduce that if the</a:t>
            </a:r>
          </a:p>
        </p:txBody>
      </p:sp>
      <p:sp>
        <p:nvSpPr>
          <p:cNvPr id="176" name="reasoning_body_4"/>
          <p:cNvSpPr txBox="1"/>
          <p:nvPr/>
        </p:nvSpPr>
        <p:spPr>
          <a:xfrm>
            <a:off x="7388418" y="5817547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government initiated a nationwide vaccination campaign (P), then</a:t>
            </a:r>
          </a:p>
        </p:txBody>
      </p:sp>
      <p:sp>
        <p:nvSpPr>
          <p:cNvPr id="177" name="reasoning_body_5"/>
          <p:cNvSpPr txBox="1"/>
          <p:nvPr/>
        </p:nvSpPr>
        <p:spPr>
          <a:xfrm>
            <a:off x="7388418" y="6057171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the spread of the disease was effectively contained (Q).</a:t>
            </a:r>
          </a:p>
        </p:txBody>
      </p:sp>
      <p:sp>
        <p:nvSpPr>
          <p:cNvPr id="178" name="reasoning_prefix_6"/>
          <p:cNvSpPr txBox="1"/>
          <p:nvPr/>
        </p:nvSpPr>
        <p:spPr>
          <a:xfrm>
            <a:off x="7388418" y="6250202"/>
            <a:ext cx="57909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Step 3:</a:t>
            </a:r>
          </a:p>
        </p:txBody>
      </p:sp>
      <p:sp>
        <p:nvSpPr>
          <p:cNvPr id="179" name="reasoning_body_6"/>
          <p:cNvSpPr txBox="1"/>
          <p:nvPr/>
        </p:nvSpPr>
        <p:spPr>
          <a:xfrm>
            <a:off x="8027416" y="6250202"/>
            <a:ext cx="4359832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From rule (P ∨ R(a)) and step1 (~R(a)), we deduce that the</a:t>
            </a:r>
          </a:p>
        </p:txBody>
      </p:sp>
      <p:sp>
        <p:nvSpPr>
          <p:cNvPr id="180" name="reasoning_body_7"/>
          <p:cNvSpPr txBox="1"/>
          <p:nvPr/>
        </p:nvSpPr>
        <p:spPr>
          <a:xfrm>
            <a:off x="7388418" y="6489827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government initiated a nationwide vaccination campaign (P).</a:t>
            </a:r>
          </a:p>
        </p:txBody>
      </p:sp>
      <p:sp>
        <p:nvSpPr>
          <p:cNvPr id="181" name="reasoning_prefix_8"/>
          <p:cNvSpPr txBox="1"/>
          <p:nvPr/>
        </p:nvSpPr>
        <p:spPr>
          <a:xfrm>
            <a:off x="7388418" y="6682857"/>
            <a:ext cx="579092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1" i="0">
                <a:solidFill>
                  <a:srgbClr val="000000"/>
                </a:solidFill>
                <a:latin typeface="DejaVu Sans"/>
              </a:rPr>
              <a:t>Step 4:</a:t>
            </a:r>
          </a:p>
        </p:txBody>
      </p:sp>
      <p:sp>
        <p:nvSpPr>
          <p:cNvPr id="182" name="reasoning_body_8"/>
          <p:cNvSpPr txBox="1"/>
          <p:nvPr/>
        </p:nvSpPr>
        <p:spPr>
          <a:xfrm>
            <a:off x="8027416" y="6682857"/>
            <a:ext cx="4359832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From step2 (P → Q) and step3 (P), we deduce that the spread</a:t>
            </a:r>
          </a:p>
        </p:txBody>
      </p:sp>
      <p:sp>
        <p:nvSpPr>
          <p:cNvPr id="183" name="reasoning_body_9"/>
          <p:cNvSpPr txBox="1"/>
          <p:nvPr/>
        </p:nvSpPr>
        <p:spPr>
          <a:xfrm>
            <a:off x="7388418" y="6922482"/>
            <a:ext cx="500548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>
                <a:solidFill>
                  <a:srgbClr val="000000"/>
                </a:solidFill>
                <a:latin typeface="DejaVu Sans"/>
              </a:rPr>
              <a:t>of the disease was effectively contained (Q).</a:t>
            </a:r>
          </a:p>
        </p:txBody>
      </p:sp>
      <p:sp>
        <p:nvSpPr>
          <p:cNvPr id="184" name="premises_label"/>
          <p:cNvSpPr txBox="1"/>
          <p:nvPr/>
        </p:nvSpPr>
        <p:spPr>
          <a:xfrm>
            <a:off x="186374" y="5158580"/>
            <a:ext cx="1464371" cy="2462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72" b="1" i="0">
                <a:solidFill>
                  <a:srgbClr val="000000"/>
                </a:solidFill>
                <a:latin typeface="DejaVu Sans"/>
              </a:rPr>
              <a:t>Premises:</a:t>
            </a:r>
          </a:p>
        </p:txBody>
      </p:sp>
      <p:sp>
        <p:nvSpPr>
          <p:cNvPr id="185" name="premise_0"/>
          <p:cNvSpPr txBox="1"/>
          <p:nvPr/>
        </p:nvSpPr>
        <p:spPr>
          <a:xfrm>
            <a:off x="186374" y="5411517"/>
            <a:ext cx="6622951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000000"/>
                </a:solidFill>
                <a:latin typeface="DejaVu Sans"/>
              </a:rPr>
              <a:t>"rule1": "No region has achieved full vaccination coverage."  "rule2": "If the</a:t>
            </a:r>
          </a:p>
        </p:txBody>
      </p:sp>
      <p:sp>
        <p:nvSpPr>
          <p:cNvPr id="186" name="premise_1"/>
          <p:cNvSpPr txBox="1"/>
          <p:nvPr/>
        </p:nvSpPr>
        <p:spPr>
          <a:xfrm>
            <a:off x="186374" y="5671110"/>
            <a:ext cx="6622951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0" i="0">
                <a:solidFill>
                  <a:srgbClr val="000000"/>
                </a:solidFill>
                <a:latin typeface="DejaVu Sans"/>
              </a:rPr>
              <a:t>government initiated a nationwide vaccination campaign, then vaccination rates across</a:t>
            </a:r>
          </a:p>
        </p:txBody>
      </p:sp>
      <p:sp>
        <p:nvSpPr>
          <p:cNvPr id="187" name="premise_2"/>
          <p:cNvSpPr txBox="1"/>
          <p:nvPr/>
        </p:nvSpPr>
        <p:spPr>
          <a:xfrm>
            <a:off x="186374" y="5957328"/>
            <a:ext cx="6622951" cy="2263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0" i="0">
                <a:solidFill>
                  <a:srgbClr val="000000"/>
                </a:solidFill>
                <a:latin typeface="DejaVu Sans"/>
              </a:rPr>
              <a:t>regions increased significantly."  "rule3": …,"rule4": …,</a:t>
            </a:r>
          </a:p>
        </p:txBody>
      </p:sp>
      <p:sp>
        <p:nvSpPr>
          <p:cNvPr id="188" name="conclusions_label"/>
          <p:cNvSpPr txBox="1"/>
          <p:nvPr/>
        </p:nvSpPr>
        <p:spPr>
          <a:xfrm>
            <a:off x="186374" y="6216921"/>
            <a:ext cx="1664058" cy="25293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72" b="1" i="0">
                <a:solidFill>
                  <a:srgbClr val="000000"/>
                </a:solidFill>
                <a:latin typeface="DejaVu Sans"/>
              </a:rPr>
              <a:t>conclusions:</a:t>
            </a:r>
          </a:p>
        </p:txBody>
      </p:sp>
      <p:sp>
        <p:nvSpPr>
          <p:cNvPr id="189" name="bottom_bullet_0"/>
          <p:cNvSpPr txBox="1"/>
          <p:nvPr/>
        </p:nvSpPr>
        <p:spPr>
          <a:xfrm>
            <a:off x="193030" y="6483170"/>
            <a:ext cx="133124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•</a:t>
            </a:r>
          </a:p>
        </p:txBody>
      </p:sp>
      <p:sp>
        <p:nvSpPr>
          <p:cNvPr id="190" name="bottom_row_0"/>
          <p:cNvSpPr txBox="1"/>
          <p:nvPr/>
        </p:nvSpPr>
        <p:spPr>
          <a:xfrm>
            <a:off x="399373" y="6483170"/>
            <a:ext cx="4126864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 Condensed"/>
              </a:rPr>
              <a:t>"The spread of the disease was effectively contained."</a:t>
            </a:r>
          </a:p>
        </p:txBody>
      </p:sp>
      <p:sp>
        <p:nvSpPr>
          <p:cNvPr id="191" name="bottom_bullet_1"/>
          <p:cNvSpPr txBox="1"/>
          <p:nvPr/>
        </p:nvSpPr>
        <p:spPr>
          <a:xfrm>
            <a:off x="193030" y="6722795"/>
            <a:ext cx="133124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•</a:t>
            </a:r>
          </a:p>
        </p:txBody>
      </p:sp>
      <p:sp>
        <p:nvSpPr>
          <p:cNvPr id="192" name="bottom_row_1"/>
          <p:cNvSpPr txBox="1"/>
          <p:nvPr/>
        </p:nvSpPr>
        <p:spPr>
          <a:xfrm>
            <a:off x="399373" y="6722795"/>
            <a:ext cx="5358267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48" b="1" i="0">
                <a:solidFill>
                  <a:srgbClr val="000000"/>
                </a:solidFill>
                <a:latin typeface="DejaVu Sans Condensed"/>
              </a:rPr>
              <a:t>"Country a is making great efforts to develop the new energy vehicle industry."</a:t>
            </a:r>
          </a:p>
        </p:txBody>
      </p:sp>
      <p:sp>
        <p:nvSpPr>
          <p:cNvPr id="193" name="bottom_bullet_2"/>
          <p:cNvSpPr txBox="1"/>
          <p:nvPr/>
        </p:nvSpPr>
        <p:spPr>
          <a:xfrm>
            <a:off x="193030" y="6962419"/>
            <a:ext cx="133124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000000"/>
                </a:solidFill>
                <a:latin typeface="DejaVu Sans"/>
              </a:rPr>
              <a:t>•</a:t>
            </a:r>
          </a:p>
        </p:txBody>
      </p:sp>
      <p:sp>
        <p:nvSpPr>
          <p:cNvPr id="194" name="bottom_row_2"/>
          <p:cNvSpPr txBox="1"/>
          <p:nvPr/>
        </p:nvSpPr>
        <p:spPr>
          <a:xfrm>
            <a:off x="399373" y="6962419"/>
            <a:ext cx="4126864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DejaVu Sans Condensed"/>
              </a:rPr>
              <a:t>" City Z has achieved full vaccination coverage."</a:t>
            </a:r>
          </a:p>
        </p:txBody>
      </p:sp>
      <p:sp>
        <p:nvSpPr>
          <p:cNvPr id="195" name="true_chip"/>
          <p:cNvSpPr/>
          <p:nvPr/>
        </p:nvSpPr>
        <p:spPr>
          <a:xfrm>
            <a:off x="4626081" y="6429921"/>
            <a:ext cx="798747" cy="239624"/>
          </a:xfrm>
          <a:prstGeom prst="rect">
            <a:avLst/>
          </a:prstGeom>
          <a:solidFill>
            <a:srgbClr val="ACD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rue_chip_text"/>
          <p:cNvSpPr txBox="1"/>
          <p:nvPr/>
        </p:nvSpPr>
        <p:spPr>
          <a:xfrm>
            <a:off x="4632738" y="6443233"/>
            <a:ext cx="785435" cy="2063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FFFFFF"/>
                </a:solidFill>
                <a:latin typeface="DejaVu Sans"/>
              </a:rPr>
              <a:t>True</a:t>
            </a:r>
          </a:p>
        </p:txBody>
      </p:sp>
      <p:sp>
        <p:nvSpPr>
          <p:cNvPr id="197" name="false_chip"/>
          <p:cNvSpPr/>
          <p:nvPr/>
        </p:nvSpPr>
        <p:spPr>
          <a:xfrm>
            <a:off x="4140176" y="6855919"/>
            <a:ext cx="792091" cy="212999"/>
          </a:xfrm>
          <a:prstGeom prst="rect">
            <a:avLst/>
          </a:prstGeom>
          <a:solidFill>
            <a:srgbClr val="F49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alse_chip_text"/>
          <p:cNvSpPr txBox="1"/>
          <p:nvPr/>
        </p:nvSpPr>
        <p:spPr>
          <a:xfrm>
            <a:off x="4146833" y="6862576"/>
            <a:ext cx="778779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7" b="1" i="0">
                <a:solidFill>
                  <a:srgbClr val="FFFFFF"/>
                </a:solidFill>
                <a:latin typeface="DejaVu Sans"/>
              </a:rPr>
              <a:t>False</a:t>
            </a:r>
          </a:p>
        </p:txBody>
      </p:sp>
      <p:sp>
        <p:nvSpPr>
          <p:cNvPr id="199" name="uncertain_chip"/>
          <p:cNvSpPr/>
          <p:nvPr/>
        </p:nvSpPr>
        <p:spPr>
          <a:xfrm>
            <a:off x="5817547" y="6769388"/>
            <a:ext cx="965153" cy="219655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uncertain_chip_text"/>
          <p:cNvSpPr txBox="1"/>
          <p:nvPr/>
        </p:nvSpPr>
        <p:spPr>
          <a:xfrm>
            <a:off x="5824203" y="6776045"/>
            <a:ext cx="951841" cy="1996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144" rIns="9144" tIns="4572" bIns="4572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5" b="1" i="0">
                <a:solidFill>
                  <a:srgbClr val="FFFFFF"/>
                </a:solidFill>
                <a:latin typeface="DejaVu Sans"/>
              </a:rPr>
              <a:t>Uncertain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ogicTree Improving Complex Reasoning of LLMs via Instantiated Multi-step Synthetic Logical Dat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92" cy="7315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