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5595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-0001"/>
          <p:cNvSpPr/>
          <p:nvPr/>
        </p:nvSpPr>
        <p:spPr>
          <a:xfrm>
            <a:off x="0" y="0"/>
            <a:ext cx="12191999" cy="6559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-0002"/>
          <p:cNvSpPr/>
          <p:nvPr/>
        </p:nvSpPr>
        <p:spPr>
          <a:xfrm>
            <a:off x="63500" y="95250"/>
            <a:ext cx="5854700" cy="1778000"/>
          </a:xfrm>
          <a:prstGeom prst="rect">
            <a:avLst/>
          </a:prstGeom>
          <a:solidFill>
            <a:srgbClr val="ED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-0003"/>
          <p:cNvSpPr/>
          <p:nvPr/>
        </p:nvSpPr>
        <p:spPr>
          <a:xfrm>
            <a:off x="63500" y="1987550"/>
            <a:ext cx="5854700" cy="1765300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-0004"/>
          <p:cNvSpPr/>
          <p:nvPr/>
        </p:nvSpPr>
        <p:spPr>
          <a:xfrm>
            <a:off x="63500" y="3867149"/>
            <a:ext cx="5854700" cy="2368550"/>
          </a:xfrm>
          <a:prstGeom prst="rect">
            <a:avLst/>
          </a:prstGeom>
          <a:solidFill>
            <a:srgbClr val="F0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-0005"/>
          <p:cNvSpPr/>
          <p:nvPr/>
        </p:nvSpPr>
        <p:spPr>
          <a:xfrm>
            <a:off x="6038850" y="95250"/>
            <a:ext cx="6096000" cy="1778000"/>
          </a:xfrm>
          <a:prstGeom prst="rect">
            <a:avLst/>
          </a:prstGeom>
          <a:solidFill>
            <a:srgbClr val="FB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ckground-0006"/>
          <p:cNvSpPr/>
          <p:nvPr/>
        </p:nvSpPr>
        <p:spPr>
          <a:xfrm>
            <a:off x="6038850" y="1987550"/>
            <a:ext cx="6096000" cy="1765300"/>
          </a:xfrm>
          <a:prstGeom prst="rect">
            <a:avLst/>
          </a:prstGeom>
          <a:solidFill>
            <a:srgbClr val="F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-0007"/>
          <p:cNvSpPr/>
          <p:nvPr/>
        </p:nvSpPr>
        <p:spPr>
          <a:xfrm>
            <a:off x="6038850" y="3867149"/>
            <a:ext cx="6096000" cy="107315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-0008"/>
          <p:cNvSpPr/>
          <p:nvPr/>
        </p:nvSpPr>
        <p:spPr>
          <a:xfrm>
            <a:off x="6038850" y="5041899"/>
            <a:ext cx="6096000" cy="1193800"/>
          </a:xfrm>
          <a:prstGeom prst="rect">
            <a:avLst/>
          </a:prstGeom>
          <a:solidFill>
            <a:srgbClr val="F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fa-0009"/>
          <p:cNvSpPr txBox="1"/>
          <p:nvPr/>
        </p:nvSpPr>
        <p:spPr>
          <a:xfrm>
            <a:off x="1397000" y="114300"/>
            <a:ext cx="31750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Liberation Serif"/>
              </a:rPr>
              <a:t>Multi-Frequency Augmentation</a:t>
            </a:r>
          </a:p>
        </p:txBody>
      </p:sp>
      <p:sp>
        <p:nvSpPr>
          <p:cNvPr id="11" name="mfa-0010"/>
          <p:cNvSpPr txBox="1"/>
          <p:nvPr/>
        </p:nvSpPr>
        <p:spPr>
          <a:xfrm>
            <a:off x="171450" y="330200"/>
            <a:ext cx="4762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▲ Value</a:t>
            </a:r>
          </a:p>
        </p:txBody>
      </p:sp>
      <p:cxnSp>
        <p:nvCxnSpPr>
          <p:cNvPr id="12" name="mfa-0011"/>
          <p:cNvCxnSpPr/>
          <p:nvPr/>
        </p:nvCxnSpPr>
        <p:spPr>
          <a:xfrm>
            <a:off x="215900" y="495300"/>
            <a:ext cx="0" cy="342900"/>
          </a:xfrm>
          <a:prstGeom prst="line">
            <a:avLst/>
          </a:prstGeom>
          <a:ln w="1047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mfa-0012"/>
          <p:cNvCxnSpPr/>
          <p:nvPr/>
        </p:nvCxnSpPr>
        <p:spPr>
          <a:xfrm>
            <a:off x="215900" y="838200"/>
            <a:ext cx="2609850" cy="0"/>
          </a:xfrm>
          <a:prstGeom prst="line">
            <a:avLst/>
          </a:prstGeom>
          <a:ln w="10477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fa-0013"/>
          <p:cNvSpPr/>
          <p:nvPr/>
        </p:nvSpPr>
        <p:spPr>
          <a:xfrm>
            <a:off x="254000" y="520700"/>
            <a:ext cx="2425700" cy="127000"/>
          </a:xfrm>
          <a:custGeom>
            <a:avLst/>
            <a:gdLst/>
            <a:ahLst/>
            <a:cxnLst/>
            <a:rect l="l" t="t" r="r" b="b"/>
            <a:pathLst>
              <a:path w="382" h="20">
                <a:moveTo>
                  <a:pt x="0" y="4"/>
                </a:moveTo>
                <a:lnTo>
                  <a:pt x="7" y="4"/>
                </a:lnTo>
                <a:lnTo>
                  <a:pt x="14" y="13"/>
                </a:lnTo>
                <a:lnTo>
                  <a:pt x="21" y="15"/>
                </a:lnTo>
                <a:lnTo>
                  <a:pt x="28" y="14"/>
                </a:lnTo>
                <a:lnTo>
                  <a:pt x="35" y="10"/>
                </a:lnTo>
                <a:lnTo>
                  <a:pt x="42" y="2"/>
                </a:lnTo>
                <a:lnTo>
                  <a:pt x="50" y="7"/>
                </a:lnTo>
                <a:lnTo>
                  <a:pt x="57" y="20"/>
                </a:lnTo>
                <a:lnTo>
                  <a:pt x="64" y="17"/>
                </a:lnTo>
                <a:lnTo>
                  <a:pt x="71" y="3"/>
                </a:lnTo>
                <a:lnTo>
                  <a:pt x="78" y="4"/>
                </a:lnTo>
                <a:lnTo>
                  <a:pt x="85" y="13"/>
                </a:lnTo>
                <a:lnTo>
                  <a:pt x="92" y="15"/>
                </a:lnTo>
                <a:lnTo>
                  <a:pt x="99" y="14"/>
                </a:lnTo>
                <a:lnTo>
                  <a:pt x="106" y="9"/>
                </a:lnTo>
                <a:lnTo>
                  <a:pt x="113" y="3"/>
                </a:lnTo>
                <a:lnTo>
                  <a:pt x="120" y="9"/>
                </a:lnTo>
                <a:lnTo>
                  <a:pt x="127" y="19"/>
                </a:lnTo>
                <a:lnTo>
                  <a:pt x="134" y="15"/>
                </a:lnTo>
                <a:lnTo>
                  <a:pt x="141" y="5"/>
                </a:lnTo>
                <a:lnTo>
                  <a:pt x="149" y="5"/>
                </a:lnTo>
                <a:lnTo>
                  <a:pt x="156" y="10"/>
                </a:lnTo>
                <a:lnTo>
                  <a:pt x="163" y="16"/>
                </a:lnTo>
                <a:lnTo>
                  <a:pt x="170" y="17"/>
                </a:lnTo>
                <a:lnTo>
                  <a:pt x="177" y="7"/>
                </a:lnTo>
                <a:lnTo>
                  <a:pt x="184" y="1"/>
                </a:lnTo>
                <a:lnTo>
                  <a:pt x="191" y="12"/>
                </a:lnTo>
                <a:lnTo>
                  <a:pt x="198" y="19"/>
                </a:lnTo>
                <a:lnTo>
                  <a:pt x="205" y="11"/>
                </a:lnTo>
                <a:lnTo>
                  <a:pt x="212" y="6"/>
                </a:lnTo>
                <a:lnTo>
                  <a:pt x="219" y="7"/>
                </a:lnTo>
                <a:lnTo>
                  <a:pt x="226" y="8"/>
                </a:lnTo>
                <a:lnTo>
                  <a:pt x="233" y="15"/>
                </a:lnTo>
                <a:lnTo>
                  <a:pt x="241" y="19"/>
                </a:lnTo>
                <a:lnTo>
                  <a:pt x="248" y="7"/>
                </a:lnTo>
                <a:lnTo>
                  <a:pt x="255" y="0"/>
                </a:lnTo>
                <a:lnTo>
                  <a:pt x="262" y="12"/>
                </a:lnTo>
                <a:lnTo>
                  <a:pt x="269" y="20"/>
                </a:lnTo>
                <a:lnTo>
                  <a:pt x="276" y="12"/>
                </a:lnTo>
                <a:lnTo>
                  <a:pt x="283" y="6"/>
                </a:lnTo>
                <a:lnTo>
                  <a:pt x="290" y="6"/>
                </a:lnTo>
                <a:lnTo>
                  <a:pt x="297" y="9"/>
                </a:lnTo>
                <a:lnTo>
                  <a:pt x="304" y="17"/>
                </a:lnTo>
                <a:lnTo>
                  <a:pt x="311" y="16"/>
                </a:lnTo>
                <a:lnTo>
                  <a:pt x="318" y="5"/>
                </a:lnTo>
                <a:lnTo>
                  <a:pt x="325" y="3"/>
                </a:lnTo>
                <a:lnTo>
                  <a:pt x="332" y="12"/>
                </a:lnTo>
                <a:lnTo>
                  <a:pt x="340" y="16"/>
                </a:lnTo>
                <a:lnTo>
                  <a:pt x="347" y="14"/>
                </a:lnTo>
                <a:lnTo>
                  <a:pt x="354" y="9"/>
                </a:lnTo>
                <a:lnTo>
                  <a:pt x="361" y="3"/>
                </a:lnTo>
                <a:lnTo>
                  <a:pt x="368" y="8"/>
                </a:lnTo>
                <a:lnTo>
                  <a:pt x="375" y="20"/>
                </a:lnTo>
                <a:lnTo>
                  <a:pt x="382" y="16"/>
                </a:lnTo>
              </a:path>
            </a:pathLst>
          </a:custGeom>
          <a:noFill/>
          <a:ln w="12382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fa-0014"/>
          <p:cNvSpPr/>
          <p:nvPr/>
        </p:nvSpPr>
        <p:spPr>
          <a:xfrm>
            <a:off x="254000" y="679450"/>
            <a:ext cx="2425700" cy="88900"/>
          </a:xfrm>
          <a:custGeom>
            <a:avLst/>
            <a:gdLst/>
            <a:ahLst/>
            <a:cxnLst/>
            <a:rect l="l" t="t" r="r" b="b"/>
            <a:pathLst>
              <a:path w="382" h="14">
                <a:moveTo>
                  <a:pt x="0" y="2"/>
                </a:moveTo>
                <a:lnTo>
                  <a:pt x="7" y="10"/>
                </a:lnTo>
                <a:lnTo>
                  <a:pt x="14" y="11"/>
                </a:lnTo>
                <a:lnTo>
                  <a:pt x="21" y="9"/>
                </a:lnTo>
                <a:lnTo>
                  <a:pt x="28" y="3"/>
                </a:lnTo>
                <a:lnTo>
                  <a:pt x="35" y="2"/>
                </a:lnTo>
                <a:lnTo>
                  <a:pt x="42" y="12"/>
                </a:lnTo>
                <a:lnTo>
                  <a:pt x="50" y="12"/>
                </a:lnTo>
                <a:lnTo>
                  <a:pt x="57" y="3"/>
                </a:lnTo>
                <a:lnTo>
                  <a:pt x="64" y="4"/>
                </a:lnTo>
                <a:lnTo>
                  <a:pt x="71" y="8"/>
                </a:lnTo>
                <a:lnTo>
                  <a:pt x="78" y="10"/>
                </a:lnTo>
                <a:lnTo>
                  <a:pt x="85" y="10"/>
                </a:lnTo>
                <a:lnTo>
                  <a:pt x="92" y="3"/>
                </a:lnTo>
                <a:lnTo>
                  <a:pt x="99" y="3"/>
                </a:lnTo>
                <a:lnTo>
                  <a:pt x="106" y="12"/>
                </a:lnTo>
                <a:lnTo>
                  <a:pt x="113" y="9"/>
                </a:lnTo>
                <a:lnTo>
                  <a:pt x="120" y="4"/>
                </a:lnTo>
                <a:lnTo>
                  <a:pt x="127" y="5"/>
                </a:lnTo>
                <a:lnTo>
                  <a:pt x="134" y="7"/>
                </a:lnTo>
                <a:lnTo>
                  <a:pt x="141" y="10"/>
                </a:lnTo>
                <a:lnTo>
                  <a:pt x="149" y="9"/>
                </a:lnTo>
                <a:lnTo>
                  <a:pt x="156" y="1"/>
                </a:lnTo>
                <a:lnTo>
                  <a:pt x="163" y="5"/>
                </a:lnTo>
                <a:lnTo>
                  <a:pt x="170" y="13"/>
                </a:lnTo>
                <a:lnTo>
                  <a:pt x="177" y="8"/>
                </a:lnTo>
                <a:lnTo>
                  <a:pt x="184" y="3"/>
                </a:lnTo>
                <a:lnTo>
                  <a:pt x="191" y="4"/>
                </a:lnTo>
                <a:lnTo>
                  <a:pt x="198" y="7"/>
                </a:lnTo>
                <a:lnTo>
                  <a:pt x="205" y="13"/>
                </a:lnTo>
                <a:lnTo>
                  <a:pt x="212" y="9"/>
                </a:lnTo>
                <a:lnTo>
                  <a:pt x="219" y="0"/>
                </a:lnTo>
                <a:lnTo>
                  <a:pt x="226" y="5"/>
                </a:lnTo>
                <a:lnTo>
                  <a:pt x="233" y="13"/>
                </a:lnTo>
                <a:lnTo>
                  <a:pt x="241" y="9"/>
                </a:lnTo>
                <a:lnTo>
                  <a:pt x="248" y="5"/>
                </a:lnTo>
                <a:lnTo>
                  <a:pt x="255" y="2"/>
                </a:lnTo>
                <a:lnTo>
                  <a:pt x="262" y="6"/>
                </a:lnTo>
                <a:lnTo>
                  <a:pt x="269" y="14"/>
                </a:lnTo>
                <a:lnTo>
                  <a:pt x="276" y="9"/>
                </a:lnTo>
                <a:lnTo>
                  <a:pt x="283" y="1"/>
                </a:lnTo>
                <a:lnTo>
                  <a:pt x="290" y="6"/>
                </a:lnTo>
                <a:lnTo>
                  <a:pt x="297" y="10"/>
                </a:lnTo>
                <a:lnTo>
                  <a:pt x="304" y="9"/>
                </a:lnTo>
                <a:lnTo>
                  <a:pt x="311" y="7"/>
                </a:lnTo>
                <a:lnTo>
                  <a:pt x="318" y="3"/>
                </a:lnTo>
                <a:lnTo>
                  <a:pt x="325" y="7"/>
                </a:lnTo>
                <a:lnTo>
                  <a:pt x="332" y="13"/>
                </a:lnTo>
                <a:lnTo>
                  <a:pt x="340" y="6"/>
                </a:lnTo>
                <a:lnTo>
                  <a:pt x="347" y="2"/>
                </a:lnTo>
                <a:lnTo>
                  <a:pt x="354" y="8"/>
                </a:lnTo>
                <a:lnTo>
                  <a:pt x="361" y="10"/>
                </a:lnTo>
                <a:lnTo>
                  <a:pt x="368" y="9"/>
                </a:lnTo>
                <a:lnTo>
                  <a:pt x="375" y="5"/>
                </a:lnTo>
                <a:lnTo>
                  <a:pt x="382" y="1"/>
                </a:lnTo>
              </a:path>
            </a:pathLst>
          </a:custGeom>
          <a:noFill/>
          <a:ln w="12382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fa-0015"/>
          <p:cNvSpPr txBox="1"/>
          <p:nvPr/>
        </p:nvSpPr>
        <p:spPr>
          <a:xfrm>
            <a:off x="901700" y="527050"/>
            <a:ext cx="7302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D7D31"/>
                </a:solidFill>
                <a:latin typeface="Liberation Serif"/>
              </a:rPr>
              <a:t>Region 1</a:t>
            </a:r>
          </a:p>
        </p:txBody>
      </p:sp>
      <p:sp>
        <p:nvSpPr>
          <p:cNvPr id="17" name="mfa-0016"/>
          <p:cNvSpPr txBox="1"/>
          <p:nvPr/>
        </p:nvSpPr>
        <p:spPr>
          <a:xfrm>
            <a:off x="1790700" y="666750"/>
            <a:ext cx="6667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Region n</a:t>
            </a:r>
          </a:p>
        </p:txBody>
      </p:sp>
      <p:sp>
        <p:nvSpPr>
          <p:cNvPr id="18" name="mfa-0017"/>
          <p:cNvSpPr txBox="1"/>
          <p:nvPr/>
        </p:nvSpPr>
        <p:spPr>
          <a:xfrm>
            <a:off x="2222500" y="838200"/>
            <a:ext cx="5080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Time</a:t>
            </a:r>
          </a:p>
        </p:txBody>
      </p:sp>
      <p:cxnSp>
        <p:nvCxnSpPr>
          <p:cNvPr id="19" name="mfa-0018"/>
          <p:cNvCxnSpPr/>
          <p:nvPr/>
        </p:nvCxnSpPr>
        <p:spPr>
          <a:xfrm>
            <a:off x="2838450" y="685800"/>
            <a:ext cx="260350" cy="0"/>
          </a:xfrm>
          <a:prstGeom prst="line">
            <a:avLst/>
          </a:prstGeom>
          <a:ln w="57150">
            <a:solidFill>
              <a:srgbClr val="70AD4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fa-0019"/>
          <p:cNvSpPr txBox="1"/>
          <p:nvPr/>
        </p:nvSpPr>
        <p:spPr>
          <a:xfrm>
            <a:off x="2838450" y="482600"/>
            <a:ext cx="2667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0AD47"/>
                </a:solidFill>
                <a:latin typeface="Liberation Serif"/>
              </a:rPr>
              <a:t>FFT</a:t>
            </a:r>
          </a:p>
        </p:txBody>
      </p:sp>
      <p:cxnSp>
        <p:nvCxnSpPr>
          <p:cNvPr id="21" name="mfa-0020"/>
          <p:cNvCxnSpPr/>
          <p:nvPr/>
        </p:nvCxnSpPr>
        <p:spPr>
          <a:xfrm>
            <a:off x="3251200" y="838200"/>
            <a:ext cx="2622550" cy="0"/>
          </a:xfrm>
          <a:prstGeom prst="line">
            <a:avLst/>
          </a:prstGeom>
          <a:ln w="10477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mfa-0021"/>
          <p:cNvCxnSpPr/>
          <p:nvPr/>
        </p:nvCxnSpPr>
        <p:spPr>
          <a:xfrm flipV="1">
            <a:off x="3251200" y="387350"/>
            <a:ext cx="0" cy="450850"/>
          </a:xfrm>
          <a:prstGeom prst="line">
            <a:avLst/>
          </a:prstGeom>
          <a:ln w="10477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fa-0022"/>
          <p:cNvSpPr txBox="1"/>
          <p:nvPr/>
        </p:nvSpPr>
        <p:spPr>
          <a:xfrm>
            <a:off x="3302000" y="355600"/>
            <a:ext cx="6477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Amplitude</a:t>
            </a:r>
          </a:p>
        </p:txBody>
      </p:sp>
      <p:sp>
        <p:nvSpPr>
          <p:cNvPr id="24" name="mfa-0023"/>
          <p:cNvSpPr txBox="1"/>
          <p:nvPr/>
        </p:nvSpPr>
        <p:spPr>
          <a:xfrm>
            <a:off x="5048250" y="838200"/>
            <a:ext cx="6985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Frequency</a:t>
            </a:r>
          </a:p>
        </p:txBody>
      </p:sp>
      <p:sp>
        <p:nvSpPr>
          <p:cNvPr id="25" name="mfa-0024"/>
          <p:cNvSpPr/>
          <p:nvPr/>
        </p:nvSpPr>
        <p:spPr>
          <a:xfrm>
            <a:off x="3302000" y="552450"/>
            <a:ext cx="2286000" cy="241300"/>
          </a:xfrm>
          <a:custGeom>
            <a:avLst/>
            <a:gdLst/>
            <a:ahLst/>
            <a:cxnLst/>
            <a:rect l="l" t="t" r="r" b="b"/>
            <a:pathLst>
              <a:path w="360" h="38">
                <a:moveTo>
                  <a:pt x="0" y="0"/>
                </a:moveTo>
                <a:lnTo>
                  <a:pt x="7" y="15"/>
                </a:lnTo>
                <a:lnTo>
                  <a:pt x="14" y="25"/>
                </a:lnTo>
                <a:lnTo>
                  <a:pt x="21" y="32"/>
                </a:lnTo>
                <a:lnTo>
                  <a:pt x="28" y="27"/>
                </a:lnTo>
                <a:lnTo>
                  <a:pt x="35" y="27"/>
                </a:lnTo>
                <a:lnTo>
                  <a:pt x="42" y="19"/>
                </a:lnTo>
                <a:lnTo>
                  <a:pt x="49" y="12"/>
                </a:lnTo>
                <a:lnTo>
                  <a:pt x="56" y="5"/>
                </a:lnTo>
                <a:lnTo>
                  <a:pt x="64" y="16"/>
                </a:lnTo>
                <a:lnTo>
                  <a:pt x="71" y="28"/>
                </a:lnTo>
                <a:lnTo>
                  <a:pt x="78" y="38"/>
                </a:lnTo>
                <a:lnTo>
                  <a:pt x="85" y="28"/>
                </a:lnTo>
                <a:lnTo>
                  <a:pt x="92" y="16"/>
                </a:lnTo>
                <a:lnTo>
                  <a:pt x="99" y="7"/>
                </a:lnTo>
                <a:lnTo>
                  <a:pt x="106" y="14"/>
                </a:lnTo>
                <a:lnTo>
                  <a:pt x="113" y="19"/>
                </a:lnTo>
                <a:lnTo>
                  <a:pt x="120" y="26"/>
                </a:lnTo>
                <a:lnTo>
                  <a:pt x="127" y="25"/>
                </a:lnTo>
                <a:lnTo>
                  <a:pt x="134" y="29"/>
                </a:lnTo>
                <a:lnTo>
                  <a:pt x="141" y="23"/>
                </a:lnTo>
                <a:lnTo>
                  <a:pt x="148" y="18"/>
                </a:lnTo>
                <a:lnTo>
                  <a:pt x="155" y="8"/>
                </a:lnTo>
                <a:lnTo>
                  <a:pt x="162" y="13"/>
                </a:lnTo>
                <a:lnTo>
                  <a:pt x="169" y="21"/>
                </a:lnTo>
                <a:lnTo>
                  <a:pt x="176" y="32"/>
                </a:lnTo>
                <a:lnTo>
                  <a:pt x="184" y="28"/>
                </a:lnTo>
                <a:lnTo>
                  <a:pt x="191" y="22"/>
                </a:lnTo>
                <a:lnTo>
                  <a:pt x="198" y="13"/>
                </a:lnTo>
                <a:lnTo>
                  <a:pt x="205" y="15"/>
                </a:lnTo>
                <a:lnTo>
                  <a:pt x="212" y="16"/>
                </a:lnTo>
                <a:lnTo>
                  <a:pt x="219" y="21"/>
                </a:lnTo>
                <a:lnTo>
                  <a:pt x="226" y="22"/>
                </a:lnTo>
                <a:lnTo>
                  <a:pt x="233" y="27"/>
                </a:lnTo>
                <a:lnTo>
                  <a:pt x="240" y="25"/>
                </a:lnTo>
                <a:lnTo>
                  <a:pt x="247" y="22"/>
                </a:lnTo>
                <a:lnTo>
                  <a:pt x="254" y="13"/>
                </a:lnTo>
                <a:lnTo>
                  <a:pt x="261" y="13"/>
                </a:lnTo>
                <a:lnTo>
                  <a:pt x="268" y="18"/>
                </a:lnTo>
                <a:lnTo>
                  <a:pt x="275" y="27"/>
                </a:lnTo>
                <a:lnTo>
                  <a:pt x="282" y="27"/>
                </a:lnTo>
                <a:lnTo>
                  <a:pt x="289" y="24"/>
                </a:lnTo>
                <a:lnTo>
                  <a:pt x="296" y="18"/>
                </a:lnTo>
                <a:lnTo>
                  <a:pt x="304" y="18"/>
                </a:lnTo>
                <a:lnTo>
                  <a:pt x="311" y="17"/>
                </a:lnTo>
                <a:lnTo>
                  <a:pt x="318" y="19"/>
                </a:lnTo>
                <a:lnTo>
                  <a:pt x="325" y="20"/>
                </a:lnTo>
                <a:lnTo>
                  <a:pt x="332" y="25"/>
                </a:lnTo>
                <a:lnTo>
                  <a:pt x="339" y="25"/>
                </a:lnTo>
                <a:lnTo>
                  <a:pt x="346" y="24"/>
                </a:lnTo>
                <a:lnTo>
                  <a:pt x="353" y="17"/>
                </a:lnTo>
                <a:lnTo>
                  <a:pt x="360" y="15"/>
                </a:lnTo>
              </a:path>
            </a:pathLst>
          </a:custGeom>
          <a:noFill/>
          <a:ln w="12382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fa-0025"/>
          <p:cNvSpPr/>
          <p:nvPr/>
        </p:nvSpPr>
        <p:spPr>
          <a:xfrm>
            <a:off x="3314700" y="584200"/>
            <a:ext cx="444500" cy="120650"/>
          </a:xfrm>
          <a:custGeom>
            <a:avLst/>
            <a:gdLst/>
            <a:ahLst/>
            <a:cxnLst/>
            <a:rect l="l" t="t" r="r" b="b"/>
            <a:pathLst>
              <a:path w="70" h="19">
                <a:moveTo>
                  <a:pt x="0" y="9"/>
                </a:moveTo>
                <a:lnTo>
                  <a:pt x="2" y="1"/>
                </a:lnTo>
                <a:lnTo>
                  <a:pt x="5" y="0"/>
                </a:lnTo>
                <a:lnTo>
                  <a:pt x="8" y="2"/>
                </a:lnTo>
                <a:lnTo>
                  <a:pt x="10" y="3"/>
                </a:lnTo>
                <a:lnTo>
                  <a:pt x="12" y="9"/>
                </a:lnTo>
                <a:lnTo>
                  <a:pt x="15" y="16"/>
                </a:lnTo>
                <a:lnTo>
                  <a:pt x="18" y="18"/>
                </a:lnTo>
                <a:lnTo>
                  <a:pt x="20" y="17"/>
                </a:lnTo>
                <a:lnTo>
                  <a:pt x="22" y="18"/>
                </a:lnTo>
                <a:lnTo>
                  <a:pt x="25" y="18"/>
                </a:lnTo>
                <a:lnTo>
                  <a:pt x="28" y="15"/>
                </a:lnTo>
                <a:lnTo>
                  <a:pt x="30" y="13"/>
                </a:lnTo>
                <a:lnTo>
                  <a:pt x="32" y="13"/>
                </a:lnTo>
                <a:lnTo>
                  <a:pt x="35" y="12"/>
                </a:lnTo>
                <a:lnTo>
                  <a:pt x="38" y="8"/>
                </a:lnTo>
                <a:lnTo>
                  <a:pt x="40" y="6"/>
                </a:lnTo>
                <a:lnTo>
                  <a:pt x="42" y="7"/>
                </a:lnTo>
                <a:lnTo>
                  <a:pt x="45" y="6"/>
                </a:lnTo>
                <a:lnTo>
                  <a:pt x="48" y="7"/>
                </a:lnTo>
                <a:lnTo>
                  <a:pt x="50" y="12"/>
                </a:lnTo>
                <a:lnTo>
                  <a:pt x="52" y="16"/>
                </a:lnTo>
                <a:lnTo>
                  <a:pt x="55" y="18"/>
                </a:lnTo>
                <a:lnTo>
                  <a:pt x="58" y="18"/>
                </a:lnTo>
                <a:lnTo>
                  <a:pt x="60" y="19"/>
                </a:lnTo>
                <a:lnTo>
                  <a:pt x="62" y="16"/>
                </a:lnTo>
                <a:lnTo>
                  <a:pt x="65" y="11"/>
                </a:lnTo>
                <a:lnTo>
                  <a:pt x="68" y="8"/>
                </a:lnTo>
                <a:lnTo>
                  <a:pt x="70" y="8"/>
                </a:lnTo>
              </a:path>
            </a:pathLst>
          </a:custGeom>
          <a:noFill/>
          <a:ln w="12382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fa-0026"/>
          <p:cNvSpPr txBox="1"/>
          <p:nvPr/>
        </p:nvSpPr>
        <p:spPr>
          <a:xfrm>
            <a:off x="3511550" y="520700"/>
            <a:ext cx="685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00000"/>
                </a:solidFill>
                <a:latin typeface="Liberation Serif"/>
              </a:rPr>
              <a:t>Frequency 1</a:t>
            </a:r>
          </a:p>
        </p:txBody>
      </p:sp>
      <p:sp>
        <p:nvSpPr>
          <p:cNvPr id="28" name="mfa-0027"/>
          <p:cNvSpPr txBox="1"/>
          <p:nvPr/>
        </p:nvSpPr>
        <p:spPr>
          <a:xfrm>
            <a:off x="4159250" y="552450"/>
            <a:ext cx="7620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00000"/>
                </a:solidFill>
                <a:latin typeface="Liberation Serif"/>
              </a:rPr>
              <a:t>Frequency 2</a:t>
            </a:r>
          </a:p>
        </p:txBody>
      </p:sp>
      <p:sp>
        <p:nvSpPr>
          <p:cNvPr id="29" name="mfa-0028"/>
          <p:cNvSpPr txBox="1"/>
          <p:nvPr/>
        </p:nvSpPr>
        <p:spPr>
          <a:xfrm>
            <a:off x="209550" y="857250"/>
            <a:ext cx="114300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00000"/>
                </a:solidFill>
                <a:latin typeface="Liberation Serif"/>
              </a:rPr>
              <a:t>Random Threshold</a:t>
            </a:r>
          </a:p>
        </p:txBody>
      </p:sp>
      <p:sp>
        <p:nvSpPr>
          <p:cNvPr id="30" name="mfa-0029"/>
          <p:cNvSpPr/>
          <p:nvPr/>
        </p:nvSpPr>
        <p:spPr>
          <a:xfrm>
            <a:off x="215900" y="1028700"/>
            <a:ext cx="24892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fa-0030"/>
          <p:cNvSpPr/>
          <p:nvPr/>
        </p:nvSpPr>
        <p:spPr>
          <a:xfrm>
            <a:off x="254000" y="1079500"/>
            <a:ext cx="2393950" cy="133350"/>
          </a:xfrm>
          <a:custGeom>
            <a:avLst/>
            <a:gdLst/>
            <a:ahLst/>
            <a:cxnLst/>
            <a:rect l="l" t="t" r="r" b="b"/>
            <a:pathLst>
              <a:path w="377" h="21">
                <a:moveTo>
                  <a:pt x="0" y="0"/>
                </a:moveTo>
                <a:lnTo>
                  <a:pt x="7" y="4"/>
                </a:lnTo>
                <a:lnTo>
                  <a:pt x="14" y="11"/>
                </a:lnTo>
                <a:lnTo>
                  <a:pt x="21" y="16"/>
                </a:lnTo>
                <a:lnTo>
                  <a:pt x="28" y="16"/>
                </a:lnTo>
                <a:lnTo>
                  <a:pt x="36" y="15"/>
                </a:lnTo>
                <a:lnTo>
                  <a:pt x="43" y="13"/>
                </a:lnTo>
                <a:lnTo>
                  <a:pt x="50" y="9"/>
                </a:lnTo>
                <a:lnTo>
                  <a:pt x="57" y="5"/>
                </a:lnTo>
                <a:lnTo>
                  <a:pt x="64" y="3"/>
                </a:lnTo>
                <a:lnTo>
                  <a:pt x="71" y="9"/>
                </a:lnTo>
                <a:lnTo>
                  <a:pt x="78" y="16"/>
                </a:lnTo>
                <a:lnTo>
                  <a:pt x="85" y="21"/>
                </a:lnTo>
                <a:lnTo>
                  <a:pt x="92" y="15"/>
                </a:lnTo>
                <a:lnTo>
                  <a:pt x="100" y="9"/>
                </a:lnTo>
                <a:lnTo>
                  <a:pt x="107" y="3"/>
                </a:lnTo>
                <a:lnTo>
                  <a:pt x="114" y="7"/>
                </a:lnTo>
                <a:lnTo>
                  <a:pt x="121" y="9"/>
                </a:lnTo>
                <a:lnTo>
                  <a:pt x="128" y="14"/>
                </a:lnTo>
                <a:lnTo>
                  <a:pt x="135" y="13"/>
                </a:lnTo>
                <a:lnTo>
                  <a:pt x="142" y="16"/>
                </a:lnTo>
                <a:lnTo>
                  <a:pt x="149" y="13"/>
                </a:lnTo>
                <a:lnTo>
                  <a:pt x="156" y="11"/>
                </a:lnTo>
                <a:lnTo>
                  <a:pt x="164" y="4"/>
                </a:lnTo>
                <a:lnTo>
                  <a:pt x="171" y="5"/>
                </a:lnTo>
                <a:lnTo>
                  <a:pt x="178" y="8"/>
                </a:lnTo>
                <a:lnTo>
                  <a:pt x="185" y="17"/>
                </a:lnTo>
                <a:lnTo>
                  <a:pt x="192" y="18"/>
                </a:lnTo>
                <a:lnTo>
                  <a:pt x="199" y="15"/>
                </a:lnTo>
                <a:lnTo>
                  <a:pt x="206" y="9"/>
                </a:lnTo>
                <a:lnTo>
                  <a:pt x="213" y="6"/>
                </a:lnTo>
                <a:lnTo>
                  <a:pt x="221" y="7"/>
                </a:lnTo>
                <a:lnTo>
                  <a:pt x="228" y="10"/>
                </a:lnTo>
                <a:lnTo>
                  <a:pt x="235" y="12"/>
                </a:lnTo>
                <a:lnTo>
                  <a:pt x="242" y="13"/>
                </a:lnTo>
                <a:lnTo>
                  <a:pt x="249" y="16"/>
                </a:lnTo>
                <a:lnTo>
                  <a:pt x="256" y="14"/>
                </a:lnTo>
                <a:lnTo>
                  <a:pt x="263" y="11"/>
                </a:lnTo>
                <a:lnTo>
                  <a:pt x="270" y="5"/>
                </a:lnTo>
                <a:lnTo>
                  <a:pt x="277" y="6"/>
                </a:lnTo>
                <a:lnTo>
                  <a:pt x="285" y="9"/>
                </a:lnTo>
                <a:lnTo>
                  <a:pt x="292" y="16"/>
                </a:lnTo>
                <a:lnTo>
                  <a:pt x="299" y="16"/>
                </a:lnTo>
                <a:lnTo>
                  <a:pt x="306" y="14"/>
                </a:lnTo>
                <a:lnTo>
                  <a:pt x="313" y="9"/>
                </a:lnTo>
                <a:lnTo>
                  <a:pt x="320" y="9"/>
                </a:lnTo>
                <a:lnTo>
                  <a:pt x="327" y="8"/>
                </a:lnTo>
                <a:lnTo>
                  <a:pt x="334" y="10"/>
                </a:lnTo>
                <a:lnTo>
                  <a:pt x="341" y="10"/>
                </a:lnTo>
                <a:lnTo>
                  <a:pt x="349" y="13"/>
                </a:lnTo>
                <a:lnTo>
                  <a:pt x="356" y="15"/>
                </a:lnTo>
                <a:lnTo>
                  <a:pt x="363" y="15"/>
                </a:lnTo>
                <a:lnTo>
                  <a:pt x="370" y="10"/>
                </a:lnTo>
                <a:lnTo>
                  <a:pt x="377" y="7"/>
                </a:lnTo>
              </a:path>
            </a:pathLst>
          </a:custGeom>
          <a:noFill/>
          <a:ln w="12382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fa-0031"/>
          <p:cNvSpPr/>
          <p:nvPr/>
        </p:nvSpPr>
        <p:spPr>
          <a:xfrm>
            <a:off x="762000" y="1028700"/>
            <a:ext cx="304800" cy="247650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fa-0032"/>
          <p:cNvSpPr/>
          <p:nvPr/>
        </p:nvSpPr>
        <p:spPr>
          <a:xfrm>
            <a:off x="1066800" y="1028700"/>
            <a:ext cx="1270000" cy="24765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mfa-0033"/>
          <p:cNvCxnSpPr/>
          <p:nvPr/>
        </p:nvCxnSpPr>
        <p:spPr>
          <a:xfrm flipV="1">
            <a:off x="7683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fa-0034"/>
          <p:cNvCxnSpPr/>
          <p:nvPr/>
        </p:nvCxnSpPr>
        <p:spPr>
          <a:xfrm flipV="1">
            <a:off x="8382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fa-0035"/>
          <p:cNvCxnSpPr/>
          <p:nvPr/>
        </p:nvCxnSpPr>
        <p:spPr>
          <a:xfrm flipV="1">
            <a:off x="9080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fa-0036"/>
          <p:cNvCxnSpPr/>
          <p:nvPr/>
        </p:nvCxnSpPr>
        <p:spPr>
          <a:xfrm flipV="1">
            <a:off x="9779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fa-0037"/>
          <p:cNvCxnSpPr/>
          <p:nvPr/>
        </p:nvCxnSpPr>
        <p:spPr>
          <a:xfrm flipV="1">
            <a:off x="10477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fa-0038"/>
          <p:cNvCxnSpPr/>
          <p:nvPr/>
        </p:nvCxnSpPr>
        <p:spPr>
          <a:xfrm flipV="1">
            <a:off x="11176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fa-0039"/>
          <p:cNvCxnSpPr/>
          <p:nvPr/>
        </p:nvCxnSpPr>
        <p:spPr>
          <a:xfrm flipV="1">
            <a:off x="11874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fa-0040"/>
          <p:cNvCxnSpPr/>
          <p:nvPr/>
        </p:nvCxnSpPr>
        <p:spPr>
          <a:xfrm flipV="1">
            <a:off x="12573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fa-0041"/>
          <p:cNvCxnSpPr/>
          <p:nvPr/>
        </p:nvCxnSpPr>
        <p:spPr>
          <a:xfrm flipV="1">
            <a:off x="13271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fa-0042"/>
          <p:cNvCxnSpPr/>
          <p:nvPr/>
        </p:nvCxnSpPr>
        <p:spPr>
          <a:xfrm flipV="1">
            <a:off x="13970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mfa-0043"/>
          <p:cNvCxnSpPr/>
          <p:nvPr/>
        </p:nvCxnSpPr>
        <p:spPr>
          <a:xfrm flipV="1">
            <a:off x="14668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mfa-0044"/>
          <p:cNvCxnSpPr/>
          <p:nvPr/>
        </p:nvCxnSpPr>
        <p:spPr>
          <a:xfrm flipV="1">
            <a:off x="15367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mfa-0045"/>
          <p:cNvCxnSpPr/>
          <p:nvPr/>
        </p:nvCxnSpPr>
        <p:spPr>
          <a:xfrm flipV="1">
            <a:off x="16065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mfa-0046"/>
          <p:cNvCxnSpPr/>
          <p:nvPr/>
        </p:nvCxnSpPr>
        <p:spPr>
          <a:xfrm flipV="1">
            <a:off x="16764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mfa-0047"/>
          <p:cNvCxnSpPr/>
          <p:nvPr/>
        </p:nvCxnSpPr>
        <p:spPr>
          <a:xfrm flipV="1">
            <a:off x="17462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mfa-0048"/>
          <p:cNvCxnSpPr/>
          <p:nvPr/>
        </p:nvCxnSpPr>
        <p:spPr>
          <a:xfrm flipV="1">
            <a:off x="18161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mfa-0049"/>
          <p:cNvCxnSpPr/>
          <p:nvPr/>
        </p:nvCxnSpPr>
        <p:spPr>
          <a:xfrm flipV="1">
            <a:off x="18859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mfa-0050"/>
          <p:cNvCxnSpPr/>
          <p:nvPr/>
        </p:nvCxnSpPr>
        <p:spPr>
          <a:xfrm flipV="1">
            <a:off x="19558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mfa-0051"/>
          <p:cNvCxnSpPr/>
          <p:nvPr/>
        </p:nvCxnSpPr>
        <p:spPr>
          <a:xfrm flipV="1">
            <a:off x="20256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mfa-0052"/>
          <p:cNvCxnSpPr/>
          <p:nvPr/>
        </p:nvCxnSpPr>
        <p:spPr>
          <a:xfrm flipV="1">
            <a:off x="20955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mfa-0053"/>
          <p:cNvCxnSpPr/>
          <p:nvPr/>
        </p:nvCxnSpPr>
        <p:spPr>
          <a:xfrm flipV="1">
            <a:off x="2165350" y="1035050"/>
            <a:ext cx="1714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mfa-0054"/>
          <p:cNvCxnSpPr/>
          <p:nvPr/>
        </p:nvCxnSpPr>
        <p:spPr>
          <a:xfrm flipV="1">
            <a:off x="2235200" y="1035050"/>
            <a:ext cx="10160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mfa-0055"/>
          <p:cNvCxnSpPr/>
          <p:nvPr/>
        </p:nvCxnSpPr>
        <p:spPr>
          <a:xfrm flipV="1">
            <a:off x="2305050" y="1035050"/>
            <a:ext cx="317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mfa-0056"/>
          <p:cNvSpPr txBox="1"/>
          <p:nvPr/>
        </p:nvSpPr>
        <p:spPr>
          <a:xfrm>
            <a:off x="1295400" y="1066800"/>
            <a:ext cx="8001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Truncate</a:t>
            </a:r>
          </a:p>
        </p:txBody>
      </p:sp>
      <p:sp>
        <p:nvSpPr>
          <p:cNvPr id="58" name="mfa-0057"/>
          <p:cNvSpPr/>
          <p:nvPr/>
        </p:nvSpPr>
        <p:spPr>
          <a:xfrm>
            <a:off x="3263900" y="1028700"/>
            <a:ext cx="24447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fa-0058"/>
          <p:cNvSpPr/>
          <p:nvPr/>
        </p:nvSpPr>
        <p:spPr>
          <a:xfrm>
            <a:off x="3302000" y="1079500"/>
            <a:ext cx="2349500" cy="127000"/>
          </a:xfrm>
          <a:custGeom>
            <a:avLst/>
            <a:gdLst/>
            <a:ahLst/>
            <a:cxnLst/>
            <a:rect l="l" t="t" r="r" b="b"/>
            <a:pathLst>
              <a:path w="370" h="20">
                <a:moveTo>
                  <a:pt x="0" y="0"/>
                </a:moveTo>
                <a:lnTo>
                  <a:pt x="7" y="4"/>
                </a:lnTo>
                <a:lnTo>
                  <a:pt x="14" y="10"/>
                </a:lnTo>
                <a:lnTo>
                  <a:pt x="21" y="16"/>
                </a:lnTo>
                <a:lnTo>
                  <a:pt x="28" y="15"/>
                </a:lnTo>
                <a:lnTo>
                  <a:pt x="36" y="14"/>
                </a:lnTo>
                <a:lnTo>
                  <a:pt x="43" y="12"/>
                </a:lnTo>
                <a:lnTo>
                  <a:pt x="50" y="8"/>
                </a:lnTo>
                <a:lnTo>
                  <a:pt x="57" y="4"/>
                </a:lnTo>
                <a:lnTo>
                  <a:pt x="64" y="4"/>
                </a:lnTo>
                <a:lnTo>
                  <a:pt x="71" y="10"/>
                </a:lnTo>
                <a:lnTo>
                  <a:pt x="78" y="17"/>
                </a:lnTo>
                <a:lnTo>
                  <a:pt x="85" y="20"/>
                </a:lnTo>
                <a:lnTo>
                  <a:pt x="92" y="13"/>
                </a:lnTo>
                <a:lnTo>
                  <a:pt x="100" y="6"/>
                </a:lnTo>
                <a:lnTo>
                  <a:pt x="107" y="3"/>
                </a:lnTo>
                <a:lnTo>
                  <a:pt x="114" y="7"/>
                </a:lnTo>
                <a:lnTo>
                  <a:pt x="121" y="11"/>
                </a:lnTo>
                <a:lnTo>
                  <a:pt x="128" y="14"/>
                </a:lnTo>
                <a:lnTo>
                  <a:pt x="135" y="14"/>
                </a:lnTo>
                <a:lnTo>
                  <a:pt x="142" y="15"/>
                </a:lnTo>
                <a:lnTo>
                  <a:pt x="149" y="12"/>
                </a:lnTo>
                <a:lnTo>
                  <a:pt x="157" y="8"/>
                </a:lnTo>
                <a:lnTo>
                  <a:pt x="164" y="3"/>
                </a:lnTo>
                <a:lnTo>
                  <a:pt x="171" y="6"/>
                </a:lnTo>
                <a:lnTo>
                  <a:pt x="178" y="11"/>
                </a:lnTo>
                <a:lnTo>
                  <a:pt x="185" y="18"/>
                </a:lnTo>
                <a:lnTo>
                  <a:pt x="192" y="15"/>
                </a:lnTo>
                <a:lnTo>
                  <a:pt x="199" y="12"/>
                </a:lnTo>
                <a:lnTo>
                  <a:pt x="206" y="6"/>
                </a:lnTo>
                <a:lnTo>
                  <a:pt x="213" y="7"/>
                </a:lnTo>
                <a:lnTo>
                  <a:pt x="221" y="7"/>
                </a:lnTo>
                <a:lnTo>
                  <a:pt x="228" y="11"/>
                </a:lnTo>
                <a:lnTo>
                  <a:pt x="235" y="11"/>
                </a:lnTo>
                <a:lnTo>
                  <a:pt x="242" y="15"/>
                </a:lnTo>
                <a:lnTo>
                  <a:pt x="249" y="14"/>
                </a:lnTo>
                <a:lnTo>
                  <a:pt x="256" y="12"/>
                </a:lnTo>
                <a:lnTo>
                  <a:pt x="263" y="6"/>
                </a:lnTo>
                <a:lnTo>
                  <a:pt x="270" y="5"/>
                </a:lnTo>
                <a:lnTo>
                  <a:pt x="278" y="7"/>
                </a:lnTo>
                <a:lnTo>
                  <a:pt x="285" y="14"/>
                </a:lnTo>
                <a:lnTo>
                  <a:pt x="292" y="15"/>
                </a:lnTo>
                <a:lnTo>
                  <a:pt x="299" y="14"/>
                </a:lnTo>
                <a:lnTo>
                  <a:pt x="306" y="9"/>
                </a:lnTo>
                <a:lnTo>
                  <a:pt x="313" y="9"/>
                </a:lnTo>
                <a:lnTo>
                  <a:pt x="320" y="7"/>
                </a:lnTo>
                <a:lnTo>
                  <a:pt x="327" y="9"/>
                </a:lnTo>
                <a:lnTo>
                  <a:pt x="334" y="9"/>
                </a:lnTo>
                <a:lnTo>
                  <a:pt x="342" y="13"/>
                </a:lnTo>
                <a:lnTo>
                  <a:pt x="349" y="14"/>
                </a:lnTo>
                <a:lnTo>
                  <a:pt x="356" y="14"/>
                </a:lnTo>
                <a:lnTo>
                  <a:pt x="363" y="10"/>
                </a:lnTo>
                <a:lnTo>
                  <a:pt x="370" y="7"/>
                </a:lnTo>
              </a:path>
            </a:pathLst>
          </a:custGeom>
          <a:noFill/>
          <a:ln w="12382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fa-0059"/>
          <p:cNvSpPr/>
          <p:nvPr/>
        </p:nvSpPr>
        <p:spPr>
          <a:xfrm>
            <a:off x="3371850" y="1028700"/>
            <a:ext cx="1060450" cy="24765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mfa-0060"/>
          <p:cNvCxnSpPr/>
          <p:nvPr/>
        </p:nvCxnSpPr>
        <p:spPr>
          <a:xfrm flipV="1">
            <a:off x="33782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mfa-0061"/>
          <p:cNvCxnSpPr/>
          <p:nvPr/>
        </p:nvCxnSpPr>
        <p:spPr>
          <a:xfrm flipV="1">
            <a:off x="34480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mfa-0062"/>
          <p:cNvCxnSpPr/>
          <p:nvPr/>
        </p:nvCxnSpPr>
        <p:spPr>
          <a:xfrm flipV="1">
            <a:off x="35179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mfa-0063"/>
          <p:cNvCxnSpPr/>
          <p:nvPr/>
        </p:nvCxnSpPr>
        <p:spPr>
          <a:xfrm flipV="1">
            <a:off x="35877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mfa-0064"/>
          <p:cNvCxnSpPr/>
          <p:nvPr/>
        </p:nvCxnSpPr>
        <p:spPr>
          <a:xfrm flipV="1">
            <a:off x="36576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mfa-0065"/>
          <p:cNvCxnSpPr/>
          <p:nvPr/>
        </p:nvCxnSpPr>
        <p:spPr>
          <a:xfrm flipV="1">
            <a:off x="37274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mfa-0066"/>
          <p:cNvCxnSpPr/>
          <p:nvPr/>
        </p:nvCxnSpPr>
        <p:spPr>
          <a:xfrm flipV="1">
            <a:off x="37973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mfa-0067"/>
          <p:cNvCxnSpPr/>
          <p:nvPr/>
        </p:nvCxnSpPr>
        <p:spPr>
          <a:xfrm flipV="1">
            <a:off x="38671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mfa-0068"/>
          <p:cNvCxnSpPr/>
          <p:nvPr/>
        </p:nvCxnSpPr>
        <p:spPr>
          <a:xfrm flipV="1">
            <a:off x="39370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mfa-0069"/>
          <p:cNvCxnSpPr/>
          <p:nvPr/>
        </p:nvCxnSpPr>
        <p:spPr>
          <a:xfrm flipV="1">
            <a:off x="40068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mfa-0070"/>
          <p:cNvCxnSpPr/>
          <p:nvPr/>
        </p:nvCxnSpPr>
        <p:spPr>
          <a:xfrm flipV="1">
            <a:off x="40767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mfa-0071"/>
          <p:cNvCxnSpPr/>
          <p:nvPr/>
        </p:nvCxnSpPr>
        <p:spPr>
          <a:xfrm flipV="1">
            <a:off x="414655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mfa-0072"/>
          <p:cNvCxnSpPr/>
          <p:nvPr/>
        </p:nvCxnSpPr>
        <p:spPr>
          <a:xfrm flipV="1">
            <a:off x="4216400" y="1035050"/>
            <a:ext cx="2222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mfa-0073"/>
          <p:cNvCxnSpPr/>
          <p:nvPr/>
        </p:nvCxnSpPr>
        <p:spPr>
          <a:xfrm flipV="1">
            <a:off x="4286250" y="1035050"/>
            <a:ext cx="15240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mfa-0074"/>
          <p:cNvCxnSpPr/>
          <p:nvPr/>
        </p:nvCxnSpPr>
        <p:spPr>
          <a:xfrm flipV="1">
            <a:off x="4356100" y="1035050"/>
            <a:ext cx="8255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mfa-0075"/>
          <p:cNvCxnSpPr/>
          <p:nvPr/>
        </p:nvCxnSpPr>
        <p:spPr>
          <a:xfrm flipV="1">
            <a:off x="4425950" y="1035050"/>
            <a:ext cx="12700" cy="22225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mfa-0076"/>
          <p:cNvSpPr txBox="1"/>
          <p:nvPr/>
        </p:nvSpPr>
        <p:spPr>
          <a:xfrm>
            <a:off x="3530600" y="1066800"/>
            <a:ext cx="7937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Truncate</a:t>
            </a:r>
          </a:p>
        </p:txBody>
      </p:sp>
      <p:cxnSp>
        <p:nvCxnSpPr>
          <p:cNvPr id="78" name="mfa-0077"/>
          <p:cNvCxnSpPr/>
          <p:nvPr/>
        </p:nvCxnSpPr>
        <p:spPr>
          <a:xfrm>
            <a:off x="1397000" y="1282700"/>
            <a:ext cx="0" cy="184150"/>
          </a:xfrm>
          <a:prstGeom prst="line">
            <a:avLst/>
          </a:prstGeom>
          <a:ln w="31432">
            <a:solidFill>
              <a:srgbClr val="ED7D3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mfa-0078"/>
          <p:cNvCxnSpPr/>
          <p:nvPr/>
        </p:nvCxnSpPr>
        <p:spPr>
          <a:xfrm>
            <a:off x="4445000" y="1282700"/>
            <a:ext cx="0" cy="184150"/>
          </a:xfrm>
          <a:prstGeom prst="line">
            <a:avLst/>
          </a:prstGeom>
          <a:ln w="31432">
            <a:solidFill>
              <a:srgbClr val="ED7D3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fa-0079"/>
          <p:cNvSpPr txBox="1"/>
          <p:nvPr/>
        </p:nvSpPr>
        <p:spPr>
          <a:xfrm>
            <a:off x="952500" y="1276350"/>
            <a:ext cx="3937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D7D31"/>
                </a:solidFill>
                <a:latin typeface="Liberation Serif"/>
              </a:rPr>
              <a:t>iFFT</a:t>
            </a:r>
          </a:p>
        </p:txBody>
      </p:sp>
      <p:sp>
        <p:nvSpPr>
          <p:cNvPr id="81" name="mfa-0080"/>
          <p:cNvSpPr txBox="1"/>
          <p:nvPr/>
        </p:nvSpPr>
        <p:spPr>
          <a:xfrm>
            <a:off x="4603750" y="1276350"/>
            <a:ext cx="3937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D7D31"/>
                </a:solidFill>
                <a:latin typeface="Liberation Serif"/>
              </a:rPr>
              <a:t>iFFT</a:t>
            </a:r>
          </a:p>
        </p:txBody>
      </p:sp>
      <p:sp>
        <p:nvSpPr>
          <p:cNvPr id="82" name="mfa-0081"/>
          <p:cNvSpPr txBox="1"/>
          <p:nvPr/>
        </p:nvSpPr>
        <p:spPr>
          <a:xfrm>
            <a:off x="1593850" y="1301750"/>
            <a:ext cx="26098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Hybrid Frequency Input x_aug with Raw Input x_e</a:t>
            </a:r>
          </a:p>
        </p:txBody>
      </p:sp>
      <p:sp>
        <p:nvSpPr>
          <p:cNvPr id="83" name="mfa-0082"/>
          <p:cNvSpPr/>
          <p:nvPr/>
        </p:nvSpPr>
        <p:spPr>
          <a:xfrm>
            <a:off x="209550" y="1498600"/>
            <a:ext cx="5511800" cy="32385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fa-0083"/>
          <p:cNvSpPr/>
          <p:nvPr/>
        </p:nvSpPr>
        <p:spPr>
          <a:xfrm>
            <a:off x="273050" y="1536700"/>
            <a:ext cx="12763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fa-0084"/>
          <p:cNvSpPr/>
          <p:nvPr/>
        </p:nvSpPr>
        <p:spPr>
          <a:xfrm>
            <a:off x="304800" y="1574800"/>
            <a:ext cx="1212850" cy="171450"/>
          </a:xfrm>
          <a:custGeom>
            <a:avLst/>
            <a:gdLst/>
            <a:ahLst/>
            <a:cxnLst/>
            <a:rect l="l" t="t" r="r" b="b"/>
            <a:pathLst>
              <a:path w="191" h="27">
                <a:moveTo>
                  <a:pt x="0" y="10"/>
                </a:moveTo>
                <a:lnTo>
                  <a:pt x="7" y="4"/>
                </a:lnTo>
                <a:lnTo>
                  <a:pt x="14" y="20"/>
                </a:lnTo>
                <a:lnTo>
                  <a:pt x="20" y="19"/>
                </a:lnTo>
                <a:lnTo>
                  <a:pt x="27" y="12"/>
                </a:lnTo>
                <a:lnTo>
                  <a:pt x="34" y="5"/>
                </a:lnTo>
                <a:lnTo>
                  <a:pt x="41" y="23"/>
                </a:lnTo>
                <a:lnTo>
                  <a:pt x="48" y="21"/>
                </a:lnTo>
                <a:lnTo>
                  <a:pt x="55" y="4"/>
                </a:lnTo>
                <a:lnTo>
                  <a:pt x="61" y="15"/>
                </a:lnTo>
                <a:lnTo>
                  <a:pt x="68" y="21"/>
                </a:lnTo>
                <a:lnTo>
                  <a:pt x="75" y="19"/>
                </a:lnTo>
                <a:lnTo>
                  <a:pt x="82" y="5"/>
                </a:lnTo>
                <a:lnTo>
                  <a:pt x="89" y="15"/>
                </a:lnTo>
                <a:lnTo>
                  <a:pt x="96" y="27"/>
                </a:lnTo>
                <a:lnTo>
                  <a:pt x="102" y="9"/>
                </a:lnTo>
                <a:lnTo>
                  <a:pt x="109" y="10"/>
                </a:lnTo>
                <a:lnTo>
                  <a:pt x="116" y="17"/>
                </a:lnTo>
                <a:lnTo>
                  <a:pt x="123" y="22"/>
                </a:lnTo>
                <a:lnTo>
                  <a:pt x="130" y="9"/>
                </a:lnTo>
                <a:lnTo>
                  <a:pt x="136" y="6"/>
                </a:lnTo>
                <a:lnTo>
                  <a:pt x="143" y="25"/>
                </a:lnTo>
                <a:lnTo>
                  <a:pt x="150" y="15"/>
                </a:lnTo>
                <a:lnTo>
                  <a:pt x="157" y="7"/>
                </a:lnTo>
                <a:lnTo>
                  <a:pt x="164" y="11"/>
                </a:lnTo>
                <a:lnTo>
                  <a:pt x="171" y="21"/>
                </a:lnTo>
                <a:lnTo>
                  <a:pt x="177" y="16"/>
                </a:lnTo>
                <a:lnTo>
                  <a:pt x="184" y="0"/>
                </a:lnTo>
                <a:lnTo>
                  <a:pt x="191" y="17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fa-0085"/>
          <p:cNvSpPr/>
          <p:nvPr/>
        </p:nvSpPr>
        <p:spPr>
          <a:xfrm>
            <a:off x="1606550" y="1536700"/>
            <a:ext cx="12827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mfa-0086"/>
          <p:cNvSpPr/>
          <p:nvPr/>
        </p:nvSpPr>
        <p:spPr>
          <a:xfrm>
            <a:off x="1638300" y="1581150"/>
            <a:ext cx="1219200" cy="165100"/>
          </a:xfrm>
          <a:custGeom>
            <a:avLst/>
            <a:gdLst/>
            <a:ahLst/>
            <a:cxnLst/>
            <a:rect l="l" t="t" r="r" b="b"/>
            <a:pathLst>
              <a:path w="192" h="26">
                <a:moveTo>
                  <a:pt x="0" y="0"/>
                </a:moveTo>
                <a:lnTo>
                  <a:pt x="7" y="13"/>
                </a:lnTo>
                <a:lnTo>
                  <a:pt x="14" y="18"/>
                </a:lnTo>
                <a:lnTo>
                  <a:pt x="21" y="14"/>
                </a:lnTo>
                <a:lnTo>
                  <a:pt x="27" y="4"/>
                </a:lnTo>
                <a:lnTo>
                  <a:pt x="34" y="13"/>
                </a:lnTo>
                <a:lnTo>
                  <a:pt x="41" y="25"/>
                </a:lnTo>
                <a:lnTo>
                  <a:pt x="48" y="6"/>
                </a:lnTo>
                <a:lnTo>
                  <a:pt x="55" y="8"/>
                </a:lnTo>
                <a:lnTo>
                  <a:pt x="62" y="18"/>
                </a:lnTo>
                <a:lnTo>
                  <a:pt x="69" y="20"/>
                </a:lnTo>
                <a:lnTo>
                  <a:pt x="75" y="9"/>
                </a:lnTo>
                <a:lnTo>
                  <a:pt x="82" y="6"/>
                </a:lnTo>
                <a:lnTo>
                  <a:pt x="89" y="26"/>
                </a:lnTo>
                <a:lnTo>
                  <a:pt x="96" y="15"/>
                </a:lnTo>
                <a:lnTo>
                  <a:pt x="103" y="6"/>
                </a:lnTo>
                <a:lnTo>
                  <a:pt x="110" y="13"/>
                </a:lnTo>
                <a:lnTo>
                  <a:pt x="117" y="21"/>
                </a:lnTo>
                <a:lnTo>
                  <a:pt x="123" y="17"/>
                </a:lnTo>
                <a:lnTo>
                  <a:pt x="130" y="2"/>
                </a:lnTo>
                <a:lnTo>
                  <a:pt x="137" y="19"/>
                </a:lnTo>
                <a:lnTo>
                  <a:pt x="144" y="21"/>
                </a:lnTo>
                <a:lnTo>
                  <a:pt x="151" y="8"/>
                </a:lnTo>
                <a:lnTo>
                  <a:pt x="158" y="8"/>
                </a:lnTo>
                <a:lnTo>
                  <a:pt x="165" y="16"/>
                </a:lnTo>
                <a:lnTo>
                  <a:pt x="171" y="22"/>
                </a:lnTo>
                <a:lnTo>
                  <a:pt x="178" y="3"/>
                </a:lnTo>
                <a:lnTo>
                  <a:pt x="185" y="9"/>
                </a:lnTo>
                <a:lnTo>
                  <a:pt x="192" y="22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mfa-0087"/>
          <p:cNvSpPr/>
          <p:nvPr/>
        </p:nvSpPr>
        <p:spPr>
          <a:xfrm>
            <a:off x="2946400" y="1536700"/>
            <a:ext cx="12763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fa-0088"/>
          <p:cNvSpPr/>
          <p:nvPr/>
        </p:nvSpPr>
        <p:spPr>
          <a:xfrm>
            <a:off x="2978150" y="1593850"/>
            <a:ext cx="1212850" cy="146050"/>
          </a:xfrm>
          <a:custGeom>
            <a:avLst/>
            <a:gdLst/>
            <a:ahLst/>
            <a:cxnLst/>
            <a:rect l="l" t="t" r="r" b="b"/>
            <a:pathLst>
              <a:path w="191" h="23">
                <a:moveTo>
                  <a:pt x="0" y="3"/>
                </a:moveTo>
                <a:lnTo>
                  <a:pt x="7" y="15"/>
                </a:lnTo>
                <a:lnTo>
                  <a:pt x="14" y="14"/>
                </a:lnTo>
                <a:lnTo>
                  <a:pt x="20" y="6"/>
                </a:lnTo>
                <a:lnTo>
                  <a:pt x="27" y="2"/>
                </a:lnTo>
                <a:lnTo>
                  <a:pt x="34" y="21"/>
                </a:lnTo>
                <a:lnTo>
                  <a:pt x="41" y="13"/>
                </a:lnTo>
                <a:lnTo>
                  <a:pt x="48" y="1"/>
                </a:lnTo>
                <a:lnTo>
                  <a:pt x="55" y="12"/>
                </a:lnTo>
                <a:lnTo>
                  <a:pt x="61" y="17"/>
                </a:lnTo>
                <a:lnTo>
                  <a:pt x="68" y="14"/>
                </a:lnTo>
                <a:lnTo>
                  <a:pt x="75" y="0"/>
                </a:lnTo>
                <a:lnTo>
                  <a:pt x="82" y="16"/>
                </a:lnTo>
                <a:lnTo>
                  <a:pt x="89" y="21"/>
                </a:lnTo>
                <a:lnTo>
                  <a:pt x="95" y="5"/>
                </a:lnTo>
                <a:lnTo>
                  <a:pt x="102" y="8"/>
                </a:lnTo>
                <a:lnTo>
                  <a:pt x="109" y="15"/>
                </a:lnTo>
                <a:lnTo>
                  <a:pt x="116" y="20"/>
                </a:lnTo>
                <a:lnTo>
                  <a:pt x="123" y="4"/>
                </a:lnTo>
                <a:lnTo>
                  <a:pt x="130" y="7"/>
                </a:lnTo>
                <a:lnTo>
                  <a:pt x="136" y="23"/>
                </a:lnTo>
                <a:lnTo>
                  <a:pt x="143" y="11"/>
                </a:lnTo>
                <a:lnTo>
                  <a:pt x="150" y="6"/>
                </a:lnTo>
                <a:lnTo>
                  <a:pt x="157" y="9"/>
                </a:lnTo>
                <a:lnTo>
                  <a:pt x="164" y="21"/>
                </a:lnTo>
                <a:lnTo>
                  <a:pt x="171" y="11"/>
                </a:lnTo>
                <a:lnTo>
                  <a:pt x="177" y="0"/>
                </a:lnTo>
                <a:lnTo>
                  <a:pt x="184" y="18"/>
                </a:lnTo>
                <a:lnTo>
                  <a:pt x="191" y="15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mfa-0089"/>
          <p:cNvSpPr/>
          <p:nvPr/>
        </p:nvSpPr>
        <p:spPr>
          <a:xfrm>
            <a:off x="4279900" y="1536700"/>
            <a:ext cx="137160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fa-0090"/>
          <p:cNvSpPr/>
          <p:nvPr/>
        </p:nvSpPr>
        <p:spPr>
          <a:xfrm>
            <a:off x="4311650" y="1593850"/>
            <a:ext cx="1308100" cy="152400"/>
          </a:xfrm>
          <a:custGeom>
            <a:avLst/>
            <a:gdLst/>
            <a:ahLst/>
            <a:cxnLst/>
            <a:rect l="l" t="t" r="r" b="b"/>
            <a:pathLst>
              <a:path w="206" h="24">
                <a:moveTo>
                  <a:pt x="0" y="11"/>
                </a:moveTo>
                <a:lnTo>
                  <a:pt x="7" y="15"/>
                </a:lnTo>
                <a:lnTo>
                  <a:pt x="14" y="12"/>
                </a:lnTo>
                <a:lnTo>
                  <a:pt x="21" y="1"/>
                </a:lnTo>
                <a:lnTo>
                  <a:pt x="28" y="10"/>
                </a:lnTo>
                <a:lnTo>
                  <a:pt x="36" y="24"/>
                </a:lnTo>
                <a:lnTo>
                  <a:pt x="43" y="7"/>
                </a:lnTo>
                <a:lnTo>
                  <a:pt x="50" y="6"/>
                </a:lnTo>
                <a:lnTo>
                  <a:pt x="57" y="14"/>
                </a:lnTo>
                <a:lnTo>
                  <a:pt x="64" y="19"/>
                </a:lnTo>
                <a:lnTo>
                  <a:pt x="71" y="11"/>
                </a:lnTo>
                <a:lnTo>
                  <a:pt x="78" y="0"/>
                </a:lnTo>
                <a:lnTo>
                  <a:pt x="85" y="18"/>
                </a:lnTo>
                <a:lnTo>
                  <a:pt x="92" y="17"/>
                </a:lnTo>
                <a:lnTo>
                  <a:pt x="99" y="3"/>
                </a:lnTo>
                <a:lnTo>
                  <a:pt x="107" y="5"/>
                </a:lnTo>
                <a:lnTo>
                  <a:pt x="114" y="12"/>
                </a:lnTo>
                <a:lnTo>
                  <a:pt x="121" y="18"/>
                </a:lnTo>
                <a:lnTo>
                  <a:pt x="128" y="2"/>
                </a:lnTo>
                <a:lnTo>
                  <a:pt x="135" y="2"/>
                </a:lnTo>
                <a:lnTo>
                  <a:pt x="142" y="20"/>
                </a:lnTo>
                <a:lnTo>
                  <a:pt x="149" y="12"/>
                </a:lnTo>
                <a:lnTo>
                  <a:pt x="156" y="6"/>
                </a:lnTo>
                <a:lnTo>
                  <a:pt x="163" y="7"/>
                </a:lnTo>
                <a:lnTo>
                  <a:pt x="170" y="19"/>
                </a:lnTo>
                <a:lnTo>
                  <a:pt x="178" y="18"/>
                </a:lnTo>
                <a:lnTo>
                  <a:pt x="185" y="0"/>
                </a:lnTo>
                <a:lnTo>
                  <a:pt x="192" y="12"/>
                </a:lnTo>
                <a:lnTo>
                  <a:pt x="199" y="20"/>
                </a:lnTo>
                <a:lnTo>
                  <a:pt x="206" y="11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rompting-0091"/>
          <p:cNvSpPr txBox="1"/>
          <p:nvPr/>
        </p:nvSpPr>
        <p:spPr>
          <a:xfrm>
            <a:off x="1714500" y="2019300"/>
            <a:ext cx="2667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Liberation Serif"/>
              </a:rPr>
              <a:t>Multi-Domain Prompting</a:t>
            </a:r>
          </a:p>
        </p:txBody>
      </p:sp>
      <p:sp>
        <p:nvSpPr>
          <p:cNvPr id="93" name="prompting-0092"/>
          <p:cNvSpPr txBox="1"/>
          <p:nvPr/>
        </p:nvSpPr>
        <p:spPr>
          <a:xfrm>
            <a:off x="558800" y="2254250"/>
            <a:ext cx="10160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8D8D8D"/>
                </a:solidFill>
                <a:latin typeface="Liberation Serif"/>
              </a:rPr>
              <a:t>Norm &amp; Patchify</a:t>
            </a:r>
          </a:p>
        </p:txBody>
      </p:sp>
      <p:sp>
        <p:nvSpPr>
          <p:cNvPr id="94" name="prompting-0093"/>
          <p:cNvSpPr/>
          <p:nvPr/>
        </p:nvSpPr>
        <p:spPr>
          <a:xfrm>
            <a:off x="266700" y="2419350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rompting-0094"/>
          <p:cNvSpPr/>
          <p:nvPr/>
        </p:nvSpPr>
        <p:spPr>
          <a:xfrm>
            <a:off x="29845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prompting-0095"/>
          <p:cNvSpPr/>
          <p:nvPr/>
        </p:nvSpPr>
        <p:spPr>
          <a:xfrm>
            <a:off x="330200" y="2501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8" h="24">
                <a:moveTo>
                  <a:pt x="0" y="12"/>
                </a:moveTo>
                <a:lnTo>
                  <a:pt x="1" y="2"/>
                </a:lnTo>
                <a:lnTo>
                  <a:pt x="1" y="16"/>
                </a:lnTo>
                <a:lnTo>
                  <a:pt x="2" y="17"/>
                </a:lnTo>
                <a:lnTo>
                  <a:pt x="3" y="11"/>
                </a:lnTo>
                <a:lnTo>
                  <a:pt x="3" y="4"/>
                </a:lnTo>
                <a:lnTo>
                  <a:pt x="4" y="17"/>
                </a:lnTo>
                <a:lnTo>
                  <a:pt x="4" y="20"/>
                </a:lnTo>
                <a:lnTo>
                  <a:pt x="5" y="4"/>
                </a:lnTo>
                <a:lnTo>
                  <a:pt x="6" y="12"/>
                </a:lnTo>
                <a:lnTo>
                  <a:pt x="6" y="18"/>
                </a:lnTo>
                <a:lnTo>
                  <a:pt x="7" y="17"/>
                </a:lnTo>
                <a:lnTo>
                  <a:pt x="8" y="5"/>
                </a:lnTo>
                <a:lnTo>
                  <a:pt x="8" y="10"/>
                </a:lnTo>
                <a:lnTo>
                  <a:pt x="9" y="24"/>
                </a:lnTo>
                <a:lnTo>
                  <a:pt x="10" y="9"/>
                </a:lnTo>
                <a:lnTo>
                  <a:pt x="10" y="7"/>
                </a:lnTo>
                <a:lnTo>
                  <a:pt x="11" y="14"/>
                </a:lnTo>
                <a:lnTo>
                  <a:pt x="12" y="19"/>
                </a:lnTo>
                <a:lnTo>
                  <a:pt x="12" y="10"/>
                </a:lnTo>
                <a:lnTo>
                  <a:pt x="13" y="3"/>
                </a:lnTo>
                <a:lnTo>
                  <a:pt x="14" y="20"/>
                </a:lnTo>
                <a:lnTo>
                  <a:pt x="14" y="14"/>
                </a:lnTo>
                <a:lnTo>
                  <a:pt x="15" y="6"/>
                </a:lnTo>
                <a:lnTo>
                  <a:pt x="15" y="8"/>
                </a:lnTo>
                <a:lnTo>
                  <a:pt x="16" y="16"/>
                </a:lnTo>
                <a:lnTo>
                  <a:pt x="17" y="16"/>
                </a:lnTo>
                <a:lnTo>
                  <a:pt x="17" y="0"/>
                </a:lnTo>
                <a:lnTo>
                  <a:pt x="18" y="13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prompting-0096"/>
          <p:cNvSpPr/>
          <p:nvPr/>
        </p:nvSpPr>
        <p:spPr>
          <a:xfrm>
            <a:off x="52070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rompting-0097"/>
          <p:cNvSpPr/>
          <p:nvPr/>
        </p:nvSpPr>
        <p:spPr>
          <a:xfrm>
            <a:off x="552450" y="2508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8" h="21">
                <a:moveTo>
                  <a:pt x="0" y="4"/>
                </a:moveTo>
                <a:lnTo>
                  <a:pt x="1" y="5"/>
                </a:lnTo>
                <a:lnTo>
                  <a:pt x="1" y="17"/>
                </a:lnTo>
                <a:lnTo>
                  <a:pt x="2" y="14"/>
                </a:lnTo>
                <a:lnTo>
                  <a:pt x="3" y="7"/>
                </a:lnTo>
                <a:lnTo>
                  <a:pt x="3" y="4"/>
                </a:lnTo>
                <a:lnTo>
                  <a:pt x="4" y="21"/>
                </a:lnTo>
                <a:lnTo>
                  <a:pt x="5" y="13"/>
                </a:lnTo>
                <a:lnTo>
                  <a:pt x="5" y="3"/>
                </a:lnTo>
                <a:lnTo>
                  <a:pt x="6" y="13"/>
                </a:lnTo>
                <a:lnTo>
                  <a:pt x="6" y="17"/>
                </a:lnTo>
                <a:lnTo>
                  <a:pt x="7" y="14"/>
                </a:lnTo>
                <a:lnTo>
                  <a:pt x="8" y="2"/>
                </a:lnTo>
                <a:lnTo>
                  <a:pt x="8" y="16"/>
                </a:lnTo>
                <a:lnTo>
                  <a:pt x="9" y="20"/>
                </a:lnTo>
                <a:lnTo>
                  <a:pt x="10" y="5"/>
                </a:lnTo>
                <a:lnTo>
                  <a:pt x="10" y="9"/>
                </a:lnTo>
                <a:lnTo>
                  <a:pt x="11" y="15"/>
                </a:lnTo>
                <a:lnTo>
                  <a:pt x="12" y="18"/>
                </a:lnTo>
                <a:lnTo>
                  <a:pt x="12" y="4"/>
                </a:lnTo>
                <a:lnTo>
                  <a:pt x="13" y="7"/>
                </a:lnTo>
                <a:lnTo>
                  <a:pt x="13" y="21"/>
                </a:lnTo>
                <a:lnTo>
                  <a:pt x="14" y="9"/>
                </a:lnTo>
                <a:lnTo>
                  <a:pt x="15" y="5"/>
                </a:lnTo>
                <a:lnTo>
                  <a:pt x="15" y="9"/>
                </a:lnTo>
                <a:lnTo>
                  <a:pt x="16" y="18"/>
                </a:lnTo>
                <a:lnTo>
                  <a:pt x="17" y="9"/>
                </a:lnTo>
                <a:lnTo>
                  <a:pt x="17" y="0"/>
                </a:lnTo>
                <a:lnTo>
                  <a:pt x="18" y="17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prompting-0098"/>
          <p:cNvSpPr/>
          <p:nvPr/>
        </p:nvSpPr>
        <p:spPr>
          <a:xfrm>
            <a:off x="74295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prompting-0099"/>
          <p:cNvSpPr/>
          <p:nvPr/>
        </p:nvSpPr>
        <p:spPr>
          <a:xfrm>
            <a:off x="774700" y="2508250"/>
            <a:ext cx="114300" cy="139700"/>
          </a:xfrm>
          <a:custGeom>
            <a:avLst/>
            <a:gdLst/>
            <a:ahLst/>
            <a:cxnLst/>
            <a:rect l="l" t="t" r="r" b="b"/>
            <a:pathLst>
              <a:path w="18" h="22">
                <a:moveTo>
                  <a:pt x="0" y="0"/>
                </a:moveTo>
                <a:lnTo>
                  <a:pt x="1" y="9"/>
                </a:lnTo>
                <a:lnTo>
                  <a:pt x="1" y="16"/>
                </a:lnTo>
                <a:lnTo>
                  <a:pt x="2" y="13"/>
                </a:lnTo>
                <a:lnTo>
                  <a:pt x="3" y="4"/>
                </a:lnTo>
                <a:lnTo>
                  <a:pt x="3" y="8"/>
                </a:lnTo>
                <a:lnTo>
                  <a:pt x="4" y="22"/>
                </a:lnTo>
                <a:lnTo>
                  <a:pt x="4" y="7"/>
                </a:lnTo>
                <a:lnTo>
                  <a:pt x="5" y="6"/>
                </a:lnTo>
                <a:lnTo>
                  <a:pt x="6" y="15"/>
                </a:lnTo>
                <a:lnTo>
                  <a:pt x="6" y="17"/>
                </a:lnTo>
                <a:lnTo>
                  <a:pt x="7" y="9"/>
                </a:lnTo>
                <a:lnTo>
                  <a:pt x="8" y="3"/>
                </a:lnTo>
                <a:lnTo>
                  <a:pt x="8" y="21"/>
                </a:lnTo>
                <a:lnTo>
                  <a:pt x="9" y="15"/>
                </a:lnTo>
                <a:lnTo>
                  <a:pt x="10" y="5"/>
                </a:lnTo>
                <a:lnTo>
                  <a:pt x="10" y="11"/>
                </a:lnTo>
                <a:lnTo>
                  <a:pt x="11" y="17"/>
                </a:lnTo>
                <a:lnTo>
                  <a:pt x="12" y="16"/>
                </a:lnTo>
                <a:lnTo>
                  <a:pt x="12" y="1"/>
                </a:lnTo>
                <a:lnTo>
                  <a:pt x="13" y="14"/>
                </a:lnTo>
                <a:lnTo>
                  <a:pt x="14" y="19"/>
                </a:lnTo>
                <a:lnTo>
                  <a:pt x="14" y="7"/>
                </a:lnTo>
                <a:lnTo>
                  <a:pt x="15" y="6"/>
                </a:lnTo>
                <a:lnTo>
                  <a:pt x="15" y="12"/>
                </a:lnTo>
                <a:lnTo>
                  <a:pt x="16" y="19"/>
                </a:lnTo>
                <a:lnTo>
                  <a:pt x="17" y="4"/>
                </a:lnTo>
                <a:lnTo>
                  <a:pt x="17" y="5"/>
                </a:lnTo>
                <a:lnTo>
                  <a:pt x="18" y="19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rompting-0100"/>
          <p:cNvSpPr/>
          <p:nvPr/>
        </p:nvSpPr>
        <p:spPr>
          <a:xfrm>
            <a:off x="96520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rompting-0101"/>
          <p:cNvSpPr/>
          <p:nvPr/>
        </p:nvSpPr>
        <p:spPr>
          <a:xfrm>
            <a:off x="996950" y="2508250"/>
            <a:ext cx="114300" cy="146050"/>
          </a:xfrm>
          <a:custGeom>
            <a:avLst/>
            <a:gdLst/>
            <a:ahLst/>
            <a:cxnLst/>
            <a:rect l="l" t="t" r="r" b="b"/>
            <a:pathLst>
              <a:path w="18" h="23">
                <a:moveTo>
                  <a:pt x="0" y="0"/>
                </a:moveTo>
                <a:lnTo>
                  <a:pt x="1" y="13"/>
                </a:lnTo>
                <a:lnTo>
                  <a:pt x="1" y="15"/>
                </a:lnTo>
                <a:lnTo>
                  <a:pt x="2" y="11"/>
                </a:lnTo>
                <a:lnTo>
                  <a:pt x="3" y="2"/>
                </a:lnTo>
                <a:lnTo>
                  <a:pt x="3" y="14"/>
                </a:lnTo>
                <a:lnTo>
                  <a:pt x="4" y="19"/>
                </a:lnTo>
                <a:lnTo>
                  <a:pt x="5" y="3"/>
                </a:lnTo>
                <a:lnTo>
                  <a:pt x="5" y="9"/>
                </a:lnTo>
                <a:lnTo>
                  <a:pt x="6" y="15"/>
                </a:lnTo>
                <a:lnTo>
                  <a:pt x="6" y="17"/>
                </a:lnTo>
                <a:lnTo>
                  <a:pt x="7" y="5"/>
                </a:lnTo>
                <a:lnTo>
                  <a:pt x="8" y="7"/>
                </a:lnTo>
                <a:lnTo>
                  <a:pt x="8" y="23"/>
                </a:lnTo>
                <a:lnTo>
                  <a:pt x="9" y="9"/>
                </a:lnTo>
                <a:lnTo>
                  <a:pt x="10" y="6"/>
                </a:lnTo>
                <a:lnTo>
                  <a:pt x="10" y="12"/>
                </a:lnTo>
                <a:lnTo>
                  <a:pt x="11" y="19"/>
                </a:lnTo>
                <a:lnTo>
                  <a:pt x="12" y="11"/>
                </a:lnTo>
                <a:lnTo>
                  <a:pt x="12" y="2"/>
                </a:lnTo>
                <a:lnTo>
                  <a:pt x="13" y="19"/>
                </a:lnTo>
                <a:lnTo>
                  <a:pt x="13" y="15"/>
                </a:lnTo>
                <a:lnTo>
                  <a:pt x="14" y="6"/>
                </a:lnTo>
                <a:lnTo>
                  <a:pt x="15" y="7"/>
                </a:lnTo>
                <a:lnTo>
                  <a:pt x="15" y="16"/>
                </a:lnTo>
                <a:lnTo>
                  <a:pt x="16" y="17"/>
                </a:lnTo>
                <a:lnTo>
                  <a:pt x="17" y="0"/>
                </a:lnTo>
                <a:lnTo>
                  <a:pt x="17" y="11"/>
                </a:lnTo>
                <a:lnTo>
                  <a:pt x="18" y="18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rompting-0102"/>
          <p:cNvSpPr/>
          <p:nvPr/>
        </p:nvSpPr>
        <p:spPr>
          <a:xfrm>
            <a:off x="118745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rompting-0103"/>
          <p:cNvSpPr/>
          <p:nvPr/>
        </p:nvSpPr>
        <p:spPr>
          <a:xfrm>
            <a:off x="1219200" y="2508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8" h="21">
                <a:moveTo>
                  <a:pt x="0" y="3"/>
                </a:moveTo>
                <a:lnTo>
                  <a:pt x="1" y="15"/>
                </a:lnTo>
                <a:lnTo>
                  <a:pt x="1" y="14"/>
                </a:lnTo>
                <a:lnTo>
                  <a:pt x="2" y="7"/>
                </a:lnTo>
                <a:lnTo>
                  <a:pt x="3" y="2"/>
                </a:lnTo>
                <a:lnTo>
                  <a:pt x="3" y="19"/>
                </a:lnTo>
                <a:lnTo>
                  <a:pt x="4" y="14"/>
                </a:lnTo>
                <a:lnTo>
                  <a:pt x="4" y="2"/>
                </a:lnTo>
                <a:lnTo>
                  <a:pt x="5" y="11"/>
                </a:lnTo>
                <a:lnTo>
                  <a:pt x="6" y="16"/>
                </a:lnTo>
                <a:lnTo>
                  <a:pt x="6" y="14"/>
                </a:lnTo>
                <a:lnTo>
                  <a:pt x="7" y="2"/>
                </a:lnTo>
                <a:lnTo>
                  <a:pt x="8" y="14"/>
                </a:lnTo>
                <a:lnTo>
                  <a:pt x="8" y="20"/>
                </a:lnTo>
                <a:lnTo>
                  <a:pt x="9" y="6"/>
                </a:lnTo>
                <a:lnTo>
                  <a:pt x="10" y="8"/>
                </a:lnTo>
                <a:lnTo>
                  <a:pt x="10" y="14"/>
                </a:lnTo>
                <a:lnTo>
                  <a:pt x="11" y="19"/>
                </a:lnTo>
                <a:lnTo>
                  <a:pt x="12" y="5"/>
                </a:lnTo>
                <a:lnTo>
                  <a:pt x="12" y="6"/>
                </a:lnTo>
                <a:lnTo>
                  <a:pt x="13" y="21"/>
                </a:lnTo>
                <a:lnTo>
                  <a:pt x="14" y="11"/>
                </a:lnTo>
                <a:lnTo>
                  <a:pt x="14" y="7"/>
                </a:lnTo>
                <a:lnTo>
                  <a:pt x="15" y="9"/>
                </a:lnTo>
                <a:lnTo>
                  <a:pt x="15" y="19"/>
                </a:lnTo>
                <a:lnTo>
                  <a:pt x="16" y="12"/>
                </a:lnTo>
                <a:lnTo>
                  <a:pt x="17" y="0"/>
                </a:lnTo>
                <a:lnTo>
                  <a:pt x="17" y="16"/>
                </a:lnTo>
                <a:lnTo>
                  <a:pt x="18" y="15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prompting-0104"/>
          <p:cNvSpPr/>
          <p:nvPr/>
        </p:nvSpPr>
        <p:spPr>
          <a:xfrm>
            <a:off x="140970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prompting-0105"/>
          <p:cNvSpPr/>
          <p:nvPr/>
        </p:nvSpPr>
        <p:spPr>
          <a:xfrm>
            <a:off x="1441450" y="2520950"/>
            <a:ext cx="114300" cy="120650"/>
          </a:xfrm>
          <a:custGeom>
            <a:avLst/>
            <a:gdLst/>
            <a:ahLst/>
            <a:cxnLst/>
            <a:rect l="l" t="t" r="r" b="b"/>
            <a:pathLst>
              <a:path w="18" h="19">
                <a:moveTo>
                  <a:pt x="0" y="5"/>
                </a:moveTo>
                <a:lnTo>
                  <a:pt x="1" y="13"/>
                </a:lnTo>
                <a:lnTo>
                  <a:pt x="1" y="11"/>
                </a:lnTo>
                <a:lnTo>
                  <a:pt x="2" y="2"/>
                </a:lnTo>
                <a:lnTo>
                  <a:pt x="3" y="4"/>
                </a:lnTo>
                <a:lnTo>
                  <a:pt x="3" y="19"/>
                </a:lnTo>
                <a:lnTo>
                  <a:pt x="4" y="5"/>
                </a:lnTo>
                <a:lnTo>
                  <a:pt x="5" y="2"/>
                </a:lnTo>
                <a:lnTo>
                  <a:pt x="5" y="11"/>
                </a:lnTo>
                <a:lnTo>
                  <a:pt x="6" y="15"/>
                </a:lnTo>
                <a:lnTo>
                  <a:pt x="6" y="8"/>
                </a:lnTo>
                <a:lnTo>
                  <a:pt x="7" y="0"/>
                </a:lnTo>
                <a:lnTo>
                  <a:pt x="8" y="17"/>
                </a:lnTo>
                <a:lnTo>
                  <a:pt x="8" y="14"/>
                </a:lnTo>
                <a:lnTo>
                  <a:pt x="9" y="3"/>
                </a:lnTo>
                <a:lnTo>
                  <a:pt x="10" y="7"/>
                </a:lnTo>
                <a:lnTo>
                  <a:pt x="10" y="14"/>
                </a:lnTo>
                <a:lnTo>
                  <a:pt x="11" y="15"/>
                </a:lnTo>
                <a:lnTo>
                  <a:pt x="12" y="0"/>
                </a:lnTo>
                <a:lnTo>
                  <a:pt x="12" y="10"/>
                </a:lnTo>
                <a:lnTo>
                  <a:pt x="13" y="18"/>
                </a:lnTo>
                <a:lnTo>
                  <a:pt x="13" y="7"/>
                </a:lnTo>
                <a:lnTo>
                  <a:pt x="14" y="5"/>
                </a:lnTo>
                <a:lnTo>
                  <a:pt x="15" y="10"/>
                </a:lnTo>
                <a:lnTo>
                  <a:pt x="15" y="19"/>
                </a:lnTo>
                <a:lnTo>
                  <a:pt x="16" y="4"/>
                </a:lnTo>
                <a:lnTo>
                  <a:pt x="17" y="3"/>
                </a:lnTo>
                <a:lnTo>
                  <a:pt x="17" y="17"/>
                </a:lnTo>
                <a:lnTo>
                  <a:pt x="18" y="11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prompting-0106"/>
          <p:cNvSpPr/>
          <p:nvPr/>
        </p:nvSpPr>
        <p:spPr>
          <a:xfrm>
            <a:off x="1631950" y="2463800"/>
            <a:ext cx="177800" cy="22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prompting-0107"/>
          <p:cNvSpPr/>
          <p:nvPr/>
        </p:nvSpPr>
        <p:spPr>
          <a:xfrm>
            <a:off x="1663700" y="251460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8" h="21">
                <a:moveTo>
                  <a:pt x="0" y="10"/>
                </a:moveTo>
                <a:lnTo>
                  <a:pt x="1" y="13"/>
                </a:lnTo>
                <a:lnTo>
                  <a:pt x="1" y="10"/>
                </a:lnTo>
                <a:lnTo>
                  <a:pt x="2" y="0"/>
                </a:lnTo>
                <a:lnTo>
                  <a:pt x="3" y="11"/>
                </a:lnTo>
                <a:lnTo>
                  <a:pt x="3" y="18"/>
                </a:lnTo>
                <a:lnTo>
                  <a:pt x="4" y="2"/>
                </a:lnTo>
                <a:lnTo>
                  <a:pt x="4" y="6"/>
                </a:lnTo>
                <a:lnTo>
                  <a:pt x="5" y="13"/>
                </a:lnTo>
                <a:lnTo>
                  <a:pt x="6" y="16"/>
                </a:lnTo>
                <a:lnTo>
                  <a:pt x="6" y="4"/>
                </a:lnTo>
                <a:lnTo>
                  <a:pt x="7" y="4"/>
                </a:lnTo>
                <a:lnTo>
                  <a:pt x="8" y="21"/>
                </a:lnTo>
                <a:lnTo>
                  <a:pt x="8" y="9"/>
                </a:lnTo>
                <a:lnTo>
                  <a:pt x="9" y="5"/>
                </a:lnTo>
                <a:lnTo>
                  <a:pt x="10" y="10"/>
                </a:lnTo>
                <a:lnTo>
                  <a:pt x="10" y="18"/>
                </a:lnTo>
                <a:lnTo>
                  <a:pt x="11" y="12"/>
                </a:lnTo>
                <a:lnTo>
                  <a:pt x="12" y="0"/>
                </a:lnTo>
                <a:lnTo>
                  <a:pt x="12" y="17"/>
                </a:lnTo>
                <a:lnTo>
                  <a:pt x="13" y="16"/>
                </a:lnTo>
                <a:lnTo>
                  <a:pt x="14" y="7"/>
                </a:lnTo>
                <a:lnTo>
                  <a:pt x="14" y="6"/>
                </a:lnTo>
                <a:lnTo>
                  <a:pt x="15" y="15"/>
                </a:lnTo>
                <a:lnTo>
                  <a:pt x="15" y="18"/>
                </a:lnTo>
                <a:lnTo>
                  <a:pt x="16" y="1"/>
                </a:lnTo>
                <a:lnTo>
                  <a:pt x="17" y="9"/>
                </a:lnTo>
                <a:lnTo>
                  <a:pt x="17" y="18"/>
                </a:lnTo>
                <a:lnTo>
                  <a:pt x="18" y="10"/>
                </a:lnTo>
              </a:path>
            </a:pathLst>
          </a:custGeom>
          <a:noFill/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prompting-0108"/>
          <p:cNvCxnSpPr/>
          <p:nvPr/>
        </p:nvCxnSpPr>
        <p:spPr>
          <a:xfrm>
            <a:off x="1892300" y="2584450"/>
            <a:ext cx="38735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prompting-0109"/>
          <p:cNvSpPr txBox="1"/>
          <p:nvPr/>
        </p:nvSpPr>
        <p:spPr>
          <a:xfrm>
            <a:off x="2463800" y="2247900"/>
            <a:ext cx="66675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8D8D8D"/>
                </a:solidFill>
                <a:latin typeface="Liberation Serif"/>
              </a:rPr>
              <a:t>Projection</a:t>
            </a:r>
          </a:p>
        </p:txBody>
      </p:sp>
      <p:sp>
        <p:nvSpPr>
          <p:cNvPr id="111" name="prompting-0110"/>
          <p:cNvSpPr/>
          <p:nvPr/>
        </p:nvSpPr>
        <p:spPr>
          <a:xfrm>
            <a:off x="2286000" y="2425700"/>
            <a:ext cx="939800" cy="285750"/>
          </a:xfrm>
          <a:prstGeom prst="roundRect">
            <a:avLst>
              <a:gd name="adj" fmla="val 17777"/>
            </a:avLst>
          </a:prstGeom>
          <a:solidFill>
            <a:srgbClr val="F7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prompting-0111"/>
          <p:cNvSpPr txBox="1"/>
          <p:nvPr/>
        </p:nvSpPr>
        <p:spPr>
          <a:xfrm>
            <a:off x="2413000" y="2451100"/>
            <a:ext cx="660400" cy="234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11111"/>
                </a:solidFill>
                <a:latin typeface="Liberation Serif"/>
              </a:rPr>
              <a:t>Linear</a:t>
            </a:r>
          </a:p>
        </p:txBody>
      </p:sp>
      <p:sp>
        <p:nvSpPr>
          <p:cNvPr id="113" name="prompting-0112"/>
          <p:cNvSpPr/>
          <p:nvPr/>
        </p:nvSpPr>
        <p:spPr>
          <a:xfrm>
            <a:off x="3028950" y="2508250"/>
            <a:ext cx="104140" cy="889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rompting-0113"/>
          <p:cNvSpPr/>
          <p:nvPr/>
        </p:nvSpPr>
        <p:spPr>
          <a:xfrm>
            <a:off x="3060700" y="2531110"/>
            <a:ext cx="43180" cy="5461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prompting-0114"/>
          <p:cNvCxnSpPr/>
          <p:nvPr/>
        </p:nvCxnSpPr>
        <p:spPr>
          <a:xfrm flipH="1">
            <a:off x="3048000" y="2470150"/>
            <a:ext cx="34290" cy="66040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prompting-0115"/>
          <p:cNvCxnSpPr/>
          <p:nvPr/>
        </p:nvCxnSpPr>
        <p:spPr>
          <a:xfrm>
            <a:off x="3232150" y="2584450"/>
            <a:ext cx="4445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prompting-0116"/>
          <p:cNvSpPr/>
          <p:nvPr/>
        </p:nvSpPr>
        <p:spPr>
          <a:xfrm>
            <a:off x="3676650" y="2305050"/>
            <a:ext cx="2044700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rompting-0117"/>
          <p:cNvSpPr/>
          <p:nvPr/>
        </p:nvSpPr>
        <p:spPr>
          <a:xfrm>
            <a:off x="374650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rompting-0118"/>
          <p:cNvSpPr/>
          <p:nvPr/>
        </p:nvSpPr>
        <p:spPr>
          <a:xfrm>
            <a:off x="377190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rompting-0119"/>
          <p:cNvSpPr/>
          <p:nvPr/>
        </p:nvSpPr>
        <p:spPr>
          <a:xfrm>
            <a:off x="377190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prompting-0120"/>
          <p:cNvSpPr/>
          <p:nvPr/>
        </p:nvSpPr>
        <p:spPr>
          <a:xfrm>
            <a:off x="377190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prompting-0121"/>
          <p:cNvSpPr/>
          <p:nvPr/>
        </p:nvSpPr>
        <p:spPr>
          <a:xfrm>
            <a:off x="398145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rompting-0122"/>
          <p:cNvSpPr/>
          <p:nvPr/>
        </p:nvSpPr>
        <p:spPr>
          <a:xfrm>
            <a:off x="400685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rompting-0123"/>
          <p:cNvSpPr/>
          <p:nvPr/>
        </p:nvSpPr>
        <p:spPr>
          <a:xfrm>
            <a:off x="400685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rompting-0124"/>
          <p:cNvSpPr/>
          <p:nvPr/>
        </p:nvSpPr>
        <p:spPr>
          <a:xfrm>
            <a:off x="400685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rompting-0125"/>
          <p:cNvSpPr/>
          <p:nvPr/>
        </p:nvSpPr>
        <p:spPr>
          <a:xfrm>
            <a:off x="421640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rompting-0126"/>
          <p:cNvSpPr/>
          <p:nvPr/>
        </p:nvSpPr>
        <p:spPr>
          <a:xfrm>
            <a:off x="424180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rompting-0127"/>
          <p:cNvSpPr/>
          <p:nvPr/>
        </p:nvSpPr>
        <p:spPr>
          <a:xfrm>
            <a:off x="424180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rompting-0128"/>
          <p:cNvSpPr/>
          <p:nvPr/>
        </p:nvSpPr>
        <p:spPr>
          <a:xfrm>
            <a:off x="424180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prompting-0129"/>
          <p:cNvSpPr/>
          <p:nvPr/>
        </p:nvSpPr>
        <p:spPr>
          <a:xfrm>
            <a:off x="445135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rompting-0130"/>
          <p:cNvSpPr/>
          <p:nvPr/>
        </p:nvSpPr>
        <p:spPr>
          <a:xfrm>
            <a:off x="447675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prompting-0131"/>
          <p:cNvSpPr/>
          <p:nvPr/>
        </p:nvSpPr>
        <p:spPr>
          <a:xfrm>
            <a:off x="447675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prompting-0132"/>
          <p:cNvSpPr/>
          <p:nvPr/>
        </p:nvSpPr>
        <p:spPr>
          <a:xfrm>
            <a:off x="447675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rompting-0133"/>
          <p:cNvSpPr/>
          <p:nvPr/>
        </p:nvSpPr>
        <p:spPr>
          <a:xfrm>
            <a:off x="468630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rompting-0134"/>
          <p:cNvSpPr/>
          <p:nvPr/>
        </p:nvSpPr>
        <p:spPr>
          <a:xfrm>
            <a:off x="471170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rompting-0135"/>
          <p:cNvSpPr/>
          <p:nvPr/>
        </p:nvSpPr>
        <p:spPr>
          <a:xfrm>
            <a:off x="471170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prompting-0136"/>
          <p:cNvSpPr/>
          <p:nvPr/>
        </p:nvSpPr>
        <p:spPr>
          <a:xfrm>
            <a:off x="471170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prompting-0137"/>
          <p:cNvSpPr/>
          <p:nvPr/>
        </p:nvSpPr>
        <p:spPr>
          <a:xfrm>
            <a:off x="492125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prompting-0138"/>
          <p:cNvSpPr/>
          <p:nvPr/>
        </p:nvSpPr>
        <p:spPr>
          <a:xfrm>
            <a:off x="494665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prompting-0139"/>
          <p:cNvSpPr/>
          <p:nvPr/>
        </p:nvSpPr>
        <p:spPr>
          <a:xfrm>
            <a:off x="494665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rompting-0140"/>
          <p:cNvSpPr/>
          <p:nvPr/>
        </p:nvSpPr>
        <p:spPr>
          <a:xfrm>
            <a:off x="494665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prompting-0141"/>
          <p:cNvSpPr/>
          <p:nvPr/>
        </p:nvSpPr>
        <p:spPr>
          <a:xfrm>
            <a:off x="515620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prompting-0142"/>
          <p:cNvSpPr/>
          <p:nvPr/>
        </p:nvSpPr>
        <p:spPr>
          <a:xfrm>
            <a:off x="518160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prompting-0143"/>
          <p:cNvSpPr/>
          <p:nvPr/>
        </p:nvSpPr>
        <p:spPr>
          <a:xfrm>
            <a:off x="518160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prompting-0144"/>
          <p:cNvSpPr/>
          <p:nvPr/>
        </p:nvSpPr>
        <p:spPr>
          <a:xfrm>
            <a:off x="518160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prompting-0145"/>
          <p:cNvSpPr/>
          <p:nvPr/>
        </p:nvSpPr>
        <p:spPr>
          <a:xfrm>
            <a:off x="5391150" y="236220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prompting-0146"/>
          <p:cNvSpPr/>
          <p:nvPr/>
        </p:nvSpPr>
        <p:spPr>
          <a:xfrm>
            <a:off x="5416550" y="2400300"/>
            <a:ext cx="762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prompting-0147"/>
          <p:cNvSpPr/>
          <p:nvPr/>
        </p:nvSpPr>
        <p:spPr>
          <a:xfrm>
            <a:off x="5416550" y="2514600"/>
            <a:ext cx="762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rompting-0148"/>
          <p:cNvSpPr/>
          <p:nvPr/>
        </p:nvSpPr>
        <p:spPr>
          <a:xfrm>
            <a:off x="5416550" y="2628900"/>
            <a:ext cx="762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prompting-0149"/>
          <p:cNvSpPr txBox="1"/>
          <p:nvPr/>
        </p:nvSpPr>
        <p:spPr>
          <a:xfrm>
            <a:off x="3917950" y="2470150"/>
            <a:ext cx="1587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151" name="prompting-0150"/>
          <p:cNvSpPr txBox="1"/>
          <p:nvPr/>
        </p:nvSpPr>
        <p:spPr>
          <a:xfrm>
            <a:off x="2654300" y="2781300"/>
            <a:ext cx="13017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D7D31"/>
                </a:solidFill>
                <a:latin typeface="Liberation Serif"/>
              </a:rPr>
              <a:t>Discrete Prompt Tokens</a:t>
            </a:r>
          </a:p>
        </p:txBody>
      </p:sp>
      <p:sp>
        <p:nvSpPr>
          <p:cNvPr id="152" name="prompting-0151"/>
          <p:cNvSpPr/>
          <p:nvPr/>
        </p:nvSpPr>
        <p:spPr>
          <a:xfrm>
            <a:off x="4044950" y="2813050"/>
            <a:ext cx="133350" cy="133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rompting-0152"/>
          <p:cNvSpPr txBox="1"/>
          <p:nvPr/>
        </p:nvSpPr>
        <p:spPr>
          <a:xfrm>
            <a:off x="4044950" y="2806700"/>
            <a:ext cx="13335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154" name="prompting-0153"/>
          <p:cNvSpPr txBox="1"/>
          <p:nvPr/>
        </p:nvSpPr>
        <p:spPr>
          <a:xfrm>
            <a:off x="4159250" y="2781300"/>
            <a:ext cx="14668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72C4"/>
                </a:solidFill>
                <a:latin typeface="Liberation Serif"/>
              </a:rPr>
              <a:t>Continuous Input Tokens  x_e</a:t>
            </a:r>
          </a:p>
        </p:txBody>
      </p:sp>
      <p:sp>
        <p:nvSpPr>
          <p:cNvPr id="155" name="prompting-0154"/>
          <p:cNvSpPr txBox="1"/>
          <p:nvPr/>
        </p:nvSpPr>
        <p:spPr>
          <a:xfrm>
            <a:off x="533400" y="2838450"/>
            <a:ext cx="206375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8D8D8D"/>
                </a:solidFill>
                <a:latin typeface="Liberation Serif"/>
              </a:rPr>
              <a:t>Top-k Similarity &amp; Softmax Calculation</a:t>
            </a:r>
          </a:p>
        </p:txBody>
      </p:sp>
      <p:sp>
        <p:nvSpPr>
          <p:cNvPr id="156" name="prompting-0155"/>
          <p:cNvSpPr/>
          <p:nvPr/>
        </p:nvSpPr>
        <p:spPr>
          <a:xfrm>
            <a:off x="203200" y="3022600"/>
            <a:ext cx="292100" cy="660400"/>
          </a:xfrm>
          <a:prstGeom prst="roundRect">
            <a:avLst>
              <a:gd name="adj" fmla="val 15217"/>
            </a:avLst>
          </a:prstGeom>
          <a:solidFill>
            <a:srgbClr val="F7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prompting-0156"/>
          <p:cNvSpPr txBox="1"/>
          <p:nvPr/>
        </p:nvSpPr>
        <p:spPr>
          <a:xfrm rot="16200000">
            <a:off x="247650" y="3054350"/>
            <a:ext cx="203200" cy="488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Projection</a:t>
            </a:r>
          </a:p>
        </p:txBody>
      </p:sp>
      <p:sp>
        <p:nvSpPr>
          <p:cNvPr id="158" name="prompting-0157"/>
          <p:cNvSpPr/>
          <p:nvPr/>
        </p:nvSpPr>
        <p:spPr>
          <a:xfrm>
            <a:off x="361950" y="3526789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prompting-0158"/>
          <p:cNvSpPr/>
          <p:nvPr/>
        </p:nvSpPr>
        <p:spPr>
          <a:xfrm>
            <a:off x="390525" y="3547363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prompting-0159"/>
          <p:cNvCxnSpPr/>
          <p:nvPr/>
        </p:nvCxnSpPr>
        <p:spPr>
          <a:xfrm flipH="1">
            <a:off x="379095" y="3492499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prompting-0160"/>
          <p:cNvCxnSpPr/>
          <p:nvPr/>
        </p:nvCxnSpPr>
        <p:spPr>
          <a:xfrm>
            <a:off x="495300" y="3219450"/>
            <a:ext cx="222250" cy="0"/>
          </a:xfrm>
          <a:prstGeom prst="line">
            <a:avLst/>
          </a:prstGeom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prompting-0161"/>
          <p:cNvSpPr/>
          <p:nvPr/>
        </p:nvSpPr>
        <p:spPr>
          <a:xfrm>
            <a:off x="730250" y="3067050"/>
            <a:ext cx="139700" cy="292100"/>
          </a:xfrm>
          <a:prstGeom prst="rect">
            <a:avLst/>
          </a:prstGeom>
          <a:solidFill>
            <a:srgbClr val="66666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rompting-0162"/>
          <p:cNvSpPr txBox="1"/>
          <p:nvPr/>
        </p:nvSpPr>
        <p:spPr>
          <a:xfrm>
            <a:off x="717550" y="3028950"/>
            <a:ext cx="177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x_e</a:t>
            </a:r>
          </a:p>
        </p:txBody>
      </p:sp>
      <p:sp>
        <p:nvSpPr>
          <p:cNvPr id="164" name="prompting-0163"/>
          <p:cNvSpPr/>
          <p:nvPr/>
        </p:nvSpPr>
        <p:spPr>
          <a:xfrm>
            <a:off x="908050" y="3130550"/>
            <a:ext cx="139700" cy="139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mpting-0164"/>
          <p:cNvSpPr txBox="1"/>
          <p:nvPr/>
        </p:nvSpPr>
        <p:spPr>
          <a:xfrm>
            <a:off x="908050" y="3117850"/>
            <a:ext cx="1397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•</a:t>
            </a:r>
          </a:p>
        </p:txBody>
      </p:sp>
      <p:sp>
        <p:nvSpPr>
          <p:cNvPr id="166" name="prompting-0165"/>
          <p:cNvSpPr/>
          <p:nvPr/>
        </p:nvSpPr>
        <p:spPr>
          <a:xfrm>
            <a:off x="1104900" y="3067050"/>
            <a:ext cx="133350" cy="273050"/>
          </a:xfrm>
          <a:prstGeom prst="rect">
            <a:avLst/>
          </a:prstGeom>
          <a:solidFill>
            <a:srgbClr val="E58B8B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rompting-0166"/>
          <p:cNvSpPr txBox="1"/>
          <p:nvPr/>
        </p:nvSpPr>
        <p:spPr>
          <a:xfrm>
            <a:off x="10985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p1</a:t>
            </a:r>
          </a:p>
        </p:txBody>
      </p:sp>
      <p:sp>
        <p:nvSpPr>
          <p:cNvPr id="168" name="prompting-0167"/>
          <p:cNvSpPr/>
          <p:nvPr/>
        </p:nvSpPr>
        <p:spPr>
          <a:xfrm>
            <a:off x="1308100" y="3067050"/>
            <a:ext cx="133350" cy="273050"/>
          </a:xfrm>
          <a:prstGeom prst="rect">
            <a:avLst/>
          </a:prstGeom>
          <a:solidFill>
            <a:srgbClr val="F29B9B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rompting-0168"/>
          <p:cNvSpPr txBox="1"/>
          <p:nvPr/>
        </p:nvSpPr>
        <p:spPr>
          <a:xfrm>
            <a:off x="13017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p2</a:t>
            </a:r>
          </a:p>
        </p:txBody>
      </p:sp>
      <p:sp>
        <p:nvSpPr>
          <p:cNvPr id="170" name="prompting-0169"/>
          <p:cNvSpPr/>
          <p:nvPr/>
        </p:nvSpPr>
        <p:spPr>
          <a:xfrm>
            <a:off x="1511300" y="3067050"/>
            <a:ext cx="133350" cy="273050"/>
          </a:xfrm>
          <a:prstGeom prst="rect">
            <a:avLst/>
          </a:prstGeom>
          <a:solidFill>
            <a:srgbClr val="DD7F7F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prompting-0170"/>
          <p:cNvSpPr txBox="1"/>
          <p:nvPr/>
        </p:nvSpPr>
        <p:spPr>
          <a:xfrm>
            <a:off x="15049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p3</a:t>
            </a:r>
          </a:p>
        </p:txBody>
      </p:sp>
      <p:sp>
        <p:nvSpPr>
          <p:cNvPr id="172" name="prompting-0171"/>
          <p:cNvSpPr/>
          <p:nvPr/>
        </p:nvSpPr>
        <p:spPr>
          <a:xfrm>
            <a:off x="1714500" y="3067050"/>
            <a:ext cx="133350" cy="273050"/>
          </a:xfrm>
          <a:prstGeom prst="rect">
            <a:avLst/>
          </a:prstGeom>
          <a:solidFill>
            <a:srgbClr val="E98B8B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rompting-0172"/>
          <p:cNvSpPr txBox="1"/>
          <p:nvPr/>
        </p:nvSpPr>
        <p:spPr>
          <a:xfrm>
            <a:off x="17081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p4</a:t>
            </a:r>
          </a:p>
        </p:txBody>
      </p:sp>
      <p:sp>
        <p:nvSpPr>
          <p:cNvPr id="174" name="prompting-0173"/>
          <p:cNvSpPr/>
          <p:nvPr/>
        </p:nvSpPr>
        <p:spPr>
          <a:xfrm>
            <a:off x="1917700" y="3067050"/>
            <a:ext cx="133350" cy="273050"/>
          </a:xfrm>
          <a:prstGeom prst="rect">
            <a:avLst/>
          </a:prstGeom>
          <a:solidFill>
            <a:srgbClr val="E47676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rompting-0174"/>
          <p:cNvSpPr txBox="1"/>
          <p:nvPr/>
        </p:nvSpPr>
        <p:spPr>
          <a:xfrm>
            <a:off x="19113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p5</a:t>
            </a:r>
          </a:p>
        </p:txBody>
      </p:sp>
      <p:sp>
        <p:nvSpPr>
          <p:cNvPr id="176" name="prompting-0175"/>
          <p:cNvSpPr/>
          <p:nvPr/>
        </p:nvSpPr>
        <p:spPr>
          <a:xfrm>
            <a:off x="2120900" y="3067050"/>
            <a:ext cx="133350" cy="273050"/>
          </a:xfrm>
          <a:prstGeom prst="rect">
            <a:avLst/>
          </a:prstGeom>
          <a:solidFill>
            <a:srgbClr val="F09A9A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prompting-0176"/>
          <p:cNvSpPr txBox="1"/>
          <p:nvPr/>
        </p:nvSpPr>
        <p:spPr>
          <a:xfrm>
            <a:off x="21145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p6</a:t>
            </a:r>
          </a:p>
        </p:txBody>
      </p:sp>
      <p:sp>
        <p:nvSpPr>
          <p:cNvPr id="178" name="prompting-0177"/>
          <p:cNvSpPr/>
          <p:nvPr/>
        </p:nvSpPr>
        <p:spPr>
          <a:xfrm>
            <a:off x="2324100" y="3067050"/>
            <a:ext cx="133350" cy="273050"/>
          </a:xfrm>
          <a:prstGeom prst="rect">
            <a:avLst/>
          </a:prstGeom>
          <a:solidFill>
            <a:srgbClr val="DF6E6E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prompting-0178"/>
          <p:cNvSpPr txBox="1"/>
          <p:nvPr/>
        </p:nvSpPr>
        <p:spPr>
          <a:xfrm>
            <a:off x="23177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p7</a:t>
            </a:r>
          </a:p>
        </p:txBody>
      </p:sp>
      <p:sp>
        <p:nvSpPr>
          <p:cNvPr id="180" name="prompting-0179"/>
          <p:cNvSpPr/>
          <p:nvPr/>
        </p:nvSpPr>
        <p:spPr>
          <a:xfrm>
            <a:off x="2527300" y="3067050"/>
            <a:ext cx="133350" cy="273050"/>
          </a:xfrm>
          <a:prstGeom prst="rect">
            <a:avLst/>
          </a:prstGeom>
          <a:solidFill>
            <a:srgbClr val="E88787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prompting-0180"/>
          <p:cNvSpPr txBox="1"/>
          <p:nvPr/>
        </p:nvSpPr>
        <p:spPr>
          <a:xfrm>
            <a:off x="2520950" y="3022600"/>
            <a:ext cx="1460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p8</a:t>
            </a:r>
          </a:p>
        </p:txBody>
      </p:sp>
      <p:sp>
        <p:nvSpPr>
          <p:cNvPr id="182" name="prompting-0181"/>
          <p:cNvSpPr/>
          <p:nvPr/>
        </p:nvSpPr>
        <p:spPr>
          <a:xfrm>
            <a:off x="1085850" y="3003550"/>
            <a:ext cx="368300" cy="39370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prompting-0182"/>
          <p:cNvSpPr txBox="1"/>
          <p:nvPr/>
        </p:nvSpPr>
        <p:spPr>
          <a:xfrm>
            <a:off x="1085850" y="3397249"/>
            <a:ext cx="368300" cy="12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α1</a:t>
            </a:r>
          </a:p>
        </p:txBody>
      </p:sp>
      <p:sp>
        <p:nvSpPr>
          <p:cNvPr id="184" name="prompting-0183"/>
          <p:cNvSpPr/>
          <p:nvPr/>
        </p:nvSpPr>
        <p:spPr>
          <a:xfrm>
            <a:off x="1485900" y="3003550"/>
            <a:ext cx="584200" cy="39370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prompting-0184"/>
          <p:cNvSpPr txBox="1"/>
          <p:nvPr/>
        </p:nvSpPr>
        <p:spPr>
          <a:xfrm>
            <a:off x="1485900" y="3397249"/>
            <a:ext cx="584200" cy="12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α2</a:t>
            </a:r>
          </a:p>
        </p:txBody>
      </p:sp>
      <p:sp>
        <p:nvSpPr>
          <p:cNvPr id="186" name="prompting-0185"/>
          <p:cNvSpPr/>
          <p:nvPr/>
        </p:nvSpPr>
        <p:spPr>
          <a:xfrm>
            <a:off x="2108200" y="3003550"/>
            <a:ext cx="546100" cy="39370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prompting-0186"/>
          <p:cNvSpPr txBox="1"/>
          <p:nvPr/>
        </p:nvSpPr>
        <p:spPr>
          <a:xfrm>
            <a:off x="2108200" y="3397249"/>
            <a:ext cx="546100" cy="12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α3</a:t>
            </a:r>
          </a:p>
        </p:txBody>
      </p:sp>
      <p:cxnSp>
        <p:nvCxnSpPr>
          <p:cNvPr id="188" name="prompting-0187"/>
          <p:cNvCxnSpPr/>
          <p:nvPr/>
        </p:nvCxnSpPr>
        <p:spPr>
          <a:xfrm>
            <a:off x="2673350" y="3213100"/>
            <a:ext cx="387350" cy="0"/>
          </a:xfrm>
          <a:prstGeom prst="line">
            <a:avLst/>
          </a:prstGeom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prompting-0188"/>
          <p:cNvSpPr/>
          <p:nvPr/>
        </p:nvSpPr>
        <p:spPr>
          <a:xfrm>
            <a:off x="2628900" y="3347084"/>
            <a:ext cx="88519" cy="75565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prompting-0189"/>
          <p:cNvSpPr/>
          <p:nvPr/>
        </p:nvSpPr>
        <p:spPr>
          <a:xfrm>
            <a:off x="2655887" y="3366515"/>
            <a:ext cx="36703" cy="4641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prompting-0190"/>
          <p:cNvCxnSpPr/>
          <p:nvPr/>
        </p:nvCxnSpPr>
        <p:spPr>
          <a:xfrm flipH="1">
            <a:off x="2645092" y="3314699"/>
            <a:ext cx="29147" cy="56134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prompting-0191"/>
          <p:cNvSpPr txBox="1"/>
          <p:nvPr/>
        </p:nvSpPr>
        <p:spPr>
          <a:xfrm>
            <a:off x="2470150" y="3441699"/>
            <a:ext cx="4762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Patchify</a:t>
            </a:r>
          </a:p>
        </p:txBody>
      </p:sp>
      <p:sp>
        <p:nvSpPr>
          <p:cNvPr id="193" name="prompting-0192"/>
          <p:cNvSpPr/>
          <p:nvPr/>
        </p:nvSpPr>
        <p:spPr>
          <a:xfrm>
            <a:off x="3060700" y="3016250"/>
            <a:ext cx="62865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prompting-0193"/>
          <p:cNvSpPr/>
          <p:nvPr/>
        </p:nvSpPr>
        <p:spPr>
          <a:xfrm>
            <a:off x="3117850" y="306705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prompting-0194"/>
          <p:cNvSpPr/>
          <p:nvPr/>
        </p:nvSpPr>
        <p:spPr>
          <a:xfrm>
            <a:off x="3143250" y="3105150"/>
            <a:ext cx="762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prompting-0195"/>
          <p:cNvSpPr/>
          <p:nvPr/>
        </p:nvSpPr>
        <p:spPr>
          <a:xfrm>
            <a:off x="3143250" y="3219450"/>
            <a:ext cx="7620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prompting-0196"/>
          <p:cNvSpPr/>
          <p:nvPr/>
        </p:nvSpPr>
        <p:spPr>
          <a:xfrm>
            <a:off x="3143250" y="3333749"/>
            <a:ext cx="762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prompting-0197"/>
          <p:cNvSpPr/>
          <p:nvPr/>
        </p:nvSpPr>
        <p:spPr>
          <a:xfrm>
            <a:off x="3314700" y="306705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prompting-0198"/>
          <p:cNvSpPr/>
          <p:nvPr/>
        </p:nvSpPr>
        <p:spPr>
          <a:xfrm>
            <a:off x="3340100" y="3105150"/>
            <a:ext cx="762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prompting-0199"/>
          <p:cNvSpPr/>
          <p:nvPr/>
        </p:nvSpPr>
        <p:spPr>
          <a:xfrm>
            <a:off x="3340100" y="3219450"/>
            <a:ext cx="7620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prompting-0200"/>
          <p:cNvSpPr/>
          <p:nvPr/>
        </p:nvSpPr>
        <p:spPr>
          <a:xfrm>
            <a:off x="3340100" y="3333749"/>
            <a:ext cx="762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prompting-0201"/>
          <p:cNvSpPr/>
          <p:nvPr/>
        </p:nvSpPr>
        <p:spPr>
          <a:xfrm>
            <a:off x="3511550" y="3067050"/>
            <a:ext cx="127000" cy="3683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prompting-0202"/>
          <p:cNvSpPr/>
          <p:nvPr/>
        </p:nvSpPr>
        <p:spPr>
          <a:xfrm>
            <a:off x="3536950" y="3105150"/>
            <a:ext cx="762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prompting-0203"/>
          <p:cNvSpPr/>
          <p:nvPr/>
        </p:nvSpPr>
        <p:spPr>
          <a:xfrm>
            <a:off x="3536950" y="3219450"/>
            <a:ext cx="7620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prompting-0204"/>
          <p:cNvSpPr/>
          <p:nvPr/>
        </p:nvSpPr>
        <p:spPr>
          <a:xfrm>
            <a:off x="3536950" y="3333749"/>
            <a:ext cx="762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prompting-0205"/>
          <p:cNvSpPr txBox="1"/>
          <p:nvPr/>
        </p:nvSpPr>
        <p:spPr>
          <a:xfrm>
            <a:off x="3251200" y="3505199"/>
            <a:ext cx="22225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00000"/>
                </a:solidFill>
                <a:latin typeface="Liberation Serif"/>
              </a:rPr>
              <a:t>x_p</a:t>
            </a:r>
          </a:p>
        </p:txBody>
      </p:sp>
      <p:cxnSp>
        <p:nvCxnSpPr>
          <p:cNvPr id="207" name="prompting-0206"/>
          <p:cNvCxnSpPr/>
          <p:nvPr/>
        </p:nvCxnSpPr>
        <p:spPr>
          <a:xfrm>
            <a:off x="4108450" y="2946400"/>
            <a:ext cx="0" cy="24130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prompting-0207"/>
          <p:cNvSpPr txBox="1"/>
          <p:nvPr/>
        </p:nvSpPr>
        <p:spPr>
          <a:xfrm>
            <a:off x="3714750" y="3016250"/>
            <a:ext cx="40005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8D8D8D"/>
                </a:solidFill>
                <a:latin typeface="Liberation Serif"/>
              </a:rPr>
              <a:t>Concat</a:t>
            </a:r>
          </a:p>
        </p:txBody>
      </p:sp>
      <p:sp>
        <p:nvSpPr>
          <p:cNvPr id="209" name="prompting-0208"/>
          <p:cNvSpPr txBox="1"/>
          <p:nvPr/>
        </p:nvSpPr>
        <p:spPr>
          <a:xfrm>
            <a:off x="4724400" y="2984500"/>
            <a:ext cx="10033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00000"/>
                </a:solidFill>
                <a:latin typeface="Liberation Serif"/>
              </a:rPr>
              <a:t>Contextual Input</a:t>
            </a:r>
          </a:p>
        </p:txBody>
      </p:sp>
      <p:sp>
        <p:nvSpPr>
          <p:cNvPr id="210" name="prompting-0209"/>
          <p:cNvSpPr/>
          <p:nvPr/>
        </p:nvSpPr>
        <p:spPr>
          <a:xfrm>
            <a:off x="3810000" y="3175000"/>
            <a:ext cx="1911350" cy="3492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prompting-0210"/>
          <p:cNvSpPr/>
          <p:nvPr/>
        </p:nvSpPr>
        <p:spPr>
          <a:xfrm>
            <a:off x="384810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prompting-0211"/>
          <p:cNvSpPr txBox="1"/>
          <p:nvPr/>
        </p:nvSpPr>
        <p:spPr>
          <a:xfrm>
            <a:off x="384810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*1</a:t>
            </a:r>
          </a:p>
        </p:txBody>
      </p:sp>
      <p:sp>
        <p:nvSpPr>
          <p:cNvPr id="213" name="prompting-0212"/>
          <p:cNvSpPr/>
          <p:nvPr/>
        </p:nvSpPr>
        <p:spPr>
          <a:xfrm>
            <a:off x="407035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rompting-0213"/>
          <p:cNvSpPr txBox="1"/>
          <p:nvPr/>
        </p:nvSpPr>
        <p:spPr>
          <a:xfrm>
            <a:off x="407035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215" name="prompting-0214"/>
          <p:cNvSpPr/>
          <p:nvPr/>
        </p:nvSpPr>
        <p:spPr>
          <a:xfrm>
            <a:off x="429260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prompting-0215"/>
          <p:cNvSpPr txBox="1"/>
          <p:nvPr/>
        </p:nvSpPr>
        <p:spPr>
          <a:xfrm>
            <a:off x="429260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*N</a:t>
            </a:r>
          </a:p>
        </p:txBody>
      </p:sp>
      <p:sp>
        <p:nvSpPr>
          <p:cNvPr id="217" name="prompting-0216"/>
          <p:cNvSpPr/>
          <p:nvPr/>
        </p:nvSpPr>
        <p:spPr>
          <a:xfrm>
            <a:off x="451485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prompting-0217"/>
          <p:cNvSpPr txBox="1"/>
          <p:nvPr/>
        </p:nvSpPr>
        <p:spPr>
          <a:xfrm>
            <a:off x="451485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*0</a:t>
            </a:r>
          </a:p>
        </p:txBody>
      </p:sp>
      <p:sp>
        <p:nvSpPr>
          <p:cNvPr id="219" name="prompting-0218"/>
          <p:cNvSpPr/>
          <p:nvPr/>
        </p:nvSpPr>
        <p:spPr>
          <a:xfrm>
            <a:off x="473710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prompting-0219"/>
          <p:cNvSpPr txBox="1"/>
          <p:nvPr/>
        </p:nvSpPr>
        <p:spPr>
          <a:xfrm>
            <a:off x="473710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*1</a:t>
            </a:r>
          </a:p>
        </p:txBody>
      </p:sp>
      <p:sp>
        <p:nvSpPr>
          <p:cNvPr id="221" name="prompting-0220"/>
          <p:cNvSpPr/>
          <p:nvPr/>
        </p:nvSpPr>
        <p:spPr>
          <a:xfrm>
            <a:off x="495935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prompting-0221"/>
          <p:cNvSpPr txBox="1"/>
          <p:nvPr/>
        </p:nvSpPr>
        <p:spPr>
          <a:xfrm>
            <a:off x="495935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*2</a:t>
            </a:r>
          </a:p>
        </p:txBody>
      </p:sp>
      <p:sp>
        <p:nvSpPr>
          <p:cNvPr id="223" name="prompting-0222"/>
          <p:cNvSpPr/>
          <p:nvPr/>
        </p:nvSpPr>
        <p:spPr>
          <a:xfrm>
            <a:off x="518160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prompting-0223"/>
          <p:cNvSpPr txBox="1"/>
          <p:nvPr/>
        </p:nvSpPr>
        <p:spPr>
          <a:xfrm>
            <a:off x="518160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225" name="prompting-0224"/>
          <p:cNvSpPr/>
          <p:nvPr/>
        </p:nvSpPr>
        <p:spPr>
          <a:xfrm>
            <a:off x="5403850" y="3225800"/>
            <a:ext cx="171450" cy="2349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prompting-0225"/>
          <p:cNvSpPr txBox="1"/>
          <p:nvPr/>
        </p:nvSpPr>
        <p:spPr>
          <a:xfrm>
            <a:off x="5403850" y="3232150"/>
            <a:ext cx="171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*L</a:t>
            </a:r>
          </a:p>
        </p:txBody>
      </p:sp>
      <p:sp>
        <p:nvSpPr>
          <p:cNvPr id="227" name="prompting-0226"/>
          <p:cNvSpPr txBox="1"/>
          <p:nvPr/>
        </p:nvSpPr>
        <p:spPr>
          <a:xfrm>
            <a:off x="5137150" y="3517899"/>
            <a:ext cx="381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00000"/>
                </a:solidFill>
                <a:latin typeface="Liberation Serif"/>
              </a:rPr>
              <a:t>x_ctx</a:t>
            </a:r>
          </a:p>
        </p:txBody>
      </p:sp>
      <p:cxnSp>
        <p:nvCxnSpPr>
          <p:cNvPr id="228" name="prompting-0227"/>
          <p:cNvCxnSpPr/>
          <p:nvPr/>
        </p:nvCxnSpPr>
        <p:spPr>
          <a:xfrm>
            <a:off x="4826000" y="3524249"/>
            <a:ext cx="0" cy="641350"/>
          </a:xfrm>
          <a:prstGeom prst="line">
            <a:avLst/>
          </a:prstGeom>
          <a:ln w="11429">
            <a:solidFill>
              <a:srgbClr val="8D8D8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pretraining-0228"/>
          <p:cNvSpPr txBox="1"/>
          <p:nvPr/>
        </p:nvSpPr>
        <p:spPr>
          <a:xfrm>
            <a:off x="1809750" y="3911599"/>
            <a:ext cx="228600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Liberation Serif"/>
              </a:rPr>
              <a:t>Multi-Task Pretraining</a:t>
            </a:r>
          </a:p>
        </p:txBody>
      </p:sp>
      <p:sp>
        <p:nvSpPr>
          <p:cNvPr id="230" name="pretraining-0229"/>
          <p:cNvSpPr txBox="1"/>
          <p:nvPr/>
        </p:nvSpPr>
        <p:spPr>
          <a:xfrm>
            <a:off x="177800" y="4311649"/>
            <a:ext cx="4762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Encoder</a:t>
            </a:r>
          </a:p>
        </p:txBody>
      </p:sp>
      <p:sp>
        <p:nvSpPr>
          <p:cNvPr id="231" name="pretraining-0230"/>
          <p:cNvSpPr txBox="1"/>
          <p:nvPr/>
        </p:nvSpPr>
        <p:spPr>
          <a:xfrm>
            <a:off x="177800" y="4838699"/>
            <a:ext cx="4762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Decoder</a:t>
            </a:r>
          </a:p>
        </p:txBody>
      </p:sp>
      <p:sp>
        <p:nvSpPr>
          <p:cNvPr id="232" name="pretraining-0231"/>
          <p:cNvSpPr/>
          <p:nvPr/>
        </p:nvSpPr>
        <p:spPr>
          <a:xfrm>
            <a:off x="717550" y="4184649"/>
            <a:ext cx="4692650" cy="203200"/>
          </a:xfrm>
          <a:prstGeom prst="roundRect">
            <a:avLst>
              <a:gd name="adj" fmla="val 18750"/>
            </a:avLst>
          </a:prstGeom>
          <a:solidFill>
            <a:srgbClr val="E2F0D9"/>
          </a:solidFill>
          <a:ln w="1047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pretraining-0232"/>
          <p:cNvSpPr/>
          <p:nvPr/>
        </p:nvSpPr>
        <p:spPr>
          <a:xfrm>
            <a:off x="781050" y="4250689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pretraining-0233"/>
          <p:cNvSpPr/>
          <p:nvPr/>
        </p:nvSpPr>
        <p:spPr>
          <a:xfrm>
            <a:off x="809625" y="4271263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pretraining-0234"/>
          <p:cNvCxnSpPr/>
          <p:nvPr/>
        </p:nvCxnSpPr>
        <p:spPr>
          <a:xfrm flipH="1">
            <a:off x="798195" y="4216399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pretraining-0235"/>
          <p:cNvSpPr txBox="1"/>
          <p:nvPr/>
        </p:nvSpPr>
        <p:spPr>
          <a:xfrm>
            <a:off x="1860550" y="4190999"/>
            <a:ext cx="3175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Multi-Head Attention</a:t>
            </a:r>
          </a:p>
        </p:txBody>
      </p:sp>
      <p:sp>
        <p:nvSpPr>
          <p:cNvPr id="237" name="pretraining-0236"/>
          <p:cNvSpPr/>
          <p:nvPr/>
        </p:nvSpPr>
        <p:spPr>
          <a:xfrm>
            <a:off x="717550" y="4438649"/>
            <a:ext cx="4692650" cy="203200"/>
          </a:xfrm>
          <a:prstGeom prst="roundRect">
            <a:avLst>
              <a:gd name="adj" fmla="val 18750"/>
            </a:avLst>
          </a:prstGeom>
          <a:solidFill>
            <a:srgbClr val="EAEDF2"/>
          </a:solidFill>
          <a:ln w="1047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pretraining-0237"/>
          <p:cNvSpPr/>
          <p:nvPr/>
        </p:nvSpPr>
        <p:spPr>
          <a:xfrm>
            <a:off x="781050" y="4504689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pretraining-0238"/>
          <p:cNvSpPr/>
          <p:nvPr/>
        </p:nvSpPr>
        <p:spPr>
          <a:xfrm>
            <a:off x="809625" y="4525263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pretraining-0239"/>
          <p:cNvCxnSpPr/>
          <p:nvPr/>
        </p:nvCxnSpPr>
        <p:spPr>
          <a:xfrm flipH="1">
            <a:off x="798195" y="4470399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pretraining-0240"/>
          <p:cNvSpPr txBox="1"/>
          <p:nvPr/>
        </p:nvSpPr>
        <p:spPr>
          <a:xfrm>
            <a:off x="1860550" y="4444999"/>
            <a:ext cx="3175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Feed Forward Network</a:t>
            </a:r>
          </a:p>
        </p:txBody>
      </p:sp>
      <p:sp>
        <p:nvSpPr>
          <p:cNvPr id="242" name="pretraining-0241"/>
          <p:cNvSpPr/>
          <p:nvPr/>
        </p:nvSpPr>
        <p:spPr>
          <a:xfrm>
            <a:off x="717550" y="4737099"/>
            <a:ext cx="4692650" cy="203200"/>
          </a:xfrm>
          <a:prstGeom prst="roundRect">
            <a:avLst>
              <a:gd name="adj" fmla="val 18750"/>
            </a:avLst>
          </a:prstGeom>
          <a:solidFill>
            <a:srgbClr val="E2F0D9"/>
          </a:solidFill>
          <a:ln w="1047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pretraining-0242"/>
          <p:cNvSpPr/>
          <p:nvPr/>
        </p:nvSpPr>
        <p:spPr>
          <a:xfrm>
            <a:off x="781050" y="4803139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pretraining-0243"/>
          <p:cNvSpPr/>
          <p:nvPr/>
        </p:nvSpPr>
        <p:spPr>
          <a:xfrm>
            <a:off x="809625" y="4823713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pretraining-0244"/>
          <p:cNvCxnSpPr/>
          <p:nvPr/>
        </p:nvCxnSpPr>
        <p:spPr>
          <a:xfrm flipH="1">
            <a:off x="798195" y="4768849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pretraining-0245"/>
          <p:cNvSpPr txBox="1"/>
          <p:nvPr/>
        </p:nvSpPr>
        <p:spPr>
          <a:xfrm>
            <a:off x="1860550" y="4743449"/>
            <a:ext cx="3175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Multi-Head Attention</a:t>
            </a:r>
          </a:p>
        </p:txBody>
      </p:sp>
      <p:sp>
        <p:nvSpPr>
          <p:cNvPr id="247" name="pretraining-0246"/>
          <p:cNvSpPr/>
          <p:nvPr/>
        </p:nvSpPr>
        <p:spPr>
          <a:xfrm>
            <a:off x="717550" y="4991099"/>
            <a:ext cx="4692650" cy="203200"/>
          </a:xfrm>
          <a:prstGeom prst="roundRect">
            <a:avLst>
              <a:gd name="adj" fmla="val 18750"/>
            </a:avLst>
          </a:prstGeom>
          <a:solidFill>
            <a:srgbClr val="EAEDF2"/>
          </a:solidFill>
          <a:ln w="1047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pretraining-0247"/>
          <p:cNvSpPr/>
          <p:nvPr/>
        </p:nvSpPr>
        <p:spPr>
          <a:xfrm>
            <a:off x="781050" y="5057139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retraining-0248"/>
          <p:cNvSpPr/>
          <p:nvPr/>
        </p:nvSpPr>
        <p:spPr>
          <a:xfrm>
            <a:off x="809625" y="5077713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pretraining-0249"/>
          <p:cNvCxnSpPr/>
          <p:nvPr/>
        </p:nvCxnSpPr>
        <p:spPr>
          <a:xfrm flipH="1">
            <a:off x="798195" y="5022849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pretraining-0250"/>
          <p:cNvSpPr txBox="1"/>
          <p:nvPr/>
        </p:nvSpPr>
        <p:spPr>
          <a:xfrm>
            <a:off x="1860550" y="4997449"/>
            <a:ext cx="3175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Feed Forward Network</a:t>
            </a:r>
          </a:p>
        </p:txBody>
      </p:sp>
      <p:cxnSp>
        <p:nvCxnSpPr>
          <p:cNvPr id="252" name="pretraining-0251"/>
          <p:cNvCxnSpPr/>
          <p:nvPr/>
        </p:nvCxnSpPr>
        <p:spPr>
          <a:xfrm>
            <a:off x="3067050" y="4641849"/>
            <a:ext cx="0" cy="8890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pretraining-0252"/>
          <p:cNvCxnSpPr/>
          <p:nvPr/>
        </p:nvCxnSpPr>
        <p:spPr>
          <a:xfrm>
            <a:off x="5473700" y="4190999"/>
            <a:ext cx="0" cy="46355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pretraining-0253"/>
          <p:cNvCxnSpPr/>
          <p:nvPr/>
        </p:nvCxnSpPr>
        <p:spPr>
          <a:xfrm>
            <a:off x="5429250" y="4190999"/>
            <a:ext cx="44450" cy="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pretraining-0254"/>
          <p:cNvCxnSpPr/>
          <p:nvPr/>
        </p:nvCxnSpPr>
        <p:spPr>
          <a:xfrm>
            <a:off x="5429250" y="4654549"/>
            <a:ext cx="44450" cy="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pretraining-0255"/>
          <p:cNvSpPr txBox="1"/>
          <p:nvPr/>
        </p:nvSpPr>
        <p:spPr>
          <a:xfrm>
            <a:off x="5543550" y="4356099"/>
            <a:ext cx="31750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x N</a:t>
            </a:r>
          </a:p>
        </p:txBody>
      </p:sp>
      <p:cxnSp>
        <p:nvCxnSpPr>
          <p:cNvPr id="257" name="pretraining-0256"/>
          <p:cNvCxnSpPr/>
          <p:nvPr/>
        </p:nvCxnSpPr>
        <p:spPr>
          <a:xfrm>
            <a:off x="5473700" y="4743449"/>
            <a:ext cx="0" cy="46355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pretraining-0257"/>
          <p:cNvCxnSpPr/>
          <p:nvPr/>
        </p:nvCxnSpPr>
        <p:spPr>
          <a:xfrm>
            <a:off x="5429250" y="4743449"/>
            <a:ext cx="44450" cy="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pretraining-0258"/>
          <p:cNvCxnSpPr/>
          <p:nvPr/>
        </p:nvCxnSpPr>
        <p:spPr>
          <a:xfrm>
            <a:off x="5429250" y="5206999"/>
            <a:ext cx="44450" cy="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pretraining-0259"/>
          <p:cNvSpPr txBox="1"/>
          <p:nvPr/>
        </p:nvSpPr>
        <p:spPr>
          <a:xfrm>
            <a:off x="5543550" y="4908549"/>
            <a:ext cx="31750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x N</a:t>
            </a:r>
          </a:p>
        </p:txBody>
      </p:sp>
      <p:cxnSp>
        <p:nvCxnSpPr>
          <p:cNvPr id="261" name="pretraining-0260"/>
          <p:cNvCxnSpPr/>
          <p:nvPr/>
        </p:nvCxnSpPr>
        <p:spPr>
          <a:xfrm flipH="1">
            <a:off x="1676400" y="5200649"/>
            <a:ext cx="1403350" cy="14605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pretraining-0261"/>
          <p:cNvCxnSpPr/>
          <p:nvPr/>
        </p:nvCxnSpPr>
        <p:spPr>
          <a:xfrm>
            <a:off x="3079750" y="5200649"/>
            <a:ext cx="1466850" cy="14605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pretraining-0262"/>
          <p:cNvSpPr txBox="1"/>
          <p:nvPr/>
        </p:nvSpPr>
        <p:spPr>
          <a:xfrm>
            <a:off x="146050" y="5378449"/>
            <a:ext cx="7112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00000"/>
                </a:solidFill>
                <a:latin typeface="Liberation Serif"/>
              </a:rPr>
              <a:t>self-supervised</a:t>
            </a:r>
          </a:p>
        </p:txBody>
      </p:sp>
      <p:sp>
        <p:nvSpPr>
          <p:cNvPr id="264" name="pretraining-0263"/>
          <p:cNvSpPr txBox="1"/>
          <p:nvPr/>
        </p:nvSpPr>
        <p:spPr>
          <a:xfrm>
            <a:off x="5378450" y="5378449"/>
            <a:ext cx="5334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00000"/>
                </a:solidFill>
                <a:latin typeface="Liberation Serif"/>
              </a:rPr>
              <a:t>supervised</a:t>
            </a:r>
          </a:p>
        </p:txBody>
      </p:sp>
      <p:sp>
        <p:nvSpPr>
          <p:cNvPr id="265" name="pretraining-0264"/>
          <p:cNvSpPr/>
          <p:nvPr/>
        </p:nvSpPr>
        <p:spPr>
          <a:xfrm>
            <a:off x="863600" y="5333999"/>
            <a:ext cx="1657350" cy="273050"/>
          </a:xfrm>
          <a:prstGeom prst="roundRect">
            <a:avLst>
              <a:gd name="adj" fmla="val 18604"/>
            </a:avLst>
          </a:prstGeom>
          <a:solidFill>
            <a:srgbClr val="C5E0B5"/>
          </a:solidFill>
          <a:ln w="95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pretraining-0265"/>
          <p:cNvSpPr/>
          <p:nvPr/>
        </p:nvSpPr>
        <p:spPr>
          <a:xfrm>
            <a:off x="920750" y="5429884"/>
            <a:ext cx="88519" cy="75565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pretraining-0266"/>
          <p:cNvSpPr/>
          <p:nvPr/>
        </p:nvSpPr>
        <p:spPr>
          <a:xfrm>
            <a:off x="947737" y="5449315"/>
            <a:ext cx="36703" cy="4641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pretraining-0267"/>
          <p:cNvCxnSpPr/>
          <p:nvPr/>
        </p:nvCxnSpPr>
        <p:spPr>
          <a:xfrm flipH="1">
            <a:off x="936942" y="5397499"/>
            <a:ext cx="29147" cy="56134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pretraining-0268"/>
          <p:cNvSpPr txBox="1"/>
          <p:nvPr/>
        </p:nvSpPr>
        <p:spPr>
          <a:xfrm>
            <a:off x="1123950" y="5365749"/>
            <a:ext cx="1174750" cy="209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Recover Head</a:t>
            </a:r>
          </a:p>
        </p:txBody>
      </p:sp>
      <p:sp>
        <p:nvSpPr>
          <p:cNvPr id="270" name="pretraining-0269"/>
          <p:cNvSpPr txBox="1"/>
          <p:nvPr/>
        </p:nvSpPr>
        <p:spPr>
          <a:xfrm>
            <a:off x="2533650" y="5403849"/>
            <a:ext cx="4127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00000"/>
                </a:solidFill>
                <a:latin typeface="Liberation Serif"/>
              </a:rPr>
              <a:t>x_aug</a:t>
            </a:r>
          </a:p>
        </p:txBody>
      </p:sp>
      <p:sp>
        <p:nvSpPr>
          <p:cNvPr id="271" name="pretraining-0270"/>
          <p:cNvSpPr/>
          <p:nvPr/>
        </p:nvSpPr>
        <p:spPr>
          <a:xfrm>
            <a:off x="3702050" y="5333999"/>
            <a:ext cx="1657350" cy="273050"/>
          </a:xfrm>
          <a:prstGeom prst="roundRect">
            <a:avLst>
              <a:gd name="adj" fmla="val 18604"/>
            </a:avLst>
          </a:prstGeom>
          <a:solidFill>
            <a:srgbClr val="C5E0B5"/>
          </a:solidFill>
          <a:ln w="95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pretraining-0271"/>
          <p:cNvSpPr txBox="1"/>
          <p:nvPr/>
        </p:nvSpPr>
        <p:spPr>
          <a:xfrm>
            <a:off x="4032250" y="5365749"/>
            <a:ext cx="1047750" cy="209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Prediction Head</a:t>
            </a:r>
          </a:p>
        </p:txBody>
      </p:sp>
      <p:sp>
        <p:nvSpPr>
          <p:cNvPr id="273" name="pretraining-0272"/>
          <p:cNvSpPr/>
          <p:nvPr/>
        </p:nvSpPr>
        <p:spPr>
          <a:xfrm>
            <a:off x="5137150" y="5429884"/>
            <a:ext cx="88519" cy="75565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pretraining-0273"/>
          <p:cNvSpPr/>
          <p:nvPr/>
        </p:nvSpPr>
        <p:spPr>
          <a:xfrm>
            <a:off x="5164137" y="5449315"/>
            <a:ext cx="36703" cy="4641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pretraining-0274"/>
          <p:cNvCxnSpPr/>
          <p:nvPr/>
        </p:nvCxnSpPr>
        <p:spPr>
          <a:xfrm flipH="1">
            <a:off x="5153342" y="5397499"/>
            <a:ext cx="29147" cy="56134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pretraining-0275"/>
          <p:cNvSpPr txBox="1"/>
          <p:nvPr/>
        </p:nvSpPr>
        <p:spPr>
          <a:xfrm>
            <a:off x="3390900" y="5403849"/>
            <a:ext cx="381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00000"/>
                </a:solidFill>
                <a:latin typeface="Liberation Serif"/>
              </a:rPr>
              <a:t>x_ctx</a:t>
            </a:r>
          </a:p>
        </p:txBody>
      </p:sp>
      <p:sp>
        <p:nvSpPr>
          <p:cNvPr id="277" name="pretraining-0276"/>
          <p:cNvSpPr/>
          <p:nvPr/>
        </p:nvSpPr>
        <p:spPr>
          <a:xfrm>
            <a:off x="863600" y="5613399"/>
            <a:ext cx="1657350" cy="101600"/>
          </a:xfrm>
          <a:custGeom>
            <a:avLst/>
            <a:gdLst/>
            <a:ahLst/>
            <a:cxnLst/>
            <a:rect l="l" t="t" r="r" b="b"/>
            <a:pathLst>
              <a:path w="261" h="16">
                <a:moveTo>
                  <a:pt x="0" y="0"/>
                </a:moveTo>
                <a:lnTo>
                  <a:pt x="128" y="16"/>
                </a:lnTo>
                <a:lnTo>
                  <a:pt x="261" y="0"/>
                </a:lnTo>
                <a:close/>
              </a:path>
            </a:pathLst>
          </a:custGeom>
          <a:solidFill>
            <a:srgbClr val="C1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pretraining-0277"/>
          <p:cNvSpPr/>
          <p:nvPr/>
        </p:nvSpPr>
        <p:spPr>
          <a:xfrm>
            <a:off x="3702050" y="5613399"/>
            <a:ext cx="1657350" cy="101600"/>
          </a:xfrm>
          <a:custGeom>
            <a:avLst/>
            <a:gdLst/>
            <a:ahLst/>
            <a:cxnLst/>
            <a:rect l="l" t="t" r="r" b="b"/>
            <a:pathLst>
              <a:path w="261" h="16">
                <a:moveTo>
                  <a:pt x="0" y="0"/>
                </a:moveTo>
                <a:lnTo>
                  <a:pt x="130" y="16"/>
                </a:lnTo>
                <a:lnTo>
                  <a:pt x="261" y="0"/>
                </a:lnTo>
                <a:close/>
              </a:path>
            </a:pathLst>
          </a:custGeom>
          <a:solidFill>
            <a:srgbClr val="C1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pretraining-0278"/>
          <p:cNvSpPr/>
          <p:nvPr/>
        </p:nvSpPr>
        <p:spPr>
          <a:xfrm>
            <a:off x="215900" y="5727699"/>
            <a:ext cx="139065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pretraining-0279"/>
          <p:cNvSpPr/>
          <p:nvPr/>
        </p:nvSpPr>
        <p:spPr>
          <a:xfrm>
            <a:off x="247650" y="5791199"/>
            <a:ext cx="1327150" cy="304800"/>
          </a:xfrm>
          <a:custGeom>
            <a:avLst/>
            <a:gdLst/>
            <a:ahLst/>
            <a:cxnLst/>
            <a:rect l="l" t="t" r="r" b="b"/>
            <a:pathLst>
              <a:path w="209" h="48">
                <a:moveTo>
                  <a:pt x="0" y="18"/>
                </a:moveTo>
                <a:lnTo>
                  <a:pt x="7" y="6"/>
                </a:lnTo>
                <a:lnTo>
                  <a:pt x="14" y="36"/>
                </a:lnTo>
                <a:lnTo>
                  <a:pt x="22" y="36"/>
                </a:lnTo>
                <a:lnTo>
                  <a:pt x="29" y="25"/>
                </a:lnTo>
                <a:lnTo>
                  <a:pt x="36" y="9"/>
                </a:lnTo>
                <a:lnTo>
                  <a:pt x="43" y="34"/>
                </a:lnTo>
                <a:lnTo>
                  <a:pt x="50" y="45"/>
                </a:lnTo>
                <a:lnTo>
                  <a:pt x="58" y="9"/>
                </a:lnTo>
                <a:lnTo>
                  <a:pt x="65" y="16"/>
                </a:lnTo>
                <a:lnTo>
                  <a:pt x="72" y="32"/>
                </a:lnTo>
                <a:lnTo>
                  <a:pt x="79" y="33"/>
                </a:lnTo>
                <a:lnTo>
                  <a:pt x="86" y="13"/>
                </a:lnTo>
                <a:lnTo>
                  <a:pt x="94" y="4"/>
                </a:lnTo>
                <a:lnTo>
                  <a:pt x="101" y="41"/>
                </a:lnTo>
                <a:lnTo>
                  <a:pt x="108" y="28"/>
                </a:lnTo>
                <a:lnTo>
                  <a:pt x="115" y="6"/>
                </a:lnTo>
                <a:lnTo>
                  <a:pt x="123" y="20"/>
                </a:lnTo>
                <a:lnTo>
                  <a:pt x="130" y="33"/>
                </a:lnTo>
                <a:lnTo>
                  <a:pt x="137" y="36"/>
                </a:lnTo>
                <a:lnTo>
                  <a:pt x="144" y="7"/>
                </a:lnTo>
                <a:lnTo>
                  <a:pt x="151" y="22"/>
                </a:lnTo>
                <a:lnTo>
                  <a:pt x="159" y="48"/>
                </a:lnTo>
                <a:lnTo>
                  <a:pt x="166" y="23"/>
                </a:lnTo>
                <a:lnTo>
                  <a:pt x="173" y="15"/>
                </a:lnTo>
                <a:lnTo>
                  <a:pt x="180" y="23"/>
                </a:lnTo>
                <a:lnTo>
                  <a:pt x="187" y="41"/>
                </a:lnTo>
                <a:lnTo>
                  <a:pt x="195" y="27"/>
                </a:lnTo>
                <a:lnTo>
                  <a:pt x="202" y="0"/>
                </a:lnTo>
                <a:lnTo>
                  <a:pt x="209" y="31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pretraining-0280"/>
          <p:cNvSpPr/>
          <p:nvPr/>
        </p:nvSpPr>
        <p:spPr>
          <a:xfrm>
            <a:off x="241300" y="5765799"/>
            <a:ext cx="1333500" cy="44450"/>
          </a:xfrm>
          <a:custGeom>
            <a:avLst/>
            <a:gdLst/>
            <a:ahLst/>
            <a:cxnLst/>
            <a:rect l="l" t="t" r="r" b="b"/>
            <a:pathLst>
              <a:path w="210" h="7">
                <a:moveTo>
                  <a:pt x="0" y="3"/>
                </a:moveTo>
                <a:lnTo>
                  <a:pt x="7" y="0"/>
                </a:lnTo>
                <a:lnTo>
                  <a:pt x="14" y="5"/>
                </a:lnTo>
                <a:lnTo>
                  <a:pt x="21" y="4"/>
                </a:lnTo>
                <a:lnTo>
                  <a:pt x="28" y="1"/>
                </a:lnTo>
                <a:lnTo>
                  <a:pt x="35" y="5"/>
                </a:lnTo>
                <a:lnTo>
                  <a:pt x="42" y="2"/>
                </a:lnTo>
                <a:lnTo>
                  <a:pt x="49" y="1"/>
                </a:lnTo>
                <a:lnTo>
                  <a:pt x="56" y="5"/>
                </a:lnTo>
                <a:lnTo>
                  <a:pt x="63" y="4"/>
                </a:lnTo>
                <a:lnTo>
                  <a:pt x="70" y="0"/>
                </a:lnTo>
                <a:lnTo>
                  <a:pt x="77" y="6"/>
                </a:lnTo>
                <a:lnTo>
                  <a:pt x="84" y="2"/>
                </a:lnTo>
                <a:lnTo>
                  <a:pt x="91" y="2"/>
                </a:lnTo>
                <a:lnTo>
                  <a:pt x="98" y="4"/>
                </a:lnTo>
                <a:lnTo>
                  <a:pt x="105" y="4"/>
                </a:lnTo>
                <a:lnTo>
                  <a:pt x="112" y="0"/>
                </a:lnTo>
                <a:lnTo>
                  <a:pt x="119" y="7"/>
                </a:lnTo>
                <a:lnTo>
                  <a:pt x="126" y="2"/>
                </a:lnTo>
                <a:lnTo>
                  <a:pt x="133" y="1"/>
                </a:lnTo>
                <a:lnTo>
                  <a:pt x="140" y="4"/>
                </a:lnTo>
                <a:lnTo>
                  <a:pt x="147" y="4"/>
                </a:lnTo>
                <a:lnTo>
                  <a:pt x="154" y="1"/>
                </a:lnTo>
                <a:lnTo>
                  <a:pt x="161" y="6"/>
                </a:lnTo>
                <a:lnTo>
                  <a:pt x="168" y="2"/>
                </a:lnTo>
                <a:lnTo>
                  <a:pt x="175" y="1"/>
                </a:lnTo>
                <a:lnTo>
                  <a:pt x="182" y="5"/>
                </a:lnTo>
                <a:lnTo>
                  <a:pt x="189" y="4"/>
                </a:lnTo>
                <a:lnTo>
                  <a:pt x="196" y="0"/>
                </a:lnTo>
                <a:lnTo>
                  <a:pt x="203" y="5"/>
                </a:lnTo>
                <a:lnTo>
                  <a:pt x="210" y="3"/>
                </a:lnTo>
              </a:path>
            </a:pathLst>
          </a:custGeom>
          <a:noFill/>
          <a:ln w="8572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pretraining-0281"/>
          <p:cNvSpPr/>
          <p:nvPr/>
        </p:nvSpPr>
        <p:spPr>
          <a:xfrm>
            <a:off x="241300" y="5861049"/>
            <a:ext cx="1333500" cy="44450"/>
          </a:xfrm>
          <a:custGeom>
            <a:avLst/>
            <a:gdLst/>
            <a:ahLst/>
            <a:cxnLst/>
            <a:rect l="l" t="t" r="r" b="b"/>
            <a:pathLst>
              <a:path w="210" h="7">
                <a:moveTo>
                  <a:pt x="0" y="0"/>
                </a:moveTo>
                <a:lnTo>
                  <a:pt x="7" y="3"/>
                </a:lnTo>
                <a:lnTo>
                  <a:pt x="14" y="5"/>
                </a:lnTo>
                <a:lnTo>
                  <a:pt x="21" y="3"/>
                </a:lnTo>
                <a:lnTo>
                  <a:pt x="28" y="1"/>
                </a:lnTo>
                <a:lnTo>
                  <a:pt x="35" y="6"/>
                </a:lnTo>
                <a:lnTo>
                  <a:pt x="42" y="0"/>
                </a:lnTo>
                <a:lnTo>
                  <a:pt x="49" y="3"/>
                </a:lnTo>
                <a:lnTo>
                  <a:pt x="56" y="5"/>
                </a:lnTo>
                <a:lnTo>
                  <a:pt x="63" y="2"/>
                </a:lnTo>
                <a:lnTo>
                  <a:pt x="70" y="1"/>
                </a:lnTo>
                <a:lnTo>
                  <a:pt x="77" y="6"/>
                </a:lnTo>
                <a:lnTo>
                  <a:pt x="84" y="1"/>
                </a:lnTo>
                <a:lnTo>
                  <a:pt x="91" y="3"/>
                </a:lnTo>
                <a:lnTo>
                  <a:pt x="98" y="5"/>
                </a:lnTo>
                <a:lnTo>
                  <a:pt x="105" y="1"/>
                </a:lnTo>
                <a:lnTo>
                  <a:pt x="112" y="2"/>
                </a:lnTo>
                <a:lnTo>
                  <a:pt x="119" y="6"/>
                </a:lnTo>
                <a:lnTo>
                  <a:pt x="126" y="1"/>
                </a:lnTo>
                <a:lnTo>
                  <a:pt x="133" y="2"/>
                </a:lnTo>
                <a:lnTo>
                  <a:pt x="140" y="5"/>
                </a:lnTo>
                <a:lnTo>
                  <a:pt x="147" y="1"/>
                </a:lnTo>
                <a:lnTo>
                  <a:pt x="154" y="3"/>
                </a:lnTo>
                <a:lnTo>
                  <a:pt x="161" y="5"/>
                </a:lnTo>
                <a:lnTo>
                  <a:pt x="168" y="1"/>
                </a:lnTo>
                <a:lnTo>
                  <a:pt x="175" y="1"/>
                </a:lnTo>
                <a:lnTo>
                  <a:pt x="182" y="7"/>
                </a:lnTo>
                <a:lnTo>
                  <a:pt x="189" y="1"/>
                </a:lnTo>
                <a:lnTo>
                  <a:pt x="196" y="3"/>
                </a:lnTo>
                <a:lnTo>
                  <a:pt x="203" y="4"/>
                </a:lnTo>
                <a:lnTo>
                  <a:pt x="210" y="2"/>
                </a:lnTo>
              </a:path>
            </a:pathLst>
          </a:custGeom>
          <a:noFill/>
          <a:ln w="8572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pretraining-0282"/>
          <p:cNvSpPr/>
          <p:nvPr/>
        </p:nvSpPr>
        <p:spPr>
          <a:xfrm>
            <a:off x="241300" y="5949949"/>
            <a:ext cx="1333500" cy="44450"/>
          </a:xfrm>
          <a:custGeom>
            <a:avLst/>
            <a:gdLst/>
            <a:ahLst/>
            <a:cxnLst/>
            <a:rect l="l" t="t" r="r" b="b"/>
            <a:pathLst>
              <a:path w="210" h="7">
                <a:moveTo>
                  <a:pt x="0" y="1"/>
                </a:moveTo>
                <a:lnTo>
                  <a:pt x="7" y="5"/>
                </a:lnTo>
                <a:lnTo>
                  <a:pt x="14" y="5"/>
                </a:lnTo>
                <a:lnTo>
                  <a:pt x="21" y="2"/>
                </a:lnTo>
                <a:lnTo>
                  <a:pt x="28" y="5"/>
                </a:lnTo>
                <a:lnTo>
                  <a:pt x="35" y="5"/>
                </a:lnTo>
                <a:lnTo>
                  <a:pt x="42" y="1"/>
                </a:lnTo>
                <a:lnTo>
                  <a:pt x="49" y="5"/>
                </a:lnTo>
                <a:lnTo>
                  <a:pt x="56" y="6"/>
                </a:lnTo>
                <a:lnTo>
                  <a:pt x="63" y="1"/>
                </a:lnTo>
                <a:lnTo>
                  <a:pt x="70" y="5"/>
                </a:lnTo>
                <a:lnTo>
                  <a:pt x="77" y="5"/>
                </a:lnTo>
                <a:lnTo>
                  <a:pt x="84" y="2"/>
                </a:lnTo>
                <a:lnTo>
                  <a:pt x="91" y="5"/>
                </a:lnTo>
                <a:lnTo>
                  <a:pt x="98" y="6"/>
                </a:lnTo>
                <a:lnTo>
                  <a:pt x="105" y="0"/>
                </a:lnTo>
                <a:lnTo>
                  <a:pt x="112" y="6"/>
                </a:lnTo>
                <a:lnTo>
                  <a:pt x="119" y="5"/>
                </a:lnTo>
                <a:lnTo>
                  <a:pt x="126" y="2"/>
                </a:lnTo>
                <a:lnTo>
                  <a:pt x="133" y="4"/>
                </a:lnTo>
                <a:lnTo>
                  <a:pt x="140" y="6"/>
                </a:lnTo>
                <a:lnTo>
                  <a:pt x="147" y="1"/>
                </a:lnTo>
                <a:lnTo>
                  <a:pt x="154" y="6"/>
                </a:lnTo>
                <a:lnTo>
                  <a:pt x="161" y="4"/>
                </a:lnTo>
                <a:lnTo>
                  <a:pt x="168" y="2"/>
                </a:lnTo>
                <a:lnTo>
                  <a:pt x="175" y="4"/>
                </a:lnTo>
                <a:lnTo>
                  <a:pt x="182" y="7"/>
                </a:lnTo>
                <a:lnTo>
                  <a:pt x="189" y="1"/>
                </a:lnTo>
                <a:lnTo>
                  <a:pt x="196" y="5"/>
                </a:lnTo>
                <a:lnTo>
                  <a:pt x="203" y="5"/>
                </a:lnTo>
                <a:lnTo>
                  <a:pt x="210" y="2"/>
                </a:lnTo>
              </a:path>
            </a:pathLst>
          </a:custGeom>
          <a:noFill/>
          <a:ln w="8572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pretraining-0283"/>
          <p:cNvSpPr/>
          <p:nvPr/>
        </p:nvSpPr>
        <p:spPr>
          <a:xfrm>
            <a:off x="241300" y="6051549"/>
            <a:ext cx="1333500" cy="38100"/>
          </a:xfrm>
          <a:custGeom>
            <a:avLst/>
            <a:gdLst/>
            <a:ahLst/>
            <a:cxnLst/>
            <a:rect l="l" t="t" r="r" b="b"/>
            <a:pathLst>
              <a:path w="210" h="6">
                <a:moveTo>
                  <a:pt x="0" y="1"/>
                </a:moveTo>
                <a:lnTo>
                  <a:pt x="7" y="4"/>
                </a:lnTo>
                <a:lnTo>
                  <a:pt x="14" y="4"/>
                </a:lnTo>
                <a:lnTo>
                  <a:pt x="21" y="1"/>
                </a:lnTo>
                <a:lnTo>
                  <a:pt x="28" y="6"/>
                </a:lnTo>
                <a:lnTo>
                  <a:pt x="35" y="2"/>
                </a:lnTo>
                <a:lnTo>
                  <a:pt x="42" y="1"/>
                </a:lnTo>
                <a:lnTo>
                  <a:pt x="49" y="5"/>
                </a:lnTo>
                <a:lnTo>
                  <a:pt x="56" y="4"/>
                </a:lnTo>
                <a:lnTo>
                  <a:pt x="63" y="0"/>
                </a:lnTo>
                <a:lnTo>
                  <a:pt x="70" y="6"/>
                </a:lnTo>
                <a:lnTo>
                  <a:pt x="77" y="2"/>
                </a:lnTo>
                <a:lnTo>
                  <a:pt x="84" y="2"/>
                </a:lnTo>
                <a:lnTo>
                  <a:pt x="91" y="4"/>
                </a:lnTo>
                <a:lnTo>
                  <a:pt x="98" y="4"/>
                </a:lnTo>
                <a:lnTo>
                  <a:pt x="105" y="0"/>
                </a:lnTo>
                <a:lnTo>
                  <a:pt x="112" y="6"/>
                </a:lnTo>
                <a:lnTo>
                  <a:pt x="119" y="3"/>
                </a:lnTo>
                <a:lnTo>
                  <a:pt x="126" y="1"/>
                </a:lnTo>
                <a:lnTo>
                  <a:pt x="133" y="4"/>
                </a:lnTo>
                <a:lnTo>
                  <a:pt x="140" y="3"/>
                </a:lnTo>
                <a:lnTo>
                  <a:pt x="147" y="1"/>
                </a:lnTo>
                <a:lnTo>
                  <a:pt x="154" y="6"/>
                </a:lnTo>
                <a:lnTo>
                  <a:pt x="161" y="2"/>
                </a:lnTo>
                <a:lnTo>
                  <a:pt x="168" y="1"/>
                </a:lnTo>
                <a:lnTo>
                  <a:pt x="175" y="5"/>
                </a:lnTo>
                <a:lnTo>
                  <a:pt x="182" y="3"/>
                </a:lnTo>
                <a:lnTo>
                  <a:pt x="189" y="1"/>
                </a:lnTo>
                <a:lnTo>
                  <a:pt x="196" y="5"/>
                </a:lnTo>
                <a:lnTo>
                  <a:pt x="203" y="3"/>
                </a:lnTo>
                <a:lnTo>
                  <a:pt x="210" y="1"/>
                </a:lnTo>
              </a:path>
            </a:pathLst>
          </a:custGeom>
          <a:noFill/>
          <a:ln w="8572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pretraining-0284"/>
          <p:cNvSpPr/>
          <p:nvPr/>
        </p:nvSpPr>
        <p:spPr>
          <a:xfrm>
            <a:off x="1682750" y="5727699"/>
            <a:ext cx="12827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pretraining-0285"/>
          <p:cNvSpPr/>
          <p:nvPr/>
        </p:nvSpPr>
        <p:spPr>
          <a:xfrm>
            <a:off x="1714500" y="5816599"/>
            <a:ext cx="1219200" cy="273050"/>
          </a:xfrm>
          <a:custGeom>
            <a:avLst/>
            <a:gdLst/>
            <a:ahLst/>
            <a:cxnLst/>
            <a:rect l="l" t="t" r="r" b="b"/>
            <a:pathLst>
              <a:path w="192" h="43">
                <a:moveTo>
                  <a:pt x="0" y="7"/>
                </a:moveTo>
                <a:lnTo>
                  <a:pt x="7" y="29"/>
                </a:lnTo>
                <a:lnTo>
                  <a:pt x="14" y="27"/>
                </a:lnTo>
                <a:lnTo>
                  <a:pt x="21" y="10"/>
                </a:lnTo>
                <a:lnTo>
                  <a:pt x="27" y="4"/>
                </a:lnTo>
                <a:lnTo>
                  <a:pt x="34" y="41"/>
                </a:lnTo>
                <a:lnTo>
                  <a:pt x="41" y="21"/>
                </a:lnTo>
                <a:lnTo>
                  <a:pt x="48" y="3"/>
                </a:lnTo>
                <a:lnTo>
                  <a:pt x="55" y="23"/>
                </a:lnTo>
                <a:lnTo>
                  <a:pt x="62" y="33"/>
                </a:lnTo>
                <a:lnTo>
                  <a:pt x="69" y="25"/>
                </a:lnTo>
                <a:lnTo>
                  <a:pt x="75" y="0"/>
                </a:lnTo>
                <a:lnTo>
                  <a:pt x="82" y="32"/>
                </a:lnTo>
                <a:lnTo>
                  <a:pt x="89" y="38"/>
                </a:lnTo>
                <a:lnTo>
                  <a:pt x="96" y="9"/>
                </a:lnTo>
                <a:lnTo>
                  <a:pt x="103" y="16"/>
                </a:lnTo>
                <a:lnTo>
                  <a:pt x="110" y="29"/>
                </a:lnTo>
                <a:lnTo>
                  <a:pt x="117" y="38"/>
                </a:lnTo>
                <a:lnTo>
                  <a:pt x="123" y="5"/>
                </a:lnTo>
                <a:lnTo>
                  <a:pt x="130" y="16"/>
                </a:lnTo>
                <a:lnTo>
                  <a:pt x="137" y="43"/>
                </a:lnTo>
                <a:lnTo>
                  <a:pt x="144" y="19"/>
                </a:lnTo>
                <a:lnTo>
                  <a:pt x="151" y="12"/>
                </a:lnTo>
                <a:lnTo>
                  <a:pt x="158" y="18"/>
                </a:lnTo>
                <a:lnTo>
                  <a:pt x="165" y="41"/>
                </a:lnTo>
                <a:lnTo>
                  <a:pt x="171" y="18"/>
                </a:lnTo>
                <a:lnTo>
                  <a:pt x="178" y="1"/>
                </a:lnTo>
                <a:lnTo>
                  <a:pt x="185" y="35"/>
                </a:lnTo>
                <a:lnTo>
                  <a:pt x="192" y="28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pretraining-0286"/>
          <p:cNvSpPr/>
          <p:nvPr/>
        </p:nvSpPr>
        <p:spPr>
          <a:xfrm>
            <a:off x="3371850" y="5727699"/>
            <a:ext cx="2362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pretraining-0287"/>
          <p:cNvSpPr/>
          <p:nvPr/>
        </p:nvSpPr>
        <p:spPr>
          <a:xfrm>
            <a:off x="3403600" y="5791199"/>
            <a:ext cx="2298700" cy="298450"/>
          </a:xfrm>
          <a:custGeom>
            <a:avLst/>
            <a:gdLst/>
            <a:ahLst/>
            <a:cxnLst/>
            <a:rect l="l" t="t" r="r" b="b"/>
            <a:pathLst>
              <a:path w="362" h="47">
                <a:moveTo>
                  <a:pt x="0" y="1"/>
                </a:moveTo>
                <a:lnTo>
                  <a:pt x="7" y="18"/>
                </a:lnTo>
                <a:lnTo>
                  <a:pt x="14" y="29"/>
                </a:lnTo>
                <a:lnTo>
                  <a:pt x="21" y="39"/>
                </a:lnTo>
                <a:lnTo>
                  <a:pt x="28" y="30"/>
                </a:lnTo>
                <a:lnTo>
                  <a:pt x="35" y="32"/>
                </a:lnTo>
                <a:lnTo>
                  <a:pt x="43" y="17"/>
                </a:lnTo>
                <a:lnTo>
                  <a:pt x="50" y="10"/>
                </a:lnTo>
                <a:lnTo>
                  <a:pt x="57" y="6"/>
                </a:lnTo>
                <a:lnTo>
                  <a:pt x="64" y="28"/>
                </a:lnTo>
                <a:lnTo>
                  <a:pt x="71" y="45"/>
                </a:lnTo>
                <a:lnTo>
                  <a:pt x="78" y="43"/>
                </a:lnTo>
                <a:lnTo>
                  <a:pt x="85" y="22"/>
                </a:lnTo>
                <a:lnTo>
                  <a:pt x="92" y="5"/>
                </a:lnTo>
                <a:lnTo>
                  <a:pt x="99" y="12"/>
                </a:lnTo>
                <a:lnTo>
                  <a:pt x="106" y="20"/>
                </a:lnTo>
                <a:lnTo>
                  <a:pt x="114" y="34"/>
                </a:lnTo>
                <a:lnTo>
                  <a:pt x="121" y="31"/>
                </a:lnTo>
                <a:lnTo>
                  <a:pt x="128" y="39"/>
                </a:lnTo>
                <a:lnTo>
                  <a:pt x="135" y="25"/>
                </a:lnTo>
                <a:lnTo>
                  <a:pt x="142" y="15"/>
                </a:lnTo>
                <a:lnTo>
                  <a:pt x="149" y="0"/>
                </a:lnTo>
                <a:lnTo>
                  <a:pt x="156" y="17"/>
                </a:lnTo>
                <a:lnTo>
                  <a:pt x="163" y="38"/>
                </a:lnTo>
                <a:lnTo>
                  <a:pt x="170" y="47"/>
                </a:lnTo>
                <a:lnTo>
                  <a:pt x="177" y="31"/>
                </a:lnTo>
                <a:lnTo>
                  <a:pt x="185" y="12"/>
                </a:lnTo>
                <a:lnTo>
                  <a:pt x="192" y="11"/>
                </a:lnTo>
                <a:lnTo>
                  <a:pt x="199" y="14"/>
                </a:lnTo>
                <a:lnTo>
                  <a:pt x="206" y="26"/>
                </a:lnTo>
                <a:lnTo>
                  <a:pt x="213" y="28"/>
                </a:lnTo>
                <a:lnTo>
                  <a:pt x="220" y="42"/>
                </a:lnTo>
                <a:lnTo>
                  <a:pt x="227" y="34"/>
                </a:lnTo>
                <a:lnTo>
                  <a:pt x="234" y="23"/>
                </a:lnTo>
                <a:lnTo>
                  <a:pt x="241" y="0"/>
                </a:lnTo>
                <a:lnTo>
                  <a:pt x="248" y="9"/>
                </a:lnTo>
                <a:lnTo>
                  <a:pt x="256" y="28"/>
                </a:lnTo>
                <a:lnTo>
                  <a:pt x="263" y="46"/>
                </a:lnTo>
                <a:lnTo>
                  <a:pt x="270" y="38"/>
                </a:lnTo>
                <a:lnTo>
                  <a:pt x="277" y="22"/>
                </a:lnTo>
                <a:lnTo>
                  <a:pt x="284" y="14"/>
                </a:lnTo>
                <a:lnTo>
                  <a:pt x="291" y="12"/>
                </a:lnTo>
                <a:lnTo>
                  <a:pt x="298" y="18"/>
                </a:lnTo>
                <a:lnTo>
                  <a:pt x="305" y="20"/>
                </a:lnTo>
                <a:lnTo>
                  <a:pt x="312" y="39"/>
                </a:lnTo>
                <a:lnTo>
                  <a:pt x="319" y="40"/>
                </a:lnTo>
                <a:lnTo>
                  <a:pt x="327" y="33"/>
                </a:lnTo>
                <a:lnTo>
                  <a:pt x="334" y="5"/>
                </a:lnTo>
                <a:lnTo>
                  <a:pt x="341" y="4"/>
                </a:lnTo>
                <a:lnTo>
                  <a:pt x="348" y="17"/>
                </a:lnTo>
                <a:lnTo>
                  <a:pt x="355" y="40"/>
                </a:lnTo>
                <a:lnTo>
                  <a:pt x="362" y="40"/>
                </a:lnTo>
              </a:path>
            </a:pathLst>
          </a:custGeom>
          <a:noFill/>
          <a:ln w="95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pretraining-0288"/>
          <p:cNvSpPr/>
          <p:nvPr/>
        </p:nvSpPr>
        <p:spPr>
          <a:xfrm>
            <a:off x="3409950" y="5880099"/>
            <a:ext cx="1143000" cy="127000"/>
          </a:xfrm>
          <a:custGeom>
            <a:avLst/>
            <a:gdLst/>
            <a:ahLst/>
            <a:cxnLst/>
            <a:rect l="l" t="t" r="r" b="b"/>
            <a:pathLst>
              <a:path w="180" h="20">
                <a:moveTo>
                  <a:pt x="0" y="3"/>
                </a:moveTo>
                <a:lnTo>
                  <a:pt x="6" y="11"/>
                </a:lnTo>
                <a:lnTo>
                  <a:pt x="13" y="14"/>
                </a:lnTo>
                <a:lnTo>
                  <a:pt x="19" y="0"/>
                </a:lnTo>
                <a:lnTo>
                  <a:pt x="26" y="19"/>
                </a:lnTo>
                <a:lnTo>
                  <a:pt x="32" y="3"/>
                </a:lnTo>
                <a:lnTo>
                  <a:pt x="39" y="10"/>
                </a:lnTo>
                <a:lnTo>
                  <a:pt x="45" y="14"/>
                </a:lnTo>
                <a:lnTo>
                  <a:pt x="51" y="1"/>
                </a:lnTo>
                <a:lnTo>
                  <a:pt x="58" y="18"/>
                </a:lnTo>
                <a:lnTo>
                  <a:pt x="64" y="5"/>
                </a:lnTo>
                <a:lnTo>
                  <a:pt x="71" y="9"/>
                </a:lnTo>
                <a:lnTo>
                  <a:pt x="77" y="15"/>
                </a:lnTo>
                <a:lnTo>
                  <a:pt x="84" y="2"/>
                </a:lnTo>
                <a:lnTo>
                  <a:pt x="90" y="15"/>
                </a:lnTo>
                <a:lnTo>
                  <a:pt x="96" y="8"/>
                </a:lnTo>
                <a:lnTo>
                  <a:pt x="103" y="6"/>
                </a:lnTo>
                <a:lnTo>
                  <a:pt x="109" y="17"/>
                </a:lnTo>
                <a:lnTo>
                  <a:pt x="116" y="2"/>
                </a:lnTo>
                <a:lnTo>
                  <a:pt x="122" y="13"/>
                </a:lnTo>
                <a:lnTo>
                  <a:pt x="129" y="11"/>
                </a:lnTo>
                <a:lnTo>
                  <a:pt x="135" y="2"/>
                </a:lnTo>
                <a:lnTo>
                  <a:pt x="141" y="19"/>
                </a:lnTo>
                <a:lnTo>
                  <a:pt x="148" y="1"/>
                </a:lnTo>
                <a:lnTo>
                  <a:pt x="154" y="13"/>
                </a:lnTo>
                <a:lnTo>
                  <a:pt x="161" y="13"/>
                </a:lnTo>
                <a:lnTo>
                  <a:pt x="167" y="1"/>
                </a:lnTo>
                <a:lnTo>
                  <a:pt x="174" y="20"/>
                </a:lnTo>
                <a:lnTo>
                  <a:pt x="180" y="1"/>
                </a:lnTo>
              </a:path>
            </a:pathLst>
          </a:custGeom>
          <a:noFill/>
          <a:ln w="23812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tmf-0289"/>
          <p:cNvSpPr txBox="1"/>
          <p:nvPr/>
        </p:nvSpPr>
        <p:spPr>
          <a:xfrm>
            <a:off x="7048499" y="114300"/>
            <a:ext cx="41275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Liberation Serif"/>
              </a:rPr>
              <a:t>Spatio-Temporal Metadata Fusion (STMF)</a:t>
            </a:r>
          </a:p>
        </p:txBody>
      </p:sp>
      <p:sp>
        <p:nvSpPr>
          <p:cNvPr id="291" name="stmf-0290"/>
          <p:cNvSpPr/>
          <p:nvPr/>
        </p:nvSpPr>
        <p:spPr>
          <a:xfrm>
            <a:off x="6222999" y="406400"/>
            <a:ext cx="2178050" cy="2984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tmf-0291"/>
          <p:cNvSpPr/>
          <p:nvPr/>
        </p:nvSpPr>
        <p:spPr>
          <a:xfrm>
            <a:off x="6254749" y="444500"/>
            <a:ext cx="2114550" cy="203200"/>
          </a:xfrm>
          <a:custGeom>
            <a:avLst/>
            <a:gdLst/>
            <a:ahLst/>
            <a:cxnLst/>
            <a:rect l="l" t="t" r="r" b="b"/>
            <a:pathLst>
              <a:path w="333" h="32">
                <a:moveTo>
                  <a:pt x="0" y="12"/>
                </a:moveTo>
                <a:lnTo>
                  <a:pt x="7" y="4"/>
                </a:lnTo>
                <a:lnTo>
                  <a:pt x="14" y="9"/>
                </a:lnTo>
                <a:lnTo>
                  <a:pt x="21" y="25"/>
                </a:lnTo>
                <a:lnTo>
                  <a:pt x="28" y="24"/>
                </a:lnTo>
                <a:lnTo>
                  <a:pt x="35" y="24"/>
                </a:lnTo>
                <a:lnTo>
                  <a:pt x="43" y="19"/>
                </a:lnTo>
                <a:lnTo>
                  <a:pt x="50" y="11"/>
                </a:lnTo>
                <a:lnTo>
                  <a:pt x="57" y="8"/>
                </a:lnTo>
                <a:lnTo>
                  <a:pt x="64" y="10"/>
                </a:lnTo>
                <a:lnTo>
                  <a:pt x="71" y="30"/>
                </a:lnTo>
                <a:lnTo>
                  <a:pt x="78" y="31"/>
                </a:lnTo>
                <a:lnTo>
                  <a:pt x="85" y="19"/>
                </a:lnTo>
                <a:lnTo>
                  <a:pt x="92" y="7"/>
                </a:lnTo>
                <a:lnTo>
                  <a:pt x="99" y="6"/>
                </a:lnTo>
                <a:lnTo>
                  <a:pt x="106" y="20"/>
                </a:lnTo>
                <a:lnTo>
                  <a:pt x="113" y="21"/>
                </a:lnTo>
                <a:lnTo>
                  <a:pt x="120" y="26"/>
                </a:lnTo>
                <a:lnTo>
                  <a:pt x="128" y="24"/>
                </a:lnTo>
                <a:lnTo>
                  <a:pt x="135" y="15"/>
                </a:lnTo>
                <a:lnTo>
                  <a:pt x="142" y="7"/>
                </a:lnTo>
                <a:lnTo>
                  <a:pt x="149" y="5"/>
                </a:lnTo>
                <a:lnTo>
                  <a:pt x="156" y="24"/>
                </a:lnTo>
                <a:lnTo>
                  <a:pt x="163" y="32"/>
                </a:lnTo>
                <a:lnTo>
                  <a:pt x="170" y="25"/>
                </a:lnTo>
                <a:lnTo>
                  <a:pt x="177" y="12"/>
                </a:lnTo>
                <a:lnTo>
                  <a:pt x="184" y="5"/>
                </a:lnTo>
                <a:lnTo>
                  <a:pt x="191" y="15"/>
                </a:lnTo>
                <a:lnTo>
                  <a:pt x="198" y="17"/>
                </a:lnTo>
                <a:lnTo>
                  <a:pt x="205" y="24"/>
                </a:lnTo>
                <a:lnTo>
                  <a:pt x="213" y="27"/>
                </a:lnTo>
                <a:lnTo>
                  <a:pt x="220" y="21"/>
                </a:lnTo>
                <a:lnTo>
                  <a:pt x="227" y="10"/>
                </a:lnTo>
                <a:lnTo>
                  <a:pt x="234" y="1"/>
                </a:lnTo>
                <a:lnTo>
                  <a:pt x="241" y="17"/>
                </a:lnTo>
                <a:lnTo>
                  <a:pt x="248" y="29"/>
                </a:lnTo>
                <a:lnTo>
                  <a:pt x="255" y="29"/>
                </a:lnTo>
                <a:lnTo>
                  <a:pt x="262" y="17"/>
                </a:lnTo>
                <a:lnTo>
                  <a:pt x="269" y="8"/>
                </a:lnTo>
                <a:lnTo>
                  <a:pt x="276" y="13"/>
                </a:lnTo>
                <a:lnTo>
                  <a:pt x="283" y="12"/>
                </a:lnTo>
                <a:lnTo>
                  <a:pt x="290" y="21"/>
                </a:lnTo>
                <a:lnTo>
                  <a:pt x="298" y="28"/>
                </a:lnTo>
                <a:lnTo>
                  <a:pt x="305" y="27"/>
                </a:lnTo>
                <a:lnTo>
                  <a:pt x="312" y="15"/>
                </a:lnTo>
                <a:lnTo>
                  <a:pt x="319" y="0"/>
                </a:lnTo>
                <a:lnTo>
                  <a:pt x="326" y="11"/>
                </a:lnTo>
                <a:lnTo>
                  <a:pt x="333" y="24"/>
                </a:lnTo>
              </a:path>
            </a:pathLst>
          </a:custGeom>
          <a:noFill/>
          <a:ln w="95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tmf-0292"/>
          <p:cNvSpPr txBox="1"/>
          <p:nvPr/>
        </p:nvSpPr>
        <p:spPr>
          <a:xfrm>
            <a:off x="6762749" y="450850"/>
            <a:ext cx="9207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Region 1</a:t>
            </a:r>
          </a:p>
        </p:txBody>
      </p:sp>
      <p:sp>
        <p:nvSpPr>
          <p:cNvPr id="294" name="stmf-0293"/>
          <p:cNvSpPr/>
          <p:nvPr/>
        </p:nvSpPr>
        <p:spPr>
          <a:xfrm>
            <a:off x="6432549" y="577850"/>
            <a:ext cx="21971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tmf-0294"/>
          <p:cNvSpPr/>
          <p:nvPr/>
        </p:nvSpPr>
        <p:spPr>
          <a:xfrm>
            <a:off x="6464299" y="628650"/>
            <a:ext cx="2133600" cy="215900"/>
          </a:xfrm>
          <a:custGeom>
            <a:avLst/>
            <a:gdLst/>
            <a:ahLst/>
            <a:cxnLst/>
            <a:rect l="l" t="t" r="r" b="b"/>
            <a:pathLst>
              <a:path w="336" h="34">
                <a:moveTo>
                  <a:pt x="0" y="0"/>
                </a:moveTo>
                <a:lnTo>
                  <a:pt x="7" y="11"/>
                </a:lnTo>
                <a:lnTo>
                  <a:pt x="14" y="19"/>
                </a:lnTo>
                <a:lnTo>
                  <a:pt x="21" y="26"/>
                </a:lnTo>
                <a:lnTo>
                  <a:pt x="28" y="21"/>
                </a:lnTo>
                <a:lnTo>
                  <a:pt x="35" y="19"/>
                </a:lnTo>
                <a:lnTo>
                  <a:pt x="42" y="11"/>
                </a:lnTo>
                <a:lnTo>
                  <a:pt x="49" y="3"/>
                </a:lnTo>
                <a:lnTo>
                  <a:pt x="56" y="10"/>
                </a:lnTo>
                <a:lnTo>
                  <a:pt x="63" y="22"/>
                </a:lnTo>
                <a:lnTo>
                  <a:pt x="70" y="34"/>
                </a:lnTo>
                <a:lnTo>
                  <a:pt x="77" y="19"/>
                </a:lnTo>
                <a:lnTo>
                  <a:pt x="84" y="7"/>
                </a:lnTo>
                <a:lnTo>
                  <a:pt x="91" y="4"/>
                </a:lnTo>
                <a:lnTo>
                  <a:pt x="98" y="12"/>
                </a:lnTo>
                <a:lnTo>
                  <a:pt x="105" y="22"/>
                </a:lnTo>
                <a:lnTo>
                  <a:pt x="112" y="21"/>
                </a:lnTo>
                <a:lnTo>
                  <a:pt x="119" y="26"/>
                </a:lnTo>
                <a:lnTo>
                  <a:pt x="126" y="17"/>
                </a:lnTo>
                <a:lnTo>
                  <a:pt x="133" y="8"/>
                </a:lnTo>
                <a:lnTo>
                  <a:pt x="140" y="2"/>
                </a:lnTo>
                <a:lnTo>
                  <a:pt x="147" y="13"/>
                </a:lnTo>
                <a:lnTo>
                  <a:pt x="154" y="31"/>
                </a:lnTo>
                <a:lnTo>
                  <a:pt x="161" y="27"/>
                </a:lnTo>
                <a:lnTo>
                  <a:pt x="168" y="17"/>
                </a:lnTo>
                <a:lnTo>
                  <a:pt x="175" y="4"/>
                </a:lnTo>
                <a:lnTo>
                  <a:pt x="182" y="9"/>
                </a:lnTo>
                <a:lnTo>
                  <a:pt x="189" y="13"/>
                </a:lnTo>
                <a:lnTo>
                  <a:pt x="196" y="18"/>
                </a:lnTo>
                <a:lnTo>
                  <a:pt x="203" y="26"/>
                </a:lnTo>
                <a:lnTo>
                  <a:pt x="210" y="24"/>
                </a:lnTo>
                <a:lnTo>
                  <a:pt x="217" y="18"/>
                </a:lnTo>
                <a:lnTo>
                  <a:pt x="224" y="0"/>
                </a:lnTo>
                <a:lnTo>
                  <a:pt x="231" y="5"/>
                </a:lnTo>
                <a:lnTo>
                  <a:pt x="238" y="19"/>
                </a:lnTo>
                <a:lnTo>
                  <a:pt x="245" y="30"/>
                </a:lnTo>
                <a:lnTo>
                  <a:pt x="252" y="26"/>
                </a:lnTo>
                <a:lnTo>
                  <a:pt x="259" y="11"/>
                </a:lnTo>
                <a:lnTo>
                  <a:pt x="266" y="10"/>
                </a:lnTo>
                <a:lnTo>
                  <a:pt x="273" y="7"/>
                </a:lnTo>
                <a:lnTo>
                  <a:pt x="280" y="13"/>
                </a:lnTo>
                <a:lnTo>
                  <a:pt x="287" y="19"/>
                </a:lnTo>
                <a:lnTo>
                  <a:pt x="294" y="28"/>
                </a:lnTo>
                <a:lnTo>
                  <a:pt x="301" y="27"/>
                </a:lnTo>
                <a:lnTo>
                  <a:pt x="308" y="8"/>
                </a:lnTo>
                <a:lnTo>
                  <a:pt x="315" y="2"/>
                </a:lnTo>
                <a:lnTo>
                  <a:pt x="322" y="7"/>
                </a:lnTo>
                <a:lnTo>
                  <a:pt x="329" y="25"/>
                </a:lnTo>
                <a:lnTo>
                  <a:pt x="336" y="27"/>
                </a:lnTo>
              </a:path>
            </a:pathLst>
          </a:custGeom>
          <a:noFill/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tmf-0295"/>
          <p:cNvSpPr txBox="1"/>
          <p:nvPr/>
        </p:nvSpPr>
        <p:spPr>
          <a:xfrm>
            <a:off x="6972299" y="622300"/>
            <a:ext cx="9207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Region 2</a:t>
            </a:r>
          </a:p>
        </p:txBody>
      </p:sp>
      <p:sp>
        <p:nvSpPr>
          <p:cNvPr id="297" name="stmf-0296"/>
          <p:cNvSpPr/>
          <p:nvPr/>
        </p:nvSpPr>
        <p:spPr>
          <a:xfrm>
            <a:off x="6654799" y="749300"/>
            <a:ext cx="2190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stmf-0297"/>
          <p:cNvSpPr/>
          <p:nvPr/>
        </p:nvSpPr>
        <p:spPr>
          <a:xfrm>
            <a:off x="6686549" y="787400"/>
            <a:ext cx="2127250" cy="184150"/>
          </a:xfrm>
          <a:custGeom>
            <a:avLst/>
            <a:gdLst/>
            <a:ahLst/>
            <a:cxnLst/>
            <a:rect l="l" t="t" r="r" b="b"/>
            <a:pathLst>
              <a:path w="335" h="29">
                <a:moveTo>
                  <a:pt x="0" y="10"/>
                </a:moveTo>
                <a:lnTo>
                  <a:pt x="7" y="23"/>
                </a:lnTo>
                <a:lnTo>
                  <a:pt x="14" y="22"/>
                </a:lnTo>
                <a:lnTo>
                  <a:pt x="21" y="24"/>
                </a:lnTo>
                <a:lnTo>
                  <a:pt x="29" y="19"/>
                </a:lnTo>
                <a:lnTo>
                  <a:pt x="36" y="10"/>
                </a:lnTo>
                <a:lnTo>
                  <a:pt x="43" y="6"/>
                </a:lnTo>
                <a:lnTo>
                  <a:pt x="50" y="10"/>
                </a:lnTo>
                <a:lnTo>
                  <a:pt x="57" y="29"/>
                </a:lnTo>
                <a:lnTo>
                  <a:pt x="64" y="29"/>
                </a:lnTo>
                <a:lnTo>
                  <a:pt x="71" y="17"/>
                </a:lnTo>
                <a:lnTo>
                  <a:pt x="78" y="6"/>
                </a:lnTo>
                <a:lnTo>
                  <a:pt x="86" y="7"/>
                </a:lnTo>
                <a:lnTo>
                  <a:pt x="93" y="18"/>
                </a:lnTo>
                <a:lnTo>
                  <a:pt x="100" y="19"/>
                </a:lnTo>
                <a:lnTo>
                  <a:pt x="107" y="25"/>
                </a:lnTo>
                <a:lnTo>
                  <a:pt x="114" y="23"/>
                </a:lnTo>
                <a:lnTo>
                  <a:pt x="121" y="14"/>
                </a:lnTo>
                <a:lnTo>
                  <a:pt x="128" y="5"/>
                </a:lnTo>
                <a:lnTo>
                  <a:pt x="135" y="5"/>
                </a:lnTo>
                <a:lnTo>
                  <a:pt x="143" y="24"/>
                </a:lnTo>
                <a:lnTo>
                  <a:pt x="150" y="29"/>
                </a:lnTo>
                <a:lnTo>
                  <a:pt x="157" y="23"/>
                </a:lnTo>
                <a:lnTo>
                  <a:pt x="164" y="11"/>
                </a:lnTo>
                <a:lnTo>
                  <a:pt x="171" y="6"/>
                </a:lnTo>
                <a:lnTo>
                  <a:pt x="178" y="14"/>
                </a:lnTo>
                <a:lnTo>
                  <a:pt x="185" y="14"/>
                </a:lnTo>
                <a:lnTo>
                  <a:pt x="192" y="24"/>
                </a:lnTo>
                <a:lnTo>
                  <a:pt x="200" y="26"/>
                </a:lnTo>
                <a:lnTo>
                  <a:pt x="207" y="20"/>
                </a:lnTo>
                <a:lnTo>
                  <a:pt x="214" y="8"/>
                </a:lnTo>
                <a:lnTo>
                  <a:pt x="221" y="1"/>
                </a:lnTo>
                <a:lnTo>
                  <a:pt x="228" y="17"/>
                </a:lnTo>
                <a:lnTo>
                  <a:pt x="235" y="27"/>
                </a:lnTo>
                <a:lnTo>
                  <a:pt x="242" y="27"/>
                </a:lnTo>
                <a:lnTo>
                  <a:pt x="249" y="16"/>
                </a:lnTo>
                <a:lnTo>
                  <a:pt x="257" y="9"/>
                </a:lnTo>
                <a:lnTo>
                  <a:pt x="264" y="12"/>
                </a:lnTo>
                <a:lnTo>
                  <a:pt x="271" y="9"/>
                </a:lnTo>
                <a:lnTo>
                  <a:pt x="278" y="20"/>
                </a:lnTo>
                <a:lnTo>
                  <a:pt x="285" y="27"/>
                </a:lnTo>
                <a:lnTo>
                  <a:pt x="292" y="26"/>
                </a:lnTo>
                <a:lnTo>
                  <a:pt x="299" y="13"/>
                </a:lnTo>
                <a:lnTo>
                  <a:pt x="306" y="0"/>
                </a:lnTo>
                <a:lnTo>
                  <a:pt x="314" y="12"/>
                </a:lnTo>
                <a:lnTo>
                  <a:pt x="321" y="22"/>
                </a:lnTo>
                <a:lnTo>
                  <a:pt x="328" y="28"/>
                </a:lnTo>
                <a:lnTo>
                  <a:pt x="335" y="21"/>
                </a:lnTo>
              </a:path>
            </a:pathLst>
          </a:custGeom>
          <a:noFill/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stmf-0298"/>
          <p:cNvSpPr txBox="1"/>
          <p:nvPr/>
        </p:nvSpPr>
        <p:spPr>
          <a:xfrm>
            <a:off x="7194549" y="793750"/>
            <a:ext cx="9207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Region 3</a:t>
            </a:r>
          </a:p>
        </p:txBody>
      </p:sp>
      <p:sp>
        <p:nvSpPr>
          <p:cNvPr id="300" name="stmf-0299"/>
          <p:cNvSpPr/>
          <p:nvPr/>
        </p:nvSpPr>
        <p:spPr>
          <a:xfrm>
            <a:off x="6172199" y="4572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8" h="36">
                <a:moveTo>
                  <a:pt x="28" y="0"/>
                </a:moveTo>
                <a:lnTo>
                  <a:pt x="4" y="15"/>
                </a:lnTo>
                <a:lnTo>
                  <a:pt x="0" y="29"/>
                </a:lnTo>
                <a:lnTo>
                  <a:pt x="17" y="36"/>
                </a:lnTo>
              </a:path>
            </a:pathLst>
          </a:custGeom>
          <a:noFill/>
          <a:ln w="57150">
            <a:solidFill>
              <a:srgbClr val="A9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tmf-0300"/>
          <p:cNvSpPr/>
          <p:nvPr/>
        </p:nvSpPr>
        <p:spPr>
          <a:xfrm>
            <a:off x="6172199" y="6731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8" h="36">
                <a:moveTo>
                  <a:pt x="28" y="0"/>
                </a:moveTo>
                <a:lnTo>
                  <a:pt x="4" y="15"/>
                </a:lnTo>
                <a:lnTo>
                  <a:pt x="0" y="29"/>
                </a:lnTo>
                <a:lnTo>
                  <a:pt x="17" y="36"/>
                </a:lnTo>
              </a:path>
            </a:pathLst>
          </a:custGeom>
          <a:noFill/>
          <a:ln w="57150">
            <a:solidFill>
              <a:srgbClr val="A9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tmf-0301"/>
          <p:cNvSpPr txBox="1"/>
          <p:nvPr/>
        </p:nvSpPr>
        <p:spPr>
          <a:xfrm>
            <a:off x="8807449" y="520700"/>
            <a:ext cx="6540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Norm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Patchify</a:t>
            </a:r>
          </a:p>
        </p:txBody>
      </p:sp>
      <p:cxnSp>
        <p:nvCxnSpPr>
          <p:cNvPr id="303" name="stmf-0302"/>
          <p:cNvCxnSpPr/>
          <p:nvPr/>
        </p:nvCxnSpPr>
        <p:spPr>
          <a:xfrm>
            <a:off x="8693149" y="704850"/>
            <a:ext cx="7493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stmf-0303"/>
          <p:cNvSpPr/>
          <p:nvPr/>
        </p:nvSpPr>
        <p:spPr>
          <a:xfrm>
            <a:off x="9493249" y="419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tmf-0304"/>
          <p:cNvSpPr/>
          <p:nvPr/>
        </p:nvSpPr>
        <p:spPr>
          <a:xfrm>
            <a:off x="9512299" y="457200"/>
            <a:ext cx="139700" cy="635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6"/>
                </a:moveTo>
                <a:lnTo>
                  <a:pt x="1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lnTo>
                  <a:pt x="7" y="5"/>
                </a:lnTo>
                <a:lnTo>
                  <a:pt x="8" y="7"/>
                </a:lnTo>
                <a:lnTo>
                  <a:pt x="9" y="8"/>
                </a:lnTo>
                <a:lnTo>
                  <a:pt x="9" y="8"/>
                </a:lnTo>
                <a:lnTo>
                  <a:pt x="10" y="8"/>
                </a:lnTo>
                <a:lnTo>
                  <a:pt x="11" y="9"/>
                </a:lnTo>
                <a:lnTo>
                  <a:pt x="12" y="9"/>
                </a:lnTo>
                <a:lnTo>
                  <a:pt x="13" y="10"/>
                </a:lnTo>
                <a:lnTo>
                  <a:pt x="13" y="9"/>
                </a:lnTo>
                <a:lnTo>
                  <a:pt x="14" y="8"/>
                </a:lnTo>
                <a:lnTo>
                  <a:pt x="15" y="7"/>
                </a:lnTo>
                <a:lnTo>
                  <a:pt x="16" y="6"/>
                </a:lnTo>
                <a:lnTo>
                  <a:pt x="16" y="7"/>
                </a:lnTo>
                <a:lnTo>
                  <a:pt x="17" y="7"/>
                </a:lnTo>
                <a:lnTo>
                  <a:pt x="18" y="6"/>
                </a:lnTo>
                <a:lnTo>
                  <a:pt x="19" y="4"/>
                </a:lnTo>
                <a:lnTo>
                  <a:pt x="20" y="2"/>
                </a:lnTo>
                <a:lnTo>
                  <a:pt x="20" y="2"/>
                </a:lnTo>
                <a:lnTo>
                  <a:pt x="21" y="2"/>
                </a:lnTo>
                <a:lnTo>
                  <a:pt x="22" y="2"/>
                </a:lnTo>
              </a:path>
            </a:pathLst>
          </a:custGeom>
          <a:noFill/>
          <a:ln w="10477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tmf-0305"/>
          <p:cNvSpPr/>
          <p:nvPr/>
        </p:nvSpPr>
        <p:spPr>
          <a:xfrm>
            <a:off x="9740899" y="419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tmf-0306"/>
          <p:cNvSpPr/>
          <p:nvPr/>
        </p:nvSpPr>
        <p:spPr>
          <a:xfrm>
            <a:off x="9759949" y="450850"/>
            <a:ext cx="139700" cy="69850"/>
          </a:xfrm>
          <a:custGeom>
            <a:avLst/>
            <a:gdLst/>
            <a:ahLst/>
            <a:cxnLst/>
            <a:rect l="l" t="t" r="r" b="b"/>
            <a:pathLst>
              <a:path w="22" h="11">
                <a:moveTo>
                  <a:pt x="0" y="2"/>
                </a:move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3" y="2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6" y="7"/>
                </a:lnTo>
                <a:lnTo>
                  <a:pt x="7" y="9"/>
                </a:lnTo>
                <a:lnTo>
                  <a:pt x="8" y="10"/>
                </a:lnTo>
                <a:lnTo>
                  <a:pt x="9" y="11"/>
                </a:lnTo>
                <a:lnTo>
                  <a:pt x="9" y="10"/>
                </a:lnTo>
                <a:lnTo>
                  <a:pt x="10" y="9"/>
                </a:lnTo>
                <a:lnTo>
                  <a:pt x="11" y="9"/>
                </a:lnTo>
                <a:lnTo>
                  <a:pt x="12" y="10"/>
                </a:lnTo>
                <a:lnTo>
                  <a:pt x="13" y="10"/>
                </a:lnTo>
                <a:lnTo>
                  <a:pt x="13" y="9"/>
                </a:lnTo>
                <a:lnTo>
                  <a:pt x="14" y="7"/>
                </a:lnTo>
                <a:lnTo>
                  <a:pt x="15" y="7"/>
                </a:lnTo>
                <a:lnTo>
                  <a:pt x="16" y="6"/>
                </a:lnTo>
                <a:lnTo>
                  <a:pt x="17" y="6"/>
                </a:lnTo>
                <a:lnTo>
                  <a:pt x="17" y="6"/>
                </a:lnTo>
                <a:lnTo>
                  <a:pt x="18" y="4"/>
                </a:lnTo>
                <a:lnTo>
                  <a:pt x="19" y="2"/>
                </a:lnTo>
                <a:lnTo>
                  <a:pt x="20" y="1"/>
                </a:lnTo>
                <a:lnTo>
                  <a:pt x="20" y="1"/>
                </a:lnTo>
                <a:lnTo>
                  <a:pt x="21" y="2"/>
                </a:lnTo>
                <a:lnTo>
                  <a:pt x="22" y="3"/>
                </a:lnTo>
              </a:path>
            </a:pathLst>
          </a:custGeom>
          <a:noFill/>
          <a:ln w="10477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tmf-0307"/>
          <p:cNvSpPr/>
          <p:nvPr/>
        </p:nvSpPr>
        <p:spPr>
          <a:xfrm>
            <a:off x="9988549" y="419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tmf-0308"/>
          <p:cNvSpPr/>
          <p:nvPr/>
        </p:nvSpPr>
        <p:spPr>
          <a:xfrm>
            <a:off x="10007599" y="450850"/>
            <a:ext cx="139700" cy="69850"/>
          </a:xfrm>
          <a:custGeom>
            <a:avLst/>
            <a:gdLst/>
            <a:ahLst/>
            <a:cxnLst/>
            <a:rect l="l" t="t" r="r" b="b"/>
            <a:pathLst>
              <a:path w="22" h="11">
                <a:moveTo>
                  <a:pt x="0" y="0"/>
                </a:moveTo>
                <a:lnTo>
                  <a:pt x="1" y="0"/>
                </a:lnTo>
                <a:lnTo>
                  <a:pt x="2" y="1"/>
                </a:lnTo>
                <a:lnTo>
                  <a:pt x="2" y="4"/>
                </a:lnTo>
                <a:lnTo>
                  <a:pt x="3" y="6"/>
                </a:lnTo>
                <a:lnTo>
                  <a:pt x="4" y="7"/>
                </a:lnTo>
                <a:lnTo>
                  <a:pt x="5" y="7"/>
                </a:lnTo>
                <a:lnTo>
                  <a:pt x="6" y="8"/>
                </a:lnTo>
                <a:lnTo>
                  <a:pt x="6" y="9"/>
                </a:lnTo>
                <a:lnTo>
                  <a:pt x="7" y="10"/>
                </a:lnTo>
                <a:lnTo>
                  <a:pt x="8" y="11"/>
                </a:lnTo>
                <a:lnTo>
                  <a:pt x="9" y="10"/>
                </a:lnTo>
                <a:lnTo>
                  <a:pt x="9" y="9"/>
                </a:lnTo>
                <a:lnTo>
                  <a:pt x="10" y="8"/>
                </a:lnTo>
                <a:lnTo>
                  <a:pt x="11" y="9"/>
                </a:lnTo>
                <a:lnTo>
                  <a:pt x="12" y="9"/>
                </a:lnTo>
                <a:lnTo>
                  <a:pt x="13" y="9"/>
                </a:lnTo>
                <a:lnTo>
                  <a:pt x="13" y="8"/>
                </a:lnTo>
                <a:lnTo>
                  <a:pt x="14" y="6"/>
                </a:lnTo>
                <a:lnTo>
                  <a:pt x="15" y="5"/>
                </a:lnTo>
                <a:lnTo>
                  <a:pt x="16" y="5"/>
                </a:lnTo>
                <a:lnTo>
                  <a:pt x="16" y="4"/>
                </a:lnTo>
                <a:lnTo>
                  <a:pt x="17" y="3"/>
                </a:lnTo>
                <a:lnTo>
                  <a:pt x="18" y="2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4"/>
                </a:lnTo>
                <a:lnTo>
                  <a:pt x="22" y="6"/>
                </a:lnTo>
              </a:path>
            </a:pathLst>
          </a:custGeom>
          <a:noFill/>
          <a:ln w="10477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tmf-0309"/>
          <p:cNvSpPr/>
          <p:nvPr/>
        </p:nvSpPr>
        <p:spPr>
          <a:xfrm>
            <a:off x="10236199" y="419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tmf-0310"/>
          <p:cNvSpPr/>
          <p:nvPr/>
        </p:nvSpPr>
        <p:spPr>
          <a:xfrm>
            <a:off x="10255249" y="457200"/>
            <a:ext cx="139700" cy="635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1"/>
                </a:moveTo>
                <a:lnTo>
                  <a:pt x="1" y="2"/>
                </a:lnTo>
                <a:lnTo>
                  <a:pt x="2" y="4"/>
                </a:lnTo>
                <a:lnTo>
                  <a:pt x="2" y="6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8"/>
                </a:lnTo>
                <a:lnTo>
                  <a:pt x="9" y="7"/>
                </a:lnTo>
                <a:lnTo>
                  <a:pt x="10" y="7"/>
                </a:ln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3" y="4"/>
                </a:lnTo>
                <a:lnTo>
                  <a:pt x="14" y="3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7" y="1"/>
                </a:lnTo>
                <a:lnTo>
                  <a:pt x="18" y="0"/>
                </a:lnTo>
                <a:lnTo>
                  <a:pt x="19" y="1"/>
                </a:lnTo>
                <a:lnTo>
                  <a:pt x="20" y="2"/>
                </a:lnTo>
                <a:lnTo>
                  <a:pt x="20" y="5"/>
                </a:lnTo>
                <a:lnTo>
                  <a:pt x="21" y="8"/>
                </a:lnTo>
                <a:lnTo>
                  <a:pt x="22" y="10"/>
                </a:lnTo>
              </a:path>
            </a:pathLst>
          </a:custGeom>
          <a:noFill/>
          <a:ln w="10477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tmf-0311"/>
          <p:cNvSpPr/>
          <p:nvPr/>
        </p:nvSpPr>
        <p:spPr>
          <a:xfrm>
            <a:off x="10483849" y="419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tmf-0312"/>
          <p:cNvSpPr/>
          <p:nvPr/>
        </p:nvSpPr>
        <p:spPr>
          <a:xfrm>
            <a:off x="10502899" y="457200"/>
            <a:ext cx="139700" cy="762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4"/>
                </a:moveTo>
                <a:lnTo>
                  <a:pt x="1" y="5"/>
                </a:lnTo>
                <a:lnTo>
                  <a:pt x="2" y="7"/>
                </a:lnTo>
                <a:lnTo>
                  <a:pt x="2" y="9"/>
                </a:lnTo>
                <a:lnTo>
                  <a:pt x="3" y="9"/>
                </a:lnTo>
                <a:lnTo>
                  <a:pt x="4" y="9"/>
                </a:lnTo>
                <a:lnTo>
                  <a:pt x="5" y="8"/>
                </a:lnTo>
                <a:lnTo>
                  <a:pt x="6" y="8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1" y="6"/>
                </a:lnTo>
                <a:lnTo>
                  <a:pt x="12" y="5"/>
                </a:lnTo>
                <a:lnTo>
                  <a:pt x="13" y="4"/>
                </a:lnTo>
                <a:lnTo>
                  <a:pt x="13" y="1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1"/>
                </a:lnTo>
                <a:lnTo>
                  <a:pt x="17" y="2"/>
                </a:lnTo>
                <a:lnTo>
                  <a:pt x="18" y="3"/>
                </a:lnTo>
                <a:lnTo>
                  <a:pt x="19" y="5"/>
                </a:lnTo>
                <a:lnTo>
                  <a:pt x="20" y="7"/>
                </a:lnTo>
                <a:lnTo>
                  <a:pt x="20" y="10"/>
                </a:lnTo>
                <a:lnTo>
                  <a:pt x="21" y="12"/>
                </a:lnTo>
                <a:lnTo>
                  <a:pt x="22" y="12"/>
                </a:lnTo>
              </a:path>
            </a:pathLst>
          </a:custGeom>
          <a:noFill/>
          <a:ln w="10477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tmf-0313"/>
          <p:cNvSpPr/>
          <p:nvPr/>
        </p:nvSpPr>
        <p:spPr>
          <a:xfrm>
            <a:off x="10731499" y="419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tmf-0314"/>
          <p:cNvSpPr/>
          <p:nvPr/>
        </p:nvSpPr>
        <p:spPr>
          <a:xfrm>
            <a:off x="10750549" y="450850"/>
            <a:ext cx="139700" cy="88900"/>
          </a:xfrm>
          <a:custGeom>
            <a:avLst/>
            <a:gdLst/>
            <a:ahLst/>
            <a:cxnLst/>
            <a:rect l="l" t="t" r="r" b="b"/>
            <a:pathLst>
              <a:path w="22" h="14">
                <a:moveTo>
                  <a:pt x="0" y="7"/>
                </a:moveTo>
                <a:lnTo>
                  <a:pt x="1" y="8"/>
                </a:lnTo>
                <a:lnTo>
                  <a:pt x="2" y="10"/>
                </a:lnTo>
                <a:lnTo>
                  <a:pt x="2" y="10"/>
                </a:lnTo>
                <a:lnTo>
                  <a:pt x="3" y="10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9"/>
                </a:lnTo>
                <a:lnTo>
                  <a:pt x="7" y="10"/>
                </a:lnTo>
                <a:lnTo>
                  <a:pt x="8" y="9"/>
                </a:lnTo>
                <a:lnTo>
                  <a:pt x="9" y="7"/>
                </a:lnTo>
                <a:lnTo>
                  <a:pt x="9" y="5"/>
                </a:lnTo>
                <a:lnTo>
                  <a:pt x="10" y="4"/>
                </a:lnTo>
                <a:lnTo>
                  <a:pt x="11" y="4"/>
                </a:lnTo>
                <a:lnTo>
                  <a:pt x="12" y="3"/>
                </a:lnTo>
                <a:lnTo>
                  <a:pt x="13" y="2"/>
                </a:lnTo>
                <a:lnTo>
                  <a:pt x="13" y="0"/>
                </a:lnTo>
                <a:lnTo>
                  <a:pt x="14" y="0"/>
                </a:lnTo>
                <a:lnTo>
                  <a:pt x="15" y="1"/>
                </a:lnTo>
                <a:lnTo>
                  <a:pt x="16" y="4"/>
                </a:lnTo>
                <a:lnTo>
                  <a:pt x="17" y="6"/>
                </a:lnTo>
                <a:lnTo>
                  <a:pt x="17" y="8"/>
                </a:lnTo>
                <a:lnTo>
                  <a:pt x="18" y="9"/>
                </a:lnTo>
                <a:lnTo>
                  <a:pt x="19" y="10"/>
                </a:lnTo>
                <a:lnTo>
                  <a:pt x="20" y="12"/>
                </a:lnTo>
                <a:lnTo>
                  <a:pt x="20" y="14"/>
                </a:lnTo>
                <a:lnTo>
                  <a:pt x="21" y="14"/>
                </a:lnTo>
                <a:lnTo>
                  <a:pt x="22" y="12"/>
                </a:lnTo>
              </a:path>
            </a:pathLst>
          </a:custGeom>
          <a:noFill/>
          <a:ln w="10477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tmf-0315"/>
          <p:cNvSpPr/>
          <p:nvPr/>
        </p:nvSpPr>
        <p:spPr>
          <a:xfrm>
            <a:off x="9493249" y="6096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tmf-0316"/>
          <p:cNvSpPr/>
          <p:nvPr/>
        </p:nvSpPr>
        <p:spPr>
          <a:xfrm>
            <a:off x="9512299" y="641350"/>
            <a:ext cx="139700" cy="69850"/>
          </a:xfrm>
          <a:custGeom>
            <a:avLst/>
            <a:gdLst/>
            <a:ahLst/>
            <a:cxnLst/>
            <a:rect l="l" t="t" r="r" b="b"/>
            <a:pathLst>
              <a:path w="22" h="1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3" y="4"/>
                </a:lnTo>
                <a:lnTo>
                  <a:pt x="4" y="5"/>
                </a:lnTo>
                <a:lnTo>
                  <a:pt x="5" y="6"/>
                </a:lnTo>
                <a:lnTo>
                  <a:pt x="6" y="7"/>
                </a:lnTo>
                <a:lnTo>
                  <a:pt x="6" y="8"/>
                </a:lnTo>
                <a:lnTo>
                  <a:pt x="7" y="10"/>
                </a:lnTo>
                <a:lnTo>
                  <a:pt x="8" y="11"/>
                </a:lnTo>
                <a:lnTo>
                  <a:pt x="9" y="10"/>
                </a:lnTo>
                <a:lnTo>
                  <a:pt x="9" y="9"/>
                </a:lnTo>
                <a:lnTo>
                  <a:pt x="10" y="9"/>
                </a:lnTo>
                <a:lnTo>
                  <a:pt x="11" y="9"/>
                </a:lnTo>
                <a:lnTo>
                  <a:pt x="12" y="9"/>
                </a:lnTo>
                <a:lnTo>
                  <a:pt x="13" y="9"/>
                </a:lnTo>
                <a:lnTo>
                  <a:pt x="13" y="8"/>
                </a:lnTo>
                <a:lnTo>
                  <a:pt x="14" y="7"/>
                </a:lnTo>
                <a:lnTo>
                  <a:pt x="15" y="6"/>
                </a:lnTo>
                <a:lnTo>
                  <a:pt x="16" y="6"/>
                </a:lnTo>
                <a:lnTo>
                  <a:pt x="16" y="5"/>
                </a:lnTo>
                <a:lnTo>
                  <a:pt x="17" y="4"/>
                </a:lnTo>
                <a:lnTo>
                  <a:pt x="18" y="3"/>
                </a:lnTo>
                <a:lnTo>
                  <a:pt x="19" y="1"/>
                </a:lnTo>
                <a:lnTo>
                  <a:pt x="20" y="1"/>
                </a:lnTo>
                <a:lnTo>
                  <a:pt x="20" y="1"/>
                </a:lnTo>
                <a:lnTo>
                  <a:pt x="21" y="3"/>
                </a:lnTo>
                <a:lnTo>
                  <a:pt x="22" y="4"/>
                </a:lnTo>
              </a:path>
            </a:pathLst>
          </a:custGeom>
          <a:noFill/>
          <a:ln w="10477">
            <a:solidFill>
              <a:srgbClr val="F4A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stmf-0317"/>
          <p:cNvSpPr/>
          <p:nvPr/>
        </p:nvSpPr>
        <p:spPr>
          <a:xfrm>
            <a:off x="9740899" y="6096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stmf-0318"/>
          <p:cNvSpPr/>
          <p:nvPr/>
        </p:nvSpPr>
        <p:spPr>
          <a:xfrm>
            <a:off x="9759949" y="647700"/>
            <a:ext cx="139700" cy="57150"/>
          </a:xfrm>
          <a:custGeom>
            <a:avLst/>
            <a:gdLst/>
            <a:ahLst/>
            <a:cxnLst/>
            <a:rect l="l" t="t" r="r" b="b"/>
            <a:pathLst>
              <a:path w="22" h="9">
                <a:moveTo>
                  <a:pt x="0" y="0"/>
                </a:moveTo>
                <a:lnTo>
                  <a:pt x="1" y="0"/>
                </a:lnTo>
                <a:lnTo>
                  <a:pt x="2" y="2"/>
                </a:lnTo>
                <a:lnTo>
                  <a:pt x="2" y="5"/>
                </a:lnTo>
                <a:lnTo>
                  <a:pt x="3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9"/>
                </a:lnTo>
                <a:lnTo>
                  <a:pt x="9" y="7"/>
                </a:lnTo>
                <a:lnTo>
                  <a:pt x="10" y="7"/>
                </a:lnTo>
                <a:lnTo>
                  <a:pt x="11" y="7"/>
                </a:lnTo>
                <a:lnTo>
                  <a:pt x="12" y="8"/>
                </a:lnTo>
                <a:lnTo>
                  <a:pt x="13" y="7"/>
                </a:lnTo>
                <a:lnTo>
                  <a:pt x="13" y="6"/>
                </a:lnTo>
                <a:lnTo>
                  <a:pt x="14" y="4"/>
                </a:lnTo>
                <a:lnTo>
                  <a:pt x="15" y="3"/>
                </a:lnTo>
                <a:lnTo>
                  <a:pt x="16" y="2"/>
                </a:lnTo>
                <a:lnTo>
                  <a:pt x="17" y="2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0" y="1"/>
                </a:lnTo>
                <a:lnTo>
                  <a:pt x="20" y="3"/>
                </a:lnTo>
                <a:lnTo>
                  <a:pt x="21" y="6"/>
                </a:lnTo>
                <a:lnTo>
                  <a:pt x="22" y="8"/>
                </a:lnTo>
              </a:path>
            </a:pathLst>
          </a:custGeom>
          <a:noFill/>
          <a:ln w="10477">
            <a:solidFill>
              <a:srgbClr val="F4A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stmf-0319"/>
          <p:cNvSpPr/>
          <p:nvPr/>
        </p:nvSpPr>
        <p:spPr>
          <a:xfrm>
            <a:off x="9988549" y="6096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stmf-0320"/>
          <p:cNvSpPr/>
          <p:nvPr/>
        </p:nvSpPr>
        <p:spPr>
          <a:xfrm>
            <a:off x="10007599" y="647700"/>
            <a:ext cx="139700" cy="762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3"/>
                </a:moveTo>
                <a:lnTo>
                  <a:pt x="1" y="4"/>
                </a:lnTo>
                <a:lnTo>
                  <a:pt x="2" y="6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8"/>
                </a:lnTo>
                <a:lnTo>
                  <a:pt x="6" y="8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8"/>
                </a:lnTo>
                <a:lnTo>
                  <a:pt x="9" y="7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3" y="5"/>
                </a:lnTo>
                <a:lnTo>
                  <a:pt x="13" y="3"/>
                </a:lnTo>
                <a:lnTo>
                  <a:pt x="14" y="1"/>
                </a:lnTo>
                <a:lnTo>
                  <a:pt x="15" y="0"/>
                </a:lnTo>
                <a:lnTo>
                  <a:pt x="16" y="0"/>
                </a:lnTo>
                <a:lnTo>
                  <a:pt x="16" y="1"/>
                </a:lnTo>
                <a:lnTo>
                  <a:pt x="17" y="1"/>
                </a:lnTo>
                <a:lnTo>
                  <a:pt x="18" y="2"/>
                </a:lnTo>
                <a:lnTo>
                  <a:pt x="19" y="3"/>
                </a:lnTo>
                <a:lnTo>
                  <a:pt x="20" y="5"/>
                </a:lnTo>
                <a:lnTo>
                  <a:pt x="20" y="8"/>
                </a:lnTo>
                <a:lnTo>
                  <a:pt x="21" y="10"/>
                </a:lnTo>
                <a:lnTo>
                  <a:pt x="22" y="12"/>
                </a:lnTo>
              </a:path>
            </a:pathLst>
          </a:custGeom>
          <a:noFill/>
          <a:ln w="10477">
            <a:solidFill>
              <a:srgbClr val="F4A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stmf-0321"/>
          <p:cNvSpPr/>
          <p:nvPr/>
        </p:nvSpPr>
        <p:spPr>
          <a:xfrm>
            <a:off x="10236199" y="6096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stmf-0322"/>
          <p:cNvSpPr/>
          <p:nvPr/>
        </p:nvSpPr>
        <p:spPr>
          <a:xfrm>
            <a:off x="10255249" y="641350"/>
            <a:ext cx="139700" cy="88900"/>
          </a:xfrm>
          <a:custGeom>
            <a:avLst/>
            <a:gdLst/>
            <a:ahLst/>
            <a:cxnLst/>
            <a:rect l="l" t="t" r="r" b="b"/>
            <a:pathLst>
              <a:path w="22" h="14">
                <a:moveTo>
                  <a:pt x="0" y="7"/>
                </a:moveTo>
                <a:lnTo>
                  <a:pt x="1" y="8"/>
                </a:lnTo>
                <a:lnTo>
                  <a:pt x="2" y="9"/>
                </a:lnTo>
                <a:lnTo>
                  <a:pt x="2" y="10"/>
                </a:lnTo>
                <a:lnTo>
                  <a:pt x="3" y="10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9"/>
                </a:lnTo>
                <a:lnTo>
                  <a:pt x="7" y="10"/>
                </a:lnTo>
                <a:lnTo>
                  <a:pt x="8" y="9"/>
                </a:lnTo>
                <a:lnTo>
                  <a:pt x="9" y="8"/>
                </a:lnTo>
                <a:lnTo>
                  <a:pt x="9" y="6"/>
                </a:lnTo>
                <a:lnTo>
                  <a:pt x="10" y="6"/>
                </a:lnTo>
                <a:lnTo>
                  <a:pt x="11" y="5"/>
                </a:lnTo>
                <a:lnTo>
                  <a:pt x="12" y="4"/>
                </a:lnTo>
                <a:lnTo>
                  <a:pt x="13" y="3"/>
                </a:lnTo>
                <a:lnTo>
                  <a:pt x="13" y="1"/>
                </a:lnTo>
                <a:lnTo>
                  <a:pt x="14" y="0"/>
                </a:lnTo>
                <a:lnTo>
                  <a:pt x="15" y="1"/>
                </a:lnTo>
                <a:lnTo>
                  <a:pt x="16" y="2"/>
                </a:lnTo>
                <a:lnTo>
                  <a:pt x="17" y="4"/>
                </a:lnTo>
                <a:lnTo>
                  <a:pt x="17" y="5"/>
                </a:lnTo>
                <a:lnTo>
                  <a:pt x="18" y="7"/>
                </a:lnTo>
                <a:lnTo>
                  <a:pt x="19" y="8"/>
                </a:lnTo>
                <a:lnTo>
                  <a:pt x="20" y="11"/>
                </a:lnTo>
                <a:lnTo>
                  <a:pt x="20" y="13"/>
                </a:lnTo>
                <a:lnTo>
                  <a:pt x="21" y="14"/>
                </a:lnTo>
                <a:lnTo>
                  <a:pt x="22" y="13"/>
                </a:lnTo>
              </a:path>
            </a:pathLst>
          </a:custGeom>
          <a:noFill/>
          <a:ln w="10477">
            <a:solidFill>
              <a:srgbClr val="F4A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stmf-0323"/>
          <p:cNvSpPr/>
          <p:nvPr/>
        </p:nvSpPr>
        <p:spPr>
          <a:xfrm>
            <a:off x="10483849" y="6096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stmf-0324"/>
          <p:cNvSpPr/>
          <p:nvPr/>
        </p:nvSpPr>
        <p:spPr>
          <a:xfrm>
            <a:off x="10502899" y="647700"/>
            <a:ext cx="139700" cy="762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7"/>
                </a:move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6" y="8"/>
                </a:lnTo>
                <a:lnTo>
                  <a:pt x="6" y="8"/>
                </a:lnTo>
                <a:lnTo>
                  <a:pt x="7" y="8"/>
                </a:lnTo>
                <a:lnTo>
                  <a:pt x="8" y="6"/>
                </a:lnTo>
                <a:lnTo>
                  <a:pt x="9" y="4"/>
                </a:lnTo>
                <a:lnTo>
                  <a:pt x="9" y="3"/>
                </a:lnTo>
                <a:lnTo>
                  <a:pt x="10" y="2"/>
                </a:lnTo>
                <a:lnTo>
                  <a:pt x="11" y="1"/>
                </a:lnTo>
                <a:lnTo>
                  <a:pt x="12" y="1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5" y="2"/>
                </a:lnTo>
                <a:lnTo>
                  <a:pt x="16" y="5"/>
                </a:lnTo>
                <a:lnTo>
                  <a:pt x="16" y="8"/>
                </a:lnTo>
                <a:lnTo>
                  <a:pt x="17" y="9"/>
                </a:lnTo>
                <a:lnTo>
                  <a:pt x="18" y="10"/>
                </a:lnTo>
                <a:lnTo>
                  <a:pt x="19" y="11"/>
                </a:lnTo>
                <a:lnTo>
                  <a:pt x="20" y="12"/>
                </a:lnTo>
                <a:lnTo>
                  <a:pt x="20" y="12"/>
                </a:lnTo>
                <a:lnTo>
                  <a:pt x="21" y="11"/>
                </a:lnTo>
                <a:lnTo>
                  <a:pt x="22" y="9"/>
                </a:lnTo>
              </a:path>
            </a:pathLst>
          </a:custGeom>
          <a:noFill/>
          <a:ln w="10477">
            <a:solidFill>
              <a:srgbClr val="F4A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stmf-0325"/>
          <p:cNvSpPr/>
          <p:nvPr/>
        </p:nvSpPr>
        <p:spPr>
          <a:xfrm>
            <a:off x="10731499" y="6096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stmf-0326"/>
          <p:cNvSpPr/>
          <p:nvPr/>
        </p:nvSpPr>
        <p:spPr>
          <a:xfrm>
            <a:off x="10750549" y="647700"/>
            <a:ext cx="139700" cy="762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7"/>
                </a:move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6"/>
                </a:lnTo>
                <a:lnTo>
                  <a:pt x="7" y="5"/>
                </a:lnTo>
                <a:lnTo>
                  <a:pt x="8" y="3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3" y="2"/>
                </a:lnTo>
                <a:lnTo>
                  <a:pt x="14" y="4"/>
                </a:lnTo>
                <a:lnTo>
                  <a:pt x="15" y="7"/>
                </a:lnTo>
                <a:lnTo>
                  <a:pt x="16" y="10"/>
                </a:lnTo>
                <a:lnTo>
                  <a:pt x="17" y="12"/>
                </a:lnTo>
                <a:lnTo>
                  <a:pt x="17" y="12"/>
                </a:lnTo>
                <a:lnTo>
                  <a:pt x="18" y="11"/>
                </a:lnTo>
                <a:lnTo>
                  <a:pt x="19" y="11"/>
                </a:lnTo>
                <a:lnTo>
                  <a:pt x="20" y="10"/>
                </a:lnTo>
                <a:lnTo>
                  <a:pt x="20" y="9"/>
                </a:lnTo>
                <a:lnTo>
                  <a:pt x="21" y="7"/>
                </a:lnTo>
                <a:lnTo>
                  <a:pt x="22" y="5"/>
                </a:lnTo>
              </a:path>
            </a:pathLst>
          </a:custGeom>
          <a:noFill/>
          <a:ln w="10477">
            <a:solidFill>
              <a:srgbClr val="F4A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stmf-0327"/>
          <p:cNvSpPr/>
          <p:nvPr/>
        </p:nvSpPr>
        <p:spPr>
          <a:xfrm>
            <a:off x="9493249" y="800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stmf-0328"/>
          <p:cNvSpPr/>
          <p:nvPr/>
        </p:nvSpPr>
        <p:spPr>
          <a:xfrm>
            <a:off x="9512299" y="844550"/>
            <a:ext cx="139700" cy="57150"/>
          </a:xfrm>
          <a:custGeom>
            <a:avLst/>
            <a:gdLst/>
            <a:ahLst/>
            <a:cxnLst/>
            <a:rect l="l" t="t" r="r" b="b"/>
            <a:pathLst>
              <a:path w="22" h="9">
                <a:moveTo>
                  <a:pt x="0" y="0"/>
                </a:moveTo>
                <a:lnTo>
                  <a:pt x="1" y="1"/>
                </a:lnTo>
                <a:lnTo>
                  <a:pt x="2" y="3"/>
                </a:lnTo>
                <a:lnTo>
                  <a:pt x="2" y="6"/>
                </a:lnTo>
                <a:lnTo>
                  <a:pt x="3" y="7"/>
                </a:lnTo>
                <a:lnTo>
                  <a:pt x="4" y="7"/>
                </a:lnTo>
                <a:lnTo>
                  <a:pt x="5" y="7"/>
                </a:lnTo>
                <a:lnTo>
                  <a:pt x="6" y="7"/>
                </a:lnTo>
                <a:lnTo>
                  <a:pt x="6" y="8"/>
                </a:lnTo>
                <a:lnTo>
                  <a:pt x="7" y="8"/>
                </a:lnTo>
                <a:lnTo>
                  <a:pt x="8" y="8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3" y="5"/>
                </a:lnTo>
                <a:lnTo>
                  <a:pt x="13" y="3"/>
                </a:lnTo>
                <a:lnTo>
                  <a:pt x="14" y="1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20" y="2"/>
                </a:lnTo>
                <a:lnTo>
                  <a:pt x="20" y="4"/>
                </a:lnTo>
                <a:lnTo>
                  <a:pt x="21" y="7"/>
                </a:lnTo>
                <a:lnTo>
                  <a:pt x="22" y="9"/>
                </a:lnTo>
              </a:path>
            </a:pathLst>
          </a:custGeom>
          <a:noFill/>
          <a:ln w="10477">
            <a:solidFill>
              <a:srgbClr val="8FB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stmf-0329"/>
          <p:cNvSpPr/>
          <p:nvPr/>
        </p:nvSpPr>
        <p:spPr>
          <a:xfrm>
            <a:off x="9740899" y="800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stmf-0330"/>
          <p:cNvSpPr/>
          <p:nvPr/>
        </p:nvSpPr>
        <p:spPr>
          <a:xfrm>
            <a:off x="9759949" y="838200"/>
            <a:ext cx="139700" cy="76200"/>
          </a:xfrm>
          <a:custGeom>
            <a:avLst/>
            <a:gdLst/>
            <a:ahLst/>
            <a:cxnLst/>
            <a:rect l="l" t="t" r="r" b="b"/>
            <a:pathLst>
              <a:path w="22" h="12">
                <a:moveTo>
                  <a:pt x="0" y="4"/>
                </a:moveTo>
                <a:lnTo>
                  <a:pt x="1" y="6"/>
                </a:lnTo>
                <a:lnTo>
                  <a:pt x="2" y="7"/>
                </a:lnTo>
                <a:lnTo>
                  <a:pt x="2" y="9"/>
                </a:lnTo>
                <a:lnTo>
                  <a:pt x="3" y="9"/>
                </a:lnTo>
                <a:lnTo>
                  <a:pt x="4" y="9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9"/>
                </a:lnTo>
                <a:lnTo>
                  <a:pt x="8" y="9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1" y="5"/>
                </a:lnTo>
                <a:lnTo>
                  <a:pt x="12" y="5"/>
                </a:lnTo>
                <a:lnTo>
                  <a:pt x="13" y="3"/>
                </a:lnTo>
                <a:lnTo>
                  <a:pt x="13" y="1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7" y="2"/>
                </a:lnTo>
                <a:lnTo>
                  <a:pt x="17" y="3"/>
                </a:lnTo>
                <a:lnTo>
                  <a:pt x="18" y="4"/>
                </a:lnTo>
                <a:lnTo>
                  <a:pt x="19" y="5"/>
                </a:lnTo>
                <a:lnTo>
                  <a:pt x="20" y="8"/>
                </a:lnTo>
                <a:lnTo>
                  <a:pt x="20" y="10"/>
                </a:lnTo>
                <a:lnTo>
                  <a:pt x="21" y="12"/>
                </a:lnTo>
                <a:lnTo>
                  <a:pt x="22" y="12"/>
                </a:lnTo>
              </a:path>
            </a:pathLst>
          </a:custGeom>
          <a:noFill/>
          <a:ln w="10477">
            <a:solidFill>
              <a:srgbClr val="8FB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stmf-0331"/>
          <p:cNvSpPr/>
          <p:nvPr/>
        </p:nvSpPr>
        <p:spPr>
          <a:xfrm>
            <a:off x="9988549" y="800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stmf-0332"/>
          <p:cNvSpPr/>
          <p:nvPr/>
        </p:nvSpPr>
        <p:spPr>
          <a:xfrm>
            <a:off x="10007599" y="831850"/>
            <a:ext cx="139700" cy="88900"/>
          </a:xfrm>
          <a:custGeom>
            <a:avLst/>
            <a:gdLst/>
            <a:ahLst/>
            <a:cxnLst/>
            <a:rect l="l" t="t" r="r" b="b"/>
            <a:pathLst>
              <a:path w="22" h="14">
                <a:moveTo>
                  <a:pt x="0" y="8"/>
                </a:moveTo>
                <a:lnTo>
                  <a:pt x="1" y="8"/>
                </a:lnTo>
                <a:lnTo>
                  <a:pt x="2" y="10"/>
                </a:lnTo>
                <a:lnTo>
                  <a:pt x="2" y="10"/>
                </a:lnTo>
                <a:lnTo>
                  <a:pt x="3" y="10"/>
                </a:lnTo>
                <a:lnTo>
                  <a:pt x="4" y="9"/>
                </a:lnTo>
                <a:lnTo>
                  <a:pt x="5" y="9"/>
                </a:lnTo>
                <a:lnTo>
                  <a:pt x="6" y="9"/>
                </a:lnTo>
                <a:lnTo>
                  <a:pt x="6" y="9"/>
                </a:lnTo>
                <a:lnTo>
                  <a:pt x="7" y="9"/>
                </a:lnTo>
                <a:lnTo>
                  <a:pt x="8" y="8"/>
                </a:lnTo>
                <a:lnTo>
                  <a:pt x="9" y="7"/>
                </a:lnTo>
                <a:lnTo>
                  <a:pt x="9" y="5"/>
                </a:lnTo>
                <a:lnTo>
                  <a:pt x="10" y="4"/>
                </a:lnTo>
                <a:lnTo>
                  <a:pt x="11" y="4"/>
                </a:lnTo>
                <a:lnTo>
                  <a:pt x="12" y="3"/>
                </a:lnTo>
                <a:lnTo>
                  <a:pt x="13" y="2"/>
                </a:lnTo>
                <a:lnTo>
                  <a:pt x="13" y="0"/>
                </a:lnTo>
                <a:lnTo>
                  <a:pt x="14" y="0"/>
                </a:lnTo>
                <a:lnTo>
                  <a:pt x="15" y="2"/>
                </a:lnTo>
                <a:lnTo>
                  <a:pt x="16" y="4"/>
                </a:lnTo>
                <a:lnTo>
                  <a:pt x="16" y="6"/>
                </a:lnTo>
                <a:lnTo>
                  <a:pt x="17" y="8"/>
                </a:lnTo>
                <a:lnTo>
                  <a:pt x="18" y="9"/>
                </a:lnTo>
                <a:lnTo>
                  <a:pt x="19" y="11"/>
                </a:lnTo>
                <a:lnTo>
                  <a:pt x="20" y="12"/>
                </a:lnTo>
                <a:lnTo>
                  <a:pt x="20" y="14"/>
                </a:lnTo>
                <a:lnTo>
                  <a:pt x="21" y="14"/>
                </a:lnTo>
                <a:lnTo>
                  <a:pt x="22" y="12"/>
                </a:lnTo>
              </a:path>
            </a:pathLst>
          </a:custGeom>
          <a:noFill/>
          <a:ln w="10477">
            <a:solidFill>
              <a:srgbClr val="8FB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stmf-0333"/>
          <p:cNvSpPr/>
          <p:nvPr/>
        </p:nvSpPr>
        <p:spPr>
          <a:xfrm>
            <a:off x="10236199" y="800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stmf-0334"/>
          <p:cNvSpPr/>
          <p:nvPr/>
        </p:nvSpPr>
        <p:spPr>
          <a:xfrm>
            <a:off x="10255249" y="838200"/>
            <a:ext cx="139700" cy="69850"/>
          </a:xfrm>
          <a:custGeom>
            <a:avLst/>
            <a:gdLst/>
            <a:ahLst/>
            <a:cxnLst/>
            <a:rect l="l" t="t" r="r" b="b"/>
            <a:pathLst>
              <a:path w="22" h="11">
                <a:moveTo>
                  <a:pt x="0" y="7"/>
                </a:move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7"/>
                </a:lnTo>
                <a:lnTo>
                  <a:pt x="8" y="5"/>
                </a:lnTo>
                <a:lnTo>
                  <a:pt x="9" y="3"/>
                </a:lnTo>
                <a:lnTo>
                  <a:pt x="9" y="1"/>
                </a:lnTo>
                <a:lnTo>
                  <a:pt x="10" y="0"/>
                </a:lnTo>
                <a:lnTo>
                  <a:pt x="11" y="1"/>
                </a:lnTo>
                <a:lnTo>
                  <a:pt x="12" y="1"/>
                </a:lnTo>
                <a:lnTo>
                  <a:pt x="13" y="0"/>
                </a:lnTo>
                <a:lnTo>
                  <a:pt x="13" y="1"/>
                </a:lnTo>
                <a:lnTo>
                  <a:pt x="14" y="2"/>
                </a:lnTo>
                <a:lnTo>
                  <a:pt x="15" y="5"/>
                </a:lnTo>
                <a:lnTo>
                  <a:pt x="16" y="8"/>
                </a:lnTo>
                <a:lnTo>
                  <a:pt x="17" y="10"/>
                </a:lnTo>
                <a:lnTo>
                  <a:pt x="17" y="11"/>
                </a:lnTo>
                <a:lnTo>
                  <a:pt x="18" y="11"/>
                </a:lnTo>
                <a:lnTo>
                  <a:pt x="19" y="11"/>
                </a:lnTo>
                <a:lnTo>
                  <a:pt x="20" y="11"/>
                </a:lnTo>
                <a:lnTo>
                  <a:pt x="20" y="11"/>
                </a:lnTo>
                <a:lnTo>
                  <a:pt x="21" y="9"/>
                </a:lnTo>
                <a:lnTo>
                  <a:pt x="22" y="7"/>
                </a:lnTo>
              </a:path>
            </a:pathLst>
          </a:custGeom>
          <a:noFill/>
          <a:ln w="10477">
            <a:solidFill>
              <a:srgbClr val="8FB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stmf-0335"/>
          <p:cNvSpPr/>
          <p:nvPr/>
        </p:nvSpPr>
        <p:spPr>
          <a:xfrm>
            <a:off x="10483849" y="800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stmf-0336"/>
          <p:cNvSpPr/>
          <p:nvPr/>
        </p:nvSpPr>
        <p:spPr>
          <a:xfrm>
            <a:off x="10502899" y="831850"/>
            <a:ext cx="139700" cy="88900"/>
          </a:xfrm>
          <a:custGeom>
            <a:avLst/>
            <a:gdLst/>
            <a:ahLst/>
            <a:cxnLst/>
            <a:rect l="l" t="t" r="r" b="b"/>
            <a:pathLst>
              <a:path w="22" h="14">
                <a:moveTo>
                  <a:pt x="0" y="9"/>
                </a:moveTo>
                <a:lnTo>
                  <a:pt x="1" y="9"/>
                </a:lnTo>
                <a:lnTo>
                  <a:pt x="2" y="10"/>
                </a:lnTo>
                <a:lnTo>
                  <a:pt x="2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7" y="5"/>
                </a:lnTo>
                <a:lnTo>
                  <a:pt x="8" y="2"/>
                </a:lnTo>
                <a:lnTo>
                  <a:pt x="9" y="1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2" y="4"/>
                </a:lnTo>
                <a:lnTo>
                  <a:pt x="13" y="5"/>
                </a:lnTo>
                <a:lnTo>
                  <a:pt x="13" y="6"/>
                </a:lnTo>
                <a:lnTo>
                  <a:pt x="14" y="8"/>
                </a:lnTo>
                <a:lnTo>
                  <a:pt x="15" y="11"/>
                </a:lnTo>
                <a:lnTo>
                  <a:pt x="16" y="13"/>
                </a:lnTo>
                <a:lnTo>
                  <a:pt x="16" y="14"/>
                </a:lnTo>
                <a:lnTo>
                  <a:pt x="17" y="13"/>
                </a:lnTo>
                <a:lnTo>
                  <a:pt x="18" y="11"/>
                </a:lnTo>
                <a:lnTo>
                  <a:pt x="19" y="10"/>
                </a:lnTo>
                <a:lnTo>
                  <a:pt x="20" y="9"/>
                </a:lnTo>
                <a:lnTo>
                  <a:pt x="20" y="8"/>
                </a:lnTo>
                <a:lnTo>
                  <a:pt x="21" y="6"/>
                </a:lnTo>
                <a:lnTo>
                  <a:pt x="22" y="4"/>
                </a:lnTo>
              </a:path>
            </a:pathLst>
          </a:custGeom>
          <a:noFill/>
          <a:ln w="10477">
            <a:solidFill>
              <a:srgbClr val="8FB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stmf-0337"/>
          <p:cNvSpPr/>
          <p:nvPr/>
        </p:nvSpPr>
        <p:spPr>
          <a:xfrm>
            <a:off x="10731499" y="800100"/>
            <a:ext cx="177800" cy="146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stmf-0338"/>
          <p:cNvSpPr/>
          <p:nvPr/>
        </p:nvSpPr>
        <p:spPr>
          <a:xfrm>
            <a:off x="10750549" y="831850"/>
            <a:ext cx="139700" cy="88900"/>
          </a:xfrm>
          <a:custGeom>
            <a:avLst/>
            <a:gdLst/>
            <a:ahLst/>
            <a:cxnLst/>
            <a:rect l="l" t="t" r="r" b="b"/>
            <a:pathLst>
              <a:path w="22" h="14">
                <a:moveTo>
                  <a:pt x="0" y="9"/>
                </a:moveTo>
                <a:lnTo>
                  <a:pt x="1" y="10"/>
                </a:lnTo>
                <a:lnTo>
                  <a:pt x="2" y="10"/>
                </a:lnTo>
                <a:lnTo>
                  <a:pt x="2" y="9"/>
                </a:lnTo>
                <a:lnTo>
                  <a:pt x="3" y="8"/>
                </a:lnTo>
                <a:lnTo>
                  <a:pt x="4" y="6"/>
                </a:lnTo>
                <a:lnTo>
                  <a:pt x="5" y="4"/>
                </a:lnTo>
                <a:lnTo>
                  <a:pt x="5" y="3"/>
                </a:lnTo>
                <a:lnTo>
                  <a:pt x="6" y="3"/>
                </a:lnTo>
                <a:lnTo>
                  <a:pt x="7" y="2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3"/>
                </a:lnTo>
                <a:lnTo>
                  <a:pt x="11" y="6"/>
                </a:lnTo>
                <a:lnTo>
                  <a:pt x="12" y="8"/>
                </a:lnTo>
                <a:lnTo>
                  <a:pt x="13" y="9"/>
                </a:lnTo>
                <a:lnTo>
                  <a:pt x="13" y="10"/>
                </a:lnTo>
                <a:lnTo>
                  <a:pt x="14" y="12"/>
                </a:lnTo>
                <a:lnTo>
                  <a:pt x="15" y="13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8" y="8"/>
                </a:lnTo>
                <a:lnTo>
                  <a:pt x="19" y="6"/>
                </a:lnTo>
                <a:lnTo>
                  <a:pt x="20" y="5"/>
                </a:lnTo>
                <a:lnTo>
                  <a:pt x="20" y="4"/>
                </a:lnTo>
                <a:lnTo>
                  <a:pt x="21" y="3"/>
                </a:lnTo>
                <a:lnTo>
                  <a:pt x="22" y="2"/>
                </a:lnTo>
              </a:path>
            </a:pathLst>
          </a:custGeom>
          <a:noFill/>
          <a:ln w="10477">
            <a:solidFill>
              <a:srgbClr val="8FB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stmf-0339"/>
          <p:cNvCxnSpPr/>
          <p:nvPr/>
        </p:nvCxnSpPr>
        <p:spPr>
          <a:xfrm>
            <a:off x="11017249" y="723900"/>
            <a:ext cx="3556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stmf-0340"/>
          <p:cNvSpPr/>
          <p:nvPr/>
        </p:nvSpPr>
        <p:spPr>
          <a:xfrm>
            <a:off x="11379199" y="444500"/>
            <a:ext cx="279400" cy="539750"/>
          </a:xfrm>
          <a:prstGeom prst="roundRect">
            <a:avLst>
              <a:gd name="adj" fmla="val 15909"/>
            </a:avLst>
          </a:prstGeom>
          <a:solidFill>
            <a:srgbClr val="F7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stmf-0341"/>
          <p:cNvSpPr txBox="1"/>
          <p:nvPr/>
        </p:nvSpPr>
        <p:spPr>
          <a:xfrm rot="16200000">
            <a:off x="11436349" y="539750"/>
            <a:ext cx="1587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Linear</a:t>
            </a:r>
          </a:p>
        </p:txBody>
      </p:sp>
      <p:cxnSp>
        <p:nvCxnSpPr>
          <p:cNvPr id="343" name="stmf-0342"/>
          <p:cNvCxnSpPr/>
          <p:nvPr/>
        </p:nvCxnSpPr>
        <p:spPr>
          <a:xfrm>
            <a:off x="11468099" y="939800"/>
            <a:ext cx="127000" cy="0"/>
          </a:xfrm>
          <a:prstGeom prst="line">
            <a:avLst/>
          </a:prstGeom>
          <a:ln w="1428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mf-0343"/>
          <p:cNvCxnSpPr/>
          <p:nvPr/>
        </p:nvCxnSpPr>
        <p:spPr>
          <a:xfrm flipV="1">
            <a:off x="11468099" y="932397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mf-0344"/>
          <p:cNvCxnSpPr/>
          <p:nvPr/>
        </p:nvCxnSpPr>
        <p:spPr>
          <a:xfrm>
            <a:off x="11468099" y="939800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mf-0345"/>
          <p:cNvCxnSpPr/>
          <p:nvPr/>
        </p:nvCxnSpPr>
        <p:spPr>
          <a:xfrm flipH="1">
            <a:off x="11574818" y="939800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mf-0346"/>
          <p:cNvCxnSpPr/>
          <p:nvPr/>
        </p:nvCxnSpPr>
        <p:spPr>
          <a:xfrm flipH="1" flipV="1">
            <a:off x="11574818" y="932397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mf-0347"/>
          <p:cNvCxnSpPr/>
          <p:nvPr/>
        </p:nvCxnSpPr>
        <p:spPr>
          <a:xfrm>
            <a:off x="11499849" y="884807"/>
            <a:ext cx="63500" cy="109985"/>
          </a:xfrm>
          <a:prstGeom prst="line">
            <a:avLst/>
          </a:prstGeom>
          <a:ln w="1428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mf-0348"/>
          <p:cNvCxnSpPr/>
          <p:nvPr/>
        </p:nvCxnSpPr>
        <p:spPr>
          <a:xfrm>
            <a:off x="11499849" y="884807"/>
            <a:ext cx="16552" cy="1386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mf-0349"/>
          <p:cNvCxnSpPr/>
          <p:nvPr/>
        </p:nvCxnSpPr>
        <p:spPr>
          <a:xfrm>
            <a:off x="11499849" y="884807"/>
            <a:ext cx="3729" cy="21266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mf-0350"/>
          <p:cNvCxnSpPr/>
          <p:nvPr/>
        </p:nvCxnSpPr>
        <p:spPr>
          <a:xfrm flipH="1" flipV="1">
            <a:off x="11546797" y="980930"/>
            <a:ext cx="16552" cy="13862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mf-0351"/>
          <p:cNvCxnSpPr/>
          <p:nvPr/>
        </p:nvCxnSpPr>
        <p:spPr>
          <a:xfrm flipH="1" flipV="1">
            <a:off x="11559620" y="973527"/>
            <a:ext cx="3729" cy="21265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mf-0352"/>
          <p:cNvCxnSpPr/>
          <p:nvPr/>
        </p:nvCxnSpPr>
        <p:spPr>
          <a:xfrm flipH="1">
            <a:off x="11499849" y="884807"/>
            <a:ext cx="63500" cy="109985"/>
          </a:xfrm>
          <a:prstGeom prst="line">
            <a:avLst/>
          </a:prstGeom>
          <a:ln w="1428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mf-0353"/>
          <p:cNvCxnSpPr/>
          <p:nvPr/>
        </p:nvCxnSpPr>
        <p:spPr>
          <a:xfrm flipH="1">
            <a:off x="11559620" y="884807"/>
            <a:ext cx="3729" cy="21266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mf-0354"/>
          <p:cNvCxnSpPr/>
          <p:nvPr/>
        </p:nvCxnSpPr>
        <p:spPr>
          <a:xfrm flipH="1">
            <a:off x="11546797" y="884807"/>
            <a:ext cx="16552" cy="1386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mf-0355"/>
          <p:cNvCxnSpPr/>
          <p:nvPr/>
        </p:nvCxnSpPr>
        <p:spPr>
          <a:xfrm flipV="1">
            <a:off x="11499849" y="973527"/>
            <a:ext cx="3729" cy="21265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mf-0356"/>
          <p:cNvCxnSpPr/>
          <p:nvPr/>
        </p:nvCxnSpPr>
        <p:spPr>
          <a:xfrm flipV="1">
            <a:off x="11499849" y="980930"/>
            <a:ext cx="16552" cy="13862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stmf-0357"/>
          <p:cNvSpPr txBox="1"/>
          <p:nvPr/>
        </p:nvSpPr>
        <p:spPr>
          <a:xfrm>
            <a:off x="11690349" y="552450"/>
            <a:ext cx="2857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H_t</a:t>
            </a:r>
          </a:p>
        </p:txBody>
      </p:sp>
      <p:sp>
        <p:nvSpPr>
          <p:cNvPr id="359" name="stmf-0358"/>
          <p:cNvSpPr txBox="1"/>
          <p:nvPr/>
        </p:nvSpPr>
        <p:spPr>
          <a:xfrm>
            <a:off x="6159499" y="1104900"/>
            <a:ext cx="20320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◷</a:t>
            </a:r>
          </a:p>
        </p:txBody>
      </p:sp>
      <p:sp>
        <p:nvSpPr>
          <p:cNvPr id="360" name="stmf-0359"/>
          <p:cNvSpPr txBox="1"/>
          <p:nvPr/>
        </p:nvSpPr>
        <p:spPr>
          <a:xfrm>
            <a:off x="6464299" y="1104900"/>
            <a:ext cx="73025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min-of-hour</a:t>
            </a:r>
          </a:p>
        </p:txBody>
      </p:sp>
      <p:sp>
        <p:nvSpPr>
          <p:cNvPr id="361" name="stmf-0360"/>
          <p:cNvSpPr txBox="1"/>
          <p:nvPr/>
        </p:nvSpPr>
        <p:spPr>
          <a:xfrm>
            <a:off x="6159499" y="1238250"/>
            <a:ext cx="20320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☼</a:t>
            </a:r>
          </a:p>
        </p:txBody>
      </p:sp>
      <p:sp>
        <p:nvSpPr>
          <p:cNvPr id="362" name="stmf-0361"/>
          <p:cNvSpPr txBox="1"/>
          <p:nvPr/>
        </p:nvSpPr>
        <p:spPr>
          <a:xfrm>
            <a:off x="6464299" y="1238250"/>
            <a:ext cx="73025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hour-of-day</a:t>
            </a:r>
          </a:p>
        </p:txBody>
      </p:sp>
      <p:sp>
        <p:nvSpPr>
          <p:cNvPr id="363" name="stmf-0362"/>
          <p:cNvSpPr txBox="1"/>
          <p:nvPr/>
        </p:nvSpPr>
        <p:spPr>
          <a:xfrm>
            <a:off x="6159499" y="1371600"/>
            <a:ext cx="20320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▣</a:t>
            </a:r>
          </a:p>
        </p:txBody>
      </p:sp>
      <p:sp>
        <p:nvSpPr>
          <p:cNvPr id="364" name="stmf-0363"/>
          <p:cNvSpPr txBox="1"/>
          <p:nvPr/>
        </p:nvSpPr>
        <p:spPr>
          <a:xfrm>
            <a:off x="6464299" y="1371600"/>
            <a:ext cx="73025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day-of-week</a:t>
            </a:r>
          </a:p>
        </p:txBody>
      </p:sp>
      <p:sp>
        <p:nvSpPr>
          <p:cNvPr id="365" name="stmf-0364"/>
          <p:cNvSpPr txBox="1"/>
          <p:nvPr/>
        </p:nvSpPr>
        <p:spPr>
          <a:xfrm>
            <a:off x="6159499" y="1504950"/>
            <a:ext cx="20320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⌖</a:t>
            </a:r>
          </a:p>
        </p:txBody>
      </p:sp>
      <p:sp>
        <p:nvSpPr>
          <p:cNvPr id="366" name="stmf-0365"/>
          <p:cNvSpPr txBox="1"/>
          <p:nvPr/>
        </p:nvSpPr>
        <p:spPr>
          <a:xfrm>
            <a:off x="6464299" y="1504950"/>
            <a:ext cx="73025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day-of-month</a:t>
            </a:r>
          </a:p>
        </p:txBody>
      </p:sp>
      <p:sp>
        <p:nvSpPr>
          <p:cNvPr id="367" name="stmf-0366"/>
          <p:cNvSpPr txBox="1"/>
          <p:nvPr/>
        </p:nvSpPr>
        <p:spPr>
          <a:xfrm>
            <a:off x="6464299" y="1638300"/>
            <a:ext cx="73025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coordinate</a:t>
            </a:r>
          </a:p>
        </p:txBody>
      </p:sp>
      <p:sp>
        <p:nvSpPr>
          <p:cNvPr id="368" name="stmf-0367"/>
          <p:cNvSpPr txBox="1"/>
          <p:nvPr/>
        </p:nvSpPr>
        <p:spPr>
          <a:xfrm>
            <a:off x="6362699" y="1111250"/>
            <a:ext cx="114300" cy="654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11111"/>
                </a:solidFill>
                <a:latin typeface="Liberation Serif"/>
              </a:rPr>
              <a:t>}</a:t>
            </a:r>
          </a:p>
        </p:txBody>
      </p:sp>
      <p:sp>
        <p:nvSpPr>
          <p:cNvPr id="369" name="stmf-0368"/>
          <p:cNvSpPr/>
          <p:nvPr/>
        </p:nvSpPr>
        <p:spPr>
          <a:xfrm>
            <a:off x="7169149" y="1149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stmf-0369"/>
          <p:cNvSpPr/>
          <p:nvPr/>
        </p:nvSpPr>
        <p:spPr>
          <a:xfrm>
            <a:off x="7296149" y="1149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stmf-0370"/>
          <p:cNvSpPr/>
          <p:nvPr/>
        </p:nvSpPr>
        <p:spPr>
          <a:xfrm>
            <a:off x="7423149" y="1149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stmf-0371"/>
          <p:cNvSpPr/>
          <p:nvPr/>
        </p:nvSpPr>
        <p:spPr>
          <a:xfrm>
            <a:off x="7550149" y="1149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stmf-0372"/>
          <p:cNvSpPr/>
          <p:nvPr/>
        </p:nvSpPr>
        <p:spPr>
          <a:xfrm>
            <a:off x="7677149" y="1149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stmf-0373"/>
          <p:cNvSpPr/>
          <p:nvPr/>
        </p:nvSpPr>
        <p:spPr>
          <a:xfrm>
            <a:off x="7169149" y="1276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stmf-0374"/>
          <p:cNvSpPr/>
          <p:nvPr/>
        </p:nvSpPr>
        <p:spPr>
          <a:xfrm>
            <a:off x="7296149" y="1276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stmf-0375"/>
          <p:cNvSpPr/>
          <p:nvPr/>
        </p:nvSpPr>
        <p:spPr>
          <a:xfrm>
            <a:off x="7423149" y="1276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stmf-0376"/>
          <p:cNvSpPr/>
          <p:nvPr/>
        </p:nvSpPr>
        <p:spPr>
          <a:xfrm>
            <a:off x="7550149" y="1276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stmf-0377"/>
          <p:cNvSpPr/>
          <p:nvPr/>
        </p:nvSpPr>
        <p:spPr>
          <a:xfrm>
            <a:off x="7677149" y="1276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stmf-0378"/>
          <p:cNvSpPr/>
          <p:nvPr/>
        </p:nvSpPr>
        <p:spPr>
          <a:xfrm>
            <a:off x="7169149" y="1403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stmf-0379"/>
          <p:cNvSpPr/>
          <p:nvPr/>
        </p:nvSpPr>
        <p:spPr>
          <a:xfrm>
            <a:off x="7296149" y="1403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stmf-0380"/>
          <p:cNvSpPr/>
          <p:nvPr/>
        </p:nvSpPr>
        <p:spPr>
          <a:xfrm>
            <a:off x="7423149" y="1403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stmf-0381"/>
          <p:cNvSpPr/>
          <p:nvPr/>
        </p:nvSpPr>
        <p:spPr>
          <a:xfrm>
            <a:off x="7550149" y="1403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stmf-0382"/>
          <p:cNvSpPr/>
          <p:nvPr/>
        </p:nvSpPr>
        <p:spPr>
          <a:xfrm>
            <a:off x="7677149" y="1403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stmf-0383"/>
          <p:cNvSpPr/>
          <p:nvPr/>
        </p:nvSpPr>
        <p:spPr>
          <a:xfrm>
            <a:off x="7169149" y="1530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stmf-0384"/>
          <p:cNvSpPr/>
          <p:nvPr/>
        </p:nvSpPr>
        <p:spPr>
          <a:xfrm>
            <a:off x="7296149" y="1530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stmf-0385"/>
          <p:cNvSpPr/>
          <p:nvPr/>
        </p:nvSpPr>
        <p:spPr>
          <a:xfrm>
            <a:off x="7423149" y="1530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stmf-0386"/>
          <p:cNvSpPr/>
          <p:nvPr/>
        </p:nvSpPr>
        <p:spPr>
          <a:xfrm>
            <a:off x="7550149" y="1530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stmf-0387"/>
          <p:cNvSpPr/>
          <p:nvPr/>
        </p:nvSpPr>
        <p:spPr>
          <a:xfrm>
            <a:off x="7677149" y="1530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stmf-0388"/>
          <p:cNvSpPr/>
          <p:nvPr/>
        </p:nvSpPr>
        <p:spPr>
          <a:xfrm>
            <a:off x="7169149" y="1657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stmf-0389"/>
          <p:cNvSpPr/>
          <p:nvPr/>
        </p:nvSpPr>
        <p:spPr>
          <a:xfrm>
            <a:off x="7296149" y="1657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stmf-0390"/>
          <p:cNvSpPr/>
          <p:nvPr/>
        </p:nvSpPr>
        <p:spPr>
          <a:xfrm>
            <a:off x="7423149" y="1657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stmf-0391"/>
          <p:cNvSpPr/>
          <p:nvPr/>
        </p:nvSpPr>
        <p:spPr>
          <a:xfrm>
            <a:off x="7550149" y="1657350"/>
            <a:ext cx="114300" cy="114300"/>
          </a:xfrm>
          <a:prstGeom prst="rect">
            <a:avLst/>
          </a:prstGeom>
          <a:solidFill>
            <a:srgbClr val="C6D3D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stmf-0392"/>
          <p:cNvSpPr/>
          <p:nvPr/>
        </p:nvSpPr>
        <p:spPr>
          <a:xfrm>
            <a:off x="7677149" y="1657350"/>
            <a:ext cx="114300" cy="114300"/>
          </a:xfrm>
          <a:prstGeom prst="rect">
            <a:avLst/>
          </a:prstGeom>
          <a:solidFill>
            <a:srgbClr val="44546A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stmf-0393"/>
          <p:cNvSpPr txBox="1"/>
          <p:nvPr/>
        </p:nvSpPr>
        <p:spPr>
          <a:xfrm>
            <a:off x="7810499" y="1257300"/>
            <a:ext cx="2222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E_c</a:t>
            </a:r>
          </a:p>
        </p:txBody>
      </p:sp>
      <p:sp>
        <p:nvSpPr>
          <p:cNvPr id="395" name="stmf-0394"/>
          <p:cNvSpPr txBox="1"/>
          <p:nvPr/>
        </p:nvSpPr>
        <p:spPr>
          <a:xfrm>
            <a:off x="7810499" y="1587500"/>
            <a:ext cx="2222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E_n</a:t>
            </a:r>
          </a:p>
        </p:txBody>
      </p:sp>
      <p:sp>
        <p:nvSpPr>
          <p:cNvPr id="396" name="stmf-0395"/>
          <p:cNvSpPr/>
          <p:nvPr/>
        </p:nvSpPr>
        <p:spPr>
          <a:xfrm>
            <a:off x="8026399" y="1187450"/>
            <a:ext cx="660400" cy="241300"/>
          </a:xfrm>
          <a:prstGeom prst="roundRect">
            <a:avLst>
              <a:gd name="adj" fmla="val 18421"/>
            </a:avLst>
          </a:prstGeom>
          <a:solidFill>
            <a:srgbClr val="F7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stmf-0396"/>
          <p:cNvSpPr txBox="1"/>
          <p:nvPr/>
        </p:nvSpPr>
        <p:spPr>
          <a:xfrm>
            <a:off x="8089899" y="1206500"/>
            <a:ext cx="463550" cy="196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Linear</a:t>
            </a:r>
          </a:p>
        </p:txBody>
      </p:sp>
      <p:sp>
        <p:nvSpPr>
          <p:cNvPr id="398" name="stmf-0397"/>
          <p:cNvSpPr/>
          <p:nvPr/>
        </p:nvSpPr>
        <p:spPr>
          <a:xfrm>
            <a:off x="8508999" y="1283335"/>
            <a:ext cx="88519" cy="75565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stmf-0398"/>
          <p:cNvSpPr/>
          <p:nvPr/>
        </p:nvSpPr>
        <p:spPr>
          <a:xfrm>
            <a:off x="8535987" y="1302766"/>
            <a:ext cx="36703" cy="4641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0" name="stmf-0399"/>
          <p:cNvCxnSpPr/>
          <p:nvPr/>
        </p:nvCxnSpPr>
        <p:spPr>
          <a:xfrm flipH="1">
            <a:off x="8525192" y="1250950"/>
            <a:ext cx="29146" cy="56134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stmf-0400"/>
          <p:cNvSpPr/>
          <p:nvPr/>
        </p:nvSpPr>
        <p:spPr>
          <a:xfrm>
            <a:off x="8026399" y="1524000"/>
            <a:ext cx="660400" cy="241300"/>
          </a:xfrm>
          <a:prstGeom prst="roundRect">
            <a:avLst>
              <a:gd name="adj" fmla="val 18421"/>
            </a:avLst>
          </a:prstGeom>
          <a:solidFill>
            <a:srgbClr val="F7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stmf-0401"/>
          <p:cNvSpPr txBox="1"/>
          <p:nvPr/>
        </p:nvSpPr>
        <p:spPr>
          <a:xfrm>
            <a:off x="8089899" y="1543050"/>
            <a:ext cx="463550" cy="196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Linear</a:t>
            </a:r>
          </a:p>
        </p:txBody>
      </p:sp>
      <p:sp>
        <p:nvSpPr>
          <p:cNvPr id="403" name="stmf-0402"/>
          <p:cNvSpPr/>
          <p:nvPr/>
        </p:nvSpPr>
        <p:spPr>
          <a:xfrm>
            <a:off x="8508999" y="1619885"/>
            <a:ext cx="88519" cy="75565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stmf-0403"/>
          <p:cNvSpPr/>
          <p:nvPr/>
        </p:nvSpPr>
        <p:spPr>
          <a:xfrm>
            <a:off x="8535987" y="1639316"/>
            <a:ext cx="36703" cy="4641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stmf-0404"/>
          <p:cNvCxnSpPr/>
          <p:nvPr/>
        </p:nvCxnSpPr>
        <p:spPr>
          <a:xfrm flipH="1">
            <a:off x="8525192" y="1587500"/>
            <a:ext cx="29146" cy="56134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stmf-0405"/>
          <p:cNvSpPr/>
          <p:nvPr/>
        </p:nvSpPr>
        <p:spPr>
          <a:xfrm>
            <a:off x="8775699" y="1104900"/>
            <a:ext cx="2730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stmf-0406"/>
          <p:cNvSpPr txBox="1"/>
          <p:nvPr/>
        </p:nvSpPr>
        <p:spPr>
          <a:xfrm rot="16200000">
            <a:off x="8839199" y="1212850"/>
            <a:ext cx="1460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Concat</a:t>
            </a:r>
          </a:p>
        </p:txBody>
      </p:sp>
      <p:cxnSp>
        <p:nvCxnSpPr>
          <p:cNvPr id="408" name="stmf-0407"/>
          <p:cNvCxnSpPr/>
          <p:nvPr/>
        </p:nvCxnSpPr>
        <p:spPr>
          <a:xfrm>
            <a:off x="8686799" y="1308100"/>
            <a:ext cx="889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mf-0408"/>
          <p:cNvCxnSpPr/>
          <p:nvPr/>
        </p:nvCxnSpPr>
        <p:spPr>
          <a:xfrm>
            <a:off x="8686799" y="1644650"/>
            <a:ext cx="889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mf-0409"/>
          <p:cNvCxnSpPr/>
          <p:nvPr/>
        </p:nvCxnSpPr>
        <p:spPr>
          <a:xfrm>
            <a:off x="9048749" y="1466850"/>
            <a:ext cx="15875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stmf-0410"/>
          <p:cNvSpPr txBox="1"/>
          <p:nvPr/>
        </p:nvSpPr>
        <p:spPr>
          <a:xfrm>
            <a:off x="8972549" y="1257300"/>
            <a:ext cx="29210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H_st</a:t>
            </a:r>
          </a:p>
        </p:txBody>
      </p:sp>
      <p:sp>
        <p:nvSpPr>
          <p:cNvPr id="412" name="stmf-0411"/>
          <p:cNvSpPr/>
          <p:nvPr/>
        </p:nvSpPr>
        <p:spPr>
          <a:xfrm>
            <a:off x="923924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stmf-0412"/>
          <p:cNvSpPr/>
          <p:nvPr/>
        </p:nvSpPr>
        <p:spPr>
          <a:xfrm>
            <a:off x="926464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stmf-0413"/>
          <p:cNvSpPr/>
          <p:nvPr/>
        </p:nvSpPr>
        <p:spPr>
          <a:xfrm>
            <a:off x="926464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stmf-0414"/>
          <p:cNvSpPr/>
          <p:nvPr/>
        </p:nvSpPr>
        <p:spPr>
          <a:xfrm>
            <a:off x="926464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stmf-0415"/>
          <p:cNvSpPr txBox="1"/>
          <p:nvPr/>
        </p:nvSpPr>
        <p:spPr>
          <a:xfrm>
            <a:off x="922654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17" name="stmf-0416"/>
          <p:cNvSpPr/>
          <p:nvPr/>
        </p:nvSpPr>
        <p:spPr>
          <a:xfrm>
            <a:off x="923924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stmf-0417"/>
          <p:cNvSpPr/>
          <p:nvPr/>
        </p:nvSpPr>
        <p:spPr>
          <a:xfrm>
            <a:off x="926464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stmf-0418"/>
          <p:cNvSpPr/>
          <p:nvPr/>
        </p:nvSpPr>
        <p:spPr>
          <a:xfrm>
            <a:off x="926464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stmf-0419"/>
          <p:cNvSpPr/>
          <p:nvPr/>
        </p:nvSpPr>
        <p:spPr>
          <a:xfrm>
            <a:off x="926464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stmf-0420"/>
          <p:cNvSpPr/>
          <p:nvPr/>
        </p:nvSpPr>
        <p:spPr>
          <a:xfrm>
            <a:off x="946149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stmf-0421"/>
          <p:cNvSpPr/>
          <p:nvPr/>
        </p:nvSpPr>
        <p:spPr>
          <a:xfrm>
            <a:off x="948689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stmf-0422"/>
          <p:cNvSpPr/>
          <p:nvPr/>
        </p:nvSpPr>
        <p:spPr>
          <a:xfrm>
            <a:off x="948689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stmf-0423"/>
          <p:cNvSpPr/>
          <p:nvPr/>
        </p:nvSpPr>
        <p:spPr>
          <a:xfrm>
            <a:off x="948689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stmf-0424"/>
          <p:cNvSpPr txBox="1"/>
          <p:nvPr/>
        </p:nvSpPr>
        <p:spPr>
          <a:xfrm>
            <a:off x="944879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26" name="stmf-0425"/>
          <p:cNvSpPr/>
          <p:nvPr/>
        </p:nvSpPr>
        <p:spPr>
          <a:xfrm>
            <a:off x="946149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stmf-0426"/>
          <p:cNvSpPr/>
          <p:nvPr/>
        </p:nvSpPr>
        <p:spPr>
          <a:xfrm>
            <a:off x="948689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stmf-0427"/>
          <p:cNvSpPr/>
          <p:nvPr/>
        </p:nvSpPr>
        <p:spPr>
          <a:xfrm>
            <a:off x="948689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stmf-0428"/>
          <p:cNvSpPr/>
          <p:nvPr/>
        </p:nvSpPr>
        <p:spPr>
          <a:xfrm>
            <a:off x="948689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stmf-0429"/>
          <p:cNvSpPr/>
          <p:nvPr/>
        </p:nvSpPr>
        <p:spPr>
          <a:xfrm>
            <a:off x="968374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stmf-0430"/>
          <p:cNvSpPr/>
          <p:nvPr/>
        </p:nvSpPr>
        <p:spPr>
          <a:xfrm>
            <a:off x="970914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stmf-0431"/>
          <p:cNvSpPr/>
          <p:nvPr/>
        </p:nvSpPr>
        <p:spPr>
          <a:xfrm>
            <a:off x="970914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stmf-0432"/>
          <p:cNvSpPr/>
          <p:nvPr/>
        </p:nvSpPr>
        <p:spPr>
          <a:xfrm>
            <a:off x="970914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stmf-0433"/>
          <p:cNvSpPr txBox="1"/>
          <p:nvPr/>
        </p:nvSpPr>
        <p:spPr>
          <a:xfrm>
            <a:off x="967104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35" name="stmf-0434"/>
          <p:cNvSpPr/>
          <p:nvPr/>
        </p:nvSpPr>
        <p:spPr>
          <a:xfrm>
            <a:off x="968374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stmf-0435"/>
          <p:cNvSpPr/>
          <p:nvPr/>
        </p:nvSpPr>
        <p:spPr>
          <a:xfrm>
            <a:off x="970914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stmf-0436"/>
          <p:cNvSpPr/>
          <p:nvPr/>
        </p:nvSpPr>
        <p:spPr>
          <a:xfrm>
            <a:off x="970914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stmf-0437"/>
          <p:cNvSpPr/>
          <p:nvPr/>
        </p:nvSpPr>
        <p:spPr>
          <a:xfrm>
            <a:off x="970914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stmf-0438"/>
          <p:cNvSpPr/>
          <p:nvPr/>
        </p:nvSpPr>
        <p:spPr>
          <a:xfrm>
            <a:off x="990599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stmf-0439"/>
          <p:cNvSpPr/>
          <p:nvPr/>
        </p:nvSpPr>
        <p:spPr>
          <a:xfrm>
            <a:off x="993139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stmf-0440"/>
          <p:cNvSpPr/>
          <p:nvPr/>
        </p:nvSpPr>
        <p:spPr>
          <a:xfrm>
            <a:off x="993139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stmf-0441"/>
          <p:cNvSpPr/>
          <p:nvPr/>
        </p:nvSpPr>
        <p:spPr>
          <a:xfrm>
            <a:off x="993139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stmf-0442"/>
          <p:cNvSpPr txBox="1"/>
          <p:nvPr/>
        </p:nvSpPr>
        <p:spPr>
          <a:xfrm>
            <a:off x="989329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44" name="stmf-0443"/>
          <p:cNvSpPr/>
          <p:nvPr/>
        </p:nvSpPr>
        <p:spPr>
          <a:xfrm>
            <a:off x="990599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stmf-0444"/>
          <p:cNvSpPr/>
          <p:nvPr/>
        </p:nvSpPr>
        <p:spPr>
          <a:xfrm>
            <a:off x="993139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stmf-0445"/>
          <p:cNvSpPr/>
          <p:nvPr/>
        </p:nvSpPr>
        <p:spPr>
          <a:xfrm>
            <a:off x="993139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stmf-0446"/>
          <p:cNvSpPr/>
          <p:nvPr/>
        </p:nvSpPr>
        <p:spPr>
          <a:xfrm>
            <a:off x="993139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stmf-0447"/>
          <p:cNvSpPr/>
          <p:nvPr/>
        </p:nvSpPr>
        <p:spPr>
          <a:xfrm>
            <a:off x="1012824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stmf-0448"/>
          <p:cNvSpPr/>
          <p:nvPr/>
        </p:nvSpPr>
        <p:spPr>
          <a:xfrm>
            <a:off x="1015364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stmf-0449"/>
          <p:cNvSpPr/>
          <p:nvPr/>
        </p:nvSpPr>
        <p:spPr>
          <a:xfrm>
            <a:off x="1015364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stmf-0450"/>
          <p:cNvSpPr/>
          <p:nvPr/>
        </p:nvSpPr>
        <p:spPr>
          <a:xfrm>
            <a:off x="1015364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stmf-0451"/>
          <p:cNvSpPr txBox="1"/>
          <p:nvPr/>
        </p:nvSpPr>
        <p:spPr>
          <a:xfrm>
            <a:off x="1011554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53" name="stmf-0452"/>
          <p:cNvSpPr/>
          <p:nvPr/>
        </p:nvSpPr>
        <p:spPr>
          <a:xfrm>
            <a:off x="1012824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stmf-0453"/>
          <p:cNvSpPr/>
          <p:nvPr/>
        </p:nvSpPr>
        <p:spPr>
          <a:xfrm>
            <a:off x="1015364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stmf-0454"/>
          <p:cNvSpPr/>
          <p:nvPr/>
        </p:nvSpPr>
        <p:spPr>
          <a:xfrm>
            <a:off x="1015364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stmf-0455"/>
          <p:cNvSpPr/>
          <p:nvPr/>
        </p:nvSpPr>
        <p:spPr>
          <a:xfrm>
            <a:off x="1015364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stmf-0456"/>
          <p:cNvSpPr/>
          <p:nvPr/>
        </p:nvSpPr>
        <p:spPr>
          <a:xfrm>
            <a:off x="1035049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stmf-0457"/>
          <p:cNvSpPr/>
          <p:nvPr/>
        </p:nvSpPr>
        <p:spPr>
          <a:xfrm>
            <a:off x="1037589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stmf-0458"/>
          <p:cNvSpPr/>
          <p:nvPr/>
        </p:nvSpPr>
        <p:spPr>
          <a:xfrm>
            <a:off x="1037589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stmf-0459"/>
          <p:cNvSpPr/>
          <p:nvPr/>
        </p:nvSpPr>
        <p:spPr>
          <a:xfrm>
            <a:off x="1037589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stmf-0460"/>
          <p:cNvSpPr txBox="1"/>
          <p:nvPr/>
        </p:nvSpPr>
        <p:spPr>
          <a:xfrm>
            <a:off x="1033779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62" name="stmf-0461"/>
          <p:cNvSpPr/>
          <p:nvPr/>
        </p:nvSpPr>
        <p:spPr>
          <a:xfrm>
            <a:off x="1035049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stmf-0462"/>
          <p:cNvSpPr/>
          <p:nvPr/>
        </p:nvSpPr>
        <p:spPr>
          <a:xfrm>
            <a:off x="1037589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stmf-0463"/>
          <p:cNvSpPr/>
          <p:nvPr/>
        </p:nvSpPr>
        <p:spPr>
          <a:xfrm>
            <a:off x="1037589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stmf-0464"/>
          <p:cNvSpPr/>
          <p:nvPr/>
        </p:nvSpPr>
        <p:spPr>
          <a:xfrm>
            <a:off x="1037589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stmf-0465"/>
          <p:cNvSpPr/>
          <p:nvPr/>
        </p:nvSpPr>
        <p:spPr>
          <a:xfrm>
            <a:off x="1057274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stmf-0466"/>
          <p:cNvSpPr/>
          <p:nvPr/>
        </p:nvSpPr>
        <p:spPr>
          <a:xfrm>
            <a:off x="1059814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stmf-0467"/>
          <p:cNvSpPr/>
          <p:nvPr/>
        </p:nvSpPr>
        <p:spPr>
          <a:xfrm>
            <a:off x="1059814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stmf-0468"/>
          <p:cNvSpPr/>
          <p:nvPr/>
        </p:nvSpPr>
        <p:spPr>
          <a:xfrm>
            <a:off x="1059814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stmf-0469"/>
          <p:cNvSpPr txBox="1"/>
          <p:nvPr/>
        </p:nvSpPr>
        <p:spPr>
          <a:xfrm>
            <a:off x="1056004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71" name="stmf-0470"/>
          <p:cNvSpPr/>
          <p:nvPr/>
        </p:nvSpPr>
        <p:spPr>
          <a:xfrm>
            <a:off x="1057274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stmf-0471"/>
          <p:cNvSpPr/>
          <p:nvPr/>
        </p:nvSpPr>
        <p:spPr>
          <a:xfrm>
            <a:off x="1059814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stmf-0472"/>
          <p:cNvSpPr/>
          <p:nvPr/>
        </p:nvSpPr>
        <p:spPr>
          <a:xfrm>
            <a:off x="1059814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stmf-0473"/>
          <p:cNvSpPr/>
          <p:nvPr/>
        </p:nvSpPr>
        <p:spPr>
          <a:xfrm>
            <a:off x="1059814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stmf-0474"/>
          <p:cNvSpPr/>
          <p:nvPr/>
        </p:nvSpPr>
        <p:spPr>
          <a:xfrm>
            <a:off x="1079499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stmf-0475"/>
          <p:cNvSpPr/>
          <p:nvPr/>
        </p:nvSpPr>
        <p:spPr>
          <a:xfrm>
            <a:off x="1082039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stmf-0476"/>
          <p:cNvSpPr/>
          <p:nvPr/>
        </p:nvSpPr>
        <p:spPr>
          <a:xfrm>
            <a:off x="1082039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stmf-0477"/>
          <p:cNvSpPr/>
          <p:nvPr/>
        </p:nvSpPr>
        <p:spPr>
          <a:xfrm>
            <a:off x="1082039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stmf-0478"/>
          <p:cNvSpPr txBox="1"/>
          <p:nvPr/>
        </p:nvSpPr>
        <p:spPr>
          <a:xfrm>
            <a:off x="1078229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80" name="stmf-0479"/>
          <p:cNvSpPr/>
          <p:nvPr/>
        </p:nvSpPr>
        <p:spPr>
          <a:xfrm>
            <a:off x="1079499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stmf-0480"/>
          <p:cNvSpPr/>
          <p:nvPr/>
        </p:nvSpPr>
        <p:spPr>
          <a:xfrm>
            <a:off x="1082039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stmf-0481"/>
          <p:cNvSpPr/>
          <p:nvPr/>
        </p:nvSpPr>
        <p:spPr>
          <a:xfrm>
            <a:off x="1082039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stmf-0482"/>
          <p:cNvSpPr/>
          <p:nvPr/>
        </p:nvSpPr>
        <p:spPr>
          <a:xfrm>
            <a:off x="1082039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stmf-0483"/>
          <p:cNvSpPr/>
          <p:nvPr/>
        </p:nvSpPr>
        <p:spPr>
          <a:xfrm>
            <a:off x="1101724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stmf-0484"/>
          <p:cNvSpPr/>
          <p:nvPr/>
        </p:nvSpPr>
        <p:spPr>
          <a:xfrm>
            <a:off x="1104264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stmf-0485"/>
          <p:cNvSpPr/>
          <p:nvPr/>
        </p:nvSpPr>
        <p:spPr>
          <a:xfrm>
            <a:off x="1104264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stmf-0486"/>
          <p:cNvSpPr/>
          <p:nvPr/>
        </p:nvSpPr>
        <p:spPr>
          <a:xfrm>
            <a:off x="1104264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stmf-0487"/>
          <p:cNvSpPr txBox="1"/>
          <p:nvPr/>
        </p:nvSpPr>
        <p:spPr>
          <a:xfrm>
            <a:off x="1100454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89" name="stmf-0488"/>
          <p:cNvSpPr/>
          <p:nvPr/>
        </p:nvSpPr>
        <p:spPr>
          <a:xfrm>
            <a:off x="1101724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stmf-0489"/>
          <p:cNvSpPr/>
          <p:nvPr/>
        </p:nvSpPr>
        <p:spPr>
          <a:xfrm>
            <a:off x="1104264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stmf-0490"/>
          <p:cNvSpPr/>
          <p:nvPr/>
        </p:nvSpPr>
        <p:spPr>
          <a:xfrm>
            <a:off x="1104264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stmf-0491"/>
          <p:cNvSpPr/>
          <p:nvPr/>
        </p:nvSpPr>
        <p:spPr>
          <a:xfrm>
            <a:off x="1104264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stmf-0492"/>
          <p:cNvSpPr/>
          <p:nvPr/>
        </p:nvSpPr>
        <p:spPr>
          <a:xfrm>
            <a:off x="11239499" y="1117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stmf-0493"/>
          <p:cNvSpPr/>
          <p:nvPr/>
        </p:nvSpPr>
        <p:spPr>
          <a:xfrm>
            <a:off x="11264899" y="1155700"/>
            <a:ext cx="63500" cy="63500"/>
          </a:xfrm>
          <a:prstGeom prst="rect">
            <a:avLst/>
          </a:prstGeom>
          <a:solidFill>
            <a:srgbClr val="8064A2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stmf-0494"/>
          <p:cNvSpPr/>
          <p:nvPr/>
        </p:nvSpPr>
        <p:spPr>
          <a:xfrm>
            <a:off x="11264899" y="1228725"/>
            <a:ext cx="63500" cy="63500"/>
          </a:xfrm>
          <a:prstGeom prst="rect">
            <a:avLst/>
          </a:prstGeom>
          <a:solidFill>
            <a:srgbClr val="E7A4A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stmf-0495"/>
          <p:cNvSpPr/>
          <p:nvPr/>
        </p:nvSpPr>
        <p:spPr>
          <a:xfrm>
            <a:off x="11264899" y="1301750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stmf-0496"/>
          <p:cNvSpPr txBox="1"/>
          <p:nvPr/>
        </p:nvSpPr>
        <p:spPr>
          <a:xfrm>
            <a:off x="11226799" y="1384300"/>
            <a:ext cx="1397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498" name="stmf-0497"/>
          <p:cNvSpPr/>
          <p:nvPr/>
        </p:nvSpPr>
        <p:spPr>
          <a:xfrm>
            <a:off x="11239499" y="1498600"/>
            <a:ext cx="114300" cy="2857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stmf-0498"/>
          <p:cNvSpPr/>
          <p:nvPr/>
        </p:nvSpPr>
        <p:spPr>
          <a:xfrm>
            <a:off x="11264899" y="1536700"/>
            <a:ext cx="6350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stmf-0499"/>
          <p:cNvSpPr/>
          <p:nvPr/>
        </p:nvSpPr>
        <p:spPr>
          <a:xfrm>
            <a:off x="11264899" y="1609725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stmf-0500"/>
          <p:cNvSpPr/>
          <p:nvPr/>
        </p:nvSpPr>
        <p:spPr>
          <a:xfrm>
            <a:off x="11264899" y="1682750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stmf-0501"/>
          <p:cNvSpPr txBox="1"/>
          <p:nvPr/>
        </p:nvSpPr>
        <p:spPr>
          <a:xfrm>
            <a:off x="10445749" y="1822450"/>
            <a:ext cx="5715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Liberation Serif"/>
              </a:rPr>
              <a:t>H_fused</a:t>
            </a:r>
          </a:p>
        </p:txBody>
      </p:sp>
      <p:cxnSp>
        <p:nvCxnSpPr>
          <p:cNvPr id="503" name="stmf-0502"/>
          <p:cNvCxnSpPr/>
          <p:nvPr/>
        </p:nvCxnSpPr>
        <p:spPr>
          <a:xfrm>
            <a:off x="12052299" y="723900"/>
            <a:ext cx="0" cy="96520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mf-0503"/>
          <p:cNvCxnSpPr/>
          <p:nvPr/>
        </p:nvCxnSpPr>
        <p:spPr>
          <a:xfrm>
            <a:off x="11658599" y="723900"/>
            <a:ext cx="393700" cy="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mf-0504"/>
          <p:cNvCxnSpPr/>
          <p:nvPr/>
        </p:nvCxnSpPr>
        <p:spPr>
          <a:xfrm flipH="1">
            <a:off x="11455399" y="1689100"/>
            <a:ext cx="5969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mf-0505"/>
          <p:cNvCxnSpPr/>
          <p:nvPr/>
        </p:nvCxnSpPr>
        <p:spPr>
          <a:xfrm>
            <a:off x="10718799" y="1841500"/>
            <a:ext cx="0" cy="438150"/>
          </a:xfrm>
          <a:prstGeom prst="line">
            <a:avLst/>
          </a:prstGeom>
          <a:ln w="11429">
            <a:solidFill>
              <a:srgbClr val="8D8D8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stf-0506"/>
          <p:cNvSpPr txBox="1"/>
          <p:nvPr/>
        </p:nvSpPr>
        <p:spPr>
          <a:xfrm>
            <a:off x="7556499" y="2019300"/>
            <a:ext cx="31750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Liberation Serif"/>
              </a:rPr>
              <a:t>Spatio-Temporal Filtering (STF)</a:t>
            </a:r>
          </a:p>
        </p:txBody>
      </p:sp>
      <p:sp>
        <p:nvSpPr>
          <p:cNvPr id="508" name="stf-0507"/>
          <p:cNvSpPr/>
          <p:nvPr/>
        </p:nvSpPr>
        <p:spPr>
          <a:xfrm>
            <a:off x="6134099" y="2273300"/>
            <a:ext cx="266065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stf-0508"/>
          <p:cNvCxnSpPr/>
          <p:nvPr/>
        </p:nvCxnSpPr>
        <p:spPr>
          <a:xfrm>
            <a:off x="6337299" y="2374900"/>
            <a:ext cx="228600" cy="2540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f-0509"/>
          <p:cNvCxnSpPr/>
          <p:nvPr/>
        </p:nvCxnSpPr>
        <p:spPr>
          <a:xfrm flipH="1">
            <a:off x="6229349" y="2374900"/>
            <a:ext cx="107950" cy="14605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f-0510"/>
          <p:cNvCxnSpPr/>
          <p:nvPr/>
        </p:nvCxnSpPr>
        <p:spPr>
          <a:xfrm>
            <a:off x="6337299" y="2374900"/>
            <a:ext cx="146050" cy="17780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f-0511"/>
          <p:cNvCxnSpPr/>
          <p:nvPr/>
        </p:nvCxnSpPr>
        <p:spPr>
          <a:xfrm flipH="1">
            <a:off x="6483349" y="2400300"/>
            <a:ext cx="82550" cy="15240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f-0512"/>
          <p:cNvCxnSpPr/>
          <p:nvPr/>
        </p:nvCxnSpPr>
        <p:spPr>
          <a:xfrm>
            <a:off x="6229349" y="2520950"/>
            <a:ext cx="254000" cy="3175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f-0513"/>
          <p:cNvCxnSpPr/>
          <p:nvPr/>
        </p:nvCxnSpPr>
        <p:spPr>
          <a:xfrm>
            <a:off x="6229349" y="2520950"/>
            <a:ext cx="120650" cy="20955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f-0514"/>
          <p:cNvCxnSpPr/>
          <p:nvPr/>
        </p:nvCxnSpPr>
        <p:spPr>
          <a:xfrm flipH="1">
            <a:off x="6349999" y="2552700"/>
            <a:ext cx="133350" cy="17780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f-0515"/>
          <p:cNvCxnSpPr/>
          <p:nvPr/>
        </p:nvCxnSpPr>
        <p:spPr>
          <a:xfrm>
            <a:off x="6483349" y="2552700"/>
            <a:ext cx="88900" cy="22225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f-0516"/>
          <p:cNvCxnSpPr/>
          <p:nvPr/>
        </p:nvCxnSpPr>
        <p:spPr>
          <a:xfrm>
            <a:off x="6349999" y="2730500"/>
            <a:ext cx="222250" cy="44450"/>
          </a:xfrm>
          <a:prstGeom prst="line">
            <a:avLst/>
          </a:prstGeom>
          <a:ln w="857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stf-0517"/>
          <p:cNvSpPr/>
          <p:nvPr/>
        </p:nvSpPr>
        <p:spPr>
          <a:xfrm>
            <a:off x="6299199" y="2336800"/>
            <a:ext cx="76200" cy="76200"/>
          </a:xfrm>
          <a:prstGeom prst="ellipse">
            <a:avLst/>
          </a:prstGeom>
          <a:solidFill>
            <a:srgbClr val="5B9BD5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stf-0518"/>
          <p:cNvSpPr/>
          <p:nvPr/>
        </p:nvSpPr>
        <p:spPr>
          <a:xfrm>
            <a:off x="6527799" y="2362200"/>
            <a:ext cx="76200" cy="76200"/>
          </a:xfrm>
          <a:prstGeom prst="ellipse">
            <a:avLst/>
          </a:prstGeom>
          <a:solidFill>
            <a:srgbClr val="5B9BD5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stf-0519"/>
          <p:cNvSpPr/>
          <p:nvPr/>
        </p:nvSpPr>
        <p:spPr>
          <a:xfrm>
            <a:off x="6191249" y="2482850"/>
            <a:ext cx="76200" cy="76200"/>
          </a:xfrm>
          <a:prstGeom prst="ellipse">
            <a:avLst/>
          </a:prstGeom>
          <a:solidFill>
            <a:srgbClr val="5B9BD5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stf-0520"/>
          <p:cNvSpPr/>
          <p:nvPr/>
        </p:nvSpPr>
        <p:spPr>
          <a:xfrm>
            <a:off x="6445249" y="2514600"/>
            <a:ext cx="76200" cy="76200"/>
          </a:xfrm>
          <a:prstGeom prst="ellipse">
            <a:avLst/>
          </a:prstGeom>
          <a:solidFill>
            <a:srgbClr val="5B9BD5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stf-0521"/>
          <p:cNvSpPr/>
          <p:nvPr/>
        </p:nvSpPr>
        <p:spPr>
          <a:xfrm>
            <a:off x="6311899" y="2692400"/>
            <a:ext cx="76200" cy="76200"/>
          </a:xfrm>
          <a:prstGeom prst="ellipse">
            <a:avLst/>
          </a:prstGeom>
          <a:solidFill>
            <a:srgbClr val="5B9BD5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stf-0522"/>
          <p:cNvSpPr/>
          <p:nvPr/>
        </p:nvSpPr>
        <p:spPr>
          <a:xfrm>
            <a:off x="6534149" y="2736850"/>
            <a:ext cx="76200" cy="76200"/>
          </a:xfrm>
          <a:prstGeom prst="ellipse">
            <a:avLst/>
          </a:prstGeom>
          <a:solidFill>
            <a:srgbClr val="5B9BD5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stf-0523"/>
          <p:cNvSpPr txBox="1"/>
          <p:nvPr/>
        </p:nvSpPr>
        <p:spPr>
          <a:xfrm>
            <a:off x="6146799" y="2806700"/>
            <a:ext cx="8255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Adjacency Matrix</a:t>
            </a:r>
          </a:p>
        </p:txBody>
      </p:sp>
      <p:sp>
        <p:nvSpPr>
          <p:cNvPr id="525" name="stf-0524"/>
          <p:cNvSpPr/>
          <p:nvPr/>
        </p:nvSpPr>
        <p:spPr>
          <a:xfrm>
            <a:off x="6667499" y="23177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stf-0525"/>
          <p:cNvSpPr txBox="1"/>
          <p:nvPr/>
        </p:nvSpPr>
        <p:spPr>
          <a:xfrm>
            <a:off x="6667499" y="23114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27" name="stf-0526"/>
          <p:cNvSpPr/>
          <p:nvPr/>
        </p:nvSpPr>
        <p:spPr>
          <a:xfrm>
            <a:off x="6756399" y="23177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stf-0527"/>
          <p:cNvSpPr txBox="1"/>
          <p:nvPr/>
        </p:nvSpPr>
        <p:spPr>
          <a:xfrm>
            <a:off x="6756399" y="23114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29" name="stf-0528"/>
          <p:cNvSpPr/>
          <p:nvPr/>
        </p:nvSpPr>
        <p:spPr>
          <a:xfrm>
            <a:off x="6845299" y="23177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stf-0529"/>
          <p:cNvSpPr txBox="1"/>
          <p:nvPr/>
        </p:nvSpPr>
        <p:spPr>
          <a:xfrm>
            <a:off x="6845299" y="23114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31" name="stf-0530"/>
          <p:cNvSpPr/>
          <p:nvPr/>
        </p:nvSpPr>
        <p:spPr>
          <a:xfrm>
            <a:off x="6934199" y="23177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stf-0531"/>
          <p:cNvSpPr txBox="1"/>
          <p:nvPr/>
        </p:nvSpPr>
        <p:spPr>
          <a:xfrm>
            <a:off x="6934199" y="23114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33" name="stf-0532"/>
          <p:cNvSpPr/>
          <p:nvPr/>
        </p:nvSpPr>
        <p:spPr>
          <a:xfrm>
            <a:off x="7023099" y="23177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stf-0533"/>
          <p:cNvSpPr txBox="1"/>
          <p:nvPr/>
        </p:nvSpPr>
        <p:spPr>
          <a:xfrm>
            <a:off x="7023099" y="23114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35" name="stf-0534"/>
          <p:cNvSpPr/>
          <p:nvPr/>
        </p:nvSpPr>
        <p:spPr>
          <a:xfrm>
            <a:off x="7111999" y="23177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stf-0535"/>
          <p:cNvSpPr txBox="1"/>
          <p:nvPr/>
        </p:nvSpPr>
        <p:spPr>
          <a:xfrm>
            <a:off x="7111999" y="23114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37" name="stf-0536"/>
          <p:cNvSpPr/>
          <p:nvPr/>
        </p:nvSpPr>
        <p:spPr>
          <a:xfrm>
            <a:off x="6667499" y="24066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stf-0537"/>
          <p:cNvSpPr txBox="1"/>
          <p:nvPr/>
        </p:nvSpPr>
        <p:spPr>
          <a:xfrm>
            <a:off x="6667499" y="24003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39" name="stf-0538"/>
          <p:cNvSpPr/>
          <p:nvPr/>
        </p:nvSpPr>
        <p:spPr>
          <a:xfrm>
            <a:off x="6756399" y="24066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stf-0539"/>
          <p:cNvSpPr txBox="1"/>
          <p:nvPr/>
        </p:nvSpPr>
        <p:spPr>
          <a:xfrm>
            <a:off x="6756399" y="24003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41" name="stf-0540"/>
          <p:cNvSpPr/>
          <p:nvPr/>
        </p:nvSpPr>
        <p:spPr>
          <a:xfrm>
            <a:off x="6845299" y="24066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stf-0541"/>
          <p:cNvSpPr txBox="1"/>
          <p:nvPr/>
        </p:nvSpPr>
        <p:spPr>
          <a:xfrm>
            <a:off x="6845299" y="24003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43" name="stf-0542"/>
          <p:cNvSpPr/>
          <p:nvPr/>
        </p:nvSpPr>
        <p:spPr>
          <a:xfrm>
            <a:off x="6934199" y="24066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stf-0543"/>
          <p:cNvSpPr txBox="1"/>
          <p:nvPr/>
        </p:nvSpPr>
        <p:spPr>
          <a:xfrm>
            <a:off x="6934199" y="24003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45" name="stf-0544"/>
          <p:cNvSpPr/>
          <p:nvPr/>
        </p:nvSpPr>
        <p:spPr>
          <a:xfrm>
            <a:off x="7023099" y="24066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stf-0545"/>
          <p:cNvSpPr txBox="1"/>
          <p:nvPr/>
        </p:nvSpPr>
        <p:spPr>
          <a:xfrm>
            <a:off x="7023099" y="24003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47" name="stf-0546"/>
          <p:cNvSpPr/>
          <p:nvPr/>
        </p:nvSpPr>
        <p:spPr>
          <a:xfrm>
            <a:off x="7111999" y="24066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stf-0547"/>
          <p:cNvSpPr txBox="1"/>
          <p:nvPr/>
        </p:nvSpPr>
        <p:spPr>
          <a:xfrm>
            <a:off x="7111999" y="24003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49" name="stf-0548"/>
          <p:cNvSpPr/>
          <p:nvPr/>
        </p:nvSpPr>
        <p:spPr>
          <a:xfrm>
            <a:off x="6667499" y="24955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stf-0549"/>
          <p:cNvSpPr txBox="1"/>
          <p:nvPr/>
        </p:nvSpPr>
        <p:spPr>
          <a:xfrm>
            <a:off x="6667499" y="24892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51" name="stf-0550"/>
          <p:cNvSpPr/>
          <p:nvPr/>
        </p:nvSpPr>
        <p:spPr>
          <a:xfrm>
            <a:off x="6756399" y="24955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stf-0551"/>
          <p:cNvSpPr txBox="1"/>
          <p:nvPr/>
        </p:nvSpPr>
        <p:spPr>
          <a:xfrm>
            <a:off x="6756399" y="24892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53" name="stf-0552"/>
          <p:cNvSpPr/>
          <p:nvPr/>
        </p:nvSpPr>
        <p:spPr>
          <a:xfrm>
            <a:off x="6845299" y="24955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stf-0553"/>
          <p:cNvSpPr txBox="1"/>
          <p:nvPr/>
        </p:nvSpPr>
        <p:spPr>
          <a:xfrm>
            <a:off x="6845299" y="24892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55" name="stf-0554"/>
          <p:cNvSpPr/>
          <p:nvPr/>
        </p:nvSpPr>
        <p:spPr>
          <a:xfrm>
            <a:off x="6934199" y="24955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stf-0555"/>
          <p:cNvSpPr txBox="1"/>
          <p:nvPr/>
        </p:nvSpPr>
        <p:spPr>
          <a:xfrm>
            <a:off x="6934199" y="24892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57" name="stf-0556"/>
          <p:cNvSpPr/>
          <p:nvPr/>
        </p:nvSpPr>
        <p:spPr>
          <a:xfrm>
            <a:off x="7023099" y="24955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stf-0557"/>
          <p:cNvSpPr txBox="1"/>
          <p:nvPr/>
        </p:nvSpPr>
        <p:spPr>
          <a:xfrm>
            <a:off x="7023099" y="24892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59" name="stf-0558"/>
          <p:cNvSpPr/>
          <p:nvPr/>
        </p:nvSpPr>
        <p:spPr>
          <a:xfrm>
            <a:off x="7111999" y="24955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stf-0559"/>
          <p:cNvSpPr txBox="1"/>
          <p:nvPr/>
        </p:nvSpPr>
        <p:spPr>
          <a:xfrm>
            <a:off x="7111999" y="24892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61" name="stf-0560"/>
          <p:cNvSpPr/>
          <p:nvPr/>
        </p:nvSpPr>
        <p:spPr>
          <a:xfrm>
            <a:off x="6667499" y="25844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stf-0561"/>
          <p:cNvSpPr txBox="1"/>
          <p:nvPr/>
        </p:nvSpPr>
        <p:spPr>
          <a:xfrm>
            <a:off x="6667499" y="25781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63" name="stf-0562"/>
          <p:cNvSpPr/>
          <p:nvPr/>
        </p:nvSpPr>
        <p:spPr>
          <a:xfrm>
            <a:off x="6756399" y="25844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stf-0563"/>
          <p:cNvSpPr txBox="1"/>
          <p:nvPr/>
        </p:nvSpPr>
        <p:spPr>
          <a:xfrm>
            <a:off x="6756399" y="25781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65" name="stf-0564"/>
          <p:cNvSpPr/>
          <p:nvPr/>
        </p:nvSpPr>
        <p:spPr>
          <a:xfrm>
            <a:off x="6845299" y="25844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stf-0565"/>
          <p:cNvSpPr txBox="1"/>
          <p:nvPr/>
        </p:nvSpPr>
        <p:spPr>
          <a:xfrm>
            <a:off x="6845299" y="25781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67" name="stf-0566"/>
          <p:cNvSpPr/>
          <p:nvPr/>
        </p:nvSpPr>
        <p:spPr>
          <a:xfrm>
            <a:off x="6934199" y="25844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stf-0567"/>
          <p:cNvSpPr txBox="1"/>
          <p:nvPr/>
        </p:nvSpPr>
        <p:spPr>
          <a:xfrm>
            <a:off x="6934199" y="25781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69" name="stf-0568"/>
          <p:cNvSpPr/>
          <p:nvPr/>
        </p:nvSpPr>
        <p:spPr>
          <a:xfrm>
            <a:off x="7023099" y="25844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stf-0569"/>
          <p:cNvSpPr txBox="1"/>
          <p:nvPr/>
        </p:nvSpPr>
        <p:spPr>
          <a:xfrm>
            <a:off x="7023099" y="25781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71" name="stf-0570"/>
          <p:cNvSpPr/>
          <p:nvPr/>
        </p:nvSpPr>
        <p:spPr>
          <a:xfrm>
            <a:off x="7111999" y="25844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stf-0571"/>
          <p:cNvSpPr txBox="1"/>
          <p:nvPr/>
        </p:nvSpPr>
        <p:spPr>
          <a:xfrm>
            <a:off x="7111999" y="25781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73" name="stf-0572"/>
          <p:cNvSpPr/>
          <p:nvPr/>
        </p:nvSpPr>
        <p:spPr>
          <a:xfrm>
            <a:off x="6667499" y="26733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stf-0573"/>
          <p:cNvSpPr txBox="1"/>
          <p:nvPr/>
        </p:nvSpPr>
        <p:spPr>
          <a:xfrm>
            <a:off x="6667499" y="26670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75" name="stf-0574"/>
          <p:cNvSpPr/>
          <p:nvPr/>
        </p:nvSpPr>
        <p:spPr>
          <a:xfrm>
            <a:off x="6756399" y="26733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stf-0575"/>
          <p:cNvSpPr txBox="1"/>
          <p:nvPr/>
        </p:nvSpPr>
        <p:spPr>
          <a:xfrm>
            <a:off x="6756399" y="26670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77" name="stf-0576"/>
          <p:cNvSpPr/>
          <p:nvPr/>
        </p:nvSpPr>
        <p:spPr>
          <a:xfrm>
            <a:off x="6845299" y="26733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stf-0577"/>
          <p:cNvSpPr txBox="1"/>
          <p:nvPr/>
        </p:nvSpPr>
        <p:spPr>
          <a:xfrm>
            <a:off x="6845299" y="26670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79" name="stf-0578"/>
          <p:cNvSpPr/>
          <p:nvPr/>
        </p:nvSpPr>
        <p:spPr>
          <a:xfrm>
            <a:off x="6934199" y="26733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stf-0579"/>
          <p:cNvSpPr txBox="1"/>
          <p:nvPr/>
        </p:nvSpPr>
        <p:spPr>
          <a:xfrm>
            <a:off x="6934199" y="26670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81" name="stf-0580"/>
          <p:cNvSpPr/>
          <p:nvPr/>
        </p:nvSpPr>
        <p:spPr>
          <a:xfrm>
            <a:off x="7023099" y="26733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stf-0581"/>
          <p:cNvSpPr txBox="1"/>
          <p:nvPr/>
        </p:nvSpPr>
        <p:spPr>
          <a:xfrm>
            <a:off x="7023099" y="26670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583" name="stf-0582"/>
          <p:cNvSpPr/>
          <p:nvPr/>
        </p:nvSpPr>
        <p:spPr>
          <a:xfrm>
            <a:off x="7111999" y="2673350"/>
            <a:ext cx="88900" cy="88900"/>
          </a:xfrm>
          <a:prstGeom prst="rect">
            <a:avLst/>
          </a:prstGeom>
          <a:solidFill>
            <a:srgbClr val="FFFFFF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stf-0583"/>
          <p:cNvSpPr txBox="1"/>
          <p:nvPr/>
        </p:nvSpPr>
        <p:spPr>
          <a:xfrm>
            <a:off x="7111999" y="2667000"/>
            <a:ext cx="8890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11111"/>
                </a:solidFill>
                <a:latin typeface="Liberation Serif"/>
              </a:rPr>
              <a:t>0</a:t>
            </a:r>
          </a:p>
        </p:txBody>
      </p:sp>
      <p:sp>
        <p:nvSpPr>
          <p:cNvPr id="585" name="stf-0584"/>
          <p:cNvSpPr txBox="1"/>
          <p:nvPr/>
        </p:nvSpPr>
        <p:spPr>
          <a:xfrm>
            <a:off x="7251699" y="2482850"/>
            <a:ext cx="14605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Liberation Serif"/>
              </a:rPr>
              <a:t>×</a:t>
            </a:r>
          </a:p>
        </p:txBody>
      </p:sp>
      <p:sp>
        <p:nvSpPr>
          <p:cNvPr id="586" name="stf-0585"/>
          <p:cNvSpPr/>
          <p:nvPr/>
        </p:nvSpPr>
        <p:spPr>
          <a:xfrm>
            <a:off x="7410449" y="23177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stf-0586"/>
          <p:cNvSpPr/>
          <p:nvPr/>
        </p:nvSpPr>
        <p:spPr>
          <a:xfrm>
            <a:off x="7499349" y="23177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stf-0587"/>
          <p:cNvSpPr/>
          <p:nvPr/>
        </p:nvSpPr>
        <p:spPr>
          <a:xfrm>
            <a:off x="7588249" y="23177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stf-0588"/>
          <p:cNvSpPr/>
          <p:nvPr/>
        </p:nvSpPr>
        <p:spPr>
          <a:xfrm>
            <a:off x="7677149" y="23177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stf-0589"/>
          <p:cNvSpPr/>
          <p:nvPr/>
        </p:nvSpPr>
        <p:spPr>
          <a:xfrm>
            <a:off x="7766049" y="23177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stf-0590"/>
          <p:cNvSpPr/>
          <p:nvPr/>
        </p:nvSpPr>
        <p:spPr>
          <a:xfrm>
            <a:off x="7854949" y="23177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stf-0591"/>
          <p:cNvSpPr/>
          <p:nvPr/>
        </p:nvSpPr>
        <p:spPr>
          <a:xfrm>
            <a:off x="7410449" y="24066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stf-0592"/>
          <p:cNvSpPr/>
          <p:nvPr/>
        </p:nvSpPr>
        <p:spPr>
          <a:xfrm>
            <a:off x="7499349" y="24066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stf-0593"/>
          <p:cNvSpPr/>
          <p:nvPr/>
        </p:nvSpPr>
        <p:spPr>
          <a:xfrm>
            <a:off x="7588249" y="24066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tf-0594"/>
          <p:cNvSpPr/>
          <p:nvPr/>
        </p:nvSpPr>
        <p:spPr>
          <a:xfrm>
            <a:off x="7677149" y="24066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stf-0595"/>
          <p:cNvSpPr/>
          <p:nvPr/>
        </p:nvSpPr>
        <p:spPr>
          <a:xfrm>
            <a:off x="7766049" y="24066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stf-0596"/>
          <p:cNvSpPr/>
          <p:nvPr/>
        </p:nvSpPr>
        <p:spPr>
          <a:xfrm>
            <a:off x="7854949" y="24066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stf-0597"/>
          <p:cNvSpPr/>
          <p:nvPr/>
        </p:nvSpPr>
        <p:spPr>
          <a:xfrm>
            <a:off x="7410449" y="24955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tf-0598"/>
          <p:cNvSpPr/>
          <p:nvPr/>
        </p:nvSpPr>
        <p:spPr>
          <a:xfrm>
            <a:off x="7499349" y="24955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stf-0599"/>
          <p:cNvSpPr/>
          <p:nvPr/>
        </p:nvSpPr>
        <p:spPr>
          <a:xfrm>
            <a:off x="7588249" y="24955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stf-0600"/>
          <p:cNvSpPr/>
          <p:nvPr/>
        </p:nvSpPr>
        <p:spPr>
          <a:xfrm>
            <a:off x="7677149" y="24955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stf-0601"/>
          <p:cNvSpPr/>
          <p:nvPr/>
        </p:nvSpPr>
        <p:spPr>
          <a:xfrm>
            <a:off x="7766049" y="24955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tf-0602"/>
          <p:cNvSpPr/>
          <p:nvPr/>
        </p:nvSpPr>
        <p:spPr>
          <a:xfrm>
            <a:off x="7854949" y="24955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stf-0603"/>
          <p:cNvSpPr/>
          <p:nvPr/>
        </p:nvSpPr>
        <p:spPr>
          <a:xfrm>
            <a:off x="7410449" y="25844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stf-0604"/>
          <p:cNvSpPr/>
          <p:nvPr/>
        </p:nvSpPr>
        <p:spPr>
          <a:xfrm>
            <a:off x="7499349" y="25844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stf-0605"/>
          <p:cNvSpPr/>
          <p:nvPr/>
        </p:nvSpPr>
        <p:spPr>
          <a:xfrm>
            <a:off x="7588249" y="25844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tf-0606"/>
          <p:cNvSpPr/>
          <p:nvPr/>
        </p:nvSpPr>
        <p:spPr>
          <a:xfrm>
            <a:off x="7677149" y="25844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stf-0607"/>
          <p:cNvSpPr/>
          <p:nvPr/>
        </p:nvSpPr>
        <p:spPr>
          <a:xfrm>
            <a:off x="7766049" y="25844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stf-0608"/>
          <p:cNvSpPr/>
          <p:nvPr/>
        </p:nvSpPr>
        <p:spPr>
          <a:xfrm>
            <a:off x="7854949" y="25844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stf-0609"/>
          <p:cNvSpPr/>
          <p:nvPr/>
        </p:nvSpPr>
        <p:spPr>
          <a:xfrm>
            <a:off x="7410449" y="26733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stf-0610"/>
          <p:cNvSpPr/>
          <p:nvPr/>
        </p:nvSpPr>
        <p:spPr>
          <a:xfrm>
            <a:off x="7499349" y="26733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stf-0611"/>
          <p:cNvSpPr/>
          <p:nvPr/>
        </p:nvSpPr>
        <p:spPr>
          <a:xfrm>
            <a:off x="7588249" y="26733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stf-0612"/>
          <p:cNvSpPr/>
          <p:nvPr/>
        </p:nvSpPr>
        <p:spPr>
          <a:xfrm>
            <a:off x="7677149" y="26733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stf-0613"/>
          <p:cNvSpPr/>
          <p:nvPr/>
        </p:nvSpPr>
        <p:spPr>
          <a:xfrm>
            <a:off x="7766049" y="26733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stf-0614"/>
          <p:cNvSpPr/>
          <p:nvPr/>
        </p:nvSpPr>
        <p:spPr>
          <a:xfrm>
            <a:off x="7854949" y="2673350"/>
            <a:ext cx="88900" cy="88900"/>
          </a:xfrm>
          <a:prstGeom prst="rect">
            <a:avLst/>
          </a:prstGeom>
          <a:solidFill>
            <a:srgbClr val="A56CC1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stf-0615"/>
          <p:cNvSpPr/>
          <p:nvPr/>
        </p:nvSpPr>
        <p:spPr>
          <a:xfrm>
            <a:off x="7867649" y="2726690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stf-0616"/>
          <p:cNvSpPr/>
          <p:nvPr/>
        </p:nvSpPr>
        <p:spPr>
          <a:xfrm>
            <a:off x="7896224" y="2747264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8" name="stf-0617"/>
          <p:cNvCxnSpPr/>
          <p:nvPr/>
        </p:nvCxnSpPr>
        <p:spPr>
          <a:xfrm flipH="1">
            <a:off x="7884794" y="2692400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stf-0618"/>
          <p:cNvSpPr txBox="1"/>
          <p:nvPr/>
        </p:nvSpPr>
        <p:spPr>
          <a:xfrm>
            <a:off x="7962899" y="2508250"/>
            <a:ext cx="22225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Liberation Serif"/>
              </a:rPr>
              <a:t>S_s</a:t>
            </a:r>
          </a:p>
        </p:txBody>
      </p:sp>
      <p:sp>
        <p:nvSpPr>
          <p:cNvPr id="620" name="stf-0619"/>
          <p:cNvSpPr txBox="1"/>
          <p:nvPr/>
        </p:nvSpPr>
        <p:spPr>
          <a:xfrm>
            <a:off x="6953249" y="2813050"/>
            <a:ext cx="8001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Spatial Affinity</a:t>
            </a:r>
          </a:p>
        </p:txBody>
      </p:sp>
      <p:sp>
        <p:nvSpPr>
          <p:cNvPr id="621" name="stf-0620"/>
          <p:cNvSpPr/>
          <p:nvPr/>
        </p:nvSpPr>
        <p:spPr>
          <a:xfrm>
            <a:off x="8172449" y="2324100"/>
            <a:ext cx="520700" cy="412750"/>
          </a:xfrm>
          <a:prstGeom prst="rect">
            <a:avLst/>
          </a:prstGeom>
          <a:solidFill>
            <a:srgbClr val="FFFFFF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stf-0621"/>
          <p:cNvSpPr txBox="1"/>
          <p:nvPr/>
        </p:nvSpPr>
        <p:spPr>
          <a:xfrm>
            <a:off x="8166099" y="2432050"/>
            <a:ext cx="95250" cy="20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Liberation Serif"/>
              </a:rPr>
              <a:t>[</a:t>
            </a:r>
          </a:p>
        </p:txBody>
      </p:sp>
      <p:sp>
        <p:nvSpPr>
          <p:cNvPr id="623" name="stf-0622"/>
          <p:cNvSpPr/>
          <p:nvPr/>
        </p:nvSpPr>
        <p:spPr>
          <a:xfrm>
            <a:off x="8261349" y="2381250"/>
            <a:ext cx="101600" cy="101600"/>
          </a:xfrm>
          <a:prstGeom prst="rect">
            <a:avLst/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stf-0623"/>
          <p:cNvSpPr txBox="1"/>
          <p:nvPr/>
        </p:nvSpPr>
        <p:spPr>
          <a:xfrm>
            <a:off x="8261349" y="2387600"/>
            <a:ext cx="101600" cy="88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25" name="stf-0624"/>
          <p:cNvSpPr/>
          <p:nvPr/>
        </p:nvSpPr>
        <p:spPr>
          <a:xfrm>
            <a:off x="8394699" y="2381250"/>
            <a:ext cx="101600" cy="101600"/>
          </a:xfrm>
          <a:prstGeom prst="rect">
            <a:avLst/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stf-0625"/>
          <p:cNvSpPr txBox="1"/>
          <p:nvPr/>
        </p:nvSpPr>
        <p:spPr>
          <a:xfrm>
            <a:off x="8394699" y="2387600"/>
            <a:ext cx="101600" cy="88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27" name="stf-0626"/>
          <p:cNvSpPr/>
          <p:nvPr/>
        </p:nvSpPr>
        <p:spPr>
          <a:xfrm>
            <a:off x="8528049" y="2381250"/>
            <a:ext cx="101600" cy="101600"/>
          </a:xfrm>
          <a:prstGeom prst="rect">
            <a:avLst/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stf-0627"/>
          <p:cNvSpPr txBox="1"/>
          <p:nvPr/>
        </p:nvSpPr>
        <p:spPr>
          <a:xfrm>
            <a:off x="8528049" y="2387600"/>
            <a:ext cx="101600" cy="88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629" name="stf-0628"/>
          <p:cNvSpPr txBox="1"/>
          <p:nvPr/>
        </p:nvSpPr>
        <p:spPr>
          <a:xfrm>
            <a:off x="8254999" y="2546350"/>
            <a:ext cx="3873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E_n ⊗ H_st</a:t>
            </a:r>
          </a:p>
        </p:txBody>
      </p:sp>
      <p:sp>
        <p:nvSpPr>
          <p:cNvPr id="630" name="stf-0629"/>
          <p:cNvSpPr/>
          <p:nvPr/>
        </p:nvSpPr>
        <p:spPr>
          <a:xfrm>
            <a:off x="8261349" y="2679700"/>
            <a:ext cx="101600" cy="101600"/>
          </a:xfrm>
          <a:prstGeom prst="rect">
            <a:avLst/>
          </a:prstGeom>
          <a:solidFill>
            <a:srgbClr val="FFC000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stf-0630"/>
          <p:cNvSpPr/>
          <p:nvPr/>
        </p:nvSpPr>
        <p:spPr>
          <a:xfrm>
            <a:off x="8394699" y="2679700"/>
            <a:ext cx="101600" cy="101600"/>
          </a:xfrm>
          <a:prstGeom prst="rect">
            <a:avLst/>
          </a:prstGeom>
          <a:solidFill>
            <a:srgbClr val="4472C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stf-0631"/>
          <p:cNvSpPr/>
          <p:nvPr/>
        </p:nvSpPr>
        <p:spPr>
          <a:xfrm>
            <a:off x="8528049" y="2679700"/>
            <a:ext cx="101600" cy="101600"/>
          </a:xfrm>
          <a:prstGeom prst="rect">
            <a:avLst/>
          </a:prstGeom>
          <a:solidFill>
            <a:srgbClr val="70AD47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stf-0632"/>
          <p:cNvSpPr/>
          <p:nvPr/>
        </p:nvSpPr>
        <p:spPr>
          <a:xfrm>
            <a:off x="8851899" y="2273300"/>
            <a:ext cx="150495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stf-0633"/>
          <p:cNvSpPr/>
          <p:nvPr/>
        </p:nvSpPr>
        <p:spPr>
          <a:xfrm>
            <a:off x="8953499" y="23177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stf-0634"/>
          <p:cNvSpPr/>
          <p:nvPr/>
        </p:nvSpPr>
        <p:spPr>
          <a:xfrm>
            <a:off x="9042399" y="23177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stf-0635"/>
          <p:cNvSpPr/>
          <p:nvPr/>
        </p:nvSpPr>
        <p:spPr>
          <a:xfrm>
            <a:off x="9131299" y="23177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stf-0636"/>
          <p:cNvSpPr/>
          <p:nvPr/>
        </p:nvSpPr>
        <p:spPr>
          <a:xfrm>
            <a:off x="9220199" y="23177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stf-0637"/>
          <p:cNvSpPr/>
          <p:nvPr/>
        </p:nvSpPr>
        <p:spPr>
          <a:xfrm>
            <a:off x="9309099" y="23177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stf-0638"/>
          <p:cNvSpPr/>
          <p:nvPr/>
        </p:nvSpPr>
        <p:spPr>
          <a:xfrm>
            <a:off x="9397999" y="23177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stf-0639"/>
          <p:cNvSpPr/>
          <p:nvPr/>
        </p:nvSpPr>
        <p:spPr>
          <a:xfrm>
            <a:off x="8953499" y="24066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stf-0640"/>
          <p:cNvSpPr/>
          <p:nvPr/>
        </p:nvSpPr>
        <p:spPr>
          <a:xfrm>
            <a:off x="9042399" y="24066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stf-0641"/>
          <p:cNvSpPr/>
          <p:nvPr/>
        </p:nvSpPr>
        <p:spPr>
          <a:xfrm>
            <a:off x="9131299" y="24066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stf-0642"/>
          <p:cNvSpPr/>
          <p:nvPr/>
        </p:nvSpPr>
        <p:spPr>
          <a:xfrm>
            <a:off x="9220199" y="24066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stf-0643"/>
          <p:cNvSpPr/>
          <p:nvPr/>
        </p:nvSpPr>
        <p:spPr>
          <a:xfrm>
            <a:off x="9309099" y="24066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stf-0644"/>
          <p:cNvSpPr/>
          <p:nvPr/>
        </p:nvSpPr>
        <p:spPr>
          <a:xfrm>
            <a:off x="9397999" y="24066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stf-0645"/>
          <p:cNvSpPr/>
          <p:nvPr/>
        </p:nvSpPr>
        <p:spPr>
          <a:xfrm>
            <a:off x="8953499" y="24955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stf-0646"/>
          <p:cNvSpPr/>
          <p:nvPr/>
        </p:nvSpPr>
        <p:spPr>
          <a:xfrm>
            <a:off x="9042399" y="24955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stf-0647"/>
          <p:cNvSpPr/>
          <p:nvPr/>
        </p:nvSpPr>
        <p:spPr>
          <a:xfrm>
            <a:off x="9131299" y="24955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stf-0648"/>
          <p:cNvSpPr/>
          <p:nvPr/>
        </p:nvSpPr>
        <p:spPr>
          <a:xfrm>
            <a:off x="9220199" y="24955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stf-0649"/>
          <p:cNvSpPr/>
          <p:nvPr/>
        </p:nvSpPr>
        <p:spPr>
          <a:xfrm>
            <a:off x="9309099" y="24955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stf-0650"/>
          <p:cNvSpPr/>
          <p:nvPr/>
        </p:nvSpPr>
        <p:spPr>
          <a:xfrm>
            <a:off x="9397999" y="24955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stf-0651"/>
          <p:cNvSpPr/>
          <p:nvPr/>
        </p:nvSpPr>
        <p:spPr>
          <a:xfrm>
            <a:off x="8953499" y="25844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stf-0652"/>
          <p:cNvSpPr/>
          <p:nvPr/>
        </p:nvSpPr>
        <p:spPr>
          <a:xfrm>
            <a:off x="9042399" y="25844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stf-0653"/>
          <p:cNvSpPr/>
          <p:nvPr/>
        </p:nvSpPr>
        <p:spPr>
          <a:xfrm>
            <a:off x="9131299" y="25844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stf-0654"/>
          <p:cNvSpPr/>
          <p:nvPr/>
        </p:nvSpPr>
        <p:spPr>
          <a:xfrm>
            <a:off x="9220199" y="25844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stf-0655"/>
          <p:cNvSpPr/>
          <p:nvPr/>
        </p:nvSpPr>
        <p:spPr>
          <a:xfrm>
            <a:off x="9309099" y="25844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stf-0656"/>
          <p:cNvSpPr/>
          <p:nvPr/>
        </p:nvSpPr>
        <p:spPr>
          <a:xfrm>
            <a:off x="9397999" y="25844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stf-0657"/>
          <p:cNvSpPr/>
          <p:nvPr/>
        </p:nvSpPr>
        <p:spPr>
          <a:xfrm>
            <a:off x="8953499" y="26733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stf-0658"/>
          <p:cNvSpPr/>
          <p:nvPr/>
        </p:nvSpPr>
        <p:spPr>
          <a:xfrm>
            <a:off x="9042399" y="26733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stf-0659"/>
          <p:cNvSpPr/>
          <p:nvPr/>
        </p:nvSpPr>
        <p:spPr>
          <a:xfrm>
            <a:off x="9131299" y="26733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stf-0660"/>
          <p:cNvSpPr/>
          <p:nvPr/>
        </p:nvSpPr>
        <p:spPr>
          <a:xfrm>
            <a:off x="9220199" y="26733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stf-0661"/>
          <p:cNvSpPr/>
          <p:nvPr/>
        </p:nvSpPr>
        <p:spPr>
          <a:xfrm>
            <a:off x="9309099" y="26733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stf-0662"/>
          <p:cNvSpPr/>
          <p:nvPr/>
        </p:nvSpPr>
        <p:spPr>
          <a:xfrm>
            <a:off x="9397999" y="2673350"/>
            <a:ext cx="88900" cy="88900"/>
          </a:xfrm>
          <a:prstGeom prst="rect">
            <a:avLst/>
          </a:prstGeom>
          <a:solidFill>
            <a:srgbClr val="E88B8B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stf-0663"/>
          <p:cNvSpPr/>
          <p:nvPr/>
        </p:nvSpPr>
        <p:spPr>
          <a:xfrm>
            <a:off x="9423399" y="2726690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stf-0664"/>
          <p:cNvSpPr/>
          <p:nvPr/>
        </p:nvSpPr>
        <p:spPr>
          <a:xfrm>
            <a:off x="9451974" y="2747264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stf-0665"/>
          <p:cNvCxnSpPr/>
          <p:nvPr/>
        </p:nvCxnSpPr>
        <p:spPr>
          <a:xfrm flipH="1">
            <a:off x="9440544" y="2692400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7" name="stf-0666"/>
          <p:cNvSpPr txBox="1"/>
          <p:nvPr/>
        </p:nvSpPr>
        <p:spPr>
          <a:xfrm>
            <a:off x="9512299" y="2508250"/>
            <a:ext cx="22225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Liberation Serif"/>
              </a:rPr>
              <a:t>S_t</a:t>
            </a:r>
          </a:p>
        </p:txBody>
      </p:sp>
      <p:sp>
        <p:nvSpPr>
          <p:cNvPr id="668" name="stf-0667"/>
          <p:cNvSpPr txBox="1"/>
          <p:nvPr/>
        </p:nvSpPr>
        <p:spPr>
          <a:xfrm>
            <a:off x="8928099" y="2813050"/>
            <a:ext cx="8255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Temporal Affinity</a:t>
            </a:r>
          </a:p>
        </p:txBody>
      </p:sp>
      <p:sp>
        <p:nvSpPr>
          <p:cNvPr id="669" name="stf-0668"/>
          <p:cNvSpPr/>
          <p:nvPr/>
        </p:nvSpPr>
        <p:spPr>
          <a:xfrm>
            <a:off x="9740899" y="2324100"/>
            <a:ext cx="520700" cy="412750"/>
          </a:xfrm>
          <a:prstGeom prst="rect">
            <a:avLst/>
          </a:prstGeom>
          <a:solidFill>
            <a:srgbClr val="FFFFFF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stf-0669"/>
          <p:cNvSpPr/>
          <p:nvPr/>
        </p:nvSpPr>
        <p:spPr>
          <a:xfrm>
            <a:off x="9823449" y="2381250"/>
            <a:ext cx="101600" cy="101600"/>
          </a:xfrm>
          <a:prstGeom prst="rect">
            <a:avLst/>
          </a:prstGeom>
          <a:solidFill>
            <a:srgbClr val="8064A2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stf-0670"/>
          <p:cNvSpPr txBox="1"/>
          <p:nvPr/>
        </p:nvSpPr>
        <p:spPr>
          <a:xfrm>
            <a:off x="9823449" y="2387600"/>
            <a:ext cx="101600" cy="88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72" name="stf-0671"/>
          <p:cNvSpPr/>
          <p:nvPr/>
        </p:nvSpPr>
        <p:spPr>
          <a:xfrm>
            <a:off x="9956799" y="2381250"/>
            <a:ext cx="101600" cy="101600"/>
          </a:xfrm>
          <a:prstGeom prst="rect">
            <a:avLst/>
          </a:prstGeom>
          <a:solidFill>
            <a:srgbClr val="E7A4A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stf-0672"/>
          <p:cNvSpPr txBox="1"/>
          <p:nvPr/>
        </p:nvSpPr>
        <p:spPr>
          <a:xfrm>
            <a:off x="9956799" y="2387600"/>
            <a:ext cx="101600" cy="88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674" name="stf-0673"/>
          <p:cNvSpPr/>
          <p:nvPr/>
        </p:nvSpPr>
        <p:spPr>
          <a:xfrm>
            <a:off x="10090149" y="2381250"/>
            <a:ext cx="101600" cy="101600"/>
          </a:xfrm>
          <a:prstGeom prst="rect">
            <a:avLst/>
          </a:prstGeom>
          <a:solidFill>
            <a:srgbClr val="8064A2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stf-0674"/>
          <p:cNvSpPr txBox="1"/>
          <p:nvPr/>
        </p:nvSpPr>
        <p:spPr>
          <a:xfrm>
            <a:off x="10090149" y="2387600"/>
            <a:ext cx="101600" cy="88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76" name="stf-0675"/>
          <p:cNvSpPr txBox="1"/>
          <p:nvPr/>
        </p:nvSpPr>
        <p:spPr>
          <a:xfrm>
            <a:off x="9804399" y="2546350"/>
            <a:ext cx="4191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E_n ⊗ H_st</a:t>
            </a:r>
          </a:p>
        </p:txBody>
      </p:sp>
      <p:sp>
        <p:nvSpPr>
          <p:cNvPr id="677" name="stf-0676"/>
          <p:cNvSpPr/>
          <p:nvPr/>
        </p:nvSpPr>
        <p:spPr>
          <a:xfrm>
            <a:off x="9823449" y="2679700"/>
            <a:ext cx="101600" cy="101600"/>
          </a:xfrm>
          <a:prstGeom prst="rect">
            <a:avLst/>
          </a:prstGeom>
          <a:solidFill>
            <a:srgbClr val="FFC000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stf-0677"/>
          <p:cNvSpPr/>
          <p:nvPr/>
        </p:nvSpPr>
        <p:spPr>
          <a:xfrm>
            <a:off x="9956799" y="2679700"/>
            <a:ext cx="101600" cy="101600"/>
          </a:xfrm>
          <a:prstGeom prst="rect">
            <a:avLst/>
          </a:prstGeom>
          <a:solidFill>
            <a:srgbClr val="4472C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stf-0678"/>
          <p:cNvSpPr/>
          <p:nvPr/>
        </p:nvSpPr>
        <p:spPr>
          <a:xfrm>
            <a:off x="10090149" y="2679700"/>
            <a:ext cx="101600" cy="101600"/>
          </a:xfrm>
          <a:prstGeom prst="rect">
            <a:avLst/>
          </a:prstGeom>
          <a:solidFill>
            <a:srgbClr val="70AD47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stf-0679"/>
          <p:cNvSpPr/>
          <p:nvPr/>
        </p:nvSpPr>
        <p:spPr>
          <a:xfrm>
            <a:off x="10413999" y="2273300"/>
            <a:ext cx="16764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stf-0680"/>
          <p:cNvSpPr/>
          <p:nvPr/>
        </p:nvSpPr>
        <p:spPr>
          <a:xfrm>
            <a:off x="10502899" y="23177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stf-0681"/>
          <p:cNvSpPr/>
          <p:nvPr/>
        </p:nvSpPr>
        <p:spPr>
          <a:xfrm>
            <a:off x="10591799" y="23177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stf-0682"/>
          <p:cNvSpPr/>
          <p:nvPr/>
        </p:nvSpPr>
        <p:spPr>
          <a:xfrm>
            <a:off x="10680699" y="23177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stf-0683"/>
          <p:cNvSpPr/>
          <p:nvPr/>
        </p:nvSpPr>
        <p:spPr>
          <a:xfrm>
            <a:off x="10769599" y="23177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stf-0684"/>
          <p:cNvSpPr/>
          <p:nvPr/>
        </p:nvSpPr>
        <p:spPr>
          <a:xfrm>
            <a:off x="10858499" y="23177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stf-0685"/>
          <p:cNvSpPr/>
          <p:nvPr/>
        </p:nvSpPr>
        <p:spPr>
          <a:xfrm>
            <a:off x="10947399" y="23177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stf-0686"/>
          <p:cNvSpPr/>
          <p:nvPr/>
        </p:nvSpPr>
        <p:spPr>
          <a:xfrm>
            <a:off x="10502899" y="24066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stf-0687"/>
          <p:cNvSpPr/>
          <p:nvPr/>
        </p:nvSpPr>
        <p:spPr>
          <a:xfrm>
            <a:off x="10591799" y="24066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stf-0688"/>
          <p:cNvSpPr/>
          <p:nvPr/>
        </p:nvSpPr>
        <p:spPr>
          <a:xfrm>
            <a:off x="10680699" y="24066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stf-0689"/>
          <p:cNvSpPr/>
          <p:nvPr/>
        </p:nvSpPr>
        <p:spPr>
          <a:xfrm>
            <a:off x="10769599" y="24066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stf-0690"/>
          <p:cNvSpPr/>
          <p:nvPr/>
        </p:nvSpPr>
        <p:spPr>
          <a:xfrm>
            <a:off x="10858499" y="24066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stf-0691"/>
          <p:cNvSpPr/>
          <p:nvPr/>
        </p:nvSpPr>
        <p:spPr>
          <a:xfrm>
            <a:off x="10947399" y="24066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stf-0692"/>
          <p:cNvSpPr/>
          <p:nvPr/>
        </p:nvSpPr>
        <p:spPr>
          <a:xfrm>
            <a:off x="10502899" y="24955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stf-0693"/>
          <p:cNvSpPr/>
          <p:nvPr/>
        </p:nvSpPr>
        <p:spPr>
          <a:xfrm>
            <a:off x="10591799" y="24955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stf-0694"/>
          <p:cNvSpPr/>
          <p:nvPr/>
        </p:nvSpPr>
        <p:spPr>
          <a:xfrm>
            <a:off x="10680699" y="24955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stf-0695"/>
          <p:cNvSpPr/>
          <p:nvPr/>
        </p:nvSpPr>
        <p:spPr>
          <a:xfrm>
            <a:off x="10769599" y="24955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stf-0696"/>
          <p:cNvSpPr/>
          <p:nvPr/>
        </p:nvSpPr>
        <p:spPr>
          <a:xfrm>
            <a:off x="10858499" y="24955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stf-0697"/>
          <p:cNvSpPr/>
          <p:nvPr/>
        </p:nvSpPr>
        <p:spPr>
          <a:xfrm>
            <a:off x="10947399" y="24955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stf-0698"/>
          <p:cNvSpPr/>
          <p:nvPr/>
        </p:nvSpPr>
        <p:spPr>
          <a:xfrm>
            <a:off x="10502899" y="25844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stf-0699"/>
          <p:cNvSpPr/>
          <p:nvPr/>
        </p:nvSpPr>
        <p:spPr>
          <a:xfrm>
            <a:off x="10591799" y="25844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stf-0700"/>
          <p:cNvSpPr/>
          <p:nvPr/>
        </p:nvSpPr>
        <p:spPr>
          <a:xfrm>
            <a:off x="10680699" y="25844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stf-0701"/>
          <p:cNvSpPr/>
          <p:nvPr/>
        </p:nvSpPr>
        <p:spPr>
          <a:xfrm>
            <a:off x="10769599" y="25844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stf-0702"/>
          <p:cNvSpPr/>
          <p:nvPr/>
        </p:nvSpPr>
        <p:spPr>
          <a:xfrm>
            <a:off x="10858499" y="25844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stf-0703"/>
          <p:cNvSpPr/>
          <p:nvPr/>
        </p:nvSpPr>
        <p:spPr>
          <a:xfrm>
            <a:off x="10947399" y="25844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stf-0704"/>
          <p:cNvSpPr/>
          <p:nvPr/>
        </p:nvSpPr>
        <p:spPr>
          <a:xfrm>
            <a:off x="10502899" y="26733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stf-0705"/>
          <p:cNvSpPr/>
          <p:nvPr/>
        </p:nvSpPr>
        <p:spPr>
          <a:xfrm>
            <a:off x="10591799" y="26733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stf-0706"/>
          <p:cNvSpPr/>
          <p:nvPr/>
        </p:nvSpPr>
        <p:spPr>
          <a:xfrm>
            <a:off x="10680699" y="26733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stf-0707"/>
          <p:cNvSpPr/>
          <p:nvPr/>
        </p:nvSpPr>
        <p:spPr>
          <a:xfrm>
            <a:off x="10769599" y="26733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stf-0708"/>
          <p:cNvSpPr/>
          <p:nvPr/>
        </p:nvSpPr>
        <p:spPr>
          <a:xfrm>
            <a:off x="10858499" y="26733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stf-0709"/>
          <p:cNvSpPr/>
          <p:nvPr/>
        </p:nvSpPr>
        <p:spPr>
          <a:xfrm>
            <a:off x="10947399" y="2673350"/>
            <a:ext cx="88900" cy="88900"/>
          </a:xfrm>
          <a:prstGeom prst="rect">
            <a:avLst/>
          </a:prstGeom>
          <a:solidFill>
            <a:srgbClr val="9FBCE5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stf-0710"/>
          <p:cNvSpPr/>
          <p:nvPr/>
        </p:nvSpPr>
        <p:spPr>
          <a:xfrm>
            <a:off x="10972799" y="2726690"/>
            <a:ext cx="93726" cy="8001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stf-0711"/>
          <p:cNvSpPr/>
          <p:nvPr/>
        </p:nvSpPr>
        <p:spPr>
          <a:xfrm>
            <a:off x="11001374" y="2747264"/>
            <a:ext cx="38862" cy="4914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3" name="stf-0712"/>
          <p:cNvCxnSpPr/>
          <p:nvPr/>
        </p:nvCxnSpPr>
        <p:spPr>
          <a:xfrm flipH="1">
            <a:off x="10989944" y="2692400"/>
            <a:ext cx="30861" cy="59436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stf-0713"/>
          <p:cNvSpPr txBox="1"/>
          <p:nvPr/>
        </p:nvSpPr>
        <p:spPr>
          <a:xfrm>
            <a:off x="11068049" y="2508250"/>
            <a:ext cx="22225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Liberation Serif"/>
              </a:rPr>
              <a:t>S_d</a:t>
            </a:r>
          </a:p>
        </p:txBody>
      </p:sp>
      <p:sp>
        <p:nvSpPr>
          <p:cNvPr id="715" name="stf-0714"/>
          <p:cNvSpPr txBox="1"/>
          <p:nvPr/>
        </p:nvSpPr>
        <p:spPr>
          <a:xfrm>
            <a:off x="10445749" y="2813050"/>
            <a:ext cx="92075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Liberation Serif"/>
              </a:rPr>
              <a:t>Time-Lagged Affinity</a:t>
            </a:r>
          </a:p>
        </p:txBody>
      </p:sp>
      <p:sp>
        <p:nvSpPr>
          <p:cNvPr id="716" name="stf-0715"/>
          <p:cNvSpPr/>
          <p:nvPr/>
        </p:nvSpPr>
        <p:spPr>
          <a:xfrm>
            <a:off x="11366499" y="2336800"/>
            <a:ext cx="127000" cy="114300"/>
          </a:xfrm>
          <a:prstGeom prst="rect">
            <a:avLst/>
          </a:prstGeom>
          <a:solidFill>
            <a:srgbClr val="FFC000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stf-0716"/>
          <p:cNvSpPr txBox="1"/>
          <p:nvPr/>
        </p:nvSpPr>
        <p:spPr>
          <a:xfrm>
            <a:off x="11366499" y="234315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18" name="stf-0717"/>
          <p:cNvSpPr/>
          <p:nvPr/>
        </p:nvSpPr>
        <p:spPr>
          <a:xfrm>
            <a:off x="11525249" y="2336800"/>
            <a:ext cx="127000" cy="114300"/>
          </a:xfrm>
          <a:prstGeom prst="rect">
            <a:avLst/>
          </a:prstGeom>
          <a:solidFill>
            <a:srgbClr val="4472C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stf-0718"/>
          <p:cNvSpPr txBox="1"/>
          <p:nvPr/>
        </p:nvSpPr>
        <p:spPr>
          <a:xfrm>
            <a:off x="11525249" y="234315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720" name="stf-0719"/>
          <p:cNvSpPr/>
          <p:nvPr/>
        </p:nvSpPr>
        <p:spPr>
          <a:xfrm>
            <a:off x="11683999" y="2336800"/>
            <a:ext cx="127000" cy="114300"/>
          </a:xfrm>
          <a:prstGeom prst="rect">
            <a:avLst/>
          </a:prstGeom>
          <a:solidFill>
            <a:srgbClr val="70AD47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stf-0720"/>
          <p:cNvSpPr txBox="1"/>
          <p:nvPr/>
        </p:nvSpPr>
        <p:spPr>
          <a:xfrm>
            <a:off x="11683999" y="234315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22" name="stf-0721"/>
          <p:cNvSpPr/>
          <p:nvPr/>
        </p:nvSpPr>
        <p:spPr>
          <a:xfrm>
            <a:off x="11410949" y="2381250"/>
            <a:ext cx="127000" cy="114300"/>
          </a:xfrm>
          <a:prstGeom prst="rect">
            <a:avLst/>
          </a:prstGeom>
          <a:solidFill>
            <a:srgbClr val="FFC000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stf-0722"/>
          <p:cNvSpPr txBox="1"/>
          <p:nvPr/>
        </p:nvSpPr>
        <p:spPr>
          <a:xfrm>
            <a:off x="11410949" y="238760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24" name="stf-0723"/>
          <p:cNvSpPr/>
          <p:nvPr/>
        </p:nvSpPr>
        <p:spPr>
          <a:xfrm>
            <a:off x="11569699" y="2381250"/>
            <a:ext cx="127000" cy="114300"/>
          </a:xfrm>
          <a:prstGeom prst="rect">
            <a:avLst/>
          </a:prstGeom>
          <a:solidFill>
            <a:srgbClr val="4472C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stf-0724"/>
          <p:cNvSpPr txBox="1"/>
          <p:nvPr/>
        </p:nvSpPr>
        <p:spPr>
          <a:xfrm>
            <a:off x="11569699" y="238760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726" name="stf-0725"/>
          <p:cNvSpPr/>
          <p:nvPr/>
        </p:nvSpPr>
        <p:spPr>
          <a:xfrm>
            <a:off x="11728449" y="2381250"/>
            <a:ext cx="127000" cy="114300"/>
          </a:xfrm>
          <a:prstGeom prst="rect">
            <a:avLst/>
          </a:prstGeom>
          <a:solidFill>
            <a:srgbClr val="70AD47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stf-0726"/>
          <p:cNvSpPr txBox="1"/>
          <p:nvPr/>
        </p:nvSpPr>
        <p:spPr>
          <a:xfrm>
            <a:off x="11728449" y="238760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28" name="stf-0727"/>
          <p:cNvSpPr/>
          <p:nvPr/>
        </p:nvSpPr>
        <p:spPr>
          <a:xfrm>
            <a:off x="11455399" y="2425700"/>
            <a:ext cx="127000" cy="114300"/>
          </a:xfrm>
          <a:prstGeom prst="rect">
            <a:avLst/>
          </a:prstGeom>
          <a:solidFill>
            <a:srgbClr val="FFC000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stf-0728"/>
          <p:cNvSpPr txBox="1"/>
          <p:nvPr/>
        </p:nvSpPr>
        <p:spPr>
          <a:xfrm>
            <a:off x="11455399" y="243205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0" name="stf-0729"/>
          <p:cNvSpPr/>
          <p:nvPr/>
        </p:nvSpPr>
        <p:spPr>
          <a:xfrm>
            <a:off x="11614149" y="2425700"/>
            <a:ext cx="127000" cy="114300"/>
          </a:xfrm>
          <a:prstGeom prst="rect">
            <a:avLst/>
          </a:prstGeom>
          <a:solidFill>
            <a:srgbClr val="4472C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stf-0730"/>
          <p:cNvSpPr txBox="1"/>
          <p:nvPr/>
        </p:nvSpPr>
        <p:spPr>
          <a:xfrm>
            <a:off x="11614149" y="243205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732" name="stf-0731"/>
          <p:cNvSpPr/>
          <p:nvPr/>
        </p:nvSpPr>
        <p:spPr>
          <a:xfrm>
            <a:off x="11772899" y="2425700"/>
            <a:ext cx="127000" cy="114300"/>
          </a:xfrm>
          <a:prstGeom prst="rect">
            <a:avLst/>
          </a:prstGeom>
          <a:solidFill>
            <a:srgbClr val="70AD47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stf-0732"/>
          <p:cNvSpPr txBox="1"/>
          <p:nvPr/>
        </p:nvSpPr>
        <p:spPr>
          <a:xfrm>
            <a:off x="11772899" y="2432050"/>
            <a:ext cx="127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4" name="stf-0733"/>
          <p:cNvSpPr txBox="1"/>
          <p:nvPr/>
        </p:nvSpPr>
        <p:spPr>
          <a:xfrm>
            <a:off x="11264899" y="2578100"/>
            <a:ext cx="7112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H_st⁻ᵟ ⊗ H_st</a:t>
            </a:r>
          </a:p>
        </p:txBody>
      </p:sp>
      <p:sp>
        <p:nvSpPr>
          <p:cNvPr id="735" name="stf-0734"/>
          <p:cNvSpPr/>
          <p:nvPr/>
        </p:nvSpPr>
        <p:spPr>
          <a:xfrm>
            <a:off x="11442699" y="2749550"/>
            <a:ext cx="120650" cy="107950"/>
          </a:xfrm>
          <a:prstGeom prst="rect">
            <a:avLst/>
          </a:prstGeom>
          <a:solidFill>
            <a:srgbClr val="FFC000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stf-0735"/>
          <p:cNvSpPr txBox="1"/>
          <p:nvPr/>
        </p:nvSpPr>
        <p:spPr>
          <a:xfrm>
            <a:off x="11442699" y="2755900"/>
            <a:ext cx="12065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7" name="stf-0736"/>
          <p:cNvSpPr/>
          <p:nvPr/>
        </p:nvSpPr>
        <p:spPr>
          <a:xfrm>
            <a:off x="11595099" y="2749550"/>
            <a:ext cx="120650" cy="107950"/>
          </a:xfrm>
          <a:prstGeom prst="rect">
            <a:avLst/>
          </a:prstGeom>
          <a:solidFill>
            <a:srgbClr val="4472C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stf-0737"/>
          <p:cNvSpPr txBox="1"/>
          <p:nvPr/>
        </p:nvSpPr>
        <p:spPr>
          <a:xfrm>
            <a:off x="11595099" y="2755900"/>
            <a:ext cx="12065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739" name="stf-0738"/>
          <p:cNvSpPr/>
          <p:nvPr/>
        </p:nvSpPr>
        <p:spPr>
          <a:xfrm>
            <a:off x="11747499" y="2749550"/>
            <a:ext cx="120650" cy="107950"/>
          </a:xfrm>
          <a:prstGeom prst="rect">
            <a:avLst/>
          </a:prstGeom>
          <a:solidFill>
            <a:srgbClr val="70AD47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stf-0739"/>
          <p:cNvSpPr txBox="1"/>
          <p:nvPr/>
        </p:nvSpPr>
        <p:spPr>
          <a:xfrm>
            <a:off x="11747499" y="2755900"/>
            <a:ext cx="120650" cy="95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41" name="stf-0740"/>
          <p:cNvSpPr/>
          <p:nvPr/>
        </p:nvSpPr>
        <p:spPr>
          <a:xfrm>
            <a:off x="6134099" y="3041650"/>
            <a:ext cx="1778000" cy="6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stf-0741"/>
          <p:cNvSpPr txBox="1"/>
          <p:nvPr/>
        </p:nvSpPr>
        <p:spPr>
          <a:xfrm>
            <a:off x="6248399" y="3111500"/>
            <a:ext cx="119380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11111"/>
                </a:solidFill>
                <a:latin typeface="Liberation Serif"/>
              </a:rPr>
              <a:t>N│ ×  ⊙ R│ ×</a:t>
            </a:r>
          </a:p>
        </p:txBody>
      </p:sp>
      <p:sp>
        <p:nvSpPr>
          <p:cNvPr id="743" name="stf-0742"/>
          <p:cNvSpPr/>
          <p:nvPr/>
        </p:nvSpPr>
        <p:spPr>
          <a:xfrm>
            <a:off x="6362699" y="3111500"/>
            <a:ext cx="38100" cy="19685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stf-0743"/>
          <p:cNvSpPr/>
          <p:nvPr/>
        </p:nvSpPr>
        <p:spPr>
          <a:xfrm>
            <a:off x="6997699" y="3111500"/>
            <a:ext cx="38100" cy="19685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stf-0744"/>
          <p:cNvCxnSpPr/>
          <p:nvPr/>
        </p:nvCxnSpPr>
        <p:spPr>
          <a:xfrm>
            <a:off x="6502399" y="3327399"/>
            <a:ext cx="177800" cy="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6" name="stf-0745"/>
          <p:cNvSpPr txBox="1"/>
          <p:nvPr/>
        </p:nvSpPr>
        <p:spPr>
          <a:xfrm>
            <a:off x="6515099" y="3333749"/>
            <a:ext cx="152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R</a:t>
            </a:r>
          </a:p>
        </p:txBody>
      </p:sp>
      <p:cxnSp>
        <p:nvCxnSpPr>
          <p:cNvPr id="747" name="stf-0746"/>
          <p:cNvCxnSpPr/>
          <p:nvPr/>
        </p:nvCxnSpPr>
        <p:spPr>
          <a:xfrm>
            <a:off x="7156449" y="3327399"/>
            <a:ext cx="177800" cy="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8" name="stf-0747"/>
          <p:cNvSpPr txBox="1"/>
          <p:nvPr/>
        </p:nvSpPr>
        <p:spPr>
          <a:xfrm>
            <a:off x="7169149" y="3333749"/>
            <a:ext cx="152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N</a:t>
            </a:r>
          </a:p>
        </p:txBody>
      </p:sp>
      <p:sp>
        <p:nvSpPr>
          <p:cNvPr id="749" name="stf-0748"/>
          <p:cNvSpPr txBox="1"/>
          <p:nvPr/>
        </p:nvSpPr>
        <p:spPr>
          <a:xfrm>
            <a:off x="7365999" y="3098800"/>
            <a:ext cx="3111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D8D8D"/>
                </a:solidFill>
                <a:latin typeface="Liberation Serif"/>
              </a:rPr>
              <a:t>top-k</a:t>
            </a:r>
          </a:p>
        </p:txBody>
      </p:sp>
      <p:cxnSp>
        <p:nvCxnSpPr>
          <p:cNvPr id="750" name="stf-0749"/>
          <p:cNvCxnSpPr/>
          <p:nvPr/>
        </p:nvCxnSpPr>
        <p:spPr>
          <a:xfrm>
            <a:off x="7391399" y="3263900"/>
            <a:ext cx="292100" cy="0"/>
          </a:xfrm>
          <a:prstGeom prst="line">
            <a:avLst/>
          </a:prstGeom>
          <a:ln w="38100">
            <a:solidFill>
              <a:srgbClr val="D4D4D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1" name="stf-0750"/>
          <p:cNvSpPr txBox="1"/>
          <p:nvPr/>
        </p:nvSpPr>
        <p:spPr>
          <a:xfrm>
            <a:off x="6324599" y="3486149"/>
            <a:ext cx="8255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8D8D"/>
                </a:solidFill>
                <a:latin typeface="Liberation Serif"/>
              </a:rPr>
              <a:t>dynamic filter</a:t>
            </a:r>
          </a:p>
        </p:txBody>
      </p:sp>
      <p:sp>
        <p:nvSpPr>
          <p:cNvPr id="752" name="stf-0751"/>
          <p:cNvSpPr/>
          <p:nvPr/>
        </p:nvSpPr>
        <p:spPr>
          <a:xfrm>
            <a:off x="6248399" y="3492499"/>
            <a:ext cx="69850" cy="76200"/>
          </a:xfrm>
          <a:prstGeom prst="rect">
            <a:avLst/>
          </a:prstGeom>
          <a:solidFill>
            <a:srgbClr val="8064A2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stf-0752"/>
          <p:cNvSpPr/>
          <p:nvPr/>
        </p:nvSpPr>
        <p:spPr>
          <a:xfrm>
            <a:off x="6330949" y="3492499"/>
            <a:ext cx="69850" cy="76200"/>
          </a:xfrm>
          <a:prstGeom prst="rect">
            <a:avLst/>
          </a:prstGeom>
          <a:solidFill>
            <a:srgbClr val="E7A4A4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stf-0753"/>
          <p:cNvSpPr/>
          <p:nvPr/>
        </p:nvSpPr>
        <p:spPr>
          <a:xfrm>
            <a:off x="6413499" y="3492499"/>
            <a:ext cx="69850" cy="76200"/>
          </a:xfrm>
          <a:prstGeom prst="rect">
            <a:avLst/>
          </a:prstGeom>
          <a:solidFill>
            <a:srgbClr val="9DC3E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stf-0754"/>
          <p:cNvSpPr txBox="1"/>
          <p:nvPr/>
        </p:nvSpPr>
        <p:spPr>
          <a:xfrm>
            <a:off x="7480299" y="3473449"/>
            <a:ext cx="5461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α_s M_s</a:t>
            </a:r>
          </a:p>
        </p:txBody>
      </p:sp>
      <p:sp>
        <p:nvSpPr>
          <p:cNvPr id="756" name="stf-0755"/>
          <p:cNvSpPr/>
          <p:nvPr/>
        </p:nvSpPr>
        <p:spPr>
          <a:xfrm>
            <a:off x="7435849" y="30861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stf-0756"/>
          <p:cNvSpPr/>
          <p:nvPr/>
        </p:nvSpPr>
        <p:spPr>
          <a:xfrm>
            <a:off x="7518399" y="30861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stf-0757"/>
          <p:cNvSpPr/>
          <p:nvPr/>
        </p:nvSpPr>
        <p:spPr>
          <a:xfrm>
            <a:off x="7600949" y="30861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stf-0758"/>
          <p:cNvSpPr/>
          <p:nvPr/>
        </p:nvSpPr>
        <p:spPr>
          <a:xfrm>
            <a:off x="7683499" y="30861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stf-0759"/>
          <p:cNvSpPr/>
          <p:nvPr/>
        </p:nvSpPr>
        <p:spPr>
          <a:xfrm>
            <a:off x="7766049" y="30861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stf-0760"/>
          <p:cNvSpPr/>
          <p:nvPr/>
        </p:nvSpPr>
        <p:spPr>
          <a:xfrm>
            <a:off x="7435849" y="316865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stf-0761"/>
          <p:cNvSpPr/>
          <p:nvPr/>
        </p:nvSpPr>
        <p:spPr>
          <a:xfrm>
            <a:off x="7518399" y="316865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stf-0762"/>
          <p:cNvSpPr/>
          <p:nvPr/>
        </p:nvSpPr>
        <p:spPr>
          <a:xfrm>
            <a:off x="7600949" y="316865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stf-0763"/>
          <p:cNvSpPr/>
          <p:nvPr/>
        </p:nvSpPr>
        <p:spPr>
          <a:xfrm>
            <a:off x="7683499" y="316865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stf-0764"/>
          <p:cNvSpPr/>
          <p:nvPr/>
        </p:nvSpPr>
        <p:spPr>
          <a:xfrm>
            <a:off x="7766049" y="316865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stf-0765"/>
          <p:cNvSpPr/>
          <p:nvPr/>
        </p:nvSpPr>
        <p:spPr>
          <a:xfrm>
            <a:off x="7435849" y="32512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stf-0766"/>
          <p:cNvSpPr/>
          <p:nvPr/>
        </p:nvSpPr>
        <p:spPr>
          <a:xfrm>
            <a:off x="7518399" y="32512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stf-0767"/>
          <p:cNvSpPr/>
          <p:nvPr/>
        </p:nvSpPr>
        <p:spPr>
          <a:xfrm>
            <a:off x="7600949" y="3251200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stf-0768"/>
          <p:cNvSpPr/>
          <p:nvPr/>
        </p:nvSpPr>
        <p:spPr>
          <a:xfrm>
            <a:off x="7683499" y="3251200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stf-0769"/>
          <p:cNvSpPr/>
          <p:nvPr/>
        </p:nvSpPr>
        <p:spPr>
          <a:xfrm>
            <a:off x="7766049" y="3251200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stf-0770"/>
          <p:cNvSpPr/>
          <p:nvPr/>
        </p:nvSpPr>
        <p:spPr>
          <a:xfrm>
            <a:off x="7435849" y="333374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stf-0771"/>
          <p:cNvSpPr/>
          <p:nvPr/>
        </p:nvSpPr>
        <p:spPr>
          <a:xfrm>
            <a:off x="7518399" y="333374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stf-0772"/>
          <p:cNvSpPr/>
          <p:nvPr/>
        </p:nvSpPr>
        <p:spPr>
          <a:xfrm>
            <a:off x="7600949" y="3333749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stf-0773"/>
          <p:cNvSpPr/>
          <p:nvPr/>
        </p:nvSpPr>
        <p:spPr>
          <a:xfrm>
            <a:off x="7683499" y="333374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stf-0774"/>
          <p:cNvSpPr/>
          <p:nvPr/>
        </p:nvSpPr>
        <p:spPr>
          <a:xfrm>
            <a:off x="7766049" y="333374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stf-0775"/>
          <p:cNvSpPr/>
          <p:nvPr/>
        </p:nvSpPr>
        <p:spPr>
          <a:xfrm>
            <a:off x="7435849" y="341629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stf-0776"/>
          <p:cNvSpPr/>
          <p:nvPr/>
        </p:nvSpPr>
        <p:spPr>
          <a:xfrm>
            <a:off x="7518399" y="341629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stf-0777"/>
          <p:cNvSpPr/>
          <p:nvPr/>
        </p:nvSpPr>
        <p:spPr>
          <a:xfrm>
            <a:off x="7600949" y="341629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stf-0778"/>
          <p:cNvSpPr/>
          <p:nvPr/>
        </p:nvSpPr>
        <p:spPr>
          <a:xfrm>
            <a:off x="7683499" y="341629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stf-0779"/>
          <p:cNvSpPr/>
          <p:nvPr/>
        </p:nvSpPr>
        <p:spPr>
          <a:xfrm>
            <a:off x="7766049" y="3416299"/>
            <a:ext cx="82550" cy="82550"/>
          </a:xfrm>
          <a:prstGeom prst="rect">
            <a:avLst/>
          </a:prstGeom>
          <a:solidFill>
            <a:srgbClr val="8064A2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stf-0780"/>
          <p:cNvSpPr/>
          <p:nvPr/>
        </p:nvSpPr>
        <p:spPr>
          <a:xfrm>
            <a:off x="7753349" y="347852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stf-0781"/>
          <p:cNvSpPr/>
          <p:nvPr/>
        </p:nvSpPr>
        <p:spPr>
          <a:xfrm>
            <a:off x="7778749" y="349681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3" name="stf-0782"/>
          <p:cNvCxnSpPr/>
          <p:nvPr/>
        </p:nvCxnSpPr>
        <p:spPr>
          <a:xfrm flipH="1">
            <a:off x="7768589" y="344804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stf-0783"/>
          <p:cNvSpPr/>
          <p:nvPr/>
        </p:nvSpPr>
        <p:spPr>
          <a:xfrm>
            <a:off x="8432799" y="3041650"/>
            <a:ext cx="1568450" cy="6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stf-0784"/>
          <p:cNvSpPr txBox="1"/>
          <p:nvPr/>
        </p:nvSpPr>
        <p:spPr>
          <a:xfrm>
            <a:off x="8547099" y="3111500"/>
            <a:ext cx="119380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11111"/>
                </a:solidFill>
                <a:latin typeface="Liberation Serif"/>
              </a:rPr>
              <a:t>N│ ×  ⊙ R│ ×</a:t>
            </a:r>
          </a:p>
        </p:txBody>
      </p:sp>
      <p:sp>
        <p:nvSpPr>
          <p:cNvPr id="786" name="stf-0785"/>
          <p:cNvSpPr/>
          <p:nvPr/>
        </p:nvSpPr>
        <p:spPr>
          <a:xfrm>
            <a:off x="8661399" y="3111500"/>
            <a:ext cx="38100" cy="19685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stf-0786"/>
          <p:cNvSpPr/>
          <p:nvPr/>
        </p:nvSpPr>
        <p:spPr>
          <a:xfrm>
            <a:off x="9296399" y="3111500"/>
            <a:ext cx="38100" cy="19685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8" name="stf-0787"/>
          <p:cNvCxnSpPr/>
          <p:nvPr/>
        </p:nvCxnSpPr>
        <p:spPr>
          <a:xfrm>
            <a:off x="8801099" y="3327399"/>
            <a:ext cx="177800" cy="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9" name="stf-0788"/>
          <p:cNvSpPr txBox="1"/>
          <p:nvPr/>
        </p:nvSpPr>
        <p:spPr>
          <a:xfrm>
            <a:off x="8813799" y="3333749"/>
            <a:ext cx="152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R</a:t>
            </a:r>
          </a:p>
        </p:txBody>
      </p:sp>
      <p:cxnSp>
        <p:nvCxnSpPr>
          <p:cNvPr id="790" name="stf-0789"/>
          <p:cNvCxnSpPr/>
          <p:nvPr/>
        </p:nvCxnSpPr>
        <p:spPr>
          <a:xfrm>
            <a:off x="9455149" y="3327399"/>
            <a:ext cx="177800" cy="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1" name="stf-0790"/>
          <p:cNvSpPr txBox="1"/>
          <p:nvPr/>
        </p:nvSpPr>
        <p:spPr>
          <a:xfrm>
            <a:off x="9467849" y="3333749"/>
            <a:ext cx="152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N</a:t>
            </a:r>
          </a:p>
        </p:txBody>
      </p:sp>
      <p:sp>
        <p:nvSpPr>
          <p:cNvPr id="792" name="stf-0791"/>
          <p:cNvSpPr txBox="1"/>
          <p:nvPr/>
        </p:nvSpPr>
        <p:spPr>
          <a:xfrm>
            <a:off x="9664699" y="3098800"/>
            <a:ext cx="3111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D8D8D"/>
                </a:solidFill>
                <a:latin typeface="Liberation Serif"/>
              </a:rPr>
              <a:t>top-k</a:t>
            </a:r>
          </a:p>
        </p:txBody>
      </p:sp>
      <p:cxnSp>
        <p:nvCxnSpPr>
          <p:cNvPr id="793" name="stf-0792"/>
          <p:cNvCxnSpPr/>
          <p:nvPr/>
        </p:nvCxnSpPr>
        <p:spPr>
          <a:xfrm>
            <a:off x="9690099" y="3263900"/>
            <a:ext cx="292100" cy="0"/>
          </a:xfrm>
          <a:prstGeom prst="line">
            <a:avLst/>
          </a:prstGeom>
          <a:ln w="38100">
            <a:solidFill>
              <a:srgbClr val="D4D4D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4" name="stf-0793"/>
          <p:cNvSpPr txBox="1"/>
          <p:nvPr/>
        </p:nvSpPr>
        <p:spPr>
          <a:xfrm>
            <a:off x="8623299" y="3486149"/>
            <a:ext cx="8255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8D8D"/>
                </a:solidFill>
                <a:latin typeface="Liberation Serif"/>
              </a:rPr>
              <a:t>dynamic filter</a:t>
            </a:r>
          </a:p>
        </p:txBody>
      </p:sp>
      <p:sp>
        <p:nvSpPr>
          <p:cNvPr id="795" name="stf-0794"/>
          <p:cNvSpPr/>
          <p:nvPr/>
        </p:nvSpPr>
        <p:spPr>
          <a:xfrm>
            <a:off x="8547099" y="3492499"/>
            <a:ext cx="69850" cy="76200"/>
          </a:xfrm>
          <a:prstGeom prst="rect">
            <a:avLst/>
          </a:prstGeom>
          <a:solidFill>
            <a:srgbClr val="8064A2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stf-0795"/>
          <p:cNvSpPr/>
          <p:nvPr/>
        </p:nvSpPr>
        <p:spPr>
          <a:xfrm>
            <a:off x="8629649" y="3492499"/>
            <a:ext cx="69850" cy="76200"/>
          </a:xfrm>
          <a:prstGeom prst="rect">
            <a:avLst/>
          </a:prstGeom>
          <a:solidFill>
            <a:srgbClr val="E7A4A4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stf-0796"/>
          <p:cNvSpPr/>
          <p:nvPr/>
        </p:nvSpPr>
        <p:spPr>
          <a:xfrm>
            <a:off x="8712199" y="3492499"/>
            <a:ext cx="69850" cy="76200"/>
          </a:xfrm>
          <a:prstGeom prst="rect">
            <a:avLst/>
          </a:prstGeom>
          <a:solidFill>
            <a:srgbClr val="9DC3E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stf-0797"/>
          <p:cNvSpPr txBox="1"/>
          <p:nvPr/>
        </p:nvSpPr>
        <p:spPr>
          <a:xfrm>
            <a:off x="9778999" y="3473449"/>
            <a:ext cx="5461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α_t M_t</a:t>
            </a:r>
          </a:p>
        </p:txBody>
      </p:sp>
      <p:sp>
        <p:nvSpPr>
          <p:cNvPr id="799" name="stf-0798"/>
          <p:cNvSpPr/>
          <p:nvPr/>
        </p:nvSpPr>
        <p:spPr>
          <a:xfrm>
            <a:off x="9664699" y="30861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stf-0799"/>
          <p:cNvSpPr/>
          <p:nvPr/>
        </p:nvSpPr>
        <p:spPr>
          <a:xfrm>
            <a:off x="9747249" y="30861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stf-0800"/>
          <p:cNvSpPr/>
          <p:nvPr/>
        </p:nvSpPr>
        <p:spPr>
          <a:xfrm>
            <a:off x="9829799" y="30861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stf-0801"/>
          <p:cNvSpPr/>
          <p:nvPr/>
        </p:nvSpPr>
        <p:spPr>
          <a:xfrm>
            <a:off x="9912349" y="30861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stf-0802"/>
          <p:cNvSpPr/>
          <p:nvPr/>
        </p:nvSpPr>
        <p:spPr>
          <a:xfrm>
            <a:off x="9994899" y="30861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stf-0803"/>
          <p:cNvSpPr/>
          <p:nvPr/>
        </p:nvSpPr>
        <p:spPr>
          <a:xfrm>
            <a:off x="9664699" y="316865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stf-0804"/>
          <p:cNvSpPr/>
          <p:nvPr/>
        </p:nvSpPr>
        <p:spPr>
          <a:xfrm>
            <a:off x="9747249" y="316865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stf-0805"/>
          <p:cNvSpPr/>
          <p:nvPr/>
        </p:nvSpPr>
        <p:spPr>
          <a:xfrm>
            <a:off x="9829799" y="316865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stf-0806"/>
          <p:cNvSpPr/>
          <p:nvPr/>
        </p:nvSpPr>
        <p:spPr>
          <a:xfrm>
            <a:off x="9912349" y="316865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stf-0807"/>
          <p:cNvSpPr/>
          <p:nvPr/>
        </p:nvSpPr>
        <p:spPr>
          <a:xfrm>
            <a:off x="9994899" y="316865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stf-0808"/>
          <p:cNvSpPr/>
          <p:nvPr/>
        </p:nvSpPr>
        <p:spPr>
          <a:xfrm>
            <a:off x="9664699" y="32512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stf-0809"/>
          <p:cNvSpPr/>
          <p:nvPr/>
        </p:nvSpPr>
        <p:spPr>
          <a:xfrm>
            <a:off x="9747249" y="32512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stf-0810"/>
          <p:cNvSpPr/>
          <p:nvPr/>
        </p:nvSpPr>
        <p:spPr>
          <a:xfrm>
            <a:off x="9829799" y="3251200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stf-0811"/>
          <p:cNvSpPr/>
          <p:nvPr/>
        </p:nvSpPr>
        <p:spPr>
          <a:xfrm>
            <a:off x="9912349" y="3251200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stf-0812"/>
          <p:cNvSpPr/>
          <p:nvPr/>
        </p:nvSpPr>
        <p:spPr>
          <a:xfrm>
            <a:off x="9994899" y="3251200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stf-0813"/>
          <p:cNvSpPr/>
          <p:nvPr/>
        </p:nvSpPr>
        <p:spPr>
          <a:xfrm>
            <a:off x="9664699" y="333374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stf-0814"/>
          <p:cNvSpPr/>
          <p:nvPr/>
        </p:nvSpPr>
        <p:spPr>
          <a:xfrm>
            <a:off x="9747249" y="333374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stf-0815"/>
          <p:cNvSpPr/>
          <p:nvPr/>
        </p:nvSpPr>
        <p:spPr>
          <a:xfrm>
            <a:off x="9829799" y="3333749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stf-0816"/>
          <p:cNvSpPr/>
          <p:nvPr/>
        </p:nvSpPr>
        <p:spPr>
          <a:xfrm>
            <a:off x="9912349" y="333374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stf-0817"/>
          <p:cNvSpPr/>
          <p:nvPr/>
        </p:nvSpPr>
        <p:spPr>
          <a:xfrm>
            <a:off x="9994899" y="333374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stf-0818"/>
          <p:cNvSpPr/>
          <p:nvPr/>
        </p:nvSpPr>
        <p:spPr>
          <a:xfrm>
            <a:off x="9664699" y="341629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stf-0819"/>
          <p:cNvSpPr/>
          <p:nvPr/>
        </p:nvSpPr>
        <p:spPr>
          <a:xfrm>
            <a:off x="9747249" y="341629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stf-0820"/>
          <p:cNvSpPr/>
          <p:nvPr/>
        </p:nvSpPr>
        <p:spPr>
          <a:xfrm>
            <a:off x="9829799" y="341629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stf-0821"/>
          <p:cNvSpPr/>
          <p:nvPr/>
        </p:nvSpPr>
        <p:spPr>
          <a:xfrm>
            <a:off x="9912349" y="341629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stf-0822"/>
          <p:cNvSpPr/>
          <p:nvPr/>
        </p:nvSpPr>
        <p:spPr>
          <a:xfrm>
            <a:off x="9994899" y="3416299"/>
            <a:ext cx="82550" cy="82550"/>
          </a:xfrm>
          <a:prstGeom prst="rect">
            <a:avLst/>
          </a:prstGeom>
          <a:solidFill>
            <a:srgbClr val="E5737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stf-0823"/>
          <p:cNvSpPr/>
          <p:nvPr/>
        </p:nvSpPr>
        <p:spPr>
          <a:xfrm>
            <a:off x="9899649" y="347852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stf-0824"/>
          <p:cNvSpPr/>
          <p:nvPr/>
        </p:nvSpPr>
        <p:spPr>
          <a:xfrm>
            <a:off x="9925049" y="349681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6" name="stf-0825"/>
          <p:cNvCxnSpPr/>
          <p:nvPr/>
        </p:nvCxnSpPr>
        <p:spPr>
          <a:xfrm flipH="1">
            <a:off x="9914889" y="344804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" name="stf-0826"/>
          <p:cNvSpPr/>
          <p:nvPr/>
        </p:nvSpPr>
        <p:spPr>
          <a:xfrm>
            <a:off x="10540999" y="3041650"/>
            <a:ext cx="1549400" cy="6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stf-0827"/>
          <p:cNvSpPr txBox="1"/>
          <p:nvPr/>
        </p:nvSpPr>
        <p:spPr>
          <a:xfrm>
            <a:off x="10655299" y="3111500"/>
            <a:ext cx="119380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11111"/>
                </a:solidFill>
                <a:latin typeface="Liberation Serif"/>
              </a:rPr>
              <a:t>N│ ×  ⊙ R│ ×</a:t>
            </a:r>
          </a:p>
        </p:txBody>
      </p:sp>
      <p:sp>
        <p:nvSpPr>
          <p:cNvPr id="829" name="stf-0828"/>
          <p:cNvSpPr/>
          <p:nvPr/>
        </p:nvSpPr>
        <p:spPr>
          <a:xfrm>
            <a:off x="10769599" y="3111500"/>
            <a:ext cx="38100" cy="19685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stf-0829"/>
          <p:cNvSpPr/>
          <p:nvPr/>
        </p:nvSpPr>
        <p:spPr>
          <a:xfrm>
            <a:off x="11404599" y="3111500"/>
            <a:ext cx="38100" cy="19685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1" name="stf-0830"/>
          <p:cNvCxnSpPr/>
          <p:nvPr/>
        </p:nvCxnSpPr>
        <p:spPr>
          <a:xfrm>
            <a:off x="10909299" y="3327399"/>
            <a:ext cx="177800" cy="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2" name="stf-0831"/>
          <p:cNvSpPr txBox="1"/>
          <p:nvPr/>
        </p:nvSpPr>
        <p:spPr>
          <a:xfrm>
            <a:off x="10921999" y="3333749"/>
            <a:ext cx="152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R</a:t>
            </a:r>
          </a:p>
        </p:txBody>
      </p:sp>
      <p:cxnSp>
        <p:nvCxnSpPr>
          <p:cNvPr id="833" name="stf-0832"/>
          <p:cNvCxnSpPr/>
          <p:nvPr/>
        </p:nvCxnSpPr>
        <p:spPr>
          <a:xfrm>
            <a:off x="11563349" y="3327399"/>
            <a:ext cx="177800" cy="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4" name="stf-0833"/>
          <p:cNvSpPr txBox="1"/>
          <p:nvPr/>
        </p:nvSpPr>
        <p:spPr>
          <a:xfrm>
            <a:off x="11576049" y="3333749"/>
            <a:ext cx="152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N</a:t>
            </a:r>
          </a:p>
        </p:txBody>
      </p:sp>
      <p:sp>
        <p:nvSpPr>
          <p:cNvPr id="835" name="stf-0834"/>
          <p:cNvSpPr txBox="1"/>
          <p:nvPr/>
        </p:nvSpPr>
        <p:spPr>
          <a:xfrm>
            <a:off x="11772899" y="3098800"/>
            <a:ext cx="3111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D8D8D"/>
                </a:solidFill>
                <a:latin typeface="Liberation Serif"/>
              </a:rPr>
              <a:t>top-k</a:t>
            </a:r>
          </a:p>
        </p:txBody>
      </p:sp>
      <p:cxnSp>
        <p:nvCxnSpPr>
          <p:cNvPr id="836" name="stf-0835"/>
          <p:cNvCxnSpPr/>
          <p:nvPr/>
        </p:nvCxnSpPr>
        <p:spPr>
          <a:xfrm>
            <a:off x="11798299" y="3263900"/>
            <a:ext cx="292100" cy="0"/>
          </a:xfrm>
          <a:prstGeom prst="line">
            <a:avLst/>
          </a:prstGeom>
          <a:ln w="38100">
            <a:solidFill>
              <a:srgbClr val="D4D4D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stf-0836"/>
          <p:cNvSpPr txBox="1"/>
          <p:nvPr/>
        </p:nvSpPr>
        <p:spPr>
          <a:xfrm>
            <a:off x="10731499" y="3486149"/>
            <a:ext cx="8255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8D8D"/>
                </a:solidFill>
                <a:latin typeface="Liberation Serif"/>
              </a:rPr>
              <a:t>dynamic filter</a:t>
            </a:r>
          </a:p>
        </p:txBody>
      </p:sp>
      <p:sp>
        <p:nvSpPr>
          <p:cNvPr id="838" name="stf-0837"/>
          <p:cNvSpPr/>
          <p:nvPr/>
        </p:nvSpPr>
        <p:spPr>
          <a:xfrm>
            <a:off x="10655299" y="3492499"/>
            <a:ext cx="69850" cy="76200"/>
          </a:xfrm>
          <a:prstGeom prst="rect">
            <a:avLst/>
          </a:prstGeom>
          <a:solidFill>
            <a:srgbClr val="8064A2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stf-0838"/>
          <p:cNvSpPr/>
          <p:nvPr/>
        </p:nvSpPr>
        <p:spPr>
          <a:xfrm>
            <a:off x="10737849" y="3492499"/>
            <a:ext cx="69850" cy="76200"/>
          </a:xfrm>
          <a:prstGeom prst="rect">
            <a:avLst/>
          </a:prstGeom>
          <a:solidFill>
            <a:srgbClr val="E7A4A4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stf-0839"/>
          <p:cNvSpPr/>
          <p:nvPr/>
        </p:nvSpPr>
        <p:spPr>
          <a:xfrm>
            <a:off x="10820399" y="3492499"/>
            <a:ext cx="69850" cy="76200"/>
          </a:xfrm>
          <a:prstGeom prst="rect">
            <a:avLst/>
          </a:prstGeom>
          <a:solidFill>
            <a:srgbClr val="9DC3E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stf-0840"/>
          <p:cNvSpPr txBox="1"/>
          <p:nvPr/>
        </p:nvSpPr>
        <p:spPr>
          <a:xfrm>
            <a:off x="11887199" y="3473449"/>
            <a:ext cx="5461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α_d M_d</a:t>
            </a:r>
          </a:p>
        </p:txBody>
      </p:sp>
      <p:sp>
        <p:nvSpPr>
          <p:cNvPr id="842" name="stf-0841"/>
          <p:cNvSpPr/>
          <p:nvPr/>
        </p:nvSpPr>
        <p:spPr>
          <a:xfrm>
            <a:off x="11772899" y="30861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stf-0842"/>
          <p:cNvSpPr/>
          <p:nvPr/>
        </p:nvSpPr>
        <p:spPr>
          <a:xfrm>
            <a:off x="11855449" y="30861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stf-0843"/>
          <p:cNvSpPr/>
          <p:nvPr/>
        </p:nvSpPr>
        <p:spPr>
          <a:xfrm>
            <a:off x="11937999" y="30861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stf-0844"/>
          <p:cNvSpPr/>
          <p:nvPr/>
        </p:nvSpPr>
        <p:spPr>
          <a:xfrm>
            <a:off x="12020549" y="30861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stf-0845"/>
          <p:cNvSpPr/>
          <p:nvPr/>
        </p:nvSpPr>
        <p:spPr>
          <a:xfrm>
            <a:off x="12103099" y="30861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stf-0846"/>
          <p:cNvSpPr/>
          <p:nvPr/>
        </p:nvSpPr>
        <p:spPr>
          <a:xfrm>
            <a:off x="11772899" y="316865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stf-0847"/>
          <p:cNvSpPr/>
          <p:nvPr/>
        </p:nvSpPr>
        <p:spPr>
          <a:xfrm>
            <a:off x="11855449" y="316865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stf-0848"/>
          <p:cNvSpPr/>
          <p:nvPr/>
        </p:nvSpPr>
        <p:spPr>
          <a:xfrm>
            <a:off x="11937999" y="316865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stf-0849"/>
          <p:cNvSpPr/>
          <p:nvPr/>
        </p:nvSpPr>
        <p:spPr>
          <a:xfrm>
            <a:off x="12020549" y="316865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stf-0850"/>
          <p:cNvSpPr/>
          <p:nvPr/>
        </p:nvSpPr>
        <p:spPr>
          <a:xfrm>
            <a:off x="12103099" y="316865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stf-0851"/>
          <p:cNvSpPr/>
          <p:nvPr/>
        </p:nvSpPr>
        <p:spPr>
          <a:xfrm>
            <a:off x="11772899" y="32512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stf-0852"/>
          <p:cNvSpPr/>
          <p:nvPr/>
        </p:nvSpPr>
        <p:spPr>
          <a:xfrm>
            <a:off x="11855449" y="32512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stf-0853"/>
          <p:cNvSpPr/>
          <p:nvPr/>
        </p:nvSpPr>
        <p:spPr>
          <a:xfrm>
            <a:off x="11937999" y="3251200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stf-0854"/>
          <p:cNvSpPr/>
          <p:nvPr/>
        </p:nvSpPr>
        <p:spPr>
          <a:xfrm>
            <a:off x="12020549" y="3251200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stf-0855"/>
          <p:cNvSpPr/>
          <p:nvPr/>
        </p:nvSpPr>
        <p:spPr>
          <a:xfrm>
            <a:off x="12103099" y="3251200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stf-0856"/>
          <p:cNvSpPr/>
          <p:nvPr/>
        </p:nvSpPr>
        <p:spPr>
          <a:xfrm>
            <a:off x="11772899" y="333374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stf-0857"/>
          <p:cNvSpPr/>
          <p:nvPr/>
        </p:nvSpPr>
        <p:spPr>
          <a:xfrm>
            <a:off x="11855449" y="333374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stf-0858"/>
          <p:cNvSpPr/>
          <p:nvPr/>
        </p:nvSpPr>
        <p:spPr>
          <a:xfrm>
            <a:off x="11937999" y="3333749"/>
            <a:ext cx="82550" cy="82550"/>
          </a:xfrm>
          <a:prstGeom prst="rect">
            <a:avLst/>
          </a:prstGeom>
          <a:solidFill>
            <a:srgbClr val="FFFFFF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stf-0859"/>
          <p:cNvSpPr/>
          <p:nvPr/>
        </p:nvSpPr>
        <p:spPr>
          <a:xfrm>
            <a:off x="12020549" y="333374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stf-0860"/>
          <p:cNvSpPr/>
          <p:nvPr/>
        </p:nvSpPr>
        <p:spPr>
          <a:xfrm>
            <a:off x="12103099" y="333374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stf-0861"/>
          <p:cNvSpPr/>
          <p:nvPr/>
        </p:nvSpPr>
        <p:spPr>
          <a:xfrm>
            <a:off x="11772899" y="341629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stf-0862"/>
          <p:cNvSpPr/>
          <p:nvPr/>
        </p:nvSpPr>
        <p:spPr>
          <a:xfrm>
            <a:off x="11855449" y="341629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stf-0863"/>
          <p:cNvSpPr/>
          <p:nvPr/>
        </p:nvSpPr>
        <p:spPr>
          <a:xfrm>
            <a:off x="11937999" y="341629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stf-0864"/>
          <p:cNvSpPr/>
          <p:nvPr/>
        </p:nvSpPr>
        <p:spPr>
          <a:xfrm>
            <a:off x="12020549" y="341629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stf-0865"/>
          <p:cNvSpPr/>
          <p:nvPr/>
        </p:nvSpPr>
        <p:spPr>
          <a:xfrm>
            <a:off x="12103099" y="3416299"/>
            <a:ext cx="82550" cy="82550"/>
          </a:xfrm>
          <a:prstGeom prst="rect">
            <a:avLst/>
          </a:prstGeom>
          <a:solidFill>
            <a:srgbClr val="9DC3E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stf-0866"/>
          <p:cNvSpPr/>
          <p:nvPr/>
        </p:nvSpPr>
        <p:spPr>
          <a:xfrm>
            <a:off x="12007849" y="347852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stf-0867"/>
          <p:cNvSpPr/>
          <p:nvPr/>
        </p:nvSpPr>
        <p:spPr>
          <a:xfrm>
            <a:off x="12033249" y="349681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9" name="stf-0868"/>
          <p:cNvCxnSpPr/>
          <p:nvPr/>
        </p:nvCxnSpPr>
        <p:spPr>
          <a:xfrm flipH="1">
            <a:off x="12023089" y="344804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0" name="stf-0869"/>
          <p:cNvSpPr/>
          <p:nvPr/>
        </p:nvSpPr>
        <p:spPr>
          <a:xfrm>
            <a:off x="8108949" y="3301999"/>
            <a:ext cx="127000" cy="1270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stf-0870"/>
          <p:cNvSpPr txBox="1"/>
          <p:nvPr/>
        </p:nvSpPr>
        <p:spPr>
          <a:xfrm>
            <a:off x="8108949" y="3295649"/>
            <a:ext cx="127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sp>
        <p:nvSpPr>
          <p:cNvPr id="872" name="stf-0871"/>
          <p:cNvSpPr/>
          <p:nvPr/>
        </p:nvSpPr>
        <p:spPr>
          <a:xfrm>
            <a:off x="10223499" y="3301999"/>
            <a:ext cx="127000" cy="1270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stf-0872"/>
          <p:cNvSpPr txBox="1"/>
          <p:nvPr/>
        </p:nvSpPr>
        <p:spPr>
          <a:xfrm>
            <a:off x="10223499" y="3295649"/>
            <a:ext cx="127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+</a:t>
            </a:r>
          </a:p>
        </p:txBody>
      </p:sp>
      <p:cxnSp>
        <p:nvCxnSpPr>
          <p:cNvPr id="874" name="stf-0873"/>
          <p:cNvCxnSpPr/>
          <p:nvPr/>
        </p:nvCxnSpPr>
        <p:spPr>
          <a:xfrm>
            <a:off x="7016749" y="3695699"/>
            <a:ext cx="0" cy="501650"/>
          </a:xfrm>
          <a:prstGeom prst="line">
            <a:avLst/>
          </a:prstGeom>
          <a:ln w="11429">
            <a:solidFill>
              <a:srgbClr val="8D8D8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5" name="hda-0874"/>
          <p:cNvSpPr txBox="1"/>
          <p:nvPr/>
        </p:nvSpPr>
        <p:spPr>
          <a:xfrm>
            <a:off x="7505699" y="3898899"/>
            <a:ext cx="32893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Liberation Serif"/>
              </a:rPr>
              <a:t>Hierarchical Domain Alignment (HDA)</a:t>
            </a:r>
          </a:p>
        </p:txBody>
      </p:sp>
      <p:sp>
        <p:nvSpPr>
          <p:cNvPr id="876" name="hda-0875"/>
          <p:cNvSpPr txBox="1"/>
          <p:nvPr/>
        </p:nvSpPr>
        <p:spPr>
          <a:xfrm>
            <a:off x="6489699" y="3854449"/>
            <a:ext cx="111125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8D8D8D"/>
                </a:solidFill>
                <a:latin typeface="Liberation Serif"/>
              </a:rPr>
              <a:t>w/ Position Embedding</a:t>
            </a:r>
          </a:p>
        </p:txBody>
      </p:sp>
      <p:sp>
        <p:nvSpPr>
          <p:cNvPr id="877" name="hda-0876"/>
          <p:cNvSpPr/>
          <p:nvPr/>
        </p:nvSpPr>
        <p:spPr>
          <a:xfrm>
            <a:off x="6216649" y="4210049"/>
            <a:ext cx="279400" cy="641350"/>
          </a:xfrm>
          <a:prstGeom prst="roundRect">
            <a:avLst>
              <a:gd name="adj" fmla="val 15909"/>
            </a:avLst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hda-0877"/>
          <p:cNvSpPr txBox="1"/>
          <p:nvPr/>
        </p:nvSpPr>
        <p:spPr>
          <a:xfrm rot="16200000">
            <a:off x="6267449" y="4279899"/>
            <a:ext cx="1778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Projection</a:t>
            </a:r>
          </a:p>
        </p:txBody>
      </p:sp>
      <p:cxnSp>
        <p:nvCxnSpPr>
          <p:cNvPr id="879" name="hda-0878"/>
          <p:cNvCxnSpPr/>
          <p:nvPr/>
        </p:nvCxnSpPr>
        <p:spPr>
          <a:xfrm>
            <a:off x="6496049" y="4514849"/>
            <a:ext cx="15875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0" name="hda-0879"/>
          <p:cNvSpPr/>
          <p:nvPr/>
        </p:nvSpPr>
        <p:spPr>
          <a:xfrm>
            <a:off x="6661149" y="4381499"/>
            <a:ext cx="127000" cy="266700"/>
          </a:xfrm>
          <a:prstGeom prst="rect">
            <a:avLst/>
          </a:prstGeom>
          <a:solidFill>
            <a:srgbClr val="D0D4D4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hda-0880"/>
          <p:cNvSpPr txBox="1"/>
          <p:nvPr/>
        </p:nvSpPr>
        <p:spPr>
          <a:xfrm>
            <a:off x="6648449" y="4343399"/>
            <a:ext cx="1587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x_e</a:t>
            </a:r>
          </a:p>
        </p:txBody>
      </p:sp>
      <p:sp>
        <p:nvSpPr>
          <p:cNvPr id="882" name="hda-0881"/>
          <p:cNvSpPr/>
          <p:nvPr/>
        </p:nvSpPr>
        <p:spPr>
          <a:xfrm>
            <a:off x="6845299" y="4444999"/>
            <a:ext cx="127000" cy="127000"/>
          </a:xfrm>
          <a:prstGeom prst="ellipse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hda-0882"/>
          <p:cNvSpPr txBox="1"/>
          <p:nvPr/>
        </p:nvSpPr>
        <p:spPr>
          <a:xfrm>
            <a:off x="6845299" y="4432299"/>
            <a:ext cx="127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•</a:t>
            </a:r>
          </a:p>
        </p:txBody>
      </p:sp>
      <p:sp>
        <p:nvSpPr>
          <p:cNvPr id="884" name="hda-0883"/>
          <p:cNvSpPr txBox="1"/>
          <p:nvPr/>
        </p:nvSpPr>
        <p:spPr>
          <a:xfrm>
            <a:off x="7111999" y="4127499"/>
            <a:ext cx="14732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72C4"/>
                </a:solidFill>
                <a:latin typeface="Liberation Serif"/>
              </a:rPr>
              <a:t>Layer level Alignment</a:t>
            </a:r>
          </a:p>
        </p:txBody>
      </p:sp>
      <p:sp>
        <p:nvSpPr>
          <p:cNvPr id="885" name="hda-0884"/>
          <p:cNvSpPr/>
          <p:nvPr/>
        </p:nvSpPr>
        <p:spPr>
          <a:xfrm>
            <a:off x="70992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hda-0885"/>
          <p:cNvSpPr txBox="1"/>
          <p:nvPr/>
        </p:nvSpPr>
        <p:spPr>
          <a:xfrm>
            <a:off x="70992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e1</a:t>
            </a:r>
          </a:p>
        </p:txBody>
      </p:sp>
      <p:sp>
        <p:nvSpPr>
          <p:cNvPr id="887" name="hda-0886"/>
          <p:cNvSpPr/>
          <p:nvPr/>
        </p:nvSpPr>
        <p:spPr>
          <a:xfrm>
            <a:off x="73024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hda-0887"/>
          <p:cNvSpPr txBox="1"/>
          <p:nvPr/>
        </p:nvSpPr>
        <p:spPr>
          <a:xfrm>
            <a:off x="73024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e2</a:t>
            </a:r>
          </a:p>
        </p:txBody>
      </p:sp>
      <p:sp>
        <p:nvSpPr>
          <p:cNvPr id="889" name="hda-0888"/>
          <p:cNvSpPr/>
          <p:nvPr/>
        </p:nvSpPr>
        <p:spPr>
          <a:xfrm>
            <a:off x="75056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hda-0889"/>
          <p:cNvSpPr txBox="1"/>
          <p:nvPr/>
        </p:nvSpPr>
        <p:spPr>
          <a:xfrm>
            <a:off x="75056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e3</a:t>
            </a:r>
          </a:p>
        </p:txBody>
      </p:sp>
      <p:sp>
        <p:nvSpPr>
          <p:cNvPr id="891" name="hda-0890"/>
          <p:cNvSpPr/>
          <p:nvPr/>
        </p:nvSpPr>
        <p:spPr>
          <a:xfrm>
            <a:off x="77088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hda-0891"/>
          <p:cNvSpPr txBox="1"/>
          <p:nvPr/>
        </p:nvSpPr>
        <p:spPr>
          <a:xfrm>
            <a:off x="77088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e4</a:t>
            </a:r>
          </a:p>
        </p:txBody>
      </p:sp>
      <p:sp>
        <p:nvSpPr>
          <p:cNvPr id="893" name="hda-0892"/>
          <p:cNvSpPr/>
          <p:nvPr/>
        </p:nvSpPr>
        <p:spPr>
          <a:xfrm>
            <a:off x="79120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hda-0893"/>
          <p:cNvSpPr txBox="1"/>
          <p:nvPr/>
        </p:nvSpPr>
        <p:spPr>
          <a:xfrm>
            <a:off x="79120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e5</a:t>
            </a:r>
          </a:p>
        </p:txBody>
      </p:sp>
      <p:sp>
        <p:nvSpPr>
          <p:cNvPr id="895" name="hda-0894"/>
          <p:cNvSpPr/>
          <p:nvPr/>
        </p:nvSpPr>
        <p:spPr>
          <a:xfrm>
            <a:off x="81152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hda-0895"/>
          <p:cNvSpPr txBox="1"/>
          <p:nvPr/>
        </p:nvSpPr>
        <p:spPr>
          <a:xfrm>
            <a:off x="81152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e6</a:t>
            </a:r>
          </a:p>
        </p:txBody>
      </p:sp>
      <p:sp>
        <p:nvSpPr>
          <p:cNvPr id="897" name="hda-0896"/>
          <p:cNvSpPr/>
          <p:nvPr/>
        </p:nvSpPr>
        <p:spPr>
          <a:xfrm>
            <a:off x="83184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hda-0897"/>
          <p:cNvSpPr txBox="1"/>
          <p:nvPr/>
        </p:nvSpPr>
        <p:spPr>
          <a:xfrm>
            <a:off x="83184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e7</a:t>
            </a:r>
          </a:p>
        </p:txBody>
      </p:sp>
      <p:sp>
        <p:nvSpPr>
          <p:cNvPr id="899" name="hda-0898"/>
          <p:cNvSpPr/>
          <p:nvPr/>
        </p:nvSpPr>
        <p:spPr>
          <a:xfrm>
            <a:off x="8521699" y="4324349"/>
            <a:ext cx="133350" cy="285750"/>
          </a:xfrm>
          <a:prstGeom prst="rect">
            <a:avLst/>
          </a:prstGeom>
          <a:solidFill>
            <a:srgbClr val="AEBBD3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hda-0899"/>
          <p:cNvSpPr txBox="1"/>
          <p:nvPr/>
        </p:nvSpPr>
        <p:spPr>
          <a:xfrm>
            <a:off x="8521699" y="4279899"/>
            <a:ext cx="1333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Liberation Serif"/>
              </a:rPr>
              <a:t>e8</a:t>
            </a:r>
          </a:p>
        </p:txBody>
      </p:sp>
      <p:sp>
        <p:nvSpPr>
          <p:cNvPr id="901" name="hda-0900"/>
          <p:cNvSpPr/>
          <p:nvPr/>
        </p:nvSpPr>
        <p:spPr>
          <a:xfrm>
            <a:off x="7289799" y="4267199"/>
            <a:ext cx="17780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hda-0901"/>
          <p:cNvSpPr txBox="1"/>
          <p:nvPr/>
        </p:nvSpPr>
        <p:spPr>
          <a:xfrm>
            <a:off x="7238999" y="4667249"/>
            <a:ext cx="285750" cy="12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α1</a:t>
            </a:r>
          </a:p>
        </p:txBody>
      </p:sp>
      <p:sp>
        <p:nvSpPr>
          <p:cNvPr id="903" name="hda-0902"/>
          <p:cNvSpPr/>
          <p:nvPr/>
        </p:nvSpPr>
        <p:spPr>
          <a:xfrm>
            <a:off x="7696199" y="4267199"/>
            <a:ext cx="17780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hda-0903"/>
          <p:cNvSpPr txBox="1"/>
          <p:nvPr/>
        </p:nvSpPr>
        <p:spPr>
          <a:xfrm>
            <a:off x="7645399" y="4667249"/>
            <a:ext cx="285750" cy="12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α2</a:t>
            </a:r>
          </a:p>
        </p:txBody>
      </p:sp>
      <p:sp>
        <p:nvSpPr>
          <p:cNvPr id="905" name="hda-0904"/>
          <p:cNvSpPr/>
          <p:nvPr/>
        </p:nvSpPr>
        <p:spPr>
          <a:xfrm>
            <a:off x="8102599" y="4267199"/>
            <a:ext cx="177800" cy="40005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hda-0905"/>
          <p:cNvSpPr txBox="1"/>
          <p:nvPr/>
        </p:nvSpPr>
        <p:spPr>
          <a:xfrm>
            <a:off x="8051799" y="4667249"/>
            <a:ext cx="285750" cy="12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α3</a:t>
            </a:r>
          </a:p>
        </p:txBody>
      </p:sp>
      <p:sp>
        <p:nvSpPr>
          <p:cNvPr id="907" name="hda-0906"/>
          <p:cNvSpPr/>
          <p:nvPr/>
        </p:nvSpPr>
        <p:spPr>
          <a:xfrm>
            <a:off x="7035799" y="4603749"/>
            <a:ext cx="1346200" cy="158750"/>
          </a:xfrm>
          <a:custGeom>
            <a:avLst/>
            <a:gdLst/>
            <a:ahLst/>
            <a:cxnLst/>
            <a:rect l="l" t="t" r="r" b="b"/>
            <a:pathLst>
              <a:path w="212" h="25">
                <a:moveTo>
                  <a:pt x="0" y="0"/>
                </a:moveTo>
                <a:lnTo>
                  <a:pt x="0" y="25"/>
                </a:lnTo>
                <a:lnTo>
                  <a:pt x="212" y="25"/>
                </a:lnTo>
                <a:lnTo>
                  <a:pt x="212" y="0"/>
                </a:lnTo>
              </a:path>
            </a:pathLst>
          </a:custGeom>
          <a:noFill/>
          <a:ln w="1238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hda-0907"/>
          <p:cNvSpPr txBox="1"/>
          <p:nvPr/>
        </p:nvSpPr>
        <p:spPr>
          <a:xfrm>
            <a:off x="8381999" y="4641849"/>
            <a:ext cx="47625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Liberation Serif"/>
              </a:rPr>
              <a:t>Mean</a:t>
            </a:r>
          </a:p>
        </p:txBody>
      </p:sp>
      <p:cxnSp>
        <p:nvCxnSpPr>
          <p:cNvPr id="909" name="hda-0908"/>
          <p:cNvCxnSpPr/>
          <p:nvPr/>
        </p:nvCxnSpPr>
        <p:spPr>
          <a:xfrm>
            <a:off x="8635999" y="4610099"/>
            <a:ext cx="127000" cy="0"/>
          </a:xfrm>
          <a:prstGeom prst="line">
            <a:avLst/>
          </a:prstGeom>
          <a:ln w="1428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hda-0909"/>
          <p:cNvCxnSpPr/>
          <p:nvPr/>
        </p:nvCxnSpPr>
        <p:spPr>
          <a:xfrm flipV="1">
            <a:off x="8635999" y="4602696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hda-0910"/>
          <p:cNvCxnSpPr/>
          <p:nvPr/>
        </p:nvCxnSpPr>
        <p:spPr>
          <a:xfrm>
            <a:off x="8635999" y="4610099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hda-0911"/>
          <p:cNvCxnSpPr/>
          <p:nvPr/>
        </p:nvCxnSpPr>
        <p:spPr>
          <a:xfrm flipH="1">
            <a:off x="8742718" y="4610099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hda-0912"/>
          <p:cNvCxnSpPr/>
          <p:nvPr/>
        </p:nvCxnSpPr>
        <p:spPr>
          <a:xfrm flipH="1" flipV="1">
            <a:off x="8742718" y="4602696"/>
            <a:ext cx="20281" cy="7403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hda-0913"/>
          <p:cNvCxnSpPr/>
          <p:nvPr/>
        </p:nvCxnSpPr>
        <p:spPr>
          <a:xfrm>
            <a:off x="8667749" y="4555107"/>
            <a:ext cx="63500" cy="109985"/>
          </a:xfrm>
          <a:prstGeom prst="line">
            <a:avLst/>
          </a:prstGeom>
          <a:ln w="1428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hda-0914"/>
          <p:cNvCxnSpPr/>
          <p:nvPr/>
        </p:nvCxnSpPr>
        <p:spPr>
          <a:xfrm>
            <a:off x="8667749" y="4555107"/>
            <a:ext cx="16552" cy="13862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hda-0915"/>
          <p:cNvCxnSpPr/>
          <p:nvPr/>
        </p:nvCxnSpPr>
        <p:spPr>
          <a:xfrm>
            <a:off x="8667749" y="4555107"/>
            <a:ext cx="3729" cy="21265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hda-0916"/>
          <p:cNvCxnSpPr/>
          <p:nvPr/>
        </p:nvCxnSpPr>
        <p:spPr>
          <a:xfrm flipH="1" flipV="1">
            <a:off x="8714697" y="4651230"/>
            <a:ext cx="16552" cy="13862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hda-0917"/>
          <p:cNvCxnSpPr/>
          <p:nvPr/>
        </p:nvCxnSpPr>
        <p:spPr>
          <a:xfrm flipH="1" flipV="1">
            <a:off x="8727520" y="4643826"/>
            <a:ext cx="3729" cy="21266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hda-0918"/>
          <p:cNvCxnSpPr/>
          <p:nvPr/>
        </p:nvCxnSpPr>
        <p:spPr>
          <a:xfrm flipH="1">
            <a:off x="8667749" y="4555107"/>
            <a:ext cx="63500" cy="109985"/>
          </a:xfrm>
          <a:prstGeom prst="line">
            <a:avLst/>
          </a:prstGeom>
          <a:ln w="1428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hda-0919"/>
          <p:cNvCxnSpPr/>
          <p:nvPr/>
        </p:nvCxnSpPr>
        <p:spPr>
          <a:xfrm flipH="1">
            <a:off x="8727520" y="4555107"/>
            <a:ext cx="3729" cy="21265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hda-0920"/>
          <p:cNvCxnSpPr/>
          <p:nvPr/>
        </p:nvCxnSpPr>
        <p:spPr>
          <a:xfrm flipH="1">
            <a:off x="8714697" y="4555107"/>
            <a:ext cx="16552" cy="13862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hda-0921"/>
          <p:cNvCxnSpPr/>
          <p:nvPr/>
        </p:nvCxnSpPr>
        <p:spPr>
          <a:xfrm flipV="1">
            <a:off x="8667749" y="4643826"/>
            <a:ext cx="3729" cy="21266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hda-0922"/>
          <p:cNvCxnSpPr/>
          <p:nvPr/>
        </p:nvCxnSpPr>
        <p:spPr>
          <a:xfrm flipV="1">
            <a:off x="8667749" y="4651230"/>
            <a:ext cx="16552" cy="13862"/>
          </a:xfrm>
          <a:prstGeom prst="line">
            <a:avLst/>
          </a:prstGeom>
          <a:ln w="10477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hda-0923"/>
          <p:cNvCxnSpPr/>
          <p:nvPr/>
        </p:nvCxnSpPr>
        <p:spPr>
          <a:xfrm>
            <a:off x="8826499" y="4508499"/>
            <a:ext cx="1397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5" name="hda-0924"/>
          <p:cNvSpPr txBox="1"/>
          <p:nvPr/>
        </p:nvSpPr>
        <p:spPr>
          <a:xfrm>
            <a:off x="9042399" y="4127499"/>
            <a:ext cx="1397000" cy="146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D7D31"/>
                </a:solidFill>
                <a:latin typeface="Liberation Serif"/>
              </a:rPr>
              <a:t>Token level Alignment</a:t>
            </a:r>
          </a:p>
        </p:txBody>
      </p:sp>
      <p:sp>
        <p:nvSpPr>
          <p:cNvPr id="926" name="hda-0925"/>
          <p:cNvSpPr/>
          <p:nvPr/>
        </p:nvSpPr>
        <p:spPr>
          <a:xfrm>
            <a:off x="8978899" y="4375149"/>
            <a:ext cx="133350" cy="266700"/>
          </a:xfrm>
          <a:prstGeom prst="rect">
            <a:avLst/>
          </a:prstGeom>
          <a:solidFill>
            <a:srgbClr val="FFC000"/>
          </a:solidFill>
          <a:ln w="666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hda-0926"/>
          <p:cNvSpPr txBox="1"/>
          <p:nvPr/>
        </p:nvSpPr>
        <p:spPr>
          <a:xfrm>
            <a:off x="8959849" y="4330699"/>
            <a:ext cx="17145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Liberation Serif"/>
              </a:rPr>
              <a:t>e_g</a:t>
            </a:r>
          </a:p>
        </p:txBody>
      </p:sp>
      <p:sp>
        <p:nvSpPr>
          <p:cNvPr id="928" name="hda-0927"/>
          <p:cNvSpPr/>
          <p:nvPr/>
        </p:nvSpPr>
        <p:spPr>
          <a:xfrm>
            <a:off x="9175749" y="4444999"/>
            <a:ext cx="127000" cy="127000"/>
          </a:xfrm>
          <a:prstGeom prst="ellipse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hda-0928"/>
          <p:cNvSpPr txBox="1"/>
          <p:nvPr/>
        </p:nvSpPr>
        <p:spPr>
          <a:xfrm>
            <a:off x="9175749" y="4438649"/>
            <a:ext cx="127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•</a:t>
            </a:r>
          </a:p>
        </p:txBody>
      </p:sp>
      <p:sp>
        <p:nvSpPr>
          <p:cNvPr id="930" name="hda-0929"/>
          <p:cNvSpPr txBox="1"/>
          <p:nvPr/>
        </p:nvSpPr>
        <p:spPr>
          <a:xfrm>
            <a:off x="9334499" y="4597399"/>
            <a:ext cx="1143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Liberation Serif"/>
              </a:rPr>
              <a:t>u</a:t>
            </a:r>
          </a:p>
        </p:txBody>
      </p:sp>
      <p:sp>
        <p:nvSpPr>
          <p:cNvPr id="931" name="hda-0930"/>
          <p:cNvSpPr/>
          <p:nvPr/>
        </p:nvSpPr>
        <p:spPr>
          <a:xfrm>
            <a:off x="9461499" y="4749799"/>
            <a:ext cx="184150" cy="4445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hda-0931"/>
          <p:cNvSpPr/>
          <p:nvPr/>
        </p:nvSpPr>
        <p:spPr>
          <a:xfrm>
            <a:off x="9550399" y="436244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hda-0932"/>
          <p:cNvSpPr/>
          <p:nvPr/>
        </p:nvSpPr>
        <p:spPr>
          <a:xfrm>
            <a:off x="9645649" y="4362449"/>
            <a:ext cx="95250" cy="95250"/>
          </a:xfrm>
          <a:prstGeom prst="rect">
            <a:avLst/>
          </a:prstGeom>
          <a:solidFill>
            <a:srgbClr val="FFE699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hda-0933"/>
          <p:cNvSpPr/>
          <p:nvPr/>
        </p:nvSpPr>
        <p:spPr>
          <a:xfrm>
            <a:off x="9740899" y="436244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hda-0934"/>
          <p:cNvSpPr/>
          <p:nvPr/>
        </p:nvSpPr>
        <p:spPr>
          <a:xfrm>
            <a:off x="9550399" y="445769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hda-0935"/>
          <p:cNvSpPr/>
          <p:nvPr/>
        </p:nvSpPr>
        <p:spPr>
          <a:xfrm>
            <a:off x="9645649" y="445769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hda-0936"/>
          <p:cNvSpPr/>
          <p:nvPr/>
        </p:nvSpPr>
        <p:spPr>
          <a:xfrm>
            <a:off x="9740899" y="445769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hda-0937"/>
          <p:cNvSpPr/>
          <p:nvPr/>
        </p:nvSpPr>
        <p:spPr>
          <a:xfrm>
            <a:off x="9550399" y="455294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hda-0938"/>
          <p:cNvSpPr/>
          <p:nvPr/>
        </p:nvSpPr>
        <p:spPr>
          <a:xfrm>
            <a:off x="9645649" y="4552949"/>
            <a:ext cx="95250" cy="95250"/>
          </a:xfrm>
          <a:prstGeom prst="rect">
            <a:avLst/>
          </a:prstGeom>
          <a:solidFill>
            <a:srgbClr val="FFD966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hda-0939"/>
          <p:cNvSpPr/>
          <p:nvPr/>
        </p:nvSpPr>
        <p:spPr>
          <a:xfrm>
            <a:off x="9740899" y="4552949"/>
            <a:ext cx="95250" cy="95250"/>
          </a:xfrm>
          <a:prstGeom prst="rect">
            <a:avLst/>
          </a:prstGeom>
          <a:solidFill>
            <a:srgbClr val="F4B183"/>
          </a:solidFill>
          <a:ln w="5238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hda-0940"/>
          <p:cNvSpPr/>
          <p:nvPr/>
        </p:nvSpPr>
        <p:spPr>
          <a:xfrm>
            <a:off x="9817099" y="457707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hda-0941"/>
          <p:cNvSpPr/>
          <p:nvPr/>
        </p:nvSpPr>
        <p:spPr>
          <a:xfrm>
            <a:off x="9842499" y="459536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3" name="hda-0942"/>
          <p:cNvCxnSpPr/>
          <p:nvPr/>
        </p:nvCxnSpPr>
        <p:spPr>
          <a:xfrm flipH="1">
            <a:off x="9832339" y="454659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4" name="hda-0943"/>
          <p:cNvSpPr/>
          <p:nvPr/>
        </p:nvSpPr>
        <p:spPr>
          <a:xfrm>
            <a:off x="9321799" y="4508499"/>
            <a:ext cx="508000" cy="215900"/>
          </a:xfrm>
          <a:custGeom>
            <a:avLst/>
            <a:gdLst/>
            <a:ahLst/>
            <a:cxnLst/>
            <a:rect l="l" t="t" r="r" b="b"/>
            <a:pathLst>
              <a:path w="80" h="34">
                <a:moveTo>
                  <a:pt x="0" y="0"/>
                </a:moveTo>
                <a:lnTo>
                  <a:pt x="7" y="34"/>
                </a:lnTo>
                <a:lnTo>
                  <a:pt x="53" y="34"/>
                </a:lnTo>
                <a:lnTo>
                  <a:pt x="80" y="0"/>
                </a:lnTo>
              </a:path>
            </a:pathLst>
          </a:custGeom>
          <a:noFill/>
          <a:ln w="11429">
            <a:solidFill>
              <a:srgbClr val="D4D4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hda-0944"/>
          <p:cNvCxnSpPr/>
          <p:nvPr/>
        </p:nvCxnSpPr>
        <p:spPr>
          <a:xfrm>
            <a:off x="9867899" y="4508499"/>
            <a:ext cx="2413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6" name="hda-0945"/>
          <p:cNvSpPr/>
          <p:nvPr/>
        </p:nvSpPr>
        <p:spPr>
          <a:xfrm>
            <a:off x="10121899" y="4305299"/>
            <a:ext cx="869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hda-0946"/>
          <p:cNvSpPr/>
          <p:nvPr/>
        </p:nvSpPr>
        <p:spPr>
          <a:xfrm>
            <a:off x="10217149" y="4349749"/>
            <a:ext cx="133350" cy="3175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hda-0947"/>
          <p:cNvSpPr/>
          <p:nvPr/>
        </p:nvSpPr>
        <p:spPr>
          <a:xfrm>
            <a:off x="10242549" y="4387849"/>
            <a:ext cx="825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hda-0948"/>
          <p:cNvSpPr/>
          <p:nvPr/>
        </p:nvSpPr>
        <p:spPr>
          <a:xfrm>
            <a:off x="10242549" y="4476749"/>
            <a:ext cx="8255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hda-0949"/>
          <p:cNvSpPr/>
          <p:nvPr/>
        </p:nvSpPr>
        <p:spPr>
          <a:xfrm>
            <a:off x="10242549" y="4565649"/>
            <a:ext cx="825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hda-0950"/>
          <p:cNvSpPr/>
          <p:nvPr/>
        </p:nvSpPr>
        <p:spPr>
          <a:xfrm>
            <a:off x="10426699" y="4349749"/>
            <a:ext cx="133350" cy="3175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hda-0951"/>
          <p:cNvSpPr/>
          <p:nvPr/>
        </p:nvSpPr>
        <p:spPr>
          <a:xfrm>
            <a:off x="10452099" y="4387849"/>
            <a:ext cx="825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hda-0952"/>
          <p:cNvSpPr/>
          <p:nvPr/>
        </p:nvSpPr>
        <p:spPr>
          <a:xfrm>
            <a:off x="10452099" y="4476749"/>
            <a:ext cx="8255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hda-0953"/>
          <p:cNvSpPr/>
          <p:nvPr/>
        </p:nvSpPr>
        <p:spPr>
          <a:xfrm>
            <a:off x="10452099" y="4565649"/>
            <a:ext cx="825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hda-0954"/>
          <p:cNvSpPr/>
          <p:nvPr/>
        </p:nvSpPr>
        <p:spPr>
          <a:xfrm>
            <a:off x="10636249" y="4349749"/>
            <a:ext cx="133350" cy="31750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hda-0955"/>
          <p:cNvSpPr/>
          <p:nvPr/>
        </p:nvSpPr>
        <p:spPr>
          <a:xfrm>
            <a:off x="10661649" y="4387849"/>
            <a:ext cx="825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hda-0956"/>
          <p:cNvSpPr/>
          <p:nvPr/>
        </p:nvSpPr>
        <p:spPr>
          <a:xfrm>
            <a:off x="10661649" y="4476749"/>
            <a:ext cx="8255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hda-0957"/>
          <p:cNvSpPr/>
          <p:nvPr/>
        </p:nvSpPr>
        <p:spPr>
          <a:xfrm>
            <a:off x="10661649" y="4565649"/>
            <a:ext cx="82550" cy="63500"/>
          </a:xfrm>
          <a:prstGeom prst="rect">
            <a:avLst/>
          </a:prstGeom>
          <a:solidFill>
            <a:srgbClr val="FFC000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hda-0958"/>
          <p:cNvCxnSpPr/>
          <p:nvPr/>
        </p:nvCxnSpPr>
        <p:spPr>
          <a:xfrm>
            <a:off x="10998199" y="4514849"/>
            <a:ext cx="1778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0" name="hda-0959"/>
          <p:cNvSpPr/>
          <p:nvPr/>
        </p:nvSpPr>
        <p:spPr>
          <a:xfrm>
            <a:off x="10890249" y="4032249"/>
            <a:ext cx="11112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hda-0960"/>
          <p:cNvSpPr/>
          <p:nvPr/>
        </p:nvSpPr>
        <p:spPr>
          <a:xfrm>
            <a:off x="109283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hda-0961"/>
          <p:cNvSpPr txBox="1"/>
          <p:nvPr/>
        </p:nvSpPr>
        <p:spPr>
          <a:xfrm>
            <a:off x="109283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*0</a:t>
            </a:r>
          </a:p>
        </p:txBody>
      </p:sp>
      <p:sp>
        <p:nvSpPr>
          <p:cNvPr id="963" name="hda-0962"/>
          <p:cNvSpPr/>
          <p:nvPr/>
        </p:nvSpPr>
        <p:spPr>
          <a:xfrm>
            <a:off x="110807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hda-0963"/>
          <p:cNvSpPr txBox="1"/>
          <p:nvPr/>
        </p:nvSpPr>
        <p:spPr>
          <a:xfrm>
            <a:off x="110807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65" name="hda-0964"/>
          <p:cNvSpPr/>
          <p:nvPr/>
        </p:nvSpPr>
        <p:spPr>
          <a:xfrm>
            <a:off x="112331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hda-0965"/>
          <p:cNvSpPr txBox="1"/>
          <p:nvPr/>
        </p:nvSpPr>
        <p:spPr>
          <a:xfrm>
            <a:off x="112331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*1</a:t>
            </a:r>
          </a:p>
        </p:txBody>
      </p:sp>
      <p:sp>
        <p:nvSpPr>
          <p:cNvPr id="967" name="hda-0966"/>
          <p:cNvSpPr/>
          <p:nvPr/>
        </p:nvSpPr>
        <p:spPr>
          <a:xfrm>
            <a:off x="113855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hda-0967"/>
          <p:cNvSpPr txBox="1"/>
          <p:nvPr/>
        </p:nvSpPr>
        <p:spPr>
          <a:xfrm>
            <a:off x="113855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69" name="hda-0968"/>
          <p:cNvSpPr/>
          <p:nvPr/>
        </p:nvSpPr>
        <p:spPr>
          <a:xfrm>
            <a:off x="115379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hda-0969"/>
          <p:cNvSpPr txBox="1"/>
          <p:nvPr/>
        </p:nvSpPr>
        <p:spPr>
          <a:xfrm>
            <a:off x="115379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*2</a:t>
            </a:r>
          </a:p>
        </p:txBody>
      </p:sp>
      <p:sp>
        <p:nvSpPr>
          <p:cNvPr id="971" name="hda-0970"/>
          <p:cNvSpPr/>
          <p:nvPr/>
        </p:nvSpPr>
        <p:spPr>
          <a:xfrm>
            <a:off x="116903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hda-0971"/>
          <p:cNvSpPr txBox="1"/>
          <p:nvPr/>
        </p:nvSpPr>
        <p:spPr>
          <a:xfrm>
            <a:off x="116903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973" name="hda-0972"/>
          <p:cNvSpPr/>
          <p:nvPr/>
        </p:nvSpPr>
        <p:spPr>
          <a:xfrm>
            <a:off x="11842749" y="406399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hda-0973"/>
          <p:cNvSpPr txBox="1"/>
          <p:nvPr/>
        </p:nvSpPr>
        <p:spPr>
          <a:xfrm>
            <a:off x="11842749" y="407034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*L</a:t>
            </a:r>
          </a:p>
        </p:txBody>
      </p:sp>
      <p:sp>
        <p:nvSpPr>
          <p:cNvPr id="975" name="hda-0974"/>
          <p:cNvSpPr txBox="1"/>
          <p:nvPr/>
        </p:nvSpPr>
        <p:spPr>
          <a:xfrm>
            <a:off x="10737849" y="4298949"/>
            <a:ext cx="133985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Spatio-Temporal Tokens</a:t>
            </a:r>
          </a:p>
        </p:txBody>
      </p:sp>
      <p:sp>
        <p:nvSpPr>
          <p:cNvPr id="976" name="hda-0975"/>
          <p:cNvSpPr/>
          <p:nvPr/>
        </p:nvSpPr>
        <p:spPr>
          <a:xfrm>
            <a:off x="10890249" y="4495799"/>
            <a:ext cx="11112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hda-0976"/>
          <p:cNvSpPr/>
          <p:nvPr/>
        </p:nvSpPr>
        <p:spPr>
          <a:xfrm>
            <a:off x="109283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hda-0977"/>
          <p:cNvSpPr txBox="1"/>
          <p:nvPr/>
        </p:nvSpPr>
        <p:spPr>
          <a:xfrm>
            <a:off x="109283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*0</a:t>
            </a:r>
          </a:p>
        </p:txBody>
      </p:sp>
      <p:sp>
        <p:nvSpPr>
          <p:cNvPr id="979" name="hda-0978"/>
          <p:cNvSpPr/>
          <p:nvPr/>
        </p:nvSpPr>
        <p:spPr>
          <a:xfrm>
            <a:off x="110807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hda-0979"/>
          <p:cNvSpPr txBox="1"/>
          <p:nvPr/>
        </p:nvSpPr>
        <p:spPr>
          <a:xfrm>
            <a:off x="110807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1" name="hda-0980"/>
          <p:cNvSpPr/>
          <p:nvPr/>
        </p:nvSpPr>
        <p:spPr>
          <a:xfrm>
            <a:off x="112331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hda-0981"/>
          <p:cNvSpPr txBox="1"/>
          <p:nvPr/>
        </p:nvSpPr>
        <p:spPr>
          <a:xfrm>
            <a:off x="112331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*1</a:t>
            </a:r>
          </a:p>
        </p:txBody>
      </p:sp>
      <p:sp>
        <p:nvSpPr>
          <p:cNvPr id="983" name="hda-0982"/>
          <p:cNvSpPr/>
          <p:nvPr/>
        </p:nvSpPr>
        <p:spPr>
          <a:xfrm>
            <a:off x="113855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hda-0983"/>
          <p:cNvSpPr txBox="1"/>
          <p:nvPr/>
        </p:nvSpPr>
        <p:spPr>
          <a:xfrm>
            <a:off x="113855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5" name="hda-0984"/>
          <p:cNvSpPr/>
          <p:nvPr/>
        </p:nvSpPr>
        <p:spPr>
          <a:xfrm>
            <a:off x="115379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E699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hda-0985"/>
          <p:cNvSpPr txBox="1"/>
          <p:nvPr/>
        </p:nvSpPr>
        <p:spPr>
          <a:xfrm>
            <a:off x="115379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*2</a:t>
            </a:r>
          </a:p>
        </p:txBody>
      </p:sp>
      <p:sp>
        <p:nvSpPr>
          <p:cNvPr id="987" name="hda-0986"/>
          <p:cNvSpPr/>
          <p:nvPr/>
        </p:nvSpPr>
        <p:spPr>
          <a:xfrm>
            <a:off x="116903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hda-0987"/>
          <p:cNvSpPr txBox="1"/>
          <p:nvPr/>
        </p:nvSpPr>
        <p:spPr>
          <a:xfrm>
            <a:off x="116903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989" name="hda-0988"/>
          <p:cNvSpPr/>
          <p:nvPr/>
        </p:nvSpPr>
        <p:spPr>
          <a:xfrm>
            <a:off x="11842749" y="4527549"/>
            <a:ext cx="127000" cy="177800"/>
          </a:xfrm>
          <a:prstGeom prst="roundRect">
            <a:avLst>
              <a:gd name="adj" fmla="val 20000"/>
            </a:avLst>
          </a:prstGeom>
          <a:solidFill>
            <a:srgbClr val="FFE699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hda-0989"/>
          <p:cNvSpPr txBox="1"/>
          <p:nvPr/>
        </p:nvSpPr>
        <p:spPr>
          <a:xfrm>
            <a:off x="11842749" y="4533899"/>
            <a:ext cx="12700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Liberation Serif"/>
              </a:rPr>
              <a:t>*L</a:t>
            </a:r>
          </a:p>
        </p:txBody>
      </p:sp>
      <p:sp>
        <p:nvSpPr>
          <p:cNvPr id="991" name="hda-0990"/>
          <p:cNvSpPr txBox="1"/>
          <p:nvPr/>
        </p:nvSpPr>
        <p:spPr>
          <a:xfrm>
            <a:off x="10775949" y="4762499"/>
            <a:ext cx="1270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Domain Prompt Tokens</a:t>
            </a:r>
          </a:p>
        </p:txBody>
      </p:sp>
      <p:cxnSp>
        <p:nvCxnSpPr>
          <p:cNvPr id="992" name="hda-0991"/>
          <p:cNvCxnSpPr/>
          <p:nvPr/>
        </p:nvCxnSpPr>
        <p:spPr>
          <a:xfrm>
            <a:off x="11455399" y="4743449"/>
            <a:ext cx="0" cy="615950"/>
          </a:xfrm>
          <a:prstGeom prst="line">
            <a:avLst/>
          </a:prstGeom>
          <a:ln w="11429">
            <a:solidFill>
              <a:srgbClr val="8D8D8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" name="cmr-0992"/>
          <p:cNvSpPr txBox="1"/>
          <p:nvPr/>
        </p:nvSpPr>
        <p:spPr>
          <a:xfrm>
            <a:off x="7797799" y="5079999"/>
            <a:ext cx="29845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Liberation Serif"/>
              </a:rPr>
              <a:t>Continual Memory Replay (CMR)</a:t>
            </a:r>
          </a:p>
        </p:txBody>
      </p:sp>
      <p:sp>
        <p:nvSpPr>
          <p:cNvPr id="994" name="cmr-0993"/>
          <p:cNvSpPr/>
          <p:nvPr/>
        </p:nvSpPr>
        <p:spPr>
          <a:xfrm>
            <a:off x="6229349" y="5346699"/>
            <a:ext cx="60325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cmr-0994"/>
          <p:cNvSpPr/>
          <p:nvPr/>
        </p:nvSpPr>
        <p:spPr>
          <a:xfrm>
            <a:off x="6305549" y="5397499"/>
            <a:ext cx="12065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cmr-0995"/>
          <p:cNvSpPr/>
          <p:nvPr/>
        </p:nvSpPr>
        <p:spPr>
          <a:xfrm>
            <a:off x="6330949" y="5435599"/>
            <a:ext cx="698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cmr-0996"/>
          <p:cNvSpPr/>
          <p:nvPr/>
        </p:nvSpPr>
        <p:spPr>
          <a:xfrm>
            <a:off x="6330949" y="5483224"/>
            <a:ext cx="6985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cmr-0997"/>
          <p:cNvSpPr/>
          <p:nvPr/>
        </p:nvSpPr>
        <p:spPr>
          <a:xfrm>
            <a:off x="6330949" y="5530849"/>
            <a:ext cx="6985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cmr-0998"/>
          <p:cNvSpPr/>
          <p:nvPr/>
        </p:nvSpPr>
        <p:spPr>
          <a:xfrm>
            <a:off x="6489699" y="5397499"/>
            <a:ext cx="12065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cmr-0999"/>
          <p:cNvSpPr/>
          <p:nvPr/>
        </p:nvSpPr>
        <p:spPr>
          <a:xfrm>
            <a:off x="6515099" y="5435599"/>
            <a:ext cx="698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cmr-1000"/>
          <p:cNvSpPr/>
          <p:nvPr/>
        </p:nvSpPr>
        <p:spPr>
          <a:xfrm>
            <a:off x="6515099" y="5483224"/>
            <a:ext cx="6985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cmr-1001"/>
          <p:cNvSpPr/>
          <p:nvPr/>
        </p:nvSpPr>
        <p:spPr>
          <a:xfrm>
            <a:off x="6515099" y="5530849"/>
            <a:ext cx="6985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cmr-1002"/>
          <p:cNvSpPr/>
          <p:nvPr/>
        </p:nvSpPr>
        <p:spPr>
          <a:xfrm>
            <a:off x="6673849" y="5397499"/>
            <a:ext cx="12065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cmr-1003"/>
          <p:cNvSpPr/>
          <p:nvPr/>
        </p:nvSpPr>
        <p:spPr>
          <a:xfrm>
            <a:off x="6699249" y="5435599"/>
            <a:ext cx="6985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cmr-1004"/>
          <p:cNvSpPr/>
          <p:nvPr/>
        </p:nvSpPr>
        <p:spPr>
          <a:xfrm>
            <a:off x="6699249" y="5483224"/>
            <a:ext cx="6985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cmr-1005"/>
          <p:cNvSpPr/>
          <p:nvPr/>
        </p:nvSpPr>
        <p:spPr>
          <a:xfrm>
            <a:off x="6699249" y="5530849"/>
            <a:ext cx="6985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cmr-1006"/>
          <p:cNvSpPr/>
          <p:nvPr/>
        </p:nvSpPr>
        <p:spPr>
          <a:xfrm>
            <a:off x="6965949" y="5391149"/>
            <a:ext cx="2882900" cy="292100"/>
          </a:xfrm>
          <a:prstGeom prst="rect">
            <a:avLst/>
          </a:prstGeom>
          <a:solidFill>
            <a:srgbClr val="FFFFFF"/>
          </a:solidFill>
          <a:ln w="762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cmr-1007"/>
          <p:cNvSpPr txBox="1"/>
          <p:nvPr/>
        </p:nvSpPr>
        <p:spPr>
          <a:xfrm>
            <a:off x="7010399" y="5416549"/>
            <a:ext cx="6794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72C4"/>
                </a:solidFill>
                <a:latin typeface="Liberation Serif"/>
              </a:rPr>
              <a:t>Mem Buffer</a:t>
            </a:r>
          </a:p>
        </p:txBody>
      </p:sp>
      <p:sp>
        <p:nvSpPr>
          <p:cNvPr id="1009" name="cmr-1008"/>
          <p:cNvSpPr txBox="1"/>
          <p:nvPr/>
        </p:nvSpPr>
        <p:spPr>
          <a:xfrm>
            <a:off x="8089899" y="5416549"/>
            <a:ext cx="100330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AD47"/>
                </a:solidFill>
                <a:latin typeface="Liberation Serif"/>
              </a:rPr>
              <a:t>Current Stream</a:t>
            </a:r>
          </a:p>
        </p:txBody>
      </p:sp>
      <p:sp>
        <p:nvSpPr>
          <p:cNvPr id="1010" name="cmr-1009"/>
          <p:cNvSpPr/>
          <p:nvPr/>
        </p:nvSpPr>
        <p:spPr>
          <a:xfrm>
            <a:off x="7410449" y="5448299"/>
            <a:ext cx="2362200" cy="184150"/>
          </a:xfrm>
          <a:custGeom>
            <a:avLst/>
            <a:gdLst/>
            <a:ahLst/>
            <a:cxnLst/>
            <a:rect l="l" t="t" r="r" b="b"/>
            <a:pathLst>
              <a:path w="372" h="29">
                <a:moveTo>
                  <a:pt x="0" y="0"/>
                </a:moveTo>
                <a:lnTo>
                  <a:pt x="7" y="7"/>
                </a:lnTo>
                <a:lnTo>
                  <a:pt x="14" y="15"/>
                </a:lnTo>
                <a:lnTo>
                  <a:pt x="21" y="23"/>
                </a:lnTo>
                <a:lnTo>
                  <a:pt x="28" y="18"/>
                </a:lnTo>
                <a:lnTo>
                  <a:pt x="35" y="18"/>
                </a:lnTo>
                <a:lnTo>
                  <a:pt x="42" y="11"/>
                </a:lnTo>
                <a:lnTo>
                  <a:pt x="49" y="4"/>
                </a:lnTo>
                <a:lnTo>
                  <a:pt x="56" y="5"/>
                </a:lnTo>
                <a:lnTo>
                  <a:pt x="63" y="15"/>
                </a:lnTo>
                <a:lnTo>
                  <a:pt x="70" y="29"/>
                </a:lnTo>
                <a:lnTo>
                  <a:pt x="77" y="20"/>
                </a:lnTo>
                <a:lnTo>
                  <a:pt x="84" y="10"/>
                </a:lnTo>
                <a:lnTo>
                  <a:pt x="91" y="1"/>
                </a:lnTo>
                <a:lnTo>
                  <a:pt x="98" y="8"/>
                </a:lnTo>
                <a:lnTo>
                  <a:pt x="105" y="16"/>
                </a:lnTo>
                <a:lnTo>
                  <a:pt x="112" y="18"/>
                </a:lnTo>
                <a:lnTo>
                  <a:pt x="119" y="22"/>
                </a:lnTo>
                <a:lnTo>
                  <a:pt x="126" y="17"/>
                </a:lnTo>
                <a:lnTo>
                  <a:pt x="133" y="12"/>
                </a:lnTo>
                <a:lnTo>
                  <a:pt x="140" y="0"/>
                </a:lnTo>
                <a:lnTo>
                  <a:pt x="147" y="6"/>
                </a:lnTo>
                <a:lnTo>
                  <a:pt x="154" y="20"/>
                </a:lnTo>
                <a:lnTo>
                  <a:pt x="161" y="27"/>
                </a:lnTo>
                <a:lnTo>
                  <a:pt x="168" y="20"/>
                </a:lnTo>
                <a:lnTo>
                  <a:pt x="175" y="5"/>
                </a:lnTo>
                <a:lnTo>
                  <a:pt x="182" y="7"/>
                </a:lnTo>
                <a:lnTo>
                  <a:pt x="190" y="8"/>
                </a:lnTo>
                <a:lnTo>
                  <a:pt x="197" y="15"/>
                </a:lnTo>
                <a:lnTo>
                  <a:pt x="204" y="18"/>
                </a:lnTo>
                <a:lnTo>
                  <a:pt x="211" y="22"/>
                </a:lnTo>
                <a:lnTo>
                  <a:pt x="218" y="20"/>
                </a:lnTo>
                <a:lnTo>
                  <a:pt x="225" y="6"/>
                </a:lnTo>
                <a:lnTo>
                  <a:pt x="232" y="2"/>
                </a:lnTo>
                <a:lnTo>
                  <a:pt x="239" y="7"/>
                </a:lnTo>
                <a:lnTo>
                  <a:pt x="246" y="24"/>
                </a:lnTo>
                <a:lnTo>
                  <a:pt x="253" y="24"/>
                </a:lnTo>
                <a:lnTo>
                  <a:pt x="260" y="17"/>
                </a:lnTo>
                <a:lnTo>
                  <a:pt x="267" y="8"/>
                </a:lnTo>
                <a:lnTo>
                  <a:pt x="274" y="6"/>
                </a:lnTo>
                <a:lnTo>
                  <a:pt x="281" y="10"/>
                </a:lnTo>
                <a:lnTo>
                  <a:pt x="288" y="10"/>
                </a:lnTo>
                <a:lnTo>
                  <a:pt x="295" y="21"/>
                </a:lnTo>
                <a:lnTo>
                  <a:pt x="302" y="23"/>
                </a:lnTo>
                <a:lnTo>
                  <a:pt x="309" y="19"/>
                </a:lnTo>
                <a:lnTo>
                  <a:pt x="316" y="4"/>
                </a:lnTo>
                <a:lnTo>
                  <a:pt x="323" y="0"/>
                </a:lnTo>
                <a:lnTo>
                  <a:pt x="330" y="13"/>
                </a:lnTo>
                <a:lnTo>
                  <a:pt x="337" y="22"/>
                </a:lnTo>
                <a:lnTo>
                  <a:pt x="344" y="24"/>
                </a:lnTo>
                <a:lnTo>
                  <a:pt x="351" y="13"/>
                </a:lnTo>
                <a:lnTo>
                  <a:pt x="358" y="11"/>
                </a:lnTo>
                <a:lnTo>
                  <a:pt x="365" y="7"/>
                </a:lnTo>
                <a:lnTo>
                  <a:pt x="372" y="6"/>
                </a:lnTo>
              </a:path>
            </a:pathLst>
          </a:custGeom>
          <a:noFill/>
          <a:ln w="11429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cmr-1010"/>
          <p:cNvSpPr/>
          <p:nvPr/>
        </p:nvSpPr>
        <p:spPr>
          <a:xfrm>
            <a:off x="6311899" y="5283199"/>
            <a:ext cx="1149350" cy="63500"/>
          </a:xfrm>
          <a:custGeom>
            <a:avLst/>
            <a:gdLst/>
            <a:ahLst/>
            <a:cxnLst/>
            <a:rect l="l" t="t" r="r" b="b"/>
            <a:pathLst>
              <a:path w="181" h="10">
                <a:moveTo>
                  <a:pt x="0" y="10"/>
                </a:moveTo>
                <a:lnTo>
                  <a:pt x="24" y="0"/>
                </a:lnTo>
                <a:lnTo>
                  <a:pt x="181" y="9"/>
                </a:lnTo>
              </a:path>
            </a:pathLst>
          </a:custGeom>
          <a:noFill/>
          <a:ln w="11429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cmr-1011"/>
          <p:cNvSpPr/>
          <p:nvPr/>
        </p:nvSpPr>
        <p:spPr>
          <a:xfrm>
            <a:off x="9969499" y="5346699"/>
            <a:ext cx="11430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cmr-1012"/>
          <p:cNvSpPr/>
          <p:nvPr/>
        </p:nvSpPr>
        <p:spPr>
          <a:xfrm>
            <a:off x="10045699" y="5397499"/>
            <a:ext cx="11430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cmr-1013"/>
          <p:cNvSpPr/>
          <p:nvPr/>
        </p:nvSpPr>
        <p:spPr>
          <a:xfrm>
            <a:off x="10071099" y="5435599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cmr-1014"/>
          <p:cNvSpPr/>
          <p:nvPr/>
        </p:nvSpPr>
        <p:spPr>
          <a:xfrm>
            <a:off x="10071099" y="5483224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cmr-1015"/>
          <p:cNvSpPr/>
          <p:nvPr/>
        </p:nvSpPr>
        <p:spPr>
          <a:xfrm>
            <a:off x="10071099" y="5530849"/>
            <a:ext cx="6350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cmr-1016"/>
          <p:cNvSpPr/>
          <p:nvPr/>
        </p:nvSpPr>
        <p:spPr>
          <a:xfrm>
            <a:off x="10217149" y="5397499"/>
            <a:ext cx="11430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cmr-1017"/>
          <p:cNvSpPr/>
          <p:nvPr/>
        </p:nvSpPr>
        <p:spPr>
          <a:xfrm>
            <a:off x="10242549" y="5435599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cmr-1018"/>
          <p:cNvSpPr/>
          <p:nvPr/>
        </p:nvSpPr>
        <p:spPr>
          <a:xfrm>
            <a:off x="10242549" y="5483224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cmr-1019"/>
          <p:cNvSpPr/>
          <p:nvPr/>
        </p:nvSpPr>
        <p:spPr>
          <a:xfrm>
            <a:off x="10242549" y="5530849"/>
            <a:ext cx="6350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cmr-1020"/>
          <p:cNvSpPr/>
          <p:nvPr/>
        </p:nvSpPr>
        <p:spPr>
          <a:xfrm>
            <a:off x="10388599" y="5397499"/>
            <a:ext cx="11430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cmr-1021"/>
          <p:cNvSpPr/>
          <p:nvPr/>
        </p:nvSpPr>
        <p:spPr>
          <a:xfrm>
            <a:off x="10413999" y="5435599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cmr-1022"/>
          <p:cNvSpPr/>
          <p:nvPr/>
        </p:nvSpPr>
        <p:spPr>
          <a:xfrm>
            <a:off x="10413999" y="5483224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cmr-1023"/>
          <p:cNvSpPr/>
          <p:nvPr/>
        </p:nvSpPr>
        <p:spPr>
          <a:xfrm>
            <a:off x="10413999" y="5530849"/>
            <a:ext cx="63500" cy="63500"/>
          </a:xfrm>
          <a:prstGeom prst="rect">
            <a:avLst/>
          </a:prstGeom>
          <a:solidFill>
            <a:srgbClr val="44546A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cmr-1024"/>
          <p:cNvSpPr/>
          <p:nvPr/>
        </p:nvSpPr>
        <p:spPr>
          <a:xfrm>
            <a:off x="10560049" y="5397499"/>
            <a:ext cx="11430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cmr-1025"/>
          <p:cNvSpPr/>
          <p:nvPr/>
        </p:nvSpPr>
        <p:spPr>
          <a:xfrm>
            <a:off x="10585449" y="5435599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cmr-1026"/>
          <p:cNvSpPr/>
          <p:nvPr/>
        </p:nvSpPr>
        <p:spPr>
          <a:xfrm>
            <a:off x="10585449" y="5483224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cmr-1027"/>
          <p:cNvSpPr/>
          <p:nvPr/>
        </p:nvSpPr>
        <p:spPr>
          <a:xfrm>
            <a:off x="10585449" y="5530849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cmr-1028"/>
          <p:cNvSpPr/>
          <p:nvPr/>
        </p:nvSpPr>
        <p:spPr>
          <a:xfrm>
            <a:off x="10731499" y="5397499"/>
            <a:ext cx="11430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cmr-1029"/>
          <p:cNvSpPr/>
          <p:nvPr/>
        </p:nvSpPr>
        <p:spPr>
          <a:xfrm>
            <a:off x="10756899" y="5435599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cmr-1030"/>
          <p:cNvSpPr/>
          <p:nvPr/>
        </p:nvSpPr>
        <p:spPr>
          <a:xfrm>
            <a:off x="10756899" y="5483224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cmr-1031"/>
          <p:cNvSpPr/>
          <p:nvPr/>
        </p:nvSpPr>
        <p:spPr>
          <a:xfrm>
            <a:off x="10756899" y="5530849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cmr-1032"/>
          <p:cNvSpPr/>
          <p:nvPr/>
        </p:nvSpPr>
        <p:spPr>
          <a:xfrm>
            <a:off x="10902949" y="5397499"/>
            <a:ext cx="114300" cy="234950"/>
          </a:xfrm>
          <a:prstGeom prst="rect">
            <a:avLst/>
          </a:prstGeom>
          <a:solidFill>
            <a:srgbClr val="FFFFFF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cmr-1033"/>
          <p:cNvSpPr/>
          <p:nvPr/>
        </p:nvSpPr>
        <p:spPr>
          <a:xfrm>
            <a:off x="10928349" y="5435599"/>
            <a:ext cx="63500" cy="63500"/>
          </a:xfrm>
          <a:prstGeom prst="rect">
            <a:avLst/>
          </a:prstGeom>
          <a:solidFill>
            <a:srgbClr val="9DC3E6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cmr-1034"/>
          <p:cNvSpPr/>
          <p:nvPr/>
        </p:nvSpPr>
        <p:spPr>
          <a:xfrm>
            <a:off x="10928349" y="5483224"/>
            <a:ext cx="63500" cy="63500"/>
          </a:xfrm>
          <a:prstGeom prst="rect">
            <a:avLst/>
          </a:prstGeom>
          <a:solidFill>
            <a:srgbClr val="4472C4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cmr-1035"/>
          <p:cNvSpPr/>
          <p:nvPr/>
        </p:nvSpPr>
        <p:spPr>
          <a:xfrm>
            <a:off x="10928349" y="5530849"/>
            <a:ext cx="63500" cy="63500"/>
          </a:xfrm>
          <a:prstGeom prst="rect">
            <a:avLst/>
          </a:prstGeom>
          <a:solidFill>
            <a:srgbClr val="70AD47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cmr-1036"/>
          <p:cNvSpPr txBox="1"/>
          <p:nvPr/>
        </p:nvSpPr>
        <p:spPr>
          <a:xfrm>
            <a:off x="10439399" y="5187949"/>
            <a:ext cx="762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D8D8D"/>
                </a:solidFill>
                <a:latin typeface="Liberation Serif"/>
              </a:rPr>
              <a:t>data mining</a:t>
            </a:r>
          </a:p>
        </p:txBody>
      </p:sp>
      <p:sp>
        <p:nvSpPr>
          <p:cNvPr id="1038" name="cmr-1037"/>
          <p:cNvSpPr/>
          <p:nvPr/>
        </p:nvSpPr>
        <p:spPr>
          <a:xfrm>
            <a:off x="8826499" y="5657849"/>
            <a:ext cx="1714500" cy="101600"/>
          </a:xfrm>
          <a:custGeom>
            <a:avLst/>
            <a:gdLst/>
            <a:ahLst/>
            <a:cxnLst/>
            <a:rect l="l" t="t" r="r" b="b"/>
            <a:pathLst>
              <a:path w="270" h="16">
                <a:moveTo>
                  <a:pt x="0" y="0"/>
                </a:moveTo>
                <a:lnTo>
                  <a:pt x="45" y="16"/>
                </a:lnTo>
                <a:lnTo>
                  <a:pt x="270" y="6"/>
                </a:lnTo>
              </a:path>
            </a:pathLst>
          </a:custGeom>
          <a:noFill/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9" name="cmr-1038"/>
          <p:cNvCxnSpPr/>
          <p:nvPr/>
        </p:nvCxnSpPr>
        <p:spPr>
          <a:xfrm>
            <a:off x="11118849" y="5499099"/>
            <a:ext cx="2921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cmr-1039"/>
          <p:cNvSpPr/>
          <p:nvPr/>
        </p:nvSpPr>
        <p:spPr>
          <a:xfrm>
            <a:off x="11423649" y="5346699"/>
            <a:ext cx="577850" cy="3111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cmr-1040"/>
          <p:cNvSpPr/>
          <p:nvPr/>
        </p:nvSpPr>
        <p:spPr>
          <a:xfrm>
            <a:off x="1146174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cmr-1041"/>
          <p:cNvSpPr/>
          <p:nvPr/>
        </p:nvSpPr>
        <p:spPr>
          <a:xfrm>
            <a:off x="1154429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D9E2F3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cmr-1042"/>
          <p:cNvSpPr/>
          <p:nvPr/>
        </p:nvSpPr>
        <p:spPr>
          <a:xfrm>
            <a:off x="1162684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FFE699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cmr-1043"/>
          <p:cNvSpPr/>
          <p:nvPr/>
        </p:nvSpPr>
        <p:spPr>
          <a:xfrm>
            <a:off x="1170939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cmr-1044"/>
          <p:cNvSpPr/>
          <p:nvPr/>
        </p:nvSpPr>
        <p:spPr>
          <a:xfrm>
            <a:off x="1179194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A9D18E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cmr-1045"/>
          <p:cNvSpPr/>
          <p:nvPr/>
        </p:nvSpPr>
        <p:spPr>
          <a:xfrm>
            <a:off x="1187449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D5E8D4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cmr-1046"/>
          <p:cNvSpPr/>
          <p:nvPr/>
        </p:nvSpPr>
        <p:spPr>
          <a:xfrm>
            <a:off x="11957049" y="5391149"/>
            <a:ext cx="76200" cy="196850"/>
          </a:xfrm>
          <a:prstGeom prst="roundRect">
            <a:avLst>
              <a:gd name="adj" fmla="val 20000"/>
            </a:avLst>
          </a:prstGeom>
          <a:solidFill>
            <a:srgbClr val="9DC3E6"/>
          </a:solidFill>
          <a:ln w="857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cmr-1047"/>
          <p:cNvSpPr txBox="1"/>
          <p:nvPr/>
        </p:nvSpPr>
        <p:spPr>
          <a:xfrm>
            <a:off x="11334749" y="5683249"/>
            <a:ext cx="7747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Combined Tokens</a:t>
            </a:r>
          </a:p>
        </p:txBody>
      </p:sp>
      <p:cxnSp>
        <p:nvCxnSpPr>
          <p:cNvPr id="1049" name="cmr-1048"/>
          <p:cNvCxnSpPr/>
          <p:nvPr/>
        </p:nvCxnSpPr>
        <p:spPr>
          <a:xfrm>
            <a:off x="12045949" y="5499099"/>
            <a:ext cx="0" cy="488950"/>
          </a:xfrm>
          <a:prstGeom prst="line">
            <a:avLst/>
          </a:prstGeom>
          <a:ln w="1142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mr-1049"/>
          <p:cNvCxnSpPr/>
          <p:nvPr/>
        </p:nvCxnSpPr>
        <p:spPr>
          <a:xfrm flipH="1">
            <a:off x="11988799" y="5988049"/>
            <a:ext cx="5715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cmr-1050"/>
          <p:cNvSpPr/>
          <p:nvPr/>
        </p:nvSpPr>
        <p:spPr>
          <a:xfrm>
            <a:off x="10547349" y="5841999"/>
            <a:ext cx="1454150" cy="285750"/>
          </a:xfrm>
          <a:prstGeom prst="roundRect">
            <a:avLst>
              <a:gd name="adj" fmla="val 17777"/>
            </a:avLst>
          </a:prstGeom>
          <a:solidFill>
            <a:srgbClr val="E2F0D9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cmr-1051"/>
          <p:cNvSpPr txBox="1"/>
          <p:nvPr/>
        </p:nvSpPr>
        <p:spPr>
          <a:xfrm>
            <a:off x="10661649" y="5873749"/>
            <a:ext cx="11366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Transformer Encoder</a:t>
            </a:r>
          </a:p>
        </p:txBody>
      </p:sp>
      <p:sp>
        <p:nvSpPr>
          <p:cNvPr id="1053" name="cmr-1052"/>
          <p:cNvSpPr/>
          <p:nvPr/>
        </p:nvSpPr>
        <p:spPr>
          <a:xfrm>
            <a:off x="11823699" y="594867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cmr-1053"/>
          <p:cNvSpPr/>
          <p:nvPr/>
        </p:nvSpPr>
        <p:spPr>
          <a:xfrm>
            <a:off x="11849099" y="596696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5" name="cmr-1054"/>
          <p:cNvCxnSpPr/>
          <p:nvPr/>
        </p:nvCxnSpPr>
        <p:spPr>
          <a:xfrm flipH="1">
            <a:off x="11838939" y="591819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cmr-1055"/>
          <p:cNvSpPr/>
          <p:nvPr/>
        </p:nvSpPr>
        <p:spPr>
          <a:xfrm>
            <a:off x="8616949" y="5841999"/>
            <a:ext cx="1568450" cy="285750"/>
          </a:xfrm>
          <a:prstGeom prst="roundRect">
            <a:avLst>
              <a:gd name="adj" fmla="val 17777"/>
            </a:avLst>
          </a:prstGeom>
          <a:solidFill>
            <a:srgbClr val="E2F0D9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cmr-1056"/>
          <p:cNvSpPr txBox="1"/>
          <p:nvPr/>
        </p:nvSpPr>
        <p:spPr>
          <a:xfrm>
            <a:off x="8731249" y="5873749"/>
            <a:ext cx="125095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Transformer Decoder</a:t>
            </a:r>
          </a:p>
        </p:txBody>
      </p:sp>
      <p:sp>
        <p:nvSpPr>
          <p:cNvPr id="1058" name="cmr-1057"/>
          <p:cNvSpPr/>
          <p:nvPr/>
        </p:nvSpPr>
        <p:spPr>
          <a:xfrm>
            <a:off x="10007599" y="594867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cmr-1058"/>
          <p:cNvSpPr/>
          <p:nvPr/>
        </p:nvSpPr>
        <p:spPr>
          <a:xfrm>
            <a:off x="10032999" y="596696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0" name="cmr-1059"/>
          <p:cNvCxnSpPr/>
          <p:nvPr/>
        </p:nvCxnSpPr>
        <p:spPr>
          <a:xfrm flipH="1">
            <a:off x="10022839" y="591819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cmr-1060"/>
          <p:cNvSpPr/>
          <p:nvPr/>
        </p:nvSpPr>
        <p:spPr>
          <a:xfrm>
            <a:off x="6889749" y="5841999"/>
            <a:ext cx="1358900" cy="285750"/>
          </a:xfrm>
          <a:prstGeom prst="roundRect">
            <a:avLst>
              <a:gd name="adj" fmla="val 17777"/>
            </a:avLst>
          </a:prstGeom>
          <a:solidFill>
            <a:srgbClr val="E2F0D9"/>
          </a:solidFill>
          <a:ln w="95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cmr-1061"/>
          <p:cNvSpPr txBox="1"/>
          <p:nvPr/>
        </p:nvSpPr>
        <p:spPr>
          <a:xfrm>
            <a:off x="7004049" y="5873749"/>
            <a:ext cx="1041400" cy="222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Liberation Serif"/>
              </a:rPr>
              <a:t>Prediction Head</a:t>
            </a:r>
          </a:p>
        </p:txBody>
      </p:sp>
      <p:sp>
        <p:nvSpPr>
          <p:cNvPr id="1063" name="cmr-1062"/>
          <p:cNvSpPr/>
          <p:nvPr/>
        </p:nvSpPr>
        <p:spPr>
          <a:xfrm>
            <a:off x="8070849" y="5948679"/>
            <a:ext cx="83312" cy="711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cmr-1063"/>
          <p:cNvSpPr/>
          <p:nvPr/>
        </p:nvSpPr>
        <p:spPr>
          <a:xfrm>
            <a:off x="8096249" y="5966967"/>
            <a:ext cx="34544" cy="4368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5" name="cmr-1064"/>
          <p:cNvCxnSpPr/>
          <p:nvPr/>
        </p:nvCxnSpPr>
        <p:spPr>
          <a:xfrm flipH="1">
            <a:off x="8086089" y="5918199"/>
            <a:ext cx="27432" cy="52832"/>
          </a:xfrm>
          <a:prstGeom prst="line">
            <a:avLst/>
          </a:prstGeom>
          <a:ln w="29527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mr-1065"/>
          <p:cNvCxnSpPr/>
          <p:nvPr/>
        </p:nvCxnSpPr>
        <p:spPr>
          <a:xfrm flipH="1">
            <a:off x="10185399" y="5988049"/>
            <a:ext cx="36195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cmr-1066"/>
          <p:cNvCxnSpPr/>
          <p:nvPr/>
        </p:nvCxnSpPr>
        <p:spPr>
          <a:xfrm flipH="1">
            <a:off x="8248649" y="5988049"/>
            <a:ext cx="3683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mr-1067"/>
          <p:cNvCxnSpPr/>
          <p:nvPr/>
        </p:nvCxnSpPr>
        <p:spPr>
          <a:xfrm flipH="1">
            <a:off x="6584949" y="5988049"/>
            <a:ext cx="304800" cy="0"/>
          </a:xfrm>
          <a:prstGeom prst="line">
            <a:avLst/>
          </a:prstGeom>
          <a:ln w="11429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cmr-1068"/>
          <p:cNvSpPr txBox="1"/>
          <p:nvPr/>
        </p:nvSpPr>
        <p:spPr>
          <a:xfrm>
            <a:off x="6178549" y="5835649"/>
            <a:ext cx="381000" cy="279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Future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Liberation Serif"/>
              </a:rPr>
              <a:t>Value</a:t>
            </a:r>
          </a:p>
        </p:txBody>
      </p:sp>
      <p:sp>
        <p:nvSpPr>
          <p:cNvPr id="1070" name="stage-labels-1069"/>
          <p:cNvSpPr txBox="1"/>
          <p:nvPr/>
        </p:nvSpPr>
        <p:spPr>
          <a:xfrm>
            <a:off x="1016000" y="6318249"/>
            <a:ext cx="39370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Liberation Serif"/>
              </a:rPr>
              <a:t>Stage 1: Universal Temporal Pretraining (UTP)</a:t>
            </a:r>
          </a:p>
        </p:txBody>
      </p:sp>
      <p:sp>
        <p:nvSpPr>
          <p:cNvPr id="1071" name="stage-labels-1070"/>
          <p:cNvSpPr txBox="1"/>
          <p:nvPr/>
        </p:nvSpPr>
        <p:spPr>
          <a:xfrm>
            <a:off x="7048499" y="6318249"/>
            <a:ext cx="431800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Liberation Serif"/>
              </a:rPr>
              <a:t>Stage 2: Spatio-Temporal Adaptation (STA)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Learning to Factorize Spatio-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559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