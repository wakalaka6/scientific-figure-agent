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587589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ge-background"/>
          <p:cNvSpPr/>
          <p:nvPr/>
        </p:nvSpPr>
        <p:spPr>
          <a:xfrm>
            <a:off x="0" y="0"/>
            <a:ext cx="12191999" cy="587589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left-outer"/>
          <p:cNvSpPr/>
          <p:nvPr/>
        </p:nvSpPr>
        <p:spPr>
          <a:xfrm>
            <a:off x="0" y="108458"/>
            <a:ext cx="6686141" cy="5767434"/>
          </a:xfrm>
          <a:prstGeom prst="roundRect">
            <a:avLst/>
          </a:prstGeom>
          <a:solidFill>
            <a:srgbClr val="FFFFFF"/>
          </a:solidFill>
          <a:ln w="6379">
            <a:solidFill>
              <a:srgbClr val="A7A7A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ight-outer"/>
          <p:cNvSpPr/>
          <p:nvPr/>
        </p:nvSpPr>
        <p:spPr>
          <a:xfrm>
            <a:off x="6788219" y="108458"/>
            <a:ext cx="5403780" cy="5767434"/>
          </a:xfrm>
          <a:prstGeom prst="roundRect">
            <a:avLst/>
          </a:prstGeom>
          <a:solidFill>
            <a:srgbClr val="FFFFFF"/>
          </a:solidFill>
          <a:ln w="6379">
            <a:solidFill>
              <a:srgbClr val="A7A7A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left-main-title"/>
          <p:cNvSpPr txBox="1"/>
          <p:nvPr/>
        </p:nvSpPr>
        <p:spPr>
          <a:xfrm>
            <a:off x="612470" y="159497"/>
            <a:ext cx="5422919" cy="306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115"/>
              </a:lnSpc>
              <a:spcBef>
                <a:spcPts val="0"/>
              </a:spcBef>
              <a:spcAft>
                <a:spcPts val="0"/>
              </a:spcAft>
            </a:pPr>
            <a:r>
              <a:rPr sz="1808" b="1" i="0" u="none">
                <a:solidFill>
                  <a:srgbClr val="000000"/>
                </a:solidFill>
                <a:latin typeface="Liberation Serif"/>
              </a:rPr>
              <a:t>Data Collection Pipeline with Reasoning Bootstrapping</a:t>
            </a:r>
          </a:p>
        </p:txBody>
      </p:sp>
      <p:sp>
        <p:nvSpPr>
          <p:cNvPr id="6" name="right-main-title"/>
          <p:cNvSpPr txBox="1"/>
          <p:nvPr/>
        </p:nvSpPr>
        <p:spPr>
          <a:xfrm>
            <a:off x="8344916" y="159497"/>
            <a:ext cx="2296766" cy="306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115"/>
              </a:lnSpc>
              <a:spcBef>
                <a:spcPts val="0"/>
              </a:spcBef>
              <a:spcAft>
                <a:spcPts val="0"/>
              </a:spcAft>
            </a:pPr>
            <a:r>
              <a:rPr sz="1808" b="1" i="0" u="none">
                <a:solidFill>
                  <a:srgbClr val="000000"/>
                </a:solidFill>
                <a:latin typeface="Liberation Serif"/>
              </a:rPr>
              <a:t>GUI-Critic-R1</a:t>
            </a:r>
          </a:p>
        </p:txBody>
      </p:sp>
      <p:sp>
        <p:nvSpPr>
          <p:cNvPr id="7" name="operations-boundary"/>
          <p:cNvSpPr/>
          <p:nvPr/>
        </p:nvSpPr>
        <p:spPr>
          <a:xfrm>
            <a:off x="114838" y="484872"/>
            <a:ext cx="2813538" cy="5295321"/>
          </a:xfrm>
          <a:prstGeom prst="roundRect">
            <a:avLst/>
          </a:prstGeom>
          <a:noFill/>
          <a:ln w="12759">
            <a:solidFill>
              <a:srgbClr val="F2B30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critique-boundary"/>
          <p:cNvSpPr/>
          <p:nvPr/>
        </p:nvSpPr>
        <p:spPr>
          <a:xfrm>
            <a:off x="2985795" y="484872"/>
            <a:ext cx="3623786" cy="5295321"/>
          </a:xfrm>
          <a:prstGeom prst="roundRect">
            <a:avLst/>
          </a:prstGeom>
          <a:noFill/>
          <a:ln w="12759">
            <a:solidFill>
              <a:srgbClr val="65A744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ft-boundary"/>
          <p:cNvSpPr/>
          <p:nvPr/>
        </p:nvSpPr>
        <p:spPr>
          <a:xfrm>
            <a:off x="6896678" y="427453"/>
            <a:ext cx="5237902" cy="1741714"/>
          </a:xfrm>
          <a:prstGeom prst="roundRect">
            <a:avLst/>
          </a:prstGeom>
          <a:noFill/>
          <a:ln w="12759">
            <a:solidFill>
              <a:srgbClr val="5A9DDB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sgrpo-boundary"/>
          <p:cNvSpPr/>
          <p:nvPr/>
        </p:nvSpPr>
        <p:spPr>
          <a:xfrm>
            <a:off x="6871158" y="2335045"/>
            <a:ext cx="5257042" cy="3445149"/>
          </a:xfrm>
          <a:prstGeom prst="roundRect">
            <a:avLst/>
          </a:prstGeom>
          <a:noFill/>
          <a:ln w="12759">
            <a:solidFill>
              <a:srgbClr val="5A9DDB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perations-title"/>
          <p:cNvSpPr txBox="1"/>
          <p:nvPr/>
        </p:nvSpPr>
        <p:spPr>
          <a:xfrm>
            <a:off x="280715" y="535912"/>
            <a:ext cx="2488163" cy="2424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557" b="1" i="0" u="none">
                <a:solidFill>
                  <a:srgbClr val="000000"/>
                </a:solidFill>
                <a:latin typeface="Liberation Serif"/>
              </a:rPr>
              <a:t>GUI Operations Collection</a:t>
            </a:r>
          </a:p>
        </p:txBody>
      </p:sp>
      <p:sp>
        <p:nvSpPr>
          <p:cNvPr id="12" name="operations-copy-bg"/>
          <p:cNvSpPr/>
          <p:nvPr/>
        </p:nvSpPr>
        <p:spPr>
          <a:xfrm>
            <a:off x="197777" y="1722574"/>
            <a:ext cx="2692320" cy="1122863"/>
          </a:xfrm>
          <a:prstGeom prst="roundRect">
            <a:avLst/>
          </a:prstGeom>
          <a:solidFill>
            <a:srgbClr val="FCFB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hone-ui-operation-strip" descr="phone-ui-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96" y="829387"/>
            <a:ext cx="2673180" cy="861287"/>
          </a:xfrm>
          <a:prstGeom prst="rect">
            <a:avLst/>
          </a:prstGeom>
          <a:effectLst/>
        </p:spPr>
      </p:pic>
      <p:sp>
        <p:nvSpPr>
          <p:cNvPr id="14" name="operations-instructions"/>
          <p:cNvSpPr txBox="1"/>
          <p:nvPr/>
        </p:nvSpPr>
        <p:spPr>
          <a:xfrm>
            <a:off x="223296" y="1779993"/>
            <a:ext cx="2641280" cy="10526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4" b="1" i="0" u="none">
                <a:solidFill>
                  <a:srgbClr val="000000"/>
                </a:solidFill>
                <a:latin typeface="DejaVu Sans"/>
              </a:rPr>
              <a:t>Task Instruction: </a:t>
            </a:r>
            <a:r>
              <a:rPr sz="854" b="0" i="0" u="none">
                <a:solidFill>
                  <a:srgbClr val="000000"/>
                </a:solidFill>
                <a:latin typeface="DejaVu Sans"/>
              </a:rPr>
              <a:t>Search for someone's post</a:t>
            </a:r>
          </a:p>
          <a:p>
            <a:pPr algn="l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4" b="0" i="0" u="sng">
                <a:solidFill>
                  <a:srgbClr val="000000"/>
                </a:solidFill>
                <a:latin typeface="DejaVu Sans"/>
              </a:rPr>
              <a:t>on Twitter and send it to tom33@gmail.com</a:t>
            </a:r>
          </a:p>
          <a:p>
            <a:pPr algn="l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4" b="0" i="0" u="sng">
                <a:solidFill>
                  <a:srgbClr val="000000"/>
                </a:solidFill>
                <a:latin typeface="DejaVu Sans"/>
              </a:rPr>
              <a:t>via Google Mail</a:t>
            </a:r>
          </a:p>
          <a:p>
            <a:pPr algn="l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4" b="1" i="0" u="none">
                <a:solidFill>
                  <a:srgbClr val="000000"/>
                </a:solidFill>
                <a:latin typeface="DejaVu Sans"/>
              </a:rPr>
              <a:t>Operation History:  </a:t>
            </a:r>
            <a:r>
              <a:rPr sz="854" b="0" i="0" u="none">
                <a:solidFill>
                  <a:srgbClr val="000000"/>
                </a:solidFill>
                <a:latin typeface="DejaVu Sans"/>
              </a:rPr>
              <a:t>1. Open Twitter  2. Click the</a:t>
            </a:r>
          </a:p>
          <a:p>
            <a:pPr algn="l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4" b="0" i="0" u="none">
                <a:solidFill>
                  <a:srgbClr val="000000"/>
                </a:solidFill>
                <a:latin typeface="DejaVu Sans"/>
              </a:rPr>
              <a:t>search icon  3. Click on the search box  4. Click on</a:t>
            </a:r>
          </a:p>
          <a:p>
            <a:pPr algn="l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4" b="0" i="0" u="none">
                <a:solidFill>
                  <a:srgbClr val="000000"/>
                </a:solidFill>
                <a:latin typeface="DejaVu Sans"/>
              </a:rPr>
              <a:t>Musk in Recent for a quick access</a:t>
            </a:r>
          </a:p>
          <a:p>
            <a:pPr algn="l"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4" b="1" i="0" u="none">
                <a:solidFill>
                  <a:srgbClr val="000000"/>
                </a:solidFill>
                <a:latin typeface="DejaVu Sans"/>
              </a:rPr>
              <a:t>Correct Action:  </a:t>
            </a:r>
            <a:r>
              <a:rPr sz="854" b="0" i="0" u="none">
                <a:solidFill>
                  <a:srgbClr val="000000"/>
                </a:solidFill>
                <a:latin typeface="DejaVu Sans"/>
              </a:rPr>
              <a:t>Click share button of first post</a:t>
            </a:r>
          </a:p>
        </p:txBody>
      </p:sp>
      <p:sp>
        <p:nvSpPr>
          <p:cNvPr id="15" name="negative-title"/>
          <p:cNvSpPr txBox="1"/>
          <p:nvPr/>
        </p:nvSpPr>
        <p:spPr>
          <a:xfrm>
            <a:off x="255196" y="2864577"/>
            <a:ext cx="2583861" cy="2232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86"/>
              </a:lnSpc>
              <a:spcBef>
                <a:spcPts val="0"/>
              </a:spcBef>
              <a:spcAft>
                <a:spcPts val="0"/>
              </a:spcAft>
            </a:pPr>
            <a:r>
              <a:rPr sz="1356" b="1" i="0" u="none">
                <a:solidFill>
                  <a:srgbClr val="000000"/>
                </a:solidFill>
                <a:latin typeface="Liberation Serif"/>
              </a:rPr>
              <a:t>Negative Operations Sampling</a:t>
            </a:r>
          </a:p>
        </p:txBody>
      </p:sp>
      <p:sp>
        <p:nvSpPr>
          <p:cNvPr id="16" name="negative-bg"/>
          <p:cNvSpPr/>
          <p:nvPr/>
        </p:nvSpPr>
        <p:spPr>
          <a:xfrm>
            <a:off x="197777" y="3075114"/>
            <a:ext cx="2692320" cy="1231321"/>
          </a:xfrm>
          <a:prstGeom prst="roundRect">
            <a:avLst/>
          </a:prstGeom>
          <a:solidFill>
            <a:srgbClr val="FCFB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negative-history-back-0"/>
          <p:cNvSpPr/>
          <p:nvPr/>
        </p:nvSpPr>
        <p:spPr>
          <a:xfrm>
            <a:off x="459353" y="3317550"/>
            <a:ext cx="497632" cy="784728"/>
          </a:xfrm>
          <a:prstGeom prst="rect">
            <a:avLst/>
          </a:prstGeom>
          <a:solidFill>
            <a:srgbClr val="FFFFFF"/>
          </a:solidFill>
          <a:ln w="8931">
            <a:solidFill>
              <a:srgbClr val="8D8D8D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negative-history-back-1"/>
          <p:cNvSpPr/>
          <p:nvPr/>
        </p:nvSpPr>
        <p:spPr>
          <a:xfrm>
            <a:off x="395554" y="3381349"/>
            <a:ext cx="497632" cy="784728"/>
          </a:xfrm>
          <a:prstGeom prst="rect">
            <a:avLst/>
          </a:prstGeom>
          <a:solidFill>
            <a:srgbClr val="FFFFFF"/>
          </a:solidFill>
          <a:ln w="8931">
            <a:solidFill>
              <a:srgbClr val="8D8D8D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negative-history-front"/>
          <p:cNvSpPr/>
          <p:nvPr/>
        </p:nvSpPr>
        <p:spPr>
          <a:xfrm>
            <a:off x="318995" y="3457908"/>
            <a:ext cx="497632" cy="784728"/>
          </a:xfrm>
          <a:prstGeom prst="rect">
            <a:avLst/>
          </a:prstGeom>
          <a:solidFill>
            <a:srgbClr val="FFFFFF"/>
          </a:solidFill>
          <a:ln w="9569">
            <a:solidFill>
              <a:srgbClr val="8D8D8D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negative-history-title"/>
          <p:cNvSpPr txBox="1"/>
          <p:nvPr/>
        </p:nvSpPr>
        <p:spPr>
          <a:xfrm>
            <a:off x="363654" y="3521707"/>
            <a:ext cx="408313" cy="2169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753"/>
              </a:lnSpc>
              <a:spcBef>
                <a:spcPts val="0"/>
              </a:spcBef>
              <a:spcAft>
                <a:spcPts val="0"/>
              </a:spcAft>
            </a:pPr>
            <a:r>
              <a:rPr sz="653" b="1" i="0" u="none">
                <a:solidFill>
                  <a:srgbClr val="000000"/>
                </a:solidFill>
                <a:latin typeface="DejaVu Sans"/>
              </a:rPr>
              <a:t>Instruction</a:t>
            </a:r>
          </a:p>
          <a:p>
            <a:pPr algn="ctr">
              <a:lnSpc>
                <a:spcPts val="753"/>
              </a:lnSpc>
              <a:spcBef>
                <a:spcPts val="0"/>
              </a:spcBef>
              <a:spcAft>
                <a:spcPts val="0"/>
              </a:spcAft>
            </a:pPr>
            <a:r>
              <a:rPr sz="653" b="1" i="0" u="none">
                <a:solidFill>
                  <a:srgbClr val="000000"/>
                </a:solidFill>
                <a:latin typeface="DejaVu Sans"/>
              </a:rPr>
              <a:t>History</a:t>
            </a:r>
          </a:p>
        </p:txBody>
      </p:sp>
      <p:sp>
        <p:nvSpPr>
          <p:cNvPr id="21" name="negative-history-thumb"/>
          <p:cNvSpPr/>
          <p:nvPr/>
        </p:nvSpPr>
        <p:spPr>
          <a:xfrm>
            <a:off x="488190" y="3757764"/>
            <a:ext cx="159242" cy="266807"/>
          </a:xfrm>
          <a:prstGeom prst="rect">
            <a:avLst/>
          </a:prstGeom>
          <a:solidFill>
            <a:srgbClr val="DCE8F1"/>
          </a:solidFill>
          <a:ln w="5103">
            <a:solidFill>
              <a:srgbClr val="AAB7C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" name="negative-history-bar-0"/>
          <p:cNvCxnSpPr/>
          <p:nvPr/>
        </p:nvCxnSpPr>
        <p:spPr>
          <a:xfrm>
            <a:off x="382794" y="4038480"/>
            <a:ext cx="370034" cy="0"/>
          </a:xfrm>
          <a:prstGeom prst="line">
            <a:avLst/>
          </a:prstGeom>
          <a:ln w="6379">
            <a:solidFill>
              <a:srgbClr val="B4B4B4"/>
            </a:solidFill>
          </a:ln>
          <a:effectLst/>
        </p:spPr>
      </p:cxnSp>
      <p:cxnSp>
        <p:nvCxnSpPr>
          <p:cNvPr id="23" name="negative-history-bar-1"/>
          <p:cNvCxnSpPr/>
          <p:nvPr/>
        </p:nvCxnSpPr>
        <p:spPr>
          <a:xfrm>
            <a:off x="382794" y="4095899"/>
            <a:ext cx="370034" cy="0"/>
          </a:xfrm>
          <a:prstGeom prst="line">
            <a:avLst/>
          </a:prstGeom>
          <a:ln w="6379">
            <a:solidFill>
              <a:srgbClr val="B4B4B4"/>
            </a:solidFill>
          </a:ln>
          <a:effectLst/>
        </p:spPr>
      </p:cxnSp>
      <p:cxnSp>
        <p:nvCxnSpPr>
          <p:cNvPr id="24" name="negative-history-bar-2"/>
          <p:cNvCxnSpPr/>
          <p:nvPr/>
        </p:nvCxnSpPr>
        <p:spPr>
          <a:xfrm>
            <a:off x="382794" y="4153318"/>
            <a:ext cx="370034" cy="0"/>
          </a:xfrm>
          <a:prstGeom prst="line">
            <a:avLst/>
          </a:prstGeom>
          <a:ln w="6379">
            <a:solidFill>
              <a:srgbClr val="B4B4B4"/>
            </a:solidFill>
          </a:ln>
          <a:effectLst/>
        </p:spPr>
      </p:cxnSp>
      <p:cxnSp>
        <p:nvCxnSpPr>
          <p:cNvPr id="25" name="negative-history-bar-3"/>
          <p:cNvCxnSpPr/>
          <p:nvPr/>
        </p:nvCxnSpPr>
        <p:spPr>
          <a:xfrm>
            <a:off x="382794" y="4210737"/>
            <a:ext cx="370034" cy="0"/>
          </a:xfrm>
          <a:prstGeom prst="line">
            <a:avLst/>
          </a:prstGeom>
          <a:ln w="6379">
            <a:solidFill>
              <a:srgbClr val="B4B4B4"/>
            </a:solidFill>
          </a:ln>
          <a:effectLst/>
        </p:spPr>
      </p:cxnSp>
      <p:sp>
        <p:nvSpPr>
          <p:cNvPr id="26" name="negative-model-glyph"/>
          <p:cNvSpPr/>
          <p:nvPr/>
        </p:nvSpPr>
        <p:spPr>
          <a:xfrm>
            <a:off x="1009620" y="3408464"/>
            <a:ext cx="200967" cy="200967"/>
          </a:xfrm>
          <a:prstGeom prst="star6">
            <a:avLst/>
          </a:prstGeom>
          <a:solidFill>
            <a:srgbClr val="6E53E8"/>
          </a:solidFill>
          <a:ln w="7655">
            <a:solidFill>
              <a:srgbClr val="5A43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negative-model-center"/>
          <p:cNvSpPr/>
          <p:nvPr/>
        </p:nvSpPr>
        <p:spPr>
          <a:xfrm>
            <a:off x="1076609" y="3475453"/>
            <a:ext cx="66989" cy="66989"/>
          </a:xfrm>
          <a:prstGeom prst="ellipse">
            <a:avLst/>
          </a:prstGeom>
          <a:solidFill>
            <a:srgbClr val="FFFFFF"/>
          </a:solidFill>
          <a:ln w="12759">
            <a:solidFill>
              <a:srgbClr val="6E53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8" name="negative-model-arrow"/>
          <p:cNvCxnSpPr/>
          <p:nvPr/>
        </p:nvCxnSpPr>
        <p:spPr>
          <a:xfrm>
            <a:off x="816627" y="3738624"/>
            <a:ext cx="510393" cy="0"/>
          </a:xfrm>
          <a:prstGeom prst="line">
            <a:avLst/>
          </a:prstGeom>
          <a:ln w="15311">
            <a:solidFill>
              <a:srgbClr val="111111"/>
            </a:solidFill>
            <a:tailEnd type="triangle" w="med" len="med"/>
          </a:ln>
          <a:effectLst/>
        </p:spPr>
      </p:cxnSp>
      <p:sp>
        <p:nvSpPr>
          <p:cNvPr id="29" name="negative-action-highlight"/>
          <p:cNvSpPr/>
          <p:nvPr/>
        </p:nvSpPr>
        <p:spPr>
          <a:xfrm>
            <a:off x="1454618" y="3292031"/>
            <a:ext cx="1097343" cy="886806"/>
          </a:xfrm>
          <a:prstGeom prst="rect">
            <a:avLst/>
          </a:prstGeom>
          <a:solidFill>
            <a:srgbClr val="FFE6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negative-action-card"/>
          <p:cNvSpPr/>
          <p:nvPr/>
        </p:nvSpPr>
        <p:spPr>
          <a:xfrm>
            <a:off x="1512037" y="3349450"/>
            <a:ext cx="982505" cy="771968"/>
          </a:xfrm>
          <a:prstGeom prst="rect">
            <a:avLst/>
          </a:prstGeom>
          <a:solidFill>
            <a:srgbClr val="FFFFFF"/>
          </a:solidFill>
          <a:ln w="8931">
            <a:solidFill>
              <a:srgbClr val="8D8D8D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negative-action"/>
          <p:cNvSpPr txBox="1"/>
          <p:nvPr/>
        </p:nvSpPr>
        <p:spPr>
          <a:xfrm>
            <a:off x="1588596" y="3419629"/>
            <a:ext cx="854907" cy="2870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4"/>
              </a:lnSpc>
              <a:spcBef>
                <a:spcPts val="0"/>
              </a:spcBef>
              <a:spcAft>
                <a:spcPts val="0"/>
              </a:spcAft>
            </a:pPr>
            <a:r>
              <a:rPr sz="879" b="1" i="0" u="none">
                <a:solidFill>
                  <a:srgbClr val="000000"/>
                </a:solidFill>
                <a:latin typeface="DejaVu Sans"/>
              </a:rPr>
              <a:t>Action: Click the</a:t>
            </a:r>
          </a:p>
          <a:p>
            <a:pPr algn="l">
              <a:lnSpc>
                <a:spcPts val="1054"/>
              </a:lnSpc>
              <a:spcBef>
                <a:spcPts val="0"/>
              </a:spcBef>
              <a:spcAft>
                <a:spcPts val="0"/>
              </a:spcAft>
            </a:pPr>
            <a:r>
              <a:rPr sz="879" b="1" i="0" u="none">
                <a:solidFill>
                  <a:srgbClr val="000000"/>
                </a:solidFill>
                <a:latin typeface="DejaVu Sans"/>
              </a:rPr>
              <a:t>“Letter” button.</a:t>
            </a:r>
          </a:p>
        </p:txBody>
      </p:sp>
      <p:sp>
        <p:nvSpPr>
          <p:cNvPr id="32" name="negative-not-equal"/>
          <p:cNvSpPr txBox="1"/>
          <p:nvPr/>
        </p:nvSpPr>
        <p:spPr>
          <a:xfrm>
            <a:off x="1754474" y="3687585"/>
            <a:ext cx="472113" cy="2232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998"/>
              </a:lnSpc>
              <a:spcBef>
                <a:spcPts val="0"/>
              </a:spcBef>
              <a:spcAft>
                <a:spcPts val="0"/>
              </a:spcAft>
            </a:pPr>
            <a:r>
              <a:rPr sz="1708" b="1" i="0" u="none">
                <a:solidFill>
                  <a:srgbClr val="D60000"/>
                </a:solidFill>
                <a:latin typeface="DejaVu Sans"/>
              </a:rPr>
              <a:t>≠</a:t>
            </a:r>
          </a:p>
        </p:txBody>
      </p:sp>
      <p:sp>
        <p:nvSpPr>
          <p:cNvPr id="33" name="negative-better"/>
          <p:cNvSpPr txBox="1"/>
          <p:nvPr/>
        </p:nvSpPr>
        <p:spPr>
          <a:xfrm>
            <a:off x="1563076" y="3891742"/>
            <a:ext cx="893186" cy="2807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954"/>
              </a:lnSpc>
              <a:spcBef>
                <a:spcPts val="0"/>
              </a:spcBef>
              <a:spcAft>
                <a:spcPts val="0"/>
              </a:spcAft>
            </a:pPr>
            <a:r>
              <a:rPr sz="828" b="0" i="0" u="none">
                <a:solidFill>
                  <a:srgbClr val="4B922E"/>
                </a:solidFill>
                <a:latin typeface="DejaVu Sans"/>
              </a:rPr>
              <a:t>Click the stop</a:t>
            </a:r>
          </a:p>
          <a:p>
            <a:pPr algn="ctr">
              <a:lnSpc>
                <a:spcPts val="954"/>
              </a:lnSpc>
              <a:spcBef>
                <a:spcPts val="0"/>
              </a:spcBef>
              <a:spcAft>
                <a:spcPts val="0"/>
              </a:spcAft>
            </a:pPr>
            <a:r>
              <a:rPr sz="828" b="0" i="0" u="none">
                <a:solidFill>
                  <a:srgbClr val="4B922E"/>
                </a:solidFill>
                <a:latin typeface="DejaVu Sans"/>
              </a:rPr>
              <a:t>recording button.</a:t>
            </a:r>
          </a:p>
        </p:txBody>
      </p:sp>
      <p:sp>
        <p:nvSpPr>
          <p:cNvPr id="34" name="negative-ellipsis"/>
          <p:cNvSpPr txBox="1"/>
          <p:nvPr/>
        </p:nvSpPr>
        <p:spPr>
          <a:xfrm>
            <a:off x="2520062" y="3725864"/>
            <a:ext cx="223296" cy="1594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7"/>
              </a:lnSpc>
              <a:spcBef>
                <a:spcPts val="0"/>
              </a:spcBef>
              <a:spcAft>
                <a:spcPts val="0"/>
              </a:spcAft>
            </a:pPr>
            <a:r>
              <a:rPr sz="904" b="1" i="0" u="none">
                <a:solidFill>
                  <a:srgbClr val="000000"/>
                </a:solidFill>
                <a:latin typeface="DejaVu Sans"/>
              </a:rPr>
              <a:t>•••</a:t>
            </a:r>
          </a:p>
        </p:txBody>
      </p:sp>
      <p:sp>
        <p:nvSpPr>
          <p:cNvPr id="35" name="filter-title"/>
          <p:cNvSpPr txBox="1"/>
          <p:nvPr/>
        </p:nvSpPr>
        <p:spPr>
          <a:xfrm>
            <a:off x="261576" y="4325576"/>
            <a:ext cx="1786373" cy="2169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86"/>
              </a:lnSpc>
              <a:spcBef>
                <a:spcPts val="0"/>
              </a:spcBef>
              <a:spcAft>
                <a:spcPts val="0"/>
              </a:spcAft>
            </a:pPr>
            <a:r>
              <a:rPr sz="1356" b="1" i="0" u="none">
                <a:solidFill>
                  <a:srgbClr val="000000"/>
                </a:solidFill>
                <a:latin typeface="Liberation Serif"/>
              </a:rPr>
              <a:t>Data Filtering</a:t>
            </a:r>
          </a:p>
        </p:txBody>
      </p:sp>
      <p:sp>
        <p:nvSpPr>
          <p:cNvPr id="36" name="filter-bg"/>
          <p:cNvSpPr/>
          <p:nvPr/>
        </p:nvSpPr>
        <p:spPr>
          <a:xfrm>
            <a:off x="197777" y="4491453"/>
            <a:ext cx="2692320" cy="1173902"/>
          </a:xfrm>
          <a:prstGeom prst="roundRect">
            <a:avLst/>
          </a:prstGeom>
          <a:solidFill>
            <a:srgbClr val="FCFB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filter-history-back-0"/>
          <p:cNvSpPr/>
          <p:nvPr/>
        </p:nvSpPr>
        <p:spPr>
          <a:xfrm>
            <a:off x="382794" y="4695610"/>
            <a:ext cx="676269" cy="823007"/>
          </a:xfrm>
          <a:prstGeom prst="rect">
            <a:avLst/>
          </a:prstGeom>
          <a:solidFill>
            <a:srgbClr val="FFFFFF"/>
          </a:solidFill>
          <a:ln w="8931">
            <a:solidFill>
              <a:srgbClr val="8D8D8D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filter-history-back-1"/>
          <p:cNvSpPr/>
          <p:nvPr/>
        </p:nvSpPr>
        <p:spPr>
          <a:xfrm>
            <a:off x="318995" y="4759409"/>
            <a:ext cx="676269" cy="823007"/>
          </a:xfrm>
          <a:prstGeom prst="rect">
            <a:avLst/>
          </a:prstGeom>
          <a:solidFill>
            <a:srgbClr val="FFFFFF"/>
          </a:solidFill>
          <a:ln w="8931">
            <a:solidFill>
              <a:srgbClr val="8D8D8D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filter-history-front"/>
          <p:cNvSpPr/>
          <p:nvPr/>
        </p:nvSpPr>
        <p:spPr>
          <a:xfrm>
            <a:off x="242436" y="4835968"/>
            <a:ext cx="676269" cy="823007"/>
          </a:xfrm>
          <a:prstGeom prst="rect">
            <a:avLst/>
          </a:prstGeom>
          <a:solidFill>
            <a:srgbClr val="FFFFFF"/>
          </a:solidFill>
          <a:ln w="9569">
            <a:solidFill>
              <a:srgbClr val="8D8D8D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filter-history-title"/>
          <p:cNvSpPr txBox="1"/>
          <p:nvPr/>
        </p:nvSpPr>
        <p:spPr>
          <a:xfrm>
            <a:off x="287095" y="4899767"/>
            <a:ext cx="586951" cy="2169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753"/>
              </a:lnSpc>
              <a:spcBef>
                <a:spcPts val="0"/>
              </a:spcBef>
              <a:spcAft>
                <a:spcPts val="0"/>
              </a:spcAft>
            </a:pPr>
            <a:r>
              <a:rPr sz="653" b="1" i="0" u="none">
                <a:solidFill>
                  <a:srgbClr val="000000"/>
                </a:solidFill>
                <a:latin typeface="DejaVu Sans"/>
              </a:rPr>
              <a:t>Instruction</a:t>
            </a:r>
          </a:p>
          <a:p>
            <a:pPr algn="ctr">
              <a:lnSpc>
                <a:spcPts val="753"/>
              </a:lnSpc>
              <a:spcBef>
                <a:spcPts val="0"/>
              </a:spcBef>
              <a:spcAft>
                <a:spcPts val="0"/>
              </a:spcAft>
            </a:pPr>
            <a:r>
              <a:rPr sz="653" b="1" i="0" u="none">
                <a:solidFill>
                  <a:srgbClr val="000000"/>
                </a:solidFill>
                <a:latin typeface="DejaVu Sans"/>
              </a:rPr>
              <a:t>History</a:t>
            </a:r>
          </a:p>
        </p:txBody>
      </p:sp>
      <p:sp>
        <p:nvSpPr>
          <p:cNvPr id="41" name="filter-history-thumb"/>
          <p:cNvSpPr/>
          <p:nvPr/>
        </p:nvSpPr>
        <p:spPr>
          <a:xfrm>
            <a:off x="472368" y="5135824"/>
            <a:ext cx="216406" cy="279822"/>
          </a:xfrm>
          <a:prstGeom prst="rect">
            <a:avLst/>
          </a:prstGeom>
          <a:solidFill>
            <a:srgbClr val="DCE8F1"/>
          </a:solidFill>
          <a:ln w="5103">
            <a:solidFill>
              <a:srgbClr val="AAB7C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2" name="filter-history-bar-0"/>
          <p:cNvCxnSpPr/>
          <p:nvPr/>
        </p:nvCxnSpPr>
        <p:spPr>
          <a:xfrm>
            <a:off x="306235" y="5416539"/>
            <a:ext cx="548672" cy="0"/>
          </a:xfrm>
          <a:prstGeom prst="line">
            <a:avLst/>
          </a:prstGeom>
          <a:ln w="6379">
            <a:solidFill>
              <a:srgbClr val="B4B4B4"/>
            </a:solidFill>
          </a:ln>
          <a:effectLst/>
        </p:spPr>
      </p:cxnSp>
      <p:cxnSp>
        <p:nvCxnSpPr>
          <p:cNvPr id="43" name="filter-history-bar-1"/>
          <p:cNvCxnSpPr/>
          <p:nvPr/>
        </p:nvCxnSpPr>
        <p:spPr>
          <a:xfrm>
            <a:off x="306235" y="5473959"/>
            <a:ext cx="548672" cy="0"/>
          </a:xfrm>
          <a:prstGeom prst="line">
            <a:avLst/>
          </a:prstGeom>
          <a:ln w="6379">
            <a:solidFill>
              <a:srgbClr val="B4B4B4"/>
            </a:solidFill>
          </a:ln>
          <a:effectLst/>
        </p:spPr>
      </p:cxnSp>
      <p:cxnSp>
        <p:nvCxnSpPr>
          <p:cNvPr id="44" name="filter-history-bar-2"/>
          <p:cNvCxnSpPr/>
          <p:nvPr/>
        </p:nvCxnSpPr>
        <p:spPr>
          <a:xfrm>
            <a:off x="306235" y="5531378"/>
            <a:ext cx="548672" cy="0"/>
          </a:xfrm>
          <a:prstGeom prst="line">
            <a:avLst/>
          </a:prstGeom>
          <a:ln w="6379">
            <a:solidFill>
              <a:srgbClr val="B4B4B4"/>
            </a:solidFill>
          </a:ln>
          <a:effectLst/>
        </p:spPr>
      </p:cxnSp>
      <p:cxnSp>
        <p:nvCxnSpPr>
          <p:cNvPr id="45" name="filter-history-bar-3"/>
          <p:cNvCxnSpPr/>
          <p:nvPr/>
        </p:nvCxnSpPr>
        <p:spPr>
          <a:xfrm>
            <a:off x="306235" y="5588797"/>
            <a:ext cx="548672" cy="0"/>
          </a:xfrm>
          <a:prstGeom prst="line">
            <a:avLst/>
          </a:prstGeom>
          <a:ln w="6379">
            <a:solidFill>
              <a:srgbClr val="B4B4B4"/>
            </a:solidFill>
          </a:ln>
          <a:effectLst/>
        </p:spPr>
      </p:cxnSp>
      <p:sp>
        <p:nvSpPr>
          <p:cNvPr id="46" name="filter-history-mini"/>
          <p:cNvSpPr txBox="1"/>
          <p:nvPr/>
        </p:nvSpPr>
        <p:spPr>
          <a:xfrm>
            <a:off x="401934" y="5295321"/>
            <a:ext cx="478492" cy="331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703"/>
              </a:lnSpc>
              <a:spcBef>
                <a:spcPts val="0"/>
              </a:spcBef>
              <a:spcAft>
                <a:spcPts val="0"/>
              </a:spcAft>
            </a:pPr>
            <a:r>
              <a:rPr sz="602" b="1" i="0" u="none">
                <a:solidFill>
                  <a:srgbClr val="D60000"/>
                </a:solidFill>
                <a:latin typeface="DejaVu Sans"/>
              </a:rPr>
              <a:t>Click the</a:t>
            </a:r>
          </a:p>
          <a:p>
            <a:pPr algn="ctr">
              <a:lnSpc>
                <a:spcPts val="703"/>
              </a:lnSpc>
              <a:spcBef>
                <a:spcPts val="0"/>
              </a:spcBef>
              <a:spcAft>
                <a:spcPts val="0"/>
              </a:spcAft>
            </a:pPr>
            <a:r>
              <a:rPr sz="602" b="1" i="0" u="none">
                <a:solidFill>
                  <a:srgbClr val="D60000"/>
                </a:solidFill>
                <a:latin typeface="DejaVu Sans"/>
              </a:rPr>
              <a:t>“Letter”</a:t>
            </a:r>
          </a:p>
          <a:p>
            <a:pPr algn="ctr">
              <a:lnSpc>
                <a:spcPts val="703"/>
              </a:lnSpc>
              <a:spcBef>
                <a:spcPts val="0"/>
              </a:spcBef>
              <a:spcAft>
                <a:spcPts val="0"/>
              </a:spcAft>
            </a:pPr>
            <a:r>
              <a:rPr sz="602" b="1" i="0" u="none">
                <a:solidFill>
                  <a:srgbClr val="D60000"/>
                </a:solidFill>
                <a:latin typeface="DejaVu Sans"/>
              </a:rPr>
              <a:t>button.</a:t>
            </a:r>
          </a:p>
          <a:p>
            <a:pPr algn="ctr">
              <a:lnSpc>
                <a:spcPts val="703"/>
              </a:lnSpc>
              <a:spcBef>
                <a:spcPts val="0"/>
              </a:spcBef>
              <a:spcAft>
                <a:spcPts val="0"/>
              </a:spcAft>
            </a:pPr>
            <a:r>
              <a:rPr sz="602" b="1" i="0" u="none">
                <a:solidFill>
                  <a:srgbClr val="D60000"/>
                </a:solidFill>
                <a:latin typeface="DejaVu Sans"/>
              </a:rPr>
              <a:t>False</a:t>
            </a:r>
          </a:p>
        </p:txBody>
      </p:sp>
      <p:sp>
        <p:nvSpPr>
          <p:cNvPr id="47" name="filter-model-loop-0"/>
          <p:cNvSpPr/>
          <p:nvPr/>
        </p:nvSpPr>
        <p:spPr>
          <a:xfrm>
            <a:off x="1098619" y="4650951"/>
            <a:ext cx="114838" cy="114838"/>
          </a:xfrm>
          <a:prstGeom prst="ellipse">
            <a:avLst/>
          </a:prstGeom>
          <a:noFill/>
          <a:ln w="13206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filter-model-loop-1"/>
          <p:cNvSpPr/>
          <p:nvPr/>
        </p:nvSpPr>
        <p:spPr>
          <a:xfrm>
            <a:off x="1075652" y="4690732"/>
            <a:ext cx="114838" cy="114838"/>
          </a:xfrm>
          <a:prstGeom prst="ellipse">
            <a:avLst/>
          </a:prstGeom>
          <a:noFill/>
          <a:ln w="13206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filter-model-loop-2"/>
          <p:cNvSpPr/>
          <p:nvPr/>
        </p:nvSpPr>
        <p:spPr>
          <a:xfrm>
            <a:off x="1029716" y="4690732"/>
            <a:ext cx="114838" cy="114838"/>
          </a:xfrm>
          <a:prstGeom prst="ellipse">
            <a:avLst/>
          </a:prstGeom>
          <a:noFill/>
          <a:ln w="13206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filter-model-loop-3"/>
          <p:cNvSpPr/>
          <p:nvPr/>
        </p:nvSpPr>
        <p:spPr>
          <a:xfrm>
            <a:off x="1006749" y="4650951"/>
            <a:ext cx="114838" cy="114838"/>
          </a:xfrm>
          <a:prstGeom prst="ellipse">
            <a:avLst/>
          </a:prstGeom>
          <a:noFill/>
          <a:ln w="13206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filter-model-loop-4"/>
          <p:cNvSpPr/>
          <p:nvPr/>
        </p:nvSpPr>
        <p:spPr>
          <a:xfrm>
            <a:off x="1029716" y="4611170"/>
            <a:ext cx="114838" cy="114838"/>
          </a:xfrm>
          <a:prstGeom prst="ellipse">
            <a:avLst/>
          </a:prstGeom>
          <a:noFill/>
          <a:ln w="13206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filter-model-loop-5"/>
          <p:cNvSpPr/>
          <p:nvPr/>
        </p:nvSpPr>
        <p:spPr>
          <a:xfrm>
            <a:off x="1075652" y="4611170"/>
            <a:ext cx="114838" cy="114838"/>
          </a:xfrm>
          <a:prstGeom prst="ellipse">
            <a:avLst/>
          </a:prstGeom>
          <a:noFill/>
          <a:ln w="13206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3" name="filter-model-arrow"/>
          <p:cNvCxnSpPr/>
          <p:nvPr/>
        </p:nvCxnSpPr>
        <p:spPr>
          <a:xfrm>
            <a:off x="918706" y="4887007"/>
            <a:ext cx="414694" cy="0"/>
          </a:xfrm>
          <a:prstGeom prst="line">
            <a:avLst/>
          </a:prstGeom>
          <a:ln w="15311">
            <a:solidFill>
              <a:srgbClr val="111111"/>
            </a:solidFill>
            <a:tailEnd type="triangle" w="med" len="med"/>
          </a:ln>
          <a:effectLst/>
        </p:spPr>
      </p:cxnSp>
      <p:sp>
        <p:nvSpPr>
          <p:cNvPr id="54" name="filter-decision-highlight"/>
          <p:cNvSpPr/>
          <p:nvPr/>
        </p:nvSpPr>
        <p:spPr>
          <a:xfrm>
            <a:off x="1371679" y="4542492"/>
            <a:ext cx="1129243" cy="644370"/>
          </a:xfrm>
          <a:prstGeom prst="rect">
            <a:avLst/>
          </a:prstGeom>
          <a:solidFill>
            <a:srgbClr val="FFE6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filter-decision-card"/>
          <p:cNvSpPr/>
          <p:nvPr/>
        </p:nvSpPr>
        <p:spPr>
          <a:xfrm>
            <a:off x="1429098" y="4599911"/>
            <a:ext cx="1014404" cy="529532"/>
          </a:xfrm>
          <a:prstGeom prst="rect">
            <a:avLst/>
          </a:prstGeom>
          <a:solidFill>
            <a:srgbClr val="FFFFFF"/>
          </a:solidFill>
          <a:ln w="8931">
            <a:solidFill>
              <a:srgbClr val="8D8D8D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filter-decision"/>
          <p:cNvSpPr txBox="1"/>
          <p:nvPr/>
        </p:nvSpPr>
        <p:spPr>
          <a:xfrm>
            <a:off x="1480138" y="4714750"/>
            <a:ext cx="925086" cy="3700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778" b="1" i="0" u="none">
                <a:solidFill>
                  <a:srgbClr val="D60000"/>
                </a:solidFill>
                <a:latin typeface="DejaVu Sans"/>
              </a:rPr>
              <a:t>Click the “Letter”</a:t>
            </a:r>
          </a:p>
          <a:p>
            <a:pPr algn="ctr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778" b="1" i="0" u="none">
                <a:solidFill>
                  <a:srgbClr val="D60000"/>
                </a:solidFill>
                <a:latin typeface="DejaVu Sans"/>
              </a:rPr>
              <a:t>button is False</a:t>
            </a:r>
          </a:p>
        </p:txBody>
      </p:sp>
      <p:cxnSp>
        <p:nvCxnSpPr>
          <p:cNvPr id="57" name="filter-down"/>
          <p:cNvCxnSpPr/>
          <p:nvPr/>
        </p:nvCxnSpPr>
        <p:spPr>
          <a:xfrm>
            <a:off x="1856552" y="5180483"/>
            <a:ext cx="0" cy="108458"/>
          </a:xfrm>
          <a:prstGeom prst="line">
            <a:avLst/>
          </a:prstGeom>
          <a:ln w="12759">
            <a:solidFill>
              <a:srgbClr val="927600"/>
            </a:solidFill>
            <a:tailEnd type="triangle" w="med" len="med"/>
          </a:ln>
          <a:effectLst/>
        </p:spPr>
      </p:cxnSp>
      <p:sp>
        <p:nvSpPr>
          <p:cNvPr id="58" name="filter-output-frame"/>
          <p:cNvSpPr/>
          <p:nvPr/>
        </p:nvSpPr>
        <p:spPr>
          <a:xfrm>
            <a:off x="1224941" y="5231522"/>
            <a:ext cx="1677915" cy="421073"/>
          </a:xfrm>
          <a:prstGeom prst="roundRect">
            <a:avLst/>
          </a:prstGeom>
          <a:solidFill>
            <a:srgbClr val="FFFFFF"/>
          </a:solidFill>
          <a:ln w="8931">
            <a:solidFill>
              <a:srgbClr val="1736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filter-select-pill"/>
          <p:cNvSpPr/>
          <p:nvPr/>
        </p:nvSpPr>
        <p:spPr>
          <a:xfrm>
            <a:off x="2137268" y="5142203"/>
            <a:ext cx="823007" cy="178637"/>
          </a:xfrm>
          <a:prstGeom prst="roundRect">
            <a:avLst/>
          </a:prstGeom>
          <a:solidFill>
            <a:srgbClr val="FFE699"/>
          </a:solidFill>
          <a:ln w="7655">
            <a:solidFill>
              <a:srgbClr val="D59C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filter-select"/>
          <p:cNvSpPr txBox="1"/>
          <p:nvPr/>
        </p:nvSpPr>
        <p:spPr>
          <a:xfrm>
            <a:off x="2226587" y="5154963"/>
            <a:ext cx="689029" cy="1467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999"/>
              </a:lnSpc>
              <a:spcBef>
                <a:spcPts val="0"/>
              </a:spcBef>
              <a:spcAft>
                <a:spcPts val="0"/>
              </a:spcAft>
            </a:pPr>
            <a:r>
              <a:rPr sz="854" b="0" i="0" u="none">
                <a:solidFill>
                  <a:srgbClr val="000000"/>
                </a:solidFill>
                <a:latin typeface="Liberation Serif"/>
              </a:rPr>
              <a:t>☺  Select!</a:t>
            </a:r>
          </a:p>
        </p:txBody>
      </p:sp>
      <p:sp>
        <p:nvSpPr>
          <p:cNvPr id="61" name="filter-schema"/>
          <p:cNvSpPr/>
          <p:nvPr/>
        </p:nvSpPr>
        <p:spPr>
          <a:xfrm>
            <a:off x="1295120" y="5339981"/>
            <a:ext cx="1358919" cy="274335"/>
          </a:xfrm>
          <a:prstGeom prst="rect">
            <a:avLst/>
          </a:prstGeom>
          <a:solidFill>
            <a:srgbClr val="FFFFFF"/>
          </a:solidFill>
          <a:ln w="7655">
            <a:solidFill>
              <a:srgbClr val="F2B30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filter-schema-text"/>
          <p:cNvSpPr txBox="1"/>
          <p:nvPr/>
        </p:nvSpPr>
        <p:spPr>
          <a:xfrm>
            <a:off x="1333400" y="5371880"/>
            <a:ext cx="1282361" cy="2232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03"/>
              </a:lnSpc>
              <a:spcBef>
                <a:spcPts val="0"/>
              </a:spcBef>
              <a:spcAft>
                <a:spcPts val="0"/>
              </a:spcAft>
            </a:pPr>
            <a:r>
              <a:rPr sz="678" b="0" i="0" u="none">
                <a:solidFill>
                  <a:srgbClr val="000000"/>
                </a:solidFill>
                <a:latin typeface="DejaVu Sans"/>
              </a:rPr>
              <a:t>&lt;score&gt;...&lt;/score&gt;</a:t>
            </a:r>
          </a:p>
          <a:p>
            <a:pPr algn="l">
              <a:lnSpc>
                <a:spcPts val="803"/>
              </a:lnSpc>
              <a:spcBef>
                <a:spcPts val="0"/>
              </a:spcBef>
              <a:spcAft>
                <a:spcPts val="0"/>
              </a:spcAft>
            </a:pPr>
            <a:r>
              <a:rPr sz="678" b="0" i="0" u="none">
                <a:solidFill>
                  <a:srgbClr val="000000"/>
                </a:solidFill>
                <a:latin typeface="DejaVu Sans"/>
              </a:rPr>
              <a:t>&lt;suggestion&gt;...&lt;/suggestion&gt;</a:t>
            </a:r>
          </a:p>
        </p:txBody>
      </p:sp>
      <p:sp>
        <p:nvSpPr>
          <p:cNvPr id="63" name="filter-dots"/>
          <p:cNvSpPr txBox="1"/>
          <p:nvPr/>
        </p:nvSpPr>
        <p:spPr>
          <a:xfrm>
            <a:off x="2590241" y="5371880"/>
            <a:ext cx="178637" cy="1467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 u="none">
                <a:solidFill>
                  <a:srgbClr val="000000"/>
                </a:solidFill>
                <a:latin typeface="DejaVu Sans"/>
              </a:rPr>
              <a:t>•••</a:t>
            </a:r>
          </a:p>
        </p:txBody>
      </p:sp>
      <p:sp>
        <p:nvSpPr>
          <p:cNvPr id="64" name="critiques-title"/>
          <p:cNvSpPr txBox="1"/>
          <p:nvPr/>
        </p:nvSpPr>
        <p:spPr>
          <a:xfrm>
            <a:off x="3662065" y="542291"/>
            <a:ext cx="2296766" cy="2360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557" b="1" i="0" u="none">
                <a:solidFill>
                  <a:srgbClr val="000000"/>
                </a:solidFill>
                <a:latin typeface="Liberation Serif"/>
              </a:rPr>
              <a:t>GUI Critiques Generation</a:t>
            </a:r>
          </a:p>
        </p:txBody>
      </p:sp>
      <p:sp>
        <p:nvSpPr>
          <p:cNvPr id="65" name="cot-bg"/>
          <p:cNvSpPr/>
          <p:nvPr/>
        </p:nvSpPr>
        <p:spPr>
          <a:xfrm>
            <a:off x="3024075" y="765588"/>
            <a:ext cx="3477048" cy="1850172"/>
          </a:xfrm>
          <a:prstGeom prst="roundRect">
            <a:avLst/>
          </a:prstGeom>
          <a:solidFill>
            <a:srgbClr val="F0F8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cot-title"/>
          <p:cNvSpPr txBox="1"/>
          <p:nvPr/>
        </p:nvSpPr>
        <p:spPr>
          <a:xfrm>
            <a:off x="3138913" y="823007"/>
            <a:ext cx="2232966" cy="22967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86"/>
              </a:lnSpc>
              <a:spcBef>
                <a:spcPts val="0"/>
              </a:spcBef>
              <a:spcAft>
                <a:spcPts val="0"/>
              </a:spcAft>
            </a:pPr>
            <a:r>
              <a:rPr sz="1356" b="1" i="0" u="none">
                <a:solidFill>
                  <a:srgbClr val="000000"/>
                </a:solidFill>
                <a:latin typeface="Liberation Serif"/>
              </a:rPr>
              <a:t>Progressive CoT Paradigm</a:t>
            </a:r>
          </a:p>
        </p:txBody>
      </p:sp>
      <p:sp>
        <p:nvSpPr>
          <p:cNvPr id="67" name="cot-prompt-frame"/>
          <p:cNvSpPr/>
          <p:nvPr/>
        </p:nvSpPr>
        <p:spPr>
          <a:xfrm>
            <a:off x="3126153" y="1059064"/>
            <a:ext cx="3272891" cy="1333400"/>
          </a:xfrm>
          <a:prstGeom prst="roundRect">
            <a:avLst/>
          </a:prstGeom>
          <a:solidFill>
            <a:srgbClr val="FFFFFF"/>
          </a:solidFill>
          <a:ln w="13397">
            <a:solidFill>
              <a:srgbClr val="17365D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cot-prompt-copy"/>
          <p:cNvSpPr txBox="1"/>
          <p:nvPr/>
        </p:nvSpPr>
        <p:spPr>
          <a:xfrm>
            <a:off x="3196332" y="1129243"/>
            <a:ext cx="3126153" cy="12121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768"/>
              </a:lnSpc>
              <a:spcBef>
                <a:spcPts val="0"/>
              </a:spcBef>
              <a:spcAft>
                <a:spcPts val="0"/>
              </a:spcAft>
            </a:pPr>
            <a:r>
              <a:rPr sz="643" b="0" i="0" u="none">
                <a:solidFill>
                  <a:srgbClr val="000000"/>
                </a:solidFill>
                <a:latin typeface="DejaVu Sans"/>
              </a:rPr>
              <a:t>There is a multimodal agent that can perform a series of actions on a smart</a:t>
            </a:r>
          </a:p>
          <a:p>
            <a:pPr algn="l">
              <a:lnSpc>
                <a:spcPts val="768"/>
              </a:lnSpc>
              <a:spcBef>
                <a:spcPts val="0"/>
              </a:spcBef>
              <a:spcAft>
                <a:spcPts val="0"/>
              </a:spcAft>
            </a:pPr>
            <a:r>
              <a:rPr sz="643" b="0" i="0" u="none">
                <a:solidFill>
                  <a:srgbClr val="000000"/>
                </a:solidFill>
                <a:latin typeface="DejaVu Sans"/>
              </a:rPr>
              <a:t>device (phone or PC) ... In some steps, the action decided by the mobile agent may</a:t>
            </a:r>
          </a:p>
          <a:p>
            <a:pPr algn="l">
              <a:lnSpc>
                <a:spcPts val="768"/>
              </a:lnSpc>
              <a:spcBef>
                <a:spcPts val="0"/>
              </a:spcBef>
              <a:spcAft>
                <a:spcPts val="0"/>
              </a:spcAft>
            </a:pPr>
            <a:r>
              <a:rPr sz="643" b="0" i="0" u="none">
                <a:solidFill>
                  <a:srgbClr val="000000"/>
                </a:solidFill>
                <a:latin typeface="DejaVu Sans"/>
              </a:rPr>
              <a:t>be wrong. Now, you are a critic model used to evaluate the agent's decision. I will</a:t>
            </a:r>
          </a:p>
          <a:p>
            <a:pPr algn="l">
              <a:lnSpc>
                <a:spcPts val="768"/>
              </a:lnSpc>
              <a:spcBef>
                <a:spcPts val="0"/>
              </a:spcBef>
              <a:spcAft>
                <a:spcPts val="0"/>
              </a:spcAft>
            </a:pPr>
            <a:r>
              <a:rPr sz="643" b="0" i="0" u="none">
                <a:solidFill>
                  <a:srgbClr val="000000"/>
                </a:solidFill>
                <a:latin typeface="DejaVu Sans"/>
              </a:rPr>
              <a:t>provide you with the following information:  1. User instruction.  2. History: The</a:t>
            </a:r>
          </a:p>
          <a:p>
            <a:pPr algn="l">
              <a:lnSpc>
                <a:spcPts val="768"/>
              </a:lnSpc>
              <a:spcBef>
                <a:spcPts val="0"/>
              </a:spcBef>
              <a:spcAft>
                <a:spcPts val="0"/>
              </a:spcAft>
            </a:pPr>
            <a:r>
              <a:rPr sz="643" b="0" i="0" u="none">
                <a:solidFill>
                  <a:srgbClr val="000000"/>
                </a:solidFill>
                <a:latin typeface="DejaVu Sans"/>
              </a:rPr>
              <a:t>action history of the agent in the previous steps.  3. Decision: The decision of the</a:t>
            </a:r>
          </a:p>
          <a:p>
            <a:pPr algn="l">
              <a:lnSpc>
                <a:spcPts val="768"/>
              </a:lnSpc>
              <a:spcBef>
                <a:spcPts val="0"/>
              </a:spcBef>
              <a:spcAft>
                <a:spcPts val="0"/>
              </a:spcAft>
            </a:pPr>
            <a:r>
              <a:rPr sz="643" b="0" i="0" u="none">
                <a:solidFill>
                  <a:srgbClr val="000000"/>
                </a:solidFill>
                <a:latin typeface="DejaVu Sans"/>
              </a:rPr>
              <a:t>agent for this step.  4. Image: The screenshot before executing this action.</a:t>
            </a:r>
          </a:p>
          <a:p>
            <a:pPr algn="l">
              <a:lnSpc>
                <a:spcPts val="768"/>
              </a:lnSpc>
              <a:spcBef>
                <a:spcPts val="0"/>
              </a:spcBef>
              <a:spcAft>
                <a:spcPts val="0"/>
              </a:spcAft>
            </a:pPr>
            <a:r>
              <a:rPr sz="643" b="1" i="0" u="none">
                <a:solidFill>
                  <a:srgbClr val="D60000"/>
                </a:solidFill>
                <a:latin typeface="DejaVu Sans"/>
              </a:rPr>
              <a:t>&lt;thinking&gt; **Observation**: Describe the screenshot.</a:t>
            </a:r>
          </a:p>
          <a:p>
            <a:pPr algn="l">
              <a:lnSpc>
                <a:spcPts val="768"/>
              </a:lnSpc>
              <a:spcBef>
                <a:spcPts val="0"/>
              </a:spcBef>
              <a:spcAft>
                <a:spcPts val="0"/>
              </a:spcAft>
            </a:pPr>
            <a:r>
              <a:rPr sz="643" b="0" i="0" u="none">
                <a:solidFill>
                  <a:srgbClr val="D60000"/>
                </a:solidFill>
                <a:latin typeface="DejaVu Sans"/>
              </a:rPr>
              <a:t>**Possible Result**: Analysis from the possible result perspective.</a:t>
            </a:r>
          </a:p>
          <a:p>
            <a:pPr algn="l">
              <a:lnSpc>
                <a:spcPts val="768"/>
              </a:lnSpc>
              <a:spcBef>
                <a:spcPts val="0"/>
              </a:spcBef>
              <a:spcAft>
                <a:spcPts val="0"/>
              </a:spcAft>
            </a:pPr>
            <a:r>
              <a:rPr sz="643" b="0" i="0" u="none">
                <a:solidFill>
                  <a:srgbClr val="D60000"/>
                </a:solidFill>
                <a:latin typeface="DejaVu Sans"/>
              </a:rPr>
              <a:t>**Critique**: Criticize why the decision is correct or incorrect. &lt;/thinking&gt;</a:t>
            </a:r>
          </a:p>
          <a:p>
            <a:pPr algn="l">
              <a:lnSpc>
                <a:spcPts val="768"/>
              </a:lnSpc>
              <a:spcBef>
                <a:spcPts val="0"/>
              </a:spcBef>
              <a:spcAft>
                <a:spcPts val="0"/>
              </a:spcAft>
            </a:pPr>
            <a:r>
              <a:rPr sz="643" b="1" i="0" u="none">
                <a:solidFill>
                  <a:srgbClr val="D60000"/>
                </a:solidFill>
                <a:latin typeface="DejaVu Sans"/>
              </a:rPr>
              <a:t>&lt;score&gt; Correct or Incorrect &lt;/score&gt;</a:t>
            </a:r>
          </a:p>
          <a:p>
            <a:pPr algn="l">
              <a:lnSpc>
                <a:spcPts val="768"/>
              </a:lnSpc>
              <a:spcBef>
                <a:spcPts val="0"/>
              </a:spcBef>
              <a:spcAft>
                <a:spcPts val="0"/>
              </a:spcAft>
            </a:pPr>
            <a:r>
              <a:rPr sz="643" b="0" i="0" u="none">
                <a:solidFill>
                  <a:srgbClr val="D60000"/>
                </a:solidFill>
                <a:latin typeface="DejaVu Sans"/>
              </a:rPr>
              <a:t>&lt;suggestion&gt; If correct, provide a brief summary; if incorrect, suggest a better</a:t>
            </a:r>
          </a:p>
          <a:p>
            <a:pPr algn="l">
              <a:lnSpc>
                <a:spcPts val="768"/>
              </a:lnSpc>
              <a:spcBef>
                <a:spcPts val="0"/>
              </a:spcBef>
              <a:spcAft>
                <a:spcPts val="0"/>
              </a:spcAft>
            </a:pPr>
            <a:r>
              <a:rPr sz="643" b="0" i="0" u="none">
                <a:solidFill>
                  <a:srgbClr val="D60000"/>
                </a:solidFill>
                <a:latin typeface="DejaVu Sans"/>
              </a:rPr>
              <a:t>decision briefly. &lt;/suggestion&gt;</a:t>
            </a:r>
          </a:p>
        </p:txBody>
      </p:sp>
      <p:sp>
        <p:nvSpPr>
          <p:cNvPr id="69" name="prompt-label"/>
          <p:cNvSpPr txBox="1"/>
          <p:nvPr/>
        </p:nvSpPr>
        <p:spPr>
          <a:xfrm>
            <a:off x="4957186" y="2437123"/>
            <a:ext cx="504012" cy="1850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05" b="0" i="0" u="none">
                <a:solidFill>
                  <a:srgbClr val="000000"/>
                </a:solidFill>
                <a:latin typeface="Liberation Serif"/>
              </a:rPr>
              <a:t>Prompt</a:t>
            </a:r>
          </a:p>
        </p:txBody>
      </p:sp>
      <p:cxnSp>
        <p:nvCxnSpPr>
          <p:cNvPr id="70" name="prompt-down-arrow"/>
          <p:cNvCxnSpPr/>
          <p:nvPr/>
        </p:nvCxnSpPr>
        <p:spPr>
          <a:xfrm>
            <a:off x="5524998" y="2379704"/>
            <a:ext cx="0" cy="421074"/>
          </a:xfrm>
          <a:prstGeom prst="line">
            <a:avLst/>
          </a:prstGeom>
          <a:ln w="14035">
            <a:solidFill>
              <a:srgbClr val="111111"/>
            </a:solidFill>
            <a:tailEnd type="triangle" w="med" len="med"/>
          </a:ln>
          <a:effectLst/>
        </p:spPr>
      </p:cxnSp>
      <p:sp>
        <p:nvSpPr>
          <p:cNvPr id="71" name="prompt-model-star-glyph"/>
          <p:cNvSpPr/>
          <p:nvPr/>
        </p:nvSpPr>
        <p:spPr>
          <a:xfrm>
            <a:off x="5622291" y="2483378"/>
            <a:ext cx="200967" cy="200967"/>
          </a:xfrm>
          <a:prstGeom prst="star6">
            <a:avLst/>
          </a:prstGeom>
          <a:solidFill>
            <a:srgbClr val="6E53E8"/>
          </a:solidFill>
          <a:ln w="7655">
            <a:solidFill>
              <a:srgbClr val="5A43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prompt-model-star-center"/>
          <p:cNvSpPr/>
          <p:nvPr/>
        </p:nvSpPr>
        <p:spPr>
          <a:xfrm>
            <a:off x="5689280" y="2550367"/>
            <a:ext cx="66989" cy="66989"/>
          </a:xfrm>
          <a:prstGeom prst="ellipse">
            <a:avLst/>
          </a:prstGeom>
          <a:solidFill>
            <a:srgbClr val="FFFFFF"/>
          </a:solidFill>
          <a:ln w="12759">
            <a:solidFill>
              <a:srgbClr val="6E53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prompt-openai-loop-0"/>
          <p:cNvSpPr/>
          <p:nvPr/>
        </p:nvSpPr>
        <p:spPr>
          <a:xfrm>
            <a:off x="6024544" y="2529632"/>
            <a:ext cx="108458" cy="108458"/>
          </a:xfrm>
          <a:prstGeom prst="ellipse">
            <a:avLst/>
          </a:prstGeom>
          <a:noFill/>
          <a:ln w="12472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prompt-openai-loop-1"/>
          <p:cNvSpPr/>
          <p:nvPr/>
        </p:nvSpPr>
        <p:spPr>
          <a:xfrm>
            <a:off x="6002853" y="2567203"/>
            <a:ext cx="108458" cy="108458"/>
          </a:xfrm>
          <a:prstGeom prst="ellipse">
            <a:avLst/>
          </a:prstGeom>
          <a:noFill/>
          <a:ln w="12472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prompt-openai-loop-2"/>
          <p:cNvSpPr/>
          <p:nvPr/>
        </p:nvSpPr>
        <p:spPr>
          <a:xfrm>
            <a:off x="5959469" y="2567203"/>
            <a:ext cx="108458" cy="108458"/>
          </a:xfrm>
          <a:prstGeom prst="ellipse">
            <a:avLst/>
          </a:prstGeom>
          <a:noFill/>
          <a:ln w="12472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prompt-openai-loop-3"/>
          <p:cNvSpPr/>
          <p:nvPr/>
        </p:nvSpPr>
        <p:spPr>
          <a:xfrm>
            <a:off x="5937778" y="2529632"/>
            <a:ext cx="108458" cy="108458"/>
          </a:xfrm>
          <a:prstGeom prst="ellipse">
            <a:avLst/>
          </a:prstGeom>
          <a:noFill/>
          <a:ln w="12472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prompt-openai-loop-4"/>
          <p:cNvSpPr/>
          <p:nvPr/>
        </p:nvSpPr>
        <p:spPr>
          <a:xfrm>
            <a:off x="5959469" y="2492061"/>
            <a:ext cx="108458" cy="108458"/>
          </a:xfrm>
          <a:prstGeom prst="ellipse">
            <a:avLst/>
          </a:prstGeom>
          <a:noFill/>
          <a:ln w="12472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prompt-openai-loop-5"/>
          <p:cNvSpPr/>
          <p:nvPr/>
        </p:nvSpPr>
        <p:spPr>
          <a:xfrm>
            <a:off x="6002853" y="2492061"/>
            <a:ext cx="108458" cy="108458"/>
          </a:xfrm>
          <a:prstGeom prst="ellipse">
            <a:avLst/>
          </a:prstGeom>
          <a:noFill/>
          <a:ln w="12472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bootstrap-bg"/>
          <p:cNvSpPr/>
          <p:nvPr/>
        </p:nvSpPr>
        <p:spPr>
          <a:xfrm>
            <a:off x="3024075" y="2641280"/>
            <a:ext cx="3477048" cy="3043214"/>
          </a:xfrm>
          <a:prstGeom prst="roundRect">
            <a:avLst/>
          </a:prstGeom>
          <a:solidFill>
            <a:srgbClr val="F0F8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bootstrap-title"/>
          <p:cNvSpPr txBox="1"/>
          <p:nvPr/>
        </p:nvSpPr>
        <p:spPr>
          <a:xfrm>
            <a:off x="3132533" y="2660420"/>
            <a:ext cx="2360565" cy="22967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86"/>
              </a:lnSpc>
              <a:spcBef>
                <a:spcPts val="0"/>
              </a:spcBef>
              <a:spcAft>
                <a:spcPts val="0"/>
              </a:spcAft>
            </a:pPr>
            <a:r>
              <a:rPr sz="1356" b="1" i="0" u="none">
                <a:solidFill>
                  <a:srgbClr val="000000"/>
                </a:solidFill>
                <a:latin typeface="Liberation Serif"/>
              </a:rPr>
              <a:t>Reasoning Bootstrapping.</a:t>
            </a:r>
          </a:p>
        </p:txBody>
      </p:sp>
      <p:sp>
        <p:nvSpPr>
          <p:cNvPr id="81" name="bootstrap-back-0"/>
          <p:cNvSpPr/>
          <p:nvPr/>
        </p:nvSpPr>
        <p:spPr>
          <a:xfrm>
            <a:off x="3725864" y="2915616"/>
            <a:ext cx="2551962" cy="1594976"/>
          </a:xfrm>
          <a:prstGeom prst="rect">
            <a:avLst/>
          </a:prstGeom>
          <a:solidFill>
            <a:srgbClr val="FFFFFF"/>
          </a:solidFill>
          <a:ln w="19139">
            <a:solidFill>
              <a:srgbClr val="E6E6E6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bootstrap-back-1"/>
          <p:cNvSpPr/>
          <p:nvPr/>
        </p:nvSpPr>
        <p:spPr>
          <a:xfrm>
            <a:off x="3566367" y="3030455"/>
            <a:ext cx="2711459" cy="1563076"/>
          </a:xfrm>
          <a:prstGeom prst="rect">
            <a:avLst/>
          </a:prstGeom>
          <a:solidFill>
            <a:srgbClr val="FFFFFF"/>
          </a:solidFill>
          <a:ln w="19139">
            <a:solidFill>
              <a:srgbClr val="E6E6E6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bootstrap-back-2"/>
          <p:cNvSpPr/>
          <p:nvPr/>
        </p:nvSpPr>
        <p:spPr>
          <a:xfrm>
            <a:off x="3381349" y="3145293"/>
            <a:ext cx="2864577" cy="1556696"/>
          </a:xfrm>
          <a:prstGeom prst="rect">
            <a:avLst/>
          </a:prstGeom>
          <a:solidFill>
            <a:srgbClr val="FFFFFF"/>
          </a:solidFill>
          <a:ln w="19139">
            <a:solidFill>
              <a:srgbClr val="E6E6E6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bootstrap-main-card"/>
          <p:cNvSpPr/>
          <p:nvPr/>
        </p:nvSpPr>
        <p:spPr>
          <a:xfrm>
            <a:off x="3119773" y="3228232"/>
            <a:ext cx="2749739" cy="1422718"/>
          </a:xfrm>
          <a:prstGeom prst="rect">
            <a:avLst/>
          </a:prstGeom>
          <a:solidFill>
            <a:srgbClr val="FFFFFF"/>
          </a:solidFill>
          <a:ln w="7655">
            <a:solidFill>
              <a:srgbClr val="E6E6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bootstrap-main-copy"/>
          <p:cNvSpPr txBox="1"/>
          <p:nvPr/>
        </p:nvSpPr>
        <p:spPr>
          <a:xfrm>
            <a:off x="3202712" y="3304791"/>
            <a:ext cx="2520062" cy="129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28"/>
              </a:lnSpc>
              <a:spcBef>
                <a:spcPts val="0"/>
              </a:spcBef>
              <a:spcAft>
                <a:spcPts val="0"/>
              </a:spcAft>
            </a:pPr>
            <a:r>
              <a:rPr sz="698" b="1" i="0" u="none">
                <a:solidFill>
                  <a:srgbClr val="000000"/>
                </a:solidFill>
                <a:latin typeface="DejaVu Sans"/>
              </a:rPr>
              <a:t>&lt;thinking&gt;  </a:t>
            </a:r>
            <a:r>
              <a:rPr sz="698" b="1" i="0" u="none">
                <a:solidFill>
                  <a:srgbClr val="D35400"/>
                </a:solidFill>
                <a:latin typeface="DejaVu Sans"/>
              </a:rPr>
              <a:t>**Observation**: </a:t>
            </a:r>
            <a:r>
              <a:rPr sz="698" b="0" i="0" u="none">
                <a:solidFill>
                  <a:srgbClr val="000000"/>
                </a:solidFill>
                <a:latin typeface="DejaVu Sans"/>
              </a:rPr>
              <a:t>The screenshot shows</a:t>
            </a:r>
          </a:p>
          <a:p>
            <a:pPr algn="l">
              <a:lnSpc>
                <a:spcPts val="828"/>
              </a:lnSpc>
              <a:spcBef>
                <a:spcPts val="0"/>
              </a:spcBef>
              <a:spcAft>
                <a:spcPts val="0"/>
              </a:spcAft>
            </a:pPr>
            <a:r>
              <a:rPr sz="698" b="0" i="0" u="none">
                <a:solidFill>
                  <a:srgbClr val="000000"/>
                </a:solidFill>
                <a:latin typeface="DejaVu Sans"/>
              </a:rPr>
              <a:t>the Twitter feed with a list of posts, including ...</a:t>
            </a:r>
          </a:p>
          <a:p>
            <a:pPr algn="l">
              <a:lnSpc>
                <a:spcPts val="828"/>
              </a:lnSpc>
              <a:spcBef>
                <a:spcPts val="0"/>
              </a:spcBef>
              <a:spcAft>
                <a:spcPts val="0"/>
              </a:spcAft>
            </a:pPr>
            <a:r>
              <a:rPr sz="698" b="1" i="0" u="none">
                <a:solidFill>
                  <a:srgbClr val="D35400"/>
                </a:solidFill>
                <a:latin typeface="DejaVu Sans"/>
              </a:rPr>
              <a:t>**Possible Result**: </a:t>
            </a:r>
            <a:r>
              <a:rPr sz="698" b="0" i="0" u="none">
                <a:solidFill>
                  <a:srgbClr val="000000"/>
                </a:solidFill>
                <a:latin typeface="DejaVu Sans"/>
              </a:rPr>
              <a:t>If the agent clicks the “Letter”</a:t>
            </a:r>
          </a:p>
          <a:p>
            <a:pPr algn="l">
              <a:lnSpc>
                <a:spcPts val="828"/>
              </a:lnSpc>
              <a:spcBef>
                <a:spcPts val="0"/>
              </a:spcBef>
              <a:spcAft>
                <a:spcPts val="0"/>
              </a:spcAft>
            </a:pPr>
            <a:r>
              <a:rPr sz="698" b="0" i="0" u="none">
                <a:solidFill>
                  <a:srgbClr val="000000"/>
                </a:solidFill>
                <a:latin typeface="DejaVu Sans"/>
              </a:rPr>
              <a:t>button, it will likely not achieve any meaningful</a:t>
            </a:r>
          </a:p>
          <a:p>
            <a:pPr algn="l">
              <a:lnSpc>
                <a:spcPts val="828"/>
              </a:lnSpc>
              <a:spcBef>
                <a:spcPts val="0"/>
              </a:spcBef>
              <a:spcAft>
                <a:spcPts val="0"/>
              </a:spcAft>
            </a:pPr>
            <a:r>
              <a:rPr sz="698" b="0" i="0" u="none">
                <a:solidFill>
                  <a:srgbClr val="000000"/>
                </a:solidFill>
                <a:latin typeface="DejaVu Sans"/>
              </a:rPr>
              <a:t>action...  </a:t>
            </a:r>
            <a:r>
              <a:rPr sz="698" b="1" i="0" u="none">
                <a:solidFill>
                  <a:srgbClr val="D35400"/>
                </a:solidFill>
                <a:latin typeface="DejaVu Sans"/>
              </a:rPr>
              <a:t>**Critique**: </a:t>
            </a:r>
            <a:r>
              <a:rPr sz="698" b="0" i="0" u="none">
                <a:solidFill>
                  <a:srgbClr val="000000"/>
                </a:solidFill>
                <a:latin typeface="DejaVu Sans"/>
              </a:rPr>
              <a:t>The decision to click the</a:t>
            </a:r>
          </a:p>
          <a:p>
            <a:pPr algn="l">
              <a:lnSpc>
                <a:spcPts val="828"/>
              </a:lnSpc>
              <a:spcBef>
                <a:spcPts val="0"/>
              </a:spcBef>
              <a:spcAft>
                <a:spcPts val="0"/>
              </a:spcAft>
            </a:pPr>
            <a:r>
              <a:rPr sz="698" b="0" i="0" u="none">
                <a:solidFill>
                  <a:srgbClr val="000000"/>
                </a:solidFill>
                <a:latin typeface="DejaVu Sans"/>
              </a:rPr>
              <a:t>“Letter” button is incorrect because it does not</a:t>
            </a:r>
          </a:p>
          <a:p>
            <a:pPr algn="l">
              <a:lnSpc>
                <a:spcPts val="828"/>
              </a:lnSpc>
              <a:spcBef>
                <a:spcPts val="0"/>
              </a:spcBef>
              <a:spcAft>
                <a:spcPts val="0"/>
              </a:spcAft>
            </a:pPr>
            <a:r>
              <a:rPr sz="698" b="0" i="0" u="none">
                <a:solidFill>
                  <a:srgbClr val="000000"/>
                </a:solidFill>
                <a:latin typeface="DejaVu Sans"/>
              </a:rPr>
              <a:t>align with the current state of the application...</a:t>
            </a:r>
          </a:p>
          <a:p>
            <a:pPr algn="l">
              <a:lnSpc>
                <a:spcPts val="828"/>
              </a:lnSpc>
              <a:spcBef>
                <a:spcPts val="0"/>
              </a:spcBef>
              <a:spcAft>
                <a:spcPts val="0"/>
              </a:spcAft>
            </a:pPr>
            <a:r>
              <a:rPr sz="698" b="1" i="0" u="none">
                <a:solidFill>
                  <a:srgbClr val="000000"/>
                </a:solidFill>
                <a:latin typeface="DejaVu Sans"/>
              </a:rPr>
              <a:t>&lt;/thinking&gt;</a:t>
            </a:r>
          </a:p>
          <a:p>
            <a:pPr algn="l">
              <a:lnSpc>
                <a:spcPts val="828"/>
              </a:lnSpc>
              <a:spcBef>
                <a:spcPts val="0"/>
              </a:spcBef>
              <a:spcAft>
                <a:spcPts val="0"/>
              </a:spcAft>
            </a:pPr>
            <a:r>
              <a:rPr sz="698" b="1" i="0" u="none">
                <a:solidFill>
                  <a:srgbClr val="000000"/>
                </a:solidFill>
                <a:latin typeface="DejaVu Sans"/>
              </a:rPr>
              <a:t>&lt;score&gt; </a:t>
            </a:r>
            <a:r>
              <a:rPr sz="698" b="0" i="0" u="none">
                <a:solidFill>
                  <a:srgbClr val="D60000"/>
                </a:solidFill>
                <a:latin typeface="DejaVu Sans"/>
              </a:rPr>
              <a:t>Incorrect</a:t>
            </a:r>
            <a:r>
              <a:rPr sz="698" b="1" i="0" u="none">
                <a:solidFill>
                  <a:srgbClr val="000000"/>
                </a:solidFill>
                <a:latin typeface="DejaVu Sans"/>
              </a:rPr>
              <a:t> &lt;/score&gt;</a:t>
            </a:r>
          </a:p>
          <a:p>
            <a:pPr algn="l">
              <a:lnSpc>
                <a:spcPts val="828"/>
              </a:lnSpc>
              <a:spcBef>
                <a:spcPts val="0"/>
              </a:spcBef>
              <a:spcAft>
                <a:spcPts val="0"/>
              </a:spcAft>
            </a:pPr>
            <a:r>
              <a:rPr sz="698" b="1" i="0" u="none">
                <a:solidFill>
                  <a:srgbClr val="000000"/>
                </a:solidFill>
                <a:latin typeface="DejaVu Sans"/>
              </a:rPr>
              <a:t>&lt;suggestion&gt; </a:t>
            </a:r>
            <a:r>
              <a:rPr sz="698" b="0" i="0" u="none">
                <a:solidFill>
                  <a:srgbClr val="D60000"/>
                </a:solidFill>
                <a:latin typeface="DejaVu Sans"/>
              </a:rPr>
              <a:t>The agent should instead select a</a:t>
            </a:r>
          </a:p>
          <a:p>
            <a:pPr algn="l">
              <a:lnSpc>
                <a:spcPts val="828"/>
              </a:lnSpc>
              <a:spcBef>
                <a:spcPts val="0"/>
              </a:spcBef>
              <a:spcAft>
                <a:spcPts val="0"/>
              </a:spcAft>
            </a:pPr>
            <a:r>
              <a:rPr sz="698" b="0" i="0" u="none">
                <a:solidFill>
                  <a:srgbClr val="D60000"/>
                </a:solidFill>
                <a:latin typeface="DejaVu Sans"/>
              </a:rPr>
              <a:t>desired tweet and clicking the share button of it.</a:t>
            </a:r>
          </a:p>
          <a:p>
            <a:pPr algn="l">
              <a:lnSpc>
                <a:spcPts val="828"/>
              </a:lnSpc>
              <a:spcBef>
                <a:spcPts val="0"/>
              </a:spcBef>
              <a:spcAft>
                <a:spcPts val="0"/>
              </a:spcAft>
            </a:pPr>
            <a:r>
              <a:rPr sz="698" b="1" i="0" u="none">
                <a:solidFill>
                  <a:srgbClr val="000000"/>
                </a:solidFill>
                <a:latin typeface="DejaVu Sans"/>
              </a:rPr>
              <a:t>&lt;/suggestion&gt;</a:t>
            </a:r>
          </a:p>
        </p:txBody>
      </p:sp>
      <p:sp>
        <p:nvSpPr>
          <p:cNvPr id="86" name="bootstrap-check-1-circle"/>
          <p:cNvSpPr/>
          <p:nvPr/>
        </p:nvSpPr>
        <p:spPr>
          <a:xfrm>
            <a:off x="4631811" y="4153318"/>
            <a:ext cx="178637" cy="178637"/>
          </a:xfrm>
          <a:prstGeom prst="ellipse">
            <a:avLst/>
          </a:prstGeom>
          <a:solidFill>
            <a:srgbClr val="FFFFFF"/>
          </a:solidFill>
          <a:ln w="14035">
            <a:solidFill>
              <a:srgbClr val="08B98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bootstrap-check-1-tick"/>
          <p:cNvSpPr txBox="1"/>
          <p:nvPr/>
        </p:nvSpPr>
        <p:spPr>
          <a:xfrm>
            <a:off x="4650951" y="4159698"/>
            <a:ext cx="140357" cy="1594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75"/>
              </a:lnSpc>
              <a:spcBef>
                <a:spcPts val="0"/>
              </a:spcBef>
              <a:spcAft>
                <a:spcPts val="0"/>
              </a:spcAft>
            </a:pPr>
            <a:r>
              <a:rPr sz="1004" b="1" i="0" u="none">
                <a:solidFill>
                  <a:srgbClr val="08B98B"/>
                </a:solidFill>
                <a:latin typeface="DejaVu Sans"/>
              </a:rPr>
              <a:t>✓</a:t>
            </a:r>
          </a:p>
        </p:txBody>
      </p:sp>
      <p:sp>
        <p:nvSpPr>
          <p:cNvPr id="88" name="bootstrap-check-2-circle"/>
          <p:cNvSpPr/>
          <p:nvPr/>
        </p:nvSpPr>
        <p:spPr>
          <a:xfrm>
            <a:off x="5448439" y="4344715"/>
            <a:ext cx="178637" cy="178637"/>
          </a:xfrm>
          <a:prstGeom prst="ellipse">
            <a:avLst/>
          </a:prstGeom>
          <a:solidFill>
            <a:srgbClr val="FFFFFF"/>
          </a:solidFill>
          <a:ln w="14035">
            <a:solidFill>
              <a:srgbClr val="08B98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bootstrap-check-2-tick"/>
          <p:cNvSpPr txBox="1"/>
          <p:nvPr/>
        </p:nvSpPr>
        <p:spPr>
          <a:xfrm>
            <a:off x="5467579" y="4351095"/>
            <a:ext cx="140357" cy="1594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75"/>
              </a:lnSpc>
              <a:spcBef>
                <a:spcPts val="0"/>
              </a:spcBef>
              <a:spcAft>
                <a:spcPts val="0"/>
              </a:spcAft>
            </a:pPr>
            <a:r>
              <a:rPr sz="1004" b="1" i="0" u="none">
                <a:solidFill>
                  <a:srgbClr val="08B98B"/>
                </a:solidFill>
                <a:latin typeface="DejaVu Sans"/>
              </a:rPr>
              <a:t>✓</a:t>
            </a:r>
          </a:p>
        </p:txBody>
      </p:sp>
      <p:sp>
        <p:nvSpPr>
          <p:cNvPr id="90" name="bootstrap-ellipsis"/>
          <p:cNvSpPr txBox="1"/>
          <p:nvPr/>
        </p:nvSpPr>
        <p:spPr>
          <a:xfrm>
            <a:off x="5856753" y="4300056"/>
            <a:ext cx="421073" cy="2488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557" b="1" i="0" u="none">
                <a:solidFill>
                  <a:srgbClr val="000000"/>
                </a:solidFill>
                <a:latin typeface="DejaVu Sans"/>
              </a:rPr>
              <a:t>•••</a:t>
            </a:r>
          </a:p>
        </p:txBody>
      </p:sp>
      <p:sp>
        <p:nvSpPr>
          <p:cNvPr id="91" name="bootstrap-mid-0"/>
          <p:cNvSpPr/>
          <p:nvPr/>
        </p:nvSpPr>
        <p:spPr>
          <a:xfrm>
            <a:off x="3145293" y="4733889"/>
            <a:ext cx="1307880" cy="382794"/>
          </a:xfrm>
          <a:prstGeom prst="rect">
            <a:avLst/>
          </a:prstGeom>
          <a:solidFill>
            <a:srgbClr val="FFFFFF"/>
          </a:solidFill>
          <a:ln w="7017">
            <a:solidFill>
              <a:srgbClr val="E6E6E6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bootstrap-mid-text-0"/>
          <p:cNvSpPr txBox="1"/>
          <p:nvPr/>
        </p:nvSpPr>
        <p:spPr>
          <a:xfrm>
            <a:off x="3189952" y="4784929"/>
            <a:ext cx="1173902" cy="2998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703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 u="none">
                <a:solidFill>
                  <a:srgbClr val="000000"/>
                </a:solidFill>
                <a:latin typeface="DejaVu Sans"/>
              </a:rPr>
              <a:t>&lt;thinking&gt;...&lt;/thinking&gt;</a:t>
            </a:r>
          </a:p>
          <a:p>
            <a:pPr algn="l">
              <a:lnSpc>
                <a:spcPts val="703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 u="none">
                <a:solidFill>
                  <a:srgbClr val="000000"/>
                </a:solidFill>
                <a:latin typeface="DejaVu Sans"/>
              </a:rPr>
              <a:t>&lt;score&gt;...&lt;/score&gt;</a:t>
            </a:r>
          </a:p>
          <a:p>
            <a:pPr algn="l">
              <a:lnSpc>
                <a:spcPts val="703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 u="none">
                <a:solidFill>
                  <a:srgbClr val="000000"/>
                </a:solidFill>
                <a:latin typeface="DejaVu Sans"/>
              </a:rPr>
              <a:t>&lt;suggestion&gt;...&lt;/suggestion&gt;</a:t>
            </a:r>
          </a:p>
        </p:txBody>
      </p:sp>
      <p:sp>
        <p:nvSpPr>
          <p:cNvPr id="93" name="bootstrap-mid-cross-0-circle"/>
          <p:cNvSpPr/>
          <p:nvPr/>
        </p:nvSpPr>
        <p:spPr>
          <a:xfrm>
            <a:off x="4317601" y="4879032"/>
            <a:ext cx="66989" cy="66989"/>
          </a:xfrm>
          <a:prstGeom prst="ellipse">
            <a:avLst/>
          </a:prstGeom>
          <a:solidFill>
            <a:srgbClr val="FFFFFF"/>
          </a:solidFill>
          <a:ln w="8931">
            <a:solidFill>
              <a:srgbClr val="F05A5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bootstrap-mid-cross-0-cross"/>
          <p:cNvSpPr txBox="1"/>
          <p:nvPr/>
        </p:nvSpPr>
        <p:spPr>
          <a:xfrm>
            <a:off x="4322386" y="4874247"/>
            <a:ext cx="57419" cy="6698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4"/>
              </a:lnSpc>
              <a:spcBef>
                <a:spcPts val="0"/>
              </a:spcBef>
              <a:spcAft>
                <a:spcPts val="0"/>
              </a:spcAft>
            </a:pPr>
            <a:r>
              <a:rPr sz="414" b="1" i="0" u="none">
                <a:solidFill>
                  <a:srgbClr val="F05A5A"/>
                </a:solidFill>
                <a:latin typeface="DejaVu Sans"/>
              </a:rPr>
              <a:t>×</a:t>
            </a:r>
          </a:p>
        </p:txBody>
      </p:sp>
      <p:sp>
        <p:nvSpPr>
          <p:cNvPr id="95" name="bootstrap-mid-1"/>
          <p:cNvSpPr/>
          <p:nvPr/>
        </p:nvSpPr>
        <p:spPr>
          <a:xfrm>
            <a:off x="4657331" y="4733889"/>
            <a:ext cx="1307880" cy="382794"/>
          </a:xfrm>
          <a:prstGeom prst="rect">
            <a:avLst/>
          </a:prstGeom>
          <a:solidFill>
            <a:srgbClr val="FFFFFF"/>
          </a:solidFill>
          <a:ln w="7017">
            <a:solidFill>
              <a:srgbClr val="E6E6E6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bootstrap-mid-text-1"/>
          <p:cNvSpPr txBox="1"/>
          <p:nvPr/>
        </p:nvSpPr>
        <p:spPr>
          <a:xfrm>
            <a:off x="4701990" y="4784929"/>
            <a:ext cx="1173902" cy="2998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703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 u="none">
                <a:solidFill>
                  <a:srgbClr val="000000"/>
                </a:solidFill>
                <a:latin typeface="DejaVu Sans"/>
              </a:rPr>
              <a:t>&lt;thinking&gt;...&lt;/thinking&gt;</a:t>
            </a:r>
          </a:p>
          <a:p>
            <a:pPr algn="l">
              <a:lnSpc>
                <a:spcPts val="703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 u="none">
                <a:solidFill>
                  <a:srgbClr val="000000"/>
                </a:solidFill>
                <a:latin typeface="DejaVu Sans"/>
              </a:rPr>
              <a:t>&lt;score&gt;...&lt;/score&gt;</a:t>
            </a:r>
          </a:p>
          <a:p>
            <a:pPr algn="l">
              <a:lnSpc>
                <a:spcPts val="703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 u="none">
                <a:solidFill>
                  <a:srgbClr val="000000"/>
                </a:solidFill>
                <a:latin typeface="DejaVu Sans"/>
              </a:rPr>
              <a:t>&lt;suggestion&gt;...&lt;/suggestion&gt;</a:t>
            </a:r>
          </a:p>
        </p:txBody>
      </p:sp>
      <p:sp>
        <p:nvSpPr>
          <p:cNvPr id="97" name="bootstrap-mid-cross-1-circle"/>
          <p:cNvSpPr/>
          <p:nvPr/>
        </p:nvSpPr>
        <p:spPr>
          <a:xfrm>
            <a:off x="5829638" y="4879032"/>
            <a:ext cx="66989" cy="66989"/>
          </a:xfrm>
          <a:prstGeom prst="ellipse">
            <a:avLst/>
          </a:prstGeom>
          <a:solidFill>
            <a:srgbClr val="FFFFFF"/>
          </a:solidFill>
          <a:ln w="8931">
            <a:solidFill>
              <a:srgbClr val="F05A5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bootstrap-mid-cross-1-cross"/>
          <p:cNvSpPr txBox="1"/>
          <p:nvPr/>
        </p:nvSpPr>
        <p:spPr>
          <a:xfrm>
            <a:off x="5834423" y="4874247"/>
            <a:ext cx="57419" cy="6698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4"/>
              </a:lnSpc>
              <a:spcBef>
                <a:spcPts val="0"/>
              </a:spcBef>
              <a:spcAft>
                <a:spcPts val="0"/>
              </a:spcAft>
            </a:pPr>
            <a:r>
              <a:rPr sz="414" b="1" i="0" u="none">
                <a:solidFill>
                  <a:srgbClr val="F05A5A"/>
                </a:solidFill>
                <a:latin typeface="DejaVu Sans"/>
              </a:rPr>
              <a:t>×</a:t>
            </a:r>
          </a:p>
        </p:txBody>
      </p:sp>
      <p:sp>
        <p:nvSpPr>
          <p:cNvPr id="99" name="bootstrap-mid-dots"/>
          <p:cNvSpPr txBox="1"/>
          <p:nvPr/>
        </p:nvSpPr>
        <p:spPr>
          <a:xfrm>
            <a:off x="4485073" y="4874247"/>
            <a:ext cx="159497" cy="1594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81"/>
              </a:lnSpc>
              <a:spcBef>
                <a:spcPts val="0"/>
              </a:spcBef>
              <a:spcAft>
                <a:spcPts val="0"/>
              </a:spcAft>
            </a:pPr>
            <a:r>
              <a:rPr sz="753" b="0" i="0" u="none">
                <a:solidFill>
                  <a:srgbClr val="000000"/>
                </a:solidFill>
                <a:latin typeface="DejaVu Sans"/>
              </a:rPr>
              <a:t>•••</a:t>
            </a:r>
          </a:p>
        </p:txBody>
      </p:sp>
      <p:sp>
        <p:nvSpPr>
          <p:cNvPr id="100" name="bootstrap-selection-band"/>
          <p:cNvSpPr/>
          <p:nvPr/>
        </p:nvSpPr>
        <p:spPr>
          <a:xfrm>
            <a:off x="3247371" y="5161343"/>
            <a:ext cx="3055974" cy="478492"/>
          </a:xfrm>
          <a:prstGeom prst="roundRect">
            <a:avLst/>
          </a:prstGeom>
          <a:solidFill>
            <a:srgbClr val="D8EBCF"/>
          </a:solidFill>
          <a:ln w="7655">
            <a:solidFill>
              <a:srgbClr val="65A7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bootstrap-bottom-0"/>
          <p:cNvSpPr/>
          <p:nvPr/>
        </p:nvSpPr>
        <p:spPr>
          <a:xfrm>
            <a:off x="3317550" y="5212382"/>
            <a:ext cx="1371679" cy="376414"/>
          </a:xfrm>
          <a:prstGeom prst="rect">
            <a:avLst/>
          </a:prstGeom>
          <a:solidFill>
            <a:srgbClr val="FFFFFF"/>
          </a:solidFill>
          <a:ln w="7017">
            <a:solidFill>
              <a:srgbClr val="65A744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bootstrap-bottom-text-0"/>
          <p:cNvSpPr txBox="1"/>
          <p:nvPr/>
        </p:nvSpPr>
        <p:spPr>
          <a:xfrm>
            <a:off x="3362210" y="5257042"/>
            <a:ext cx="1231321" cy="306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703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 u="none">
                <a:solidFill>
                  <a:srgbClr val="000000"/>
                </a:solidFill>
                <a:latin typeface="DejaVu Sans"/>
              </a:rPr>
              <a:t>&lt;thinking&gt;...&lt;/thinking&gt;</a:t>
            </a:r>
          </a:p>
          <a:p>
            <a:pPr algn="l">
              <a:lnSpc>
                <a:spcPts val="703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 u="none">
                <a:solidFill>
                  <a:srgbClr val="000000"/>
                </a:solidFill>
                <a:latin typeface="DejaVu Sans"/>
              </a:rPr>
              <a:t>&lt;score&gt;...&lt;/score&gt;</a:t>
            </a:r>
          </a:p>
          <a:p>
            <a:pPr algn="l">
              <a:lnSpc>
                <a:spcPts val="703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 u="none">
                <a:solidFill>
                  <a:srgbClr val="000000"/>
                </a:solidFill>
                <a:latin typeface="DejaVu Sans"/>
              </a:rPr>
              <a:t>&lt;suggestion&gt;...&lt;/suggestion&gt;</a:t>
            </a:r>
          </a:p>
        </p:txBody>
      </p:sp>
      <p:sp>
        <p:nvSpPr>
          <p:cNvPr id="103" name="bootstrap-bottom-check-0-circle"/>
          <p:cNvSpPr/>
          <p:nvPr/>
        </p:nvSpPr>
        <p:spPr>
          <a:xfrm>
            <a:off x="4553466" y="5446653"/>
            <a:ext cx="92891" cy="92891"/>
          </a:xfrm>
          <a:prstGeom prst="ellipse">
            <a:avLst/>
          </a:prstGeom>
          <a:solidFill>
            <a:srgbClr val="FFFFFF"/>
          </a:solidFill>
          <a:ln w="14035">
            <a:solidFill>
              <a:srgbClr val="08B98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bootstrap-bottom-check-0-tick"/>
          <p:cNvSpPr txBox="1"/>
          <p:nvPr/>
        </p:nvSpPr>
        <p:spPr>
          <a:xfrm>
            <a:off x="4563418" y="5449970"/>
            <a:ext cx="72986" cy="829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11"/>
              </a:lnSpc>
              <a:spcBef>
                <a:spcPts val="0"/>
              </a:spcBef>
              <a:spcAft>
                <a:spcPts val="0"/>
              </a:spcAft>
            </a:pPr>
            <a:r>
              <a:rPr sz="522" b="1" i="0" u="none">
                <a:solidFill>
                  <a:srgbClr val="08B98B"/>
                </a:solidFill>
                <a:latin typeface="DejaVu Sans"/>
              </a:rPr>
              <a:t>✓</a:t>
            </a:r>
          </a:p>
        </p:txBody>
      </p:sp>
      <p:sp>
        <p:nvSpPr>
          <p:cNvPr id="105" name="bootstrap-bottom-1"/>
          <p:cNvSpPr/>
          <p:nvPr/>
        </p:nvSpPr>
        <p:spPr>
          <a:xfrm>
            <a:off x="4874247" y="5212382"/>
            <a:ext cx="1371679" cy="376414"/>
          </a:xfrm>
          <a:prstGeom prst="rect">
            <a:avLst/>
          </a:prstGeom>
          <a:solidFill>
            <a:srgbClr val="FFFFFF"/>
          </a:solidFill>
          <a:ln w="7017">
            <a:solidFill>
              <a:srgbClr val="65A744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bootstrap-bottom-text-1"/>
          <p:cNvSpPr txBox="1"/>
          <p:nvPr/>
        </p:nvSpPr>
        <p:spPr>
          <a:xfrm>
            <a:off x="4918907" y="5257042"/>
            <a:ext cx="1231321" cy="306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703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 u="none">
                <a:solidFill>
                  <a:srgbClr val="000000"/>
                </a:solidFill>
                <a:latin typeface="DejaVu Sans"/>
              </a:rPr>
              <a:t>&lt;thinking&gt;...&lt;/thinking&gt;</a:t>
            </a:r>
          </a:p>
          <a:p>
            <a:pPr algn="l">
              <a:lnSpc>
                <a:spcPts val="703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 u="none">
                <a:solidFill>
                  <a:srgbClr val="000000"/>
                </a:solidFill>
                <a:latin typeface="DejaVu Sans"/>
              </a:rPr>
              <a:t>&lt;score&gt;...&lt;/score&gt;</a:t>
            </a:r>
          </a:p>
          <a:p>
            <a:pPr algn="l">
              <a:lnSpc>
                <a:spcPts val="703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 u="none">
                <a:solidFill>
                  <a:srgbClr val="000000"/>
                </a:solidFill>
                <a:latin typeface="DejaVu Sans"/>
              </a:rPr>
              <a:t>&lt;suggestion&gt;...&lt;/suggestion&gt;</a:t>
            </a:r>
          </a:p>
        </p:txBody>
      </p:sp>
      <p:sp>
        <p:nvSpPr>
          <p:cNvPr id="107" name="bootstrap-bottom-check-1-circle"/>
          <p:cNvSpPr/>
          <p:nvPr/>
        </p:nvSpPr>
        <p:spPr>
          <a:xfrm>
            <a:off x="6110163" y="5446653"/>
            <a:ext cx="92891" cy="92891"/>
          </a:xfrm>
          <a:prstGeom prst="ellipse">
            <a:avLst/>
          </a:prstGeom>
          <a:solidFill>
            <a:srgbClr val="FFFFFF"/>
          </a:solidFill>
          <a:ln w="14035">
            <a:solidFill>
              <a:srgbClr val="08B98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bootstrap-bottom-check-1-tick"/>
          <p:cNvSpPr txBox="1"/>
          <p:nvPr/>
        </p:nvSpPr>
        <p:spPr>
          <a:xfrm>
            <a:off x="6120115" y="5449970"/>
            <a:ext cx="72986" cy="829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11"/>
              </a:lnSpc>
              <a:spcBef>
                <a:spcPts val="0"/>
              </a:spcBef>
              <a:spcAft>
                <a:spcPts val="0"/>
              </a:spcAft>
            </a:pPr>
            <a:r>
              <a:rPr sz="522" b="1" i="0" u="none">
                <a:solidFill>
                  <a:srgbClr val="08B98B"/>
                </a:solidFill>
                <a:latin typeface="DejaVu Sans"/>
              </a:rPr>
              <a:t>✓</a:t>
            </a:r>
          </a:p>
        </p:txBody>
      </p:sp>
      <p:sp>
        <p:nvSpPr>
          <p:cNvPr id="109" name="bootstrap-bottom-dots"/>
          <p:cNvSpPr txBox="1"/>
          <p:nvPr/>
        </p:nvSpPr>
        <p:spPr>
          <a:xfrm>
            <a:off x="4708370" y="5378260"/>
            <a:ext cx="153117" cy="1403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81"/>
              </a:lnSpc>
              <a:spcBef>
                <a:spcPts val="0"/>
              </a:spcBef>
              <a:spcAft>
                <a:spcPts val="0"/>
              </a:spcAft>
            </a:pPr>
            <a:r>
              <a:rPr sz="753" b="0" i="0" u="none">
                <a:solidFill>
                  <a:srgbClr val="000000"/>
                </a:solidFill>
                <a:latin typeface="DejaVu Sans"/>
              </a:rPr>
              <a:t>•••</a:t>
            </a:r>
          </a:p>
        </p:txBody>
      </p:sp>
      <p:sp>
        <p:nvSpPr>
          <p:cNvPr id="110" name="bootstrap-select-pill"/>
          <p:cNvSpPr/>
          <p:nvPr/>
        </p:nvSpPr>
        <p:spPr>
          <a:xfrm>
            <a:off x="5754674" y="5123064"/>
            <a:ext cx="714549" cy="178637"/>
          </a:xfrm>
          <a:prstGeom prst="roundRect">
            <a:avLst/>
          </a:prstGeom>
          <a:solidFill>
            <a:srgbClr val="FFE699"/>
          </a:solidFill>
          <a:ln w="7655">
            <a:solidFill>
              <a:srgbClr val="D59C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bootstrap-select"/>
          <p:cNvSpPr txBox="1"/>
          <p:nvPr/>
        </p:nvSpPr>
        <p:spPr>
          <a:xfrm>
            <a:off x="5805714" y="5142203"/>
            <a:ext cx="618850" cy="1467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969"/>
              </a:lnSpc>
              <a:spcBef>
                <a:spcPts val="0"/>
              </a:spcBef>
              <a:spcAft>
                <a:spcPts val="0"/>
              </a:spcAft>
            </a:pPr>
            <a:r>
              <a:rPr sz="828" b="0" i="0" u="none">
                <a:solidFill>
                  <a:srgbClr val="000000"/>
                </a:solidFill>
                <a:latin typeface="Liberation Serif"/>
              </a:rPr>
              <a:t>☺  Select!</a:t>
            </a:r>
          </a:p>
        </p:txBody>
      </p:sp>
      <p:sp>
        <p:nvSpPr>
          <p:cNvPr id="112" name="rft-title"/>
          <p:cNvSpPr txBox="1"/>
          <p:nvPr/>
        </p:nvSpPr>
        <p:spPr>
          <a:xfrm>
            <a:off x="6966856" y="523152"/>
            <a:ext cx="1467378" cy="2424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 u="none">
                <a:solidFill>
                  <a:srgbClr val="000000"/>
                </a:solidFill>
                <a:latin typeface="Liberation Serif"/>
              </a:rPr>
              <a:t>RFT Cold-Start</a:t>
            </a:r>
          </a:p>
        </p:txBody>
      </p:sp>
      <p:sp>
        <p:nvSpPr>
          <p:cNvPr id="113" name="rft-input"/>
          <p:cNvSpPr/>
          <p:nvPr/>
        </p:nvSpPr>
        <p:spPr>
          <a:xfrm>
            <a:off x="8357676" y="599711"/>
            <a:ext cx="3100634" cy="216916"/>
          </a:xfrm>
          <a:prstGeom prst="rect">
            <a:avLst/>
          </a:prstGeom>
          <a:solidFill>
            <a:srgbClr val="FFFFFF"/>
          </a:solidFill>
          <a:ln w="7655">
            <a:solidFill>
              <a:srgbClr val="8D8D8D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rft-input-copy"/>
          <p:cNvSpPr txBox="1"/>
          <p:nvPr/>
        </p:nvSpPr>
        <p:spPr>
          <a:xfrm>
            <a:off x="8395955" y="625230"/>
            <a:ext cx="3024075" cy="1722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969"/>
              </a:lnSpc>
              <a:spcBef>
                <a:spcPts val="0"/>
              </a:spcBef>
              <a:spcAft>
                <a:spcPts val="0"/>
              </a:spcAft>
            </a:pPr>
            <a:r>
              <a:rPr sz="828" b="0" i="0" u="none">
                <a:solidFill>
                  <a:srgbClr val="000000"/>
                </a:solidFill>
                <a:latin typeface="DejaVu Sans"/>
              </a:rPr>
              <a:t>Task Instruction; Operation History; Screenshot; Action</a:t>
            </a:r>
          </a:p>
        </p:txBody>
      </p:sp>
      <p:sp>
        <p:nvSpPr>
          <p:cNvPr id="115" name="dataset-panel"/>
          <p:cNvSpPr/>
          <p:nvPr/>
        </p:nvSpPr>
        <p:spPr>
          <a:xfrm>
            <a:off x="6954097" y="867667"/>
            <a:ext cx="2685940" cy="1212182"/>
          </a:xfrm>
          <a:prstGeom prst="roundRect">
            <a:avLst/>
          </a:prstGeom>
          <a:solidFill>
            <a:srgbClr val="ED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dataset-title"/>
          <p:cNvSpPr txBox="1"/>
          <p:nvPr/>
        </p:nvSpPr>
        <p:spPr>
          <a:xfrm>
            <a:off x="7598467" y="905946"/>
            <a:ext cx="1397199" cy="191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351"/>
              </a:lnSpc>
              <a:spcBef>
                <a:spcPts val="0"/>
              </a:spcBef>
              <a:spcAft>
                <a:spcPts val="0"/>
              </a:spcAft>
            </a:pPr>
            <a:r>
              <a:rPr sz="1155" b="0" i="0" u="none">
                <a:solidFill>
                  <a:srgbClr val="000000"/>
                </a:solidFill>
                <a:latin typeface="Liberation Serif"/>
              </a:rPr>
              <a:t>GUI-Critic Dataset</a:t>
            </a:r>
          </a:p>
        </p:txBody>
      </p:sp>
      <p:sp>
        <p:nvSpPr>
          <p:cNvPr id="117" name="dataset-yellow-182"/>
          <p:cNvSpPr/>
          <p:nvPr/>
        </p:nvSpPr>
        <p:spPr>
          <a:xfrm>
            <a:off x="7043415" y="1161142"/>
            <a:ext cx="1129243" cy="274335"/>
          </a:xfrm>
          <a:prstGeom prst="rect">
            <a:avLst/>
          </a:prstGeom>
          <a:solidFill>
            <a:srgbClr val="FFF8DF"/>
          </a:solidFill>
          <a:ln w="8293">
            <a:solidFill>
              <a:srgbClr val="F2B30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dataset-yellow-copy-182"/>
          <p:cNvSpPr txBox="1"/>
          <p:nvPr/>
        </p:nvSpPr>
        <p:spPr>
          <a:xfrm>
            <a:off x="7088075" y="1205802"/>
            <a:ext cx="1046304" cy="1977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703"/>
              </a:lnSpc>
              <a:spcBef>
                <a:spcPts val="0"/>
              </a:spcBef>
              <a:spcAft>
                <a:spcPts val="0"/>
              </a:spcAft>
            </a:pPr>
            <a:r>
              <a:rPr sz="567" b="0" i="0" u="none">
                <a:solidFill>
                  <a:srgbClr val="000000"/>
                </a:solidFill>
                <a:latin typeface="DejaVu Sans"/>
              </a:rPr>
              <a:t>&lt;score&gt;...&lt;/score&gt;</a:t>
            </a:r>
          </a:p>
          <a:p>
            <a:pPr algn="l">
              <a:lnSpc>
                <a:spcPts val="703"/>
              </a:lnSpc>
              <a:spcBef>
                <a:spcPts val="0"/>
              </a:spcBef>
              <a:spcAft>
                <a:spcPts val="0"/>
              </a:spcAft>
            </a:pPr>
            <a:r>
              <a:rPr sz="567" b="0" i="0" u="none">
                <a:solidFill>
                  <a:srgbClr val="000000"/>
                </a:solidFill>
                <a:latin typeface="DejaVu Sans"/>
              </a:rPr>
              <a:t>&lt;suggestion&gt;...&lt;/suggestion&gt;</a:t>
            </a:r>
          </a:p>
        </p:txBody>
      </p:sp>
      <p:sp>
        <p:nvSpPr>
          <p:cNvPr id="119" name="dataset-yellow-272"/>
          <p:cNvSpPr/>
          <p:nvPr/>
        </p:nvSpPr>
        <p:spPr>
          <a:xfrm>
            <a:off x="7043415" y="1735334"/>
            <a:ext cx="1129243" cy="274335"/>
          </a:xfrm>
          <a:prstGeom prst="rect">
            <a:avLst/>
          </a:prstGeom>
          <a:solidFill>
            <a:srgbClr val="FFF8DF"/>
          </a:solidFill>
          <a:ln w="8293">
            <a:solidFill>
              <a:srgbClr val="F2B30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dataset-yellow-copy-272"/>
          <p:cNvSpPr txBox="1"/>
          <p:nvPr/>
        </p:nvSpPr>
        <p:spPr>
          <a:xfrm>
            <a:off x="7088075" y="1779993"/>
            <a:ext cx="1046304" cy="1977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703"/>
              </a:lnSpc>
              <a:spcBef>
                <a:spcPts val="0"/>
              </a:spcBef>
              <a:spcAft>
                <a:spcPts val="0"/>
              </a:spcAft>
            </a:pPr>
            <a:r>
              <a:rPr sz="567" b="0" i="0" u="none">
                <a:solidFill>
                  <a:srgbClr val="000000"/>
                </a:solidFill>
                <a:latin typeface="DejaVu Sans"/>
              </a:rPr>
              <a:t>&lt;score&gt;...&lt;/score&gt;</a:t>
            </a:r>
          </a:p>
          <a:p>
            <a:pPr algn="l">
              <a:lnSpc>
                <a:spcPts val="703"/>
              </a:lnSpc>
              <a:spcBef>
                <a:spcPts val="0"/>
              </a:spcBef>
              <a:spcAft>
                <a:spcPts val="0"/>
              </a:spcAft>
            </a:pPr>
            <a:r>
              <a:rPr sz="567" b="0" i="0" u="none">
                <a:solidFill>
                  <a:srgbClr val="000000"/>
                </a:solidFill>
                <a:latin typeface="DejaVu Sans"/>
              </a:rPr>
              <a:t>&lt;suggestion&gt;...&lt;/suggestion&gt;</a:t>
            </a:r>
          </a:p>
        </p:txBody>
      </p:sp>
      <p:sp>
        <p:nvSpPr>
          <p:cNvPr id="121" name="dataset-green-178"/>
          <p:cNvSpPr/>
          <p:nvPr/>
        </p:nvSpPr>
        <p:spPr>
          <a:xfrm>
            <a:off x="8357676" y="1135623"/>
            <a:ext cx="1167522" cy="344514"/>
          </a:xfrm>
          <a:prstGeom prst="rect">
            <a:avLst/>
          </a:prstGeom>
          <a:solidFill>
            <a:srgbClr val="E2F0D9"/>
          </a:solidFill>
          <a:ln w="10207">
            <a:solidFill>
              <a:srgbClr val="65A744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dataset-green-copy-178"/>
          <p:cNvSpPr txBox="1"/>
          <p:nvPr/>
        </p:nvSpPr>
        <p:spPr>
          <a:xfrm>
            <a:off x="8408715" y="1180282"/>
            <a:ext cx="1078204" cy="2743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63"/>
              </a:lnSpc>
              <a:spcBef>
                <a:spcPts val="0"/>
              </a:spcBef>
              <a:spcAft>
                <a:spcPts val="0"/>
              </a:spcAft>
            </a:pPr>
            <a:r>
              <a:rPr sz="562" b="0" i="0" u="none">
                <a:solidFill>
                  <a:srgbClr val="000000"/>
                </a:solidFill>
                <a:latin typeface="DejaVu Sans"/>
              </a:rPr>
              <a:t>&lt;thinking&gt;...&lt;/thinking&gt;</a:t>
            </a:r>
          </a:p>
          <a:p>
            <a:pPr algn="l">
              <a:lnSpc>
                <a:spcPts val="663"/>
              </a:lnSpc>
              <a:spcBef>
                <a:spcPts val="0"/>
              </a:spcBef>
              <a:spcAft>
                <a:spcPts val="0"/>
              </a:spcAft>
            </a:pPr>
            <a:r>
              <a:rPr sz="562" b="0" i="0" u="none">
                <a:solidFill>
                  <a:srgbClr val="000000"/>
                </a:solidFill>
                <a:latin typeface="DejaVu Sans"/>
              </a:rPr>
              <a:t>&lt;score&gt;...&lt;/score&gt;</a:t>
            </a:r>
          </a:p>
          <a:p>
            <a:pPr algn="l">
              <a:lnSpc>
                <a:spcPts val="663"/>
              </a:lnSpc>
              <a:spcBef>
                <a:spcPts val="0"/>
              </a:spcBef>
              <a:spcAft>
                <a:spcPts val="0"/>
              </a:spcAft>
            </a:pPr>
            <a:r>
              <a:rPr sz="562" b="0" i="0" u="none">
                <a:solidFill>
                  <a:srgbClr val="000000"/>
                </a:solidFill>
                <a:latin typeface="DejaVu Sans"/>
              </a:rPr>
              <a:t>&lt;suggestion&gt;...&lt;/suggestion&gt;</a:t>
            </a:r>
          </a:p>
        </p:txBody>
      </p:sp>
      <p:sp>
        <p:nvSpPr>
          <p:cNvPr id="123" name="dataset-green-268"/>
          <p:cNvSpPr/>
          <p:nvPr/>
        </p:nvSpPr>
        <p:spPr>
          <a:xfrm>
            <a:off x="8357676" y="1709814"/>
            <a:ext cx="1167522" cy="344514"/>
          </a:xfrm>
          <a:prstGeom prst="rect">
            <a:avLst/>
          </a:prstGeom>
          <a:solidFill>
            <a:srgbClr val="E2F0D9"/>
          </a:solidFill>
          <a:ln w="10207">
            <a:solidFill>
              <a:srgbClr val="65A744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dataset-green-copy-268"/>
          <p:cNvSpPr txBox="1"/>
          <p:nvPr/>
        </p:nvSpPr>
        <p:spPr>
          <a:xfrm>
            <a:off x="8408715" y="1754474"/>
            <a:ext cx="1078204" cy="2743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63"/>
              </a:lnSpc>
              <a:spcBef>
                <a:spcPts val="0"/>
              </a:spcBef>
              <a:spcAft>
                <a:spcPts val="0"/>
              </a:spcAft>
            </a:pPr>
            <a:r>
              <a:rPr sz="562" b="0" i="0" u="none">
                <a:solidFill>
                  <a:srgbClr val="000000"/>
                </a:solidFill>
                <a:latin typeface="DejaVu Sans"/>
              </a:rPr>
              <a:t>&lt;thinking&gt;...&lt;/thinking&gt;</a:t>
            </a:r>
          </a:p>
          <a:p>
            <a:pPr algn="l">
              <a:lnSpc>
                <a:spcPts val="663"/>
              </a:lnSpc>
              <a:spcBef>
                <a:spcPts val="0"/>
              </a:spcBef>
              <a:spcAft>
                <a:spcPts val="0"/>
              </a:spcAft>
            </a:pPr>
            <a:r>
              <a:rPr sz="562" b="0" i="0" u="none">
                <a:solidFill>
                  <a:srgbClr val="000000"/>
                </a:solidFill>
                <a:latin typeface="DejaVu Sans"/>
              </a:rPr>
              <a:t>&lt;score&gt;...&lt;/score&gt;</a:t>
            </a:r>
          </a:p>
          <a:p>
            <a:pPr algn="l">
              <a:lnSpc>
                <a:spcPts val="663"/>
              </a:lnSpc>
              <a:spcBef>
                <a:spcPts val="0"/>
              </a:spcBef>
              <a:spcAft>
                <a:spcPts val="0"/>
              </a:spcAft>
            </a:pPr>
            <a:r>
              <a:rPr sz="562" b="0" i="0" u="none">
                <a:solidFill>
                  <a:srgbClr val="000000"/>
                </a:solidFill>
                <a:latin typeface="DejaVu Sans"/>
              </a:rPr>
              <a:t>&lt;suggestion&gt;...&lt;/suggestion&gt;</a:t>
            </a:r>
          </a:p>
        </p:txBody>
      </p:sp>
      <p:sp>
        <p:nvSpPr>
          <p:cNvPr id="125" name="dataset-yellow-dots"/>
          <p:cNvSpPr txBox="1"/>
          <p:nvPr/>
        </p:nvSpPr>
        <p:spPr>
          <a:xfrm>
            <a:off x="7528288" y="1486518"/>
            <a:ext cx="191397" cy="1850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 u="none">
                <a:solidFill>
                  <a:srgbClr val="000000"/>
                </a:solidFill>
                <a:latin typeface="DejaVu Sans"/>
              </a:rPr>
              <a:t>⋮</a:t>
            </a:r>
          </a:p>
        </p:txBody>
      </p:sp>
      <p:sp>
        <p:nvSpPr>
          <p:cNvPr id="126" name="dataset-green-dots"/>
          <p:cNvSpPr txBox="1"/>
          <p:nvPr/>
        </p:nvSpPr>
        <p:spPr>
          <a:xfrm>
            <a:off x="8842549" y="1492897"/>
            <a:ext cx="191397" cy="1850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 u="none">
                <a:solidFill>
                  <a:srgbClr val="000000"/>
                </a:solidFill>
                <a:latin typeface="DejaVu Sans"/>
              </a:rPr>
              <a:t>⋮</a:t>
            </a:r>
          </a:p>
        </p:txBody>
      </p:sp>
      <p:cxnSp>
        <p:nvCxnSpPr>
          <p:cNvPr id="127" name="rft-input-down"/>
          <p:cNvCxnSpPr/>
          <p:nvPr/>
        </p:nvCxnSpPr>
        <p:spPr>
          <a:xfrm>
            <a:off x="10041971" y="963365"/>
            <a:ext cx="0" cy="344515"/>
          </a:xfrm>
          <a:prstGeom prst="line">
            <a:avLst/>
          </a:prstGeom>
          <a:ln w="44659">
            <a:solidFill>
              <a:srgbClr val="8DBDE8"/>
            </a:solidFill>
            <a:tailEnd type="triangle" w="med" len="med"/>
          </a:ln>
          <a:effectLst/>
        </p:spPr>
      </p:cxnSp>
      <p:cxnSp>
        <p:nvCxnSpPr>
          <p:cNvPr id="128" name="dataset-to-baseline"/>
          <p:cNvCxnSpPr/>
          <p:nvPr/>
        </p:nvCxnSpPr>
        <p:spPr>
          <a:xfrm>
            <a:off x="9678316" y="1607736"/>
            <a:ext cx="165878" cy="0"/>
          </a:xfrm>
          <a:prstGeom prst="line">
            <a:avLst/>
          </a:prstGeom>
          <a:ln w="44659">
            <a:solidFill>
              <a:srgbClr val="8DBDE8"/>
            </a:solidFill>
            <a:tailEnd type="triangle" w="med" len="med"/>
          </a:ln>
          <a:effectLst/>
        </p:spPr>
      </p:cxnSp>
      <p:cxnSp>
        <p:nvCxnSpPr>
          <p:cNvPr id="129" name="baseline-robot-antenna"/>
          <p:cNvCxnSpPr/>
          <p:nvPr/>
        </p:nvCxnSpPr>
        <p:spPr>
          <a:xfrm>
            <a:off x="10041971" y="1423612"/>
            <a:ext cx="0" cy="49763"/>
          </a:xfrm>
          <a:prstGeom prst="line">
            <a:avLst/>
          </a:prstGeom>
          <a:ln w="14928">
            <a:solidFill>
              <a:srgbClr val="3F4B5B"/>
            </a:solidFill>
          </a:ln>
          <a:effectLst/>
        </p:spPr>
      </p:cxnSp>
      <p:sp>
        <p:nvSpPr>
          <p:cNvPr id="130" name="baseline-robot-antenna-ball"/>
          <p:cNvSpPr/>
          <p:nvPr/>
        </p:nvSpPr>
        <p:spPr>
          <a:xfrm>
            <a:off x="10022066" y="1393754"/>
            <a:ext cx="39810" cy="39810"/>
          </a:xfrm>
          <a:prstGeom prst="ellipse">
            <a:avLst/>
          </a:prstGeom>
          <a:solidFill>
            <a:srgbClr val="85B4DE"/>
          </a:solidFill>
          <a:ln w="9952">
            <a:solidFill>
              <a:srgbClr val="3F4B5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baseline-robot-left-ear"/>
          <p:cNvSpPr/>
          <p:nvPr/>
        </p:nvSpPr>
        <p:spPr>
          <a:xfrm>
            <a:off x="9867800" y="1538067"/>
            <a:ext cx="39810" cy="114455"/>
          </a:xfrm>
          <a:prstGeom prst="roundRect">
            <a:avLst/>
          </a:prstGeom>
          <a:solidFill>
            <a:srgbClr val="85B4DE"/>
          </a:solidFill>
          <a:ln w="9952">
            <a:solidFill>
              <a:srgbClr val="3F4B5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baseline-robot-right-ear"/>
          <p:cNvSpPr/>
          <p:nvPr/>
        </p:nvSpPr>
        <p:spPr>
          <a:xfrm>
            <a:off x="10176332" y="1538067"/>
            <a:ext cx="39810" cy="114455"/>
          </a:xfrm>
          <a:prstGeom prst="roundRect">
            <a:avLst/>
          </a:prstGeom>
          <a:solidFill>
            <a:srgbClr val="85B4DE"/>
          </a:solidFill>
          <a:ln w="9952">
            <a:solidFill>
              <a:srgbClr val="3F4B5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baseline-robot-head"/>
          <p:cNvSpPr/>
          <p:nvPr/>
        </p:nvSpPr>
        <p:spPr>
          <a:xfrm>
            <a:off x="9897658" y="1473375"/>
            <a:ext cx="288626" cy="233887"/>
          </a:xfrm>
          <a:prstGeom prst="roundRect">
            <a:avLst/>
          </a:prstGeom>
          <a:solidFill>
            <a:srgbClr val="DDEAF6"/>
          </a:solidFill>
          <a:ln w="14928">
            <a:solidFill>
              <a:srgbClr val="3F4B5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baseline-robot-face"/>
          <p:cNvSpPr/>
          <p:nvPr/>
        </p:nvSpPr>
        <p:spPr>
          <a:xfrm>
            <a:off x="9937468" y="1523138"/>
            <a:ext cx="209005" cy="124408"/>
          </a:xfrm>
          <a:prstGeom prst="ellipse">
            <a:avLst/>
          </a:prstGeom>
          <a:solidFill>
            <a:srgbClr val="FFFFFF"/>
          </a:solidFill>
          <a:ln w="9952">
            <a:solidFill>
              <a:srgbClr val="3F4B5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baseline-robot-eye-l"/>
          <p:cNvSpPr/>
          <p:nvPr/>
        </p:nvSpPr>
        <p:spPr>
          <a:xfrm>
            <a:off x="9977279" y="1562949"/>
            <a:ext cx="24881" cy="24881"/>
          </a:xfrm>
          <a:prstGeom prst="ellipse">
            <a:avLst/>
          </a:prstGeom>
          <a:solidFill>
            <a:srgbClr val="5A9DDB"/>
          </a:solidFill>
          <a:ln w="6379">
            <a:solidFill>
              <a:srgbClr val="3F4B5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baseline-robot-eye-r"/>
          <p:cNvSpPr/>
          <p:nvPr/>
        </p:nvSpPr>
        <p:spPr>
          <a:xfrm>
            <a:off x="10081782" y="1562949"/>
            <a:ext cx="24881" cy="24881"/>
          </a:xfrm>
          <a:prstGeom prst="ellipse">
            <a:avLst/>
          </a:prstGeom>
          <a:solidFill>
            <a:srgbClr val="5A9DDB"/>
          </a:solidFill>
          <a:ln w="6379">
            <a:solidFill>
              <a:srgbClr val="3F4B5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7" name="baseline-robot-mouth"/>
          <p:cNvCxnSpPr/>
          <p:nvPr/>
        </p:nvCxnSpPr>
        <p:spPr>
          <a:xfrm>
            <a:off x="10002160" y="1617688"/>
            <a:ext cx="79622" cy="0"/>
          </a:xfrm>
          <a:prstGeom prst="line">
            <a:avLst/>
          </a:prstGeom>
          <a:ln w="8957">
            <a:solidFill>
              <a:srgbClr val="3F4B5B"/>
            </a:solidFill>
          </a:ln>
          <a:effectLst/>
        </p:spPr>
      </p:cxnSp>
      <p:sp>
        <p:nvSpPr>
          <p:cNvPr id="138" name="baseline-label"/>
          <p:cNvSpPr txBox="1"/>
          <p:nvPr/>
        </p:nvSpPr>
        <p:spPr>
          <a:xfrm>
            <a:off x="9780395" y="1805513"/>
            <a:ext cx="523152" cy="3126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954"/>
              </a:lnSpc>
              <a:spcBef>
                <a:spcPts val="0"/>
              </a:spcBef>
              <a:spcAft>
                <a:spcPts val="0"/>
              </a:spcAft>
            </a:pPr>
            <a:r>
              <a:rPr sz="753" b="0" i="0" u="none">
                <a:solidFill>
                  <a:srgbClr val="000000"/>
                </a:solidFill>
                <a:latin typeface="DejaVu Sans"/>
              </a:rPr>
              <a:t>Baseline</a:t>
            </a:r>
          </a:p>
          <a:p>
            <a:pPr algn="ctr">
              <a:lnSpc>
                <a:spcPts val="954"/>
              </a:lnSpc>
              <a:spcBef>
                <a:spcPts val="0"/>
              </a:spcBef>
              <a:spcAft>
                <a:spcPts val="0"/>
              </a:spcAft>
            </a:pPr>
            <a:r>
              <a:rPr sz="753" b="0" i="0" u="none">
                <a:solidFill>
                  <a:srgbClr val="000000"/>
                </a:solidFill>
                <a:latin typeface="DejaVu Sans"/>
              </a:rPr>
              <a:t>Model</a:t>
            </a:r>
          </a:p>
        </p:txBody>
      </p:sp>
      <p:cxnSp>
        <p:nvCxnSpPr>
          <p:cNvPr id="139" name="baseline-to-rft"/>
          <p:cNvCxnSpPr/>
          <p:nvPr/>
        </p:nvCxnSpPr>
        <p:spPr>
          <a:xfrm>
            <a:off x="10258888" y="1607736"/>
            <a:ext cx="204157" cy="0"/>
          </a:xfrm>
          <a:prstGeom prst="line">
            <a:avLst/>
          </a:prstGeom>
          <a:ln w="44659">
            <a:solidFill>
              <a:srgbClr val="8DBDE8"/>
            </a:solidFill>
            <a:tailEnd type="triangle" w="med" len="med"/>
          </a:ln>
          <a:effectLst/>
        </p:spPr>
      </p:cxnSp>
      <p:sp>
        <p:nvSpPr>
          <p:cNvPr id="140" name="fine-tune-capsule"/>
          <p:cNvSpPr/>
          <p:nvPr/>
        </p:nvSpPr>
        <p:spPr>
          <a:xfrm>
            <a:off x="10494944" y="867667"/>
            <a:ext cx="803868" cy="1212182"/>
          </a:xfrm>
          <a:prstGeom prst="roundRect">
            <a:avLst/>
          </a:prstGeom>
          <a:solidFill>
            <a:srgbClr val="ED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fine-tune-head"/>
          <p:cNvSpPr/>
          <p:nvPr/>
        </p:nvSpPr>
        <p:spPr>
          <a:xfrm>
            <a:off x="10756520" y="931466"/>
            <a:ext cx="299855" cy="318995"/>
          </a:xfrm>
          <a:prstGeom prst="ellipse">
            <a:avLst/>
          </a:prstGeom>
          <a:solidFill>
            <a:srgbClr val="F2C8B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fine-tune-bulb"/>
          <p:cNvSpPr/>
          <p:nvPr/>
        </p:nvSpPr>
        <p:spPr>
          <a:xfrm>
            <a:off x="10839459" y="982505"/>
            <a:ext cx="127598" cy="159497"/>
          </a:xfrm>
          <a:prstGeom prst="ellipse">
            <a:avLst/>
          </a:prstGeom>
          <a:solidFill>
            <a:srgbClr val="F6C13E"/>
          </a:solidFill>
          <a:ln w="6379">
            <a:solidFill>
              <a:srgbClr val="EAAE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3" name="bulb-base-1"/>
          <p:cNvCxnSpPr/>
          <p:nvPr/>
        </p:nvCxnSpPr>
        <p:spPr>
          <a:xfrm>
            <a:off x="10877739" y="1142003"/>
            <a:ext cx="57419" cy="0"/>
          </a:xfrm>
          <a:prstGeom prst="line">
            <a:avLst/>
          </a:prstGeom>
          <a:ln w="12759">
            <a:solidFill>
              <a:srgbClr val="EAAE27"/>
            </a:solidFill>
          </a:ln>
          <a:effectLst/>
        </p:spPr>
      </p:cxnSp>
      <p:sp>
        <p:nvSpPr>
          <p:cNvPr id="144" name="fine-tune-label"/>
          <p:cNvSpPr txBox="1"/>
          <p:nvPr/>
        </p:nvSpPr>
        <p:spPr>
          <a:xfrm>
            <a:off x="10565123" y="1282361"/>
            <a:ext cx="663510" cy="338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778" b="1" i="0" u="none">
                <a:solidFill>
                  <a:srgbClr val="000000"/>
                </a:solidFill>
                <a:latin typeface="DejaVu Sans"/>
              </a:rPr>
              <a:t>Reinforced</a:t>
            </a:r>
          </a:p>
          <a:p>
            <a:pPr algn="ctr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778" b="1" i="0" u="none">
                <a:solidFill>
                  <a:srgbClr val="000000"/>
                </a:solidFill>
                <a:latin typeface="DejaVu Sans"/>
              </a:rPr>
              <a:t>Fine-Tuning</a:t>
            </a:r>
          </a:p>
        </p:txBody>
      </p:sp>
      <p:sp>
        <p:nvSpPr>
          <p:cNvPr id="145" name="book-left"/>
          <p:cNvSpPr/>
          <p:nvPr/>
        </p:nvSpPr>
        <p:spPr>
          <a:xfrm>
            <a:off x="10699101" y="1741714"/>
            <a:ext cx="185017" cy="274335"/>
          </a:xfrm>
          <a:prstGeom prst="roundRect">
            <a:avLst/>
          </a:prstGeom>
          <a:solidFill>
            <a:srgbClr val="A6D3FF"/>
          </a:solidFill>
          <a:ln w="12759">
            <a:solidFill>
              <a:srgbClr val="2674C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book-right"/>
          <p:cNvSpPr/>
          <p:nvPr/>
        </p:nvSpPr>
        <p:spPr>
          <a:xfrm>
            <a:off x="10884119" y="1741714"/>
            <a:ext cx="185017" cy="274335"/>
          </a:xfrm>
          <a:prstGeom prst="roundRect">
            <a:avLst/>
          </a:prstGeom>
          <a:solidFill>
            <a:srgbClr val="A6D3FF"/>
          </a:solidFill>
          <a:ln w="12759">
            <a:solidFill>
              <a:srgbClr val="2674C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7" name="book-spine"/>
          <p:cNvCxnSpPr/>
          <p:nvPr/>
        </p:nvCxnSpPr>
        <p:spPr>
          <a:xfrm>
            <a:off x="10884119" y="1760853"/>
            <a:ext cx="0" cy="229677"/>
          </a:xfrm>
          <a:prstGeom prst="line">
            <a:avLst/>
          </a:prstGeom>
          <a:ln w="12759">
            <a:solidFill>
              <a:srgbClr val="E94E4E"/>
            </a:solidFill>
          </a:ln>
          <a:effectLst/>
        </p:spPr>
      </p:cxnSp>
      <p:cxnSp>
        <p:nvCxnSpPr>
          <p:cNvPr id="148" name="rft-to-initialized"/>
          <p:cNvCxnSpPr/>
          <p:nvPr/>
        </p:nvCxnSpPr>
        <p:spPr>
          <a:xfrm>
            <a:off x="11337092" y="1607736"/>
            <a:ext cx="197777" cy="0"/>
          </a:xfrm>
          <a:prstGeom prst="line">
            <a:avLst/>
          </a:prstGeom>
          <a:ln w="44659">
            <a:solidFill>
              <a:srgbClr val="8DBDE8"/>
            </a:solidFill>
            <a:tailEnd type="triangle" w="med" len="med"/>
          </a:ln>
          <a:effectLst/>
        </p:spPr>
      </p:cxnSp>
      <p:cxnSp>
        <p:nvCxnSpPr>
          <p:cNvPr id="149" name="initialized-robot-antenna"/>
          <p:cNvCxnSpPr/>
          <p:nvPr/>
        </p:nvCxnSpPr>
        <p:spPr>
          <a:xfrm>
            <a:off x="11700746" y="1423612"/>
            <a:ext cx="0" cy="49763"/>
          </a:xfrm>
          <a:prstGeom prst="line">
            <a:avLst/>
          </a:prstGeom>
          <a:ln w="14928">
            <a:solidFill>
              <a:srgbClr val="3F4B5B"/>
            </a:solidFill>
          </a:ln>
          <a:effectLst/>
        </p:spPr>
      </p:cxnSp>
      <p:sp>
        <p:nvSpPr>
          <p:cNvPr id="150" name="initialized-robot-antenna-ball"/>
          <p:cNvSpPr/>
          <p:nvPr/>
        </p:nvSpPr>
        <p:spPr>
          <a:xfrm>
            <a:off x="11680841" y="1393754"/>
            <a:ext cx="39810" cy="39810"/>
          </a:xfrm>
          <a:prstGeom prst="ellipse">
            <a:avLst/>
          </a:prstGeom>
          <a:solidFill>
            <a:srgbClr val="85B4DE"/>
          </a:solidFill>
          <a:ln w="9952">
            <a:solidFill>
              <a:srgbClr val="3F4B5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initialized-robot-left-ear"/>
          <p:cNvSpPr/>
          <p:nvPr/>
        </p:nvSpPr>
        <p:spPr>
          <a:xfrm>
            <a:off x="11526575" y="1538067"/>
            <a:ext cx="39810" cy="114455"/>
          </a:xfrm>
          <a:prstGeom prst="roundRect">
            <a:avLst/>
          </a:prstGeom>
          <a:solidFill>
            <a:srgbClr val="85B4DE"/>
          </a:solidFill>
          <a:ln w="9952">
            <a:solidFill>
              <a:srgbClr val="3F4B5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initialized-robot-right-ear"/>
          <p:cNvSpPr/>
          <p:nvPr/>
        </p:nvSpPr>
        <p:spPr>
          <a:xfrm>
            <a:off x="11835107" y="1538067"/>
            <a:ext cx="39810" cy="114455"/>
          </a:xfrm>
          <a:prstGeom prst="roundRect">
            <a:avLst/>
          </a:prstGeom>
          <a:solidFill>
            <a:srgbClr val="85B4DE"/>
          </a:solidFill>
          <a:ln w="9952">
            <a:solidFill>
              <a:srgbClr val="3F4B5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initialized-robot-head"/>
          <p:cNvSpPr/>
          <p:nvPr/>
        </p:nvSpPr>
        <p:spPr>
          <a:xfrm>
            <a:off x="11556433" y="1473375"/>
            <a:ext cx="288626" cy="233887"/>
          </a:xfrm>
          <a:prstGeom prst="roundRect">
            <a:avLst/>
          </a:prstGeom>
          <a:solidFill>
            <a:srgbClr val="DDEAF6"/>
          </a:solidFill>
          <a:ln w="14928">
            <a:solidFill>
              <a:srgbClr val="3F4B5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initialized-robot-face"/>
          <p:cNvSpPr/>
          <p:nvPr/>
        </p:nvSpPr>
        <p:spPr>
          <a:xfrm>
            <a:off x="11596244" y="1523138"/>
            <a:ext cx="209005" cy="124408"/>
          </a:xfrm>
          <a:prstGeom prst="ellipse">
            <a:avLst/>
          </a:prstGeom>
          <a:solidFill>
            <a:srgbClr val="FFFFFF"/>
          </a:solidFill>
          <a:ln w="9952">
            <a:solidFill>
              <a:srgbClr val="3F4B5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initialized-robot-eye-l"/>
          <p:cNvSpPr/>
          <p:nvPr/>
        </p:nvSpPr>
        <p:spPr>
          <a:xfrm>
            <a:off x="11636054" y="1562949"/>
            <a:ext cx="24881" cy="24881"/>
          </a:xfrm>
          <a:prstGeom prst="ellipse">
            <a:avLst/>
          </a:prstGeom>
          <a:solidFill>
            <a:srgbClr val="5A9DDB"/>
          </a:solidFill>
          <a:ln w="6379">
            <a:solidFill>
              <a:srgbClr val="3F4B5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initialized-robot-eye-r"/>
          <p:cNvSpPr/>
          <p:nvPr/>
        </p:nvSpPr>
        <p:spPr>
          <a:xfrm>
            <a:off x="11740557" y="1562949"/>
            <a:ext cx="24881" cy="24881"/>
          </a:xfrm>
          <a:prstGeom prst="ellipse">
            <a:avLst/>
          </a:prstGeom>
          <a:solidFill>
            <a:srgbClr val="5A9DDB"/>
          </a:solidFill>
          <a:ln w="6379">
            <a:solidFill>
              <a:srgbClr val="3F4B5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7" name="initialized-robot-mouth"/>
          <p:cNvCxnSpPr/>
          <p:nvPr/>
        </p:nvCxnSpPr>
        <p:spPr>
          <a:xfrm>
            <a:off x="11660936" y="1617688"/>
            <a:ext cx="79621" cy="0"/>
          </a:xfrm>
          <a:prstGeom prst="line">
            <a:avLst/>
          </a:prstGeom>
          <a:ln w="8957">
            <a:solidFill>
              <a:srgbClr val="3F4B5B"/>
            </a:solidFill>
          </a:ln>
          <a:effectLst/>
        </p:spPr>
      </p:cxnSp>
      <p:sp>
        <p:nvSpPr>
          <p:cNvPr id="158" name="initialized-label"/>
          <p:cNvSpPr txBox="1"/>
          <p:nvPr/>
        </p:nvSpPr>
        <p:spPr>
          <a:xfrm>
            <a:off x="11407271" y="1811893"/>
            <a:ext cx="599711" cy="2998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904"/>
              </a:lnSpc>
              <a:spcBef>
                <a:spcPts val="0"/>
              </a:spcBef>
              <a:spcAft>
                <a:spcPts val="0"/>
              </a:spcAft>
            </a:pPr>
            <a:r>
              <a:rPr sz="728" b="0" i="0" u="none">
                <a:solidFill>
                  <a:srgbClr val="000000"/>
                </a:solidFill>
                <a:latin typeface="DejaVu Sans"/>
              </a:rPr>
              <a:t>RFT Initialized</a:t>
            </a:r>
          </a:p>
          <a:p>
            <a:pPr algn="ctr">
              <a:lnSpc>
                <a:spcPts val="904"/>
              </a:lnSpc>
              <a:spcBef>
                <a:spcPts val="0"/>
              </a:spcBef>
              <a:spcAft>
                <a:spcPts val="0"/>
              </a:spcAft>
            </a:pPr>
            <a:r>
              <a:rPr sz="728" b="0" i="0" u="none">
                <a:solidFill>
                  <a:srgbClr val="000000"/>
                </a:solidFill>
                <a:latin typeface="DejaVu Sans"/>
              </a:rPr>
              <a:t>Model</a:t>
            </a:r>
          </a:p>
        </p:txBody>
      </p:sp>
      <p:sp>
        <p:nvSpPr>
          <p:cNvPr id="159" name="sgrpo-title"/>
          <p:cNvSpPr txBox="1"/>
          <p:nvPr/>
        </p:nvSpPr>
        <p:spPr>
          <a:xfrm>
            <a:off x="6966856" y="2430744"/>
            <a:ext cx="5052885" cy="255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45"/>
              </a:lnSpc>
              <a:spcBef>
                <a:spcPts val="0"/>
              </a:spcBef>
              <a:spcAft>
                <a:spcPts val="0"/>
              </a:spcAft>
            </a:pPr>
            <a:r>
              <a:rPr sz="1406" b="1" i="0" u="none">
                <a:solidFill>
                  <a:srgbClr val="000000"/>
                </a:solidFill>
                <a:latin typeface="Liberation Serif"/>
              </a:rPr>
              <a:t>Suggestion-Aware Group Relative Policy Optimization (S-GRPO)</a:t>
            </a:r>
          </a:p>
        </p:txBody>
      </p:sp>
      <p:sp>
        <p:nvSpPr>
          <p:cNvPr id="160" name="query-label"/>
          <p:cNvSpPr txBox="1"/>
          <p:nvPr/>
        </p:nvSpPr>
        <p:spPr>
          <a:xfrm>
            <a:off x="7202913" y="2794398"/>
            <a:ext cx="497632" cy="2232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05" b="0" i="0" u="none">
                <a:solidFill>
                  <a:srgbClr val="000000"/>
                </a:solidFill>
                <a:latin typeface="DejaVu Sans"/>
              </a:rPr>
              <a:t>Query</a:t>
            </a:r>
          </a:p>
        </p:txBody>
      </p:sp>
      <p:sp>
        <p:nvSpPr>
          <p:cNvPr id="161" name="query-input"/>
          <p:cNvSpPr/>
          <p:nvPr/>
        </p:nvSpPr>
        <p:spPr>
          <a:xfrm>
            <a:off x="7706926" y="2711459"/>
            <a:ext cx="2124508" cy="459353"/>
          </a:xfrm>
          <a:prstGeom prst="rect">
            <a:avLst/>
          </a:prstGeom>
          <a:solidFill>
            <a:srgbClr val="FFFFFF"/>
          </a:solidFill>
          <a:ln w="7655">
            <a:solidFill>
              <a:srgbClr val="8D8D8D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query-input-copy"/>
          <p:cNvSpPr txBox="1"/>
          <p:nvPr/>
        </p:nvSpPr>
        <p:spPr>
          <a:xfrm>
            <a:off x="7809004" y="2781638"/>
            <a:ext cx="1945871" cy="325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4"/>
              </a:lnSpc>
              <a:spcBef>
                <a:spcPts val="0"/>
              </a:spcBef>
              <a:spcAft>
                <a:spcPts val="0"/>
              </a:spcAft>
            </a:pPr>
            <a:r>
              <a:rPr sz="778" b="0" i="0" u="none">
                <a:solidFill>
                  <a:srgbClr val="000000"/>
                </a:solidFill>
                <a:latin typeface="DejaVu Sans"/>
              </a:rPr>
              <a:t>Task Instruction; Operation History;</a:t>
            </a:r>
          </a:p>
          <a:p>
            <a:pPr algn="l">
              <a:lnSpc>
                <a:spcPts val="1054"/>
              </a:lnSpc>
              <a:spcBef>
                <a:spcPts val="0"/>
              </a:spcBef>
              <a:spcAft>
                <a:spcPts val="0"/>
              </a:spcAft>
            </a:pPr>
            <a:r>
              <a:rPr sz="778" b="0" i="0" u="none">
                <a:solidFill>
                  <a:srgbClr val="000000"/>
                </a:solidFill>
                <a:latin typeface="DejaVu Sans"/>
              </a:rPr>
              <a:t>Screenshot; Action</a:t>
            </a:r>
          </a:p>
        </p:txBody>
      </p:sp>
      <p:cxnSp>
        <p:nvCxnSpPr>
          <p:cNvPr id="163" name="query-to-policy"/>
          <p:cNvCxnSpPr/>
          <p:nvPr/>
        </p:nvCxnSpPr>
        <p:spPr>
          <a:xfrm>
            <a:off x="8689431" y="3177193"/>
            <a:ext cx="0" cy="210536"/>
          </a:xfrm>
          <a:prstGeom prst="line">
            <a:avLst/>
          </a:prstGeom>
          <a:ln w="25519">
            <a:solidFill>
              <a:srgbClr val="347FBC"/>
            </a:solidFill>
            <a:tailEnd type="triangle" w="med" len="med"/>
          </a:ln>
          <a:effectLst/>
        </p:spPr>
      </p:cxnSp>
      <p:cxnSp>
        <p:nvCxnSpPr>
          <p:cNvPr id="164" name="policy-robot-antenna"/>
          <p:cNvCxnSpPr/>
          <p:nvPr/>
        </p:nvCxnSpPr>
        <p:spPr>
          <a:xfrm>
            <a:off x="8689431" y="3351045"/>
            <a:ext cx="0" cy="47849"/>
          </a:xfrm>
          <a:prstGeom prst="line">
            <a:avLst/>
          </a:prstGeom>
          <a:ln w="14354">
            <a:solidFill>
              <a:srgbClr val="3F4B5B"/>
            </a:solidFill>
          </a:ln>
          <a:effectLst/>
        </p:spPr>
      </p:cxnSp>
      <p:sp>
        <p:nvSpPr>
          <p:cNvPr id="165" name="policy-robot-antenna-ball"/>
          <p:cNvSpPr/>
          <p:nvPr/>
        </p:nvSpPr>
        <p:spPr>
          <a:xfrm>
            <a:off x="8670291" y="3322335"/>
            <a:ext cx="38279" cy="38279"/>
          </a:xfrm>
          <a:prstGeom prst="ellipse">
            <a:avLst/>
          </a:prstGeom>
          <a:solidFill>
            <a:srgbClr val="85B4DE"/>
          </a:solidFill>
          <a:ln w="9569">
            <a:solidFill>
              <a:srgbClr val="3F4B5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policy-robot-left-ear"/>
          <p:cNvSpPr/>
          <p:nvPr/>
        </p:nvSpPr>
        <p:spPr>
          <a:xfrm>
            <a:off x="8521958" y="3461098"/>
            <a:ext cx="38279" cy="110053"/>
          </a:xfrm>
          <a:prstGeom prst="roundRect">
            <a:avLst/>
          </a:prstGeom>
          <a:solidFill>
            <a:srgbClr val="85B4DE"/>
          </a:solidFill>
          <a:ln w="9569">
            <a:solidFill>
              <a:srgbClr val="3F4B5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policy-robot-right-ear"/>
          <p:cNvSpPr/>
          <p:nvPr/>
        </p:nvSpPr>
        <p:spPr>
          <a:xfrm>
            <a:off x="8818624" y="3461098"/>
            <a:ext cx="38279" cy="110053"/>
          </a:xfrm>
          <a:prstGeom prst="roundRect">
            <a:avLst/>
          </a:prstGeom>
          <a:solidFill>
            <a:srgbClr val="85B4DE"/>
          </a:solidFill>
          <a:ln w="9569">
            <a:solidFill>
              <a:srgbClr val="3F4B5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policy-robot-head"/>
          <p:cNvSpPr/>
          <p:nvPr/>
        </p:nvSpPr>
        <p:spPr>
          <a:xfrm>
            <a:off x="8550668" y="3398894"/>
            <a:ext cx="277525" cy="224891"/>
          </a:xfrm>
          <a:prstGeom prst="roundRect">
            <a:avLst/>
          </a:prstGeom>
          <a:solidFill>
            <a:srgbClr val="DDEAF6"/>
          </a:solidFill>
          <a:ln w="14354">
            <a:solidFill>
              <a:srgbClr val="3F4B5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policy-robot-face"/>
          <p:cNvSpPr/>
          <p:nvPr/>
        </p:nvSpPr>
        <p:spPr>
          <a:xfrm>
            <a:off x="8588947" y="3446744"/>
            <a:ext cx="200967" cy="119623"/>
          </a:xfrm>
          <a:prstGeom prst="ellipse">
            <a:avLst/>
          </a:prstGeom>
          <a:solidFill>
            <a:srgbClr val="FFFFFF"/>
          </a:solidFill>
          <a:ln w="9569">
            <a:solidFill>
              <a:srgbClr val="3F4B5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policy-robot-eye-l"/>
          <p:cNvSpPr/>
          <p:nvPr/>
        </p:nvSpPr>
        <p:spPr>
          <a:xfrm>
            <a:off x="8627227" y="3485023"/>
            <a:ext cx="23924" cy="23924"/>
          </a:xfrm>
          <a:prstGeom prst="ellipse">
            <a:avLst/>
          </a:prstGeom>
          <a:solidFill>
            <a:srgbClr val="5A9DDB"/>
          </a:solidFill>
          <a:ln w="6379">
            <a:solidFill>
              <a:srgbClr val="3F4B5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policy-robot-eye-r"/>
          <p:cNvSpPr/>
          <p:nvPr/>
        </p:nvSpPr>
        <p:spPr>
          <a:xfrm>
            <a:off x="8727710" y="3485023"/>
            <a:ext cx="23924" cy="23924"/>
          </a:xfrm>
          <a:prstGeom prst="ellipse">
            <a:avLst/>
          </a:prstGeom>
          <a:solidFill>
            <a:srgbClr val="5A9DDB"/>
          </a:solidFill>
          <a:ln w="6379">
            <a:solidFill>
              <a:srgbClr val="3F4B5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2" name="policy-robot-mouth"/>
          <p:cNvCxnSpPr/>
          <p:nvPr/>
        </p:nvCxnSpPr>
        <p:spPr>
          <a:xfrm>
            <a:off x="8651152" y="3537657"/>
            <a:ext cx="76558" cy="0"/>
          </a:xfrm>
          <a:prstGeom prst="line">
            <a:avLst/>
          </a:prstGeom>
          <a:ln w="8612">
            <a:solidFill>
              <a:srgbClr val="3F4B5B"/>
            </a:solidFill>
          </a:ln>
          <a:effectLst/>
        </p:spPr>
      </p:cxnSp>
      <p:cxnSp>
        <p:nvCxnSpPr>
          <p:cNvPr id="173" name="policy-to-output"/>
          <p:cNvCxnSpPr/>
          <p:nvPr/>
        </p:nvCxnSpPr>
        <p:spPr>
          <a:xfrm>
            <a:off x="8689431" y="3732244"/>
            <a:ext cx="0" cy="159498"/>
          </a:xfrm>
          <a:prstGeom prst="line">
            <a:avLst/>
          </a:prstGeom>
          <a:ln w="25519">
            <a:solidFill>
              <a:srgbClr val="347FBC"/>
            </a:solidFill>
            <a:tailEnd type="triangle" w="med" len="med"/>
          </a:ln>
          <a:effectLst/>
        </p:spPr>
      </p:cxnSp>
      <p:sp>
        <p:nvSpPr>
          <p:cNvPr id="174" name="optimization-cap"/>
          <p:cNvSpPr/>
          <p:nvPr/>
        </p:nvSpPr>
        <p:spPr>
          <a:xfrm>
            <a:off x="7655886" y="3253751"/>
            <a:ext cx="299855" cy="165877"/>
          </a:xfrm>
          <a:prstGeom prst="diamond">
            <a:avLst/>
          </a:prstGeom>
          <a:solidFill>
            <a:srgbClr val="3438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5" name="cap-brim"/>
          <p:cNvCxnSpPr/>
          <p:nvPr/>
        </p:nvCxnSpPr>
        <p:spPr>
          <a:xfrm>
            <a:off x="7726065" y="3374970"/>
            <a:ext cx="159498" cy="0"/>
          </a:xfrm>
          <a:prstGeom prst="line">
            <a:avLst/>
          </a:prstGeom>
          <a:ln w="25519">
            <a:solidFill>
              <a:srgbClr val="34383D"/>
            </a:solidFill>
          </a:ln>
          <a:effectLst/>
        </p:spPr>
      </p:cxnSp>
      <p:cxnSp>
        <p:nvCxnSpPr>
          <p:cNvPr id="176" name="optimization-top"/>
          <p:cNvCxnSpPr/>
          <p:nvPr/>
        </p:nvCxnSpPr>
        <p:spPr>
          <a:xfrm>
            <a:off x="7100834" y="3457908"/>
            <a:ext cx="1429099" cy="0"/>
          </a:xfrm>
          <a:prstGeom prst="line">
            <a:avLst/>
          </a:prstGeom>
          <a:ln w="16587">
            <a:solidFill>
              <a:srgbClr val="3E78D4"/>
            </a:solidFill>
            <a:prstDash val="dash"/>
            <a:tailEnd type="triangle" w="med" len="med"/>
          </a:ln>
          <a:effectLst/>
        </p:spPr>
      </p:cxnSp>
      <p:cxnSp>
        <p:nvCxnSpPr>
          <p:cNvPr id="177" name="optimization-left"/>
          <p:cNvCxnSpPr/>
          <p:nvPr/>
        </p:nvCxnSpPr>
        <p:spPr>
          <a:xfrm>
            <a:off x="7100834" y="3457908"/>
            <a:ext cx="0" cy="1933112"/>
          </a:xfrm>
          <a:prstGeom prst="line">
            <a:avLst/>
          </a:prstGeom>
          <a:ln w="16587">
            <a:solidFill>
              <a:srgbClr val="3E78D4"/>
            </a:solidFill>
            <a:prstDash val="dash"/>
          </a:ln>
          <a:effectLst/>
        </p:spPr>
      </p:cxnSp>
      <p:cxnSp>
        <p:nvCxnSpPr>
          <p:cNvPr id="178" name="optimization-bottom"/>
          <p:cNvCxnSpPr/>
          <p:nvPr/>
        </p:nvCxnSpPr>
        <p:spPr>
          <a:xfrm>
            <a:off x="7100834" y="5391020"/>
            <a:ext cx="580572" cy="0"/>
          </a:xfrm>
          <a:prstGeom prst="line">
            <a:avLst/>
          </a:prstGeom>
          <a:ln w="16587">
            <a:solidFill>
              <a:srgbClr val="3E78D4"/>
            </a:solidFill>
            <a:prstDash val="dash"/>
          </a:ln>
          <a:effectLst/>
        </p:spPr>
      </p:cxnSp>
      <p:sp>
        <p:nvSpPr>
          <p:cNvPr id="179" name="optimization-label"/>
          <p:cNvSpPr txBox="1"/>
          <p:nvPr/>
        </p:nvSpPr>
        <p:spPr>
          <a:xfrm>
            <a:off x="7381550" y="3489808"/>
            <a:ext cx="1097343" cy="191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34"/>
              </a:lnSpc>
              <a:spcBef>
                <a:spcPts val="0"/>
              </a:spcBef>
              <a:spcAft>
                <a:spcPts val="0"/>
              </a:spcAft>
            </a:pPr>
            <a:r>
              <a:rPr sz="1054" b="0" i="0" u="none">
                <a:solidFill>
                  <a:srgbClr val="3E78D4"/>
                </a:solidFill>
                <a:latin typeface="Liberation Serif"/>
              </a:rPr>
              <a:t>Optimization</a:t>
            </a:r>
          </a:p>
        </p:txBody>
      </p:sp>
      <p:sp>
        <p:nvSpPr>
          <p:cNvPr id="180" name="output-label"/>
          <p:cNvSpPr txBox="1"/>
          <p:nvPr/>
        </p:nvSpPr>
        <p:spPr>
          <a:xfrm>
            <a:off x="7209293" y="3961921"/>
            <a:ext cx="574191" cy="2041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93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 u="none">
                <a:solidFill>
                  <a:srgbClr val="000000"/>
                </a:solidFill>
                <a:latin typeface="DejaVu Sans"/>
              </a:rPr>
              <a:t>Output</a:t>
            </a:r>
          </a:p>
        </p:txBody>
      </p:sp>
      <p:sp>
        <p:nvSpPr>
          <p:cNvPr id="181" name="reward-label"/>
          <p:cNvSpPr txBox="1"/>
          <p:nvPr/>
        </p:nvSpPr>
        <p:spPr>
          <a:xfrm>
            <a:off x="7202913" y="4427654"/>
            <a:ext cx="574191" cy="2041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93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 u="none">
                <a:solidFill>
                  <a:srgbClr val="000000"/>
                </a:solidFill>
                <a:latin typeface="DejaVu Sans"/>
              </a:rPr>
              <a:t>Reward</a:t>
            </a:r>
          </a:p>
        </p:txBody>
      </p:sp>
      <p:sp>
        <p:nvSpPr>
          <p:cNvPr id="182" name="advantage-label"/>
          <p:cNvSpPr txBox="1"/>
          <p:nvPr/>
        </p:nvSpPr>
        <p:spPr>
          <a:xfrm>
            <a:off x="8185418" y="5461199"/>
            <a:ext cx="1046304" cy="2041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75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 u="none">
                <a:solidFill>
                  <a:srgbClr val="000000"/>
                </a:solidFill>
                <a:latin typeface="DejaVu Sans"/>
              </a:rPr>
              <a:t>Advantage</a:t>
            </a:r>
          </a:p>
        </p:txBody>
      </p:sp>
      <p:sp>
        <p:nvSpPr>
          <p:cNvPr id="183" name="output-1"/>
          <p:cNvSpPr/>
          <p:nvPr/>
        </p:nvSpPr>
        <p:spPr>
          <a:xfrm>
            <a:off x="7789864" y="3942781"/>
            <a:ext cx="555051" cy="236056"/>
          </a:xfrm>
          <a:prstGeom prst="roundRect">
            <a:avLst/>
          </a:prstGeom>
          <a:solidFill>
            <a:srgbClr val="B7D2ED"/>
          </a:solidFill>
          <a:ln w="7655">
            <a:solidFill>
              <a:srgbClr val="1736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output-1-label"/>
          <p:cNvSpPr txBox="1"/>
          <p:nvPr/>
        </p:nvSpPr>
        <p:spPr>
          <a:xfrm>
            <a:off x="7789864" y="3974681"/>
            <a:ext cx="555051" cy="1786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999"/>
              </a:lnSpc>
              <a:spcBef>
                <a:spcPts val="0"/>
              </a:spcBef>
              <a:spcAft>
                <a:spcPts val="0"/>
              </a:spcAft>
            </a:pPr>
            <a:r>
              <a:rPr sz="854" b="0" i="1" u="none">
                <a:solidFill>
                  <a:srgbClr val="FFFFFF"/>
                </a:solidFill>
                <a:latin typeface="Liberation Serif"/>
              </a:rPr>
              <a:t>o1</a:t>
            </a:r>
          </a:p>
        </p:txBody>
      </p:sp>
      <p:cxnSp>
        <p:nvCxnSpPr>
          <p:cNvPr id="185" name="output-1-down"/>
          <p:cNvCxnSpPr/>
          <p:nvPr/>
        </p:nvCxnSpPr>
        <p:spPr>
          <a:xfrm>
            <a:off x="8067390" y="4185218"/>
            <a:ext cx="0" cy="191397"/>
          </a:xfrm>
          <a:prstGeom prst="line">
            <a:avLst/>
          </a:prstGeom>
          <a:ln w="25519">
            <a:solidFill>
              <a:srgbClr val="347FBC"/>
            </a:solidFill>
            <a:tailEnd type="triangle" w="med" len="med"/>
          </a:ln>
          <a:effectLst/>
        </p:spPr>
      </p:cxnSp>
      <p:sp>
        <p:nvSpPr>
          <p:cNvPr id="186" name="reward-1"/>
          <p:cNvSpPr/>
          <p:nvPr/>
        </p:nvSpPr>
        <p:spPr>
          <a:xfrm>
            <a:off x="7789864" y="4414894"/>
            <a:ext cx="555051" cy="236056"/>
          </a:xfrm>
          <a:prstGeom prst="roundRect">
            <a:avLst/>
          </a:prstGeom>
          <a:solidFill>
            <a:srgbClr val="ABBFE4"/>
          </a:solidFill>
          <a:ln w="7655">
            <a:solidFill>
              <a:srgbClr val="1736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reward-1-label"/>
          <p:cNvSpPr txBox="1"/>
          <p:nvPr/>
        </p:nvSpPr>
        <p:spPr>
          <a:xfrm>
            <a:off x="7789864" y="4446794"/>
            <a:ext cx="555051" cy="1786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999"/>
              </a:lnSpc>
              <a:spcBef>
                <a:spcPts val="0"/>
              </a:spcBef>
              <a:spcAft>
                <a:spcPts val="0"/>
              </a:spcAft>
            </a:pPr>
            <a:r>
              <a:rPr sz="854" b="0" i="1" u="none">
                <a:solidFill>
                  <a:srgbClr val="FFFFFF"/>
                </a:solidFill>
                <a:latin typeface="Liberation Serif"/>
              </a:rPr>
              <a:t>r1</a:t>
            </a:r>
          </a:p>
        </p:txBody>
      </p:sp>
      <p:cxnSp>
        <p:nvCxnSpPr>
          <p:cNvPr id="188" name="reward-1-down"/>
          <p:cNvCxnSpPr/>
          <p:nvPr/>
        </p:nvCxnSpPr>
        <p:spPr>
          <a:xfrm>
            <a:off x="8067390" y="4657331"/>
            <a:ext cx="0" cy="178637"/>
          </a:xfrm>
          <a:prstGeom prst="line">
            <a:avLst/>
          </a:prstGeom>
          <a:ln w="25519">
            <a:solidFill>
              <a:srgbClr val="347FBC"/>
            </a:solidFill>
            <a:tailEnd type="triangle" w="med" len="med"/>
          </a:ln>
          <a:effectLst/>
        </p:spPr>
      </p:cxnSp>
      <p:sp>
        <p:nvSpPr>
          <p:cNvPr id="189" name="output-2"/>
          <p:cNvSpPr/>
          <p:nvPr/>
        </p:nvSpPr>
        <p:spPr>
          <a:xfrm>
            <a:off x="8421475" y="3942781"/>
            <a:ext cx="555051" cy="236056"/>
          </a:xfrm>
          <a:prstGeom prst="roundRect">
            <a:avLst/>
          </a:prstGeom>
          <a:solidFill>
            <a:srgbClr val="B7D2ED"/>
          </a:solidFill>
          <a:ln w="7655">
            <a:solidFill>
              <a:srgbClr val="1736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output-2-label"/>
          <p:cNvSpPr txBox="1"/>
          <p:nvPr/>
        </p:nvSpPr>
        <p:spPr>
          <a:xfrm>
            <a:off x="8421475" y="3974681"/>
            <a:ext cx="555051" cy="1786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999"/>
              </a:lnSpc>
              <a:spcBef>
                <a:spcPts val="0"/>
              </a:spcBef>
              <a:spcAft>
                <a:spcPts val="0"/>
              </a:spcAft>
            </a:pPr>
            <a:r>
              <a:rPr sz="854" b="0" i="1" u="none">
                <a:solidFill>
                  <a:srgbClr val="FFFFFF"/>
                </a:solidFill>
                <a:latin typeface="Liberation Serif"/>
              </a:rPr>
              <a:t>o2</a:t>
            </a:r>
          </a:p>
        </p:txBody>
      </p:sp>
      <p:cxnSp>
        <p:nvCxnSpPr>
          <p:cNvPr id="191" name="output-2-down"/>
          <p:cNvCxnSpPr/>
          <p:nvPr/>
        </p:nvCxnSpPr>
        <p:spPr>
          <a:xfrm>
            <a:off x="8699001" y="4185218"/>
            <a:ext cx="0" cy="191397"/>
          </a:xfrm>
          <a:prstGeom prst="line">
            <a:avLst/>
          </a:prstGeom>
          <a:ln w="25519">
            <a:solidFill>
              <a:srgbClr val="347FBC"/>
            </a:solidFill>
            <a:tailEnd type="triangle" w="med" len="med"/>
          </a:ln>
          <a:effectLst/>
        </p:spPr>
      </p:cxnSp>
      <p:sp>
        <p:nvSpPr>
          <p:cNvPr id="192" name="reward-2"/>
          <p:cNvSpPr/>
          <p:nvPr/>
        </p:nvSpPr>
        <p:spPr>
          <a:xfrm>
            <a:off x="8421475" y="4414894"/>
            <a:ext cx="555051" cy="236056"/>
          </a:xfrm>
          <a:prstGeom prst="roundRect">
            <a:avLst/>
          </a:prstGeom>
          <a:solidFill>
            <a:srgbClr val="ABBFE4"/>
          </a:solidFill>
          <a:ln w="7655">
            <a:solidFill>
              <a:srgbClr val="1736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reward-2-label"/>
          <p:cNvSpPr txBox="1"/>
          <p:nvPr/>
        </p:nvSpPr>
        <p:spPr>
          <a:xfrm>
            <a:off x="8421475" y="4446794"/>
            <a:ext cx="555051" cy="1786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999"/>
              </a:lnSpc>
              <a:spcBef>
                <a:spcPts val="0"/>
              </a:spcBef>
              <a:spcAft>
                <a:spcPts val="0"/>
              </a:spcAft>
            </a:pPr>
            <a:r>
              <a:rPr sz="854" b="0" i="1" u="none">
                <a:solidFill>
                  <a:srgbClr val="FFFFFF"/>
                </a:solidFill>
                <a:latin typeface="Liberation Serif"/>
              </a:rPr>
              <a:t>r2</a:t>
            </a:r>
          </a:p>
        </p:txBody>
      </p:sp>
      <p:cxnSp>
        <p:nvCxnSpPr>
          <p:cNvPr id="194" name="reward-2-down"/>
          <p:cNvCxnSpPr/>
          <p:nvPr/>
        </p:nvCxnSpPr>
        <p:spPr>
          <a:xfrm>
            <a:off x="8699001" y="4657331"/>
            <a:ext cx="0" cy="178637"/>
          </a:xfrm>
          <a:prstGeom prst="line">
            <a:avLst/>
          </a:prstGeom>
          <a:ln w="25519">
            <a:solidFill>
              <a:srgbClr val="347FBC"/>
            </a:solidFill>
            <a:tailEnd type="triangle" w="med" len="med"/>
          </a:ln>
          <a:effectLst/>
        </p:spPr>
      </p:cxnSp>
      <p:sp>
        <p:nvSpPr>
          <p:cNvPr id="195" name="output-3"/>
          <p:cNvSpPr/>
          <p:nvPr/>
        </p:nvSpPr>
        <p:spPr>
          <a:xfrm>
            <a:off x="9053086" y="3942781"/>
            <a:ext cx="555051" cy="236056"/>
          </a:xfrm>
          <a:prstGeom prst="roundRect">
            <a:avLst/>
          </a:prstGeom>
          <a:solidFill>
            <a:srgbClr val="B7D2ED"/>
          </a:solidFill>
          <a:ln w="7655">
            <a:solidFill>
              <a:srgbClr val="1736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output-3-label"/>
          <p:cNvSpPr txBox="1"/>
          <p:nvPr/>
        </p:nvSpPr>
        <p:spPr>
          <a:xfrm>
            <a:off x="9053086" y="3974681"/>
            <a:ext cx="555051" cy="1786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999"/>
              </a:lnSpc>
              <a:spcBef>
                <a:spcPts val="0"/>
              </a:spcBef>
              <a:spcAft>
                <a:spcPts val="0"/>
              </a:spcAft>
            </a:pPr>
            <a:r>
              <a:rPr sz="854" b="0" i="1" u="none">
                <a:solidFill>
                  <a:srgbClr val="FFFFFF"/>
                </a:solidFill>
                <a:latin typeface="Liberation Serif"/>
              </a:rPr>
              <a:t>o3</a:t>
            </a:r>
          </a:p>
        </p:txBody>
      </p:sp>
      <p:cxnSp>
        <p:nvCxnSpPr>
          <p:cNvPr id="197" name="output-3-down"/>
          <p:cNvCxnSpPr/>
          <p:nvPr/>
        </p:nvCxnSpPr>
        <p:spPr>
          <a:xfrm>
            <a:off x="9330612" y="4185218"/>
            <a:ext cx="0" cy="191397"/>
          </a:xfrm>
          <a:prstGeom prst="line">
            <a:avLst/>
          </a:prstGeom>
          <a:ln w="25519">
            <a:solidFill>
              <a:srgbClr val="347FBC"/>
            </a:solidFill>
            <a:tailEnd type="triangle" w="med" len="med"/>
          </a:ln>
          <a:effectLst/>
        </p:spPr>
      </p:cxnSp>
      <p:sp>
        <p:nvSpPr>
          <p:cNvPr id="198" name="reward-3"/>
          <p:cNvSpPr/>
          <p:nvPr/>
        </p:nvSpPr>
        <p:spPr>
          <a:xfrm>
            <a:off x="9053086" y="4414894"/>
            <a:ext cx="555051" cy="236056"/>
          </a:xfrm>
          <a:prstGeom prst="roundRect">
            <a:avLst/>
          </a:prstGeom>
          <a:solidFill>
            <a:srgbClr val="ABBFE4"/>
          </a:solidFill>
          <a:ln w="7655">
            <a:solidFill>
              <a:srgbClr val="1736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reward-3-label"/>
          <p:cNvSpPr txBox="1"/>
          <p:nvPr/>
        </p:nvSpPr>
        <p:spPr>
          <a:xfrm>
            <a:off x="9053086" y="4446794"/>
            <a:ext cx="555051" cy="1786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999"/>
              </a:lnSpc>
              <a:spcBef>
                <a:spcPts val="0"/>
              </a:spcBef>
              <a:spcAft>
                <a:spcPts val="0"/>
              </a:spcAft>
            </a:pPr>
            <a:r>
              <a:rPr sz="854" b="0" i="1" u="none">
                <a:solidFill>
                  <a:srgbClr val="FFFFFF"/>
                </a:solidFill>
                <a:latin typeface="Liberation Serif"/>
              </a:rPr>
              <a:t>r3</a:t>
            </a:r>
          </a:p>
        </p:txBody>
      </p:sp>
      <p:cxnSp>
        <p:nvCxnSpPr>
          <p:cNvPr id="200" name="reward-3-down"/>
          <p:cNvCxnSpPr/>
          <p:nvPr/>
        </p:nvCxnSpPr>
        <p:spPr>
          <a:xfrm>
            <a:off x="9330612" y="4657331"/>
            <a:ext cx="0" cy="178637"/>
          </a:xfrm>
          <a:prstGeom prst="line">
            <a:avLst/>
          </a:prstGeom>
          <a:ln w="25519">
            <a:solidFill>
              <a:srgbClr val="347FBC"/>
            </a:solidFill>
            <a:tailEnd type="triangle" w="med" len="med"/>
          </a:ln>
          <a:effectLst/>
        </p:spPr>
      </p:cxnSp>
      <p:sp>
        <p:nvSpPr>
          <p:cNvPr id="201" name="group-computation"/>
          <p:cNvSpPr/>
          <p:nvPr/>
        </p:nvSpPr>
        <p:spPr>
          <a:xfrm>
            <a:off x="7815384" y="4874247"/>
            <a:ext cx="1799133" cy="229676"/>
          </a:xfrm>
          <a:prstGeom prst="roundRect">
            <a:avLst/>
          </a:prstGeom>
          <a:solidFill>
            <a:srgbClr val="D5DCE6"/>
          </a:solidFill>
          <a:ln w="7655">
            <a:solidFill>
              <a:srgbClr val="1736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group-computation-label"/>
          <p:cNvSpPr txBox="1"/>
          <p:nvPr/>
        </p:nvSpPr>
        <p:spPr>
          <a:xfrm>
            <a:off x="7828144" y="4912527"/>
            <a:ext cx="1773613" cy="1658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16"/>
              </a:lnSpc>
              <a:spcBef>
                <a:spcPts val="0"/>
              </a:spcBef>
              <a:spcAft>
                <a:spcPts val="0"/>
              </a:spcAft>
            </a:pPr>
            <a:r>
              <a:rPr sz="954" b="0" i="0" u="none">
                <a:solidFill>
                  <a:srgbClr val="FFFFFF"/>
                </a:solidFill>
                <a:latin typeface="Liberation Serif"/>
              </a:rPr>
              <a:t>Group Computation</a:t>
            </a:r>
          </a:p>
        </p:txBody>
      </p:sp>
      <p:sp>
        <p:nvSpPr>
          <p:cNvPr id="203" name="advantage-1"/>
          <p:cNvSpPr/>
          <p:nvPr/>
        </p:nvSpPr>
        <p:spPr>
          <a:xfrm>
            <a:off x="7802624" y="5199623"/>
            <a:ext cx="561431" cy="236056"/>
          </a:xfrm>
          <a:prstGeom prst="roundRect">
            <a:avLst/>
          </a:prstGeom>
          <a:solidFill>
            <a:srgbClr val="85B4DE"/>
          </a:solidFill>
          <a:ln w="7655">
            <a:solidFill>
              <a:srgbClr val="1736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advantage-1-label"/>
          <p:cNvSpPr txBox="1"/>
          <p:nvPr/>
        </p:nvSpPr>
        <p:spPr>
          <a:xfrm>
            <a:off x="7802624" y="5231522"/>
            <a:ext cx="561431" cy="1786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057"/>
              </a:lnSpc>
              <a:spcBef>
                <a:spcPts val="0"/>
              </a:spcBef>
              <a:spcAft>
                <a:spcPts val="0"/>
              </a:spcAft>
            </a:pPr>
            <a:r>
              <a:rPr sz="904" b="0" i="1" u="none">
                <a:solidFill>
                  <a:srgbClr val="FFFFFF"/>
                </a:solidFill>
                <a:latin typeface="Liberation Serif"/>
              </a:rPr>
              <a:t>A1</a:t>
            </a:r>
          </a:p>
        </p:txBody>
      </p:sp>
      <p:sp>
        <p:nvSpPr>
          <p:cNvPr id="205" name="advantage-2"/>
          <p:cNvSpPr/>
          <p:nvPr/>
        </p:nvSpPr>
        <p:spPr>
          <a:xfrm>
            <a:off x="8434235" y="5199623"/>
            <a:ext cx="561431" cy="236056"/>
          </a:xfrm>
          <a:prstGeom prst="roundRect">
            <a:avLst/>
          </a:prstGeom>
          <a:solidFill>
            <a:srgbClr val="85B4DE"/>
          </a:solidFill>
          <a:ln w="7655">
            <a:solidFill>
              <a:srgbClr val="1736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advantage-2-label"/>
          <p:cNvSpPr txBox="1"/>
          <p:nvPr/>
        </p:nvSpPr>
        <p:spPr>
          <a:xfrm>
            <a:off x="8434235" y="5231522"/>
            <a:ext cx="561431" cy="1786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057"/>
              </a:lnSpc>
              <a:spcBef>
                <a:spcPts val="0"/>
              </a:spcBef>
              <a:spcAft>
                <a:spcPts val="0"/>
              </a:spcAft>
            </a:pPr>
            <a:r>
              <a:rPr sz="904" b="0" i="1" u="none">
                <a:solidFill>
                  <a:srgbClr val="FFFFFF"/>
                </a:solidFill>
                <a:latin typeface="Liberation Serif"/>
              </a:rPr>
              <a:t>A2</a:t>
            </a:r>
          </a:p>
        </p:txBody>
      </p:sp>
      <p:sp>
        <p:nvSpPr>
          <p:cNvPr id="207" name="advantage-3"/>
          <p:cNvSpPr/>
          <p:nvPr/>
        </p:nvSpPr>
        <p:spPr>
          <a:xfrm>
            <a:off x="9065845" y="5199623"/>
            <a:ext cx="561431" cy="236056"/>
          </a:xfrm>
          <a:prstGeom prst="roundRect">
            <a:avLst/>
          </a:prstGeom>
          <a:solidFill>
            <a:srgbClr val="85B4DE"/>
          </a:solidFill>
          <a:ln w="7655">
            <a:solidFill>
              <a:srgbClr val="1736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advantage-3-label"/>
          <p:cNvSpPr txBox="1"/>
          <p:nvPr/>
        </p:nvSpPr>
        <p:spPr>
          <a:xfrm>
            <a:off x="9065845" y="5231522"/>
            <a:ext cx="561431" cy="1786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057"/>
              </a:lnSpc>
              <a:spcBef>
                <a:spcPts val="0"/>
              </a:spcBef>
              <a:spcAft>
                <a:spcPts val="0"/>
              </a:spcAft>
            </a:pPr>
            <a:r>
              <a:rPr sz="904" b="0" i="1" u="none">
                <a:solidFill>
                  <a:srgbClr val="FFFFFF"/>
                </a:solidFill>
                <a:latin typeface="Liberation Serif"/>
              </a:rPr>
              <a:t>A3</a:t>
            </a:r>
          </a:p>
        </p:txBody>
      </p:sp>
      <p:cxnSp>
        <p:nvCxnSpPr>
          <p:cNvPr id="209" name="reward-panel-link-top"/>
          <p:cNvCxnSpPr/>
          <p:nvPr/>
        </p:nvCxnSpPr>
        <p:spPr>
          <a:xfrm flipV="1">
            <a:off x="9614517" y="2966656"/>
            <a:ext cx="261576" cy="1116483"/>
          </a:xfrm>
          <a:prstGeom prst="line">
            <a:avLst/>
          </a:prstGeom>
          <a:ln w="8931">
            <a:solidFill>
              <a:srgbClr val="8D8D8D"/>
            </a:solidFill>
            <a:prstDash val="dash"/>
          </a:ln>
          <a:effectLst/>
        </p:spPr>
      </p:cxnSp>
      <p:cxnSp>
        <p:nvCxnSpPr>
          <p:cNvPr id="210" name="reward-panel-link-bottom"/>
          <p:cNvCxnSpPr/>
          <p:nvPr/>
        </p:nvCxnSpPr>
        <p:spPr>
          <a:xfrm>
            <a:off x="9614517" y="4982706"/>
            <a:ext cx="261576" cy="599711"/>
          </a:xfrm>
          <a:prstGeom prst="line">
            <a:avLst/>
          </a:prstGeom>
          <a:ln w="8931">
            <a:solidFill>
              <a:srgbClr val="8D8D8D"/>
            </a:solidFill>
            <a:prstDash val="dash"/>
          </a:ln>
          <a:effectLst/>
        </p:spPr>
      </p:cxnSp>
      <p:sp>
        <p:nvSpPr>
          <p:cNvPr id="211" name="reward-panel"/>
          <p:cNvSpPr/>
          <p:nvPr/>
        </p:nvSpPr>
        <p:spPr>
          <a:xfrm>
            <a:off x="9876093" y="2953896"/>
            <a:ext cx="2105368" cy="2634901"/>
          </a:xfrm>
          <a:prstGeom prst="roundRect">
            <a:avLst/>
          </a:prstGeom>
          <a:solidFill>
            <a:srgbClr val="ECF0F9"/>
          </a:solidFill>
          <a:ln w="7655">
            <a:solidFill>
              <a:srgbClr val="8D8D8D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2" name="reward-divider-1"/>
          <p:cNvCxnSpPr/>
          <p:nvPr/>
        </p:nvCxnSpPr>
        <p:spPr>
          <a:xfrm>
            <a:off x="9876093" y="4440414"/>
            <a:ext cx="2105369" cy="0"/>
          </a:xfrm>
          <a:prstGeom prst="line">
            <a:avLst/>
          </a:prstGeom>
          <a:ln w="7017">
            <a:solidFill>
              <a:srgbClr val="8D8D8D"/>
            </a:solidFill>
            <a:prstDash val="dash"/>
          </a:ln>
          <a:effectLst/>
        </p:spPr>
      </p:cxnSp>
      <p:cxnSp>
        <p:nvCxnSpPr>
          <p:cNvPr id="213" name="reward-divider-2"/>
          <p:cNvCxnSpPr/>
          <p:nvPr/>
        </p:nvCxnSpPr>
        <p:spPr>
          <a:xfrm>
            <a:off x="9876093" y="4950806"/>
            <a:ext cx="2105369" cy="0"/>
          </a:xfrm>
          <a:prstGeom prst="line">
            <a:avLst/>
          </a:prstGeom>
          <a:ln w="7017">
            <a:solidFill>
              <a:srgbClr val="8D8D8D"/>
            </a:solidFill>
            <a:prstDash val="dash"/>
          </a:ln>
          <a:effectLst/>
        </p:spPr>
      </p:cxnSp>
      <p:sp>
        <p:nvSpPr>
          <p:cNvPr id="214" name="suggestion-reward-title"/>
          <p:cNvSpPr txBox="1"/>
          <p:nvPr/>
        </p:nvSpPr>
        <p:spPr>
          <a:xfrm>
            <a:off x="9959032" y="3062354"/>
            <a:ext cx="1722574" cy="1977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34"/>
              </a:lnSpc>
              <a:spcBef>
                <a:spcPts val="0"/>
              </a:spcBef>
              <a:spcAft>
                <a:spcPts val="0"/>
              </a:spcAft>
            </a:pPr>
            <a:r>
              <a:rPr sz="1054" b="0" i="0" u="none">
                <a:solidFill>
                  <a:srgbClr val="000000"/>
                </a:solidFill>
                <a:latin typeface="DejaVu Sans"/>
              </a:rPr>
              <a:t>•  Suggestion Reward</a:t>
            </a:r>
          </a:p>
        </p:txBody>
      </p:sp>
      <p:sp>
        <p:nvSpPr>
          <p:cNvPr id="215" name="suggestion-reward-copy"/>
          <p:cNvSpPr txBox="1"/>
          <p:nvPr/>
        </p:nvSpPr>
        <p:spPr>
          <a:xfrm>
            <a:off x="9952652" y="3279271"/>
            <a:ext cx="1933111" cy="5741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04"/>
              </a:lnSpc>
              <a:spcBef>
                <a:spcPts val="0"/>
              </a:spcBef>
              <a:spcAft>
                <a:spcPts val="0"/>
              </a:spcAft>
            </a:pPr>
            <a:r>
              <a:rPr sz="673" b="1" i="0" u="none">
                <a:solidFill>
                  <a:srgbClr val="D60000"/>
                </a:solidFill>
                <a:latin typeface="DejaVu Sans"/>
              </a:rPr>
              <a:t>&lt;suggestion&gt; </a:t>
            </a:r>
            <a:r>
              <a:rPr sz="673" b="0" i="0" u="none">
                <a:solidFill>
                  <a:srgbClr val="000000"/>
                </a:solidFill>
                <a:latin typeface="DejaVu Sans"/>
              </a:rPr>
              <a:t>The agent should instead</a:t>
            </a:r>
          </a:p>
          <a:p>
            <a:pPr algn="l">
              <a:lnSpc>
                <a:spcPts val="904"/>
              </a:lnSpc>
              <a:spcBef>
                <a:spcPts val="0"/>
              </a:spcBef>
              <a:spcAft>
                <a:spcPts val="0"/>
              </a:spcAft>
            </a:pPr>
            <a:r>
              <a:rPr sz="673" b="0" i="0" u="none">
                <a:solidFill>
                  <a:srgbClr val="000000"/>
                </a:solidFill>
                <a:latin typeface="DejaVu Sans"/>
              </a:rPr>
              <a:t>select a desired tweet and clicking the</a:t>
            </a:r>
          </a:p>
          <a:p>
            <a:pPr algn="l">
              <a:lnSpc>
                <a:spcPts val="904"/>
              </a:lnSpc>
              <a:spcBef>
                <a:spcPts val="0"/>
              </a:spcBef>
              <a:spcAft>
                <a:spcPts val="0"/>
              </a:spcAft>
            </a:pPr>
            <a:r>
              <a:rPr sz="673" b="0" i="0" u="none">
                <a:solidFill>
                  <a:srgbClr val="000000"/>
                </a:solidFill>
                <a:latin typeface="DejaVu Sans"/>
              </a:rPr>
              <a:t>share button of it. </a:t>
            </a:r>
            <a:r>
              <a:rPr sz="673" b="1" i="0" u="none">
                <a:solidFill>
                  <a:srgbClr val="D60000"/>
                </a:solidFill>
                <a:latin typeface="DejaVu Sans"/>
              </a:rPr>
              <a:t>&lt;/suggestion&gt;</a:t>
            </a:r>
          </a:p>
          <a:p>
            <a:pPr algn="l">
              <a:lnSpc>
                <a:spcPts val="904"/>
              </a:lnSpc>
              <a:spcBef>
                <a:spcPts val="0"/>
              </a:spcBef>
              <a:spcAft>
                <a:spcPts val="0"/>
              </a:spcAft>
            </a:pPr>
            <a:r>
              <a:rPr sz="673" b="1" i="0" u="sng">
                <a:solidFill>
                  <a:srgbClr val="579431"/>
                </a:solidFill>
                <a:latin typeface="DejaVu Sans"/>
              </a:rPr>
              <a:t>Annotation: </a:t>
            </a:r>
            <a:r>
              <a:rPr sz="673" b="0" i="0" u="sng">
                <a:solidFill>
                  <a:srgbClr val="000000"/>
                </a:solidFill>
                <a:latin typeface="DejaVu Sans"/>
              </a:rPr>
              <a:t>Click share button of first post</a:t>
            </a:r>
          </a:p>
        </p:txBody>
      </p:sp>
      <p:cxnSp>
        <p:nvCxnSpPr>
          <p:cNvPr id="216" name="suggestion-down"/>
          <p:cNvCxnSpPr/>
          <p:nvPr/>
        </p:nvCxnSpPr>
        <p:spPr>
          <a:xfrm>
            <a:off x="10941538" y="3878982"/>
            <a:ext cx="0" cy="165878"/>
          </a:xfrm>
          <a:prstGeom prst="line">
            <a:avLst/>
          </a:prstGeom>
          <a:ln w="44659">
            <a:solidFill>
              <a:srgbClr val="A6D3F5"/>
            </a:solidFill>
            <a:tailEnd type="triangle" w="med" len="med"/>
          </a:ln>
          <a:effectLst/>
        </p:spPr>
      </p:cxnSp>
      <p:sp>
        <p:nvSpPr>
          <p:cNvPr id="217" name="consistency-label"/>
          <p:cNvSpPr txBox="1"/>
          <p:nvPr/>
        </p:nvSpPr>
        <p:spPr>
          <a:xfrm>
            <a:off x="10124910" y="4089519"/>
            <a:ext cx="669890" cy="2934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854"/>
              </a:lnSpc>
              <a:spcBef>
                <a:spcPts val="0"/>
              </a:spcBef>
              <a:spcAft>
                <a:spcPts val="0"/>
              </a:spcAft>
            </a:pPr>
            <a:r>
              <a:rPr sz="703" b="1" i="0" u="none">
                <a:solidFill>
                  <a:srgbClr val="3A6ED2"/>
                </a:solidFill>
                <a:latin typeface="DejaVu Sans"/>
              </a:rPr>
              <a:t>Consistency</a:t>
            </a:r>
          </a:p>
          <a:p>
            <a:pPr algn="ctr">
              <a:lnSpc>
                <a:spcPts val="854"/>
              </a:lnSpc>
              <a:spcBef>
                <a:spcPts val="0"/>
              </a:spcBef>
              <a:spcAft>
                <a:spcPts val="0"/>
              </a:spcAft>
            </a:pPr>
            <a:r>
              <a:rPr sz="703" b="1" i="0" u="none">
                <a:solidFill>
                  <a:srgbClr val="3A6ED2"/>
                </a:solidFill>
                <a:latin typeface="DejaVu Sans"/>
              </a:rPr>
              <a:t>Measurement</a:t>
            </a:r>
          </a:p>
        </p:txBody>
      </p:sp>
      <p:sp>
        <p:nvSpPr>
          <p:cNvPr id="218" name="consistency-model-glyph"/>
          <p:cNvSpPr/>
          <p:nvPr/>
        </p:nvSpPr>
        <p:spPr>
          <a:xfrm>
            <a:off x="10892731" y="4085372"/>
            <a:ext cx="174171" cy="174171"/>
          </a:xfrm>
          <a:prstGeom prst="star6">
            <a:avLst/>
          </a:prstGeom>
          <a:solidFill>
            <a:srgbClr val="6E53E8"/>
          </a:solidFill>
          <a:ln w="7655">
            <a:solidFill>
              <a:srgbClr val="5A43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consistency-model-center"/>
          <p:cNvSpPr/>
          <p:nvPr/>
        </p:nvSpPr>
        <p:spPr>
          <a:xfrm>
            <a:off x="10950789" y="4143429"/>
            <a:ext cx="58057" cy="58057"/>
          </a:xfrm>
          <a:prstGeom prst="ellipse">
            <a:avLst/>
          </a:prstGeom>
          <a:solidFill>
            <a:srgbClr val="FFFFFF"/>
          </a:solidFill>
          <a:ln w="12759">
            <a:solidFill>
              <a:srgbClr val="6E53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0" name="consistency-arrow"/>
          <p:cNvCxnSpPr/>
          <p:nvPr/>
        </p:nvCxnSpPr>
        <p:spPr>
          <a:xfrm>
            <a:off x="11164834" y="4172458"/>
            <a:ext cx="197777" cy="0"/>
          </a:xfrm>
          <a:prstGeom prst="line">
            <a:avLst/>
          </a:prstGeom>
          <a:ln w="44659">
            <a:solidFill>
              <a:srgbClr val="91BFE8"/>
            </a:solidFill>
            <a:tailEnd type="triangle" w="med" len="med"/>
          </a:ln>
          <a:effectLst/>
        </p:spPr>
      </p:cxnSp>
      <p:sp>
        <p:nvSpPr>
          <p:cNvPr id="221" name="consistency-check-circle"/>
          <p:cNvSpPr/>
          <p:nvPr/>
        </p:nvSpPr>
        <p:spPr>
          <a:xfrm>
            <a:off x="11438660" y="4108148"/>
            <a:ext cx="128618" cy="128618"/>
          </a:xfrm>
          <a:prstGeom prst="ellipse">
            <a:avLst/>
          </a:prstGeom>
          <a:solidFill>
            <a:srgbClr val="FFFFFF"/>
          </a:solidFill>
          <a:ln w="14035">
            <a:solidFill>
              <a:srgbClr val="08B98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consistency-check-tick"/>
          <p:cNvSpPr txBox="1"/>
          <p:nvPr/>
        </p:nvSpPr>
        <p:spPr>
          <a:xfrm>
            <a:off x="11452441" y="4112742"/>
            <a:ext cx="101057" cy="1148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846"/>
              </a:lnSpc>
              <a:spcBef>
                <a:spcPts val="0"/>
              </a:spcBef>
              <a:spcAft>
                <a:spcPts val="0"/>
              </a:spcAft>
            </a:pPr>
            <a:r>
              <a:rPr sz="723" b="1" i="0" u="none">
                <a:solidFill>
                  <a:srgbClr val="08B98B"/>
                </a:solidFill>
                <a:latin typeface="DejaVu Sans"/>
              </a:rPr>
              <a:t>✓</a:t>
            </a:r>
          </a:p>
        </p:txBody>
      </p:sp>
      <p:sp>
        <p:nvSpPr>
          <p:cNvPr id="223" name="accuracy-title"/>
          <p:cNvSpPr txBox="1"/>
          <p:nvPr/>
        </p:nvSpPr>
        <p:spPr>
          <a:xfrm>
            <a:off x="9959032" y="4516973"/>
            <a:ext cx="1722574" cy="1977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34"/>
              </a:lnSpc>
              <a:spcBef>
                <a:spcPts val="0"/>
              </a:spcBef>
              <a:spcAft>
                <a:spcPts val="0"/>
              </a:spcAft>
            </a:pPr>
            <a:r>
              <a:rPr sz="1054" b="0" i="0" u="none">
                <a:solidFill>
                  <a:srgbClr val="000000"/>
                </a:solidFill>
                <a:latin typeface="DejaVu Sans"/>
              </a:rPr>
              <a:t>•  Accuracy Reward</a:t>
            </a:r>
          </a:p>
        </p:txBody>
      </p:sp>
      <p:sp>
        <p:nvSpPr>
          <p:cNvPr id="224" name="accuracy-copy"/>
          <p:cNvSpPr txBox="1"/>
          <p:nvPr/>
        </p:nvSpPr>
        <p:spPr>
          <a:xfrm>
            <a:off x="10316307" y="4733889"/>
            <a:ext cx="1307880" cy="1594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811"/>
              </a:lnSpc>
              <a:spcBef>
                <a:spcPts val="0"/>
              </a:spcBef>
              <a:spcAft>
                <a:spcPts val="0"/>
              </a:spcAft>
            </a:pPr>
            <a:r>
              <a:rPr sz="693" b="1" i="0" u="none">
                <a:solidFill>
                  <a:srgbClr val="D60000"/>
                </a:solidFill>
                <a:latin typeface="DejaVu Sans"/>
              </a:rPr>
              <a:t>&lt;score&gt;  Incorrect  &lt;/score&gt;</a:t>
            </a:r>
          </a:p>
        </p:txBody>
      </p:sp>
      <p:sp>
        <p:nvSpPr>
          <p:cNvPr id="225" name="accuracy-check-circle"/>
          <p:cNvSpPr/>
          <p:nvPr/>
        </p:nvSpPr>
        <p:spPr>
          <a:xfrm>
            <a:off x="11655577" y="4707859"/>
            <a:ext cx="128618" cy="128618"/>
          </a:xfrm>
          <a:prstGeom prst="ellipse">
            <a:avLst/>
          </a:prstGeom>
          <a:solidFill>
            <a:srgbClr val="FFFFFF"/>
          </a:solidFill>
          <a:ln w="14035">
            <a:solidFill>
              <a:srgbClr val="08B98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accuracy-check-tick"/>
          <p:cNvSpPr txBox="1"/>
          <p:nvPr/>
        </p:nvSpPr>
        <p:spPr>
          <a:xfrm>
            <a:off x="11669357" y="4712453"/>
            <a:ext cx="101057" cy="1148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846"/>
              </a:lnSpc>
              <a:spcBef>
                <a:spcPts val="0"/>
              </a:spcBef>
              <a:spcAft>
                <a:spcPts val="0"/>
              </a:spcAft>
            </a:pPr>
            <a:r>
              <a:rPr sz="723" b="1" i="0" u="none">
                <a:solidFill>
                  <a:srgbClr val="08B98B"/>
                </a:solidFill>
                <a:latin typeface="DejaVu Sans"/>
              </a:rPr>
              <a:t>✓</a:t>
            </a:r>
          </a:p>
        </p:txBody>
      </p:sp>
      <p:sp>
        <p:nvSpPr>
          <p:cNvPr id="227" name="format-title"/>
          <p:cNvSpPr txBox="1"/>
          <p:nvPr/>
        </p:nvSpPr>
        <p:spPr>
          <a:xfrm>
            <a:off x="9959032" y="5033745"/>
            <a:ext cx="1722574" cy="1977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34"/>
              </a:lnSpc>
              <a:spcBef>
                <a:spcPts val="0"/>
              </a:spcBef>
              <a:spcAft>
                <a:spcPts val="0"/>
              </a:spcAft>
            </a:pPr>
            <a:r>
              <a:rPr sz="1054" b="0" i="0" u="none">
                <a:solidFill>
                  <a:srgbClr val="000000"/>
                </a:solidFill>
                <a:latin typeface="DejaVu Sans"/>
              </a:rPr>
              <a:t>•  Format Reward</a:t>
            </a:r>
          </a:p>
        </p:txBody>
      </p:sp>
      <p:sp>
        <p:nvSpPr>
          <p:cNvPr id="228" name="format-copy"/>
          <p:cNvSpPr txBox="1"/>
          <p:nvPr/>
        </p:nvSpPr>
        <p:spPr>
          <a:xfrm>
            <a:off x="10271648" y="5237902"/>
            <a:ext cx="1403579" cy="3126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803"/>
              </a:lnSpc>
              <a:spcBef>
                <a:spcPts val="0"/>
              </a:spcBef>
              <a:spcAft>
                <a:spcPts val="0"/>
              </a:spcAft>
            </a:pPr>
            <a:r>
              <a:rPr sz="658" b="1" i="0" u="none">
                <a:solidFill>
                  <a:srgbClr val="D60000"/>
                </a:solidFill>
                <a:latin typeface="DejaVu Sans"/>
              </a:rPr>
              <a:t>&lt;thinking&gt; ... &lt;/thinking&gt;</a:t>
            </a:r>
          </a:p>
          <a:p>
            <a:pPr algn="ctr">
              <a:lnSpc>
                <a:spcPts val="803"/>
              </a:lnSpc>
              <a:spcBef>
                <a:spcPts val="0"/>
              </a:spcBef>
              <a:spcAft>
                <a:spcPts val="0"/>
              </a:spcAft>
            </a:pPr>
            <a:r>
              <a:rPr sz="658" b="1" i="0" u="none">
                <a:solidFill>
                  <a:srgbClr val="D60000"/>
                </a:solidFill>
                <a:latin typeface="DejaVu Sans"/>
              </a:rPr>
              <a:t>&lt;score&gt; ... &lt;/score&gt;</a:t>
            </a:r>
          </a:p>
          <a:p>
            <a:pPr algn="ctr">
              <a:lnSpc>
                <a:spcPts val="803"/>
              </a:lnSpc>
              <a:spcBef>
                <a:spcPts val="0"/>
              </a:spcBef>
              <a:spcAft>
                <a:spcPts val="0"/>
              </a:spcAft>
            </a:pPr>
            <a:r>
              <a:rPr sz="658" b="1" i="0" u="none">
                <a:solidFill>
                  <a:srgbClr val="D60000"/>
                </a:solidFill>
                <a:latin typeface="DejaVu Sans"/>
              </a:rPr>
              <a:t>&lt;suggestion&gt; ... &lt;/suggestion&gt;</a:t>
            </a:r>
          </a:p>
        </p:txBody>
      </p:sp>
      <p:sp>
        <p:nvSpPr>
          <p:cNvPr id="229" name="format-check-circle"/>
          <p:cNvSpPr/>
          <p:nvPr/>
        </p:nvSpPr>
        <p:spPr>
          <a:xfrm>
            <a:off x="11521599" y="5307571"/>
            <a:ext cx="128618" cy="128618"/>
          </a:xfrm>
          <a:prstGeom prst="ellipse">
            <a:avLst/>
          </a:prstGeom>
          <a:solidFill>
            <a:srgbClr val="FFFFFF"/>
          </a:solidFill>
          <a:ln w="14035">
            <a:solidFill>
              <a:srgbClr val="08B98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format-check-tick"/>
          <p:cNvSpPr txBox="1"/>
          <p:nvPr/>
        </p:nvSpPr>
        <p:spPr>
          <a:xfrm>
            <a:off x="11535379" y="5312164"/>
            <a:ext cx="101057" cy="1148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846"/>
              </a:lnSpc>
              <a:spcBef>
                <a:spcPts val="0"/>
              </a:spcBef>
              <a:spcAft>
                <a:spcPts val="0"/>
              </a:spcAft>
            </a:pPr>
            <a:r>
              <a:rPr sz="723" b="1" i="0" u="none">
                <a:solidFill>
                  <a:srgbClr val="08B98B"/>
                </a:solidFill>
                <a:latin typeface="DejaVu Sans"/>
              </a:rPr>
              <a:t>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Look Before You Leap A GUI-Critic-R1 Model for Pre-Operative Error Diagnosis in GUI Automation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58758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