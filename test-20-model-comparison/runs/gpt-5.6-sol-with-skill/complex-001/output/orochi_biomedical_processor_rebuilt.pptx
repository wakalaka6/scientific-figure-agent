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684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pper_background"/>
          <p:cNvSpPr/>
          <p:nvPr/>
        </p:nvSpPr>
        <p:spPr>
          <a:xfrm>
            <a:off x="0" y="0"/>
            <a:ext cx="13716000" cy="320400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ivider"/>
          <p:cNvSpPr/>
          <p:nvPr/>
        </p:nvSpPr>
        <p:spPr>
          <a:xfrm>
            <a:off x="0" y="3204000"/>
            <a:ext cx="13716000" cy="12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ower_background"/>
          <p:cNvSpPr/>
          <p:nvPr/>
        </p:nvSpPr>
        <p:spPr>
          <a:xfrm>
            <a:off x="0" y="3326400"/>
            <a:ext cx="13716000" cy="3520800"/>
          </a:xfrm>
          <a:prstGeom prst="rect">
            <a:avLst/>
          </a:prstGeom>
          <a:solidFill>
            <a:srgbClr val="F2F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ataset_container"/>
          <p:cNvSpPr/>
          <p:nvPr/>
        </p:nvSpPr>
        <p:spPr>
          <a:xfrm>
            <a:off x="79200" y="158400"/>
            <a:ext cx="6904800" cy="2484000"/>
          </a:xfrm>
          <a:prstGeom prst="rect">
            <a:avLst/>
          </a:prstGeom>
          <a:solidFill>
            <a:srgbClr val="CD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dataset_idr_photo" descr="dataset_i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0" y="302400"/>
            <a:ext cx="1756800" cy="1728000"/>
          </a:xfrm>
          <a:prstGeom prst="rect">
            <a:avLst/>
          </a:prstGeom>
          <a:effectLst/>
        </p:spPr>
      </p:pic>
      <p:pic>
        <p:nvPicPr>
          <p:cNvPr id="7" name="dataset_hipsc_photo" descr="dataset_hip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00" y="302400"/>
            <a:ext cx="1764000" cy="1728000"/>
          </a:xfrm>
          <a:prstGeom prst="rect">
            <a:avLst/>
          </a:prstGeom>
          <a:effectLst/>
        </p:spPr>
      </p:pic>
      <p:pic>
        <p:nvPicPr>
          <p:cNvPr id="8" name="dataset_hipct_photo" descr="dataset_hip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400" y="302400"/>
            <a:ext cx="2937600" cy="1728000"/>
          </a:xfrm>
          <a:prstGeom prst="rect">
            <a:avLst/>
          </a:prstGeom>
          <a:effectLst/>
        </p:spPr>
      </p:pic>
      <p:sp>
        <p:nvSpPr>
          <p:cNvPr id="9" name="idr_title"/>
          <p:cNvSpPr txBox="1"/>
          <p:nvPr/>
        </p:nvSpPr>
        <p:spPr>
          <a:xfrm>
            <a:off x="244800" y="662400"/>
            <a:ext cx="1656000" cy="74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IDR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Public Repository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Image Datasets</a:t>
            </a:r>
          </a:p>
        </p:txBody>
      </p:sp>
      <p:sp>
        <p:nvSpPr>
          <p:cNvPr id="10" name="idr_meta"/>
          <p:cNvSpPr txBox="1"/>
          <p:nvPr/>
        </p:nvSpPr>
        <p:spPr>
          <a:xfrm>
            <a:off x="273600" y="1368000"/>
            <a:ext cx="15840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&gt;100 studies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&gt;14,000,000 images</a:t>
            </a:r>
          </a:p>
        </p:txBody>
      </p:sp>
      <p:sp>
        <p:nvSpPr>
          <p:cNvPr id="11" name="hipsc_title"/>
          <p:cNvSpPr txBox="1"/>
          <p:nvPr/>
        </p:nvSpPr>
        <p:spPr>
          <a:xfrm>
            <a:off x="2181600" y="676800"/>
            <a:ext cx="1519200" cy="741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hiPSC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Single-cell Image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Dataset</a:t>
            </a:r>
          </a:p>
        </p:txBody>
      </p:sp>
      <p:sp>
        <p:nvSpPr>
          <p:cNvPr id="12" name="hipsc_meta"/>
          <p:cNvSpPr txBox="1"/>
          <p:nvPr/>
        </p:nvSpPr>
        <p:spPr>
          <a:xfrm>
            <a:off x="2181600" y="1368000"/>
            <a:ext cx="1519200" cy="38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&gt;200,000 cells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25 cellular structures</a:t>
            </a:r>
          </a:p>
        </p:txBody>
      </p:sp>
      <p:sp>
        <p:nvSpPr>
          <p:cNvPr id="13" name="hipct_title"/>
          <p:cNvSpPr txBox="1"/>
          <p:nvPr/>
        </p:nvSpPr>
        <p:spPr>
          <a:xfrm>
            <a:off x="4413600" y="669600"/>
            <a:ext cx="1994400" cy="74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HiP-CT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Human Organ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3" b="1" i="0">
                <a:solidFill>
                  <a:srgbClr val="FFFFFF"/>
                </a:solidFill>
                <a:latin typeface="Liberation Sans"/>
              </a:rPr>
              <a:t>Atlas</a:t>
            </a:r>
          </a:p>
        </p:txBody>
      </p:sp>
      <p:sp>
        <p:nvSpPr>
          <p:cNvPr id="14" name="hipct_meta"/>
          <p:cNvSpPr txBox="1"/>
          <p:nvPr/>
        </p:nvSpPr>
        <p:spPr>
          <a:xfrm>
            <a:off x="4327200" y="1368000"/>
            <a:ext cx="2167200" cy="38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&gt;150 patients, &gt;10,000 samples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0" i="1">
                <a:solidFill>
                  <a:srgbClr val="FFFFFF"/>
                </a:solidFill>
                <a:latin typeface="Liberation Sans"/>
              </a:rPr>
              <a:t>5 organ types, 6 Imaging Scale</a:t>
            </a:r>
          </a:p>
        </p:txBody>
      </p:sp>
      <p:sp>
        <p:nvSpPr>
          <p:cNvPr id="15" name="dataset_summary"/>
          <p:cNvSpPr txBox="1"/>
          <p:nvPr/>
        </p:nvSpPr>
        <p:spPr>
          <a:xfrm>
            <a:off x="201600" y="2203200"/>
            <a:ext cx="6156000" cy="33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92969D"/>
                </a:solidFill>
                <a:latin typeface="Liberation Sans"/>
              </a:rPr>
              <a:t>Raw-level Dataset, 2-5D dimensionality, MB-TB level file size</a:t>
            </a:r>
          </a:p>
        </p:txBody>
      </p:sp>
      <p:sp>
        <p:nvSpPr>
          <p:cNvPr id="16" name="dataset_ellipsis"/>
          <p:cNvSpPr txBox="1"/>
          <p:nvPr/>
        </p:nvSpPr>
        <p:spPr>
          <a:xfrm>
            <a:off x="6465600" y="2052000"/>
            <a:ext cx="417600" cy="25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4F79C8"/>
                </a:solidFill>
                <a:latin typeface="Liberation Sans"/>
              </a:rPr>
              <a:t>•••  •••</a:t>
            </a:r>
          </a:p>
        </p:txBody>
      </p:sp>
      <p:cxnSp>
        <p:nvCxnSpPr>
          <p:cNvPr id="17" name="dataset_to_sample_1"/>
          <p:cNvCxnSpPr/>
          <p:nvPr/>
        </p:nvCxnSpPr>
        <p:spPr>
          <a:xfrm>
            <a:off x="6984000" y="885600"/>
            <a:ext cx="432000" cy="0"/>
          </a:xfrm>
          <a:prstGeom prst="line">
            <a:avLst/>
          </a:prstGeom>
          <a:ln w="10800">
            <a:solidFill>
              <a:srgbClr val="4F79C8"/>
            </a:solidFill>
            <a:tailEnd type="triangle" w="sm" len="sm"/>
          </a:ln>
          <a:effectLst/>
        </p:spPr>
      </p:cxnSp>
      <p:sp>
        <p:nvSpPr>
          <p:cNvPr id="18" name="raw_sampled_heading"/>
          <p:cNvSpPr txBox="1"/>
          <p:nvPr/>
        </p:nvSpPr>
        <p:spPr>
          <a:xfrm>
            <a:off x="7416000" y="180000"/>
            <a:ext cx="1569600" cy="20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1 Raw Data Sampled</a:t>
            </a:r>
          </a:p>
        </p:txBody>
      </p:sp>
      <p:cxnSp>
        <p:nvCxnSpPr>
          <p:cNvPr id="19" name="raw_sampled_heading_arrow_1"/>
          <p:cNvCxnSpPr/>
          <p:nvPr/>
        </p:nvCxnSpPr>
        <p:spPr>
          <a:xfrm>
            <a:off x="8712000" y="288000"/>
            <a:ext cx="309600" cy="0"/>
          </a:xfrm>
          <a:prstGeom prst="line">
            <a:avLst/>
          </a:prstGeom>
          <a:ln w="8639">
            <a:solidFill>
              <a:srgbClr val="92969D"/>
            </a:solidFill>
            <a:tailEnd type="triangle" w="sm" len="sm"/>
          </a:ln>
          <a:effectLst/>
        </p:spPr>
      </p:cxnSp>
      <p:sp>
        <p:nvSpPr>
          <p:cNvPr id="20" name="combo_heading"/>
          <p:cNvSpPr txBox="1"/>
          <p:nvPr/>
        </p:nvSpPr>
        <p:spPr>
          <a:xfrm>
            <a:off x="9028800" y="180000"/>
            <a:ext cx="928800" cy="20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12 Combo</a:t>
            </a:r>
          </a:p>
        </p:txBody>
      </p:sp>
      <p:pic>
        <p:nvPicPr>
          <p:cNvPr id="21" name="raw_scale_1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00" y="396000"/>
            <a:ext cx="1454400" cy="972000"/>
          </a:xfrm>
          <a:prstGeom prst="rect">
            <a:avLst/>
          </a:prstGeom>
          <a:effectLst/>
        </p:spPr>
      </p:pic>
      <p:sp>
        <p:nvSpPr>
          <p:cNvPr id="22" name="raw_scale_1_outline"/>
          <p:cNvSpPr/>
          <p:nvPr/>
        </p:nvSpPr>
        <p:spPr>
          <a:xfrm>
            <a:off x="7416000" y="396000"/>
            <a:ext cx="1454400" cy="972000"/>
          </a:xfrm>
          <a:prstGeom prst="rect">
            <a:avLst/>
          </a:prstGeom>
          <a:noFill/>
          <a:ln w="8639">
            <a:solidFill>
              <a:srgbClr val="E56B6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aw_scale_1_window"/>
          <p:cNvSpPr/>
          <p:nvPr/>
        </p:nvSpPr>
        <p:spPr>
          <a:xfrm>
            <a:off x="8316000" y="712800"/>
            <a:ext cx="360000" cy="374400"/>
          </a:xfrm>
          <a:prstGeom prst="rect">
            <a:avLst/>
          </a:prstGeom>
          <a:noFill/>
          <a:ln w="8639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aw_selection_label"/>
          <p:cNvSpPr txBox="1"/>
          <p:nvPr/>
        </p:nvSpPr>
        <p:spPr>
          <a:xfrm>
            <a:off x="7588800" y="446400"/>
            <a:ext cx="993600" cy="43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Liberation Sans"/>
              </a:rPr>
              <a:t>2/3D selection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FFFFFF"/>
                </a:solidFill>
                <a:latin typeface="Liberation Sans"/>
              </a:rPr>
              <a:t>window</a:t>
            </a:r>
          </a:p>
        </p:txBody>
      </p:sp>
      <p:sp>
        <p:nvSpPr>
          <p:cNvPr id="25" name="raw_scale_1_label"/>
          <p:cNvSpPr txBox="1"/>
          <p:nvPr/>
        </p:nvSpPr>
        <p:spPr>
          <a:xfrm>
            <a:off x="7416000" y="1159200"/>
            <a:ext cx="4896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Raw</a:t>
            </a:r>
          </a:p>
        </p:txBody>
      </p:sp>
      <p:cxnSp>
        <p:nvCxnSpPr>
          <p:cNvPr id="26" name="raw_to_local_1"/>
          <p:cNvCxnSpPr/>
          <p:nvPr/>
        </p:nvCxnSpPr>
        <p:spPr>
          <a:xfrm>
            <a:off x="8676000" y="892800"/>
            <a:ext cx="446400" cy="0"/>
          </a:xfrm>
          <a:prstGeom prst="line">
            <a:avLst/>
          </a:prstGeom>
          <a:ln w="10800">
            <a:solidFill>
              <a:srgbClr val="E56B68"/>
            </a:solidFill>
            <a:tailEnd type="triangle" w="sm" len="sm"/>
          </a:ln>
          <a:effectLst/>
        </p:spPr>
      </p:cxnSp>
      <p:pic>
        <p:nvPicPr>
          <p:cNvPr id="27" name="raw_scale_half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000" y="1468800"/>
            <a:ext cx="1130400" cy="763200"/>
          </a:xfrm>
          <a:prstGeom prst="rect">
            <a:avLst/>
          </a:prstGeom>
          <a:effectLst/>
        </p:spPr>
      </p:pic>
      <p:sp>
        <p:nvSpPr>
          <p:cNvPr id="28" name="raw_scale_half_window"/>
          <p:cNvSpPr/>
          <p:nvPr/>
        </p:nvSpPr>
        <p:spPr>
          <a:xfrm>
            <a:off x="8121600" y="1598400"/>
            <a:ext cx="381600" cy="374400"/>
          </a:xfrm>
          <a:prstGeom prst="rect">
            <a:avLst/>
          </a:prstGeom>
          <a:noFill/>
          <a:ln w="8639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aw_scale_half_label"/>
          <p:cNvSpPr txBox="1"/>
          <p:nvPr/>
        </p:nvSpPr>
        <p:spPr>
          <a:xfrm>
            <a:off x="7754400" y="2001600"/>
            <a:ext cx="3600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1/2</a:t>
            </a:r>
          </a:p>
        </p:txBody>
      </p:sp>
      <p:cxnSp>
        <p:nvCxnSpPr>
          <p:cNvPr id="30" name="scale_1_to_half_1"/>
          <p:cNvCxnSpPr/>
          <p:nvPr/>
        </p:nvCxnSpPr>
        <p:spPr>
          <a:xfrm>
            <a:off x="8143200" y="1368000"/>
            <a:ext cx="0" cy="100800"/>
          </a:xfrm>
          <a:prstGeom prst="line">
            <a:avLst/>
          </a:prstGeom>
          <a:ln w="10800">
            <a:solidFill>
              <a:srgbClr val="4F79C8"/>
            </a:solidFill>
            <a:tailEnd type="triangle" w="sm" len="sm"/>
          </a:ln>
          <a:effectLst/>
        </p:spPr>
      </p:cxnSp>
      <p:cxnSp>
        <p:nvCxnSpPr>
          <p:cNvPr id="31" name="half_to_mid_1"/>
          <p:cNvCxnSpPr/>
          <p:nvPr/>
        </p:nvCxnSpPr>
        <p:spPr>
          <a:xfrm>
            <a:off x="8503200" y="1785600"/>
            <a:ext cx="619200" cy="0"/>
          </a:xfrm>
          <a:prstGeom prst="line">
            <a:avLst/>
          </a:prstGeom>
          <a:ln w="10800">
            <a:solidFill>
              <a:srgbClr val="E56B68"/>
            </a:solidFill>
            <a:tailEnd type="triangle" w="sm" len="sm"/>
          </a:ln>
          <a:effectLst/>
        </p:spPr>
      </p:cxnSp>
      <p:pic>
        <p:nvPicPr>
          <p:cNvPr id="32" name="raw_scale_quarter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600" y="2383200"/>
            <a:ext cx="820800" cy="547200"/>
          </a:xfrm>
          <a:prstGeom prst="rect">
            <a:avLst/>
          </a:prstGeom>
          <a:effectLst/>
        </p:spPr>
      </p:pic>
      <p:sp>
        <p:nvSpPr>
          <p:cNvPr id="33" name="raw_scale_quarter_window"/>
          <p:cNvSpPr/>
          <p:nvPr/>
        </p:nvSpPr>
        <p:spPr>
          <a:xfrm>
            <a:off x="8416800" y="2476800"/>
            <a:ext cx="388800" cy="396000"/>
          </a:xfrm>
          <a:prstGeom prst="rect">
            <a:avLst/>
          </a:prstGeom>
          <a:noFill/>
          <a:ln w="8639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aw_scale_quarter_label"/>
          <p:cNvSpPr txBox="1"/>
          <p:nvPr/>
        </p:nvSpPr>
        <p:spPr>
          <a:xfrm>
            <a:off x="8071200" y="2692800"/>
            <a:ext cx="3456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1/4</a:t>
            </a:r>
          </a:p>
        </p:txBody>
      </p:sp>
      <p:cxnSp>
        <p:nvCxnSpPr>
          <p:cNvPr id="35" name="scale_half_to_quarter_1"/>
          <p:cNvCxnSpPr/>
          <p:nvPr/>
        </p:nvCxnSpPr>
        <p:spPr>
          <a:xfrm>
            <a:off x="8308800" y="2232000"/>
            <a:ext cx="0" cy="151200"/>
          </a:xfrm>
          <a:prstGeom prst="line">
            <a:avLst/>
          </a:prstGeom>
          <a:ln w="10800">
            <a:solidFill>
              <a:srgbClr val="4F79C8"/>
            </a:solidFill>
            <a:tailEnd type="triangle" w="sm" len="sm"/>
          </a:ln>
          <a:effectLst/>
        </p:spPr>
      </p:cxnSp>
      <p:cxnSp>
        <p:nvCxnSpPr>
          <p:cNvPr id="36" name="quarter_to_global_1"/>
          <p:cNvCxnSpPr/>
          <p:nvPr/>
        </p:nvCxnSpPr>
        <p:spPr>
          <a:xfrm>
            <a:off x="8805600" y="2685600"/>
            <a:ext cx="316800" cy="0"/>
          </a:xfrm>
          <a:prstGeom prst="line">
            <a:avLst/>
          </a:prstGeom>
          <a:ln w="10800">
            <a:solidFill>
              <a:srgbClr val="E56B68"/>
            </a:solidFill>
            <a:tailEnd type="triangle" w="sm" len="sm"/>
          </a:ln>
          <a:effectLst/>
        </p:spPr>
      </p:cxnSp>
      <p:sp>
        <p:nvSpPr>
          <p:cNvPr id="37" name="local_sample_tint"/>
          <p:cNvSpPr/>
          <p:nvPr/>
        </p:nvSpPr>
        <p:spPr>
          <a:xfrm>
            <a:off x="9050400" y="396000"/>
            <a:ext cx="936000" cy="90720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local_sample_image" descr="sample_lo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2400" y="468000"/>
            <a:ext cx="756000" cy="756000"/>
          </a:xfrm>
          <a:prstGeom prst="rect">
            <a:avLst/>
          </a:prstGeom>
          <a:effectLst/>
        </p:spPr>
      </p:pic>
      <p:sp>
        <p:nvSpPr>
          <p:cNvPr id="39" name="local_sample_outline"/>
          <p:cNvSpPr/>
          <p:nvPr/>
        </p:nvSpPr>
        <p:spPr>
          <a:xfrm>
            <a:off x="9122400" y="468000"/>
            <a:ext cx="756000" cy="756000"/>
          </a:xfrm>
          <a:prstGeom prst="rect">
            <a:avLst/>
          </a:prstGeom>
          <a:noFill/>
          <a:ln w="7920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local_sample_label_backdrop"/>
          <p:cNvSpPr/>
          <p:nvPr/>
        </p:nvSpPr>
        <p:spPr>
          <a:xfrm>
            <a:off x="9122400" y="1029600"/>
            <a:ext cx="756000" cy="1944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local_sample_label"/>
          <p:cNvSpPr txBox="1"/>
          <p:nvPr/>
        </p:nvSpPr>
        <p:spPr>
          <a:xfrm>
            <a:off x="9144000" y="1036800"/>
            <a:ext cx="712800" cy="172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Local</a:t>
            </a:r>
          </a:p>
        </p:txBody>
      </p:sp>
      <p:sp>
        <p:nvSpPr>
          <p:cNvPr id="42" name="mid_sample_tint"/>
          <p:cNvSpPr/>
          <p:nvPr/>
        </p:nvSpPr>
        <p:spPr>
          <a:xfrm>
            <a:off x="9050400" y="1339200"/>
            <a:ext cx="936000" cy="90720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mid_sample_image" descr="sample_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2400" y="1411200"/>
            <a:ext cx="756000" cy="756000"/>
          </a:xfrm>
          <a:prstGeom prst="rect">
            <a:avLst/>
          </a:prstGeom>
          <a:effectLst/>
        </p:spPr>
      </p:pic>
      <p:sp>
        <p:nvSpPr>
          <p:cNvPr id="44" name="mid_sample_outline"/>
          <p:cNvSpPr/>
          <p:nvPr/>
        </p:nvSpPr>
        <p:spPr>
          <a:xfrm>
            <a:off x="9122400" y="1411200"/>
            <a:ext cx="756000" cy="756000"/>
          </a:xfrm>
          <a:prstGeom prst="rect">
            <a:avLst/>
          </a:prstGeom>
          <a:noFill/>
          <a:ln w="7920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id_sample_label_backdrop"/>
          <p:cNvSpPr/>
          <p:nvPr/>
        </p:nvSpPr>
        <p:spPr>
          <a:xfrm>
            <a:off x="9122400" y="1972800"/>
            <a:ext cx="756000" cy="1944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id_sample_label"/>
          <p:cNvSpPr txBox="1"/>
          <p:nvPr/>
        </p:nvSpPr>
        <p:spPr>
          <a:xfrm>
            <a:off x="9144000" y="1980000"/>
            <a:ext cx="712800" cy="172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Mid-range</a:t>
            </a:r>
          </a:p>
        </p:txBody>
      </p:sp>
      <p:sp>
        <p:nvSpPr>
          <p:cNvPr id="47" name="global_sample_tint"/>
          <p:cNvSpPr/>
          <p:nvPr/>
        </p:nvSpPr>
        <p:spPr>
          <a:xfrm>
            <a:off x="9050400" y="2239200"/>
            <a:ext cx="936000" cy="90720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global_sample_image" descr="sample_glob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2400" y="2311200"/>
            <a:ext cx="756000" cy="756000"/>
          </a:xfrm>
          <a:prstGeom prst="rect">
            <a:avLst/>
          </a:prstGeom>
          <a:effectLst/>
        </p:spPr>
      </p:pic>
      <p:sp>
        <p:nvSpPr>
          <p:cNvPr id="49" name="global_sample_outline"/>
          <p:cNvSpPr/>
          <p:nvPr/>
        </p:nvSpPr>
        <p:spPr>
          <a:xfrm>
            <a:off x="9122400" y="2311200"/>
            <a:ext cx="756000" cy="756000"/>
          </a:xfrm>
          <a:prstGeom prst="rect">
            <a:avLst/>
          </a:prstGeom>
          <a:noFill/>
          <a:ln w="7920">
            <a:solidFill>
              <a:srgbClr val="E56B6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global_sample_label_backdrop"/>
          <p:cNvSpPr/>
          <p:nvPr/>
        </p:nvSpPr>
        <p:spPr>
          <a:xfrm>
            <a:off x="9122400" y="2872800"/>
            <a:ext cx="756000" cy="19440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global_sample_label"/>
          <p:cNvSpPr txBox="1"/>
          <p:nvPr/>
        </p:nvSpPr>
        <p:spPr>
          <a:xfrm>
            <a:off x="9144000" y="2880000"/>
            <a:ext cx="712800" cy="172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Global</a:t>
            </a:r>
          </a:p>
        </p:txBody>
      </p:sp>
      <p:sp>
        <p:nvSpPr>
          <p:cNvPr id="52" name="masked_column_band"/>
          <p:cNvSpPr/>
          <p:nvPr/>
        </p:nvSpPr>
        <p:spPr>
          <a:xfrm>
            <a:off x="10008000" y="158400"/>
            <a:ext cx="885600" cy="2937600"/>
          </a:xfrm>
          <a:prstGeom prst="rect">
            <a:avLst/>
          </a:prstGeom>
          <a:solidFill>
            <a:srgbClr val="D3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sked_heading"/>
          <p:cNvSpPr txBox="1"/>
          <p:nvPr/>
        </p:nvSpPr>
        <p:spPr>
          <a:xfrm>
            <a:off x="10008000" y="165600"/>
            <a:ext cx="885600" cy="23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Masked</a:t>
            </a:r>
          </a:p>
        </p:txBody>
      </p:sp>
      <p:pic>
        <p:nvPicPr>
          <p:cNvPr id="54" name="masked_row_1" descr="mask_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5600" y="468000"/>
            <a:ext cx="763200" cy="756000"/>
          </a:xfrm>
          <a:prstGeom prst="rect">
            <a:avLst/>
          </a:prstGeom>
          <a:effectLst/>
        </p:spPr>
      </p:pic>
      <p:pic>
        <p:nvPicPr>
          <p:cNvPr id="55" name="masked_row_2" descr="mask_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5600" y="1411200"/>
            <a:ext cx="763200" cy="756000"/>
          </a:xfrm>
          <a:prstGeom prst="rect">
            <a:avLst/>
          </a:prstGeom>
          <a:effectLst/>
        </p:spPr>
      </p:pic>
      <p:pic>
        <p:nvPicPr>
          <p:cNvPr id="56" name="masked_row_3" descr="mas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5600" y="2311200"/>
            <a:ext cx="763200" cy="756000"/>
          </a:xfrm>
          <a:prstGeom prst="rect">
            <a:avLst/>
          </a:prstGeom>
          <a:effectLst/>
        </p:spPr>
      </p:pic>
      <p:sp>
        <p:nvSpPr>
          <p:cNvPr id="57" name="deformed_column_band"/>
          <p:cNvSpPr/>
          <p:nvPr/>
        </p:nvSpPr>
        <p:spPr>
          <a:xfrm>
            <a:off x="10936800" y="158400"/>
            <a:ext cx="885600" cy="2937600"/>
          </a:xfrm>
          <a:prstGeom prst="rect">
            <a:avLst/>
          </a:prstGeom>
          <a:solidFill>
            <a:srgbClr val="F4E3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eformed_heading"/>
          <p:cNvSpPr txBox="1"/>
          <p:nvPr/>
        </p:nvSpPr>
        <p:spPr>
          <a:xfrm>
            <a:off x="10936800" y="165600"/>
            <a:ext cx="885600" cy="23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Deformed</a:t>
            </a:r>
          </a:p>
        </p:txBody>
      </p:sp>
      <p:pic>
        <p:nvPicPr>
          <p:cNvPr id="59" name="deformed_row_1" descr="deform_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4400" y="468000"/>
            <a:ext cx="828000" cy="756000"/>
          </a:xfrm>
          <a:prstGeom prst="rect">
            <a:avLst/>
          </a:prstGeom>
          <a:effectLst/>
        </p:spPr>
      </p:pic>
      <p:pic>
        <p:nvPicPr>
          <p:cNvPr id="60" name="deformed_row_2" descr="deform_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94400" y="1411200"/>
            <a:ext cx="828000" cy="756000"/>
          </a:xfrm>
          <a:prstGeom prst="rect">
            <a:avLst/>
          </a:prstGeom>
          <a:effectLst/>
        </p:spPr>
      </p:pic>
      <p:pic>
        <p:nvPicPr>
          <p:cNvPr id="61" name="deformed_row_3" descr="deform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94400" y="2311200"/>
            <a:ext cx="828000" cy="756000"/>
          </a:xfrm>
          <a:prstGeom prst="rect">
            <a:avLst/>
          </a:prstGeom>
          <a:effectLst/>
        </p:spPr>
      </p:pic>
      <p:sp>
        <p:nvSpPr>
          <p:cNvPr id="62" name="noisy_column_band"/>
          <p:cNvSpPr/>
          <p:nvPr/>
        </p:nvSpPr>
        <p:spPr>
          <a:xfrm>
            <a:off x="11872800" y="158400"/>
            <a:ext cx="885600" cy="2937600"/>
          </a:xfrm>
          <a:prstGeom prst="rect">
            <a:avLst/>
          </a:prstGeom>
          <a:solidFill>
            <a:srgbClr val="DE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noisy_heading"/>
          <p:cNvSpPr txBox="1"/>
          <p:nvPr/>
        </p:nvSpPr>
        <p:spPr>
          <a:xfrm>
            <a:off x="11872800" y="165600"/>
            <a:ext cx="885600" cy="23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Noisy</a:t>
            </a:r>
          </a:p>
        </p:txBody>
      </p:sp>
      <p:pic>
        <p:nvPicPr>
          <p:cNvPr id="64" name="noisy_row_1" descr="noise_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37600" y="468000"/>
            <a:ext cx="748800" cy="756000"/>
          </a:xfrm>
          <a:prstGeom prst="rect">
            <a:avLst/>
          </a:prstGeom>
          <a:effectLst/>
        </p:spPr>
      </p:pic>
      <p:pic>
        <p:nvPicPr>
          <p:cNvPr id="65" name="noisy_row_2" descr="noise_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37600" y="1411200"/>
            <a:ext cx="748800" cy="756000"/>
          </a:xfrm>
          <a:prstGeom prst="rect">
            <a:avLst/>
          </a:prstGeom>
          <a:effectLst/>
        </p:spPr>
      </p:pic>
      <p:pic>
        <p:nvPicPr>
          <p:cNvPr id="66" name="noisy_row_3" descr="noise_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37600" y="2311200"/>
            <a:ext cx="748800" cy="756000"/>
          </a:xfrm>
          <a:prstGeom prst="rect">
            <a:avLst/>
          </a:prstGeom>
          <a:effectLst/>
        </p:spPr>
      </p:pic>
      <p:sp>
        <p:nvSpPr>
          <p:cNvPr id="67" name="lowres_column_band"/>
          <p:cNvSpPr/>
          <p:nvPr/>
        </p:nvSpPr>
        <p:spPr>
          <a:xfrm>
            <a:off x="12808800" y="158400"/>
            <a:ext cx="885600" cy="2937600"/>
          </a:xfrm>
          <a:prstGeom prst="rect">
            <a:avLst/>
          </a:prstGeom>
          <a:solidFill>
            <a:srgbClr val="F0EF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lowres_heading"/>
          <p:cNvSpPr txBox="1"/>
          <p:nvPr/>
        </p:nvSpPr>
        <p:spPr>
          <a:xfrm>
            <a:off x="12808800" y="165600"/>
            <a:ext cx="885600" cy="23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92969D"/>
                </a:solidFill>
                <a:latin typeface="Liberation Sans"/>
              </a:rPr>
              <a:t>Low-Res</a:t>
            </a:r>
          </a:p>
        </p:txBody>
      </p:sp>
      <p:pic>
        <p:nvPicPr>
          <p:cNvPr id="69" name="lowres_row_1" descr="lowres_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73600" y="468000"/>
            <a:ext cx="763200" cy="756000"/>
          </a:xfrm>
          <a:prstGeom prst="rect">
            <a:avLst/>
          </a:prstGeom>
          <a:effectLst/>
        </p:spPr>
      </p:pic>
      <p:pic>
        <p:nvPicPr>
          <p:cNvPr id="70" name="lowres_row_2" descr="lowres_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73600" y="1411200"/>
            <a:ext cx="763200" cy="756000"/>
          </a:xfrm>
          <a:prstGeom prst="rect">
            <a:avLst/>
          </a:prstGeom>
          <a:effectLst/>
        </p:spPr>
      </p:pic>
      <p:pic>
        <p:nvPicPr>
          <p:cNvPr id="71" name="lowres_row_3" descr="lowres_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73600" y="2311200"/>
            <a:ext cx="763200" cy="756000"/>
          </a:xfrm>
          <a:prstGeom prst="rect">
            <a:avLst/>
          </a:prstGeom>
          <a:effectLst/>
        </p:spPr>
      </p:pic>
      <p:sp>
        <p:nvSpPr>
          <p:cNvPr id="72" name="rms_heading"/>
          <p:cNvSpPr txBox="1"/>
          <p:nvPr/>
        </p:nvSpPr>
        <p:spPr>
          <a:xfrm>
            <a:off x="79200" y="2829600"/>
            <a:ext cx="7236000" cy="3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4F79C8"/>
                </a:solidFill>
                <a:latin typeface="Liberation Sans"/>
              </a:rPr>
              <a:t>Multi-modal, Multi-dimensionality Dataset with Random Multi-scale Sampling (RMS)</a:t>
            </a:r>
          </a:p>
        </p:txBody>
      </p:sp>
      <p:sp>
        <p:nvSpPr>
          <p:cNvPr id="73" name="restoration_title"/>
          <p:cNvSpPr txBox="1"/>
          <p:nvPr/>
        </p:nvSpPr>
        <p:spPr>
          <a:xfrm>
            <a:off x="100800" y="3420000"/>
            <a:ext cx="54144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4F9861"/>
                </a:solidFill>
                <a:latin typeface="Liberation Sans"/>
              </a:rPr>
              <a:t>Task: Image Restoration</a:t>
            </a:r>
          </a:p>
        </p:txBody>
      </p:sp>
      <p:sp>
        <p:nvSpPr>
          <p:cNvPr id="74" name="restoration_panel"/>
          <p:cNvSpPr/>
          <p:nvPr/>
        </p:nvSpPr>
        <p:spPr>
          <a:xfrm>
            <a:off x="86400" y="3621600"/>
            <a:ext cx="5486400" cy="1288800"/>
          </a:xfrm>
          <a:prstGeom prst="rect">
            <a:avLst/>
          </a:prstGeom>
          <a:solidFill>
            <a:srgbClr val="A8C6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usion_title"/>
          <p:cNvSpPr txBox="1"/>
          <p:nvPr/>
        </p:nvSpPr>
        <p:spPr>
          <a:xfrm>
            <a:off x="5709600" y="3420000"/>
            <a:ext cx="79416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4F9861"/>
                </a:solidFill>
                <a:latin typeface="Liberation Sans"/>
              </a:rPr>
              <a:t>Task: Image Fusion</a:t>
            </a:r>
          </a:p>
        </p:txBody>
      </p:sp>
      <p:sp>
        <p:nvSpPr>
          <p:cNvPr id="76" name="fusion_panel"/>
          <p:cNvSpPr/>
          <p:nvPr/>
        </p:nvSpPr>
        <p:spPr>
          <a:xfrm>
            <a:off x="5673600" y="3621600"/>
            <a:ext cx="8013600" cy="1288800"/>
          </a:xfrm>
          <a:prstGeom prst="rect">
            <a:avLst/>
          </a:prstGeom>
          <a:solidFill>
            <a:srgbClr val="A8C6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uperres_title"/>
          <p:cNvSpPr txBox="1"/>
          <p:nvPr/>
        </p:nvSpPr>
        <p:spPr>
          <a:xfrm>
            <a:off x="100800" y="5011200"/>
            <a:ext cx="54144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4F9861"/>
                </a:solidFill>
                <a:latin typeface="Liberation Sans"/>
              </a:rPr>
              <a:t>Task: Image Super-resolution</a:t>
            </a:r>
          </a:p>
        </p:txBody>
      </p:sp>
      <p:sp>
        <p:nvSpPr>
          <p:cNvPr id="78" name="superres_panel"/>
          <p:cNvSpPr/>
          <p:nvPr/>
        </p:nvSpPr>
        <p:spPr>
          <a:xfrm>
            <a:off x="86400" y="5169600"/>
            <a:ext cx="5486400" cy="1288800"/>
          </a:xfrm>
          <a:prstGeom prst="rect">
            <a:avLst/>
          </a:prstGeom>
          <a:solidFill>
            <a:srgbClr val="A8C6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istration_title"/>
          <p:cNvSpPr txBox="1"/>
          <p:nvPr/>
        </p:nvSpPr>
        <p:spPr>
          <a:xfrm>
            <a:off x="5709600" y="5011200"/>
            <a:ext cx="7941600" cy="19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4F9861"/>
                </a:solidFill>
                <a:latin typeface="Liberation Sans"/>
              </a:rPr>
              <a:t>Task: Image Registration</a:t>
            </a:r>
          </a:p>
        </p:txBody>
      </p:sp>
      <p:sp>
        <p:nvSpPr>
          <p:cNvPr id="80" name="registration_panel"/>
          <p:cNvSpPr/>
          <p:nvPr/>
        </p:nvSpPr>
        <p:spPr>
          <a:xfrm>
            <a:off x="5673600" y="5169600"/>
            <a:ext cx="8013600" cy="1288800"/>
          </a:xfrm>
          <a:prstGeom prst="rect">
            <a:avLst/>
          </a:prstGeom>
          <a:solidFill>
            <a:srgbClr val="A8C6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1" name="rest_raw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82" name="rest_raw_label_backdrop"/>
          <p:cNvSpPr/>
          <p:nvPr/>
        </p:nvSpPr>
        <p:spPr>
          <a:xfrm>
            <a:off x="1440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st_raw_label"/>
          <p:cNvSpPr txBox="1"/>
          <p:nvPr/>
        </p:nvSpPr>
        <p:spPr>
          <a:xfrm>
            <a:off x="1728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Raw</a:t>
            </a:r>
          </a:p>
        </p:txBody>
      </p:sp>
      <p:sp>
        <p:nvSpPr>
          <p:cNvPr id="84" name="rest_noise_transform_body"/>
          <p:cNvSpPr/>
          <p:nvPr/>
        </p:nvSpPr>
        <p:spPr>
          <a:xfrm>
            <a:off x="1440000" y="4089600"/>
            <a:ext cx="309600" cy="352800"/>
          </a:xfrm>
          <a:prstGeom prst="roundRect">
            <a:avLst/>
          </a:pr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st_noise_transform_left"/>
          <p:cNvSpPr/>
          <p:nvPr/>
        </p:nvSpPr>
        <p:spPr>
          <a:xfrm>
            <a:off x="1389600" y="40896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0" y="0"/>
                </a:moveTo>
                <a:lnTo>
                  <a:pt x="72000" y="0"/>
                </a:lnTo>
                <a:lnTo>
                  <a:pt x="129600" y="176400"/>
                </a:lnTo>
                <a:lnTo>
                  <a:pt x="72000" y="352800"/>
                </a:lnTo>
                <a:lnTo>
                  <a:pt x="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st_noise_transform_right"/>
          <p:cNvSpPr/>
          <p:nvPr/>
        </p:nvSpPr>
        <p:spPr>
          <a:xfrm>
            <a:off x="1670400" y="40896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129600" y="0"/>
                </a:moveTo>
                <a:lnTo>
                  <a:pt x="57600" y="0"/>
                </a:lnTo>
                <a:lnTo>
                  <a:pt x="0" y="176400"/>
                </a:lnTo>
                <a:lnTo>
                  <a:pt x="57600" y="352800"/>
                </a:lnTo>
                <a:lnTo>
                  <a:pt x="12960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st_noise_transform_text"/>
          <p:cNvSpPr txBox="1"/>
          <p:nvPr/>
        </p:nvSpPr>
        <p:spPr>
          <a:xfrm>
            <a:off x="1396800" y="4111200"/>
            <a:ext cx="396000" cy="3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Noise</a:t>
            </a:r>
          </a:p>
        </p:txBody>
      </p:sp>
      <p:cxnSp>
        <p:nvCxnSpPr>
          <p:cNvPr id="88" name="rest_arrow_raw_transform_1"/>
          <p:cNvCxnSpPr/>
          <p:nvPr/>
        </p:nvCxnSpPr>
        <p:spPr>
          <a:xfrm>
            <a:off x="1303200" y="4269600"/>
            <a:ext cx="864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cxnSp>
        <p:nvCxnSpPr>
          <p:cNvPr id="89" name="rest_arrow_transform_noisy_1"/>
          <p:cNvCxnSpPr/>
          <p:nvPr/>
        </p:nvCxnSpPr>
        <p:spPr>
          <a:xfrm>
            <a:off x="1800000" y="4269600"/>
            <a:ext cx="720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pic>
        <p:nvPicPr>
          <p:cNvPr id="90" name="rest_noisy_image" descr="nois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720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91" name="rest_noisy_label_backdrop"/>
          <p:cNvSpPr/>
          <p:nvPr/>
        </p:nvSpPr>
        <p:spPr>
          <a:xfrm>
            <a:off x="18720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st_noisy_label"/>
          <p:cNvSpPr txBox="1"/>
          <p:nvPr/>
        </p:nvSpPr>
        <p:spPr>
          <a:xfrm>
            <a:off x="19008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Noisy</a:t>
            </a:r>
          </a:p>
        </p:txBody>
      </p:sp>
      <p:sp>
        <p:nvSpPr>
          <p:cNvPr id="93" name="rest_model_encoder"/>
          <p:cNvSpPr/>
          <p:nvPr/>
        </p:nvSpPr>
        <p:spPr>
          <a:xfrm>
            <a:off x="3110400" y="3693600"/>
            <a:ext cx="1130400" cy="799200"/>
          </a:xfrm>
          <a:custGeom>
            <a:avLst/>
            <a:gdLst/>
            <a:ahLst/>
            <a:cxnLst/>
            <a:rect l="l" t="t" r="r" b="b"/>
            <a:pathLst>
              <a:path w="1130400" h="799200">
                <a:moveTo>
                  <a:pt x="0" y="0"/>
                </a:moveTo>
                <a:lnTo>
                  <a:pt x="1130400" y="0"/>
                </a:lnTo>
                <a:lnTo>
                  <a:pt x="943200" y="799200"/>
                </a:lnTo>
                <a:lnTo>
                  <a:pt x="187200" y="799200"/>
                </a:lnTo>
                <a:close/>
              </a:path>
            </a:pathLst>
          </a:custGeom>
          <a:solidFill>
            <a:srgbClr val="4F98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st_model_decoder"/>
          <p:cNvSpPr/>
          <p:nvPr/>
        </p:nvSpPr>
        <p:spPr>
          <a:xfrm>
            <a:off x="3110400" y="4536000"/>
            <a:ext cx="1130400" cy="309600"/>
          </a:xfrm>
          <a:custGeom>
            <a:avLst/>
            <a:gdLst/>
            <a:ahLst/>
            <a:cxnLst/>
            <a:rect l="l" t="t" r="r" b="b"/>
            <a:pathLst>
              <a:path w="1130400" h="309600">
                <a:moveTo>
                  <a:pt x="187200" y="0"/>
                </a:moveTo>
                <a:lnTo>
                  <a:pt x="943200" y="0"/>
                </a:lnTo>
                <a:lnTo>
                  <a:pt x="1130400" y="309600"/>
                </a:lnTo>
                <a:lnTo>
                  <a:pt x="0" y="309600"/>
                </a:lnTo>
                <a:close/>
              </a:path>
            </a:pathLst>
          </a:custGeom>
          <a:solidFill>
            <a:srgbClr val="7BB0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st_model_encoder_text"/>
          <p:cNvSpPr txBox="1"/>
          <p:nvPr/>
        </p:nvSpPr>
        <p:spPr>
          <a:xfrm>
            <a:off x="3268800" y="3873600"/>
            <a:ext cx="813600" cy="44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Mamba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Encoder</a:t>
            </a:r>
          </a:p>
        </p:txBody>
      </p:sp>
      <p:sp>
        <p:nvSpPr>
          <p:cNvPr id="96" name="rest_model_decoder_text"/>
          <p:cNvSpPr txBox="1"/>
          <p:nvPr/>
        </p:nvSpPr>
        <p:spPr>
          <a:xfrm>
            <a:off x="3348000" y="4572000"/>
            <a:ext cx="655200" cy="24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Decoder</a:t>
            </a:r>
          </a:p>
        </p:txBody>
      </p:sp>
      <p:pic>
        <p:nvPicPr>
          <p:cNvPr id="97" name="rest_output_image" descr="restor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416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98" name="rest_output_label_backdrop"/>
          <p:cNvSpPr/>
          <p:nvPr/>
        </p:nvSpPr>
        <p:spPr>
          <a:xfrm>
            <a:off x="43416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st_output_label"/>
          <p:cNvSpPr txBox="1"/>
          <p:nvPr/>
        </p:nvSpPr>
        <p:spPr>
          <a:xfrm>
            <a:off x="43704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Restored</a:t>
            </a:r>
          </a:p>
        </p:txBody>
      </p:sp>
      <p:cxnSp>
        <p:nvCxnSpPr>
          <p:cNvPr id="100" name="rest_loop_top_1"/>
          <p:cNvCxnSpPr/>
          <p:nvPr/>
        </p:nvCxnSpPr>
        <p:spPr>
          <a:xfrm flipV="1">
            <a:off x="2440800" y="3492000"/>
            <a:ext cx="0" cy="2016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01" name="rest_loop_top_2"/>
          <p:cNvCxnSpPr/>
          <p:nvPr/>
        </p:nvCxnSpPr>
        <p:spPr>
          <a:xfrm>
            <a:off x="2440800" y="3492000"/>
            <a:ext cx="12312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02" name="rest_loop_top_3"/>
          <p:cNvCxnSpPr/>
          <p:nvPr/>
        </p:nvCxnSpPr>
        <p:spPr>
          <a:xfrm>
            <a:off x="3672000" y="3492000"/>
            <a:ext cx="0" cy="2016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cxnSp>
        <p:nvCxnSpPr>
          <p:cNvPr id="103" name="rest_loop_bottom_1"/>
          <p:cNvCxnSpPr/>
          <p:nvPr/>
        </p:nvCxnSpPr>
        <p:spPr>
          <a:xfrm>
            <a:off x="3672000" y="4845600"/>
            <a:ext cx="0" cy="1872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04" name="rest_loop_bottom_2"/>
          <p:cNvCxnSpPr/>
          <p:nvPr/>
        </p:nvCxnSpPr>
        <p:spPr>
          <a:xfrm>
            <a:off x="3672000" y="5032800"/>
            <a:ext cx="12384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05" name="rest_loop_bottom_3"/>
          <p:cNvCxnSpPr/>
          <p:nvPr/>
        </p:nvCxnSpPr>
        <p:spPr>
          <a:xfrm flipV="1">
            <a:off x="4910400" y="4845600"/>
            <a:ext cx="0" cy="1872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pic>
        <p:nvPicPr>
          <p:cNvPr id="106" name="fusion_raw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6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107" name="fusion_raw_label_backdrop"/>
          <p:cNvSpPr/>
          <p:nvPr/>
        </p:nvSpPr>
        <p:spPr>
          <a:xfrm>
            <a:off x="57456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usion_raw_label"/>
          <p:cNvSpPr txBox="1"/>
          <p:nvPr/>
        </p:nvSpPr>
        <p:spPr>
          <a:xfrm>
            <a:off x="57744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Raw</a:t>
            </a:r>
          </a:p>
        </p:txBody>
      </p:sp>
      <p:sp>
        <p:nvSpPr>
          <p:cNvPr id="109" name="fusion_mask_transform_body"/>
          <p:cNvSpPr/>
          <p:nvPr/>
        </p:nvSpPr>
        <p:spPr>
          <a:xfrm>
            <a:off x="7034400" y="4089600"/>
            <a:ext cx="309600" cy="352800"/>
          </a:xfrm>
          <a:prstGeom prst="roundRect">
            <a:avLst/>
          </a:pr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fusion_mask_transform_left"/>
          <p:cNvSpPr/>
          <p:nvPr/>
        </p:nvSpPr>
        <p:spPr>
          <a:xfrm>
            <a:off x="6984000" y="40896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0" y="0"/>
                </a:moveTo>
                <a:lnTo>
                  <a:pt x="72000" y="0"/>
                </a:lnTo>
                <a:lnTo>
                  <a:pt x="129600" y="176400"/>
                </a:lnTo>
                <a:lnTo>
                  <a:pt x="72000" y="352800"/>
                </a:lnTo>
                <a:lnTo>
                  <a:pt x="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fusion_mask_transform_right"/>
          <p:cNvSpPr/>
          <p:nvPr/>
        </p:nvSpPr>
        <p:spPr>
          <a:xfrm>
            <a:off x="7264800" y="40896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129600" y="0"/>
                </a:moveTo>
                <a:lnTo>
                  <a:pt x="57600" y="0"/>
                </a:lnTo>
                <a:lnTo>
                  <a:pt x="0" y="176400"/>
                </a:lnTo>
                <a:lnTo>
                  <a:pt x="57600" y="352800"/>
                </a:lnTo>
                <a:lnTo>
                  <a:pt x="12960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usion_mask_transform_text"/>
          <p:cNvSpPr txBox="1"/>
          <p:nvPr/>
        </p:nvSpPr>
        <p:spPr>
          <a:xfrm>
            <a:off x="6991200" y="4111200"/>
            <a:ext cx="396000" cy="3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Masking</a:t>
            </a:r>
          </a:p>
        </p:txBody>
      </p:sp>
      <p:cxnSp>
        <p:nvCxnSpPr>
          <p:cNvPr id="113" name="fusion_arrow_raw_transform_1"/>
          <p:cNvCxnSpPr/>
          <p:nvPr/>
        </p:nvCxnSpPr>
        <p:spPr>
          <a:xfrm>
            <a:off x="6904800" y="4269600"/>
            <a:ext cx="792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cxnSp>
        <p:nvCxnSpPr>
          <p:cNvPr id="114" name="fusion_arrow_transform_a_1"/>
          <p:cNvCxnSpPr/>
          <p:nvPr/>
        </p:nvCxnSpPr>
        <p:spPr>
          <a:xfrm>
            <a:off x="7394400" y="4269600"/>
            <a:ext cx="792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pic>
        <p:nvPicPr>
          <p:cNvPr id="115" name="fusion_mask_a_image" descr="masked_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3600" y="3693600"/>
            <a:ext cx="1152000" cy="1152000"/>
          </a:xfrm>
          <a:prstGeom prst="rect">
            <a:avLst/>
          </a:prstGeom>
          <a:effectLst/>
        </p:spPr>
      </p:pic>
      <p:sp>
        <p:nvSpPr>
          <p:cNvPr id="116" name="fusion_mask_a_label_backdrop"/>
          <p:cNvSpPr/>
          <p:nvPr/>
        </p:nvSpPr>
        <p:spPr>
          <a:xfrm>
            <a:off x="7473600" y="46440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usion_mask_a_label"/>
          <p:cNvSpPr txBox="1"/>
          <p:nvPr/>
        </p:nvSpPr>
        <p:spPr>
          <a:xfrm>
            <a:off x="7502400" y="46512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Masked A</a:t>
            </a:r>
          </a:p>
        </p:txBody>
      </p:sp>
      <p:pic>
        <p:nvPicPr>
          <p:cNvPr id="118" name="fusion_mask_b_image" descr="masked_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97600" y="3693600"/>
            <a:ext cx="1152000" cy="1152000"/>
          </a:xfrm>
          <a:prstGeom prst="rect">
            <a:avLst/>
          </a:prstGeom>
          <a:effectLst/>
        </p:spPr>
      </p:pic>
      <p:sp>
        <p:nvSpPr>
          <p:cNvPr id="119" name="fusion_mask_b_label_backdrop"/>
          <p:cNvSpPr/>
          <p:nvPr/>
        </p:nvSpPr>
        <p:spPr>
          <a:xfrm>
            <a:off x="8697600" y="46440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usion_mask_b_label"/>
          <p:cNvSpPr txBox="1"/>
          <p:nvPr/>
        </p:nvSpPr>
        <p:spPr>
          <a:xfrm>
            <a:off x="8726400" y="46512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Masked B</a:t>
            </a:r>
          </a:p>
        </p:txBody>
      </p:sp>
      <p:pic>
        <p:nvPicPr>
          <p:cNvPr id="121" name="fusion_visible_image" descr="visible_a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288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122" name="fusion_visible_label_backdrop"/>
          <p:cNvSpPr/>
          <p:nvPr/>
        </p:nvSpPr>
        <p:spPr>
          <a:xfrm>
            <a:off x="99288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usion_visible_label"/>
          <p:cNvSpPr txBox="1"/>
          <p:nvPr/>
        </p:nvSpPr>
        <p:spPr>
          <a:xfrm>
            <a:off x="99576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Visible A&amp;B</a:t>
            </a:r>
          </a:p>
        </p:txBody>
      </p:sp>
      <p:sp>
        <p:nvSpPr>
          <p:cNvPr id="124" name="fusion_model_encoder"/>
          <p:cNvSpPr/>
          <p:nvPr/>
        </p:nvSpPr>
        <p:spPr>
          <a:xfrm>
            <a:off x="11167200" y="3693600"/>
            <a:ext cx="1130400" cy="799200"/>
          </a:xfrm>
          <a:custGeom>
            <a:avLst/>
            <a:gdLst/>
            <a:ahLst/>
            <a:cxnLst/>
            <a:rect l="l" t="t" r="r" b="b"/>
            <a:pathLst>
              <a:path w="1130400" h="799200">
                <a:moveTo>
                  <a:pt x="0" y="0"/>
                </a:moveTo>
                <a:lnTo>
                  <a:pt x="1130400" y="0"/>
                </a:lnTo>
                <a:lnTo>
                  <a:pt x="943200" y="799200"/>
                </a:lnTo>
                <a:lnTo>
                  <a:pt x="187200" y="799200"/>
                </a:lnTo>
                <a:close/>
              </a:path>
            </a:pathLst>
          </a:custGeom>
          <a:solidFill>
            <a:srgbClr val="4F98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usion_model_decoder"/>
          <p:cNvSpPr/>
          <p:nvPr/>
        </p:nvSpPr>
        <p:spPr>
          <a:xfrm>
            <a:off x="11167200" y="4536000"/>
            <a:ext cx="1130400" cy="309600"/>
          </a:xfrm>
          <a:custGeom>
            <a:avLst/>
            <a:gdLst/>
            <a:ahLst/>
            <a:cxnLst/>
            <a:rect l="l" t="t" r="r" b="b"/>
            <a:pathLst>
              <a:path w="1130400" h="309600">
                <a:moveTo>
                  <a:pt x="187200" y="0"/>
                </a:moveTo>
                <a:lnTo>
                  <a:pt x="943200" y="0"/>
                </a:lnTo>
                <a:lnTo>
                  <a:pt x="1130400" y="309600"/>
                </a:lnTo>
                <a:lnTo>
                  <a:pt x="0" y="309600"/>
                </a:lnTo>
                <a:close/>
              </a:path>
            </a:pathLst>
          </a:custGeom>
          <a:solidFill>
            <a:srgbClr val="7BB0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usion_model_encoder_text"/>
          <p:cNvSpPr txBox="1"/>
          <p:nvPr/>
        </p:nvSpPr>
        <p:spPr>
          <a:xfrm>
            <a:off x="11325600" y="3873600"/>
            <a:ext cx="813600" cy="44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Mamba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Encoder</a:t>
            </a:r>
          </a:p>
        </p:txBody>
      </p:sp>
      <p:sp>
        <p:nvSpPr>
          <p:cNvPr id="127" name="fusion_model_decoder_text"/>
          <p:cNvSpPr txBox="1"/>
          <p:nvPr/>
        </p:nvSpPr>
        <p:spPr>
          <a:xfrm>
            <a:off x="11404800" y="4572000"/>
            <a:ext cx="655200" cy="24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Decoder</a:t>
            </a:r>
          </a:p>
        </p:txBody>
      </p:sp>
      <p:pic>
        <p:nvPicPr>
          <p:cNvPr id="128" name="fusion_output_image" descr="fus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05600" y="3693600"/>
            <a:ext cx="1159200" cy="1152000"/>
          </a:xfrm>
          <a:prstGeom prst="rect">
            <a:avLst/>
          </a:prstGeom>
          <a:effectLst/>
        </p:spPr>
      </p:pic>
      <p:sp>
        <p:nvSpPr>
          <p:cNvPr id="129" name="fusion_output_label_backdrop"/>
          <p:cNvSpPr/>
          <p:nvPr/>
        </p:nvSpPr>
        <p:spPr>
          <a:xfrm>
            <a:off x="12405600" y="46440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fusion_output_label"/>
          <p:cNvSpPr txBox="1"/>
          <p:nvPr/>
        </p:nvSpPr>
        <p:spPr>
          <a:xfrm>
            <a:off x="12434400" y="46512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Fuse+ReConed</a:t>
            </a:r>
          </a:p>
        </p:txBody>
      </p:sp>
      <p:cxnSp>
        <p:nvCxnSpPr>
          <p:cNvPr id="131" name="fusion_loop_top_1"/>
          <p:cNvCxnSpPr/>
          <p:nvPr/>
        </p:nvCxnSpPr>
        <p:spPr>
          <a:xfrm flipV="1">
            <a:off x="8049600" y="3492000"/>
            <a:ext cx="0" cy="2016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32" name="fusion_loop_top_2"/>
          <p:cNvCxnSpPr/>
          <p:nvPr/>
        </p:nvCxnSpPr>
        <p:spPr>
          <a:xfrm>
            <a:off x="8049600" y="3492000"/>
            <a:ext cx="36864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33" name="fusion_loop_top_3"/>
          <p:cNvCxnSpPr/>
          <p:nvPr/>
        </p:nvCxnSpPr>
        <p:spPr>
          <a:xfrm>
            <a:off x="11736000" y="3492000"/>
            <a:ext cx="0" cy="2016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cxnSp>
        <p:nvCxnSpPr>
          <p:cNvPr id="134" name="fusion_top_tap_b_1"/>
          <p:cNvCxnSpPr/>
          <p:nvPr/>
        </p:nvCxnSpPr>
        <p:spPr>
          <a:xfrm>
            <a:off x="9273600" y="3492000"/>
            <a:ext cx="0" cy="201600"/>
          </a:xfrm>
          <a:prstGeom prst="line">
            <a:avLst/>
          </a:prstGeom>
          <a:ln w="8639">
            <a:solidFill>
              <a:srgbClr val="4F9861"/>
            </a:solidFill>
          </a:ln>
          <a:effectLst/>
        </p:spPr>
      </p:cxnSp>
      <p:cxnSp>
        <p:nvCxnSpPr>
          <p:cNvPr id="135" name="fusion_top_tap_visible_1"/>
          <p:cNvCxnSpPr/>
          <p:nvPr/>
        </p:nvCxnSpPr>
        <p:spPr>
          <a:xfrm>
            <a:off x="10504800" y="3492000"/>
            <a:ext cx="0" cy="201600"/>
          </a:xfrm>
          <a:prstGeom prst="line">
            <a:avLst/>
          </a:prstGeom>
          <a:ln w="8639">
            <a:solidFill>
              <a:srgbClr val="4F9861"/>
            </a:solidFill>
          </a:ln>
          <a:effectLst/>
        </p:spPr>
      </p:cxnSp>
      <p:cxnSp>
        <p:nvCxnSpPr>
          <p:cNvPr id="136" name="fusion_loop_bottom_1"/>
          <p:cNvCxnSpPr/>
          <p:nvPr/>
        </p:nvCxnSpPr>
        <p:spPr>
          <a:xfrm>
            <a:off x="11736000" y="4845600"/>
            <a:ext cx="0" cy="1872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37" name="fusion_loop_bottom_2"/>
          <p:cNvCxnSpPr/>
          <p:nvPr/>
        </p:nvCxnSpPr>
        <p:spPr>
          <a:xfrm>
            <a:off x="11736000" y="5032800"/>
            <a:ext cx="12528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38" name="fusion_loop_bottom_3"/>
          <p:cNvCxnSpPr/>
          <p:nvPr/>
        </p:nvCxnSpPr>
        <p:spPr>
          <a:xfrm flipV="1">
            <a:off x="12988800" y="4845600"/>
            <a:ext cx="0" cy="1872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pic>
        <p:nvPicPr>
          <p:cNvPr id="139" name="super_raw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5234400"/>
            <a:ext cx="1159200" cy="1152000"/>
          </a:xfrm>
          <a:prstGeom prst="rect">
            <a:avLst/>
          </a:prstGeom>
          <a:effectLst/>
        </p:spPr>
      </p:pic>
      <p:sp>
        <p:nvSpPr>
          <p:cNvPr id="140" name="super_raw_label_backdrop"/>
          <p:cNvSpPr/>
          <p:nvPr/>
        </p:nvSpPr>
        <p:spPr>
          <a:xfrm>
            <a:off x="144000" y="61848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super_raw_label"/>
          <p:cNvSpPr txBox="1"/>
          <p:nvPr/>
        </p:nvSpPr>
        <p:spPr>
          <a:xfrm>
            <a:off x="172800" y="61920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Raw</a:t>
            </a:r>
          </a:p>
        </p:txBody>
      </p:sp>
      <p:sp>
        <p:nvSpPr>
          <p:cNvPr id="142" name="super_lowres_transform_body"/>
          <p:cNvSpPr/>
          <p:nvPr/>
        </p:nvSpPr>
        <p:spPr>
          <a:xfrm>
            <a:off x="1440000" y="5644800"/>
            <a:ext cx="309600" cy="352800"/>
          </a:xfrm>
          <a:prstGeom prst="roundRect">
            <a:avLst/>
          </a:pr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super_lowres_transform_left"/>
          <p:cNvSpPr/>
          <p:nvPr/>
        </p:nvSpPr>
        <p:spPr>
          <a:xfrm>
            <a:off x="1389600" y="56448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0" y="0"/>
                </a:moveTo>
                <a:lnTo>
                  <a:pt x="72000" y="0"/>
                </a:lnTo>
                <a:lnTo>
                  <a:pt x="129600" y="176400"/>
                </a:lnTo>
                <a:lnTo>
                  <a:pt x="72000" y="352800"/>
                </a:lnTo>
                <a:lnTo>
                  <a:pt x="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super_lowres_transform_right"/>
          <p:cNvSpPr/>
          <p:nvPr/>
        </p:nvSpPr>
        <p:spPr>
          <a:xfrm>
            <a:off x="1670400" y="56448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129600" y="0"/>
                </a:moveTo>
                <a:lnTo>
                  <a:pt x="57600" y="0"/>
                </a:lnTo>
                <a:lnTo>
                  <a:pt x="0" y="176400"/>
                </a:lnTo>
                <a:lnTo>
                  <a:pt x="57600" y="352800"/>
                </a:lnTo>
                <a:lnTo>
                  <a:pt x="12960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super_lowres_transform_text"/>
          <p:cNvSpPr txBox="1"/>
          <p:nvPr/>
        </p:nvSpPr>
        <p:spPr>
          <a:xfrm>
            <a:off x="1396800" y="5666400"/>
            <a:ext cx="396000" cy="3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1" b="1" i="0">
                <a:solidFill>
                  <a:srgbClr val="1E2920"/>
                </a:solidFill>
                <a:latin typeface="Liberation Sans"/>
              </a:rPr>
              <a:t>Low-Res</a:t>
            </a:r>
          </a:p>
        </p:txBody>
      </p:sp>
      <p:cxnSp>
        <p:nvCxnSpPr>
          <p:cNvPr id="146" name="super_arrow_raw_transform_1"/>
          <p:cNvCxnSpPr/>
          <p:nvPr/>
        </p:nvCxnSpPr>
        <p:spPr>
          <a:xfrm>
            <a:off x="1303200" y="5824800"/>
            <a:ext cx="864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cxnSp>
        <p:nvCxnSpPr>
          <p:cNvPr id="147" name="super_arrow_transform_down_1"/>
          <p:cNvCxnSpPr/>
          <p:nvPr/>
        </p:nvCxnSpPr>
        <p:spPr>
          <a:xfrm>
            <a:off x="1800000" y="5824800"/>
            <a:ext cx="648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pic>
        <p:nvPicPr>
          <p:cNvPr id="148" name="super_down_image" descr="downsampl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64800" y="5234400"/>
            <a:ext cx="1159200" cy="1152000"/>
          </a:xfrm>
          <a:prstGeom prst="rect">
            <a:avLst/>
          </a:prstGeom>
          <a:effectLst/>
        </p:spPr>
      </p:pic>
      <p:sp>
        <p:nvSpPr>
          <p:cNvPr id="149" name="super_down_label_backdrop"/>
          <p:cNvSpPr/>
          <p:nvPr/>
        </p:nvSpPr>
        <p:spPr>
          <a:xfrm>
            <a:off x="1864800" y="61848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super_down_label"/>
          <p:cNvSpPr txBox="1"/>
          <p:nvPr/>
        </p:nvSpPr>
        <p:spPr>
          <a:xfrm>
            <a:off x="1893600" y="61920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Downsampled</a:t>
            </a:r>
          </a:p>
        </p:txBody>
      </p:sp>
      <p:sp>
        <p:nvSpPr>
          <p:cNvPr id="151" name="super_model_encoder"/>
          <p:cNvSpPr/>
          <p:nvPr/>
        </p:nvSpPr>
        <p:spPr>
          <a:xfrm>
            <a:off x="3110400" y="5234400"/>
            <a:ext cx="1130400" cy="799200"/>
          </a:xfrm>
          <a:custGeom>
            <a:avLst/>
            <a:gdLst/>
            <a:ahLst/>
            <a:cxnLst/>
            <a:rect l="l" t="t" r="r" b="b"/>
            <a:pathLst>
              <a:path w="1130400" h="799200">
                <a:moveTo>
                  <a:pt x="0" y="0"/>
                </a:moveTo>
                <a:lnTo>
                  <a:pt x="1130400" y="0"/>
                </a:lnTo>
                <a:lnTo>
                  <a:pt x="943200" y="799200"/>
                </a:lnTo>
                <a:lnTo>
                  <a:pt x="187200" y="799200"/>
                </a:lnTo>
                <a:close/>
              </a:path>
            </a:pathLst>
          </a:custGeom>
          <a:solidFill>
            <a:srgbClr val="4F98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super_model_decoder"/>
          <p:cNvSpPr/>
          <p:nvPr/>
        </p:nvSpPr>
        <p:spPr>
          <a:xfrm>
            <a:off x="3110400" y="6076800"/>
            <a:ext cx="1130400" cy="309600"/>
          </a:xfrm>
          <a:custGeom>
            <a:avLst/>
            <a:gdLst/>
            <a:ahLst/>
            <a:cxnLst/>
            <a:rect l="l" t="t" r="r" b="b"/>
            <a:pathLst>
              <a:path w="1130400" h="309600">
                <a:moveTo>
                  <a:pt x="187200" y="0"/>
                </a:moveTo>
                <a:lnTo>
                  <a:pt x="943200" y="0"/>
                </a:lnTo>
                <a:lnTo>
                  <a:pt x="1130400" y="309600"/>
                </a:lnTo>
                <a:lnTo>
                  <a:pt x="0" y="309600"/>
                </a:lnTo>
                <a:close/>
              </a:path>
            </a:pathLst>
          </a:custGeom>
          <a:solidFill>
            <a:srgbClr val="7BB0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super_model_encoder_text"/>
          <p:cNvSpPr txBox="1"/>
          <p:nvPr/>
        </p:nvSpPr>
        <p:spPr>
          <a:xfrm>
            <a:off x="3268800" y="5414400"/>
            <a:ext cx="813600" cy="44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Mamba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Encoder</a:t>
            </a:r>
          </a:p>
        </p:txBody>
      </p:sp>
      <p:sp>
        <p:nvSpPr>
          <p:cNvPr id="154" name="super_model_decoder_text"/>
          <p:cNvSpPr txBox="1"/>
          <p:nvPr/>
        </p:nvSpPr>
        <p:spPr>
          <a:xfrm>
            <a:off x="3348000" y="6112800"/>
            <a:ext cx="655200" cy="24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Decoder</a:t>
            </a:r>
          </a:p>
        </p:txBody>
      </p:sp>
      <p:pic>
        <p:nvPicPr>
          <p:cNvPr id="155" name="super_output_image" descr="upsampl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34400" y="5234400"/>
            <a:ext cx="1152000" cy="1152000"/>
          </a:xfrm>
          <a:prstGeom prst="rect">
            <a:avLst/>
          </a:prstGeom>
          <a:effectLst/>
        </p:spPr>
      </p:pic>
      <p:sp>
        <p:nvSpPr>
          <p:cNvPr id="156" name="super_output_label_backdrop"/>
          <p:cNvSpPr/>
          <p:nvPr/>
        </p:nvSpPr>
        <p:spPr>
          <a:xfrm>
            <a:off x="4334400" y="61848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super_output_label"/>
          <p:cNvSpPr txBox="1"/>
          <p:nvPr/>
        </p:nvSpPr>
        <p:spPr>
          <a:xfrm>
            <a:off x="4363200" y="61920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Upsampled</a:t>
            </a:r>
          </a:p>
        </p:txBody>
      </p:sp>
      <p:cxnSp>
        <p:nvCxnSpPr>
          <p:cNvPr id="158" name="super_loop_top_1"/>
          <p:cNvCxnSpPr/>
          <p:nvPr/>
        </p:nvCxnSpPr>
        <p:spPr>
          <a:xfrm flipV="1">
            <a:off x="2440800" y="5032800"/>
            <a:ext cx="0" cy="2016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59" name="super_loop_top_2"/>
          <p:cNvCxnSpPr/>
          <p:nvPr/>
        </p:nvCxnSpPr>
        <p:spPr>
          <a:xfrm>
            <a:off x="2440800" y="5032800"/>
            <a:ext cx="12312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60" name="super_loop_top_3"/>
          <p:cNvCxnSpPr/>
          <p:nvPr/>
        </p:nvCxnSpPr>
        <p:spPr>
          <a:xfrm>
            <a:off x="3672000" y="5032800"/>
            <a:ext cx="0" cy="2016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cxnSp>
        <p:nvCxnSpPr>
          <p:cNvPr id="161" name="super_loop_bottom_1"/>
          <p:cNvCxnSpPr/>
          <p:nvPr/>
        </p:nvCxnSpPr>
        <p:spPr>
          <a:xfrm>
            <a:off x="3672000" y="6386400"/>
            <a:ext cx="0" cy="1800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62" name="super_loop_bottom_2"/>
          <p:cNvCxnSpPr/>
          <p:nvPr/>
        </p:nvCxnSpPr>
        <p:spPr>
          <a:xfrm>
            <a:off x="3672000" y="6566400"/>
            <a:ext cx="12312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63" name="super_loop_bottom_3"/>
          <p:cNvCxnSpPr/>
          <p:nvPr/>
        </p:nvCxnSpPr>
        <p:spPr>
          <a:xfrm flipV="1">
            <a:off x="4903200" y="6386400"/>
            <a:ext cx="0" cy="1800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pic>
        <p:nvPicPr>
          <p:cNvPr id="164" name="registration_raw_image" descr="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600" y="5234400"/>
            <a:ext cx="1159200" cy="1152000"/>
          </a:xfrm>
          <a:prstGeom prst="rect">
            <a:avLst/>
          </a:prstGeom>
          <a:effectLst/>
        </p:spPr>
      </p:pic>
      <p:sp>
        <p:nvSpPr>
          <p:cNvPr id="165" name="registration_raw_label_backdrop"/>
          <p:cNvSpPr/>
          <p:nvPr/>
        </p:nvSpPr>
        <p:spPr>
          <a:xfrm>
            <a:off x="5745600" y="61848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gistration_raw_label"/>
          <p:cNvSpPr txBox="1"/>
          <p:nvPr/>
        </p:nvSpPr>
        <p:spPr>
          <a:xfrm>
            <a:off x="5774400" y="61920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FFFFFF"/>
                </a:solidFill>
                <a:latin typeface="Liberation Sans"/>
              </a:rPr>
              <a:t>Raw</a:t>
            </a:r>
          </a:p>
        </p:txBody>
      </p:sp>
      <p:sp>
        <p:nvSpPr>
          <p:cNvPr id="167" name="registration_deform_transform_body"/>
          <p:cNvSpPr/>
          <p:nvPr/>
        </p:nvSpPr>
        <p:spPr>
          <a:xfrm>
            <a:off x="7034400" y="5644800"/>
            <a:ext cx="309600" cy="352800"/>
          </a:xfrm>
          <a:prstGeom prst="roundRect">
            <a:avLst/>
          </a:pr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gistration_deform_transform_left"/>
          <p:cNvSpPr/>
          <p:nvPr/>
        </p:nvSpPr>
        <p:spPr>
          <a:xfrm>
            <a:off x="6984000" y="56448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0" y="0"/>
                </a:moveTo>
                <a:lnTo>
                  <a:pt x="72000" y="0"/>
                </a:lnTo>
                <a:lnTo>
                  <a:pt x="129600" y="176400"/>
                </a:lnTo>
                <a:lnTo>
                  <a:pt x="72000" y="352800"/>
                </a:lnTo>
                <a:lnTo>
                  <a:pt x="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gistration_deform_transform_right"/>
          <p:cNvSpPr/>
          <p:nvPr/>
        </p:nvSpPr>
        <p:spPr>
          <a:xfrm>
            <a:off x="7264800" y="5644800"/>
            <a:ext cx="129600" cy="352800"/>
          </a:xfrm>
          <a:custGeom>
            <a:avLst/>
            <a:gdLst/>
            <a:ahLst/>
            <a:cxnLst/>
            <a:rect l="l" t="t" r="r" b="b"/>
            <a:pathLst>
              <a:path w="129600" h="352800">
                <a:moveTo>
                  <a:pt x="129600" y="0"/>
                </a:moveTo>
                <a:lnTo>
                  <a:pt x="57600" y="0"/>
                </a:lnTo>
                <a:lnTo>
                  <a:pt x="0" y="176400"/>
                </a:lnTo>
                <a:lnTo>
                  <a:pt x="57600" y="352800"/>
                </a:lnTo>
                <a:lnTo>
                  <a:pt x="129600" y="352800"/>
                </a:lnTo>
                <a:lnTo>
                  <a:pt x="64800" y="176400"/>
                </a:lnTo>
                <a:close/>
              </a:path>
            </a:pathLst>
          </a:custGeom>
          <a:solidFill>
            <a:srgbClr val="C7B9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gistration_deform_transform_text"/>
          <p:cNvSpPr txBox="1"/>
          <p:nvPr/>
        </p:nvSpPr>
        <p:spPr>
          <a:xfrm>
            <a:off x="6991200" y="5666400"/>
            <a:ext cx="396000" cy="3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78" b="1" i="0">
                <a:solidFill>
                  <a:srgbClr val="1E2920"/>
                </a:solidFill>
                <a:latin typeface="Liberation Sans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78" b="1" i="0">
                <a:solidFill>
                  <a:srgbClr val="1E2920"/>
                </a:solidFill>
                <a:latin typeface="Liberation Sans"/>
              </a:rPr>
              <a:t>Deforming</a:t>
            </a:r>
          </a:p>
        </p:txBody>
      </p:sp>
      <p:cxnSp>
        <p:nvCxnSpPr>
          <p:cNvPr id="171" name="registration_arrow_raw_transform_1"/>
          <p:cNvCxnSpPr/>
          <p:nvPr/>
        </p:nvCxnSpPr>
        <p:spPr>
          <a:xfrm>
            <a:off x="6904800" y="5824800"/>
            <a:ext cx="792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cxnSp>
        <p:nvCxnSpPr>
          <p:cNvPr id="172" name="registration_arrow_transform_deformed_1"/>
          <p:cNvCxnSpPr/>
          <p:nvPr/>
        </p:nvCxnSpPr>
        <p:spPr>
          <a:xfrm>
            <a:off x="7394400" y="5824800"/>
            <a:ext cx="79200" cy="0"/>
          </a:xfrm>
          <a:prstGeom prst="line">
            <a:avLst/>
          </a:prstGeom>
          <a:ln w="8639">
            <a:solidFill>
              <a:srgbClr val="1B2B22"/>
            </a:solidFill>
            <a:tailEnd type="triangle" w="sm" len="sm"/>
          </a:ln>
          <a:effectLst/>
        </p:spPr>
      </p:cxnSp>
      <p:pic>
        <p:nvPicPr>
          <p:cNvPr id="173" name="registration_deformed_image" descr="deformed_task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73600" y="5234400"/>
            <a:ext cx="1152000" cy="1152000"/>
          </a:xfrm>
          <a:prstGeom prst="rect">
            <a:avLst/>
          </a:prstGeom>
          <a:effectLst/>
        </p:spPr>
      </p:pic>
      <p:sp>
        <p:nvSpPr>
          <p:cNvPr id="174" name="registration_deformed_label_backdrop"/>
          <p:cNvSpPr/>
          <p:nvPr/>
        </p:nvSpPr>
        <p:spPr>
          <a:xfrm>
            <a:off x="7473600" y="61848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gistration_deformed_label"/>
          <p:cNvSpPr txBox="1"/>
          <p:nvPr/>
        </p:nvSpPr>
        <p:spPr>
          <a:xfrm>
            <a:off x="7502400" y="61920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Deformed</a:t>
            </a:r>
          </a:p>
        </p:txBody>
      </p:sp>
      <p:pic>
        <p:nvPicPr>
          <p:cNvPr id="176" name="registration_error_pre_image" descr="error_pr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97600" y="5234400"/>
            <a:ext cx="1152000" cy="1152000"/>
          </a:xfrm>
          <a:prstGeom prst="rect">
            <a:avLst/>
          </a:prstGeom>
          <a:effectLst/>
        </p:spPr>
      </p:pic>
      <p:sp>
        <p:nvSpPr>
          <p:cNvPr id="177" name="registration_error_pre_label_backdrop"/>
          <p:cNvSpPr/>
          <p:nvPr/>
        </p:nvSpPr>
        <p:spPr>
          <a:xfrm>
            <a:off x="8697600" y="61848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gistration_error_pre_label"/>
          <p:cNvSpPr txBox="1"/>
          <p:nvPr/>
        </p:nvSpPr>
        <p:spPr>
          <a:xfrm>
            <a:off x="8726400" y="61920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Error Map</a:t>
            </a:r>
          </a:p>
        </p:txBody>
      </p:sp>
      <p:sp>
        <p:nvSpPr>
          <p:cNvPr id="179" name="registration_model_encoder"/>
          <p:cNvSpPr/>
          <p:nvPr/>
        </p:nvSpPr>
        <p:spPr>
          <a:xfrm>
            <a:off x="9936000" y="5234400"/>
            <a:ext cx="1130400" cy="799200"/>
          </a:xfrm>
          <a:custGeom>
            <a:avLst/>
            <a:gdLst/>
            <a:ahLst/>
            <a:cxnLst/>
            <a:rect l="l" t="t" r="r" b="b"/>
            <a:pathLst>
              <a:path w="1130400" h="799200">
                <a:moveTo>
                  <a:pt x="0" y="0"/>
                </a:moveTo>
                <a:lnTo>
                  <a:pt x="1130400" y="0"/>
                </a:lnTo>
                <a:lnTo>
                  <a:pt x="943200" y="799200"/>
                </a:lnTo>
                <a:lnTo>
                  <a:pt x="187200" y="799200"/>
                </a:lnTo>
                <a:close/>
              </a:path>
            </a:pathLst>
          </a:custGeom>
          <a:solidFill>
            <a:srgbClr val="4F98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gistration_model_decoder"/>
          <p:cNvSpPr/>
          <p:nvPr/>
        </p:nvSpPr>
        <p:spPr>
          <a:xfrm>
            <a:off x="9936000" y="6076800"/>
            <a:ext cx="1130400" cy="309600"/>
          </a:xfrm>
          <a:custGeom>
            <a:avLst/>
            <a:gdLst/>
            <a:ahLst/>
            <a:cxnLst/>
            <a:rect l="l" t="t" r="r" b="b"/>
            <a:pathLst>
              <a:path w="1130400" h="309600">
                <a:moveTo>
                  <a:pt x="187200" y="0"/>
                </a:moveTo>
                <a:lnTo>
                  <a:pt x="943200" y="0"/>
                </a:lnTo>
                <a:lnTo>
                  <a:pt x="1130400" y="309600"/>
                </a:lnTo>
                <a:lnTo>
                  <a:pt x="0" y="309600"/>
                </a:lnTo>
                <a:close/>
              </a:path>
            </a:pathLst>
          </a:custGeom>
          <a:solidFill>
            <a:srgbClr val="7BB0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gistration_model_encoder_text"/>
          <p:cNvSpPr txBox="1"/>
          <p:nvPr/>
        </p:nvSpPr>
        <p:spPr>
          <a:xfrm>
            <a:off x="10094400" y="5414400"/>
            <a:ext cx="813600" cy="44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Mamba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FFFFFF"/>
                </a:solidFill>
                <a:latin typeface="Liberation Sans"/>
              </a:rPr>
              <a:t>Encoder</a:t>
            </a:r>
          </a:p>
        </p:txBody>
      </p:sp>
      <p:sp>
        <p:nvSpPr>
          <p:cNvPr id="182" name="registration_model_decoder_text"/>
          <p:cNvSpPr txBox="1"/>
          <p:nvPr/>
        </p:nvSpPr>
        <p:spPr>
          <a:xfrm>
            <a:off x="10173600" y="6112800"/>
            <a:ext cx="655200" cy="24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Liberation Sans"/>
              </a:rPr>
              <a:t>Decoder</a:t>
            </a:r>
          </a:p>
        </p:txBody>
      </p:sp>
      <p:pic>
        <p:nvPicPr>
          <p:cNvPr id="183" name="registration_output_image" descr="register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74400" y="5234400"/>
            <a:ext cx="1152000" cy="1152000"/>
          </a:xfrm>
          <a:prstGeom prst="rect">
            <a:avLst/>
          </a:prstGeom>
          <a:effectLst/>
        </p:spPr>
      </p:pic>
      <p:sp>
        <p:nvSpPr>
          <p:cNvPr id="184" name="registration_output_label_backdrop"/>
          <p:cNvSpPr/>
          <p:nvPr/>
        </p:nvSpPr>
        <p:spPr>
          <a:xfrm>
            <a:off x="11174400" y="6184800"/>
            <a:ext cx="11520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gistration_output_label"/>
          <p:cNvSpPr txBox="1"/>
          <p:nvPr/>
        </p:nvSpPr>
        <p:spPr>
          <a:xfrm>
            <a:off x="11203200" y="6192000"/>
            <a:ext cx="10944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Registrated</a:t>
            </a:r>
          </a:p>
        </p:txBody>
      </p:sp>
      <p:pic>
        <p:nvPicPr>
          <p:cNvPr id="186" name="registration_error_post_image" descr="error_post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398400" y="5234400"/>
            <a:ext cx="1159200" cy="1152000"/>
          </a:xfrm>
          <a:prstGeom prst="rect">
            <a:avLst/>
          </a:prstGeom>
          <a:effectLst/>
        </p:spPr>
      </p:pic>
      <p:sp>
        <p:nvSpPr>
          <p:cNvPr id="187" name="registration_error_post_label_backdrop"/>
          <p:cNvSpPr/>
          <p:nvPr/>
        </p:nvSpPr>
        <p:spPr>
          <a:xfrm>
            <a:off x="12398400" y="6184800"/>
            <a:ext cx="1159200" cy="201600"/>
          </a:xfrm>
          <a:prstGeom prst="rect">
            <a:avLst/>
          </a:prstGeom>
          <a:solidFill>
            <a:srgbClr val="151515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gistration_error_post_label"/>
          <p:cNvSpPr txBox="1"/>
          <p:nvPr/>
        </p:nvSpPr>
        <p:spPr>
          <a:xfrm>
            <a:off x="12427200" y="6192000"/>
            <a:ext cx="11016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7" b="1" i="0">
                <a:solidFill>
                  <a:srgbClr val="FFFFFF"/>
                </a:solidFill>
                <a:latin typeface="Liberation Sans"/>
              </a:rPr>
              <a:t>Error Map</a:t>
            </a:r>
          </a:p>
        </p:txBody>
      </p:sp>
      <p:cxnSp>
        <p:nvCxnSpPr>
          <p:cNvPr id="189" name="registration_loop_top_1"/>
          <p:cNvCxnSpPr/>
          <p:nvPr/>
        </p:nvCxnSpPr>
        <p:spPr>
          <a:xfrm flipV="1">
            <a:off x="8049600" y="5032800"/>
            <a:ext cx="0" cy="2016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90" name="registration_loop_top_2"/>
          <p:cNvCxnSpPr/>
          <p:nvPr/>
        </p:nvCxnSpPr>
        <p:spPr>
          <a:xfrm>
            <a:off x="8049600" y="5032800"/>
            <a:ext cx="24552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91" name="registration_loop_top_3"/>
          <p:cNvCxnSpPr/>
          <p:nvPr/>
        </p:nvCxnSpPr>
        <p:spPr>
          <a:xfrm>
            <a:off x="10504800" y="5032800"/>
            <a:ext cx="0" cy="2016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cxnSp>
        <p:nvCxnSpPr>
          <p:cNvPr id="192" name="registration_loop_bottom_1"/>
          <p:cNvCxnSpPr/>
          <p:nvPr/>
        </p:nvCxnSpPr>
        <p:spPr>
          <a:xfrm>
            <a:off x="10504800" y="6386400"/>
            <a:ext cx="0" cy="18000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93" name="registration_loop_bottom_2"/>
          <p:cNvCxnSpPr/>
          <p:nvPr/>
        </p:nvCxnSpPr>
        <p:spPr>
          <a:xfrm>
            <a:off x="10504800" y="6566400"/>
            <a:ext cx="1245600" cy="0"/>
          </a:xfrm>
          <a:prstGeom prst="line">
            <a:avLst/>
          </a:prstGeom>
          <a:ln w="10800">
            <a:solidFill>
              <a:srgbClr val="4F9861"/>
            </a:solidFill>
          </a:ln>
          <a:effectLst/>
        </p:spPr>
      </p:cxnSp>
      <p:cxnSp>
        <p:nvCxnSpPr>
          <p:cNvPr id="194" name="registration_loop_bottom_3"/>
          <p:cNvCxnSpPr/>
          <p:nvPr/>
        </p:nvCxnSpPr>
        <p:spPr>
          <a:xfrm flipV="1">
            <a:off x="11750400" y="6386400"/>
            <a:ext cx="0" cy="180000"/>
          </a:xfrm>
          <a:prstGeom prst="line">
            <a:avLst/>
          </a:prstGeom>
          <a:ln w="10800">
            <a:solidFill>
              <a:srgbClr val="4F9861"/>
            </a:solidFill>
            <a:tailEnd type="triangle" w="sm" len="sm"/>
          </a:ln>
          <a:effectLst/>
        </p:spPr>
      </p:cxnSp>
      <p:sp>
        <p:nvSpPr>
          <p:cNvPr id="195" name="legend_misalign"/>
          <p:cNvSpPr txBox="1"/>
          <p:nvPr/>
        </p:nvSpPr>
        <p:spPr>
          <a:xfrm>
            <a:off x="11937600" y="6530400"/>
            <a:ext cx="619200" cy="20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92969D"/>
                </a:solidFill>
                <a:latin typeface="Liberation Sans"/>
              </a:rPr>
              <a:t>Misalign</a:t>
            </a:r>
          </a:p>
        </p:txBody>
      </p:sp>
      <p:sp>
        <p:nvSpPr>
          <p:cNvPr id="196" name="legend_step_1"/>
          <p:cNvSpPr/>
          <p:nvPr/>
        </p:nvSpPr>
        <p:spPr>
          <a:xfrm>
            <a:off x="12556800" y="6566400"/>
            <a:ext cx="158400" cy="79200"/>
          </a:xfrm>
          <a:prstGeom prst="rect">
            <a:avLst/>
          </a:prstGeom>
          <a:solidFill>
            <a:srgbClr val="DBED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legend_step_2"/>
          <p:cNvSpPr/>
          <p:nvPr/>
        </p:nvSpPr>
        <p:spPr>
          <a:xfrm>
            <a:off x="12715200" y="6566400"/>
            <a:ext cx="158400" cy="79200"/>
          </a:xfrm>
          <a:prstGeom prst="rect">
            <a:avLst/>
          </a:prstGeom>
          <a:solidFill>
            <a:srgbClr val="C7DF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legend_step_3"/>
          <p:cNvSpPr/>
          <p:nvPr/>
        </p:nvSpPr>
        <p:spPr>
          <a:xfrm>
            <a:off x="12873600" y="6566400"/>
            <a:ext cx="158400" cy="79200"/>
          </a:xfrm>
          <a:prstGeom prst="rect">
            <a:avLst/>
          </a:prstGeom>
          <a:solidFill>
            <a:srgbClr val="CCB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legend_step_4"/>
          <p:cNvSpPr/>
          <p:nvPr/>
        </p:nvSpPr>
        <p:spPr>
          <a:xfrm>
            <a:off x="13032000" y="6566400"/>
            <a:ext cx="158400" cy="79200"/>
          </a:xfrm>
          <a:prstGeom prst="rect">
            <a:avLst/>
          </a:prstGeom>
          <a:solidFill>
            <a:srgbClr val="D48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legend_step_5"/>
          <p:cNvSpPr/>
          <p:nvPr/>
        </p:nvSpPr>
        <p:spPr>
          <a:xfrm>
            <a:off x="13190400" y="6566400"/>
            <a:ext cx="158400" cy="79200"/>
          </a:xfrm>
          <a:prstGeom prst="rect">
            <a:avLst/>
          </a:prstGeom>
          <a:solidFill>
            <a:srgbClr val="E84D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legend_align"/>
          <p:cNvSpPr txBox="1"/>
          <p:nvPr/>
        </p:nvSpPr>
        <p:spPr>
          <a:xfrm>
            <a:off x="13348800" y="6530400"/>
            <a:ext cx="367200" cy="20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3" b="1" i="0">
                <a:solidFill>
                  <a:srgbClr val="92969D"/>
                </a:solidFill>
                <a:latin typeface="Liberation Sans"/>
              </a:rPr>
              <a:t>Align</a:t>
            </a:r>
          </a:p>
        </p:txBody>
      </p:sp>
      <p:sp>
        <p:nvSpPr>
          <p:cNvPr id="202" name="tjp_heading"/>
          <p:cNvSpPr txBox="1"/>
          <p:nvPr/>
        </p:nvSpPr>
        <p:spPr>
          <a:xfrm>
            <a:off x="79200" y="6681600"/>
            <a:ext cx="10440000" cy="25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4F9861"/>
                </a:solidFill>
                <a:latin typeface="Liberation Sans"/>
              </a:rPr>
              <a:t>Task-related Joint-embedding Pre-training (TJP) on Multi-head Hierarchy Mamba2 (MHM)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Orochi Versatile Biomedical Image Process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684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