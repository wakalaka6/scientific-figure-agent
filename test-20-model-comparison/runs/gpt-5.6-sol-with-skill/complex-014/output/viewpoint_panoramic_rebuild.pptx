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573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nvas"/>
          <p:cNvSpPr/>
          <p:nvPr/>
        </p:nvSpPr>
        <p:spPr>
          <a:xfrm>
            <a:off x="0" y="0"/>
            <a:ext cx="12573000" cy="6857389"/>
          </a:xfrm>
          <a:prstGeom prst="rect">
            <a:avLst/>
          </a:prstGeom>
          <a:solidFill>
            <a:srgbClr val="FE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uter-frame"/>
          <p:cNvSpPr/>
          <p:nvPr/>
        </p:nvSpPr>
        <p:spPr>
          <a:xfrm>
            <a:off x="67163" y="67163"/>
            <a:ext cx="12438673" cy="6723062"/>
          </a:xfrm>
          <a:prstGeom prst="roundRect">
            <a:avLst>
              <a:gd name="adj" fmla="val 4595"/>
            </a:avLst>
          </a:prstGeom>
          <a:noFill/>
          <a:ln w="16790">
            <a:solidFill>
              <a:srgbClr val="17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section-divider"/>
          <p:cNvCxnSpPr/>
          <p:nvPr/>
        </p:nvCxnSpPr>
        <p:spPr>
          <a:xfrm>
            <a:off x="67163" y="3284293"/>
            <a:ext cx="12438673" cy="0"/>
          </a:xfrm>
          <a:prstGeom prst="line">
            <a:avLst/>
          </a:prstGeom>
          <a:ln w="20149">
            <a:solidFill>
              <a:srgbClr val="11111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rojection-panel"/>
          <p:cNvSpPr/>
          <p:nvPr/>
        </p:nvSpPr>
        <p:spPr>
          <a:xfrm>
            <a:off x="597754" y="228355"/>
            <a:ext cx="6011129" cy="2861163"/>
          </a:xfrm>
          <a:prstGeom prst="roundRect">
            <a:avLst>
              <a:gd name="adj" fmla="val 5868"/>
            </a:avLst>
          </a:prstGeom>
          <a:solidFill>
            <a:srgbClr val="E0EAF6"/>
          </a:solidFill>
          <a:ln w="12089">
            <a:solidFill>
              <a:srgbClr val="17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equirectangular-photo" descr="panorama-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5346" y="826110"/>
            <a:ext cx="3935778" cy="1947740"/>
          </a:xfrm>
          <a:prstGeom prst="rect">
            <a:avLst/>
          </a:prstGeom>
          <a:effectLst/>
        </p:spPr>
      </p:pic>
      <p:sp>
        <p:nvSpPr>
          <p:cNvPr id="7" name="equirect-shadow"/>
          <p:cNvSpPr/>
          <p:nvPr/>
        </p:nvSpPr>
        <p:spPr>
          <a:xfrm>
            <a:off x="2612658" y="2686538"/>
            <a:ext cx="3761153" cy="127610"/>
          </a:xfrm>
          <a:prstGeom prst="roundRect">
            <a:avLst>
              <a:gd name="adj" fmla="val 16000"/>
            </a:avLst>
          </a:prstGeom>
          <a:solidFill>
            <a:srgbClr val="000000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quirectangular-label"/>
          <p:cNvSpPr txBox="1"/>
          <p:nvPr/>
        </p:nvSpPr>
        <p:spPr>
          <a:xfrm>
            <a:off x="3257427" y="2814149"/>
            <a:ext cx="3022355" cy="26865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86" b="0" i="0">
                <a:solidFill>
                  <a:srgbClr val="111111"/>
                </a:solidFill>
                <a:latin typeface="Liberation Sans"/>
              </a:defRPr>
            </a:pPr>
            <a:r>
              <a:t>Equirectangular Map</a:t>
            </a:r>
          </a:p>
        </p:txBody>
      </p:sp>
      <p:pic>
        <p:nvPicPr>
          <p:cNvPr id="9" name="cubemap-face-0" descr="face-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475" y="282086"/>
            <a:ext cx="819394" cy="819394"/>
          </a:xfrm>
          <a:prstGeom prst="rect">
            <a:avLst/>
          </a:prstGeom>
          <a:effectLst/>
        </p:spPr>
      </p:pic>
      <p:pic>
        <p:nvPicPr>
          <p:cNvPr id="10" name="cubemap-face-1" descr="face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081" y="1094764"/>
            <a:ext cx="819394" cy="819394"/>
          </a:xfrm>
          <a:prstGeom prst="rect">
            <a:avLst/>
          </a:prstGeom>
          <a:effectLst/>
        </p:spPr>
      </p:pic>
      <p:pic>
        <p:nvPicPr>
          <p:cNvPr id="11" name="cubemap-face-2" descr="face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1475" y="1094764"/>
            <a:ext cx="819394" cy="819394"/>
          </a:xfrm>
          <a:prstGeom prst="rect">
            <a:avLst/>
          </a:prstGeom>
          <a:effectLst/>
        </p:spPr>
      </p:pic>
      <p:pic>
        <p:nvPicPr>
          <p:cNvPr id="12" name="cubemap-face-3" descr="face-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0870" y="1094764"/>
            <a:ext cx="812677" cy="819394"/>
          </a:xfrm>
          <a:prstGeom prst="rect">
            <a:avLst/>
          </a:prstGeom>
          <a:effectLst/>
        </p:spPr>
      </p:pic>
      <p:pic>
        <p:nvPicPr>
          <p:cNvPr id="13" name="cubemap-face-4" descr="face-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83548" y="1094764"/>
            <a:ext cx="805961" cy="819394"/>
          </a:xfrm>
          <a:prstGeom prst="rect">
            <a:avLst/>
          </a:prstGeom>
          <a:effectLst/>
        </p:spPr>
      </p:pic>
      <p:pic>
        <p:nvPicPr>
          <p:cNvPr id="14" name="cubemap-face-5" descr="face-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51475" y="1914158"/>
            <a:ext cx="819394" cy="805961"/>
          </a:xfrm>
          <a:prstGeom prst="rect">
            <a:avLst/>
          </a:prstGeom>
          <a:effectLst/>
        </p:spPr>
      </p:pic>
      <p:sp>
        <p:nvSpPr>
          <p:cNvPr id="15" name="cubemap-label"/>
          <p:cNvSpPr txBox="1"/>
          <p:nvPr/>
        </p:nvSpPr>
        <p:spPr>
          <a:xfrm>
            <a:off x="2921610" y="255221"/>
            <a:ext cx="1813413" cy="28208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39" b="0" i="0">
                <a:solidFill>
                  <a:srgbClr val="111111"/>
                </a:solidFill>
                <a:latin typeface="Liberation Sans"/>
              </a:defRPr>
            </a:pPr>
            <a:r>
              <a:t>CubeMap</a:t>
            </a:r>
          </a:p>
        </p:txBody>
      </p:sp>
      <p:sp>
        <p:nvSpPr>
          <p:cNvPr id="16" name="cube-front-label"/>
          <p:cNvSpPr txBox="1"/>
          <p:nvPr/>
        </p:nvSpPr>
        <p:spPr>
          <a:xfrm>
            <a:off x="1726100" y="1356701"/>
            <a:ext cx="483576" cy="30223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98" b="0" i="0">
                <a:solidFill>
                  <a:srgbClr val="111111"/>
                </a:solidFill>
                <a:latin typeface="Liberation Sans"/>
              </a:defRPr>
            </a:pPr>
            <a:r>
              <a:t>F</a:t>
            </a:r>
          </a:p>
        </p:txBody>
      </p:sp>
      <p:sp>
        <p:nvSpPr>
          <p:cNvPr id="17" name="cube-red-square"/>
          <p:cNvSpPr/>
          <p:nvPr/>
        </p:nvSpPr>
        <p:spPr>
          <a:xfrm>
            <a:off x="1551475" y="1094764"/>
            <a:ext cx="819394" cy="819394"/>
          </a:xfrm>
          <a:prstGeom prst="rect">
            <a:avLst/>
          </a:prstGeom>
          <a:noFill/>
          <a:ln w="13432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ube-red-diamond"/>
          <p:cNvSpPr/>
          <p:nvPr/>
        </p:nvSpPr>
        <p:spPr>
          <a:xfrm>
            <a:off x="1081276" y="664884"/>
            <a:ext cx="1699148" cy="1692432"/>
          </a:xfrm>
          <a:custGeom>
            <a:avLst/>
            <a:gdLst/>
            <a:ahLst/>
            <a:cxnLst/>
            <a:rect l="l" t="t" r="r" b="b"/>
            <a:pathLst>
              <a:path w="253" h="252">
                <a:moveTo>
                  <a:pt x="131" y="0"/>
                </a:moveTo>
                <a:lnTo>
                  <a:pt x="253" y="126"/>
                </a:lnTo>
                <a:lnTo>
                  <a:pt x="131" y="252"/>
                </a:lnTo>
                <a:lnTo>
                  <a:pt x="0" y="126"/>
                </a:lnTo>
                <a:close/>
              </a:path>
            </a:pathLst>
          </a:custGeom>
          <a:noFill/>
          <a:ln w="11417">
            <a:solidFill>
              <a:srgbClr val="FF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ube-project-ray-left-segment-0"/>
          <p:cNvCxnSpPr/>
          <p:nvPr/>
        </p:nvCxnSpPr>
        <p:spPr>
          <a:xfrm flipH="1" flipV="1">
            <a:off x="1417149" y="819394"/>
            <a:ext cx="141043" cy="288803"/>
          </a:xfrm>
          <a:prstGeom prst="line">
            <a:avLst/>
          </a:prstGeom>
          <a:ln w="9402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ube-project-ray-left-segment-1"/>
          <p:cNvCxnSpPr/>
          <p:nvPr/>
        </p:nvCxnSpPr>
        <p:spPr>
          <a:xfrm flipV="1">
            <a:off x="1417149" y="651485"/>
            <a:ext cx="517158" cy="167909"/>
          </a:xfrm>
          <a:prstGeom prst="line">
            <a:avLst/>
          </a:prstGeom>
          <a:ln w="9402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ube-project-ray-right-segment-0"/>
          <p:cNvCxnSpPr/>
          <p:nvPr/>
        </p:nvCxnSpPr>
        <p:spPr>
          <a:xfrm flipV="1">
            <a:off x="2370870" y="799245"/>
            <a:ext cx="141043" cy="302235"/>
          </a:xfrm>
          <a:prstGeom prst="line">
            <a:avLst/>
          </a:prstGeom>
          <a:ln w="9402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ube-project-ray-right-segment-1"/>
          <p:cNvCxnSpPr/>
          <p:nvPr/>
        </p:nvCxnSpPr>
        <p:spPr>
          <a:xfrm flipH="1" flipV="1">
            <a:off x="1981322" y="651485"/>
            <a:ext cx="530591" cy="147760"/>
          </a:xfrm>
          <a:prstGeom prst="line">
            <a:avLst/>
          </a:prstGeom>
          <a:ln w="9402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ube-project-arrow"/>
          <p:cNvCxnSpPr/>
          <p:nvPr/>
        </p:nvCxnSpPr>
        <p:spPr>
          <a:xfrm>
            <a:off x="1349985" y="913423"/>
            <a:ext cx="201490" cy="194774"/>
          </a:xfrm>
          <a:prstGeom prst="line">
            <a:avLst/>
          </a:prstGeom>
          <a:ln w="14775">
            <a:solidFill>
              <a:srgbClr val="F4A26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be-project-label"/>
          <p:cNvSpPr txBox="1"/>
          <p:nvPr/>
        </p:nvSpPr>
        <p:spPr>
          <a:xfrm>
            <a:off x="772379" y="564173"/>
            <a:ext cx="805961" cy="26865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80" b="0" i="0">
                <a:solidFill>
                  <a:srgbClr val="111111"/>
                </a:solidFill>
                <a:latin typeface="Liberation Sans"/>
              </a:defRPr>
            </a:pPr>
            <a:r>
              <a:t>project</a:t>
            </a:r>
          </a:p>
        </p:txBody>
      </p:sp>
      <p:sp>
        <p:nvSpPr>
          <p:cNvPr id="25" name="cube-radius-formula"/>
          <p:cNvSpPr txBox="1"/>
          <p:nvPr/>
        </p:nvSpPr>
        <p:spPr>
          <a:xfrm>
            <a:off x="926855" y="839543"/>
            <a:ext cx="752230" cy="22835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0" i="0">
                <a:solidFill>
                  <a:srgbClr val="F5B000"/>
                </a:solidFill>
                <a:latin typeface="Liberation Sans"/>
              </a:defRPr>
            </a:pPr>
            <a:r>
              <a:t>r → r*</a:t>
            </a:r>
          </a:p>
        </p:txBody>
      </p:sp>
      <p:sp>
        <p:nvSpPr>
          <p:cNvPr id="26" name="cube-sqrt-formula"/>
          <p:cNvSpPr txBox="1"/>
          <p:nvPr/>
        </p:nvSpPr>
        <p:spPr>
          <a:xfrm>
            <a:off x="953721" y="2041769"/>
            <a:ext cx="705216" cy="28208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33" b="0" i="1">
                <a:solidFill>
                  <a:srgbClr val="70CF3B"/>
                </a:solidFill>
                <a:latin typeface="Liberation Sans"/>
              </a:defRPr>
            </a:pPr>
            <a:r>
              <a:t>√2 a</a:t>
            </a:r>
          </a:p>
        </p:txBody>
      </p:sp>
      <p:sp>
        <p:nvSpPr>
          <p:cNvPr id="27" name="cube-a-formula"/>
          <p:cNvSpPr txBox="1"/>
          <p:nvPr/>
        </p:nvSpPr>
        <p:spPr>
          <a:xfrm>
            <a:off x="1786548" y="2055201"/>
            <a:ext cx="389548" cy="28208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33" b="0" i="1">
                <a:solidFill>
                  <a:srgbClr val="70CF3B"/>
                </a:solidFill>
                <a:latin typeface="Liberation Sans"/>
              </a:defRPr>
            </a:pPr>
            <a:r>
              <a:t>a</a:t>
            </a:r>
          </a:p>
        </p:txBody>
      </p:sp>
      <p:cxnSp>
        <p:nvCxnSpPr>
          <p:cNvPr id="28" name="cube-green-arc-1-segment-0"/>
          <p:cNvCxnSpPr/>
          <p:nvPr/>
        </p:nvCxnSpPr>
        <p:spPr>
          <a:xfrm flipV="1">
            <a:off x="1101480" y="1880576"/>
            <a:ext cx="248505" cy="40299"/>
          </a:xfrm>
          <a:prstGeom prst="line">
            <a:avLst/>
          </a:prstGeom>
          <a:ln w="8059">
            <a:solidFill>
              <a:srgbClr val="70CF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ube-green-arc-1-segment-1"/>
          <p:cNvCxnSpPr/>
          <p:nvPr/>
        </p:nvCxnSpPr>
        <p:spPr>
          <a:xfrm>
            <a:off x="1349985" y="1880576"/>
            <a:ext cx="33582" cy="188058"/>
          </a:xfrm>
          <a:prstGeom prst="line">
            <a:avLst/>
          </a:prstGeom>
          <a:ln w="8059">
            <a:solidFill>
              <a:srgbClr val="70CF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ube-green-arc-2-segment-0"/>
          <p:cNvCxnSpPr/>
          <p:nvPr/>
        </p:nvCxnSpPr>
        <p:spPr>
          <a:xfrm>
            <a:off x="1672370" y="1927591"/>
            <a:ext cx="194774" cy="510442"/>
          </a:xfrm>
          <a:prstGeom prst="line">
            <a:avLst/>
          </a:prstGeom>
          <a:ln w="8059">
            <a:solidFill>
              <a:srgbClr val="70CF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ube-green-arc-2-segment-1"/>
          <p:cNvCxnSpPr/>
          <p:nvPr/>
        </p:nvCxnSpPr>
        <p:spPr>
          <a:xfrm flipV="1">
            <a:off x="1867144" y="1974605"/>
            <a:ext cx="235072" cy="463428"/>
          </a:xfrm>
          <a:prstGeom prst="line">
            <a:avLst/>
          </a:prstGeom>
          <a:ln w="8059">
            <a:solidFill>
              <a:srgbClr val="70CF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equirect-perspective-box"/>
          <p:cNvSpPr/>
          <p:nvPr/>
        </p:nvSpPr>
        <p:spPr>
          <a:xfrm>
            <a:off x="4049956" y="1262673"/>
            <a:ext cx="947004" cy="1349985"/>
          </a:xfrm>
          <a:prstGeom prst="rect">
            <a:avLst/>
          </a:prstGeom>
          <a:noFill/>
          <a:ln w="12089">
            <a:solidFill>
              <a:srgbClr val="FF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quirect-perspective-diamond"/>
          <p:cNvSpPr/>
          <p:nvPr/>
        </p:nvSpPr>
        <p:spPr>
          <a:xfrm>
            <a:off x="3713948" y="1014116"/>
            <a:ext cx="1631988" cy="1343200"/>
          </a:xfrm>
          <a:custGeom>
            <a:avLst/>
            <a:gdLst/>
            <a:ahLst/>
            <a:cxnLst/>
            <a:rect l="l" t="t" r="r" b="b"/>
            <a:pathLst>
              <a:path w="243" h="200">
                <a:moveTo>
                  <a:pt x="121" y="0"/>
                </a:moveTo>
                <a:lnTo>
                  <a:pt x="243" y="99"/>
                </a:lnTo>
                <a:lnTo>
                  <a:pt x="121" y="200"/>
                </a:lnTo>
                <a:lnTo>
                  <a:pt x="0" y="99"/>
                </a:lnTo>
                <a:close/>
              </a:path>
            </a:pathLst>
          </a:custGeom>
          <a:noFill/>
          <a:ln w="11417">
            <a:solidFill>
              <a:srgbClr val="FF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quirect-red-arc"/>
          <p:cNvSpPr/>
          <p:nvPr/>
        </p:nvSpPr>
        <p:spPr>
          <a:xfrm>
            <a:off x="3566379" y="1108197"/>
            <a:ext cx="967153" cy="1047749"/>
          </a:xfrm>
          <a:prstGeom prst="ellipse">
            <a:avLst/>
          </a:prstGeom>
          <a:noFill/>
          <a:ln w="11417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quirect-front-label"/>
          <p:cNvSpPr txBox="1"/>
          <p:nvPr/>
        </p:nvSpPr>
        <p:spPr>
          <a:xfrm>
            <a:off x="4311894" y="1457447"/>
            <a:ext cx="470144" cy="33581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98" b="0" i="0">
                <a:solidFill>
                  <a:srgbClr val="111111"/>
                </a:solidFill>
                <a:latin typeface="Liberation Sans"/>
              </a:defRPr>
            </a:pPr>
            <a:r>
              <a:t>F</a:t>
            </a:r>
          </a:p>
        </p:txBody>
      </p:sp>
      <p:sp>
        <p:nvSpPr>
          <p:cNvPr id="36" name="equirect-project-label"/>
          <p:cNvSpPr txBox="1"/>
          <p:nvPr/>
        </p:nvSpPr>
        <p:spPr>
          <a:xfrm>
            <a:off x="5238750" y="899990"/>
            <a:ext cx="805961" cy="28880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80" b="0" i="0">
                <a:solidFill>
                  <a:srgbClr val="111111"/>
                </a:solidFill>
                <a:latin typeface="Liberation Sans"/>
              </a:defRPr>
            </a:pPr>
            <a:r>
              <a:t>project</a:t>
            </a:r>
          </a:p>
        </p:txBody>
      </p:sp>
      <p:cxnSp>
        <p:nvCxnSpPr>
          <p:cNvPr id="37" name="equirect-project-arrow"/>
          <p:cNvCxnSpPr/>
          <p:nvPr/>
        </p:nvCxnSpPr>
        <p:spPr>
          <a:xfrm flipH="1">
            <a:off x="4963379" y="1168644"/>
            <a:ext cx="255221" cy="134327"/>
          </a:xfrm>
          <a:prstGeom prst="line">
            <a:avLst/>
          </a:prstGeom>
          <a:ln w="9402">
            <a:solidFill>
              <a:srgbClr val="17345C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iagonal-separator-a"/>
          <p:cNvCxnSpPr/>
          <p:nvPr/>
        </p:nvCxnSpPr>
        <p:spPr>
          <a:xfrm flipV="1">
            <a:off x="1276105" y="241788"/>
            <a:ext cx="4909649" cy="2841014"/>
          </a:xfrm>
          <a:prstGeom prst="line">
            <a:avLst/>
          </a:prstGeom>
          <a:ln w="20149">
            <a:solidFill>
              <a:srgbClr val="11111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diagonal-separator-b"/>
          <p:cNvCxnSpPr/>
          <p:nvPr/>
        </p:nvCxnSpPr>
        <p:spPr>
          <a:xfrm flipV="1">
            <a:off x="1390283" y="235072"/>
            <a:ext cx="4889500" cy="2834298"/>
          </a:xfrm>
          <a:prstGeom prst="line">
            <a:avLst/>
          </a:prstGeom>
          <a:ln w="20149">
            <a:solidFill>
              <a:srgbClr val="11111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map-0-0-cell"/>
          <p:cNvSpPr/>
          <p:nvPr/>
        </p:nvSpPr>
        <p:spPr>
          <a:xfrm>
            <a:off x="7253653" y="940288"/>
            <a:ext cx="376115" cy="376115"/>
          </a:xfrm>
          <a:prstGeom prst="rect">
            <a:avLst/>
          </a:prstGeom>
          <a:solidFill>
            <a:srgbClr val="CFE3F8"/>
          </a:solidFill>
          <a:ln w="9402">
            <a:solidFill>
              <a:srgbClr val="17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map-0-0-label"/>
          <p:cNvSpPr txBox="1"/>
          <p:nvPr/>
        </p:nvSpPr>
        <p:spPr>
          <a:xfrm rot="19200000">
            <a:off x="7253653" y="947004"/>
            <a:ext cx="376115" cy="36268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16" b="0" i="0">
                <a:solidFill>
                  <a:srgbClr val="111111"/>
                </a:solidFill>
                <a:latin typeface="Liberation Sans"/>
              </a:defRPr>
            </a:pPr>
            <a:r>
              <a:t>U</a:t>
            </a:r>
          </a:p>
        </p:txBody>
      </p:sp>
      <p:sp>
        <p:nvSpPr>
          <p:cNvPr id="42" name="remap-0-1-cell"/>
          <p:cNvSpPr/>
          <p:nvPr/>
        </p:nvSpPr>
        <p:spPr>
          <a:xfrm>
            <a:off x="7629769" y="940288"/>
            <a:ext cx="376115" cy="376115"/>
          </a:xfrm>
          <a:prstGeom prst="rect">
            <a:avLst/>
          </a:prstGeom>
          <a:solidFill>
            <a:srgbClr val="D4E4C7"/>
          </a:solidFill>
          <a:ln w="9402">
            <a:solidFill>
              <a:srgbClr val="17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map-0-1-label"/>
          <p:cNvSpPr txBox="1"/>
          <p:nvPr/>
        </p:nvSpPr>
        <p:spPr>
          <a:xfrm rot="18900000">
            <a:off x="7629769" y="947004"/>
            <a:ext cx="376115" cy="36268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16" b="0" i="0">
                <a:solidFill>
                  <a:srgbClr val="111111"/>
                </a:solidFill>
                <a:latin typeface="Liberation Sans"/>
              </a:defRPr>
            </a:pPr>
            <a:r>
              <a:t>L</a:t>
            </a:r>
          </a:p>
        </p:txBody>
      </p:sp>
      <p:sp>
        <p:nvSpPr>
          <p:cNvPr id="44" name="remap-0-2-cell"/>
          <p:cNvSpPr/>
          <p:nvPr/>
        </p:nvSpPr>
        <p:spPr>
          <a:xfrm>
            <a:off x="8005884" y="940288"/>
            <a:ext cx="376115" cy="376115"/>
          </a:xfrm>
          <a:prstGeom prst="rect">
            <a:avLst/>
          </a:prstGeom>
          <a:solidFill>
            <a:srgbClr val="D4E4C7"/>
          </a:solidFill>
          <a:ln w="9402">
            <a:solidFill>
              <a:srgbClr val="17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map-0-2-label"/>
          <p:cNvSpPr txBox="1"/>
          <p:nvPr/>
        </p:nvSpPr>
        <p:spPr>
          <a:xfrm rot="2700000">
            <a:off x="8005884" y="947004"/>
            <a:ext cx="376115" cy="36268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16" b="0" i="0">
                <a:solidFill>
                  <a:srgbClr val="111111"/>
                </a:solidFill>
                <a:latin typeface="Liberation Sans"/>
              </a:defRPr>
            </a:pPr>
            <a:r>
              <a:t>L</a:t>
            </a:r>
          </a:p>
        </p:txBody>
      </p:sp>
      <p:sp>
        <p:nvSpPr>
          <p:cNvPr id="46" name="remap-0-3-cell"/>
          <p:cNvSpPr/>
          <p:nvPr/>
        </p:nvSpPr>
        <p:spPr>
          <a:xfrm>
            <a:off x="8381999" y="940288"/>
            <a:ext cx="376115" cy="376115"/>
          </a:xfrm>
          <a:prstGeom prst="rect">
            <a:avLst/>
          </a:prstGeom>
          <a:solidFill>
            <a:srgbClr val="CFE3F8"/>
          </a:solidFill>
          <a:ln w="9402">
            <a:solidFill>
              <a:srgbClr val="17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map-0-3-label"/>
          <p:cNvSpPr txBox="1"/>
          <p:nvPr/>
        </p:nvSpPr>
        <p:spPr>
          <a:xfrm rot="2400000">
            <a:off x="8381999" y="947004"/>
            <a:ext cx="376115" cy="36268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16" b="0" i="0">
                <a:solidFill>
                  <a:srgbClr val="111111"/>
                </a:solidFill>
                <a:latin typeface="Liberation Sans"/>
              </a:defRPr>
            </a:pPr>
            <a:r>
              <a:t>U</a:t>
            </a:r>
          </a:p>
        </p:txBody>
      </p:sp>
      <p:sp>
        <p:nvSpPr>
          <p:cNvPr id="48" name="remap-1-0-cell"/>
          <p:cNvSpPr/>
          <p:nvPr/>
        </p:nvSpPr>
        <p:spPr>
          <a:xfrm>
            <a:off x="7253653" y="1316403"/>
            <a:ext cx="376115" cy="376115"/>
          </a:xfrm>
          <a:prstGeom prst="rect">
            <a:avLst/>
          </a:prstGeom>
          <a:solidFill>
            <a:srgbClr val="FECABF"/>
          </a:solidFill>
          <a:ln w="9402">
            <a:solidFill>
              <a:srgbClr val="17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map-1-0-label"/>
          <p:cNvSpPr txBox="1"/>
          <p:nvPr/>
        </p:nvSpPr>
        <p:spPr>
          <a:xfrm rot="19320000">
            <a:off x="7253653" y="1323120"/>
            <a:ext cx="376115" cy="36268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16" b="0" i="0">
                <a:solidFill>
                  <a:srgbClr val="111111"/>
                </a:solidFill>
                <a:latin typeface="Liberation Sans"/>
              </a:defRPr>
            </a:pPr>
            <a:r>
              <a:t>B</a:t>
            </a:r>
          </a:p>
        </p:txBody>
      </p:sp>
      <p:sp>
        <p:nvSpPr>
          <p:cNvPr id="50" name="remap-1-1-cell"/>
          <p:cNvSpPr/>
          <p:nvPr/>
        </p:nvSpPr>
        <p:spPr>
          <a:xfrm>
            <a:off x="7629769" y="1316403"/>
            <a:ext cx="376115" cy="376115"/>
          </a:xfrm>
          <a:prstGeom prst="rect">
            <a:avLst/>
          </a:prstGeom>
          <a:solidFill>
            <a:srgbClr val="E8E4F3"/>
          </a:solidFill>
          <a:ln w="9402">
            <a:solidFill>
              <a:srgbClr val="17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map-1-1-label"/>
          <p:cNvSpPr txBox="1"/>
          <p:nvPr/>
        </p:nvSpPr>
        <p:spPr>
          <a:xfrm rot="2100000">
            <a:off x="7629769" y="1323120"/>
            <a:ext cx="376115" cy="36268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16" b="0" i="0">
                <a:solidFill>
                  <a:srgbClr val="111111"/>
                </a:solidFill>
                <a:latin typeface="Liberation Sans"/>
              </a:defRPr>
            </a:pPr>
            <a:r>
              <a:t>L</a:t>
            </a:r>
          </a:p>
        </p:txBody>
      </p:sp>
      <p:sp>
        <p:nvSpPr>
          <p:cNvPr id="52" name="remap-1-2-cell"/>
          <p:cNvSpPr/>
          <p:nvPr/>
        </p:nvSpPr>
        <p:spPr>
          <a:xfrm>
            <a:off x="8005884" y="1316403"/>
            <a:ext cx="376115" cy="376115"/>
          </a:xfrm>
          <a:prstGeom prst="rect">
            <a:avLst/>
          </a:prstGeom>
          <a:solidFill>
            <a:srgbClr val="D4E4C7"/>
          </a:solidFill>
          <a:ln w="9402">
            <a:solidFill>
              <a:srgbClr val="17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map-1-2-label"/>
          <p:cNvSpPr txBox="1"/>
          <p:nvPr/>
        </p:nvSpPr>
        <p:spPr>
          <a:xfrm rot="18900000">
            <a:off x="8005884" y="1323120"/>
            <a:ext cx="376115" cy="36268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16" b="0" i="0">
                <a:solidFill>
                  <a:srgbClr val="111111"/>
                </a:solidFill>
                <a:latin typeface="Liberation Sans"/>
              </a:defRPr>
            </a:pPr>
            <a:r>
              <a:t>F</a:t>
            </a:r>
          </a:p>
        </p:txBody>
      </p:sp>
      <p:sp>
        <p:nvSpPr>
          <p:cNvPr id="54" name="remap-1-3-cell"/>
          <p:cNvSpPr/>
          <p:nvPr/>
        </p:nvSpPr>
        <p:spPr>
          <a:xfrm>
            <a:off x="8381999" y="1316403"/>
            <a:ext cx="376115" cy="376115"/>
          </a:xfrm>
          <a:prstGeom prst="rect">
            <a:avLst/>
          </a:prstGeom>
          <a:solidFill>
            <a:srgbClr val="FECABF"/>
          </a:solidFill>
          <a:ln w="9402">
            <a:solidFill>
              <a:srgbClr val="17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map-1-3-label"/>
          <p:cNvSpPr txBox="1"/>
          <p:nvPr/>
        </p:nvSpPr>
        <p:spPr>
          <a:xfrm rot="2220000">
            <a:off x="8381999" y="1323120"/>
            <a:ext cx="376115" cy="36268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16" b="0" i="0">
                <a:solidFill>
                  <a:srgbClr val="111111"/>
                </a:solidFill>
                <a:latin typeface="Liberation Sans"/>
              </a:defRPr>
            </a:pPr>
            <a:r>
              <a:t>R</a:t>
            </a:r>
          </a:p>
        </p:txBody>
      </p:sp>
      <p:sp>
        <p:nvSpPr>
          <p:cNvPr id="56" name="remap-2-0-cell"/>
          <p:cNvSpPr/>
          <p:nvPr/>
        </p:nvSpPr>
        <p:spPr>
          <a:xfrm>
            <a:off x="7253653" y="1692519"/>
            <a:ext cx="376115" cy="376115"/>
          </a:xfrm>
          <a:prstGeom prst="rect">
            <a:avLst/>
          </a:prstGeom>
          <a:solidFill>
            <a:srgbClr val="E8E4F3"/>
          </a:solidFill>
          <a:ln w="9402">
            <a:solidFill>
              <a:srgbClr val="17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map-2-0-label"/>
          <p:cNvSpPr txBox="1"/>
          <p:nvPr/>
        </p:nvSpPr>
        <p:spPr>
          <a:xfrm rot="2400000">
            <a:off x="7253653" y="1699235"/>
            <a:ext cx="376115" cy="36268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16" b="0" i="0">
                <a:solidFill>
                  <a:srgbClr val="111111"/>
                </a:solidFill>
                <a:latin typeface="Liberation Sans"/>
              </a:defRPr>
            </a:pPr>
            <a:r>
              <a:t>L</a:t>
            </a:r>
          </a:p>
        </p:txBody>
      </p:sp>
      <p:sp>
        <p:nvSpPr>
          <p:cNvPr id="58" name="remap-2-1-cell"/>
          <p:cNvSpPr/>
          <p:nvPr/>
        </p:nvSpPr>
        <p:spPr>
          <a:xfrm>
            <a:off x="7629769" y="1692519"/>
            <a:ext cx="376115" cy="376115"/>
          </a:xfrm>
          <a:prstGeom prst="rect">
            <a:avLst/>
          </a:prstGeom>
          <a:solidFill>
            <a:srgbClr val="FECABF"/>
          </a:solidFill>
          <a:ln w="9402">
            <a:solidFill>
              <a:srgbClr val="17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map-2-1-label"/>
          <p:cNvSpPr txBox="1"/>
          <p:nvPr/>
        </p:nvSpPr>
        <p:spPr>
          <a:xfrm rot="2700000">
            <a:off x="7629769" y="1699235"/>
            <a:ext cx="376115" cy="36268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16" b="0" i="0">
                <a:solidFill>
                  <a:srgbClr val="111111"/>
                </a:solidFill>
                <a:latin typeface="Liberation Sans"/>
              </a:defRPr>
            </a:pPr>
            <a:r>
              <a:t>B</a:t>
            </a:r>
          </a:p>
        </p:txBody>
      </p:sp>
      <p:sp>
        <p:nvSpPr>
          <p:cNvPr id="60" name="remap-2-2-cell"/>
          <p:cNvSpPr/>
          <p:nvPr/>
        </p:nvSpPr>
        <p:spPr>
          <a:xfrm>
            <a:off x="8005884" y="1692519"/>
            <a:ext cx="376115" cy="376115"/>
          </a:xfrm>
          <a:prstGeom prst="rect">
            <a:avLst/>
          </a:prstGeom>
          <a:solidFill>
            <a:srgbClr val="F8E6CC"/>
          </a:solidFill>
          <a:ln w="9402">
            <a:solidFill>
              <a:srgbClr val="17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map-2-2-label"/>
          <p:cNvSpPr txBox="1"/>
          <p:nvPr/>
        </p:nvSpPr>
        <p:spPr>
          <a:xfrm>
            <a:off x="8005884" y="1699235"/>
            <a:ext cx="376115" cy="36268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16" b="0" i="0">
                <a:solidFill>
                  <a:srgbClr val="111111"/>
                </a:solidFill>
                <a:latin typeface="Liberation Sans"/>
              </a:defRPr>
            </a:pPr>
          </a:p>
        </p:txBody>
      </p:sp>
      <p:sp>
        <p:nvSpPr>
          <p:cNvPr id="62" name="remap-2-3-cell"/>
          <p:cNvSpPr/>
          <p:nvPr/>
        </p:nvSpPr>
        <p:spPr>
          <a:xfrm>
            <a:off x="8381999" y="1692519"/>
            <a:ext cx="376115" cy="376115"/>
          </a:xfrm>
          <a:prstGeom prst="rect">
            <a:avLst/>
          </a:prstGeom>
          <a:solidFill>
            <a:srgbClr val="F5F1EA"/>
          </a:solidFill>
          <a:ln w="9402">
            <a:solidFill>
              <a:srgbClr val="17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map-2-3-label"/>
          <p:cNvSpPr txBox="1"/>
          <p:nvPr/>
        </p:nvSpPr>
        <p:spPr>
          <a:xfrm rot="2700000">
            <a:off x="8381999" y="1699235"/>
            <a:ext cx="376115" cy="36268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16" b="0" i="0">
                <a:solidFill>
                  <a:srgbClr val="111111"/>
                </a:solidFill>
                <a:latin typeface="Liberation Sans"/>
              </a:defRPr>
            </a:pPr>
            <a:r>
              <a:t>F</a:t>
            </a:r>
          </a:p>
        </p:txBody>
      </p:sp>
      <p:sp>
        <p:nvSpPr>
          <p:cNvPr id="64" name="remap-3-0-cell"/>
          <p:cNvSpPr/>
          <p:nvPr/>
        </p:nvSpPr>
        <p:spPr>
          <a:xfrm>
            <a:off x="7253653" y="2068634"/>
            <a:ext cx="376115" cy="376115"/>
          </a:xfrm>
          <a:prstGeom prst="rect">
            <a:avLst/>
          </a:prstGeom>
          <a:solidFill>
            <a:srgbClr val="CFE3F8"/>
          </a:solidFill>
          <a:ln w="9402">
            <a:solidFill>
              <a:srgbClr val="17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map-3-0-label"/>
          <p:cNvSpPr txBox="1"/>
          <p:nvPr/>
        </p:nvSpPr>
        <p:spPr>
          <a:xfrm rot="2100000">
            <a:off x="7253653" y="2075350"/>
            <a:ext cx="376115" cy="36268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16" b="0" i="0">
                <a:solidFill>
                  <a:srgbClr val="111111"/>
                </a:solidFill>
                <a:latin typeface="Liberation Sans"/>
              </a:defRPr>
            </a:pPr>
            <a:r>
              <a:t>U</a:t>
            </a:r>
          </a:p>
        </p:txBody>
      </p:sp>
      <p:sp>
        <p:nvSpPr>
          <p:cNvPr id="66" name="remap-3-1-cell"/>
          <p:cNvSpPr/>
          <p:nvPr/>
        </p:nvSpPr>
        <p:spPr>
          <a:xfrm>
            <a:off x="7629769" y="2068634"/>
            <a:ext cx="376115" cy="376115"/>
          </a:xfrm>
          <a:prstGeom prst="rect">
            <a:avLst/>
          </a:prstGeom>
          <a:solidFill>
            <a:srgbClr val="E8E4F3"/>
          </a:solidFill>
          <a:ln w="9402">
            <a:solidFill>
              <a:srgbClr val="17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map-3-1-label"/>
          <p:cNvSpPr txBox="1"/>
          <p:nvPr/>
        </p:nvSpPr>
        <p:spPr>
          <a:xfrm rot="19500000">
            <a:off x="7629769" y="2075350"/>
            <a:ext cx="376115" cy="36268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16" b="0" i="0">
                <a:solidFill>
                  <a:srgbClr val="111111"/>
                </a:solidFill>
                <a:latin typeface="Liberation Sans"/>
              </a:defRPr>
            </a:pPr>
            <a:r>
              <a:t>R</a:t>
            </a:r>
          </a:p>
        </p:txBody>
      </p:sp>
      <p:sp>
        <p:nvSpPr>
          <p:cNvPr id="68" name="remap-3-2-cell"/>
          <p:cNvSpPr/>
          <p:nvPr/>
        </p:nvSpPr>
        <p:spPr>
          <a:xfrm>
            <a:off x="8005884" y="2068634"/>
            <a:ext cx="376115" cy="376115"/>
          </a:xfrm>
          <a:prstGeom prst="rect">
            <a:avLst/>
          </a:prstGeom>
          <a:solidFill>
            <a:srgbClr val="FECABF"/>
          </a:solidFill>
          <a:ln w="9402">
            <a:solidFill>
              <a:srgbClr val="17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map-3-2-label"/>
          <p:cNvSpPr txBox="1"/>
          <p:nvPr/>
        </p:nvSpPr>
        <p:spPr>
          <a:xfrm rot="2280000">
            <a:off x="8005884" y="2075350"/>
            <a:ext cx="376115" cy="36268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16" b="0" i="0">
                <a:solidFill>
                  <a:srgbClr val="111111"/>
                </a:solidFill>
                <a:latin typeface="Liberation Sans"/>
              </a:defRPr>
            </a:pPr>
            <a:r>
              <a:t>B</a:t>
            </a:r>
          </a:p>
        </p:txBody>
      </p:sp>
      <p:sp>
        <p:nvSpPr>
          <p:cNvPr id="70" name="remap-3-3-cell"/>
          <p:cNvSpPr/>
          <p:nvPr/>
        </p:nvSpPr>
        <p:spPr>
          <a:xfrm>
            <a:off x="8381999" y="2068634"/>
            <a:ext cx="376115" cy="376115"/>
          </a:xfrm>
          <a:prstGeom prst="rect">
            <a:avLst/>
          </a:prstGeom>
          <a:solidFill>
            <a:srgbClr val="CFE3F8"/>
          </a:solidFill>
          <a:ln w="9402">
            <a:solidFill>
              <a:srgbClr val="17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map-3-3-label"/>
          <p:cNvSpPr txBox="1"/>
          <p:nvPr/>
        </p:nvSpPr>
        <p:spPr>
          <a:xfrm rot="2400000">
            <a:off x="8381999" y="2075350"/>
            <a:ext cx="376115" cy="36268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16" b="0" i="0">
                <a:solidFill>
                  <a:srgbClr val="111111"/>
                </a:solidFill>
                <a:latin typeface="Liberation Sans"/>
              </a:defRPr>
            </a:pPr>
            <a:r>
              <a:t>U</a:t>
            </a:r>
          </a:p>
        </p:txBody>
      </p:sp>
      <p:cxnSp>
        <p:nvCxnSpPr>
          <p:cNvPr id="72" name="remap-corner-loop-0-segment-0"/>
          <p:cNvCxnSpPr/>
          <p:nvPr/>
        </p:nvCxnSpPr>
        <p:spPr>
          <a:xfrm flipH="1" flipV="1">
            <a:off x="7112610" y="785812"/>
            <a:ext cx="134327" cy="167909"/>
          </a:xfrm>
          <a:prstGeom prst="line">
            <a:avLst/>
          </a:prstGeom>
          <a:ln w="7387">
            <a:solidFill>
              <a:srgbClr val="1734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remap-corner-loop-0-segment-1"/>
          <p:cNvCxnSpPr/>
          <p:nvPr/>
        </p:nvCxnSpPr>
        <p:spPr>
          <a:xfrm>
            <a:off x="7112610" y="785812"/>
            <a:ext cx="20149" cy="315668"/>
          </a:xfrm>
          <a:prstGeom prst="line">
            <a:avLst/>
          </a:prstGeom>
          <a:ln w="7387">
            <a:solidFill>
              <a:srgbClr val="1734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remap-corner-loop-0-segment-2"/>
          <p:cNvCxnSpPr/>
          <p:nvPr/>
        </p:nvCxnSpPr>
        <p:spPr>
          <a:xfrm flipH="1">
            <a:off x="7011865" y="1101480"/>
            <a:ext cx="120894" cy="47015"/>
          </a:xfrm>
          <a:prstGeom prst="line">
            <a:avLst/>
          </a:prstGeom>
          <a:ln w="7387">
            <a:solidFill>
              <a:srgbClr val="1734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remap-corner-loop-1-segment-0"/>
          <p:cNvCxnSpPr/>
          <p:nvPr/>
        </p:nvCxnSpPr>
        <p:spPr>
          <a:xfrm flipH="1" flipV="1">
            <a:off x="8657370" y="779096"/>
            <a:ext cx="87312" cy="174625"/>
          </a:xfrm>
          <a:prstGeom prst="line">
            <a:avLst/>
          </a:prstGeom>
          <a:ln w="7387">
            <a:solidFill>
              <a:srgbClr val="1734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remap-corner-loop-1-segment-1"/>
          <p:cNvCxnSpPr/>
          <p:nvPr/>
        </p:nvCxnSpPr>
        <p:spPr>
          <a:xfrm>
            <a:off x="8657370" y="779096"/>
            <a:ext cx="261937" cy="308952"/>
          </a:xfrm>
          <a:prstGeom prst="line">
            <a:avLst/>
          </a:prstGeom>
          <a:ln w="7387">
            <a:solidFill>
              <a:srgbClr val="1734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remap-corner-loop-1-segment-2"/>
          <p:cNvCxnSpPr/>
          <p:nvPr/>
        </p:nvCxnSpPr>
        <p:spPr>
          <a:xfrm>
            <a:off x="8919307" y="1088048"/>
            <a:ext cx="120894" cy="60447"/>
          </a:xfrm>
          <a:prstGeom prst="line">
            <a:avLst/>
          </a:prstGeom>
          <a:ln w="7387">
            <a:solidFill>
              <a:srgbClr val="1734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remap-corner-loop-2-segment-0"/>
          <p:cNvCxnSpPr/>
          <p:nvPr/>
        </p:nvCxnSpPr>
        <p:spPr>
          <a:xfrm flipH="1">
            <a:off x="7146192" y="2444750"/>
            <a:ext cx="100745" cy="154475"/>
          </a:xfrm>
          <a:prstGeom prst="line">
            <a:avLst/>
          </a:prstGeom>
          <a:ln w="7387">
            <a:solidFill>
              <a:srgbClr val="1734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remap-corner-loop-2-segment-1"/>
          <p:cNvCxnSpPr/>
          <p:nvPr/>
        </p:nvCxnSpPr>
        <p:spPr>
          <a:xfrm flipH="1" flipV="1">
            <a:off x="7132759" y="2310423"/>
            <a:ext cx="13433" cy="288802"/>
          </a:xfrm>
          <a:prstGeom prst="line">
            <a:avLst/>
          </a:prstGeom>
          <a:ln w="7387">
            <a:solidFill>
              <a:srgbClr val="1734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remap-corner-loop-2-segment-2"/>
          <p:cNvCxnSpPr/>
          <p:nvPr/>
        </p:nvCxnSpPr>
        <p:spPr>
          <a:xfrm flipH="1" flipV="1">
            <a:off x="7018581" y="2256692"/>
            <a:ext cx="114178" cy="53731"/>
          </a:xfrm>
          <a:prstGeom prst="line">
            <a:avLst/>
          </a:prstGeom>
          <a:ln w="7387">
            <a:solidFill>
              <a:srgbClr val="1734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remap-corner-loop-3-segment-0"/>
          <p:cNvCxnSpPr/>
          <p:nvPr/>
        </p:nvCxnSpPr>
        <p:spPr>
          <a:xfrm flipH="1">
            <a:off x="8664086" y="2444750"/>
            <a:ext cx="80596" cy="167908"/>
          </a:xfrm>
          <a:prstGeom prst="line">
            <a:avLst/>
          </a:prstGeom>
          <a:ln w="7387">
            <a:solidFill>
              <a:srgbClr val="1734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remap-corner-loop-3-segment-1"/>
          <p:cNvCxnSpPr/>
          <p:nvPr/>
        </p:nvCxnSpPr>
        <p:spPr>
          <a:xfrm flipV="1">
            <a:off x="8664086" y="2317139"/>
            <a:ext cx="248505" cy="295519"/>
          </a:xfrm>
          <a:prstGeom prst="line">
            <a:avLst/>
          </a:prstGeom>
          <a:ln w="7387">
            <a:solidFill>
              <a:srgbClr val="1734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remap-corner-loop-3-segment-2"/>
          <p:cNvCxnSpPr/>
          <p:nvPr/>
        </p:nvCxnSpPr>
        <p:spPr>
          <a:xfrm flipV="1">
            <a:off x="8912591" y="2263408"/>
            <a:ext cx="120894" cy="53731"/>
          </a:xfrm>
          <a:prstGeom prst="line">
            <a:avLst/>
          </a:prstGeom>
          <a:ln w="7387">
            <a:solidFill>
              <a:srgbClr val="1734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map-selection"/>
          <p:cNvSpPr/>
          <p:nvPr/>
        </p:nvSpPr>
        <p:spPr>
          <a:xfrm>
            <a:off x="8012600" y="953721"/>
            <a:ext cx="752230" cy="745514"/>
          </a:xfrm>
          <a:prstGeom prst="rect">
            <a:avLst/>
          </a:prstGeom>
          <a:noFill/>
          <a:ln w="12089">
            <a:solidFill>
              <a:srgbClr val="FF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map-diamond"/>
          <p:cNvSpPr/>
          <p:nvPr/>
        </p:nvSpPr>
        <p:spPr>
          <a:xfrm>
            <a:off x="8012188" y="946956"/>
            <a:ext cx="752192" cy="752192"/>
          </a:xfrm>
          <a:custGeom>
            <a:avLst/>
            <a:gdLst/>
            <a:ahLst/>
            <a:cxnLst/>
            <a:rect l="l" t="t" r="r" b="b"/>
            <a:pathLst>
              <a:path w="112" h="112">
                <a:moveTo>
                  <a:pt x="56" y="0"/>
                </a:moveTo>
                <a:lnTo>
                  <a:pt x="112" y="56"/>
                </a:lnTo>
                <a:lnTo>
                  <a:pt x="56" y="112"/>
                </a:lnTo>
                <a:lnTo>
                  <a:pt x="0" y="56"/>
                </a:lnTo>
                <a:close/>
              </a:path>
            </a:pathLst>
          </a:custGeom>
          <a:noFill/>
          <a:ln w="10746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map-face-label"/>
          <p:cNvSpPr txBox="1"/>
          <p:nvPr/>
        </p:nvSpPr>
        <p:spPr>
          <a:xfrm>
            <a:off x="7844692" y="1591774"/>
            <a:ext cx="369399" cy="25522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69" b="0" i="0">
                <a:solidFill>
                  <a:srgbClr val="111111"/>
                </a:solidFill>
                <a:latin typeface="Liberation Sans"/>
              </a:defRPr>
            </a:pPr>
            <a:r>
              <a:t>D</a:t>
            </a:r>
          </a:p>
        </p:txBody>
      </p:sp>
      <p:sp>
        <p:nvSpPr>
          <p:cNvPr id="87" name="remap-arrow"/>
          <p:cNvSpPr/>
          <p:nvPr/>
        </p:nvSpPr>
        <p:spPr>
          <a:xfrm>
            <a:off x="6917480" y="2565512"/>
            <a:ext cx="2169268" cy="214912"/>
          </a:xfrm>
          <a:custGeom>
            <a:avLst/>
            <a:gdLst/>
            <a:ahLst/>
            <a:cxnLst/>
            <a:rect l="l" t="t" r="r" b="b"/>
            <a:pathLst>
              <a:path w="323" h="32">
                <a:moveTo>
                  <a:pt x="0" y="9"/>
                </a:moveTo>
                <a:lnTo>
                  <a:pt x="308" y="9"/>
                </a:lnTo>
                <a:lnTo>
                  <a:pt x="308" y="0"/>
                </a:lnTo>
                <a:lnTo>
                  <a:pt x="323" y="16"/>
                </a:lnTo>
                <a:lnTo>
                  <a:pt x="308" y="32"/>
                </a:lnTo>
                <a:lnTo>
                  <a:pt x="308" y="23"/>
                </a:lnTo>
                <a:lnTo>
                  <a:pt x="0" y="23"/>
                </a:lnTo>
                <a:close/>
              </a:path>
            </a:pathLst>
          </a:custGeom>
          <a:solidFill>
            <a:srgbClr val="F7F5F2"/>
          </a:solidFill>
          <a:ln w="12089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map-label"/>
          <p:cNvSpPr txBox="1"/>
          <p:nvPr/>
        </p:nvSpPr>
        <p:spPr>
          <a:xfrm>
            <a:off x="7502158" y="2800716"/>
            <a:ext cx="973870" cy="28208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39" b="0" i="0">
                <a:solidFill>
                  <a:srgbClr val="111111"/>
                </a:solidFill>
                <a:latin typeface="Liberation Sans"/>
              </a:defRPr>
            </a:pPr>
            <a:r>
              <a:t>remap</a:t>
            </a:r>
          </a:p>
        </p:txBody>
      </p:sp>
      <p:sp>
        <p:nvSpPr>
          <p:cNvPr id="89" name="viewpoint-shadow"/>
          <p:cNvSpPr/>
          <p:nvPr/>
        </p:nvSpPr>
        <p:spPr>
          <a:xfrm>
            <a:off x="9429750" y="382831"/>
            <a:ext cx="2652956" cy="2652956"/>
          </a:xfrm>
          <a:prstGeom prst="roundRect">
            <a:avLst>
              <a:gd name="adj" fmla="val 2025"/>
            </a:avLst>
          </a:prstGeom>
          <a:solidFill>
            <a:srgbClr val="333333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viewpoint-map-image" descr="viewpoint-clea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02139" y="261937"/>
            <a:ext cx="2632807" cy="2632807"/>
          </a:xfrm>
          <a:prstGeom prst="rect">
            <a:avLst/>
          </a:prstGeom>
          <a:effectLst/>
        </p:spPr>
      </p:pic>
      <p:sp>
        <p:nvSpPr>
          <p:cNvPr id="91" name="viewpoint-selection"/>
          <p:cNvSpPr/>
          <p:nvPr/>
        </p:nvSpPr>
        <p:spPr>
          <a:xfrm>
            <a:off x="10638692" y="261937"/>
            <a:ext cx="1296254" cy="1316403"/>
          </a:xfrm>
          <a:prstGeom prst="rect">
            <a:avLst/>
          </a:prstGeom>
          <a:noFill/>
          <a:ln w="12089">
            <a:solidFill>
              <a:srgbClr val="FF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viewpoint-diamond"/>
          <p:cNvSpPr/>
          <p:nvPr/>
        </p:nvSpPr>
        <p:spPr>
          <a:xfrm>
            <a:off x="10644860" y="261924"/>
            <a:ext cx="1289472" cy="1309620"/>
          </a:xfrm>
          <a:custGeom>
            <a:avLst/>
            <a:gdLst/>
            <a:ahLst/>
            <a:cxnLst/>
            <a:rect l="l" t="t" r="r" b="b"/>
            <a:pathLst>
              <a:path w="192" h="195">
                <a:moveTo>
                  <a:pt x="97" y="0"/>
                </a:moveTo>
                <a:lnTo>
                  <a:pt x="192" y="98"/>
                </a:lnTo>
                <a:lnTo>
                  <a:pt x="97" y="195"/>
                </a:lnTo>
                <a:lnTo>
                  <a:pt x="0" y="98"/>
                </a:lnTo>
                <a:close/>
              </a:path>
            </a:pathLst>
          </a:custGeom>
          <a:noFill/>
          <a:ln w="13432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viewpoint-face-label"/>
          <p:cNvSpPr txBox="1"/>
          <p:nvPr/>
        </p:nvSpPr>
        <p:spPr>
          <a:xfrm rot="2340000">
            <a:off x="11108836" y="732081"/>
            <a:ext cx="402980" cy="33581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45" b="0" i="0">
                <a:solidFill>
                  <a:srgbClr val="111111"/>
                </a:solidFill>
                <a:latin typeface="Liberation Sans"/>
              </a:defRPr>
            </a:pPr>
            <a:r>
              <a:t>F</a:t>
            </a:r>
          </a:p>
        </p:txBody>
      </p:sp>
      <p:sp>
        <p:nvSpPr>
          <p:cNvPr id="94" name="viewpoint-map-label"/>
          <p:cNvSpPr txBox="1"/>
          <p:nvPr/>
        </p:nvSpPr>
        <p:spPr>
          <a:xfrm>
            <a:off x="9738701" y="2955192"/>
            <a:ext cx="2082067" cy="30223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92" b="0" i="0">
                <a:solidFill>
                  <a:srgbClr val="111111"/>
                </a:solidFill>
                <a:latin typeface="Liberation Sans"/>
              </a:defRPr>
            </a:pPr>
            <a:r>
              <a:t>ViewPoint Map</a:t>
            </a:r>
          </a:p>
        </p:txBody>
      </p:sp>
      <p:pic>
        <p:nvPicPr>
          <p:cNvPr id="95" name="input-photo-trapezoid" descr="input-trapezoi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2086" y="3539514"/>
            <a:ext cx="3049221" cy="678350"/>
          </a:xfrm>
          <a:prstGeom prst="rect">
            <a:avLst/>
          </a:prstGeom>
          <a:effectLst/>
        </p:spPr>
      </p:pic>
      <p:sp>
        <p:nvSpPr>
          <p:cNvPr id="96" name="input-label"/>
          <p:cNvSpPr txBox="1"/>
          <p:nvPr/>
        </p:nvSpPr>
        <p:spPr>
          <a:xfrm>
            <a:off x="1376850" y="4244730"/>
            <a:ext cx="1074615" cy="26865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39" b="0" i="0">
                <a:solidFill>
                  <a:srgbClr val="111111"/>
                </a:solidFill>
                <a:latin typeface="Liberation Sans"/>
              </a:defRPr>
            </a:pPr>
            <a:r>
              <a:t>Input</a:t>
            </a:r>
          </a:p>
        </p:txBody>
      </p:sp>
      <p:sp>
        <p:nvSpPr>
          <p:cNvPr id="97" name="projected-input-field"/>
          <p:cNvSpPr/>
          <p:nvPr/>
        </p:nvSpPr>
        <p:spPr>
          <a:xfrm>
            <a:off x="275356" y="4667620"/>
            <a:ext cx="3055780" cy="664884"/>
          </a:xfrm>
          <a:custGeom>
            <a:avLst/>
            <a:gdLst/>
            <a:ahLst/>
            <a:cxnLst/>
            <a:rect l="l" t="t" r="r" b="b"/>
            <a:pathLst>
              <a:path w="455" h="99">
                <a:moveTo>
                  <a:pt x="67" y="0"/>
                </a:moveTo>
                <a:lnTo>
                  <a:pt x="357" y="0"/>
                </a:lnTo>
                <a:lnTo>
                  <a:pt x="455" y="99"/>
                </a:lnTo>
                <a:lnTo>
                  <a:pt x="0" y="99"/>
                </a:lnTo>
                <a:close/>
              </a:path>
            </a:pathLst>
          </a:custGeom>
          <a:solidFill>
            <a:srgbClr val="030303"/>
          </a:solidFill>
          <a:ln w="6716">
            <a:solidFill>
              <a:srgbClr val="17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8" name="projected-input-tile" descr="perspective-stri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67144" y="4701442"/>
            <a:ext cx="1007451" cy="308951"/>
          </a:xfrm>
          <a:prstGeom prst="rect">
            <a:avLst/>
          </a:prstGeom>
          <a:effectLst/>
        </p:spPr>
      </p:pic>
      <p:sp>
        <p:nvSpPr>
          <p:cNvPr id="99" name="projected-input-label"/>
          <p:cNvSpPr txBox="1"/>
          <p:nvPr/>
        </p:nvSpPr>
        <p:spPr>
          <a:xfrm>
            <a:off x="100745" y="5339495"/>
            <a:ext cx="3425336" cy="32238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33" b="0" i="0">
                <a:solidFill>
                  <a:srgbClr val="111111"/>
                </a:solidFill>
                <a:latin typeface="Liberation Sans"/>
              </a:defRPr>
            </a:pPr>
            <a:r>
              <a:t>Projected Input Perspective Video</a:t>
            </a:r>
          </a:p>
        </p:txBody>
      </p:sp>
      <p:sp>
        <p:nvSpPr>
          <p:cNvPr id="100" name="mask-field"/>
          <p:cNvSpPr/>
          <p:nvPr/>
        </p:nvSpPr>
        <p:spPr>
          <a:xfrm>
            <a:off x="261924" y="5795908"/>
            <a:ext cx="3049064" cy="671600"/>
          </a:xfrm>
          <a:custGeom>
            <a:avLst/>
            <a:gdLst/>
            <a:ahLst/>
            <a:cxnLst/>
            <a:rect l="l" t="t" r="r" b="b"/>
            <a:pathLst>
              <a:path w="454" h="100">
                <a:moveTo>
                  <a:pt x="72" y="0"/>
                </a:moveTo>
                <a:lnTo>
                  <a:pt x="355" y="0"/>
                </a:lnTo>
                <a:lnTo>
                  <a:pt x="454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030303"/>
          </a:solidFill>
          <a:ln w="6716">
            <a:solidFill>
              <a:srgbClr val="17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mask-hole"/>
          <p:cNvSpPr/>
          <p:nvPr/>
        </p:nvSpPr>
        <p:spPr>
          <a:xfrm>
            <a:off x="1645420" y="5789192"/>
            <a:ext cx="1222312" cy="295504"/>
          </a:xfrm>
          <a:custGeom>
            <a:avLst/>
            <a:gdLst/>
            <a:ahLst/>
            <a:cxnLst/>
            <a:rect l="l" t="t" r="r" b="b"/>
            <a:pathLst>
              <a:path w="182" h="44">
                <a:moveTo>
                  <a:pt x="88" y="0"/>
                </a:moveTo>
                <a:lnTo>
                  <a:pt x="182" y="19"/>
                </a:lnTo>
                <a:lnTo>
                  <a:pt x="106" y="44"/>
                </a:lnTo>
                <a:lnTo>
                  <a:pt x="0" y="20"/>
                </a:lnTo>
                <a:close/>
              </a:path>
            </a:pathLst>
          </a:custGeom>
          <a:solidFill>
            <a:srgbClr val="FFFFFF"/>
          </a:solidFill>
          <a:ln w="5373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mask-label"/>
          <p:cNvSpPr txBox="1"/>
          <p:nvPr/>
        </p:nvSpPr>
        <p:spPr>
          <a:xfrm>
            <a:off x="1423865" y="6487990"/>
            <a:ext cx="1007451" cy="28880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39" b="0" i="0">
                <a:solidFill>
                  <a:srgbClr val="111111"/>
                </a:solidFill>
                <a:latin typeface="Liberation Sans"/>
              </a:defRPr>
            </a:pPr>
            <a:r>
              <a:t>Mask</a:t>
            </a:r>
          </a:p>
        </p:txBody>
      </p:sp>
      <p:sp>
        <p:nvSpPr>
          <p:cNvPr id="103" name="noise-label"/>
          <p:cNvSpPr txBox="1"/>
          <p:nvPr/>
        </p:nvSpPr>
        <p:spPr>
          <a:xfrm>
            <a:off x="2995490" y="3532798"/>
            <a:ext cx="1141778" cy="28880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33" b="0" i="0">
                <a:solidFill>
                  <a:srgbClr val="111111"/>
                </a:solidFill>
                <a:latin typeface="Liberation Sans"/>
              </a:defRPr>
            </a:pPr>
            <a:r>
              <a:t>add noise</a:t>
            </a:r>
          </a:p>
        </p:txBody>
      </p:sp>
      <p:cxnSp>
        <p:nvCxnSpPr>
          <p:cNvPr id="104" name="concat-brace-segment-0"/>
          <p:cNvCxnSpPr/>
          <p:nvPr/>
        </p:nvCxnSpPr>
        <p:spPr>
          <a:xfrm>
            <a:off x="3391754" y="3976076"/>
            <a:ext cx="282087" cy="6717"/>
          </a:xfrm>
          <a:prstGeom prst="line">
            <a:avLst/>
          </a:prstGeom>
          <a:ln w="1880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cat-brace-segment-1"/>
          <p:cNvCxnSpPr/>
          <p:nvPr/>
        </p:nvCxnSpPr>
        <p:spPr>
          <a:xfrm>
            <a:off x="3673841" y="3982793"/>
            <a:ext cx="167909" cy="33581"/>
          </a:xfrm>
          <a:prstGeom prst="line">
            <a:avLst/>
          </a:prstGeom>
          <a:ln w="1880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cat-brace-segment-2"/>
          <p:cNvCxnSpPr/>
          <p:nvPr/>
        </p:nvCxnSpPr>
        <p:spPr>
          <a:xfrm>
            <a:off x="3841750" y="4016374"/>
            <a:ext cx="0" cy="2055202"/>
          </a:xfrm>
          <a:prstGeom prst="line">
            <a:avLst/>
          </a:prstGeom>
          <a:ln w="1880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cat-brace-segment-3"/>
          <p:cNvCxnSpPr/>
          <p:nvPr/>
        </p:nvCxnSpPr>
        <p:spPr>
          <a:xfrm flipH="1">
            <a:off x="3680557" y="6071576"/>
            <a:ext cx="161193" cy="26866"/>
          </a:xfrm>
          <a:prstGeom prst="line">
            <a:avLst/>
          </a:prstGeom>
          <a:ln w="1880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cat-brace-segment-4"/>
          <p:cNvCxnSpPr/>
          <p:nvPr/>
        </p:nvCxnSpPr>
        <p:spPr>
          <a:xfrm flipH="1">
            <a:off x="3391754" y="6098442"/>
            <a:ext cx="288803" cy="6716"/>
          </a:xfrm>
          <a:prstGeom prst="line">
            <a:avLst/>
          </a:prstGeom>
          <a:ln w="1880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concat-label"/>
          <p:cNvSpPr txBox="1"/>
          <p:nvPr/>
        </p:nvSpPr>
        <p:spPr>
          <a:xfrm>
            <a:off x="3855182" y="4748456"/>
            <a:ext cx="805961" cy="29551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33" b="0" i="0">
                <a:solidFill>
                  <a:srgbClr val="111111"/>
                </a:solidFill>
                <a:latin typeface="Liberation Sans"/>
              </a:defRPr>
            </a:pPr>
            <a:r>
              <a:t>concat</a:t>
            </a:r>
          </a:p>
        </p:txBody>
      </p:sp>
      <p:cxnSp>
        <p:nvCxnSpPr>
          <p:cNvPr id="110" name="concat-arrow"/>
          <p:cNvCxnSpPr/>
          <p:nvPr/>
        </p:nvCxnSpPr>
        <p:spPr>
          <a:xfrm>
            <a:off x="3425336" y="5037259"/>
            <a:ext cx="1551476" cy="0"/>
          </a:xfrm>
          <a:prstGeom prst="line">
            <a:avLst/>
          </a:prstGeom>
          <a:ln w="18134">
            <a:solidFill>
              <a:srgbClr val="11111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attention-outer"/>
          <p:cNvSpPr/>
          <p:nvPr/>
        </p:nvSpPr>
        <p:spPr>
          <a:xfrm>
            <a:off x="4661144" y="3532798"/>
            <a:ext cx="5104423" cy="2928326"/>
          </a:xfrm>
          <a:prstGeom prst="roundRect">
            <a:avLst>
              <a:gd name="adj" fmla="val 8715"/>
            </a:avLst>
          </a:prstGeom>
          <a:solidFill>
            <a:srgbClr val="FEF9E6"/>
          </a:solidFill>
          <a:ln w="12089">
            <a:solidFill>
              <a:srgbClr val="17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pano-panel"/>
          <p:cNvSpPr/>
          <p:nvPr/>
        </p:nvSpPr>
        <p:spPr>
          <a:xfrm>
            <a:off x="4782038" y="3667125"/>
            <a:ext cx="1746250" cy="2592509"/>
          </a:xfrm>
          <a:prstGeom prst="roundRect">
            <a:avLst>
              <a:gd name="adj" fmla="val 10769"/>
            </a:avLst>
          </a:prstGeom>
          <a:solidFill>
            <a:srgbClr val="FBE9D1"/>
          </a:solidFill>
          <a:ln w="12089">
            <a:solidFill>
              <a:srgbClr val="17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perspective-panel"/>
          <p:cNvSpPr/>
          <p:nvPr/>
        </p:nvSpPr>
        <p:spPr>
          <a:xfrm>
            <a:off x="6716346" y="3667125"/>
            <a:ext cx="2914894" cy="2592509"/>
          </a:xfrm>
          <a:prstGeom prst="roundRect">
            <a:avLst>
              <a:gd name="adj" fmla="val 9326"/>
            </a:avLst>
          </a:prstGeom>
          <a:solidFill>
            <a:srgbClr val="E3E9E5"/>
          </a:solidFill>
          <a:ln w="12089">
            <a:solidFill>
              <a:srgbClr val="17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pano-title"/>
          <p:cNvSpPr txBox="1"/>
          <p:nvPr/>
        </p:nvSpPr>
        <p:spPr>
          <a:xfrm>
            <a:off x="4949947" y="3747721"/>
            <a:ext cx="1397000" cy="26865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75" b="1" i="0">
                <a:solidFill>
                  <a:srgbClr val="111111"/>
                </a:solidFill>
                <a:latin typeface="Liberation Sans"/>
              </a:defRPr>
            </a:pPr>
            <a:r>
              <a:t>Pano Attention</a:t>
            </a:r>
          </a:p>
        </p:txBody>
      </p:sp>
      <p:sp>
        <p:nvSpPr>
          <p:cNvPr id="115" name="perspective-title"/>
          <p:cNvSpPr txBox="1"/>
          <p:nvPr/>
        </p:nvSpPr>
        <p:spPr>
          <a:xfrm>
            <a:off x="7072312" y="3747721"/>
            <a:ext cx="2202961" cy="26865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22" b="1" i="0">
                <a:solidFill>
                  <a:srgbClr val="111111"/>
                </a:solidFill>
                <a:latin typeface="Liberation Sans"/>
              </a:defRPr>
            </a:pPr>
            <a:r>
              <a:t>Perspective Attention</a:t>
            </a:r>
          </a:p>
        </p:txBody>
      </p:sp>
      <p:sp>
        <p:nvSpPr>
          <p:cNvPr id="116" name="pano-orientation-0-0-cell"/>
          <p:cNvSpPr/>
          <p:nvPr/>
        </p:nvSpPr>
        <p:spPr>
          <a:xfrm>
            <a:off x="4996961" y="4741740"/>
            <a:ext cx="295519" cy="295519"/>
          </a:xfrm>
          <a:prstGeom prst="rect">
            <a:avLst/>
          </a:prstGeom>
          <a:solidFill>
            <a:srgbClr val="E8E4F3"/>
          </a:solidFill>
          <a:ln w="9402">
            <a:solidFill>
              <a:srgbClr val="17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pano-orientation-0-0-label"/>
          <p:cNvSpPr txBox="1"/>
          <p:nvPr/>
        </p:nvSpPr>
        <p:spPr>
          <a:xfrm>
            <a:off x="4996961" y="4748456"/>
            <a:ext cx="295519" cy="28208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16" b="0" i="0">
                <a:solidFill>
                  <a:srgbClr val="111111"/>
                </a:solidFill>
                <a:latin typeface="Liberation Sans"/>
              </a:defRPr>
            </a:pPr>
            <a:r>
              <a:t>L</a:t>
            </a:r>
          </a:p>
        </p:txBody>
      </p:sp>
      <p:sp>
        <p:nvSpPr>
          <p:cNvPr id="118" name="pano-orientation-0-1-cell"/>
          <p:cNvSpPr/>
          <p:nvPr/>
        </p:nvSpPr>
        <p:spPr>
          <a:xfrm>
            <a:off x="5292480" y="4741740"/>
            <a:ext cx="295519" cy="295519"/>
          </a:xfrm>
          <a:prstGeom prst="rect">
            <a:avLst/>
          </a:prstGeom>
          <a:solidFill>
            <a:srgbClr val="D4E4C7"/>
          </a:solidFill>
          <a:ln w="9402">
            <a:solidFill>
              <a:srgbClr val="17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pano-orientation-0-1-label"/>
          <p:cNvSpPr txBox="1"/>
          <p:nvPr/>
        </p:nvSpPr>
        <p:spPr>
          <a:xfrm rot="19080000">
            <a:off x="5292480" y="4748456"/>
            <a:ext cx="295519" cy="28208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16" b="0" i="0">
                <a:solidFill>
                  <a:srgbClr val="111111"/>
                </a:solidFill>
                <a:latin typeface="Liberation Sans"/>
              </a:defRPr>
            </a:pPr>
            <a:r>
              <a:t>F</a:t>
            </a:r>
          </a:p>
        </p:txBody>
      </p:sp>
      <p:sp>
        <p:nvSpPr>
          <p:cNvPr id="120" name="pano-orientation-1-0-cell"/>
          <p:cNvSpPr/>
          <p:nvPr/>
        </p:nvSpPr>
        <p:spPr>
          <a:xfrm>
            <a:off x="4996961" y="5037259"/>
            <a:ext cx="295519" cy="295519"/>
          </a:xfrm>
          <a:prstGeom prst="rect">
            <a:avLst/>
          </a:prstGeom>
          <a:solidFill>
            <a:srgbClr val="FECABF"/>
          </a:solidFill>
          <a:ln w="9402">
            <a:solidFill>
              <a:srgbClr val="17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pano-orientation-1-0-label"/>
          <p:cNvSpPr txBox="1"/>
          <p:nvPr/>
        </p:nvSpPr>
        <p:spPr>
          <a:xfrm rot="19080000">
            <a:off x="4996961" y="5043975"/>
            <a:ext cx="295519" cy="28208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16" b="0" i="0">
                <a:solidFill>
                  <a:srgbClr val="111111"/>
                </a:solidFill>
                <a:latin typeface="Liberation Sans"/>
              </a:defRPr>
            </a:pPr>
            <a:r>
              <a:t>B</a:t>
            </a:r>
          </a:p>
        </p:txBody>
      </p:sp>
      <p:sp>
        <p:nvSpPr>
          <p:cNvPr id="122" name="pano-orientation-1-1-cell"/>
          <p:cNvSpPr/>
          <p:nvPr/>
        </p:nvSpPr>
        <p:spPr>
          <a:xfrm>
            <a:off x="5292480" y="5037259"/>
            <a:ext cx="295519" cy="295519"/>
          </a:xfrm>
          <a:prstGeom prst="rect">
            <a:avLst/>
          </a:prstGeom>
          <a:solidFill>
            <a:srgbClr val="F5E7D3"/>
          </a:solidFill>
          <a:ln w="9402">
            <a:solidFill>
              <a:srgbClr val="17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pano-orientation-1-1-label"/>
          <p:cNvSpPr txBox="1"/>
          <p:nvPr/>
        </p:nvSpPr>
        <p:spPr>
          <a:xfrm rot="2160000">
            <a:off x="5292480" y="5043975"/>
            <a:ext cx="295519" cy="28208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16" b="0" i="0">
                <a:solidFill>
                  <a:srgbClr val="111111"/>
                </a:solidFill>
                <a:latin typeface="Liberation Sans"/>
              </a:defRPr>
            </a:pPr>
            <a:r>
              <a:t>R</a:t>
            </a:r>
          </a:p>
        </p:txBody>
      </p:sp>
      <p:sp>
        <p:nvSpPr>
          <p:cNvPr id="124" name="pano-attention-block"/>
          <p:cNvSpPr/>
          <p:nvPr/>
        </p:nvSpPr>
        <p:spPr>
          <a:xfrm>
            <a:off x="5635014" y="4029807"/>
            <a:ext cx="738798" cy="1934307"/>
          </a:xfrm>
          <a:prstGeom prst="roundRect">
            <a:avLst>
              <a:gd name="adj" fmla="val 10909"/>
            </a:avLst>
          </a:prstGeom>
          <a:solidFill>
            <a:srgbClr val="C5E0B5"/>
          </a:solidFill>
          <a:ln w="11417">
            <a:solidFill>
              <a:srgbClr val="17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pano-attention-text"/>
          <p:cNvSpPr txBox="1"/>
          <p:nvPr/>
        </p:nvSpPr>
        <p:spPr>
          <a:xfrm>
            <a:off x="5702177" y="4580548"/>
            <a:ext cx="604471" cy="80596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39" b="0" i="0">
                <a:solidFill>
                  <a:srgbClr val="111111"/>
                </a:solidFill>
                <a:latin typeface="Liberation Sans"/>
              </a:defRPr>
            </a:pPr>
            <a:r>
              <a:t>Attn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39" b="0" i="0">
                <a:solidFill>
                  <a:srgbClr val="111111"/>
                </a:solidFill>
                <a:latin typeface="Liberation Sans"/>
              </a:defRPr>
            </a:pPr>
            <a:r>
              <a:t>Block</a:t>
            </a:r>
          </a:p>
        </p:txBody>
      </p:sp>
      <p:cxnSp>
        <p:nvCxnSpPr>
          <p:cNvPr id="126" name="pano-flow-in"/>
          <p:cNvCxnSpPr/>
          <p:nvPr/>
        </p:nvCxnSpPr>
        <p:spPr>
          <a:xfrm>
            <a:off x="4661144" y="5037259"/>
            <a:ext cx="288803" cy="0"/>
          </a:xfrm>
          <a:prstGeom prst="line">
            <a:avLst/>
          </a:prstGeom>
          <a:ln w="16790">
            <a:solidFill>
              <a:srgbClr val="11111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pano-flow-out"/>
          <p:cNvCxnSpPr/>
          <p:nvPr/>
        </p:nvCxnSpPr>
        <p:spPr>
          <a:xfrm>
            <a:off x="6400677" y="5037259"/>
            <a:ext cx="315669" cy="0"/>
          </a:xfrm>
          <a:prstGeom prst="line">
            <a:avLst/>
          </a:prstGeom>
          <a:ln w="1679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perspective-orientation-0-cell"/>
          <p:cNvSpPr/>
          <p:nvPr/>
        </p:nvSpPr>
        <p:spPr>
          <a:xfrm>
            <a:off x="6870822" y="4130552"/>
            <a:ext cx="295519" cy="295519"/>
          </a:xfrm>
          <a:prstGeom prst="rect">
            <a:avLst/>
          </a:prstGeom>
          <a:solidFill>
            <a:srgbClr val="E8E4F3"/>
          </a:solidFill>
          <a:ln w="9402">
            <a:solidFill>
              <a:srgbClr val="17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perspective-orientation-0-label"/>
          <p:cNvSpPr txBox="1"/>
          <p:nvPr/>
        </p:nvSpPr>
        <p:spPr>
          <a:xfrm>
            <a:off x="6870822" y="4137269"/>
            <a:ext cx="295519" cy="28208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16" b="0" i="0">
                <a:solidFill>
                  <a:srgbClr val="111111"/>
                </a:solidFill>
                <a:latin typeface="Liberation Sans"/>
              </a:defRPr>
            </a:pPr>
            <a:r>
              <a:t>L</a:t>
            </a:r>
          </a:p>
        </p:txBody>
      </p:sp>
      <p:pic>
        <p:nvPicPr>
          <p:cNvPr id="130" name="perspective-strip-0" descr="perspective-stri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94697" y="4096971"/>
            <a:ext cx="1235807" cy="382831"/>
          </a:xfrm>
          <a:prstGeom prst="rect">
            <a:avLst/>
          </a:prstGeom>
          <a:effectLst/>
        </p:spPr>
      </p:pic>
      <p:cxnSp>
        <p:nvCxnSpPr>
          <p:cNvPr id="131" name="perspective-curve-0-segment-0"/>
          <p:cNvCxnSpPr/>
          <p:nvPr/>
        </p:nvCxnSpPr>
        <p:spPr>
          <a:xfrm flipV="1">
            <a:off x="7166341" y="4211149"/>
            <a:ext cx="120894" cy="73879"/>
          </a:xfrm>
          <a:prstGeom prst="line">
            <a:avLst/>
          </a:prstGeom>
          <a:ln w="14104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perspective-curve-0-segment-1"/>
          <p:cNvCxnSpPr/>
          <p:nvPr/>
        </p:nvCxnSpPr>
        <p:spPr>
          <a:xfrm flipV="1">
            <a:off x="7287235" y="4197716"/>
            <a:ext cx="87313" cy="13433"/>
          </a:xfrm>
          <a:prstGeom prst="line">
            <a:avLst/>
          </a:prstGeom>
          <a:ln w="14104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perspective-strip-arrow-0"/>
          <p:cNvCxnSpPr/>
          <p:nvPr/>
        </p:nvCxnSpPr>
        <p:spPr>
          <a:xfrm>
            <a:off x="8630504" y="4278312"/>
            <a:ext cx="114178" cy="0"/>
          </a:xfrm>
          <a:prstGeom prst="line">
            <a:avLst/>
          </a:prstGeom>
          <a:ln w="13432">
            <a:solidFill>
              <a:srgbClr val="11111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perspective-orientation-1-cell"/>
          <p:cNvSpPr/>
          <p:nvPr/>
        </p:nvSpPr>
        <p:spPr>
          <a:xfrm>
            <a:off x="6870822" y="4600697"/>
            <a:ext cx="295519" cy="295519"/>
          </a:xfrm>
          <a:prstGeom prst="rect">
            <a:avLst/>
          </a:prstGeom>
          <a:solidFill>
            <a:srgbClr val="D4E4C7"/>
          </a:solidFill>
          <a:ln w="9402">
            <a:solidFill>
              <a:srgbClr val="17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perspective-orientation-1-label"/>
          <p:cNvSpPr txBox="1"/>
          <p:nvPr/>
        </p:nvSpPr>
        <p:spPr>
          <a:xfrm rot="19020000">
            <a:off x="6870822" y="4607413"/>
            <a:ext cx="295519" cy="28208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16" b="0" i="0">
                <a:solidFill>
                  <a:srgbClr val="111111"/>
                </a:solidFill>
                <a:latin typeface="Liberation Sans"/>
              </a:defRPr>
            </a:pPr>
            <a:r>
              <a:t>F</a:t>
            </a:r>
          </a:p>
        </p:txBody>
      </p:sp>
      <p:pic>
        <p:nvPicPr>
          <p:cNvPr id="136" name="perspective-strip-1" descr="perspective-stri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94697" y="4567115"/>
            <a:ext cx="1235807" cy="382831"/>
          </a:xfrm>
          <a:prstGeom prst="rect">
            <a:avLst/>
          </a:prstGeom>
          <a:effectLst/>
        </p:spPr>
      </p:pic>
      <p:cxnSp>
        <p:nvCxnSpPr>
          <p:cNvPr id="137" name="perspective-curve-1-segment-0"/>
          <p:cNvCxnSpPr/>
          <p:nvPr/>
        </p:nvCxnSpPr>
        <p:spPr>
          <a:xfrm flipV="1">
            <a:off x="7166341" y="4681293"/>
            <a:ext cx="120894" cy="73880"/>
          </a:xfrm>
          <a:prstGeom prst="line">
            <a:avLst/>
          </a:prstGeom>
          <a:ln w="14104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perspective-curve-1-segment-1"/>
          <p:cNvCxnSpPr/>
          <p:nvPr/>
        </p:nvCxnSpPr>
        <p:spPr>
          <a:xfrm flipV="1">
            <a:off x="7287235" y="4667860"/>
            <a:ext cx="87313" cy="13433"/>
          </a:xfrm>
          <a:prstGeom prst="line">
            <a:avLst/>
          </a:prstGeom>
          <a:ln w="14104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perspective-strip-arrow-1"/>
          <p:cNvCxnSpPr/>
          <p:nvPr/>
        </p:nvCxnSpPr>
        <p:spPr>
          <a:xfrm>
            <a:off x="8630504" y="4748456"/>
            <a:ext cx="114178" cy="0"/>
          </a:xfrm>
          <a:prstGeom prst="line">
            <a:avLst/>
          </a:prstGeom>
          <a:ln w="13432">
            <a:solidFill>
              <a:srgbClr val="11111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perspective-orientation-2-cell"/>
          <p:cNvSpPr/>
          <p:nvPr/>
        </p:nvSpPr>
        <p:spPr>
          <a:xfrm>
            <a:off x="6870822" y="5205168"/>
            <a:ext cx="295519" cy="295519"/>
          </a:xfrm>
          <a:prstGeom prst="rect">
            <a:avLst/>
          </a:prstGeom>
          <a:solidFill>
            <a:srgbClr val="FECABF"/>
          </a:solidFill>
          <a:ln w="9402">
            <a:solidFill>
              <a:srgbClr val="17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perspective-orientation-2-label"/>
          <p:cNvSpPr txBox="1"/>
          <p:nvPr/>
        </p:nvSpPr>
        <p:spPr>
          <a:xfrm rot="19080000">
            <a:off x="6870822" y="5211884"/>
            <a:ext cx="295519" cy="28208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16" b="0" i="0">
                <a:solidFill>
                  <a:srgbClr val="111111"/>
                </a:solidFill>
                <a:latin typeface="Liberation Sans"/>
              </a:defRPr>
            </a:pPr>
            <a:r>
              <a:t>B</a:t>
            </a:r>
          </a:p>
        </p:txBody>
      </p:sp>
      <p:pic>
        <p:nvPicPr>
          <p:cNvPr id="142" name="perspective-strip-2" descr="perspective-stri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94697" y="5171586"/>
            <a:ext cx="1235807" cy="382831"/>
          </a:xfrm>
          <a:prstGeom prst="rect">
            <a:avLst/>
          </a:prstGeom>
          <a:effectLst/>
        </p:spPr>
      </p:pic>
      <p:cxnSp>
        <p:nvCxnSpPr>
          <p:cNvPr id="143" name="perspective-curve-2-segment-0"/>
          <p:cNvCxnSpPr/>
          <p:nvPr/>
        </p:nvCxnSpPr>
        <p:spPr>
          <a:xfrm flipV="1">
            <a:off x="7166341" y="5285764"/>
            <a:ext cx="120894" cy="73880"/>
          </a:xfrm>
          <a:prstGeom prst="line">
            <a:avLst/>
          </a:prstGeom>
          <a:ln w="14104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perspective-curve-2-segment-1"/>
          <p:cNvCxnSpPr/>
          <p:nvPr/>
        </p:nvCxnSpPr>
        <p:spPr>
          <a:xfrm flipV="1">
            <a:off x="7287235" y="5272331"/>
            <a:ext cx="87313" cy="13433"/>
          </a:xfrm>
          <a:prstGeom prst="line">
            <a:avLst/>
          </a:prstGeom>
          <a:ln w="14104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perspective-strip-arrow-2"/>
          <p:cNvCxnSpPr/>
          <p:nvPr/>
        </p:nvCxnSpPr>
        <p:spPr>
          <a:xfrm>
            <a:off x="8630504" y="5352927"/>
            <a:ext cx="114178" cy="0"/>
          </a:xfrm>
          <a:prstGeom prst="line">
            <a:avLst/>
          </a:prstGeom>
          <a:ln w="13432">
            <a:solidFill>
              <a:srgbClr val="11111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perspective-orientation-3-cell"/>
          <p:cNvSpPr/>
          <p:nvPr/>
        </p:nvSpPr>
        <p:spPr>
          <a:xfrm>
            <a:off x="6870822" y="5668596"/>
            <a:ext cx="295519" cy="295519"/>
          </a:xfrm>
          <a:prstGeom prst="rect">
            <a:avLst/>
          </a:prstGeom>
          <a:solidFill>
            <a:srgbClr val="F5E7D3"/>
          </a:solidFill>
          <a:ln w="9402">
            <a:solidFill>
              <a:srgbClr val="17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perspective-orientation-3-label"/>
          <p:cNvSpPr txBox="1"/>
          <p:nvPr/>
        </p:nvSpPr>
        <p:spPr>
          <a:xfrm rot="2280000">
            <a:off x="6870822" y="5675312"/>
            <a:ext cx="295519" cy="28208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16" b="0" i="0">
                <a:solidFill>
                  <a:srgbClr val="111111"/>
                </a:solidFill>
                <a:latin typeface="Liberation Sans"/>
              </a:defRPr>
            </a:pPr>
            <a:r>
              <a:t>R</a:t>
            </a:r>
          </a:p>
        </p:txBody>
      </p:sp>
      <p:pic>
        <p:nvPicPr>
          <p:cNvPr id="148" name="perspective-strip-3" descr="perspective-stri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94697" y="5635014"/>
            <a:ext cx="1235807" cy="382831"/>
          </a:xfrm>
          <a:prstGeom prst="rect">
            <a:avLst/>
          </a:prstGeom>
          <a:effectLst/>
        </p:spPr>
      </p:pic>
      <p:cxnSp>
        <p:nvCxnSpPr>
          <p:cNvPr id="149" name="perspective-curve-3-segment-0"/>
          <p:cNvCxnSpPr/>
          <p:nvPr/>
        </p:nvCxnSpPr>
        <p:spPr>
          <a:xfrm flipV="1">
            <a:off x="7166341" y="5749192"/>
            <a:ext cx="120894" cy="73880"/>
          </a:xfrm>
          <a:prstGeom prst="line">
            <a:avLst/>
          </a:prstGeom>
          <a:ln w="14104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perspective-curve-3-segment-1"/>
          <p:cNvCxnSpPr/>
          <p:nvPr/>
        </p:nvCxnSpPr>
        <p:spPr>
          <a:xfrm flipV="1">
            <a:off x="7287235" y="5735759"/>
            <a:ext cx="87313" cy="13433"/>
          </a:xfrm>
          <a:prstGeom prst="line">
            <a:avLst/>
          </a:prstGeom>
          <a:ln w="14104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perspective-strip-arrow-3"/>
          <p:cNvCxnSpPr/>
          <p:nvPr/>
        </p:nvCxnSpPr>
        <p:spPr>
          <a:xfrm>
            <a:off x="8630504" y="5816355"/>
            <a:ext cx="114178" cy="0"/>
          </a:xfrm>
          <a:prstGeom prst="line">
            <a:avLst/>
          </a:prstGeom>
          <a:ln w="13432">
            <a:solidFill>
              <a:srgbClr val="11111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perspective-attention-block"/>
          <p:cNvSpPr/>
          <p:nvPr/>
        </p:nvSpPr>
        <p:spPr>
          <a:xfrm>
            <a:off x="8751399" y="4029807"/>
            <a:ext cx="745514" cy="1934307"/>
          </a:xfrm>
          <a:prstGeom prst="roundRect">
            <a:avLst>
              <a:gd name="adj" fmla="val 10810"/>
            </a:avLst>
          </a:prstGeom>
          <a:solidFill>
            <a:srgbClr val="C5E0B5"/>
          </a:solidFill>
          <a:ln w="11417">
            <a:solidFill>
              <a:srgbClr val="17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perspective-attention-text"/>
          <p:cNvSpPr txBox="1"/>
          <p:nvPr/>
        </p:nvSpPr>
        <p:spPr>
          <a:xfrm>
            <a:off x="8811846" y="4580548"/>
            <a:ext cx="624620" cy="80596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39" b="0" i="0">
                <a:solidFill>
                  <a:srgbClr val="111111"/>
                </a:solidFill>
                <a:latin typeface="Liberation Sans"/>
              </a:defRPr>
            </a:pPr>
            <a:r>
              <a:t>Attn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39" b="0" i="0">
                <a:solidFill>
                  <a:srgbClr val="111111"/>
                </a:solidFill>
                <a:latin typeface="Liberation Sans"/>
              </a:defRPr>
            </a:pPr>
            <a:r>
              <a:t>Block</a:t>
            </a:r>
          </a:p>
        </p:txBody>
      </p:sp>
      <p:cxnSp>
        <p:nvCxnSpPr>
          <p:cNvPr id="154" name="perspective-flow-out"/>
          <p:cNvCxnSpPr/>
          <p:nvPr/>
        </p:nvCxnSpPr>
        <p:spPr>
          <a:xfrm>
            <a:off x="9523778" y="5037259"/>
            <a:ext cx="510443" cy="0"/>
          </a:xfrm>
          <a:prstGeom prst="line">
            <a:avLst/>
          </a:prstGeom>
          <a:ln w="17462">
            <a:solidFill>
              <a:srgbClr val="11111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prompt-path-segment-0"/>
          <p:cNvCxnSpPr/>
          <p:nvPr/>
        </p:nvCxnSpPr>
        <p:spPr>
          <a:xfrm flipH="1">
            <a:off x="6152173" y="6709629"/>
            <a:ext cx="846259" cy="0"/>
          </a:xfrm>
          <a:prstGeom prst="line">
            <a:avLst/>
          </a:prstGeom>
          <a:ln w="26865">
            <a:solidFill>
              <a:srgbClr val="F4A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prompt-path-segment-1"/>
          <p:cNvCxnSpPr/>
          <p:nvPr/>
        </p:nvCxnSpPr>
        <p:spPr>
          <a:xfrm flipH="1" flipV="1">
            <a:off x="6011129" y="6649182"/>
            <a:ext cx="141044" cy="60447"/>
          </a:xfrm>
          <a:prstGeom prst="line">
            <a:avLst/>
          </a:prstGeom>
          <a:ln w="26865">
            <a:solidFill>
              <a:srgbClr val="F4A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prompt-path-segment-2"/>
          <p:cNvCxnSpPr/>
          <p:nvPr/>
        </p:nvCxnSpPr>
        <p:spPr>
          <a:xfrm flipH="1" flipV="1">
            <a:off x="5984264" y="6528288"/>
            <a:ext cx="26865" cy="120894"/>
          </a:xfrm>
          <a:prstGeom prst="line">
            <a:avLst/>
          </a:prstGeom>
          <a:ln w="26865">
            <a:solidFill>
              <a:srgbClr val="F4A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prompt-path-segment-3"/>
          <p:cNvCxnSpPr/>
          <p:nvPr/>
        </p:nvCxnSpPr>
        <p:spPr>
          <a:xfrm flipV="1">
            <a:off x="5984264" y="5964115"/>
            <a:ext cx="0" cy="564173"/>
          </a:xfrm>
          <a:prstGeom prst="line">
            <a:avLst/>
          </a:prstGeom>
          <a:ln w="26865">
            <a:solidFill>
              <a:srgbClr val="F4A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prompt-path-right-segment-0"/>
          <p:cNvCxnSpPr/>
          <p:nvPr/>
        </p:nvCxnSpPr>
        <p:spPr>
          <a:xfrm>
            <a:off x="6998432" y="6709629"/>
            <a:ext cx="1947741" cy="0"/>
          </a:xfrm>
          <a:prstGeom prst="line">
            <a:avLst/>
          </a:prstGeom>
          <a:ln w="26865">
            <a:solidFill>
              <a:srgbClr val="F4A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prompt-path-right-segment-1"/>
          <p:cNvCxnSpPr/>
          <p:nvPr/>
        </p:nvCxnSpPr>
        <p:spPr>
          <a:xfrm flipV="1">
            <a:off x="8946173" y="6655899"/>
            <a:ext cx="161192" cy="53730"/>
          </a:xfrm>
          <a:prstGeom prst="line">
            <a:avLst/>
          </a:prstGeom>
          <a:ln w="26865">
            <a:solidFill>
              <a:srgbClr val="F4A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prompt-path-right-segment-2"/>
          <p:cNvCxnSpPr/>
          <p:nvPr/>
        </p:nvCxnSpPr>
        <p:spPr>
          <a:xfrm flipV="1">
            <a:off x="9107365" y="6528288"/>
            <a:ext cx="33582" cy="127611"/>
          </a:xfrm>
          <a:prstGeom prst="line">
            <a:avLst/>
          </a:prstGeom>
          <a:ln w="26865">
            <a:solidFill>
              <a:srgbClr val="F4A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prompt-path-right-segment-3"/>
          <p:cNvCxnSpPr/>
          <p:nvPr/>
        </p:nvCxnSpPr>
        <p:spPr>
          <a:xfrm flipV="1">
            <a:off x="9140947" y="5964115"/>
            <a:ext cx="0" cy="564173"/>
          </a:xfrm>
          <a:prstGeom prst="line">
            <a:avLst/>
          </a:prstGeom>
          <a:ln w="26865">
            <a:solidFill>
              <a:srgbClr val="F4A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prompt-arrow-left"/>
          <p:cNvSpPr/>
          <p:nvPr/>
        </p:nvSpPr>
        <p:spPr>
          <a:xfrm>
            <a:off x="5889932" y="5963808"/>
            <a:ext cx="188048" cy="282072"/>
          </a:xfrm>
          <a:custGeom>
            <a:avLst/>
            <a:gdLst/>
            <a:ahLst/>
            <a:cxnLst/>
            <a:rect l="l" t="t" r="r" b="b"/>
            <a:pathLst>
              <a:path w="28" h="42">
                <a:moveTo>
                  <a:pt x="9" y="42"/>
                </a:moveTo>
                <a:lnTo>
                  <a:pt x="19" y="42"/>
                </a:lnTo>
                <a:lnTo>
                  <a:pt x="19" y="21"/>
                </a:lnTo>
                <a:lnTo>
                  <a:pt x="28" y="21"/>
                </a:lnTo>
                <a:lnTo>
                  <a:pt x="14" y="0"/>
                </a:lnTo>
                <a:lnTo>
                  <a:pt x="0" y="21"/>
                </a:lnTo>
                <a:lnTo>
                  <a:pt x="9" y="21"/>
                </a:lnTo>
                <a:close/>
              </a:path>
            </a:pathLst>
          </a:custGeom>
          <a:solidFill>
            <a:srgbClr val="FEF9E6"/>
          </a:solidFill>
          <a:ln w="14775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prompt-arrow-right"/>
          <p:cNvSpPr/>
          <p:nvPr/>
        </p:nvSpPr>
        <p:spPr>
          <a:xfrm>
            <a:off x="9046452" y="5963808"/>
            <a:ext cx="188048" cy="282072"/>
          </a:xfrm>
          <a:custGeom>
            <a:avLst/>
            <a:gdLst/>
            <a:ahLst/>
            <a:cxnLst/>
            <a:rect l="l" t="t" r="r" b="b"/>
            <a:pathLst>
              <a:path w="28" h="42">
                <a:moveTo>
                  <a:pt x="9" y="42"/>
                </a:moveTo>
                <a:lnTo>
                  <a:pt x="19" y="42"/>
                </a:lnTo>
                <a:lnTo>
                  <a:pt x="19" y="21"/>
                </a:lnTo>
                <a:lnTo>
                  <a:pt x="28" y="21"/>
                </a:lnTo>
                <a:lnTo>
                  <a:pt x="14" y="0"/>
                </a:lnTo>
                <a:lnTo>
                  <a:pt x="0" y="21"/>
                </a:lnTo>
                <a:lnTo>
                  <a:pt x="9" y="21"/>
                </a:lnTo>
                <a:close/>
              </a:path>
            </a:pathLst>
          </a:custGeom>
          <a:solidFill>
            <a:srgbClr val="FEF9E6"/>
          </a:solidFill>
          <a:ln w="14775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prompt-label"/>
          <p:cNvSpPr txBox="1"/>
          <p:nvPr/>
        </p:nvSpPr>
        <p:spPr>
          <a:xfrm>
            <a:off x="6850673" y="6541721"/>
            <a:ext cx="1074615" cy="28880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80" b="0" i="1">
                <a:solidFill>
                  <a:srgbClr val="111111"/>
                </a:solidFill>
                <a:latin typeface="Liberation Serif"/>
              </a:defRPr>
            </a:pPr>
            <a:r>
              <a:t>Prompt</a:t>
            </a:r>
          </a:p>
        </p:txBody>
      </p:sp>
      <p:sp>
        <p:nvSpPr>
          <p:cNvPr id="166" name="repeat-label"/>
          <p:cNvSpPr txBox="1"/>
          <p:nvPr/>
        </p:nvSpPr>
        <p:spPr>
          <a:xfrm>
            <a:off x="9275274" y="6158889"/>
            <a:ext cx="497009" cy="28880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7" b="0" i="1">
                <a:solidFill>
                  <a:srgbClr val="111111"/>
                </a:solidFill>
                <a:latin typeface="Liberation Sans"/>
              </a:defRPr>
            </a:pPr>
            <a:r>
              <a:t>× N</a:t>
            </a:r>
          </a:p>
        </p:txBody>
      </p:sp>
      <p:sp>
        <p:nvSpPr>
          <p:cNvPr id="167" name="output-shadow"/>
          <p:cNvSpPr/>
          <p:nvPr/>
        </p:nvSpPr>
        <p:spPr>
          <a:xfrm>
            <a:off x="10155115" y="3982793"/>
            <a:ext cx="2182812" cy="2182812"/>
          </a:xfrm>
          <a:prstGeom prst="roundRect">
            <a:avLst>
              <a:gd name="adj" fmla="val 2461"/>
            </a:avLst>
          </a:prstGeom>
          <a:solidFill>
            <a:srgbClr val="333333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8" name="output-image" descr="viewpoint-clea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34221" y="3855182"/>
            <a:ext cx="2182812" cy="2182812"/>
          </a:xfrm>
          <a:prstGeom prst="rect">
            <a:avLst/>
          </a:prstGeom>
          <a:effectLst/>
        </p:spPr>
      </p:pic>
      <p:sp>
        <p:nvSpPr>
          <p:cNvPr id="169" name="output-label"/>
          <p:cNvSpPr txBox="1"/>
          <p:nvPr/>
        </p:nvSpPr>
        <p:spPr>
          <a:xfrm>
            <a:off x="10363322" y="6313365"/>
            <a:ext cx="1511177" cy="33581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92" b="0" i="0">
                <a:solidFill>
                  <a:srgbClr val="111111"/>
                </a:solidFill>
                <a:latin typeface="Liberation Sans"/>
              </a:defRPr>
            </a:pPr>
            <a:r>
              <a:t>Output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ViewPoint Panoramic Video Generation with Pretrained Diffusion Model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5"/>
            <a:ext cx="12573000" cy="68573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