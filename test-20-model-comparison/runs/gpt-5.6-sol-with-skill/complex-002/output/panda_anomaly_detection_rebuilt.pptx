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01983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_page"/>
          <p:cNvSpPr/>
          <p:nvPr/>
        </p:nvSpPr>
        <p:spPr>
          <a:xfrm>
            <a:off x="0" y="0"/>
            <a:ext cx="14019835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enter_field__center_peach"/>
          <p:cNvSpPr/>
          <p:nvPr/>
        </p:nvSpPr>
        <p:spPr>
          <a:xfrm>
            <a:off x="2712816" y="1736202"/>
            <a:ext cx="7689930" cy="7407797"/>
          </a:xfrm>
          <a:prstGeom prst="roundRect">
            <a:avLst>
              <a:gd name="adj" fmla="val 4882"/>
            </a:avLst>
          </a:prstGeom>
          <a:solidFill>
            <a:srgbClr val="FA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asoning_fields__reason_top"/>
          <p:cNvSpPr/>
          <p:nvPr/>
        </p:nvSpPr>
        <p:spPr>
          <a:xfrm>
            <a:off x="10612537" y="1772373"/>
            <a:ext cx="3334955" cy="2112379"/>
          </a:xfrm>
          <a:prstGeom prst="roundRect">
            <a:avLst>
              <a:gd name="adj" fmla="val 18835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asoning_fields__reason_mid"/>
          <p:cNvSpPr/>
          <p:nvPr/>
        </p:nvSpPr>
        <p:spPr>
          <a:xfrm>
            <a:off x="10612537" y="4137949"/>
            <a:ext cx="3334955" cy="2336639"/>
          </a:xfrm>
          <a:prstGeom prst="roundRect">
            <a:avLst>
              <a:gd name="adj" fmla="val 17027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asoning_fields__reason_bottom"/>
          <p:cNvSpPr/>
          <p:nvPr/>
        </p:nvSpPr>
        <p:spPr>
          <a:xfrm>
            <a:off x="10612537" y="6785658"/>
            <a:ext cx="3334955" cy="2358341"/>
          </a:xfrm>
          <a:prstGeom prst="roundRect">
            <a:avLst>
              <a:gd name="adj" fmla="val 16871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top_request__top_blue_rule"/>
          <p:cNvCxnSpPr/>
          <p:nvPr/>
        </p:nvCxnSpPr>
        <p:spPr>
          <a:xfrm>
            <a:off x="72341" y="708949"/>
            <a:ext cx="13781108" cy="0"/>
          </a:xfrm>
          <a:prstGeom prst="line">
            <a:avLst/>
          </a:prstGeom>
          <a:ln w="14468">
            <a:solidFill>
              <a:srgbClr val="5B9BD5"/>
            </a:solidFill>
          </a:ln>
          <a:effectLst/>
        </p:spPr>
      </p:cxnSp>
      <p:sp>
        <p:nvSpPr>
          <p:cNvPr id="8" name="top_request__top_rule_head"/>
          <p:cNvSpPr/>
          <p:nvPr/>
        </p:nvSpPr>
        <p:spPr>
          <a:xfrm>
            <a:off x="13838981" y="658310"/>
            <a:ext cx="101276" cy="101276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0" y="14"/>
                </a:lnTo>
                <a:lnTo>
                  <a:pt x="14" y="7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top_request__user_avatar" descr="user_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98" y="36170"/>
            <a:ext cx="390645" cy="658310"/>
          </a:xfrm>
          <a:prstGeom prst="rect">
            <a:avLst/>
          </a:prstGeom>
          <a:effectLst/>
        </p:spPr>
      </p:pic>
      <p:sp>
        <p:nvSpPr>
          <p:cNvPr id="10" name="top_request__request_tail"/>
          <p:cNvSpPr/>
          <p:nvPr/>
        </p:nvSpPr>
        <p:spPr>
          <a:xfrm>
            <a:off x="1765139" y="202556"/>
            <a:ext cx="303828" cy="166382"/>
          </a:xfrm>
          <a:custGeom>
            <a:avLst/>
            <a:gdLst/>
            <a:ahLst/>
            <a:cxnLst/>
            <a:rect l="l" t="t" r="r" b="b"/>
            <a:pathLst>
              <a:path w="42" h="23">
                <a:moveTo>
                  <a:pt x="0" y="11"/>
                </a:moveTo>
                <a:lnTo>
                  <a:pt x="42" y="0"/>
                </a:lnTo>
                <a:lnTo>
                  <a:pt x="42" y="23"/>
                </a:lnTo>
                <a:close/>
              </a:path>
            </a:pathLst>
          </a:custGeom>
          <a:solidFill>
            <a:srgbClr val="DEEAF6"/>
          </a:solidFill>
          <a:ln w="10851">
            <a:solidFill>
              <a:srgbClr val="2F80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op_request__request_bubble"/>
          <p:cNvSpPr/>
          <p:nvPr/>
        </p:nvSpPr>
        <p:spPr>
          <a:xfrm>
            <a:off x="2061740" y="130215"/>
            <a:ext cx="9766139" cy="477455"/>
          </a:xfrm>
          <a:prstGeom prst="roundRect">
            <a:avLst>
              <a:gd name="adj" fmla="val 18181"/>
            </a:avLst>
          </a:prstGeom>
          <a:solidFill>
            <a:srgbClr val="DEEAF6"/>
          </a:solidFill>
          <a:ln w="10851">
            <a:solidFill>
              <a:srgbClr val="2F80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op_request__request_text"/>
          <p:cNvSpPr txBox="1"/>
          <p:nvPr/>
        </p:nvSpPr>
        <p:spPr>
          <a:xfrm>
            <a:off x="2242594" y="195322"/>
            <a:ext cx="9404430" cy="37617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000000"/>
                </a:solidFill>
                <a:latin typeface="Liberation Sans"/>
              </a:defRPr>
            </a:pPr>
            <a:r>
              <a:t>Please help me detect the following types of abnormal events: Abuse, Arrest, Arson, Assault, Burglary, Explosion, Fighting, Road Accidents,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000000"/>
                </a:solidFill>
                <a:latin typeface="Liberation Sans"/>
              </a:defRPr>
            </a:pPr>
            <a:r>
              <a:t>Robbery, Shooting, Shoplifting, Stealing, Vandalism.</a:t>
            </a:r>
          </a:p>
        </p:txBody>
      </p:sp>
      <p:pic>
        <p:nvPicPr>
          <p:cNvPr id="13" name="video_strip__video_frames" descr="video_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259" y="918740"/>
            <a:ext cx="12370443" cy="607670"/>
          </a:xfrm>
          <a:prstGeom prst="rect">
            <a:avLst/>
          </a:prstGeom>
          <a:effectLst/>
        </p:spPr>
      </p:pic>
      <p:sp>
        <p:nvSpPr>
          <p:cNvPr id="14" name="video_strip__film_top"/>
          <p:cNvSpPr/>
          <p:nvPr/>
        </p:nvSpPr>
        <p:spPr>
          <a:xfrm>
            <a:off x="1265981" y="781291"/>
            <a:ext cx="12500658" cy="137449"/>
          </a:xfrm>
          <a:prstGeom prst="roundRect">
            <a:avLst>
              <a:gd name="adj" fmla="val 21052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video_strip__film_bottom"/>
          <p:cNvSpPr/>
          <p:nvPr/>
        </p:nvSpPr>
        <p:spPr>
          <a:xfrm>
            <a:off x="1265981" y="1526411"/>
            <a:ext cx="12500658" cy="137449"/>
          </a:xfrm>
          <a:prstGeom prst="roundRect">
            <a:avLst>
              <a:gd name="adj" fmla="val 21052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video_strip__film_left"/>
          <p:cNvSpPr/>
          <p:nvPr/>
        </p:nvSpPr>
        <p:spPr>
          <a:xfrm>
            <a:off x="1265981" y="781291"/>
            <a:ext cx="101278" cy="882569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video_strip__film_right"/>
          <p:cNvSpPr/>
          <p:nvPr/>
        </p:nvSpPr>
        <p:spPr>
          <a:xfrm>
            <a:off x="13665360" y="781291"/>
            <a:ext cx="101278" cy="882569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video_strip__perf_t_0"/>
          <p:cNvSpPr/>
          <p:nvPr/>
        </p:nvSpPr>
        <p:spPr>
          <a:xfrm>
            <a:off x="133108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video_strip__perf_t_1"/>
          <p:cNvSpPr/>
          <p:nvPr/>
        </p:nvSpPr>
        <p:spPr>
          <a:xfrm>
            <a:off x="153364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video_strip__perf_t_2"/>
          <p:cNvSpPr/>
          <p:nvPr/>
        </p:nvSpPr>
        <p:spPr>
          <a:xfrm>
            <a:off x="173620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video_strip__perf_t_3"/>
          <p:cNvSpPr/>
          <p:nvPr/>
        </p:nvSpPr>
        <p:spPr>
          <a:xfrm>
            <a:off x="193875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video_strip__perf_t_4"/>
          <p:cNvSpPr/>
          <p:nvPr/>
        </p:nvSpPr>
        <p:spPr>
          <a:xfrm>
            <a:off x="214131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video_strip__perf_t_5"/>
          <p:cNvSpPr/>
          <p:nvPr/>
        </p:nvSpPr>
        <p:spPr>
          <a:xfrm>
            <a:off x="234387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ideo_strip__perf_t_6"/>
          <p:cNvSpPr/>
          <p:nvPr/>
        </p:nvSpPr>
        <p:spPr>
          <a:xfrm>
            <a:off x="254643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video_strip__perf_t_7"/>
          <p:cNvSpPr/>
          <p:nvPr/>
        </p:nvSpPr>
        <p:spPr>
          <a:xfrm>
            <a:off x="274898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video_strip__perf_t_8"/>
          <p:cNvSpPr/>
          <p:nvPr/>
        </p:nvSpPr>
        <p:spPr>
          <a:xfrm>
            <a:off x="295154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video_strip__perf_t_9"/>
          <p:cNvSpPr/>
          <p:nvPr/>
        </p:nvSpPr>
        <p:spPr>
          <a:xfrm>
            <a:off x="315410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video_strip__perf_t_10"/>
          <p:cNvSpPr/>
          <p:nvPr/>
        </p:nvSpPr>
        <p:spPr>
          <a:xfrm>
            <a:off x="335665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video_strip__perf_t_11"/>
          <p:cNvSpPr/>
          <p:nvPr/>
        </p:nvSpPr>
        <p:spPr>
          <a:xfrm>
            <a:off x="355921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video_strip__perf_t_12"/>
          <p:cNvSpPr/>
          <p:nvPr/>
        </p:nvSpPr>
        <p:spPr>
          <a:xfrm>
            <a:off x="376177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video_strip__perf_t_13"/>
          <p:cNvSpPr/>
          <p:nvPr/>
        </p:nvSpPr>
        <p:spPr>
          <a:xfrm>
            <a:off x="396432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video_strip__perf_t_14"/>
          <p:cNvSpPr/>
          <p:nvPr/>
        </p:nvSpPr>
        <p:spPr>
          <a:xfrm>
            <a:off x="416688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video_strip__perf_t_15"/>
          <p:cNvSpPr/>
          <p:nvPr/>
        </p:nvSpPr>
        <p:spPr>
          <a:xfrm>
            <a:off x="436944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video_strip__perf_t_16"/>
          <p:cNvSpPr/>
          <p:nvPr/>
        </p:nvSpPr>
        <p:spPr>
          <a:xfrm>
            <a:off x="457200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video_strip__perf_t_17"/>
          <p:cNvSpPr/>
          <p:nvPr/>
        </p:nvSpPr>
        <p:spPr>
          <a:xfrm>
            <a:off x="477455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video_strip__perf_t_18"/>
          <p:cNvSpPr/>
          <p:nvPr/>
        </p:nvSpPr>
        <p:spPr>
          <a:xfrm>
            <a:off x="497711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video_strip__perf_t_19"/>
          <p:cNvSpPr/>
          <p:nvPr/>
        </p:nvSpPr>
        <p:spPr>
          <a:xfrm>
            <a:off x="517967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video_strip__perf_t_20"/>
          <p:cNvSpPr/>
          <p:nvPr/>
        </p:nvSpPr>
        <p:spPr>
          <a:xfrm>
            <a:off x="538222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video_strip__perf_t_21"/>
          <p:cNvSpPr/>
          <p:nvPr/>
        </p:nvSpPr>
        <p:spPr>
          <a:xfrm>
            <a:off x="558478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video_strip__perf_t_22"/>
          <p:cNvSpPr/>
          <p:nvPr/>
        </p:nvSpPr>
        <p:spPr>
          <a:xfrm>
            <a:off x="578734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video_strip__perf_t_23"/>
          <p:cNvSpPr/>
          <p:nvPr/>
        </p:nvSpPr>
        <p:spPr>
          <a:xfrm>
            <a:off x="598989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video_strip__perf_t_24"/>
          <p:cNvSpPr/>
          <p:nvPr/>
        </p:nvSpPr>
        <p:spPr>
          <a:xfrm>
            <a:off x="619245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video_strip__perf_t_25"/>
          <p:cNvSpPr/>
          <p:nvPr/>
        </p:nvSpPr>
        <p:spPr>
          <a:xfrm>
            <a:off x="639501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video_strip__perf_t_26"/>
          <p:cNvSpPr/>
          <p:nvPr/>
        </p:nvSpPr>
        <p:spPr>
          <a:xfrm>
            <a:off x="659756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ideo_strip__perf_t_27"/>
          <p:cNvSpPr/>
          <p:nvPr/>
        </p:nvSpPr>
        <p:spPr>
          <a:xfrm>
            <a:off x="680012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ideo_strip__perf_t_28"/>
          <p:cNvSpPr/>
          <p:nvPr/>
        </p:nvSpPr>
        <p:spPr>
          <a:xfrm>
            <a:off x="700268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video_strip__perf_t_29"/>
          <p:cNvSpPr/>
          <p:nvPr/>
        </p:nvSpPr>
        <p:spPr>
          <a:xfrm>
            <a:off x="720524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video_strip__perf_t_30"/>
          <p:cNvSpPr/>
          <p:nvPr/>
        </p:nvSpPr>
        <p:spPr>
          <a:xfrm>
            <a:off x="740779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video_strip__perf_t_31"/>
          <p:cNvSpPr/>
          <p:nvPr/>
        </p:nvSpPr>
        <p:spPr>
          <a:xfrm>
            <a:off x="761035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video_strip__perf_t_32"/>
          <p:cNvSpPr/>
          <p:nvPr/>
        </p:nvSpPr>
        <p:spPr>
          <a:xfrm>
            <a:off x="781291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video_strip__perf_t_33"/>
          <p:cNvSpPr/>
          <p:nvPr/>
        </p:nvSpPr>
        <p:spPr>
          <a:xfrm>
            <a:off x="801546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video_strip__perf_t_34"/>
          <p:cNvSpPr/>
          <p:nvPr/>
        </p:nvSpPr>
        <p:spPr>
          <a:xfrm>
            <a:off x="821802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video_strip__perf_t_35"/>
          <p:cNvSpPr/>
          <p:nvPr/>
        </p:nvSpPr>
        <p:spPr>
          <a:xfrm>
            <a:off x="842058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video_strip__perf_t_36"/>
          <p:cNvSpPr/>
          <p:nvPr/>
        </p:nvSpPr>
        <p:spPr>
          <a:xfrm>
            <a:off x="862313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video_strip__perf_t_37"/>
          <p:cNvSpPr/>
          <p:nvPr/>
        </p:nvSpPr>
        <p:spPr>
          <a:xfrm>
            <a:off x="882569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video_strip__perf_t_38"/>
          <p:cNvSpPr/>
          <p:nvPr/>
        </p:nvSpPr>
        <p:spPr>
          <a:xfrm>
            <a:off x="902825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video_strip__perf_t_39"/>
          <p:cNvSpPr/>
          <p:nvPr/>
        </p:nvSpPr>
        <p:spPr>
          <a:xfrm>
            <a:off x="923081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video_strip__perf_t_40"/>
          <p:cNvSpPr/>
          <p:nvPr/>
        </p:nvSpPr>
        <p:spPr>
          <a:xfrm>
            <a:off x="943336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video_strip__perf_t_41"/>
          <p:cNvSpPr/>
          <p:nvPr/>
        </p:nvSpPr>
        <p:spPr>
          <a:xfrm>
            <a:off x="963592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video_strip__perf_t_42"/>
          <p:cNvSpPr/>
          <p:nvPr/>
        </p:nvSpPr>
        <p:spPr>
          <a:xfrm>
            <a:off x="983848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video_strip__perf_t_43"/>
          <p:cNvSpPr/>
          <p:nvPr/>
        </p:nvSpPr>
        <p:spPr>
          <a:xfrm>
            <a:off x="1004103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video_strip__perf_t_44"/>
          <p:cNvSpPr/>
          <p:nvPr/>
        </p:nvSpPr>
        <p:spPr>
          <a:xfrm>
            <a:off x="1024359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video_strip__perf_t_45"/>
          <p:cNvSpPr/>
          <p:nvPr/>
        </p:nvSpPr>
        <p:spPr>
          <a:xfrm>
            <a:off x="1044615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video_strip__perf_t_46"/>
          <p:cNvSpPr/>
          <p:nvPr/>
        </p:nvSpPr>
        <p:spPr>
          <a:xfrm>
            <a:off x="1064870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video_strip__perf_t_47"/>
          <p:cNvSpPr/>
          <p:nvPr/>
        </p:nvSpPr>
        <p:spPr>
          <a:xfrm>
            <a:off x="1085126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video_strip__perf_t_48"/>
          <p:cNvSpPr/>
          <p:nvPr/>
        </p:nvSpPr>
        <p:spPr>
          <a:xfrm>
            <a:off x="1105382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video_strip__perf_t_49"/>
          <p:cNvSpPr/>
          <p:nvPr/>
        </p:nvSpPr>
        <p:spPr>
          <a:xfrm>
            <a:off x="1125637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video_strip__perf_t_50"/>
          <p:cNvSpPr/>
          <p:nvPr/>
        </p:nvSpPr>
        <p:spPr>
          <a:xfrm>
            <a:off x="1145893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video_strip__perf_t_51"/>
          <p:cNvSpPr/>
          <p:nvPr/>
        </p:nvSpPr>
        <p:spPr>
          <a:xfrm>
            <a:off x="11661493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video_strip__perf_t_52"/>
          <p:cNvSpPr/>
          <p:nvPr/>
        </p:nvSpPr>
        <p:spPr>
          <a:xfrm>
            <a:off x="11864050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video_strip__perf_t_53"/>
          <p:cNvSpPr/>
          <p:nvPr/>
        </p:nvSpPr>
        <p:spPr>
          <a:xfrm>
            <a:off x="12066607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video_strip__perf_t_54"/>
          <p:cNvSpPr/>
          <p:nvPr/>
        </p:nvSpPr>
        <p:spPr>
          <a:xfrm>
            <a:off x="12269164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video_strip__perf_t_55"/>
          <p:cNvSpPr/>
          <p:nvPr/>
        </p:nvSpPr>
        <p:spPr>
          <a:xfrm>
            <a:off x="12471721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video_strip__perf_t_56"/>
          <p:cNvSpPr/>
          <p:nvPr/>
        </p:nvSpPr>
        <p:spPr>
          <a:xfrm>
            <a:off x="12674278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video_strip__perf_t_57"/>
          <p:cNvSpPr/>
          <p:nvPr/>
        </p:nvSpPr>
        <p:spPr>
          <a:xfrm>
            <a:off x="12876835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video_strip__perf_t_58"/>
          <p:cNvSpPr/>
          <p:nvPr/>
        </p:nvSpPr>
        <p:spPr>
          <a:xfrm>
            <a:off x="13079392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ideo_strip__perf_t_59"/>
          <p:cNvSpPr/>
          <p:nvPr/>
        </p:nvSpPr>
        <p:spPr>
          <a:xfrm>
            <a:off x="13281949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video_strip__perf_t_60"/>
          <p:cNvSpPr/>
          <p:nvPr/>
        </p:nvSpPr>
        <p:spPr>
          <a:xfrm>
            <a:off x="13484506" y="810227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video_strip__perf_b_0"/>
          <p:cNvSpPr/>
          <p:nvPr/>
        </p:nvSpPr>
        <p:spPr>
          <a:xfrm>
            <a:off x="133108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video_strip__perf_b_1"/>
          <p:cNvSpPr/>
          <p:nvPr/>
        </p:nvSpPr>
        <p:spPr>
          <a:xfrm>
            <a:off x="153364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video_strip__perf_b_2"/>
          <p:cNvSpPr/>
          <p:nvPr/>
        </p:nvSpPr>
        <p:spPr>
          <a:xfrm>
            <a:off x="173620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video_strip__perf_b_3"/>
          <p:cNvSpPr/>
          <p:nvPr/>
        </p:nvSpPr>
        <p:spPr>
          <a:xfrm>
            <a:off x="193875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video_strip__perf_b_4"/>
          <p:cNvSpPr/>
          <p:nvPr/>
        </p:nvSpPr>
        <p:spPr>
          <a:xfrm>
            <a:off x="214131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video_strip__perf_b_5"/>
          <p:cNvSpPr/>
          <p:nvPr/>
        </p:nvSpPr>
        <p:spPr>
          <a:xfrm>
            <a:off x="234387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video_strip__perf_b_6"/>
          <p:cNvSpPr/>
          <p:nvPr/>
        </p:nvSpPr>
        <p:spPr>
          <a:xfrm>
            <a:off x="254643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video_strip__perf_b_7"/>
          <p:cNvSpPr/>
          <p:nvPr/>
        </p:nvSpPr>
        <p:spPr>
          <a:xfrm>
            <a:off x="274898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video_strip__perf_b_8"/>
          <p:cNvSpPr/>
          <p:nvPr/>
        </p:nvSpPr>
        <p:spPr>
          <a:xfrm>
            <a:off x="295154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video_strip__perf_b_9"/>
          <p:cNvSpPr/>
          <p:nvPr/>
        </p:nvSpPr>
        <p:spPr>
          <a:xfrm>
            <a:off x="315410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video_strip__perf_b_10"/>
          <p:cNvSpPr/>
          <p:nvPr/>
        </p:nvSpPr>
        <p:spPr>
          <a:xfrm>
            <a:off x="335665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video_strip__perf_b_11"/>
          <p:cNvSpPr/>
          <p:nvPr/>
        </p:nvSpPr>
        <p:spPr>
          <a:xfrm>
            <a:off x="355921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video_strip__perf_b_12"/>
          <p:cNvSpPr/>
          <p:nvPr/>
        </p:nvSpPr>
        <p:spPr>
          <a:xfrm>
            <a:off x="376177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video_strip__perf_b_13"/>
          <p:cNvSpPr/>
          <p:nvPr/>
        </p:nvSpPr>
        <p:spPr>
          <a:xfrm>
            <a:off x="396432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video_strip__perf_b_14"/>
          <p:cNvSpPr/>
          <p:nvPr/>
        </p:nvSpPr>
        <p:spPr>
          <a:xfrm>
            <a:off x="416688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video_strip__perf_b_15"/>
          <p:cNvSpPr/>
          <p:nvPr/>
        </p:nvSpPr>
        <p:spPr>
          <a:xfrm>
            <a:off x="436944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video_strip__perf_b_16"/>
          <p:cNvSpPr/>
          <p:nvPr/>
        </p:nvSpPr>
        <p:spPr>
          <a:xfrm>
            <a:off x="457200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ideo_strip__perf_b_17"/>
          <p:cNvSpPr/>
          <p:nvPr/>
        </p:nvSpPr>
        <p:spPr>
          <a:xfrm>
            <a:off x="477455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video_strip__perf_b_18"/>
          <p:cNvSpPr/>
          <p:nvPr/>
        </p:nvSpPr>
        <p:spPr>
          <a:xfrm>
            <a:off x="497711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video_strip__perf_b_19"/>
          <p:cNvSpPr/>
          <p:nvPr/>
        </p:nvSpPr>
        <p:spPr>
          <a:xfrm>
            <a:off x="517967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video_strip__perf_b_20"/>
          <p:cNvSpPr/>
          <p:nvPr/>
        </p:nvSpPr>
        <p:spPr>
          <a:xfrm>
            <a:off x="538222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video_strip__perf_b_21"/>
          <p:cNvSpPr/>
          <p:nvPr/>
        </p:nvSpPr>
        <p:spPr>
          <a:xfrm>
            <a:off x="558478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video_strip__perf_b_22"/>
          <p:cNvSpPr/>
          <p:nvPr/>
        </p:nvSpPr>
        <p:spPr>
          <a:xfrm>
            <a:off x="578734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video_strip__perf_b_23"/>
          <p:cNvSpPr/>
          <p:nvPr/>
        </p:nvSpPr>
        <p:spPr>
          <a:xfrm>
            <a:off x="598989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video_strip__perf_b_24"/>
          <p:cNvSpPr/>
          <p:nvPr/>
        </p:nvSpPr>
        <p:spPr>
          <a:xfrm>
            <a:off x="619245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video_strip__perf_b_25"/>
          <p:cNvSpPr/>
          <p:nvPr/>
        </p:nvSpPr>
        <p:spPr>
          <a:xfrm>
            <a:off x="639501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video_strip__perf_b_26"/>
          <p:cNvSpPr/>
          <p:nvPr/>
        </p:nvSpPr>
        <p:spPr>
          <a:xfrm>
            <a:off x="659756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video_strip__perf_b_27"/>
          <p:cNvSpPr/>
          <p:nvPr/>
        </p:nvSpPr>
        <p:spPr>
          <a:xfrm>
            <a:off x="680012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video_strip__perf_b_28"/>
          <p:cNvSpPr/>
          <p:nvPr/>
        </p:nvSpPr>
        <p:spPr>
          <a:xfrm>
            <a:off x="700268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video_strip__perf_b_29"/>
          <p:cNvSpPr/>
          <p:nvPr/>
        </p:nvSpPr>
        <p:spPr>
          <a:xfrm>
            <a:off x="720524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video_strip__perf_b_30"/>
          <p:cNvSpPr/>
          <p:nvPr/>
        </p:nvSpPr>
        <p:spPr>
          <a:xfrm>
            <a:off x="740779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video_strip__perf_b_31"/>
          <p:cNvSpPr/>
          <p:nvPr/>
        </p:nvSpPr>
        <p:spPr>
          <a:xfrm>
            <a:off x="761035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video_strip__perf_b_32"/>
          <p:cNvSpPr/>
          <p:nvPr/>
        </p:nvSpPr>
        <p:spPr>
          <a:xfrm>
            <a:off x="781291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video_strip__perf_b_33"/>
          <p:cNvSpPr/>
          <p:nvPr/>
        </p:nvSpPr>
        <p:spPr>
          <a:xfrm>
            <a:off x="801546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video_strip__perf_b_34"/>
          <p:cNvSpPr/>
          <p:nvPr/>
        </p:nvSpPr>
        <p:spPr>
          <a:xfrm>
            <a:off x="821802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video_strip__perf_b_35"/>
          <p:cNvSpPr/>
          <p:nvPr/>
        </p:nvSpPr>
        <p:spPr>
          <a:xfrm>
            <a:off x="842058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video_strip__perf_b_36"/>
          <p:cNvSpPr/>
          <p:nvPr/>
        </p:nvSpPr>
        <p:spPr>
          <a:xfrm>
            <a:off x="862313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video_strip__perf_b_37"/>
          <p:cNvSpPr/>
          <p:nvPr/>
        </p:nvSpPr>
        <p:spPr>
          <a:xfrm>
            <a:off x="882569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video_strip__perf_b_38"/>
          <p:cNvSpPr/>
          <p:nvPr/>
        </p:nvSpPr>
        <p:spPr>
          <a:xfrm>
            <a:off x="902825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video_strip__perf_b_39"/>
          <p:cNvSpPr/>
          <p:nvPr/>
        </p:nvSpPr>
        <p:spPr>
          <a:xfrm>
            <a:off x="923081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video_strip__perf_b_40"/>
          <p:cNvSpPr/>
          <p:nvPr/>
        </p:nvSpPr>
        <p:spPr>
          <a:xfrm>
            <a:off x="943336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video_strip__perf_b_41"/>
          <p:cNvSpPr/>
          <p:nvPr/>
        </p:nvSpPr>
        <p:spPr>
          <a:xfrm>
            <a:off x="963592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video_strip__perf_b_42"/>
          <p:cNvSpPr/>
          <p:nvPr/>
        </p:nvSpPr>
        <p:spPr>
          <a:xfrm>
            <a:off x="983848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video_strip__perf_b_43"/>
          <p:cNvSpPr/>
          <p:nvPr/>
        </p:nvSpPr>
        <p:spPr>
          <a:xfrm>
            <a:off x="1004103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video_strip__perf_b_44"/>
          <p:cNvSpPr/>
          <p:nvPr/>
        </p:nvSpPr>
        <p:spPr>
          <a:xfrm>
            <a:off x="1024359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video_strip__perf_b_45"/>
          <p:cNvSpPr/>
          <p:nvPr/>
        </p:nvSpPr>
        <p:spPr>
          <a:xfrm>
            <a:off x="1044615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video_strip__perf_b_46"/>
          <p:cNvSpPr/>
          <p:nvPr/>
        </p:nvSpPr>
        <p:spPr>
          <a:xfrm>
            <a:off x="1064870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video_strip__perf_b_47"/>
          <p:cNvSpPr/>
          <p:nvPr/>
        </p:nvSpPr>
        <p:spPr>
          <a:xfrm>
            <a:off x="1085126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video_strip__perf_b_48"/>
          <p:cNvSpPr/>
          <p:nvPr/>
        </p:nvSpPr>
        <p:spPr>
          <a:xfrm>
            <a:off x="1105382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video_strip__perf_b_49"/>
          <p:cNvSpPr/>
          <p:nvPr/>
        </p:nvSpPr>
        <p:spPr>
          <a:xfrm>
            <a:off x="1125637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video_strip__perf_b_50"/>
          <p:cNvSpPr/>
          <p:nvPr/>
        </p:nvSpPr>
        <p:spPr>
          <a:xfrm>
            <a:off x="1145893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video_strip__perf_b_51"/>
          <p:cNvSpPr/>
          <p:nvPr/>
        </p:nvSpPr>
        <p:spPr>
          <a:xfrm>
            <a:off x="11661493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video_strip__perf_b_52"/>
          <p:cNvSpPr/>
          <p:nvPr/>
        </p:nvSpPr>
        <p:spPr>
          <a:xfrm>
            <a:off x="11864050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video_strip__perf_b_53"/>
          <p:cNvSpPr/>
          <p:nvPr/>
        </p:nvSpPr>
        <p:spPr>
          <a:xfrm>
            <a:off x="12066607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video_strip__perf_b_54"/>
          <p:cNvSpPr/>
          <p:nvPr/>
        </p:nvSpPr>
        <p:spPr>
          <a:xfrm>
            <a:off x="12269164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video_strip__perf_b_55"/>
          <p:cNvSpPr/>
          <p:nvPr/>
        </p:nvSpPr>
        <p:spPr>
          <a:xfrm>
            <a:off x="12471721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video_strip__perf_b_56"/>
          <p:cNvSpPr/>
          <p:nvPr/>
        </p:nvSpPr>
        <p:spPr>
          <a:xfrm>
            <a:off x="12674278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video_strip__perf_b_57"/>
          <p:cNvSpPr/>
          <p:nvPr/>
        </p:nvSpPr>
        <p:spPr>
          <a:xfrm>
            <a:off x="12876835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video_strip__perf_b_58"/>
          <p:cNvSpPr/>
          <p:nvPr/>
        </p:nvSpPr>
        <p:spPr>
          <a:xfrm>
            <a:off x="13079392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video_strip__perf_b_59"/>
          <p:cNvSpPr/>
          <p:nvPr/>
        </p:nvSpPr>
        <p:spPr>
          <a:xfrm>
            <a:off x="13281949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video_strip__perf_b_60"/>
          <p:cNvSpPr/>
          <p:nvPr/>
        </p:nvSpPr>
        <p:spPr>
          <a:xfrm>
            <a:off x="13484506" y="1548113"/>
            <a:ext cx="130215" cy="795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video_source__camera_body"/>
          <p:cNvSpPr/>
          <p:nvPr/>
        </p:nvSpPr>
        <p:spPr>
          <a:xfrm>
            <a:off x="282132" y="1092360"/>
            <a:ext cx="513626" cy="325537"/>
          </a:xfrm>
          <a:prstGeom prst="roundRect">
            <a:avLst>
              <a:gd name="adj" fmla="val 6666"/>
            </a:avLst>
          </a:prstGeom>
          <a:solidFill>
            <a:srgbClr val="AAB8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video_source__camera_screen"/>
          <p:cNvSpPr/>
          <p:nvPr/>
        </p:nvSpPr>
        <p:spPr>
          <a:xfrm>
            <a:off x="332772" y="1150234"/>
            <a:ext cx="296601" cy="180854"/>
          </a:xfrm>
          <a:prstGeom prst="rect">
            <a:avLst/>
          </a:prstGeom>
          <a:solidFill>
            <a:srgbClr val="DDEBF7"/>
          </a:solidFill>
          <a:ln w="10851">
            <a:solidFill>
              <a:srgbClr val="6472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video_source__camera_lens"/>
          <p:cNvSpPr/>
          <p:nvPr/>
        </p:nvSpPr>
        <p:spPr>
          <a:xfrm>
            <a:off x="795759" y="1085126"/>
            <a:ext cx="151914" cy="325530"/>
          </a:xfrm>
          <a:custGeom>
            <a:avLst/>
            <a:gdLst/>
            <a:ahLst/>
            <a:cxnLst/>
            <a:rect l="l" t="t" r="r" b="b"/>
            <a:pathLst>
              <a:path w="21" h="45">
                <a:moveTo>
                  <a:pt x="0" y="8"/>
                </a:moveTo>
                <a:lnTo>
                  <a:pt x="21" y="0"/>
                </a:lnTo>
                <a:lnTo>
                  <a:pt x="21" y="45"/>
                </a:lnTo>
                <a:lnTo>
                  <a:pt x="0" y="36"/>
                </a:lnTo>
                <a:close/>
              </a:path>
            </a:pathLst>
          </a:custGeom>
          <a:solidFill>
            <a:srgbClr val="5865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video_source__reel1"/>
          <p:cNvSpPr/>
          <p:nvPr/>
        </p:nvSpPr>
        <p:spPr>
          <a:xfrm>
            <a:off x="332772" y="962145"/>
            <a:ext cx="130215" cy="130215"/>
          </a:xfrm>
          <a:prstGeom prst="ellipse">
            <a:avLst/>
          </a:prstGeom>
          <a:solidFill>
            <a:srgbClr val="5865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video_source__reel2"/>
          <p:cNvSpPr/>
          <p:nvPr/>
        </p:nvSpPr>
        <p:spPr>
          <a:xfrm>
            <a:off x="441284" y="904272"/>
            <a:ext cx="188088" cy="188088"/>
          </a:xfrm>
          <a:prstGeom prst="ellipse">
            <a:avLst/>
          </a:prstGeom>
          <a:solidFill>
            <a:srgbClr val="5865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video_source__camera_dot1"/>
          <p:cNvSpPr/>
          <p:nvPr/>
        </p:nvSpPr>
        <p:spPr>
          <a:xfrm>
            <a:off x="390645" y="998316"/>
            <a:ext cx="28936" cy="289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video_source__camera_dot2"/>
          <p:cNvSpPr/>
          <p:nvPr/>
        </p:nvSpPr>
        <p:spPr>
          <a:xfrm>
            <a:off x="491924" y="962145"/>
            <a:ext cx="28936" cy="289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video_source__camera_dot3"/>
          <p:cNvSpPr/>
          <p:nvPr/>
        </p:nvSpPr>
        <p:spPr>
          <a:xfrm>
            <a:off x="557031" y="1005550"/>
            <a:ext cx="28936" cy="289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video_source__video_ellipsis"/>
          <p:cNvSpPr txBox="1"/>
          <p:nvPr/>
        </p:nvSpPr>
        <p:spPr>
          <a:xfrm>
            <a:off x="1041721" y="1135765"/>
            <a:ext cx="253196" cy="217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...</a:t>
            </a:r>
          </a:p>
        </p:txBody>
      </p:sp>
      <p:cxnSp>
        <p:nvCxnSpPr>
          <p:cNvPr id="149" name="video_flow__film_down"/>
          <p:cNvCxnSpPr/>
          <p:nvPr/>
        </p:nvCxnSpPr>
        <p:spPr>
          <a:xfrm>
            <a:off x="2546430" y="1656626"/>
            <a:ext cx="0" cy="325538"/>
          </a:xfrm>
          <a:prstGeom prst="line">
            <a:avLst/>
          </a:prstGeom>
          <a:ln w="28936">
            <a:solidFill>
              <a:srgbClr val="5B9BD5"/>
            </a:solidFill>
          </a:ln>
          <a:effectLst/>
        </p:spPr>
      </p:cxnSp>
      <p:sp>
        <p:nvSpPr>
          <p:cNvPr id="150" name="video_flow__film_down_head"/>
          <p:cNvSpPr/>
          <p:nvPr/>
        </p:nvSpPr>
        <p:spPr>
          <a:xfrm>
            <a:off x="2575367" y="1909822"/>
            <a:ext cx="144680" cy="14468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0" y="0"/>
                </a:moveTo>
                <a:lnTo>
                  <a:pt x="0" y="20"/>
                </a:lnTo>
                <a:lnTo>
                  <a:pt x="20" y="10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knowledge__knowledge_card"/>
          <p:cNvSpPr/>
          <p:nvPr/>
        </p:nvSpPr>
        <p:spPr>
          <a:xfrm>
            <a:off x="137449" y="2061740"/>
            <a:ext cx="2264297" cy="1801310"/>
          </a:xfrm>
          <a:prstGeom prst="roundRect">
            <a:avLst>
              <a:gd name="adj" fmla="val 16064"/>
            </a:avLst>
          </a:prstGeom>
          <a:pattFill prst="ltDnDiag">
            <a:fgClr>
              <a:srgbClr val="DDEBF7"/>
            </a:fgClr>
            <a:bgClr>
              <a:srgbClr val="FFFFFF"/>
            </a:bgClr>
          </a:patt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knowledge__knowledge_title"/>
          <p:cNvSpPr txBox="1"/>
          <p:nvPr/>
        </p:nvSpPr>
        <p:spPr>
          <a:xfrm>
            <a:off x="311069" y="2184721"/>
            <a:ext cx="1880886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10" b="1" i="0">
                <a:solidFill>
                  <a:srgbClr val="000000"/>
                </a:solidFill>
                <a:latin typeface="Liberation Sans"/>
              </a:defRPr>
            </a:pPr>
            <a:r>
              <a:t>Anomaly Knowledge</a:t>
            </a:r>
          </a:p>
        </p:txBody>
      </p:sp>
      <p:sp>
        <p:nvSpPr>
          <p:cNvPr id="153" name="knowledge_icons__know_icon_0_back"/>
          <p:cNvSpPr/>
          <p:nvPr/>
        </p:nvSpPr>
        <p:spPr>
          <a:xfrm>
            <a:off x="340006" y="2546430"/>
            <a:ext cx="180854" cy="245962"/>
          </a:xfrm>
          <a:prstGeom prst="rect">
            <a:avLst/>
          </a:prstGeom>
          <a:solidFill>
            <a:srgbClr val="F7FCFF"/>
          </a:solidFill>
          <a:ln w="10851">
            <a:solidFill>
              <a:srgbClr val="356F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knowledge_icons__know_icon_0_line1"/>
          <p:cNvCxnSpPr/>
          <p:nvPr/>
        </p:nvCxnSpPr>
        <p:spPr>
          <a:xfrm>
            <a:off x="368943" y="2589835"/>
            <a:ext cx="122981" cy="0"/>
          </a:xfrm>
          <a:prstGeom prst="line">
            <a:avLst/>
          </a:prstGeom>
          <a:ln w="10851">
            <a:solidFill>
              <a:srgbClr val="FF0000"/>
            </a:solidFill>
          </a:ln>
          <a:effectLst/>
        </p:spPr>
      </p:cxnSp>
      <p:sp>
        <p:nvSpPr>
          <p:cNvPr id="155" name="knowledge_icons__know_icon_0_paper"/>
          <p:cNvSpPr/>
          <p:nvPr/>
        </p:nvSpPr>
        <p:spPr>
          <a:xfrm>
            <a:off x="455753" y="2654943"/>
            <a:ext cx="122981" cy="173620"/>
          </a:xfrm>
          <a:prstGeom prst="rect">
            <a:avLst/>
          </a:prstGeom>
          <a:solidFill>
            <a:srgbClr val="FFF9D7"/>
          </a:solidFill>
          <a:ln w="8681">
            <a:solidFill>
              <a:srgbClr val="5F62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knowledge__knowledge_label_0"/>
          <p:cNvSpPr txBox="1"/>
          <p:nvPr/>
        </p:nvSpPr>
        <p:spPr>
          <a:xfrm>
            <a:off x="687246" y="2575367"/>
            <a:ext cx="1591518" cy="26043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0" i="0">
                <a:solidFill>
                  <a:srgbClr val="000000"/>
                </a:solidFill>
                <a:latin typeface="Liberation Sans"/>
              </a:defRPr>
            </a:pPr>
            <a:r>
              <a:t>Event Type</a:t>
            </a:r>
          </a:p>
        </p:txBody>
      </p:sp>
      <p:sp>
        <p:nvSpPr>
          <p:cNvPr id="157" name="knowledge_icons__know_icon_1_back"/>
          <p:cNvSpPr/>
          <p:nvPr/>
        </p:nvSpPr>
        <p:spPr>
          <a:xfrm>
            <a:off x="340006" y="2973246"/>
            <a:ext cx="180854" cy="245962"/>
          </a:xfrm>
          <a:prstGeom prst="rect">
            <a:avLst/>
          </a:prstGeom>
          <a:solidFill>
            <a:srgbClr val="F7FCFF"/>
          </a:solidFill>
          <a:ln w="10851">
            <a:solidFill>
              <a:srgbClr val="356F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knowledge_icons__know_icon_1_front"/>
          <p:cNvSpPr/>
          <p:nvPr/>
        </p:nvSpPr>
        <p:spPr>
          <a:xfrm>
            <a:off x="397879" y="3016651"/>
            <a:ext cx="209791" cy="231493"/>
          </a:xfrm>
          <a:prstGeom prst="rect">
            <a:avLst/>
          </a:prstGeom>
          <a:solidFill>
            <a:srgbClr val="8BC28D"/>
          </a:solidFill>
          <a:ln w="10851">
            <a:solidFill>
              <a:srgbClr val="386D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knowledge_icons__know_icon_1_rule0"/>
          <p:cNvCxnSpPr/>
          <p:nvPr/>
        </p:nvCxnSpPr>
        <p:spPr>
          <a:xfrm>
            <a:off x="434050" y="3067291"/>
            <a:ext cx="137450" cy="0"/>
          </a:xfrm>
          <a:prstGeom prst="line">
            <a:avLst/>
          </a:prstGeom>
          <a:ln w="7234">
            <a:solidFill>
              <a:srgbClr val="4D6A6A"/>
            </a:solidFill>
          </a:ln>
          <a:effectLst/>
        </p:spPr>
      </p:cxnSp>
      <p:cxnSp>
        <p:nvCxnSpPr>
          <p:cNvPr id="160" name="knowledge_icons__know_icon_1_rule1"/>
          <p:cNvCxnSpPr/>
          <p:nvPr/>
        </p:nvCxnSpPr>
        <p:spPr>
          <a:xfrm>
            <a:off x="434050" y="3117930"/>
            <a:ext cx="137450" cy="0"/>
          </a:xfrm>
          <a:prstGeom prst="line">
            <a:avLst/>
          </a:prstGeom>
          <a:ln w="7234">
            <a:solidFill>
              <a:srgbClr val="4D6A6A"/>
            </a:solidFill>
          </a:ln>
          <a:effectLst/>
        </p:spPr>
      </p:cxnSp>
      <p:cxnSp>
        <p:nvCxnSpPr>
          <p:cNvPr id="161" name="knowledge_icons__know_icon_1_rule2"/>
          <p:cNvCxnSpPr/>
          <p:nvPr/>
        </p:nvCxnSpPr>
        <p:spPr>
          <a:xfrm>
            <a:off x="434050" y="3168569"/>
            <a:ext cx="137450" cy="0"/>
          </a:xfrm>
          <a:prstGeom prst="line">
            <a:avLst/>
          </a:prstGeom>
          <a:ln w="7234">
            <a:solidFill>
              <a:srgbClr val="4D6A6A"/>
            </a:solidFill>
          </a:ln>
          <a:effectLst/>
        </p:spPr>
      </p:cxnSp>
      <p:sp>
        <p:nvSpPr>
          <p:cNvPr id="162" name="knowledge__knowledge_label_1"/>
          <p:cNvSpPr txBox="1"/>
          <p:nvPr/>
        </p:nvSpPr>
        <p:spPr>
          <a:xfrm>
            <a:off x="687246" y="3002183"/>
            <a:ext cx="1591518" cy="26043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0" i="0">
                <a:solidFill>
                  <a:srgbClr val="000000"/>
                </a:solidFill>
                <a:latin typeface="Liberation Sans"/>
              </a:defRPr>
            </a:pPr>
            <a:r>
              <a:t>Anomaly Rules</a:t>
            </a:r>
          </a:p>
        </p:txBody>
      </p:sp>
      <p:sp>
        <p:nvSpPr>
          <p:cNvPr id="163" name="knowledge_icons__know_icon_2_back"/>
          <p:cNvSpPr/>
          <p:nvPr/>
        </p:nvSpPr>
        <p:spPr>
          <a:xfrm>
            <a:off x="340006" y="3392829"/>
            <a:ext cx="180854" cy="245962"/>
          </a:xfrm>
          <a:prstGeom prst="rect">
            <a:avLst/>
          </a:prstGeom>
          <a:solidFill>
            <a:srgbClr val="F7FCFF"/>
          </a:solidFill>
          <a:ln w="10851">
            <a:solidFill>
              <a:srgbClr val="356F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knowledge_icons__know_icon_2_tower1"/>
          <p:cNvSpPr/>
          <p:nvPr/>
        </p:nvSpPr>
        <p:spPr>
          <a:xfrm>
            <a:off x="354474" y="3450702"/>
            <a:ext cx="137449" cy="260430"/>
          </a:xfrm>
          <a:prstGeom prst="rect">
            <a:avLst/>
          </a:prstGeom>
          <a:solidFill>
            <a:srgbClr val="F5C827"/>
          </a:solidFill>
          <a:ln w="10851">
            <a:solidFill>
              <a:srgbClr val="2020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knowledge_icons__know_icon_2_tower2"/>
          <p:cNvSpPr/>
          <p:nvPr/>
        </p:nvSpPr>
        <p:spPr>
          <a:xfrm>
            <a:off x="470221" y="3523044"/>
            <a:ext cx="144683" cy="195322"/>
          </a:xfrm>
          <a:prstGeom prst="rect">
            <a:avLst/>
          </a:prstGeom>
          <a:solidFill>
            <a:srgbClr val="2B8FCB"/>
          </a:solidFill>
          <a:ln w="10851">
            <a:solidFill>
              <a:srgbClr val="2020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knowledge__knowledge_label_2"/>
          <p:cNvSpPr txBox="1"/>
          <p:nvPr/>
        </p:nvSpPr>
        <p:spPr>
          <a:xfrm>
            <a:off x="687246" y="3421765"/>
            <a:ext cx="1591518" cy="26043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0" i="0">
                <a:solidFill>
                  <a:srgbClr val="000000"/>
                </a:solidFill>
                <a:latin typeface="Liberation Sans"/>
              </a:defRPr>
            </a:pPr>
            <a:r>
              <a:t>Applicable Scenes</a:t>
            </a:r>
          </a:p>
        </p:txBody>
      </p:sp>
      <p:sp>
        <p:nvSpPr>
          <p:cNvPr id="167" name="toolkit__toolkit_card"/>
          <p:cNvSpPr/>
          <p:nvPr/>
        </p:nvSpPr>
        <p:spPr>
          <a:xfrm>
            <a:off x="130215" y="4239227"/>
            <a:ext cx="2351107" cy="4904772"/>
          </a:xfrm>
          <a:prstGeom prst="roundRect">
            <a:avLst>
              <a:gd name="adj" fmla="val 13230"/>
            </a:avLst>
          </a:prstGeom>
          <a:pattFill prst="ltDnDiag">
            <a:fgClr>
              <a:srgbClr val="DDEBF7"/>
            </a:fgClr>
            <a:bgClr>
              <a:srgbClr val="FFFFFF"/>
            </a:bgClr>
          </a:patt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oolkit__toolkit_title"/>
          <p:cNvSpPr txBox="1"/>
          <p:nvPr/>
        </p:nvSpPr>
        <p:spPr>
          <a:xfrm>
            <a:off x="607670" y="4398379"/>
            <a:ext cx="1374493" cy="26043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67" b="1" i="0">
                <a:solidFill>
                  <a:srgbClr val="000000"/>
                </a:solidFill>
                <a:latin typeface="Liberation Sans"/>
              </a:defRPr>
            </a:pPr>
            <a:r>
              <a:t>Toolkit</a:t>
            </a:r>
          </a:p>
        </p:txBody>
      </p:sp>
      <p:sp>
        <p:nvSpPr>
          <p:cNvPr id="169" name="left_toolkit_icons__tool_0_base"/>
          <p:cNvSpPr/>
          <p:nvPr/>
        </p:nvSpPr>
        <p:spPr>
          <a:xfrm>
            <a:off x="245962" y="4789025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left_toolkit_icons__tool_0_mount"/>
          <p:cNvSpPr/>
          <p:nvPr/>
        </p:nvSpPr>
        <p:spPr>
          <a:xfrm>
            <a:off x="274898" y="4854132"/>
            <a:ext cx="253190" cy="130212"/>
          </a:xfrm>
          <a:custGeom>
            <a:avLst/>
            <a:gdLst/>
            <a:ahLst/>
            <a:cxnLst/>
            <a:rect l="l" t="t" r="r" b="b"/>
            <a:pathLst>
              <a:path w="35" h="18">
                <a:moveTo>
                  <a:pt x="0" y="18"/>
                </a:moveTo>
                <a:lnTo>
                  <a:pt x="11" y="5"/>
                </a:lnTo>
                <a:lnTo>
                  <a:pt x="19" y="12"/>
                </a:lnTo>
                <a:lnTo>
                  <a:pt x="28" y="0"/>
                </a:lnTo>
                <a:lnTo>
                  <a:pt x="35" y="18"/>
                </a:lnTo>
                <a:close/>
              </a:path>
            </a:pathLst>
          </a:custGeom>
          <a:solidFill>
            <a:srgbClr val="2B9C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left_toolkit_icons__tool_0_sun"/>
          <p:cNvSpPr/>
          <p:nvPr/>
        </p:nvSpPr>
        <p:spPr>
          <a:xfrm>
            <a:off x="459370" y="4814344"/>
            <a:ext cx="50639" cy="50639"/>
          </a:xfrm>
          <a:prstGeom prst="ellipse">
            <a:avLst/>
          </a:prstGeom>
          <a:solidFill>
            <a:srgbClr val="EBCB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oolkit__tool_label_0"/>
          <p:cNvSpPr txBox="1"/>
          <p:nvPr/>
        </p:nvSpPr>
        <p:spPr>
          <a:xfrm>
            <a:off x="636607" y="4796259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Image Denoise</a:t>
            </a:r>
          </a:p>
        </p:txBody>
      </p:sp>
      <p:sp>
        <p:nvSpPr>
          <p:cNvPr id="173" name="left_toolkit_icons__tool_1_base"/>
          <p:cNvSpPr/>
          <p:nvPr/>
        </p:nvSpPr>
        <p:spPr>
          <a:xfrm>
            <a:off x="245962" y="5259246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left_toolkit_icons__tool_1_mount"/>
          <p:cNvSpPr/>
          <p:nvPr/>
        </p:nvSpPr>
        <p:spPr>
          <a:xfrm>
            <a:off x="274898" y="5324354"/>
            <a:ext cx="253190" cy="130212"/>
          </a:xfrm>
          <a:custGeom>
            <a:avLst/>
            <a:gdLst/>
            <a:ahLst/>
            <a:cxnLst/>
            <a:rect l="l" t="t" r="r" b="b"/>
            <a:pathLst>
              <a:path w="35" h="18">
                <a:moveTo>
                  <a:pt x="0" y="18"/>
                </a:moveTo>
                <a:lnTo>
                  <a:pt x="11" y="5"/>
                </a:lnTo>
                <a:lnTo>
                  <a:pt x="19" y="12"/>
                </a:lnTo>
                <a:lnTo>
                  <a:pt x="28" y="0"/>
                </a:lnTo>
                <a:lnTo>
                  <a:pt x="35" y="18"/>
                </a:lnTo>
                <a:close/>
              </a:path>
            </a:pathLst>
          </a:custGeom>
          <a:solidFill>
            <a:srgbClr val="2B9C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left_toolkit_icons__tool_1_sun"/>
          <p:cNvSpPr/>
          <p:nvPr/>
        </p:nvSpPr>
        <p:spPr>
          <a:xfrm>
            <a:off x="459370" y="5284566"/>
            <a:ext cx="50639" cy="50639"/>
          </a:xfrm>
          <a:prstGeom prst="ellipse">
            <a:avLst/>
          </a:prstGeom>
          <a:solidFill>
            <a:srgbClr val="EBCB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oolkit__tool_label_1"/>
          <p:cNvSpPr txBox="1"/>
          <p:nvPr/>
        </p:nvSpPr>
        <p:spPr>
          <a:xfrm>
            <a:off x="636607" y="5266481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Brightness Enhance</a:t>
            </a:r>
          </a:p>
        </p:txBody>
      </p:sp>
      <p:sp>
        <p:nvSpPr>
          <p:cNvPr id="177" name="left_toolkit_icons__tool_2_base"/>
          <p:cNvSpPr/>
          <p:nvPr/>
        </p:nvSpPr>
        <p:spPr>
          <a:xfrm>
            <a:off x="245962" y="5736702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left_toolkit_icons__tool_2_small1"/>
          <p:cNvSpPr/>
          <p:nvPr/>
        </p:nvSpPr>
        <p:spPr>
          <a:xfrm>
            <a:off x="217025" y="5765639"/>
            <a:ext cx="173620" cy="130215"/>
          </a:xfrm>
          <a:prstGeom prst="rect">
            <a:avLst/>
          </a:prstGeom>
          <a:solidFill>
            <a:srgbClr val="FFFFFF"/>
          </a:solidFill>
          <a:ln w="10127">
            <a:solidFill>
              <a:srgbClr val="5B6A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left_toolkit_icons__tool_2_small2"/>
          <p:cNvSpPr/>
          <p:nvPr/>
        </p:nvSpPr>
        <p:spPr>
          <a:xfrm>
            <a:off x="318303" y="5823512"/>
            <a:ext cx="173620" cy="130215"/>
          </a:xfrm>
          <a:prstGeom prst="rect">
            <a:avLst/>
          </a:prstGeom>
          <a:solidFill>
            <a:srgbClr val="FFFFFF"/>
          </a:solidFill>
          <a:ln w="10127">
            <a:solidFill>
              <a:srgbClr val="5B6A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left_toolkit_icons__tool_2_small3"/>
          <p:cNvSpPr/>
          <p:nvPr/>
        </p:nvSpPr>
        <p:spPr>
          <a:xfrm>
            <a:off x="405113" y="5772873"/>
            <a:ext cx="173620" cy="130215"/>
          </a:xfrm>
          <a:prstGeom prst="rect">
            <a:avLst/>
          </a:prstGeom>
          <a:solidFill>
            <a:srgbClr val="FFFFFF"/>
          </a:solidFill>
          <a:ln w="10127">
            <a:solidFill>
              <a:srgbClr val="5B6A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oolkit__tool_label_2"/>
          <p:cNvSpPr txBox="1"/>
          <p:nvPr/>
        </p:nvSpPr>
        <p:spPr>
          <a:xfrm>
            <a:off x="636607" y="5743936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Image Super-resolution</a:t>
            </a:r>
          </a:p>
        </p:txBody>
      </p:sp>
      <p:sp>
        <p:nvSpPr>
          <p:cNvPr id="182" name="left_toolkit_icons__tool_3_base"/>
          <p:cNvSpPr/>
          <p:nvPr/>
        </p:nvSpPr>
        <p:spPr>
          <a:xfrm>
            <a:off x="245962" y="6214158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left_toolkit_icons__tool_3_car"/>
          <p:cNvSpPr/>
          <p:nvPr/>
        </p:nvSpPr>
        <p:spPr>
          <a:xfrm>
            <a:off x="274898" y="6315436"/>
            <a:ext cx="245956" cy="72340"/>
          </a:xfrm>
          <a:custGeom>
            <a:avLst/>
            <a:gdLst/>
            <a:ahLst/>
            <a:cxnLst/>
            <a:rect l="l" t="t" r="r" b="b"/>
            <a:pathLst>
              <a:path w="34" h="10">
                <a:moveTo>
                  <a:pt x="0" y="10"/>
                </a:moveTo>
                <a:lnTo>
                  <a:pt x="6" y="0"/>
                </a:lnTo>
                <a:lnTo>
                  <a:pt x="26" y="0"/>
                </a:lnTo>
                <a:lnTo>
                  <a:pt x="34" y="10"/>
                </a:lnTo>
                <a:close/>
              </a:path>
            </a:pathLst>
          </a:custGeom>
          <a:solidFill>
            <a:srgbClr val="2394C7"/>
          </a:solidFill>
          <a:ln w="7234">
            <a:solidFill>
              <a:srgbClr val="246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left_toolkit_icons__tool_3_wheel1"/>
          <p:cNvSpPr/>
          <p:nvPr/>
        </p:nvSpPr>
        <p:spPr>
          <a:xfrm>
            <a:off x="311069" y="6387778"/>
            <a:ext cx="57873" cy="57873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left_toolkit_icons__tool_3_wheel2"/>
          <p:cNvSpPr/>
          <p:nvPr/>
        </p:nvSpPr>
        <p:spPr>
          <a:xfrm>
            <a:off x="441284" y="6387778"/>
            <a:ext cx="57873" cy="57873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left_toolkit_icons__tool_3_box"/>
          <p:cNvSpPr/>
          <p:nvPr/>
        </p:nvSpPr>
        <p:spPr>
          <a:xfrm>
            <a:off x="419582" y="6264797"/>
            <a:ext cx="108512" cy="130215"/>
          </a:xfrm>
          <a:prstGeom prst="rect">
            <a:avLst/>
          </a:prstGeom>
          <a:noFill/>
          <a:ln w="14468">
            <a:solidFill>
              <a:srgbClr val="FF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oolkit__tool_label_3"/>
          <p:cNvSpPr txBox="1"/>
          <p:nvPr/>
        </p:nvSpPr>
        <p:spPr>
          <a:xfrm>
            <a:off x="636607" y="6221392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Object Detection</a:t>
            </a:r>
          </a:p>
        </p:txBody>
      </p:sp>
      <p:sp>
        <p:nvSpPr>
          <p:cNvPr id="188" name="left_toolkit_icons__tool_4_base"/>
          <p:cNvSpPr/>
          <p:nvPr/>
        </p:nvSpPr>
        <p:spPr>
          <a:xfrm>
            <a:off x="245962" y="6691613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left_toolkit_icons__tool_4_lens"/>
          <p:cNvSpPr/>
          <p:nvPr/>
        </p:nvSpPr>
        <p:spPr>
          <a:xfrm>
            <a:off x="311069" y="6727784"/>
            <a:ext cx="159151" cy="159151"/>
          </a:xfrm>
          <a:prstGeom prst="ellipse">
            <a:avLst/>
          </a:prstGeom>
          <a:solidFill>
            <a:srgbClr val="F6C3ED"/>
          </a:solidFill>
          <a:ln w="14468">
            <a:solidFill>
              <a:srgbClr val="8D4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left_toolkit_icons__tool_4_handle"/>
          <p:cNvCxnSpPr/>
          <p:nvPr/>
        </p:nvCxnSpPr>
        <p:spPr>
          <a:xfrm>
            <a:off x="448518" y="6865234"/>
            <a:ext cx="72342" cy="57873"/>
          </a:xfrm>
          <a:prstGeom prst="line">
            <a:avLst/>
          </a:prstGeom>
          <a:ln w="21702">
            <a:solidFill>
              <a:srgbClr val="8D4EB2"/>
            </a:solidFill>
          </a:ln>
          <a:effectLst/>
        </p:spPr>
      </p:cxnSp>
      <p:sp>
        <p:nvSpPr>
          <p:cNvPr id="191" name="toolkit__tool_label_4"/>
          <p:cNvSpPr txBox="1"/>
          <p:nvPr/>
        </p:nvSpPr>
        <p:spPr>
          <a:xfrm>
            <a:off x="636607" y="6698848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Image Retrieve</a:t>
            </a:r>
          </a:p>
        </p:txBody>
      </p:sp>
      <p:sp>
        <p:nvSpPr>
          <p:cNvPr id="192" name="left_toolkit_icons__tool_5_base"/>
          <p:cNvSpPr/>
          <p:nvPr/>
        </p:nvSpPr>
        <p:spPr>
          <a:xfrm>
            <a:off x="245962" y="7161835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left_toolkit_icons__tool_5_mount"/>
          <p:cNvSpPr/>
          <p:nvPr/>
        </p:nvSpPr>
        <p:spPr>
          <a:xfrm>
            <a:off x="274898" y="7226943"/>
            <a:ext cx="253190" cy="130212"/>
          </a:xfrm>
          <a:custGeom>
            <a:avLst/>
            <a:gdLst/>
            <a:ahLst/>
            <a:cxnLst/>
            <a:rect l="l" t="t" r="r" b="b"/>
            <a:pathLst>
              <a:path w="35" h="18">
                <a:moveTo>
                  <a:pt x="0" y="18"/>
                </a:moveTo>
                <a:lnTo>
                  <a:pt x="11" y="5"/>
                </a:lnTo>
                <a:lnTo>
                  <a:pt x="19" y="12"/>
                </a:lnTo>
                <a:lnTo>
                  <a:pt x="28" y="0"/>
                </a:lnTo>
                <a:lnTo>
                  <a:pt x="35" y="18"/>
                </a:lnTo>
                <a:close/>
              </a:path>
            </a:pathLst>
          </a:custGeom>
          <a:solidFill>
            <a:srgbClr val="2B9C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left_toolkit_icons__tool_5_sun"/>
          <p:cNvSpPr/>
          <p:nvPr/>
        </p:nvSpPr>
        <p:spPr>
          <a:xfrm>
            <a:off x="459370" y="7187155"/>
            <a:ext cx="50639" cy="50639"/>
          </a:xfrm>
          <a:prstGeom prst="ellipse">
            <a:avLst/>
          </a:prstGeom>
          <a:solidFill>
            <a:srgbClr val="EBCB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oolkit__tool_label_5"/>
          <p:cNvSpPr txBox="1"/>
          <p:nvPr/>
        </p:nvSpPr>
        <p:spPr>
          <a:xfrm>
            <a:off x="636607" y="7169069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Image Deblur</a:t>
            </a:r>
          </a:p>
        </p:txBody>
      </p:sp>
      <p:sp>
        <p:nvSpPr>
          <p:cNvPr id="196" name="left_toolkit_icons__tool_6_base"/>
          <p:cNvSpPr/>
          <p:nvPr/>
        </p:nvSpPr>
        <p:spPr>
          <a:xfrm>
            <a:off x="245962" y="7639291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left_toolkit_icons__tool_6_mount"/>
          <p:cNvSpPr/>
          <p:nvPr/>
        </p:nvSpPr>
        <p:spPr>
          <a:xfrm>
            <a:off x="274898" y="7704398"/>
            <a:ext cx="253190" cy="130212"/>
          </a:xfrm>
          <a:custGeom>
            <a:avLst/>
            <a:gdLst/>
            <a:ahLst/>
            <a:cxnLst/>
            <a:rect l="l" t="t" r="r" b="b"/>
            <a:pathLst>
              <a:path w="35" h="18">
                <a:moveTo>
                  <a:pt x="0" y="18"/>
                </a:moveTo>
                <a:lnTo>
                  <a:pt x="11" y="5"/>
                </a:lnTo>
                <a:lnTo>
                  <a:pt x="19" y="12"/>
                </a:lnTo>
                <a:lnTo>
                  <a:pt x="28" y="0"/>
                </a:lnTo>
                <a:lnTo>
                  <a:pt x="35" y="18"/>
                </a:lnTo>
                <a:close/>
              </a:path>
            </a:pathLst>
          </a:custGeom>
          <a:solidFill>
            <a:srgbClr val="2B9C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left_toolkit_icons__tool_6_sun"/>
          <p:cNvSpPr/>
          <p:nvPr/>
        </p:nvSpPr>
        <p:spPr>
          <a:xfrm>
            <a:off x="459370" y="7664610"/>
            <a:ext cx="50639" cy="50639"/>
          </a:xfrm>
          <a:prstGeom prst="ellipse">
            <a:avLst/>
          </a:prstGeom>
          <a:solidFill>
            <a:srgbClr val="EBCB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oolkit__tool_label_6"/>
          <p:cNvSpPr txBox="1"/>
          <p:nvPr/>
        </p:nvSpPr>
        <p:spPr>
          <a:xfrm>
            <a:off x="636607" y="7646525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Image Zoom</a:t>
            </a:r>
          </a:p>
        </p:txBody>
      </p:sp>
      <p:sp>
        <p:nvSpPr>
          <p:cNvPr id="200" name="left_toolkit_icons__tool_7_base"/>
          <p:cNvSpPr/>
          <p:nvPr/>
        </p:nvSpPr>
        <p:spPr>
          <a:xfrm>
            <a:off x="245962" y="8109512"/>
            <a:ext cx="303835" cy="231493"/>
          </a:xfrm>
          <a:prstGeom prst="rect">
            <a:avLst/>
          </a:prstGeom>
          <a:solidFill>
            <a:srgbClr val="F5FBFF"/>
          </a:solidFill>
          <a:ln w="14468">
            <a:solidFill>
              <a:srgbClr val="4D7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left_toolkit_icons__tool_7_globe"/>
          <p:cNvSpPr/>
          <p:nvPr/>
        </p:nvSpPr>
        <p:spPr>
          <a:xfrm>
            <a:off x="274898" y="8123981"/>
            <a:ext cx="202556" cy="202556"/>
          </a:xfrm>
          <a:prstGeom prst="ellipse">
            <a:avLst/>
          </a:prstGeom>
          <a:noFill/>
          <a:ln w="21702">
            <a:solidFill>
              <a:srgbClr val="6060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2" name="left_toolkit_icons__tool_7_handle"/>
          <p:cNvCxnSpPr/>
          <p:nvPr/>
        </p:nvCxnSpPr>
        <p:spPr>
          <a:xfrm>
            <a:off x="448518" y="8297601"/>
            <a:ext cx="86811" cy="86810"/>
          </a:xfrm>
          <a:prstGeom prst="line">
            <a:avLst/>
          </a:prstGeom>
          <a:ln w="28936">
            <a:solidFill>
              <a:srgbClr val="16A3D4"/>
            </a:solidFill>
          </a:ln>
          <a:effectLst/>
        </p:spPr>
      </p:cxnSp>
      <p:sp>
        <p:nvSpPr>
          <p:cNvPr id="203" name="toolkit__tool_label_7"/>
          <p:cNvSpPr txBox="1"/>
          <p:nvPr/>
        </p:nvSpPr>
        <p:spPr>
          <a:xfrm>
            <a:off x="636607" y="8116746"/>
            <a:ext cx="1772373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Web Search</a:t>
            </a:r>
          </a:p>
        </p:txBody>
      </p:sp>
      <p:sp>
        <p:nvSpPr>
          <p:cNvPr id="204" name="toolkit__toolkit_more"/>
          <p:cNvSpPr txBox="1"/>
          <p:nvPr/>
        </p:nvSpPr>
        <p:spPr>
          <a:xfrm>
            <a:off x="253196" y="8666544"/>
            <a:ext cx="578734" cy="2531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0" i="0">
                <a:solidFill>
                  <a:srgbClr val="000000"/>
                </a:solidFill>
                <a:latin typeface="Liberation Sans"/>
              </a:defRPr>
            </a:pPr>
            <a:r>
              <a:t>. . .</a:t>
            </a:r>
          </a:p>
        </p:txBody>
      </p:sp>
      <p:sp>
        <p:nvSpPr>
          <p:cNvPr id="205" name="left_handoffs__handoff_0"/>
          <p:cNvSpPr/>
          <p:nvPr/>
        </p:nvSpPr>
        <p:spPr>
          <a:xfrm>
            <a:off x="2466854" y="2821329"/>
            <a:ext cx="289367" cy="217025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eft_handoffs__handoff_1"/>
          <p:cNvSpPr/>
          <p:nvPr/>
        </p:nvSpPr>
        <p:spPr>
          <a:xfrm>
            <a:off x="2466854" y="5259246"/>
            <a:ext cx="289367" cy="217025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left_handoffs__handoff_2"/>
          <p:cNvSpPr/>
          <p:nvPr/>
        </p:nvSpPr>
        <p:spPr>
          <a:xfrm>
            <a:off x="2466854" y="7849082"/>
            <a:ext cx="289367" cy="217025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left_handoffs__rag_label"/>
          <p:cNvSpPr txBox="1"/>
          <p:nvPr/>
        </p:nvSpPr>
        <p:spPr>
          <a:xfrm>
            <a:off x="2408981" y="3125164"/>
            <a:ext cx="347240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RAG</a:t>
            </a:r>
          </a:p>
        </p:txBody>
      </p:sp>
      <p:pic>
        <p:nvPicPr>
          <p:cNvPr id="209" name="agents__panda_top" descr="panda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050" y="1671094"/>
            <a:ext cx="607670" cy="658310"/>
          </a:xfrm>
          <a:prstGeom prst="rect">
            <a:avLst/>
          </a:prstGeom>
          <a:effectLst/>
        </p:spPr>
      </p:pic>
      <p:sp>
        <p:nvSpPr>
          <p:cNvPr id="210" name="stage_icons__perception_frame"/>
          <p:cNvSpPr/>
          <p:nvPr/>
        </p:nvSpPr>
        <p:spPr>
          <a:xfrm>
            <a:off x="4637107" y="1801310"/>
            <a:ext cx="347240" cy="202556"/>
          </a:xfrm>
          <a:prstGeom prst="roundRect">
            <a:avLst>
              <a:gd name="adj" fmla="val 25000"/>
            </a:avLst>
          </a:prstGeom>
          <a:solidFill>
            <a:srgbClr val="E5F4FA"/>
          </a:solidFill>
          <a:ln w="21702">
            <a:solidFill>
              <a:srgbClr val="55656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stage_icons__perception_lens1"/>
          <p:cNvSpPr/>
          <p:nvPr/>
        </p:nvSpPr>
        <p:spPr>
          <a:xfrm>
            <a:off x="4673278" y="1859183"/>
            <a:ext cx="115746" cy="79575"/>
          </a:xfrm>
          <a:prstGeom prst="roundRect">
            <a:avLst>
              <a:gd name="adj" fmla="val 18181"/>
            </a:avLst>
          </a:prstGeom>
          <a:solidFill>
            <a:srgbClr val="C6E7F4"/>
          </a:solidFill>
          <a:ln w="7234">
            <a:solidFill>
              <a:srgbClr val="5B9B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stage_icons__perception_lens2"/>
          <p:cNvSpPr/>
          <p:nvPr/>
        </p:nvSpPr>
        <p:spPr>
          <a:xfrm>
            <a:off x="4832430" y="1859183"/>
            <a:ext cx="115746" cy="79575"/>
          </a:xfrm>
          <a:prstGeom prst="roundRect">
            <a:avLst>
              <a:gd name="adj" fmla="val 18181"/>
            </a:avLst>
          </a:prstGeom>
          <a:solidFill>
            <a:srgbClr val="C6E7F4"/>
          </a:solidFill>
          <a:ln w="7234">
            <a:solidFill>
              <a:srgbClr val="5B9B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3" name="stage_icons__perception_bridge"/>
          <p:cNvCxnSpPr/>
          <p:nvPr/>
        </p:nvCxnSpPr>
        <p:spPr>
          <a:xfrm>
            <a:off x="4789025" y="1888120"/>
            <a:ext cx="43405" cy="0"/>
          </a:xfrm>
          <a:prstGeom prst="line">
            <a:avLst/>
          </a:prstGeom>
          <a:ln w="14468">
            <a:solidFill>
              <a:srgbClr val="55656F"/>
            </a:solidFill>
          </a:ln>
          <a:effectLst/>
        </p:spPr>
      </p:cxnSp>
      <p:sp>
        <p:nvSpPr>
          <p:cNvPr id="214" name="stage_labels__perception_label"/>
          <p:cNvSpPr txBox="1"/>
          <p:nvPr/>
        </p:nvSpPr>
        <p:spPr>
          <a:xfrm>
            <a:off x="4051139" y="2054506"/>
            <a:ext cx="1519177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VLM Perception</a:t>
            </a:r>
          </a:p>
        </p:txBody>
      </p:sp>
      <p:sp>
        <p:nvSpPr>
          <p:cNvPr id="215" name="stage_arrows__top_arrow"/>
          <p:cNvSpPr/>
          <p:nvPr/>
        </p:nvSpPr>
        <p:spPr>
          <a:xfrm>
            <a:off x="6300968" y="2011101"/>
            <a:ext cx="940443" cy="72341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stage_icons__planning_icon_sheet"/>
          <p:cNvSpPr/>
          <p:nvPr/>
        </p:nvSpPr>
        <p:spPr>
          <a:xfrm>
            <a:off x="8681012" y="1801310"/>
            <a:ext cx="245962" cy="28936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4468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stage_icons__planning_icon_tabs"/>
          <p:cNvSpPr/>
          <p:nvPr/>
        </p:nvSpPr>
        <p:spPr>
          <a:xfrm>
            <a:off x="8702715" y="1757905"/>
            <a:ext cx="202556" cy="65107"/>
          </a:xfrm>
          <a:prstGeom prst="roundRect">
            <a:avLst>
              <a:gd name="adj" fmla="val 22222"/>
            </a:avLst>
          </a:prstGeom>
          <a:solidFill>
            <a:srgbClr val="F2C157"/>
          </a:solidFill>
          <a:ln w="10851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stage_icons__planning_icon_pin0"/>
          <p:cNvSpPr/>
          <p:nvPr/>
        </p:nvSpPr>
        <p:spPr>
          <a:xfrm>
            <a:off x="8722970" y="1770926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stage_icons__planning_icon_pin1"/>
          <p:cNvSpPr/>
          <p:nvPr/>
        </p:nvSpPr>
        <p:spPr>
          <a:xfrm>
            <a:off x="8788078" y="1770926"/>
            <a:ext cx="31830" cy="3183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stage_icons__planning_icon_pin2"/>
          <p:cNvSpPr/>
          <p:nvPr/>
        </p:nvSpPr>
        <p:spPr>
          <a:xfrm>
            <a:off x="8853186" y="1770926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stage_icons__planning_icon_check0"/>
          <p:cNvSpPr/>
          <p:nvPr/>
        </p:nvSpPr>
        <p:spPr>
          <a:xfrm>
            <a:off x="8717183" y="1859183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stage_icons__planning_icon_line0"/>
          <p:cNvCxnSpPr/>
          <p:nvPr/>
        </p:nvCxnSpPr>
        <p:spPr>
          <a:xfrm>
            <a:off x="8782291" y="1880886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223" name="stage_icons__planning_icon_check1"/>
          <p:cNvSpPr/>
          <p:nvPr/>
        </p:nvSpPr>
        <p:spPr>
          <a:xfrm>
            <a:off x="8717183" y="1924291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stage_icons__planning_icon_line1"/>
          <p:cNvCxnSpPr/>
          <p:nvPr/>
        </p:nvCxnSpPr>
        <p:spPr>
          <a:xfrm>
            <a:off x="8782291" y="1945993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225" name="stage_icons__planning_icon_check2"/>
          <p:cNvSpPr/>
          <p:nvPr/>
        </p:nvSpPr>
        <p:spPr>
          <a:xfrm>
            <a:off x="8717183" y="1989398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6" name="stage_icons__planning_icon_line2"/>
          <p:cNvCxnSpPr/>
          <p:nvPr/>
        </p:nvCxnSpPr>
        <p:spPr>
          <a:xfrm>
            <a:off x="8782291" y="2011101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227" name="stage_labels__planning_label"/>
          <p:cNvSpPr txBox="1"/>
          <p:nvPr/>
        </p:nvSpPr>
        <p:spPr>
          <a:xfrm>
            <a:off x="8058873" y="2054506"/>
            <a:ext cx="1519177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MLLM Planning</a:t>
            </a:r>
          </a:p>
        </p:txBody>
      </p:sp>
      <p:sp>
        <p:nvSpPr>
          <p:cNvPr id="228" name="initial_cards__environment_card"/>
          <p:cNvSpPr/>
          <p:nvPr/>
        </p:nvSpPr>
        <p:spPr>
          <a:xfrm>
            <a:off x="2893670" y="2372810"/>
            <a:ext cx="4174120" cy="1396196"/>
          </a:xfrm>
          <a:prstGeom prst="roundRect">
            <a:avLst>
              <a:gd name="adj" fmla="val 14507"/>
            </a:avLst>
          </a:prstGeom>
          <a:solidFill>
            <a:srgbClr val="DCDDE1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initial_cards__environment_title"/>
          <p:cNvSpPr txBox="1"/>
          <p:nvPr/>
        </p:nvSpPr>
        <p:spPr>
          <a:xfrm>
            <a:off x="3870284" y="2408981"/>
            <a:ext cx="2242594" cy="217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1" i="0">
                <a:solidFill>
                  <a:srgbClr val="000000"/>
                </a:solidFill>
                <a:latin typeface="Liberation Sans"/>
              </a:defRPr>
            </a:pPr>
            <a:r>
              <a:t>Environmental Information</a:t>
            </a:r>
          </a:p>
        </p:txBody>
      </p:sp>
      <p:sp>
        <p:nvSpPr>
          <p:cNvPr id="230" name="initial_cards__scene_heading"/>
          <p:cNvSpPr txBox="1"/>
          <p:nvPr/>
        </p:nvSpPr>
        <p:spPr>
          <a:xfrm>
            <a:off x="3023886" y="2669411"/>
            <a:ext cx="1736202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Scene Overview</a:t>
            </a:r>
          </a:p>
        </p:txBody>
      </p:sp>
      <p:sp>
        <p:nvSpPr>
          <p:cNvPr id="231" name="initial_cards__scene_body"/>
          <p:cNvSpPr txBox="1"/>
          <p:nvPr/>
        </p:nvSpPr>
        <p:spPr>
          <a:xfrm>
            <a:off x="3023886" y="2835797"/>
            <a:ext cx="2423449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The video depicts a  store with...</a:t>
            </a:r>
          </a:p>
        </p:txBody>
      </p:sp>
      <p:sp>
        <p:nvSpPr>
          <p:cNvPr id="232" name="initial_cards__weather_heading"/>
          <p:cNvSpPr txBox="1"/>
          <p:nvPr/>
        </p:nvSpPr>
        <p:spPr>
          <a:xfrm>
            <a:off x="3023886" y="3009417"/>
            <a:ext cx="1808544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Weather Condition</a:t>
            </a:r>
          </a:p>
        </p:txBody>
      </p:sp>
      <p:sp>
        <p:nvSpPr>
          <p:cNvPr id="233" name="initial_cards__weather_body"/>
          <p:cNvSpPr txBox="1"/>
          <p:nvPr/>
        </p:nvSpPr>
        <p:spPr>
          <a:xfrm>
            <a:off x="3023886" y="3168569"/>
            <a:ext cx="2170253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Daytime, bright light</a:t>
            </a:r>
          </a:p>
        </p:txBody>
      </p:sp>
      <p:sp>
        <p:nvSpPr>
          <p:cNvPr id="234" name="initial_cards__quality_heading"/>
          <p:cNvSpPr txBox="1"/>
          <p:nvPr/>
        </p:nvSpPr>
        <p:spPr>
          <a:xfrm>
            <a:off x="3023886" y="3363892"/>
            <a:ext cx="1446835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Video Quality</a:t>
            </a:r>
          </a:p>
        </p:txBody>
      </p:sp>
      <p:sp>
        <p:nvSpPr>
          <p:cNvPr id="235" name="initial_cards__quality_body"/>
          <p:cNvSpPr txBox="1"/>
          <p:nvPr/>
        </p:nvSpPr>
        <p:spPr>
          <a:xfrm>
            <a:off x="3023886" y="3523044"/>
            <a:ext cx="3834113" cy="20979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The overall quality of the video is low and blurry.</a:t>
            </a:r>
          </a:p>
        </p:txBody>
      </p:sp>
      <p:sp>
        <p:nvSpPr>
          <p:cNvPr id="236" name="initial_cards__potential_heading"/>
          <p:cNvSpPr txBox="1"/>
          <p:nvPr/>
        </p:nvSpPr>
        <p:spPr>
          <a:xfrm>
            <a:off x="5483506" y="2669411"/>
            <a:ext cx="1483006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Potential Anomalies</a:t>
            </a:r>
          </a:p>
        </p:txBody>
      </p:sp>
      <p:sp>
        <p:nvSpPr>
          <p:cNvPr id="237" name="initial_cards__potential_body"/>
          <p:cNvSpPr txBox="1"/>
          <p:nvPr/>
        </p:nvSpPr>
        <p:spPr>
          <a:xfrm>
            <a:off x="5483506" y="2835797"/>
            <a:ext cx="1374493" cy="54256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Burglary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Shoplifting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Stealing</a:t>
            </a:r>
          </a:p>
        </p:txBody>
      </p:sp>
      <p:sp>
        <p:nvSpPr>
          <p:cNvPr id="238" name="initial_cards__planning_card"/>
          <p:cNvSpPr/>
          <p:nvPr/>
        </p:nvSpPr>
        <p:spPr>
          <a:xfrm>
            <a:off x="7263113" y="2372810"/>
            <a:ext cx="3038354" cy="1396196"/>
          </a:xfrm>
          <a:prstGeom prst="roundRect">
            <a:avLst>
              <a:gd name="adj" fmla="val 14507"/>
            </a:avLst>
          </a:prstGeom>
          <a:solidFill>
            <a:srgbClr val="F1F1F1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initial_cards__planning_title"/>
          <p:cNvSpPr txBox="1"/>
          <p:nvPr/>
        </p:nvSpPr>
        <p:spPr>
          <a:xfrm>
            <a:off x="7697164" y="2408981"/>
            <a:ext cx="2170253" cy="217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53" b="1" i="0">
                <a:solidFill>
                  <a:srgbClr val="000000"/>
                </a:solidFill>
                <a:latin typeface="Liberation Sans"/>
              </a:defRPr>
            </a:pPr>
            <a:r>
              <a:t>Detection Strategy Planning</a:t>
            </a:r>
          </a:p>
        </p:txBody>
      </p:sp>
      <p:sp>
        <p:nvSpPr>
          <p:cNvPr id="240" name="initial_cards__prep_heading"/>
          <p:cNvSpPr txBox="1"/>
          <p:nvPr/>
        </p:nvSpPr>
        <p:spPr>
          <a:xfrm>
            <a:off x="7393329" y="2669411"/>
            <a:ext cx="1446835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Preprocessing</a:t>
            </a:r>
          </a:p>
        </p:txBody>
      </p:sp>
      <p:sp>
        <p:nvSpPr>
          <p:cNvPr id="241" name="initial_cards__prep_body"/>
          <p:cNvSpPr txBox="1"/>
          <p:nvPr/>
        </p:nvSpPr>
        <p:spPr>
          <a:xfrm>
            <a:off x="7393329" y="2828563"/>
            <a:ext cx="1880886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•   Image Deblur</a:t>
            </a:r>
          </a:p>
        </p:txBody>
      </p:sp>
      <p:sp>
        <p:nvSpPr>
          <p:cNvPr id="242" name="initial_cards__rules_heading"/>
          <p:cNvSpPr txBox="1"/>
          <p:nvPr/>
        </p:nvSpPr>
        <p:spPr>
          <a:xfrm>
            <a:off x="7393329" y="3016651"/>
            <a:ext cx="1374493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Anomaly Rules</a:t>
            </a:r>
          </a:p>
        </p:txBody>
      </p:sp>
      <p:sp>
        <p:nvSpPr>
          <p:cNvPr id="243" name="initial_cards__rules_body"/>
          <p:cNvSpPr txBox="1"/>
          <p:nvPr/>
        </p:nvSpPr>
        <p:spPr>
          <a:xfrm>
            <a:off x="7393329" y="3175803"/>
            <a:ext cx="2748987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Companion distracts clerk while theft ...</a:t>
            </a:r>
          </a:p>
        </p:txBody>
      </p:sp>
      <p:sp>
        <p:nvSpPr>
          <p:cNvPr id="244" name="initial_cards__heur_heading"/>
          <p:cNvSpPr txBox="1"/>
          <p:nvPr/>
        </p:nvSpPr>
        <p:spPr>
          <a:xfrm>
            <a:off x="7393329" y="3371126"/>
            <a:ext cx="1591518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Heuristic Prompt</a:t>
            </a:r>
          </a:p>
        </p:txBody>
      </p:sp>
      <p:sp>
        <p:nvSpPr>
          <p:cNvPr id="245" name="initial_cards__heur_body"/>
          <p:cNvSpPr txBox="1"/>
          <p:nvPr/>
        </p:nvSpPr>
        <p:spPr>
          <a:xfrm>
            <a:off x="7393329" y="3530278"/>
            <a:ext cx="2734518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Observe customer interactions with ...</a:t>
            </a:r>
          </a:p>
        </p:txBody>
      </p:sp>
      <p:sp>
        <p:nvSpPr>
          <p:cNvPr id="246" name="stage_icons__vlm_top_ring"/>
          <p:cNvSpPr/>
          <p:nvPr/>
        </p:nvSpPr>
        <p:spPr>
          <a:xfrm>
            <a:off x="12160651" y="1808544"/>
            <a:ext cx="289367" cy="289367"/>
          </a:xfrm>
          <a:prstGeom prst="ellipse">
            <a:avLst/>
          </a:prstGeom>
          <a:solidFill>
            <a:srgbClr val="E6F4EF"/>
          </a:solidFill>
          <a:ln w="36170">
            <a:solidFill>
              <a:srgbClr val="43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7" name="stage_icons__vlm_top_wave1_0"/>
          <p:cNvCxnSpPr/>
          <p:nvPr/>
        </p:nvCxnSpPr>
        <p:spPr>
          <a:xfrm flipV="1">
            <a:off x="12218525" y="1931525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248" name="stage_icons__vlm_top_wave1_1"/>
          <p:cNvCxnSpPr/>
          <p:nvPr/>
        </p:nvCxnSpPr>
        <p:spPr>
          <a:xfrm>
            <a:off x="12261930" y="1931525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249" name="stage_icons__vlm_top_wave1_2"/>
          <p:cNvCxnSpPr/>
          <p:nvPr/>
        </p:nvCxnSpPr>
        <p:spPr>
          <a:xfrm flipV="1">
            <a:off x="12305335" y="1931525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250" name="stage_icons__vlm_top_wave1_3"/>
          <p:cNvCxnSpPr/>
          <p:nvPr/>
        </p:nvCxnSpPr>
        <p:spPr>
          <a:xfrm>
            <a:off x="12348740" y="1931525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251" name="stage_icons__vlm_top_wave2_0"/>
          <p:cNvCxnSpPr/>
          <p:nvPr/>
        </p:nvCxnSpPr>
        <p:spPr>
          <a:xfrm flipV="1">
            <a:off x="12232993" y="1982164"/>
            <a:ext cx="43405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252" name="stage_icons__vlm_top_wave2_1"/>
          <p:cNvCxnSpPr/>
          <p:nvPr/>
        </p:nvCxnSpPr>
        <p:spPr>
          <a:xfrm>
            <a:off x="12276398" y="1982164"/>
            <a:ext cx="50639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253" name="stage_icons__vlm_top_wave2_2"/>
          <p:cNvCxnSpPr/>
          <p:nvPr/>
        </p:nvCxnSpPr>
        <p:spPr>
          <a:xfrm flipV="1">
            <a:off x="12327037" y="1982164"/>
            <a:ext cx="50640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254" name="stage_icons__vlm_top_accent1"/>
          <p:cNvCxnSpPr/>
          <p:nvPr/>
        </p:nvCxnSpPr>
        <p:spPr>
          <a:xfrm flipV="1">
            <a:off x="12204056" y="1801310"/>
            <a:ext cx="43406" cy="28936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255" name="stage_icons__vlm_top_accent2"/>
          <p:cNvCxnSpPr/>
          <p:nvPr/>
        </p:nvCxnSpPr>
        <p:spPr>
          <a:xfrm flipH="1" flipV="1">
            <a:off x="12363208" y="1801310"/>
            <a:ext cx="43405" cy="28936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sp>
        <p:nvSpPr>
          <p:cNvPr id="256" name="reasoning_top__vlm_top_label"/>
          <p:cNvSpPr txBox="1"/>
          <p:nvPr/>
        </p:nvSpPr>
        <p:spPr>
          <a:xfrm>
            <a:off x="11531278" y="2112379"/>
            <a:ext cx="1555348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VLM Reasoning</a:t>
            </a:r>
          </a:p>
        </p:txBody>
      </p:sp>
      <p:sp>
        <p:nvSpPr>
          <p:cNvPr id="257" name="reasoning_top__result_top_header"/>
          <p:cNvSpPr/>
          <p:nvPr/>
        </p:nvSpPr>
        <p:spPr>
          <a:xfrm>
            <a:off x="10786158" y="2372810"/>
            <a:ext cx="2944310" cy="245962"/>
          </a:xfrm>
          <a:prstGeom prst="rect">
            <a:avLst/>
          </a:prstGeom>
          <a:solidFill>
            <a:srgbClr val="F1F1F1"/>
          </a:solidFill>
          <a:ln w="14468">
            <a:solidFill>
              <a:srgbClr val="B8B8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asoning_top__result_top_title"/>
          <p:cNvSpPr txBox="1"/>
          <p:nvPr/>
        </p:nvSpPr>
        <p:spPr>
          <a:xfrm>
            <a:off x="11393829" y="2408981"/>
            <a:ext cx="1736202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1" i="0">
                <a:solidFill>
                  <a:srgbClr val="000000"/>
                </a:solidFill>
                <a:latin typeface="Liberation Sans"/>
              </a:defRPr>
            </a:pPr>
            <a:r>
              <a:t>Reasoning Results</a:t>
            </a:r>
          </a:p>
        </p:txBody>
      </p:sp>
      <p:sp>
        <p:nvSpPr>
          <p:cNvPr id="259" name="reasoning_top__result_top_body"/>
          <p:cNvSpPr/>
          <p:nvPr/>
        </p:nvSpPr>
        <p:spPr>
          <a:xfrm>
            <a:off x="10786158" y="2676645"/>
            <a:ext cx="2944310" cy="1114063"/>
          </a:xfrm>
          <a:prstGeom prst="rect">
            <a:avLst/>
          </a:prstGeom>
          <a:solidFill>
            <a:srgbClr val="FAE4D6"/>
          </a:solidFill>
          <a:ln w="14468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asoning_top__result_top_status"/>
          <p:cNvSpPr txBox="1"/>
          <p:nvPr/>
        </p:nvSpPr>
        <p:spPr>
          <a:xfrm>
            <a:off x="11343189" y="2734518"/>
            <a:ext cx="1483006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C6C6C6"/>
                </a:solidFill>
                <a:latin typeface="Liberation Sans"/>
              </a:defRPr>
            </a:pPr>
            <a:r>
              <a:t>Normal / Abnormal /</a:t>
            </a:r>
          </a:p>
        </p:txBody>
      </p:sp>
      <p:sp>
        <p:nvSpPr>
          <p:cNvPr id="261" name="reasoning_top__result_top_status_label"/>
          <p:cNvSpPr txBox="1"/>
          <p:nvPr/>
        </p:nvSpPr>
        <p:spPr>
          <a:xfrm>
            <a:off x="10872968" y="2734518"/>
            <a:ext cx="462987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Status:</a:t>
            </a:r>
          </a:p>
        </p:txBody>
      </p:sp>
      <p:sp>
        <p:nvSpPr>
          <p:cNvPr id="262" name="reasoning_top__result_top_status_blue"/>
          <p:cNvSpPr txBox="1"/>
          <p:nvPr/>
        </p:nvSpPr>
        <p:spPr>
          <a:xfrm>
            <a:off x="12804493" y="2734518"/>
            <a:ext cx="882569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43A7E8"/>
                </a:solidFill>
                <a:latin typeface="Liberation Sans"/>
              </a:defRPr>
            </a:pPr>
            <a:r>
              <a:t>Insufficient</a:t>
            </a:r>
          </a:p>
        </p:txBody>
      </p:sp>
      <p:sp>
        <p:nvSpPr>
          <p:cNvPr id="263" name="reasoning_top__result_top_score"/>
          <p:cNvSpPr txBox="1"/>
          <p:nvPr/>
        </p:nvSpPr>
        <p:spPr>
          <a:xfrm>
            <a:off x="10872968" y="2908139"/>
            <a:ext cx="2170253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Score: 0.5</a:t>
            </a:r>
          </a:p>
        </p:txBody>
      </p:sp>
      <p:sp>
        <p:nvSpPr>
          <p:cNvPr id="264" name="reasoning_top__result_top_reason_label"/>
          <p:cNvSpPr txBox="1"/>
          <p:nvPr/>
        </p:nvSpPr>
        <p:spPr>
          <a:xfrm>
            <a:off x="10872968" y="3081759"/>
            <a:ext cx="564265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Reason:</a:t>
            </a:r>
          </a:p>
        </p:txBody>
      </p:sp>
      <p:sp>
        <p:nvSpPr>
          <p:cNvPr id="265" name="reasoning_top__result_top_reason"/>
          <p:cNvSpPr txBox="1"/>
          <p:nvPr/>
        </p:nvSpPr>
        <p:spPr>
          <a:xfrm>
            <a:off x="11415531" y="3081759"/>
            <a:ext cx="2206424" cy="6655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The video shows two individuals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browsing items in a store. The scene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lacks sufficient detail to confidently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classify it as normal or abnormal.</a:t>
            </a:r>
          </a:p>
        </p:txBody>
      </p:sp>
      <p:sp>
        <p:nvSpPr>
          <p:cNvPr id="266" name="row_handoffs__to_reason_top"/>
          <p:cNvSpPr/>
          <p:nvPr/>
        </p:nvSpPr>
        <p:spPr>
          <a:xfrm>
            <a:off x="10402746" y="2821329"/>
            <a:ext cx="224259" cy="2025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m_loops__short_feedback_right_0"/>
          <p:cNvCxnSpPr/>
          <p:nvPr/>
        </p:nvCxnSpPr>
        <p:spPr>
          <a:xfrm>
            <a:off x="12276398" y="3790708"/>
            <a:ext cx="0" cy="188089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268" name="com_loops__short_feedback_right_1"/>
          <p:cNvCxnSpPr/>
          <p:nvPr/>
        </p:nvCxnSpPr>
        <p:spPr>
          <a:xfrm flipH="1">
            <a:off x="10930841" y="3978797"/>
            <a:ext cx="1345557" cy="0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269" name="com_loops__short_feedback_left_0"/>
          <p:cNvCxnSpPr/>
          <p:nvPr/>
        </p:nvCxnSpPr>
        <p:spPr>
          <a:xfrm flipH="1">
            <a:off x="6669911" y="3978797"/>
            <a:ext cx="3392829" cy="0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270" name="com_loops__short_feedback_left_1"/>
          <p:cNvCxnSpPr/>
          <p:nvPr/>
        </p:nvCxnSpPr>
        <p:spPr>
          <a:xfrm>
            <a:off x="6669911" y="3978797"/>
            <a:ext cx="0" cy="122981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sp>
        <p:nvSpPr>
          <p:cNvPr id="271" name="com_loops__short_feedback_down"/>
          <p:cNvSpPr/>
          <p:nvPr/>
        </p:nvSpPr>
        <p:spPr>
          <a:xfrm>
            <a:off x="6612037" y="4072841"/>
            <a:ext cx="115744" cy="115744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0" y="0"/>
                </a:moveTo>
                <a:lnTo>
                  <a:pt x="16" y="0"/>
                </a:lnTo>
                <a:lnTo>
                  <a:pt x="8" y="16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m_loops__short_com_outer"/>
          <p:cNvSpPr/>
          <p:nvPr/>
        </p:nvSpPr>
        <p:spPr>
          <a:xfrm>
            <a:off x="9997632" y="3508575"/>
            <a:ext cx="940443" cy="940443"/>
          </a:xfrm>
          <a:prstGeom prst="ellipse">
            <a:avLst/>
          </a:prstGeom>
          <a:solidFill>
            <a:srgbClr val="FFFFFF"/>
          </a:solidFill>
          <a:ln w="7234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com_loops__short_com_head1"/>
          <p:cNvSpPr/>
          <p:nvPr/>
        </p:nvSpPr>
        <p:spPr>
          <a:xfrm>
            <a:off x="9903588" y="3674962"/>
            <a:ext cx="115744" cy="180850"/>
          </a:xfrm>
          <a:custGeom>
            <a:avLst/>
            <a:gdLst/>
            <a:ahLst/>
            <a:cxnLst/>
            <a:rect l="l" t="t" r="r" b="b"/>
            <a:pathLst>
              <a:path w="16" h="25">
                <a:moveTo>
                  <a:pt x="16" y="12"/>
                </a:moveTo>
                <a:lnTo>
                  <a:pt x="0" y="0"/>
                </a:lnTo>
                <a:lnTo>
                  <a:pt x="9" y="2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m_loops__short_com_head2"/>
          <p:cNvSpPr/>
          <p:nvPr/>
        </p:nvSpPr>
        <p:spPr>
          <a:xfrm>
            <a:off x="10909139" y="4101778"/>
            <a:ext cx="115744" cy="180850"/>
          </a:xfrm>
          <a:custGeom>
            <a:avLst/>
            <a:gdLst/>
            <a:ahLst/>
            <a:cxnLst/>
            <a:rect l="l" t="t" r="r" b="b"/>
            <a:pathLst>
              <a:path w="16" h="25">
                <a:moveTo>
                  <a:pt x="0" y="14"/>
                </a:moveTo>
                <a:lnTo>
                  <a:pt x="16" y="25"/>
                </a:lnTo>
                <a:lnTo>
                  <a:pt x="6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com_loops__short_com_brain_left"/>
          <p:cNvSpPr/>
          <p:nvPr/>
        </p:nvSpPr>
        <p:spPr>
          <a:xfrm>
            <a:off x="10337639" y="3667727"/>
            <a:ext cx="144683" cy="202556"/>
          </a:xfrm>
          <a:prstGeom prst="ellipse">
            <a:avLst/>
          </a:prstGeom>
          <a:solidFill>
            <a:srgbClr val="43C7C7"/>
          </a:solidFill>
          <a:ln w="7234">
            <a:solidFill>
              <a:srgbClr val="6D5B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m_loops__short_com_brain_right"/>
          <p:cNvSpPr/>
          <p:nvPr/>
        </p:nvSpPr>
        <p:spPr>
          <a:xfrm>
            <a:off x="10453386" y="3667727"/>
            <a:ext cx="144683" cy="202556"/>
          </a:xfrm>
          <a:prstGeom prst="ellipse">
            <a:avLst/>
          </a:prstGeom>
          <a:solidFill>
            <a:srgbClr val="FF8E9C"/>
          </a:solidFill>
          <a:ln w="7234">
            <a:solidFill>
              <a:srgbClr val="6D5B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7" name="com_loops__short_com_brain_split"/>
          <p:cNvCxnSpPr/>
          <p:nvPr/>
        </p:nvCxnSpPr>
        <p:spPr>
          <a:xfrm>
            <a:off x="10467854" y="3674962"/>
            <a:ext cx="0" cy="188088"/>
          </a:xfrm>
          <a:prstGeom prst="line">
            <a:avLst/>
          </a:prstGeom>
          <a:ln w="7234">
            <a:solidFill>
              <a:srgbClr val="6D5B75"/>
            </a:solidFill>
          </a:ln>
          <a:effectLst/>
        </p:spPr>
      </p:cxnSp>
      <p:sp>
        <p:nvSpPr>
          <p:cNvPr id="278" name="com_loops__short_com_label"/>
          <p:cNvSpPr txBox="1"/>
          <p:nvPr/>
        </p:nvSpPr>
        <p:spPr>
          <a:xfrm>
            <a:off x="10135082" y="3920924"/>
            <a:ext cx="665544" cy="4195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10" b="1" i="0">
                <a:solidFill>
                  <a:srgbClr val="000000"/>
                </a:solidFill>
                <a:latin typeface="Liberation Sans"/>
              </a:defRPr>
            </a:pPr>
            <a:r>
              <a:t>Short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10" b="1" i="0">
                <a:solidFill>
                  <a:srgbClr val="000000"/>
                </a:solidFill>
                <a:latin typeface="Liberation Sans"/>
              </a:defRPr>
            </a:pPr>
            <a:r>
              <a:t>CoM</a:t>
            </a:r>
          </a:p>
        </p:txBody>
      </p:sp>
      <p:pic>
        <p:nvPicPr>
          <p:cNvPr id="279" name="agents__panda_reflect1" descr="panda_reflec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753" y="3964329"/>
            <a:ext cx="593202" cy="694481"/>
          </a:xfrm>
          <a:prstGeom prst="rect">
            <a:avLst/>
          </a:prstGeom>
          <a:effectLst/>
        </p:spPr>
      </p:pic>
      <p:sp>
        <p:nvSpPr>
          <p:cNvPr id="280" name="thought_bubbles__thought1_cloud0"/>
          <p:cNvSpPr/>
          <p:nvPr/>
        </p:nvSpPr>
        <p:spPr>
          <a:xfrm>
            <a:off x="3371126" y="3848582"/>
            <a:ext cx="405113" cy="245962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thought_bubbles__thought1_cloud1"/>
          <p:cNvSpPr/>
          <p:nvPr/>
        </p:nvSpPr>
        <p:spPr>
          <a:xfrm>
            <a:off x="3588151" y="3769006"/>
            <a:ext cx="448518" cy="289367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hought_bubbles__thought1_cloud2"/>
          <p:cNvSpPr/>
          <p:nvPr/>
        </p:nvSpPr>
        <p:spPr>
          <a:xfrm>
            <a:off x="3826879" y="3783474"/>
            <a:ext cx="506392" cy="318303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hought_bubbles__thought1_cloud3"/>
          <p:cNvSpPr/>
          <p:nvPr/>
        </p:nvSpPr>
        <p:spPr>
          <a:xfrm>
            <a:off x="4087310" y="3863050"/>
            <a:ext cx="419582" cy="260430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hought_bubbles__thought1_dot1"/>
          <p:cNvSpPr/>
          <p:nvPr/>
        </p:nvSpPr>
        <p:spPr>
          <a:xfrm>
            <a:off x="3298784" y="4087310"/>
            <a:ext cx="72341" cy="72341"/>
          </a:xfrm>
          <a:prstGeom prst="ellipse">
            <a:avLst/>
          </a:prstGeom>
          <a:solidFill>
            <a:srgbClr val="FFFFFF"/>
          </a:solidFill>
          <a:ln w="10127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thought_bubbles__thought1_dot2"/>
          <p:cNvSpPr/>
          <p:nvPr/>
        </p:nvSpPr>
        <p:spPr>
          <a:xfrm>
            <a:off x="3211974" y="4166886"/>
            <a:ext cx="43405" cy="43405"/>
          </a:xfrm>
          <a:prstGeom prst="ellipse">
            <a:avLst/>
          </a:prstGeom>
          <a:solidFill>
            <a:srgbClr val="FFFFFF"/>
          </a:solidFill>
          <a:ln w="868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hought_bubbles__thought1_text"/>
          <p:cNvSpPr txBox="1"/>
          <p:nvPr/>
        </p:nvSpPr>
        <p:spPr>
          <a:xfrm>
            <a:off x="3486873" y="3826879"/>
            <a:ext cx="853632" cy="31106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11" b="1" i="0">
                <a:solidFill>
                  <a:srgbClr val="000000"/>
                </a:solidFill>
                <a:latin typeface="Liberation Sans"/>
              </a:defRPr>
            </a:pPr>
            <a:r>
              <a:t>Recalling past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11" b="1" i="0">
                <a:solidFill>
                  <a:srgbClr val="000000"/>
                </a:solidFill>
                <a:latin typeface="Liberation Sans"/>
              </a:defRPr>
            </a:pPr>
            <a:r>
              <a:t>experience ...</a:t>
            </a:r>
          </a:p>
        </p:txBody>
      </p:sp>
      <p:sp>
        <p:nvSpPr>
          <p:cNvPr id="287" name="stage_icons__reflect1_q"/>
          <p:cNvSpPr/>
          <p:nvPr/>
        </p:nvSpPr>
        <p:spPr>
          <a:xfrm>
            <a:off x="3935392" y="4275398"/>
            <a:ext cx="260430" cy="217025"/>
          </a:xfrm>
          <a:prstGeom prst="ellipse">
            <a:avLst/>
          </a:prstGeom>
          <a:solidFill>
            <a:srgbClr val="21B3E8"/>
          </a:solidFill>
          <a:ln w="10851">
            <a:solidFill>
              <a:srgbClr val="2175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stage_icons__reflect1_qtail"/>
          <p:cNvSpPr/>
          <p:nvPr/>
        </p:nvSpPr>
        <p:spPr>
          <a:xfrm>
            <a:off x="4080075" y="4463487"/>
            <a:ext cx="94042" cy="50638"/>
          </a:xfrm>
          <a:custGeom>
            <a:avLst/>
            <a:gdLst/>
            <a:ahLst/>
            <a:cxnLst/>
            <a:rect l="l" t="t" r="r" b="b"/>
            <a:pathLst>
              <a:path w="13" h="7">
                <a:moveTo>
                  <a:pt x="6" y="0"/>
                </a:moveTo>
                <a:lnTo>
                  <a:pt x="13" y="7"/>
                </a:lnTo>
                <a:lnTo>
                  <a:pt x="0" y="2"/>
                </a:lnTo>
                <a:close/>
              </a:path>
            </a:pathLst>
          </a:custGeom>
          <a:solidFill>
            <a:srgbClr val="21B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stage_icons__reflect1_qmark"/>
          <p:cNvSpPr txBox="1"/>
          <p:nvPr/>
        </p:nvSpPr>
        <p:spPr>
          <a:xfrm>
            <a:off x="4000500" y="4297101"/>
            <a:ext cx="130215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1" i="0">
                <a:solidFill>
                  <a:srgbClr val="000000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90" name="stage_icons__reflect1_a"/>
          <p:cNvSpPr/>
          <p:nvPr/>
        </p:nvSpPr>
        <p:spPr>
          <a:xfrm>
            <a:off x="4094544" y="4354974"/>
            <a:ext cx="202556" cy="188088"/>
          </a:xfrm>
          <a:prstGeom prst="ellipse">
            <a:avLst/>
          </a:prstGeom>
          <a:solidFill>
            <a:srgbClr val="FFF8D4"/>
          </a:solidFill>
          <a:ln w="9404">
            <a:solidFill>
              <a:srgbClr val="7A7A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stage_icons__reflect1_amark"/>
          <p:cNvSpPr txBox="1"/>
          <p:nvPr/>
        </p:nvSpPr>
        <p:spPr>
          <a:xfrm>
            <a:off x="4130715" y="4369443"/>
            <a:ext cx="130215" cy="1591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968" b="0" i="0">
                <a:solidFill>
                  <a:srgbClr val="000000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92" name="stage_labels__reflect1_label"/>
          <p:cNvSpPr txBox="1"/>
          <p:nvPr/>
        </p:nvSpPr>
        <p:spPr>
          <a:xfrm>
            <a:off x="3414531" y="4579234"/>
            <a:ext cx="1519177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MLLM Reflection</a:t>
            </a:r>
          </a:p>
        </p:txBody>
      </p:sp>
      <p:sp>
        <p:nvSpPr>
          <p:cNvPr id="293" name="stage_arrows__reflect1_arrow"/>
          <p:cNvSpPr/>
          <p:nvPr/>
        </p:nvSpPr>
        <p:spPr>
          <a:xfrm>
            <a:off x="4825196" y="4420082"/>
            <a:ext cx="752354" cy="72341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4" name="stage_icons__tools1_blue"/>
          <p:cNvCxnSpPr/>
          <p:nvPr/>
        </p:nvCxnSpPr>
        <p:spPr>
          <a:xfrm flipV="1">
            <a:off x="6380544" y="4326037"/>
            <a:ext cx="231493" cy="253197"/>
          </a:xfrm>
          <a:prstGeom prst="line">
            <a:avLst/>
          </a:prstGeom>
          <a:ln w="50639">
            <a:solidFill>
              <a:srgbClr val="2F80C9"/>
            </a:solidFill>
          </a:ln>
          <a:effectLst/>
        </p:spPr>
      </p:cxnSp>
      <p:sp>
        <p:nvSpPr>
          <p:cNvPr id="295" name="stage_icons__tools1_bluecap"/>
          <p:cNvSpPr/>
          <p:nvPr/>
        </p:nvSpPr>
        <p:spPr>
          <a:xfrm>
            <a:off x="6344373" y="4543063"/>
            <a:ext cx="72341" cy="72341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6" name="stage_icons__tools1_orange"/>
          <p:cNvCxnSpPr/>
          <p:nvPr/>
        </p:nvCxnSpPr>
        <p:spPr>
          <a:xfrm>
            <a:off x="6395012" y="4326037"/>
            <a:ext cx="231494" cy="253197"/>
          </a:xfrm>
          <a:prstGeom prst="line">
            <a:avLst/>
          </a:prstGeom>
          <a:ln w="50639">
            <a:solidFill>
              <a:srgbClr val="F2B735"/>
            </a:solidFill>
          </a:ln>
          <a:effectLst/>
        </p:spPr>
      </p:cxnSp>
      <p:sp>
        <p:nvSpPr>
          <p:cNvPr id="297" name="stage_icons__tools1_blade"/>
          <p:cNvSpPr/>
          <p:nvPr/>
        </p:nvSpPr>
        <p:spPr>
          <a:xfrm>
            <a:off x="6358841" y="4289867"/>
            <a:ext cx="72340" cy="94042"/>
          </a:xfrm>
          <a:custGeom>
            <a:avLst/>
            <a:gdLst/>
            <a:ahLst/>
            <a:cxnLst/>
            <a:rect l="l" t="t" r="r" b="b"/>
            <a:pathLst>
              <a:path w="10" h="13">
                <a:moveTo>
                  <a:pt x="0" y="0"/>
                </a:moveTo>
                <a:lnTo>
                  <a:pt x="10" y="6"/>
                </a:lnTo>
                <a:lnTo>
                  <a:pt x="4" y="13"/>
                </a:lnTo>
                <a:close/>
              </a:path>
            </a:pathLst>
          </a:custGeom>
          <a:solidFill>
            <a:srgbClr val="E7EEF2"/>
          </a:solidFill>
          <a:ln w="7234">
            <a:solidFill>
              <a:srgbClr val="6579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stage_labels__tools1_label"/>
          <p:cNvSpPr txBox="1"/>
          <p:nvPr/>
        </p:nvSpPr>
        <p:spPr>
          <a:xfrm>
            <a:off x="5895854" y="4579234"/>
            <a:ext cx="1229810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Tool Invoke</a:t>
            </a:r>
          </a:p>
        </p:txBody>
      </p:sp>
      <p:sp>
        <p:nvSpPr>
          <p:cNvPr id="299" name="stage_arrows__tools1_arrow"/>
          <p:cNvSpPr/>
          <p:nvPr/>
        </p:nvSpPr>
        <p:spPr>
          <a:xfrm>
            <a:off x="7523544" y="4420082"/>
            <a:ext cx="752354" cy="72341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stage_icons__replan1_icon_sheet"/>
          <p:cNvSpPr/>
          <p:nvPr/>
        </p:nvSpPr>
        <p:spPr>
          <a:xfrm>
            <a:off x="9049955" y="4318803"/>
            <a:ext cx="245962" cy="28936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4468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stage_icons__replan1_icon_tabs"/>
          <p:cNvSpPr/>
          <p:nvPr/>
        </p:nvSpPr>
        <p:spPr>
          <a:xfrm>
            <a:off x="9071658" y="4275398"/>
            <a:ext cx="202556" cy="65107"/>
          </a:xfrm>
          <a:prstGeom prst="roundRect">
            <a:avLst>
              <a:gd name="adj" fmla="val 22222"/>
            </a:avLst>
          </a:prstGeom>
          <a:solidFill>
            <a:srgbClr val="F2C157"/>
          </a:solidFill>
          <a:ln w="10851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stage_icons__replan1_icon_pin0"/>
          <p:cNvSpPr/>
          <p:nvPr/>
        </p:nvSpPr>
        <p:spPr>
          <a:xfrm>
            <a:off x="9091913" y="4288420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stage_icons__replan1_icon_pin1"/>
          <p:cNvSpPr/>
          <p:nvPr/>
        </p:nvSpPr>
        <p:spPr>
          <a:xfrm>
            <a:off x="9157021" y="4288420"/>
            <a:ext cx="31830" cy="3183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stage_icons__replan1_icon_pin2"/>
          <p:cNvSpPr/>
          <p:nvPr/>
        </p:nvSpPr>
        <p:spPr>
          <a:xfrm>
            <a:off x="9222129" y="4288420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stage_icons__replan1_icon_check0"/>
          <p:cNvSpPr/>
          <p:nvPr/>
        </p:nvSpPr>
        <p:spPr>
          <a:xfrm>
            <a:off x="9086126" y="4376677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stage_icons__replan1_icon_line0"/>
          <p:cNvCxnSpPr/>
          <p:nvPr/>
        </p:nvCxnSpPr>
        <p:spPr>
          <a:xfrm>
            <a:off x="9151234" y="4398379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307" name="stage_icons__replan1_icon_check1"/>
          <p:cNvSpPr/>
          <p:nvPr/>
        </p:nvSpPr>
        <p:spPr>
          <a:xfrm>
            <a:off x="9086126" y="4441784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stage_icons__replan1_icon_line1"/>
          <p:cNvCxnSpPr/>
          <p:nvPr/>
        </p:nvCxnSpPr>
        <p:spPr>
          <a:xfrm>
            <a:off x="9151234" y="4463487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309" name="stage_icons__replan1_icon_check2"/>
          <p:cNvSpPr/>
          <p:nvPr/>
        </p:nvSpPr>
        <p:spPr>
          <a:xfrm>
            <a:off x="9086126" y="4506892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0" name="stage_icons__replan1_icon_line2"/>
          <p:cNvCxnSpPr/>
          <p:nvPr/>
        </p:nvCxnSpPr>
        <p:spPr>
          <a:xfrm>
            <a:off x="9151234" y="4528594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311" name="stage_labels__replan1_label"/>
          <p:cNvSpPr txBox="1"/>
          <p:nvPr/>
        </p:nvSpPr>
        <p:spPr>
          <a:xfrm>
            <a:off x="8427816" y="4579234"/>
            <a:ext cx="1519177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MLLM Replanning</a:t>
            </a:r>
          </a:p>
        </p:txBody>
      </p:sp>
      <p:sp>
        <p:nvSpPr>
          <p:cNvPr id="312" name="round_labels__round1"/>
          <p:cNvSpPr/>
          <p:nvPr/>
        </p:nvSpPr>
        <p:spPr>
          <a:xfrm>
            <a:off x="5628189" y="4109012"/>
            <a:ext cx="2054506" cy="195322"/>
          </a:xfrm>
          <a:prstGeom prst="rect">
            <a:avLst/>
          </a:prstGeom>
          <a:solidFill>
            <a:srgbClr val="F3924C"/>
          </a:solidFill>
          <a:ln w="7234">
            <a:solidFill>
              <a:srgbClr val="D876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ound_labels__round1_text"/>
          <p:cNvSpPr txBox="1"/>
          <p:nvPr/>
        </p:nvSpPr>
        <p:spPr>
          <a:xfrm>
            <a:off x="5751170" y="4123481"/>
            <a:ext cx="1808544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erif"/>
              </a:defRPr>
            </a:pPr>
            <a:r>
              <a:t>First round of reflection</a:t>
            </a:r>
          </a:p>
        </p:txBody>
      </p:sp>
      <p:sp>
        <p:nvSpPr>
          <p:cNvPr id="314" name="reflection1_cards__self1"/>
          <p:cNvSpPr/>
          <p:nvPr/>
        </p:nvSpPr>
        <p:spPr>
          <a:xfrm>
            <a:off x="2893670" y="4781791"/>
            <a:ext cx="2343873" cy="1605987"/>
          </a:xfrm>
          <a:prstGeom prst="roundRect">
            <a:avLst>
              <a:gd name="adj" fmla="val 13513"/>
            </a:avLst>
          </a:prstGeom>
          <a:solidFill>
            <a:srgbClr val="FFF1CC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flection1_cards__self1_title"/>
          <p:cNvSpPr txBox="1"/>
          <p:nvPr/>
        </p:nvSpPr>
        <p:spPr>
          <a:xfrm>
            <a:off x="3392829" y="4839664"/>
            <a:ext cx="1374493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1" i="0">
                <a:solidFill>
                  <a:srgbClr val="000000"/>
                </a:solidFill>
                <a:latin typeface="Liberation Sans"/>
              </a:defRPr>
            </a:pPr>
            <a:r>
              <a:t>Self-Reflection</a:t>
            </a:r>
          </a:p>
        </p:txBody>
      </p:sp>
      <p:sp>
        <p:nvSpPr>
          <p:cNvPr id="316" name="reflection1_cards__self1_reason_heading"/>
          <p:cNvSpPr txBox="1"/>
          <p:nvPr/>
        </p:nvSpPr>
        <p:spPr>
          <a:xfrm>
            <a:off x="2973246" y="5100094"/>
            <a:ext cx="1591518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Reason Analysis</a:t>
            </a:r>
          </a:p>
        </p:txBody>
      </p:sp>
      <p:sp>
        <p:nvSpPr>
          <p:cNvPr id="317" name="reflection1_cards__self1_reason"/>
          <p:cNvSpPr txBox="1"/>
          <p:nvPr/>
        </p:nvSpPr>
        <p:spPr>
          <a:xfrm>
            <a:off x="2973246" y="5273715"/>
            <a:ext cx="2155784" cy="5208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Need for further enhancement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of image details and semantic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information.</a:t>
            </a:r>
          </a:p>
        </p:txBody>
      </p:sp>
      <p:sp>
        <p:nvSpPr>
          <p:cNvPr id="318" name="reflection1_cards__self1_tools_heading"/>
          <p:cNvSpPr txBox="1"/>
          <p:nvPr/>
        </p:nvSpPr>
        <p:spPr>
          <a:xfrm>
            <a:off x="2973246" y="5852449"/>
            <a:ext cx="1374493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Tools to use</a:t>
            </a:r>
          </a:p>
        </p:txBody>
      </p:sp>
      <p:sp>
        <p:nvSpPr>
          <p:cNvPr id="319" name="reflection1_cards__self1_tools"/>
          <p:cNvSpPr txBox="1"/>
          <p:nvPr/>
        </p:nvSpPr>
        <p:spPr>
          <a:xfrm>
            <a:off x="2973246" y="6026069"/>
            <a:ext cx="2170253" cy="3327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Image Super-resolution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Object Detection</a:t>
            </a:r>
          </a:p>
        </p:txBody>
      </p:sp>
      <p:sp>
        <p:nvSpPr>
          <p:cNvPr id="320" name="reflection1_cards__invoke1"/>
          <p:cNvSpPr/>
          <p:nvPr/>
        </p:nvSpPr>
        <p:spPr>
          <a:xfrm>
            <a:off x="5309886" y="4781791"/>
            <a:ext cx="2814094" cy="1605987"/>
          </a:xfrm>
          <a:prstGeom prst="roundRect">
            <a:avLst>
              <a:gd name="adj" fmla="val 13513"/>
            </a:avLst>
          </a:prstGeom>
          <a:solidFill>
            <a:srgbClr val="FFEDED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flection1_cards__invoke1_tint"/>
          <p:cNvSpPr/>
          <p:nvPr/>
        </p:nvSpPr>
        <p:spPr>
          <a:xfrm>
            <a:off x="6727784" y="4810727"/>
            <a:ext cx="1367259" cy="1548113"/>
          </a:xfrm>
          <a:prstGeom prst="roundRect">
            <a:avLst>
              <a:gd name="adj" fmla="val 13227"/>
            </a:avLst>
          </a:prstGeom>
          <a:solidFill>
            <a:srgbClr val="D7E9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2" name="reflection1_images__sr_before" descr="frame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6696" y="5121797"/>
            <a:ext cx="520860" cy="311069"/>
          </a:xfrm>
          <a:prstGeom prst="rect">
            <a:avLst/>
          </a:prstGeom>
          <a:effectLst/>
        </p:spPr>
      </p:pic>
      <p:sp>
        <p:nvSpPr>
          <p:cNvPr id="323" name="reflection1_cards__sr_label"/>
          <p:cNvSpPr txBox="1"/>
          <p:nvPr/>
        </p:nvSpPr>
        <p:spPr>
          <a:xfrm>
            <a:off x="5924791" y="5143500"/>
            <a:ext cx="1490240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Image Super-resolution</a:t>
            </a:r>
          </a:p>
        </p:txBody>
      </p:sp>
      <p:sp>
        <p:nvSpPr>
          <p:cNvPr id="324" name="reflection1_cards__sr_arrow"/>
          <p:cNvSpPr/>
          <p:nvPr/>
        </p:nvSpPr>
        <p:spPr>
          <a:xfrm>
            <a:off x="6134582" y="5367759"/>
            <a:ext cx="933208" cy="50639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5" name="reflection1_images__sr_after" descr="frame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2905" y="5121797"/>
            <a:ext cx="549797" cy="311069"/>
          </a:xfrm>
          <a:prstGeom prst="rect">
            <a:avLst/>
          </a:prstGeom>
          <a:effectLst/>
        </p:spPr>
      </p:pic>
      <p:pic>
        <p:nvPicPr>
          <p:cNvPr id="326" name="reflection1_images__od_before" descr="frame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3930" y="5837981"/>
            <a:ext cx="520860" cy="289367"/>
          </a:xfrm>
          <a:prstGeom prst="rect">
            <a:avLst/>
          </a:prstGeom>
          <a:effectLst/>
        </p:spPr>
      </p:pic>
      <p:sp>
        <p:nvSpPr>
          <p:cNvPr id="327" name="reflection1_cards__od_label"/>
          <p:cNvSpPr txBox="1"/>
          <p:nvPr/>
        </p:nvSpPr>
        <p:spPr>
          <a:xfrm>
            <a:off x="6055006" y="5794575"/>
            <a:ext cx="1323854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Object Detection</a:t>
            </a:r>
          </a:p>
        </p:txBody>
      </p:sp>
      <p:sp>
        <p:nvSpPr>
          <p:cNvPr id="328" name="reflection1_cards__od_arrow"/>
          <p:cNvSpPr/>
          <p:nvPr/>
        </p:nvSpPr>
        <p:spPr>
          <a:xfrm>
            <a:off x="6141816" y="6026069"/>
            <a:ext cx="933208" cy="50639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9" name="reflection1_images__od_after" descr="frame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2905" y="5837981"/>
            <a:ext cx="549797" cy="289367"/>
          </a:xfrm>
          <a:prstGeom prst="rect">
            <a:avLst/>
          </a:prstGeom>
          <a:effectLst/>
        </p:spPr>
      </p:pic>
      <p:sp>
        <p:nvSpPr>
          <p:cNvPr id="330" name="reflection1_cards__od_bbox"/>
          <p:cNvSpPr/>
          <p:nvPr/>
        </p:nvSpPr>
        <p:spPr>
          <a:xfrm>
            <a:off x="7668227" y="5859683"/>
            <a:ext cx="159151" cy="238727"/>
          </a:xfrm>
          <a:prstGeom prst="rect">
            <a:avLst/>
          </a:prstGeom>
          <a:noFill/>
          <a:ln w="14468">
            <a:solidFill>
              <a:srgbClr val="FF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flection1_cards__update1"/>
          <p:cNvSpPr/>
          <p:nvPr/>
        </p:nvSpPr>
        <p:spPr>
          <a:xfrm>
            <a:off x="8174620" y="4781791"/>
            <a:ext cx="2126848" cy="1605987"/>
          </a:xfrm>
          <a:prstGeom prst="roundRect">
            <a:avLst>
              <a:gd name="adj" fmla="val 13513"/>
            </a:avLst>
          </a:prstGeom>
          <a:solidFill>
            <a:srgbClr val="D7E9B7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flection1_cards__update1_title"/>
          <p:cNvSpPr txBox="1"/>
          <p:nvPr/>
        </p:nvSpPr>
        <p:spPr>
          <a:xfrm>
            <a:off x="8218025" y="4839664"/>
            <a:ext cx="2040037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1" i="0">
                <a:solidFill>
                  <a:srgbClr val="000000"/>
                </a:solidFill>
                <a:latin typeface="Liberation Sans"/>
              </a:defRPr>
            </a:pPr>
            <a:r>
              <a:t>Detection Strategy Update</a:t>
            </a:r>
          </a:p>
        </p:txBody>
      </p:sp>
      <p:sp>
        <p:nvSpPr>
          <p:cNvPr id="333" name="reflection1_cards__update1_rules_h"/>
          <p:cNvSpPr txBox="1"/>
          <p:nvPr/>
        </p:nvSpPr>
        <p:spPr>
          <a:xfrm>
            <a:off x="8261430" y="5100094"/>
            <a:ext cx="1808544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New Anomaly Rules</a:t>
            </a:r>
          </a:p>
        </p:txBody>
      </p:sp>
      <p:sp>
        <p:nvSpPr>
          <p:cNvPr id="334" name="reflection1_cards__update1_rules"/>
          <p:cNvSpPr txBox="1"/>
          <p:nvPr/>
        </p:nvSpPr>
        <p:spPr>
          <a:xfrm>
            <a:off x="8261430" y="5266481"/>
            <a:ext cx="1924291" cy="4123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Customers repeatedly pick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up items and look around...</a:t>
            </a:r>
          </a:p>
        </p:txBody>
      </p:sp>
      <p:sp>
        <p:nvSpPr>
          <p:cNvPr id="335" name="reflection1_cards__update1_prompt_h"/>
          <p:cNvSpPr txBox="1"/>
          <p:nvPr/>
        </p:nvSpPr>
        <p:spPr>
          <a:xfrm>
            <a:off x="8261430" y="5707765"/>
            <a:ext cx="1808544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New Heuristic Prompt</a:t>
            </a:r>
          </a:p>
        </p:txBody>
      </p:sp>
      <p:sp>
        <p:nvSpPr>
          <p:cNvPr id="336" name="reflection1_cards__update1_prompt"/>
          <p:cNvSpPr txBox="1"/>
          <p:nvPr/>
        </p:nvSpPr>
        <p:spPr>
          <a:xfrm>
            <a:off x="8261430" y="5874151"/>
            <a:ext cx="1924291" cy="44851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Focusing on customer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behavior in the store...</a:t>
            </a:r>
          </a:p>
        </p:txBody>
      </p:sp>
      <p:sp>
        <p:nvSpPr>
          <p:cNvPr id="337" name="row_handoffs__to_reason_mid"/>
          <p:cNvSpPr/>
          <p:nvPr/>
        </p:nvSpPr>
        <p:spPr>
          <a:xfrm>
            <a:off x="10402746" y="5273715"/>
            <a:ext cx="224259" cy="2025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stage_icons__vlm_mid_ring"/>
          <p:cNvSpPr/>
          <p:nvPr/>
        </p:nvSpPr>
        <p:spPr>
          <a:xfrm>
            <a:off x="12160651" y="4203056"/>
            <a:ext cx="289367" cy="289367"/>
          </a:xfrm>
          <a:prstGeom prst="ellipse">
            <a:avLst/>
          </a:prstGeom>
          <a:solidFill>
            <a:srgbClr val="E6F4EF"/>
          </a:solidFill>
          <a:ln w="36170">
            <a:solidFill>
              <a:srgbClr val="43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9" name="stage_icons__vlm_mid_wave1_0"/>
          <p:cNvCxnSpPr/>
          <p:nvPr/>
        </p:nvCxnSpPr>
        <p:spPr>
          <a:xfrm flipV="1">
            <a:off x="12218525" y="4326037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340" name="stage_icons__vlm_mid_wave1_1"/>
          <p:cNvCxnSpPr/>
          <p:nvPr/>
        </p:nvCxnSpPr>
        <p:spPr>
          <a:xfrm>
            <a:off x="12261930" y="4326037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341" name="stage_icons__vlm_mid_wave1_2"/>
          <p:cNvCxnSpPr/>
          <p:nvPr/>
        </p:nvCxnSpPr>
        <p:spPr>
          <a:xfrm flipV="1">
            <a:off x="12305335" y="4326037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342" name="stage_icons__vlm_mid_wave1_3"/>
          <p:cNvCxnSpPr/>
          <p:nvPr/>
        </p:nvCxnSpPr>
        <p:spPr>
          <a:xfrm>
            <a:off x="12348740" y="4326037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343" name="stage_icons__vlm_mid_wave2_0"/>
          <p:cNvCxnSpPr/>
          <p:nvPr/>
        </p:nvCxnSpPr>
        <p:spPr>
          <a:xfrm flipV="1">
            <a:off x="12232993" y="4376677"/>
            <a:ext cx="43405" cy="28936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344" name="stage_icons__vlm_mid_wave2_1"/>
          <p:cNvCxnSpPr/>
          <p:nvPr/>
        </p:nvCxnSpPr>
        <p:spPr>
          <a:xfrm>
            <a:off x="12276398" y="4376677"/>
            <a:ext cx="50639" cy="28936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345" name="stage_icons__vlm_mid_wave2_2"/>
          <p:cNvCxnSpPr/>
          <p:nvPr/>
        </p:nvCxnSpPr>
        <p:spPr>
          <a:xfrm flipV="1">
            <a:off x="12327037" y="4376677"/>
            <a:ext cx="50640" cy="28936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346" name="stage_icons__vlm_mid_accent1"/>
          <p:cNvCxnSpPr/>
          <p:nvPr/>
        </p:nvCxnSpPr>
        <p:spPr>
          <a:xfrm flipV="1">
            <a:off x="12204056" y="4195822"/>
            <a:ext cx="43406" cy="28937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347" name="stage_icons__vlm_mid_accent2"/>
          <p:cNvCxnSpPr/>
          <p:nvPr/>
        </p:nvCxnSpPr>
        <p:spPr>
          <a:xfrm flipH="1" flipV="1">
            <a:off x="12363208" y="4195822"/>
            <a:ext cx="43405" cy="28937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sp>
        <p:nvSpPr>
          <p:cNvPr id="348" name="reasoning_mid__vlm_mid_label"/>
          <p:cNvSpPr txBox="1"/>
          <p:nvPr/>
        </p:nvSpPr>
        <p:spPr>
          <a:xfrm>
            <a:off x="11531278" y="4514126"/>
            <a:ext cx="1555348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VLM Reasoning</a:t>
            </a:r>
          </a:p>
        </p:txBody>
      </p:sp>
      <p:sp>
        <p:nvSpPr>
          <p:cNvPr id="349" name="reasoning_mid__result_mid_header"/>
          <p:cNvSpPr/>
          <p:nvPr/>
        </p:nvSpPr>
        <p:spPr>
          <a:xfrm>
            <a:off x="10786158" y="4789025"/>
            <a:ext cx="2944310" cy="253196"/>
          </a:xfrm>
          <a:prstGeom prst="rect">
            <a:avLst/>
          </a:prstGeom>
          <a:solidFill>
            <a:srgbClr val="F1F1F1"/>
          </a:solidFill>
          <a:ln w="14468">
            <a:solidFill>
              <a:srgbClr val="B8B8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asoning_mid__result_mid_title"/>
          <p:cNvSpPr txBox="1"/>
          <p:nvPr/>
        </p:nvSpPr>
        <p:spPr>
          <a:xfrm>
            <a:off x="11307018" y="4832430"/>
            <a:ext cx="1917056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67" b="1" i="0">
                <a:solidFill>
                  <a:srgbClr val="000000"/>
                </a:solidFill>
                <a:latin typeface="Liberation Sans"/>
              </a:defRPr>
            </a:pPr>
            <a:r>
              <a:t>Refined Reasoning Results</a:t>
            </a:r>
          </a:p>
        </p:txBody>
      </p:sp>
      <p:sp>
        <p:nvSpPr>
          <p:cNvPr id="351" name="reasoning_mid__result_mid_body"/>
          <p:cNvSpPr/>
          <p:nvPr/>
        </p:nvSpPr>
        <p:spPr>
          <a:xfrm>
            <a:off x="10786158" y="5092860"/>
            <a:ext cx="2944310" cy="1135765"/>
          </a:xfrm>
          <a:prstGeom prst="rect">
            <a:avLst/>
          </a:prstGeom>
          <a:solidFill>
            <a:srgbClr val="FAE4D6"/>
          </a:solidFill>
          <a:ln w="14468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asoning_mid__result_mid_status"/>
          <p:cNvSpPr txBox="1"/>
          <p:nvPr/>
        </p:nvSpPr>
        <p:spPr>
          <a:xfrm>
            <a:off x="11343189" y="5150734"/>
            <a:ext cx="1483006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C6C6C6"/>
                </a:solidFill>
                <a:latin typeface="Liberation Sans"/>
              </a:defRPr>
            </a:pPr>
            <a:r>
              <a:t>Normal / Abnormal /</a:t>
            </a:r>
          </a:p>
        </p:txBody>
      </p:sp>
      <p:sp>
        <p:nvSpPr>
          <p:cNvPr id="353" name="reasoning_mid__result_mid_status_label"/>
          <p:cNvSpPr txBox="1"/>
          <p:nvPr/>
        </p:nvSpPr>
        <p:spPr>
          <a:xfrm>
            <a:off x="10872968" y="5150734"/>
            <a:ext cx="462987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Status:</a:t>
            </a:r>
          </a:p>
        </p:txBody>
      </p:sp>
      <p:sp>
        <p:nvSpPr>
          <p:cNvPr id="354" name="reasoning_mid__result_mid_status_blue"/>
          <p:cNvSpPr txBox="1"/>
          <p:nvPr/>
        </p:nvSpPr>
        <p:spPr>
          <a:xfrm>
            <a:off x="12804493" y="5150734"/>
            <a:ext cx="882569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43A7E8"/>
                </a:solidFill>
                <a:latin typeface="Liberation Sans"/>
              </a:defRPr>
            </a:pPr>
            <a:r>
              <a:t>Insufficient</a:t>
            </a:r>
          </a:p>
        </p:txBody>
      </p:sp>
      <p:sp>
        <p:nvSpPr>
          <p:cNvPr id="355" name="reasoning_mid__result_mid_score"/>
          <p:cNvSpPr txBox="1"/>
          <p:nvPr/>
        </p:nvSpPr>
        <p:spPr>
          <a:xfrm>
            <a:off x="10872968" y="5331588"/>
            <a:ext cx="2170253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Score: 0.6</a:t>
            </a:r>
          </a:p>
        </p:txBody>
      </p:sp>
      <p:sp>
        <p:nvSpPr>
          <p:cNvPr id="356" name="reasoning_mid__result_mid_reason_label"/>
          <p:cNvSpPr txBox="1"/>
          <p:nvPr/>
        </p:nvSpPr>
        <p:spPr>
          <a:xfrm>
            <a:off x="10872968" y="5512443"/>
            <a:ext cx="564265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Reason:</a:t>
            </a:r>
          </a:p>
        </p:txBody>
      </p:sp>
      <p:sp>
        <p:nvSpPr>
          <p:cNvPr id="357" name="reasoning_mid__result_mid_reason"/>
          <p:cNvSpPr txBox="1"/>
          <p:nvPr/>
        </p:nvSpPr>
        <p:spPr>
          <a:xfrm>
            <a:off x="11415531" y="5512443"/>
            <a:ext cx="2206424" cy="6800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The woman is browsing the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items with suspicious behavior, but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based on the current clip it is not clear if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43A7E8"/>
                </a:solidFill>
                <a:latin typeface="Liberation Sans"/>
              </a:defRPr>
            </a:pPr>
            <a:r>
              <a:t>there is a shoplifting anomaly.</a:t>
            </a:r>
          </a:p>
        </p:txBody>
      </p:sp>
      <p:cxnSp>
        <p:nvCxnSpPr>
          <p:cNvPr id="358" name="com_loops__long_feedback_right_0"/>
          <p:cNvCxnSpPr/>
          <p:nvPr/>
        </p:nvCxnSpPr>
        <p:spPr>
          <a:xfrm>
            <a:off x="12276398" y="6228626"/>
            <a:ext cx="0" cy="354475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359" name="com_loops__long_feedback_right_1"/>
          <p:cNvCxnSpPr/>
          <p:nvPr/>
        </p:nvCxnSpPr>
        <p:spPr>
          <a:xfrm flipH="1">
            <a:off x="10938075" y="6583101"/>
            <a:ext cx="1338323" cy="0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360" name="com_loops__long_feedback_left_0"/>
          <p:cNvCxnSpPr/>
          <p:nvPr/>
        </p:nvCxnSpPr>
        <p:spPr>
          <a:xfrm flipH="1">
            <a:off x="6669911" y="6583101"/>
            <a:ext cx="3392829" cy="0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361" name="com_loops__long_feedback_left_1"/>
          <p:cNvCxnSpPr/>
          <p:nvPr/>
        </p:nvCxnSpPr>
        <p:spPr>
          <a:xfrm>
            <a:off x="6669911" y="6583101"/>
            <a:ext cx="0" cy="122981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sp>
        <p:nvSpPr>
          <p:cNvPr id="362" name="com_loops__long_feedback_down"/>
          <p:cNvSpPr/>
          <p:nvPr/>
        </p:nvSpPr>
        <p:spPr>
          <a:xfrm>
            <a:off x="6612037" y="6677145"/>
            <a:ext cx="115744" cy="115744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0" y="0"/>
                </a:moveTo>
                <a:lnTo>
                  <a:pt x="16" y="0"/>
                </a:lnTo>
                <a:lnTo>
                  <a:pt x="8" y="16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com_loops__long_com_outer"/>
          <p:cNvSpPr/>
          <p:nvPr/>
        </p:nvSpPr>
        <p:spPr>
          <a:xfrm>
            <a:off x="9997632" y="6112879"/>
            <a:ext cx="940443" cy="940443"/>
          </a:xfrm>
          <a:prstGeom prst="ellipse">
            <a:avLst/>
          </a:prstGeom>
          <a:solidFill>
            <a:srgbClr val="FFFFFF"/>
          </a:solidFill>
          <a:ln w="7234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com_loops__long_com_head1"/>
          <p:cNvSpPr/>
          <p:nvPr/>
        </p:nvSpPr>
        <p:spPr>
          <a:xfrm>
            <a:off x="9903588" y="6279265"/>
            <a:ext cx="115744" cy="180850"/>
          </a:xfrm>
          <a:custGeom>
            <a:avLst/>
            <a:gdLst/>
            <a:ahLst/>
            <a:cxnLst/>
            <a:rect l="l" t="t" r="r" b="b"/>
            <a:pathLst>
              <a:path w="16" h="25">
                <a:moveTo>
                  <a:pt x="16" y="12"/>
                </a:moveTo>
                <a:lnTo>
                  <a:pt x="0" y="0"/>
                </a:lnTo>
                <a:lnTo>
                  <a:pt x="9" y="2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com_loops__long_com_head2"/>
          <p:cNvSpPr/>
          <p:nvPr/>
        </p:nvSpPr>
        <p:spPr>
          <a:xfrm>
            <a:off x="10909139" y="6706082"/>
            <a:ext cx="115744" cy="180850"/>
          </a:xfrm>
          <a:custGeom>
            <a:avLst/>
            <a:gdLst/>
            <a:ahLst/>
            <a:cxnLst/>
            <a:rect l="l" t="t" r="r" b="b"/>
            <a:pathLst>
              <a:path w="16" h="25">
                <a:moveTo>
                  <a:pt x="0" y="14"/>
                </a:moveTo>
                <a:lnTo>
                  <a:pt x="16" y="25"/>
                </a:lnTo>
                <a:lnTo>
                  <a:pt x="6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com_loops__long_com_brain_left"/>
          <p:cNvSpPr/>
          <p:nvPr/>
        </p:nvSpPr>
        <p:spPr>
          <a:xfrm>
            <a:off x="10337639" y="6272031"/>
            <a:ext cx="144683" cy="202556"/>
          </a:xfrm>
          <a:prstGeom prst="ellipse">
            <a:avLst/>
          </a:prstGeom>
          <a:solidFill>
            <a:srgbClr val="F6D34C"/>
          </a:solidFill>
          <a:ln w="7234">
            <a:solidFill>
              <a:srgbClr val="6D5B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com_loops__long_com_brain_right"/>
          <p:cNvSpPr/>
          <p:nvPr/>
        </p:nvSpPr>
        <p:spPr>
          <a:xfrm>
            <a:off x="10453386" y="6272031"/>
            <a:ext cx="144683" cy="202556"/>
          </a:xfrm>
          <a:prstGeom prst="ellipse">
            <a:avLst/>
          </a:prstGeom>
          <a:solidFill>
            <a:srgbClr val="FF8E9C"/>
          </a:solidFill>
          <a:ln w="7234">
            <a:solidFill>
              <a:srgbClr val="6D5B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m_loops__long_com_brain_split"/>
          <p:cNvCxnSpPr/>
          <p:nvPr/>
        </p:nvCxnSpPr>
        <p:spPr>
          <a:xfrm>
            <a:off x="10467854" y="6279265"/>
            <a:ext cx="0" cy="188089"/>
          </a:xfrm>
          <a:prstGeom prst="line">
            <a:avLst/>
          </a:prstGeom>
          <a:ln w="7234">
            <a:solidFill>
              <a:srgbClr val="6D5B75"/>
            </a:solidFill>
          </a:ln>
          <a:effectLst/>
        </p:spPr>
      </p:cxnSp>
      <p:sp>
        <p:nvSpPr>
          <p:cNvPr id="369" name="com_loops__long_com_label"/>
          <p:cNvSpPr txBox="1"/>
          <p:nvPr/>
        </p:nvSpPr>
        <p:spPr>
          <a:xfrm>
            <a:off x="10135082" y="6525227"/>
            <a:ext cx="665544" cy="4195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10" b="1" i="0">
                <a:solidFill>
                  <a:srgbClr val="000000"/>
                </a:solidFill>
                <a:latin typeface="Liberation Sans"/>
              </a:defRPr>
            </a:pPr>
            <a:r>
              <a:t>Long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10" b="1" i="0">
                <a:solidFill>
                  <a:srgbClr val="000000"/>
                </a:solidFill>
                <a:latin typeface="Liberation Sans"/>
              </a:defRPr>
            </a:pPr>
            <a:r>
              <a:t>CoM</a:t>
            </a:r>
          </a:p>
        </p:txBody>
      </p:sp>
      <p:pic>
        <p:nvPicPr>
          <p:cNvPr id="370" name="agents__panda_reflect2" descr="panda_reflect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753" y="6575867"/>
            <a:ext cx="593202" cy="708949"/>
          </a:xfrm>
          <a:prstGeom prst="rect">
            <a:avLst/>
          </a:prstGeom>
          <a:effectLst/>
        </p:spPr>
      </p:pic>
      <p:sp>
        <p:nvSpPr>
          <p:cNvPr id="371" name="thought_bubbles__thought2_cloud0"/>
          <p:cNvSpPr/>
          <p:nvPr/>
        </p:nvSpPr>
        <p:spPr>
          <a:xfrm>
            <a:off x="3371126" y="6474588"/>
            <a:ext cx="405113" cy="245962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thought_bubbles__thought2_cloud1"/>
          <p:cNvSpPr/>
          <p:nvPr/>
        </p:nvSpPr>
        <p:spPr>
          <a:xfrm>
            <a:off x="3588151" y="6395012"/>
            <a:ext cx="448518" cy="289367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thought_bubbles__thought2_cloud2"/>
          <p:cNvSpPr/>
          <p:nvPr/>
        </p:nvSpPr>
        <p:spPr>
          <a:xfrm>
            <a:off x="3826879" y="6409481"/>
            <a:ext cx="506392" cy="318303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thought_bubbles__thought2_cloud3"/>
          <p:cNvSpPr/>
          <p:nvPr/>
        </p:nvSpPr>
        <p:spPr>
          <a:xfrm>
            <a:off x="4087310" y="6489056"/>
            <a:ext cx="419582" cy="260430"/>
          </a:xfrm>
          <a:prstGeom prst="ellipse">
            <a:avLst/>
          </a:prstGeom>
          <a:solidFill>
            <a:srgbClr val="FFFFFF"/>
          </a:solidFill>
          <a:ln w="1085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thought_bubbles__thought2_dot1"/>
          <p:cNvSpPr/>
          <p:nvPr/>
        </p:nvSpPr>
        <p:spPr>
          <a:xfrm>
            <a:off x="3298784" y="6713316"/>
            <a:ext cx="72341" cy="72341"/>
          </a:xfrm>
          <a:prstGeom prst="ellipse">
            <a:avLst/>
          </a:prstGeom>
          <a:solidFill>
            <a:srgbClr val="FFFFFF"/>
          </a:solidFill>
          <a:ln w="10127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thought_bubbles__thought2_dot2"/>
          <p:cNvSpPr/>
          <p:nvPr/>
        </p:nvSpPr>
        <p:spPr>
          <a:xfrm>
            <a:off x="3211974" y="6792892"/>
            <a:ext cx="43405" cy="43405"/>
          </a:xfrm>
          <a:prstGeom prst="ellipse">
            <a:avLst/>
          </a:prstGeom>
          <a:solidFill>
            <a:srgbClr val="FFFFFF"/>
          </a:solidFill>
          <a:ln w="8681">
            <a:solidFill>
              <a:srgbClr val="ED7D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thought_bubbles__thought2_text"/>
          <p:cNvSpPr txBox="1"/>
          <p:nvPr/>
        </p:nvSpPr>
        <p:spPr>
          <a:xfrm>
            <a:off x="3486873" y="6452886"/>
            <a:ext cx="853632" cy="31106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11" b="1" i="0">
                <a:solidFill>
                  <a:srgbClr val="000000"/>
                </a:solidFill>
                <a:latin typeface="Liberation Sans"/>
              </a:defRPr>
            </a:pPr>
            <a:r>
              <a:t>Recalling past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11" b="1" i="0">
                <a:solidFill>
                  <a:srgbClr val="000000"/>
                </a:solidFill>
                <a:latin typeface="Liberation Sans"/>
              </a:defRPr>
            </a:pPr>
            <a:r>
              <a:t>experience ...</a:t>
            </a:r>
          </a:p>
        </p:txBody>
      </p:sp>
      <p:sp>
        <p:nvSpPr>
          <p:cNvPr id="378" name="stage_icons__reflect2_q"/>
          <p:cNvSpPr/>
          <p:nvPr/>
        </p:nvSpPr>
        <p:spPr>
          <a:xfrm>
            <a:off x="3935392" y="6915873"/>
            <a:ext cx="260430" cy="217025"/>
          </a:xfrm>
          <a:prstGeom prst="ellipse">
            <a:avLst/>
          </a:prstGeom>
          <a:solidFill>
            <a:srgbClr val="21B3E8"/>
          </a:solidFill>
          <a:ln w="10851">
            <a:solidFill>
              <a:srgbClr val="2175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stage_icons__reflect2_qtail"/>
          <p:cNvSpPr/>
          <p:nvPr/>
        </p:nvSpPr>
        <p:spPr>
          <a:xfrm>
            <a:off x="4080075" y="7103962"/>
            <a:ext cx="94042" cy="50638"/>
          </a:xfrm>
          <a:custGeom>
            <a:avLst/>
            <a:gdLst/>
            <a:ahLst/>
            <a:cxnLst/>
            <a:rect l="l" t="t" r="r" b="b"/>
            <a:pathLst>
              <a:path w="13" h="7">
                <a:moveTo>
                  <a:pt x="6" y="0"/>
                </a:moveTo>
                <a:lnTo>
                  <a:pt x="13" y="7"/>
                </a:lnTo>
                <a:lnTo>
                  <a:pt x="0" y="2"/>
                </a:lnTo>
                <a:close/>
              </a:path>
            </a:pathLst>
          </a:custGeom>
          <a:solidFill>
            <a:srgbClr val="21B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stage_icons__reflect2_qmark"/>
          <p:cNvSpPr txBox="1"/>
          <p:nvPr/>
        </p:nvSpPr>
        <p:spPr>
          <a:xfrm>
            <a:off x="4000500" y="6937575"/>
            <a:ext cx="130215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1" i="0">
                <a:solidFill>
                  <a:srgbClr val="000000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381" name="stage_icons__reflect2_a"/>
          <p:cNvSpPr/>
          <p:nvPr/>
        </p:nvSpPr>
        <p:spPr>
          <a:xfrm>
            <a:off x="4094544" y="6995449"/>
            <a:ext cx="202556" cy="188088"/>
          </a:xfrm>
          <a:prstGeom prst="ellipse">
            <a:avLst/>
          </a:prstGeom>
          <a:solidFill>
            <a:srgbClr val="FFF8D4"/>
          </a:solidFill>
          <a:ln w="9404">
            <a:solidFill>
              <a:srgbClr val="7A7A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stage_icons__reflect2_amark"/>
          <p:cNvSpPr txBox="1"/>
          <p:nvPr/>
        </p:nvSpPr>
        <p:spPr>
          <a:xfrm>
            <a:off x="4130715" y="7009917"/>
            <a:ext cx="130215" cy="1591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968" b="0" i="0">
                <a:solidFill>
                  <a:srgbClr val="000000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383" name="stage_labels__reflect2_label"/>
          <p:cNvSpPr txBox="1"/>
          <p:nvPr/>
        </p:nvSpPr>
        <p:spPr>
          <a:xfrm>
            <a:off x="3414531" y="7183537"/>
            <a:ext cx="1519177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MLLM Reflection</a:t>
            </a:r>
          </a:p>
        </p:txBody>
      </p:sp>
      <p:sp>
        <p:nvSpPr>
          <p:cNvPr id="384" name="stage_arrows__reflect2_arrow"/>
          <p:cNvSpPr/>
          <p:nvPr/>
        </p:nvSpPr>
        <p:spPr>
          <a:xfrm>
            <a:off x="4825196" y="7038854"/>
            <a:ext cx="752354" cy="72341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5" name="stage_icons__tools2_blue"/>
          <p:cNvCxnSpPr/>
          <p:nvPr/>
        </p:nvCxnSpPr>
        <p:spPr>
          <a:xfrm flipV="1">
            <a:off x="6380544" y="6944810"/>
            <a:ext cx="231493" cy="253196"/>
          </a:xfrm>
          <a:prstGeom prst="line">
            <a:avLst/>
          </a:prstGeom>
          <a:ln w="50639">
            <a:solidFill>
              <a:srgbClr val="2F80C9"/>
            </a:solidFill>
          </a:ln>
          <a:effectLst/>
        </p:spPr>
      </p:cxnSp>
      <p:sp>
        <p:nvSpPr>
          <p:cNvPr id="386" name="stage_icons__tools2_bluecap"/>
          <p:cNvSpPr/>
          <p:nvPr/>
        </p:nvSpPr>
        <p:spPr>
          <a:xfrm>
            <a:off x="6344373" y="7161835"/>
            <a:ext cx="72341" cy="72341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7" name="stage_icons__tools2_orange"/>
          <p:cNvCxnSpPr/>
          <p:nvPr/>
        </p:nvCxnSpPr>
        <p:spPr>
          <a:xfrm>
            <a:off x="6395012" y="6944810"/>
            <a:ext cx="231494" cy="253196"/>
          </a:xfrm>
          <a:prstGeom prst="line">
            <a:avLst/>
          </a:prstGeom>
          <a:ln w="50639">
            <a:solidFill>
              <a:srgbClr val="F2B735"/>
            </a:solidFill>
          </a:ln>
          <a:effectLst/>
        </p:spPr>
      </p:cxnSp>
      <p:sp>
        <p:nvSpPr>
          <p:cNvPr id="388" name="stage_icons__tools2_blade"/>
          <p:cNvSpPr/>
          <p:nvPr/>
        </p:nvSpPr>
        <p:spPr>
          <a:xfrm>
            <a:off x="6358841" y="6908639"/>
            <a:ext cx="72340" cy="94042"/>
          </a:xfrm>
          <a:custGeom>
            <a:avLst/>
            <a:gdLst/>
            <a:ahLst/>
            <a:cxnLst/>
            <a:rect l="l" t="t" r="r" b="b"/>
            <a:pathLst>
              <a:path w="10" h="13">
                <a:moveTo>
                  <a:pt x="0" y="0"/>
                </a:moveTo>
                <a:lnTo>
                  <a:pt x="10" y="6"/>
                </a:lnTo>
                <a:lnTo>
                  <a:pt x="4" y="13"/>
                </a:lnTo>
                <a:close/>
              </a:path>
            </a:pathLst>
          </a:custGeom>
          <a:solidFill>
            <a:srgbClr val="E7EEF2"/>
          </a:solidFill>
          <a:ln w="7234">
            <a:solidFill>
              <a:srgbClr val="6579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stage_labels__tools2_label"/>
          <p:cNvSpPr txBox="1"/>
          <p:nvPr/>
        </p:nvSpPr>
        <p:spPr>
          <a:xfrm>
            <a:off x="5895854" y="7183537"/>
            <a:ext cx="1229810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Tool Invoke</a:t>
            </a:r>
          </a:p>
        </p:txBody>
      </p:sp>
      <p:sp>
        <p:nvSpPr>
          <p:cNvPr id="390" name="stage_arrows__tools2_arrow"/>
          <p:cNvSpPr/>
          <p:nvPr/>
        </p:nvSpPr>
        <p:spPr>
          <a:xfrm>
            <a:off x="7523544" y="7038854"/>
            <a:ext cx="752354" cy="72341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stage_icons__replan2_icon_sheet"/>
          <p:cNvSpPr/>
          <p:nvPr/>
        </p:nvSpPr>
        <p:spPr>
          <a:xfrm>
            <a:off x="9049955" y="6937575"/>
            <a:ext cx="245962" cy="28936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4468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stage_icons__replan2_icon_tabs"/>
          <p:cNvSpPr/>
          <p:nvPr/>
        </p:nvSpPr>
        <p:spPr>
          <a:xfrm>
            <a:off x="9071658" y="6894170"/>
            <a:ext cx="202556" cy="65107"/>
          </a:xfrm>
          <a:prstGeom prst="roundRect">
            <a:avLst>
              <a:gd name="adj" fmla="val 22222"/>
            </a:avLst>
          </a:prstGeom>
          <a:solidFill>
            <a:srgbClr val="F2C157"/>
          </a:solidFill>
          <a:ln w="10851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stage_icons__replan2_icon_pin0"/>
          <p:cNvSpPr/>
          <p:nvPr/>
        </p:nvSpPr>
        <p:spPr>
          <a:xfrm>
            <a:off x="9091913" y="6907192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stage_icons__replan2_icon_pin1"/>
          <p:cNvSpPr/>
          <p:nvPr/>
        </p:nvSpPr>
        <p:spPr>
          <a:xfrm>
            <a:off x="9157021" y="6907192"/>
            <a:ext cx="31830" cy="3183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stage_icons__replan2_icon_pin2"/>
          <p:cNvSpPr/>
          <p:nvPr/>
        </p:nvSpPr>
        <p:spPr>
          <a:xfrm>
            <a:off x="9222129" y="6907192"/>
            <a:ext cx="31830" cy="31830"/>
          </a:xfrm>
          <a:prstGeom prst="ellipse">
            <a:avLst/>
          </a:prstGeom>
          <a:solidFill>
            <a:srgbClr val="2F80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stage_icons__replan2_icon_check0"/>
          <p:cNvSpPr/>
          <p:nvPr/>
        </p:nvSpPr>
        <p:spPr>
          <a:xfrm>
            <a:off x="9086126" y="6995449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7" name="stage_icons__replan2_icon_line0"/>
          <p:cNvCxnSpPr/>
          <p:nvPr/>
        </p:nvCxnSpPr>
        <p:spPr>
          <a:xfrm>
            <a:off x="9151234" y="7017151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398" name="stage_icons__replan2_icon_check1"/>
          <p:cNvSpPr/>
          <p:nvPr/>
        </p:nvSpPr>
        <p:spPr>
          <a:xfrm>
            <a:off x="9086126" y="7060556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9" name="stage_icons__replan2_icon_line1"/>
          <p:cNvCxnSpPr/>
          <p:nvPr/>
        </p:nvCxnSpPr>
        <p:spPr>
          <a:xfrm>
            <a:off x="9151234" y="7082259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400" name="stage_icons__replan2_icon_check2"/>
          <p:cNvSpPr/>
          <p:nvPr/>
        </p:nvSpPr>
        <p:spPr>
          <a:xfrm>
            <a:off x="9086126" y="7125664"/>
            <a:ext cx="36170" cy="36170"/>
          </a:xfrm>
          <a:prstGeom prst="rect">
            <a:avLst/>
          </a:prstGeom>
          <a:solidFill>
            <a:srgbClr val="DDEBF7"/>
          </a:solidFill>
          <a:ln w="7234">
            <a:solidFill>
              <a:srgbClr val="4E55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1" name="stage_icons__replan2_icon_line2"/>
          <p:cNvCxnSpPr/>
          <p:nvPr/>
        </p:nvCxnSpPr>
        <p:spPr>
          <a:xfrm>
            <a:off x="9151234" y="7147367"/>
            <a:ext cx="108512" cy="0"/>
          </a:xfrm>
          <a:prstGeom prst="line">
            <a:avLst/>
          </a:prstGeom>
          <a:ln w="10851">
            <a:solidFill>
              <a:srgbClr val="4E555A"/>
            </a:solidFill>
          </a:ln>
          <a:effectLst/>
        </p:spPr>
      </p:cxnSp>
      <p:sp>
        <p:nvSpPr>
          <p:cNvPr id="402" name="stage_labels__replan2_label"/>
          <p:cNvSpPr txBox="1"/>
          <p:nvPr/>
        </p:nvSpPr>
        <p:spPr>
          <a:xfrm>
            <a:off x="8427816" y="7183537"/>
            <a:ext cx="1519177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0" i="0">
                <a:solidFill>
                  <a:srgbClr val="000000"/>
                </a:solidFill>
                <a:latin typeface="Liberation Sans"/>
              </a:defRPr>
            </a:pPr>
            <a:r>
              <a:t>MLLM Replanning</a:t>
            </a:r>
          </a:p>
        </p:txBody>
      </p:sp>
      <p:sp>
        <p:nvSpPr>
          <p:cNvPr id="403" name="round_labels__round2"/>
          <p:cNvSpPr/>
          <p:nvPr/>
        </p:nvSpPr>
        <p:spPr>
          <a:xfrm>
            <a:off x="5628189" y="6713316"/>
            <a:ext cx="2054506" cy="195322"/>
          </a:xfrm>
          <a:prstGeom prst="rect">
            <a:avLst/>
          </a:prstGeom>
          <a:solidFill>
            <a:srgbClr val="F3924C"/>
          </a:solidFill>
          <a:ln w="7234">
            <a:solidFill>
              <a:srgbClr val="D876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ound_labels__round2_text"/>
          <p:cNvSpPr txBox="1"/>
          <p:nvPr/>
        </p:nvSpPr>
        <p:spPr>
          <a:xfrm>
            <a:off x="5751170" y="6727784"/>
            <a:ext cx="1808544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erif"/>
              </a:defRPr>
            </a:pPr>
            <a:r>
              <a:t>Second round of reflection</a:t>
            </a:r>
          </a:p>
        </p:txBody>
      </p:sp>
      <p:sp>
        <p:nvSpPr>
          <p:cNvPr id="405" name="reflection2_cards__self2"/>
          <p:cNvSpPr/>
          <p:nvPr/>
        </p:nvSpPr>
        <p:spPr>
          <a:xfrm>
            <a:off x="2864734" y="7364392"/>
            <a:ext cx="2372810" cy="1707265"/>
          </a:xfrm>
          <a:prstGeom prst="roundRect">
            <a:avLst>
              <a:gd name="adj" fmla="val 12711"/>
            </a:avLst>
          </a:prstGeom>
          <a:solidFill>
            <a:srgbClr val="FFF1CC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flection2_cards__self2_title"/>
          <p:cNvSpPr txBox="1"/>
          <p:nvPr/>
        </p:nvSpPr>
        <p:spPr>
          <a:xfrm>
            <a:off x="3385594" y="7422265"/>
            <a:ext cx="1374493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1" i="0">
                <a:solidFill>
                  <a:srgbClr val="000000"/>
                </a:solidFill>
                <a:latin typeface="Liberation Sans"/>
              </a:defRPr>
            </a:pPr>
            <a:r>
              <a:t>Self-Reflection</a:t>
            </a:r>
          </a:p>
        </p:txBody>
      </p:sp>
      <p:sp>
        <p:nvSpPr>
          <p:cNvPr id="407" name="reflection2_cards__self2_reason_h"/>
          <p:cNvSpPr txBox="1"/>
          <p:nvPr/>
        </p:nvSpPr>
        <p:spPr>
          <a:xfrm>
            <a:off x="2951544" y="7675462"/>
            <a:ext cx="1591518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Reason Analysis</a:t>
            </a:r>
          </a:p>
        </p:txBody>
      </p:sp>
      <p:sp>
        <p:nvSpPr>
          <p:cNvPr id="408" name="reflection2_cards__self2_reason"/>
          <p:cNvSpPr txBox="1"/>
          <p:nvPr/>
        </p:nvSpPr>
        <p:spPr>
          <a:xfrm>
            <a:off x="2951544" y="7849082"/>
            <a:ext cx="2184721" cy="57873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More information is needed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to determine if the woman's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behavior...</a:t>
            </a:r>
          </a:p>
        </p:txBody>
      </p:sp>
      <p:sp>
        <p:nvSpPr>
          <p:cNvPr id="409" name="reflection2_cards__self2_tools_h"/>
          <p:cNvSpPr txBox="1"/>
          <p:nvPr/>
        </p:nvSpPr>
        <p:spPr>
          <a:xfrm>
            <a:off x="2951544" y="8492924"/>
            <a:ext cx="1374493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Tools to use</a:t>
            </a:r>
          </a:p>
        </p:txBody>
      </p:sp>
      <p:sp>
        <p:nvSpPr>
          <p:cNvPr id="410" name="reflection2_cards__self2_tools"/>
          <p:cNvSpPr txBox="1"/>
          <p:nvPr/>
        </p:nvSpPr>
        <p:spPr>
          <a:xfrm>
            <a:off x="2951544" y="8666544"/>
            <a:ext cx="1663860" cy="37617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Image Retrieve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Web Search</a:t>
            </a:r>
          </a:p>
        </p:txBody>
      </p:sp>
      <p:sp>
        <p:nvSpPr>
          <p:cNvPr id="411" name="reflection2_cards__invoke2"/>
          <p:cNvSpPr/>
          <p:nvPr/>
        </p:nvSpPr>
        <p:spPr>
          <a:xfrm>
            <a:off x="5317120" y="7364392"/>
            <a:ext cx="2814094" cy="1707265"/>
          </a:xfrm>
          <a:prstGeom prst="roundRect">
            <a:avLst>
              <a:gd name="adj" fmla="val 12711"/>
            </a:avLst>
          </a:prstGeom>
          <a:solidFill>
            <a:srgbClr val="FFEDED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flection2_cards__invoke2_tint"/>
          <p:cNvSpPr/>
          <p:nvPr/>
        </p:nvSpPr>
        <p:spPr>
          <a:xfrm>
            <a:off x="6727784" y="7393329"/>
            <a:ext cx="1374493" cy="1649392"/>
          </a:xfrm>
          <a:prstGeom prst="roundRect">
            <a:avLst>
              <a:gd name="adj" fmla="val 13157"/>
            </a:avLst>
          </a:prstGeom>
          <a:solidFill>
            <a:srgbClr val="D7E9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flection2_icons__retrieve_film"/>
          <p:cNvSpPr/>
          <p:nvPr/>
        </p:nvSpPr>
        <p:spPr>
          <a:xfrm>
            <a:off x="5411164" y="7530778"/>
            <a:ext cx="289367" cy="289367"/>
          </a:xfrm>
          <a:prstGeom prst="rect">
            <a:avLst/>
          </a:prstGeom>
          <a:solidFill>
            <a:srgbClr val="CBE6F4"/>
          </a:solidFill>
          <a:ln w="14468">
            <a:solidFill>
              <a:srgbClr val="4258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flection2_icons__retrieve_play"/>
          <p:cNvSpPr/>
          <p:nvPr/>
        </p:nvSpPr>
        <p:spPr>
          <a:xfrm>
            <a:off x="5497974" y="7617588"/>
            <a:ext cx="115746" cy="115746"/>
          </a:xfrm>
          <a:prstGeom prst="ellipse">
            <a:avLst/>
          </a:prstGeom>
          <a:solidFill>
            <a:srgbClr val="F7F7F7"/>
          </a:solidFill>
          <a:ln w="14468">
            <a:solidFill>
              <a:srgbClr val="43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flection2_icons__retrieve_play_tri"/>
          <p:cNvSpPr/>
          <p:nvPr/>
        </p:nvSpPr>
        <p:spPr>
          <a:xfrm>
            <a:off x="5541379" y="7639291"/>
            <a:ext cx="50638" cy="72340"/>
          </a:xfrm>
          <a:custGeom>
            <a:avLst/>
            <a:gdLst/>
            <a:ahLst/>
            <a:cxnLst/>
            <a:rect l="l" t="t" r="r" b="b"/>
            <a:pathLst>
              <a:path w="7" h="10">
                <a:moveTo>
                  <a:pt x="0" y="0"/>
                </a:moveTo>
                <a:lnTo>
                  <a:pt x="0" y="10"/>
                </a:lnTo>
                <a:lnTo>
                  <a:pt x="7" y="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flection2_cards__retrieve_label"/>
          <p:cNvSpPr txBox="1"/>
          <p:nvPr/>
        </p:nvSpPr>
        <p:spPr>
          <a:xfrm>
            <a:off x="5910322" y="7509075"/>
            <a:ext cx="1085126" cy="217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Image Retrieve</a:t>
            </a:r>
          </a:p>
        </p:txBody>
      </p:sp>
      <p:sp>
        <p:nvSpPr>
          <p:cNvPr id="417" name="reflection2_cards__retrieve_arrow"/>
          <p:cNvSpPr/>
          <p:nvPr/>
        </p:nvSpPr>
        <p:spPr>
          <a:xfrm>
            <a:off x="6120113" y="7747803"/>
            <a:ext cx="911506" cy="50639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8" name="reflection2_images__retrieve_output" descr="frame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1626" y="7501841"/>
            <a:ext cx="658310" cy="368943"/>
          </a:xfrm>
          <a:prstGeom prst="rect">
            <a:avLst/>
          </a:prstGeom>
          <a:effectLst/>
        </p:spPr>
      </p:pic>
      <p:sp>
        <p:nvSpPr>
          <p:cNvPr id="419" name="reflection2_cards__retrieve_query"/>
          <p:cNvSpPr txBox="1"/>
          <p:nvPr/>
        </p:nvSpPr>
        <p:spPr>
          <a:xfrm>
            <a:off x="5570316" y="7870784"/>
            <a:ext cx="2416215" cy="31106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9" b="0" i="0">
                <a:solidFill>
                  <a:srgbClr val="000000"/>
                </a:solidFill>
                <a:latin typeface="Liberation Sans"/>
              </a:defRPr>
            </a:pPr>
            <a:r>
              <a:t>Retrive query: A woman is suspiciously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9" b="0" i="0">
                <a:solidFill>
                  <a:srgbClr val="000000"/>
                </a:solidFill>
                <a:latin typeface="Liberation Sans"/>
              </a:defRPr>
            </a:pPr>
            <a:r>
              <a:t>browsing items in the store.</a:t>
            </a:r>
          </a:p>
        </p:txBody>
      </p:sp>
      <p:sp>
        <p:nvSpPr>
          <p:cNvPr id="420" name="reflection2_icons__web_monitor"/>
          <p:cNvSpPr/>
          <p:nvPr/>
        </p:nvSpPr>
        <p:spPr>
          <a:xfrm>
            <a:off x="5411164" y="8326537"/>
            <a:ext cx="296601" cy="224259"/>
          </a:xfrm>
          <a:prstGeom prst="roundRect">
            <a:avLst>
              <a:gd name="adj" fmla="val 9677"/>
            </a:avLst>
          </a:prstGeom>
          <a:solidFill>
            <a:srgbClr val="F7FBFD"/>
          </a:solidFill>
          <a:ln w="14468">
            <a:solidFill>
              <a:srgbClr val="475F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flection2_icons__web_bulb"/>
          <p:cNvSpPr/>
          <p:nvPr/>
        </p:nvSpPr>
        <p:spPr>
          <a:xfrm>
            <a:off x="5505208" y="8355474"/>
            <a:ext cx="101278" cy="130215"/>
          </a:xfrm>
          <a:prstGeom prst="ellipse">
            <a:avLst/>
          </a:prstGeom>
          <a:solidFill>
            <a:srgbClr val="DDEBF7"/>
          </a:solidFill>
          <a:ln w="10851">
            <a:solidFill>
              <a:srgbClr val="5B9B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2" name="reflection2_icons__web_stand"/>
          <p:cNvCxnSpPr/>
          <p:nvPr/>
        </p:nvCxnSpPr>
        <p:spPr>
          <a:xfrm>
            <a:off x="5555848" y="8550797"/>
            <a:ext cx="0" cy="50639"/>
          </a:xfrm>
          <a:prstGeom prst="line">
            <a:avLst/>
          </a:prstGeom>
          <a:ln w="14468">
            <a:solidFill>
              <a:srgbClr val="475F6A"/>
            </a:solidFill>
          </a:ln>
          <a:effectLst/>
        </p:spPr>
      </p:cxnSp>
      <p:cxnSp>
        <p:nvCxnSpPr>
          <p:cNvPr id="423" name="reflection2_icons__web_base"/>
          <p:cNvCxnSpPr/>
          <p:nvPr/>
        </p:nvCxnSpPr>
        <p:spPr>
          <a:xfrm>
            <a:off x="5461803" y="8608670"/>
            <a:ext cx="188089" cy="0"/>
          </a:xfrm>
          <a:prstGeom prst="line">
            <a:avLst/>
          </a:prstGeom>
          <a:ln w="14468">
            <a:solidFill>
              <a:srgbClr val="475F6A"/>
            </a:solidFill>
          </a:ln>
          <a:effectLst/>
        </p:spPr>
      </p:cxnSp>
      <p:sp>
        <p:nvSpPr>
          <p:cNvPr id="424" name="reflection2_icons__web_globe"/>
          <p:cNvSpPr/>
          <p:nvPr/>
        </p:nvSpPr>
        <p:spPr>
          <a:xfrm>
            <a:off x="5968196" y="8225259"/>
            <a:ext cx="173620" cy="173620"/>
          </a:xfrm>
          <a:prstGeom prst="ellipse">
            <a:avLst/>
          </a:prstGeom>
          <a:noFill/>
          <a:ln w="21702">
            <a:solidFill>
              <a:srgbClr val="6477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5" name="reflection2_icons__web_globe_handle"/>
          <p:cNvCxnSpPr/>
          <p:nvPr/>
        </p:nvCxnSpPr>
        <p:spPr>
          <a:xfrm>
            <a:off x="6120113" y="8377177"/>
            <a:ext cx="65108" cy="65107"/>
          </a:xfrm>
          <a:prstGeom prst="line">
            <a:avLst/>
          </a:prstGeom>
          <a:ln w="21702">
            <a:solidFill>
              <a:srgbClr val="43A7E8"/>
            </a:solidFill>
          </a:ln>
          <a:effectLst/>
        </p:spPr>
      </p:cxnSp>
      <p:sp>
        <p:nvSpPr>
          <p:cNvPr id="426" name="reflection2_cards__web_label"/>
          <p:cNvSpPr txBox="1"/>
          <p:nvPr/>
        </p:nvSpPr>
        <p:spPr>
          <a:xfrm>
            <a:off x="6185221" y="8268664"/>
            <a:ext cx="904272" cy="217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Web Search</a:t>
            </a:r>
          </a:p>
        </p:txBody>
      </p:sp>
      <p:sp>
        <p:nvSpPr>
          <p:cNvPr id="427" name="reflection2_cards__web_query"/>
          <p:cNvSpPr txBox="1"/>
          <p:nvPr/>
        </p:nvSpPr>
        <p:spPr>
          <a:xfrm>
            <a:off x="5801810" y="8637607"/>
            <a:ext cx="1410664" cy="4123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9" b="0" i="0">
                <a:solidFill>
                  <a:srgbClr val="000000"/>
                </a:solidFill>
                <a:latin typeface="Liberation Sans"/>
              </a:defRPr>
            </a:pPr>
            <a:r>
              <a:t>Search query: What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9" b="0" i="0">
                <a:solidFill>
                  <a:srgbClr val="000000"/>
                </a:solidFill>
                <a:latin typeface="Liberation Sans"/>
              </a:defRPr>
            </a:pPr>
            <a:r>
              <a:t>typical shoplifting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9" b="0" i="0">
                <a:solidFill>
                  <a:srgbClr val="000000"/>
                </a:solidFill>
                <a:latin typeface="Liberation Sans"/>
              </a:defRPr>
            </a:pPr>
            <a:r>
              <a:t>behaviors in a store?</a:t>
            </a:r>
          </a:p>
        </p:txBody>
      </p:sp>
      <p:sp>
        <p:nvSpPr>
          <p:cNvPr id="428" name="reflection2_cards__web_results"/>
          <p:cNvSpPr/>
          <p:nvPr/>
        </p:nvSpPr>
        <p:spPr>
          <a:xfrm>
            <a:off x="7132898" y="8406113"/>
            <a:ext cx="897037" cy="549797"/>
          </a:xfrm>
          <a:prstGeom prst="roundRect">
            <a:avLst>
              <a:gd name="adj" fmla="val 34210"/>
            </a:avLst>
          </a:prstGeom>
          <a:solidFill>
            <a:srgbClr val="C9D7EC"/>
          </a:solidFill>
          <a:ln w="10851">
            <a:solidFill>
              <a:srgbClr val="2F80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reflection2_cards__web_results_text"/>
          <p:cNvSpPr txBox="1"/>
          <p:nvPr/>
        </p:nvSpPr>
        <p:spPr>
          <a:xfrm>
            <a:off x="7190772" y="8463987"/>
            <a:ext cx="795759" cy="4412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8" b="0" i="0">
                <a:solidFill>
                  <a:srgbClr val="000000"/>
                </a:solidFill>
                <a:latin typeface="Liberation Sans"/>
              </a:defRPr>
            </a:pPr>
            <a:r>
              <a:t>1. Customers 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8" b="0" i="0">
                <a:solidFill>
                  <a:srgbClr val="000000"/>
                </a:solidFill>
                <a:latin typeface="Liberation Sans"/>
              </a:defRPr>
            </a:pPr>
            <a:r>
              <a:t>unpaid items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8" b="0" i="0">
                <a:solidFill>
                  <a:srgbClr val="000000"/>
                </a:solidFill>
                <a:latin typeface="Liberation Sans"/>
              </a:defRPr>
            </a:pPr>
            <a:r>
              <a:t>their bags...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8" b="0" i="0">
                <a:solidFill>
                  <a:srgbClr val="000000"/>
                </a:solidFill>
                <a:latin typeface="Liberation Sans"/>
              </a:defRPr>
            </a:pPr>
            <a:r>
              <a:t>2. Customers...</a:t>
            </a:r>
          </a:p>
        </p:txBody>
      </p:sp>
      <p:sp>
        <p:nvSpPr>
          <p:cNvPr id="430" name="reflection2_cards__update2"/>
          <p:cNvSpPr/>
          <p:nvPr/>
        </p:nvSpPr>
        <p:spPr>
          <a:xfrm>
            <a:off x="8174620" y="7364392"/>
            <a:ext cx="2126848" cy="1707265"/>
          </a:xfrm>
          <a:prstGeom prst="roundRect">
            <a:avLst>
              <a:gd name="adj" fmla="val 12711"/>
            </a:avLst>
          </a:prstGeom>
          <a:solidFill>
            <a:srgbClr val="D7E9B7"/>
          </a:solidFill>
          <a:ln w="28936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reflection2_cards__update2_title"/>
          <p:cNvSpPr txBox="1"/>
          <p:nvPr/>
        </p:nvSpPr>
        <p:spPr>
          <a:xfrm>
            <a:off x="8218025" y="7422265"/>
            <a:ext cx="2040037" cy="2025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1" i="0">
                <a:solidFill>
                  <a:srgbClr val="000000"/>
                </a:solidFill>
                <a:latin typeface="Liberation Sans"/>
              </a:defRPr>
            </a:pPr>
            <a:r>
              <a:t>Detection Strategy Update</a:t>
            </a:r>
          </a:p>
        </p:txBody>
      </p:sp>
      <p:sp>
        <p:nvSpPr>
          <p:cNvPr id="432" name="reflection2_cards__update2_rules_h"/>
          <p:cNvSpPr txBox="1"/>
          <p:nvPr/>
        </p:nvSpPr>
        <p:spPr>
          <a:xfrm>
            <a:off x="8261430" y="7675462"/>
            <a:ext cx="1808544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New Anomaly Rules</a:t>
            </a:r>
          </a:p>
        </p:txBody>
      </p:sp>
      <p:sp>
        <p:nvSpPr>
          <p:cNvPr id="433" name="reflection2_cards__update2_rules"/>
          <p:cNvSpPr txBox="1"/>
          <p:nvPr/>
        </p:nvSpPr>
        <p:spPr>
          <a:xfrm>
            <a:off x="8261430" y="7849082"/>
            <a:ext cx="1924291" cy="4195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Customers taking items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without paying...</a:t>
            </a:r>
          </a:p>
        </p:txBody>
      </p:sp>
      <p:sp>
        <p:nvSpPr>
          <p:cNvPr id="434" name="reflection2_cards__update2_prompt_h"/>
          <p:cNvSpPr txBox="1"/>
          <p:nvPr/>
        </p:nvSpPr>
        <p:spPr>
          <a:xfrm>
            <a:off x="8261430" y="8297601"/>
            <a:ext cx="1808544" cy="1808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39" b="1" i="0">
                <a:solidFill>
                  <a:srgbClr val="000000"/>
                </a:solidFill>
                <a:latin typeface="Liberation Sans"/>
              </a:defRPr>
            </a:pPr>
            <a:r>
              <a:t>New Heuristic Prompt</a:t>
            </a:r>
          </a:p>
        </p:txBody>
      </p:sp>
      <p:sp>
        <p:nvSpPr>
          <p:cNvPr id="435" name="reflection2_cards__update2_prompt"/>
          <p:cNvSpPr txBox="1"/>
          <p:nvPr/>
        </p:nvSpPr>
        <p:spPr>
          <a:xfrm>
            <a:off x="8261430" y="8471221"/>
            <a:ext cx="1924291" cy="5570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•   Focusing on the woman's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interaction behavior with the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000000"/>
                </a:solidFill>
                <a:latin typeface="Liberation Sans"/>
              </a:defRPr>
            </a:pPr>
            <a:r>
              <a:t>    items...</a:t>
            </a:r>
          </a:p>
        </p:txBody>
      </p:sp>
      <p:sp>
        <p:nvSpPr>
          <p:cNvPr id="436" name="row_handoffs__to_reason_bottom"/>
          <p:cNvSpPr/>
          <p:nvPr/>
        </p:nvSpPr>
        <p:spPr>
          <a:xfrm>
            <a:off x="10402746" y="7834613"/>
            <a:ext cx="224259" cy="2025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stage_icons__vlm_bottom_ring"/>
          <p:cNvSpPr/>
          <p:nvPr/>
        </p:nvSpPr>
        <p:spPr>
          <a:xfrm>
            <a:off x="12160651" y="6879702"/>
            <a:ext cx="289367" cy="289367"/>
          </a:xfrm>
          <a:prstGeom prst="ellipse">
            <a:avLst/>
          </a:prstGeom>
          <a:solidFill>
            <a:srgbClr val="E6F4EF"/>
          </a:solidFill>
          <a:ln w="36170">
            <a:solidFill>
              <a:srgbClr val="43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8" name="stage_icons__vlm_bottom_wave1_0"/>
          <p:cNvCxnSpPr/>
          <p:nvPr/>
        </p:nvCxnSpPr>
        <p:spPr>
          <a:xfrm flipV="1">
            <a:off x="12218525" y="7002683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439" name="stage_icons__vlm_bottom_wave1_1"/>
          <p:cNvCxnSpPr/>
          <p:nvPr/>
        </p:nvCxnSpPr>
        <p:spPr>
          <a:xfrm>
            <a:off x="12261930" y="7002683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440" name="stage_icons__vlm_bottom_wave1_2"/>
          <p:cNvCxnSpPr/>
          <p:nvPr/>
        </p:nvCxnSpPr>
        <p:spPr>
          <a:xfrm flipV="1">
            <a:off x="12305335" y="7002683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441" name="stage_icons__vlm_bottom_wave1_3"/>
          <p:cNvCxnSpPr/>
          <p:nvPr/>
        </p:nvCxnSpPr>
        <p:spPr>
          <a:xfrm>
            <a:off x="12348740" y="7002683"/>
            <a:ext cx="43405" cy="36171"/>
          </a:xfrm>
          <a:prstGeom prst="line">
            <a:avLst/>
          </a:prstGeom>
          <a:ln w="21702">
            <a:solidFill>
              <a:srgbClr val="345A70"/>
            </a:solidFill>
          </a:ln>
          <a:effectLst/>
        </p:spPr>
      </p:cxnSp>
      <p:cxnSp>
        <p:nvCxnSpPr>
          <p:cNvPr id="442" name="stage_icons__vlm_bottom_wave2_0"/>
          <p:cNvCxnSpPr/>
          <p:nvPr/>
        </p:nvCxnSpPr>
        <p:spPr>
          <a:xfrm flipV="1">
            <a:off x="12232993" y="7053322"/>
            <a:ext cx="43405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443" name="stage_icons__vlm_bottom_wave2_1"/>
          <p:cNvCxnSpPr/>
          <p:nvPr/>
        </p:nvCxnSpPr>
        <p:spPr>
          <a:xfrm>
            <a:off x="12276398" y="7053322"/>
            <a:ext cx="50639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444" name="stage_icons__vlm_bottom_wave2_2"/>
          <p:cNvCxnSpPr/>
          <p:nvPr/>
        </p:nvCxnSpPr>
        <p:spPr>
          <a:xfrm flipV="1">
            <a:off x="12327037" y="7053322"/>
            <a:ext cx="50640" cy="28937"/>
          </a:xfrm>
          <a:prstGeom prst="line">
            <a:avLst/>
          </a:prstGeom>
          <a:ln w="14468">
            <a:solidFill>
              <a:srgbClr val="345A70"/>
            </a:solidFill>
          </a:ln>
          <a:effectLst/>
        </p:spPr>
      </p:cxnSp>
      <p:cxnSp>
        <p:nvCxnSpPr>
          <p:cNvPr id="445" name="stage_icons__vlm_bottom_accent1"/>
          <p:cNvCxnSpPr/>
          <p:nvPr/>
        </p:nvCxnSpPr>
        <p:spPr>
          <a:xfrm flipV="1">
            <a:off x="12204056" y="6872468"/>
            <a:ext cx="43406" cy="28937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cxnSp>
        <p:nvCxnSpPr>
          <p:cNvPr id="446" name="stage_icons__vlm_bottom_accent2"/>
          <p:cNvCxnSpPr/>
          <p:nvPr/>
        </p:nvCxnSpPr>
        <p:spPr>
          <a:xfrm flipH="1" flipV="1">
            <a:off x="12363208" y="6872468"/>
            <a:ext cx="43405" cy="28937"/>
          </a:xfrm>
          <a:prstGeom prst="line">
            <a:avLst/>
          </a:prstGeom>
          <a:ln w="28936">
            <a:solidFill>
              <a:srgbClr val="ED7D31"/>
            </a:solidFill>
          </a:ln>
          <a:effectLst/>
        </p:spPr>
      </p:cxnSp>
      <p:sp>
        <p:nvSpPr>
          <p:cNvPr id="447" name="reasoning_bottom__vlm_bottom_label"/>
          <p:cNvSpPr txBox="1"/>
          <p:nvPr/>
        </p:nvSpPr>
        <p:spPr>
          <a:xfrm>
            <a:off x="11531278" y="7198006"/>
            <a:ext cx="1555348" cy="2459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96" b="0" i="0">
                <a:solidFill>
                  <a:srgbClr val="000000"/>
                </a:solidFill>
                <a:latin typeface="Liberation Sans"/>
              </a:defRPr>
            </a:pPr>
            <a:r>
              <a:t>VLM Reasoning</a:t>
            </a:r>
          </a:p>
        </p:txBody>
      </p:sp>
      <p:sp>
        <p:nvSpPr>
          <p:cNvPr id="448" name="reasoning_bottom__result_bottom_header"/>
          <p:cNvSpPr/>
          <p:nvPr/>
        </p:nvSpPr>
        <p:spPr>
          <a:xfrm>
            <a:off x="10786158" y="7458436"/>
            <a:ext cx="2944310" cy="253196"/>
          </a:xfrm>
          <a:prstGeom prst="rect">
            <a:avLst/>
          </a:prstGeom>
          <a:solidFill>
            <a:srgbClr val="F1F1F1"/>
          </a:solidFill>
          <a:ln w="14468">
            <a:solidFill>
              <a:srgbClr val="B8B8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reasoning_bottom__result_bottom_title"/>
          <p:cNvSpPr txBox="1"/>
          <p:nvPr/>
        </p:nvSpPr>
        <p:spPr>
          <a:xfrm>
            <a:off x="11307018" y="7501841"/>
            <a:ext cx="1917056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167" b="1" i="0">
                <a:solidFill>
                  <a:srgbClr val="000000"/>
                </a:solidFill>
                <a:latin typeface="Liberation Sans"/>
              </a:defRPr>
            </a:pPr>
            <a:r>
              <a:t>Refined Reasoning Results</a:t>
            </a:r>
          </a:p>
        </p:txBody>
      </p:sp>
      <p:sp>
        <p:nvSpPr>
          <p:cNvPr id="450" name="reasoning_bottom__result_bottom_body"/>
          <p:cNvSpPr/>
          <p:nvPr/>
        </p:nvSpPr>
        <p:spPr>
          <a:xfrm>
            <a:off x="10786158" y="7762272"/>
            <a:ext cx="2944310" cy="1164702"/>
          </a:xfrm>
          <a:prstGeom prst="rect">
            <a:avLst/>
          </a:prstGeom>
          <a:solidFill>
            <a:srgbClr val="FAE4D6"/>
          </a:solidFill>
          <a:ln w="14468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reasoning_bottom__result_bottom_status"/>
          <p:cNvSpPr txBox="1"/>
          <p:nvPr/>
        </p:nvSpPr>
        <p:spPr>
          <a:xfrm>
            <a:off x="11343189" y="7820145"/>
            <a:ext cx="607670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C6C6C6"/>
                </a:solidFill>
                <a:latin typeface="Liberation Sans"/>
              </a:defRPr>
            </a:pPr>
            <a:r>
              <a:t>Normal /</a:t>
            </a:r>
          </a:p>
        </p:txBody>
      </p:sp>
      <p:sp>
        <p:nvSpPr>
          <p:cNvPr id="452" name="reasoning_bottom__result_bottom_status_label"/>
          <p:cNvSpPr txBox="1"/>
          <p:nvPr/>
        </p:nvSpPr>
        <p:spPr>
          <a:xfrm>
            <a:off x="10872968" y="7820145"/>
            <a:ext cx="462987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Status:</a:t>
            </a:r>
          </a:p>
        </p:txBody>
      </p:sp>
      <p:sp>
        <p:nvSpPr>
          <p:cNvPr id="453" name="reasoning_bottom__result_bottom_status_red"/>
          <p:cNvSpPr txBox="1"/>
          <p:nvPr/>
        </p:nvSpPr>
        <p:spPr>
          <a:xfrm>
            <a:off x="11929158" y="7820145"/>
            <a:ext cx="665544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FF0000"/>
                </a:solidFill>
                <a:latin typeface="Liberation Sans"/>
              </a:defRPr>
            </a:pPr>
            <a:r>
              <a:t>Abnormal</a:t>
            </a:r>
          </a:p>
        </p:txBody>
      </p:sp>
      <p:sp>
        <p:nvSpPr>
          <p:cNvPr id="454" name="reasoning_bottom__result_bottom_status_tail"/>
          <p:cNvSpPr txBox="1"/>
          <p:nvPr/>
        </p:nvSpPr>
        <p:spPr>
          <a:xfrm>
            <a:off x="12493424" y="7820145"/>
            <a:ext cx="976613" cy="1880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C6C6C6"/>
                </a:solidFill>
                <a:latin typeface="Liberation Sans"/>
              </a:defRPr>
            </a:pPr>
            <a:r>
              <a:t>/ Insufficient</a:t>
            </a:r>
          </a:p>
        </p:txBody>
      </p:sp>
      <p:sp>
        <p:nvSpPr>
          <p:cNvPr id="455" name="reasoning_bottom__result_bottom_score"/>
          <p:cNvSpPr txBox="1"/>
          <p:nvPr/>
        </p:nvSpPr>
        <p:spPr>
          <a:xfrm>
            <a:off x="10872968" y="8001000"/>
            <a:ext cx="2170253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Score: 0.9</a:t>
            </a:r>
          </a:p>
        </p:txBody>
      </p:sp>
      <p:sp>
        <p:nvSpPr>
          <p:cNvPr id="456" name="reasoning_bottom__result_bottom_reason_label"/>
          <p:cNvSpPr txBox="1"/>
          <p:nvPr/>
        </p:nvSpPr>
        <p:spPr>
          <a:xfrm>
            <a:off x="10872968" y="8181854"/>
            <a:ext cx="564265" cy="1736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82" b="0" i="0">
                <a:solidFill>
                  <a:srgbClr val="000000"/>
                </a:solidFill>
                <a:latin typeface="Liberation Sans"/>
              </a:defRPr>
            </a:pPr>
            <a:r>
              <a:t>Reason:</a:t>
            </a:r>
          </a:p>
        </p:txBody>
      </p:sp>
      <p:sp>
        <p:nvSpPr>
          <p:cNvPr id="457" name="reasoning_bottom__result_bottom_reason"/>
          <p:cNvSpPr txBox="1"/>
          <p:nvPr/>
        </p:nvSpPr>
        <p:spPr>
          <a:xfrm>
            <a:off x="11415531" y="8181854"/>
            <a:ext cx="2206424" cy="65831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FF0000"/>
                </a:solidFill>
                <a:latin typeface="Liberation Sans"/>
              </a:defRPr>
            </a:pPr>
            <a:r>
              <a:t>The woman carrying the bag 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FF0000"/>
                </a:solidFill>
                <a:latin typeface="Liberation Sans"/>
              </a:defRPr>
            </a:pPr>
            <a:r>
              <a:t>her back without paying, which is 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3" b="0" i="0">
                <a:solidFill>
                  <a:srgbClr val="FF0000"/>
                </a:solidFill>
                <a:latin typeface="Liberation Sans"/>
              </a:defRPr>
            </a:pPr>
            <a:r>
              <a:t>typical shoplifting event.</a:t>
            </a:r>
          </a:p>
        </p:txBody>
      </p:sp>
      <p:pic>
        <p:nvPicPr>
          <p:cNvPr id="458" name="agents__panda_final" descr="panda_fi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62803" y="6539696"/>
            <a:ext cx="557031" cy="75235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ANDA Towards Generalist Video Anomaly Detection via Agentic AI Engine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19835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