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764931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nvas"/>
          <p:cNvSpPr/>
          <p:nvPr/>
        </p:nvSpPr>
        <p:spPr>
          <a:xfrm>
            <a:off x="0" y="0"/>
            <a:ext cx="12191695" cy="7649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background_red_connection_0"/>
          <p:cNvSpPr/>
          <p:nvPr/>
        </p:nvSpPr>
        <p:spPr>
          <a:xfrm>
            <a:off x="472101" y="459342"/>
            <a:ext cx="11458024" cy="574177"/>
          </a:xfrm>
          <a:custGeom>
            <a:avLst/>
            <a:gdLst/>
            <a:ahLst/>
            <a:cxnLst/>
            <a:rect l="l" t="t" r="r" b="b"/>
            <a:pathLst>
              <a:path w="1796" h="90">
                <a:moveTo>
                  <a:pt x="0" y="0"/>
                </a:moveTo>
                <a:lnTo>
                  <a:pt x="486" y="54"/>
                </a:lnTo>
                <a:lnTo>
                  <a:pt x="946" y="90"/>
                </a:lnTo>
                <a:lnTo>
                  <a:pt x="1796" y="24"/>
                </a:lnTo>
              </a:path>
            </a:pathLst>
          </a:custGeom>
          <a:noFill/>
          <a:ln w="19139">
            <a:solidFill>
              <a:srgbClr val="F6CBC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background_red_connection_1"/>
          <p:cNvSpPr/>
          <p:nvPr/>
        </p:nvSpPr>
        <p:spPr>
          <a:xfrm>
            <a:off x="523139" y="663494"/>
            <a:ext cx="11183695" cy="2628455"/>
          </a:xfrm>
          <a:custGeom>
            <a:avLst/>
            <a:gdLst/>
            <a:ahLst/>
            <a:cxnLst/>
            <a:rect l="l" t="t" r="r" b="b"/>
            <a:pathLst>
              <a:path w="1753" h="412">
                <a:moveTo>
                  <a:pt x="0" y="0"/>
                </a:moveTo>
                <a:lnTo>
                  <a:pt x="512" y="246"/>
                </a:lnTo>
                <a:lnTo>
                  <a:pt x="1078" y="412"/>
                </a:lnTo>
                <a:lnTo>
                  <a:pt x="1753" y="122"/>
                </a:lnTo>
              </a:path>
            </a:pathLst>
          </a:custGeom>
          <a:noFill/>
          <a:ln w="19139">
            <a:solidFill>
              <a:srgbClr val="F6CBC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background_red_connection_2"/>
          <p:cNvSpPr/>
          <p:nvPr/>
        </p:nvSpPr>
        <p:spPr>
          <a:xfrm>
            <a:off x="695392" y="963342"/>
            <a:ext cx="10902986" cy="2602936"/>
          </a:xfrm>
          <a:custGeom>
            <a:avLst/>
            <a:gdLst/>
            <a:ahLst/>
            <a:cxnLst/>
            <a:rect l="l" t="t" r="r" b="b"/>
            <a:pathLst>
              <a:path w="1709" h="408">
                <a:moveTo>
                  <a:pt x="0" y="9"/>
                </a:moveTo>
                <a:lnTo>
                  <a:pt x="533" y="279"/>
                </a:lnTo>
                <a:lnTo>
                  <a:pt x="1106" y="408"/>
                </a:lnTo>
                <a:lnTo>
                  <a:pt x="1709" y="0"/>
                </a:lnTo>
              </a:path>
            </a:pathLst>
          </a:custGeom>
          <a:noFill/>
          <a:ln w="19139">
            <a:solidFill>
              <a:srgbClr val="F6CBC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ackground_red_connection_3"/>
          <p:cNvSpPr/>
          <p:nvPr/>
        </p:nvSpPr>
        <p:spPr>
          <a:xfrm>
            <a:off x="1786329" y="548658"/>
            <a:ext cx="9748252" cy="3355747"/>
          </a:xfrm>
          <a:custGeom>
            <a:avLst/>
            <a:gdLst/>
            <a:ahLst/>
            <a:cxnLst/>
            <a:rect l="l" t="t" r="r" b="b"/>
            <a:pathLst>
              <a:path w="1528" h="526">
                <a:moveTo>
                  <a:pt x="0" y="0"/>
                </a:moveTo>
                <a:lnTo>
                  <a:pt x="591" y="44"/>
                </a:lnTo>
                <a:lnTo>
                  <a:pt x="1040" y="289"/>
                </a:lnTo>
                <a:lnTo>
                  <a:pt x="1528" y="526"/>
                </a:lnTo>
              </a:path>
            </a:pathLst>
          </a:custGeom>
          <a:noFill/>
          <a:ln w="19139">
            <a:solidFill>
              <a:srgbClr val="F6CBC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uter_border"/>
          <p:cNvSpPr/>
          <p:nvPr/>
        </p:nvSpPr>
        <p:spPr>
          <a:xfrm>
            <a:off x="89316" y="89316"/>
            <a:ext cx="12013062" cy="7477062"/>
          </a:xfrm>
          <a:prstGeom prst="rect">
            <a:avLst/>
          </a:prstGeom>
          <a:noFill/>
          <a:ln w="25518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itle_synapse"/>
          <p:cNvSpPr txBox="1"/>
          <p:nvPr/>
        </p:nvSpPr>
        <p:spPr>
          <a:xfrm>
            <a:off x="497620" y="108455"/>
            <a:ext cx="2679493" cy="4976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566" b="0" i="0">
                <a:solidFill>
                  <a:srgbClr val="000000"/>
                </a:solidFill>
                <a:latin typeface="Liberation Sans"/>
              </a:rPr>
              <a:t>SYNAPSE</a:t>
            </a:r>
          </a:p>
        </p:txBody>
      </p:sp>
      <p:sp>
        <p:nvSpPr>
          <p:cNvPr id="9" name="title_neuron"/>
          <p:cNvSpPr txBox="1"/>
          <p:nvPr/>
        </p:nvSpPr>
        <p:spPr>
          <a:xfrm>
            <a:off x="4338227" y="108455"/>
            <a:ext cx="5741771" cy="523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516" b="0" i="0">
                <a:solidFill>
                  <a:srgbClr val="000000"/>
                </a:solidFill>
                <a:latin typeface="Liberation Sans"/>
              </a:rPr>
              <a:t>NEURON-LEVEL MODELS</a:t>
            </a:r>
          </a:p>
        </p:txBody>
      </p:sp>
      <p:sp>
        <p:nvSpPr>
          <p:cNvPr id="10" name="neuron_panel_glow"/>
          <p:cNvSpPr/>
          <p:nvPr/>
        </p:nvSpPr>
        <p:spPr>
          <a:xfrm>
            <a:off x="3355746" y="689012"/>
            <a:ext cx="6979442" cy="2807088"/>
          </a:xfrm>
          <a:prstGeom prst="rect">
            <a:avLst/>
          </a:prstGeom>
          <a:noFill/>
          <a:ln w="70177">
            <a:solidFill>
              <a:srgbClr val="F4B7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uron_panel"/>
          <p:cNvSpPr/>
          <p:nvPr/>
        </p:nvSpPr>
        <p:spPr>
          <a:xfrm>
            <a:off x="3355746" y="689012"/>
            <a:ext cx="6979442" cy="2807088"/>
          </a:xfrm>
          <a:prstGeom prst="rect">
            <a:avLst/>
          </a:prstGeom>
          <a:noFill/>
          <a:ln w="25518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ost_state_current_front"/>
          <p:cNvSpPr/>
          <p:nvPr/>
        </p:nvSpPr>
        <p:spPr>
          <a:xfrm>
            <a:off x="274329" y="925063"/>
            <a:ext cx="561417" cy="2577417"/>
          </a:xfrm>
          <a:prstGeom prst="rect">
            <a:avLst/>
          </a:prstGeom>
          <a:solidFill>
            <a:srgbClr val="D7D7D7"/>
          </a:solidFill>
          <a:ln w="14035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ost_state_current_row_01"/>
          <p:cNvSpPr/>
          <p:nvPr/>
        </p:nvSpPr>
        <p:spPr>
          <a:xfrm>
            <a:off x="274329" y="1180253"/>
            <a:ext cx="561418" cy="0"/>
          </a:xfrm>
          <a:custGeom>
            <a:avLst/>
            <a:gdLst/>
            <a:ahLst/>
            <a:cxnLst/>
            <a:rect l="l" t="t" r="r" b="b"/>
            <a:pathLst>
              <a:path w="88" h="0">
                <a:moveTo>
                  <a:pt x="0" y="0"/>
                </a:moveTo>
                <a:lnTo>
                  <a:pt x="88" y="0"/>
                </a:lnTo>
              </a:path>
            </a:pathLst>
          </a:custGeom>
          <a:noFill/>
          <a:ln w="1020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ost_state_current_row_02"/>
          <p:cNvSpPr/>
          <p:nvPr/>
        </p:nvSpPr>
        <p:spPr>
          <a:xfrm>
            <a:off x="274329" y="1441823"/>
            <a:ext cx="561418" cy="0"/>
          </a:xfrm>
          <a:custGeom>
            <a:avLst/>
            <a:gdLst/>
            <a:ahLst/>
            <a:cxnLst/>
            <a:rect l="l" t="t" r="r" b="b"/>
            <a:pathLst>
              <a:path w="88" h="0">
                <a:moveTo>
                  <a:pt x="0" y="0"/>
                </a:moveTo>
                <a:lnTo>
                  <a:pt x="88" y="0"/>
                </a:lnTo>
              </a:path>
            </a:pathLst>
          </a:custGeom>
          <a:noFill/>
          <a:ln w="1020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ost_state_current_row_03"/>
          <p:cNvSpPr/>
          <p:nvPr/>
        </p:nvSpPr>
        <p:spPr>
          <a:xfrm>
            <a:off x="274329" y="1697012"/>
            <a:ext cx="561418" cy="0"/>
          </a:xfrm>
          <a:custGeom>
            <a:avLst/>
            <a:gdLst/>
            <a:ahLst/>
            <a:cxnLst/>
            <a:rect l="l" t="t" r="r" b="b"/>
            <a:pathLst>
              <a:path w="88" h="0">
                <a:moveTo>
                  <a:pt x="0" y="0"/>
                </a:moveTo>
                <a:lnTo>
                  <a:pt x="88" y="0"/>
                </a:lnTo>
              </a:path>
            </a:pathLst>
          </a:custGeom>
          <a:noFill/>
          <a:ln w="1020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ost_state_current_row_04"/>
          <p:cNvSpPr/>
          <p:nvPr/>
        </p:nvSpPr>
        <p:spPr>
          <a:xfrm>
            <a:off x="274329" y="1958582"/>
            <a:ext cx="561418" cy="0"/>
          </a:xfrm>
          <a:custGeom>
            <a:avLst/>
            <a:gdLst/>
            <a:ahLst/>
            <a:cxnLst/>
            <a:rect l="l" t="t" r="r" b="b"/>
            <a:pathLst>
              <a:path w="88" h="0">
                <a:moveTo>
                  <a:pt x="0" y="0"/>
                </a:moveTo>
                <a:lnTo>
                  <a:pt x="88" y="0"/>
                </a:lnTo>
              </a:path>
            </a:pathLst>
          </a:custGeom>
          <a:noFill/>
          <a:ln w="1020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ost_state_current_row_05"/>
          <p:cNvSpPr/>
          <p:nvPr/>
        </p:nvSpPr>
        <p:spPr>
          <a:xfrm>
            <a:off x="274329" y="2213772"/>
            <a:ext cx="561418" cy="0"/>
          </a:xfrm>
          <a:custGeom>
            <a:avLst/>
            <a:gdLst/>
            <a:ahLst/>
            <a:cxnLst/>
            <a:rect l="l" t="t" r="r" b="b"/>
            <a:pathLst>
              <a:path w="88" h="0">
                <a:moveTo>
                  <a:pt x="0" y="0"/>
                </a:moveTo>
                <a:lnTo>
                  <a:pt x="88" y="0"/>
                </a:lnTo>
              </a:path>
            </a:pathLst>
          </a:custGeom>
          <a:noFill/>
          <a:ln w="1020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ost_state_current_row_06"/>
          <p:cNvSpPr/>
          <p:nvPr/>
        </p:nvSpPr>
        <p:spPr>
          <a:xfrm>
            <a:off x="274329" y="2468962"/>
            <a:ext cx="561418" cy="0"/>
          </a:xfrm>
          <a:custGeom>
            <a:avLst/>
            <a:gdLst/>
            <a:ahLst/>
            <a:cxnLst/>
            <a:rect l="l" t="t" r="r" b="b"/>
            <a:pathLst>
              <a:path w="88" h="0">
                <a:moveTo>
                  <a:pt x="0" y="0"/>
                </a:moveTo>
                <a:lnTo>
                  <a:pt x="88" y="0"/>
                </a:lnTo>
              </a:path>
            </a:pathLst>
          </a:custGeom>
          <a:noFill/>
          <a:ln w="1020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ost_state_current_row_07"/>
          <p:cNvSpPr/>
          <p:nvPr/>
        </p:nvSpPr>
        <p:spPr>
          <a:xfrm>
            <a:off x="274329" y="2730531"/>
            <a:ext cx="561418" cy="0"/>
          </a:xfrm>
          <a:custGeom>
            <a:avLst/>
            <a:gdLst/>
            <a:ahLst/>
            <a:cxnLst/>
            <a:rect l="l" t="t" r="r" b="b"/>
            <a:pathLst>
              <a:path w="88" h="0">
                <a:moveTo>
                  <a:pt x="0" y="0"/>
                </a:moveTo>
                <a:lnTo>
                  <a:pt x="88" y="0"/>
                </a:lnTo>
              </a:path>
            </a:pathLst>
          </a:custGeom>
          <a:noFill/>
          <a:ln w="1020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ost_state_current_row_08"/>
          <p:cNvSpPr/>
          <p:nvPr/>
        </p:nvSpPr>
        <p:spPr>
          <a:xfrm>
            <a:off x="274329" y="2985721"/>
            <a:ext cx="561418" cy="0"/>
          </a:xfrm>
          <a:custGeom>
            <a:avLst/>
            <a:gdLst/>
            <a:ahLst/>
            <a:cxnLst/>
            <a:rect l="l" t="t" r="r" b="b"/>
            <a:pathLst>
              <a:path w="88" h="0">
                <a:moveTo>
                  <a:pt x="0" y="0"/>
                </a:moveTo>
                <a:lnTo>
                  <a:pt x="88" y="0"/>
                </a:lnTo>
              </a:path>
            </a:pathLst>
          </a:custGeom>
          <a:noFill/>
          <a:ln w="1020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post_state_current_row_09"/>
          <p:cNvSpPr/>
          <p:nvPr/>
        </p:nvSpPr>
        <p:spPr>
          <a:xfrm>
            <a:off x="274329" y="3247291"/>
            <a:ext cx="561418" cy="0"/>
          </a:xfrm>
          <a:custGeom>
            <a:avLst/>
            <a:gdLst/>
            <a:ahLst/>
            <a:cxnLst/>
            <a:rect l="l" t="t" r="r" b="b"/>
            <a:pathLst>
              <a:path w="88" h="0">
                <a:moveTo>
                  <a:pt x="0" y="0"/>
                </a:moveTo>
                <a:lnTo>
                  <a:pt x="88" y="0"/>
                </a:lnTo>
              </a:path>
            </a:pathLst>
          </a:custGeom>
          <a:noFill/>
          <a:ln w="1020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pre_activation_top"/>
          <p:cNvSpPr/>
          <p:nvPr/>
        </p:nvSpPr>
        <p:spPr>
          <a:xfrm>
            <a:off x="2137215" y="599696"/>
            <a:ext cx="561418" cy="89316"/>
          </a:xfrm>
          <a:custGeom>
            <a:avLst/>
            <a:gdLst/>
            <a:ahLst/>
            <a:cxnLst/>
            <a:rect l="l" t="t" r="r" b="b"/>
            <a:pathLst>
              <a:path w="88" h="14">
                <a:moveTo>
                  <a:pt x="0" y="14"/>
                </a:moveTo>
                <a:lnTo>
                  <a:pt x="14" y="0"/>
                </a:lnTo>
                <a:lnTo>
                  <a:pt x="88" y="0"/>
                </a:lnTo>
                <a:lnTo>
                  <a:pt x="74" y="14"/>
                </a:lnTo>
                <a:close/>
              </a:path>
            </a:pathLst>
          </a:custGeom>
          <a:solidFill>
            <a:srgbClr val="D7D7D7"/>
          </a:solidFill>
          <a:ln w="14035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pre_activation_side"/>
          <p:cNvSpPr/>
          <p:nvPr/>
        </p:nvSpPr>
        <p:spPr>
          <a:xfrm>
            <a:off x="2609316" y="599696"/>
            <a:ext cx="89316" cy="2896405"/>
          </a:xfrm>
          <a:custGeom>
            <a:avLst/>
            <a:gdLst/>
            <a:ahLst/>
            <a:cxnLst/>
            <a:rect l="l" t="t" r="r" b="b"/>
            <a:pathLst>
              <a:path w="14" h="454">
                <a:moveTo>
                  <a:pt x="0" y="14"/>
                </a:moveTo>
                <a:lnTo>
                  <a:pt x="14" y="0"/>
                </a:lnTo>
                <a:lnTo>
                  <a:pt x="14" y="440"/>
                </a:lnTo>
                <a:lnTo>
                  <a:pt x="0" y="454"/>
                </a:lnTo>
                <a:close/>
              </a:path>
            </a:pathLst>
          </a:custGeom>
          <a:solidFill>
            <a:srgbClr val="B8B8B8"/>
          </a:solidFill>
          <a:ln w="14035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pre_activation_front"/>
          <p:cNvSpPr/>
          <p:nvPr/>
        </p:nvSpPr>
        <p:spPr>
          <a:xfrm>
            <a:off x="2137214" y="689012"/>
            <a:ext cx="472101" cy="2807088"/>
          </a:xfrm>
          <a:prstGeom prst="rect">
            <a:avLst/>
          </a:prstGeom>
          <a:solidFill>
            <a:srgbClr val="D7D7D7"/>
          </a:solidFill>
          <a:ln w="14035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pre_activation_row_01"/>
          <p:cNvSpPr/>
          <p:nvPr/>
        </p:nvSpPr>
        <p:spPr>
          <a:xfrm>
            <a:off x="2137215" y="944202"/>
            <a:ext cx="472101" cy="0"/>
          </a:xfrm>
          <a:custGeom>
            <a:avLst/>
            <a:gdLst/>
            <a:ahLst/>
            <a:cxnLst/>
            <a:rect l="l" t="t" r="r" b="b"/>
            <a:pathLst>
              <a:path w="74" h="0">
                <a:moveTo>
                  <a:pt x="0" y="0"/>
                </a:moveTo>
                <a:lnTo>
                  <a:pt x="74" y="0"/>
                </a:lnTo>
              </a:path>
            </a:pathLst>
          </a:custGeom>
          <a:noFill/>
          <a:ln w="1020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pre_activation_row_02"/>
          <p:cNvSpPr/>
          <p:nvPr/>
        </p:nvSpPr>
        <p:spPr>
          <a:xfrm>
            <a:off x="2137215" y="1199392"/>
            <a:ext cx="472101" cy="0"/>
          </a:xfrm>
          <a:custGeom>
            <a:avLst/>
            <a:gdLst/>
            <a:ahLst/>
            <a:cxnLst/>
            <a:rect l="l" t="t" r="r" b="b"/>
            <a:pathLst>
              <a:path w="74" h="0">
                <a:moveTo>
                  <a:pt x="0" y="0"/>
                </a:moveTo>
                <a:lnTo>
                  <a:pt x="74" y="0"/>
                </a:lnTo>
              </a:path>
            </a:pathLst>
          </a:custGeom>
          <a:noFill/>
          <a:ln w="1020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pre_activation_row_03"/>
          <p:cNvSpPr/>
          <p:nvPr/>
        </p:nvSpPr>
        <p:spPr>
          <a:xfrm>
            <a:off x="2137215" y="1454582"/>
            <a:ext cx="472101" cy="0"/>
          </a:xfrm>
          <a:custGeom>
            <a:avLst/>
            <a:gdLst/>
            <a:ahLst/>
            <a:cxnLst/>
            <a:rect l="l" t="t" r="r" b="b"/>
            <a:pathLst>
              <a:path w="74" h="0">
                <a:moveTo>
                  <a:pt x="0" y="0"/>
                </a:moveTo>
                <a:lnTo>
                  <a:pt x="74" y="0"/>
                </a:lnTo>
              </a:path>
            </a:pathLst>
          </a:custGeom>
          <a:noFill/>
          <a:ln w="1020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pre_activation_row_04"/>
          <p:cNvSpPr/>
          <p:nvPr/>
        </p:nvSpPr>
        <p:spPr>
          <a:xfrm>
            <a:off x="2137215" y="1709772"/>
            <a:ext cx="472101" cy="0"/>
          </a:xfrm>
          <a:custGeom>
            <a:avLst/>
            <a:gdLst/>
            <a:ahLst/>
            <a:cxnLst/>
            <a:rect l="l" t="t" r="r" b="b"/>
            <a:pathLst>
              <a:path w="74" h="0">
                <a:moveTo>
                  <a:pt x="0" y="0"/>
                </a:moveTo>
                <a:lnTo>
                  <a:pt x="74" y="0"/>
                </a:lnTo>
              </a:path>
            </a:pathLst>
          </a:custGeom>
          <a:noFill/>
          <a:ln w="1020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pre_activation_row_05"/>
          <p:cNvSpPr/>
          <p:nvPr/>
        </p:nvSpPr>
        <p:spPr>
          <a:xfrm>
            <a:off x="2137215" y="1964962"/>
            <a:ext cx="472101" cy="0"/>
          </a:xfrm>
          <a:custGeom>
            <a:avLst/>
            <a:gdLst/>
            <a:ahLst/>
            <a:cxnLst/>
            <a:rect l="l" t="t" r="r" b="b"/>
            <a:pathLst>
              <a:path w="74" h="0">
                <a:moveTo>
                  <a:pt x="0" y="0"/>
                </a:moveTo>
                <a:lnTo>
                  <a:pt x="74" y="0"/>
                </a:lnTo>
              </a:path>
            </a:pathLst>
          </a:custGeom>
          <a:noFill/>
          <a:ln w="1020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pre_activation_row_06"/>
          <p:cNvSpPr/>
          <p:nvPr/>
        </p:nvSpPr>
        <p:spPr>
          <a:xfrm>
            <a:off x="2137215" y="2220152"/>
            <a:ext cx="472101" cy="0"/>
          </a:xfrm>
          <a:custGeom>
            <a:avLst/>
            <a:gdLst/>
            <a:ahLst/>
            <a:cxnLst/>
            <a:rect l="l" t="t" r="r" b="b"/>
            <a:pathLst>
              <a:path w="74" h="0">
                <a:moveTo>
                  <a:pt x="0" y="0"/>
                </a:moveTo>
                <a:lnTo>
                  <a:pt x="74" y="0"/>
                </a:lnTo>
              </a:path>
            </a:pathLst>
          </a:custGeom>
          <a:noFill/>
          <a:ln w="1020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pre_activation_row_07"/>
          <p:cNvSpPr/>
          <p:nvPr/>
        </p:nvSpPr>
        <p:spPr>
          <a:xfrm>
            <a:off x="2137215" y="2475342"/>
            <a:ext cx="472101" cy="0"/>
          </a:xfrm>
          <a:custGeom>
            <a:avLst/>
            <a:gdLst/>
            <a:ahLst/>
            <a:cxnLst/>
            <a:rect l="l" t="t" r="r" b="b"/>
            <a:pathLst>
              <a:path w="74" h="0">
                <a:moveTo>
                  <a:pt x="0" y="0"/>
                </a:moveTo>
                <a:lnTo>
                  <a:pt x="74" y="0"/>
                </a:lnTo>
              </a:path>
            </a:pathLst>
          </a:custGeom>
          <a:noFill/>
          <a:ln w="1020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pre_activation_row_08"/>
          <p:cNvSpPr/>
          <p:nvPr/>
        </p:nvSpPr>
        <p:spPr>
          <a:xfrm>
            <a:off x="2137215" y="2730531"/>
            <a:ext cx="472101" cy="0"/>
          </a:xfrm>
          <a:custGeom>
            <a:avLst/>
            <a:gdLst/>
            <a:ahLst/>
            <a:cxnLst/>
            <a:rect l="l" t="t" r="r" b="b"/>
            <a:pathLst>
              <a:path w="74" h="0">
                <a:moveTo>
                  <a:pt x="0" y="0"/>
                </a:moveTo>
                <a:lnTo>
                  <a:pt x="74" y="0"/>
                </a:lnTo>
              </a:path>
            </a:pathLst>
          </a:custGeom>
          <a:noFill/>
          <a:ln w="1020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pre_activation_row_09"/>
          <p:cNvSpPr/>
          <p:nvPr/>
        </p:nvSpPr>
        <p:spPr>
          <a:xfrm>
            <a:off x="2137215" y="2985721"/>
            <a:ext cx="472101" cy="0"/>
          </a:xfrm>
          <a:custGeom>
            <a:avLst/>
            <a:gdLst/>
            <a:ahLst/>
            <a:cxnLst/>
            <a:rect l="l" t="t" r="r" b="b"/>
            <a:pathLst>
              <a:path w="74" h="0">
                <a:moveTo>
                  <a:pt x="0" y="0"/>
                </a:moveTo>
                <a:lnTo>
                  <a:pt x="74" y="0"/>
                </a:lnTo>
              </a:path>
            </a:pathLst>
          </a:custGeom>
          <a:noFill/>
          <a:ln w="1020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pre_activation_row_10"/>
          <p:cNvSpPr/>
          <p:nvPr/>
        </p:nvSpPr>
        <p:spPr>
          <a:xfrm>
            <a:off x="2137215" y="3240911"/>
            <a:ext cx="472101" cy="0"/>
          </a:xfrm>
          <a:custGeom>
            <a:avLst/>
            <a:gdLst/>
            <a:ahLst/>
            <a:cxnLst/>
            <a:rect l="l" t="t" r="r" b="b"/>
            <a:pathLst>
              <a:path w="74" h="0">
                <a:moveTo>
                  <a:pt x="0" y="0"/>
                </a:moveTo>
                <a:lnTo>
                  <a:pt x="74" y="0"/>
                </a:lnTo>
              </a:path>
            </a:pathLst>
          </a:custGeom>
          <a:noFill/>
          <a:ln w="1020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synapse_core_top"/>
          <p:cNvSpPr/>
          <p:nvPr/>
        </p:nvSpPr>
        <p:spPr>
          <a:xfrm>
            <a:off x="1218532" y="1531139"/>
            <a:ext cx="555038" cy="95696"/>
          </a:xfrm>
          <a:custGeom>
            <a:avLst/>
            <a:gdLst/>
            <a:ahLst/>
            <a:cxnLst/>
            <a:rect l="l" t="t" r="r" b="b"/>
            <a:pathLst>
              <a:path w="87" h="15">
                <a:moveTo>
                  <a:pt x="0" y="15"/>
                </a:moveTo>
                <a:lnTo>
                  <a:pt x="15" y="0"/>
                </a:lnTo>
                <a:lnTo>
                  <a:pt x="87" y="0"/>
                </a:lnTo>
                <a:lnTo>
                  <a:pt x="72" y="15"/>
                </a:lnTo>
                <a:close/>
              </a:path>
            </a:pathLst>
          </a:custGeom>
          <a:solidFill>
            <a:srgbClr val="D7D7D7"/>
          </a:solidFill>
          <a:ln w="14035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synapse_core_side"/>
          <p:cNvSpPr/>
          <p:nvPr/>
        </p:nvSpPr>
        <p:spPr>
          <a:xfrm>
            <a:off x="1677873" y="1531139"/>
            <a:ext cx="95696" cy="1065418"/>
          </a:xfrm>
          <a:custGeom>
            <a:avLst/>
            <a:gdLst/>
            <a:ahLst/>
            <a:cxnLst/>
            <a:rect l="l" t="t" r="r" b="b"/>
            <a:pathLst>
              <a:path w="15" h="167">
                <a:moveTo>
                  <a:pt x="0" y="15"/>
                </a:moveTo>
                <a:lnTo>
                  <a:pt x="15" y="0"/>
                </a:lnTo>
                <a:lnTo>
                  <a:pt x="15" y="152"/>
                </a:lnTo>
                <a:lnTo>
                  <a:pt x="0" y="167"/>
                </a:lnTo>
                <a:close/>
              </a:path>
            </a:pathLst>
          </a:custGeom>
          <a:solidFill>
            <a:srgbClr val="B8B8B8"/>
          </a:solidFill>
          <a:ln w="14035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synapse_core_front"/>
          <p:cNvSpPr/>
          <p:nvPr/>
        </p:nvSpPr>
        <p:spPr>
          <a:xfrm>
            <a:off x="1218531" y="1626835"/>
            <a:ext cx="459341" cy="969721"/>
          </a:xfrm>
          <a:prstGeom prst="rect">
            <a:avLst/>
          </a:prstGeom>
          <a:solidFill>
            <a:srgbClr val="B8B8B8"/>
          </a:solidFill>
          <a:ln w="14035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synapse_core_row_01"/>
          <p:cNvSpPr/>
          <p:nvPr/>
        </p:nvSpPr>
        <p:spPr>
          <a:xfrm>
            <a:off x="1218532" y="1869266"/>
            <a:ext cx="459342" cy="0"/>
          </a:xfrm>
          <a:custGeom>
            <a:avLst/>
            <a:gdLst/>
            <a:ahLst/>
            <a:cxnLst/>
            <a:rect l="l" t="t" r="r" b="b"/>
            <a:pathLst>
              <a:path w="72" h="0">
                <a:moveTo>
                  <a:pt x="0" y="0"/>
                </a:moveTo>
                <a:lnTo>
                  <a:pt x="72" y="0"/>
                </a:lnTo>
              </a:path>
            </a:pathLst>
          </a:custGeom>
          <a:noFill/>
          <a:ln w="1020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synapse_core_row_02"/>
          <p:cNvSpPr/>
          <p:nvPr/>
        </p:nvSpPr>
        <p:spPr>
          <a:xfrm>
            <a:off x="1218532" y="2111696"/>
            <a:ext cx="459342" cy="0"/>
          </a:xfrm>
          <a:custGeom>
            <a:avLst/>
            <a:gdLst/>
            <a:ahLst/>
            <a:cxnLst/>
            <a:rect l="l" t="t" r="r" b="b"/>
            <a:pathLst>
              <a:path w="72" h="0">
                <a:moveTo>
                  <a:pt x="0" y="0"/>
                </a:moveTo>
                <a:lnTo>
                  <a:pt x="72" y="0"/>
                </a:lnTo>
              </a:path>
            </a:pathLst>
          </a:custGeom>
          <a:noFill/>
          <a:ln w="1020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synapse_core_row_03"/>
          <p:cNvSpPr/>
          <p:nvPr/>
        </p:nvSpPr>
        <p:spPr>
          <a:xfrm>
            <a:off x="1218532" y="2354126"/>
            <a:ext cx="459342" cy="0"/>
          </a:xfrm>
          <a:custGeom>
            <a:avLst/>
            <a:gdLst/>
            <a:ahLst/>
            <a:cxnLst/>
            <a:rect l="l" t="t" r="r" b="b"/>
            <a:pathLst>
              <a:path w="72" h="0">
                <a:moveTo>
                  <a:pt x="0" y="0"/>
                </a:moveTo>
                <a:lnTo>
                  <a:pt x="72" y="0"/>
                </a:lnTo>
              </a:path>
            </a:pathLst>
          </a:custGeom>
          <a:noFill/>
          <a:ln w="1020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input_state_top"/>
          <p:cNvSpPr/>
          <p:nvPr/>
        </p:nvSpPr>
        <p:spPr>
          <a:xfrm>
            <a:off x="274329" y="3547139"/>
            <a:ext cx="567797" cy="89316"/>
          </a:xfrm>
          <a:custGeom>
            <a:avLst/>
            <a:gdLst/>
            <a:ahLst/>
            <a:cxnLst/>
            <a:rect l="l" t="t" r="r" b="b"/>
            <a:pathLst>
              <a:path w="89" h="14">
                <a:moveTo>
                  <a:pt x="0" y="14"/>
                </a:moveTo>
                <a:lnTo>
                  <a:pt x="14" y="0"/>
                </a:lnTo>
                <a:lnTo>
                  <a:pt x="89" y="0"/>
                </a:lnTo>
                <a:lnTo>
                  <a:pt x="75" y="14"/>
                </a:lnTo>
                <a:close/>
              </a:path>
            </a:pathLst>
          </a:custGeom>
          <a:solidFill>
            <a:srgbClr val="D7D7D7"/>
          </a:solidFill>
          <a:ln w="14035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input_state_side"/>
          <p:cNvSpPr/>
          <p:nvPr/>
        </p:nvSpPr>
        <p:spPr>
          <a:xfrm>
            <a:off x="752810" y="3547139"/>
            <a:ext cx="89316" cy="1020759"/>
          </a:xfrm>
          <a:custGeom>
            <a:avLst/>
            <a:gdLst/>
            <a:ahLst/>
            <a:cxnLst/>
            <a:rect l="l" t="t" r="r" b="b"/>
            <a:pathLst>
              <a:path w="14" h="160">
                <a:moveTo>
                  <a:pt x="0" y="14"/>
                </a:moveTo>
                <a:lnTo>
                  <a:pt x="14" y="0"/>
                </a:lnTo>
                <a:lnTo>
                  <a:pt x="14" y="146"/>
                </a:lnTo>
                <a:lnTo>
                  <a:pt x="0" y="160"/>
                </a:lnTo>
                <a:close/>
              </a:path>
            </a:pathLst>
          </a:custGeom>
          <a:solidFill>
            <a:srgbClr val="B8B8B8"/>
          </a:solidFill>
          <a:ln w="14035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input_state_front"/>
          <p:cNvSpPr/>
          <p:nvPr/>
        </p:nvSpPr>
        <p:spPr>
          <a:xfrm>
            <a:off x="274329" y="3636455"/>
            <a:ext cx="478480" cy="931442"/>
          </a:xfrm>
          <a:prstGeom prst="rect">
            <a:avLst/>
          </a:prstGeom>
          <a:solidFill>
            <a:srgbClr val="FFE22A"/>
          </a:solidFill>
          <a:ln w="14035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input_state_row_01"/>
          <p:cNvSpPr/>
          <p:nvPr/>
        </p:nvSpPr>
        <p:spPr>
          <a:xfrm>
            <a:off x="274329" y="3866126"/>
            <a:ext cx="478481" cy="0"/>
          </a:xfrm>
          <a:custGeom>
            <a:avLst/>
            <a:gdLst/>
            <a:ahLst/>
            <a:cxnLst/>
            <a:rect l="l" t="t" r="r" b="b"/>
            <a:pathLst>
              <a:path w="75" h="0">
                <a:moveTo>
                  <a:pt x="0" y="0"/>
                </a:moveTo>
                <a:lnTo>
                  <a:pt x="75" y="0"/>
                </a:lnTo>
              </a:path>
            </a:pathLst>
          </a:custGeom>
          <a:noFill/>
          <a:ln w="1020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input_state_row_02"/>
          <p:cNvSpPr/>
          <p:nvPr/>
        </p:nvSpPr>
        <p:spPr>
          <a:xfrm>
            <a:off x="274329" y="4102177"/>
            <a:ext cx="478481" cy="0"/>
          </a:xfrm>
          <a:custGeom>
            <a:avLst/>
            <a:gdLst/>
            <a:ahLst/>
            <a:cxnLst/>
            <a:rect l="l" t="t" r="r" b="b"/>
            <a:pathLst>
              <a:path w="75" h="0">
                <a:moveTo>
                  <a:pt x="0" y="0"/>
                </a:moveTo>
                <a:lnTo>
                  <a:pt x="75" y="0"/>
                </a:lnTo>
              </a:path>
            </a:pathLst>
          </a:custGeom>
          <a:noFill/>
          <a:ln w="1020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input_state_row_03"/>
          <p:cNvSpPr/>
          <p:nvPr/>
        </p:nvSpPr>
        <p:spPr>
          <a:xfrm>
            <a:off x="274329" y="4338227"/>
            <a:ext cx="478481" cy="0"/>
          </a:xfrm>
          <a:custGeom>
            <a:avLst/>
            <a:gdLst/>
            <a:ahLst/>
            <a:cxnLst/>
            <a:rect l="l" t="t" r="r" b="b"/>
            <a:pathLst>
              <a:path w="75" h="0">
                <a:moveTo>
                  <a:pt x="0" y="0"/>
                </a:moveTo>
                <a:lnTo>
                  <a:pt x="75" y="0"/>
                </a:lnTo>
              </a:path>
            </a:pathLst>
          </a:custGeom>
          <a:noFill/>
          <a:ln w="1020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synapse_blue_left_00"/>
          <p:cNvSpPr/>
          <p:nvPr/>
        </p:nvSpPr>
        <p:spPr>
          <a:xfrm>
            <a:off x="842126" y="1020759"/>
            <a:ext cx="376405" cy="701772"/>
          </a:xfrm>
          <a:custGeom>
            <a:avLst/>
            <a:gdLst/>
            <a:ahLst/>
            <a:cxnLst/>
            <a:rect l="l" t="t" r="r" b="b"/>
            <a:pathLst>
              <a:path w="59" h="110">
                <a:moveTo>
                  <a:pt x="0" y="0"/>
                </a:moveTo>
                <a:lnTo>
                  <a:pt x="59" y="110"/>
                </a:lnTo>
              </a:path>
            </a:pathLst>
          </a:custGeom>
          <a:noFill/>
          <a:ln w="8931">
            <a:solidFill>
              <a:srgbClr val="8585F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synapse_blue_right_00"/>
          <p:cNvSpPr/>
          <p:nvPr/>
        </p:nvSpPr>
        <p:spPr>
          <a:xfrm>
            <a:off x="1677873" y="829367"/>
            <a:ext cx="459342" cy="893164"/>
          </a:xfrm>
          <a:custGeom>
            <a:avLst/>
            <a:gdLst/>
            <a:ahLst/>
            <a:cxnLst/>
            <a:rect l="l" t="t" r="r" b="b"/>
            <a:pathLst>
              <a:path w="72" h="140">
                <a:moveTo>
                  <a:pt x="0" y="140"/>
                </a:moveTo>
                <a:lnTo>
                  <a:pt x="72" y="0"/>
                </a:lnTo>
              </a:path>
            </a:pathLst>
          </a:custGeom>
          <a:noFill/>
          <a:ln w="8931">
            <a:solidFill>
              <a:srgbClr val="7777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synapse_blue_left_01"/>
          <p:cNvSpPr/>
          <p:nvPr/>
        </p:nvSpPr>
        <p:spPr>
          <a:xfrm>
            <a:off x="842126" y="1282329"/>
            <a:ext cx="376405" cy="676253"/>
          </a:xfrm>
          <a:custGeom>
            <a:avLst/>
            <a:gdLst/>
            <a:ahLst/>
            <a:cxnLst/>
            <a:rect l="l" t="t" r="r" b="b"/>
            <a:pathLst>
              <a:path w="59" h="106">
                <a:moveTo>
                  <a:pt x="0" y="0"/>
                </a:moveTo>
                <a:lnTo>
                  <a:pt x="59" y="106"/>
                </a:lnTo>
              </a:path>
            </a:pathLst>
          </a:custGeom>
          <a:noFill/>
          <a:ln w="8931">
            <a:solidFill>
              <a:srgbClr val="8585F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synapse_blue_right_01"/>
          <p:cNvSpPr/>
          <p:nvPr/>
        </p:nvSpPr>
        <p:spPr>
          <a:xfrm>
            <a:off x="1677873" y="1167494"/>
            <a:ext cx="459342" cy="791089"/>
          </a:xfrm>
          <a:custGeom>
            <a:avLst/>
            <a:gdLst/>
            <a:ahLst/>
            <a:cxnLst/>
            <a:rect l="l" t="t" r="r" b="b"/>
            <a:pathLst>
              <a:path w="72" h="124">
                <a:moveTo>
                  <a:pt x="0" y="124"/>
                </a:moveTo>
                <a:lnTo>
                  <a:pt x="72" y="0"/>
                </a:lnTo>
              </a:path>
            </a:pathLst>
          </a:custGeom>
          <a:noFill/>
          <a:ln w="8931">
            <a:solidFill>
              <a:srgbClr val="7777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synapse_blue_left_02"/>
          <p:cNvSpPr/>
          <p:nvPr/>
        </p:nvSpPr>
        <p:spPr>
          <a:xfrm>
            <a:off x="842126" y="1543899"/>
            <a:ext cx="376405" cy="650734"/>
          </a:xfrm>
          <a:custGeom>
            <a:avLst/>
            <a:gdLst/>
            <a:ahLst/>
            <a:cxnLst/>
            <a:rect l="l" t="t" r="r" b="b"/>
            <a:pathLst>
              <a:path w="59" h="102">
                <a:moveTo>
                  <a:pt x="0" y="0"/>
                </a:moveTo>
                <a:lnTo>
                  <a:pt x="59" y="102"/>
                </a:lnTo>
              </a:path>
            </a:pathLst>
          </a:custGeom>
          <a:noFill/>
          <a:ln w="8931">
            <a:solidFill>
              <a:srgbClr val="8585F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synapse_blue_right_02"/>
          <p:cNvSpPr/>
          <p:nvPr/>
        </p:nvSpPr>
        <p:spPr>
          <a:xfrm>
            <a:off x="1677873" y="1505620"/>
            <a:ext cx="459342" cy="689013"/>
          </a:xfrm>
          <a:custGeom>
            <a:avLst/>
            <a:gdLst/>
            <a:ahLst/>
            <a:cxnLst/>
            <a:rect l="l" t="t" r="r" b="b"/>
            <a:pathLst>
              <a:path w="72" h="108">
                <a:moveTo>
                  <a:pt x="0" y="108"/>
                </a:moveTo>
                <a:lnTo>
                  <a:pt x="72" y="0"/>
                </a:lnTo>
              </a:path>
            </a:pathLst>
          </a:custGeom>
          <a:noFill/>
          <a:ln w="8931">
            <a:solidFill>
              <a:srgbClr val="7777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synapse_blue_left_03"/>
          <p:cNvSpPr/>
          <p:nvPr/>
        </p:nvSpPr>
        <p:spPr>
          <a:xfrm>
            <a:off x="842126" y="1748050"/>
            <a:ext cx="376405" cy="682633"/>
          </a:xfrm>
          <a:custGeom>
            <a:avLst/>
            <a:gdLst/>
            <a:ahLst/>
            <a:cxnLst/>
            <a:rect l="l" t="t" r="r" b="b"/>
            <a:pathLst>
              <a:path w="59" h="107">
                <a:moveTo>
                  <a:pt x="0" y="0"/>
                </a:moveTo>
                <a:lnTo>
                  <a:pt x="59" y="107"/>
                </a:lnTo>
              </a:path>
            </a:pathLst>
          </a:custGeom>
          <a:noFill/>
          <a:ln w="8931">
            <a:solidFill>
              <a:srgbClr val="8585F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synapse_blue_right_03"/>
          <p:cNvSpPr/>
          <p:nvPr/>
        </p:nvSpPr>
        <p:spPr>
          <a:xfrm>
            <a:off x="1677873" y="1843747"/>
            <a:ext cx="459342" cy="586937"/>
          </a:xfrm>
          <a:custGeom>
            <a:avLst/>
            <a:gdLst/>
            <a:ahLst/>
            <a:cxnLst/>
            <a:rect l="l" t="t" r="r" b="b"/>
            <a:pathLst>
              <a:path w="72" h="92">
                <a:moveTo>
                  <a:pt x="0" y="92"/>
                </a:moveTo>
                <a:lnTo>
                  <a:pt x="72" y="0"/>
                </a:lnTo>
              </a:path>
            </a:pathLst>
          </a:custGeom>
          <a:noFill/>
          <a:ln w="8931">
            <a:solidFill>
              <a:srgbClr val="7777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synapse_blue_left_04"/>
          <p:cNvSpPr/>
          <p:nvPr/>
        </p:nvSpPr>
        <p:spPr>
          <a:xfrm>
            <a:off x="842126" y="1862886"/>
            <a:ext cx="376405" cy="146734"/>
          </a:xfrm>
          <a:custGeom>
            <a:avLst/>
            <a:gdLst/>
            <a:ahLst/>
            <a:cxnLst/>
            <a:rect l="l" t="t" r="r" b="b"/>
            <a:pathLst>
              <a:path w="59" h="23">
                <a:moveTo>
                  <a:pt x="0" y="23"/>
                </a:moveTo>
                <a:lnTo>
                  <a:pt x="59" y="0"/>
                </a:lnTo>
              </a:path>
            </a:pathLst>
          </a:custGeom>
          <a:noFill/>
          <a:ln w="8931">
            <a:solidFill>
              <a:srgbClr val="8585F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synapse_blue_right_04"/>
          <p:cNvSpPr/>
          <p:nvPr/>
        </p:nvSpPr>
        <p:spPr>
          <a:xfrm>
            <a:off x="1677873" y="1862886"/>
            <a:ext cx="459342" cy="318987"/>
          </a:xfrm>
          <a:custGeom>
            <a:avLst/>
            <a:gdLst/>
            <a:ahLst/>
            <a:cxnLst/>
            <a:rect l="l" t="t" r="r" b="b"/>
            <a:pathLst>
              <a:path w="72" h="50">
                <a:moveTo>
                  <a:pt x="0" y="0"/>
                </a:moveTo>
                <a:lnTo>
                  <a:pt x="72" y="50"/>
                </a:lnTo>
              </a:path>
            </a:pathLst>
          </a:custGeom>
          <a:noFill/>
          <a:ln w="8931">
            <a:solidFill>
              <a:srgbClr val="7777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synapse_blue_left_05"/>
          <p:cNvSpPr/>
          <p:nvPr/>
        </p:nvSpPr>
        <p:spPr>
          <a:xfrm>
            <a:off x="842126" y="2098937"/>
            <a:ext cx="376405" cy="172253"/>
          </a:xfrm>
          <a:custGeom>
            <a:avLst/>
            <a:gdLst/>
            <a:ahLst/>
            <a:cxnLst/>
            <a:rect l="l" t="t" r="r" b="b"/>
            <a:pathLst>
              <a:path w="59" h="27">
                <a:moveTo>
                  <a:pt x="0" y="27"/>
                </a:moveTo>
                <a:lnTo>
                  <a:pt x="59" y="0"/>
                </a:lnTo>
              </a:path>
            </a:pathLst>
          </a:custGeom>
          <a:noFill/>
          <a:ln w="8931">
            <a:solidFill>
              <a:srgbClr val="8585F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synapse_blue_right_05"/>
          <p:cNvSpPr/>
          <p:nvPr/>
        </p:nvSpPr>
        <p:spPr>
          <a:xfrm>
            <a:off x="1677873" y="2098937"/>
            <a:ext cx="459342" cy="421063"/>
          </a:xfrm>
          <a:custGeom>
            <a:avLst/>
            <a:gdLst/>
            <a:ahLst/>
            <a:cxnLst/>
            <a:rect l="l" t="t" r="r" b="b"/>
            <a:pathLst>
              <a:path w="72" h="66">
                <a:moveTo>
                  <a:pt x="0" y="0"/>
                </a:moveTo>
                <a:lnTo>
                  <a:pt x="72" y="66"/>
                </a:lnTo>
              </a:path>
            </a:pathLst>
          </a:custGeom>
          <a:noFill/>
          <a:ln w="8931">
            <a:solidFill>
              <a:srgbClr val="7777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synapse_blue_left_06"/>
          <p:cNvSpPr/>
          <p:nvPr/>
        </p:nvSpPr>
        <p:spPr>
          <a:xfrm>
            <a:off x="842126" y="2334987"/>
            <a:ext cx="376405" cy="140354"/>
          </a:xfrm>
          <a:custGeom>
            <a:avLst/>
            <a:gdLst/>
            <a:ahLst/>
            <a:cxnLst/>
            <a:rect l="l" t="t" r="r" b="b"/>
            <a:pathLst>
              <a:path w="59" h="22">
                <a:moveTo>
                  <a:pt x="0" y="22"/>
                </a:moveTo>
                <a:lnTo>
                  <a:pt x="59" y="0"/>
                </a:lnTo>
              </a:path>
            </a:pathLst>
          </a:custGeom>
          <a:noFill/>
          <a:ln w="8931">
            <a:solidFill>
              <a:srgbClr val="8585F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synapse_blue_right_06"/>
          <p:cNvSpPr/>
          <p:nvPr/>
        </p:nvSpPr>
        <p:spPr>
          <a:xfrm>
            <a:off x="1677873" y="2334987"/>
            <a:ext cx="459342" cy="523139"/>
          </a:xfrm>
          <a:custGeom>
            <a:avLst/>
            <a:gdLst/>
            <a:ahLst/>
            <a:cxnLst/>
            <a:rect l="l" t="t" r="r" b="b"/>
            <a:pathLst>
              <a:path w="72" h="82">
                <a:moveTo>
                  <a:pt x="0" y="0"/>
                </a:moveTo>
                <a:lnTo>
                  <a:pt x="72" y="82"/>
                </a:lnTo>
              </a:path>
            </a:pathLst>
          </a:custGeom>
          <a:noFill/>
          <a:ln w="8931">
            <a:solidFill>
              <a:srgbClr val="7777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synapse_blue_left_07"/>
          <p:cNvSpPr/>
          <p:nvPr/>
        </p:nvSpPr>
        <p:spPr>
          <a:xfrm>
            <a:off x="842126" y="1767190"/>
            <a:ext cx="376405" cy="969721"/>
          </a:xfrm>
          <a:custGeom>
            <a:avLst/>
            <a:gdLst/>
            <a:ahLst/>
            <a:cxnLst/>
            <a:rect l="l" t="t" r="r" b="b"/>
            <a:pathLst>
              <a:path w="59" h="152">
                <a:moveTo>
                  <a:pt x="0" y="152"/>
                </a:moveTo>
                <a:lnTo>
                  <a:pt x="59" y="0"/>
                </a:lnTo>
              </a:path>
            </a:pathLst>
          </a:custGeom>
          <a:noFill/>
          <a:ln w="8931">
            <a:solidFill>
              <a:srgbClr val="8585F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synapse_blue_right_07"/>
          <p:cNvSpPr/>
          <p:nvPr/>
        </p:nvSpPr>
        <p:spPr>
          <a:xfrm>
            <a:off x="1677873" y="1767190"/>
            <a:ext cx="459342" cy="1429063"/>
          </a:xfrm>
          <a:custGeom>
            <a:avLst/>
            <a:gdLst/>
            <a:ahLst/>
            <a:cxnLst/>
            <a:rect l="l" t="t" r="r" b="b"/>
            <a:pathLst>
              <a:path w="72" h="224">
                <a:moveTo>
                  <a:pt x="0" y="0"/>
                </a:moveTo>
                <a:lnTo>
                  <a:pt x="72" y="224"/>
                </a:lnTo>
              </a:path>
            </a:pathLst>
          </a:custGeom>
          <a:noFill/>
          <a:ln w="8931">
            <a:solidFill>
              <a:srgbClr val="7777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synapse_blue_left_08"/>
          <p:cNvSpPr/>
          <p:nvPr/>
        </p:nvSpPr>
        <p:spPr>
          <a:xfrm>
            <a:off x="842126" y="2003240"/>
            <a:ext cx="376405" cy="995240"/>
          </a:xfrm>
          <a:custGeom>
            <a:avLst/>
            <a:gdLst/>
            <a:ahLst/>
            <a:cxnLst/>
            <a:rect l="l" t="t" r="r" b="b"/>
            <a:pathLst>
              <a:path w="59" h="156">
                <a:moveTo>
                  <a:pt x="0" y="156"/>
                </a:moveTo>
                <a:lnTo>
                  <a:pt x="59" y="0"/>
                </a:lnTo>
              </a:path>
            </a:pathLst>
          </a:custGeom>
          <a:noFill/>
          <a:ln w="8931">
            <a:solidFill>
              <a:srgbClr val="8585F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synapse_blue_right_08"/>
          <p:cNvSpPr/>
          <p:nvPr/>
        </p:nvSpPr>
        <p:spPr>
          <a:xfrm>
            <a:off x="1677873" y="950582"/>
            <a:ext cx="459342" cy="1052658"/>
          </a:xfrm>
          <a:custGeom>
            <a:avLst/>
            <a:gdLst/>
            <a:ahLst/>
            <a:cxnLst/>
            <a:rect l="l" t="t" r="r" b="b"/>
            <a:pathLst>
              <a:path w="72" h="165">
                <a:moveTo>
                  <a:pt x="0" y="165"/>
                </a:moveTo>
                <a:lnTo>
                  <a:pt x="72" y="0"/>
                </a:lnTo>
              </a:path>
            </a:pathLst>
          </a:custGeom>
          <a:noFill/>
          <a:ln w="8931">
            <a:solidFill>
              <a:srgbClr val="7777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synapse_blue_left_09"/>
          <p:cNvSpPr/>
          <p:nvPr/>
        </p:nvSpPr>
        <p:spPr>
          <a:xfrm>
            <a:off x="842126" y="2239291"/>
            <a:ext cx="376405" cy="963342"/>
          </a:xfrm>
          <a:custGeom>
            <a:avLst/>
            <a:gdLst/>
            <a:ahLst/>
            <a:cxnLst/>
            <a:rect l="l" t="t" r="r" b="b"/>
            <a:pathLst>
              <a:path w="59" h="151">
                <a:moveTo>
                  <a:pt x="0" y="151"/>
                </a:moveTo>
                <a:lnTo>
                  <a:pt x="59" y="0"/>
                </a:lnTo>
              </a:path>
            </a:pathLst>
          </a:custGeom>
          <a:noFill/>
          <a:ln w="8931">
            <a:solidFill>
              <a:srgbClr val="8585F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synapse_blue_right_09"/>
          <p:cNvSpPr/>
          <p:nvPr/>
        </p:nvSpPr>
        <p:spPr>
          <a:xfrm>
            <a:off x="1677873" y="1288709"/>
            <a:ext cx="459342" cy="950582"/>
          </a:xfrm>
          <a:custGeom>
            <a:avLst/>
            <a:gdLst/>
            <a:ahLst/>
            <a:cxnLst/>
            <a:rect l="l" t="t" r="r" b="b"/>
            <a:pathLst>
              <a:path w="72" h="149">
                <a:moveTo>
                  <a:pt x="0" y="149"/>
                </a:moveTo>
                <a:lnTo>
                  <a:pt x="72" y="0"/>
                </a:lnTo>
              </a:path>
            </a:pathLst>
          </a:custGeom>
          <a:noFill/>
          <a:ln w="8931">
            <a:solidFill>
              <a:srgbClr val="7777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synapse_blue_left_10"/>
          <p:cNvSpPr/>
          <p:nvPr/>
        </p:nvSpPr>
        <p:spPr>
          <a:xfrm>
            <a:off x="842126" y="1039899"/>
            <a:ext cx="376405" cy="1435443"/>
          </a:xfrm>
          <a:custGeom>
            <a:avLst/>
            <a:gdLst/>
            <a:ahLst/>
            <a:cxnLst/>
            <a:rect l="l" t="t" r="r" b="b"/>
            <a:pathLst>
              <a:path w="59" h="225">
                <a:moveTo>
                  <a:pt x="0" y="0"/>
                </a:moveTo>
                <a:lnTo>
                  <a:pt x="59" y="225"/>
                </a:lnTo>
              </a:path>
            </a:pathLst>
          </a:custGeom>
          <a:noFill/>
          <a:ln w="8931">
            <a:solidFill>
              <a:srgbClr val="8585F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synapse_blue_right_10"/>
          <p:cNvSpPr/>
          <p:nvPr/>
        </p:nvSpPr>
        <p:spPr>
          <a:xfrm>
            <a:off x="1677873" y="1626835"/>
            <a:ext cx="459342" cy="848506"/>
          </a:xfrm>
          <a:custGeom>
            <a:avLst/>
            <a:gdLst/>
            <a:ahLst/>
            <a:cxnLst/>
            <a:rect l="l" t="t" r="r" b="b"/>
            <a:pathLst>
              <a:path w="72" h="133">
                <a:moveTo>
                  <a:pt x="0" y="133"/>
                </a:moveTo>
                <a:lnTo>
                  <a:pt x="72" y="0"/>
                </a:lnTo>
              </a:path>
            </a:pathLst>
          </a:custGeom>
          <a:noFill/>
          <a:ln w="8931">
            <a:solidFill>
              <a:srgbClr val="7777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synapse_blue_left_11"/>
          <p:cNvSpPr/>
          <p:nvPr/>
        </p:nvSpPr>
        <p:spPr>
          <a:xfrm>
            <a:off x="842126" y="1301468"/>
            <a:ext cx="376405" cy="606076"/>
          </a:xfrm>
          <a:custGeom>
            <a:avLst/>
            <a:gdLst/>
            <a:ahLst/>
            <a:cxnLst/>
            <a:rect l="l" t="t" r="r" b="b"/>
            <a:pathLst>
              <a:path w="59" h="95">
                <a:moveTo>
                  <a:pt x="0" y="0"/>
                </a:moveTo>
                <a:lnTo>
                  <a:pt x="59" y="95"/>
                </a:lnTo>
              </a:path>
            </a:pathLst>
          </a:custGeom>
          <a:noFill/>
          <a:ln w="8931">
            <a:solidFill>
              <a:srgbClr val="8585F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synapse_blue_right_11"/>
          <p:cNvSpPr/>
          <p:nvPr/>
        </p:nvSpPr>
        <p:spPr>
          <a:xfrm>
            <a:off x="1677873" y="1907544"/>
            <a:ext cx="459342" cy="57418"/>
          </a:xfrm>
          <a:custGeom>
            <a:avLst/>
            <a:gdLst/>
            <a:ahLst/>
            <a:cxnLst/>
            <a:rect l="l" t="t" r="r" b="b"/>
            <a:pathLst>
              <a:path w="72" h="9">
                <a:moveTo>
                  <a:pt x="0" y="0"/>
                </a:moveTo>
                <a:lnTo>
                  <a:pt x="72" y="9"/>
                </a:lnTo>
              </a:path>
            </a:pathLst>
          </a:custGeom>
          <a:noFill/>
          <a:ln w="8931">
            <a:solidFill>
              <a:srgbClr val="7777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synapse_blue_left_12"/>
          <p:cNvSpPr/>
          <p:nvPr/>
        </p:nvSpPr>
        <p:spPr>
          <a:xfrm>
            <a:off x="842126" y="1505620"/>
            <a:ext cx="376405" cy="637975"/>
          </a:xfrm>
          <a:custGeom>
            <a:avLst/>
            <a:gdLst/>
            <a:ahLst/>
            <a:cxnLst/>
            <a:rect l="l" t="t" r="r" b="b"/>
            <a:pathLst>
              <a:path w="59" h="100">
                <a:moveTo>
                  <a:pt x="0" y="0"/>
                </a:moveTo>
                <a:lnTo>
                  <a:pt x="59" y="100"/>
                </a:lnTo>
              </a:path>
            </a:pathLst>
          </a:custGeom>
          <a:noFill/>
          <a:ln w="8931">
            <a:solidFill>
              <a:srgbClr val="8585F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synapse_blue_right_12"/>
          <p:cNvSpPr/>
          <p:nvPr/>
        </p:nvSpPr>
        <p:spPr>
          <a:xfrm>
            <a:off x="1677873" y="2143595"/>
            <a:ext cx="459342" cy="159494"/>
          </a:xfrm>
          <a:custGeom>
            <a:avLst/>
            <a:gdLst/>
            <a:ahLst/>
            <a:cxnLst/>
            <a:rect l="l" t="t" r="r" b="b"/>
            <a:pathLst>
              <a:path w="72" h="25">
                <a:moveTo>
                  <a:pt x="0" y="0"/>
                </a:moveTo>
                <a:lnTo>
                  <a:pt x="72" y="25"/>
                </a:lnTo>
              </a:path>
            </a:pathLst>
          </a:custGeom>
          <a:noFill/>
          <a:ln w="8931">
            <a:solidFill>
              <a:srgbClr val="7777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synapse_blue_left_13"/>
          <p:cNvSpPr/>
          <p:nvPr/>
        </p:nvSpPr>
        <p:spPr>
          <a:xfrm>
            <a:off x="842126" y="1767190"/>
            <a:ext cx="376405" cy="612456"/>
          </a:xfrm>
          <a:custGeom>
            <a:avLst/>
            <a:gdLst/>
            <a:ahLst/>
            <a:cxnLst/>
            <a:rect l="l" t="t" r="r" b="b"/>
            <a:pathLst>
              <a:path w="59" h="96">
                <a:moveTo>
                  <a:pt x="0" y="0"/>
                </a:moveTo>
                <a:lnTo>
                  <a:pt x="59" y="96"/>
                </a:lnTo>
              </a:path>
            </a:pathLst>
          </a:custGeom>
          <a:noFill/>
          <a:ln w="8931">
            <a:solidFill>
              <a:srgbClr val="8585F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synapse_blue_right_13"/>
          <p:cNvSpPr/>
          <p:nvPr/>
        </p:nvSpPr>
        <p:spPr>
          <a:xfrm>
            <a:off x="1677873" y="2379645"/>
            <a:ext cx="459342" cy="261570"/>
          </a:xfrm>
          <a:custGeom>
            <a:avLst/>
            <a:gdLst/>
            <a:ahLst/>
            <a:cxnLst/>
            <a:rect l="l" t="t" r="r" b="b"/>
            <a:pathLst>
              <a:path w="72" h="41">
                <a:moveTo>
                  <a:pt x="0" y="0"/>
                </a:moveTo>
                <a:lnTo>
                  <a:pt x="72" y="41"/>
                </a:lnTo>
              </a:path>
            </a:pathLst>
          </a:custGeom>
          <a:noFill/>
          <a:ln w="8931">
            <a:solidFill>
              <a:srgbClr val="7777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synapse_blue_left_14"/>
          <p:cNvSpPr/>
          <p:nvPr/>
        </p:nvSpPr>
        <p:spPr>
          <a:xfrm>
            <a:off x="842126" y="1811848"/>
            <a:ext cx="376405" cy="216911"/>
          </a:xfrm>
          <a:custGeom>
            <a:avLst/>
            <a:gdLst/>
            <a:ahLst/>
            <a:cxnLst/>
            <a:rect l="l" t="t" r="r" b="b"/>
            <a:pathLst>
              <a:path w="59" h="34">
                <a:moveTo>
                  <a:pt x="0" y="34"/>
                </a:moveTo>
                <a:lnTo>
                  <a:pt x="59" y="0"/>
                </a:lnTo>
              </a:path>
            </a:pathLst>
          </a:custGeom>
          <a:noFill/>
          <a:ln w="8931">
            <a:solidFill>
              <a:srgbClr val="8585F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synapse_blue_right_14"/>
          <p:cNvSpPr/>
          <p:nvPr/>
        </p:nvSpPr>
        <p:spPr>
          <a:xfrm>
            <a:off x="1677873" y="1811848"/>
            <a:ext cx="459342" cy="1167494"/>
          </a:xfrm>
          <a:custGeom>
            <a:avLst/>
            <a:gdLst/>
            <a:ahLst/>
            <a:cxnLst/>
            <a:rect l="l" t="t" r="r" b="b"/>
            <a:pathLst>
              <a:path w="72" h="183">
                <a:moveTo>
                  <a:pt x="0" y="0"/>
                </a:moveTo>
                <a:lnTo>
                  <a:pt x="72" y="183"/>
                </a:lnTo>
              </a:path>
            </a:pathLst>
          </a:custGeom>
          <a:noFill/>
          <a:ln w="8931">
            <a:solidFill>
              <a:srgbClr val="7777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synapse_blue_left_15"/>
          <p:cNvSpPr/>
          <p:nvPr/>
        </p:nvSpPr>
        <p:spPr>
          <a:xfrm>
            <a:off x="842126" y="2047899"/>
            <a:ext cx="376405" cy="185013"/>
          </a:xfrm>
          <a:custGeom>
            <a:avLst/>
            <a:gdLst/>
            <a:ahLst/>
            <a:cxnLst/>
            <a:rect l="l" t="t" r="r" b="b"/>
            <a:pathLst>
              <a:path w="59" h="29">
                <a:moveTo>
                  <a:pt x="0" y="29"/>
                </a:moveTo>
                <a:lnTo>
                  <a:pt x="59" y="0"/>
                </a:lnTo>
              </a:path>
            </a:pathLst>
          </a:custGeom>
          <a:noFill/>
          <a:ln w="8931">
            <a:solidFill>
              <a:srgbClr val="8585F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synapse_blue_right_15"/>
          <p:cNvSpPr/>
          <p:nvPr/>
        </p:nvSpPr>
        <p:spPr>
          <a:xfrm>
            <a:off x="1677873" y="2047899"/>
            <a:ext cx="459342" cy="1269569"/>
          </a:xfrm>
          <a:custGeom>
            <a:avLst/>
            <a:gdLst/>
            <a:ahLst/>
            <a:cxnLst/>
            <a:rect l="l" t="t" r="r" b="b"/>
            <a:pathLst>
              <a:path w="72" h="199">
                <a:moveTo>
                  <a:pt x="0" y="0"/>
                </a:moveTo>
                <a:lnTo>
                  <a:pt x="72" y="199"/>
                </a:lnTo>
              </a:path>
            </a:pathLst>
          </a:custGeom>
          <a:noFill/>
          <a:ln w="8931">
            <a:solidFill>
              <a:srgbClr val="7777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synapse_blue_left_16"/>
          <p:cNvSpPr/>
          <p:nvPr/>
        </p:nvSpPr>
        <p:spPr>
          <a:xfrm>
            <a:off x="842126" y="2283949"/>
            <a:ext cx="376405" cy="210532"/>
          </a:xfrm>
          <a:custGeom>
            <a:avLst/>
            <a:gdLst/>
            <a:ahLst/>
            <a:cxnLst/>
            <a:rect l="l" t="t" r="r" b="b"/>
            <a:pathLst>
              <a:path w="59" h="33">
                <a:moveTo>
                  <a:pt x="0" y="33"/>
                </a:moveTo>
                <a:lnTo>
                  <a:pt x="59" y="0"/>
                </a:lnTo>
              </a:path>
            </a:pathLst>
          </a:custGeom>
          <a:noFill/>
          <a:ln w="8931">
            <a:solidFill>
              <a:srgbClr val="8585F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synapse_blue_right_16"/>
          <p:cNvSpPr/>
          <p:nvPr/>
        </p:nvSpPr>
        <p:spPr>
          <a:xfrm>
            <a:off x="1677873" y="1071797"/>
            <a:ext cx="459342" cy="1212152"/>
          </a:xfrm>
          <a:custGeom>
            <a:avLst/>
            <a:gdLst/>
            <a:ahLst/>
            <a:cxnLst/>
            <a:rect l="l" t="t" r="r" b="b"/>
            <a:pathLst>
              <a:path w="72" h="190">
                <a:moveTo>
                  <a:pt x="0" y="190"/>
                </a:moveTo>
                <a:lnTo>
                  <a:pt x="72" y="0"/>
                </a:lnTo>
              </a:path>
            </a:pathLst>
          </a:custGeom>
          <a:noFill/>
          <a:ln w="8931">
            <a:solidFill>
              <a:srgbClr val="7777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synapse_blue_left_17"/>
          <p:cNvSpPr/>
          <p:nvPr/>
        </p:nvSpPr>
        <p:spPr>
          <a:xfrm>
            <a:off x="842126" y="2520000"/>
            <a:ext cx="376405" cy="236051"/>
          </a:xfrm>
          <a:custGeom>
            <a:avLst/>
            <a:gdLst/>
            <a:ahLst/>
            <a:cxnLst/>
            <a:rect l="l" t="t" r="r" b="b"/>
            <a:pathLst>
              <a:path w="59" h="37">
                <a:moveTo>
                  <a:pt x="0" y="37"/>
                </a:moveTo>
                <a:lnTo>
                  <a:pt x="59" y="0"/>
                </a:lnTo>
              </a:path>
            </a:pathLst>
          </a:custGeom>
          <a:noFill/>
          <a:ln w="8931">
            <a:solidFill>
              <a:srgbClr val="8585F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synapse_blue_right_17"/>
          <p:cNvSpPr/>
          <p:nvPr/>
        </p:nvSpPr>
        <p:spPr>
          <a:xfrm>
            <a:off x="1677873" y="1409924"/>
            <a:ext cx="459342" cy="1110076"/>
          </a:xfrm>
          <a:custGeom>
            <a:avLst/>
            <a:gdLst/>
            <a:ahLst/>
            <a:cxnLst/>
            <a:rect l="l" t="t" r="r" b="b"/>
            <a:pathLst>
              <a:path w="72" h="174">
                <a:moveTo>
                  <a:pt x="0" y="174"/>
                </a:moveTo>
                <a:lnTo>
                  <a:pt x="72" y="0"/>
                </a:lnTo>
              </a:path>
            </a:pathLst>
          </a:custGeom>
          <a:noFill/>
          <a:ln w="8931">
            <a:solidFill>
              <a:srgbClr val="7777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synapse_blue_left_18"/>
          <p:cNvSpPr/>
          <p:nvPr/>
        </p:nvSpPr>
        <p:spPr>
          <a:xfrm>
            <a:off x="842126" y="1952202"/>
            <a:ext cx="376405" cy="1008000"/>
          </a:xfrm>
          <a:custGeom>
            <a:avLst/>
            <a:gdLst/>
            <a:ahLst/>
            <a:cxnLst/>
            <a:rect l="l" t="t" r="r" b="b"/>
            <a:pathLst>
              <a:path w="59" h="158">
                <a:moveTo>
                  <a:pt x="0" y="158"/>
                </a:moveTo>
                <a:lnTo>
                  <a:pt x="59" y="0"/>
                </a:lnTo>
              </a:path>
            </a:pathLst>
          </a:custGeom>
          <a:noFill/>
          <a:ln w="8931">
            <a:solidFill>
              <a:srgbClr val="8585F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synapse_blue_right_18"/>
          <p:cNvSpPr/>
          <p:nvPr/>
        </p:nvSpPr>
        <p:spPr>
          <a:xfrm>
            <a:off x="1677873" y="1748050"/>
            <a:ext cx="459342" cy="204152"/>
          </a:xfrm>
          <a:custGeom>
            <a:avLst/>
            <a:gdLst/>
            <a:ahLst/>
            <a:cxnLst/>
            <a:rect l="l" t="t" r="r" b="b"/>
            <a:pathLst>
              <a:path w="72" h="32">
                <a:moveTo>
                  <a:pt x="0" y="32"/>
                </a:moveTo>
                <a:lnTo>
                  <a:pt x="72" y="0"/>
                </a:lnTo>
              </a:path>
            </a:pathLst>
          </a:custGeom>
          <a:noFill/>
          <a:ln w="8931">
            <a:solidFill>
              <a:srgbClr val="7777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synapse_blue_left_19"/>
          <p:cNvSpPr/>
          <p:nvPr/>
        </p:nvSpPr>
        <p:spPr>
          <a:xfrm>
            <a:off x="842126" y="2188253"/>
            <a:ext cx="376405" cy="1033519"/>
          </a:xfrm>
          <a:custGeom>
            <a:avLst/>
            <a:gdLst/>
            <a:ahLst/>
            <a:cxnLst/>
            <a:rect l="l" t="t" r="r" b="b"/>
            <a:pathLst>
              <a:path w="59" h="162">
                <a:moveTo>
                  <a:pt x="0" y="162"/>
                </a:moveTo>
                <a:lnTo>
                  <a:pt x="59" y="0"/>
                </a:lnTo>
              </a:path>
            </a:pathLst>
          </a:custGeom>
          <a:noFill/>
          <a:ln w="8931">
            <a:solidFill>
              <a:srgbClr val="8585F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synapse_blue_right_19"/>
          <p:cNvSpPr/>
          <p:nvPr/>
        </p:nvSpPr>
        <p:spPr>
          <a:xfrm>
            <a:off x="1677873" y="2086177"/>
            <a:ext cx="459342" cy="102076"/>
          </a:xfrm>
          <a:custGeom>
            <a:avLst/>
            <a:gdLst/>
            <a:ahLst/>
            <a:cxnLst/>
            <a:rect l="l" t="t" r="r" b="b"/>
            <a:pathLst>
              <a:path w="72" h="16">
                <a:moveTo>
                  <a:pt x="0" y="16"/>
                </a:moveTo>
                <a:lnTo>
                  <a:pt x="72" y="0"/>
                </a:lnTo>
              </a:path>
            </a:pathLst>
          </a:custGeom>
          <a:noFill/>
          <a:ln w="8931">
            <a:solidFill>
              <a:srgbClr val="7777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synapse_blue_left_20"/>
          <p:cNvSpPr/>
          <p:nvPr/>
        </p:nvSpPr>
        <p:spPr>
          <a:xfrm>
            <a:off x="842126" y="1059038"/>
            <a:ext cx="376405" cy="1365266"/>
          </a:xfrm>
          <a:custGeom>
            <a:avLst/>
            <a:gdLst/>
            <a:ahLst/>
            <a:cxnLst/>
            <a:rect l="l" t="t" r="r" b="b"/>
            <a:pathLst>
              <a:path w="59" h="214">
                <a:moveTo>
                  <a:pt x="0" y="0"/>
                </a:moveTo>
                <a:lnTo>
                  <a:pt x="59" y="214"/>
                </a:lnTo>
              </a:path>
            </a:pathLst>
          </a:custGeom>
          <a:noFill/>
          <a:ln w="8931">
            <a:solidFill>
              <a:srgbClr val="8585F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synapse_blue_right_20"/>
          <p:cNvSpPr/>
          <p:nvPr/>
        </p:nvSpPr>
        <p:spPr>
          <a:xfrm>
            <a:off x="1677873" y="2424304"/>
            <a:ext cx="459342" cy="0"/>
          </a:xfrm>
          <a:custGeom>
            <a:avLst/>
            <a:gdLst/>
            <a:ahLst/>
            <a:cxnLst/>
            <a:rect l="l" t="t" r="r" b="b"/>
            <a:pathLst>
              <a:path w="72" h="0">
                <a:moveTo>
                  <a:pt x="0" y="0"/>
                </a:moveTo>
                <a:lnTo>
                  <a:pt x="72" y="0"/>
                </a:lnTo>
              </a:path>
            </a:pathLst>
          </a:custGeom>
          <a:noFill/>
          <a:ln w="8931">
            <a:solidFill>
              <a:srgbClr val="7777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synapse_blue_left_21"/>
          <p:cNvSpPr/>
          <p:nvPr/>
        </p:nvSpPr>
        <p:spPr>
          <a:xfrm>
            <a:off x="842126" y="1263190"/>
            <a:ext cx="376405" cy="593316"/>
          </a:xfrm>
          <a:custGeom>
            <a:avLst/>
            <a:gdLst/>
            <a:ahLst/>
            <a:cxnLst/>
            <a:rect l="l" t="t" r="r" b="b"/>
            <a:pathLst>
              <a:path w="59" h="93">
                <a:moveTo>
                  <a:pt x="0" y="0"/>
                </a:moveTo>
                <a:lnTo>
                  <a:pt x="59" y="93"/>
                </a:lnTo>
              </a:path>
            </a:pathLst>
          </a:custGeom>
          <a:noFill/>
          <a:ln w="8931">
            <a:solidFill>
              <a:srgbClr val="8585F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synapse_blue_right_21"/>
          <p:cNvSpPr/>
          <p:nvPr/>
        </p:nvSpPr>
        <p:spPr>
          <a:xfrm>
            <a:off x="1677873" y="1856506"/>
            <a:ext cx="459342" cy="905924"/>
          </a:xfrm>
          <a:custGeom>
            <a:avLst/>
            <a:gdLst/>
            <a:ahLst/>
            <a:cxnLst/>
            <a:rect l="l" t="t" r="r" b="b"/>
            <a:pathLst>
              <a:path w="72" h="142">
                <a:moveTo>
                  <a:pt x="0" y="0"/>
                </a:moveTo>
                <a:lnTo>
                  <a:pt x="72" y="142"/>
                </a:lnTo>
              </a:path>
            </a:pathLst>
          </a:custGeom>
          <a:noFill/>
          <a:ln w="8931">
            <a:solidFill>
              <a:srgbClr val="7777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synapse_blue_left_22"/>
          <p:cNvSpPr/>
          <p:nvPr/>
        </p:nvSpPr>
        <p:spPr>
          <a:xfrm>
            <a:off x="842126" y="1524759"/>
            <a:ext cx="376405" cy="567797"/>
          </a:xfrm>
          <a:custGeom>
            <a:avLst/>
            <a:gdLst/>
            <a:ahLst/>
            <a:cxnLst/>
            <a:rect l="l" t="t" r="r" b="b"/>
            <a:pathLst>
              <a:path w="59" h="89">
                <a:moveTo>
                  <a:pt x="0" y="0"/>
                </a:moveTo>
                <a:lnTo>
                  <a:pt x="59" y="89"/>
                </a:lnTo>
              </a:path>
            </a:pathLst>
          </a:custGeom>
          <a:noFill/>
          <a:ln w="8931">
            <a:solidFill>
              <a:srgbClr val="8585F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synapse_blue_right_22"/>
          <p:cNvSpPr/>
          <p:nvPr/>
        </p:nvSpPr>
        <p:spPr>
          <a:xfrm>
            <a:off x="1677873" y="2092557"/>
            <a:ext cx="459342" cy="1008000"/>
          </a:xfrm>
          <a:custGeom>
            <a:avLst/>
            <a:gdLst/>
            <a:ahLst/>
            <a:cxnLst/>
            <a:rect l="l" t="t" r="r" b="b"/>
            <a:pathLst>
              <a:path w="72" h="158">
                <a:moveTo>
                  <a:pt x="0" y="0"/>
                </a:moveTo>
                <a:lnTo>
                  <a:pt x="72" y="158"/>
                </a:lnTo>
              </a:path>
            </a:pathLst>
          </a:custGeom>
          <a:noFill/>
          <a:ln w="8931">
            <a:solidFill>
              <a:srgbClr val="7777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synapse_blue_left_23"/>
          <p:cNvSpPr/>
          <p:nvPr/>
        </p:nvSpPr>
        <p:spPr>
          <a:xfrm>
            <a:off x="842126" y="1786329"/>
            <a:ext cx="376405" cy="542278"/>
          </a:xfrm>
          <a:custGeom>
            <a:avLst/>
            <a:gdLst/>
            <a:ahLst/>
            <a:cxnLst/>
            <a:rect l="l" t="t" r="r" b="b"/>
            <a:pathLst>
              <a:path w="59" h="85">
                <a:moveTo>
                  <a:pt x="0" y="0"/>
                </a:moveTo>
                <a:lnTo>
                  <a:pt x="59" y="85"/>
                </a:lnTo>
              </a:path>
            </a:pathLst>
          </a:custGeom>
          <a:noFill/>
          <a:ln w="8931">
            <a:solidFill>
              <a:srgbClr val="8585F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synapse_blue_right_23"/>
          <p:cNvSpPr/>
          <p:nvPr/>
        </p:nvSpPr>
        <p:spPr>
          <a:xfrm>
            <a:off x="1677873" y="854886"/>
            <a:ext cx="459342" cy="1473721"/>
          </a:xfrm>
          <a:custGeom>
            <a:avLst/>
            <a:gdLst/>
            <a:ahLst/>
            <a:cxnLst/>
            <a:rect l="l" t="t" r="r" b="b"/>
            <a:pathLst>
              <a:path w="72" h="231">
                <a:moveTo>
                  <a:pt x="0" y="231"/>
                </a:moveTo>
                <a:lnTo>
                  <a:pt x="72" y="0"/>
                </a:lnTo>
              </a:path>
            </a:pathLst>
          </a:custGeom>
          <a:noFill/>
          <a:ln w="8931">
            <a:solidFill>
              <a:srgbClr val="7777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synapse_blue_left_24"/>
          <p:cNvSpPr/>
          <p:nvPr/>
        </p:nvSpPr>
        <p:spPr>
          <a:xfrm>
            <a:off x="842126" y="1760810"/>
            <a:ext cx="376405" cy="229671"/>
          </a:xfrm>
          <a:custGeom>
            <a:avLst/>
            <a:gdLst/>
            <a:ahLst/>
            <a:cxnLst/>
            <a:rect l="l" t="t" r="r" b="b"/>
            <a:pathLst>
              <a:path w="59" h="36">
                <a:moveTo>
                  <a:pt x="0" y="36"/>
                </a:moveTo>
                <a:lnTo>
                  <a:pt x="59" y="0"/>
                </a:lnTo>
              </a:path>
            </a:pathLst>
          </a:custGeom>
          <a:noFill/>
          <a:ln w="8931">
            <a:solidFill>
              <a:srgbClr val="8585F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synapse_blue_right_24"/>
          <p:cNvSpPr/>
          <p:nvPr/>
        </p:nvSpPr>
        <p:spPr>
          <a:xfrm>
            <a:off x="1677873" y="1193013"/>
            <a:ext cx="459342" cy="567797"/>
          </a:xfrm>
          <a:custGeom>
            <a:avLst/>
            <a:gdLst/>
            <a:ahLst/>
            <a:cxnLst/>
            <a:rect l="l" t="t" r="r" b="b"/>
            <a:pathLst>
              <a:path w="72" h="89">
                <a:moveTo>
                  <a:pt x="0" y="89"/>
                </a:moveTo>
                <a:lnTo>
                  <a:pt x="72" y="0"/>
                </a:lnTo>
              </a:path>
            </a:pathLst>
          </a:custGeom>
          <a:noFill/>
          <a:ln w="8931">
            <a:solidFill>
              <a:srgbClr val="7777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synapse_blue_left_25"/>
          <p:cNvSpPr/>
          <p:nvPr/>
        </p:nvSpPr>
        <p:spPr>
          <a:xfrm>
            <a:off x="842126" y="1996861"/>
            <a:ext cx="376405" cy="255190"/>
          </a:xfrm>
          <a:custGeom>
            <a:avLst/>
            <a:gdLst/>
            <a:ahLst/>
            <a:cxnLst/>
            <a:rect l="l" t="t" r="r" b="b"/>
            <a:pathLst>
              <a:path w="59" h="40">
                <a:moveTo>
                  <a:pt x="0" y="40"/>
                </a:moveTo>
                <a:lnTo>
                  <a:pt x="59" y="0"/>
                </a:lnTo>
              </a:path>
            </a:pathLst>
          </a:custGeom>
          <a:noFill/>
          <a:ln w="8931">
            <a:solidFill>
              <a:srgbClr val="8585F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synapse_blue_right_25"/>
          <p:cNvSpPr/>
          <p:nvPr/>
        </p:nvSpPr>
        <p:spPr>
          <a:xfrm>
            <a:off x="1677873" y="1531139"/>
            <a:ext cx="459342" cy="465721"/>
          </a:xfrm>
          <a:custGeom>
            <a:avLst/>
            <a:gdLst/>
            <a:ahLst/>
            <a:cxnLst/>
            <a:rect l="l" t="t" r="r" b="b"/>
            <a:pathLst>
              <a:path w="72" h="73">
                <a:moveTo>
                  <a:pt x="0" y="73"/>
                </a:moveTo>
                <a:lnTo>
                  <a:pt x="72" y="0"/>
                </a:lnTo>
              </a:path>
            </a:pathLst>
          </a:custGeom>
          <a:noFill/>
          <a:ln w="8931">
            <a:solidFill>
              <a:srgbClr val="7777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synapse_blue_left_26"/>
          <p:cNvSpPr/>
          <p:nvPr/>
        </p:nvSpPr>
        <p:spPr>
          <a:xfrm>
            <a:off x="842126" y="2232911"/>
            <a:ext cx="376405" cy="280709"/>
          </a:xfrm>
          <a:custGeom>
            <a:avLst/>
            <a:gdLst/>
            <a:ahLst/>
            <a:cxnLst/>
            <a:rect l="l" t="t" r="r" b="b"/>
            <a:pathLst>
              <a:path w="59" h="44">
                <a:moveTo>
                  <a:pt x="0" y="44"/>
                </a:moveTo>
                <a:lnTo>
                  <a:pt x="59" y="0"/>
                </a:lnTo>
              </a:path>
            </a:pathLst>
          </a:custGeom>
          <a:noFill/>
          <a:ln w="8931">
            <a:solidFill>
              <a:srgbClr val="8585F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" name="synapse_blue_right_26"/>
          <p:cNvSpPr/>
          <p:nvPr/>
        </p:nvSpPr>
        <p:spPr>
          <a:xfrm>
            <a:off x="1677873" y="1869266"/>
            <a:ext cx="459342" cy="363646"/>
          </a:xfrm>
          <a:custGeom>
            <a:avLst/>
            <a:gdLst/>
            <a:ahLst/>
            <a:cxnLst/>
            <a:rect l="l" t="t" r="r" b="b"/>
            <a:pathLst>
              <a:path w="72" h="57">
                <a:moveTo>
                  <a:pt x="0" y="57"/>
                </a:moveTo>
                <a:lnTo>
                  <a:pt x="72" y="0"/>
                </a:lnTo>
              </a:path>
            </a:pathLst>
          </a:custGeom>
          <a:noFill/>
          <a:ln w="8931">
            <a:solidFill>
              <a:srgbClr val="7777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" name="synapse_blue_left_27"/>
          <p:cNvSpPr/>
          <p:nvPr/>
        </p:nvSpPr>
        <p:spPr>
          <a:xfrm>
            <a:off x="842126" y="2468962"/>
            <a:ext cx="376405" cy="248810"/>
          </a:xfrm>
          <a:custGeom>
            <a:avLst/>
            <a:gdLst/>
            <a:ahLst/>
            <a:cxnLst/>
            <a:rect l="l" t="t" r="r" b="b"/>
            <a:pathLst>
              <a:path w="59" h="39">
                <a:moveTo>
                  <a:pt x="0" y="39"/>
                </a:moveTo>
                <a:lnTo>
                  <a:pt x="59" y="0"/>
                </a:lnTo>
              </a:path>
            </a:pathLst>
          </a:custGeom>
          <a:noFill/>
          <a:ln w="8931">
            <a:solidFill>
              <a:srgbClr val="8585F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synapse_blue_right_27"/>
          <p:cNvSpPr/>
          <p:nvPr/>
        </p:nvSpPr>
        <p:spPr>
          <a:xfrm>
            <a:off x="1677873" y="2207392"/>
            <a:ext cx="459342" cy="261570"/>
          </a:xfrm>
          <a:custGeom>
            <a:avLst/>
            <a:gdLst/>
            <a:ahLst/>
            <a:cxnLst/>
            <a:rect l="l" t="t" r="r" b="b"/>
            <a:pathLst>
              <a:path w="72" h="41">
                <a:moveTo>
                  <a:pt x="0" y="41"/>
                </a:moveTo>
                <a:lnTo>
                  <a:pt x="72" y="0"/>
                </a:lnTo>
              </a:path>
            </a:pathLst>
          </a:custGeom>
          <a:noFill/>
          <a:ln w="8931">
            <a:solidFill>
              <a:srgbClr val="7777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synapse_blue_left_28"/>
          <p:cNvSpPr/>
          <p:nvPr/>
        </p:nvSpPr>
        <p:spPr>
          <a:xfrm>
            <a:off x="842126" y="1901164"/>
            <a:ext cx="376405" cy="1078177"/>
          </a:xfrm>
          <a:custGeom>
            <a:avLst/>
            <a:gdLst/>
            <a:ahLst/>
            <a:cxnLst/>
            <a:rect l="l" t="t" r="r" b="b"/>
            <a:pathLst>
              <a:path w="59" h="169">
                <a:moveTo>
                  <a:pt x="0" y="169"/>
                </a:moveTo>
                <a:lnTo>
                  <a:pt x="59" y="0"/>
                </a:lnTo>
              </a:path>
            </a:pathLst>
          </a:custGeom>
          <a:noFill/>
          <a:ln w="8931">
            <a:solidFill>
              <a:srgbClr val="8585F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" name="synapse_blue_right_28"/>
          <p:cNvSpPr/>
          <p:nvPr/>
        </p:nvSpPr>
        <p:spPr>
          <a:xfrm>
            <a:off x="1677873" y="1901164"/>
            <a:ext cx="459342" cy="644354"/>
          </a:xfrm>
          <a:custGeom>
            <a:avLst/>
            <a:gdLst/>
            <a:ahLst/>
            <a:cxnLst/>
            <a:rect l="l" t="t" r="r" b="b"/>
            <a:pathLst>
              <a:path w="72" h="101">
                <a:moveTo>
                  <a:pt x="0" y="0"/>
                </a:moveTo>
                <a:lnTo>
                  <a:pt x="72" y="101"/>
                </a:lnTo>
              </a:path>
            </a:pathLst>
          </a:custGeom>
          <a:noFill/>
          <a:ln w="8931">
            <a:solidFill>
              <a:srgbClr val="7777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synapse_blue_left_29"/>
          <p:cNvSpPr/>
          <p:nvPr/>
        </p:nvSpPr>
        <p:spPr>
          <a:xfrm>
            <a:off x="842126" y="2137215"/>
            <a:ext cx="376405" cy="1103696"/>
          </a:xfrm>
          <a:custGeom>
            <a:avLst/>
            <a:gdLst/>
            <a:ahLst/>
            <a:cxnLst/>
            <a:rect l="l" t="t" r="r" b="b"/>
            <a:pathLst>
              <a:path w="59" h="173">
                <a:moveTo>
                  <a:pt x="0" y="173"/>
                </a:moveTo>
                <a:lnTo>
                  <a:pt x="59" y="0"/>
                </a:lnTo>
              </a:path>
            </a:pathLst>
          </a:custGeom>
          <a:noFill/>
          <a:ln w="8931">
            <a:solidFill>
              <a:srgbClr val="8585F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synapse_blue_right_29"/>
          <p:cNvSpPr/>
          <p:nvPr/>
        </p:nvSpPr>
        <p:spPr>
          <a:xfrm>
            <a:off x="1677873" y="2137215"/>
            <a:ext cx="459342" cy="746430"/>
          </a:xfrm>
          <a:custGeom>
            <a:avLst/>
            <a:gdLst/>
            <a:ahLst/>
            <a:cxnLst/>
            <a:rect l="l" t="t" r="r" b="b"/>
            <a:pathLst>
              <a:path w="72" h="117">
                <a:moveTo>
                  <a:pt x="0" y="0"/>
                </a:moveTo>
                <a:lnTo>
                  <a:pt x="72" y="117"/>
                </a:lnTo>
              </a:path>
            </a:pathLst>
          </a:custGeom>
          <a:noFill/>
          <a:ln w="8931">
            <a:solidFill>
              <a:srgbClr val="7777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" name="input_blue_00"/>
          <p:cNvSpPr/>
          <p:nvPr/>
        </p:nvSpPr>
        <p:spPr>
          <a:xfrm>
            <a:off x="752810" y="1811848"/>
            <a:ext cx="465721" cy="1920304"/>
          </a:xfrm>
          <a:custGeom>
            <a:avLst/>
            <a:gdLst/>
            <a:ahLst/>
            <a:cxnLst/>
            <a:rect l="l" t="t" r="r" b="b"/>
            <a:pathLst>
              <a:path w="73" h="301">
                <a:moveTo>
                  <a:pt x="0" y="301"/>
                </a:moveTo>
                <a:lnTo>
                  <a:pt x="73" y="0"/>
                </a:lnTo>
              </a:path>
            </a:pathLst>
          </a:custGeom>
          <a:noFill/>
          <a:ln w="9569">
            <a:solidFill>
              <a:srgbClr val="6262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" name="input_blue_01"/>
          <p:cNvSpPr/>
          <p:nvPr/>
        </p:nvSpPr>
        <p:spPr>
          <a:xfrm>
            <a:off x="752810" y="1882025"/>
            <a:ext cx="465721" cy="1926683"/>
          </a:xfrm>
          <a:custGeom>
            <a:avLst/>
            <a:gdLst/>
            <a:ahLst/>
            <a:cxnLst/>
            <a:rect l="l" t="t" r="r" b="b"/>
            <a:pathLst>
              <a:path w="73" h="302">
                <a:moveTo>
                  <a:pt x="0" y="302"/>
                </a:moveTo>
                <a:lnTo>
                  <a:pt x="73" y="0"/>
                </a:lnTo>
              </a:path>
            </a:pathLst>
          </a:custGeom>
          <a:noFill/>
          <a:ln w="9569">
            <a:solidFill>
              <a:srgbClr val="6262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" name="input_blue_02"/>
          <p:cNvSpPr/>
          <p:nvPr/>
        </p:nvSpPr>
        <p:spPr>
          <a:xfrm>
            <a:off x="752810" y="1952202"/>
            <a:ext cx="465721" cy="1933063"/>
          </a:xfrm>
          <a:custGeom>
            <a:avLst/>
            <a:gdLst/>
            <a:ahLst/>
            <a:cxnLst/>
            <a:rect l="l" t="t" r="r" b="b"/>
            <a:pathLst>
              <a:path w="73" h="303">
                <a:moveTo>
                  <a:pt x="0" y="303"/>
                </a:moveTo>
                <a:lnTo>
                  <a:pt x="73" y="0"/>
                </a:lnTo>
              </a:path>
            </a:pathLst>
          </a:custGeom>
          <a:noFill/>
          <a:ln w="9569">
            <a:solidFill>
              <a:srgbClr val="6262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" name="input_blue_03"/>
          <p:cNvSpPr/>
          <p:nvPr/>
        </p:nvSpPr>
        <p:spPr>
          <a:xfrm>
            <a:off x="752810" y="2022380"/>
            <a:ext cx="465721" cy="1939443"/>
          </a:xfrm>
          <a:custGeom>
            <a:avLst/>
            <a:gdLst/>
            <a:ahLst/>
            <a:cxnLst/>
            <a:rect l="l" t="t" r="r" b="b"/>
            <a:pathLst>
              <a:path w="73" h="304">
                <a:moveTo>
                  <a:pt x="0" y="304"/>
                </a:moveTo>
                <a:lnTo>
                  <a:pt x="73" y="0"/>
                </a:lnTo>
              </a:path>
            </a:pathLst>
          </a:custGeom>
          <a:noFill/>
          <a:ln w="9569">
            <a:solidFill>
              <a:srgbClr val="6262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1" name="input_blue_04"/>
          <p:cNvSpPr/>
          <p:nvPr/>
        </p:nvSpPr>
        <p:spPr>
          <a:xfrm>
            <a:off x="752810" y="2092557"/>
            <a:ext cx="465721" cy="1945823"/>
          </a:xfrm>
          <a:custGeom>
            <a:avLst/>
            <a:gdLst/>
            <a:ahLst/>
            <a:cxnLst/>
            <a:rect l="l" t="t" r="r" b="b"/>
            <a:pathLst>
              <a:path w="73" h="305">
                <a:moveTo>
                  <a:pt x="0" y="305"/>
                </a:moveTo>
                <a:lnTo>
                  <a:pt x="73" y="0"/>
                </a:lnTo>
              </a:path>
            </a:pathLst>
          </a:custGeom>
          <a:noFill/>
          <a:ln w="9569">
            <a:solidFill>
              <a:srgbClr val="6262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" name="input_blue_05"/>
          <p:cNvSpPr/>
          <p:nvPr/>
        </p:nvSpPr>
        <p:spPr>
          <a:xfrm>
            <a:off x="752810" y="2162734"/>
            <a:ext cx="465721" cy="1952202"/>
          </a:xfrm>
          <a:custGeom>
            <a:avLst/>
            <a:gdLst/>
            <a:ahLst/>
            <a:cxnLst/>
            <a:rect l="l" t="t" r="r" b="b"/>
            <a:pathLst>
              <a:path w="73" h="306">
                <a:moveTo>
                  <a:pt x="0" y="306"/>
                </a:moveTo>
                <a:lnTo>
                  <a:pt x="73" y="0"/>
                </a:lnTo>
              </a:path>
            </a:pathLst>
          </a:custGeom>
          <a:noFill/>
          <a:ln w="9569">
            <a:solidFill>
              <a:srgbClr val="6262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3" name="input_blue_06"/>
          <p:cNvSpPr/>
          <p:nvPr/>
        </p:nvSpPr>
        <p:spPr>
          <a:xfrm>
            <a:off x="752810" y="2232911"/>
            <a:ext cx="465721" cy="1958582"/>
          </a:xfrm>
          <a:custGeom>
            <a:avLst/>
            <a:gdLst/>
            <a:ahLst/>
            <a:cxnLst/>
            <a:rect l="l" t="t" r="r" b="b"/>
            <a:pathLst>
              <a:path w="73" h="307">
                <a:moveTo>
                  <a:pt x="0" y="307"/>
                </a:moveTo>
                <a:lnTo>
                  <a:pt x="73" y="0"/>
                </a:lnTo>
              </a:path>
            </a:pathLst>
          </a:custGeom>
          <a:noFill/>
          <a:ln w="9569">
            <a:solidFill>
              <a:srgbClr val="6262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4" name="input_blue_07"/>
          <p:cNvSpPr/>
          <p:nvPr/>
        </p:nvSpPr>
        <p:spPr>
          <a:xfrm>
            <a:off x="752810" y="2303088"/>
            <a:ext cx="465721" cy="1964962"/>
          </a:xfrm>
          <a:custGeom>
            <a:avLst/>
            <a:gdLst/>
            <a:ahLst/>
            <a:cxnLst/>
            <a:rect l="l" t="t" r="r" b="b"/>
            <a:pathLst>
              <a:path w="73" h="308">
                <a:moveTo>
                  <a:pt x="0" y="308"/>
                </a:moveTo>
                <a:lnTo>
                  <a:pt x="73" y="0"/>
                </a:lnTo>
              </a:path>
            </a:pathLst>
          </a:custGeom>
          <a:noFill/>
          <a:ln w="9569">
            <a:solidFill>
              <a:srgbClr val="6262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" name="input_blue_08"/>
          <p:cNvSpPr/>
          <p:nvPr/>
        </p:nvSpPr>
        <p:spPr>
          <a:xfrm>
            <a:off x="752810" y="2373266"/>
            <a:ext cx="465721" cy="1971342"/>
          </a:xfrm>
          <a:custGeom>
            <a:avLst/>
            <a:gdLst/>
            <a:ahLst/>
            <a:cxnLst/>
            <a:rect l="l" t="t" r="r" b="b"/>
            <a:pathLst>
              <a:path w="73" h="309">
                <a:moveTo>
                  <a:pt x="0" y="309"/>
                </a:moveTo>
                <a:lnTo>
                  <a:pt x="73" y="0"/>
                </a:lnTo>
              </a:path>
            </a:pathLst>
          </a:custGeom>
          <a:noFill/>
          <a:ln w="9569">
            <a:solidFill>
              <a:srgbClr val="6262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" name="input_blue_09"/>
          <p:cNvSpPr/>
          <p:nvPr/>
        </p:nvSpPr>
        <p:spPr>
          <a:xfrm>
            <a:off x="752810" y="2443443"/>
            <a:ext cx="465721" cy="1977721"/>
          </a:xfrm>
          <a:custGeom>
            <a:avLst/>
            <a:gdLst/>
            <a:ahLst/>
            <a:cxnLst/>
            <a:rect l="l" t="t" r="r" b="b"/>
            <a:pathLst>
              <a:path w="73" h="310">
                <a:moveTo>
                  <a:pt x="0" y="310"/>
                </a:moveTo>
                <a:lnTo>
                  <a:pt x="73" y="0"/>
                </a:lnTo>
              </a:path>
            </a:pathLst>
          </a:custGeom>
          <a:noFill/>
          <a:ln w="9569">
            <a:solidFill>
              <a:srgbClr val="6262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" name="synapse_model_label"/>
          <p:cNvSpPr txBox="1"/>
          <p:nvPr/>
        </p:nvSpPr>
        <p:spPr>
          <a:xfrm>
            <a:off x="478480" y="567797"/>
            <a:ext cx="1722531" cy="54227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516" b="0" i="0">
                <a:solidFill>
                  <a:srgbClr val="000000"/>
                </a:solidFill>
                <a:latin typeface="Liberation Sans"/>
              </a:rPr>
              <a:t>MODEL</a:t>
            </a:r>
          </a:p>
        </p:txBody>
      </p:sp>
      <p:sp>
        <p:nvSpPr>
          <p:cNvPr id="118" name="post_state_current_label"/>
          <p:cNvSpPr txBox="1"/>
          <p:nvPr/>
        </p:nvSpPr>
        <p:spPr>
          <a:xfrm>
            <a:off x="318987" y="1728911"/>
            <a:ext cx="478480" cy="63797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66" b="1" i="0">
                <a:solidFill>
                  <a:srgbClr val="000000"/>
                </a:solidFill>
                <a:latin typeface="Liberation Serif"/>
              </a:rPr>
              <a:t>zᵗ</a:t>
            </a:r>
          </a:p>
        </p:txBody>
      </p:sp>
      <p:sp>
        <p:nvSpPr>
          <p:cNvPr id="119" name="pre_activation_label"/>
          <p:cNvSpPr txBox="1"/>
          <p:nvPr/>
        </p:nvSpPr>
        <p:spPr>
          <a:xfrm>
            <a:off x="2143594" y="1703392"/>
            <a:ext cx="459341" cy="65073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66" b="1" i="0">
                <a:solidFill>
                  <a:srgbClr val="000000"/>
                </a:solidFill>
                <a:latin typeface="Liberation Serif"/>
              </a:rPr>
              <a:t>aᵗ</a:t>
            </a:r>
          </a:p>
        </p:txBody>
      </p:sp>
      <p:sp>
        <p:nvSpPr>
          <p:cNvPr id="120" name="synaptic_weight_theta"/>
          <p:cNvSpPr txBox="1"/>
          <p:nvPr/>
        </p:nvSpPr>
        <p:spPr>
          <a:xfrm>
            <a:off x="1256810" y="2602936"/>
            <a:ext cx="433822" cy="4976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14" b="0" i="1">
                <a:solidFill>
                  <a:srgbClr val="000000"/>
                </a:solidFill>
                <a:latin typeface="Liberation Serif"/>
              </a:rPr>
              <a:t>θ</a:t>
            </a:r>
          </a:p>
        </p:txBody>
      </p:sp>
      <p:sp>
        <p:nvSpPr>
          <p:cNvPr id="121" name="synaptic_weight_subscript"/>
          <p:cNvSpPr txBox="1"/>
          <p:nvPr/>
        </p:nvSpPr>
        <p:spPr>
          <a:xfrm>
            <a:off x="1594936" y="2870885"/>
            <a:ext cx="523139" cy="2679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7" b="0" i="1">
                <a:solidFill>
                  <a:srgbClr val="000000"/>
                </a:solidFill>
                <a:latin typeface="Liberation Serif"/>
              </a:rPr>
              <a:t>syn</a:t>
            </a:r>
          </a:p>
        </p:txBody>
      </p:sp>
      <p:sp>
        <p:nvSpPr>
          <p:cNvPr id="122" name="input_state_label"/>
          <p:cNvSpPr txBox="1"/>
          <p:nvPr/>
        </p:nvSpPr>
        <p:spPr>
          <a:xfrm>
            <a:off x="287088" y="3834227"/>
            <a:ext cx="459341" cy="54227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65" b="1" i="0">
                <a:solidFill>
                  <a:srgbClr val="000000"/>
                </a:solidFill>
                <a:latin typeface="Liberation Serif"/>
              </a:rPr>
              <a:t>oᵗ</a:t>
            </a:r>
          </a:p>
        </p:txBody>
      </p:sp>
      <p:sp>
        <p:nvSpPr>
          <p:cNvPr id="123" name="pre_activation_vertical"/>
          <p:cNvSpPr txBox="1"/>
          <p:nvPr/>
        </p:nvSpPr>
        <p:spPr>
          <a:xfrm>
            <a:off x="2660354" y="663493"/>
            <a:ext cx="229670" cy="281984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5" b="0" i="0">
                <a:solidFill>
                  <a:srgbClr val="000000"/>
                </a:solidFill>
                <a:latin typeface="Liberation Sans"/>
              </a:rPr>
              <a:t>P
R
E
-
A
C
T
I
V
A
T
I
O
N
S</a:t>
            </a:r>
          </a:p>
        </p:txBody>
      </p:sp>
      <p:sp>
        <p:nvSpPr>
          <p:cNvPr id="124" name="badge_1"/>
          <p:cNvSpPr/>
          <p:nvPr/>
        </p:nvSpPr>
        <p:spPr>
          <a:xfrm>
            <a:off x="146734" y="593316"/>
            <a:ext cx="510379" cy="510379"/>
          </a:xfrm>
          <a:prstGeom prst="ellipse">
            <a:avLst/>
          </a:prstGeom>
          <a:solidFill>
            <a:srgbClr val="FFE22A"/>
          </a:solidFill>
          <a:ln w="31898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5" name="badge_1_label"/>
          <p:cNvSpPr txBox="1"/>
          <p:nvPr/>
        </p:nvSpPr>
        <p:spPr>
          <a:xfrm>
            <a:off x="146734" y="599696"/>
            <a:ext cx="510379" cy="5103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61" b="0" i="0">
                <a:solidFill>
                  <a:srgbClr val="000000"/>
                </a:solidFill>
                <a:latin typeface="Liberation Sans"/>
              </a:rPr>
              <a:t>1</a:t>
            </a:r>
          </a:p>
        </p:txBody>
      </p:sp>
      <p:sp>
        <p:nvSpPr>
          <p:cNvPr id="126" name="badge_10"/>
          <p:cNvSpPr/>
          <p:nvPr/>
        </p:nvSpPr>
        <p:spPr>
          <a:xfrm>
            <a:off x="1129215" y="4210632"/>
            <a:ext cx="497620" cy="497620"/>
          </a:xfrm>
          <a:prstGeom prst="ellipse">
            <a:avLst/>
          </a:prstGeom>
          <a:solidFill>
            <a:srgbClr val="FFE22A"/>
          </a:solidFill>
          <a:ln w="31898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7" name="badge_10_label"/>
          <p:cNvSpPr txBox="1"/>
          <p:nvPr/>
        </p:nvSpPr>
        <p:spPr>
          <a:xfrm>
            <a:off x="1129215" y="4217012"/>
            <a:ext cx="497620" cy="4976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60" b="0" i="0">
                <a:solidFill>
                  <a:srgbClr val="000000"/>
                </a:solidFill>
                <a:latin typeface="Liberation Sans"/>
              </a:rPr>
              <a:t>10</a:t>
            </a:r>
          </a:p>
        </p:txBody>
      </p:sp>
      <p:sp>
        <p:nvSpPr>
          <p:cNvPr id="128" name="input_to_current_shaft"/>
          <p:cNvSpPr/>
          <p:nvPr/>
        </p:nvSpPr>
        <p:spPr>
          <a:xfrm>
            <a:off x="765570" y="3228152"/>
            <a:ext cx="102076" cy="752810"/>
          </a:xfrm>
          <a:custGeom>
            <a:avLst/>
            <a:gdLst/>
            <a:ahLst/>
            <a:cxnLst/>
            <a:rect l="l" t="t" r="r" b="b"/>
            <a:pathLst>
              <a:path w="16" h="118">
                <a:moveTo>
                  <a:pt x="6" y="118"/>
                </a:moveTo>
                <a:lnTo>
                  <a:pt x="8" y="118"/>
                </a:lnTo>
                <a:lnTo>
                  <a:pt x="9" y="118"/>
                </a:lnTo>
                <a:lnTo>
                  <a:pt x="11" y="117"/>
                </a:lnTo>
                <a:lnTo>
                  <a:pt x="12" y="116"/>
                </a:lnTo>
                <a:lnTo>
                  <a:pt x="13" y="115"/>
                </a:lnTo>
                <a:lnTo>
                  <a:pt x="14" y="113"/>
                </a:lnTo>
                <a:lnTo>
                  <a:pt x="15" y="111"/>
                </a:lnTo>
                <a:lnTo>
                  <a:pt x="15" y="109"/>
                </a:lnTo>
                <a:lnTo>
                  <a:pt x="16" y="107"/>
                </a:lnTo>
                <a:lnTo>
                  <a:pt x="16" y="104"/>
                </a:lnTo>
                <a:lnTo>
                  <a:pt x="16" y="101"/>
                </a:lnTo>
                <a:lnTo>
                  <a:pt x="16" y="98"/>
                </a:lnTo>
                <a:lnTo>
                  <a:pt x="16" y="95"/>
                </a:lnTo>
                <a:lnTo>
                  <a:pt x="16" y="91"/>
                </a:lnTo>
                <a:lnTo>
                  <a:pt x="16" y="88"/>
                </a:lnTo>
                <a:lnTo>
                  <a:pt x="16" y="84"/>
                </a:lnTo>
                <a:lnTo>
                  <a:pt x="15" y="80"/>
                </a:lnTo>
                <a:lnTo>
                  <a:pt x="15" y="76"/>
                </a:lnTo>
                <a:lnTo>
                  <a:pt x="14" y="72"/>
                </a:lnTo>
                <a:lnTo>
                  <a:pt x="13" y="68"/>
                </a:lnTo>
                <a:lnTo>
                  <a:pt x="13" y="64"/>
                </a:lnTo>
                <a:lnTo>
                  <a:pt x="12" y="59"/>
                </a:lnTo>
                <a:lnTo>
                  <a:pt x="11" y="55"/>
                </a:lnTo>
                <a:lnTo>
                  <a:pt x="10" y="51"/>
                </a:lnTo>
                <a:lnTo>
                  <a:pt x="9" y="46"/>
                </a:lnTo>
                <a:lnTo>
                  <a:pt x="8" y="42"/>
                </a:lnTo>
                <a:lnTo>
                  <a:pt x="8" y="37"/>
                </a:lnTo>
                <a:lnTo>
                  <a:pt x="7" y="33"/>
                </a:lnTo>
                <a:lnTo>
                  <a:pt x="6" y="28"/>
                </a:lnTo>
                <a:lnTo>
                  <a:pt x="5" y="24"/>
                </a:lnTo>
                <a:lnTo>
                  <a:pt x="4" y="20"/>
                </a:lnTo>
                <a:lnTo>
                  <a:pt x="3" y="16"/>
                </a:lnTo>
                <a:lnTo>
                  <a:pt x="2" y="12"/>
                </a:lnTo>
                <a:lnTo>
                  <a:pt x="1" y="8"/>
                </a:lnTo>
                <a:lnTo>
                  <a:pt x="1" y="4"/>
                </a:lnTo>
                <a:lnTo>
                  <a:pt x="0" y="0"/>
                </a:lnTo>
              </a:path>
            </a:pathLst>
          </a:custGeom>
          <a:noFill/>
          <a:ln w="25518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9" name="input_to_current_head"/>
          <p:cNvSpPr/>
          <p:nvPr/>
        </p:nvSpPr>
        <p:spPr>
          <a:xfrm>
            <a:off x="733671" y="3228152"/>
            <a:ext cx="102076" cy="102076"/>
          </a:xfrm>
          <a:custGeom>
            <a:avLst/>
            <a:gdLst/>
            <a:ahLst/>
            <a:cxnLst/>
            <a:rect l="l" t="t" r="r" b="b"/>
            <a:pathLst>
              <a:path w="16" h="16">
                <a:moveTo>
                  <a:pt x="5" y="0"/>
                </a:moveTo>
                <a:lnTo>
                  <a:pt x="16" y="13"/>
                </a:lnTo>
                <a:lnTo>
                  <a:pt x="0" y="16"/>
                </a:lnTo>
                <a:close/>
              </a:path>
            </a:pathLst>
          </a:custGeom>
          <a:solidFill>
            <a:srgbClr val="000000"/>
          </a:solidFill>
          <a:ln w="637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" name="pre_to_history_shaft"/>
          <p:cNvSpPr/>
          <p:nvPr/>
        </p:nvSpPr>
        <p:spPr>
          <a:xfrm>
            <a:off x="2373266" y="3515240"/>
            <a:ext cx="3336607" cy="146734"/>
          </a:xfrm>
          <a:custGeom>
            <a:avLst/>
            <a:gdLst/>
            <a:ahLst/>
            <a:cxnLst/>
            <a:rect l="l" t="t" r="r" b="b"/>
            <a:pathLst>
              <a:path w="523" h="23">
                <a:moveTo>
                  <a:pt x="0" y="1"/>
                </a:moveTo>
                <a:lnTo>
                  <a:pt x="0" y="23"/>
                </a:lnTo>
                <a:lnTo>
                  <a:pt x="497" y="23"/>
                </a:lnTo>
                <a:lnTo>
                  <a:pt x="523" y="0"/>
                </a:lnTo>
              </a:path>
            </a:pathLst>
          </a:custGeom>
          <a:noFill/>
          <a:ln w="25518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1" name="pre_to_history_head"/>
          <p:cNvSpPr/>
          <p:nvPr/>
        </p:nvSpPr>
        <p:spPr>
          <a:xfrm>
            <a:off x="5595037" y="3515240"/>
            <a:ext cx="114835" cy="108456"/>
          </a:xfrm>
          <a:custGeom>
            <a:avLst/>
            <a:gdLst/>
            <a:ahLst/>
            <a:cxnLst/>
            <a:rect l="l" t="t" r="r" b="b"/>
            <a:pathLst>
              <a:path w="18" h="17">
                <a:moveTo>
                  <a:pt x="18" y="0"/>
                </a:moveTo>
                <a:lnTo>
                  <a:pt x="12" y="17"/>
                </a:lnTo>
                <a:lnTo>
                  <a:pt x="0" y="4"/>
                </a:lnTo>
                <a:close/>
              </a:path>
            </a:pathLst>
          </a:custGeom>
          <a:solidFill>
            <a:srgbClr val="000000"/>
          </a:solidFill>
          <a:ln w="637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2" name="pre_history_stack_front"/>
          <p:cNvSpPr/>
          <p:nvPr/>
        </p:nvSpPr>
        <p:spPr>
          <a:xfrm>
            <a:off x="5205872" y="963341"/>
            <a:ext cx="956961" cy="2526379"/>
          </a:xfrm>
          <a:prstGeom prst="rect">
            <a:avLst/>
          </a:prstGeom>
          <a:solidFill>
            <a:srgbClr val="D7D7D7"/>
          </a:solidFill>
          <a:ln w="14035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3" name="pre_history_stack_row_01"/>
          <p:cNvSpPr/>
          <p:nvPr/>
        </p:nvSpPr>
        <p:spPr>
          <a:xfrm>
            <a:off x="5205873" y="1384405"/>
            <a:ext cx="956962" cy="0"/>
          </a:xfrm>
          <a:custGeom>
            <a:avLst/>
            <a:gdLst/>
            <a:ahLst/>
            <a:cxnLst/>
            <a:rect l="l" t="t" r="r" b="b"/>
            <a:pathLst>
              <a:path w="150" h="0">
                <a:moveTo>
                  <a:pt x="0" y="0"/>
                </a:moveTo>
                <a:lnTo>
                  <a:pt x="150" y="0"/>
                </a:lnTo>
              </a:path>
            </a:pathLst>
          </a:custGeom>
          <a:noFill/>
          <a:ln w="1020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4" name="pre_history_stack_row_02"/>
          <p:cNvSpPr/>
          <p:nvPr/>
        </p:nvSpPr>
        <p:spPr>
          <a:xfrm>
            <a:off x="5205873" y="1805468"/>
            <a:ext cx="956962" cy="0"/>
          </a:xfrm>
          <a:custGeom>
            <a:avLst/>
            <a:gdLst/>
            <a:ahLst/>
            <a:cxnLst/>
            <a:rect l="l" t="t" r="r" b="b"/>
            <a:pathLst>
              <a:path w="150" h="0">
                <a:moveTo>
                  <a:pt x="0" y="0"/>
                </a:moveTo>
                <a:lnTo>
                  <a:pt x="150" y="0"/>
                </a:lnTo>
              </a:path>
            </a:pathLst>
          </a:custGeom>
          <a:noFill/>
          <a:ln w="1020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5" name="pre_history_stack_row_03"/>
          <p:cNvSpPr/>
          <p:nvPr/>
        </p:nvSpPr>
        <p:spPr>
          <a:xfrm>
            <a:off x="5205873" y="2226531"/>
            <a:ext cx="956962" cy="0"/>
          </a:xfrm>
          <a:custGeom>
            <a:avLst/>
            <a:gdLst/>
            <a:ahLst/>
            <a:cxnLst/>
            <a:rect l="l" t="t" r="r" b="b"/>
            <a:pathLst>
              <a:path w="150" h="0">
                <a:moveTo>
                  <a:pt x="0" y="0"/>
                </a:moveTo>
                <a:lnTo>
                  <a:pt x="150" y="0"/>
                </a:lnTo>
              </a:path>
            </a:pathLst>
          </a:custGeom>
          <a:noFill/>
          <a:ln w="1020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6" name="pre_history_stack_row_04"/>
          <p:cNvSpPr/>
          <p:nvPr/>
        </p:nvSpPr>
        <p:spPr>
          <a:xfrm>
            <a:off x="5205873" y="2647595"/>
            <a:ext cx="956962" cy="0"/>
          </a:xfrm>
          <a:custGeom>
            <a:avLst/>
            <a:gdLst/>
            <a:ahLst/>
            <a:cxnLst/>
            <a:rect l="l" t="t" r="r" b="b"/>
            <a:pathLst>
              <a:path w="150" h="0">
                <a:moveTo>
                  <a:pt x="0" y="0"/>
                </a:moveTo>
                <a:lnTo>
                  <a:pt x="150" y="0"/>
                </a:lnTo>
              </a:path>
            </a:pathLst>
          </a:custGeom>
          <a:noFill/>
          <a:ln w="1020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7" name="pre_history_stack_row_05"/>
          <p:cNvSpPr/>
          <p:nvPr/>
        </p:nvSpPr>
        <p:spPr>
          <a:xfrm>
            <a:off x="5205873" y="3068658"/>
            <a:ext cx="956962" cy="0"/>
          </a:xfrm>
          <a:custGeom>
            <a:avLst/>
            <a:gdLst/>
            <a:ahLst/>
            <a:cxnLst/>
            <a:rect l="l" t="t" r="r" b="b"/>
            <a:pathLst>
              <a:path w="150" h="0">
                <a:moveTo>
                  <a:pt x="0" y="0"/>
                </a:moveTo>
                <a:lnTo>
                  <a:pt x="150" y="0"/>
                </a:lnTo>
              </a:path>
            </a:pathLst>
          </a:custGeom>
          <a:noFill/>
          <a:ln w="1020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8" name="pre_history_wave_0"/>
          <p:cNvSpPr/>
          <p:nvPr/>
        </p:nvSpPr>
        <p:spPr>
          <a:xfrm>
            <a:off x="3432303" y="1027139"/>
            <a:ext cx="1971342" cy="318987"/>
          </a:xfrm>
          <a:custGeom>
            <a:avLst/>
            <a:gdLst/>
            <a:ahLst/>
            <a:cxnLst/>
            <a:rect l="l" t="t" r="r" b="b"/>
            <a:pathLst>
              <a:path w="309" h="50">
                <a:moveTo>
                  <a:pt x="0" y="28"/>
                </a:moveTo>
                <a:lnTo>
                  <a:pt x="3" y="36"/>
                </a:lnTo>
                <a:lnTo>
                  <a:pt x="6" y="42"/>
                </a:lnTo>
                <a:lnTo>
                  <a:pt x="9" y="44"/>
                </a:lnTo>
                <a:lnTo>
                  <a:pt x="12" y="43"/>
                </a:lnTo>
                <a:lnTo>
                  <a:pt x="15" y="40"/>
                </a:lnTo>
                <a:lnTo>
                  <a:pt x="19" y="35"/>
                </a:lnTo>
                <a:lnTo>
                  <a:pt x="22" y="30"/>
                </a:lnTo>
                <a:lnTo>
                  <a:pt x="25" y="25"/>
                </a:lnTo>
                <a:lnTo>
                  <a:pt x="28" y="21"/>
                </a:lnTo>
                <a:lnTo>
                  <a:pt x="31" y="17"/>
                </a:lnTo>
                <a:lnTo>
                  <a:pt x="34" y="13"/>
                </a:lnTo>
                <a:lnTo>
                  <a:pt x="37" y="9"/>
                </a:lnTo>
                <a:lnTo>
                  <a:pt x="40" y="5"/>
                </a:lnTo>
                <a:lnTo>
                  <a:pt x="43" y="2"/>
                </a:lnTo>
                <a:lnTo>
                  <a:pt x="46" y="0"/>
                </a:lnTo>
                <a:lnTo>
                  <a:pt x="49" y="2"/>
                </a:lnTo>
                <a:lnTo>
                  <a:pt x="53" y="6"/>
                </a:lnTo>
                <a:lnTo>
                  <a:pt x="56" y="14"/>
                </a:lnTo>
                <a:lnTo>
                  <a:pt x="59" y="23"/>
                </a:lnTo>
                <a:lnTo>
                  <a:pt x="62" y="33"/>
                </a:lnTo>
                <a:lnTo>
                  <a:pt x="65" y="41"/>
                </a:lnTo>
                <a:lnTo>
                  <a:pt x="68" y="47"/>
                </a:lnTo>
                <a:lnTo>
                  <a:pt x="71" y="48"/>
                </a:lnTo>
                <a:lnTo>
                  <a:pt x="74" y="45"/>
                </a:lnTo>
                <a:lnTo>
                  <a:pt x="77" y="40"/>
                </a:lnTo>
                <a:lnTo>
                  <a:pt x="80" y="33"/>
                </a:lnTo>
                <a:lnTo>
                  <a:pt x="83" y="26"/>
                </a:lnTo>
                <a:lnTo>
                  <a:pt x="87" y="20"/>
                </a:lnTo>
                <a:lnTo>
                  <a:pt x="90" y="15"/>
                </a:lnTo>
                <a:lnTo>
                  <a:pt x="93" y="11"/>
                </a:lnTo>
                <a:lnTo>
                  <a:pt x="96" y="8"/>
                </a:lnTo>
                <a:lnTo>
                  <a:pt x="99" y="6"/>
                </a:lnTo>
                <a:lnTo>
                  <a:pt x="102" y="4"/>
                </a:lnTo>
                <a:lnTo>
                  <a:pt x="105" y="2"/>
                </a:lnTo>
                <a:lnTo>
                  <a:pt x="108" y="3"/>
                </a:lnTo>
                <a:lnTo>
                  <a:pt x="111" y="5"/>
                </a:lnTo>
                <a:lnTo>
                  <a:pt x="114" y="11"/>
                </a:lnTo>
                <a:lnTo>
                  <a:pt x="117" y="19"/>
                </a:lnTo>
                <a:lnTo>
                  <a:pt x="121" y="28"/>
                </a:lnTo>
                <a:lnTo>
                  <a:pt x="124" y="38"/>
                </a:lnTo>
                <a:lnTo>
                  <a:pt x="127" y="45"/>
                </a:lnTo>
                <a:lnTo>
                  <a:pt x="130" y="49"/>
                </a:lnTo>
                <a:lnTo>
                  <a:pt x="133" y="49"/>
                </a:lnTo>
                <a:lnTo>
                  <a:pt x="136" y="45"/>
                </a:lnTo>
                <a:lnTo>
                  <a:pt x="139" y="38"/>
                </a:lnTo>
                <a:lnTo>
                  <a:pt x="142" y="29"/>
                </a:lnTo>
                <a:lnTo>
                  <a:pt x="145" y="20"/>
                </a:lnTo>
                <a:lnTo>
                  <a:pt x="148" y="13"/>
                </a:lnTo>
                <a:lnTo>
                  <a:pt x="151" y="9"/>
                </a:lnTo>
                <a:lnTo>
                  <a:pt x="154" y="6"/>
                </a:lnTo>
                <a:lnTo>
                  <a:pt x="158" y="4"/>
                </a:lnTo>
                <a:lnTo>
                  <a:pt x="161" y="4"/>
                </a:lnTo>
                <a:lnTo>
                  <a:pt x="164" y="4"/>
                </a:lnTo>
                <a:lnTo>
                  <a:pt x="167" y="5"/>
                </a:lnTo>
                <a:lnTo>
                  <a:pt x="170" y="7"/>
                </a:lnTo>
                <a:lnTo>
                  <a:pt x="173" y="11"/>
                </a:lnTo>
                <a:lnTo>
                  <a:pt x="176" y="17"/>
                </a:lnTo>
                <a:lnTo>
                  <a:pt x="179" y="24"/>
                </a:lnTo>
                <a:lnTo>
                  <a:pt x="182" y="33"/>
                </a:lnTo>
                <a:lnTo>
                  <a:pt x="185" y="41"/>
                </a:lnTo>
                <a:lnTo>
                  <a:pt x="188" y="47"/>
                </a:lnTo>
                <a:lnTo>
                  <a:pt x="192" y="50"/>
                </a:lnTo>
                <a:lnTo>
                  <a:pt x="195" y="48"/>
                </a:lnTo>
                <a:lnTo>
                  <a:pt x="198" y="42"/>
                </a:lnTo>
                <a:lnTo>
                  <a:pt x="201" y="34"/>
                </a:lnTo>
                <a:lnTo>
                  <a:pt x="204" y="24"/>
                </a:lnTo>
                <a:lnTo>
                  <a:pt x="207" y="15"/>
                </a:lnTo>
                <a:lnTo>
                  <a:pt x="210" y="8"/>
                </a:lnTo>
                <a:lnTo>
                  <a:pt x="213" y="4"/>
                </a:lnTo>
                <a:lnTo>
                  <a:pt x="216" y="2"/>
                </a:lnTo>
                <a:lnTo>
                  <a:pt x="219" y="3"/>
                </a:lnTo>
                <a:lnTo>
                  <a:pt x="222" y="4"/>
                </a:lnTo>
                <a:lnTo>
                  <a:pt x="226" y="7"/>
                </a:lnTo>
                <a:lnTo>
                  <a:pt x="229" y="10"/>
                </a:lnTo>
                <a:lnTo>
                  <a:pt x="232" y="13"/>
                </a:lnTo>
                <a:lnTo>
                  <a:pt x="235" y="17"/>
                </a:lnTo>
                <a:lnTo>
                  <a:pt x="238" y="22"/>
                </a:lnTo>
                <a:lnTo>
                  <a:pt x="241" y="29"/>
                </a:lnTo>
                <a:lnTo>
                  <a:pt x="244" y="36"/>
                </a:lnTo>
                <a:lnTo>
                  <a:pt x="247" y="42"/>
                </a:lnTo>
                <a:lnTo>
                  <a:pt x="250" y="46"/>
                </a:lnTo>
                <a:lnTo>
                  <a:pt x="253" y="47"/>
                </a:lnTo>
                <a:lnTo>
                  <a:pt x="256" y="44"/>
                </a:lnTo>
                <a:lnTo>
                  <a:pt x="260" y="38"/>
                </a:lnTo>
                <a:lnTo>
                  <a:pt x="263" y="29"/>
                </a:lnTo>
                <a:lnTo>
                  <a:pt x="266" y="19"/>
                </a:lnTo>
                <a:lnTo>
                  <a:pt x="269" y="10"/>
                </a:lnTo>
                <a:lnTo>
                  <a:pt x="272" y="4"/>
                </a:lnTo>
                <a:lnTo>
                  <a:pt x="275" y="1"/>
                </a:lnTo>
                <a:lnTo>
                  <a:pt x="278" y="1"/>
                </a:lnTo>
                <a:lnTo>
                  <a:pt x="281" y="3"/>
                </a:lnTo>
                <a:lnTo>
                  <a:pt x="284" y="7"/>
                </a:lnTo>
                <a:lnTo>
                  <a:pt x="287" y="11"/>
                </a:lnTo>
                <a:lnTo>
                  <a:pt x="290" y="15"/>
                </a:lnTo>
                <a:lnTo>
                  <a:pt x="294" y="19"/>
                </a:lnTo>
                <a:lnTo>
                  <a:pt x="297" y="23"/>
                </a:lnTo>
                <a:lnTo>
                  <a:pt x="300" y="28"/>
                </a:lnTo>
                <a:lnTo>
                  <a:pt x="303" y="32"/>
                </a:lnTo>
                <a:lnTo>
                  <a:pt x="306" y="37"/>
                </a:lnTo>
                <a:lnTo>
                  <a:pt x="309" y="41"/>
                </a:lnTo>
              </a:path>
            </a:pathLst>
          </a:custGeom>
          <a:noFill/>
          <a:ln w="2232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" name="pre_history_emphasis_0"/>
          <p:cNvSpPr/>
          <p:nvPr/>
        </p:nvSpPr>
        <p:spPr>
          <a:xfrm>
            <a:off x="5193113" y="1084557"/>
            <a:ext cx="478481" cy="172253"/>
          </a:xfrm>
          <a:custGeom>
            <a:avLst/>
            <a:gdLst/>
            <a:ahLst/>
            <a:cxnLst/>
            <a:rect l="l" t="t" r="r" b="b"/>
            <a:pathLst>
              <a:path w="75" h="27">
                <a:moveTo>
                  <a:pt x="0" y="17"/>
                </a:moveTo>
                <a:lnTo>
                  <a:pt x="1" y="18"/>
                </a:lnTo>
                <a:lnTo>
                  <a:pt x="2" y="19"/>
                </a:lnTo>
                <a:lnTo>
                  <a:pt x="2" y="20"/>
                </a:lnTo>
                <a:lnTo>
                  <a:pt x="3" y="20"/>
                </a:lnTo>
                <a:lnTo>
                  <a:pt x="4" y="21"/>
                </a:lnTo>
                <a:lnTo>
                  <a:pt x="4" y="22"/>
                </a:lnTo>
                <a:lnTo>
                  <a:pt x="5" y="23"/>
                </a:lnTo>
                <a:lnTo>
                  <a:pt x="6" y="24"/>
                </a:lnTo>
                <a:lnTo>
                  <a:pt x="7" y="24"/>
                </a:lnTo>
                <a:lnTo>
                  <a:pt x="8" y="25"/>
                </a:lnTo>
                <a:lnTo>
                  <a:pt x="8" y="25"/>
                </a:lnTo>
                <a:lnTo>
                  <a:pt x="9" y="26"/>
                </a:lnTo>
                <a:lnTo>
                  <a:pt x="10" y="26"/>
                </a:lnTo>
                <a:lnTo>
                  <a:pt x="10" y="26"/>
                </a:lnTo>
                <a:lnTo>
                  <a:pt x="11" y="26"/>
                </a:lnTo>
                <a:lnTo>
                  <a:pt x="12" y="27"/>
                </a:lnTo>
                <a:lnTo>
                  <a:pt x="13" y="27"/>
                </a:lnTo>
                <a:lnTo>
                  <a:pt x="14" y="27"/>
                </a:lnTo>
                <a:lnTo>
                  <a:pt x="14" y="27"/>
                </a:lnTo>
                <a:lnTo>
                  <a:pt x="15" y="26"/>
                </a:lnTo>
                <a:lnTo>
                  <a:pt x="16" y="26"/>
                </a:lnTo>
                <a:lnTo>
                  <a:pt x="16" y="26"/>
                </a:lnTo>
                <a:lnTo>
                  <a:pt x="17" y="26"/>
                </a:lnTo>
                <a:lnTo>
                  <a:pt x="18" y="25"/>
                </a:lnTo>
                <a:lnTo>
                  <a:pt x="19" y="25"/>
                </a:lnTo>
                <a:lnTo>
                  <a:pt x="20" y="24"/>
                </a:lnTo>
                <a:lnTo>
                  <a:pt x="20" y="24"/>
                </a:lnTo>
                <a:lnTo>
                  <a:pt x="21" y="23"/>
                </a:lnTo>
                <a:lnTo>
                  <a:pt x="22" y="23"/>
                </a:lnTo>
                <a:lnTo>
                  <a:pt x="22" y="22"/>
                </a:lnTo>
                <a:lnTo>
                  <a:pt x="23" y="21"/>
                </a:lnTo>
                <a:lnTo>
                  <a:pt x="24" y="21"/>
                </a:lnTo>
                <a:lnTo>
                  <a:pt x="25" y="20"/>
                </a:lnTo>
                <a:lnTo>
                  <a:pt x="26" y="20"/>
                </a:lnTo>
                <a:lnTo>
                  <a:pt x="26" y="19"/>
                </a:lnTo>
                <a:lnTo>
                  <a:pt x="27" y="18"/>
                </a:lnTo>
                <a:lnTo>
                  <a:pt x="28" y="18"/>
                </a:lnTo>
                <a:lnTo>
                  <a:pt x="28" y="17"/>
                </a:lnTo>
                <a:lnTo>
                  <a:pt x="29" y="17"/>
                </a:lnTo>
                <a:lnTo>
                  <a:pt x="30" y="16"/>
                </a:lnTo>
                <a:lnTo>
                  <a:pt x="31" y="15"/>
                </a:lnTo>
                <a:lnTo>
                  <a:pt x="32" y="15"/>
                </a:lnTo>
                <a:lnTo>
                  <a:pt x="32" y="14"/>
                </a:lnTo>
                <a:lnTo>
                  <a:pt x="33" y="14"/>
                </a:lnTo>
                <a:lnTo>
                  <a:pt x="34" y="13"/>
                </a:lnTo>
                <a:lnTo>
                  <a:pt x="34" y="13"/>
                </a:lnTo>
                <a:lnTo>
                  <a:pt x="35" y="12"/>
                </a:lnTo>
                <a:lnTo>
                  <a:pt x="36" y="12"/>
                </a:lnTo>
                <a:lnTo>
                  <a:pt x="37" y="11"/>
                </a:lnTo>
                <a:lnTo>
                  <a:pt x="38" y="11"/>
                </a:lnTo>
                <a:lnTo>
                  <a:pt x="38" y="10"/>
                </a:lnTo>
                <a:lnTo>
                  <a:pt x="39" y="10"/>
                </a:lnTo>
                <a:lnTo>
                  <a:pt x="40" y="9"/>
                </a:lnTo>
                <a:lnTo>
                  <a:pt x="40" y="9"/>
                </a:lnTo>
                <a:lnTo>
                  <a:pt x="41" y="9"/>
                </a:lnTo>
                <a:lnTo>
                  <a:pt x="42" y="8"/>
                </a:lnTo>
                <a:lnTo>
                  <a:pt x="43" y="8"/>
                </a:lnTo>
                <a:lnTo>
                  <a:pt x="44" y="7"/>
                </a:lnTo>
                <a:lnTo>
                  <a:pt x="44" y="7"/>
                </a:lnTo>
                <a:lnTo>
                  <a:pt x="45" y="6"/>
                </a:lnTo>
                <a:lnTo>
                  <a:pt x="46" y="6"/>
                </a:lnTo>
                <a:lnTo>
                  <a:pt x="46" y="5"/>
                </a:lnTo>
                <a:lnTo>
                  <a:pt x="47" y="5"/>
                </a:lnTo>
                <a:lnTo>
                  <a:pt x="48" y="4"/>
                </a:lnTo>
                <a:lnTo>
                  <a:pt x="49" y="4"/>
                </a:lnTo>
                <a:lnTo>
                  <a:pt x="50" y="3"/>
                </a:lnTo>
                <a:lnTo>
                  <a:pt x="50" y="3"/>
                </a:lnTo>
                <a:lnTo>
                  <a:pt x="51" y="2"/>
                </a:lnTo>
                <a:lnTo>
                  <a:pt x="52" y="2"/>
                </a:lnTo>
                <a:lnTo>
                  <a:pt x="52" y="2"/>
                </a:lnTo>
                <a:lnTo>
                  <a:pt x="53" y="1"/>
                </a:lnTo>
                <a:lnTo>
                  <a:pt x="54" y="1"/>
                </a:lnTo>
                <a:lnTo>
                  <a:pt x="55" y="1"/>
                </a:lnTo>
                <a:lnTo>
                  <a:pt x="56" y="0"/>
                </a:lnTo>
                <a:lnTo>
                  <a:pt x="56" y="0"/>
                </a:lnTo>
                <a:lnTo>
                  <a:pt x="57" y="0"/>
                </a:lnTo>
                <a:lnTo>
                  <a:pt x="58" y="0"/>
                </a:lnTo>
                <a:lnTo>
                  <a:pt x="58" y="0"/>
                </a:lnTo>
                <a:lnTo>
                  <a:pt x="59" y="0"/>
                </a:lnTo>
                <a:lnTo>
                  <a:pt x="60" y="0"/>
                </a:lnTo>
                <a:lnTo>
                  <a:pt x="61" y="0"/>
                </a:lnTo>
                <a:lnTo>
                  <a:pt x="62" y="1"/>
                </a:lnTo>
                <a:lnTo>
                  <a:pt x="62" y="1"/>
                </a:lnTo>
                <a:lnTo>
                  <a:pt x="63" y="1"/>
                </a:lnTo>
                <a:lnTo>
                  <a:pt x="64" y="2"/>
                </a:lnTo>
                <a:lnTo>
                  <a:pt x="64" y="2"/>
                </a:lnTo>
                <a:lnTo>
                  <a:pt x="65" y="3"/>
                </a:lnTo>
                <a:lnTo>
                  <a:pt x="66" y="4"/>
                </a:lnTo>
                <a:lnTo>
                  <a:pt x="67" y="4"/>
                </a:lnTo>
                <a:lnTo>
                  <a:pt x="68" y="5"/>
                </a:lnTo>
                <a:lnTo>
                  <a:pt x="68" y="6"/>
                </a:lnTo>
                <a:lnTo>
                  <a:pt x="69" y="7"/>
                </a:lnTo>
                <a:lnTo>
                  <a:pt x="70" y="8"/>
                </a:lnTo>
                <a:lnTo>
                  <a:pt x="70" y="9"/>
                </a:lnTo>
                <a:lnTo>
                  <a:pt x="71" y="10"/>
                </a:lnTo>
                <a:lnTo>
                  <a:pt x="72" y="11"/>
                </a:lnTo>
                <a:lnTo>
                  <a:pt x="73" y="12"/>
                </a:lnTo>
                <a:lnTo>
                  <a:pt x="74" y="13"/>
                </a:lnTo>
                <a:lnTo>
                  <a:pt x="74" y="14"/>
                </a:lnTo>
                <a:lnTo>
                  <a:pt x="75" y="15"/>
                </a:lnTo>
              </a:path>
            </a:pathLst>
          </a:custGeom>
          <a:noFill/>
          <a:ln w="6379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0" name="pre_history_wave_1"/>
          <p:cNvSpPr/>
          <p:nvPr/>
        </p:nvSpPr>
        <p:spPr>
          <a:xfrm>
            <a:off x="3425924" y="1550278"/>
            <a:ext cx="1996861" cy="197772"/>
          </a:xfrm>
          <a:custGeom>
            <a:avLst/>
            <a:gdLst/>
            <a:ahLst/>
            <a:cxnLst/>
            <a:rect l="l" t="t" r="r" b="b"/>
            <a:pathLst>
              <a:path w="313" h="31">
                <a:moveTo>
                  <a:pt x="0" y="25"/>
                </a:moveTo>
                <a:lnTo>
                  <a:pt x="3" y="28"/>
                </a:lnTo>
                <a:lnTo>
                  <a:pt x="6" y="30"/>
                </a:lnTo>
                <a:lnTo>
                  <a:pt x="9" y="30"/>
                </a:lnTo>
                <a:lnTo>
                  <a:pt x="13" y="29"/>
                </a:lnTo>
                <a:lnTo>
                  <a:pt x="16" y="26"/>
                </a:lnTo>
                <a:lnTo>
                  <a:pt x="19" y="22"/>
                </a:lnTo>
                <a:lnTo>
                  <a:pt x="22" y="18"/>
                </a:lnTo>
                <a:lnTo>
                  <a:pt x="25" y="14"/>
                </a:lnTo>
                <a:lnTo>
                  <a:pt x="28" y="11"/>
                </a:lnTo>
                <a:lnTo>
                  <a:pt x="31" y="9"/>
                </a:lnTo>
                <a:lnTo>
                  <a:pt x="34" y="7"/>
                </a:lnTo>
                <a:lnTo>
                  <a:pt x="38" y="6"/>
                </a:lnTo>
                <a:lnTo>
                  <a:pt x="41" y="5"/>
                </a:lnTo>
                <a:lnTo>
                  <a:pt x="44" y="5"/>
                </a:lnTo>
                <a:lnTo>
                  <a:pt x="47" y="5"/>
                </a:lnTo>
                <a:lnTo>
                  <a:pt x="50" y="5"/>
                </a:lnTo>
                <a:lnTo>
                  <a:pt x="53" y="5"/>
                </a:lnTo>
                <a:lnTo>
                  <a:pt x="56" y="6"/>
                </a:lnTo>
                <a:lnTo>
                  <a:pt x="59" y="8"/>
                </a:lnTo>
                <a:lnTo>
                  <a:pt x="63" y="11"/>
                </a:lnTo>
                <a:lnTo>
                  <a:pt x="66" y="15"/>
                </a:lnTo>
                <a:lnTo>
                  <a:pt x="69" y="19"/>
                </a:lnTo>
                <a:lnTo>
                  <a:pt x="72" y="23"/>
                </a:lnTo>
                <a:lnTo>
                  <a:pt x="75" y="27"/>
                </a:lnTo>
                <a:lnTo>
                  <a:pt x="78" y="30"/>
                </a:lnTo>
                <a:lnTo>
                  <a:pt x="81" y="31"/>
                </a:lnTo>
                <a:lnTo>
                  <a:pt x="85" y="31"/>
                </a:lnTo>
                <a:lnTo>
                  <a:pt x="88" y="29"/>
                </a:lnTo>
                <a:lnTo>
                  <a:pt x="91" y="26"/>
                </a:lnTo>
                <a:lnTo>
                  <a:pt x="94" y="21"/>
                </a:lnTo>
                <a:lnTo>
                  <a:pt x="97" y="16"/>
                </a:lnTo>
                <a:lnTo>
                  <a:pt x="100" y="12"/>
                </a:lnTo>
                <a:lnTo>
                  <a:pt x="103" y="8"/>
                </a:lnTo>
                <a:lnTo>
                  <a:pt x="106" y="5"/>
                </a:lnTo>
                <a:lnTo>
                  <a:pt x="110" y="4"/>
                </a:lnTo>
                <a:lnTo>
                  <a:pt x="113" y="3"/>
                </a:lnTo>
                <a:lnTo>
                  <a:pt x="116" y="3"/>
                </a:lnTo>
                <a:lnTo>
                  <a:pt x="119" y="4"/>
                </a:lnTo>
                <a:lnTo>
                  <a:pt x="122" y="5"/>
                </a:lnTo>
                <a:lnTo>
                  <a:pt x="125" y="6"/>
                </a:lnTo>
                <a:lnTo>
                  <a:pt x="128" y="7"/>
                </a:lnTo>
                <a:lnTo>
                  <a:pt x="131" y="9"/>
                </a:lnTo>
                <a:lnTo>
                  <a:pt x="135" y="11"/>
                </a:lnTo>
                <a:lnTo>
                  <a:pt x="138" y="14"/>
                </a:lnTo>
                <a:lnTo>
                  <a:pt x="141" y="17"/>
                </a:lnTo>
                <a:lnTo>
                  <a:pt x="144" y="21"/>
                </a:lnTo>
                <a:lnTo>
                  <a:pt x="147" y="25"/>
                </a:lnTo>
                <a:lnTo>
                  <a:pt x="150" y="28"/>
                </a:lnTo>
                <a:lnTo>
                  <a:pt x="153" y="30"/>
                </a:lnTo>
                <a:lnTo>
                  <a:pt x="157" y="31"/>
                </a:lnTo>
                <a:lnTo>
                  <a:pt x="160" y="31"/>
                </a:lnTo>
                <a:lnTo>
                  <a:pt x="163" y="28"/>
                </a:lnTo>
                <a:lnTo>
                  <a:pt x="166" y="24"/>
                </a:lnTo>
                <a:lnTo>
                  <a:pt x="169" y="20"/>
                </a:lnTo>
                <a:lnTo>
                  <a:pt x="172" y="14"/>
                </a:lnTo>
                <a:lnTo>
                  <a:pt x="175" y="9"/>
                </a:lnTo>
                <a:lnTo>
                  <a:pt x="178" y="5"/>
                </a:lnTo>
                <a:lnTo>
                  <a:pt x="182" y="3"/>
                </a:lnTo>
                <a:lnTo>
                  <a:pt x="185" y="1"/>
                </a:lnTo>
                <a:lnTo>
                  <a:pt x="188" y="1"/>
                </a:lnTo>
                <a:lnTo>
                  <a:pt x="191" y="2"/>
                </a:lnTo>
                <a:lnTo>
                  <a:pt x="194" y="4"/>
                </a:lnTo>
                <a:lnTo>
                  <a:pt x="197" y="6"/>
                </a:lnTo>
                <a:lnTo>
                  <a:pt x="200" y="8"/>
                </a:lnTo>
                <a:lnTo>
                  <a:pt x="203" y="10"/>
                </a:lnTo>
                <a:lnTo>
                  <a:pt x="207" y="13"/>
                </a:lnTo>
                <a:lnTo>
                  <a:pt x="210" y="15"/>
                </a:lnTo>
                <a:lnTo>
                  <a:pt x="213" y="17"/>
                </a:lnTo>
                <a:lnTo>
                  <a:pt x="216" y="20"/>
                </a:lnTo>
                <a:lnTo>
                  <a:pt x="219" y="23"/>
                </a:lnTo>
                <a:lnTo>
                  <a:pt x="222" y="25"/>
                </a:lnTo>
                <a:lnTo>
                  <a:pt x="225" y="28"/>
                </a:lnTo>
                <a:lnTo>
                  <a:pt x="228" y="29"/>
                </a:lnTo>
                <a:lnTo>
                  <a:pt x="232" y="30"/>
                </a:lnTo>
                <a:lnTo>
                  <a:pt x="235" y="29"/>
                </a:lnTo>
                <a:lnTo>
                  <a:pt x="238" y="26"/>
                </a:lnTo>
                <a:lnTo>
                  <a:pt x="241" y="22"/>
                </a:lnTo>
                <a:lnTo>
                  <a:pt x="244" y="17"/>
                </a:lnTo>
                <a:lnTo>
                  <a:pt x="247" y="12"/>
                </a:lnTo>
                <a:lnTo>
                  <a:pt x="250" y="8"/>
                </a:lnTo>
                <a:lnTo>
                  <a:pt x="254" y="4"/>
                </a:lnTo>
                <a:lnTo>
                  <a:pt x="257" y="1"/>
                </a:lnTo>
                <a:lnTo>
                  <a:pt x="260" y="0"/>
                </a:lnTo>
                <a:lnTo>
                  <a:pt x="263" y="1"/>
                </a:lnTo>
                <a:lnTo>
                  <a:pt x="266" y="3"/>
                </a:lnTo>
                <a:lnTo>
                  <a:pt x="269" y="5"/>
                </a:lnTo>
                <a:lnTo>
                  <a:pt x="272" y="8"/>
                </a:lnTo>
                <a:lnTo>
                  <a:pt x="275" y="11"/>
                </a:lnTo>
                <a:lnTo>
                  <a:pt x="279" y="14"/>
                </a:lnTo>
                <a:lnTo>
                  <a:pt x="282" y="16"/>
                </a:lnTo>
                <a:lnTo>
                  <a:pt x="285" y="18"/>
                </a:lnTo>
                <a:lnTo>
                  <a:pt x="288" y="20"/>
                </a:lnTo>
                <a:lnTo>
                  <a:pt x="291" y="22"/>
                </a:lnTo>
                <a:lnTo>
                  <a:pt x="294" y="23"/>
                </a:lnTo>
                <a:lnTo>
                  <a:pt x="297" y="25"/>
                </a:lnTo>
                <a:lnTo>
                  <a:pt x="300" y="26"/>
                </a:lnTo>
                <a:lnTo>
                  <a:pt x="304" y="27"/>
                </a:lnTo>
                <a:lnTo>
                  <a:pt x="307" y="27"/>
                </a:lnTo>
                <a:lnTo>
                  <a:pt x="310" y="26"/>
                </a:lnTo>
                <a:lnTo>
                  <a:pt x="313" y="23"/>
                </a:lnTo>
              </a:path>
            </a:pathLst>
          </a:custGeom>
          <a:noFill/>
          <a:ln w="25518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1" name="pre_history_emphasis_1"/>
          <p:cNvSpPr/>
          <p:nvPr/>
        </p:nvSpPr>
        <p:spPr>
          <a:xfrm>
            <a:off x="5193113" y="1607696"/>
            <a:ext cx="478481" cy="95696"/>
          </a:xfrm>
          <a:custGeom>
            <a:avLst/>
            <a:gdLst/>
            <a:ahLst/>
            <a:cxnLst/>
            <a:rect l="l" t="t" r="r" b="b"/>
            <a:pathLst>
              <a:path w="75" h="15">
                <a:moveTo>
                  <a:pt x="0" y="12"/>
                </a:moveTo>
                <a:lnTo>
                  <a:pt x="1" y="12"/>
                </a:lnTo>
                <a:lnTo>
                  <a:pt x="2" y="13"/>
                </a:lnTo>
                <a:lnTo>
                  <a:pt x="2" y="13"/>
                </a:lnTo>
                <a:lnTo>
                  <a:pt x="3" y="14"/>
                </a:lnTo>
                <a:lnTo>
                  <a:pt x="4" y="14"/>
                </a:lnTo>
                <a:lnTo>
                  <a:pt x="4" y="14"/>
                </a:lnTo>
                <a:lnTo>
                  <a:pt x="5" y="15"/>
                </a:lnTo>
                <a:lnTo>
                  <a:pt x="6" y="15"/>
                </a:lnTo>
                <a:lnTo>
                  <a:pt x="7" y="15"/>
                </a:lnTo>
                <a:lnTo>
                  <a:pt x="8" y="15"/>
                </a:lnTo>
                <a:lnTo>
                  <a:pt x="8" y="15"/>
                </a:lnTo>
                <a:lnTo>
                  <a:pt x="9" y="15"/>
                </a:lnTo>
                <a:lnTo>
                  <a:pt x="10" y="15"/>
                </a:lnTo>
                <a:lnTo>
                  <a:pt x="10" y="15"/>
                </a:lnTo>
                <a:lnTo>
                  <a:pt x="11" y="15"/>
                </a:lnTo>
                <a:lnTo>
                  <a:pt x="12" y="15"/>
                </a:lnTo>
                <a:lnTo>
                  <a:pt x="13" y="14"/>
                </a:lnTo>
                <a:lnTo>
                  <a:pt x="14" y="14"/>
                </a:lnTo>
                <a:lnTo>
                  <a:pt x="14" y="14"/>
                </a:lnTo>
                <a:lnTo>
                  <a:pt x="15" y="13"/>
                </a:lnTo>
                <a:lnTo>
                  <a:pt x="16" y="13"/>
                </a:lnTo>
                <a:lnTo>
                  <a:pt x="16" y="12"/>
                </a:lnTo>
                <a:lnTo>
                  <a:pt x="17" y="12"/>
                </a:lnTo>
                <a:lnTo>
                  <a:pt x="18" y="11"/>
                </a:lnTo>
                <a:lnTo>
                  <a:pt x="19" y="11"/>
                </a:lnTo>
                <a:lnTo>
                  <a:pt x="20" y="10"/>
                </a:lnTo>
                <a:lnTo>
                  <a:pt x="20" y="10"/>
                </a:lnTo>
                <a:lnTo>
                  <a:pt x="21" y="9"/>
                </a:lnTo>
                <a:lnTo>
                  <a:pt x="22" y="9"/>
                </a:lnTo>
                <a:lnTo>
                  <a:pt x="22" y="8"/>
                </a:lnTo>
                <a:lnTo>
                  <a:pt x="23" y="8"/>
                </a:lnTo>
                <a:lnTo>
                  <a:pt x="24" y="7"/>
                </a:lnTo>
                <a:lnTo>
                  <a:pt x="25" y="6"/>
                </a:lnTo>
                <a:lnTo>
                  <a:pt x="26" y="6"/>
                </a:lnTo>
                <a:lnTo>
                  <a:pt x="26" y="5"/>
                </a:lnTo>
                <a:lnTo>
                  <a:pt x="27" y="5"/>
                </a:lnTo>
                <a:lnTo>
                  <a:pt x="28" y="4"/>
                </a:lnTo>
                <a:lnTo>
                  <a:pt x="28" y="4"/>
                </a:lnTo>
                <a:lnTo>
                  <a:pt x="29" y="4"/>
                </a:lnTo>
                <a:lnTo>
                  <a:pt x="30" y="3"/>
                </a:lnTo>
                <a:lnTo>
                  <a:pt x="31" y="3"/>
                </a:lnTo>
                <a:lnTo>
                  <a:pt x="32" y="2"/>
                </a:lnTo>
                <a:lnTo>
                  <a:pt x="32" y="2"/>
                </a:lnTo>
                <a:lnTo>
                  <a:pt x="33" y="2"/>
                </a:lnTo>
                <a:lnTo>
                  <a:pt x="34" y="2"/>
                </a:lnTo>
                <a:lnTo>
                  <a:pt x="34" y="1"/>
                </a:lnTo>
                <a:lnTo>
                  <a:pt x="35" y="1"/>
                </a:lnTo>
                <a:lnTo>
                  <a:pt x="36" y="1"/>
                </a:lnTo>
                <a:lnTo>
                  <a:pt x="37" y="1"/>
                </a:lnTo>
                <a:lnTo>
                  <a:pt x="38" y="1"/>
                </a:lnTo>
                <a:lnTo>
                  <a:pt x="38" y="0"/>
                </a:lnTo>
                <a:lnTo>
                  <a:pt x="39" y="0"/>
                </a:lnTo>
                <a:lnTo>
                  <a:pt x="40" y="0"/>
                </a:lnTo>
                <a:lnTo>
                  <a:pt x="40" y="0"/>
                </a:lnTo>
                <a:lnTo>
                  <a:pt x="41" y="0"/>
                </a:lnTo>
                <a:lnTo>
                  <a:pt x="42" y="0"/>
                </a:lnTo>
                <a:lnTo>
                  <a:pt x="43" y="0"/>
                </a:lnTo>
                <a:lnTo>
                  <a:pt x="44" y="0"/>
                </a:lnTo>
                <a:lnTo>
                  <a:pt x="44" y="0"/>
                </a:lnTo>
                <a:lnTo>
                  <a:pt x="45" y="0"/>
                </a:lnTo>
                <a:lnTo>
                  <a:pt x="46" y="0"/>
                </a:lnTo>
                <a:lnTo>
                  <a:pt x="46" y="0"/>
                </a:lnTo>
                <a:lnTo>
                  <a:pt x="47" y="0"/>
                </a:lnTo>
                <a:lnTo>
                  <a:pt x="48" y="0"/>
                </a:lnTo>
                <a:lnTo>
                  <a:pt x="49" y="0"/>
                </a:lnTo>
                <a:lnTo>
                  <a:pt x="50" y="0"/>
                </a:lnTo>
                <a:lnTo>
                  <a:pt x="50" y="0"/>
                </a:lnTo>
                <a:lnTo>
                  <a:pt x="51" y="0"/>
                </a:lnTo>
                <a:lnTo>
                  <a:pt x="52" y="0"/>
                </a:lnTo>
                <a:lnTo>
                  <a:pt x="52" y="0"/>
                </a:lnTo>
                <a:lnTo>
                  <a:pt x="53" y="0"/>
                </a:lnTo>
                <a:lnTo>
                  <a:pt x="54" y="0"/>
                </a:lnTo>
                <a:lnTo>
                  <a:pt x="55" y="0"/>
                </a:lnTo>
                <a:lnTo>
                  <a:pt x="56" y="0"/>
                </a:lnTo>
                <a:lnTo>
                  <a:pt x="56" y="0"/>
                </a:lnTo>
                <a:lnTo>
                  <a:pt x="57" y="1"/>
                </a:lnTo>
                <a:lnTo>
                  <a:pt x="58" y="1"/>
                </a:lnTo>
                <a:lnTo>
                  <a:pt x="58" y="1"/>
                </a:lnTo>
                <a:lnTo>
                  <a:pt x="59" y="1"/>
                </a:lnTo>
                <a:lnTo>
                  <a:pt x="60" y="2"/>
                </a:lnTo>
                <a:lnTo>
                  <a:pt x="61" y="2"/>
                </a:lnTo>
                <a:lnTo>
                  <a:pt x="62" y="2"/>
                </a:lnTo>
                <a:lnTo>
                  <a:pt x="62" y="3"/>
                </a:lnTo>
                <a:lnTo>
                  <a:pt x="63" y="3"/>
                </a:lnTo>
                <a:lnTo>
                  <a:pt x="64" y="3"/>
                </a:lnTo>
                <a:lnTo>
                  <a:pt x="64" y="4"/>
                </a:lnTo>
                <a:lnTo>
                  <a:pt x="65" y="4"/>
                </a:lnTo>
                <a:lnTo>
                  <a:pt x="66" y="5"/>
                </a:lnTo>
                <a:lnTo>
                  <a:pt x="67" y="5"/>
                </a:lnTo>
                <a:lnTo>
                  <a:pt x="68" y="6"/>
                </a:lnTo>
                <a:lnTo>
                  <a:pt x="68" y="6"/>
                </a:lnTo>
                <a:lnTo>
                  <a:pt x="69" y="7"/>
                </a:lnTo>
                <a:lnTo>
                  <a:pt x="70" y="7"/>
                </a:lnTo>
                <a:lnTo>
                  <a:pt x="70" y="8"/>
                </a:lnTo>
                <a:lnTo>
                  <a:pt x="71" y="8"/>
                </a:lnTo>
                <a:lnTo>
                  <a:pt x="72" y="9"/>
                </a:lnTo>
                <a:lnTo>
                  <a:pt x="73" y="9"/>
                </a:lnTo>
                <a:lnTo>
                  <a:pt x="74" y="10"/>
                </a:lnTo>
                <a:lnTo>
                  <a:pt x="74" y="10"/>
                </a:lnTo>
                <a:lnTo>
                  <a:pt x="75" y="11"/>
                </a:lnTo>
              </a:path>
            </a:pathLst>
          </a:custGeom>
          <a:noFill/>
          <a:ln w="6379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2" name="pre_history_wave_2"/>
          <p:cNvSpPr/>
          <p:nvPr/>
        </p:nvSpPr>
        <p:spPr>
          <a:xfrm>
            <a:off x="3413164" y="1984101"/>
            <a:ext cx="2028759" cy="306228"/>
          </a:xfrm>
          <a:custGeom>
            <a:avLst/>
            <a:gdLst/>
            <a:ahLst/>
            <a:cxnLst/>
            <a:rect l="l" t="t" r="r" b="b"/>
            <a:pathLst>
              <a:path w="318" h="48">
                <a:moveTo>
                  <a:pt x="0" y="26"/>
                </a:moveTo>
                <a:lnTo>
                  <a:pt x="3" y="33"/>
                </a:lnTo>
                <a:lnTo>
                  <a:pt x="6" y="38"/>
                </a:lnTo>
                <a:lnTo>
                  <a:pt x="10" y="41"/>
                </a:lnTo>
                <a:lnTo>
                  <a:pt x="13" y="43"/>
                </a:lnTo>
                <a:lnTo>
                  <a:pt x="16" y="42"/>
                </a:lnTo>
                <a:lnTo>
                  <a:pt x="19" y="40"/>
                </a:lnTo>
                <a:lnTo>
                  <a:pt x="22" y="37"/>
                </a:lnTo>
                <a:lnTo>
                  <a:pt x="25" y="34"/>
                </a:lnTo>
                <a:lnTo>
                  <a:pt x="29" y="30"/>
                </a:lnTo>
                <a:lnTo>
                  <a:pt x="32" y="27"/>
                </a:lnTo>
                <a:lnTo>
                  <a:pt x="35" y="24"/>
                </a:lnTo>
                <a:lnTo>
                  <a:pt x="38" y="20"/>
                </a:lnTo>
                <a:lnTo>
                  <a:pt x="41" y="17"/>
                </a:lnTo>
                <a:lnTo>
                  <a:pt x="45" y="14"/>
                </a:lnTo>
                <a:lnTo>
                  <a:pt x="48" y="10"/>
                </a:lnTo>
                <a:lnTo>
                  <a:pt x="51" y="6"/>
                </a:lnTo>
                <a:lnTo>
                  <a:pt x="54" y="3"/>
                </a:lnTo>
                <a:lnTo>
                  <a:pt x="57" y="1"/>
                </a:lnTo>
                <a:lnTo>
                  <a:pt x="60" y="0"/>
                </a:lnTo>
                <a:lnTo>
                  <a:pt x="64" y="1"/>
                </a:lnTo>
                <a:lnTo>
                  <a:pt x="67" y="5"/>
                </a:lnTo>
                <a:lnTo>
                  <a:pt x="70" y="10"/>
                </a:lnTo>
                <a:lnTo>
                  <a:pt x="73" y="17"/>
                </a:lnTo>
                <a:lnTo>
                  <a:pt x="76" y="25"/>
                </a:lnTo>
                <a:lnTo>
                  <a:pt x="79" y="33"/>
                </a:lnTo>
                <a:lnTo>
                  <a:pt x="83" y="39"/>
                </a:lnTo>
                <a:lnTo>
                  <a:pt x="86" y="44"/>
                </a:lnTo>
                <a:lnTo>
                  <a:pt x="89" y="46"/>
                </a:lnTo>
                <a:lnTo>
                  <a:pt x="92" y="46"/>
                </a:lnTo>
                <a:lnTo>
                  <a:pt x="95" y="44"/>
                </a:lnTo>
                <a:lnTo>
                  <a:pt x="99" y="40"/>
                </a:lnTo>
                <a:lnTo>
                  <a:pt x="102" y="35"/>
                </a:lnTo>
                <a:lnTo>
                  <a:pt x="105" y="30"/>
                </a:lnTo>
                <a:lnTo>
                  <a:pt x="108" y="25"/>
                </a:lnTo>
                <a:lnTo>
                  <a:pt x="111" y="20"/>
                </a:lnTo>
                <a:lnTo>
                  <a:pt x="114" y="17"/>
                </a:lnTo>
                <a:lnTo>
                  <a:pt x="118" y="14"/>
                </a:lnTo>
                <a:lnTo>
                  <a:pt x="121" y="11"/>
                </a:lnTo>
                <a:lnTo>
                  <a:pt x="124" y="8"/>
                </a:lnTo>
                <a:lnTo>
                  <a:pt x="127" y="6"/>
                </a:lnTo>
                <a:lnTo>
                  <a:pt x="130" y="4"/>
                </a:lnTo>
                <a:lnTo>
                  <a:pt x="134" y="2"/>
                </a:lnTo>
                <a:lnTo>
                  <a:pt x="137" y="2"/>
                </a:lnTo>
                <a:lnTo>
                  <a:pt x="140" y="3"/>
                </a:lnTo>
                <a:lnTo>
                  <a:pt x="143" y="6"/>
                </a:lnTo>
                <a:lnTo>
                  <a:pt x="146" y="10"/>
                </a:lnTo>
                <a:lnTo>
                  <a:pt x="149" y="16"/>
                </a:lnTo>
                <a:lnTo>
                  <a:pt x="153" y="24"/>
                </a:lnTo>
                <a:lnTo>
                  <a:pt x="156" y="32"/>
                </a:lnTo>
                <a:lnTo>
                  <a:pt x="159" y="39"/>
                </a:lnTo>
                <a:lnTo>
                  <a:pt x="162" y="44"/>
                </a:lnTo>
                <a:lnTo>
                  <a:pt x="165" y="48"/>
                </a:lnTo>
                <a:lnTo>
                  <a:pt x="169" y="48"/>
                </a:lnTo>
                <a:lnTo>
                  <a:pt x="172" y="47"/>
                </a:lnTo>
                <a:lnTo>
                  <a:pt x="175" y="42"/>
                </a:lnTo>
                <a:lnTo>
                  <a:pt x="178" y="37"/>
                </a:lnTo>
                <a:lnTo>
                  <a:pt x="181" y="30"/>
                </a:lnTo>
                <a:lnTo>
                  <a:pt x="184" y="24"/>
                </a:lnTo>
                <a:lnTo>
                  <a:pt x="188" y="18"/>
                </a:lnTo>
                <a:lnTo>
                  <a:pt x="191" y="14"/>
                </a:lnTo>
                <a:lnTo>
                  <a:pt x="194" y="10"/>
                </a:lnTo>
                <a:lnTo>
                  <a:pt x="197" y="8"/>
                </a:lnTo>
                <a:lnTo>
                  <a:pt x="200" y="6"/>
                </a:lnTo>
                <a:lnTo>
                  <a:pt x="204" y="6"/>
                </a:lnTo>
                <a:lnTo>
                  <a:pt x="207" y="5"/>
                </a:lnTo>
                <a:lnTo>
                  <a:pt x="210" y="5"/>
                </a:lnTo>
                <a:lnTo>
                  <a:pt x="213" y="5"/>
                </a:lnTo>
                <a:lnTo>
                  <a:pt x="216" y="6"/>
                </a:lnTo>
                <a:lnTo>
                  <a:pt x="219" y="8"/>
                </a:lnTo>
                <a:lnTo>
                  <a:pt x="223" y="12"/>
                </a:lnTo>
                <a:lnTo>
                  <a:pt x="226" y="17"/>
                </a:lnTo>
                <a:lnTo>
                  <a:pt x="229" y="23"/>
                </a:lnTo>
                <a:lnTo>
                  <a:pt x="232" y="30"/>
                </a:lnTo>
                <a:lnTo>
                  <a:pt x="235" y="37"/>
                </a:lnTo>
                <a:lnTo>
                  <a:pt x="239" y="42"/>
                </a:lnTo>
                <a:lnTo>
                  <a:pt x="242" y="46"/>
                </a:lnTo>
                <a:lnTo>
                  <a:pt x="245" y="48"/>
                </a:lnTo>
                <a:lnTo>
                  <a:pt x="248" y="47"/>
                </a:lnTo>
                <a:lnTo>
                  <a:pt x="251" y="43"/>
                </a:lnTo>
                <a:lnTo>
                  <a:pt x="254" y="38"/>
                </a:lnTo>
                <a:lnTo>
                  <a:pt x="258" y="31"/>
                </a:lnTo>
                <a:lnTo>
                  <a:pt x="261" y="24"/>
                </a:lnTo>
                <a:lnTo>
                  <a:pt x="264" y="17"/>
                </a:lnTo>
                <a:lnTo>
                  <a:pt x="267" y="12"/>
                </a:lnTo>
                <a:lnTo>
                  <a:pt x="270" y="8"/>
                </a:lnTo>
                <a:lnTo>
                  <a:pt x="273" y="6"/>
                </a:lnTo>
                <a:lnTo>
                  <a:pt x="277" y="5"/>
                </a:lnTo>
                <a:lnTo>
                  <a:pt x="280" y="5"/>
                </a:lnTo>
                <a:lnTo>
                  <a:pt x="283" y="6"/>
                </a:lnTo>
                <a:lnTo>
                  <a:pt x="286" y="7"/>
                </a:lnTo>
                <a:lnTo>
                  <a:pt x="289" y="8"/>
                </a:lnTo>
                <a:lnTo>
                  <a:pt x="293" y="10"/>
                </a:lnTo>
                <a:lnTo>
                  <a:pt x="296" y="12"/>
                </a:lnTo>
                <a:lnTo>
                  <a:pt x="299" y="15"/>
                </a:lnTo>
                <a:lnTo>
                  <a:pt x="302" y="19"/>
                </a:lnTo>
                <a:lnTo>
                  <a:pt x="305" y="24"/>
                </a:lnTo>
                <a:lnTo>
                  <a:pt x="308" y="29"/>
                </a:lnTo>
                <a:lnTo>
                  <a:pt x="312" y="34"/>
                </a:lnTo>
                <a:lnTo>
                  <a:pt x="315" y="39"/>
                </a:lnTo>
                <a:lnTo>
                  <a:pt x="318" y="43"/>
                </a:lnTo>
              </a:path>
            </a:pathLst>
          </a:custGeom>
          <a:noFill/>
          <a:ln w="25518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3" name="pre_history_emphasis_2"/>
          <p:cNvSpPr/>
          <p:nvPr/>
        </p:nvSpPr>
        <p:spPr>
          <a:xfrm>
            <a:off x="5193113" y="2041519"/>
            <a:ext cx="478481" cy="165873"/>
          </a:xfrm>
          <a:custGeom>
            <a:avLst/>
            <a:gdLst/>
            <a:ahLst/>
            <a:cxnLst/>
            <a:rect l="l" t="t" r="r" b="b"/>
            <a:pathLst>
              <a:path w="75" h="26">
                <a:moveTo>
                  <a:pt x="0" y="15"/>
                </a:moveTo>
                <a:lnTo>
                  <a:pt x="1" y="16"/>
                </a:lnTo>
                <a:lnTo>
                  <a:pt x="2" y="17"/>
                </a:lnTo>
                <a:lnTo>
                  <a:pt x="2" y="18"/>
                </a:lnTo>
                <a:lnTo>
                  <a:pt x="3" y="19"/>
                </a:lnTo>
                <a:lnTo>
                  <a:pt x="4" y="20"/>
                </a:lnTo>
                <a:lnTo>
                  <a:pt x="4" y="21"/>
                </a:lnTo>
                <a:lnTo>
                  <a:pt x="5" y="21"/>
                </a:lnTo>
                <a:lnTo>
                  <a:pt x="6" y="22"/>
                </a:lnTo>
                <a:lnTo>
                  <a:pt x="7" y="23"/>
                </a:lnTo>
                <a:lnTo>
                  <a:pt x="8" y="23"/>
                </a:lnTo>
                <a:lnTo>
                  <a:pt x="8" y="24"/>
                </a:lnTo>
                <a:lnTo>
                  <a:pt x="9" y="24"/>
                </a:lnTo>
                <a:lnTo>
                  <a:pt x="10" y="25"/>
                </a:lnTo>
                <a:lnTo>
                  <a:pt x="10" y="25"/>
                </a:lnTo>
                <a:lnTo>
                  <a:pt x="11" y="25"/>
                </a:lnTo>
                <a:lnTo>
                  <a:pt x="12" y="26"/>
                </a:lnTo>
                <a:lnTo>
                  <a:pt x="13" y="26"/>
                </a:lnTo>
                <a:lnTo>
                  <a:pt x="14" y="26"/>
                </a:lnTo>
                <a:lnTo>
                  <a:pt x="14" y="26"/>
                </a:lnTo>
                <a:lnTo>
                  <a:pt x="15" y="26"/>
                </a:lnTo>
                <a:lnTo>
                  <a:pt x="16" y="25"/>
                </a:lnTo>
                <a:lnTo>
                  <a:pt x="16" y="25"/>
                </a:lnTo>
                <a:lnTo>
                  <a:pt x="17" y="25"/>
                </a:lnTo>
                <a:lnTo>
                  <a:pt x="18" y="25"/>
                </a:lnTo>
                <a:lnTo>
                  <a:pt x="19" y="24"/>
                </a:lnTo>
                <a:lnTo>
                  <a:pt x="20" y="24"/>
                </a:lnTo>
                <a:lnTo>
                  <a:pt x="20" y="24"/>
                </a:lnTo>
                <a:lnTo>
                  <a:pt x="21" y="23"/>
                </a:lnTo>
                <a:lnTo>
                  <a:pt x="22" y="23"/>
                </a:lnTo>
                <a:lnTo>
                  <a:pt x="22" y="22"/>
                </a:lnTo>
                <a:lnTo>
                  <a:pt x="23" y="22"/>
                </a:lnTo>
                <a:lnTo>
                  <a:pt x="24" y="21"/>
                </a:lnTo>
                <a:lnTo>
                  <a:pt x="25" y="21"/>
                </a:lnTo>
                <a:lnTo>
                  <a:pt x="26" y="20"/>
                </a:lnTo>
                <a:lnTo>
                  <a:pt x="26" y="20"/>
                </a:lnTo>
                <a:lnTo>
                  <a:pt x="27" y="19"/>
                </a:lnTo>
                <a:lnTo>
                  <a:pt x="28" y="19"/>
                </a:lnTo>
                <a:lnTo>
                  <a:pt x="28" y="18"/>
                </a:lnTo>
                <a:lnTo>
                  <a:pt x="29" y="18"/>
                </a:lnTo>
                <a:lnTo>
                  <a:pt x="30" y="17"/>
                </a:lnTo>
                <a:lnTo>
                  <a:pt x="31" y="17"/>
                </a:lnTo>
                <a:lnTo>
                  <a:pt x="32" y="16"/>
                </a:lnTo>
                <a:lnTo>
                  <a:pt x="32" y="16"/>
                </a:lnTo>
                <a:lnTo>
                  <a:pt x="33" y="15"/>
                </a:lnTo>
                <a:lnTo>
                  <a:pt x="34" y="15"/>
                </a:lnTo>
                <a:lnTo>
                  <a:pt x="34" y="14"/>
                </a:lnTo>
                <a:lnTo>
                  <a:pt x="35" y="14"/>
                </a:lnTo>
                <a:lnTo>
                  <a:pt x="36" y="13"/>
                </a:lnTo>
                <a:lnTo>
                  <a:pt x="37" y="13"/>
                </a:lnTo>
                <a:lnTo>
                  <a:pt x="38" y="12"/>
                </a:lnTo>
                <a:lnTo>
                  <a:pt x="38" y="12"/>
                </a:lnTo>
                <a:lnTo>
                  <a:pt x="39" y="11"/>
                </a:lnTo>
                <a:lnTo>
                  <a:pt x="40" y="11"/>
                </a:lnTo>
                <a:lnTo>
                  <a:pt x="40" y="10"/>
                </a:lnTo>
                <a:lnTo>
                  <a:pt x="41" y="10"/>
                </a:lnTo>
                <a:lnTo>
                  <a:pt x="42" y="9"/>
                </a:lnTo>
                <a:lnTo>
                  <a:pt x="43" y="9"/>
                </a:lnTo>
                <a:lnTo>
                  <a:pt x="44" y="8"/>
                </a:lnTo>
                <a:lnTo>
                  <a:pt x="44" y="8"/>
                </a:lnTo>
                <a:lnTo>
                  <a:pt x="45" y="7"/>
                </a:lnTo>
                <a:lnTo>
                  <a:pt x="46" y="7"/>
                </a:lnTo>
                <a:lnTo>
                  <a:pt x="46" y="6"/>
                </a:lnTo>
                <a:lnTo>
                  <a:pt x="47" y="6"/>
                </a:lnTo>
                <a:lnTo>
                  <a:pt x="48" y="5"/>
                </a:lnTo>
                <a:lnTo>
                  <a:pt x="49" y="5"/>
                </a:lnTo>
                <a:lnTo>
                  <a:pt x="50" y="4"/>
                </a:lnTo>
                <a:lnTo>
                  <a:pt x="50" y="4"/>
                </a:lnTo>
                <a:lnTo>
                  <a:pt x="51" y="3"/>
                </a:lnTo>
                <a:lnTo>
                  <a:pt x="52" y="3"/>
                </a:lnTo>
                <a:lnTo>
                  <a:pt x="52" y="2"/>
                </a:lnTo>
                <a:lnTo>
                  <a:pt x="53" y="2"/>
                </a:lnTo>
                <a:lnTo>
                  <a:pt x="54" y="1"/>
                </a:lnTo>
                <a:lnTo>
                  <a:pt x="55" y="1"/>
                </a:lnTo>
                <a:lnTo>
                  <a:pt x="56" y="1"/>
                </a:lnTo>
                <a:lnTo>
                  <a:pt x="56" y="1"/>
                </a:lnTo>
                <a:lnTo>
                  <a:pt x="57" y="0"/>
                </a:lnTo>
                <a:lnTo>
                  <a:pt x="58" y="0"/>
                </a:lnTo>
                <a:lnTo>
                  <a:pt x="58" y="0"/>
                </a:lnTo>
                <a:lnTo>
                  <a:pt x="59" y="0"/>
                </a:lnTo>
                <a:lnTo>
                  <a:pt x="60" y="0"/>
                </a:lnTo>
                <a:lnTo>
                  <a:pt x="61" y="0"/>
                </a:lnTo>
                <a:lnTo>
                  <a:pt x="62" y="1"/>
                </a:lnTo>
                <a:lnTo>
                  <a:pt x="62" y="1"/>
                </a:lnTo>
                <a:lnTo>
                  <a:pt x="63" y="1"/>
                </a:lnTo>
                <a:lnTo>
                  <a:pt x="64" y="2"/>
                </a:lnTo>
                <a:lnTo>
                  <a:pt x="64" y="2"/>
                </a:lnTo>
                <a:lnTo>
                  <a:pt x="65" y="3"/>
                </a:lnTo>
                <a:lnTo>
                  <a:pt x="66" y="3"/>
                </a:lnTo>
                <a:lnTo>
                  <a:pt x="67" y="4"/>
                </a:lnTo>
                <a:lnTo>
                  <a:pt x="68" y="5"/>
                </a:lnTo>
                <a:lnTo>
                  <a:pt x="68" y="5"/>
                </a:lnTo>
                <a:lnTo>
                  <a:pt x="69" y="6"/>
                </a:lnTo>
                <a:lnTo>
                  <a:pt x="70" y="7"/>
                </a:lnTo>
                <a:lnTo>
                  <a:pt x="70" y="8"/>
                </a:lnTo>
                <a:lnTo>
                  <a:pt x="71" y="9"/>
                </a:lnTo>
                <a:lnTo>
                  <a:pt x="72" y="10"/>
                </a:lnTo>
                <a:lnTo>
                  <a:pt x="73" y="11"/>
                </a:lnTo>
                <a:lnTo>
                  <a:pt x="74" y="12"/>
                </a:lnTo>
                <a:lnTo>
                  <a:pt x="74" y="13"/>
                </a:lnTo>
                <a:lnTo>
                  <a:pt x="75" y="14"/>
                </a:lnTo>
              </a:path>
            </a:pathLst>
          </a:custGeom>
          <a:noFill/>
          <a:ln w="6379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4" name="pre_history_wave_3"/>
          <p:cNvSpPr/>
          <p:nvPr/>
        </p:nvSpPr>
        <p:spPr>
          <a:xfrm>
            <a:off x="3413164" y="2443443"/>
            <a:ext cx="2028759" cy="350886"/>
          </a:xfrm>
          <a:custGeom>
            <a:avLst/>
            <a:gdLst/>
            <a:ahLst/>
            <a:cxnLst/>
            <a:rect l="l" t="t" r="r" b="b"/>
            <a:pathLst>
              <a:path w="318" h="55">
                <a:moveTo>
                  <a:pt x="0" y="38"/>
                </a:moveTo>
                <a:lnTo>
                  <a:pt x="3" y="44"/>
                </a:lnTo>
                <a:lnTo>
                  <a:pt x="6" y="48"/>
                </a:lnTo>
                <a:lnTo>
                  <a:pt x="10" y="51"/>
                </a:lnTo>
                <a:lnTo>
                  <a:pt x="13" y="51"/>
                </a:lnTo>
                <a:lnTo>
                  <a:pt x="16" y="49"/>
                </a:lnTo>
                <a:lnTo>
                  <a:pt x="19" y="46"/>
                </a:lnTo>
                <a:lnTo>
                  <a:pt x="22" y="41"/>
                </a:lnTo>
                <a:lnTo>
                  <a:pt x="25" y="36"/>
                </a:lnTo>
                <a:lnTo>
                  <a:pt x="29" y="30"/>
                </a:lnTo>
                <a:lnTo>
                  <a:pt x="32" y="25"/>
                </a:lnTo>
                <a:lnTo>
                  <a:pt x="35" y="21"/>
                </a:lnTo>
                <a:lnTo>
                  <a:pt x="38" y="17"/>
                </a:lnTo>
                <a:lnTo>
                  <a:pt x="41" y="14"/>
                </a:lnTo>
                <a:lnTo>
                  <a:pt x="45" y="11"/>
                </a:lnTo>
                <a:lnTo>
                  <a:pt x="48" y="9"/>
                </a:lnTo>
                <a:lnTo>
                  <a:pt x="51" y="7"/>
                </a:lnTo>
                <a:lnTo>
                  <a:pt x="54" y="5"/>
                </a:lnTo>
                <a:lnTo>
                  <a:pt x="57" y="3"/>
                </a:lnTo>
                <a:lnTo>
                  <a:pt x="60" y="2"/>
                </a:lnTo>
                <a:lnTo>
                  <a:pt x="64" y="2"/>
                </a:lnTo>
                <a:lnTo>
                  <a:pt x="67" y="4"/>
                </a:lnTo>
                <a:lnTo>
                  <a:pt x="70" y="7"/>
                </a:lnTo>
                <a:lnTo>
                  <a:pt x="73" y="11"/>
                </a:lnTo>
                <a:lnTo>
                  <a:pt x="76" y="18"/>
                </a:lnTo>
                <a:lnTo>
                  <a:pt x="79" y="25"/>
                </a:lnTo>
                <a:lnTo>
                  <a:pt x="83" y="33"/>
                </a:lnTo>
                <a:lnTo>
                  <a:pt x="86" y="41"/>
                </a:lnTo>
                <a:lnTo>
                  <a:pt x="89" y="47"/>
                </a:lnTo>
                <a:lnTo>
                  <a:pt x="92" y="52"/>
                </a:lnTo>
                <a:lnTo>
                  <a:pt x="95" y="55"/>
                </a:lnTo>
                <a:lnTo>
                  <a:pt x="99" y="55"/>
                </a:lnTo>
                <a:lnTo>
                  <a:pt x="102" y="52"/>
                </a:lnTo>
                <a:lnTo>
                  <a:pt x="105" y="47"/>
                </a:lnTo>
                <a:lnTo>
                  <a:pt x="108" y="41"/>
                </a:lnTo>
                <a:lnTo>
                  <a:pt x="111" y="34"/>
                </a:lnTo>
                <a:lnTo>
                  <a:pt x="114" y="27"/>
                </a:lnTo>
                <a:lnTo>
                  <a:pt x="118" y="21"/>
                </a:lnTo>
                <a:lnTo>
                  <a:pt x="121" y="15"/>
                </a:lnTo>
                <a:lnTo>
                  <a:pt x="124" y="11"/>
                </a:lnTo>
                <a:lnTo>
                  <a:pt x="127" y="8"/>
                </a:lnTo>
                <a:lnTo>
                  <a:pt x="130" y="6"/>
                </a:lnTo>
                <a:lnTo>
                  <a:pt x="134" y="5"/>
                </a:lnTo>
                <a:lnTo>
                  <a:pt x="137" y="4"/>
                </a:lnTo>
                <a:lnTo>
                  <a:pt x="140" y="4"/>
                </a:lnTo>
                <a:lnTo>
                  <a:pt x="143" y="4"/>
                </a:lnTo>
                <a:lnTo>
                  <a:pt x="146" y="4"/>
                </a:lnTo>
                <a:lnTo>
                  <a:pt x="149" y="6"/>
                </a:lnTo>
                <a:lnTo>
                  <a:pt x="153" y="8"/>
                </a:lnTo>
                <a:lnTo>
                  <a:pt x="156" y="11"/>
                </a:lnTo>
                <a:lnTo>
                  <a:pt x="159" y="15"/>
                </a:lnTo>
                <a:lnTo>
                  <a:pt x="162" y="21"/>
                </a:lnTo>
                <a:lnTo>
                  <a:pt x="165" y="28"/>
                </a:lnTo>
                <a:lnTo>
                  <a:pt x="169" y="35"/>
                </a:lnTo>
                <a:lnTo>
                  <a:pt x="172" y="42"/>
                </a:lnTo>
                <a:lnTo>
                  <a:pt x="175" y="49"/>
                </a:lnTo>
                <a:lnTo>
                  <a:pt x="178" y="53"/>
                </a:lnTo>
                <a:lnTo>
                  <a:pt x="181" y="55"/>
                </a:lnTo>
                <a:lnTo>
                  <a:pt x="184" y="55"/>
                </a:lnTo>
                <a:lnTo>
                  <a:pt x="188" y="52"/>
                </a:lnTo>
                <a:lnTo>
                  <a:pt x="191" y="47"/>
                </a:lnTo>
                <a:lnTo>
                  <a:pt x="194" y="40"/>
                </a:lnTo>
                <a:lnTo>
                  <a:pt x="197" y="32"/>
                </a:lnTo>
                <a:lnTo>
                  <a:pt x="200" y="24"/>
                </a:lnTo>
                <a:lnTo>
                  <a:pt x="204" y="17"/>
                </a:lnTo>
                <a:lnTo>
                  <a:pt x="207" y="11"/>
                </a:lnTo>
                <a:lnTo>
                  <a:pt x="210" y="6"/>
                </a:lnTo>
                <a:lnTo>
                  <a:pt x="213" y="3"/>
                </a:lnTo>
                <a:lnTo>
                  <a:pt x="216" y="2"/>
                </a:lnTo>
                <a:lnTo>
                  <a:pt x="219" y="2"/>
                </a:lnTo>
                <a:lnTo>
                  <a:pt x="223" y="3"/>
                </a:lnTo>
                <a:lnTo>
                  <a:pt x="226" y="4"/>
                </a:lnTo>
                <a:lnTo>
                  <a:pt x="229" y="6"/>
                </a:lnTo>
                <a:lnTo>
                  <a:pt x="232" y="8"/>
                </a:lnTo>
                <a:lnTo>
                  <a:pt x="235" y="11"/>
                </a:lnTo>
                <a:lnTo>
                  <a:pt x="239" y="13"/>
                </a:lnTo>
                <a:lnTo>
                  <a:pt x="242" y="17"/>
                </a:lnTo>
                <a:lnTo>
                  <a:pt x="245" y="21"/>
                </a:lnTo>
                <a:lnTo>
                  <a:pt x="248" y="25"/>
                </a:lnTo>
                <a:lnTo>
                  <a:pt x="251" y="31"/>
                </a:lnTo>
                <a:lnTo>
                  <a:pt x="254" y="37"/>
                </a:lnTo>
                <a:lnTo>
                  <a:pt x="258" y="42"/>
                </a:lnTo>
                <a:lnTo>
                  <a:pt x="261" y="47"/>
                </a:lnTo>
                <a:lnTo>
                  <a:pt x="264" y="51"/>
                </a:lnTo>
                <a:lnTo>
                  <a:pt x="267" y="53"/>
                </a:lnTo>
                <a:lnTo>
                  <a:pt x="270" y="52"/>
                </a:lnTo>
                <a:lnTo>
                  <a:pt x="273" y="49"/>
                </a:lnTo>
                <a:lnTo>
                  <a:pt x="277" y="44"/>
                </a:lnTo>
                <a:lnTo>
                  <a:pt x="280" y="37"/>
                </a:lnTo>
                <a:lnTo>
                  <a:pt x="283" y="30"/>
                </a:lnTo>
                <a:lnTo>
                  <a:pt x="286" y="22"/>
                </a:lnTo>
                <a:lnTo>
                  <a:pt x="289" y="14"/>
                </a:lnTo>
                <a:lnTo>
                  <a:pt x="293" y="8"/>
                </a:lnTo>
                <a:lnTo>
                  <a:pt x="296" y="3"/>
                </a:lnTo>
                <a:lnTo>
                  <a:pt x="299" y="1"/>
                </a:lnTo>
                <a:lnTo>
                  <a:pt x="302" y="0"/>
                </a:lnTo>
                <a:lnTo>
                  <a:pt x="305" y="1"/>
                </a:lnTo>
                <a:lnTo>
                  <a:pt x="308" y="3"/>
                </a:lnTo>
                <a:lnTo>
                  <a:pt x="312" y="6"/>
                </a:lnTo>
                <a:lnTo>
                  <a:pt x="315" y="10"/>
                </a:lnTo>
                <a:lnTo>
                  <a:pt x="318" y="13"/>
                </a:lnTo>
              </a:path>
            </a:pathLst>
          </a:custGeom>
          <a:noFill/>
          <a:ln w="25518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5" name="pre_history_emphasis_3"/>
          <p:cNvSpPr/>
          <p:nvPr/>
        </p:nvSpPr>
        <p:spPr>
          <a:xfrm>
            <a:off x="5193113" y="2513620"/>
            <a:ext cx="478481" cy="185013"/>
          </a:xfrm>
          <a:custGeom>
            <a:avLst/>
            <a:gdLst/>
            <a:ahLst/>
            <a:cxnLst/>
            <a:rect l="l" t="t" r="r" b="b"/>
            <a:pathLst>
              <a:path w="75" h="29">
                <a:moveTo>
                  <a:pt x="0" y="21"/>
                </a:moveTo>
                <a:lnTo>
                  <a:pt x="1" y="22"/>
                </a:lnTo>
                <a:lnTo>
                  <a:pt x="2" y="23"/>
                </a:lnTo>
                <a:lnTo>
                  <a:pt x="2" y="24"/>
                </a:lnTo>
                <a:lnTo>
                  <a:pt x="3" y="25"/>
                </a:lnTo>
                <a:lnTo>
                  <a:pt x="4" y="26"/>
                </a:lnTo>
                <a:lnTo>
                  <a:pt x="4" y="26"/>
                </a:lnTo>
                <a:lnTo>
                  <a:pt x="5" y="27"/>
                </a:lnTo>
                <a:lnTo>
                  <a:pt x="6" y="28"/>
                </a:lnTo>
                <a:lnTo>
                  <a:pt x="7" y="28"/>
                </a:lnTo>
                <a:lnTo>
                  <a:pt x="8" y="29"/>
                </a:lnTo>
                <a:lnTo>
                  <a:pt x="8" y="29"/>
                </a:lnTo>
                <a:lnTo>
                  <a:pt x="9" y="29"/>
                </a:lnTo>
                <a:lnTo>
                  <a:pt x="10" y="29"/>
                </a:lnTo>
                <a:lnTo>
                  <a:pt x="10" y="29"/>
                </a:lnTo>
                <a:lnTo>
                  <a:pt x="11" y="29"/>
                </a:lnTo>
                <a:lnTo>
                  <a:pt x="12" y="29"/>
                </a:lnTo>
                <a:lnTo>
                  <a:pt x="13" y="29"/>
                </a:lnTo>
                <a:lnTo>
                  <a:pt x="14" y="29"/>
                </a:lnTo>
                <a:lnTo>
                  <a:pt x="14" y="28"/>
                </a:lnTo>
                <a:lnTo>
                  <a:pt x="15" y="28"/>
                </a:lnTo>
                <a:lnTo>
                  <a:pt x="16" y="27"/>
                </a:lnTo>
                <a:lnTo>
                  <a:pt x="16" y="27"/>
                </a:lnTo>
                <a:lnTo>
                  <a:pt x="17" y="26"/>
                </a:lnTo>
                <a:lnTo>
                  <a:pt x="18" y="25"/>
                </a:lnTo>
                <a:lnTo>
                  <a:pt x="19" y="25"/>
                </a:lnTo>
                <a:lnTo>
                  <a:pt x="20" y="24"/>
                </a:lnTo>
                <a:lnTo>
                  <a:pt x="20" y="23"/>
                </a:lnTo>
                <a:lnTo>
                  <a:pt x="21" y="22"/>
                </a:lnTo>
                <a:lnTo>
                  <a:pt x="22" y="21"/>
                </a:lnTo>
                <a:lnTo>
                  <a:pt x="22" y="21"/>
                </a:lnTo>
                <a:lnTo>
                  <a:pt x="23" y="20"/>
                </a:lnTo>
                <a:lnTo>
                  <a:pt x="24" y="19"/>
                </a:lnTo>
                <a:lnTo>
                  <a:pt x="25" y="18"/>
                </a:lnTo>
                <a:lnTo>
                  <a:pt x="26" y="17"/>
                </a:lnTo>
                <a:lnTo>
                  <a:pt x="26" y="16"/>
                </a:lnTo>
                <a:lnTo>
                  <a:pt x="27" y="15"/>
                </a:lnTo>
                <a:lnTo>
                  <a:pt x="28" y="14"/>
                </a:lnTo>
                <a:lnTo>
                  <a:pt x="28" y="14"/>
                </a:lnTo>
                <a:lnTo>
                  <a:pt x="29" y="13"/>
                </a:lnTo>
                <a:lnTo>
                  <a:pt x="30" y="12"/>
                </a:lnTo>
                <a:lnTo>
                  <a:pt x="31" y="11"/>
                </a:lnTo>
                <a:lnTo>
                  <a:pt x="32" y="11"/>
                </a:lnTo>
                <a:lnTo>
                  <a:pt x="32" y="10"/>
                </a:lnTo>
                <a:lnTo>
                  <a:pt x="33" y="9"/>
                </a:lnTo>
                <a:lnTo>
                  <a:pt x="34" y="9"/>
                </a:lnTo>
                <a:lnTo>
                  <a:pt x="34" y="8"/>
                </a:lnTo>
                <a:lnTo>
                  <a:pt x="35" y="8"/>
                </a:lnTo>
                <a:lnTo>
                  <a:pt x="36" y="7"/>
                </a:lnTo>
                <a:lnTo>
                  <a:pt x="37" y="7"/>
                </a:lnTo>
                <a:lnTo>
                  <a:pt x="38" y="6"/>
                </a:lnTo>
                <a:lnTo>
                  <a:pt x="38" y="6"/>
                </a:lnTo>
                <a:lnTo>
                  <a:pt x="39" y="6"/>
                </a:lnTo>
                <a:lnTo>
                  <a:pt x="40" y="5"/>
                </a:lnTo>
                <a:lnTo>
                  <a:pt x="40" y="5"/>
                </a:lnTo>
                <a:lnTo>
                  <a:pt x="41" y="4"/>
                </a:lnTo>
                <a:lnTo>
                  <a:pt x="42" y="4"/>
                </a:lnTo>
                <a:lnTo>
                  <a:pt x="43" y="4"/>
                </a:lnTo>
                <a:lnTo>
                  <a:pt x="44" y="3"/>
                </a:lnTo>
                <a:lnTo>
                  <a:pt x="44" y="3"/>
                </a:lnTo>
                <a:lnTo>
                  <a:pt x="45" y="3"/>
                </a:lnTo>
                <a:lnTo>
                  <a:pt x="46" y="2"/>
                </a:lnTo>
                <a:lnTo>
                  <a:pt x="46" y="2"/>
                </a:lnTo>
                <a:lnTo>
                  <a:pt x="47" y="2"/>
                </a:lnTo>
                <a:lnTo>
                  <a:pt x="48" y="1"/>
                </a:lnTo>
                <a:lnTo>
                  <a:pt x="49" y="1"/>
                </a:lnTo>
                <a:lnTo>
                  <a:pt x="50" y="1"/>
                </a:lnTo>
                <a:lnTo>
                  <a:pt x="50" y="1"/>
                </a:lnTo>
                <a:lnTo>
                  <a:pt x="51" y="1"/>
                </a:lnTo>
                <a:lnTo>
                  <a:pt x="52" y="0"/>
                </a:lnTo>
                <a:lnTo>
                  <a:pt x="52" y="0"/>
                </a:lnTo>
                <a:lnTo>
                  <a:pt x="53" y="0"/>
                </a:lnTo>
                <a:lnTo>
                  <a:pt x="54" y="0"/>
                </a:lnTo>
                <a:lnTo>
                  <a:pt x="55" y="0"/>
                </a:lnTo>
                <a:lnTo>
                  <a:pt x="56" y="0"/>
                </a:lnTo>
                <a:lnTo>
                  <a:pt x="56" y="0"/>
                </a:lnTo>
                <a:lnTo>
                  <a:pt x="57" y="0"/>
                </a:lnTo>
                <a:lnTo>
                  <a:pt x="58" y="0"/>
                </a:lnTo>
                <a:lnTo>
                  <a:pt x="58" y="1"/>
                </a:lnTo>
                <a:lnTo>
                  <a:pt x="59" y="1"/>
                </a:lnTo>
                <a:lnTo>
                  <a:pt x="60" y="1"/>
                </a:lnTo>
                <a:lnTo>
                  <a:pt x="61" y="2"/>
                </a:lnTo>
                <a:lnTo>
                  <a:pt x="62" y="2"/>
                </a:lnTo>
                <a:lnTo>
                  <a:pt x="62" y="3"/>
                </a:lnTo>
                <a:lnTo>
                  <a:pt x="63" y="3"/>
                </a:lnTo>
                <a:lnTo>
                  <a:pt x="64" y="4"/>
                </a:lnTo>
                <a:lnTo>
                  <a:pt x="64" y="5"/>
                </a:lnTo>
                <a:lnTo>
                  <a:pt x="65" y="6"/>
                </a:lnTo>
                <a:lnTo>
                  <a:pt x="66" y="6"/>
                </a:lnTo>
                <a:lnTo>
                  <a:pt x="67" y="7"/>
                </a:lnTo>
                <a:lnTo>
                  <a:pt x="68" y="8"/>
                </a:lnTo>
                <a:lnTo>
                  <a:pt x="68" y="9"/>
                </a:lnTo>
                <a:lnTo>
                  <a:pt x="69" y="10"/>
                </a:lnTo>
                <a:lnTo>
                  <a:pt x="70" y="11"/>
                </a:lnTo>
                <a:lnTo>
                  <a:pt x="70" y="12"/>
                </a:lnTo>
                <a:lnTo>
                  <a:pt x="71" y="14"/>
                </a:lnTo>
                <a:lnTo>
                  <a:pt x="72" y="15"/>
                </a:lnTo>
                <a:lnTo>
                  <a:pt x="73" y="16"/>
                </a:lnTo>
                <a:lnTo>
                  <a:pt x="74" y="17"/>
                </a:lnTo>
                <a:lnTo>
                  <a:pt x="74" y="18"/>
                </a:lnTo>
                <a:lnTo>
                  <a:pt x="75" y="19"/>
                </a:lnTo>
              </a:path>
            </a:pathLst>
          </a:custGeom>
          <a:noFill/>
          <a:ln w="6379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6" name="selected_history_ellipse"/>
          <p:cNvSpPr/>
          <p:nvPr/>
        </p:nvSpPr>
        <p:spPr>
          <a:xfrm>
            <a:off x="3221771" y="842126"/>
            <a:ext cx="2615695" cy="689012"/>
          </a:xfrm>
          <a:prstGeom prst="ellipse">
            <a:avLst/>
          </a:prstGeom>
          <a:noFill/>
          <a:ln w="25518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7" name="pre_history_formula"/>
          <p:cNvSpPr txBox="1"/>
          <p:nvPr/>
        </p:nvSpPr>
        <p:spPr>
          <a:xfrm>
            <a:off x="3438683" y="1626835"/>
            <a:ext cx="701772" cy="6315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17" b="0" i="0">
                <a:solidFill>
                  <a:srgbClr val="000000"/>
                </a:solidFill>
                <a:latin typeface="Liberation Serif"/>
              </a:rPr>
              <a:t>Aᵗ</a:t>
            </a:r>
          </a:p>
        </p:txBody>
      </p:sp>
      <p:sp>
        <p:nvSpPr>
          <p:cNvPr id="148" name="pre_history_title"/>
          <p:cNvSpPr txBox="1"/>
          <p:nvPr/>
        </p:nvSpPr>
        <p:spPr>
          <a:xfrm>
            <a:off x="3470581" y="2794328"/>
            <a:ext cx="1722531" cy="37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13" b="0" i="0">
                <a:solidFill>
                  <a:srgbClr val="000000"/>
                </a:solidFill>
                <a:latin typeface="Liberation Sans"/>
              </a:rPr>
              <a:t>HISTORY</a:t>
            </a:r>
          </a:p>
        </p:txBody>
      </p:sp>
      <p:sp>
        <p:nvSpPr>
          <p:cNvPr id="149" name="pre_history_subtitle"/>
          <p:cNvSpPr txBox="1"/>
          <p:nvPr/>
        </p:nvSpPr>
        <p:spPr>
          <a:xfrm>
            <a:off x="3464202" y="3132455"/>
            <a:ext cx="1913923" cy="2615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7" b="0" i="0">
                <a:solidFill>
                  <a:srgbClr val="000000"/>
                </a:solidFill>
                <a:latin typeface="Liberation Sans"/>
              </a:rPr>
              <a:t>(pre-activations)</a:t>
            </a:r>
          </a:p>
        </p:txBody>
      </p:sp>
      <p:sp>
        <p:nvSpPr>
          <p:cNvPr id="150" name="badge_2"/>
          <p:cNvSpPr/>
          <p:nvPr/>
        </p:nvSpPr>
        <p:spPr>
          <a:xfrm>
            <a:off x="3457822" y="2226531"/>
            <a:ext cx="484860" cy="484860"/>
          </a:xfrm>
          <a:prstGeom prst="ellipse">
            <a:avLst/>
          </a:prstGeom>
          <a:solidFill>
            <a:srgbClr val="FFE22A"/>
          </a:solidFill>
          <a:ln w="31898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1" name="badge_2_label"/>
          <p:cNvSpPr txBox="1"/>
          <p:nvPr/>
        </p:nvSpPr>
        <p:spPr>
          <a:xfrm>
            <a:off x="3457822" y="2232911"/>
            <a:ext cx="484860" cy="4848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61" b="0" i="0">
                <a:solidFill>
                  <a:srgbClr val="000000"/>
                </a:solidFill>
                <a:latin typeface="Liberation Sans"/>
              </a:rPr>
              <a:t>2</a:t>
            </a:r>
          </a:p>
        </p:txBody>
      </p:sp>
      <p:sp>
        <p:nvSpPr>
          <p:cNvPr id="152" name="time_thought"/>
          <p:cNvSpPr txBox="1"/>
          <p:nvPr/>
        </p:nvSpPr>
        <p:spPr>
          <a:xfrm>
            <a:off x="6405265" y="714531"/>
            <a:ext cx="2743290" cy="2743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7" b="0" i="0">
                <a:solidFill>
                  <a:srgbClr val="000000"/>
                </a:solidFill>
                <a:latin typeface="Liberation Sans"/>
              </a:rPr>
              <a:t>t i m e / t h o u g h t</a:t>
            </a:r>
          </a:p>
        </p:txBody>
      </p:sp>
      <p:sp>
        <p:nvSpPr>
          <p:cNvPr id="153" name="time_arrow_shaft"/>
          <p:cNvSpPr/>
          <p:nvPr/>
        </p:nvSpPr>
        <p:spPr>
          <a:xfrm>
            <a:off x="6405265" y="982481"/>
            <a:ext cx="2073418" cy="0"/>
          </a:xfrm>
          <a:custGeom>
            <a:avLst/>
            <a:gdLst/>
            <a:ahLst/>
            <a:cxnLst/>
            <a:rect l="l" t="t" r="r" b="b"/>
            <a:pathLst>
              <a:path w="325" h="0">
                <a:moveTo>
                  <a:pt x="0" y="0"/>
                </a:moveTo>
                <a:lnTo>
                  <a:pt x="325" y="0"/>
                </a:lnTo>
              </a:path>
            </a:pathLst>
          </a:custGeom>
          <a:noFill/>
          <a:ln w="7017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4" name="time_arrow_head"/>
          <p:cNvSpPr/>
          <p:nvPr/>
        </p:nvSpPr>
        <p:spPr>
          <a:xfrm>
            <a:off x="8306430" y="886785"/>
            <a:ext cx="172253" cy="191392"/>
          </a:xfrm>
          <a:custGeom>
            <a:avLst/>
            <a:gdLst/>
            <a:ahLst/>
            <a:cxnLst/>
            <a:rect l="l" t="t" r="r" b="b"/>
            <a:pathLst>
              <a:path w="27" h="30">
                <a:moveTo>
                  <a:pt x="27" y="15"/>
                </a:moveTo>
                <a:lnTo>
                  <a:pt x="0" y="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637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5" name="selected_to_decoder_shaft"/>
          <p:cNvSpPr/>
          <p:nvPr/>
        </p:nvSpPr>
        <p:spPr>
          <a:xfrm>
            <a:off x="5601417" y="1033519"/>
            <a:ext cx="1263190" cy="338127"/>
          </a:xfrm>
          <a:custGeom>
            <a:avLst/>
            <a:gdLst/>
            <a:ahLst/>
            <a:cxnLst/>
            <a:rect l="l" t="t" r="r" b="b"/>
            <a:pathLst>
              <a:path w="198" h="53">
                <a:moveTo>
                  <a:pt x="0" y="22"/>
                </a:moveTo>
                <a:lnTo>
                  <a:pt x="4" y="19"/>
                </a:lnTo>
                <a:lnTo>
                  <a:pt x="9" y="16"/>
                </a:lnTo>
                <a:lnTo>
                  <a:pt x="14" y="13"/>
                </a:lnTo>
                <a:lnTo>
                  <a:pt x="19" y="11"/>
                </a:lnTo>
                <a:lnTo>
                  <a:pt x="25" y="9"/>
                </a:lnTo>
                <a:lnTo>
                  <a:pt x="30" y="7"/>
                </a:lnTo>
                <a:lnTo>
                  <a:pt x="36" y="5"/>
                </a:lnTo>
                <a:lnTo>
                  <a:pt x="42" y="4"/>
                </a:lnTo>
                <a:lnTo>
                  <a:pt x="48" y="3"/>
                </a:lnTo>
                <a:lnTo>
                  <a:pt x="54" y="2"/>
                </a:lnTo>
                <a:lnTo>
                  <a:pt x="61" y="1"/>
                </a:lnTo>
                <a:lnTo>
                  <a:pt x="67" y="0"/>
                </a:lnTo>
                <a:lnTo>
                  <a:pt x="73" y="0"/>
                </a:lnTo>
                <a:lnTo>
                  <a:pt x="80" y="0"/>
                </a:lnTo>
                <a:lnTo>
                  <a:pt x="86" y="0"/>
                </a:lnTo>
                <a:lnTo>
                  <a:pt x="93" y="1"/>
                </a:lnTo>
                <a:lnTo>
                  <a:pt x="99" y="1"/>
                </a:lnTo>
                <a:lnTo>
                  <a:pt x="106" y="2"/>
                </a:lnTo>
                <a:lnTo>
                  <a:pt x="112" y="3"/>
                </a:lnTo>
                <a:lnTo>
                  <a:pt x="119" y="5"/>
                </a:lnTo>
                <a:lnTo>
                  <a:pt x="125" y="6"/>
                </a:lnTo>
                <a:lnTo>
                  <a:pt x="131" y="8"/>
                </a:lnTo>
                <a:lnTo>
                  <a:pt x="137" y="10"/>
                </a:lnTo>
                <a:lnTo>
                  <a:pt x="143" y="12"/>
                </a:lnTo>
                <a:lnTo>
                  <a:pt x="149" y="14"/>
                </a:lnTo>
                <a:lnTo>
                  <a:pt x="155" y="17"/>
                </a:lnTo>
                <a:lnTo>
                  <a:pt x="160" y="19"/>
                </a:lnTo>
                <a:lnTo>
                  <a:pt x="165" y="22"/>
                </a:lnTo>
                <a:lnTo>
                  <a:pt x="170" y="26"/>
                </a:lnTo>
                <a:lnTo>
                  <a:pt x="175" y="29"/>
                </a:lnTo>
                <a:lnTo>
                  <a:pt x="180" y="32"/>
                </a:lnTo>
                <a:lnTo>
                  <a:pt x="184" y="36"/>
                </a:lnTo>
                <a:lnTo>
                  <a:pt x="188" y="40"/>
                </a:lnTo>
                <a:lnTo>
                  <a:pt x="192" y="44"/>
                </a:lnTo>
                <a:lnTo>
                  <a:pt x="195" y="49"/>
                </a:lnTo>
                <a:lnTo>
                  <a:pt x="198" y="53"/>
                </a:lnTo>
              </a:path>
            </a:pathLst>
          </a:custGeom>
          <a:noFill/>
          <a:ln w="25518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6" name="selected_to_decoder_head"/>
          <p:cNvSpPr/>
          <p:nvPr/>
        </p:nvSpPr>
        <p:spPr>
          <a:xfrm>
            <a:off x="6756151" y="1250430"/>
            <a:ext cx="108456" cy="121215"/>
          </a:xfrm>
          <a:custGeom>
            <a:avLst/>
            <a:gdLst/>
            <a:ahLst/>
            <a:cxnLst/>
            <a:rect l="l" t="t" r="r" b="b"/>
            <a:pathLst>
              <a:path w="17" h="19">
                <a:moveTo>
                  <a:pt x="17" y="19"/>
                </a:moveTo>
                <a:lnTo>
                  <a:pt x="0" y="10"/>
                </a:lnTo>
                <a:lnTo>
                  <a:pt x="15" y="0"/>
                </a:lnTo>
                <a:close/>
              </a:path>
            </a:pathLst>
          </a:custGeom>
          <a:solidFill>
            <a:srgbClr val="000000"/>
          </a:solidFill>
          <a:ln w="637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7" name="decoder_wave"/>
          <p:cNvSpPr/>
          <p:nvPr/>
        </p:nvSpPr>
        <p:spPr>
          <a:xfrm>
            <a:off x="6341468" y="1218532"/>
            <a:ext cx="2271190" cy="446582"/>
          </a:xfrm>
          <a:custGeom>
            <a:avLst/>
            <a:gdLst/>
            <a:ahLst/>
            <a:cxnLst/>
            <a:rect l="l" t="t" r="r" b="b"/>
            <a:pathLst>
              <a:path w="356" h="70">
                <a:moveTo>
                  <a:pt x="0" y="48"/>
                </a:moveTo>
                <a:lnTo>
                  <a:pt x="4" y="61"/>
                </a:lnTo>
                <a:lnTo>
                  <a:pt x="7" y="66"/>
                </a:lnTo>
                <a:lnTo>
                  <a:pt x="11" y="62"/>
                </a:lnTo>
                <a:lnTo>
                  <a:pt x="14" y="52"/>
                </a:lnTo>
                <a:lnTo>
                  <a:pt x="18" y="41"/>
                </a:lnTo>
                <a:lnTo>
                  <a:pt x="21" y="31"/>
                </a:lnTo>
                <a:lnTo>
                  <a:pt x="25" y="24"/>
                </a:lnTo>
                <a:lnTo>
                  <a:pt x="28" y="18"/>
                </a:lnTo>
                <a:lnTo>
                  <a:pt x="32" y="12"/>
                </a:lnTo>
                <a:lnTo>
                  <a:pt x="36" y="8"/>
                </a:lnTo>
                <a:lnTo>
                  <a:pt x="39" y="8"/>
                </a:lnTo>
                <a:lnTo>
                  <a:pt x="43" y="15"/>
                </a:lnTo>
                <a:lnTo>
                  <a:pt x="46" y="29"/>
                </a:lnTo>
                <a:lnTo>
                  <a:pt x="50" y="46"/>
                </a:lnTo>
                <a:lnTo>
                  <a:pt x="53" y="62"/>
                </a:lnTo>
                <a:lnTo>
                  <a:pt x="57" y="69"/>
                </a:lnTo>
                <a:lnTo>
                  <a:pt x="61" y="66"/>
                </a:lnTo>
                <a:lnTo>
                  <a:pt x="64" y="55"/>
                </a:lnTo>
                <a:lnTo>
                  <a:pt x="68" y="40"/>
                </a:lnTo>
                <a:lnTo>
                  <a:pt x="71" y="27"/>
                </a:lnTo>
                <a:lnTo>
                  <a:pt x="75" y="18"/>
                </a:lnTo>
                <a:lnTo>
                  <a:pt x="78" y="14"/>
                </a:lnTo>
                <a:lnTo>
                  <a:pt x="82" y="11"/>
                </a:lnTo>
                <a:lnTo>
                  <a:pt x="85" y="10"/>
                </a:lnTo>
                <a:lnTo>
                  <a:pt x="89" y="11"/>
                </a:lnTo>
                <a:lnTo>
                  <a:pt x="93" y="17"/>
                </a:lnTo>
                <a:lnTo>
                  <a:pt x="96" y="29"/>
                </a:lnTo>
                <a:lnTo>
                  <a:pt x="100" y="45"/>
                </a:lnTo>
                <a:lnTo>
                  <a:pt x="103" y="61"/>
                </a:lnTo>
                <a:lnTo>
                  <a:pt x="107" y="70"/>
                </a:lnTo>
                <a:lnTo>
                  <a:pt x="110" y="69"/>
                </a:lnTo>
                <a:lnTo>
                  <a:pt x="114" y="58"/>
                </a:lnTo>
                <a:lnTo>
                  <a:pt x="117" y="42"/>
                </a:lnTo>
                <a:lnTo>
                  <a:pt x="121" y="25"/>
                </a:lnTo>
                <a:lnTo>
                  <a:pt x="125" y="14"/>
                </a:lnTo>
                <a:lnTo>
                  <a:pt x="128" y="9"/>
                </a:lnTo>
                <a:lnTo>
                  <a:pt x="132" y="9"/>
                </a:lnTo>
                <a:lnTo>
                  <a:pt x="135" y="11"/>
                </a:lnTo>
                <a:lnTo>
                  <a:pt x="139" y="15"/>
                </a:lnTo>
                <a:lnTo>
                  <a:pt x="142" y="21"/>
                </a:lnTo>
                <a:lnTo>
                  <a:pt x="146" y="31"/>
                </a:lnTo>
                <a:lnTo>
                  <a:pt x="150" y="44"/>
                </a:lnTo>
                <a:lnTo>
                  <a:pt x="153" y="58"/>
                </a:lnTo>
                <a:lnTo>
                  <a:pt x="157" y="69"/>
                </a:lnTo>
                <a:lnTo>
                  <a:pt x="160" y="70"/>
                </a:lnTo>
                <a:lnTo>
                  <a:pt x="164" y="61"/>
                </a:lnTo>
                <a:lnTo>
                  <a:pt x="167" y="44"/>
                </a:lnTo>
                <a:lnTo>
                  <a:pt x="171" y="25"/>
                </a:lnTo>
                <a:lnTo>
                  <a:pt x="174" y="10"/>
                </a:lnTo>
                <a:lnTo>
                  <a:pt x="178" y="4"/>
                </a:lnTo>
                <a:lnTo>
                  <a:pt x="182" y="5"/>
                </a:lnTo>
                <a:lnTo>
                  <a:pt x="185" y="11"/>
                </a:lnTo>
                <a:lnTo>
                  <a:pt x="189" y="19"/>
                </a:lnTo>
                <a:lnTo>
                  <a:pt x="192" y="26"/>
                </a:lnTo>
                <a:lnTo>
                  <a:pt x="196" y="34"/>
                </a:lnTo>
                <a:lnTo>
                  <a:pt x="199" y="45"/>
                </a:lnTo>
                <a:lnTo>
                  <a:pt x="203" y="56"/>
                </a:lnTo>
                <a:lnTo>
                  <a:pt x="206" y="65"/>
                </a:lnTo>
                <a:lnTo>
                  <a:pt x="210" y="68"/>
                </a:lnTo>
                <a:lnTo>
                  <a:pt x="214" y="61"/>
                </a:lnTo>
                <a:lnTo>
                  <a:pt x="217" y="46"/>
                </a:lnTo>
                <a:lnTo>
                  <a:pt x="221" y="26"/>
                </a:lnTo>
                <a:lnTo>
                  <a:pt x="224" y="10"/>
                </a:lnTo>
                <a:lnTo>
                  <a:pt x="228" y="1"/>
                </a:lnTo>
                <a:lnTo>
                  <a:pt x="231" y="2"/>
                </a:lnTo>
                <a:lnTo>
                  <a:pt x="235" y="10"/>
                </a:lnTo>
                <a:lnTo>
                  <a:pt x="239" y="21"/>
                </a:lnTo>
                <a:lnTo>
                  <a:pt x="242" y="31"/>
                </a:lnTo>
                <a:lnTo>
                  <a:pt x="246" y="39"/>
                </a:lnTo>
                <a:lnTo>
                  <a:pt x="249" y="47"/>
                </a:lnTo>
                <a:lnTo>
                  <a:pt x="253" y="55"/>
                </a:lnTo>
                <a:lnTo>
                  <a:pt x="256" y="61"/>
                </a:lnTo>
                <a:lnTo>
                  <a:pt x="260" y="64"/>
                </a:lnTo>
                <a:lnTo>
                  <a:pt x="263" y="59"/>
                </a:lnTo>
                <a:lnTo>
                  <a:pt x="267" y="46"/>
                </a:lnTo>
                <a:lnTo>
                  <a:pt x="271" y="28"/>
                </a:lnTo>
                <a:lnTo>
                  <a:pt x="274" y="11"/>
                </a:lnTo>
                <a:lnTo>
                  <a:pt x="278" y="1"/>
                </a:lnTo>
                <a:lnTo>
                  <a:pt x="281" y="0"/>
                </a:lnTo>
                <a:lnTo>
                  <a:pt x="285" y="8"/>
                </a:lnTo>
                <a:lnTo>
                  <a:pt x="288" y="22"/>
                </a:lnTo>
                <a:lnTo>
                  <a:pt x="292" y="34"/>
                </a:lnTo>
                <a:lnTo>
                  <a:pt x="295" y="44"/>
                </a:lnTo>
                <a:lnTo>
                  <a:pt x="299" y="50"/>
                </a:lnTo>
                <a:lnTo>
                  <a:pt x="303" y="54"/>
                </a:lnTo>
                <a:lnTo>
                  <a:pt x="306" y="58"/>
                </a:lnTo>
                <a:lnTo>
                  <a:pt x="310" y="59"/>
                </a:lnTo>
                <a:lnTo>
                  <a:pt x="313" y="55"/>
                </a:lnTo>
                <a:lnTo>
                  <a:pt x="317" y="45"/>
                </a:lnTo>
                <a:lnTo>
                  <a:pt x="320" y="30"/>
                </a:lnTo>
                <a:lnTo>
                  <a:pt x="324" y="14"/>
                </a:lnTo>
                <a:lnTo>
                  <a:pt x="328" y="2"/>
                </a:lnTo>
                <a:lnTo>
                  <a:pt x="331" y="0"/>
                </a:lnTo>
                <a:lnTo>
                  <a:pt x="335" y="7"/>
                </a:lnTo>
                <a:lnTo>
                  <a:pt x="338" y="21"/>
                </a:lnTo>
                <a:lnTo>
                  <a:pt x="342" y="36"/>
                </a:lnTo>
                <a:lnTo>
                  <a:pt x="345" y="47"/>
                </a:lnTo>
                <a:lnTo>
                  <a:pt x="349" y="54"/>
                </a:lnTo>
                <a:lnTo>
                  <a:pt x="352" y="56"/>
                </a:lnTo>
                <a:lnTo>
                  <a:pt x="356" y="55"/>
                </a:lnTo>
              </a:path>
            </a:pathLst>
          </a:custGeom>
          <a:noFill/>
          <a:ln w="31898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8" name="decoder_red_fan_00"/>
          <p:cNvSpPr/>
          <p:nvPr/>
        </p:nvSpPr>
        <p:spPr>
          <a:xfrm>
            <a:off x="6347847" y="1409924"/>
            <a:ext cx="312608" cy="727291"/>
          </a:xfrm>
          <a:custGeom>
            <a:avLst/>
            <a:gdLst/>
            <a:ahLst/>
            <a:cxnLst/>
            <a:rect l="l" t="t" r="r" b="b"/>
            <a:pathLst>
              <a:path w="49" h="114">
                <a:moveTo>
                  <a:pt x="0" y="0"/>
                </a:moveTo>
                <a:lnTo>
                  <a:pt x="49" y="114"/>
                </a:lnTo>
              </a:path>
            </a:pathLst>
          </a:custGeom>
          <a:noFill/>
          <a:ln w="9569">
            <a:solidFill>
              <a:srgbClr val="EE8A8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9" name="decoder_red_fan_01"/>
          <p:cNvSpPr/>
          <p:nvPr/>
        </p:nvSpPr>
        <p:spPr>
          <a:xfrm>
            <a:off x="6583898" y="1429063"/>
            <a:ext cx="261570" cy="708152"/>
          </a:xfrm>
          <a:custGeom>
            <a:avLst/>
            <a:gdLst/>
            <a:ahLst/>
            <a:cxnLst/>
            <a:rect l="l" t="t" r="r" b="b"/>
            <a:pathLst>
              <a:path w="41" h="111">
                <a:moveTo>
                  <a:pt x="0" y="0"/>
                </a:moveTo>
                <a:lnTo>
                  <a:pt x="41" y="111"/>
                </a:lnTo>
              </a:path>
            </a:pathLst>
          </a:custGeom>
          <a:noFill/>
          <a:ln w="9569">
            <a:solidFill>
              <a:srgbClr val="EE8A8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0" name="decoder_red_fan_02"/>
          <p:cNvSpPr/>
          <p:nvPr/>
        </p:nvSpPr>
        <p:spPr>
          <a:xfrm>
            <a:off x="6819949" y="1448202"/>
            <a:ext cx="210532" cy="689013"/>
          </a:xfrm>
          <a:custGeom>
            <a:avLst/>
            <a:gdLst/>
            <a:ahLst/>
            <a:cxnLst/>
            <a:rect l="l" t="t" r="r" b="b"/>
            <a:pathLst>
              <a:path w="33" h="108">
                <a:moveTo>
                  <a:pt x="0" y="0"/>
                </a:moveTo>
                <a:lnTo>
                  <a:pt x="33" y="108"/>
                </a:lnTo>
              </a:path>
            </a:pathLst>
          </a:custGeom>
          <a:noFill/>
          <a:ln w="9569">
            <a:solidFill>
              <a:srgbClr val="EE8A8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1" name="decoder_red_fan_03"/>
          <p:cNvSpPr/>
          <p:nvPr/>
        </p:nvSpPr>
        <p:spPr>
          <a:xfrm>
            <a:off x="7055999" y="1467342"/>
            <a:ext cx="159494" cy="669873"/>
          </a:xfrm>
          <a:custGeom>
            <a:avLst/>
            <a:gdLst/>
            <a:ahLst/>
            <a:cxnLst/>
            <a:rect l="l" t="t" r="r" b="b"/>
            <a:pathLst>
              <a:path w="25" h="105">
                <a:moveTo>
                  <a:pt x="0" y="0"/>
                </a:moveTo>
                <a:lnTo>
                  <a:pt x="25" y="105"/>
                </a:lnTo>
              </a:path>
            </a:pathLst>
          </a:custGeom>
          <a:noFill/>
          <a:ln w="9569">
            <a:solidFill>
              <a:srgbClr val="EE8A8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2" name="decoder_red_fan_04"/>
          <p:cNvSpPr/>
          <p:nvPr/>
        </p:nvSpPr>
        <p:spPr>
          <a:xfrm>
            <a:off x="7292050" y="1486481"/>
            <a:ext cx="108456" cy="650734"/>
          </a:xfrm>
          <a:custGeom>
            <a:avLst/>
            <a:gdLst/>
            <a:ahLst/>
            <a:cxnLst/>
            <a:rect l="l" t="t" r="r" b="b"/>
            <a:pathLst>
              <a:path w="17" h="102">
                <a:moveTo>
                  <a:pt x="0" y="0"/>
                </a:moveTo>
                <a:lnTo>
                  <a:pt x="17" y="102"/>
                </a:lnTo>
              </a:path>
            </a:pathLst>
          </a:custGeom>
          <a:noFill/>
          <a:ln w="9569">
            <a:solidFill>
              <a:srgbClr val="EE8A8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3" name="decoder_red_fan_05"/>
          <p:cNvSpPr/>
          <p:nvPr/>
        </p:nvSpPr>
        <p:spPr>
          <a:xfrm>
            <a:off x="7528101" y="1409924"/>
            <a:ext cx="57418" cy="727291"/>
          </a:xfrm>
          <a:custGeom>
            <a:avLst/>
            <a:gdLst/>
            <a:ahLst/>
            <a:cxnLst/>
            <a:rect l="l" t="t" r="r" b="b"/>
            <a:pathLst>
              <a:path w="9" h="114">
                <a:moveTo>
                  <a:pt x="0" y="0"/>
                </a:moveTo>
                <a:lnTo>
                  <a:pt x="9" y="114"/>
                </a:lnTo>
              </a:path>
            </a:pathLst>
          </a:custGeom>
          <a:noFill/>
          <a:ln w="9569">
            <a:solidFill>
              <a:srgbClr val="EE8A8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4" name="decoder_red_fan_06"/>
          <p:cNvSpPr/>
          <p:nvPr/>
        </p:nvSpPr>
        <p:spPr>
          <a:xfrm>
            <a:off x="7764151" y="1429063"/>
            <a:ext cx="6380" cy="708152"/>
          </a:xfrm>
          <a:custGeom>
            <a:avLst/>
            <a:gdLst/>
            <a:ahLst/>
            <a:cxnLst/>
            <a:rect l="l" t="t" r="r" b="b"/>
            <a:pathLst>
              <a:path w="1" h="111">
                <a:moveTo>
                  <a:pt x="0" y="0"/>
                </a:moveTo>
                <a:lnTo>
                  <a:pt x="1" y="111"/>
                </a:lnTo>
              </a:path>
            </a:pathLst>
          </a:custGeom>
          <a:noFill/>
          <a:ln w="9569">
            <a:solidFill>
              <a:srgbClr val="EE8A8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5" name="decoder_red_fan_07"/>
          <p:cNvSpPr/>
          <p:nvPr/>
        </p:nvSpPr>
        <p:spPr>
          <a:xfrm>
            <a:off x="7955544" y="1448202"/>
            <a:ext cx="44658" cy="689013"/>
          </a:xfrm>
          <a:custGeom>
            <a:avLst/>
            <a:gdLst/>
            <a:ahLst/>
            <a:cxnLst/>
            <a:rect l="l" t="t" r="r" b="b"/>
            <a:pathLst>
              <a:path w="7" h="108">
                <a:moveTo>
                  <a:pt x="7" y="0"/>
                </a:moveTo>
                <a:lnTo>
                  <a:pt x="0" y="108"/>
                </a:lnTo>
              </a:path>
            </a:pathLst>
          </a:custGeom>
          <a:noFill/>
          <a:ln w="9569">
            <a:solidFill>
              <a:srgbClr val="EE8A8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6" name="decoder_red_fan_08"/>
          <p:cNvSpPr/>
          <p:nvPr/>
        </p:nvSpPr>
        <p:spPr>
          <a:xfrm>
            <a:off x="8140556" y="1467342"/>
            <a:ext cx="95696" cy="669873"/>
          </a:xfrm>
          <a:custGeom>
            <a:avLst/>
            <a:gdLst/>
            <a:ahLst/>
            <a:cxnLst/>
            <a:rect l="l" t="t" r="r" b="b"/>
            <a:pathLst>
              <a:path w="15" h="105">
                <a:moveTo>
                  <a:pt x="15" y="0"/>
                </a:moveTo>
                <a:lnTo>
                  <a:pt x="0" y="105"/>
                </a:lnTo>
              </a:path>
            </a:pathLst>
          </a:custGeom>
          <a:noFill/>
          <a:ln w="9569">
            <a:solidFill>
              <a:srgbClr val="EE8A8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7" name="decoder_red_fan_09"/>
          <p:cNvSpPr/>
          <p:nvPr/>
        </p:nvSpPr>
        <p:spPr>
          <a:xfrm>
            <a:off x="6743392" y="1486481"/>
            <a:ext cx="1728911" cy="650734"/>
          </a:xfrm>
          <a:custGeom>
            <a:avLst/>
            <a:gdLst/>
            <a:ahLst/>
            <a:cxnLst/>
            <a:rect l="l" t="t" r="r" b="b"/>
            <a:pathLst>
              <a:path w="271" h="102">
                <a:moveTo>
                  <a:pt x="271" y="0"/>
                </a:moveTo>
                <a:lnTo>
                  <a:pt x="0" y="102"/>
                </a:lnTo>
              </a:path>
            </a:pathLst>
          </a:custGeom>
          <a:noFill/>
          <a:ln w="9569">
            <a:solidFill>
              <a:srgbClr val="EE8A8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8" name="decoder_red_fan_10"/>
          <p:cNvSpPr/>
          <p:nvPr/>
        </p:nvSpPr>
        <p:spPr>
          <a:xfrm>
            <a:off x="6449923" y="1409924"/>
            <a:ext cx="478481" cy="727291"/>
          </a:xfrm>
          <a:custGeom>
            <a:avLst/>
            <a:gdLst/>
            <a:ahLst/>
            <a:cxnLst/>
            <a:rect l="l" t="t" r="r" b="b"/>
            <a:pathLst>
              <a:path w="75" h="114">
                <a:moveTo>
                  <a:pt x="0" y="0"/>
                </a:moveTo>
                <a:lnTo>
                  <a:pt x="75" y="114"/>
                </a:lnTo>
              </a:path>
            </a:pathLst>
          </a:custGeom>
          <a:noFill/>
          <a:ln w="9569">
            <a:solidFill>
              <a:srgbClr val="EE8A8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9" name="decoder_red_fan_11"/>
          <p:cNvSpPr/>
          <p:nvPr/>
        </p:nvSpPr>
        <p:spPr>
          <a:xfrm>
            <a:off x="6685974" y="1429063"/>
            <a:ext cx="427443" cy="708152"/>
          </a:xfrm>
          <a:custGeom>
            <a:avLst/>
            <a:gdLst/>
            <a:ahLst/>
            <a:cxnLst/>
            <a:rect l="l" t="t" r="r" b="b"/>
            <a:pathLst>
              <a:path w="67" h="111">
                <a:moveTo>
                  <a:pt x="0" y="0"/>
                </a:moveTo>
                <a:lnTo>
                  <a:pt x="67" y="111"/>
                </a:lnTo>
              </a:path>
            </a:pathLst>
          </a:custGeom>
          <a:noFill/>
          <a:ln w="9569">
            <a:solidFill>
              <a:srgbClr val="EE8A8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0" name="decoder_red_fan_12"/>
          <p:cNvSpPr/>
          <p:nvPr/>
        </p:nvSpPr>
        <p:spPr>
          <a:xfrm>
            <a:off x="6922025" y="1448202"/>
            <a:ext cx="376405" cy="689013"/>
          </a:xfrm>
          <a:custGeom>
            <a:avLst/>
            <a:gdLst/>
            <a:ahLst/>
            <a:cxnLst/>
            <a:rect l="l" t="t" r="r" b="b"/>
            <a:pathLst>
              <a:path w="59" h="108">
                <a:moveTo>
                  <a:pt x="0" y="0"/>
                </a:moveTo>
                <a:lnTo>
                  <a:pt x="59" y="108"/>
                </a:lnTo>
              </a:path>
            </a:pathLst>
          </a:custGeom>
          <a:noFill/>
          <a:ln w="9569">
            <a:solidFill>
              <a:srgbClr val="EE8A8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1" name="decoder_red_fan_13"/>
          <p:cNvSpPr/>
          <p:nvPr/>
        </p:nvSpPr>
        <p:spPr>
          <a:xfrm>
            <a:off x="7158075" y="1467342"/>
            <a:ext cx="325367" cy="669873"/>
          </a:xfrm>
          <a:custGeom>
            <a:avLst/>
            <a:gdLst/>
            <a:ahLst/>
            <a:cxnLst/>
            <a:rect l="l" t="t" r="r" b="b"/>
            <a:pathLst>
              <a:path w="51" h="105">
                <a:moveTo>
                  <a:pt x="0" y="0"/>
                </a:moveTo>
                <a:lnTo>
                  <a:pt x="51" y="105"/>
                </a:lnTo>
              </a:path>
            </a:pathLst>
          </a:custGeom>
          <a:noFill/>
          <a:ln w="9569">
            <a:solidFill>
              <a:srgbClr val="EE8A8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2" name="decoder_red_fan_14"/>
          <p:cNvSpPr/>
          <p:nvPr/>
        </p:nvSpPr>
        <p:spPr>
          <a:xfrm>
            <a:off x="7394126" y="1486481"/>
            <a:ext cx="274329" cy="650734"/>
          </a:xfrm>
          <a:custGeom>
            <a:avLst/>
            <a:gdLst/>
            <a:ahLst/>
            <a:cxnLst/>
            <a:rect l="l" t="t" r="r" b="b"/>
            <a:pathLst>
              <a:path w="43" h="102">
                <a:moveTo>
                  <a:pt x="0" y="0"/>
                </a:moveTo>
                <a:lnTo>
                  <a:pt x="43" y="102"/>
                </a:lnTo>
              </a:path>
            </a:pathLst>
          </a:custGeom>
          <a:noFill/>
          <a:ln w="9569">
            <a:solidFill>
              <a:srgbClr val="EE8A8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3" name="decoder_red_fan_15"/>
          <p:cNvSpPr/>
          <p:nvPr/>
        </p:nvSpPr>
        <p:spPr>
          <a:xfrm>
            <a:off x="7630176" y="1409924"/>
            <a:ext cx="223291" cy="727291"/>
          </a:xfrm>
          <a:custGeom>
            <a:avLst/>
            <a:gdLst/>
            <a:ahLst/>
            <a:cxnLst/>
            <a:rect l="l" t="t" r="r" b="b"/>
            <a:pathLst>
              <a:path w="35" h="114">
                <a:moveTo>
                  <a:pt x="0" y="0"/>
                </a:moveTo>
                <a:lnTo>
                  <a:pt x="35" y="114"/>
                </a:lnTo>
              </a:path>
            </a:pathLst>
          </a:custGeom>
          <a:noFill/>
          <a:ln w="9569">
            <a:solidFill>
              <a:srgbClr val="EE8A8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" name="decoder_red_fan_16"/>
          <p:cNvSpPr/>
          <p:nvPr/>
        </p:nvSpPr>
        <p:spPr>
          <a:xfrm>
            <a:off x="7866227" y="1429063"/>
            <a:ext cx="172253" cy="708152"/>
          </a:xfrm>
          <a:custGeom>
            <a:avLst/>
            <a:gdLst/>
            <a:ahLst/>
            <a:cxnLst/>
            <a:rect l="l" t="t" r="r" b="b"/>
            <a:pathLst>
              <a:path w="27" h="111">
                <a:moveTo>
                  <a:pt x="0" y="0"/>
                </a:moveTo>
                <a:lnTo>
                  <a:pt x="27" y="111"/>
                </a:lnTo>
              </a:path>
            </a:pathLst>
          </a:custGeom>
          <a:noFill/>
          <a:ln w="9569">
            <a:solidFill>
              <a:srgbClr val="EE8A8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5" name="decoder_red_fan_17"/>
          <p:cNvSpPr/>
          <p:nvPr/>
        </p:nvSpPr>
        <p:spPr>
          <a:xfrm>
            <a:off x="8102278" y="1448202"/>
            <a:ext cx="121215" cy="689013"/>
          </a:xfrm>
          <a:custGeom>
            <a:avLst/>
            <a:gdLst/>
            <a:ahLst/>
            <a:cxnLst/>
            <a:rect l="l" t="t" r="r" b="b"/>
            <a:pathLst>
              <a:path w="19" h="108">
                <a:moveTo>
                  <a:pt x="0" y="0"/>
                </a:moveTo>
                <a:lnTo>
                  <a:pt x="19" y="108"/>
                </a:lnTo>
              </a:path>
            </a:pathLst>
          </a:custGeom>
          <a:noFill/>
          <a:ln w="9569">
            <a:solidFill>
              <a:srgbClr val="EE8A8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6" name="decoder_red_fan_18"/>
          <p:cNvSpPr/>
          <p:nvPr/>
        </p:nvSpPr>
        <p:spPr>
          <a:xfrm>
            <a:off x="6826328" y="1467342"/>
            <a:ext cx="1512000" cy="669873"/>
          </a:xfrm>
          <a:custGeom>
            <a:avLst/>
            <a:gdLst/>
            <a:ahLst/>
            <a:cxnLst/>
            <a:rect l="l" t="t" r="r" b="b"/>
            <a:pathLst>
              <a:path w="237" h="105">
                <a:moveTo>
                  <a:pt x="237" y="0"/>
                </a:moveTo>
                <a:lnTo>
                  <a:pt x="0" y="105"/>
                </a:lnTo>
              </a:path>
            </a:pathLst>
          </a:custGeom>
          <a:noFill/>
          <a:ln w="9569">
            <a:solidFill>
              <a:srgbClr val="EE8A8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7" name="decoder_red_fan_19"/>
          <p:cNvSpPr/>
          <p:nvPr/>
        </p:nvSpPr>
        <p:spPr>
          <a:xfrm>
            <a:off x="7011341" y="1486481"/>
            <a:ext cx="1563038" cy="650734"/>
          </a:xfrm>
          <a:custGeom>
            <a:avLst/>
            <a:gdLst/>
            <a:ahLst/>
            <a:cxnLst/>
            <a:rect l="l" t="t" r="r" b="b"/>
            <a:pathLst>
              <a:path w="245" h="102">
                <a:moveTo>
                  <a:pt x="245" y="0"/>
                </a:moveTo>
                <a:lnTo>
                  <a:pt x="0" y="102"/>
                </a:lnTo>
              </a:path>
            </a:pathLst>
          </a:custGeom>
          <a:noFill/>
          <a:ln w="9569">
            <a:solidFill>
              <a:srgbClr val="EE8A8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8" name="decoder_red_fan_20"/>
          <p:cNvSpPr/>
          <p:nvPr/>
        </p:nvSpPr>
        <p:spPr>
          <a:xfrm>
            <a:off x="6551999" y="1409924"/>
            <a:ext cx="644354" cy="727291"/>
          </a:xfrm>
          <a:custGeom>
            <a:avLst/>
            <a:gdLst/>
            <a:ahLst/>
            <a:cxnLst/>
            <a:rect l="l" t="t" r="r" b="b"/>
            <a:pathLst>
              <a:path w="101" h="114">
                <a:moveTo>
                  <a:pt x="0" y="0"/>
                </a:moveTo>
                <a:lnTo>
                  <a:pt x="101" y="114"/>
                </a:lnTo>
              </a:path>
            </a:pathLst>
          </a:custGeom>
          <a:noFill/>
          <a:ln w="9569">
            <a:solidFill>
              <a:srgbClr val="EE8A8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9" name="decoder_red_fan_21"/>
          <p:cNvSpPr/>
          <p:nvPr/>
        </p:nvSpPr>
        <p:spPr>
          <a:xfrm>
            <a:off x="6788050" y="1429063"/>
            <a:ext cx="593316" cy="708152"/>
          </a:xfrm>
          <a:custGeom>
            <a:avLst/>
            <a:gdLst/>
            <a:ahLst/>
            <a:cxnLst/>
            <a:rect l="l" t="t" r="r" b="b"/>
            <a:pathLst>
              <a:path w="93" h="111">
                <a:moveTo>
                  <a:pt x="0" y="0"/>
                </a:moveTo>
                <a:lnTo>
                  <a:pt x="93" y="111"/>
                </a:lnTo>
              </a:path>
            </a:pathLst>
          </a:custGeom>
          <a:noFill/>
          <a:ln w="9569">
            <a:solidFill>
              <a:srgbClr val="EE8A8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0" name="decoder_red_fan_22"/>
          <p:cNvSpPr/>
          <p:nvPr/>
        </p:nvSpPr>
        <p:spPr>
          <a:xfrm>
            <a:off x="7024101" y="1448202"/>
            <a:ext cx="542278" cy="689013"/>
          </a:xfrm>
          <a:custGeom>
            <a:avLst/>
            <a:gdLst/>
            <a:ahLst/>
            <a:cxnLst/>
            <a:rect l="l" t="t" r="r" b="b"/>
            <a:pathLst>
              <a:path w="85" h="108">
                <a:moveTo>
                  <a:pt x="0" y="0"/>
                </a:moveTo>
                <a:lnTo>
                  <a:pt x="85" y="108"/>
                </a:lnTo>
              </a:path>
            </a:pathLst>
          </a:custGeom>
          <a:noFill/>
          <a:ln w="9569">
            <a:solidFill>
              <a:srgbClr val="EE8A8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1" name="decoder_red_fan_23"/>
          <p:cNvSpPr/>
          <p:nvPr/>
        </p:nvSpPr>
        <p:spPr>
          <a:xfrm>
            <a:off x="7260151" y="1467342"/>
            <a:ext cx="491240" cy="669873"/>
          </a:xfrm>
          <a:custGeom>
            <a:avLst/>
            <a:gdLst/>
            <a:ahLst/>
            <a:cxnLst/>
            <a:rect l="l" t="t" r="r" b="b"/>
            <a:pathLst>
              <a:path w="77" h="105">
                <a:moveTo>
                  <a:pt x="0" y="0"/>
                </a:moveTo>
                <a:lnTo>
                  <a:pt x="77" y="105"/>
                </a:lnTo>
              </a:path>
            </a:pathLst>
          </a:custGeom>
          <a:noFill/>
          <a:ln w="9569">
            <a:solidFill>
              <a:srgbClr val="EE8A8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2" name="decoder_red_fan_24"/>
          <p:cNvSpPr/>
          <p:nvPr/>
        </p:nvSpPr>
        <p:spPr>
          <a:xfrm>
            <a:off x="7496202" y="1486481"/>
            <a:ext cx="440202" cy="650734"/>
          </a:xfrm>
          <a:custGeom>
            <a:avLst/>
            <a:gdLst/>
            <a:ahLst/>
            <a:cxnLst/>
            <a:rect l="l" t="t" r="r" b="b"/>
            <a:pathLst>
              <a:path w="69" h="102">
                <a:moveTo>
                  <a:pt x="0" y="0"/>
                </a:moveTo>
                <a:lnTo>
                  <a:pt x="69" y="102"/>
                </a:lnTo>
              </a:path>
            </a:pathLst>
          </a:custGeom>
          <a:noFill/>
          <a:ln w="9569">
            <a:solidFill>
              <a:srgbClr val="EE8A8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3" name="decoder_red_fan_25"/>
          <p:cNvSpPr/>
          <p:nvPr/>
        </p:nvSpPr>
        <p:spPr>
          <a:xfrm>
            <a:off x="7732252" y="1409924"/>
            <a:ext cx="389165" cy="727291"/>
          </a:xfrm>
          <a:custGeom>
            <a:avLst/>
            <a:gdLst/>
            <a:ahLst/>
            <a:cxnLst/>
            <a:rect l="l" t="t" r="r" b="b"/>
            <a:pathLst>
              <a:path w="61" h="114">
                <a:moveTo>
                  <a:pt x="0" y="0"/>
                </a:moveTo>
                <a:lnTo>
                  <a:pt x="61" y="114"/>
                </a:lnTo>
              </a:path>
            </a:pathLst>
          </a:custGeom>
          <a:noFill/>
          <a:ln w="9569">
            <a:solidFill>
              <a:srgbClr val="EE8A8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4" name="decoder_red_fan_26"/>
          <p:cNvSpPr/>
          <p:nvPr/>
        </p:nvSpPr>
        <p:spPr>
          <a:xfrm>
            <a:off x="6724253" y="1429063"/>
            <a:ext cx="1244051" cy="708152"/>
          </a:xfrm>
          <a:custGeom>
            <a:avLst/>
            <a:gdLst/>
            <a:ahLst/>
            <a:cxnLst/>
            <a:rect l="l" t="t" r="r" b="b"/>
            <a:pathLst>
              <a:path w="195" h="111">
                <a:moveTo>
                  <a:pt x="195" y="0"/>
                </a:moveTo>
                <a:lnTo>
                  <a:pt x="0" y="111"/>
                </a:lnTo>
              </a:path>
            </a:pathLst>
          </a:custGeom>
          <a:noFill/>
          <a:ln w="9569">
            <a:solidFill>
              <a:srgbClr val="EE8A8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5" name="decoder_red_fan_27"/>
          <p:cNvSpPr/>
          <p:nvPr/>
        </p:nvSpPr>
        <p:spPr>
          <a:xfrm>
            <a:off x="6909265" y="1448202"/>
            <a:ext cx="1295088" cy="689013"/>
          </a:xfrm>
          <a:custGeom>
            <a:avLst/>
            <a:gdLst/>
            <a:ahLst/>
            <a:cxnLst/>
            <a:rect l="l" t="t" r="r" b="b"/>
            <a:pathLst>
              <a:path w="203" h="108">
                <a:moveTo>
                  <a:pt x="203" y="0"/>
                </a:moveTo>
                <a:lnTo>
                  <a:pt x="0" y="108"/>
                </a:lnTo>
              </a:path>
            </a:pathLst>
          </a:custGeom>
          <a:noFill/>
          <a:ln w="9569">
            <a:solidFill>
              <a:srgbClr val="EE8A8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6" name="decoder_red_fan_28"/>
          <p:cNvSpPr/>
          <p:nvPr/>
        </p:nvSpPr>
        <p:spPr>
          <a:xfrm>
            <a:off x="7094278" y="1467342"/>
            <a:ext cx="1346126" cy="669873"/>
          </a:xfrm>
          <a:custGeom>
            <a:avLst/>
            <a:gdLst/>
            <a:ahLst/>
            <a:cxnLst/>
            <a:rect l="l" t="t" r="r" b="b"/>
            <a:pathLst>
              <a:path w="211" h="105">
                <a:moveTo>
                  <a:pt x="211" y="0"/>
                </a:moveTo>
                <a:lnTo>
                  <a:pt x="0" y="105"/>
                </a:lnTo>
              </a:path>
            </a:pathLst>
          </a:custGeom>
          <a:noFill/>
          <a:ln w="9569">
            <a:solidFill>
              <a:srgbClr val="EE8A8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7" name="decoder_red_fan_29"/>
          <p:cNvSpPr/>
          <p:nvPr/>
        </p:nvSpPr>
        <p:spPr>
          <a:xfrm>
            <a:off x="6418025" y="1486481"/>
            <a:ext cx="861266" cy="650734"/>
          </a:xfrm>
          <a:custGeom>
            <a:avLst/>
            <a:gdLst/>
            <a:ahLst/>
            <a:cxnLst/>
            <a:rect l="l" t="t" r="r" b="b"/>
            <a:pathLst>
              <a:path w="135" h="102">
                <a:moveTo>
                  <a:pt x="0" y="0"/>
                </a:moveTo>
                <a:lnTo>
                  <a:pt x="135" y="102"/>
                </a:lnTo>
              </a:path>
            </a:pathLst>
          </a:custGeom>
          <a:noFill/>
          <a:ln w="9569">
            <a:solidFill>
              <a:srgbClr val="EE8A8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8" name="decoder_red_fan_30"/>
          <p:cNvSpPr/>
          <p:nvPr/>
        </p:nvSpPr>
        <p:spPr>
          <a:xfrm>
            <a:off x="6654075" y="1409924"/>
            <a:ext cx="810228" cy="727291"/>
          </a:xfrm>
          <a:custGeom>
            <a:avLst/>
            <a:gdLst/>
            <a:ahLst/>
            <a:cxnLst/>
            <a:rect l="l" t="t" r="r" b="b"/>
            <a:pathLst>
              <a:path w="127" h="114">
                <a:moveTo>
                  <a:pt x="0" y="0"/>
                </a:moveTo>
                <a:lnTo>
                  <a:pt x="127" y="114"/>
                </a:lnTo>
              </a:path>
            </a:pathLst>
          </a:custGeom>
          <a:noFill/>
          <a:ln w="9569">
            <a:solidFill>
              <a:srgbClr val="EE8A8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9" name="decoder_red_fan_31"/>
          <p:cNvSpPr/>
          <p:nvPr/>
        </p:nvSpPr>
        <p:spPr>
          <a:xfrm>
            <a:off x="6890126" y="1429063"/>
            <a:ext cx="759190" cy="708152"/>
          </a:xfrm>
          <a:custGeom>
            <a:avLst/>
            <a:gdLst/>
            <a:ahLst/>
            <a:cxnLst/>
            <a:rect l="l" t="t" r="r" b="b"/>
            <a:pathLst>
              <a:path w="119" h="111">
                <a:moveTo>
                  <a:pt x="0" y="0"/>
                </a:moveTo>
                <a:lnTo>
                  <a:pt x="119" y="111"/>
                </a:lnTo>
              </a:path>
            </a:pathLst>
          </a:custGeom>
          <a:noFill/>
          <a:ln w="9569">
            <a:solidFill>
              <a:srgbClr val="EE8A8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0" name="decoder_red_fan_32"/>
          <p:cNvSpPr/>
          <p:nvPr/>
        </p:nvSpPr>
        <p:spPr>
          <a:xfrm>
            <a:off x="7126177" y="1448202"/>
            <a:ext cx="708152" cy="689013"/>
          </a:xfrm>
          <a:custGeom>
            <a:avLst/>
            <a:gdLst/>
            <a:ahLst/>
            <a:cxnLst/>
            <a:rect l="l" t="t" r="r" b="b"/>
            <a:pathLst>
              <a:path w="111" h="108">
                <a:moveTo>
                  <a:pt x="0" y="0"/>
                </a:moveTo>
                <a:lnTo>
                  <a:pt x="111" y="108"/>
                </a:lnTo>
              </a:path>
            </a:pathLst>
          </a:custGeom>
          <a:noFill/>
          <a:ln w="9569">
            <a:solidFill>
              <a:srgbClr val="EE8A8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1" name="decoder_red_fan_33"/>
          <p:cNvSpPr/>
          <p:nvPr/>
        </p:nvSpPr>
        <p:spPr>
          <a:xfrm>
            <a:off x="7362227" y="1467342"/>
            <a:ext cx="657114" cy="669873"/>
          </a:xfrm>
          <a:custGeom>
            <a:avLst/>
            <a:gdLst/>
            <a:ahLst/>
            <a:cxnLst/>
            <a:rect l="l" t="t" r="r" b="b"/>
            <a:pathLst>
              <a:path w="103" h="105">
                <a:moveTo>
                  <a:pt x="0" y="0"/>
                </a:moveTo>
                <a:lnTo>
                  <a:pt x="103" y="105"/>
                </a:lnTo>
              </a:path>
            </a:pathLst>
          </a:custGeom>
          <a:noFill/>
          <a:ln w="9569">
            <a:solidFill>
              <a:srgbClr val="EE8A8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2" name="decoder_red_fan_34"/>
          <p:cNvSpPr/>
          <p:nvPr/>
        </p:nvSpPr>
        <p:spPr>
          <a:xfrm>
            <a:off x="7598278" y="1486481"/>
            <a:ext cx="606076" cy="650734"/>
          </a:xfrm>
          <a:custGeom>
            <a:avLst/>
            <a:gdLst/>
            <a:ahLst/>
            <a:cxnLst/>
            <a:rect l="l" t="t" r="r" b="b"/>
            <a:pathLst>
              <a:path w="95" h="102">
                <a:moveTo>
                  <a:pt x="0" y="0"/>
                </a:moveTo>
                <a:lnTo>
                  <a:pt x="95" y="102"/>
                </a:lnTo>
              </a:path>
            </a:pathLst>
          </a:custGeom>
          <a:noFill/>
          <a:ln w="9569">
            <a:solidFill>
              <a:srgbClr val="EE8A8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3" name="decoder_red_fan_35"/>
          <p:cNvSpPr/>
          <p:nvPr/>
        </p:nvSpPr>
        <p:spPr>
          <a:xfrm>
            <a:off x="6807189" y="1409924"/>
            <a:ext cx="1027139" cy="727291"/>
          </a:xfrm>
          <a:custGeom>
            <a:avLst/>
            <a:gdLst/>
            <a:ahLst/>
            <a:cxnLst/>
            <a:rect l="l" t="t" r="r" b="b"/>
            <a:pathLst>
              <a:path w="161" h="114">
                <a:moveTo>
                  <a:pt x="161" y="0"/>
                </a:moveTo>
                <a:lnTo>
                  <a:pt x="0" y="114"/>
                </a:lnTo>
              </a:path>
            </a:pathLst>
          </a:custGeom>
          <a:noFill/>
          <a:ln w="9569">
            <a:solidFill>
              <a:srgbClr val="EE8A8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4" name="decoder_red_fan_36"/>
          <p:cNvSpPr/>
          <p:nvPr/>
        </p:nvSpPr>
        <p:spPr>
          <a:xfrm>
            <a:off x="6992202" y="1429063"/>
            <a:ext cx="1078177" cy="708152"/>
          </a:xfrm>
          <a:custGeom>
            <a:avLst/>
            <a:gdLst/>
            <a:ahLst/>
            <a:cxnLst/>
            <a:rect l="l" t="t" r="r" b="b"/>
            <a:pathLst>
              <a:path w="169" h="111">
                <a:moveTo>
                  <a:pt x="169" y="0"/>
                </a:moveTo>
                <a:lnTo>
                  <a:pt x="0" y="111"/>
                </a:lnTo>
              </a:path>
            </a:pathLst>
          </a:custGeom>
          <a:noFill/>
          <a:ln w="9569">
            <a:solidFill>
              <a:srgbClr val="EE8A8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5" name="decoder_red_fan_37"/>
          <p:cNvSpPr/>
          <p:nvPr/>
        </p:nvSpPr>
        <p:spPr>
          <a:xfrm>
            <a:off x="7177214" y="1448202"/>
            <a:ext cx="1129215" cy="689013"/>
          </a:xfrm>
          <a:custGeom>
            <a:avLst/>
            <a:gdLst/>
            <a:ahLst/>
            <a:cxnLst/>
            <a:rect l="l" t="t" r="r" b="b"/>
            <a:pathLst>
              <a:path w="177" h="108">
                <a:moveTo>
                  <a:pt x="177" y="0"/>
                </a:moveTo>
                <a:lnTo>
                  <a:pt x="0" y="108"/>
                </a:lnTo>
              </a:path>
            </a:pathLst>
          </a:custGeom>
          <a:noFill/>
          <a:ln w="9569">
            <a:solidFill>
              <a:srgbClr val="EE8A8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6" name="decoder_red_fan_38"/>
          <p:cNvSpPr/>
          <p:nvPr/>
        </p:nvSpPr>
        <p:spPr>
          <a:xfrm>
            <a:off x="7362227" y="1467342"/>
            <a:ext cx="1180253" cy="669873"/>
          </a:xfrm>
          <a:custGeom>
            <a:avLst/>
            <a:gdLst/>
            <a:ahLst/>
            <a:cxnLst/>
            <a:rect l="l" t="t" r="r" b="b"/>
            <a:pathLst>
              <a:path w="185" h="105">
                <a:moveTo>
                  <a:pt x="185" y="0"/>
                </a:moveTo>
                <a:lnTo>
                  <a:pt x="0" y="105"/>
                </a:lnTo>
              </a:path>
            </a:pathLst>
          </a:custGeom>
          <a:noFill/>
          <a:ln w="9569">
            <a:solidFill>
              <a:srgbClr val="EE8A8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7" name="decoder_red_fan_39"/>
          <p:cNvSpPr/>
          <p:nvPr/>
        </p:nvSpPr>
        <p:spPr>
          <a:xfrm>
            <a:off x="6520101" y="1486481"/>
            <a:ext cx="1027139" cy="650734"/>
          </a:xfrm>
          <a:custGeom>
            <a:avLst/>
            <a:gdLst/>
            <a:ahLst/>
            <a:cxnLst/>
            <a:rect l="l" t="t" r="r" b="b"/>
            <a:pathLst>
              <a:path w="161" h="102">
                <a:moveTo>
                  <a:pt x="0" y="0"/>
                </a:moveTo>
                <a:lnTo>
                  <a:pt x="161" y="102"/>
                </a:lnTo>
              </a:path>
            </a:pathLst>
          </a:custGeom>
          <a:noFill/>
          <a:ln w="9569">
            <a:solidFill>
              <a:srgbClr val="EE8A8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8" name="decoder_red_fan_40"/>
          <p:cNvSpPr/>
          <p:nvPr/>
        </p:nvSpPr>
        <p:spPr>
          <a:xfrm>
            <a:off x="6756151" y="1409924"/>
            <a:ext cx="976101" cy="727291"/>
          </a:xfrm>
          <a:custGeom>
            <a:avLst/>
            <a:gdLst/>
            <a:ahLst/>
            <a:cxnLst/>
            <a:rect l="l" t="t" r="r" b="b"/>
            <a:pathLst>
              <a:path w="153" h="114">
                <a:moveTo>
                  <a:pt x="0" y="0"/>
                </a:moveTo>
                <a:lnTo>
                  <a:pt x="153" y="114"/>
                </a:lnTo>
              </a:path>
            </a:pathLst>
          </a:custGeom>
          <a:noFill/>
          <a:ln w="9569">
            <a:solidFill>
              <a:srgbClr val="EE8A8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9" name="decoder_red_fan_41"/>
          <p:cNvSpPr/>
          <p:nvPr/>
        </p:nvSpPr>
        <p:spPr>
          <a:xfrm>
            <a:off x="6992202" y="1429063"/>
            <a:ext cx="925063" cy="708152"/>
          </a:xfrm>
          <a:custGeom>
            <a:avLst/>
            <a:gdLst/>
            <a:ahLst/>
            <a:cxnLst/>
            <a:rect l="l" t="t" r="r" b="b"/>
            <a:pathLst>
              <a:path w="145" h="111">
                <a:moveTo>
                  <a:pt x="0" y="0"/>
                </a:moveTo>
                <a:lnTo>
                  <a:pt x="145" y="111"/>
                </a:lnTo>
              </a:path>
            </a:pathLst>
          </a:custGeom>
          <a:noFill/>
          <a:ln w="9569">
            <a:solidFill>
              <a:srgbClr val="EE8A8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0" name="decoder_red_fan_42"/>
          <p:cNvSpPr/>
          <p:nvPr/>
        </p:nvSpPr>
        <p:spPr>
          <a:xfrm>
            <a:off x="7228252" y="1448202"/>
            <a:ext cx="874025" cy="689013"/>
          </a:xfrm>
          <a:custGeom>
            <a:avLst/>
            <a:gdLst/>
            <a:ahLst/>
            <a:cxnLst/>
            <a:rect l="l" t="t" r="r" b="b"/>
            <a:pathLst>
              <a:path w="137" h="108">
                <a:moveTo>
                  <a:pt x="0" y="0"/>
                </a:moveTo>
                <a:lnTo>
                  <a:pt x="137" y="108"/>
                </a:lnTo>
              </a:path>
            </a:pathLst>
          </a:custGeom>
          <a:noFill/>
          <a:ln w="9569">
            <a:solidFill>
              <a:srgbClr val="EE8A8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1" name="decoder_red_fan_43"/>
          <p:cNvSpPr/>
          <p:nvPr/>
        </p:nvSpPr>
        <p:spPr>
          <a:xfrm>
            <a:off x="6705113" y="1467342"/>
            <a:ext cx="759190" cy="669873"/>
          </a:xfrm>
          <a:custGeom>
            <a:avLst/>
            <a:gdLst/>
            <a:ahLst/>
            <a:cxnLst/>
            <a:rect l="l" t="t" r="r" b="b"/>
            <a:pathLst>
              <a:path w="119" h="105">
                <a:moveTo>
                  <a:pt x="119" y="0"/>
                </a:moveTo>
                <a:lnTo>
                  <a:pt x="0" y="105"/>
                </a:lnTo>
              </a:path>
            </a:pathLst>
          </a:custGeom>
          <a:noFill/>
          <a:ln w="9569">
            <a:solidFill>
              <a:srgbClr val="EE8A8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2" name="decoder_red_fan_44"/>
          <p:cNvSpPr/>
          <p:nvPr/>
        </p:nvSpPr>
        <p:spPr>
          <a:xfrm>
            <a:off x="6890126" y="1486481"/>
            <a:ext cx="810228" cy="650734"/>
          </a:xfrm>
          <a:custGeom>
            <a:avLst/>
            <a:gdLst/>
            <a:ahLst/>
            <a:cxnLst/>
            <a:rect l="l" t="t" r="r" b="b"/>
            <a:pathLst>
              <a:path w="127" h="102">
                <a:moveTo>
                  <a:pt x="127" y="0"/>
                </a:moveTo>
                <a:lnTo>
                  <a:pt x="0" y="102"/>
                </a:lnTo>
              </a:path>
            </a:pathLst>
          </a:custGeom>
          <a:noFill/>
          <a:ln w="9569">
            <a:solidFill>
              <a:srgbClr val="EE8A8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3" name="decoder_red_fan_45"/>
          <p:cNvSpPr/>
          <p:nvPr/>
        </p:nvSpPr>
        <p:spPr>
          <a:xfrm>
            <a:off x="7075139" y="1409924"/>
            <a:ext cx="861266" cy="727291"/>
          </a:xfrm>
          <a:custGeom>
            <a:avLst/>
            <a:gdLst/>
            <a:ahLst/>
            <a:cxnLst/>
            <a:rect l="l" t="t" r="r" b="b"/>
            <a:pathLst>
              <a:path w="135" h="114">
                <a:moveTo>
                  <a:pt x="135" y="0"/>
                </a:moveTo>
                <a:lnTo>
                  <a:pt x="0" y="114"/>
                </a:lnTo>
              </a:path>
            </a:pathLst>
          </a:custGeom>
          <a:noFill/>
          <a:ln w="9569">
            <a:solidFill>
              <a:srgbClr val="EE8A8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4" name="decoder_red_fan_46"/>
          <p:cNvSpPr/>
          <p:nvPr/>
        </p:nvSpPr>
        <p:spPr>
          <a:xfrm>
            <a:off x="7260151" y="1429063"/>
            <a:ext cx="912304" cy="708152"/>
          </a:xfrm>
          <a:custGeom>
            <a:avLst/>
            <a:gdLst/>
            <a:ahLst/>
            <a:cxnLst/>
            <a:rect l="l" t="t" r="r" b="b"/>
            <a:pathLst>
              <a:path w="143" h="111">
                <a:moveTo>
                  <a:pt x="143" y="0"/>
                </a:moveTo>
                <a:lnTo>
                  <a:pt x="0" y="111"/>
                </a:lnTo>
              </a:path>
            </a:pathLst>
          </a:custGeom>
          <a:noFill/>
          <a:ln w="9569">
            <a:solidFill>
              <a:srgbClr val="EE8A8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5" name="decoder_red_fan_47"/>
          <p:cNvSpPr/>
          <p:nvPr/>
        </p:nvSpPr>
        <p:spPr>
          <a:xfrm>
            <a:off x="7445164" y="1448202"/>
            <a:ext cx="963342" cy="689013"/>
          </a:xfrm>
          <a:custGeom>
            <a:avLst/>
            <a:gdLst/>
            <a:ahLst/>
            <a:cxnLst/>
            <a:rect l="l" t="t" r="r" b="b"/>
            <a:pathLst>
              <a:path w="151" h="108">
                <a:moveTo>
                  <a:pt x="151" y="0"/>
                </a:moveTo>
                <a:lnTo>
                  <a:pt x="0" y="108"/>
                </a:lnTo>
              </a:path>
            </a:pathLst>
          </a:custGeom>
          <a:noFill/>
          <a:ln w="9569">
            <a:solidFill>
              <a:srgbClr val="EE8A8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6" name="decoder_red_fan_48"/>
          <p:cNvSpPr/>
          <p:nvPr/>
        </p:nvSpPr>
        <p:spPr>
          <a:xfrm>
            <a:off x="6386126" y="1467342"/>
            <a:ext cx="1244051" cy="669873"/>
          </a:xfrm>
          <a:custGeom>
            <a:avLst/>
            <a:gdLst/>
            <a:ahLst/>
            <a:cxnLst/>
            <a:rect l="l" t="t" r="r" b="b"/>
            <a:pathLst>
              <a:path w="195" h="105">
                <a:moveTo>
                  <a:pt x="0" y="0"/>
                </a:moveTo>
                <a:lnTo>
                  <a:pt x="195" y="105"/>
                </a:lnTo>
              </a:path>
            </a:pathLst>
          </a:custGeom>
          <a:noFill/>
          <a:ln w="9569">
            <a:solidFill>
              <a:srgbClr val="EE8A8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7" name="decoder_red_fan_49"/>
          <p:cNvSpPr/>
          <p:nvPr/>
        </p:nvSpPr>
        <p:spPr>
          <a:xfrm>
            <a:off x="6622177" y="1486481"/>
            <a:ext cx="1193013" cy="650734"/>
          </a:xfrm>
          <a:custGeom>
            <a:avLst/>
            <a:gdLst/>
            <a:ahLst/>
            <a:cxnLst/>
            <a:rect l="l" t="t" r="r" b="b"/>
            <a:pathLst>
              <a:path w="187" h="102">
                <a:moveTo>
                  <a:pt x="0" y="0"/>
                </a:moveTo>
                <a:lnTo>
                  <a:pt x="187" y="102"/>
                </a:lnTo>
              </a:path>
            </a:pathLst>
          </a:custGeom>
          <a:noFill/>
          <a:ln w="9569">
            <a:solidFill>
              <a:srgbClr val="EE8A8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8" name="decoder_red_fan_50"/>
          <p:cNvSpPr/>
          <p:nvPr/>
        </p:nvSpPr>
        <p:spPr>
          <a:xfrm>
            <a:off x="6858227" y="1409924"/>
            <a:ext cx="1141975" cy="727291"/>
          </a:xfrm>
          <a:custGeom>
            <a:avLst/>
            <a:gdLst/>
            <a:ahLst/>
            <a:cxnLst/>
            <a:rect l="l" t="t" r="r" b="b"/>
            <a:pathLst>
              <a:path w="179" h="114">
                <a:moveTo>
                  <a:pt x="0" y="0"/>
                </a:moveTo>
                <a:lnTo>
                  <a:pt x="179" y="114"/>
                </a:lnTo>
              </a:path>
            </a:pathLst>
          </a:custGeom>
          <a:noFill/>
          <a:ln w="9569">
            <a:solidFill>
              <a:srgbClr val="EE8A8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9" name="decoder_red_fan_51"/>
          <p:cNvSpPr/>
          <p:nvPr/>
        </p:nvSpPr>
        <p:spPr>
          <a:xfrm>
            <a:off x="7094278" y="1429063"/>
            <a:ext cx="1090937" cy="708152"/>
          </a:xfrm>
          <a:custGeom>
            <a:avLst/>
            <a:gdLst/>
            <a:ahLst/>
            <a:cxnLst/>
            <a:rect l="l" t="t" r="r" b="b"/>
            <a:pathLst>
              <a:path w="171" h="111">
                <a:moveTo>
                  <a:pt x="0" y="0"/>
                </a:moveTo>
                <a:lnTo>
                  <a:pt x="171" y="111"/>
                </a:lnTo>
              </a:path>
            </a:pathLst>
          </a:custGeom>
          <a:noFill/>
          <a:ln w="9569">
            <a:solidFill>
              <a:srgbClr val="EE8A8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0" name="decoder_red_fan_52"/>
          <p:cNvSpPr/>
          <p:nvPr/>
        </p:nvSpPr>
        <p:spPr>
          <a:xfrm>
            <a:off x="6788050" y="1448202"/>
            <a:ext cx="542278" cy="689013"/>
          </a:xfrm>
          <a:custGeom>
            <a:avLst/>
            <a:gdLst/>
            <a:ahLst/>
            <a:cxnLst/>
            <a:rect l="l" t="t" r="r" b="b"/>
            <a:pathLst>
              <a:path w="85" h="108">
                <a:moveTo>
                  <a:pt x="85" y="0"/>
                </a:moveTo>
                <a:lnTo>
                  <a:pt x="0" y="108"/>
                </a:lnTo>
              </a:path>
            </a:pathLst>
          </a:custGeom>
          <a:noFill/>
          <a:ln w="9569">
            <a:solidFill>
              <a:srgbClr val="EE8A8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1" name="decoder_red_fan_53"/>
          <p:cNvSpPr/>
          <p:nvPr/>
        </p:nvSpPr>
        <p:spPr>
          <a:xfrm>
            <a:off x="6973063" y="1467342"/>
            <a:ext cx="593316" cy="669873"/>
          </a:xfrm>
          <a:custGeom>
            <a:avLst/>
            <a:gdLst/>
            <a:ahLst/>
            <a:cxnLst/>
            <a:rect l="l" t="t" r="r" b="b"/>
            <a:pathLst>
              <a:path w="93" h="105">
                <a:moveTo>
                  <a:pt x="93" y="0"/>
                </a:moveTo>
                <a:lnTo>
                  <a:pt x="0" y="105"/>
                </a:lnTo>
              </a:path>
            </a:pathLst>
          </a:custGeom>
          <a:noFill/>
          <a:ln w="9569">
            <a:solidFill>
              <a:srgbClr val="EE8A8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2" name="decoder_weight_theta"/>
          <p:cNvSpPr txBox="1"/>
          <p:nvPr/>
        </p:nvSpPr>
        <p:spPr>
          <a:xfrm>
            <a:off x="6622176" y="1480101"/>
            <a:ext cx="459341" cy="523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15" b="0" i="1">
                <a:solidFill>
                  <a:srgbClr val="000000"/>
                </a:solidFill>
                <a:latin typeface="Liberation Serif"/>
              </a:rPr>
              <a:t>θ</a:t>
            </a:r>
          </a:p>
        </p:txBody>
      </p:sp>
      <p:sp>
        <p:nvSpPr>
          <p:cNvPr id="213" name="decoder_weight_subscript"/>
          <p:cNvSpPr txBox="1"/>
          <p:nvPr/>
        </p:nvSpPr>
        <p:spPr>
          <a:xfrm>
            <a:off x="6960303" y="1741670"/>
            <a:ext cx="267949" cy="2296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7" b="0" i="1">
                <a:solidFill>
                  <a:srgbClr val="000000"/>
                </a:solidFill>
                <a:latin typeface="Liberation Serif"/>
              </a:rPr>
              <a:t>d</a:t>
            </a:r>
          </a:p>
        </p:txBody>
      </p:sp>
      <p:sp>
        <p:nvSpPr>
          <p:cNvPr id="214" name="decoder_bank"/>
          <p:cNvSpPr/>
          <p:nvPr/>
        </p:nvSpPr>
        <p:spPr>
          <a:xfrm>
            <a:off x="6634936" y="2137214"/>
            <a:ext cx="1626835" cy="331746"/>
          </a:xfrm>
          <a:prstGeom prst="rect">
            <a:avLst/>
          </a:prstGeom>
          <a:solidFill>
            <a:srgbClr val="D7D7D7"/>
          </a:solidFill>
          <a:ln w="1275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5" name="decoder_bank_cell_01"/>
          <p:cNvSpPr/>
          <p:nvPr/>
        </p:nvSpPr>
        <p:spPr>
          <a:xfrm>
            <a:off x="6768911" y="2137215"/>
            <a:ext cx="0" cy="331747"/>
          </a:xfrm>
          <a:custGeom>
            <a:avLst/>
            <a:gdLst/>
            <a:ahLst/>
            <a:cxnLst/>
            <a:rect l="l" t="t" r="r" b="b"/>
            <a:pathLst>
              <a:path w="0" h="52">
                <a:moveTo>
                  <a:pt x="0" y="0"/>
                </a:moveTo>
                <a:lnTo>
                  <a:pt x="0" y="52"/>
                </a:lnTo>
              </a:path>
            </a:pathLst>
          </a:custGeom>
          <a:noFill/>
          <a:ln w="7655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6" name="decoder_bank_cell_02"/>
          <p:cNvSpPr/>
          <p:nvPr/>
        </p:nvSpPr>
        <p:spPr>
          <a:xfrm>
            <a:off x="6902885" y="2137215"/>
            <a:ext cx="0" cy="331747"/>
          </a:xfrm>
          <a:custGeom>
            <a:avLst/>
            <a:gdLst/>
            <a:ahLst/>
            <a:cxnLst/>
            <a:rect l="l" t="t" r="r" b="b"/>
            <a:pathLst>
              <a:path w="0" h="52">
                <a:moveTo>
                  <a:pt x="0" y="0"/>
                </a:moveTo>
                <a:lnTo>
                  <a:pt x="0" y="52"/>
                </a:lnTo>
              </a:path>
            </a:pathLst>
          </a:custGeom>
          <a:noFill/>
          <a:ln w="7655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7" name="decoder_bank_cell_03"/>
          <p:cNvSpPr/>
          <p:nvPr/>
        </p:nvSpPr>
        <p:spPr>
          <a:xfrm>
            <a:off x="7043240" y="2137215"/>
            <a:ext cx="0" cy="331747"/>
          </a:xfrm>
          <a:custGeom>
            <a:avLst/>
            <a:gdLst/>
            <a:ahLst/>
            <a:cxnLst/>
            <a:rect l="l" t="t" r="r" b="b"/>
            <a:pathLst>
              <a:path w="0" h="52">
                <a:moveTo>
                  <a:pt x="0" y="0"/>
                </a:moveTo>
                <a:lnTo>
                  <a:pt x="0" y="52"/>
                </a:lnTo>
              </a:path>
            </a:pathLst>
          </a:custGeom>
          <a:noFill/>
          <a:ln w="7655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8" name="decoder_bank_cell_04"/>
          <p:cNvSpPr/>
          <p:nvPr/>
        </p:nvSpPr>
        <p:spPr>
          <a:xfrm>
            <a:off x="7177214" y="2137215"/>
            <a:ext cx="0" cy="331747"/>
          </a:xfrm>
          <a:custGeom>
            <a:avLst/>
            <a:gdLst/>
            <a:ahLst/>
            <a:cxnLst/>
            <a:rect l="l" t="t" r="r" b="b"/>
            <a:pathLst>
              <a:path w="0" h="52">
                <a:moveTo>
                  <a:pt x="0" y="0"/>
                </a:moveTo>
                <a:lnTo>
                  <a:pt x="0" y="52"/>
                </a:lnTo>
              </a:path>
            </a:pathLst>
          </a:custGeom>
          <a:noFill/>
          <a:ln w="7655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9" name="decoder_bank_cell_05"/>
          <p:cNvSpPr/>
          <p:nvPr/>
        </p:nvSpPr>
        <p:spPr>
          <a:xfrm>
            <a:off x="7311189" y="2137215"/>
            <a:ext cx="0" cy="331747"/>
          </a:xfrm>
          <a:custGeom>
            <a:avLst/>
            <a:gdLst/>
            <a:ahLst/>
            <a:cxnLst/>
            <a:rect l="l" t="t" r="r" b="b"/>
            <a:pathLst>
              <a:path w="0" h="52">
                <a:moveTo>
                  <a:pt x="0" y="0"/>
                </a:moveTo>
                <a:lnTo>
                  <a:pt x="0" y="52"/>
                </a:lnTo>
              </a:path>
            </a:pathLst>
          </a:custGeom>
          <a:noFill/>
          <a:ln w="7655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0" name="decoder_bank_cell_06"/>
          <p:cNvSpPr/>
          <p:nvPr/>
        </p:nvSpPr>
        <p:spPr>
          <a:xfrm>
            <a:off x="7451544" y="2137215"/>
            <a:ext cx="0" cy="331747"/>
          </a:xfrm>
          <a:custGeom>
            <a:avLst/>
            <a:gdLst/>
            <a:ahLst/>
            <a:cxnLst/>
            <a:rect l="l" t="t" r="r" b="b"/>
            <a:pathLst>
              <a:path w="0" h="52">
                <a:moveTo>
                  <a:pt x="0" y="0"/>
                </a:moveTo>
                <a:lnTo>
                  <a:pt x="0" y="52"/>
                </a:lnTo>
              </a:path>
            </a:pathLst>
          </a:custGeom>
          <a:noFill/>
          <a:ln w="7655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1" name="decoder_bank_cell_07"/>
          <p:cNvSpPr/>
          <p:nvPr/>
        </p:nvSpPr>
        <p:spPr>
          <a:xfrm>
            <a:off x="7585518" y="2137215"/>
            <a:ext cx="0" cy="331747"/>
          </a:xfrm>
          <a:custGeom>
            <a:avLst/>
            <a:gdLst/>
            <a:ahLst/>
            <a:cxnLst/>
            <a:rect l="l" t="t" r="r" b="b"/>
            <a:pathLst>
              <a:path w="0" h="52">
                <a:moveTo>
                  <a:pt x="0" y="0"/>
                </a:moveTo>
                <a:lnTo>
                  <a:pt x="0" y="52"/>
                </a:lnTo>
              </a:path>
            </a:pathLst>
          </a:custGeom>
          <a:noFill/>
          <a:ln w="7655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2" name="decoder_bank_cell_08"/>
          <p:cNvSpPr/>
          <p:nvPr/>
        </p:nvSpPr>
        <p:spPr>
          <a:xfrm>
            <a:off x="7719493" y="2137215"/>
            <a:ext cx="0" cy="331747"/>
          </a:xfrm>
          <a:custGeom>
            <a:avLst/>
            <a:gdLst/>
            <a:ahLst/>
            <a:cxnLst/>
            <a:rect l="l" t="t" r="r" b="b"/>
            <a:pathLst>
              <a:path w="0" h="52">
                <a:moveTo>
                  <a:pt x="0" y="0"/>
                </a:moveTo>
                <a:lnTo>
                  <a:pt x="0" y="52"/>
                </a:lnTo>
              </a:path>
            </a:pathLst>
          </a:custGeom>
          <a:noFill/>
          <a:ln w="7655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3" name="decoder_bank_cell_09"/>
          <p:cNvSpPr/>
          <p:nvPr/>
        </p:nvSpPr>
        <p:spPr>
          <a:xfrm>
            <a:off x="7853468" y="2137215"/>
            <a:ext cx="0" cy="331747"/>
          </a:xfrm>
          <a:custGeom>
            <a:avLst/>
            <a:gdLst/>
            <a:ahLst/>
            <a:cxnLst/>
            <a:rect l="l" t="t" r="r" b="b"/>
            <a:pathLst>
              <a:path w="0" h="52">
                <a:moveTo>
                  <a:pt x="0" y="0"/>
                </a:moveTo>
                <a:lnTo>
                  <a:pt x="0" y="52"/>
                </a:lnTo>
              </a:path>
            </a:pathLst>
          </a:custGeom>
          <a:noFill/>
          <a:ln w="7655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4" name="decoder_bank_cell_10"/>
          <p:cNvSpPr/>
          <p:nvPr/>
        </p:nvSpPr>
        <p:spPr>
          <a:xfrm>
            <a:off x="7987442" y="2137215"/>
            <a:ext cx="0" cy="331747"/>
          </a:xfrm>
          <a:custGeom>
            <a:avLst/>
            <a:gdLst/>
            <a:ahLst/>
            <a:cxnLst/>
            <a:rect l="l" t="t" r="r" b="b"/>
            <a:pathLst>
              <a:path w="0" h="52">
                <a:moveTo>
                  <a:pt x="0" y="0"/>
                </a:moveTo>
                <a:lnTo>
                  <a:pt x="0" y="52"/>
                </a:lnTo>
              </a:path>
            </a:pathLst>
          </a:custGeom>
          <a:noFill/>
          <a:ln w="7655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5" name="decoder_bank_cell_11"/>
          <p:cNvSpPr/>
          <p:nvPr/>
        </p:nvSpPr>
        <p:spPr>
          <a:xfrm>
            <a:off x="8127797" y="2137215"/>
            <a:ext cx="0" cy="331747"/>
          </a:xfrm>
          <a:custGeom>
            <a:avLst/>
            <a:gdLst/>
            <a:ahLst/>
            <a:cxnLst/>
            <a:rect l="l" t="t" r="r" b="b"/>
            <a:pathLst>
              <a:path w="0" h="52">
                <a:moveTo>
                  <a:pt x="0" y="0"/>
                </a:moveTo>
                <a:lnTo>
                  <a:pt x="0" y="52"/>
                </a:lnTo>
              </a:path>
            </a:pathLst>
          </a:custGeom>
          <a:noFill/>
          <a:ln w="7655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6" name="decoder_dot_00"/>
          <p:cNvSpPr/>
          <p:nvPr/>
        </p:nvSpPr>
        <p:spPr>
          <a:xfrm>
            <a:off x="6673214" y="2430683"/>
            <a:ext cx="25518" cy="25518"/>
          </a:xfrm>
          <a:prstGeom prst="ellipse">
            <a:avLst/>
          </a:prstGeom>
          <a:solidFill>
            <a:srgbClr val="E83C36"/>
          </a:solidFill>
          <a:ln w="6379">
            <a:solidFill>
              <a:srgbClr val="E8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7" name="decoder_dot_01"/>
          <p:cNvSpPr/>
          <p:nvPr/>
        </p:nvSpPr>
        <p:spPr>
          <a:xfrm>
            <a:off x="6805275" y="2430683"/>
            <a:ext cx="25518" cy="25518"/>
          </a:xfrm>
          <a:prstGeom prst="ellipse">
            <a:avLst/>
          </a:prstGeom>
          <a:solidFill>
            <a:srgbClr val="E83C36"/>
          </a:solidFill>
          <a:ln w="6379">
            <a:solidFill>
              <a:srgbClr val="E8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8" name="decoder_dot_02"/>
          <p:cNvSpPr/>
          <p:nvPr/>
        </p:nvSpPr>
        <p:spPr>
          <a:xfrm>
            <a:off x="6937336" y="2430683"/>
            <a:ext cx="25518" cy="25518"/>
          </a:xfrm>
          <a:prstGeom prst="ellipse">
            <a:avLst/>
          </a:prstGeom>
          <a:solidFill>
            <a:srgbClr val="E83C36"/>
          </a:solidFill>
          <a:ln w="6379">
            <a:solidFill>
              <a:srgbClr val="E8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9" name="decoder_dot_03"/>
          <p:cNvSpPr/>
          <p:nvPr/>
        </p:nvSpPr>
        <p:spPr>
          <a:xfrm>
            <a:off x="7069396" y="2430683"/>
            <a:ext cx="25518" cy="25518"/>
          </a:xfrm>
          <a:prstGeom prst="ellipse">
            <a:avLst/>
          </a:prstGeom>
          <a:solidFill>
            <a:srgbClr val="E83C36"/>
          </a:solidFill>
          <a:ln w="6379">
            <a:solidFill>
              <a:srgbClr val="E8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0" name="decoder_dot_04"/>
          <p:cNvSpPr/>
          <p:nvPr/>
        </p:nvSpPr>
        <p:spPr>
          <a:xfrm>
            <a:off x="7201457" y="2430683"/>
            <a:ext cx="25518" cy="25518"/>
          </a:xfrm>
          <a:prstGeom prst="ellipse">
            <a:avLst/>
          </a:prstGeom>
          <a:solidFill>
            <a:srgbClr val="E83C36"/>
          </a:solidFill>
          <a:ln w="6379">
            <a:solidFill>
              <a:srgbClr val="E8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1" name="decoder_dot_05"/>
          <p:cNvSpPr/>
          <p:nvPr/>
        </p:nvSpPr>
        <p:spPr>
          <a:xfrm>
            <a:off x="7333518" y="2430683"/>
            <a:ext cx="25518" cy="25518"/>
          </a:xfrm>
          <a:prstGeom prst="ellipse">
            <a:avLst/>
          </a:prstGeom>
          <a:solidFill>
            <a:srgbClr val="E83C36"/>
          </a:solidFill>
          <a:ln w="6379">
            <a:solidFill>
              <a:srgbClr val="E8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2" name="decoder_dot_06"/>
          <p:cNvSpPr/>
          <p:nvPr/>
        </p:nvSpPr>
        <p:spPr>
          <a:xfrm>
            <a:off x="7465579" y="2430683"/>
            <a:ext cx="25518" cy="25518"/>
          </a:xfrm>
          <a:prstGeom prst="ellipse">
            <a:avLst/>
          </a:prstGeom>
          <a:solidFill>
            <a:srgbClr val="E83C36"/>
          </a:solidFill>
          <a:ln w="6379">
            <a:solidFill>
              <a:srgbClr val="E8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3" name="decoder_dot_07"/>
          <p:cNvSpPr/>
          <p:nvPr/>
        </p:nvSpPr>
        <p:spPr>
          <a:xfrm>
            <a:off x="7597639" y="2430683"/>
            <a:ext cx="25518" cy="25518"/>
          </a:xfrm>
          <a:prstGeom prst="ellipse">
            <a:avLst/>
          </a:prstGeom>
          <a:solidFill>
            <a:srgbClr val="E83C36"/>
          </a:solidFill>
          <a:ln w="6379">
            <a:solidFill>
              <a:srgbClr val="E8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4" name="decoder_dot_08"/>
          <p:cNvSpPr/>
          <p:nvPr/>
        </p:nvSpPr>
        <p:spPr>
          <a:xfrm>
            <a:off x="7729700" y="2430683"/>
            <a:ext cx="25518" cy="25518"/>
          </a:xfrm>
          <a:prstGeom prst="ellipse">
            <a:avLst/>
          </a:prstGeom>
          <a:solidFill>
            <a:srgbClr val="E83C36"/>
          </a:solidFill>
          <a:ln w="6379">
            <a:solidFill>
              <a:srgbClr val="E8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5" name="decoder_dot_09"/>
          <p:cNvSpPr/>
          <p:nvPr/>
        </p:nvSpPr>
        <p:spPr>
          <a:xfrm>
            <a:off x="7861761" y="2430683"/>
            <a:ext cx="25518" cy="25518"/>
          </a:xfrm>
          <a:prstGeom prst="ellipse">
            <a:avLst/>
          </a:prstGeom>
          <a:solidFill>
            <a:srgbClr val="E83C36"/>
          </a:solidFill>
          <a:ln w="6379">
            <a:solidFill>
              <a:srgbClr val="E8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6" name="decoder_dot_10"/>
          <p:cNvSpPr/>
          <p:nvPr/>
        </p:nvSpPr>
        <p:spPr>
          <a:xfrm>
            <a:off x="7993821" y="2430683"/>
            <a:ext cx="25518" cy="25518"/>
          </a:xfrm>
          <a:prstGeom prst="ellipse">
            <a:avLst/>
          </a:prstGeom>
          <a:solidFill>
            <a:srgbClr val="E83C36"/>
          </a:solidFill>
          <a:ln w="6379">
            <a:solidFill>
              <a:srgbClr val="E8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7" name="decoder_dot_11"/>
          <p:cNvSpPr/>
          <p:nvPr/>
        </p:nvSpPr>
        <p:spPr>
          <a:xfrm>
            <a:off x="8125882" y="2430683"/>
            <a:ext cx="25518" cy="25518"/>
          </a:xfrm>
          <a:prstGeom prst="ellipse">
            <a:avLst/>
          </a:prstGeom>
          <a:solidFill>
            <a:srgbClr val="E83C36"/>
          </a:solidFill>
          <a:ln w="6379">
            <a:solidFill>
              <a:srgbClr val="E8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8" name="decoder_down_arrow_shaft"/>
          <p:cNvSpPr/>
          <p:nvPr/>
        </p:nvSpPr>
        <p:spPr>
          <a:xfrm>
            <a:off x="7451544" y="1824607"/>
            <a:ext cx="0" cy="280709"/>
          </a:xfrm>
          <a:custGeom>
            <a:avLst/>
            <a:gdLst/>
            <a:ahLst/>
            <a:cxnLst/>
            <a:rect l="l" t="t" r="r" b="b"/>
            <a:pathLst>
              <a:path w="0" h="44">
                <a:moveTo>
                  <a:pt x="0" y="0"/>
                </a:moveTo>
                <a:lnTo>
                  <a:pt x="0" y="44"/>
                </a:lnTo>
              </a:path>
            </a:pathLst>
          </a:custGeom>
          <a:noFill/>
          <a:ln w="6379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9" name="decoder_down_arrow_head"/>
          <p:cNvSpPr/>
          <p:nvPr/>
        </p:nvSpPr>
        <p:spPr>
          <a:xfrm>
            <a:off x="7362227" y="1939443"/>
            <a:ext cx="178633" cy="165873"/>
          </a:xfrm>
          <a:custGeom>
            <a:avLst/>
            <a:gdLst/>
            <a:ahLst/>
            <a:cxnLst/>
            <a:rect l="l" t="t" r="r" b="b"/>
            <a:pathLst>
              <a:path w="28" h="26">
                <a:moveTo>
                  <a:pt x="14" y="26"/>
                </a:moveTo>
                <a:lnTo>
                  <a:pt x="0" y="0"/>
                </a:lnTo>
                <a:lnTo>
                  <a:pt x="28" y="0"/>
                </a:lnTo>
                <a:close/>
              </a:path>
            </a:pathLst>
          </a:custGeom>
          <a:solidFill>
            <a:srgbClr val="000000"/>
          </a:solidFill>
          <a:ln w="637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0" name="decoder_to_cell_shaft"/>
          <p:cNvSpPr/>
          <p:nvPr/>
        </p:nvSpPr>
        <p:spPr>
          <a:xfrm>
            <a:off x="7457923" y="2494481"/>
            <a:ext cx="0" cy="280709"/>
          </a:xfrm>
          <a:custGeom>
            <a:avLst/>
            <a:gdLst/>
            <a:ahLst/>
            <a:cxnLst/>
            <a:rect l="l" t="t" r="r" b="b"/>
            <a:pathLst>
              <a:path w="0" h="44">
                <a:moveTo>
                  <a:pt x="0" y="0"/>
                </a:moveTo>
                <a:lnTo>
                  <a:pt x="0" y="44"/>
                </a:lnTo>
              </a:path>
            </a:pathLst>
          </a:custGeom>
          <a:noFill/>
          <a:ln w="44658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1" name="decoder_to_cell_head"/>
          <p:cNvSpPr/>
          <p:nvPr/>
        </p:nvSpPr>
        <p:spPr>
          <a:xfrm>
            <a:off x="7381366" y="2641215"/>
            <a:ext cx="153114" cy="133975"/>
          </a:xfrm>
          <a:custGeom>
            <a:avLst/>
            <a:gdLst/>
            <a:ahLst/>
            <a:cxnLst/>
            <a:rect l="l" t="t" r="r" b="b"/>
            <a:pathLst>
              <a:path w="24" h="21">
                <a:moveTo>
                  <a:pt x="12" y="21"/>
                </a:moveTo>
                <a:lnTo>
                  <a:pt x="0" y="0"/>
                </a:lnTo>
                <a:lnTo>
                  <a:pt x="24" y="0"/>
                </a:lnTo>
                <a:close/>
              </a:path>
            </a:pathLst>
          </a:custGeom>
          <a:solidFill>
            <a:srgbClr val="000000"/>
          </a:solidFill>
          <a:ln w="637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2" name="decoder_cell_top"/>
          <p:cNvSpPr/>
          <p:nvPr/>
        </p:nvSpPr>
        <p:spPr>
          <a:xfrm>
            <a:off x="7183594" y="2717772"/>
            <a:ext cx="606076" cy="57418"/>
          </a:xfrm>
          <a:custGeom>
            <a:avLst/>
            <a:gdLst/>
            <a:ahLst/>
            <a:cxnLst/>
            <a:rect l="l" t="t" r="r" b="b"/>
            <a:pathLst>
              <a:path w="95" h="9">
                <a:moveTo>
                  <a:pt x="0" y="9"/>
                </a:moveTo>
                <a:lnTo>
                  <a:pt x="9" y="0"/>
                </a:lnTo>
                <a:lnTo>
                  <a:pt x="95" y="0"/>
                </a:lnTo>
                <a:lnTo>
                  <a:pt x="86" y="9"/>
                </a:lnTo>
                <a:close/>
              </a:path>
            </a:pathLst>
          </a:custGeom>
          <a:solidFill>
            <a:srgbClr val="D7D7D7"/>
          </a:solidFill>
          <a:ln w="14035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3" name="decoder_cell_side"/>
          <p:cNvSpPr/>
          <p:nvPr/>
        </p:nvSpPr>
        <p:spPr>
          <a:xfrm>
            <a:off x="7732252" y="2717772"/>
            <a:ext cx="57418" cy="523139"/>
          </a:xfrm>
          <a:custGeom>
            <a:avLst/>
            <a:gdLst/>
            <a:ahLst/>
            <a:cxnLst/>
            <a:rect l="l" t="t" r="r" b="b"/>
            <a:pathLst>
              <a:path w="9" h="82">
                <a:moveTo>
                  <a:pt x="0" y="9"/>
                </a:moveTo>
                <a:lnTo>
                  <a:pt x="9" y="0"/>
                </a:lnTo>
                <a:lnTo>
                  <a:pt x="9" y="73"/>
                </a:lnTo>
                <a:lnTo>
                  <a:pt x="0" y="82"/>
                </a:lnTo>
                <a:close/>
              </a:path>
            </a:pathLst>
          </a:custGeom>
          <a:solidFill>
            <a:srgbClr val="B8B8B8"/>
          </a:solidFill>
          <a:ln w="14035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4" name="decoder_cell_front"/>
          <p:cNvSpPr/>
          <p:nvPr/>
        </p:nvSpPr>
        <p:spPr>
          <a:xfrm>
            <a:off x="7183594" y="2775189"/>
            <a:ext cx="548658" cy="465721"/>
          </a:xfrm>
          <a:prstGeom prst="rect">
            <a:avLst/>
          </a:prstGeom>
          <a:solidFill>
            <a:srgbClr val="D7D7D7"/>
          </a:solidFill>
          <a:ln w="14035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5" name="badge_3"/>
          <p:cNvSpPr/>
          <p:nvPr/>
        </p:nvSpPr>
        <p:spPr>
          <a:xfrm>
            <a:off x="6500961" y="2768809"/>
            <a:ext cx="497620" cy="497620"/>
          </a:xfrm>
          <a:prstGeom prst="ellipse">
            <a:avLst/>
          </a:prstGeom>
          <a:solidFill>
            <a:srgbClr val="FFE22A"/>
          </a:solidFill>
          <a:ln w="31898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6" name="badge_3_label"/>
          <p:cNvSpPr txBox="1"/>
          <p:nvPr/>
        </p:nvSpPr>
        <p:spPr>
          <a:xfrm>
            <a:off x="6500961" y="2775189"/>
            <a:ext cx="497620" cy="4976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61" b="0" i="0">
                <a:solidFill>
                  <a:srgbClr val="000000"/>
                </a:solidFill>
                <a:latin typeface="Liberation Sans"/>
              </a:rPr>
              <a:t>3</a:t>
            </a:r>
          </a:p>
        </p:txBody>
      </p:sp>
      <p:sp>
        <p:nvSpPr>
          <p:cNvPr id="247" name="neuron_next_stack_top"/>
          <p:cNvSpPr/>
          <p:nvPr/>
        </p:nvSpPr>
        <p:spPr>
          <a:xfrm>
            <a:off x="8657316" y="720911"/>
            <a:ext cx="1269569" cy="242430"/>
          </a:xfrm>
          <a:custGeom>
            <a:avLst/>
            <a:gdLst/>
            <a:ahLst/>
            <a:cxnLst/>
            <a:rect l="l" t="t" r="r" b="b"/>
            <a:pathLst>
              <a:path w="199" h="38">
                <a:moveTo>
                  <a:pt x="0" y="38"/>
                </a:moveTo>
                <a:lnTo>
                  <a:pt x="38" y="0"/>
                </a:lnTo>
                <a:lnTo>
                  <a:pt x="199" y="0"/>
                </a:lnTo>
                <a:lnTo>
                  <a:pt x="161" y="38"/>
                </a:lnTo>
                <a:close/>
              </a:path>
            </a:pathLst>
          </a:custGeom>
          <a:solidFill>
            <a:srgbClr val="D7D7D7"/>
          </a:solidFill>
          <a:ln w="14035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8" name="neuron_next_stack_side"/>
          <p:cNvSpPr/>
          <p:nvPr/>
        </p:nvSpPr>
        <p:spPr>
          <a:xfrm>
            <a:off x="9684455" y="720911"/>
            <a:ext cx="242430" cy="2768810"/>
          </a:xfrm>
          <a:custGeom>
            <a:avLst/>
            <a:gdLst/>
            <a:ahLst/>
            <a:cxnLst/>
            <a:rect l="l" t="t" r="r" b="b"/>
            <a:pathLst>
              <a:path w="38" h="434">
                <a:moveTo>
                  <a:pt x="0" y="38"/>
                </a:moveTo>
                <a:lnTo>
                  <a:pt x="38" y="0"/>
                </a:lnTo>
                <a:lnTo>
                  <a:pt x="38" y="396"/>
                </a:lnTo>
                <a:lnTo>
                  <a:pt x="0" y="434"/>
                </a:lnTo>
                <a:close/>
              </a:path>
            </a:pathLst>
          </a:custGeom>
          <a:solidFill>
            <a:srgbClr val="B8B8B8"/>
          </a:solidFill>
          <a:ln w="14035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9" name="neuron_next_stack_front"/>
          <p:cNvSpPr/>
          <p:nvPr/>
        </p:nvSpPr>
        <p:spPr>
          <a:xfrm>
            <a:off x="8657315" y="963341"/>
            <a:ext cx="1027139" cy="2526379"/>
          </a:xfrm>
          <a:prstGeom prst="rect">
            <a:avLst/>
          </a:prstGeom>
          <a:solidFill>
            <a:srgbClr val="D7D7D7"/>
          </a:solidFill>
          <a:ln w="14035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0" name="neuron_next_stack_row_01"/>
          <p:cNvSpPr/>
          <p:nvPr/>
        </p:nvSpPr>
        <p:spPr>
          <a:xfrm>
            <a:off x="8657316" y="1384405"/>
            <a:ext cx="1027139" cy="0"/>
          </a:xfrm>
          <a:custGeom>
            <a:avLst/>
            <a:gdLst/>
            <a:ahLst/>
            <a:cxnLst/>
            <a:rect l="l" t="t" r="r" b="b"/>
            <a:pathLst>
              <a:path w="161" h="0">
                <a:moveTo>
                  <a:pt x="0" y="0"/>
                </a:moveTo>
                <a:lnTo>
                  <a:pt x="161" y="0"/>
                </a:lnTo>
              </a:path>
            </a:pathLst>
          </a:custGeom>
          <a:noFill/>
          <a:ln w="1020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1" name="neuron_next_stack_row_02"/>
          <p:cNvSpPr/>
          <p:nvPr/>
        </p:nvSpPr>
        <p:spPr>
          <a:xfrm>
            <a:off x="8657316" y="1805468"/>
            <a:ext cx="1027139" cy="0"/>
          </a:xfrm>
          <a:custGeom>
            <a:avLst/>
            <a:gdLst/>
            <a:ahLst/>
            <a:cxnLst/>
            <a:rect l="l" t="t" r="r" b="b"/>
            <a:pathLst>
              <a:path w="161" h="0">
                <a:moveTo>
                  <a:pt x="0" y="0"/>
                </a:moveTo>
                <a:lnTo>
                  <a:pt x="161" y="0"/>
                </a:lnTo>
              </a:path>
            </a:pathLst>
          </a:custGeom>
          <a:noFill/>
          <a:ln w="1020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2" name="neuron_next_stack_row_03"/>
          <p:cNvSpPr/>
          <p:nvPr/>
        </p:nvSpPr>
        <p:spPr>
          <a:xfrm>
            <a:off x="8657316" y="2226531"/>
            <a:ext cx="1027139" cy="0"/>
          </a:xfrm>
          <a:custGeom>
            <a:avLst/>
            <a:gdLst/>
            <a:ahLst/>
            <a:cxnLst/>
            <a:rect l="l" t="t" r="r" b="b"/>
            <a:pathLst>
              <a:path w="161" h="0">
                <a:moveTo>
                  <a:pt x="0" y="0"/>
                </a:moveTo>
                <a:lnTo>
                  <a:pt x="161" y="0"/>
                </a:lnTo>
              </a:path>
            </a:pathLst>
          </a:custGeom>
          <a:noFill/>
          <a:ln w="1020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3" name="neuron_next_stack_row_04"/>
          <p:cNvSpPr/>
          <p:nvPr/>
        </p:nvSpPr>
        <p:spPr>
          <a:xfrm>
            <a:off x="8657316" y="2647595"/>
            <a:ext cx="1027139" cy="0"/>
          </a:xfrm>
          <a:custGeom>
            <a:avLst/>
            <a:gdLst/>
            <a:ahLst/>
            <a:cxnLst/>
            <a:rect l="l" t="t" r="r" b="b"/>
            <a:pathLst>
              <a:path w="161" h="0">
                <a:moveTo>
                  <a:pt x="0" y="0"/>
                </a:moveTo>
                <a:lnTo>
                  <a:pt x="161" y="0"/>
                </a:lnTo>
              </a:path>
            </a:pathLst>
          </a:custGeom>
          <a:noFill/>
          <a:ln w="1020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4" name="neuron_next_stack_row_05"/>
          <p:cNvSpPr/>
          <p:nvPr/>
        </p:nvSpPr>
        <p:spPr>
          <a:xfrm>
            <a:off x="8657316" y="3068658"/>
            <a:ext cx="1027139" cy="0"/>
          </a:xfrm>
          <a:custGeom>
            <a:avLst/>
            <a:gdLst/>
            <a:ahLst/>
            <a:cxnLst/>
            <a:rect l="l" t="t" r="r" b="b"/>
            <a:pathLst>
              <a:path w="161" h="0">
                <a:moveTo>
                  <a:pt x="0" y="0"/>
                </a:moveTo>
                <a:lnTo>
                  <a:pt x="161" y="0"/>
                </a:lnTo>
              </a:path>
            </a:pathLst>
          </a:custGeom>
          <a:noFill/>
          <a:ln w="1020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5" name="cell_to_next_stack_shaft"/>
          <p:cNvSpPr/>
          <p:nvPr/>
        </p:nvSpPr>
        <p:spPr>
          <a:xfrm>
            <a:off x="7553620" y="1199392"/>
            <a:ext cx="1862886" cy="1792709"/>
          </a:xfrm>
          <a:custGeom>
            <a:avLst/>
            <a:gdLst/>
            <a:ahLst/>
            <a:cxnLst/>
            <a:rect l="l" t="t" r="r" b="b"/>
            <a:pathLst>
              <a:path w="292" h="281">
                <a:moveTo>
                  <a:pt x="0" y="281"/>
                </a:moveTo>
                <a:lnTo>
                  <a:pt x="7" y="277"/>
                </a:lnTo>
                <a:lnTo>
                  <a:pt x="14" y="273"/>
                </a:lnTo>
                <a:lnTo>
                  <a:pt x="21" y="269"/>
                </a:lnTo>
                <a:lnTo>
                  <a:pt x="29" y="266"/>
                </a:lnTo>
                <a:lnTo>
                  <a:pt x="37" y="264"/>
                </a:lnTo>
                <a:lnTo>
                  <a:pt x="45" y="262"/>
                </a:lnTo>
                <a:lnTo>
                  <a:pt x="54" y="260"/>
                </a:lnTo>
                <a:lnTo>
                  <a:pt x="62" y="258"/>
                </a:lnTo>
                <a:lnTo>
                  <a:pt x="71" y="256"/>
                </a:lnTo>
                <a:lnTo>
                  <a:pt x="80" y="254"/>
                </a:lnTo>
                <a:lnTo>
                  <a:pt x="89" y="252"/>
                </a:lnTo>
                <a:lnTo>
                  <a:pt x="98" y="251"/>
                </a:lnTo>
                <a:lnTo>
                  <a:pt x="108" y="249"/>
                </a:lnTo>
                <a:lnTo>
                  <a:pt x="117" y="246"/>
                </a:lnTo>
                <a:lnTo>
                  <a:pt x="126" y="244"/>
                </a:lnTo>
                <a:lnTo>
                  <a:pt x="136" y="241"/>
                </a:lnTo>
                <a:lnTo>
                  <a:pt x="145" y="237"/>
                </a:lnTo>
                <a:lnTo>
                  <a:pt x="155" y="234"/>
                </a:lnTo>
                <a:lnTo>
                  <a:pt x="164" y="229"/>
                </a:lnTo>
                <a:lnTo>
                  <a:pt x="173" y="224"/>
                </a:lnTo>
                <a:lnTo>
                  <a:pt x="182" y="218"/>
                </a:lnTo>
                <a:lnTo>
                  <a:pt x="191" y="212"/>
                </a:lnTo>
                <a:lnTo>
                  <a:pt x="200" y="204"/>
                </a:lnTo>
                <a:lnTo>
                  <a:pt x="209" y="196"/>
                </a:lnTo>
                <a:lnTo>
                  <a:pt x="217" y="186"/>
                </a:lnTo>
                <a:lnTo>
                  <a:pt x="226" y="176"/>
                </a:lnTo>
                <a:lnTo>
                  <a:pt x="234" y="165"/>
                </a:lnTo>
                <a:lnTo>
                  <a:pt x="242" y="152"/>
                </a:lnTo>
                <a:lnTo>
                  <a:pt x="249" y="138"/>
                </a:lnTo>
                <a:lnTo>
                  <a:pt x="256" y="123"/>
                </a:lnTo>
                <a:lnTo>
                  <a:pt x="263" y="106"/>
                </a:lnTo>
                <a:lnTo>
                  <a:pt x="270" y="88"/>
                </a:lnTo>
                <a:lnTo>
                  <a:pt x="276" y="69"/>
                </a:lnTo>
                <a:lnTo>
                  <a:pt x="282" y="47"/>
                </a:lnTo>
                <a:lnTo>
                  <a:pt x="287" y="25"/>
                </a:lnTo>
                <a:lnTo>
                  <a:pt x="292" y="0"/>
                </a:lnTo>
              </a:path>
            </a:pathLst>
          </a:custGeom>
          <a:noFill/>
          <a:ln w="25518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6" name="cell_to_next_stack_head"/>
          <p:cNvSpPr/>
          <p:nvPr/>
        </p:nvSpPr>
        <p:spPr>
          <a:xfrm>
            <a:off x="9327189" y="1199392"/>
            <a:ext cx="133975" cy="133975"/>
          </a:xfrm>
          <a:custGeom>
            <a:avLst/>
            <a:gdLst/>
            <a:ahLst/>
            <a:cxnLst/>
            <a:rect l="l" t="t" r="r" b="b"/>
            <a:pathLst>
              <a:path w="21" h="21">
                <a:moveTo>
                  <a:pt x="14" y="0"/>
                </a:moveTo>
                <a:lnTo>
                  <a:pt x="21" y="21"/>
                </a:lnTo>
                <a:lnTo>
                  <a:pt x="0" y="16"/>
                </a:lnTo>
                <a:close/>
              </a:path>
            </a:pathLst>
          </a:custGeom>
          <a:solidFill>
            <a:srgbClr val="000000"/>
          </a:solidFill>
          <a:ln w="637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7" name="post_state_next_top"/>
          <p:cNvSpPr/>
          <p:nvPr/>
        </p:nvSpPr>
        <p:spPr>
          <a:xfrm>
            <a:off x="11285771" y="580557"/>
            <a:ext cx="567797" cy="108456"/>
          </a:xfrm>
          <a:custGeom>
            <a:avLst/>
            <a:gdLst/>
            <a:ahLst/>
            <a:cxnLst/>
            <a:rect l="l" t="t" r="r" b="b"/>
            <a:pathLst>
              <a:path w="89" h="17">
                <a:moveTo>
                  <a:pt x="0" y="17"/>
                </a:moveTo>
                <a:lnTo>
                  <a:pt x="17" y="0"/>
                </a:lnTo>
                <a:lnTo>
                  <a:pt x="89" y="0"/>
                </a:lnTo>
                <a:lnTo>
                  <a:pt x="72" y="17"/>
                </a:lnTo>
                <a:close/>
              </a:path>
            </a:pathLst>
          </a:custGeom>
          <a:solidFill>
            <a:srgbClr val="D7D7D7"/>
          </a:solidFill>
          <a:ln w="14035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8" name="post_state_next_side"/>
          <p:cNvSpPr/>
          <p:nvPr/>
        </p:nvSpPr>
        <p:spPr>
          <a:xfrm>
            <a:off x="11745113" y="580557"/>
            <a:ext cx="108456" cy="2915544"/>
          </a:xfrm>
          <a:custGeom>
            <a:avLst/>
            <a:gdLst/>
            <a:ahLst/>
            <a:cxnLst/>
            <a:rect l="l" t="t" r="r" b="b"/>
            <a:pathLst>
              <a:path w="17" h="457">
                <a:moveTo>
                  <a:pt x="0" y="17"/>
                </a:moveTo>
                <a:lnTo>
                  <a:pt x="17" y="0"/>
                </a:lnTo>
                <a:lnTo>
                  <a:pt x="17" y="440"/>
                </a:lnTo>
                <a:lnTo>
                  <a:pt x="0" y="457"/>
                </a:lnTo>
                <a:close/>
              </a:path>
            </a:pathLst>
          </a:custGeom>
          <a:solidFill>
            <a:srgbClr val="B8B8B8"/>
          </a:solidFill>
          <a:ln w="14035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9" name="post_state_next_front"/>
          <p:cNvSpPr/>
          <p:nvPr/>
        </p:nvSpPr>
        <p:spPr>
          <a:xfrm>
            <a:off x="11285771" y="689012"/>
            <a:ext cx="459341" cy="2807088"/>
          </a:xfrm>
          <a:prstGeom prst="rect">
            <a:avLst/>
          </a:prstGeom>
          <a:solidFill>
            <a:srgbClr val="D7D7D7"/>
          </a:solidFill>
          <a:ln w="14035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0" name="post_state_next_row_01"/>
          <p:cNvSpPr/>
          <p:nvPr/>
        </p:nvSpPr>
        <p:spPr>
          <a:xfrm>
            <a:off x="11285771" y="944202"/>
            <a:ext cx="459342" cy="0"/>
          </a:xfrm>
          <a:custGeom>
            <a:avLst/>
            <a:gdLst/>
            <a:ahLst/>
            <a:cxnLst/>
            <a:rect l="l" t="t" r="r" b="b"/>
            <a:pathLst>
              <a:path w="72" h="0">
                <a:moveTo>
                  <a:pt x="0" y="0"/>
                </a:moveTo>
                <a:lnTo>
                  <a:pt x="72" y="0"/>
                </a:lnTo>
              </a:path>
            </a:pathLst>
          </a:custGeom>
          <a:noFill/>
          <a:ln w="1020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1" name="post_state_next_row_02"/>
          <p:cNvSpPr/>
          <p:nvPr/>
        </p:nvSpPr>
        <p:spPr>
          <a:xfrm>
            <a:off x="11285771" y="1199392"/>
            <a:ext cx="459342" cy="0"/>
          </a:xfrm>
          <a:custGeom>
            <a:avLst/>
            <a:gdLst/>
            <a:ahLst/>
            <a:cxnLst/>
            <a:rect l="l" t="t" r="r" b="b"/>
            <a:pathLst>
              <a:path w="72" h="0">
                <a:moveTo>
                  <a:pt x="0" y="0"/>
                </a:moveTo>
                <a:lnTo>
                  <a:pt x="72" y="0"/>
                </a:lnTo>
              </a:path>
            </a:pathLst>
          </a:custGeom>
          <a:noFill/>
          <a:ln w="1020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2" name="post_state_next_row_03"/>
          <p:cNvSpPr/>
          <p:nvPr/>
        </p:nvSpPr>
        <p:spPr>
          <a:xfrm>
            <a:off x="11285771" y="1454582"/>
            <a:ext cx="459342" cy="0"/>
          </a:xfrm>
          <a:custGeom>
            <a:avLst/>
            <a:gdLst/>
            <a:ahLst/>
            <a:cxnLst/>
            <a:rect l="l" t="t" r="r" b="b"/>
            <a:pathLst>
              <a:path w="72" h="0">
                <a:moveTo>
                  <a:pt x="0" y="0"/>
                </a:moveTo>
                <a:lnTo>
                  <a:pt x="72" y="0"/>
                </a:lnTo>
              </a:path>
            </a:pathLst>
          </a:custGeom>
          <a:noFill/>
          <a:ln w="1020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3" name="post_state_next_row_04"/>
          <p:cNvSpPr/>
          <p:nvPr/>
        </p:nvSpPr>
        <p:spPr>
          <a:xfrm>
            <a:off x="11285771" y="1709772"/>
            <a:ext cx="459342" cy="0"/>
          </a:xfrm>
          <a:custGeom>
            <a:avLst/>
            <a:gdLst/>
            <a:ahLst/>
            <a:cxnLst/>
            <a:rect l="l" t="t" r="r" b="b"/>
            <a:pathLst>
              <a:path w="72" h="0">
                <a:moveTo>
                  <a:pt x="0" y="0"/>
                </a:moveTo>
                <a:lnTo>
                  <a:pt x="72" y="0"/>
                </a:lnTo>
              </a:path>
            </a:pathLst>
          </a:custGeom>
          <a:noFill/>
          <a:ln w="1020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4" name="post_state_next_row_05"/>
          <p:cNvSpPr/>
          <p:nvPr/>
        </p:nvSpPr>
        <p:spPr>
          <a:xfrm>
            <a:off x="11285771" y="1964962"/>
            <a:ext cx="459342" cy="0"/>
          </a:xfrm>
          <a:custGeom>
            <a:avLst/>
            <a:gdLst/>
            <a:ahLst/>
            <a:cxnLst/>
            <a:rect l="l" t="t" r="r" b="b"/>
            <a:pathLst>
              <a:path w="72" h="0">
                <a:moveTo>
                  <a:pt x="0" y="0"/>
                </a:moveTo>
                <a:lnTo>
                  <a:pt x="72" y="0"/>
                </a:lnTo>
              </a:path>
            </a:pathLst>
          </a:custGeom>
          <a:noFill/>
          <a:ln w="1020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5" name="post_state_next_row_06"/>
          <p:cNvSpPr/>
          <p:nvPr/>
        </p:nvSpPr>
        <p:spPr>
          <a:xfrm>
            <a:off x="11285771" y="2220152"/>
            <a:ext cx="459342" cy="0"/>
          </a:xfrm>
          <a:custGeom>
            <a:avLst/>
            <a:gdLst/>
            <a:ahLst/>
            <a:cxnLst/>
            <a:rect l="l" t="t" r="r" b="b"/>
            <a:pathLst>
              <a:path w="72" h="0">
                <a:moveTo>
                  <a:pt x="0" y="0"/>
                </a:moveTo>
                <a:lnTo>
                  <a:pt x="72" y="0"/>
                </a:lnTo>
              </a:path>
            </a:pathLst>
          </a:custGeom>
          <a:noFill/>
          <a:ln w="1020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6" name="post_state_next_row_07"/>
          <p:cNvSpPr/>
          <p:nvPr/>
        </p:nvSpPr>
        <p:spPr>
          <a:xfrm>
            <a:off x="11285771" y="2475342"/>
            <a:ext cx="459342" cy="0"/>
          </a:xfrm>
          <a:custGeom>
            <a:avLst/>
            <a:gdLst/>
            <a:ahLst/>
            <a:cxnLst/>
            <a:rect l="l" t="t" r="r" b="b"/>
            <a:pathLst>
              <a:path w="72" h="0">
                <a:moveTo>
                  <a:pt x="0" y="0"/>
                </a:moveTo>
                <a:lnTo>
                  <a:pt x="72" y="0"/>
                </a:lnTo>
              </a:path>
            </a:pathLst>
          </a:custGeom>
          <a:noFill/>
          <a:ln w="1020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7" name="post_state_next_row_08"/>
          <p:cNvSpPr/>
          <p:nvPr/>
        </p:nvSpPr>
        <p:spPr>
          <a:xfrm>
            <a:off x="11285771" y="2730531"/>
            <a:ext cx="459342" cy="0"/>
          </a:xfrm>
          <a:custGeom>
            <a:avLst/>
            <a:gdLst/>
            <a:ahLst/>
            <a:cxnLst/>
            <a:rect l="l" t="t" r="r" b="b"/>
            <a:pathLst>
              <a:path w="72" h="0">
                <a:moveTo>
                  <a:pt x="0" y="0"/>
                </a:moveTo>
                <a:lnTo>
                  <a:pt x="72" y="0"/>
                </a:lnTo>
              </a:path>
            </a:pathLst>
          </a:custGeom>
          <a:noFill/>
          <a:ln w="1020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8" name="post_state_next_row_09"/>
          <p:cNvSpPr/>
          <p:nvPr/>
        </p:nvSpPr>
        <p:spPr>
          <a:xfrm>
            <a:off x="11285771" y="2985721"/>
            <a:ext cx="459342" cy="0"/>
          </a:xfrm>
          <a:custGeom>
            <a:avLst/>
            <a:gdLst/>
            <a:ahLst/>
            <a:cxnLst/>
            <a:rect l="l" t="t" r="r" b="b"/>
            <a:pathLst>
              <a:path w="72" h="0">
                <a:moveTo>
                  <a:pt x="0" y="0"/>
                </a:moveTo>
                <a:lnTo>
                  <a:pt x="72" y="0"/>
                </a:lnTo>
              </a:path>
            </a:pathLst>
          </a:custGeom>
          <a:noFill/>
          <a:ln w="1020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9" name="post_state_next_row_10"/>
          <p:cNvSpPr/>
          <p:nvPr/>
        </p:nvSpPr>
        <p:spPr>
          <a:xfrm>
            <a:off x="11285771" y="3240911"/>
            <a:ext cx="459342" cy="0"/>
          </a:xfrm>
          <a:custGeom>
            <a:avLst/>
            <a:gdLst/>
            <a:ahLst/>
            <a:cxnLst/>
            <a:rect l="l" t="t" r="r" b="b"/>
            <a:pathLst>
              <a:path w="72" h="0">
                <a:moveTo>
                  <a:pt x="0" y="0"/>
                </a:moveTo>
                <a:lnTo>
                  <a:pt x="72" y="0"/>
                </a:lnTo>
              </a:path>
            </a:pathLst>
          </a:custGeom>
          <a:noFill/>
          <a:ln w="1020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0" name="post_state_next_base"/>
          <p:cNvSpPr txBox="1"/>
          <p:nvPr/>
        </p:nvSpPr>
        <p:spPr>
          <a:xfrm>
            <a:off x="11209214" y="1824607"/>
            <a:ext cx="344506" cy="5869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365" b="1" i="0">
                <a:solidFill>
                  <a:srgbClr val="000000"/>
                </a:solidFill>
                <a:latin typeface="Liberation Serif"/>
              </a:rPr>
              <a:t>z</a:t>
            </a:r>
          </a:p>
        </p:txBody>
      </p:sp>
      <p:sp>
        <p:nvSpPr>
          <p:cNvPr id="271" name="post_state_next_super"/>
          <p:cNvSpPr txBox="1"/>
          <p:nvPr/>
        </p:nvSpPr>
        <p:spPr>
          <a:xfrm>
            <a:off x="11483543" y="1779949"/>
            <a:ext cx="344506" cy="2807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6" b="0" i="1">
                <a:solidFill>
                  <a:srgbClr val="000000"/>
                </a:solidFill>
                <a:latin typeface="Liberation Serif"/>
              </a:rPr>
              <a:t>t+1</a:t>
            </a:r>
          </a:p>
        </p:txBody>
      </p:sp>
      <p:sp>
        <p:nvSpPr>
          <p:cNvPr id="272" name="post_activation_vertical"/>
          <p:cNvSpPr txBox="1"/>
          <p:nvPr/>
        </p:nvSpPr>
        <p:spPr>
          <a:xfrm>
            <a:off x="11770631" y="657113"/>
            <a:ext cx="216911" cy="28645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5" b="0" i="0">
                <a:solidFill>
                  <a:srgbClr val="000000"/>
                </a:solidFill>
                <a:latin typeface="Liberation Sans"/>
              </a:rPr>
              <a:t>P
O
S
T
-
A
C
T
I
V
A
T
I
O
N
S</a:t>
            </a:r>
          </a:p>
        </p:txBody>
      </p:sp>
      <p:sp>
        <p:nvSpPr>
          <p:cNvPr id="273" name="badge_4"/>
          <p:cNvSpPr/>
          <p:nvPr/>
        </p:nvSpPr>
        <p:spPr>
          <a:xfrm>
            <a:off x="10698834" y="976101"/>
            <a:ext cx="510379" cy="510379"/>
          </a:xfrm>
          <a:prstGeom prst="ellipse">
            <a:avLst/>
          </a:prstGeom>
          <a:solidFill>
            <a:srgbClr val="FFE22A"/>
          </a:solidFill>
          <a:ln w="31898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4" name="badge_4_label"/>
          <p:cNvSpPr txBox="1"/>
          <p:nvPr/>
        </p:nvSpPr>
        <p:spPr>
          <a:xfrm>
            <a:off x="10698834" y="982480"/>
            <a:ext cx="510379" cy="5103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61" b="0" i="0">
                <a:solidFill>
                  <a:srgbClr val="000000"/>
                </a:solidFill>
                <a:latin typeface="Liberation Sans"/>
              </a:rPr>
              <a:t>4</a:t>
            </a:r>
          </a:p>
        </p:txBody>
      </p:sp>
      <p:sp>
        <p:nvSpPr>
          <p:cNvPr id="275" name="internal_tick"/>
          <p:cNvSpPr txBox="1"/>
          <p:nvPr/>
        </p:nvSpPr>
        <p:spPr>
          <a:xfrm>
            <a:off x="6634936" y="3630075"/>
            <a:ext cx="5167594" cy="3445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57" b="0" i="0">
                <a:solidFill>
                  <a:srgbClr val="000000"/>
                </a:solidFill>
                <a:latin typeface="Liberation Sans"/>
              </a:rPr>
              <a:t>t o   n e x t   i n t e r n a l   t i c k</a:t>
            </a:r>
          </a:p>
        </p:txBody>
      </p:sp>
      <p:sp>
        <p:nvSpPr>
          <p:cNvPr id="276" name="next_to_history_shaft"/>
          <p:cNvSpPr/>
          <p:nvPr/>
        </p:nvSpPr>
        <p:spPr>
          <a:xfrm>
            <a:off x="11030581" y="3534379"/>
            <a:ext cx="484861" cy="1084557"/>
          </a:xfrm>
          <a:custGeom>
            <a:avLst/>
            <a:gdLst/>
            <a:ahLst/>
            <a:cxnLst/>
            <a:rect l="l" t="t" r="r" b="b"/>
            <a:pathLst>
              <a:path w="76" h="170">
                <a:moveTo>
                  <a:pt x="76" y="0"/>
                </a:moveTo>
                <a:lnTo>
                  <a:pt x="76" y="65"/>
                </a:lnTo>
                <a:lnTo>
                  <a:pt x="0" y="65"/>
                </a:lnTo>
                <a:lnTo>
                  <a:pt x="0" y="170"/>
                </a:lnTo>
              </a:path>
            </a:pathLst>
          </a:custGeom>
          <a:noFill/>
          <a:ln w="25518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7" name="next_to_history_head"/>
          <p:cNvSpPr/>
          <p:nvPr/>
        </p:nvSpPr>
        <p:spPr>
          <a:xfrm>
            <a:off x="10966784" y="4504101"/>
            <a:ext cx="127595" cy="114835"/>
          </a:xfrm>
          <a:custGeom>
            <a:avLst/>
            <a:gdLst/>
            <a:ahLst/>
            <a:cxnLst/>
            <a:rect l="l" t="t" r="r" b="b"/>
            <a:pathLst>
              <a:path w="20" h="18">
                <a:moveTo>
                  <a:pt x="10" y="18"/>
                </a:moveTo>
                <a:lnTo>
                  <a:pt x="0" y="0"/>
                </a:lnTo>
                <a:lnTo>
                  <a:pt x="20" y="0"/>
                </a:lnTo>
                <a:close/>
              </a:path>
            </a:pathLst>
          </a:custGeom>
          <a:solidFill>
            <a:srgbClr val="000000"/>
          </a:solidFill>
          <a:ln w="637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8" name="post_history_stack_top"/>
          <p:cNvSpPr/>
          <p:nvPr/>
        </p:nvSpPr>
        <p:spPr>
          <a:xfrm>
            <a:off x="10494683" y="4350987"/>
            <a:ext cx="1537519" cy="267949"/>
          </a:xfrm>
          <a:custGeom>
            <a:avLst/>
            <a:gdLst/>
            <a:ahLst/>
            <a:cxnLst/>
            <a:rect l="l" t="t" r="r" b="b"/>
            <a:pathLst>
              <a:path w="241" h="42">
                <a:moveTo>
                  <a:pt x="0" y="42"/>
                </a:moveTo>
                <a:lnTo>
                  <a:pt x="42" y="0"/>
                </a:lnTo>
                <a:lnTo>
                  <a:pt x="241" y="0"/>
                </a:lnTo>
                <a:lnTo>
                  <a:pt x="199" y="42"/>
                </a:lnTo>
                <a:close/>
              </a:path>
            </a:pathLst>
          </a:custGeom>
          <a:solidFill>
            <a:srgbClr val="D7D7D7"/>
          </a:solidFill>
          <a:ln w="14035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9" name="post_history_stack_side"/>
          <p:cNvSpPr/>
          <p:nvPr/>
        </p:nvSpPr>
        <p:spPr>
          <a:xfrm>
            <a:off x="11764252" y="4350987"/>
            <a:ext cx="267949" cy="3291949"/>
          </a:xfrm>
          <a:custGeom>
            <a:avLst/>
            <a:gdLst/>
            <a:ahLst/>
            <a:cxnLst/>
            <a:rect l="l" t="t" r="r" b="b"/>
            <a:pathLst>
              <a:path w="42" h="516">
                <a:moveTo>
                  <a:pt x="0" y="42"/>
                </a:moveTo>
                <a:lnTo>
                  <a:pt x="42" y="0"/>
                </a:lnTo>
                <a:lnTo>
                  <a:pt x="42" y="474"/>
                </a:lnTo>
                <a:lnTo>
                  <a:pt x="0" y="516"/>
                </a:lnTo>
                <a:close/>
              </a:path>
            </a:pathLst>
          </a:custGeom>
          <a:solidFill>
            <a:srgbClr val="B8B8B8"/>
          </a:solidFill>
          <a:ln w="14035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0" name="post_history_stack_front"/>
          <p:cNvSpPr/>
          <p:nvPr/>
        </p:nvSpPr>
        <p:spPr>
          <a:xfrm>
            <a:off x="10494682" y="4618936"/>
            <a:ext cx="1269569" cy="3023999"/>
          </a:xfrm>
          <a:prstGeom prst="rect">
            <a:avLst/>
          </a:prstGeom>
          <a:solidFill>
            <a:srgbClr val="D7D7D7"/>
          </a:solidFill>
          <a:ln w="14035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1" name="post_history_stack_row_01"/>
          <p:cNvSpPr/>
          <p:nvPr/>
        </p:nvSpPr>
        <p:spPr>
          <a:xfrm>
            <a:off x="10494683" y="5122936"/>
            <a:ext cx="1269569" cy="0"/>
          </a:xfrm>
          <a:custGeom>
            <a:avLst/>
            <a:gdLst/>
            <a:ahLst/>
            <a:cxnLst/>
            <a:rect l="l" t="t" r="r" b="b"/>
            <a:pathLst>
              <a:path w="199" h="0">
                <a:moveTo>
                  <a:pt x="0" y="0"/>
                </a:moveTo>
                <a:lnTo>
                  <a:pt x="199" y="0"/>
                </a:lnTo>
              </a:path>
            </a:pathLst>
          </a:custGeom>
          <a:noFill/>
          <a:ln w="1020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2" name="post_history_stack_row_02"/>
          <p:cNvSpPr/>
          <p:nvPr/>
        </p:nvSpPr>
        <p:spPr>
          <a:xfrm>
            <a:off x="10494683" y="5626936"/>
            <a:ext cx="1269569" cy="0"/>
          </a:xfrm>
          <a:custGeom>
            <a:avLst/>
            <a:gdLst/>
            <a:ahLst/>
            <a:cxnLst/>
            <a:rect l="l" t="t" r="r" b="b"/>
            <a:pathLst>
              <a:path w="199" h="0">
                <a:moveTo>
                  <a:pt x="0" y="0"/>
                </a:moveTo>
                <a:lnTo>
                  <a:pt x="199" y="0"/>
                </a:lnTo>
              </a:path>
            </a:pathLst>
          </a:custGeom>
          <a:noFill/>
          <a:ln w="1020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3" name="post_history_stack_row_03"/>
          <p:cNvSpPr/>
          <p:nvPr/>
        </p:nvSpPr>
        <p:spPr>
          <a:xfrm>
            <a:off x="10494683" y="6130936"/>
            <a:ext cx="1269569" cy="0"/>
          </a:xfrm>
          <a:custGeom>
            <a:avLst/>
            <a:gdLst/>
            <a:ahLst/>
            <a:cxnLst/>
            <a:rect l="l" t="t" r="r" b="b"/>
            <a:pathLst>
              <a:path w="199" h="0">
                <a:moveTo>
                  <a:pt x="0" y="0"/>
                </a:moveTo>
                <a:lnTo>
                  <a:pt x="199" y="0"/>
                </a:lnTo>
              </a:path>
            </a:pathLst>
          </a:custGeom>
          <a:noFill/>
          <a:ln w="1020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4" name="post_history_stack_row_04"/>
          <p:cNvSpPr/>
          <p:nvPr/>
        </p:nvSpPr>
        <p:spPr>
          <a:xfrm>
            <a:off x="10494683" y="6634936"/>
            <a:ext cx="1269569" cy="0"/>
          </a:xfrm>
          <a:custGeom>
            <a:avLst/>
            <a:gdLst/>
            <a:ahLst/>
            <a:cxnLst/>
            <a:rect l="l" t="t" r="r" b="b"/>
            <a:pathLst>
              <a:path w="199" h="0">
                <a:moveTo>
                  <a:pt x="0" y="0"/>
                </a:moveTo>
                <a:lnTo>
                  <a:pt x="199" y="0"/>
                </a:lnTo>
              </a:path>
            </a:pathLst>
          </a:custGeom>
          <a:noFill/>
          <a:ln w="1020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5" name="post_history_stack_row_05"/>
          <p:cNvSpPr/>
          <p:nvPr/>
        </p:nvSpPr>
        <p:spPr>
          <a:xfrm>
            <a:off x="10494683" y="7138936"/>
            <a:ext cx="1269569" cy="0"/>
          </a:xfrm>
          <a:custGeom>
            <a:avLst/>
            <a:gdLst/>
            <a:ahLst/>
            <a:cxnLst/>
            <a:rect l="l" t="t" r="r" b="b"/>
            <a:pathLst>
              <a:path w="199" h="0">
                <a:moveTo>
                  <a:pt x="0" y="0"/>
                </a:moveTo>
                <a:lnTo>
                  <a:pt x="199" y="0"/>
                </a:lnTo>
              </a:path>
            </a:pathLst>
          </a:custGeom>
          <a:noFill/>
          <a:ln w="1020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6" name="post_history_wave_upper"/>
          <p:cNvSpPr/>
          <p:nvPr/>
        </p:nvSpPr>
        <p:spPr>
          <a:xfrm>
            <a:off x="8070379" y="5046379"/>
            <a:ext cx="2711392" cy="663494"/>
          </a:xfrm>
          <a:custGeom>
            <a:avLst/>
            <a:gdLst/>
            <a:ahLst/>
            <a:cxnLst/>
            <a:rect l="l" t="t" r="r" b="b"/>
            <a:pathLst>
              <a:path w="425" h="104">
                <a:moveTo>
                  <a:pt x="0" y="52"/>
                </a:moveTo>
                <a:lnTo>
                  <a:pt x="4" y="64"/>
                </a:lnTo>
                <a:lnTo>
                  <a:pt x="9" y="73"/>
                </a:lnTo>
                <a:lnTo>
                  <a:pt x="13" y="80"/>
                </a:lnTo>
                <a:lnTo>
                  <a:pt x="17" y="83"/>
                </a:lnTo>
                <a:lnTo>
                  <a:pt x="21" y="82"/>
                </a:lnTo>
                <a:lnTo>
                  <a:pt x="25" y="79"/>
                </a:lnTo>
                <a:lnTo>
                  <a:pt x="30" y="74"/>
                </a:lnTo>
                <a:lnTo>
                  <a:pt x="34" y="67"/>
                </a:lnTo>
                <a:lnTo>
                  <a:pt x="38" y="61"/>
                </a:lnTo>
                <a:lnTo>
                  <a:pt x="43" y="54"/>
                </a:lnTo>
                <a:lnTo>
                  <a:pt x="47" y="48"/>
                </a:lnTo>
                <a:lnTo>
                  <a:pt x="51" y="42"/>
                </a:lnTo>
                <a:lnTo>
                  <a:pt x="55" y="36"/>
                </a:lnTo>
                <a:lnTo>
                  <a:pt x="59" y="29"/>
                </a:lnTo>
                <a:lnTo>
                  <a:pt x="64" y="21"/>
                </a:lnTo>
                <a:lnTo>
                  <a:pt x="68" y="14"/>
                </a:lnTo>
                <a:lnTo>
                  <a:pt x="72" y="7"/>
                </a:lnTo>
                <a:lnTo>
                  <a:pt x="77" y="2"/>
                </a:lnTo>
                <a:lnTo>
                  <a:pt x="81" y="1"/>
                </a:lnTo>
                <a:lnTo>
                  <a:pt x="85" y="3"/>
                </a:lnTo>
                <a:lnTo>
                  <a:pt x="89" y="10"/>
                </a:lnTo>
                <a:lnTo>
                  <a:pt x="93" y="21"/>
                </a:lnTo>
                <a:lnTo>
                  <a:pt x="98" y="35"/>
                </a:lnTo>
                <a:lnTo>
                  <a:pt x="102" y="51"/>
                </a:lnTo>
                <a:lnTo>
                  <a:pt x="106" y="67"/>
                </a:lnTo>
                <a:lnTo>
                  <a:pt x="111" y="81"/>
                </a:lnTo>
                <a:lnTo>
                  <a:pt x="115" y="92"/>
                </a:lnTo>
                <a:lnTo>
                  <a:pt x="119" y="97"/>
                </a:lnTo>
                <a:lnTo>
                  <a:pt x="123" y="97"/>
                </a:lnTo>
                <a:lnTo>
                  <a:pt x="127" y="92"/>
                </a:lnTo>
                <a:lnTo>
                  <a:pt x="132" y="84"/>
                </a:lnTo>
                <a:lnTo>
                  <a:pt x="136" y="73"/>
                </a:lnTo>
                <a:lnTo>
                  <a:pt x="140" y="62"/>
                </a:lnTo>
                <a:lnTo>
                  <a:pt x="145" y="51"/>
                </a:lnTo>
                <a:lnTo>
                  <a:pt x="149" y="42"/>
                </a:lnTo>
                <a:lnTo>
                  <a:pt x="153" y="34"/>
                </a:lnTo>
                <a:lnTo>
                  <a:pt x="157" y="27"/>
                </a:lnTo>
                <a:lnTo>
                  <a:pt x="161" y="21"/>
                </a:lnTo>
                <a:lnTo>
                  <a:pt x="166" y="15"/>
                </a:lnTo>
                <a:lnTo>
                  <a:pt x="170" y="10"/>
                </a:lnTo>
                <a:lnTo>
                  <a:pt x="174" y="5"/>
                </a:lnTo>
                <a:lnTo>
                  <a:pt x="179" y="2"/>
                </a:lnTo>
                <a:lnTo>
                  <a:pt x="183" y="0"/>
                </a:lnTo>
                <a:lnTo>
                  <a:pt x="187" y="2"/>
                </a:lnTo>
                <a:lnTo>
                  <a:pt x="191" y="8"/>
                </a:lnTo>
                <a:lnTo>
                  <a:pt x="195" y="19"/>
                </a:lnTo>
                <a:lnTo>
                  <a:pt x="200" y="32"/>
                </a:lnTo>
                <a:lnTo>
                  <a:pt x="204" y="49"/>
                </a:lnTo>
                <a:lnTo>
                  <a:pt x="208" y="66"/>
                </a:lnTo>
                <a:lnTo>
                  <a:pt x="213" y="82"/>
                </a:lnTo>
                <a:lnTo>
                  <a:pt x="217" y="95"/>
                </a:lnTo>
                <a:lnTo>
                  <a:pt x="221" y="102"/>
                </a:lnTo>
                <a:lnTo>
                  <a:pt x="225" y="104"/>
                </a:lnTo>
                <a:lnTo>
                  <a:pt x="229" y="100"/>
                </a:lnTo>
                <a:lnTo>
                  <a:pt x="234" y="90"/>
                </a:lnTo>
                <a:lnTo>
                  <a:pt x="238" y="78"/>
                </a:lnTo>
                <a:lnTo>
                  <a:pt x="242" y="63"/>
                </a:lnTo>
                <a:lnTo>
                  <a:pt x="247" y="49"/>
                </a:lnTo>
                <a:lnTo>
                  <a:pt x="251" y="36"/>
                </a:lnTo>
                <a:lnTo>
                  <a:pt x="255" y="26"/>
                </a:lnTo>
                <a:lnTo>
                  <a:pt x="259" y="19"/>
                </a:lnTo>
                <a:lnTo>
                  <a:pt x="263" y="14"/>
                </a:lnTo>
                <a:lnTo>
                  <a:pt x="268" y="11"/>
                </a:lnTo>
                <a:lnTo>
                  <a:pt x="272" y="9"/>
                </a:lnTo>
                <a:lnTo>
                  <a:pt x="276" y="8"/>
                </a:lnTo>
                <a:lnTo>
                  <a:pt x="281" y="8"/>
                </a:lnTo>
                <a:lnTo>
                  <a:pt x="285" y="8"/>
                </a:lnTo>
                <a:lnTo>
                  <a:pt x="289" y="11"/>
                </a:lnTo>
                <a:lnTo>
                  <a:pt x="293" y="16"/>
                </a:lnTo>
                <a:lnTo>
                  <a:pt x="297" y="24"/>
                </a:lnTo>
                <a:lnTo>
                  <a:pt x="302" y="34"/>
                </a:lnTo>
                <a:lnTo>
                  <a:pt x="306" y="47"/>
                </a:lnTo>
                <a:lnTo>
                  <a:pt x="310" y="62"/>
                </a:lnTo>
                <a:lnTo>
                  <a:pt x="315" y="76"/>
                </a:lnTo>
                <a:lnTo>
                  <a:pt x="319" y="87"/>
                </a:lnTo>
                <a:lnTo>
                  <a:pt x="323" y="96"/>
                </a:lnTo>
                <a:lnTo>
                  <a:pt x="327" y="99"/>
                </a:lnTo>
                <a:lnTo>
                  <a:pt x="331" y="96"/>
                </a:lnTo>
                <a:lnTo>
                  <a:pt x="336" y="89"/>
                </a:lnTo>
                <a:lnTo>
                  <a:pt x="340" y="77"/>
                </a:lnTo>
                <a:lnTo>
                  <a:pt x="344" y="63"/>
                </a:lnTo>
                <a:lnTo>
                  <a:pt x="349" y="49"/>
                </a:lnTo>
                <a:lnTo>
                  <a:pt x="353" y="36"/>
                </a:lnTo>
                <a:lnTo>
                  <a:pt x="357" y="25"/>
                </a:lnTo>
                <a:lnTo>
                  <a:pt x="361" y="17"/>
                </a:lnTo>
                <a:lnTo>
                  <a:pt x="365" y="13"/>
                </a:lnTo>
                <a:lnTo>
                  <a:pt x="370" y="11"/>
                </a:lnTo>
                <a:lnTo>
                  <a:pt x="374" y="12"/>
                </a:lnTo>
                <a:lnTo>
                  <a:pt x="378" y="14"/>
                </a:lnTo>
                <a:lnTo>
                  <a:pt x="383" y="16"/>
                </a:lnTo>
                <a:lnTo>
                  <a:pt x="387" y="19"/>
                </a:lnTo>
                <a:lnTo>
                  <a:pt x="391" y="23"/>
                </a:lnTo>
                <a:lnTo>
                  <a:pt x="395" y="27"/>
                </a:lnTo>
                <a:lnTo>
                  <a:pt x="399" y="33"/>
                </a:lnTo>
                <a:lnTo>
                  <a:pt x="404" y="40"/>
                </a:lnTo>
                <a:lnTo>
                  <a:pt x="408" y="48"/>
                </a:lnTo>
                <a:lnTo>
                  <a:pt x="412" y="57"/>
                </a:lnTo>
                <a:lnTo>
                  <a:pt x="417" y="66"/>
                </a:lnTo>
                <a:lnTo>
                  <a:pt x="421" y="75"/>
                </a:lnTo>
                <a:lnTo>
                  <a:pt x="425" y="81"/>
                </a:lnTo>
              </a:path>
            </a:pathLst>
          </a:custGeom>
          <a:noFill/>
          <a:ln w="44658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7" name="post_history_wave_lower"/>
          <p:cNvSpPr/>
          <p:nvPr/>
        </p:nvSpPr>
        <p:spPr>
          <a:xfrm>
            <a:off x="7993822" y="6424404"/>
            <a:ext cx="2800709" cy="389165"/>
          </a:xfrm>
          <a:custGeom>
            <a:avLst/>
            <a:gdLst/>
            <a:ahLst/>
            <a:cxnLst/>
            <a:rect l="l" t="t" r="r" b="b"/>
            <a:pathLst>
              <a:path w="439" h="61">
                <a:moveTo>
                  <a:pt x="0" y="39"/>
                </a:moveTo>
                <a:lnTo>
                  <a:pt x="4" y="45"/>
                </a:lnTo>
                <a:lnTo>
                  <a:pt x="9" y="51"/>
                </a:lnTo>
                <a:lnTo>
                  <a:pt x="13" y="54"/>
                </a:lnTo>
                <a:lnTo>
                  <a:pt x="18" y="56"/>
                </a:lnTo>
                <a:lnTo>
                  <a:pt x="22" y="55"/>
                </a:lnTo>
                <a:lnTo>
                  <a:pt x="26" y="53"/>
                </a:lnTo>
                <a:lnTo>
                  <a:pt x="31" y="50"/>
                </a:lnTo>
                <a:lnTo>
                  <a:pt x="35" y="46"/>
                </a:lnTo>
                <a:lnTo>
                  <a:pt x="40" y="41"/>
                </a:lnTo>
                <a:lnTo>
                  <a:pt x="44" y="35"/>
                </a:lnTo>
                <a:lnTo>
                  <a:pt x="48" y="31"/>
                </a:lnTo>
                <a:lnTo>
                  <a:pt x="53" y="26"/>
                </a:lnTo>
                <a:lnTo>
                  <a:pt x="57" y="22"/>
                </a:lnTo>
                <a:lnTo>
                  <a:pt x="61" y="19"/>
                </a:lnTo>
                <a:lnTo>
                  <a:pt x="66" y="16"/>
                </a:lnTo>
                <a:lnTo>
                  <a:pt x="70" y="13"/>
                </a:lnTo>
                <a:lnTo>
                  <a:pt x="75" y="10"/>
                </a:lnTo>
                <a:lnTo>
                  <a:pt x="79" y="7"/>
                </a:lnTo>
                <a:lnTo>
                  <a:pt x="83" y="5"/>
                </a:lnTo>
                <a:lnTo>
                  <a:pt x="88" y="3"/>
                </a:lnTo>
                <a:lnTo>
                  <a:pt x="92" y="1"/>
                </a:lnTo>
                <a:lnTo>
                  <a:pt x="97" y="0"/>
                </a:lnTo>
                <a:lnTo>
                  <a:pt x="101" y="1"/>
                </a:lnTo>
                <a:lnTo>
                  <a:pt x="105" y="2"/>
                </a:lnTo>
                <a:lnTo>
                  <a:pt x="110" y="6"/>
                </a:lnTo>
                <a:lnTo>
                  <a:pt x="114" y="11"/>
                </a:lnTo>
                <a:lnTo>
                  <a:pt x="119" y="17"/>
                </a:lnTo>
                <a:lnTo>
                  <a:pt x="123" y="25"/>
                </a:lnTo>
                <a:lnTo>
                  <a:pt x="127" y="33"/>
                </a:lnTo>
                <a:lnTo>
                  <a:pt x="132" y="41"/>
                </a:lnTo>
                <a:lnTo>
                  <a:pt x="136" y="48"/>
                </a:lnTo>
                <a:lnTo>
                  <a:pt x="140" y="54"/>
                </a:lnTo>
                <a:lnTo>
                  <a:pt x="145" y="58"/>
                </a:lnTo>
                <a:lnTo>
                  <a:pt x="149" y="60"/>
                </a:lnTo>
                <a:lnTo>
                  <a:pt x="154" y="60"/>
                </a:lnTo>
                <a:lnTo>
                  <a:pt x="158" y="57"/>
                </a:lnTo>
                <a:lnTo>
                  <a:pt x="162" y="53"/>
                </a:lnTo>
                <a:lnTo>
                  <a:pt x="167" y="47"/>
                </a:lnTo>
                <a:lnTo>
                  <a:pt x="171" y="41"/>
                </a:lnTo>
                <a:lnTo>
                  <a:pt x="176" y="34"/>
                </a:lnTo>
                <a:lnTo>
                  <a:pt x="180" y="27"/>
                </a:lnTo>
                <a:lnTo>
                  <a:pt x="184" y="21"/>
                </a:lnTo>
                <a:lnTo>
                  <a:pt x="189" y="16"/>
                </a:lnTo>
                <a:lnTo>
                  <a:pt x="193" y="12"/>
                </a:lnTo>
                <a:lnTo>
                  <a:pt x="198" y="9"/>
                </a:lnTo>
                <a:lnTo>
                  <a:pt x="202" y="7"/>
                </a:lnTo>
                <a:lnTo>
                  <a:pt x="206" y="6"/>
                </a:lnTo>
                <a:lnTo>
                  <a:pt x="211" y="4"/>
                </a:lnTo>
                <a:lnTo>
                  <a:pt x="215" y="4"/>
                </a:lnTo>
                <a:lnTo>
                  <a:pt x="219" y="3"/>
                </a:lnTo>
                <a:lnTo>
                  <a:pt x="224" y="3"/>
                </a:lnTo>
                <a:lnTo>
                  <a:pt x="228" y="3"/>
                </a:lnTo>
                <a:lnTo>
                  <a:pt x="233" y="4"/>
                </a:lnTo>
                <a:lnTo>
                  <a:pt x="237" y="6"/>
                </a:lnTo>
                <a:lnTo>
                  <a:pt x="241" y="10"/>
                </a:lnTo>
                <a:lnTo>
                  <a:pt x="246" y="14"/>
                </a:lnTo>
                <a:lnTo>
                  <a:pt x="250" y="20"/>
                </a:lnTo>
                <a:lnTo>
                  <a:pt x="255" y="27"/>
                </a:lnTo>
                <a:lnTo>
                  <a:pt x="259" y="34"/>
                </a:lnTo>
                <a:lnTo>
                  <a:pt x="263" y="42"/>
                </a:lnTo>
                <a:lnTo>
                  <a:pt x="268" y="49"/>
                </a:lnTo>
                <a:lnTo>
                  <a:pt x="272" y="55"/>
                </a:lnTo>
                <a:lnTo>
                  <a:pt x="277" y="59"/>
                </a:lnTo>
                <a:lnTo>
                  <a:pt x="281" y="61"/>
                </a:lnTo>
                <a:lnTo>
                  <a:pt x="285" y="61"/>
                </a:lnTo>
                <a:lnTo>
                  <a:pt x="290" y="58"/>
                </a:lnTo>
                <a:lnTo>
                  <a:pt x="294" y="53"/>
                </a:lnTo>
                <a:lnTo>
                  <a:pt x="299" y="47"/>
                </a:lnTo>
                <a:lnTo>
                  <a:pt x="303" y="40"/>
                </a:lnTo>
                <a:lnTo>
                  <a:pt x="307" y="32"/>
                </a:lnTo>
                <a:lnTo>
                  <a:pt x="312" y="25"/>
                </a:lnTo>
                <a:lnTo>
                  <a:pt x="316" y="18"/>
                </a:lnTo>
                <a:lnTo>
                  <a:pt x="320" y="12"/>
                </a:lnTo>
                <a:lnTo>
                  <a:pt x="325" y="8"/>
                </a:lnTo>
                <a:lnTo>
                  <a:pt x="329" y="5"/>
                </a:lnTo>
                <a:lnTo>
                  <a:pt x="334" y="3"/>
                </a:lnTo>
                <a:lnTo>
                  <a:pt x="338" y="3"/>
                </a:lnTo>
                <a:lnTo>
                  <a:pt x="342" y="3"/>
                </a:lnTo>
                <a:lnTo>
                  <a:pt x="347" y="4"/>
                </a:lnTo>
                <a:lnTo>
                  <a:pt x="351" y="5"/>
                </a:lnTo>
                <a:lnTo>
                  <a:pt x="356" y="6"/>
                </a:lnTo>
                <a:lnTo>
                  <a:pt x="360" y="8"/>
                </a:lnTo>
                <a:lnTo>
                  <a:pt x="364" y="10"/>
                </a:lnTo>
                <a:lnTo>
                  <a:pt x="369" y="13"/>
                </a:lnTo>
                <a:lnTo>
                  <a:pt x="373" y="16"/>
                </a:lnTo>
                <a:lnTo>
                  <a:pt x="378" y="19"/>
                </a:lnTo>
                <a:lnTo>
                  <a:pt x="382" y="24"/>
                </a:lnTo>
                <a:lnTo>
                  <a:pt x="386" y="29"/>
                </a:lnTo>
                <a:lnTo>
                  <a:pt x="391" y="35"/>
                </a:lnTo>
                <a:lnTo>
                  <a:pt x="395" y="41"/>
                </a:lnTo>
                <a:lnTo>
                  <a:pt x="399" y="47"/>
                </a:lnTo>
                <a:lnTo>
                  <a:pt x="404" y="52"/>
                </a:lnTo>
                <a:lnTo>
                  <a:pt x="408" y="55"/>
                </a:lnTo>
                <a:lnTo>
                  <a:pt x="413" y="57"/>
                </a:lnTo>
                <a:lnTo>
                  <a:pt x="417" y="57"/>
                </a:lnTo>
                <a:lnTo>
                  <a:pt x="421" y="55"/>
                </a:lnTo>
                <a:lnTo>
                  <a:pt x="426" y="51"/>
                </a:lnTo>
                <a:lnTo>
                  <a:pt x="430" y="45"/>
                </a:lnTo>
                <a:lnTo>
                  <a:pt x="435" y="38"/>
                </a:lnTo>
                <a:lnTo>
                  <a:pt x="439" y="30"/>
                </a:lnTo>
              </a:path>
            </a:pathLst>
          </a:custGeom>
          <a:noFill/>
          <a:ln w="31898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8" name="post_history_formula"/>
          <p:cNvSpPr txBox="1"/>
          <p:nvPr/>
        </p:nvSpPr>
        <p:spPr>
          <a:xfrm>
            <a:off x="8753011" y="5607796"/>
            <a:ext cx="669873" cy="64435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17" b="1" i="0">
                <a:solidFill>
                  <a:srgbClr val="000000"/>
                </a:solidFill>
                <a:latin typeface="Liberation Serif"/>
              </a:rPr>
              <a:t>zᵗ</a:t>
            </a:r>
          </a:p>
        </p:txBody>
      </p:sp>
      <p:sp>
        <p:nvSpPr>
          <p:cNvPr id="289" name="post_history_title"/>
          <p:cNvSpPr txBox="1"/>
          <p:nvPr/>
        </p:nvSpPr>
        <p:spPr>
          <a:xfrm>
            <a:off x="8644556" y="6960303"/>
            <a:ext cx="1901164" cy="4019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13" b="0" i="0">
                <a:solidFill>
                  <a:srgbClr val="000000"/>
                </a:solidFill>
                <a:latin typeface="Liberation Sans"/>
              </a:rPr>
              <a:t>HISTORY</a:t>
            </a:r>
          </a:p>
        </p:txBody>
      </p:sp>
      <p:sp>
        <p:nvSpPr>
          <p:cNvPr id="290" name="post_history_subtitle"/>
          <p:cNvSpPr txBox="1"/>
          <p:nvPr/>
        </p:nvSpPr>
        <p:spPr>
          <a:xfrm>
            <a:off x="8491442" y="7285670"/>
            <a:ext cx="1977721" cy="2743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7" b="0" i="0">
                <a:solidFill>
                  <a:srgbClr val="000000"/>
                </a:solidFill>
                <a:latin typeface="Liberation Sans"/>
              </a:rPr>
              <a:t>(post-activations)</a:t>
            </a:r>
          </a:p>
        </p:txBody>
      </p:sp>
      <p:sp>
        <p:nvSpPr>
          <p:cNvPr id="291" name="badge_5"/>
          <p:cNvSpPr/>
          <p:nvPr/>
        </p:nvSpPr>
        <p:spPr>
          <a:xfrm>
            <a:off x="9690834" y="5633315"/>
            <a:ext cx="497620" cy="497620"/>
          </a:xfrm>
          <a:prstGeom prst="ellipse">
            <a:avLst/>
          </a:prstGeom>
          <a:solidFill>
            <a:srgbClr val="FFE22A"/>
          </a:solidFill>
          <a:ln w="31898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2" name="badge_5_label"/>
          <p:cNvSpPr txBox="1"/>
          <p:nvPr/>
        </p:nvSpPr>
        <p:spPr>
          <a:xfrm>
            <a:off x="9690834" y="5639695"/>
            <a:ext cx="497620" cy="4976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61" b="0" i="0">
                <a:solidFill>
                  <a:srgbClr val="000000"/>
                </a:solidFill>
                <a:latin typeface="Liberation Sans"/>
              </a:rPr>
              <a:t>5</a:t>
            </a:r>
          </a:p>
        </p:txBody>
      </p:sp>
      <p:sp>
        <p:nvSpPr>
          <p:cNvPr id="293" name="sync_title"/>
          <p:cNvSpPr txBox="1"/>
          <p:nvPr/>
        </p:nvSpPr>
        <p:spPr>
          <a:xfrm>
            <a:off x="3713012" y="4261670"/>
            <a:ext cx="4912404" cy="5103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66" b="0" i="0">
                <a:solidFill>
                  <a:srgbClr val="000000"/>
                </a:solidFill>
                <a:latin typeface="Liberation Sans"/>
              </a:rPr>
              <a:t>SYNCHRONISATION</a:t>
            </a:r>
          </a:p>
        </p:txBody>
      </p:sp>
      <p:sp>
        <p:nvSpPr>
          <p:cNvPr id="294" name="sync_panel_glow"/>
          <p:cNvSpPr/>
          <p:nvPr/>
        </p:nvSpPr>
        <p:spPr>
          <a:xfrm>
            <a:off x="3228151" y="4931543"/>
            <a:ext cx="5346227" cy="2290328"/>
          </a:xfrm>
          <a:prstGeom prst="rect">
            <a:avLst/>
          </a:prstGeom>
          <a:noFill/>
          <a:ln w="70177">
            <a:solidFill>
              <a:srgbClr val="B7F6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5" name="sync_panel"/>
          <p:cNvSpPr/>
          <p:nvPr/>
        </p:nvSpPr>
        <p:spPr>
          <a:xfrm>
            <a:off x="3228151" y="4931543"/>
            <a:ext cx="5346227" cy="2290328"/>
          </a:xfrm>
          <a:prstGeom prst="rect">
            <a:avLst/>
          </a:prstGeom>
          <a:noFill/>
          <a:ln w="191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6" name="selection_grid_front"/>
          <p:cNvSpPr/>
          <p:nvPr/>
        </p:nvSpPr>
        <p:spPr>
          <a:xfrm>
            <a:off x="3368505" y="5148455"/>
            <a:ext cx="1926683" cy="1926683"/>
          </a:xfrm>
          <a:prstGeom prst="rect">
            <a:avLst/>
          </a:prstGeom>
          <a:solidFill>
            <a:srgbClr val="D7D7D7"/>
          </a:solidFill>
          <a:ln w="14035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7" name="selection_grid_row_01"/>
          <p:cNvSpPr/>
          <p:nvPr/>
        </p:nvSpPr>
        <p:spPr>
          <a:xfrm>
            <a:off x="3368506" y="5626936"/>
            <a:ext cx="1926683" cy="0"/>
          </a:xfrm>
          <a:custGeom>
            <a:avLst/>
            <a:gdLst/>
            <a:ahLst/>
            <a:cxnLst/>
            <a:rect l="l" t="t" r="r" b="b"/>
            <a:pathLst>
              <a:path w="302" h="0">
                <a:moveTo>
                  <a:pt x="0" y="0"/>
                </a:moveTo>
                <a:lnTo>
                  <a:pt x="302" y="0"/>
                </a:lnTo>
              </a:path>
            </a:pathLst>
          </a:custGeom>
          <a:noFill/>
          <a:ln w="1020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8" name="selection_grid_row_02"/>
          <p:cNvSpPr/>
          <p:nvPr/>
        </p:nvSpPr>
        <p:spPr>
          <a:xfrm>
            <a:off x="3368506" y="6111797"/>
            <a:ext cx="1926683" cy="0"/>
          </a:xfrm>
          <a:custGeom>
            <a:avLst/>
            <a:gdLst/>
            <a:ahLst/>
            <a:cxnLst/>
            <a:rect l="l" t="t" r="r" b="b"/>
            <a:pathLst>
              <a:path w="302" h="0">
                <a:moveTo>
                  <a:pt x="0" y="0"/>
                </a:moveTo>
                <a:lnTo>
                  <a:pt x="302" y="0"/>
                </a:lnTo>
              </a:path>
            </a:pathLst>
          </a:custGeom>
          <a:noFill/>
          <a:ln w="1020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9" name="selection_grid_row_03"/>
          <p:cNvSpPr/>
          <p:nvPr/>
        </p:nvSpPr>
        <p:spPr>
          <a:xfrm>
            <a:off x="3368506" y="6596658"/>
            <a:ext cx="1926683" cy="0"/>
          </a:xfrm>
          <a:custGeom>
            <a:avLst/>
            <a:gdLst/>
            <a:ahLst/>
            <a:cxnLst/>
            <a:rect l="l" t="t" r="r" b="b"/>
            <a:pathLst>
              <a:path w="302" h="0">
                <a:moveTo>
                  <a:pt x="0" y="0"/>
                </a:moveTo>
                <a:lnTo>
                  <a:pt x="302" y="0"/>
                </a:lnTo>
              </a:path>
            </a:pathLst>
          </a:custGeom>
          <a:noFill/>
          <a:ln w="1020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0" name="selection_grid_col_01"/>
          <p:cNvSpPr/>
          <p:nvPr/>
        </p:nvSpPr>
        <p:spPr>
          <a:xfrm>
            <a:off x="3853367" y="5148455"/>
            <a:ext cx="0" cy="1926683"/>
          </a:xfrm>
          <a:custGeom>
            <a:avLst/>
            <a:gdLst/>
            <a:ahLst/>
            <a:cxnLst/>
            <a:rect l="l" t="t" r="r" b="b"/>
            <a:pathLst>
              <a:path w="0" h="302">
                <a:moveTo>
                  <a:pt x="0" y="0"/>
                </a:moveTo>
                <a:lnTo>
                  <a:pt x="0" y="302"/>
                </a:lnTo>
              </a:path>
            </a:pathLst>
          </a:custGeom>
          <a:noFill/>
          <a:ln w="1020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1" name="selection_grid_col_02"/>
          <p:cNvSpPr/>
          <p:nvPr/>
        </p:nvSpPr>
        <p:spPr>
          <a:xfrm>
            <a:off x="4331848" y="5148455"/>
            <a:ext cx="0" cy="1926683"/>
          </a:xfrm>
          <a:custGeom>
            <a:avLst/>
            <a:gdLst/>
            <a:ahLst/>
            <a:cxnLst/>
            <a:rect l="l" t="t" r="r" b="b"/>
            <a:pathLst>
              <a:path w="0" h="302">
                <a:moveTo>
                  <a:pt x="0" y="0"/>
                </a:moveTo>
                <a:lnTo>
                  <a:pt x="0" y="302"/>
                </a:lnTo>
              </a:path>
            </a:pathLst>
          </a:custGeom>
          <a:noFill/>
          <a:ln w="1020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2" name="selection_grid_col_03"/>
          <p:cNvSpPr/>
          <p:nvPr/>
        </p:nvSpPr>
        <p:spPr>
          <a:xfrm>
            <a:off x="4810329" y="5148455"/>
            <a:ext cx="0" cy="1926683"/>
          </a:xfrm>
          <a:custGeom>
            <a:avLst/>
            <a:gdLst/>
            <a:ahLst/>
            <a:cxnLst/>
            <a:rect l="l" t="t" r="r" b="b"/>
            <a:pathLst>
              <a:path w="0" h="302">
                <a:moveTo>
                  <a:pt x="0" y="0"/>
                </a:moveTo>
                <a:lnTo>
                  <a:pt x="0" y="302"/>
                </a:lnTo>
              </a:path>
            </a:pathLst>
          </a:custGeom>
          <a:noFill/>
          <a:ln w="1020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3" name="selected_sync_cell"/>
          <p:cNvSpPr/>
          <p:nvPr/>
        </p:nvSpPr>
        <p:spPr>
          <a:xfrm>
            <a:off x="4325467" y="5633315"/>
            <a:ext cx="484860" cy="478480"/>
          </a:xfrm>
          <a:prstGeom prst="rect">
            <a:avLst/>
          </a:prstGeom>
          <a:solidFill>
            <a:srgbClr val="13E8A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4" name="selection_step_highlight"/>
          <p:cNvSpPr/>
          <p:nvPr/>
        </p:nvSpPr>
        <p:spPr>
          <a:xfrm>
            <a:off x="3291949" y="5097417"/>
            <a:ext cx="1996861" cy="2041519"/>
          </a:xfrm>
          <a:custGeom>
            <a:avLst/>
            <a:gdLst/>
            <a:ahLst/>
            <a:cxnLst/>
            <a:rect l="l" t="t" r="r" b="b"/>
            <a:pathLst>
              <a:path w="313" h="320">
                <a:moveTo>
                  <a:pt x="0" y="0"/>
                </a:moveTo>
                <a:lnTo>
                  <a:pt x="313" y="0"/>
                </a:lnTo>
                <a:lnTo>
                  <a:pt x="313" y="320"/>
                </a:lnTo>
                <a:lnTo>
                  <a:pt x="225" y="320"/>
                </a:lnTo>
                <a:lnTo>
                  <a:pt x="225" y="237"/>
                </a:lnTo>
                <a:lnTo>
                  <a:pt x="149" y="237"/>
                </a:lnTo>
                <a:lnTo>
                  <a:pt x="149" y="159"/>
                </a:lnTo>
                <a:lnTo>
                  <a:pt x="73" y="159"/>
                </a:lnTo>
                <a:lnTo>
                  <a:pt x="73" y="83"/>
                </a:lnTo>
                <a:lnTo>
                  <a:pt x="0" y="83"/>
                </a:lnTo>
                <a:lnTo>
                  <a:pt x="0" y="0"/>
                </a:lnTo>
              </a:path>
            </a:pathLst>
          </a:custGeom>
          <a:noFill/>
          <a:ln w="76556">
            <a:solidFill>
              <a:srgbClr val="47F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5" name="selection_step_outline"/>
          <p:cNvSpPr/>
          <p:nvPr/>
        </p:nvSpPr>
        <p:spPr>
          <a:xfrm>
            <a:off x="3291949" y="5097417"/>
            <a:ext cx="1996861" cy="2041519"/>
          </a:xfrm>
          <a:custGeom>
            <a:avLst/>
            <a:gdLst/>
            <a:ahLst/>
            <a:cxnLst/>
            <a:rect l="l" t="t" r="r" b="b"/>
            <a:pathLst>
              <a:path w="313" h="320">
                <a:moveTo>
                  <a:pt x="0" y="0"/>
                </a:moveTo>
                <a:lnTo>
                  <a:pt x="313" y="0"/>
                </a:lnTo>
                <a:lnTo>
                  <a:pt x="313" y="320"/>
                </a:lnTo>
                <a:lnTo>
                  <a:pt x="225" y="320"/>
                </a:lnTo>
                <a:lnTo>
                  <a:pt x="225" y="237"/>
                </a:lnTo>
                <a:lnTo>
                  <a:pt x="149" y="237"/>
                </a:lnTo>
                <a:lnTo>
                  <a:pt x="149" y="159"/>
                </a:lnTo>
                <a:lnTo>
                  <a:pt x="73" y="159"/>
                </a:lnTo>
                <a:lnTo>
                  <a:pt x="73" y="83"/>
                </a:lnTo>
                <a:lnTo>
                  <a:pt x="0" y="83"/>
                </a:lnTo>
                <a:lnTo>
                  <a:pt x="0" y="0"/>
                </a:lnTo>
              </a:path>
            </a:pathLst>
          </a:custGeom>
          <a:noFill/>
          <a:ln w="14035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6" name="selection_formula"/>
          <p:cNvSpPr txBox="1"/>
          <p:nvPr/>
        </p:nvSpPr>
        <p:spPr>
          <a:xfrm>
            <a:off x="4146835" y="5212252"/>
            <a:ext cx="778329" cy="63797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67" b="1" i="0">
                <a:solidFill>
                  <a:srgbClr val="000000"/>
                </a:solidFill>
                <a:latin typeface="Liberation Serif"/>
              </a:rPr>
              <a:t>Sᵗ</a:t>
            </a:r>
          </a:p>
        </p:txBody>
      </p:sp>
      <p:sp>
        <p:nvSpPr>
          <p:cNvPr id="307" name="sync_chevron"/>
          <p:cNvSpPr/>
          <p:nvPr/>
        </p:nvSpPr>
        <p:spPr>
          <a:xfrm>
            <a:off x="5607797" y="5173974"/>
            <a:ext cx="2003240" cy="1716152"/>
          </a:xfrm>
          <a:custGeom>
            <a:avLst/>
            <a:gdLst/>
            <a:ahLst/>
            <a:cxnLst/>
            <a:rect l="l" t="t" r="r" b="b"/>
            <a:pathLst>
              <a:path w="314" h="269">
                <a:moveTo>
                  <a:pt x="0" y="0"/>
                </a:moveTo>
                <a:lnTo>
                  <a:pt x="56" y="103"/>
                </a:lnTo>
                <a:lnTo>
                  <a:pt x="0" y="206"/>
                </a:lnTo>
                <a:lnTo>
                  <a:pt x="0" y="269"/>
                </a:lnTo>
                <a:lnTo>
                  <a:pt x="314" y="269"/>
                </a:lnTo>
              </a:path>
            </a:pathLst>
          </a:custGeom>
          <a:noFill/>
          <a:ln w="7017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8" name="sync_bracket_top"/>
          <p:cNvSpPr/>
          <p:nvPr/>
        </p:nvSpPr>
        <p:spPr>
          <a:xfrm>
            <a:off x="5786430" y="5180354"/>
            <a:ext cx="1837367" cy="376405"/>
          </a:xfrm>
          <a:custGeom>
            <a:avLst/>
            <a:gdLst/>
            <a:ahLst/>
            <a:cxnLst/>
            <a:rect l="l" t="t" r="r" b="b"/>
            <a:pathLst>
              <a:path w="288" h="59">
                <a:moveTo>
                  <a:pt x="0" y="0"/>
                </a:moveTo>
                <a:lnTo>
                  <a:pt x="288" y="0"/>
                </a:lnTo>
                <a:lnTo>
                  <a:pt x="288" y="59"/>
                </a:lnTo>
              </a:path>
            </a:pathLst>
          </a:custGeom>
          <a:noFill/>
          <a:ln w="7017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9" name="sync_bracket_right"/>
          <p:cNvSpPr/>
          <p:nvPr/>
        </p:nvSpPr>
        <p:spPr>
          <a:xfrm>
            <a:off x="7630176" y="6622177"/>
            <a:ext cx="0" cy="280709"/>
          </a:xfrm>
          <a:custGeom>
            <a:avLst/>
            <a:gdLst/>
            <a:ahLst/>
            <a:cxnLst/>
            <a:rect l="l" t="t" r="r" b="b"/>
            <a:pathLst>
              <a:path w="0" h="44">
                <a:moveTo>
                  <a:pt x="0" y="0"/>
                </a:moveTo>
                <a:lnTo>
                  <a:pt x="0" y="44"/>
                </a:lnTo>
              </a:path>
            </a:pathLst>
          </a:custGeom>
          <a:noFill/>
          <a:ln w="7017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0" name="synchrony_line_00"/>
          <p:cNvSpPr/>
          <p:nvPr/>
        </p:nvSpPr>
        <p:spPr>
          <a:xfrm>
            <a:off x="5671594" y="5416405"/>
            <a:ext cx="0" cy="1371645"/>
          </a:xfrm>
          <a:custGeom>
            <a:avLst/>
            <a:gdLst/>
            <a:ahLst/>
            <a:cxnLst/>
            <a:rect l="l" t="t" r="r" b="b"/>
            <a:pathLst>
              <a:path w="0" h="215">
                <a:moveTo>
                  <a:pt x="0" y="0"/>
                </a:moveTo>
                <a:lnTo>
                  <a:pt x="0" y="215"/>
                </a:lnTo>
              </a:path>
            </a:pathLst>
          </a:custGeom>
          <a:noFill/>
          <a:ln w="17863">
            <a:solidFill>
              <a:srgbClr val="54F3A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1" name="synchrony_line_01"/>
          <p:cNvSpPr/>
          <p:nvPr/>
        </p:nvSpPr>
        <p:spPr>
          <a:xfrm>
            <a:off x="5767291" y="5416405"/>
            <a:ext cx="0" cy="1371645"/>
          </a:xfrm>
          <a:custGeom>
            <a:avLst/>
            <a:gdLst/>
            <a:ahLst/>
            <a:cxnLst/>
            <a:rect l="l" t="t" r="r" b="b"/>
            <a:pathLst>
              <a:path w="0" h="215">
                <a:moveTo>
                  <a:pt x="0" y="0"/>
                </a:moveTo>
                <a:lnTo>
                  <a:pt x="0" y="215"/>
                </a:lnTo>
              </a:path>
            </a:pathLst>
          </a:custGeom>
          <a:noFill/>
          <a:ln w="17863">
            <a:solidFill>
              <a:srgbClr val="54F3A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2" name="synchrony_line_02"/>
          <p:cNvSpPr/>
          <p:nvPr/>
        </p:nvSpPr>
        <p:spPr>
          <a:xfrm>
            <a:off x="5869367" y="5416405"/>
            <a:ext cx="0" cy="1371645"/>
          </a:xfrm>
          <a:custGeom>
            <a:avLst/>
            <a:gdLst/>
            <a:ahLst/>
            <a:cxnLst/>
            <a:rect l="l" t="t" r="r" b="b"/>
            <a:pathLst>
              <a:path w="0" h="215">
                <a:moveTo>
                  <a:pt x="0" y="0"/>
                </a:moveTo>
                <a:lnTo>
                  <a:pt x="0" y="215"/>
                </a:lnTo>
              </a:path>
            </a:pathLst>
          </a:custGeom>
          <a:noFill/>
          <a:ln w="17863">
            <a:solidFill>
              <a:srgbClr val="54F3A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3" name="synchrony_line_03"/>
          <p:cNvSpPr/>
          <p:nvPr/>
        </p:nvSpPr>
        <p:spPr>
          <a:xfrm>
            <a:off x="5971442" y="5416405"/>
            <a:ext cx="0" cy="1371645"/>
          </a:xfrm>
          <a:custGeom>
            <a:avLst/>
            <a:gdLst/>
            <a:ahLst/>
            <a:cxnLst/>
            <a:rect l="l" t="t" r="r" b="b"/>
            <a:pathLst>
              <a:path w="0" h="215">
                <a:moveTo>
                  <a:pt x="0" y="0"/>
                </a:moveTo>
                <a:lnTo>
                  <a:pt x="0" y="215"/>
                </a:lnTo>
              </a:path>
            </a:pathLst>
          </a:custGeom>
          <a:noFill/>
          <a:ln w="17863">
            <a:solidFill>
              <a:srgbClr val="54F3A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4" name="synchrony_line_04"/>
          <p:cNvSpPr/>
          <p:nvPr/>
        </p:nvSpPr>
        <p:spPr>
          <a:xfrm>
            <a:off x="6067139" y="5416405"/>
            <a:ext cx="0" cy="1371645"/>
          </a:xfrm>
          <a:custGeom>
            <a:avLst/>
            <a:gdLst/>
            <a:ahLst/>
            <a:cxnLst/>
            <a:rect l="l" t="t" r="r" b="b"/>
            <a:pathLst>
              <a:path w="0" h="215">
                <a:moveTo>
                  <a:pt x="0" y="0"/>
                </a:moveTo>
                <a:lnTo>
                  <a:pt x="0" y="215"/>
                </a:lnTo>
              </a:path>
            </a:pathLst>
          </a:custGeom>
          <a:noFill/>
          <a:ln w="17863">
            <a:solidFill>
              <a:srgbClr val="54F3A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5" name="synchrony_line_05"/>
          <p:cNvSpPr/>
          <p:nvPr/>
        </p:nvSpPr>
        <p:spPr>
          <a:xfrm>
            <a:off x="6162835" y="5416405"/>
            <a:ext cx="0" cy="1371645"/>
          </a:xfrm>
          <a:custGeom>
            <a:avLst/>
            <a:gdLst/>
            <a:ahLst/>
            <a:cxnLst/>
            <a:rect l="l" t="t" r="r" b="b"/>
            <a:pathLst>
              <a:path w="0" h="215">
                <a:moveTo>
                  <a:pt x="0" y="0"/>
                </a:moveTo>
                <a:lnTo>
                  <a:pt x="0" y="215"/>
                </a:lnTo>
              </a:path>
            </a:pathLst>
          </a:custGeom>
          <a:noFill/>
          <a:ln w="17863">
            <a:solidFill>
              <a:srgbClr val="54F3A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6" name="synchrony_line_06"/>
          <p:cNvSpPr/>
          <p:nvPr/>
        </p:nvSpPr>
        <p:spPr>
          <a:xfrm>
            <a:off x="6264911" y="5416405"/>
            <a:ext cx="0" cy="1371645"/>
          </a:xfrm>
          <a:custGeom>
            <a:avLst/>
            <a:gdLst/>
            <a:ahLst/>
            <a:cxnLst/>
            <a:rect l="l" t="t" r="r" b="b"/>
            <a:pathLst>
              <a:path w="0" h="215">
                <a:moveTo>
                  <a:pt x="0" y="0"/>
                </a:moveTo>
                <a:lnTo>
                  <a:pt x="0" y="215"/>
                </a:lnTo>
              </a:path>
            </a:pathLst>
          </a:custGeom>
          <a:noFill/>
          <a:ln w="17863">
            <a:solidFill>
              <a:srgbClr val="54F3A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7" name="synchrony_line_07"/>
          <p:cNvSpPr/>
          <p:nvPr/>
        </p:nvSpPr>
        <p:spPr>
          <a:xfrm>
            <a:off x="6366987" y="5416405"/>
            <a:ext cx="0" cy="1371645"/>
          </a:xfrm>
          <a:custGeom>
            <a:avLst/>
            <a:gdLst/>
            <a:ahLst/>
            <a:cxnLst/>
            <a:rect l="l" t="t" r="r" b="b"/>
            <a:pathLst>
              <a:path w="0" h="215">
                <a:moveTo>
                  <a:pt x="0" y="0"/>
                </a:moveTo>
                <a:lnTo>
                  <a:pt x="0" y="215"/>
                </a:lnTo>
              </a:path>
            </a:pathLst>
          </a:custGeom>
          <a:noFill/>
          <a:ln w="17863">
            <a:solidFill>
              <a:srgbClr val="54F3A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8" name="synchrony_line_08"/>
          <p:cNvSpPr/>
          <p:nvPr/>
        </p:nvSpPr>
        <p:spPr>
          <a:xfrm>
            <a:off x="6462683" y="5416405"/>
            <a:ext cx="0" cy="1371645"/>
          </a:xfrm>
          <a:custGeom>
            <a:avLst/>
            <a:gdLst/>
            <a:ahLst/>
            <a:cxnLst/>
            <a:rect l="l" t="t" r="r" b="b"/>
            <a:pathLst>
              <a:path w="0" h="215">
                <a:moveTo>
                  <a:pt x="0" y="0"/>
                </a:moveTo>
                <a:lnTo>
                  <a:pt x="0" y="215"/>
                </a:lnTo>
              </a:path>
            </a:pathLst>
          </a:custGeom>
          <a:noFill/>
          <a:ln w="17863">
            <a:solidFill>
              <a:srgbClr val="54F3A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9" name="synchrony_line_09"/>
          <p:cNvSpPr/>
          <p:nvPr/>
        </p:nvSpPr>
        <p:spPr>
          <a:xfrm>
            <a:off x="6558379" y="5416405"/>
            <a:ext cx="0" cy="1371645"/>
          </a:xfrm>
          <a:custGeom>
            <a:avLst/>
            <a:gdLst/>
            <a:ahLst/>
            <a:cxnLst/>
            <a:rect l="l" t="t" r="r" b="b"/>
            <a:pathLst>
              <a:path w="0" h="215">
                <a:moveTo>
                  <a:pt x="0" y="0"/>
                </a:moveTo>
                <a:lnTo>
                  <a:pt x="0" y="215"/>
                </a:lnTo>
              </a:path>
            </a:pathLst>
          </a:custGeom>
          <a:noFill/>
          <a:ln w="17863">
            <a:solidFill>
              <a:srgbClr val="54F3A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0" name="synchrony_line_10"/>
          <p:cNvSpPr/>
          <p:nvPr/>
        </p:nvSpPr>
        <p:spPr>
          <a:xfrm>
            <a:off x="6660455" y="5416405"/>
            <a:ext cx="0" cy="1371645"/>
          </a:xfrm>
          <a:custGeom>
            <a:avLst/>
            <a:gdLst/>
            <a:ahLst/>
            <a:cxnLst/>
            <a:rect l="l" t="t" r="r" b="b"/>
            <a:pathLst>
              <a:path w="0" h="215">
                <a:moveTo>
                  <a:pt x="0" y="0"/>
                </a:moveTo>
                <a:lnTo>
                  <a:pt x="0" y="215"/>
                </a:lnTo>
              </a:path>
            </a:pathLst>
          </a:custGeom>
          <a:noFill/>
          <a:ln w="17863">
            <a:solidFill>
              <a:srgbClr val="54F3A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1" name="synchrony_line_11"/>
          <p:cNvSpPr/>
          <p:nvPr/>
        </p:nvSpPr>
        <p:spPr>
          <a:xfrm>
            <a:off x="6762531" y="5416405"/>
            <a:ext cx="0" cy="1371645"/>
          </a:xfrm>
          <a:custGeom>
            <a:avLst/>
            <a:gdLst/>
            <a:ahLst/>
            <a:cxnLst/>
            <a:rect l="l" t="t" r="r" b="b"/>
            <a:pathLst>
              <a:path w="0" h="215">
                <a:moveTo>
                  <a:pt x="0" y="0"/>
                </a:moveTo>
                <a:lnTo>
                  <a:pt x="0" y="215"/>
                </a:lnTo>
              </a:path>
            </a:pathLst>
          </a:custGeom>
          <a:noFill/>
          <a:ln w="17863">
            <a:solidFill>
              <a:srgbClr val="54F3A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2" name="synchrony_line_12"/>
          <p:cNvSpPr/>
          <p:nvPr/>
        </p:nvSpPr>
        <p:spPr>
          <a:xfrm>
            <a:off x="6858227" y="5416405"/>
            <a:ext cx="0" cy="1371645"/>
          </a:xfrm>
          <a:custGeom>
            <a:avLst/>
            <a:gdLst/>
            <a:ahLst/>
            <a:cxnLst/>
            <a:rect l="l" t="t" r="r" b="b"/>
            <a:pathLst>
              <a:path w="0" h="215">
                <a:moveTo>
                  <a:pt x="0" y="0"/>
                </a:moveTo>
                <a:lnTo>
                  <a:pt x="0" y="215"/>
                </a:lnTo>
              </a:path>
            </a:pathLst>
          </a:custGeom>
          <a:noFill/>
          <a:ln w="17863">
            <a:solidFill>
              <a:srgbClr val="54F3A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3" name="synchrony_line_13"/>
          <p:cNvSpPr/>
          <p:nvPr/>
        </p:nvSpPr>
        <p:spPr>
          <a:xfrm>
            <a:off x="6953923" y="5416405"/>
            <a:ext cx="0" cy="1371645"/>
          </a:xfrm>
          <a:custGeom>
            <a:avLst/>
            <a:gdLst/>
            <a:ahLst/>
            <a:cxnLst/>
            <a:rect l="l" t="t" r="r" b="b"/>
            <a:pathLst>
              <a:path w="0" h="215">
                <a:moveTo>
                  <a:pt x="0" y="0"/>
                </a:moveTo>
                <a:lnTo>
                  <a:pt x="0" y="215"/>
                </a:lnTo>
              </a:path>
            </a:pathLst>
          </a:custGeom>
          <a:noFill/>
          <a:ln w="17863">
            <a:solidFill>
              <a:srgbClr val="54F3A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4" name="synchrony_line_14"/>
          <p:cNvSpPr/>
          <p:nvPr/>
        </p:nvSpPr>
        <p:spPr>
          <a:xfrm>
            <a:off x="7055999" y="5416405"/>
            <a:ext cx="0" cy="1371645"/>
          </a:xfrm>
          <a:custGeom>
            <a:avLst/>
            <a:gdLst/>
            <a:ahLst/>
            <a:cxnLst/>
            <a:rect l="l" t="t" r="r" b="b"/>
            <a:pathLst>
              <a:path w="0" h="215">
                <a:moveTo>
                  <a:pt x="0" y="0"/>
                </a:moveTo>
                <a:lnTo>
                  <a:pt x="0" y="215"/>
                </a:lnTo>
              </a:path>
            </a:pathLst>
          </a:custGeom>
          <a:noFill/>
          <a:ln w="17863">
            <a:solidFill>
              <a:srgbClr val="54F3A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5" name="synchrony_line_15"/>
          <p:cNvSpPr/>
          <p:nvPr/>
        </p:nvSpPr>
        <p:spPr>
          <a:xfrm>
            <a:off x="7158075" y="5416405"/>
            <a:ext cx="0" cy="1371645"/>
          </a:xfrm>
          <a:custGeom>
            <a:avLst/>
            <a:gdLst/>
            <a:ahLst/>
            <a:cxnLst/>
            <a:rect l="l" t="t" r="r" b="b"/>
            <a:pathLst>
              <a:path w="0" h="215">
                <a:moveTo>
                  <a:pt x="0" y="0"/>
                </a:moveTo>
                <a:lnTo>
                  <a:pt x="0" y="215"/>
                </a:lnTo>
              </a:path>
            </a:pathLst>
          </a:custGeom>
          <a:noFill/>
          <a:ln w="17863">
            <a:solidFill>
              <a:srgbClr val="54F3A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6" name="synchrony_line_16"/>
          <p:cNvSpPr/>
          <p:nvPr/>
        </p:nvSpPr>
        <p:spPr>
          <a:xfrm>
            <a:off x="7253771" y="5416405"/>
            <a:ext cx="0" cy="1371645"/>
          </a:xfrm>
          <a:custGeom>
            <a:avLst/>
            <a:gdLst/>
            <a:ahLst/>
            <a:cxnLst/>
            <a:rect l="l" t="t" r="r" b="b"/>
            <a:pathLst>
              <a:path w="0" h="215">
                <a:moveTo>
                  <a:pt x="0" y="0"/>
                </a:moveTo>
                <a:lnTo>
                  <a:pt x="0" y="215"/>
                </a:lnTo>
              </a:path>
            </a:pathLst>
          </a:custGeom>
          <a:noFill/>
          <a:ln w="17863">
            <a:solidFill>
              <a:srgbClr val="54F3A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7" name="synchrony_line_17"/>
          <p:cNvSpPr/>
          <p:nvPr/>
        </p:nvSpPr>
        <p:spPr>
          <a:xfrm>
            <a:off x="7349468" y="5416405"/>
            <a:ext cx="0" cy="1371645"/>
          </a:xfrm>
          <a:custGeom>
            <a:avLst/>
            <a:gdLst/>
            <a:ahLst/>
            <a:cxnLst/>
            <a:rect l="l" t="t" r="r" b="b"/>
            <a:pathLst>
              <a:path w="0" h="215">
                <a:moveTo>
                  <a:pt x="0" y="0"/>
                </a:moveTo>
                <a:lnTo>
                  <a:pt x="0" y="215"/>
                </a:lnTo>
              </a:path>
            </a:pathLst>
          </a:custGeom>
          <a:noFill/>
          <a:ln w="17863">
            <a:solidFill>
              <a:srgbClr val="54F3A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8" name="sync_wave_top"/>
          <p:cNvSpPr/>
          <p:nvPr/>
        </p:nvSpPr>
        <p:spPr>
          <a:xfrm>
            <a:off x="5665215" y="5563139"/>
            <a:ext cx="1811848" cy="389165"/>
          </a:xfrm>
          <a:custGeom>
            <a:avLst/>
            <a:gdLst/>
            <a:ahLst/>
            <a:cxnLst/>
            <a:rect l="l" t="t" r="r" b="b"/>
            <a:pathLst>
              <a:path w="284" h="61">
                <a:moveTo>
                  <a:pt x="0" y="37"/>
                </a:moveTo>
                <a:lnTo>
                  <a:pt x="3" y="46"/>
                </a:lnTo>
                <a:lnTo>
                  <a:pt x="6" y="51"/>
                </a:lnTo>
                <a:lnTo>
                  <a:pt x="9" y="51"/>
                </a:lnTo>
                <a:lnTo>
                  <a:pt x="11" y="47"/>
                </a:lnTo>
                <a:lnTo>
                  <a:pt x="14" y="40"/>
                </a:lnTo>
                <a:lnTo>
                  <a:pt x="17" y="33"/>
                </a:lnTo>
                <a:lnTo>
                  <a:pt x="20" y="27"/>
                </a:lnTo>
                <a:lnTo>
                  <a:pt x="23" y="22"/>
                </a:lnTo>
                <a:lnTo>
                  <a:pt x="26" y="17"/>
                </a:lnTo>
                <a:lnTo>
                  <a:pt x="28" y="13"/>
                </a:lnTo>
                <a:lnTo>
                  <a:pt x="31" y="9"/>
                </a:lnTo>
                <a:lnTo>
                  <a:pt x="34" y="6"/>
                </a:lnTo>
                <a:lnTo>
                  <a:pt x="37" y="7"/>
                </a:lnTo>
                <a:lnTo>
                  <a:pt x="40" y="12"/>
                </a:lnTo>
                <a:lnTo>
                  <a:pt x="43" y="22"/>
                </a:lnTo>
                <a:lnTo>
                  <a:pt x="45" y="34"/>
                </a:lnTo>
                <a:lnTo>
                  <a:pt x="48" y="46"/>
                </a:lnTo>
                <a:lnTo>
                  <a:pt x="51" y="55"/>
                </a:lnTo>
                <a:lnTo>
                  <a:pt x="54" y="57"/>
                </a:lnTo>
                <a:lnTo>
                  <a:pt x="57" y="54"/>
                </a:lnTo>
                <a:lnTo>
                  <a:pt x="60" y="46"/>
                </a:lnTo>
                <a:lnTo>
                  <a:pt x="62" y="35"/>
                </a:lnTo>
                <a:lnTo>
                  <a:pt x="65" y="25"/>
                </a:lnTo>
                <a:lnTo>
                  <a:pt x="68" y="18"/>
                </a:lnTo>
                <a:lnTo>
                  <a:pt x="71" y="13"/>
                </a:lnTo>
                <a:lnTo>
                  <a:pt x="74" y="10"/>
                </a:lnTo>
                <a:lnTo>
                  <a:pt x="77" y="8"/>
                </a:lnTo>
                <a:lnTo>
                  <a:pt x="80" y="7"/>
                </a:lnTo>
                <a:lnTo>
                  <a:pt x="82" y="7"/>
                </a:lnTo>
                <a:lnTo>
                  <a:pt x="85" y="11"/>
                </a:lnTo>
                <a:lnTo>
                  <a:pt x="88" y="18"/>
                </a:lnTo>
                <a:lnTo>
                  <a:pt x="91" y="30"/>
                </a:lnTo>
                <a:lnTo>
                  <a:pt x="94" y="43"/>
                </a:lnTo>
                <a:lnTo>
                  <a:pt x="97" y="54"/>
                </a:lnTo>
                <a:lnTo>
                  <a:pt x="99" y="61"/>
                </a:lnTo>
                <a:lnTo>
                  <a:pt x="102" y="60"/>
                </a:lnTo>
                <a:lnTo>
                  <a:pt x="105" y="52"/>
                </a:lnTo>
                <a:lnTo>
                  <a:pt x="108" y="40"/>
                </a:lnTo>
                <a:lnTo>
                  <a:pt x="111" y="27"/>
                </a:lnTo>
                <a:lnTo>
                  <a:pt x="114" y="16"/>
                </a:lnTo>
                <a:lnTo>
                  <a:pt x="116" y="9"/>
                </a:lnTo>
                <a:lnTo>
                  <a:pt x="119" y="6"/>
                </a:lnTo>
                <a:lnTo>
                  <a:pt x="122" y="5"/>
                </a:lnTo>
                <a:lnTo>
                  <a:pt x="125" y="7"/>
                </a:lnTo>
                <a:lnTo>
                  <a:pt x="128" y="9"/>
                </a:lnTo>
                <a:lnTo>
                  <a:pt x="131" y="13"/>
                </a:lnTo>
                <a:lnTo>
                  <a:pt x="133" y="19"/>
                </a:lnTo>
                <a:lnTo>
                  <a:pt x="136" y="27"/>
                </a:lnTo>
                <a:lnTo>
                  <a:pt x="139" y="39"/>
                </a:lnTo>
                <a:lnTo>
                  <a:pt x="142" y="50"/>
                </a:lnTo>
                <a:lnTo>
                  <a:pt x="145" y="59"/>
                </a:lnTo>
                <a:lnTo>
                  <a:pt x="148" y="61"/>
                </a:lnTo>
                <a:lnTo>
                  <a:pt x="151" y="57"/>
                </a:lnTo>
                <a:lnTo>
                  <a:pt x="153" y="46"/>
                </a:lnTo>
                <a:lnTo>
                  <a:pt x="156" y="32"/>
                </a:lnTo>
                <a:lnTo>
                  <a:pt x="159" y="18"/>
                </a:lnTo>
                <a:lnTo>
                  <a:pt x="162" y="7"/>
                </a:lnTo>
                <a:lnTo>
                  <a:pt x="165" y="2"/>
                </a:lnTo>
                <a:lnTo>
                  <a:pt x="168" y="2"/>
                </a:lnTo>
                <a:lnTo>
                  <a:pt x="170" y="6"/>
                </a:lnTo>
                <a:lnTo>
                  <a:pt x="173" y="11"/>
                </a:lnTo>
                <a:lnTo>
                  <a:pt x="176" y="16"/>
                </a:lnTo>
                <a:lnTo>
                  <a:pt x="179" y="21"/>
                </a:lnTo>
                <a:lnTo>
                  <a:pt x="182" y="28"/>
                </a:lnTo>
                <a:lnTo>
                  <a:pt x="185" y="36"/>
                </a:lnTo>
                <a:lnTo>
                  <a:pt x="187" y="45"/>
                </a:lnTo>
                <a:lnTo>
                  <a:pt x="190" y="53"/>
                </a:lnTo>
                <a:lnTo>
                  <a:pt x="193" y="58"/>
                </a:lnTo>
                <a:lnTo>
                  <a:pt x="196" y="57"/>
                </a:lnTo>
                <a:lnTo>
                  <a:pt x="199" y="49"/>
                </a:lnTo>
                <a:lnTo>
                  <a:pt x="202" y="37"/>
                </a:lnTo>
                <a:lnTo>
                  <a:pt x="204" y="23"/>
                </a:lnTo>
                <a:lnTo>
                  <a:pt x="207" y="10"/>
                </a:lnTo>
                <a:lnTo>
                  <a:pt x="210" y="2"/>
                </a:lnTo>
                <a:lnTo>
                  <a:pt x="213" y="0"/>
                </a:lnTo>
                <a:lnTo>
                  <a:pt x="216" y="4"/>
                </a:lnTo>
                <a:lnTo>
                  <a:pt x="219" y="10"/>
                </a:lnTo>
                <a:lnTo>
                  <a:pt x="222" y="18"/>
                </a:lnTo>
                <a:lnTo>
                  <a:pt x="224" y="24"/>
                </a:lnTo>
                <a:lnTo>
                  <a:pt x="227" y="30"/>
                </a:lnTo>
                <a:lnTo>
                  <a:pt x="230" y="36"/>
                </a:lnTo>
                <a:lnTo>
                  <a:pt x="233" y="41"/>
                </a:lnTo>
                <a:lnTo>
                  <a:pt x="236" y="47"/>
                </a:lnTo>
                <a:lnTo>
                  <a:pt x="239" y="51"/>
                </a:lnTo>
                <a:lnTo>
                  <a:pt x="241" y="52"/>
                </a:lnTo>
                <a:lnTo>
                  <a:pt x="244" y="48"/>
                </a:lnTo>
                <a:lnTo>
                  <a:pt x="247" y="40"/>
                </a:lnTo>
                <a:lnTo>
                  <a:pt x="250" y="28"/>
                </a:lnTo>
                <a:lnTo>
                  <a:pt x="253" y="16"/>
                </a:lnTo>
                <a:lnTo>
                  <a:pt x="256" y="6"/>
                </a:lnTo>
                <a:lnTo>
                  <a:pt x="258" y="2"/>
                </a:lnTo>
                <a:lnTo>
                  <a:pt x="261" y="3"/>
                </a:lnTo>
                <a:lnTo>
                  <a:pt x="264" y="9"/>
                </a:lnTo>
                <a:lnTo>
                  <a:pt x="267" y="17"/>
                </a:lnTo>
                <a:lnTo>
                  <a:pt x="270" y="25"/>
                </a:lnTo>
                <a:lnTo>
                  <a:pt x="273" y="32"/>
                </a:lnTo>
                <a:lnTo>
                  <a:pt x="275" y="37"/>
                </a:lnTo>
                <a:lnTo>
                  <a:pt x="278" y="40"/>
                </a:lnTo>
                <a:lnTo>
                  <a:pt x="281" y="43"/>
                </a:lnTo>
                <a:lnTo>
                  <a:pt x="284" y="45"/>
                </a:lnTo>
              </a:path>
            </a:pathLst>
          </a:custGeom>
          <a:noFill/>
          <a:ln w="25518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9" name="sync_wave_bottom"/>
          <p:cNvSpPr/>
          <p:nvPr/>
        </p:nvSpPr>
        <p:spPr>
          <a:xfrm>
            <a:off x="5665215" y="6418025"/>
            <a:ext cx="1811848" cy="395544"/>
          </a:xfrm>
          <a:custGeom>
            <a:avLst/>
            <a:gdLst/>
            <a:ahLst/>
            <a:cxnLst/>
            <a:rect l="l" t="t" r="r" b="b"/>
            <a:pathLst>
              <a:path w="284" h="62">
                <a:moveTo>
                  <a:pt x="0" y="35"/>
                </a:moveTo>
                <a:lnTo>
                  <a:pt x="3" y="45"/>
                </a:lnTo>
                <a:lnTo>
                  <a:pt x="6" y="52"/>
                </a:lnTo>
                <a:lnTo>
                  <a:pt x="9" y="55"/>
                </a:lnTo>
                <a:lnTo>
                  <a:pt x="11" y="54"/>
                </a:lnTo>
                <a:lnTo>
                  <a:pt x="14" y="50"/>
                </a:lnTo>
                <a:lnTo>
                  <a:pt x="17" y="44"/>
                </a:lnTo>
                <a:lnTo>
                  <a:pt x="20" y="38"/>
                </a:lnTo>
                <a:lnTo>
                  <a:pt x="23" y="32"/>
                </a:lnTo>
                <a:lnTo>
                  <a:pt x="26" y="27"/>
                </a:lnTo>
                <a:lnTo>
                  <a:pt x="28" y="22"/>
                </a:lnTo>
                <a:lnTo>
                  <a:pt x="31" y="17"/>
                </a:lnTo>
                <a:lnTo>
                  <a:pt x="34" y="12"/>
                </a:lnTo>
                <a:lnTo>
                  <a:pt x="37" y="7"/>
                </a:lnTo>
                <a:lnTo>
                  <a:pt x="40" y="2"/>
                </a:lnTo>
                <a:lnTo>
                  <a:pt x="43" y="0"/>
                </a:lnTo>
                <a:lnTo>
                  <a:pt x="45" y="0"/>
                </a:lnTo>
                <a:lnTo>
                  <a:pt x="48" y="5"/>
                </a:lnTo>
                <a:lnTo>
                  <a:pt x="51" y="13"/>
                </a:lnTo>
                <a:lnTo>
                  <a:pt x="54" y="24"/>
                </a:lnTo>
                <a:lnTo>
                  <a:pt x="57" y="36"/>
                </a:lnTo>
                <a:lnTo>
                  <a:pt x="60" y="48"/>
                </a:lnTo>
                <a:lnTo>
                  <a:pt x="62" y="56"/>
                </a:lnTo>
                <a:lnTo>
                  <a:pt x="65" y="59"/>
                </a:lnTo>
                <a:lnTo>
                  <a:pt x="68" y="58"/>
                </a:lnTo>
                <a:lnTo>
                  <a:pt x="71" y="53"/>
                </a:lnTo>
                <a:lnTo>
                  <a:pt x="74" y="45"/>
                </a:lnTo>
                <a:lnTo>
                  <a:pt x="77" y="36"/>
                </a:lnTo>
                <a:lnTo>
                  <a:pt x="80" y="28"/>
                </a:lnTo>
                <a:lnTo>
                  <a:pt x="82" y="21"/>
                </a:lnTo>
                <a:lnTo>
                  <a:pt x="85" y="16"/>
                </a:lnTo>
                <a:lnTo>
                  <a:pt x="88" y="12"/>
                </a:lnTo>
                <a:lnTo>
                  <a:pt x="91" y="8"/>
                </a:lnTo>
                <a:lnTo>
                  <a:pt x="94" y="5"/>
                </a:lnTo>
                <a:lnTo>
                  <a:pt x="97" y="3"/>
                </a:lnTo>
                <a:lnTo>
                  <a:pt x="99" y="2"/>
                </a:lnTo>
                <a:lnTo>
                  <a:pt x="102" y="3"/>
                </a:lnTo>
                <a:lnTo>
                  <a:pt x="105" y="8"/>
                </a:lnTo>
                <a:lnTo>
                  <a:pt x="108" y="15"/>
                </a:lnTo>
                <a:lnTo>
                  <a:pt x="111" y="26"/>
                </a:lnTo>
                <a:lnTo>
                  <a:pt x="114" y="38"/>
                </a:lnTo>
                <a:lnTo>
                  <a:pt x="116" y="49"/>
                </a:lnTo>
                <a:lnTo>
                  <a:pt x="119" y="58"/>
                </a:lnTo>
                <a:lnTo>
                  <a:pt x="122" y="62"/>
                </a:lnTo>
                <a:lnTo>
                  <a:pt x="125" y="61"/>
                </a:lnTo>
                <a:lnTo>
                  <a:pt x="128" y="55"/>
                </a:lnTo>
                <a:lnTo>
                  <a:pt x="131" y="46"/>
                </a:lnTo>
                <a:lnTo>
                  <a:pt x="133" y="35"/>
                </a:lnTo>
                <a:lnTo>
                  <a:pt x="136" y="24"/>
                </a:lnTo>
                <a:lnTo>
                  <a:pt x="139" y="16"/>
                </a:lnTo>
                <a:lnTo>
                  <a:pt x="142" y="10"/>
                </a:lnTo>
                <a:lnTo>
                  <a:pt x="145" y="6"/>
                </a:lnTo>
                <a:lnTo>
                  <a:pt x="148" y="5"/>
                </a:lnTo>
                <a:lnTo>
                  <a:pt x="151" y="4"/>
                </a:lnTo>
                <a:lnTo>
                  <a:pt x="153" y="5"/>
                </a:lnTo>
                <a:lnTo>
                  <a:pt x="156" y="6"/>
                </a:lnTo>
                <a:lnTo>
                  <a:pt x="159" y="8"/>
                </a:lnTo>
                <a:lnTo>
                  <a:pt x="162" y="12"/>
                </a:lnTo>
                <a:lnTo>
                  <a:pt x="165" y="19"/>
                </a:lnTo>
                <a:lnTo>
                  <a:pt x="168" y="28"/>
                </a:lnTo>
                <a:lnTo>
                  <a:pt x="170" y="39"/>
                </a:lnTo>
                <a:lnTo>
                  <a:pt x="173" y="49"/>
                </a:lnTo>
                <a:lnTo>
                  <a:pt x="176" y="57"/>
                </a:lnTo>
                <a:lnTo>
                  <a:pt x="179" y="61"/>
                </a:lnTo>
                <a:lnTo>
                  <a:pt x="182" y="61"/>
                </a:lnTo>
                <a:lnTo>
                  <a:pt x="185" y="55"/>
                </a:lnTo>
                <a:lnTo>
                  <a:pt x="187" y="45"/>
                </a:lnTo>
                <a:lnTo>
                  <a:pt x="190" y="33"/>
                </a:lnTo>
                <a:lnTo>
                  <a:pt x="193" y="22"/>
                </a:lnTo>
                <a:lnTo>
                  <a:pt x="196" y="12"/>
                </a:lnTo>
                <a:lnTo>
                  <a:pt x="199" y="5"/>
                </a:lnTo>
                <a:lnTo>
                  <a:pt x="202" y="2"/>
                </a:lnTo>
                <a:lnTo>
                  <a:pt x="204" y="2"/>
                </a:lnTo>
                <a:lnTo>
                  <a:pt x="207" y="4"/>
                </a:lnTo>
                <a:lnTo>
                  <a:pt x="210" y="7"/>
                </a:lnTo>
                <a:lnTo>
                  <a:pt x="213" y="10"/>
                </a:lnTo>
                <a:lnTo>
                  <a:pt x="216" y="14"/>
                </a:lnTo>
                <a:lnTo>
                  <a:pt x="219" y="18"/>
                </a:lnTo>
                <a:lnTo>
                  <a:pt x="222" y="24"/>
                </a:lnTo>
                <a:lnTo>
                  <a:pt x="224" y="31"/>
                </a:lnTo>
                <a:lnTo>
                  <a:pt x="227" y="40"/>
                </a:lnTo>
                <a:lnTo>
                  <a:pt x="230" y="48"/>
                </a:lnTo>
                <a:lnTo>
                  <a:pt x="233" y="55"/>
                </a:lnTo>
                <a:lnTo>
                  <a:pt x="236" y="58"/>
                </a:lnTo>
                <a:lnTo>
                  <a:pt x="239" y="58"/>
                </a:lnTo>
                <a:lnTo>
                  <a:pt x="241" y="53"/>
                </a:lnTo>
                <a:lnTo>
                  <a:pt x="244" y="43"/>
                </a:lnTo>
                <a:lnTo>
                  <a:pt x="247" y="32"/>
                </a:lnTo>
                <a:lnTo>
                  <a:pt x="250" y="20"/>
                </a:lnTo>
                <a:lnTo>
                  <a:pt x="253" y="10"/>
                </a:lnTo>
                <a:lnTo>
                  <a:pt x="256" y="3"/>
                </a:lnTo>
                <a:lnTo>
                  <a:pt x="258" y="0"/>
                </a:lnTo>
                <a:lnTo>
                  <a:pt x="261" y="1"/>
                </a:lnTo>
                <a:lnTo>
                  <a:pt x="264" y="4"/>
                </a:lnTo>
                <a:lnTo>
                  <a:pt x="267" y="9"/>
                </a:lnTo>
                <a:lnTo>
                  <a:pt x="270" y="14"/>
                </a:lnTo>
                <a:lnTo>
                  <a:pt x="273" y="20"/>
                </a:lnTo>
                <a:lnTo>
                  <a:pt x="275" y="24"/>
                </a:lnTo>
                <a:lnTo>
                  <a:pt x="278" y="29"/>
                </a:lnTo>
                <a:lnTo>
                  <a:pt x="281" y="34"/>
                </a:lnTo>
                <a:lnTo>
                  <a:pt x="284" y="40"/>
                </a:lnTo>
              </a:path>
            </a:pathLst>
          </a:custGeom>
          <a:noFill/>
          <a:ln w="2232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0" name="multiply_symbol"/>
          <p:cNvSpPr txBox="1"/>
          <p:nvPr/>
        </p:nvSpPr>
        <p:spPr>
          <a:xfrm>
            <a:off x="6411644" y="5824708"/>
            <a:ext cx="529518" cy="5996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817" b="0" i="0">
                <a:solidFill>
                  <a:srgbClr val="000000"/>
                </a:solidFill>
                <a:latin typeface="Liberation Sans"/>
              </a:rPr>
              <a:t>×</a:t>
            </a:r>
          </a:p>
        </p:txBody>
      </p:sp>
      <p:sp>
        <p:nvSpPr>
          <p:cNvPr id="331" name="equals_symbol"/>
          <p:cNvSpPr txBox="1"/>
          <p:nvPr/>
        </p:nvSpPr>
        <p:spPr>
          <a:xfrm>
            <a:off x="7336708" y="5799189"/>
            <a:ext cx="542278" cy="5996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767" b="0" i="0">
                <a:solidFill>
                  <a:srgbClr val="000000"/>
                </a:solidFill>
                <a:latin typeface="Liberation Sans"/>
              </a:rPr>
              <a:t>=</a:t>
            </a:r>
          </a:p>
        </p:txBody>
      </p:sp>
      <p:sp>
        <p:nvSpPr>
          <p:cNvPr id="332" name="sync_output_cube_top"/>
          <p:cNvSpPr/>
          <p:nvPr/>
        </p:nvSpPr>
        <p:spPr>
          <a:xfrm>
            <a:off x="7910885" y="5626936"/>
            <a:ext cx="567797" cy="95696"/>
          </a:xfrm>
          <a:custGeom>
            <a:avLst/>
            <a:gdLst/>
            <a:ahLst/>
            <a:cxnLst/>
            <a:rect l="l" t="t" r="r" b="b"/>
            <a:pathLst>
              <a:path w="89" h="15">
                <a:moveTo>
                  <a:pt x="0" y="15"/>
                </a:moveTo>
                <a:lnTo>
                  <a:pt x="15" y="0"/>
                </a:lnTo>
                <a:lnTo>
                  <a:pt x="89" y="0"/>
                </a:lnTo>
                <a:lnTo>
                  <a:pt x="74" y="15"/>
                </a:lnTo>
                <a:close/>
              </a:path>
            </a:pathLst>
          </a:custGeom>
          <a:solidFill>
            <a:srgbClr val="D7D7D7"/>
          </a:solidFill>
          <a:ln w="14035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3" name="sync_output_cube_side"/>
          <p:cNvSpPr/>
          <p:nvPr/>
        </p:nvSpPr>
        <p:spPr>
          <a:xfrm>
            <a:off x="8382987" y="5626936"/>
            <a:ext cx="95696" cy="618835"/>
          </a:xfrm>
          <a:custGeom>
            <a:avLst/>
            <a:gdLst/>
            <a:ahLst/>
            <a:cxnLst/>
            <a:rect l="l" t="t" r="r" b="b"/>
            <a:pathLst>
              <a:path w="15" h="97">
                <a:moveTo>
                  <a:pt x="0" y="15"/>
                </a:moveTo>
                <a:lnTo>
                  <a:pt x="15" y="0"/>
                </a:lnTo>
                <a:lnTo>
                  <a:pt x="15" y="82"/>
                </a:lnTo>
                <a:lnTo>
                  <a:pt x="0" y="97"/>
                </a:lnTo>
                <a:close/>
              </a:path>
            </a:pathLst>
          </a:custGeom>
          <a:solidFill>
            <a:srgbClr val="B8B8B8"/>
          </a:solidFill>
          <a:ln w="14035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4" name="sync_output_cube_front"/>
          <p:cNvSpPr/>
          <p:nvPr/>
        </p:nvSpPr>
        <p:spPr>
          <a:xfrm>
            <a:off x="7910885" y="5722632"/>
            <a:ext cx="472101" cy="523139"/>
          </a:xfrm>
          <a:prstGeom prst="rect">
            <a:avLst/>
          </a:prstGeom>
          <a:solidFill>
            <a:srgbClr val="13E8A5"/>
          </a:solidFill>
          <a:ln w="14035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5" name="sync_output_dot"/>
          <p:cNvSpPr/>
          <p:nvPr/>
        </p:nvSpPr>
        <p:spPr>
          <a:xfrm>
            <a:off x="8191594" y="6028860"/>
            <a:ext cx="63797" cy="63797"/>
          </a:xfrm>
          <a:prstGeom prst="ellipse">
            <a:avLst/>
          </a:prstGeom>
          <a:solidFill>
            <a:srgbClr val="000000"/>
          </a:solidFill>
          <a:ln w="637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6" name="history_to_sync_shaft"/>
          <p:cNvSpPr/>
          <p:nvPr/>
        </p:nvSpPr>
        <p:spPr>
          <a:xfrm>
            <a:off x="6756151" y="4778430"/>
            <a:ext cx="2398785" cy="740051"/>
          </a:xfrm>
          <a:custGeom>
            <a:avLst/>
            <a:gdLst/>
            <a:ahLst/>
            <a:cxnLst/>
            <a:rect l="l" t="t" r="r" b="b"/>
            <a:pathLst>
              <a:path w="376" h="116">
                <a:moveTo>
                  <a:pt x="376" y="60"/>
                </a:moveTo>
                <a:lnTo>
                  <a:pt x="369" y="51"/>
                </a:lnTo>
                <a:lnTo>
                  <a:pt x="362" y="43"/>
                </a:lnTo>
                <a:lnTo>
                  <a:pt x="355" y="36"/>
                </a:lnTo>
                <a:lnTo>
                  <a:pt x="346" y="29"/>
                </a:lnTo>
                <a:lnTo>
                  <a:pt x="338" y="23"/>
                </a:lnTo>
                <a:lnTo>
                  <a:pt x="328" y="18"/>
                </a:lnTo>
                <a:lnTo>
                  <a:pt x="319" y="14"/>
                </a:lnTo>
                <a:lnTo>
                  <a:pt x="309" y="10"/>
                </a:lnTo>
                <a:lnTo>
                  <a:pt x="298" y="7"/>
                </a:lnTo>
                <a:lnTo>
                  <a:pt x="288" y="4"/>
                </a:lnTo>
                <a:lnTo>
                  <a:pt x="276" y="2"/>
                </a:lnTo>
                <a:lnTo>
                  <a:pt x="265" y="1"/>
                </a:lnTo>
                <a:lnTo>
                  <a:pt x="254" y="0"/>
                </a:lnTo>
                <a:lnTo>
                  <a:pt x="242" y="0"/>
                </a:lnTo>
                <a:lnTo>
                  <a:pt x="230" y="1"/>
                </a:lnTo>
                <a:lnTo>
                  <a:pt x="218" y="2"/>
                </a:lnTo>
                <a:lnTo>
                  <a:pt x="206" y="3"/>
                </a:lnTo>
                <a:lnTo>
                  <a:pt x="194" y="5"/>
                </a:lnTo>
                <a:lnTo>
                  <a:pt x="181" y="8"/>
                </a:lnTo>
                <a:lnTo>
                  <a:pt x="169" y="11"/>
                </a:lnTo>
                <a:lnTo>
                  <a:pt x="157" y="14"/>
                </a:lnTo>
                <a:lnTo>
                  <a:pt x="145" y="18"/>
                </a:lnTo>
                <a:lnTo>
                  <a:pt x="133" y="23"/>
                </a:lnTo>
                <a:lnTo>
                  <a:pt x="121" y="28"/>
                </a:lnTo>
                <a:lnTo>
                  <a:pt x="109" y="33"/>
                </a:lnTo>
                <a:lnTo>
                  <a:pt x="98" y="39"/>
                </a:lnTo>
                <a:lnTo>
                  <a:pt x="86" y="45"/>
                </a:lnTo>
                <a:lnTo>
                  <a:pt x="75" y="51"/>
                </a:lnTo>
                <a:lnTo>
                  <a:pt x="64" y="58"/>
                </a:lnTo>
                <a:lnTo>
                  <a:pt x="54" y="66"/>
                </a:lnTo>
                <a:lnTo>
                  <a:pt x="44" y="73"/>
                </a:lnTo>
                <a:lnTo>
                  <a:pt x="34" y="81"/>
                </a:lnTo>
                <a:lnTo>
                  <a:pt x="25" y="89"/>
                </a:lnTo>
                <a:lnTo>
                  <a:pt x="16" y="98"/>
                </a:lnTo>
                <a:lnTo>
                  <a:pt x="8" y="107"/>
                </a:lnTo>
                <a:lnTo>
                  <a:pt x="0" y="116"/>
                </a:lnTo>
              </a:path>
            </a:pathLst>
          </a:custGeom>
          <a:noFill/>
          <a:ln w="25518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7" name="history_to_sync_head"/>
          <p:cNvSpPr/>
          <p:nvPr/>
        </p:nvSpPr>
        <p:spPr>
          <a:xfrm>
            <a:off x="6756151" y="5390886"/>
            <a:ext cx="121215" cy="127595"/>
          </a:xfrm>
          <a:custGeom>
            <a:avLst/>
            <a:gdLst/>
            <a:ahLst/>
            <a:cxnLst/>
            <a:rect l="l" t="t" r="r" b="b"/>
            <a:pathLst>
              <a:path w="19" h="20">
                <a:moveTo>
                  <a:pt x="0" y="20"/>
                </a:moveTo>
                <a:lnTo>
                  <a:pt x="4" y="0"/>
                </a:lnTo>
                <a:lnTo>
                  <a:pt x="19" y="13"/>
                </a:lnTo>
                <a:close/>
              </a:path>
            </a:pathLst>
          </a:custGeom>
          <a:solidFill>
            <a:srgbClr val="000000"/>
          </a:solidFill>
          <a:ln w="637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8" name="sync_to_output_shaft"/>
          <p:cNvSpPr/>
          <p:nvPr/>
        </p:nvSpPr>
        <p:spPr>
          <a:xfrm>
            <a:off x="6756151" y="6067139"/>
            <a:ext cx="1486481" cy="976101"/>
          </a:xfrm>
          <a:custGeom>
            <a:avLst/>
            <a:gdLst/>
            <a:ahLst/>
            <a:cxnLst/>
            <a:rect l="l" t="t" r="r" b="b"/>
            <a:pathLst>
              <a:path w="233" h="153">
                <a:moveTo>
                  <a:pt x="0" y="71"/>
                </a:moveTo>
                <a:lnTo>
                  <a:pt x="6" y="79"/>
                </a:lnTo>
                <a:lnTo>
                  <a:pt x="13" y="87"/>
                </a:lnTo>
                <a:lnTo>
                  <a:pt x="20" y="94"/>
                </a:lnTo>
                <a:lnTo>
                  <a:pt x="28" y="101"/>
                </a:lnTo>
                <a:lnTo>
                  <a:pt x="35" y="108"/>
                </a:lnTo>
                <a:lnTo>
                  <a:pt x="43" y="115"/>
                </a:lnTo>
                <a:lnTo>
                  <a:pt x="51" y="121"/>
                </a:lnTo>
                <a:lnTo>
                  <a:pt x="59" y="126"/>
                </a:lnTo>
                <a:lnTo>
                  <a:pt x="67" y="131"/>
                </a:lnTo>
                <a:lnTo>
                  <a:pt x="75" y="136"/>
                </a:lnTo>
                <a:lnTo>
                  <a:pt x="83" y="140"/>
                </a:lnTo>
                <a:lnTo>
                  <a:pt x="92" y="144"/>
                </a:lnTo>
                <a:lnTo>
                  <a:pt x="100" y="147"/>
                </a:lnTo>
                <a:lnTo>
                  <a:pt x="108" y="149"/>
                </a:lnTo>
                <a:lnTo>
                  <a:pt x="116" y="151"/>
                </a:lnTo>
                <a:lnTo>
                  <a:pt x="124" y="152"/>
                </a:lnTo>
                <a:lnTo>
                  <a:pt x="133" y="153"/>
                </a:lnTo>
                <a:lnTo>
                  <a:pt x="141" y="153"/>
                </a:lnTo>
                <a:lnTo>
                  <a:pt x="148" y="152"/>
                </a:lnTo>
                <a:lnTo>
                  <a:pt x="156" y="150"/>
                </a:lnTo>
                <a:lnTo>
                  <a:pt x="163" y="148"/>
                </a:lnTo>
                <a:lnTo>
                  <a:pt x="171" y="144"/>
                </a:lnTo>
                <a:lnTo>
                  <a:pt x="177" y="140"/>
                </a:lnTo>
                <a:lnTo>
                  <a:pt x="184" y="135"/>
                </a:lnTo>
                <a:lnTo>
                  <a:pt x="191" y="129"/>
                </a:lnTo>
                <a:lnTo>
                  <a:pt x="197" y="123"/>
                </a:lnTo>
                <a:lnTo>
                  <a:pt x="202" y="115"/>
                </a:lnTo>
                <a:lnTo>
                  <a:pt x="208" y="107"/>
                </a:lnTo>
                <a:lnTo>
                  <a:pt x="212" y="97"/>
                </a:lnTo>
                <a:lnTo>
                  <a:pt x="217" y="86"/>
                </a:lnTo>
                <a:lnTo>
                  <a:pt x="221" y="75"/>
                </a:lnTo>
                <a:lnTo>
                  <a:pt x="224" y="62"/>
                </a:lnTo>
                <a:lnTo>
                  <a:pt x="227" y="48"/>
                </a:lnTo>
                <a:lnTo>
                  <a:pt x="230" y="33"/>
                </a:lnTo>
                <a:lnTo>
                  <a:pt x="232" y="17"/>
                </a:lnTo>
                <a:lnTo>
                  <a:pt x="233" y="0"/>
                </a:lnTo>
              </a:path>
            </a:pathLst>
          </a:custGeom>
          <a:noFill/>
          <a:ln w="25518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9" name="sync_to_output_head"/>
          <p:cNvSpPr/>
          <p:nvPr/>
        </p:nvSpPr>
        <p:spPr>
          <a:xfrm>
            <a:off x="8178835" y="6067139"/>
            <a:ext cx="108456" cy="102076"/>
          </a:xfrm>
          <a:custGeom>
            <a:avLst/>
            <a:gdLst/>
            <a:ahLst/>
            <a:cxnLst/>
            <a:rect l="l" t="t" r="r" b="b"/>
            <a:pathLst>
              <a:path w="17" h="16">
                <a:moveTo>
                  <a:pt x="10" y="0"/>
                </a:moveTo>
                <a:lnTo>
                  <a:pt x="17" y="16"/>
                </a:lnTo>
                <a:lnTo>
                  <a:pt x="0" y="15"/>
                </a:lnTo>
                <a:close/>
              </a:path>
            </a:pathLst>
          </a:custGeom>
          <a:solidFill>
            <a:srgbClr val="000000"/>
          </a:solidFill>
          <a:ln w="637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0" name="selection_to_latent_shaft"/>
          <p:cNvSpPr/>
          <p:nvPr/>
        </p:nvSpPr>
        <p:spPr>
          <a:xfrm>
            <a:off x="2921924" y="5939544"/>
            <a:ext cx="1786329" cy="1429063"/>
          </a:xfrm>
          <a:custGeom>
            <a:avLst/>
            <a:gdLst/>
            <a:ahLst/>
            <a:cxnLst/>
            <a:rect l="l" t="t" r="r" b="b"/>
            <a:pathLst>
              <a:path w="280" h="224">
                <a:moveTo>
                  <a:pt x="246" y="0"/>
                </a:moveTo>
                <a:lnTo>
                  <a:pt x="253" y="7"/>
                </a:lnTo>
                <a:lnTo>
                  <a:pt x="259" y="14"/>
                </a:lnTo>
                <a:lnTo>
                  <a:pt x="264" y="21"/>
                </a:lnTo>
                <a:lnTo>
                  <a:pt x="269" y="29"/>
                </a:lnTo>
                <a:lnTo>
                  <a:pt x="273" y="37"/>
                </a:lnTo>
                <a:lnTo>
                  <a:pt x="276" y="45"/>
                </a:lnTo>
                <a:lnTo>
                  <a:pt x="278" y="53"/>
                </a:lnTo>
                <a:lnTo>
                  <a:pt x="280" y="61"/>
                </a:lnTo>
                <a:lnTo>
                  <a:pt x="280" y="69"/>
                </a:lnTo>
                <a:lnTo>
                  <a:pt x="280" y="77"/>
                </a:lnTo>
                <a:lnTo>
                  <a:pt x="280" y="85"/>
                </a:lnTo>
                <a:lnTo>
                  <a:pt x="278" y="94"/>
                </a:lnTo>
                <a:lnTo>
                  <a:pt x="276" y="102"/>
                </a:lnTo>
                <a:lnTo>
                  <a:pt x="273" y="110"/>
                </a:lnTo>
                <a:lnTo>
                  <a:pt x="269" y="118"/>
                </a:lnTo>
                <a:lnTo>
                  <a:pt x="264" y="126"/>
                </a:lnTo>
                <a:lnTo>
                  <a:pt x="259" y="134"/>
                </a:lnTo>
                <a:lnTo>
                  <a:pt x="253" y="142"/>
                </a:lnTo>
                <a:lnTo>
                  <a:pt x="246" y="149"/>
                </a:lnTo>
                <a:lnTo>
                  <a:pt x="238" y="156"/>
                </a:lnTo>
                <a:lnTo>
                  <a:pt x="229" y="163"/>
                </a:lnTo>
                <a:lnTo>
                  <a:pt x="220" y="170"/>
                </a:lnTo>
                <a:lnTo>
                  <a:pt x="210" y="177"/>
                </a:lnTo>
                <a:lnTo>
                  <a:pt x="198" y="183"/>
                </a:lnTo>
                <a:lnTo>
                  <a:pt x="187" y="189"/>
                </a:lnTo>
                <a:lnTo>
                  <a:pt x="174" y="194"/>
                </a:lnTo>
                <a:lnTo>
                  <a:pt x="160" y="200"/>
                </a:lnTo>
                <a:lnTo>
                  <a:pt x="146" y="204"/>
                </a:lnTo>
                <a:lnTo>
                  <a:pt x="131" y="209"/>
                </a:lnTo>
                <a:lnTo>
                  <a:pt x="114" y="212"/>
                </a:lnTo>
                <a:lnTo>
                  <a:pt x="98" y="216"/>
                </a:lnTo>
                <a:lnTo>
                  <a:pt x="80" y="218"/>
                </a:lnTo>
                <a:lnTo>
                  <a:pt x="61" y="221"/>
                </a:lnTo>
                <a:lnTo>
                  <a:pt x="42" y="222"/>
                </a:lnTo>
                <a:lnTo>
                  <a:pt x="21" y="224"/>
                </a:lnTo>
                <a:lnTo>
                  <a:pt x="0" y="224"/>
                </a:lnTo>
              </a:path>
            </a:pathLst>
          </a:custGeom>
          <a:noFill/>
          <a:ln w="25518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1" name="selection_to_latent_head"/>
          <p:cNvSpPr/>
          <p:nvPr/>
        </p:nvSpPr>
        <p:spPr>
          <a:xfrm>
            <a:off x="2921924" y="7304809"/>
            <a:ext cx="114835" cy="121215"/>
          </a:xfrm>
          <a:custGeom>
            <a:avLst/>
            <a:gdLst/>
            <a:ahLst/>
            <a:cxnLst/>
            <a:rect l="l" t="t" r="r" b="b"/>
            <a:pathLst>
              <a:path w="18" h="19">
                <a:moveTo>
                  <a:pt x="0" y="10"/>
                </a:moveTo>
                <a:lnTo>
                  <a:pt x="18" y="0"/>
                </a:lnTo>
                <a:lnTo>
                  <a:pt x="18" y="19"/>
                </a:lnTo>
                <a:close/>
              </a:path>
            </a:pathLst>
          </a:custGeom>
          <a:solidFill>
            <a:srgbClr val="000000"/>
          </a:solidFill>
          <a:ln w="637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2" name="latent_rep_top"/>
          <p:cNvSpPr/>
          <p:nvPr/>
        </p:nvSpPr>
        <p:spPr>
          <a:xfrm>
            <a:off x="510380" y="6877366"/>
            <a:ext cx="2520000" cy="108456"/>
          </a:xfrm>
          <a:custGeom>
            <a:avLst/>
            <a:gdLst/>
            <a:ahLst/>
            <a:cxnLst/>
            <a:rect l="l" t="t" r="r" b="b"/>
            <a:pathLst>
              <a:path w="395" h="17">
                <a:moveTo>
                  <a:pt x="0" y="17"/>
                </a:moveTo>
                <a:lnTo>
                  <a:pt x="17" y="0"/>
                </a:lnTo>
                <a:lnTo>
                  <a:pt x="395" y="0"/>
                </a:lnTo>
                <a:lnTo>
                  <a:pt x="378" y="17"/>
                </a:lnTo>
                <a:close/>
              </a:path>
            </a:pathLst>
          </a:custGeom>
          <a:solidFill>
            <a:srgbClr val="D7D7D7"/>
          </a:solidFill>
          <a:ln w="14035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3" name="latent_rep_side"/>
          <p:cNvSpPr/>
          <p:nvPr/>
        </p:nvSpPr>
        <p:spPr>
          <a:xfrm>
            <a:off x="2921924" y="6877366"/>
            <a:ext cx="108456" cy="637975"/>
          </a:xfrm>
          <a:custGeom>
            <a:avLst/>
            <a:gdLst/>
            <a:ahLst/>
            <a:cxnLst/>
            <a:rect l="l" t="t" r="r" b="b"/>
            <a:pathLst>
              <a:path w="17" h="100">
                <a:moveTo>
                  <a:pt x="0" y="17"/>
                </a:moveTo>
                <a:lnTo>
                  <a:pt x="17" y="0"/>
                </a:lnTo>
                <a:lnTo>
                  <a:pt x="17" y="83"/>
                </a:lnTo>
                <a:lnTo>
                  <a:pt x="0" y="100"/>
                </a:lnTo>
                <a:close/>
              </a:path>
            </a:pathLst>
          </a:custGeom>
          <a:solidFill>
            <a:srgbClr val="B8B8B8"/>
          </a:solidFill>
          <a:ln w="14035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4" name="latent_rep_front"/>
          <p:cNvSpPr/>
          <p:nvPr/>
        </p:nvSpPr>
        <p:spPr>
          <a:xfrm>
            <a:off x="510379" y="6985822"/>
            <a:ext cx="2411544" cy="529518"/>
          </a:xfrm>
          <a:prstGeom prst="rect">
            <a:avLst/>
          </a:prstGeom>
          <a:solidFill>
            <a:srgbClr val="D7D7D7"/>
          </a:solidFill>
          <a:ln w="14035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5" name="latent_rep_col_01"/>
          <p:cNvSpPr/>
          <p:nvPr/>
        </p:nvSpPr>
        <p:spPr>
          <a:xfrm>
            <a:off x="752810" y="6985822"/>
            <a:ext cx="0" cy="529519"/>
          </a:xfrm>
          <a:custGeom>
            <a:avLst/>
            <a:gdLst/>
            <a:ahLst/>
            <a:cxnLst/>
            <a:rect l="l" t="t" r="r" b="b"/>
            <a:pathLst>
              <a:path w="0" h="83">
                <a:moveTo>
                  <a:pt x="0" y="0"/>
                </a:moveTo>
                <a:lnTo>
                  <a:pt x="0" y="83"/>
                </a:lnTo>
              </a:path>
            </a:pathLst>
          </a:custGeom>
          <a:noFill/>
          <a:ln w="1020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6" name="latent_rep_col_02"/>
          <p:cNvSpPr/>
          <p:nvPr/>
        </p:nvSpPr>
        <p:spPr>
          <a:xfrm>
            <a:off x="995240" y="6985822"/>
            <a:ext cx="0" cy="529519"/>
          </a:xfrm>
          <a:custGeom>
            <a:avLst/>
            <a:gdLst/>
            <a:ahLst/>
            <a:cxnLst/>
            <a:rect l="l" t="t" r="r" b="b"/>
            <a:pathLst>
              <a:path w="0" h="83">
                <a:moveTo>
                  <a:pt x="0" y="0"/>
                </a:moveTo>
                <a:lnTo>
                  <a:pt x="0" y="83"/>
                </a:lnTo>
              </a:path>
            </a:pathLst>
          </a:custGeom>
          <a:noFill/>
          <a:ln w="1020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7" name="latent_rep_col_03"/>
          <p:cNvSpPr/>
          <p:nvPr/>
        </p:nvSpPr>
        <p:spPr>
          <a:xfrm>
            <a:off x="1231291" y="6985822"/>
            <a:ext cx="0" cy="529519"/>
          </a:xfrm>
          <a:custGeom>
            <a:avLst/>
            <a:gdLst/>
            <a:ahLst/>
            <a:cxnLst/>
            <a:rect l="l" t="t" r="r" b="b"/>
            <a:pathLst>
              <a:path w="0" h="83">
                <a:moveTo>
                  <a:pt x="0" y="0"/>
                </a:moveTo>
                <a:lnTo>
                  <a:pt x="0" y="83"/>
                </a:lnTo>
              </a:path>
            </a:pathLst>
          </a:custGeom>
          <a:noFill/>
          <a:ln w="1020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8" name="latent_rep_col_04"/>
          <p:cNvSpPr/>
          <p:nvPr/>
        </p:nvSpPr>
        <p:spPr>
          <a:xfrm>
            <a:off x="1473721" y="6985822"/>
            <a:ext cx="0" cy="529519"/>
          </a:xfrm>
          <a:custGeom>
            <a:avLst/>
            <a:gdLst/>
            <a:ahLst/>
            <a:cxnLst/>
            <a:rect l="l" t="t" r="r" b="b"/>
            <a:pathLst>
              <a:path w="0" h="83">
                <a:moveTo>
                  <a:pt x="0" y="0"/>
                </a:moveTo>
                <a:lnTo>
                  <a:pt x="0" y="83"/>
                </a:lnTo>
              </a:path>
            </a:pathLst>
          </a:custGeom>
          <a:noFill/>
          <a:ln w="1020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9" name="latent_rep_col_05"/>
          <p:cNvSpPr/>
          <p:nvPr/>
        </p:nvSpPr>
        <p:spPr>
          <a:xfrm>
            <a:off x="1716152" y="6985822"/>
            <a:ext cx="0" cy="529519"/>
          </a:xfrm>
          <a:custGeom>
            <a:avLst/>
            <a:gdLst/>
            <a:ahLst/>
            <a:cxnLst/>
            <a:rect l="l" t="t" r="r" b="b"/>
            <a:pathLst>
              <a:path w="0" h="83">
                <a:moveTo>
                  <a:pt x="0" y="0"/>
                </a:moveTo>
                <a:lnTo>
                  <a:pt x="0" y="83"/>
                </a:lnTo>
              </a:path>
            </a:pathLst>
          </a:custGeom>
          <a:noFill/>
          <a:ln w="1020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0" name="latent_rep_col_06"/>
          <p:cNvSpPr/>
          <p:nvPr/>
        </p:nvSpPr>
        <p:spPr>
          <a:xfrm>
            <a:off x="1958582" y="6985822"/>
            <a:ext cx="0" cy="529519"/>
          </a:xfrm>
          <a:custGeom>
            <a:avLst/>
            <a:gdLst/>
            <a:ahLst/>
            <a:cxnLst/>
            <a:rect l="l" t="t" r="r" b="b"/>
            <a:pathLst>
              <a:path w="0" h="83">
                <a:moveTo>
                  <a:pt x="0" y="0"/>
                </a:moveTo>
                <a:lnTo>
                  <a:pt x="0" y="83"/>
                </a:lnTo>
              </a:path>
            </a:pathLst>
          </a:custGeom>
          <a:noFill/>
          <a:ln w="1020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1" name="latent_rep_col_07"/>
          <p:cNvSpPr/>
          <p:nvPr/>
        </p:nvSpPr>
        <p:spPr>
          <a:xfrm>
            <a:off x="2201012" y="6985822"/>
            <a:ext cx="0" cy="529519"/>
          </a:xfrm>
          <a:custGeom>
            <a:avLst/>
            <a:gdLst/>
            <a:ahLst/>
            <a:cxnLst/>
            <a:rect l="l" t="t" r="r" b="b"/>
            <a:pathLst>
              <a:path w="0" h="83">
                <a:moveTo>
                  <a:pt x="0" y="0"/>
                </a:moveTo>
                <a:lnTo>
                  <a:pt x="0" y="83"/>
                </a:lnTo>
              </a:path>
            </a:pathLst>
          </a:custGeom>
          <a:noFill/>
          <a:ln w="1020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2" name="latent_rep_col_08"/>
          <p:cNvSpPr/>
          <p:nvPr/>
        </p:nvSpPr>
        <p:spPr>
          <a:xfrm>
            <a:off x="2437063" y="6985822"/>
            <a:ext cx="0" cy="529519"/>
          </a:xfrm>
          <a:custGeom>
            <a:avLst/>
            <a:gdLst/>
            <a:ahLst/>
            <a:cxnLst/>
            <a:rect l="l" t="t" r="r" b="b"/>
            <a:pathLst>
              <a:path w="0" h="83">
                <a:moveTo>
                  <a:pt x="0" y="0"/>
                </a:moveTo>
                <a:lnTo>
                  <a:pt x="0" y="83"/>
                </a:lnTo>
              </a:path>
            </a:pathLst>
          </a:custGeom>
          <a:noFill/>
          <a:ln w="1020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3" name="latent_rep_col_09"/>
          <p:cNvSpPr/>
          <p:nvPr/>
        </p:nvSpPr>
        <p:spPr>
          <a:xfrm>
            <a:off x="2679493" y="6985822"/>
            <a:ext cx="0" cy="529519"/>
          </a:xfrm>
          <a:custGeom>
            <a:avLst/>
            <a:gdLst/>
            <a:ahLst/>
            <a:cxnLst/>
            <a:rect l="l" t="t" r="r" b="b"/>
            <a:pathLst>
              <a:path w="0" h="83">
                <a:moveTo>
                  <a:pt x="0" y="0"/>
                </a:moveTo>
                <a:lnTo>
                  <a:pt x="0" y="83"/>
                </a:lnTo>
              </a:path>
            </a:pathLst>
          </a:custGeom>
          <a:noFill/>
          <a:ln w="1020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4" name="latent_active_cell"/>
          <p:cNvSpPr/>
          <p:nvPr/>
        </p:nvSpPr>
        <p:spPr>
          <a:xfrm>
            <a:off x="1716151" y="6985822"/>
            <a:ext cx="242430" cy="529518"/>
          </a:xfrm>
          <a:prstGeom prst="rect">
            <a:avLst/>
          </a:prstGeom>
          <a:solidFill>
            <a:srgbClr val="13E8A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5" name="latent_rep_label"/>
          <p:cNvSpPr txBox="1"/>
          <p:nvPr/>
        </p:nvSpPr>
        <p:spPr>
          <a:xfrm>
            <a:off x="644354" y="6609417"/>
            <a:ext cx="2201012" cy="40830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62" b="0" i="0">
                <a:solidFill>
                  <a:srgbClr val="000000"/>
                </a:solidFill>
                <a:latin typeface="Liberation Sans"/>
              </a:rPr>
              <a:t>LATENT_REP</a:t>
            </a:r>
          </a:p>
        </p:txBody>
      </p:sp>
      <p:sp>
        <p:nvSpPr>
          <p:cNvPr id="356" name="latent_to_out_shaft"/>
          <p:cNvSpPr/>
          <p:nvPr/>
        </p:nvSpPr>
        <p:spPr>
          <a:xfrm>
            <a:off x="963342" y="6175594"/>
            <a:ext cx="0" cy="791089"/>
          </a:xfrm>
          <a:custGeom>
            <a:avLst/>
            <a:gdLst/>
            <a:ahLst/>
            <a:cxnLst/>
            <a:rect l="l" t="t" r="r" b="b"/>
            <a:pathLst>
              <a:path w="0" h="124">
                <a:moveTo>
                  <a:pt x="0" y="124"/>
                </a:moveTo>
                <a:lnTo>
                  <a:pt x="0" y="0"/>
                </a:lnTo>
              </a:path>
            </a:pathLst>
          </a:custGeom>
          <a:noFill/>
          <a:ln w="31898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7" name="latent_to_out_head"/>
          <p:cNvSpPr/>
          <p:nvPr/>
        </p:nvSpPr>
        <p:spPr>
          <a:xfrm>
            <a:off x="880405" y="6175594"/>
            <a:ext cx="165873" cy="146734"/>
          </a:xfrm>
          <a:custGeom>
            <a:avLst/>
            <a:gdLst/>
            <a:ahLst/>
            <a:cxnLst/>
            <a:rect l="l" t="t" r="r" b="b"/>
            <a:pathLst>
              <a:path w="26" h="23">
                <a:moveTo>
                  <a:pt x="13" y="0"/>
                </a:moveTo>
                <a:lnTo>
                  <a:pt x="26" y="23"/>
                </a:lnTo>
                <a:lnTo>
                  <a:pt x="0" y="23"/>
                </a:lnTo>
                <a:close/>
              </a:path>
            </a:pathLst>
          </a:custGeom>
          <a:solidFill>
            <a:srgbClr val="000000"/>
          </a:solidFill>
          <a:ln w="637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8" name="latent_to_attn_shaft"/>
          <p:cNvSpPr/>
          <p:nvPr/>
        </p:nvSpPr>
        <p:spPr>
          <a:xfrm>
            <a:off x="2532759" y="6175594"/>
            <a:ext cx="0" cy="791089"/>
          </a:xfrm>
          <a:custGeom>
            <a:avLst/>
            <a:gdLst/>
            <a:ahLst/>
            <a:cxnLst/>
            <a:rect l="l" t="t" r="r" b="b"/>
            <a:pathLst>
              <a:path w="0" h="124">
                <a:moveTo>
                  <a:pt x="0" y="124"/>
                </a:moveTo>
                <a:lnTo>
                  <a:pt x="0" y="0"/>
                </a:lnTo>
              </a:path>
            </a:pathLst>
          </a:custGeom>
          <a:noFill/>
          <a:ln w="31898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9" name="latent_to_attn_head"/>
          <p:cNvSpPr/>
          <p:nvPr/>
        </p:nvSpPr>
        <p:spPr>
          <a:xfrm>
            <a:off x="2449823" y="6175594"/>
            <a:ext cx="165873" cy="146734"/>
          </a:xfrm>
          <a:custGeom>
            <a:avLst/>
            <a:gdLst/>
            <a:ahLst/>
            <a:cxnLst/>
            <a:rect l="l" t="t" r="r" b="b"/>
            <a:pathLst>
              <a:path w="26" h="23">
                <a:moveTo>
                  <a:pt x="13" y="0"/>
                </a:moveTo>
                <a:lnTo>
                  <a:pt x="26" y="23"/>
                </a:lnTo>
                <a:lnTo>
                  <a:pt x="0" y="23"/>
                </a:lnTo>
                <a:close/>
              </a:path>
            </a:pathLst>
          </a:custGeom>
          <a:solidFill>
            <a:srgbClr val="000000"/>
          </a:solidFill>
          <a:ln w="637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0" name="w_out_base"/>
          <p:cNvSpPr txBox="1"/>
          <p:nvPr/>
        </p:nvSpPr>
        <p:spPr>
          <a:xfrm>
            <a:off x="401924" y="6233012"/>
            <a:ext cx="395544" cy="33812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9" b="1" i="0">
                <a:solidFill>
                  <a:srgbClr val="000000"/>
                </a:solidFill>
                <a:latin typeface="Liberation Serif"/>
              </a:rPr>
              <a:t>W</a:t>
            </a:r>
          </a:p>
        </p:txBody>
      </p:sp>
      <p:sp>
        <p:nvSpPr>
          <p:cNvPr id="361" name="w_out_sub"/>
          <p:cNvSpPr txBox="1"/>
          <p:nvPr/>
        </p:nvSpPr>
        <p:spPr>
          <a:xfrm>
            <a:off x="714531" y="6386125"/>
            <a:ext cx="395544" cy="2105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5" b="0" i="1">
                <a:solidFill>
                  <a:srgbClr val="000000"/>
                </a:solidFill>
                <a:latin typeface="Liberation Serif"/>
              </a:rPr>
              <a:t>out</a:t>
            </a:r>
          </a:p>
        </p:txBody>
      </p:sp>
      <p:sp>
        <p:nvSpPr>
          <p:cNvPr id="362" name="w_in_base"/>
          <p:cNvSpPr txBox="1"/>
          <p:nvPr/>
        </p:nvSpPr>
        <p:spPr>
          <a:xfrm>
            <a:off x="2526379" y="6233012"/>
            <a:ext cx="395544" cy="33812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9" b="1" i="0">
                <a:solidFill>
                  <a:srgbClr val="000000"/>
                </a:solidFill>
                <a:latin typeface="Liberation Serif"/>
              </a:rPr>
              <a:t>W</a:t>
            </a:r>
          </a:p>
        </p:txBody>
      </p:sp>
      <p:sp>
        <p:nvSpPr>
          <p:cNvPr id="363" name="w_in_sub"/>
          <p:cNvSpPr txBox="1"/>
          <p:nvPr/>
        </p:nvSpPr>
        <p:spPr>
          <a:xfrm>
            <a:off x="2838987" y="6386125"/>
            <a:ext cx="318987" cy="2105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5" b="0" i="1">
                <a:solidFill>
                  <a:srgbClr val="000000"/>
                </a:solidFill>
                <a:latin typeface="Liberation Serif"/>
              </a:rPr>
              <a:t>in</a:t>
            </a:r>
          </a:p>
        </p:txBody>
      </p:sp>
      <p:sp>
        <p:nvSpPr>
          <p:cNvPr id="364" name="output_oval_outer"/>
          <p:cNvSpPr/>
          <p:nvPr/>
        </p:nvSpPr>
        <p:spPr>
          <a:xfrm>
            <a:off x="382784" y="5435543"/>
            <a:ext cx="1173873" cy="669873"/>
          </a:xfrm>
          <a:prstGeom prst="ellipse">
            <a:avLst/>
          </a:prstGeom>
          <a:solidFill>
            <a:srgbClr val="65D8FF"/>
          </a:solidFill>
          <a:ln w="25518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5" name="output_oval_inner"/>
          <p:cNvSpPr/>
          <p:nvPr/>
        </p:nvSpPr>
        <p:spPr>
          <a:xfrm>
            <a:off x="446582" y="5486581"/>
            <a:ext cx="1046278" cy="567797"/>
          </a:xfrm>
          <a:prstGeom prst="ellipse">
            <a:avLst/>
          </a:prstGeom>
          <a:solidFill>
            <a:srgbClr val="FFFFFF"/>
          </a:solidFill>
          <a:ln w="31898">
            <a:solidFill>
              <a:srgbClr val="7E19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6" name="attention_oval_outer"/>
          <p:cNvSpPr/>
          <p:nvPr/>
        </p:nvSpPr>
        <p:spPr>
          <a:xfrm>
            <a:off x="1728911" y="5429164"/>
            <a:ext cx="1467341" cy="701772"/>
          </a:xfrm>
          <a:prstGeom prst="ellipse">
            <a:avLst/>
          </a:prstGeom>
          <a:solidFill>
            <a:srgbClr val="FFB52B"/>
          </a:solidFill>
          <a:ln w="25518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7" name="attention_oval_inner"/>
          <p:cNvSpPr/>
          <p:nvPr/>
        </p:nvSpPr>
        <p:spPr>
          <a:xfrm>
            <a:off x="1792708" y="5486581"/>
            <a:ext cx="1339746" cy="580556"/>
          </a:xfrm>
          <a:prstGeom prst="ellipse">
            <a:avLst/>
          </a:prstGeom>
          <a:solidFill>
            <a:srgbClr val="FFFFFF"/>
          </a:solidFill>
          <a:ln w="31898">
            <a:solidFill>
              <a:srgbClr val="FF7A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8" name="output_color_ring_0"/>
          <p:cNvSpPr/>
          <p:nvPr/>
        </p:nvSpPr>
        <p:spPr>
          <a:xfrm>
            <a:off x="401924" y="5454683"/>
            <a:ext cx="1135594" cy="631594"/>
          </a:xfrm>
          <a:prstGeom prst="ellipse">
            <a:avLst/>
          </a:prstGeom>
          <a:noFill/>
          <a:ln w="12759">
            <a:solidFill>
              <a:srgbClr val="00C7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9" name="output_color_ring_1"/>
          <p:cNvSpPr/>
          <p:nvPr/>
        </p:nvSpPr>
        <p:spPr>
          <a:xfrm>
            <a:off x="414683" y="5467442"/>
            <a:ext cx="1110075" cy="606075"/>
          </a:xfrm>
          <a:prstGeom prst="ellipse">
            <a:avLst/>
          </a:prstGeom>
          <a:noFill/>
          <a:ln w="12759">
            <a:solidFill>
              <a:srgbClr val="00F06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0" name="output_color_ring_2"/>
          <p:cNvSpPr/>
          <p:nvPr/>
        </p:nvSpPr>
        <p:spPr>
          <a:xfrm>
            <a:off x="427442" y="5480201"/>
            <a:ext cx="1084556" cy="580556"/>
          </a:xfrm>
          <a:prstGeom prst="ellipse">
            <a:avLst/>
          </a:prstGeom>
          <a:noFill/>
          <a:ln w="12759">
            <a:solidFill>
              <a:srgbClr val="FFE91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1" name="output_color_ring_3"/>
          <p:cNvSpPr/>
          <p:nvPr/>
        </p:nvSpPr>
        <p:spPr>
          <a:xfrm>
            <a:off x="440202" y="5492961"/>
            <a:ext cx="1059037" cy="555037"/>
          </a:xfrm>
          <a:prstGeom prst="ellipse">
            <a:avLst/>
          </a:prstGeom>
          <a:noFill/>
          <a:ln w="12759">
            <a:solidFill>
              <a:srgbClr val="FF6A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2" name="output_color_ring_4"/>
          <p:cNvSpPr/>
          <p:nvPr/>
        </p:nvSpPr>
        <p:spPr>
          <a:xfrm>
            <a:off x="452961" y="5505720"/>
            <a:ext cx="1033518" cy="529518"/>
          </a:xfrm>
          <a:prstGeom prst="ellipse">
            <a:avLst/>
          </a:prstGeom>
          <a:noFill/>
          <a:ln w="12759">
            <a:solidFill>
              <a:srgbClr val="8C13E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3" name="attention_color_ring_0"/>
          <p:cNvSpPr/>
          <p:nvPr/>
        </p:nvSpPr>
        <p:spPr>
          <a:xfrm>
            <a:off x="1748050" y="5448303"/>
            <a:ext cx="1429063" cy="663493"/>
          </a:xfrm>
          <a:prstGeom prst="ellipse">
            <a:avLst/>
          </a:prstGeom>
          <a:noFill/>
          <a:ln w="12759">
            <a:solidFill>
              <a:srgbClr val="FFE12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4" name="attention_color_ring_1"/>
          <p:cNvSpPr/>
          <p:nvPr/>
        </p:nvSpPr>
        <p:spPr>
          <a:xfrm>
            <a:off x="1760809" y="5461062"/>
            <a:ext cx="1403544" cy="637974"/>
          </a:xfrm>
          <a:prstGeom prst="ellipse">
            <a:avLst/>
          </a:prstGeom>
          <a:noFill/>
          <a:ln w="12759">
            <a:solidFill>
              <a:srgbClr val="FF8A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5" name="attention_color_ring_2"/>
          <p:cNvSpPr/>
          <p:nvPr/>
        </p:nvSpPr>
        <p:spPr>
          <a:xfrm>
            <a:off x="1773569" y="5473822"/>
            <a:ext cx="1378025" cy="612455"/>
          </a:xfrm>
          <a:prstGeom prst="ellipse">
            <a:avLst/>
          </a:prstGeom>
          <a:noFill/>
          <a:ln w="12759">
            <a:solidFill>
              <a:srgbClr val="FF442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6" name="attention_color_ring_3"/>
          <p:cNvSpPr/>
          <p:nvPr/>
        </p:nvSpPr>
        <p:spPr>
          <a:xfrm>
            <a:off x="1786328" y="5486581"/>
            <a:ext cx="1352506" cy="586936"/>
          </a:xfrm>
          <a:prstGeom prst="ellipse">
            <a:avLst/>
          </a:prstGeom>
          <a:noFill/>
          <a:ln w="12759">
            <a:solidFill>
              <a:srgbClr val="12EAB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7" name="output_label"/>
          <p:cNvSpPr txBox="1"/>
          <p:nvPr/>
        </p:nvSpPr>
        <p:spPr>
          <a:xfrm>
            <a:off x="440202" y="5486581"/>
            <a:ext cx="1059037" cy="57417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963" b="0" i="0">
                <a:solidFill>
                  <a:srgbClr val="000000"/>
                </a:solidFill>
                <a:latin typeface="Liberation Sans"/>
              </a:rPr>
              <a:t>OUT</a:t>
            </a:r>
          </a:p>
        </p:txBody>
      </p:sp>
      <p:sp>
        <p:nvSpPr>
          <p:cNvPr id="378" name="attention_label"/>
          <p:cNvSpPr txBox="1"/>
          <p:nvPr/>
        </p:nvSpPr>
        <p:spPr>
          <a:xfrm>
            <a:off x="1773569" y="5467442"/>
            <a:ext cx="1378025" cy="61245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913" b="0" i="0">
                <a:solidFill>
                  <a:srgbClr val="000000"/>
                </a:solidFill>
                <a:latin typeface="Liberation Sans"/>
              </a:rPr>
              <a:t>ATTN</a:t>
            </a:r>
          </a:p>
        </p:txBody>
      </p:sp>
      <p:sp>
        <p:nvSpPr>
          <p:cNvPr id="379" name="data_box"/>
          <p:cNvSpPr/>
          <p:nvPr/>
        </p:nvSpPr>
        <p:spPr>
          <a:xfrm>
            <a:off x="2130835" y="4644455"/>
            <a:ext cx="835746" cy="357265"/>
          </a:xfrm>
          <a:prstGeom prst="rect">
            <a:avLst/>
          </a:prstGeom>
          <a:solidFill>
            <a:srgbClr val="FFFFFF"/>
          </a:solidFill>
          <a:ln w="1913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0" name="data_label"/>
          <p:cNvSpPr txBox="1"/>
          <p:nvPr/>
        </p:nvSpPr>
        <p:spPr>
          <a:xfrm>
            <a:off x="2162733" y="4657214"/>
            <a:ext cx="771949" cy="3189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9" b="0" i="1">
                <a:solidFill>
                  <a:srgbClr val="000000"/>
                </a:solidFill>
                <a:latin typeface="Liberation Sans"/>
              </a:rPr>
              <a:t>DATA</a:t>
            </a:r>
          </a:p>
        </p:txBody>
      </p:sp>
      <p:sp>
        <p:nvSpPr>
          <p:cNvPr id="381" name="data_to_attention_shaft"/>
          <p:cNvSpPr/>
          <p:nvPr/>
        </p:nvSpPr>
        <p:spPr>
          <a:xfrm>
            <a:off x="2545519" y="5020860"/>
            <a:ext cx="0" cy="389165"/>
          </a:xfrm>
          <a:custGeom>
            <a:avLst/>
            <a:gdLst/>
            <a:ahLst/>
            <a:cxnLst/>
            <a:rect l="l" t="t" r="r" b="b"/>
            <a:pathLst>
              <a:path w="0" h="61">
                <a:moveTo>
                  <a:pt x="0" y="0"/>
                </a:moveTo>
                <a:lnTo>
                  <a:pt x="0" y="61"/>
                </a:lnTo>
              </a:path>
            </a:pathLst>
          </a:custGeom>
          <a:noFill/>
          <a:ln w="25518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2" name="data_to_attention_head"/>
          <p:cNvSpPr/>
          <p:nvPr/>
        </p:nvSpPr>
        <p:spPr>
          <a:xfrm>
            <a:off x="2488101" y="5301569"/>
            <a:ext cx="114835" cy="108456"/>
          </a:xfrm>
          <a:custGeom>
            <a:avLst/>
            <a:gdLst/>
            <a:ahLst/>
            <a:cxnLst/>
            <a:rect l="l" t="t" r="r" b="b"/>
            <a:pathLst>
              <a:path w="18" h="17">
                <a:moveTo>
                  <a:pt x="9" y="17"/>
                </a:moveTo>
                <a:lnTo>
                  <a:pt x="0" y="0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 w="637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3" name="bar_axis_x"/>
          <p:cNvSpPr/>
          <p:nvPr/>
        </p:nvSpPr>
        <p:spPr>
          <a:xfrm>
            <a:off x="306228" y="5314329"/>
            <a:ext cx="765570" cy="0"/>
          </a:xfrm>
          <a:custGeom>
            <a:avLst/>
            <a:gdLst/>
            <a:ahLst/>
            <a:cxnLst/>
            <a:rect l="l" t="t" r="r" b="b"/>
            <a:pathLst>
              <a:path w="120" h="0">
                <a:moveTo>
                  <a:pt x="0" y="0"/>
                </a:moveTo>
                <a:lnTo>
                  <a:pt x="120" y="0"/>
                </a:lnTo>
              </a:path>
            </a:pathLst>
          </a:custGeom>
          <a:noFill/>
          <a:ln w="956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4" name="bar_axis_y"/>
          <p:cNvSpPr/>
          <p:nvPr/>
        </p:nvSpPr>
        <p:spPr>
          <a:xfrm>
            <a:off x="350886" y="4931544"/>
            <a:ext cx="0" cy="452962"/>
          </a:xfrm>
          <a:custGeom>
            <a:avLst/>
            <a:gdLst/>
            <a:ahLst/>
            <a:cxnLst/>
            <a:rect l="l" t="t" r="r" b="b"/>
            <a:pathLst>
              <a:path w="0" h="71">
                <a:moveTo>
                  <a:pt x="0" y="71"/>
                </a:moveTo>
                <a:lnTo>
                  <a:pt x="0" y="0"/>
                </a:lnTo>
              </a:path>
            </a:pathLst>
          </a:custGeom>
          <a:noFill/>
          <a:ln w="956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5" name="bar_green"/>
          <p:cNvSpPr/>
          <p:nvPr/>
        </p:nvSpPr>
        <p:spPr>
          <a:xfrm>
            <a:off x="382784" y="5084657"/>
            <a:ext cx="102075" cy="229670"/>
          </a:xfrm>
          <a:prstGeom prst="rect">
            <a:avLst/>
          </a:prstGeom>
          <a:solidFill>
            <a:srgbClr val="00E96D"/>
          </a:solidFill>
          <a:ln w="8931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6" name="bar_violet"/>
          <p:cNvSpPr/>
          <p:nvPr/>
        </p:nvSpPr>
        <p:spPr>
          <a:xfrm>
            <a:off x="548658" y="5027240"/>
            <a:ext cx="114835" cy="287088"/>
          </a:xfrm>
          <a:prstGeom prst="rect">
            <a:avLst/>
          </a:prstGeom>
          <a:solidFill>
            <a:srgbClr val="9B00E9"/>
          </a:solidFill>
          <a:ln w="8931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7" name="bar_blue"/>
          <p:cNvSpPr/>
          <p:nvPr/>
        </p:nvSpPr>
        <p:spPr>
          <a:xfrm>
            <a:off x="733670" y="5244151"/>
            <a:ext cx="108455" cy="70177"/>
          </a:xfrm>
          <a:prstGeom prst="rect">
            <a:avLst/>
          </a:prstGeom>
          <a:solidFill>
            <a:srgbClr val="2867E8"/>
          </a:solidFill>
          <a:ln w="8931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8" name="bar_cyan"/>
          <p:cNvSpPr/>
          <p:nvPr/>
        </p:nvSpPr>
        <p:spPr>
          <a:xfrm>
            <a:off x="886784" y="5167594"/>
            <a:ext cx="114835" cy="146734"/>
          </a:xfrm>
          <a:prstGeom prst="rect">
            <a:avLst/>
          </a:prstGeom>
          <a:solidFill>
            <a:srgbClr val="00D7E8"/>
          </a:solidFill>
          <a:ln w="8931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9" name="attention_feedback_shaft"/>
          <p:cNvSpPr/>
          <p:nvPr/>
        </p:nvSpPr>
        <p:spPr>
          <a:xfrm>
            <a:off x="561418" y="4580658"/>
            <a:ext cx="1473721" cy="969721"/>
          </a:xfrm>
          <a:custGeom>
            <a:avLst/>
            <a:gdLst/>
            <a:ahLst/>
            <a:cxnLst/>
            <a:rect l="l" t="t" r="r" b="b"/>
            <a:pathLst>
              <a:path w="231" h="152">
                <a:moveTo>
                  <a:pt x="231" y="152"/>
                </a:moveTo>
                <a:lnTo>
                  <a:pt x="225" y="141"/>
                </a:lnTo>
                <a:lnTo>
                  <a:pt x="219" y="130"/>
                </a:lnTo>
                <a:lnTo>
                  <a:pt x="212" y="121"/>
                </a:lnTo>
                <a:lnTo>
                  <a:pt x="206" y="112"/>
                </a:lnTo>
                <a:lnTo>
                  <a:pt x="199" y="105"/>
                </a:lnTo>
                <a:lnTo>
                  <a:pt x="192" y="98"/>
                </a:lnTo>
                <a:lnTo>
                  <a:pt x="184" y="92"/>
                </a:lnTo>
                <a:lnTo>
                  <a:pt x="177" y="87"/>
                </a:lnTo>
                <a:lnTo>
                  <a:pt x="169" y="82"/>
                </a:lnTo>
                <a:lnTo>
                  <a:pt x="161" y="78"/>
                </a:lnTo>
                <a:lnTo>
                  <a:pt x="154" y="75"/>
                </a:lnTo>
                <a:lnTo>
                  <a:pt x="146" y="72"/>
                </a:lnTo>
                <a:lnTo>
                  <a:pt x="138" y="70"/>
                </a:lnTo>
                <a:lnTo>
                  <a:pt x="130" y="68"/>
                </a:lnTo>
                <a:lnTo>
                  <a:pt x="122" y="66"/>
                </a:lnTo>
                <a:lnTo>
                  <a:pt x="114" y="64"/>
                </a:lnTo>
                <a:lnTo>
                  <a:pt x="106" y="63"/>
                </a:lnTo>
                <a:lnTo>
                  <a:pt x="99" y="62"/>
                </a:lnTo>
                <a:lnTo>
                  <a:pt x="91" y="61"/>
                </a:lnTo>
                <a:lnTo>
                  <a:pt x="83" y="60"/>
                </a:lnTo>
                <a:lnTo>
                  <a:pt x="76" y="59"/>
                </a:lnTo>
                <a:lnTo>
                  <a:pt x="69" y="57"/>
                </a:lnTo>
                <a:lnTo>
                  <a:pt x="62" y="56"/>
                </a:lnTo>
                <a:lnTo>
                  <a:pt x="55" y="55"/>
                </a:lnTo>
                <a:lnTo>
                  <a:pt x="49" y="53"/>
                </a:lnTo>
                <a:lnTo>
                  <a:pt x="42" y="51"/>
                </a:lnTo>
                <a:lnTo>
                  <a:pt x="37" y="48"/>
                </a:lnTo>
                <a:lnTo>
                  <a:pt x="31" y="45"/>
                </a:lnTo>
                <a:lnTo>
                  <a:pt x="26" y="42"/>
                </a:lnTo>
                <a:lnTo>
                  <a:pt x="21" y="38"/>
                </a:lnTo>
                <a:lnTo>
                  <a:pt x="16" y="34"/>
                </a:lnTo>
                <a:lnTo>
                  <a:pt x="12" y="28"/>
                </a:lnTo>
                <a:lnTo>
                  <a:pt x="8" y="23"/>
                </a:lnTo>
                <a:lnTo>
                  <a:pt x="5" y="16"/>
                </a:lnTo>
                <a:lnTo>
                  <a:pt x="2" y="8"/>
                </a:lnTo>
                <a:lnTo>
                  <a:pt x="0" y="0"/>
                </a:lnTo>
              </a:path>
            </a:pathLst>
          </a:custGeom>
          <a:noFill/>
          <a:ln w="25518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0" name="attention_feedback_head"/>
          <p:cNvSpPr/>
          <p:nvPr/>
        </p:nvSpPr>
        <p:spPr>
          <a:xfrm>
            <a:off x="529519" y="4580658"/>
            <a:ext cx="114835" cy="121215"/>
          </a:xfrm>
          <a:custGeom>
            <a:avLst/>
            <a:gdLst/>
            <a:ahLst/>
            <a:cxnLst/>
            <a:rect l="l" t="t" r="r" b="b"/>
            <a:pathLst>
              <a:path w="18" h="19">
                <a:moveTo>
                  <a:pt x="5" y="0"/>
                </a:moveTo>
                <a:lnTo>
                  <a:pt x="18" y="14"/>
                </a:lnTo>
                <a:lnTo>
                  <a:pt x="0" y="19"/>
                </a:lnTo>
                <a:close/>
              </a:path>
            </a:pathLst>
          </a:custGeom>
          <a:solidFill>
            <a:srgbClr val="000000"/>
          </a:solidFill>
          <a:ln w="637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1" name="badge_8"/>
          <p:cNvSpPr/>
          <p:nvPr/>
        </p:nvSpPr>
        <p:spPr>
          <a:xfrm>
            <a:off x="153113" y="7043239"/>
            <a:ext cx="484860" cy="484860"/>
          </a:xfrm>
          <a:prstGeom prst="ellipse">
            <a:avLst/>
          </a:prstGeom>
          <a:solidFill>
            <a:srgbClr val="FFE22A"/>
          </a:solidFill>
          <a:ln w="31898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2" name="badge_8_label"/>
          <p:cNvSpPr txBox="1"/>
          <p:nvPr/>
        </p:nvSpPr>
        <p:spPr>
          <a:xfrm>
            <a:off x="153113" y="7049619"/>
            <a:ext cx="484860" cy="4848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61" b="0" i="0">
                <a:solidFill>
                  <a:srgbClr val="000000"/>
                </a:solidFill>
                <a:latin typeface="Liberation Sans"/>
              </a:rPr>
              <a:t>8</a:t>
            </a:r>
          </a:p>
        </p:txBody>
      </p:sp>
      <p:sp>
        <p:nvSpPr>
          <p:cNvPr id="393" name="badge_9"/>
          <p:cNvSpPr/>
          <p:nvPr/>
        </p:nvSpPr>
        <p:spPr>
          <a:xfrm>
            <a:off x="1416303" y="6073518"/>
            <a:ext cx="484860" cy="484860"/>
          </a:xfrm>
          <a:prstGeom prst="ellipse">
            <a:avLst/>
          </a:prstGeom>
          <a:solidFill>
            <a:srgbClr val="FFE22A"/>
          </a:solidFill>
          <a:ln w="31898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4" name="badge_9_label"/>
          <p:cNvSpPr txBox="1"/>
          <p:nvPr/>
        </p:nvSpPr>
        <p:spPr>
          <a:xfrm>
            <a:off x="1416303" y="6079898"/>
            <a:ext cx="484860" cy="4848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61" b="0" i="0">
                <a:solidFill>
                  <a:srgbClr val="000000"/>
                </a:solidFill>
                <a:latin typeface="Liberation Sans"/>
              </a:rPr>
              <a:t>9</a:t>
            </a:r>
          </a:p>
        </p:txBody>
      </p:sp>
      <p:sp>
        <p:nvSpPr>
          <p:cNvPr id="395" name="badge_6"/>
          <p:cNvSpPr/>
          <p:nvPr/>
        </p:nvSpPr>
        <p:spPr>
          <a:xfrm>
            <a:off x="5378126" y="5027240"/>
            <a:ext cx="497620" cy="497620"/>
          </a:xfrm>
          <a:prstGeom prst="ellipse">
            <a:avLst/>
          </a:prstGeom>
          <a:solidFill>
            <a:srgbClr val="FFE22A"/>
          </a:solidFill>
          <a:ln w="31898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6" name="badge_6_label"/>
          <p:cNvSpPr txBox="1"/>
          <p:nvPr/>
        </p:nvSpPr>
        <p:spPr>
          <a:xfrm>
            <a:off x="5378126" y="5033619"/>
            <a:ext cx="497620" cy="4976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61" b="0" i="0">
                <a:solidFill>
                  <a:srgbClr val="000000"/>
                </a:solidFill>
                <a:latin typeface="Liberation Sans"/>
              </a:rPr>
              <a:t>6</a:t>
            </a:r>
          </a:p>
        </p:txBody>
      </p:sp>
      <p:sp>
        <p:nvSpPr>
          <p:cNvPr id="397" name="badge_7"/>
          <p:cNvSpPr/>
          <p:nvPr/>
        </p:nvSpPr>
        <p:spPr>
          <a:xfrm>
            <a:off x="3623695" y="7036860"/>
            <a:ext cx="497620" cy="497620"/>
          </a:xfrm>
          <a:prstGeom prst="ellipse">
            <a:avLst/>
          </a:prstGeom>
          <a:solidFill>
            <a:srgbClr val="FFE22A"/>
          </a:solidFill>
          <a:ln w="31898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8" name="badge_7_label"/>
          <p:cNvSpPr txBox="1"/>
          <p:nvPr/>
        </p:nvSpPr>
        <p:spPr>
          <a:xfrm>
            <a:off x="3623695" y="7043239"/>
            <a:ext cx="497620" cy="4976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61" b="0" i="0">
                <a:solidFill>
                  <a:srgbClr val="000000"/>
                </a:solidFill>
                <a:latin typeface="Liberation Sans"/>
              </a:rPr>
              <a:t>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Continuous Thought Machines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1693" cy="764931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