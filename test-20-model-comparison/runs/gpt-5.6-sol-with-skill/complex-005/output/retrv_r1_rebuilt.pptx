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24345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01_canvas"/>
          <p:cNvSpPr/>
          <p:nvPr/>
        </p:nvSpPr>
        <p:spPr>
          <a:xfrm>
            <a:off x="0" y="0"/>
            <a:ext cx="12191695" cy="624345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002_panel_a_background"/>
          <p:cNvSpPr/>
          <p:nvPr/>
        </p:nvSpPr>
        <p:spPr>
          <a:xfrm>
            <a:off x="100498" y="169591"/>
            <a:ext cx="6256017" cy="4082742"/>
          </a:xfrm>
          <a:prstGeom prst="rect">
            <a:avLst/>
          </a:prstGeom>
          <a:solidFill>
            <a:srgbClr val="FDF5FF"/>
          </a:solidFill>
          <a:ln w="3140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03_panel_b_background"/>
          <p:cNvSpPr/>
          <p:nvPr/>
        </p:nvSpPr>
        <p:spPr>
          <a:xfrm>
            <a:off x="100498" y="4409361"/>
            <a:ext cx="6256017" cy="1821531"/>
          </a:xfrm>
          <a:prstGeom prst="rect">
            <a:avLst/>
          </a:prstGeom>
          <a:solidFill>
            <a:srgbClr val="EBFAF5"/>
          </a:solidFill>
          <a:ln w="3140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04_panel_c_background"/>
          <p:cNvSpPr/>
          <p:nvPr/>
        </p:nvSpPr>
        <p:spPr>
          <a:xfrm>
            <a:off x="6457013" y="169591"/>
            <a:ext cx="5684433" cy="6061301"/>
          </a:xfrm>
          <a:prstGeom prst="rect">
            <a:avLst/>
          </a:prstGeom>
          <a:solidFill>
            <a:srgbClr val="FFFDF8"/>
          </a:solidFill>
          <a:ln w="3140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5_panel_a_title"/>
          <p:cNvSpPr txBox="1"/>
          <p:nvPr/>
        </p:nvSpPr>
        <p:spPr>
          <a:xfrm>
            <a:off x="138185" y="175872"/>
            <a:ext cx="2386834" cy="2261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3" b="1" i="0">
                <a:solidFill>
                  <a:srgbClr val="000000"/>
                </a:solidFill>
                <a:latin typeface="Liberation Sans"/>
              </a:rPr>
              <a:t>(A) Overall Pipeline</a:t>
            </a:r>
          </a:p>
        </p:txBody>
      </p:sp>
      <p:sp>
        <p:nvSpPr>
          <p:cNvPr id="7" name="006_query_frame"/>
          <p:cNvSpPr/>
          <p:nvPr/>
        </p:nvSpPr>
        <p:spPr>
          <a:xfrm>
            <a:off x="150747" y="414555"/>
            <a:ext cx="1746157" cy="2110463"/>
          </a:xfrm>
          <a:prstGeom prst="rect">
            <a:avLst/>
          </a:prstGeom>
          <a:noFill/>
          <a:ln w="25124">
            <a:solidFill>
              <a:srgbClr val="F4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07_query_title"/>
          <p:cNvSpPr txBox="1"/>
          <p:nvPr/>
        </p:nvSpPr>
        <p:spPr>
          <a:xfrm>
            <a:off x="150747" y="401993"/>
            <a:ext cx="174615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33" b="0" i="0">
                <a:solidFill>
                  <a:srgbClr val="000000"/>
                </a:solidFill>
                <a:latin typeface="Liberation Sans"/>
              </a:rPr>
              <a:t>Query</a:t>
            </a:r>
          </a:p>
        </p:txBody>
      </p:sp>
      <p:pic>
        <p:nvPicPr>
          <p:cNvPr id="9" name="008_query_image" descr="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9" y="602990"/>
            <a:ext cx="1639378" cy="1099200"/>
          </a:xfrm>
          <a:prstGeom prst="rect">
            <a:avLst/>
          </a:prstGeom>
          <a:effectLst/>
        </p:spPr>
      </p:pic>
      <p:sp>
        <p:nvSpPr>
          <p:cNvPr id="10" name="009_query_instruction"/>
          <p:cNvSpPr txBox="1"/>
          <p:nvPr/>
        </p:nvSpPr>
        <p:spPr>
          <a:xfrm>
            <a:off x="200997" y="1758720"/>
            <a:ext cx="1695908" cy="7286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84" b="0" i="0">
                <a:solidFill>
                  <a:srgbClr val="000000"/>
                </a:solidFill>
                <a:latin typeface="Liberation Sans"/>
              </a:rPr>
              <a:t>Find an image with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84" b="0" i="0">
                <a:solidFill>
                  <a:srgbClr val="000000"/>
                </a:solidFill>
                <a:latin typeface="Liberation Sans"/>
              </a:rPr>
              <a:t>a  different  animal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84" b="0" i="0">
                <a:solidFill>
                  <a:srgbClr val="000000"/>
                </a:solidFill>
                <a:latin typeface="Liberation Sans"/>
              </a:rPr>
              <a:t>but the same style.</a:t>
            </a:r>
          </a:p>
        </p:txBody>
      </p:sp>
      <p:sp>
        <p:nvSpPr>
          <p:cNvPr id="11" name="010_query_tokens_frame"/>
          <p:cNvSpPr/>
          <p:nvPr/>
        </p:nvSpPr>
        <p:spPr>
          <a:xfrm>
            <a:off x="169591" y="2587830"/>
            <a:ext cx="1727314" cy="427118"/>
          </a:xfrm>
          <a:prstGeom prst="rect">
            <a:avLst/>
          </a:prstGeom>
          <a:noFill/>
          <a:ln w="25124">
            <a:solidFill>
              <a:srgbClr val="F4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11_query_tokens_token_1"/>
          <p:cNvSpPr/>
          <p:nvPr/>
        </p:nvSpPr>
        <p:spPr>
          <a:xfrm>
            <a:off x="219840" y="2650642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12_query_tokens_token_2"/>
          <p:cNvSpPr/>
          <p:nvPr/>
        </p:nvSpPr>
        <p:spPr>
          <a:xfrm>
            <a:off x="577865" y="2650642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13_query_tokens_token_3"/>
          <p:cNvSpPr/>
          <p:nvPr/>
        </p:nvSpPr>
        <p:spPr>
          <a:xfrm>
            <a:off x="1582848" y="2650642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14_query_tokens_ellipsis_dot_1"/>
          <p:cNvSpPr/>
          <p:nvPr/>
        </p:nvSpPr>
        <p:spPr>
          <a:xfrm>
            <a:off x="876219" y="27668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15_query_tokens_ellipsis_dot_2"/>
          <p:cNvSpPr/>
          <p:nvPr/>
        </p:nvSpPr>
        <p:spPr>
          <a:xfrm>
            <a:off x="964155" y="27668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16_query_tokens_ellipsis_dot_3"/>
          <p:cNvSpPr/>
          <p:nvPr/>
        </p:nvSpPr>
        <p:spPr>
          <a:xfrm>
            <a:off x="1052091" y="27668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17_query_tokens_formula_base"/>
          <p:cNvSpPr txBox="1"/>
          <p:nvPr/>
        </p:nvSpPr>
        <p:spPr>
          <a:xfrm>
            <a:off x="957472" y="2795108"/>
            <a:ext cx="130648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9" name="018_query_tokens_formula_sub"/>
          <p:cNvSpPr txBox="1"/>
          <p:nvPr/>
        </p:nvSpPr>
        <p:spPr>
          <a:xfrm>
            <a:off x="1039780" y="2886938"/>
            <a:ext cx="175872" cy="10037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sp>
        <p:nvSpPr>
          <p:cNvPr id="20" name="019_candidate_1_title"/>
          <p:cNvSpPr txBox="1"/>
          <p:nvPr/>
        </p:nvSpPr>
        <p:spPr>
          <a:xfrm>
            <a:off x="1991122" y="420836"/>
            <a:ext cx="1224823" cy="2261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33" b="0" i="0">
                <a:solidFill>
                  <a:srgbClr val="000000"/>
                </a:solidFill>
                <a:latin typeface="Liberation Sans"/>
              </a:rPr>
              <a:t>Candidate 1</a:t>
            </a:r>
          </a:p>
        </p:txBody>
      </p:sp>
      <p:pic>
        <p:nvPicPr>
          <p:cNvPr id="21" name="020_candidate_1_image" descr="candidat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684" y="602990"/>
            <a:ext cx="1199698" cy="791424"/>
          </a:xfrm>
          <a:prstGeom prst="rect">
            <a:avLst/>
          </a:prstGeom>
          <a:effectLst/>
        </p:spPr>
      </p:pic>
      <p:sp>
        <p:nvSpPr>
          <p:cNvPr id="22" name="021_candidate_1_tokens_frame"/>
          <p:cNvSpPr/>
          <p:nvPr/>
        </p:nvSpPr>
        <p:spPr>
          <a:xfrm>
            <a:off x="1959716" y="1425819"/>
            <a:ext cx="1287634" cy="615552"/>
          </a:xfrm>
          <a:prstGeom prst="rect">
            <a:avLst/>
          </a:prstGeom>
          <a:noFill/>
          <a:ln w="25124">
            <a:solidFill>
              <a:srgbClr val="AD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22_candidate_1_tokens_token_1"/>
          <p:cNvSpPr/>
          <p:nvPr/>
        </p:nvSpPr>
        <p:spPr>
          <a:xfrm>
            <a:off x="2009965" y="1488630"/>
            <a:ext cx="263808" cy="263808"/>
          </a:xfrm>
          <a:prstGeom prst="rect">
            <a:avLst/>
          </a:prstGeom>
          <a:solidFill>
            <a:srgbClr val="A1C4B0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23_candidate_1_tokens_token_2"/>
          <p:cNvSpPr/>
          <p:nvPr/>
        </p:nvSpPr>
        <p:spPr>
          <a:xfrm>
            <a:off x="2367990" y="1488630"/>
            <a:ext cx="263808" cy="263808"/>
          </a:xfrm>
          <a:prstGeom prst="rect">
            <a:avLst/>
          </a:prstGeom>
          <a:solidFill>
            <a:srgbClr val="A1C4B0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24_candidate_1_tokens_token_3"/>
          <p:cNvSpPr/>
          <p:nvPr/>
        </p:nvSpPr>
        <p:spPr>
          <a:xfrm>
            <a:off x="2933293" y="1488630"/>
            <a:ext cx="263808" cy="263808"/>
          </a:xfrm>
          <a:prstGeom prst="rect">
            <a:avLst/>
          </a:prstGeom>
          <a:solidFill>
            <a:srgbClr val="A1C4B0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25_candidate_1_tokens_ellipsis_dot_1"/>
          <p:cNvSpPr/>
          <p:nvPr/>
        </p:nvSpPr>
        <p:spPr>
          <a:xfrm>
            <a:off x="2666344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26_candidate_1_tokens_ellipsis_dot_2"/>
          <p:cNvSpPr/>
          <p:nvPr/>
        </p:nvSpPr>
        <p:spPr>
          <a:xfrm>
            <a:off x="2754280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27_candidate_1_tokens_ellipsis_dot_3"/>
          <p:cNvSpPr/>
          <p:nvPr/>
        </p:nvSpPr>
        <p:spPr>
          <a:xfrm>
            <a:off x="2842216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28_candidate_1_tokens_formula_base"/>
          <p:cNvSpPr txBox="1"/>
          <p:nvPr/>
        </p:nvSpPr>
        <p:spPr>
          <a:xfrm>
            <a:off x="2527757" y="1821531"/>
            <a:ext cx="130648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30" name="029_candidate_1_tokens_formula_sub"/>
          <p:cNvSpPr txBox="1"/>
          <p:nvPr/>
        </p:nvSpPr>
        <p:spPr>
          <a:xfrm>
            <a:off x="2610065" y="1913361"/>
            <a:ext cx="175872" cy="10037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1">
                <a:solidFill>
                  <a:srgbClr val="000000"/>
                </a:solidFill>
                <a:latin typeface="Liberation Serif"/>
              </a:rPr>
              <a:t>c₁</a:t>
            </a:r>
          </a:p>
        </p:txBody>
      </p:sp>
      <p:sp>
        <p:nvSpPr>
          <p:cNvPr id="31" name="030_candidate_2_title"/>
          <p:cNvSpPr txBox="1"/>
          <p:nvPr/>
        </p:nvSpPr>
        <p:spPr>
          <a:xfrm>
            <a:off x="3329005" y="420836"/>
            <a:ext cx="1224823" cy="2261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33" b="0" i="0">
                <a:solidFill>
                  <a:srgbClr val="000000"/>
                </a:solidFill>
                <a:latin typeface="Liberation Sans"/>
              </a:rPr>
              <a:t>Candidate 2</a:t>
            </a:r>
          </a:p>
        </p:txBody>
      </p:sp>
      <p:pic>
        <p:nvPicPr>
          <p:cNvPr id="32" name="031_candidate_2_image" descr="candidat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567" y="602990"/>
            <a:ext cx="1199698" cy="791424"/>
          </a:xfrm>
          <a:prstGeom prst="rect">
            <a:avLst/>
          </a:prstGeom>
          <a:effectLst/>
        </p:spPr>
      </p:pic>
      <p:sp>
        <p:nvSpPr>
          <p:cNvPr id="33" name="032_candidate_2_tokens_frame"/>
          <p:cNvSpPr/>
          <p:nvPr/>
        </p:nvSpPr>
        <p:spPr>
          <a:xfrm>
            <a:off x="3297599" y="1425819"/>
            <a:ext cx="1287634" cy="615552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33_candidate_2_tokens_token_1"/>
          <p:cNvSpPr/>
          <p:nvPr/>
        </p:nvSpPr>
        <p:spPr>
          <a:xfrm>
            <a:off x="3347848" y="1488630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34_candidate_2_tokens_token_2"/>
          <p:cNvSpPr/>
          <p:nvPr/>
        </p:nvSpPr>
        <p:spPr>
          <a:xfrm>
            <a:off x="3705873" y="1488630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35_candidate_2_tokens_token_3"/>
          <p:cNvSpPr/>
          <p:nvPr/>
        </p:nvSpPr>
        <p:spPr>
          <a:xfrm>
            <a:off x="4271176" y="1488630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36_candidate_2_tokens_ellipsis_dot_1"/>
          <p:cNvSpPr/>
          <p:nvPr/>
        </p:nvSpPr>
        <p:spPr>
          <a:xfrm>
            <a:off x="4004227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37_candidate_2_tokens_ellipsis_dot_2"/>
          <p:cNvSpPr/>
          <p:nvPr/>
        </p:nvSpPr>
        <p:spPr>
          <a:xfrm>
            <a:off x="4092163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38_candidate_2_tokens_ellipsis_dot_3"/>
          <p:cNvSpPr/>
          <p:nvPr/>
        </p:nvSpPr>
        <p:spPr>
          <a:xfrm>
            <a:off x="4180099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39_candidate_2_tokens_formula_base"/>
          <p:cNvSpPr txBox="1"/>
          <p:nvPr/>
        </p:nvSpPr>
        <p:spPr>
          <a:xfrm>
            <a:off x="3865640" y="1821531"/>
            <a:ext cx="130648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41" name="040_candidate_2_tokens_formula_sub"/>
          <p:cNvSpPr txBox="1"/>
          <p:nvPr/>
        </p:nvSpPr>
        <p:spPr>
          <a:xfrm>
            <a:off x="3947948" y="1913361"/>
            <a:ext cx="175872" cy="10037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1">
                <a:solidFill>
                  <a:srgbClr val="000000"/>
                </a:solidFill>
                <a:latin typeface="Liberation Serif"/>
              </a:rPr>
              <a:t>c₂</a:t>
            </a:r>
          </a:p>
        </p:txBody>
      </p:sp>
      <p:sp>
        <p:nvSpPr>
          <p:cNvPr id="42" name="041_candidate_k_title"/>
          <p:cNvSpPr txBox="1"/>
          <p:nvPr/>
        </p:nvSpPr>
        <p:spPr>
          <a:xfrm>
            <a:off x="5037475" y="420836"/>
            <a:ext cx="1231104" cy="2261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33" b="0" i="0">
                <a:solidFill>
                  <a:srgbClr val="000000"/>
                </a:solidFill>
                <a:latin typeface="Liberation Sans"/>
              </a:rPr>
              <a:t>Candidate K</a:t>
            </a:r>
          </a:p>
        </p:txBody>
      </p:sp>
      <p:pic>
        <p:nvPicPr>
          <p:cNvPr id="43" name="042_candidate_k_image" descr="candidate_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037" y="609271"/>
            <a:ext cx="1205979" cy="791424"/>
          </a:xfrm>
          <a:prstGeom prst="rect">
            <a:avLst/>
          </a:prstGeom>
          <a:effectLst/>
        </p:spPr>
      </p:pic>
      <p:sp>
        <p:nvSpPr>
          <p:cNvPr id="44" name="043_candidate_k_tokens_frame"/>
          <p:cNvSpPr/>
          <p:nvPr/>
        </p:nvSpPr>
        <p:spPr>
          <a:xfrm>
            <a:off x="5006070" y="1425819"/>
            <a:ext cx="1287634" cy="615552"/>
          </a:xfrm>
          <a:prstGeom prst="rect">
            <a:avLst/>
          </a:prstGeom>
          <a:noFill/>
          <a:ln w="25124">
            <a:solidFill>
              <a:srgbClr val="B7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44_candidate_k_tokens_token_1"/>
          <p:cNvSpPr/>
          <p:nvPr/>
        </p:nvSpPr>
        <p:spPr>
          <a:xfrm>
            <a:off x="5056319" y="1488630"/>
            <a:ext cx="263808" cy="263808"/>
          </a:xfrm>
          <a:prstGeom prst="rect">
            <a:avLst/>
          </a:prstGeom>
          <a:solidFill>
            <a:srgbClr val="B3A4C3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45_candidate_k_tokens_token_2"/>
          <p:cNvSpPr/>
          <p:nvPr/>
        </p:nvSpPr>
        <p:spPr>
          <a:xfrm>
            <a:off x="5414344" y="1488630"/>
            <a:ext cx="263808" cy="263808"/>
          </a:xfrm>
          <a:prstGeom prst="rect">
            <a:avLst/>
          </a:prstGeom>
          <a:solidFill>
            <a:srgbClr val="B3A4C3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46_candidate_k_tokens_token_3"/>
          <p:cNvSpPr/>
          <p:nvPr/>
        </p:nvSpPr>
        <p:spPr>
          <a:xfrm>
            <a:off x="5979646" y="1488630"/>
            <a:ext cx="263808" cy="263808"/>
          </a:xfrm>
          <a:prstGeom prst="rect">
            <a:avLst/>
          </a:prstGeom>
          <a:solidFill>
            <a:srgbClr val="B3A4C3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47_candidate_k_tokens_ellipsis_dot_1"/>
          <p:cNvSpPr/>
          <p:nvPr/>
        </p:nvSpPr>
        <p:spPr>
          <a:xfrm>
            <a:off x="5712698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048_candidate_k_tokens_ellipsis_dot_2"/>
          <p:cNvSpPr/>
          <p:nvPr/>
        </p:nvSpPr>
        <p:spPr>
          <a:xfrm>
            <a:off x="5800634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49_candidate_k_tokens_ellipsis_dot_3"/>
          <p:cNvSpPr/>
          <p:nvPr/>
        </p:nvSpPr>
        <p:spPr>
          <a:xfrm>
            <a:off x="5888570" y="160483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50_candidate_k_tokens_formula_base"/>
          <p:cNvSpPr txBox="1"/>
          <p:nvPr/>
        </p:nvSpPr>
        <p:spPr>
          <a:xfrm>
            <a:off x="5574111" y="1821531"/>
            <a:ext cx="130648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52" name="051_candidate_k_tokens_formula_sub"/>
          <p:cNvSpPr txBox="1"/>
          <p:nvPr/>
        </p:nvSpPr>
        <p:spPr>
          <a:xfrm>
            <a:off x="5656419" y="1913361"/>
            <a:ext cx="175872" cy="10037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53" name="052_candidate_top_ellipsis_dot_1"/>
          <p:cNvSpPr/>
          <p:nvPr/>
        </p:nvSpPr>
        <p:spPr>
          <a:xfrm>
            <a:off x="4638623" y="96415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53_candidate_top_ellipsis_dot_2"/>
          <p:cNvSpPr/>
          <p:nvPr/>
        </p:nvSpPr>
        <p:spPr>
          <a:xfrm>
            <a:off x="4751683" y="96415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54_candidate_top_ellipsis_dot_3"/>
          <p:cNvSpPr/>
          <p:nvPr/>
        </p:nvSpPr>
        <p:spPr>
          <a:xfrm>
            <a:off x="4864744" y="96415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055_candidate_token_ellipsis_dot_1"/>
          <p:cNvSpPr/>
          <p:nvPr/>
        </p:nvSpPr>
        <p:spPr>
          <a:xfrm>
            <a:off x="4651185" y="1686486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56_candidate_token_ellipsis_dot_2"/>
          <p:cNvSpPr/>
          <p:nvPr/>
        </p:nvSpPr>
        <p:spPr>
          <a:xfrm>
            <a:off x="4764246" y="1686486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057_candidate_token_ellipsis_dot_3"/>
          <p:cNvSpPr/>
          <p:nvPr/>
        </p:nvSpPr>
        <p:spPr>
          <a:xfrm>
            <a:off x="4877306" y="1686486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058_cand1_to_icm_segment_1"/>
          <p:cNvCxnSpPr/>
          <p:nvPr/>
        </p:nvCxnSpPr>
        <p:spPr>
          <a:xfrm>
            <a:off x="2644360" y="2041371"/>
            <a:ext cx="0" cy="138185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059_cand1_to_icm_head"/>
          <p:cNvSpPr/>
          <p:nvPr/>
        </p:nvSpPr>
        <p:spPr>
          <a:xfrm rot="10800000">
            <a:off x="2619236" y="215443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060_cand2_to_icm_segment_1"/>
          <p:cNvCxnSpPr/>
          <p:nvPr/>
        </p:nvCxnSpPr>
        <p:spPr>
          <a:xfrm>
            <a:off x="3994806" y="2041371"/>
            <a:ext cx="0" cy="138185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061_cand2_to_icm_head"/>
          <p:cNvSpPr/>
          <p:nvPr/>
        </p:nvSpPr>
        <p:spPr>
          <a:xfrm rot="10800000">
            <a:off x="3969681" y="215443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062_candk_to_icm_segment_1"/>
          <p:cNvCxnSpPr/>
          <p:nvPr/>
        </p:nvCxnSpPr>
        <p:spPr>
          <a:xfrm>
            <a:off x="5703276" y="2041371"/>
            <a:ext cx="0" cy="138185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063_candk_to_icm_head"/>
          <p:cNvSpPr/>
          <p:nvPr/>
        </p:nvSpPr>
        <p:spPr>
          <a:xfrm rot="10800000">
            <a:off x="5678152" y="215443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064_icm_bar"/>
          <p:cNvSpPr/>
          <p:nvPr/>
        </p:nvSpPr>
        <p:spPr>
          <a:xfrm>
            <a:off x="1947154" y="2179556"/>
            <a:ext cx="4340269" cy="270089"/>
          </a:xfrm>
          <a:prstGeom prst="roundRect">
            <a:avLst>
              <a:gd name="adj" fmla="val 18604"/>
            </a:avLst>
          </a:prstGeom>
          <a:solidFill>
            <a:srgbClr val="EAF9F6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65_icm_bar_label"/>
          <p:cNvSpPr txBox="1"/>
          <p:nvPr/>
        </p:nvSpPr>
        <p:spPr>
          <a:xfrm>
            <a:off x="1959716" y="2179556"/>
            <a:ext cx="4315144" cy="27008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000000"/>
                </a:solidFill>
                <a:latin typeface="Liberation Sans"/>
              </a:rPr>
              <a:t>Information Compression Module (ICM)</a:t>
            </a:r>
          </a:p>
        </p:txBody>
      </p:sp>
      <p:cxnSp>
        <p:nvCxnSpPr>
          <p:cNvPr id="67" name="066_icm_to_pair1_segment_1"/>
          <p:cNvCxnSpPr/>
          <p:nvPr/>
        </p:nvCxnSpPr>
        <p:spPr>
          <a:xfrm>
            <a:off x="2644360" y="2449645"/>
            <a:ext cx="0" cy="144466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067_icm_to_pair1_head"/>
          <p:cNvSpPr/>
          <p:nvPr/>
        </p:nvSpPr>
        <p:spPr>
          <a:xfrm rot="10800000">
            <a:off x="2619236" y="2568987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068_icm_to_pair2_segment_1"/>
          <p:cNvCxnSpPr/>
          <p:nvPr/>
        </p:nvCxnSpPr>
        <p:spPr>
          <a:xfrm>
            <a:off x="3994806" y="2449645"/>
            <a:ext cx="0" cy="144466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069_icm_to_pair2_head"/>
          <p:cNvSpPr/>
          <p:nvPr/>
        </p:nvSpPr>
        <p:spPr>
          <a:xfrm rot="10800000">
            <a:off x="3969681" y="2568987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070_icm_to_pairk_segment_1"/>
          <p:cNvCxnSpPr/>
          <p:nvPr/>
        </p:nvCxnSpPr>
        <p:spPr>
          <a:xfrm>
            <a:off x="5703276" y="2449645"/>
            <a:ext cx="0" cy="144466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071_icm_to_pairk_head"/>
          <p:cNvSpPr/>
          <p:nvPr/>
        </p:nvSpPr>
        <p:spPr>
          <a:xfrm rot="10800000">
            <a:off x="5678152" y="2568987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72_candidate1_outputs_frame"/>
          <p:cNvSpPr/>
          <p:nvPr/>
        </p:nvSpPr>
        <p:spPr>
          <a:xfrm>
            <a:off x="1959716" y="2594111"/>
            <a:ext cx="1287634" cy="420836"/>
          </a:xfrm>
          <a:prstGeom prst="rect">
            <a:avLst/>
          </a:prstGeom>
          <a:noFill/>
          <a:ln w="25124">
            <a:solidFill>
              <a:srgbClr val="ADD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073_candidate1_outputs_content_token"/>
          <p:cNvSpPr/>
          <p:nvPr/>
        </p:nvSpPr>
        <p:spPr>
          <a:xfrm>
            <a:off x="2009965" y="2663204"/>
            <a:ext cx="263808" cy="263808"/>
          </a:xfrm>
          <a:prstGeom prst="rect">
            <a:avLst/>
          </a:prstGeom>
          <a:solidFill>
            <a:srgbClr val="A1C4B0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074_candidate1_outputs_content_formula_base"/>
          <p:cNvSpPr txBox="1"/>
          <p:nvPr/>
        </p:nvSpPr>
        <p:spPr>
          <a:xfrm>
            <a:off x="2286335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76" name="075_candidate1_outputs_content_formula_sup"/>
          <p:cNvSpPr txBox="1"/>
          <p:nvPr/>
        </p:nvSpPr>
        <p:spPr>
          <a:xfrm>
            <a:off x="2386834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c1</a:t>
            </a:r>
          </a:p>
        </p:txBody>
      </p:sp>
      <p:sp>
        <p:nvSpPr>
          <p:cNvPr id="77" name="076_candidate1_outputs_content_formula_sub"/>
          <p:cNvSpPr txBox="1"/>
          <p:nvPr/>
        </p:nvSpPr>
        <p:spPr>
          <a:xfrm>
            <a:off x="2380553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78" name="077_candidate1_outputs_relation_token"/>
          <p:cNvSpPr/>
          <p:nvPr/>
        </p:nvSpPr>
        <p:spPr>
          <a:xfrm>
            <a:off x="2675766" y="2663204"/>
            <a:ext cx="263808" cy="263808"/>
          </a:xfrm>
          <a:prstGeom prst="rect">
            <a:avLst/>
          </a:prstGeom>
          <a:solidFill>
            <a:srgbClr val="A1C4B0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078_candidate1_outputs_relation_formula_base"/>
          <p:cNvSpPr txBox="1"/>
          <p:nvPr/>
        </p:nvSpPr>
        <p:spPr>
          <a:xfrm>
            <a:off x="2945855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80" name="079_candidate1_outputs_relation_formula_sup"/>
          <p:cNvSpPr txBox="1"/>
          <p:nvPr/>
        </p:nvSpPr>
        <p:spPr>
          <a:xfrm>
            <a:off x="3046353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c1</a:t>
            </a:r>
          </a:p>
        </p:txBody>
      </p:sp>
      <p:sp>
        <p:nvSpPr>
          <p:cNvPr id="81" name="080_candidate1_outputs_relation_formula_sub"/>
          <p:cNvSpPr txBox="1"/>
          <p:nvPr/>
        </p:nvSpPr>
        <p:spPr>
          <a:xfrm>
            <a:off x="3040072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82" name="081_candidate2_outputs_frame"/>
          <p:cNvSpPr/>
          <p:nvPr/>
        </p:nvSpPr>
        <p:spPr>
          <a:xfrm>
            <a:off x="3297599" y="2594111"/>
            <a:ext cx="1287634" cy="420836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082_candidate2_outputs_content_token"/>
          <p:cNvSpPr/>
          <p:nvPr/>
        </p:nvSpPr>
        <p:spPr>
          <a:xfrm>
            <a:off x="3347848" y="266320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083_candidate2_outputs_content_formula_base"/>
          <p:cNvSpPr txBox="1"/>
          <p:nvPr/>
        </p:nvSpPr>
        <p:spPr>
          <a:xfrm>
            <a:off x="3624218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85" name="084_candidate2_outputs_content_formula_sup"/>
          <p:cNvSpPr txBox="1"/>
          <p:nvPr/>
        </p:nvSpPr>
        <p:spPr>
          <a:xfrm>
            <a:off x="3724717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86" name="085_candidate2_outputs_content_formula_sub"/>
          <p:cNvSpPr txBox="1"/>
          <p:nvPr/>
        </p:nvSpPr>
        <p:spPr>
          <a:xfrm>
            <a:off x="3718436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87" name="086_candidate2_outputs_relation_token"/>
          <p:cNvSpPr/>
          <p:nvPr/>
        </p:nvSpPr>
        <p:spPr>
          <a:xfrm>
            <a:off x="4013649" y="266320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087_candidate2_outputs_relation_formula_base"/>
          <p:cNvSpPr txBox="1"/>
          <p:nvPr/>
        </p:nvSpPr>
        <p:spPr>
          <a:xfrm>
            <a:off x="4283738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89" name="088_candidate2_outputs_relation_formula_sup"/>
          <p:cNvSpPr txBox="1"/>
          <p:nvPr/>
        </p:nvSpPr>
        <p:spPr>
          <a:xfrm>
            <a:off x="4384237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90" name="089_candidate2_outputs_relation_formula_sub"/>
          <p:cNvSpPr txBox="1"/>
          <p:nvPr/>
        </p:nvSpPr>
        <p:spPr>
          <a:xfrm>
            <a:off x="4377955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91" name="090_candidatek_outputs_frame"/>
          <p:cNvSpPr/>
          <p:nvPr/>
        </p:nvSpPr>
        <p:spPr>
          <a:xfrm>
            <a:off x="5006070" y="2594111"/>
            <a:ext cx="1287634" cy="420836"/>
          </a:xfrm>
          <a:prstGeom prst="rect">
            <a:avLst/>
          </a:prstGeom>
          <a:noFill/>
          <a:ln w="25124">
            <a:solidFill>
              <a:srgbClr val="B7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091_candidatek_outputs_content_token"/>
          <p:cNvSpPr/>
          <p:nvPr/>
        </p:nvSpPr>
        <p:spPr>
          <a:xfrm>
            <a:off x="5056319" y="2663204"/>
            <a:ext cx="263808" cy="263808"/>
          </a:xfrm>
          <a:prstGeom prst="rect">
            <a:avLst/>
          </a:prstGeom>
          <a:solidFill>
            <a:srgbClr val="B3A4C3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092_candidatek_outputs_content_formula_base"/>
          <p:cNvSpPr txBox="1"/>
          <p:nvPr/>
        </p:nvSpPr>
        <p:spPr>
          <a:xfrm>
            <a:off x="5332689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94" name="093_candidatek_outputs_content_formula_sup"/>
          <p:cNvSpPr txBox="1"/>
          <p:nvPr/>
        </p:nvSpPr>
        <p:spPr>
          <a:xfrm>
            <a:off x="5433187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95" name="094_candidatek_outputs_content_formula_sub"/>
          <p:cNvSpPr txBox="1"/>
          <p:nvPr/>
        </p:nvSpPr>
        <p:spPr>
          <a:xfrm>
            <a:off x="5426906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96" name="095_candidatek_outputs_relation_token"/>
          <p:cNvSpPr/>
          <p:nvPr/>
        </p:nvSpPr>
        <p:spPr>
          <a:xfrm>
            <a:off x="5722120" y="2663204"/>
            <a:ext cx="263808" cy="263808"/>
          </a:xfrm>
          <a:prstGeom prst="rect">
            <a:avLst/>
          </a:prstGeom>
          <a:solidFill>
            <a:srgbClr val="B3A4C3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096_candidatek_outputs_relation_formula_base"/>
          <p:cNvSpPr txBox="1"/>
          <p:nvPr/>
        </p:nvSpPr>
        <p:spPr>
          <a:xfrm>
            <a:off x="5992209" y="2638079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98" name="097_candidatek_outputs_relation_formula_sup"/>
          <p:cNvSpPr txBox="1"/>
          <p:nvPr/>
        </p:nvSpPr>
        <p:spPr>
          <a:xfrm>
            <a:off x="6092707" y="2619236"/>
            <a:ext cx="194715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2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99" name="098_candidatek_outputs_relation_formula_sub"/>
          <p:cNvSpPr txBox="1"/>
          <p:nvPr/>
        </p:nvSpPr>
        <p:spPr>
          <a:xfrm>
            <a:off x="6086426" y="2732296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100" name="099_candidate_output_ellipsis_dot_1"/>
          <p:cNvSpPr/>
          <p:nvPr/>
        </p:nvSpPr>
        <p:spPr>
          <a:xfrm>
            <a:off x="4651185" y="277940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100_candidate_output_ellipsis_dot_2"/>
          <p:cNvSpPr/>
          <p:nvPr/>
        </p:nvSpPr>
        <p:spPr>
          <a:xfrm>
            <a:off x="4764246" y="277940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101_candidate_output_ellipsis_dot_3"/>
          <p:cNvSpPr/>
          <p:nvPr/>
        </p:nvSpPr>
        <p:spPr>
          <a:xfrm>
            <a:off x="4877306" y="2779405"/>
            <a:ext cx="43968" cy="43968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102_query_to_llm_segment_1"/>
          <p:cNvCxnSpPr/>
          <p:nvPr/>
        </p:nvCxnSpPr>
        <p:spPr>
          <a:xfrm>
            <a:off x="1896905" y="2801389"/>
            <a:ext cx="1375570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2_query_to_llm_segment_2"/>
          <p:cNvCxnSpPr/>
          <p:nvPr/>
        </p:nvCxnSpPr>
        <p:spPr>
          <a:xfrm>
            <a:off x="3272475" y="2801389"/>
            <a:ext cx="0" cy="326619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103_query_to_llm_head"/>
          <p:cNvSpPr/>
          <p:nvPr/>
        </p:nvSpPr>
        <p:spPr>
          <a:xfrm rot="10800000">
            <a:off x="3247350" y="3102884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104_pair1_to_llm_segment_1"/>
          <p:cNvCxnSpPr/>
          <p:nvPr/>
        </p:nvCxnSpPr>
        <p:spPr>
          <a:xfrm>
            <a:off x="2644360" y="3014948"/>
            <a:ext cx="0" cy="11306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105_pair1_to_llm_head"/>
          <p:cNvSpPr/>
          <p:nvPr/>
        </p:nvSpPr>
        <p:spPr>
          <a:xfrm rot="10800000">
            <a:off x="2619236" y="3102884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106_pair2_to_llm_segment_1"/>
          <p:cNvCxnSpPr/>
          <p:nvPr/>
        </p:nvCxnSpPr>
        <p:spPr>
          <a:xfrm>
            <a:off x="3994806" y="3014948"/>
            <a:ext cx="0" cy="11306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7_pair2_to_llm_head"/>
          <p:cNvSpPr/>
          <p:nvPr/>
        </p:nvSpPr>
        <p:spPr>
          <a:xfrm rot="10800000">
            <a:off x="3969681" y="3102884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108_pairk_to_llm_segment_1"/>
          <p:cNvCxnSpPr/>
          <p:nvPr/>
        </p:nvCxnSpPr>
        <p:spPr>
          <a:xfrm>
            <a:off x="5703276" y="3014948"/>
            <a:ext cx="0" cy="11306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109_pairk_to_llm_head"/>
          <p:cNvSpPr/>
          <p:nvPr/>
        </p:nvSpPr>
        <p:spPr>
          <a:xfrm rot="10800000">
            <a:off x="5678152" y="3102884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110_pipeline_llm"/>
          <p:cNvSpPr/>
          <p:nvPr/>
        </p:nvSpPr>
        <p:spPr>
          <a:xfrm>
            <a:off x="150747" y="3128008"/>
            <a:ext cx="6142956" cy="314057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111_pipeline_llm_robot_body"/>
          <p:cNvSpPr/>
          <p:nvPr/>
        </p:nvSpPr>
        <p:spPr>
          <a:xfrm>
            <a:off x="2150663" y="3285037"/>
            <a:ext cx="122105" cy="63314"/>
          </a:xfrm>
          <a:prstGeom prst="roundRect">
            <a:avLst>
              <a:gd name="adj" fmla="val 32142"/>
            </a:avLst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112_pipeline_llm_robot_head"/>
          <p:cNvSpPr/>
          <p:nvPr/>
        </p:nvSpPr>
        <p:spPr>
          <a:xfrm>
            <a:off x="2134834" y="3208156"/>
            <a:ext cx="153762" cy="108538"/>
          </a:xfrm>
          <a:prstGeom prst="roundRect">
            <a:avLst>
              <a:gd name="adj" fmla="val 27083"/>
            </a:avLst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113_pipeline_llm_robot_ear_l"/>
          <p:cNvSpPr/>
          <p:nvPr/>
        </p:nvSpPr>
        <p:spPr>
          <a:xfrm>
            <a:off x="2116745" y="3239813"/>
            <a:ext cx="27135" cy="52008"/>
          </a:xfrm>
          <a:prstGeom prst="ellipse">
            <a:avLst/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114_pipeline_llm_robot_ear_r"/>
          <p:cNvSpPr/>
          <p:nvPr/>
        </p:nvSpPr>
        <p:spPr>
          <a:xfrm>
            <a:off x="2281813" y="3239813"/>
            <a:ext cx="27135" cy="52008"/>
          </a:xfrm>
          <a:prstGeom prst="ellipse">
            <a:avLst/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115_pipeline_llm_robot_eye_l"/>
          <p:cNvSpPr/>
          <p:nvPr/>
        </p:nvSpPr>
        <p:spPr>
          <a:xfrm>
            <a:off x="2173275" y="3244335"/>
            <a:ext cx="13567" cy="18090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116_pipeline_llm_robot_eye_r"/>
          <p:cNvSpPr/>
          <p:nvPr/>
        </p:nvSpPr>
        <p:spPr>
          <a:xfrm>
            <a:off x="2236589" y="3244335"/>
            <a:ext cx="13567" cy="18090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117_pipeline_llm_robot_mouth_segment_1"/>
          <p:cNvCxnSpPr/>
          <p:nvPr/>
        </p:nvCxnSpPr>
        <p:spPr>
          <a:xfrm>
            <a:off x="2195887" y="3282776"/>
            <a:ext cx="15828" cy="9044"/>
          </a:xfrm>
          <a:prstGeom prst="line">
            <a:avLst/>
          </a:prstGeom>
          <a:ln w="125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7_pipeline_llm_robot_mouth_segment_2"/>
          <p:cNvCxnSpPr/>
          <p:nvPr/>
        </p:nvCxnSpPr>
        <p:spPr>
          <a:xfrm flipV="1">
            <a:off x="2211715" y="3282776"/>
            <a:ext cx="18090" cy="9044"/>
          </a:xfrm>
          <a:prstGeom prst="line">
            <a:avLst/>
          </a:prstGeom>
          <a:ln w="125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118_pipeline_llm_robot_base_segment_1"/>
          <p:cNvCxnSpPr/>
          <p:nvPr/>
        </p:nvCxnSpPr>
        <p:spPr>
          <a:xfrm>
            <a:off x="2164230" y="3350612"/>
            <a:ext cx="97232" cy="0"/>
          </a:xfrm>
          <a:prstGeom prst="line">
            <a:avLst/>
          </a:prstGeom>
          <a:ln w="25124">
            <a:solidFill>
              <a:srgbClr val="0324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119_pipeline_llm_label"/>
          <p:cNvSpPr txBox="1"/>
          <p:nvPr/>
        </p:nvSpPr>
        <p:spPr>
          <a:xfrm>
            <a:off x="2543862" y="3128008"/>
            <a:ext cx="3203382" cy="31405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33" b="0" i="0">
                <a:solidFill>
                  <a:srgbClr val="000000"/>
                </a:solidFill>
                <a:latin typeface="Liberation Sans"/>
              </a:rPr>
              <a:t>Large Language Model</a:t>
            </a:r>
          </a:p>
        </p:txBody>
      </p:sp>
      <p:cxnSp>
        <p:nvCxnSpPr>
          <p:cNvPr id="123" name="120_llm_to_answer_segment_1"/>
          <p:cNvCxnSpPr/>
          <p:nvPr/>
        </p:nvCxnSpPr>
        <p:spPr>
          <a:xfrm>
            <a:off x="3278756" y="3442065"/>
            <a:ext cx="0" cy="113061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121_llm_to_answer_head"/>
          <p:cNvSpPr/>
          <p:nvPr/>
        </p:nvSpPr>
        <p:spPr>
          <a:xfrm rot="10800000">
            <a:off x="3253631" y="353000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122_pipeline_answer"/>
          <p:cNvSpPr/>
          <p:nvPr/>
        </p:nvSpPr>
        <p:spPr>
          <a:xfrm>
            <a:off x="169591" y="3555126"/>
            <a:ext cx="6124113" cy="515054"/>
          </a:xfrm>
          <a:prstGeom prst="roundRect">
            <a:avLst>
              <a:gd name="adj" fmla="val 14634"/>
            </a:avLst>
          </a:prstGeom>
          <a:solidFill>
            <a:srgbClr val="F5F5F5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123_pipeline_answer_text"/>
          <p:cNvSpPr txBox="1"/>
          <p:nvPr/>
        </p:nvSpPr>
        <p:spPr>
          <a:xfrm>
            <a:off x="244965" y="3586532"/>
            <a:ext cx="5960803" cy="45224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000000"/>
                </a:solidFill>
                <a:latin typeface="Liberation Sans"/>
              </a:rPr>
              <a:t>&lt;think&gt; ... &lt;inspection-index-start&gt;2&lt;inspection-index-end&gt;T_c₂  ... &lt;inspection-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000000"/>
                </a:solidFill>
                <a:latin typeface="Liberation Sans"/>
              </a:rPr>
              <a:t>index-start&gt;K&lt;inspection-index-end&gt;T_cK  ... &lt;/think&gt; &lt;answer&gt;2&lt;/answer&gt;</a:t>
            </a:r>
          </a:p>
        </p:txBody>
      </p:sp>
      <p:sp>
        <p:nvSpPr>
          <p:cNvPr id="127" name="124_panel_b_title"/>
          <p:cNvSpPr txBox="1"/>
          <p:nvPr/>
        </p:nvSpPr>
        <p:spPr>
          <a:xfrm>
            <a:off x="138185" y="4447048"/>
            <a:ext cx="3894308" cy="2638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3" b="1" i="0">
                <a:solidFill>
                  <a:srgbClr val="000000"/>
                </a:solidFill>
                <a:latin typeface="Liberation Sans"/>
              </a:rPr>
              <a:t>(B) Information Compression Module (ICM)</a:t>
            </a:r>
          </a:p>
        </p:txBody>
      </p:sp>
      <p:sp>
        <p:nvSpPr>
          <p:cNvPr id="128" name="125_panel_b_left_input"/>
          <p:cNvSpPr/>
          <p:nvPr/>
        </p:nvSpPr>
        <p:spPr>
          <a:xfrm>
            <a:off x="175872" y="4710856"/>
            <a:ext cx="2223524" cy="565303"/>
          </a:xfrm>
          <a:prstGeom prst="rect">
            <a:avLst/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126_panel_b_content_embedding"/>
          <p:cNvSpPr/>
          <p:nvPr/>
        </p:nvSpPr>
        <p:spPr>
          <a:xfrm>
            <a:off x="219840" y="4855322"/>
            <a:ext cx="270089" cy="270089"/>
          </a:xfrm>
          <a:prstGeom prst="rect">
            <a:avLst/>
          </a:prstGeom>
          <a:solidFill>
            <a:srgbClr val="C8C8C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127_panel_b_econ_base"/>
          <p:cNvSpPr txBox="1"/>
          <p:nvPr/>
        </p:nvSpPr>
        <p:spPr>
          <a:xfrm>
            <a:off x="479879" y="4811354"/>
            <a:ext cx="125623" cy="3580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e</a:t>
            </a:r>
          </a:p>
        </p:txBody>
      </p:sp>
      <p:sp>
        <p:nvSpPr>
          <p:cNvPr id="131" name="128_panel_b_econ_sub"/>
          <p:cNvSpPr txBox="1"/>
          <p:nvPr/>
        </p:nvSpPr>
        <p:spPr>
          <a:xfrm>
            <a:off x="559022" y="4965305"/>
            <a:ext cx="197856" cy="1682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132" name="129_panel_b_candidate_tokens_1_frame"/>
          <p:cNvSpPr/>
          <p:nvPr/>
        </p:nvSpPr>
        <p:spPr>
          <a:xfrm>
            <a:off x="747456" y="4786230"/>
            <a:ext cx="1538880" cy="427118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130_panel_b_candidate_tokens_1_token_1"/>
          <p:cNvSpPr/>
          <p:nvPr/>
        </p:nvSpPr>
        <p:spPr>
          <a:xfrm>
            <a:off x="797705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131_panel_b_candidate_tokens_1_token_2"/>
          <p:cNvSpPr/>
          <p:nvPr/>
        </p:nvSpPr>
        <p:spPr>
          <a:xfrm>
            <a:off x="1155730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132_panel_b_candidate_tokens_1_token_3"/>
          <p:cNvSpPr/>
          <p:nvPr/>
        </p:nvSpPr>
        <p:spPr>
          <a:xfrm>
            <a:off x="1708470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133_panel_b_candidate_tokens_1_ellipsis_dot_1"/>
          <p:cNvSpPr/>
          <p:nvPr/>
        </p:nvSpPr>
        <p:spPr>
          <a:xfrm>
            <a:off x="1472928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134_panel_b_candidate_tokens_1_ellipsis_dot_2"/>
          <p:cNvSpPr/>
          <p:nvPr/>
        </p:nvSpPr>
        <p:spPr>
          <a:xfrm>
            <a:off x="1548301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135_panel_b_candidate_tokens_1_ellipsis_dot_3"/>
          <p:cNvSpPr/>
          <p:nvPr/>
        </p:nvSpPr>
        <p:spPr>
          <a:xfrm>
            <a:off x="1623675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136_panel_b_candidate_tokens_1_formula_base"/>
          <p:cNvSpPr txBox="1"/>
          <p:nvPr/>
        </p:nvSpPr>
        <p:spPr>
          <a:xfrm>
            <a:off x="2018759" y="4786230"/>
            <a:ext cx="125623" cy="4271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40" name="137_panel_b_candidate_tokens_1_formula_sub"/>
          <p:cNvSpPr txBox="1"/>
          <p:nvPr/>
        </p:nvSpPr>
        <p:spPr>
          <a:xfrm>
            <a:off x="2097901" y="4969890"/>
            <a:ext cx="175872" cy="2007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cxnSp>
        <p:nvCxnSpPr>
          <p:cNvPr id="141" name="138_panel_b_left_input_arrow_segment_1"/>
          <p:cNvCxnSpPr/>
          <p:nvPr/>
        </p:nvCxnSpPr>
        <p:spPr>
          <a:xfrm>
            <a:off x="1306477" y="5276159"/>
            <a:ext cx="0" cy="238683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139_panel_b_left_input_arrow_head"/>
          <p:cNvSpPr/>
          <p:nvPr/>
        </p:nvSpPr>
        <p:spPr>
          <a:xfrm rot="10800000">
            <a:off x="1281353" y="5489717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140_panel_b_att1_left"/>
          <p:cNvSpPr/>
          <p:nvPr/>
        </p:nvSpPr>
        <p:spPr>
          <a:xfrm>
            <a:off x="979858" y="5514842"/>
            <a:ext cx="628114" cy="471086"/>
          </a:xfrm>
          <a:prstGeom prst="roundRect">
            <a:avLst>
              <a:gd name="adj" fmla="val 17333"/>
            </a:avLst>
          </a:prstGeom>
          <a:solidFill>
            <a:srgbClr val="E7E9F6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141_panel_b_att1_left_label"/>
          <p:cNvSpPr txBox="1"/>
          <p:nvPr/>
        </p:nvSpPr>
        <p:spPr>
          <a:xfrm>
            <a:off x="979858" y="5514842"/>
            <a:ext cx="628114" cy="4710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ATT 1</a:t>
            </a:r>
          </a:p>
        </p:txBody>
      </p:sp>
      <p:cxnSp>
        <p:nvCxnSpPr>
          <p:cNvPr id="145" name="142_panel_b_att1_to_tcon_segment_1"/>
          <p:cNvCxnSpPr/>
          <p:nvPr/>
        </p:nvCxnSpPr>
        <p:spPr>
          <a:xfrm>
            <a:off x="1607972" y="5747244"/>
            <a:ext cx="238684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143_panel_b_att1_to_tcon_head"/>
          <p:cNvSpPr/>
          <p:nvPr/>
        </p:nvSpPr>
        <p:spPr>
          <a:xfrm rot="5400000">
            <a:off x="1821531" y="5722120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144_panel_b_tcon_token"/>
          <p:cNvSpPr/>
          <p:nvPr/>
        </p:nvSpPr>
        <p:spPr>
          <a:xfrm>
            <a:off x="1859218" y="5596497"/>
            <a:ext cx="270089" cy="270089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145_panel_b_tcon_formula_base"/>
          <p:cNvSpPr txBox="1"/>
          <p:nvPr/>
        </p:nvSpPr>
        <p:spPr>
          <a:xfrm>
            <a:off x="1796406" y="5860305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49" name="146_panel_b_tcon_formula_sub"/>
          <p:cNvSpPr txBox="1"/>
          <p:nvPr/>
        </p:nvSpPr>
        <p:spPr>
          <a:xfrm>
            <a:off x="1890623" y="5954522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2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150" name="147_panel_b_right_input"/>
          <p:cNvSpPr/>
          <p:nvPr/>
        </p:nvSpPr>
        <p:spPr>
          <a:xfrm>
            <a:off x="2688328" y="4717137"/>
            <a:ext cx="3599094" cy="552740"/>
          </a:xfrm>
          <a:prstGeom prst="rect">
            <a:avLst/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148_panel_b_candidate_tokens_2_frame"/>
          <p:cNvSpPr/>
          <p:nvPr/>
        </p:nvSpPr>
        <p:spPr>
          <a:xfrm>
            <a:off x="2927012" y="4786230"/>
            <a:ext cx="1469787" cy="427118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149_panel_b_candidate_tokens_2_token_1"/>
          <p:cNvSpPr/>
          <p:nvPr/>
        </p:nvSpPr>
        <p:spPr>
          <a:xfrm>
            <a:off x="2977261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150_panel_b_candidate_tokens_2_token_2"/>
          <p:cNvSpPr/>
          <p:nvPr/>
        </p:nvSpPr>
        <p:spPr>
          <a:xfrm>
            <a:off x="3335286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151_panel_b_candidate_tokens_2_token_3"/>
          <p:cNvSpPr/>
          <p:nvPr/>
        </p:nvSpPr>
        <p:spPr>
          <a:xfrm>
            <a:off x="3837777" y="4867884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152_panel_b_candidate_tokens_2_ellipsis_dot_1"/>
          <p:cNvSpPr/>
          <p:nvPr/>
        </p:nvSpPr>
        <p:spPr>
          <a:xfrm>
            <a:off x="3627359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153_panel_b_candidate_tokens_2_ellipsis_dot_2"/>
          <p:cNvSpPr/>
          <p:nvPr/>
        </p:nvSpPr>
        <p:spPr>
          <a:xfrm>
            <a:off x="3702733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154_panel_b_candidate_tokens_2_ellipsis_dot_3"/>
          <p:cNvSpPr/>
          <p:nvPr/>
        </p:nvSpPr>
        <p:spPr>
          <a:xfrm>
            <a:off x="3778106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155_panel_b_candidate_tokens_2_formula_base"/>
          <p:cNvSpPr txBox="1"/>
          <p:nvPr/>
        </p:nvSpPr>
        <p:spPr>
          <a:xfrm>
            <a:off x="4129222" y="4786230"/>
            <a:ext cx="125623" cy="4271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59" name="156_panel_b_candidate_tokens_2_formula_sub"/>
          <p:cNvSpPr txBox="1"/>
          <p:nvPr/>
        </p:nvSpPr>
        <p:spPr>
          <a:xfrm>
            <a:off x="4208365" y="4969890"/>
            <a:ext cx="175872" cy="2007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sp>
        <p:nvSpPr>
          <p:cNvPr id="160" name="157_panel_b_query_tokens_frame"/>
          <p:cNvSpPr/>
          <p:nvPr/>
        </p:nvSpPr>
        <p:spPr>
          <a:xfrm>
            <a:off x="4585233" y="4786230"/>
            <a:ext cx="1469787" cy="427118"/>
          </a:xfrm>
          <a:prstGeom prst="rect">
            <a:avLst/>
          </a:prstGeom>
          <a:noFill/>
          <a:ln w="25124">
            <a:solidFill>
              <a:srgbClr val="F4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158_panel_b_query_tokens_token_1"/>
          <p:cNvSpPr/>
          <p:nvPr/>
        </p:nvSpPr>
        <p:spPr>
          <a:xfrm>
            <a:off x="4635482" y="4867884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159_panel_b_query_tokens_token_2"/>
          <p:cNvSpPr/>
          <p:nvPr/>
        </p:nvSpPr>
        <p:spPr>
          <a:xfrm>
            <a:off x="4993507" y="4867884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160_panel_b_query_tokens_token_3"/>
          <p:cNvSpPr/>
          <p:nvPr/>
        </p:nvSpPr>
        <p:spPr>
          <a:xfrm>
            <a:off x="5495999" y="4867884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161_panel_b_query_tokens_ellipsis_dot_1"/>
          <p:cNvSpPr/>
          <p:nvPr/>
        </p:nvSpPr>
        <p:spPr>
          <a:xfrm>
            <a:off x="5285580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162_panel_b_query_tokens_ellipsis_dot_2"/>
          <p:cNvSpPr/>
          <p:nvPr/>
        </p:nvSpPr>
        <p:spPr>
          <a:xfrm>
            <a:off x="5360954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163_panel_b_query_tokens_ellipsis_dot_3"/>
          <p:cNvSpPr/>
          <p:nvPr/>
        </p:nvSpPr>
        <p:spPr>
          <a:xfrm>
            <a:off x="5436328" y="4984086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164_panel_b_query_tokens_formula_base"/>
          <p:cNvSpPr txBox="1"/>
          <p:nvPr/>
        </p:nvSpPr>
        <p:spPr>
          <a:xfrm>
            <a:off x="5787443" y="4786230"/>
            <a:ext cx="125623" cy="4271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68" name="165_panel_b_query_tokens_formula_sub"/>
          <p:cNvSpPr txBox="1"/>
          <p:nvPr/>
        </p:nvSpPr>
        <p:spPr>
          <a:xfrm>
            <a:off x="5866586" y="4969890"/>
            <a:ext cx="175872" cy="2007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cxnSp>
        <p:nvCxnSpPr>
          <p:cNvPr id="169" name="166_panel_b_right_input_arrow_segment_1"/>
          <p:cNvCxnSpPr/>
          <p:nvPr/>
        </p:nvCxnSpPr>
        <p:spPr>
          <a:xfrm>
            <a:off x="2996104" y="5269877"/>
            <a:ext cx="0" cy="251246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167_panel_b_right_input_arrow_head"/>
          <p:cNvSpPr/>
          <p:nvPr/>
        </p:nvSpPr>
        <p:spPr>
          <a:xfrm rot="10800000">
            <a:off x="2970980" y="5495999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168_panel_b_att2"/>
          <p:cNvSpPr/>
          <p:nvPr/>
        </p:nvSpPr>
        <p:spPr>
          <a:xfrm>
            <a:off x="2688328" y="5521123"/>
            <a:ext cx="628114" cy="477367"/>
          </a:xfrm>
          <a:prstGeom prst="roundRect">
            <a:avLst>
              <a:gd name="adj" fmla="val 17105"/>
            </a:avLst>
          </a:prstGeom>
          <a:solidFill>
            <a:srgbClr val="E7E9F6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169_panel_b_att2_label"/>
          <p:cNvSpPr txBox="1"/>
          <p:nvPr/>
        </p:nvSpPr>
        <p:spPr>
          <a:xfrm>
            <a:off x="2688328" y="5521123"/>
            <a:ext cx="628114" cy="4773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ATT 2</a:t>
            </a:r>
          </a:p>
        </p:txBody>
      </p:sp>
      <p:cxnSp>
        <p:nvCxnSpPr>
          <p:cNvPr id="173" name="170_panel_b_att2_to_relation_segment_1"/>
          <p:cNvCxnSpPr/>
          <p:nvPr/>
        </p:nvCxnSpPr>
        <p:spPr>
          <a:xfrm>
            <a:off x="3316443" y="5759806"/>
            <a:ext cx="62811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171_panel_b_att2_to_relation_head"/>
          <p:cNvSpPr/>
          <p:nvPr/>
        </p:nvSpPr>
        <p:spPr>
          <a:xfrm rot="5400000">
            <a:off x="3354129" y="5734682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172_panel_b_relation_container"/>
          <p:cNvSpPr/>
          <p:nvPr/>
        </p:nvSpPr>
        <p:spPr>
          <a:xfrm>
            <a:off x="3266193" y="5395500"/>
            <a:ext cx="1909467" cy="709769"/>
          </a:xfrm>
          <a:prstGeom prst="rect">
            <a:avLst/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173_panel_b_relation_tokens_frame"/>
          <p:cNvSpPr/>
          <p:nvPr/>
        </p:nvSpPr>
        <p:spPr>
          <a:xfrm>
            <a:off x="3379254" y="5452031"/>
            <a:ext cx="1300196" cy="571584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174_panel_b_relation_tokens_token_1"/>
          <p:cNvSpPr/>
          <p:nvPr/>
        </p:nvSpPr>
        <p:spPr>
          <a:xfrm>
            <a:off x="3429503" y="5514842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175_panel_b_relation_tokens_token_2"/>
          <p:cNvSpPr/>
          <p:nvPr/>
        </p:nvSpPr>
        <p:spPr>
          <a:xfrm>
            <a:off x="3787528" y="5514842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176_panel_b_relation_tokens_token_3"/>
          <p:cNvSpPr/>
          <p:nvPr/>
        </p:nvSpPr>
        <p:spPr>
          <a:xfrm>
            <a:off x="4365393" y="5514842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177_panel_b_relation_tokens_ellipsis_dot_1"/>
          <p:cNvSpPr/>
          <p:nvPr/>
        </p:nvSpPr>
        <p:spPr>
          <a:xfrm>
            <a:off x="4085882" y="56310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178_panel_b_relation_tokens_ellipsis_dot_2"/>
          <p:cNvSpPr/>
          <p:nvPr/>
        </p:nvSpPr>
        <p:spPr>
          <a:xfrm>
            <a:off x="4173818" y="56310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179_panel_b_relation_tokens_ellipsis_dot_3"/>
          <p:cNvSpPr/>
          <p:nvPr/>
        </p:nvSpPr>
        <p:spPr>
          <a:xfrm>
            <a:off x="4261754" y="5631043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180_panel_b_relation_tokens_formula_base"/>
          <p:cNvSpPr txBox="1"/>
          <p:nvPr/>
        </p:nvSpPr>
        <p:spPr>
          <a:xfrm>
            <a:off x="3953576" y="5803774"/>
            <a:ext cx="130648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1">
                <a:solidFill>
                  <a:srgbClr val="000000"/>
                </a:solidFill>
                <a:latin typeface="Liberation Serif"/>
              </a:rPr>
              <a:t>R</a:t>
            </a:r>
          </a:p>
        </p:txBody>
      </p:sp>
      <p:sp>
        <p:nvSpPr>
          <p:cNvPr id="184" name="181_panel_b_relation_tokens_formula_sub"/>
          <p:cNvSpPr txBox="1"/>
          <p:nvPr/>
        </p:nvSpPr>
        <p:spPr>
          <a:xfrm>
            <a:off x="4035884" y="5895605"/>
            <a:ext cx="205770" cy="10037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1">
                <a:solidFill>
                  <a:srgbClr val="000000"/>
                </a:solidFill>
                <a:latin typeface="Liberation Serif"/>
              </a:rPr>
              <a:t>q,c</a:t>
            </a:r>
          </a:p>
        </p:txBody>
      </p:sp>
      <p:sp>
        <p:nvSpPr>
          <p:cNvPr id="185" name="182_panel_b_relation_econ"/>
          <p:cNvSpPr/>
          <p:nvPr/>
        </p:nvSpPr>
        <p:spPr>
          <a:xfrm>
            <a:off x="4717137" y="5514842"/>
            <a:ext cx="270089" cy="270089"/>
          </a:xfrm>
          <a:prstGeom prst="rect">
            <a:avLst/>
          </a:prstGeom>
          <a:solidFill>
            <a:srgbClr val="C8C8C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183_panel_b_relation_econ_formula_base"/>
          <p:cNvSpPr txBox="1"/>
          <p:nvPr/>
        </p:nvSpPr>
        <p:spPr>
          <a:xfrm>
            <a:off x="4791883" y="5734682"/>
            <a:ext cx="125623" cy="27637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e</a:t>
            </a:r>
          </a:p>
        </p:txBody>
      </p:sp>
      <p:sp>
        <p:nvSpPr>
          <p:cNvPr id="187" name="184_panel_b_relation_econ_formula_sub"/>
          <p:cNvSpPr txBox="1"/>
          <p:nvPr/>
        </p:nvSpPr>
        <p:spPr>
          <a:xfrm>
            <a:off x="4871025" y="5853521"/>
            <a:ext cx="197856" cy="1298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cxnSp>
        <p:nvCxnSpPr>
          <p:cNvPr id="188" name="185_panel_b_relation_to_att1_segment_1"/>
          <p:cNvCxnSpPr/>
          <p:nvPr/>
        </p:nvCxnSpPr>
        <p:spPr>
          <a:xfrm>
            <a:off x="5175660" y="5759806"/>
            <a:ext cx="94217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186_panel_b_relation_to_att1_head"/>
          <p:cNvSpPr/>
          <p:nvPr/>
        </p:nvSpPr>
        <p:spPr>
          <a:xfrm rot="5400000">
            <a:off x="5244753" y="5734682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187_panel_b_att1_right"/>
          <p:cNvSpPr/>
          <p:nvPr/>
        </p:nvSpPr>
        <p:spPr>
          <a:xfrm>
            <a:off x="5269877" y="5508561"/>
            <a:ext cx="628114" cy="471086"/>
          </a:xfrm>
          <a:prstGeom prst="roundRect">
            <a:avLst>
              <a:gd name="adj" fmla="val 17333"/>
            </a:avLst>
          </a:prstGeom>
          <a:solidFill>
            <a:srgbClr val="E7E9F6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188_panel_b_att1_right_label"/>
          <p:cNvSpPr txBox="1"/>
          <p:nvPr/>
        </p:nvSpPr>
        <p:spPr>
          <a:xfrm>
            <a:off x="5269877" y="5508561"/>
            <a:ext cx="628114" cy="4710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ATT 1</a:t>
            </a:r>
          </a:p>
        </p:txBody>
      </p:sp>
      <p:cxnSp>
        <p:nvCxnSpPr>
          <p:cNvPr id="192" name="189_panel_b_att1_to_trel_segment_1"/>
          <p:cNvCxnSpPr/>
          <p:nvPr/>
        </p:nvCxnSpPr>
        <p:spPr>
          <a:xfrm>
            <a:off x="5897992" y="5747244"/>
            <a:ext cx="81654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190_panel_b_att1_to_trel_head"/>
          <p:cNvSpPr/>
          <p:nvPr/>
        </p:nvSpPr>
        <p:spPr>
          <a:xfrm rot="5400000">
            <a:off x="5954522" y="5722120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191_panel_b_trel_token"/>
          <p:cNvSpPr/>
          <p:nvPr/>
        </p:nvSpPr>
        <p:spPr>
          <a:xfrm>
            <a:off x="5992209" y="5596497"/>
            <a:ext cx="270089" cy="270089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192_panel_b_trel_formula_base"/>
          <p:cNvSpPr txBox="1"/>
          <p:nvPr/>
        </p:nvSpPr>
        <p:spPr>
          <a:xfrm>
            <a:off x="5929397" y="5860305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96" name="193_panel_b_trel_formula_sub"/>
          <p:cNvSpPr txBox="1"/>
          <p:nvPr/>
        </p:nvSpPr>
        <p:spPr>
          <a:xfrm>
            <a:off x="6023614" y="5954522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2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197" name="194_panel_c_title"/>
          <p:cNvSpPr txBox="1"/>
          <p:nvPr/>
        </p:nvSpPr>
        <p:spPr>
          <a:xfrm>
            <a:off x="6570074" y="188434"/>
            <a:ext cx="3140571" cy="25124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3" b="1" i="0">
                <a:solidFill>
                  <a:srgbClr val="000000"/>
                </a:solidFill>
                <a:latin typeface="Liberation Sans"/>
              </a:rPr>
              <a:t>(C) Overall Training Process</a:t>
            </a:r>
          </a:p>
        </p:txBody>
      </p:sp>
      <p:sp>
        <p:nvSpPr>
          <p:cNvPr id="198" name="195_stage1_title"/>
          <p:cNvSpPr txBox="1"/>
          <p:nvPr/>
        </p:nvSpPr>
        <p:spPr>
          <a:xfrm>
            <a:off x="6576355" y="477367"/>
            <a:ext cx="4522422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Stage 1: Self-Alignment for Pretraining ICM</a:t>
            </a:r>
          </a:p>
        </p:txBody>
      </p:sp>
      <p:sp>
        <p:nvSpPr>
          <p:cNvPr id="199" name="196_stage1_input_frame"/>
          <p:cNvSpPr/>
          <p:nvPr/>
        </p:nvSpPr>
        <p:spPr>
          <a:xfrm>
            <a:off x="6557511" y="734894"/>
            <a:ext cx="1601691" cy="1086637"/>
          </a:xfrm>
          <a:prstGeom prst="rect">
            <a:avLst/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197_stage1_query_tokens_frame"/>
          <p:cNvSpPr/>
          <p:nvPr/>
        </p:nvSpPr>
        <p:spPr>
          <a:xfrm>
            <a:off x="6614042" y="810267"/>
            <a:ext cx="1444662" cy="414555"/>
          </a:xfrm>
          <a:prstGeom prst="rect">
            <a:avLst/>
          </a:prstGeom>
          <a:noFill/>
          <a:ln w="25124">
            <a:solidFill>
              <a:srgbClr val="F4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198_stage1_query_tokens_token_1"/>
          <p:cNvSpPr/>
          <p:nvPr/>
        </p:nvSpPr>
        <p:spPr>
          <a:xfrm>
            <a:off x="6664291" y="885641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199_stage1_query_tokens_token_2"/>
          <p:cNvSpPr/>
          <p:nvPr/>
        </p:nvSpPr>
        <p:spPr>
          <a:xfrm>
            <a:off x="7022316" y="885641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200_stage1_query_tokens_token_3"/>
          <p:cNvSpPr/>
          <p:nvPr/>
        </p:nvSpPr>
        <p:spPr>
          <a:xfrm>
            <a:off x="7556213" y="885641"/>
            <a:ext cx="263808" cy="263808"/>
          </a:xfrm>
          <a:prstGeom prst="rect">
            <a:avLst/>
          </a:prstGeom>
          <a:solidFill>
            <a:srgbClr val="F9CCC9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201_stage1_query_tokens_ellipsis_dot_1"/>
          <p:cNvSpPr/>
          <p:nvPr/>
        </p:nvSpPr>
        <p:spPr>
          <a:xfrm>
            <a:off x="7330092" y="100184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202_stage1_query_tokens_ellipsis_dot_2"/>
          <p:cNvSpPr/>
          <p:nvPr/>
        </p:nvSpPr>
        <p:spPr>
          <a:xfrm>
            <a:off x="7405465" y="100184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203_stage1_query_tokens_ellipsis_dot_3"/>
          <p:cNvSpPr/>
          <p:nvPr/>
        </p:nvSpPr>
        <p:spPr>
          <a:xfrm>
            <a:off x="7480839" y="1001842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204_stage1_query_tokens_formula_base"/>
          <p:cNvSpPr txBox="1"/>
          <p:nvPr/>
        </p:nvSpPr>
        <p:spPr>
          <a:xfrm>
            <a:off x="7791128" y="810267"/>
            <a:ext cx="125623" cy="414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208" name="205_stage1_query_tokens_formula_sub"/>
          <p:cNvSpPr txBox="1"/>
          <p:nvPr/>
        </p:nvSpPr>
        <p:spPr>
          <a:xfrm>
            <a:off x="7870270" y="988526"/>
            <a:ext cx="175872" cy="19484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sp>
        <p:nvSpPr>
          <p:cNvPr id="209" name="206_stage1_candidate_tokens_frame"/>
          <p:cNvSpPr/>
          <p:nvPr/>
        </p:nvSpPr>
        <p:spPr>
          <a:xfrm>
            <a:off x="6614042" y="1281353"/>
            <a:ext cx="1444662" cy="433399"/>
          </a:xfrm>
          <a:prstGeom prst="rect">
            <a:avLst/>
          </a:prstGeom>
          <a:noFill/>
          <a:ln w="25124">
            <a:solidFill>
              <a:srgbClr val="B7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207_stage1_candidate_tokens_token_1"/>
          <p:cNvSpPr/>
          <p:nvPr/>
        </p:nvSpPr>
        <p:spPr>
          <a:xfrm>
            <a:off x="6664291" y="1366148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208_stage1_candidate_tokens_token_2"/>
          <p:cNvSpPr/>
          <p:nvPr/>
        </p:nvSpPr>
        <p:spPr>
          <a:xfrm>
            <a:off x="7022316" y="1366148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209_stage1_candidate_tokens_token_3"/>
          <p:cNvSpPr/>
          <p:nvPr/>
        </p:nvSpPr>
        <p:spPr>
          <a:xfrm>
            <a:off x="7556213" y="1366148"/>
            <a:ext cx="263808" cy="263808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210_stage1_candidate_tokens_ellipsis_dot_1"/>
          <p:cNvSpPr/>
          <p:nvPr/>
        </p:nvSpPr>
        <p:spPr>
          <a:xfrm>
            <a:off x="7330092" y="1482349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211_stage1_candidate_tokens_ellipsis_dot_2"/>
          <p:cNvSpPr/>
          <p:nvPr/>
        </p:nvSpPr>
        <p:spPr>
          <a:xfrm>
            <a:off x="7405465" y="1482349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212_stage1_candidate_tokens_ellipsis_dot_3"/>
          <p:cNvSpPr/>
          <p:nvPr/>
        </p:nvSpPr>
        <p:spPr>
          <a:xfrm>
            <a:off x="7480839" y="1482349"/>
            <a:ext cx="31406" cy="31406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213_stage1_candidate_tokens_formula_base"/>
          <p:cNvSpPr txBox="1"/>
          <p:nvPr/>
        </p:nvSpPr>
        <p:spPr>
          <a:xfrm>
            <a:off x="7791128" y="1281353"/>
            <a:ext cx="125623" cy="4333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217" name="214_stage1_candidate_tokens_formula_sub"/>
          <p:cNvSpPr txBox="1"/>
          <p:nvPr/>
        </p:nvSpPr>
        <p:spPr>
          <a:xfrm>
            <a:off x="7870270" y="1467714"/>
            <a:ext cx="175872" cy="20369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7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cxnSp>
        <p:nvCxnSpPr>
          <p:cNvPr id="218" name="215_stage1_input_to_icm_segment_1"/>
          <p:cNvCxnSpPr/>
          <p:nvPr/>
        </p:nvCxnSpPr>
        <p:spPr>
          <a:xfrm>
            <a:off x="7386622" y="1714752"/>
            <a:ext cx="0" cy="194715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216_stage1_input_to_icm_head"/>
          <p:cNvSpPr/>
          <p:nvPr/>
        </p:nvSpPr>
        <p:spPr>
          <a:xfrm rot="10800000">
            <a:off x="7361497" y="1884342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217_stage1_icm"/>
          <p:cNvSpPr/>
          <p:nvPr/>
        </p:nvSpPr>
        <p:spPr>
          <a:xfrm>
            <a:off x="6538668" y="1909467"/>
            <a:ext cx="1601691" cy="270089"/>
          </a:xfrm>
          <a:prstGeom prst="roundRect">
            <a:avLst>
              <a:gd name="adj" fmla="val 18604"/>
            </a:avLst>
          </a:prstGeom>
          <a:solidFill>
            <a:srgbClr val="EBFAF5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218_stage1_icm_flame_outer"/>
          <p:cNvSpPr/>
          <p:nvPr/>
        </p:nvSpPr>
        <p:spPr>
          <a:xfrm>
            <a:off x="6607761" y="1979816"/>
            <a:ext cx="96101" cy="124367"/>
          </a:xfrm>
          <a:prstGeom prst="ellipse">
            <a:avLst/>
          </a:prstGeom>
          <a:solidFill>
            <a:srgbClr val="ED3434"/>
          </a:solidFill>
          <a:ln w="6281">
            <a:solidFill>
              <a:srgbClr val="ED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219_stage1_icm_flame_outer_tip"/>
          <p:cNvSpPr/>
          <p:nvPr/>
        </p:nvSpPr>
        <p:spPr>
          <a:xfrm>
            <a:off x="6610587" y="1923285"/>
            <a:ext cx="90448" cy="90448"/>
          </a:xfrm>
          <a:prstGeom prst="triangle">
            <a:avLst/>
          </a:prstGeom>
          <a:solidFill>
            <a:srgbClr val="ED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220_stage1_icm_flame_inner"/>
          <p:cNvSpPr/>
          <p:nvPr/>
        </p:nvSpPr>
        <p:spPr>
          <a:xfrm>
            <a:off x="6636026" y="2013734"/>
            <a:ext cx="45224" cy="73489"/>
          </a:xfrm>
          <a:prstGeom prst="ellipse">
            <a:avLst/>
          </a:prstGeom>
          <a:solidFill>
            <a:srgbClr val="FFD13B"/>
          </a:solidFill>
          <a:ln w="6281">
            <a:solidFill>
              <a:srgbClr val="FFD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221_stage1_icm_label"/>
          <p:cNvSpPr txBox="1"/>
          <p:nvPr/>
        </p:nvSpPr>
        <p:spPr>
          <a:xfrm>
            <a:off x="6859006" y="1909467"/>
            <a:ext cx="1224823" cy="27008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000000"/>
                </a:solidFill>
                <a:latin typeface="Liberation Sans"/>
              </a:rPr>
              <a:t>ICM</a:t>
            </a:r>
          </a:p>
        </p:txBody>
      </p:sp>
      <p:cxnSp>
        <p:nvCxnSpPr>
          <p:cNvPr id="225" name="222_stage1_icm_to_tcon_segment_1"/>
          <p:cNvCxnSpPr/>
          <p:nvPr/>
        </p:nvCxnSpPr>
        <p:spPr>
          <a:xfrm>
            <a:off x="7392903" y="2179556"/>
            <a:ext cx="0" cy="81655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223_stage1_icm_to_tcon_head"/>
          <p:cNvSpPr/>
          <p:nvPr/>
        </p:nvSpPr>
        <p:spPr>
          <a:xfrm rot="10800000">
            <a:off x="7370919" y="2239227"/>
            <a:ext cx="43968" cy="4396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224_stage1_icm_to_trel_segment_1"/>
          <p:cNvCxnSpPr/>
          <p:nvPr/>
        </p:nvCxnSpPr>
        <p:spPr>
          <a:xfrm>
            <a:off x="7392903" y="2179556"/>
            <a:ext cx="0" cy="270089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224_stage1_icm_to_trel_segment_2"/>
          <p:cNvCxnSpPr/>
          <p:nvPr/>
        </p:nvCxnSpPr>
        <p:spPr>
          <a:xfrm>
            <a:off x="7392903" y="2449645"/>
            <a:ext cx="232402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225_stage1_icm_to_trel_head"/>
          <p:cNvSpPr/>
          <p:nvPr/>
        </p:nvSpPr>
        <p:spPr>
          <a:xfrm rot="5400000">
            <a:off x="7603321" y="2427661"/>
            <a:ext cx="43968" cy="4396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226_stage1_tcon_token"/>
          <p:cNvSpPr/>
          <p:nvPr/>
        </p:nvSpPr>
        <p:spPr>
          <a:xfrm>
            <a:off x="6909255" y="2261211"/>
            <a:ext cx="263808" cy="270089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227_stage1_tcon_formula_base"/>
          <p:cNvSpPr txBox="1"/>
          <p:nvPr/>
        </p:nvSpPr>
        <p:spPr>
          <a:xfrm>
            <a:off x="6582636" y="2210962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232" name="228_stage1_tcon_formula_sub"/>
          <p:cNvSpPr txBox="1"/>
          <p:nvPr/>
        </p:nvSpPr>
        <p:spPr>
          <a:xfrm>
            <a:off x="6676853" y="2305179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2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233" name="229_stage1_trel_token"/>
          <p:cNvSpPr/>
          <p:nvPr/>
        </p:nvSpPr>
        <p:spPr>
          <a:xfrm>
            <a:off x="7625305" y="2261211"/>
            <a:ext cx="263808" cy="270089"/>
          </a:xfrm>
          <a:prstGeom prst="rect">
            <a:avLst/>
          </a:prstGeom>
          <a:solidFill>
            <a:srgbClr val="A9CBE4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230_stage1_trel_formula_base"/>
          <p:cNvSpPr txBox="1"/>
          <p:nvPr/>
        </p:nvSpPr>
        <p:spPr>
          <a:xfrm>
            <a:off x="7895394" y="2210962"/>
            <a:ext cx="150747" cy="21355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235" name="231_stage1_trel_formula_sub"/>
          <p:cNvSpPr txBox="1"/>
          <p:nvPr/>
        </p:nvSpPr>
        <p:spPr>
          <a:xfrm>
            <a:off x="7989612" y="2305179"/>
            <a:ext cx="301495" cy="1319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2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cxnSp>
        <p:nvCxnSpPr>
          <p:cNvPr id="236" name="232_stage1_query_to_relationship_segment_1"/>
          <p:cNvCxnSpPr/>
          <p:nvPr/>
        </p:nvCxnSpPr>
        <p:spPr>
          <a:xfrm>
            <a:off x="8058704" y="1017545"/>
            <a:ext cx="307776" cy="0"/>
          </a:xfrm>
          <a:prstGeom prst="line">
            <a:avLst/>
          </a:prstGeom>
          <a:ln w="18843">
            <a:solidFill>
              <a:srgbClr val="4969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233_stage1_query_to_relationship_head"/>
          <p:cNvSpPr/>
          <p:nvPr/>
        </p:nvSpPr>
        <p:spPr>
          <a:xfrm rot="5400000">
            <a:off x="8341355" y="992420"/>
            <a:ext cx="50249" cy="50249"/>
          </a:xfrm>
          <a:prstGeom prst="triangle">
            <a:avLst/>
          </a:prstGeom>
          <a:solidFill>
            <a:srgbClr val="496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234_stage1_candidate_to_content_segment_1"/>
          <p:cNvCxnSpPr/>
          <p:nvPr/>
        </p:nvCxnSpPr>
        <p:spPr>
          <a:xfrm>
            <a:off x="8058704" y="1482349"/>
            <a:ext cx="213559" cy="0"/>
          </a:xfrm>
          <a:prstGeom prst="line">
            <a:avLst/>
          </a:prstGeom>
          <a:ln w="18843">
            <a:solidFill>
              <a:srgbClr val="9D8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234_stage1_candidate_to_content_segment_2"/>
          <p:cNvCxnSpPr/>
          <p:nvPr/>
        </p:nvCxnSpPr>
        <p:spPr>
          <a:xfrm>
            <a:off x="8272263" y="1482349"/>
            <a:ext cx="0" cy="646958"/>
          </a:xfrm>
          <a:prstGeom prst="line">
            <a:avLst/>
          </a:prstGeom>
          <a:ln w="18843">
            <a:solidFill>
              <a:srgbClr val="9D8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234_stage1_candidate_to_content_segment_3"/>
          <p:cNvCxnSpPr/>
          <p:nvPr/>
        </p:nvCxnSpPr>
        <p:spPr>
          <a:xfrm>
            <a:off x="8272263" y="2129307"/>
            <a:ext cx="94217" cy="0"/>
          </a:xfrm>
          <a:prstGeom prst="line">
            <a:avLst/>
          </a:prstGeom>
          <a:ln w="18843">
            <a:solidFill>
              <a:srgbClr val="9D8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235_stage1_candidate_to_content_head"/>
          <p:cNvSpPr/>
          <p:nvPr/>
        </p:nvSpPr>
        <p:spPr>
          <a:xfrm rot="5400000">
            <a:off x="8341355" y="2104182"/>
            <a:ext cx="50249" cy="50249"/>
          </a:xfrm>
          <a:prstGeom prst="triangle">
            <a:avLst/>
          </a:prstGeom>
          <a:solidFill>
            <a:srgbClr val="9D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236_stage1_tcon_to_content_segment_1"/>
          <p:cNvCxnSpPr/>
          <p:nvPr/>
        </p:nvCxnSpPr>
        <p:spPr>
          <a:xfrm>
            <a:off x="7041159" y="2531300"/>
            <a:ext cx="0" cy="62811"/>
          </a:xfrm>
          <a:prstGeom prst="line">
            <a:avLst/>
          </a:prstGeom>
          <a:ln w="18843">
            <a:solidFill>
              <a:srgbClr val="B2CF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236_stage1_tcon_to_content_segment_2"/>
          <p:cNvCxnSpPr/>
          <p:nvPr/>
        </p:nvCxnSpPr>
        <p:spPr>
          <a:xfrm>
            <a:off x="7041159" y="2594111"/>
            <a:ext cx="2562706" cy="0"/>
          </a:xfrm>
          <a:prstGeom prst="line">
            <a:avLst/>
          </a:prstGeom>
          <a:ln w="18843">
            <a:solidFill>
              <a:srgbClr val="B2CF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236_stage1_tcon_to_content_segment_3"/>
          <p:cNvCxnSpPr/>
          <p:nvPr/>
        </p:nvCxnSpPr>
        <p:spPr>
          <a:xfrm flipV="1">
            <a:off x="9603865" y="2367990"/>
            <a:ext cx="0" cy="226121"/>
          </a:xfrm>
          <a:prstGeom prst="line">
            <a:avLst/>
          </a:prstGeom>
          <a:ln w="18843">
            <a:solidFill>
              <a:srgbClr val="B2CF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237_stage1_tcon_to_content_head"/>
          <p:cNvSpPr/>
          <p:nvPr/>
        </p:nvSpPr>
        <p:spPr>
          <a:xfrm>
            <a:off x="9578740" y="2342866"/>
            <a:ext cx="50249" cy="50249"/>
          </a:xfrm>
          <a:prstGeom prst="triangle">
            <a:avLst/>
          </a:prstGeom>
          <a:solidFill>
            <a:srgbClr val="B2C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238_stage1_trel_to_relationship_segment_1"/>
          <p:cNvCxnSpPr/>
          <p:nvPr/>
        </p:nvCxnSpPr>
        <p:spPr>
          <a:xfrm>
            <a:off x="7889113" y="2399396"/>
            <a:ext cx="383150" cy="0"/>
          </a:xfrm>
          <a:prstGeom prst="line">
            <a:avLst/>
          </a:prstGeom>
          <a:ln w="18843">
            <a:solidFill>
              <a:srgbClr val="AAA4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238_stage1_trel_to_relationship_segment_2"/>
          <p:cNvCxnSpPr/>
          <p:nvPr/>
        </p:nvCxnSpPr>
        <p:spPr>
          <a:xfrm flipV="1">
            <a:off x="8272263" y="1224823"/>
            <a:ext cx="0" cy="1174573"/>
          </a:xfrm>
          <a:prstGeom prst="line">
            <a:avLst/>
          </a:prstGeom>
          <a:ln w="18843">
            <a:solidFill>
              <a:srgbClr val="AAA4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238_stage1_trel_to_relationship_segment_3"/>
          <p:cNvCxnSpPr/>
          <p:nvPr/>
        </p:nvCxnSpPr>
        <p:spPr>
          <a:xfrm>
            <a:off x="8272263" y="1224823"/>
            <a:ext cx="94217" cy="0"/>
          </a:xfrm>
          <a:prstGeom prst="line">
            <a:avLst/>
          </a:prstGeom>
          <a:ln w="18843">
            <a:solidFill>
              <a:srgbClr val="AAA4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239_stage1_trel_to_relationship_head"/>
          <p:cNvSpPr/>
          <p:nvPr/>
        </p:nvSpPr>
        <p:spPr>
          <a:xfrm rot="5400000">
            <a:off x="8341355" y="1199698"/>
            <a:ext cx="50249" cy="50249"/>
          </a:xfrm>
          <a:prstGeom prst="triangle">
            <a:avLst/>
          </a:prstGeom>
          <a:solidFill>
            <a:srgbClr val="AA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240_relationship_prompt"/>
          <p:cNvSpPr/>
          <p:nvPr/>
        </p:nvSpPr>
        <p:spPr>
          <a:xfrm>
            <a:off x="8366480" y="734894"/>
            <a:ext cx="2481051" cy="1011264"/>
          </a:xfrm>
          <a:prstGeom prst="roundRect">
            <a:avLst>
              <a:gd name="adj" fmla="val 17391"/>
            </a:avLst>
          </a:prstGeom>
          <a:solidFill>
            <a:srgbClr val="F5F5F5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241_relationship_prompt_heading_1"/>
          <p:cNvSpPr txBox="1"/>
          <p:nvPr/>
        </p:nvSpPr>
        <p:spPr>
          <a:xfrm>
            <a:off x="8423010" y="760018"/>
            <a:ext cx="942171" cy="1821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1" i="0">
                <a:solidFill>
                  <a:srgbClr val="000000"/>
                </a:solidFill>
                <a:latin typeface="Liberation Sans"/>
              </a:rPr>
              <a:t>Relationship</a:t>
            </a:r>
          </a:p>
        </p:txBody>
      </p:sp>
      <p:sp>
        <p:nvSpPr>
          <p:cNvPr id="252" name="242_relationship_prompt_heading_2"/>
          <p:cNvSpPr txBox="1"/>
          <p:nvPr/>
        </p:nvSpPr>
        <p:spPr>
          <a:xfrm>
            <a:off x="9371463" y="760018"/>
            <a:ext cx="1450944" cy="1821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1" i="0">
                <a:solidFill>
                  <a:srgbClr val="000000"/>
                </a:solidFill>
                <a:latin typeface="Liberation Sans"/>
              </a:rPr>
              <a:t>Prompt   Template:</a:t>
            </a:r>
          </a:p>
        </p:txBody>
      </p:sp>
      <p:sp>
        <p:nvSpPr>
          <p:cNvPr id="253" name="243_relationship_prompt_body"/>
          <p:cNvSpPr txBox="1"/>
          <p:nvPr/>
        </p:nvSpPr>
        <p:spPr>
          <a:xfrm>
            <a:off x="8429291" y="942171"/>
            <a:ext cx="2324022" cy="7600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According  to  &lt;rel&gt;,  describe  the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similarity,  difference  and  any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potential relationship between the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pair in detail.</a:t>
            </a:r>
          </a:p>
        </p:txBody>
      </p:sp>
      <p:sp>
        <p:nvSpPr>
          <p:cNvPr id="254" name="244_content_prompt"/>
          <p:cNvSpPr/>
          <p:nvPr/>
        </p:nvSpPr>
        <p:spPr>
          <a:xfrm>
            <a:off x="8366480" y="1884342"/>
            <a:ext cx="2462207" cy="483648"/>
          </a:xfrm>
          <a:prstGeom prst="roundRect">
            <a:avLst>
              <a:gd name="adj" fmla="val 18181"/>
            </a:avLst>
          </a:prstGeom>
          <a:solidFill>
            <a:srgbClr val="F5F5F5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245_content_prompt_heading"/>
          <p:cNvSpPr txBox="1"/>
          <p:nvPr/>
        </p:nvSpPr>
        <p:spPr>
          <a:xfrm>
            <a:off x="8423010" y="1909467"/>
            <a:ext cx="2336585" cy="1821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1" i="0">
                <a:solidFill>
                  <a:srgbClr val="000000"/>
                </a:solidFill>
                <a:latin typeface="Liberation Sans"/>
              </a:rPr>
              <a:t>Content Prompt Template:</a:t>
            </a:r>
          </a:p>
        </p:txBody>
      </p:sp>
      <p:sp>
        <p:nvSpPr>
          <p:cNvPr id="256" name="246_content_prompt_body"/>
          <p:cNvSpPr txBox="1"/>
          <p:nvPr/>
        </p:nvSpPr>
        <p:spPr>
          <a:xfrm>
            <a:off x="8423010" y="2085339"/>
            <a:ext cx="2336585" cy="23868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12" b="0" i="0">
                <a:solidFill>
                  <a:srgbClr val="000000"/>
                </a:solidFill>
                <a:latin typeface="Liberation Sans"/>
              </a:rPr>
              <a:t>Describe the content of &lt;c&gt; in detail.</a:t>
            </a:r>
          </a:p>
        </p:txBody>
      </p:sp>
      <p:cxnSp>
        <p:nvCxnSpPr>
          <p:cNvPr id="257" name="247_relationship_to_llm_blue_segment_1"/>
          <p:cNvCxnSpPr/>
          <p:nvPr/>
        </p:nvCxnSpPr>
        <p:spPr>
          <a:xfrm>
            <a:off x="10847531" y="1011264"/>
            <a:ext cx="219840" cy="0"/>
          </a:xfrm>
          <a:prstGeom prst="line">
            <a:avLst/>
          </a:prstGeom>
          <a:ln w="18843">
            <a:solidFill>
              <a:srgbClr val="4969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248_relationship_to_llm_blue_head"/>
          <p:cNvSpPr/>
          <p:nvPr/>
        </p:nvSpPr>
        <p:spPr>
          <a:xfrm rot="5400000">
            <a:off x="11042246" y="986139"/>
            <a:ext cx="50249" cy="50249"/>
          </a:xfrm>
          <a:prstGeom prst="triangle">
            <a:avLst/>
          </a:prstGeom>
          <a:solidFill>
            <a:srgbClr val="496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249_relationship_to_llm_taupe_segment_1"/>
          <p:cNvCxnSpPr/>
          <p:nvPr/>
        </p:nvCxnSpPr>
        <p:spPr>
          <a:xfrm>
            <a:off x="10847531" y="1224823"/>
            <a:ext cx="219840" cy="0"/>
          </a:xfrm>
          <a:prstGeom prst="line">
            <a:avLst/>
          </a:prstGeom>
          <a:ln w="18843">
            <a:solidFill>
              <a:srgbClr val="AAA4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250_relationship_to_llm_taupe_head"/>
          <p:cNvSpPr/>
          <p:nvPr/>
        </p:nvSpPr>
        <p:spPr>
          <a:xfrm rot="5400000">
            <a:off x="11042246" y="1199698"/>
            <a:ext cx="50249" cy="50249"/>
          </a:xfrm>
          <a:prstGeom prst="triangle">
            <a:avLst/>
          </a:prstGeom>
          <a:solidFill>
            <a:srgbClr val="AA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251_content_to_llm_purple_segment_1"/>
          <p:cNvCxnSpPr/>
          <p:nvPr/>
        </p:nvCxnSpPr>
        <p:spPr>
          <a:xfrm>
            <a:off x="10828687" y="2123026"/>
            <a:ext cx="238684" cy="0"/>
          </a:xfrm>
          <a:prstGeom prst="line">
            <a:avLst/>
          </a:prstGeom>
          <a:ln w="18843">
            <a:solidFill>
              <a:srgbClr val="9D8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252_content_to_llm_purple_head"/>
          <p:cNvSpPr/>
          <p:nvPr/>
        </p:nvSpPr>
        <p:spPr>
          <a:xfrm rot="5400000">
            <a:off x="11042246" y="2097901"/>
            <a:ext cx="50249" cy="50249"/>
          </a:xfrm>
          <a:prstGeom prst="triangle">
            <a:avLst/>
          </a:prstGeom>
          <a:solidFill>
            <a:srgbClr val="9D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253_content_to_llm_green_segment_1"/>
          <p:cNvCxnSpPr/>
          <p:nvPr/>
        </p:nvCxnSpPr>
        <p:spPr>
          <a:xfrm>
            <a:off x="10828687" y="2229805"/>
            <a:ext cx="238684" cy="0"/>
          </a:xfrm>
          <a:prstGeom prst="line">
            <a:avLst/>
          </a:prstGeom>
          <a:ln w="18843">
            <a:solidFill>
              <a:srgbClr val="B2CF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254_content_to_llm_green_head"/>
          <p:cNvSpPr/>
          <p:nvPr/>
        </p:nvSpPr>
        <p:spPr>
          <a:xfrm rot="5400000">
            <a:off x="11042246" y="2204681"/>
            <a:ext cx="50249" cy="50249"/>
          </a:xfrm>
          <a:prstGeom prst="triangle">
            <a:avLst/>
          </a:prstGeom>
          <a:solidFill>
            <a:srgbClr val="B2C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255_stage1_frozen_llm"/>
          <p:cNvSpPr/>
          <p:nvPr/>
        </p:nvSpPr>
        <p:spPr>
          <a:xfrm>
            <a:off x="11067371" y="741175"/>
            <a:ext cx="295214" cy="1614253"/>
          </a:xfrm>
          <a:prstGeom prst="roundRect">
            <a:avLst>
              <a:gd name="adj" fmla="val 21276"/>
            </a:avLst>
          </a:prstGeom>
          <a:solidFill>
            <a:srgbClr val="FDF3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256_stage1_frozen_llm_label"/>
          <p:cNvSpPr txBox="1"/>
          <p:nvPr/>
        </p:nvSpPr>
        <p:spPr>
          <a:xfrm rot="16200000">
            <a:off x="10812985" y="1315899"/>
            <a:ext cx="803986" cy="2952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cxnSp>
        <p:nvCxnSpPr>
          <p:cNvPr id="267" name="257_stage1_snowflake_axis_0_segment_1"/>
          <p:cNvCxnSpPr/>
          <p:nvPr/>
        </p:nvCxnSpPr>
        <p:spPr>
          <a:xfrm>
            <a:off x="11145885" y="2179556"/>
            <a:ext cx="138185" cy="0"/>
          </a:xfrm>
          <a:prstGeom prst="line">
            <a:avLst/>
          </a:prstGeom>
          <a:ln w="12562">
            <a:solidFill>
              <a:srgbClr val="73C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258_stage1_snowflake_axis_60_segment_1"/>
          <p:cNvCxnSpPr/>
          <p:nvPr/>
        </p:nvCxnSpPr>
        <p:spPr>
          <a:xfrm>
            <a:off x="11180431" y="2119720"/>
            <a:ext cx="69093" cy="119672"/>
          </a:xfrm>
          <a:prstGeom prst="line">
            <a:avLst/>
          </a:prstGeom>
          <a:ln w="12562">
            <a:solidFill>
              <a:srgbClr val="73C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259_stage1_snowflake_axis_120_segment_1"/>
          <p:cNvCxnSpPr/>
          <p:nvPr/>
        </p:nvCxnSpPr>
        <p:spPr>
          <a:xfrm flipH="1">
            <a:off x="11180431" y="2119720"/>
            <a:ext cx="69093" cy="119672"/>
          </a:xfrm>
          <a:prstGeom prst="line">
            <a:avLst/>
          </a:prstGeom>
          <a:ln w="12562">
            <a:solidFill>
              <a:srgbClr val="73C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260_stage1_llm_to_ce_top_blue_segment_1"/>
          <p:cNvCxnSpPr/>
          <p:nvPr/>
        </p:nvCxnSpPr>
        <p:spPr>
          <a:xfrm>
            <a:off x="11362584" y="1011264"/>
            <a:ext cx="251246" cy="0"/>
          </a:xfrm>
          <a:prstGeom prst="line">
            <a:avLst/>
          </a:prstGeom>
          <a:ln w="18843">
            <a:solidFill>
              <a:srgbClr val="4969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261_stage1_llm_to_ce_top_blue_head"/>
          <p:cNvSpPr/>
          <p:nvPr/>
        </p:nvSpPr>
        <p:spPr>
          <a:xfrm rot="5400000">
            <a:off x="11588705" y="986139"/>
            <a:ext cx="50249" cy="50249"/>
          </a:xfrm>
          <a:prstGeom prst="triangle">
            <a:avLst/>
          </a:prstGeom>
          <a:solidFill>
            <a:srgbClr val="496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262_stage1_llm_to_ce_top_taupe_segment_1"/>
          <p:cNvCxnSpPr/>
          <p:nvPr/>
        </p:nvCxnSpPr>
        <p:spPr>
          <a:xfrm>
            <a:off x="11362584" y="1224823"/>
            <a:ext cx="251246" cy="0"/>
          </a:xfrm>
          <a:prstGeom prst="line">
            <a:avLst/>
          </a:prstGeom>
          <a:ln w="18843">
            <a:solidFill>
              <a:srgbClr val="AAA4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263_stage1_llm_to_ce_top_taupe_head"/>
          <p:cNvSpPr/>
          <p:nvPr/>
        </p:nvSpPr>
        <p:spPr>
          <a:xfrm rot="5400000">
            <a:off x="11588705" y="1199698"/>
            <a:ext cx="50249" cy="50249"/>
          </a:xfrm>
          <a:prstGeom prst="triangle">
            <a:avLst/>
          </a:prstGeom>
          <a:solidFill>
            <a:srgbClr val="AA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264_stage1_llm_to_ce_bottom_purple_segment_1"/>
          <p:cNvCxnSpPr/>
          <p:nvPr/>
        </p:nvCxnSpPr>
        <p:spPr>
          <a:xfrm>
            <a:off x="11362584" y="1984841"/>
            <a:ext cx="251246" cy="0"/>
          </a:xfrm>
          <a:prstGeom prst="line">
            <a:avLst/>
          </a:prstGeom>
          <a:ln w="18843">
            <a:solidFill>
              <a:srgbClr val="9D8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265_stage1_llm_to_ce_bottom_purple_head"/>
          <p:cNvSpPr/>
          <p:nvPr/>
        </p:nvSpPr>
        <p:spPr>
          <a:xfrm rot="5400000">
            <a:off x="11588705" y="1959716"/>
            <a:ext cx="50249" cy="50249"/>
          </a:xfrm>
          <a:prstGeom prst="triangle">
            <a:avLst/>
          </a:prstGeom>
          <a:solidFill>
            <a:srgbClr val="9D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266_stage1_llm_to_ce_bottom_green_segment_1"/>
          <p:cNvCxnSpPr/>
          <p:nvPr/>
        </p:nvCxnSpPr>
        <p:spPr>
          <a:xfrm>
            <a:off x="11362584" y="2229805"/>
            <a:ext cx="251246" cy="0"/>
          </a:xfrm>
          <a:prstGeom prst="line">
            <a:avLst/>
          </a:prstGeom>
          <a:ln w="18843">
            <a:solidFill>
              <a:srgbClr val="B2CF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267_stage1_llm_to_ce_bottom_green_head"/>
          <p:cNvSpPr/>
          <p:nvPr/>
        </p:nvSpPr>
        <p:spPr>
          <a:xfrm rot="5400000">
            <a:off x="11588705" y="2204681"/>
            <a:ext cx="50249" cy="50249"/>
          </a:xfrm>
          <a:prstGeom prst="triangle">
            <a:avLst/>
          </a:prstGeom>
          <a:solidFill>
            <a:srgbClr val="B2C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268_stage1_ce_loss_top"/>
          <p:cNvSpPr/>
          <p:nvPr/>
        </p:nvSpPr>
        <p:spPr>
          <a:xfrm>
            <a:off x="11613830" y="885641"/>
            <a:ext cx="439680" cy="464804"/>
          </a:xfrm>
          <a:prstGeom prst="roundRect">
            <a:avLst>
              <a:gd name="adj" fmla="val 18571"/>
            </a:avLst>
          </a:prstGeom>
          <a:solidFill>
            <a:srgbClr val="AFE0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269_stage1_ce_loss_top_text"/>
          <p:cNvSpPr txBox="1"/>
          <p:nvPr/>
        </p:nvSpPr>
        <p:spPr>
          <a:xfrm>
            <a:off x="11613830" y="885641"/>
            <a:ext cx="439680" cy="4648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0">
                <a:solidFill>
                  <a:srgbClr val="000000"/>
                </a:solidFill>
                <a:latin typeface="Liberation Sans"/>
              </a:rPr>
              <a:t>CE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0">
                <a:solidFill>
                  <a:srgbClr val="000000"/>
                </a:solidFill>
                <a:latin typeface="Liberation Sans"/>
              </a:rPr>
              <a:t>Loss</a:t>
            </a:r>
          </a:p>
        </p:txBody>
      </p:sp>
      <p:sp>
        <p:nvSpPr>
          <p:cNvPr id="280" name="270_stage1_ce_loss_bottom"/>
          <p:cNvSpPr/>
          <p:nvPr/>
        </p:nvSpPr>
        <p:spPr>
          <a:xfrm>
            <a:off x="11613830" y="1865499"/>
            <a:ext cx="439680" cy="464804"/>
          </a:xfrm>
          <a:prstGeom prst="roundRect">
            <a:avLst>
              <a:gd name="adj" fmla="val 18571"/>
            </a:avLst>
          </a:prstGeom>
          <a:solidFill>
            <a:srgbClr val="AFE0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271_stage1_ce_loss_bottom_text"/>
          <p:cNvSpPr txBox="1"/>
          <p:nvPr/>
        </p:nvSpPr>
        <p:spPr>
          <a:xfrm>
            <a:off x="11613830" y="1865499"/>
            <a:ext cx="439680" cy="4648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0">
                <a:solidFill>
                  <a:srgbClr val="000000"/>
                </a:solidFill>
                <a:latin typeface="Liberation Sans"/>
              </a:rPr>
              <a:t>CE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0">
                <a:solidFill>
                  <a:srgbClr val="000000"/>
                </a:solidFill>
                <a:latin typeface="Liberation Sans"/>
              </a:rPr>
              <a:t>Loss</a:t>
            </a:r>
          </a:p>
        </p:txBody>
      </p:sp>
      <p:sp>
        <p:nvSpPr>
          <p:cNvPr id="282" name="272_stage2_title"/>
          <p:cNvSpPr txBox="1"/>
          <p:nvPr/>
        </p:nvSpPr>
        <p:spPr>
          <a:xfrm>
            <a:off x="6576355" y="2751140"/>
            <a:ext cx="4899290" cy="2638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Stage 2: SFT with Synthetic Dataset for Activation</a:t>
            </a:r>
          </a:p>
        </p:txBody>
      </p:sp>
      <p:sp>
        <p:nvSpPr>
          <p:cNvPr id="283" name="273_annotation_mllm_robot_body"/>
          <p:cNvSpPr/>
          <p:nvPr/>
        </p:nvSpPr>
        <p:spPr>
          <a:xfrm>
            <a:off x="6727102" y="3404379"/>
            <a:ext cx="339182" cy="175872"/>
          </a:xfrm>
          <a:prstGeom prst="roundRect">
            <a:avLst>
              <a:gd name="adj" fmla="val 32142"/>
            </a:avLst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274_annotation_mllm_robot_head"/>
          <p:cNvSpPr/>
          <p:nvPr/>
        </p:nvSpPr>
        <p:spPr>
          <a:xfrm>
            <a:off x="6683134" y="3190820"/>
            <a:ext cx="427118" cy="301495"/>
          </a:xfrm>
          <a:prstGeom prst="roundRect">
            <a:avLst>
              <a:gd name="adj" fmla="val 27083"/>
            </a:avLst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275_annotation_mllm_robot_ear_l"/>
          <p:cNvSpPr/>
          <p:nvPr/>
        </p:nvSpPr>
        <p:spPr>
          <a:xfrm>
            <a:off x="6632885" y="3278756"/>
            <a:ext cx="75374" cy="144466"/>
          </a:xfrm>
          <a:prstGeom prst="ellipse">
            <a:avLst/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276_annotation_mllm_robot_ear_r"/>
          <p:cNvSpPr/>
          <p:nvPr/>
        </p:nvSpPr>
        <p:spPr>
          <a:xfrm>
            <a:off x="7091408" y="3278756"/>
            <a:ext cx="75374" cy="144466"/>
          </a:xfrm>
          <a:prstGeom prst="ellipse">
            <a:avLst/>
          </a:prstGeom>
          <a:solidFill>
            <a:srgbClr val="A9CBE4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277_annotation_mllm_robot_eye_l"/>
          <p:cNvSpPr/>
          <p:nvPr/>
        </p:nvSpPr>
        <p:spPr>
          <a:xfrm>
            <a:off x="6789914" y="3291318"/>
            <a:ext cx="37687" cy="50249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278_annotation_mllm_robot_eye_r"/>
          <p:cNvSpPr/>
          <p:nvPr/>
        </p:nvSpPr>
        <p:spPr>
          <a:xfrm>
            <a:off x="6965786" y="3291318"/>
            <a:ext cx="37687" cy="50249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279_annotation_mllm_robot_mouth_segment_1"/>
          <p:cNvCxnSpPr/>
          <p:nvPr/>
        </p:nvCxnSpPr>
        <p:spPr>
          <a:xfrm>
            <a:off x="6852725" y="3398097"/>
            <a:ext cx="43968" cy="25125"/>
          </a:xfrm>
          <a:prstGeom prst="line">
            <a:avLst/>
          </a:prstGeom>
          <a:ln w="125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279_annotation_mllm_robot_mouth_segment_2"/>
          <p:cNvCxnSpPr/>
          <p:nvPr/>
        </p:nvCxnSpPr>
        <p:spPr>
          <a:xfrm flipV="1">
            <a:off x="6896693" y="3398097"/>
            <a:ext cx="50249" cy="25125"/>
          </a:xfrm>
          <a:prstGeom prst="line">
            <a:avLst/>
          </a:prstGeom>
          <a:ln w="125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280_annotation_mllm_robot_base_segment_1"/>
          <p:cNvCxnSpPr/>
          <p:nvPr/>
        </p:nvCxnSpPr>
        <p:spPr>
          <a:xfrm>
            <a:off x="6764789" y="3586532"/>
            <a:ext cx="270089" cy="0"/>
          </a:xfrm>
          <a:prstGeom prst="line">
            <a:avLst/>
          </a:prstGeom>
          <a:ln w="25124">
            <a:solidFill>
              <a:srgbClr val="0324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281_annotation_mllm_robot_cap"/>
          <p:cNvSpPr/>
          <p:nvPr/>
        </p:nvSpPr>
        <p:spPr>
          <a:xfrm rot="5400000">
            <a:off x="6723962" y="2961558"/>
            <a:ext cx="345463" cy="345463"/>
          </a:xfrm>
          <a:prstGeom prst="triangle">
            <a:avLst/>
          </a:prstGeom>
          <a:solidFill>
            <a:srgbClr val="182C49"/>
          </a:solidFill>
          <a:ln w="125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282_annotation_mllm_robot_cap_band"/>
          <p:cNvSpPr/>
          <p:nvPr/>
        </p:nvSpPr>
        <p:spPr>
          <a:xfrm>
            <a:off x="6764789" y="3146852"/>
            <a:ext cx="270089" cy="62811"/>
          </a:xfrm>
          <a:prstGeom prst="rect">
            <a:avLst/>
          </a:prstGeom>
          <a:solidFill>
            <a:srgbClr val="182C49"/>
          </a:solidFill>
          <a:ln w="125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283_annotation_mllm_label"/>
          <p:cNvSpPr txBox="1"/>
          <p:nvPr/>
        </p:nvSpPr>
        <p:spPr>
          <a:xfrm>
            <a:off x="6544949" y="3730998"/>
            <a:ext cx="722331" cy="40827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Annotation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MLLM</a:t>
            </a:r>
          </a:p>
        </p:txBody>
      </p:sp>
      <p:cxnSp>
        <p:nvCxnSpPr>
          <p:cNvPr id="295" name="284_annotation_to_dataset_segment_1"/>
          <p:cNvCxnSpPr/>
          <p:nvPr/>
        </p:nvCxnSpPr>
        <p:spPr>
          <a:xfrm>
            <a:off x="7166782" y="3442065"/>
            <a:ext cx="207278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285_annotation_to_dataset_head"/>
          <p:cNvSpPr/>
          <p:nvPr/>
        </p:nvSpPr>
        <p:spPr>
          <a:xfrm rot="5400000">
            <a:off x="7348935" y="3416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286_synthetic_dataset"/>
          <p:cNvSpPr/>
          <p:nvPr/>
        </p:nvSpPr>
        <p:spPr>
          <a:xfrm>
            <a:off x="7374060" y="3040072"/>
            <a:ext cx="816548" cy="816548"/>
          </a:xfrm>
          <a:prstGeom prst="roundRect">
            <a:avLst>
              <a:gd name="adj" fmla="val 17692"/>
            </a:avLst>
          </a:prstGeom>
          <a:solidFill>
            <a:srgbClr val="FFFDF8"/>
          </a:solidFill>
          <a:ln w="31405">
            <a:solidFill>
              <a:srgbClr val="1B7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287_synthetic_doc_1_page"/>
          <p:cNvSpPr/>
          <p:nvPr/>
        </p:nvSpPr>
        <p:spPr>
          <a:xfrm>
            <a:off x="7505964" y="3134289"/>
            <a:ext cx="238683" cy="307776"/>
          </a:xfrm>
          <a:prstGeom prst="roundRect">
            <a:avLst>
              <a:gd name="adj" fmla="val 5263"/>
            </a:avLst>
          </a:prstGeom>
          <a:solidFill>
            <a:srgbClr val="1B7FD7"/>
          </a:solidFill>
          <a:ln w="12562">
            <a:solidFill>
              <a:srgbClr val="1B7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288_synthetic_doc_1_fold"/>
          <p:cNvSpPr/>
          <p:nvPr/>
        </p:nvSpPr>
        <p:spPr>
          <a:xfrm rot="8100000">
            <a:off x="7662992" y="3140571"/>
            <a:ext cx="75374" cy="75374"/>
          </a:xfrm>
          <a:prstGeom prst="triangle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289_synthetic_doc_1_line_1_segment_1"/>
          <p:cNvCxnSpPr/>
          <p:nvPr/>
        </p:nvCxnSpPr>
        <p:spPr>
          <a:xfrm>
            <a:off x="7568775" y="3266193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290_synthetic_doc_1_line_2_segment_1"/>
          <p:cNvCxnSpPr/>
          <p:nvPr/>
        </p:nvCxnSpPr>
        <p:spPr>
          <a:xfrm>
            <a:off x="7568775" y="3316443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291_synthetic_doc_1_line_3_segment_1"/>
          <p:cNvCxnSpPr/>
          <p:nvPr/>
        </p:nvCxnSpPr>
        <p:spPr>
          <a:xfrm>
            <a:off x="7568775" y="3366692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292_synthetic_doc_2_page"/>
          <p:cNvSpPr/>
          <p:nvPr/>
        </p:nvSpPr>
        <p:spPr>
          <a:xfrm>
            <a:off x="7838864" y="3134289"/>
            <a:ext cx="238683" cy="307776"/>
          </a:xfrm>
          <a:prstGeom prst="roundRect">
            <a:avLst>
              <a:gd name="adj" fmla="val 5263"/>
            </a:avLst>
          </a:prstGeom>
          <a:solidFill>
            <a:srgbClr val="1B7FD7"/>
          </a:solidFill>
          <a:ln w="12562">
            <a:solidFill>
              <a:srgbClr val="1B7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293_synthetic_doc_2_fold"/>
          <p:cNvSpPr/>
          <p:nvPr/>
        </p:nvSpPr>
        <p:spPr>
          <a:xfrm rot="8100000">
            <a:off x="7995893" y="3140571"/>
            <a:ext cx="75374" cy="75374"/>
          </a:xfrm>
          <a:prstGeom prst="triangle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5" name="294_synthetic_doc_2_line_1_segment_1"/>
          <p:cNvCxnSpPr/>
          <p:nvPr/>
        </p:nvCxnSpPr>
        <p:spPr>
          <a:xfrm>
            <a:off x="7901676" y="3266193"/>
            <a:ext cx="119341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295_synthetic_doc_2_line_2_segment_1"/>
          <p:cNvCxnSpPr/>
          <p:nvPr/>
        </p:nvCxnSpPr>
        <p:spPr>
          <a:xfrm>
            <a:off x="7901676" y="3316443"/>
            <a:ext cx="119341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296_synthetic_doc_2_line_3_segment_1"/>
          <p:cNvCxnSpPr/>
          <p:nvPr/>
        </p:nvCxnSpPr>
        <p:spPr>
          <a:xfrm>
            <a:off x="7901676" y="3366692"/>
            <a:ext cx="119341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297_synthetic_doc_3_page"/>
          <p:cNvSpPr/>
          <p:nvPr/>
        </p:nvSpPr>
        <p:spPr>
          <a:xfrm>
            <a:off x="7675555" y="3492314"/>
            <a:ext cx="238683" cy="307776"/>
          </a:xfrm>
          <a:prstGeom prst="roundRect">
            <a:avLst>
              <a:gd name="adj" fmla="val 5263"/>
            </a:avLst>
          </a:prstGeom>
          <a:solidFill>
            <a:srgbClr val="1B7FD7"/>
          </a:solidFill>
          <a:ln w="12562">
            <a:solidFill>
              <a:srgbClr val="1B7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298_synthetic_doc_3_fold"/>
          <p:cNvSpPr/>
          <p:nvPr/>
        </p:nvSpPr>
        <p:spPr>
          <a:xfrm rot="8100000">
            <a:off x="7832583" y="3498596"/>
            <a:ext cx="75374" cy="75374"/>
          </a:xfrm>
          <a:prstGeom prst="triangle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299_synthetic_doc_3_line_1_segment_1"/>
          <p:cNvCxnSpPr/>
          <p:nvPr/>
        </p:nvCxnSpPr>
        <p:spPr>
          <a:xfrm>
            <a:off x="7738366" y="3624218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300_synthetic_doc_3_line_2_segment_1"/>
          <p:cNvCxnSpPr/>
          <p:nvPr/>
        </p:nvCxnSpPr>
        <p:spPr>
          <a:xfrm>
            <a:off x="7738366" y="3674468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301_synthetic_doc_3_line_3_segment_1"/>
          <p:cNvCxnSpPr/>
          <p:nvPr/>
        </p:nvCxnSpPr>
        <p:spPr>
          <a:xfrm>
            <a:off x="7738366" y="3724717"/>
            <a:ext cx="119342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302_synthetic_dataset_label"/>
          <p:cNvSpPr txBox="1"/>
          <p:nvPr/>
        </p:nvSpPr>
        <p:spPr>
          <a:xfrm>
            <a:off x="7286124" y="3875464"/>
            <a:ext cx="992420" cy="351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Synthetic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000000"/>
                </a:solidFill>
                <a:latin typeface="Liberation Sans"/>
              </a:rPr>
              <a:t>CoT Dataset</a:t>
            </a:r>
          </a:p>
        </p:txBody>
      </p:sp>
      <p:cxnSp>
        <p:nvCxnSpPr>
          <p:cNvPr id="314" name="303_dataset_to_sft_llm_segment_1"/>
          <p:cNvCxnSpPr/>
          <p:nvPr/>
        </p:nvCxnSpPr>
        <p:spPr>
          <a:xfrm>
            <a:off x="8190608" y="3442065"/>
            <a:ext cx="307776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304_dataset_to_sft_llm_head"/>
          <p:cNvSpPr/>
          <p:nvPr/>
        </p:nvSpPr>
        <p:spPr>
          <a:xfrm rot="5400000">
            <a:off x="8473259" y="3416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305_sft_label"/>
          <p:cNvSpPr txBox="1"/>
          <p:nvPr/>
        </p:nvSpPr>
        <p:spPr>
          <a:xfrm>
            <a:off x="8203170" y="3228507"/>
            <a:ext cx="282651" cy="18843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0" i="0">
                <a:solidFill>
                  <a:srgbClr val="000000"/>
                </a:solidFill>
                <a:latin typeface="Liberation Sans"/>
              </a:rPr>
              <a:t>SFT</a:t>
            </a:r>
          </a:p>
        </p:txBody>
      </p:sp>
      <p:sp>
        <p:nvSpPr>
          <p:cNvPr id="317" name="306_stage2_trainable_llm"/>
          <p:cNvSpPr/>
          <p:nvPr/>
        </p:nvSpPr>
        <p:spPr>
          <a:xfrm>
            <a:off x="8498384" y="3002385"/>
            <a:ext cx="301495" cy="885641"/>
          </a:xfrm>
          <a:prstGeom prst="roundRect">
            <a:avLst>
              <a:gd name="adj" fmla="val 16666"/>
            </a:avLst>
          </a:prstGeom>
          <a:solidFill>
            <a:srgbClr val="FDF3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307_stage2_trainable_llm_label"/>
          <p:cNvSpPr txBox="1"/>
          <p:nvPr/>
        </p:nvSpPr>
        <p:spPr>
          <a:xfrm rot="16200000">
            <a:off x="8404167" y="3190820"/>
            <a:ext cx="489929" cy="30149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sp>
        <p:nvSpPr>
          <p:cNvPr id="319" name="308_stage2_trainable_flame_outer"/>
          <p:cNvSpPr/>
          <p:nvPr/>
        </p:nvSpPr>
        <p:spPr>
          <a:xfrm>
            <a:off x="8580039" y="3684517"/>
            <a:ext cx="101440" cy="131276"/>
          </a:xfrm>
          <a:prstGeom prst="ellipse">
            <a:avLst/>
          </a:prstGeom>
          <a:solidFill>
            <a:srgbClr val="ED3434"/>
          </a:solidFill>
          <a:ln w="6281">
            <a:solidFill>
              <a:srgbClr val="ED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309_stage2_trainable_flame_outer_tip"/>
          <p:cNvSpPr/>
          <p:nvPr/>
        </p:nvSpPr>
        <p:spPr>
          <a:xfrm>
            <a:off x="8583022" y="3624847"/>
            <a:ext cx="95473" cy="95473"/>
          </a:xfrm>
          <a:prstGeom prst="triangle">
            <a:avLst/>
          </a:prstGeom>
          <a:solidFill>
            <a:srgbClr val="ED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310_stage2_trainable_flame_inner"/>
          <p:cNvSpPr/>
          <p:nvPr/>
        </p:nvSpPr>
        <p:spPr>
          <a:xfrm>
            <a:off x="8609874" y="3720320"/>
            <a:ext cx="47737" cy="77572"/>
          </a:xfrm>
          <a:prstGeom prst="ellipse">
            <a:avLst/>
          </a:prstGeom>
          <a:solidFill>
            <a:srgbClr val="FFD13B"/>
          </a:solidFill>
          <a:ln w="6281">
            <a:solidFill>
              <a:srgbClr val="FFD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311_stage2_llm_to_output_segment_1"/>
          <p:cNvCxnSpPr/>
          <p:nvPr/>
        </p:nvCxnSpPr>
        <p:spPr>
          <a:xfrm>
            <a:off x="8799879" y="3442065"/>
            <a:ext cx="69092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312_stage2_llm_to_output_head"/>
          <p:cNvSpPr/>
          <p:nvPr/>
        </p:nvSpPr>
        <p:spPr>
          <a:xfrm rot="5400000">
            <a:off x="8843847" y="3416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313_stage2_output"/>
          <p:cNvSpPr/>
          <p:nvPr/>
        </p:nvSpPr>
        <p:spPr>
          <a:xfrm>
            <a:off x="8868971" y="3002385"/>
            <a:ext cx="3184539" cy="885641"/>
          </a:xfrm>
          <a:prstGeom prst="roundRect">
            <a:avLst>
              <a:gd name="adj" fmla="val 17021"/>
            </a:avLst>
          </a:prstGeom>
          <a:solidFill>
            <a:srgbClr val="F5F5F5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314_stage2_output_doc_page"/>
          <p:cNvSpPr/>
          <p:nvPr/>
        </p:nvSpPr>
        <p:spPr>
          <a:xfrm>
            <a:off x="8950626" y="3071478"/>
            <a:ext cx="251246" cy="339182"/>
          </a:xfrm>
          <a:prstGeom prst="roundRect">
            <a:avLst>
              <a:gd name="adj" fmla="val 5000"/>
            </a:avLst>
          </a:prstGeom>
          <a:solidFill>
            <a:srgbClr val="1B7FD7"/>
          </a:solidFill>
          <a:ln w="12562">
            <a:solidFill>
              <a:srgbClr val="1B7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315_stage2_output_doc_fold"/>
          <p:cNvSpPr/>
          <p:nvPr/>
        </p:nvSpPr>
        <p:spPr>
          <a:xfrm rot="8100000">
            <a:off x="9120217" y="3077759"/>
            <a:ext cx="75374" cy="75374"/>
          </a:xfrm>
          <a:prstGeom prst="triangle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316_stage2_output_doc_line_1_segment_1"/>
          <p:cNvCxnSpPr/>
          <p:nvPr/>
        </p:nvCxnSpPr>
        <p:spPr>
          <a:xfrm>
            <a:off x="9013438" y="3203382"/>
            <a:ext cx="131904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317_stage2_output_doc_line_2_segment_1"/>
          <p:cNvCxnSpPr/>
          <p:nvPr/>
        </p:nvCxnSpPr>
        <p:spPr>
          <a:xfrm>
            <a:off x="9013438" y="3253631"/>
            <a:ext cx="131904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318_stage2_output_doc_line_3_segment_1"/>
          <p:cNvCxnSpPr/>
          <p:nvPr/>
        </p:nvCxnSpPr>
        <p:spPr>
          <a:xfrm>
            <a:off x="9013438" y="3303880"/>
            <a:ext cx="131904" cy="0"/>
          </a:xfrm>
          <a:prstGeom prst="line">
            <a:avLst/>
          </a:prstGeom>
          <a:ln w="12562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319_stage2_output_text"/>
          <p:cNvSpPr txBox="1"/>
          <p:nvPr/>
        </p:nvSpPr>
        <p:spPr>
          <a:xfrm>
            <a:off x="9220715" y="3058916"/>
            <a:ext cx="2763702" cy="7725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000000"/>
                </a:solidFill>
                <a:latin typeface="Liberation Sans"/>
              </a:rPr>
              <a:t>• (1): Retrieval result speculation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000000"/>
                </a:solidFill>
                <a:latin typeface="Liberation Sans"/>
              </a:rPr>
              <a:t>• (2): Quick verification for negative samples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000000"/>
                </a:solidFill>
                <a:latin typeface="Liberation Sans"/>
              </a:rPr>
              <a:t>  (3): Refined verification for positive samples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000000"/>
                </a:solidFill>
                <a:latin typeface="Liberation Sans"/>
              </a:rPr>
              <a:t>  (4): Retrieval result generation</a:t>
            </a:r>
          </a:p>
        </p:txBody>
      </p:sp>
      <p:sp>
        <p:nvSpPr>
          <p:cNvPr id="331" name="320_stage3_title"/>
          <p:cNvSpPr txBox="1"/>
          <p:nvPr/>
        </p:nvSpPr>
        <p:spPr>
          <a:xfrm>
            <a:off x="6576355" y="4315144"/>
            <a:ext cx="5024913" cy="27008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Liberation Sans"/>
              </a:rPr>
              <a:t>Stage 3: RL with Curriculum Reward for Enhancement</a:t>
            </a:r>
          </a:p>
        </p:txBody>
      </p:sp>
      <p:sp>
        <p:nvSpPr>
          <p:cNvPr id="332" name="321_stage3_trainable_llm"/>
          <p:cNvSpPr/>
          <p:nvPr/>
        </p:nvSpPr>
        <p:spPr>
          <a:xfrm>
            <a:off x="6614042" y="4648044"/>
            <a:ext cx="301495" cy="1143168"/>
          </a:xfrm>
          <a:prstGeom prst="roundRect">
            <a:avLst>
              <a:gd name="adj" fmla="val 16666"/>
            </a:avLst>
          </a:prstGeom>
          <a:solidFill>
            <a:srgbClr val="FDF3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322_stage3_trainable_llm_label"/>
          <p:cNvSpPr txBox="1"/>
          <p:nvPr/>
        </p:nvSpPr>
        <p:spPr>
          <a:xfrm rot="16200000">
            <a:off x="6435029" y="4984086"/>
            <a:ext cx="659520" cy="30149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sp>
        <p:nvSpPr>
          <p:cNvPr id="334" name="323_stage3_trainable_flame_outer"/>
          <p:cNvSpPr/>
          <p:nvPr/>
        </p:nvSpPr>
        <p:spPr>
          <a:xfrm>
            <a:off x="6695696" y="5581422"/>
            <a:ext cx="101440" cy="131276"/>
          </a:xfrm>
          <a:prstGeom prst="ellipse">
            <a:avLst/>
          </a:prstGeom>
          <a:solidFill>
            <a:srgbClr val="ED3434"/>
          </a:solidFill>
          <a:ln w="6281">
            <a:solidFill>
              <a:srgbClr val="ED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324_stage3_trainable_flame_outer_tip"/>
          <p:cNvSpPr/>
          <p:nvPr/>
        </p:nvSpPr>
        <p:spPr>
          <a:xfrm>
            <a:off x="6698680" y="5521751"/>
            <a:ext cx="95473" cy="95473"/>
          </a:xfrm>
          <a:prstGeom prst="triangle">
            <a:avLst/>
          </a:prstGeom>
          <a:solidFill>
            <a:srgbClr val="ED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325_stage3_trainable_flame_inner"/>
          <p:cNvSpPr/>
          <p:nvPr/>
        </p:nvSpPr>
        <p:spPr>
          <a:xfrm>
            <a:off x="6725532" y="5617225"/>
            <a:ext cx="47737" cy="77572"/>
          </a:xfrm>
          <a:prstGeom prst="ellipse">
            <a:avLst/>
          </a:prstGeom>
          <a:solidFill>
            <a:srgbClr val="FFD13B"/>
          </a:solidFill>
          <a:ln w="6281">
            <a:solidFill>
              <a:srgbClr val="FFD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326_stage3_llm_to_rollout_segment_1"/>
          <p:cNvCxnSpPr/>
          <p:nvPr/>
        </p:nvCxnSpPr>
        <p:spPr>
          <a:xfrm>
            <a:off x="6915536" y="5207066"/>
            <a:ext cx="188435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327_stage3_llm_to_rollout_head"/>
          <p:cNvSpPr/>
          <p:nvPr/>
        </p:nvSpPr>
        <p:spPr>
          <a:xfrm rot="5400000">
            <a:off x="7078846" y="5181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328_rollout_stack_outer"/>
          <p:cNvSpPr/>
          <p:nvPr/>
        </p:nvSpPr>
        <p:spPr>
          <a:xfrm>
            <a:off x="7103971" y="4648044"/>
            <a:ext cx="515054" cy="1155730"/>
          </a:xfrm>
          <a:prstGeom prst="rect">
            <a:avLst/>
          </a:prstGeom>
          <a:noFill/>
          <a:ln w="3140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329_rollout_item_1"/>
          <p:cNvSpPr/>
          <p:nvPr/>
        </p:nvSpPr>
        <p:spPr>
          <a:xfrm>
            <a:off x="7154220" y="4717137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330_rollout_item_1_label"/>
          <p:cNvSpPr txBox="1"/>
          <p:nvPr/>
        </p:nvSpPr>
        <p:spPr>
          <a:xfrm>
            <a:off x="7154220" y="4717137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o₁</a:t>
            </a:r>
          </a:p>
        </p:txBody>
      </p:sp>
      <p:sp>
        <p:nvSpPr>
          <p:cNvPr id="342" name="331_rollout_item_2"/>
          <p:cNvSpPr/>
          <p:nvPr/>
        </p:nvSpPr>
        <p:spPr>
          <a:xfrm>
            <a:off x="7154220" y="5012351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332_rollout_item_2_label"/>
          <p:cNvSpPr txBox="1"/>
          <p:nvPr/>
        </p:nvSpPr>
        <p:spPr>
          <a:xfrm>
            <a:off x="7154220" y="5012351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o₂</a:t>
            </a:r>
          </a:p>
        </p:txBody>
      </p:sp>
      <p:sp>
        <p:nvSpPr>
          <p:cNvPr id="344" name="333_rollout_item_3"/>
          <p:cNvSpPr/>
          <p:nvPr/>
        </p:nvSpPr>
        <p:spPr>
          <a:xfrm>
            <a:off x="7154220" y="5508561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334_rollout_item_3_label"/>
          <p:cNvSpPr txBox="1"/>
          <p:nvPr/>
        </p:nvSpPr>
        <p:spPr>
          <a:xfrm>
            <a:off x="7154220" y="5508561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oG</a:t>
            </a:r>
          </a:p>
        </p:txBody>
      </p:sp>
      <p:sp>
        <p:nvSpPr>
          <p:cNvPr id="346" name="335_rollout_ellipsis_dot_1"/>
          <p:cNvSpPr/>
          <p:nvPr/>
        </p:nvSpPr>
        <p:spPr>
          <a:xfrm>
            <a:off x="7260999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336_rollout_ellipsis_dot_2"/>
          <p:cNvSpPr/>
          <p:nvPr/>
        </p:nvSpPr>
        <p:spPr>
          <a:xfrm>
            <a:off x="7342654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337_rollout_ellipsis_dot_3"/>
          <p:cNvSpPr/>
          <p:nvPr/>
        </p:nvSpPr>
        <p:spPr>
          <a:xfrm>
            <a:off x="7424309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338_rollout_label"/>
          <p:cNvSpPr txBox="1"/>
          <p:nvPr/>
        </p:nvSpPr>
        <p:spPr>
          <a:xfrm>
            <a:off x="7066284" y="5828899"/>
            <a:ext cx="596708" cy="23868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0">
                <a:solidFill>
                  <a:srgbClr val="000000"/>
                </a:solidFill>
                <a:latin typeface="Liberation Sans"/>
              </a:rPr>
              <a:t>Rollout</a:t>
            </a:r>
          </a:p>
        </p:txBody>
      </p:sp>
      <p:cxnSp>
        <p:nvCxnSpPr>
          <p:cNvPr id="350" name="339_rollout_to_reward_calc_segment_1"/>
          <p:cNvCxnSpPr/>
          <p:nvPr/>
        </p:nvCxnSpPr>
        <p:spPr>
          <a:xfrm>
            <a:off x="7619024" y="5207066"/>
            <a:ext cx="175872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340_rollout_to_reward_calc_head"/>
          <p:cNvSpPr/>
          <p:nvPr/>
        </p:nvSpPr>
        <p:spPr>
          <a:xfrm rot="5400000">
            <a:off x="7769772" y="5181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341_reward_calculation"/>
          <p:cNvSpPr/>
          <p:nvPr/>
        </p:nvSpPr>
        <p:spPr>
          <a:xfrm>
            <a:off x="7794896" y="4641763"/>
            <a:ext cx="2424520" cy="1162011"/>
          </a:xfrm>
          <a:prstGeom prst="roundRect">
            <a:avLst>
              <a:gd name="adj" fmla="val 18378"/>
            </a:avLst>
          </a:prstGeom>
          <a:solidFill>
            <a:srgbClr val="F5F5F5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342_reward_calculation_title"/>
          <p:cNvSpPr txBox="1"/>
          <p:nvPr/>
        </p:nvSpPr>
        <p:spPr>
          <a:xfrm>
            <a:off x="7851426" y="4673169"/>
            <a:ext cx="2311460" cy="23868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1" i="0">
                <a:solidFill>
                  <a:srgbClr val="000000"/>
                </a:solidFill>
                <a:latin typeface="Liberation Sans"/>
              </a:rPr>
              <a:t>Reward Calculation</a:t>
            </a:r>
          </a:p>
        </p:txBody>
      </p:sp>
      <p:sp>
        <p:nvSpPr>
          <p:cNvPr id="354" name="343_reward_format_title"/>
          <p:cNvSpPr txBox="1"/>
          <p:nvPr/>
        </p:nvSpPr>
        <p:spPr>
          <a:xfrm>
            <a:off x="7920519" y="4924415"/>
            <a:ext cx="628114" cy="2072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0" i="0">
                <a:solidFill>
                  <a:srgbClr val="000000"/>
                </a:solidFill>
                <a:latin typeface="Liberation Sans"/>
              </a:rPr>
              <a:t>Format</a:t>
            </a:r>
          </a:p>
        </p:txBody>
      </p:sp>
      <p:sp>
        <p:nvSpPr>
          <p:cNvPr id="355" name="344_reward_result_title"/>
          <p:cNvSpPr txBox="1"/>
          <p:nvPr/>
        </p:nvSpPr>
        <p:spPr>
          <a:xfrm>
            <a:off x="8724505" y="4924415"/>
            <a:ext cx="565303" cy="2072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0" i="0">
                <a:solidFill>
                  <a:srgbClr val="000000"/>
                </a:solidFill>
                <a:latin typeface="Liberation Sans"/>
              </a:rPr>
              <a:t>Result</a:t>
            </a:r>
          </a:p>
        </p:txBody>
      </p:sp>
      <p:sp>
        <p:nvSpPr>
          <p:cNvPr id="356" name="345_reward_efficiency_title"/>
          <p:cNvSpPr txBox="1"/>
          <p:nvPr/>
        </p:nvSpPr>
        <p:spPr>
          <a:xfrm>
            <a:off x="9421712" y="4924415"/>
            <a:ext cx="703488" cy="2072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8" b="0" i="0">
                <a:solidFill>
                  <a:srgbClr val="000000"/>
                </a:solidFill>
                <a:latin typeface="Liberation Sans"/>
              </a:rPr>
              <a:t>Efficiency</a:t>
            </a:r>
          </a:p>
        </p:txBody>
      </p:sp>
      <p:sp>
        <p:nvSpPr>
          <p:cNvPr id="357" name="346_reward_format_icon_paper"/>
          <p:cNvSpPr/>
          <p:nvPr/>
        </p:nvSpPr>
        <p:spPr>
          <a:xfrm>
            <a:off x="7989612" y="5156817"/>
            <a:ext cx="326619" cy="439680"/>
          </a:xfrm>
          <a:prstGeom prst="roundRect">
            <a:avLst>
              <a:gd name="adj" fmla="val 5769"/>
            </a:avLst>
          </a:prstGeom>
          <a:solidFill>
            <a:srgbClr val="FDF3E7"/>
          </a:solidFill>
          <a:ln w="18843">
            <a:solidFill>
              <a:srgbClr val="65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347_reward_format_icon_paper_line_1_segment_1"/>
          <p:cNvCxnSpPr/>
          <p:nvPr/>
        </p:nvCxnSpPr>
        <p:spPr>
          <a:xfrm>
            <a:off x="8052423" y="5257315"/>
            <a:ext cx="163310" cy="0"/>
          </a:xfrm>
          <a:prstGeom prst="line">
            <a:avLst/>
          </a:prstGeom>
          <a:ln w="12562">
            <a:solidFill>
              <a:srgbClr val="596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348_reward_format_icon_paper_line_2_segment_1"/>
          <p:cNvCxnSpPr/>
          <p:nvPr/>
        </p:nvCxnSpPr>
        <p:spPr>
          <a:xfrm>
            <a:off x="8052423" y="5313845"/>
            <a:ext cx="163310" cy="0"/>
          </a:xfrm>
          <a:prstGeom prst="line">
            <a:avLst/>
          </a:prstGeom>
          <a:ln w="12562">
            <a:solidFill>
              <a:srgbClr val="596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349_reward_format_icon_paper_line_3_segment_1"/>
          <p:cNvCxnSpPr/>
          <p:nvPr/>
        </p:nvCxnSpPr>
        <p:spPr>
          <a:xfrm>
            <a:off x="8052423" y="5370376"/>
            <a:ext cx="163310" cy="0"/>
          </a:xfrm>
          <a:prstGeom prst="line">
            <a:avLst/>
          </a:prstGeom>
          <a:ln w="12562">
            <a:solidFill>
              <a:srgbClr val="596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350_reward_format_icon_paper_line_4_segment_1"/>
          <p:cNvCxnSpPr/>
          <p:nvPr/>
        </p:nvCxnSpPr>
        <p:spPr>
          <a:xfrm>
            <a:off x="8052423" y="5426906"/>
            <a:ext cx="163310" cy="0"/>
          </a:xfrm>
          <a:prstGeom prst="line">
            <a:avLst/>
          </a:prstGeom>
          <a:ln w="12562">
            <a:solidFill>
              <a:srgbClr val="596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351_reward_format_icon_lens"/>
          <p:cNvSpPr/>
          <p:nvPr/>
        </p:nvSpPr>
        <p:spPr>
          <a:xfrm>
            <a:off x="8171765" y="5389219"/>
            <a:ext cx="182153" cy="182153"/>
          </a:xfrm>
          <a:prstGeom prst="ellipse">
            <a:avLst/>
          </a:prstGeom>
          <a:noFill/>
          <a:ln w="31405">
            <a:solidFill>
              <a:srgbClr val="316C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352_reward_format_icon_handle_segment_1"/>
          <p:cNvCxnSpPr/>
          <p:nvPr/>
        </p:nvCxnSpPr>
        <p:spPr>
          <a:xfrm>
            <a:off x="8316231" y="5546248"/>
            <a:ext cx="87936" cy="87936"/>
          </a:xfrm>
          <a:prstGeom prst="line">
            <a:avLst/>
          </a:prstGeom>
          <a:ln w="37686">
            <a:solidFill>
              <a:srgbClr val="316C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353_reward_format_icon_check"/>
          <p:cNvSpPr txBox="1"/>
          <p:nvPr/>
        </p:nvSpPr>
        <p:spPr>
          <a:xfrm>
            <a:off x="8215733" y="5408063"/>
            <a:ext cx="100498" cy="11306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91" b="1" i="0">
                <a:solidFill>
                  <a:srgbClr val="2A7777"/>
                </a:solidFill>
                <a:latin typeface="Liberation Sans"/>
              </a:rPr>
              <a:t>✓</a:t>
            </a:r>
          </a:p>
        </p:txBody>
      </p:sp>
      <p:sp>
        <p:nvSpPr>
          <p:cNvPr id="365" name="354_reward_result_icon_tile_1"/>
          <p:cNvSpPr/>
          <p:nvPr/>
        </p:nvSpPr>
        <p:spPr>
          <a:xfrm>
            <a:off x="8755911" y="5163098"/>
            <a:ext cx="188434" cy="157029"/>
          </a:xfrm>
          <a:prstGeom prst="rect">
            <a:avLst/>
          </a:prstGeom>
          <a:solidFill>
            <a:srgbClr val="D7E5EA"/>
          </a:solidFill>
          <a:ln w="12562">
            <a:solidFill>
              <a:srgbClr val="617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355_reward_result_icon_mountain_1"/>
          <p:cNvSpPr/>
          <p:nvPr/>
        </p:nvSpPr>
        <p:spPr>
          <a:xfrm>
            <a:off x="8796738" y="5210207"/>
            <a:ext cx="106779" cy="106779"/>
          </a:xfrm>
          <a:prstGeom prst="triangle">
            <a:avLst/>
          </a:prstGeom>
          <a:solidFill>
            <a:srgbClr val="55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356_reward_result_icon_sun_1"/>
          <p:cNvSpPr/>
          <p:nvPr/>
        </p:nvSpPr>
        <p:spPr>
          <a:xfrm>
            <a:off x="8881534" y="5194504"/>
            <a:ext cx="31406" cy="31406"/>
          </a:xfrm>
          <a:prstGeom prst="ellipse">
            <a:avLst/>
          </a:prstGeom>
          <a:solidFill>
            <a:srgbClr val="D6A032"/>
          </a:solidFill>
          <a:ln w="6281">
            <a:solidFill>
              <a:srgbClr val="D6A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357_reward_result_icon_tile_2"/>
          <p:cNvSpPr/>
          <p:nvPr/>
        </p:nvSpPr>
        <p:spPr>
          <a:xfrm>
            <a:off x="8994594" y="5163098"/>
            <a:ext cx="188434" cy="157029"/>
          </a:xfrm>
          <a:prstGeom prst="rect">
            <a:avLst/>
          </a:prstGeom>
          <a:solidFill>
            <a:srgbClr val="D7E5EA"/>
          </a:solidFill>
          <a:ln w="12562">
            <a:solidFill>
              <a:srgbClr val="617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358_reward_result_icon_mountain_2"/>
          <p:cNvSpPr/>
          <p:nvPr/>
        </p:nvSpPr>
        <p:spPr>
          <a:xfrm>
            <a:off x="9035422" y="5210207"/>
            <a:ext cx="106779" cy="106779"/>
          </a:xfrm>
          <a:prstGeom prst="triangle">
            <a:avLst/>
          </a:prstGeom>
          <a:solidFill>
            <a:srgbClr val="55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359_reward_result_icon_sun_2"/>
          <p:cNvSpPr/>
          <p:nvPr/>
        </p:nvSpPr>
        <p:spPr>
          <a:xfrm>
            <a:off x="9120217" y="5194504"/>
            <a:ext cx="31406" cy="31406"/>
          </a:xfrm>
          <a:prstGeom prst="ellipse">
            <a:avLst/>
          </a:prstGeom>
          <a:solidFill>
            <a:srgbClr val="D6A032"/>
          </a:solidFill>
          <a:ln w="6281">
            <a:solidFill>
              <a:srgbClr val="D6A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360_reward_result_icon_tile_3"/>
          <p:cNvSpPr/>
          <p:nvPr/>
        </p:nvSpPr>
        <p:spPr>
          <a:xfrm>
            <a:off x="8755911" y="5382938"/>
            <a:ext cx="188434" cy="157029"/>
          </a:xfrm>
          <a:prstGeom prst="rect">
            <a:avLst/>
          </a:prstGeom>
          <a:solidFill>
            <a:srgbClr val="D7E5EA"/>
          </a:solidFill>
          <a:ln w="12562">
            <a:solidFill>
              <a:srgbClr val="617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361_reward_result_icon_mountain_3"/>
          <p:cNvSpPr/>
          <p:nvPr/>
        </p:nvSpPr>
        <p:spPr>
          <a:xfrm>
            <a:off x="8796738" y="5430047"/>
            <a:ext cx="106779" cy="106779"/>
          </a:xfrm>
          <a:prstGeom prst="triangle">
            <a:avLst/>
          </a:prstGeom>
          <a:solidFill>
            <a:srgbClr val="55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362_reward_result_icon_sun_3"/>
          <p:cNvSpPr/>
          <p:nvPr/>
        </p:nvSpPr>
        <p:spPr>
          <a:xfrm>
            <a:off x="8881534" y="5414344"/>
            <a:ext cx="31406" cy="31406"/>
          </a:xfrm>
          <a:prstGeom prst="ellipse">
            <a:avLst/>
          </a:prstGeom>
          <a:solidFill>
            <a:srgbClr val="D6A032"/>
          </a:solidFill>
          <a:ln w="6281">
            <a:solidFill>
              <a:srgbClr val="D6A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363_reward_result_icon_tile_4"/>
          <p:cNvSpPr/>
          <p:nvPr/>
        </p:nvSpPr>
        <p:spPr>
          <a:xfrm>
            <a:off x="8994594" y="5382938"/>
            <a:ext cx="188434" cy="157029"/>
          </a:xfrm>
          <a:prstGeom prst="rect">
            <a:avLst/>
          </a:prstGeom>
          <a:solidFill>
            <a:srgbClr val="D7E5EA"/>
          </a:solidFill>
          <a:ln w="12562">
            <a:solidFill>
              <a:srgbClr val="617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364_reward_result_icon_mountain_4"/>
          <p:cNvSpPr/>
          <p:nvPr/>
        </p:nvSpPr>
        <p:spPr>
          <a:xfrm>
            <a:off x="9035422" y="5430047"/>
            <a:ext cx="106779" cy="106779"/>
          </a:xfrm>
          <a:prstGeom prst="triangle">
            <a:avLst/>
          </a:prstGeom>
          <a:solidFill>
            <a:srgbClr val="55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365_reward_result_icon_sun_4"/>
          <p:cNvSpPr/>
          <p:nvPr/>
        </p:nvSpPr>
        <p:spPr>
          <a:xfrm>
            <a:off x="9120217" y="5414344"/>
            <a:ext cx="31406" cy="31406"/>
          </a:xfrm>
          <a:prstGeom prst="ellipse">
            <a:avLst/>
          </a:prstGeom>
          <a:solidFill>
            <a:srgbClr val="D6A032"/>
          </a:solidFill>
          <a:ln w="6281">
            <a:solidFill>
              <a:srgbClr val="D6A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366_reward_result_icon_lens"/>
          <p:cNvSpPr/>
          <p:nvPr/>
        </p:nvSpPr>
        <p:spPr>
          <a:xfrm>
            <a:off x="8994594" y="5364095"/>
            <a:ext cx="238683" cy="238683"/>
          </a:xfrm>
          <a:prstGeom prst="ellipse">
            <a:avLst/>
          </a:prstGeom>
          <a:noFill/>
          <a:ln w="31405">
            <a:solidFill>
              <a:srgbClr val="455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367_reward_result_icon_handle_segment_1"/>
          <p:cNvCxnSpPr/>
          <p:nvPr/>
        </p:nvCxnSpPr>
        <p:spPr>
          <a:xfrm>
            <a:off x="9183028" y="5552529"/>
            <a:ext cx="87936" cy="94217"/>
          </a:xfrm>
          <a:prstGeom prst="line">
            <a:avLst/>
          </a:prstGeom>
          <a:ln w="37686">
            <a:solidFill>
              <a:srgbClr val="455E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368_reward_efficiency_icon_device"/>
          <p:cNvSpPr/>
          <p:nvPr/>
        </p:nvSpPr>
        <p:spPr>
          <a:xfrm>
            <a:off x="9534772" y="5156817"/>
            <a:ext cx="213559" cy="452242"/>
          </a:xfrm>
          <a:prstGeom prst="roundRect">
            <a:avLst>
              <a:gd name="adj" fmla="val 35000"/>
            </a:avLst>
          </a:prstGeom>
          <a:solidFill>
            <a:srgbClr val="DCEAE6"/>
          </a:solidFill>
          <a:ln w="18843">
            <a:solidFill>
              <a:srgbClr val="526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369_reward_efficiency_icon_light_1"/>
          <p:cNvSpPr/>
          <p:nvPr/>
        </p:nvSpPr>
        <p:spPr>
          <a:xfrm>
            <a:off x="9591303" y="5219628"/>
            <a:ext cx="94217" cy="94217"/>
          </a:xfrm>
          <a:prstGeom prst="ellipse">
            <a:avLst/>
          </a:prstGeom>
          <a:solidFill>
            <a:srgbClr val="6DA588"/>
          </a:solidFill>
          <a:ln w="12562">
            <a:solidFill>
              <a:srgbClr val="526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370_reward_efficiency_icon_dot_1"/>
          <p:cNvSpPr/>
          <p:nvPr/>
        </p:nvSpPr>
        <p:spPr>
          <a:xfrm>
            <a:off x="9616427" y="5244753"/>
            <a:ext cx="37687" cy="37687"/>
          </a:xfrm>
          <a:prstGeom prst="ellipse">
            <a:avLst/>
          </a:prstGeom>
          <a:solidFill>
            <a:srgbClr val="E7A43C"/>
          </a:solidFill>
          <a:ln w="6281">
            <a:solidFill>
              <a:srgbClr val="E7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371_reward_efficiency_icon_light_2"/>
          <p:cNvSpPr/>
          <p:nvPr/>
        </p:nvSpPr>
        <p:spPr>
          <a:xfrm>
            <a:off x="9591303" y="5370376"/>
            <a:ext cx="94217" cy="94217"/>
          </a:xfrm>
          <a:prstGeom prst="ellipse">
            <a:avLst/>
          </a:prstGeom>
          <a:solidFill>
            <a:srgbClr val="6DA588"/>
          </a:solidFill>
          <a:ln w="12562">
            <a:solidFill>
              <a:srgbClr val="526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372_reward_efficiency_icon_dot_2"/>
          <p:cNvSpPr/>
          <p:nvPr/>
        </p:nvSpPr>
        <p:spPr>
          <a:xfrm>
            <a:off x="9616427" y="5395500"/>
            <a:ext cx="37687" cy="37687"/>
          </a:xfrm>
          <a:prstGeom prst="ellipse">
            <a:avLst/>
          </a:prstGeom>
          <a:solidFill>
            <a:srgbClr val="E7A43C"/>
          </a:solidFill>
          <a:ln w="6281">
            <a:solidFill>
              <a:srgbClr val="E7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373_reward_efficiency_icon_light_3"/>
          <p:cNvSpPr/>
          <p:nvPr/>
        </p:nvSpPr>
        <p:spPr>
          <a:xfrm>
            <a:off x="9591303" y="5514842"/>
            <a:ext cx="94217" cy="94217"/>
          </a:xfrm>
          <a:prstGeom prst="ellipse">
            <a:avLst/>
          </a:prstGeom>
          <a:solidFill>
            <a:srgbClr val="6DA588"/>
          </a:solidFill>
          <a:ln w="12562">
            <a:solidFill>
              <a:srgbClr val="526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374_reward_efficiency_icon_dot_3"/>
          <p:cNvSpPr/>
          <p:nvPr/>
        </p:nvSpPr>
        <p:spPr>
          <a:xfrm>
            <a:off x="9616427" y="5539967"/>
            <a:ext cx="37687" cy="37687"/>
          </a:xfrm>
          <a:prstGeom prst="ellipse">
            <a:avLst/>
          </a:prstGeom>
          <a:solidFill>
            <a:srgbClr val="E7A43C"/>
          </a:solidFill>
          <a:ln w="6281">
            <a:solidFill>
              <a:srgbClr val="E7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375_reward_efficiency_icon_ghost_1"/>
          <p:cNvSpPr/>
          <p:nvPr/>
        </p:nvSpPr>
        <p:spPr>
          <a:xfrm>
            <a:off x="9836267" y="5213347"/>
            <a:ext cx="188434" cy="169591"/>
          </a:xfrm>
          <a:prstGeom prst="roundRect">
            <a:avLst>
              <a:gd name="adj" fmla="val 14814"/>
            </a:avLst>
          </a:prstGeom>
          <a:solidFill>
            <a:srgbClr val="E4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376_reward_efficiency_icon_ghost_2"/>
          <p:cNvSpPr/>
          <p:nvPr/>
        </p:nvSpPr>
        <p:spPr>
          <a:xfrm>
            <a:off x="9836267" y="5439468"/>
            <a:ext cx="188434" cy="169591"/>
          </a:xfrm>
          <a:prstGeom prst="roundRect">
            <a:avLst>
              <a:gd name="adj" fmla="val 14814"/>
            </a:avLst>
          </a:prstGeom>
          <a:solidFill>
            <a:srgbClr val="E4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377_reward_calc_to_rewards_segment_1"/>
          <p:cNvCxnSpPr/>
          <p:nvPr/>
        </p:nvCxnSpPr>
        <p:spPr>
          <a:xfrm>
            <a:off x="10219417" y="5207066"/>
            <a:ext cx="226121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378_reward_calc_to_rewards_head"/>
          <p:cNvSpPr/>
          <p:nvPr/>
        </p:nvSpPr>
        <p:spPr>
          <a:xfrm rot="5400000">
            <a:off x="10420413" y="5181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379_reward_stack_outer"/>
          <p:cNvSpPr/>
          <p:nvPr/>
        </p:nvSpPr>
        <p:spPr>
          <a:xfrm>
            <a:off x="10445538" y="4648044"/>
            <a:ext cx="515054" cy="1155730"/>
          </a:xfrm>
          <a:prstGeom prst="rect">
            <a:avLst/>
          </a:prstGeom>
          <a:noFill/>
          <a:ln w="3140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380_reward_item_1"/>
          <p:cNvSpPr/>
          <p:nvPr/>
        </p:nvSpPr>
        <p:spPr>
          <a:xfrm>
            <a:off x="10495787" y="4717137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381_reward_item_1_label"/>
          <p:cNvSpPr txBox="1"/>
          <p:nvPr/>
        </p:nvSpPr>
        <p:spPr>
          <a:xfrm>
            <a:off x="10495787" y="4717137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r₁</a:t>
            </a:r>
          </a:p>
        </p:txBody>
      </p:sp>
      <p:sp>
        <p:nvSpPr>
          <p:cNvPr id="393" name="382_reward_item_2"/>
          <p:cNvSpPr/>
          <p:nvPr/>
        </p:nvSpPr>
        <p:spPr>
          <a:xfrm>
            <a:off x="10495787" y="5012351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383_reward_item_2_label"/>
          <p:cNvSpPr txBox="1"/>
          <p:nvPr/>
        </p:nvSpPr>
        <p:spPr>
          <a:xfrm>
            <a:off x="10495787" y="5012351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r₂</a:t>
            </a:r>
          </a:p>
        </p:txBody>
      </p:sp>
      <p:sp>
        <p:nvSpPr>
          <p:cNvPr id="395" name="384_reward_item_3"/>
          <p:cNvSpPr/>
          <p:nvPr/>
        </p:nvSpPr>
        <p:spPr>
          <a:xfrm>
            <a:off x="10495787" y="5508561"/>
            <a:ext cx="408274" cy="232402"/>
          </a:xfrm>
          <a:prstGeom prst="roundRect">
            <a:avLst>
              <a:gd name="adj" fmla="val 18918"/>
            </a:avLst>
          </a:prstGeom>
          <a:solidFill>
            <a:srgbClr val="FFFDF8"/>
          </a:solidFill>
          <a:ln w="1884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385_reward_item_3_label"/>
          <p:cNvSpPr txBox="1"/>
          <p:nvPr/>
        </p:nvSpPr>
        <p:spPr>
          <a:xfrm>
            <a:off x="10495787" y="5508561"/>
            <a:ext cx="408274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6" b="0" i="1">
                <a:solidFill>
                  <a:srgbClr val="000000"/>
                </a:solidFill>
                <a:latin typeface="Liberation Serif"/>
              </a:rPr>
              <a:t>rG</a:t>
            </a:r>
          </a:p>
        </p:txBody>
      </p:sp>
      <p:sp>
        <p:nvSpPr>
          <p:cNvPr id="397" name="386_reward_ellipsis_dot_1"/>
          <p:cNvSpPr/>
          <p:nvPr/>
        </p:nvSpPr>
        <p:spPr>
          <a:xfrm>
            <a:off x="10602566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387_reward_ellipsis_dot_2"/>
          <p:cNvSpPr/>
          <p:nvPr/>
        </p:nvSpPr>
        <p:spPr>
          <a:xfrm>
            <a:off x="10684221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388_reward_ellipsis_dot_3"/>
          <p:cNvSpPr/>
          <p:nvPr/>
        </p:nvSpPr>
        <p:spPr>
          <a:xfrm>
            <a:off x="10765876" y="5351532"/>
            <a:ext cx="37687" cy="37687"/>
          </a:xfrm>
          <a:prstGeom prst="ellipse">
            <a:avLst/>
          </a:prstGeom>
          <a:solidFill>
            <a:srgbClr val="000000"/>
          </a:solidFill>
          <a:ln w="628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389_reward_label"/>
          <p:cNvSpPr txBox="1"/>
          <p:nvPr/>
        </p:nvSpPr>
        <p:spPr>
          <a:xfrm>
            <a:off x="10376445" y="5828899"/>
            <a:ext cx="653239" cy="23868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6" b="0" i="0">
                <a:solidFill>
                  <a:srgbClr val="000000"/>
                </a:solidFill>
                <a:latin typeface="Liberation Sans"/>
              </a:rPr>
              <a:t>Reward</a:t>
            </a:r>
          </a:p>
        </p:txBody>
      </p:sp>
      <p:cxnSp>
        <p:nvCxnSpPr>
          <p:cNvPr id="401" name="390_rewards_to_grpo_segment_1"/>
          <p:cNvCxnSpPr/>
          <p:nvPr/>
        </p:nvCxnSpPr>
        <p:spPr>
          <a:xfrm>
            <a:off x="10960591" y="5207066"/>
            <a:ext cx="163310" cy="0"/>
          </a:xfrm>
          <a:prstGeom prst="line">
            <a:avLst/>
          </a:prstGeom>
          <a:ln w="1884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391_rewards_to_grpo_head"/>
          <p:cNvSpPr/>
          <p:nvPr/>
        </p:nvSpPr>
        <p:spPr>
          <a:xfrm rot="5400000">
            <a:off x="11098776" y="5181941"/>
            <a:ext cx="50249" cy="50249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392_grpo"/>
          <p:cNvSpPr/>
          <p:nvPr/>
        </p:nvSpPr>
        <p:spPr>
          <a:xfrm>
            <a:off x="11123901" y="4962102"/>
            <a:ext cx="634395" cy="458523"/>
          </a:xfrm>
          <a:prstGeom prst="roundRect">
            <a:avLst>
              <a:gd name="adj" fmla="val 17808"/>
            </a:avLst>
          </a:prstGeom>
          <a:solidFill>
            <a:srgbClr val="AFE0E7"/>
          </a:solidFill>
          <a:ln w="18843">
            <a:solidFill>
              <a:srgbClr val="03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393_grpo_label"/>
          <p:cNvSpPr txBox="1"/>
          <p:nvPr/>
        </p:nvSpPr>
        <p:spPr>
          <a:xfrm>
            <a:off x="11123901" y="4962102"/>
            <a:ext cx="634395" cy="45852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84" b="0" i="0">
                <a:solidFill>
                  <a:srgbClr val="000000"/>
                </a:solidFill>
                <a:latin typeface="Liberation Sans"/>
              </a:rPr>
              <a:t>GRPO</a:t>
            </a:r>
          </a:p>
        </p:txBody>
      </p:sp>
      <p:cxnSp>
        <p:nvCxnSpPr>
          <p:cNvPr id="405" name="394_optimization_feedback_segment_1"/>
          <p:cNvCxnSpPr/>
          <p:nvPr/>
        </p:nvCxnSpPr>
        <p:spPr>
          <a:xfrm>
            <a:off x="11758296" y="5188223"/>
            <a:ext cx="226121" cy="0"/>
          </a:xfrm>
          <a:prstGeom prst="line">
            <a:avLst/>
          </a:prstGeom>
          <a:ln w="2512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394_optimization_feedback_segment_2"/>
          <p:cNvCxnSpPr/>
          <p:nvPr/>
        </p:nvCxnSpPr>
        <p:spPr>
          <a:xfrm>
            <a:off x="11984417" y="5188223"/>
            <a:ext cx="0" cy="910765"/>
          </a:xfrm>
          <a:prstGeom prst="line">
            <a:avLst/>
          </a:prstGeom>
          <a:ln w="2512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394_optimization_feedback_segment_3"/>
          <p:cNvCxnSpPr/>
          <p:nvPr/>
        </p:nvCxnSpPr>
        <p:spPr>
          <a:xfrm flipH="1">
            <a:off x="6538668" y="6098988"/>
            <a:ext cx="5445749" cy="0"/>
          </a:xfrm>
          <a:prstGeom prst="line">
            <a:avLst/>
          </a:prstGeom>
          <a:ln w="2512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394_optimization_feedback_segment_4"/>
          <p:cNvCxnSpPr/>
          <p:nvPr/>
        </p:nvCxnSpPr>
        <p:spPr>
          <a:xfrm flipV="1">
            <a:off x="6538668" y="5791212"/>
            <a:ext cx="0" cy="307776"/>
          </a:xfrm>
          <a:prstGeom prst="line">
            <a:avLst/>
          </a:prstGeom>
          <a:ln w="2512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395_optimization_feedback_head"/>
          <p:cNvSpPr/>
          <p:nvPr/>
        </p:nvSpPr>
        <p:spPr>
          <a:xfrm>
            <a:off x="6507262" y="5759806"/>
            <a:ext cx="62811" cy="6281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396_optimize_label"/>
          <p:cNvSpPr txBox="1"/>
          <p:nvPr/>
        </p:nvSpPr>
        <p:spPr>
          <a:xfrm>
            <a:off x="8831284" y="5866586"/>
            <a:ext cx="1004983" cy="2324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84" b="0" i="0">
                <a:solidFill>
                  <a:srgbClr val="000000"/>
                </a:solidFill>
                <a:latin typeface="Liberation Sans"/>
              </a:rPr>
              <a:t>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Retrv-R1 A Reasoning-Driven MLLM Framework for Universal and Efficient Multimodal Retrieval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2434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