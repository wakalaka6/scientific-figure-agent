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344400" cy="731306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nvas_001"/>
          <p:cNvSpPr/>
          <p:nvPr/>
        </p:nvSpPr>
        <p:spPr>
          <a:xfrm>
            <a:off x="0" y="0"/>
            <a:ext cx="12344400" cy="7313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perception_expansion_left_002_segment_0"/>
          <p:cNvCxnSpPr/>
          <p:nvPr/>
        </p:nvCxnSpPr>
        <p:spPr>
          <a:xfrm flipH="1">
            <a:off x="1153682" y="2756019"/>
            <a:ext cx="1442103" cy="384560"/>
          </a:xfrm>
          <a:prstGeom prst="line">
            <a:avLst/>
          </a:prstGeom>
          <a:ln w="25637">
            <a:solidFill>
              <a:srgbClr val="4E86B6"/>
            </a:solidFill>
            <a:prstDash val="dash"/>
          </a:ln>
          <a:effectLst/>
        </p:spPr>
      </p:cxnSp>
      <p:cxnSp>
        <p:nvCxnSpPr>
          <p:cNvPr id="4" name="perception_expansion_left_002_segment_1"/>
          <p:cNvCxnSpPr/>
          <p:nvPr/>
        </p:nvCxnSpPr>
        <p:spPr>
          <a:xfrm flipH="1">
            <a:off x="141006" y="3140579"/>
            <a:ext cx="1012676" cy="0"/>
          </a:xfrm>
          <a:prstGeom prst="line">
            <a:avLst/>
          </a:prstGeom>
          <a:ln w="25637">
            <a:solidFill>
              <a:srgbClr val="4E86B6"/>
            </a:solidFill>
            <a:prstDash val="dash"/>
          </a:ln>
          <a:effectLst/>
        </p:spPr>
      </p:cxnSp>
      <p:cxnSp>
        <p:nvCxnSpPr>
          <p:cNvPr id="5" name="perception_expansion_right_003_segment_0"/>
          <p:cNvCxnSpPr/>
          <p:nvPr/>
        </p:nvCxnSpPr>
        <p:spPr>
          <a:xfrm>
            <a:off x="5018518" y="2756019"/>
            <a:ext cx="224327" cy="384560"/>
          </a:xfrm>
          <a:prstGeom prst="line">
            <a:avLst/>
          </a:prstGeom>
          <a:ln w="25637">
            <a:solidFill>
              <a:srgbClr val="4E86B6"/>
            </a:solidFill>
            <a:prstDash val="dash"/>
          </a:ln>
          <a:effectLst/>
        </p:spPr>
      </p:cxnSp>
      <p:cxnSp>
        <p:nvCxnSpPr>
          <p:cNvPr id="6" name="restoration_expansion_left_004_segment_0"/>
          <p:cNvCxnSpPr/>
          <p:nvPr/>
        </p:nvCxnSpPr>
        <p:spPr>
          <a:xfrm flipH="1">
            <a:off x="5729955" y="2756019"/>
            <a:ext cx="205099" cy="384560"/>
          </a:xfrm>
          <a:prstGeom prst="line">
            <a:avLst/>
          </a:prstGeom>
          <a:ln w="25637">
            <a:solidFill>
              <a:srgbClr val="4F7735"/>
            </a:solidFill>
            <a:prstDash val="dash"/>
          </a:ln>
          <a:effectLst/>
        </p:spPr>
      </p:cxnSp>
      <p:cxnSp>
        <p:nvCxnSpPr>
          <p:cNvPr id="7" name="restoration_expansion_right_005_segment_0"/>
          <p:cNvCxnSpPr/>
          <p:nvPr/>
        </p:nvCxnSpPr>
        <p:spPr>
          <a:xfrm>
            <a:off x="8178325" y="2756019"/>
            <a:ext cx="1397238" cy="384560"/>
          </a:xfrm>
          <a:prstGeom prst="line">
            <a:avLst/>
          </a:prstGeom>
          <a:ln w="25637">
            <a:solidFill>
              <a:srgbClr val="4F7735"/>
            </a:solidFill>
            <a:prstDash val="dash"/>
          </a:ln>
          <a:effectLst/>
        </p:spPr>
      </p:cxnSp>
      <p:sp>
        <p:nvSpPr>
          <p:cNvPr id="8" name="perception_expanded_outline_147"/>
          <p:cNvSpPr/>
          <p:nvPr/>
        </p:nvSpPr>
        <p:spPr>
          <a:xfrm>
            <a:off x="32047" y="3140579"/>
            <a:ext cx="5287710" cy="4134028"/>
          </a:xfrm>
          <a:prstGeom prst="roundRect">
            <a:avLst>
              <a:gd name="adj" fmla="val 5581"/>
            </a:avLst>
          </a:prstGeom>
          <a:noFill/>
          <a:ln w="25637">
            <a:solidFill>
              <a:srgbClr val="4E86B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storation_expanded_outline_306"/>
          <p:cNvSpPr/>
          <p:nvPr/>
        </p:nvSpPr>
        <p:spPr>
          <a:xfrm>
            <a:off x="5710727" y="3140579"/>
            <a:ext cx="6582398" cy="4134028"/>
          </a:xfrm>
          <a:prstGeom prst="roundRect">
            <a:avLst>
              <a:gd name="adj" fmla="val 5581"/>
            </a:avLst>
          </a:prstGeom>
          <a:noFill/>
          <a:ln w="25637">
            <a:solidFill>
              <a:srgbClr val="4F7735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rofile_panel_036"/>
          <p:cNvSpPr/>
          <p:nvPr/>
        </p:nvSpPr>
        <p:spPr>
          <a:xfrm>
            <a:off x="32047" y="512748"/>
            <a:ext cx="1852301" cy="987039"/>
          </a:xfrm>
          <a:prstGeom prst="roundRect">
            <a:avLst>
              <a:gd name="adj" fmla="val 17532"/>
            </a:avLst>
          </a:prstGeom>
          <a:solidFill>
            <a:srgbClr val="F9E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erception_panel_071"/>
          <p:cNvSpPr/>
          <p:nvPr/>
        </p:nvSpPr>
        <p:spPr>
          <a:xfrm>
            <a:off x="2486826" y="512748"/>
            <a:ext cx="2615013" cy="2320183"/>
          </a:xfrm>
          <a:prstGeom prst="roundRect">
            <a:avLst>
              <a:gd name="adj" fmla="val 7458"/>
            </a:avLst>
          </a:prstGeom>
          <a:solidFill>
            <a:srgbClr val="E3F6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storation_panel_110"/>
          <p:cNvSpPr/>
          <p:nvPr/>
        </p:nvSpPr>
        <p:spPr>
          <a:xfrm>
            <a:off x="5729955" y="512748"/>
            <a:ext cx="2525282" cy="2320183"/>
          </a:xfrm>
          <a:prstGeom prst="roundRect">
            <a:avLst>
              <a:gd name="adj" fmla="val 7458"/>
            </a:avLst>
          </a:prstGeom>
          <a:solidFill>
            <a:srgbClr val="EBF8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stage1_panel_148"/>
          <p:cNvSpPr/>
          <p:nvPr/>
        </p:nvSpPr>
        <p:spPr>
          <a:xfrm>
            <a:off x="128187" y="3243129"/>
            <a:ext cx="5095430" cy="1031905"/>
          </a:xfrm>
          <a:prstGeom prst="roundRect">
            <a:avLst>
              <a:gd name="adj" fmla="val 17391"/>
            </a:avLst>
          </a:prstGeom>
          <a:solidFill>
            <a:srgbClr val="E8F7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stage2_panel_170"/>
          <p:cNvSpPr/>
          <p:nvPr/>
        </p:nvSpPr>
        <p:spPr>
          <a:xfrm>
            <a:off x="128187" y="4403221"/>
            <a:ext cx="5095430" cy="2050991"/>
          </a:xfrm>
          <a:prstGeom prst="roundRect">
            <a:avLst>
              <a:gd name="adj" fmla="val 8750"/>
            </a:avLst>
          </a:prstGeom>
          <a:solidFill>
            <a:srgbClr val="E9F8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storation_expanded_body_355"/>
          <p:cNvSpPr/>
          <p:nvPr/>
        </p:nvSpPr>
        <p:spPr>
          <a:xfrm>
            <a:off x="5800458" y="3768695"/>
            <a:ext cx="6409346" cy="3390544"/>
          </a:xfrm>
          <a:prstGeom prst="roundRect">
            <a:avLst>
              <a:gd name="adj" fmla="val 7939"/>
            </a:avLst>
          </a:prstGeom>
          <a:solidFill>
            <a:srgbClr val="EFFA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low_res_input_photo_067" descr="input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4" y="1589518"/>
            <a:ext cx="1602336" cy="1243413"/>
          </a:xfrm>
          <a:prstGeom prst="rect">
            <a:avLst/>
          </a:prstGeom>
          <a:effectLst/>
        </p:spPr>
      </p:pic>
      <p:pic>
        <p:nvPicPr>
          <p:cNvPr id="17" name="high_res_output_photo_144" descr="output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985" y="205099"/>
            <a:ext cx="3525140" cy="2627832"/>
          </a:xfrm>
          <a:prstGeom prst="rect">
            <a:avLst/>
          </a:prstGeom>
          <a:effectLst/>
        </p:spPr>
      </p:pic>
      <p:sp>
        <p:nvSpPr>
          <p:cNvPr id="18" name="restoration_plan_box_285"/>
          <p:cNvSpPr/>
          <p:nvPr/>
        </p:nvSpPr>
        <p:spPr>
          <a:xfrm>
            <a:off x="128187" y="6543942"/>
            <a:ext cx="5095430" cy="647344"/>
          </a:xfrm>
          <a:prstGeom prst="roundRect">
            <a:avLst>
              <a:gd name="adj" fmla="val 20792"/>
            </a:avLst>
          </a:prstGeom>
          <a:solidFill>
            <a:srgbClr val="E9F8FD"/>
          </a:solidFill>
          <a:ln w="19228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ask_strip_307"/>
          <p:cNvSpPr/>
          <p:nvPr/>
        </p:nvSpPr>
        <p:spPr>
          <a:xfrm>
            <a:off x="5941464" y="3211082"/>
            <a:ext cx="6140153" cy="487110"/>
          </a:xfrm>
          <a:prstGeom prst="roundRect">
            <a:avLst>
              <a:gd name="adj" fmla="val 23684"/>
            </a:avLst>
          </a:prstGeom>
          <a:solidFill>
            <a:srgbClr val="EFFAEC"/>
          </a:solidFill>
          <a:ln w="19228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erception_stage1_072"/>
          <p:cNvSpPr/>
          <p:nvPr/>
        </p:nvSpPr>
        <p:spPr>
          <a:xfrm>
            <a:off x="2570148" y="621707"/>
            <a:ext cx="2454779" cy="557613"/>
          </a:xfrm>
          <a:prstGeom prst="roundRect">
            <a:avLst>
              <a:gd name="adj" fmla="val 22988"/>
            </a:avLst>
          </a:prstGeom>
          <a:noFill/>
          <a:ln w="25637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erception_stage2_081"/>
          <p:cNvSpPr/>
          <p:nvPr/>
        </p:nvSpPr>
        <p:spPr>
          <a:xfrm>
            <a:off x="2570148" y="1519015"/>
            <a:ext cx="2454779" cy="557613"/>
          </a:xfrm>
          <a:prstGeom prst="roundRect">
            <a:avLst>
              <a:gd name="adj" fmla="val 22988"/>
            </a:avLst>
          </a:prstGeom>
          <a:noFill/>
          <a:ln w="25637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erception_plan_088"/>
          <p:cNvSpPr/>
          <p:nvPr/>
        </p:nvSpPr>
        <p:spPr>
          <a:xfrm>
            <a:off x="2570148" y="2403505"/>
            <a:ext cx="2454779" cy="371742"/>
          </a:xfrm>
          <a:prstGeom prst="roundRect">
            <a:avLst>
              <a:gd name="adj" fmla="val 27586"/>
            </a:avLst>
          </a:prstGeom>
          <a:noFill/>
          <a:ln w="25637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storation_task1_111"/>
          <p:cNvSpPr/>
          <p:nvPr/>
        </p:nvSpPr>
        <p:spPr>
          <a:xfrm>
            <a:off x="5826095" y="628116"/>
            <a:ext cx="2307364" cy="1345963"/>
          </a:xfrm>
          <a:prstGeom prst="roundRect">
            <a:avLst>
              <a:gd name="adj" fmla="val 15714"/>
            </a:avLst>
          </a:prstGeom>
          <a:noFill/>
          <a:ln w="25637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ask2_placeholder_138"/>
          <p:cNvSpPr/>
          <p:nvPr/>
        </p:nvSpPr>
        <p:spPr>
          <a:xfrm>
            <a:off x="5826095" y="2140721"/>
            <a:ext cx="2307364" cy="243555"/>
          </a:xfrm>
          <a:prstGeom prst="roundRect">
            <a:avLst>
              <a:gd name="adj" fmla="val 23684"/>
            </a:avLst>
          </a:prstGeom>
          <a:noFill/>
          <a:ln w="25637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askk_placeholder_141"/>
          <p:cNvSpPr/>
          <p:nvPr/>
        </p:nvSpPr>
        <p:spPr>
          <a:xfrm>
            <a:off x="5826095" y="2538101"/>
            <a:ext cx="2307364" cy="243555"/>
          </a:xfrm>
          <a:prstGeom prst="roundRect">
            <a:avLst>
              <a:gd name="adj" fmla="val 23684"/>
            </a:avLst>
          </a:prstGeom>
          <a:noFill/>
          <a:ln w="25637">
            <a:solidFill>
              <a:srgbClr val="A6A6A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sr_left_lane_357"/>
          <p:cNvSpPr/>
          <p:nvPr/>
        </p:nvSpPr>
        <p:spPr>
          <a:xfrm>
            <a:off x="5915826" y="3980204"/>
            <a:ext cx="3185445" cy="3070077"/>
          </a:xfrm>
          <a:prstGeom prst="roundRect">
            <a:avLst>
              <a:gd name="adj" fmla="val 6263"/>
            </a:avLst>
          </a:prstGeom>
          <a:noFill/>
          <a:ln w="19228">
            <a:solidFill>
              <a:srgbClr val="B8B8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ace_right_lane_358"/>
          <p:cNvSpPr/>
          <p:nvPr/>
        </p:nvSpPr>
        <p:spPr>
          <a:xfrm>
            <a:off x="9210230" y="3980204"/>
            <a:ext cx="2877796" cy="3070077"/>
          </a:xfrm>
          <a:prstGeom prst="roundRect">
            <a:avLst>
              <a:gd name="adj" fmla="val 6681"/>
            </a:avLst>
          </a:prstGeom>
          <a:noFill/>
          <a:ln w="19228">
            <a:solidFill>
              <a:srgbClr val="B8B8B8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etrics_box_161"/>
          <p:cNvSpPr/>
          <p:nvPr/>
        </p:nvSpPr>
        <p:spPr>
          <a:xfrm>
            <a:off x="2140721" y="3390544"/>
            <a:ext cx="1288279" cy="8075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escription_quote_box_224"/>
          <p:cNvSpPr/>
          <p:nvPr/>
        </p:nvSpPr>
        <p:spPr>
          <a:xfrm>
            <a:off x="1967669" y="4807009"/>
            <a:ext cx="1095998" cy="7370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noise_box_228"/>
          <p:cNvSpPr/>
          <p:nvPr/>
        </p:nvSpPr>
        <p:spPr>
          <a:xfrm>
            <a:off x="1986897" y="5845323"/>
            <a:ext cx="538385" cy="2371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ask1_execution_113"/>
          <p:cNvSpPr/>
          <p:nvPr/>
        </p:nvSpPr>
        <p:spPr>
          <a:xfrm>
            <a:off x="5928645" y="839624"/>
            <a:ext cx="922946" cy="390970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sk1_reflection_115"/>
          <p:cNvSpPr/>
          <p:nvPr/>
        </p:nvSpPr>
        <p:spPr>
          <a:xfrm>
            <a:off x="5928645" y="1224185"/>
            <a:ext cx="922946" cy="269193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sk1_rollback_120"/>
          <p:cNvSpPr/>
          <p:nvPr/>
        </p:nvSpPr>
        <p:spPr>
          <a:xfrm>
            <a:off x="7165649" y="839624"/>
            <a:ext cx="878080" cy="653753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face_restoration_top_135"/>
          <p:cNvSpPr/>
          <p:nvPr/>
        </p:nvSpPr>
        <p:spPr>
          <a:xfrm>
            <a:off x="5928645" y="1608746"/>
            <a:ext cx="2115084" cy="275602"/>
          </a:xfrm>
          <a:prstGeom prst="rect">
            <a:avLst/>
          </a:prstGeom>
          <a:solidFill>
            <a:srgbClr val="F6E8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execution_reflection_divider_359"/>
          <p:cNvCxnSpPr/>
          <p:nvPr/>
        </p:nvCxnSpPr>
        <p:spPr>
          <a:xfrm>
            <a:off x="5992738" y="5749183"/>
            <a:ext cx="3031621" cy="0"/>
          </a:xfrm>
          <a:prstGeom prst="line">
            <a:avLst/>
          </a:prstGeom>
          <a:ln w="19228">
            <a:solidFill>
              <a:srgbClr val="B8B8B8"/>
            </a:solidFill>
            <a:prstDash val="dash"/>
          </a:ln>
          <a:effectLst/>
        </p:spPr>
      </p:cxnSp>
      <p:cxnSp>
        <p:nvCxnSpPr>
          <p:cNvPr id="36" name="tool4_to_face_crop_436_segment_0"/>
          <p:cNvCxnSpPr/>
          <p:nvPr/>
        </p:nvCxnSpPr>
        <p:spPr>
          <a:xfrm>
            <a:off x="8639798" y="6729813"/>
            <a:ext cx="499929" cy="0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37" name="tool4_to_face_crop_436_segment_1"/>
          <p:cNvCxnSpPr/>
          <p:nvPr/>
        </p:nvCxnSpPr>
        <p:spPr>
          <a:xfrm flipV="1">
            <a:off x="9139727" y="4255806"/>
            <a:ext cx="0" cy="2474007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38" name="tool4_to_face_crop_436_segment_2"/>
          <p:cNvCxnSpPr/>
          <p:nvPr/>
        </p:nvCxnSpPr>
        <p:spPr>
          <a:xfrm>
            <a:off x="9139727" y="4255806"/>
            <a:ext cx="1326735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39" name="cross_lane_vertical_438"/>
          <p:cNvCxnSpPr/>
          <p:nvPr/>
        </p:nvCxnSpPr>
        <p:spPr>
          <a:xfrm>
            <a:off x="9139727" y="6274750"/>
            <a:ext cx="0" cy="519157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40" name="profile_inner_arrow_052"/>
          <p:cNvCxnSpPr/>
          <p:nvPr/>
        </p:nvCxnSpPr>
        <p:spPr>
          <a:xfrm>
            <a:off x="1006267" y="1128045"/>
            <a:ext cx="320468" cy="0"/>
          </a:xfrm>
          <a:prstGeom prst="line">
            <a:avLst/>
          </a:prstGeom>
          <a:ln w="44865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41" name="profile_to_perception_066"/>
          <p:cNvCxnSpPr/>
          <p:nvPr/>
        </p:nvCxnSpPr>
        <p:spPr>
          <a:xfrm>
            <a:off x="1903576" y="1128045"/>
            <a:ext cx="570431" cy="0"/>
          </a:xfrm>
          <a:prstGeom prst="line">
            <a:avLst/>
          </a:prstGeom>
          <a:ln w="44865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42" name="input_to_perception_070"/>
          <p:cNvCxnSpPr/>
          <p:nvPr/>
        </p:nvCxnSpPr>
        <p:spPr>
          <a:xfrm>
            <a:off x="1788207" y="2243271"/>
            <a:ext cx="692210" cy="0"/>
          </a:xfrm>
          <a:prstGeom prst="line">
            <a:avLst/>
          </a:prstGeom>
          <a:ln w="76912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43" name="stage1_down_074"/>
          <p:cNvCxnSpPr/>
          <p:nvPr/>
        </p:nvCxnSpPr>
        <p:spPr>
          <a:xfrm>
            <a:off x="3800742" y="1166501"/>
            <a:ext cx="0" cy="339695"/>
          </a:xfrm>
          <a:prstGeom prst="line">
            <a:avLst/>
          </a:prstGeom>
          <a:ln w="44865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44" name="stage2_down_083"/>
          <p:cNvCxnSpPr/>
          <p:nvPr/>
        </p:nvCxnSpPr>
        <p:spPr>
          <a:xfrm>
            <a:off x="3800742" y="2076628"/>
            <a:ext cx="0" cy="320467"/>
          </a:xfrm>
          <a:prstGeom prst="line">
            <a:avLst/>
          </a:prstGeom>
          <a:ln w="44865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45" name="perception_to_restoration_109"/>
          <p:cNvCxnSpPr/>
          <p:nvPr/>
        </p:nvCxnSpPr>
        <p:spPr>
          <a:xfrm>
            <a:off x="5108249" y="1128045"/>
            <a:ext cx="602478" cy="0"/>
          </a:xfrm>
          <a:prstGeom prst="line">
            <a:avLst/>
          </a:prstGeom>
          <a:ln w="44865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46" name="task1_exec_reflect_117"/>
          <p:cNvCxnSpPr/>
          <p:nvPr/>
        </p:nvCxnSpPr>
        <p:spPr>
          <a:xfrm>
            <a:off x="6396527" y="1115226"/>
            <a:ext cx="0" cy="128187"/>
          </a:xfrm>
          <a:prstGeom prst="line">
            <a:avLst/>
          </a:prstGeom>
          <a:ln w="19228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47" name="task1_reflect_face_119"/>
          <p:cNvCxnSpPr/>
          <p:nvPr/>
        </p:nvCxnSpPr>
        <p:spPr>
          <a:xfrm>
            <a:off x="6396527" y="1486968"/>
            <a:ext cx="0" cy="147415"/>
          </a:xfrm>
          <a:prstGeom prst="line">
            <a:avLst/>
          </a:prstGeom>
          <a:ln w="19228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48" name="rollback_loop_132_segment_0"/>
          <p:cNvCxnSpPr/>
          <p:nvPr/>
        </p:nvCxnSpPr>
        <p:spPr>
          <a:xfrm>
            <a:off x="7627121" y="1115226"/>
            <a:ext cx="205100" cy="12819"/>
          </a:xfrm>
          <a:prstGeom prst="line">
            <a:avLst/>
          </a:prstGeom>
          <a:ln w="19228">
            <a:solidFill>
              <a:srgbClr val="A6A6A6"/>
            </a:solidFill>
            <a:prstDash val="dash"/>
          </a:ln>
          <a:effectLst/>
        </p:spPr>
      </p:cxnSp>
      <p:cxnSp>
        <p:nvCxnSpPr>
          <p:cNvPr id="49" name="rollback_loop_132_segment_1"/>
          <p:cNvCxnSpPr/>
          <p:nvPr/>
        </p:nvCxnSpPr>
        <p:spPr>
          <a:xfrm>
            <a:off x="7832221" y="1128045"/>
            <a:ext cx="70502" cy="115368"/>
          </a:xfrm>
          <a:prstGeom prst="line">
            <a:avLst/>
          </a:prstGeom>
          <a:ln w="19228">
            <a:solidFill>
              <a:srgbClr val="A6A6A6"/>
            </a:solidFill>
            <a:prstDash val="dash"/>
            <a:tailEnd type="triangle" w="sm" len="sm"/>
          </a:ln>
          <a:effectLst/>
        </p:spPr>
      </p:cxnSp>
      <p:cxnSp>
        <p:nvCxnSpPr>
          <p:cNvPr id="50" name="reflection_to_rollback_134"/>
          <p:cNvCxnSpPr/>
          <p:nvPr/>
        </p:nvCxnSpPr>
        <p:spPr>
          <a:xfrm>
            <a:off x="6851591" y="1301097"/>
            <a:ext cx="307648" cy="0"/>
          </a:xfrm>
          <a:prstGeom prst="line">
            <a:avLst/>
          </a:prstGeom>
          <a:ln w="19228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51" name="task1_to_task2_137"/>
          <p:cNvCxnSpPr/>
          <p:nvPr/>
        </p:nvCxnSpPr>
        <p:spPr>
          <a:xfrm>
            <a:off x="6992596" y="1974079"/>
            <a:ext cx="0" cy="160233"/>
          </a:xfrm>
          <a:prstGeom prst="line">
            <a:avLst/>
          </a:prstGeom>
          <a:ln w="38456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52" name="restoration_to_output_143"/>
          <p:cNvCxnSpPr/>
          <p:nvPr/>
        </p:nvCxnSpPr>
        <p:spPr>
          <a:xfrm>
            <a:off x="8255237" y="2243271"/>
            <a:ext cx="487111" cy="0"/>
          </a:xfrm>
          <a:prstGeom prst="line">
            <a:avLst/>
          </a:prstGeom>
          <a:ln w="76912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53" name="iqa_to_metrics_160"/>
          <p:cNvCxnSpPr/>
          <p:nvPr/>
        </p:nvCxnSpPr>
        <p:spPr>
          <a:xfrm>
            <a:off x="1544652" y="3845607"/>
            <a:ext cx="435836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54" name="metrics_to_quality_163"/>
          <p:cNvCxnSpPr/>
          <p:nvPr/>
        </p:nvCxnSpPr>
        <p:spPr>
          <a:xfrm>
            <a:off x="3576415" y="3839198"/>
            <a:ext cx="448654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55" name="stage2_image_to_vlm_179"/>
          <p:cNvCxnSpPr/>
          <p:nvPr/>
        </p:nvCxnSpPr>
        <p:spPr>
          <a:xfrm>
            <a:off x="762712" y="5108249"/>
            <a:ext cx="198690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56" name="stage2_scores_to_vlm_180"/>
          <p:cNvCxnSpPr/>
          <p:nvPr/>
        </p:nvCxnSpPr>
        <p:spPr>
          <a:xfrm>
            <a:off x="717847" y="5768411"/>
            <a:ext cx="243555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57" name="vlm_to_description_219"/>
          <p:cNvCxnSpPr/>
          <p:nvPr/>
        </p:nvCxnSpPr>
        <p:spPr>
          <a:xfrm flipV="1">
            <a:off x="1781798" y="5037746"/>
            <a:ext cx="147415" cy="179461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58" name="vlm_to_distortion_226"/>
          <p:cNvCxnSpPr/>
          <p:nvPr/>
        </p:nvCxnSpPr>
        <p:spPr>
          <a:xfrm>
            <a:off x="1781798" y="5832505"/>
            <a:ext cx="153824" cy="64093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59" name="noise_to_lr_230"/>
          <p:cNvCxnSpPr/>
          <p:nvPr/>
        </p:nvCxnSpPr>
        <p:spPr>
          <a:xfrm>
            <a:off x="2550920" y="5967101"/>
            <a:ext cx="192280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60" name="setting_arrow_232_segment_0"/>
          <p:cNvCxnSpPr/>
          <p:nvPr/>
        </p:nvCxnSpPr>
        <p:spPr>
          <a:xfrm flipV="1">
            <a:off x="3166217" y="6069650"/>
            <a:ext cx="0" cy="134597"/>
          </a:xfrm>
          <a:prstGeom prst="line">
            <a:avLst/>
          </a:prstGeom>
          <a:ln w="25637">
            <a:solidFill>
              <a:srgbClr val="B30A63"/>
            </a:solidFill>
            <a:tailEnd type="triangle" w="sm" len="sm"/>
          </a:ln>
          <a:effectLst/>
        </p:spPr>
      </p:cxnSp>
      <p:cxnSp>
        <p:nvCxnSpPr>
          <p:cNvPr id="61" name="agenda_bidirectional_238"/>
          <p:cNvCxnSpPr/>
          <p:nvPr/>
        </p:nvCxnSpPr>
        <p:spPr>
          <a:xfrm>
            <a:off x="3570006" y="5377441"/>
            <a:ext cx="0" cy="249965"/>
          </a:xfrm>
          <a:prstGeom prst="line">
            <a:avLst/>
          </a:prstGeom>
          <a:ln w="19228">
            <a:solidFill>
              <a:srgbClr val="517FB6"/>
            </a:solidFill>
          </a:ln>
          <a:effectLst/>
        </p:spPr>
      </p:cxnSp>
      <p:cxnSp>
        <p:nvCxnSpPr>
          <p:cNvPr id="62" name="experience_to_vlm_281"/>
          <p:cNvCxnSpPr/>
          <p:nvPr/>
        </p:nvCxnSpPr>
        <p:spPr>
          <a:xfrm>
            <a:off x="4646776" y="4755735"/>
            <a:ext cx="0" cy="224327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63" name="agenda_to_vlm_282"/>
          <p:cNvCxnSpPr/>
          <p:nvPr/>
        </p:nvCxnSpPr>
        <p:spPr>
          <a:xfrm>
            <a:off x="4005841" y="5031336"/>
            <a:ext cx="192280" cy="134597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64" name="distortions_to_vlm_283"/>
          <p:cNvCxnSpPr/>
          <p:nvPr/>
        </p:nvCxnSpPr>
        <p:spPr>
          <a:xfrm flipV="1">
            <a:off x="4005841" y="5710727"/>
            <a:ext cx="192280" cy="70503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65" name="vlm_to_plan_284"/>
          <p:cNvCxnSpPr/>
          <p:nvPr/>
        </p:nvCxnSpPr>
        <p:spPr>
          <a:xfrm>
            <a:off x="4640366" y="5845323"/>
            <a:ext cx="0" cy="679391"/>
          </a:xfrm>
          <a:prstGeom prst="line">
            <a:avLst/>
          </a:prstGeom>
          <a:ln w="38456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66" name="plan_arrow1_301"/>
          <p:cNvCxnSpPr/>
          <p:nvPr/>
        </p:nvCxnSpPr>
        <p:spPr>
          <a:xfrm>
            <a:off x="1653611" y="6992596"/>
            <a:ext cx="506339" cy="0"/>
          </a:xfrm>
          <a:prstGeom prst="line">
            <a:avLst/>
          </a:prstGeom>
          <a:ln w="38456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67" name="plan_arrow2_303"/>
          <p:cNvCxnSpPr/>
          <p:nvPr/>
        </p:nvCxnSpPr>
        <p:spPr>
          <a:xfrm>
            <a:off x="3223901" y="6992596"/>
            <a:ext cx="467882" cy="0"/>
          </a:xfrm>
          <a:prstGeom prst="line">
            <a:avLst/>
          </a:prstGeom>
          <a:ln w="38456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68" name="plan_to_task_strip_305_segment_0"/>
          <p:cNvCxnSpPr/>
          <p:nvPr/>
        </p:nvCxnSpPr>
        <p:spPr>
          <a:xfrm>
            <a:off x="5223617" y="6845181"/>
            <a:ext cx="365333" cy="0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69" name="plan_to_task_strip_305_segment_1"/>
          <p:cNvCxnSpPr/>
          <p:nvPr/>
        </p:nvCxnSpPr>
        <p:spPr>
          <a:xfrm flipV="1">
            <a:off x="5588950" y="3454637"/>
            <a:ext cx="0" cy="3390544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70" name="plan_to_task_strip_305_segment_2"/>
          <p:cNvCxnSpPr/>
          <p:nvPr/>
        </p:nvCxnSpPr>
        <p:spPr>
          <a:xfrm>
            <a:off x="5588950" y="3454637"/>
            <a:ext cx="352514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71" name="task_strip_arrow1_353"/>
          <p:cNvCxnSpPr/>
          <p:nvPr/>
        </p:nvCxnSpPr>
        <p:spPr>
          <a:xfrm>
            <a:off x="7851449" y="3454637"/>
            <a:ext cx="301239" cy="0"/>
          </a:xfrm>
          <a:prstGeom prst="line">
            <a:avLst/>
          </a:prstGeom>
          <a:ln w="44865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72" name="task_strip_arrow2_354"/>
          <p:cNvCxnSpPr/>
          <p:nvPr/>
        </p:nvCxnSpPr>
        <p:spPr>
          <a:xfrm>
            <a:off x="9735796" y="3454637"/>
            <a:ext cx="294830" cy="0"/>
          </a:xfrm>
          <a:prstGeom prst="line">
            <a:avLst/>
          </a:prstGeom>
          <a:ln w="44865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73" name="qmoe_fan1_376"/>
          <p:cNvCxnSpPr/>
          <p:nvPr/>
        </p:nvCxnSpPr>
        <p:spPr>
          <a:xfrm flipH="1">
            <a:off x="6819544" y="4454495"/>
            <a:ext cx="608888" cy="185871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74" name="qmoe_fan2_377"/>
          <p:cNvCxnSpPr/>
          <p:nvPr/>
        </p:nvCxnSpPr>
        <p:spPr>
          <a:xfrm>
            <a:off x="7428432" y="4454495"/>
            <a:ext cx="0" cy="185871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75" name="qmoe_fan3_378"/>
          <p:cNvCxnSpPr/>
          <p:nvPr/>
        </p:nvCxnSpPr>
        <p:spPr>
          <a:xfrm>
            <a:off x="7466888" y="4454495"/>
            <a:ext cx="608888" cy="185871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76" name="tools_merge_380_segment_0"/>
          <p:cNvCxnSpPr/>
          <p:nvPr/>
        </p:nvCxnSpPr>
        <p:spPr>
          <a:xfrm>
            <a:off x="6511895" y="5345394"/>
            <a:ext cx="0" cy="115369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77" name="tools_merge_380_segment_1"/>
          <p:cNvCxnSpPr/>
          <p:nvPr/>
        </p:nvCxnSpPr>
        <p:spPr>
          <a:xfrm>
            <a:off x="6511895" y="5460763"/>
            <a:ext cx="1871529" cy="0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78" name="tools_merge_380_segment_2"/>
          <p:cNvCxnSpPr/>
          <p:nvPr/>
        </p:nvCxnSpPr>
        <p:spPr>
          <a:xfrm flipV="1">
            <a:off x="8383424" y="5345394"/>
            <a:ext cx="0" cy="115369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79" name="tool2_to_select_381"/>
          <p:cNvCxnSpPr/>
          <p:nvPr/>
        </p:nvCxnSpPr>
        <p:spPr>
          <a:xfrm>
            <a:off x="7454069" y="5345394"/>
            <a:ext cx="0" cy="583251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80" name="description_to_select_386"/>
          <p:cNvCxnSpPr/>
          <p:nvPr/>
        </p:nvCxnSpPr>
        <p:spPr>
          <a:xfrm>
            <a:off x="8492383" y="5736364"/>
            <a:ext cx="0" cy="192281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81" name="select_to_tool4_389"/>
          <p:cNvCxnSpPr/>
          <p:nvPr/>
        </p:nvCxnSpPr>
        <p:spPr>
          <a:xfrm>
            <a:off x="8325740" y="6191428"/>
            <a:ext cx="0" cy="339695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82" name="score_feedback_392"/>
          <p:cNvCxnSpPr/>
          <p:nvPr/>
        </p:nvCxnSpPr>
        <p:spPr>
          <a:xfrm flipH="1">
            <a:off x="7505344" y="6800316"/>
            <a:ext cx="461473" cy="0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83" name="reflection_loop_395_segment_0"/>
          <p:cNvCxnSpPr/>
          <p:nvPr/>
        </p:nvCxnSpPr>
        <p:spPr>
          <a:xfrm flipH="1">
            <a:off x="7095146" y="6800316"/>
            <a:ext cx="410198" cy="0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84" name="reflection_loop_395_segment_1"/>
          <p:cNvCxnSpPr/>
          <p:nvPr/>
        </p:nvCxnSpPr>
        <p:spPr>
          <a:xfrm flipV="1">
            <a:off x="7095146" y="6422164"/>
            <a:ext cx="0" cy="378152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85" name="reflection_loop_395_segment_2"/>
          <p:cNvCxnSpPr/>
          <p:nvPr/>
        </p:nvCxnSpPr>
        <p:spPr>
          <a:xfrm flipH="1">
            <a:off x="6934912" y="6422164"/>
            <a:ext cx="160234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86" name="no_to_rollback_398"/>
          <p:cNvCxnSpPr/>
          <p:nvPr/>
        </p:nvCxnSpPr>
        <p:spPr>
          <a:xfrm>
            <a:off x="6454211" y="6422164"/>
            <a:ext cx="0" cy="256374"/>
          </a:xfrm>
          <a:prstGeom prst="line">
            <a:avLst/>
          </a:prstGeom>
          <a:ln w="19228">
            <a:solidFill>
              <a:srgbClr val="A6A6A6"/>
            </a:solidFill>
            <a:tailEnd type="triangle" w="sm" len="sm"/>
          </a:ln>
          <a:effectLst/>
        </p:spPr>
      </p:cxnSp>
      <p:cxnSp>
        <p:nvCxnSpPr>
          <p:cNvPr id="87" name="face_fan1_416"/>
          <p:cNvCxnSpPr/>
          <p:nvPr/>
        </p:nvCxnSpPr>
        <p:spPr>
          <a:xfrm flipH="1">
            <a:off x="9799890" y="4480133"/>
            <a:ext cx="890899" cy="166643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88" name="face_fan2_417"/>
          <p:cNvCxnSpPr/>
          <p:nvPr/>
        </p:nvCxnSpPr>
        <p:spPr>
          <a:xfrm>
            <a:off x="10690789" y="4480133"/>
            <a:ext cx="0" cy="166643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89" name="face_fan3_418"/>
          <p:cNvCxnSpPr/>
          <p:nvPr/>
        </p:nvCxnSpPr>
        <p:spPr>
          <a:xfrm>
            <a:off x="10729245" y="4480133"/>
            <a:ext cx="858852" cy="166643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90" name="face_tool1_down_420"/>
          <p:cNvCxnSpPr/>
          <p:nvPr/>
        </p:nvCxnSpPr>
        <p:spPr>
          <a:xfrm>
            <a:off x="9799890" y="5351804"/>
            <a:ext cx="0" cy="141005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91" name="face_tool2_down_421"/>
          <p:cNvCxnSpPr/>
          <p:nvPr/>
        </p:nvCxnSpPr>
        <p:spPr>
          <a:xfrm>
            <a:off x="10690789" y="5351804"/>
            <a:ext cx="0" cy="141005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92" name="face_tooln_down_422"/>
          <p:cNvCxnSpPr/>
          <p:nvPr/>
        </p:nvCxnSpPr>
        <p:spPr>
          <a:xfrm>
            <a:off x="11588097" y="5351804"/>
            <a:ext cx="0" cy="141005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93" name="face_select_down_426"/>
          <p:cNvCxnSpPr/>
          <p:nvPr/>
        </p:nvCxnSpPr>
        <p:spPr>
          <a:xfrm>
            <a:off x="10690789" y="5774821"/>
            <a:ext cx="0" cy="294829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94" name="best_face_to_paste_431"/>
          <p:cNvCxnSpPr/>
          <p:nvPr/>
        </p:nvCxnSpPr>
        <p:spPr>
          <a:xfrm flipH="1">
            <a:off x="10158813" y="6274750"/>
            <a:ext cx="314058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95" name="paste_to_output_image_433_segment_0"/>
          <p:cNvCxnSpPr/>
          <p:nvPr/>
        </p:nvCxnSpPr>
        <p:spPr>
          <a:xfrm>
            <a:off x="9825527" y="6422164"/>
            <a:ext cx="0" cy="416608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96" name="paste_to_output_image_433_segment_1"/>
          <p:cNvCxnSpPr/>
          <p:nvPr/>
        </p:nvCxnSpPr>
        <p:spPr>
          <a:xfrm>
            <a:off x="9825527" y="6838772"/>
            <a:ext cx="634525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97" name="output_arrow_435"/>
          <p:cNvCxnSpPr/>
          <p:nvPr/>
        </p:nvCxnSpPr>
        <p:spPr>
          <a:xfrm>
            <a:off x="10992028" y="6864409"/>
            <a:ext cx="974221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cxnSp>
        <p:nvCxnSpPr>
          <p:cNvPr id="98" name="cross_lane_to_paste_439"/>
          <p:cNvCxnSpPr/>
          <p:nvPr/>
        </p:nvCxnSpPr>
        <p:spPr>
          <a:xfrm>
            <a:off x="9139727" y="6281159"/>
            <a:ext cx="346105" cy="0"/>
          </a:xfrm>
          <a:prstGeom prst="line">
            <a:avLst/>
          </a:prstGeom>
          <a:ln w="19228">
            <a:solidFill>
              <a:srgbClr val="111111"/>
            </a:solidFill>
            <a:tailEnd type="triangle" w="sm" len="sm"/>
          </a:ln>
          <a:effectLst/>
        </p:spPr>
      </p:cxnSp>
      <p:sp>
        <p:nvSpPr>
          <p:cNvPr id="99" name="score_select_387"/>
          <p:cNvSpPr/>
          <p:nvPr/>
        </p:nvSpPr>
        <p:spPr>
          <a:xfrm>
            <a:off x="7204105" y="5928645"/>
            <a:ext cx="1749751" cy="262783"/>
          </a:xfrm>
          <a:prstGeom prst="roundRect">
            <a:avLst>
              <a:gd name="adj" fmla="val 17073"/>
            </a:avLst>
          </a:prstGeom>
          <a:solidFill>
            <a:srgbClr val="E9EBD6"/>
          </a:solidFill>
          <a:ln w="1922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ollback_expanded_399"/>
          <p:cNvSpPr/>
          <p:nvPr/>
        </p:nvSpPr>
        <p:spPr>
          <a:xfrm>
            <a:off x="6024785" y="6684948"/>
            <a:ext cx="922946" cy="31405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ace_score_select_423"/>
          <p:cNvSpPr/>
          <p:nvPr/>
        </p:nvSpPr>
        <p:spPr>
          <a:xfrm>
            <a:off x="9505060" y="5499219"/>
            <a:ext cx="2358639" cy="275602"/>
          </a:xfrm>
          <a:prstGeom prst="roundRect">
            <a:avLst>
              <a:gd name="adj" fmla="val 16279"/>
            </a:avLst>
          </a:prstGeom>
          <a:solidFill>
            <a:srgbClr val="E9EBD6"/>
          </a:solidFill>
          <a:ln w="1922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paste_block_429"/>
          <p:cNvSpPr/>
          <p:nvPr/>
        </p:nvSpPr>
        <p:spPr>
          <a:xfrm>
            <a:off x="9498650" y="6076060"/>
            <a:ext cx="653753" cy="346105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3" name="stage2_input_thumb_172" descr="clean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99" y="4896740"/>
            <a:ext cx="544794" cy="416607"/>
          </a:xfrm>
          <a:prstGeom prst="rect">
            <a:avLst/>
          </a:prstGeom>
          <a:effectLst/>
        </p:spPr>
      </p:pic>
      <p:cxnSp>
        <p:nvCxnSpPr>
          <p:cNvPr id="104" name="vlm_left_edge0_181"/>
          <p:cNvCxnSpPr/>
          <p:nvPr/>
        </p:nvCxnSpPr>
        <p:spPr>
          <a:xfrm flipV="1">
            <a:off x="1019727" y="5094789"/>
            <a:ext cx="231377" cy="97422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05" name="vlm_left_edge1_182"/>
          <p:cNvCxnSpPr/>
          <p:nvPr/>
        </p:nvCxnSpPr>
        <p:spPr>
          <a:xfrm>
            <a:off x="1019727" y="5192211"/>
            <a:ext cx="286177" cy="182666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06" name="vlm_left_edge2_183"/>
          <p:cNvCxnSpPr/>
          <p:nvPr/>
        </p:nvCxnSpPr>
        <p:spPr>
          <a:xfrm>
            <a:off x="1019727" y="5192211"/>
            <a:ext cx="85244" cy="438399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07" name="vlm_left_edge3_184"/>
          <p:cNvCxnSpPr/>
          <p:nvPr/>
        </p:nvCxnSpPr>
        <p:spPr>
          <a:xfrm>
            <a:off x="1251104" y="5094789"/>
            <a:ext cx="255733" cy="0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08" name="vlm_left_edge4_185"/>
          <p:cNvCxnSpPr/>
          <p:nvPr/>
        </p:nvCxnSpPr>
        <p:spPr>
          <a:xfrm>
            <a:off x="1251104" y="5094789"/>
            <a:ext cx="54800" cy="280088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09" name="vlm_left_edge5_186"/>
          <p:cNvCxnSpPr/>
          <p:nvPr/>
        </p:nvCxnSpPr>
        <p:spPr>
          <a:xfrm>
            <a:off x="1251104" y="5094789"/>
            <a:ext cx="310533" cy="286177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10" name="vlm_left_edge6_187"/>
          <p:cNvCxnSpPr/>
          <p:nvPr/>
        </p:nvCxnSpPr>
        <p:spPr>
          <a:xfrm>
            <a:off x="1506837" y="5094789"/>
            <a:ext cx="243555" cy="109600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11" name="vlm_left_edge7_188"/>
          <p:cNvCxnSpPr/>
          <p:nvPr/>
        </p:nvCxnSpPr>
        <p:spPr>
          <a:xfrm flipH="1">
            <a:off x="1305904" y="5094789"/>
            <a:ext cx="200933" cy="280088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12" name="vlm_left_edge8_189"/>
          <p:cNvCxnSpPr/>
          <p:nvPr/>
        </p:nvCxnSpPr>
        <p:spPr>
          <a:xfrm>
            <a:off x="1506837" y="5094789"/>
            <a:ext cx="54800" cy="286177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13" name="vlm_left_edge9_190"/>
          <p:cNvCxnSpPr/>
          <p:nvPr/>
        </p:nvCxnSpPr>
        <p:spPr>
          <a:xfrm flipH="1">
            <a:off x="1561637" y="5204389"/>
            <a:ext cx="188755" cy="176577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14" name="vlm_left_edge10_191"/>
          <p:cNvCxnSpPr/>
          <p:nvPr/>
        </p:nvCxnSpPr>
        <p:spPr>
          <a:xfrm>
            <a:off x="1750392" y="5204389"/>
            <a:ext cx="12178" cy="255733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15" name="vlm_left_edge11_192"/>
          <p:cNvCxnSpPr/>
          <p:nvPr/>
        </p:nvCxnSpPr>
        <p:spPr>
          <a:xfrm flipV="1">
            <a:off x="1062349" y="5374877"/>
            <a:ext cx="243555" cy="24356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16" name="vlm_left_edge12_193"/>
          <p:cNvCxnSpPr/>
          <p:nvPr/>
        </p:nvCxnSpPr>
        <p:spPr>
          <a:xfrm>
            <a:off x="1062349" y="5399233"/>
            <a:ext cx="42622" cy="231377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17" name="vlm_left_edge13_194"/>
          <p:cNvCxnSpPr/>
          <p:nvPr/>
        </p:nvCxnSpPr>
        <p:spPr>
          <a:xfrm>
            <a:off x="1305904" y="5374877"/>
            <a:ext cx="255733" cy="6089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18" name="vlm_left_edge14_195"/>
          <p:cNvCxnSpPr/>
          <p:nvPr/>
        </p:nvCxnSpPr>
        <p:spPr>
          <a:xfrm flipH="1">
            <a:off x="1104971" y="5374877"/>
            <a:ext cx="200933" cy="255733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19" name="vlm_left_edge15_196"/>
          <p:cNvCxnSpPr/>
          <p:nvPr/>
        </p:nvCxnSpPr>
        <p:spPr>
          <a:xfrm>
            <a:off x="1305904" y="5374877"/>
            <a:ext cx="30445" cy="365333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20" name="vlm_left_edge16_197"/>
          <p:cNvCxnSpPr/>
          <p:nvPr/>
        </p:nvCxnSpPr>
        <p:spPr>
          <a:xfrm>
            <a:off x="1305904" y="5374877"/>
            <a:ext cx="280089" cy="328800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21" name="vlm_left_edge17_198"/>
          <p:cNvCxnSpPr/>
          <p:nvPr/>
        </p:nvCxnSpPr>
        <p:spPr>
          <a:xfrm>
            <a:off x="1561637" y="5380966"/>
            <a:ext cx="200933" cy="79156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22" name="vlm_left_edge18_199"/>
          <p:cNvCxnSpPr/>
          <p:nvPr/>
        </p:nvCxnSpPr>
        <p:spPr>
          <a:xfrm flipH="1">
            <a:off x="1336349" y="5380966"/>
            <a:ext cx="225288" cy="359244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23" name="vlm_left_edge19_200"/>
          <p:cNvCxnSpPr/>
          <p:nvPr/>
        </p:nvCxnSpPr>
        <p:spPr>
          <a:xfrm>
            <a:off x="1561637" y="5380966"/>
            <a:ext cx="24356" cy="322711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24" name="vlm_left_edge20_201"/>
          <p:cNvCxnSpPr/>
          <p:nvPr/>
        </p:nvCxnSpPr>
        <p:spPr>
          <a:xfrm>
            <a:off x="1561637" y="5380966"/>
            <a:ext cx="182666" cy="231378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25" name="vlm_left_edge21_202"/>
          <p:cNvCxnSpPr/>
          <p:nvPr/>
        </p:nvCxnSpPr>
        <p:spPr>
          <a:xfrm flipH="1">
            <a:off x="1744303" y="5460122"/>
            <a:ext cx="18267" cy="152222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26" name="vlm_left_edge22_203"/>
          <p:cNvCxnSpPr/>
          <p:nvPr/>
        </p:nvCxnSpPr>
        <p:spPr>
          <a:xfrm>
            <a:off x="1104971" y="5630610"/>
            <a:ext cx="231378" cy="109600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27" name="vlm_left_edge23_204"/>
          <p:cNvCxnSpPr/>
          <p:nvPr/>
        </p:nvCxnSpPr>
        <p:spPr>
          <a:xfrm flipV="1">
            <a:off x="1336349" y="5703677"/>
            <a:ext cx="249644" cy="36533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cxnSp>
        <p:nvCxnSpPr>
          <p:cNvPr id="128" name="vlm_left_edge24_205"/>
          <p:cNvCxnSpPr/>
          <p:nvPr/>
        </p:nvCxnSpPr>
        <p:spPr>
          <a:xfrm flipV="1">
            <a:off x="1585993" y="5612344"/>
            <a:ext cx="158310" cy="91333"/>
          </a:xfrm>
          <a:prstGeom prst="line">
            <a:avLst/>
          </a:prstGeom>
          <a:ln w="18266">
            <a:solidFill>
              <a:srgbClr val="F1C2AA"/>
            </a:solidFill>
          </a:ln>
          <a:effectLst/>
        </p:spPr>
      </p:cxnSp>
      <p:pic>
        <p:nvPicPr>
          <p:cNvPr id="129" name="agenda_image_234" descr="clean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041" y="4518589"/>
            <a:ext cx="544794" cy="416607"/>
          </a:xfrm>
          <a:prstGeom prst="rect">
            <a:avLst/>
          </a:prstGeom>
          <a:effectLst/>
        </p:spPr>
      </p:pic>
      <p:cxnSp>
        <p:nvCxnSpPr>
          <p:cNvPr id="130" name="vlm_right_edge0_243"/>
          <p:cNvCxnSpPr/>
          <p:nvPr/>
        </p:nvCxnSpPr>
        <p:spPr>
          <a:xfrm flipV="1">
            <a:off x="4282725" y="5119785"/>
            <a:ext cx="219199" cy="92295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31" name="vlm_right_edge1_244"/>
          <p:cNvCxnSpPr/>
          <p:nvPr/>
        </p:nvCxnSpPr>
        <p:spPr>
          <a:xfrm>
            <a:off x="4282725" y="5212080"/>
            <a:ext cx="271115" cy="173052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32" name="vlm_right_edge2_245"/>
          <p:cNvCxnSpPr/>
          <p:nvPr/>
        </p:nvCxnSpPr>
        <p:spPr>
          <a:xfrm>
            <a:off x="4282725" y="5212080"/>
            <a:ext cx="80758" cy="415326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33" name="vlm_right_edge3_246"/>
          <p:cNvCxnSpPr/>
          <p:nvPr/>
        </p:nvCxnSpPr>
        <p:spPr>
          <a:xfrm>
            <a:off x="4501924" y="5119785"/>
            <a:ext cx="242274" cy="0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34" name="vlm_right_edge4_247"/>
          <p:cNvCxnSpPr/>
          <p:nvPr/>
        </p:nvCxnSpPr>
        <p:spPr>
          <a:xfrm>
            <a:off x="4501924" y="5119785"/>
            <a:ext cx="51916" cy="265347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35" name="vlm_right_edge5_248"/>
          <p:cNvCxnSpPr/>
          <p:nvPr/>
        </p:nvCxnSpPr>
        <p:spPr>
          <a:xfrm>
            <a:off x="4501924" y="5119785"/>
            <a:ext cx="294189" cy="271116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36" name="vlm_right_edge6_249"/>
          <p:cNvCxnSpPr/>
          <p:nvPr/>
        </p:nvCxnSpPr>
        <p:spPr>
          <a:xfrm>
            <a:off x="4744198" y="5119785"/>
            <a:ext cx="230736" cy="103832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37" name="vlm_right_edge7_250"/>
          <p:cNvCxnSpPr/>
          <p:nvPr/>
        </p:nvCxnSpPr>
        <p:spPr>
          <a:xfrm flipH="1">
            <a:off x="4553840" y="5119785"/>
            <a:ext cx="190358" cy="265347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38" name="vlm_right_edge8_251"/>
          <p:cNvCxnSpPr/>
          <p:nvPr/>
        </p:nvCxnSpPr>
        <p:spPr>
          <a:xfrm>
            <a:off x="4744198" y="5119785"/>
            <a:ext cx="51915" cy="271116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39" name="vlm_right_edge9_252"/>
          <p:cNvCxnSpPr/>
          <p:nvPr/>
        </p:nvCxnSpPr>
        <p:spPr>
          <a:xfrm flipH="1">
            <a:off x="4796113" y="5223617"/>
            <a:ext cx="178821" cy="167284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40" name="vlm_right_edge10_253"/>
          <p:cNvCxnSpPr/>
          <p:nvPr/>
        </p:nvCxnSpPr>
        <p:spPr>
          <a:xfrm>
            <a:off x="4974934" y="5223617"/>
            <a:ext cx="11537" cy="242273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41" name="vlm_right_edge11_254"/>
          <p:cNvCxnSpPr/>
          <p:nvPr/>
        </p:nvCxnSpPr>
        <p:spPr>
          <a:xfrm flipV="1">
            <a:off x="4323104" y="5385132"/>
            <a:ext cx="230736" cy="23074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42" name="vlm_right_edge12_255"/>
          <p:cNvCxnSpPr/>
          <p:nvPr/>
        </p:nvCxnSpPr>
        <p:spPr>
          <a:xfrm>
            <a:off x="4323104" y="5408206"/>
            <a:ext cx="40379" cy="219200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43" name="vlm_right_edge13_256"/>
          <p:cNvCxnSpPr/>
          <p:nvPr/>
        </p:nvCxnSpPr>
        <p:spPr>
          <a:xfrm>
            <a:off x="4553840" y="5385132"/>
            <a:ext cx="242273" cy="5769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44" name="vlm_right_edge14_257"/>
          <p:cNvCxnSpPr/>
          <p:nvPr/>
        </p:nvCxnSpPr>
        <p:spPr>
          <a:xfrm flipH="1">
            <a:off x="4363483" y="5385132"/>
            <a:ext cx="190357" cy="242274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45" name="vlm_right_edge15_258"/>
          <p:cNvCxnSpPr/>
          <p:nvPr/>
        </p:nvCxnSpPr>
        <p:spPr>
          <a:xfrm>
            <a:off x="4553840" y="5385132"/>
            <a:ext cx="28842" cy="346105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46" name="vlm_right_edge16_259"/>
          <p:cNvCxnSpPr/>
          <p:nvPr/>
        </p:nvCxnSpPr>
        <p:spPr>
          <a:xfrm>
            <a:off x="4553840" y="5385132"/>
            <a:ext cx="265347" cy="311495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47" name="vlm_right_edge17_260"/>
          <p:cNvCxnSpPr/>
          <p:nvPr/>
        </p:nvCxnSpPr>
        <p:spPr>
          <a:xfrm>
            <a:off x="4796113" y="5390901"/>
            <a:ext cx="190358" cy="74989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48" name="vlm_right_edge18_261"/>
          <p:cNvCxnSpPr/>
          <p:nvPr/>
        </p:nvCxnSpPr>
        <p:spPr>
          <a:xfrm flipH="1">
            <a:off x="4582682" y="5390901"/>
            <a:ext cx="213431" cy="340336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49" name="vlm_right_edge19_262"/>
          <p:cNvCxnSpPr/>
          <p:nvPr/>
        </p:nvCxnSpPr>
        <p:spPr>
          <a:xfrm>
            <a:off x="4796113" y="5390901"/>
            <a:ext cx="23074" cy="305726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50" name="vlm_right_edge20_263"/>
          <p:cNvCxnSpPr/>
          <p:nvPr/>
        </p:nvCxnSpPr>
        <p:spPr>
          <a:xfrm>
            <a:off x="4796113" y="5390901"/>
            <a:ext cx="173053" cy="219199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51" name="vlm_right_edge21_264"/>
          <p:cNvCxnSpPr/>
          <p:nvPr/>
        </p:nvCxnSpPr>
        <p:spPr>
          <a:xfrm flipH="1">
            <a:off x="4969166" y="5465890"/>
            <a:ext cx="17305" cy="144210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52" name="vlm_right_edge22_265"/>
          <p:cNvCxnSpPr/>
          <p:nvPr/>
        </p:nvCxnSpPr>
        <p:spPr>
          <a:xfrm>
            <a:off x="4363483" y="5627406"/>
            <a:ext cx="219199" cy="103831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53" name="vlm_right_edge23_266"/>
          <p:cNvCxnSpPr/>
          <p:nvPr/>
        </p:nvCxnSpPr>
        <p:spPr>
          <a:xfrm flipV="1">
            <a:off x="4582682" y="5696627"/>
            <a:ext cx="236505" cy="34610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cxnSp>
        <p:nvCxnSpPr>
          <p:cNvPr id="154" name="vlm_right_edge24_267"/>
          <p:cNvCxnSpPr/>
          <p:nvPr/>
        </p:nvCxnSpPr>
        <p:spPr>
          <a:xfrm flipV="1">
            <a:off x="4819187" y="5610100"/>
            <a:ext cx="149979" cy="86527"/>
          </a:xfrm>
          <a:prstGeom prst="line">
            <a:avLst/>
          </a:prstGeom>
          <a:ln w="17305">
            <a:solidFill>
              <a:srgbClr val="F1C2AA"/>
            </a:solidFill>
          </a:ln>
          <a:effectLst/>
        </p:spPr>
      </p:cxnSp>
      <p:pic>
        <p:nvPicPr>
          <p:cNvPr id="155" name="qmoe_input_362" descr="clean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830" y="4057116"/>
            <a:ext cx="551204" cy="410198"/>
          </a:xfrm>
          <a:prstGeom prst="rect">
            <a:avLst/>
          </a:prstGeom>
          <a:effectLst/>
        </p:spPr>
      </p:pic>
      <p:pic>
        <p:nvPicPr>
          <p:cNvPr id="156" name="tool4_image_390" descr="clean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050" y="6531123"/>
            <a:ext cx="506338" cy="397379"/>
          </a:xfrm>
          <a:prstGeom prst="rect">
            <a:avLst/>
          </a:prstGeom>
          <a:effectLst/>
        </p:spPr>
      </p:pic>
      <p:pic>
        <p:nvPicPr>
          <p:cNvPr id="157" name="face_crop_input_402" descr="f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9280" y="4057116"/>
            <a:ext cx="423017" cy="416607"/>
          </a:xfrm>
          <a:prstGeom prst="rect">
            <a:avLst/>
          </a:prstGeom>
          <a:effectLst/>
        </p:spPr>
      </p:pic>
      <p:pic>
        <p:nvPicPr>
          <p:cNvPr id="158" name="best_face_427" descr="f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9280" y="6069650"/>
            <a:ext cx="423017" cy="423017"/>
          </a:xfrm>
          <a:prstGeom prst="rect">
            <a:avLst/>
          </a:prstGeom>
          <a:effectLst/>
        </p:spPr>
      </p:pic>
      <p:pic>
        <p:nvPicPr>
          <p:cNvPr id="159" name="face_output_composite_432" descr="clean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2871" y="6633673"/>
            <a:ext cx="499929" cy="410198"/>
          </a:xfrm>
          <a:prstGeom prst="rect">
            <a:avLst/>
          </a:prstGeom>
          <a:effectLst/>
        </p:spPr>
      </p:pic>
      <p:sp>
        <p:nvSpPr>
          <p:cNvPr id="160" name="toggle_0_037"/>
          <p:cNvSpPr/>
          <p:nvPr/>
        </p:nvSpPr>
        <p:spPr>
          <a:xfrm>
            <a:off x="198690" y="576841"/>
            <a:ext cx="217918" cy="128187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oggle_1_040"/>
          <p:cNvSpPr/>
          <p:nvPr/>
        </p:nvSpPr>
        <p:spPr>
          <a:xfrm>
            <a:off x="198690" y="813987"/>
            <a:ext cx="217918" cy="128187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oggle_2_043"/>
          <p:cNvSpPr/>
          <p:nvPr/>
        </p:nvSpPr>
        <p:spPr>
          <a:xfrm>
            <a:off x="198690" y="1051133"/>
            <a:ext cx="217918" cy="128187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oggle_3_046"/>
          <p:cNvSpPr/>
          <p:nvPr/>
        </p:nvSpPr>
        <p:spPr>
          <a:xfrm>
            <a:off x="198690" y="1288279"/>
            <a:ext cx="217918" cy="128187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vlm_left_node0_206"/>
          <p:cNvSpPr/>
          <p:nvPr/>
        </p:nvSpPr>
        <p:spPr>
          <a:xfrm>
            <a:off x="983194" y="5155678"/>
            <a:ext cx="73067" cy="73067"/>
          </a:xfrm>
          <a:prstGeom prst="ellipse">
            <a:avLst/>
          </a:prstGeom>
          <a:solidFill>
            <a:srgbClr val="FFFFFF"/>
          </a:solidFill>
          <a:ln w="18266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vlm_left_node1_207"/>
          <p:cNvSpPr/>
          <p:nvPr/>
        </p:nvSpPr>
        <p:spPr>
          <a:xfrm>
            <a:off x="1214571" y="5058256"/>
            <a:ext cx="73067" cy="73067"/>
          </a:xfrm>
          <a:prstGeom prst="ellipse">
            <a:avLst/>
          </a:prstGeom>
          <a:solidFill>
            <a:srgbClr val="FFFFFF"/>
          </a:solidFill>
          <a:ln w="18266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vlm_left_node2_208"/>
          <p:cNvSpPr/>
          <p:nvPr/>
        </p:nvSpPr>
        <p:spPr>
          <a:xfrm>
            <a:off x="1470304" y="5058256"/>
            <a:ext cx="73067" cy="73067"/>
          </a:xfrm>
          <a:prstGeom prst="ellipse">
            <a:avLst/>
          </a:prstGeom>
          <a:solidFill>
            <a:srgbClr val="FFFFFF"/>
          </a:solidFill>
          <a:ln w="18266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vlm_left_node3_209"/>
          <p:cNvSpPr/>
          <p:nvPr/>
        </p:nvSpPr>
        <p:spPr>
          <a:xfrm>
            <a:off x="1713859" y="5167856"/>
            <a:ext cx="73067" cy="73067"/>
          </a:xfrm>
          <a:prstGeom prst="ellipse">
            <a:avLst/>
          </a:prstGeom>
          <a:solidFill>
            <a:srgbClr val="FFFFFF"/>
          </a:solidFill>
          <a:ln w="18266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vlm_left_node4_210"/>
          <p:cNvSpPr/>
          <p:nvPr/>
        </p:nvSpPr>
        <p:spPr>
          <a:xfrm>
            <a:off x="1025816" y="5362700"/>
            <a:ext cx="73067" cy="73067"/>
          </a:xfrm>
          <a:prstGeom prst="ellipse">
            <a:avLst/>
          </a:prstGeom>
          <a:solidFill>
            <a:srgbClr val="FFFFFF"/>
          </a:solidFill>
          <a:ln w="18266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vlm_left_node5_211"/>
          <p:cNvSpPr/>
          <p:nvPr/>
        </p:nvSpPr>
        <p:spPr>
          <a:xfrm>
            <a:off x="1269371" y="5338344"/>
            <a:ext cx="73067" cy="73067"/>
          </a:xfrm>
          <a:prstGeom prst="ellipse">
            <a:avLst/>
          </a:prstGeom>
          <a:solidFill>
            <a:srgbClr val="FFFFFF"/>
          </a:solidFill>
          <a:ln w="18266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vlm_left_node6_212"/>
          <p:cNvSpPr/>
          <p:nvPr/>
        </p:nvSpPr>
        <p:spPr>
          <a:xfrm>
            <a:off x="1525104" y="5344433"/>
            <a:ext cx="73067" cy="73067"/>
          </a:xfrm>
          <a:prstGeom prst="ellipse">
            <a:avLst/>
          </a:prstGeom>
          <a:solidFill>
            <a:srgbClr val="FFFFFF"/>
          </a:solidFill>
          <a:ln w="18266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vlm_left_node7_213"/>
          <p:cNvSpPr/>
          <p:nvPr/>
        </p:nvSpPr>
        <p:spPr>
          <a:xfrm>
            <a:off x="1726037" y="5423588"/>
            <a:ext cx="73067" cy="73067"/>
          </a:xfrm>
          <a:prstGeom prst="ellipse">
            <a:avLst/>
          </a:prstGeom>
          <a:solidFill>
            <a:srgbClr val="FFFFFF"/>
          </a:solidFill>
          <a:ln w="18266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vlm_left_node8_214"/>
          <p:cNvSpPr/>
          <p:nvPr/>
        </p:nvSpPr>
        <p:spPr>
          <a:xfrm>
            <a:off x="1068438" y="5594077"/>
            <a:ext cx="73067" cy="73067"/>
          </a:xfrm>
          <a:prstGeom prst="ellipse">
            <a:avLst/>
          </a:prstGeom>
          <a:solidFill>
            <a:srgbClr val="FFFFFF"/>
          </a:solidFill>
          <a:ln w="18266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vlm_left_node9_215"/>
          <p:cNvSpPr/>
          <p:nvPr/>
        </p:nvSpPr>
        <p:spPr>
          <a:xfrm>
            <a:off x="1299815" y="5703677"/>
            <a:ext cx="73067" cy="73067"/>
          </a:xfrm>
          <a:prstGeom prst="ellipse">
            <a:avLst/>
          </a:prstGeom>
          <a:solidFill>
            <a:srgbClr val="FFFFFF"/>
          </a:solidFill>
          <a:ln w="18266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vlm_left_node10_216"/>
          <p:cNvSpPr/>
          <p:nvPr/>
        </p:nvSpPr>
        <p:spPr>
          <a:xfrm>
            <a:off x="1549459" y="5667144"/>
            <a:ext cx="73067" cy="73067"/>
          </a:xfrm>
          <a:prstGeom prst="ellipse">
            <a:avLst/>
          </a:prstGeom>
          <a:solidFill>
            <a:srgbClr val="FFFFFF"/>
          </a:solidFill>
          <a:ln w="18266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vlm_left_node11_217"/>
          <p:cNvSpPr/>
          <p:nvPr/>
        </p:nvSpPr>
        <p:spPr>
          <a:xfrm>
            <a:off x="1707770" y="5575810"/>
            <a:ext cx="73067" cy="73067"/>
          </a:xfrm>
          <a:prstGeom prst="ellipse">
            <a:avLst/>
          </a:prstGeom>
          <a:solidFill>
            <a:srgbClr val="FFFFFF"/>
          </a:solidFill>
          <a:ln w="18266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vlm_right_node0_268"/>
          <p:cNvSpPr/>
          <p:nvPr/>
        </p:nvSpPr>
        <p:spPr>
          <a:xfrm>
            <a:off x="4248114" y="5177470"/>
            <a:ext cx="69221" cy="69221"/>
          </a:xfrm>
          <a:prstGeom prst="ellipse">
            <a:avLst/>
          </a:prstGeom>
          <a:solidFill>
            <a:srgbClr val="FFFFFF"/>
          </a:solidFill>
          <a:ln w="17305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vlm_right_node1_269"/>
          <p:cNvSpPr/>
          <p:nvPr/>
        </p:nvSpPr>
        <p:spPr>
          <a:xfrm>
            <a:off x="4467314" y="5085175"/>
            <a:ext cx="69221" cy="69221"/>
          </a:xfrm>
          <a:prstGeom prst="ellipse">
            <a:avLst/>
          </a:prstGeom>
          <a:solidFill>
            <a:srgbClr val="FFFFFF"/>
          </a:solidFill>
          <a:ln w="17305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vlm_right_node2_270"/>
          <p:cNvSpPr/>
          <p:nvPr/>
        </p:nvSpPr>
        <p:spPr>
          <a:xfrm>
            <a:off x="4709587" y="5085175"/>
            <a:ext cx="69221" cy="69221"/>
          </a:xfrm>
          <a:prstGeom prst="ellipse">
            <a:avLst/>
          </a:prstGeom>
          <a:solidFill>
            <a:srgbClr val="FFFFFF"/>
          </a:solidFill>
          <a:ln w="17305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vlm_right_node3_271"/>
          <p:cNvSpPr/>
          <p:nvPr/>
        </p:nvSpPr>
        <p:spPr>
          <a:xfrm>
            <a:off x="4940324" y="5189006"/>
            <a:ext cx="69221" cy="69221"/>
          </a:xfrm>
          <a:prstGeom prst="ellipse">
            <a:avLst/>
          </a:prstGeom>
          <a:solidFill>
            <a:srgbClr val="FFFFFF"/>
          </a:solidFill>
          <a:ln w="17305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vlm_right_node4_272"/>
          <p:cNvSpPr/>
          <p:nvPr/>
        </p:nvSpPr>
        <p:spPr>
          <a:xfrm>
            <a:off x="4288493" y="5373596"/>
            <a:ext cx="69221" cy="69221"/>
          </a:xfrm>
          <a:prstGeom prst="ellipse">
            <a:avLst/>
          </a:prstGeom>
          <a:solidFill>
            <a:srgbClr val="FFFFFF"/>
          </a:solidFill>
          <a:ln w="17305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vlm_right_node5_273"/>
          <p:cNvSpPr/>
          <p:nvPr/>
        </p:nvSpPr>
        <p:spPr>
          <a:xfrm>
            <a:off x="4519230" y="5350522"/>
            <a:ext cx="69221" cy="69221"/>
          </a:xfrm>
          <a:prstGeom prst="ellipse">
            <a:avLst/>
          </a:prstGeom>
          <a:solidFill>
            <a:srgbClr val="FFFFFF"/>
          </a:solidFill>
          <a:ln w="17305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vlm_right_node6_274"/>
          <p:cNvSpPr/>
          <p:nvPr/>
        </p:nvSpPr>
        <p:spPr>
          <a:xfrm>
            <a:off x="4761503" y="5356290"/>
            <a:ext cx="69221" cy="69221"/>
          </a:xfrm>
          <a:prstGeom prst="ellipse">
            <a:avLst/>
          </a:prstGeom>
          <a:solidFill>
            <a:srgbClr val="FFFFFF"/>
          </a:solidFill>
          <a:ln w="17305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vlm_right_node7_275"/>
          <p:cNvSpPr/>
          <p:nvPr/>
        </p:nvSpPr>
        <p:spPr>
          <a:xfrm>
            <a:off x="4951861" y="5431280"/>
            <a:ext cx="69221" cy="69221"/>
          </a:xfrm>
          <a:prstGeom prst="ellipse">
            <a:avLst/>
          </a:prstGeom>
          <a:solidFill>
            <a:srgbClr val="FFFFFF"/>
          </a:solidFill>
          <a:ln w="17305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vlm_right_node8_276"/>
          <p:cNvSpPr/>
          <p:nvPr/>
        </p:nvSpPr>
        <p:spPr>
          <a:xfrm>
            <a:off x="4328872" y="5592795"/>
            <a:ext cx="69221" cy="69221"/>
          </a:xfrm>
          <a:prstGeom prst="ellipse">
            <a:avLst/>
          </a:prstGeom>
          <a:solidFill>
            <a:srgbClr val="FFFFFF"/>
          </a:solidFill>
          <a:ln w="17305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vlm_right_node9_277"/>
          <p:cNvSpPr/>
          <p:nvPr/>
        </p:nvSpPr>
        <p:spPr>
          <a:xfrm>
            <a:off x="4548072" y="5696627"/>
            <a:ext cx="69221" cy="69221"/>
          </a:xfrm>
          <a:prstGeom prst="ellipse">
            <a:avLst/>
          </a:prstGeom>
          <a:solidFill>
            <a:srgbClr val="FFFFFF"/>
          </a:solidFill>
          <a:ln w="17305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vlm_right_node10_278"/>
          <p:cNvSpPr/>
          <p:nvPr/>
        </p:nvSpPr>
        <p:spPr>
          <a:xfrm>
            <a:off x="4784577" y="5662016"/>
            <a:ext cx="69221" cy="69221"/>
          </a:xfrm>
          <a:prstGeom prst="ellipse">
            <a:avLst/>
          </a:prstGeom>
          <a:solidFill>
            <a:srgbClr val="FFFFFF"/>
          </a:solidFill>
          <a:ln w="17305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vlm_right_node11_279"/>
          <p:cNvSpPr/>
          <p:nvPr/>
        </p:nvSpPr>
        <p:spPr>
          <a:xfrm>
            <a:off x="4934555" y="5575490"/>
            <a:ext cx="69221" cy="69221"/>
          </a:xfrm>
          <a:prstGeom prst="ellipse">
            <a:avLst/>
          </a:prstGeom>
          <a:solidFill>
            <a:srgbClr val="FFFFFF"/>
          </a:solidFill>
          <a:ln w="17305">
            <a:solidFill>
              <a:srgbClr val="F1C2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qmoe_tool0_shadow_364"/>
          <p:cNvSpPr/>
          <p:nvPr/>
        </p:nvSpPr>
        <p:spPr>
          <a:xfrm>
            <a:off x="6229884" y="4710869"/>
            <a:ext cx="640935" cy="685800"/>
          </a:xfrm>
          <a:prstGeom prst="roundRect">
            <a:avLst>
              <a:gd name="adj" fmla="val 15000"/>
            </a:avLst>
          </a:prstGeom>
          <a:solidFill>
            <a:srgbClr val="C6C6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qmoe_tool1_shadow_368"/>
          <p:cNvSpPr/>
          <p:nvPr/>
        </p:nvSpPr>
        <p:spPr>
          <a:xfrm>
            <a:off x="7172058" y="4710869"/>
            <a:ext cx="640935" cy="685800"/>
          </a:xfrm>
          <a:prstGeom prst="roundRect">
            <a:avLst>
              <a:gd name="adj" fmla="val 15000"/>
            </a:avLst>
          </a:prstGeom>
          <a:solidFill>
            <a:srgbClr val="C6C6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qmoe_tool2_shadow_372"/>
          <p:cNvSpPr/>
          <p:nvPr/>
        </p:nvSpPr>
        <p:spPr>
          <a:xfrm>
            <a:off x="8101413" y="4710869"/>
            <a:ext cx="640935" cy="685800"/>
          </a:xfrm>
          <a:prstGeom prst="roundRect">
            <a:avLst>
              <a:gd name="adj" fmla="val 15000"/>
            </a:avLst>
          </a:prstGeom>
          <a:solidFill>
            <a:srgbClr val="C6C6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face_tool0_shadow_404"/>
          <p:cNvSpPr/>
          <p:nvPr/>
        </p:nvSpPr>
        <p:spPr>
          <a:xfrm>
            <a:off x="9505060" y="4717279"/>
            <a:ext cx="660163" cy="685800"/>
          </a:xfrm>
          <a:prstGeom prst="roundRect">
            <a:avLst>
              <a:gd name="adj" fmla="val 14563"/>
            </a:avLst>
          </a:prstGeom>
          <a:solidFill>
            <a:srgbClr val="C6C6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face_tool1_shadow_408"/>
          <p:cNvSpPr/>
          <p:nvPr/>
        </p:nvSpPr>
        <p:spPr>
          <a:xfrm>
            <a:off x="10395959" y="4717279"/>
            <a:ext cx="660163" cy="685800"/>
          </a:xfrm>
          <a:prstGeom prst="roundRect">
            <a:avLst>
              <a:gd name="adj" fmla="val 14563"/>
            </a:avLst>
          </a:prstGeom>
          <a:solidFill>
            <a:srgbClr val="C6C6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face_tool2_shadow_412"/>
          <p:cNvSpPr/>
          <p:nvPr/>
        </p:nvSpPr>
        <p:spPr>
          <a:xfrm>
            <a:off x="11299677" y="4717279"/>
            <a:ext cx="660163" cy="685800"/>
          </a:xfrm>
          <a:prstGeom prst="roundRect">
            <a:avLst>
              <a:gd name="adj" fmla="val 14563"/>
            </a:avLst>
          </a:prstGeom>
          <a:solidFill>
            <a:srgbClr val="C6C6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toggle_dot_0_038"/>
          <p:cNvSpPr/>
          <p:nvPr/>
        </p:nvSpPr>
        <p:spPr>
          <a:xfrm>
            <a:off x="237146" y="608888"/>
            <a:ext cx="64093" cy="64093"/>
          </a:xfrm>
          <a:prstGeom prst="ellipse">
            <a:avLst/>
          </a:prstGeom>
          <a:solidFill>
            <a:srgbClr val="111111"/>
          </a:solidFill>
          <a:ln w="6409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oggle_dot_1_041"/>
          <p:cNvSpPr/>
          <p:nvPr/>
        </p:nvSpPr>
        <p:spPr>
          <a:xfrm>
            <a:off x="237146" y="846034"/>
            <a:ext cx="64093" cy="64093"/>
          </a:xfrm>
          <a:prstGeom prst="ellipse">
            <a:avLst/>
          </a:prstGeom>
          <a:solidFill>
            <a:srgbClr val="111111"/>
          </a:solidFill>
          <a:ln w="6409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toggle_dot_2_044"/>
          <p:cNvSpPr/>
          <p:nvPr/>
        </p:nvSpPr>
        <p:spPr>
          <a:xfrm>
            <a:off x="237146" y="1083179"/>
            <a:ext cx="64093" cy="64093"/>
          </a:xfrm>
          <a:prstGeom prst="ellipse">
            <a:avLst/>
          </a:prstGeom>
          <a:solidFill>
            <a:srgbClr val="111111"/>
          </a:solidFill>
          <a:ln w="6409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toggle_dot_3_047"/>
          <p:cNvSpPr/>
          <p:nvPr/>
        </p:nvSpPr>
        <p:spPr>
          <a:xfrm>
            <a:off x="237146" y="1320325"/>
            <a:ext cx="64093" cy="64093"/>
          </a:xfrm>
          <a:prstGeom prst="ellipse">
            <a:avLst/>
          </a:prstGeom>
          <a:solidFill>
            <a:srgbClr val="111111"/>
          </a:solidFill>
          <a:ln w="6409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gesture_dot1_049"/>
          <p:cNvSpPr/>
          <p:nvPr/>
        </p:nvSpPr>
        <p:spPr>
          <a:xfrm>
            <a:off x="967811" y="807578"/>
            <a:ext cx="57684" cy="57684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gesture_dot2_050"/>
          <p:cNvSpPr/>
          <p:nvPr/>
        </p:nvSpPr>
        <p:spPr>
          <a:xfrm>
            <a:off x="1179320" y="775531"/>
            <a:ext cx="38456" cy="38456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0" name="gesture_hand_051_segment_0"/>
          <p:cNvCxnSpPr/>
          <p:nvPr/>
        </p:nvCxnSpPr>
        <p:spPr>
          <a:xfrm flipV="1">
            <a:off x="1019086" y="813987"/>
            <a:ext cx="64093" cy="76912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01" name="gesture_hand_051_segment_1"/>
          <p:cNvCxnSpPr/>
          <p:nvPr/>
        </p:nvCxnSpPr>
        <p:spPr>
          <a:xfrm>
            <a:off x="1083179" y="813987"/>
            <a:ext cx="44866" cy="141006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02" name="gesture_hand_051_segment_2"/>
          <p:cNvCxnSpPr/>
          <p:nvPr/>
        </p:nvCxnSpPr>
        <p:spPr>
          <a:xfrm flipV="1">
            <a:off x="1128045" y="852443"/>
            <a:ext cx="44865" cy="102550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03" name="gesture_hand_051_segment_3"/>
          <p:cNvCxnSpPr/>
          <p:nvPr/>
        </p:nvCxnSpPr>
        <p:spPr>
          <a:xfrm>
            <a:off x="1172910" y="852443"/>
            <a:ext cx="44866" cy="89731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04" name="gesture_hand_051_segment_4"/>
          <p:cNvCxnSpPr/>
          <p:nvPr/>
        </p:nvCxnSpPr>
        <p:spPr>
          <a:xfrm flipV="1">
            <a:off x="1217776" y="852443"/>
            <a:ext cx="76912" cy="89731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sp>
        <p:nvSpPr>
          <p:cNvPr id="205" name="vlm_left_label_218"/>
          <p:cNvSpPr txBox="1"/>
          <p:nvPr/>
        </p:nvSpPr>
        <p:spPr>
          <a:xfrm>
            <a:off x="1080616" y="5313989"/>
            <a:ext cx="633243" cy="3044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3" b="1" i="0">
                <a:solidFill>
                  <a:srgbClr val="111111"/>
                </a:solidFill>
                <a:latin typeface="Liberation Serif"/>
              </a:rPr>
              <a:t>VLM</a:t>
            </a:r>
          </a:p>
        </p:txBody>
      </p:sp>
      <p:sp>
        <p:nvSpPr>
          <p:cNvPr id="206" name="vlm_right_label_280"/>
          <p:cNvSpPr txBox="1"/>
          <p:nvPr/>
        </p:nvSpPr>
        <p:spPr>
          <a:xfrm>
            <a:off x="4340409" y="5327448"/>
            <a:ext cx="599915" cy="28842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7" b="1" i="0">
                <a:solidFill>
                  <a:srgbClr val="111111"/>
                </a:solidFill>
                <a:latin typeface="Liberation Serif"/>
              </a:rPr>
              <a:t>VLM</a:t>
            </a:r>
          </a:p>
        </p:txBody>
      </p:sp>
      <p:sp>
        <p:nvSpPr>
          <p:cNvPr id="207" name="qmoe_tool0_card_365"/>
          <p:cNvSpPr/>
          <p:nvPr/>
        </p:nvSpPr>
        <p:spPr>
          <a:xfrm>
            <a:off x="6191428" y="4659594"/>
            <a:ext cx="640935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409">
            <a:solidFill>
              <a:srgbClr val="E2E2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qmoe_tool1_card_369"/>
          <p:cNvSpPr/>
          <p:nvPr/>
        </p:nvSpPr>
        <p:spPr>
          <a:xfrm>
            <a:off x="7133602" y="4659594"/>
            <a:ext cx="640935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409">
            <a:solidFill>
              <a:srgbClr val="E2E2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qmoe_tool2_card_373"/>
          <p:cNvSpPr/>
          <p:nvPr/>
        </p:nvSpPr>
        <p:spPr>
          <a:xfrm>
            <a:off x="8062957" y="4659594"/>
            <a:ext cx="640935" cy="685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409">
            <a:solidFill>
              <a:srgbClr val="E2E2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face_tool0_card_405"/>
          <p:cNvSpPr/>
          <p:nvPr/>
        </p:nvSpPr>
        <p:spPr>
          <a:xfrm>
            <a:off x="9466604" y="4666004"/>
            <a:ext cx="660163" cy="685800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6409">
            <a:solidFill>
              <a:srgbClr val="E2E2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face_tool1_card_409"/>
          <p:cNvSpPr/>
          <p:nvPr/>
        </p:nvSpPr>
        <p:spPr>
          <a:xfrm>
            <a:off x="10357503" y="4666004"/>
            <a:ext cx="660163" cy="685800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6409">
            <a:solidFill>
              <a:srgbClr val="E2E2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face_tool2_card_413"/>
          <p:cNvSpPr/>
          <p:nvPr/>
        </p:nvSpPr>
        <p:spPr>
          <a:xfrm>
            <a:off x="11261221" y="4666004"/>
            <a:ext cx="660163" cy="685800"/>
          </a:xfrm>
          <a:prstGeom prst="roundRect">
            <a:avLst>
              <a:gd name="adj" fmla="val 14563"/>
            </a:avLst>
          </a:prstGeom>
          <a:solidFill>
            <a:srgbClr val="FFFFFF"/>
          </a:solidFill>
          <a:ln w="6409">
            <a:solidFill>
              <a:srgbClr val="E2E2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3" name="qmoe_tool0_image_367" descr="clean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521" y="4890331"/>
            <a:ext cx="512748" cy="397379"/>
          </a:xfrm>
          <a:prstGeom prst="rect">
            <a:avLst/>
          </a:prstGeom>
          <a:effectLst/>
        </p:spPr>
      </p:pic>
      <p:pic>
        <p:nvPicPr>
          <p:cNvPr id="214" name="qmoe_tool1_image_371" descr="clean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695" y="4890331"/>
            <a:ext cx="512748" cy="397379"/>
          </a:xfrm>
          <a:prstGeom prst="rect">
            <a:avLst/>
          </a:prstGeom>
          <a:effectLst/>
        </p:spPr>
      </p:pic>
      <p:pic>
        <p:nvPicPr>
          <p:cNvPr id="215" name="qmoe_tool2_image_375" descr="clean_sce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7050" y="4890331"/>
            <a:ext cx="512748" cy="397379"/>
          </a:xfrm>
          <a:prstGeom prst="rect">
            <a:avLst/>
          </a:prstGeom>
          <a:effectLst/>
        </p:spPr>
      </p:pic>
      <p:pic>
        <p:nvPicPr>
          <p:cNvPr id="216" name="face_tool0_image_407" descr="f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1972" y="4883921"/>
            <a:ext cx="429426" cy="410198"/>
          </a:xfrm>
          <a:prstGeom prst="rect">
            <a:avLst/>
          </a:prstGeom>
          <a:effectLst/>
        </p:spPr>
      </p:pic>
      <p:pic>
        <p:nvPicPr>
          <p:cNvPr id="217" name="face_tool1_image_411" descr="f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2871" y="4883921"/>
            <a:ext cx="429426" cy="410198"/>
          </a:xfrm>
          <a:prstGeom prst="rect">
            <a:avLst/>
          </a:prstGeom>
          <a:effectLst/>
        </p:spPr>
      </p:pic>
      <p:pic>
        <p:nvPicPr>
          <p:cNvPr id="218" name="face_tool2_image_415" descr="f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6589" y="4883921"/>
            <a:ext cx="429426" cy="410198"/>
          </a:xfrm>
          <a:prstGeom prst="rect">
            <a:avLst/>
          </a:prstGeom>
          <a:effectLst/>
        </p:spPr>
      </p:pic>
      <p:sp>
        <p:nvSpPr>
          <p:cNvPr id="219" name="cross_lane_node_437"/>
          <p:cNvSpPr/>
          <p:nvPr/>
        </p:nvSpPr>
        <p:spPr>
          <a:xfrm>
            <a:off x="9094862" y="6300387"/>
            <a:ext cx="89731" cy="89731"/>
          </a:xfrm>
          <a:prstGeom prst="ellipse">
            <a:avLst/>
          </a:prstGeom>
          <a:solidFill>
            <a:srgbClr val="111111"/>
          </a:solidFill>
          <a:ln w="6409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profile_doc_sheet_053"/>
          <p:cNvSpPr/>
          <p:nvPr/>
        </p:nvSpPr>
        <p:spPr>
          <a:xfrm>
            <a:off x="1422875" y="890899"/>
            <a:ext cx="269193" cy="339695"/>
          </a:xfrm>
          <a:prstGeom prst="rect">
            <a:avLst/>
          </a:prstGeom>
          <a:solidFill>
            <a:srgbClr val="FFFFFF"/>
          </a:solidFill>
          <a:ln w="16023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handoff_profile_sheet_060"/>
          <p:cNvSpPr/>
          <p:nvPr/>
        </p:nvSpPr>
        <p:spPr>
          <a:xfrm>
            <a:off x="2025353" y="717847"/>
            <a:ext cx="269193" cy="339695"/>
          </a:xfrm>
          <a:prstGeom prst="rect">
            <a:avLst/>
          </a:prstGeom>
          <a:solidFill>
            <a:srgbClr val="FFFFFF"/>
          </a:solidFill>
          <a:ln w="16023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quality_doc_paper_075"/>
          <p:cNvSpPr/>
          <p:nvPr/>
        </p:nvSpPr>
        <p:spPr>
          <a:xfrm>
            <a:off x="3941748" y="1237004"/>
            <a:ext cx="161516" cy="216892"/>
          </a:xfrm>
          <a:prstGeom prst="rect">
            <a:avLst/>
          </a:prstGeom>
          <a:solidFill>
            <a:srgbClr val="FFFFFF"/>
          </a:solidFill>
          <a:ln w="1384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description_icon_top_lens_084"/>
          <p:cNvSpPr/>
          <p:nvPr/>
        </p:nvSpPr>
        <p:spPr>
          <a:xfrm>
            <a:off x="3941748" y="2134312"/>
            <a:ext cx="110753" cy="110753"/>
          </a:xfrm>
          <a:prstGeom prst="ellipse">
            <a:avLst/>
          </a:prstGeom>
          <a:noFill/>
          <a:ln w="9229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4" name="description_icon_top_handle_085"/>
          <p:cNvCxnSpPr/>
          <p:nvPr/>
        </p:nvCxnSpPr>
        <p:spPr>
          <a:xfrm>
            <a:off x="4024813" y="2221992"/>
            <a:ext cx="59991" cy="59991"/>
          </a:xfrm>
          <a:prstGeom prst="line">
            <a:avLst/>
          </a:prstGeom>
          <a:ln w="13844">
            <a:solidFill>
              <a:srgbClr val="777777"/>
            </a:solidFill>
          </a:ln>
          <a:effectLst/>
        </p:spPr>
      </p:cxnSp>
      <p:sp>
        <p:nvSpPr>
          <p:cNvPr id="225" name="perception_plan_icon_shadow_089"/>
          <p:cNvSpPr/>
          <p:nvPr/>
        </p:nvSpPr>
        <p:spPr>
          <a:xfrm>
            <a:off x="3028288" y="2513104"/>
            <a:ext cx="151004" cy="190742"/>
          </a:xfrm>
          <a:prstGeom prst="rect">
            <a:avLst/>
          </a:prstGeom>
          <a:solidFill>
            <a:srgbClr val="8FD3E8"/>
          </a:solidFill>
          <a:ln w="7947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handoff_perception_sheet_103"/>
          <p:cNvSpPr/>
          <p:nvPr/>
        </p:nvSpPr>
        <p:spPr>
          <a:xfrm>
            <a:off x="5217207" y="717847"/>
            <a:ext cx="269193" cy="339695"/>
          </a:xfrm>
          <a:prstGeom prst="rect">
            <a:avLst/>
          </a:prstGeom>
          <a:solidFill>
            <a:srgbClr val="FFFFFF"/>
          </a:solidFill>
          <a:ln w="16023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xpert_star_0_150"/>
          <p:cNvSpPr/>
          <p:nvPr/>
        </p:nvSpPr>
        <p:spPr>
          <a:xfrm>
            <a:off x="788350" y="3544368"/>
            <a:ext cx="141006" cy="141006"/>
          </a:xfrm>
          <a:prstGeom prst="star5">
            <a:avLst/>
          </a:prstGeom>
          <a:solidFill>
            <a:srgbClr val="FFD84A"/>
          </a:solidFill>
          <a:ln w="1922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expert_star_1_151"/>
          <p:cNvSpPr/>
          <p:nvPr/>
        </p:nvSpPr>
        <p:spPr>
          <a:xfrm>
            <a:off x="948583" y="3544368"/>
            <a:ext cx="141006" cy="141006"/>
          </a:xfrm>
          <a:prstGeom prst="star5">
            <a:avLst/>
          </a:prstGeom>
          <a:solidFill>
            <a:srgbClr val="FFD84A"/>
          </a:solidFill>
          <a:ln w="1922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expert_star_2_152"/>
          <p:cNvSpPr/>
          <p:nvPr/>
        </p:nvSpPr>
        <p:spPr>
          <a:xfrm>
            <a:off x="1108817" y="3544368"/>
            <a:ext cx="141006" cy="141006"/>
          </a:xfrm>
          <a:prstGeom prst="star5">
            <a:avLst/>
          </a:prstGeom>
          <a:solidFill>
            <a:srgbClr val="FFD84A"/>
          </a:solidFill>
          <a:ln w="1922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expert_head_0_153"/>
          <p:cNvSpPr/>
          <p:nvPr/>
        </p:nvSpPr>
        <p:spPr>
          <a:xfrm>
            <a:off x="839624" y="3736649"/>
            <a:ext cx="76912" cy="76912"/>
          </a:xfrm>
          <a:prstGeom prst="ellipse">
            <a:avLst/>
          </a:prstGeom>
          <a:solidFill>
            <a:srgbClr val="58B457"/>
          </a:solidFill>
          <a:ln w="12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1" name="expert_body_0_154_segment_0"/>
          <p:cNvCxnSpPr/>
          <p:nvPr/>
        </p:nvCxnSpPr>
        <p:spPr>
          <a:xfrm flipV="1">
            <a:off x="813987" y="3845607"/>
            <a:ext cx="0" cy="64094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32" name="expert_body_0_154_segment_1"/>
          <p:cNvCxnSpPr/>
          <p:nvPr/>
        </p:nvCxnSpPr>
        <p:spPr>
          <a:xfrm flipV="1">
            <a:off x="813987" y="3819970"/>
            <a:ext cx="64093" cy="25637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33" name="expert_body_0_154_segment_2"/>
          <p:cNvCxnSpPr/>
          <p:nvPr/>
        </p:nvCxnSpPr>
        <p:spPr>
          <a:xfrm>
            <a:off x="878080" y="3819970"/>
            <a:ext cx="64094" cy="25637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34" name="expert_body_0_154_segment_3"/>
          <p:cNvCxnSpPr/>
          <p:nvPr/>
        </p:nvCxnSpPr>
        <p:spPr>
          <a:xfrm>
            <a:off x="942174" y="3845607"/>
            <a:ext cx="0" cy="64094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sp>
        <p:nvSpPr>
          <p:cNvPr id="235" name="expert_head_1_155"/>
          <p:cNvSpPr/>
          <p:nvPr/>
        </p:nvSpPr>
        <p:spPr>
          <a:xfrm>
            <a:off x="993449" y="3704602"/>
            <a:ext cx="76912" cy="76912"/>
          </a:xfrm>
          <a:prstGeom prst="ellipse">
            <a:avLst/>
          </a:prstGeom>
          <a:solidFill>
            <a:srgbClr val="46A4D5"/>
          </a:solidFill>
          <a:ln w="12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6" name="expert_body_1_156_segment_0"/>
          <p:cNvCxnSpPr/>
          <p:nvPr/>
        </p:nvCxnSpPr>
        <p:spPr>
          <a:xfrm flipV="1">
            <a:off x="967811" y="3845607"/>
            <a:ext cx="0" cy="64094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37" name="expert_body_1_156_segment_1"/>
          <p:cNvCxnSpPr/>
          <p:nvPr/>
        </p:nvCxnSpPr>
        <p:spPr>
          <a:xfrm flipV="1">
            <a:off x="967811" y="3819970"/>
            <a:ext cx="64094" cy="25637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38" name="expert_body_1_156_segment_2"/>
          <p:cNvCxnSpPr/>
          <p:nvPr/>
        </p:nvCxnSpPr>
        <p:spPr>
          <a:xfrm>
            <a:off x="1031905" y="3819970"/>
            <a:ext cx="64093" cy="25637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39" name="expert_body_1_156_segment_3"/>
          <p:cNvCxnSpPr/>
          <p:nvPr/>
        </p:nvCxnSpPr>
        <p:spPr>
          <a:xfrm>
            <a:off x="1095998" y="3845607"/>
            <a:ext cx="0" cy="64094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sp>
        <p:nvSpPr>
          <p:cNvPr id="240" name="expert_head_2_157"/>
          <p:cNvSpPr/>
          <p:nvPr/>
        </p:nvSpPr>
        <p:spPr>
          <a:xfrm>
            <a:off x="1147273" y="3736649"/>
            <a:ext cx="76912" cy="76912"/>
          </a:xfrm>
          <a:prstGeom prst="ellipse">
            <a:avLst/>
          </a:prstGeom>
          <a:solidFill>
            <a:srgbClr val="58B457"/>
          </a:solidFill>
          <a:ln w="12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1" name="expert_body_2_158_segment_0"/>
          <p:cNvCxnSpPr/>
          <p:nvPr/>
        </p:nvCxnSpPr>
        <p:spPr>
          <a:xfrm flipV="1">
            <a:off x="1121636" y="3845607"/>
            <a:ext cx="0" cy="64094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42" name="expert_body_2_158_segment_1"/>
          <p:cNvCxnSpPr/>
          <p:nvPr/>
        </p:nvCxnSpPr>
        <p:spPr>
          <a:xfrm flipV="1">
            <a:off x="1121636" y="3819970"/>
            <a:ext cx="64093" cy="25637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43" name="expert_body_2_158_segment_2"/>
          <p:cNvCxnSpPr/>
          <p:nvPr/>
        </p:nvCxnSpPr>
        <p:spPr>
          <a:xfrm>
            <a:off x="1185729" y="3819970"/>
            <a:ext cx="64093" cy="25637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cxnSp>
        <p:nvCxnSpPr>
          <p:cNvPr id="244" name="expert_body_2_158_segment_3"/>
          <p:cNvCxnSpPr/>
          <p:nvPr/>
        </p:nvCxnSpPr>
        <p:spPr>
          <a:xfrm>
            <a:off x="1249822" y="3845607"/>
            <a:ext cx="0" cy="64094"/>
          </a:xfrm>
          <a:prstGeom prst="line">
            <a:avLst/>
          </a:prstGeom>
          <a:ln w="19228">
            <a:solidFill>
              <a:srgbClr val="111111"/>
            </a:solidFill>
          </a:ln>
          <a:effectLst/>
        </p:spPr>
      </p:cxnSp>
      <p:sp>
        <p:nvSpPr>
          <p:cNvPr id="245" name="quality_doc_large_paper_164"/>
          <p:cNvSpPr/>
          <p:nvPr/>
        </p:nvSpPr>
        <p:spPr>
          <a:xfrm>
            <a:off x="4403221" y="3563596"/>
            <a:ext cx="269193" cy="361487"/>
          </a:xfrm>
          <a:prstGeom prst="rect">
            <a:avLst/>
          </a:prstGeom>
          <a:solidFill>
            <a:srgbClr val="FFFFFF"/>
          </a:solidFill>
          <a:ln w="23073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stage2_quality_doc_paper_173"/>
          <p:cNvSpPr/>
          <p:nvPr/>
        </p:nvSpPr>
        <p:spPr>
          <a:xfrm>
            <a:off x="429426" y="5550493"/>
            <a:ext cx="224327" cy="301239"/>
          </a:xfrm>
          <a:prstGeom prst="rect">
            <a:avLst/>
          </a:prstGeom>
          <a:solidFill>
            <a:srgbClr val="FFFFFF"/>
          </a:solidFill>
          <a:ln w="1922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escription_icon_lens_220"/>
          <p:cNvSpPr/>
          <p:nvPr/>
        </p:nvSpPr>
        <p:spPr>
          <a:xfrm>
            <a:off x="1967669" y="4589092"/>
            <a:ext cx="99986" cy="99986"/>
          </a:xfrm>
          <a:prstGeom prst="ellipse">
            <a:avLst/>
          </a:prstGeom>
          <a:noFill/>
          <a:ln w="833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8" name="description_icon_handle_221"/>
          <p:cNvCxnSpPr/>
          <p:nvPr/>
        </p:nvCxnSpPr>
        <p:spPr>
          <a:xfrm>
            <a:off x="2042659" y="4668247"/>
            <a:ext cx="54158" cy="54159"/>
          </a:xfrm>
          <a:prstGeom prst="line">
            <a:avLst/>
          </a:prstGeom>
          <a:ln w="12498">
            <a:solidFill>
              <a:srgbClr val="777777"/>
            </a:solidFill>
          </a:ln>
          <a:effectLst/>
        </p:spPr>
      </p:cxnSp>
      <p:sp>
        <p:nvSpPr>
          <p:cNvPr id="249" name="restoration_plan_icon_shadow_286"/>
          <p:cNvSpPr/>
          <p:nvPr/>
        </p:nvSpPr>
        <p:spPr>
          <a:xfrm>
            <a:off x="1756930" y="6677897"/>
            <a:ext cx="189973" cy="239966"/>
          </a:xfrm>
          <a:prstGeom prst="rect">
            <a:avLst/>
          </a:prstGeom>
          <a:solidFill>
            <a:srgbClr val="8FD3E8"/>
          </a:solidFill>
          <a:ln w="999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task_strip_clip_0_shadow_308"/>
          <p:cNvSpPr/>
          <p:nvPr/>
        </p:nvSpPr>
        <p:spPr>
          <a:xfrm>
            <a:off x="6146563" y="3337667"/>
            <a:ext cx="182666" cy="230736"/>
          </a:xfrm>
          <a:prstGeom prst="rect">
            <a:avLst/>
          </a:prstGeom>
          <a:solidFill>
            <a:srgbClr val="8FD3E8"/>
          </a:solidFill>
          <a:ln w="961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task_strip_clip_1_shadow_323"/>
          <p:cNvSpPr/>
          <p:nvPr/>
        </p:nvSpPr>
        <p:spPr>
          <a:xfrm>
            <a:off x="8441108" y="3337667"/>
            <a:ext cx="182666" cy="230736"/>
          </a:xfrm>
          <a:prstGeom prst="rect">
            <a:avLst/>
          </a:prstGeom>
          <a:solidFill>
            <a:srgbClr val="8FD3E8"/>
          </a:solidFill>
          <a:ln w="961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task_strip_clip_2_shadow_338"/>
          <p:cNvSpPr/>
          <p:nvPr/>
        </p:nvSpPr>
        <p:spPr>
          <a:xfrm>
            <a:off x="10235725" y="3337667"/>
            <a:ext cx="182666" cy="230736"/>
          </a:xfrm>
          <a:prstGeom prst="rect">
            <a:avLst/>
          </a:prstGeom>
          <a:solidFill>
            <a:srgbClr val="8FD3E8"/>
          </a:solidFill>
          <a:ln w="961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qmoe_tool0_title_366"/>
          <p:cNvSpPr txBox="1"/>
          <p:nvPr/>
        </p:nvSpPr>
        <p:spPr>
          <a:xfrm>
            <a:off x="6191428" y="4672413"/>
            <a:ext cx="640935" cy="19869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Tool 1</a:t>
            </a:r>
          </a:p>
        </p:txBody>
      </p:sp>
      <p:sp>
        <p:nvSpPr>
          <p:cNvPr id="254" name="qmoe_tool1_title_370"/>
          <p:cNvSpPr txBox="1"/>
          <p:nvPr/>
        </p:nvSpPr>
        <p:spPr>
          <a:xfrm>
            <a:off x="7133602" y="4672413"/>
            <a:ext cx="640935" cy="19869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Tool 2</a:t>
            </a:r>
          </a:p>
        </p:txBody>
      </p:sp>
      <p:sp>
        <p:nvSpPr>
          <p:cNvPr id="255" name="qmoe_tool2_title_374"/>
          <p:cNvSpPr txBox="1"/>
          <p:nvPr/>
        </p:nvSpPr>
        <p:spPr>
          <a:xfrm>
            <a:off x="8062957" y="4672413"/>
            <a:ext cx="640935" cy="19869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Tool N</a:t>
            </a:r>
          </a:p>
        </p:txBody>
      </p:sp>
      <p:sp>
        <p:nvSpPr>
          <p:cNvPr id="256" name="qmoe_description_icon_lens_382"/>
          <p:cNvSpPr/>
          <p:nvPr/>
        </p:nvSpPr>
        <p:spPr>
          <a:xfrm>
            <a:off x="7934770" y="5556903"/>
            <a:ext cx="84603" cy="84603"/>
          </a:xfrm>
          <a:prstGeom prst="ellipse">
            <a:avLst/>
          </a:prstGeom>
          <a:noFill/>
          <a:ln w="7050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7" name="qmoe_description_icon_handle_383"/>
          <p:cNvCxnSpPr/>
          <p:nvPr/>
        </p:nvCxnSpPr>
        <p:spPr>
          <a:xfrm>
            <a:off x="7998223" y="5623880"/>
            <a:ext cx="45826" cy="45827"/>
          </a:xfrm>
          <a:prstGeom prst="line">
            <a:avLst/>
          </a:prstGeom>
          <a:ln w="10575">
            <a:solidFill>
              <a:srgbClr val="777777"/>
            </a:solidFill>
          </a:ln>
          <a:effectLst/>
        </p:spPr>
      </p:cxnSp>
      <p:sp>
        <p:nvSpPr>
          <p:cNvPr id="258" name="face_tool0_title_406"/>
          <p:cNvSpPr txBox="1"/>
          <p:nvPr/>
        </p:nvSpPr>
        <p:spPr>
          <a:xfrm>
            <a:off x="9466604" y="4678822"/>
            <a:ext cx="660163" cy="19869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Tool 1</a:t>
            </a:r>
          </a:p>
        </p:txBody>
      </p:sp>
      <p:sp>
        <p:nvSpPr>
          <p:cNvPr id="259" name="face_tool1_title_410"/>
          <p:cNvSpPr txBox="1"/>
          <p:nvPr/>
        </p:nvSpPr>
        <p:spPr>
          <a:xfrm>
            <a:off x="10357503" y="4678822"/>
            <a:ext cx="660163" cy="19869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Tool 2</a:t>
            </a:r>
          </a:p>
        </p:txBody>
      </p:sp>
      <p:sp>
        <p:nvSpPr>
          <p:cNvPr id="260" name="face_tool2_title_414"/>
          <p:cNvSpPr txBox="1"/>
          <p:nvPr/>
        </p:nvSpPr>
        <p:spPr>
          <a:xfrm>
            <a:off x="11261221" y="4678822"/>
            <a:ext cx="660163" cy="19869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Tool N</a:t>
            </a:r>
          </a:p>
        </p:txBody>
      </p:sp>
      <p:sp>
        <p:nvSpPr>
          <p:cNvPr id="261" name="profile_doc_avatar_054"/>
          <p:cNvSpPr/>
          <p:nvPr/>
        </p:nvSpPr>
        <p:spPr>
          <a:xfrm>
            <a:off x="1499787" y="942174"/>
            <a:ext cx="83321" cy="83321"/>
          </a:xfrm>
          <a:prstGeom prst="ellipse">
            <a:avLst/>
          </a:prstGeom>
          <a:solidFill>
            <a:srgbClr val="E75C4D"/>
          </a:solidFill>
          <a:ln w="12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2" name="profile_doc_row0_055"/>
          <p:cNvCxnSpPr/>
          <p:nvPr/>
        </p:nvCxnSpPr>
        <p:spPr>
          <a:xfrm>
            <a:off x="1474150" y="1070361"/>
            <a:ext cx="147414" cy="0"/>
          </a:xfrm>
          <a:prstGeom prst="line">
            <a:avLst/>
          </a:prstGeom>
          <a:ln w="9614">
            <a:solidFill>
              <a:srgbClr val="111111"/>
            </a:solidFill>
          </a:ln>
          <a:effectLst/>
        </p:spPr>
      </p:cxnSp>
      <p:cxnSp>
        <p:nvCxnSpPr>
          <p:cNvPr id="263" name="profile_doc_row1_056"/>
          <p:cNvCxnSpPr/>
          <p:nvPr/>
        </p:nvCxnSpPr>
        <p:spPr>
          <a:xfrm>
            <a:off x="1474150" y="1115226"/>
            <a:ext cx="147414" cy="0"/>
          </a:xfrm>
          <a:prstGeom prst="line">
            <a:avLst/>
          </a:prstGeom>
          <a:ln w="9614">
            <a:solidFill>
              <a:srgbClr val="111111"/>
            </a:solidFill>
          </a:ln>
          <a:effectLst/>
        </p:spPr>
      </p:cxnSp>
      <p:cxnSp>
        <p:nvCxnSpPr>
          <p:cNvPr id="264" name="profile_doc_row2_057"/>
          <p:cNvCxnSpPr/>
          <p:nvPr/>
        </p:nvCxnSpPr>
        <p:spPr>
          <a:xfrm>
            <a:off x="1474150" y="1160092"/>
            <a:ext cx="147414" cy="0"/>
          </a:xfrm>
          <a:prstGeom prst="line">
            <a:avLst/>
          </a:prstGeom>
          <a:ln w="9614">
            <a:solidFill>
              <a:srgbClr val="111111"/>
            </a:solidFill>
          </a:ln>
          <a:effectLst/>
        </p:spPr>
      </p:cxnSp>
      <p:sp>
        <p:nvSpPr>
          <p:cNvPr id="265" name="handoff_profile_avatar_061"/>
          <p:cNvSpPr/>
          <p:nvPr/>
        </p:nvSpPr>
        <p:spPr>
          <a:xfrm>
            <a:off x="2102265" y="769121"/>
            <a:ext cx="83321" cy="83321"/>
          </a:xfrm>
          <a:prstGeom prst="ellipse">
            <a:avLst/>
          </a:prstGeom>
          <a:solidFill>
            <a:srgbClr val="E75C4D"/>
          </a:solidFill>
          <a:ln w="12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6" name="handoff_profile_row0_062"/>
          <p:cNvCxnSpPr/>
          <p:nvPr/>
        </p:nvCxnSpPr>
        <p:spPr>
          <a:xfrm>
            <a:off x="2076628" y="897308"/>
            <a:ext cx="147415" cy="0"/>
          </a:xfrm>
          <a:prstGeom prst="line">
            <a:avLst/>
          </a:prstGeom>
          <a:ln w="9614">
            <a:solidFill>
              <a:srgbClr val="111111"/>
            </a:solidFill>
          </a:ln>
          <a:effectLst/>
        </p:spPr>
      </p:cxnSp>
      <p:cxnSp>
        <p:nvCxnSpPr>
          <p:cNvPr id="267" name="handoff_profile_row1_063"/>
          <p:cNvCxnSpPr/>
          <p:nvPr/>
        </p:nvCxnSpPr>
        <p:spPr>
          <a:xfrm>
            <a:off x="2076628" y="942174"/>
            <a:ext cx="147415" cy="0"/>
          </a:xfrm>
          <a:prstGeom prst="line">
            <a:avLst/>
          </a:prstGeom>
          <a:ln w="9614">
            <a:solidFill>
              <a:srgbClr val="111111"/>
            </a:solidFill>
          </a:ln>
          <a:effectLst/>
        </p:spPr>
      </p:cxnSp>
      <p:cxnSp>
        <p:nvCxnSpPr>
          <p:cNvPr id="268" name="handoff_profile_row2_064"/>
          <p:cNvCxnSpPr/>
          <p:nvPr/>
        </p:nvCxnSpPr>
        <p:spPr>
          <a:xfrm>
            <a:off x="2076628" y="987039"/>
            <a:ext cx="147415" cy="0"/>
          </a:xfrm>
          <a:prstGeom prst="line">
            <a:avLst/>
          </a:prstGeom>
          <a:ln w="9614">
            <a:solidFill>
              <a:srgbClr val="111111"/>
            </a:solidFill>
          </a:ln>
          <a:effectLst/>
        </p:spPr>
      </p:cxnSp>
      <p:cxnSp>
        <p:nvCxnSpPr>
          <p:cNvPr id="269" name="quality_doc_fold_076_segment_0"/>
          <p:cNvCxnSpPr/>
          <p:nvPr/>
        </p:nvCxnSpPr>
        <p:spPr>
          <a:xfrm>
            <a:off x="4052501" y="1237004"/>
            <a:ext cx="0" cy="50762"/>
          </a:xfrm>
          <a:prstGeom prst="line">
            <a:avLst/>
          </a:prstGeom>
          <a:ln w="9229">
            <a:solidFill>
              <a:srgbClr val="111111"/>
            </a:solidFill>
          </a:ln>
          <a:effectLst/>
        </p:spPr>
      </p:cxnSp>
      <p:cxnSp>
        <p:nvCxnSpPr>
          <p:cNvPr id="270" name="quality_doc_fold_076_segment_1"/>
          <p:cNvCxnSpPr/>
          <p:nvPr/>
        </p:nvCxnSpPr>
        <p:spPr>
          <a:xfrm>
            <a:off x="4052501" y="1287766"/>
            <a:ext cx="50762" cy="0"/>
          </a:xfrm>
          <a:prstGeom prst="line">
            <a:avLst/>
          </a:prstGeom>
          <a:ln w="9229">
            <a:solidFill>
              <a:srgbClr val="111111"/>
            </a:solidFill>
          </a:ln>
          <a:effectLst/>
        </p:spPr>
      </p:cxnSp>
      <p:cxnSp>
        <p:nvCxnSpPr>
          <p:cNvPr id="271" name="quality_doc_row0_077"/>
          <p:cNvCxnSpPr/>
          <p:nvPr/>
        </p:nvCxnSpPr>
        <p:spPr>
          <a:xfrm>
            <a:off x="3978665" y="1329298"/>
            <a:ext cx="87680" cy="0"/>
          </a:xfrm>
          <a:prstGeom prst="line">
            <a:avLst/>
          </a:prstGeom>
          <a:ln w="9229">
            <a:solidFill>
              <a:srgbClr val="111111"/>
            </a:solidFill>
          </a:ln>
          <a:effectLst/>
        </p:spPr>
      </p:cxnSp>
      <p:cxnSp>
        <p:nvCxnSpPr>
          <p:cNvPr id="272" name="quality_doc_row1_078"/>
          <p:cNvCxnSpPr/>
          <p:nvPr/>
        </p:nvCxnSpPr>
        <p:spPr>
          <a:xfrm>
            <a:off x="3978665" y="1361601"/>
            <a:ext cx="87680" cy="0"/>
          </a:xfrm>
          <a:prstGeom prst="line">
            <a:avLst/>
          </a:prstGeom>
          <a:ln w="9229">
            <a:solidFill>
              <a:srgbClr val="111111"/>
            </a:solidFill>
          </a:ln>
          <a:effectLst/>
        </p:spPr>
      </p:cxnSp>
      <p:cxnSp>
        <p:nvCxnSpPr>
          <p:cNvPr id="273" name="quality_doc_row2_079"/>
          <p:cNvCxnSpPr/>
          <p:nvPr/>
        </p:nvCxnSpPr>
        <p:spPr>
          <a:xfrm>
            <a:off x="3978665" y="1393905"/>
            <a:ext cx="87680" cy="0"/>
          </a:xfrm>
          <a:prstGeom prst="line">
            <a:avLst/>
          </a:prstGeom>
          <a:ln w="9229">
            <a:solidFill>
              <a:srgbClr val="111111"/>
            </a:solidFill>
          </a:ln>
          <a:effectLst/>
        </p:spPr>
      </p:cxnSp>
      <p:cxnSp>
        <p:nvCxnSpPr>
          <p:cNvPr id="274" name="description_icon_top_mark_086"/>
          <p:cNvCxnSpPr/>
          <p:nvPr/>
        </p:nvCxnSpPr>
        <p:spPr>
          <a:xfrm flipV="1">
            <a:off x="3974051" y="2162001"/>
            <a:ext cx="23073" cy="41532"/>
          </a:xfrm>
          <a:prstGeom prst="line">
            <a:avLst/>
          </a:prstGeom>
          <a:ln w="6922">
            <a:solidFill>
              <a:srgbClr val="777777"/>
            </a:solidFill>
          </a:ln>
          <a:effectLst/>
        </p:spPr>
      </p:cxnSp>
      <p:sp>
        <p:nvSpPr>
          <p:cNvPr id="275" name="perception_plan_icon_board_090"/>
          <p:cNvSpPr/>
          <p:nvPr/>
        </p:nvSpPr>
        <p:spPr>
          <a:xfrm>
            <a:off x="3012393" y="2493236"/>
            <a:ext cx="143057" cy="186768"/>
          </a:xfrm>
          <a:prstGeom prst="rect">
            <a:avLst/>
          </a:prstGeom>
          <a:solidFill>
            <a:srgbClr val="FFFFFF"/>
          </a:solidFill>
          <a:ln w="7947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handoff_perception_avatar_104"/>
          <p:cNvSpPr/>
          <p:nvPr/>
        </p:nvSpPr>
        <p:spPr>
          <a:xfrm>
            <a:off x="5294120" y="769121"/>
            <a:ext cx="83321" cy="83321"/>
          </a:xfrm>
          <a:prstGeom prst="ellipse">
            <a:avLst/>
          </a:prstGeom>
          <a:solidFill>
            <a:srgbClr val="E75C4D"/>
          </a:solidFill>
          <a:ln w="1281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7" name="handoff_perception_row0_105"/>
          <p:cNvCxnSpPr/>
          <p:nvPr/>
        </p:nvCxnSpPr>
        <p:spPr>
          <a:xfrm>
            <a:off x="5268482" y="897308"/>
            <a:ext cx="147415" cy="0"/>
          </a:xfrm>
          <a:prstGeom prst="line">
            <a:avLst/>
          </a:prstGeom>
          <a:ln w="9614">
            <a:solidFill>
              <a:srgbClr val="111111"/>
            </a:solidFill>
          </a:ln>
          <a:effectLst/>
        </p:spPr>
      </p:cxnSp>
      <p:cxnSp>
        <p:nvCxnSpPr>
          <p:cNvPr id="278" name="handoff_perception_row1_106"/>
          <p:cNvCxnSpPr/>
          <p:nvPr/>
        </p:nvCxnSpPr>
        <p:spPr>
          <a:xfrm>
            <a:off x="5268482" y="942174"/>
            <a:ext cx="147415" cy="0"/>
          </a:xfrm>
          <a:prstGeom prst="line">
            <a:avLst/>
          </a:prstGeom>
          <a:ln w="9614">
            <a:solidFill>
              <a:srgbClr val="111111"/>
            </a:solidFill>
          </a:ln>
          <a:effectLst/>
        </p:spPr>
      </p:cxnSp>
      <p:cxnSp>
        <p:nvCxnSpPr>
          <p:cNvPr id="279" name="handoff_perception_row2_107"/>
          <p:cNvCxnSpPr/>
          <p:nvPr/>
        </p:nvCxnSpPr>
        <p:spPr>
          <a:xfrm>
            <a:off x="5268482" y="987039"/>
            <a:ext cx="147415" cy="0"/>
          </a:xfrm>
          <a:prstGeom prst="line">
            <a:avLst/>
          </a:prstGeom>
          <a:ln w="9614">
            <a:solidFill>
              <a:srgbClr val="111111"/>
            </a:solidFill>
          </a:ln>
          <a:effectLst/>
        </p:spPr>
      </p:cxnSp>
      <p:cxnSp>
        <p:nvCxnSpPr>
          <p:cNvPr id="280" name="quality_doc_large_fold_165_segment_0"/>
          <p:cNvCxnSpPr/>
          <p:nvPr/>
        </p:nvCxnSpPr>
        <p:spPr>
          <a:xfrm>
            <a:off x="4587810" y="3563596"/>
            <a:ext cx="0" cy="84604"/>
          </a:xfrm>
          <a:prstGeom prst="line">
            <a:avLst/>
          </a:prstGeom>
          <a:ln w="15382">
            <a:solidFill>
              <a:srgbClr val="111111"/>
            </a:solidFill>
          </a:ln>
          <a:effectLst/>
        </p:spPr>
      </p:cxnSp>
      <p:cxnSp>
        <p:nvCxnSpPr>
          <p:cNvPr id="281" name="quality_doc_large_fold_165_segment_1"/>
          <p:cNvCxnSpPr/>
          <p:nvPr/>
        </p:nvCxnSpPr>
        <p:spPr>
          <a:xfrm>
            <a:off x="4587810" y="3648200"/>
            <a:ext cx="84603" cy="0"/>
          </a:xfrm>
          <a:prstGeom prst="line">
            <a:avLst/>
          </a:prstGeom>
          <a:ln w="15382">
            <a:solidFill>
              <a:srgbClr val="111111"/>
            </a:solidFill>
          </a:ln>
          <a:effectLst/>
        </p:spPr>
      </p:cxnSp>
      <p:cxnSp>
        <p:nvCxnSpPr>
          <p:cNvPr id="282" name="quality_doc_large_row0_166"/>
          <p:cNvCxnSpPr/>
          <p:nvPr/>
        </p:nvCxnSpPr>
        <p:spPr>
          <a:xfrm>
            <a:off x="4464750" y="3717421"/>
            <a:ext cx="146133" cy="0"/>
          </a:xfrm>
          <a:prstGeom prst="line">
            <a:avLst/>
          </a:prstGeom>
          <a:ln w="15382">
            <a:solidFill>
              <a:srgbClr val="111111"/>
            </a:solidFill>
          </a:ln>
          <a:effectLst/>
        </p:spPr>
      </p:cxnSp>
      <p:cxnSp>
        <p:nvCxnSpPr>
          <p:cNvPr id="283" name="quality_doc_large_row1_167"/>
          <p:cNvCxnSpPr/>
          <p:nvPr/>
        </p:nvCxnSpPr>
        <p:spPr>
          <a:xfrm>
            <a:off x="4464750" y="3771259"/>
            <a:ext cx="146133" cy="0"/>
          </a:xfrm>
          <a:prstGeom prst="line">
            <a:avLst/>
          </a:prstGeom>
          <a:ln w="15382">
            <a:solidFill>
              <a:srgbClr val="111111"/>
            </a:solidFill>
          </a:ln>
          <a:effectLst/>
        </p:spPr>
      </p:cxnSp>
      <p:cxnSp>
        <p:nvCxnSpPr>
          <p:cNvPr id="284" name="quality_doc_large_row2_168"/>
          <p:cNvCxnSpPr/>
          <p:nvPr/>
        </p:nvCxnSpPr>
        <p:spPr>
          <a:xfrm>
            <a:off x="4464750" y="3825098"/>
            <a:ext cx="146133" cy="0"/>
          </a:xfrm>
          <a:prstGeom prst="line">
            <a:avLst/>
          </a:prstGeom>
          <a:ln w="15382">
            <a:solidFill>
              <a:srgbClr val="111111"/>
            </a:solidFill>
          </a:ln>
          <a:effectLst/>
        </p:spPr>
      </p:cxnSp>
      <p:cxnSp>
        <p:nvCxnSpPr>
          <p:cNvPr id="285" name="stage2_quality_doc_fold_174_segment_0"/>
          <p:cNvCxnSpPr/>
          <p:nvPr/>
        </p:nvCxnSpPr>
        <p:spPr>
          <a:xfrm>
            <a:off x="583250" y="5550493"/>
            <a:ext cx="0" cy="70503"/>
          </a:xfrm>
          <a:prstGeom prst="line">
            <a:avLst/>
          </a:prstGeom>
          <a:ln w="12818">
            <a:solidFill>
              <a:srgbClr val="111111"/>
            </a:solidFill>
          </a:ln>
          <a:effectLst/>
        </p:spPr>
      </p:cxnSp>
      <p:cxnSp>
        <p:nvCxnSpPr>
          <p:cNvPr id="286" name="stage2_quality_doc_fold_174_segment_1"/>
          <p:cNvCxnSpPr/>
          <p:nvPr/>
        </p:nvCxnSpPr>
        <p:spPr>
          <a:xfrm>
            <a:off x="583250" y="5620996"/>
            <a:ext cx="70503" cy="0"/>
          </a:xfrm>
          <a:prstGeom prst="line">
            <a:avLst/>
          </a:prstGeom>
          <a:ln w="12818">
            <a:solidFill>
              <a:srgbClr val="111111"/>
            </a:solidFill>
          </a:ln>
          <a:effectLst/>
        </p:spPr>
      </p:cxnSp>
      <p:cxnSp>
        <p:nvCxnSpPr>
          <p:cNvPr id="287" name="stage2_quality_doc_row0_175"/>
          <p:cNvCxnSpPr/>
          <p:nvPr/>
        </p:nvCxnSpPr>
        <p:spPr>
          <a:xfrm>
            <a:off x="480701" y="5678680"/>
            <a:ext cx="121778" cy="0"/>
          </a:xfrm>
          <a:prstGeom prst="line">
            <a:avLst/>
          </a:prstGeom>
          <a:ln w="12818">
            <a:solidFill>
              <a:srgbClr val="111111"/>
            </a:solidFill>
          </a:ln>
          <a:effectLst/>
        </p:spPr>
      </p:cxnSp>
      <p:cxnSp>
        <p:nvCxnSpPr>
          <p:cNvPr id="288" name="stage2_quality_doc_row1_176"/>
          <p:cNvCxnSpPr/>
          <p:nvPr/>
        </p:nvCxnSpPr>
        <p:spPr>
          <a:xfrm>
            <a:off x="480701" y="5723546"/>
            <a:ext cx="121778" cy="0"/>
          </a:xfrm>
          <a:prstGeom prst="line">
            <a:avLst/>
          </a:prstGeom>
          <a:ln w="12818">
            <a:solidFill>
              <a:srgbClr val="111111"/>
            </a:solidFill>
          </a:ln>
          <a:effectLst/>
        </p:spPr>
      </p:cxnSp>
      <p:cxnSp>
        <p:nvCxnSpPr>
          <p:cNvPr id="289" name="stage2_quality_doc_row2_177"/>
          <p:cNvCxnSpPr/>
          <p:nvPr/>
        </p:nvCxnSpPr>
        <p:spPr>
          <a:xfrm>
            <a:off x="480701" y="5768411"/>
            <a:ext cx="121778" cy="0"/>
          </a:xfrm>
          <a:prstGeom prst="line">
            <a:avLst/>
          </a:prstGeom>
          <a:ln w="12818">
            <a:solidFill>
              <a:srgbClr val="111111"/>
            </a:solidFill>
          </a:ln>
          <a:effectLst/>
        </p:spPr>
      </p:cxnSp>
      <p:cxnSp>
        <p:nvCxnSpPr>
          <p:cNvPr id="290" name="description_icon_mark_222"/>
          <p:cNvCxnSpPr/>
          <p:nvPr/>
        </p:nvCxnSpPr>
        <p:spPr>
          <a:xfrm flipV="1">
            <a:off x="1996832" y="4614088"/>
            <a:ext cx="20830" cy="37495"/>
          </a:xfrm>
          <a:prstGeom prst="line">
            <a:avLst/>
          </a:prstGeom>
          <a:ln w="6249">
            <a:solidFill>
              <a:srgbClr val="777777"/>
            </a:solidFill>
          </a:ln>
          <a:effectLst/>
        </p:spPr>
      </p:cxnSp>
      <p:sp>
        <p:nvSpPr>
          <p:cNvPr id="291" name="restoration_plan_icon_board_287"/>
          <p:cNvSpPr/>
          <p:nvPr/>
        </p:nvSpPr>
        <p:spPr>
          <a:xfrm>
            <a:off x="1736933" y="6652901"/>
            <a:ext cx="179974" cy="234967"/>
          </a:xfrm>
          <a:prstGeom prst="rect">
            <a:avLst/>
          </a:prstGeom>
          <a:solidFill>
            <a:srgbClr val="FFFFFF"/>
          </a:solidFill>
          <a:ln w="999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task_strip_clip_0_board_309"/>
          <p:cNvSpPr/>
          <p:nvPr/>
        </p:nvSpPr>
        <p:spPr>
          <a:xfrm>
            <a:off x="6127335" y="3313632"/>
            <a:ext cx="173052" cy="225929"/>
          </a:xfrm>
          <a:prstGeom prst="rect">
            <a:avLst/>
          </a:prstGeom>
          <a:solidFill>
            <a:srgbClr val="FFFFFF"/>
          </a:solidFill>
          <a:ln w="961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task_strip_clip_1_board_324"/>
          <p:cNvSpPr/>
          <p:nvPr/>
        </p:nvSpPr>
        <p:spPr>
          <a:xfrm>
            <a:off x="8421880" y="3313632"/>
            <a:ext cx="173052" cy="225929"/>
          </a:xfrm>
          <a:prstGeom prst="rect">
            <a:avLst/>
          </a:prstGeom>
          <a:solidFill>
            <a:srgbClr val="FFFFFF"/>
          </a:solidFill>
          <a:ln w="961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task_strip_clip_2_board_339"/>
          <p:cNvSpPr/>
          <p:nvPr/>
        </p:nvSpPr>
        <p:spPr>
          <a:xfrm>
            <a:off x="10216497" y="3313632"/>
            <a:ext cx="173052" cy="225929"/>
          </a:xfrm>
          <a:prstGeom prst="rect">
            <a:avLst/>
          </a:prstGeom>
          <a:solidFill>
            <a:srgbClr val="FFFFFF"/>
          </a:solidFill>
          <a:ln w="961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5" name="qmoe_description_icon_mark_384"/>
          <p:cNvCxnSpPr/>
          <p:nvPr/>
        </p:nvCxnSpPr>
        <p:spPr>
          <a:xfrm flipV="1">
            <a:off x="7959446" y="5578054"/>
            <a:ext cx="17626" cy="31726"/>
          </a:xfrm>
          <a:prstGeom prst="line">
            <a:avLst/>
          </a:prstGeom>
          <a:ln w="5287">
            <a:solidFill>
              <a:srgbClr val="777777"/>
            </a:solidFill>
          </a:ln>
          <a:effectLst/>
        </p:spPr>
      </p:cxnSp>
      <p:cxnSp>
        <p:nvCxnSpPr>
          <p:cNvPr id="296" name="profile_antenna_006"/>
          <p:cNvCxnSpPr/>
          <p:nvPr/>
        </p:nvCxnSpPr>
        <p:spPr>
          <a:xfrm>
            <a:off x="262783" y="188435"/>
            <a:ext cx="0" cy="69221"/>
          </a:xfrm>
          <a:prstGeom prst="line">
            <a:avLst/>
          </a:prstGeom>
          <a:ln w="15382">
            <a:solidFill>
              <a:srgbClr val="A92292"/>
            </a:solidFill>
          </a:ln>
          <a:effectLst/>
        </p:spPr>
      </p:cxnSp>
      <p:sp>
        <p:nvSpPr>
          <p:cNvPr id="297" name="profile_tag_007"/>
          <p:cNvSpPr/>
          <p:nvPr/>
        </p:nvSpPr>
        <p:spPr>
          <a:xfrm>
            <a:off x="208945" y="134596"/>
            <a:ext cx="107677" cy="76912"/>
          </a:xfrm>
          <a:prstGeom prst="rect">
            <a:avLst/>
          </a:prstGeom>
          <a:solidFill>
            <a:srgbClr val="FFFFFF"/>
          </a:solidFill>
          <a:ln w="15382">
            <a:solidFill>
              <a:srgbClr val="A9229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8" name="profile_ear_l_009"/>
          <p:cNvCxnSpPr/>
          <p:nvPr/>
        </p:nvCxnSpPr>
        <p:spPr>
          <a:xfrm>
            <a:off x="124341" y="319185"/>
            <a:ext cx="38456" cy="0"/>
          </a:xfrm>
          <a:prstGeom prst="line">
            <a:avLst/>
          </a:prstGeom>
          <a:ln w="15382">
            <a:solidFill>
              <a:srgbClr val="A92292"/>
            </a:solidFill>
          </a:ln>
          <a:effectLst/>
        </p:spPr>
      </p:cxnSp>
      <p:cxnSp>
        <p:nvCxnSpPr>
          <p:cNvPr id="299" name="profile_ear_r_010"/>
          <p:cNvCxnSpPr/>
          <p:nvPr/>
        </p:nvCxnSpPr>
        <p:spPr>
          <a:xfrm>
            <a:off x="362769" y="319185"/>
            <a:ext cx="38456" cy="0"/>
          </a:xfrm>
          <a:prstGeom prst="line">
            <a:avLst/>
          </a:prstGeom>
          <a:ln w="15382">
            <a:solidFill>
              <a:srgbClr val="A92292"/>
            </a:solidFill>
          </a:ln>
          <a:effectLst/>
        </p:spPr>
      </p:cxnSp>
      <p:sp>
        <p:nvSpPr>
          <p:cNvPr id="300" name="profile_head_011"/>
          <p:cNvSpPr/>
          <p:nvPr/>
        </p:nvSpPr>
        <p:spPr>
          <a:xfrm>
            <a:off x="162797" y="257656"/>
            <a:ext cx="199972" cy="153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382">
            <a:solidFill>
              <a:srgbClr val="A9229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1" name="perception_antenna_016"/>
          <p:cNvCxnSpPr/>
          <p:nvPr/>
        </p:nvCxnSpPr>
        <p:spPr>
          <a:xfrm>
            <a:off x="2948299" y="188435"/>
            <a:ext cx="0" cy="69221"/>
          </a:xfrm>
          <a:prstGeom prst="line">
            <a:avLst/>
          </a:prstGeom>
          <a:ln w="15382">
            <a:solidFill>
              <a:srgbClr val="16A6D2"/>
            </a:solidFill>
          </a:ln>
          <a:effectLst/>
        </p:spPr>
      </p:cxnSp>
      <p:sp>
        <p:nvSpPr>
          <p:cNvPr id="302" name="perception_tag_017"/>
          <p:cNvSpPr/>
          <p:nvPr/>
        </p:nvSpPr>
        <p:spPr>
          <a:xfrm>
            <a:off x="2894461" y="134596"/>
            <a:ext cx="107677" cy="76912"/>
          </a:xfrm>
          <a:prstGeom prst="rect">
            <a:avLst/>
          </a:prstGeom>
          <a:solidFill>
            <a:srgbClr val="FFFFFF"/>
          </a:solidFill>
          <a:ln w="15382">
            <a:solidFill>
              <a:srgbClr val="16A6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3" name="perception_ear_l_019"/>
          <p:cNvCxnSpPr/>
          <p:nvPr/>
        </p:nvCxnSpPr>
        <p:spPr>
          <a:xfrm>
            <a:off x="2809857" y="319185"/>
            <a:ext cx="38456" cy="0"/>
          </a:xfrm>
          <a:prstGeom prst="line">
            <a:avLst/>
          </a:prstGeom>
          <a:ln w="15382">
            <a:solidFill>
              <a:srgbClr val="16A6D2"/>
            </a:solidFill>
          </a:ln>
          <a:effectLst/>
        </p:spPr>
      </p:cxnSp>
      <p:cxnSp>
        <p:nvCxnSpPr>
          <p:cNvPr id="304" name="perception_ear_r_020"/>
          <p:cNvCxnSpPr/>
          <p:nvPr/>
        </p:nvCxnSpPr>
        <p:spPr>
          <a:xfrm>
            <a:off x="3048285" y="319185"/>
            <a:ext cx="38456" cy="0"/>
          </a:xfrm>
          <a:prstGeom prst="line">
            <a:avLst/>
          </a:prstGeom>
          <a:ln w="15382">
            <a:solidFill>
              <a:srgbClr val="16A6D2"/>
            </a:solidFill>
          </a:ln>
          <a:effectLst/>
        </p:spPr>
      </p:cxnSp>
      <p:sp>
        <p:nvSpPr>
          <p:cNvPr id="305" name="perception_head_021"/>
          <p:cNvSpPr/>
          <p:nvPr/>
        </p:nvSpPr>
        <p:spPr>
          <a:xfrm>
            <a:off x="2848313" y="257656"/>
            <a:ext cx="199972" cy="153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382">
            <a:solidFill>
              <a:srgbClr val="16A6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6" name="restoration_antenna_026"/>
          <p:cNvCxnSpPr/>
          <p:nvPr/>
        </p:nvCxnSpPr>
        <p:spPr>
          <a:xfrm>
            <a:off x="6114516" y="188435"/>
            <a:ext cx="0" cy="69221"/>
          </a:xfrm>
          <a:prstGeom prst="line">
            <a:avLst/>
          </a:prstGeom>
          <a:ln w="15382">
            <a:solidFill>
              <a:srgbClr val="3C8B33"/>
            </a:solidFill>
          </a:ln>
          <a:effectLst/>
        </p:spPr>
      </p:cxnSp>
      <p:sp>
        <p:nvSpPr>
          <p:cNvPr id="307" name="restoration_tag_027"/>
          <p:cNvSpPr/>
          <p:nvPr/>
        </p:nvSpPr>
        <p:spPr>
          <a:xfrm>
            <a:off x="6060677" y="134596"/>
            <a:ext cx="107677" cy="76912"/>
          </a:xfrm>
          <a:prstGeom prst="rect">
            <a:avLst/>
          </a:prstGeom>
          <a:solidFill>
            <a:srgbClr val="FFFFFF"/>
          </a:solidFill>
          <a:ln w="15382">
            <a:solidFill>
              <a:srgbClr val="3C8B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8" name="restoration_ear_l_029"/>
          <p:cNvCxnSpPr/>
          <p:nvPr/>
        </p:nvCxnSpPr>
        <p:spPr>
          <a:xfrm>
            <a:off x="5976074" y="319185"/>
            <a:ext cx="38456" cy="0"/>
          </a:xfrm>
          <a:prstGeom prst="line">
            <a:avLst/>
          </a:prstGeom>
          <a:ln w="15382">
            <a:solidFill>
              <a:srgbClr val="3C8B33"/>
            </a:solidFill>
          </a:ln>
          <a:effectLst/>
        </p:spPr>
      </p:cxnSp>
      <p:cxnSp>
        <p:nvCxnSpPr>
          <p:cNvPr id="309" name="restoration_ear_r_030"/>
          <p:cNvCxnSpPr/>
          <p:nvPr/>
        </p:nvCxnSpPr>
        <p:spPr>
          <a:xfrm>
            <a:off x="6214502" y="319185"/>
            <a:ext cx="38456" cy="0"/>
          </a:xfrm>
          <a:prstGeom prst="line">
            <a:avLst/>
          </a:prstGeom>
          <a:ln w="15382">
            <a:solidFill>
              <a:srgbClr val="3C8B33"/>
            </a:solidFill>
          </a:ln>
          <a:effectLst/>
        </p:spPr>
      </p:cxnSp>
      <p:sp>
        <p:nvSpPr>
          <p:cNvPr id="310" name="restoration_head_031"/>
          <p:cNvSpPr/>
          <p:nvPr/>
        </p:nvSpPr>
        <p:spPr>
          <a:xfrm>
            <a:off x="6014530" y="257656"/>
            <a:ext cx="199972" cy="1538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382">
            <a:solidFill>
              <a:srgbClr val="3C8B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1" name="profile_doc_pencil_058"/>
          <p:cNvCxnSpPr/>
          <p:nvPr/>
        </p:nvCxnSpPr>
        <p:spPr>
          <a:xfrm flipV="1">
            <a:off x="1666430" y="1019086"/>
            <a:ext cx="89731" cy="147415"/>
          </a:xfrm>
          <a:prstGeom prst="line">
            <a:avLst/>
          </a:prstGeom>
          <a:ln w="38456">
            <a:solidFill>
              <a:srgbClr val="F0A02A"/>
            </a:solidFill>
          </a:ln>
          <a:effectLst/>
        </p:spPr>
      </p:cxnSp>
      <p:cxnSp>
        <p:nvCxnSpPr>
          <p:cNvPr id="312" name="handoff_profile_pencil_065"/>
          <p:cNvCxnSpPr/>
          <p:nvPr/>
        </p:nvCxnSpPr>
        <p:spPr>
          <a:xfrm flipV="1">
            <a:off x="2268908" y="846034"/>
            <a:ext cx="89731" cy="147415"/>
          </a:xfrm>
          <a:prstGeom prst="line">
            <a:avLst/>
          </a:prstGeom>
          <a:ln w="38456">
            <a:solidFill>
              <a:srgbClr val="F0A02A"/>
            </a:solidFill>
          </a:ln>
          <a:effectLst/>
        </p:spPr>
      </p:cxnSp>
      <p:sp>
        <p:nvSpPr>
          <p:cNvPr id="313" name="input_res_badge_068"/>
          <p:cNvSpPr/>
          <p:nvPr/>
        </p:nvSpPr>
        <p:spPr>
          <a:xfrm>
            <a:off x="179462" y="2563738"/>
            <a:ext cx="980630" cy="237146"/>
          </a:xfrm>
          <a:prstGeom prst="roundRect">
            <a:avLst>
              <a:gd name="adj" fmla="val 35000"/>
            </a:avLst>
          </a:prstGeom>
          <a:solidFill>
            <a:srgbClr val="42474C"/>
          </a:solidFill>
          <a:ln w="19228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perception_plan_icon_clip_091"/>
          <p:cNvSpPr/>
          <p:nvPr/>
        </p:nvSpPr>
        <p:spPr>
          <a:xfrm>
            <a:off x="3052130" y="2473367"/>
            <a:ext cx="63581" cy="35764"/>
          </a:xfrm>
          <a:prstGeom prst="rect">
            <a:avLst/>
          </a:prstGeom>
          <a:solidFill>
            <a:srgbClr val="F39B5C"/>
          </a:solidFill>
          <a:ln w="596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5" name="perception_plan_icon_check0a_092"/>
          <p:cNvCxnSpPr/>
          <p:nvPr/>
        </p:nvCxnSpPr>
        <p:spPr>
          <a:xfrm>
            <a:off x="3036235" y="2548869"/>
            <a:ext cx="11922" cy="11921"/>
          </a:xfrm>
          <a:prstGeom prst="line">
            <a:avLst/>
          </a:prstGeom>
          <a:ln w="5563">
            <a:solidFill>
              <a:srgbClr val="111111"/>
            </a:solidFill>
          </a:ln>
          <a:effectLst/>
        </p:spPr>
      </p:cxnSp>
      <p:cxnSp>
        <p:nvCxnSpPr>
          <p:cNvPr id="316" name="perception_plan_icon_check0b_093"/>
          <p:cNvCxnSpPr/>
          <p:nvPr/>
        </p:nvCxnSpPr>
        <p:spPr>
          <a:xfrm flipV="1">
            <a:off x="3048157" y="2536947"/>
            <a:ext cx="19869" cy="23843"/>
          </a:xfrm>
          <a:prstGeom prst="line">
            <a:avLst/>
          </a:prstGeom>
          <a:ln w="5563">
            <a:solidFill>
              <a:srgbClr val="111111"/>
            </a:solidFill>
          </a:ln>
          <a:effectLst/>
        </p:spPr>
      </p:cxnSp>
      <p:cxnSp>
        <p:nvCxnSpPr>
          <p:cNvPr id="317" name="perception_plan_icon_line0_094"/>
          <p:cNvCxnSpPr/>
          <p:nvPr/>
        </p:nvCxnSpPr>
        <p:spPr>
          <a:xfrm>
            <a:off x="3079947" y="2548869"/>
            <a:ext cx="47686" cy="0"/>
          </a:xfrm>
          <a:prstGeom prst="line">
            <a:avLst/>
          </a:prstGeom>
          <a:ln w="5563">
            <a:solidFill>
              <a:srgbClr val="111111"/>
            </a:solidFill>
          </a:ln>
          <a:effectLst/>
        </p:spPr>
      </p:cxnSp>
      <p:cxnSp>
        <p:nvCxnSpPr>
          <p:cNvPr id="318" name="perception_plan_icon_check1a_095"/>
          <p:cNvCxnSpPr/>
          <p:nvPr/>
        </p:nvCxnSpPr>
        <p:spPr>
          <a:xfrm>
            <a:off x="3036235" y="2588607"/>
            <a:ext cx="11922" cy="11921"/>
          </a:xfrm>
          <a:prstGeom prst="line">
            <a:avLst/>
          </a:prstGeom>
          <a:ln w="5563">
            <a:solidFill>
              <a:srgbClr val="111111"/>
            </a:solidFill>
          </a:ln>
          <a:effectLst/>
        </p:spPr>
      </p:cxnSp>
      <p:cxnSp>
        <p:nvCxnSpPr>
          <p:cNvPr id="319" name="perception_plan_icon_check1b_096"/>
          <p:cNvCxnSpPr/>
          <p:nvPr/>
        </p:nvCxnSpPr>
        <p:spPr>
          <a:xfrm flipV="1">
            <a:off x="3048157" y="2576685"/>
            <a:ext cx="19869" cy="23843"/>
          </a:xfrm>
          <a:prstGeom prst="line">
            <a:avLst/>
          </a:prstGeom>
          <a:ln w="5563">
            <a:solidFill>
              <a:srgbClr val="111111"/>
            </a:solidFill>
          </a:ln>
          <a:effectLst/>
        </p:spPr>
      </p:cxnSp>
      <p:cxnSp>
        <p:nvCxnSpPr>
          <p:cNvPr id="320" name="perception_plan_icon_line1_097"/>
          <p:cNvCxnSpPr/>
          <p:nvPr/>
        </p:nvCxnSpPr>
        <p:spPr>
          <a:xfrm>
            <a:off x="3079947" y="2588607"/>
            <a:ext cx="47686" cy="0"/>
          </a:xfrm>
          <a:prstGeom prst="line">
            <a:avLst/>
          </a:prstGeom>
          <a:ln w="5563">
            <a:solidFill>
              <a:srgbClr val="111111"/>
            </a:solidFill>
          </a:ln>
          <a:effectLst/>
        </p:spPr>
      </p:cxnSp>
      <p:cxnSp>
        <p:nvCxnSpPr>
          <p:cNvPr id="321" name="perception_plan_icon_check2a_098"/>
          <p:cNvCxnSpPr/>
          <p:nvPr/>
        </p:nvCxnSpPr>
        <p:spPr>
          <a:xfrm>
            <a:off x="3036235" y="2628345"/>
            <a:ext cx="11922" cy="11921"/>
          </a:xfrm>
          <a:prstGeom prst="line">
            <a:avLst/>
          </a:prstGeom>
          <a:ln w="5563">
            <a:solidFill>
              <a:srgbClr val="111111"/>
            </a:solidFill>
          </a:ln>
          <a:effectLst/>
        </p:spPr>
      </p:cxnSp>
      <p:cxnSp>
        <p:nvCxnSpPr>
          <p:cNvPr id="322" name="perception_plan_icon_check2b_099"/>
          <p:cNvCxnSpPr/>
          <p:nvPr/>
        </p:nvCxnSpPr>
        <p:spPr>
          <a:xfrm flipV="1">
            <a:off x="3048157" y="2616423"/>
            <a:ext cx="19869" cy="23843"/>
          </a:xfrm>
          <a:prstGeom prst="line">
            <a:avLst/>
          </a:prstGeom>
          <a:ln w="5563">
            <a:solidFill>
              <a:srgbClr val="111111"/>
            </a:solidFill>
          </a:ln>
          <a:effectLst/>
        </p:spPr>
      </p:cxnSp>
      <p:cxnSp>
        <p:nvCxnSpPr>
          <p:cNvPr id="323" name="perception_plan_icon_line2_100"/>
          <p:cNvCxnSpPr/>
          <p:nvPr/>
        </p:nvCxnSpPr>
        <p:spPr>
          <a:xfrm>
            <a:off x="3079947" y="2628345"/>
            <a:ext cx="47686" cy="0"/>
          </a:xfrm>
          <a:prstGeom prst="line">
            <a:avLst/>
          </a:prstGeom>
          <a:ln w="5563">
            <a:solidFill>
              <a:srgbClr val="111111"/>
            </a:solidFill>
          </a:ln>
          <a:effectLst/>
        </p:spPr>
      </p:cxnSp>
      <p:cxnSp>
        <p:nvCxnSpPr>
          <p:cNvPr id="324" name="handoff_perception_pencil_108"/>
          <p:cNvCxnSpPr/>
          <p:nvPr/>
        </p:nvCxnSpPr>
        <p:spPr>
          <a:xfrm flipV="1">
            <a:off x="5460763" y="846034"/>
            <a:ext cx="89730" cy="147415"/>
          </a:xfrm>
          <a:prstGeom prst="line">
            <a:avLst/>
          </a:prstGeom>
          <a:ln w="38456">
            <a:solidFill>
              <a:srgbClr val="F0A02A"/>
            </a:solidFill>
          </a:ln>
          <a:effectLst/>
        </p:spPr>
      </p:cxnSp>
      <p:cxnSp>
        <p:nvCxnSpPr>
          <p:cNvPr id="325" name="replan_antenna_122"/>
          <p:cNvCxnSpPr/>
          <p:nvPr/>
        </p:nvCxnSpPr>
        <p:spPr>
          <a:xfrm>
            <a:off x="7319473" y="1116829"/>
            <a:ext cx="0" cy="43263"/>
          </a:xfrm>
          <a:prstGeom prst="line">
            <a:avLst/>
          </a:prstGeom>
          <a:ln w="9614">
            <a:solidFill>
              <a:srgbClr val="111111"/>
            </a:solidFill>
          </a:ln>
          <a:effectLst/>
        </p:spPr>
      </p:cxnSp>
      <p:sp>
        <p:nvSpPr>
          <p:cNvPr id="326" name="replan_tag_123"/>
          <p:cNvSpPr/>
          <p:nvPr/>
        </p:nvSpPr>
        <p:spPr>
          <a:xfrm>
            <a:off x="7285824" y="1083179"/>
            <a:ext cx="67298" cy="48070"/>
          </a:xfrm>
          <a:prstGeom prst="rect">
            <a:avLst/>
          </a:prstGeom>
          <a:solidFill>
            <a:srgbClr val="FFFFFF"/>
          </a:solidFill>
          <a:ln w="961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7" name="replan_ear_l_125"/>
          <p:cNvCxnSpPr/>
          <p:nvPr/>
        </p:nvCxnSpPr>
        <p:spPr>
          <a:xfrm>
            <a:off x="7232947" y="1198548"/>
            <a:ext cx="24035" cy="0"/>
          </a:xfrm>
          <a:prstGeom prst="line">
            <a:avLst/>
          </a:prstGeom>
          <a:ln w="9614">
            <a:solidFill>
              <a:srgbClr val="111111"/>
            </a:solidFill>
          </a:ln>
          <a:effectLst/>
        </p:spPr>
      </p:cxnSp>
      <p:cxnSp>
        <p:nvCxnSpPr>
          <p:cNvPr id="328" name="replan_ear_r_126"/>
          <p:cNvCxnSpPr/>
          <p:nvPr/>
        </p:nvCxnSpPr>
        <p:spPr>
          <a:xfrm>
            <a:off x="7381964" y="1198548"/>
            <a:ext cx="24035" cy="0"/>
          </a:xfrm>
          <a:prstGeom prst="line">
            <a:avLst/>
          </a:prstGeom>
          <a:ln w="9614">
            <a:solidFill>
              <a:srgbClr val="111111"/>
            </a:solidFill>
          </a:ln>
          <a:effectLst/>
        </p:spPr>
      </p:cxnSp>
      <p:sp>
        <p:nvSpPr>
          <p:cNvPr id="329" name="replan_head_127"/>
          <p:cNvSpPr/>
          <p:nvPr/>
        </p:nvSpPr>
        <p:spPr>
          <a:xfrm>
            <a:off x="7256982" y="1160092"/>
            <a:ext cx="124982" cy="96140"/>
          </a:xfrm>
          <a:prstGeom prst="rect">
            <a:avLst/>
          </a:prstGeom>
          <a:solidFill>
            <a:srgbClr val="FFFFFF"/>
          </a:solidFill>
          <a:ln w="9614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output_res_badge_145"/>
          <p:cNvSpPr/>
          <p:nvPr/>
        </p:nvSpPr>
        <p:spPr>
          <a:xfrm>
            <a:off x="8806441" y="2525282"/>
            <a:ext cx="1775389" cy="275602"/>
          </a:xfrm>
          <a:prstGeom prst="roundRect">
            <a:avLst>
              <a:gd name="adj" fmla="val 35000"/>
            </a:avLst>
          </a:prstGeom>
          <a:solidFill>
            <a:srgbClr val="42474C"/>
          </a:solidFill>
          <a:ln w="19228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storation_plan_icon_clip_288"/>
          <p:cNvSpPr/>
          <p:nvPr/>
        </p:nvSpPr>
        <p:spPr>
          <a:xfrm>
            <a:off x="1786926" y="6627904"/>
            <a:ext cx="79989" cy="44994"/>
          </a:xfrm>
          <a:prstGeom prst="rect">
            <a:avLst/>
          </a:prstGeom>
          <a:solidFill>
            <a:srgbClr val="F39B5C"/>
          </a:solidFill>
          <a:ln w="7498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2" name="restoration_plan_icon_check0a_289"/>
          <p:cNvCxnSpPr/>
          <p:nvPr/>
        </p:nvCxnSpPr>
        <p:spPr>
          <a:xfrm>
            <a:off x="1766928" y="6722891"/>
            <a:ext cx="14998" cy="14998"/>
          </a:xfrm>
          <a:prstGeom prst="line">
            <a:avLst/>
          </a:prstGeom>
          <a:ln w="6999">
            <a:solidFill>
              <a:srgbClr val="111111"/>
            </a:solidFill>
          </a:ln>
          <a:effectLst/>
        </p:spPr>
      </p:cxnSp>
      <p:cxnSp>
        <p:nvCxnSpPr>
          <p:cNvPr id="333" name="restoration_plan_icon_check0b_290"/>
          <p:cNvCxnSpPr/>
          <p:nvPr/>
        </p:nvCxnSpPr>
        <p:spPr>
          <a:xfrm flipV="1">
            <a:off x="1781926" y="6707893"/>
            <a:ext cx="24997" cy="29996"/>
          </a:xfrm>
          <a:prstGeom prst="line">
            <a:avLst/>
          </a:prstGeom>
          <a:ln w="6999">
            <a:solidFill>
              <a:srgbClr val="111111"/>
            </a:solidFill>
          </a:ln>
          <a:effectLst/>
        </p:spPr>
      </p:cxnSp>
      <p:cxnSp>
        <p:nvCxnSpPr>
          <p:cNvPr id="334" name="restoration_plan_icon_line0_291"/>
          <p:cNvCxnSpPr/>
          <p:nvPr/>
        </p:nvCxnSpPr>
        <p:spPr>
          <a:xfrm>
            <a:off x="1821921" y="6722891"/>
            <a:ext cx="59991" cy="0"/>
          </a:xfrm>
          <a:prstGeom prst="line">
            <a:avLst/>
          </a:prstGeom>
          <a:ln w="6999">
            <a:solidFill>
              <a:srgbClr val="111111"/>
            </a:solidFill>
          </a:ln>
          <a:effectLst/>
        </p:spPr>
      </p:cxnSp>
      <p:cxnSp>
        <p:nvCxnSpPr>
          <p:cNvPr id="335" name="restoration_plan_icon_check1a_292"/>
          <p:cNvCxnSpPr/>
          <p:nvPr/>
        </p:nvCxnSpPr>
        <p:spPr>
          <a:xfrm>
            <a:off x="1766928" y="6772884"/>
            <a:ext cx="14998" cy="14998"/>
          </a:xfrm>
          <a:prstGeom prst="line">
            <a:avLst/>
          </a:prstGeom>
          <a:ln w="6999">
            <a:solidFill>
              <a:srgbClr val="111111"/>
            </a:solidFill>
          </a:ln>
          <a:effectLst/>
        </p:spPr>
      </p:cxnSp>
      <p:cxnSp>
        <p:nvCxnSpPr>
          <p:cNvPr id="336" name="restoration_plan_icon_check1b_293"/>
          <p:cNvCxnSpPr/>
          <p:nvPr/>
        </p:nvCxnSpPr>
        <p:spPr>
          <a:xfrm flipV="1">
            <a:off x="1781926" y="6757886"/>
            <a:ext cx="24997" cy="29996"/>
          </a:xfrm>
          <a:prstGeom prst="line">
            <a:avLst/>
          </a:prstGeom>
          <a:ln w="6999">
            <a:solidFill>
              <a:srgbClr val="111111"/>
            </a:solidFill>
          </a:ln>
          <a:effectLst/>
        </p:spPr>
      </p:cxnSp>
      <p:cxnSp>
        <p:nvCxnSpPr>
          <p:cNvPr id="337" name="restoration_plan_icon_line1_294"/>
          <p:cNvCxnSpPr/>
          <p:nvPr/>
        </p:nvCxnSpPr>
        <p:spPr>
          <a:xfrm>
            <a:off x="1821921" y="6772884"/>
            <a:ext cx="59991" cy="0"/>
          </a:xfrm>
          <a:prstGeom prst="line">
            <a:avLst/>
          </a:prstGeom>
          <a:ln w="6999">
            <a:solidFill>
              <a:srgbClr val="111111"/>
            </a:solidFill>
          </a:ln>
          <a:effectLst/>
        </p:spPr>
      </p:cxnSp>
      <p:cxnSp>
        <p:nvCxnSpPr>
          <p:cNvPr id="338" name="restoration_plan_icon_check2a_295"/>
          <p:cNvCxnSpPr/>
          <p:nvPr/>
        </p:nvCxnSpPr>
        <p:spPr>
          <a:xfrm>
            <a:off x="1766928" y="6822877"/>
            <a:ext cx="14998" cy="14998"/>
          </a:xfrm>
          <a:prstGeom prst="line">
            <a:avLst/>
          </a:prstGeom>
          <a:ln w="6999">
            <a:solidFill>
              <a:srgbClr val="111111"/>
            </a:solidFill>
          </a:ln>
          <a:effectLst/>
        </p:spPr>
      </p:cxnSp>
      <p:cxnSp>
        <p:nvCxnSpPr>
          <p:cNvPr id="339" name="restoration_plan_icon_check2b_296"/>
          <p:cNvCxnSpPr/>
          <p:nvPr/>
        </p:nvCxnSpPr>
        <p:spPr>
          <a:xfrm flipV="1">
            <a:off x="1781926" y="6807879"/>
            <a:ext cx="24997" cy="29996"/>
          </a:xfrm>
          <a:prstGeom prst="line">
            <a:avLst/>
          </a:prstGeom>
          <a:ln w="6999">
            <a:solidFill>
              <a:srgbClr val="111111"/>
            </a:solidFill>
          </a:ln>
          <a:effectLst/>
        </p:spPr>
      </p:cxnSp>
      <p:cxnSp>
        <p:nvCxnSpPr>
          <p:cNvPr id="340" name="restoration_plan_icon_line2_297"/>
          <p:cNvCxnSpPr/>
          <p:nvPr/>
        </p:nvCxnSpPr>
        <p:spPr>
          <a:xfrm>
            <a:off x="1821921" y="6822877"/>
            <a:ext cx="59991" cy="0"/>
          </a:xfrm>
          <a:prstGeom prst="line">
            <a:avLst/>
          </a:prstGeom>
          <a:ln w="6999">
            <a:solidFill>
              <a:srgbClr val="111111"/>
            </a:solidFill>
          </a:ln>
          <a:effectLst/>
        </p:spPr>
      </p:cxnSp>
      <p:sp>
        <p:nvSpPr>
          <p:cNvPr id="341" name="task_strip_clip_0_clip_310"/>
          <p:cNvSpPr/>
          <p:nvPr/>
        </p:nvSpPr>
        <p:spPr>
          <a:xfrm>
            <a:off x="6175405" y="3289597"/>
            <a:ext cx="76912" cy="43263"/>
          </a:xfrm>
          <a:prstGeom prst="rect">
            <a:avLst/>
          </a:prstGeom>
          <a:solidFill>
            <a:srgbClr val="F39B5C"/>
          </a:solidFill>
          <a:ln w="721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2" name="task_strip_clip_0_check0a_311"/>
          <p:cNvCxnSpPr/>
          <p:nvPr/>
        </p:nvCxnSpPr>
        <p:spPr>
          <a:xfrm>
            <a:off x="6156177" y="3380930"/>
            <a:ext cx="14421" cy="14421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43" name="task_strip_clip_0_check0b_312"/>
          <p:cNvCxnSpPr/>
          <p:nvPr/>
        </p:nvCxnSpPr>
        <p:spPr>
          <a:xfrm flipV="1">
            <a:off x="6170598" y="3366509"/>
            <a:ext cx="24035" cy="28842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44" name="task_strip_clip_0_line0_313"/>
          <p:cNvCxnSpPr/>
          <p:nvPr/>
        </p:nvCxnSpPr>
        <p:spPr>
          <a:xfrm>
            <a:off x="6209054" y="3380930"/>
            <a:ext cx="57684" cy="0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45" name="task_strip_clip_0_check1a_314"/>
          <p:cNvCxnSpPr/>
          <p:nvPr/>
        </p:nvCxnSpPr>
        <p:spPr>
          <a:xfrm>
            <a:off x="6156177" y="3429000"/>
            <a:ext cx="14421" cy="14421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46" name="task_strip_clip_0_check1b_315"/>
          <p:cNvCxnSpPr/>
          <p:nvPr/>
        </p:nvCxnSpPr>
        <p:spPr>
          <a:xfrm flipV="1">
            <a:off x="6170598" y="3414579"/>
            <a:ext cx="24035" cy="28842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47" name="task_strip_clip_0_line1_316"/>
          <p:cNvCxnSpPr/>
          <p:nvPr/>
        </p:nvCxnSpPr>
        <p:spPr>
          <a:xfrm>
            <a:off x="6209054" y="3429000"/>
            <a:ext cx="57684" cy="0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48" name="task_strip_clip_0_check2a_317"/>
          <p:cNvCxnSpPr/>
          <p:nvPr/>
        </p:nvCxnSpPr>
        <p:spPr>
          <a:xfrm>
            <a:off x="6156177" y="3477070"/>
            <a:ext cx="14421" cy="14421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49" name="task_strip_clip_0_check2b_318"/>
          <p:cNvCxnSpPr/>
          <p:nvPr/>
        </p:nvCxnSpPr>
        <p:spPr>
          <a:xfrm flipV="1">
            <a:off x="6170598" y="3462649"/>
            <a:ext cx="24035" cy="28842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50" name="task_strip_clip_0_line2_319"/>
          <p:cNvCxnSpPr/>
          <p:nvPr/>
        </p:nvCxnSpPr>
        <p:spPr>
          <a:xfrm>
            <a:off x="6209054" y="3477070"/>
            <a:ext cx="57684" cy="0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sp>
        <p:nvSpPr>
          <p:cNvPr id="351" name="task_strip_clip_1_clip_325"/>
          <p:cNvSpPr/>
          <p:nvPr/>
        </p:nvSpPr>
        <p:spPr>
          <a:xfrm>
            <a:off x="8469950" y="3289597"/>
            <a:ext cx="76912" cy="43263"/>
          </a:xfrm>
          <a:prstGeom prst="rect">
            <a:avLst/>
          </a:prstGeom>
          <a:solidFill>
            <a:srgbClr val="F39B5C"/>
          </a:solidFill>
          <a:ln w="721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2" name="task_strip_clip_1_check0a_326"/>
          <p:cNvCxnSpPr/>
          <p:nvPr/>
        </p:nvCxnSpPr>
        <p:spPr>
          <a:xfrm>
            <a:off x="8450722" y="3380930"/>
            <a:ext cx="14421" cy="14421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53" name="task_strip_clip_1_check0b_327"/>
          <p:cNvCxnSpPr/>
          <p:nvPr/>
        </p:nvCxnSpPr>
        <p:spPr>
          <a:xfrm flipV="1">
            <a:off x="8465143" y="3366509"/>
            <a:ext cx="24036" cy="28842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54" name="task_strip_clip_1_line0_328"/>
          <p:cNvCxnSpPr/>
          <p:nvPr/>
        </p:nvCxnSpPr>
        <p:spPr>
          <a:xfrm>
            <a:off x="8503600" y="3380930"/>
            <a:ext cx="57684" cy="0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55" name="task_strip_clip_1_check1a_329"/>
          <p:cNvCxnSpPr/>
          <p:nvPr/>
        </p:nvCxnSpPr>
        <p:spPr>
          <a:xfrm>
            <a:off x="8450722" y="3429000"/>
            <a:ext cx="14421" cy="14421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56" name="task_strip_clip_1_check1b_330"/>
          <p:cNvCxnSpPr/>
          <p:nvPr/>
        </p:nvCxnSpPr>
        <p:spPr>
          <a:xfrm flipV="1">
            <a:off x="8465143" y="3414579"/>
            <a:ext cx="24036" cy="28842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57" name="task_strip_clip_1_line1_331"/>
          <p:cNvCxnSpPr/>
          <p:nvPr/>
        </p:nvCxnSpPr>
        <p:spPr>
          <a:xfrm>
            <a:off x="8503600" y="3429000"/>
            <a:ext cx="57684" cy="0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58" name="task_strip_clip_1_check2a_332"/>
          <p:cNvCxnSpPr/>
          <p:nvPr/>
        </p:nvCxnSpPr>
        <p:spPr>
          <a:xfrm>
            <a:off x="8450722" y="3477070"/>
            <a:ext cx="14421" cy="14421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59" name="task_strip_clip_1_check2b_333"/>
          <p:cNvCxnSpPr/>
          <p:nvPr/>
        </p:nvCxnSpPr>
        <p:spPr>
          <a:xfrm flipV="1">
            <a:off x="8465143" y="3462649"/>
            <a:ext cx="24036" cy="28842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60" name="task_strip_clip_1_line2_334"/>
          <p:cNvCxnSpPr/>
          <p:nvPr/>
        </p:nvCxnSpPr>
        <p:spPr>
          <a:xfrm>
            <a:off x="8503600" y="3477070"/>
            <a:ext cx="57684" cy="0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sp>
        <p:nvSpPr>
          <p:cNvPr id="361" name="task_strip_clip_2_clip_340"/>
          <p:cNvSpPr/>
          <p:nvPr/>
        </p:nvSpPr>
        <p:spPr>
          <a:xfrm>
            <a:off x="10264567" y="3289597"/>
            <a:ext cx="76912" cy="43263"/>
          </a:xfrm>
          <a:prstGeom prst="rect">
            <a:avLst/>
          </a:prstGeom>
          <a:solidFill>
            <a:srgbClr val="F39B5C"/>
          </a:solidFill>
          <a:ln w="721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2" name="task_strip_clip_2_check0a_341"/>
          <p:cNvCxnSpPr/>
          <p:nvPr/>
        </p:nvCxnSpPr>
        <p:spPr>
          <a:xfrm>
            <a:off x="10245339" y="3380930"/>
            <a:ext cx="14421" cy="14421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63" name="task_strip_clip_2_check0b_342"/>
          <p:cNvCxnSpPr/>
          <p:nvPr/>
        </p:nvCxnSpPr>
        <p:spPr>
          <a:xfrm flipV="1">
            <a:off x="10259760" y="3366509"/>
            <a:ext cx="24035" cy="28842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64" name="task_strip_clip_2_line0_343"/>
          <p:cNvCxnSpPr/>
          <p:nvPr/>
        </p:nvCxnSpPr>
        <p:spPr>
          <a:xfrm>
            <a:off x="10298216" y="3380930"/>
            <a:ext cx="57684" cy="0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65" name="task_strip_clip_2_check1a_344"/>
          <p:cNvCxnSpPr/>
          <p:nvPr/>
        </p:nvCxnSpPr>
        <p:spPr>
          <a:xfrm>
            <a:off x="10245339" y="3429000"/>
            <a:ext cx="14421" cy="14421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66" name="task_strip_clip_2_check1b_345"/>
          <p:cNvCxnSpPr/>
          <p:nvPr/>
        </p:nvCxnSpPr>
        <p:spPr>
          <a:xfrm flipV="1">
            <a:off x="10259760" y="3414579"/>
            <a:ext cx="24035" cy="28842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67" name="task_strip_clip_2_line1_346"/>
          <p:cNvCxnSpPr/>
          <p:nvPr/>
        </p:nvCxnSpPr>
        <p:spPr>
          <a:xfrm>
            <a:off x="10298216" y="3429000"/>
            <a:ext cx="57684" cy="0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68" name="task_strip_clip_2_check2a_347"/>
          <p:cNvCxnSpPr/>
          <p:nvPr/>
        </p:nvCxnSpPr>
        <p:spPr>
          <a:xfrm>
            <a:off x="10245339" y="3477070"/>
            <a:ext cx="14421" cy="14421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69" name="task_strip_clip_2_check2b_348"/>
          <p:cNvCxnSpPr/>
          <p:nvPr/>
        </p:nvCxnSpPr>
        <p:spPr>
          <a:xfrm flipV="1">
            <a:off x="10259760" y="3462649"/>
            <a:ext cx="24035" cy="28842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cxnSp>
        <p:nvCxnSpPr>
          <p:cNvPr id="370" name="task_strip_clip_2_line2_349"/>
          <p:cNvCxnSpPr/>
          <p:nvPr/>
        </p:nvCxnSpPr>
        <p:spPr>
          <a:xfrm>
            <a:off x="10298216" y="3477070"/>
            <a:ext cx="57684" cy="0"/>
          </a:xfrm>
          <a:prstGeom prst="line">
            <a:avLst/>
          </a:prstGeom>
          <a:ln w="6729">
            <a:solidFill>
              <a:srgbClr val="111111"/>
            </a:solidFill>
          </a:ln>
          <a:effectLst/>
        </p:spPr>
      </p:cxnSp>
      <p:sp>
        <p:nvSpPr>
          <p:cNvPr id="371" name="profile_letter_008"/>
          <p:cNvSpPr txBox="1"/>
          <p:nvPr/>
        </p:nvSpPr>
        <p:spPr>
          <a:xfrm>
            <a:off x="208945" y="126905"/>
            <a:ext cx="107677" cy="8460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1" i="0">
                <a:solidFill>
                  <a:srgbClr val="A92292"/>
                </a:solidFill>
                <a:latin typeface="Liberation Serif"/>
              </a:rPr>
              <a:t>P</a:t>
            </a:r>
          </a:p>
        </p:txBody>
      </p:sp>
      <p:sp>
        <p:nvSpPr>
          <p:cNvPr id="372" name="profile_eye_l_012"/>
          <p:cNvSpPr/>
          <p:nvPr/>
        </p:nvSpPr>
        <p:spPr>
          <a:xfrm>
            <a:off x="208945" y="311494"/>
            <a:ext cx="30765" cy="30765"/>
          </a:xfrm>
          <a:prstGeom prst="ellipse">
            <a:avLst/>
          </a:prstGeom>
          <a:solidFill>
            <a:srgbClr val="A92292"/>
          </a:solidFill>
          <a:ln w="6409">
            <a:solidFill>
              <a:srgbClr val="A9229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profile_eye_r_013"/>
          <p:cNvSpPr/>
          <p:nvPr/>
        </p:nvSpPr>
        <p:spPr>
          <a:xfrm>
            <a:off x="285857" y="311494"/>
            <a:ext cx="30765" cy="30765"/>
          </a:xfrm>
          <a:prstGeom prst="ellipse">
            <a:avLst/>
          </a:prstGeom>
          <a:solidFill>
            <a:srgbClr val="A92292"/>
          </a:solidFill>
          <a:ln w="6409">
            <a:solidFill>
              <a:srgbClr val="A9229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4" name="profile_mouth_014"/>
          <p:cNvCxnSpPr/>
          <p:nvPr/>
        </p:nvCxnSpPr>
        <p:spPr>
          <a:xfrm>
            <a:off x="224327" y="373024"/>
            <a:ext cx="76912" cy="0"/>
          </a:xfrm>
          <a:prstGeom prst="line">
            <a:avLst/>
          </a:prstGeom>
          <a:ln w="11536">
            <a:solidFill>
              <a:srgbClr val="A92292"/>
            </a:solidFill>
          </a:ln>
          <a:effectLst/>
        </p:spPr>
      </p:cxnSp>
      <p:sp>
        <p:nvSpPr>
          <p:cNvPr id="375" name="perception_letter_018"/>
          <p:cNvSpPr txBox="1"/>
          <p:nvPr/>
        </p:nvSpPr>
        <p:spPr>
          <a:xfrm>
            <a:off x="2894461" y="126905"/>
            <a:ext cx="107677" cy="8460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1" i="0">
                <a:solidFill>
                  <a:srgbClr val="16A6D2"/>
                </a:solidFill>
                <a:latin typeface="Liberation Serif"/>
              </a:rPr>
              <a:t>P</a:t>
            </a:r>
          </a:p>
        </p:txBody>
      </p:sp>
      <p:sp>
        <p:nvSpPr>
          <p:cNvPr id="376" name="perception_eye_l_022"/>
          <p:cNvSpPr/>
          <p:nvPr/>
        </p:nvSpPr>
        <p:spPr>
          <a:xfrm>
            <a:off x="2894461" y="311494"/>
            <a:ext cx="30765" cy="30765"/>
          </a:xfrm>
          <a:prstGeom prst="ellipse">
            <a:avLst/>
          </a:prstGeom>
          <a:solidFill>
            <a:srgbClr val="16A6D2"/>
          </a:solidFill>
          <a:ln w="6409">
            <a:solidFill>
              <a:srgbClr val="16A6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perception_eye_r_023"/>
          <p:cNvSpPr/>
          <p:nvPr/>
        </p:nvSpPr>
        <p:spPr>
          <a:xfrm>
            <a:off x="2971373" y="311494"/>
            <a:ext cx="30765" cy="30765"/>
          </a:xfrm>
          <a:prstGeom prst="ellipse">
            <a:avLst/>
          </a:prstGeom>
          <a:solidFill>
            <a:srgbClr val="16A6D2"/>
          </a:solidFill>
          <a:ln w="6409">
            <a:solidFill>
              <a:srgbClr val="16A6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8" name="perception_mouth_024"/>
          <p:cNvCxnSpPr/>
          <p:nvPr/>
        </p:nvCxnSpPr>
        <p:spPr>
          <a:xfrm>
            <a:off x="2909843" y="373024"/>
            <a:ext cx="76912" cy="0"/>
          </a:xfrm>
          <a:prstGeom prst="line">
            <a:avLst/>
          </a:prstGeom>
          <a:ln w="11536">
            <a:solidFill>
              <a:srgbClr val="16A6D2"/>
            </a:solidFill>
          </a:ln>
          <a:effectLst/>
        </p:spPr>
      </p:cxnSp>
      <p:sp>
        <p:nvSpPr>
          <p:cNvPr id="379" name="restoration_letter_028"/>
          <p:cNvSpPr txBox="1"/>
          <p:nvPr/>
        </p:nvSpPr>
        <p:spPr>
          <a:xfrm>
            <a:off x="6060677" y="126905"/>
            <a:ext cx="107677" cy="8460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5" b="1" i="0">
                <a:solidFill>
                  <a:srgbClr val="3C8B33"/>
                </a:solidFill>
                <a:latin typeface="Liberation Serif"/>
              </a:rPr>
              <a:t>R</a:t>
            </a:r>
          </a:p>
        </p:txBody>
      </p:sp>
      <p:sp>
        <p:nvSpPr>
          <p:cNvPr id="380" name="restoration_eye_l_032"/>
          <p:cNvSpPr/>
          <p:nvPr/>
        </p:nvSpPr>
        <p:spPr>
          <a:xfrm>
            <a:off x="6060677" y="311494"/>
            <a:ext cx="30765" cy="30765"/>
          </a:xfrm>
          <a:prstGeom prst="ellipse">
            <a:avLst/>
          </a:prstGeom>
          <a:solidFill>
            <a:srgbClr val="3C8B33"/>
          </a:solidFill>
          <a:ln w="6409">
            <a:solidFill>
              <a:srgbClr val="3C8B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storation_eye_r_033"/>
          <p:cNvSpPr/>
          <p:nvPr/>
        </p:nvSpPr>
        <p:spPr>
          <a:xfrm>
            <a:off x="6137590" y="311494"/>
            <a:ext cx="30765" cy="30765"/>
          </a:xfrm>
          <a:prstGeom prst="ellipse">
            <a:avLst/>
          </a:prstGeom>
          <a:solidFill>
            <a:srgbClr val="3C8B33"/>
          </a:solidFill>
          <a:ln w="6409">
            <a:solidFill>
              <a:srgbClr val="3C8B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restoration_mouth_034"/>
          <p:cNvCxnSpPr/>
          <p:nvPr/>
        </p:nvCxnSpPr>
        <p:spPr>
          <a:xfrm>
            <a:off x="6076060" y="373024"/>
            <a:ext cx="76912" cy="0"/>
          </a:xfrm>
          <a:prstGeom prst="line">
            <a:avLst/>
          </a:prstGeom>
          <a:ln w="11536">
            <a:solidFill>
              <a:srgbClr val="3C8B33"/>
            </a:solidFill>
          </a:ln>
          <a:effectLst/>
        </p:spPr>
      </p:cxnSp>
      <p:sp>
        <p:nvSpPr>
          <p:cNvPr id="383" name="input_res_text_069"/>
          <p:cNvSpPr txBox="1"/>
          <p:nvPr/>
        </p:nvSpPr>
        <p:spPr>
          <a:xfrm>
            <a:off x="198690" y="2576557"/>
            <a:ext cx="942174" cy="2050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1">
                <a:solidFill>
                  <a:srgbClr val="FFFFFF"/>
                </a:solidFill>
                <a:latin typeface="Liberation Serif"/>
              </a:rPr>
              <a:t>Res: 259×194</a:t>
            </a:r>
          </a:p>
        </p:txBody>
      </p:sp>
      <p:cxnSp>
        <p:nvCxnSpPr>
          <p:cNvPr id="384" name="perception_plan_icon_pencil_101"/>
          <p:cNvCxnSpPr/>
          <p:nvPr/>
        </p:nvCxnSpPr>
        <p:spPr>
          <a:xfrm flipV="1">
            <a:off x="3135580" y="2564764"/>
            <a:ext cx="47686" cy="63581"/>
          </a:xfrm>
          <a:prstGeom prst="line">
            <a:avLst/>
          </a:prstGeom>
          <a:ln w="19868">
            <a:solidFill>
              <a:srgbClr val="EE8C27"/>
            </a:solidFill>
          </a:ln>
          <a:effectLst/>
        </p:spPr>
      </p:cxnSp>
      <p:sp>
        <p:nvSpPr>
          <p:cNvPr id="385" name="replan_letter_124"/>
          <p:cNvSpPr txBox="1"/>
          <p:nvPr/>
        </p:nvSpPr>
        <p:spPr>
          <a:xfrm>
            <a:off x="7285824" y="1078372"/>
            <a:ext cx="67298" cy="5287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" b="1" i="0">
                <a:solidFill>
                  <a:srgbClr val="111111"/>
                </a:solidFill>
                <a:latin typeface="Liberation Serif"/>
              </a:rPr>
              <a:t>R</a:t>
            </a:r>
          </a:p>
        </p:txBody>
      </p:sp>
      <p:sp>
        <p:nvSpPr>
          <p:cNvPr id="386" name="replan_eye_l_128"/>
          <p:cNvSpPr/>
          <p:nvPr/>
        </p:nvSpPr>
        <p:spPr>
          <a:xfrm>
            <a:off x="7285824" y="1193741"/>
            <a:ext cx="19228" cy="19228"/>
          </a:xfrm>
          <a:prstGeom prst="ellipse">
            <a:avLst/>
          </a:prstGeom>
          <a:solidFill>
            <a:srgbClr val="111111"/>
          </a:solidFill>
          <a:ln w="6409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replan_eye_r_129"/>
          <p:cNvSpPr/>
          <p:nvPr/>
        </p:nvSpPr>
        <p:spPr>
          <a:xfrm>
            <a:off x="7333894" y="1193741"/>
            <a:ext cx="19228" cy="19228"/>
          </a:xfrm>
          <a:prstGeom prst="ellipse">
            <a:avLst/>
          </a:prstGeom>
          <a:solidFill>
            <a:srgbClr val="111111"/>
          </a:solidFill>
          <a:ln w="6409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8" name="replan_mouth_130"/>
          <p:cNvCxnSpPr/>
          <p:nvPr/>
        </p:nvCxnSpPr>
        <p:spPr>
          <a:xfrm>
            <a:off x="7295438" y="1232197"/>
            <a:ext cx="48070" cy="0"/>
          </a:xfrm>
          <a:prstGeom prst="line">
            <a:avLst/>
          </a:prstGeom>
          <a:ln w="7210">
            <a:solidFill>
              <a:srgbClr val="111111"/>
            </a:solidFill>
          </a:ln>
          <a:effectLst/>
        </p:spPr>
      </p:cxnSp>
      <p:sp>
        <p:nvSpPr>
          <p:cNvPr id="389" name="output_res_text_146"/>
          <p:cNvSpPr txBox="1"/>
          <p:nvPr/>
        </p:nvSpPr>
        <p:spPr>
          <a:xfrm>
            <a:off x="8851307" y="2538101"/>
            <a:ext cx="1698477" cy="24355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4" b="1" i="1">
                <a:solidFill>
                  <a:srgbClr val="FFFFFF"/>
                </a:solidFill>
                <a:latin typeface="Liberation Serif"/>
              </a:rPr>
              <a:t>Res: 4144×3104</a:t>
            </a:r>
          </a:p>
        </p:txBody>
      </p:sp>
      <p:cxnSp>
        <p:nvCxnSpPr>
          <p:cNvPr id="390" name="restoration_plan_icon_pencil_298"/>
          <p:cNvCxnSpPr/>
          <p:nvPr/>
        </p:nvCxnSpPr>
        <p:spPr>
          <a:xfrm flipV="1">
            <a:off x="1891911" y="6742888"/>
            <a:ext cx="59991" cy="79989"/>
          </a:xfrm>
          <a:prstGeom prst="line">
            <a:avLst/>
          </a:prstGeom>
          <a:ln w="24996">
            <a:solidFill>
              <a:srgbClr val="EE8C27"/>
            </a:solidFill>
          </a:ln>
          <a:effectLst/>
        </p:spPr>
      </p:cxnSp>
      <p:cxnSp>
        <p:nvCxnSpPr>
          <p:cNvPr id="391" name="task_strip_clip_0_pencil_320"/>
          <p:cNvCxnSpPr/>
          <p:nvPr/>
        </p:nvCxnSpPr>
        <p:spPr>
          <a:xfrm flipV="1">
            <a:off x="6276352" y="3400158"/>
            <a:ext cx="57684" cy="76912"/>
          </a:xfrm>
          <a:prstGeom prst="line">
            <a:avLst/>
          </a:prstGeom>
          <a:ln w="24035">
            <a:solidFill>
              <a:srgbClr val="EE8C27"/>
            </a:solidFill>
          </a:ln>
          <a:effectLst/>
        </p:spPr>
      </p:cxnSp>
      <p:cxnSp>
        <p:nvCxnSpPr>
          <p:cNvPr id="392" name="task_strip_clip_1_pencil_335"/>
          <p:cNvCxnSpPr/>
          <p:nvPr/>
        </p:nvCxnSpPr>
        <p:spPr>
          <a:xfrm flipV="1">
            <a:off x="8570898" y="3400158"/>
            <a:ext cx="57684" cy="76912"/>
          </a:xfrm>
          <a:prstGeom prst="line">
            <a:avLst/>
          </a:prstGeom>
          <a:ln w="24035">
            <a:solidFill>
              <a:srgbClr val="EE8C27"/>
            </a:solidFill>
          </a:ln>
          <a:effectLst/>
        </p:spPr>
      </p:cxnSp>
      <p:cxnSp>
        <p:nvCxnSpPr>
          <p:cNvPr id="393" name="task_strip_clip_2_pencil_350"/>
          <p:cNvCxnSpPr/>
          <p:nvPr/>
        </p:nvCxnSpPr>
        <p:spPr>
          <a:xfrm flipV="1">
            <a:off x="10365514" y="3400158"/>
            <a:ext cx="57685" cy="76912"/>
          </a:xfrm>
          <a:prstGeom prst="line">
            <a:avLst/>
          </a:prstGeom>
          <a:ln w="24035">
            <a:solidFill>
              <a:srgbClr val="EE8C27"/>
            </a:solidFill>
          </a:ln>
          <a:effectLst/>
        </p:spPr>
      </p:cxnSp>
      <p:sp>
        <p:nvSpPr>
          <p:cNvPr id="394" name="profile_title_015"/>
          <p:cNvSpPr txBox="1"/>
          <p:nvPr/>
        </p:nvSpPr>
        <p:spPr>
          <a:xfrm>
            <a:off x="461473" y="115368"/>
            <a:ext cx="1634383" cy="35251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8" b="1" i="0">
                <a:solidFill>
                  <a:srgbClr val="A92292"/>
                </a:solidFill>
                <a:latin typeface="Liberation Serif"/>
              </a:rPr>
              <a:t>Profile Module</a:t>
            </a:r>
          </a:p>
        </p:txBody>
      </p:sp>
      <p:sp>
        <p:nvSpPr>
          <p:cNvPr id="395" name="perception_title_025"/>
          <p:cNvSpPr txBox="1"/>
          <p:nvPr/>
        </p:nvSpPr>
        <p:spPr>
          <a:xfrm>
            <a:off x="3153398" y="115368"/>
            <a:ext cx="2115084" cy="35251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8" b="1" i="0">
                <a:solidFill>
                  <a:srgbClr val="16A6D2"/>
                </a:solidFill>
                <a:latin typeface="Liberation Serif"/>
              </a:rPr>
              <a:t>Perception Agent</a:t>
            </a:r>
          </a:p>
        </p:txBody>
      </p:sp>
      <p:sp>
        <p:nvSpPr>
          <p:cNvPr id="396" name="restoration_title_035"/>
          <p:cNvSpPr txBox="1"/>
          <p:nvPr/>
        </p:nvSpPr>
        <p:spPr>
          <a:xfrm>
            <a:off x="6326024" y="115368"/>
            <a:ext cx="2147131" cy="35251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68" b="1" i="0">
                <a:solidFill>
                  <a:srgbClr val="3C8B33"/>
                </a:solidFill>
                <a:latin typeface="Liberation Serif"/>
              </a:rPr>
              <a:t>Restoration Agent</a:t>
            </a:r>
          </a:p>
        </p:txBody>
      </p:sp>
      <p:sp>
        <p:nvSpPr>
          <p:cNvPr id="397" name="toggle_label_0_039"/>
          <p:cNvSpPr txBox="1"/>
          <p:nvPr/>
        </p:nvSpPr>
        <p:spPr>
          <a:xfrm>
            <a:off x="506338" y="531976"/>
            <a:ext cx="769121" cy="21791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4K</a:t>
            </a:r>
          </a:p>
        </p:txBody>
      </p:sp>
      <p:sp>
        <p:nvSpPr>
          <p:cNvPr id="398" name="toggle_label_1_042"/>
          <p:cNvSpPr txBox="1"/>
          <p:nvPr/>
        </p:nvSpPr>
        <p:spPr>
          <a:xfrm>
            <a:off x="506338" y="769121"/>
            <a:ext cx="769121" cy="21791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Face</a:t>
            </a:r>
          </a:p>
        </p:txBody>
      </p:sp>
      <p:sp>
        <p:nvSpPr>
          <p:cNvPr id="399" name="toggle_label_2_045"/>
          <p:cNvSpPr txBox="1"/>
          <p:nvPr/>
        </p:nvSpPr>
        <p:spPr>
          <a:xfrm>
            <a:off x="506338" y="1006267"/>
            <a:ext cx="769121" cy="21791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VLM</a:t>
            </a:r>
          </a:p>
        </p:txBody>
      </p:sp>
      <p:sp>
        <p:nvSpPr>
          <p:cNvPr id="400" name="toggle_label_3_048"/>
          <p:cNvSpPr txBox="1"/>
          <p:nvPr/>
        </p:nvSpPr>
        <p:spPr>
          <a:xfrm>
            <a:off x="506338" y="1243413"/>
            <a:ext cx="769121" cy="21791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Preference</a:t>
            </a:r>
          </a:p>
        </p:txBody>
      </p:sp>
      <p:sp>
        <p:nvSpPr>
          <p:cNvPr id="401" name="profile_doc_label_059"/>
          <p:cNvSpPr txBox="1"/>
          <p:nvPr/>
        </p:nvSpPr>
        <p:spPr>
          <a:xfrm>
            <a:off x="1352372" y="1288279"/>
            <a:ext cx="512748" cy="1794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1" b="0" i="0">
                <a:solidFill>
                  <a:srgbClr val="111111"/>
                </a:solidFill>
                <a:latin typeface="Liberation Serif"/>
              </a:rPr>
              <a:t>Profile</a:t>
            </a:r>
          </a:p>
        </p:txBody>
      </p:sp>
      <p:sp>
        <p:nvSpPr>
          <p:cNvPr id="402" name="perception_stage1_text_073"/>
          <p:cNvSpPr txBox="1"/>
          <p:nvPr/>
        </p:nvSpPr>
        <p:spPr>
          <a:xfrm>
            <a:off x="2691925" y="724256"/>
            <a:ext cx="2224043" cy="34610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3" b="1" i="0">
                <a:solidFill>
                  <a:srgbClr val="111111"/>
                </a:solidFill>
                <a:latin typeface="Liberation Serif"/>
              </a:rPr>
              <a:t>Stage 1: Image Analyzer</a:t>
            </a:r>
          </a:p>
        </p:txBody>
      </p:sp>
      <p:sp>
        <p:nvSpPr>
          <p:cNvPr id="403" name="quality_scores_top_080"/>
          <p:cNvSpPr txBox="1"/>
          <p:nvPr/>
        </p:nvSpPr>
        <p:spPr>
          <a:xfrm>
            <a:off x="4191712" y="1172910"/>
            <a:ext cx="807578" cy="35251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1" b="1" i="0">
                <a:solidFill>
                  <a:srgbClr val="111111"/>
                </a:solidFill>
                <a:latin typeface="Liberation Serif"/>
              </a:rPr>
              <a:t>Quality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1" b="1" i="0">
                <a:solidFill>
                  <a:srgbClr val="111111"/>
                </a:solidFill>
                <a:latin typeface="Liberation Serif"/>
              </a:rPr>
              <a:t>scores</a:t>
            </a:r>
          </a:p>
        </p:txBody>
      </p:sp>
      <p:sp>
        <p:nvSpPr>
          <p:cNvPr id="404" name="perception_stage2_text_082"/>
          <p:cNvSpPr txBox="1"/>
          <p:nvPr/>
        </p:nvSpPr>
        <p:spPr>
          <a:xfrm>
            <a:off x="2595785" y="1563880"/>
            <a:ext cx="2403505" cy="44865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1" i="0">
                <a:solidFill>
                  <a:srgbClr val="111111"/>
                </a:solidFill>
                <a:latin typeface="Liberation Serif"/>
              </a:rPr>
              <a:t>Stage 2: Degradation Reasoning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1" i="0">
                <a:solidFill>
                  <a:srgbClr val="111111"/>
                </a:solidFill>
                <a:latin typeface="Liberation Serif"/>
              </a:rPr>
              <a:t>&amp; Task Planning</a:t>
            </a:r>
          </a:p>
        </p:txBody>
      </p:sp>
      <p:sp>
        <p:nvSpPr>
          <p:cNvPr id="405" name="description_top_087"/>
          <p:cNvSpPr txBox="1"/>
          <p:nvPr/>
        </p:nvSpPr>
        <p:spPr>
          <a:xfrm>
            <a:off x="4166075" y="2108675"/>
            <a:ext cx="807578" cy="30764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1" b="1" i="0">
                <a:solidFill>
                  <a:srgbClr val="111111"/>
                </a:solidFill>
                <a:latin typeface="Liberation Serif"/>
              </a:rPr>
              <a:t>Description</a:t>
            </a:r>
          </a:p>
        </p:txBody>
      </p:sp>
      <p:sp>
        <p:nvSpPr>
          <p:cNvPr id="406" name="perception_plan_text_102"/>
          <p:cNvSpPr txBox="1"/>
          <p:nvPr/>
        </p:nvSpPr>
        <p:spPr>
          <a:xfrm>
            <a:off x="3332860" y="2461189"/>
            <a:ext cx="1442103" cy="25637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111111"/>
                </a:solidFill>
                <a:latin typeface="Liberation Serif"/>
              </a:rPr>
              <a:t>Restoration Plan</a:t>
            </a:r>
          </a:p>
        </p:txBody>
      </p:sp>
      <p:sp>
        <p:nvSpPr>
          <p:cNvPr id="407" name="task1_label_112"/>
          <p:cNvSpPr txBox="1"/>
          <p:nvPr/>
        </p:nvSpPr>
        <p:spPr>
          <a:xfrm>
            <a:off x="6608036" y="628116"/>
            <a:ext cx="756303" cy="21791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Task 1</a:t>
            </a:r>
          </a:p>
        </p:txBody>
      </p:sp>
      <p:sp>
        <p:nvSpPr>
          <p:cNvPr id="408" name="task1_execution_text_114"/>
          <p:cNvSpPr txBox="1"/>
          <p:nvPr/>
        </p:nvSpPr>
        <p:spPr>
          <a:xfrm>
            <a:off x="5954282" y="846034"/>
            <a:ext cx="871671" cy="28842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Execution</a:t>
            </a:r>
          </a:p>
        </p:txBody>
      </p:sp>
      <p:sp>
        <p:nvSpPr>
          <p:cNvPr id="409" name="task1_reflection_text_116"/>
          <p:cNvSpPr txBox="1"/>
          <p:nvPr/>
        </p:nvSpPr>
        <p:spPr>
          <a:xfrm>
            <a:off x="5954282" y="1217776"/>
            <a:ext cx="871671" cy="2756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Reflection</a:t>
            </a:r>
          </a:p>
        </p:txBody>
      </p:sp>
      <p:sp>
        <p:nvSpPr>
          <p:cNvPr id="410" name="task1_if_sr_118"/>
          <p:cNvSpPr txBox="1"/>
          <p:nvPr/>
        </p:nvSpPr>
        <p:spPr>
          <a:xfrm>
            <a:off x="6095288" y="1467740"/>
            <a:ext cx="499929" cy="16023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7" b="0" i="1">
                <a:solidFill>
                  <a:srgbClr val="A6A6A6"/>
                </a:solidFill>
                <a:latin typeface="Liberation Serif"/>
              </a:rPr>
              <a:t>if SR</a:t>
            </a:r>
          </a:p>
        </p:txBody>
      </p:sp>
      <p:sp>
        <p:nvSpPr>
          <p:cNvPr id="411" name="task1_rollback_text_121"/>
          <p:cNvSpPr txBox="1"/>
          <p:nvPr/>
        </p:nvSpPr>
        <p:spPr>
          <a:xfrm>
            <a:off x="7204105" y="846034"/>
            <a:ext cx="801168" cy="26919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Rollback</a:t>
            </a:r>
          </a:p>
        </p:txBody>
      </p:sp>
      <p:sp>
        <p:nvSpPr>
          <p:cNvPr id="412" name="replan_text_131"/>
          <p:cNvSpPr txBox="1"/>
          <p:nvPr/>
        </p:nvSpPr>
        <p:spPr>
          <a:xfrm>
            <a:off x="7563028" y="1204957"/>
            <a:ext cx="448654" cy="1730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7" b="1" i="1">
                <a:solidFill>
                  <a:srgbClr val="A6A6A6"/>
                </a:solidFill>
                <a:latin typeface="Liberation Serif"/>
              </a:rPr>
              <a:t>Re-Plan</a:t>
            </a:r>
          </a:p>
        </p:txBody>
      </p:sp>
      <p:sp>
        <p:nvSpPr>
          <p:cNvPr id="413" name="if_low_quality_133"/>
          <p:cNvSpPr txBox="1"/>
          <p:nvPr/>
        </p:nvSpPr>
        <p:spPr>
          <a:xfrm>
            <a:off x="6787497" y="1063951"/>
            <a:ext cx="410198" cy="33328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7" b="0" i="1">
                <a:solidFill>
                  <a:srgbClr val="A6A6A6"/>
                </a:solidFill>
                <a:latin typeface="Liberation Serif"/>
              </a:rPr>
              <a:t>if low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7" b="0" i="1">
                <a:solidFill>
                  <a:srgbClr val="A6A6A6"/>
                </a:solidFill>
                <a:latin typeface="Liberation Serif"/>
              </a:rPr>
              <a:t>quality</a:t>
            </a:r>
          </a:p>
        </p:txBody>
      </p:sp>
      <p:sp>
        <p:nvSpPr>
          <p:cNvPr id="414" name="face_restoration_top_text_136"/>
          <p:cNvSpPr txBox="1"/>
          <p:nvPr/>
        </p:nvSpPr>
        <p:spPr>
          <a:xfrm>
            <a:off x="5954282" y="1615155"/>
            <a:ext cx="2063809" cy="2499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Face Restoration</a:t>
            </a:r>
          </a:p>
        </p:txBody>
      </p:sp>
      <p:sp>
        <p:nvSpPr>
          <p:cNvPr id="415" name="task2_placeholder_text_139"/>
          <p:cNvSpPr txBox="1"/>
          <p:nvPr/>
        </p:nvSpPr>
        <p:spPr>
          <a:xfrm>
            <a:off x="6313206" y="2140721"/>
            <a:ext cx="1345963" cy="23714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111111"/>
                </a:solidFill>
                <a:latin typeface="Liberation Serif"/>
              </a:rPr>
              <a:t>Task 2</a:t>
            </a:r>
          </a:p>
        </p:txBody>
      </p:sp>
      <p:sp>
        <p:nvSpPr>
          <p:cNvPr id="416" name="task_ellipsis_140"/>
          <p:cNvSpPr txBox="1"/>
          <p:nvPr/>
        </p:nvSpPr>
        <p:spPr>
          <a:xfrm>
            <a:off x="6909275" y="2377867"/>
            <a:ext cx="179462" cy="1794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1" i="0">
                <a:solidFill>
                  <a:srgbClr val="111111"/>
                </a:solidFill>
                <a:latin typeface="Liberation Serif"/>
              </a:rPr>
              <a:t>⋮</a:t>
            </a:r>
          </a:p>
        </p:txBody>
      </p:sp>
      <p:sp>
        <p:nvSpPr>
          <p:cNvPr id="417" name="taskk_placeholder_text_142"/>
          <p:cNvSpPr txBox="1"/>
          <p:nvPr/>
        </p:nvSpPr>
        <p:spPr>
          <a:xfrm>
            <a:off x="6313206" y="2538101"/>
            <a:ext cx="1345963" cy="23714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111111"/>
                </a:solidFill>
                <a:latin typeface="Liberation Serif"/>
              </a:rPr>
              <a:t>Task K</a:t>
            </a:r>
          </a:p>
        </p:txBody>
      </p:sp>
      <p:sp>
        <p:nvSpPr>
          <p:cNvPr id="418" name="stage1_tag_149"/>
          <p:cNvSpPr txBox="1"/>
          <p:nvPr/>
        </p:nvSpPr>
        <p:spPr>
          <a:xfrm>
            <a:off x="269193" y="3294404"/>
            <a:ext cx="833215" cy="24355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1" b="1" i="1">
                <a:solidFill>
                  <a:srgbClr val="0E5A74"/>
                </a:solidFill>
                <a:latin typeface="Liberation Sans"/>
              </a:rPr>
              <a:t>Stage 1</a:t>
            </a:r>
          </a:p>
        </p:txBody>
      </p:sp>
      <p:sp>
        <p:nvSpPr>
          <p:cNvPr id="419" name="expert_iqa_159"/>
          <p:cNvSpPr txBox="1"/>
          <p:nvPr/>
        </p:nvSpPr>
        <p:spPr>
          <a:xfrm>
            <a:off x="448654" y="3973794"/>
            <a:ext cx="1185729" cy="25637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4" b="1" i="0">
                <a:solidFill>
                  <a:srgbClr val="111111"/>
                </a:solidFill>
                <a:latin typeface="Liberation Serif"/>
              </a:rPr>
              <a:t>Expert IQA</a:t>
            </a:r>
          </a:p>
        </p:txBody>
      </p:sp>
      <p:sp>
        <p:nvSpPr>
          <p:cNvPr id="420" name="metrics_text_162"/>
          <p:cNvSpPr txBox="1"/>
          <p:nvPr/>
        </p:nvSpPr>
        <p:spPr>
          <a:xfrm>
            <a:off x="2224043" y="3429000"/>
            <a:ext cx="1134454" cy="71784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1" i="0">
                <a:solidFill>
                  <a:srgbClr val="517FB6"/>
                </a:solidFill>
                <a:latin typeface="Liberation Serif"/>
              </a:rPr>
              <a:t>CLIPIQA+:  0.6344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1" i="0">
                <a:solidFill>
                  <a:srgbClr val="517FB6"/>
                </a:solidFill>
                <a:latin typeface="Liberation Serif"/>
              </a:rPr>
              <a:t>TOPIQ:     0.5907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1" i="0">
                <a:solidFill>
                  <a:srgbClr val="517FB6"/>
                </a:solidFill>
                <a:latin typeface="Liberation Serif"/>
              </a:rPr>
              <a:t>MUSIQ:    62.9828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1" i="0">
                <a:solidFill>
                  <a:srgbClr val="517FB6"/>
                </a:solidFill>
                <a:latin typeface="Liberation Serif"/>
              </a:rPr>
              <a:t>NIQE:      3.5966</a:t>
            </a:r>
          </a:p>
        </p:txBody>
      </p:sp>
      <p:sp>
        <p:nvSpPr>
          <p:cNvPr id="421" name="quality_scores_large_169"/>
          <p:cNvSpPr txBox="1"/>
          <p:nvPr/>
        </p:nvSpPr>
        <p:spPr>
          <a:xfrm>
            <a:off x="3826379" y="3999432"/>
            <a:ext cx="1333144" cy="2499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1" i="0">
                <a:solidFill>
                  <a:srgbClr val="111111"/>
                </a:solidFill>
                <a:latin typeface="Liberation Serif"/>
              </a:rPr>
              <a:t>Quality Scores</a:t>
            </a:r>
          </a:p>
        </p:txBody>
      </p:sp>
      <p:sp>
        <p:nvSpPr>
          <p:cNvPr id="422" name="stage2_tag_171"/>
          <p:cNvSpPr txBox="1"/>
          <p:nvPr/>
        </p:nvSpPr>
        <p:spPr>
          <a:xfrm>
            <a:off x="269193" y="4454495"/>
            <a:ext cx="833215" cy="24355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1" b="1" i="1">
                <a:solidFill>
                  <a:srgbClr val="0E5A74"/>
                </a:solidFill>
                <a:latin typeface="Liberation Sans"/>
              </a:rPr>
              <a:t>Stage 2</a:t>
            </a:r>
          </a:p>
        </p:txBody>
      </p:sp>
      <p:sp>
        <p:nvSpPr>
          <p:cNvPr id="423" name="stage2_quality_label_178"/>
          <p:cNvSpPr txBox="1"/>
          <p:nvPr/>
        </p:nvSpPr>
        <p:spPr>
          <a:xfrm>
            <a:off x="153824" y="5909417"/>
            <a:ext cx="807578" cy="2243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111111"/>
                </a:solidFill>
                <a:latin typeface="Liberation Serif"/>
              </a:rPr>
              <a:t>Quality Scores</a:t>
            </a:r>
          </a:p>
        </p:txBody>
      </p:sp>
      <p:sp>
        <p:nvSpPr>
          <p:cNvPr id="424" name="description_heading_223"/>
          <p:cNvSpPr txBox="1"/>
          <p:nvPr/>
        </p:nvSpPr>
        <p:spPr>
          <a:xfrm>
            <a:off x="2159950" y="4550636"/>
            <a:ext cx="961402" cy="2499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Description</a:t>
            </a:r>
          </a:p>
        </p:txBody>
      </p:sp>
      <p:sp>
        <p:nvSpPr>
          <p:cNvPr id="425" name="description_quote_225"/>
          <p:cNvSpPr txBox="1"/>
          <p:nvPr/>
        </p:nvSpPr>
        <p:spPr>
          <a:xfrm>
            <a:off x="1993307" y="4845465"/>
            <a:ext cx="1044723" cy="66016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8" b="0" i="0">
                <a:solidFill>
                  <a:srgbClr val="517FB6"/>
                </a:solidFill>
                <a:latin typeface="Liberation Serif"/>
              </a:rPr>
              <a:t>"A young girl with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8" b="0" i="0">
                <a:solidFill>
                  <a:srgbClr val="517FB6"/>
                </a:solidFill>
                <a:latin typeface="Liberation Serif"/>
              </a:rPr>
              <a:t>long brown hair, …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8" b="0" i="0">
                <a:solidFill>
                  <a:srgbClr val="517FB6"/>
                </a:solidFill>
                <a:latin typeface="Liberation Serif"/>
              </a:rPr>
              <a:t>firefighting efforts."</a:t>
            </a:r>
          </a:p>
        </p:txBody>
      </p:sp>
      <p:sp>
        <p:nvSpPr>
          <p:cNvPr id="426" name="distortion_heading_227"/>
          <p:cNvSpPr txBox="1"/>
          <p:nvPr/>
        </p:nvSpPr>
        <p:spPr>
          <a:xfrm>
            <a:off x="1967669" y="5608178"/>
            <a:ext cx="1063951" cy="23073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Distortion</a:t>
            </a:r>
          </a:p>
        </p:txBody>
      </p:sp>
      <p:sp>
        <p:nvSpPr>
          <p:cNvPr id="427" name="noise_text_229"/>
          <p:cNvSpPr txBox="1"/>
          <p:nvPr/>
        </p:nvSpPr>
        <p:spPr>
          <a:xfrm>
            <a:off x="2025353" y="5858142"/>
            <a:ext cx="461473" cy="2050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8" b="0" i="0">
                <a:solidFill>
                  <a:srgbClr val="517FB6"/>
                </a:solidFill>
                <a:latin typeface="Liberation Serif"/>
              </a:rPr>
              <a:t>"Noise"</a:t>
            </a:r>
          </a:p>
        </p:txBody>
      </p:sp>
      <p:sp>
        <p:nvSpPr>
          <p:cNvPr id="428" name="lr2_text_231"/>
          <p:cNvSpPr txBox="1"/>
          <p:nvPr/>
        </p:nvSpPr>
        <p:spPr>
          <a:xfrm>
            <a:off x="2788065" y="5819686"/>
            <a:ext cx="711437" cy="2756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B30A63"/>
                </a:solidFill>
                <a:latin typeface="Liberation Serif"/>
              </a:rPr>
              <a:t>+ "LR"×2</a:t>
            </a:r>
          </a:p>
        </p:txBody>
      </p:sp>
      <p:sp>
        <p:nvSpPr>
          <p:cNvPr id="429" name="upscaling_setting_233"/>
          <p:cNvSpPr txBox="1"/>
          <p:nvPr/>
        </p:nvSpPr>
        <p:spPr>
          <a:xfrm>
            <a:off x="2018944" y="6140153"/>
            <a:ext cx="2115084" cy="30764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3" b="1" i="1">
                <a:solidFill>
                  <a:srgbClr val="B30A63"/>
                </a:solidFill>
                <a:latin typeface="Liberation Serif"/>
              </a:rPr>
              <a:t>Upscaling Setting for 4K</a:t>
            </a:r>
          </a:p>
        </p:txBody>
      </p:sp>
      <p:sp>
        <p:nvSpPr>
          <p:cNvPr id="430" name="experience_heading_235"/>
          <p:cNvSpPr txBox="1"/>
          <p:nvPr/>
        </p:nvSpPr>
        <p:spPr>
          <a:xfrm>
            <a:off x="4166075" y="4480133"/>
            <a:ext cx="961402" cy="24355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111111"/>
                </a:solidFill>
                <a:latin typeface="Liberation Serif"/>
              </a:rPr>
              <a:t>Experience</a:t>
            </a:r>
          </a:p>
        </p:txBody>
      </p:sp>
      <p:sp>
        <p:nvSpPr>
          <p:cNvPr id="431" name="agenda_heading_236"/>
          <p:cNvSpPr txBox="1"/>
          <p:nvPr/>
        </p:nvSpPr>
        <p:spPr>
          <a:xfrm>
            <a:off x="3236720" y="4967243"/>
            <a:ext cx="769121" cy="2243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11111"/>
                </a:solidFill>
                <a:latin typeface="Liberation Serif"/>
              </a:rPr>
              <a:t>Agenda</a:t>
            </a:r>
          </a:p>
        </p:txBody>
      </p:sp>
      <p:sp>
        <p:nvSpPr>
          <p:cNvPr id="432" name="agenda_text_237"/>
          <p:cNvSpPr txBox="1"/>
          <p:nvPr/>
        </p:nvSpPr>
        <p:spPr>
          <a:xfrm>
            <a:off x="3159807" y="5178751"/>
            <a:ext cx="961402" cy="19869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 i="0">
                <a:solidFill>
                  <a:srgbClr val="517FB6"/>
                </a:solidFill>
                <a:latin typeface="Liberation Serif"/>
              </a:rPr>
              <a:t>["DN", "SR", "SR"]</a:t>
            </a:r>
          </a:p>
        </p:txBody>
      </p:sp>
      <p:sp>
        <p:nvSpPr>
          <p:cNvPr id="433" name="agenda_bidirectional_up_239"/>
          <p:cNvSpPr txBox="1"/>
          <p:nvPr/>
        </p:nvSpPr>
        <p:spPr>
          <a:xfrm>
            <a:off x="3486684" y="5306938"/>
            <a:ext cx="166643" cy="1794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7" b="0" i="0">
                <a:solidFill>
                  <a:srgbClr val="517FB6"/>
                </a:solidFill>
                <a:latin typeface="Liberation Serif"/>
              </a:rPr>
              <a:t>▲</a:t>
            </a:r>
          </a:p>
        </p:txBody>
      </p:sp>
      <p:sp>
        <p:nvSpPr>
          <p:cNvPr id="434" name="agenda_bidirectional_down_240"/>
          <p:cNvSpPr txBox="1"/>
          <p:nvPr/>
        </p:nvSpPr>
        <p:spPr>
          <a:xfrm>
            <a:off x="3486684" y="5512037"/>
            <a:ext cx="166643" cy="1794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7" b="0" i="0">
                <a:solidFill>
                  <a:srgbClr val="517FB6"/>
                </a:solidFill>
                <a:latin typeface="Liberation Serif"/>
              </a:rPr>
              <a:t>▼</a:t>
            </a:r>
          </a:p>
        </p:txBody>
      </p:sp>
      <p:sp>
        <p:nvSpPr>
          <p:cNvPr id="435" name="distortions_text_241"/>
          <p:cNvSpPr txBox="1"/>
          <p:nvPr/>
        </p:nvSpPr>
        <p:spPr>
          <a:xfrm>
            <a:off x="3102123" y="5595359"/>
            <a:ext cx="1089589" cy="2243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 i="0">
                <a:solidFill>
                  <a:srgbClr val="517FB6"/>
                </a:solidFill>
                <a:latin typeface="Liberation Serif"/>
              </a:rPr>
              <a:t>["Noise", "LR", "LR"]</a:t>
            </a:r>
          </a:p>
        </p:txBody>
      </p:sp>
      <p:sp>
        <p:nvSpPr>
          <p:cNvPr id="436" name="distortions_heading_242"/>
          <p:cNvSpPr txBox="1"/>
          <p:nvPr/>
        </p:nvSpPr>
        <p:spPr>
          <a:xfrm>
            <a:off x="3114942" y="5742774"/>
            <a:ext cx="1089589" cy="2243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Distortions</a:t>
            </a:r>
          </a:p>
        </p:txBody>
      </p:sp>
      <p:sp>
        <p:nvSpPr>
          <p:cNvPr id="437" name="restoration_plan_heading_299"/>
          <p:cNvSpPr txBox="1"/>
          <p:nvPr/>
        </p:nvSpPr>
        <p:spPr>
          <a:xfrm>
            <a:off x="2089447" y="6614445"/>
            <a:ext cx="1858710" cy="26919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4" b="1" i="0">
                <a:solidFill>
                  <a:srgbClr val="111111"/>
                </a:solidFill>
                <a:latin typeface="Liberation Serif"/>
              </a:rPr>
              <a:t>Restoration Plan</a:t>
            </a:r>
          </a:p>
        </p:txBody>
      </p:sp>
      <p:sp>
        <p:nvSpPr>
          <p:cNvPr id="438" name="plan_sr1_300"/>
          <p:cNvSpPr txBox="1"/>
          <p:nvPr/>
        </p:nvSpPr>
        <p:spPr>
          <a:xfrm>
            <a:off x="217918" y="6864409"/>
            <a:ext cx="1410056" cy="2756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4F7735"/>
                </a:solidFill>
                <a:latin typeface="Liberation Serif"/>
              </a:rPr>
              <a:t>Super-Resolution</a:t>
            </a:r>
          </a:p>
        </p:txBody>
      </p:sp>
      <p:sp>
        <p:nvSpPr>
          <p:cNvPr id="439" name="plan_dn_302"/>
          <p:cNvSpPr txBox="1"/>
          <p:nvPr/>
        </p:nvSpPr>
        <p:spPr>
          <a:xfrm>
            <a:off x="2300955" y="6864409"/>
            <a:ext cx="929355" cy="2756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4F7735"/>
                </a:solidFill>
                <a:latin typeface="Liberation Serif"/>
              </a:rPr>
              <a:t>Denoising</a:t>
            </a:r>
          </a:p>
        </p:txBody>
      </p:sp>
      <p:sp>
        <p:nvSpPr>
          <p:cNvPr id="440" name="plan_sr2_304"/>
          <p:cNvSpPr txBox="1"/>
          <p:nvPr/>
        </p:nvSpPr>
        <p:spPr>
          <a:xfrm>
            <a:off x="3787923" y="6864409"/>
            <a:ext cx="1345963" cy="2756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4F7735"/>
                </a:solidFill>
                <a:latin typeface="Liberation Serif"/>
              </a:rPr>
              <a:t>Super-Resolution</a:t>
            </a:r>
          </a:p>
        </p:txBody>
      </p:sp>
      <p:sp>
        <p:nvSpPr>
          <p:cNvPr id="441" name="task_strip_title_0_321"/>
          <p:cNvSpPr txBox="1"/>
          <p:nvPr/>
        </p:nvSpPr>
        <p:spPr>
          <a:xfrm>
            <a:off x="6460621" y="3236720"/>
            <a:ext cx="1570290" cy="2243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4F7735"/>
                </a:solidFill>
                <a:latin typeface="Liberation Serif"/>
              </a:rPr>
              <a:t>Task 1</a:t>
            </a:r>
          </a:p>
        </p:txBody>
      </p:sp>
      <p:sp>
        <p:nvSpPr>
          <p:cNvPr id="442" name="task_strip_subtitle_0_322"/>
          <p:cNvSpPr txBox="1"/>
          <p:nvPr/>
        </p:nvSpPr>
        <p:spPr>
          <a:xfrm>
            <a:off x="6460621" y="3435409"/>
            <a:ext cx="1666430" cy="2243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4F7735"/>
                </a:solidFill>
                <a:latin typeface="Liberation Serif"/>
              </a:rPr>
              <a:t>Super-Resolution</a:t>
            </a:r>
          </a:p>
        </p:txBody>
      </p:sp>
      <p:sp>
        <p:nvSpPr>
          <p:cNvPr id="443" name="task_strip_title_1_336"/>
          <p:cNvSpPr txBox="1"/>
          <p:nvPr/>
        </p:nvSpPr>
        <p:spPr>
          <a:xfrm>
            <a:off x="8755166" y="3236720"/>
            <a:ext cx="1570290" cy="2243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4F7735"/>
                </a:solidFill>
                <a:latin typeface="Liberation Serif"/>
              </a:rPr>
              <a:t>Task 2</a:t>
            </a:r>
          </a:p>
        </p:txBody>
      </p:sp>
      <p:sp>
        <p:nvSpPr>
          <p:cNvPr id="444" name="task_strip_subtitle_1_337"/>
          <p:cNvSpPr txBox="1"/>
          <p:nvPr/>
        </p:nvSpPr>
        <p:spPr>
          <a:xfrm>
            <a:off x="8755166" y="3435409"/>
            <a:ext cx="1666430" cy="2243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4F7735"/>
                </a:solidFill>
                <a:latin typeface="Liberation Serif"/>
              </a:rPr>
              <a:t>Denoising</a:t>
            </a:r>
          </a:p>
        </p:txBody>
      </p:sp>
      <p:sp>
        <p:nvSpPr>
          <p:cNvPr id="445" name="task_strip_title_2_351"/>
          <p:cNvSpPr txBox="1"/>
          <p:nvPr/>
        </p:nvSpPr>
        <p:spPr>
          <a:xfrm>
            <a:off x="10549783" y="3236720"/>
            <a:ext cx="1570290" cy="2243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4F7735"/>
                </a:solidFill>
                <a:latin typeface="Liberation Serif"/>
              </a:rPr>
              <a:t>Task 3</a:t>
            </a:r>
          </a:p>
        </p:txBody>
      </p:sp>
      <p:sp>
        <p:nvSpPr>
          <p:cNvPr id="446" name="task_strip_subtitle_2_352"/>
          <p:cNvSpPr txBox="1"/>
          <p:nvPr/>
        </p:nvSpPr>
        <p:spPr>
          <a:xfrm>
            <a:off x="10549783" y="3435409"/>
            <a:ext cx="1666430" cy="2243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0">
                <a:solidFill>
                  <a:srgbClr val="4F7735"/>
                </a:solidFill>
                <a:latin typeface="Liberation Serif"/>
              </a:rPr>
              <a:t>Super-Resolution</a:t>
            </a:r>
          </a:p>
        </p:txBody>
      </p:sp>
      <p:sp>
        <p:nvSpPr>
          <p:cNvPr id="447" name="task1_sr_title_356"/>
          <p:cNvSpPr txBox="1"/>
          <p:nvPr/>
        </p:nvSpPr>
        <p:spPr>
          <a:xfrm>
            <a:off x="7306654" y="3704602"/>
            <a:ext cx="3332860" cy="24355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3" b="1" i="0">
                <a:solidFill>
                  <a:srgbClr val="4F7735"/>
                </a:solidFill>
                <a:latin typeface="Liberation Serif"/>
              </a:rPr>
              <a:t>Task 1  Super-Resolution</a:t>
            </a:r>
          </a:p>
        </p:txBody>
      </p:sp>
      <p:sp>
        <p:nvSpPr>
          <p:cNvPr id="448" name="execution_label_360"/>
          <p:cNvSpPr txBox="1"/>
          <p:nvPr/>
        </p:nvSpPr>
        <p:spPr>
          <a:xfrm>
            <a:off x="6076060" y="4140437"/>
            <a:ext cx="1025495" cy="25637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1" i="1">
                <a:solidFill>
                  <a:srgbClr val="276620"/>
                </a:solidFill>
                <a:latin typeface="Liberation Sans"/>
              </a:rPr>
              <a:t>Execution</a:t>
            </a:r>
          </a:p>
        </p:txBody>
      </p:sp>
      <p:sp>
        <p:nvSpPr>
          <p:cNvPr id="449" name="reflection_label_361"/>
          <p:cNvSpPr txBox="1"/>
          <p:nvPr/>
        </p:nvSpPr>
        <p:spPr>
          <a:xfrm>
            <a:off x="6076060" y="5800458"/>
            <a:ext cx="1089589" cy="27560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1" i="1">
                <a:solidFill>
                  <a:srgbClr val="276620"/>
                </a:solidFill>
                <a:latin typeface="Liberation Sans"/>
              </a:rPr>
              <a:t>Reflection</a:t>
            </a:r>
          </a:p>
        </p:txBody>
      </p:sp>
      <p:sp>
        <p:nvSpPr>
          <p:cNvPr id="450" name="qmoe_label_363"/>
          <p:cNvSpPr txBox="1"/>
          <p:nvPr/>
        </p:nvSpPr>
        <p:spPr>
          <a:xfrm>
            <a:off x="8274465" y="4166075"/>
            <a:ext cx="692209" cy="2499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1" i="1">
                <a:solidFill>
                  <a:srgbClr val="B30A63"/>
                </a:solidFill>
                <a:latin typeface="Liberation Serif"/>
              </a:rPr>
              <a:t>Q-MoE</a:t>
            </a:r>
          </a:p>
        </p:txBody>
      </p:sp>
      <p:sp>
        <p:nvSpPr>
          <p:cNvPr id="451" name="qmoe_ellipsis_379"/>
          <p:cNvSpPr txBox="1"/>
          <p:nvPr/>
        </p:nvSpPr>
        <p:spPr>
          <a:xfrm>
            <a:off x="7627121" y="4903150"/>
            <a:ext cx="384561" cy="2243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6" b="1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452" name="qmoe_description_385"/>
          <p:cNvSpPr txBox="1"/>
          <p:nvPr/>
        </p:nvSpPr>
        <p:spPr>
          <a:xfrm>
            <a:off x="8120641" y="5499219"/>
            <a:ext cx="961402" cy="26919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1" b="0" i="0">
                <a:solidFill>
                  <a:srgbClr val="111111"/>
                </a:solidFill>
                <a:latin typeface="Liberation Serif"/>
              </a:rPr>
              <a:t>Description</a:t>
            </a:r>
          </a:p>
        </p:txBody>
      </p:sp>
      <p:sp>
        <p:nvSpPr>
          <p:cNvPr id="453" name="score_select_text_388"/>
          <p:cNvSpPr txBox="1"/>
          <p:nvPr/>
        </p:nvSpPr>
        <p:spPr>
          <a:xfrm>
            <a:off x="7236151" y="5928645"/>
            <a:ext cx="1685658" cy="24355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1" i="1">
                <a:solidFill>
                  <a:srgbClr val="111111"/>
                </a:solidFill>
                <a:latin typeface="Liberation Serif"/>
              </a:rPr>
              <a:t>Score-base Select</a:t>
            </a:r>
          </a:p>
        </p:txBody>
      </p:sp>
      <p:sp>
        <p:nvSpPr>
          <p:cNvPr id="454" name="tool4_label_391"/>
          <p:cNvSpPr txBox="1"/>
          <p:nvPr/>
        </p:nvSpPr>
        <p:spPr>
          <a:xfrm>
            <a:off x="8075776" y="6909275"/>
            <a:ext cx="608888" cy="1922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9" b="0" i="0">
                <a:solidFill>
                  <a:srgbClr val="111111"/>
                </a:solidFill>
                <a:latin typeface="Liberation Serif"/>
              </a:rPr>
              <a:t>Tool 4</a:t>
            </a:r>
          </a:p>
        </p:txBody>
      </p:sp>
      <p:sp>
        <p:nvSpPr>
          <p:cNvPr id="455" name="smiley_393"/>
          <p:cNvSpPr txBox="1"/>
          <p:nvPr/>
        </p:nvSpPr>
        <p:spPr>
          <a:xfrm>
            <a:off x="7204105" y="6518305"/>
            <a:ext cx="243555" cy="24355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3" b="0" i="0">
                <a:solidFill>
                  <a:srgbClr val="E9B93F"/>
                </a:solidFill>
                <a:latin typeface="Liberation Serif"/>
              </a:rPr>
              <a:t>☺</a:t>
            </a:r>
          </a:p>
        </p:txBody>
      </p:sp>
      <p:sp>
        <p:nvSpPr>
          <p:cNvPr id="456" name="score_value_394"/>
          <p:cNvSpPr txBox="1"/>
          <p:nvPr/>
        </p:nvSpPr>
        <p:spPr>
          <a:xfrm>
            <a:off x="7434841" y="6665720"/>
            <a:ext cx="743484" cy="25637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3" b="0" i="0">
                <a:solidFill>
                  <a:srgbClr val="111111"/>
                </a:solidFill>
                <a:latin typeface="Liberation Serif"/>
              </a:rPr>
              <a:t>(0.927,</a:t>
            </a:r>
          </a:p>
        </p:txBody>
      </p:sp>
      <p:sp>
        <p:nvSpPr>
          <p:cNvPr id="457" name="high_quality_396"/>
          <p:cNvSpPr txBox="1"/>
          <p:nvPr/>
        </p:nvSpPr>
        <p:spPr>
          <a:xfrm>
            <a:off x="6076060" y="6229884"/>
            <a:ext cx="987039" cy="21791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8" b="1" i="0">
                <a:solidFill>
                  <a:srgbClr val="4F7735"/>
                </a:solidFill>
                <a:latin typeface="Liberation Serif"/>
              </a:rPr>
              <a:t>High quality ?</a:t>
            </a:r>
          </a:p>
        </p:txBody>
      </p:sp>
      <p:sp>
        <p:nvSpPr>
          <p:cNvPr id="458" name="no_text_397"/>
          <p:cNvSpPr txBox="1"/>
          <p:nvPr/>
        </p:nvSpPr>
        <p:spPr>
          <a:xfrm>
            <a:off x="6524714" y="6434983"/>
            <a:ext cx="217918" cy="16023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7" b="0" i="0">
                <a:solidFill>
                  <a:srgbClr val="777777"/>
                </a:solidFill>
                <a:latin typeface="Liberation Serif"/>
              </a:rPr>
              <a:t>No</a:t>
            </a:r>
          </a:p>
        </p:txBody>
      </p:sp>
      <p:sp>
        <p:nvSpPr>
          <p:cNvPr id="459" name="rollback_expanded_text_400"/>
          <p:cNvSpPr txBox="1"/>
          <p:nvPr/>
        </p:nvSpPr>
        <p:spPr>
          <a:xfrm>
            <a:off x="6044013" y="6691357"/>
            <a:ext cx="884490" cy="28201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2" b="0" i="0">
                <a:solidFill>
                  <a:srgbClr val="777777"/>
                </a:solidFill>
                <a:latin typeface="Liberation Serif"/>
              </a:rPr>
              <a:t>Rollback</a:t>
            </a:r>
          </a:p>
        </p:txBody>
      </p:sp>
      <p:sp>
        <p:nvSpPr>
          <p:cNvPr id="460" name="face_crop_label_401"/>
          <p:cNvSpPr txBox="1"/>
          <p:nvPr/>
        </p:nvSpPr>
        <p:spPr>
          <a:xfrm>
            <a:off x="9344826" y="4069935"/>
            <a:ext cx="1076770" cy="2499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11111"/>
                </a:solidFill>
                <a:latin typeface="Liberation Serif"/>
              </a:rPr>
              <a:t>Face Crop</a:t>
            </a:r>
          </a:p>
        </p:txBody>
      </p:sp>
      <p:sp>
        <p:nvSpPr>
          <p:cNvPr id="461" name="face_restoration_label_403"/>
          <p:cNvSpPr txBox="1"/>
          <p:nvPr/>
        </p:nvSpPr>
        <p:spPr>
          <a:xfrm>
            <a:off x="10940753" y="4159665"/>
            <a:ext cx="1115226" cy="24355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1">
                <a:solidFill>
                  <a:srgbClr val="B30A63"/>
                </a:solidFill>
                <a:latin typeface="Liberation Serif"/>
              </a:rPr>
              <a:t>Face Restoration</a:t>
            </a:r>
          </a:p>
        </p:txBody>
      </p:sp>
      <p:sp>
        <p:nvSpPr>
          <p:cNvPr id="462" name="face_ellipsis_419"/>
          <p:cNvSpPr txBox="1"/>
          <p:nvPr/>
        </p:nvSpPr>
        <p:spPr>
          <a:xfrm>
            <a:off x="10915116" y="4909559"/>
            <a:ext cx="320467" cy="22432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6" b="1" i="0">
                <a:solidFill>
                  <a:srgbClr val="111111"/>
                </a:solidFill>
                <a:latin typeface="Liberation Serif"/>
              </a:rPr>
              <a:t>…</a:t>
            </a:r>
          </a:p>
        </p:txBody>
      </p:sp>
      <p:sp>
        <p:nvSpPr>
          <p:cNvPr id="463" name="face_score_select_text_424"/>
          <p:cNvSpPr txBox="1"/>
          <p:nvPr/>
        </p:nvSpPr>
        <p:spPr>
          <a:xfrm>
            <a:off x="9537107" y="5499219"/>
            <a:ext cx="2294546" cy="25637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1" b="1" i="1">
                <a:solidFill>
                  <a:srgbClr val="111111"/>
                </a:solidFill>
                <a:latin typeface="Liberation Serif"/>
              </a:rPr>
              <a:t>Score-based Select for face</a:t>
            </a:r>
          </a:p>
        </p:txBody>
      </p:sp>
      <p:sp>
        <p:nvSpPr>
          <p:cNvPr id="464" name="face_qmoe_label_425"/>
          <p:cNvSpPr txBox="1"/>
          <p:nvPr/>
        </p:nvSpPr>
        <p:spPr>
          <a:xfrm>
            <a:off x="9402510" y="5781230"/>
            <a:ext cx="1140864" cy="25637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1" i="1">
                <a:solidFill>
                  <a:srgbClr val="B30A63"/>
                </a:solidFill>
                <a:latin typeface="Liberation Serif"/>
              </a:rPr>
              <a:t>Face Q-MoE</a:t>
            </a:r>
          </a:p>
        </p:txBody>
      </p:sp>
      <p:sp>
        <p:nvSpPr>
          <p:cNvPr id="465" name="best_face_text_428"/>
          <p:cNvSpPr txBox="1"/>
          <p:nvPr/>
        </p:nvSpPr>
        <p:spPr>
          <a:xfrm>
            <a:off x="10947163" y="6101697"/>
            <a:ext cx="1089589" cy="39097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11111"/>
                </a:solidFill>
                <a:latin typeface="Liberation Serif"/>
              </a:rPr>
              <a:t>Best Face from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111111"/>
                </a:solidFill>
                <a:latin typeface="Liberation Serif"/>
              </a:rPr>
              <a:t>Tool 1</a:t>
            </a:r>
          </a:p>
        </p:txBody>
      </p:sp>
      <p:sp>
        <p:nvSpPr>
          <p:cNvPr id="466" name="paste_text_430"/>
          <p:cNvSpPr txBox="1"/>
          <p:nvPr/>
        </p:nvSpPr>
        <p:spPr>
          <a:xfrm>
            <a:off x="9517879" y="6082469"/>
            <a:ext cx="615297" cy="320467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13" b="0" i="0">
                <a:solidFill>
                  <a:srgbClr val="111111"/>
                </a:solidFill>
                <a:latin typeface="Liberation Serif"/>
              </a:rPr>
              <a:t>Paste</a:t>
            </a:r>
          </a:p>
        </p:txBody>
      </p:sp>
      <p:sp>
        <p:nvSpPr>
          <p:cNvPr id="467" name="output_label_434"/>
          <p:cNvSpPr txBox="1"/>
          <p:nvPr/>
        </p:nvSpPr>
        <p:spPr>
          <a:xfrm>
            <a:off x="11011256" y="6511895"/>
            <a:ext cx="910127" cy="269193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4" b="0" i="0">
                <a:solidFill>
                  <a:srgbClr val="111111"/>
                </a:solidFill>
                <a:latin typeface="Liberation Serif"/>
              </a:rPr>
              <a:t>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4KAgent Agentic Any Image to 4K Super-Resolu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44399" cy="73130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