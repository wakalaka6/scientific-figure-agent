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03825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panel"/>
          <p:cNvSpPr/>
          <p:nvPr/>
        </p:nvSpPr>
        <p:spPr>
          <a:xfrm>
            <a:off x="61536" y="330760"/>
            <a:ext cx="14522710" cy="3446066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_a_title_shadow"/>
          <p:cNvSpPr/>
          <p:nvPr/>
        </p:nvSpPr>
        <p:spPr>
          <a:xfrm>
            <a:off x="3915285" y="161534"/>
            <a:ext cx="6630601" cy="338452"/>
          </a:xfrm>
          <a:prstGeom prst="roundRect">
            <a:avLst/>
          </a:prstGeom>
          <a:solidFill>
            <a:srgbClr val="AAB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_a_title_tab"/>
          <p:cNvSpPr/>
          <p:nvPr/>
        </p:nvSpPr>
        <p:spPr>
          <a:xfrm>
            <a:off x="3884517" y="123073"/>
            <a:ext cx="6630601" cy="338452"/>
          </a:xfrm>
          <a:prstGeom prst="roundRect">
            <a:avLst/>
          </a:prstGeom>
          <a:solidFill>
            <a:srgbClr val="C1D4F5"/>
          </a:solidFill>
          <a:ln w="18161">
            <a:solidFill>
              <a:srgbClr val="0B1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_a_title_highlight"/>
          <p:cNvSpPr/>
          <p:nvPr/>
        </p:nvSpPr>
        <p:spPr>
          <a:xfrm>
            <a:off x="3961438" y="169226"/>
            <a:ext cx="6476759" cy="69229"/>
          </a:xfrm>
          <a:prstGeom prst="roundRect">
            <a:avLst/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el_a_title_text"/>
          <p:cNvSpPr txBox="1"/>
          <p:nvPr/>
        </p:nvSpPr>
        <p:spPr>
          <a:xfrm>
            <a:off x="3922977" y="138458"/>
            <a:ext cx="6553680" cy="3230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(a) Infrared Degradation Processing</a:t>
            </a:r>
          </a:p>
        </p:txBody>
      </p:sp>
      <p:sp>
        <p:nvSpPr>
          <p:cNvPr id="7" name="prompt_panel"/>
          <p:cNvSpPr/>
          <p:nvPr/>
        </p:nvSpPr>
        <p:spPr>
          <a:xfrm>
            <a:off x="61536" y="4184509"/>
            <a:ext cx="3961438" cy="3276840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_b_title_shadow"/>
          <p:cNvSpPr/>
          <p:nvPr/>
        </p:nvSpPr>
        <p:spPr>
          <a:xfrm>
            <a:off x="407682" y="3992206"/>
            <a:ext cx="3499911" cy="346145"/>
          </a:xfrm>
          <a:prstGeom prst="roundRect">
            <a:avLst/>
          </a:prstGeom>
          <a:solidFill>
            <a:srgbClr val="AAB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_b_title_tab"/>
          <p:cNvSpPr/>
          <p:nvPr/>
        </p:nvSpPr>
        <p:spPr>
          <a:xfrm>
            <a:off x="376913" y="3953746"/>
            <a:ext cx="3499911" cy="346145"/>
          </a:xfrm>
          <a:prstGeom prst="roundRect">
            <a:avLst/>
          </a:prstGeom>
          <a:solidFill>
            <a:srgbClr val="C1D4F5"/>
          </a:solidFill>
          <a:ln w="18161">
            <a:solidFill>
              <a:srgbClr val="0B1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b_title_highlight"/>
          <p:cNvSpPr/>
          <p:nvPr/>
        </p:nvSpPr>
        <p:spPr>
          <a:xfrm>
            <a:off x="453834" y="3999899"/>
            <a:ext cx="3346069" cy="69229"/>
          </a:xfrm>
          <a:prstGeom prst="roundRect">
            <a:avLst/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nel_b_title_text"/>
          <p:cNvSpPr txBox="1"/>
          <p:nvPr/>
        </p:nvSpPr>
        <p:spPr>
          <a:xfrm>
            <a:off x="415374" y="3969130"/>
            <a:ext cx="3422990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(b) Dual Prompt Processing</a:t>
            </a:r>
          </a:p>
        </p:txBody>
      </p:sp>
      <p:sp>
        <p:nvSpPr>
          <p:cNvPr id="12" name="network_panel"/>
          <p:cNvSpPr/>
          <p:nvPr/>
        </p:nvSpPr>
        <p:spPr>
          <a:xfrm>
            <a:off x="4269123" y="4184509"/>
            <a:ext cx="7876724" cy="3276840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nel_c_title_shadow"/>
          <p:cNvSpPr/>
          <p:nvPr/>
        </p:nvSpPr>
        <p:spPr>
          <a:xfrm>
            <a:off x="4669112" y="3992206"/>
            <a:ext cx="7138281" cy="346145"/>
          </a:xfrm>
          <a:prstGeom prst="roundRect">
            <a:avLst/>
          </a:prstGeom>
          <a:solidFill>
            <a:srgbClr val="AAB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c_title_tab"/>
          <p:cNvSpPr/>
          <p:nvPr/>
        </p:nvSpPr>
        <p:spPr>
          <a:xfrm>
            <a:off x="4638344" y="3953746"/>
            <a:ext cx="7138281" cy="346145"/>
          </a:xfrm>
          <a:prstGeom prst="roundRect">
            <a:avLst/>
          </a:prstGeom>
          <a:solidFill>
            <a:srgbClr val="C1D4F5"/>
          </a:solidFill>
          <a:ln w="18161">
            <a:solidFill>
              <a:srgbClr val="0B1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_c_title_highlight"/>
          <p:cNvSpPr/>
          <p:nvPr/>
        </p:nvSpPr>
        <p:spPr>
          <a:xfrm>
            <a:off x="4715265" y="3999899"/>
            <a:ext cx="6984439" cy="69229"/>
          </a:xfrm>
          <a:prstGeom prst="roundRect">
            <a:avLst/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c_title_text"/>
          <p:cNvSpPr txBox="1"/>
          <p:nvPr/>
        </p:nvSpPr>
        <p:spPr>
          <a:xfrm>
            <a:off x="4676805" y="3969130"/>
            <a:ext cx="7061360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(c) IR Multi-Degradation Restoration Network</a:t>
            </a:r>
          </a:p>
        </p:txBody>
      </p:sp>
      <p:sp>
        <p:nvSpPr>
          <p:cNvPr id="17" name="spt_panel"/>
          <p:cNvSpPr/>
          <p:nvPr/>
        </p:nvSpPr>
        <p:spPr>
          <a:xfrm>
            <a:off x="12207384" y="4184509"/>
            <a:ext cx="2376863" cy="3276840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d_title_shadow"/>
          <p:cNvSpPr/>
          <p:nvPr/>
        </p:nvSpPr>
        <p:spPr>
          <a:xfrm>
            <a:off x="12391994" y="3992206"/>
            <a:ext cx="2076870" cy="346145"/>
          </a:xfrm>
          <a:prstGeom prst="roundRect">
            <a:avLst/>
          </a:prstGeom>
          <a:solidFill>
            <a:srgbClr val="AAB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nel_d_title_tab"/>
          <p:cNvSpPr/>
          <p:nvPr/>
        </p:nvSpPr>
        <p:spPr>
          <a:xfrm>
            <a:off x="12361226" y="3953746"/>
            <a:ext cx="2076870" cy="346145"/>
          </a:xfrm>
          <a:prstGeom prst="roundRect">
            <a:avLst/>
          </a:prstGeom>
          <a:solidFill>
            <a:srgbClr val="C1D4F5"/>
          </a:solidFill>
          <a:ln w="18161">
            <a:solidFill>
              <a:srgbClr val="0B1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nel_d_title_highlight"/>
          <p:cNvSpPr/>
          <p:nvPr/>
        </p:nvSpPr>
        <p:spPr>
          <a:xfrm>
            <a:off x="12438147" y="3999899"/>
            <a:ext cx="1923028" cy="69229"/>
          </a:xfrm>
          <a:prstGeom prst="roundRect">
            <a:avLst/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nel_d_title_text"/>
          <p:cNvSpPr txBox="1"/>
          <p:nvPr/>
        </p:nvSpPr>
        <p:spPr>
          <a:xfrm>
            <a:off x="12399687" y="3969130"/>
            <a:ext cx="1999949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(d) SPT</a:t>
            </a:r>
          </a:p>
        </p:txBody>
      </p:sp>
      <p:sp>
        <p:nvSpPr>
          <p:cNvPr id="22" name="legend_panel"/>
          <p:cNvSpPr/>
          <p:nvPr/>
        </p:nvSpPr>
        <p:spPr>
          <a:xfrm>
            <a:off x="61536" y="7615192"/>
            <a:ext cx="14522710" cy="423066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ntrast_header_shadow"/>
          <p:cNvSpPr/>
          <p:nvPr/>
        </p:nvSpPr>
        <p:spPr>
          <a:xfrm>
            <a:off x="1938412" y="684598"/>
            <a:ext cx="1769186" cy="361529"/>
          </a:xfrm>
          <a:prstGeom prst="chevron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ntrast_header_arrow"/>
          <p:cNvSpPr/>
          <p:nvPr/>
        </p:nvSpPr>
        <p:spPr>
          <a:xfrm>
            <a:off x="1899952" y="646137"/>
            <a:ext cx="1769186" cy="361529"/>
          </a:xfrm>
          <a:prstGeom prst="chevron">
            <a:avLst/>
          </a:prstGeom>
          <a:solidFill>
            <a:srgbClr val="DEEBF4"/>
          </a:solidFill>
          <a:ln w="8255">
            <a:solidFill>
              <a:srgbClr val="C7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ntrast_header_label"/>
          <p:cNvSpPr txBox="1"/>
          <p:nvPr/>
        </p:nvSpPr>
        <p:spPr>
          <a:xfrm>
            <a:off x="2038410" y="638445"/>
            <a:ext cx="1461501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24" b="1" i="1">
                <a:solidFill>
                  <a:srgbClr val="000000"/>
                </a:solidFill>
                <a:latin typeface="Liberation Serif"/>
              </a:rPr>
              <a:t>Low Contrast</a:t>
            </a:r>
          </a:p>
        </p:txBody>
      </p:sp>
      <p:sp>
        <p:nvSpPr>
          <p:cNvPr id="26" name="noise_header_shadow"/>
          <p:cNvSpPr/>
          <p:nvPr/>
        </p:nvSpPr>
        <p:spPr>
          <a:xfrm>
            <a:off x="9199767" y="684598"/>
            <a:ext cx="1807646" cy="361529"/>
          </a:xfrm>
          <a:prstGeom prst="chevron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oise_header_arrow"/>
          <p:cNvSpPr/>
          <p:nvPr/>
        </p:nvSpPr>
        <p:spPr>
          <a:xfrm>
            <a:off x="9161307" y="646137"/>
            <a:ext cx="1807646" cy="361529"/>
          </a:xfrm>
          <a:prstGeom prst="chevron">
            <a:avLst/>
          </a:prstGeom>
          <a:solidFill>
            <a:srgbClr val="FFE39B"/>
          </a:solidFill>
          <a:ln w="8255">
            <a:solidFill>
              <a:srgbClr val="C7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oise_header_label"/>
          <p:cNvSpPr txBox="1"/>
          <p:nvPr/>
        </p:nvSpPr>
        <p:spPr>
          <a:xfrm>
            <a:off x="9299765" y="638445"/>
            <a:ext cx="1499962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24" b="1" i="1">
                <a:solidFill>
                  <a:srgbClr val="000000"/>
                </a:solidFill>
                <a:latin typeface="Liberation Serif"/>
              </a:rPr>
              <a:t>Noise</a:t>
            </a:r>
          </a:p>
        </p:txBody>
      </p:sp>
      <p:sp>
        <p:nvSpPr>
          <p:cNvPr id="29" name="blur_header_shadow"/>
          <p:cNvSpPr/>
          <p:nvPr/>
        </p:nvSpPr>
        <p:spPr>
          <a:xfrm>
            <a:off x="1876875" y="2330710"/>
            <a:ext cx="1838415" cy="361529"/>
          </a:xfrm>
          <a:prstGeom prst="chevron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lur_header_arrow"/>
          <p:cNvSpPr/>
          <p:nvPr/>
        </p:nvSpPr>
        <p:spPr>
          <a:xfrm>
            <a:off x="1838415" y="2292249"/>
            <a:ext cx="1838415" cy="361529"/>
          </a:xfrm>
          <a:prstGeom prst="chevron">
            <a:avLst/>
          </a:prstGeom>
          <a:solidFill>
            <a:srgbClr val="F7D1BA"/>
          </a:solidFill>
          <a:ln w="8255">
            <a:solidFill>
              <a:srgbClr val="C7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lur_header_label"/>
          <p:cNvSpPr txBox="1"/>
          <p:nvPr/>
        </p:nvSpPr>
        <p:spPr>
          <a:xfrm>
            <a:off x="1976873" y="2284557"/>
            <a:ext cx="1530730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24" b="1" i="1">
                <a:solidFill>
                  <a:srgbClr val="000000"/>
                </a:solidFill>
                <a:latin typeface="Liberation Serif"/>
              </a:rPr>
              <a:t>Blur</a:t>
            </a:r>
          </a:p>
        </p:txBody>
      </p:sp>
      <p:sp>
        <p:nvSpPr>
          <p:cNvPr id="32" name="mixture_back_arrow"/>
          <p:cNvSpPr/>
          <p:nvPr/>
        </p:nvSpPr>
        <p:spPr>
          <a:xfrm>
            <a:off x="9153615" y="2346094"/>
            <a:ext cx="1792262" cy="361529"/>
          </a:xfrm>
          <a:prstGeom prst="chevron">
            <a:avLst/>
          </a:prstGeom>
          <a:solidFill>
            <a:srgbClr val="DEEBF4"/>
          </a:solidFill>
          <a:ln w="8255">
            <a:solidFill>
              <a:srgbClr val="C7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ixture_header_shadow"/>
          <p:cNvSpPr/>
          <p:nvPr/>
        </p:nvSpPr>
        <p:spPr>
          <a:xfrm>
            <a:off x="9207459" y="2453784"/>
            <a:ext cx="1807646" cy="292300"/>
          </a:xfrm>
          <a:prstGeom prst="chevron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xture_header_arrow"/>
          <p:cNvSpPr/>
          <p:nvPr/>
        </p:nvSpPr>
        <p:spPr>
          <a:xfrm>
            <a:off x="9168999" y="2415323"/>
            <a:ext cx="1807646" cy="292300"/>
          </a:xfrm>
          <a:prstGeom prst="chevron">
            <a:avLst/>
          </a:prstGeom>
          <a:solidFill>
            <a:srgbClr val="FFD997"/>
          </a:solidFill>
          <a:ln w="8255">
            <a:solidFill>
              <a:srgbClr val="C7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ixture_header_label"/>
          <p:cNvSpPr txBox="1"/>
          <p:nvPr/>
        </p:nvSpPr>
        <p:spPr>
          <a:xfrm>
            <a:off x="9307457" y="2407631"/>
            <a:ext cx="1499962" cy="292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24" b="1" i="1">
                <a:solidFill>
                  <a:srgbClr val="000000"/>
                </a:solidFill>
                <a:latin typeface="Liberation Serif"/>
              </a:rPr>
              <a:t>Mixture</a:t>
            </a:r>
          </a:p>
        </p:txBody>
      </p:sp>
      <p:pic>
        <p:nvPicPr>
          <p:cNvPr id="36" name="contrast_stack" descr="contras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02" y="646137"/>
            <a:ext cx="1653804" cy="1376888"/>
          </a:xfrm>
          <a:prstGeom prst="rect">
            <a:avLst/>
          </a:prstGeom>
          <a:effectLst/>
        </p:spPr>
      </p:pic>
      <p:sp>
        <p:nvSpPr>
          <p:cNvPr id="37" name="contrast_stack_frame"/>
          <p:cNvSpPr/>
          <p:nvPr/>
        </p:nvSpPr>
        <p:spPr>
          <a:xfrm>
            <a:off x="192302" y="646137"/>
            <a:ext cx="1653804" cy="1376888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contrast_result" descr="contras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982" y="561524"/>
            <a:ext cx="3376837" cy="1492270"/>
          </a:xfrm>
          <a:prstGeom prst="rect">
            <a:avLst/>
          </a:prstGeom>
          <a:effectLst/>
        </p:spPr>
      </p:pic>
      <p:sp>
        <p:nvSpPr>
          <p:cNvPr id="39" name="contrast_result_frame"/>
          <p:cNvSpPr/>
          <p:nvPr/>
        </p:nvSpPr>
        <p:spPr>
          <a:xfrm>
            <a:off x="3722982" y="561524"/>
            <a:ext cx="3376837" cy="1492270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oise_stack" descr="noise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970" y="669213"/>
            <a:ext cx="1669188" cy="1392272"/>
          </a:xfrm>
          <a:prstGeom prst="rect">
            <a:avLst/>
          </a:prstGeom>
          <a:effectLst/>
        </p:spPr>
      </p:pic>
      <p:sp>
        <p:nvSpPr>
          <p:cNvPr id="41" name="noise_stack_frame"/>
          <p:cNvSpPr/>
          <p:nvPr/>
        </p:nvSpPr>
        <p:spPr>
          <a:xfrm>
            <a:off x="7245970" y="669213"/>
            <a:ext cx="1669188" cy="1392272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noise_result" descr="noise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1259" y="538447"/>
            <a:ext cx="3453758" cy="1523038"/>
          </a:xfrm>
          <a:prstGeom prst="rect">
            <a:avLst/>
          </a:prstGeom>
          <a:effectLst/>
        </p:spPr>
      </p:pic>
      <p:sp>
        <p:nvSpPr>
          <p:cNvPr id="43" name="noise_result_frame"/>
          <p:cNvSpPr/>
          <p:nvPr/>
        </p:nvSpPr>
        <p:spPr>
          <a:xfrm>
            <a:off x="11061259" y="538447"/>
            <a:ext cx="3453758" cy="1523038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blur_stack" descr="blur_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302" y="2261481"/>
            <a:ext cx="1653804" cy="1384580"/>
          </a:xfrm>
          <a:prstGeom prst="rect">
            <a:avLst/>
          </a:prstGeom>
          <a:effectLst/>
        </p:spPr>
      </p:pic>
      <p:sp>
        <p:nvSpPr>
          <p:cNvPr id="45" name="blur_stack_frame"/>
          <p:cNvSpPr/>
          <p:nvPr/>
        </p:nvSpPr>
        <p:spPr>
          <a:xfrm>
            <a:off x="192302" y="2261481"/>
            <a:ext cx="1653804" cy="1384580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blur_result" descr="blur_res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2982" y="2161483"/>
            <a:ext cx="3376837" cy="1499962"/>
          </a:xfrm>
          <a:prstGeom prst="rect">
            <a:avLst/>
          </a:prstGeom>
          <a:effectLst/>
        </p:spPr>
      </p:pic>
      <p:sp>
        <p:nvSpPr>
          <p:cNvPr id="47" name="blur_result_frame"/>
          <p:cNvSpPr/>
          <p:nvPr/>
        </p:nvSpPr>
        <p:spPr>
          <a:xfrm>
            <a:off x="3722982" y="2161483"/>
            <a:ext cx="3376837" cy="1499962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ixture_stack" descr="mixture_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5970" y="2261481"/>
            <a:ext cx="1669188" cy="1361504"/>
          </a:xfrm>
          <a:prstGeom prst="rect">
            <a:avLst/>
          </a:prstGeom>
          <a:effectLst/>
        </p:spPr>
      </p:pic>
      <p:sp>
        <p:nvSpPr>
          <p:cNvPr id="49" name="mixture_stack_frame"/>
          <p:cNvSpPr/>
          <p:nvPr/>
        </p:nvSpPr>
        <p:spPr>
          <a:xfrm>
            <a:off x="7245970" y="2261481"/>
            <a:ext cx="1669188" cy="1361504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mixture_result" descr="mixture_resu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1259" y="2138407"/>
            <a:ext cx="3461451" cy="1507654"/>
          </a:xfrm>
          <a:prstGeom prst="rect">
            <a:avLst/>
          </a:prstGeom>
          <a:effectLst/>
        </p:spPr>
      </p:pic>
      <p:sp>
        <p:nvSpPr>
          <p:cNvPr id="51" name="mixture_result_frame"/>
          <p:cNvSpPr/>
          <p:nvPr/>
        </p:nvSpPr>
        <p:spPr>
          <a:xfrm>
            <a:off x="11061259" y="2138407"/>
            <a:ext cx="3461451" cy="1507654"/>
          </a:xfrm>
          <a:prstGeom prst="rect">
            <a:avLst/>
          </a:prstGeom>
          <a:noFill/>
          <a:ln w="825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ontrast_operator_box"/>
          <p:cNvSpPr/>
          <p:nvPr/>
        </p:nvSpPr>
        <p:spPr>
          <a:xfrm>
            <a:off x="1876875" y="1084588"/>
            <a:ext cx="1769186" cy="799979"/>
          </a:xfrm>
          <a:prstGeom prst="roundRect">
            <a:avLst/>
          </a:prstGeom>
          <a:solidFill>
            <a:srgbClr val="EAF4FB"/>
          </a:solidFill>
          <a:ln w="825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contrast_plot" descr="contrast_pl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4565" y="1207661"/>
            <a:ext cx="1546114" cy="484603"/>
          </a:xfrm>
          <a:prstGeom prst="rect">
            <a:avLst/>
          </a:prstGeom>
          <a:effectLst/>
        </p:spPr>
      </p:pic>
      <p:sp>
        <p:nvSpPr>
          <p:cNvPr id="54" name="contrast_operator_text"/>
          <p:cNvSpPr txBox="1"/>
          <p:nvPr/>
        </p:nvSpPr>
        <p:spPr>
          <a:xfrm>
            <a:off x="1923028" y="1692264"/>
            <a:ext cx="1676880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1">
                <a:solidFill>
                  <a:srgbClr val="000000"/>
                </a:solidFill>
                <a:latin typeface="Liberation Serif"/>
              </a:rPr>
              <a:t>Contrast Degradation</a:t>
            </a:r>
          </a:p>
        </p:txBody>
      </p:sp>
      <p:sp>
        <p:nvSpPr>
          <p:cNvPr id="55" name="noise_operator_box"/>
          <p:cNvSpPr/>
          <p:nvPr/>
        </p:nvSpPr>
        <p:spPr>
          <a:xfrm>
            <a:off x="8953620" y="1115356"/>
            <a:ext cx="2061486" cy="830748"/>
          </a:xfrm>
          <a:prstGeom prst="roundRect">
            <a:avLst/>
          </a:prstGeom>
          <a:solidFill>
            <a:srgbClr val="FFF8DE"/>
          </a:solidFill>
          <a:ln w="12382">
            <a:solidFill>
              <a:srgbClr val="EED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noise_plot" descr="noise_pl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2849" y="1176893"/>
            <a:ext cx="1923028" cy="530755"/>
          </a:xfrm>
          <a:prstGeom prst="rect">
            <a:avLst/>
          </a:prstGeom>
          <a:effectLst/>
        </p:spPr>
      </p:pic>
      <p:sp>
        <p:nvSpPr>
          <p:cNvPr id="57" name="noise_label_0"/>
          <p:cNvSpPr txBox="1"/>
          <p:nvPr/>
        </p:nvSpPr>
        <p:spPr>
          <a:xfrm>
            <a:off x="8969004" y="1707649"/>
            <a:ext cx="676905" cy="2076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1">
                <a:solidFill>
                  <a:srgbClr val="000000"/>
                </a:solidFill>
                <a:latin typeface="Liberation Serif"/>
              </a:rPr>
              <a:t>Gaussian</a:t>
            </a:r>
          </a:p>
        </p:txBody>
      </p:sp>
      <p:sp>
        <p:nvSpPr>
          <p:cNvPr id="58" name="noise_label_1"/>
          <p:cNvSpPr txBox="1"/>
          <p:nvPr/>
        </p:nvSpPr>
        <p:spPr>
          <a:xfrm>
            <a:off x="9645910" y="1707649"/>
            <a:ext cx="676905" cy="2076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1">
                <a:solidFill>
                  <a:srgbClr val="000000"/>
                </a:solidFill>
                <a:latin typeface="Liberation Serif"/>
              </a:rPr>
              <a:t>Standard</a:t>
            </a:r>
          </a:p>
        </p:txBody>
      </p:sp>
      <p:sp>
        <p:nvSpPr>
          <p:cNvPr id="59" name="noise_label_2"/>
          <p:cNvSpPr txBox="1"/>
          <p:nvPr/>
        </p:nvSpPr>
        <p:spPr>
          <a:xfrm>
            <a:off x="10322816" y="1707649"/>
            <a:ext cx="676905" cy="2076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1">
                <a:solidFill>
                  <a:srgbClr val="000000"/>
                </a:solidFill>
                <a:latin typeface="Liberation Serif"/>
              </a:rPr>
              <a:t>Random</a:t>
            </a:r>
          </a:p>
        </p:txBody>
      </p:sp>
      <p:sp>
        <p:nvSpPr>
          <p:cNvPr id="60" name="blur_operator_box"/>
          <p:cNvSpPr/>
          <p:nvPr/>
        </p:nvSpPr>
        <p:spPr>
          <a:xfrm>
            <a:off x="1876875" y="2699931"/>
            <a:ext cx="1769186" cy="807671"/>
          </a:xfrm>
          <a:prstGeom prst="roundRect">
            <a:avLst/>
          </a:prstGeom>
          <a:solidFill>
            <a:srgbClr val="FCEEE5"/>
          </a:solidFill>
          <a:ln w="12382">
            <a:solidFill>
              <a:srgbClr val="E7D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blur_plot" descr="blur_pl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46104" y="2761468"/>
            <a:ext cx="1630728" cy="446142"/>
          </a:xfrm>
          <a:prstGeom prst="rect">
            <a:avLst/>
          </a:prstGeom>
          <a:effectLst/>
        </p:spPr>
      </p:pic>
      <p:sp>
        <p:nvSpPr>
          <p:cNvPr id="62" name="blur_operator_text"/>
          <p:cNvSpPr txBox="1"/>
          <p:nvPr/>
        </p:nvSpPr>
        <p:spPr>
          <a:xfrm>
            <a:off x="1923028" y="3246071"/>
            <a:ext cx="1676880" cy="21537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1">
                <a:solidFill>
                  <a:srgbClr val="000000"/>
                </a:solidFill>
                <a:latin typeface="Liberation Serif"/>
              </a:rPr>
              <a:t>Gaussian Blur</a:t>
            </a:r>
          </a:p>
        </p:txBody>
      </p:sp>
      <p:sp>
        <p:nvSpPr>
          <p:cNvPr id="63" name="mixture_operator_box"/>
          <p:cNvSpPr/>
          <p:nvPr/>
        </p:nvSpPr>
        <p:spPr>
          <a:xfrm>
            <a:off x="8953620" y="2730700"/>
            <a:ext cx="2061486" cy="776903"/>
          </a:xfrm>
          <a:prstGeom prst="roundRect">
            <a:avLst/>
          </a:prstGeom>
          <a:solidFill>
            <a:srgbClr val="F6F8FA"/>
          </a:solidFill>
          <a:ln w="12382">
            <a:solidFill>
              <a:srgbClr val="D3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mixture_plot" descr="mixture_pl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2849" y="2776852"/>
            <a:ext cx="1923028" cy="461526"/>
          </a:xfrm>
          <a:prstGeom prst="rect">
            <a:avLst/>
          </a:prstGeom>
          <a:effectLst/>
        </p:spPr>
      </p:pic>
      <p:sp>
        <p:nvSpPr>
          <p:cNvPr id="65" name="mixture_operator_text"/>
          <p:cNvSpPr txBox="1"/>
          <p:nvPr/>
        </p:nvSpPr>
        <p:spPr>
          <a:xfrm>
            <a:off x="8984388" y="3238379"/>
            <a:ext cx="1999949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1">
                <a:solidFill>
                  <a:srgbClr val="000000"/>
                </a:solidFill>
                <a:latin typeface="Liberation Serif"/>
              </a:rPr>
              <a:t>Sequential Blending</a:t>
            </a:r>
          </a:p>
        </p:txBody>
      </p:sp>
      <p:sp>
        <p:nvSpPr>
          <p:cNvPr id="66" name="prompt_vertical_label"/>
          <p:cNvSpPr txBox="1"/>
          <p:nvPr/>
        </p:nvSpPr>
        <p:spPr>
          <a:xfrm rot="16200000">
            <a:off x="107689" y="4807570"/>
            <a:ext cx="446142" cy="19999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Type/Degradation-specific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00000"/>
                </a:solidFill>
                <a:latin typeface="Liberation Serif"/>
              </a:rPr>
              <a:t>Prompts</a:t>
            </a:r>
          </a:p>
        </p:txBody>
      </p:sp>
      <p:sp>
        <p:nvSpPr>
          <p:cNvPr id="67" name="descriptor_label"/>
          <p:cNvSpPr txBox="1"/>
          <p:nvPr/>
        </p:nvSpPr>
        <p:spPr>
          <a:xfrm>
            <a:off x="1546114" y="4430657"/>
            <a:ext cx="1892259" cy="16922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Degradation Descriptor</a:t>
            </a:r>
          </a:p>
        </p:txBody>
      </p:sp>
      <p:sp>
        <p:nvSpPr>
          <p:cNvPr id="68" name="type_badge_group"/>
          <p:cNvSpPr/>
          <p:nvPr/>
        </p:nvSpPr>
        <p:spPr>
          <a:xfrm>
            <a:off x="676905" y="4607576"/>
            <a:ext cx="507679" cy="899977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ingle_badge_box"/>
          <p:cNvSpPr/>
          <p:nvPr/>
        </p:nvSpPr>
        <p:spPr>
          <a:xfrm>
            <a:off x="753827" y="4692189"/>
            <a:ext cx="361529" cy="361529"/>
          </a:xfrm>
          <a:prstGeom prst="roundRect">
            <a:avLst/>
          </a:prstGeom>
          <a:solidFill>
            <a:srgbClr val="E8B6B6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ingle_badge_letter"/>
          <p:cNvSpPr txBox="1"/>
          <p:nvPr/>
        </p:nvSpPr>
        <p:spPr>
          <a:xfrm>
            <a:off x="753827" y="4684497"/>
            <a:ext cx="361529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0" i="0">
                <a:solidFill>
                  <a:srgbClr val="FFFFFF"/>
                </a:solidFill>
                <a:latin typeface="Liberation Serif"/>
              </a:rPr>
              <a:t>S</a:t>
            </a:r>
          </a:p>
        </p:txBody>
      </p:sp>
      <p:sp>
        <p:nvSpPr>
          <p:cNvPr id="71" name="hybrid_badge_box"/>
          <p:cNvSpPr/>
          <p:nvPr/>
        </p:nvSpPr>
        <p:spPr>
          <a:xfrm>
            <a:off x="753827" y="5076794"/>
            <a:ext cx="361529" cy="361529"/>
          </a:xfrm>
          <a:prstGeom prst="roundRect">
            <a:avLst/>
          </a:prstGeom>
          <a:solidFill>
            <a:srgbClr val="E8C79D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ybrid_badge_letter"/>
          <p:cNvSpPr txBox="1"/>
          <p:nvPr/>
        </p:nvSpPr>
        <p:spPr>
          <a:xfrm>
            <a:off x="753827" y="5069102"/>
            <a:ext cx="361529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0" i="0">
                <a:solidFill>
                  <a:srgbClr val="FFFFFF"/>
                </a:solidFill>
                <a:latin typeface="Liberation Serif"/>
              </a:rPr>
              <a:t>H</a:t>
            </a:r>
          </a:p>
        </p:txBody>
      </p:sp>
      <p:sp>
        <p:nvSpPr>
          <p:cNvPr id="73" name="degradation_badge_group"/>
          <p:cNvSpPr/>
          <p:nvPr/>
        </p:nvSpPr>
        <p:spPr>
          <a:xfrm>
            <a:off x="676905" y="5961388"/>
            <a:ext cx="507679" cy="1161509"/>
          </a:xfrm>
          <a:prstGeom prst="roundRect">
            <a:avLst/>
          </a:prstGeom>
          <a:solidFill>
            <a:srgbClr val="FFFFFF"/>
          </a:solidFill>
          <a:ln w="24765">
            <a:solidFill>
              <a:srgbClr val="162C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oise_badge_box"/>
          <p:cNvSpPr/>
          <p:nvPr/>
        </p:nvSpPr>
        <p:spPr>
          <a:xfrm>
            <a:off x="753827" y="6061385"/>
            <a:ext cx="361529" cy="361529"/>
          </a:xfrm>
          <a:prstGeom prst="roundRect">
            <a:avLst/>
          </a:prstGeom>
          <a:solidFill>
            <a:srgbClr val="C9D0A5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oise_badge_letter"/>
          <p:cNvSpPr txBox="1"/>
          <p:nvPr/>
        </p:nvSpPr>
        <p:spPr>
          <a:xfrm>
            <a:off x="753827" y="6053693"/>
            <a:ext cx="361529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76" name="blur_badge_box"/>
          <p:cNvSpPr/>
          <p:nvPr/>
        </p:nvSpPr>
        <p:spPr>
          <a:xfrm>
            <a:off x="753827" y="6438299"/>
            <a:ext cx="361529" cy="361529"/>
          </a:xfrm>
          <a:prstGeom prst="roundRect">
            <a:avLst/>
          </a:prstGeom>
          <a:solidFill>
            <a:srgbClr val="7FC5C1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lur_badge_letter"/>
          <p:cNvSpPr txBox="1"/>
          <p:nvPr/>
        </p:nvSpPr>
        <p:spPr>
          <a:xfrm>
            <a:off x="753827" y="6430606"/>
            <a:ext cx="361529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78" name="contrast_badge_box"/>
          <p:cNvSpPr/>
          <p:nvPr/>
        </p:nvSpPr>
        <p:spPr>
          <a:xfrm>
            <a:off x="753827" y="6815212"/>
            <a:ext cx="361529" cy="361529"/>
          </a:xfrm>
          <a:prstGeom prst="roundRect">
            <a:avLst/>
          </a:prstGeom>
          <a:solidFill>
            <a:srgbClr val="90A6BD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ontrast_badge_letter"/>
          <p:cNvSpPr txBox="1"/>
          <p:nvPr/>
        </p:nvSpPr>
        <p:spPr>
          <a:xfrm>
            <a:off x="753827" y="6807520"/>
            <a:ext cx="361529" cy="3615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80" name="upper_descriptor_outer"/>
          <p:cNvSpPr/>
          <p:nvPr/>
        </p:nvSpPr>
        <p:spPr>
          <a:xfrm>
            <a:off x="1661496" y="4607576"/>
            <a:ext cx="1692264" cy="1038435"/>
          </a:xfrm>
          <a:prstGeom prst="roundRect">
            <a:avLst/>
          </a:prstGeom>
          <a:solidFill>
            <a:srgbClr val="FFFAF5"/>
          </a:solidFill>
          <a:ln w="16510">
            <a:solidFill>
              <a:srgbClr val="EF9B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upper_descriptor_core"/>
          <p:cNvSpPr/>
          <p:nvPr/>
        </p:nvSpPr>
        <p:spPr>
          <a:xfrm>
            <a:off x="1292275" y="4922952"/>
            <a:ext cx="1784570" cy="823056"/>
          </a:xfrm>
          <a:prstGeom prst="roundRect">
            <a:avLst/>
          </a:prstGeom>
          <a:solidFill>
            <a:srgbClr val="FAECE1"/>
          </a:solidFill>
          <a:ln w="16510">
            <a:solidFill>
              <a:srgbClr val="EF9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upper_top_bit_0"/>
          <p:cNvSpPr/>
          <p:nvPr/>
        </p:nvSpPr>
        <p:spPr>
          <a:xfrm>
            <a:off x="1753801" y="4684497"/>
            <a:ext cx="238455" cy="230763"/>
          </a:xfrm>
          <a:prstGeom prst="roundRect">
            <a:avLst/>
          </a:prstGeom>
          <a:solidFill>
            <a:srgbClr val="E7E6F0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upper_top_num_0"/>
          <p:cNvSpPr txBox="1"/>
          <p:nvPr/>
        </p:nvSpPr>
        <p:spPr>
          <a:xfrm>
            <a:off x="1753801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84" name="upper_top_stem_0_0"/>
          <p:cNvCxnSpPr/>
          <p:nvPr/>
        </p:nvCxnSpPr>
        <p:spPr>
          <a:xfrm>
            <a:off x="1873029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upper_top_dot_0"/>
          <p:cNvSpPr/>
          <p:nvPr/>
        </p:nvSpPr>
        <p:spPr>
          <a:xfrm>
            <a:off x="1826876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upper_top_bit_1"/>
          <p:cNvSpPr/>
          <p:nvPr/>
        </p:nvSpPr>
        <p:spPr>
          <a:xfrm>
            <a:off x="2015333" y="4684497"/>
            <a:ext cx="238455" cy="230763"/>
          </a:xfrm>
          <a:prstGeom prst="roundRect">
            <a:avLst/>
          </a:prstGeom>
          <a:solidFill>
            <a:srgbClr val="D8E6EE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upper_top_num_1"/>
          <p:cNvSpPr txBox="1"/>
          <p:nvPr/>
        </p:nvSpPr>
        <p:spPr>
          <a:xfrm>
            <a:off x="2015333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88" name="upper_top_stem_1_0"/>
          <p:cNvCxnSpPr/>
          <p:nvPr/>
        </p:nvCxnSpPr>
        <p:spPr>
          <a:xfrm>
            <a:off x="2134561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upper_top_dot_1"/>
          <p:cNvSpPr/>
          <p:nvPr/>
        </p:nvSpPr>
        <p:spPr>
          <a:xfrm>
            <a:off x="2088408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upper_top_bit_2"/>
          <p:cNvSpPr/>
          <p:nvPr/>
        </p:nvSpPr>
        <p:spPr>
          <a:xfrm>
            <a:off x="2276865" y="4684497"/>
            <a:ext cx="238455" cy="230763"/>
          </a:xfrm>
          <a:prstGeom prst="roundRect">
            <a:avLst/>
          </a:prstGeom>
          <a:solidFill>
            <a:srgbClr val="CCE5DF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upper_top_num_2"/>
          <p:cNvSpPr txBox="1"/>
          <p:nvPr/>
        </p:nvSpPr>
        <p:spPr>
          <a:xfrm>
            <a:off x="2276865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92" name="upper_top_stem_2_0"/>
          <p:cNvCxnSpPr/>
          <p:nvPr/>
        </p:nvCxnSpPr>
        <p:spPr>
          <a:xfrm>
            <a:off x="2396093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upper_top_dot_2"/>
          <p:cNvSpPr/>
          <p:nvPr/>
        </p:nvSpPr>
        <p:spPr>
          <a:xfrm>
            <a:off x="2349940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upper_top_bit_3"/>
          <p:cNvSpPr/>
          <p:nvPr/>
        </p:nvSpPr>
        <p:spPr>
          <a:xfrm>
            <a:off x="2538397" y="4684497"/>
            <a:ext cx="238455" cy="230763"/>
          </a:xfrm>
          <a:prstGeom prst="roundRect">
            <a:avLst/>
          </a:prstGeom>
          <a:solidFill>
            <a:srgbClr val="D9DFB3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upper_top_num_3"/>
          <p:cNvSpPr txBox="1"/>
          <p:nvPr/>
        </p:nvSpPr>
        <p:spPr>
          <a:xfrm>
            <a:off x="2538397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96" name="upper_top_stem_3_0"/>
          <p:cNvCxnSpPr/>
          <p:nvPr/>
        </p:nvCxnSpPr>
        <p:spPr>
          <a:xfrm>
            <a:off x="2657625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upper_top_dot_3"/>
          <p:cNvSpPr/>
          <p:nvPr/>
        </p:nvSpPr>
        <p:spPr>
          <a:xfrm>
            <a:off x="2611472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upper_top_bit_4"/>
          <p:cNvSpPr/>
          <p:nvPr/>
        </p:nvSpPr>
        <p:spPr>
          <a:xfrm>
            <a:off x="2799929" y="4684497"/>
            <a:ext cx="238455" cy="230763"/>
          </a:xfrm>
          <a:prstGeom prst="roundRect">
            <a:avLst/>
          </a:prstGeom>
          <a:solidFill>
            <a:srgbClr val="F0D7BF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upper_top_num_4"/>
          <p:cNvSpPr txBox="1"/>
          <p:nvPr/>
        </p:nvSpPr>
        <p:spPr>
          <a:xfrm>
            <a:off x="2799929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00" name="upper_top_stem_4_0"/>
          <p:cNvCxnSpPr/>
          <p:nvPr/>
        </p:nvCxnSpPr>
        <p:spPr>
          <a:xfrm>
            <a:off x="2919157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upper_top_dot_4"/>
          <p:cNvSpPr/>
          <p:nvPr/>
        </p:nvSpPr>
        <p:spPr>
          <a:xfrm>
            <a:off x="2873004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upper_top_bit_5"/>
          <p:cNvSpPr/>
          <p:nvPr/>
        </p:nvSpPr>
        <p:spPr>
          <a:xfrm>
            <a:off x="3061461" y="4684497"/>
            <a:ext cx="238455" cy="230763"/>
          </a:xfrm>
          <a:prstGeom prst="roundRect">
            <a:avLst/>
          </a:prstGeom>
          <a:solidFill>
            <a:srgbClr val="EFC7C7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upper_top_num_5"/>
          <p:cNvSpPr txBox="1"/>
          <p:nvPr/>
        </p:nvSpPr>
        <p:spPr>
          <a:xfrm>
            <a:off x="3061461" y="4676805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cxnSp>
        <p:nvCxnSpPr>
          <p:cNvPr id="104" name="upper_top_stem_5_0"/>
          <p:cNvCxnSpPr/>
          <p:nvPr/>
        </p:nvCxnSpPr>
        <p:spPr>
          <a:xfrm>
            <a:off x="3180688" y="4915260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upper_top_dot_5"/>
          <p:cNvSpPr/>
          <p:nvPr/>
        </p:nvSpPr>
        <p:spPr>
          <a:xfrm>
            <a:off x="3134536" y="5115255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upper_bottom_bit_0"/>
          <p:cNvSpPr/>
          <p:nvPr/>
        </p:nvSpPr>
        <p:spPr>
          <a:xfrm>
            <a:off x="1369196" y="5030642"/>
            <a:ext cx="238455" cy="230763"/>
          </a:xfrm>
          <a:prstGeom prst="roundRect">
            <a:avLst/>
          </a:prstGeom>
          <a:solidFill>
            <a:srgbClr val="E7E6F0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upper_bottom_num_0"/>
          <p:cNvSpPr txBox="1"/>
          <p:nvPr/>
        </p:nvSpPr>
        <p:spPr>
          <a:xfrm>
            <a:off x="1369196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08" name="upper_bottom_stem_0_0"/>
          <p:cNvCxnSpPr/>
          <p:nvPr/>
        </p:nvCxnSpPr>
        <p:spPr>
          <a:xfrm>
            <a:off x="1488423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upper_bottom_dot_0"/>
          <p:cNvSpPr/>
          <p:nvPr/>
        </p:nvSpPr>
        <p:spPr>
          <a:xfrm>
            <a:off x="1442271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upper_bottom_bit_1"/>
          <p:cNvSpPr/>
          <p:nvPr/>
        </p:nvSpPr>
        <p:spPr>
          <a:xfrm>
            <a:off x="1630728" y="5030642"/>
            <a:ext cx="238455" cy="230763"/>
          </a:xfrm>
          <a:prstGeom prst="roundRect">
            <a:avLst/>
          </a:prstGeom>
          <a:solidFill>
            <a:srgbClr val="D8E6EE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upper_bottom_num_1"/>
          <p:cNvSpPr txBox="1"/>
          <p:nvPr/>
        </p:nvSpPr>
        <p:spPr>
          <a:xfrm>
            <a:off x="1630728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12" name="upper_bottom_stem_1_0"/>
          <p:cNvCxnSpPr/>
          <p:nvPr/>
        </p:nvCxnSpPr>
        <p:spPr>
          <a:xfrm>
            <a:off x="1749955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upper_bottom_dot_1"/>
          <p:cNvSpPr/>
          <p:nvPr/>
        </p:nvSpPr>
        <p:spPr>
          <a:xfrm>
            <a:off x="1703803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upper_bottom_bit_2"/>
          <p:cNvSpPr/>
          <p:nvPr/>
        </p:nvSpPr>
        <p:spPr>
          <a:xfrm>
            <a:off x="1892259" y="5030642"/>
            <a:ext cx="238455" cy="230763"/>
          </a:xfrm>
          <a:prstGeom prst="roundRect">
            <a:avLst/>
          </a:prstGeom>
          <a:solidFill>
            <a:srgbClr val="CCE5DF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upper_bottom_num_2"/>
          <p:cNvSpPr txBox="1"/>
          <p:nvPr/>
        </p:nvSpPr>
        <p:spPr>
          <a:xfrm>
            <a:off x="1892259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16" name="upper_bottom_stem_2_0"/>
          <p:cNvCxnSpPr/>
          <p:nvPr/>
        </p:nvCxnSpPr>
        <p:spPr>
          <a:xfrm>
            <a:off x="2011487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upper_bottom_dot_2"/>
          <p:cNvSpPr/>
          <p:nvPr/>
        </p:nvSpPr>
        <p:spPr>
          <a:xfrm>
            <a:off x="1965335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upper_bottom_bit_3"/>
          <p:cNvSpPr/>
          <p:nvPr/>
        </p:nvSpPr>
        <p:spPr>
          <a:xfrm>
            <a:off x="2153791" y="5030642"/>
            <a:ext cx="238455" cy="230763"/>
          </a:xfrm>
          <a:prstGeom prst="roundRect">
            <a:avLst/>
          </a:prstGeom>
          <a:solidFill>
            <a:srgbClr val="D9DFB3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upper_bottom_num_3"/>
          <p:cNvSpPr txBox="1"/>
          <p:nvPr/>
        </p:nvSpPr>
        <p:spPr>
          <a:xfrm>
            <a:off x="2153791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20" name="upper_bottom_stem_3_0"/>
          <p:cNvCxnSpPr/>
          <p:nvPr/>
        </p:nvCxnSpPr>
        <p:spPr>
          <a:xfrm>
            <a:off x="2273019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upper_bottom_dot_3"/>
          <p:cNvSpPr/>
          <p:nvPr/>
        </p:nvSpPr>
        <p:spPr>
          <a:xfrm>
            <a:off x="2226866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pper_bottom_bit_4"/>
          <p:cNvSpPr/>
          <p:nvPr/>
        </p:nvSpPr>
        <p:spPr>
          <a:xfrm>
            <a:off x="2415323" y="5030642"/>
            <a:ext cx="238455" cy="230763"/>
          </a:xfrm>
          <a:prstGeom prst="roundRect">
            <a:avLst/>
          </a:prstGeom>
          <a:solidFill>
            <a:srgbClr val="F0D7BF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upper_bottom_num_4"/>
          <p:cNvSpPr txBox="1"/>
          <p:nvPr/>
        </p:nvSpPr>
        <p:spPr>
          <a:xfrm>
            <a:off x="2415323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cxnSp>
        <p:nvCxnSpPr>
          <p:cNvPr id="124" name="upper_bottom_stem_4_0"/>
          <p:cNvCxnSpPr/>
          <p:nvPr/>
        </p:nvCxnSpPr>
        <p:spPr>
          <a:xfrm>
            <a:off x="2534551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upper_bottom_dot_4"/>
          <p:cNvSpPr/>
          <p:nvPr/>
        </p:nvSpPr>
        <p:spPr>
          <a:xfrm>
            <a:off x="2488398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upper_bottom_bit_5"/>
          <p:cNvSpPr/>
          <p:nvPr/>
        </p:nvSpPr>
        <p:spPr>
          <a:xfrm>
            <a:off x="2676855" y="5030642"/>
            <a:ext cx="238455" cy="230763"/>
          </a:xfrm>
          <a:prstGeom prst="roundRect">
            <a:avLst/>
          </a:prstGeom>
          <a:solidFill>
            <a:srgbClr val="EFC7C7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upper_bottom_num_5"/>
          <p:cNvSpPr txBox="1"/>
          <p:nvPr/>
        </p:nvSpPr>
        <p:spPr>
          <a:xfrm>
            <a:off x="2676855" y="5022950"/>
            <a:ext cx="238455" cy="23076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28" name="upper_bottom_stem_5_0"/>
          <p:cNvCxnSpPr/>
          <p:nvPr/>
        </p:nvCxnSpPr>
        <p:spPr>
          <a:xfrm>
            <a:off x="2796083" y="5261405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upper_bottom_dot_5"/>
          <p:cNvSpPr/>
          <p:nvPr/>
        </p:nvSpPr>
        <p:spPr>
          <a:xfrm>
            <a:off x="2749930" y="5461400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upper_join_0"/>
          <p:cNvCxnSpPr/>
          <p:nvPr/>
        </p:nvCxnSpPr>
        <p:spPr>
          <a:xfrm>
            <a:off x="1269198" y="5053718"/>
            <a:ext cx="0" cy="430758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upper_join_1"/>
          <p:cNvCxnSpPr/>
          <p:nvPr/>
        </p:nvCxnSpPr>
        <p:spPr>
          <a:xfrm>
            <a:off x="1269198" y="5484476"/>
            <a:ext cx="769212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upper_join_2"/>
          <p:cNvCxnSpPr/>
          <p:nvPr/>
        </p:nvCxnSpPr>
        <p:spPr>
          <a:xfrm>
            <a:off x="2038410" y="5484476"/>
            <a:ext cx="0" cy="246148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upper_join_dot"/>
          <p:cNvSpPr/>
          <p:nvPr/>
        </p:nvSpPr>
        <p:spPr>
          <a:xfrm>
            <a:off x="1984565" y="5684471"/>
            <a:ext cx="107689" cy="107689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upper_to_tp_0"/>
          <p:cNvCxnSpPr/>
          <p:nvPr/>
        </p:nvCxnSpPr>
        <p:spPr>
          <a:xfrm>
            <a:off x="3076845" y="5492169"/>
            <a:ext cx="353837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upper_to_tp_1"/>
          <p:cNvCxnSpPr/>
          <p:nvPr/>
        </p:nvCxnSpPr>
        <p:spPr>
          <a:xfrm flipV="1">
            <a:off x="3430682" y="5238329"/>
            <a:ext cx="0" cy="25384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upper_to_tp_2"/>
          <p:cNvCxnSpPr/>
          <p:nvPr/>
        </p:nvCxnSpPr>
        <p:spPr>
          <a:xfrm>
            <a:off x="3430682" y="5238329"/>
            <a:ext cx="130766" cy="0"/>
          </a:xfrm>
          <a:prstGeom prst="line">
            <a:avLst/>
          </a:prstGeom>
          <a:ln w="2476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p_box"/>
          <p:cNvSpPr/>
          <p:nvPr/>
        </p:nvSpPr>
        <p:spPr>
          <a:xfrm>
            <a:off x="3561448" y="4607576"/>
            <a:ext cx="307684" cy="116150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2C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p_prompt_0"/>
          <p:cNvSpPr/>
          <p:nvPr/>
        </p:nvSpPr>
        <p:spPr>
          <a:xfrm>
            <a:off x="3630677" y="4715265"/>
            <a:ext cx="176919" cy="169227"/>
          </a:xfrm>
          <a:custGeom>
            <a:avLst/>
            <a:gdLst/>
            <a:ahLst/>
            <a:cxnLst/>
            <a:rect l="l" t="t" r="r" b="b"/>
            <a:pathLst>
              <a:path w="176919" h="169227">
                <a:moveTo>
                  <a:pt x="0" y="76921"/>
                </a:moveTo>
                <a:lnTo>
                  <a:pt x="38461" y="0"/>
                </a:lnTo>
                <a:lnTo>
                  <a:pt x="130766" y="0"/>
                </a:lnTo>
                <a:lnTo>
                  <a:pt x="176919" y="76921"/>
                </a:lnTo>
                <a:lnTo>
                  <a:pt x="138458" y="169227"/>
                </a:lnTo>
                <a:lnTo>
                  <a:pt x="38461" y="169227"/>
                </a:lnTo>
                <a:close/>
              </a:path>
            </a:pathLst>
          </a:custGeom>
          <a:solidFill>
            <a:srgbClr val="BCD2EF"/>
          </a:solidFill>
          <a:ln w="8255">
            <a:solidFill>
              <a:srgbClr val="A4B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p_prompt_1"/>
          <p:cNvSpPr/>
          <p:nvPr/>
        </p:nvSpPr>
        <p:spPr>
          <a:xfrm>
            <a:off x="3630677" y="4976797"/>
            <a:ext cx="176919" cy="169226"/>
          </a:xfrm>
          <a:custGeom>
            <a:avLst/>
            <a:gdLst/>
            <a:ahLst/>
            <a:cxnLst/>
            <a:rect l="l" t="t" r="r" b="b"/>
            <a:pathLst>
              <a:path w="176919" h="169226">
                <a:moveTo>
                  <a:pt x="0" y="76921"/>
                </a:moveTo>
                <a:lnTo>
                  <a:pt x="38461" y="0"/>
                </a:lnTo>
                <a:lnTo>
                  <a:pt x="130766" y="0"/>
                </a:lnTo>
                <a:lnTo>
                  <a:pt x="176919" y="76921"/>
                </a:lnTo>
                <a:lnTo>
                  <a:pt x="138458" y="169226"/>
                </a:lnTo>
                <a:lnTo>
                  <a:pt x="38461" y="169226"/>
                </a:lnTo>
                <a:close/>
              </a:path>
            </a:pathLst>
          </a:custGeom>
          <a:solidFill>
            <a:srgbClr val="F7C7CF"/>
          </a:solidFill>
          <a:ln w="8255">
            <a:solidFill>
              <a:srgbClr val="A4B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p_prompt_2"/>
          <p:cNvSpPr/>
          <p:nvPr/>
        </p:nvSpPr>
        <p:spPr>
          <a:xfrm>
            <a:off x="3630677" y="5238329"/>
            <a:ext cx="176919" cy="169226"/>
          </a:xfrm>
          <a:custGeom>
            <a:avLst/>
            <a:gdLst/>
            <a:ahLst/>
            <a:cxnLst/>
            <a:rect l="l" t="t" r="r" b="b"/>
            <a:pathLst>
              <a:path w="176919" h="169226">
                <a:moveTo>
                  <a:pt x="0" y="76921"/>
                </a:moveTo>
                <a:lnTo>
                  <a:pt x="38461" y="0"/>
                </a:lnTo>
                <a:lnTo>
                  <a:pt x="130766" y="0"/>
                </a:lnTo>
                <a:lnTo>
                  <a:pt x="176919" y="76921"/>
                </a:lnTo>
                <a:lnTo>
                  <a:pt x="138458" y="169226"/>
                </a:lnTo>
                <a:lnTo>
                  <a:pt x="38461" y="169226"/>
                </a:lnTo>
                <a:close/>
              </a:path>
            </a:pathLst>
          </a:custGeom>
          <a:solidFill>
            <a:srgbClr val="B9DDA4"/>
          </a:solidFill>
          <a:ln w="8255">
            <a:solidFill>
              <a:srgbClr val="A4B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p_prompt_3"/>
          <p:cNvSpPr/>
          <p:nvPr/>
        </p:nvSpPr>
        <p:spPr>
          <a:xfrm>
            <a:off x="3630677" y="5499861"/>
            <a:ext cx="176919" cy="169226"/>
          </a:xfrm>
          <a:custGeom>
            <a:avLst/>
            <a:gdLst/>
            <a:ahLst/>
            <a:cxnLst/>
            <a:rect l="l" t="t" r="r" b="b"/>
            <a:pathLst>
              <a:path w="176919" h="169226">
                <a:moveTo>
                  <a:pt x="0" y="76921"/>
                </a:moveTo>
                <a:lnTo>
                  <a:pt x="38461" y="0"/>
                </a:lnTo>
                <a:lnTo>
                  <a:pt x="130766" y="0"/>
                </a:lnTo>
                <a:lnTo>
                  <a:pt x="176919" y="76921"/>
                </a:lnTo>
                <a:lnTo>
                  <a:pt x="138458" y="169226"/>
                </a:lnTo>
                <a:lnTo>
                  <a:pt x="38461" y="169226"/>
                </a:lnTo>
                <a:close/>
              </a:path>
            </a:pathLst>
          </a:custGeom>
          <a:solidFill>
            <a:srgbClr val="FFCC80"/>
          </a:solidFill>
          <a:ln w="8255">
            <a:solidFill>
              <a:srgbClr val="A4B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p_label"/>
          <p:cNvSpPr txBox="1"/>
          <p:nvPr/>
        </p:nvSpPr>
        <p:spPr>
          <a:xfrm>
            <a:off x="3507603" y="4407581"/>
            <a:ext cx="415374" cy="21537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48" b="1" i="0">
                <a:solidFill>
                  <a:srgbClr val="355995"/>
                </a:solidFill>
                <a:latin typeface="Liberation Serif"/>
              </a:rPr>
              <a:t>TP</a:t>
            </a:r>
          </a:p>
        </p:txBody>
      </p:sp>
      <p:sp>
        <p:nvSpPr>
          <p:cNvPr id="143" name="lower_descriptor_outer"/>
          <p:cNvSpPr/>
          <p:nvPr/>
        </p:nvSpPr>
        <p:spPr>
          <a:xfrm>
            <a:off x="1615343" y="5907543"/>
            <a:ext cx="1646112" cy="1146124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BAD1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lower_descriptor_core"/>
          <p:cNvSpPr/>
          <p:nvPr/>
        </p:nvSpPr>
        <p:spPr>
          <a:xfrm>
            <a:off x="1292275" y="6161382"/>
            <a:ext cx="1784570" cy="1053819"/>
          </a:xfrm>
          <a:prstGeom prst="roundRect">
            <a:avLst/>
          </a:prstGeom>
          <a:solidFill>
            <a:srgbClr val="CFE2F1"/>
          </a:solidFill>
          <a:ln w="16510">
            <a:solidFill>
              <a:srgbClr val="4AA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lower_blank_0"/>
          <p:cNvSpPr/>
          <p:nvPr/>
        </p:nvSpPr>
        <p:spPr>
          <a:xfrm>
            <a:off x="1684572" y="5961388"/>
            <a:ext cx="246147" cy="230763"/>
          </a:xfrm>
          <a:prstGeom prst="roundRect">
            <a:avLst/>
          </a:prstGeom>
          <a:solidFill>
            <a:srgbClr val="CBD4E6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lower_blank_1"/>
          <p:cNvSpPr/>
          <p:nvPr/>
        </p:nvSpPr>
        <p:spPr>
          <a:xfrm>
            <a:off x="1969181" y="5961388"/>
            <a:ext cx="246147" cy="230763"/>
          </a:xfrm>
          <a:prstGeom prst="roundRect">
            <a:avLst/>
          </a:prstGeom>
          <a:solidFill>
            <a:srgbClr val="C5D8E9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lower_blank_2"/>
          <p:cNvSpPr/>
          <p:nvPr/>
        </p:nvSpPr>
        <p:spPr>
          <a:xfrm>
            <a:off x="2253789" y="5961388"/>
            <a:ext cx="246147" cy="230763"/>
          </a:xfrm>
          <a:prstGeom prst="roundRect">
            <a:avLst/>
          </a:prstGeom>
          <a:solidFill>
            <a:srgbClr val="CFE4E6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lower_blank_3"/>
          <p:cNvSpPr/>
          <p:nvPr/>
        </p:nvSpPr>
        <p:spPr>
          <a:xfrm>
            <a:off x="2538397" y="5961388"/>
            <a:ext cx="246147" cy="230763"/>
          </a:xfrm>
          <a:prstGeom prst="roundRect">
            <a:avLst/>
          </a:prstGeom>
          <a:solidFill>
            <a:srgbClr val="D7E1D1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lower_blank_4"/>
          <p:cNvSpPr/>
          <p:nvPr/>
        </p:nvSpPr>
        <p:spPr>
          <a:xfrm>
            <a:off x="2823005" y="5961388"/>
            <a:ext cx="246147" cy="230763"/>
          </a:xfrm>
          <a:prstGeom prst="roundRect">
            <a:avLst/>
          </a:prstGeom>
          <a:solidFill>
            <a:srgbClr val="E7E5E4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lower_blank_5"/>
          <p:cNvSpPr/>
          <p:nvPr/>
        </p:nvSpPr>
        <p:spPr>
          <a:xfrm>
            <a:off x="3107613" y="5961388"/>
            <a:ext cx="246147" cy="230763"/>
          </a:xfrm>
          <a:prstGeom prst="roundRect">
            <a:avLst/>
          </a:prstGeom>
          <a:solidFill>
            <a:srgbClr val="E6D7E4"/>
          </a:solidFill>
          <a:ln w="12382">
            <a:solidFill>
              <a:srgbClr val="647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lower_mid_bit_0"/>
          <p:cNvSpPr/>
          <p:nvPr/>
        </p:nvSpPr>
        <p:spPr>
          <a:xfrm>
            <a:off x="1523038" y="6253688"/>
            <a:ext cx="238455" cy="223071"/>
          </a:xfrm>
          <a:prstGeom prst="roundRect">
            <a:avLst/>
          </a:prstGeom>
          <a:solidFill>
            <a:srgbClr val="CBD4E6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lower_mid_num_0"/>
          <p:cNvSpPr txBox="1"/>
          <p:nvPr/>
        </p:nvSpPr>
        <p:spPr>
          <a:xfrm>
            <a:off x="1523038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53" name="lower_mid_stem_0_0"/>
          <p:cNvCxnSpPr/>
          <p:nvPr/>
        </p:nvCxnSpPr>
        <p:spPr>
          <a:xfrm>
            <a:off x="1642266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lower_mid_dot_0"/>
          <p:cNvSpPr/>
          <p:nvPr/>
        </p:nvSpPr>
        <p:spPr>
          <a:xfrm>
            <a:off x="1596113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lower_mid_bit_1"/>
          <p:cNvSpPr/>
          <p:nvPr/>
        </p:nvSpPr>
        <p:spPr>
          <a:xfrm>
            <a:off x="1784570" y="6253688"/>
            <a:ext cx="238455" cy="223071"/>
          </a:xfrm>
          <a:prstGeom prst="roundRect">
            <a:avLst/>
          </a:prstGeom>
          <a:solidFill>
            <a:srgbClr val="C5D8E9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lower_mid_num_1"/>
          <p:cNvSpPr txBox="1"/>
          <p:nvPr/>
        </p:nvSpPr>
        <p:spPr>
          <a:xfrm>
            <a:off x="1784570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57" name="lower_mid_stem_1_0"/>
          <p:cNvCxnSpPr/>
          <p:nvPr/>
        </p:nvCxnSpPr>
        <p:spPr>
          <a:xfrm>
            <a:off x="1903798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lower_mid_dot_1"/>
          <p:cNvSpPr/>
          <p:nvPr/>
        </p:nvSpPr>
        <p:spPr>
          <a:xfrm>
            <a:off x="1857645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lower_mid_bit_2"/>
          <p:cNvSpPr/>
          <p:nvPr/>
        </p:nvSpPr>
        <p:spPr>
          <a:xfrm>
            <a:off x="2046102" y="6253688"/>
            <a:ext cx="238455" cy="223071"/>
          </a:xfrm>
          <a:prstGeom prst="roundRect">
            <a:avLst/>
          </a:prstGeom>
          <a:solidFill>
            <a:srgbClr val="CFE4E6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lower_mid_num_2"/>
          <p:cNvSpPr txBox="1"/>
          <p:nvPr/>
        </p:nvSpPr>
        <p:spPr>
          <a:xfrm>
            <a:off x="2046102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61" name="lower_mid_stem_2_0"/>
          <p:cNvCxnSpPr/>
          <p:nvPr/>
        </p:nvCxnSpPr>
        <p:spPr>
          <a:xfrm>
            <a:off x="2165329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lower_mid_dot_2"/>
          <p:cNvSpPr/>
          <p:nvPr/>
        </p:nvSpPr>
        <p:spPr>
          <a:xfrm>
            <a:off x="2119177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lower_mid_bit_3"/>
          <p:cNvSpPr/>
          <p:nvPr/>
        </p:nvSpPr>
        <p:spPr>
          <a:xfrm>
            <a:off x="2307634" y="6253688"/>
            <a:ext cx="238455" cy="223071"/>
          </a:xfrm>
          <a:prstGeom prst="roundRect">
            <a:avLst/>
          </a:prstGeom>
          <a:solidFill>
            <a:srgbClr val="D7E1D1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lower_mid_num_3"/>
          <p:cNvSpPr txBox="1"/>
          <p:nvPr/>
        </p:nvSpPr>
        <p:spPr>
          <a:xfrm>
            <a:off x="2307634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65" name="lower_mid_stem_3_0"/>
          <p:cNvCxnSpPr/>
          <p:nvPr/>
        </p:nvCxnSpPr>
        <p:spPr>
          <a:xfrm>
            <a:off x="2426861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lower_mid_dot_3"/>
          <p:cNvSpPr/>
          <p:nvPr/>
        </p:nvSpPr>
        <p:spPr>
          <a:xfrm>
            <a:off x="2380709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lower_mid_bit_4"/>
          <p:cNvSpPr/>
          <p:nvPr/>
        </p:nvSpPr>
        <p:spPr>
          <a:xfrm>
            <a:off x="2569165" y="6253688"/>
            <a:ext cx="238455" cy="223071"/>
          </a:xfrm>
          <a:prstGeom prst="roundRect">
            <a:avLst/>
          </a:prstGeom>
          <a:solidFill>
            <a:srgbClr val="E7E5E4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lower_mid_num_4"/>
          <p:cNvSpPr txBox="1"/>
          <p:nvPr/>
        </p:nvSpPr>
        <p:spPr>
          <a:xfrm>
            <a:off x="2569165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69" name="lower_mid_stem_4_0"/>
          <p:cNvCxnSpPr/>
          <p:nvPr/>
        </p:nvCxnSpPr>
        <p:spPr>
          <a:xfrm>
            <a:off x="2688393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lower_mid_dot_4"/>
          <p:cNvSpPr/>
          <p:nvPr/>
        </p:nvSpPr>
        <p:spPr>
          <a:xfrm>
            <a:off x="2642241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lower_mid_bit_5"/>
          <p:cNvSpPr/>
          <p:nvPr/>
        </p:nvSpPr>
        <p:spPr>
          <a:xfrm>
            <a:off x="2830697" y="6253688"/>
            <a:ext cx="238455" cy="223071"/>
          </a:xfrm>
          <a:prstGeom prst="roundRect">
            <a:avLst/>
          </a:prstGeom>
          <a:solidFill>
            <a:srgbClr val="E6D7E4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lower_mid_num_5"/>
          <p:cNvSpPr txBox="1"/>
          <p:nvPr/>
        </p:nvSpPr>
        <p:spPr>
          <a:xfrm>
            <a:off x="2830697" y="6245996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cxnSp>
        <p:nvCxnSpPr>
          <p:cNvPr id="173" name="lower_mid_stem_5_0"/>
          <p:cNvCxnSpPr/>
          <p:nvPr/>
        </p:nvCxnSpPr>
        <p:spPr>
          <a:xfrm>
            <a:off x="2949925" y="6476759"/>
            <a:ext cx="0" cy="230764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lower_mid_dot_5"/>
          <p:cNvSpPr/>
          <p:nvPr/>
        </p:nvSpPr>
        <p:spPr>
          <a:xfrm>
            <a:off x="2903772" y="6676754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ower_bottom_bit_0"/>
          <p:cNvSpPr/>
          <p:nvPr/>
        </p:nvSpPr>
        <p:spPr>
          <a:xfrm>
            <a:off x="1369196" y="6553680"/>
            <a:ext cx="238455" cy="223071"/>
          </a:xfrm>
          <a:prstGeom prst="roundRect">
            <a:avLst/>
          </a:prstGeom>
          <a:solidFill>
            <a:srgbClr val="CBD4E6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lower_bottom_num_0"/>
          <p:cNvSpPr txBox="1"/>
          <p:nvPr/>
        </p:nvSpPr>
        <p:spPr>
          <a:xfrm>
            <a:off x="1369196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77" name="lower_bottom_stem_0_0"/>
          <p:cNvCxnSpPr/>
          <p:nvPr/>
        </p:nvCxnSpPr>
        <p:spPr>
          <a:xfrm>
            <a:off x="1488423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lower_bottom_dot_0"/>
          <p:cNvSpPr/>
          <p:nvPr/>
        </p:nvSpPr>
        <p:spPr>
          <a:xfrm>
            <a:off x="1442271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lower_bottom_bit_1"/>
          <p:cNvSpPr/>
          <p:nvPr/>
        </p:nvSpPr>
        <p:spPr>
          <a:xfrm>
            <a:off x="1630728" y="6553680"/>
            <a:ext cx="238455" cy="223071"/>
          </a:xfrm>
          <a:prstGeom prst="roundRect">
            <a:avLst/>
          </a:prstGeom>
          <a:solidFill>
            <a:srgbClr val="C5D8E9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lower_bottom_num_1"/>
          <p:cNvSpPr txBox="1"/>
          <p:nvPr/>
        </p:nvSpPr>
        <p:spPr>
          <a:xfrm>
            <a:off x="1630728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81" name="lower_bottom_stem_1_0"/>
          <p:cNvCxnSpPr/>
          <p:nvPr/>
        </p:nvCxnSpPr>
        <p:spPr>
          <a:xfrm>
            <a:off x="1749955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lower_bottom_dot_1"/>
          <p:cNvSpPr/>
          <p:nvPr/>
        </p:nvSpPr>
        <p:spPr>
          <a:xfrm>
            <a:off x="1703803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lower_bottom_bit_2"/>
          <p:cNvSpPr/>
          <p:nvPr/>
        </p:nvSpPr>
        <p:spPr>
          <a:xfrm>
            <a:off x="1892259" y="6553680"/>
            <a:ext cx="238455" cy="223071"/>
          </a:xfrm>
          <a:prstGeom prst="roundRect">
            <a:avLst/>
          </a:prstGeom>
          <a:solidFill>
            <a:srgbClr val="CFE4E6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lower_bottom_num_2"/>
          <p:cNvSpPr txBox="1"/>
          <p:nvPr/>
        </p:nvSpPr>
        <p:spPr>
          <a:xfrm>
            <a:off x="1892259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85" name="lower_bottom_stem_2_0"/>
          <p:cNvCxnSpPr/>
          <p:nvPr/>
        </p:nvCxnSpPr>
        <p:spPr>
          <a:xfrm>
            <a:off x="2011487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lower_bottom_dot_2"/>
          <p:cNvSpPr/>
          <p:nvPr/>
        </p:nvSpPr>
        <p:spPr>
          <a:xfrm>
            <a:off x="1965335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lower_bottom_bit_3"/>
          <p:cNvSpPr/>
          <p:nvPr/>
        </p:nvSpPr>
        <p:spPr>
          <a:xfrm>
            <a:off x="2153791" y="6553680"/>
            <a:ext cx="238455" cy="223071"/>
          </a:xfrm>
          <a:prstGeom prst="roundRect">
            <a:avLst/>
          </a:prstGeom>
          <a:solidFill>
            <a:srgbClr val="D7E1D1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lower_bottom_num_3"/>
          <p:cNvSpPr txBox="1"/>
          <p:nvPr/>
        </p:nvSpPr>
        <p:spPr>
          <a:xfrm>
            <a:off x="2153791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89" name="lower_bottom_stem_3_0"/>
          <p:cNvCxnSpPr/>
          <p:nvPr/>
        </p:nvCxnSpPr>
        <p:spPr>
          <a:xfrm>
            <a:off x="2273019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lower_bottom_dot_3"/>
          <p:cNvSpPr/>
          <p:nvPr/>
        </p:nvSpPr>
        <p:spPr>
          <a:xfrm>
            <a:off x="2226866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lower_bottom_bit_4"/>
          <p:cNvSpPr/>
          <p:nvPr/>
        </p:nvSpPr>
        <p:spPr>
          <a:xfrm>
            <a:off x="2415323" y="6553680"/>
            <a:ext cx="238455" cy="223071"/>
          </a:xfrm>
          <a:prstGeom prst="roundRect">
            <a:avLst/>
          </a:prstGeom>
          <a:solidFill>
            <a:srgbClr val="E7E5E4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lower_bottom_num_4"/>
          <p:cNvSpPr txBox="1"/>
          <p:nvPr/>
        </p:nvSpPr>
        <p:spPr>
          <a:xfrm>
            <a:off x="2415323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cxnSp>
        <p:nvCxnSpPr>
          <p:cNvPr id="193" name="lower_bottom_stem_4_0"/>
          <p:cNvCxnSpPr/>
          <p:nvPr/>
        </p:nvCxnSpPr>
        <p:spPr>
          <a:xfrm>
            <a:off x="2534551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lower_bottom_dot_4"/>
          <p:cNvSpPr/>
          <p:nvPr/>
        </p:nvSpPr>
        <p:spPr>
          <a:xfrm>
            <a:off x="2488398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lower_bottom_bit_5"/>
          <p:cNvSpPr/>
          <p:nvPr/>
        </p:nvSpPr>
        <p:spPr>
          <a:xfrm>
            <a:off x="2676855" y="6553680"/>
            <a:ext cx="238455" cy="223071"/>
          </a:xfrm>
          <a:prstGeom prst="roundRect">
            <a:avLst/>
          </a:prstGeom>
          <a:solidFill>
            <a:srgbClr val="E6D7E4"/>
          </a:solidFill>
          <a:ln w="13208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lower_bottom_num_5"/>
          <p:cNvSpPr txBox="1"/>
          <p:nvPr/>
        </p:nvSpPr>
        <p:spPr>
          <a:xfrm>
            <a:off x="2676855" y="6545988"/>
            <a:ext cx="238455" cy="2230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197" name="lower_bottom_stem_5_0"/>
          <p:cNvCxnSpPr/>
          <p:nvPr/>
        </p:nvCxnSpPr>
        <p:spPr>
          <a:xfrm>
            <a:off x="2796083" y="6776752"/>
            <a:ext cx="0" cy="230763"/>
          </a:xfrm>
          <a:prstGeom prst="line">
            <a:avLst/>
          </a:prstGeom>
          <a:ln w="1651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lower_bottom_dot_5"/>
          <p:cNvSpPr/>
          <p:nvPr/>
        </p:nvSpPr>
        <p:spPr>
          <a:xfrm>
            <a:off x="2749930" y="6976747"/>
            <a:ext cx="92305" cy="92305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lower_join_0"/>
          <p:cNvCxnSpPr/>
          <p:nvPr/>
        </p:nvCxnSpPr>
        <p:spPr>
          <a:xfrm>
            <a:off x="1269198" y="6384454"/>
            <a:ext cx="0" cy="615369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lower_join_1"/>
          <p:cNvCxnSpPr/>
          <p:nvPr/>
        </p:nvCxnSpPr>
        <p:spPr>
          <a:xfrm>
            <a:off x="1269198" y="6999823"/>
            <a:ext cx="738443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lower_join_2"/>
          <p:cNvCxnSpPr/>
          <p:nvPr/>
        </p:nvCxnSpPr>
        <p:spPr>
          <a:xfrm>
            <a:off x="2007641" y="6999823"/>
            <a:ext cx="0" cy="307684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lower_join_dot"/>
          <p:cNvSpPr/>
          <p:nvPr/>
        </p:nvSpPr>
        <p:spPr>
          <a:xfrm>
            <a:off x="1953796" y="7261355"/>
            <a:ext cx="107689" cy="107689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lower_to_dsp_0"/>
          <p:cNvCxnSpPr/>
          <p:nvPr/>
        </p:nvCxnSpPr>
        <p:spPr>
          <a:xfrm>
            <a:off x="3076845" y="7053668"/>
            <a:ext cx="207687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lower_to_dsp_1"/>
          <p:cNvCxnSpPr/>
          <p:nvPr/>
        </p:nvCxnSpPr>
        <p:spPr>
          <a:xfrm flipV="1">
            <a:off x="3284532" y="6438299"/>
            <a:ext cx="0" cy="615369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lower_to_dsp_2"/>
          <p:cNvCxnSpPr/>
          <p:nvPr/>
        </p:nvCxnSpPr>
        <p:spPr>
          <a:xfrm>
            <a:off x="3284532" y="6438299"/>
            <a:ext cx="276916" cy="0"/>
          </a:xfrm>
          <a:prstGeom prst="line">
            <a:avLst/>
          </a:prstGeom>
          <a:ln w="2476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dsp_box"/>
          <p:cNvSpPr/>
          <p:nvPr/>
        </p:nvSpPr>
        <p:spPr>
          <a:xfrm>
            <a:off x="3561448" y="5999848"/>
            <a:ext cx="307684" cy="122304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2C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sp_prompt_0"/>
          <p:cNvSpPr/>
          <p:nvPr/>
        </p:nvSpPr>
        <p:spPr>
          <a:xfrm>
            <a:off x="3630677" y="6076769"/>
            <a:ext cx="169226" cy="169226"/>
          </a:xfrm>
          <a:prstGeom prst="ellipse">
            <a:avLst/>
          </a:prstGeom>
          <a:solidFill>
            <a:srgbClr val="D9EFC4"/>
          </a:solidFill>
          <a:ln w="8255">
            <a:solidFill>
              <a:srgbClr val="AA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dsp_prompt_1"/>
          <p:cNvSpPr/>
          <p:nvPr/>
        </p:nvSpPr>
        <p:spPr>
          <a:xfrm>
            <a:off x="3630677" y="6361377"/>
            <a:ext cx="169226" cy="169226"/>
          </a:xfrm>
          <a:prstGeom prst="ellipse">
            <a:avLst/>
          </a:prstGeom>
          <a:solidFill>
            <a:srgbClr val="F6D8DD"/>
          </a:solidFill>
          <a:ln w="8255">
            <a:solidFill>
              <a:srgbClr val="AA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dsp_prompt_2"/>
          <p:cNvSpPr/>
          <p:nvPr/>
        </p:nvSpPr>
        <p:spPr>
          <a:xfrm>
            <a:off x="3630677" y="6645986"/>
            <a:ext cx="169226" cy="169226"/>
          </a:xfrm>
          <a:prstGeom prst="ellipse">
            <a:avLst/>
          </a:prstGeom>
          <a:solidFill>
            <a:srgbClr val="CAD9F1"/>
          </a:solidFill>
          <a:ln w="8255">
            <a:solidFill>
              <a:srgbClr val="AA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sp_prompt_3"/>
          <p:cNvSpPr/>
          <p:nvPr/>
        </p:nvSpPr>
        <p:spPr>
          <a:xfrm>
            <a:off x="3630677" y="6930594"/>
            <a:ext cx="169226" cy="169226"/>
          </a:xfrm>
          <a:prstGeom prst="ellipse">
            <a:avLst/>
          </a:prstGeom>
          <a:solidFill>
            <a:srgbClr val="FFD063"/>
          </a:solidFill>
          <a:ln w="8255">
            <a:solidFill>
              <a:srgbClr val="AA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dsp_label"/>
          <p:cNvSpPr txBox="1"/>
          <p:nvPr/>
        </p:nvSpPr>
        <p:spPr>
          <a:xfrm>
            <a:off x="3484527" y="7207510"/>
            <a:ext cx="476911" cy="21537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48" b="1" i="0">
                <a:solidFill>
                  <a:srgbClr val="355995"/>
                </a:solidFill>
                <a:latin typeface="Liberation Serif"/>
              </a:rPr>
              <a:t>DSP</a:t>
            </a:r>
          </a:p>
        </p:txBody>
      </p:sp>
      <p:sp>
        <p:nvSpPr>
          <p:cNvPr id="212" name="prompt_dim"/>
          <p:cNvSpPr txBox="1"/>
          <p:nvPr/>
        </p:nvSpPr>
        <p:spPr>
          <a:xfrm rot="16200000">
            <a:off x="3307608" y="5507553"/>
            <a:ext cx="346145" cy="39998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>
                <a:solidFill>
                  <a:srgbClr val="000000"/>
                </a:solidFill>
                <a:latin typeface="Liberation Serif"/>
              </a:rPr>
              <a:t>1×1×64</a:t>
            </a:r>
          </a:p>
        </p:txBody>
      </p:sp>
      <p:cxnSp>
        <p:nvCxnSpPr>
          <p:cNvPr id="213" name="tp_main_route_0"/>
          <p:cNvCxnSpPr/>
          <p:nvPr/>
        </p:nvCxnSpPr>
        <p:spPr>
          <a:xfrm>
            <a:off x="3869133" y="5246021"/>
            <a:ext cx="238455" cy="0"/>
          </a:xfrm>
          <a:prstGeom prst="line">
            <a:avLst/>
          </a:prstGeom>
          <a:ln w="33020">
            <a:solidFill>
              <a:srgbClr val="EF9B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tp_main_route_1"/>
          <p:cNvCxnSpPr/>
          <p:nvPr/>
        </p:nvCxnSpPr>
        <p:spPr>
          <a:xfrm flipV="1">
            <a:off x="4107588" y="4461425"/>
            <a:ext cx="0" cy="784596"/>
          </a:xfrm>
          <a:prstGeom prst="line">
            <a:avLst/>
          </a:prstGeom>
          <a:ln w="33020">
            <a:solidFill>
              <a:srgbClr val="EF9B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tp_main_route_2"/>
          <p:cNvCxnSpPr/>
          <p:nvPr/>
        </p:nvCxnSpPr>
        <p:spPr>
          <a:xfrm>
            <a:off x="4107588" y="4461425"/>
            <a:ext cx="2930695" cy="0"/>
          </a:xfrm>
          <a:prstGeom prst="line">
            <a:avLst/>
          </a:prstGeom>
          <a:ln w="33020">
            <a:solidFill>
              <a:srgbClr val="EF9B6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dsp_main_route_0"/>
          <p:cNvCxnSpPr/>
          <p:nvPr/>
        </p:nvCxnSpPr>
        <p:spPr>
          <a:xfrm>
            <a:off x="3869133" y="6615217"/>
            <a:ext cx="338453" cy="0"/>
          </a:xfrm>
          <a:prstGeom prst="line">
            <a:avLst/>
          </a:prstGeom>
          <a:ln w="33020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dsp_main_route_1"/>
          <p:cNvCxnSpPr/>
          <p:nvPr/>
        </p:nvCxnSpPr>
        <p:spPr>
          <a:xfrm flipV="1">
            <a:off x="4207586" y="4792186"/>
            <a:ext cx="0" cy="1823031"/>
          </a:xfrm>
          <a:prstGeom prst="line">
            <a:avLst/>
          </a:prstGeom>
          <a:ln w="33020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dsp_main_route_2"/>
          <p:cNvCxnSpPr/>
          <p:nvPr/>
        </p:nvCxnSpPr>
        <p:spPr>
          <a:xfrm>
            <a:off x="4207586" y="4792186"/>
            <a:ext cx="2615318" cy="0"/>
          </a:xfrm>
          <a:prstGeom prst="line">
            <a:avLst/>
          </a:prstGeom>
          <a:ln w="33020">
            <a:solidFill>
              <a:srgbClr val="4472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degraded_label"/>
          <p:cNvSpPr txBox="1"/>
          <p:nvPr/>
        </p:nvSpPr>
        <p:spPr>
          <a:xfrm>
            <a:off x="4376812" y="5176792"/>
            <a:ext cx="999974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Degraded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Inf. Image</a:t>
            </a:r>
          </a:p>
        </p:txBody>
      </p:sp>
      <p:pic>
        <p:nvPicPr>
          <p:cNvPr id="220" name="degraded_sample" descr="degraded_samp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6812" y="5522937"/>
            <a:ext cx="953822" cy="807671"/>
          </a:xfrm>
          <a:prstGeom prst="rect">
            <a:avLst/>
          </a:prstGeom>
          <a:effectLst/>
        </p:spPr>
      </p:pic>
      <p:sp>
        <p:nvSpPr>
          <p:cNvPr id="221" name="degraded_sample_frame"/>
          <p:cNvSpPr/>
          <p:nvPr/>
        </p:nvSpPr>
        <p:spPr>
          <a:xfrm>
            <a:off x="4376812" y="5522937"/>
            <a:ext cx="953822" cy="807671"/>
          </a:xfrm>
          <a:prstGeom prst="rect">
            <a:avLst/>
          </a:prstGeom>
          <a:noFill/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stored_label"/>
          <p:cNvSpPr txBox="1"/>
          <p:nvPr/>
        </p:nvSpPr>
        <p:spPr>
          <a:xfrm>
            <a:off x="11022798" y="5176792"/>
            <a:ext cx="1038435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Restored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Inf. Image</a:t>
            </a:r>
          </a:p>
        </p:txBody>
      </p:sp>
      <p:pic>
        <p:nvPicPr>
          <p:cNvPr id="223" name="restored_sample" descr="restored_samp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5875" y="5522937"/>
            <a:ext cx="969206" cy="815364"/>
          </a:xfrm>
          <a:prstGeom prst="rect">
            <a:avLst/>
          </a:prstGeom>
          <a:effectLst/>
        </p:spPr>
      </p:pic>
      <p:sp>
        <p:nvSpPr>
          <p:cNvPr id="224" name="restored_sample_frame"/>
          <p:cNvSpPr/>
          <p:nvPr/>
        </p:nvSpPr>
        <p:spPr>
          <a:xfrm>
            <a:off x="11045875" y="5522937"/>
            <a:ext cx="969206" cy="815364"/>
          </a:xfrm>
          <a:prstGeom prst="rect">
            <a:avLst/>
          </a:prstGeom>
          <a:noFill/>
          <a:ln w="825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input_arrow_0"/>
          <p:cNvCxnSpPr/>
          <p:nvPr/>
        </p:nvCxnSpPr>
        <p:spPr>
          <a:xfrm>
            <a:off x="5330634" y="5930619"/>
            <a:ext cx="199995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encoder_backplate"/>
          <p:cNvSpPr/>
          <p:nvPr/>
        </p:nvSpPr>
        <p:spPr>
          <a:xfrm>
            <a:off x="5453708" y="5022950"/>
            <a:ext cx="692290" cy="1346120"/>
          </a:xfrm>
          <a:custGeom>
            <a:avLst/>
            <a:gdLst/>
            <a:ahLst/>
            <a:cxnLst/>
            <a:rect l="l" t="t" r="r" b="b"/>
            <a:pathLst>
              <a:path w="692290" h="1346120">
                <a:moveTo>
                  <a:pt x="0" y="184610"/>
                </a:moveTo>
                <a:lnTo>
                  <a:pt x="184611" y="0"/>
                </a:lnTo>
                <a:lnTo>
                  <a:pt x="692290" y="0"/>
                </a:lnTo>
                <a:lnTo>
                  <a:pt x="538448" y="1346120"/>
                </a:lnTo>
                <a:lnTo>
                  <a:pt x="0" y="1346120"/>
                </a:lnTo>
                <a:close/>
              </a:path>
            </a:pathLst>
          </a:custGeom>
          <a:solidFill>
            <a:srgbClr val="EEEEEE"/>
          </a:solidFill>
          <a:ln w="165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ncoder_map_0"/>
          <p:cNvSpPr/>
          <p:nvPr/>
        </p:nvSpPr>
        <p:spPr>
          <a:xfrm>
            <a:off x="5530629" y="5038334"/>
            <a:ext cx="230764" cy="1330736"/>
          </a:xfrm>
          <a:custGeom>
            <a:avLst/>
            <a:gdLst/>
            <a:ahLst/>
            <a:cxnLst/>
            <a:rect l="l" t="t" r="r" b="b"/>
            <a:pathLst>
              <a:path w="230764" h="1330736">
                <a:moveTo>
                  <a:pt x="0" y="76921"/>
                </a:moveTo>
                <a:lnTo>
                  <a:pt x="92306" y="0"/>
                </a:lnTo>
                <a:lnTo>
                  <a:pt x="230764" y="0"/>
                </a:lnTo>
                <a:lnTo>
                  <a:pt x="230764" y="1269199"/>
                </a:lnTo>
                <a:lnTo>
                  <a:pt x="138458" y="1330736"/>
                </a:lnTo>
                <a:lnTo>
                  <a:pt x="0" y="1330736"/>
                </a:lnTo>
                <a:close/>
              </a:path>
            </a:pathLst>
          </a:custGeom>
          <a:solidFill>
            <a:srgbClr val="90A6BD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ncoder_map_1"/>
          <p:cNvSpPr/>
          <p:nvPr/>
        </p:nvSpPr>
        <p:spPr>
          <a:xfrm>
            <a:off x="5669087" y="5038334"/>
            <a:ext cx="230764" cy="1330736"/>
          </a:xfrm>
          <a:custGeom>
            <a:avLst/>
            <a:gdLst/>
            <a:ahLst/>
            <a:cxnLst/>
            <a:rect l="l" t="t" r="r" b="b"/>
            <a:pathLst>
              <a:path w="230764" h="1330736">
                <a:moveTo>
                  <a:pt x="0" y="76921"/>
                </a:moveTo>
                <a:lnTo>
                  <a:pt x="92306" y="0"/>
                </a:lnTo>
                <a:lnTo>
                  <a:pt x="230764" y="0"/>
                </a:lnTo>
                <a:lnTo>
                  <a:pt x="230764" y="1269199"/>
                </a:lnTo>
                <a:lnTo>
                  <a:pt x="138458" y="1330736"/>
                </a:lnTo>
                <a:lnTo>
                  <a:pt x="0" y="1330736"/>
                </a:lnTo>
                <a:close/>
              </a:path>
            </a:pathLst>
          </a:custGeom>
          <a:solidFill>
            <a:srgbClr val="82A5C3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ncoder_map_2"/>
          <p:cNvSpPr/>
          <p:nvPr/>
        </p:nvSpPr>
        <p:spPr>
          <a:xfrm>
            <a:off x="5807545" y="5038334"/>
            <a:ext cx="230764" cy="1330736"/>
          </a:xfrm>
          <a:custGeom>
            <a:avLst/>
            <a:gdLst/>
            <a:ahLst/>
            <a:cxnLst/>
            <a:rect l="l" t="t" r="r" b="b"/>
            <a:pathLst>
              <a:path w="230764" h="1330736">
                <a:moveTo>
                  <a:pt x="0" y="76921"/>
                </a:moveTo>
                <a:lnTo>
                  <a:pt x="92306" y="0"/>
                </a:lnTo>
                <a:lnTo>
                  <a:pt x="230764" y="0"/>
                </a:lnTo>
                <a:lnTo>
                  <a:pt x="230764" y="1269199"/>
                </a:lnTo>
                <a:lnTo>
                  <a:pt x="138458" y="1330736"/>
                </a:lnTo>
                <a:lnTo>
                  <a:pt x="0" y="1330736"/>
                </a:lnTo>
                <a:close/>
              </a:path>
            </a:pathLst>
          </a:custGeom>
          <a:solidFill>
            <a:srgbClr val="7097BA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encoder_to_ir_0"/>
          <p:cNvCxnSpPr/>
          <p:nvPr/>
        </p:nvCxnSpPr>
        <p:spPr>
          <a:xfrm>
            <a:off x="6215227" y="5899851"/>
            <a:ext cx="353837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ir_block_shadow"/>
          <p:cNvSpPr/>
          <p:nvPr/>
        </p:nvSpPr>
        <p:spPr>
          <a:xfrm>
            <a:off x="6561372" y="5230637"/>
            <a:ext cx="2169176" cy="1453809"/>
          </a:xfrm>
          <a:prstGeom prst="roundRect">
            <a:avLst/>
          </a:prstGeom>
          <a:solidFill>
            <a:srgbClr val="CFCFCF"/>
          </a:solidFill>
          <a:ln w="825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ir_block"/>
          <p:cNvSpPr/>
          <p:nvPr/>
        </p:nvSpPr>
        <p:spPr>
          <a:xfrm>
            <a:off x="6584449" y="5199868"/>
            <a:ext cx="2107639" cy="1446117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ir_feature_backplate"/>
          <p:cNvSpPr/>
          <p:nvPr/>
        </p:nvSpPr>
        <p:spPr>
          <a:xfrm>
            <a:off x="6638294" y="5353711"/>
            <a:ext cx="599984" cy="1023051"/>
          </a:xfrm>
          <a:custGeom>
            <a:avLst/>
            <a:gdLst/>
            <a:ahLst/>
            <a:cxnLst/>
            <a:rect l="l" t="t" r="r" b="b"/>
            <a:pathLst>
              <a:path w="599984" h="1023051">
                <a:moveTo>
                  <a:pt x="0" y="184610"/>
                </a:moveTo>
                <a:lnTo>
                  <a:pt x="184610" y="0"/>
                </a:lnTo>
                <a:lnTo>
                  <a:pt x="599984" y="0"/>
                </a:lnTo>
                <a:lnTo>
                  <a:pt x="446142" y="1023051"/>
                </a:lnTo>
                <a:lnTo>
                  <a:pt x="0" y="1023051"/>
                </a:lnTo>
                <a:close/>
              </a:path>
            </a:pathLst>
          </a:custGeom>
          <a:solidFill>
            <a:srgbClr val="EEEEEE"/>
          </a:solidFill>
          <a:ln w="165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ir_feature_map_0"/>
          <p:cNvSpPr/>
          <p:nvPr/>
        </p:nvSpPr>
        <p:spPr>
          <a:xfrm>
            <a:off x="6715215" y="5369095"/>
            <a:ext cx="184610" cy="1007667"/>
          </a:xfrm>
          <a:custGeom>
            <a:avLst/>
            <a:gdLst/>
            <a:ahLst/>
            <a:cxnLst/>
            <a:rect l="l" t="t" r="r" b="b"/>
            <a:pathLst>
              <a:path w="184610" h="1007667">
                <a:moveTo>
                  <a:pt x="0" y="76921"/>
                </a:moveTo>
                <a:lnTo>
                  <a:pt x="92305" y="0"/>
                </a:lnTo>
                <a:lnTo>
                  <a:pt x="184610" y="0"/>
                </a:lnTo>
                <a:lnTo>
                  <a:pt x="184610" y="946130"/>
                </a:lnTo>
                <a:lnTo>
                  <a:pt x="92305" y="1007667"/>
                </a:lnTo>
                <a:lnTo>
                  <a:pt x="0" y="1007667"/>
                </a:lnTo>
                <a:close/>
              </a:path>
            </a:pathLst>
          </a:custGeom>
          <a:solidFill>
            <a:srgbClr val="90A6BD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ir_feature_map_1"/>
          <p:cNvSpPr/>
          <p:nvPr/>
        </p:nvSpPr>
        <p:spPr>
          <a:xfrm>
            <a:off x="6853673" y="5369095"/>
            <a:ext cx="184610" cy="1007667"/>
          </a:xfrm>
          <a:custGeom>
            <a:avLst/>
            <a:gdLst/>
            <a:ahLst/>
            <a:cxnLst/>
            <a:rect l="l" t="t" r="r" b="b"/>
            <a:pathLst>
              <a:path w="184610" h="1007667">
                <a:moveTo>
                  <a:pt x="0" y="76921"/>
                </a:moveTo>
                <a:lnTo>
                  <a:pt x="92305" y="0"/>
                </a:lnTo>
                <a:lnTo>
                  <a:pt x="184610" y="0"/>
                </a:lnTo>
                <a:lnTo>
                  <a:pt x="184610" y="946130"/>
                </a:lnTo>
                <a:lnTo>
                  <a:pt x="92305" y="1007667"/>
                </a:lnTo>
                <a:lnTo>
                  <a:pt x="0" y="1007667"/>
                </a:lnTo>
                <a:close/>
              </a:path>
            </a:pathLst>
          </a:custGeom>
          <a:solidFill>
            <a:srgbClr val="82A5C3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ir_block_title"/>
          <p:cNvSpPr txBox="1"/>
          <p:nvPr/>
        </p:nvSpPr>
        <p:spPr>
          <a:xfrm>
            <a:off x="7569039" y="6415222"/>
            <a:ext cx="1015358" cy="21537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000000"/>
                </a:solidFill>
                <a:latin typeface="Liberation Serif"/>
              </a:rPr>
              <a:t>IR Block</a:t>
            </a:r>
          </a:p>
        </p:txBody>
      </p:sp>
      <p:sp>
        <p:nvSpPr>
          <p:cNvPr id="237" name="fusion_box"/>
          <p:cNvSpPr/>
          <p:nvPr/>
        </p:nvSpPr>
        <p:spPr>
          <a:xfrm>
            <a:off x="7415197" y="5353711"/>
            <a:ext cx="976898" cy="284608"/>
          </a:xfrm>
          <a:prstGeom prst="rect">
            <a:avLst/>
          </a:prstGeom>
          <a:solidFill>
            <a:srgbClr val="FFFFFF"/>
          </a:solidFill>
          <a:ln w="16510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usion_text"/>
          <p:cNvSpPr txBox="1"/>
          <p:nvPr/>
        </p:nvSpPr>
        <p:spPr>
          <a:xfrm>
            <a:off x="7438273" y="5361403"/>
            <a:ext cx="930745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>
                <a:solidFill>
                  <a:srgbClr val="000000"/>
                </a:solidFill>
                <a:latin typeface="Liberation Serif"/>
              </a:rPr>
              <a:t>Prompt Fusion</a:t>
            </a:r>
          </a:p>
        </p:txBody>
      </p:sp>
      <p:cxnSp>
        <p:nvCxnSpPr>
          <p:cNvPr id="239" name="fusion_gamma_0"/>
          <p:cNvCxnSpPr/>
          <p:nvPr/>
        </p:nvCxnSpPr>
        <p:spPr>
          <a:xfrm>
            <a:off x="7607500" y="5638319"/>
            <a:ext cx="0" cy="138458"/>
          </a:xfrm>
          <a:prstGeom prst="line">
            <a:avLst/>
          </a:prstGeom>
          <a:ln w="20637">
            <a:solidFill>
              <a:srgbClr val="D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fusion_beta_0"/>
          <p:cNvCxnSpPr/>
          <p:nvPr/>
        </p:nvCxnSpPr>
        <p:spPr>
          <a:xfrm>
            <a:off x="8092103" y="5638319"/>
            <a:ext cx="0" cy="138458"/>
          </a:xfrm>
          <a:prstGeom prst="line">
            <a:avLst/>
          </a:prstGeom>
          <a:ln w="20637">
            <a:solidFill>
              <a:srgbClr val="D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mul_node_circle"/>
          <p:cNvSpPr/>
          <p:nvPr/>
        </p:nvSpPr>
        <p:spPr>
          <a:xfrm>
            <a:off x="7492118" y="5792161"/>
            <a:ext cx="230763" cy="230763"/>
          </a:xfrm>
          <a:prstGeom prst="ellipse">
            <a:avLst/>
          </a:prstGeom>
          <a:solidFill>
            <a:srgbClr val="FFFFFF"/>
          </a:solidFill>
          <a:ln w="247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mul_node_v_0"/>
          <p:cNvCxnSpPr/>
          <p:nvPr/>
        </p:nvCxnSpPr>
        <p:spPr>
          <a:xfrm>
            <a:off x="7607500" y="5815237"/>
            <a:ext cx="0" cy="184611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mul_node_h_0"/>
          <p:cNvCxnSpPr/>
          <p:nvPr/>
        </p:nvCxnSpPr>
        <p:spPr>
          <a:xfrm>
            <a:off x="7515194" y="5907543"/>
            <a:ext cx="184611" cy="0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mul_node_label"/>
          <p:cNvSpPr txBox="1"/>
          <p:nvPr/>
        </p:nvSpPr>
        <p:spPr>
          <a:xfrm>
            <a:off x="7515194" y="5669087"/>
            <a:ext cx="184610" cy="1384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1">
                <a:solidFill>
                  <a:srgbClr val="000000"/>
                </a:solidFill>
                <a:latin typeface="Liberation Serif"/>
              </a:rPr>
              <a:t>γ</a:t>
            </a:r>
          </a:p>
        </p:txBody>
      </p:sp>
      <p:sp>
        <p:nvSpPr>
          <p:cNvPr id="245" name="mul_mask"/>
          <p:cNvSpPr/>
          <p:nvPr/>
        </p:nvSpPr>
        <p:spPr>
          <a:xfrm>
            <a:off x="7515194" y="5815237"/>
            <a:ext cx="184610" cy="184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mul_diag1_0"/>
          <p:cNvCxnSpPr/>
          <p:nvPr/>
        </p:nvCxnSpPr>
        <p:spPr>
          <a:xfrm>
            <a:off x="7538271" y="5838314"/>
            <a:ext cx="138458" cy="138458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mul_diag2_0"/>
          <p:cNvCxnSpPr/>
          <p:nvPr/>
        </p:nvCxnSpPr>
        <p:spPr>
          <a:xfrm flipH="1">
            <a:off x="7538271" y="5838314"/>
            <a:ext cx="138458" cy="138458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mul_outline"/>
          <p:cNvSpPr/>
          <p:nvPr/>
        </p:nvSpPr>
        <p:spPr>
          <a:xfrm>
            <a:off x="7492118" y="5792161"/>
            <a:ext cx="230763" cy="230763"/>
          </a:xfrm>
          <a:prstGeom prst="ellipse">
            <a:avLst/>
          </a:prstGeom>
          <a:noFill/>
          <a:ln w="247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beta_node_circle"/>
          <p:cNvSpPr/>
          <p:nvPr/>
        </p:nvSpPr>
        <p:spPr>
          <a:xfrm>
            <a:off x="7976721" y="5792161"/>
            <a:ext cx="230763" cy="230763"/>
          </a:xfrm>
          <a:prstGeom prst="ellipse">
            <a:avLst/>
          </a:prstGeom>
          <a:solidFill>
            <a:srgbClr val="FFFFFF"/>
          </a:solidFill>
          <a:ln w="247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beta_node_v_0"/>
          <p:cNvCxnSpPr/>
          <p:nvPr/>
        </p:nvCxnSpPr>
        <p:spPr>
          <a:xfrm>
            <a:off x="8092103" y="5815237"/>
            <a:ext cx="0" cy="184611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beta_node_h_0"/>
          <p:cNvCxnSpPr/>
          <p:nvPr/>
        </p:nvCxnSpPr>
        <p:spPr>
          <a:xfrm>
            <a:off x="7999798" y="5907543"/>
            <a:ext cx="184610" cy="0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beta_node_label"/>
          <p:cNvSpPr txBox="1"/>
          <p:nvPr/>
        </p:nvSpPr>
        <p:spPr>
          <a:xfrm>
            <a:off x="7999798" y="5669087"/>
            <a:ext cx="184610" cy="1384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1">
                <a:solidFill>
                  <a:srgbClr val="000000"/>
                </a:solidFill>
                <a:latin typeface="Liberation Serif"/>
              </a:rPr>
              <a:t>β</a:t>
            </a:r>
          </a:p>
        </p:txBody>
      </p:sp>
      <p:sp>
        <p:nvSpPr>
          <p:cNvPr id="253" name="skip_node_circle"/>
          <p:cNvSpPr/>
          <p:nvPr/>
        </p:nvSpPr>
        <p:spPr>
          <a:xfrm>
            <a:off x="8422864" y="5792161"/>
            <a:ext cx="230763" cy="230763"/>
          </a:xfrm>
          <a:prstGeom prst="ellipse">
            <a:avLst/>
          </a:prstGeom>
          <a:solidFill>
            <a:srgbClr val="FFFFFF"/>
          </a:solidFill>
          <a:ln w="247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skip_node_v_0"/>
          <p:cNvCxnSpPr/>
          <p:nvPr/>
        </p:nvCxnSpPr>
        <p:spPr>
          <a:xfrm>
            <a:off x="8538246" y="5815237"/>
            <a:ext cx="0" cy="184611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kip_node_h_0"/>
          <p:cNvCxnSpPr/>
          <p:nvPr/>
        </p:nvCxnSpPr>
        <p:spPr>
          <a:xfrm>
            <a:off x="8445940" y="5907543"/>
            <a:ext cx="184611" cy="0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ir_internal_0"/>
          <p:cNvCxnSpPr/>
          <p:nvPr/>
        </p:nvCxnSpPr>
        <p:spPr>
          <a:xfrm>
            <a:off x="7192126" y="5907543"/>
            <a:ext cx="299992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ir_gamma_beta_0"/>
          <p:cNvCxnSpPr/>
          <p:nvPr/>
        </p:nvCxnSpPr>
        <p:spPr>
          <a:xfrm>
            <a:off x="7722882" y="5907543"/>
            <a:ext cx="253839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ir_beta_skip_0"/>
          <p:cNvCxnSpPr/>
          <p:nvPr/>
        </p:nvCxnSpPr>
        <p:spPr>
          <a:xfrm>
            <a:off x="8207485" y="5907543"/>
            <a:ext cx="215379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ir_residual_0"/>
          <p:cNvCxnSpPr/>
          <p:nvPr/>
        </p:nvCxnSpPr>
        <p:spPr>
          <a:xfrm>
            <a:off x="7192126" y="5907543"/>
            <a:ext cx="146150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ir_residual_1"/>
          <p:cNvCxnSpPr/>
          <p:nvPr/>
        </p:nvCxnSpPr>
        <p:spPr>
          <a:xfrm>
            <a:off x="7338276" y="5907543"/>
            <a:ext cx="0" cy="376913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ir_residual_2"/>
          <p:cNvCxnSpPr/>
          <p:nvPr/>
        </p:nvCxnSpPr>
        <p:spPr>
          <a:xfrm>
            <a:off x="7338276" y="6284456"/>
            <a:ext cx="1199970" cy="0"/>
          </a:xfrm>
          <a:prstGeom prst="line">
            <a:avLst/>
          </a:prstGeom>
          <a:ln w="2476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ir_residual_3"/>
          <p:cNvCxnSpPr/>
          <p:nvPr/>
        </p:nvCxnSpPr>
        <p:spPr>
          <a:xfrm flipV="1">
            <a:off x="8538246" y="6022924"/>
            <a:ext cx="0" cy="261532"/>
          </a:xfrm>
          <a:prstGeom prst="line">
            <a:avLst/>
          </a:prstGeom>
          <a:ln w="2476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ir_to_decoder_0"/>
          <p:cNvCxnSpPr/>
          <p:nvPr/>
        </p:nvCxnSpPr>
        <p:spPr>
          <a:xfrm>
            <a:off x="8653627" y="5907543"/>
            <a:ext cx="284608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decoder_backplate"/>
          <p:cNvSpPr/>
          <p:nvPr/>
        </p:nvSpPr>
        <p:spPr>
          <a:xfrm>
            <a:off x="8853622" y="5215252"/>
            <a:ext cx="638446" cy="1123049"/>
          </a:xfrm>
          <a:custGeom>
            <a:avLst/>
            <a:gdLst/>
            <a:ahLst/>
            <a:cxnLst/>
            <a:rect l="l" t="t" r="r" b="b"/>
            <a:pathLst>
              <a:path w="638446" h="1123049">
                <a:moveTo>
                  <a:pt x="0" y="184611"/>
                </a:moveTo>
                <a:lnTo>
                  <a:pt x="184611" y="0"/>
                </a:lnTo>
                <a:lnTo>
                  <a:pt x="638446" y="0"/>
                </a:lnTo>
                <a:lnTo>
                  <a:pt x="484603" y="1123049"/>
                </a:lnTo>
                <a:lnTo>
                  <a:pt x="0" y="1123049"/>
                </a:lnTo>
                <a:close/>
              </a:path>
            </a:pathLst>
          </a:custGeom>
          <a:solidFill>
            <a:srgbClr val="EEEEEE"/>
          </a:solidFill>
          <a:ln w="165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decoder_map_0"/>
          <p:cNvSpPr/>
          <p:nvPr/>
        </p:nvSpPr>
        <p:spPr>
          <a:xfrm>
            <a:off x="8930543" y="5230637"/>
            <a:ext cx="203841" cy="1107664"/>
          </a:xfrm>
          <a:custGeom>
            <a:avLst/>
            <a:gdLst/>
            <a:ahLst/>
            <a:cxnLst/>
            <a:rect l="l" t="t" r="r" b="b"/>
            <a:pathLst>
              <a:path w="203841" h="1107664">
                <a:moveTo>
                  <a:pt x="0" y="76921"/>
                </a:moveTo>
                <a:lnTo>
                  <a:pt x="92306" y="0"/>
                </a:lnTo>
                <a:lnTo>
                  <a:pt x="203841" y="0"/>
                </a:lnTo>
                <a:lnTo>
                  <a:pt x="203841" y="1046127"/>
                </a:lnTo>
                <a:lnTo>
                  <a:pt x="111536" y="1107664"/>
                </a:lnTo>
                <a:lnTo>
                  <a:pt x="0" y="1107664"/>
                </a:lnTo>
                <a:close/>
              </a:path>
            </a:pathLst>
          </a:custGeom>
          <a:solidFill>
            <a:srgbClr val="90A6BD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decoder_map_1"/>
          <p:cNvSpPr/>
          <p:nvPr/>
        </p:nvSpPr>
        <p:spPr>
          <a:xfrm>
            <a:off x="9069001" y="5230637"/>
            <a:ext cx="203841" cy="1107664"/>
          </a:xfrm>
          <a:custGeom>
            <a:avLst/>
            <a:gdLst/>
            <a:ahLst/>
            <a:cxnLst/>
            <a:rect l="l" t="t" r="r" b="b"/>
            <a:pathLst>
              <a:path w="203841" h="1107664">
                <a:moveTo>
                  <a:pt x="0" y="76921"/>
                </a:moveTo>
                <a:lnTo>
                  <a:pt x="92306" y="0"/>
                </a:lnTo>
                <a:lnTo>
                  <a:pt x="203841" y="0"/>
                </a:lnTo>
                <a:lnTo>
                  <a:pt x="203841" y="1046127"/>
                </a:lnTo>
                <a:lnTo>
                  <a:pt x="111536" y="1107664"/>
                </a:lnTo>
                <a:lnTo>
                  <a:pt x="0" y="1107664"/>
                </a:lnTo>
                <a:close/>
              </a:path>
            </a:pathLst>
          </a:custGeom>
          <a:solidFill>
            <a:srgbClr val="82A5C3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decoder_to_output_0"/>
          <p:cNvCxnSpPr/>
          <p:nvPr/>
        </p:nvCxnSpPr>
        <p:spPr>
          <a:xfrm>
            <a:off x="9530528" y="5907543"/>
            <a:ext cx="207687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output_feature_backplate"/>
          <p:cNvSpPr/>
          <p:nvPr/>
        </p:nvSpPr>
        <p:spPr>
          <a:xfrm>
            <a:off x="9653602" y="5030642"/>
            <a:ext cx="707674" cy="1392272"/>
          </a:xfrm>
          <a:custGeom>
            <a:avLst/>
            <a:gdLst/>
            <a:ahLst/>
            <a:cxnLst/>
            <a:rect l="l" t="t" r="r" b="b"/>
            <a:pathLst>
              <a:path w="707674" h="1392272">
                <a:moveTo>
                  <a:pt x="0" y="184610"/>
                </a:moveTo>
                <a:lnTo>
                  <a:pt x="184611" y="0"/>
                </a:lnTo>
                <a:lnTo>
                  <a:pt x="707674" y="0"/>
                </a:lnTo>
                <a:lnTo>
                  <a:pt x="553832" y="1392272"/>
                </a:lnTo>
                <a:lnTo>
                  <a:pt x="0" y="1392272"/>
                </a:lnTo>
                <a:close/>
              </a:path>
            </a:pathLst>
          </a:custGeom>
          <a:solidFill>
            <a:srgbClr val="EEEEEE"/>
          </a:solidFill>
          <a:ln w="165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utput_feature_map_0"/>
          <p:cNvSpPr/>
          <p:nvPr/>
        </p:nvSpPr>
        <p:spPr>
          <a:xfrm>
            <a:off x="9730523" y="5046026"/>
            <a:ext cx="238456" cy="1376888"/>
          </a:xfrm>
          <a:custGeom>
            <a:avLst/>
            <a:gdLst/>
            <a:ahLst/>
            <a:cxnLst/>
            <a:rect l="l" t="t" r="r" b="b"/>
            <a:pathLst>
              <a:path w="238456" h="1376888">
                <a:moveTo>
                  <a:pt x="0" y="76921"/>
                </a:moveTo>
                <a:lnTo>
                  <a:pt x="92306" y="0"/>
                </a:lnTo>
                <a:lnTo>
                  <a:pt x="238456" y="0"/>
                </a:lnTo>
                <a:lnTo>
                  <a:pt x="238456" y="1315351"/>
                </a:lnTo>
                <a:lnTo>
                  <a:pt x="146150" y="1376888"/>
                </a:lnTo>
                <a:lnTo>
                  <a:pt x="0" y="1376888"/>
                </a:lnTo>
                <a:close/>
              </a:path>
            </a:pathLst>
          </a:custGeom>
          <a:solidFill>
            <a:srgbClr val="90A6BD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utput_feature_map_1"/>
          <p:cNvSpPr/>
          <p:nvPr/>
        </p:nvSpPr>
        <p:spPr>
          <a:xfrm>
            <a:off x="9868981" y="5046026"/>
            <a:ext cx="238456" cy="1376888"/>
          </a:xfrm>
          <a:custGeom>
            <a:avLst/>
            <a:gdLst/>
            <a:ahLst/>
            <a:cxnLst/>
            <a:rect l="l" t="t" r="r" b="b"/>
            <a:pathLst>
              <a:path w="238456" h="1376888">
                <a:moveTo>
                  <a:pt x="0" y="76921"/>
                </a:moveTo>
                <a:lnTo>
                  <a:pt x="92306" y="0"/>
                </a:lnTo>
                <a:lnTo>
                  <a:pt x="238456" y="0"/>
                </a:lnTo>
                <a:lnTo>
                  <a:pt x="238456" y="1315351"/>
                </a:lnTo>
                <a:lnTo>
                  <a:pt x="146150" y="1376888"/>
                </a:lnTo>
                <a:lnTo>
                  <a:pt x="0" y="1376888"/>
                </a:lnTo>
                <a:close/>
              </a:path>
            </a:pathLst>
          </a:custGeom>
          <a:solidFill>
            <a:srgbClr val="82A5C3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utput_feature_map_2"/>
          <p:cNvSpPr/>
          <p:nvPr/>
        </p:nvSpPr>
        <p:spPr>
          <a:xfrm>
            <a:off x="10007439" y="5046026"/>
            <a:ext cx="238456" cy="1376888"/>
          </a:xfrm>
          <a:custGeom>
            <a:avLst/>
            <a:gdLst/>
            <a:ahLst/>
            <a:cxnLst/>
            <a:rect l="l" t="t" r="r" b="b"/>
            <a:pathLst>
              <a:path w="238456" h="1376888">
                <a:moveTo>
                  <a:pt x="0" y="76921"/>
                </a:moveTo>
                <a:lnTo>
                  <a:pt x="92306" y="0"/>
                </a:lnTo>
                <a:lnTo>
                  <a:pt x="238456" y="0"/>
                </a:lnTo>
                <a:lnTo>
                  <a:pt x="238456" y="1315351"/>
                </a:lnTo>
                <a:lnTo>
                  <a:pt x="146150" y="1376888"/>
                </a:lnTo>
                <a:lnTo>
                  <a:pt x="0" y="1376888"/>
                </a:lnTo>
                <a:close/>
              </a:path>
            </a:pathLst>
          </a:custGeom>
          <a:solidFill>
            <a:srgbClr val="7097BA"/>
          </a:solidFill>
          <a:ln w="14859">
            <a:solidFill>
              <a:srgbClr val="4B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utput_add_circle"/>
          <p:cNvSpPr/>
          <p:nvPr/>
        </p:nvSpPr>
        <p:spPr>
          <a:xfrm>
            <a:off x="10699729" y="5807545"/>
            <a:ext cx="230763" cy="230763"/>
          </a:xfrm>
          <a:prstGeom prst="ellipse">
            <a:avLst/>
          </a:prstGeom>
          <a:solidFill>
            <a:srgbClr val="FFFFFF"/>
          </a:solidFill>
          <a:ln w="247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output_add_v_0"/>
          <p:cNvCxnSpPr/>
          <p:nvPr/>
        </p:nvCxnSpPr>
        <p:spPr>
          <a:xfrm>
            <a:off x="10815111" y="5830622"/>
            <a:ext cx="0" cy="184610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output_add_h_0"/>
          <p:cNvCxnSpPr/>
          <p:nvPr/>
        </p:nvCxnSpPr>
        <p:spPr>
          <a:xfrm>
            <a:off x="10722806" y="5922927"/>
            <a:ext cx="184611" cy="0"/>
          </a:xfrm>
          <a:prstGeom prst="line">
            <a:avLst/>
          </a:prstGeom>
          <a:ln w="2063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output_feature_arrow_0"/>
          <p:cNvCxnSpPr/>
          <p:nvPr/>
        </p:nvCxnSpPr>
        <p:spPr>
          <a:xfrm>
            <a:off x="10361276" y="5922927"/>
            <a:ext cx="338453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output_image_arrow_0"/>
          <p:cNvCxnSpPr/>
          <p:nvPr/>
        </p:nvCxnSpPr>
        <p:spPr>
          <a:xfrm>
            <a:off x="10930493" y="5922927"/>
            <a:ext cx="115382" cy="0"/>
          </a:xfrm>
          <a:prstGeom prst="line">
            <a:avLst/>
          </a:prstGeom>
          <a:ln w="3302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long_skip_0"/>
          <p:cNvCxnSpPr/>
          <p:nvPr/>
        </p:nvCxnSpPr>
        <p:spPr>
          <a:xfrm>
            <a:off x="5330634" y="5930619"/>
            <a:ext cx="69229" cy="0"/>
          </a:xfrm>
          <a:prstGeom prst="line">
            <a:avLst/>
          </a:prstGeom>
          <a:ln w="2889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long_skip_1"/>
          <p:cNvCxnSpPr/>
          <p:nvPr/>
        </p:nvCxnSpPr>
        <p:spPr>
          <a:xfrm>
            <a:off x="5399863" y="5930619"/>
            <a:ext cx="0" cy="899977"/>
          </a:xfrm>
          <a:prstGeom prst="line">
            <a:avLst/>
          </a:prstGeom>
          <a:ln w="2889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long_skip_2"/>
          <p:cNvCxnSpPr/>
          <p:nvPr/>
        </p:nvCxnSpPr>
        <p:spPr>
          <a:xfrm>
            <a:off x="5399863" y="6830596"/>
            <a:ext cx="5415248" cy="0"/>
          </a:xfrm>
          <a:prstGeom prst="line">
            <a:avLst/>
          </a:prstGeom>
          <a:ln w="2889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long_skip_3"/>
          <p:cNvCxnSpPr/>
          <p:nvPr/>
        </p:nvCxnSpPr>
        <p:spPr>
          <a:xfrm flipV="1">
            <a:off x="10815111" y="6038309"/>
            <a:ext cx="0" cy="792287"/>
          </a:xfrm>
          <a:prstGeom prst="line">
            <a:avLst/>
          </a:prstGeom>
          <a:ln w="28892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prompt_module_dashed"/>
          <p:cNvSpPr/>
          <p:nvPr/>
        </p:nvSpPr>
        <p:spPr>
          <a:xfrm>
            <a:off x="6807520" y="4407581"/>
            <a:ext cx="1884567" cy="70767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472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prompt_module_left"/>
          <p:cNvSpPr/>
          <p:nvPr/>
        </p:nvSpPr>
        <p:spPr>
          <a:xfrm>
            <a:off x="6892133" y="4507578"/>
            <a:ext cx="461527" cy="576909"/>
          </a:xfrm>
          <a:custGeom>
            <a:avLst/>
            <a:gdLst/>
            <a:ahLst/>
            <a:cxnLst/>
            <a:rect l="l" t="t" r="r" b="b"/>
            <a:pathLst>
              <a:path w="461527" h="576909">
                <a:moveTo>
                  <a:pt x="0" y="0"/>
                </a:moveTo>
                <a:lnTo>
                  <a:pt x="461527" y="130766"/>
                </a:lnTo>
                <a:lnTo>
                  <a:pt x="461527" y="461527"/>
                </a:lnTo>
                <a:lnTo>
                  <a:pt x="0" y="576909"/>
                </a:lnTo>
                <a:close/>
              </a:path>
            </a:pathLst>
          </a:custGeom>
          <a:solidFill>
            <a:srgbClr val="C9D8E6"/>
          </a:solidFill>
          <a:ln w="16510">
            <a:solidFill>
              <a:srgbClr val="6F7D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prompt_module_neck"/>
          <p:cNvSpPr/>
          <p:nvPr/>
        </p:nvSpPr>
        <p:spPr>
          <a:xfrm>
            <a:off x="7353660" y="4507578"/>
            <a:ext cx="446143" cy="546140"/>
          </a:xfrm>
          <a:custGeom>
            <a:avLst/>
            <a:gdLst/>
            <a:ahLst/>
            <a:cxnLst/>
            <a:rect l="l" t="t" r="r" b="b"/>
            <a:pathLst>
              <a:path w="446143" h="546140">
                <a:moveTo>
                  <a:pt x="0" y="130766"/>
                </a:moveTo>
                <a:lnTo>
                  <a:pt x="299992" y="0"/>
                </a:lnTo>
                <a:lnTo>
                  <a:pt x="446143" y="76921"/>
                </a:lnTo>
                <a:lnTo>
                  <a:pt x="446143" y="476911"/>
                </a:lnTo>
                <a:lnTo>
                  <a:pt x="299992" y="546140"/>
                </a:lnTo>
                <a:lnTo>
                  <a:pt x="0" y="461527"/>
                </a:lnTo>
                <a:close/>
              </a:path>
            </a:pathLst>
          </a:custGeom>
          <a:solidFill>
            <a:srgbClr val="B5C6D4"/>
          </a:solidFill>
          <a:ln w="16510">
            <a:solidFill>
              <a:srgbClr val="6F7D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prompt_module_right"/>
          <p:cNvSpPr/>
          <p:nvPr/>
        </p:nvSpPr>
        <p:spPr>
          <a:xfrm>
            <a:off x="7799803" y="4469117"/>
            <a:ext cx="469219" cy="538448"/>
          </a:xfrm>
          <a:custGeom>
            <a:avLst/>
            <a:gdLst/>
            <a:ahLst/>
            <a:cxnLst/>
            <a:rect l="l" t="t" r="r" b="b"/>
            <a:pathLst>
              <a:path w="469219" h="538448">
                <a:moveTo>
                  <a:pt x="0" y="146151"/>
                </a:moveTo>
                <a:lnTo>
                  <a:pt x="469219" y="0"/>
                </a:lnTo>
                <a:lnTo>
                  <a:pt x="469219" y="538448"/>
                </a:lnTo>
                <a:lnTo>
                  <a:pt x="0" y="423067"/>
                </a:lnTo>
                <a:close/>
              </a:path>
            </a:pathLst>
          </a:custGeom>
          <a:solidFill>
            <a:srgbClr val="C9D8E6"/>
          </a:solidFill>
          <a:ln w="16510">
            <a:solidFill>
              <a:srgbClr val="6F7D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prompt_module_tail"/>
          <p:cNvSpPr/>
          <p:nvPr/>
        </p:nvSpPr>
        <p:spPr>
          <a:xfrm>
            <a:off x="8269022" y="4453733"/>
            <a:ext cx="330760" cy="553832"/>
          </a:xfrm>
          <a:custGeom>
            <a:avLst/>
            <a:gdLst/>
            <a:ahLst/>
            <a:cxnLst/>
            <a:rect l="l" t="t" r="r" b="b"/>
            <a:pathLst>
              <a:path w="330760" h="553832">
                <a:moveTo>
                  <a:pt x="0" y="99998"/>
                </a:moveTo>
                <a:lnTo>
                  <a:pt x="330760" y="0"/>
                </a:lnTo>
                <a:lnTo>
                  <a:pt x="330760" y="553832"/>
                </a:lnTo>
                <a:lnTo>
                  <a:pt x="0" y="453835"/>
                </a:lnTo>
                <a:close/>
              </a:path>
            </a:pathLst>
          </a:custGeom>
          <a:solidFill>
            <a:srgbClr val="ADC4D7"/>
          </a:solidFill>
          <a:ln w="16510">
            <a:solidFill>
              <a:srgbClr val="6F7D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prompt_to_ir_blue_0"/>
          <p:cNvCxnSpPr/>
          <p:nvPr/>
        </p:nvCxnSpPr>
        <p:spPr>
          <a:xfrm>
            <a:off x="7615192" y="5099871"/>
            <a:ext cx="0" cy="253840"/>
          </a:xfrm>
          <a:prstGeom prst="line">
            <a:avLst/>
          </a:prstGeom>
          <a:ln w="33020">
            <a:solidFill>
              <a:srgbClr val="4472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prompt_to_ir_orange_0"/>
          <p:cNvCxnSpPr/>
          <p:nvPr/>
        </p:nvCxnSpPr>
        <p:spPr>
          <a:xfrm>
            <a:off x="8099795" y="5099871"/>
            <a:ext cx="0" cy="253840"/>
          </a:xfrm>
          <a:prstGeom prst="line">
            <a:avLst/>
          </a:prstGeom>
          <a:ln w="33020">
            <a:solidFill>
              <a:srgbClr val="EF9B6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blue_encoder_inject_0"/>
          <p:cNvCxnSpPr/>
          <p:nvPr/>
        </p:nvCxnSpPr>
        <p:spPr>
          <a:xfrm>
            <a:off x="6030617" y="4792186"/>
            <a:ext cx="0" cy="330761"/>
          </a:xfrm>
          <a:prstGeom prst="line">
            <a:avLst/>
          </a:prstGeom>
          <a:ln w="33020">
            <a:solidFill>
              <a:srgbClr val="4472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blue_encoder_junction"/>
          <p:cNvSpPr/>
          <p:nvPr/>
        </p:nvSpPr>
        <p:spPr>
          <a:xfrm>
            <a:off x="5976772" y="4738341"/>
            <a:ext cx="107689" cy="107689"/>
          </a:xfrm>
          <a:prstGeom prst="ellipse">
            <a:avLst/>
          </a:prstGeom>
          <a:solidFill>
            <a:srgbClr val="4472C4"/>
          </a:solidFill>
          <a:ln w="825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orange_encoder_inject_0"/>
          <p:cNvCxnSpPr/>
          <p:nvPr/>
        </p:nvCxnSpPr>
        <p:spPr>
          <a:xfrm>
            <a:off x="6292148" y="4461425"/>
            <a:ext cx="0" cy="661522"/>
          </a:xfrm>
          <a:prstGeom prst="line">
            <a:avLst/>
          </a:prstGeom>
          <a:ln w="33020">
            <a:solidFill>
              <a:srgbClr val="EF9B6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orange_encoder_junction"/>
          <p:cNvSpPr/>
          <p:nvPr/>
        </p:nvSpPr>
        <p:spPr>
          <a:xfrm>
            <a:off x="6238304" y="4407581"/>
            <a:ext cx="107689" cy="107689"/>
          </a:xfrm>
          <a:prstGeom prst="ellipse">
            <a:avLst/>
          </a:prstGeom>
          <a:solidFill>
            <a:srgbClr val="EF9B60"/>
          </a:solidFill>
          <a:ln w="8255">
            <a:solidFill>
              <a:srgbClr val="EF9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blue_decoder_route_0"/>
          <p:cNvCxnSpPr/>
          <p:nvPr/>
        </p:nvCxnSpPr>
        <p:spPr>
          <a:xfrm>
            <a:off x="8384403" y="4792186"/>
            <a:ext cx="823056" cy="0"/>
          </a:xfrm>
          <a:prstGeom prst="line">
            <a:avLst/>
          </a:prstGeom>
          <a:ln w="33020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blue_decoder_route_1"/>
          <p:cNvCxnSpPr/>
          <p:nvPr/>
        </p:nvCxnSpPr>
        <p:spPr>
          <a:xfrm>
            <a:off x="9207459" y="4792186"/>
            <a:ext cx="0" cy="515372"/>
          </a:xfrm>
          <a:prstGeom prst="line">
            <a:avLst/>
          </a:prstGeom>
          <a:ln w="33020">
            <a:solidFill>
              <a:srgbClr val="4472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blue_decoder_junction"/>
          <p:cNvSpPr/>
          <p:nvPr/>
        </p:nvSpPr>
        <p:spPr>
          <a:xfrm>
            <a:off x="9153615" y="4738341"/>
            <a:ext cx="107689" cy="107689"/>
          </a:xfrm>
          <a:prstGeom prst="ellipse">
            <a:avLst/>
          </a:prstGeom>
          <a:solidFill>
            <a:srgbClr val="4472C4"/>
          </a:solidFill>
          <a:ln w="825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orange_decoder_route_0"/>
          <p:cNvCxnSpPr/>
          <p:nvPr/>
        </p:nvCxnSpPr>
        <p:spPr>
          <a:xfrm>
            <a:off x="8599782" y="4461425"/>
            <a:ext cx="876901" cy="0"/>
          </a:xfrm>
          <a:prstGeom prst="line">
            <a:avLst/>
          </a:prstGeom>
          <a:ln w="33020">
            <a:solidFill>
              <a:srgbClr val="EF9B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orange_decoder_route_1"/>
          <p:cNvCxnSpPr/>
          <p:nvPr/>
        </p:nvCxnSpPr>
        <p:spPr>
          <a:xfrm>
            <a:off x="9476683" y="4461425"/>
            <a:ext cx="0" cy="846133"/>
          </a:xfrm>
          <a:prstGeom prst="line">
            <a:avLst/>
          </a:prstGeom>
          <a:ln w="33020">
            <a:solidFill>
              <a:srgbClr val="EF9B6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range_decoder_junction"/>
          <p:cNvSpPr/>
          <p:nvPr/>
        </p:nvSpPr>
        <p:spPr>
          <a:xfrm>
            <a:off x="9422839" y="4407581"/>
            <a:ext cx="107689" cy="107689"/>
          </a:xfrm>
          <a:prstGeom prst="ellipse">
            <a:avLst/>
          </a:prstGeom>
          <a:solidFill>
            <a:srgbClr val="EF9B60"/>
          </a:solidFill>
          <a:ln w="8255">
            <a:solidFill>
              <a:srgbClr val="EF9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blue_output_route_0"/>
          <p:cNvCxnSpPr/>
          <p:nvPr/>
        </p:nvCxnSpPr>
        <p:spPr>
          <a:xfrm>
            <a:off x="9207459" y="4792186"/>
            <a:ext cx="1107665" cy="0"/>
          </a:xfrm>
          <a:prstGeom prst="line">
            <a:avLst/>
          </a:prstGeom>
          <a:ln w="33020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blue_output_route_1"/>
          <p:cNvCxnSpPr/>
          <p:nvPr/>
        </p:nvCxnSpPr>
        <p:spPr>
          <a:xfrm>
            <a:off x="10315124" y="4792186"/>
            <a:ext cx="0" cy="330761"/>
          </a:xfrm>
          <a:prstGeom prst="line">
            <a:avLst/>
          </a:prstGeom>
          <a:ln w="33020">
            <a:solidFill>
              <a:srgbClr val="4472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orange_output_route_0"/>
          <p:cNvCxnSpPr/>
          <p:nvPr/>
        </p:nvCxnSpPr>
        <p:spPr>
          <a:xfrm>
            <a:off x="9476683" y="4461425"/>
            <a:ext cx="1061512" cy="0"/>
          </a:xfrm>
          <a:prstGeom prst="line">
            <a:avLst/>
          </a:prstGeom>
          <a:ln w="33020">
            <a:solidFill>
              <a:srgbClr val="EF9B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orange_output_route_1"/>
          <p:cNvCxnSpPr/>
          <p:nvPr/>
        </p:nvCxnSpPr>
        <p:spPr>
          <a:xfrm>
            <a:off x="10538195" y="4461425"/>
            <a:ext cx="0" cy="661522"/>
          </a:xfrm>
          <a:prstGeom prst="line">
            <a:avLst/>
          </a:prstGeom>
          <a:ln w="33020">
            <a:solidFill>
              <a:srgbClr val="EF9B6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pt_baseline_0"/>
          <p:cNvCxnSpPr/>
          <p:nvPr/>
        </p:nvCxnSpPr>
        <p:spPr>
          <a:xfrm>
            <a:off x="4853723" y="6330609"/>
            <a:ext cx="0" cy="946130"/>
          </a:xfrm>
          <a:prstGeom prst="line">
            <a:avLst/>
          </a:prstGeom>
          <a:ln w="330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pt_baseline_1"/>
          <p:cNvCxnSpPr/>
          <p:nvPr/>
        </p:nvCxnSpPr>
        <p:spPr>
          <a:xfrm>
            <a:off x="4853723" y="7276739"/>
            <a:ext cx="3030693" cy="0"/>
          </a:xfrm>
          <a:prstGeom prst="line">
            <a:avLst/>
          </a:prstGeom>
          <a:ln w="330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pt_from_output_0"/>
          <p:cNvCxnSpPr/>
          <p:nvPr/>
        </p:nvCxnSpPr>
        <p:spPr>
          <a:xfrm>
            <a:off x="11522786" y="6338301"/>
            <a:ext cx="0" cy="661522"/>
          </a:xfrm>
          <a:prstGeom prst="line">
            <a:avLst/>
          </a:prstGeom>
          <a:ln w="330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pt_from_output_1"/>
          <p:cNvCxnSpPr/>
          <p:nvPr/>
        </p:nvCxnSpPr>
        <p:spPr>
          <a:xfrm flipH="1">
            <a:off x="8222869" y="6999823"/>
            <a:ext cx="3299917" cy="0"/>
          </a:xfrm>
          <a:prstGeom prst="line">
            <a:avLst/>
          </a:prstGeom>
          <a:ln w="330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pt_stop_left_0"/>
          <p:cNvCxnSpPr/>
          <p:nvPr/>
        </p:nvCxnSpPr>
        <p:spPr>
          <a:xfrm flipV="1">
            <a:off x="7884416" y="7184434"/>
            <a:ext cx="0" cy="92305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pt_stop_left_1"/>
          <p:cNvCxnSpPr/>
          <p:nvPr/>
        </p:nvCxnSpPr>
        <p:spPr>
          <a:xfrm>
            <a:off x="7884416" y="7184434"/>
            <a:ext cx="107689" cy="0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pt_stop_left_2"/>
          <p:cNvCxnSpPr/>
          <p:nvPr/>
        </p:nvCxnSpPr>
        <p:spPr>
          <a:xfrm flipV="1">
            <a:off x="7992105" y="7115205"/>
            <a:ext cx="0" cy="69229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pt_stop_right_0"/>
          <p:cNvCxnSpPr/>
          <p:nvPr/>
        </p:nvCxnSpPr>
        <p:spPr>
          <a:xfrm>
            <a:off x="8222869" y="6999823"/>
            <a:ext cx="0" cy="99997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pt_stop_right_1"/>
          <p:cNvCxnSpPr/>
          <p:nvPr/>
        </p:nvCxnSpPr>
        <p:spPr>
          <a:xfrm flipH="1">
            <a:off x="8115179" y="7099820"/>
            <a:ext cx="107690" cy="0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pt_stop_right_2"/>
          <p:cNvCxnSpPr/>
          <p:nvPr/>
        </p:nvCxnSpPr>
        <p:spPr>
          <a:xfrm>
            <a:off x="8115179" y="7099820"/>
            <a:ext cx="0" cy="84614"/>
          </a:xfrm>
          <a:prstGeom prst="line">
            <a:avLst/>
          </a:prstGeom>
          <a:ln w="33020">
            <a:solidFill>
              <a:srgbClr val="D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spt_red_dot_left"/>
          <p:cNvSpPr/>
          <p:nvPr/>
        </p:nvSpPr>
        <p:spPr>
          <a:xfrm>
            <a:off x="7822879" y="7215202"/>
            <a:ext cx="107689" cy="107689"/>
          </a:xfrm>
          <a:prstGeom prst="ellipse">
            <a:avLst/>
          </a:prstGeom>
          <a:solidFill>
            <a:srgbClr val="D00000"/>
          </a:solidFill>
          <a:ln w="8255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pt_red_dot_right"/>
          <p:cNvSpPr/>
          <p:nvPr/>
        </p:nvSpPr>
        <p:spPr>
          <a:xfrm>
            <a:off x="8169024" y="6945978"/>
            <a:ext cx="107689" cy="107689"/>
          </a:xfrm>
          <a:prstGeom prst="ellipse">
            <a:avLst/>
          </a:prstGeom>
          <a:solidFill>
            <a:srgbClr val="D00000"/>
          </a:solidFill>
          <a:ln w="8255">
            <a:solidFill>
              <a:srgbClr val="D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pt_caption"/>
          <p:cNvSpPr txBox="1"/>
          <p:nvPr/>
        </p:nvSpPr>
        <p:spPr>
          <a:xfrm>
            <a:off x="9076694" y="7022899"/>
            <a:ext cx="2807621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44" b="1" i="0">
                <a:solidFill>
                  <a:srgbClr val="000000"/>
                </a:solidFill>
                <a:latin typeface="Liberation Serif"/>
              </a:rPr>
              <a:t>Selective Progressive Training(SPT)</a:t>
            </a:r>
          </a:p>
        </p:txBody>
      </p:sp>
      <p:cxnSp>
        <p:nvCxnSpPr>
          <p:cNvPr id="315" name="iterative_loop_0"/>
          <p:cNvCxnSpPr/>
          <p:nvPr/>
        </p:nvCxnSpPr>
        <p:spPr>
          <a:xfrm>
            <a:off x="12430455" y="4384504"/>
            <a:ext cx="1107664" cy="0"/>
          </a:xfrm>
          <a:prstGeom prst="line">
            <a:avLst/>
          </a:prstGeom>
          <a:ln w="24765">
            <a:solidFill>
              <a:srgbClr val="162C5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iterative_loop_1"/>
          <p:cNvCxnSpPr/>
          <p:nvPr/>
        </p:nvCxnSpPr>
        <p:spPr>
          <a:xfrm>
            <a:off x="13538119" y="4384504"/>
            <a:ext cx="0" cy="169227"/>
          </a:xfrm>
          <a:prstGeom prst="line">
            <a:avLst/>
          </a:prstGeom>
          <a:ln w="24765">
            <a:solidFill>
              <a:srgbClr val="162C51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iterative_loop_return_0"/>
          <p:cNvCxnSpPr/>
          <p:nvPr/>
        </p:nvCxnSpPr>
        <p:spPr>
          <a:xfrm>
            <a:off x="13415046" y="7107512"/>
            <a:ext cx="0" cy="246148"/>
          </a:xfrm>
          <a:prstGeom prst="line">
            <a:avLst/>
          </a:prstGeom>
          <a:ln w="24765">
            <a:solidFill>
              <a:srgbClr val="162C5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iterative_loop_return_1"/>
          <p:cNvCxnSpPr/>
          <p:nvPr/>
        </p:nvCxnSpPr>
        <p:spPr>
          <a:xfrm flipH="1">
            <a:off x="12430455" y="7353660"/>
            <a:ext cx="984591" cy="0"/>
          </a:xfrm>
          <a:prstGeom prst="line">
            <a:avLst/>
          </a:prstGeom>
          <a:ln w="24765">
            <a:solidFill>
              <a:srgbClr val="162C5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iterative_loop_return_2"/>
          <p:cNvCxnSpPr/>
          <p:nvPr/>
        </p:nvCxnSpPr>
        <p:spPr>
          <a:xfrm flipV="1">
            <a:off x="12430455" y="4384504"/>
            <a:ext cx="0" cy="2969156"/>
          </a:xfrm>
          <a:prstGeom prst="line">
            <a:avLst/>
          </a:prstGeom>
          <a:ln w="24765">
            <a:solidFill>
              <a:srgbClr val="162C5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iterative_label"/>
          <p:cNvSpPr txBox="1"/>
          <p:nvPr/>
        </p:nvSpPr>
        <p:spPr>
          <a:xfrm rot="16200000">
            <a:off x="12253536" y="5322942"/>
            <a:ext cx="269223" cy="76921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Iterative</a:t>
            </a:r>
          </a:p>
        </p:txBody>
      </p:sp>
      <p:sp>
        <p:nvSpPr>
          <p:cNvPr id="321" name="iter_first_shadow"/>
          <p:cNvSpPr/>
          <p:nvPr/>
        </p:nvSpPr>
        <p:spPr>
          <a:xfrm>
            <a:off x="12638142" y="4584499"/>
            <a:ext cx="1615343" cy="923053"/>
          </a:xfrm>
          <a:prstGeom prst="roundRect">
            <a:avLst/>
          </a:prstGeom>
          <a:solidFill>
            <a:srgbClr val="D5D5D5"/>
          </a:solidFill>
          <a:ln w="825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iter_first_card"/>
          <p:cNvSpPr/>
          <p:nvPr/>
        </p:nvSpPr>
        <p:spPr>
          <a:xfrm>
            <a:off x="12653526" y="4553731"/>
            <a:ext cx="1592267" cy="892285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iter_first_iter_label"/>
          <p:cNvSpPr txBox="1"/>
          <p:nvPr/>
        </p:nvSpPr>
        <p:spPr>
          <a:xfrm rot="16200000">
            <a:off x="12699679" y="4738341"/>
            <a:ext cx="238455" cy="5384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Iter.1</a:t>
            </a:r>
          </a:p>
        </p:txBody>
      </p:sp>
      <p:sp>
        <p:nvSpPr>
          <p:cNvPr id="324" name="iter_first_theta_0"/>
          <p:cNvSpPr/>
          <p:nvPr/>
        </p:nvSpPr>
        <p:spPr>
          <a:xfrm>
            <a:off x="13115053" y="4630652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iter_first_theta_text_0"/>
          <p:cNvSpPr txBox="1"/>
          <p:nvPr/>
        </p:nvSpPr>
        <p:spPr>
          <a:xfrm>
            <a:off x="13138129" y="4607576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26" name="iter_first_type_0"/>
          <p:cNvSpPr/>
          <p:nvPr/>
        </p:nvSpPr>
        <p:spPr>
          <a:xfrm>
            <a:off x="13922725" y="4630652"/>
            <a:ext cx="238455" cy="184610"/>
          </a:xfrm>
          <a:prstGeom prst="roundRect">
            <a:avLst/>
          </a:prstGeom>
          <a:solidFill>
            <a:srgbClr val="D6DCAE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iter_first_type_text_0"/>
          <p:cNvSpPr txBox="1"/>
          <p:nvPr/>
        </p:nvSpPr>
        <p:spPr>
          <a:xfrm>
            <a:off x="13922725" y="4622960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328" name="iter_first_theta_1"/>
          <p:cNvSpPr/>
          <p:nvPr/>
        </p:nvSpPr>
        <p:spPr>
          <a:xfrm>
            <a:off x="13115053" y="4915260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iter_first_theta_text_1"/>
          <p:cNvSpPr txBox="1"/>
          <p:nvPr/>
        </p:nvSpPr>
        <p:spPr>
          <a:xfrm>
            <a:off x="13138129" y="4892184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30" name="iter_first_type_1"/>
          <p:cNvSpPr/>
          <p:nvPr/>
        </p:nvSpPr>
        <p:spPr>
          <a:xfrm>
            <a:off x="13922725" y="4915260"/>
            <a:ext cx="238455" cy="184610"/>
          </a:xfrm>
          <a:prstGeom prst="roundRect">
            <a:avLst/>
          </a:prstGeom>
          <a:solidFill>
            <a:srgbClr val="7FC5C1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iter_first_type_text_1"/>
          <p:cNvSpPr txBox="1"/>
          <p:nvPr/>
        </p:nvSpPr>
        <p:spPr>
          <a:xfrm>
            <a:off x="13922725" y="4907568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332" name="iter_first_theta_2"/>
          <p:cNvSpPr/>
          <p:nvPr/>
        </p:nvSpPr>
        <p:spPr>
          <a:xfrm>
            <a:off x="13115053" y="5199868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iter_first_theta_text_2"/>
          <p:cNvSpPr txBox="1"/>
          <p:nvPr/>
        </p:nvSpPr>
        <p:spPr>
          <a:xfrm>
            <a:off x="13138129" y="5176792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34" name="iter_first_type_2"/>
          <p:cNvSpPr/>
          <p:nvPr/>
        </p:nvSpPr>
        <p:spPr>
          <a:xfrm>
            <a:off x="13922725" y="5199868"/>
            <a:ext cx="238455" cy="184610"/>
          </a:xfrm>
          <a:prstGeom prst="roundRect">
            <a:avLst/>
          </a:prstGeom>
          <a:solidFill>
            <a:srgbClr val="90A6BD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iter_first_type_text_2"/>
          <p:cNvSpPr txBox="1"/>
          <p:nvPr/>
        </p:nvSpPr>
        <p:spPr>
          <a:xfrm>
            <a:off x="13922725" y="5192176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cxnSp>
        <p:nvCxnSpPr>
          <p:cNvPr id="336" name="iter_first_fp1_0"/>
          <p:cNvCxnSpPr/>
          <p:nvPr/>
        </p:nvCxnSpPr>
        <p:spPr>
          <a:xfrm>
            <a:off x="13391969" y="4799878"/>
            <a:ext cx="0" cy="115382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iter_first_fp2_0"/>
          <p:cNvCxnSpPr/>
          <p:nvPr/>
        </p:nvCxnSpPr>
        <p:spPr>
          <a:xfrm>
            <a:off x="13391969" y="5084487"/>
            <a:ext cx="0" cy="115381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iter_first_bp1_0"/>
          <p:cNvCxnSpPr/>
          <p:nvPr/>
        </p:nvCxnSpPr>
        <p:spPr>
          <a:xfrm flipV="1">
            <a:off x="13491967" y="5084487"/>
            <a:ext cx="0" cy="115381"/>
          </a:xfrm>
          <a:prstGeom prst="line">
            <a:avLst/>
          </a:prstGeom>
          <a:ln w="16510">
            <a:solidFill>
              <a:srgbClr val="D000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iter_first_bp2_0"/>
          <p:cNvCxnSpPr/>
          <p:nvPr/>
        </p:nvCxnSpPr>
        <p:spPr>
          <a:xfrm flipV="1">
            <a:off x="13491967" y="4799878"/>
            <a:ext cx="0" cy="115382"/>
          </a:xfrm>
          <a:prstGeom prst="line">
            <a:avLst/>
          </a:prstGeom>
          <a:ln w="16510">
            <a:solidFill>
              <a:srgbClr val="D000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iter_collapsed_0"/>
          <p:cNvSpPr/>
          <p:nvPr/>
        </p:nvSpPr>
        <p:spPr>
          <a:xfrm>
            <a:off x="12653526" y="5538321"/>
            <a:ext cx="1592267" cy="26153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iter_collapsed_text_0"/>
          <p:cNvSpPr txBox="1"/>
          <p:nvPr/>
        </p:nvSpPr>
        <p:spPr>
          <a:xfrm>
            <a:off x="12676603" y="5538321"/>
            <a:ext cx="1546114" cy="2461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Iter.2</a:t>
            </a:r>
          </a:p>
        </p:txBody>
      </p:sp>
      <p:cxnSp>
        <p:nvCxnSpPr>
          <p:cNvPr id="342" name="iter_update_0_0"/>
          <p:cNvCxnSpPr/>
          <p:nvPr/>
        </p:nvCxnSpPr>
        <p:spPr>
          <a:xfrm>
            <a:off x="14261178" y="5669087"/>
            <a:ext cx="146150" cy="0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iter_update_0_1"/>
          <p:cNvCxnSpPr/>
          <p:nvPr/>
        </p:nvCxnSpPr>
        <p:spPr>
          <a:xfrm flipV="1">
            <a:off x="14407328" y="5522937"/>
            <a:ext cx="0" cy="146150"/>
          </a:xfrm>
          <a:prstGeom prst="line">
            <a:avLst/>
          </a:prstGeom>
          <a:ln w="16510">
            <a:solidFill>
              <a:srgbClr val="FFBF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iter_collapsed_1"/>
          <p:cNvSpPr/>
          <p:nvPr/>
        </p:nvSpPr>
        <p:spPr>
          <a:xfrm>
            <a:off x="12653526" y="5876774"/>
            <a:ext cx="1592267" cy="26153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iter_collapsed_text_1"/>
          <p:cNvSpPr txBox="1"/>
          <p:nvPr/>
        </p:nvSpPr>
        <p:spPr>
          <a:xfrm>
            <a:off x="12676603" y="5876774"/>
            <a:ext cx="1546114" cy="2461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92" b="1" i="0">
                <a:solidFill>
                  <a:srgbClr val="000000"/>
                </a:solidFill>
                <a:latin typeface="Liberation Serif"/>
              </a:rPr>
              <a:t>Iter.3</a:t>
            </a:r>
          </a:p>
        </p:txBody>
      </p:sp>
      <p:cxnSp>
        <p:nvCxnSpPr>
          <p:cNvPr id="346" name="iter_update_1_0"/>
          <p:cNvCxnSpPr/>
          <p:nvPr/>
        </p:nvCxnSpPr>
        <p:spPr>
          <a:xfrm>
            <a:off x="14261178" y="6007540"/>
            <a:ext cx="146150" cy="0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iter_update_1_1"/>
          <p:cNvCxnSpPr/>
          <p:nvPr/>
        </p:nvCxnSpPr>
        <p:spPr>
          <a:xfrm flipV="1">
            <a:off x="14407328" y="5861390"/>
            <a:ext cx="0" cy="146150"/>
          </a:xfrm>
          <a:prstGeom prst="line">
            <a:avLst/>
          </a:prstGeom>
          <a:ln w="16510">
            <a:solidFill>
              <a:srgbClr val="FFBF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iter_last_shadow"/>
          <p:cNvSpPr/>
          <p:nvPr/>
        </p:nvSpPr>
        <p:spPr>
          <a:xfrm>
            <a:off x="12638142" y="6276764"/>
            <a:ext cx="1615343" cy="923053"/>
          </a:xfrm>
          <a:prstGeom prst="roundRect">
            <a:avLst/>
          </a:prstGeom>
          <a:solidFill>
            <a:srgbClr val="D5D5D5"/>
          </a:solidFill>
          <a:ln w="825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iter_last_card"/>
          <p:cNvSpPr/>
          <p:nvPr/>
        </p:nvSpPr>
        <p:spPr>
          <a:xfrm>
            <a:off x="12653526" y="6245996"/>
            <a:ext cx="1592267" cy="892285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iter_last_iter_label"/>
          <p:cNvSpPr txBox="1"/>
          <p:nvPr/>
        </p:nvSpPr>
        <p:spPr>
          <a:xfrm rot="16200000">
            <a:off x="12699679" y="6430606"/>
            <a:ext cx="238455" cy="5384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Iter.n</a:t>
            </a:r>
          </a:p>
        </p:txBody>
      </p:sp>
      <p:sp>
        <p:nvSpPr>
          <p:cNvPr id="351" name="iter_last_theta_0"/>
          <p:cNvSpPr/>
          <p:nvPr/>
        </p:nvSpPr>
        <p:spPr>
          <a:xfrm>
            <a:off x="13115053" y="6322917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iter_last_theta_text_0"/>
          <p:cNvSpPr txBox="1"/>
          <p:nvPr/>
        </p:nvSpPr>
        <p:spPr>
          <a:xfrm>
            <a:off x="13138129" y="6299841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53" name="iter_last_type_0"/>
          <p:cNvSpPr/>
          <p:nvPr/>
        </p:nvSpPr>
        <p:spPr>
          <a:xfrm>
            <a:off x="13922725" y="6322917"/>
            <a:ext cx="238455" cy="184610"/>
          </a:xfrm>
          <a:prstGeom prst="roundRect">
            <a:avLst/>
          </a:prstGeom>
          <a:solidFill>
            <a:srgbClr val="D6DCAE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iter_last_type_text_0"/>
          <p:cNvSpPr txBox="1"/>
          <p:nvPr/>
        </p:nvSpPr>
        <p:spPr>
          <a:xfrm>
            <a:off x="13922725" y="6315225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355" name="iter_last_theta_1"/>
          <p:cNvSpPr/>
          <p:nvPr/>
        </p:nvSpPr>
        <p:spPr>
          <a:xfrm>
            <a:off x="13115053" y="6607525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iter_last_theta_text_1"/>
          <p:cNvSpPr txBox="1"/>
          <p:nvPr/>
        </p:nvSpPr>
        <p:spPr>
          <a:xfrm>
            <a:off x="13138129" y="6584449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57" name="iter_last_type_1"/>
          <p:cNvSpPr/>
          <p:nvPr/>
        </p:nvSpPr>
        <p:spPr>
          <a:xfrm>
            <a:off x="13922725" y="6607525"/>
            <a:ext cx="238455" cy="184610"/>
          </a:xfrm>
          <a:prstGeom prst="roundRect">
            <a:avLst/>
          </a:prstGeom>
          <a:solidFill>
            <a:srgbClr val="7FC5C1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iter_last_type_text_1"/>
          <p:cNvSpPr txBox="1"/>
          <p:nvPr/>
        </p:nvSpPr>
        <p:spPr>
          <a:xfrm>
            <a:off x="13922725" y="6599833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359" name="iter_last_theta_2"/>
          <p:cNvSpPr/>
          <p:nvPr/>
        </p:nvSpPr>
        <p:spPr>
          <a:xfrm>
            <a:off x="13115053" y="6892133"/>
            <a:ext cx="553832" cy="169226"/>
          </a:xfrm>
          <a:prstGeom prst="roundRect">
            <a:avLst/>
          </a:prstGeom>
          <a:solidFill>
            <a:srgbClr val="FFFFFF"/>
          </a:solidFill>
          <a:ln w="1320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iter_last_theta_text_2"/>
          <p:cNvSpPr txBox="1"/>
          <p:nvPr/>
        </p:nvSpPr>
        <p:spPr>
          <a:xfrm>
            <a:off x="13138129" y="6869057"/>
            <a:ext cx="507679" cy="1999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361" name="iter_last_type_2"/>
          <p:cNvSpPr/>
          <p:nvPr/>
        </p:nvSpPr>
        <p:spPr>
          <a:xfrm>
            <a:off x="13922725" y="6892133"/>
            <a:ext cx="238455" cy="184610"/>
          </a:xfrm>
          <a:prstGeom prst="roundRect">
            <a:avLst/>
          </a:prstGeom>
          <a:solidFill>
            <a:srgbClr val="90A6BD"/>
          </a:solidFill>
          <a:ln w="12382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iter_last_type_text_2"/>
          <p:cNvSpPr txBox="1"/>
          <p:nvPr/>
        </p:nvSpPr>
        <p:spPr>
          <a:xfrm>
            <a:off x="13922725" y="6884441"/>
            <a:ext cx="238455" cy="184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cxnSp>
        <p:nvCxnSpPr>
          <p:cNvPr id="363" name="iter_last_fp1_0"/>
          <p:cNvCxnSpPr/>
          <p:nvPr/>
        </p:nvCxnSpPr>
        <p:spPr>
          <a:xfrm>
            <a:off x="13391969" y="6492143"/>
            <a:ext cx="0" cy="115382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iter_last_fp2_0"/>
          <p:cNvCxnSpPr/>
          <p:nvPr/>
        </p:nvCxnSpPr>
        <p:spPr>
          <a:xfrm>
            <a:off x="13391969" y="6776752"/>
            <a:ext cx="0" cy="115381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iter_last_bp1_0"/>
          <p:cNvCxnSpPr/>
          <p:nvPr/>
        </p:nvCxnSpPr>
        <p:spPr>
          <a:xfrm flipV="1">
            <a:off x="13491967" y="6776752"/>
            <a:ext cx="0" cy="115381"/>
          </a:xfrm>
          <a:prstGeom prst="line">
            <a:avLst/>
          </a:prstGeom>
          <a:ln w="16510">
            <a:solidFill>
              <a:srgbClr val="D000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iter_last_bp2_0"/>
          <p:cNvCxnSpPr/>
          <p:nvPr/>
        </p:nvCxnSpPr>
        <p:spPr>
          <a:xfrm flipV="1">
            <a:off x="13491967" y="6492143"/>
            <a:ext cx="0" cy="115382"/>
          </a:xfrm>
          <a:prstGeom prst="line">
            <a:avLst/>
          </a:prstGeom>
          <a:ln w="16510">
            <a:solidFill>
              <a:srgbClr val="D000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first_update_0"/>
          <p:cNvCxnSpPr/>
          <p:nvPr/>
        </p:nvCxnSpPr>
        <p:spPr>
          <a:xfrm>
            <a:off x="14253486" y="5238329"/>
            <a:ext cx="192303" cy="0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first_update_1"/>
          <p:cNvCxnSpPr/>
          <p:nvPr/>
        </p:nvCxnSpPr>
        <p:spPr>
          <a:xfrm flipV="1">
            <a:off x="14445789" y="5069102"/>
            <a:ext cx="0" cy="169227"/>
          </a:xfrm>
          <a:prstGeom prst="line">
            <a:avLst/>
          </a:prstGeom>
          <a:ln w="16510">
            <a:solidFill>
              <a:srgbClr val="FFBF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last_update_0"/>
          <p:cNvCxnSpPr/>
          <p:nvPr/>
        </p:nvCxnSpPr>
        <p:spPr>
          <a:xfrm>
            <a:off x="14253486" y="6930594"/>
            <a:ext cx="192303" cy="0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last_update_1"/>
          <p:cNvCxnSpPr/>
          <p:nvPr/>
        </p:nvCxnSpPr>
        <p:spPr>
          <a:xfrm flipV="1">
            <a:off x="14445789" y="6761367"/>
            <a:ext cx="0" cy="169227"/>
          </a:xfrm>
          <a:prstGeom prst="line">
            <a:avLst/>
          </a:prstGeom>
          <a:ln w="16510">
            <a:solidFill>
              <a:srgbClr val="FFBF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first_update_label"/>
          <p:cNvSpPr txBox="1"/>
          <p:nvPr/>
        </p:nvSpPr>
        <p:spPr>
          <a:xfrm rot="16200000">
            <a:off x="14353483" y="4999873"/>
            <a:ext cx="192302" cy="438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12" b="1" i="0">
                <a:solidFill>
                  <a:srgbClr val="000000"/>
                </a:solidFill>
                <a:latin typeface="Liberation Serif"/>
              </a:rPr>
              <a:t>Update</a:t>
            </a:r>
          </a:p>
        </p:txBody>
      </p:sp>
      <p:sp>
        <p:nvSpPr>
          <p:cNvPr id="372" name="last_update_label"/>
          <p:cNvSpPr txBox="1"/>
          <p:nvPr/>
        </p:nvSpPr>
        <p:spPr>
          <a:xfrm rot="16200000">
            <a:off x="14353483" y="6692138"/>
            <a:ext cx="192302" cy="438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12" b="1" i="0">
                <a:solidFill>
                  <a:srgbClr val="000000"/>
                </a:solidFill>
                <a:latin typeface="Liberation Serif"/>
              </a:rPr>
              <a:t>Update</a:t>
            </a:r>
          </a:p>
        </p:txBody>
      </p:sp>
      <p:sp>
        <p:nvSpPr>
          <p:cNvPr id="373" name="legend_badge_0"/>
          <p:cNvSpPr/>
          <p:nvPr/>
        </p:nvSpPr>
        <p:spPr>
          <a:xfrm>
            <a:off x="215379" y="7684421"/>
            <a:ext cx="338452" cy="330760"/>
          </a:xfrm>
          <a:prstGeom prst="roundRect">
            <a:avLst/>
          </a:prstGeom>
          <a:solidFill>
            <a:srgbClr val="E8B6B6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legend_badge_letter_0"/>
          <p:cNvSpPr txBox="1"/>
          <p:nvPr/>
        </p:nvSpPr>
        <p:spPr>
          <a:xfrm>
            <a:off x="215379" y="7676729"/>
            <a:ext cx="338452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56" b="0" i="0">
                <a:solidFill>
                  <a:srgbClr val="FFFFFF"/>
                </a:solidFill>
                <a:latin typeface="Liberation Serif"/>
              </a:rPr>
              <a:t>S</a:t>
            </a:r>
          </a:p>
        </p:txBody>
      </p:sp>
      <p:sp>
        <p:nvSpPr>
          <p:cNvPr id="375" name="legend_badge_label_0"/>
          <p:cNvSpPr txBox="1"/>
          <p:nvPr/>
        </p:nvSpPr>
        <p:spPr>
          <a:xfrm>
            <a:off x="607676" y="7707497"/>
            <a:ext cx="1615343" cy="2692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Single Degraded</a:t>
            </a:r>
          </a:p>
        </p:txBody>
      </p:sp>
      <p:sp>
        <p:nvSpPr>
          <p:cNvPr id="376" name="legend_badge_1"/>
          <p:cNvSpPr/>
          <p:nvPr/>
        </p:nvSpPr>
        <p:spPr>
          <a:xfrm>
            <a:off x="2030717" y="7684421"/>
            <a:ext cx="338452" cy="330760"/>
          </a:xfrm>
          <a:prstGeom prst="roundRect">
            <a:avLst/>
          </a:prstGeom>
          <a:solidFill>
            <a:srgbClr val="E8C79D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legend_badge_letter_1"/>
          <p:cNvSpPr txBox="1"/>
          <p:nvPr/>
        </p:nvSpPr>
        <p:spPr>
          <a:xfrm>
            <a:off x="2030717" y="7676729"/>
            <a:ext cx="338452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56" b="0" i="0">
                <a:solidFill>
                  <a:srgbClr val="FFFFFF"/>
                </a:solidFill>
                <a:latin typeface="Liberation Serif"/>
              </a:rPr>
              <a:t>H</a:t>
            </a:r>
          </a:p>
        </p:txBody>
      </p:sp>
      <p:sp>
        <p:nvSpPr>
          <p:cNvPr id="378" name="legend_badge_label_1"/>
          <p:cNvSpPr txBox="1"/>
          <p:nvPr/>
        </p:nvSpPr>
        <p:spPr>
          <a:xfrm>
            <a:off x="2423015" y="7707497"/>
            <a:ext cx="1653804" cy="2692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Hybrid Degraded</a:t>
            </a:r>
          </a:p>
        </p:txBody>
      </p:sp>
      <p:sp>
        <p:nvSpPr>
          <p:cNvPr id="379" name="legend_badge_2"/>
          <p:cNvSpPr/>
          <p:nvPr/>
        </p:nvSpPr>
        <p:spPr>
          <a:xfrm>
            <a:off x="3846056" y="7684421"/>
            <a:ext cx="338452" cy="330760"/>
          </a:xfrm>
          <a:prstGeom prst="roundRect">
            <a:avLst/>
          </a:prstGeom>
          <a:solidFill>
            <a:srgbClr val="C9D0A5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legend_badge_letter_2"/>
          <p:cNvSpPr txBox="1"/>
          <p:nvPr/>
        </p:nvSpPr>
        <p:spPr>
          <a:xfrm>
            <a:off x="3846056" y="7676729"/>
            <a:ext cx="338452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56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381" name="legend_badge_label_2"/>
          <p:cNvSpPr txBox="1"/>
          <p:nvPr/>
        </p:nvSpPr>
        <p:spPr>
          <a:xfrm>
            <a:off x="4238354" y="7707497"/>
            <a:ext cx="807671" cy="2692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Noise</a:t>
            </a:r>
          </a:p>
        </p:txBody>
      </p:sp>
      <p:sp>
        <p:nvSpPr>
          <p:cNvPr id="382" name="legend_badge_3"/>
          <p:cNvSpPr/>
          <p:nvPr/>
        </p:nvSpPr>
        <p:spPr>
          <a:xfrm>
            <a:off x="4861415" y="7684421"/>
            <a:ext cx="338452" cy="330760"/>
          </a:xfrm>
          <a:prstGeom prst="roundRect">
            <a:avLst/>
          </a:prstGeom>
          <a:solidFill>
            <a:srgbClr val="7FC5C1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legend_badge_letter_3"/>
          <p:cNvSpPr txBox="1"/>
          <p:nvPr/>
        </p:nvSpPr>
        <p:spPr>
          <a:xfrm>
            <a:off x="4861415" y="7676729"/>
            <a:ext cx="338452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56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384" name="legend_badge_label_3"/>
          <p:cNvSpPr txBox="1"/>
          <p:nvPr/>
        </p:nvSpPr>
        <p:spPr>
          <a:xfrm>
            <a:off x="5253713" y="7707497"/>
            <a:ext cx="769211" cy="2692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Blur</a:t>
            </a:r>
          </a:p>
        </p:txBody>
      </p:sp>
      <p:sp>
        <p:nvSpPr>
          <p:cNvPr id="385" name="legend_badge_4"/>
          <p:cNvSpPr/>
          <p:nvPr/>
        </p:nvSpPr>
        <p:spPr>
          <a:xfrm>
            <a:off x="5792161" y="7684421"/>
            <a:ext cx="338452" cy="330760"/>
          </a:xfrm>
          <a:prstGeom prst="roundRect">
            <a:avLst/>
          </a:prstGeom>
          <a:solidFill>
            <a:srgbClr val="90A6BD"/>
          </a:solidFill>
          <a:ln w="16510">
            <a:solidFill>
              <a:srgbClr val="162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legend_badge_letter_4"/>
          <p:cNvSpPr txBox="1"/>
          <p:nvPr/>
        </p:nvSpPr>
        <p:spPr>
          <a:xfrm>
            <a:off x="5792161" y="7676729"/>
            <a:ext cx="338452" cy="330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56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387" name="legend_badge_label_4"/>
          <p:cNvSpPr txBox="1"/>
          <p:nvPr/>
        </p:nvSpPr>
        <p:spPr>
          <a:xfrm>
            <a:off x="6184459" y="7707497"/>
            <a:ext cx="961514" cy="2692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Contrast</a:t>
            </a:r>
          </a:p>
        </p:txBody>
      </p:sp>
      <p:sp>
        <p:nvSpPr>
          <p:cNvPr id="388" name="legend_dsp_key"/>
          <p:cNvSpPr txBox="1"/>
          <p:nvPr/>
        </p:nvSpPr>
        <p:spPr>
          <a:xfrm>
            <a:off x="6938286" y="7707497"/>
            <a:ext cx="384605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355995"/>
                </a:solidFill>
                <a:latin typeface="Liberation Serif"/>
              </a:rPr>
              <a:t>DSP:</a:t>
            </a:r>
          </a:p>
        </p:txBody>
      </p:sp>
      <p:sp>
        <p:nvSpPr>
          <p:cNvPr id="389" name="legend_dsp_value"/>
          <p:cNvSpPr txBox="1"/>
          <p:nvPr/>
        </p:nvSpPr>
        <p:spPr>
          <a:xfrm>
            <a:off x="7422889" y="7707497"/>
            <a:ext cx="2292249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Degradation-specific Prompts</a:t>
            </a:r>
          </a:p>
        </p:txBody>
      </p:sp>
      <p:sp>
        <p:nvSpPr>
          <p:cNvPr id="390" name="legend_tp_key"/>
          <p:cNvSpPr txBox="1"/>
          <p:nvPr/>
        </p:nvSpPr>
        <p:spPr>
          <a:xfrm>
            <a:off x="9707447" y="7707497"/>
            <a:ext cx="353837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355995"/>
                </a:solidFill>
                <a:latin typeface="Liberation Serif"/>
              </a:rPr>
              <a:t>TP:</a:t>
            </a:r>
          </a:p>
        </p:txBody>
      </p:sp>
      <p:sp>
        <p:nvSpPr>
          <p:cNvPr id="391" name="legend_tp_value"/>
          <p:cNvSpPr txBox="1"/>
          <p:nvPr/>
        </p:nvSpPr>
        <p:spPr>
          <a:xfrm>
            <a:off x="10092052" y="7707497"/>
            <a:ext cx="1138432" cy="2615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Type Prompt</a:t>
            </a:r>
          </a:p>
        </p:txBody>
      </p:sp>
      <p:cxnSp>
        <p:nvCxnSpPr>
          <p:cNvPr id="392" name="legend_fp_arrow_0"/>
          <p:cNvCxnSpPr/>
          <p:nvPr/>
        </p:nvCxnSpPr>
        <p:spPr>
          <a:xfrm>
            <a:off x="11261254" y="7845955"/>
            <a:ext cx="284608" cy="0"/>
          </a:xfrm>
          <a:prstGeom prst="line">
            <a:avLst/>
          </a:prstGeom>
          <a:ln w="2476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legend_fp"/>
          <p:cNvSpPr txBox="1"/>
          <p:nvPr/>
        </p:nvSpPr>
        <p:spPr>
          <a:xfrm>
            <a:off x="11615091" y="7722882"/>
            <a:ext cx="330760" cy="2461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FP</a:t>
            </a:r>
          </a:p>
        </p:txBody>
      </p:sp>
      <p:cxnSp>
        <p:nvCxnSpPr>
          <p:cNvPr id="394" name="legend_bp_arrow_0"/>
          <p:cNvCxnSpPr/>
          <p:nvPr/>
        </p:nvCxnSpPr>
        <p:spPr>
          <a:xfrm>
            <a:off x="12099694" y="7845955"/>
            <a:ext cx="315377" cy="0"/>
          </a:xfrm>
          <a:prstGeom prst="line">
            <a:avLst/>
          </a:prstGeom>
          <a:ln w="24765">
            <a:solidFill>
              <a:srgbClr val="D000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legend_bp"/>
          <p:cNvSpPr txBox="1"/>
          <p:nvPr/>
        </p:nvSpPr>
        <p:spPr>
          <a:xfrm>
            <a:off x="12476608" y="7722882"/>
            <a:ext cx="330760" cy="2461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BP</a:t>
            </a:r>
          </a:p>
        </p:txBody>
      </p:sp>
      <p:cxnSp>
        <p:nvCxnSpPr>
          <p:cNvPr id="396" name="legend_update_arrow_0"/>
          <p:cNvCxnSpPr/>
          <p:nvPr/>
        </p:nvCxnSpPr>
        <p:spPr>
          <a:xfrm>
            <a:off x="12922750" y="7876724"/>
            <a:ext cx="107690" cy="0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legend_update_arrow_1"/>
          <p:cNvCxnSpPr/>
          <p:nvPr/>
        </p:nvCxnSpPr>
        <p:spPr>
          <a:xfrm flipV="1">
            <a:off x="13030440" y="7753650"/>
            <a:ext cx="0" cy="123074"/>
          </a:xfrm>
          <a:prstGeom prst="line">
            <a:avLst/>
          </a:prstGeom>
          <a:ln w="16510">
            <a:solidFill>
              <a:srgbClr val="FFB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legend_update_arrow_2"/>
          <p:cNvCxnSpPr/>
          <p:nvPr/>
        </p:nvCxnSpPr>
        <p:spPr>
          <a:xfrm flipH="1">
            <a:off x="12922750" y="7753650"/>
            <a:ext cx="107690" cy="0"/>
          </a:xfrm>
          <a:prstGeom prst="line">
            <a:avLst/>
          </a:prstGeom>
          <a:ln w="16510">
            <a:solidFill>
              <a:srgbClr val="FFBF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legend_update"/>
          <p:cNvSpPr txBox="1"/>
          <p:nvPr/>
        </p:nvSpPr>
        <p:spPr>
          <a:xfrm>
            <a:off x="13153514" y="7722882"/>
            <a:ext cx="1361504" cy="2461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Liberation Serif"/>
              </a:rPr>
              <a:t>Parameter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nhancing Infrared Vision Progressive Prompt Fusion Network and Benchmark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398" cy="8038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