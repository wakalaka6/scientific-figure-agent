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75781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eft-panel"/>
          <p:cNvSpPr/>
          <p:nvPr/>
        </p:nvSpPr>
        <p:spPr>
          <a:xfrm>
            <a:off x="63204" y="107446"/>
            <a:ext cx="3975515" cy="7470681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enter-panel"/>
          <p:cNvSpPr/>
          <p:nvPr/>
        </p:nvSpPr>
        <p:spPr>
          <a:xfrm>
            <a:off x="4291533" y="107446"/>
            <a:ext cx="3874389" cy="7028255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ight-panel"/>
          <p:cNvSpPr/>
          <p:nvPr/>
        </p:nvSpPr>
        <p:spPr>
          <a:xfrm>
            <a:off x="8406096" y="101126"/>
            <a:ext cx="3785904" cy="7477002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ft-action-band-1"/>
          <p:cNvSpPr/>
          <p:nvPr/>
        </p:nvSpPr>
        <p:spPr>
          <a:xfrm>
            <a:off x="63204" y="2439664"/>
            <a:ext cx="3975515" cy="233854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ft-action-band-2"/>
          <p:cNvSpPr/>
          <p:nvPr/>
        </p:nvSpPr>
        <p:spPr>
          <a:xfrm>
            <a:off x="63204" y="4696037"/>
            <a:ext cx="3975515" cy="221213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eft-action-band-3"/>
          <p:cNvSpPr/>
          <p:nvPr/>
        </p:nvSpPr>
        <p:spPr>
          <a:xfrm>
            <a:off x="63204" y="6927129"/>
            <a:ext cx="3975515" cy="214893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enter-action-band-1"/>
          <p:cNvSpPr/>
          <p:nvPr/>
        </p:nvSpPr>
        <p:spPr>
          <a:xfrm>
            <a:off x="4291533" y="2414383"/>
            <a:ext cx="3874389" cy="195932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enter-action-band-2"/>
          <p:cNvSpPr/>
          <p:nvPr/>
        </p:nvSpPr>
        <p:spPr>
          <a:xfrm>
            <a:off x="4291533" y="4563309"/>
            <a:ext cx="3874389" cy="265456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gold-phi-line-segment-1"/>
          <p:cNvCxnSpPr/>
          <p:nvPr/>
        </p:nvCxnSpPr>
        <p:spPr>
          <a:xfrm>
            <a:off x="3887030" y="2566072"/>
            <a:ext cx="164329" cy="0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cxnSp>
        <p:nvCxnSpPr>
          <p:cNvPr id="11" name="gold-phi-line-segment-2"/>
          <p:cNvCxnSpPr/>
          <p:nvPr/>
        </p:nvCxnSpPr>
        <p:spPr>
          <a:xfrm flipV="1">
            <a:off x="4051359" y="252815"/>
            <a:ext cx="0" cy="2313257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cxnSp>
        <p:nvCxnSpPr>
          <p:cNvPr id="12" name="gold-phi-line-segment-3"/>
          <p:cNvCxnSpPr/>
          <p:nvPr/>
        </p:nvCxnSpPr>
        <p:spPr>
          <a:xfrm>
            <a:off x="4051359" y="252815"/>
            <a:ext cx="164330" cy="0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sp>
        <p:nvSpPr>
          <p:cNvPr id="13" name="gold-phi-arrow"/>
          <p:cNvSpPr/>
          <p:nvPr/>
        </p:nvSpPr>
        <p:spPr>
          <a:xfrm rot="5400000">
            <a:off x="4215689" y="183291"/>
            <a:ext cx="151689" cy="139048"/>
          </a:xfrm>
          <a:prstGeom prst="triangle">
            <a:avLst/>
          </a:prstGeom>
          <a:solidFill>
            <a:srgbClr val="C696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old-phi-operator-box"/>
          <p:cNvSpPr/>
          <p:nvPr/>
        </p:nvSpPr>
        <p:spPr>
          <a:xfrm>
            <a:off x="3842787" y="1156628"/>
            <a:ext cx="423465" cy="423465"/>
          </a:xfrm>
          <a:prstGeom prst="rect">
            <a:avLst/>
          </a:prstGeom>
          <a:solidFill>
            <a:srgbClr val="FFFFFF"/>
          </a:solidFill>
          <a:ln w="31601">
            <a:solidFill>
              <a:srgbClr val="C696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old-phi-operator"/>
          <p:cNvSpPr txBox="1"/>
          <p:nvPr/>
        </p:nvSpPr>
        <p:spPr>
          <a:xfrm>
            <a:off x="3842787" y="1143988"/>
            <a:ext cx="423465" cy="43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90" b="0" i="1">
                <a:solidFill>
                  <a:srgbClr val="C69628"/>
                </a:solidFill>
                <a:latin typeface="DejaVu Serif"/>
              </a:rPr>
              <a:t>φ</a:t>
            </a:r>
          </a:p>
        </p:txBody>
      </p:sp>
      <p:cxnSp>
        <p:nvCxnSpPr>
          <p:cNvPr id="16" name="brown-phi-line-segment-1"/>
          <p:cNvCxnSpPr/>
          <p:nvPr/>
        </p:nvCxnSpPr>
        <p:spPr>
          <a:xfrm>
            <a:off x="7982631" y="2528149"/>
            <a:ext cx="202252" cy="0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cxnSp>
        <p:nvCxnSpPr>
          <p:cNvPr id="17" name="brown-phi-line-segment-2"/>
          <p:cNvCxnSpPr/>
          <p:nvPr/>
        </p:nvCxnSpPr>
        <p:spPr>
          <a:xfrm flipV="1">
            <a:off x="8184883" y="240174"/>
            <a:ext cx="0" cy="2287975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cxnSp>
        <p:nvCxnSpPr>
          <p:cNvPr id="18" name="brown-phi-line-segment-3"/>
          <p:cNvCxnSpPr/>
          <p:nvPr/>
        </p:nvCxnSpPr>
        <p:spPr>
          <a:xfrm>
            <a:off x="8184883" y="240174"/>
            <a:ext cx="158010" cy="0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sp>
        <p:nvSpPr>
          <p:cNvPr id="19" name="brown-phi-arrow"/>
          <p:cNvSpPr/>
          <p:nvPr/>
        </p:nvSpPr>
        <p:spPr>
          <a:xfrm rot="5400000">
            <a:off x="8342893" y="170650"/>
            <a:ext cx="151689" cy="139048"/>
          </a:xfrm>
          <a:prstGeom prst="triangl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rown-phi-operator-box"/>
          <p:cNvSpPr/>
          <p:nvPr/>
        </p:nvSpPr>
        <p:spPr>
          <a:xfrm>
            <a:off x="7969991" y="1162949"/>
            <a:ext cx="423465" cy="423465"/>
          </a:xfrm>
          <a:prstGeom prst="rect">
            <a:avLst/>
          </a:prstGeom>
          <a:solidFill>
            <a:srgbClr val="FFFFFF"/>
          </a:solidFill>
          <a:ln w="31601">
            <a:solidFill>
              <a:srgbClr val="804B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brown-phi-operator"/>
          <p:cNvSpPr txBox="1"/>
          <p:nvPr/>
        </p:nvSpPr>
        <p:spPr>
          <a:xfrm>
            <a:off x="7969991" y="1150308"/>
            <a:ext cx="423465" cy="43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90" b="0" i="1">
                <a:solidFill>
                  <a:srgbClr val="804B17"/>
                </a:solidFill>
                <a:latin typeface="DejaVu Serif"/>
              </a:rPr>
              <a:t>φ</a:t>
            </a:r>
          </a:p>
        </p:txBody>
      </p:sp>
      <p:cxnSp>
        <p:nvCxnSpPr>
          <p:cNvPr id="22" name="gold-psi-line-segment-1"/>
          <p:cNvCxnSpPr/>
          <p:nvPr/>
        </p:nvCxnSpPr>
        <p:spPr>
          <a:xfrm flipH="1">
            <a:off x="4304174" y="5909549"/>
            <a:ext cx="158010" cy="0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cxnSp>
        <p:nvCxnSpPr>
          <p:cNvPr id="23" name="gold-psi-line-segment-2"/>
          <p:cNvCxnSpPr/>
          <p:nvPr/>
        </p:nvCxnSpPr>
        <p:spPr>
          <a:xfrm flipV="1">
            <a:off x="4304174" y="3577331"/>
            <a:ext cx="0" cy="2332218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cxnSp>
        <p:nvCxnSpPr>
          <p:cNvPr id="24" name="gold-psi-line-segment-3"/>
          <p:cNvCxnSpPr/>
          <p:nvPr/>
        </p:nvCxnSpPr>
        <p:spPr>
          <a:xfrm flipH="1">
            <a:off x="3602613" y="3577331"/>
            <a:ext cx="701561" cy="0"/>
          </a:xfrm>
          <a:prstGeom prst="line">
            <a:avLst/>
          </a:prstGeom>
          <a:ln w="37922">
            <a:solidFill>
              <a:srgbClr val="C69628"/>
            </a:solidFill>
          </a:ln>
          <a:effectLst/>
        </p:spPr>
      </p:cxnSp>
      <p:sp>
        <p:nvSpPr>
          <p:cNvPr id="25" name="gold-psi-arrow"/>
          <p:cNvSpPr/>
          <p:nvPr/>
        </p:nvSpPr>
        <p:spPr>
          <a:xfrm rot="16200000">
            <a:off x="3450924" y="3507807"/>
            <a:ext cx="151689" cy="139048"/>
          </a:xfrm>
          <a:prstGeom prst="triangle">
            <a:avLst/>
          </a:prstGeom>
          <a:solidFill>
            <a:srgbClr val="C696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gold-psi-operator-box"/>
          <p:cNvSpPr/>
          <p:nvPr/>
        </p:nvSpPr>
        <p:spPr>
          <a:xfrm>
            <a:off x="4082961" y="4929891"/>
            <a:ext cx="429785" cy="429785"/>
          </a:xfrm>
          <a:prstGeom prst="rect">
            <a:avLst/>
          </a:prstGeom>
          <a:solidFill>
            <a:srgbClr val="FFFFFF"/>
          </a:solidFill>
          <a:ln w="31601">
            <a:solidFill>
              <a:srgbClr val="C696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gold-psi-operator"/>
          <p:cNvSpPr txBox="1"/>
          <p:nvPr/>
        </p:nvSpPr>
        <p:spPr>
          <a:xfrm>
            <a:off x="4082961" y="4917250"/>
            <a:ext cx="429785" cy="4424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90" b="0" i="1">
                <a:solidFill>
                  <a:srgbClr val="C69628"/>
                </a:solidFill>
                <a:latin typeface="DejaVu Serif"/>
              </a:rPr>
              <a:t>ψ</a:t>
            </a:r>
          </a:p>
        </p:txBody>
      </p:sp>
      <p:cxnSp>
        <p:nvCxnSpPr>
          <p:cNvPr id="28" name="brown-psi-line-segment-1"/>
          <p:cNvCxnSpPr/>
          <p:nvPr/>
        </p:nvCxnSpPr>
        <p:spPr>
          <a:xfrm flipH="1">
            <a:off x="8456659" y="6225568"/>
            <a:ext cx="132728" cy="0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cxnSp>
        <p:nvCxnSpPr>
          <p:cNvPr id="29" name="brown-psi-line-segment-2"/>
          <p:cNvCxnSpPr/>
          <p:nvPr/>
        </p:nvCxnSpPr>
        <p:spPr>
          <a:xfrm flipV="1">
            <a:off x="8456659" y="3539409"/>
            <a:ext cx="0" cy="2686159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cxnSp>
        <p:nvCxnSpPr>
          <p:cNvPr id="30" name="brown-psi-line-segment-3"/>
          <p:cNvCxnSpPr/>
          <p:nvPr/>
        </p:nvCxnSpPr>
        <p:spPr>
          <a:xfrm flipH="1">
            <a:off x="7774059" y="3539409"/>
            <a:ext cx="682600" cy="0"/>
          </a:xfrm>
          <a:prstGeom prst="line">
            <a:avLst/>
          </a:prstGeom>
          <a:ln w="37922">
            <a:solidFill>
              <a:srgbClr val="804B17"/>
            </a:solidFill>
          </a:ln>
          <a:effectLst/>
        </p:spPr>
      </p:cxnSp>
      <p:sp>
        <p:nvSpPr>
          <p:cNvPr id="31" name="brown-psi-arrow"/>
          <p:cNvSpPr/>
          <p:nvPr/>
        </p:nvSpPr>
        <p:spPr>
          <a:xfrm rot="16200000">
            <a:off x="7622370" y="3469885"/>
            <a:ext cx="151689" cy="139048"/>
          </a:xfrm>
          <a:prstGeom prst="triangl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brown-psi-operator-box"/>
          <p:cNvSpPr/>
          <p:nvPr/>
        </p:nvSpPr>
        <p:spPr>
          <a:xfrm>
            <a:off x="8248087" y="5163745"/>
            <a:ext cx="429785" cy="429785"/>
          </a:xfrm>
          <a:prstGeom prst="rect">
            <a:avLst/>
          </a:prstGeom>
          <a:solidFill>
            <a:srgbClr val="FFFFFF"/>
          </a:solidFill>
          <a:ln w="31601">
            <a:solidFill>
              <a:srgbClr val="804B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brown-psi-operator"/>
          <p:cNvSpPr txBox="1"/>
          <p:nvPr/>
        </p:nvSpPr>
        <p:spPr>
          <a:xfrm>
            <a:off x="8248087" y="5151104"/>
            <a:ext cx="429785" cy="4424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90" b="0" i="1">
                <a:solidFill>
                  <a:srgbClr val="804B17"/>
                </a:solidFill>
                <a:latin typeface="DejaVu Serif"/>
              </a:rPr>
              <a:t>ψ</a:t>
            </a:r>
          </a:p>
        </p:txBody>
      </p:sp>
      <p:pic>
        <p:nvPicPr>
          <p:cNvPr id="34" name="left-observation-o0" descr="left-observation-o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43" y="429785"/>
            <a:ext cx="2768323" cy="1782345"/>
          </a:xfrm>
          <a:prstGeom prst="rect">
            <a:avLst/>
          </a:prstGeom>
          <a:effectLst/>
        </p:spPr>
      </p:pic>
      <p:pic>
        <p:nvPicPr>
          <p:cNvPr id="35" name="left-observation-o14" descr="left-observation-o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41" y="2692479"/>
            <a:ext cx="2749362" cy="1769705"/>
          </a:xfrm>
          <a:prstGeom prst="rect">
            <a:avLst/>
          </a:prstGeom>
          <a:effectLst/>
        </p:spPr>
      </p:pic>
      <p:pic>
        <p:nvPicPr>
          <p:cNvPr id="36" name="left-observation-o31" descr="left-observation-o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80" y="4917250"/>
            <a:ext cx="2736722" cy="1788666"/>
          </a:xfrm>
          <a:prstGeom prst="rect">
            <a:avLst/>
          </a:prstGeom>
          <a:effectLst/>
        </p:spPr>
      </p:pic>
      <p:pic>
        <p:nvPicPr>
          <p:cNvPr id="37" name="center-observation-o0" descr="center-observation-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649" y="366582"/>
            <a:ext cx="2749362" cy="1776025"/>
          </a:xfrm>
          <a:prstGeom prst="rect">
            <a:avLst/>
          </a:prstGeom>
          <a:effectLst/>
        </p:spPr>
      </p:pic>
      <p:pic>
        <p:nvPicPr>
          <p:cNvPr id="38" name="center-observation-o9" descr="center-observation-o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649" y="2578712"/>
            <a:ext cx="2749362" cy="1776025"/>
          </a:xfrm>
          <a:prstGeom prst="rect">
            <a:avLst/>
          </a:prstGeom>
          <a:effectLst/>
        </p:spPr>
      </p:pic>
      <p:pic>
        <p:nvPicPr>
          <p:cNvPr id="39" name="center-observation-o14" descr="center-observation-o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649" y="4854047"/>
            <a:ext cx="2749362" cy="1763384"/>
          </a:xfrm>
          <a:prstGeom prst="rect">
            <a:avLst/>
          </a:prstGeom>
          <a:effectLst/>
        </p:spPr>
      </p:pic>
      <p:pic>
        <p:nvPicPr>
          <p:cNvPr id="40" name="right-observation-o0" descr="right-observation-o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81250" y="341300"/>
            <a:ext cx="2755683" cy="1788666"/>
          </a:xfrm>
          <a:prstGeom prst="rect">
            <a:avLst/>
          </a:prstGeom>
          <a:effectLst/>
        </p:spPr>
      </p:pic>
      <p:pic>
        <p:nvPicPr>
          <p:cNvPr id="41" name="right-observation-o1" descr="right-observation-o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1250" y="2591353"/>
            <a:ext cx="2755683" cy="1794986"/>
          </a:xfrm>
          <a:prstGeom prst="rect">
            <a:avLst/>
          </a:prstGeom>
          <a:effectLst/>
        </p:spPr>
      </p:pic>
      <p:pic>
        <p:nvPicPr>
          <p:cNvPr id="42" name="right-observation-o9" descr="right-observation-o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1250" y="5277512"/>
            <a:ext cx="2755683" cy="1813947"/>
          </a:xfrm>
          <a:prstGeom prst="rect">
            <a:avLst/>
          </a:prstGeom>
          <a:effectLst/>
        </p:spPr>
      </p:pic>
      <p:sp>
        <p:nvSpPr>
          <p:cNvPr id="43" name="left-title"/>
          <p:cNvSpPr txBox="1"/>
          <p:nvPr/>
        </p:nvSpPr>
        <p:spPr>
          <a:xfrm>
            <a:off x="88485" y="151689"/>
            <a:ext cx="3855428" cy="2133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4" b="0" i="0">
                <a:solidFill>
                  <a:srgbClr val="747474"/>
                </a:solidFill>
                <a:latin typeface="Liberation Mono"/>
              </a:rPr>
              <a:t>Task:  “Thaw the steak in the microwave”</a:t>
            </a:r>
          </a:p>
        </p:txBody>
      </p:sp>
      <p:sp>
        <p:nvSpPr>
          <p:cNvPr id="44" name="center-title"/>
          <p:cNvSpPr txBox="1"/>
          <p:nvPr/>
        </p:nvSpPr>
        <p:spPr>
          <a:xfrm>
            <a:off x="4361058" y="158009"/>
            <a:ext cx="3729020" cy="2133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4" b="0" i="0">
                <a:solidFill>
                  <a:srgbClr val="C69628"/>
                </a:solidFill>
                <a:latin typeface="Liberation Mono"/>
              </a:rPr>
              <a:t>Task: </a:t>
            </a:r>
            <a:r>
              <a:rPr sz="1244" b="1" i="0">
                <a:solidFill>
                  <a:srgbClr val="C69628"/>
                </a:solidFill>
                <a:latin typeface="Liberation Mono"/>
              </a:rPr>
              <a:t>“Open microwave door”</a:t>
            </a:r>
          </a:p>
        </p:txBody>
      </p:sp>
      <p:sp>
        <p:nvSpPr>
          <p:cNvPr id="45" name="right-title"/>
          <p:cNvSpPr txBox="1"/>
          <p:nvPr/>
        </p:nvSpPr>
        <p:spPr>
          <a:xfrm>
            <a:off x="8526184" y="151689"/>
            <a:ext cx="3577331" cy="21331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4" b="0" i="0">
                <a:solidFill>
                  <a:srgbClr val="804B17"/>
                </a:solidFill>
                <a:latin typeface="Liberation Mono"/>
              </a:rPr>
              <a:t>Task: </a:t>
            </a:r>
            <a:r>
              <a:rPr sz="1244" b="1" i="0">
                <a:solidFill>
                  <a:srgbClr val="804B17"/>
                </a:solidFill>
                <a:latin typeface="Liberation Mono"/>
              </a:rPr>
              <a:t>“Grasp door handle”</a:t>
            </a:r>
          </a:p>
        </p:txBody>
      </p:sp>
      <p:sp>
        <p:nvSpPr>
          <p:cNvPr id="46" name="left-label-o0-open-o"/>
          <p:cNvSpPr txBox="1"/>
          <p:nvPr/>
        </p:nvSpPr>
        <p:spPr>
          <a:xfrm>
            <a:off x="360261" y="1169269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[o</a:t>
            </a:r>
          </a:p>
        </p:txBody>
      </p:sp>
      <p:sp>
        <p:nvSpPr>
          <p:cNvPr id="47" name="left-label-o0-index"/>
          <p:cNvSpPr txBox="1"/>
          <p:nvPr/>
        </p:nvSpPr>
        <p:spPr>
          <a:xfrm>
            <a:off x="556193" y="1245114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747474"/>
                </a:solidFill>
                <a:latin typeface="DejaVu Serif"/>
              </a:rPr>
              <a:t>0</a:t>
            </a:r>
          </a:p>
        </p:txBody>
      </p:sp>
      <p:sp>
        <p:nvSpPr>
          <p:cNvPr id="48" name="left-label-o0-close"/>
          <p:cNvSpPr txBox="1"/>
          <p:nvPr/>
        </p:nvSpPr>
        <p:spPr>
          <a:xfrm>
            <a:off x="644678" y="1169269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]</a:t>
            </a:r>
          </a:p>
        </p:txBody>
      </p:sp>
      <p:sp>
        <p:nvSpPr>
          <p:cNvPr id="49" name="left-label-o14-open-o"/>
          <p:cNvSpPr txBox="1"/>
          <p:nvPr/>
        </p:nvSpPr>
        <p:spPr>
          <a:xfrm>
            <a:off x="297058" y="3381400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[o</a:t>
            </a:r>
          </a:p>
        </p:txBody>
      </p:sp>
      <p:sp>
        <p:nvSpPr>
          <p:cNvPr id="50" name="left-label-o14-index"/>
          <p:cNvSpPr txBox="1"/>
          <p:nvPr/>
        </p:nvSpPr>
        <p:spPr>
          <a:xfrm>
            <a:off x="492989" y="3457244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747474"/>
                </a:solidFill>
                <a:latin typeface="DejaVu Serif"/>
              </a:rPr>
              <a:t>14</a:t>
            </a:r>
          </a:p>
        </p:txBody>
      </p:sp>
      <p:sp>
        <p:nvSpPr>
          <p:cNvPr id="51" name="left-label-o14-close"/>
          <p:cNvSpPr txBox="1"/>
          <p:nvPr/>
        </p:nvSpPr>
        <p:spPr>
          <a:xfrm>
            <a:off x="644678" y="3381400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]</a:t>
            </a:r>
          </a:p>
        </p:txBody>
      </p:sp>
      <p:sp>
        <p:nvSpPr>
          <p:cNvPr id="52" name="left-label-o31-open-o"/>
          <p:cNvSpPr txBox="1"/>
          <p:nvPr/>
        </p:nvSpPr>
        <p:spPr>
          <a:xfrm>
            <a:off x="240174" y="5688336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[o</a:t>
            </a:r>
          </a:p>
        </p:txBody>
      </p:sp>
      <p:sp>
        <p:nvSpPr>
          <p:cNvPr id="53" name="left-label-o31-index"/>
          <p:cNvSpPr txBox="1"/>
          <p:nvPr/>
        </p:nvSpPr>
        <p:spPr>
          <a:xfrm>
            <a:off x="436106" y="5764180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747474"/>
                </a:solidFill>
                <a:latin typeface="DejaVu Serif"/>
              </a:rPr>
              <a:t>31</a:t>
            </a:r>
          </a:p>
        </p:txBody>
      </p:sp>
      <p:sp>
        <p:nvSpPr>
          <p:cNvPr id="54" name="left-label-o31-close"/>
          <p:cNvSpPr txBox="1"/>
          <p:nvPr/>
        </p:nvSpPr>
        <p:spPr>
          <a:xfrm>
            <a:off x="587795" y="5688336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747474"/>
                </a:solidFill>
                <a:latin typeface="DejaVu Serif"/>
              </a:rPr>
              <a:t>]</a:t>
            </a:r>
          </a:p>
        </p:txBody>
      </p:sp>
      <p:sp>
        <p:nvSpPr>
          <p:cNvPr id="55" name="center-label-o0-open-o"/>
          <p:cNvSpPr txBox="1"/>
          <p:nvPr/>
        </p:nvSpPr>
        <p:spPr>
          <a:xfrm>
            <a:off x="4550669" y="1156628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[o</a:t>
            </a:r>
          </a:p>
        </p:txBody>
      </p:sp>
      <p:sp>
        <p:nvSpPr>
          <p:cNvPr id="56" name="center-label-o0-index"/>
          <p:cNvSpPr txBox="1"/>
          <p:nvPr/>
        </p:nvSpPr>
        <p:spPr>
          <a:xfrm>
            <a:off x="4746600" y="1232473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C69628"/>
                </a:solidFill>
                <a:latin typeface="DejaVu Serif"/>
              </a:rPr>
              <a:t>0</a:t>
            </a:r>
          </a:p>
        </p:txBody>
      </p:sp>
      <p:sp>
        <p:nvSpPr>
          <p:cNvPr id="57" name="center-label-o0-close"/>
          <p:cNvSpPr txBox="1"/>
          <p:nvPr/>
        </p:nvSpPr>
        <p:spPr>
          <a:xfrm>
            <a:off x="4835086" y="1156628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]</a:t>
            </a:r>
          </a:p>
        </p:txBody>
      </p:sp>
      <p:sp>
        <p:nvSpPr>
          <p:cNvPr id="58" name="center-label-o9-open-o"/>
          <p:cNvSpPr txBox="1"/>
          <p:nvPr/>
        </p:nvSpPr>
        <p:spPr>
          <a:xfrm>
            <a:off x="4550669" y="3267633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[o</a:t>
            </a:r>
          </a:p>
        </p:txBody>
      </p:sp>
      <p:sp>
        <p:nvSpPr>
          <p:cNvPr id="59" name="center-label-o9-index"/>
          <p:cNvSpPr txBox="1"/>
          <p:nvPr/>
        </p:nvSpPr>
        <p:spPr>
          <a:xfrm>
            <a:off x="4746600" y="3343477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C69628"/>
                </a:solidFill>
                <a:latin typeface="DejaVu Serif"/>
              </a:rPr>
              <a:t>9</a:t>
            </a:r>
          </a:p>
        </p:txBody>
      </p:sp>
      <p:sp>
        <p:nvSpPr>
          <p:cNvPr id="60" name="center-label-o9-close"/>
          <p:cNvSpPr txBox="1"/>
          <p:nvPr/>
        </p:nvSpPr>
        <p:spPr>
          <a:xfrm>
            <a:off x="4835086" y="3267633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]</a:t>
            </a:r>
          </a:p>
        </p:txBody>
      </p:sp>
      <p:sp>
        <p:nvSpPr>
          <p:cNvPr id="61" name="center-label-o14-open-o"/>
          <p:cNvSpPr txBox="1"/>
          <p:nvPr/>
        </p:nvSpPr>
        <p:spPr>
          <a:xfrm>
            <a:off x="4468504" y="5694656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[o</a:t>
            </a:r>
          </a:p>
        </p:txBody>
      </p:sp>
      <p:sp>
        <p:nvSpPr>
          <p:cNvPr id="62" name="center-label-o14-index"/>
          <p:cNvSpPr txBox="1"/>
          <p:nvPr/>
        </p:nvSpPr>
        <p:spPr>
          <a:xfrm>
            <a:off x="4664435" y="5770501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C69628"/>
                </a:solidFill>
                <a:latin typeface="DejaVu Serif"/>
              </a:rPr>
              <a:t>14</a:t>
            </a:r>
          </a:p>
        </p:txBody>
      </p:sp>
      <p:sp>
        <p:nvSpPr>
          <p:cNvPr id="63" name="center-label-o14-close"/>
          <p:cNvSpPr txBox="1"/>
          <p:nvPr/>
        </p:nvSpPr>
        <p:spPr>
          <a:xfrm>
            <a:off x="4816124" y="5694656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C69628"/>
                </a:solidFill>
                <a:latin typeface="DejaVu Serif"/>
              </a:rPr>
              <a:t>]</a:t>
            </a:r>
          </a:p>
        </p:txBody>
      </p:sp>
      <p:sp>
        <p:nvSpPr>
          <p:cNvPr id="64" name="right-label-o0-open-o"/>
          <p:cNvSpPr txBox="1"/>
          <p:nvPr/>
        </p:nvSpPr>
        <p:spPr>
          <a:xfrm>
            <a:off x="8633630" y="1093425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[o</a:t>
            </a:r>
          </a:p>
        </p:txBody>
      </p:sp>
      <p:sp>
        <p:nvSpPr>
          <p:cNvPr id="65" name="right-label-o0-index"/>
          <p:cNvSpPr txBox="1"/>
          <p:nvPr/>
        </p:nvSpPr>
        <p:spPr>
          <a:xfrm>
            <a:off x="8829561" y="1169269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804B17"/>
                </a:solidFill>
                <a:latin typeface="DejaVu Serif"/>
              </a:rPr>
              <a:t>0</a:t>
            </a:r>
          </a:p>
        </p:txBody>
      </p:sp>
      <p:sp>
        <p:nvSpPr>
          <p:cNvPr id="66" name="right-label-o0-close"/>
          <p:cNvSpPr txBox="1"/>
          <p:nvPr/>
        </p:nvSpPr>
        <p:spPr>
          <a:xfrm>
            <a:off x="8918047" y="1093425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]</a:t>
            </a:r>
          </a:p>
        </p:txBody>
      </p:sp>
      <p:sp>
        <p:nvSpPr>
          <p:cNvPr id="67" name="right-label-o1-open-o"/>
          <p:cNvSpPr txBox="1"/>
          <p:nvPr/>
        </p:nvSpPr>
        <p:spPr>
          <a:xfrm>
            <a:off x="8633630" y="3273953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[o</a:t>
            </a:r>
          </a:p>
        </p:txBody>
      </p:sp>
      <p:sp>
        <p:nvSpPr>
          <p:cNvPr id="68" name="right-label-o1-index"/>
          <p:cNvSpPr txBox="1"/>
          <p:nvPr/>
        </p:nvSpPr>
        <p:spPr>
          <a:xfrm>
            <a:off x="8829561" y="3349798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804B17"/>
                </a:solidFill>
                <a:latin typeface="DejaVu Serif"/>
              </a:rPr>
              <a:t>1</a:t>
            </a:r>
          </a:p>
        </p:txBody>
      </p:sp>
      <p:sp>
        <p:nvSpPr>
          <p:cNvPr id="69" name="right-label-o1-close"/>
          <p:cNvSpPr txBox="1"/>
          <p:nvPr/>
        </p:nvSpPr>
        <p:spPr>
          <a:xfrm>
            <a:off x="8918047" y="3273953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]</a:t>
            </a:r>
          </a:p>
        </p:txBody>
      </p:sp>
      <p:sp>
        <p:nvSpPr>
          <p:cNvPr id="70" name="right-label-o9-open-o"/>
          <p:cNvSpPr txBox="1"/>
          <p:nvPr/>
        </p:nvSpPr>
        <p:spPr>
          <a:xfrm>
            <a:off x="8633630" y="6023316"/>
            <a:ext cx="227533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[o</a:t>
            </a:r>
          </a:p>
        </p:txBody>
      </p:sp>
      <p:sp>
        <p:nvSpPr>
          <p:cNvPr id="71" name="right-label-o9-index"/>
          <p:cNvSpPr txBox="1"/>
          <p:nvPr/>
        </p:nvSpPr>
        <p:spPr>
          <a:xfrm>
            <a:off x="8829561" y="6099160"/>
            <a:ext cx="164330" cy="1535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5" b="0" i="1">
                <a:solidFill>
                  <a:srgbClr val="804B17"/>
                </a:solidFill>
                <a:latin typeface="DejaVu Serif"/>
              </a:rPr>
              <a:t>9</a:t>
            </a:r>
          </a:p>
        </p:txBody>
      </p:sp>
      <p:sp>
        <p:nvSpPr>
          <p:cNvPr id="72" name="right-label-o9-close"/>
          <p:cNvSpPr txBox="1"/>
          <p:nvPr/>
        </p:nvSpPr>
        <p:spPr>
          <a:xfrm>
            <a:off x="8918047" y="6023316"/>
            <a:ext cx="113767" cy="273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2" b="0" i="1">
                <a:solidFill>
                  <a:srgbClr val="804B17"/>
                </a:solidFill>
                <a:latin typeface="DejaVu Serif"/>
              </a:rPr>
              <a:t>]</a:t>
            </a:r>
          </a:p>
        </p:txBody>
      </p:sp>
      <p:sp>
        <p:nvSpPr>
          <p:cNvPr id="73" name="left-state-1"/>
          <p:cNvSpPr txBox="1"/>
          <p:nvPr/>
        </p:nvSpPr>
        <p:spPr>
          <a:xfrm>
            <a:off x="88485" y="2224771"/>
            <a:ext cx="3887030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747474"/>
                </a:solidFill>
                <a:latin typeface="Liberation Mono"/>
              </a:rPr>
              <a:t>The gripper is in front of microwave...</a:t>
            </a:r>
          </a:p>
        </p:txBody>
      </p:sp>
      <p:sp>
        <p:nvSpPr>
          <p:cNvPr id="74" name="left-next-1"/>
          <p:cNvSpPr txBox="1"/>
          <p:nvPr/>
        </p:nvSpPr>
        <p:spPr>
          <a:xfrm>
            <a:off x="88485" y="2445984"/>
            <a:ext cx="3880709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robot needs to: </a:t>
            </a:r>
            <a:r>
              <a:rPr sz="1219" b="1" i="0">
                <a:solidFill>
                  <a:srgbClr val="C69628"/>
                </a:solidFill>
                <a:latin typeface="Liberation Mono"/>
              </a:rPr>
              <a:t>“Open microwave door”</a:t>
            </a:r>
          </a:p>
        </p:txBody>
      </p:sp>
      <p:sp>
        <p:nvSpPr>
          <p:cNvPr id="75" name="left-state-2"/>
          <p:cNvSpPr txBox="1"/>
          <p:nvPr/>
        </p:nvSpPr>
        <p:spPr>
          <a:xfrm>
            <a:off x="88485" y="4449543"/>
            <a:ext cx="3887030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747474"/>
                </a:solidFill>
                <a:latin typeface="Liberation Mono"/>
              </a:rPr>
              <a:t>The robot opened the microwave door.</a:t>
            </a:r>
          </a:p>
        </p:txBody>
      </p:sp>
      <p:sp>
        <p:nvSpPr>
          <p:cNvPr id="76" name="left-next-2"/>
          <p:cNvSpPr txBox="1"/>
          <p:nvPr/>
        </p:nvSpPr>
        <p:spPr>
          <a:xfrm>
            <a:off x="88485" y="4670756"/>
            <a:ext cx="3880709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robot needs to: </a:t>
            </a:r>
            <a:r>
              <a:rPr sz="1219" b="1" i="0">
                <a:solidFill>
                  <a:srgbClr val="C69628"/>
                </a:solidFill>
                <a:latin typeface="Liberation Mono"/>
              </a:rPr>
              <a:t>“Put steak in microwave”</a:t>
            </a:r>
          </a:p>
        </p:txBody>
      </p:sp>
      <p:sp>
        <p:nvSpPr>
          <p:cNvPr id="77" name="left-state-3"/>
          <p:cNvSpPr txBox="1"/>
          <p:nvPr/>
        </p:nvSpPr>
        <p:spPr>
          <a:xfrm>
            <a:off x="88485" y="6680635"/>
            <a:ext cx="3887030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747474"/>
                </a:solidFill>
                <a:latin typeface="Liberation Mono"/>
              </a:rPr>
              <a:t>The robot put the steak in the microwave.</a:t>
            </a:r>
          </a:p>
        </p:txBody>
      </p:sp>
      <p:sp>
        <p:nvSpPr>
          <p:cNvPr id="78" name="left-next-3"/>
          <p:cNvSpPr txBox="1"/>
          <p:nvPr/>
        </p:nvSpPr>
        <p:spPr>
          <a:xfrm>
            <a:off x="88485" y="6895527"/>
            <a:ext cx="3880709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robot needs to: </a:t>
            </a:r>
            <a:r>
              <a:rPr sz="1219" b="1" i="0">
                <a:solidFill>
                  <a:srgbClr val="C69628"/>
                </a:solidFill>
                <a:latin typeface="Liberation Mono"/>
              </a:rPr>
              <a:t>“Close microwave door”</a:t>
            </a:r>
          </a:p>
        </p:txBody>
      </p:sp>
      <p:sp>
        <p:nvSpPr>
          <p:cNvPr id="79" name="center-state-1"/>
          <p:cNvSpPr txBox="1"/>
          <p:nvPr/>
        </p:nvSpPr>
        <p:spPr>
          <a:xfrm>
            <a:off x="4361058" y="2199490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gripper is in front of microwave...</a:t>
            </a:r>
          </a:p>
        </p:txBody>
      </p:sp>
      <p:sp>
        <p:nvSpPr>
          <p:cNvPr id="80" name="center-next-1"/>
          <p:cNvSpPr txBox="1"/>
          <p:nvPr/>
        </p:nvSpPr>
        <p:spPr>
          <a:xfrm>
            <a:off x="4361058" y="2395421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The robot needs to: </a:t>
            </a:r>
            <a:r>
              <a:rPr sz="1219" b="1" i="0">
                <a:solidFill>
                  <a:srgbClr val="804B17"/>
                </a:solidFill>
                <a:latin typeface="Liberation Mono"/>
              </a:rPr>
              <a:t>“Grasp door handle”</a:t>
            </a:r>
          </a:p>
        </p:txBody>
      </p:sp>
      <p:sp>
        <p:nvSpPr>
          <p:cNvPr id="81" name="center-state-2"/>
          <p:cNvSpPr txBox="1"/>
          <p:nvPr/>
        </p:nvSpPr>
        <p:spPr>
          <a:xfrm>
            <a:off x="4361058" y="4348417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robot fully grasped the door handle.</a:t>
            </a:r>
          </a:p>
        </p:txBody>
      </p:sp>
      <p:sp>
        <p:nvSpPr>
          <p:cNvPr id="82" name="center-next-2"/>
          <p:cNvSpPr txBox="1"/>
          <p:nvPr/>
        </p:nvSpPr>
        <p:spPr>
          <a:xfrm>
            <a:off x="4361058" y="4588591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The robot needs to: </a:t>
            </a:r>
            <a:r>
              <a:rPr sz="1219" b="1" i="0">
                <a:solidFill>
                  <a:srgbClr val="804B17"/>
                </a:solidFill>
                <a:latin typeface="Liberation Mono"/>
              </a:rPr>
              <a:t>“Pull door open”</a:t>
            </a:r>
          </a:p>
        </p:txBody>
      </p:sp>
      <p:sp>
        <p:nvSpPr>
          <p:cNvPr id="83" name="center-state-3"/>
          <p:cNvSpPr txBox="1"/>
          <p:nvPr/>
        </p:nvSpPr>
        <p:spPr>
          <a:xfrm>
            <a:off x="4361058" y="6686955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The robot opened the microwave door.</a:t>
            </a:r>
          </a:p>
        </p:txBody>
      </p:sp>
      <p:sp>
        <p:nvSpPr>
          <p:cNvPr id="84" name="center-complete"/>
          <p:cNvSpPr txBox="1"/>
          <p:nvPr/>
        </p:nvSpPr>
        <p:spPr>
          <a:xfrm>
            <a:off x="4361058" y="6870246"/>
            <a:ext cx="3741661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C69628"/>
                </a:solidFill>
                <a:latin typeface="Liberation Mono"/>
              </a:rPr>
              <a:t>Task is complete.</a:t>
            </a:r>
          </a:p>
        </p:txBody>
      </p:sp>
      <p:sp>
        <p:nvSpPr>
          <p:cNvPr id="85" name="right-state-1"/>
          <p:cNvSpPr txBox="1"/>
          <p:nvPr/>
        </p:nvSpPr>
        <p:spPr>
          <a:xfrm>
            <a:off x="8526184" y="2142607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The gripper is in front of microwave...</a:t>
            </a:r>
          </a:p>
        </p:txBody>
      </p:sp>
      <p:sp>
        <p:nvSpPr>
          <p:cNvPr id="86" name="right-progress-1"/>
          <p:cNvSpPr txBox="1"/>
          <p:nvPr/>
        </p:nvSpPr>
        <p:spPr>
          <a:xfrm>
            <a:off x="8526184" y="2319577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Task progress: </a:t>
            </a:r>
            <a:r>
              <a:rPr sz="1219" b="1" i="0">
                <a:solidFill>
                  <a:srgbClr val="804B17"/>
                </a:solidFill>
                <a:latin typeface="Liberation Mono"/>
              </a:rPr>
              <a:t>0%</a:t>
            </a:r>
          </a:p>
        </p:txBody>
      </p:sp>
      <p:sp>
        <p:nvSpPr>
          <p:cNvPr id="87" name="right-state-2"/>
          <p:cNvSpPr txBox="1"/>
          <p:nvPr/>
        </p:nvSpPr>
        <p:spPr>
          <a:xfrm>
            <a:off x="8526184" y="4367378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The gripper moved closer to the door...</a:t>
            </a:r>
          </a:p>
        </p:txBody>
      </p:sp>
      <p:sp>
        <p:nvSpPr>
          <p:cNvPr id="88" name="right-progress-2"/>
          <p:cNvSpPr txBox="1"/>
          <p:nvPr/>
        </p:nvSpPr>
        <p:spPr>
          <a:xfrm>
            <a:off x="8526184" y="4544348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Task progress: </a:t>
            </a:r>
            <a:r>
              <a:rPr sz="1219" b="1" i="0">
                <a:solidFill>
                  <a:srgbClr val="804B17"/>
                </a:solidFill>
                <a:latin typeface="Liberation Mono"/>
              </a:rPr>
              <a:t>40%</a:t>
            </a:r>
          </a:p>
        </p:txBody>
      </p:sp>
      <p:sp>
        <p:nvSpPr>
          <p:cNvPr id="89" name="right-state-3"/>
          <p:cNvSpPr txBox="1"/>
          <p:nvPr/>
        </p:nvSpPr>
        <p:spPr>
          <a:xfrm>
            <a:off x="8526184" y="7047216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The robot fully grasped the door...</a:t>
            </a:r>
          </a:p>
        </p:txBody>
      </p:sp>
      <p:sp>
        <p:nvSpPr>
          <p:cNvPr id="90" name="right-progress-3"/>
          <p:cNvSpPr txBox="1"/>
          <p:nvPr/>
        </p:nvSpPr>
        <p:spPr>
          <a:xfrm>
            <a:off x="8526184" y="7224187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Task progress: </a:t>
            </a:r>
            <a:r>
              <a:rPr sz="1219" b="1" i="0">
                <a:solidFill>
                  <a:srgbClr val="804B17"/>
                </a:solidFill>
                <a:latin typeface="Liberation Mono"/>
              </a:rPr>
              <a:t>100%</a:t>
            </a:r>
          </a:p>
        </p:txBody>
      </p:sp>
      <p:sp>
        <p:nvSpPr>
          <p:cNvPr id="91" name="right-complete"/>
          <p:cNvSpPr txBox="1"/>
          <p:nvPr/>
        </p:nvSpPr>
        <p:spPr>
          <a:xfrm>
            <a:off x="8526184" y="7432759"/>
            <a:ext cx="3589972" cy="2090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19" b="0" i="0">
                <a:solidFill>
                  <a:srgbClr val="804B17"/>
                </a:solidFill>
                <a:latin typeface="Liberation Mono"/>
              </a:rPr>
              <a:t>Task is complete.</a:t>
            </a:r>
          </a:p>
        </p:txBody>
      </p:sp>
      <p:sp>
        <p:nvSpPr>
          <p:cNvPr id="92" name="left-ellipsis-r1-c1"/>
          <p:cNvSpPr/>
          <p:nvPr/>
        </p:nvSpPr>
        <p:spPr>
          <a:xfrm>
            <a:off x="1743159" y="7216602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left-ellipsis-r1-c2"/>
          <p:cNvSpPr/>
          <p:nvPr/>
        </p:nvSpPr>
        <p:spPr>
          <a:xfrm>
            <a:off x="1837965" y="7216602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left-ellipsis-r1-c3"/>
          <p:cNvSpPr/>
          <p:nvPr/>
        </p:nvSpPr>
        <p:spPr>
          <a:xfrm>
            <a:off x="1932770" y="7216602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left-ellipsis-r2-c1"/>
          <p:cNvSpPr/>
          <p:nvPr/>
        </p:nvSpPr>
        <p:spPr>
          <a:xfrm>
            <a:off x="1743159" y="7431495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left-ellipsis-r2-c2"/>
          <p:cNvSpPr/>
          <p:nvPr/>
        </p:nvSpPr>
        <p:spPr>
          <a:xfrm>
            <a:off x="1837965" y="7431495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left-ellipsis-r2-c3"/>
          <p:cNvSpPr/>
          <p:nvPr/>
        </p:nvSpPr>
        <p:spPr>
          <a:xfrm>
            <a:off x="1932770" y="7431495"/>
            <a:ext cx="65732" cy="65732"/>
          </a:xfrm>
          <a:prstGeom prst="ellipse">
            <a:avLst/>
          </a:prstGeom>
          <a:solidFill>
            <a:srgbClr val="7474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ight-ellipsis-r1-c1"/>
          <p:cNvSpPr/>
          <p:nvPr/>
        </p:nvSpPr>
        <p:spPr>
          <a:xfrm>
            <a:off x="10294624" y="4871744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ight-ellipsis-r1-c2"/>
          <p:cNvSpPr/>
          <p:nvPr/>
        </p:nvSpPr>
        <p:spPr>
          <a:xfrm>
            <a:off x="10389430" y="4871744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ight-ellipsis-r1-c3"/>
          <p:cNvSpPr/>
          <p:nvPr/>
        </p:nvSpPr>
        <p:spPr>
          <a:xfrm>
            <a:off x="10484235" y="4871744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ight-ellipsis-r2-c1"/>
          <p:cNvSpPr/>
          <p:nvPr/>
        </p:nvSpPr>
        <p:spPr>
          <a:xfrm>
            <a:off x="10294624" y="5080316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ight-ellipsis-r2-c2"/>
          <p:cNvSpPr/>
          <p:nvPr/>
        </p:nvSpPr>
        <p:spPr>
          <a:xfrm>
            <a:off x="10389430" y="5080316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ight-ellipsis-r2-c3"/>
          <p:cNvSpPr/>
          <p:nvPr/>
        </p:nvSpPr>
        <p:spPr>
          <a:xfrm>
            <a:off x="10484235" y="5080316"/>
            <a:ext cx="65732" cy="65732"/>
          </a:xfrm>
          <a:prstGeom prst="ellipse">
            <a:avLst/>
          </a:prstGeom>
          <a:solidFill>
            <a:srgbClr val="804B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ROVER Recursive Reasoning Over Videos with Vision-Language Models for Embodied Task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578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