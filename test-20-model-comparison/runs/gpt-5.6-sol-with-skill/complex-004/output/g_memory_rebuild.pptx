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289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isc:background-1"/>
          <p:cNvSpPr/>
          <p:nvPr/>
        </p:nvSpPr>
        <p:spPr>
          <a:xfrm>
            <a:off x="0" y="0"/>
            <a:ext cx="12191999" cy="6852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isc:outer-dashed-frame-2"/>
          <p:cNvSpPr/>
          <p:nvPr/>
        </p:nvSpPr>
        <p:spPr>
          <a:xfrm>
            <a:off x="106782" y="125626"/>
            <a:ext cx="11978435" cy="6708426"/>
          </a:xfrm>
          <a:prstGeom prst="rect">
            <a:avLst/>
          </a:prstGeom>
          <a:noFill/>
          <a:ln w="12562">
            <a:solidFill>
              <a:srgbClr val="7F7F7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legend:legend-panel-layer-0-3"/>
          <p:cNvSpPr/>
          <p:nvPr/>
        </p:nvSpPr>
        <p:spPr>
          <a:xfrm>
            <a:off x="320346" y="370597"/>
            <a:ext cx="2192173" cy="1702232"/>
          </a:xfrm>
          <a:prstGeom prst="rect">
            <a:avLst/>
          </a:prstGeom>
          <a:solidFill>
            <a:srgbClr val="F5F5F5">
              <a:alpha val="72000"/>
            </a:srgbClr>
          </a:solidFill>
          <a:ln w="18843">
            <a:solidFill>
              <a:srgbClr val="7F7F7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legend:legend-panel-layer-1-4"/>
          <p:cNvSpPr/>
          <p:nvPr/>
        </p:nvSpPr>
        <p:spPr>
          <a:xfrm>
            <a:off x="270096" y="320346"/>
            <a:ext cx="2192173" cy="1702232"/>
          </a:xfrm>
          <a:prstGeom prst="rect">
            <a:avLst/>
          </a:prstGeom>
          <a:solidFill>
            <a:srgbClr val="F5F5F5">
              <a:alpha val="72000"/>
            </a:srgbClr>
          </a:solidFill>
          <a:ln w="18843">
            <a:solidFill>
              <a:srgbClr val="7F7F7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legend:legend-panel-layer-2-5"/>
          <p:cNvSpPr/>
          <p:nvPr/>
        </p:nvSpPr>
        <p:spPr>
          <a:xfrm>
            <a:off x="213564" y="263815"/>
            <a:ext cx="2192173" cy="1702232"/>
          </a:xfrm>
          <a:prstGeom prst="rect">
            <a:avLst/>
          </a:prstGeom>
          <a:solidFill>
            <a:srgbClr val="F5F5F5"/>
          </a:solidFill>
          <a:ln w="18843">
            <a:solidFill>
              <a:srgbClr val="7F7F7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legend:legend-symbol-board-6"/>
          <p:cNvSpPr/>
          <p:nvPr/>
        </p:nvSpPr>
        <p:spPr>
          <a:xfrm>
            <a:off x="326627" y="370597"/>
            <a:ext cx="251252" cy="326627"/>
          </a:xfrm>
          <a:prstGeom prst="roundRect">
            <a:avLst>
              <a:gd name="adj" fmla="val 12500"/>
            </a:avLst>
          </a:prstGeom>
          <a:solidFill>
            <a:srgbClr val="F09B79"/>
          </a:solidFill>
          <a:ln w="15703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legend:legend-symbol-paper-7"/>
          <p:cNvSpPr/>
          <p:nvPr/>
        </p:nvSpPr>
        <p:spPr>
          <a:xfrm>
            <a:off x="364315" y="414566"/>
            <a:ext cx="175876" cy="232408"/>
          </a:xfrm>
          <a:prstGeom prst="roundRect">
            <a:avLst>
              <a:gd name="adj" fmla="val 3571"/>
            </a:avLst>
          </a:prstGeom>
          <a:solidFill>
            <a:srgbClr val="E8F5F5"/>
          </a:solidFill>
          <a:ln w="9421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legend:legend-symbol-clip-8"/>
          <p:cNvSpPr/>
          <p:nvPr/>
        </p:nvSpPr>
        <p:spPr>
          <a:xfrm>
            <a:off x="383159" y="339190"/>
            <a:ext cx="138189" cy="75376"/>
          </a:xfrm>
          <a:prstGeom prst="roundRect">
            <a:avLst>
              <a:gd name="adj" fmla="val 33333"/>
            </a:avLst>
          </a:prstGeom>
          <a:solidFill>
            <a:srgbClr val="6C8C9C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legend:legend-symbol-clip-dot1-9"/>
          <p:cNvSpPr/>
          <p:nvPr/>
        </p:nvSpPr>
        <p:spPr>
          <a:xfrm>
            <a:off x="402003" y="358034"/>
            <a:ext cx="31406" cy="31406"/>
          </a:xfrm>
          <a:prstGeom prst="ellipse">
            <a:avLst/>
          </a:prstGeom>
          <a:solidFill>
            <a:srgbClr val="FFD84A"/>
          </a:solidFill>
          <a:ln w="6281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legend:legend-symbol-clip-dot2-10"/>
          <p:cNvSpPr/>
          <p:nvPr/>
        </p:nvSpPr>
        <p:spPr>
          <a:xfrm>
            <a:off x="471097" y="358034"/>
            <a:ext cx="31406" cy="31406"/>
          </a:xfrm>
          <a:prstGeom prst="ellipse">
            <a:avLst/>
          </a:prstGeom>
          <a:solidFill>
            <a:srgbClr val="FFD84A"/>
          </a:solidFill>
          <a:ln w="6281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legend:legend-symbol-line-0-11"/>
          <p:cNvCxnSpPr/>
          <p:nvPr/>
        </p:nvCxnSpPr>
        <p:spPr>
          <a:xfrm>
            <a:off x="395722" y="477379"/>
            <a:ext cx="113063" cy="0"/>
          </a:xfrm>
          <a:prstGeom prst="line">
            <a:avLst/>
          </a:prstGeom>
          <a:ln w="10050">
            <a:solidFill>
              <a:srgbClr val="707070"/>
            </a:solidFill>
          </a:ln>
          <a:effectLst/>
        </p:spPr>
      </p:cxnSp>
      <p:cxnSp>
        <p:nvCxnSpPr>
          <p:cNvPr id="13" name="legend:legend-symbol-line-1-12"/>
          <p:cNvCxnSpPr/>
          <p:nvPr/>
        </p:nvCxnSpPr>
        <p:spPr>
          <a:xfrm>
            <a:off x="395722" y="533910"/>
            <a:ext cx="113063" cy="0"/>
          </a:xfrm>
          <a:prstGeom prst="line">
            <a:avLst/>
          </a:prstGeom>
          <a:ln w="10050">
            <a:solidFill>
              <a:srgbClr val="707070"/>
            </a:solidFill>
          </a:ln>
          <a:effectLst/>
        </p:spPr>
      </p:cxnSp>
      <p:cxnSp>
        <p:nvCxnSpPr>
          <p:cNvPr id="14" name="legend:legend-symbol-line-2-13"/>
          <p:cNvCxnSpPr/>
          <p:nvPr/>
        </p:nvCxnSpPr>
        <p:spPr>
          <a:xfrm>
            <a:off x="395722" y="590442"/>
            <a:ext cx="113063" cy="0"/>
          </a:xfrm>
          <a:prstGeom prst="line">
            <a:avLst/>
          </a:prstGeom>
          <a:ln w="10050">
            <a:solidFill>
              <a:srgbClr val="707070"/>
            </a:solidFill>
          </a:ln>
          <a:effectLst/>
        </p:spPr>
      </p:cxnSp>
      <p:sp>
        <p:nvSpPr>
          <p:cNvPr id="15" name="legend:legend-symbol-check-14"/>
          <p:cNvSpPr/>
          <p:nvPr/>
        </p:nvSpPr>
        <p:spPr>
          <a:xfrm>
            <a:off x="546473" y="351753"/>
            <a:ext cx="106782" cy="106782"/>
          </a:xfrm>
          <a:prstGeom prst="ellipse">
            <a:avLst/>
          </a:prstGeom>
          <a:solidFill>
            <a:srgbClr val="72CE7C"/>
          </a:solidFill>
          <a:ln w="9421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legend:legend-symbol-checkmark-15"/>
          <p:cNvSpPr txBox="1"/>
          <p:nvPr/>
        </p:nvSpPr>
        <p:spPr>
          <a:xfrm>
            <a:off x="546473" y="332909"/>
            <a:ext cx="106782" cy="12562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801"/>
              </a:lnSpc>
              <a:spcBef>
                <a:spcPts val="0"/>
              </a:spcBef>
              <a:spcAft>
                <a:spcPts val="0"/>
              </a:spcAft>
              <a:defRPr sz="741" b="1" i="0">
                <a:solidFill>
                  <a:srgbClr val="006400"/>
                </a:solidFill>
                <a:latin typeface="DejaVu Sans"/>
              </a:defRPr>
            </a:pPr>
            <a:r>
              <a:t>✓</a:t>
            </a:r>
          </a:p>
        </p:txBody>
      </p:sp>
      <p:sp>
        <p:nvSpPr>
          <p:cNvPr id="17" name="legend:legend-title-16"/>
          <p:cNvSpPr txBox="1"/>
          <p:nvPr/>
        </p:nvSpPr>
        <p:spPr>
          <a:xfrm>
            <a:off x="678380" y="351753"/>
            <a:ext cx="1570324" cy="2638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02"/>
              </a:lnSpc>
              <a:spcBef>
                <a:spcPts val="0"/>
              </a:spcBef>
              <a:spcAft>
                <a:spcPts val="0"/>
              </a:spcAft>
              <a:defRPr sz="1483" b="1" i="0">
                <a:solidFill>
                  <a:srgbClr val="111111"/>
                </a:solidFill>
                <a:latin typeface="DejaVu Serif"/>
              </a:defRPr>
            </a:pPr>
            <a:r>
              <a:t>Symbols</a:t>
            </a:r>
          </a:p>
        </p:txBody>
      </p:sp>
      <p:sp>
        <p:nvSpPr>
          <p:cNvPr id="18" name="legend:black-swatch-17"/>
          <p:cNvSpPr/>
          <p:nvPr/>
        </p:nvSpPr>
        <p:spPr>
          <a:xfrm>
            <a:off x="314065" y="678380"/>
            <a:ext cx="464816" cy="157032"/>
          </a:xfrm>
          <a:prstGeom prst="rect">
            <a:avLst/>
          </a:prstGeom>
          <a:solidFill>
            <a:srgbClr val="111111"/>
          </a:solidFill>
          <a:ln w="6281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legend:black-font-18"/>
          <p:cNvSpPr txBox="1"/>
          <p:nvPr/>
        </p:nvSpPr>
        <p:spPr>
          <a:xfrm>
            <a:off x="320346" y="678380"/>
            <a:ext cx="464816" cy="157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08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FFFFFF"/>
                </a:solidFill>
                <a:latin typeface="DejaVu Sans"/>
              </a:defRPr>
            </a:pPr>
            <a:r>
              <a:t>Black font</a:t>
            </a:r>
          </a:p>
        </p:txBody>
      </p:sp>
      <p:sp>
        <p:nvSpPr>
          <p:cNvPr id="20" name="legend:black-copy-19"/>
          <p:cNvSpPr txBox="1"/>
          <p:nvPr/>
        </p:nvSpPr>
        <p:spPr>
          <a:xfrm>
            <a:off x="816569" y="672099"/>
            <a:ext cx="1381886" cy="182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1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707070"/>
                </a:solidFill>
                <a:latin typeface="DejaVu Sans"/>
              </a:defRPr>
            </a:pPr>
            <a:r>
              <a:t>: Notations</a:t>
            </a:r>
          </a:p>
        </p:txBody>
      </p:sp>
      <p:sp>
        <p:nvSpPr>
          <p:cNvPr id="21" name="legend:red-swatch-20"/>
          <p:cNvSpPr/>
          <p:nvPr/>
        </p:nvSpPr>
        <p:spPr>
          <a:xfrm>
            <a:off x="314065" y="879382"/>
            <a:ext cx="383159" cy="163314"/>
          </a:xfrm>
          <a:prstGeom prst="rect">
            <a:avLst/>
          </a:prstGeom>
          <a:solidFill>
            <a:srgbClr val="F00000"/>
          </a:solidFill>
          <a:ln w="6281">
            <a:solidFill>
              <a:srgbClr val="F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legend:red-font-21"/>
          <p:cNvSpPr txBox="1"/>
          <p:nvPr/>
        </p:nvSpPr>
        <p:spPr>
          <a:xfrm>
            <a:off x="320346" y="879382"/>
            <a:ext cx="389440" cy="16331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08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FFFFFF"/>
                </a:solidFill>
                <a:latin typeface="DejaVu Sans"/>
              </a:defRPr>
            </a:pPr>
            <a:r>
              <a:t>Red font</a:t>
            </a:r>
          </a:p>
        </p:txBody>
      </p:sp>
      <p:sp>
        <p:nvSpPr>
          <p:cNvPr id="23" name="legend:red-copy-22"/>
          <p:cNvSpPr txBox="1"/>
          <p:nvPr/>
        </p:nvSpPr>
        <p:spPr>
          <a:xfrm>
            <a:off x="734912" y="873100"/>
            <a:ext cx="1381886" cy="182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1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707070"/>
                </a:solidFill>
                <a:latin typeface="DejaVu Sans"/>
              </a:defRPr>
            </a:pPr>
            <a:r>
              <a:t>: Operations</a:t>
            </a:r>
          </a:p>
        </p:txBody>
      </p:sp>
      <p:sp>
        <p:nvSpPr>
          <p:cNvPr id="24" name="legend:legend-forward-arrow-23"/>
          <p:cNvSpPr/>
          <p:nvPr/>
        </p:nvSpPr>
        <p:spPr>
          <a:xfrm>
            <a:off x="320346" y="1130634"/>
            <a:ext cx="552754" cy="100501"/>
          </a:xfrm>
          <a:custGeom>
            <a:avLst/>
            <a:gdLst/>
            <a:ahLst/>
            <a:cxnLst/>
            <a:rect l="l" t="t" r="r" b="b"/>
            <a:pathLst>
              <a:path w="88" h="16">
                <a:moveTo>
                  <a:pt x="0" y="4"/>
                </a:moveTo>
                <a:lnTo>
                  <a:pt x="73" y="4"/>
                </a:lnTo>
                <a:lnTo>
                  <a:pt x="73" y="0"/>
                </a:lnTo>
                <a:lnTo>
                  <a:pt x="88" y="8"/>
                </a:lnTo>
                <a:lnTo>
                  <a:pt x="73" y="16"/>
                </a:lnTo>
                <a:lnTo>
                  <a:pt x="73" y="12"/>
                </a:lnTo>
                <a:lnTo>
                  <a:pt x="0" y="12"/>
                </a:lnTo>
                <a:close/>
              </a:path>
            </a:pathLst>
          </a:custGeom>
          <a:solidFill>
            <a:srgbClr val="FFFFFF"/>
          </a:solidFill>
          <a:ln w="25125">
            <a:solidFill>
              <a:srgbClr val="F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legend:legend-forward-copy-24"/>
          <p:cNvSpPr txBox="1"/>
          <p:nvPr/>
        </p:nvSpPr>
        <p:spPr>
          <a:xfrm>
            <a:off x="917069" y="1092946"/>
            <a:ext cx="1287666" cy="18843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61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707070"/>
                </a:solidFill>
                <a:latin typeface="DejaVu Sans"/>
              </a:defRPr>
            </a:pPr>
            <a:r>
              <a:t>: Forward Process</a:t>
            </a:r>
          </a:p>
        </p:txBody>
      </p:sp>
      <p:cxnSp>
        <p:nvCxnSpPr>
          <p:cNvPr id="26" name="legend:legend-edge-arrow-shaft-25"/>
          <p:cNvCxnSpPr/>
          <p:nvPr/>
        </p:nvCxnSpPr>
        <p:spPr>
          <a:xfrm>
            <a:off x="320346" y="1369323"/>
            <a:ext cx="382154" cy="0"/>
          </a:xfrm>
          <a:prstGeom prst="line">
            <a:avLst/>
          </a:prstGeom>
          <a:ln w="31406">
            <a:solidFill>
              <a:srgbClr val="707070"/>
            </a:solidFill>
          </a:ln>
          <a:effectLst/>
        </p:spPr>
      </p:cxnSp>
      <p:sp>
        <p:nvSpPr>
          <p:cNvPr id="27" name="legend:legend-edge-arrow-head-26"/>
          <p:cNvSpPr/>
          <p:nvPr/>
        </p:nvSpPr>
        <p:spPr>
          <a:xfrm>
            <a:off x="695678" y="1321277"/>
            <a:ext cx="56532" cy="94219"/>
          </a:xfrm>
          <a:custGeom>
            <a:avLst/>
            <a:gdLst/>
            <a:ahLst/>
            <a:cxnLst/>
            <a:rect l="l" t="t" r="r" b="b"/>
            <a:pathLst>
              <a:path w="9" h="15">
                <a:moveTo>
                  <a:pt x="9" y="8"/>
                </a:moveTo>
                <a:lnTo>
                  <a:pt x="0" y="15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legend:legend-edge-copy-27"/>
          <p:cNvSpPr txBox="1"/>
          <p:nvPr/>
        </p:nvSpPr>
        <p:spPr>
          <a:xfrm>
            <a:off x="791444" y="1281385"/>
            <a:ext cx="1381886" cy="18843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61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707070"/>
                </a:solidFill>
                <a:latin typeface="DejaVu Sans"/>
              </a:defRPr>
            </a:pPr>
            <a:r>
              <a:t>: Edges between nodes</a:t>
            </a:r>
          </a:p>
        </p:txBody>
      </p:sp>
      <p:sp>
        <p:nvSpPr>
          <p:cNvPr id="29" name="legend:legend-insight-node-28"/>
          <p:cNvSpPr/>
          <p:nvPr/>
        </p:nvSpPr>
        <p:spPr>
          <a:xfrm>
            <a:off x="314065" y="1501230"/>
            <a:ext cx="175876" cy="175876"/>
          </a:xfrm>
          <a:prstGeom prst="ellipse">
            <a:avLst/>
          </a:prstGeom>
          <a:solidFill>
            <a:srgbClr val="7DD45C"/>
          </a:solidFill>
          <a:ln w="18843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legend:legend-insight-copy-29"/>
          <p:cNvSpPr txBox="1"/>
          <p:nvPr/>
        </p:nvSpPr>
        <p:spPr>
          <a:xfrm>
            <a:off x="508785" y="1488668"/>
            <a:ext cx="791444" cy="20728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08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707070"/>
                </a:solidFill>
                <a:latin typeface="DejaVu Sans"/>
              </a:defRPr>
            </a:pPr>
            <a:r>
              <a:t>: Insight node</a:t>
            </a:r>
          </a:p>
        </p:txBody>
      </p:sp>
      <p:sp>
        <p:nvSpPr>
          <p:cNvPr id="31" name="legend:legend-query-node-30"/>
          <p:cNvSpPr/>
          <p:nvPr/>
        </p:nvSpPr>
        <p:spPr>
          <a:xfrm>
            <a:off x="1356760" y="1501230"/>
            <a:ext cx="175876" cy="175876"/>
          </a:xfrm>
          <a:prstGeom prst="ellipse">
            <a:avLst/>
          </a:prstGeom>
          <a:solidFill>
            <a:srgbClr val="6EA8E2"/>
          </a:solidFill>
          <a:ln w="18843">
            <a:solidFill>
              <a:srgbClr val="003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legend:legend-query-copy-31"/>
          <p:cNvSpPr txBox="1"/>
          <p:nvPr/>
        </p:nvSpPr>
        <p:spPr>
          <a:xfrm>
            <a:off x="1551481" y="1488668"/>
            <a:ext cx="747474" cy="20728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08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707070"/>
                </a:solidFill>
                <a:latin typeface="DejaVu Sans"/>
              </a:defRPr>
            </a:pPr>
            <a:r>
              <a:t>: Query node</a:t>
            </a:r>
          </a:p>
        </p:txBody>
      </p:sp>
      <p:sp>
        <p:nvSpPr>
          <p:cNvPr id="33" name="legend:legend-agent-node-32"/>
          <p:cNvSpPr/>
          <p:nvPr/>
        </p:nvSpPr>
        <p:spPr>
          <a:xfrm>
            <a:off x="219845" y="1733638"/>
            <a:ext cx="226127" cy="207283"/>
          </a:xfrm>
          <a:custGeom>
            <a:avLst/>
            <a:gdLst/>
            <a:ahLst/>
            <a:cxnLst/>
            <a:rect l="l" t="t" r="r" b="b"/>
            <a:pathLst>
              <a:path w="36" h="33">
                <a:moveTo>
                  <a:pt x="4" y="6"/>
                </a:moveTo>
                <a:lnTo>
                  <a:pt x="16" y="0"/>
                </a:lnTo>
                <a:lnTo>
                  <a:pt x="31" y="4"/>
                </a:lnTo>
                <a:lnTo>
                  <a:pt x="36" y="15"/>
                </a:lnTo>
                <a:lnTo>
                  <a:pt x="29" y="30"/>
                </a:lnTo>
                <a:lnTo>
                  <a:pt x="14" y="33"/>
                </a:lnTo>
                <a:lnTo>
                  <a:pt x="3" y="23"/>
                </a:lnTo>
                <a:lnTo>
                  <a:pt x="0" y="13"/>
                </a:lnTo>
                <a:close/>
              </a:path>
            </a:pathLst>
          </a:custGeom>
          <a:solidFill>
            <a:srgbClr val="B886F0"/>
          </a:solidFill>
          <a:ln w="18843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legend:legend-agent-copy-33"/>
          <p:cNvSpPr txBox="1"/>
          <p:nvPr/>
        </p:nvSpPr>
        <p:spPr>
          <a:xfrm>
            <a:off x="489941" y="1733638"/>
            <a:ext cx="1444698" cy="21356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08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707070"/>
                </a:solidFill>
                <a:latin typeface="DejaVu Sans"/>
              </a:defRPr>
            </a:pPr>
            <a:r>
              <a:t>: Agent utterance node</a:t>
            </a:r>
          </a:p>
        </p:txBody>
      </p:sp>
      <p:sp>
        <p:nvSpPr>
          <p:cNvPr id="35" name="task-panel:task-panel-layer-0-34"/>
          <p:cNvSpPr/>
          <p:nvPr/>
        </p:nvSpPr>
        <p:spPr>
          <a:xfrm>
            <a:off x="339190" y="2311518"/>
            <a:ext cx="2198454" cy="4396908"/>
          </a:xfrm>
          <a:prstGeom prst="rect">
            <a:avLst/>
          </a:prstGeom>
          <a:solidFill>
            <a:srgbClr val="F5F5F5">
              <a:alpha val="72000"/>
            </a:srgbClr>
          </a:solidFill>
          <a:ln w="18843">
            <a:solidFill>
              <a:srgbClr val="7F7F7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sk-panel:task-panel-layer-1-35"/>
          <p:cNvSpPr/>
          <p:nvPr/>
        </p:nvSpPr>
        <p:spPr>
          <a:xfrm>
            <a:off x="288940" y="2261267"/>
            <a:ext cx="2198454" cy="4396908"/>
          </a:xfrm>
          <a:prstGeom prst="rect">
            <a:avLst/>
          </a:prstGeom>
          <a:solidFill>
            <a:srgbClr val="F5F5F5">
              <a:alpha val="72000"/>
            </a:srgbClr>
          </a:solidFill>
          <a:ln w="18843">
            <a:solidFill>
              <a:srgbClr val="7F7F7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sk-panel:task-panel-layer-2-36"/>
          <p:cNvSpPr/>
          <p:nvPr/>
        </p:nvSpPr>
        <p:spPr>
          <a:xfrm>
            <a:off x="232408" y="2204736"/>
            <a:ext cx="2198454" cy="4396908"/>
          </a:xfrm>
          <a:prstGeom prst="rect">
            <a:avLst/>
          </a:prstGeom>
          <a:solidFill>
            <a:srgbClr val="F5F5F5"/>
          </a:solidFill>
          <a:ln w="18843">
            <a:solidFill>
              <a:srgbClr val="7F7F7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sk-panel:task-title-37"/>
          <p:cNvSpPr txBox="1"/>
          <p:nvPr/>
        </p:nvSpPr>
        <p:spPr>
          <a:xfrm>
            <a:off x="527629" y="2330361"/>
            <a:ext cx="1727357" cy="2575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02"/>
              </a:lnSpc>
              <a:spcBef>
                <a:spcPts val="0"/>
              </a:spcBef>
              <a:spcAft>
                <a:spcPts val="0"/>
              </a:spcAft>
              <a:defRPr sz="1483" b="1" i="0">
                <a:solidFill>
                  <a:srgbClr val="111111"/>
                </a:solidFill>
                <a:latin typeface="DejaVu Serif"/>
              </a:defRPr>
            </a:pPr>
            <a:r>
              <a:t>Query/Task Q</a:t>
            </a:r>
          </a:p>
        </p:txBody>
      </p:sp>
      <p:sp>
        <p:nvSpPr>
          <p:cNvPr id="39" name="task-panel:task-embodied-1-card-38"/>
          <p:cNvSpPr/>
          <p:nvPr/>
        </p:nvSpPr>
        <p:spPr>
          <a:xfrm>
            <a:off x="552754" y="2625582"/>
            <a:ext cx="1733638" cy="1155759"/>
          </a:xfrm>
          <a:prstGeom prst="roundRect">
            <a:avLst>
              <a:gd name="adj" fmla="val 11956"/>
            </a:avLst>
          </a:prstGeom>
          <a:solidFill>
            <a:srgbClr val="D2ECED"/>
          </a:solidFill>
          <a:ln w="12562">
            <a:solidFill>
              <a:srgbClr val="6CBB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ask-panel:task-embodied-1-topic-39"/>
          <p:cNvSpPr txBox="1"/>
          <p:nvPr/>
        </p:nvSpPr>
        <p:spPr>
          <a:xfrm>
            <a:off x="628130" y="2675833"/>
            <a:ext cx="1582887" cy="1758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1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Liberation Mono"/>
              </a:defRPr>
            </a:pPr>
            <a:r>
              <a:t>Topic: Embodied</a:t>
            </a:r>
          </a:p>
        </p:txBody>
      </p:sp>
      <p:sp>
        <p:nvSpPr>
          <p:cNvPr id="41" name="task-panel:task-embodied-1-difficulty-40"/>
          <p:cNvSpPr txBox="1"/>
          <p:nvPr/>
        </p:nvSpPr>
        <p:spPr>
          <a:xfrm>
            <a:off x="628130" y="2839147"/>
            <a:ext cx="791444" cy="1758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1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Liberation Mono"/>
              </a:defRPr>
            </a:pPr>
            <a:r>
              <a:t>Difficulty:</a:t>
            </a:r>
          </a:p>
        </p:txBody>
      </p:sp>
      <p:sp>
        <p:nvSpPr>
          <p:cNvPr id="42" name="task-panel:task-embodied-1-star-0-41"/>
          <p:cNvSpPr/>
          <p:nvPr/>
        </p:nvSpPr>
        <p:spPr>
          <a:xfrm>
            <a:off x="1384960" y="2851709"/>
            <a:ext cx="119345" cy="113063"/>
          </a:xfrm>
          <a:custGeom>
            <a:avLst/>
            <a:gdLst/>
            <a:ahLst/>
            <a:cxnLst/>
            <a:rect l="l" t="t" r="r" b="b"/>
            <a:pathLst>
              <a:path w="19" h="18">
                <a:moveTo>
                  <a:pt x="10" y="0"/>
                </a:moveTo>
                <a:lnTo>
                  <a:pt x="12" y="6"/>
                </a:lnTo>
                <a:lnTo>
                  <a:pt x="19" y="7"/>
                </a:lnTo>
                <a:lnTo>
                  <a:pt x="14" y="11"/>
                </a:lnTo>
                <a:lnTo>
                  <a:pt x="15" y="18"/>
                </a:lnTo>
                <a:lnTo>
                  <a:pt x="10" y="14"/>
                </a:lnTo>
                <a:lnTo>
                  <a:pt x="4" y="18"/>
                </a:lnTo>
                <a:lnTo>
                  <a:pt x="5" y="11"/>
                </a:lnTo>
                <a:lnTo>
                  <a:pt x="0" y="7"/>
                </a:lnTo>
                <a:lnTo>
                  <a:pt x="7" y="6"/>
                </a:lnTo>
                <a:close/>
              </a:path>
            </a:pathLst>
          </a:custGeom>
          <a:solidFill>
            <a:srgbClr val="FFD84A"/>
          </a:solidFill>
          <a:ln w="1005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ask-panel:task-embodied-1-star-1-42"/>
          <p:cNvSpPr/>
          <p:nvPr/>
        </p:nvSpPr>
        <p:spPr>
          <a:xfrm>
            <a:off x="1523148" y="2851709"/>
            <a:ext cx="119345" cy="113063"/>
          </a:xfrm>
          <a:custGeom>
            <a:avLst/>
            <a:gdLst/>
            <a:ahLst/>
            <a:cxnLst/>
            <a:rect l="l" t="t" r="r" b="b"/>
            <a:pathLst>
              <a:path w="19" h="18">
                <a:moveTo>
                  <a:pt x="10" y="0"/>
                </a:moveTo>
                <a:lnTo>
                  <a:pt x="12" y="6"/>
                </a:lnTo>
                <a:lnTo>
                  <a:pt x="19" y="7"/>
                </a:lnTo>
                <a:lnTo>
                  <a:pt x="14" y="11"/>
                </a:lnTo>
                <a:lnTo>
                  <a:pt x="15" y="18"/>
                </a:lnTo>
                <a:lnTo>
                  <a:pt x="10" y="14"/>
                </a:lnTo>
                <a:lnTo>
                  <a:pt x="4" y="18"/>
                </a:lnTo>
                <a:lnTo>
                  <a:pt x="5" y="11"/>
                </a:lnTo>
                <a:lnTo>
                  <a:pt x="0" y="7"/>
                </a:lnTo>
                <a:lnTo>
                  <a:pt x="7" y="6"/>
                </a:lnTo>
                <a:close/>
              </a:path>
            </a:pathLst>
          </a:custGeom>
          <a:solidFill>
            <a:srgbClr val="FFFFFF"/>
          </a:solidFill>
          <a:ln w="1005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ask-panel:task-embodied-1-star-2-43"/>
          <p:cNvSpPr/>
          <p:nvPr/>
        </p:nvSpPr>
        <p:spPr>
          <a:xfrm>
            <a:off x="1661337" y="2851709"/>
            <a:ext cx="119345" cy="113063"/>
          </a:xfrm>
          <a:custGeom>
            <a:avLst/>
            <a:gdLst/>
            <a:ahLst/>
            <a:cxnLst/>
            <a:rect l="l" t="t" r="r" b="b"/>
            <a:pathLst>
              <a:path w="19" h="18">
                <a:moveTo>
                  <a:pt x="10" y="0"/>
                </a:moveTo>
                <a:lnTo>
                  <a:pt x="12" y="6"/>
                </a:lnTo>
                <a:lnTo>
                  <a:pt x="19" y="7"/>
                </a:lnTo>
                <a:lnTo>
                  <a:pt x="14" y="11"/>
                </a:lnTo>
                <a:lnTo>
                  <a:pt x="15" y="18"/>
                </a:lnTo>
                <a:lnTo>
                  <a:pt x="10" y="14"/>
                </a:lnTo>
                <a:lnTo>
                  <a:pt x="4" y="18"/>
                </a:lnTo>
                <a:lnTo>
                  <a:pt x="5" y="11"/>
                </a:lnTo>
                <a:lnTo>
                  <a:pt x="0" y="7"/>
                </a:lnTo>
                <a:lnTo>
                  <a:pt x="7" y="6"/>
                </a:lnTo>
                <a:close/>
              </a:path>
            </a:pathLst>
          </a:custGeom>
          <a:solidFill>
            <a:srgbClr val="FFFFFF"/>
          </a:solidFill>
          <a:ln w="1005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ask-panel:task-embodied-1-star-3-44"/>
          <p:cNvSpPr/>
          <p:nvPr/>
        </p:nvSpPr>
        <p:spPr>
          <a:xfrm>
            <a:off x="1799525" y="2851709"/>
            <a:ext cx="119345" cy="113063"/>
          </a:xfrm>
          <a:custGeom>
            <a:avLst/>
            <a:gdLst/>
            <a:ahLst/>
            <a:cxnLst/>
            <a:rect l="l" t="t" r="r" b="b"/>
            <a:pathLst>
              <a:path w="19" h="18">
                <a:moveTo>
                  <a:pt x="10" y="0"/>
                </a:moveTo>
                <a:lnTo>
                  <a:pt x="12" y="6"/>
                </a:lnTo>
                <a:lnTo>
                  <a:pt x="19" y="7"/>
                </a:lnTo>
                <a:lnTo>
                  <a:pt x="14" y="11"/>
                </a:lnTo>
                <a:lnTo>
                  <a:pt x="15" y="18"/>
                </a:lnTo>
                <a:lnTo>
                  <a:pt x="10" y="14"/>
                </a:lnTo>
                <a:lnTo>
                  <a:pt x="4" y="18"/>
                </a:lnTo>
                <a:lnTo>
                  <a:pt x="5" y="11"/>
                </a:lnTo>
                <a:lnTo>
                  <a:pt x="0" y="7"/>
                </a:lnTo>
                <a:lnTo>
                  <a:pt x="7" y="6"/>
                </a:lnTo>
                <a:close/>
              </a:path>
            </a:pathLst>
          </a:custGeom>
          <a:solidFill>
            <a:srgbClr val="FFFFFF"/>
          </a:solidFill>
          <a:ln w="1005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ask-panel:task-embodied-1-star-4-45"/>
          <p:cNvSpPr/>
          <p:nvPr/>
        </p:nvSpPr>
        <p:spPr>
          <a:xfrm>
            <a:off x="1937714" y="2851709"/>
            <a:ext cx="119345" cy="113063"/>
          </a:xfrm>
          <a:custGeom>
            <a:avLst/>
            <a:gdLst/>
            <a:ahLst/>
            <a:cxnLst/>
            <a:rect l="l" t="t" r="r" b="b"/>
            <a:pathLst>
              <a:path w="19" h="18">
                <a:moveTo>
                  <a:pt x="10" y="0"/>
                </a:moveTo>
                <a:lnTo>
                  <a:pt x="12" y="6"/>
                </a:lnTo>
                <a:lnTo>
                  <a:pt x="19" y="7"/>
                </a:lnTo>
                <a:lnTo>
                  <a:pt x="14" y="11"/>
                </a:lnTo>
                <a:lnTo>
                  <a:pt x="15" y="18"/>
                </a:lnTo>
                <a:lnTo>
                  <a:pt x="10" y="14"/>
                </a:lnTo>
                <a:lnTo>
                  <a:pt x="4" y="18"/>
                </a:lnTo>
                <a:lnTo>
                  <a:pt x="5" y="11"/>
                </a:lnTo>
                <a:lnTo>
                  <a:pt x="0" y="7"/>
                </a:lnTo>
                <a:lnTo>
                  <a:pt x="7" y="6"/>
                </a:lnTo>
                <a:close/>
              </a:path>
            </a:pathLst>
          </a:custGeom>
          <a:solidFill>
            <a:srgbClr val="FFFFFF"/>
          </a:solidFill>
          <a:ln w="1005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ask-panel:task-embodied-1-body-46"/>
          <p:cNvSpPr txBox="1"/>
          <p:nvPr/>
        </p:nvSpPr>
        <p:spPr>
          <a:xfrm>
            <a:off x="659536" y="3033867"/>
            <a:ext cx="1520074" cy="703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9"/>
              </a:lnSpc>
              <a:spcBef>
                <a:spcPts val="0"/>
              </a:spcBef>
              <a:spcAft>
                <a:spcPts val="0"/>
              </a:spcAft>
              <a:defRPr sz="865" b="0" i="0">
                <a:solidFill>
                  <a:srgbClr val="111111"/>
                </a:solidFill>
                <a:latin typeface="DejaVu Sans"/>
              </a:defRPr>
            </a:pPr>
            <a:r>
              <a:t>You are in the middle of a</a:t>
            </a:r>
          </a:p>
          <a:p>
            <a:pPr algn="l">
              <a:lnSpc>
                <a:spcPts val="969"/>
              </a:lnSpc>
              <a:spcBef>
                <a:spcPts val="0"/>
              </a:spcBef>
              <a:spcAft>
                <a:spcPts val="0"/>
              </a:spcAft>
              <a:defRPr sz="865" b="0" i="0">
                <a:solidFill>
                  <a:srgbClr val="111111"/>
                </a:solidFill>
                <a:latin typeface="DejaVu Sans"/>
              </a:defRPr>
            </a:pPr>
            <a:r>
              <a:t>room. Looking quickly around</a:t>
            </a:r>
          </a:p>
          <a:p>
            <a:pPr algn="l">
              <a:lnSpc>
                <a:spcPts val="969"/>
              </a:lnSpc>
              <a:spcBef>
                <a:spcPts val="0"/>
              </a:spcBef>
              <a:spcAft>
                <a:spcPts val="0"/>
              </a:spcAft>
              <a:defRPr sz="865" b="0" i="0">
                <a:solidFill>
                  <a:srgbClr val="111111"/>
                </a:solidFill>
                <a:latin typeface="DejaVu Sans"/>
              </a:defRPr>
            </a:pPr>
            <a:r>
              <a:t>you, you see a cabinet 6, a</a:t>
            </a:r>
          </a:p>
          <a:p>
            <a:pPr algn="l">
              <a:lnSpc>
                <a:spcPts val="969"/>
              </a:lnSpc>
              <a:spcBef>
                <a:spcPts val="0"/>
              </a:spcBef>
              <a:spcAft>
                <a:spcPts val="0"/>
              </a:spcAft>
              <a:defRPr sz="865" b="0" i="0">
                <a:solidFill>
                  <a:srgbClr val="111111"/>
                </a:solidFill>
                <a:latin typeface="DejaVu Sans"/>
              </a:defRPr>
            </a:pPr>
            <a:r>
              <a:t>cabinet 5, ... Your task is to:</a:t>
            </a:r>
          </a:p>
          <a:p>
            <a:pPr algn="l">
              <a:lnSpc>
                <a:spcPts val="969"/>
              </a:lnSpc>
              <a:spcBef>
                <a:spcPts val="0"/>
              </a:spcBef>
              <a:spcAft>
                <a:spcPts val="0"/>
              </a:spcAft>
              <a:defRPr sz="865" b="0" i="0">
                <a:solidFill>
                  <a:srgbClr val="111111"/>
                </a:solidFill>
                <a:latin typeface="DejaVu Sans"/>
              </a:defRPr>
            </a:pPr>
            <a:r>
              <a:t>put a clean egg in microwave.</a:t>
            </a:r>
          </a:p>
        </p:txBody>
      </p:sp>
      <p:sp>
        <p:nvSpPr>
          <p:cNvPr id="48" name="task-panel:task-search-card-47"/>
          <p:cNvSpPr/>
          <p:nvPr/>
        </p:nvSpPr>
        <p:spPr>
          <a:xfrm>
            <a:off x="408284" y="3875561"/>
            <a:ext cx="1758763" cy="772600"/>
          </a:xfrm>
          <a:prstGeom prst="roundRect">
            <a:avLst>
              <a:gd name="adj" fmla="val 17886"/>
            </a:avLst>
          </a:prstGeom>
          <a:solidFill>
            <a:srgbClr val="EBE6ED"/>
          </a:solidFill>
          <a:ln w="12562">
            <a:solidFill>
              <a:srgbClr val="C8B5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ask-panel:task-search-topic-48"/>
          <p:cNvSpPr txBox="1"/>
          <p:nvPr/>
        </p:nvSpPr>
        <p:spPr>
          <a:xfrm>
            <a:off x="483660" y="3925811"/>
            <a:ext cx="1608012" cy="1758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1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Liberation Mono"/>
              </a:defRPr>
            </a:pPr>
            <a:r>
              <a:t>Topic: Web search</a:t>
            </a:r>
          </a:p>
        </p:txBody>
      </p:sp>
      <p:sp>
        <p:nvSpPr>
          <p:cNvPr id="50" name="task-panel:task-search-difficulty-49"/>
          <p:cNvSpPr txBox="1"/>
          <p:nvPr/>
        </p:nvSpPr>
        <p:spPr>
          <a:xfrm>
            <a:off x="483660" y="4089125"/>
            <a:ext cx="791444" cy="1758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1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Liberation Mono"/>
              </a:defRPr>
            </a:pPr>
            <a:r>
              <a:t>Difficulty:</a:t>
            </a:r>
          </a:p>
        </p:txBody>
      </p:sp>
      <p:sp>
        <p:nvSpPr>
          <p:cNvPr id="51" name="task-panel:task-search-star-0-50"/>
          <p:cNvSpPr/>
          <p:nvPr/>
        </p:nvSpPr>
        <p:spPr>
          <a:xfrm>
            <a:off x="1240490" y="4101687"/>
            <a:ext cx="119345" cy="113063"/>
          </a:xfrm>
          <a:custGeom>
            <a:avLst/>
            <a:gdLst/>
            <a:ahLst/>
            <a:cxnLst/>
            <a:rect l="l" t="t" r="r" b="b"/>
            <a:pathLst>
              <a:path w="19" h="18">
                <a:moveTo>
                  <a:pt x="10" y="0"/>
                </a:moveTo>
                <a:lnTo>
                  <a:pt x="12" y="6"/>
                </a:lnTo>
                <a:lnTo>
                  <a:pt x="19" y="7"/>
                </a:lnTo>
                <a:lnTo>
                  <a:pt x="14" y="11"/>
                </a:lnTo>
                <a:lnTo>
                  <a:pt x="15" y="18"/>
                </a:lnTo>
                <a:lnTo>
                  <a:pt x="10" y="14"/>
                </a:lnTo>
                <a:lnTo>
                  <a:pt x="4" y="18"/>
                </a:lnTo>
                <a:lnTo>
                  <a:pt x="5" y="11"/>
                </a:lnTo>
                <a:lnTo>
                  <a:pt x="0" y="7"/>
                </a:lnTo>
                <a:lnTo>
                  <a:pt x="7" y="6"/>
                </a:lnTo>
                <a:close/>
              </a:path>
            </a:pathLst>
          </a:custGeom>
          <a:solidFill>
            <a:srgbClr val="FFD84A"/>
          </a:solidFill>
          <a:ln w="1005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ask-panel:task-search-star-1-51"/>
          <p:cNvSpPr/>
          <p:nvPr/>
        </p:nvSpPr>
        <p:spPr>
          <a:xfrm>
            <a:off x="1378679" y="4101687"/>
            <a:ext cx="119345" cy="113063"/>
          </a:xfrm>
          <a:custGeom>
            <a:avLst/>
            <a:gdLst/>
            <a:ahLst/>
            <a:cxnLst/>
            <a:rect l="l" t="t" r="r" b="b"/>
            <a:pathLst>
              <a:path w="19" h="18">
                <a:moveTo>
                  <a:pt x="10" y="0"/>
                </a:moveTo>
                <a:lnTo>
                  <a:pt x="12" y="6"/>
                </a:lnTo>
                <a:lnTo>
                  <a:pt x="19" y="7"/>
                </a:lnTo>
                <a:lnTo>
                  <a:pt x="14" y="11"/>
                </a:lnTo>
                <a:lnTo>
                  <a:pt x="15" y="18"/>
                </a:lnTo>
                <a:lnTo>
                  <a:pt x="10" y="14"/>
                </a:lnTo>
                <a:lnTo>
                  <a:pt x="4" y="18"/>
                </a:lnTo>
                <a:lnTo>
                  <a:pt x="5" y="11"/>
                </a:lnTo>
                <a:lnTo>
                  <a:pt x="0" y="7"/>
                </a:lnTo>
                <a:lnTo>
                  <a:pt x="7" y="6"/>
                </a:lnTo>
                <a:close/>
              </a:path>
            </a:pathLst>
          </a:custGeom>
          <a:solidFill>
            <a:srgbClr val="FFD84A"/>
          </a:solidFill>
          <a:ln w="1005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ask-panel:task-search-star-2-52"/>
          <p:cNvSpPr/>
          <p:nvPr/>
        </p:nvSpPr>
        <p:spPr>
          <a:xfrm>
            <a:off x="1516867" y="4101687"/>
            <a:ext cx="119345" cy="113063"/>
          </a:xfrm>
          <a:custGeom>
            <a:avLst/>
            <a:gdLst/>
            <a:ahLst/>
            <a:cxnLst/>
            <a:rect l="l" t="t" r="r" b="b"/>
            <a:pathLst>
              <a:path w="19" h="18">
                <a:moveTo>
                  <a:pt x="10" y="0"/>
                </a:moveTo>
                <a:lnTo>
                  <a:pt x="12" y="6"/>
                </a:lnTo>
                <a:lnTo>
                  <a:pt x="19" y="7"/>
                </a:lnTo>
                <a:lnTo>
                  <a:pt x="14" y="11"/>
                </a:lnTo>
                <a:lnTo>
                  <a:pt x="15" y="18"/>
                </a:lnTo>
                <a:lnTo>
                  <a:pt x="10" y="14"/>
                </a:lnTo>
                <a:lnTo>
                  <a:pt x="4" y="18"/>
                </a:lnTo>
                <a:lnTo>
                  <a:pt x="5" y="11"/>
                </a:lnTo>
                <a:lnTo>
                  <a:pt x="0" y="7"/>
                </a:lnTo>
                <a:lnTo>
                  <a:pt x="7" y="6"/>
                </a:lnTo>
                <a:close/>
              </a:path>
            </a:pathLst>
          </a:custGeom>
          <a:solidFill>
            <a:srgbClr val="FFD84A"/>
          </a:solidFill>
          <a:ln w="1005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ask-panel:task-search-star-3-53"/>
          <p:cNvSpPr/>
          <p:nvPr/>
        </p:nvSpPr>
        <p:spPr>
          <a:xfrm>
            <a:off x="1655056" y="4101687"/>
            <a:ext cx="119345" cy="113063"/>
          </a:xfrm>
          <a:custGeom>
            <a:avLst/>
            <a:gdLst/>
            <a:ahLst/>
            <a:cxnLst/>
            <a:rect l="l" t="t" r="r" b="b"/>
            <a:pathLst>
              <a:path w="19" h="18">
                <a:moveTo>
                  <a:pt x="10" y="0"/>
                </a:moveTo>
                <a:lnTo>
                  <a:pt x="12" y="6"/>
                </a:lnTo>
                <a:lnTo>
                  <a:pt x="19" y="7"/>
                </a:lnTo>
                <a:lnTo>
                  <a:pt x="14" y="11"/>
                </a:lnTo>
                <a:lnTo>
                  <a:pt x="15" y="18"/>
                </a:lnTo>
                <a:lnTo>
                  <a:pt x="10" y="14"/>
                </a:lnTo>
                <a:lnTo>
                  <a:pt x="4" y="18"/>
                </a:lnTo>
                <a:lnTo>
                  <a:pt x="5" y="11"/>
                </a:lnTo>
                <a:lnTo>
                  <a:pt x="0" y="7"/>
                </a:lnTo>
                <a:lnTo>
                  <a:pt x="7" y="6"/>
                </a:lnTo>
                <a:close/>
              </a:path>
            </a:pathLst>
          </a:custGeom>
          <a:solidFill>
            <a:srgbClr val="FFFFFF"/>
          </a:solidFill>
          <a:ln w="1005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ask-panel:task-search-star-4-54"/>
          <p:cNvSpPr/>
          <p:nvPr/>
        </p:nvSpPr>
        <p:spPr>
          <a:xfrm>
            <a:off x="1793244" y="4101687"/>
            <a:ext cx="119345" cy="113063"/>
          </a:xfrm>
          <a:custGeom>
            <a:avLst/>
            <a:gdLst/>
            <a:ahLst/>
            <a:cxnLst/>
            <a:rect l="l" t="t" r="r" b="b"/>
            <a:pathLst>
              <a:path w="19" h="18">
                <a:moveTo>
                  <a:pt x="10" y="0"/>
                </a:moveTo>
                <a:lnTo>
                  <a:pt x="12" y="6"/>
                </a:lnTo>
                <a:lnTo>
                  <a:pt x="19" y="7"/>
                </a:lnTo>
                <a:lnTo>
                  <a:pt x="14" y="11"/>
                </a:lnTo>
                <a:lnTo>
                  <a:pt x="15" y="18"/>
                </a:lnTo>
                <a:lnTo>
                  <a:pt x="10" y="14"/>
                </a:lnTo>
                <a:lnTo>
                  <a:pt x="4" y="18"/>
                </a:lnTo>
                <a:lnTo>
                  <a:pt x="5" y="11"/>
                </a:lnTo>
                <a:lnTo>
                  <a:pt x="0" y="7"/>
                </a:lnTo>
                <a:lnTo>
                  <a:pt x="7" y="6"/>
                </a:lnTo>
                <a:close/>
              </a:path>
            </a:pathLst>
          </a:custGeom>
          <a:solidFill>
            <a:srgbClr val="FFFFFF"/>
          </a:solidFill>
          <a:ln w="1005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ask-panel:task-search-body-55"/>
          <p:cNvSpPr txBox="1"/>
          <p:nvPr/>
        </p:nvSpPr>
        <p:spPr>
          <a:xfrm>
            <a:off x="515066" y="4283845"/>
            <a:ext cx="1545199" cy="3203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9"/>
              </a:lnSpc>
              <a:spcBef>
                <a:spcPts val="0"/>
              </a:spcBef>
              <a:spcAft>
                <a:spcPts val="0"/>
              </a:spcAft>
              <a:defRPr sz="865" b="0" i="0">
                <a:solidFill>
                  <a:srgbClr val="111111"/>
                </a:solidFill>
                <a:latin typeface="DejaVu Sans"/>
              </a:defRPr>
            </a:pPr>
            <a:r>
              <a:t>Are both Lygodium or</a:t>
            </a:r>
          </a:p>
          <a:p>
            <a:pPr algn="l">
              <a:lnSpc>
                <a:spcPts val="969"/>
              </a:lnSpc>
              <a:spcBef>
                <a:spcPts val="0"/>
              </a:spcBef>
              <a:spcAft>
                <a:spcPts val="0"/>
              </a:spcAft>
              <a:defRPr sz="865" b="0" i="0">
                <a:solidFill>
                  <a:srgbClr val="111111"/>
                </a:solidFill>
                <a:latin typeface="DejaVu Sans"/>
              </a:defRPr>
            </a:pPr>
            <a:r>
              <a:t>Maxillaria a genus of orchids?</a:t>
            </a:r>
          </a:p>
        </p:txBody>
      </p:sp>
      <p:sp>
        <p:nvSpPr>
          <p:cNvPr id="57" name="task-panel:task-embodied-2-card-56"/>
          <p:cNvSpPr/>
          <p:nvPr/>
        </p:nvSpPr>
        <p:spPr>
          <a:xfrm>
            <a:off x="766318" y="4729817"/>
            <a:ext cx="1570324" cy="1023852"/>
          </a:xfrm>
          <a:prstGeom prst="roundRect">
            <a:avLst>
              <a:gd name="adj" fmla="val 13496"/>
            </a:avLst>
          </a:prstGeom>
          <a:solidFill>
            <a:srgbClr val="F7E8E5"/>
          </a:solidFill>
          <a:ln w="12562">
            <a:solidFill>
              <a:srgbClr val="DF9B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ask-panel:task-embodied-2-topic-57"/>
          <p:cNvSpPr txBox="1"/>
          <p:nvPr/>
        </p:nvSpPr>
        <p:spPr>
          <a:xfrm>
            <a:off x="841694" y="4780068"/>
            <a:ext cx="1419573" cy="1758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1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Liberation Mono"/>
              </a:defRPr>
            </a:pPr>
            <a:r>
              <a:t>Topic: Embodied</a:t>
            </a:r>
          </a:p>
        </p:txBody>
      </p:sp>
      <p:sp>
        <p:nvSpPr>
          <p:cNvPr id="59" name="task-panel:task-embodied-2-difficulty-58"/>
          <p:cNvSpPr txBox="1"/>
          <p:nvPr/>
        </p:nvSpPr>
        <p:spPr>
          <a:xfrm>
            <a:off x="841694" y="4943381"/>
            <a:ext cx="791444" cy="1758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1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Liberation Mono"/>
              </a:defRPr>
            </a:pPr>
            <a:r>
              <a:t>Difficulty:</a:t>
            </a:r>
          </a:p>
        </p:txBody>
      </p:sp>
      <p:sp>
        <p:nvSpPr>
          <p:cNvPr id="60" name="task-panel:task-embodied-2-star-0-59"/>
          <p:cNvSpPr/>
          <p:nvPr/>
        </p:nvSpPr>
        <p:spPr>
          <a:xfrm>
            <a:off x="1598524" y="4955944"/>
            <a:ext cx="119345" cy="113063"/>
          </a:xfrm>
          <a:custGeom>
            <a:avLst/>
            <a:gdLst/>
            <a:ahLst/>
            <a:cxnLst/>
            <a:rect l="l" t="t" r="r" b="b"/>
            <a:pathLst>
              <a:path w="19" h="18">
                <a:moveTo>
                  <a:pt x="10" y="0"/>
                </a:moveTo>
                <a:lnTo>
                  <a:pt x="12" y="6"/>
                </a:lnTo>
                <a:lnTo>
                  <a:pt x="19" y="7"/>
                </a:lnTo>
                <a:lnTo>
                  <a:pt x="14" y="11"/>
                </a:lnTo>
                <a:lnTo>
                  <a:pt x="15" y="18"/>
                </a:lnTo>
                <a:lnTo>
                  <a:pt x="10" y="14"/>
                </a:lnTo>
                <a:lnTo>
                  <a:pt x="4" y="18"/>
                </a:lnTo>
                <a:lnTo>
                  <a:pt x="5" y="11"/>
                </a:lnTo>
                <a:lnTo>
                  <a:pt x="0" y="7"/>
                </a:lnTo>
                <a:lnTo>
                  <a:pt x="7" y="6"/>
                </a:lnTo>
                <a:close/>
              </a:path>
            </a:pathLst>
          </a:custGeom>
          <a:solidFill>
            <a:srgbClr val="FFD84A"/>
          </a:solidFill>
          <a:ln w="1005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ask-panel:task-embodied-2-star-1-60"/>
          <p:cNvSpPr/>
          <p:nvPr/>
        </p:nvSpPr>
        <p:spPr>
          <a:xfrm>
            <a:off x="1736712" y="4955944"/>
            <a:ext cx="119345" cy="113063"/>
          </a:xfrm>
          <a:custGeom>
            <a:avLst/>
            <a:gdLst/>
            <a:ahLst/>
            <a:cxnLst/>
            <a:rect l="l" t="t" r="r" b="b"/>
            <a:pathLst>
              <a:path w="19" h="18">
                <a:moveTo>
                  <a:pt x="10" y="0"/>
                </a:moveTo>
                <a:lnTo>
                  <a:pt x="12" y="6"/>
                </a:lnTo>
                <a:lnTo>
                  <a:pt x="19" y="7"/>
                </a:lnTo>
                <a:lnTo>
                  <a:pt x="14" y="11"/>
                </a:lnTo>
                <a:lnTo>
                  <a:pt x="15" y="18"/>
                </a:lnTo>
                <a:lnTo>
                  <a:pt x="10" y="14"/>
                </a:lnTo>
                <a:lnTo>
                  <a:pt x="4" y="18"/>
                </a:lnTo>
                <a:lnTo>
                  <a:pt x="5" y="11"/>
                </a:lnTo>
                <a:lnTo>
                  <a:pt x="0" y="7"/>
                </a:lnTo>
                <a:lnTo>
                  <a:pt x="7" y="6"/>
                </a:lnTo>
                <a:close/>
              </a:path>
            </a:pathLst>
          </a:custGeom>
          <a:solidFill>
            <a:srgbClr val="FFD84A"/>
          </a:solidFill>
          <a:ln w="1005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ask-panel:task-embodied-2-star-2-61"/>
          <p:cNvSpPr/>
          <p:nvPr/>
        </p:nvSpPr>
        <p:spPr>
          <a:xfrm>
            <a:off x="1874901" y="4955944"/>
            <a:ext cx="119345" cy="113063"/>
          </a:xfrm>
          <a:custGeom>
            <a:avLst/>
            <a:gdLst/>
            <a:ahLst/>
            <a:cxnLst/>
            <a:rect l="l" t="t" r="r" b="b"/>
            <a:pathLst>
              <a:path w="19" h="18">
                <a:moveTo>
                  <a:pt x="10" y="0"/>
                </a:moveTo>
                <a:lnTo>
                  <a:pt x="12" y="6"/>
                </a:lnTo>
                <a:lnTo>
                  <a:pt x="19" y="7"/>
                </a:lnTo>
                <a:lnTo>
                  <a:pt x="14" y="11"/>
                </a:lnTo>
                <a:lnTo>
                  <a:pt x="15" y="18"/>
                </a:lnTo>
                <a:lnTo>
                  <a:pt x="10" y="14"/>
                </a:lnTo>
                <a:lnTo>
                  <a:pt x="4" y="18"/>
                </a:lnTo>
                <a:lnTo>
                  <a:pt x="5" y="11"/>
                </a:lnTo>
                <a:lnTo>
                  <a:pt x="0" y="7"/>
                </a:lnTo>
                <a:lnTo>
                  <a:pt x="7" y="6"/>
                </a:lnTo>
                <a:close/>
              </a:path>
            </a:pathLst>
          </a:custGeom>
          <a:solidFill>
            <a:srgbClr val="FFD84A"/>
          </a:solidFill>
          <a:ln w="1005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ask-panel:task-embodied-2-star-3-62"/>
          <p:cNvSpPr/>
          <p:nvPr/>
        </p:nvSpPr>
        <p:spPr>
          <a:xfrm>
            <a:off x="2013090" y="4955944"/>
            <a:ext cx="119345" cy="113063"/>
          </a:xfrm>
          <a:custGeom>
            <a:avLst/>
            <a:gdLst/>
            <a:ahLst/>
            <a:cxnLst/>
            <a:rect l="l" t="t" r="r" b="b"/>
            <a:pathLst>
              <a:path w="19" h="18">
                <a:moveTo>
                  <a:pt x="10" y="0"/>
                </a:moveTo>
                <a:lnTo>
                  <a:pt x="12" y="6"/>
                </a:lnTo>
                <a:lnTo>
                  <a:pt x="19" y="7"/>
                </a:lnTo>
                <a:lnTo>
                  <a:pt x="14" y="11"/>
                </a:lnTo>
                <a:lnTo>
                  <a:pt x="15" y="18"/>
                </a:lnTo>
                <a:lnTo>
                  <a:pt x="10" y="14"/>
                </a:lnTo>
                <a:lnTo>
                  <a:pt x="4" y="18"/>
                </a:lnTo>
                <a:lnTo>
                  <a:pt x="5" y="11"/>
                </a:lnTo>
                <a:lnTo>
                  <a:pt x="0" y="7"/>
                </a:lnTo>
                <a:lnTo>
                  <a:pt x="7" y="6"/>
                </a:lnTo>
                <a:close/>
              </a:path>
            </a:pathLst>
          </a:custGeom>
          <a:solidFill>
            <a:srgbClr val="FFD84A"/>
          </a:solidFill>
          <a:ln w="1005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ask-panel:task-embodied-2-star-4-63"/>
          <p:cNvSpPr/>
          <p:nvPr/>
        </p:nvSpPr>
        <p:spPr>
          <a:xfrm>
            <a:off x="2151278" y="4955944"/>
            <a:ext cx="119345" cy="113063"/>
          </a:xfrm>
          <a:custGeom>
            <a:avLst/>
            <a:gdLst/>
            <a:ahLst/>
            <a:cxnLst/>
            <a:rect l="l" t="t" r="r" b="b"/>
            <a:pathLst>
              <a:path w="19" h="18">
                <a:moveTo>
                  <a:pt x="10" y="0"/>
                </a:moveTo>
                <a:lnTo>
                  <a:pt x="12" y="6"/>
                </a:lnTo>
                <a:lnTo>
                  <a:pt x="19" y="7"/>
                </a:lnTo>
                <a:lnTo>
                  <a:pt x="14" y="11"/>
                </a:lnTo>
                <a:lnTo>
                  <a:pt x="15" y="18"/>
                </a:lnTo>
                <a:lnTo>
                  <a:pt x="10" y="14"/>
                </a:lnTo>
                <a:lnTo>
                  <a:pt x="4" y="18"/>
                </a:lnTo>
                <a:lnTo>
                  <a:pt x="5" y="11"/>
                </a:lnTo>
                <a:lnTo>
                  <a:pt x="0" y="7"/>
                </a:lnTo>
                <a:lnTo>
                  <a:pt x="7" y="6"/>
                </a:lnTo>
                <a:close/>
              </a:path>
            </a:pathLst>
          </a:custGeom>
          <a:solidFill>
            <a:srgbClr val="FFFFFF"/>
          </a:solidFill>
          <a:ln w="1005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ask-panel:task-embodied-2-body-64"/>
          <p:cNvSpPr txBox="1"/>
          <p:nvPr/>
        </p:nvSpPr>
        <p:spPr>
          <a:xfrm>
            <a:off x="873100" y="5138102"/>
            <a:ext cx="1356760" cy="5715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9"/>
              </a:lnSpc>
              <a:spcBef>
                <a:spcPts val="0"/>
              </a:spcBef>
              <a:spcAft>
                <a:spcPts val="0"/>
              </a:spcAft>
              <a:defRPr sz="865" b="0" i="0">
                <a:solidFill>
                  <a:srgbClr val="111111"/>
                </a:solidFill>
                <a:latin typeface="DejaVu Sans"/>
              </a:defRPr>
            </a:pPr>
            <a:r>
              <a:t>Your task is to find a</a:t>
            </a:r>
          </a:p>
          <a:p>
            <a:pPr algn="l">
              <a:lnSpc>
                <a:spcPts val="969"/>
              </a:lnSpc>
              <a:spcBef>
                <a:spcPts val="0"/>
              </a:spcBef>
              <a:spcAft>
                <a:spcPts val="0"/>
              </a:spcAft>
              <a:defRPr sz="865" b="0" i="0">
                <a:solidFill>
                  <a:srgbClr val="111111"/>
                </a:solidFill>
                <a:latin typeface="DejaVu Sans"/>
              </a:defRPr>
            </a:pPr>
            <a:r>
              <a:t>butterfly egg in the</a:t>
            </a:r>
          </a:p>
          <a:p>
            <a:pPr algn="l">
              <a:lnSpc>
                <a:spcPts val="969"/>
              </a:lnSpc>
              <a:spcBef>
                <a:spcPts val="0"/>
              </a:spcBef>
              <a:spcAft>
                <a:spcPts val="0"/>
              </a:spcAft>
              <a:defRPr sz="865" b="0" i="0">
                <a:solidFill>
                  <a:srgbClr val="111111"/>
                </a:solidFill>
                <a:latin typeface="DejaVu Sans"/>
              </a:defRPr>
            </a:pPr>
            <a:r>
              <a:t>outside. Move it to the</a:t>
            </a:r>
          </a:p>
          <a:p>
            <a:pPr algn="l">
              <a:lnSpc>
                <a:spcPts val="969"/>
              </a:lnSpc>
              <a:spcBef>
                <a:spcPts val="0"/>
              </a:spcBef>
              <a:spcAft>
                <a:spcPts val="0"/>
              </a:spcAft>
              <a:defRPr sz="865" b="0" i="0">
                <a:solidFill>
                  <a:srgbClr val="111111"/>
                </a:solidFill>
                <a:latin typeface="DejaVu Sans"/>
              </a:defRPr>
            </a:pPr>
            <a:r>
              <a:t>green box in the bathroom.</a:t>
            </a:r>
          </a:p>
        </p:txBody>
      </p:sp>
      <p:sp>
        <p:nvSpPr>
          <p:cNvPr id="66" name="task-panel:task-game-card-65"/>
          <p:cNvSpPr/>
          <p:nvPr/>
        </p:nvSpPr>
        <p:spPr>
          <a:xfrm>
            <a:off x="351753" y="5816482"/>
            <a:ext cx="1570324" cy="728631"/>
          </a:xfrm>
          <a:prstGeom prst="roundRect">
            <a:avLst>
              <a:gd name="adj" fmla="val 18965"/>
            </a:avLst>
          </a:prstGeom>
          <a:solidFill>
            <a:srgbClr val="F9EDDF"/>
          </a:solidFill>
          <a:ln w="12562">
            <a:solidFill>
              <a:srgbClr val="E9BE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ask-panel:task-game-topic-66"/>
          <p:cNvSpPr txBox="1"/>
          <p:nvPr/>
        </p:nvSpPr>
        <p:spPr>
          <a:xfrm>
            <a:off x="427128" y="5866732"/>
            <a:ext cx="1419573" cy="1758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1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Liberation Mono"/>
              </a:defRPr>
            </a:pPr>
            <a:r>
              <a:t>Topic: Game</a:t>
            </a:r>
          </a:p>
        </p:txBody>
      </p:sp>
      <p:sp>
        <p:nvSpPr>
          <p:cNvPr id="68" name="task-panel:task-game-difficulty-67"/>
          <p:cNvSpPr txBox="1"/>
          <p:nvPr/>
        </p:nvSpPr>
        <p:spPr>
          <a:xfrm>
            <a:off x="427128" y="6030046"/>
            <a:ext cx="791444" cy="1758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1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Liberation Mono"/>
              </a:defRPr>
            </a:pPr>
            <a:r>
              <a:t>Difficulty:</a:t>
            </a:r>
          </a:p>
        </p:txBody>
      </p:sp>
      <p:sp>
        <p:nvSpPr>
          <p:cNvPr id="69" name="task-panel:task-game-star-0-68"/>
          <p:cNvSpPr/>
          <p:nvPr/>
        </p:nvSpPr>
        <p:spPr>
          <a:xfrm>
            <a:off x="1183958" y="6042608"/>
            <a:ext cx="119345" cy="113063"/>
          </a:xfrm>
          <a:custGeom>
            <a:avLst/>
            <a:gdLst/>
            <a:ahLst/>
            <a:cxnLst/>
            <a:rect l="l" t="t" r="r" b="b"/>
            <a:pathLst>
              <a:path w="19" h="18">
                <a:moveTo>
                  <a:pt x="10" y="0"/>
                </a:moveTo>
                <a:lnTo>
                  <a:pt x="12" y="6"/>
                </a:lnTo>
                <a:lnTo>
                  <a:pt x="19" y="7"/>
                </a:lnTo>
                <a:lnTo>
                  <a:pt x="14" y="11"/>
                </a:lnTo>
                <a:lnTo>
                  <a:pt x="15" y="18"/>
                </a:lnTo>
                <a:lnTo>
                  <a:pt x="10" y="14"/>
                </a:lnTo>
                <a:lnTo>
                  <a:pt x="4" y="18"/>
                </a:lnTo>
                <a:lnTo>
                  <a:pt x="5" y="11"/>
                </a:lnTo>
                <a:lnTo>
                  <a:pt x="0" y="7"/>
                </a:lnTo>
                <a:lnTo>
                  <a:pt x="7" y="6"/>
                </a:lnTo>
                <a:close/>
              </a:path>
            </a:pathLst>
          </a:custGeom>
          <a:solidFill>
            <a:srgbClr val="FFD84A"/>
          </a:solidFill>
          <a:ln w="1005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ask-panel:task-game-star-1-69"/>
          <p:cNvSpPr/>
          <p:nvPr/>
        </p:nvSpPr>
        <p:spPr>
          <a:xfrm>
            <a:off x="1322147" y="6042608"/>
            <a:ext cx="119345" cy="113063"/>
          </a:xfrm>
          <a:custGeom>
            <a:avLst/>
            <a:gdLst/>
            <a:ahLst/>
            <a:cxnLst/>
            <a:rect l="l" t="t" r="r" b="b"/>
            <a:pathLst>
              <a:path w="19" h="18">
                <a:moveTo>
                  <a:pt x="10" y="0"/>
                </a:moveTo>
                <a:lnTo>
                  <a:pt x="12" y="6"/>
                </a:lnTo>
                <a:lnTo>
                  <a:pt x="19" y="7"/>
                </a:lnTo>
                <a:lnTo>
                  <a:pt x="14" y="11"/>
                </a:lnTo>
                <a:lnTo>
                  <a:pt x="15" y="18"/>
                </a:lnTo>
                <a:lnTo>
                  <a:pt x="10" y="14"/>
                </a:lnTo>
                <a:lnTo>
                  <a:pt x="4" y="18"/>
                </a:lnTo>
                <a:lnTo>
                  <a:pt x="5" y="11"/>
                </a:lnTo>
                <a:lnTo>
                  <a:pt x="0" y="7"/>
                </a:lnTo>
                <a:lnTo>
                  <a:pt x="7" y="6"/>
                </a:lnTo>
                <a:close/>
              </a:path>
            </a:pathLst>
          </a:custGeom>
          <a:solidFill>
            <a:srgbClr val="FFD84A"/>
          </a:solidFill>
          <a:ln w="1005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ask-panel:task-game-star-2-70"/>
          <p:cNvSpPr/>
          <p:nvPr/>
        </p:nvSpPr>
        <p:spPr>
          <a:xfrm>
            <a:off x="1460335" y="6042608"/>
            <a:ext cx="119345" cy="113063"/>
          </a:xfrm>
          <a:custGeom>
            <a:avLst/>
            <a:gdLst/>
            <a:ahLst/>
            <a:cxnLst/>
            <a:rect l="l" t="t" r="r" b="b"/>
            <a:pathLst>
              <a:path w="19" h="18">
                <a:moveTo>
                  <a:pt x="10" y="0"/>
                </a:moveTo>
                <a:lnTo>
                  <a:pt x="12" y="6"/>
                </a:lnTo>
                <a:lnTo>
                  <a:pt x="19" y="7"/>
                </a:lnTo>
                <a:lnTo>
                  <a:pt x="14" y="11"/>
                </a:lnTo>
                <a:lnTo>
                  <a:pt x="15" y="18"/>
                </a:lnTo>
                <a:lnTo>
                  <a:pt x="10" y="14"/>
                </a:lnTo>
                <a:lnTo>
                  <a:pt x="4" y="18"/>
                </a:lnTo>
                <a:lnTo>
                  <a:pt x="5" y="11"/>
                </a:lnTo>
                <a:lnTo>
                  <a:pt x="0" y="7"/>
                </a:lnTo>
                <a:lnTo>
                  <a:pt x="7" y="6"/>
                </a:lnTo>
                <a:close/>
              </a:path>
            </a:pathLst>
          </a:custGeom>
          <a:solidFill>
            <a:srgbClr val="FFD84A"/>
          </a:solidFill>
          <a:ln w="1005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ask-panel:task-game-star-3-71"/>
          <p:cNvSpPr/>
          <p:nvPr/>
        </p:nvSpPr>
        <p:spPr>
          <a:xfrm>
            <a:off x="1598524" y="6042608"/>
            <a:ext cx="119345" cy="113063"/>
          </a:xfrm>
          <a:custGeom>
            <a:avLst/>
            <a:gdLst/>
            <a:ahLst/>
            <a:cxnLst/>
            <a:rect l="l" t="t" r="r" b="b"/>
            <a:pathLst>
              <a:path w="19" h="18">
                <a:moveTo>
                  <a:pt x="10" y="0"/>
                </a:moveTo>
                <a:lnTo>
                  <a:pt x="12" y="6"/>
                </a:lnTo>
                <a:lnTo>
                  <a:pt x="19" y="7"/>
                </a:lnTo>
                <a:lnTo>
                  <a:pt x="14" y="11"/>
                </a:lnTo>
                <a:lnTo>
                  <a:pt x="15" y="18"/>
                </a:lnTo>
                <a:lnTo>
                  <a:pt x="10" y="14"/>
                </a:lnTo>
                <a:lnTo>
                  <a:pt x="4" y="18"/>
                </a:lnTo>
                <a:lnTo>
                  <a:pt x="5" y="11"/>
                </a:lnTo>
                <a:lnTo>
                  <a:pt x="0" y="7"/>
                </a:lnTo>
                <a:lnTo>
                  <a:pt x="7" y="6"/>
                </a:lnTo>
                <a:close/>
              </a:path>
            </a:pathLst>
          </a:custGeom>
          <a:solidFill>
            <a:srgbClr val="FFD84A"/>
          </a:solidFill>
          <a:ln w="1005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ask-panel:task-game-star-4-72"/>
          <p:cNvSpPr/>
          <p:nvPr/>
        </p:nvSpPr>
        <p:spPr>
          <a:xfrm>
            <a:off x="1736712" y="6042608"/>
            <a:ext cx="119345" cy="113063"/>
          </a:xfrm>
          <a:custGeom>
            <a:avLst/>
            <a:gdLst/>
            <a:ahLst/>
            <a:cxnLst/>
            <a:rect l="l" t="t" r="r" b="b"/>
            <a:pathLst>
              <a:path w="19" h="18">
                <a:moveTo>
                  <a:pt x="10" y="0"/>
                </a:moveTo>
                <a:lnTo>
                  <a:pt x="12" y="6"/>
                </a:lnTo>
                <a:lnTo>
                  <a:pt x="19" y="7"/>
                </a:lnTo>
                <a:lnTo>
                  <a:pt x="14" y="11"/>
                </a:lnTo>
                <a:lnTo>
                  <a:pt x="15" y="18"/>
                </a:lnTo>
                <a:lnTo>
                  <a:pt x="10" y="14"/>
                </a:lnTo>
                <a:lnTo>
                  <a:pt x="4" y="18"/>
                </a:lnTo>
                <a:lnTo>
                  <a:pt x="5" y="11"/>
                </a:lnTo>
                <a:lnTo>
                  <a:pt x="0" y="7"/>
                </a:lnTo>
                <a:lnTo>
                  <a:pt x="7" y="6"/>
                </a:lnTo>
                <a:close/>
              </a:path>
            </a:pathLst>
          </a:custGeom>
          <a:solidFill>
            <a:srgbClr val="FFFFFF"/>
          </a:solidFill>
          <a:ln w="1005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ask-panel:task-game-body-73"/>
          <p:cNvSpPr txBox="1"/>
          <p:nvPr/>
        </p:nvSpPr>
        <p:spPr>
          <a:xfrm>
            <a:off x="458535" y="6224766"/>
            <a:ext cx="1356760" cy="2763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9"/>
              </a:lnSpc>
              <a:spcBef>
                <a:spcPts val="0"/>
              </a:spcBef>
              <a:spcAft>
                <a:spcPts val="0"/>
              </a:spcAft>
              <a:defRPr sz="865" b="0" i="0">
                <a:solidFill>
                  <a:srgbClr val="111111"/>
                </a:solidFill>
                <a:latin typeface="DejaVu Sans"/>
              </a:defRPr>
            </a:pPr>
            <a:r>
              <a:t>b1 is on b2., b2 is on b6.,</a:t>
            </a:r>
          </a:p>
          <a:p>
            <a:pPr algn="l">
              <a:lnSpc>
                <a:spcPts val="969"/>
              </a:lnSpc>
              <a:spcBef>
                <a:spcPts val="0"/>
              </a:spcBef>
              <a:spcAft>
                <a:spcPts val="0"/>
              </a:spcAft>
              <a:defRPr sz="865" b="0" i="0">
                <a:solidFill>
                  <a:srgbClr val="111111"/>
                </a:solidFill>
                <a:latin typeface="DejaVu Sans"/>
              </a:defRPr>
            </a:pPr>
            <a:r>
              <a:t>b3 is on b7., b5 is on b3.</a:t>
            </a:r>
          </a:p>
        </p:txBody>
      </p:sp>
      <p:sp>
        <p:nvSpPr>
          <p:cNvPr id="75" name="insight-graph:insight-graph-title-74"/>
          <p:cNvSpPr txBox="1"/>
          <p:nvPr/>
        </p:nvSpPr>
        <p:spPr>
          <a:xfrm>
            <a:off x="2770052" y="433410"/>
            <a:ext cx="1570324" cy="27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02"/>
              </a:lnSpc>
              <a:spcBef>
                <a:spcPts val="0"/>
              </a:spcBef>
              <a:spcAft>
                <a:spcPts val="0"/>
              </a:spcAft>
              <a:defRPr sz="1483" b="1" i="0">
                <a:solidFill>
                  <a:srgbClr val="006400"/>
                </a:solidFill>
                <a:latin typeface="DejaVu Serif"/>
              </a:defRPr>
            </a:pPr>
            <a:r>
              <a:t>Insight Graph</a:t>
            </a:r>
          </a:p>
        </p:txBody>
      </p:sp>
      <p:sp>
        <p:nvSpPr>
          <p:cNvPr id="76" name="insight-graph:insight-graph-formula-75"/>
          <p:cNvSpPr txBox="1"/>
          <p:nvPr/>
        </p:nvSpPr>
        <p:spPr>
          <a:xfrm>
            <a:off x="2920803" y="665818"/>
            <a:ext cx="1381886" cy="2638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68"/>
              </a:lnSpc>
              <a:spcBef>
                <a:spcPts val="0"/>
              </a:spcBef>
              <a:spcAft>
                <a:spcPts val="0"/>
              </a:spcAft>
              <a:defRPr sz="989" b="0" i="1">
                <a:solidFill>
                  <a:srgbClr val="006400"/>
                </a:solidFill>
                <a:latin typeface="DejaVu Serif"/>
              </a:defRPr>
            </a:pPr>
            <a:r>
              <a:t>G_insight^(t) = (I, E_i)</a:t>
            </a:r>
          </a:p>
        </p:txBody>
      </p:sp>
      <p:sp>
        <p:nvSpPr>
          <p:cNvPr id="77" name="insight-graph:insight-graph-circle-76"/>
          <p:cNvSpPr/>
          <p:nvPr/>
        </p:nvSpPr>
        <p:spPr>
          <a:xfrm>
            <a:off x="3837873" y="263815"/>
            <a:ext cx="1966046" cy="1966046"/>
          </a:xfrm>
          <a:prstGeom prst="ellipse">
            <a:avLst/>
          </a:prstGeom>
          <a:solidFill>
            <a:srgbClr val="E9F3EA"/>
          </a:solidFill>
          <a:ln w="31406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8" name="insight-graph:insight-e-l1-l2-shaft-77"/>
          <p:cNvCxnSpPr/>
          <p:nvPr/>
        </p:nvCxnSpPr>
        <p:spPr>
          <a:xfrm>
            <a:off x="4629316" y="791444"/>
            <a:ext cx="390495" cy="16499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79" name="insight-graph:insight-e-l1-l2-head-78"/>
          <p:cNvSpPr/>
          <p:nvPr/>
        </p:nvSpPr>
        <p:spPr>
          <a:xfrm>
            <a:off x="5010230" y="755628"/>
            <a:ext cx="62813" cy="106782"/>
          </a:xfrm>
          <a:custGeom>
            <a:avLst/>
            <a:gdLst/>
            <a:ahLst/>
            <a:cxnLst/>
            <a:rect l="l" t="t" r="r" b="b"/>
            <a:pathLst>
              <a:path w="10" h="17">
                <a:moveTo>
                  <a:pt x="10" y="9"/>
                </a:moveTo>
                <a:lnTo>
                  <a:pt x="0" y="17"/>
                </a:lnTo>
                <a:lnTo>
                  <a:pt x="1" y="0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0" name="insight-graph:insight-e-l3-l1-shaft-79"/>
          <p:cNvCxnSpPr/>
          <p:nvPr/>
        </p:nvCxnSpPr>
        <p:spPr>
          <a:xfrm flipV="1">
            <a:off x="4334095" y="956615"/>
            <a:ext cx="131959" cy="192862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81" name="insight-graph:insight-e-l3-l1-head-80"/>
          <p:cNvSpPr/>
          <p:nvPr/>
        </p:nvSpPr>
        <p:spPr>
          <a:xfrm>
            <a:off x="4418923" y="910788"/>
            <a:ext cx="87938" cy="81657"/>
          </a:xfrm>
          <a:custGeom>
            <a:avLst/>
            <a:gdLst/>
            <a:ahLst/>
            <a:cxnLst/>
            <a:rect l="l" t="t" r="r" b="b"/>
            <a:pathLst>
              <a:path w="14" h="13">
                <a:moveTo>
                  <a:pt x="12" y="0"/>
                </a:moveTo>
                <a:lnTo>
                  <a:pt x="14" y="13"/>
                </a:lnTo>
                <a:lnTo>
                  <a:pt x="0" y="4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2" name="insight-graph:insight-e-l3-l4-shaft-81"/>
          <p:cNvCxnSpPr/>
          <p:nvPr/>
        </p:nvCxnSpPr>
        <p:spPr>
          <a:xfrm>
            <a:off x="4315252" y="1319073"/>
            <a:ext cx="200216" cy="281384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83" name="insight-graph:insight-e-l3-l4-head-82"/>
          <p:cNvSpPr/>
          <p:nvPr/>
        </p:nvSpPr>
        <p:spPr>
          <a:xfrm>
            <a:off x="4468773" y="1564259"/>
            <a:ext cx="87938" cy="81657"/>
          </a:xfrm>
          <a:custGeom>
            <a:avLst/>
            <a:gdLst/>
            <a:ahLst/>
            <a:cxnLst/>
            <a:rect l="l" t="t" r="r" b="b"/>
            <a:pathLst>
              <a:path w="14" h="13">
                <a:moveTo>
                  <a:pt x="13" y="13"/>
                </a:moveTo>
                <a:lnTo>
                  <a:pt x="0" y="10"/>
                </a:lnTo>
                <a:lnTo>
                  <a:pt x="14" y="0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4" name="insight-graph:insight-e-l1-l5-shaft-83"/>
          <p:cNvCxnSpPr/>
          <p:nvPr/>
        </p:nvCxnSpPr>
        <p:spPr>
          <a:xfrm>
            <a:off x="4660723" y="910788"/>
            <a:ext cx="559248" cy="436913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85" name="insight-graph:insight-e-l1-l5-head-84"/>
          <p:cNvSpPr/>
          <p:nvPr/>
        </p:nvSpPr>
        <p:spPr>
          <a:xfrm>
            <a:off x="5182103" y="1302134"/>
            <a:ext cx="81657" cy="81657"/>
          </a:xfrm>
          <a:custGeom>
            <a:avLst/>
            <a:gdLst/>
            <a:ahLst/>
            <a:cxnLst/>
            <a:rect l="l" t="t" r="r" b="b"/>
            <a:pathLst>
              <a:path w="13" h="13">
                <a:moveTo>
                  <a:pt x="13" y="13"/>
                </a:moveTo>
                <a:lnTo>
                  <a:pt x="0" y="13"/>
                </a:lnTo>
                <a:lnTo>
                  <a:pt x="10" y="0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6" name="insight-graph:insight-e-l4-l2-shaft-85"/>
          <p:cNvCxnSpPr/>
          <p:nvPr/>
        </p:nvCxnSpPr>
        <p:spPr>
          <a:xfrm flipV="1">
            <a:off x="4748661" y="996632"/>
            <a:ext cx="361796" cy="630224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87" name="insight-graph:insight-e-l4-l2-head-86"/>
          <p:cNvSpPr/>
          <p:nvPr/>
        </p:nvSpPr>
        <p:spPr>
          <a:xfrm>
            <a:off x="5061636" y="948476"/>
            <a:ext cx="87938" cy="81657"/>
          </a:xfrm>
          <a:custGeom>
            <a:avLst/>
            <a:gdLst/>
            <a:ahLst/>
            <a:cxnLst/>
            <a:rect l="l" t="t" r="r" b="b"/>
            <a:pathLst>
              <a:path w="14" h="13">
                <a:moveTo>
                  <a:pt x="12" y="0"/>
                </a:moveTo>
                <a:lnTo>
                  <a:pt x="14" y="13"/>
                </a:lnTo>
                <a:lnTo>
                  <a:pt x="0" y="5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8" name="insight-graph:insight-e-l4-l5-shaft-87"/>
          <p:cNvCxnSpPr/>
          <p:nvPr/>
        </p:nvCxnSpPr>
        <p:spPr>
          <a:xfrm flipV="1">
            <a:off x="4792630" y="1608580"/>
            <a:ext cx="368824" cy="137621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89" name="insight-graph:insight-e-l4-l5-head-88"/>
          <p:cNvSpPr/>
          <p:nvPr/>
        </p:nvSpPr>
        <p:spPr>
          <a:xfrm>
            <a:off x="5136333" y="1562398"/>
            <a:ext cx="75376" cy="100501"/>
          </a:xfrm>
          <a:custGeom>
            <a:avLst/>
            <a:gdLst/>
            <a:ahLst/>
            <a:cxnLst/>
            <a:rect l="l" t="t" r="r" b="b"/>
            <a:pathLst>
              <a:path w="12" h="16">
                <a:moveTo>
                  <a:pt x="12" y="4"/>
                </a:moveTo>
                <a:lnTo>
                  <a:pt x="6" y="16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insight-graph:insight-l1-circle-89"/>
          <p:cNvSpPr/>
          <p:nvPr/>
        </p:nvSpPr>
        <p:spPr>
          <a:xfrm>
            <a:off x="4396908" y="596723"/>
            <a:ext cx="376878" cy="376878"/>
          </a:xfrm>
          <a:prstGeom prst="ellipse">
            <a:avLst/>
          </a:prstGeom>
          <a:solidFill>
            <a:srgbClr val="4DA864"/>
          </a:solidFill>
          <a:ln w="31406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insight-graph:insight-l1-label-90"/>
          <p:cNvSpPr txBox="1"/>
          <p:nvPr/>
        </p:nvSpPr>
        <p:spPr>
          <a:xfrm>
            <a:off x="4396908" y="603005"/>
            <a:ext cx="376878" cy="37687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42"/>
              </a:lnSpc>
              <a:spcBef>
                <a:spcPts val="0"/>
              </a:spcBef>
              <a:spcAft>
                <a:spcPts val="0"/>
              </a:spcAft>
              <a:defRPr sz="1335" b="0" i="1">
                <a:solidFill>
                  <a:srgbClr val="111111"/>
                </a:solidFill>
                <a:latin typeface="DejaVu Serif"/>
              </a:defRPr>
            </a:pPr>
            <a:r>
              <a:t>l₁</a:t>
            </a:r>
          </a:p>
        </p:txBody>
      </p:sp>
      <p:sp>
        <p:nvSpPr>
          <p:cNvPr id="92" name="insight-graph:insight-l2-circle-91"/>
          <p:cNvSpPr/>
          <p:nvPr/>
        </p:nvSpPr>
        <p:spPr>
          <a:xfrm>
            <a:off x="5037601" y="621848"/>
            <a:ext cx="376878" cy="376878"/>
          </a:xfrm>
          <a:prstGeom prst="ellipse">
            <a:avLst/>
          </a:prstGeom>
          <a:solidFill>
            <a:srgbClr val="98F451"/>
          </a:solidFill>
          <a:ln w="31406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insight-graph:insight-l2-label-92"/>
          <p:cNvSpPr txBox="1"/>
          <p:nvPr/>
        </p:nvSpPr>
        <p:spPr>
          <a:xfrm>
            <a:off x="5037601" y="628130"/>
            <a:ext cx="376878" cy="37687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42"/>
              </a:lnSpc>
              <a:spcBef>
                <a:spcPts val="0"/>
              </a:spcBef>
              <a:spcAft>
                <a:spcPts val="0"/>
              </a:spcAft>
              <a:defRPr sz="1335" b="0" i="1">
                <a:solidFill>
                  <a:srgbClr val="111111"/>
                </a:solidFill>
                <a:latin typeface="DejaVu Serif"/>
              </a:defRPr>
            </a:pPr>
            <a:r>
              <a:t>l₂</a:t>
            </a:r>
          </a:p>
        </p:txBody>
      </p:sp>
      <p:sp>
        <p:nvSpPr>
          <p:cNvPr id="94" name="insight-graph:insight-l3-circle-93"/>
          <p:cNvSpPr/>
          <p:nvPr/>
        </p:nvSpPr>
        <p:spPr>
          <a:xfrm>
            <a:off x="4026312" y="1086665"/>
            <a:ext cx="364315" cy="364315"/>
          </a:xfrm>
          <a:prstGeom prst="ellipse">
            <a:avLst/>
          </a:prstGeom>
          <a:solidFill>
            <a:srgbClr val="7DD45C"/>
          </a:solidFill>
          <a:ln w="31406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insight-graph:insight-l3-label-94"/>
          <p:cNvSpPr txBox="1"/>
          <p:nvPr/>
        </p:nvSpPr>
        <p:spPr>
          <a:xfrm>
            <a:off x="4026312" y="1092946"/>
            <a:ext cx="364315" cy="36431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94"/>
              </a:lnSpc>
              <a:spcBef>
                <a:spcPts val="0"/>
              </a:spcBef>
              <a:spcAft>
                <a:spcPts val="0"/>
              </a:spcAft>
              <a:defRPr sz="1290" b="0" i="1">
                <a:solidFill>
                  <a:srgbClr val="111111"/>
                </a:solidFill>
                <a:latin typeface="DejaVu Serif"/>
              </a:defRPr>
            </a:pPr>
            <a:r>
              <a:t>l₃</a:t>
            </a:r>
          </a:p>
        </p:txBody>
      </p:sp>
      <p:sp>
        <p:nvSpPr>
          <p:cNvPr id="96" name="insight-graph:insight-l4-circle-95"/>
          <p:cNvSpPr/>
          <p:nvPr/>
        </p:nvSpPr>
        <p:spPr>
          <a:xfrm>
            <a:off x="4472284" y="1570324"/>
            <a:ext cx="376878" cy="376878"/>
          </a:xfrm>
          <a:prstGeom prst="ellipse">
            <a:avLst/>
          </a:prstGeom>
          <a:solidFill>
            <a:srgbClr val="00E979"/>
          </a:solidFill>
          <a:ln w="31406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insight-graph:insight-l4-label-96"/>
          <p:cNvSpPr txBox="1"/>
          <p:nvPr/>
        </p:nvSpPr>
        <p:spPr>
          <a:xfrm>
            <a:off x="4472284" y="1576606"/>
            <a:ext cx="376878" cy="37687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42"/>
              </a:lnSpc>
              <a:spcBef>
                <a:spcPts val="0"/>
              </a:spcBef>
              <a:spcAft>
                <a:spcPts val="0"/>
              </a:spcAft>
              <a:defRPr sz="1335" b="0" i="1">
                <a:solidFill>
                  <a:srgbClr val="111111"/>
                </a:solidFill>
                <a:latin typeface="DejaVu Serif"/>
              </a:defRPr>
            </a:pPr>
            <a:r>
              <a:t>l₄</a:t>
            </a:r>
          </a:p>
        </p:txBody>
      </p:sp>
      <p:sp>
        <p:nvSpPr>
          <p:cNvPr id="98" name="insight-graph:insight-l5-circle-97"/>
          <p:cNvSpPr/>
          <p:nvPr/>
        </p:nvSpPr>
        <p:spPr>
          <a:xfrm>
            <a:off x="5219758" y="1363042"/>
            <a:ext cx="376878" cy="376878"/>
          </a:xfrm>
          <a:prstGeom prst="ellipse">
            <a:avLst/>
          </a:prstGeom>
          <a:solidFill>
            <a:srgbClr val="99FFCD"/>
          </a:solidFill>
          <a:ln w="31406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insight-graph:insight-l5-label-98"/>
          <p:cNvSpPr txBox="1"/>
          <p:nvPr/>
        </p:nvSpPr>
        <p:spPr>
          <a:xfrm>
            <a:off x="5219758" y="1369323"/>
            <a:ext cx="376878" cy="37687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42"/>
              </a:lnSpc>
              <a:spcBef>
                <a:spcPts val="0"/>
              </a:spcBef>
              <a:spcAft>
                <a:spcPts val="0"/>
              </a:spcAft>
              <a:defRPr sz="1335" b="0" i="1">
                <a:solidFill>
                  <a:srgbClr val="111111"/>
                </a:solidFill>
                <a:latin typeface="DejaVu Serif"/>
              </a:defRPr>
            </a:pPr>
            <a:r>
              <a:t>l₅</a:t>
            </a:r>
          </a:p>
        </p:txBody>
      </p:sp>
      <p:sp>
        <p:nvSpPr>
          <p:cNvPr id="100" name="insight-graph:insight-card-body-99"/>
          <p:cNvSpPr/>
          <p:nvPr/>
        </p:nvSpPr>
        <p:spPr>
          <a:xfrm>
            <a:off x="2832865" y="967320"/>
            <a:ext cx="1180884" cy="1287666"/>
          </a:xfrm>
          <a:prstGeom prst="rect">
            <a:avLst/>
          </a:prstGeom>
          <a:solidFill>
            <a:srgbClr val="99C7BD"/>
          </a:solidFill>
          <a:ln w="12562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insight-graph:insight-card-tail-100"/>
          <p:cNvSpPr/>
          <p:nvPr/>
        </p:nvSpPr>
        <p:spPr>
          <a:xfrm>
            <a:off x="3793904" y="1928358"/>
            <a:ext cx="458535" cy="314065"/>
          </a:xfrm>
          <a:custGeom>
            <a:avLst/>
            <a:gdLst/>
            <a:ahLst/>
            <a:cxnLst/>
            <a:rect l="l" t="t" r="r" b="b"/>
            <a:pathLst>
              <a:path w="73" h="50">
                <a:moveTo>
                  <a:pt x="0" y="50"/>
                </a:moveTo>
                <a:lnTo>
                  <a:pt x="73" y="34"/>
                </a:lnTo>
                <a:lnTo>
                  <a:pt x="23" y="0"/>
                </a:lnTo>
                <a:close/>
              </a:path>
            </a:pathLst>
          </a:custGeom>
          <a:solidFill>
            <a:srgbClr val="99C7BD"/>
          </a:solidFill>
          <a:ln w="12562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insight-graph:insight-card-title-outline-101"/>
          <p:cNvSpPr/>
          <p:nvPr/>
        </p:nvSpPr>
        <p:spPr>
          <a:xfrm>
            <a:off x="2895678" y="1030133"/>
            <a:ext cx="816569" cy="182158"/>
          </a:xfrm>
          <a:prstGeom prst="rect">
            <a:avLst/>
          </a:prstGeom>
          <a:noFill/>
          <a:ln w="12562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insight-graph:insight-card-title-accent-102"/>
          <p:cNvSpPr/>
          <p:nvPr/>
        </p:nvSpPr>
        <p:spPr>
          <a:xfrm>
            <a:off x="2864272" y="1017570"/>
            <a:ext cx="816569" cy="194720"/>
          </a:xfrm>
          <a:prstGeom prst="rect">
            <a:avLst/>
          </a:prstGeom>
          <a:noFill/>
          <a:ln w="25125">
            <a:solidFill>
              <a:srgbClr val="B8D4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insight-graph:insight-card-title-103"/>
          <p:cNvSpPr txBox="1"/>
          <p:nvPr/>
        </p:nvSpPr>
        <p:spPr>
          <a:xfrm>
            <a:off x="2927085" y="1030133"/>
            <a:ext cx="804006" cy="18843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28"/>
              </a:lnSpc>
              <a:spcBef>
                <a:spcPts val="0"/>
              </a:spcBef>
              <a:spcAft>
                <a:spcPts val="0"/>
              </a:spcAft>
              <a:defRPr sz="1137" b="1" i="0">
                <a:solidFill>
                  <a:srgbClr val="111111"/>
                </a:solidFill>
                <a:latin typeface="DejaVu Serif"/>
              </a:defRPr>
            </a:pPr>
            <a:r>
              <a:t>Insight</a:t>
            </a:r>
          </a:p>
        </p:txBody>
      </p:sp>
      <p:sp>
        <p:nvSpPr>
          <p:cNvPr id="105" name="insight-graph:insight-card-copy-104"/>
          <p:cNvSpPr txBox="1"/>
          <p:nvPr/>
        </p:nvSpPr>
        <p:spPr>
          <a:xfrm>
            <a:off x="2908241" y="1281385"/>
            <a:ext cx="1030133" cy="9359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05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Ensure the search</a:t>
            </a:r>
          </a:p>
          <a:p>
            <a:pPr algn="ctr">
              <a:lnSpc>
                <a:spcPts val="1005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terms are precise</a:t>
            </a:r>
          </a:p>
          <a:p>
            <a:pPr algn="ctr">
              <a:lnSpc>
                <a:spcPts val="1005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and directly</a:t>
            </a:r>
          </a:p>
          <a:p>
            <a:pPr algn="ctr">
              <a:lnSpc>
                <a:spcPts val="1005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related to the</a:t>
            </a:r>
          </a:p>
          <a:p>
            <a:pPr algn="ctr">
              <a:lnSpc>
                <a:spcPts val="1005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specific entity or</a:t>
            </a:r>
          </a:p>
          <a:p>
            <a:pPr algn="ctr">
              <a:lnSpc>
                <a:spcPts val="1005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institution ...</a:t>
            </a:r>
          </a:p>
        </p:txBody>
      </p:sp>
      <p:sp>
        <p:nvSpPr>
          <p:cNvPr id="106" name="insight-graph:upward-label-105"/>
          <p:cNvSpPr txBox="1"/>
          <p:nvPr/>
        </p:nvSpPr>
        <p:spPr>
          <a:xfrm>
            <a:off x="4886850" y="1959765"/>
            <a:ext cx="942195" cy="4145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84" b="1" i="0">
                <a:solidFill>
                  <a:srgbClr val="F00000"/>
                </a:solidFill>
                <a:latin typeface="DejaVu Serif"/>
              </a:defRPr>
            </a:pPr>
            <a:r>
              <a:t>upward</a:t>
            </a:r>
          </a:p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84" b="1" i="0">
                <a:solidFill>
                  <a:srgbClr val="F00000"/>
                </a:solidFill>
                <a:latin typeface="DejaVu Serif"/>
              </a:defRPr>
            </a:pPr>
            <a:r>
              <a:t>traversal</a:t>
            </a:r>
          </a:p>
        </p:txBody>
      </p:sp>
      <p:sp>
        <p:nvSpPr>
          <p:cNvPr id="107" name="query-graph:query-graph-circle-106"/>
          <p:cNvSpPr/>
          <p:nvPr/>
        </p:nvSpPr>
        <p:spPr>
          <a:xfrm>
            <a:off x="3869279" y="2518800"/>
            <a:ext cx="1966046" cy="1966046"/>
          </a:xfrm>
          <a:prstGeom prst="ellipse">
            <a:avLst/>
          </a:prstGeom>
          <a:solidFill>
            <a:srgbClr val="ECF3FD"/>
          </a:solidFill>
          <a:ln w="31406">
            <a:solidFill>
              <a:srgbClr val="003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8" name="query-graph:retrieval-stripe-0-107"/>
          <p:cNvCxnSpPr/>
          <p:nvPr/>
        </p:nvCxnSpPr>
        <p:spPr>
          <a:xfrm flipV="1">
            <a:off x="4158219" y="3109242"/>
            <a:ext cx="628130" cy="722350"/>
          </a:xfrm>
          <a:prstGeom prst="line">
            <a:avLst/>
          </a:prstGeom>
          <a:ln w="37687">
            <a:solidFill>
              <a:srgbClr val="80AAD7"/>
            </a:solidFill>
          </a:ln>
          <a:effectLst/>
        </p:spPr>
      </p:cxnSp>
      <p:cxnSp>
        <p:nvCxnSpPr>
          <p:cNvPr id="109" name="query-graph:retrieval-stripe-1-108"/>
          <p:cNvCxnSpPr/>
          <p:nvPr/>
        </p:nvCxnSpPr>
        <p:spPr>
          <a:xfrm flipV="1">
            <a:off x="4271282" y="3109242"/>
            <a:ext cx="628130" cy="722350"/>
          </a:xfrm>
          <a:prstGeom prst="line">
            <a:avLst/>
          </a:prstGeom>
          <a:ln w="37687">
            <a:solidFill>
              <a:srgbClr val="80AAD7"/>
            </a:solidFill>
          </a:ln>
          <a:effectLst/>
        </p:spPr>
      </p:cxnSp>
      <p:cxnSp>
        <p:nvCxnSpPr>
          <p:cNvPr id="110" name="query-graph:retrieval-stripe-2-109"/>
          <p:cNvCxnSpPr/>
          <p:nvPr/>
        </p:nvCxnSpPr>
        <p:spPr>
          <a:xfrm flipV="1">
            <a:off x="4384346" y="3109242"/>
            <a:ext cx="628130" cy="722350"/>
          </a:xfrm>
          <a:prstGeom prst="line">
            <a:avLst/>
          </a:prstGeom>
          <a:ln w="37687">
            <a:solidFill>
              <a:srgbClr val="80AAD7"/>
            </a:solidFill>
          </a:ln>
          <a:effectLst/>
        </p:spPr>
      </p:cxnSp>
      <p:cxnSp>
        <p:nvCxnSpPr>
          <p:cNvPr id="111" name="query-graph:retrieval-stripe-3-110"/>
          <p:cNvCxnSpPr/>
          <p:nvPr/>
        </p:nvCxnSpPr>
        <p:spPr>
          <a:xfrm flipV="1">
            <a:off x="4497409" y="3109242"/>
            <a:ext cx="628130" cy="722350"/>
          </a:xfrm>
          <a:prstGeom prst="line">
            <a:avLst/>
          </a:prstGeom>
          <a:ln w="37687">
            <a:solidFill>
              <a:srgbClr val="80AAD7"/>
            </a:solidFill>
          </a:ln>
          <a:effectLst/>
        </p:spPr>
      </p:cxnSp>
      <p:cxnSp>
        <p:nvCxnSpPr>
          <p:cNvPr id="112" name="query-graph:retrieval-stripe-4-111"/>
          <p:cNvCxnSpPr/>
          <p:nvPr/>
        </p:nvCxnSpPr>
        <p:spPr>
          <a:xfrm flipV="1">
            <a:off x="4610473" y="3109242"/>
            <a:ext cx="628129" cy="722350"/>
          </a:xfrm>
          <a:prstGeom prst="line">
            <a:avLst/>
          </a:prstGeom>
          <a:ln w="37687">
            <a:solidFill>
              <a:srgbClr val="80AAD7"/>
            </a:solidFill>
          </a:ln>
          <a:effectLst/>
        </p:spPr>
      </p:cxnSp>
      <p:cxnSp>
        <p:nvCxnSpPr>
          <p:cNvPr id="113" name="query-graph:retrieval-stripe-5-112"/>
          <p:cNvCxnSpPr/>
          <p:nvPr/>
        </p:nvCxnSpPr>
        <p:spPr>
          <a:xfrm flipV="1">
            <a:off x="4723536" y="3109242"/>
            <a:ext cx="628130" cy="722350"/>
          </a:xfrm>
          <a:prstGeom prst="line">
            <a:avLst/>
          </a:prstGeom>
          <a:ln w="37687">
            <a:solidFill>
              <a:srgbClr val="80AAD7"/>
            </a:solidFill>
          </a:ln>
          <a:effectLst/>
        </p:spPr>
      </p:cxnSp>
      <p:cxnSp>
        <p:nvCxnSpPr>
          <p:cNvPr id="114" name="query-graph:retrieval-stripe-6-113"/>
          <p:cNvCxnSpPr/>
          <p:nvPr/>
        </p:nvCxnSpPr>
        <p:spPr>
          <a:xfrm flipV="1">
            <a:off x="4836599" y="3109242"/>
            <a:ext cx="628130" cy="722350"/>
          </a:xfrm>
          <a:prstGeom prst="line">
            <a:avLst/>
          </a:prstGeom>
          <a:ln w="37687">
            <a:solidFill>
              <a:srgbClr val="80AAD7"/>
            </a:solidFill>
          </a:ln>
          <a:effectLst/>
        </p:spPr>
      </p:cxnSp>
      <p:cxnSp>
        <p:nvCxnSpPr>
          <p:cNvPr id="115" name="query-graph:query-e-q1-q2-shaft-114"/>
          <p:cNvCxnSpPr/>
          <p:nvPr/>
        </p:nvCxnSpPr>
        <p:spPr>
          <a:xfrm>
            <a:off x="4434596" y="3303963"/>
            <a:ext cx="0" cy="363310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116" name="query-graph:query-e-q1-q2-head-115"/>
          <p:cNvSpPr/>
          <p:nvPr/>
        </p:nvSpPr>
        <p:spPr>
          <a:xfrm>
            <a:off x="4386550" y="3660450"/>
            <a:ext cx="94219" cy="56532"/>
          </a:xfrm>
          <a:custGeom>
            <a:avLst/>
            <a:gdLst/>
            <a:ahLst/>
            <a:cxnLst/>
            <a:rect l="l" t="t" r="r" b="b"/>
            <a:pathLst>
              <a:path w="15" h="9">
                <a:moveTo>
                  <a:pt x="8" y="9"/>
                </a:moveTo>
                <a:lnTo>
                  <a:pt x="0" y="0"/>
                </a:lnTo>
                <a:lnTo>
                  <a:pt x="15" y="0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7" name="query-graph:query-e-q2-q4-shaft-116"/>
          <p:cNvCxnSpPr/>
          <p:nvPr/>
        </p:nvCxnSpPr>
        <p:spPr>
          <a:xfrm flipV="1">
            <a:off x="4566503" y="3655953"/>
            <a:ext cx="153961" cy="169357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118" name="query-graph:query-e-q2-q4-head-117"/>
          <p:cNvSpPr/>
          <p:nvPr/>
        </p:nvSpPr>
        <p:spPr>
          <a:xfrm>
            <a:off x="4680324" y="3618028"/>
            <a:ext cx="75376" cy="75376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12" y="0"/>
                </a:moveTo>
                <a:lnTo>
                  <a:pt x="11" y="12"/>
                </a:lnTo>
                <a:lnTo>
                  <a:pt x="0" y="2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9" name="query-graph:query-e-q1-q4-shaft-118"/>
          <p:cNvCxnSpPr/>
          <p:nvPr/>
        </p:nvCxnSpPr>
        <p:spPr>
          <a:xfrm>
            <a:off x="4572785" y="3266275"/>
            <a:ext cx="136960" cy="117394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120" name="query-graph:query-e-q1-q4-head-119"/>
          <p:cNvSpPr/>
          <p:nvPr/>
        </p:nvSpPr>
        <p:spPr>
          <a:xfrm>
            <a:off x="4673297" y="3342750"/>
            <a:ext cx="75376" cy="75376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12" y="12"/>
                </a:moveTo>
                <a:lnTo>
                  <a:pt x="0" y="12"/>
                </a:lnTo>
                <a:lnTo>
                  <a:pt x="10" y="0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1" name="query-graph:query-e-q4-q5-shaft-120"/>
          <p:cNvCxnSpPr/>
          <p:nvPr/>
        </p:nvCxnSpPr>
        <p:spPr>
          <a:xfrm flipV="1">
            <a:off x="5043882" y="3267022"/>
            <a:ext cx="186212" cy="150004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122" name="query-graph:query-e-q4-q5-head-121"/>
          <p:cNvSpPr/>
          <p:nvPr/>
        </p:nvSpPr>
        <p:spPr>
          <a:xfrm>
            <a:off x="5194640" y="3233886"/>
            <a:ext cx="75376" cy="75376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12" y="0"/>
                </a:moveTo>
                <a:lnTo>
                  <a:pt x="10" y="12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3" name="query-graph:query-e-q3-q4-shaft-122"/>
          <p:cNvCxnSpPr/>
          <p:nvPr/>
        </p:nvCxnSpPr>
        <p:spPr>
          <a:xfrm flipH="1" flipV="1">
            <a:off x="5026184" y="3707869"/>
            <a:ext cx="199856" cy="243067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124" name="query-graph:query-e-q3-q4-head-123"/>
          <p:cNvSpPr/>
          <p:nvPr/>
        </p:nvSpPr>
        <p:spPr>
          <a:xfrm>
            <a:off x="4993405" y="3668278"/>
            <a:ext cx="75376" cy="75376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0" y="0"/>
                </a:moveTo>
                <a:lnTo>
                  <a:pt x="12" y="2"/>
                </a:lnTo>
                <a:lnTo>
                  <a:pt x="0" y="12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5" name="query-graph:query-e-q3-q5-shaft-124"/>
          <p:cNvCxnSpPr/>
          <p:nvPr/>
        </p:nvCxnSpPr>
        <p:spPr>
          <a:xfrm flipV="1">
            <a:off x="5401916" y="3361452"/>
            <a:ext cx="22923" cy="532953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126" name="query-graph:query-e-q3-q5-head-125"/>
          <p:cNvSpPr/>
          <p:nvPr/>
        </p:nvSpPr>
        <p:spPr>
          <a:xfrm>
            <a:off x="5376544" y="3310244"/>
            <a:ext cx="94219" cy="62813"/>
          </a:xfrm>
          <a:custGeom>
            <a:avLst/>
            <a:gdLst/>
            <a:ahLst/>
            <a:cxnLst/>
            <a:rect l="l" t="t" r="r" b="b"/>
            <a:pathLst>
              <a:path w="15" h="10">
                <a:moveTo>
                  <a:pt x="8" y="0"/>
                </a:moveTo>
                <a:lnTo>
                  <a:pt x="15" y="10"/>
                </a:lnTo>
                <a:lnTo>
                  <a:pt x="0" y="9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query-graph:query-q1-circle-126"/>
          <p:cNvSpPr/>
          <p:nvPr/>
        </p:nvSpPr>
        <p:spPr>
          <a:xfrm>
            <a:off x="4277564" y="3046429"/>
            <a:ext cx="314065" cy="314065"/>
          </a:xfrm>
          <a:prstGeom prst="ellipse">
            <a:avLst/>
          </a:prstGeom>
          <a:solidFill>
            <a:srgbClr val="6EA8E2"/>
          </a:solidFill>
          <a:ln w="31406">
            <a:solidFill>
              <a:srgbClr val="003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query-graph:query-q1-label-127"/>
          <p:cNvSpPr txBox="1"/>
          <p:nvPr/>
        </p:nvSpPr>
        <p:spPr>
          <a:xfrm>
            <a:off x="4277564" y="3052711"/>
            <a:ext cx="314065" cy="31406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01"/>
              </a:lnSpc>
              <a:spcBef>
                <a:spcPts val="0"/>
              </a:spcBef>
              <a:spcAft>
                <a:spcPts val="0"/>
              </a:spcAft>
              <a:defRPr sz="1112" b="0" i="1">
                <a:solidFill>
                  <a:srgbClr val="111111"/>
                </a:solidFill>
                <a:latin typeface="DejaVu Serif"/>
              </a:defRPr>
            </a:pPr>
            <a:r>
              <a:t>q₁</a:t>
            </a:r>
          </a:p>
        </p:txBody>
      </p:sp>
      <p:sp>
        <p:nvSpPr>
          <p:cNvPr id="129" name="query-graph:query-q2-circle-128"/>
          <p:cNvSpPr/>
          <p:nvPr/>
        </p:nvSpPr>
        <p:spPr>
          <a:xfrm>
            <a:off x="4277564" y="3731091"/>
            <a:ext cx="314065" cy="314065"/>
          </a:xfrm>
          <a:prstGeom prst="ellipse">
            <a:avLst/>
          </a:prstGeom>
          <a:solidFill>
            <a:srgbClr val="6EA8E2"/>
          </a:solidFill>
          <a:ln w="31406">
            <a:solidFill>
              <a:srgbClr val="003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query-graph:query-q2-label-129"/>
          <p:cNvSpPr txBox="1"/>
          <p:nvPr/>
        </p:nvSpPr>
        <p:spPr>
          <a:xfrm>
            <a:off x="4277564" y="3737372"/>
            <a:ext cx="314065" cy="31406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01"/>
              </a:lnSpc>
              <a:spcBef>
                <a:spcPts val="0"/>
              </a:spcBef>
              <a:spcAft>
                <a:spcPts val="0"/>
              </a:spcAft>
              <a:defRPr sz="1112" b="0" i="1">
                <a:solidFill>
                  <a:srgbClr val="111111"/>
                </a:solidFill>
                <a:latin typeface="DejaVu Serif"/>
              </a:defRPr>
            </a:pPr>
            <a:r>
              <a:t>q₂</a:t>
            </a:r>
          </a:p>
        </p:txBody>
      </p:sp>
      <p:sp>
        <p:nvSpPr>
          <p:cNvPr id="131" name="query-graph:query-q4-circle-130"/>
          <p:cNvSpPr/>
          <p:nvPr/>
        </p:nvSpPr>
        <p:spPr>
          <a:xfrm>
            <a:off x="4748661" y="3347932"/>
            <a:ext cx="314065" cy="314065"/>
          </a:xfrm>
          <a:prstGeom prst="ellipse">
            <a:avLst/>
          </a:prstGeom>
          <a:solidFill>
            <a:srgbClr val="6EA8E2"/>
          </a:solidFill>
          <a:ln w="31406">
            <a:solidFill>
              <a:srgbClr val="003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query-graph:query-q4-label-131"/>
          <p:cNvSpPr txBox="1"/>
          <p:nvPr/>
        </p:nvSpPr>
        <p:spPr>
          <a:xfrm>
            <a:off x="4748661" y="3354213"/>
            <a:ext cx="314065" cy="31406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01"/>
              </a:lnSpc>
              <a:spcBef>
                <a:spcPts val="0"/>
              </a:spcBef>
              <a:spcAft>
                <a:spcPts val="0"/>
              </a:spcAft>
              <a:defRPr sz="1112" b="0" i="1">
                <a:solidFill>
                  <a:srgbClr val="111111"/>
                </a:solidFill>
                <a:latin typeface="DejaVu Serif"/>
              </a:defRPr>
            </a:pPr>
            <a:r>
              <a:t>q₄</a:t>
            </a:r>
          </a:p>
        </p:txBody>
      </p:sp>
      <p:sp>
        <p:nvSpPr>
          <p:cNvPr id="133" name="query-graph:query-q5-circle-132"/>
          <p:cNvSpPr/>
          <p:nvPr/>
        </p:nvSpPr>
        <p:spPr>
          <a:xfrm>
            <a:off x="5282571" y="2952210"/>
            <a:ext cx="314065" cy="314065"/>
          </a:xfrm>
          <a:prstGeom prst="ellipse">
            <a:avLst/>
          </a:prstGeom>
          <a:solidFill>
            <a:srgbClr val="6EA8E2"/>
          </a:solidFill>
          <a:ln w="31406">
            <a:solidFill>
              <a:srgbClr val="003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query-graph:query-q5-label-133"/>
          <p:cNvSpPr txBox="1"/>
          <p:nvPr/>
        </p:nvSpPr>
        <p:spPr>
          <a:xfrm>
            <a:off x="5282571" y="2958491"/>
            <a:ext cx="314065" cy="31406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01"/>
              </a:lnSpc>
              <a:spcBef>
                <a:spcPts val="0"/>
              </a:spcBef>
              <a:spcAft>
                <a:spcPts val="0"/>
              </a:spcAft>
              <a:defRPr sz="1112" b="0" i="1">
                <a:solidFill>
                  <a:srgbClr val="111111"/>
                </a:solidFill>
                <a:latin typeface="DejaVu Serif"/>
              </a:defRPr>
            </a:pPr>
            <a:r>
              <a:t>q₅</a:t>
            </a:r>
          </a:p>
        </p:txBody>
      </p:sp>
      <p:sp>
        <p:nvSpPr>
          <p:cNvPr id="135" name="query-graph:query-q3-circle-134"/>
          <p:cNvSpPr/>
          <p:nvPr/>
        </p:nvSpPr>
        <p:spPr>
          <a:xfrm>
            <a:off x="5188352" y="3894405"/>
            <a:ext cx="314065" cy="314065"/>
          </a:xfrm>
          <a:prstGeom prst="ellipse">
            <a:avLst/>
          </a:prstGeom>
          <a:solidFill>
            <a:srgbClr val="6EA8E2"/>
          </a:solidFill>
          <a:ln w="31406">
            <a:solidFill>
              <a:srgbClr val="003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query-graph:query-q3-label-135"/>
          <p:cNvSpPr txBox="1"/>
          <p:nvPr/>
        </p:nvSpPr>
        <p:spPr>
          <a:xfrm>
            <a:off x="5188352" y="3900686"/>
            <a:ext cx="314065" cy="31406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01"/>
              </a:lnSpc>
              <a:spcBef>
                <a:spcPts val="0"/>
              </a:spcBef>
              <a:spcAft>
                <a:spcPts val="0"/>
              </a:spcAft>
              <a:defRPr sz="1112" b="0" i="1">
                <a:solidFill>
                  <a:srgbClr val="111111"/>
                </a:solidFill>
                <a:latin typeface="DejaVu Serif"/>
              </a:defRPr>
            </a:pPr>
            <a:r>
              <a:t>q₃</a:t>
            </a:r>
          </a:p>
        </p:txBody>
      </p:sp>
      <p:sp>
        <p:nvSpPr>
          <p:cNvPr id="137" name="query-graph:query-card-body-136"/>
          <p:cNvSpPr/>
          <p:nvPr/>
        </p:nvSpPr>
        <p:spPr>
          <a:xfrm>
            <a:off x="2832865" y="2405737"/>
            <a:ext cx="1444698" cy="678380"/>
          </a:xfrm>
          <a:prstGeom prst="rect">
            <a:avLst/>
          </a:prstGeom>
          <a:solidFill>
            <a:srgbClr val="CCE4FF"/>
          </a:solidFill>
          <a:ln w="12562">
            <a:solidFill>
              <a:srgbClr val="003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query-graph:query-card-tail-137"/>
          <p:cNvSpPr/>
          <p:nvPr/>
        </p:nvSpPr>
        <p:spPr>
          <a:xfrm>
            <a:off x="3976061" y="3071555"/>
            <a:ext cx="188439" cy="138189"/>
          </a:xfrm>
          <a:custGeom>
            <a:avLst/>
            <a:gdLst/>
            <a:ahLst/>
            <a:cxnLst/>
            <a:rect l="l" t="t" r="r" b="b"/>
            <a:pathLst>
              <a:path w="30" h="22">
                <a:moveTo>
                  <a:pt x="0" y="0"/>
                </a:moveTo>
                <a:lnTo>
                  <a:pt x="30" y="22"/>
                </a:lnTo>
                <a:lnTo>
                  <a:pt x="24" y="0"/>
                </a:lnTo>
                <a:close/>
              </a:path>
            </a:pathLst>
          </a:custGeom>
          <a:solidFill>
            <a:srgbClr val="CCE4FF"/>
          </a:solidFill>
          <a:ln w="12562">
            <a:solidFill>
              <a:srgbClr val="003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query-graph:query-card-title-outline-138"/>
          <p:cNvSpPr/>
          <p:nvPr/>
        </p:nvSpPr>
        <p:spPr>
          <a:xfrm>
            <a:off x="2895678" y="2468550"/>
            <a:ext cx="816569" cy="182158"/>
          </a:xfrm>
          <a:prstGeom prst="rect">
            <a:avLst/>
          </a:prstGeom>
          <a:noFill/>
          <a:ln w="12562">
            <a:solidFill>
              <a:srgbClr val="003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query-graph:query-card-title-accent-139"/>
          <p:cNvSpPr/>
          <p:nvPr/>
        </p:nvSpPr>
        <p:spPr>
          <a:xfrm>
            <a:off x="2864272" y="2455987"/>
            <a:ext cx="816569" cy="194720"/>
          </a:xfrm>
          <a:prstGeom prst="rect">
            <a:avLst/>
          </a:prstGeom>
          <a:noFill/>
          <a:ln w="25125">
            <a:solidFill>
              <a:srgbClr val="8BAFD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query-graph:query-card-title-140"/>
          <p:cNvSpPr txBox="1"/>
          <p:nvPr/>
        </p:nvSpPr>
        <p:spPr>
          <a:xfrm>
            <a:off x="2927085" y="2468550"/>
            <a:ext cx="804006" cy="18843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28"/>
              </a:lnSpc>
              <a:spcBef>
                <a:spcPts val="0"/>
              </a:spcBef>
              <a:spcAft>
                <a:spcPts val="0"/>
              </a:spcAft>
              <a:defRPr sz="1137" b="1" i="0">
                <a:solidFill>
                  <a:srgbClr val="111111"/>
                </a:solidFill>
                <a:latin typeface="DejaVu Serif"/>
              </a:defRPr>
            </a:pPr>
            <a:r>
              <a:t>Query</a:t>
            </a:r>
          </a:p>
        </p:txBody>
      </p:sp>
      <p:sp>
        <p:nvSpPr>
          <p:cNvPr id="142" name="query-graph:query-card-copy-141"/>
          <p:cNvSpPr txBox="1"/>
          <p:nvPr/>
        </p:nvSpPr>
        <p:spPr>
          <a:xfrm>
            <a:off x="2908241" y="2719802"/>
            <a:ext cx="1293947" cy="3266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05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Are Deodato and</a:t>
            </a:r>
          </a:p>
          <a:p>
            <a:pPr algn="ctr">
              <a:lnSpc>
                <a:spcPts val="1005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Alejandro both film</a:t>
            </a:r>
          </a:p>
          <a:p>
            <a:pPr algn="ctr">
              <a:lnSpc>
                <a:spcPts val="1005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directors?</a:t>
            </a:r>
          </a:p>
        </p:txBody>
      </p:sp>
      <p:sp>
        <p:nvSpPr>
          <p:cNvPr id="143" name="query-graph:query-graph-title-142"/>
          <p:cNvSpPr txBox="1"/>
          <p:nvPr/>
        </p:nvSpPr>
        <p:spPr>
          <a:xfrm>
            <a:off x="2801459" y="4076562"/>
            <a:ext cx="1381886" cy="23868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9"/>
              </a:lnSpc>
              <a:spcBef>
                <a:spcPts val="0"/>
              </a:spcBef>
              <a:spcAft>
                <a:spcPts val="0"/>
              </a:spcAft>
              <a:defRPr sz="1434" b="1" i="0">
                <a:solidFill>
                  <a:srgbClr val="0065CF"/>
                </a:solidFill>
                <a:latin typeface="DejaVu Serif"/>
              </a:defRPr>
            </a:pPr>
            <a:r>
              <a:t>Query Graph</a:t>
            </a:r>
          </a:p>
        </p:txBody>
      </p:sp>
      <p:sp>
        <p:nvSpPr>
          <p:cNvPr id="144" name="query-graph:query-graph-formula-143"/>
          <p:cNvSpPr txBox="1"/>
          <p:nvPr/>
        </p:nvSpPr>
        <p:spPr>
          <a:xfrm>
            <a:off x="2927085" y="4308970"/>
            <a:ext cx="1413292" cy="2135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4"/>
              </a:lnSpc>
              <a:spcBef>
                <a:spcPts val="0"/>
              </a:spcBef>
              <a:spcAft>
                <a:spcPts val="0"/>
              </a:spcAft>
              <a:defRPr sz="939" b="0" i="1">
                <a:solidFill>
                  <a:srgbClr val="0065CF"/>
                </a:solidFill>
                <a:latin typeface="DejaVu Serif"/>
              </a:defRPr>
            </a:pPr>
            <a:r>
              <a:t>G_query^(t) = (Q, E_q)</a:t>
            </a:r>
          </a:p>
        </p:txBody>
      </p:sp>
      <p:sp>
        <p:nvSpPr>
          <p:cNvPr id="145" name="query-graph:downward-label-144"/>
          <p:cNvSpPr txBox="1"/>
          <p:nvPr/>
        </p:nvSpPr>
        <p:spPr>
          <a:xfrm>
            <a:off x="4271282" y="4252439"/>
            <a:ext cx="1381886" cy="4396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84" b="1" i="0">
                <a:solidFill>
                  <a:srgbClr val="F00000"/>
                </a:solidFill>
                <a:latin typeface="DejaVu Serif"/>
              </a:defRPr>
            </a:pPr>
            <a:r>
              <a:t>downward</a:t>
            </a:r>
          </a:p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84" b="1" i="0">
                <a:solidFill>
                  <a:srgbClr val="F00000"/>
                </a:solidFill>
                <a:latin typeface="DejaVu Serif"/>
              </a:defRPr>
            </a:pPr>
            <a:r>
              <a:t>traversal</a:t>
            </a:r>
          </a:p>
        </p:txBody>
      </p:sp>
      <p:sp>
        <p:nvSpPr>
          <p:cNvPr id="146" name="retrieval-flow:similarity-arrow-145"/>
          <p:cNvSpPr/>
          <p:nvPr/>
        </p:nvSpPr>
        <p:spPr>
          <a:xfrm>
            <a:off x="2204736" y="3787623"/>
            <a:ext cx="1934640" cy="251252"/>
          </a:xfrm>
          <a:custGeom>
            <a:avLst/>
            <a:gdLst/>
            <a:ahLst/>
            <a:cxnLst/>
            <a:rect l="l" t="t" r="r" b="b"/>
            <a:pathLst>
              <a:path w="308" h="40">
                <a:moveTo>
                  <a:pt x="0" y="10"/>
                </a:moveTo>
                <a:lnTo>
                  <a:pt x="282" y="10"/>
                </a:lnTo>
                <a:lnTo>
                  <a:pt x="282" y="0"/>
                </a:lnTo>
                <a:lnTo>
                  <a:pt x="308" y="20"/>
                </a:lnTo>
                <a:lnTo>
                  <a:pt x="282" y="40"/>
                </a:lnTo>
                <a:lnTo>
                  <a:pt x="282" y="30"/>
                </a:lnTo>
                <a:lnTo>
                  <a:pt x="0" y="30"/>
                </a:lnTo>
                <a:close/>
              </a:path>
            </a:pathLst>
          </a:custGeom>
          <a:solidFill>
            <a:srgbClr val="FF9899"/>
          </a:solidFill>
          <a:ln w="18843">
            <a:solidFill>
              <a:srgbClr val="F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retrieval-flow:similarity-label-146"/>
          <p:cNvSpPr txBox="1"/>
          <p:nvPr/>
        </p:nvSpPr>
        <p:spPr>
          <a:xfrm>
            <a:off x="2700958" y="3423307"/>
            <a:ext cx="1099227" cy="4396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42"/>
              </a:lnSpc>
              <a:spcBef>
                <a:spcPts val="0"/>
              </a:spcBef>
              <a:spcAft>
                <a:spcPts val="0"/>
              </a:spcAft>
              <a:defRPr sz="1335" b="1" i="0">
                <a:solidFill>
                  <a:srgbClr val="F00000"/>
                </a:solidFill>
                <a:latin typeface="DejaVu Serif"/>
              </a:defRPr>
            </a:pPr>
            <a:r>
              <a:t>Similarity-</a:t>
            </a:r>
          </a:p>
          <a:p>
            <a:pPr algn="ctr">
              <a:lnSpc>
                <a:spcPts val="1442"/>
              </a:lnSpc>
              <a:spcBef>
                <a:spcPts val="0"/>
              </a:spcBef>
              <a:spcAft>
                <a:spcPts val="0"/>
              </a:spcAft>
              <a:defRPr sz="1335" b="1" i="0">
                <a:solidFill>
                  <a:srgbClr val="F00000"/>
                </a:solidFill>
                <a:latin typeface="DejaVu Serif"/>
              </a:defRPr>
            </a:pPr>
            <a:r>
              <a:t>based Retrieval</a:t>
            </a:r>
          </a:p>
        </p:txBody>
      </p:sp>
      <p:sp>
        <p:nvSpPr>
          <p:cNvPr id="148" name="traversal-connectors:upward-wedge-147"/>
          <p:cNvSpPr/>
          <p:nvPr/>
        </p:nvSpPr>
        <p:spPr>
          <a:xfrm>
            <a:off x="4340377" y="1180884"/>
            <a:ext cx="1237416" cy="2324080"/>
          </a:xfrm>
          <a:custGeom>
            <a:avLst/>
            <a:gdLst/>
            <a:ahLst/>
            <a:cxnLst/>
            <a:rect l="l" t="t" r="r" b="b"/>
            <a:pathLst>
              <a:path w="197" h="370">
                <a:moveTo>
                  <a:pt x="90" y="370"/>
                </a:moveTo>
                <a:lnTo>
                  <a:pt x="0" y="48"/>
                </a:lnTo>
                <a:lnTo>
                  <a:pt x="197" y="0"/>
                </a:lnTo>
                <a:close/>
              </a:path>
            </a:pathLst>
          </a:custGeom>
          <a:noFill/>
          <a:ln w="25125">
            <a:solidFill>
              <a:srgbClr val="7F7F7F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9" name="traversal-connectors:upward-dashed-arrow-shaft-148"/>
          <p:cNvCxnSpPr/>
          <p:nvPr/>
        </p:nvCxnSpPr>
        <p:spPr>
          <a:xfrm flipH="1" flipV="1">
            <a:off x="4668593" y="1865943"/>
            <a:ext cx="237101" cy="1525958"/>
          </a:xfrm>
          <a:prstGeom prst="line">
            <a:avLst/>
          </a:prstGeom>
          <a:ln w="25125">
            <a:solidFill>
              <a:srgbClr val="111111"/>
            </a:solidFill>
            <a:prstDash val="dash"/>
          </a:ln>
          <a:effectLst/>
        </p:spPr>
      </p:cxnSp>
      <p:sp>
        <p:nvSpPr>
          <p:cNvPr id="150" name="traversal-connectors:upward-dashed-arrow-head-149"/>
          <p:cNvSpPr/>
          <p:nvPr/>
        </p:nvSpPr>
        <p:spPr>
          <a:xfrm>
            <a:off x="4622163" y="1815295"/>
            <a:ext cx="94219" cy="62813"/>
          </a:xfrm>
          <a:custGeom>
            <a:avLst/>
            <a:gdLst/>
            <a:ahLst/>
            <a:cxnLst/>
            <a:rect l="l" t="t" r="r" b="b"/>
            <a:pathLst>
              <a:path w="15" h="10">
                <a:moveTo>
                  <a:pt x="6" y="0"/>
                </a:moveTo>
                <a:lnTo>
                  <a:pt x="15" y="8"/>
                </a:lnTo>
                <a:lnTo>
                  <a:pt x="0" y="10"/>
                </a:lnTo>
                <a:close/>
              </a:path>
            </a:pathLst>
          </a:custGeom>
          <a:solidFill>
            <a:srgbClr val="111111"/>
          </a:solidFill>
          <a:ln w="6281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traversal-connectors:downward-wedge-150"/>
          <p:cNvSpPr/>
          <p:nvPr/>
        </p:nvSpPr>
        <p:spPr>
          <a:xfrm>
            <a:off x="3787623" y="3504964"/>
            <a:ext cx="2123079" cy="2393174"/>
          </a:xfrm>
          <a:custGeom>
            <a:avLst/>
            <a:gdLst/>
            <a:ahLst/>
            <a:cxnLst/>
            <a:rect l="l" t="t" r="r" b="b"/>
            <a:pathLst>
              <a:path w="338" h="381">
                <a:moveTo>
                  <a:pt x="103" y="61"/>
                </a:moveTo>
                <a:lnTo>
                  <a:pt x="0" y="372"/>
                </a:lnTo>
                <a:lnTo>
                  <a:pt x="338" y="381"/>
                </a:lnTo>
                <a:lnTo>
                  <a:pt x="178" y="0"/>
                </a:lnTo>
                <a:close/>
              </a:path>
            </a:pathLst>
          </a:custGeom>
          <a:noFill/>
          <a:ln w="18843">
            <a:solidFill>
              <a:srgbClr val="111111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interaction-graph:interaction-circle-151"/>
          <p:cNvSpPr/>
          <p:nvPr/>
        </p:nvSpPr>
        <p:spPr>
          <a:xfrm>
            <a:off x="3862998" y="4717255"/>
            <a:ext cx="1984890" cy="1984890"/>
          </a:xfrm>
          <a:prstGeom prst="ellipse">
            <a:avLst/>
          </a:prstGeom>
          <a:solidFill>
            <a:srgbClr val="F5DFEC"/>
          </a:solidFill>
          <a:ln w="31406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3" name="interaction-graph:interaction-edge-0-shaft-152"/>
          <p:cNvCxnSpPr/>
          <p:nvPr/>
        </p:nvCxnSpPr>
        <p:spPr>
          <a:xfrm flipH="1">
            <a:off x="4395986" y="5018757"/>
            <a:ext cx="472020" cy="305086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154" name="interaction-graph:interaction-edge-0-head-153"/>
          <p:cNvSpPr/>
          <p:nvPr/>
        </p:nvSpPr>
        <p:spPr>
          <a:xfrm>
            <a:off x="4352939" y="5279788"/>
            <a:ext cx="75376" cy="81657"/>
          </a:xfrm>
          <a:custGeom>
            <a:avLst/>
            <a:gdLst/>
            <a:ahLst/>
            <a:cxnLst/>
            <a:rect l="l" t="t" r="r" b="b"/>
            <a:pathLst>
              <a:path w="12" h="13">
                <a:moveTo>
                  <a:pt x="0" y="11"/>
                </a:moveTo>
                <a:lnTo>
                  <a:pt x="4" y="0"/>
                </a:lnTo>
                <a:lnTo>
                  <a:pt x="12" y="13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5" name="interaction-graph:interaction-edge-1-shaft-154"/>
          <p:cNvCxnSpPr/>
          <p:nvPr/>
        </p:nvCxnSpPr>
        <p:spPr>
          <a:xfrm>
            <a:off x="4868006" y="5018757"/>
            <a:ext cx="428450" cy="285633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156" name="interaction-graph:interaction-edge-1-head-155"/>
          <p:cNvSpPr/>
          <p:nvPr/>
        </p:nvSpPr>
        <p:spPr>
          <a:xfrm>
            <a:off x="5264128" y="5260629"/>
            <a:ext cx="75376" cy="81657"/>
          </a:xfrm>
          <a:custGeom>
            <a:avLst/>
            <a:gdLst/>
            <a:ahLst/>
            <a:cxnLst/>
            <a:rect l="l" t="t" r="r" b="b"/>
            <a:pathLst>
              <a:path w="12" h="13">
                <a:moveTo>
                  <a:pt x="12" y="11"/>
                </a:moveTo>
                <a:lnTo>
                  <a:pt x="0" y="13"/>
                </a:lnTo>
                <a:lnTo>
                  <a:pt x="8" y="0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7" name="interaction-graph:interaction-edge-2-shaft-156"/>
          <p:cNvCxnSpPr/>
          <p:nvPr/>
        </p:nvCxnSpPr>
        <p:spPr>
          <a:xfrm>
            <a:off x="4352939" y="5351666"/>
            <a:ext cx="442208" cy="321605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158" name="interaction-graph:interaction-edge-2-head-157"/>
          <p:cNvSpPr/>
          <p:nvPr/>
        </p:nvSpPr>
        <p:spPr>
          <a:xfrm>
            <a:off x="4761370" y="5630402"/>
            <a:ext cx="75376" cy="75376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12" y="12"/>
                </a:moveTo>
                <a:lnTo>
                  <a:pt x="0" y="12"/>
                </a:lnTo>
                <a:lnTo>
                  <a:pt x="9" y="0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9" name="interaction-graph:interaction-edge-3-shaft-158"/>
          <p:cNvCxnSpPr/>
          <p:nvPr/>
        </p:nvCxnSpPr>
        <p:spPr>
          <a:xfrm flipH="1">
            <a:off x="4877850" y="5332822"/>
            <a:ext cx="461253" cy="340174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160" name="interaction-graph:interaction-edge-3-head-159"/>
          <p:cNvSpPr/>
          <p:nvPr/>
        </p:nvSpPr>
        <p:spPr>
          <a:xfrm>
            <a:off x="4836599" y="5630279"/>
            <a:ext cx="75376" cy="75376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0" y="12"/>
                </a:moveTo>
                <a:lnTo>
                  <a:pt x="3" y="0"/>
                </a:lnTo>
                <a:lnTo>
                  <a:pt x="12" y="12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1" name="interaction-graph:interaction-edge-4-shaft-160"/>
          <p:cNvCxnSpPr/>
          <p:nvPr/>
        </p:nvCxnSpPr>
        <p:spPr>
          <a:xfrm flipH="1">
            <a:off x="4353244" y="5703418"/>
            <a:ext cx="483355" cy="281958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162" name="interaction-graph:interaction-edge-4-head-161"/>
          <p:cNvSpPr/>
          <p:nvPr/>
        </p:nvSpPr>
        <p:spPr>
          <a:xfrm>
            <a:off x="4308970" y="5940437"/>
            <a:ext cx="75376" cy="81657"/>
          </a:xfrm>
          <a:custGeom>
            <a:avLst/>
            <a:gdLst/>
            <a:ahLst/>
            <a:cxnLst/>
            <a:rect l="l" t="t" r="r" b="b"/>
            <a:pathLst>
              <a:path w="12" h="13">
                <a:moveTo>
                  <a:pt x="0" y="11"/>
                </a:moveTo>
                <a:lnTo>
                  <a:pt x="4" y="0"/>
                </a:lnTo>
                <a:lnTo>
                  <a:pt x="12" y="13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3" name="interaction-graph:interaction-edge-5-shaft-162"/>
          <p:cNvCxnSpPr/>
          <p:nvPr/>
        </p:nvCxnSpPr>
        <p:spPr>
          <a:xfrm>
            <a:off x="4836599" y="5703418"/>
            <a:ext cx="508408" cy="294646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164" name="interaction-graph:interaction-edge-5-head-163"/>
          <p:cNvSpPr/>
          <p:nvPr/>
        </p:nvSpPr>
        <p:spPr>
          <a:xfrm>
            <a:off x="5315013" y="5953073"/>
            <a:ext cx="75376" cy="81657"/>
          </a:xfrm>
          <a:custGeom>
            <a:avLst/>
            <a:gdLst/>
            <a:ahLst/>
            <a:cxnLst/>
            <a:rect l="l" t="t" r="r" b="b"/>
            <a:pathLst>
              <a:path w="12" h="13">
                <a:moveTo>
                  <a:pt x="12" y="11"/>
                </a:moveTo>
                <a:lnTo>
                  <a:pt x="0" y="13"/>
                </a:lnTo>
                <a:lnTo>
                  <a:pt x="8" y="0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5" name="interaction-graph:interaction-edge-6-shaft-164"/>
          <p:cNvCxnSpPr/>
          <p:nvPr/>
        </p:nvCxnSpPr>
        <p:spPr>
          <a:xfrm>
            <a:off x="4308970" y="6011202"/>
            <a:ext cx="522451" cy="342496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166" name="interaction-graph:interaction-edge-6-head-165"/>
          <p:cNvSpPr/>
          <p:nvPr/>
        </p:nvSpPr>
        <p:spPr>
          <a:xfrm>
            <a:off x="4799374" y="6309776"/>
            <a:ext cx="75376" cy="81657"/>
          </a:xfrm>
          <a:custGeom>
            <a:avLst/>
            <a:gdLst/>
            <a:ahLst/>
            <a:cxnLst/>
            <a:rect l="l" t="t" r="r" b="b"/>
            <a:pathLst>
              <a:path w="12" h="13">
                <a:moveTo>
                  <a:pt x="12" y="11"/>
                </a:moveTo>
                <a:lnTo>
                  <a:pt x="0" y="13"/>
                </a:lnTo>
                <a:lnTo>
                  <a:pt x="8" y="0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7" name="interaction-graph:interaction-edge-7-shaft-166"/>
          <p:cNvCxnSpPr/>
          <p:nvPr/>
        </p:nvCxnSpPr>
        <p:spPr>
          <a:xfrm flipV="1">
            <a:off x="4874287" y="6053020"/>
            <a:ext cx="472980" cy="328779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168" name="interaction-graph:interaction-edge-7-head-167"/>
          <p:cNvSpPr/>
          <p:nvPr/>
        </p:nvSpPr>
        <p:spPr>
          <a:xfrm>
            <a:off x="5314242" y="6017463"/>
            <a:ext cx="75376" cy="81657"/>
          </a:xfrm>
          <a:custGeom>
            <a:avLst/>
            <a:gdLst/>
            <a:ahLst/>
            <a:cxnLst/>
            <a:rect l="l" t="t" r="r" b="b"/>
            <a:pathLst>
              <a:path w="12" h="13">
                <a:moveTo>
                  <a:pt x="12" y="1"/>
                </a:moveTo>
                <a:lnTo>
                  <a:pt x="9" y="13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interaction-graph:inter-top-ring-168"/>
          <p:cNvSpPr/>
          <p:nvPr/>
        </p:nvSpPr>
        <p:spPr>
          <a:xfrm>
            <a:off x="4704692" y="4855443"/>
            <a:ext cx="326627" cy="326627"/>
          </a:xfrm>
          <a:prstGeom prst="ellipse">
            <a:avLst/>
          </a:prstGeom>
          <a:solidFill>
            <a:srgbClr val="F4D6F0"/>
          </a:solidFill>
          <a:ln w="31406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interaction-graph:inter-top-screen-169"/>
          <p:cNvSpPr/>
          <p:nvPr/>
        </p:nvSpPr>
        <p:spPr>
          <a:xfrm>
            <a:off x="4776550" y="4964361"/>
            <a:ext cx="182911" cy="133917"/>
          </a:xfrm>
          <a:prstGeom prst="roundRect">
            <a:avLst>
              <a:gd name="adj" fmla="val 14071"/>
            </a:avLst>
          </a:prstGeom>
          <a:solidFill>
            <a:srgbClr val="FFFFFF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interaction-graph:inter-top-avatar-170"/>
          <p:cNvSpPr/>
          <p:nvPr/>
        </p:nvSpPr>
        <p:spPr>
          <a:xfrm>
            <a:off x="4800329" y="5002687"/>
            <a:ext cx="135354" cy="48210"/>
          </a:xfrm>
          <a:prstGeom prst="roundRect">
            <a:avLst>
              <a:gd name="adj" fmla="val 13028"/>
            </a:avLst>
          </a:prstGeom>
          <a:solidFill>
            <a:srgbClr val="3555E6"/>
          </a:solidFill>
          <a:ln w="6281">
            <a:solidFill>
              <a:srgbClr val="3555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interaction-graph:inter-top-face-171"/>
          <p:cNvSpPr/>
          <p:nvPr/>
        </p:nvSpPr>
        <p:spPr>
          <a:xfrm>
            <a:off x="4835082" y="5008044"/>
            <a:ext cx="65848" cy="42854"/>
          </a:xfrm>
          <a:prstGeom prst="roundRect">
            <a:avLst>
              <a:gd name="adj" fmla="val 14657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interaction-graph:inter-top-eye-l-172"/>
          <p:cNvSpPr/>
          <p:nvPr/>
        </p:nvSpPr>
        <p:spPr>
          <a:xfrm>
            <a:off x="4847886" y="5017418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interaction-graph:inter-top-eye-r-173"/>
          <p:cNvSpPr/>
          <p:nvPr/>
        </p:nvSpPr>
        <p:spPr>
          <a:xfrm>
            <a:off x="4880810" y="5017418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interaction-graph:inter-top-crown-174"/>
          <p:cNvSpPr/>
          <p:nvPr/>
        </p:nvSpPr>
        <p:spPr>
          <a:xfrm>
            <a:off x="4814961" y="4941085"/>
            <a:ext cx="106782" cy="31406"/>
          </a:xfrm>
          <a:custGeom>
            <a:avLst/>
            <a:gdLst/>
            <a:ahLst/>
            <a:cxnLst/>
            <a:rect l="l" t="t" r="r" b="b"/>
            <a:pathLst>
              <a:path w="17" h="5">
                <a:moveTo>
                  <a:pt x="0" y="5"/>
                </a:moveTo>
                <a:lnTo>
                  <a:pt x="3" y="1"/>
                </a:lnTo>
                <a:lnTo>
                  <a:pt x="8" y="4"/>
                </a:lnTo>
                <a:lnTo>
                  <a:pt x="12" y="0"/>
                </a:lnTo>
                <a:lnTo>
                  <a:pt x="17" y="5"/>
                </a:lnTo>
                <a:close/>
              </a:path>
            </a:pathLst>
          </a:custGeom>
          <a:solidFill>
            <a:srgbClr val="FFD84A"/>
          </a:solidFill>
          <a:ln w="12562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interaction-graph:inter-left-top-ring-175"/>
          <p:cNvSpPr/>
          <p:nvPr/>
        </p:nvSpPr>
        <p:spPr>
          <a:xfrm>
            <a:off x="4114250" y="5207196"/>
            <a:ext cx="326627" cy="326627"/>
          </a:xfrm>
          <a:prstGeom prst="ellipse">
            <a:avLst/>
          </a:prstGeom>
          <a:solidFill>
            <a:srgbClr val="F4D6F0"/>
          </a:solidFill>
          <a:ln w="31406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interaction-graph:inter-left-top-screen-176"/>
          <p:cNvSpPr/>
          <p:nvPr/>
        </p:nvSpPr>
        <p:spPr>
          <a:xfrm>
            <a:off x="4186108" y="5316114"/>
            <a:ext cx="182911" cy="133917"/>
          </a:xfrm>
          <a:prstGeom prst="roundRect">
            <a:avLst>
              <a:gd name="adj" fmla="val 14071"/>
            </a:avLst>
          </a:prstGeom>
          <a:solidFill>
            <a:srgbClr val="FFFFFF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interaction-graph:inter-left-top-avatar-177"/>
          <p:cNvSpPr/>
          <p:nvPr/>
        </p:nvSpPr>
        <p:spPr>
          <a:xfrm>
            <a:off x="4209887" y="5354440"/>
            <a:ext cx="135354" cy="48210"/>
          </a:xfrm>
          <a:prstGeom prst="roundRect">
            <a:avLst>
              <a:gd name="adj" fmla="val 13028"/>
            </a:avLst>
          </a:prstGeom>
          <a:solidFill>
            <a:srgbClr val="F04B7A"/>
          </a:solidFill>
          <a:ln w="6281">
            <a:solidFill>
              <a:srgbClr val="F04B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interaction-graph:inter-left-top-face-178"/>
          <p:cNvSpPr/>
          <p:nvPr/>
        </p:nvSpPr>
        <p:spPr>
          <a:xfrm>
            <a:off x="4244640" y="5359796"/>
            <a:ext cx="65848" cy="42854"/>
          </a:xfrm>
          <a:prstGeom prst="roundRect">
            <a:avLst>
              <a:gd name="adj" fmla="val 14657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interaction-graph:inter-left-top-eye-l-179"/>
          <p:cNvSpPr/>
          <p:nvPr/>
        </p:nvSpPr>
        <p:spPr>
          <a:xfrm>
            <a:off x="4257444" y="5369170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interaction-graph:inter-left-top-eye-r-180"/>
          <p:cNvSpPr/>
          <p:nvPr/>
        </p:nvSpPr>
        <p:spPr>
          <a:xfrm>
            <a:off x="4290368" y="5369170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interaction-graph:inter-right-top-ring-181"/>
          <p:cNvSpPr/>
          <p:nvPr/>
        </p:nvSpPr>
        <p:spPr>
          <a:xfrm>
            <a:off x="5251165" y="5182071"/>
            <a:ext cx="326627" cy="326627"/>
          </a:xfrm>
          <a:prstGeom prst="ellipse">
            <a:avLst/>
          </a:prstGeom>
          <a:solidFill>
            <a:srgbClr val="F4D6F0"/>
          </a:solidFill>
          <a:ln w="31406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interaction-graph:inter-right-top-screen-182"/>
          <p:cNvSpPr/>
          <p:nvPr/>
        </p:nvSpPr>
        <p:spPr>
          <a:xfrm>
            <a:off x="5323023" y="5290988"/>
            <a:ext cx="182911" cy="133917"/>
          </a:xfrm>
          <a:prstGeom prst="roundRect">
            <a:avLst>
              <a:gd name="adj" fmla="val 14071"/>
            </a:avLst>
          </a:prstGeom>
          <a:solidFill>
            <a:srgbClr val="FFFFFF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interaction-graph:inter-right-top-avatar-183"/>
          <p:cNvSpPr/>
          <p:nvPr/>
        </p:nvSpPr>
        <p:spPr>
          <a:xfrm>
            <a:off x="5346801" y="5329314"/>
            <a:ext cx="135354" cy="48210"/>
          </a:xfrm>
          <a:prstGeom prst="roundRect">
            <a:avLst>
              <a:gd name="adj" fmla="val 13028"/>
            </a:avLst>
          </a:prstGeom>
          <a:solidFill>
            <a:srgbClr val="222222"/>
          </a:solidFill>
          <a:ln w="6281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interaction-graph:inter-right-top-face-184"/>
          <p:cNvSpPr/>
          <p:nvPr/>
        </p:nvSpPr>
        <p:spPr>
          <a:xfrm>
            <a:off x="5381555" y="5334671"/>
            <a:ext cx="65848" cy="42854"/>
          </a:xfrm>
          <a:prstGeom prst="roundRect">
            <a:avLst>
              <a:gd name="adj" fmla="val 14657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interaction-graph:inter-right-top-eye-l-185"/>
          <p:cNvSpPr/>
          <p:nvPr/>
        </p:nvSpPr>
        <p:spPr>
          <a:xfrm>
            <a:off x="5394358" y="5344045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interaction-graph:inter-right-top-eye-r-186"/>
          <p:cNvSpPr/>
          <p:nvPr/>
        </p:nvSpPr>
        <p:spPr>
          <a:xfrm>
            <a:off x="5427282" y="5344045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interaction-graph:inter-center-ring-187"/>
          <p:cNvSpPr/>
          <p:nvPr/>
        </p:nvSpPr>
        <p:spPr>
          <a:xfrm>
            <a:off x="4673286" y="5546386"/>
            <a:ext cx="326627" cy="326627"/>
          </a:xfrm>
          <a:prstGeom prst="ellipse">
            <a:avLst/>
          </a:prstGeom>
          <a:solidFill>
            <a:srgbClr val="F4D6F0"/>
          </a:solidFill>
          <a:ln w="31406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interaction-graph:inter-center-screen-188"/>
          <p:cNvSpPr/>
          <p:nvPr/>
        </p:nvSpPr>
        <p:spPr>
          <a:xfrm>
            <a:off x="4745144" y="5655304"/>
            <a:ext cx="182911" cy="133917"/>
          </a:xfrm>
          <a:prstGeom prst="roundRect">
            <a:avLst>
              <a:gd name="adj" fmla="val 14071"/>
            </a:avLst>
          </a:prstGeom>
          <a:solidFill>
            <a:srgbClr val="FFFFFF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interaction-graph:inter-center-avatar-189"/>
          <p:cNvSpPr/>
          <p:nvPr/>
        </p:nvSpPr>
        <p:spPr>
          <a:xfrm>
            <a:off x="4768922" y="5693630"/>
            <a:ext cx="135354" cy="48210"/>
          </a:xfrm>
          <a:prstGeom prst="roundRect">
            <a:avLst>
              <a:gd name="adj" fmla="val 13028"/>
            </a:avLst>
          </a:prstGeom>
          <a:solidFill>
            <a:srgbClr val="3555E6"/>
          </a:solidFill>
          <a:ln w="6281">
            <a:solidFill>
              <a:srgbClr val="3555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interaction-graph:inter-center-face-190"/>
          <p:cNvSpPr/>
          <p:nvPr/>
        </p:nvSpPr>
        <p:spPr>
          <a:xfrm>
            <a:off x="4803675" y="5698986"/>
            <a:ext cx="65848" cy="42854"/>
          </a:xfrm>
          <a:prstGeom prst="roundRect">
            <a:avLst>
              <a:gd name="adj" fmla="val 14657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interaction-graph:inter-center-eye-l-191"/>
          <p:cNvSpPr/>
          <p:nvPr/>
        </p:nvSpPr>
        <p:spPr>
          <a:xfrm>
            <a:off x="4816479" y="5708361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interaction-graph:inter-center-eye-r-192"/>
          <p:cNvSpPr/>
          <p:nvPr/>
        </p:nvSpPr>
        <p:spPr>
          <a:xfrm>
            <a:off x="4849403" y="5708361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interaction-graph:inter-center-crown-193"/>
          <p:cNvSpPr/>
          <p:nvPr/>
        </p:nvSpPr>
        <p:spPr>
          <a:xfrm>
            <a:off x="4783555" y="5632028"/>
            <a:ext cx="106782" cy="31406"/>
          </a:xfrm>
          <a:custGeom>
            <a:avLst/>
            <a:gdLst/>
            <a:ahLst/>
            <a:cxnLst/>
            <a:rect l="l" t="t" r="r" b="b"/>
            <a:pathLst>
              <a:path w="17" h="5">
                <a:moveTo>
                  <a:pt x="0" y="5"/>
                </a:moveTo>
                <a:lnTo>
                  <a:pt x="3" y="1"/>
                </a:lnTo>
                <a:lnTo>
                  <a:pt x="8" y="4"/>
                </a:lnTo>
                <a:lnTo>
                  <a:pt x="12" y="0"/>
                </a:lnTo>
                <a:lnTo>
                  <a:pt x="17" y="5"/>
                </a:lnTo>
                <a:close/>
              </a:path>
            </a:pathLst>
          </a:custGeom>
          <a:solidFill>
            <a:srgbClr val="FFD84A"/>
          </a:solidFill>
          <a:ln w="12562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interaction-graph:inter-left-low-ring-194"/>
          <p:cNvSpPr/>
          <p:nvPr/>
        </p:nvSpPr>
        <p:spPr>
          <a:xfrm>
            <a:off x="4070281" y="5885576"/>
            <a:ext cx="326627" cy="326627"/>
          </a:xfrm>
          <a:prstGeom prst="ellipse">
            <a:avLst/>
          </a:prstGeom>
          <a:solidFill>
            <a:srgbClr val="F4D6F0"/>
          </a:solidFill>
          <a:ln w="31406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interaction-graph:inter-left-low-screen-195"/>
          <p:cNvSpPr/>
          <p:nvPr/>
        </p:nvSpPr>
        <p:spPr>
          <a:xfrm>
            <a:off x="4142139" y="5994494"/>
            <a:ext cx="182911" cy="133917"/>
          </a:xfrm>
          <a:prstGeom prst="roundRect">
            <a:avLst>
              <a:gd name="adj" fmla="val 14071"/>
            </a:avLst>
          </a:prstGeom>
          <a:solidFill>
            <a:srgbClr val="FFFFFF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interaction-graph:inter-left-low-avatar-196"/>
          <p:cNvSpPr/>
          <p:nvPr/>
        </p:nvSpPr>
        <p:spPr>
          <a:xfrm>
            <a:off x="4165917" y="6032820"/>
            <a:ext cx="135354" cy="48210"/>
          </a:xfrm>
          <a:prstGeom prst="roundRect">
            <a:avLst>
              <a:gd name="adj" fmla="val 13028"/>
            </a:avLst>
          </a:prstGeom>
          <a:solidFill>
            <a:srgbClr val="B666E5"/>
          </a:solidFill>
          <a:ln w="6281">
            <a:solidFill>
              <a:srgbClr val="B666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interaction-graph:inter-left-low-face-197"/>
          <p:cNvSpPr/>
          <p:nvPr/>
        </p:nvSpPr>
        <p:spPr>
          <a:xfrm>
            <a:off x="4200671" y="6038176"/>
            <a:ext cx="65848" cy="42854"/>
          </a:xfrm>
          <a:prstGeom prst="roundRect">
            <a:avLst>
              <a:gd name="adj" fmla="val 14657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interaction-graph:inter-left-low-eye-l-198"/>
          <p:cNvSpPr/>
          <p:nvPr/>
        </p:nvSpPr>
        <p:spPr>
          <a:xfrm>
            <a:off x="4213474" y="6047551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interaction-graph:inter-left-low-eye-r-199"/>
          <p:cNvSpPr/>
          <p:nvPr/>
        </p:nvSpPr>
        <p:spPr>
          <a:xfrm>
            <a:off x="4246399" y="6047551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interaction-graph:inter-bottom-ring-200"/>
          <p:cNvSpPr/>
          <p:nvPr/>
        </p:nvSpPr>
        <p:spPr>
          <a:xfrm>
            <a:off x="4710973" y="6243610"/>
            <a:ext cx="326627" cy="326627"/>
          </a:xfrm>
          <a:prstGeom prst="ellipse">
            <a:avLst/>
          </a:prstGeom>
          <a:solidFill>
            <a:srgbClr val="F4D6F0"/>
          </a:solidFill>
          <a:ln w="31406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interaction-graph:inter-bottom-screen-201"/>
          <p:cNvSpPr/>
          <p:nvPr/>
        </p:nvSpPr>
        <p:spPr>
          <a:xfrm>
            <a:off x="4782831" y="6352528"/>
            <a:ext cx="182911" cy="133917"/>
          </a:xfrm>
          <a:prstGeom prst="roundRect">
            <a:avLst>
              <a:gd name="adj" fmla="val 14071"/>
            </a:avLst>
          </a:prstGeom>
          <a:solidFill>
            <a:srgbClr val="FFFFFF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interaction-graph:inter-bottom-avatar-202"/>
          <p:cNvSpPr/>
          <p:nvPr/>
        </p:nvSpPr>
        <p:spPr>
          <a:xfrm>
            <a:off x="4806610" y="6390854"/>
            <a:ext cx="135354" cy="48210"/>
          </a:xfrm>
          <a:prstGeom prst="roundRect">
            <a:avLst>
              <a:gd name="adj" fmla="val 13028"/>
            </a:avLst>
          </a:prstGeom>
          <a:solidFill>
            <a:srgbClr val="F04B7A"/>
          </a:solidFill>
          <a:ln w="6281">
            <a:solidFill>
              <a:srgbClr val="F04B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interaction-graph:inter-bottom-face-203"/>
          <p:cNvSpPr/>
          <p:nvPr/>
        </p:nvSpPr>
        <p:spPr>
          <a:xfrm>
            <a:off x="4841363" y="6396210"/>
            <a:ext cx="65848" cy="42854"/>
          </a:xfrm>
          <a:prstGeom prst="roundRect">
            <a:avLst>
              <a:gd name="adj" fmla="val 14657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interaction-graph:inter-bottom-eye-l-204"/>
          <p:cNvSpPr/>
          <p:nvPr/>
        </p:nvSpPr>
        <p:spPr>
          <a:xfrm>
            <a:off x="4854167" y="6405585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interaction-graph:inter-bottom-eye-r-205"/>
          <p:cNvSpPr/>
          <p:nvPr/>
        </p:nvSpPr>
        <p:spPr>
          <a:xfrm>
            <a:off x="4887091" y="6405585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interaction-graph:inter-right-low-ring-206"/>
          <p:cNvSpPr/>
          <p:nvPr/>
        </p:nvSpPr>
        <p:spPr>
          <a:xfrm>
            <a:off x="5301415" y="5885576"/>
            <a:ext cx="326627" cy="326627"/>
          </a:xfrm>
          <a:prstGeom prst="ellipse">
            <a:avLst/>
          </a:prstGeom>
          <a:solidFill>
            <a:srgbClr val="F4D6F0"/>
          </a:solidFill>
          <a:ln w="31406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interaction-graph:inter-right-low-screen-207"/>
          <p:cNvSpPr/>
          <p:nvPr/>
        </p:nvSpPr>
        <p:spPr>
          <a:xfrm>
            <a:off x="5373273" y="5994494"/>
            <a:ext cx="182911" cy="133917"/>
          </a:xfrm>
          <a:prstGeom prst="roundRect">
            <a:avLst>
              <a:gd name="adj" fmla="val 14071"/>
            </a:avLst>
          </a:prstGeom>
          <a:solidFill>
            <a:srgbClr val="FFFFFF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interaction-graph:inter-right-low-avatar-208"/>
          <p:cNvSpPr/>
          <p:nvPr/>
        </p:nvSpPr>
        <p:spPr>
          <a:xfrm>
            <a:off x="5397052" y="6032820"/>
            <a:ext cx="135354" cy="48210"/>
          </a:xfrm>
          <a:prstGeom prst="roundRect">
            <a:avLst>
              <a:gd name="adj" fmla="val 13028"/>
            </a:avLst>
          </a:prstGeom>
          <a:solidFill>
            <a:srgbClr val="222222"/>
          </a:solidFill>
          <a:ln w="6281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interaction-graph:inter-right-low-face-209"/>
          <p:cNvSpPr/>
          <p:nvPr/>
        </p:nvSpPr>
        <p:spPr>
          <a:xfrm>
            <a:off x="5431805" y="6038176"/>
            <a:ext cx="65848" cy="42854"/>
          </a:xfrm>
          <a:prstGeom prst="roundRect">
            <a:avLst>
              <a:gd name="adj" fmla="val 14657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interaction-graph:inter-right-low-eye-l-210"/>
          <p:cNvSpPr/>
          <p:nvPr/>
        </p:nvSpPr>
        <p:spPr>
          <a:xfrm>
            <a:off x="5444609" y="6047551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interaction-graph:inter-right-low-eye-r-211"/>
          <p:cNvSpPr/>
          <p:nvPr/>
        </p:nvSpPr>
        <p:spPr>
          <a:xfrm>
            <a:off x="5477533" y="6047551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interaction-graph:interaction-card-body-212"/>
          <p:cNvSpPr/>
          <p:nvPr/>
        </p:nvSpPr>
        <p:spPr>
          <a:xfrm>
            <a:off x="2682114" y="4736099"/>
            <a:ext cx="1193447" cy="1067821"/>
          </a:xfrm>
          <a:prstGeom prst="rect">
            <a:avLst/>
          </a:prstGeom>
          <a:solidFill>
            <a:srgbClr val="E2D5E7"/>
          </a:solidFill>
          <a:ln w="12562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interaction-graph:interaction-card-tail-213"/>
          <p:cNvSpPr/>
          <p:nvPr/>
        </p:nvSpPr>
        <p:spPr>
          <a:xfrm>
            <a:off x="3574058" y="5791357"/>
            <a:ext cx="188439" cy="138189"/>
          </a:xfrm>
          <a:custGeom>
            <a:avLst/>
            <a:gdLst/>
            <a:ahLst/>
            <a:cxnLst/>
            <a:rect l="l" t="t" r="r" b="b"/>
            <a:pathLst>
              <a:path w="30" h="22">
                <a:moveTo>
                  <a:pt x="0" y="0"/>
                </a:moveTo>
                <a:lnTo>
                  <a:pt x="30" y="22"/>
                </a:lnTo>
                <a:lnTo>
                  <a:pt x="24" y="0"/>
                </a:lnTo>
                <a:close/>
              </a:path>
            </a:pathLst>
          </a:custGeom>
          <a:solidFill>
            <a:srgbClr val="E2D5E7"/>
          </a:solidFill>
          <a:ln w="12562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interaction-graph:interaction-card-title-outline-214"/>
          <p:cNvSpPr/>
          <p:nvPr/>
        </p:nvSpPr>
        <p:spPr>
          <a:xfrm>
            <a:off x="2744927" y="4798912"/>
            <a:ext cx="816569" cy="182158"/>
          </a:xfrm>
          <a:prstGeom prst="rect">
            <a:avLst/>
          </a:prstGeom>
          <a:noFill/>
          <a:ln w="12562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interaction-graph:interaction-card-title-accent-215"/>
          <p:cNvSpPr/>
          <p:nvPr/>
        </p:nvSpPr>
        <p:spPr>
          <a:xfrm>
            <a:off x="2713521" y="4786349"/>
            <a:ext cx="816569" cy="194720"/>
          </a:xfrm>
          <a:prstGeom prst="rect">
            <a:avLst/>
          </a:prstGeom>
          <a:noFill/>
          <a:ln w="25125">
            <a:solidFill>
              <a:srgbClr val="8BAFD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interaction-graph:interaction-card-title-216"/>
          <p:cNvSpPr txBox="1"/>
          <p:nvPr/>
        </p:nvSpPr>
        <p:spPr>
          <a:xfrm>
            <a:off x="2776334" y="4798912"/>
            <a:ext cx="804006" cy="18843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28"/>
              </a:lnSpc>
              <a:spcBef>
                <a:spcPts val="0"/>
              </a:spcBef>
              <a:spcAft>
                <a:spcPts val="0"/>
              </a:spcAft>
              <a:defRPr sz="1137" b="1" i="0">
                <a:solidFill>
                  <a:srgbClr val="111111"/>
                </a:solidFill>
                <a:latin typeface="DejaVu Serif"/>
              </a:defRPr>
            </a:pPr>
            <a:r>
              <a:t>Interactions</a:t>
            </a:r>
          </a:p>
        </p:txBody>
      </p:sp>
      <p:sp>
        <p:nvSpPr>
          <p:cNvPr id="218" name="interaction-graph:interaction-card-copy-217"/>
          <p:cNvSpPr txBox="1"/>
          <p:nvPr/>
        </p:nvSpPr>
        <p:spPr>
          <a:xfrm>
            <a:off x="2757490" y="5050163"/>
            <a:ext cx="1042695" cy="7160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05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· CEO agent:</a:t>
            </a:r>
          </a:p>
          <a:p>
            <a:pPr algn="ctr">
              <a:lnSpc>
                <a:spcPts val="1005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  assigning tasks...</a:t>
            </a:r>
          </a:p>
          <a:p>
            <a:pPr algn="ctr">
              <a:lnSpc>
                <a:spcPts val="1005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· Thinker agent:</a:t>
            </a:r>
          </a:p>
          <a:p>
            <a:pPr algn="ctr">
              <a:lnSpc>
                <a:spcPts val="1005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  OK, I will...</a:t>
            </a:r>
          </a:p>
          <a:p>
            <a:pPr algn="ctr">
              <a:lnSpc>
                <a:spcPts val="1005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· Executor agent: ...</a:t>
            </a:r>
          </a:p>
        </p:txBody>
      </p:sp>
      <p:sp>
        <p:nvSpPr>
          <p:cNvPr id="219" name="interaction-graph:interaction-title-218"/>
          <p:cNvSpPr txBox="1"/>
          <p:nvPr/>
        </p:nvSpPr>
        <p:spPr>
          <a:xfrm>
            <a:off x="2820303" y="5910701"/>
            <a:ext cx="1130634" cy="4082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42"/>
              </a:lnSpc>
              <a:spcBef>
                <a:spcPts val="0"/>
              </a:spcBef>
              <a:spcAft>
                <a:spcPts val="0"/>
              </a:spcAft>
              <a:defRPr sz="1335" b="1" i="0">
                <a:solidFill>
                  <a:srgbClr val="5200C7"/>
                </a:solidFill>
                <a:latin typeface="DejaVu Serif"/>
              </a:defRPr>
            </a:pPr>
            <a:r>
              <a:t>Interaction</a:t>
            </a:r>
          </a:p>
          <a:p>
            <a:pPr algn="ctr">
              <a:lnSpc>
                <a:spcPts val="1442"/>
              </a:lnSpc>
              <a:spcBef>
                <a:spcPts val="0"/>
              </a:spcBef>
              <a:spcAft>
                <a:spcPts val="0"/>
              </a:spcAft>
              <a:defRPr sz="1335" b="1" i="0">
                <a:solidFill>
                  <a:srgbClr val="5200C7"/>
                </a:solidFill>
                <a:latin typeface="DejaVu Serif"/>
              </a:defRPr>
            </a:pPr>
            <a:r>
              <a:t>Graphs</a:t>
            </a:r>
          </a:p>
        </p:txBody>
      </p:sp>
      <p:sp>
        <p:nvSpPr>
          <p:cNvPr id="220" name="interaction-graph:interaction-formula-219"/>
          <p:cNvSpPr txBox="1"/>
          <p:nvPr/>
        </p:nvSpPr>
        <p:spPr>
          <a:xfrm>
            <a:off x="2638145" y="6375517"/>
            <a:ext cx="1507511" cy="2638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08"/>
              </a:lnSpc>
              <a:spcBef>
                <a:spcPts val="0"/>
              </a:spcBef>
              <a:spcAft>
                <a:spcPts val="0"/>
              </a:spcAft>
              <a:defRPr sz="840" b="0" i="1">
                <a:solidFill>
                  <a:srgbClr val="5200C7"/>
                </a:solidFill>
                <a:latin typeface="DejaVu Serif"/>
              </a:defRPr>
            </a:pPr>
            <a:r>
              <a:t>G_inter^(Q) = (U^(Q), E_u^(Q))</a:t>
            </a:r>
          </a:p>
        </p:txBody>
      </p:sp>
      <p:sp>
        <p:nvSpPr>
          <p:cNvPr id="221" name="distilled-insights:distilled-panel-layer-0-220"/>
          <p:cNvSpPr/>
          <p:nvPr/>
        </p:nvSpPr>
        <p:spPr>
          <a:xfrm>
            <a:off x="6124265" y="502504"/>
            <a:ext cx="3530089" cy="1501230"/>
          </a:xfrm>
          <a:prstGeom prst="rect">
            <a:avLst/>
          </a:prstGeom>
          <a:solidFill>
            <a:srgbClr val="D5E6D4">
              <a:alpha val="72000"/>
            </a:srgbClr>
          </a:solidFill>
          <a:ln w="12562">
            <a:solidFill>
              <a:srgbClr val="6C8C8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distilled-insights:distilled-panel-layer-1-221"/>
          <p:cNvSpPr/>
          <p:nvPr/>
        </p:nvSpPr>
        <p:spPr>
          <a:xfrm>
            <a:off x="6067734" y="445972"/>
            <a:ext cx="3530089" cy="1501230"/>
          </a:xfrm>
          <a:prstGeom prst="rect">
            <a:avLst/>
          </a:prstGeom>
          <a:solidFill>
            <a:srgbClr val="D5E6D4">
              <a:alpha val="72000"/>
            </a:srgbClr>
          </a:solidFill>
          <a:ln w="12562">
            <a:solidFill>
              <a:srgbClr val="6C8C8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distilled-insights:distilled-panel-layer-2-222"/>
          <p:cNvSpPr/>
          <p:nvPr/>
        </p:nvSpPr>
        <p:spPr>
          <a:xfrm>
            <a:off x="6011202" y="389440"/>
            <a:ext cx="3530089" cy="1501230"/>
          </a:xfrm>
          <a:prstGeom prst="rect">
            <a:avLst/>
          </a:prstGeom>
          <a:solidFill>
            <a:srgbClr val="D5E6D4"/>
          </a:solidFill>
          <a:ln w="12562">
            <a:solidFill>
              <a:srgbClr val="6C8C8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distilled-insights:distilled-title-223"/>
          <p:cNvSpPr txBox="1"/>
          <p:nvPr/>
        </p:nvSpPr>
        <p:spPr>
          <a:xfrm>
            <a:off x="6161953" y="527629"/>
            <a:ext cx="2198454" cy="2638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02"/>
              </a:lnSpc>
              <a:spcBef>
                <a:spcPts val="0"/>
              </a:spcBef>
              <a:spcAft>
                <a:spcPts val="0"/>
              </a:spcAft>
              <a:defRPr sz="1483" b="1" i="0">
                <a:solidFill>
                  <a:srgbClr val="303030"/>
                </a:solidFill>
                <a:latin typeface="DejaVu Serif"/>
              </a:defRPr>
            </a:pPr>
            <a:r>
              <a:t>Distilled Insights</a:t>
            </a:r>
          </a:p>
        </p:txBody>
      </p:sp>
      <p:sp>
        <p:nvSpPr>
          <p:cNvPr id="225" name="distilled-insights:bulb-1-bulb-224"/>
          <p:cNvSpPr/>
          <p:nvPr/>
        </p:nvSpPr>
        <p:spPr>
          <a:xfrm>
            <a:off x="6254916" y="807147"/>
            <a:ext cx="203514" cy="226127"/>
          </a:xfrm>
          <a:prstGeom prst="ellipse">
            <a:avLst/>
          </a:prstGeom>
          <a:solidFill>
            <a:srgbClr val="FFE380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distilled-insights:bulb-1-neck-225"/>
          <p:cNvSpPr/>
          <p:nvPr/>
        </p:nvSpPr>
        <p:spPr>
          <a:xfrm>
            <a:off x="6311448" y="999354"/>
            <a:ext cx="90451" cy="73491"/>
          </a:xfrm>
          <a:prstGeom prst="roundRect">
            <a:avLst>
              <a:gd name="adj" fmla="val 17094"/>
            </a:avLst>
          </a:prstGeom>
          <a:solidFill>
            <a:srgbClr val="D8D8D8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7" name="distilled-insights:bulb-1-base-16-226"/>
          <p:cNvCxnSpPr/>
          <p:nvPr/>
        </p:nvCxnSpPr>
        <p:spPr>
          <a:xfrm>
            <a:off x="6311448" y="1038927"/>
            <a:ext cx="90451" cy="0"/>
          </a:xfrm>
          <a:prstGeom prst="line">
            <a:avLst/>
          </a:prstGeom>
          <a:ln w="9421">
            <a:solidFill>
              <a:srgbClr val="111111"/>
            </a:solidFill>
          </a:ln>
          <a:effectLst/>
        </p:spPr>
      </p:cxnSp>
      <p:cxnSp>
        <p:nvCxnSpPr>
          <p:cNvPr id="228" name="distilled-insights:bulb-1-base-21-227"/>
          <p:cNvCxnSpPr/>
          <p:nvPr/>
        </p:nvCxnSpPr>
        <p:spPr>
          <a:xfrm>
            <a:off x="6311448" y="1067192"/>
            <a:ext cx="90451" cy="0"/>
          </a:xfrm>
          <a:prstGeom prst="line">
            <a:avLst/>
          </a:prstGeom>
          <a:ln w="9421">
            <a:solidFill>
              <a:srgbClr val="111111"/>
            </a:solidFill>
          </a:ln>
          <a:effectLst/>
        </p:spPr>
      </p:cxnSp>
      <p:cxnSp>
        <p:nvCxnSpPr>
          <p:cNvPr id="229" name="distilled-insights:bulb-1-base-26-228"/>
          <p:cNvCxnSpPr/>
          <p:nvPr/>
        </p:nvCxnSpPr>
        <p:spPr>
          <a:xfrm>
            <a:off x="6311448" y="1095458"/>
            <a:ext cx="90451" cy="0"/>
          </a:xfrm>
          <a:prstGeom prst="line">
            <a:avLst/>
          </a:prstGeom>
          <a:ln w="9421">
            <a:solidFill>
              <a:srgbClr val="111111"/>
            </a:solidFill>
          </a:ln>
          <a:effectLst/>
        </p:spPr>
      </p:cxnSp>
      <p:cxnSp>
        <p:nvCxnSpPr>
          <p:cNvPr id="230" name="distilled-insights:bulb-1-ray-0-229"/>
          <p:cNvCxnSpPr/>
          <p:nvPr/>
        </p:nvCxnSpPr>
        <p:spPr>
          <a:xfrm flipH="1" flipV="1">
            <a:off x="6170119" y="812800"/>
            <a:ext cx="39572" cy="28266"/>
          </a:xfrm>
          <a:prstGeom prst="line">
            <a:avLst/>
          </a:prstGeom>
          <a:ln w="9421">
            <a:solidFill>
              <a:srgbClr val="111111"/>
            </a:solidFill>
          </a:ln>
          <a:effectLst/>
        </p:spPr>
      </p:cxnSp>
      <p:cxnSp>
        <p:nvCxnSpPr>
          <p:cNvPr id="231" name="distilled-insights:bulb-1-ray-1-230"/>
          <p:cNvCxnSpPr/>
          <p:nvPr/>
        </p:nvCxnSpPr>
        <p:spPr>
          <a:xfrm flipV="1">
            <a:off x="6503656" y="812800"/>
            <a:ext cx="39572" cy="28266"/>
          </a:xfrm>
          <a:prstGeom prst="line">
            <a:avLst/>
          </a:prstGeom>
          <a:ln w="9421">
            <a:solidFill>
              <a:srgbClr val="111111"/>
            </a:solidFill>
          </a:ln>
          <a:effectLst/>
        </p:spPr>
      </p:cxnSp>
      <p:cxnSp>
        <p:nvCxnSpPr>
          <p:cNvPr id="232" name="distilled-insights:bulb-1-ray-2-231"/>
          <p:cNvCxnSpPr/>
          <p:nvPr/>
        </p:nvCxnSpPr>
        <p:spPr>
          <a:xfrm flipH="1">
            <a:off x="6147506" y="914557"/>
            <a:ext cx="45225" cy="0"/>
          </a:xfrm>
          <a:prstGeom prst="line">
            <a:avLst/>
          </a:prstGeom>
          <a:ln w="9421">
            <a:solidFill>
              <a:srgbClr val="111111"/>
            </a:solidFill>
          </a:ln>
          <a:effectLst/>
        </p:spPr>
      </p:cxnSp>
      <p:cxnSp>
        <p:nvCxnSpPr>
          <p:cNvPr id="233" name="distilled-insights:bulb-1-ray-3-232"/>
          <p:cNvCxnSpPr/>
          <p:nvPr/>
        </p:nvCxnSpPr>
        <p:spPr>
          <a:xfrm>
            <a:off x="6520615" y="914557"/>
            <a:ext cx="45226" cy="0"/>
          </a:xfrm>
          <a:prstGeom prst="line">
            <a:avLst/>
          </a:prstGeom>
          <a:ln w="9421">
            <a:solidFill>
              <a:srgbClr val="111111"/>
            </a:solidFill>
          </a:ln>
          <a:effectLst/>
        </p:spPr>
      </p:cxnSp>
      <p:cxnSp>
        <p:nvCxnSpPr>
          <p:cNvPr id="234" name="distilled-insights:bulb-1-ray-4-233"/>
          <p:cNvCxnSpPr/>
          <p:nvPr/>
        </p:nvCxnSpPr>
        <p:spPr>
          <a:xfrm flipH="1" flipV="1">
            <a:off x="6220997" y="739309"/>
            <a:ext cx="22613" cy="39572"/>
          </a:xfrm>
          <a:prstGeom prst="line">
            <a:avLst/>
          </a:prstGeom>
          <a:ln w="9421">
            <a:solidFill>
              <a:srgbClr val="111111"/>
            </a:solidFill>
          </a:ln>
          <a:effectLst/>
        </p:spPr>
      </p:cxnSp>
      <p:cxnSp>
        <p:nvCxnSpPr>
          <p:cNvPr id="235" name="distilled-insights:bulb-1-ray-5-234"/>
          <p:cNvCxnSpPr/>
          <p:nvPr/>
        </p:nvCxnSpPr>
        <p:spPr>
          <a:xfrm flipV="1">
            <a:off x="6469737" y="739309"/>
            <a:ext cx="22612" cy="39572"/>
          </a:xfrm>
          <a:prstGeom prst="line">
            <a:avLst/>
          </a:prstGeom>
          <a:ln w="9421">
            <a:solidFill>
              <a:srgbClr val="111111"/>
            </a:solidFill>
          </a:ln>
          <a:effectLst/>
        </p:spPr>
      </p:cxnSp>
      <p:sp>
        <p:nvSpPr>
          <p:cNvPr id="236" name="distilled-insights:insight-1-copy-235"/>
          <p:cNvSpPr txBox="1"/>
          <p:nvPr/>
        </p:nvSpPr>
        <p:spPr>
          <a:xfrm>
            <a:off x="6557675" y="804006"/>
            <a:ext cx="2010015" cy="5778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23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Insight 1: Clearly identify key</a:t>
            </a:r>
          </a:p>
          <a:p>
            <a:pPr algn="l">
              <a:lnSpc>
                <a:spcPts val="1023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entities and their roles, use</a:t>
            </a:r>
          </a:p>
          <a:p>
            <a:pPr algn="l">
              <a:lnSpc>
                <a:spcPts val="1023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specific names and titles</a:t>
            </a:r>
          </a:p>
        </p:txBody>
      </p:sp>
      <p:sp>
        <p:nvSpPr>
          <p:cNvPr id="237" name="distilled-insights:insight-1-from-236"/>
          <p:cNvSpPr txBox="1"/>
          <p:nvPr/>
        </p:nvSpPr>
        <p:spPr>
          <a:xfrm>
            <a:off x="8511158" y="917069"/>
            <a:ext cx="546473" cy="21356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1187" b="0" i="0">
                <a:solidFill>
                  <a:srgbClr val="303030"/>
                </a:solidFill>
                <a:latin typeface="DejaVu Serif"/>
              </a:defRPr>
            </a:pPr>
            <a:r>
              <a:t>from</a:t>
            </a:r>
          </a:p>
        </p:txBody>
      </p:sp>
      <p:sp>
        <p:nvSpPr>
          <p:cNvPr id="238" name="distilled-insights:source-crown-ring-237"/>
          <p:cNvSpPr/>
          <p:nvPr/>
        </p:nvSpPr>
        <p:spPr>
          <a:xfrm>
            <a:off x="8906880" y="816569"/>
            <a:ext cx="339190" cy="339190"/>
          </a:xfrm>
          <a:prstGeom prst="ellipse">
            <a:avLst/>
          </a:prstGeom>
          <a:solidFill>
            <a:srgbClr val="F4D6F0"/>
          </a:solidFill>
          <a:ln w="31406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istilled-insights:source-crown-screen-238"/>
          <p:cNvSpPr/>
          <p:nvPr/>
        </p:nvSpPr>
        <p:spPr>
          <a:xfrm>
            <a:off x="8981502" y="929192"/>
            <a:ext cx="189946" cy="139068"/>
          </a:xfrm>
          <a:prstGeom prst="roundRect">
            <a:avLst>
              <a:gd name="adj" fmla="val 13550"/>
            </a:avLst>
          </a:prstGeom>
          <a:solidFill>
            <a:srgbClr val="FFFFFF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istilled-insights:source-crown-avatar-239"/>
          <p:cNvSpPr/>
          <p:nvPr/>
        </p:nvSpPr>
        <p:spPr>
          <a:xfrm>
            <a:off x="9006195" y="969476"/>
            <a:ext cx="140560" cy="50064"/>
          </a:xfrm>
          <a:prstGeom prst="roundRect">
            <a:avLst>
              <a:gd name="adj" fmla="val 12546"/>
            </a:avLst>
          </a:prstGeom>
          <a:solidFill>
            <a:srgbClr val="3555E6"/>
          </a:solidFill>
          <a:ln w="6281">
            <a:solidFill>
              <a:srgbClr val="3555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istilled-insights:source-crown-face-240"/>
          <p:cNvSpPr/>
          <p:nvPr/>
        </p:nvSpPr>
        <p:spPr>
          <a:xfrm>
            <a:off x="9042285" y="975038"/>
            <a:ext cx="68381" cy="44502"/>
          </a:xfrm>
          <a:prstGeom prst="roundRect">
            <a:avLst>
              <a:gd name="adj" fmla="val 14114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istilled-insights:source-crown-eye-l-241"/>
          <p:cNvSpPr/>
          <p:nvPr/>
        </p:nvSpPr>
        <p:spPr>
          <a:xfrm>
            <a:off x="9055581" y="984773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distilled-insights:source-crown-eye-r-242"/>
          <p:cNvSpPr/>
          <p:nvPr/>
        </p:nvSpPr>
        <p:spPr>
          <a:xfrm>
            <a:off x="9089772" y="984773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distilled-insights:source-crown-crown-243"/>
          <p:cNvSpPr/>
          <p:nvPr/>
        </p:nvSpPr>
        <p:spPr>
          <a:xfrm>
            <a:off x="9021391" y="905504"/>
            <a:ext cx="106782" cy="31406"/>
          </a:xfrm>
          <a:custGeom>
            <a:avLst/>
            <a:gdLst/>
            <a:ahLst/>
            <a:cxnLst/>
            <a:rect l="l" t="t" r="r" b="b"/>
            <a:pathLst>
              <a:path w="17" h="5">
                <a:moveTo>
                  <a:pt x="0" y="5"/>
                </a:moveTo>
                <a:lnTo>
                  <a:pt x="3" y="1"/>
                </a:lnTo>
                <a:lnTo>
                  <a:pt x="8" y="5"/>
                </a:lnTo>
                <a:lnTo>
                  <a:pt x="12" y="0"/>
                </a:lnTo>
                <a:lnTo>
                  <a:pt x="17" y="5"/>
                </a:lnTo>
                <a:close/>
              </a:path>
            </a:pathLst>
          </a:custGeom>
          <a:solidFill>
            <a:srgbClr val="FFD84A"/>
          </a:solidFill>
          <a:ln w="12562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distilled-insights:bulb-2-bulb-244"/>
          <p:cNvSpPr/>
          <p:nvPr/>
        </p:nvSpPr>
        <p:spPr>
          <a:xfrm>
            <a:off x="6254916" y="1359901"/>
            <a:ext cx="203514" cy="226127"/>
          </a:xfrm>
          <a:prstGeom prst="ellipse">
            <a:avLst/>
          </a:prstGeom>
          <a:solidFill>
            <a:srgbClr val="FFE380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distilled-insights:bulb-2-neck-245"/>
          <p:cNvSpPr/>
          <p:nvPr/>
        </p:nvSpPr>
        <p:spPr>
          <a:xfrm>
            <a:off x="6311448" y="1552109"/>
            <a:ext cx="90451" cy="73491"/>
          </a:xfrm>
          <a:prstGeom prst="roundRect">
            <a:avLst>
              <a:gd name="adj" fmla="val 17094"/>
            </a:avLst>
          </a:prstGeom>
          <a:solidFill>
            <a:srgbClr val="D8D8D8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7" name="distilled-insights:bulb-2-base-16-246"/>
          <p:cNvCxnSpPr/>
          <p:nvPr/>
        </p:nvCxnSpPr>
        <p:spPr>
          <a:xfrm>
            <a:off x="6311448" y="1591681"/>
            <a:ext cx="90451" cy="0"/>
          </a:xfrm>
          <a:prstGeom prst="line">
            <a:avLst/>
          </a:prstGeom>
          <a:ln w="9421">
            <a:solidFill>
              <a:srgbClr val="111111"/>
            </a:solidFill>
          </a:ln>
          <a:effectLst/>
        </p:spPr>
      </p:cxnSp>
      <p:cxnSp>
        <p:nvCxnSpPr>
          <p:cNvPr id="248" name="distilled-insights:bulb-2-base-21-247"/>
          <p:cNvCxnSpPr/>
          <p:nvPr/>
        </p:nvCxnSpPr>
        <p:spPr>
          <a:xfrm>
            <a:off x="6311448" y="1619947"/>
            <a:ext cx="90451" cy="0"/>
          </a:xfrm>
          <a:prstGeom prst="line">
            <a:avLst/>
          </a:prstGeom>
          <a:ln w="9421">
            <a:solidFill>
              <a:srgbClr val="111111"/>
            </a:solidFill>
          </a:ln>
          <a:effectLst/>
        </p:spPr>
      </p:cxnSp>
      <p:cxnSp>
        <p:nvCxnSpPr>
          <p:cNvPr id="249" name="distilled-insights:bulb-2-base-26-248"/>
          <p:cNvCxnSpPr/>
          <p:nvPr/>
        </p:nvCxnSpPr>
        <p:spPr>
          <a:xfrm>
            <a:off x="6311448" y="1648213"/>
            <a:ext cx="90451" cy="0"/>
          </a:xfrm>
          <a:prstGeom prst="line">
            <a:avLst/>
          </a:prstGeom>
          <a:ln w="9421">
            <a:solidFill>
              <a:srgbClr val="111111"/>
            </a:solidFill>
          </a:ln>
          <a:effectLst/>
        </p:spPr>
      </p:cxnSp>
      <p:cxnSp>
        <p:nvCxnSpPr>
          <p:cNvPr id="250" name="distilled-insights:bulb-2-ray-0-249"/>
          <p:cNvCxnSpPr/>
          <p:nvPr/>
        </p:nvCxnSpPr>
        <p:spPr>
          <a:xfrm flipH="1" flipV="1">
            <a:off x="6170119" y="1365554"/>
            <a:ext cx="39572" cy="28266"/>
          </a:xfrm>
          <a:prstGeom prst="line">
            <a:avLst/>
          </a:prstGeom>
          <a:ln w="9421">
            <a:solidFill>
              <a:srgbClr val="111111"/>
            </a:solidFill>
          </a:ln>
          <a:effectLst/>
        </p:spPr>
      </p:cxnSp>
      <p:cxnSp>
        <p:nvCxnSpPr>
          <p:cNvPr id="251" name="distilled-insights:bulb-2-ray-1-250"/>
          <p:cNvCxnSpPr/>
          <p:nvPr/>
        </p:nvCxnSpPr>
        <p:spPr>
          <a:xfrm flipV="1">
            <a:off x="6503656" y="1365554"/>
            <a:ext cx="39572" cy="28266"/>
          </a:xfrm>
          <a:prstGeom prst="line">
            <a:avLst/>
          </a:prstGeom>
          <a:ln w="9421">
            <a:solidFill>
              <a:srgbClr val="111111"/>
            </a:solidFill>
          </a:ln>
          <a:effectLst/>
        </p:spPr>
      </p:cxnSp>
      <p:cxnSp>
        <p:nvCxnSpPr>
          <p:cNvPr id="252" name="distilled-insights:bulb-2-ray-2-251"/>
          <p:cNvCxnSpPr/>
          <p:nvPr/>
        </p:nvCxnSpPr>
        <p:spPr>
          <a:xfrm flipH="1">
            <a:off x="6147506" y="1467311"/>
            <a:ext cx="45225" cy="0"/>
          </a:xfrm>
          <a:prstGeom prst="line">
            <a:avLst/>
          </a:prstGeom>
          <a:ln w="9421">
            <a:solidFill>
              <a:srgbClr val="111111"/>
            </a:solidFill>
          </a:ln>
          <a:effectLst/>
        </p:spPr>
      </p:cxnSp>
      <p:cxnSp>
        <p:nvCxnSpPr>
          <p:cNvPr id="253" name="distilled-insights:bulb-2-ray-3-252"/>
          <p:cNvCxnSpPr/>
          <p:nvPr/>
        </p:nvCxnSpPr>
        <p:spPr>
          <a:xfrm>
            <a:off x="6520615" y="1467311"/>
            <a:ext cx="45226" cy="0"/>
          </a:xfrm>
          <a:prstGeom prst="line">
            <a:avLst/>
          </a:prstGeom>
          <a:ln w="9421">
            <a:solidFill>
              <a:srgbClr val="111111"/>
            </a:solidFill>
          </a:ln>
          <a:effectLst/>
        </p:spPr>
      </p:cxnSp>
      <p:cxnSp>
        <p:nvCxnSpPr>
          <p:cNvPr id="254" name="distilled-insights:bulb-2-ray-4-253"/>
          <p:cNvCxnSpPr/>
          <p:nvPr/>
        </p:nvCxnSpPr>
        <p:spPr>
          <a:xfrm flipH="1" flipV="1">
            <a:off x="6220997" y="1292063"/>
            <a:ext cx="22613" cy="39572"/>
          </a:xfrm>
          <a:prstGeom prst="line">
            <a:avLst/>
          </a:prstGeom>
          <a:ln w="9421">
            <a:solidFill>
              <a:srgbClr val="111111"/>
            </a:solidFill>
          </a:ln>
          <a:effectLst/>
        </p:spPr>
      </p:cxnSp>
      <p:cxnSp>
        <p:nvCxnSpPr>
          <p:cNvPr id="255" name="distilled-insights:bulb-2-ray-5-254"/>
          <p:cNvCxnSpPr/>
          <p:nvPr/>
        </p:nvCxnSpPr>
        <p:spPr>
          <a:xfrm flipV="1">
            <a:off x="6469737" y="1292063"/>
            <a:ext cx="22612" cy="39572"/>
          </a:xfrm>
          <a:prstGeom prst="line">
            <a:avLst/>
          </a:prstGeom>
          <a:ln w="9421">
            <a:solidFill>
              <a:srgbClr val="111111"/>
            </a:solidFill>
          </a:ln>
          <a:effectLst/>
        </p:spPr>
      </p:cxnSp>
      <p:sp>
        <p:nvSpPr>
          <p:cNvPr id="256" name="distilled-insights:insight-2-copy-255"/>
          <p:cNvSpPr txBox="1"/>
          <p:nvPr/>
        </p:nvSpPr>
        <p:spPr>
          <a:xfrm>
            <a:off x="6557675" y="1350479"/>
            <a:ext cx="1633137" cy="5087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23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Insight 2: Double-</a:t>
            </a:r>
          </a:p>
          <a:p>
            <a:pPr algn="l">
              <a:lnSpc>
                <a:spcPts val="1023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check the relevance</a:t>
            </a:r>
          </a:p>
          <a:p>
            <a:pPr algn="l">
              <a:lnSpc>
                <a:spcPts val="1023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of the search results</a:t>
            </a:r>
          </a:p>
        </p:txBody>
      </p:sp>
      <p:sp>
        <p:nvSpPr>
          <p:cNvPr id="257" name="distilled-insights:insight-2-from-256"/>
          <p:cNvSpPr txBox="1"/>
          <p:nvPr/>
        </p:nvSpPr>
        <p:spPr>
          <a:xfrm>
            <a:off x="7813934" y="1532637"/>
            <a:ext cx="452253" cy="21356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1187" b="0" i="0">
                <a:solidFill>
                  <a:srgbClr val="303030"/>
                </a:solidFill>
                <a:latin typeface="DejaVu Serif"/>
              </a:defRPr>
            </a:pPr>
            <a:r>
              <a:t>from</a:t>
            </a:r>
          </a:p>
        </p:txBody>
      </p:sp>
      <p:sp>
        <p:nvSpPr>
          <p:cNvPr id="258" name="distilled-insights:source-crown-2-ring-257"/>
          <p:cNvSpPr/>
          <p:nvPr/>
        </p:nvSpPr>
        <p:spPr>
          <a:xfrm>
            <a:off x="8253625" y="1407011"/>
            <a:ext cx="339190" cy="339190"/>
          </a:xfrm>
          <a:prstGeom prst="ellipse">
            <a:avLst/>
          </a:prstGeom>
          <a:solidFill>
            <a:srgbClr val="F4D6F0"/>
          </a:solidFill>
          <a:ln w="31406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distilled-insights:source-crown-2-screen-258"/>
          <p:cNvSpPr/>
          <p:nvPr/>
        </p:nvSpPr>
        <p:spPr>
          <a:xfrm>
            <a:off x="8328247" y="1519634"/>
            <a:ext cx="189946" cy="139068"/>
          </a:xfrm>
          <a:prstGeom prst="roundRect">
            <a:avLst>
              <a:gd name="adj" fmla="val 13550"/>
            </a:avLst>
          </a:prstGeom>
          <a:solidFill>
            <a:srgbClr val="FFFFFF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distilled-insights:source-crown-2-avatar-259"/>
          <p:cNvSpPr/>
          <p:nvPr/>
        </p:nvSpPr>
        <p:spPr>
          <a:xfrm>
            <a:off x="8352940" y="1559918"/>
            <a:ext cx="140560" cy="50064"/>
          </a:xfrm>
          <a:prstGeom prst="roundRect">
            <a:avLst>
              <a:gd name="adj" fmla="val 12546"/>
            </a:avLst>
          </a:prstGeom>
          <a:solidFill>
            <a:srgbClr val="3555E6"/>
          </a:solidFill>
          <a:ln w="6281">
            <a:solidFill>
              <a:srgbClr val="3555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distilled-insights:source-crown-2-face-260"/>
          <p:cNvSpPr/>
          <p:nvPr/>
        </p:nvSpPr>
        <p:spPr>
          <a:xfrm>
            <a:off x="8389030" y="1565480"/>
            <a:ext cx="68381" cy="44502"/>
          </a:xfrm>
          <a:prstGeom prst="roundRect">
            <a:avLst>
              <a:gd name="adj" fmla="val 14114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distilled-insights:source-crown-2-eye-l-261"/>
          <p:cNvSpPr/>
          <p:nvPr/>
        </p:nvSpPr>
        <p:spPr>
          <a:xfrm>
            <a:off x="8402326" y="1575215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distilled-insights:source-crown-2-eye-r-262"/>
          <p:cNvSpPr/>
          <p:nvPr/>
        </p:nvSpPr>
        <p:spPr>
          <a:xfrm>
            <a:off x="8436517" y="1575215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distilled-insights:source-crown-2-crown-263"/>
          <p:cNvSpPr/>
          <p:nvPr/>
        </p:nvSpPr>
        <p:spPr>
          <a:xfrm>
            <a:off x="8368136" y="1495946"/>
            <a:ext cx="106782" cy="31406"/>
          </a:xfrm>
          <a:custGeom>
            <a:avLst/>
            <a:gdLst/>
            <a:ahLst/>
            <a:cxnLst/>
            <a:rect l="l" t="t" r="r" b="b"/>
            <a:pathLst>
              <a:path w="17" h="5">
                <a:moveTo>
                  <a:pt x="0" y="5"/>
                </a:moveTo>
                <a:lnTo>
                  <a:pt x="3" y="1"/>
                </a:lnTo>
                <a:lnTo>
                  <a:pt x="8" y="5"/>
                </a:lnTo>
                <a:lnTo>
                  <a:pt x="12" y="0"/>
                </a:lnTo>
                <a:lnTo>
                  <a:pt x="17" y="5"/>
                </a:lnTo>
                <a:close/>
              </a:path>
            </a:pathLst>
          </a:custGeom>
          <a:solidFill>
            <a:srgbClr val="FFD84A"/>
          </a:solidFill>
          <a:ln w="12562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distilled-insights:source-and-264"/>
          <p:cNvSpPr txBox="1"/>
          <p:nvPr/>
        </p:nvSpPr>
        <p:spPr>
          <a:xfrm>
            <a:off x="8668191" y="1501230"/>
            <a:ext cx="314065" cy="2010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5"/>
              </a:lnSpc>
              <a:spcBef>
                <a:spcPts val="0"/>
              </a:spcBef>
              <a:spcAft>
                <a:spcPts val="0"/>
              </a:spcAft>
              <a:defRPr sz="1088" b="0" i="0">
                <a:solidFill>
                  <a:srgbClr val="303030"/>
                </a:solidFill>
                <a:latin typeface="DejaVu Serif"/>
              </a:defRPr>
            </a:pPr>
            <a:r>
              <a:t>and</a:t>
            </a:r>
          </a:p>
        </p:txBody>
      </p:sp>
      <p:sp>
        <p:nvSpPr>
          <p:cNvPr id="266" name="distilled-insights:source-pink-ring-265"/>
          <p:cNvSpPr/>
          <p:nvPr/>
        </p:nvSpPr>
        <p:spPr>
          <a:xfrm>
            <a:off x="8950849" y="1407011"/>
            <a:ext cx="339190" cy="339190"/>
          </a:xfrm>
          <a:prstGeom prst="ellipse">
            <a:avLst/>
          </a:prstGeom>
          <a:solidFill>
            <a:srgbClr val="F4D6F0"/>
          </a:solidFill>
          <a:ln w="31406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distilled-insights:source-pink-screen-266"/>
          <p:cNvSpPr/>
          <p:nvPr/>
        </p:nvSpPr>
        <p:spPr>
          <a:xfrm>
            <a:off x="9025471" y="1519634"/>
            <a:ext cx="189946" cy="139068"/>
          </a:xfrm>
          <a:prstGeom prst="roundRect">
            <a:avLst>
              <a:gd name="adj" fmla="val 13550"/>
            </a:avLst>
          </a:prstGeom>
          <a:solidFill>
            <a:srgbClr val="FFFFFF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distilled-insights:source-pink-avatar-267"/>
          <p:cNvSpPr/>
          <p:nvPr/>
        </p:nvSpPr>
        <p:spPr>
          <a:xfrm>
            <a:off x="9050164" y="1559918"/>
            <a:ext cx="140560" cy="50064"/>
          </a:xfrm>
          <a:prstGeom prst="roundRect">
            <a:avLst>
              <a:gd name="adj" fmla="val 12546"/>
            </a:avLst>
          </a:prstGeom>
          <a:solidFill>
            <a:srgbClr val="F04B7A"/>
          </a:solidFill>
          <a:ln w="6281">
            <a:solidFill>
              <a:srgbClr val="F04B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distilled-insights:source-pink-face-268"/>
          <p:cNvSpPr/>
          <p:nvPr/>
        </p:nvSpPr>
        <p:spPr>
          <a:xfrm>
            <a:off x="9086254" y="1565480"/>
            <a:ext cx="68381" cy="44502"/>
          </a:xfrm>
          <a:prstGeom prst="roundRect">
            <a:avLst>
              <a:gd name="adj" fmla="val 14114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distilled-insights:source-pink-eye-l-269"/>
          <p:cNvSpPr/>
          <p:nvPr/>
        </p:nvSpPr>
        <p:spPr>
          <a:xfrm>
            <a:off x="9099550" y="1575215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distilled-insights:source-pink-eye-r-270"/>
          <p:cNvSpPr/>
          <p:nvPr/>
        </p:nvSpPr>
        <p:spPr>
          <a:xfrm>
            <a:off x="9133741" y="1575215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memory-augmentation-top:distill-in-arrow-271"/>
          <p:cNvSpPr/>
          <p:nvPr/>
        </p:nvSpPr>
        <p:spPr>
          <a:xfrm>
            <a:off x="5659449" y="1457261"/>
            <a:ext cx="502504" cy="213564"/>
          </a:xfrm>
          <a:custGeom>
            <a:avLst/>
            <a:gdLst/>
            <a:ahLst/>
            <a:cxnLst/>
            <a:rect l="l" t="t" r="r" b="b"/>
            <a:pathLst>
              <a:path w="80" h="34">
                <a:moveTo>
                  <a:pt x="0" y="8"/>
                </a:moveTo>
                <a:lnTo>
                  <a:pt x="57" y="8"/>
                </a:lnTo>
                <a:lnTo>
                  <a:pt x="57" y="0"/>
                </a:lnTo>
                <a:lnTo>
                  <a:pt x="80" y="17"/>
                </a:lnTo>
                <a:lnTo>
                  <a:pt x="57" y="34"/>
                </a:lnTo>
                <a:lnTo>
                  <a:pt x="57" y="26"/>
                </a:lnTo>
                <a:lnTo>
                  <a:pt x="0" y="26"/>
                </a:lnTo>
                <a:close/>
              </a:path>
            </a:pathLst>
          </a:custGeom>
          <a:solidFill>
            <a:srgbClr val="FF9899"/>
          </a:solidFill>
          <a:ln w="18843">
            <a:solidFill>
              <a:srgbClr val="F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memory-augmentation-top:memory-augmentation-top-label-272"/>
          <p:cNvSpPr txBox="1"/>
          <p:nvPr/>
        </p:nvSpPr>
        <p:spPr>
          <a:xfrm>
            <a:off x="6790083" y="1991171"/>
            <a:ext cx="2261267" cy="2261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84" b="1" i="1">
                <a:solidFill>
                  <a:srgbClr val="F00000"/>
                </a:solidFill>
                <a:latin typeface="DejaVu Serif"/>
              </a:defRPr>
            </a:pPr>
            <a:r>
              <a:t>Memory    Augmentation</a:t>
            </a:r>
          </a:p>
        </p:txBody>
      </p:sp>
      <p:sp>
        <p:nvSpPr>
          <p:cNvPr id="274" name="multi-agent-system:system-panel-273"/>
          <p:cNvSpPr/>
          <p:nvPr/>
        </p:nvSpPr>
        <p:spPr>
          <a:xfrm>
            <a:off x="6061452" y="2242423"/>
            <a:ext cx="1790170" cy="2097953"/>
          </a:xfrm>
          <a:prstGeom prst="rect">
            <a:avLst/>
          </a:prstGeom>
          <a:solidFill>
            <a:srgbClr val="D8E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multi-agent-system:system-title-274"/>
          <p:cNvSpPr txBox="1"/>
          <p:nvPr/>
        </p:nvSpPr>
        <p:spPr>
          <a:xfrm>
            <a:off x="6174516" y="2336643"/>
            <a:ext cx="1570324" cy="4396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9"/>
              </a:lnSpc>
              <a:spcBef>
                <a:spcPts val="0"/>
              </a:spcBef>
              <a:spcAft>
                <a:spcPts val="0"/>
              </a:spcAft>
              <a:defRPr sz="1434" b="1" i="0">
                <a:solidFill>
                  <a:srgbClr val="303030"/>
                </a:solidFill>
                <a:latin typeface="DejaVu Serif"/>
              </a:defRPr>
            </a:pPr>
            <a:r>
              <a:t>Multi-agent</a:t>
            </a:r>
          </a:p>
          <a:p>
            <a:pPr algn="l">
              <a:lnSpc>
                <a:spcPts val="1549"/>
              </a:lnSpc>
              <a:spcBef>
                <a:spcPts val="0"/>
              </a:spcBef>
              <a:spcAft>
                <a:spcPts val="0"/>
              </a:spcAft>
              <a:defRPr sz="1434" b="1" i="0">
                <a:solidFill>
                  <a:srgbClr val="303030"/>
                </a:solidFill>
                <a:latin typeface="DejaVu Serif"/>
              </a:defRPr>
            </a:pPr>
            <a:r>
              <a:t>System G</a:t>
            </a:r>
          </a:p>
        </p:txBody>
      </p:sp>
      <p:cxnSp>
        <p:nvCxnSpPr>
          <p:cNvPr id="276" name="multi-agent-system:system-e-top-shaft-275"/>
          <p:cNvCxnSpPr/>
          <p:nvPr/>
        </p:nvCxnSpPr>
        <p:spPr>
          <a:xfrm flipV="1">
            <a:off x="6620488" y="3059951"/>
            <a:ext cx="521604" cy="5322"/>
          </a:xfrm>
          <a:prstGeom prst="line">
            <a:avLst/>
          </a:prstGeom>
          <a:ln w="62812">
            <a:solidFill>
              <a:srgbClr val="2A6BA6"/>
            </a:solidFill>
          </a:ln>
          <a:effectLst/>
        </p:spPr>
      </p:cxnSp>
      <p:sp>
        <p:nvSpPr>
          <p:cNvPr id="277" name="multi-agent-system:system-e-top-head-276"/>
          <p:cNvSpPr/>
          <p:nvPr/>
        </p:nvSpPr>
        <p:spPr>
          <a:xfrm>
            <a:off x="7128686" y="2971998"/>
            <a:ext cx="106782" cy="175876"/>
          </a:xfrm>
          <a:custGeom>
            <a:avLst/>
            <a:gdLst/>
            <a:ahLst/>
            <a:cxnLst/>
            <a:rect l="l" t="t" r="r" b="b"/>
            <a:pathLst>
              <a:path w="17" h="28">
                <a:moveTo>
                  <a:pt x="17" y="14"/>
                </a:move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2A6BA6">
              <a:alpha val="75000"/>
            </a:srgbClr>
          </a:solidFill>
          <a:ln w="6281">
            <a:solidFill>
              <a:srgbClr val="2A6B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8" name="multi-agent-system:system-e-right-shaft-277"/>
          <p:cNvCxnSpPr/>
          <p:nvPr/>
        </p:nvCxnSpPr>
        <p:spPr>
          <a:xfrm flipH="1">
            <a:off x="7300594" y="3209743"/>
            <a:ext cx="73650" cy="478723"/>
          </a:xfrm>
          <a:prstGeom prst="line">
            <a:avLst/>
          </a:prstGeom>
          <a:ln w="62812">
            <a:solidFill>
              <a:srgbClr val="2A6BA6"/>
            </a:solidFill>
          </a:ln>
          <a:effectLst/>
        </p:spPr>
      </p:cxnSp>
      <p:sp>
        <p:nvSpPr>
          <p:cNvPr id="279" name="multi-agent-system:system-e-right-head-278"/>
          <p:cNvSpPr/>
          <p:nvPr/>
        </p:nvSpPr>
        <p:spPr>
          <a:xfrm>
            <a:off x="7215435" y="3662709"/>
            <a:ext cx="175876" cy="119345"/>
          </a:xfrm>
          <a:custGeom>
            <a:avLst/>
            <a:gdLst/>
            <a:ahLst/>
            <a:cxnLst/>
            <a:rect l="l" t="t" r="r" b="b"/>
            <a:pathLst>
              <a:path w="28" h="19">
                <a:moveTo>
                  <a:pt x="11" y="19"/>
                </a:moveTo>
                <a:lnTo>
                  <a:pt x="0" y="0"/>
                </a:lnTo>
                <a:lnTo>
                  <a:pt x="28" y="4"/>
                </a:lnTo>
                <a:close/>
              </a:path>
            </a:pathLst>
          </a:custGeom>
          <a:solidFill>
            <a:srgbClr val="2A6BA6">
              <a:alpha val="75000"/>
            </a:srgbClr>
          </a:solidFill>
          <a:ln w="6281">
            <a:solidFill>
              <a:srgbClr val="2A6B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0" name="multi-agent-system:system-e-bottom-shaft-279"/>
          <p:cNvCxnSpPr/>
          <p:nvPr/>
        </p:nvCxnSpPr>
        <p:spPr>
          <a:xfrm flipH="1">
            <a:off x="6714456" y="3957218"/>
            <a:ext cx="490193" cy="0"/>
          </a:xfrm>
          <a:prstGeom prst="line">
            <a:avLst/>
          </a:prstGeom>
          <a:ln w="62812">
            <a:solidFill>
              <a:srgbClr val="2A6BA6"/>
            </a:solidFill>
          </a:ln>
          <a:effectLst/>
        </p:spPr>
      </p:cxnSp>
      <p:sp>
        <p:nvSpPr>
          <p:cNvPr id="281" name="multi-agent-system:system-e-bottom-head-280"/>
          <p:cNvSpPr/>
          <p:nvPr/>
        </p:nvSpPr>
        <p:spPr>
          <a:xfrm>
            <a:off x="6620488" y="3869133"/>
            <a:ext cx="106782" cy="175876"/>
          </a:xfrm>
          <a:custGeom>
            <a:avLst/>
            <a:gdLst/>
            <a:ahLst/>
            <a:cxnLst/>
            <a:rect l="l" t="t" r="r" b="b"/>
            <a:pathLst>
              <a:path w="17" h="28">
                <a:moveTo>
                  <a:pt x="0" y="14"/>
                </a:moveTo>
                <a:lnTo>
                  <a:pt x="17" y="0"/>
                </a:lnTo>
                <a:lnTo>
                  <a:pt x="17" y="28"/>
                </a:lnTo>
                <a:close/>
              </a:path>
            </a:pathLst>
          </a:custGeom>
          <a:solidFill>
            <a:srgbClr val="2A6BA6">
              <a:alpha val="75000"/>
            </a:srgbClr>
          </a:solidFill>
          <a:ln w="6281">
            <a:solidFill>
              <a:srgbClr val="2A6B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2" name="multi-agent-system:system-e-left-shaft-281"/>
          <p:cNvCxnSpPr/>
          <p:nvPr/>
        </p:nvCxnSpPr>
        <p:spPr>
          <a:xfrm flipV="1">
            <a:off x="6432049" y="3302971"/>
            <a:ext cx="63599" cy="503495"/>
          </a:xfrm>
          <a:prstGeom prst="line">
            <a:avLst/>
          </a:prstGeom>
          <a:ln w="62812">
            <a:solidFill>
              <a:srgbClr val="2A6BA6"/>
            </a:solidFill>
          </a:ln>
          <a:effectLst/>
        </p:spPr>
      </p:cxnSp>
      <p:sp>
        <p:nvSpPr>
          <p:cNvPr id="283" name="multi-agent-system:system-e-left-head-282"/>
          <p:cNvSpPr/>
          <p:nvPr/>
        </p:nvSpPr>
        <p:spPr>
          <a:xfrm>
            <a:off x="6406691" y="3209743"/>
            <a:ext cx="175876" cy="119345"/>
          </a:xfrm>
          <a:custGeom>
            <a:avLst/>
            <a:gdLst/>
            <a:ahLst/>
            <a:cxnLst/>
            <a:rect l="l" t="t" r="r" b="b"/>
            <a:pathLst>
              <a:path w="28" h="19">
                <a:moveTo>
                  <a:pt x="16" y="0"/>
                </a:moveTo>
                <a:lnTo>
                  <a:pt x="28" y="19"/>
                </a:lnTo>
                <a:lnTo>
                  <a:pt x="0" y="15"/>
                </a:lnTo>
                <a:close/>
              </a:path>
            </a:pathLst>
          </a:custGeom>
          <a:solidFill>
            <a:srgbClr val="2A6BA6">
              <a:alpha val="75000"/>
            </a:srgbClr>
          </a:solidFill>
          <a:ln w="6281">
            <a:solidFill>
              <a:srgbClr val="2A6B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multi-agent-system:system-a-ring-283"/>
          <p:cNvSpPr/>
          <p:nvPr/>
        </p:nvSpPr>
        <p:spPr>
          <a:xfrm>
            <a:off x="6187078" y="2814021"/>
            <a:ext cx="502504" cy="502504"/>
          </a:xfrm>
          <a:prstGeom prst="ellipse">
            <a:avLst/>
          </a:prstGeom>
          <a:solidFill>
            <a:srgbClr val="D8F47F"/>
          </a:solidFill>
          <a:ln w="31406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multi-agent-system:system-a-screen-284"/>
          <p:cNvSpPr/>
          <p:nvPr/>
        </p:nvSpPr>
        <p:spPr>
          <a:xfrm>
            <a:off x="6297629" y="2974823"/>
            <a:ext cx="281402" cy="206027"/>
          </a:xfrm>
          <a:prstGeom prst="roundRect">
            <a:avLst>
              <a:gd name="adj" fmla="val 9146"/>
            </a:avLst>
          </a:prstGeom>
          <a:solidFill>
            <a:srgbClr val="FFFFFF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multi-agent-system:system-a-avatar-285"/>
          <p:cNvSpPr/>
          <p:nvPr/>
        </p:nvSpPr>
        <p:spPr>
          <a:xfrm>
            <a:off x="6334211" y="3040550"/>
            <a:ext cx="208238" cy="74170"/>
          </a:xfrm>
          <a:prstGeom prst="roundRect">
            <a:avLst>
              <a:gd name="adj" fmla="val 8468"/>
            </a:avLst>
          </a:prstGeom>
          <a:solidFill>
            <a:srgbClr val="E745B9"/>
          </a:solidFill>
          <a:ln w="6281">
            <a:solidFill>
              <a:srgbClr val="E745B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multi-agent-system:system-a-face-286"/>
          <p:cNvSpPr/>
          <p:nvPr/>
        </p:nvSpPr>
        <p:spPr>
          <a:xfrm>
            <a:off x="6387678" y="3048791"/>
            <a:ext cx="101305" cy="65929"/>
          </a:xfrm>
          <a:prstGeom prst="roundRect">
            <a:avLst>
              <a:gd name="adj" fmla="val 9527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multi-agent-system:system-a-eye-l-287"/>
          <p:cNvSpPr/>
          <p:nvPr/>
        </p:nvSpPr>
        <p:spPr>
          <a:xfrm>
            <a:off x="6407376" y="3063213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multi-agent-system:system-a-eye-r-288"/>
          <p:cNvSpPr/>
          <p:nvPr/>
        </p:nvSpPr>
        <p:spPr>
          <a:xfrm>
            <a:off x="6458028" y="3063213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multi-agent-system:system-b-ring-289"/>
          <p:cNvSpPr/>
          <p:nvPr/>
        </p:nvSpPr>
        <p:spPr>
          <a:xfrm>
            <a:off x="7122992" y="2814021"/>
            <a:ext cx="502504" cy="502504"/>
          </a:xfrm>
          <a:prstGeom prst="ellipse">
            <a:avLst/>
          </a:prstGeom>
          <a:solidFill>
            <a:srgbClr val="39A7A2"/>
          </a:solidFill>
          <a:ln w="31406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multi-agent-system:system-b-screen-290"/>
          <p:cNvSpPr/>
          <p:nvPr/>
        </p:nvSpPr>
        <p:spPr>
          <a:xfrm>
            <a:off x="7233543" y="2974823"/>
            <a:ext cx="281402" cy="206027"/>
          </a:xfrm>
          <a:prstGeom prst="roundRect">
            <a:avLst>
              <a:gd name="adj" fmla="val 9146"/>
            </a:avLst>
          </a:prstGeom>
          <a:solidFill>
            <a:srgbClr val="FFFFFF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multi-agent-system:system-b-avatar-291"/>
          <p:cNvSpPr/>
          <p:nvPr/>
        </p:nvSpPr>
        <p:spPr>
          <a:xfrm>
            <a:off x="7270125" y="3040550"/>
            <a:ext cx="208238" cy="74170"/>
          </a:xfrm>
          <a:prstGeom prst="roundRect">
            <a:avLst>
              <a:gd name="adj" fmla="val 8468"/>
            </a:avLst>
          </a:prstGeom>
          <a:solidFill>
            <a:srgbClr val="F04B7A"/>
          </a:solidFill>
          <a:ln w="6281">
            <a:solidFill>
              <a:srgbClr val="F04B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multi-agent-system:system-b-face-292"/>
          <p:cNvSpPr/>
          <p:nvPr/>
        </p:nvSpPr>
        <p:spPr>
          <a:xfrm>
            <a:off x="7323591" y="3048791"/>
            <a:ext cx="101305" cy="65929"/>
          </a:xfrm>
          <a:prstGeom prst="roundRect">
            <a:avLst>
              <a:gd name="adj" fmla="val 9527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multi-agent-system:system-b-eye-l-293"/>
          <p:cNvSpPr/>
          <p:nvPr/>
        </p:nvSpPr>
        <p:spPr>
          <a:xfrm>
            <a:off x="7343289" y="3063213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multi-agent-system:system-b-eye-r-294"/>
          <p:cNvSpPr/>
          <p:nvPr/>
        </p:nvSpPr>
        <p:spPr>
          <a:xfrm>
            <a:off x="7393942" y="3063213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multi-agent-system:system-c-ring-295"/>
          <p:cNvSpPr/>
          <p:nvPr/>
        </p:nvSpPr>
        <p:spPr>
          <a:xfrm>
            <a:off x="6187078" y="3705966"/>
            <a:ext cx="502504" cy="502504"/>
          </a:xfrm>
          <a:prstGeom prst="ellipse">
            <a:avLst/>
          </a:prstGeom>
          <a:solidFill>
            <a:srgbClr val="90CC7E"/>
          </a:solidFill>
          <a:ln w="31406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multi-agent-system:system-c-screen-296"/>
          <p:cNvSpPr/>
          <p:nvPr/>
        </p:nvSpPr>
        <p:spPr>
          <a:xfrm>
            <a:off x="6297629" y="3866767"/>
            <a:ext cx="281402" cy="206027"/>
          </a:xfrm>
          <a:prstGeom prst="roundRect">
            <a:avLst>
              <a:gd name="adj" fmla="val 9146"/>
            </a:avLst>
          </a:prstGeom>
          <a:solidFill>
            <a:srgbClr val="FFFFFF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multi-agent-system:system-c-avatar-297"/>
          <p:cNvSpPr/>
          <p:nvPr/>
        </p:nvSpPr>
        <p:spPr>
          <a:xfrm>
            <a:off x="6334211" y="3932494"/>
            <a:ext cx="208238" cy="74170"/>
          </a:xfrm>
          <a:prstGeom prst="roundRect">
            <a:avLst>
              <a:gd name="adj" fmla="val 8468"/>
            </a:avLst>
          </a:prstGeom>
          <a:solidFill>
            <a:srgbClr val="F2CE17"/>
          </a:solidFill>
          <a:ln w="6281">
            <a:solidFill>
              <a:srgbClr val="F2CE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multi-agent-system:system-c-face-298"/>
          <p:cNvSpPr/>
          <p:nvPr/>
        </p:nvSpPr>
        <p:spPr>
          <a:xfrm>
            <a:off x="6387678" y="3940735"/>
            <a:ext cx="101305" cy="65929"/>
          </a:xfrm>
          <a:prstGeom prst="roundRect">
            <a:avLst>
              <a:gd name="adj" fmla="val 9527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multi-agent-system:system-c-eye-l-299"/>
          <p:cNvSpPr/>
          <p:nvPr/>
        </p:nvSpPr>
        <p:spPr>
          <a:xfrm>
            <a:off x="6407376" y="3955157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multi-agent-system:system-c-eye-r-300"/>
          <p:cNvSpPr/>
          <p:nvPr/>
        </p:nvSpPr>
        <p:spPr>
          <a:xfrm>
            <a:off x="6458028" y="3955157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multi-agent-system:system-d-ring-301"/>
          <p:cNvSpPr/>
          <p:nvPr/>
        </p:nvSpPr>
        <p:spPr>
          <a:xfrm>
            <a:off x="7122992" y="3705966"/>
            <a:ext cx="502504" cy="502504"/>
          </a:xfrm>
          <a:prstGeom prst="ellipse">
            <a:avLst/>
          </a:prstGeom>
          <a:solidFill>
            <a:srgbClr val="276F99"/>
          </a:solidFill>
          <a:ln w="31406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multi-agent-system:system-d-screen-302"/>
          <p:cNvSpPr/>
          <p:nvPr/>
        </p:nvSpPr>
        <p:spPr>
          <a:xfrm>
            <a:off x="7233543" y="3866767"/>
            <a:ext cx="281402" cy="206027"/>
          </a:xfrm>
          <a:prstGeom prst="roundRect">
            <a:avLst>
              <a:gd name="adj" fmla="val 9146"/>
            </a:avLst>
          </a:prstGeom>
          <a:solidFill>
            <a:srgbClr val="FFFFFF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multi-agent-system:system-d-avatar-303"/>
          <p:cNvSpPr/>
          <p:nvPr/>
        </p:nvSpPr>
        <p:spPr>
          <a:xfrm>
            <a:off x="7270125" y="3932494"/>
            <a:ext cx="208238" cy="74170"/>
          </a:xfrm>
          <a:prstGeom prst="roundRect">
            <a:avLst>
              <a:gd name="adj" fmla="val 8468"/>
            </a:avLst>
          </a:prstGeom>
          <a:solidFill>
            <a:srgbClr val="3555E6"/>
          </a:solidFill>
          <a:ln w="6281">
            <a:solidFill>
              <a:srgbClr val="3555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multi-agent-system:system-d-face-304"/>
          <p:cNvSpPr/>
          <p:nvPr/>
        </p:nvSpPr>
        <p:spPr>
          <a:xfrm>
            <a:off x="7323591" y="3940735"/>
            <a:ext cx="101305" cy="65929"/>
          </a:xfrm>
          <a:prstGeom prst="roundRect">
            <a:avLst>
              <a:gd name="adj" fmla="val 9527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multi-agent-system:system-d-eye-l-305"/>
          <p:cNvSpPr/>
          <p:nvPr/>
        </p:nvSpPr>
        <p:spPr>
          <a:xfrm>
            <a:off x="7343289" y="3955157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multi-agent-system:system-d-eye-r-306"/>
          <p:cNvSpPr/>
          <p:nvPr/>
        </p:nvSpPr>
        <p:spPr>
          <a:xfrm>
            <a:off x="7393942" y="3955157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multi-agent-system:system-d-crown-307"/>
          <p:cNvSpPr/>
          <p:nvPr/>
        </p:nvSpPr>
        <p:spPr>
          <a:xfrm>
            <a:off x="7292637" y="3837722"/>
            <a:ext cx="163314" cy="50250"/>
          </a:xfrm>
          <a:custGeom>
            <a:avLst/>
            <a:gdLst/>
            <a:ahLst/>
            <a:cxnLst/>
            <a:rect l="l" t="t" r="r" b="b"/>
            <a:pathLst>
              <a:path w="26" h="8">
                <a:moveTo>
                  <a:pt x="0" y="7"/>
                </a:moveTo>
                <a:lnTo>
                  <a:pt x="5" y="1"/>
                </a:lnTo>
                <a:lnTo>
                  <a:pt x="12" y="7"/>
                </a:lnTo>
                <a:lnTo>
                  <a:pt x="18" y="0"/>
                </a:lnTo>
                <a:lnTo>
                  <a:pt x="26" y="8"/>
                </a:lnTo>
                <a:close/>
              </a:path>
            </a:pathLst>
          </a:custGeom>
          <a:solidFill>
            <a:srgbClr val="FFD84A"/>
          </a:solidFill>
          <a:ln w="12562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multi-agent-system:iteration-label-308"/>
          <p:cNvSpPr txBox="1"/>
          <p:nvPr/>
        </p:nvSpPr>
        <p:spPr>
          <a:xfrm>
            <a:off x="6595363" y="3341650"/>
            <a:ext cx="929632" cy="33290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84" b="0" i="1">
                <a:solidFill>
                  <a:srgbClr val="4A4A4A"/>
                </a:solidFill>
                <a:latin typeface="DejaVu Serif"/>
              </a:defRPr>
            </a:pPr>
            <a:r>
              <a:t>Iteration</a:t>
            </a:r>
          </a:p>
        </p:txBody>
      </p:sp>
      <p:sp>
        <p:nvSpPr>
          <p:cNvPr id="310" name="output-feedback:output-panel-309"/>
          <p:cNvSpPr/>
          <p:nvPr/>
        </p:nvSpPr>
        <p:spPr>
          <a:xfrm>
            <a:off x="7945842" y="2242423"/>
            <a:ext cx="1721076" cy="2097953"/>
          </a:xfrm>
          <a:prstGeom prst="rect">
            <a:avLst/>
          </a:prstGeom>
          <a:solidFill>
            <a:srgbClr val="D8E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output-feedback:output-icon-board-310"/>
          <p:cNvSpPr/>
          <p:nvPr/>
        </p:nvSpPr>
        <p:spPr>
          <a:xfrm>
            <a:off x="8065186" y="2361768"/>
            <a:ext cx="251252" cy="326627"/>
          </a:xfrm>
          <a:prstGeom prst="roundRect">
            <a:avLst>
              <a:gd name="adj" fmla="val 12500"/>
            </a:avLst>
          </a:prstGeom>
          <a:solidFill>
            <a:srgbClr val="F09B79"/>
          </a:solidFill>
          <a:ln w="15703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output-feedback:output-icon-paper-311"/>
          <p:cNvSpPr/>
          <p:nvPr/>
        </p:nvSpPr>
        <p:spPr>
          <a:xfrm>
            <a:off x="8102874" y="2405737"/>
            <a:ext cx="175876" cy="232408"/>
          </a:xfrm>
          <a:prstGeom prst="roundRect">
            <a:avLst>
              <a:gd name="adj" fmla="val 3571"/>
            </a:avLst>
          </a:prstGeom>
          <a:solidFill>
            <a:srgbClr val="E8F5F5"/>
          </a:solidFill>
          <a:ln w="9421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output-feedback:output-icon-clip-312"/>
          <p:cNvSpPr/>
          <p:nvPr/>
        </p:nvSpPr>
        <p:spPr>
          <a:xfrm>
            <a:off x="8121718" y="2330361"/>
            <a:ext cx="138189" cy="75376"/>
          </a:xfrm>
          <a:prstGeom prst="roundRect">
            <a:avLst>
              <a:gd name="adj" fmla="val 33333"/>
            </a:avLst>
          </a:prstGeom>
          <a:solidFill>
            <a:srgbClr val="6C8C9C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output-feedback:output-icon-clip-dot1-313"/>
          <p:cNvSpPr/>
          <p:nvPr/>
        </p:nvSpPr>
        <p:spPr>
          <a:xfrm>
            <a:off x="8140562" y="2349205"/>
            <a:ext cx="31406" cy="31406"/>
          </a:xfrm>
          <a:prstGeom prst="ellipse">
            <a:avLst/>
          </a:prstGeom>
          <a:solidFill>
            <a:srgbClr val="FFD84A"/>
          </a:solidFill>
          <a:ln w="6281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output-feedback:output-icon-clip-dot2-314"/>
          <p:cNvSpPr/>
          <p:nvPr/>
        </p:nvSpPr>
        <p:spPr>
          <a:xfrm>
            <a:off x="8209656" y="2349205"/>
            <a:ext cx="31406" cy="31406"/>
          </a:xfrm>
          <a:prstGeom prst="ellipse">
            <a:avLst/>
          </a:prstGeom>
          <a:solidFill>
            <a:srgbClr val="FFD84A"/>
          </a:solidFill>
          <a:ln w="6281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6" name="output-feedback:output-icon-line-0-315"/>
          <p:cNvCxnSpPr/>
          <p:nvPr/>
        </p:nvCxnSpPr>
        <p:spPr>
          <a:xfrm>
            <a:off x="8134281" y="2468550"/>
            <a:ext cx="113063" cy="0"/>
          </a:xfrm>
          <a:prstGeom prst="line">
            <a:avLst/>
          </a:prstGeom>
          <a:ln w="10050">
            <a:solidFill>
              <a:srgbClr val="707070"/>
            </a:solidFill>
          </a:ln>
          <a:effectLst/>
        </p:spPr>
      </p:cxnSp>
      <p:cxnSp>
        <p:nvCxnSpPr>
          <p:cNvPr id="317" name="output-feedback:output-icon-line-1-316"/>
          <p:cNvCxnSpPr/>
          <p:nvPr/>
        </p:nvCxnSpPr>
        <p:spPr>
          <a:xfrm>
            <a:off x="8134281" y="2525082"/>
            <a:ext cx="113063" cy="0"/>
          </a:xfrm>
          <a:prstGeom prst="line">
            <a:avLst/>
          </a:prstGeom>
          <a:ln w="10050">
            <a:solidFill>
              <a:srgbClr val="707070"/>
            </a:solidFill>
          </a:ln>
          <a:effectLst/>
        </p:spPr>
      </p:cxnSp>
      <p:cxnSp>
        <p:nvCxnSpPr>
          <p:cNvPr id="318" name="output-feedback:output-icon-line-2-317"/>
          <p:cNvCxnSpPr/>
          <p:nvPr/>
        </p:nvCxnSpPr>
        <p:spPr>
          <a:xfrm>
            <a:off x="8134281" y="2581613"/>
            <a:ext cx="113063" cy="0"/>
          </a:xfrm>
          <a:prstGeom prst="line">
            <a:avLst/>
          </a:prstGeom>
          <a:ln w="10050">
            <a:solidFill>
              <a:srgbClr val="707070"/>
            </a:solidFill>
          </a:ln>
          <a:effectLst/>
        </p:spPr>
      </p:cxnSp>
      <p:sp>
        <p:nvSpPr>
          <p:cNvPr id="319" name="output-feedback:output-icon-check-318"/>
          <p:cNvSpPr/>
          <p:nvPr/>
        </p:nvSpPr>
        <p:spPr>
          <a:xfrm>
            <a:off x="8285032" y="2342924"/>
            <a:ext cx="106782" cy="106782"/>
          </a:xfrm>
          <a:prstGeom prst="ellipse">
            <a:avLst/>
          </a:prstGeom>
          <a:solidFill>
            <a:srgbClr val="72CE7C"/>
          </a:solidFill>
          <a:ln w="9421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output-feedback:output-icon-checkmark-319"/>
          <p:cNvSpPr txBox="1"/>
          <p:nvPr/>
        </p:nvSpPr>
        <p:spPr>
          <a:xfrm>
            <a:off x="8285032" y="2324080"/>
            <a:ext cx="106782" cy="12562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801"/>
              </a:lnSpc>
              <a:spcBef>
                <a:spcPts val="0"/>
              </a:spcBef>
              <a:spcAft>
                <a:spcPts val="0"/>
              </a:spcAft>
              <a:defRPr sz="741" b="1" i="0">
                <a:solidFill>
                  <a:srgbClr val="006400"/>
                </a:solidFill>
                <a:latin typeface="DejaVu Sans"/>
              </a:defRPr>
            </a:pPr>
            <a:r>
              <a:t>✓</a:t>
            </a:r>
          </a:p>
        </p:txBody>
      </p:sp>
      <p:sp>
        <p:nvSpPr>
          <p:cNvPr id="321" name="output-feedback:output-title-320"/>
          <p:cNvSpPr txBox="1"/>
          <p:nvPr/>
        </p:nvSpPr>
        <p:spPr>
          <a:xfrm>
            <a:off x="8404376" y="2298955"/>
            <a:ext cx="1168321" cy="4271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02"/>
              </a:lnSpc>
              <a:spcBef>
                <a:spcPts val="0"/>
              </a:spcBef>
              <a:spcAft>
                <a:spcPts val="0"/>
              </a:spcAft>
              <a:defRPr sz="1483" b="1" i="0">
                <a:solidFill>
                  <a:srgbClr val="303030"/>
                </a:solidFill>
                <a:latin typeface="DejaVu Serif"/>
              </a:defRPr>
            </a:pPr>
            <a:r>
              <a:t>Output</a:t>
            </a:r>
          </a:p>
          <a:p>
            <a:pPr algn="l">
              <a:lnSpc>
                <a:spcPts val="1602"/>
              </a:lnSpc>
              <a:spcBef>
                <a:spcPts val="0"/>
              </a:spcBef>
              <a:spcAft>
                <a:spcPts val="0"/>
              </a:spcAft>
              <a:defRPr sz="1483" b="1" i="0">
                <a:solidFill>
                  <a:srgbClr val="303030"/>
                </a:solidFill>
                <a:latin typeface="DejaVu Serif"/>
              </a:defRPr>
            </a:pPr>
            <a:r>
              <a:t>Solution</a:t>
            </a:r>
          </a:p>
        </p:txBody>
      </p:sp>
      <p:sp>
        <p:nvSpPr>
          <p:cNvPr id="322" name="output-feedback:output-copy-321"/>
          <p:cNvSpPr txBox="1"/>
          <p:nvPr/>
        </p:nvSpPr>
        <p:spPr>
          <a:xfrm>
            <a:off x="8065186" y="2732365"/>
            <a:ext cx="1476105" cy="596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32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Since both are confirmed</a:t>
            </a:r>
          </a:p>
          <a:p>
            <a:pPr algn="l">
              <a:lnSpc>
                <a:spcPts val="1032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as film directors from</a:t>
            </a:r>
          </a:p>
          <a:p>
            <a:pPr algn="l">
              <a:lnSpc>
                <a:spcPts val="1032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their respective countries,</a:t>
            </a:r>
          </a:p>
          <a:p>
            <a:pPr algn="l">
              <a:lnSpc>
                <a:spcPts val="1032"/>
              </a:lnSpc>
              <a:spcBef>
                <a:spcPts val="0"/>
              </a:spcBef>
              <a:spcAft>
                <a:spcPts val="0"/>
              </a:spcAft>
              <a:defRPr sz="890" b="0" i="0">
                <a:solidFill>
                  <a:srgbClr val="111111"/>
                </a:solidFill>
                <a:latin typeface="DejaVu Sans"/>
              </a:defRPr>
            </a:pPr>
            <a:r>
              <a:t>the answer is Yes.</a:t>
            </a:r>
          </a:p>
        </p:txBody>
      </p:sp>
      <p:sp>
        <p:nvSpPr>
          <p:cNvPr id="323" name="output-feedback:feedback-icon-hand-322"/>
          <p:cNvSpPr/>
          <p:nvPr/>
        </p:nvSpPr>
        <p:spPr>
          <a:xfrm>
            <a:off x="8109155" y="3504964"/>
            <a:ext cx="138189" cy="213564"/>
          </a:xfrm>
          <a:prstGeom prst="roundRect">
            <a:avLst>
              <a:gd name="adj" fmla="val 22727"/>
            </a:avLst>
          </a:prstGeom>
          <a:solidFill>
            <a:srgbClr val="FFD7B8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output-feedback:feedback-icon-thumb-323"/>
          <p:cNvSpPr/>
          <p:nvPr/>
        </p:nvSpPr>
        <p:spPr>
          <a:xfrm>
            <a:off x="8058905" y="3561496"/>
            <a:ext cx="94219" cy="81657"/>
          </a:xfrm>
          <a:prstGeom prst="roundRect">
            <a:avLst>
              <a:gd name="adj" fmla="val 30769"/>
            </a:avLst>
          </a:prstGeom>
          <a:solidFill>
            <a:srgbClr val="FFD7B8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output-feedback:feedback-icon-cuff-324"/>
          <p:cNvSpPr/>
          <p:nvPr/>
        </p:nvSpPr>
        <p:spPr>
          <a:xfrm>
            <a:off x="8209656" y="3643153"/>
            <a:ext cx="94219" cy="106782"/>
          </a:xfrm>
          <a:prstGeom prst="roundRect">
            <a:avLst>
              <a:gd name="adj" fmla="val 13333"/>
            </a:avLst>
          </a:prstGeom>
          <a:solidFill>
            <a:srgbClr val="F18A8A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output-feedback:feedback-icon-spark-0-325"/>
          <p:cNvSpPr/>
          <p:nvPr/>
        </p:nvSpPr>
        <p:spPr>
          <a:xfrm>
            <a:off x="8398095" y="3548933"/>
            <a:ext cx="25125" cy="25125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output-feedback:feedback-icon-spark-1-326"/>
          <p:cNvSpPr/>
          <p:nvPr/>
        </p:nvSpPr>
        <p:spPr>
          <a:xfrm>
            <a:off x="8357267" y="3619650"/>
            <a:ext cx="25125" cy="25125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output-feedback:feedback-icon-spark-2-327"/>
          <p:cNvSpPr/>
          <p:nvPr/>
        </p:nvSpPr>
        <p:spPr>
          <a:xfrm>
            <a:off x="8275610" y="3619650"/>
            <a:ext cx="25125" cy="25125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output-feedback:feedback-icon-spark-3-328"/>
          <p:cNvSpPr/>
          <p:nvPr/>
        </p:nvSpPr>
        <p:spPr>
          <a:xfrm>
            <a:off x="8234781" y="3548933"/>
            <a:ext cx="25125" cy="25125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output-feedback:feedback-icon-spark-4-329"/>
          <p:cNvSpPr/>
          <p:nvPr/>
        </p:nvSpPr>
        <p:spPr>
          <a:xfrm>
            <a:off x="8275610" y="3478216"/>
            <a:ext cx="25125" cy="25125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output-feedback:feedback-icon-spark-5-330"/>
          <p:cNvSpPr/>
          <p:nvPr/>
        </p:nvSpPr>
        <p:spPr>
          <a:xfrm>
            <a:off x="8357267" y="3478216"/>
            <a:ext cx="25125" cy="25125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output-feedback:feedback-title-331"/>
          <p:cNvSpPr txBox="1"/>
          <p:nvPr/>
        </p:nvSpPr>
        <p:spPr>
          <a:xfrm>
            <a:off x="8391814" y="3391901"/>
            <a:ext cx="1224853" cy="4334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9"/>
              </a:lnSpc>
              <a:spcBef>
                <a:spcPts val="0"/>
              </a:spcBef>
              <a:spcAft>
                <a:spcPts val="0"/>
              </a:spcAft>
              <a:defRPr sz="1434" b="1" i="0">
                <a:solidFill>
                  <a:srgbClr val="303030"/>
                </a:solidFill>
                <a:latin typeface="DejaVu Serif"/>
              </a:defRPr>
            </a:pPr>
            <a:r>
              <a:t>Environment</a:t>
            </a:r>
          </a:p>
          <a:p>
            <a:pPr algn="l">
              <a:lnSpc>
                <a:spcPts val="1549"/>
              </a:lnSpc>
              <a:spcBef>
                <a:spcPts val="0"/>
              </a:spcBef>
              <a:spcAft>
                <a:spcPts val="0"/>
              </a:spcAft>
              <a:defRPr sz="1434" b="1" i="0">
                <a:solidFill>
                  <a:srgbClr val="303030"/>
                </a:solidFill>
                <a:latin typeface="DejaVu Serif"/>
              </a:defRPr>
            </a:pPr>
            <a:r>
              <a:t>Feedback</a:t>
            </a:r>
          </a:p>
        </p:txBody>
      </p:sp>
      <p:sp>
        <p:nvSpPr>
          <p:cNvPr id="333" name="output-feedback:feedback-copy-332"/>
          <p:cNvSpPr txBox="1"/>
          <p:nvPr/>
        </p:nvSpPr>
        <p:spPr>
          <a:xfrm>
            <a:off x="8115437" y="3831592"/>
            <a:ext cx="1381886" cy="445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65" b="0" i="0">
                <a:solidFill>
                  <a:srgbClr val="303030"/>
                </a:solidFill>
                <a:latin typeface="DejaVu Sans"/>
              </a:defRPr>
            </a:pPr>
            <a:r>
              <a:t>· Execution: Success</a:t>
            </a:r>
          </a:p>
          <a:p>
            <a:pPr algn="l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65" b="0" i="0">
                <a:solidFill>
                  <a:srgbClr val="303030"/>
                </a:solidFill>
                <a:latin typeface="DejaVu Sans"/>
              </a:defRPr>
            </a:pPr>
            <a:r>
              <a:t>· Token cost: 3,345</a:t>
            </a:r>
          </a:p>
          <a:p>
            <a:pPr algn="l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65" b="0" i="0">
                <a:solidFill>
                  <a:srgbClr val="303030"/>
                </a:solidFill>
                <a:latin typeface="DejaVu Sans"/>
              </a:defRPr>
            </a:pPr>
            <a:r>
              <a:t>· Tool calls: 3 ...</a:t>
            </a:r>
          </a:p>
        </p:txBody>
      </p:sp>
      <p:sp>
        <p:nvSpPr>
          <p:cNvPr id="334" name="output-feedback:system-output-arrow-333"/>
          <p:cNvSpPr/>
          <p:nvPr/>
        </p:nvSpPr>
        <p:spPr>
          <a:xfrm>
            <a:off x="7807653" y="3398182"/>
            <a:ext cx="232408" cy="213564"/>
          </a:xfrm>
          <a:custGeom>
            <a:avLst/>
            <a:gdLst/>
            <a:ahLst/>
            <a:cxnLst/>
            <a:rect l="l" t="t" r="r" b="b"/>
            <a:pathLst>
              <a:path w="37" h="34">
                <a:moveTo>
                  <a:pt x="0" y="8"/>
                </a:moveTo>
                <a:lnTo>
                  <a:pt x="17" y="8"/>
                </a:lnTo>
                <a:lnTo>
                  <a:pt x="17" y="0"/>
                </a:lnTo>
                <a:lnTo>
                  <a:pt x="37" y="17"/>
                </a:lnTo>
                <a:lnTo>
                  <a:pt x="17" y="34"/>
                </a:lnTo>
                <a:lnTo>
                  <a:pt x="17" y="26"/>
                </a:lnTo>
                <a:lnTo>
                  <a:pt x="0" y="26"/>
                </a:lnTo>
                <a:close/>
              </a:path>
            </a:pathLst>
          </a:custGeom>
          <a:solidFill>
            <a:srgbClr val="FF9899"/>
          </a:solidFill>
          <a:ln w="18843">
            <a:solidFill>
              <a:srgbClr val="F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output-feedback:augmentation-down-334"/>
          <p:cNvSpPr/>
          <p:nvPr/>
        </p:nvSpPr>
        <p:spPr>
          <a:xfrm>
            <a:off x="7575245" y="1802732"/>
            <a:ext cx="213564" cy="628130"/>
          </a:xfrm>
          <a:custGeom>
            <a:avLst/>
            <a:gdLst/>
            <a:ahLst/>
            <a:cxnLst/>
            <a:rect l="l" t="t" r="r" b="b"/>
            <a:pathLst>
              <a:path w="34" h="100">
                <a:moveTo>
                  <a:pt x="8" y="0"/>
                </a:moveTo>
                <a:lnTo>
                  <a:pt x="8" y="76"/>
                </a:lnTo>
                <a:lnTo>
                  <a:pt x="0" y="76"/>
                </a:lnTo>
                <a:lnTo>
                  <a:pt x="17" y="100"/>
                </a:lnTo>
                <a:lnTo>
                  <a:pt x="34" y="76"/>
                </a:lnTo>
                <a:lnTo>
                  <a:pt x="26" y="76"/>
                </a:lnTo>
                <a:lnTo>
                  <a:pt x="26" y="0"/>
                </a:lnTo>
                <a:close/>
              </a:path>
            </a:pathLst>
          </a:custGeom>
          <a:solidFill>
            <a:srgbClr val="FF9899"/>
          </a:solidFill>
          <a:ln w="18843">
            <a:solidFill>
              <a:srgbClr val="F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trajectory-condensation:trajectory-panel-layer-0-335"/>
          <p:cNvSpPr/>
          <p:nvPr/>
        </p:nvSpPr>
        <p:spPr>
          <a:xfrm>
            <a:off x="6124265" y="4792630"/>
            <a:ext cx="3561496" cy="1922077"/>
          </a:xfrm>
          <a:prstGeom prst="rect">
            <a:avLst/>
          </a:prstGeom>
          <a:solidFill>
            <a:srgbClr val="E2D5E7">
              <a:alpha val="72000"/>
            </a:srgbClr>
          </a:solidFill>
          <a:ln w="12562">
            <a:solidFill>
              <a:srgbClr val="C28A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trajectory-condensation:trajectory-panel-layer-1-336"/>
          <p:cNvSpPr/>
          <p:nvPr/>
        </p:nvSpPr>
        <p:spPr>
          <a:xfrm>
            <a:off x="6067734" y="4736099"/>
            <a:ext cx="3561496" cy="1922077"/>
          </a:xfrm>
          <a:prstGeom prst="rect">
            <a:avLst/>
          </a:prstGeom>
          <a:solidFill>
            <a:srgbClr val="E2D5E7">
              <a:alpha val="72000"/>
            </a:srgbClr>
          </a:solidFill>
          <a:ln w="12562">
            <a:solidFill>
              <a:srgbClr val="C28A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trajectory-condensation:trajectory-panel-layer-2-337"/>
          <p:cNvSpPr/>
          <p:nvPr/>
        </p:nvSpPr>
        <p:spPr>
          <a:xfrm>
            <a:off x="6011202" y="4679567"/>
            <a:ext cx="3561496" cy="1922077"/>
          </a:xfrm>
          <a:prstGeom prst="rect">
            <a:avLst/>
          </a:prstGeom>
          <a:solidFill>
            <a:srgbClr val="E2D5E7"/>
          </a:solidFill>
          <a:ln w="12562">
            <a:solidFill>
              <a:srgbClr val="C28A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trajectory-condensation:trajectory-title-338"/>
          <p:cNvSpPr txBox="1"/>
          <p:nvPr/>
        </p:nvSpPr>
        <p:spPr>
          <a:xfrm>
            <a:off x="7286305" y="4880568"/>
            <a:ext cx="2167048" cy="27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9"/>
              </a:lnSpc>
              <a:spcBef>
                <a:spcPts val="0"/>
              </a:spcBef>
              <a:spcAft>
                <a:spcPts val="0"/>
              </a:spcAft>
              <a:defRPr sz="1434" b="1" i="0">
                <a:solidFill>
                  <a:srgbClr val="303030"/>
                </a:solidFill>
                <a:latin typeface="DejaVu Serif"/>
              </a:defRPr>
            </a:pPr>
            <a:r>
              <a:t>Trajectory Condensation</a:t>
            </a:r>
          </a:p>
        </p:txBody>
      </p:sp>
      <p:sp>
        <p:nvSpPr>
          <p:cNvPr id="340" name="trajectory-condensation:core-path-circle-339"/>
          <p:cNvSpPr/>
          <p:nvPr/>
        </p:nvSpPr>
        <p:spPr>
          <a:xfrm>
            <a:off x="6256173" y="5043882"/>
            <a:ext cx="1350479" cy="1350479"/>
          </a:xfrm>
          <a:prstGeom prst="ellipse">
            <a:avLst/>
          </a:prstGeom>
          <a:solidFill>
            <a:srgbClr val="F5DFEC"/>
          </a:solidFill>
          <a:ln w="31406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trajectory-condensation:core-a-ring-340"/>
          <p:cNvSpPr/>
          <p:nvPr/>
        </p:nvSpPr>
        <p:spPr>
          <a:xfrm>
            <a:off x="6852896" y="5106695"/>
            <a:ext cx="226127" cy="226127"/>
          </a:xfrm>
          <a:prstGeom prst="ellipse">
            <a:avLst/>
          </a:prstGeom>
          <a:solidFill>
            <a:srgbClr val="F4D6F0"/>
          </a:solidFill>
          <a:ln w="31406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trajectory-condensation:core-a-screen-341"/>
          <p:cNvSpPr/>
          <p:nvPr/>
        </p:nvSpPr>
        <p:spPr>
          <a:xfrm>
            <a:off x="6902644" y="5185965"/>
            <a:ext cx="126631" cy="92712"/>
          </a:xfrm>
          <a:prstGeom prst="roundRect">
            <a:avLst>
              <a:gd name="adj" fmla="val 20325"/>
            </a:avLst>
          </a:prstGeom>
          <a:solidFill>
            <a:srgbClr val="FFFFFF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trajectory-condensation:core-a-avatar-342"/>
          <p:cNvSpPr/>
          <p:nvPr/>
        </p:nvSpPr>
        <p:spPr>
          <a:xfrm>
            <a:off x="6919106" y="5208633"/>
            <a:ext cx="93707" cy="33376"/>
          </a:xfrm>
          <a:prstGeom prst="roundRect">
            <a:avLst>
              <a:gd name="adj" fmla="val 18819"/>
            </a:avLst>
          </a:prstGeom>
          <a:solidFill>
            <a:srgbClr val="3555E6"/>
          </a:solidFill>
          <a:ln w="6281">
            <a:solidFill>
              <a:srgbClr val="3555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trajectory-condensation:core-a-face-343"/>
          <p:cNvSpPr/>
          <p:nvPr/>
        </p:nvSpPr>
        <p:spPr>
          <a:xfrm>
            <a:off x="6943166" y="5212342"/>
            <a:ext cx="45587" cy="29668"/>
          </a:xfrm>
          <a:prstGeom prst="roundRect">
            <a:avLst>
              <a:gd name="adj" fmla="val 21172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trajectory-condensation:core-a-eye-l-344"/>
          <p:cNvSpPr/>
          <p:nvPr/>
        </p:nvSpPr>
        <p:spPr>
          <a:xfrm>
            <a:off x="6952030" y="5218831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trajectory-condensation:core-a-eye-r-345"/>
          <p:cNvSpPr/>
          <p:nvPr/>
        </p:nvSpPr>
        <p:spPr>
          <a:xfrm>
            <a:off x="6974823" y="5218831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trajectory-condensation:core-a-crown-346"/>
          <p:cNvSpPr/>
          <p:nvPr/>
        </p:nvSpPr>
        <p:spPr>
          <a:xfrm>
            <a:off x="6929236" y="5165986"/>
            <a:ext cx="69094" cy="25125"/>
          </a:xfrm>
          <a:custGeom>
            <a:avLst/>
            <a:gdLst/>
            <a:ahLst/>
            <a:cxnLst/>
            <a:rect l="l" t="t" r="r" b="b"/>
            <a:pathLst>
              <a:path w="11" h="4">
                <a:moveTo>
                  <a:pt x="0" y="3"/>
                </a:moveTo>
                <a:lnTo>
                  <a:pt x="2" y="0"/>
                </a:lnTo>
                <a:lnTo>
                  <a:pt x="5" y="3"/>
                </a:lnTo>
                <a:lnTo>
                  <a:pt x="8" y="0"/>
                </a:lnTo>
                <a:lnTo>
                  <a:pt x="11" y="4"/>
                </a:lnTo>
                <a:close/>
              </a:path>
            </a:pathLst>
          </a:custGeom>
          <a:solidFill>
            <a:srgbClr val="FFD84A"/>
          </a:solidFill>
          <a:ln w="12562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trajectory-condensation:core-b-ring-347"/>
          <p:cNvSpPr/>
          <p:nvPr/>
        </p:nvSpPr>
        <p:spPr>
          <a:xfrm>
            <a:off x="6438330" y="5339103"/>
            <a:ext cx="226127" cy="226127"/>
          </a:xfrm>
          <a:prstGeom prst="ellipse">
            <a:avLst/>
          </a:prstGeom>
          <a:solidFill>
            <a:srgbClr val="F4D6F0"/>
          </a:solidFill>
          <a:ln w="31406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trajectory-condensation:core-b-screen-348"/>
          <p:cNvSpPr/>
          <p:nvPr/>
        </p:nvSpPr>
        <p:spPr>
          <a:xfrm>
            <a:off x="6488078" y="5418373"/>
            <a:ext cx="126631" cy="92712"/>
          </a:xfrm>
          <a:prstGeom prst="roundRect">
            <a:avLst>
              <a:gd name="adj" fmla="val 20325"/>
            </a:avLst>
          </a:prstGeom>
          <a:solidFill>
            <a:srgbClr val="FFFFFF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trajectory-condensation:core-b-avatar-349"/>
          <p:cNvSpPr/>
          <p:nvPr/>
        </p:nvSpPr>
        <p:spPr>
          <a:xfrm>
            <a:off x="6504540" y="5441041"/>
            <a:ext cx="93707" cy="33376"/>
          </a:xfrm>
          <a:prstGeom prst="roundRect">
            <a:avLst>
              <a:gd name="adj" fmla="val 18819"/>
            </a:avLst>
          </a:prstGeom>
          <a:solidFill>
            <a:srgbClr val="F04B7A"/>
          </a:solidFill>
          <a:ln w="6281">
            <a:solidFill>
              <a:srgbClr val="F04B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trajectory-condensation:core-b-face-350"/>
          <p:cNvSpPr/>
          <p:nvPr/>
        </p:nvSpPr>
        <p:spPr>
          <a:xfrm>
            <a:off x="6528600" y="5444750"/>
            <a:ext cx="45587" cy="29668"/>
          </a:xfrm>
          <a:prstGeom prst="roundRect">
            <a:avLst>
              <a:gd name="adj" fmla="val 21172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trajectory-condensation:core-b-eye-l-351"/>
          <p:cNvSpPr/>
          <p:nvPr/>
        </p:nvSpPr>
        <p:spPr>
          <a:xfrm>
            <a:off x="6537464" y="5451239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trajectory-condensation:core-b-eye-r-352"/>
          <p:cNvSpPr/>
          <p:nvPr/>
        </p:nvSpPr>
        <p:spPr>
          <a:xfrm>
            <a:off x="6560258" y="5451239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trajectory-condensation:core-c-ring-353"/>
          <p:cNvSpPr/>
          <p:nvPr/>
        </p:nvSpPr>
        <p:spPr>
          <a:xfrm>
            <a:off x="6840333" y="5609199"/>
            <a:ext cx="226127" cy="226127"/>
          </a:xfrm>
          <a:prstGeom prst="ellipse">
            <a:avLst/>
          </a:prstGeom>
          <a:solidFill>
            <a:srgbClr val="F4D6F0"/>
          </a:solidFill>
          <a:ln w="31406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trajectory-condensation:core-c-screen-354"/>
          <p:cNvSpPr/>
          <p:nvPr/>
        </p:nvSpPr>
        <p:spPr>
          <a:xfrm>
            <a:off x="6890081" y="5688469"/>
            <a:ext cx="126631" cy="92712"/>
          </a:xfrm>
          <a:prstGeom prst="roundRect">
            <a:avLst>
              <a:gd name="adj" fmla="val 20325"/>
            </a:avLst>
          </a:prstGeom>
          <a:solidFill>
            <a:srgbClr val="FFFFFF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trajectory-condensation:core-c-avatar-355"/>
          <p:cNvSpPr/>
          <p:nvPr/>
        </p:nvSpPr>
        <p:spPr>
          <a:xfrm>
            <a:off x="6906543" y="5711137"/>
            <a:ext cx="93707" cy="33376"/>
          </a:xfrm>
          <a:prstGeom prst="roundRect">
            <a:avLst>
              <a:gd name="adj" fmla="val 18819"/>
            </a:avLst>
          </a:prstGeom>
          <a:solidFill>
            <a:srgbClr val="3555E6"/>
          </a:solidFill>
          <a:ln w="6281">
            <a:solidFill>
              <a:srgbClr val="3555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trajectory-condensation:core-c-face-356"/>
          <p:cNvSpPr/>
          <p:nvPr/>
        </p:nvSpPr>
        <p:spPr>
          <a:xfrm>
            <a:off x="6930603" y="5714845"/>
            <a:ext cx="45587" cy="29668"/>
          </a:xfrm>
          <a:prstGeom prst="roundRect">
            <a:avLst>
              <a:gd name="adj" fmla="val 21172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trajectory-condensation:core-c-eye-l-357"/>
          <p:cNvSpPr/>
          <p:nvPr/>
        </p:nvSpPr>
        <p:spPr>
          <a:xfrm>
            <a:off x="6939467" y="5721335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trajectory-condensation:core-c-eye-r-358"/>
          <p:cNvSpPr/>
          <p:nvPr/>
        </p:nvSpPr>
        <p:spPr>
          <a:xfrm>
            <a:off x="6962261" y="5721335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trajectory-condensation:core-c-crown-359"/>
          <p:cNvSpPr/>
          <p:nvPr/>
        </p:nvSpPr>
        <p:spPr>
          <a:xfrm>
            <a:off x="6916674" y="5668489"/>
            <a:ext cx="69094" cy="25125"/>
          </a:xfrm>
          <a:custGeom>
            <a:avLst/>
            <a:gdLst/>
            <a:ahLst/>
            <a:cxnLst/>
            <a:rect l="l" t="t" r="r" b="b"/>
            <a:pathLst>
              <a:path w="11" h="4">
                <a:moveTo>
                  <a:pt x="0" y="3"/>
                </a:moveTo>
                <a:lnTo>
                  <a:pt x="2" y="0"/>
                </a:lnTo>
                <a:lnTo>
                  <a:pt x="5" y="3"/>
                </a:lnTo>
                <a:lnTo>
                  <a:pt x="8" y="0"/>
                </a:lnTo>
                <a:lnTo>
                  <a:pt x="11" y="4"/>
                </a:lnTo>
                <a:close/>
              </a:path>
            </a:pathLst>
          </a:custGeom>
          <a:solidFill>
            <a:srgbClr val="FFD84A"/>
          </a:solidFill>
          <a:ln w="12562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trajectory-condensation:core-d-ring-360"/>
          <p:cNvSpPr/>
          <p:nvPr/>
        </p:nvSpPr>
        <p:spPr>
          <a:xfrm>
            <a:off x="7242336" y="5885576"/>
            <a:ext cx="226127" cy="226127"/>
          </a:xfrm>
          <a:prstGeom prst="ellipse">
            <a:avLst/>
          </a:prstGeom>
          <a:solidFill>
            <a:srgbClr val="F4D6F0"/>
          </a:solidFill>
          <a:ln w="31406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2" name="trajectory-condensation:core-d-screen-361"/>
          <p:cNvSpPr/>
          <p:nvPr/>
        </p:nvSpPr>
        <p:spPr>
          <a:xfrm>
            <a:off x="7292084" y="5964846"/>
            <a:ext cx="126631" cy="92712"/>
          </a:xfrm>
          <a:prstGeom prst="roundRect">
            <a:avLst>
              <a:gd name="adj" fmla="val 20325"/>
            </a:avLst>
          </a:prstGeom>
          <a:solidFill>
            <a:srgbClr val="FFFFFF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trajectory-condensation:core-d-avatar-362"/>
          <p:cNvSpPr/>
          <p:nvPr/>
        </p:nvSpPr>
        <p:spPr>
          <a:xfrm>
            <a:off x="7308546" y="5987514"/>
            <a:ext cx="93707" cy="33376"/>
          </a:xfrm>
          <a:prstGeom prst="roundRect">
            <a:avLst>
              <a:gd name="adj" fmla="val 18819"/>
            </a:avLst>
          </a:prstGeom>
          <a:solidFill>
            <a:srgbClr val="222222"/>
          </a:solidFill>
          <a:ln w="6281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trajectory-condensation:core-d-face-363"/>
          <p:cNvSpPr/>
          <p:nvPr/>
        </p:nvSpPr>
        <p:spPr>
          <a:xfrm>
            <a:off x="7332606" y="5991222"/>
            <a:ext cx="45587" cy="29668"/>
          </a:xfrm>
          <a:prstGeom prst="roundRect">
            <a:avLst>
              <a:gd name="adj" fmla="val 21172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trajectory-condensation:core-d-eye-l-364"/>
          <p:cNvSpPr/>
          <p:nvPr/>
        </p:nvSpPr>
        <p:spPr>
          <a:xfrm>
            <a:off x="7341470" y="5997712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trajectory-condensation:core-d-eye-r-365"/>
          <p:cNvSpPr/>
          <p:nvPr/>
        </p:nvSpPr>
        <p:spPr>
          <a:xfrm>
            <a:off x="7364264" y="5997712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7" name="trajectory-condensation:core-e1-shaft-366"/>
          <p:cNvCxnSpPr/>
          <p:nvPr/>
        </p:nvCxnSpPr>
        <p:spPr>
          <a:xfrm flipH="1">
            <a:off x="6679398" y="5270009"/>
            <a:ext cx="186060" cy="101004"/>
          </a:xfrm>
          <a:prstGeom prst="line">
            <a:avLst/>
          </a:prstGeom>
          <a:ln w="18843">
            <a:solidFill>
              <a:srgbClr val="707070"/>
            </a:solidFill>
          </a:ln>
          <a:effectLst/>
        </p:spPr>
      </p:cxnSp>
      <p:sp>
        <p:nvSpPr>
          <p:cNvPr id="368" name="trajectory-condensation:core-e1-head-367"/>
          <p:cNvSpPr/>
          <p:nvPr/>
        </p:nvSpPr>
        <p:spPr>
          <a:xfrm>
            <a:off x="6645613" y="5336903"/>
            <a:ext cx="56532" cy="62813"/>
          </a:xfrm>
          <a:custGeom>
            <a:avLst/>
            <a:gdLst/>
            <a:ahLst/>
            <a:cxnLst/>
            <a:rect l="l" t="t" r="r" b="b"/>
            <a:pathLst>
              <a:path w="9" h="10">
                <a:moveTo>
                  <a:pt x="0" y="8"/>
                </a:moveTo>
                <a:lnTo>
                  <a:pt x="3" y="0"/>
                </a:lnTo>
                <a:lnTo>
                  <a:pt x="9" y="10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9" name="trajectory-condensation:core-e2-shaft-368"/>
          <p:cNvCxnSpPr/>
          <p:nvPr/>
        </p:nvCxnSpPr>
        <p:spPr>
          <a:xfrm>
            <a:off x="6639332" y="5514979"/>
            <a:ext cx="175297" cy="116865"/>
          </a:xfrm>
          <a:prstGeom prst="line">
            <a:avLst/>
          </a:prstGeom>
          <a:ln w="18843">
            <a:solidFill>
              <a:srgbClr val="707070"/>
            </a:solidFill>
          </a:ln>
          <a:effectLst/>
        </p:spPr>
      </p:cxnSp>
      <p:sp>
        <p:nvSpPr>
          <p:cNvPr id="370" name="trajectory-condensation:core-e2-head-369"/>
          <p:cNvSpPr/>
          <p:nvPr/>
        </p:nvSpPr>
        <p:spPr>
          <a:xfrm>
            <a:off x="6790383" y="5599024"/>
            <a:ext cx="56532" cy="62813"/>
          </a:xfrm>
          <a:custGeom>
            <a:avLst/>
            <a:gdLst/>
            <a:ahLst/>
            <a:cxnLst/>
            <a:rect l="l" t="t" r="r" b="b"/>
            <a:pathLst>
              <a:path w="9" h="10">
                <a:moveTo>
                  <a:pt x="9" y="9"/>
                </a:moveTo>
                <a:lnTo>
                  <a:pt x="0" y="10"/>
                </a:lnTo>
                <a:lnTo>
                  <a:pt x="6" y="0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1" name="trajectory-condensation:core-e3-shaft-370"/>
          <p:cNvCxnSpPr/>
          <p:nvPr/>
        </p:nvCxnSpPr>
        <p:spPr>
          <a:xfrm>
            <a:off x="7060179" y="5778794"/>
            <a:ext cx="158421" cy="126737"/>
          </a:xfrm>
          <a:prstGeom prst="line">
            <a:avLst/>
          </a:prstGeom>
          <a:ln w="18843">
            <a:solidFill>
              <a:srgbClr val="707070"/>
            </a:solidFill>
          </a:ln>
          <a:effectLst/>
        </p:spPr>
      </p:cxnSp>
      <p:sp>
        <p:nvSpPr>
          <p:cNvPr id="372" name="trajectory-condensation:core-e3-head-371"/>
          <p:cNvSpPr/>
          <p:nvPr/>
        </p:nvSpPr>
        <p:spPr>
          <a:xfrm>
            <a:off x="7192094" y="5874196"/>
            <a:ext cx="56532" cy="56532"/>
          </a:xfrm>
          <a:custGeom>
            <a:avLst/>
            <a:gdLst/>
            <a:ahLst/>
            <a:cxnLst/>
            <a:rect l="l" t="t" r="r" b="b"/>
            <a:pathLst>
              <a:path w="9" h="9">
                <a:moveTo>
                  <a:pt x="9" y="9"/>
                </a:moveTo>
                <a:lnTo>
                  <a:pt x="0" y="9"/>
                </a:lnTo>
                <a:lnTo>
                  <a:pt x="7" y="0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trajectory-condensation:core-empty-0-372"/>
          <p:cNvSpPr/>
          <p:nvPr/>
        </p:nvSpPr>
        <p:spPr>
          <a:xfrm>
            <a:off x="7210930" y="5357947"/>
            <a:ext cx="213564" cy="213564"/>
          </a:xfrm>
          <a:prstGeom prst="ellipse">
            <a:avLst/>
          </a:prstGeom>
          <a:solidFill>
            <a:srgbClr val="F5F5F5"/>
          </a:solidFill>
          <a:ln w="12562">
            <a:solidFill>
              <a:srgbClr val="7F7F7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trajectory-condensation:core-empty-1-373"/>
          <p:cNvSpPr/>
          <p:nvPr/>
        </p:nvSpPr>
        <p:spPr>
          <a:xfrm>
            <a:off x="6457174" y="5860451"/>
            <a:ext cx="213564" cy="213564"/>
          </a:xfrm>
          <a:prstGeom prst="ellipse">
            <a:avLst/>
          </a:prstGeom>
          <a:solidFill>
            <a:srgbClr val="F5F5F5"/>
          </a:solidFill>
          <a:ln w="12562">
            <a:solidFill>
              <a:srgbClr val="7F7F7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trajectory-condensation:core-empty-2-374"/>
          <p:cNvSpPr/>
          <p:nvPr/>
        </p:nvSpPr>
        <p:spPr>
          <a:xfrm>
            <a:off x="6865458" y="6105421"/>
            <a:ext cx="213564" cy="213564"/>
          </a:xfrm>
          <a:prstGeom prst="ellipse">
            <a:avLst/>
          </a:prstGeom>
          <a:solidFill>
            <a:srgbClr val="F5F5F5"/>
          </a:solidFill>
          <a:ln w="12562">
            <a:solidFill>
              <a:srgbClr val="7F7F7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6" name="trajectory-condensation:core-path-label-375"/>
          <p:cNvSpPr txBox="1"/>
          <p:nvPr/>
        </p:nvSpPr>
        <p:spPr>
          <a:xfrm rot="5400000">
            <a:off x="5973514" y="5251165"/>
            <a:ext cx="251252" cy="10678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42"/>
              </a:lnSpc>
              <a:spcBef>
                <a:spcPts val="0"/>
              </a:spcBef>
              <a:spcAft>
                <a:spcPts val="0"/>
              </a:spcAft>
              <a:defRPr sz="1335" b="1" i="0">
                <a:solidFill>
                  <a:srgbClr val="F00000"/>
                </a:solidFill>
                <a:latin typeface="DejaVu Serif"/>
              </a:defRPr>
            </a:pPr>
            <a:r>
              <a:t>Core Path</a:t>
            </a:r>
          </a:p>
          <a:p>
            <a:pPr algn="ctr">
              <a:lnSpc>
                <a:spcPts val="1442"/>
              </a:lnSpc>
              <a:spcBef>
                <a:spcPts val="0"/>
              </a:spcBef>
              <a:spcAft>
                <a:spcPts val="0"/>
              </a:spcAft>
              <a:defRPr sz="1335" b="1" i="0">
                <a:solidFill>
                  <a:srgbClr val="F00000"/>
                </a:solidFill>
                <a:latin typeface="DejaVu Serif"/>
              </a:defRPr>
            </a:pPr>
            <a:r>
              <a:t>Extraction</a:t>
            </a:r>
          </a:p>
        </p:txBody>
      </p:sp>
      <p:sp>
        <p:nvSpPr>
          <p:cNvPr id="377" name="trajectory-condensation:handshake-left-hand-376"/>
          <p:cNvSpPr/>
          <p:nvPr/>
        </p:nvSpPr>
        <p:spPr>
          <a:xfrm>
            <a:off x="7719715" y="5226040"/>
            <a:ext cx="188439" cy="150751"/>
          </a:xfrm>
          <a:custGeom>
            <a:avLst/>
            <a:gdLst/>
            <a:ahLst/>
            <a:cxnLst/>
            <a:rect l="l" t="t" r="r" b="b"/>
            <a:pathLst>
              <a:path w="30" h="24">
                <a:moveTo>
                  <a:pt x="0" y="15"/>
                </a:moveTo>
                <a:lnTo>
                  <a:pt x="16" y="0"/>
                </a:lnTo>
                <a:lnTo>
                  <a:pt x="30" y="13"/>
                </a:lnTo>
                <a:lnTo>
                  <a:pt x="21" y="24"/>
                </a:lnTo>
                <a:lnTo>
                  <a:pt x="11" y="21"/>
                </a:lnTo>
                <a:close/>
              </a:path>
            </a:pathLst>
          </a:custGeom>
          <a:solidFill>
            <a:srgbClr val="FFD7B8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trajectory-condensation:handshake-right-hand-377"/>
          <p:cNvSpPr/>
          <p:nvPr/>
        </p:nvSpPr>
        <p:spPr>
          <a:xfrm>
            <a:off x="7839060" y="5226040"/>
            <a:ext cx="182158" cy="157032"/>
          </a:xfrm>
          <a:custGeom>
            <a:avLst/>
            <a:gdLst/>
            <a:ahLst/>
            <a:cxnLst/>
            <a:rect l="l" t="t" r="r" b="b"/>
            <a:pathLst>
              <a:path w="29" h="25">
                <a:moveTo>
                  <a:pt x="29" y="15"/>
                </a:moveTo>
                <a:lnTo>
                  <a:pt x="13" y="0"/>
                </a:lnTo>
                <a:lnTo>
                  <a:pt x="0" y="13"/>
                </a:lnTo>
                <a:lnTo>
                  <a:pt x="8" y="25"/>
                </a:lnTo>
                <a:lnTo>
                  <a:pt x="19" y="21"/>
                </a:lnTo>
                <a:close/>
              </a:path>
            </a:pathLst>
          </a:custGeom>
          <a:solidFill>
            <a:srgbClr val="F0B78E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9" name="trajectory-condensation:handshake-left-cuff-378"/>
          <p:cNvSpPr/>
          <p:nvPr/>
        </p:nvSpPr>
        <p:spPr>
          <a:xfrm>
            <a:off x="7694590" y="5301415"/>
            <a:ext cx="81657" cy="125626"/>
          </a:xfrm>
          <a:prstGeom prst="roundRect">
            <a:avLst>
              <a:gd name="adj" fmla="val 15384"/>
            </a:avLst>
          </a:prstGeom>
          <a:solidFill>
            <a:srgbClr val="EF86A4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0" name="trajectory-condensation:handshake-right-cuff-379"/>
          <p:cNvSpPr/>
          <p:nvPr/>
        </p:nvSpPr>
        <p:spPr>
          <a:xfrm>
            <a:off x="7964686" y="5301415"/>
            <a:ext cx="81657" cy="125626"/>
          </a:xfrm>
          <a:prstGeom prst="roundRect">
            <a:avLst>
              <a:gd name="adj" fmla="val 15384"/>
            </a:avLst>
          </a:prstGeom>
          <a:solidFill>
            <a:srgbClr val="FFD34D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1" name="trajectory-condensation:handshake-finger-0-380"/>
          <p:cNvCxnSpPr/>
          <p:nvPr/>
        </p:nvCxnSpPr>
        <p:spPr>
          <a:xfrm>
            <a:off x="7839060" y="5313978"/>
            <a:ext cx="43969" cy="43969"/>
          </a:xfrm>
          <a:prstGeom prst="line">
            <a:avLst/>
          </a:prstGeom>
          <a:ln w="6281">
            <a:solidFill>
              <a:srgbClr val="111111"/>
            </a:solidFill>
          </a:ln>
          <a:effectLst/>
        </p:spPr>
      </p:cxnSp>
      <p:cxnSp>
        <p:nvCxnSpPr>
          <p:cNvPr id="382" name="trajectory-condensation:handshake-finger-1-381"/>
          <p:cNvCxnSpPr/>
          <p:nvPr/>
        </p:nvCxnSpPr>
        <p:spPr>
          <a:xfrm>
            <a:off x="7870466" y="5320259"/>
            <a:ext cx="43969" cy="43969"/>
          </a:xfrm>
          <a:prstGeom prst="line">
            <a:avLst/>
          </a:prstGeom>
          <a:ln w="6281">
            <a:solidFill>
              <a:srgbClr val="111111"/>
            </a:solidFill>
          </a:ln>
          <a:effectLst/>
        </p:spPr>
      </p:cxnSp>
      <p:cxnSp>
        <p:nvCxnSpPr>
          <p:cNvPr id="383" name="trajectory-condensation:handshake-finger-2-382"/>
          <p:cNvCxnSpPr/>
          <p:nvPr/>
        </p:nvCxnSpPr>
        <p:spPr>
          <a:xfrm>
            <a:off x="7901873" y="5326541"/>
            <a:ext cx="43969" cy="43969"/>
          </a:xfrm>
          <a:prstGeom prst="line">
            <a:avLst/>
          </a:prstGeom>
          <a:ln w="6281">
            <a:solidFill>
              <a:srgbClr val="111111"/>
            </a:solidFill>
          </a:ln>
          <a:effectLst/>
        </p:spPr>
      </p:cxnSp>
      <p:sp>
        <p:nvSpPr>
          <p:cNvPr id="384" name="trajectory-condensation:collab-title-383"/>
          <p:cNvSpPr txBox="1"/>
          <p:nvPr/>
        </p:nvSpPr>
        <p:spPr>
          <a:xfrm>
            <a:off x="8052624" y="5188352"/>
            <a:ext cx="1407011" cy="232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1187" b="0" i="0">
                <a:solidFill>
                  <a:srgbClr val="414141"/>
                </a:solidFill>
                <a:latin typeface="DejaVu Serif"/>
              </a:defRPr>
            </a:pPr>
            <a:r>
              <a:t>Collab. Experience</a:t>
            </a:r>
          </a:p>
        </p:txBody>
      </p:sp>
      <p:sp>
        <p:nvSpPr>
          <p:cNvPr id="385" name="trajectory-condensation:collab-copy-384"/>
          <p:cNvSpPr txBox="1"/>
          <p:nvPr/>
        </p:nvSpPr>
        <p:spPr>
          <a:xfrm>
            <a:off x="7795091" y="5496136"/>
            <a:ext cx="1633137" cy="40200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92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414141"/>
                </a:solidFill>
                <a:latin typeface="DejaVu Sans"/>
              </a:defRPr>
            </a:pPr>
            <a:r>
              <a:t>· This history follows a chain-</a:t>
            </a:r>
          </a:p>
          <a:p>
            <a:pPr algn="l">
              <a:lnSpc>
                <a:spcPts val="992"/>
              </a:lnSpc>
              <a:spcBef>
                <a:spcPts val="0"/>
              </a:spcBef>
              <a:spcAft>
                <a:spcPts val="0"/>
              </a:spcAft>
              <a:defRPr sz="840" b="0" i="0">
                <a:solidFill>
                  <a:srgbClr val="414141"/>
                </a:solidFill>
                <a:latin typeface="DejaVu Sans"/>
              </a:defRPr>
            </a:pPr>
            <a:r>
              <a:t>  style, collaboration strategy...</a:t>
            </a:r>
          </a:p>
        </p:txBody>
      </p:sp>
      <p:sp>
        <p:nvSpPr>
          <p:cNvPr id="386" name="trajectory-condensation:failure-icon-monitor-385"/>
          <p:cNvSpPr/>
          <p:nvPr/>
        </p:nvSpPr>
        <p:spPr>
          <a:xfrm>
            <a:off x="7725996" y="5967233"/>
            <a:ext cx="326627" cy="244971"/>
          </a:xfrm>
          <a:prstGeom prst="roundRect">
            <a:avLst>
              <a:gd name="adj" fmla="val 5128"/>
            </a:avLst>
          </a:prstGeom>
          <a:solidFill>
            <a:srgbClr val="9DD9EA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7" name="trajectory-condensation:failure-icon-stand-386"/>
          <p:cNvCxnSpPr/>
          <p:nvPr/>
        </p:nvCxnSpPr>
        <p:spPr>
          <a:xfrm>
            <a:off x="7889310" y="6212204"/>
            <a:ext cx="0" cy="62812"/>
          </a:xfrm>
          <a:prstGeom prst="line">
            <a:avLst/>
          </a:prstGeom>
          <a:ln w="12562">
            <a:solidFill>
              <a:srgbClr val="111111"/>
            </a:solidFill>
          </a:ln>
          <a:effectLst/>
        </p:spPr>
      </p:cxnSp>
      <p:cxnSp>
        <p:nvCxnSpPr>
          <p:cNvPr id="388" name="trajectory-condensation:failure-icon-foot-387"/>
          <p:cNvCxnSpPr/>
          <p:nvPr/>
        </p:nvCxnSpPr>
        <p:spPr>
          <a:xfrm>
            <a:off x="7820216" y="6275016"/>
            <a:ext cx="138188" cy="0"/>
          </a:xfrm>
          <a:prstGeom prst="line">
            <a:avLst/>
          </a:prstGeom>
          <a:ln w="12562">
            <a:solidFill>
              <a:srgbClr val="111111"/>
            </a:solidFill>
          </a:ln>
          <a:effectLst/>
        </p:spPr>
      </p:cxnSp>
      <p:sp>
        <p:nvSpPr>
          <p:cNvPr id="389" name="trajectory-condensation:failure-icon-triangle-388"/>
          <p:cNvSpPr/>
          <p:nvPr/>
        </p:nvSpPr>
        <p:spPr>
          <a:xfrm>
            <a:off x="7776247" y="5898139"/>
            <a:ext cx="226127" cy="232408"/>
          </a:xfrm>
          <a:custGeom>
            <a:avLst/>
            <a:gdLst/>
            <a:ahLst/>
            <a:cxnLst/>
            <a:rect l="l" t="t" r="r" b="b"/>
            <a:pathLst>
              <a:path w="36" h="37">
                <a:moveTo>
                  <a:pt x="18" y="0"/>
                </a:moveTo>
                <a:lnTo>
                  <a:pt x="0" y="37"/>
                </a:lnTo>
                <a:lnTo>
                  <a:pt x="36" y="37"/>
                </a:lnTo>
                <a:close/>
              </a:path>
            </a:pathLst>
          </a:custGeom>
          <a:solidFill>
            <a:srgbClr val="FFC13D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0" name="trajectory-condensation:failure-icon-mark-389"/>
          <p:cNvSpPr txBox="1"/>
          <p:nvPr/>
        </p:nvSpPr>
        <p:spPr>
          <a:xfrm>
            <a:off x="7851622" y="5948389"/>
            <a:ext cx="75376" cy="16331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68"/>
              </a:lnSpc>
              <a:spcBef>
                <a:spcPts val="0"/>
              </a:spcBef>
              <a:spcAft>
                <a:spcPts val="0"/>
              </a:spcAft>
              <a:defRPr sz="989" b="1" i="0">
                <a:solidFill>
                  <a:srgbClr val="111111"/>
                </a:solidFill>
                <a:latin typeface="DejaVu Sans"/>
              </a:defRPr>
            </a:pPr>
            <a:r>
              <a:t>!</a:t>
            </a:r>
          </a:p>
        </p:txBody>
      </p:sp>
      <p:sp>
        <p:nvSpPr>
          <p:cNvPr id="391" name="trajectory-condensation:failure-title-390"/>
          <p:cNvSpPr txBox="1"/>
          <p:nvPr/>
        </p:nvSpPr>
        <p:spPr>
          <a:xfrm>
            <a:off x="8115437" y="5929545"/>
            <a:ext cx="1306510" cy="2198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1187" b="0" i="0">
                <a:solidFill>
                  <a:srgbClr val="414141"/>
                </a:solidFill>
                <a:latin typeface="DejaVu Serif"/>
              </a:defRPr>
            </a:pPr>
            <a:r>
              <a:t>Failure Lessons</a:t>
            </a:r>
          </a:p>
        </p:txBody>
      </p:sp>
      <p:sp>
        <p:nvSpPr>
          <p:cNvPr id="392" name="trajectory-condensation:failure-copy-391"/>
          <p:cNvSpPr txBox="1"/>
          <p:nvPr/>
        </p:nvSpPr>
        <p:spPr>
          <a:xfrm>
            <a:off x="7725996" y="6287579"/>
            <a:ext cx="1695950" cy="2826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73"/>
              </a:lnSpc>
              <a:spcBef>
                <a:spcPts val="0"/>
              </a:spcBef>
              <a:spcAft>
                <a:spcPts val="0"/>
              </a:spcAft>
              <a:defRPr sz="766" b="0" i="0">
                <a:solidFill>
                  <a:srgbClr val="414141"/>
                </a:solidFill>
                <a:latin typeface="DejaVu Sans"/>
              </a:defRPr>
            </a:pPr>
            <a:r>
              <a:t>· Take care when summarizing the</a:t>
            </a:r>
          </a:p>
          <a:p>
            <a:pPr algn="l">
              <a:lnSpc>
                <a:spcPts val="873"/>
              </a:lnSpc>
              <a:spcBef>
                <a:spcPts val="0"/>
              </a:spcBef>
              <a:spcAft>
                <a:spcPts val="0"/>
              </a:spcAft>
              <a:defRPr sz="766" b="0" i="0">
                <a:solidFill>
                  <a:srgbClr val="414141"/>
                </a:solidFill>
                <a:latin typeface="DejaVu Sans"/>
              </a:defRPr>
            </a:pPr>
            <a:r>
              <a:t>  final result, DO NOT ...</a:t>
            </a:r>
          </a:p>
        </p:txBody>
      </p:sp>
      <p:sp>
        <p:nvSpPr>
          <p:cNvPr id="393" name="memory-augmentation-bottom:memory-augmentation-bottom-label-392"/>
          <p:cNvSpPr txBox="1"/>
          <p:nvPr/>
        </p:nvSpPr>
        <p:spPr>
          <a:xfrm>
            <a:off x="6689582" y="4365502"/>
            <a:ext cx="2449706" cy="23868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84" b="1" i="1">
                <a:solidFill>
                  <a:srgbClr val="F00000"/>
                </a:solidFill>
                <a:latin typeface="DejaVu Serif"/>
              </a:defRPr>
            </a:pPr>
            <a:r>
              <a:t>Memory    Augmentation</a:t>
            </a:r>
          </a:p>
        </p:txBody>
      </p:sp>
      <p:sp>
        <p:nvSpPr>
          <p:cNvPr id="394" name="memory-augmentation-bottom:augmentation-up-393"/>
          <p:cNvSpPr/>
          <p:nvPr/>
        </p:nvSpPr>
        <p:spPr>
          <a:xfrm>
            <a:off x="7543839" y="4271282"/>
            <a:ext cx="213564" cy="439691"/>
          </a:xfrm>
          <a:custGeom>
            <a:avLst/>
            <a:gdLst/>
            <a:ahLst/>
            <a:cxnLst/>
            <a:rect l="l" t="t" r="r" b="b"/>
            <a:pathLst>
              <a:path w="34" h="70">
                <a:moveTo>
                  <a:pt x="8" y="70"/>
                </a:moveTo>
                <a:lnTo>
                  <a:pt x="8" y="23"/>
                </a:lnTo>
                <a:lnTo>
                  <a:pt x="0" y="23"/>
                </a:lnTo>
                <a:lnTo>
                  <a:pt x="17" y="0"/>
                </a:lnTo>
                <a:lnTo>
                  <a:pt x="34" y="23"/>
                </a:lnTo>
                <a:lnTo>
                  <a:pt x="26" y="23"/>
                </a:lnTo>
                <a:lnTo>
                  <a:pt x="26" y="70"/>
                </a:lnTo>
                <a:close/>
              </a:path>
            </a:pathLst>
          </a:custGeom>
          <a:solidFill>
            <a:srgbClr val="FF9899"/>
          </a:solidFill>
          <a:ln w="18843">
            <a:solidFill>
              <a:srgbClr val="F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95" name="trajectory-connectors:trajectory-wedge-upper-394"/>
          <p:cNvCxnSpPr/>
          <p:nvPr/>
        </p:nvCxnSpPr>
        <p:spPr>
          <a:xfrm flipV="1">
            <a:off x="3806466" y="4905694"/>
            <a:ext cx="2211017" cy="935913"/>
          </a:xfrm>
          <a:prstGeom prst="line">
            <a:avLst/>
          </a:prstGeom>
          <a:ln w="25125">
            <a:solidFill>
              <a:srgbClr val="7F7F7F"/>
            </a:solidFill>
            <a:prstDash val="sysDot"/>
          </a:ln>
          <a:effectLst/>
        </p:spPr>
      </p:cxnSp>
      <p:cxnSp>
        <p:nvCxnSpPr>
          <p:cNvPr id="396" name="trajectory-connectors:trajectory-wedge-lower-395"/>
          <p:cNvCxnSpPr/>
          <p:nvPr/>
        </p:nvCxnSpPr>
        <p:spPr>
          <a:xfrm flipV="1">
            <a:off x="3862998" y="6406924"/>
            <a:ext cx="2154485" cy="276377"/>
          </a:xfrm>
          <a:prstGeom prst="line">
            <a:avLst/>
          </a:prstGeom>
          <a:ln w="25125">
            <a:solidFill>
              <a:srgbClr val="7F7F7F"/>
            </a:solidFill>
            <a:prstDash val="sysDot"/>
          </a:ln>
          <a:effectLst/>
        </p:spPr>
      </p:cxnSp>
      <p:sp>
        <p:nvSpPr>
          <p:cNvPr id="397" name="right-insight-graph:right-insight-circle-396"/>
          <p:cNvSpPr/>
          <p:nvPr/>
        </p:nvSpPr>
        <p:spPr>
          <a:xfrm>
            <a:off x="9974701" y="263815"/>
            <a:ext cx="1972328" cy="1972328"/>
          </a:xfrm>
          <a:prstGeom prst="ellipse">
            <a:avLst/>
          </a:prstGeom>
          <a:solidFill>
            <a:srgbClr val="E9F3EA"/>
          </a:solidFill>
          <a:ln w="31406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98" name="right-insight-graph:right-i-e1-shaft-397"/>
          <p:cNvCxnSpPr/>
          <p:nvPr/>
        </p:nvCxnSpPr>
        <p:spPr>
          <a:xfrm>
            <a:off x="10759863" y="778881"/>
            <a:ext cx="413603" cy="16768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399" name="right-insight-graph:right-i-e1-head-398"/>
          <p:cNvSpPr/>
          <p:nvPr/>
        </p:nvSpPr>
        <p:spPr>
          <a:xfrm>
            <a:off x="11164703" y="747365"/>
            <a:ext cx="62813" cy="94219"/>
          </a:xfrm>
          <a:custGeom>
            <a:avLst/>
            <a:gdLst/>
            <a:ahLst/>
            <a:cxnLst/>
            <a:rect l="l" t="t" r="r" b="b"/>
            <a:pathLst>
              <a:path w="10" h="15">
                <a:moveTo>
                  <a:pt x="10" y="8"/>
                </a:moveTo>
                <a:lnTo>
                  <a:pt x="0" y="15"/>
                </a:lnTo>
                <a:lnTo>
                  <a:pt x="1" y="0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0" name="right-insight-graph:right-i-e2-shaft-399"/>
          <p:cNvCxnSpPr/>
          <p:nvPr/>
        </p:nvCxnSpPr>
        <p:spPr>
          <a:xfrm flipV="1">
            <a:off x="10389267" y="958778"/>
            <a:ext cx="221460" cy="310044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401" name="right-insight-graph:right-i-e2-head-400"/>
          <p:cNvSpPr/>
          <p:nvPr/>
        </p:nvSpPr>
        <p:spPr>
          <a:xfrm>
            <a:off x="10567665" y="917069"/>
            <a:ext cx="75376" cy="75376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12" y="0"/>
                </a:moveTo>
                <a:lnTo>
                  <a:pt x="12" y="12"/>
                </a:lnTo>
                <a:lnTo>
                  <a:pt x="0" y="3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2" name="right-insight-graph:right-i-e3-shaft-401"/>
          <p:cNvCxnSpPr/>
          <p:nvPr/>
        </p:nvCxnSpPr>
        <p:spPr>
          <a:xfrm>
            <a:off x="10452080" y="1306510"/>
            <a:ext cx="282094" cy="37258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403" name="right-insight-graph:right-i-e3-head-402"/>
          <p:cNvSpPr/>
          <p:nvPr/>
        </p:nvSpPr>
        <p:spPr>
          <a:xfrm>
            <a:off x="10721119" y="1295242"/>
            <a:ext cx="62813" cy="94219"/>
          </a:xfrm>
          <a:custGeom>
            <a:avLst/>
            <a:gdLst/>
            <a:ahLst/>
            <a:cxnLst/>
            <a:rect l="l" t="t" r="r" b="b"/>
            <a:pathLst>
              <a:path w="10" h="15">
                <a:moveTo>
                  <a:pt x="10" y="9"/>
                </a:moveTo>
                <a:lnTo>
                  <a:pt x="0" y="15"/>
                </a:lnTo>
                <a:lnTo>
                  <a:pt x="2" y="0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4" name="right-insight-graph:right-i-e4-shaft-403"/>
          <p:cNvCxnSpPr/>
          <p:nvPr/>
        </p:nvCxnSpPr>
        <p:spPr>
          <a:xfrm>
            <a:off x="10854083" y="904507"/>
            <a:ext cx="502700" cy="306243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405" name="right-insight-graph:right-i-e4-head-404"/>
          <p:cNvSpPr/>
          <p:nvPr/>
        </p:nvSpPr>
        <p:spPr>
          <a:xfrm>
            <a:off x="11325960" y="1166168"/>
            <a:ext cx="75376" cy="81657"/>
          </a:xfrm>
          <a:custGeom>
            <a:avLst/>
            <a:gdLst/>
            <a:ahLst/>
            <a:cxnLst/>
            <a:rect l="l" t="t" r="r" b="b"/>
            <a:pathLst>
              <a:path w="12" h="13">
                <a:moveTo>
                  <a:pt x="12" y="11"/>
                </a:moveTo>
                <a:lnTo>
                  <a:pt x="0" y="13"/>
                </a:lnTo>
                <a:lnTo>
                  <a:pt x="8" y="0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6" name="right-insight-graph:right-i-e5-shaft-405"/>
          <p:cNvCxnSpPr/>
          <p:nvPr/>
        </p:nvCxnSpPr>
        <p:spPr>
          <a:xfrm>
            <a:off x="10929458" y="1337916"/>
            <a:ext cx="338245" cy="16367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407" name="right-insight-graph:right-i-e5-head-406"/>
          <p:cNvSpPr/>
          <p:nvPr/>
        </p:nvSpPr>
        <p:spPr>
          <a:xfrm>
            <a:off x="11258567" y="1305963"/>
            <a:ext cx="62813" cy="94219"/>
          </a:xfrm>
          <a:custGeom>
            <a:avLst/>
            <a:gdLst/>
            <a:ahLst/>
            <a:cxnLst/>
            <a:rect l="l" t="t" r="r" b="b"/>
            <a:pathLst>
              <a:path w="10" h="15">
                <a:moveTo>
                  <a:pt x="10" y="8"/>
                </a:moveTo>
                <a:lnTo>
                  <a:pt x="0" y="15"/>
                </a:lnTo>
                <a:lnTo>
                  <a:pt x="1" y="0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8" name="right-insight-graph:right-i-e6-shaft-407"/>
          <p:cNvCxnSpPr/>
          <p:nvPr/>
        </p:nvCxnSpPr>
        <p:spPr>
          <a:xfrm flipV="1">
            <a:off x="10891770" y="966184"/>
            <a:ext cx="328384" cy="334045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409" name="right-insight-graph:right-i-e6-head-408"/>
          <p:cNvSpPr/>
          <p:nvPr/>
        </p:nvSpPr>
        <p:spPr>
          <a:xfrm>
            <a:off x="11181108" y="929632"/>
            <a:ext cx="75376" cy="75376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12" y="0"/>
                </a:moveTo>
                <a:lnTo>
                  <a:pt x="11" y="12"/>
                </a:lnTo>
                <a:lnTo>
                  <a:pt x="0" y="1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0" name="right-insight-graph:right-l1-circle-409"/>
          <p:cNvSpPr/>
          <p:nvPr/>
        </p:nvSpPr>
        <p:spPr>
          <a:xfrm>
            <a:off x="10552580" y="603005"/>
            <a:ext cx="364315" cy="364315"/>
          </a:xfrm>
          <a:prstGeom prst="ellipse">
            <a:avLst/>
          </a:prstGeom>
          <a:solidFill>
            <a:srgbClr val="4DA864"/>
          </a:solidFill>
          <a:ln w="31406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1" name="right-insight-graph:right-l1-label-410"/>
          <p:cNvSpPr txBox="1"/>
          <p:nvPr/>
        </p:nvSpPr>
        <p:spPr>
          <a:xfrm>
            <a:off x="10552580" y="609286"/>
            <a:ext cx="364315" cy="36431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94"/>
              </a:lnSpc>
              <a:spcBef>
                <a:spcPts val="0"/>
              </a:spcBef>
              <a:spcAft>
                <a:spcPts val="0"/>
              </a:spcAft>
              <a:defRPr sz="1290" b="0" i="1">
                <a:solidFill>
                  <a:srgbClr val="111111"/>
                </a:solidFill>
                <a:latin typeface="DejaVu Serif"/>
              </a:defRPr>
            </a:pPr>
            <a:r>
              <a:t>l₁</a:t>
            </a:r>
          </a:p>
        </p:txBody>
      </p:sp>
      <p:sp>
        <p:nvSpPr>
          <p:cNvPr id="412" name="right-insight-graph:right-l2-circle-411"/>
          <p:cNvSpPr/>
          <p:nvPr/>
        </p:nvSpPr>
        <p:spPr>
          <a:xfrm>
            <a:off x="11186991" y="621848"/>
            <a:ext cx="364315" cy="364315"/>
          </a:xfrm>
          <a:prstGeom prst="ellipse">
            <a:avLst/>
          </a:prstGeom>
          <a:solidFill>
            <a:srgbClr val="98F451"/>
          </a:solidFill>
          <a:ln w="31406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3" name="right-insight-graph:right-l2-label-412"/>
          <p:cNvSpPr txBox="1"/>
          <p:nvPr/>
        </p:nvSpPr>
        <p:spPr>
          <a:xfrm>
            <a:off x="11186991" y="628130"/>
            <a:ext cx="364315" cy="36431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94"/>
              </a:lnSpc>
              <a:spcBef>
                <a:spcPts val="0"/>
              </a:spcBef>
              <a:spcAft>
                <a:spcPts val="0"/>
              </a:spcAft>
              <a:defRPr sz="1290" b="0" i="1">
                <a:solidFill>
                  <a:srgbClr val="111111"/>
                </a:solidFill>
                <a:latin typeface="DejaVu Serif"/>
              </a:defRPr>
            </a:pPr>
            <a:r>
              <a:t>l₂</a:t>
            </a:r>
          </a:p>
        </p:txBody>
      </p:sp>
      <p:sp>
        <p:nvSpPr>
          <p:cNvPr id="414" name="right-insight-graph:right-l3-circle-413"/>
          <p:cNvSpPr/>
          <p:nvPr/>
        </p:nvSpPr>
        <p:spPr>
          <a:xfrm>
            <a:off x="10194546" y="1111790"/>
            <a:ext cx="364315" cy="364315"/>
          </a:xfrm>
          <a:prstGeom prst="ellipse">
            <a:avLst/>
          </a:prstGeom>
          <a:solidFill>
            <a:srgbClr val="7DD45C"/>
          </a:solidFill>
          <a:ln w="31406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5" name="right-insight-graph:right-l3-label-414"/>
          <p:cNvSpPr txBox="1"/>
          <p:nvPr/>
        </p:nvSpPr>
        <p:spPr>
          <a:xfrm>
            <a:off x="10194546" y="1118071"/>
            <a:ext cx="364315" cy="36431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94"/>
              </a:lnSpc>
              <a:spcBef>
                <a:spcPts val="0"/>
              </a:spcBef>
              <a:spcAft>
                <a:spcPts val="0"/>
              </a:spcAft>
              <a:defRPr sz="1290" b="0" i="1">
                <a:solidFill>
                  <a:srgbClr val="111111"/>
                </a:solidFill>
                <a:latin typeface="DejaVu Serif"/>
              </a:defRPr>
            </a:pPr>
            <a:r>
              <a:t>l₃</a:t>
            </a:r>
          </a:p>
        </p:txBody>
      </p:sp>
      <p:sp>
        <p:nvSpPr>
          <p:cNvPr id="416" name="right-insight-graph:right-l4-circle-415"/>
          <p:cNvSpPr/>
          <p:nvPr/>
        </p:nvSpPr>
        <p:spPr>
          <a:xfrm>
            <a:off x="10766144" y="1130634"/>
            <a:ext cx="376878" cy="376878"/>
          </a:xfrm>
          <a:prstGeom prst="ellipse">
            <a:avLst/>
          </a:prstGeom>
          <a:solidFill>
            <a:srgbClr val="00E979"/>
          </a:solidFill>
          <a:ln w="31406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7" name="right-insight-graph:right-l4-label-416"/>
          <p:cNvSpPr txBox="1"/>
          <p:nvPr/>
        </p:nvSpPr>
        <p:spPr>
          <a:xfrm>
            <a:off x="10766144" y="1136915"/>
            <a:ext cx="376878" cy="37687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42"/>
              </a:lnSpc>
              <a:spcBef>
                <a:spcPts val="0"/>
              </a:spcBef>
              <a:spcAft>
                <a:spcPts val="0"/>
              </a:spcAft>
              <a:defRPr sz="1335" b="0" i="1">
                <a:solidFill>
                  <a:srgbClr val="111111"/>
                </a:solidFill>
                <a:latin typeface="DejaVu Serif"/>
              </a:defRPr>
            </a:pPr>
            <a:r>
              <a:t>l₄</a:t>
            </a:r>
          </a:p>
        </p:txBody>
      </p:sp>
      <p:sp>
        <p:nvSpPr>
          <p:cNvPr id="418" name="right-insight-graph:right-l5-circle-417"/>
          <p:cNvSpPr/>
          <p:nvPr/>
        </p:nvSpPr>
        <p:spPr>
          <a:xfrm>
            <a:off x="11375430" y="1155759"/>
            <a:ext cx="364315" cy="364315"/>
          </a:xfrm>
          <a:prstGeom prst="ellipse">
            <a:avLst/>
          </a:prstGeom>
          <a:solidFill>
            <a:srgbClr val="99FFCD"/>
          </a:solidFill>
          <a:ln w="31406">
            <a:solidFill>
              <a:srgbClr val="0064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9" name="right-insight-graph:right-l5-label-418"/>
          <p:cNvSpPr txBox="1"/>
          <p:nvPr/>
        </p:nvSpPr>
        <p:spPr>
          <a:xfrm>
            <a:off x="11375430" y="1162040"/>
            <a:ext cx="364315" cy="36431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94"/>
              </a:lnSpc>
              <a:spcBef>
                <a:spcPts val="0"/>
              </a:spcBef>
              <a:spcAft>
                <a:spcPts val="0"/>
              </a:spcAft>
              <a:defRPr sz="1290" b="0" i="1">
                <a:solidFill>
                  <a:srgbClr val="111111"/>
                </a:solidFill>
                <a:latin typeface="DejaVu Serif"/>
              </a:defRPr>
            </a:pPr>
            <a:r>
              <a:t>l₅</a:t>
            </a:r>
          </a:p>
        </p:txBody>
      </p:sp>
      <p:sp>
        <p:nvSpPr>
          <p:cNvPr id="420" name="right-insight-graph:right-l6-circle-419"/>
          <p:cNvSpPr/>
          <p:nvPr/>
        </p:nvSpPr>
        <p:spPr>
          <a:xfrm>
            <a:off x="10747301" y="1727357"/>
            <a:ext cx="364315" cy="364315"/>
          </a:xfrm>
          <a:prstGeom prst="ellipse">
            <a:avLst/>
          </a:prstGeom>
          <a:solidFill>
            <a:srgbClr val="FBE6E5"/>
          </a:solidFill>
          <a:ln w="31406">
            <a:solidFill>
              <a:srgbClr val="B5525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1" name="right-insight-graph:right-l6-label-420"/>
          <p:cNvSpPr txBox="1"/>
          <p:nvPr/>
        </p:nvSpPr>
        <p:spPr>
          <a:xfrm>
            <a:off x="10747301" y="1733638"/>
            <a:ext cx="364315" cy="36431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94"/>
              </a:lnSpc>
              <a:spcBef>
                <a:spcPts val="0"/>
              </a:spcBef>
              <a:spcAft>
                <a:spcPts val="0"/>
              </a:spcAft>
              <a:defRPr sz="1290" b="0" i="1">
                <a:solidFill>
                  <a:srgbClr val="B55252"/>
                </a:solidFill>
                <a:latin typeface="DejaVu Serif"/>
              </a:defRPr>
            </a:pPr>
            <a:r>
              <a:t>l₆</a:t>
            </a:r>
          </a:p>
        </p:txBody>
      </p:sp>
      <p:cxnSp>
        <p:nvCxnSpPr>
          <p:cNvPr id="422" name="right-insight-graph:right-update-l4-l6-shaft-421"/>
          <p:cNvCxnSpPr/>
          <p:nvPr/>
        </p:nvCxnSpPr>
        <p:spPr>
          <a:xfrm flipH="1">
            <a:off x="10940524" y="1513793"/>
            <a:ext cx="14059" cy="149970"/>
          </a:xfrm>
          <a:prstGeom prst="line">
            <a:avLst/>
          </a:prstGeom>
          <a:ln w="25125">
            <a:solidFill>
              <a:srgbClr val="B55252"/>
            </a:solidFill>
          </a:ln>
          <a:effectLst/>
        </p:spPr>
      </p:cxnSp>
      <p:sp>
        <p:nvSpPr>
          <p:cNvPr id="423" name="right-insight-graph:right-update-l4-l6-head-422"/>
          <p:cNvSpPr/>
          <p:nvPr/>
        </p:nvSpPr>
        <p:spPr>
          <a:xfrm>
            <a:off x="10893324" y="1652485"/>
            <a:ext cx="94219" cy="62813"/>
          </a:xfrm>
          <a:custGeom>
            <a:avLst/>
            <a:gdLst/>
            <a:ahLst/>
            <a:cxnLst/>
            <a:rect l="l" t="t" r="r" b="b"/>
            <a:pathLst>
              <a:path w="15" h="10">
                <a:moveTo>
                  <a:pt x="7" y="10"/>
                </a:moveTo>
                <a:lnTo>
                  <a:pt x="0" y="0"/>
                </a:lnTo>
                <a:lnTo>
                  <a:pt x="15" y="1"/>
                </a:lnTo>
                <a:close/>
              </a:path>
            </a:pathLst>
          </a:custGeom>
          <a:solidFill>
            <a:srgbClr val="B55252"/>
          </a:solidFill>
          <a:ln w="6281">
            <a:solidFill>
              <a:srgbClr val="B5525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4" name="right-insight-graph:right-update-l5-l6-shaft-423"/>
          <p:cNvCxnSpPr/>
          <p:nvPr/>
        </p:nvCxnSpPr>
        <p:spPr>
          <a:xfrm flipH="1">
            <a:off x="11113826" y="1482386"/>
            <a:ext cx="349542" cy="281889"/>
          </a:xfrm>
          <a:prstGeom prst="line">
            <a:avLst/>
          </a:prstGeom>
          <a:ln w="25125">
            <a:solidFill>
              <a:srgbClr val="B55252"/>
            </a:solidFill>
          </a:ln>
          <a:effectLst/>
        </p:spPr>
      </p:cxnSp>
      <p:sp>
        <p:nvSpPr>
          <p:cNvPr id="425" name="right-insight-graph:right-update-l5-l6-head-424"/>
          <p:cNvSpPr/>
          <p:nvPr/>
        </p:nvSpPr>
        <p:spPr>
          <a:xfrm>
            <a:off x="11073928" y="1722593"/>
            <a:ext cx="75376" cy="75376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0" y="12"/>
                </a:moveTo>
                <a:lnTo>
                  <a:pt x="2" y="0"/>
                </a:lnTo>
                <a:lnTo>
                  <a:pt x="12" y="12"/>
                </a:lnTo>
                <a:close/>
              </a:path>
            </a:pathLst>
          </a:custGeom>
          <a:solidFill>
            <a:srgbClr val="B55252"/>
          </a:solidFill>
          <a:ln w="6281">
            <a:solidFill>
              <a:srgbClr val="B5525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6" name="right-insight-graph:right-insight-formula-425"/>
          <p:cNvSpPr txBox="1"/>
          <p:nvPr/>
        </p:nvSpPr>
        <p:spPr>
          <a:xfrm>
            <a:off x="9993545" y="1614294"/>
            <a:ext cx="992445" cy="27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14"/>
              </a:lnSpc>
              <a:spcBef>
                <a:spcPts val="0"/>
              </a:spcBef>
              <a:spcAft>
                <a:spcPts val="0"/>
              </a:spcAft>
              <a:defRPr sz="939" b="0" i="1">
                <a:solidFill>
                  <a:srgbClr val="006400"/>
                </a:solidFill>
                <a:latin typeface="DejaVu Serif"/>
              </a:defRPr>
            </a:pPr>
            <a:r>
              <a:t>G_insight</a:t>
            </a:r>
          </a:p>
          <a:p>
            <a:pPr algn="ctr">
              <a:lnSpc>
                <a:spcPts val="1014"/>
              </a:lnSpc>
              <a:spcBef>
                <a:spcPts val="0"/>
              </a:spcBef>
              <a:spcAft>
                <a:spcPts val="0"/>
              </a:spcAft>
              <a:defRPr sz="939" b="0" i="1">
                <a:solidFill>
                  <a:srgbClr val="006400"/>
                </a:solidFill>
                <a:latin typeface="DejaVu Serif"/>
              </a:defRPr>
            </a:pPr>
            <a:r>
              <a:t>^(t+1)</a:t>
            </a:r>
          </a:p>
        </p:txBody>
      </p:sp>
      <p:sp>
        <p:nvSpPr>
          <p:cNvPr id="427" name="right-query-graph:right-query-circle-426"/>
          <p:cNvSpPr/>
          <p:nvPr/>
        </p:nvSpPr>
        <p:spPr>
          <a:xfrm>
            <a:off x="9980982" y="2531363"/>
            <a:ext cx="1984890" cy="1984890"/>
          </a:xfrm>
          <a:prstGeom prst="ellipse">
            <a:avLst/>
          </a:prstGeom>
          <a:solidFill>
            <a:srgbClr val="ECF3FD"/>
          </a:solidFill>
          <a:ln w="31406">
            <a:solidFill>
              <a:srgbClr val="003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8" name="right-query-graph:right-q-e1-shaft-427"/>
          <p:cNvCxnSpPr/>
          <p:nvPr/>
        </p:nvCxnSpPr>
        <p:spPr>
          <a:xfrm>
            <a:off x="10376704" y="3190899"/>
            <a:ext cx="5685" cy="488940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429" name="right-query-graph:right-q-e1-head-428"/>
          <p:cNvSpPr/>
          <p:nvPr/>
        </p:nvSpPr>
        <p:spPr>
          <a:xfrm>
            <a:off x="10334267" y="3672458"/>
            <a:ext cx="94219" cy="56532"/>
          </a:xfrm>
          <a:custGeom>
            <a:avLst/>
            <a:gdLst/>
            <a:ahLst/>
            <a:cxnLst/>
            <a:rect l="l" t="t" r="r" b="b"/>
            <a:pathLst>
              <a:path w="15" h="9">
                <a:moveTo>
                  <a:pt x="8" y="9"/>
                </a:moveTo>
                <a:lnTo>
                  <a:pt x="0" y="0"/>
                </a:lnTo>
                <a:lnTo>
                  <a:pt x="15" y="0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30" name="right-query-graph:right-q-e2-shaft-429"/>
          <p:cNvCxnSpPr/>
          <p:nvPr/>
        </p:nvCxnSpPr>
        <p:spPr>
          <a:xfrm flipV="1">
            <a:off x="10527455" y="3663763"/>
            <a:ext cx="180846" cy="218079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431" name="right-query-graph:right-q-e2-head-430"/>
          <p:cNvSpPr/>
          <p:nvPr/>
        </p:nvSpPr>
        <p:spPr>
          <a:xfrm>
            <a:off x="10666962" y="3624309"/>
            <a:ext cx="75376" cy="75376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12" y="0"/>
                </a:moveTo>
                <a:lnTo>
                  <a:pt x="12" y="12"/>
                </a:lnTo>
                <a:lnTo>
                  <a:pt x="0" y="2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32" name="right-query-graph:right-q-e3-shaft-431"/>
          <p:cNvCxnSpPr/>
          <p:nvPr/>
        </p:nvCxnSpPr>
        <p:spPr>
          <a:xfrm flipV="1">
            <a:off x="11092772" y="3556674"/>
            <a:ext cx="401586" cy="61354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433" name="right-query-graph:right-q-e3-head-432"/>
          <p:cNvSpPr/>
          <p:nvPr/>
        </p:nvSpPr>
        <p:spPr>
          <a:xfrm>
            <a:off x="11480357" y="3510209"/>
            <a:ext cx="62813" cy="94219"/>
          </a:xfrm>
          <a:custGeom>
            <a:avLst/>
            <a:gdLst/>
            <a:ahLst/>
            <a:cxnLst/>
            <a:rect l="l" t="t" r="r" b="b"/>
            <a:pathLst>
              <a:path w="10" h="15">
                <a:moveTo>
                  <a:pt x="10" y="6"/>
                </a:moveTo>
                <a:lnTo>
                  <a:pt x="2" y="15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34" name="right-query-graph:right-q-e4-shaft-433"/>
          <p:cNvCxnSpPr/>
          <p:nvPr/>
        </p:nvCxnSpPr>
        <p:spPr>
          <a:xfrm>
            <a:off x="11055084" y="3630590"/>
            <a:ext cx="311458" cy="351098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435" name="right-query-graph:right-q-e4-head-434"/>
          <p:cNvSpPr/>
          <p:nvPr/>
        </p:nvSpPr>
        <p:spPr>
          <a:xfrm>
            <a:off x="11326072" y="3944700"/>
            <a:ext cx="75376" cy="75376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12" y="12"/>
                </a:moveTo>
                <a:lnTo>
                  <a:pt x="0" y="10"/>
                </a:lnTo>
                <a:lnTo>
                  <a:pt x="11" y="0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36" name="right-query-graph:right-q-e5-shaft-435"/>
          <p:cNvCxnSpPr/>
          <p:nvPr/>
        </p:nvCxnSpPr>
        <p:spPr>
          <a:xfrm flipH="1" flipV="1">
            <a:off x="11438324" y="3127507"/>
            <a:ext cx="75295" cy="295800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437" name="right-query-graph:right-q-e5-head-436"/>
          <p:cNvSpPr/>
          <p:nvPr/>
        </p:nvSpPr>
        <p:spPr>
          <a:xfrm>
            <a:off x="11393446" y="3077836"/>
            <a:ext cx="94219" cy="69094"/>
          </a:xfrm>
          <a:custGeom>
            <a:avLst/>
            <a:gdLst/>
            <a:ahLst/>
            <a:cxnLst/>
            <a:rect l="l" t="t" r="r" b="b"/>
            <a:pathLst>
              <a:path w="15" h="11">
                <a:moveTo>
                  <a:pt x="5" y="0"/>
                </a:moveTo>
                <a:lnTo>
                  <a:pt x="15" y="7"/>
                </a:lnTo>
                <a:lnTo>
                  <a:pt x="0" y="11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38" name="right-query-graph:right-q-e6-shaft-437"/>
          <p:cNvCxnSpPr/>
          <p:nvPr/>
        </p:nvCxnSpPr>
        <p:spPr>
          <a:xfrm flipV="1">
            <a:off x="11350305" y="3141596"/>
            <a:ext cx="41531" cy="872153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439" name="right-query-graph:right-q-e6-head-438"/>
          <p:cNvSpPr/>
          <p:nvPr/>
        </p:nvSpPr>
        <p:spPr>
          <a:xfrm>
            <a:off x="11343520" y="3090399"/>
            <a:ext cx="94219" cy="62813"/>
          </a:xfrm>
          <a:custGeom>
            <a:avLst/>
            <a:gdLst/>
            <a:ahLst/>
            <a:cxnLst/>
            <a:rect l="l" t="t" r="r" b="b"/>
            <a:pathLst>
              <a:path w="15" h="10">
                <a:moveTo>
                  <a:pt x="8" y="0"/>
                </a:moveTo>
                <a:lnTo>
                  <a:pt x="15" y="10"/>
                </a:lnTo>
                <a:lnTo>
                  <a:pt x="0" y="9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40" name="right-query-graph:right-q-e7-shaft-439"/>
          <p:cNvCxnSpPr/>
          <p:nvPr/>
        </p:nvCxnSpPr>
        <p:spPr>
          <a:xfrm flipV="1">
            <a:off x="10546299" y="3618593"/>
            <a:ext cx="970644" cy="313499"/>
          </a:xfrm>
          <a:prstGeom prst="line">
            <a:avLst/>
          </a:prstGeom>
          <a:ln w="18843">
            <a:solidFill>
              <a:srgbClr val="707070"/>
            </a:solidFill>
          </a:ln>
          <a:effectLst/>
        </p:spPr>
      </p:cxnSp>
      <p:sp>
        <p:nvSpPr>
          <p:cNvPr id="441" name="right-query-graph:right-q-e7-head-440"/>
          <p:cNvSpPr/>
          <p:nvPr/>
        </p:nvSpPr>
        <p:spPr>
          <a:xfrm>
            <a:off x="11499227" y="3582240"/>
            <a:ext cx="56532" cy="75376"/>
          </a:xfrm>
          <a:custGeom>
            <a:avLst/>
            <a:gdLst/>
            <a:ahLst/>
            <a:cxnLst/>
            <a:rect l="l" t="t" r="r" b="b"/>
            <a:pathLst>
              <a:path w="9" h="12">
                <a:moveTo>
                  <a:pt x="9" y="4"/>
                </a:moveTo>
                <a:lnTo>
                  <a:pt x="4" y="12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2" name="right-query-graph:right-q1-circle-441"/>
          <p:cNvSpPr/>
          <p:nvPr/>
        </p:nvSpPr>
        <p:spPr>
          <a:xfrm>
            <a:off x="10238515" y="3027586"/>
            <a:ext cx="301502" cy="301502"/>
          </a:xfrm>
          <a:prstGeom prst="ellipse">
            <a:avLst/>
          </a:prstGeom>
          <a:solidFill>
            <a:srgbClr val="6EA8E2"/>
          </a:solidFill>
          <a:ln w="31406">
            <a:solidFill>
              <a:srgbClr val="003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3" name="right-query-graph:right-q1-label-442"/>
          <p:cNvSpPr txBox="1"/>
          <p:nvPr/>
        </p:nvSpPr>
        <p:spPr>
          <a:xfrm>
            <a:off x="10238515" y="3033867"/>
            <a:ext cx="301502" cy="3015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53"/>
              </a:lnSpc>
              <a:spcBef>
                <a:spcPts val="0"/>
              </a:spcBef>
              <a:spcAft>
                <a:spcPts val="0"/>
              </a:spcAft>
              <a:defRPr sz="1068" b="0" i="1">
                <a:solidFill>
                  <a:srgbClr val="111111"/>
                </a:solidFill>
                <a:latin typeface="DejaVu Serif"/>
              </a:defRPr>
            </a:pPr>
            <a:r>
              <a:t>q₁</a:t>
            </a:r>
          </a:p>
        </p:txBody>
      </p:sp>
      <p:sp>
        <p:nvSpPr>
          <p:cNvPr id="444" name="right-query-graph:right-q2-circle-443"/>
          <p:cNvSpPr/>
          <p:nvPr/>
        </p:nvSpPr>
        <p:spPr>
          <a:xfrm>
            <a:off x="10244797" y="3819029"/>
            <a:ext cx="301502" cy="301502"/>
          </a:xfrm>
          <a:prstGeom prst="ellipse">
            <a:avLst/>
          </a:prstGeom>
          <a:solidFill>
            <a:srgbClr val="6EA8E2"/>
          </a:solidFill>
          <a:ln w="31406">
            <a:solidFill>
              <a:srgbClr val="003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5" name="right-query-graph:right-q2-label-444"/>
          <p:cNvSpPr txBox="1"/>
          <p:nvPr/>
        </p:nvSpPr>
        <p:spPr>
          <a:xfrm>
            <a:off x="10244797" y="3825310"/>
            <a:ext cx="301502" cy="3015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53"/>
              </a:lnSpc>
              <a:spcBef>
                <a:spcPts val="0"/>
              </a:spcBef>
              <a:spcAft>
                <a:spcPts val="0"/>
              </a:spcAft>
              <a:defRPr sz="1068" b="0" i="1">
                <a:solidFill>
                  <a:srgbClr val="111111"/>
                </a:solidFill>
                <a:latin typeface="DejaVu Serif"/>
              </a:defRPr>
            </a:pPr>
            <a:r>
              <a:t>q₂</a:t>
            </a:r>
          </a:p>
        </p:txBody>
      </p:sp>
      <p:sp>
        <p:nvSpPr>
          <p:cNvPr id="446" name="right-query-graph:right-q6-circle-445"/>
          <p:cNvSpPr/>
          <p:nvPr/>
        </p:nvSpPr>
        <p:spPr>
          <a:xfrm>
            <a:off x="10772426" y="3329088"/>
            <a:ext cx="314065" cy="314065"/>
          </a:xfrm>
          <a:prstGeom prst="ellipse">
            <a:avLst/>
          </a:prstGeom>
          <a:solidFill>
            <a:srgbClr val="FBE6E5"/>
          </a:solidFill>
          <a:ln w="31406">
            <a:solidFill>
              <a:srgbClr val="B5525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7" name="right-query-graph:right-q6-label-446"/>
          <p:cNvSpPr txBox="1"/>
          <p:nvPr/>
        </p:nvSpPr>
        <p:spPr>
          <a:xfrm>
            <a:off x="10772426" y="3335369"/>
            <a:ext cx="314065" cy="31406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01"/>
              </a:lnSpc>
              <a:spcBef>
                <a:spcPts val="0"/>
              </a:spcBef>
              <a:spcAft>
                <a:spcPts val="0"/>
              </a:spcAft>
              <a:defRPr sz="1112" b="0" i="1">
                <a:solidFill>
                  <a:srgbClr val="111111"/>
                </a:solidFill>
                <a:latin typeface="DejaVu Serif"/>
              </a:defRPr>
            </a:pPr>
            <a:r>
              <a:t>q₆</a:t>
            </a:r>
          </a:p>
        </p:txBody>
      </p:sp>
      <p:sp>
        <p:nvSpPr>
          <p:cNvPr id="448" name="right-query-graph:right-q5-circle-447"/>
          <p:cNvSpPr/>
          <p:nvPr/>
        </p:nvSpPr>
        <p:spPr>
          <a:xfrm>
            <a:off x="11331461" y="2839147"/>
            <a:ext cx="301502" cy="301502"/>
          </a:xfrm>
          <a:prstGeom prst="ellipse">
            <a:avLst/>
          </a:prstGeom>
          <a:solidFill>
            <a:srgbClr val="6EA8E2"/>
          </a:solidFill>
          <a:ln w="31406">
            <a:solidFill>
              <a:srgbClr val="003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9" name="right-query-graph:right-q5-label-448"/>
          <p:cNvSpPr txBox="1"/>
          <p:nvPr/>
        </p:nvSpPr>
        <p:spPr>
          <a:xfrm>
            <a:off x="11331461" y="2845428"/>
            <a:ext cx="301502" cy="3015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53"/>
              </a:lnSpc>
              <a:spcBef>
                <a:spcPts val="0"/>
              </a:spcBef>
              <a:spcAft>
                <a:spcPts val="0"/>
              </a:spcAft>
              <a:defRPr sz="1068" b="0" i="1">
                <a:solidFill>
                  <a:srgbClr val="111111"/>
                </a:solidFill>
                <a:latin typeface="DejaVu Serif"/>
              </a:defRPr>
            </a:pPr>
            <a:r>
              <a:t>q₅</a:t>
            </a:r>
          </a:p>
        </p:txBody>
      </p:sp>
      <p:sp>
        <p:nvSpPr>
          <p:cNvPr id="450" name="right-query-graph:right-q4-circle-449"/>
          <p:cNvSpPr/>
          <p:nvPr/>
        </p:nvSpPr>
        <p:spPr>
          <a:xfrm>
            <a:off x="11582713" y="3429589"/>
            <a:ext cx="301502" cy="301502"/>
          </a:xfrm>
          <a:prstGeom prst="ellipse">
            <a:avLst/>
          </a:prstGeom>
          <a:solidFill>
            <a:srgbClr val="6EA8E2"/>
          </a:solidFill>
          <a:ln w="31406">
            <a:solidFill>
              <a:srgbClr val="003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1" name="right-query-graph:right-q4-label-450"/>
          <p:cNvSpPr txBox="1"/>
          <p:nvPr/>
        </p:nvSpPr>
        <p:spPr>
          <a:xfrm>
            <a:off x="11582713" y="3435870"/>
            <a:ext cx="301502" cy="3015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53"/>
              </a:lnSpc>
              <a:spcBef>
                <a:spcPts val="0"/>
              </a:spcBef>
              <a:spcAft>
                <a:spcPts val="0"/>
              </a:spcAft>
              <a:defRPr sz="1068" b="0" i="1">
                <a:solidFill>
                  <a:srgbClr val="111111"/>
                </a:solidFill>
                <a:latin typeface="DejaVu Serif"/>
              </a:defRPr>
            </a:pPr>
            <a:r>
              <a:t>q₄</a:t>
            </a:r>
          </a:p>
        </p:txBody>
      </p:sp>
      <p:sp>
        <p:nvSpPr>
          <p:cNvPr id="452" name="right-query-graph:right-q3-circle-451"/>
          <p:cNvSpPr/>
          <p:nvPr/>
        </p:nvSpPr>
        <p:spPr>
          <a:xfrm>
            <a:off x="11281211" y="4045156"/>
            <a:ext cx="301502" cy="301502"/>
          </a:xfrm>
          <a:prstGeom prst="ellipse">
            <a:avLst/>
          </a:prstGeom>
          <a:solidFill>
            <a:srgbClr val="6EA8E2"/>
          </a:solidFill>
          <a:ln w="31406">
            <a:solidFill>
              <a:srgbClr val="003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3" name="right-query-graph:right-q3-label-452"/>
          <p:cNvSpPr txBox="1"/>
          <p:nvPr/>
        </p:nvSpPr>
        <p:spPr>
          <a:xfrm>
            <a:off x="11281211" y="4051437"/>
            <a:ext cx="301502" cy="3015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53"/>
              </a:lnSpc>
              <a:spcBef>
                <a:spcPts val="0"/>
              </a:spcBef>
              <a:spcAft>
                <a:spcPts val="0"/>
              </a:spcAft>
              <a:defRPr sz="1068" b="0" i="1">
                <a:solidFill>
                  <a:srgbClr val="111111"/>
                </a:solidFill>
                <a:latin typeface="DejaVu Serif"/>
              </a:defRPr>
            </a:pPr>
            <a:r>
              <a:t>q₃</a:t>
            </a:r>
          </a:p>
        </p:txBody>
      </p:sp>
      <p:sp>
        <p:nvSpPr>
          <p:cNvPr id="454" name="right-query-graph:right-query-formula-453"/>
          <p:cNvSpPr txBox="1"/>
          <p:nvPr/>
        </p:nvSpPr>
        <p:spPr>
          <a:xfrm>
            <a:off x="9742293" y="4120531"/>
            <a:ext cx="1042695" cy="2952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61"/>
              </a:lnSpc>
              <a:spcBef>
                <a:spcPts val="0"/>
              </a:spcBef>
              <a:spcAft>
                <a:spcPts val="0"/>
              </a:spcAft>
              <a:defRPr sz="890" b="0" i="1">
                <a:solidFill>
                  <a:srgbClr val="003A78"/>
                </a:solidFill>
                <a:latin typeface="DejaVu Serif"/>
              </a:defRPr>
            </a:pPr>
            <a:r>
              <a:t>G_query</a:t>
            </a:r>
          </a:p>
          <a:p>
            <a:pPr algn="ctr">
              <a:lnSpc>
                <a:spcPts val="961"/>
              </a:lnSpc>
              <a:spcBef>
                <a:spcPts val="0"/>
              </a:spcBef>
              <a:spcAft>
                <a:spcPts val="0"/>
              </a:spcAft>
              <a:defRPr sz="890" b="0" i="1">
                <a:solidFill>
                  <a:srgbClr val="003A78"/>
                </a:solidFill>
                <a:latin typeface="DejaVu Serif"/>
              </a:defRPr>
            </a:pPr>
            <a:r>
              <a:t>^(t+1)</a:t>
            </a:r>
          </a:p>
        </p:txBody>
      </p:sp>
      <p:sp>
        <p:nvSpPr>
          <p:cNvPr id="455" name="right-update-flow:update-corridor-454"/>
          <p:cNvSpPr/>
          <p:nvPr/>
        </p:nvSpPr>
        <p:spPr>
          <a:xfrm>
            <a:off x="10627956" y="1752482"/>
            <a:ext cx="603005" cy="1890671"/>
          </a:xfrm>
          <a:prstGeom prst="roundRect">
            <a:avLst>
              <a:gd name="adj" fmla="val 41666"/>
            </a:avLst>
          </a:prstGeom>
          <a:solidFill>
            <a:srgbClr val="F1E1E4">
              <a:alpha val="46000"/>
            </a:srgbClr>
          </a:solidFill>
          <a:ln w="12562">
            <a:solidFill>
              <a:srgbClr val="E2A0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56" name="right-update-flow:update-corridor-up-shaft-455"/>
          <p:cNvCxnSpPr/>
          <p:nvPr/>
        </p:nvCxnSpPr>
        <p:spPr>
          <a:xfrm flipV="1">
            <a:off x="10929458" y="2092928"/>
            <a:ext cx="0" cy="1349223"/>
          </a:xfrm>
          <a:prstGeom prst="line">
            <a:avLst/>
          </a:prstGeom>
          <a:ln w="31406">
            <a:solidFill>
              <a:srgbClr val="B55252"/>
            </a:solidFill>
            <a:prstDash val="dash"/>
          </a:ln>
          <a:effectLst/>
        </p:spPr>
      </p:cxnSp>
      <p:sp>
        <p:nvSpPr>
          <p:cNvPr id="457" name="right-update-flow:update-corridor-up-head-456"/>
          <p:cNvSpPr/>
          <p:nvPr/>
        </p:nvSpPr>
        <p:spPr>
          <a:xfrm>
            <a:off x="10869400" y="2028859"/>
            <a:ext cx="119345" cy="75376"/>
          </a:xfrm>
          <a:custGeom>
            <a:avLst/>
            <a:gdLst/>
            <a:ahLst/>
            <a:cxnLst/>
            <a:rect l="l" t="t" r="r" b="b"/>
            <a:pathLst>
              <a:path w="19" h="12">
                <a:moveTo>
                  <a:pt x="10" y="0"/>
                </a:moveTo>
                <a:lnTo>
                  <a:pt x="19" y="12"/>
                </a:lnTo>
                <a:lnTo>
                  <a:pt x="0" y="12"/>
                </a:lnTo>
                <a:close/>
              </a:path>
            </a:pathLst>
          </a:custGeom>
          <a:solidFill>
            <a:srgbClr val="B55252"/>
          </a:solidFill>
          <a:ln w="6281">
            <a:solidFill>
              <a:srgbClr val="B5525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8" name="right-update-flow:right-l6-overlay-circle-457"/>
          <p:cNvSpPr/>
          <p:nvPr/>
        </p:nvSpPr>
        <p:spPr>
          <a:xfrm>
            <a:off x="10747301" y="1727357"/>
            <a:ext cx="364315" cy="364315"/>
          </a:xfrm>
          <a:prstGeom prst="ellipse">
            <a:avLst/>
          </a:prstGeom>
          <a:solidFill>
            <a:srgbClr val="FBE6E5"/>
          </a:solidFill>
          <a:ln w="31406">
            <a:solidFill>
              <a:srgbClr val="B5525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9" name="right-update-flow:right-l6-overlay-label-458"/>
          <p:cNvSpPr txBox="1"/>
          <p:nvPr/>
        </p:nvSpPr>
        <p:spPr>
          <a:xfrm>
            <a:off x="10747301" y="1733638"/>
            <a:ext cx="364315" cy="36431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94"/>
              </a:lnSpc>
              <a:spcBef>
                <a:spcPts val="0"/>
              </a:spcBef>
              <a:spcAft>
                <a:spcPts val="0"/>
              </a:spcAft>
              <a:defRPr sz="1290" b="0" i="1">
                <a:solidFill>
                  <a:srgbClr val="B55252"/>
                </a:solidFill>
                <a:latin typeface="DejaVu Serif"/>
              </a:defRPr>
            </a:pPr>
            <a:r>
              <a:t>l₆</a:t>
            </a:r>
          </a:p>
        </p:txBody>
      </p:sp>
      <p:sp>
        <p:nvSpPr>
          <p:cNvPr id="460" name="right-update-flow:right-q6-overlay-circle-459"/>
          <p:cNvSpPr/>
          <p:nvPr/>
        </p:nvSpPr>
        <p:spPr>
          <a:xfrm>
            <a:off x="10772426" y="3329088"/>
            <a:ext cx="314065" cy="314065"/>
          </a:xfrm>
          <a:prstGeom prst="ellipse">
            <a:avLst/>
          </a:prstGeom>
          <a:solidFill>
            <a:srgbClr val="FBE6E5"/>
          </a:solidFill>
          <a:ln w="31406">
            <a:solidFill>
              <a:srgbClr val="B5525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1" name="right-update-flow:right-q6-overlay-label-460"/>
          <p:cNvSpPr txBox="1"/>
          <p:nvPr/>
        </p:nvSpPr>
        <p:spPr>
          <a:xfrm>
            <a:off x="10772426" y="3335369"/>
            <a:ext cx="314065" cy="31406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01"/>
              </a:lnSpc>
              <a:spcBef>
                <a:spcPts val="0"/>
              </a:spcBef>
              <a:spcAft>
                <a:spcPts val="0"/>
              </a:spcAft>
              <a:defRPr sz="1112" b="0" i="1">
                <a:solidFill>
                  <a:srgbClr val="111111"/>
                </a:solidFill>
                <a:latin typeface="DejaVu Serif"/>
              </a:defRPr>
            </a:pPr>
            <a:r>
              <a:t>q₆</a:t>
            </a:r>
          </a:p>
        </p:txBody>
      </p:sp>
      <p:sp>
        <p:nvSpPr>
          <p:cNvPr id="462" name="right-update-flow:feedback-update-arrow-461"/>
          <p:cNvSpPr/>
          <p:nvPr/>
        </p:nvSpPr>
        <p:spPr>
          <a:xfrm>
            <a:off x="9635511" y="3310244"/>
            <a:ext cx="1111790" cy="263815"/>
          </a:xfrm>
          <a:custGeom>
            <a:avLst/>
            <a:gdLst/>
            <a:ahLst/>
            <a:cxnLst/>
            <a:rect l="l" t="t" r="r" b="b"/>
            <a:pathLst>
              <a:path w="177" h="42">
                <a:moveTo>
                  <a:pt x="0" y="10"/>
                </a:moveTo>
                <a:lnTo>
                  <a:pt x="149" y="10"/>
                </a:lnTo>
                <a:lnTo>
                  <a:pt x="149" y="0"/>
                </a:lnTo>
                <a:lnTo>
                  <a:pt x="177" y="21"/>
                </a:lnTo>
                <a:lnTo>
                  <a:pt x="149" y="42"/>
                </a:lnTo>
                <a:lnTo>
                  <a:pt x="149" y="32"/>
                </a:lnTo>
                <a:lnTo>
                  <a:pt x="0" y="32"/>
                </a:lnTo>
                <a:close/>
              </a:path>
            </a:pathLst>
          </a:custGeom>
          <a:solidFill>
            <a:srgbClr val="FF9899"/>
          </a:solidFill>
          <a:ln w="18843">
            <a:solidFill>
              <a:srgbClr val="F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3" name="right-update-flow:update-insights-label-462"/>
          <p:cNvSpPr txBox="1"/>
          <p:nvPr/>
        </p:nvSpPr>
        <p:spPr>
          <a:xfrm>
            <a:off x="9955857" y="2179610"/>
            <a:ext cx="753756" cy="4396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42"/>
              </a:lnSpc>
              <a:spcBef>
                <a:spcPts val="0"/>
              </a:spcBef>
              <a:spcAft>
                <a:spcPts val="0"/>
              </a:spcAft>
              <a:defRPr sz="1335" b="0" i="1">
                <a:solidFill>
                  <a:srgbClr val="F00000"/>
                </a:solidFill>
                <a:latin typeface="DejaVu Serif"/>
              </a:defRPr>
            </a:pPr>
            <a:r>
              <a:t>Update</a:t>
            </a:r>
          </a:p>
          <a:p>
            <a:pPr algn="ctr">
              <a:lnSpc>
                <a:spcPts val="1442"/>
              </a:lnSpc>
              <a:spcBef>
                <a:spcPts val="0"/>
              </a:spcBef>
              <a:spcAft>
                <a:spcPts val="0"/>
              </a:spcAft>
              <a:defRPr sz="1335" b="0" i="1">
                <a:solidFill>
                  <a:srgbClr val="F00000"/>
                </a:solidFill>
                <a:latin typeface="DejaVu Serif"/>
              </a:defRPr>
            </a:pPr>
            <a:r>
              <a:t>Insights</a:t>
            </a:r>
          </a:p>
        </p:txBody>
      </p:sp>
      <p:sp>
        <p:nvSpPr>
          <p:cNvPr id="464" name="right-interaction-graph:interaction-update-fill-463"/>
          <p:cNvSpPr/>
          <p:nvPr/>
        </p:nvSpPr>
        <p:spPr>
          <a:xfrm>
            <a:off x="10125452" y="3611746"/>
            <a:ext cx="1664544" cy="1394448"/>
          </a:xfrm>
          <a:custGeom>
            <a:avLst/>
            <a:gdLst/>
            <a:ahLst/>
            <a:cxnLst/>
            <a:rect l="l" t="t" r="r" b="b"/>
            <a:pathLst>
              <a:path w="265" h="222">
                <a:moveTo>
                  <a:pt x="128" y="0"/>
                </a:moveTo>
                <a:lnTo>
                  <a:pt x="265" y="222"/>
                </a:lnTo>
                <a:lnTo>
                  <a:pt x="0" y="222"/>
                </a:lnTo>
                <a:close/>
              </a:path>
            </a:pathLst>
          </a:custGeom>
          <a:solidFill>
            <a:srgbClr val="F5DFEC">
              <a:alpha val="48000"/>
            </a:srgbClr>
          </a:solidFill>
          <a:ln w="18843">
            <a:solidFill>
              <a:srgbClr val="111111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5" name="right-interaction-graph:right-interaction-circle-464"/>
          <p:cNvSpPr/>
          <p:nvPr/>
        </p:nvSpPr>
        <p:spPr>
          <a:xfrm>
            <a:off x="9968420" y="4748661"/>
            <a:ext cx="1997453" cy="1997453"/>
          </a:xfrm>
          <a:prstGeom prst="ellipse">
            <a:avLst/>
          </a:prstGeom>
          <a:solidFill>
            <a:srgbClr val="F5DFEC"/>
          </a:solidFill>
          <a:ln w="31406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66" name="right-interaction-graph:right-inter-top-shaft-465"/>
          <p:cNvCxnSpPr/>
          <p:nvPr/>
        </p:nvCxnSpPr>
        <p:spPr>
          <a:xfrm>
            <a:off x="10615393" y="5408197"/>
            <a:ext cx="608281" cy="0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467" name="right-interaction-graph:right-inter-top-head-466"/>
          <p:cNvSpPr/>
          <p:nvPr/>
        </p:nvSpPr>
        <p:spPr>
          <a:xfrm>
            <a:off x="11216852" y="5360151"/>
            <a:ext cx="56532" cy="94219"/>
          </a:xfrm>
          <a:custGeom>
            <a:avLst/>
            <a:gdLst/>
            <a:ahLst/>
            <a:cxnLst/>
            <a:rect l="l" t="t" r="r" b="b"/>
            <a:pathLst>
              <a:path w="9" h="15">
                <a:moveTo>
                  <a:pt x="9" y="8"/>
                </a:moveTo>
                <a:lnTo>
                  <a:pt x="0" y="15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68" name="right-interaction-graph:right-inter-right-shaft-467"/>
          <p:cNvCxnSpPr/>
          <p:nvPr/>
        </p:nvCxnSpPr>
        <p:spPr>
          <a:xfrm>
            <a:off x="11375430" y="5546386"/>
            <a:ext cx="0" cy="526624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469" name="right-interaction-graph:right-inter-right-head-468"/>
          <p:cNvSpPr/>
          <p:nvPr/>
        </p:nvSpPr>
        <p:spPr>
          <a:xfrm>
            <a:off x="11327384" y="6066187"/>
            <a:ext cx="94219" cy="56532"/>
          </a:xfrm>
          <a:custGeom>
            <a:avLst/>
            <a:gdLst/>
            <a:ahLst/>
            <a:cxnLst/>
            <a:rect l="l" t="t" r="r" b="b"/>
            <a:pathLst>
              <a:path w="15" h="9">
                <a:moveTo>
                  <a:pt x="8" y="9"/>
                </a:moveTo>
                <a:lnTo>
                  <a:pt x="0" y="0"/>
                </a:lnTo>
                <a:lnTo>
                  <a:pt x="15" y="0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70" name="right-interaction-graph:right-inter-bottom-shaft-469"/>
          <p:cNvCxnSpPr/>
          <p:nvPr/>
        </p:nvCxnSpPr>
        <p:spPr>
          <a:xfrm flipH="1">
            <a:off x="10666649" y="6281298"/>
            <a:ext cx="576874" cy="0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471" name="right-interaction-graph:right-inter-bottom-head-470"/>
          <p:cNvSpPr/>
          <p:nvPr/>
        </p:nvSpPr>
        <p:spPr>
          <a:xfrm>
            <a:off x="10615393" y="6233252"/>
            <a:ext cx="56532" cy="94219"/>
          </a:xfrm>
          <a:custGeom>
            <a:avLst/>
            <a:gdLst/>
            <a:ahLst/>
            <a:cxnLst/>
            <a:rect l="l" t="t" r="r" b="b"/>
            <a:pathLst>
              <a:path w="9" h="15">
                <a:moveTo>
                  <a:pt x="0" y="8"/>
                </a:moveTo>
                <a:lnTo>
                  <a:pt x="9" y="0"/>
                </a:lnTo>
                <a:lnTo>
                  <a:pt x="9" y="15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72" name="right-interaction-graph:right-inter-left-shaft-471"/>
          <p:cNvCxnSpPr/>
          <p:nvPr/>
        </p:nvCxnSpPr>
        <p:spPr>
          <a:xfrm flipV="1">
            <a:off x="10508611" y="5603923"/>
            <a:ext cx="0" cy="545468"/>
          </a:xfrm>
          <a:prstGeom prst="line">
            <a:avLst/>
          </a:prstGeom>
          <a:ln w="25125">
            <a:solidFill>
              <a:srgbClr val="707070"/>
            </a:solidFill>
          </a:ln>
          <a:effectLst/>
        </p:spPr>
      </p:cxnSp>
      <p:sp>
        <p:nvSpPr>
          <p:cNvPr id="473" name="right-interaction-graph:right-inter-left-head-472"/>
          <p:cNvSpPr/>
          <p:nvPr/>
        </p:nvSpPr>
        <p:spPr>
          <a:xfrm>
            <a:off x="10460565" y="5552667"/>
            <a:ext cx="94219" cy="56532"/>
          </a:xfrm>
          <a:custGeom>
            <a:avLst/>
            <a:gdLst/>
            <a:ahLst/>
            <a:cxnLst/>
            <a:rect l="l" t="t" r="r" b="b"/>
            <a:pathLst>
              <a:path w="15" h="9">
                <a:moveTo>
                  <a:pt x="8" y="0"/>
                </a:moveTo>
                <a:lnTo>
                  <a:pt x="15" y="9"/>
                </a:lnTo>
                <a:lnTo>
                  <a:pt x="0" y="9"/>
                </a:lnTo>
                <a:close/>
              </a:path>
            </a:pathLst>
          </a:custGeom>
          <a:solidFill>
            <a:srgbClr val="707070"/>
          </a:solidFill>
          <a:ln w="6281">
            <a:solidFill>
              <a:srgbClr val="7070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4" name="right-interaction-graph:right-inter-a-ring-473"/>
          <p:cNvSpPr/>
          <p:nvPr/>
        </p:nvSpPr>
        <p:spPr>
          <a:xfrm>
            <a:off x="10351579" y="5257446"/>
            <a:ext cx="314065" cy="314065"/>
          </a:xfrm>
          <a:prstGeom prst="ellipse">
            <a:avLst/>
          </a:prstGeom>
          <a:solidFill>
            <a:srgbClr val="F4D6F0"/>
          </a:solidFill>
          <a:ln w="31406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5" name="right-interaction-graph:right-inter-a-screen-474"/>
          <p:cNvSpPr/>
          <p:nvPr/>
        </p:nvSpPr>
        <p:spPr>
          <a:xfrm>
            <a:off x="10420673" y="5362658"/>
            <a:ext cx="175876" cy="128767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6" name="right-interaction-graph:right-inter-a-avatar-475"/>
          <p:cNvSpPr/>
          <p:nvPr/>
        </p:nvSpPr>
        <p:spPr>
          <a:xfrm>
            <a:off x="10443537" y="5399027"/>
            <a:ext cx="130148" cy="46356"/>
          </a:xfrm>
          <a:prstGeom prst="roundRect">
            <a:avLst>
              <a:gd name="adj" fmla="val 13550"/>
            </a:avLst>
          </a:prstGeom>
          <a:solidFill>
            <a:srgbClr val="F04B7A"/>
          </a:solidFill>
          <a:ln w="6281">
            <a:solidFill>
              <a:srgbClr val="F04B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7" name="right-interaction-graph:right-inter-a-face-476"/>
          <p:cNvSpPr/>
          <p:nvPr/>
        </p:nvSpPr>
        <p:spPr>
          <a:xfrm>
            <a:off x="10476953" y="5404177"/>
            <a:ext cx="63315" cy="41205"/>
          </a:xfrm>
          <a:prstGeom prst="roundRect">
            <a:avLst>
              <a:gd name="adj" fmla="val 15243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8" name="right-interaction-graph:right-inter-a-eye-l-477"/>
          <p:cNvSpPr/>
          <p:nvPr/>
        </p:nvSpPr>
        <p:spPr>
          <a:xfrm>
            <a:off x="10489265" y="5413191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9" name="right-interaction-graph:right-inter-a-eye-r-478"/>
          <p:cNvSpPr/>
          <p:nvPr/>
        </p:nvSpPr>
        <p:spPr>
          <a:xfrm>
            <a:off x="10520923" y="5413191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0" name="right-interaction-graph:right-inter-b-ring-479"/>
          <p:cNvSpPr/>
          <p:nvPr/>
        </p:nvSpPr>
        <p:spPr>
          <a:xfrm>
            <a:off x="11224679" y="5257446"/>
            <a:ext cx="314065" cy="314065"/>
          </a:xfrm>
          <a:prstGeom prst="ellipse">
            <a:avLst/>
          </a:prstGeom>
          <a:solidFill>
            <a:srgbClr val="F4D6F0"/>
          </a:solidFill>
          <a:ln w="31406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1" name="right-interaction-graph:right-inter-b-screen-480"/>
          <p:cNvSpPr/>
          <p:nvPr/>
        </p:nvSpPr>
        <p:spPr>
          <a:xfrm>
            <a:off x="11293773" y="5362658"/>
            <a:ext cx="175876" cy="128767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2" name="right-interaction-graph:right-inter-b-avatar-481"/>
          <p:cNvSpPr/>
          <p:nvPr/>
        </p:nvSpPr>
        <p:spPr>
          <a:xfrm>
            <a:off x="11316637" y="5399027"/>
            <a:ext cx="130148" cy="46356"/>
          </a:xfrm>
          <a:prstGeom prst="roundRect">
            <a:avLst>
              <a:gd name="adj" fmla="val 13550"/>
            </a:avLst>
          </a:prstGeom>
          <a:solidFill>
            <a:srgbClr val="F04B7A"/>
          </a:solidFill>
          <a:ln w="6281">
            <a:solidFill>
              <a:srgbClr val="F04B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3" name="right-interaction-graph:right-inter-b-face-482"/>
          <p:cNvSpPr/>
          <p:nvPr/>
        </p:nvSpPr>
        <p:spPr>
          <a:xfrm>
            <a:off x="11350054" y="5404177"/>
            <a:ext cx="63315" cy="41205"/>
          </a:xfrm>
          <a:prstGeom prst="roundRect">
            <a:avLst>
              <a:gd name="adj" fmla="val 15243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4" name="right-interaction-graph:right-inter-b-eye-l-483"/>
          <p:cNvSpPr/>
          <p:nvPr/>
        </p:nvSpPr>
        <p:spPr>
          <a:xfrm>
            <a:off x="11362365" y="5413191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5" name="right-interaction-graph:right-inter-b-eye-r-484"/>
          <p:cNvSpPr/>
          <p:nvPr/>
        </p:nvSpPr>
        <p:spPr>
          <a:xfrm>
            <a:off x="11394023" y="5413191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6" name="right-interaction-graph:right-inter-c-ring-485"/>
          <p:cNvSpPr/>
          <p:nvPr/>
        </p:nvSpPr>
        <p:spPr>
          <a:xfrm>
            <a:off x="10351579" y="6130547"/>
            <a:ext cx="314065" cy="314065"/>
          </a:xfrm>
          <a:prstGeom prst="ellipse">
            <a:avLst/>
          </a:prstGeom>
          <a:solidFill>
            <a:srgbClr val="F4D6F0"/>
          </a:solidFill>
          <a:ln w="31406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7" name="right-interaction-graph:right-inter-c-screen-486"/>
          <p:cNvSpPr/>
          <p:nvPr/>
        </p:nvSpPr>
        <p:spPr>
          <a:xfrm>
            <a:off x="10420673" y="6235758"/>
            <a:ext cx="175876" cy="128767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8" name="right-interaction-graph:right-inter-c-avatar-487"/>
          <p:cNvSpPr/>
          <p:nvPr/>
        </p:nvSpPr>
        <p:spPr>
          <a:xfrm>
            <a:off x="10443537" y="6272127"/>
            <a:ext cx="130148" cy="46356"/>
          </a:xfrm>
          <a:prstGeom prst="roundRect">
            <a:avLst>
              <a:gd name="adj" fmla="val 13550"/>
            </a:avLst>
          </a:prstGeom>
          <a:solidFill>
            <a:srgbClr val="F04B7A"/>
          </a:solidFill>
          <a:ln w="6281">
            <a:solidFill>
              <a:srgbClr val="F04B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9" name="right-interaction-graph:right-inter-c-face-488"/>
          <p:cNvSpPr/>
          <p:nvPr/>
        </p:nvSpPr>
        <p:spPr>
          <a:xfrm>
            <a:off x="10476953" y="6277278"/>
            <a:ext cx="63315" cy="41205"/>
          </a:xfrm>
          <a:prstGeom prst="roundRect">
            <a:avLst>
              <a:gd name="adj" fmla="val 15243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0" name="right-interaction-graph:right-inter-c-eye-l-489"/>
          <p:cNvSpPr/>
          <p:nvPr/>
        </p:nvSpPr>
        <p:spPr>
          <a:xfrm>
            <a:off x="10489265" y="6286291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1" name="right-interaction-graph:right-inter-c-eye-r-490"/>
          <p:cNvSpPr/>
          <p:nvPr/>
        </p:nvSpPr>
        <p:spPr>
          <a:xfrm>
            <a:off x="10520923" y="6286291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2" name="right-interaction-graph:right-inter-d-ring-491"/>
          <p:cNvSpPr/>
          <p:nvPr/>
        </p:nvSpPr>
        <p:spPr>
          <a:xfrm>
            <a:off x="11224679" y="6130547"/>
            <a:ext cx="314065" cy="314065"/>
          </a:xfrm>
          <a:prstGeom prst="ellipse">
            <a:avLst/>
          </a:prstGeom>
          <a:solidFill>
            <a:srgbClr val="F4D6F0"/>
          </a:solidFill>
          <a:ln w="31406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3" name="right-interaction-graph:right-inter-d-screen-492"/>
          <p:cNvSpPr/>
          <p:nvPr/>
        </p:nvSpPr>
        <p:spPr>
          <a:xfrm>
            <a:off x="11293773" y="6235758"/>
            <a:ext cx="175876" cy="128767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56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4" name="right-interaction-graph:right-inter-d-avatar-493"/>
          <p:cNvSpPr/>
          <p:nvPr/>
        </p:nvSpPr>
        <p:spPr>
          <a:xfrm>
            <a:off x="11316637" y="6272127"/>
            <a:ext cx="130148" cy="46356"/>
          </a:xfrm>
          <a:prstGeom prst="roundRect">
            <a:avLst>
              <a:gd name="adj" fmla="val 13550"/>
            </a:avLst>
          </a:prstGeom>
          <a:solidFill>
            <a:srgbClr val="3555E6"/>
          </a:solidFill>
          <a:ln w="6281">
            <a:solidFill>
              <a:srgbClr val="3555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5" name="right-interaction-graph:right-inter-d-face-494"/>
          <p:cNvSpPr/>
          <p:nvPr/>
        </p:nvSpPr>
        <p:spPr>
          <a:xfrm>
            <a:off x="11350054" y="6277278"/>
            <a:ext cx="63315" cy="41205"/>
          </a:xfrm>
          <a:prstGeom prst="roundRect">
            <a:avLst>
              <a:gd name="adj" fmla="val 15243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6" name="right-interaction-graph:right-inter-d-eye-l-495"/>
          <p:cNvSpPr/>
          <p:nvPr/>
        </p:nvSpPr>
        <p:spPr>
          <a:xfrm>
            <a:off x="11362365" y="6286291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7" name="right-interaction-graph:right-inter-d-eye-r-496"/>
          <p:cNvSpPr/>
          <p:nvPr/>
        </p:nvSpPr>
        <p:spPr>
          <a:xfrm>
            <a:off x="11394023" y="6286291"/>
            <a:ext cx="20100" cy="201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8" name="right-interaction-graph:right-inter-d-crown-497"/>
          <p:cNvSpPr/>
          <p:nvPr/>
        </p:nvSpPr>
        <p:spPr>
          <a:xfrm>
            <a:off x="11330707" y="6212894"/>
            <a:ext cx="100501" cy="31406"/>
          </a:xfrm>
          <a:custGeom>
            <a:avLst/>
            <a:gdLst/>
            <a:ahLst/>
            <a:cxnLst/>
            <a:rect l="l" t="t" r="r" b="b"/>
            <a:pathLst>
              <a:path w="16" h="5">
                <a:moveTo>
                  <a:pt x="0" y="5"/>
                </a:moveTo>
                <a:lnTo>
                  <a:pt x="3" y="1"/>
                </a:lnTo>
                <a:lnTo>
                  <a:pt x="7" y="4"/>
                </a:lnTo>
                <a:lnTo>
                  <a:pt x="11" y="0"/>
                </a:lnTo>
                <a:lnTo>
                  <a:pt x="16" y="5"/>
                </a:lnTo>
                <a:close/>
              </a:path>
            </a:pathLst>
          </a:custGeom>
          <a:solidFill>
            <a:srgbClr val="FFD84A"/>
          </a:solidFill>
          <a:ln w="12562">
            <a:solidFill>
              <a:srgbClr val="3D007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9" name="right-interaction-graph:bubble-tl-box-498"/>
          <p:cNvSpPr/>
          <p:nvPr/>
        </p:nvSpPr>
        <p:spPr>
          <a:xfrm>
            <a:off x="9955857" y="4824037"/>
            <a:ext cx="452253" cy="351753"/>
          </a:xfrm>
          <a:prstGeom prst="roundRect">
            <a:avLst>
              <a:gd name="adj" fmla="val 12500"/>
            </a:avLst>
          </a:prstGeom>
          <a:solidFill>
            <a:srgbClr val="40A5ED"/>
          </a:solidFill>
          <a:ln w="6281">
            <a:solidFill>
              <a:srgbClr val="40A5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0" name="right-interaction-graph:bubble-tl-tail-499"/>
          <p:cNvSpPr/>
          <p:nvPr/>
        </p:nvSpPr>
        <p:spPr>
          <a:xfrm>
            <a:off x="10295047" y="5163227"/>
            <a:ext cx="125626" cy="113063"/>
          </a:xfrm>
          <a:custGeom>
            <a:avLst/>
            <a:gdLst/>
            <a:ahLst/>
            <a:cxnLst/>
            <a:rect l="l" t="t" r="r" b="b"/>
            <a:pathLst>
              <a:path w="20" h="18">
                <a:moveTo>
                  <a:pt x="0" y="0"/>
                </a:moveTo>
                <a:lnTo>
                  <a:pt x="20" y="18"/>
                </a:lnTo>
                <a:lnTo>
                  <a:pt x="13" y="0"/>
                </a:lnTo>
                <a:close/>
              </a:path>
            </a:pathLst>
          </a:custGeom>
          <a:solidFill>
            <a:srgbClr val="40A5ED"/>
          </a:solidFill>
          <a:ln w="6281">
            <a:solidFill>
              <a:srgbClr val="40A5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1" name="right-interaction-graph:bubble-tl-dot-0-500"/>
          <p:cNvSpPr/>
          <p:nvPr/>
        </p:nvSpPr>
        <p:spPr>
          <a:xfrm>
            <a:off x="10068920" y="4962225"/>
            <a:ext cx="69094" cy="6909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2" name="right-interaction-graph:bubble-tl-dot-1-501"/>
          <p:cNvSpPr/>
          <p:nvPr/>
        </p:nvSpPr>
        <p:spPr>
          <a:xfrm>
            <a:off x="10175702" y="4962225"/>
            <a:ext cx="69094" cy="6909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3" name="right-interaction-graph:bubble-tl-dot-2-502"/>
          <p:cNvSpPr/>
          <p:nvPr/>
        </p:nvSpPr>
        <p:spPr>
          <a:xfrm>
            <a:off x="10282484" y="4962225"/>
            <a:ext cx="69094" cy="6909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4" name="right-interaction-graph:bubble-tr-box-503"/>
          <p:cNvSpPr/>
          <p:nvPr/>
        </p:nvSpPr>
        <p:spPr>
          <a:xfrm>
            <a:off x="11369149" y="4824037"/>
            <a:ext cx="452253" cy="351753"/>
          </a:xfrm>
          <a:prstGeom prst="roundRect">
            <a:avLst>
              <a:gd name="adj" fmla="val 12500"/>
            </a:avLst>
          </a:prstGeom>
          <a:solidFill>
            <a:srgbClr val="40A5ED"/>
          </a:solidFill>
          <a:ln w="6281">
            <a:solidFill>
              <a:srgbClr val="40A5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5" name="right-interaction-graph:bubble-tr-tail-504"/>
          <p:cNvSpPr/>
          <p:nvPr/>
        </p:nvSpPr>
        <p:spPr>
          <a:xfrm>
            <a:off x="11444525" y="5163227"/>
            <a:ext cx="125626" cy="119345"/>
          </a:xfrm>
          <a:custGeom>
            <a:avLst/>
            <a:gdLst/>
            <a:ahLst/>
            <a:cxnLst/>
            <a:rect l="l" t="t" r="r" b="b"/>
            <a:pathLst>
              <a:path w="20" h="19">
                <a:moveTo>
                  <a:pt x="0" y="0"/>
                </a:moveTo>
                <a:lnTo>
                  <a:pt x="13" y="19"/>
                </a:lnTo>
                <a:lnTo>
                  <a:pt x="20" y="0"/>
                </a:lnTo>
                <a:close/>
              </a:path>
            </a:pathLst>
          </a:custGeom>
          <a:solidFill>
            <a:srgbClr val="40A5ED"/>
          </a:solidFill>
          <a:ln w="6281">
            <a:solidFill>
              <a:srgbClr val="40A5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6" name="right-interaction-graph:bubble-tr-dot-0-505"/>
          <p:cNvSpPr/>
          <p:nvPr/>
        </p:nvSpPr>
        <p:spPr>
          <a:xfrm>
            <a:off x="11482212" y="4962225"/>
            <a:ext cx="69094" cy="6909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7" name="right-interaction-graph:bubble-tr-dot-1-506"/>
          <p:cNvSpPr/>
          <p:nvPr/>
        </p:nvSpPr>
        <p:spPr>
          <a:xfrm>
            <a:off x="11588994" y="4962225"/>
            <a:ext cx="69094" cy="6909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8" name="right-interaction-graph:bubble-tr-dot-2-507"/>
          <p:cNvSpPr/>
          <p:nvPr/>
        </p:nvSpPr>
        <p:spPr>
          <a:xfrm>
            <a:off x="11695776" y="4962225"/>
            <a:ext cx="69094" cy="6909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9" name="right-interaction-graph:bubble-ml-box-508"/>
          <p:cNvSpPr/>
          <p:nvPr/>
        </p:nvSpPr>
        <p:spPr>
          <a:xfrm>
            <a:off x="9955857" y="5684574"/>
            <a:ext cx="452253" cy="351753"/>
          </a:xfrm>
          <a:prstGeom prst="roundRect">
            <a:avLst>
              <a:gd name="adj" fmla="val 12500"/>
            </a:avLst>
          </a:prstGeom>
          <a:solidFill>
            <a:srgbClr val="40A5ED"/>
          </a:solidFill>
          <a:ln w="6281">
            <a:solidFill>
              <a:srgbClr val="40A5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0" name="right-interaction-graph:bubble-ml-tail-509"/>
          <p:cNvSpPr/>
          <p:nvPr/>
        </p:nvSpPr>
        <p:spPr>
          <a:xfrm>
            <a:off x="10295047" y="6023765"/>
            <a:ext cx="125626" cy="113063"/>
          </a:xfrm>
          <a:custGeom>
            <a:avLst/>
            <a:gdLst/>
            <a:ahLst/>
            <a:cxnLst/>
            <a:rect l="l" t="t" r="r" b="b"/>
            <a:pathLst>
              <a:path w="20" h="18">
                <a:moveTo>
                  <a:pt x="0" y="0"/>
                </a:moveTo>
                <a:lnTo>
                  <a:pt x="20" y="18"/>
                </a:lnTo>
                <a:lnTo>
                  <a:pt x="13" y="0"/>
                </a:lnTo>
                <a:close/>
              </a:path>
            </a:pathLst>
          </a:custGeom>
          <a:solidFill>
            <a:srgbClr val="40A5ED"/>
          </a:solidFill>
          <a:ln w="6281">
            <a:solidFill>
              <a:srgbClr val="40A5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1" name="right-interaction-graph:bubble-ml-dot-0-510"/>
          <p:cNvSpPr/>
          <p:nvPr/>
        </p:nvSpPr>
        <p:spPr>
          <a:xfrm>
            <a:off x="10068920" y="5822763"/>
            <a:ext cx="69094" cy="6909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2" name="right-interaction-graph:bubble-ml-dot-1-511"/>
          <p:cNvSpPr/>
          <p:nvPr/>
        </p:nvSpPr>
        <p:spPr>
          <a:xfrm>
            <a:off x="10175702" y="5822763"/>
            <a:ext cx="69094" cy="6909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3" name="right-interaction-graph:bubble-ml-dot-2-512"/>
          <p:cNvSpPr/>
          <p:nvPr/>
        </p:nvSpPr>
        <p:spPr>
          <a:xfrm>
            <a:off x="10282484" y="5822763"/>
            <a:ext cx="69094" cy="6909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4" name="right-interaction-graph:bubble-mr-box-513"/>
          <p:cNvSpPr/>
          <p:nvPr/>
        </p:nvSpPr>
        <p:spPr>
          <a:xfrm>
            <a:off x="11369149" y="5684574"/>
            <a:ext cx="452253" cy="351753"/>
          </a:xfrm>
          <a:prstGeom prst="roundRect">
            <a:avLst>
              <a:gd name="adj" fmla="val 12500"/>
            </a:avLst>
          </a:prstGeom>
          <a:solidFill>
            <a:srgbClr val="40A5ED"/>
          </a:solidFill>
          <a:ln w="6281">
            <a:solidFill>
              <a:srgbClr val="40A5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5" name="right-interaction-graph:bubble-mr-tail-514"/>
          <p:cNvSpPr/>
          <p:nvPr/>
        </p:nvSpPr>
        <p:spPr>
          <a:xfrm>
            <a:off x="11444525" y="6023765"/>
            <a:ext cx="125626" cy="119345"/>
          </a:xfrm>
          <a:custGeom>
            <a:avLst/>
            <a:gdLst/>
            <a:ahLst/>
            <a:cxnLst/>
            <a:rect l="l" t="t" r="r" b="b"/>
            <a:pathLst>
              <a:path w="20" h="19">
                <a:moveTo>
                  <a:pt x="0" y="0"/>
                </a:moveTo>
                <a:lnTo>
                  <a:pt x="13" y="19"/>
                </a:lnTo>
                <a:lnTo>
                  <a:pt x="20" y="0"/>
                </a:lnTo>
                <a:close/>
              </a:path>
            </a:pathLst>
          </a:custGeom>
          <a:solidFill>
            <a:srgbClr val="40A5ED"/>
          </a:solidFill>
          <a:ln w="6281">
            <a:solidFill>
              <a:srgbClr val="40A5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6" name="right-interaction-graph:bubble-mr-dot-0-515"/>
          <p:cNvSpPr/>
          <p:nvPr/>
        </p:nvSpPr>
        <p:spPr>
          <a:xfrm>
            <a:off x="11482212" y="5822763"/>
            <a:ext cx="69094" cy="6909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7" name="right-interaction-graph:bubble-mr-dot-1-516"/>
          <p:cNvSpPr/>
          <p:nvPr/>
        </p:nvSpPr>
        <p:spPr>
          <a:xfrm>
            <a:off x="11588994" y="5822763"/>
            <a:ext cx="69094" cy="6909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8" name="right-interaction-graph:bubble-mr-dot-2-517"/>
          <p:cNvSpPr/>
          <p:nvPr/>
        </p:nvSpPr>
        <p:spPr>
          <a:xfrm>
            <a:off x="11695776" y="5822763"/>
            <a:ext cx="69094" cy="6909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9" name="right-interaction-graph:right-interaction-formula-518"/>
          <p:cNvSpPr txBox="1"/>
          <p:nvPr/>
        </p:nvSpPr>
        <p:spPr>
          <a:xfrm>
            <a:off x="10659362" y="5659449"/>
            <a:ext cx="722349" cy="40828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68"/>
              </a:lnSpc>
              <a:spcBef>
                <a:spcPts val="0"/>
              </a:spcBef>
              <a:spcAft>
                <a:spcPts val="0"/>
              </a:spcAft>
              <a:defRPr sz="989" b="0" i="1">
                <a:solidFill>
                  <a:srgbClr val="474747"/>
                </a:solidFill>
                <a:latin typeface="DejaVu Serif"/>
              </a:defRPr>
            </a:pPr>
            <a:r>
              <a:t>G_inter</a:t>
            </a:r>
          </a:p>
          <a:p>
            <a:pPr algn="ctr">
              <a:lnSpc>
                <a:spcPts val="1068"/>
              </a:lnSpc>
              <a:spcBef>
                <a:spcPts val="0"/>
              </a:spcBef>
              <a:spcAft>
                <a:spcPts val="0"/>
              </a:spcAft>
              <a:defRPr sz="989" b="0" i="1">
                <a:solidFill>
                  <a:srgbClr val="474747"/>
                </a:solidFill>
                <a:latin typeface="DejaVu Serif"/>
              </a:defRPr>
            </a:pPr>
            <a:r>
              <a:t>^(Q)</a:t>
            </a:r>
          </a:p>
        </p:txBody>
      </p:sp>
      <p:sp>
        <p:nvSpPr>
          <p:cNvPr id="520" name="right-interaction-graph:update-interaction-label-519"/>
          <p:cNvSpPr txBox="1"/>
          <p:nvPr/>
        </p:nvSpPr>
        <p:spPr>
          <a:xfrm>
            <a:off x="10583987" y="4334095"/>
            <a:ext cx="879382" cy="4271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42"/>
              </a:lnSpc>
              <a:spcBef>
                <a:spcPts val="0"/>
              </a:spcBef>
              <a:spcAft>
                <a:spcPts val="0"/>
              </a:spcAft>
              <a:defRPr sz="1335" b="0" i="1">
                <a:solidFill>
                  <a:srgbClr val="F00000"/>
                </a:solidFill>
                <a:latin typeface="DejaVu Serif"/>
              </a:defRPr>
            </a:pPr>
            <a:r>
              <a:t>Update</a:t>
            </a:r>
          </a:p>
          <a:p>
            <a:pPr algn="ctr">
              <a:lnSpc>
                <a:spcPts val="1442"/>
              </a:lnSpc>
              <a:spcBef>
                <a:spcPts val="0"/>
              </a:spcBef>
              <a:spcAft>
                <a:spcPts val="0"/>
              </a:spcAft>
              <a:defRPr sz="1335" b="0" i="1">
                <a:solidFill>
                  <a:srgbClr val="F00000"/>
                </a:solidFill>
                <a:latin typeface="DejaVu Serif"/>
              </a:defRPr>
            </a:pPr>
            <a:r>
              <a:t>Interaction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G-Memory Tracing Hierarchical Memory for Multi-Agent System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28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