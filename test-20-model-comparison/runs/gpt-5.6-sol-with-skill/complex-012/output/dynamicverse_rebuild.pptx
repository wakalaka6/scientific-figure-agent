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7602200" cy="1295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001-page-background"/>
          <p:cNvSpPr/>
          <p:nvPr/>
        </p:nvSpPr>
        <p:spPr>
          <a:xfrm>
            <a:off x="0" y="0"/>
            <a:ext cx="17602200" cy="129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002-stage-1-title"/>
          <p:cNvSpPr txBox="1"/>
          <p:nvPr/>
        </p:nvSpPr>
        <p:spPr>
          <a:xfrm>
            <a:off x="476250" y="19050"/>
            <a:ext cx="14335125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215F9A"/>
                </a:solidFill>
                <a:latin typeface="Liberation Sans"/>
              </a:rPr>
              <a:t>Stage 1 : Generating Metric-scale Camera, Video Depth, Object Category, Object Mask and Size</a:t>
            </a:r>
          </a:p>
        </p:txBody>
      </p:sp>
      <p:sp>
        <p:nvSpPr>
          <p:cNvPr id="4" name="003-raw-to-model"/>
          <p:cNvSpPr/>
          <p:nvPr/>
        </p:nvSpPr>
        <p:spPr>
          <a:xfrm>
            <a:off x="4552950" y="3043237"/>
            <a:ext cx="476250" cy="295275"/>
          </a:xfrm>
          <a:prstGeom prst="rightArrow">
            <a:avLst/>
          </a:prstGeom>
          <a:solidFill>
            <a:srgbClr val="A8A8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004-model-to-filter"/>
          <p:cNvSpPr/>
          <p:nvPr/>
        </p:nvSpPr>
        <p:spPr>
          <a:xfrm>
            <a:off x="8572500" y="2157412"/>
            <a:ext cx="495299" cy="295275"/>
          </a:xfrm>
          <a:prstGeom prst="rightArrow">
            <a:avLst/>
          </a:prstGeom>
          <a:solidFill>
            <a:srgbClr val="E51B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005-model-to-recovery"/>
          <p:cNvSpPr/>
          <p:nvPr/>
        </p:nvSpPr>
        <p:spPr>
          <a:xfrm>
            <a:off x="8572500" y="4691062"/>
            <a:ext cx="495299" cy="295275"/>
          </a:xfrm>
          <a:prstGeom prst="rightArrow">
            <a:avLst/>
          </a:prstGeom>
          <a:solidFill>
            <a:srgbClr val="E51B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006-filter-to-bundle"/>
          <p:cNvSpPr/>
          <p:nvPr/>
        </p:nvSpPr>
        <p:spPr>
          <a:xfrm>
            <a:off x="12734925" y="2147887"/>
            <a:ext cx="523874" cy="295275"/>
          </a:xfrm>
          <a:prstGeom prst="rightArrow">
            <a:avLst/>
          </a:prstGeom>
          <a:solidFill>
            <a:srgbClr val="477F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007-recovery-to-bundle"/>
          <p:cNvSpPr/>
          <p:nvPr/>
        </p:nvSpPr>
        <p:spPr>
          <a:xfrm>
            <a:off x="12734925" y="4710112"/>
            <a:ext cx="523874" cy="295275"/>
          </a:xfrm>
          <a:prstGeom prst="rightArrow">
            <a:avLst/>
          </a:prstGeom>
          <a:solidFill>
            <a:srgbClr val="6B9FD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008-raw-data-panel-shadow"/>
          <p:cNvSpPr/>
          <p:nvPr/>
        </p:nvSpPr>
        <p:spPr>
          <a:xfrm>
            <a:off x="428625" y="742950"/>
            <a:ext cx="4305300" cy="5238750"/>
          </a:xfrm>
          <a:prstGeom prst="roundRect">
            <a:avLst>
              <a:gd name="adj" fmla="val 6637"/>
            </a:avLst>
          </a:prstGeom>
          <a:solidFill>
            <a:srgbClr val="DEDE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009-raw-data-panel"/>
          <p:cNvSpPr/>
          <p:nvPr/>
        </p:nvSpPr>
        <p:spPr>
          <a:xfrm>
            <a:off x="381000" y="685800"/>
            <a:ext cx="4305300" cy="5238750"/>
          </a:xfrm>
          <a:prstGeom prst="roundRect">
            <a:avLst>
              <a:gd name="adj" fmla="val 6637"/>
            </a:avLst>
          </a:prstGeom>
          <a:solidFill>
            <a:srgbClr val="FFFFFF"/>
          </a:solidFill>
          <a:ln w="47625">
            <a:solidFill>
              <a:srgbClr val="C2C2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010-raw-data-header-white-patch"/>
          <p:cNvSpPr/>
          <p:nvPr/>
        </p:nvSpPr>
        <p:spPr>
          <a:xfrm>
            <a:off x="1057275" y="485775"/>
            <a:ext cx="2714625" cy="333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011-raw-data-header"/>
          <p:cNvSpPr txBox="1"/>
          <p:nvPr/>
        </p:nvSpPr>
        <p:spPr>
          <a:xfrm>
            <a:off x="1057275" y="476250"/>
            <a:ext cx="27146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Liberation Serif"/>
              </a:rPr>
              <a:t>Raw Data Collection</a:t>
            </a:r>
          </a:p>
        </p:txBody>
      </p:sp>
      <p:sp>
        <p:nvSpPr>
          <p:cNvPr id="13" name="012-database-top"/>
          <p:cNvSpPr/>
          <p:nvPr/>
        </p:nvSpPr>
        <p:spPr>
          <a:xfrm>
            <a:off x="1285875" y="495299"/>
            <a:ext cx="266700" cy="8572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333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013-database-body"/>
          <p:cNvSpPr/>
          <p:nvPr/>
        </p:nvSpPr>
        <p:spPr>
          <a:xfrm>
            <a:off x="1285875" y="533400"/>
            <a:ext cx="266700" cy="228600"/>
          </a:xfrm>
          <a:prstGeom prst="rect">
            <a:avLst/>
          </a:prstGeom>
          <a:solidFill>
            <a:srgbClr val="FFFFFF"/>
          </a:solidFill>
          <a:ln w="28575">
            <a:solidFill>
              <a:srgbClr val="3333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014-database-bottom"/>
          <p:cNvSpPr/>
          <p:nvPr/>
        </p:nvSpPr>
        <p:spPr>
          <a:xfrm>
            <a:off x="1285875" y="704850"/>
            <a:ext cx="266700" cy="8572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333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015-database-line-1"/>
          <p:cNvCxnSpPr/>
          <p:nvPr/>
        </p:nvCxnSpPr>
        <p:spPr>
          <a:xfrm>
            <a:off x="1285875" y="590550"/>
            <a:ext cx="266700" cy="0"/>
          </a:xfrm>
          <a:prstGeom prst="line">
            <a:avLst/>
          </a:prstGeom>
          <a:ln w="19050">
            <a:solidFill>
              <a:srgbClr val="333333"/>
            </a:solidFill>
          </a:ln>
          <a:effectLst/>
        </p:spPr>
      </p:cxnSp>
      <p:cxnSp>
        <p:nvCxnSpPr>
          <p:cNvPr id="17" name="016-database-line-2"/>
          <p:cNvCxnSpPr/>
          <p:nvPr/>
        </p:nvCxnSpPr>
        <p:spPr>
          <a:xfrm>
            <a:off x="1285875" y="657225"/>
            <a:ext cx="266700" cy="0"/>
          </a:xfrm>
          <a:prstGeom prst="line">
            <a:avLst/>
          </a:prstGeom>
          <a:ln w="19050">
            <a:solidFill>
              <a:srgbClr val="333333"/>
            </a:solidFill>
          </a:ln>
          <a:effectLst/>
        </p:spPr>
      </p:cxnSp>
      <p:sp>
        <p:nvSpPr>
          <p:cNvPr id="18" name="017-raw-top-base"/>
          <p:cNvSpPr/>
          <p:nvPr/>
        </p:nvSpPr>
        <p:spPr>
          <a:xfrm>
            <a:off x="457200" y="2095499"/>
            <a:ext cx="4048124" cy="800100"/>
          </a:xfrm>
          <a:prstGeom prst="ellipse">
            <a:avLst/>
          </a:prstGeom>
          <a:solidFill>
            <a:srgbClr val="E8E8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018-raw-2d-montage" descr="raw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38200"/>
            <a:ext cx="3657600" cy="1943100"/>
          </a:xfrm>
          <a:prstGeom prst="rect">
            <a:avLst/>
          </a:prstGeom>
          <a:effectLst/>
        </p:spPr>
      </p:pic>
      <p:sp>
        <p:nvSpPr>
          <p:cNvPr id="20" name="019-image-icon-frame"/>
          <p:cNvSpPr/>
          <p:nvPr/>
        </p:nvSpPr>
        <p:spPr>
          <a:xfrm>
            <a:off x="647700" y="3038475"/>
            <a:ext cx="295275" cy="276225"/>
          </a:xfrm>
          <a:prstGeom prst="rect">
            <a:avLst/>
          </a:prstGeom>
          <a:noFill/>
          <a:ln w="38100">
            <a:solidFill>
              <a:srgbClr val="AAAA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020-image-icon-sun"/>
          <p:cNvSpPr/>
          <p:nvPr/>
        </p:nvSpPr>
        <p:spPr>
          <a:xfrm>
            <a:off x="704850" y="3095625"/>
            <a:ext cx="57150" cy="57150"/>
          </a:xfrm>
          <a:prstGeom prst="ellipse">
            <a:avLst/>
          </a:prstGeom>
          <a:solidFill>
            <a:srgbClr val="AAAA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021-image-icon-mountain-a"/>
          <p:cNvCxnSpPr/>
          <p:nvPr/>
        </p:nvCxnSpPr>
        <p:spPr>
          <a:xfrm flipV="1">
            <a:off x="685800" y="3181350"/>
            <a:ext cx="95250" cy="95250"/>
          </a:xfrm>
          <a:prstGeom prst="line">
            <a:avLst/>
          </a:prstGeom>
          <a:ln w="28575">
            <a:solidFill>
              <a:srgbClr val="AAAAAA"/>
            </a:solidFill>
          </a:ln>
          <a:effectLst/>
        </p:spPr>
      </p:cxnSp>
      <p:cxnSp>
        <p:nvCxnSpPr>
          <p:cNvPr id="23" name="022-image-icon-mountain-b"/>
          <p:cNvCxnSpPr/>
          <p:nvPr/>
        </p:nvCxnSpPr>
        <p:spPr>
          <a:xfrm>
            <a:off x="781050" y="3181350"/>
            <a:ext cx="114300" cy="95250"/>
          </a:xfrm>
          <a:prstGeom prst="line">
            <a:avLst/>
          </a:prstGeom>
          <a:ln w="28575">
            <a:solidFill>
              <a:srgbClr val="AAAAAA"/>
            </a:solidFill>
          </a:ln>
          <a:effectLst/>
        </p:spPr>
      </p:cxnSp>
      <p:sp>
        <p:nvSpPr>
          <p:cNvPr id="24" name="023-raw-2d-label"/>
          <p:cNvSpPr txBox="1"/>
          <p:nvPr/>
        </p:nvSpPr>
        <p:spPr>
          <a:xfrm>
            <a:off x="1076325" y="2924175"/>
            <a:ext cx="33337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000000"/>
                </a:solidFill>
                <a:latin typeface="Liberation Serif"/>
              </a:rPr>
              <a:t>Raw 2D video datasets with GT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000000"/>
                </a:solidFill>
                <a:latin typeface="Liberation Serif"/>
              </a:rPr>
              <a:t>instance mask &amp; semantic label</a:t>
            </a:r>
          </a:p>
        </p:txBody>
      </p:sp>
      <p:sp>
        <p:nvSpPr>
          <p:cNvPr id="25" name="024-raw-bottom-base"/>
          <p:cNvSpPr/>
          <p:nvPr/>
        </p:nvSpPr>
        <p:spPr>
          <a:xfrm>
            <a:off x="466724" y="4333875"/>
            <a:ext cx="4057650" cy="838200"/>
          </a:xfrm>
          <a:prstGeom prst="ellipse">
            <a:avLst/>
          </a:prstGeom>
          <a:solidFill>
            <a:srgbClr val="E8E8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025-raw-3d-montage" descr="raw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3905249"/>
            <a:ext cx="3971925" cy="1314450"/>
          </a:xfrm>
          <a:prstGeom prst="rect">
            <a:avLst/>
          </a:prstGeom>
          <a:effectLst/>
        </p:spPr>
      </p:pic>
      <p:cxnSp>
        <p:nvCxnSpPr>
          <p:cNvPr id="27" name="026-slider-line-0"/>
          <p:cNvCxnSpPr/>
          <p:nvPr/>
        </p:nvCxnSpPr>
        <p:spPr>
          <a:xfrm>
            <a:off x="857250" y="5381625"/>
            <a:ext cx="333375" cy="0"/>
          </a:xfrm>
          <a:prstGeom prst="line">
            <a:avLst/>
          </a:prstGeom>
          <a:ln w="28575">
            <a:solidFill>
              <a:srgbClr val="777777"/>
            </a:solidFill>
          </a:ln>
          <a:effectLst/>
        </p:spPr>
      </p:cxnSp>
      <p:sp>
        <p:nvSpPr>
          <p:cNvPr id="28" name="027-slider-knob-0"/>
          <p:cNvSpPr/>
          <p:nvPr/>
        </p:nvSpPr>
        <p:spPr>
          <a:xfrm>
            <a:off x="942975" y="5343525"/>
            <a:ext cx="76200" cy="76200"/>
          </a:xfrm>
          <a:prstGeom prst="ellipse">
            <a:avLst/>
          </a:prstGeom>
          <a:solidFill>
            <a:srgbClr val="7777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028-slider-line-11"/>
          <p:cNvCxnSpPr/>
          <p:nvPr/>
        </p:nvCxnSpPr>
        <p:spPr>
          <a:xfrm>
            <a:off x="857250" y="5486400"/>
            <a:ext cx="333375" cy="0"/>
          </a:xfrm>
          <a:prstGeom prst="line">
            <a:avLst/>
          </a:prstGeom>
          <a:ln w="28575">
            <a:solidFill>
              <a:srgbClr val="777777"/>
            </a:solidFill>
          </a:ln>
          <a:effectLst/>
        </p:spPr>
      </p:cxnSp>
      <p:sp>
        <p:nvSpPr>
          <p:cNvPr id="30" name="029-slider-knob-11"/>
          <p:cNvSpPr/>
          <p:nvPr/>
        </p:nvSpPr>
        <p:spPr>
          <a:xfrm>
            <a:off x="1066800" y="5448300"/>
            <a:ext cx="76200" cy="76200"/>
          </a:xfrm>
          <a:prstGeom prst="ellipse">
            <a:avLst/>
          </a:prstGeom>
          <a:solidFill>
            <a:srgbClr val="7777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" name="030-slider-line-22"/>
          <p:cNvCxnSpPr/>
          <p:nvPr/>
        </p:nvCxnSpPr>
        <p:spPr>
          <a:xfrm>
            <a:off x="857250" y="5591175"/>
            <a:ext cx="333375" cy="0"/>
          </a:xfrm>
          <a:prstGeom prst="line">
            <a:avLst/>
          </a:prstGeom>
          <a:ln w="28575">
            <a:solidFill>
              <a:srgbClr val="777777"/>
            </a:solidFill>
          </a:ln>
          <a:effectLst/>
        </p:spPr>
      </p:cxnSp>
      <p:sp>
        <p:nvSpPr>
          <p:cNvPr id="32" name="031-slider-knob-22"/>
          <p:cNvSpPr/>
          <p:nvPr/>
        </p:nvSpPr>
        <p:spPr>
          <a:xfrm>
            <a:off x="933449" y="5553075"/>
            <a:ext cx="76200" cy="76200"/>
          </a:xfrm>
          <a:prstGeom prst="ellipse">
            <a:avLst/>
          </a:prstGeom>
          <a:solidFill>
            <a:srgbClr val="7777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032-raw-3d-label"/>
          <p:cNvSpPr txBox="1"/>
          <p:nvPr/>
        </p:nvSpPr>
        <p:spPr>
          <a:xfrm>
            <a:off x="1343025" y="5219700"/>
            <a:ext cx="304800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000000"/>
                </a:solidFill>
                <a:latin typeface="Liberation Serif"/>
              </a:rPr>
              <a:t>Raw dynamic 3D datasets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000000"/>
                </a:solidFill>
                <a:latin typeface="Liberation Serif"/>
              </a:rPr>
              <a:t>with GT camera &amp; depth</a:t>
            </a:r>
          </a:p>
        </p:txBody>
      </p:sp>
      <p:sp>
        <p:nvSpPr>
          <p:cNvPr id="34" name="033-foundation-panel-shadow"/>
          <p:cNvSpPr/>
          <p:nvPr/>
        </p:nvSpPr>
        <p:spPr>
          <a:xfrm>
            <a:off x="4981575" y="742950"/>
            <a:ext cx="3714750" cy="5248275"/>
          </a:xfrm>
          <a:prstGeom prst="roundRect">
            <a:avLst>
              <a:gd name="adj" fmla="val 7179"/>
            </a:avLst>
          </a:prstGeom>
          <a:solidFill>
            <a:srgbClr val="F1CA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034-foundation-panel"/>
          <p:cNvSpPr/>
          <p:nvPr/>
        </p:nvSpPr>
        <p:spPr>
          <a:xfrm>
            <a:off x="4933950" y="685800"/>
            <a:ext cx="3714750" cy="5248275"/>
          </a:xfrm>
          <a:prstGeom prst="roundRect">
            <a:avLst>
              <a:gd name="adj" fmla="val 7179"/>
            </a:avLst>
          </a:prstGeom>
          <a:solidFill>
            <a:srgbClr val="FBEBEB"/>
          </a:solidFill>
          <a:ln w="47625">
            <a:solidFill>
              <a:srgbClr val="F6A8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035-foundation-header-white-patch"/>
          <p:cNvSpPr/>
          <p:nvPr/>
        </p:nvSpPr>
        <p:spPr>
          <a:xfrm>
            <a:off x="5219700" y="457200"/>
            <a:ext cx="3143250" cy="352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036-foundation-header"/>
          <p:cNvSpPr txBox="1"/>
          <p:nvPr/>
        </p:nvSpPr>
        <p:spPr>
          <a:xfrm>
            <a:off x="5219700" y="447675"/>
            <a:ext cx="3143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000000"/>
                </a:solidFill>
                <a:latin typeface="Liberation Serif"/>
              </a:rPr>
              <a:t>Powerful Foundation Models</a:t>
            </a:r>
          </a:p>
        </p:txBody>
      </p:sp>
      <p:sp>
        <p:nvSpPr>
          <p:cNvPr id="38" name="037-foundation-icon-head"/>
          <p:cNvSpPr/>
          <p:nvPr/>
        </p:nvSpPr>
        <p:spPr>
          <a:xfrm>
            <a:off x="5219700" y="485775"/>
            <a:ext cx="123824" cy="12382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9" name="038-foundation-icon-body"/>
          <p:cNvCxnSpPr/>
          <p:nvPr/>
        </p:nvCxnSpPr>
        <p:spPr>
          <a:xfrm>
            <a:off x="5286375" y="600075"/>
            <a:ext cx="0" cy="161925"/>
          </a:xfrm>
          <a:prstGeom prst="line">
            <a:avLst/>
          </a:prstGeom>
          <a:ln w="57150">
            <a:solidFill>
              <a:srgbClr val="000000"/>
            </a:solidFill>
          </a:ln>
          <a:effectLst/>
        </p:spPr>
      </p:cxnSp>
      <p:cxnSp>
        <p:nvCxnSpPr>
          <p:cNvPr id="40" name="039-foundation-icon-arm-l"/>
          <p:cNvCxnSpPr/>
          <p:nvPr/>
        </p:nvCxnSpPr>
        <p:spPr>
          <a:xfrm flipH="1" flipV="1">
            <a:off x="5143500" y="552450"/>
            <a:ext cx="142875" cy="76200"/>
          </a:xfrm>
          <a:prstGeom prst="line">
            <a:avLst/>
          </a:prstGeom>
          <a:ln w="47625">
            <a:solidFill>
              <a:srgbClr val="000000"/>
            </a:solidFill>
          </a:ln>
          <a:effectLst/>
        </p:spPr>
      </p:cxnSp>
      <p:cxnSp>
        <p:nvCxnSpPr>
          <p:cNvPr id="41" name="040-foundation-icon-arm-r"/>
          <p:cNvCxnSpPr/>
          <p:nvPr/>
        </p:nvCxnSpPr>
        <p:spPr>
          <a:xfrm flipV="1">
            <a:off x="5286375" y="552450"/>
            <a:ext cx="152400" cy="76200"/>
          </a:xfrm>
          <a:prstGeom prst="line">
            <a:avLst/>
          </a:prstGeom>
          <a:ln w="47625">
            <a:solidFill>
              <a:srgbClr val="000000"/>
            </a:solidFill>
          </a:ln>
          <a:effectLst/>
        </p:spPr>
      </p:cxnSp>
      <p:cxnSp>
        <p:nvCxnSpPr>
          <p:cNvPr id="42" name="041-foundation-icon-bar"/>
          <p:cNvCxnSpPr/>
          <p:nvPr/>
        </p:nvCxnSpPr>
        <p:spPr>
          <a:xfrm>
            <a:off x="5114925" y="523874"/>
            <a:ext cx="352425" cy="0"/>
          </a:xfrm>
          <a:prstGeom prst="line">
            <a:avLst/>
          </a:prstGeom>
          <a:ln w="38100">
            <a:solidFill>
              <a:srgbClr val="000000"/>
            </a:solidFill>
          </a:ln>
          <a:effectLst/>
        </p:spPr>
      </p:cxnSp>
      <p:pic>
        <p:nvPicPr>
          <p:cNvPr id="43" name="042-foundation-unidepth-image" descr="unidep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550" y="942975"/>
            <a:ext cx="1562100" cy="914400"/>
          </a:xfrm>
          <a:prstGeom prst="rect">
            <a:avLst/>
          </a:prstGeom>
          <a:effectLst/>
        </p:spPr>
      </p:pic>
      <p:pic>
        <p:nvPicPr>
          <p:cNvPr id="44" name="043-foundation-segany-image" descr="sega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942975"/>
            <a:ext cx="1581150" cy="914400"/>
          </a:xfrm>
          <a:prstGeom prst="rect">
            <a:avLst/>
          </a:prstGeom>
          <a:effectLst/>
        </p:spPr>
      </p:pic>
      <p:pic>
        <p:nvPicPr>
          <p:cNvPr id="45" name="044-foundation-unimatch-image" descr="unimat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2550" y="2190750"/>
            <a:ext cx="1562100" cy="895350"/>
          </a:xfrm>
          <a:prstGeom prst="rect">
            <a:avLst/>
          </a:prstGeom>
          <a:effectLst/>
        </p:spPr>
      </p:pic>
      <p:pic>
        <p:nvPicPr>
          <p:cNvPr id="46" name="045-foundation-cotracker-image" descr="cotrack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190750"/>
            <a:ext cx="1590675" cy="895350"/>
          </a:xfrm>
          <a:prstGeom prst="rect">
            <a:avLst/>
          </a:prstGeom>
          <a:effectLst/>
        </p:spPr>
      </p:pic>
      <p:pic>
        <p:nvPicPr>
          <p:cNvPr id="47" name="046-foundation-sam2-image" descr="sam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2550" y="3448050"/>
            <a:ext cx="1562100" cy="857250"/>
          </a:xfrm>
          <a:prstGeom prst="rect">
            <a:avLst/>
          </a:prstGeom>
          <a:effectLst/>
        </p:spPr>
      </p:pic>
      <p:pic>
        <p:nvPicPr>
          <p:cNvPr id="48" name="047-foundation-vggt-image" descr="vgg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3448050"/>
            <a:ext cx="1600200" cy="876300"/>
          </a:xfrm>
          <a:prstGeom prst="rect">
            <a:avLst/>
          </a:prstGeom>
          <a:effectLst/>
        </p:spPr>
      </p:pic>
      <p:pic>
        <p:nvPicPr>
          <p:cNvPr id="49" name="048-foundation-epipolar-image" descr="epipol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2550" y="4686300"/>
            <a:ext cx="1562100" cy="828675"/>
          </a:xfrm>
          <a:prstGeom prst="rect">
            <a:avLst/>
          </a:prstGeom>
          <a:effectLst/>
        </p:spPr>
      </p:pic>
      <p:pic>
        <p:nvPicPr>
          <p:cNvPr id="50" name="049-foundation-language-image" descr="language_model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0" y="4638675"/>
            <a:ext cx="1638300" cy="942975"/>
          </a:xfrm>
          <a:prstGeom prst="rect">
            <a:avLst/>
          </a:prstGeom>
          <a:effectLst/>
        </p:spPr>
      </p:pic>
      <p:sp>
        <p:nvSpPr>
          <p:cNvPr id="51" name="050-foundation-label-0"/>
          <p:cNvSpPr txBox="1"/>
          <p:nvPr/>
        </p:nvSpPr>
        <p:spPr>
          <a:xfrm>
            <a:off x="5143500" y="1847850"/>
            <a:ext cx="16002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000000"/>
                </a:solidFill>
                <a:latin typeface="Liberation Serif"/>
              </a:rPr>
              <a:t>UniDepth-V2</a:t>
            </a:r>
          </a:p>
        </p:txBody>
      </p:sp>
      <p:sp>
        <p:nvSpPr>
          <p:cNvPr id="52" name="051-foundation-label-1"/>
          <p:cNvSpPr txBox="1"/>
          <p:nvPr/>
        </p:nvSpPr>
        <p:spPr>
          <a:xfrm>
            <a:off x="6858000" y="1847850"/>
            <a:ext cx="16002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000000"/>
                </a:solidFill>
                <a:latin typeface="Liberation Serif"/>
              </a:rPr>
              <a:t>SegAnyMo</a:t>
            </a:r>
          </a:p>
        </p:txBody>
      </p:sp>
      <p:sp>
        <p:nvSpPr>
          <p:cNvPr id="53" name="052-foundation-label-2"/>
          <p:cNvSpPr txBox="1"/>
          <p:nvPr/>
        </p:nvSpPr>
        <p:spPr>
          <a:xfrm>
            <a:off x="5143500" y="3076575"/>
            <a:ext cx="16002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000000"/>
                </a:solidFill>
                <a:latin typeface="Liberation Serif"/>
              </a:rPr>
              <a:t>UniMatch</a:t>
            </a:r>
          </a:p>
        </p:txBody>
      </p:sp>
      <p:sp>
        <p:nvSpPr>
          <p:cNvPr id="54" name="053-foundation-label-3"/>
          <p:cNvSpPr txBox="1"/>
          <p:nvPr/>
        </p:nvSpPr>
        <p:spPr>
          <a:xfrm>
            <a:off x="6762750" y="3076575"/>
            <a:ext cx="17526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000000"/>
                </a:solidFill>
                <a:latin typeface="Liberation Serif"/>
              </a:rPr>
              <a:t>CoTracker-V3</a:t>
            </a:r>
          </a:p>
        </p:txBody>
      </p:sp>
      <p:sp>
        <p:nvSpPr>
          <p:cNvPr id="55" name="054-foundation-label-4"/>
          <p:cNvSpPr txBox="1"/>
          <p:nvPr/>
        </p:nvSpPr>
        <p:spPr>
          <a:xfrm>
            <a:off x="5010150" y="4305300"/>
            <a:ext cx="18288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000000"/>
                </a:solidFill>
                <a:latin typeface="Liberation Serif"/>
              </a:rPr>
              <a:t>SAM2 &amp; Variants</a:t>
            </a:r>
          </a:p>
        </p:txBody>
      </p:sp>
      <p:sp>
        <p:nvSpPr>
          <p:cNvPr id="56" name="055-foundation-label-5"/>
          <p:cNvSpPr txBox="1"/>
          <p:nvPr/>
        </p:nvSpPr>
        <p:spPr>
          <a:xfrm>
            <a:off x="7010400" y="4305300"/>
            <a:ext cx="1285875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000000"/>
                </a:solidFill>
                <a:latin typeface="Liberation Serif"/>
              </a:rPr>
              <a:t>VGGT</a:t>
            </a:r>
          </a:p>
        </p:txBody>
      </p:sp>
      <p:sp>
        <p:nvSpPr>
          <p:cNvPr id="57" name="056-foundation-label-6"/>
          <p:cNvSpPr txBox="1"/>
          <p:nvPr/>
        </p:nvSpPr>
        <p:spPr>
          <a:xfrm>
            <a:off x="5010150" y="5486400"/>
            <a:ext cx="184785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000000"/>
                </a:solidFill>
                <a:latin typeface="Liberation Serif"/>
              </a:rPr>
              <a:t>Epipolar Errors</a:t>
            </a:r>
          </a:p>
        </p:txBody>
      </p:sp>
      <p:sp>
        <p:nvSpPr>
          <p:cNvPr id="58" name="057-foundation-label-7"/>
          <p:cNvSpPr txBox="1"/>
          <p:nvPr/>
        </p:nvSpPr>
        <p:spPr>
          <a:xfrm>
            <a:off x="6810375" y="5486400"/>
            <a:ext cx="17145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000000"/>
                </a:solidFill>
                <a:latin typeface="Liberation Serif"/>
              </a:rPr>
              <a:t>Language Models</a:t>
            </a:r>
          </a:p>
        </p:txBody>
      </p:sp>
      <p:sp>
        <p:nvSpPr>
          <p:cNvPr id="59" name="058-filter-panel-shadow"/>
          <p:cNvSpPr/>
          <p:nvPr/>
        </p:nvSpPr>
        <p:spPr>
          <a:xfrm>
            <a:off x="9001125" y="752475"/>
            <a:ext cx="3857625" cy="3143250"/>
          </a:xfrm>
          <a:prstGeom prst="roundRect">
            <a:avLst>
              <a:gd name="adj" fmla="val 7878"/>
            </a:avLst>
          </a:prstGeom>
          <a:solidFill>
            <a:srgbClr val="D7E1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059-filter-panel"/>
          <p:cNvSpPr/>
          <p:nvPr/>
        </p:nvSpPr>
        <p:spPr>
          <a:xfrm>
            <a:off x="8953500" y="695325"/>
            <a:ext cx="3857625" cy="3143250"/>
          </a:xfrm>
          <a:prstGeom prst="roundRect">
            <a:avLst>
              <a:gd name="adj" fmla="val 7878"/>
            </a:avLst>
          </a:prstGeom>
          <a:solidFill>
            <a:srgbClr val="F8FCFB"/>
          </a:solidFill>
          <a:ln w="47625">
            <a:solidFill>
              <a:srgbClr val="83A87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060-filter-header-white-patch"/>
          <p:cNvSpPr/>
          <p:nvPr/>
        </p:nvSpPr>
        <p:spPr>
          <a:xfrm>
            <a:off x="9534525" y="447675"/>
            <a:ext cx="2609850" cy="352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061-filter-header"/>
          <p:cNvSpPr txBox="1"/>
          <p:nvPr/>
        </p:nvSpPr>
        <p:spPr>
          <a:xfrm>
            <a:off x="9534525" y="438150"/>
            <a:ext cx="26098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000000"/>
                </a:solidFill>
                <a:latin typeface="Liberation Serif"/>
              </a:rPr>
              <a:t>Data Filter Strategy</a:t>
            </a:r>
          </a:p>
        </p:txBody>
      </p:sp>
      <p:cxnSp>
        <p:nvCxnSpPr>
          <p:cNvPr id="63" name="062-filter-icon-stem"/>
          <p:cNvCxnSpPr/>
          <p:nvPr/>
        </p:nvCxnSpPr>
        <p:spPr>
          <a:xfrm>
            <a:off x="9734550" y="504825"/>
            <a:ext cx="190500" cy="228600"/>
          </a:xfrm>
          <a:prstGeom prst="line">
            <a:avLst/>
          </a:prstGeom>
          <a:ln w="47625">
            <a:solidFill>
              <a:srgbClr val="000000"/>
            </a:solidFill>
          </a:ln>
          <a:effectLst/>
        </p:spPr>
      </p:cxnSp>
      <p:cxnSp>
        <p:nvCxnSpPr>
          <p:cNvPr id="64" name="063-filter-icon-branch-a"/>
          <p:cNvCxnSpPr/>
          <p:nvPr/>
        </p:nvCxnSpPr>
        <p:spPr>
          <a:xfrm flipV="1">
            <a:off x="9829800" y="447675"/>
            <a:ext cx="0" cy="171450"/>
          </a:xfrm>
          <a:prstGeom prst="line">
            <a:avLst/>
          </a:prstGeom>
          <a:ln w="47625">
            <a:solidFill>
              <a:srgbClr val="000000"/>
            </a:solidFill>
          </a:ln>
          <a:effectLst/>
        </p:spPr>
      </p:cxnSp>
      <p:cxnSp>
        <p:nvCxnSpPr>
          <p:cNvPr id="65" name="064-filter-icon-branch-b"/>
          <p:cNvCxnSpPr/>
          <p:nvPr/>
        </p:nvCxnSpPr>
        <p:spPr>
          <a:xfrm flipV="1">
            <a:off x="9829800" y="428625"/>
            <a:ext cx="123825" cy="104775"/>
          </a:xfrm>
          <a:prstGeom prst="line">
            <a:avLst/>
          </a:prstGeom>
          <a:ln w="47625">
            <a:solidFill>
              <a:srgbClr val="000000"/>
            </a:solidFill>
          </a:ln>
          <a:effectLst/>
        </p:spPr>
      </p:cxnSp>
      <p:cxnSp>
        <p:nvCxnSpPr>
          <p:cNvPr id="66" name="065-filter-icon-branch-c"/>
          <p:cNvCxnSpPr/>
          <p:nvPr/>
        </p:nvCxnSpPr>
        <p:spPr>
          <a:xfrm flipH="1" flipV="1">
            <a:off x="9696450" y="409575"/>
            <a:ext cx="133350" cy="104775"/>
          </a:xfrm>
          <a:prstGeom prst="line">
            <a:avLst/>
          </a:prstGeom>
          <a:ln w="47625">
            <a:solidFill>
              <a:srgbClr val="000000"/>
            </a:solidFill>
          </a:ln>
          <a:effectLst/>
        </p:spPr>
      </p:cxnSp>
      <p:sp>
        <p:nvSpPr>
          <p:cNvPr id="67" name="066-filter-number-1"/>
          <p:cNvSpPr/>
          <p:nvPr/>
        </p:nvSpPr>
        <p:spPr>
          <a:xfrm>
            <a:off x="9239250" y="952500"/>
            <a:ext cx="333375" cy="3333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067-filter-number-text-1"/>
          <p:cNvSpPr txBox="1"/>
          <p:nvPr/>
        </p:nvSpPr>
        <p:spPr>
          <a:xfrm>
            <a:off x="9239250" y="952500"/>
            <a:ext cx="3333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000"/>
                </a:solidFill>
                <a:latin typeface="Liberation Serif"/>
              </a:rPr>
              <a:t>1</a:t>
            </a:r>
          </a:p>
        </p:txBody>
      </p:sp>
      <p:sp>
        <p:nvSpPr>
          <p:cNvPr id="69" name="068-filter-item-1"/>
          <p:cNvSpPr txBox="1"/>
          <p:nvPr/>
        </p:nvSpPr>
        <p:spPr>
          <a:xfrm>
            <a:off x="9686925" y="942975"/>
            <a:ext cx="2905125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>
                <a:solidFill>
                  <a:srgbClr val="000000"/>
                </a:solidFill>
                <a:latin typeface="Liberation Serif"/>
              </a:rPr>
              <a:t>Proximal Depth Verification</a:t>
            </a:r>
          </a:p>
        </p:txBody>
      </p:sp>
      <p:sp>
        <p:nvSpPr>
          <p:cNvPr id="70" name="069-filter-number-2"/>
          <p:cNvSpPr/>
          <p:nvPr/>
        </p:nvSpPr>
        <p:spPr>
          <a:xfrm>
            <a:off x="9239250" y="1419225"/>
            <a:ext cx="333375" cy="3333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070-filter-number-text-2"/>
          <p:cNvSpPr txBox="1"/>
          <p:nvPr/>
        </p:nvSpPr>
        <p:spPr>
          <a:xfrm>
            <a:off x="9239250" y="1419225"/>
            <a:ext cx="3333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000"/>
                </a:solidFill>
                <a:latin typeface="Liberation Serif"/>
              </a:rPr>
              <a:t>2</a:t>
            </a:r>
          </a:p>
        </p:txBody>
      </p:sp>
      <p:sp>
        <p:nvSpPr>
          <p:cNvPr id="72" name="071-filter-item-2"/>
          <p:cNvSpPr txBox="1"/>
          <p:nvPr/>
        </p:nvSpPr>
        <p:spPr>
          <a:xfrm>
            <a:off x="9686925" y="1409700"/>
            <a:ext cx="2905125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>
                <a:solidFill>
                  <a:srgbClr val="000000"/>
                </a:solidFill>
                <a:latin typeface="Liberation Serif"/>
              </a:rPr>
              <a:t>Dynamic Object Coverage</a:t>
            </a:r>
          </a:p>
        </p:txBody>
      </p:sp>
      <p:sp>
        <p:nvSpPr>
          <p:cNvPr id="73" name="072-filter-number-3"/>
          <p:cNvSpPr/>
          <p:nvPr/>
        </p:nvSpPr>
        <p:spPr>
          <a:xfrm>
            <a:off x="9239250" y="1885950"/>
            <a:ext cx="333375" cy="3333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073-filter-number-text-3"/>
          <p:cNvSpPr txBox="1"/>
          <p:nvPr/>
        </p:nvSpPr>
        <p:spPr>
          <a:xfrm>
            <a:off x="9239250" y="1885950"/>
            <a:ext cx="3333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000"/>
                </a:solidFill>
                <a:latin typeface="Liberation Serif"/>
              </a:rPr>
              <a:t>3</a:t>
            </a:r>
          </a:p>
        </p:txBody>
      </p:sp>
      <p:sp>
        <p:nvSpPr>
          <p:cNvPr id="75" name="074-filter-item-3"/>
          <p:cNvSpPr txBox="1"/>
          <p:nvPr/>
        </p:nvSpPr>
        <p:spPr>
          <a:xfrm>
            <a:off x="9686925" y="1876425"/>
            <a:ext cx="2905125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>
                <a:solidFill>
                  <a:srgbClr val="000000"/>
                </a:solidFill>
                <a:latin typeface="Liberation Serif"/>
              </a:rPr>
              <a:t>Focal-Length Stability</a:t>
            </a:r>
          </a:p>
        </p:txBody>
      </p:sp>
      <p:sp>
        <p:nvSpPr>
          <p:cNvPr id="76" name="075-filter-number-4"/>
          <p:cNvSpPr/>
          <p:nvPr/>
        </p:nvSpPr>
        <p:spPr>
          <a:xfrm>
            <a:off x="9239250" y="2352675"/>
            <a:ext cx="333375" cy="3333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076-filter-number-text-4"/>
          <p:cNvSpPr txBox="1"/>
          <p:nvPr/>
        </p:nvSpPr>
        <p:spPr>
          <a:xfrm>
            <a:off x="9239250" y="2352675"/>
            <a:ext cx="3333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000"/>
                </a:solidFill>
                <a:latin typeface="Liberation Serif"/>
              </a:rPr>
              <a:t>4</a:t>
            </a:r>
          </a:p>
        </p:txBody>
      </p:sp>
      <p:sp>
        <p:nvSpPr>
          <p:cNvPr id="78" name="077-filter-item-4"/>
          <p:cNvSpPr txBox="1"/>
          <p:nvPr/>
        </p:nvSpPr>
        <p:spPr>
          <a:xfrm>
            <a:off x="9686925" y="2343150"/>
            <a:ext cx="2905125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>
                <a:solidFill>
                  <a:srgbClr val="000000"/>
                </a:solidFill>
                <a:latin typeface="Liberation Serif"/>
              </a:rPr>
              <a:t>Video Blur Degree</a:t>
            </a:r>
          </a:p>
        </p:txBody>
      </p:sp>
      <p:sp>
        <p:nvSpPr>
          <p:cNvPr id="79" name="078-filter-number-5"/>
          <p:cNvSpPr/>
          <p:nvPr/>
        </p:nvSpPr>
        <p:spPr>
          <a:xfrm>
            <a:off x="9239250" y="2819400"/>
            <a:ext cx="333375" cy="3333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079-filter-number-text-5"/>
          <p:cNvSpPr txBox="1"/>
          <p:nvPr/>
        </p:nvSpPr>
        <p:spPr>
          <a:xfrm>
            <a:off x="9239250" y="2819400"/>
            <a:ext cx="3333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000"/>
                </a:solidFill>
                <a:latin typeface="Liberation Serif"/>
              </a:rPr>
              <a:t>5</a:t>
            </a:r>
          </a:p>
        </p:txBody>
      </p:sp>
      <p:sp>
        <p:nvSpPr>
          <p:cNvPr id="81" name="080-filter-item-5"/>
          <p:cNvSpPr txBox="1"/>
          <p:nvPr/>
        </p:nvSpPr>
        <p:spPr>
          <a:xfrm>
            <a:off x="9686925" y="2809875"/>
            <a:ext cx="2905125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>
                <a:solidFill>
                  <a:srgbClr val="000000"/>
                </a:solidFill>
                <a:latin typeface="Liberation Serif"/>
              </a:rPr>
              <a:t>Camera Motion Smoothness</a:t>
            </a:r>
          </a:p>
        </p:txBody>
      </p:sp>
      <p:sp>
        <p:nvSpPr>
          <p:cNvPr id="82" name="081-filter-number-6"/>
          <p:cNvSpPr/>
          <p:nvPr/>
        </p:nvSpPr>
        <p:spPr>
          <a:xfrm>
            <a:off x="9239250" y="3286125"/>
            <a:ext cx="333375" cy="3333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082-filter-number-text-6"/>
          <p:cNvSpPr txBox="1"/>
          <p:nvPr/>
        </p:nvSpPr>
        <p:spPr>
          <a:xfrm>
            <a:off x="9239250" y="3286125"/>
            <a:ext cx="3333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000"/>
                </a:solidFill>
                <a:latin typeface="Liberation Serif"/>
              </a:rPr>
              <a:t>6</a:t>
            </a:r>
          </a:p>
        </p:txBody>
      </p:sp>
      <p:sp>
        <p:nvSpPr>
          <p:cNvPr id="84" name="083-filter-item-6"/>
          <p:cNvSpPr txBox="1"/>
          <p:nvPr/>
        </p:nvSpPr>
        <p:spPr>
          <a:xfrm>
            <a:off x="9686925" y="3276600"/>
            <a:ext cx="2905125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>
                <a:solidFill>
                  <a:srgbClr val="000000"/>
                </a:solidFill>
                <a:latin typeface="Liberation Serif"/>
              </a:rPr>
              <a:t>VLM Judgement</a:t>
            </a:r>
          </a:p>
        </p:txBody>
      </p:sp>
      <p:sp>
        <p:nvSpPr>
          <p:cNvPr id="85" name="084-forest-trunk-0"/>
          <p:cNvSpPr/>
          <p:nvPr/>
        </p:nvSpPr>
        <p:spPr>
          <a:xfrm>
            <a:off x="12113323" y="1982343"/>
            <a:ext cx="49149" cy="163830"/>
          </a:xfrm>
          <a:prstGeom prst="rect">
            <a:avLst/>
          </a:prstGeom>
          <a:solidFill>
            <a:srgbClr val="4C8B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085-forest-crown-a-0"/>
          <p:cNvSpPr/>
          <p:nvPr/>
        </p:nvSpPr>
        <p:spPr>
          <a:xfrm rot="2700000">
            <a:off x="12039600" y="1785747"/>
            <a:ext cx="204787" cy="204787"/>
          </a:xfrm>
          <a:prstGeom prst="rect">
            <a:avLst/>
          </a:prstGeom>
          <a:noFill/>
          <a:ln w="38100">
            <a:solidFill>
              <a:srgbClr val="4C8B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086-forest-crown-b-0"/>
          <p:cNvSpPr/>
          <p:nvPr/>
        </p:nvSpPr>
        <p:spPr>
          <a:xfrm rot="2700000">
            <a:off x="12064174" y="1695640"/>
            <a:ext cx="155638" cy="155638"/>
          </a:xfrm>
          <a:prstGeom prst="rect">
            <a:avLst/>
          </a:prstGeom>
          <a:noFill/>
          <a:ln w="38100">
            <a:solidFill>
              <a:srgbClr val="4C8B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087-forest-trunk-1"/>
          <p:cNvSpPr/>
          <p:nvPr/>
        </p:nvSpPr>
        <p:spPr>
          <a:xfrm>
            <a:off x="12360973" y="1982343"/>
            <a:ext cx="49149" cy="163830"/>
          </a:xfrm>
          <a:prstGeom prst="rect">
            <a:avLst/>
          </a:prstGeom>
          <a:solidFill>
            <a:srgbClr val="4C8B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088-forest-crown-a-1"/>
          <p:cNvSpPr/>
          <p:nvPr/>
        </p:nvSpPr>
        <p:spPr>
          <a:xfrm rot="2700000">
            <a:off x="12287250" y="1785747"/>
            <a:ext cx="204787" cy="204787"/>
          </a:xfrm>
          <a:prstGeom prst="rect">
            <a:avLst/>
          </a:prstGeom>
          <a:noFill/>
          <a:ln w="38100">
            <a:solidFill>
              <a:srgbClr val="4C8B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089-forest-crown-b-1"/>
          <p:cNvSpPr/>
          <p:nvPr/>
        </p:nvSpPr>
        <p:spPr>
          <a:xfrm rot="2700000">
            <a:off x="12311824" y="1695640"/>
            <a:ext cx="155638" cy="155638"/>
          </a:xfrm>
          <a:prstGeom prst="rect">
            <a:avLst/>
          </a:prstGeom>
          <a:noFill/>
          <a:ln w="38100">
            <a:solidFill>
              <a:srgbClr val="4C8B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090-forest-trunk-2"/>
          <p:cNvSpPr/>
          <p:nvPr/>
        </p:nvSpPr>
        <p:spPr>
          <a:xfrm>
            <a:off x="12618148" y="1982343"/>
            <a:ext cx="49149" cy="163830"/>
          </a:xfrm>
          <a:prstGeom prst="rect">
            <a:avLst/>
          </a:prstGeom>
          <a:solidFill>
            <a:srgbClr val="4C8B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091-forest-crown-a-2"/>
          <p:cNvSpPr/>
          <p:nvPr/>
        </p:nvSpPr>
        <p:spPr>
          <a:xfrm rot="2700000">
            <a:off x="12544425" y="1785747"/>
            <a:ext cx="204787" cy="204787"/>
          </a:xfrm>
          <a:prstGeom prst="rect">
            <a:avLst/>
          </a:prstGeom>
          <a:noFill/>
          <a:ln w="38100">
            <a:solidFill>
              <a:srgbClr val="4C8B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092-forest-crown-b-2"/>
          <p:cNvSpPr/>
          <p:nvPr/>
        </p:nvSpPr>
        <p:spPr>
          <a:xfrm rot="2700000">
            <a:off x="12568999" y="1695640"/>
            <a:ext cx="155638" cy="155638"/>
          </a:xfrm>
          <a:prstGeom prst="rect">
            <a:avLst/>
          </a:prstGeom>
          <a:noFill/>
          <a:ln w="38100">
            <a:solidFill>
              <a:srgbClr val="4C8B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093-forest-label"/>
          <p:cNvSpPr txBox="1"/>
          <p:nvPr/>
        </p:nvSpPr>
        <p:spPr>
          <a:xfrm>
            <a:off x="11906250" y="2324100"/>
            <a:ext cx="8001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4C8B3A"/>
                </a:solidFill>
                <a:latin typeface="DejaVu Sans"/>
              </a:rPr>
              <a:t>Random</a:t>
            </a:r>
          </a:p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4C8B3A"/>
                </a:solidFill>
                <a:latin typeface="DejaVu Sans"/>
              </a:rPr>
              <a:t>forest</a:t>
            </a:r>
          </a:p>
        </p:txBody>
      </p:sp>
      <p:sp>
        <p:nvSpPr>
          <p:cNvPr id="95" name="094-recovery-panel-shadow"/>
          <p:cNvSpPr/>
          <p:nvPr/>
        </p:nvSpPr>
        <p:spPr>
          <a:xfrm>
            <a:off x="9010650" y="4229100"/>
            <a:ext cx="3857625" cy="1743075"/>
          </a:xfrm>
          <a:prstGeom prst="roundRect">
            <a:avLst>
              <a:gd name="adj" fmla="val 9836"/>
            </a:avLst>
          </a:prstGeom>
          <a:solidFill>
            <a:srgbClr val="D6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095-recovery-panel"/>
          <p:cNvSpPr/>
          <p:nvPr/>
        </p:nvSpPr>
        <p:spPr>
          <a:xfrm>
            <a:off x="8963025" y="4171950"/>
            <a:ext cx="3857625" cy="1743075"/>
          </a:xfrm>
          <a:prstGeom prst="roundRect">
            <a:avLst>
              <a:gd name="adj" fmla="val 9836"/>
            </a:avLst>
          </a:prstGeom>
          <a:solidFill>
            <a:srgbClr val="F2F6F7"/>
          </a:solidFill>
          <a:ln w="47625">
            <a:solidFill>
              <a:srgbClr val="91B9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096-recovery-header-white-patch"/>
          <p:cNvSpPr/>
          <p:nvPr/>
        </p:nvSpPr>
        <p:spPr>
          <a:xfrm>
            <a:off x="9477375" y="3943350"/>
            <a:ext cx="283845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097-recovery-header"/>
          <p:cNvSpPr txBox="1"/>
          <p:nvPr/>
        </p:nvSpPr>
        <p:spPr>
          <a:xfrm>
            <a:off x="9477375" y="3933824"/>
            <a:ext cx="28384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000"/>
                </a:solidFill>
                <a:latin typeface="Liberation Serif"/>
              </a:rPr>
              <a:t>Moving Object Recovery</a:t>
            </a:r>
          </a:p>
        </p:txBody>
      </p:sp>
      <p:sp>
        <p:nvSpPr>
          <p:cNvPr id="99" name="098-recovery-icon"/>
          <p:cNvSpPr/>
          <p:nvPr/>
        </p:nvSpPr>
        <p:spPr>
          <a:xfrm rot="1200000">
            <a:off x="9544050" y="4010025"/>
            <a:ext cx="171450" cy="228600"/>
          </a:xfrm>
          <a:prstGeom prst="rect">
            <a:avLst/>
          </a:prstGeom>
          <a:noFill/>
          <a:ln w="28575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0" name="099-recovery-icon-hatch-0"/>
          <p:cNvCxnSpPr/>
          <p:nvPr/>
        </p:nvCxnSpPr>
        <p:spPr>
          <a:xfrm flipV="1">
            <a:off x="9496425" y="3990974"/>
            <a:ext cx="133350" cy="180976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</p:cxnSp>
      <p:cxnSp>
        <p:nvCxnSpPr>
          <p:cNvPr id="101" name="100-recovery-icon-hatch-1"/>
          <p:cNvCxnSpPr/>
          <p:nvPr/>
        </p:nvCxnSpPr>
        <p:spPr>
          <a:xfrm flipV="1">
            <a:off x="9544050" y="3990974"/>
            <a:ext cx="133350" cy="180976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</p:cxnSp>
      <p:cxnSp>
        <p:nvCxnSpPr>
          <p:cNvPr id="102" name="101-recovery-icon-hatch-2"/>
          <p:cNvCxnSpPr/>
          <p:nvPr/>
        </p:nvCxnSpPr>
        <p:spPr>
          <a:xfrm flipV="1">
            <a:off x="9591675" y="3990974"/>
            <a:ext cx="133350" cy="180976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</p:cxnSp>
      <p:cxnSp>
        <p:nvCxnSpPr>
          <p:cNvPr id="103" name="102-recovery-icon-hatch-3"/>
          <p:cNvCxnSpPr/>
          <p:nvPr/>
        </p:nvCxnSpPr>
        <p:spPr>
          <a:xfrm flipV="1">
            <a:off x="9639300" y="3990974"/>
            <a:ext cx="133350" cy="180976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</p:cxnSp>
      <p:sp>
        <p:nvSpPr>
          <p:cNvPr id="104" name="103-recovery-number-1"/>
          <p:cNvSpPr/>
          <p:nvPr/>
        </p:nvSpPr>
        <p:spPr>
          <a:xfrm>
            <a:off x="9277350" y="4524375"/>
            <a:ext cx="333375" cy="3333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104-recovery-number-text-1"/>
          <p:cNvSpPr txBox="1"/>
          <p:nvPr/>
        </p:nvSpPr>
        <p:spPr>
          <a:xfrm>
            <a:off x="9277350" y="4524375"/>
            <a:ext cx="3333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000"/>
                </a:solidFill>
                <a:latin typeface="Liberation Serif"/>
              </a:rPr>
              <a:t>1</a:t>
            </a:r>
          </a:p>
        </p:txBody>
      </p:sp>
      <p:sp>
        <p:nvSpPr>
          <p:cNvPr id="106" name="105-recovery-item-1"/>
          <p:cNvSpPr txBox="1"/>
          <p:nvPr/>
        </p:nvSpPr>
        <p:spPr>
          <a:xfrm>
            <a:off x="9715500" y="4514850"/>
            <a:ext cx="29527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000"/>
                </a:solidFill>
                <a:latin typeface="Liberation Serif"/>
              </a:rPr>
              <a:t>VLM-based object recognition</a:t>
            </a:r>
          </a:p>
        </p:txBody>
      </p:sp>
      <p:sp>
        <p:nvSpPr>
          <p:cNvPr id="107" name="106-recovery-number-2"/>
          <p:cNvSpPr/>
          <p:nvPr/>
        </p:nvSpPr>
        <p:spPr>
          <a:xfrm>
            <a:off x="9277350" y="4972050"/>
            <a:ext cx="333375" cy="3333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107-recovery-number-text-2"/>
          <p:cNvSpPr txBox="1"/>
          <p:nvPr/>
        </p:nvSpPr>
        <p:spPr>
          <a:xfrm>
            <a:off x="9277350" y="4972050"/>
            <a:ext cx="3333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000"/>
                </a:solidFill>
                <a:latin typeface="Liberation Serif"/>
              </a:rPr>
              <a:t>2</a:t>
            </a:r>
          </a:p>
        </p:txBody>
      </p:sp>
      <p:sp>
        <p:nvSpPr>
          <p:cNvPr id="109" name="108-recovery-item-2"/>
          <p:cNvSpPr txBox="1"/>
          <p:nvPr/>
        </p:nvSpPr>
        <p:spPr>
          <a:xfrm>
            <a:off x="9715500" y="4962525"/>
            <a:ext cx="29527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000"/>
                </a:solidFill>
                <a:latin typeface="Liberation Serif"/>
              </a:rPr>
              <a:t>Semantic-based Segmentation</a:t>
            </a:r>
          </a:p>
        </p:txBody>
      </p:sp>
      <p:sp>
        <p:nvSpPr>
          <p:cNvPr id="110" name="109-recovery-number-3"/>
          <p:cNvSpPr/>
          <p:nvPr/>
        </p:nvSpPr>
        <p:spPr>
          <a:xfrm>
            <a:off x="9277350" y="5419725"/>
            <a:ext cx="333375" cy="3333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110-recovery-number-text-3"/>
          <p:cNvSpPr txBox="1"/>
          <p:nvPr/>
        </p:nvSpPr>
        <p:spPr>
          <a:xfrm>
            <a:off x="9277350" y="5419725"/>
            <a:ext cx="3333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000"/>
                </a:solidFill>
                <a:latin typeface="Liberation Serif"/>
              </a:rPr>
              <a:t>3</a:t>
            </a:r>
          </a:p>
        </p:txBody>
      </p:sp>
      <p:sp>
        <p:nvSpPr>
          <p:cNvPr id="112" name="111-recovery-item-3"/>
          <p:cNvSpPr txBox="1"/>
          <p:nvPr/>
        </p:nvSpPr>
        <p:spPr>
          <a:xfrm>
            <a:off x="9715500" y="5410200"/>
            <a:ext cx="29527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000"/>
                </a:solidFill>
                <a:latin typeface="Liberation Serif"/>
              </a:rPr>
              <a:t>Physical-aware Size Extraction</a:t>
            </a:r>
          </a:p>
        </p:txBody>
      </p:sp>
      <p:sp>
        <p:nvSpPr>
          <p:cNvPr id="113" name="112-bundle-outer-shadow"/>
          <p:cNvSpPr/>
          <p:nvPr/>
        </p:nvSpPr>
        <p:spPr>
          <a:xfrm>
            <a:off x="13211175" y="742950"/>
            <a:ext cx="4257675" cy="5143500"/>
          </a:xfrm>
          <a:prstGeom prst="roundRect">
            <a:avLst>
              <a:gd name="adj" fmla="val 3355"/>
            </a:avLst>
          </a:prstGeom>
          <a:solidFill>
            <a:srgbClr val="E6E6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113-bundle-outer"/>
          <p:cNvSpPr/>
          <p:nvPr/>
        </p:nvSpPr>
        <p:spPr>
          <a:xfrm>
            <a:off x="13154025" y="685800"/>
            <a:ext cx="4267200" cy="5162550"/>
          </a:xfrm>
          <a:prstGeom prst="roundRect">
            <a:avLst>
              <a:gd name="adj" fmla="val 3348"/>
            </a:avLst>
          </a:prstGeom>
          <a:solidFill>
            <a:srgbClr val="FFFFFF"/>
          </a:solidFill>
          <a:ln w="47625">
            <a:solidFill>
              <a:srgbClr val="EFBD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114-bundle-inner"/>
          <p:cNvSpPr/>
          <p:nvPr/>
        </p:nvSpPr>
        <p:spPr>
          <a:xfrm>
            <a:off x="13258800" y="800100"/>
            <a:ext cx="4057650" cy="4933950"/>
          </a:xfrm>
          <a:prstGeom prst="roundRect">
            <a:avLst>
              <a:gd name="adj" fmla="val 4225"/>
            </a:avLst>
          </a:prstGeom>
          <a:solidFill>
            <a:srgbClr val="FEF9F5"/>
          </a:solidFill>
          <a:ln w="19050">
            <a:solidFill>
              <a:srgbClr val="D7D7D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115-bundle-header-white-patch"/>
          <p:cNvSpPr/>
          <p:nvPr/>
        </p:nvSpPr>
        <p:spPr>
          <a:xfrm>
            <a:off x="13935075" y="447675"/>
            <a:ext cx="3238500" cy="352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116-bundle-header"/>
          <p:cNvSpPr txBox="1"/>
          <p:nvPr/>
        </p:nvSpPr>
        <p:spPr>
          <a:xfrm>
            <a:off x="13935075" y="438150"/>
            <a:ext cx="32385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000000"/>
                </a:solidFill>
                <a:latin typeface="Liberation Serif"/>
              </a:rPr>
              <a:t>Dynamic Bundle Adjustment</a:t>
            </a:r>
          </a:p>
        </p:txBody>
      </p:sp>
      <p:cxnSp>
        <p:nvCxnSpPr>
          <p:cNvPr id="118" name="117-bundle-network-v"/>
          <p:cNvCxnSpPr/>
          <p:nvPr/>
        </p:nvCxnSpPr>
        <p:spPr>
          <a:xfrm>
            <a:off x="13744575" y="361950"/>
            <a:ext cx="0" cy="142875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</p:cxnSp>
      <p:cxnSp>
        <p:nvCxnSpPr>
          <p:cNvPr id="119" name="118-bundle-network-l"/>
          <p:cNvCxnSpPr/>
          <p:nvPr/>
        </p:nvCxnSpPr>
        <p:spPr>
          <a:xfrm flipH="1">
            <a:off x="13554075" y="438150"/>
            <a:ext cx="190500" cy="15240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</p:cxnSp>
      <p:cxnSp>
        <p:nvCxnSpPr>
          <p:cNvPr id="120" name="119-bundle-network-r"/>
          <p:cNvCxnSpPr/>
          <p:nvPr/>
        </p:nvCxnSpPr>
        <p:spPr>
          <a:xfrm>
            <a:off x="13744575" y="438150"/>
            <a:ext cx="190500" cy="15240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</p:cxnSp>
      <p:sp>
        <p:nvSpPr>
          <p:cNvPr id="121" name="120-bundle-network-dot"/>
          <p:cNvSpPr/>
          <p:nvPr/>
        </p:nvSpPr>
        <p:spPr>
          <a:xfrm>
            <a:off x="13706475" y="295275"/>
            <a:ext cx="76200" cy="76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121-bundle-camera-0"/>
          <p:cNvSpPr/>
          <p:nvPr/>
        </p:nvSpPr>
        <p:spPr>
          <a:xfrm rot="1440000">
            <a:off x="13496925" y="571500"/>
            <a:ext cx="114300" cy="152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122-bundle-camera-1"/>
          <p:cNvSpPr/>
          <p:nvPr/>
        </p:nvSpPr>
        <p:spPr>
          <a:xfrm>
            <a:off x="13687425" y="571500"/>
            <a:ext cx="114300" cy="152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123-bundle-camera-2"/>
          <p:cNvSpPr/>
          <p:nvPr/>
        </p:nvSpPr>
        <p:spPr>
          <a:xfrm rot="20160000">
            <a:off x="13877925" y="571500"/>
            <a:ext cx="114300" cy="152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124-bundle-bar-shadow-0"/>
          <p:cNvSpPr/>
          <p:nvPr/>
        </p:nvSpPr>
        <p:spPr>
          <a:xfrm>
            <a:off x="13544550" y="1066800"/>
            <a:ext cx="3562350" cy="609600"/>
          </a:xfrm>
          <a:prstGeom prst="roundRect">
            <a:avLst>
              <a:gd name="adj" fmla="val 12500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125-bundle-bar-0"/>
          <p:cNvSpPr/>
          <p:nvPr/>
        </p:nvSpPr>
        <p:spPr>
          <a:xfrm>
            <a:off x="13506450" y="1019174"/>
            <a:ext cx="3562350" cy="609600"/>
          </a:xfrm>
          <a:prstGeom prst="roundRect">
            <a:avLst>
              <a:gd name="adj" fmla="val 12500"/>
            </a:avLst>
          </a:prstGeom>
          <a:solidFill>
            <a:srgbClr val="F9AC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126-bundle-bar-label-0"/>
          <p:cNvSpPr txBox="1"/>
          <p:nvPr/>
        </p:nvSpPr>
        <p:spPr>
          <a:xfrm>
            <a:off x="13582650" y="1057275"/>
            <a:ext cx="340995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Liberation Sans"/>
              </a:rPr>
              <a:t>Dynamic Masking</a:t>
            </a:r>
          </a:p>
        </p:txBody>
      </p:sp>
      <p:sp>
        <p:nvSpPr>
          <p:cNvPr id="128" name="127-bundle-down-0"/>
          <p:cNvSpPr/>
          <p:nvPr/>
        </p:nvSpPr>
        <p:spPr>
          <a:xfrm>
            <a:off x="15249524" y="1628775"/>
            <a:ext cx="76200" cy="228600"/>
          </a:xfrm>
          <a:prstGeom prst="downArrow">
            <a:avLst/>
          </a:prstGeom>
          <a:solidFill>
            <a:srgbClr val="B1B1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128-bundle-bar-shadow-1"/>
          <p:cNvSpPr/>
          <p:nvPr/>
        </p:nvSpPr>
        <p:spPr>
          <a:xfrm>
            <a:off x="13544550" y="1905000"/>
            <a:ext cx="3562350" cy="733425"/>
          </a:xfrm>
          <a:prstGeom prst="roundRect">
            <a:avLst>
              <a:gd name="adj" fmla="val 10389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129-bundle-bar-1"/>
          <p:cNvSpPr/>
          <p:nvPr/>
        </p:nvSpPr>
        <p:spPr>
          <a:xfrm>
            <a:off x="13506450" y="1857375"/>
            <a:ext cx="3562350" cy="733425"/>
          </a:xfrm>
          <a:prstGeom prst="roundRect">
            <a:avLst>
              <a:gd name="adj" fmla="val 10389"/>
            </a:avLst>
          </a:prstGeom>
          <a:solidFill>
            <a:srgbClr val="D797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130-bundle-bar-label-1"/>
          <p:cNvSpPr txBox="1"/>
          <p:nvPr/>
        </p:nvSpPr>
        <p:spPr>
          <a:xfrm>
            <a:off x="13582650" y="1895474"/>
            <a:ext cx="3409950" cy="657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Liberation Sans"/>
              </a:rPr>
              <a:t>Coarse Camera Initialization</a:t>
            </a:r>
          </a:p>
        </p:txBody>
      </p:sp>
      <p:sp>
        <p:nvSpPr>
          <p:cNvPr id="132" name="131-bundle-down-1"/>
          <p:cNvSpPr/>
          <p:nvPr/>
        </p:nvSpPr>
        <p:spPr>
          <a:xfrm>
            <a:off x="15249524" y="2590800"/>
            <a:ext cx="76200" cy="238125"/>
          </a:xfrm>
          <a:prstGeom prst="downArrow">
            <a:avLst/>
          </a:prstGeom>
          <a:solidFill>
            <a:srgbClr val="B1B1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132-bundle-bar-shadow-2"/>
          <p:cNvSpPr/>
          <p:nvPr/>
        </p:nvSpPr>
        <p:spPr>
          <a:xfrm>
            <a:off x="13544550" y="2876550"/>
            <a:ext cx="3562350" cy="723900"/>
          </a:xfrm>
          <a:prstGeom prst="roundRect">
            <a:avLst>
              <a:gd name="adj" fmla="val 10526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133-bundle-bar-2"/>
          <p:cNvSpPr/>
          <p:nvPr/>
        </p:nvSpPr>
        <p:spPr>
          <a:xfrm>
            <a:off x="13506450" y="2828925"/>
            <a:ext cx="3562350" cy="723900"/>
          </a:xfrm>
          <a:prstGeom prst="roundRect">
            <a:avLst>
              <a:gd name="adj" fmla="val 10526"/>
            </a:avLst>
          </a:prstGeom>
          <a:solidFill>
            <a:srgbClr val="C47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134-bundle-bar-label-2"/>
          <p:cNvSpPr txBox="1"/>
          <p:nvPr/>
        </p:nvSpPr>
        <p:spPr>
          <a:xfrm>
            <a:off x="13582650" y="2867025"/>
            <a:ext cx="340995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Liberation Sans"/>
              </a:rPr>
              <a:t>Static Area</a:t>
            </a:r>
          </a:p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Liberation Sans"/>
              </a:rPr>
              <a:t>Bundle Adjustment</a:t>
            </a:r>
          </a:p>
        </p:txBody>
      </p:sp>
      <p:sp>
        <p:nvSpPr>
          <p:cNvPr id="136" name="135-bundle-down-2"/>
          <p:cNvSpPr/>
          <p:nvPr/>
        </p:nvSpPr>
        <p:spPr>
          <a:xfrm>
            <a:off x="15249524" y="3552825"/>
            <a:ext cx="76200" cy="257175"/>
          </a:xfrm>
          <a:prstGeom prst="downArrow">
            <a:avLst/>
          </a:prstGeom>
          <a:solidFill>
            <a:srgbClr val="B1B1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136-bundle-bar-shadow-3"/>
          <p:cNvSpPr/>
          <p:nvPr/>
        </p:nvSpPr>
        <p:spPr>
          <a:xfrm>
            <a:off x="13544550" y="3857625"/>
            <a:ext cx="3562350" cy="723900"/>
          </a:xfrm>
          <a:prstGeom prst="roundRect">
            <a:avLst>
              <a:gd name="adj" fmla="val 10526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137-bundle-bar-3"/>
          <p:cNvSpPr/>
          <p:nvPr/>
        </p:nvSpPr>
        <p:spPr>
          <a:xfrm>
            <a:off x="13506450" y="3810000"/>
            <a:ext cx="3562350" cy="723900"/>
          </a:xfrm>
          <a:prstGeom prst="roundRect">
            <a:avLst>
              <a:gd name="adj" fmla="val 10526"/>
            </a:avLst>
          </a:prstGeom>
          <a:solidFill>
            <a:srgbClr val="A05F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138-bundle-bar-label-3"/>
          <p:cNvSpPr txBox="1"/>
          <p:nvPr/>
        </p:nvSpPr>
        <p:spPr>
          <a:xfrm>
            <a:off x="13582650" y="3848099"/>
            <a:ext cx="340995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Liberation Sans"/>
              </a:rPr>
              <a:t>Non-Rigid</a:t>
            </a:r>
          </a:p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Liberation Sans"/>
              </a:rPr>
              <a:t>Bundle Adjustment</a:t>
            </a:r>
          </a:p>
        </p:txBody>
      </p:sp>
      <p:sp>
        <p:nvSpPr>
          <p:cNvPr id="140" name="139-bundle-down-3"/>
          <p:cNvSpPr/>
          <p:nvPr/>
        </p:nvSpPr>
        <p:spPr>
          <a:xfrm>
            <a:off x="15249524" y="4533900"/>
            <a:ext cx="76200" cy="219075"/>
          </a:xfrm>
          <a:prstGeom prst="downArrow">
            <a:avLst/>
          </a:prstGeom>
          <a:solidFill>
            <a:srgbClr val="B1B1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140-bundle-bar-shadow-4"/>
          <p:cNvSpPr/>
          <p:nvPr/>
        </p:nvSpPr>
        <p:spPr>
          <a:xfrm>
            <a:off x="13544550" y="4800600"/>
            <a:ext cx="3562350" cy="723900"/>
          </a:xfrm>
          <a:prstGeom prst="roundRect">
            <a:avLst>
              <a:gd name="adj" fmla="val 10526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141-bundle-bar-4"/>
          <p:cNvSpPr/>
          <p:nvPr/>
        </p:nvSpPr>
        <p:spPr>
          <a:xfrm>
            <a:off x="13506450" y="4752975"/>
            <a:ext cx="3562350" cy="723900"/>
          </a:xfrm>
          <a:prstGeom prst="roundRect">
            <a:avLst>
              <a:gd name="adj" fmla="val 10526"/>
            </a:avLst>
          </a:prstGeom>
          <a:solidFill>
            <a:srgbClr val="624D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142-bundle-bar-label-4"/>
          <p:cNvSpPr txBox="1"/>
          <p:nvPr/>
        </p:nvSpPr>
        <p:spPr>
          <a:xfrm>
            <a:off x="13582650" y="4791075"/>
            <a:ext cx="3409950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Liberation Sans"/>
              </a:rPr>
              <a:t>Sliding Window</a:t>
            </a:r>
          </a:p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Liberation Sans"/>
              </a:rPr>
              <a:t>Global Refinement</a:t>
            </a:r>
          </a:p>
        </p:txBody>
      </p:sp>
      <p:cxnSp>
        <p:nvCxnSpPr>
          <p:cNvPr id="144" name="143-stage-divider"/>
          <p:cNvCxnSpPr/>
          <p:nvPr/>
        </p:nvCxnSpPr>
        <p:spPr>
          <a:xfrm>
            <a:off x="76200" y="6391275"/>
            <a:ext cx="17449800" cy="0"/>
          </a:xfrm>
          <a:prstGeom prst="line">
            <a:avLst/>
          </a:prstGeom>
          <a:ln w="95250">
            <a:solidFill>
              <a:srgbClr val="777777"/>
            </a:solidFill>
            <a:prstDash val="dash"/>
          </a:ln>
          <a:effectLst/>
        </p:spPr>
      </p:cxnSp>
      <p:sp>
        <p:nvSpPr>
          <p:cNvPr id="145" name="144-stage-2-title"/>
          <p:cNvSpPr txBox="1"/>
          <p:nvPr/>
        </p:nvSpPr>
        <p:spPr>
          <a:xfrm>
            <a:off x="485775" y="6515100"/>
            <a:ext cx="13954125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2F7C25"/>
                </a:solidFill>
                <a:latin typeface="Liberation Sans"/>
              </a:rPr>
              <a:t>Stage 2 : Generating Fine-grained Captions For Moving Objects, Cameras and Dynamic Scenes</a:t>
            </a:r>
          </a:p>
        </p:txBody>
      </p:sp>
      <p:sp>
        <p:nvSpPr>
          <p:cNvPr id="146" name="145-object-to-scene"/>
          <p:cNvSpPr/>
          <p:nvPr/>
        </p:nvSpPr>
        <p:spPr>
          <a:xfrm>
            <a:off x="7477125" y="9572625"/>
            <a:ext cx="400050" cy="266700"/>
          </a:xfrm>
          <a:prstGeom prst="rightArrow">
            <a:avLst/>
          </a:prstGeom>
          <a:solidFill>
            <a:srgbClr val="A8A8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146-scene-to-camera"/>
          <p:cNvSpPr/>
          <p:nvPr/>
        </p:nvSpPr>
        <p:spPr>
          <a:xfrm>
            <a:off x="14154150" y="9572625"/>
            <a:ext cx="400050" cy="266700"/>
          </a:xfrm>
          <a:prstGeom prst="rightArrow">
            <a:avLst/>
          </a:prstGeom>
          <a:solidFill>
            <a:srgbClr val="9FA3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147-object-caption-panel-shadow"/>
          <p:cNvSpPr/>
          <p:nvPr/>
        </p:nvSpPr>
        <p:spPr>
          <a:xfrm>
            <a:off x="428625" y="7219950"/>
            <a:ext cx="7191375" cy="5705475"/>
          </a:xfrm>
          <a:prstGeom prst="roundRect">
            <a:avLst>
              <a:gd name="adj" fmla="val 5843"/>
            </a:avLst>
          </a:prstGeom>
          <a:solidFill>
            <a:srgbClr val="E1E1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148-object-caption-panel"/>
          <p:cNvSpPr/>
          <p:nvPr/>
        </p:nvSpPr>
        <p:spPr>
          <a:xfrm>
            <a:off x="381000" y="7162800"/>
            <a:ext cx="7191375" cy="5705475"/>
          </a:xfrm>
          <a:prstGeom prst="roundRect">
            <a:avLst>
              <a:gd name="adj" fmla="val 5843"/>
            </a:avLst>
          </a:prstGeom>
          <a:solidFill>
            <a:srgbClr val="FFFFFF"/>
          </a:solidFill>
          <a:ln w="47625">
            <a:solidFill>
              <a:srgbClr val="ADAD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149-object-caption-header-white-patch"/>
          <p:cNvSpPr/>
          <p:nvPr/>
        </p:nvSpPr>
        <p:spPr>
          <a:xfrm>
            <a:off x="2609850" y="6934200"/>
            <a:ext cx="2857500" cy="361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150-object-caption-header"/>
          <p:cNvSpPr txBox="1"/>
          <p:nvPr/>
        </p:nvSpPr>
        <p:spPr>
          <a:xfrm>
            <a:off x="2609850" y="69246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000000"/>
                </a:solidFill>
                <a:latin typeface="Liberation Serif"/>
              </a:rPr>
              <a:t>Moving Object Caption</a:t>
            </a:r>
          </a:p>
        </p:txBody>
      </p:sp>
      <p:sp>
        <p:nvSpPr>
          <p:cNvPr id="152" name="151-dam-icon-card"/>
          <p:cNvSpPr/>
          <p:nvPr/>
        </p:nvSpPr>
        <p:spPr>
          <a:xfrm>
            <a:off x="2600325" y="6877050"/>
            <a:ext cx="419100" cy="40005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9525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152-dam-icon-top"/>
          <p:cNvSpPr txBox="1"/>
          <p:nvPr/>
        </p:nvSpPr>
        <p:spPr>
          <a:xfrm>
            <a:off x="2600325" y="6858000"/>
            <a:ext cx="419100" cy="133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66666"/>
                </a:solidFill>
                <a:latin typeface="Liberation Sans"/>
              </a:rPr>
              <a:t>DAM</a:t>
            </a:r>
          </a:p>
        </p:txBody>
      </p:sp>
      <p:sp>
        <p:nvSpPr>
          <p:cNvPr id="154" name="153-dam-icon-orange"/>
          <p:cNvSpPr/>
          <p:nvPr/>
        </p:nvSpPr>
        <p:spPr>
          <a:xfrm rot="2700000">
            <a:off x="2657475" y="7029450"/>
            <a:ext cx="133350" cy="152400"/>
          </a:xfrm>
          <a:prstGeom prst="rect">
            <a:avLst/>
          </a:prstGeom>
          <a:solidFill>
            <a:srgbClr val="E69A3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154-dam-icon-blue"/>
          <p:cNvSpPr/>
          <p:nvPr/>
        </p:nvSpPr>
        <p:spPr>
          <a:xfrm rot="2700000">
            <a:off x="2800350" y="7029450"/>
            <a:ext cx="133350" cy="152400"/>
          </a:xfrm>
          <a:prstGeom prst="rect">
            <a:avLst/>
          </a:prstGeom>
          <a:solidFill>
            <a:srgbClr val="497F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6" name="155-object-video-stack" descr="object_vide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7353299"/>
            <a:ext cx="1228725" cy="2000250"/>
          </a:xfrm>
          <a:prstGeom prst="rect">
            <a:avLst/>
          </a:prstGeom>
          <a:effectLst/>
        </p:spPr>
      </p:pic>
      <p:sp>
        <p:nvSpPr>
          <p:cNvPr id="157" name="156-raw-videos-label"/>
          <p:cNvSpPr txBox="1"/>
          <p:nvPr/>
        </p:nvSpPr>
        <p:spPr>
          <a:xfrm>
            <a:off x="657225" y="9353550"/>
            <a:ext cx="1266825" cy="3143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000000"/>
                </a:solidFill>
                <a:latin typeface="Liberation Serif"/>
              </a:rPr>
              <a:t>▸ Raw Videos</a:t>
            </a:r>
          </a:p>
        </p:txBody>
      </p:sp>
      <p:pic>
        <p:nvPicPr>
          <p:cNvPr id="158" name="157-object-mask-stack" descr="object_mas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" y="9667875"/>
            <a:ext cx="1228725" cy="1981199"/>
          </a:xfrm>
          <a:prstGeom prst="rect">
            <a:avLst/>
          </a:prstGeom>
          <a:effectLst/>
        </p:spPr>
      </p:pic>
      <p:sp>
        <p:nvSpPr>
          <p:cNvPr id="159" name="158-instance-masks-label"/>
          <p:cNvSpPr txBox="1"/>
          <p:nvPr/>
        </p:nvSpPr>
        <p:spPr>
          <a:xfrm>
            <a:off x="590550" y="11630025"/>
            <a:ext cx="13716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7" b="1" i="0">
                <a:solidFill>
                  <a:srgbClr val="111111"/>
                </a:solidFill>
                <a:latin typeface="Liberation Serif"/>
              </a:rPr>
              <a:t>▧ Instance Masks</a:t>
            </a:r>
          </a:p>
        </p:txBody>
      </p:sp>
      <p:sp>
        <p:nvSpPr>
          <p:cNvPr id="160" name="159-instance-value"/>
          <p:cNvSpPr txBox="1"/>
          <p:nvPr/>
        </p:nvSpPr>
        <p:spPr>
          <a:xfrm>
            <a:off x="581025" y="12115800"/>
            <a:ext cx="1381125" cy="3143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DejaVu Sans"/>
              </a:rPr>
              <a:t>“A Young Boy”</a:t>
            </a:r>
          </a:p>
        </p:txBody>
      </p:sp>
      <p:sp>
        <p:nvSpPr>
          <p:cNvPr id="161" name="160-instance-label-icon"/>
          <p:cNvSpPr/>
          <p:nvPr/>
        </p:nvSpPr>
        <p:spPr>
          <a:xfrm>
            <a:off x="590550" y="12458700"/>
            <a:ext cx="228600" cy="228600"/>
          </a:xfrm>
          <a:prstGeom prst="rect">
            <a:avLst/>
          </a:prstGeom>
          <a:solidFill>
            <a:srgbClr val="FFFFFF"/>
          </a:solidFill>
          <a:ln w="28575">
            <a:solidFill>
              <a:srgbClr val="69A8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161-instance-label-t"/>
          <p:cNvSpPr txBox="1"/>
          <p:nvPr/>
        </p:nvSpPr>
        <p:spPr>
          <a:xfrm>
            <a:off x="590550" y="12458700"/>
            <a:ext cx="2286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78B5A"/>
                </a:solidFill>
                <a:latin typeface="Liberation Sans"/>
              </a:rPr>
              <a:t>T</a:t>
            </a:r>
          </a:p>
        </p:txBody>
      </p:sp>
      <p:sp>
        <p:nvSpPr>
          <p:cNvPr id="163" name="162-instance-label-text"/>
          <p:cNvSpPr txBox="1"/>
          <p:nvPr/>
        </p:nvSpPr>
        <p:spPr>
          <a:xfrm>
            <a:off x="857250" y="12420600"/>
            <a:ext cx="1095375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000000"/>
                </a:solidFill>
                <a:latin typeface="Liberation Serif"/>
              </a:rPr>
              <a:t>Instance Label</a:t>
            </a:r>
          </a:p>
        </p:txBody>
      </p:sp>
      <p:sp>
        <p:nvSpPr>
          <p:cNvPr id="164" name="163-object-prompt"/>
          <p:cNvSpPr/>
          <p:nvPr/>
        </p:nvSpPr>
        <p:spPr>
          <a:xfrm>
            <a:off x="1914525" y="7353299"/>
            <a:ext cx="5448300" cy="647700"/>
          </a:xfrm>
          <a:prstGeom prst="roundRect">
            <a:avLst>
              <a:gd name="adj" fmla="val 1323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164-object-prompt-text"/>
          <p:cNvSpPr txBox="1"/>
          <p:nvPr/>
        </p:nvSpPr>
        <p:spPr>
          <a:xfrm>
            <a:off x="1981199" y="7410449"/>
            <a:ext cx="53149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DejaVu Sans"/>
              </a:rPr>
              <a:t>Prompt: </a:t>
            </a:r>
            <a:r>
              <a:rPr sz="1200" b="0" i="0">
                <a:solidFill>
                  <a:srgbClr val="222222"/>
                </a:solidFill>
                <a:latin typeface="DejaVu Sans"/>
              </a:rPr>
              <a:t>Given the &lt;raw video&gt; ▸, </a:t>
            </a:r>
            <a:r>
              <a:rPr sz="1200" b="0" i="0">
                <a:solidFill>
                  <a:srgbClr val="E98134"/>
                </a:solidFill>
                <a:latin typeface="DejaVu Sans"/>
              </a:rPr>
              <a:t>&lt;moving instance mask&gt;</a:t>
            </a:r>
            <a:r>
              <a:rPr sz="1200" b="0" i="0">
                <a:solidFill>
                  <a:srgbClr val="222222"/>
                </a:solidFill>
                <a:latin typeface="DejaVu Sans"/>
              </a:rPr>
              <a:t> and</a:t>
            </a:r>
          </a:p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9B66"/>
                </a:solidFill>
                <a:latin typeface="DejaVu Sans"/>
              </a:rPr>
              <a:t>&lt;instance label&gt;. </a:t>
            </a:r>
            <a:r>
              <a:rPr sz="1200" b="0" i="0">
                <a:solidFill>
                  <a:srgbClr val="222222"/>
                </a:solidFill>
                <a:latin typeface="DejaVu Sans"/>
              </a:rPr>
              <a:t>Provide a description of the moving instance.</a:t>
            </a:r>
          </a:p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DejaVu Sans"/>
              </a:rPr>
              <a:t>Focus on its action and attributes (e.g., color, shape, material).</a:t>
            </a:r>
          </a:p>
        </p:txBody>
      </p:sp>
      <p:sp>
        <p:nvSpPr>
          <p:cNvPr id="166" name="165-object-response-bg"/>
          <p:cNvSpPr/>
          <p:nvPr/>
        </p:nvSpPr>
        <p:spPr>
          <a:xfrm>
            <a:off x="1905000" y="8001000"/>
            <a:ext cx="5267325" cy="1952624"/>
          </a:xfrm>
          <a:prstGeom prst="roundRect">
            <a:avLst>
              <a:gd name="adj" fmla="val 10731"/>
            </a:avLst>
          </a:prstGeom>
          <a:solidFill>
            <a:srgbClr val="DCEA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166-object-response-title"/>
          <p:cNvSpPr txBox="1"/>
          <p:nvPr/>
        </p:nvSpPr>
        <p:spPr>
          <a:xfrm>
            <a:off x="2381250" y="7981949"/>
            <a:ext cx="4333875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000"/>
                </a:solidFill>
                <a:latin typeface="Liberation Serif"/>
              </a:rPr>
              <a:t>Response (object-level)</a:t>
            </a:r>
          </a:p>
        </p:txBody>
      </p:sp>
      <p:sp>
        <p:nvSpPr>
          <p:cNvPr id="168" name="167-object-response-card-shadow"/>
          <p:cNvSpPr/>
          <p:nvPr/>
        </p:nvSpPr>
        <p:spPr>
          <a:xfrm>
            <a:off x="2047875" y="8286750"/>
            <a:ext cx="5019675" cy="1628775"/>
          </a:xfrm>
          <a:prstGeom prst="roundRect">
            <a:avLst>
              <a:gd name="adj" fmla="val 10526"/>
            </a:avLst>
          </a:prstGeom>
          <a:solidFill>
            <a:srgbClr val="B8C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168-object-response-card"/>
          <p:cNvSpPr/>
          <p:nvPr/>
        </p:nvSpPr>
        <p:spPr>
          <a:xfrm>
            <a:off x="2009774" y="8239124"/>
            <a:ext cx="5029200" cy="1628775"/>
          </a:xfrm>
          <a:prstGeom prst="roundRect">
            <a:avLst>
              <a:gd name="adj" fmla="val 10526"/>
            </a:avLst>
          </a:prstGeom>
          <a:solidFill>
            <a:srgbClr val="F8F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169-object-response-copy"/>
          <p:cNvSpPr txBox="1"/>
          <p:nvPr/>
        </p:nvSpPr>
        <p:spPr>
          <a:xfrm>
            <a:off x="2076450" y="8305800"/>
            <a:ext cx="4905375" cy="1504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1A70A8"/>
                </a:solidFill>
                <a:latin typeface="DejaVu Sans"/>
              </a:rPr>
              <a:t>&lt;think&gt; </a:t>
            </a:r>
            <a:r>
              <a:rPr sz="1237" b="0" i="0">
                <a:solidFill>
                  <a:srgbClr val="111111"/>
                </a:solidFill>
                <a:latin typeface="DejaVu Sans"/>
              </a:rPr>
              <a:t>Alright, let's break down the attributes </a:t>
            </a:r>
            <a:r>
              <a:rPr sz="1237" b="0" i="0">
                <a:solidFill>
                  <a:srgbClr val="45AADD"/>
                </a:solidFill>
                <a:latin typeface="DejaVu Sans"/>
              </a:rPr>
              <a:t>step by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111111"/>
                </a:solidFill>
                <a:latin typeface="DejaVu Sans"/>
              </a:rPr>
              <a:t>step: First, observe the boy's action: stand, crouch, ... .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111111"/>
                </a:solidFill>
                <a:latin typeface="DejaVu Sans"/>
              </a:rPr>
              <a:t>Then, see the boy's attire: light green shirt, ... . Next,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111111"/>
                </a:solidFill>
                <a:latin typeface="DejaVu Sans"/>
              </a:rPr>
              <a:t>note the </a:t>
            </a:r>
            <a:r>
              <a:rPr sz="1237" b="0" i="0">
                <a:solidFill>
                  <a:srgbClr val="5F9ECF"/>
                </a:solidFill>
                <a:latin typeface="DejaVu Sans"/>
              </a:rPr>
              <a:t>shape and movement</a:t>
            </a:r>
            <a:r>
              <a:rPr sz="1237" b="0" i="0">
                <a:solidFill>
                  <a:srgbClr val="111111"/>
                </a:solidFill>
                <a:latin typeface="DejaVu Sans"/>
              </a:rPr>
              <a:t>: agile, ... . Then, consider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111111"/>
                </a:solidFill>
                <a:latin typeface="DejaVu Sans"/>
              </a:rPr>
              <a:t>the material of the clothing: lightweight, ... . Finally,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111111"/>
                </a:solidFill>
                <a:latin typeface="DejaVu Sans"/>
              </a:rPr>
              <a:t>take into account the setting and the boy's engagement: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111111"/>
                </a:solidFill>
                <a:latin typeface="DejaVu Sans"/>
              </a:rPr>
              <a:t>indoor trampoline park, ... . </a:t>
            </a:r>
            <a:r>
              <a:rPr sz="1237" b="0" i="0">
                <a:solidFill>
                  <a:srgbClr val="1A70A8"/>
                </a:solidFill>
                <a:latin typeface="DejaVu Sans"/>
              </a:rPr>
              <a:t>&lt;/think&gt;.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D40000"/>
                </a:solidFill>
                <a:latin typeface="DejaVu Sans"/>
              </a:rPr>
              <a:t>&lt;answer&gt; {...} &lt;/answer&gt;</a:t>
            </a:r>
          </a:p>
        </p:txBody>
      </p:sp>
      <p:sp>
        <p:nvSpPr>
          <p:cNvPr id="171" name="170-model-badge-petal-0"/>
          <p:cNvSpPr/>
          <p:nvPr/>
        </p:nvSpPr>
        <p:spPr>
          <a:xfrm rot="2700000">
            <a:off x="6589395" y="8077200"/>
            <a:ext cx="240030" cy="240030"/>
          </a:xfrm>
          <a:prstGeom prst="roundRect">
            <a:avLst>
              <a:gd name="adj" fmla="val 22857"/>
            </a:avLst>
          </a:prstGeom>
          <a:solidFill>
            <a:srgbClr val="713CBB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171-model-badge-petal-1"/>
          <p:cNvSpPr/>
          <p:nvPr/>
        </p:nvSpPr>
        <p:spPr>
          <a:xfrm rot="2700000">
            <a:off x="6726555" y="8077200"/>
            <a:ext cx="240030" cy="240030"/>
          </a:xfrm>
          <a:prstGeom prst="roundRect">
            <a:avLst>
              <a:gd name="adj" fmla="val 22857"/>
            </a:avLst>
          </a:prstGeom>
          <a:solidFill>
            <a:srgbClr val="E55373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172-model-badge-petal-2"/>
          <p:cNvSpPr/>
          <p:nvPr/>
        </p:nvSpPr>
        <p:spPr>
          <a:xfrm rot="2700000">
            <a:off x="6657975" y="8008620"/>
            <a:ext cx="240030" cy="240030"/>
          </a:xfrm>
          <a:prstGeom prst="roundRect">
            <a:avLst>
              <a:gd name="adj" fmla="val 22857"/>
            </a:avLst>
          </a:prstGeom>
          <a:solidFill>
            <a:srgbClr val="6A8BF0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173-model-badge-petal-3"/>
          <p:cNvSpPr/>
          <p:nvPr/>
        </p:nvSpPr>
        <p:spPr>
          <a:xfrm rot="2700000">
            <a:off x="6657975" y="8145780"/>
            <a:ext cx="240030" cy="240030"/>
          </a:xfrm>
          <a:prstGeom prst="roundRect">
            <a:avLst>
              <a:gd name="adj" fmla="val 22857"/>
            </a:avLst>
          </a:prstGeom>
          <a:solidFill>
            <a:srgbClr val="F1AE35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174-model-badge-center"/>
          <p:cNvSpPr/>
          <p:nvPr/>
        </p:nvSpPr>
        <p:spPr>
          <a:xfrm>
            <a:off x="6671691" y="8090916"/>
            <a:ext cx="212598" cy="212598"/>
          </a:xfrm>
          <a:prstGeom prst="ellipse">
            <a:avLst/>
          </a:prstGeom>
          <a:solidFill>
            <a:srgbClr val="5B3FB0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175-model-badge-label"/>
          <p:cNvSpPr txBox="1"/>
          <p:nvPr/>
        </p:nvSpPr>
        <p:spPr>
          <a:xfrm>
            <a:off x="6651117" y="8104632"/>
            <a:ext cx="253746" cy="18516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6" b="1" i="0">
                <a:solidFill>
                  <a:srgbClr val="FFFFFF"/>
                </a:solidFill>
                <a:latin typeface="Liberation Sans"/>
              </a:rPr>
              <a:t>DV</a:t>
            </a:r>
          </a:p>
        </p:txBody>
      </p:sp>
      <p:sp>
        <p:nvSpPr>
          <p:cNvPr id="177" name="176-object-llm-bg"/>
          <p:cNvSpPr/>
          <p:nvPr/>
        </p:nvSpPr>
        <p:spPr>
          <a:xfrm>
            <a:off x="1905000" y="10067925"/>
            <a:ext cx="5267325" cy="2714625"/>
          </a:xfrm>
          <a:prstGeom prst="roundRect">
            <a:avLst>
              <a:gd name="adj" fmla="val 8421"/>
            </a:avLst>
          </a:prstGeom>
          <a:solidFill>
            <a:srgbClr val="ECF7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177-object-llm-title"/>
          <p:cNvSpPr txBox="1"/>
          <p:nvPr/>
        </p:nvSpPr>
        <p:spPr>
          <a:xfrm>
            <a:off x="2505075" y="10067925"/>
            <a:ext cx="4048124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000"/>
                </a:solidFill>
                <a:latin typeface="Liberation Serif"/>
              </a:rPr>
              <a:t>LLM-rephrased</a:t>
            </a:r>
          </a:p>
        </p:txBody>
      </p:sp>
      <p:sp>
        <p:nvSpPr>
          <p:cNvPr id="179" name="178-openai-loop-0"/>
          <p:cNvSpPr/>
          <p:nvPr/>
        </p:nvSpPr>
        <p:spPr>
          <a:xfrm>
            <a:off x="6619875" y="10172700"/>
            <a:ext cx="152400" cy="152400"/>
          </a:xfrm>
          <a:prstGeom prst="ellipse">
            <a:avLst/>
          </a:prstGeom>
          <a:noFill/>
          <a:ln w="28575">
            <a:solidFill>
              <a:srgbClr val="5DC5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179-openai-loop-1"/>
          <p:cNvSpPr/>
          <p:nvPr/>
        </p:nvSpPr>
        <p:spPr>
          <a:xfrm>
            <a:off x="6724650" y="10239375"/>
            <a:ext cx="152400" cy="152400"/>
          </a:xfrm>
          <a:prstGeom prst="ellipse">
            <a:avLst/>
          </a:prstGeom>
          <a:noFill/>
          <a:ln w="28575">
            <a:solidFill>
              <a:srgbClr val="5DC5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180-openai-loop-2"/>
          <p:cNvSpPr/>
          <p:nvPr/>
        </p:nvSpPr>
        <p:spPr>
          <a:xfrm>
            <a:off x="6724650" y="10363200"/>
            <a:ext cx="152400" cy="152400"/>
          </a:xfrm>
          <a:prstGeom prst="ellipse">
            <a:avLst/>
          </a:prstGeom>
          <a:noFill/>
          <a:ln w="28575">
            <a:solidFill>
              <a:srgbClr val="5DC5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181-openai-loop-3"/>
          <p:cNvSpPr/>
          <p:nvPr/>
        </p:nvSpPr>
        <p:spPr>
          <a:xfrm>
            <a:off x="6619875" y="10429875"/>
            <a:ext cx="152400" cy="152400"/>
          </a:xfrm>
          <a:prstGeom prst="ellipse">
            <a:avLst/>
          </a:prstGeom>
          <a:noFill/>
          <a:ln w="28575">
            <a:solidFill>
              <a:srgbClr val="5DC5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182-openai-loop-4"/>
          <p:cNvSpPr/>
          <p:nvPr/>
        </p:nvSpPr>
        <p:spPr>
          <a:xfrm>
            <a:off x="6515100" y="10363200"/>
            <a:ext cx="152400" cy="152400"/>
          </a:xfrm>
          <a:prstGeom prst="ellipse">
            <a:avLst/>
          </a:prstGeom>
          <a:noFill/>
          <a:ln w="28575">
            <a:solidFill>
              <a:srgbClr val="5DC5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183-openai-loop-5"/>
          <p:cNvSpPr/>
          <p:nvPr/>
        </p:nvSpPr>
        <p:spPr>
          <a:xfrm>
            <a:off x="6515100" y="10239375"/>
            <a:ext cx="152400" cy="152400"/>
          </a:xfrm>
          <a:prstGeom prst="ellipse">
            <a:avLst/>
          </a:prstGeom>
          <a:noFill/>
          <a:ln w="28575">
            <a:solidFill>
              <a:srgbClr val="5DC5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184-object-llm-card-shadow"/>
          <p:cNvSpPr/>
          <p:nvPr/>
        </p:nvSpPr>
        <p:spPr>
          <a:xfrm>
            <a:off x="2114550" y="10620375"/>
            <a:ext cx="4933950" cy="2076450"/>
          </a:xfrm>
          <a:prstGeom prst="roundRect">
            <a:avLst>
              <a:gd name="adj" fmla="val 8256"/>
            </a:avLst>
          </a:prstGeom>
          <a:solidFill>
            <a:srgbClr val="B8C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185-object-llm-card"/>
          <p:cNvSpPr/>
          <p:nvPr/>
        </p:nvSpPr>
        <p:spPr>
          <a:xfrm>
            <a:off x="2076450" y="10582275"/>
            <a:ext cx="4943475" cy="2076450"/>
          </a:xfrm>
          <a:prstGeom prst="roundRect">
            <a:avLst>
              <a:gd name="adj" fmla="val 8256"/>
            </a:avLst>
          </a:prstGeom>
          <a:solidFill>
            <a:srgbClr val="F8F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186-object-llm-copy"/>
          <p:cNvSpPr txBox="1"/>
          <p:nvPr/>
        </p:nvSpPr>
        <p:spPr>
          <a:xfrm>
            <a:off x="2190750" y="10668000"/>
            <a:ext cx="4714875" cy="1914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D40000"/>
                </a:solidFill>
                <a:latin typeface="DejaVu Sans"/>
              </a:rPr>
              <a:t>&lt;answer&gt; </a:t>
            </a:r>
            <a:r>
              <a:rPr sz="1237" b="0" i="0">
                <a:solidFill>
                  <a:srgbClr val="111111"/>
                </a:solidFill>
                <a:latin typeface="DejaVu Sans"/>
              </a:rPr>
              <a:t>{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111111"/>
                </a:solidFill>
                <a:latin typeface="DejaVu Sans"/>
              </a:rPr>
              <a:t>   A young boy in a vibrant green vest with red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111111"/>
                </a:solidFill>
                <a:latin typeface="DejaVu Sans"/>
              </a:rPr>
              <a:t>trim and dark pants performs a dynamic sequence.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111111"/>
                </a:solidFill>
                <a:latin typeface="DejaVu Sans"/>
              </a:rPr>
              <a:t>Beginning in profile, they turn, extending arms and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111111"/>
                </a:solidFill>
                <a:latin typeface="DejaVu Sans"/>
              </a:rPr>
              <a:t>balancing on ready legs. Fluidly shifting from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111111"/>
                </a:solidFill>
                <a:latin typeface="DejaVu Sans"/>
              </a:rPr>
              <a:t>standing to a focused crouch, their movements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111111"/>
                </a:solidFill>
                <a:latin typeface="DejaVu Sans"/>
              </a:rPr>
              <a:t>display agility and control. The energetic sequence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111111"/>
                </a:solidFill>
                <a:latin typeface="DejaVu Sans"/>
              </a:rPr>
              <a:t>concludes seated, relaxed yet purposeful, showing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111111"/>
                </a:solidFill>
                <a:latin typeface="DejaVu Sans"/>
              </a:rPr>
              <a:t>athleticism and grace throughout the transitions.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D40000"/>
                </a:solidFill>
                <a:latin typeface="DejaVu Sans"/>
              </a:rPr>
              <a:t>} &lt;/answer&gt;</a:t>
            </a:r>
          </a:p>
        </p:txBody>
      </p:sp>
      <p:sp>
        <p:nvSpPr>
          <p:cNvPr id="188" name="187-scene-caption-panel-shadow"/>
          <p:cNvSpPr/>
          <p:nvPr/>
        </p:nvSpPr>
        <p:spPr>
          <a:xfrm>
            <a:off x="7800975" y="7219950"/>
            <a:ext cx="6486525" cy="5791200"/>
          </a:xfrm>
          <a:prstGeom prst="roundRect">
            <a:avLst>
              <a:gd name="adj" fmla="val 3947"/>
            </a:avLst>
          </a:prstGeom>
          <a:solidFill>
            <a:srgbClr val="E3E4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188-scene-caption-panel"/>
          <p:cNvSpPr/>
          <p:nvPr/>
        </p:nvSpPr>
        <p:spPr>
          <a:xfrm>
            <a:off x="7753349" y="7162800"/>
            <a:ext cx="6486525" cy="57912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47625">
            <a:solidFill>
              <a:srgbClr val="ACAF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189-scene-caption-header-white-patch"/>
          <p:cNvSpPr/>
          <p:nvPr/>
        </p:nvSpPr>
        <p:spPr>
          <a:xfrm>
            <a:off x="9953625" y="6934200"/>
            <a:ext cx="2952750" cy="361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190-scene-caption-header"/>
          <p:cNvSpPr txBox="1"/>
          <p:nvPr/>
        </p:nvSpPr>
        <p:spPr>
          <a:xfrm>
            <a:off x="9953625" y="6924675"/>
            <a:ext cx="29527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000000"/>
                </a:solidFill>
                <a:latin typeface="Liberation Serif"/>
              </a:rPr>
              <a:t>Dynamic Scene Caption</a:t>
            </a:r>
          </a:p>
        </p:txBody>
      </p:sp>
      <p:sp>
        <p:nvSpPr>
          <p:cNvPr id="192" name="191-model-badge-petal-0"/>
          <p:cNvSpPr/>
          <p:nvPr/>
        </p:nvSpPr>
        <p:spPr>
          <a:xfrm rot="2700000">
            <a:off x="9532619" y="6867525"/>
            <a:ext cx="273367" cy="273367"/>
          </a:xfrm>
          <a:prstGeom prst="roundRect">
            <a:avLst>
              <a:gd name="adj" fmla="val 22857"/>
            </a:avLst>
          </a:prstGeom>
          <a:solidFill>
            <a:srgbClr val="713CBB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192-model-badge-petal-1"/>
          <p:cNvSpPr/>
          <p:nvPr/>
        </p:nvSpPr>
        <p:spPr>
          <a:xfrm rot="2700000">
            <a:off x="9688830" y="6867525"/>
            <a:ext cx="273367" cy="273367"/>
          </a:xfrm>
          <a:prstGeom prst="roundRect">
            <a:avLst>
              <a:gd name="adj" fmla="val 22857"/>
            </a:avLst>
          </a:prstGeom>
          <a:solidFill>
            <a:srgbClr val="E55373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193-model-badge-petal-2"/>
          <p:cNvSpPr/>
          <p:nvPr/>
        </p:nvSpPr>
        <p:spPr>
          <a:xfrm rot="2700000">
            <a:off x="9610725" y="6789420"/>
            <a:ext cx="273367" cy="273367"/>
          </a:xfrm>
          <a:prstGeom prst="roundRect">
            <a:avLst>
              <a:gd name="adj" fmla="val 22857"/>
            </a:avLst>
          </a:prstGeom>
          <a:solidFill>
            <a:srgbClr val="6A8BF0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194-model-badge-petal-3"/>
          <p:cNvSpPr/>
          <p:nvPr/>
        </p:nvSpPr>
        <p:spPr>
          <a:xfrm rot="2700000">
            <a:off x="9610725" y="6945630"/>
            <a:ext cx="273367" cy="273367"/>
          </a:xfrm>
          <a:prstGeom prst="roundRect">
            <a:avLst>
              <a:gd name="adj" fmla="val 22857"/>
            </a:avLst>
          </a:prstGeom>
          <a:solidFill>
            <a:srgbClr val="F1AE35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195-model-badge-center"/>
          <p:cNvSpPr/>
          <p:nvPr/>
        </p:nvSpPr>
        <p:spPr>
          <a:xfrm>
            <a:off x="9626346" y="6883146"/>
            <a:ext cx="242125" cy="242125"/>
          </a:xfrm>
          <a:prstGeom prst="ellipse">
            <a:avLst/>
          </a:prstGeom>
          <a:solidFill>
            <a:srgbClr val="5B3FB0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196-model-badge-label"/>
          <p:cNvSpPr txBox="1"/>
          <p:nvPr/>
        </p:nvSpPr>
        <p:spPr>
          <a:xfrm>
            <a:off x="9602914" y="6898766"/>
            <a:ext cx="288988" cy="2108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1" b="1" i="0">
                <a:solidFill>
                  <a:srgbClr val="FFFFFF"/>
                </a:solidFill>
                <a:latin typeface="Liberation Sans"/>
              </a:rPr>
              <a:t>DV</a:t>
            </a:r>
          </a:p>
        </p:txBody>
      </p:sp>
      <p:sp>
        <p:nvSpPr>
          <p:cNvPr id="198" name="197-scene-prompt"/>
          <p:cNvSpPr/>
          <p:nvPr/>
        </p:nvSpPr>
        <p:spPr>
          <a:xfrm>
            <a:off x="7858125" y="7362825"/>
            <a:ext cx="6257925" cy="628650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198-scene-prompt-text"/>
          <p:cNvSpPr txBox="1"/>
          <p:nvPr/>
        </p:nvSpPr>
        <p:spPr>
          <a:xfrm>
            <a:off x="7934325" y="7419975"/>
            <a:ext cx="6105525" cy="5334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2" b="1" i="0">
                <a:solidFill>
                  <a:srgbClr val="000000"/>
                </a:solidFill>
                <a:latin typeface="DejaVu Sans"/>
              </a:rPr>
              <a:t>Prompt: </a:t>
            </a:r>
            <a:r>
              <a:rPr sz="1162" b="0" i="0">
                <a:solidFill>
                  <a:srgbClr val="222222"/>
                </a:solidFill>
                <a:latin typeface="DejaVu Sans"/>
              </a:rPr>
              <a:t>Given the &lt;raw video&gt; ▸, </a:t>
            </a:r>
            <a:r>
              <a:rPr sz="1162" b="0" i="0">
                <a:solidFill>
                  <a:srgbClr val="E98134"/>
                </a:solidFill>
                <a:latin typeface="DejaVu Sans"/>
              </a:rPr>
              <a:t>&lt;moving instance masks&gt;</a:t>
            </a:r>
            <a:r>
              <a:rPr sz="1162" b="0" i="0">
                <a:solidFill>
                  <a:srgbClr val="222222"/>
                </a:solidFill>
                <a:latin typeface="DejaVu Sans"/>
              </a:rPr>
              <a:t>, </a:t>
            </a:r>
            <a:r>
              <a:rPr sz="1162" b="0" i="0">
                <a:solidFill>
                  <a:srgbClr val="4F9B66"/>
                </a:solidFill>
                <a:latin typeface="DejaVu Sans"/>
              </a:rPr>
              <a:t>&lt;instance label&gt;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222222"/>
                </a:solidFill>
                <a:latin typeface="DejaVu Sans"/>
              </a:rPr>
              <a:t>and </a:t>
            </a:r>
            <a:r>
              <a:rPr sz="1162" b="0" i="0">
                <a:solidFill>
                  <a:srgbClr val="F1A51B"/>
                </a:solidFill>
                <a:latin typeface="DejaVu Sans"/>
              </a:rPr>
              <a:t>&lt;moving instance caption&gt;</a:t>
            </a:r>
            <a:r>
              <a:rPr sz="1162" b="0" i="0">
                <a:solidFill>
                  <a:srgbClr val="222222"/>
                </a:solidFill>
                <a:latin typeface="DejaVu Sans"/>
              </a:rPr>
              <a:t>. Provide a description of the dynamic scene.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222222"/>
                </a:solidFill>
                <a:latin typeface="DejaVu Sans"/>
              </a:rPr>
              <a:t>Focus on the scene type, instance-scene interaction, instance’s motion pattern, etc.</a:t>
            </a:r>
          </a:p>
        </p:txBody>
      </p:sp>
      <p:sp>
        <p:nvSpPr>
          <p:cNvPr id="200" name="199-scene-response-bg"/>
          <p:cNvSpPr/>
          <p:nvPr/>
        </p:nvSpPr>
        <p:spPr>
          <a:xfrm>
            <a:off x="7858125" y="8001000"/>
            <a:ext cx="6257925" cy="2152650"/>
          </a:xfrm>
          <a:prstGeom prst="roundRect">
            <a:avLst>
              <a:gd name="adj" fmla="val 9734"/>
            </a:avLst>
          </a:prstGeom>
          <a:solidFill>
            <a:srgbClr val="DCEA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200-scene-response-title"/>
          <p:cNvSpPr txBox="1"/>
          <p:nvPr/>
        </p:nvSpPr>
        <p:spPr>
          <a:xfrm>
            <a:off x="9096375" y="7991475"/>
            <a:ext cx="371475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000"/>
                </a:solidFill>
                <a:latin typeface="Liberation Serif"/>
              </a:rPr>
              <a:t>Response (scene-level)</a:t>
            </a:r>
          </a:p>
        </p:txBody>
      </p:sp>
      <p:sp>
        <p:nvSpPr>
          <p:cNvPr id="202" name="201-model-badge-petal-0"/>
          <p:cNvSpPr/>
          <p:nvPr/>
        </p:nvSpPr>
        <p:spPr>
          <a:xfrm rot="2700000">
            <a:off x="13462635" y="8077200"/>
            <a:ext cx="220027" cy="220027"/>
          </a:xfrm>
          <a:prstGeom prst="roundRect">
            <a:avLst>
              <a:gd name="adj" fmla="val 22857"/>
            </a:avLst>
          </a:prstGeom>
          <a:solidFill>
            <a:srgbClr val="713CBB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202-model-badge-petal-1"/>
          <p:cNvSpPr/>
          <p:nvPr/>
        </p:nvSpPr>
        <p:spPr>
          <a:xfrm rot="2700000">
            <a:off x="13588365" y="8077200"/>
            <a:ext cx="220027" cy="220027"/>
          </a:xfrm>
          <a:prstGeom prst="roundRect">
            <a:avLst>
              <a:gd name="adj" fmla="val 22857"/>
            </a:avLst>
          </a:prstGeom>
          <a:solidFill>
            <a:srgbClr val="E55373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203-model-badge-petal-2"/>
          <p:cNvSpPr/>
          <p:nvPr/>
        </p:nvSpPr>
        <p:spPr>
          <a:xfrm rot="2700000">
            <a:off x="13525500" y="8014334"/>
            <a:ext cx="220027" cy="220027"/>
          </a:xfrm>
          <a:prstGeom prst="roundRect">
            <a:avLst>
              <a:gd name="adj" fmla="val 22857"/>
            </a:avLst>
          </a:prstGeom>
          <a:solidFill>
            <a:srgbClr val="6A8BF0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204-model-badge-petal-3"/>
          <p:cNvSpPr/>
          <p:nvPr/>
        </p:nvSpPr>
        <p:spPr>
          <a:xfrm rot="2700000">
            <a:off x="13525500" y="8140065"/>
            <a:ext cx="220027" cy="220027"/>
          </a:xfrm>
          <a:prstGeom prst="roundRect">
            <a:avLst>
              <a:gd name="adj" fmla="val 22857"/>
            </a:avLst>
          </a:prstGeom>
          <a:solidFill>
            <a:srgbClr val="F1AE35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205-model-badge-center"/>
          <p:cNvSpPr/>
          <p:nvPr/>
        </p:nvSpPr>
        <p:spPr>
          <a:xfrm>
            <a:off x="13538073" y="8089773"/>
            <a:ext cx="194881" cy="194881"/>
          </a:xfrm>
          <a:prstGeom prst="ellipse">
            <a:avLst/>
          </a:prstGeom>
          <a:solidFill>
            <a:srgbClr val="5B3FB0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206-model-badge-label"/>
          <p:cNvSpPr txBox="1"/>
          <p:nvPr/>
        </p:nvSpPr>
        <p:spPr>
          <a:xfrm>
            <a:off x="13519213" y="8102346"/>
            <a:ext cx="232600" cy="1697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93" b="1" i="0">
                <a:solidFill>
                  <a:srgbClr val="FFFFFF"/>
                </a:solidFill>
                <a:latin typeface="Liberation Sans"/>
              </a:rPr>
              <a:t>DV</a:t>
            </a:r>
          </a:p>
        </p:txBody>
      </p:sp>
      <p:sp>
        <p:nvSpPr>
          <p:cNvPr id="208" name="207-scene-response-card-shadow"/>
          <p:cNvSpPr/>
          <p:nvPr/>
        </p:nvSpPr>
        <p:spPr>
          <a:xfrm>
            <a:off x="8001000" y="8305800"/>
            <a:ext cx="5981700" cy="1752600"/>
          </a:xfrm>
          <a:prstGeom prst="roundRect">
            <a:avLst>
              <a:gd name="adj" fmla="val 9782"/>
            </a:avLst>
          </a:prstGeom>
          <a:solidFill>
            <a:srgbClr val="B8C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208-scene-response-card"/>
          <p:cNvSpPr/>
          <p:nvPr/>
        </p:nvSpPr>
        <p:spPr>
          <a:xfrm>
            <a:off x="7972425" y="8258175"/>
            <a:ext cx="5991225" cy="1752600"/>
          </a:xfrm>
          <a:prstGeom prst="roundRect">
            <a:avLst>
              <a:gd name="adj" fmla="val 9782"/>
            </a:avLst>
          </a:prstGeom>
          <a:solidFill>
            <a:srgbClr val="F8F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209-scene-response-copy"/>
          <p:cNvSpPr txBox="1"/>
          <p:nvPr/>
        </p:nvSpPr>
        <p:spPr>
          <a:xfrm>
            <a:off x="8058150" y="8324849"/>
            <a:ext cx="5810250" cy="160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70A8"/>
                </a:solidFill>
                <a:latin typeface="DejaVu Sans"/>
              </a:rPr>
              <a:t>&lt;think&gt; </a:t>
            </a:r>
            <a:r>
              <a:rPr sz="1200" b="0" i="0">
                <a:solidFill>
                  <a:srgbClr val="111111"/>
                </a:solidFill>
                <a:latin typeface="DejaVu Sans"/>
              </a:rPr>
              <a:t>Alright, let's break down the attributes </a:t>
            </a:r>
            <a:r>
              <a:rPr sz="1200" b="0" i="0">
                <a:solidFill>
                  <a:srgbClr val="45AADD"/>
                </a:solidFill>
                <a:latin typeface="DejaVu Sans"/>
              </a:rPr>
              <a:t>step by step: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11111"/>
                </a:solidFill>
                <a:latin typeface="DejaVu Sans"/>
              </a:rPr>
              <a:t>First, identify the </a:t>
            </a:r>
            <a:r>
              <a:rPr sz="1200" b="0" i="0">
                <a:solidFill>
                  <a:srgbClr val="5F9ECF"/>
                </a:solidFill>
                <a:latin typeface="DejaVu Sans"/>
              </a:rPr>
              <a:t>scene type</a:t>
            </a:r>
            <a:r>
              <a:rPr sz="1200" b="0" i="0">
                <a:solidFill>
                  <a:srgbClr val="111111"/>
                </a:solidFill>
                <a:latin typeface="DejaVu Sans"/>
              </a:rPr>
              <a:t>: an indoor trampoline park, ... .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11111"/>
                </a:solidFill>
                <a:latin typeface="DejaVu Sans"/>
              </a:rPr>
              <a:t>Then, note the </a:t>
            </a:r>
            <a:r>
              <a:rPr sz="1200" b="0" i="0">
                <a:solidFill>
                  <a:srgbClr val="5F9ECF"/>
                </a:solidFill>
                <a:latin typeface="DejaVu Sans"/>
              </a:rPr>
              <a:t>primary interactive entities</a:t>
            </a:r>
            <a:r>
              <a:rPr sz="1200" b="0" i="0">
                <a:solidFill>
                  <a:srgbClr val="111111"/>
                </a:solidFill>
                <a:latin typeface="DejaVu Sans"/>
              </a:rPr>
              <a:t>: a young boy, ... .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11111"/>
                </a:solidFill>
                <a:latin typeface="DejaVu Sans"/>
              </a:rPr>
              <a:t>Next, observe the instance’s motion patterns: jumps, spins, ... .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11111"/>
                </a:solidFill>
                <a:latin typeface="DejaVu Sans"/>
              </a:rPr>
              <a:t>Then consider the static background components: Padded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11111"/>
                </a:solidFill>
                <a:latin typeface="DejaVu Sans"/>
              </a:rPr>
              <a:t>Walls, ... . Finally, take into account the spatial relationships and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11111"/>
                </a:solidFill>
                <a:latin typeface="DejaVu Sans"/>
              </a:rPr>
              <a:t>interactions among different moving instances and the scene: the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11111"/>
                </a:solidFill>
                <a:latin typeface="DejaVu Sans"/>
              </a:rPr>
              <a:t>boy actively interacts on the trampoline by jumping and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11111"/>
                </a:solidFill>
                <a:latin typeface="DejaVu Sans"/>
              </a:rPr>
              <a:t>performing various acrobatic actions. </a:t>
            </a:r>
            <a:r>
              <a:rPr sz="1200" b="0" i="0">
                <a:solidFill>
                  <a:srgbClr val="D40000"/>
                </a:solidFill>
                <a:latin typeface="DejaVu Sans"/>
              </a:rPr>
              <a:t>&lt;/think&gt;. &lt;answer&gt; {...} &lt;/answer&gt;</a:t>
            </a:r>
          </a:p>
        </p:txBody>
      </p:sp>
      <p:sp>
        <p:nvSpPr>
          <p:cNvPr id="211" name="210-scene-llm-bg"/>
          <p:cNvSpPr/>
          <p:nvPr/>
        </p:nvSpPr>
        <p:spPr>
          <a:xfrm>
            <a:off x="7858125" y="10220325"/>
            <a:ext cx="6257925" cy="2609850"/>
          </a:xfrm>
          <a:prstGeom prst="roundRect">
            <a:avLst>
              <a:gd name="adj" fmla="val 8759"/>
            </a:avLst>
          </a:prstGeom>
          <a:solidFill>
            <a:srgbClr val="ECF7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211-scene-llm-title"/>
          <p:cNvSpPr txBox="1"/>
          <p:nvPr/>
        </p:nvSpPr>
        <p:spPr>
          <a:xfrm>
            <a:off x="9391650" y="10220325"/>
            <a:ext cx="320992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000"/>
                </a:solidFill>
                <a:latin typeface="Liberation Serif"/>
              </a:rPr>
              <a:t>LLM-rephrased</a:t>
            </a:r>
          </a:p>
        </p:txBody>
      </p:sp>
      <p:sp>
        <p:nvSpPr>
          <p:cNvPr id="213" name="212-openai-loop-0"/>
          <p:cNvSpPr/>
          <p:nvPr/>
        </p:nvSpPr>
        <p:spPr>
          <a:xfrm>
            <a:off x="13639800" y="10296525"/>
            <a:ext cx="152400" cy="152400"/>
          </a:xfrm>
          <a:prstGeom prst="ellipse">
            <a:avLst/>
          </a:prstGeom>
          <a:noFill/>
          <a:ln w="28575">
            <a:solidFill>
              <a:srgbClr val="5DC5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213-openai-loop-1"/>
          <p:cNvSpPr/>
          <p:nvPr/>
        </p:nvSpPr>
        <p:spPr>
          <a:xfrm>
            <a:off x="13744575" y="10363200"/>
            <a:ext cx="152400" cy="152400"/>
          </a:xfrm>
          <a:prstGeom prst="ellipse">
            <a:avLst/>
          </a:prstGeom>
          <a:noFill/>
          <a:ln w="28575">
            <a:solidFill>
              <a:srgbClr val="5DC5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214-openai-loop-2"/>
          <p:cNvSpPr/>
          <p:nvPr/>
        </p:nvSpPr>
        <p:spPr>
          <a:xfrm>
            <a:off x="13744575" y="10487025"/>
            <a:ext cx="152400" cy="152400"/>
          </a:xfrm>
          <a:prstGeom prst="ellipse">
            <a:avLst/>
          </a:prstGeom>
          <a:noFill/>
          <a:ln w="28575">
            <a:solidFill>
              <a:srgbClr val="5DC5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215-openai-loop-3"/>
          <p:cNvSpPr/>
          <p:nvPr/>
        </p:nvSpPr>
        <p:spPr>
          <a:xfrm>
            <a:off x="13639800" y="10553700"/>
            <a:ext cx="152400" cy="152400"/>
          </a:xfrm>
          <a:prstGeom prst="ellipse">
            <a:avLst/>
          </a:prstGeom>
          <a:noFill/>
          <a:ln w="28575">
            <a:solidFill>
              <a:srgbClr val="5DC5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216-openai-loop-4"/>
          <p:cNvSpPr/>
          <p:nvPr/>
        </p:nvSpPr>
        <p:spPr>
          <a:xfrm>
            <a:off x="13535025" y="10487025"/>
            <a:ext cx="152400" cy="152400"/>
          </a:xfrm>
          <a:prstGeom prst="ellipse">
            <a:avLst/>
          </a:prstGeom>
          <a:noFill/>
          <a:ln w="28575">
            <a:solidFill>
              <a:srgbClr val="5DC5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217-openai-loop-5"/>
          <p:cNvSpPr/>
          <p:nvPr/>
        </p:nvSpPr>
        <p:spPr>
          <a:xfrm>
            <a:off x="13535025" y="10363200"/>
            <a:ext cx="152400" cy="152400"/>
          </a:xfrm>
          <a:prstGeom prst="ellipse">
            <a:avLst/>
          </a:prstGeom>
          <a:noFill/>
          <a:ln w="28575">
            <a:solidFill>
              <a:srgbClr val="5DC5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218-scene-llm-card-shadow"/>
          <p:cNvSpPr/>
          <p:nvPr/>
        </p:nvSpPr>
        <p:spPr>
          <a:xfrm>
            <a:off x="8029575" y="10668000"/>
            <a:ext cx="5924550" cy="2057400"/>
          </a:xfrm>
          <a:prstGeom prst="roundRect">
            <a:avLst>
              <a:gd name="adj" fmla="val 8333"/>
            </a:avLst>
          </a:prstGeom>
          <a:solidFill>
            <a:srgbClr val="B8C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219-scene-llm-card"/>
          <p:cNvSpPr/>
          <p:nvPr/>
        </p:nvSpPr>
        <p:spPr>
          <a:xfrm>
            <a:off x="7991475" y="10620375"/>
            <a:ext cx="5934075" cy="2057400"/>
          </a:xfrm>
          <a:prstGeom prst="roundRect">
            <a:avLst>
              <a:gd name="adj" fmla="val 8333"/>
            </a:avLst>
          </a:prstGeom>
          <a:solidFill>
            <a:srgbClr val="F8F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220-scene-llm-copy"/>
          <p:cNvSpPr txBox="1"/>
          <p:nvPr/>
        </p:nvSpPr>
        <p:spPr>
          <a:xfrm>
            <a:off x="8115300" y="10696575"/>
            <a:ext cx="5676900" cy="1885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D40000"/>
                </a:solidFill>
                <a:latin typeface="DejaVu Sans"/>
              </a:rPr>
              <a:t>&lt;answer&gt; </a:t>
            </a:r>
            <a:r>
              <a:rPr sz="1237" b="0" i="0">
                <a:solidFill>
                  <a:srgbClr val="111111"/>
                </a:solidFill>
                <a:latin typeface="DejaVu Sans"/>
              </a:rPr>
              <a:t>{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111111"/>
                </a:solidFill>
                <a:latin typeface="DejaVu Sans"/>
              </a:rPr>
              <a:t>   Inside a vibrant indoor trampoline park, a young boy in a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111111"/>
                </a:solidFill>
                <a:latin typeface="DejaVu Sans"/>
              </a:rPr>
              <a:t>turquoise shirt dynamically jumps, spins, and flips. Brightly lit,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111111"/>
                </a:solidFill>
                <a:latin typeface="DejaVu Sans"/>
              </a:rPr>
              <a:t>the park features multiple trampolines with blue padding and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111111"/>
                </a:solidFill>
                <a:latin typeface="DejaVu Sans"/>
              </a:rPr>
              <a:t>colorful play structures like orange and red climbing frames.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111111"/>
                </a:solidFill>
                <a:latin typeface="DejaVu Sans"/>
              </a:rPr>
              <a:t>Other children in white and pink shirts enjoy the lively,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111111"/>
                </a:solidFill>
                <a:latin typeface="DejaVu Sans"/>
              </a:rPr>
              <a:t>energetic atmosphere as the boy's joyful acrobatics highlight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111111"/>
                </a:solidFill>
                <a:latin typeface="DejaVu Sans"/>
              </a:rPr>
              <a:t>the scene's playful activity and vibrant setting.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D40000"/>
                </a:solidFill>
                <a:latin typeface="DejaVu Sans"/>
              </a:rPr>
              <a:t>} &lt;/answer&gt;</a:t>
            </a:r>
          </a:p>
        </p:txBody>
      </p:sp>
      <p:sp>
        <p:nvSpPr>
          <p:cNvPr id="222" name="221-camera-caption-panel-shadow"/>
          <p:cNvSpPr/>
          <p:nvPr/>
        </p:nvSpPr>
        <p:spPr>
          <a:xfrm>
            <a:off x="14478000" y="7248525"/>
            <a:ext cx="3076575" cy="5762625"/>
          </a:xfrm>
          <a:prstGeom prst="roundRect">
            <a:avLst>
              <a:gd name="adj" fmla="val 7430"/>
            </a:avLst>
          </a:prstGeom>
          <a:solidFill>
            <a:srgbClr val="E4E4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222-camera-caption-panel"/>
          <p:cNvSpPr/>
          <p:nvPr/>
        </p:nvSpPr>
        <p:spPr>
          <a:xfrm>
            <a:off x="14430375" y="7191375"/>
            <a:ext cx="3076575" cy="5762625"/>
          </a:xfrm>
          <a:prstGeom prst="roundRect">
            <a:avLst>
              <a:gd name="adj" fmla="val 7430"/>
            </a:avLst>
          </a:prstGeom>
          <a:solidFill>
            <a:srgbClr val="FFFFFF"/>
          </a:solidFill>
          <a:ln w="47625">
            <a:solidFill>
              <a:srgbClr val="E1C8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223-camera-caption-header-white-patch"/>
          <p:cNvSpPr/>
          <p:nvPr/>
        </p:nvSpPr>
        <p:spPr>
          <a:xfrm>
            <a:off x="14897100" y="6953250"/>
            <a:ext cx="2343150" cy="361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224-camera-caption-header"/>
          <p:cNvSpPr txBox="1"/>
          <p:nvPr/>
        </p:nvSpPr>
        <p:spPr>
          <a:xfrm>
            <a:off x="14897100" y="6943725"/>
            <a:ext cx="23431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000"/>
                </a:solidFill>
                <a:latin typeface="Liberation Serif"/>
              </a:rPr>
              <a:t>Camera Motion Caption</a:t>
            </a:r>
          </a:p>
        </p:txBody>
      </p:sp>
      <p:sp>
        <p:nvSpPr>
          <p:cNvPr id="226" name="225-model-badge-petal-0"/>
          <p:cNvSpPr/>
          <p:nvPr/>
        </p:nvSpPr>
        <p:spPr>
          <a:xfrm rot="2700000">
            <a:off x="14444662" y="6896100"/>
            <a:ext cx="250031" cy="250031"/>
          </a:xfrm>
          <a:prstGeom prst="roundRect">
            <a:avLst>
              <a:gd name="adj" fmla="val 22857"/>
            </a:avLst>
          </a:prstGeom>
          <a:solidFill>
            <a:srgbClr val="713CBB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226-model-badge-petal-1"/>
          <p:cNvSpPr/>
          <p:nvPr/>
        </p:nvSpPr>
        <p:spPr>
          <a:xfrm rot="2700000">
            <a:off x="14587537" y="6896100"/>
            <a:ext cx="250031" cy="250031"/>
          </a:xfrm>
          <a:prstGeom prst="roundRect">
            <a:avLst>
              <a:gd name="adj" fmla="val 22857"/>
            </a:avLst>
          </a:prstGeom>
          <a:solidFill>
            <a:srgbClr val="E55373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227-model-badge-petal-2"/>
          <p:cNvSpPr/>
          <p:nvPr/>
        </p:nvSpPr>
        <p:spPr>
          <a:xfrm rot="2700000">
            <a:off x="14516100" y="6824662"/>
            <a:ext cx="250031" cy="250031"/>
          </a:xfrm>
          <a:prstGeom prst="roundRect">
            <a:avLst>
              <a:gd name="adj" fmla="val 22857"/>
            </a:avLst>
          </a:prstGeom>
          <a:solidFill>
            <a:srgbClr val="6A8BF0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228-model-badge-petal-3"/>
          <p:cNvSpPr/>
          <p:nvPr/>
        </p:nvSpPr>
        <p:spPr>
          <a:xfrm rot="2700000">
            <a:off x="14516100" y="6967537"/>
            <a:ext cx="250031" cy="250031"/>
          </a:xfrm>
          <a:prstGeom prst="roundRect">
            <a:avLst>
              <a:gd name="adj" fmla="val 22857"/>
            </a:avLst>
          </a:prstGeom>
          <a:solidFill>
            <a:srgbClr val="F1AE35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229-model-badge-center"/>
          <p:cNvSpPr/>
          <p:nvPr/>
        </p:nvSpPr>
        <p:spPr>
          <a:xfrm>
            <a:off x="14530387" y="6910387"/>
            <a:ext cx="221456" cy="221456"/>
          </a:xfrm>
          <a:prstGeom prst="ellipse">
            <a:avLst/>
          </a:prstGeom>
          <a:solidFill>
            <a:srgbClr val="5B3FB0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230-model-badge-label"/>
          <p:cNvSpPr txBox="1"/>
          <p:nvPr/>
        </p:nvSpPr>
        <p:spPr>
          <a:xfrm>
            <a:off x="14508956" y="6924675"/>
            <a:ext cx="264318" cy="19288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7" b="1" i="0">
                <a:solidFill>
                  <a:srgbClr val="FFFFFF"/>
                </a:solidFill>
                <a:latin typeface="Liberation Sans"/>
              </a:rPr>
              <a:t>DV</a:t>
            </a:r>
          </a:p>
        </p:txBody>
      </p:sp>
      <p:sp>
        <p:nvSpPr>
          <p:cNvPr id="232" name="231-camera-prompt"/>
          <p:cNvSpPr/>
          <p:nvPr/>
        </p:nvSpPr>
        <p:spPr>
          <a:xfrm>
            <a:off x="14535150" y="7381874"/>
            <a:ext cx="2838450" cy="1257300"/>
          </a:xfrm>
          <a:prstGeom prst="roundRect">
            <a:avLst>
              <a:gd name="adj" fmla="val 681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232-camera-prompt-text"/>
          <p:cNvSpPr txBox="1"/>
          <p:nvPr/>
        </p:nvSpPr>
        <p:spPr>
          <a:xfrm>
            <a:off x="14592300" y="7448550"/>
            <a:ext cx="2714625" cy="1123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00000"/>
                </a:solidFill>
                <a:latin typeface="DejaVu Sans"/>
              </a:rPr>
              <a:t>Prompt: </a:t>
            </a:r>
            <a:r>
              <a:rPr sz="1139" b="0" i="0">
                <a:solidFill>
                  <a:srgbClr val="222222"/>
                </a:solidFill>
                <a:latin typeface="DejaVu Sans"/>
              </a:rPr>
              <a:t>Given the &lt;raw video&gt; ▸,</a:t>
            </a:r>
          </a:p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4F9B66"/>
                </a:solidFill>
                <a:latin typeface="DejaVu Sans"/>
              </a:rPr>
              <a:t>&lt;instance label&gt;</a:t>
            </a:r>
            <a:r>
              <a:rPr sz="1139" b="0" i="0">
                <a:solidFill>
                  <a:srgbClr val="222222"/>
                </a:solidFill>
                <a:latin typeface="DejaVu Sans"/>
              </a:rPr>
              <a:t>, </a:t>
            </a:r>
            <a:r>
              <a:rPr sz="1139" b="0" i="0">
                <a:solidFill>
                  <a:srgbClr val="F1A51B"/>
                </a:solidFill>
                <a:latin typeface="DejaVu Sans"/>
              </a:rPr>
              <a:t>&lt;moving instance</a:t>
            </a:r>
          </a:p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F1A51B"/>
                </a:solidFill>
                <a:latin typeface="DejaVu Sans"/>
              </a:rPr>
              <a:t>caption&gt;</a:t>
            </a:r>
            <a:r>
              <a:rPr sz="1139" b="0" i="0">
                <a:solidFill>
                  <a:srgbClr val="222222"/>
                </a:solidFill>
                <a:latin typeface="DejaVu Sans"/>
              </a:rPr>
              <a:t>, and </a:t>
            </a:r>
            <a:r>
              <a:rPr sz="1139" b="0" i="0">
                <a:solidFill>
                  <a:srgbClr val="8D94C9"/>
                </a:solidFill>
                <a:latin typeface="DejaVu Sans"/>
              </a:rPr>
              <a:t>&lt;dynamic scene</a:t>
            </a:r>
          </a:p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8D94C9"/>
                </a:solidFill>
                <a:latin typeface="DejaVu Sans"/>
              </a:rPr>
              <a:t>caption&gt;. </a:t>
            </a:r>
            <a:r>
              <a:rPr sz="1139" b="0" i="0">
                <a:solidFill>
                  <a:srgbClr val="222222"/>
                </a:solidFill>
                <a:latin typeface="DejaVu Sans"/>
              </a:rPr>
              <a:t>Provide a description of</a:t>
            </a:r>
          </a:p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222222"/>
                </a:solidFill>
                <a:latin typeface="DejaVu Sans"/>
              </a:rPr>
              <a:t>the camera motion.</a:t>
            </a:r>
          </a:p>
        </p:txBody>
      </p:sp>
      <p:sp>
        <p:nvSpPr>
          <p:cNvPr id="234" name="233-camera-response-bg"/>
          <p:cNvSpPr/>
          <p:nvPr/>
        </p:nvSpPr>
        <p:spPr>
          <a:xfrm>
            <a:off x="14535150" y="8715375"/>
            <a:ext cx="2838450" cy="1828800"/>
          </a:xfrm>
          <a:prstGeom prst="roundRect">
            <a:avLst>
              <a:gd name="adj" fmla="val 6250"/>
            </a:avLst>
          </a:prstGeom>
          <a:solidFill>
            <a:srgbClr val="F8E6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234-camera-response-title"/>
          <p:cNvSpPr txBox="1"/>
          <p:nvPr/>
        </p:nvSpPr>
        <p:spPr>
          <a:xfrm>
            <a:off x="15087600" y="8696325"/>
            <a:ext cx="171450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000"/>
                </a:solidFill>
                <a:latin typeface="Liberation Serif"/>
              </a:rPr>
              <a:t>Response</a:t>
            </a:r>
          </a:p>
        </p:txBody>
      </p:sp>
      <p:sp>
        <p:nvSpPr>
          <p:cNvPr id="236" name="235-model-badge-petal-0"/>
          <p:cNvSpPr/>
          <p:nvPr/>
        </p:nvSpPr>
        <p:spPr>
          <a:xfrm rot="2700000">
            <a:off x="16771619" y="8743950"/>
            <a:ext cx="206692" cy="206692"/>
          </a:xfrm>
          <a:prstGeom prst="roundRect">
            <a:avLst>
              <a:gd name="adj" fmla="val 22857"/>
            </a:avLst>
          </a:prstGeom>
          <a:solidFill>
            <a:srgbClr val="713CBB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236-model-badge-petal-1"/>
          <p:cNvSpPr/>
          <p:nvPr/>
        </p:nvSpPr>
        <p:spPr>
          <a:xfrm rot="2700000">
            <a:off x="16889730" y="8743950"/>
            <a:ext cx="206692" cy="206692"/>
          </a:xfrm>
          <a:prstGeom prst="roundRect">
            <a:avLst>
              <a:gd name="adj" fmla="val 22857"/>
            </a:avLst>
          </a:prstGeom>
          <a:solidFill>
            <a:srgbClr val="E55373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237-model-badge-petal-2"/>
          <p:cNvSpPr/>
          <p:nvPr/>
        </p:nvSpPr>
        <p:spPr>
          <a:xfrm rot="2700000">
            <a:off x="16830675" y="8684895"/>
            <a:ext cx="206692" cy="206692"/>
          </a:xfrm>
          <a:prstGeom prst="roundRect">
            <a:avLst>
              <a:gd name="adj" fmla="val 22857"/>
            </a:avLst>
          </a:prstGeom>
          <a:solidFill>
            <a:srgbClr val="6A8BF0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238-model-badge-petal-3"/>
          <p:cNvSpPr/>
          <p:nvPr/>
        </p:nvSpPr>
        <p:spPr>
          <a:xfrm rot="2700000">
            <a:off x="16830675" y="8803005"/>
            <a:ext cx="206692" cy="206692"/>
          </a:xfrm>
          <a:prstGeom prst="roundRect">
            <a:avLst>
              <a:gd name="adj" fmla="val 22857"/>
            </a:avLst>
          </a:prstGeom>
          <a:solidFill>
            <a:srgbClr val="F1AE35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239-model-badge-center"/>
          <p:cNvSpPr/>
          <p:nvPr/>
        </p:nvSpPr>
        <p:spPr>
          <a:xfrm>
            <a:off x="16842486" y="8755761"/>
            <a:ext cx="183070" cy="183070"/>
          </a:xfrm>
          <a:prstGeom prst="ellipse">
            <a:avLst/>
          </a:prstGeom>
          <a:solidFill>
            <a:srgbClr val="5B3FB0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240-model-badge-label"/>
          <p:cNvSpPr txBox="1"/>
          <p:nvPr/>
        </p:nvSpPr>
        <p:spPr>
          <a:xfrm>
            <a:off x="16824769" y="8767572"/>
            <a:ext cx="218503" cy="1594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51" b="1" i="0">
                <a:solidFill>
                  <a:srgbClr val="FFFFFF"/>
                </a:solidFill>
                <a:latin typeface="Liberation Sans"/>
              </a:rPr>
              <a:t>DV</a:t>
            </a:r>
          </a:p>
        </p:txBody>
      </p:sp>
      <p:sp>
        <p:nvSpPr>
          <p:cNvPr id="242" name="241-camera-response-card-shadow"/>
          <p:cNvSpPr/>
          <p:nvPr/>
        </p:nvSpPr>
        <p:spPr>
          <a:xfrm>
            <a:off x="14668500" y="9048750"/>
            <a:ext cx="2609850" cy="1400175"/>
          </a:xfrm>
          <a:prstGeom prst="roundRect">
            <a:avLst>
              <a:gd name="adj" fmla="val 10204"/>
            </a:avLst>
          </a:prstGeom>
          <a:solidFill>
            <a:srgbClr val="B8B8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242-camera-response-card"/>
          <p:cNvSpPr/>
          <p:nvPr/>
        </p:nvSpPr>
        <p:spPr>
          <a:xfrm>
            <a:off x="14630400" y="9001125"/>
            <a:ext cx="2619375" cy="1400175"/>
          </a:xfrm>
          <a:prstGeom prst="roundRect">
            <a:avLst>
              <a:gd name="adj" fmla="val 10204"/>
            </a:avLst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243-camera-response-copy"/>
          <p:cNvSpPr txBox="1"/>
          <p:nvPr/>
        </p:nvSpPr>
        <p:spPr>
          <a:xfrm>
            <a:off x="14801850" y="9086850"/>
            <a:ext cx="2286000" cy="123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D40000"/>
                </a:solidFill>
                <a:latin typeface="DejaVu Sans"/>
              </a:rPr>
              <a:t>&lt;answer&gt; </a:t>
            </a:r>
            <a:r>
              <a:rPr sz="1275" b="0" i="0">
                <a:solidFill>
                  <a:srgbClr val="111111"/>
                </a:solidFill>
                <a:latin typeface="DejaVu Sans"/>
              </a:rPr>
              <a:t>{</a:t>
            </a:r>
          </a:p>
          <a:p>
            <a:pPr algn="ctr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22222"/>
                </a:solidFill>
                <a:latin typeface="DejaVu Sans"/>
              </a:rPr>
              <a:t>The camera smoothly</a:t>
            </a:r>
          </a:p>
          <a:p>
            <a:pPr algn="ctr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22222"/>
                </a:solidFill>
                <a:latin typeface="DejaVu Sans"/>
              </a:rPr>
              <a:t>pans right, tracking the</a:t>
            </a:r>
          </a:p>
          <a:p>
            <a:pPr algn="ctr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22222"/>
                </a:solidFill>
                <a:latin typeface="DejaVu Sans"/>
              </a:rPr>
              <a:t>subject from the side with</a:t>
            </a:r>
          </a:p>
          <a:p>
            <a:pPr algn="ctr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22222"/>
                </a:solidFill>
                <a:latin typeface="DejaVu Sans"/>
              </a:rPr>
              <a:t>minimal shaking.</a:t>
            </a:r>
          </a:p>
          <a:p>
            <a:pPr algn="ctr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D40000"/>
                </a:solidFill>
                <a:latin typeface="DejaVu Sans"/>
              </a:rPr>
              <a:t>} &lt;/answer&gt;</a:t>
            </a:r>
          </a:p>
        </p:txBody>
      </p:sp>
      <p:sp>
        <p:nvSpPr>
          <p:cNvPr id="245" name="244-camera-llm-bg"/>
          <p:cNvSpPr/>
          <p:nvPr/>
        </p:nvSpPr>
        <p:spPr>
          <a:xfrm>
            <a:off x="14535150" y="10725150"/>
            <a:ext cx="2838450" cy="2124075"/>
          </a:xfrm>
          <a:prstGeom prst="roundRect">
            <a:avLst>
              <a:gd name="adj" fmla="val 5381"/>
            </a:avLst>
          </a:prstGeom>
          <a:solidFill>
            <a:srgbClr val="F8E6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245-camera-llm-title"/>
          <p:cNvSpPr txBox="1"/>
          <p:nvPr/>
        </p:nvSpPr>
        <p:spPr>
          <a:xfrm>
            <a:off x="15030450" y="10725150"/>
            <a:ext cx="1809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000"/>
                </a:solidFill>
                <a:latin typeface="Liberation Serif"/>
              </a:rPr>
              <a:t>LLM-aligned</a:t>
            </a:r>
          </a:p>
        </p:txBody>
      </p:sp>
      <p:sp>
        <p:nvSpPr>
          <p:cNvPr id="247" name="246-openai-loop-0"/>
          <p:cNvSpPr/>
          <p:nvPr/>
        </p:nvSpPr>
        <p:spPr>
          <a:xfrm>
            <a:off x="16887825" y="10829925"/>
            <a:ext cx="152400" cy="152400"/>
          </a:xfrm>
          <a:prstGeom prst="ellipse">
            <a:avLst/>
          </a:prstGeom>
          <a:noFill/>
          <a:ln w="28575">
            <a:solidFill>
              <a:srgbClr val="5DC5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247-openai-loop-1"/>
          <p:cNvSpPr/>
          <p:nvPr/>
        </p:nvSpPr>
        <p:spPr>
          <a:xfrm>
            <a:off x="16992600" y="10896600"/>
            <a:ext cx="152400" cy="152400"/>
          </a:xfrm>
          <a:prstGeom prst="ellipse">
            <a:avLst/>
          </a:prstGeom>
          <a:noFill/>
          <a:ln w="28575">
            <a:solidFill>
              <a:srgbClr val="5DC5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248-openai-loop-2"/>
          <p:cNvSpPr/>
          <p:nvPr/>
        </p:nvSpPr>
        <p:spPr>
          <a:xfrm>
            <a:off x="16992600" y="11020425"/>
            <a:ext cx="152400" cy="152400"/>
          </a:xfrm>
          <a:prstGeom prst="ellipse">
            <a:avLst/>
          </a:prstGeom>
          <a:noFill/>
          <a:ln w="28575">
            <a:solidFill>
              <a:srgbClr val="5DC5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249-openai-loop-3"/>
          <p:cNvSpPr/>
          <p:nvPr/>
        </p:nvSpPr>
        <p:spPr>
          <a:xfrm>
            <a:off x="16887825" y="11087100"/>
            <a:ext cx="152400" cy="152400"/>
          </a:xfrm>
          <a:prstGeom prst="ellipse">
            <a:avLst/>
          </a:prstGeom>
          <a:noFill/>
          <a:ln w="28575">
            <a:solidFill>
              <a:srgbClr val="5DC5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250-openai-loop-4"/>
          <p:cNvSpPr/>
          <p:nvPr/>
        </p:nvSpPr>
        <p:spPr>
          <a:xfrm>
            <a:off x="16783050" y="11020425"/>
            <a:ext cx="152400" cy="152400"/>
          </a:xfrm>
          <a:prstGeom prst="ellipse">
            <a:avLst/>
          </a:prstGeom>
          <a:noFill/>
          <a:ln w="28575">
            <a:solidFill>
              <a:srgbClr val="5DC5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251-openai-loop-5"/>
          <p:cNvSpPr/>
          <p:nvPr/>
        </p:nvSpPr>
        <p:spPr>
          <a:xfrm>
            <a:off x="16783050" y="10896600"/>
            <a:ext cx="152400" cy="152400"/>
          </a:xfrm>
          <a:prstGeom prst="ellipse">
            <a:avLst/>
          </a:prstGeom>
          <a:noFill/>
          <a:ln w="28575">
            <a:solidFill>
              <a:srgbClr val="5DC5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252-camera-llm-card-shadow"/>
          <p:cNvSpPr/>
          <p:nvPr/>
        </p:nvSpPr>
        <p:spPr>
          <a:xfrm>
            <a:off x="14668500" y="11249025"/>
            <a:ext cx="2609850" cy="1495425"/>
          </a:xfrm>
          <a:prstGeom prst="roundRect">
            <a:avLst>
              <a:gd name="adj" fmla="val 9554"/>
            </a:avLst>
          </a:prstGeom>
          <a:solidFill>
            <a:srgbClr val="B8B8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253-camera-llm-card"/>
          <p:cNvSpPr/>
          <p:nvPr/>
        </p:nvSpPr>
        <p:spPr>
          <a:xfrm>
            <a:off x="14630400" y="11201400"/>
            <a:ext cx="2619375" cy="1495425"/>
          </a:xfrm>
          <a:prstGeom prst="roundRect">
            <a:avLst>
              <a:gd name="adj" fmla="val 9554"/>
            </a:avLst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254-camera-llm-copy"/>
          <p:cNvSpPr txBox="1"/>
          <p:nvPr/>
        </p:nvSpPr>
        <p:spPr>
          <a:xfrm>
            <a:off x="14782800" y="11315700"/>
            <a:ext cx="2324100" cy="1276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D40000"/>
                </a:solidFill>
                <a:latin typeface="DejaVu Sans"/>
              </a:rPr>
              <a:t>&lt;answer&gt; </a:t>
            </a:r>
            <a:r>
              <a:rPr sz="1237" b="0" i="0">
                <a:solidFill>
                  <a:srgbClr val="111111"/>
                </a:solidFill>
                <a:latin typeface="DejaVu Sans"/>
              </a:rPr>
              <a:t>{</a:t>
            </a:r>
          </a:p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222222"/>
                </a:solidFill>
                <a:latin typeface="DejaVu Sans"/>
              </a:rPr>
              <a:t>The camera smoothly pans</a:t>
            </a:r>
          </a:p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222222"/>
                </a:solidFill>
                <a:latin typeface="DejaVu Sans"/>
              </a:rPr>
              <a:t>right, tracking the young boy</a:t>
            </a:r>
          </a:p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222222"/>
                </a:solidFill>
                <a:latin typeface="DejaVu Sans"/>
              </a:rPr>
              <a:t>in the indoor trampoline</a:t>
            </a:r>
          </a:p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222222"/>
                </a:solidFill>
                <a:latin typeface="DejaVu Sans"/>
              </a:rPr>
              <a:t>park with minimal shaking.</a:t>
            </a:r>
          </a:p>
          <a:p>
            <a:pPr algn="ctr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D40000"/>
                </a:solidFill>
                <a:latin typeface="DejaVu Sans"/>
              </a:rPr>
              <a:t>} &lt;/answer&gt;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DynamicVerse A Physically-Aware Multimodal Framework for 4D World Model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602200" cy="1295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DynamicVerse editable pipeline reconstruction</dc:title>
  <dc:subject>Two-stage 4D world modeling framework diagram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