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45514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_background"/>
          <p:cNvSpPr/>
          <p:nvPr/>
        </p:nvSpPr>
        <p:spPr>
          <a:xfrm>
            <a:off x="0" y="0"/>
            <a:ext cx="14645514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tage1_panel"/>
          <p:cNvSpPr/>
          <p:nvPr/>
        </p:nvSpPr>
        <p:spPr>
          <a:xfrm>
            <a:off x="60456" y="120912"/>
            <a:ext cx="14524601" cy="3884310"/>
          </a:xfrm>
          <a:prstGeom prst="roundRect">
            <a:avLst>
              <a:gd name="adj" fmla="val 2500"/>
            </a:avLst>
          </a:prstGeom>
          <a:noFill/>
          <a:ln w="22671">
            <a:solidFill>
              <a:srgbClr val="90909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stage2_panel"/>
          <p:cNvSpPr/>
          <p:nvPr/>
        </p:nvSpPr>
        <p:spPr>
          <a:xfrm>
            <a:off x="60456" y="4201705"/>
            <a:ext cx="14524601" cy="4927180"/>
          </a:xfrm>
          <a:prstGeom prst="roundRect">
            <a:avLst>
              <a:gd name="adj" fmla="val 2500"/>
            </a:avLst>
          </a:prstGeom>
          <a:noFill/>
          <a:ln w="22671">
            <a:solidFill>
              <a:srgbClr val="90909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t_to_anchor_segment_00"/>
          <p:cNvCxnSpPr/>
          <p:nvPr/>
        </p:nvCxnSpPr>
        <p:spPr>
          <a:xfrm>
            <a:off x="3181507" y="2191537"/>
            <a:ext cx="256939" cy="408079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6" name="ct_to_anchor_segment_01"/>
          <p:cNvCxnSpPr/>
          <p:nvPr/>
        </p:nvCxnSpPr>
        <p:spPr>
          <a:xfrm>
            <a:off x="3438446" y="2599616"/>
            <a:ext cx="392965" cy="400522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7" name="ct_to_anchor_segment_02"/>
          <p:cNvCxnSpPr/>
          <p:nvPr/>
        </p:nvCxnSpPr>
        <p:spPr>
          <a:xfrm>
            <a:off x="3831411" y="3000138"/>
            <a:ext cx="1156225" cy="27961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8" name="ct_to_anchor_head"/>
          <p:cNvSpPr/>
          <p:nvPr/>
        </p:nvSpPr>
        <p:spPr>
          <a:xfrm rot="6215690">
            <a:off x="4929447" y="3221559"/>
            <a:ext cx="116378" cy="116378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s1_cam1_forward_segment_00"/>
          <p:cNvCxnSpPr/>
          <p:nvPr/>
        </p:nvCxnSpPr>
        <p:spPr>
          <a:xfrm flipH="1">
            <a:off x="7405884" y="3446003"/>
            <a:ext cx="241825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10" name="s1_cam1_forward_segment_01"/>
          <p:cNvCxnSpPr/>
          <p:nvPr/>
        </p:nvCxnSpPr>
        <p:spPr>
          <a:xfrm flipV="1">
            <a:off x="7405884" y="1360264"/>
            <a:ext cx="0" cy="2085739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11" name="s1_cam1_forward_segment_02"/>
          <p:cNvCxnSpPr/>
          <p:nvPr/>
        </p:nvCxnSpPr>
        <p:spPr>
          <a:xfrm>
            <a:off x="7405884" y="1360264"/>
            <a:ext cx="1889256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12" name="s1_cam1_forward_head"/>
          <p:cNvSpPr/>
          <p:nvPr/>
        </p:nvSpPr>
        <p:spPr>
          <a:xfrm rot="5400000">
            <a:off x="9241107" y="1306231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s1_cam1_gradient_segment_00"/>
          <p:cNvCxnSpPr/>
          <p:nvPr/>
        </p:nvCxnSpPr>
        <p:spPr>
          <a:xfrm flipH="1">
            <a:off x="7526796" y="1481176"/>
            <a:ext cx="1768344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cxnSp>
        <p:nvCxnSpPr>
          <p:cNvPr id="14" name="s1_cam1_gradient_segment_01"/>
          <p:cNvCxnSpPr/>
          <p:nvPr/>
        </p:nvCxnSpPr>
        <p:spPr>
          <a:xfrm>
            <a:off x="7526796" y="1481176"/>
            <a:ext cx="0" cy="1964827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15" name="s1_cam1_gradient_head"/>
          <p:cNvSpPr/>
          <p:nvPr/>
        </p:nvSpPr>
        <p:spPr>
          <a:xfrm rot="10800000">
            <a:off x="7472763" y="3391970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s1_cam2_forward_segment_00"/>
          <p:cNvCxnSpPr/>
          <p:nvPr/>
        </p:nvCxnSpPr>
        <p:spPr>
          <a:xfrm flipH="1">
            <a:off x="8660350" y="3294862"/>
            <a:ext cx="408079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17" name="s1_cam2_forward_segment_01"/>
          <p:cNvCxnSpPr/>
          <p:nvPr/>
        </p:nvCxnSpPr>
        <p:spPr>
          <a:xfrm flipV="1">
            <a:off x="8660350" y="2939682"/>
            <a:ext cx="0" cy="35518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cxnSp>
        <p:nvCxnSpPr>
          <p:cNvPr id="18" name="s1_cam2_forward_segment_02"/>
          <p:cNvCxnSpPr/>
          <p:nvPr/>
        </p:nvCxnSpPr>
        <p:spPr>
          <a:xfrm>
            <a:off x="8660350" y="2939682"/>
            <a:ext cx="634790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19" name="s1_cam2_forward_head"/>
          <p:cNvSpPr/>
          <p:nvPr/>
        </p:nvSpPr>
        <p:spPr>
          <a:xfrm rot="5400000">
            <a:off x="9241107" y="2885649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s1_cam2_gradient_segment_00"/>
          <p:cNvCxnSpPr/>
          <p:nvPr/>
        </p:nvCxnSpPr>
        <p:spPr>
          <a:xfrm flipH="1">
            <a:off x="8788819" y="3060595"/>
            <a:ext cx="506321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cxnSp>
        <p:nvCxnSpPr>
          <p:cNvPr id="21" name="s1_cam2_gradient_segment_01"/>
          <p:cNvCxnSpPr/>
          <p:nvPr/>
        </p:nvCxnSpPr>
        <p:spPr>
          <a:xfrm>
            <a:off x="8788819" y="3060595"/>
            <a:ext cx="0" cy="234267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22" name="s1_cam2_gradient_head"/>
          <p:cNvSpPr/>
          <p:nvPr/>
        </p:nvSpPr>
        <p:spPr>
          <a:xfrm rot="10800000">
            <a:off x="8734787" y="3240830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s1_renderer1_to_rendered_segment_00"/>
          <p:cNvCxnSpPr/>
          <p:nvPr/>
        </p:nvCxnSpPr>
        <p:spPr>
          <a:xfrm>
            <a:off x="10126413" y="1360264"/>
            <a:ext cx="612119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24" name="s1_renderer1_to_rendered_head"/>
          <p:cNvSpPr/>
          <p:nvPr/>
        </p:nvSpPr>
        <p:spPr>
          <a:xfrm rot="5400000">
            <a:off x="10684499" y="1306231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s1_rendered1_gradient_segment_00"/>
          <p:cNvCxnSpPr/>
          <p:nvPr/>
        </p:nvCxnSpPr>
        <p:spPr>
          <a:xfrm flipH="1">
            <a:off x="10126413" y="1481176"/>
            <a:ext cx="612119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26" name="s1_rendered1_gradient_head"/>
          <p:cNvSpPr/>
          <p:nvPr/>
        </p:nvSpPr>
        <p:spPr>
          <a:xfrm rot="16200000">
            <a:off x="10072380" y="1427144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s1_renderer2_to_rendered_segment_00"/>
          <p:cNvCxnSpPr/>
          <p:nvPr/>
        </p:nvCxnSpPr>
        <p:spPr>
          <a:xfrm>
            <a:off x="10126413" y="2939682"/>
            <a:ext cx="612119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28" name="s1_renderer2_to_rendered_head"/>
          <p:cNvSpPr/>
          <p:nvPr/>
        </p:nvSpPr>
        <p:spPr>
          <a:xfrm rot="5400000">
            <a:off x="10684499" y="2885649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s1_rendered2_gradient_segment_00"/>
          <p:cNvCxnSpPr/>
          <p:nvPr/>
        </p:nvCxnSpPr>
        <p:spPr>
          <a:xfrm flipH="1">
            <a:off x="10126413" y="3060595"/>
            <a:ext cx="612119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30" name="s1_rendered2_gradient_head"/>
          <p:cNvSpPr/>
          <p:nvPr/>
        </p:nvSpPr>
        <p:spPr>
          <a:xfrm rot="16200000">
            <a:off x="10072380" y="3006562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reop_ct_image" descr="preop_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" y="619676"/>
            <a:ext cx="3143722" cy="3105937"/>
          </a:xfrm>
          <a:prstGeom prst="rect">
            <a:avLst/>
          </a:prstGeom>
          <a:effectLst/>
        </p:spPr>
      </p:pic>
      <p:pic>
        <p:nvPicPr>
          <p:cNvPr id="32" name="anchor_structure_image" descr="anchor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12" y="619676"/>
            <a:ext cx="3309976" cy="2561831"/>
          </a:xfrm>
          <a:prstGeom prst="rect">
            <a:avLst/>
          </a:prstGeom>
          <a:effectLst/>
        </p:spPr>
      </p:pic>
      <p:pic>
        <p:nvPicPr>
          <p:cNvPr id="33" name="stage1_rendered_xrays" descr="stage1_rend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532" y="612119"/>
            <a:ext cx="1571861" cy="3181507"/>
          </a:xfrm>
          <a:prstGeom prst="rect">
            <a:avLst/>
          </a:prstGeom>
          <a:effectLst/>
        </p:spPr>
      </p:pic>
      <p:pic>
        <p:nvPicPr>
          <p:cNvPr id="34" name="stage1_real_xrays" descr="stage1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5411" y="612119"/>
            <a:ext cx="1586975" cy="3181507"/>
          </a:xfrm>
          <a:prstGeom prst="rect">
            <a:avLst/>
          </a:prstGeom>
          <a:effectLst/>
        </p:spPr>
      </p:pic>
      <p:pic>
        <p:nvPicPr>
          <p:cNvPr id="35" name="weight_field_image" descr="weight_f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40" y="5048092"/>
            <a:ext cx="3740727" cy="3521573"/>
          </a:xfrm>
          <a:prstGeom prst="rect">
            <a:avLst/>
          </a:prstGeom>
          <a:effectLst/>
        </p:spPr>
      </p:pic>
      <p:pic>
        <p:nvPicPr>
          <p:cNvPr id="36" name="warped_volume_image" descr="warped_volu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776" y="5032978"/>
            <a:ext cx="3899424" cy="3582029"/>
          </a:xfrm>
          <a:prstGeom prst="rect">
            <a:avLst/>
          </a:prstGeom>
          <a:effectLst/>
        </p:spPr>
      </p:pic>
      <p:pic>
        <p:nvPicPr>
          <p:cNvPr id="37" name="stage2_rendered_xrays" descr="stage2_rende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8304" y="5403272"/>
            <a:ext cx="1579418" cy="3196621"/>
          </a:xfrm>
          <a:prstGeom prst="rect">
            <a:avLst/>
          </a:prstGeom>
          <a:effectLst/>
        </p:spPr>
      </p:pic>
      <p:pic>
        <p:nvPicPr>
          <p:cNvPr id="38" name="stage2_real_xrays" descr="stage2_r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0297" y="5403272"/>
            <a:ext cx="1586975" cy="3196621"/>
          </a:xfrm>
          <a:prstGeom prst="rect">
            <a:avLst/>
          </a:prstGeom>
          <a:effectLst/>
        </p:spPr>
      </p:pic>
      <p:cxnSp>
        <p:nvCxnSpPr>
          <p:cNvPr id="39" name="ray_camera1_a"/>
          <p:cNvCxnSpPr/>
          <p:nvPr/>
        </p:nvCxnSpPr>
        <p:spPr>
          <a:xfrm>
            <a:off x="4655127" y="2085738"/>
            <a:ext cx="2977468" cy="1503848"/>
          </a:xfrm>
          <a:prstGeom prst="line">
            <a:avLst/>
          </a:prstGeom>
          <a:ln w="19648">
            <a:solidFill>
              <a:srgbClr val="F46DB2"/>
            </a:solidFill>
          </a:ln>
          <a:effectLst/>
        </p:spPr>
      </p:cxnSp>
      <p:cxnSp>
        <p:nvCxnSpPr>
          <p:cNvPr id="40" name="ray_camera1_b"/>
          <p:cNvCxnSpPr/>
          <p:nvPr/>
        </p:nvCxnSpPr>
        <p:spPr>
          <a:xfrm>
            <a:off x="5811352" y="2448476"/>
            <a:ext cx="1821243" cy="1141110"/>
          </a:xfrm>
          <a:prstGeom prst="line">
            <a:avLst/>
          </a:prstGeom>
          <a:ln w="15114">
            <a:solidFill>
              <a:srgbClr val="F46DB2"/>
            </a:solidFill>
          </a:ln>
          <a:effectLst/>
        </p:spPr>
      </p:cxnSp>
      <p:cxnSp>
        <p:nvCxnSpPr>
          <p:cNvPr id="41" name="ray_camera2_a"/>
          <p:cNvCxnSpPr/>
          <p:nvPr/>
        </p:nvCxnSpPr>
        <p:spPr>
          <a:xfrm>
            <a:off x="5803795" y="2448476"/>
            <a:ext cx="3453560" cy="1073097"/>
          </a:xfrm>
          <a:prstGeom prst="line">
            <a:avLst/>
          </a:prstGeom>
          <a:ln w="15114">
            <a:solidFill>
              <a:srgbClr val="F46DB2"/>
            </a:solidFill>
          </a:ln>
          <a:effectLst/>
        </p:spPr>
      </p:cxnSp>
      <p:cxnSp>
        <p:nvCxnSpPr>
          <p:cNvPr id="42" name="ray_camera2_b"/>
          <p:cNvCxnSpPr/>
          <p:nvPr/>
        </p:nvCxnSpPr>
        <p:spPr>
          <a:xfrm>
            <a:off x="6438585" y="2433361"/>
            <a:ext cx="2818770" cy="1088212"/>
          </a:xfrm>
          <a:prstGeom prst="line">
            <a:avLst/>
          </a:prstGeom>
          <a:ln w="15114">
            <a:solidFill>
              <a:srgbClr val="F46DB2"/>
            </a:solidFill>
          </a:ln>
          <a:effectLst/>
        </p:spPr>
      </p:cxnSp>
      <p:cxnSp>
        <p:nvCxnSpPr>
          <p:cNvPr id="43" name="s1_loss1_forward_segment_00"/>
          <p:cNvCxnSpPr/>
          <p:nvPr/>
        </p:nvCxnSpPr>
        <p:spPr>
          <a:xfrm>
            <a:off x="12310393" y="1360264"/>
            <a:ext cx="665018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44" name="s1_loss1_forward_head"/>
          <p:cNvSpPr/>
          <p:nvPr/>
        </p:nvSpPr>
        <p:spPr>
          <a:xfrm rot="5400000">
            <a:off x="12921378" y="1306231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s1_loss1_gradient_segment_00"/>
          <p:cNvCxnSpPr/>
          <p:nvPr/>
        </p:nvCxnSpPr>
        <p:spPr>
          <a:xfrm flipH="1">
            <a:off x="12310393" y="1481176"/>
            <a:ext cx="665018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46" name="s1_loss1_gradient_head"/>
          <p:cNvSpPr/>
          <p:nvPr/>
        </p:nvSpPr>
        <p:spPr>
          <a:xfrm rot="16200000">
            <a:off x="12256360" y="1427144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s1_loss2_forward_segment_00"/>
          <p:cNvCxnSpPr/>
          <p:nvPr/>
        </p:nvCxnSpPr>
        <p:spPr>
          <a:xfrm>
            <a:off x="12310393" y="2939682"/>
            <a:ext cx="665018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48" name="s1_loss2_forward_head"/>
          <p:cNvSpPr/>
          <p:nvPr/>
        </p:nvSpPr>
        <p:spPr>
          <a:xfrm rot="5400000">
            <a:off x="12921378" y="2885649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s1_loss2_gradient_segment_00"/>
          <p:cNvCxnSpPr/>
          <p:nvPr/>
        </p:nvCxnSpPr>
        <p:spPr>
          <a:xfrm flipH="1">
            <a:off x="12310393" y="3060595"/>
            <a:ext cx="665018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50" name="s1_loss2_gradient_head"/>
          <p:cNvSpPr/>
          <p:nvPr/>
        </p:nvSpPr>
        <p:spPr>
          <a:xfrm rot="16200000">
            <a:off x="12256360" y="3006562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s2_warp1_forward_segment_00"/>
          <p:cNvCxnSpPr/>
          <p:nvPr/>
        </p:nvCxnSpPr>
        <p:spPr>
          <a:xfrm>
            <a:off x="8955074" y="6121190"/>
            <a:ext cx="445864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52" name="s2_warp1_forward_head"/>
          <p:cNvSpPr/>
          <p:nvPr/>
        </p:nvSpPr>
        <p:spPr>
          <a:xfrm rot="5400000">
            <a:off x="9346906" y="6067157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s2_warp1_gradient_segment_00"/>
          <p:cNvCxnSpPr/>
          <p:nvPr/>
        </p:nvCxnSpPr>
        <p:spPr>
          <a:xfrm flipH="1">
            <a:off x="8955074" y="6257216"/>
            <a:ext cx="445864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54" name="s2_warp1_gradient_head"/>
          <p:cNvSpPr/>
          <p:nvPr/>
        </p:nvSpPr>
        <p:spPr>
          <a:xfrm rot="16200000">
            <a:off x="8901041" y="6203183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" name="s2_warp2_forward_segment_00"/>
          <p:cNvCxnSpPr/>
          <p:nvPr/>
        </p:nvCxnSpPr>
        <p:spPr>
          <a:xfrm>
            <a:off x="8955074" y="7693051"/>
            <a:ext cx="445864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56" name="s2_warp2_forward_head"/>
          <p:cNvSpPr/>
          <p:nvPr/>
        </p:nvSpPr>
        <p:spPr>
          <a:xfrm rot="5400000">
            <a:off x="9346906" y="7639018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s2_warp2_gradient_segment_00"/>
          <p:cNvCxnSpPr/>
          <p:nvPr/>
        </p:nvCxnSpPr>
        <p:spPr>
          <a:xfrm flipH="1">
            <a:off x="8955074" y="7829077"/>
            <a:ext cx="445864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58" name="s2_warp2_gradient_head"/>
          <p:cNvSpPr/>
          <p:nvPr/>
        </p:nvSpPr>
        <p:spPr>
          <a:xfrm rot="16200000">
            <a:off x="8901041" y="7775044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s2_renderer1_to_rendered_segment_00"/>
          <p:cNvCxnSpPr/>
          <p:nvPr/>
        </p:nvCxnSpPr>
        <p:spPr>
          <a:xfrm>
            <a:off x="10232211" y="6121190"/>
            <a:ext cx="476093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60" name="s2_renderer1_to_rendered_head"/>
          <p:cNvSpPr/>
          <p:nvPr/>
        </p:nvSpPr>
        <p:spPr>
          <a:xfrm rot="5400000">
            <a:off x="10654271" y="6067157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s2_rendered1_gradient_segment_00"/>
          <p:cNvCxnSpPr/>
          <p:nvPr/>
        </p:nvCxnSpPr>
        <p:spPr>
          <a:xfrm flipH="1">
            <a:off x="10232211" y="6257216"/>
            <a:ext cx="476093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62" name="s2_rendered1_gradient_head"/>
          <p:cNvSpPr/>
          <p:nvPr/>
        </p:nvSpPr>
        <p:spPr>
          <a:xfrm rot="16200000">
            <a:off x="10178178" y="6203183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3" name="s2_renderer2_to_rendered_segment_00"/>
          <p:cNvCxnSpPr/>
          <p:nvPr/>
        </p:nvCxnSpPr>
        <p:spPr>
          <a:xfrm>
            <a:off x="10232211" y="7693051"/>
            <a:ext cx="476093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64" name="s2_renderer2_to_rendered_head"/>
          <p:cNvSpPr/>
          <p:nvPr/>
        </p:nvSpPr>
        <p:spPr>
          <a:xfrm rot="5400000">
            <a:off x="10654271" y="7639018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s2_rendered2_gradient_segment_00"/>
          <p:cNvCxnSpPr/>
          <p:nvPr/>
        </p:nvCxnSpPr>
        <p:spPr>
          <a:xfrm flipH="1">
            <a:off x="10232211" y="7829077"/>
            <a:ext cx="476093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66" name="s2_rendered2_gradient_head"/>
          <p:cNvSpPr/>
          <p:nvPr/>
        </p:nvSpPr>
        <p:spPr>
          <a:xfrm rot="16200000">
            <a:off x="10178178" y="7775044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s2_loss1_forward_segment_00"/>
          <p:cNvCxnSpPr/>
          <p:nvPr/>
        </p:nvCxnSpPr>
        <p:spPr>
          <a:xfrm>
            <a:off x="12287722" y="6121190"/>
            <a:ext cx="672575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68" name="s2_loss1_forward_head"/>
          <p:cNvSpPr/>
          <p:nvPr/>
        </p:nvSpPr>
        <p:spPr>
          <a:xfrm rot="5400000">
            <a:off x="12906264" y="6067157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s2_loss1_gradient_segment_00"/>
          <p:cNvCxnSpPr/>
          <p:nvPr/>
        </p:nvCxnSpPr>
        <p:spPr>
          <a:xfrm flipH="1">
            <a:off x="12287722" y="6257216"/>
            <a:ext cx="672575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70" name="s2_loss1_gradient_head"/>
          <p:cNvSpPr/>
          <p:nvPr/>
        </p:nvSpPr>
        <p:spPr>
          <a:xfrm rot="16200000">
            <a:off x="12233689" y="6203183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1" name="s2_loss2_forward_segment_00"/>
          <p:cNvCxnSpPr/>
          <p:nvPr/>
        </p:nvCxnSpPr>
        <p:spPr>
          <a:xfrm>
            <a:off x="12287722" y="7693051"/>
            <a:ext cx="672575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72" name="s2_loss2_forward_head"/>
          <p:cNvSpPr/>
          <p:nvPr/>
        </p:nvSpPr>
        <p:spPr>
          <a:xfrm rot="5400000">
            <a:off x="12906264" y="7639018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s2_loss2_gradient_segment_00"/>
          <p:cNvCxnSpPr/>
          <p:nvPr/>
        </p:nvCxnSpPr>
        <p:spPr>
          <a:xfrm flipH="1">
            <a:off x="12287722" y="7829077"/>
            <a:ext cx="672575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74" name="s2_loss2_gradient_head"/>
          <p:cNvSpPr/>
          <p:nvPr/>
        </p:nvSpPr>
        <p:spPr>
          <a:xfrm rot="16200000">
            <a:off x="12233689" y="7775044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low_legend"/>
          <p:cNvSpPr/>
          <p:nvPr/>
        </p:nvSpPr>
        <p:spPr>
          <a:xfrm>
            <a:off x="5894479" y="181368"/>
            <a:ext cx="3687828" cy="33250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8892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notation_legend"/>
          <p:cNvSpPr/>
          <p:nvPr/>
        </p:nvSpPr>
        <p:spPr>
          <a:xfrm>
            <a:off x="10126413" y="4284833"/>
            <a:ext cx="4390631" cy="68768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8892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" name="pose_to_exp_gradient_segment_00"/>
          <p:cNvCxnSpPr/>
          <p:nvPr/>
        </p:nvCxnSpPr>
        <p:spPr>
          <a:xfrm flipV="1">
            <a:off x="4345289" y="6597282"/>
            <a:ext cx="0" cy="309838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78" name="pose_to_exp_gradient_head"/>
          <p:cNvSpPr/>
          <p:nvPr/>
        </p:nvSpPr>
        <p:spPr>
          <a:xfrm>
            <a:off x="4291256" y="6543249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exp_to_pose_forward_segment_00"/>
          <p:cNvCxnSpPr/>
          <p:nvPr/>
        </p:nvCxnSpPr>
        <p:spPr>
          <a:xfrm>
            <a:off x="4556885" y="6597282"/>
            <a:ext cx="0" cy="309838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80" name="exp_to_pose_forward_head"/>
          <p:cNvSpPr/>
          <p:nvPr/>
        </p:nvSpPr>
        <p:spPr>
          <a:xfrm rot="10800000">
            <a:off x="4502853" y="6853087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weight_to_exp_segment_00"/>
          <p:cNvCxnSpPr/>
          <p:nvPr/>
        </p:nvCxnSpPr>
        <p:spPr>
          <a:xfrm flipV="1">
            <a:off x="4466201" y="7315200"/>
            <a:ext cx="0" cy="256938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82" name="weight_to_exp_head"/>
          <p:cNvSpPr/>
          <p:nvPr/>
        </p:nvSpPr>
        <p:spPr>
          <a:xfrm>
            <a:off x="4412168" y="7261167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3" name="exp_to_warp_forward_segment_00"/>
          <p:cNvCxnSpPr/>
          <p:nvPr/>
        </p:nvCxnSpPr>
        <p:spPr>
          <a:xfrm>
            <a:off x="4874280" y="7065818"/>
            <a:ext cx="460979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84" name="exp_to_warp_forward_head"/>
          <p:cNvSpPr/>
          <p:nvPr/>
        </p:nvSpPr>
        <p:spPr>
          <a:xfrm rot="5400000">
            <a:off x="5281226" y="7011785"/>
            <a:ext cx="108065" cy="108065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5" name="warp_to_exp_gradient_segment_00"/>
          <p:cNvCxnSpPr/>
          <p:nvPr/>
        </p:nvCxnSpPr>
        <p:spPr>
          <a:xfrm flipH="1">
            <a:off x="4874280" y="7209401"/>
            <a:ext cx="460979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86" name="warp_to_exp_gradient_head"/>
          <p:cNvSpPr/>
          <p:nvPr/>
        </p:nvSpPr>
        <p:spPr>
          <a:xfrm rot="16200000">
            <a:off x="4820248" y="7155368"/>
            <a:ext cx="108065" cy="108065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amera1_frustum"/>
          <p:cNvSpPr/>
          <p:nvPr/>
        </p:nvSpPr>
        <p:spPr>
          <a:xfrm>
            <a:off x="7609923" y="3438446"/>
            <a:ext cx="166254" cy="256938"/>
          </a:xfrm>
          <a:custGeom>
            <a:avLst/>
            <a:gdLst/>
            <a:ahLst/>
            <a:cxnLst/>
            <a:rect l="l" t="t" r="r" b="b"/>
            <a:pathLst>
              <a:path w="22" h="34">
                <a:moveTo>
                  <a:pt x="0" y="0"/>
                </a:moveTo>
                <a:lnTo>
                  <a:pt x="11" y="34"/>
                </a:lnTo>
                <a:lnTo>
                  <a:pt x="22" y="16"/>
                </a:lnTo>
                <a:close/>
              </a:path>
            </a:pathLst>
          </a:custGeom>
          <a:solidFill>
            <a:srgbClr val="86999B"/>
          </a:solidFill>
          <a:ln w="7557">
            <a:solidFill>
              <a:srgbClr val="44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amera2_frustum"/>
          <p:cNvSpPr/>
          <p:nvPr/>
        </p:nvSpPr>
        <p:spPr>
          <a:xfrm>
            <a:off x="8879504" y="3279748"/>
            <a:ext cx="317394" cy="256938"/>
          </a:xfrm>
          <a:custGeom>
            <a:avLst/>
            <a:gdLst/>
            <a:ahLst/>
            <a:cxnLst/>
            <a:rect l="l" t="t" r="r" b="b"/>
            <a:pathLst>
              <a:path w="42" h="34">
                <a:moveTo>
                  <a:pt x="0" y="0"/>
                </a:moveTo>
                <a:lnTo>
                  <a:pt x="34" y="34"/>
                </a:lnTo>
                <a:lnTo>
                  <a:pt x="42" y="25"/>
                </a:lnTo>
                <a:close/>
              </a:path>
            </a:pathLst>
          </a:custGeom>
          <a:solidFill>
            <a:srgbClr val="86999B"/>
          </a:solidFill>
          <a:ln w="7557">
            <a:solidFill>
              <a:srgbClr val="44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tage1_renderer_1"/>
          <p:cNvSpPr/>
          <p:nvPr/>
        </p:nvSpPr>
        <p:spPr>
          <a:xfrm>
            <a:off x="9295140" y="1209123"/>
            <a:ext cx="831272" cy="4383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11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stage1_renderer_2"/>
          <p:cNvSpPr/>
          <p:nvPr/>
        </p:nvSpPr>
        <p:spPr>
          <a:xfrm>
            <a:off x="9295140" y="2796099"/>
            <a:ext cx="831272" cy="4383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11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exp_box"/>
          <p:cNvSpPr/>
          <p:nvPr/>
        </p:nvSpPr>
        <p:spPr>
          <a:xfrm>
            <a:off x="4020337" y="6937348"/>
            <a:ext cx="846386" cy="36273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11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tage2_renderer_1"/>
          <p:cNvSpPr/>
          <p:nvPr/>
        </p:nvSpPr>
        <p:spPr>
          <a:xfrm>
            <a:off x="9400938" y="5977606"/>
            <a:ext cx="831272" cy="4383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11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stage2_renderer_2"/>
          <p:cNvSpPr/>
          <p:nvPr/>
        </p:nvSpPr>
        <p:spPr>
          <a:xfrm>
            <a:off x="9400938" y="7549467"/>
            <a:ext cx="831272" cy="4383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11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amera1_body"/>
          <p:cNvSpPr/>
          <p:nvPr/>
        </p:nvSpPr>
        <p:spPr>
          <a:xfrm>
            <a:off x="7360542" y="3423332"/>
            <a:ext cx="332508" cy="272052"/>
          </a:xfrm>
          <a:custGeom>
            <a:avLst/>
            <a:gdLst/>
            <a:ahLst/>
            <a:cxnLst/>
            <a:rect l="l" t="t" r="r" b="b"/>
            <a:pathLst>
              <a:path w="44" h="36">
                <a:moveTo>
                  <a:pt x="0" y="0"/>
                </a:moveTo>
                <a:lnTo>
                  <a:pt x="33" y="2"/>
                </a:lnTo>
                <a:lnTo>
                  <a:pt x="44" y="36"/>
                </a:lnTo>
                <a:lnTo>
                  <a:pt x="7" y="24"/>
                </a:lnTo>
                <a:close/>
              </a:path>
            </a:pathLst>
          </a:custGeom>
          <a:solidFill>
            <a:srgbClr val="5C7075"/>
          </a:solidFill>
          <a:ln w="9068">
            <a:solidFill>
              <a:srgbClr val="44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amera2_body"/>
          <p:cNvSpPr/>
          <p:nvPr/>
        </p:nvSpPr>
        <p:spPr>
          <a:xfrm>
            <a:off x="8615008" y="3257077"/>
            <a:ext cx="521433" cy="279609"/>
          </a:xfrm>
          <a:custGeom>
            <a:avLst/>
            <a:gdLst/>
            <a:ahLst/>
            <a:cxnLst/>
            <a:rect l="l" t="t" r="r" b="b"/>
            <a:pathLst>
              <a:path w="69" h="37">
                <a:moveTo>
                  <a:pt x="0" y="0"/>
                </a:moveTo>
                <a:lnTo>
                  <a:pt x="35" y="3"/>
                </a:lnTo>
                <a:lnTo>
                  <a:pt x="69" y="37"/>
                </a:lnTo>
                <a:lnTo>
                  <a:pt x="3" y="30"/>
                </a:lnTo>
                <a:close/>
              </a:path>
            </a:pathLst>
          </a:custGeom>
          <a:solidFill>
            <a:srgbClr val="5C7075"/>
          </a:solidFill>
          <a:ln w="9068">
            <a:solidFill>
              <a:srgbClr val="44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6" name="flow_legend_blue_segment_00"/>
          <p:cNvCxnSpPr/>
          <p:nvPr/>
        </p:nvCxnSpPr>
        <p:spPr>
          <a:xfrm>
            <a:off x="6000277" y="347623"/>
            <a:ext cx="272053" cy="0"/>
          </a:xfrm>
          <a:prstGeom prst="line">
            <a:avLst/>
          </a:prstGeom>
          <a:ln w="30228">
            <a:solidFill>
              <a:srgbClr val="00A0FF"/>
            </a:solidFill>
          </a:ln>
          <a:effectLst/>
        </p:spPr>
      </p:cxnSp>
      <p:sp>
        <p:nvSpPr>
          <p:cNvPr id="97" name="flow_legend_blue_head"/>
          <p:cNvSpPr/>
          <p:nvPr/>
        </p:nvSpPr>
        <p:spPr>
          <a:xfrm rot="5400000">
            <a:off x="6226610" y="301903"/>
            <a:ext cx="91440" cy="91440"/>
          </a:xfrm>
          <a:prstGeom prst="triangle">
            <a:avLst/>
          </a:prstGeom>
          <a:solidFill>
            <a:srgbClr val="00A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8" name="flow_legend_orange_segment_00"/>
          <p:cNvCxnSpPr/>
          <p:nvPr/>
        </p:nvCxnSpPr>
        <p:spPr>
          <a:xfrm>
            <a:off x="7874419" y="347623"/>
            <a:ext cx="287167" cy="0"/>
          </a:xfrm>
          <a:prstGeom prst="line">
            <a:avLst/>
          </a:prstGeom>
          <a:ln w="30228">
            <a:solidFill>
              <a:srgbClr val="F07100"/>
            </a:solidFill>
          </a:ln>
          <a:effectLst/>
        </p:spPr>
      </p:cxnSp>
      <p:sp>
        <p:nvSpPr>
          <p:cNvPr id="99" name="flow_legend_orange_head"/>
          <p:cNvSpPr/>
          <p:nvPr/>
        </p:nvSpPr>
        <p:spPr>
          <a:xfrm rot="5400000">
            <a:off x="8115866" y="301903"/>
            <a:ext cx="91440" cy="91440"/>
          </a:xfrm>
          <a:prstGeom prst="triangle">
            <a:avLst/>
          </a:prstGeom>
          <a:solidFill>
            <a:srgbClr val="F07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amera1_trajectory_00"/>
          <p:cNvCxnSpPr/>
          <p:nvPr/>
        </p:nvCxnSpPr>
        <p:spPr>
          <a:xfrm flipH="1">
            <a:off x="7511682" y="3778512"/>
            <a:ext cx="120913" cy="75570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1" name="camera1_trajectory_01"/>
          <p:cNvCxnSpPr/>
          <p:nvPr/>
        </p:nvCxnSpPr>
        <p:spPr>
          <a:xfrm flipH="1" flipV="1">
            <a:off x="7368099" y="3846525"/>
            <a:ext cx="143583" cy="7557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2" name="camera1_trajectory_02"/>
          <p:cNvCxnSpPr/>
          <p:nvPr/>
        </p:nvCxnSpPr>
        <p:spPr>
          <a:xfrm flipH="1" flipV="1">
            <a:off x="7247186" y="3763398"/>
            <a:ext cx="120913" cy="83127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3" name="camera1_trajectory_03"/>
          <p:cNvCxnSpPr/>
          <p:nvPr/>
        </p:nvCxnSpPr>
        <p:spPr>
          <a:xfrm flipH="1" flipV="1">
            <a:off x="7141388" y="3748284"/>
            <a:ext cx="105798" cy="15114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4" name="camera1_trajectory_04"/>
          <p:cNvCxnSpPr/>
          <p:nvPr/>
        </p:nvCxnSpPr>
        <p:spPr>
          <a:xfrm flipH="1">
            <a:off x="7080932" y="3748284"/>
            <a:ext cx="60456" cy="9824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5" name="camera1_trajectory_05"/>
          <p:cNvCxnSpPr/>
          <p:nvPr/>
        </p:nvCxnSpPr>
        <p:spPr>
          <a:xfrm flipH="1">
            <a:off x="6997804" y="3846525"/>
            <a:ext cx="83128" cy="52899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6" name="camera1_trajectory_06"/>
          <p:cNvCxnSpPr/>
          <p:nvPr/>
        </p:nvCxnSpPr>
        <p:spPr>
          <a:xfrm flipH="1" flipV="1">
            <a:off x="6884449" y="3884310"/>
            <a:ext cx="113355" cy="15114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7" name="camera1_trajectory_07"/>
          <p:cNvCxnSpPr/>
          <p:nvPr/>
        </p:nvCxnSpPr>
        <p:spPr>
          <a:xfrm flipH="1" flipV="1">
            <a:off x="6793765" y="3816297"/>
            <a:ext cx="90684" cy="68013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8" name="camera1_trajectory_08"/>
          <p:cNvCxnSpPr/>
          <p:nvPr/>
        </p:nvCxnSpPr>
        <p:spPr>
          <a:xfrm flipH="1" flipV="1">
            <a:off x="6763537" y="3680271"/>
            <a:ext cx="30228" cy="136026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09" name="camera1_trajectory_09"/>
          <p:cNvCxnSpPr/>
          <p:nvPr/>
        </p:nvCxnSpPr>
        <p:spPr>
          <a:xfrm flipH="1" flipV="1">
            <a:off x="6703080" y="3672714"/>
            <a:ext cx="60457" cy="7557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0" name="camera1_trajectory_10"/>
          <p:cNvCxnSpPr/>
          <p:nvPr/>
        </p:nvCxnSpPr>
        <p:spPr>
          <a:xfrm flipH="1">
            <a:off x="6695523" y="3672714"/>
            <a:ext cx="7557" cy="9824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1" name="camera2_trajectory_00"/>
          <p:cNvCxnSpPr/>
          <p:nvPr/>
        </p:nvCxnSpPr>
        <p:spPr>
          <a:xfrm flipH="1">
            <a:off x="9166671" y="3536687"/>
            <a:ext cx="75570" cy="90684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2" name="camera2_trajectory_01"/>
          <p:cNvCxnSpPr/>
          <p:nvPr/>
        </p:nvCxnSpPr>
        <p:spPr>
          <a:xfrm flipH="1">
            <a:off x="9136442" y="3627371"/>
            <a:ext cx="30229" cy="113356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3" name="camera2_trajectory_02"/>
          <p:cNvCxnSpPr/>
          <p:nvPr/>
        </p:nvCxnSpPr>
        <p:spPr>
          <a:xfrm>
            <a:off x="9136442" y="3740727"/>
            <a:ext cx="75571" cy="83127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4" name="camera2_trajectory_03"/>
          <p:cNvCxnSpPr/>
          <p:nvPr/>
        </p:nvCxnSpPr>
        <p:spPr>
          <a:xfrm>
            <a:off x="9212013" y="3823854"/>
            <a:ext cx="83127" cy="68013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5" name="camera2_trajectory_04"/>
          <p:cNvCxnSpPr/>
          <p:nvPr/>
        </p:nvCxnSpPr>
        <p:spPr>
          <a:xfrm flipH="1">
            <a:off x="9264912" y="3891867"/>
            <a:ext cx="30228" cy="45342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6" name="camera2_trajectory_05"/>
          <p:cNvCxnSpPr/>
          <p:nvPr/>
        </p:nvCxnSpPr>
        <p:spPr>
          <a:xfrm flipH="1" flipV="1">
            <a:off x="9196899" y="3899424"/>
            <a:ext cx="68013" cy="37785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7" name="camera2_trajectory_06"/>
          <p:cNvCxnSpPr/>
          <p:nvPr/>
        </p:nvCxnSpPr>
        <p:spPr>
          <a:xfrm flipH="1" flipV="1">
            <a:off x="9098657" y="3808740"/>
            <a:ext cx="98242" cy="90684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8" name="camera2_trajectory_07"/>
          <p:cNvCxnSpPr/>
          <p:nvPr/>
        </p:nvCxnSpPr>
        <p:spPr>
          <a:xfrm flipH="1" flipV="1">
            <a:off x="9015530" y="3786069"/>
            <a:ext cx="83127" cy="2267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19" name="camera2_trajectory_08"/>
          <p:cNvCxnSpPr/>
          <p:nvPr/>
        </p:nvCxnSpPr>
        <p:spPr>
          <a:xfrm flipH="1">
            <a:off x="8947517" y="3786069"/>
            <a:ext cx="68013" cy="75570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20" name="camera2_trajectory_09"/>
          <p:cNvCxnSpPr/>
          <p:nvPr/>
        </p:nvCxnSpPr>
        <p:spPr>
          <a:xfrm flipH="1">
            <a:off x="8879504" y="3861639"/>
            <a:ext cx="68013" cy="2267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21" name="camera2_trajectory_10"/>
          <p:cNvCxnSpPr/>
          <p:nvPr/>
        </p:nvCxnSpPr>
        <p:spPr>
          <a:xfrm flipH="1" flipV="1">
            <a:off x="8803933" y="3816297"/>
            <a:ext cx="75571" cy="68013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22" name="camera2_trajectory_11"/>
          <p:cNvCxnSpPr/>
          <p:nvPr/>
        </p:nvCxnSpPr>
        <p:spPr>
          <a:xfrm flipH="1" flipV="1">
            <a:off x="8751034" y="3718056"/>
            <a:ext cx="52899" cy="9824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23" name="camera2_trajectory_12"/>
          <p:cNvCxnSpPr/>
          <p:nvPr/>
        </p:nvCxnSpPr>
        <p:spPr>
          <a:xfrm flipH="1">
            <a:off x="8675464" y="3718056"/>
            <a:ext cx="75570" cy="15114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cxnSp>
        <p:nvCxnSpPr>
          <p:cNvPr id="124" name="camera2_trajectory_13"/>
          <p:cNvCxnSpPr/>
          <p:nvPr/>
        </p:nvCxnSpPr>
        <p:spPr>
          <a:xfrm flipH="1">
            <a:off x="8667907" y="3733170"/>
            <a:ext cx="7557" cy="98241"/>
          </a:xfrm>
          <a:prstGeom prst="line">
            <a:avLst/>
          </a:prstGeom>
          <a:ln w="30228">
            <a:solidFill>
              <a:srgbClr val="1DFF00"/>
            </a:solidFill>
          </a:ln>
          <a:effectLst/>
        </p:spPr>
      </p:cxnSp>
      <p:sp>
        <p:nvSpPr>
          <p:cNvPr id="125" name="camera1_trajectory_dot"/>
          <p:cNvSpPr/>
          <p:nvPr/>
        </p:nvSpPr>
        <p:spPr>
          <a:xfrm>
            <a:off x="7579695" y="3725613"/>
            <a:ext cx="105798" cy="105798"/>
          </a:xfrm>
          <a:prstGeom prst="ellipse">
            <a:avLst/>
          </a:prstGeom>
          <a:solidFill>
            <a:srgbClr val="1DF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camera2_trajectory_dot"/>
          <p:cNvSpPr/>
          <p:nvPr/>
        </p:nvSpPr>
        <p:spPr>
          <a:xfrm>
            <a:off x="9189342" y="3483788"/>
            <a:ext cx="105798" cy="105798"/>
          </a:xfrm>
          <a:prstGeom prst="ellipse">
            <a:avLst/>
          </a:prstGeom>
          <a:solidFill>
            <a:srgbClr val="1DF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stage2_title_pose_axis_red"/>
          <p:cNvCxnSpPr/>
          <p:nvPr/>
        </p:nvCxnSpPr>
        <p:spPr>
          <a:xfrm>
            <a:off x="4972522" y="4443530"/>
            <a:ext cx="81616" cy="108821"/>
          </a:xfrm>
          <a:prstGeom prst="line">
            <a:avLst/>
          </a:prstGeom>
          <a:ln w="10882">
            <a:solidFill>
              <a:srgbClr val="FF1A0A"/>
            </a:solidFill>
          </a:ln>
          <a:effectLst/>
        </p:spPr>
      </p:cxnSp>
      <p:cxnSp>
        <p:nvCxnSpPr>
          <p:cNvPr id="128" name="stage2_title_pose_axis_green"/>
          <p:cNvCxnSpPr/>
          <p:nvPr/>
        </p:nvCxnSpPr>
        <p:spPr>
          <a:xfrm flipH="1">
            <a:off x="4880024" y="4443530"/>
            <a:ext cx="92498" cy="81616"/>
          </a:xfrm>
          <a:prstGeom prst="line">
            <a:avLst/>
          </a:prstGeom>
          <a:ln w="10882">
            <a:solidFill>
              <a:srgbClr val="13E600"/>
            </a:solidFill>
          </a:ln>
          <a:effectLst/>
        </p:spPr>
      </p:cxnSp>
      <p:cxnSp>
        <p:nvCxnSpPr>
          <p:cNvPr id="129" name="stage2_title_pose_axis_blue"/>
          <p:cNvCxnSpPr/>
          <p:nvPr/>
        </p:nvCxnSpPr>
        <p:spPr>
          <a:xfrm flipH="1" flipV="1">
            <a:off x="4961640" y="4323827"/>
            <a:ext cx="10882" cy="119703"/>
          </a:xfrm>
          <a:prstGeom prst="line">
            <a:avLst/>
          </a:prstGeom>
          <a:ln w="10882">
            <a:solidFill>
              <a:srgbClr val="1478FF"/>
            </a:solidFill>
          </a:ln>
          <a:effectLst/>
        </p:spPr>
      </p:cxnSp>
      <p:sp>
        <p:nvSpPr>
          <p:cNvPr id="130" name="stage2_title_pose_joint"/>
          <p:cNvSpPr/>
          <p:nvPr/>
        </p:nvSpPr>
        <p:spPr>
          <a:xfrm>
            <a:off x="4959463" y="4430472"/>
            <a:ext cx="26117" cy="26117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1" name="pose_bracket_left_vertical"/>
          <p:cNvCxnSpPr/>
          <p:nvPr/>
        </p:nvCxnSpPr>
        <p:spPr>
          <a:xfrm>
            <a:off x="3929652" y="5425943"/>
            <a:ext cx="0" cy="1125997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2" name="pose_bracket_left_top"/>
          <p:cNvCxnSpPr/>
          <p:nvPr/>
        </p:nvCxnSpPr>
        <p:spPr>
          <a:xfrm>
            <a:off x="3929652" y="5425943"/>
            <a:ext cx="113356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3" name="pose_bracket_left_bottom"/>
          <p:cNvCxnSpPr/>
          <p:nvPr/>
        </p:nvCxnSpPr>
        <p:spPr>
          <a:xfrm>
            <a:off x="3929652" y="6551940"/>
            <a:ext cx="113356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4" name="pose_bracket_right_vertical"/>
          <p:cNvCxnSpPr/>
          <p:nvPr/>
        </p:nvCxnSpPr>
        <p:spPr>
          <a:xfrm>
            <a:off x="4949851" y="5425943"/>
            <a:ext cx="0" cy="1125997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5" name="pose_bracket_right_top"/>
          <p:cNvCxnSpPr/>
          <p:nvPr/>
        </p:nvCxnSpPr>
        <p:spPr>
          <a:xfrm>
            <a:off x="4836495" y="5425943"/>
            <a:ext cx="113356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6" name="pose_bracket_right_bottom"/>
          <p:cNvCxnSpPr/>
          <p:nvPr/>
        </p:nvCxnSpPr>
        <p:spPr>
          <a:xfrm>
            <a:off x="4836495" y="6551940"/>
            <a:ext cx="113356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7" name="weight_bracket_left_vertical"/>
          <p:cNvCxnSpPr/>
          <p:nvPr/>
        </p:nvCxnSpPr>
        <p:spPr>
          <a:xfrm>
            <a:off x="4088350" y="7602366"/>
            <a:ext cx="0" cy="111844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8" name="weight_bracket_left_top"/>
          <p:cNvCxnSpPr/>
          <p:nvPr/>
        </p:nvCxnSpPr>
        <p:spPr>
          <a:xfrm>
            <a:off x="4088350" y="7602366"/>
            <a:ext cx="113355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39" name="weight_bracket_left_bottom"/>
          <p:cNvCxnSpPr/>
          <p:nvPr/>
        </p:nvCxnSpPr>
        <p:spPr>
          <a:xfrm>
            <a:off x="4088350" y="8720806"/>
            <a:ext cx="113355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40" name="weight_bracket_right_vertical"/>
          <p:cNvCxnSpPr/>
          <p:nvPr/>
        </p:nvCxnSpPr>
        <p:spPr>
          <a:xfrm>
            <a:off x="4851609" y="7602366"/>
            <a:ext cx="0" cy="111844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41" name="weight_bracket_right_top"/>
          <p:cNvCxnSpPr/>
          <p:nvPr/>
        </p:nvCxnSpPr>
        <p:spPr>
          <a:xfrm>
            <a:off x="4738254" y="7602366"/>
            <a:ext cx="113355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cxnSp>
        <p:nvCxnSpPr>
          <p:cNvPr id="142" name="weight_bracket_right_bottom"/>
          <p:cNvCxnSpPr/>
          <p:nvPr/>
        </p:nvCxnSpPr>
        <p:spPr>
          <a:xfrm>
            <a:off x="4738254" y="8720806"/>
            <a:ext cx="113355" cy="0"/>
          </a:xfrm>
          <a:prstGeom prst="line">
            <a:avLst/>
          </a:prstGeom>
          <a:ln w="16625">
            <a:solidFill>
              <a:srgbClr val="000000"/>
            </a:solidFill>
          </a:ln>
          <a:effectLst/>
        </p:spPr>
      </p:cxnSp>
      <p:sp>
        <p:nvSpPr>
          <p:cNvPr id="143" name="stage1_title"/>
          <p:cNvSpPr txBox="1"/>
          <p:nvPr/>
        </p:nvSpPr>
        <p:spPr>
          <a:xfrm>
            <a:off x="105798" y="204039"/>
            <a:ext cx="5743338" cy="302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ans"/>
              </a:rPr>
              <a:t>(A) Stage 1:</a:t>
            </a:r>
            <a:r>
              <a:rPr sz="1785" b="0" i="0">
                <a:solidFill>
                  <a:srgbClr val="000000"/>
                </a:solidFill>
                <a:latin typeface="Liberation Sans"/>
              </a:rPr>
              <a:t> Estimate the pose (Π̂) of each X-ray image</a:t>
            </a:r>
          </a:p>
        </p:txBody>
      </p:sp>
      <p:sp>
        <p:nvSpPr>
          <p:cNvPr id="144" name="stage2_title_left"/>
          <p:cNvSpPr txBox="1"/>
          <p:nvPr/>
        </p:nvSpPr>
        <p:spPr>
          <a:xfrm>
            <a:off x="105798" y="4307504"/>
            <a:ext cx="4723140" cy="302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ans"/>
              </a:rPr>
              <a:t>(B) Stage 2:</a:t>
            </a:r>
            <a:r>
              <a:rPr sz="1785" b="0" i="0">
                <a:solidFill>
                  <a:srgbClr val="000000"/>
                </a:solidFill>
                <a:latin typeface="Liberation Sans"/>
              </a:rPr>
              <a:t> Optimize structure-specific poses </a:t>
            </a:r>
          </a:p>
        </p:txBody>
      </p:sp>
      <p:sp>
        <p:nvSpPr>
          <p:cNvPr id="145" name="stage2_title_paren_l"/>
          <p:cNvSpPr txBox="1"/>
          <p:nvPr/>
        </p:nvSpPr>
        <p:spPr>
          <a:xfrm>
            <a:off x="4813824" y="4292390"/>
            <a:ext cx="136026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000000"/>
                </a:solidFill>
                <a:latin typeface="Liberation Sans"/>
              </a:rPr>
              <a:t>(</a:t>
            </a:r>
          </a:p>
        </p:txBody>
      </p:sp>
      <p:sp>
        <p:nvSpPr>
          <p:cNvPr id="146" name="stage2_title_paren_r"/>
          <p:cNvSpPr txBox="1"/>
          <p:nvPr/>
        </p:nvSpPr>
        <p:spPr>
          <a:xfrm>
            <a:off x="5100991" y="4292390"/>
            <a:ext cx="136026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000000"/>
                </a:solidFill>
                <a:latin typeface="Liberation Sans"/>
              </a:rPr>
              <a:t>)</a:t>
            </a:r>
          </a:p>
        </p:txBody>
      </p:sp>
      <p:sp>
        <p:nvSpPr>
          <p:cNvPr id="147" name="stage2_title_right"/>
          <p:cNvSpPr txBox="1"/>
          <p:nvPr/>
        </p:nvSpPr>
        <p:spPr>
          <a:xfrm>
            <a:off x="5221904" y="4307504"/>
            <a:ext cx="4836495" cy="302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0" i="0">
                <a:solidFill>
                  <a:srgbClr val="000000"/>
                </a:solidFill>
                <a:latin typeface="Liberation Sans"/>
              </a:rPr>
              <a:t>to estimate the polyrigid deformation field (Φ)</a:t>
            </a:r>
          </a:p>
        </p:txBody>
      </p:sp>
      <p:sp>
        <p:nvSpPr>
          <p:cNvPr id="148" name="flow_legend_blue_text"/>
          <p:cNvSpPr txBox="1"/>
          <p:nvPr/>
        </p:nvSpPr>
        <p:spPr>
          <a:xfrm>
            <a:off x="6332786" y="226710"/>
            <a:ext cx="1435834" cy="2569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Operation flow</a:t>
            </a:r>
          </a:p>
        </p:txBody>
      </p:sp>
      <p:sp>
        <p:nvSpPr>
          <p:cNvPr id="149" name="flow_legend_orange_text"/>
          <p:cNvSpPr txBox="1"/>
          <p:nvPr/>
        </p:nvSpPr>
        <p:spPr>
          <a:xfrm>
            <a:off x="8214485" y="226710"/>
            <a:ext cx="1284694" cy="2569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Gradient flow</a:t>
            </a:r>
          </a:p>
        </p:txBody>
      </p:sp>
      <p:sp>
        <p:nvSpPr>
          <p:cNvPr id="150" name="notation_p_symbol"/>
          <p:cNvSpPr txBox="1"/>
          <p:nvPr/>
        </p:nvSpPr>
        <p:spPr>
          <a:xfrm>
            <a:off x="10247325" y="4345289"/>
            <a:ext cx="256938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000000"/>
                </a:solidFill>
                <a:latin typeface="DejaVu Math TeX Gyre"/>
              </a:rPr>
              <a:t>𝒫</a:t>
            </a:r>
          </a:p>
        </p:txBody>
      </p:sp>
      <p:sp>
        <p:nvSpPr>
          <p:cNvPr id="151" name="notation_p_label"/>
          <p:cNvSpPr txBox="1"/>
          <p:nvPr/>
        </p:nvSpPr>
        <p:spPr>
          <a:xfrm>
            <a:off x="10534492" y="4367960"/>
            <a:ext cx="1775900" cy="234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Projection operator</a:t>
            </a:r>
          </a:p>
        </p:txBody>
      </p:sp>
      <p:sp>
        <p:nvSpPr>
          <p:cNvPr id="152" name="notation_pose_symbol"/>
          <p:cNvSpPr txBox="1"/>
          <p:nvPr/>
        </p:nvSpPr>
        <p:spPr>
          <a:xfrm>
            <a:off x="12393520" y="4337732"/>
            <a:ext cx="294723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000000"/>
                </a:solidFill>
                <a:latin typeface="DejaVu Math TeX Gyre"/>
              </a:rPr>
              <a:t>ξ̂</a:t>
            </a:r>
          </a:p>
        </p:txBody>
      </p:sp>
      <p:sp>
        <p:nvSpPr>
          <p:cNvPr id="153" name="notation_pose_label"/>
          <p:cNvSpPr txBox="1"/>
          <p:nvPr/>
        </p:nvSpPr>
        <p:spPr>
          <a:xfrm>
            <a:off x="12748700" y="4367960"/>
            <a:ext cx="1662545" cy="234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Articulated poses</a:t>
            </a:r>
          </a:p>
        </p:txBody>
      </p:sp>
      <p:sp>
        <p:nvSpPr>
          <p:cNvPr id="154" name="notation_l_symbol"/>
          <p:cNvSpPr txBox="1"/>
          <p:nvPr/>
        </p:nvSpPr>
        <p:spPr>
          <a:xfrm>
            <a:off x="10247325" y="4640013"/>
            <a:ext cx="256938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000000"/>
                </a:solidFill>
                <a:latin typeface="DejaVu Math TeX Gyre"/>
              </a:rPr>
              <a:t>ℒ</a:t>
            </a:r>
          </a:p>
        </p:txBody>
      </p:sp>
      <p:sp>
        <p:nvSpPr>
          <p:cNvPr id="155" name="notation_l_label"/>
          <p:cNvSpPr txBox="1"/>
          <p:nvPr/>
        </p:nvSpPr>
        <p:spPr>
          <a:xfrm>
            <a:off x="10534492" y="4655127"/>
            <a:ext cx="1775900" cy="234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Image loss function</a:t>
            </a:r>
          </a:p>
        </p:txBody>
      </p:sp>
      <p:sp>
        <p:nvSpPr>
          <p:cNvPr id="156" name="notation_pi_symbol"/>
          <p:cNvSpPr txBox="1"/>
          <p:nvPr/>
        </p:nvSpPr>
        <p:spPr>
          <a:xfrm>
            <a:off x="12393520" y="4632456"/>
            <a:ext cx="302280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4" b="1" i="0">
                <a:solidFill>
                  <a:srgbClr val="000000"/>
                </a:solidFill>
                <a:latin typeface="DejaVu Math TeX Gyre"/>
              </a:rPr>
              <a:t>Π</a:t>
            </a:r>
          </a:p>
        </p:txBody>
      </p:sp>
      <p:sp>
        <p:nvSpPr>
          <p:cNvPr id="157" name="notation_pi_label"/>
          <p:cNvSpPr txBox="1"/>
          <p:nvPr/>
        </p:nvSpPr>
        <p:spPr>
          <a:xfrm>
            <a:off x="12748700" y="4655127"/>
            <a:ext cx="1662545" cy="234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Camera matrix</a:t>
            </a:r>
          </a:p>
        </p:txBody>
      </p:sp>
      <p:sp>
        <p:nvSpPr>
          <p:cNvPr id="158" name="stage1_renderer_1_line1"/>
          <p:cNvSpPr txBox="1"/>
          <p:nvPr/>
        </p:nvSpPr>
        <p:spPr>
          <a:xfrm>
            <a:off x="9332925" y="1269580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Diff. X-ray</a:t>
            </a:r>
          </a:p>
        </p:txBody>
      </p:sp>
      <p:sp>
        <p:nvSpPr>
          <p:cNvPr id="159" name="stage1_renderer_1_line2"/>
          <p:cNvSpPr txBox="1"/>
          <p:nvPr/>
        </p:nvSpPr>
        <p:spPr>
          <a:xfrm>
            <a:off x="9332925" y="1428277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renderer</a:t>
            </a:r>
          </a:p>
        </p:txBody>
      </p:sp>
      <p:sp>
        <p:nvSpPr>
          <p:cNvPr id="160" name="stage1_renderer_2_line1"/>
          <p:cNvSpPr txBox="1"/>
          <p:nvPr/>
        </p:nvSpPr>
        <p:spPr>
          <a:xfrm>
            <a:off x="9332925" y="2856555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Diff. X-ray</a:t>
            </a:r>
          </a:p>
        </p:txBody>
      </p:sp>
      <p:sp>
        <p:nvSpPr>
          <p:cNvPr id="161" name="stage1_renderer_2_line2"/>
          <p:cNvSpPr txBox="1"/>
          <p:nvPr/>
        </p:nvSpPr>
        <p:spPr>
          <a:xfrm>
            <a:off x="9332925" y="3015252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renderer</a:t>
            </a:r>
          </a:p>
        </p:txBody>
      </p:sp>
      <p:sp>
        <p:nvSpPr>
          <p:cNvPr id="162" name="stage1_projection1"/>
          <p:cNvSpPr txBox="1"/>
          <p:nvPr/>
        </p:nvSpPr>
        <p:spPr>
          <a:xfrm>
            <a:off x="9219570" y="869057"/>
            <a:ext cx="997527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000000"/>
                </a:solidFill>
                <a:latin typeface="DejaVu Math TeX Gyre"/>
              </a:rPr>
              <a:t>𝒫(Π1)</a:t>
            </a:r>
          </a:p>
        </p:txBody>
      </p:sp>
      <p:sp>
        <p:nvSpPr>
          <p:cNvPr id="163" name="stage1_projection2"/>
          <p:cNvSpPr txBox="1"/>
          <p:nvPr/>
        </p:nvSpPr>
        <p:spPr>
          <a:xfrm>
            <a:off x="9219570" y="2456033"/>
            <a:ext cx="997527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000000"/>
                </a:solidFill>
                <a:latin typeface="DejaVu Math TeX Gyre"/>
              </a:rPr>
              <a:t>𝒫(Π2)</a:t>
            </a:r>
          </a:p>
        </p:txBody>
      </p:sp>
      <p:sp>
        <p:nvSpPr>
          <p:cNvPr id="164" name="stage1_eq3_1"/>
          <p:cNvSpPr txBox="1"/>
          <p:nvPr/>
        </p:nvSpPr>
        <p:spPr>
          <a:xfrm>
            <a:off x="9332925" y="1647431"/>
            <a:ext cx="755702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Eq. (3)</a:t>
            </a:r>
          </a:p>
        </p:txBody>
      </p:sp>
      <p:sp>
        <p:nvSpPr>
          <p:cNvPr id="165" name="stage1_eq3_2"/>
          <p:cNvSpPr txBox="1"/>
          <p:nvPr/>
        </p:nvSpPr>
        <p:spPr>
          <a:xfrm>
            <a:off x="9332925" y="3234406"/>
            <a:ext cx="755702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Eq. (3)</a:t>
            </a:r>
          </a:p>
        </p:txBody>
      </p:sp>
      <p:sp>
        <p:nvSpPr>
          <p:cNvPr id="166" name="stage1_loss_symbol1"/>
          <p:cNvSpPr txBox="1"/>
          <p:nvPr/>
        </p:nvSpPr>
        <p:spPr>
          <a:xfrm>
            <a:off x="12446419" y="989970"/>
            <a:ext cx="377851" cy="332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2" b="0" i="0">
                <a:solidFill>
                  <a:srgbClr val="000000"/>
                </a:solidFill>
                <a:latin typeface="DejaVu Math TeX Gyre"/>
              </a:rPr>
              <a:t>ℒ</a:t>
            </a:r>
          </a:p>
        </p:txBody>
      </p:sp>
      <p:sp>
        <p:nvSpPr>
          <p:cNvPr id="167" name="stage1_loss_symbol2"/>
          <p:cNvSpPr txBox="1"/>
          <p:nvPr/>
        </p:nvSpPr>
        <p:spPr>
          <a:xfrm>
            <a:off x="12446419" y="2569388"/>
            <a:ext cx="377851" cy="332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2" b="0" i="0">
                <a:solidFill>
                  <a:srgbClr val="000000"/>
                </a:solidFill>
                <a:latin typeface="DejaVu Math TeX Gyre"/>
              </a:rPr>
              <a:t>ℒ</a:t>
            </a:r>
          </a:p>
        </p:txBody>
      </p:sp>
      <p:sp>
        <p:nvSpPr>
          <p:cNvPr id="168" name="preop_caption"/>
          <p:cNvSpPr txBox="1"/>
          <p:nvPr/>
        </p:nvSpPr>
        <p:spPr>
          <a:xfrm>
            <a:off x="1549190" y="3702942"/>
            <a:ext cx="2153752" cy="249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Preoperative CT (V)</a:t>
            </a:r>
          </a:p>
        </p:txBody>
      </p:sp>
      <p:sp>
        <p:nvSpPr>
          <p:cNvPr id="169" name="extract_caption"/>
          <p:cNvSpPr txBox="1"/>
          <p:nvPr/>
        </p:nvSpPr>
        <p:spPr>
          <a:xfrm>
            <a:off x="4912066" y="3189064"/>
            <a:ext cx="2040396" cy="2644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Extract structure</a:t>
            </a:r>
          </a:p>
        </p:txBody>
      </p:sp>
      <p:sp>
        <p:nvSpPr>
          <p:cNvPr id="170" name="anchor_formula_s"/>
          <p:cNvSpPr txBox="1"/>
          <p:nvPr/>
        </p:nvSpPr>
        <p:spPr>
          <a:xfrm>
            <a:off x="5320145" y="3430889"/>
            <a:ext cx="211596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0" i="0">
                <a:solidFill>
                  <a:srgbClr val="000000"/>
                </a:solidFill>
                <a:latin typeface="DejaVu Math TeX Gyre"/>
              </a:rPr>
              <a:t>S</a:t>
            </a:r>
          </a:p>
        </p:txBody>
      </p:sp>
      <p:sp>
        <p:nvSpPr>
          <p:cNvPr id="171" name="anchor_formula_sub"/>
          <p:cNvSpPr txBox="1"/>
          <p:nvPr/>
        </p:nvSpPr>
        <p:spPr>
          <a:xfrm>
            <a:off x="5471285" y="3544244"/>
            <a:ext cx="566776" cy="1813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000000"/>
                </a:solidFill>
                <a:latin typeface="Liberation Sans"/>
              </a:rPr>
              <a:t>anchor</a:t>
            </a:r>
          </a:p>
        </p:txBody>
      </p:sp>
      <p:sp>
        <p:nvSpPr>
          <p:cNvPr id="172" name="anchor_formula_tail"/>
          <p:cNvSpPr txBox="1"/>
          <p:nvPr/>
        </p:nvSpPr>
        <p:spPr>
          <a:xfrm>
            <a:off x="6038062" y="3430889"/>
            <a:ext cx="544105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DejaVu Math TeX Gyre"/>
              </a:rPr>
              <a:t>⊙ V</a:t>
            </a:r>
          </a:p>
        </p:txBody>
      </p:sp>
      <p:sp>
        <p:nvSpPr>
          <p:cNvPr id="173" name="camera1_label"/>
          <p:cNvSpPr txBox="1"/>
          <p:nvPr/>
        </p:nvSpPr>
        <p:spPr>
          <a:xfrm>
            <a:off x="7685494" y="3604700"/>
            <a:ext cx="528991" cy="3476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3" b="0" i="0">
                <a:solidFill>
                  <a:srgbClr val="000000"/>
                </a:solidFill>
                <a:latin typeface="DejaVu Math TeX Gyre"/>
              </a:rPr>
              <a:t>Π1</a:t>
            </a:r>
          </a:p>
        </p:txBody>
      </p:sp>
      <p:sp>
        <p:nvSpPr>
          <p:cNvPr id="174" name="camera2_label"/>
          <p:cNvSpPr txBox="1"/>
          <p:nvPr/>
        </p:nvSpPr>
        <p:spPr>
          <a:xfrm>
            <a:off x="9264912" y="3438446"/>
            <a:ext cx="528991" cy="3476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3" b="0" i="0">
                <a:solidFill>
                  <a:srgbClr val="000000"/>
                </a:solidFill>
                <a:latin typeface="DejaVu Math TeX Gyre"/>
              </a:rPr>
              <a:t>Π2</a:t>
            </a:r>
          </a:p>
        </p:txBody>
      </p:sp>
      <p:sp>
        <p:nvSpPr>
          <p:cNvPr id="175" name="stage1_rendered_title"/>
          <p:cNvSpPr txBox="1"/>
          <p:nvPr/>
        </p:nvSpPr>
        <p:spPr>
          <a:xfrm>
            <a:off x="10557163" y="377851"/>
            <a:ext cx="1927041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Rendered X-ray</a:t>
            </a:r>
          </a:p>
        </p:txBody>
      </p:sp>
      <p:sp>
        <p:nvSpPr>
          <p:cNvPr id="176" name="stage1_real_title"/>
          <p:cNvSpPr txBox="1"/>
          <p:nvPr/>
        </p:nvSpPr>
        <p:spPr>
          <a:xfrm>
            <a:off x="12846942" y="377851"/>
            <a:ext cx="1813685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Real X-ray</a:t>
            </a:r>
          </a:p>
        </p:txBody>
      </p:sp>
      <p:sp>
        <p:nvSpPr>
          <p:cNvPr id="177" name="pose_xi_hat"/>
          <p:cNvSpPr txBox="1"/>
          <p:nvPr/>
        </p:nvSpPr>
        <p:spPr>
          <a:xfrm>
            <a:off x="4269719" y="5100991"/>
            <a:ext cx="528991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61" b="0" i="0">
                <a:solidFill>
                  <a:srgbClr val="000000"/>
                </a:solidFill>
                <a:latin typeface="DejaVu Math TeX Gyre"/>
              </a:rPr>
              <a:t>ξ̂</a:t>
            </a:r>
          </a:p>
        </p:txBody>
      </p:sp>
      <p:sp>
        <p:nvSpPr>
          <p:cNvPr id="178" name="pose_log_red"/>
          <p:cNvSpPr txBox="1"/>
          <p:nvPr/>
        </p:nvSpPr>
        <p:spPr>
          <a:xfrm>
            <a:off x="4005223" y="5478842"/>
            <a:ext cx="846386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FF1A0A"/>
                </a:solidFill>
                <a:latin typeface="DejaVu Math TeX Gyre"/>
              </a:rPr>
              <a:t>log(𝒯)</a:t>
            </a:r>
          </a:p>
        </p:txBody>
      </p:sp>
      <p:sp>
        <p:nvSpPr>
          <p:cNvPr id="179" name="pose_log_green"/>
          <p:cNvSpPr txBox="1"/>
          <p:nvPr/>
        </p:nvSpPr>
        <p:spPr>
          <a:xfrm>
            <a:off x="4005223" y="5879365"/>
            <a:ext cx="846386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13E600"/>
                </a:solidFill>
                <a:latin typeface="DejaVu Math TeX Gyre"/>
              </a:rPr>
              <a:t>log(𝒯)</a:t>
            </a:r>
          </a:p>
        </p:txBody>
      </p:sp>
      <p:sp>
        <p:nvSpPr>
          <p:cNvPr id="180" name="pose_log_blue"/>
          <p:cNvSpPr txBox="1"/>
          <p:nvPr/>
        </p:nvSpPr>
        <p:spPr>
          <a:xfrm>
            <a:off x="4005223" y="6279887"/>
            <a:ext cx="846386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1478FF"/>
                </a:solidFill>
                <a:latin typeface="DejaVu Math TeX Gyre"/>
              </a:rPr>
              <a:t>log(𝒯)</a:t>
            </a:r>
          </a:p>
        </p:txBody>
      </p:sp>
      <p:sp>
        <p:nvSpPr>
          <p:cNvPr id="181" name="exp_text"/>
          <p:cNvSpPr txBox="1"/>
          <p:nvPr/>
        </p:nvSpPr>
        <p:spPr>
          <a:xfrm>
            <a:off x="4058122" y="6997804"/>
            <a:ext cx="770816" cy="234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000000"/>
                </a:solidFill>
                <a:latin typeface="DejaVu Math TeX Gyre"/>
              </a:rPr>
              <a:t>exp(W ξ̂)</a:t>
            </a:r>
          </a:p>
        </p:txBody>
      </p:sp>
      <p:sp>
        <p:nvSpPr>
          <p:cNvPr id="182" name="weight_value_red"/>
          <p:cNvSpPr txBox="1"/>
          <p:nvPr/>
        </p:nvSpPr>
        <p:spPr>
          <a:xfrm>
            <a:off x="4201705" y="7647709"/>
            <a:ext cx="589447" cy="309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3" b="0" i="0">
                <a:solidFill>
                  <a:srgbClr val="FF1A0A"/>
                </a:solidFill>
                <a:latin typeface="DejaVu Math TeX Gyre"/>
              </a:rPr>
              <a:t>0.24</a:t>
            </a:r>
          </a:p>
        </p:txBody>
      </p:sp>
      <p:sp>
        <p:nvSpPr>
          <p:cNvPr id="183" name="weight_value_green"/>
          <p:cNvSpPr txBox="1"/>
          <p:nvPr/>
        </p:nvSpPr>
        <p:spPr>
          <a:xfrm>
            <a:off x="4201705" y="8040674"/>
            <a:ext cx="589447" cy="309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3" b="0" i="0">
                <a:solidFill>
                  <a:srgbClr val="13E600"/>
                </a:solidFill>
                <a:latin typeface="DejaVu Math TeX Gyre"/>
              </a:rPr>
              <a:t>0.75</a:t>
            </a:r>
          </a:p>
        </p:txBody>
      </p:sp>
      <p:sp>
        <p:nvSpPr>
          <p:cNvPr id="184" name="weight_value_blue"/>
          <p:cNvSpPr txBox="1"/>
          <p:nvPr/>
        </p:nvSpPr>
        <p:spPr>
          <a:xfrm>
            <a:off x="4201705" y="8433639"/>
            <a:ext cx="589447" cy="309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3" b="0" i="0">
                <a:solidFill>
                  <a:srgbClr val="1478FF"/>
                </a:solidFill>
                <a:latin typeface="DejaVu Math TeX Gyre"/>
              </a:rPr>
              <a:t>0.01</a:t>
            </a:r>
          </a:p>
        </p:txBody>
      </p:sp>
      <p:sp>
        <p:nvSpPr>
          <p:cNvPr id="185" name="weight_wx"/>
          <p:cNvSpPr txBox="1"/>
          <p:nvPr/>
        </p:nvSpPr>
        <p:spPr>
          <a:xfrm>
            <a:off x="4133692" y="8758591"/>
            <a:ext cx="717917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3" b="1" i="0">
                <a:solidFill>
                  <a:srgbClr val="000000"/>
                </a:solidFill>
                <a:latin typeface="DejaVu Math TeX Gyre"/>
              </a:rPr>
              <a:t>W(x)</a:t>
            </a:r>
          </a:p>
        </p:txBody>
      </p:sp>
      <p:sp>
        <p:nvSpPr>
          <p:cNvPr id="186" name="stage2_renderer_1_line1"/>
          <p:cNvSpPr txBox="1"/>
          <p:nvPr/>
        </p:nvSpPr>
        <p:spPr>
          <a:xfrm>
            <a:off x="9438723" y="6038062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Diff. X-ray</a:t>
            </a:r>
          </a:p>
        </p:txBody>
      </p:sp>
      <p:sp>
        <p:nvSpPr>
          <p:cNvPr id="187" name="stage2_renderer_1_line2"/>
          <p:cNvSpPr txBox="1"/>
          <p:nvPr/>
        </p:nvSpPr>
        <p:spPr>
          <a:xfrm>
            <a:off x="9438723" y="6196760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renderer</a:t>
            </a:r>
          </a:p>
        </p:txBody>
      </p:sp>
      <p:sp>
        <p:nvSpPr>
          <p:cNvPr id="188" name="stage2_renderer_2_line1"/>
          <p:cNvSpPr txBox="1"/>
          <p:nvPr/>
        </p:nvSpPr>
        <p:spPr>
          <a:xfrm>
            <a:off x="9438723" y="7609923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Diff. X-ray</a:t>
            </a:r>
          </a:p>
        </p:txBody>
      </p:sp>
      <p:sp>
        <p:nvSpPr>
          <p:cNvPr id="189" name="stage2_renderer_2_line2"/>
          <p:cNvSpPr txBox="1"/>
          <p:nvPr/>
        </p:nvSpPr>
        <p:spPr>
          <a:xfrm>
            <a:off x="9438723" y="7768621"/>
            <a:ext cx="755702" cy="1586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1" b="0" i="1">
                <a:solidFill>
                  <a:srgbClr val="000000"/>
                </a:solidFill>
                <a:latin typeface="Liberation Sans"/>
              </a:rPr>
              <a:t>renderer</a:t>
            </a:r>
          </a:p>
        </p:txBody>
      </p:sp>
      <p:sp>
        <p:nvSpPr>
          <p:cNvPr id="190" name="stage2_projection1"/>
          <p:cNvSpPr txBox="1"/>
          <p:nvPr/>
        </p:nvSpPr>
        <p:spPr>
          <a:xfrm>
            <a:off x="9272469" y="5652654"/>
            <a:ext cx="1095768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000000"/>
                </a:solidFill>
                <a:latin typeface="DejaVu Math TeX Gyre"/>
              </a:rPr>
              <a:t>𝒫(Π1)</a:t>
            </a:r>
          </a:p>
        </p:txBody>
      </p:sp>
      <p:sp>
        <p:nvSpPr>
          <p:cNvPr id="191" name="stage2_projection2"/>
          <p:cNvSpPr txBox="1"/>
          <p:nvPr/>
        </p:nvSpPr>
        <p:spPr>
          <a:xfrm>
            <a:off x="9272469" y="7224515"/>
            <a:ext cx="1095768" cy="3173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4" b="0" i="0">
                <a:solidFill>
                  <a:srgbClr val="000000"/>
                </a:solidFill>
                <a:latin typeface="DejaVu Math TeX Gyre"/>
              </a:rPr>
              <a:t>𝒫(Π2)</a:t>
            </a:r>
          </a:p>
        </p:txBody>
      </p:sp>
      <p:sp>
        <p:nvSpPr>
          <p:cNvPr id="192" name="stage2_eq3_1"/>
          <p:cNvSpPr txBox="1"/>
          <p:nvPr/>
        </p:nvSpPr>
        <p:spPr>
          <a:xfrm>
            <a:off x="9438723" y="6415914"/>
            <a:ext cx="755702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Eq. (3)</a:t>
            </a:r>
          </a:p>
        </p:txBody>
      </p:sp>
      <p:sp>
        <p:nvSpPr>
          <p:cNvPr id="193" name="stage2_eq3_2"/>
          <p:cNvSpPr txBox="1"/>
          <p:nvPr/>
        </p:nvSpPr>
        <p:spPr>
          <a:xfrm>
            <a:off x="9438723" y="7987775"/>
            <a:ext cx="755702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Eq. (3)</a:t>
            </a:r>
          </a:p>
        </p:txBody>
      </p:sp>
      <p:sp>
        <p:nvSpPr>
          <p:cNvPr id="194" name="stage2_loss_symbol1"/>
          <p:cNvSpPr txBox="1"/>
          <p:nvPr/>
        </p:nvSpPr>
        <p:spPr>
          <a:xfrm>
            <a:off x="12408634" y="5750895"/>
            <a:ext cx="408079" cy="332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2" b="0" i="0">
                <a:solidFill>
                  <a:srgbClr val="000000"/>
                </a:solidFill>
                <a:latin typeface="DejaVu Math TeX Gyre"/>
              </a:rPr>
              <a:t>ℒ</a:t>
            </a:r>
          </a:p>
        </p:txBody>
      </p:sp>
      <p:sp>
        <p:nvSpPr>
          <p:cNvPr id="195" name="stage2_loss_symbol2"/>
          <p:cNvSpPr txBox="1"/>
          <p:nvPr/>
        </p:nvSpPr>
        <p:spPr>
          <a:xfrm>
            <a:off x="12408634" y="7322757"/>
            <a:ext cx="408079" cy="332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2" b="0" i="0">
                <a:solidFill>
                  <a:srgbClr val="000000"/>
                </a:solidFill>
                <a:latin typeface="DejaVu Math TeX Gyre"/>
              </a:rPr>
              <a:t>ℒ</a:t>
            </a:r>
          </a:p>
        </p:txBody>
      </p:sp>
      <p:sp>
        <p:nvSpPr>
          <p:cNvPr id="196" name="stage2_eq7_1"/>
          <p:cNvSpPr txBox="1"/>
          <p:nvPr/>
        </p:nvSpPr>
        <p:spPr>
          <a:xfrm>
            <a:off x="12295279" y="6408357"/>
            <a:ext cx="665018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Eq. (7)</a:t>
            </a:r>
          </a:p>
        </p:txBody>
      </p:sp>
      <p:sp>
        <p:nvSpPr>
          <p:cNvPr id="197" name="stage2_eq7_2"/>
          <p:cNvSpPr txBox="1"/>
          <p:nvPr/>
        </p:nvSpPr>
        <p:spPr>
          <a:xfrm>
            <a:off x="12295279" y="7980218"/>
            <a:ext cx="665018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Eq. (7)</a:t>
            </a:r>
          </a:p>
        </p:txBody>
      </p:sp>
      <p:sp>
        <p:nvSpPr>
          <p:cNvPr id="198" name="weight_field_caption"/>
          <p:cNvSpPr txBox="1"/>
          <p:nvPr/>
        </p:nvSpPr>
        <p:spPr>
          <a:xfrm>
            <a:off x="528991" y="8592337"/>
            <a:ext cx="2947239" cy="2796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Precompute weight field W</a:t>
            </a:r>
          </a:p>
        </p:txBody>
      </p:sp>
      <p:sp>
        <p:nvSpPr>
          <p:cNvPr id="199" name="weight_field_eq6"/>
          <p:cNvSpPr txBox="1"/>
          <p:nvPr/>
        </p:nvSpPr>
        <p:spPr>
          <a:xfrm>
            <a:off x="1541633" y="8871947"/>
            <a:ext cx="944628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Eq. (6)</a:t>
            </a:r>
          </a:p>
        </p:txBody>
      </p:sp>
      <p:sp>
        <p:nvSpPr>
          <p:cNvPr id="200" name="warp_caption"/>
          <p:cNvSpPr txBox="1"/>
          <p:nvPr/>
        </p:nvSpPr>
        <p:spPr>
          <a:xfrm>
            <a:off x="5063206" y="8592337"/>
            <a:ext cx="4194148" cy="287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Sample deformation field Φ and warp V</a:t>
            </a:r>
          </a:p>
        </p:txBody>
      </p:sp>
      <p:sp>
        <p:nvSpPr>
          <p:cNvPr id="201" name="warp_eq4"/>
          <p:cNvSpPr txBox="1"/>
          <p:nvPr/>
        </p:nvSpPr>
        <p:spPr>
          <a:xfrm>
            <a:off x="6687966" y="8871947"/>
            <a:ext cx="906842" cy="256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6" b="0" i="0">
                <a:solidFill>
                  <a:srgbClr val="000000"/>
                </a:solidFill>
                <a:latin typeface="Liberation Sans"/>
              </a:rPr>
              <a:t>Eq. (4)</a:t>
            </a:r>
          </a:p>
        </p:txBody>
      </p:sp>
      <p:sp>
        <p:nvSpPr>
          <p:cNvPr id="202" name="stage2_rendered_title"/>
          <p:cNvSpPr txBox="1"/>
          <p:nvPr/>
        </p:nvSpPr>
        <p:spPr>
          <a:xfrm>
            <a:off x="10557163" y="5191676"/>
            <a:ext cx="1889256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Rendered X-ray</a:t>
            </a:r>
          </a:p>
        </p:txBody>
      </p:sp>
      <p:sp>
        <p:nvSpPr>
          <p:cNvPr id="203" name="stage2_real_title"/>
          <p:cNvSpPr txBox="1"/>
          <p:nvPr/>
        </p:nvSpPr>
        <p:spPr>
          <a:xfrm>
            <a:off x="12846942" y="5191676"/>
            <a:ext cx="1813685" cy="272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ans"/>
              </a:rPr>
              <a:t>Real X-ray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olyPose Deformable 2D3D Registration via Polyrigid Transformation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45514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PolyPose deformable 2D/3D registration workflow</dc:title>
  <dc:subject>Editable reconstruction from a scientific diagram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