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377928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ackground-0001"/>
          <p:cNvSpPr/>
          <p:nvPr/>
        </p:nvSpPr>
        <p:spPr>
          <a:xfrm>
            <a:off x="0" y="0"/>
            <a:ext cx="13779280" cy="914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-band-0002"/>
          <p:cNvSpPr/>
          <p:nvPr/>
        </p:nvSpPr>
        <p:spPr>
          <a:xfrm>
            <a:off x="39550" y="118651"/>
            <a:ext cx="13716000" cy="537882"/>
          </a:xfrm>
          <a:prstGeom prst="rect">
            <a:avLst/>
          </a:prstGeom>
          <a:solidFill>
            <a:srgbClr val="5A9B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-band-0003"/>
          <p:cNvSpPr txBox="1"/>
          <p:nvPr/>
        </p:nvSpPr>
        <p:spPr>
          <a:xfrm>
            <a:off x="3084913" y="181931"/>
            <a:ext cx="7593633" cy="4429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1930" b="1">
                <a:solidFill>
                  <a:srgbClr val="000000"/>
                </a:solidFill>
                <a:latin typeface="Liberation Serif"/>
              </a:rPr>
              <a:t>Adaptive diffusion probability transformation</a:t>
            </a:r>
          </a:p>
        </p:txBody>
      </p:sp>
      <p:sp>
        <p:nvSpPr>
          <p:cNvPr id="5" name="upper-panel-0004"/>
          <p:cNvSpPr/>
          <p:nvPr/>
        </p:nvSpPr>
        <p:spPr>
          <a:xfrm>
            <a:off x="55370" y="656533"/>
            <a:ext cx="13700180" cy="3266844"/>
          </a:xfrm>
          <a:prstGeom prst="rect">
            <a:avLst/>
          </a:prstGeom>
          <a:solidFill>
            <a:srgbClr val="DDEBF4"/>
          </a:solidFill>
          <a:ln w="7910">
            <a:solidFill>
              <a:srgbClr val="C6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ssessment-panel-0005"/>
          <p:cNvSpPr/>
          <p:nvPr/>
        </p:nvSpPr>
        <p:spPr>
          <a:xfrm>
            <a:off x="55370" y="3923377"/>
            <a:ext cx="6415038" cy="5220623"/>
          </a:xfrm>
          <a:prstGeom prst="rect">
            <a:avLst/>
          </a:prstGeom>
          <a:solidFill>
            <a:srgbClr val="F9F4FA"/>
          </a:solidFill>
          <a:ln w="7910">
            <a:solidFill>
              <a:srgbClr val="D9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ptimization-panel-0006"/>
          <p:cNvSpPr/>
          <p:nvPr/>
        </p:nvSpPr>
        <p:spPr>
          <a:xfrm>
            <a:off x="6478318" y="3923377"/>
            <a:ext cx="7277232" cy="5220623"/>
          </a:xfrm>
          <a:prstGeom prst="rect">
            <a:avLst/>
          </a:prstGeom>
          <a:solidFill>
            <a:srgbClr val="FEFAEE"/>
          </a:solidFill>
          <a:ln w="7910">
            <a:solidFill>
              <a:srgbClr val="D9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ssessment-header-0007"/>
          <p:cNvSpPr/>
          <p:nvPr/>
        </p:nvSpPr>
        <p:spPr>
          <a:xfrm>
            <a:off x="55370" y="3931287"/>
            <a:ext cx="6415038" cy="522062"/>
          </a:xfrm>
          <a:prstGeom prst="rect">
            <a:avLst/>
          </a:prstGeom>
          <a:solidFill>
            <a:srgbClr val="EDC8E9"/>
          </a:solidFill>
          <a:ln w="7910">
            <a:solidFill>
              <a:srgbClr val="E1B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ptimization-header-0008"/>
          <p:cNvSpPr/>
          <p:nvPr/>
        </p:nvSpPr>
        <p:spPr>
          <a:xfrm>
            <a:off x="6478318" y="3931287"/>
            <a:ext cx="7277232" cy="522062"/>
          </a:xfrm>
          <a:prstGeom prst="rect">
            <a:avLst/>
          </a:prstGeom>
          <a:solidFill>
            <a:srgbClr val="F1E8C9"/>
          </a:solidFill>
          <a:ln w="7910">
            <a:solidFill>
              <a:srgbClr val="DED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assessment-header-0009"/>
          <p:cNvSpPr txBox="1"/>
          <p:nvPr/>
        </p:nvSpPr>
        <p:spPr>
          <a:xfrm>
            <a:off x="751453" y="3986657"/>
            <a:ext cx="5062422" cy="3955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1806" b="1">
                <a:solidFill>
                  <a:srgbClr val="000000"/>
                </a:solidFill>
                <a:latin typeface="Liberation Serif"/>
              </a:rPr>
              <a:t>Probabilistic reliability assessment</a:t>
            </a:r>
          </a:p>
        </p:txBody>
      </p:sp>
      <p:sp>
        <p:nvSpPr>
          <p:cNvPr id="11" name="optimization-header-0010"/>
          <p:cNvSpPr txBox="1"/>
          <p:nvPr/>
        </p:nvSpPr>
        <p:spPr>
          <a:xfrm>
            <a:off x="7514533" y="3986657"/>
            <a:ext cx="5220623" cy="3955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1806" b="1">
                <a:solidFill>
                  <a:srgbClr val="000000"/>
                </a:solidFill>
                <a:latin typeface="Liberation Serif"/>
              </a:rPr>
              <a:t>Collaborative decision optimization</a:t>
            </a:r>
          </a:p>
        </p:txBody>
      </p:sp>
      <p:sp>
        <p:nvSpPr>
          <p:cNvPr id="12" name="datasets-0011"/>
          <p:cNvSpPr/>
          <p:nvPr/>
        </p:nvSpPr>
        <p:spPr>
          <a:xfrm>
            <a:off x="245211" y="909654"/>
            <a:ext cx="1582007" cy="624893"/>
          </a:xfrm>
          <a:prstGeom prst="rect">
            <a:avLst/>
          </a:prstGeom>
          <a:solidFill>
            <a:srgbClr val="88B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atasets-0012"/>
          <p:cNvSpPr txBox="1"/>
          <p:nvPr/>
        </p:nvSpPr>
        <p:spPr>
          <a:xfrm>
            <a:off x="276851" y="925474"/>
            <a:ext cx="1518727" cy="59325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1743" b="1">
                <a:solidFill>
                  <a:srgbClr val="000000"/>
                </a:solidFill>
                <a:latin typeface="Liberation Serif"/>
              </a:rPr>
              <a:t>Pattern</a:t>
            </a:r>
            <a:br/>
            <a:r>
              <a:rPr sz="1743" b="1">
                <a:solidFill>
                  <a:srgbClr val="000000"/>
                </a:solidFill>
                <a:latin typeface="Liberation Serif"/>
              </a:rPr>
              <a:t>dataset</a:t>
            </a:r>
          </a:p>
        </p:txBody>
      </p:sp>
      <p:sp>
        <p:nvSpPr>
          <p:cNvPr id="14" name="datasets-0013"/>
          <p:cNvSpPr/>
          <p:nvPr/>
        </p:nvSpPr>
        <p:spPr>
          <a:xfrm>
            <a:off x="245211" y="1589917"/>
            <a:ext cx="1582007" cy="1020394"/>
          </a:xfrm>
          <a:prstGeom prst="rect">
            <a:avLst/>
          </a:prstGeom>
          <a:solidFill>
            <a:srgbClr val="88B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atasets-0014"/>
          <p:cNvSpPr txBox="1"/>
          <p:nvPr/>
        </p:nvSpPr>
        <p:spPr>
          <a:xfrm>
            <a:off x="276851" y="1605737"/>
            <a:ext cx="1518727" cy="98875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1743" b="1">
                <a:solidFill>
                  <a:srgbClr val="000000"/>
                </a:solidFill>
                <a:latin typeface="Liberation Serif"/>
              </a:rPr>
              <a:t>Image</a:t>
            </a:r>
            <a:br/>
            <a:r>
              <a:rPr sz="1743" b="1">
                <a:solidFill>
                  <a:srgbClr val="000000"/>
                </a:solidFill>
                <a:latin typeface="Liberation Serif"/>
              </a:rPr>
              <a:t>classification</a:t>
            </a:r>
            <a:br/>
            <a:r>
              <a:rPr sz="1743" b="1">
                <a:solidFill>
                  <a:srgbClr val="000000"/>
                </a:solidFill>
                <a:latin typeface="Liberation Serif"/>
              </a:rPr>
              <a:t>dataset</a:t>
            </a:r>
          </a:p>
        </p:txBody>
      </p:sp>
      <p:sp>
        <p:nvSpPr>
          <p:cNvPr id="16" name="datasets-0015"/>
          <p:cNvSpPr/>
          <p:nvPr/>
        </p:nvSpPr>
        <p:spPr>
          <a:xfrm>
            <a:off x="245211" y="2665682"/>
            <a:ext cx="1582007" cy="767273"/>
          </a:xfrm>
          <a:prstGeom prst="rect">
            <a:avLst/>
          </a:prstGeom>
          <a:solidFill>
            <a:srgbClr val="88B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atasets-0016"/>
          <p:cNvSpPr txBox="1"/>
          <p:nvPr/>
        </p:nvSpPr>
        <p:spPr>
          <a:xfrm>
            <a:off x="276851" y="2681502"/>
            <a:ext cx="1518727" cy="73563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1743" b="1">
                <a:solidFill>
                  <a:srgbClr val="000000"/>
                </a:solidFill>
                <a:latin typeface="Liberation Serif"/>
              </a:rPr>
              <a:t>Low-light</a:t>
            </a:r>
            <a:br/>
            <a:r>
              <a:rPr sz="1743" b="1">
                <a:solidFill>
                  <a:srgbClr val="000000"/>
                </a:solidFill>
                <a:latin typeface="Liberation Serif"/>
              </a:rPr>
              <a:t>dataset</a:t>
            </a:r>
          </a:p>
        </p:txBody>
      </p:sp>
      <p:sp>
        <p:nvSpPr>
          <p:cNvPr id="18" name="dataset-arrows-0017"/>
          <p:cNvSpPr/>
          <p:nvPr/>
        </p:nvSpPr>
        <p:spPr>
          <a:xfrm>
            <a:off x="1906318" y="1313066"/>
            <a:ext cx="419232" cy="221481"/>
          </a:xfrm>
          <a:custGeom>
            <a:avLst/>
            <a:gdLst/>
            <a:ahLst/>
            <a:cxnLst/>
            <a:rect l="l" t="t" r="r" b="b"/>
            <a:pathLst>
              <a:path w="53" h="28">
                <a:moveTo>
                  <a:pt x="0" y="7"/>
                </a:moveTo>
                <a:lnTo>
                  <a:pt x="33" y="7"/>
                </a:lnTo>
                <a:lnTo>
                  <a:pt x="33" y="0"/>
                </a:lnTo>
                <a:lnTo>
                  <a:pt x="53" y="14"/>
                </a:lnTo>
                <a:lnTo>
                  <a:pt x="33" y="28"/>
                </a:lnTo>
                <a:lnTo>
                  <a:pt x="33" y="21"/>
                </a:lnTo>
                <a:lnTo>
                  <a:pt x="0" y="21"/>
                </a:lnTo>
                <a:close/>
              </a:path>
            </a:pathLst>
          </a:custGeom>
          <a:solidFill>
            <a:srgbClr val="FEFAEE"/>
          </a:solidFill>
          <a:ln w="15820">
            <a:solidFill>
              <a:srgbClr val="F4A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ataset-arrows-0018"/>
          <p:cNvSpPr/>
          <p:nvPr/>
        </p:nvSpPr>
        <p:spPr>
          <a:xfrm>
            <a:off x="1906318" y="2808062"/>
            <a:ext cx="419232" cy="221481"/>
          </a:xfrm>
          <a:custGeom>
            <a:avLst/>
            <a:gdLst/>
            <a:ahLst/>
            <a:cxnLst/>
            <a:rect l="l" t="t" r="r" b="b"/>
            <a:pathLst>
              <a:path w="53" h="28">
                <a:moveTo>
                  <a:pt x="0" y="7"/>
                </a:moveTo>
                <a:lnTo>
                  <a:pt x="33" y="7"/>
                </a:lnTo>
                <a:lnTo>
                  <a:pt x="33" y="0"/>
                </a:lnTo>
                <a:lnTo>
                  <a:pt x="53" y="14"/>
                </a:lnTo>
                <a:lnTo>
                  <a:pt x="33" y="28"/>
                </a:lnTo>
                <a:lnTo>
                  <a:pt x="33" y="21"/>
                </a:lnTo>
                <a:lnTo>
                  <a:pt x="0" y="21"/>
                </a:lnTo>
                <a:close/>
              </a:path>
            </a:pathLst>
          </a:custGeom>
          <a:solidFill>
            <a:srgbClr val="FEFAEE"/>
          </a:solidFill>
          <a:ln w="15820">
            <a:solidFill>
              <a:srgbClr val="5D8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eature-card-0019"/>
          <p:cNvSpPr/>
          <p:nvPr/>
        </p:nvSpPr>
        <p:spPr>
          <a:xfrm>
            <a:off x="2246450" y="838464"/>
            <a:ext cx="2895073" cy="2673592"/>
          </a:xfrm>
          <a:prstGeom prst="roundRect">
            <a:avLst>
              <a:gd name="adj" fmla="val 10059"/>
            </a:avLst>
          </a:prstGeom>
          <a:solidFill>
            <a:srgbClr val="B9D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eature-card-0020"/>
          <p:cNvSpPr/>
          <p:nvPr/>
        </p:nvSpPr>
        <p:spPr>
          <a:xfrm>
            <a:off x="2206900" y="791003"/>
            <a:ext cx="2895073" cy="2673592"/>
          </a:xfrm>
          <a:prstGeom prst="roundRect">
            <a:avLst>
              <a:gd name="adj" fmla="val 10059"/>
            </a:avLst>
          </a:prstGeom>
          <a:solidFill>
            <a:srgbClr val="E9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eature-extractor-0021"/>
          <p:cNvSpPr/>
          <p:nvPr/>
        </p:nvSpPr>
        <p:spPr>
          <a:xfrm>
            <a:off x="2420471" y="1028304"/>
            <a:ext cx="1249785" cy="672353"/>
          </a:xfrm>
          <a:custGeom>
            <a:avLst/>
            <a:gdLst/>
            <a:ahLst/>
            <a:cxnLst/>
            <a:rect l="l" t="t" r="r" b="b"/>
            <a:pathLst>
              <a:path w="158" h="85">
                <a:moveTo>
                  <a:pt x="0" y="85"/>
                </a:moveTo>
                <a:lnTo>
                  <a:pt x="100" y="0"/>
                </a:lnTo>
                <a:lnTo>
                  <a:pt x="158" y="0"/>
                </a:lnTo>
                <a:lnTo>
                  <a:pt x="59" y="85"/>
                </a:lnTo>
                <a:close/>
              </a:path>
            </a:pathLst>
          </a:custGeom>
          <a:solidFill>
            <a:srgbClr val="C7DFF2"/>
          </a:solidFill>
          <a:ln w="7910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eature-extractor-0022"/>
          <p:cNvSpPr/>
          <p:nvPr/>
        </p:nvSpPr>
        <p:spPr>
          <a:xfrm>
            <a:off x="2420471" y="1700657"/>
            <a:ext cx="466692" cy="1526637"/>
          </a:xfrm>
          <a:prstGeom prst="rect">
            <a:avLst/>
          </a:prstGeom>
          <a:solidFill>
            <a:srgbClr val="9AC0E4"/>
          </a:solidFill>
          <a:ln w="7910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feature-extractor-0023"/>
          <p:cNvCxnSpPr/>
          <p:nvPr/>
        </p:nvCxnSpPr>
        <p:spPr>
          <a:xfrm>
            <a:off x="2649862" y="1700657"/>
            <a:ext cx="0" cy="1526637"/>
          </a:xfrm>
          <a:prstGeom prst="line">
            <a:avLst/>
          </a:prstGeom>
          <a:ln w="7910">
            <a:solidFill>
              <a:srgbClr val="1C27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feature-extractor-0024"/>
          <p:cNvCxnSpPr/>
          <p:nvPr/>
        </p:nvCxnSpPr>
        <p:spPr>
          <a:xfrm flipH="1">
            <a:off x="2649862" y="1028304"/>
            <a:ext cx="791003" cy="672353"/>
          </a:xfrm>
          <a:prstGeom prst="line">
            <a:avLst/>
          </a:prstGeom>
          <a:ln w="7910">
            <a:solidFill>
              <a:srgbClr val="1C27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feature-extractor-0025"/>
          <p:cNvSpPr/>
          <p:nvPr/>
        </p:nvSpPr>
        <p:spPr>
          <a:xfrm>
            <a:off x="2887163" y="1028304"/>
            <a:ext cx="783093" cy="2198990"/>
          </a:xfrm>
          <a:custGeom>
            <a:avLst/>
            <a:gdLst/>
            <a:ahLst/>
            <a:cxnLst/>
            <a:rect l="l" t="t" r="r" b="b"/>
            <a:pathLst>
              <a:path w="99" h="278">
                <a:moveTo>
                  <a:pt x="0" y="85"/>
                </a:moveTo>
                <a:lnTo>
                  <a:pt x="99" y="0"/>
                </a:lnTo>
                <a:lnTo>
                  <a:pt x="99" y="52"/>
                </a:lnTo>
                <a:lnTo>
                  <a:pt x="29" y="110"/>
                </a:lnTo>
                <a:lnTo>
                  <a:pt x="29" y="238"/>
                </a:lnTo>
                <a:lnTo>
                  <a:pt x="0" y="278"/>
                </a:lnTo>
                <a:close/>
              </a:path>
            </a:pathLst>
          </a:custGeom>
          <a:solidFill>
            <a:srgbClr val="6FA7D8"/>
          </a:solidFill>
          <a:ln w="7910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eature-extractor-0026"/>
          <p:cNvSpPr/>
          <p:nvPr/>
        </p:nvSpPr>
        <p:spPr>
          <a:xfrm>
            <a:off x="3116554" y="1439626"/>
            <a:ext cx="1059945" cy="458782"/>
          </a:xfrm>
          <a:custGeom>
            <a:avLst/>
            <a:gdLst/>
            <a:ahLst/>
            <a:cxnLst/>
            <a:rect l="l" t="t" r="r" b="b"/>
            <a:pathLst>
              <a:path w="134" h="58">
                <a:moveTo>
                  <a:pt x="0" y="58"/>
                </a:moveTo>
                <a:lnTo>
                  <a:pt x="70" y="0"/>
                </a:lnTo>
                <a:lnTo>
                  <a:pt x="134" y="0"/>
                </a:lnTo>
                <a:lnTo>
                  <a:pt x="67" y="58"/>
                </a:lnTo>
                <a:close/>
              </a:path>
            </a:pathLst>
          </a:custGeom>
          <a:solidFill>
            <a:srgbClr val="F3F7FA"/>
          </a:solidFill>
          <a:ln w="7910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eature-extractor-0027"/>
          <p:cNvSpPr/>
          <p:nvPr/>
        </p:nvSpPr>
        <p:spPr>
          <a:xfrm>
            <a:off x="3116554" y="1898408"/>
            <a:ext cx="537882" cy="1012484"/>
          </a:xfrm>
          <a:prstGeom prst="rect">
            <a:avLst/>
          </a:prstGeom>
          <a:solidFill>
            <a:srgbClr val="DEEAF6"/>
          </a:solidFill>
          <a:ln w="7910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feature-extractor-0028"/>
          <p:cNvCxnSpPr/>
          <p:nvPr/>
        </p:nvCxnSpPr>
        <p:spPr>
          <a:xfrm>
            <a:off x="3290574" y="1898408"/>
            <a:ext cx="0" cy="1012485"/>
          </a:xfrm>
          <a:prstGeom prst="line">
            <a:avLst/>
          </a:prstGeom>
          <a:ln w="6328">
            <a:solidFill>
              <a:srgbClr val="1C27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feature-extractor-0029"/>
          <p:cNvCxnSpPr/>
          <p:nvPr/>
        </p:nvCxnSpPr>
        <p:spPr>
          <a:xfrm>
            <a:off x="3464595" y="1898408"/>
            <a:ext cx="0" cy="1012485"/>
          </a:xfrm>
          <a:prstGeom prst="line">
            <a:avLst/>
          </a:prstGeom>
          <a:ln w="6328">
            <a:solidFill>
              <a:srgbClr val="1C27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feature-extractor-0030"/>
          <p:cNvSpPr/>
          <p:nvPr/>
        </p:nvSpPr>
        <p:spPr>
          <a:xfrm>
            <a:off x="3654436" y="1439626"/>
            <a:ext cx="522062" cy="1471266"/>
          </a:xfrm>
          <a:custGeom>
            <a:avLst/>
            <a:gdLst/>
            <a:ahLst/>
            <a:cxnLst/>
            <a:rect l="l" t="t" r="r" b="b"/>
            <a:pathLst>
              <a:path w="66" h="186">
                <a:moveTo>
                  <a:pt x="0" y="58"/>
                </a:moveTo>
                <a:lnTo>
                  <a:pt x="66" y="0"/>
                </a:lnTo>
                <a:lnTo>
                  <a:pt x="66" y="51"/>
                </a:lnTo>
                <a:lnTo>
                  <a:pt x="15" y="94"/>
                </a:lnTo>
                <a:lnTo>
                  <a:pt x="15" y="162"/>
                </a:lnTo>
                <a:lnTo>
                  <a:pt x="0" y="186"/>
                </a:lnTo>
                <a:close/>
              </a:path>
            </a:pathLst>
          </a:custGeom>
          <a:solidFill>
            <a:srgbClr val="AFC5D9"/>
          </a:solidFill>
          <a:ln w="7910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eature-extractor-0031"/>
          <p:cNvSpPr/>
          <p:nvPr/>
        </p:nvSpPr>
        <p:spPr>
          <a:xfrm>
            <a:off x="3773086" y="1843038"/>
            <a:ext cx="885924" cy="340131"/>
          </a:xfrm>
          <a:custGeom>
            <a:avLst/>
            <a:gdLst/>
            <a:ahLst/>
            <a:cxnLst/>
            <a:rect l="l" t="t" r="r" b="b"/>
            <a:pathLst>
              <a:path w="112" h="43">
                <a:moveTo>
                  <a:pt x="0" y="43"/>
                </a:moveTo>
                <a:lnTo>
                  <a:pt x="51" y="0"/>
                </a:lnTo>
                <a:lnTo>
                  <a:pt x="112" y="0"/>
                </a:lnTo>
                <a:lnTo>
                  <a:pt x="71" y="36"/>
                </a:lnTo>
                <a:close/>
              </a:path>
            </a:pathLst>
          </a:custGeom>
          <a:solidFill>
            <a:srgbClr val="D6E1F2"/>
          </a:solidFill>
          <a:ln w="7910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eature-extractor-0032"/>
          <p:cNvSpPr/>
          <p:nvPr/>
        </p:nvSpPr>
        <p:spPr>
          <a:xfrm>
            <a:off x="3773086" y="2183170"/>
            <a:ext cx="569522" cy="537882"/>
          </a:xfrm>
          <a:prstGeom prst="rect">
            <a:avLst/>
          </a:prstGeom>
          <a:solidFill>
            <a:srgbClr val="B5C5E7"/>
          </a:solidFill>
          <a:ln w="7910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feature-extractor-0033"/>
          <p:cNvCxnSpPr/>
          <p:nvPr/>
        </p:nvCxnSpPr>
        <p:spPr>
          <a:xfrm>
            <a:off x="3915467" y="2183170"/>
            <a:ext cx="0" cy="537882"/>
          </a:xfrm>
          <a:prstGeom prst="line">
            <a:avLst/>
          </a:prstGeom>
          <a:ln w="6328">
            <a:solidFill>
              <a:srgbClr val="1C27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feature-extractor-0034"/>
          <p:cNvCxnSpPr/>
          <p:nvPr/>
        </p:nvCxnSpPr>
        <p:spPr>
          <a:xfrm>
            <a:off x="4057848" y="2183170"/>
            <a:ext cx="0" cy="537882"/>
          </a:xfrm>
          <a:prstGeom prst="line">
            <a:avLst/>
          </a:prstGeom>
          <a:ln w="6328">
            <a:solidFill>
              <a:srgbClr val="1C27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feature-extractor-0035"/>
          <p:cNvCxnSpPr/>
          <p:nvPr/>
        </p:nvCxnSpPr>
        <p:spPr>
          <a:xfrm>
            <a:off x="4200228" y="2183170"/>
            <a:ext cx="0" cy="537882"/>
          </a:xfrm>
          <a:prstGeom prst="line">
            <a:avLst/>
          </a:prstGeom>
          <a:ln w="6328">
            <a:solidFill>
              <a:srgbClr val="1C27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feature-extractor-0036"/>
          <p:cNvSpPr/>
          <p:nvPr/>
        </p:nvSpPr>
        <p:spPr>
          <a:xfrm>
            <a:off x="4342609" y="1843038"/>
            <a:ext cx="316401" cy="878014"/>
          </a:xfrm>
          <a:custGeom>
            <a:avLst/>
            <a:gdLst/>
            <a:ahLst/>
            <a:cxnLst/>
            <a:rect l="l" t="t" r="r" b="b"/>
            <a:pathLst>
              <a:path w="40" h="111">
                <a:moveTo>
                  <a:pt x="0" y="43"/>
                </a:moveTo>
                <a:lnTo>
                  <a:pt x="40" y="0"/>
                </a:lnTo>
                <a:lnTo>
                  <a:pt x="40" y="36"/>
                </a:lnTo>
                <a:lnTo>
                  <a:pt x="19" y="54"/>
                </a:lnTo>
                <a:lnTo>
                  <a:pt x="19" y="86"/>
                </a:lnTo>
                <a:lnTo>
                  <a:pt x="0" y="111"/>
                </a:lnTo>
                <a:close/>
              </a:path>
            </a:pathLst>
          </a:custGeom>
          <a:solidFill>
            <a:srgbClr val="809BC8"/>
          </a:solidFill>
          <a:ln w="7910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eature-extractor-0037"/>
          <p:cNvSpPr/>
          <p:nvPr/>
        </p:nvSpPr>
        <p:spPr>
          <a:xfrm>
            <a:off x="4492900" y="2127799"/>
            <a:ext cx="498332" cy="142381"/>
          </a:xfrm>
          <a:custGeom>
            <a:avLst/>
            <a:gdLst/>
            <a:ahLst/>
            <a:cxnLst/>
            <a:rect l="l" t="t" r="r" b="b"/>
            <a:pathLst>
              <a:path w="63" h="18">
                <a:moveTo>
                  <a:pt x="0" y="18"/>
                </a:moveTo>
                <a:lnTo>
                  <a:pt x="21" y="0"/>
                </a:lnTo>
                <a:lnTo>
                  <a:pt x="63" y="0"/>
                </a:lnTo>
                <a:lnTo>
                  <a:pt x="44" y="18"/>
                </a:lnTo>
                <a:close/>
              </a:path>
            </a:pathLst>
          </a:custGeom>
          <a:solidFill>
            <a:srgbClr val="FFFFFF"/>
          </a:solidFill>
          <a:ln w="7910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eature-extractor-0038"/>
          <p:cNvSpPr/>
          <p:nvPr/>
        </p:nvSpPr>
        <p:spPr>
          <a:xfrm>
            <a:off x="4492900" y="2270180"/>
            <a:ext cx="348042" cy="253121"/>
          </a:xfrm>
          <a:prstGeom prst="rect">
            <a:avLst/>
          </a:prstGeom>
          <a:solidFill>
            <a:srgbClr val="DEEAF6"/>
          </a:solidFill>
          <a:ln w="7910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feature-extractor-0039"/>
          <p:cNvCxnSpPr/>
          <p:nvPr/>
        </p:nvCxnSpPr>
        <p:spPr>
          <a:xfrm>
            <a:off x="4579910" y="2270180"/>
            <a:ext cx="0" cy="253121"/>
          </a:xfrm>
          <a:prstGeom prst="line">
            <a:avLst/>
          </a:prstGeom>
          <a:ln w="6328">
            <a:solidFill>
              <a:srgbClr val="1C27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feature-extractor-0040"/>
          <p:cNvCxnSpPr/>
          <p:nvPr/>
        </p:nvCxnSpPr>
        <p:spPr>
          <a:xfrm>
            <a:off x="4666920" y="2270180"/>
            <a:ext cx="0" cy="253121"/>
          </a:xfrm>
          <a:prstGeom prst="line">
            <a:avLst/>
          </a:prstGeom>
          <a:ln w="6328">
            <a:solidFill>
              <a:srgbClr val="1C27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feature-extractor-0041"/>
          <p:cNvCxnSpPr/>
          <p:nvPr/>
        </p:nvCxnSpPr>
        <p:spPr>
          <a:xfrm>
            <a:off x="4753931" y="2270180"/>
            <a:ext cx="0" cy="253121"/>
          </a:xfrm>
          <a:prstGeom prst="line">
            <a:avLst/>
          </a:prstGeom>
          <a:ln w="6328">
            <a:solidFill>
              <a:srgbClr val="1C27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feature-extractor-0042"/>
          <p:cNvSpPr/>
          <p:nvPr/>
        </p:nvSpPr>
        <p:spPr>
          <a:xfrm>
            <a:off x="4840941" y="2127799"/>
            <a:ext cx="150291" cy="395502"/>
          </a:xfrm>
          <a:custGeom>
            <a:avLst/>
            <a:gdLst/>
            <a:ahLst/>
            <a:cxnLst/>
            <a:rect l="l" t="t" r="r" b="b"/>
            <a:pathLst>
              <a:path w="19" h="50">
                <a:moveTo>
                  <a:pt x="0" y="18"/>
                </a:moveTo>
                <a:lnTo>
                  <a:pt x="19" y="0"/>
                </a:lnTo>
                <a:lnTo>
                  <a:pt x="19" y="31"/>
                </a:lnTo>
                <a:lnTo>
                  <a:pt x="0" y="50"/>
                </a:lnTo>
                <a:close/>
              </a:path>
            </a:pathLst>
          </a:custGeom>
          <a:solidFill>
            <a:srgbClr val="AEC4D2"/>
          </a:solidFill>
          <a:ln w="7910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eature-caption-0043"/>
          <p:cNvSpPr txBox="1"/>
          <p:nvPr/>
        </p:nvSpPr>
        <p:spPr>
          <a:xfrm>
            <a:off x="2467931" y="3504145"/>
            <a:ext cx="2452111" cy="34013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1806" b="1">
                <a:solidFill>
                  <a:srgbClr val="000000"/>
                </a:solidFill>
                <a:latin typeface="Liberation Serif"/>
              </a:rPr>
              <a:t>Feature generation</a:t>
            </a:r>
          </a:p>
        </p:txBody>
      </p:sp>
      <p:sp>
        <p:nvSpPr>
          <p:cNvPr id="45" name="feature-arrows-0044"/>
          <p:cNvSpPr/>
          <p:nvPr/>
        </p:nvSpPr>
        <p:spPr>
          <a:xfrm>
            <a:off x="4999142" y="1320976"/>
            <a:ext cx="442962" cy="221481"/>
          </a:xfrm>
          <a:custGeom>
            <a:avLst/>
            <a:gdLst/>
            <a:ahLst/>
            <a:cxnLst/>
            <a:rect l="l" t="t" r="r" b="b"/>
            <a:pathLst>
              <a:path w="56" h="28">
                <a:moveTo>
                  <a:pt x="0" y="7"/>
                </a:moveTo>
                <a:lnTo>
                  <a:pt x="35" y="7"/>
                </a:lnTo>
                <a:lnTo>
                  <a:pt x="35" y="0"/>
                </a:lnTo>
                <a:lnTo>
                  <a:pt x="56" y="14"/>
                </a:lnTo>
                <a:lnTo>
                  <a:pt x="35" y="28"/>
                </a:lnTo>
                <a:lnTo>
                  <a:pt x="35" y="21"/>
                </a:lnTo>
                <a:lnTo>
                  <a:pt x="0" y="21"/>
                </a:lnTo>
                <a:close/>
              </a:path>
            </a:pathLst>
          </a:custGeom>
          <a:solidFill>
            <a:srgbClr val="FEFAEE"/>
          </a:solidFill>
          <a:ln w="15820">
            <a:solidFill>
              <a:srgbClr val="F4A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eature-arrows-0045"/>
          <p:cNvSpPr/>
          <p:nvPr/>
        </p:nvSpPr>
        <p:spPr>
          <a:xfrm>
            <a:off x="4999142" y="2823882"/>
            <a:ext cx="442962" cy="221481"/>
          </a:xfrm>
          <a:custGeom>
            <a:avLst/>
            <a:gdLst/>
            <a:ahLst/>
            <a:cxnLst/>
            <a:rect l="l" t="t" r="r" b="b"/>
            <a:pathLst>
              <a:path w="56" h="28">
                <a:moveTo>
                  <a:pt x="0" y="7"/>
                </a:moveTo>
                <a:lnTo>
                  <a:pt x="35" y="7"/>
                </a:lnTo>
                <a:lnTo>
                  <a:pt x="35" y="0"/>
                </a:lnTo>
                <a:lnTo>
                  <a:pt x="56" y="14"/>
                </a:lnTo>
                <a:lnTo>
                  <a:pt x="35" y="28"/>
                </a:lnTo>
                <a:lnTo>
                  <a:pt x="35" y="21"/>
                </a:lnTo>
                <a:lnTo>
                  <a:pt x="0" y="21"/>
                </a:lnTo>
                <a:close/>
              </a:path>
            </a:pathLst>
          </a:custGeom>
          <a:solidFill>
            <a:srgbClr val="FEFAEE"/>
          </a:solidFill>
          <a:ln w="15820">
            <a:solidFill>
              <a:srgbClr val="5D8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bba-group-1-0046"/>
          <p:cNvSpPr/>
          <p:nvPr/>
        </p:nvSpPr>
        <p:spPr>
          <a:xfrm>
            <a:off x="5473744" y="822644"/>
            <a:ext cx="2428381" cy="791003"/>
          </a:xfrm>
          <a:prstGeom prst="roundRect">
            <a:avLst>
              <a:gd name="adj" fmla="val 16000"/>
            </a:avLst>
          </a:prstGeom>
          <a:noFill/>
          <a:ln w="15820">
            <a:solidFill>
              <a:srgbClr val="F7A9D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bba-group-1-0047"/>
          <p:cNvSpPr/>
          <p:nvPr/>
        </p:nvSpPr>
        <p:spPr>
          <a:xfrm>
            <a:off x="5616124" y="885924"/>
            <a:ext cx="189841" cy="158201"/>
          </a:xfrm>
          <a:prstGeom prst="rect">
            <a:avLst/>
          </a:prstGeom>
          <a:solidFill>
            <a:srgbClr val="FFDAD4"/>
          </a:solidFill>
          <a:ln w="7119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bba-group-1-0048"/>
          <p:cNvSpPr/>
          <p:nvPr/>
        </p:nvSpPr>
        <p:spPr>
          <a:xfrm>
            <a:off x="5616124" y="862194"/>
            <a:ext cx="229391" cy="23730"/>
          </a:xfrm>
          <a:custGeom>
            <a:avLst/>
            <a:gdLst/>
            <a:ahLst/>
            <a:cxnLst/>
            <a:rect l="l" t="t" r="r" b="b"/>
            <a:pathLst>
              <a:path w="29" h="3">
                <a:moveTo>
                  <a:pt x="0" y="3"/>
                </a:moveTo>
                <a:lnTo>
                  <a:pt x="5" y="0"/>
                </a:lnTo>
                <a:lnTo>
                  <a:pt x="29" y="0"/>
                </a:lnTo>
                <a:lnTo>
                  <a:pt x="24" y="3"/>
                </a:lnTo>
                <a:close/>
              </a:path>
            </a:pathLst>
          </a:custGeom>
          <a:solidFill>
            <a:srgbClr val="F8F8F8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bba-group-1-0049"/>
          <p:cNvSpPr/>
          <p:nvPr/>
        </p:nvSpPr>
        <p:spPr>
          <a:xfrm>
            <a:off x="5805965" y="862194"/>
            <a:ext cx="39550" cy="181931"/>
          </a:xfrm>
          <a:custGeom>
            <a:avLst/>
            <a:gdLst/>
            <a:ahLst/>
            <a:cxnLst/>
            <a:rect l="l" t="t" r="r" b="b"/>
            <a:pathLst>
              <a:path w="5" h="23">
                <a:moveTo>
                  <a:pt x="0" y="3"/>
                </a:moveTo>
                <a:lnTo>
                  <a:pt x="5" y="0"/>
                </a:lnTo>
                <a:lnTo>
                  <a:pt x="5" y="20"/>
                </a:lnTo>
                <a:lnTo>
                  <a:pt x="0" y="23"/>
                </a:lnTo>
                <a:close/>
              </a:path>
            </a:pathLst>
          </a:custGeom>
          <a:solidFill>
            <a:srgbClr val="D0D0D0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bba-group-1-0050"/>
          <p:cNvSpPr/>
          <p:nvPr/>
        </p:nvSpPr>
        <p:spPr>
          <a:xfrm>
            <a:off x="5813875" y="885924"/>
            <a:ext cx="189841" cy="158201"/>
          </a:xfrm>
          <a:prstGeom prst="rect">
            <a:avLst/>
          </a:prstGeom>
          <a:solidFill>
            <a:srgbClr val="FFDAD4"/>
          </a:solidFill>
          <a:ln w="7119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bba-group-1-0051"/>
          <p:cNvSpPr/>
          <p:nvPr/>
        </p:nvSpPr>
        <p:spPr>
          <a:xfrm>
            <a:off x="5813875" y="862194"/>
            <a:ext cx="229391" cy="23730"/>
          </a:xfrm>
          <a:custGeom>
            <a:avLst/>
            <a:gdLst/>
            <a:ahLst/>
            <a:cxnLst/>
            <a:rect l="l" t="t" r="r" b="b"/>
            <a:pathLst>
              <a:path w="29" h="3">
                <a:moveTo>
                  <a:pt x="0" y="3"/>
                </a:moveTo>
                <a:lnTo>
                  <a:pt x="5" y="0"/>
                </a:lnTo>
                <a:lnTo>
                  <a:pt x="29" y="0"/>
                </a:lnTo>
                <a:lnTo>
                  <a:pt x="24" y="3"/>
                </a:lnTo>
                <a:close/>
              </a:path>
            </a:pathLst>
          </a:custGeom>
          <a:solidFill>
            <a:srgbClr val="F8F8F8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bba-group-1-0052"/>
          <p:cNvSpPr/>
          <p:nvPr/>
        </p:nvSpPr>
        <p:spPr>
          <a:xfrm>
            <a:off x="6003716" y="862194"/>
            <a:ext cx="39550" cy="181931"/>
          </a:xfrm>
          <a:custGeom>
            <a:avLst/>
            <a:gdLst/>
            <a:ahLst/>
            <a:cxnLst/>
            <a:rect l="l" t="t" r="r" b="b"/>
            <a:pathLst>
              <a:path w="5" h="23">
                <a:moveTo>
                  <a:pt x="0" y="3"/>
                </a:moveTo>
                <a:lnTo>
                  <a:pt x="5" y="0"/>
                </a:lnTo>
                <a:lnTo>
                  <a:pt x="5" y="20"/>
                </a:lnTo>
                <a:lnTo>
                  <a:pt x="0" y="23"/>
                </a:lnTo>
                <a:close/>
              </a:path>
            </a:pathLst>
          </a:custGeom>
          <a:solidFill>
            <a:srgbClr val="D0D0D0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bba-group-1-0053"/>
          <p:cNvSpPr/>
          <p:nvPr/>
        </p:nvSpPr>
        <p:spPr>
          <a:xfrm>
            <a:off x="6011626" y="885924"/>
            <a:ext cx="189841" cy="158201"/>
          </a:xfrm>
          <a:prstGeom prst="rect">
            <a:avLst/>
          </a:prstGeom>
          <a:solidFill>
            <a:srgbClr val="FFDAD4"/>
          </a:solidFill>
          <a:ln w="7119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bba-group-1-0054"/>
          <p:cNvSpPr/>
          <p:nvPr/>
        </p:nvSpPr>
        <p:spPr>
          <a:xfrm>
            <a:off x="6011626" y="862194"/>
            <a:ext cx="229391" cy="23730"/>
          </a:xfrm>
          <a:custGeom>
            <a:avLst/>
            <a:gdLst/>
            <a:ahLst/>
            <a:cxnLst/>
            <a:rect l="l" t="t" r="r" b="b"/>
            <a:pathLst>
              <a:path w="29" h="3">
                <a:moveTo>
                  <a:pt x="0" y="3"/>
                </a:moveTo>
                <a:lnTo>
                  <a:pt x="5" y="0"/>
                </a:lnTo>
                <a:lnTo>
                  <a:pt x="29" y="0"/>
                </a:lnTo>
                <a:lnTo>
                  <a:pt x="24" y="3"/>
                </a:lnTo>
                <a:close/>
              </a:path>
            </a:pathLst>
          </a:custGeom>
          <a:solidFill>
            <a:srgbClr val="F8F8F8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bba-group-1-0055"/>
          <p:cNvSpPr/>
          <p:nvPr/>
        </p:nvSpPr>
        <p:spPr>
          <a:xfrm>
            <a:off x="6201467" y="862194"/>
            <a:ext cx="39550" cy="181931"/>
          </a:xfrm>
          <a:custGeom>
            <a:avLst/>
            <a:gdLst/>
            <a:ahLst/>
            <a:cxnLst/>
            <a:rect l="l" t="t" r="r" b="b"/>
            <a:pathLst>
              <a:path w="5" h="23">
                <a:moveTo>
                  <a:pt x="0" y="3"/>
                </a:moveTo>
                <a:lnTo>
                  <a:pt x="5" y="0"/>
                </a:lnTo>
                <a:lnTo>
                  <a:pt x="5" y="20"/>
                </a:lnTo>
                <a:lnTo>
                  <a:pt x="0" y="23"/>
                </a:lnTo>
                <a:close/>
              </a:path>
            </a:pathLst>
          </a:custGeom>
          <a:solidFill>
            <a:srgbClr val="D0D0D0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bba-group-1-0056"/>
          <p:cNvSpPr/>
          <p:nvPr/>
        </p:nvSpPr>
        <p:spPr>
          <a:xfrm>
            <a:off x="6209377" y="885924"/>
            <a:ext cx="189841" cy="158201"/>
          </a:xfrm>
          <a:prstGeom prst="rect">
            <a:avLst/>
          </a:prstGeom>
          <a:solidFill>
            <a:srgbClr val="FFDAD4"/>
          </a:solidFill>
          <a:ln w="7119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bba-group-1-0057"/>
          <p:cNvSpPr/>
          <p:nvPr/>
        </p:nvSpPr>
        <p:spPr>
          <a:xfrm>
            <a:off x="6209377" y="862194"/>
            <a:ext cx="229391" cy="23730"/>
          </a:xfrm>
          <a:custGeom>
            <a:avLst/>
            <a:gdLst/>
            <a:ahLst/>
            <a:cxnLst/>
            <a:rect l="l" t="t" r="r" b="b"/>
            <a:pathLst>
              <a:path w="29" h="3">
                <a:moveTo>
                  <a:pt x="0" y="3"/>
                </a:moveTo>
                <a:lnTo>
                  <a:pt x="5" y="0"/>
                </a:lnTo>
                <a:lnTo>
                  <a:pt x="29" y="0"/>
                </a:lnTo>
                <a:lnTo>
                  <a:pt x="24" y="3"/>
                </a:lnTo>
                <a:close/>
              </a:path>
            </a:pathLst>
          </a:custGeom>
          <a:solidFill>
            <a:srgbClr val="F8F8F8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bba-group-1-0058"/>
          <p:cNvSpPr/>
          <p:nvPr/>
        </p:nvSpPr>
        <p:spPr>
          <a:xfrm>
            <a:off x="6399218" y="862194"/>
            <a:ext cx="39550" cy="181931"/>
          </a:xfrm>
          <a:custGeom>
            <a:avLst/>
            <a:gdLst/>
            <a:ahLst/>
            <a:cxnLst/>
            <a:rect l="l" t="t" r="r" b="b"/>
            <a:pathLst>
              <a:path w="5" h="23">
                <a:moveTo>
                  <a:pt x="0" y="3"/>
                </a:moveTo>
                <a:lnTo>
                  <a:pt x="5" y="0"/>
                </a:lnTo>
                <a:lnTo>
                  <a:pt x="5" y="20"/>
                </a:lnTo>
                <a:lnTo>
                  <a:pt x="0" y="23"/>
                </a:lnTo>
                <a:close/>
              </a:path>
            </a:pathLst>
          </a:custGeom>
          <a:solidFill>
            <a:srgbClr val="D0D0D0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bba-group-1-0059"/>
          <p:cNvSpPr/>
          <p:nvPr/>
        </p:nvSpPr>
        <p:spPr>
          <a:xfrm>
            <a:off x="6407128" y="885924"/>
            <a:ext cx="189841" cy="158201"/>
          </a:xfrm>
          <a:prstGeom prst="rect">
            <a:avLst/>
          </a:prstGeom>
          <a:solidFill>
            <a:srgbClr val="FFDAD4"/>
          </a:solidFill>
          <a:ln w="7119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bba-group-1-0060"/>
          <p:cNvSpPr/>
          <p:nvPr/>
        </p:nvSpPr>
        <p:spPr>
          <a:xfrm>
            <a:off x="6407128" y="862194"/>
            <a:ext cx="229391" cy="23730"/>
          </a:xfrm>
          <a:custGeom>
            <a:avLst/>
            <a:gdLst/>
            <a:ahLst/>
            <a:cxnLst/>
            <a:rect l="l" t="t" r="r" b="b"/>
            <a:pathLst>
              <a:path w="29" h="3">
                <a:moveTo>
                  <a:pt x="0" y="3"/>
                </a:moveTo>
                <a:lnTo>
                  <a:pt x="5" y="0"/>
                </a:lnTo>
                <a:lnTo>
                  <a:pt x="29" y="0"/>
                </a:lnTo>
                <a:lnTo>
                  <a:pt x="24" y="3"/>
                </a:lnTo>
                <a:close/>
              </a:path>
            </a:pathLst>
          </a:custGeom>
          <a:solidFill>
            <a:srgbClr val="F8F8F8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bba-group-1-0061"/>
          <p:cNvSpPr/>
          <p:nvPr/>
        </p:nvSpPr>
        <p:spPr>
          <a:xfrm>
            <a:off x="6596969" y="862194"/>
            <a:ext cx="39550" cy="181931"/>
          </a:xfrm>
          <a:custGeom>
            <a:avLst/>
            <a:gdLst/>
            <a:ahLst/>
            <a:cxnLst/>
            <a:rect l="l" t="t" r="r" b="b"/>
            <a:pathLst>
              <a:path w="5" h="23">
                <a:moveTo>
                  <a:pt x="0" y="3"/>
                </a:moveTo>
                <a:lnTo>
                  <a:pt x="5" y="0"/>
                </a:lnTo>
                <a:lnTo>
                  <a:pt x="5" y="20"/>
                </a:lnTo>
                <a:lnTo>
                  <a:pt x="0" y="23"/>
                </a:lnTo>
                <a:close/>
              </a:path>
            </a:pathLst>
          </a:custGeom>
          <a:solidFill>
            <a:srgbClr val="D0D0D0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bba-group-1-0062"/>
          <p:cNvSpPr/>
          <p:nvPr/>
        </p:nvSpPr>
        <p:spPr>
          <a:xfrm>
            <a:off x="6604879" y="885924"/>
            <a:ext cx="189841" cy="158201"/>
          </a:xfrm>
          <a:prstGeom prst="rect">
            <a:avLst/>
          </a:prstGeom>
          <a:solidFill>
            <a:srgbClr val="FFDAD4"/>
          </a:solidFill>
          <a:ln w="7119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bba-group-1-0063"/>
          <p:cNvSpPr/>
          <p:nvPr/>
        </p:nvSpPr>
        <p:spPr>
          <a:xfrm>
            <a:off x="6604879" y="862194"/>
            <a:ext cx="229391" cy="23730"/>
          </a:xfrm>
          <a:custGeom>
            <a:avLst/>
            <a:gdLst/>
            <a:ahLst/>
            <a:cxnLst/>
            <a:rect l="l" t="t" r="r" b="b"/>
            <a:pathLst>
              <a:path w="29" h="3">
                <a:moveTo>
                  <a:pt x="0" y="3"/>
                </a:moveTo>
                <a:lnTo>
                  <a:pt x="5" y="0"/>
                </a:lnTo>
                <a:lnTo>
                  <a:pt x="29" y="0"/>
                </a:lnTo>
                <a:lnTo>
                  <a:pt x="24" y="3"/>
                </a:lnTo>
                <a:close/>
              </a:path>
            </a:pathLst>
          </a:custGeom>
          <a:solidFill>
            <a:srgbClr val="F8F8F8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bba-group-1-0064"/>
          <p:cNvSpPr/>
          <p:nvPr/>
        </p:nvSpPr>
        <p:spPr>
          <a:xfrm>
            <a:off x="6794720" y="862194"/>
            <a:ext cx="39550" cy="181931"/>
          </a:xfrm>
          <a:custGeom>
            <a:avLst/>
            <a:gdLst/>
            <a:ahLst/>
            <a:cxnLst/>
            <a:rect l="l" t="t" r="r" b="b"/>
            <a:pathLst>
              <a:path w="5" h="23">
                <a:moveTo>
                  <a:pt x="0" y="3"/>
                </a:moveTo>
                <a:lnTo>
                  <a:pt x="5" y="0"/>
                </a:lnTo>
                <a:lnTo>
                  <a:pt x="5" y="20"/>
                </a:lnTo>
                <a:lnTo>
                  <a:pt x="0" y="23"/>
                </a:lnTo>
                <a:close/>
              </a:path>
            </a:pathLst>
          </a:custGeom>
          <a:solidFill>
            <a:srgbClr val="D0D0D0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bba-group-1-0065"/>
          <p:cNvSpPr/>
          <p:nvPr/>
        </p:nvSpPr>
        <p:spPr>
          <a:xfrm>
            <a:off x="6802630" y="885924"/>
            <a:ext cx="189841" cy="158201"/>
          </a:xfrm>
          <a:prstGeom prst="rect">
            <a:avLst/>
          </a:prstGeom>
          <a:solidFill>
            <a:srgbClr val="FFDAD4"/>
          </a:solidFill>
          <a:ln w="7119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bba-group-1-0066"/>
          <p:cNvSpPr/>
          <p:nvPr/>
        </p:nvSpPr>
        <p:spPr>
          <a:xfrm>
            <a:off x="6802630" y="862194"/>
            <a:ext cx="229391" cy="23730"/>
          </a:xfrm>
          <a:custGeom>
            <a:avLst/>
            <a:gdLst/>
            <a:ahLst/>
            <a:cxnLst/>
            <a:rect l="l" t="t" r="r" b="b"/>
            <a:pathLst>
              <a:path w="29" h="3">
                <a:moveTo>
                  <a:pt x="0" y="3"/>
                </a:moveTo>
                <a:lnTo>
                  <a:pt x="5" y="0"/>
                </a:lnTo>
                <a:lnTo>
                  <a:pt x="29" y="0"/>
                </a:lnTo>
                <a:lnTo>
                  <a:pt x="24" y="3"/>
                </a:lnTo>
                <a:close/>
              </a:path>
            </a:pathLst>
          </a:custGeom>
          <a:solidFill>
            <a:srgbClr val="F8F8F8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bba-group-1-0067"/>
          <p:cNvSpPr/>
          <p:nvPr/>
        </p:nvSpPr>
        <p:spPr>
          <a:xfrm>
            <a:off x="6992470" y="862194"/>
            <a:ext cx="39550" cy="181931"/>
          </a:xfrm>
          <a:custGeom>
            <a:avLst/>
            <a:gdLst/>
            <a:ahLst/>
            <a:cxnLst/>
            <a:rect l="l" t="t" r="r" b="b"/>
            <a:pathLst>
              <a:path w="5" h="23">
                <a:moveTo>
                  <a:pt x="0" y="3"/>
                </a:moveTo>
                <a:lnTo>
                  <a:pt x="5" y="0"/>
                </a:lnTo>
                <a:lnTo>
                  <a:pt x="5" y="20"/>
                </a:lnTo>
                <a:lnTo>
                  <a:pt x="0" y="23"/>
                </a:lnTo>
                <a:close/>
              </a:path>
            </a:pathLst>
          </a:custGeom>
          <a:solidFill>
            <a:srgbClr val="D0D0D0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bba-group-1-0068"/>
          <p:cNvSpPr/>
          <p:nvPr/>
        </p:nvSpPr>
        <p:spPr>
          <a:xfrm>
            <a:off x="7000380" y="885924"/>
            <a:ext cx="189841" cy="158201"/>
          </a:xfrm>
          <a:prstGeom prst="rect">
            <a:avLst/>
          </a:prstGeom>
          <a:solidFill>
            <a:srgbClr val="FFDAD4"/>
          </a:solidFill>
          <a:ln w="7119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bba-group-1-0069"/>
          <p:cNvSpPr/>
          <p:nvPr/>
        </p:nvSpPr>
        <p:spPr>
          <a:xfrm>
            <a:off x="7000380" y="862194"/>
            <a:ext cx="229391" cy="23730"/>
          </a:xfrm>
          <a:custGeom>
            <a:avLst/>
            <a:gdLst/>
            <a:ahLst/>
            <a:cxnLst/>
            <a:rect l="l" t="t" r="r" b="b"/>
            <a:pathLst>
              <a:path w="29" h="3">
                <a:moveTo>
                  <a:pt x="0" y="3"/>
                </a:moveTo>
                <a:lnTo>
                  <a:pt x="5" y="0"/>
                </a:lnTo>
                <a:lnTo>
                  <a:pt x="29" y="0"/>
                </a:lnTo>
                <a:lnTo>
                  <a:pt x="24" y="3"/>
                </a:lnTo>
                <a:close/>
              </a:path>
            </a:pathLst>
          </a:custGeom>
          <a:solidFill>
            <a:srgbClr val="F8F8F8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bba-group-1-0070"/>
          <p:cNvSpPr/>
          <p:nvPr/>
        </p:nvSpPr>
        <p:spPr>
          <a:xfrm>
            <a:off x="7190221" y="862194"/>
            <a:ext cx="39550" cy="181931"/>
          </a:xfrm>
          <a:custGeom>
            <a:avLst/>
            <a:gdLst/>
            <a:ahLst/>
            <a:cxnLst/>
            <a:rect l="l" t="t" r="r" b="b"/>
            <a:pathLst>
              <a:path w="5" h="23">
                <a:moveTo>
                  <a:pt x="0" y="3"/>
                </a:moveTo>
                <a:lnTo>
                  <a:pt x="5" y="0"/>
                </a:lnTo>
                <a:lnTo>
                  <a:pt x="5" y="20"/>
                </a:lnTo>
                <a:lnTo>
                  <a:pt x="0" y="23"/>
                </a:lnTo>
                <a:close/>
              </a:path>
            </a:pathLst>
          </a:custGeom>
          <a:solidFill>
            <a:srgbClr val="D0D0D0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bba-group-1-0071"/>
          <p:cNvSpPr/>
          <p:nvPr/>
        </p:nvSpPr>
        <p:spPr>
          <a:xfrm>
            <a:off x="7198131" y="885924"/>
            <a:ext cx="189841" cy="158201"/>
          </a:xfrm>
          <a:prstGeom prst="rect">
            <a:avLst/>
          </a:prstGeom>
          <a:solidFill>
            <a:srgbClr val="FFDAD4"/>
          </a:solidFill>
          <a:ln w="7119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bba-group-1-0072"/>
          <p:cNvSpPr/>
          <p:nvPr/>
        </p:nvSpPr>
        <p:spPr>
          <a:xfrm>
            <a:off x="7198131" y="862194"/>
            <a:ext cx="229391" cy="23730"/>
          </a:xfrm>
          <a:custGeom>
            <a:avLst/>
            <a:gdLst/>
            <a:ahLst/>
            <a:cxnLst/>
            <a:rect l="l" t="t" r="r" b="b"/>
            <a:pathLst>
              <a:path w="29" h="3">
                <a:moveTo>
                  <a:pt x="0" y="3"/>
                </a:moveTo>
                <a:lnTo>
                  <a:pt x="5" y="0"/>
                </a:lnTo>
                <a:lnTo>
                  <a:pt x="29" y="0"/>
                </a:lnTo>
                <a:lnTo>
                  <a:pt x="24" y="3"/>
                </a:lnTo>
                <a:close/>
              </a:path>
            </a:pathLst>
          </a:custGeom>
          <a:solidFill>
            <a:srgbClr val="F8F8F8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bba-group-1-0073"/>
          <p:cNvSpPr/>
          <p:nvPr/>
        </p:nvSpPr>
        <p:spPr>
          <a:xfrm>
            <a:off x="7387972" y="862194"/>
            <a:ext cx="39550" cy="181931"/>
          </a:xfrm>
          <a:custGeom>
            <a:avLst/>
            <a:gdLst/>
            <a:ahLst/>
            <a:cxnLst/>
            <a:rect l="l" t="t" r="r" b="b"/>
            <a:pathLst>
              <a:path w="5" h="23">
                <a:moveTo>
                  <a:pt x="0" y="3"/>
                </a:moveTo>
                <a:lnTo>
                  <a:pt x="5" y="0"/>
                </a:lnTo>
                <a:lnTo>
                  <a:pt x="5" y="20"/>
                </a:lnTo>
                <a:lnTo>
                  <a:pt x="0" y="23"/>
                </a:lnTo>
                <a:close/>
              </a:path>
            </a:pathLst>
          </a:custGeom>
          <a:solidFill>
            <a:srgbClr val="D0D0D0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bba-group-1-0074"/>
          <p:cNvSpPr/>
          <p:nvPr/>
        </p:nvSpPr>
        <p:spPr>
          <a:xfrm>
            <a:off x="7395882" y="885924"/>
            <a:ext cx="189841" cy="158201"/>
          </a:xfrm>
          <a:prstGeom prst="rect">
            <a:avLst/>
          </a:prstGeom>
          <a:solidFill>
            <a:srgbClr val="FFDAD4"/>
          </a:solidFill>
          <a:ln w="7119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bba-group-1-0075"/>
          <p:cNvSpPr/>
          <p:nvPr/>
        </p:nvSpPr>
        <p:spPr>
          <a:xfrm>
            <a:off x="7395882" y="862194"/>
            <a:ext cx="229391" cy="23730"/>
          </a:xfrm>
          <a:custGeom>
            <a:avLst/>
            <a:gdLst/>
            <a:ahLst/>
            <a:cxnLst/>
            <a:rect l="l" t="t" r="r" b="b"/>
            <a:pathLst>
              <a:path w="29" h="3">
                <a:moveTo>
                  <a:pt x="0" y="3"/>
                </a:moveTo>
                <a:lnTo>
                  <a:pt x="5" y="0"/>
                </a:lnTo>
                <a:lnTo>
                  <a:pt x="29" y="0"/>
                </a:lnTo>
                <a:lnTo>
                  <a:pt x="24" y="3"/>
                </a:lnTo>
                <a:close/>
              </a:path>
            </a:pathLst>
          </a:custGeom>
          <a:solidFill>
            <a:srgbClr val="F8F8F8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bba-group-1-0076"/>
          <p:cNvSpPr/>
          <p:nvPr/>
        </p:nvSpPr>
        <p:spPr>
          <a:xfrm>
            <a:off x="7585723" y="862194"/>
            <a:ext cx="39550" cy="181931"/>
          </a:xfrm>
          <a:custGeom>
            <a:avLst/>
            <a:gdLst/>
            <a:ahLst/>
            <a:cxnLst/>
            <a:rect l="l" t="t" r="r" b="b"/>
            <a:pathLst>
              <a:path w="5" h="23">
                <a:moveTo>
                  <a:pt x="0" y="3"/>
                </a:moveTo>
                <a:lnTo>
                  <a:pt x="5" y="0"/>
                </a:lnTo>
                <a:lnTo>
                  <a:pt x="5" y="20"/>
                </a:lnTo>
                <a:lnTo>
                  <a:pt x="0" y="23"/>
                </a:lnTo>
                <a:close/>
              </a:path>
            </a:pathLst>
          </a:custGeom>
          <a:solidFill>
            <a:srgbClr val="D0D0D0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bba-group-1-0077"/>
          <p:cNvSpPr/>
          <p:nvPr/>
        </p:nvSpPr>
        <p:spPr>
          <a:xfrm>
            <a:off x="7593633" y="885924"/>
            <a:ext cx="189841" cy="158201"/>
          </a:xfrm>
          <a:prstGeom prst="rect">
            <a:avLst/>
          </a:prstGeom>
          <a:solidFill>
            <a:srgbClr val="FFDAD4"/>
          </a:solidFill>
          <a:ln w="7119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bba-group-1-0078"/>
          <p:cNvSpPr/>
          <p:nvPr/>
        </p:nvSpPr>
        <p:spPr>
          <a:xfrm>
            <a:off x="7593633" y="862194"/>
            <a:ext cx="229391" cy="23730"/>
          </a:xfrm>
          <a:custGeom>
            <a:avLst/>
            <a:gdLst/>
            <a:ahLst/>
            <a:cxnLst/>
            <a:rect l="l" t="t" r="r" b="b"/>
            <a:pathLst>
              <a:path w="29" h="3">
                <a:moveTo>
                  <a:pt x="0" y="3"/>
                </a:moveTo>
                <a:lnTo>
                  <a:pt x="5" y="0"/>
                </a:lnTo>
                <a:lnTo>
                  <a:pt x="29" y="0"/>
                </a:lnTo>
                <a:lnTo>
                  <a:pt x="24" y="3"/>
                </a:lnTo>
                <a:close/>
              </a:path>
            </a:pathLst>
          </a:custGeom>
          <a:solidFill>
            <a:srgbClr val="F8F8F8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bba-group-1-0079"/>
          <p:cNvSpPr/>
          <p:nvPr/>
        </p:nvSpPr>
        <p:spPr>
          <a:xfrm>
            <a:off x="7783474" y="862194"/>
            <a:ext cx="39550" cy="181931"/>
          </a:xfrm>
          <a:custGeom>
            <a:avLst/>
            <a:gdLst/>
            <a:ahLst/>
            <a:cxnLst/>
            <a:rect l="l" t="t" r="r" b="b"/>
            <a:pathLst>
              <a:path w="5" h="23">
                <a:moveTo>
                  <a:pt x="0" y="3"/>
                </a:moveTo>
                <a:lnTo>
                  <a:pt x="5" y="0"/>
                </a:lnTo>
                <a:lnTo>
                  <a:pt x="5" y="20"/>
                </a:lnTo>
                <a:lnTo>
                  <a:pt x="0" y="23"/>
                </a:lnTo>
                <a:close/>
              </a:path>
            </a:pathLst>
          </a:custGeom>
          <a:solidFill>
            <a:srgbClr val="D0D0D0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bba-group-1-0080"/>
          <p:cNvSpPr/>
          <p:nvPr/>
        </p:nvSpPr>
        <p:spPr>
          <a:xfrm>
            <a:off x="5616124" y="1099495"/>
            <a:ext cx="189841" cy="158201"/>
          </a:xfrm>
          <a:prstGeom prst="rect">
            <a:avLst/>
          </a:prstGeom>
          <a:solidFill>
            <a:srgbClr val="FED966"/>
          </a:solidFill>
          <a:ln w="7119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bba-group-1-0081"/>
          <p:cNvSpPr/>
          <p:nvPr/>
        </p:nvSpPr>
        <p:spPr>
          <a:xfrm>
            <a:off x="5616124" y="1075765"/>
            <a:ext cx="229391" cy="23730"/>
          </a:xfrm>
          <a:custGeom>
            <a:avLst/>
            <a:gdLst/>
            <a:ahLst/>
            <a:cxnLst/>
            <a:rect l="l" t="t" r="r" b="b"/>
            <a:pathLst>
              <a:path w="29" h="3">
                <a:moveTo>
                  <a:pt x="0" y="3"/>
                </a:moveTo>
                <a:lnTo>
                  <a:pt x="5" y="0"/>
                </a:lnTo>
                <a:lnTo>
                  <a:pt x="29" y="0"/>
                </a:lnTo>
                <a:lnTo>
                  <a:pt x="24" y="3"/>
                </a:lnTo>
                <a:close/>
              </a:path>
            </a:pathLst>
          </a:custGeom>
          <a:solidFill>
            <a:srgbClr val="F8F8F8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bba-group-1-0082"/>
          <p:cNvSpPr/>
          <p:nvPr/>
        </p:nvSpPr>
        <p:spPr>
          <a:xfrm>
            <a:off x="5805965" y="1075765"/>
            <a:ext cx="39550" cy="181931"/>
          </a:xfrm>
          <a:custGeom>
            <a:avLst/>
            <a:gdLst/>
            <a:ahLst/>
            <a:cxnLst/>
            <a:rect l="l" t="t" r="r" b="b"/>
            <a:pathLst>
              <a:path w="5" h="23">
                <a:moveTo>
                  <a:pt x="0" y="3"/>
                </a:moveTo>
                <a:lnTo>
                  <a:pt x="5" y="0"/>
                </a:lnTo>
                <a:lnTo>
                  <a:pt x="5" y="20"/>
                </a:lnTo>
                <a:lnTo>
                  <a:pt x="0" y="23"/>
                </a:lnTo>
                <a:close/>
              </a:path>
            </a:pathLst>
          </a:custGeom>
          <a:solidFill>
            <a:srgbClr val="D0D0D0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bba-group-1-0083"/>
          <p:cNvSpPr/>
          <p:nvPr/>
        </p:nvSpPr>
        <p:spPr>
          <a:xfrm>
            <a:off x="5813875" y="1099495"/>
            <a:ext cx="189841" cy="158201"/>
          </a:xfrm>
          <a:prstGeom prst="rect">
            <a:avLst/>
          </a:prstGeom>
          <a:solidFill>
            <a:srgbClr val="FED966"/>
          </a:solidFill>
          <a:ln w="7119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bba-group-1-0084"/>
          <p:cNvSpPr/>
          <p:nvPr/>
        </p:nvSpPr>
        <p:spPr>
          <a:xfrm>
            <a:off x="5813875" y="1075765"/>
            <a:ext cx="229391" cy="23730"/>
          </a:xfrm>
          <a:custGeom>
            <a:avLst/>
            <a:gdLst/>
            <a:ahLst/>
            <a:cxnLst/>
            <a:rect l="l" t="t" r="r" b="b"/>
            <a:pathLst>
              <a:path w="29" h="3">
                <a:moveTo>
                  <a:pt x="0" y="3"/>
                </a:moveTo>
                <a:lnTo>
                  <a:pt x="5" y="0"/>
                </a:lnTo>
                <a:lnTo>
                  <a:pt x="29" y="0"/>
                </a:lnTo>
                <a:lnTo>
                  <a:pt x="24" y="3"/>
                </a:lnTo>
                <a:close/>
              </a:path>
            </a:pathLst>
          </a:custGeom>
          <a:solidFill>
            <a:srgbClr val="F8F8F8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bba-group-1-0085"/>
          <p:cNvSpPr/>
          <p:nvPr/>
        </p:nvSpPr>
        <p:spPr>
          <a:xfrm>
            <a:off x="6003716" y="1075765"/>
            <a:ext cx="39550" cy="181931"/>
          </a:xfrm>
          <a:custGeom>
            <a:avLst/>
            <a:gdLst/>
            <a:ahLst/>
            <a:cxnLst/>
            <a:rect l="l" t="t" r="r" b="b"/>
            <a:pathLst>
              <a:path w="5" h="23">
                <a:moveTo>
                  <a:pt x="0" y="3"/>
                </a:moveTo>
                <a:lnTo>
                  <a:pt x="5" y="0"/>
                </a:lnTo>
                <a:lnTo>
                  <a:pt x="5" y="20"/>
                </a:lnTo>
                <a:lnTo>
                  <a:pt x="0" y="23"/>
                </a:lnTo>
                <a:close/>
              </a:path>
            </a:pathLst>
          </a:custGeom>
          <a:solidFill>
            <a:srgbClr val="D0D0D0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bba-group-1-0086"/>
          <p:cNvSpPr/>
          <p:nvPr/>
        </p:nvSpPr>
        <p:spPr>
          <a:xfrm>
            <a:off x="6011626" y="1099495"/>
            <a:ext cx="189841" cy="158201"/>
          </a:xfrm>
          <a:prstGeom prst="rect">
            <a:avLst/>
          </a:prstGeom>
          <a:solidFill>
            <a:srgbClr val="FED966"/>
          </a:solidFill>
          <a:ln w="7119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bba-group-1-0087"/>
          <p:cNvSpPr/>
          <p:nvPr/>
        </p:nvSpPr>
        <p:spPr>
          <a:xfrm>
            <a:off x="6011626" y="1075765"/>
            <a:ext cx="229391" cy="23730"/>
          </a:xfrm>
          <a:custGeom>
            <a:avLst/>
            <a:gdLst/>
            <a:ahLst/>
            <a:cxnLst/>
            <a:rect l="l" t="t" r="r" b="b"/>
            <a:pathLst>
              <a:path w="29" h="3">
                <a:moveTo>
                  <a:pt x="0" y="3"/>
                </a:moveTo>
                <a:lnTo>
                  <a:pt x="5" y="0"/>
                </a:lnTo>
                <a:lnTo>
                  <a:pt x="29" y="0"/>
                </a:lnTo>
                <a:lnTo>
                  <a:pt x="24" y="3"/>
                </a:lnTo>
                <a:close/>
              </a:path>
            </a:pathLst>
          </a:custGeom>
          <a:solidFill>
            <a:srgbClr val="F8F8F8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bba-group-1-0088"/>
          <p:cNvSpPr/>
          <p:nvPr/>
        </p:nvSpPr>
        <p:spPr>
          <a:xfrm>
            <a:off x="6201467" y="1075765"/>
            <a:ext cx="39550" cy="181931"/>
          </a:xfrm>
          <a:custGeom>
            <a:avLst/>
            <a:gdLst/>
            <a:ahLst/>
            <a:cxnLst/>
            <a:rect l="l" t="t" r="r" b="b"/>
            <a:pathLst>
              <a:path w="5" h="23">
                <a:moveTo>
                  <a:pt x="0" y="3"/>
                </a:moveTo>
                <a:lnTo>
                  <a:pt x="5" y="0"/>
                </a:lnTo>
                <a:lnTo>
                  <a:pt x="5" y="20"/>
                </a:lnTo>
                <a:lnTo>
                  <a:pt x="0" y="23"/>
                </a:lnTo>
                <a:close/>
              </a:path>
            </a:pathLst>
          </a:custGeom>
          <a:solidFill>
            <a:srgbClr val="D0D0D0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bba-group-1-0089"/>
          <p:cNvSpPr/>
          <p:nvPr/>
        </p:nvSpPr>
        <p:spPr>
          <a:xfrm>
            <a:off x="6209377" y="1099495"/>
            <a:ext cx="189841" cy="158201"/>
          </a:xfrm>
          <a:prstGeom prst="rect">
            <a:avLst/>
          </a:prstGeom>
          <a:solidFill>
            <a:srgbClr val="FED966"/>
          </a:solidFill>
          <a:ln w="7119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bba-group-1-0090"/>
          <p:cNvSpPr/>
          <p:nvPr/>
        </p:nvSpPr>
        <p:spPr>
          <a:xfrm>
            <a:off x="6209377" y="1075765"/>
            <a:ext cx="229391" cy="23730"/>
          </a:xfrm>
          <a:custGeom>
            <a:avLst/>
            <a:gdLst/>
            <a:ahLst/>
            <a:cxnLst/>
            <a:rect l="l" t="t" r="r" b="b"/>
            <a:pathLst>
              <a:path w="29" h="3">
                <a:moveTo>
                  <a:pt x="0" y="3"/>
                </a:moveTo>
                <a:lnTo>
                  <a:pt x="5" y="0"/>
                </a:lnTo>
                <a:lnTo>
                  <a:pt x="29" y="0"/>
                </a:lnTo>
                <a:lnTo>
                  <a:pt x="24" y="3"/>
                </a:lnTo>
                <a:close/>
              </a:path>
            </a:pathLst>
          </a:custGeom>
          <a:solidFill>
            <a:srgbClr val="F8F8F8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bba-group-1-0091"/>
          <p:cNvSpPr/>
          <p:nvPr/>
        </p:nvSpPr>
        <p:spPr>
          <a:xfrm>
            <a:off x="6399218" y="1075765"/>
            <a:ext cx="39550" cy="181931"/>
          </a:xfrm>
          <a:custGeom>
            <a:avLst/>
            <a:gdLst/>
            <a:ahLst/>
            <a:cxnLst/>
            <a:rect l="l" t="t" r="r" b="b"/>
            <a:pathLst>
              <a:path w="5" h="23">
                <a:moveTo>
                  <a:pt x="0" y="3"/>
                </a:moveTo>
                <a:lnTo>
                  <a:pt x="5" y="0"/>
                </a:lnTo>
                <a:lnTo>
                  <a:pt x="5" y="20"/>
                </a:lnTo>
                <a:lnTo>
                  <a:pt x="0" y="23"/>
                </a:lnTo>
                <a:close/>
              </a:path>
            </a:pathLst>
          </a:custGeom>
          <a:solidFill>
            <a:srgbClr val="D0D0D0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bba-group-1-0092"/>
          <p:cNvSpPr/>
          <p:nvPr/>
        </p:nvSpPr>
        <p:spPr>
          <a:xfrm>
            <a:off x="6407128" y="1099495"/>
            <a:ext cx="189841" cy="158201"/>
          </a:xfrm>
          <a:prstGeom prst="rect">
            <a:avLst/>
          </a:prstGeom>
          <a:solidFill>
            <a:srgbClr val="FED966"/>
          </a:solidFill>
          <a:ln w="7119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bba-group-1-0093"/>
          <p:cNvSpPr/>
          <p:nvPr/>
        </p:nvSpPr>
        <p:spPr>
          <a:xfrm>
            <a:off x="6407128" y="1075765"/>
            <a:ext cx="229391" cy="23730"/>
          </a:xfrm>
          <a:custGeom>
            <a:avLst/>
            <a:gdLst/>
            <a:ahLst/>
            <a:cxnLst/>
            <a:rect l="l" t="t" r="r" b="b"/>
            <a:pathLst>
              <a:path w="29" h="3">
                <a:moveTo>
                  <a:pt x="0" y="3"/>
                </a:moveTo>
                <a:lnTo>
                  <a:pt x="5" y="0"/>
                </a:lnTo>
                <a:lnTo>
                  <a:pt x="29" y="0"/>
                </a:lnTo>
                <a:lnTo>
                  <a:pt x="24" y="3"/>
                </a:lnTo>
                <a:close/>
              </a:path>
            </a:pathLst>
          </a:custGeom>
          <a:solidFill>
            <a:srgbClr val="F8F8F8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bba-group-1-0094"/>
          <p:cNvSpPr/>
          <p:nvPr/>
        </p:nvSpPr>
        <p:spPr>
          <a:xfrm>
            <a:off x="6596969" y="1075765"/>
            <a:ext cx="39550" cy="181931"/>
          </a:xfrm>
          <a:custGeom>
            <a:avLst/>
            <a:gdLst/>
            <a:ahLst/>
            <a:cxnLst/>
            <a:rect l="l" t="t" r="r" b="b"/>
            <a:pathLst>
              <a:path w="5" h="23">
                <a:moveTo>
                  <a:pt x="0" y="3"/>
                </a:moveTo>
                <a:lnTo>
                  <a:pt x="5" y="0"/>
                </a:lnTo>
                <a:lnTo>
                  <a:pt x="5" y="20"/>
                </a:lnTo>
                <a:lnTo>
                  <a:pt x="0" y="23"/>
                </a:lnTo>
                <a:close/>
              </a:path>
            </a:pathLst>
          </a:custGeom>
          <a:solidFill>
            <a:srgbClr val="D0D0D0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bba-group-1-0095"/>
          <p:cNvSpPr/>
          <p:nvPr/>
        </p:nvSpPr>
        <p:spPr>
          <a:xfrm>
            <a:off x="6604879" y="1099495"/>
            <a:ext cx="189841" cy="158201"/>
          </a:xfrm>
          <a:prstGeom prst="rect">
            <a:avLst/>
          </a:prstGeom>
          <a:solidFill>
            <a:srgbClr val="FED966"/>
          </a:solidFill>
          <a:ln w="7119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bba-group-1-0096"/>
          <p:cNvSpPr/>
          <p:nvPr/>
        </p:nvSpPr>
        <p:spPr>
          <a:xfrm>
            <a:off x="6604879" y="1075765"/>
            <a:ext cx="229391" cy="23730"/>
          </a:xfrm>
          <a:custGeom>
            <a:avLst/>
            <a:gdLst/>
            <a:ahLst/>
            <a:cxnLst/>
            <a:rect l="l" t="t" r="r" b="b"/>
            <a:pathLst>
              <a:path w="29" h="3">
                <a:moveTo>
                  <a:pt x="0" y="3"/>
                </a:moveTo>
                <a:lnTo>
                  <a:pt x="5" y="0"/>
                </a:lnTo>
                <a:lnTo>
                  <a:pt x="29" y="0"/>
                </a:lnTo>
                <a:lnTo>
                  <a:pt x="24" y="3"/>
                </a:lnTo>
                <a:close/>
              </a:path>
            </a:pathLst>
          </a:custGeom>
          <a:solidFill>
            <a:srgbClr val="F8F8F8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bba-group-1-0097"/>
          <p:cNvSpPr/>
          <p:nvPr/>
        </p:nvSpPr>
        <p:spPr>
          <a:xfrm>
            <a:off x="6794720" y="1075765"/>
            <a:ext cx="39550" cy="181931"/>
          </a:xfrm>
          <a:custGeom>
            <a:avLst/>
            <a:gdLst/>
            <a:ahLst/>
            <a:cxnLst/>
            <a:rect l="l" t="t" r="r" b="b"/>
            <a:pathLst>
              <a:path w="5" h="23">
                <a:moveTo>
                  <a:pt x="0" y="3"/>
                </a:moveTo>
                <a:lnTo>
                  <a:pt x="5" y="0"/>
                </a:lnTo>
                <a:lnTo>
                  <a:pt x="5" y="20"/>
                </a:lnTo>
                <a:lnTo>
                  <a:pt x="0" y="23"/>
                </a:lnTo>
                <a:close/>
              </a:path>
            </a:pathLst>
          </a:custGeom>
          <a:solidFill>
            <a:srgbClr val="D0D0D0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bba-group-1-0098"/>
          <p:cNvSpPr/>
          <p:nvPr/>
        </p:nvSpPr>
        <p:spPr>
          <a:xfrm>
            <a:off x="6802630" y="1099495"/>
            <a:ext cx="189841" cy="158201"/>
          </a:xfrm>
          <a:prstGeom prst="rect">
            <a:avLst/>
          </a:prstGeom>
          <a:solidFill>
            <a:srgbClr val="FED966"/>
          </a:solidFill>
          <a:ln w="7119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bba-group-1-0099"/>
          <p:cNvSpPr/>
          <p:nvPr/>
        </p:nvSpPr>
        <p:spPr>
          <a:xfrm>
            <a:off x="6802630" y="1075765"/>
            <a:ext cx="229391" cy="23730"/>
          </a:xfrm>
          <a:custGeom>
            <a:avLst/>
            <a:gdLst/>
            <a:ahLst/>
            <a:cxnLst/>
            <a:rect l="l" t="t" r="r" b="b"/>
            <a:pathLst>
              <a:path w="29" h="3">
                <a:moveTo>
                  <a:pt x="0" y="3"/>
                </a:moveTo>
                <a:lnTo>
                  <a:pt x="5" y="0"/>
                </a:lnTo>
                <a:lnTo>
                  <a:pt x="29" y="0"/>
                </a:lnTo>
                <a:lnTo>
                  <a:pt x="24" y="3"/>
                </a:lnTo>
                <a:close/>
              </a:path>
            </a:pathLst>
          </a:custGeom>
          <a:solidFill>
            <a:srgbClr val="F8F8F8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bba-group-1-0100"/>
          <p:cNvSpPr/>
          <p:nvPr/>
        </p:nvSpPr>
        <p:spPr>
          <a:xfrm>
            <a:off x="6992470" y="1075765"/>
            <a:ext cx="39550" cy="181931"/>
          </a:xfrm>
          <a:custGeom>
            <a:avLst/>
            <a:gdLst/>
            <a:ahLst/>
            <a:cxnLst/>
            <a:rect l="l" t="t" r="r" b="b"/>
            <a:pathLst>
              <a:path w="5" h="23">
                <a:moveTo>
                  <a:pt x="0" y="3"/>
                </a:moveTo>
                <a:lnTo>
                  <a:pt x="5" y="0"/>
                </a:lnTo>
                <a:lnTo>
                  <a:pt x="5" y="20"/>
                </a:lnTo>
                <a:lnTo>
                  <a:pt x="0" y="23"/>
                </a:lnTo>
                <a:close/>
              </a:path>
            </a:pathLst>
          </a:custGeom>
          <a:solidFill>
            <a:srgbClr val="D0D0D0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bba-group-1-0101"/>
          <p:cNvSpPr/>
          <p:nvPr/>
        </p:nvSpPr>
        <p:spPr>
          <a:xfrm>
            <a:off x="7000380" y="1099495"/>
            <a:ext cx="189841" cy="158201"/>
          </a:xfrm>
          <a:prstGeom prst="rect">
            <a:avLst/>
          </a:prstGeom>
          <a:solidFill>
            <a:srgbClr val="FED966"/>
          </a:solidFill>
          <a:ln w="7119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bba-group-1-0102"/>
          <p:cNvSpPr/>
          <p:nvPr/>
        </p:nvSpPr>
        <p:spPr>
          <a:xfrm>
            <a:off x="7000380" y="1075765"/>
            <a:ext cx="229391" cy="23730"/>
          </a:xfrm>
          <a:custGeom>
            <a:avLst/>
            <a:gdLst/>
            <a:ahLst/>
            <a:cxnLst/>
            <a:rect l="l" t="t" r="r" b="b"/>
            <a:pathLst>
              <a:path w="29" h="3">
                <a:moveTo>
                  <a:pt x="0" y="3"/>
                </a:moveTo>
                <a:lnTo>
                  <a:pt x="5" y="0"/>
                </a:lnTo>
                <a:lnTo>
                  <a:pt x="29" y="0"/>
                </a:lnTo>
                <a:lnTo>
                  <a:pt x="24" y="3"/>
                </a:lnTo>
                <a:close/>
              </a:path>
            </a:pathLst>
          </a:custGeom>
          <a:solidFill>
            <a:srgbClr val="F8F8F8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bba-group-1-0103"/>
          <p:cNvSpPr/>
          <p:nvPr/>
        </p:nvSpPr>
        <p:spPr>
          <a:xfrm>
            <a:off x="7190221" y="1075765"/>
            <a:ext cx="39550" cy="181931"/>
          </a:xfrm>
          <a:custGeom>
            <a:avLst/>
            <a:gdLst/>
            <a:ahLst/>
            <a:cxnLst/>
            <a:rect l="l" t="t" r="r" b="b"/>
            <a:pathLst>
              <a:path w="5" h="23">
                <a:moveTo>
                  <a:pt x="0" y="3"/>
                </a:moveTo>
                <a:lnTo>
                  <a:pt x="5" y="0"/>
                </a:lnTo>
                <a:lnTo>
                  <a:pt x="5" y="20"/>
                </a:lnTo>
                <a:lnTo>
                  <a:pt x="0" y="23"/>
                </a:lnTo>
                <a:close/>
              </a:path>
            </a:pathLst>
          </a:custGeom>
          <a:solidFill>
            <a:srgbClr val="D0D0D0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bba-group-1-0104"/>
          <p:cNvSpPr/>
          <p:nvPr/>
        </p:nvSpPr>
        <p:spPr>
          <a:xfrm>
            <a:off x="7198131" y="1099495"/>
            <a:ext cx="189841" cy="158201"/>
          </a:xfrm>
          <a:prstGeom prst="rect">
            <a:avLst/>
          </a:prstGeom>
          <a:solidFill>
            <a:srgbClr val="FED966"/>
          </a:solidFill>
          <a:ln w="7119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bba-group-1-0105"/>
          <p:cNvSpPr/>
          <p:nvPr/>
        </p:nvSpPr>
        <p:spPr>
          <a:xfrm>
            <a:off x="7198131" y="1075765"/>
            <a:ext cx="229391" cy="23730"/>
          </a:xfrm>
          <a:custGeom>
            <a:avLst/>
            <a:gdLst/>
            <a:ahLst/>
            <a:cxnLst/>
            <a:rect l="l" t="t" r="r" b="b"/>
            <a:pathLst>
              <a:path w="29" h="3">
                <a:moveTo>
                  <a:pt x="0" y="3"/>
                </a:moveTo>
                <a:lnTo>
                  <a:pt x="5" y="0"/>
                </a:lnTo>
                <a:lnTo>
                  <a:pt x="29" y="0"/>
                </a:lnTo>
                <a:lnTo>
                  <a:pt x="24" y="3"/>
                </a:lnTo>
                <a:close/>
              </a:path>
            </a:pathLst>
          </a:custGeom>
          <a:solidFill>
            <a:srgbClr val="F8F8F8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bba-group-1-0106"/>
          <p:cNvSpPr/>
          <p:nvPr/>
        </p:nvSpPr>
        <p:spPr>
          <a:xfrm>
            <a:off x="7387972" y="1075765"/>
            <a:ext cx="39550" cy="181931"/>
          </a:xfrm>
          <a:custGeom>
            <a:avLst/>
            <a:gdLst/>
            <a:ahLst/>
            <a:cxnLst/>
            <a:rect l="l" t="t" r="r" b="b"/>
            <a:pathLst>
              <a:path w="5" h="23">
                <a:moveTo>
                  <a:pt x="0" y="3"/>
                </a:moveTo>
                <a:lnTo>
                  <a:pt x="5" y="0"/>
                </a:lnTo>
                <a:lnTo>
                  <a:pt x="5" y="20"/>
                </a:lnTo>
                <a:lnTo>
                  <a:pt x="0" y="23"/>
                </a:lnTo>
                <a:close/>
              </a:path>
            </a:pathLst>
          </a:custGeom>
          <a:solidFill>
            <a:srgbClr val="D0D0D0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bba-group-1-0107"/>
          <p:cNvSpPr/>
          <p:nvPr/>
        </p:nvSpPr>
        <p:spPr>
          <a:xfrm>
            <a:off x="7395882" y="1099495"/>
            <a:ext cx="189841" cy="158201"/>
          </a:xfrm>
          <a:prstGeom prst="rect">
            <a:avLst/>
          </a:prstGeom>
          <a:solidFill>
            <a:srgbClr val="FED966"/>
          </a:solidFill>
          <a:ln w="7119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bba-group-1-0108"/>
          <p:cNvSpPr/>
          <p:nvPr/>
        </p:nvSpPr>
        <p:spPr>
          <a:xfrm>
            <a:off x="7395882" y="1075765"/>
            <a:ext cx="229391" cy="23730"/>
          </a:xfrm>
          <a:custGeom>
            <a:avLst/>
            <a:gdLst/>
            <a:ahLst/>
            <a:cxnLst/>
            <a:rect l="l" t="t" r="r" b="b"/>
            <a:pathLst>
              <a:path w="29" h="3">
                <a:moveTo>
                  <a:pt x="0" y="3"/>
                </a:moveTo>
                <a:lnTo>
                  <a:pt x="5" y="0"/>
                </a:lnTo>
                <a:lnTo>
                  <a:pt x="29" y="0"/>
                </a:lnTo>
                <a:lnTo>
                  <a:pt x="24" y="3"/>
                </a:lnTo>
                <a:close/>
              </a:path>
            </a:pathLst>
          </a:custGeom>
          <a:solidFill>
            <a:srgbClr val="F8F8F8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bba-group-1-0109"/>
          <p:cNvSpPr/>
          <p:nvPr/>
        </p:nvSpPr>
        <p:spPr>
          <a:xfrm>
            <a:off x="7585723" y="1075765"/>
            <a:ext cx="39550" cy="181931"/>
          </a:xfrm>
          <a:custGeom>
            <a:avLst/>
            <a:gdLst/>
            <a:ahLst/>
            <a:cxnLst/>
            <a:rect l="l" t="t" r="r" b="b"/>
            <a:pathLst>
              <a:path w="5" h="23">
                <a:moveTo>
                  <a:pt x="0" y="3"/>
                </a:moveTo>
                <a:lnTo>
                  <a:pt x="5" y="0"/>
                </a:lnTo>
                <a:lnTo>
                  <a:pt x="5" y="20"/>
                </a:lnTo>
                <a:lnTo>
                  <a:pt x="0" y="23"/>
                </a:lnTo>
                <a:close/>
              </a:path>
            </a:pathLst>
          </a:custGeom>
          <a:solidFill>
            <a:srgbClr val="D0D0D0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bba-group-1-0110"/>
          <p:cNvSpPr/>
          <p:nvPr/>
        </p:nvSpPr>
        <p:spPr>
          <a:xfrm>
            <a:off x="7593633" y="1099495"/>
            <a:ext cx="189841" cy="158201"/>
          </a:xfrm>
          <a:prstGeom prst="rect">
            <a:avLst/>
          </a:prstGeom>
          <a:solidFill>
            <a:srgbClr val="FED966"/>
          </a:solidFill>
          <a:ln w="7119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bba-group-1-0111"/>
          <p:cNvSpPr/>
          <p:nvPr/>
        </p:nvSpPr>
        <p:spPr>
          <a:xfrm>
            <a:off x="7593633" y="1075765"/>
            <a:ext cx="229391" cy="23730"/>
          </a:xfrm>
          <a:custGeom>
            <a:avLst/>
            <a:gdLst/>
            <a:ahLst/>
            <a:cxnLst/>
            <a:rect l="l" t="t" r="r" b="b"/>
            <a:pathLst>
              <a:path w="29" h="3">
                <a:moveTo>
                  <a:pt x="0" y="3"/>
                </a:moveTo>
                <a:lnTo>
                  <a:pt x="5" y="0"/>
                </a:lnTo>
                <a:lnTo>
                  <a:pt x="29" y="0"/>
                </a:lnTo>
                <a:lnTo>
                  <a:pt x="24" y="3"/>
                </a:lnTo>
                <a:close/>
              </a:path>
            </a:pathLst>
          </a:custGeom>
          <a:solidFill>
            <a:srgbClr val="F8F8F8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bba-group-1-0112"/>
          <p:cNvSpPr/>
          <p:nvPr/>
        </p:nvSpPr>
        <p:spPr>
          <a:xfrm>
            <a:off x="7783474" y="1075765"/>
            <a:ext cx="39550" cy="181931"/>
          </a:xfrm>
          <a:custGeom>
            <a:avLst/>
            <a:gdLst/>
            <a:ahLst/>
            <a:cxnLst/>
            <a:rect l="l" t="t" r="r" b="b"/>
            <a:pathLst>
              <a:path w="5" h="23">
                <a:moveTo>
                  <a:pt x="0" y="3"/>
                </a:moveTo>
                <a:lnTo>
                  <a:pt x="5" y="0"/>
                </a:lnTo>
                <a:lnTo>
                  <a:pt x="5" y="20"/>
                </a:lnTo>
                <a:lnTo>
                  <a:pt x="0" y="23"/>
                </a:lnTo>
                <a:close/>
              </a:path>
            </a:pathLst>
          </a:custGeom>
          <a:solidFill>
            <a:srgbClr val="D0D0D0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bba-group-1-0113"/>
          <p:cNvSpPr/>
          <p:nvPr/>
        </p:nvSpPr>
        <p:spPr>
          <a:xfrm>
            <a:off x="5616124" y="1392166"/>
            <a:ext cx="189841" cy="158201"/>
          </a:xfrm>
          <a:prstGeom prst="rect">
            <a:avLst/>
          </a:prstGeom>
          <a:solidFill>
            <a:srgbClr val="BAACFB"/>
          </a:solidFill>
          <a:ln w="7119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bba-group-1-0114"/>
          <p:cNvSpPr/>
          <p:nvPr/>
        </p:nvSpPr>
        <p:spPr>
          <a:xfrm>
            <a:off x="5616124" y="1368436"/>
            <a:ext cx="229391" cy="23730"/>
          </a:xfrm>
          <a:custGeom>
            <a:avLst/>
            <a:gdLst/>
            <a:ahLst/>
            <a:cxnLst/>
            <a:rect l="l" t="t" r="r" b="b"/>
            <a:pathLst>
              <a:path w="29" h="3">
                <a:moveTo>
                  <a:pt x="0" y="3"/>
                </a:moveTo>
                <a:lnTo>
                  <a:pt x="5" y="0"/>
                </a:lnTo>
                <a:lnTo>
                  <a:pt x="29" y="0"/>
                </a:lnTo>
                <a:lnTo>
                  <a:pt x="24" y="3"/>
                </a:lnTo>
                <a:close/>
              </a:path>
            </a:pathLst>
          </a:custGeom>
          <a:solidFill>
            <a:srgbClr val="F8F8F8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bba-group-1-0115"/>
          <p:cNvSpPr/>
          <p:nvPr/>
        </p:nvSpPr>
        <p:spPr>
          <a:xfrm>
            <a:off x="5805965" y="1368436"/>
            <a:ext cx="39550" cy="181931"/>
          </a:xfrm>
          <a:custGeom>
            <a:avLst/>
            <a:gdLst/>
            <a:ahLst/>
            <a:cxnLst/>
            <a:rect l="l" t="t" r="r" b="b"/>
            <a:pathLst>
              <a:path w="5" h="23">
                <a:moveTo>
                  <a:pt x="0" y="3"/>
                </a:moveTo>
                <a:lnTo>
                  <a:pt x="5" y="0"/>
                </a:lnTo>
                <a:lnTo>
                  <a:pt x="5" y="20"/>
                </a:lnTo>
                <a:lnTo>
                  <a:pt x="0" y="23"/>
                </a:lnTo>
                <a:close/>
              </a:path>
            </a:pathLst>
          </a:custGeom>
          <a:solidFill>
            <a:srgbClr val="D0D0D0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bba-group-1-0116"/>
          <p:cNvSpPr/>
          <p:nvPr/>
        </p:nvSpPr>
        <p:spPr>
          <a:xfrm>
            <a:off x="5813875" y="1392166"/>
            <a:ext cx="189841" cy="158201"/>
          </a:xfrm>
          <a:prstGeom prst="rect">
            <a:avLst/>
          </a:prstGeom>
          <a:solidFill>
            <a:srgbClr val="BAACFB"/>
          </a:solidFill>
          <a:ln w="7119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bba-group-1-0117"/>
          <p:cNvSpPr/>
          <p:nvPr/>
        </p:nvSpPr>
        <p:spPr>
          <a:xfrm>
            <a:off x="5813875" y="1368436"/>
            <a:ext cx="229391" cy="23730"/>
          </a:xfrm>
          <a:custGeom>
            <a:avLst/>
            <a:gdLst/>
            <a:ahLst/>
            <a:cxnLst/>
            <a:rect l="l" t="t" r="r" b="b"/>
            <a:pathLst>
              <a:path w="29" h="3">
                <a:moveTo>
                  <a:pt x="0" y="3"/>
                </a:moveTo>
                <a:lnTo>
                  <a:pt x="5" y="0"/>
                </a:lnTo>
                <a:lnTo>
                  <a:pt x="29" y="0"/>
                </a:lnTo>
                <a:lnTo>
                  <a:pt x="24" y="3"/>
                </a:lnTo>
                <a:close/>
              </a:path>
            </a:pathLst>
          </a:custGeom>
          <a:solidFill>
            <a:srgbClr val="F8F8F8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bba-group-1-0118"/>
          <p:cNvSpPr/>
          <p:nvPr/>
        </p:nvSpPr>
        <p:spPr>
          <a:xfrm>
            <a:off x="6003716" y="1368436"/>
            <a:ext cx="39550" cy="181931"/>
          </a:xfrm>
          <a:custGeom>
            <a:avLst/>
            <a:gdLst/>
            <a:ahLst/>
            <a:cxnLst/>
            <a:rect l="l" t="t" r="r" b="b"/>
            <a:pathLst>
              <a:path w="5" h="23">
                <a:moveTo>
                  <a:pt x="0" y="3"/>
                </a:moveTo>
                <a:lnTo>
                  <a:pt x="5" y="0"/>
                </a:lnTo>
                <a:lnTo>
                  <a:pt x="5" y="20"/>
                </a:lnTo>
                <a:lnTo>
                  <a:pt x="0" y="23"/>
                </a:lnTo>
                <a:close/>
              </a:path>
            </a:pathLst>
          </a:custGeom>
          <a:solidFill>
            <a:srgbClr val="D0D0D0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bba-group-1-0119"/>
          <p:cNvSpPr/>
          <p:nvPr/>
        </p:nvSpPr>
        <p:spPr>
          <a:xfrm>
            <a:off x="6011626" y="1392166"/>
            <a:ext cx="189841" cy="158201"/>
          </a:xfrm>
          <a:prstGeom prst="rect">
            <a:avLst/>
          </a:prstGeom>
          <a:solidFill>
            <a:srgbClr val="BAACFB"/>
          </a:solidFill>
          <a:ln w="7119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bba-group-1-0120"/>
          <p:cNvSpPr/>
          <p:nvPr/>
        </p:nvSpPr>
        <p:spPr>
          <a:xfrm>
            <a:off x="6011626" y="1368436"/>
            <a:ext cx="229391" cy="23730"/>
          </a:xfrm>
          <a:custGeom>
            <a:avLst/>
            <a:gdLst/>
            <a:ahLst/>
            <a:cxnLst/>
            <a:rect l="l" t="t" r="r" b="b"/>
            <a:pathLst>
              <a:path w="29" h="3">
                <a:moveTo>
                  <a:pt x="0" y="3"/>
                </a:moveTo>
                <a:lnTo>
                  <a:pt x="5" y="0"/>
                </a:lnTo>
                <a:lnTo>
                  <a:pt x="29" y="0"/>
                </a:lnTo>
                <a:lnTo>
                  <a:pt x="24" y="3"/>
                </a:lnTo>
                <a:close/>
              </a:path>
            </a:pathLst>
          </a:custGeom>
          <a:solidFill>
            <a:srgbClr val="F8F8F8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bba-group-1-0121"/>
          <p:cNvSpPr/>
          <p:nvPr/>
        </p:nvSpPr>
        <p:spPr>
          <a:xfrm>
            <a:off x="6201467" y="1368436"/>
            <a:ext cx="39550" cy="181931"/>
          </a:xfrm>
          <a:custGeom>
            <a:avLst/>
            <a:gdLst/>
            <a:ahLst/>
            <a:cxnLst/>
            <a:rect l="l" t="t" r="r" b="b"/>
            <a:pathLst>
              <a:path w="5" h="23">
                <a:moveTo>
                  <a:pt x="0" y="3"/>
                </a:moveTo>
                <a:lnTo>
                  <a:pt x="5" y="0"/>
                </a:lnTo>
                <a:lnTo>
                  <a:pt x="5" y="20"/>
                </a:lnTo>
                <a:lnTo>
                  <a:pt x="0" y="23"/>
                </a:lnTo>
                <a:close/>
              </a:path>
            </a:pathLst>
          </a:custGeom>
          <a:solidFill>
            <a:srgbClr val="D0D0D0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bba-group-1-0122"/>
          <p:cNvSpPr/>
          <p:nvPr/>
        </p:nvSpPr>
        <p:spPr>
          <a:xfrm>
            <a:off x="6209377" y="1392166"/>
            <a:ext cx="189841" cy="158201"/>
          </a:xfrm>
          <a:prstGeom prst="rect">
            <a:avLst/>
          </a:prstGeom>
          <a:solidFill>
            <a:srgbClr val="BAACFB"/>
          </a:solidFill>
          <a:ln w="7119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bba-group-1-0123"/>
          <p:cNvSpPr/>
          <p:nvPr/>
        </p:nvSpPr>
        <p:spPr>
          <a:xfrm>
            <a:off x="6209377" y="1368436"/>
            <a:ext cx="229391" cy="23730"/>
          </a:xfrm>
          <a:custGeom>
            <a:avLst/>
            <a:gdLst/>
            <a:ahLst/>
            <a:cxnLst/>
            <a:rect l="l" t="t" r="r" b="b"/>
            <a:pathLst>
              <a:path w="29" h="3">
                <a:moveTo>
                  <a:pt x="0" y="3"/>
                </a:moveTo>
                <a:lnTo>
                  <a:pt x="5" y="0"/>
                </a:lnTo>
                <a:lnTo>
                  <a:pt x="29" y="0"/>
                </a:lnTo>
                <a:lnTo>
                  <a:pt x="24" y="3"/>
                </a:lnTo>
                <a:close/>
              </a:path>
            </a:pathLst>
          </a:custGeom>
          <a:solidFill>
            <a:srgbClr val="F8F8F8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bba-group-1-0124"/>
          <p:cNvSpPr/>
          <p:nvPr/>
        </p:nvSpPr>
        <p:spPr>
          <a:xfrm>
            <a:off x="6399218" y="1368436"/>
            <a:ext cx="39550" cy="181931"/>
          </a:xfrm>
          <a:custGeom>
            <a:avLst/>
            <a:gdLst/>
            <a:ahLst/>
            <a:cxnLst/>
            <a:rect l="l" t="t" r="r" b="b"/>
            <a:pathLst>
              <a:path w="5" h="23">
                <a:moveTo>
                  <a:pt x="0" y="3"/>
                </a:moveTo>
                <a:lnTo>
                  <a:pt x="5" y="0"/>
                </a:lnTo>
                <a:lnTo>
                  <a:pt x="5" y="20"/>
                </a:lnTo>
                <a:lnTo>
                  <a:pt x="0" y="23"/>
                </a:lnTo>
                <a:close/>
              </a:path>
            </a:pathLst>
          </a:custGeom>
          <a:solidFill>
            <a:srgbClr val="D0D0D0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bba-group-1-0125"/>
          <p:cNvSpPr/>
          <p:nvPr/>
        </p:nvSpPr>
        <p:spPr>
          <a:xfrm>
            <a:off x="6407128" y="1392166"/>
            <a:ext cx="189841" cy="158201"/>
          </a:xfrm>
          <a:prstGeom prst="rect">
            <a:avLst/>
          </a:prstGeom>
          <a:solidFill>
            <a:srgbClr val="BAACFB"/>
          </a:solidFill>
          <a:ln w="7119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bba-group-1-0126"/>
          <p:cNvSpPr/>
          <p:nvPr/>
        </p:nvSpPr>
        <p:spPr>
          <a:xfrm>
            <a:off x="6407128" y="1368436"/>
            <a:ext cx="229391" cy="23730"/>
          </a:xfrm>
          <a:custGeom>
            <a:avLst/>
            <a:gdLst/>
            <a:ahLst/>
            <a:cxnLst/>
            <a:rect l="l" t="t" r="r" b="b"/>
            <a:pathLst>
              <a:path w="29" h="3">
                <a:moveTo>
                  <a:pt x="0" y="3"/>
                </a:moveTo>
                <a:lnTo>
                  <a:pt x="5" y="0"/>
                </a:lnTo>
                <a:lnTo>
                  <a:pt x="29" y="0"/>
                </a:lnTo>
                <a:lnTo>
                  <a:pt x="24" y="3"/>
                </a:lnTo>
                <a:close/>
              </a:path>
            </a:pathLst>
          </a:custGeom>
          <a:solidFill>
            <a:srgbClr val="F8F8F8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bba-group-1-0127"/>
          <p:cNvSpPr/>
          <p:nvPr/>
        </p:nvSpPr>
        <p:spPr>
          <a:xfrm>
            <a:off x="6596969" y="1368436"/>
            <a:ext cx="39550" cy="181931"/>
          </a:xfrm>
          <a:custGeom>
            <a:avLst/>
            <a:gdLst/>
            <a:ahLst/>
            <a:cxnLst/>
            <a:rect l="l" t="t" r="r" b="b"/>
            <a:pathLst>
              <a:path w="5" h="23">
                <a:moveTo>
                  <a:pt x="0" y="3"/>
                </a:moveTo>
                <a:lnTo>
                  <a:pt x="5" y="0"/>
                </a:lnTo>
                <a:lnTo>
                  <a:pt x="5" y="20"/>
                </a:lnTo>
                <a:lnTo>
                  <a:pt x="0" y="23"/>
                </a:lnTo>
                <a:close/>
              </a:path>
            </a:pathLst>
          </a:custGeom>
          <a:solidFill>
            <a:srgbClr val="D0D0D0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bba-group-1-0128"/>
          <p:cNvSpPr/>
          <p:nvPr/>
        </p:nvSpPr>
        <p:spPr>
          <a:xfrm>
            <a:off x="6604879" y="1392166"/>
            <a:ext cx="189841" cy="158201"/>
          </a:xfrm>
          <a:prstGeom prst="rect">
            <a:avLst/>
          </a:prstGeom>
          <a:solidFill>
            <a:srgbClr val="BAACFB"/>
          </a:solidFill>
          <a:ln w="7119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bba-group-1-0129"/>
          <p:cNvSpPr/>
          <p:nvPr/>
        </p:nvSpPr>
        <p:spPr>
          <a:xfrm>
            <a:off x="6604879" y="1368436"/>
            <a:ext cx="229391" cy="23730"/>
          </a:xfrm>
          <a:custGeom>
            <a:avLst/>
            <a:gdLst/>
            <a:ahLst/>
            <a:cxnLst/>
            <a:rect l="l" t="t" r="r" b="b"/>
            <a:pathLst>
              <a:path w="29" h="3">
                <a:moveTo>
                  <a:pt x="0" y="3"/>
                </a:moveTo>
                <a:lnTo>
                  <a:pt x="5" y="0"/>
                </a:lnTo>
                <a:lnTo>
                  <a:pt x="29" y="0"/>
                </a:lnTo>
                <a:lnTo>
                  <a:pt x="24" y="3"/>
                </a:lnTo>
                <a:close/>
              </a:path>
            </a:pathLst>
          </a:custGeom>
          <a:solidFill>
            <a:srgbClr val="F8F8F8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bba-group-1-0130"/>
          <p:cNvSpPr/>
          <p:nvPr/>
        </p:nvSpPr>
        <p:spPr>
          <a:xfrm>
            <a:off x="6794720" y="1368436"/>
            <a:ext cx="39550" cy="181931"/>
          </a:xfrm>
          <a:custGeom>
            <a:avLst/>
            <a:gdLst/>
            <a:ahLst/>
            <a:cxnLst/>
            <a:rect l="l" t="t" r="r" b="b"/>
            <a:pathLst>
              <a:path w="5" h="23">
                <a:moveTo>
                  <a:pt x="0" y="3"/>
                </a:moveTo>
                <a:lnTo>
                  <a:pt x="5" y="0"/>
                </a:lnTo>
                <a:lnTo>
                  <a:pt x="5" y="20"/>
                </a:lnTo>
                <a:lnTo>
                  <a:pt x="0" y="23"/>
                </a:lnTo>
                <a:close/>
              </a:path>
            </a:pathLst>
          </a:custGeom>
          <a:solidFill>
            <a:srgbClr val="D0D0D0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bba-group-1-0131"/>
          <p:cNvSpPr/>
          <p:nvPr/>
        </p:nvSpPr>
        <p:spPr>
          <a:xfrm>
            <a:off x="6802630" y="1392166"/>
            <a:ext cx="189841" cy="158201"/>
          </a:xfrm>
          <a:prstGeom prst="rect">
            <a:avLst/>
          </a:prstGeom>
          <a:solidFill>
            <a:srgbClr val="BAACFB"/>
          </a:solidFill>
          <a:ln w="7119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bba-group-1-0132"/>
          <p:cNvSpPr/>
          <p:nvPr/>
        </p:nvSpPr>
        <p:spPr>
          <a:xfrm>
            <a:off x="6802630" y="1368436"/>
            <a:ext cx="229391" cy="23730"/>
          </a:xfrm>
          <a:custGeom>
            <a:avLst/>
            <a:gdLst/>
            <a:ahLst/>
            <a:cxnLst/>
            <a:rect l="l" t="t" r="r" b="b"/>
            <a:pathLst>
              <a:path w="29" h="3">
                <a:moveTo>
                  <a:pt x="0" y="3"/>
                </a:moveTo>
                <a:lnTo>
                  <a:pt x="5" y="0"/>
                </a:lnTo>
                <a:lnTo>
                  <a:pt x="29" y="0"/>
                </a:lnTo>
                <a:lnTo>
                  <a:pt x="24" y="3"/>
                </a:lnTo>
                <a:close/>
              </a:path>
            </a:pathLst>
          </a:custGeom>
          <a:solidFill>
            <a:srgbClr val="F8F8F8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bba-group-1-0133"/>
          <p:cNvSpPr/>
          <p:nvPr/>
        </p:nvSpPr>
        <p:spPr>
          <a:xfrm>
            <a:off x="6992470" y="1368436"/>
            <a:ext cx="39550" cy="181931"/>
          </a:xfrm>
          <a:custGeom>
            <a:avLst/>
            <a:gdLst/>
            <a:ahLst/>
            <a:cxnLst/>
            <a:rect l="l" t="t" r="r" b="b"/>
            <a:pathLst>
              <a:path w="5" h="23">
                <a:moveTo>
                  <a:pt x="0" y="3"/>
                </a:moveTo>
                <a:lnTo>
                  <a:pt x="5" y="0"/>
                </a:lnTo>
                <a:lnTo>
                  <a:pt x="5" y="20"/>
                </a:lnTo>
                <a:lnTo>
                  <a:pt x="0" y="23"/>
                </a:lnTo>
                <a:close/>
              </a:path>
            </a:pathLst>
          </a:custGeom>
          <a:solidFill>
            <a:srgbClr val="D0D0D0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bba-group-1-0134"/>
          <p:cNvSpPr/>
          <p:nvPr/>
        </p:nvSpPr>
        <p:spPr>
          <a:xfrm>
            <a:off x="7000380" y="1392166"/>
            <a:ext cx="189841" cy="158201"/>
          </a:xfrm>
          <a:prstGeom prst="rect">
            <a:avLst/>
          </a:prstGeom>
          <a:solidFill>
            <a:srgbClr val="BAACFB"/>
          </a:solidFill>
          <a:ln w="7119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bba-group-1-0135"/>
          <p:cNvSpPr/>
          <p:nvPr/>
        </p:nvSpPr>
        <p:spPr>
          <a:xfrm>
            <a:off x="7000380" y="1368436"/>
            <a:ext cx="229391" cy="23730"/>
          </a:xfrm>
          <a:custGeom>
            <a:avLst/>
            <a:gdLst/>
            <a:ahLst/>
            <a:cxnLst/>
            <a:rect l="l" t="t" r="r" b="b"/>
            <a:pathLst>
              <a:path w="29" h="3">
                <a:moveTo>
                  <a:pt x="0" y="3"/>
                </a:moveTo>
                <a:lnTo>
                  <a:pt x="5" y="0"/>
                </a:lnTo>
                <a:lnTo>
                  <a:pt x="29" y="0"/>
                </a:lnTo>
                <a:lnTo>
                  <a:pt x="24" y="3"/>
                </a:lnTo>
                <a:close/>
              </a:path>
            </a:pathLst>
          </a:custGeom>
          <a:solidFill>
            <a:srgbClr val="F8F8F8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bba-group-1-0136"/>
          <p:cNvSpPr/>
          <p:nvPr/>
        </p:nvSpPr>
        <p:spPr>
          <a:xfrm>
            <a:off x="7190221" y="1368436"/>
            <a:ext cx="39550" cy="181931"/>
          </a:xfrm>
          <a:custGeom>
            <a:avLst/>
            <a:gdLst/>
            <a:ahLst/>
            <a:cxnLst/>
            <a:rect l="l" t="t" r="r" b="b"/>
            <a:pathLst>
              <a:path w="5" h="23">
                <a:moveTo>
                  <a:pt x="0" y="3"/>
                </a:moveTo>
                <a:lnTo>
                  <a:pt x="5" y="0"/>
                </a:lnTo>
                <a:lnTo>
                  <a:pt x="5" y="20"/>
                </a:lnTo>
                <a:lnTo>
                  <a:pt x="0" y="23"/>
                </a:lnTo>
                <a:close/>
              </a:path>
            </a:pathLst>
          </a:custGeom>
          <a:solidFill>
            <a:srgbClr val="D0D0D0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bba-group-1-0137"/>
          <p:cNvSpPr/>
          <p:nvPr/>
        </p:nvSpPr>
        <p:spPr>
          <a:xfrm>
            <a:off x="7198131" y="1392166"/>
            <a:ext cx="189841" cy="158201"/>
          </a:xfrm>
          <a:prstGeom prst="rect">
            <a:avLst/>
          </a:prstGeom>
          <a:solidFill>
            <a:srgbClr val="BAACFB"/>
          </a:solidFill>
          <a:ln w="7119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bba-group-1-0138"/>
          <p:cNvSpPr/>
          <p:nvPr/>
        </p:nvSpPr>
        <p:spPr>
          <a:xfrm>
            <a:off x="7198131" y="1368436"/>
            <a:ext cx="229391" cy="23730"/>
          </a:xfrm>
          <a:custGeom>
            <a:avLst/>
            <a:gdLst/>
            <a:ahLst/>
            <a:cxnLst/>
            <a:rect l="l" t="t" r="r" b="b"/>
            <a:pathLst>
              <a:path w="29" h="3">
                <a:moveTo>
                  <a:pt x="0" y="3"/>
                </a:moveTo>
                <a:lnTo>
                  <a:pt x="5" y="0"/>
                </a:lnTo>
                <a:lnTo>
                  <a:pt x="29" y="0"/>
                </a:lnTo>
                <a:lnTo>
                  <a:pt x="24" y="3"/>
                </a:lnTo>
                <a:close/>
              </a:path>
            </a:pathLst>
          </a:custGeom>
          <a:solidFill>
            <a:srgbClr val="F8F8F8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bba-group-1-0139"/>
          <p:cNvSpPr/>
          <p:nvPr/>
        </p:nvSpPr>
        <p:spPr>
          <a:xfrm>
            <a:off x="7387972" y="1368436"/>
            <a:ext cx="39550" cy="181931"/>
          </a:xfrm>
          <a:custGeom>
            <a:avLst/>
            <a:gdLst/>
            <a:ahLst/>
            <a:cxnLst/>
            <a:rect l="l" t="t" r="r" b="b"/>
            <a:pathLst>
              <a:path w="5" h="23">
                <a:moveTo>
                  <a:pt x="0" y="3"/>
                </a:moveTo>
                <a:lnTo>
                  <a:pt x="5" y="0"/>
                </a:lnTo>
                <a:lnTo>
                  <a:pt x="5" y="20"/>
                </a:lnTo>
                <a:lnTo>
                  <a:pt x="0" y="23"/>
                </a:lnTo>
                <a:close/>
              </a:path>
            </a:pathLst>
          </a:custGeom>
          <a:solidFill>
            <a:srgbClr val="D0D0D0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bba-group-1-0140"/>
          <p:cNvSpPr/>
          <p:nvPr/>
        </p:nvSpPr>
        <p:spPr>
          <a:xfrm>
            <a:off x="7395882" y="1392166"/>
            <a:ext cx="189841" cy="158201"/>
          </a:xfrm>
          <a:prstGeom prst="rect">
            <a:avLst/>
          </a:prstGeom>
          <a:solidFill>
            <a:srgbClr val="BAACFB"/>
          </a:solidFill>
          <a:ln w="7119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bba-group-1-0141"/>
          <p:cNvSpPr/>
          <p:nvPr/>
        </p:nvSpPr>
        <p:spPr>
          <a:xfrm>
            <a:off x="7395882" y="1368436"/>
            <a:ext cx="229391" cy="23730"/>
          </a:xfrm>
          <a:custGeom>
            <a:avLst/>
            <a:gdLst/>
            <a:ahLst/>
            <a:cxnLst/>
            <a:rect l="l" t="t" r="r" b="b"/>
            <a:pathLst>
              <a:path w="29" h="3">
                <a:moveTo>
                  <a:pt x="0" y="3"/>
                </a:moveTo>
                <a:lnTo>
                  <a:pt x="5" y="0"/>
                </a:lnTo>
                <a:lnTo>
                  <a:pt x="29" y="0"/>
                </a:lnTo>
                <a:lnTo>
                  <a:pt x="24" y="3"/>
                </a:lnTo>
                <a:close/>
              </a:path>
            </a:pathLst>
          </a:custGeom>
          <a:solidFill>
            <a:srgbClr val="F8F8F8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bba-group-1-0142"/>
          <p:cNvSpPr/>
          <p:nvPr/>
        </p:nvSpPr>
        <p:spPr>
          <a:xfrm>
            <a:off x="7585723" y="1368436"/>
            <a:ext cx="39550" cy="181931"/>
          </a:xfrm>
          <a:custGeom>
            <a:avLst/>
            <a:gdLst/>
            <a:ahLst/>
            <a:cxnLst/>
            <a:rect l="l" t="t" r="r" b="b"/>
            <a:pathLst>
              <a:path w="5" h="23">
                <a:moveTo>
                  <a:pt x="0" y="3"/>
                </a:moveTo>
                <a:lnTo>
                  <a:pt x="5" y="0"/>
                </a:lnTo>
                <a:lnTo>
                  <a:pt x="5" y="20"/>
                </a:lnTo>
                <a:lnTo>
                  <a:pt x="0" y="23"/>
                </a:lnTo>
                <a:close/>
              </a:path>
            </a:pathLst>
          </a:custGeom>
          <a:solidFill>
            <a:srgbClr val="D0D0D0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bba-group-1-0143"/>
          <p:cNvSpPr/>
          <p:nvPr/>
        </p:nvSpPr>
        <p:spPr>
          <a:xfrm>
            <a:off x="7593633" y="1392166"/>
            <a:ext cx="189841" cy="158201"/>
          </a:xfrm>
          <a:prstGeom prst="rect">
            <a:avLst/>
          </a:prstGeom>
          <a:solidFill>
            <a:srgbClr val="BAACFB"/>
          </a:solidFill>
          <a:ln w="7119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bba-group-1-0144"/>
          <p:cNvSpPr/>
          <p:nvPr/>
        </p:nvSpPr>
        <p:spPr>
          <a:xfrm>
            <a:off x="7593633" y="1368436"/>
            <a:ext cx="229391" cy="23730"/>
          </a:xfrm>
          <a:custGeom>
            <a:avLst/>
            <a:gdLst/>
            <a:ahLst/>
            <a:cxnLst/>
            <a:rect l="l" t="t" r="r" b="b"/>
            <a:pathLst>
              <a:path w="29" h="3">
                <a:moveTo>
                  <a:pt x="0" y="3"/>
                </a:moveTo>
                <a:lnTo>
                  <a:pt x="5" y="0"/>
                </a:lnTo>
                <a:lnTo>
                  <a:pt x="29" y="0"/>
                </a:lnTo>
                <a:lnTo>
                  <a:pt x="24" y="3"/>
                </a:lnTo>
                <a:close/>
              </a:path>
            </a:pathLst>
          </a:custGeom>
          <a:solidFill>
            <a:srgbClr val="F8F8F8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bba-group-1-0145"/>
          <p:cNvSpPr/>
          <p:nvPr/>
        </p:nvSpPr>
        <p:spPr>
          <a:xfrm>
            <a:off x="7783474" y="1368436"/>
            <a:ext cx="39550" cy="181931"/>
          </a:xfrm>
          <a:custGeom>
            <a:avLst/>
            <a:gdLst/>
            <a:ahLst/>
            <a:cxnLst/>
            <a:rect l="l" t="t" r="r" b="b"/>
            <a:pathLst>
              <a:path w="5" h="23">
                <a:moveTo>
                  <a:pt x="0" y="3"/>
                </a:moveTo>
                <a:lnTo>
                  <a:pt x="5" y="0"/>
                </a:lnTo>
                <a:lnTo>
                  <a:pt x="5" y="20"/>
                </a:lnTo>
                <a:lnTo>
                  <a:pt x="0" y="23"/>
                </a:lnTo>
                <a:close/>
              </a:path>
            </a:pathLst>
          </a:custGeom>
          <a:solidFill>
            <a:srgbClr val="D0D0D0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bba-group-1-0146"/>
          <p:cNvSpPr txBox="1"/>
          <p:nvPr/>
        </p:nvSpPr>
        <p:spPr>
          <a:xfrm>
            <a:off x="6446678" y="1194415"/>
            <a:ext cx="197751" cy="17402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1494" b="1">
                <a:solidFill>
                  <a:srgbClr val="000000"/>
                </a:solidFill>
                <a:latin typeface="Liberation Serif"/>
              </a:rPr>
              <a:t>⋮</a:t>
            </a:r>
          </a:p>
        </p:txBody>
      </p:sp>
      <p:sp>
        <p:nvSpPr>
          <p:cNvPr id="148" name="bba-group-1-0147"/>
          <p:cNvSpPr txBox="1"/>
          <p:nvPr/>
        </p:nvSpPr>
        <p:spPr>
          <a:xfrm>
            <a:off x="6739349" y="1194415"/>
            <a:ext cx="197751" cy="17402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1494" b="1">
                <a:solidFill>
                  <a:srgbClr val="000000"/>
                </a:solidFill>
                <a:latin typeface="Liberation Serif"/>
              </a:rPr>
              <a:t>⋮</a:t>
            </a:r>
          </a:p>
        </p:txBody>
      </p:sp>
      <p:sp>
        <p:nvSpPr>
          <p:cNvPr id="149" name="bba-group-2-0148"/>
          <p:cNvSpPr/>
          <p:nvPr/>
        </p:nvSpPr>
        <p:spPr>
          <a:xfrm>
            <a:off x="5473744" y="1748118"/>
            <a:ext cx="2428381" cy="791003"/>
          </a:xfrm>
          <a:prstGeom prst="roundRect">
            <a:avLst>
              <a:gd name="adj" fmla="val 16000"/>
            </a:avLst>
          </a:prstGeom>
          <a:noFill/>
          <a:ln w="15820">
            <a:solidFill>
              <a:srgbClr val="F7A9D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bba-group-2-0149"/>
          <p:cNvSpPr/>
          <p:nvPr/>
        </p:nvSpPr>
        <p:spPr>
          <a:xfrm>
            <a:off x="5616124" y="1811398"/>
            <a:ext cx="189841" cy="158201"/>
          </a:xfrm>
          <a:prstGeom prst="rect">
            <a:avLst/>
          </a:prstGeom>
          <a:solidFill>
            <a:srgbClr val="FFDAD4"/>
          </a:solidFill>
          <a:ln w="7119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bba-group-2-0150"/>
          <p:cNvSpPr/>
          <p:nvPr/>
        </p:nvSpPr>
        <p:spPr>
          <a:xfrm>
            <a:off x="5616124" y="1787668"/>
            <a:ext cx="229391" cy="23730"/>
          </a:xfrm>
          <a:custGeom>
            <a:avLst/>
            <a:gdLst/>
            <a:ahLst/>
            <a:cxnLst/>
            <a:rect l="l" t="t" r="r" b="b"/>
            <a:pathLst>
              <a:path w="29" h="3">
                <a:moveTo>
                  <a:pt x="0" y="3"/>
                </a:moveTo>
                <a:lnTo>
                  <a:pt x="5" y="0"/>
                </a:lnTo>
                <a:lnTo>
                  <a:pt x="29" y="0"/>
                </a:lnTo>
                <a:lnTo>
                  <a:pt x="24" y="3"/>
                </a:lnTo>
                <a:close/>
              </a:path>
            </a:pathLst>
          </a:custGeom>
          <a:solidFill>
            <a:srgbClr val="F8F8F8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bba-group-2-0151"/>
          <p:cNvSpPr/>
          <p:nvPr/>
        </p:nvSpPr>
        <p:spPr>
          <a:xfrm>
            <a:off x="5805965" y="1787668"/>
            <a:ext cx="39550" cy="181931"/>
          </a:xfrm>
          <a:custGeom>
            <a:avLst/>
            <a:gdLst/>
            <a:ahLst/>
            <a:cxnLst/>
            <a:rect l="l" t="t" r="r" b="b"/>
            <a:pathLst>
              <a:path w="5" h="23">
                <a:moveTo>
                  <a:pt x="0" y="3"/>
                </a:moveTo>
                <a:lnTo>
                  <a:pt x="5" y="0"/>
                </a:lnTo>
                <a:lnTo>
                  <a:pt x="5" y="20"/>
                </a:lnTo>
                <a:lnTo>
                  <a:pt x="0" y="23"/>
                </a:lnTo>
                <a:close/>
              </a:path>
            </a:pathLst>
          </a:custGeom>
          <a:solidFill>
            <a:srgbClr val="D0D0D0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bba-group-2-0152"/>
          <p:cNvSpPr/>
          <p:nvPr/>
        </p:nvSpPr>
        <p:spPr>
          <a:xfrm>
            <a:off x="5813875" y="1811398"/>
            <a:ext cx="189841" cy="158201"/>
          </a:xfrm>
          <a:prstGeom prst="rect">
            <a:avLst/>
          </a:prstGeom>
          <a:solidFill>
            <a:srgbClr val="FFDAD4"/>
          </a:solidFill>
          <a:ln w="7119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bba-group-2-0153"/>
          <p:cNvSpPr/>
          <p:nvPr/>
        </p:nvSpPr>
        <p:spPr>
          <a:xfrm>
            <a:off x="5813875" y="1787668"/>
            <a:ext cx="229391" cy="23730"/>
          </a:xfrm>
          <a:custGeom>
            <a:avLst/>
            <a:gdLst/>
            <a:ahLst/>
            <a:cxnLst/>
            <a:rect l="l" t="t" r="r" b="b"/>
            <a:pathLst>
              <a:path w="29" h="3">
                <a:moveTo>
                  <a:pt x="0" y="3"/>
                </a:moveTo>
                <a:lnTo>
                  <a:pt x="5" y="0"/>
                </a:lnTo>
                <a:lnTo>
                  <a:pt x="29" y="0"/>
                </a:lnTo>
                <a:lnTo>
                  <a:pt x="24" y="3"/>
                </a:lnTo>
                <a:close/>
              </a:path>
            </a:pathLst>
          </a:custGeom>
          <a:solidFill>
            <a:srgbClr val="F8F8F8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bba-group-2-0154"/>
          <p:cNvSpPr/>
          <p:nvPr/>
        </p:nvSpPr>
        <p:spPr>
          <a:xfrm>
            <a:off x="6003716" y="1787668"/>
            <a:ext cx="39550" cy="181931"/>
          </a:xfrm>
          <a:custGeom>
            <a:avLst/>
            <a:gdLst/>
            <a:ahLst/>
            <a:cxnLst/>
            <a:rect l="l" t="t" r="r" b="b"/>
            <a:pathLst>
              <a:path w="5" h="23">
                <a:moveTo>
                  <a:pt x="0" y="3"/>
                </a:moveTo>
                <a:lnTo>
                  <a:pt x="5" y="0"/>
                </a:lnTo>
                <a:lnTo>
                  <a:pt x="5" y="20"/>
                </a:lnTo>
                <a:lnTo>
                  <a:pt x="0" y="23"/>
                </a:lnTo>
                <a:close/>
              </a:path>
            </a:pathLst>
          </a:custGeom>
          <a:solidFill>
            <a:srgbClr val="D0D0D0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bba-group-2-0155"/>
          <p:cNvSpPr/>
          <p:nvPr/>
        </p:nvSpPr>
        <p:spPr>
          <a:xfrm>
            <a:off x="6011626" y="1811398"/>
            <a:ext cx="189841" cy="158201"/>
          </a:xfrm>
          <a:prstGeom prst="rect">
            <a:avLst/>
          </a:prstGeom>
          <a:solidFill>
            <a:srgbClr val="FFDAD4"/>
          </a:solidFill>
          <a:ln w="7119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bba-group-2-0156"/>
          <p:cNvSpPr/>
          <p:nvPr/>
        </p:nvSpPr>
        <p:spPr>
          <a:xfrm>
            <a:off x="6011626" y="1787668"/>
            <a:ext cx="229391" cy="23730"/>
          </a:xfrm>
          <a:custGeom>
            <a:avLst/>
            <a:gdLst/>
            <a:ahLst/>
            <a:cxnLst/>
            <a:rect l="l" t="t" r="r" b="b"/>
            <a:pathLst>
              <a:path w="29" h="3">
                <a:moveTo>
                  <a:pt x="0" y="3"/>
                </a:moveTo>
                <a:lnTo>
                  <a:pt x="5" y="0"/>
                </a:lnTo>
                <a:lnTo>
                  <a:pt x="29" y="0"/>
                </a:lnTo>
                <a:lnTo>
                  <a:pt x="24" y="3"/>
                </a:lnTo>
                <a:close/>
              </a:path>
            </a:pathLst>
          </a:custGeom>
          <a:solidFill>
            <a:srgbClr val="F8F8F8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bba-group-2-0157"/>
          <p:cNvSpPr/>
          <p:nvPr/>
        </p:nvSpPr>
        <p:spPr>
          <a:xfrm>
            <a:off x="6201467" y="1787668"/>
            <a:ext cx="39550" cy="181931"/>
          </a:xfrm>
          <a:custGeom>
            <a:avLst/>
            <a:gdLst/>
            <a:ahLst/>
            <a:cxnLst/>
            <a:rect l="l" t="t" r="r" b="b"/>
            <a:pathLst>
              <a:path w="5" h="23">
                <a:moveTo>
                  <a:pt x="0" y="3"/>
                </a:moveTo>
                <a:lnTo>
                  <a:pt x="5" y="0"/>
                </a:lnTo>
                <a:lnTo>
                  <a:pt x="5" y="20"/>
                </a:lnTo>
                <a:lnTo>
                  <a:pt x="0" y="23"/>
                </a:lnTo>
                <a:close/>
              </a:path>
            </a:pathLst>
          </a:custGeom>
          <a:solidFill>
            <a:srgbClr val="D0D0D0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bba-group-2-0158"/>
          <p:cNvSpPr/>
          <p:nvPr/>
        </p:nvSpPr>
        <p:spPr>
          <a:xfrm>
            <a:off x="6209377" y="1811398"/>
            <a:ext cx="189841" cy="158201"/>
          </a:xfrm>
          <a:prstGeom prst="rect">
            <a:avLst/>
          </a:prstGeom>
          <a:solidFill>
            <a:srgbClr val="FFDAD4"/>
          </a:solidFill>
          <a:ln w="7119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bba-group-2-0159"/>
          <p:cNvSpPr/>
          <p:nvPr/>
        </p:nvSpPr>
        <p:spPr>
          <a:xfrm>
            <a:off x="6209377" y="1787668"/>
            <a:ext cx="229391" cy="23730"/>
          </a:xfrm>
          <a:custGeom>
            <a:avLst/>
            <a:gdLst/>
            <a:ahLst/>
            <a:cxnLst/>
            <a:rect l="l" t="t" r="r" b="b"/>
            <a:pathLst>
              <a:path w="29" h="3">
                <a:moveTo>
                  <a:pt x="0" y="3"/>
                </a:moveTo>
                <a:lnTo>
                  <a:pt x="5" y="0"/>
                </a:lnTo>
                <a:lnTo>
                  <a:pt x="29" y="0"/>
                </a:lnTo>
                <a:lnTo>
                  <a:pt x="24" y="3"/>
                </a:lnTo>
                <a:close/>
              </a:path>
            </a:pathLst>
          </a:custGeom>
          <a:solidFill>
            <a:srgbClr val="F8F8F8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bba-group-2-0160"/>
          <p:cNvSpPr/>
          <p:nvPr/>
        </p:nvSpPr>
        <p:spPr>
          <a:xfrm>
            <a:off x="6399218" y="1787668"/>
            <a:ext cx="39550" cy="181931"/>
          </a:xfrm>
          <a:custGeom>
            <a:avLst/>
            <a:gdLst/>
            <a:ahLst/>
            <a:cxnLst/>
            <a:rect l="l" t="t" r="r" b="b"/>
            <a:pathLst>
              <a:path w="5" h="23">
                <a:moveTo>
                  <a:pt x="0" y="3"/>
                </a:moveTo>
                <a:lnTo>
                  <a:pt x="5" y="0"/>
                </a:lnTo>
                <a:lnTo>
                  <a:pt x="5" y="20"/>
                </a:lnTo>
                <a:lnTo>
                  <a:pt x="0" y="23"/>
                </a:lnTo>
                <a:close/>
              </a:path>
            </a:pathLst>
          </a:custGeom>
          <a:solidFill>
            <a:srgbClr val="D0D0D0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bba-group-2-0161"/>
          <p:cNvSpPr/>
          <p:nvPr/>
        </p:nvSpPr>
        <p:spPr>
          <a:xfrm>
            <a:off x="6407128" y="1811398"/>
            <a:ext cx="189841" cy="158201"/>
          </a:xfrm>
          <a:prstGeom prst="rect">
            <a:avLst/>
          </a:prstGeom>
          <a:solidFill>
            <a:srgbClr val="FFDAD4"/>
          </a:solidFill>
          <a:ln w="7119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bba-group-2-0162"/>
          <p:cNvSpPr/>
          <p:nvPr/>
        </p:nvSpPr>
        <p:spPr>
          <a:xfrm>
            <a:off x="6407128" y="1787668"/>
            <a:ext cx="229391" cy="23730"/>
          </a:xfrm>
          <a:custGeom>
            <a:avLst/>
            <a:gdLst/>
            <a:ahLst/>
            <a:cxnLst/>
            <a:rect l="l" t="t" r="r" b="b"/>
            <a:pathLst>
              <a:path w="29" h="3">
                <a:moveTo>
                  <a:pt x="0" y="3"/>
                </a:moveTo>
                <a:lnTo>
                  <a:pt x="5" y="0"/>
                </a:lnTo>
                <a:lnTo>
                  <a:pt x="29" y="0"/>
                </a:lnTo>
                <a:lnTo>
                  <a:pt x="24" y="3"/>
                </a:lnTo>
                <a:close/>
              </a:path>
            </a:pathLst>
          </a:custGeom>
          <a:solidFill>
            <a:srgbClr val="F8F8F8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bba-group-2-0163"/>
          <p:cNvSpPr/>
          <p:nvPr/>
        </p:nvSpPr>
        <p:spPr>
          <a:xfrm>
            <a:off x="6596969" y="1787668"/>
            <a:ext cx="39550" cy="181931"/>
          </a:xfrm>
          <a:custGeom>
            <a:avLst/>
            <a:gdLst/>
            <a:ahLst/>
            <a:cxnLst/>
            <a:rect l="l" t="t" r="r" b="b"/>
            <a:pathLst>
              <a:path w="5" h="23">
                <a:moveTo>
                  <a:pt x="0" y="3"/>
                </a:moveTo>
                <a:lnTo>
                  <a:pt x="5" y="0"/>
                </a:lnTo>
                <a:lnTo>
                  <a:pt x="5" y="20"/>
                </a:lnTo>
                <a:lnTo>
                  <a:pt x="0" y="23"/>
                </a:lnTo>
                <a:close/>
              </a:path>
            </a:pathLst>
          </a:custGeom>
          <a:solidFill>
            <a:srgbClr val="D0D0D0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bba-group-2-0164"/>
          <p:cNvSpPr/>
          <p:nvPr/>
        </p:nvSpPr>
        <p:spPr>
          <a:xfrm>
            <a:off x="6604879" y="1811398"/>
            <a:ext cx="189841" cy="158201"/>
          </a:xfrm>
          <a:prstGeom prst="rect">
            <a:avLst/>
          </a:prstGeom>
          <a:solidFill>
            <a:srgbClr val="FFDAD4"/>
          </a:solidFill>
          <a:ln w="7119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bba-group-2-0165"/>
          <p:cNvSpPr/>
          <p:nvPr/>
        </p:nvSpPr>
        <p:spPr>
          <a:xfrm>
            <a:off x="6604879" y="1787668"/>
            <a:ext cx="229391" cy="23730"/>
          </a:xfrm>
          <a:custGeom>
            <a:avLst/>
            <a:gdLst/>
            <a:ahLst/>
            <a:cxnLst/>
            <a:rect l="l" t="t" r="r" b="b"/>
            <a:pathLst>
              <a:path w="29" h="3">
                <a:moveTo>
                  <a:pt x="0" y="3"/>
                </a:moveTo>
                <a:lnTo>
                  <a:pt x="5" y="0"/>
                </a:lnTo>
                <a:lnTo>
                  <a:pt x="29" y="0"/>
                </a:lnTo>
                <a:lnTo>
                  <a:pt x="24" y="3"/>
                </a:lnTo>
                <a:close/>
              </a:path>
            </a:pathLst>
          </a:custGeom>
          <a:solidFill>
            <a:srgbClr val="F8F8F8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bba-group-2-0166"/>
          <p:cNvSpPr/>
          <p:nvPr/>
        </p:nvSpPr>
        <p:spPr>
          <a:xfrm>
            <a:off x="6794720" y="1787668"/>
            <a:ext cx="39550" cy="181931"/>
          </a:xfrm>
          <a:custGeom>
            <a:avLst/>
            <a:gdLst/>
            <a:ahLst/>
            <a:cxnLst/>
            <a:rect l="l" t="t" r="r" b="b"/>
            <a:pathLst>
              <a:path w="5" h="23">
                <a:moveTo>
                  <a:pt x="0" y="3"/>
                </a:moveTo>
                <a:lnTo>
                  <a:pt x="5" y="0"/>
                </a:lnTo>
                <a:lnTo>
                  <a:pt x="5" y="20"/>
                </a:lnTo>
                <a:lnTo>
                  <a:pt x="0" y="23"/>
                </a:lnTo>
                <a:close/>
              </a:path>
            </a:pathLst>
          </a:custGeom>
          <a:solidFill>
            <a:srgbClr val="D0D0D0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bba-group-2-0167"/>
          <p:cNvSpPr/>
          <p:nvPr/>
        </p:nvSpPr>
        <p:spPr>
          <a:xfrm>
            <a:off x="6802630" y="1811398"/>
            <a:ext cx="189841" cy="158201"/>
          </a:xfrm>
          <a:prstGeom prst="rect">
            <a:avLst/>
          </a:prstGeom>
          <a:solidFill>
            <a:srgbClr val="FFDAD4"/>
          </a:solidFill>
          <a:ln w="7119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bba-group-2-0168"/>
          <p:cNvSpPr/>
          <p:nvPr/>
        </p:nvSpPr>
        <p:spPr>
          <a:xfrm>
            <a:off x="6802630" y="1787668"/>
            <a:ext cx="229391" cy="23730"/>
          </a:xfrm>
          <a:custGeom>
            <a:avLst/>
            <a:gdLst/>
            <a:ahLst/>
            <a:cxnLst/>
            <a:rect l="l" t="t" r="r" b="b"/>
            <a:pathLst>
              <a:path w="29" h="3">
                <a:moveTo>
                  <a:pt x="0" y="3"/>
                </a:moveTo>
                <a:lnTo>
                  <a:pt x="5" y="0"/>
                </a:lnTo>
                <a:lnTo>
                  <a:pt x="29" y="0"/>
                </a:lnTo>
                <a:lnTo>
                  <a:pt x="24" y="3"/>
                </a:lnTo>
                <a:close/>
              </a:path>
            </a:pathLst>
          </a:custGeom>
          <a:solidFill>
            <a:srgbClr val="F8F8F8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bba-group-2-0169"/>
          <p:cNvSpPr/>
          <p:nvPr/>
        </p:nvSpPr>
        <p:spPr>
          <a:xfrm>
            <a:off x="6992470" y="1787668"/>
            <a:ext cx="39550" cy="181931"/>
          </a:xfrm>
          <a:custGeom>
            <a:avLst/>
            <a:gdLst/>
            <a:ahLst/>
            <a:cxnLst/>
            <a:rect l="l" t="t" r="r" b="b"/>
            <a:pathLst>
              <a:path w="5" h="23">
                <a:moveTo>
                  <a:pt x="0" y="3"/>
                </a:moveTo>
                <a:lnTo>
                  <a:pt x="5" y="0"/>
                </a:lnTo>
                <a:lnTo>
                  <a:pt x="5" y="20"/>
                </a:lnTo>
                <a:lnTo>
                  <a:pt x="0" y="23"/>
                </a:lnTo>
                <a:close/>
              </a:path>
            </a:pathLst>
          </a:custGeom>
          <a:solidFill>
            <a:srgbClr val="D0D0D0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bba-group-2-0170"/>
          <p:cNvSpPr/>
          <p:nvPr/>
        </p:nvSpPr>
        <p:spPr>
          <a:xfrm>
            <a:off x="7000380" y="1811398"/>
            <a:ext cx="189841" cy="158201"/>
          </a:xfrm>
          <a:prstGeom prst="rect">
            <a:avLst/>
          </a:prstGeom>
          <a:solidFill>
            <a:srgbClr val="FFDAD4"/>
          </a:solidFill>
          <a:ln w="7119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bba-group-2-0171"/>
          <p:cNvSpPr/>
          <p:nvPr/>
        </p:nvSpPr>
        <p:spPr>
          <a:xfrm>
            <a:off x="7000380" y="1787668"/>
            <a:ext cx="229391" cy="23730"/>
          </a:xfrm>
          <a:custGeom>
            <a:avLst/>
            <a:gdLst/>
            <a:ahLst/>
            <a:cxnLst/>
            <a:rect l="l" t="t" r="r" b="b"/>
            <a:pathLst>
              <a:path w="29" h="3">
                <a:moveTo>
                  <a:pt x="0" y="3"/>
                </a:moveTo>
                <a:lnTo>
                  <a:pt x="5" y="0"/>
                </a:lnTo>
                <a:lnTo>
                  <a:pt x="29" y="0"/>
                </a:lnTo>
                <a:lnTo>
                  <a:pt x="24" y="3"/>
                </a:lnTo>
                <a:close/>
              </a:path>
            </a:pathLst>
          </a:custGeom>
          <a:solidFill>
            <a:srgbClr val="F8F8F8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bba-group-2-0172"/>
          <p:cNvSpPr/>
          <p:nvPr/>
        </p:nvSpPr>
        <p:spPr>
          <a:xfrm>
            <a:off x="7190221" y="1787668"/>
            <a:ext cx="39550" cy="181931"/>
          </a:xfrm>
          <a:custGeom>
            <a:avLst/>
            <a:gdLst/>
            <a:ahLst/>
            <a:cxnLst/>
            <a:rect l="l" t="t" r="r" b="b"/>
            <a:pathLst>
              <a:path w="5" h="23">
                <a:moveTo>
                  <a:pt x="0" y="3"/>
                </a:moveTo>
                <a:lnTo>
                  <a:pt x="5" y="0"/>
                </a:lnTo>
                <a:lnTo>
                  <a:pt x="5" y="20"/>
                </a:lnTo>
                <a:lnTo>
                  <a:pt x="0" y="23"/>
                </a:lnTo>
                <a:close/>
              </a:path>
            </a:pathLst>
          </a:custGeom>
          <a:solidFill>
            <a:srgbClr val="D0D0D0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bba-group-2-0173"/>
          <p:cNvSpPr/>
          <p:nvPr/>
        </p:nvSpPr>
        <p:spPr>
          <a:xfrm>
            <a:off x="7198131" y="1811398"/>
            <a:ext cx="189841" cy="158201"/>
          </a:xfrm>
          <a:prstGeom prst="rect">
            <a:avLst/>
          </a:prstGeom>
          <a:solidFill>
            <a:srgbClr val="FFDAD4"/>
          </a:solidFill>
          <a:ln w="7119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bba-group-2-0174"/>
          <p:cNvSpPr/>
          <p:nvPr/>
        </p:nvSpPr>
        <p:spPr>
          <a:xfrm>
            <a:off x="7198131" y="1787668"/>
            <a:ext cx="229391" cy="23730"/>
          </a:xfrm>
          <a:custGeom>
            <a:avLst/>
            <a:gdLst/>
            <a:ahLst/>
            <a:cxnLst/>
            <a:rect l="l" t="t" r="r" b="b"/>
            <a:pathLst>
              <a:path w="29" h="3">
                <a:moveTo>
                  <a:pt x="0" y="3"/>
                </a:moveTo>
                <a:lnTo>
                  <a:pt x="5" y="0"/>
                </a:lnTo>
                <a:lnTo>
                  <a:pt x="29" y="0"/>
                </a:lnTo>
                <a:lnTo>
                  <a:pt x="24" y="3"/>
                </a:lnTo>
                <a:close/>
              </a:path>
            </a:pathLst>
          </a:custGeom>
          <a:solidFill>
            <a:srgbClr val="F8F8F8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bba-group-2-0175"/>
          <p:cNvSpPr/>
          <p:nvPr/>
        </p:nvSpPr>
        <p:spPr>
          <a:xfrm>
            <a:off x="7387972" y="1787668"/>
            <a:ext cx="39550" cy="181931"/>
          </a:xfrm>
          <a:custGeom>
            <a:avLst/>
            <a:gdLst/>
            <a:ahLst/>
            <a:cxnLst/>
            <a:rect l="l" t="t" r="r" b="b"/>
            <a:pathLst>
              <a:path w="5" h="23">
                <a:moveTo>
                  <a:pt x="0" y="3"/>
                </a:moveTo>
                <a:lnTo>
                  <a:pt x="5" y="0"/>
                </a:lnTo>
                <a:lnTo>
                  <a:pt x="5" y="20"/>
                </a:lnTo>
                <a:lnTo>
                  <a:pt x="0" y="23"/>
                </a:lnTo>
                <a:close/>
              </a:path>
            </a:pathLst>
          </a:custGeom>
          <a:solidFill>
            <a:srgbClr val="D0D0D0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bba-group-2-0176"/>
          <p:cNvSpPr/>
          <p:nvPr/>
        </p:nvSpPr>
        <p:spPr>
          <a:xfrm>
            <a:off x="7395882" y="1811398"/>
            <a:ext cx="189841" cy="158201"/>
          </a:xfrm>
          <a:prstGeom prst="rect">
            <a:avLst/>
          </a:prstGeom>
          <a:solidFill>
            <a:srgbClr val="FFDAD4"/>
          </a:solidFill>
          <a:ln w="7119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bba-group-2-0177"/>
          <p:cNvSpPr/>
          <p:nvPr/>
        </p:nvSpPr>
        <p:spPr>
          <a:xfrm>
            <a:off x="7395882" y="1787668"/>
            <a:ext cx="229391" cy="23730"/>
          </a:xfrm>
          <a:custGeom>
            <a:avLst/>
            <a:gdLst/>
            <a:ahLst/>
            <a:cxnLst/>
            <a:rect l="l" t="t" r="r" b="b"/>
            <a:pathLst>
              <a:path w="29" h="3">
                <a:moveTo>
                  <a:pt x="0" y="3"/>
                </a:moveTo>
                <a:lnTo>
                  <a:pt x="5" y="0"/>
                </a:lnTo>
                <a:lnTo>
                  <a:pt x="29" y="0"/>
                </a:lnTo>
                <a:lnTo>
                  <a:pt x="24" y="3"/>
                </a:lnTo>
                <a:close/>
              </a:path>
            </a:pathLst>
          </a:custGeom>
          <a:solidFill>
            <a:srgbClr val="F8F8F8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bba-group-2-0178"/>
          <p:cNvSpPr/>
          <p:nvPr/>
        </p:nvSpPr>
        <p:spPr>
          <a:xfrm>
            <a:off x="7585723" y="1787668"/>
            <a:ext cx="39550" cy="181931"/>
          </a:xfrm>
          <a:custGeom>
            <a:avLst/>
            <a:gdLst/>
            <a:ahLst/>
            <a:cxnLst/>
            <a:rect l="l" t="t" r="r" b="b"/>
            <a:pathLst>
              <a:path w="5" h="23">
                <a:moveTo>
                  <a:pt x="0" y="3"/>
                </a:moveTo>
                <a:lnTo>
                  <a:pt x="5" y="0"/>
                </a:lnTo>
                <a:lnTo>
                  <a:pt x="5" y="20"/>
                </a:lnTo>
                <a:lnTo>
                  <a:pt x="0" y="23"/>
                </a:lnTo>
                <a:close/>
              </a:path>
            </a:pathLst>
          </a:custGeom>
          <a:solidFill>
            <a:srgbClr val="D0D0D0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bba-group-2-0179"/>
          <p:cNvSpPr/>
          <p:nvPr/>
        </p:nvSpPr>
        <p:spPr>
          <a:xfrm>
            <a:off x="7593633" y="1811398"/>
            <a:ext cx="189841" cy="158201"/>
          </a:xfrm>
          <a:prstGeom prst="rect">
            <a:avLst/>
          </a:prstGeom>
          <a:solidFill>
            <a:srgbClr val="FFDAD4"/>
          </a:solidFill>
          <a:ln w="7119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bba-group-2-0180"/>
          <p:cNvSpPr/>
          <p:nvPr/>
        </p:nvSpPr>
        <p:spPr>
          <a:xfrm>
            <a:off x="7593633" y="1787668"/>
            <a:ext cx="229391" cy="23730"/>
          </a:xfrm>
          <a:custGeom>
            <a:avLst/>
            <a:gdLst/>
            <a:ahLst/>
            <a:cxnLst/>
            <a:rect l="l" t="t" r="r" b="b"/>
            <a:pathLst>
              <a:path w="29" h="3">
                <a:moveTo>
                  <a:pt x="0" y="3"/>
                </a:moveTo>
                <a:lnTo>
                  <a:pt x="5" y="0"/>
                </a:lnTo>
                <a:lnTo>
                  <a:pt x="29" y="0"/>
                </a:lnTo>
                <a:lnTo>
                  <a:pt x="24" y="3"/>
                </a:lnTo>
                <a:close/>
              </a:path>
            </a:pathLst>
          </a:custGeom>
          <a:solidFill>
            <a:srgbClr val="F8F8F8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bba-group-2-0181"/>
          <p:cNvSpPr/>
          <p:nvPr/>
        </p:nvSpPr>
        <p:spPr>
          <a:xfrm>
            <a:off x="7783474" y="1787668"/>
            <a:ext cx="39550" cy="181931"/>
          </a:xfrm>
          <a:custGeom>
            <a:avLst/>
            <a:gdLst/>
            <a:ahLst/>
            <a:cxnLst/>
            <a:rect l="l" t="t" r="r" b="b"/>
            <a:pathLst>
              <a:path w="5" h="23">
                <a:moveTo>
                  <a:pt x="0" y="3"/>
                </a:moveTo>
                <a:lnTo>
                  <a:pt x="5" y="0"/>
                </a:lnTo>
                <a:lnTo>
                  <a:pt x="5" y="20"/>
                </a:lnTo>
                <a:lnTo>
                  <a:pt x="0" y="23"/>
                </a:lnTo>
                <a:close/>
              </a:path>
            </a:pathLst>
          </a:custGeom>
          <a:solidFill>
            <a:srgbClr val="D0D0D0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bba-group-2-0182"/>
          <p:cNvSpPr/>
          <p:nvPr/>
        </p:nvSpPr>
        <p:spPr>
          <a:xfrm>
            <a:off x="5616124" y="2024969"/>
            <a:ext cx="189841" cy="158201"/>
          </a:xfrm>
          <a:prstGeom prst="rect">
            <a:avLst/>
          </a:prstGeom>
          <a:solidFill>
            <a:srgbClr val="FED966"/>
          </a:solidFill>
          <a:ln w="7119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bba-group-2-0183"/>
          <p:cNvSpPr/>
          <p:nvPr/>
        </p:nvSpPr>
        <p:spPr>
          <a:xfrm>
            <a:off x="5616124" y="2001239"/>
            <a:ext cx="229391" cy="23730"/>
          </a:xfrm>
          <a:custGeom>
            <a:avLst/>
            <a:gdLst/>
            <a:ahLst/>
            <a:cxnLst/>
            <a:rect l="l" t="t" r="r" b="b"/>
            <a:pathLst>
              <a:path w="29" h="3">
                <a:moveTo>
                  <a:pt x="0" y="3"/>
                </a:moveTo>
                <a:lnTo>
                  <a:pt x="5" y="0"/>
                </a:lnTo>
                <a:lnTo>
                  <a:pt x="29" y="0"/>
                </a:lnTo>
                <a:lnTo>
                  <a:pt x="24" y="3"/>
                </a:lnTo>
                <a:close/>
              </a:path>
            </a:pathLst>
          </a:custGeom>
          <a:solidFill>
            <a:srgbClr val="F8F8F8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bba-group-2-0184"/>
          <p:cNvSpPr/>
          <p:nvPr/>
        </p:nvSpPr>
        <p:spPr>
          <a:xfrm>
            <a:off x="5805965" y="2001239"/>
            <a:ext cx="39550" cy="181931"/>
          </a:xfrm>
          <a:custGeom>
            <a:avLst/>
            <a:gdLst/>
            <a:ahLst/>
            <a:cxnLst/>
            <a:rect l="l" t="t" r="r" b="b"/>
            <a:pathLst>
              <a:path w="5" h="23">
                <a:moveTo>
                  <a:pt x="0" y="3"/>
                </a:moveTo>
                <a:lnTo>
                  <a:pt x="5" y="0"/>
                </a:lnTo>
                <a:lnTo>
                  <a:pt x="5" y="20"/>
                </a:lnTo>
                <a:lnTo>
                  <a:pt x="0" y="23"/>
                </a:lnTo>
                <a:close/>
              </a:path>
            </a:pathLst>
          </a:custGeom>
          <a:solidFill>
            <a:srgbClr val="D0D0D0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bba-group-2-0185"/>
          <p:cNvSpPr/>
          <p:nvPr/>
        </p:nvSpPr>
        <p:spPr>
          <a:xfrm>
            <a:off x="5813875" y="2024969"/>
            <a:ext cx="189841" cy="158201"/>
          </a:xfrm>
          <a:prstGeom prst="rect">
            <a:avLst/>
          </a:prstGeom>
          <a:solidFill>
            <a:srgbClr val="FED966"/>
          </a:solidFill>
          <a:ln w="7119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bba-group-2-0186"/>
          <p:cNvSpPr/>
          <p:nvPr/>
        </p:nvSpPr>
        <p:spPr>
          <a:xfrm>
            <a:off x="5813875" y="2001239"/>
            <a:ext cx="229391" cy="23730"/>
          </a:xfrm>
          <a:custGeom>
            <a:avLst/>
            <a:gdLst/>
            <a:ahLst/>
            <a:cxnLst/>
            <a:rect l="l" t="t" r="r" b="b"/>
            <a:pathLst>
              <a:path w="29" h="3">
                <a:moveTo>
                  <a:pt x="0" y="3"/>
                </a:moveTo>
                <a:lnTo>
                  <a:pt x="5" y="0"/>
                </a:lnTo>
                <a:lnTo>
                  <a:pt x="29" y="0"/>
                </a:lnTo>
                <a:lnTo>
                  <a:pt x="24" y="3"/>
                </a:lnTo>
                <a:close/>
              </a:path>
            </a:pathLst>
          </a:custGeom>
          <a:solidFill>
            <a:srgbClr val="F8F8F8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bba-group-2-0187"/>
          <p:cNvSpPr/>
          <p:nvPr/>
        </p:nvSpPr>
        <p:spPr>
          <a:xfrm>
            <a:off x="6003716" y="2001239"/>
            <a:ext cx="39550" cy="181931"/>
          </a:xfrm>
          <a:custGeom>
            <a:avLst/>
            <a:gdLst/>
            <a:ahLst/>
            <a:cxnLst/>
            <a:rect l="l" t="t" r="r" b="b"/>
            <a:pathLst>
              <a:path w="5" h="23">
                <a:moveTo>
                  <a:pt x="0" y="3"/>
                </a:moveTo>
                <a:lnTo>
                  <a:pt x="5" y="0"/>
                </a:lnTo>
                <a:lnTo>
                  <a:pt x="5" y="20"/>
                </a:lnTo>
                <a:lnTo>
                  <a:pt x="0" y="23"/>
                </a:lnTo>
                <a:close/>
              </a:path>
            </a:pathLst>
          </a:custGeom>
          <a:solidFill>
            <a:srgbClr val="D0D0D0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bba-group-2-0188"/>
          <p:cNvSpPr/>
          <p:nvPr/>
        </p:nvSpPr>
        <p:spPr>
          <a:xfrm>
            <a:off x="6011626" y="2024969"/>
            <a:ext cx="189841" cy="158201"/>
          </a:xfrm>
          <a:prstGeom prst="rect">
            <a:avLst/>
          </a:prstGeom>
          <a:solidFill>
            <a:srgbClr val="FED966"/>
          </a:solidFill>
          <a:ln w="7119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bba-group-2-0189"/>
          <p:cNvSpPr/>
          <p:nvPr/>
        </p:nvSpPr>
        <p:spPr>
          <a:xfrm>
            <a:off x="6011626" y="2001239"/>
            <a:ext cx="229391" cy="23730"/>
          </a:xfrm>
          <a:custGeom>
            <a:avLst/>
            <a:gdLst/>
            <a:ahLst/>
            <a:cxnLst/>
            <a:rect l="l" t="t" r="r" b="b"/>
            <a:pathLst>
              <a:path w="29" h="3">
                <a:moveTo>
                  <a:pt x="0" y="3"/>
                </a:moveTo>
                <a:lnTo>
                  <a:pt x="5" y="0"/>
                </a:lnTo>
                <a:lnTo>
                  <a:pt x="29" y="0"/>
                </a:lnTo>
                <a:lnTo>
                  <a:pt x="24" y="3"/>
                </a:lnTo>
                <a:close/>
              </a:path>
            </a:pathLst>
          </a:custGeom>
          <a:solidFill>
            <a:srgbClr val="F8F8F8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bba-group-2-0190"/>
          <p:cNvSpPr/>
          <p:nvPr/>
        </p:nvSpPr>
        <p:spPr>
          <a:xfrm>
            <a:off x="6201467" y="2001239"/>
            <a:ext cx="39550" cy="181931"/>
          </a:xfrm>
          <a:custGeom>
            <a:avLst/>
            <a:gdLst/>
            <a:ahLst/>
            <a:cxnLst/>
            <a:rect l="l" t="t" r="r" b="b"/>
            <a:pathLst>
              <a:path w="5" h="23">
                <a:moveTo>
                  <a:pt x="0" y="3"/>
                </a:moveTo>
                <a:lnTo>
                  <a:pt x="5" y="0"/>
                </a:lnTo>
                <a:lnTo>
                  <a:pt x="5" y="20"/>
                </a:lnTo>
                <a:lnTo>
                  <a:pt x="0" y="23"/>
                </a:lnTo>
                <a:close/>
              </a:path>
            </a:pathLst>
          </a:custGeom>
          <a:solidFill>
            <a:srgbClr val="D0D0D0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bba-group-2-0191"/>
          <p:cNvSpPr/>
          <p:nvPr/>
        </p:nvSpPr>
        <p:spPr>
          <a:xfrm>
            <a:off x="6209377" y="2024969"/>
            <a:ext cx="189841" cy="158201"/>
          </a:xfrm>
          <a:prstGeom prst="rect">
            <a:avLst/>
          </a:prstGeom>
          <a:solidFill>
            <a:srgbClr val="FED966"/>
          </a:solidFill>
          <a:ln w="7119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bba-group-2-0192"/>
          <p:cNvSpPr/>
          <p:nvPr/>
        </p:nvSpPr>
        <p:spPr>
          <a:xfrm>
            <a:off x="6209377" y="2001239"/>
            <a:ext cx="229391" cy="23730"/>
          </a:xfrm>
          <a:custGeom>
            <a:avLst/>
            <a:gdLst/>
            <a:ahLst/>
            <a:cxnLst/>
            <a:rect l="l" t="t" r="r" b="b"/>
            <a:pathLst>
              <a:path w="29" h="3">
                <a:moveTo>
                  <a:pt x="0" y="3"/>
                </a:moveTo>
                <a:lnTo>
                  <a:pt x="5" y="0"/>
                </a:lnTo>
                <a:lnTo>
                  <a:pt x="29" y="0"/>
                </a:lnTo>
                <a:lnTo>
                  <a:pt x="24" y="3"/>
                </a:lnTo>
                <a:close/>
              </a:path>
            </a:pathLst>
          </a:custGeom>
          <a:solidFill>
            <a:srgbClr val="F8F8F8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bba-group-2-0193"/>
          <p:cNvSpPr/>
          <p:nvPr/>
        </p:nvSpPr>
        <p:spPr>
          <a:xfrm>
            <a:off x="6399218" y="2001239"/>
            <a:ext cx="39550" cy="181931"/>
          </a:xfrm>
          <a:custGeom>
            <a:avLst/>
            <a:gdLst/>
            <a:ahLst/>
            <a:cxnLst/>
            <a:rect l="l" t="t" r="r" b="b"/>
            <a:pathLst>
              <a:path w="5" h="23">
                <a:moveTo>
                  <a:pt x="0" y="3"/>
                </a:moveTo>
                <a:lnTo>
                  <a:pt x="5" y="0"/>
                </a:lnTo>
                <a:lnTo>
                  <a:pt x="5" y="20"/>
                </a:lnTo>
                <a:lnTo>
                  <a:pt x="0" y="23"/>
                </a:lnTo>
                <a:close/>
              </a:path>
            </a:pathLst>
          </a:custGeom>
          <a:solidFill>
            <a:srgbClr val="D0D0D0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bba-group-2-0194"/>
          <p:cNvSpPr/>
          <p:nvPr/>
        </p:nvSpPr>
        <p:spPr>
          <a:xfrm>
            <a:off x="6407128" y="2024969"/>
            <a:ext cx="189841" cy="158201"/>
          </a:xfrm>
          <a:prstGeom prst="rect">
            <a:avLst/>
          </a:prstGeom>
          <a:solidFill>
            <a:srgbClr val="FED966"/>
          </a:solidFill>
          <a:ln w="7119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bba-group-2-0195"/>
          <p:cNvSpPr/>
          <p:nvPr/>
        </p:nvSpPr>
        <p:spPr>
          <a:xfrm>
            <a:off x="6407128" y="2001239"/>
            <a:ext cx="229391" cy="23730"/>
          </a:xfrm>
          <a:custGeom>
            <a:avLst/>
            <a:gdLst/>
            <a:ahLst/>
            <a:cxnLst/>
            <a:rect l="l" t="t" r="r" b="b"/>
            <a:pathLst>
              <a:path w="29" h="3">
                <a:moveTo>
                  <a:pt x="0" y="3"/>
                </a:moveTo>
                <a:lnTo>
                  <a:pt x="5" y="0"/>
                </a:lnTo>
                <a:lnTo>
                  <a:pt x="29" y="0"/>
                </a:lnTo>
                <a:lnTo>
                  <a:pt x="24" y="3"/>
                </a:lnTo>
                <a:close/>
              </a:path>
            </a:pathLst>
          </a:custGeom>
          <a:solidFill>
            <a:srgbClr val="F8F8F8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bba-group-2-0196"/>
          <p:cNvSpPr/>
          <p:nvPr/>
        </p:nvSpPr>
        <p:spPr>
          <a:xfrm>
            <a:off x="6596969" y="2001239"/>
            <a:ext cx="39550" cy="181931"/>
          </a:xfrm>
          <a:custGeom>
            <a:avLst/>
            <a:gdLst/>
            <a:ahLst/>
            <a:cxnLst/>
            <a:rect l="l" t="t" r="r" b="b"/>
            <a:pathLst>
              <a:path w="5" h="23">
                <a:moveTo>
                  <a:pt x="0" y="3"/>
                </a:moveTo>
                <a:lnTo>
                  <a:pt x="5" y="0"/>
                </a:lnTo>
                <a:lnTo>
                  <a:pt x="5" y="20"/>
                </a:lnTo>
                <a:lnTo>
                  <a:pt x="0" y="23"/>
                </a:lnTo>
                <a:close/>
              </a:path>
            </a:pathLst>
          </a:custGeom>
          <a:solidFill>
            <a:srgbClr val="D0D0D0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bba-group-2-0197"/>
          <p:cNvSpPr/>
          <p:nvPr/>
        </p:nvSpPr>
        <p:spPr>
          <a:xfrm>
            <a:off x="6604879" y="2024969"/>
            <a:ext cx="189841" cy="158201"/>
          </a:xfrm>
          <a:prstGeom prst="rect">
            <a:avLst/>
          </a:prstGeom>
          <a:solidFill>
            <a:srgbClr val="FED966"/>
          </a:solidFill>
          <a:ln w="7119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bba-group-2-0198"/>
          <p:cNvSpPr/>
          <p:nvPr/>
        </p:nvSpPr>
        <p:spPr>
          <a:xfrm>
            <a:off x="6604879" y="2001239"/>
            <a:ext cx="229391" cy="23730"/>
          </a:xfrm>
          <a:custGeom>
            <a:avLst/>
            <a:gdLst/>
            <a:ahLst/>
            <a:cxnLst/>
            <a:rect l="l" t="t" r="r" b="b"/>
            <a:pathLst>
              <a:path w="29" h="3">
                <a:moveTo>
                  <a:pt x="0" y="3"/>
                </a:moveTo>
                <a:lnTo>
                  <a:pt x="5" y="0"/>
                </a:lnTo>
                <a:lnTo>
                  <a:pt x="29" y="0"/>
                </a:lnTo>
                <a:lnTo>
                  <a:pt x="24" y="3"/>
                </a:lnTo>
                <a:close/>
              </a:path>
            </a:pathLst>
          </a:custGeom>
          <a:solidFill>
            <a:srgbClr val="F8F8F8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bba-group-2-0199"/>
          <p:cNvSpPr/>
          <p:nvPr/>
        </p:nvSpPr>
        <p:spPr>
          <a:xfrm>
            <a:off x="6794720" y="2001239"/>
            <a:ext cx="39550" cy="181931"/>
          </a:xfrm>
          <a:custGeom>
            <a:avLst/>
            <a:gdLst/>
            <a:ahLst/>
            <a:cxnLst/>
            <a:rect l="l" t="t" r="r" b="b"/>
            <a:pathLst>
              <a:path w="5" h="23">
                <a:moveTo>
                  <a:pt x="0" y="3"/>
                </a:moveTo>
                <a:lnTo>
                  <a:pt x="5" y="0"/>
                </a:lnTo>
                <a:lnTo>
                  <a:pt x="5" y="20"/>
                </a:lnTo>
                <a:lnTo>
                  <a:pt x="0" y="23"/>
                </a:lnTo>
                <a:close/>
              </a:path>
            </a:pathLst>
          </a:custGeom>
          <a:solidFill>
            <a:srgbClr val="D0D0D0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bba-group-2-0200"/>
          <p:cNvSpPr/>
          <p:nvPr/>
        </p:nvSpPr>
        <p:spPr>
          <a:xfrm>
            <a:off x="6802630" y="2024969"/>
            <a:ext cx="189841" cy="158201"/>
          </a:xfrm>
          <a:prstGeom prst="rect">
            <a:avLst/>
          </a:prstGeom>
          <a:solidFill>
            <a:srgbClr val="FED966"/>
          </a:solidFill>
          <a:ln w="7119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bba-group-2-0201"/>
          <p:cNvSpPr/>
          <p:nvPr/>
        </p:nvSpPr>
        <p:spPr>
          <a:xfrm>
            <a:off x="6802630" y="2001239"/>
            <a:ext cx="229391" cy="23730"/>
          </a:xfrm>
          <a:custGeom>
            <a:avLst/>
            <a:gdLst/>
            <a:ahLst/>
            <a:cxnLst/>
            <a:rect l="l" t="t" r="r" b="b"/>
            <a:pathLst>
              <a:path w="29" h="3">
                <a:moveTo>
                  <a:pt x="0" y="3"/>
                </a:moveTo>
                <a:lnTo>
                  <a:pt x="5" y="0"/>
                </a:lnTo>
                <a:lnTo>
                  <a:pt x="29" y="0"/>
                </a:lnTo>
                <a:lnTo>
                  <a:pt x="24" y="3"/>
                </a:lnTo>
                <a:close/>
              </a:path>
            </a:pathLst>
          </a:custGeom>
          <a:solidFill>
            <a:srgbClr val="F8F8F8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bba-group-2-0202"/>
          <p:cNvSpPr/>
          <p:nvPr/>
        </p:nvSpPr>
        <p:spPr>
          <a:xfrm>
            <a:off x="6992470" y="2001239"/>
            <a:ext cx="39550" cy="181931"/>
          </a:xfrm>
          <a:custGeom>
            <a:avLst/>
            <a:gdLst/>
            <a:ahLst/>
            <a:cxnLst/>
            <a:rect l="l" t="t" r="r" b="b"/>
            <a:pathLst>
              <a:path w="5" h="23">
                <a:moveTo>
                  <a:pt x="0" y="3"/>
                </a:moveTo>
                <a:lnTo>
                  <a:pt x="5" y="0"/>
                </a:lnTo>
                <a:lnTo>
                  <a:pt x="5" y="20"/>
                </a:lnTo>
                <a:lnTo>
                  <a:pt x="0" y="23"/>
                </a:lnTo>
                <a:close/>
              </a:path>
            </a:pathLst>
          </a:custGeom>
          <a:solidFill>
            <a:srgbClr val="D0D0D0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bba-group-2-0203"/>
          <p:cNvSpPr/>
          <p:nvPr/>
        </p:nvSpPr>
        <p:spPr>
          <a:xfrm>
            <a:off x="7000380" y="2024969"/>
            <a:ext cx="189841" cy="158201"/>
          </a:xfrm>
          <a:prstGeom prst="rect">
            <a:avLst/>
          </a:prstGeom>
          <a:solidFill>
            <a:srgbClr val="FED966"/>
          </a:solidFill>
          <a:ln w="7119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bba-group-2-0204"/>
          <p:cNvSpPr/>
          <p:nvPr/>
        </p:nvSpPr>
        <p:spPr>
          <a:xfrm>
            <a:off x="7000380" y="2001239"/>
            <a:ext cx="229391" cy="23730"/>
          </a:xfrm>
          <a:custGeom>
            <a:avLst/>
            <a:gdLst/>
            <a:ahLst/>
            <a:cxnLst/>
            <a:rect l="l" t="t" r="r" b="b"/>
            <a:pathLst>
              <a:path w="29" h="3">
                <a:moveTo>
                  <a:pt x="0" y="3"/>
                </a:moveTo>
                <a:lnTo>
                  <a:pt x="5" y="0"/>
                </a:lnTo>
                <a:lnTo>
                  <a:pt x="29" y="0"/>
                </a:lnTo>
                <a:lnTo>
                  <a:pt x="24" y="3"/>
                </a:lnTo>
                <a:close/>
              </a:path>
            </a:pathLst>
          </a:custGeom>
          <a:solidFill>
            <a:srgbClr val="F8F8F8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bba-group-2-0205"/>
          <p:cNvSpPr/>
          <p:nvPr/>
        </p:nvSpPr>
        <p:spPr>
          <a:xfrm>
            <a:off x="7190221" y="2001239"/>
            <a:ext cx="39550" cy="181931"/>
          </a:xfrm>
          <a:custGeom>
            <a:avLst/>
            <a:gdLst/>
            <a:ahLst/>
            <a:cxnLst/>
            <a:rect l="l" t="t" r="r" b="b"/>
            <a:pathLst>
              <a:path w="5" h="23">
                <a:moveTo>
                  <a:pt x="0" y="3"/>
                </a:moveTo>
                <a:lnTo>
                  <a:pt x="5" y="0"/>
                </a:lnTo>
                <a:lnTo>
                  <a:pt x="5" y="20"/>
                </a:lnTo>
                <a:lnTo>
                  <a:pt x="0" y="23"/>
                </a:lnTo>
                <a:close/>
              </a:path>
            </a:pathLst>
          </a:custGeom>
          <a:solidFill>
            <a:srgbClr val="D0D0D0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bba-group-2-0206"/>
          <p:cNvSpPr/>
          <p:nvPr/>
        </p:nvSpPr>
        <p:spPr>
          <a:xfrm>
            <a:off x="7198131" y="2024969"/>
            <a:ext cx="189841" cy="158201"/>
          </a:xfrm>
          <a:prstGeom prst="rect">
            <a:avLst/>
          </a:prstGeom>
          <a:solidFill>
            <a:srgbClr val="FED966"/>
          </a:solidFill>
          <a:ln w="7119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bba-group-2-0207"/>
          <p:cNvSpPr/>
          <p:nvPr/>
        </p:nvSpPr>
        <p:spPr>
          <a:xfrm>
            <a:off x="7198131" y="2001239"/>
            <a:ext cx="229391" cy="23730"/>
          </a:xfrm>
          <a:custGeom>
            <a:avLst/>
            <a:gdLst/>
            <a:ahLst/>
            <a:cxnLst/>
            <a:rect l="l" t="t" r="r" b="b"/>
            <a:pathLst>
              <a:path w="29" h="3">
                <a:moveTo>
                  <a:pt x="0" y="3"/>
                </a:moveTo>
                <a:lnTo>
                  <a:pt x="5" y="0"/>
                </a:lnTo>
                <a:lnTo>
                  <a:pt x="29" y="0"/>
                </a:lnTo>
                <a:lnTo>
                  <a:pt x="24" y="3"/>
                </a:lnTo>
                <a:close/>
              </a:path>
            </a:pathLst>
          </a:custGeom>
          <a:solidFill>
            <a:srgbClr val="F8F8F8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bba-group-2-0208"/>
          <p:cNvSpPr/>
          <p:nvPr/>
        </p:nvSpPr>
        <p:spPr>
          <a:xfrm>
            <a:off x="7387972" y="2001239"/>
            <a:ext cx="39550" cy="181931"/>
          </a:xfrm>
          <a:custGeom>
            <a:avLst/>
            <a:gdLst/>
            <a:ahLst/>
            <a:cxnLst/>
            <a:rect l="l" t="t" r="r" b="b"/>
            <a:pathLst>
              <a:path w="5" h="23">
                <a:moveTo>
                  <a:pt x="0" y="3"/>
                </a:moveTo>
                <a:lnTo>
                  <a:pt x="5" y="0"/>
                </a:lnTo>
                <a:lnTo>
                  <a:pt x="5" y="20"/>
                </a:lnTo>
                <a:lnTo>
                  <a:pt x="0" y="23"/>
                </a:lnTo>
                <a:close/>
              </a:path>
            </a:pathLst>
          </a:custGeom>
          <a:solidFill>
            <a:srgbClr val="D0D0D0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bba-group-2-0209"/>
          <p:cNvSpPr/>
          <p:nvPr/>
        </p:nvSpPr>
        <p:spPr>
          <a:xfrm>
            <a:off x="7395882" y="2024969"/>
            <a:ext cx="189841" cy="158201"/>
          </a:xfrm>
          <a:prstGeom prst="rect">
            <a:avLst/>
          </a:prstGeom>
          <a:solidFill>
            <a:srgbClr val="FED966"/>
          </a:solidFill>
          <a:ln w="7119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bba-group-2-0210"/>
          <p:cNvSpPr/>
          <p:nvPr/>
        </p:nvSpPr>
        <p:spPr>
          <a:xfrm>
            <a:off x="7395882" y="2001239"/>
            <a:ext cx="229391" cy="23730"/>
          </a:xfrm>
          <a:custGeom>
            <a:avLst/>
            <a:gdLst/>
            <a:ahLst/>
            <a:cxnLst/>
            <a:rect l="l" t="t" r="r" b="b"/>
            <a:pathLst>
              <a:path w="29" h="3">
                <a:moveTo>
                  <a:pt x="0" y="3"/>
                </a:moveTo>
                <a:lnTo>
                  <a:pt x="5" y="0"/>
                </a:lnTo>
                <a:lnTo>
                  <a:pt x="29" y="0"/>
                </a:lnTo>
                <a:lnTo>
                  <a:pt x="24" y="3"/>
                </a:lnTo>
                <a:close/>
              </a:path>
            </a:pathLst>
          </a:custGeom>
          <a:solidFill>
            <a:srgbClr val="F8F8F8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bba-group-2-0211"/>
          <p:cNvSpPr/>
          <p:nvPr/>
        </p:nvSpPr>
        <p:spPr>
          <a:xfrm>
            <a:off x="7585723" y="2001239"/>
            <a:ext cx="39550" cy="181931"/>
          </a:xfrm>
          <a:custGeom>
            <a:avLst/>
            <a:gdLst/>
            <a:ahLst/>
            <a:cxnLst/>
            <a:rect l="l" t="t" r="r" b="b"/>
            <a:pathLst>
              <a:path w="5" h="23">
                <a:moveTo>
                  <a:pt x="0" y="3"/>
                </a:moveTo>
                <a:lnTo>
                  <a:pt x="5" y="0"/>
                </a:lnTo>
                <a:lnTo>
                  <a:pt x="5" y="20"/>
                </a:lnTo>
                <a:lnTo>
                  <a:pt x="0" y="23"/>
                </a:lnTo>
                <a:close/>
              </a:path>
            </a:pathLst>
          </a:custGeom>
          <a:solidFill>
            <a:srgbClr val="D0D0D0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bba-group-2-0212"/>
          <p:cNvSpPr/>
          <p:nvPr/>
        </p:nvSpPr>
        <p:spPr>
          <a:xfrm>
            <a:off x="7593633" y="2024969"/>
            <a:ext cx="189841" cy="158201"/>
          </a:xfrm>
          <a:prstGeom prst="rect">
            <a:avLst/>
          </a:prstGeom>
          <a:solidFill>
            <a:srgbClr val="FED966"/>
          </a:solidFill>
          <a:ln w="7119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bba-group-2-0213"/>
          <p:cNvSpPr/>
          <p:nvPr/>
        </p:nvSpPr>
        <p:spPr>
          <a:xfrm>
            <a:off x="7593633" y="2001239"/>
            <a:ext cx="229391" cy="23730"/>
          </a:xfrm>
          <a:custGeom>
            <a:avLst/>
            <a:gdLst/>
            <a:ahLst/>
            <a:cxnLst/>
            <a:rect l="l" t="t" r="r" b="b"/>
            <a:pathLst>
              <a:path w="29" h="3">
                <a:moveTo>
                  <a:pt x="0" y="3"/>
                </a:moveTo>
                <a:lnTo>
                  <a:pt x="5" y="0"/>
                </a:lnTo>
                <a:lnTo>
                  <a:pt x="29" y="0"/>
                </a:lnTo>
                <a:lnTo>
                  <a:pt x="24" y="3"/>
                </a:lnTo>
                <a:close/>
              </a:path>
            </a:pathLst>
          </a:custGeom>
          <a:solidFill>
            <a:srgbClr val="F8F8F8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bba-group-2-0214"/>
          <p:cNvSpPr/>
          <p:nvPr/>
        </p:nvSpPr>
        <p:spPr>
          <a:xfrm>
            <a:off x="7783474" y="2001239"/>
            <a:ext cx="39550" cy="181931"/>
          </a:xfrm>
          <a:custGeom>
            <a:avLst/>
            <a:gdLst/>
            <a:ahLst/>
            <a:cxnLst/>
            <a:rect l="l" t="t" r="r" b="b"/>
            <a:pathLst>
              <a:path w="5" h="23">
                <a:moveTo>
                  <a:pt x="0" y="3"/>
                </a:moveTo>
                <a:lnTo>
                  <a:pt x="5" y="0"/>
                </a:lnTo>
                <a:lnTo>
                  <a:pt x="5" y="20"/>
                </a:lnTo>
                <a:lnTo>
                  <a:pt x="0" y="23"/>
                </a:lnTo>
                <a:close/>
              </a:path>
            </a:pathLst>
          </a:custGeom>
          <a:solidFill>
            <a:srgbClr val="D0D0D0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bba-group-2-0215"/>
          <p:cNvSpPr/>
          <p:nvPr/>
        </p:nvSpPr>
        <p:spPr>
          <a:xfrm>
            <a:off x="5616124" y="2317640"/>
            <a:ext cx="189841" cy="158201"/>
          </a:xfrm>
          <a:prstGeom prst="rect">
            <a:avLst/>
          </a:prstGeom>
          <a:solidFill>
            <a:srgbClr val="BAACFB"/>
          </a:solidFill>
          <a:ln w="7119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bba-group-2-0216"/>
          <p:cNvSpPr/>
          <p:nvPr/>
        </p:nvSpPr>
        <p:spPr>
          <a:xfrm>
            <a:off x="5616124" y="2293910"/>
            <a:ext cx="229391" cy="23730"/>
          </a:xfrm>
          <a:custGeom>
            <a:avLst/>
            <a:gdLst/>
            <a:ahLst/>
            <a:cxnLst/>
            <a:rect l="l" t="t" r="r" b="b"/>
            <a:pathLst>
              <a:path w="29" h="3">
                <a:moveTo>
                  <a:pt x="0" y="3"/>
                </a:moveTo>
                <a:lnTo>
                  <a:pt x="5" y="0"/>
                </a:lnTo>
                <a:lnTo>
                  <a:pt x="29" y="0"/>
                </a:lnTo>
                <a:lnTo>
                  <a:pt x="24" y="3"/>
                </a:lnTo>
                <a:close/>
              </a:path>
            </a:pathLst>
          </a:custGeom>
          <a:solidFill>
            <a:srgbClr val="F8F8F8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bba-group-2-0217"/>
          <p:cNvSpPr/>
          <p:nvPr/>
        </p:nvSpPr>
        <p:spPr>
          <a:xfrm>
            <a:off x="5805965" y="2293910"/>
            <a:ext cx="39550" cy="181931"/>
          </a:xfrm>
          <a:custGeom>
            <a:avLst/>
            <a:gdLst/>
            <a:ahLst/>
            <a:cxnLst/>
            <a:rect l="l" t="t" r="r" b="b"/>
            <a:pathLst>
              <a:path w="5" h="23">
                <a:moveTo>
                  <a:pt x="0" y="3"/>
                </a:moveTo>
                <a:lnTo>
                  <a:pt x="5" y="0"/>
                </a:lnTo>
                <a:lnTo>
                  <a:pt x="5" y="20"/>
                </a:lnTo>
                <a:lnTo>
                  <a:pt x="0" y="23"/>
                </a:lnTo>
                <a:close/>
              </a:path>
            </a:pathLst>
          </a:custGeom>
          <a:solidFill>
            <a:srgbClr val="D0D0D0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bba-group-2-0218"/>
          <p:cNvSpPr/>
          <p:nvPr/>
        </p:nvSpPr>
        <p:spPr>
          <a:xfrm>
            <a:off x="5813875" y="2317640"/>
            <a:ext cx="189841" cy="158201"/>
          </a:xfrm>
          <a:prstGeom prst="rect">
            <a:avLst/>
          </a:prstGeom>
          <a:solidFill>
            <a:srgbClr val="BAACFB"/>
          </a:solidFill>
          <a:ln w="7119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bba-group-2-0219"/>
          <p:cNvSpPr/>
          <p:nvPr/>
        </p:nvSpPr>
        <p:spPr>
          <a:xfrm>
            <a:off x="5813875" y="2293910"/>
            <a:ext cx="229391" cy="23730"/>
          </a:xfrm>
          <a:custGeom>
            <a:avLst/>
            <a:gdLst/>
            <a:ahLst/>
            <a:cxnLst/>
            <a:rect l="l" t="t" r="r" b="b"/>
            <a:pathLst>
              <a:path w="29" h="3">
                <a:moveTo>
                  <a:pt x="0" y="3"/>
                </a:moveTo>
                <a:lnTo>
                  <a:pt x="5" y="0"/>
                </a:lnTo>
                <a:lnTo>
                  <a:pt x="29" y="0"/>
                </a:lnTo>
                <a:lnTo>
                  <a:pt x="24" y="3"/>
                </a:lnTo>
                <a:close/>
              </a:path>
            </a:pathLst>
          </a:custGeom>
          <a:solidFill>
            <a:srgbClr val="F8F8F8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bba-group-2-0220"/>
          <p:cNvSpPr/>
          <p:nvPr/>
        </p:nvSpPr>
        <p:spPr>
          <a:xfrm>
            <a:off x="6003716" y="2293910"/>
            <a:ext cx="39550" cy="181931"/>
          </a:xfrm>
          <a:custGeom>
            <a:avLst/>
            <a:gdLst/>
            <a:ahLst/>
            <a:cxnLst/>
            <a:rect l="l" t="t" r="r" b="b"/>
            <a:pathLst>
              <a:path w="5" h="23">
                <a:moveTo>
                  <a:pt x="0" y="3"/>
                </a:moveTo>
                <a:lnTo>
                  <a:pt x="5" y="0"/>
                </a:lnTo>
                <a:lnTo>
                  <a:pt x="5" y="20"/>
                </a:lnTo>
                <a:lnTo>
                  <a:pt x="0" y="23"/>
                </a:lnTo>
                <a:close/>
              </a:path>
            </a:pathLst>
          </a:custGeom>
          <a:solidFill>
            <a:srgbClr val="D0D0D0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bba-group-2-0221"/>
          <p:cNvSpPr/>
          <p:nvPr/>
        </p:nvSpPr>
        <p:spPr>
          <a:xfrm>
            <a:off x="6011626" y="2317640"/>
            <a:ext cx="189841" cy="158201"/>
          </a:xfrm>
          <a:prstGeom prst="rect">
            <a:avLst/>
          </a:prstGeom>
          <a:solidFill>
            <a:srgbClr val="BAACFB"/>
          </a:solidFill>
          <a:ln w="7119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bba-group-2-0222"/>
          <p:cNvSpPr/>
          <p:nvPr/>
        </p:nvSpPr>
        <p:spPr>
          <a:xfrm>
            <a:off x="6011626" y="2293910"/>
            <a:ext cx="229391" cy="23730"/>
          </a:xfrm>
          <a:custGeom>
            <a:avLst/>
            <a:gdLst/>
            <a:ahLst/>
            <a:cxnLst/>
            <a:rect l="l" t="t" r="r" b="b"/>
            <a:pathLst>
              <a:path w="29" h="3">
                <a:moveTo>
                  <a:pt x="0" y="3"/>
                </a:moveTo>
                <a:lnTo>
                  <a:pt x="5" y="0"/>
                </a:lnTo>
                <a:lnTo>
                  <a:pt x="29" y="0"/>
                </a:lnTo>
                <a:lnTo>
                  <a:pt x="24" y="3"/>
                </a:lnTo>
                <a:close/>
              </a:path>
            </a:pathLst>
          </a:custGeom>
          <a:solidFill>
            <a:srgbClr val="F8F8F8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bba-group-2-0223"/>
          <p:cNvSpPr/>
          <p:nvPr/>
        </p:nvSpPr>
        <p:spPr>
          <a:xfrm>
            <a:off x="6201467" y="2293910"/>
            <a:ext cx="39550" cy="181931"/>
          </a:xfrm>
          <a:custGeom>
            <a:avLst/>
            <a:gdLst/>
            <a:ahLst/>
            <a:cxnLst/>
            <a:rect l="l" t="t" r="r" b="b"/>
            <a:pathLst>
              <a:path w="5" h="23">
                <a:moveTo>
                  <a:pt x="0" y="3"/>
                </a:moveTo>
                <a:lnTo>
                  <a:pt x="5" y="0"/>
                </a:lnTo>
                <a:lnTo>
                  <a:pt x="5" y="20"/>
                </a:lnTo>
                <a:lnTo>
                  <a:pt x="0" y="23"/>
                </a:lnTo>
                <a:close/>
              </a:path>
            </a:pathLst>
          </a:custGeom>
          <a:solidFill>
            <a:srgbClr val="D0D0D0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bba-group-2-0224"/>
          <p:cNvSpPr/>
          <p:nvPr/>
        </p:nvSpPr>
        <p:spPr>
          <a:xfrm>
            <a:off x="6209377" y="2317640"/>
            <a:ext cx="189841" cy="158201"/>
          </a:xfrm>
          <a:prstGeom prst="rect">
            <a:avLst/>
          </a:prstGeom>
          <a:solidFill>
            <a:srgbClr val="BAACFB"/>
          </a:solidFill>
          <a:ln w="7119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bba-group-2-0225"/>
          <p:cNvSpPr/>
          <p:nvPr/>
        </p:nvSpPr>
        <p:spPr>
          <a:xfrm>
            <a:off x="6209377" y="2293910"/>
            <a:ext cx="229391" cy="23730"/>
          </a:xfrm>
          <a:custGeom>
            <a:avLst/>
            <a:gdLst/>
            <a:ahLst/>
            <a:cxnLst/>
            <a:rect l="l" t="t" r="r" b="b"/>
            <a:pathLst>
              <a:path w="29" h="3">
                <a:moveTo>
                  <a:pt x="0" y="3"/>
                </a:moveTo>
                <a:lnTo>
                  <a:pt x="5" y="0"/>
                </a:lnTo>
                <a:lnTo>
                  <a:pt x="29" y="0"/>
                </a:lnTo>
                <a:lnTo>
                  <a:pt x="24" y="3"/>
                </a:lnTo>
                <a:close/>
              </a:path>
            </a:pathLst>
          </a:custGeom>
          <a:solidFill>
            <a:srgbClr val="F8F8F8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bba-group-2-0226"/>
          <p:cNvSpPr/>
          <p:nvPr/>
        </p:nvSpPr>
        <p:spPr>
          <a:xfrm>
            <a:off x="6399218" y="2293910"/>
            <a:ext cx="39550" cy="181931"/>
          </a:xfrm>
          <a:custGeom>
            <a:avLst/>
            <a:gdLst/>
            <a:ahLst/>
            <a:cxnLst/>
            <a:rect l="l" t="t" r="r" b="b"/>
            <a:pathLst>
              <a:path w="5" h="23">
                <a:moveTo>
                  <a:pt x="0" y="3"/>
                </a:moveTo>
                <a:lnTo>
                  <a:pt x="5" y="0"/>
                </a:lnTo>
                <a:lnTo>
                  <a:pt x="5" y="20"/>
                </a:lnTo>
                <a:lnTo>
                  <a:pt x="0" y="23"/>
                </a:lnTo>
                <a:close/>
              </a:path>
            </a:pathLst>
          </a:custGeom>
          <a:solidFill>
            <a:srgbClr val="D0D0D0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bba-group-2-0227"/>
          <p:cNvSpPr/>
          <p:nvPr/>
        </p:nvSpPr>
        <p:spPr>
          <a:xfrm>
            <a:off x="6407128" y="2317640"/>
            <a:ext cx="189841" cy="158201"/>
          </a:xfrm>
          <a:prstGeom prst="rect">
            <a:avLst/>
          </a:prstGeom>
          <a:solidFill>
            <a:srgbClr val="BAACFB"/>
          </a:solidFill>
          <a:ln w="7119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bba-group-2-0228"/>
          <p:cNvSpPr/>
          <p:nvPr/>
        </p:nvSpPr>
        <p:spPr>
          <a:xfrm>
            <a:off x="6407128" y="2293910"/>
            <a:ext cx="229391" cy="23730"/>
          </a:xfrm>
          <a:custGeom>
            <a:avLst/>
            <a:gdLst/>
            <a:ahLst/>
            <a:cxnLst/>
            <a:rect l="l" t="t" r="r" b="b"/>
            <a:pathLst>
              <a:path w="29" h="3">
                <a:moveTo>
                  <a:pt x="0" y="3"/>
                </a:moveTo>
                <a:lnTo>
                  <a:pt x="5" y="0"/>
                </a:lnTo>
                <a:lnTo>
                  <a:pt x="29" y="0"/>
                </a:lnTo>
                <a:lnTo>
                  <a:pt x="24" y="3"/>
                </a:lnTo>
                <a:close/>
              </a:path>
            </a:pathLst>
          </a:custGeom>
          <a:solidFill>
            <a:srgbClr val="F8F8F8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bba-group-2-0229"/>
          <p:cNvSpPr/>
          <p:nvPr/>
        </p:nvSpPr>
        <p:spPr>
          <a:xfrm>
            <a:off x="6596969" y="2293910"/>
            <a:ext cx="39550" cy="181931"/>
          </a:xfrm>
          <a:custGeom>
            <a:avLst/>
            <a:gdLst/>
            <a:ahLst/>
            <a:cxnLst/>
            <a:rect l="l" t="t" r="r" b="b"/>
            <a:pathLst>
              <a:path w="5" h="23">
                <a:moveTo>
                  <a:pt x="0" y="3"/>
                </a:moveTo>
                <a:lnTo>
                  <a:pt x="5" y="0"/>
                </a:lnTo>
                <a:lnTo>
                  <a:pt x="5" y="20"/>
                </a:lnTo>
                <a:lnTo>
                  <a:pt x="0" y="23"/>
                </a:lnTo>
                <a:close/>
              </a:path>
            </a:pathLst>
          </a:custGeom>
          <a:solidFill>
            <a:srgbClr val="D0D0D0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bba-group-2-0230"/>
          <p:cNvSpPr/>
          <p:nvPr/>
        </p:nvSpPr>
        <p:spPr>
          <a:xfrm>
            <a:off x="6604879" y="2317640"/>
            <a:ext cx="189841" cy="158201"/>
          </a:xfrm>
          <a:prstGeom prst="rect">
            <a:avLst/>
          </a:prstGeom>
          <a:solidFill>
            <a:srgbClr val="BAACFB"/>
          </a:solidFill>
          <a:ln w="7119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bba-group-2-0231"/>
          <p:cNvSpPr/>
          <p:nvPr/>
        </p:nvSpPr>
        <p:spPr>
          <a:xfrm>
            <a:off x="6604879" y="2293910"/>
            <a:ext cx="229391" cy="23730"/>
          </a:xfrm>
          <a:custGeom>
            <a:avLst/>
            <a:gdLst/>
            <a:ahLst/>
            <a:cxnLst/>
            <a:rect l="l" t="t" r="r" b="b"/>
            <a:pathLst>
              <a:path w="29" h="3">
                <a:moveTo>
                  <a:pt x="0" y="3"/>
                </a:moveTo>
                <a:lnTo>
                  <a:pt x="5" y="0"/>
                </a:lnTo>
                <a:lnTo>
                  <a:pt x="29" y="0"/>
                </a:lnTo>
                <a:lnTo>
                  <a:pt x="24" y="3"/>
                </a:lnTo>
                <a:close/>
              </a:path>
            </a:pathLst>
          </a:custGeom>
          <a:solidFill>
            <a:srgbClr val="F8F8F8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bba-group-2-0232"/>
          <p:cNvSpPr/>
          <p:nvPr/>
        </p:nvSpPr>
        <p:spPr>
          <a:xfrm>
            <a:off x="6794720" y="2293910"/>
            <a:ext cx="39550" cy="181931"/>
          </a:xfrm>
          <a:custGeom>
            <a:avLst/>
            <a:gdLst/>
            <a:ahLst/>
            <a:cxnLst/>
            <a:rect l="l" t="t" r="r" b="b"/>
            <a:pathLst>
              <a:path w="5" h="23">
                <a:moveTo>
                  <a:pt x="0" y="3"/>
                </a:moveTo>
                <a:lnTo>
                  <a:pt x="5" y="0"/>
                </a:lnTo>
                <a:lnTo>
                  <a:pt x="5" y="20"/>
                </a:lnTo>
                <a:lnTo>
                  <a:pt x="0" y="23"/>
                </a:lnTo>
                <a:close/>
              </a:path>
            </a:pathLst>
          </a:custGeom>
          <a:solidFill>
            <a:srgbClr val="D0D0D0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bba-group-2-0233"/>
          <p:cNvSpPr/>
          <p:nvPr/>
        </p:nvSpPr>
        <p:spPr>
          <a:xfrm>
            <a:off x="6802630" y="2317640"/>
            <a:ext cx="189841" cy="158201"/>
          </a:xfrm>
          <a:prstGeom prst="rect">
            <a:avLst/>
          </a:prstGeom>
          <a:solidFill>
            <a:srgbClr val="BAACFB"/>
          </a:solidFill>
          <a:ln w="7119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bba-group-2-0234"/>
          <p:cNvSpPr/>
          <p:nvPr/>
        </p:nvSpPr>
        <p:spPr>
          <a:xfrm>
            <a:off x="6802630" y="2293910"/>
            <a:ext cx="229391" cy="23730"/>
          </a:xfrm>
          <a:custGeom>
            <a:avLst/>
            <a:gdLst/>
            <a:ahLst/>
            <a:cxnLst/>
            <a:rect l="l" t="t" r="r" b="b"/>
            <a:pathLst>
              <a:path w="29" h="3">
                <a:moveTo>
                  <a:pt x="0" y="3"/>
                </a:moveTo>
                <a:lnTo>
                  <a:pt x="5" y="0"/>
                </a:lnTo>
                <a:lnTo>
                  <a:pt x="29" y="0"/>
                </a:lnTo>
                <a:lnTo>
                  <a:pt x="24" y="3"/>
                </a:lnTo>
                <a:close/>
              </a:path>
            </a:pathLst>
          </a:custGeom>
          <a:solidFill>
            <a:srgbClr val="F8F8F8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bba-group-2-0235"/>
          <p:cNvSpPr/>
          <p:nvPr/>
        </p:nvSpPr>
        <p:spPr>
          <a:xfrm>
            <a:off x="6992470" y="2293910"/>
            <a:ext cx="39550" cy="181931"/>
          </a:xfrm>
          <a:custGeom>
            <a:avLst/>
            <a:gdLst/>
            <a:ahLst/>
            <a:cxnLst/>
            <a:rect l="l" t="t" r="r" b="b"/>
            <a:pathLst>
              <a:path w="5" h="23">
                <a:moveTo>
                  <a:pt x="0" y="3"/>
                </a:moveTo>
                <a:lnTo>
                  <a:pt x="5" y="0"/>
                </a:lnTo>
                <a:lnTo>
                  <a:pt x="5" y="20"/>
                </a:lnTo>
                <a:lnTo>
                  <a:pt x="0" y="23"/>
                </a:lnTo>
                <a:close/>
              </a:path>
            </a:pathLst>
          </a:custGeom>
          <a:solidFill>
            <a:srgbClr val="D0D0D0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bba-group-2-0236"/>
          <p:cNvSpPr/>
          <p:nvPr/>
        </p:nvSpPr>
        <p:spPr>
          <a:xfrm>
            <a:off x="7000380" y="2317640"/>
            <a:ext cx="189841" cy="158201"/>
          </a:xfrm>
          <a:prstGeom prst="rect">
            <a:avLst/>
          </a:prstGeom>
          <a:solidFill>
            <a:srgbClr val="BAACFB"/>
          </a:solidFill>
          <a:ln w="7119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bba-group-2-0237"/>
          <p:cNvSpPr/>
          <p:nvPr/>
        </p:nvSpPr>
        <p:spPr>
          <a:xfrm>
            <a:off x="7000380" y="2293910"/>
            <a:ext cx="229391" cy="23730"/>
          </a:xfrm>
          <a:custGeom>
            <a:avLst/>
            <a:gdLst/>
            <a:ahLst/>
            <a:cxnLst/>
            <a:rect l="l" t="t" r="r" b="b"/>
            <a:pathLst>
              <a:path w="29" h="3">
                <a:moveTo>
                  <a:pt x="0" y="3"/>
                </a:moveTo>
                <a:lnTo>
                  <a:pt x="5" y="0"/>
                </a:lnTo>
                <a:lnTo>
                  <a:pt x="29" y="0"/>
                </a:lnTo>
                <a:lnTo>
                  <a:pt x="24" y="3"/>
                </a:lnTo>
                <a:close/>
              </a:path>
            </a:pathLst>
          </a:custGeom>
          <a:solidFill>
            <a:srgbClr val="F8F8F8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bba-group-2-0238"/>
          <p:cNvSpPr/>
          <p:nvPr/>
        </p:nvSpPr>
        <p:spPr>
          <a:xfrm>
            <a:off x="7190221" y="2293910"/>
            <a:ext cx="39550" cy="181931"/>
          </a:xfrm>
          <a:custGeom>
            <a:avLst/>
            <a:gdLst/>
            <a:ahLst/>
            <a:cxnLst/>
            <a:rect l="l" t="t" r="r" b="b"/>
            <a:pathLst>
              <a:path w="5" h="23">
                <a:moveTo>
                  <a:pt x="0" y="3"/>
                </a:moveTo>
                <a:lnTo>
                  <a:pt x="5" y="0"/>
                </a:lnTo>
                <a:lnTo>
                  <a:pt x="5" y="20"/>
                </a:lnTo>
                <a:lnTo>
                  <a:pt x="0" y="23"/>
                </a:lnTo>
                <a:close/>
              </a:path>
            </a:pathLst>
          </a:custGeom>
          <a:solidFill>
            <a:srgbClr val="D0D0D0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bba-group-2-0239"/>
          <p:cNvSpPr/>
          <p:nvPr/>
        </p:nvSpPr>
        <p:spPr>
          <a:xfrm>
            <a:off x="7198131" y="2317640"/>
            <a:ext cx="189841" cy="158201"/>
          </a:xfrm>
          <a:prstGeom prst="rect">
            <a:avLst/>
          </a:prstGeom>
          <a:solidFill>
            <a:srgbClr val="BAACFB"/>
          </a:solidFill>
          <a:ln w="7119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bba-group-2-0240"/>
          <p:cNvSpPr/>
          <p:nvPr/>
        </p:nvSpPr>
        <p:spPr>
          <a:xfrm>
            <a:off x="7198131" y="2293910"/>
            <a:ext cx="229391" cy="23730"/>
          </a:xfrm>
          <a:custGeom>
            <a:avLst/>
            <a:gdLst/>
            <a:ahLst/>
            <a:cxnLst/>
            <a:rect l="l" t="t" r="r" b="b"/>
            <a:pathLst>
              <a:path w="29" h="3">
                <a:moveTo>
                  <a:pt x="0" y="3"/>
                </a:moveTo>
                <a:lnTo>
                  <a:pt x="5" y="0"/>
                </a:lnTo>
                <a:lnTo>
                  <a:pt x="29" y="0"/>
                </a:lnTo>
                <a:lnTo>
                  <a:pt x="24" y="3"/>
                </a:lnTo>
                <a:close/>
              </a:path>
            </a:pathLst>
          </a:custGeom>
          <a:solidFill>
            <a:srgbClr val="F8F8F8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bba-group-2-0241"/>
          <p:cNvSpPr/>
          <p:nvPr/>
        </p:nvSpPr>
        <p:spPr>
          <a:xfrm>
            <a:off x="7387972" y="2293910"/>
            <a:ext cx="39550" cy="181931"/>
          </a:xfrm>
          <a:custGeom>
            <a:avLst/>
            <a:gdLst/>
            <a:ahLst/>
            <a:cxnLst/>
            <a:rect l="l" t="t" r="r" b="b"/>
            <a:pathLst>
              <a:path w="5" h="23">
                <a:moveTo>
                  <a:pt x="0" y="3"/>
                </a:moveTo>
                <a:lnTo>
                  <a:pt x="5" y="0"/>
                </a:lnTo>
                <a:lnTo>
                  <a:pt x="5" y="20"/>
                </a:lnTo>
                <a:lnTo>
                  <a:pt x="0" y="23"/>
                </a:lnTo>
                <a:close/>
              </a:path>
            </a:pathLst>
          </a:custGeom>
          <a:solidFill>
            <a:srgbClr val="D0D0D0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bba-group-2-0242"/>
          <p:cNvSpPr/>
          <p:nvPr/>
        </p:nvSpPr>
        <p:spPr>
          <a:xfrm>
            <a:off x="7395882" y="2317640"/>
            <a:ext cx="189841" cy="158201"/>
          </a:xfrm>
          <a:prstGeom prst="rect">
            <a:avLst/>
          </a:prstGeom>
          <a:solidFill>
            <a:srgbClr val="BAACFB"/>
          </a:solidFill>
          <a:ln w="7119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bba-group-2-0243"/>
          <p:cNvSpPr/>
          <p:nvPr/>
        </p:nvSpPr>
        <p:spPr>
          <a:xfrm>
            <a:off x="7395882" y="2293910"/>
            <a:ext cx="229391" cy="23730"/>
          </a:xfrm>
          <a:custGeom>
            <a:avLst/>
            <a:gdLst/>
            <a:ahLst/>
            <a:cxnLst/>
            <a:rect l="l" t="t" r="r" b="b"/>
            <a:pathLst>
              <a:path w="29" h="3">
                <a:moveTo>
                  <a:pt x="0" y="3"/>
                </a:moveTo>
                <a:lnTo>
                  <a:pt x="5" y="0"/>
                </a:lnTo>
                <a:lnTo>
                  <a:pt x="29" y="0"/>
                </a:lnTo>
                <a:lnTo>
                  <a:pt x="24" y="3"/>
                </a:lnTo>
                <a:close/>
              </a:path>
            </a:pathLst>
          </a:custGeom>
          <a:solidFill>
            <a:srgbClr val="F8F8F8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bba-group-2-0244"/>
          <p:cNvSpPr/>
          <p:nvPr/>
        </p:nvSpPr>
        <p:spPr>
          <a:xfrm>
            <a:off x="7585723" y="2293910"/>
            <a:ext cx="39550" cy="181931"/>
          </a:xfrm>
          <a:custGeom>
            <a:avLst/>
            <a:gdLst/>
            <a:ahLst/>
            <a:cxnLst/>
            <a:rect l="l" t="t" r="r" b="b"/>
            <a:pathLst>
              <a:path w="5" h="23">
                <a:moveTo>
                  <a:pt x="0" y="3"/>
                </a:moveTo>
                <a:lnTo>
                  <a:pt x="5" y="0"/>
                </a:lnTo>
                <a:lnTo>
                  <a:pt x="5" y="20"/>
                </a:lnTo>
                <a:lnTo>
                  <a:pt x="0" y="23"/>
                </a:lnTo>
                <a:close/>
              </a:path>
            </a:pathLst>
          </a:custGeom>
          <a:solidFill>
            <a:srgbClr val="D0D0D0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bba-group-2-0245"/>
          <p:cNvSpPr/>
          <p:nvPr/>
        </p:nvSpPr>
        <p:spPr>
          <a:xfrm>
            <a:off x="7593633" y="2317640"/>
            <a:ext cx="189841" cy="158201"/>
          </a:xfrm>
          <a:prstGeom prst="rect">
            <a:avLst/>
          </a:prstGeom>
          <a:solidFill>
            <a:srgbClr val="BAACFB"/>
          </a:solidFill>
          <a:ln w="7119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bba-group-2-0246"/>
          <p:cNvSpPr/>
          <p:nvPr/>
        </p:nvSpPr>
        <p:spPr>
          <a:xfrm>
            <a:off x="7593633" y="2293910"/>
            <a:ext cx="229391" cy="23730"/>
          </a:xfrm>
          <a:custGeom>
            <a:avLst/>
            <a:gdLst/>
            <a:ahLst/>
            <a:cxnLst/>
            <a:rect l="l" t="t" r="r" b="b"/>
            <a:pathLst>
              <a:path w="29" h="3">
                <a:moveTo>
                  <a:pt x="0" y="3"/>
                </a:moveTo>
                <a:lnTo>
                  <a:pt x="5" y="0"/>
                </a:lnTo>
                <a:lnTo>
                  <a:pt x="29" y="0"/>
                </a:lnTo>
                <a:lnTo>
                  <a:pt x="24" y="3"/>
                </a:lnTo>
                <a:close/>
              </a:path>
            </a:pathLst>
          </a:custGeom>
          <a:solidFill>
            <a:srgbClr val="F8F8F8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bba-group-2-0247"/>
          <p:cNvSpPr/>
          <p:nvPr/>
        </p:nvSpPr>
        <p:spPr>
          <a:xfrm>
            <a:off x="7783474" y="2293910"/>
            <a:ext cx="39550" cy="181931"/>
          </a:xfrm>
          <a:custGeom>
            <a:avLst/>
            <a:gdLst/>
            <a:ahLst/>
            <a:cxnLst/>
            <a:rect l="l" t="t" r="r" b="b"/>
            <a:pathLst>
              <a:path w="5" h="23">
                <a:moveTo>
                  <a:pt x="0" y="3"/>
                </a:moveTo>
                <a:lnTo>
                  <a:pt x="5" y="0"/>
                </a:lnTo>
                <a:lnTo>
                  <a:pt x="5" y="20"/>
                </a:lnTo>
                <a:lnTo>
                  <a:pt x="0" y="23"/>
                </a:lnTo>
                <a:close/>
              </a:path>
            </a:pathLst>
          </a:custGeom>
          <a:solidFill>
            <a:srgbClr val="D0D0D0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bba-group-2-0248"/>
          <p:cNvSpPr txBox="1"/>
          <p:nvPr/>
        </p:nvSpPr>
        <p:spPr>
          <a:xfrm>
            <a:off x="6446678" y="2119889"/>
            <a:ext cx="197751" cy="17402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1494" b="1">
                <a:solidFill>
                  <a:srgbClr val="000000"/>
                </a:solidFill>
                <a:latin typeface="Liberation Serif"/>
              </a:rPr>
              <a:t>⋮</a:t>
            </a:r>
          </a:p>
        </p:txBody>
      </p:sp>
      <p:sp>
        <p:nvSpPr>
          <p:cNvPr id="250" name="bba-group-2-0249"/>
          <p:cNvSpPr txBox="1"/>
          <p:nvPr/>
        </p:nvSpPr>
        <p:spPr>
          <a:xfrm>
            <a:off x="6739349" y="2119889"/>
            <a:ext cx="197751" cy="17402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1494" b="1">
                <a:solidFill>
                  <a:srgbClr val="000000"/>
                </a:solidFill>
                <a:latin typeface="Liberation Serif"/>
              </a:rPr>
              <a:t>⋮</a:t>
            </a:r>
          </a:p>
        </p:txBody>
      </p:sp>
      <p:sp>
        <p:nvSpPr>
          <p:cNvPr id="251" name="bba-group-3-0250"/>
          <p:cNvSpPr/>
          <p:nvPr/>
        </p:nvSpPr>
        <p:spPr>
          <a:xfrm>
            <a:off x="5473744" y="2681502"/>
            <a:ext cx="2428381" cy="791003"/>
          </a:xfrm>
          <a:prstGeom prst="roundRect">
            <a:avLst>
              <a:gd name="adj" fmla="val 16000"/>
            </a:avLst>
          </a:prstGeom>
          <a:noFill/>
          <a:ln w="15820">
            <a:solidFill>
              <a:srgbClr val="F7A9D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bba-group-3-0251"/>
          <p:cNvSpPr/>
          <p:nvPr/>
        </p:nvSpPr>
        <p:spPr>
          <a:xfrm>
            <a:off x="5616124" y="2744782"/>
            <a:ext cx="189841" cy="158201"/>
          </a:xfrm>
          <a:prstGeom prst="rect">
            <a:avLst/>
          </a:prstGeom>
          <a:solidFill>
            <a:srgbClr val="FFDAD4"/>
          </a:solidFill>
          <a:ln w="7119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bba-group-3-0252"/>
          <p:cNvSpPr/>
          <p:nvPr/>
        </p:nvSpPr>
        <p:spPr>
          <a:xfrm>
            <a:off x="5616124" y="2721052"/>
            <a:ext cx="229391" cy="23730"/>
          </a:xfrm>
          <a:custGeom>
            <a:avLst/>
            <a:gdLst/>
            <a:ahLst/>
            <a:cxnLst/>
            <a:rect l="l" t="t" r="r" b="b"/>
            <a:pathLst>
              <a:path w="29" h="3">
                <a:moveTo>
                  <a:pt x="0" y="3"/>
                </a:moveTo>
                <a:lnTo>
                  <a:pt x="5" y="0"/>
                </a:lnTo>
                <a:lnTo>
                  <a:pt x="29" y="0"/>
                </a:lnTo>
                <a:lnTo>
                  <a:pt x="24" y="3"/>
                </a:lnTo>
                <a:close/>
              </a:path>
            </a:pathLst>
          </a:custGeom>
          <a:solidFill>
            <a:srgbClr val="F8F8F8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bba-group-3-0253"/>
          <p:cNvSpPr/>
          <p:nvPr/>
        </p:nvSpPr>
        <p:spPr>
          <a:xfrm>
            <a:off x="5805965" y="2721052"/>
            <a:ext cx="39550" cy="181931"/>
          </a:xfrm>
          <a:custGeom>
            <a:avLst/>
            <a:gdLst/>
            <a:ahLst/>
            <a:cxnLst/>
            <a:rect l="l" t="t" r="r" b="b"/>
            <a:pathLst>
              <a:path w="5" h="23">
                <a:moveTo>
                  <a:pt x="0" y="3"/>
                </a:moveTo>
                <a:lnTo>
                  <a:pt x="5" y="0"/>
                </a:lnTo>
                <a:lnTo>
                  <a:pt x="5" y="20"/>
                </a:lnTo>
                <a:lnTo>
                  <a:pt x="0" y="23"/>
                </a:lnTo>
                <a:close/>
              </a:path>
            </a:pathLst>
          </a:custGeom>
          <a:solidFill>
            <a:srgbClr val="D0D0D0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bba-group-3-0254"/>
          <p:cNvSpPr/>
          <p:nvPr/>
        </p:nvSpPr>
        <p:spPr>
          <a:xfrm>
            <a:off x="5813875" y="2744782"/>
            <a:ext cx="189841" cy="158201"/>
          </a:xfrm>
          <a:prstGeom prst="rect">
            <a:avLst/>
          </a:prstGeom>
          <a:solidFill>
            <a:srgbClr val="FFDAD4"/>
          </a:solidFill>
          <a:ln w="7119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bba-group-3-0255"/>
          <p:cNvSpPr/>
          <p:nvPr/>
        </p:nvSpPr>
        <p:spPr>
          <a:xfrm>
            <a:off x="5813875" y="2721052"/>
            <a:ext cx="229391" cy="23730"/>
          </a:xfrm>
          <a:custGeom>
            <a:avLst/>
            <a:gdLst/>
            <a:ahLst/>
            <a:cxnLst/>
            <a:rect l="l" t="t" r="r" b="b"/>
            <a:pathLst>
              <a:path w="29" h="3">
                <a:moveTo>
                  <a:pt x="0" y="3"/>
                </a:moveTo>
                <a:lnTo>
                  <a:pt x="5" y="0"/>
                </a:lnTo>
                <a:lnTo>
                  <a:pt x="29" y="0"/>
                </a:lnTo>
                <a:lnTo>
                  <a:pt x="24" y="3"/>
                </a:lnTo>
                <a:close/>
              </a:path>
            </a:pathLst>
          </a:custGeom>
          <a:solidFill>
            <a:srgbClr val="F8F8F8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bba-group-3-0256"/>
          <p:cNvSpPr/>
          <p:nvPr/>
        </p:nvSpPr>
        <p:spPr>
          <a:xfrm>
            <a:off x="6003716" y="2721052"/>
            <a:ext cx="39550" cy="181931"/>
          </a:xfrm>
          <a:custGeom>
            <a:avLst/>
            <a:gdLst/>
            <a:ahLst/>
            <a:cxnLst/>
            <a:rect l="l" t="t" r="r" b="b"/>
            <a:pathLst>
              <a:path w="5" h="23">
                <a:moveTo>
                  <a:pt x="0" y="3"/>
                </a:moveTo>
                <a:lnTo>
                  <a:pt x="5" y="0"/>
                </a:lnTo>
                <a:lnTo>
                  <a:pt x="5" y="20"/>
                </a:lnTo>
                <a:lnTo>
                  <a:pt x="0" y="23"/>
                </a:lnTo>
                <a:close/>
              </a:path>
            </a:pathLst>
          </a:custGeom>
          <a:solidFill>
            <a:srgbClr val="D0D0D0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bba-group-3-0257"/>
          <p:cNvSpPr/>
          <p:nvPr/>
        </p:nvSpPr>
        <p:spPr>
          <a:xfrm>
            <a:off x="6011626" y="2744782"/>
            <a:ext cx="189841" cy="158201"/>
          </a:xfrm>
          <a:prstGeom prst="rect">
            <a:avLst/>
          </a:prstGeom>
          <a:solidFill>
            <a:srgbClr val="FFDAD4"/>
          </a:solidFill>
          <a:ln w="7119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bba-group-3-0258"/>
          <p:cNvSpPr/>
          <p:nvPr/>
        </p:nvSpPr>
        <p:spPr>
          <a:xfrm>
            <a:off x="6011626" y="2721052"/>
            <a:ext cx="229391" cy="23730"/>
          </a:xfrm>
          <a:custGeom>
            <a:avLst/>
            <a:gdLst/>
            <a:ahLst/>
            <a:cxnLst/>
            <a:rect l="l" t="t" r="r" b="b"/>
            <a:pathLst>
              <a:path w="29" h="3">
                <a:moveTo>
                  <a:pt x="0" y="3"/>
                </a:moveTo>
                <a:lnTo>
                  <a:pt x="5" y="0"/>
                </a:lnTo>
                <a:lnTo>
                  <a:pt x="29" y="0"/>
                </a:lnTo>
                <a:lnTo>
                  <a:pt x="24" y="3"/>
                </a:lnTo>
                <a:close/>
              </a:path>
            </a:pathLst>
          </a:custGeom>
          <a:solidFill>
            <a:srgbClr val="F8F8F8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bba-group-3-0259"/>
          <p:cNvSpPr/>
          <p:nvPr/>
        </p:nvSpPr>
        <p:spPr>
          <a:xfrm>
            <a:off x="6201467" y="2721052"/>
            <a:ext cx="39550" cy="181931"/>
          </a:xfrm>
          <a:custGeom>
            <a:avLst/>
            <a:gdLst/>
            <a:ahLst/>
            <a:cxnLst/>
            <a:rect l="l" t="t" r="r" b="b"/>
            <a:pathLst>
              <a:path w="5" h="23">
                <a:moveTo>
                  <a:pt x="0" y="3"/>
                </a:moveTo>
                <a:lnTo>
                  <a:pt x="5" y="0"/>
                </a:lnTo>
                <a:lnTo>
                  <a:pt x="5" y="20"/>
                </a:lnTo>
                <a:lnTo>
                  <a:pt x="0" y="23"/>
                </a:lnTo>
                <a:close/>
              </a:path>
            </a:pathLst>
          </a:custGeom>
          <a:solidFill>
            <a:srgbClr val="D0D0D0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bba-group-3-0260"/>
          <p:cNvSpPr/>
          <p:nvPr/>
        </p:nvSpPr>
        <p:spPr>
          <a:xfrm>
            <a:off x="6209377" y="2744782"/>
            <a:ext cx="189841" cy="158201"/>
          </a:xfrm>
          <a:prstGeom prst="rect">
            <a:avLst/>
          </a:prstGeom>
          <a:solidFill>
            <a:srgbClr val="FFDAD4"/>
          </a:solidFill>
          <a:ln w="7119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bba-group-3-0261"/>
          <p:cNvSpPr/>
          <p:nvPr/>
        </p:nvSpPr>
        <p:spPr>
          <a:xfrm>
            <a:off x="6209377" y="2721052"/>
            <a:ext cx="229391" cy="23730"/>
          </a:xfrm>
          <a:custGeom>
            <a:avLst/>
            <a:gdLst/>
            <a:ahLst/>
            <a:cxnLst/>
            <a:rect l="l" t="t" r="r" b="b"/>
            <a:pathLst>
              <a:path w="29" h="3">
                <a:moveTo>
                  <a:pt x="0" y="3"/>
                </a:moveTo>
                <a:lnTo>
                  <a:pt x="5" y="0"/>
                </a:lnTo>
                <a:lnTo>
                  <a:pt x="29" y="0"/>
                </a:lnTo>
                <a:lnTo>
                  <a:pt x="24" y="3"/>
                </a:lnTo>
                <a:close/>
              </a:path>
            </a:pathLst>
          </a:custGeom>
          <a:solidFill>
            <a:srgbClr val="F8F8F8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bba-group-3-0262"/>
          <p:cNvSpPr/>
          <p:nvPr/>
        </p:nvSpPr>
        <p:spPr>
          <a:xfrm>
            <a:off x="6399218" y="2721052"/>
            <a:ext cx="39550" cy="181931"/>
          </a:xfrm>
          <a:custGeom>
            <a:avLst/>
            <a:gdLst/>
            <a:ahLst/>
            <a:cxnLst/>
            <a:rect l="l" t="t" r="r" b="b"/>
            <a:pathLst>
              <a:path w="5" h="23">
                <a:moveTo>
                  <a:pt x="0" y="3"/>
                </a:moveTo>
                <a:lnTo>
                  <a:pt x="5" y="0"/>
                </a:lnTo>
                <a:lnTo>
                  <a:pt x="5" y="20"/>
                </a:lnTo>
                <a:lnTo>
                  <a:pt x="0" y="23"/>
                </a:lnTo>
                <a:close/>
              </a:path>
            </a:pathLst>
          </a:custGeom>
          <a:solidFill>
            <a:srgbClr val="D0D0D0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bba-group-3-0263"/>
          <p:cNvSpPr/>
          <p:nvPr/>
        </p:nvSpPr>
        <p:spPr>
          <a:xfrm>
            <a:off x="6407128" y="2744782"/>
            <a:ext cx="189841" cy="158201"/>
          </a:xfrm>
          <a:prstGeom prst="rect">
            <a:avLst/>
          </a:prstGeom>
          <a:solidFill>
            <a:srgbClr val="FFDAD4"/>
          </a:solidFill>
          <a:ln w="7119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bba-group-3-0264"/>
          <p:cNvSpPr/>
          <p:nvPr/>
        </p:nvSpPr>
        <p:spPr>
          <a:xfrm>
            <a:off x="6407128" y="2721052"/>
            <a:ext cx="229391" cy="23730"/>
          </a:xfrm>
          <a:custGeom>
            <a:avLst/>
            <a:gdLst/>
            <a:ahLst/>
            <a:cxnLst/>
            <a:rect l="l" t="t" r="r" b="b"/>
            <a:pathLst>
              <a:path w="29" h="3">
                <a:moveTo>
                  <a:pt x="0" y="3"/>
                </a:moveTo>
                <a:lnTo>
                  <a:pt x="5" y="0"/>
                </a:lnTo>
                <a:lnTo>
                  <a:pt x="29" y="0"/>
                </a:lnTo>
                <a:lnTo>
                  <a:pt x="24" y="3"/>
                </a:lnTo>
                <a:close/>
              </a:path>
            </a:pathLst>
          </a:custGeom>
          <a:solidFill>
            <a:srgbClr val="F8F8F8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bba-group-3-0265"/>
          <p:cNvSpPr/>
          <p:nvPr/>
        </p:nvSpPr>
        <p:spPr>
          <a:xfrm>
            <a:off x="6596969" y="2721052"/>
            <a:ext cx="39550" cy="181931"/>
          </a:xfrm>
          <a:custGeom>
            <a:avLst/>
            <a:gdLst/>
            <a:ahLst/>
            <a:cxnLst/>
            <a:rect l="l" t="t" r="r" b="b"/>
            <a:pathLst>
              <a:path w="5" h="23">
                <a:moveTo>
                  <a:pt x="0" y="3"/>
                </a:moveTo>
                <a:lnTo>
                  <a:pt x="5" y="0"/>
                </a:lnTo>
                <a:lnTo>
                  <a:pt x="5" y="20"/>
                </a:lnTo>
                <a:lnTo>
                  <a:pt x="0" y="23"/>
                </a:lnTo>
                <a:close/>
              </a:path>
            </a:pathLst>
          </a:custGeom>
          <a:solidFill>
            <a:srgbClr val="D0D0D0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bba-group-3-0266"/>
          <p:cNvSpPr/>
          <p:nvPr/>
        </p:nvSpPr>
        <p:spPr>
          <a:xfrm>
            <a:off x="6604879" y="2744782"/>
            <a:ext cx="189841" cy="158201"/>
          </a:xfrm>
          <a:prstGeom prst="rect">
            <a:avLst/>
          </a:prstGeom>
          <a:solidFill>
            <a:srgbClr val="FFDAD4"/>
          </a:solidFill>
          <a:ln w="7119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bba-group-3-0267"/>
          <p:cNvSpPr/>
          <p:nvPr/>
        </p:nvSpPr>
        <p:spPr>
          <a:xfrm>
            <a:off x="6604879" y="2721052"/>
            <a:ext cx="229391" cy="23730"/>
          </a:xfrm>
          <a:custGeom>
            <a:avLst/>
            <a:gdLst/>
            <a:ahLst/>
            <a:cxnLst/>
            <a:rect l="l" t="t" r="r" b="b"/>
            <a:pathLst>
              <a:path w="29" h="3">
                <a:moveTo>
                  <a:pt x="0" y="3"/>
                </a:moveTo>
                <a:lnTo>
                  <a:pt x="5" y="0"/>
                </a:lnTo>
                <a:lnTo>
                  <a:pt x="29" y="0"/>
                </a:lnTo>
                <a:lnTo>
                  <a:pt x="24" y="3"/>
                </a:lnTo>
                <a:close/>
              </a:path>
            </a:pathLst>
          </a:custGeom>
          <a:solidFill>
            <a:srgbClr val="F8F8F8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bba-group-3-0268"/>
          <p:cNvSpPr/>
          <p:nvPr/>
        </p:nvSpPr>
        <p:spPr>
          <a:xfrm>
            <a:off x="6794720" y="2721052"/>
            <a:ext cx="39550" cy="181931"/>
          </a:xfrm>
          <a:custGeom>
            <a:avLst/>
            <a:gdLst/>
            <a:ahLst/>
            <a:cxnLst/>
            <a:rect l="l" t="t" r="r" b="b"/>
            <a:pathLst>
              <a:path w="5" h="23">
                <a:moveTo>
                  <a:pt x="0" y="3"/>
                </a:moveTo>
                <a:lnTo>
                  <a:pt x="5" y="0"/>
                </a:lnTo>
                <a:lnTo>
                  <a:pt x="5" y="20"/>
                </a:lnTo>
                <a:lnTo>
                  <a:pt x="0" y="23"/>
                </a:lnTo>
                <a:close/>
              </a:path>
            </a:pathLst>
          </a:custGeom>
          <a:solidFill>
            <a:srgbClr val="D0D0D0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bba-group-3-0269"/>
          <p:cNvSpPr/>
          <p:nvPr/>
        </p:nvSpPr>
        <p:spPr>
          <a:xfrm>
            <a:off x="6802630" y="2744782"/>
            <a:ext cx="189841" cy="158201"/>
          </a:xfrm>
          <a:prstGeom prst="rect">
            <a:avLst/>
          </a:prstGeom>
          <a:solidFill>
            <a:srgbClr val="FFDAD4"/>
          </a:solidFill>
          <a:ln w="7119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bba-group-3-0270"/>
          <p:cNvSpPr/>
          <p:nvPr/>
        </p:nvSpPr>
        <p:spPr>
          <a:xfrm>
            <a:off x="6802630" y="2721052"/>
            <a:ext cx="229391" cy="23730"/>
          </a:xfrm>
          <a:custGeom>
            <a:avLst/>
            <a:gdLst/>
            <a:ahLst/>
            <a:cxnLst/>
            <a:rect l="l" t="t" r="r" b="b"/>
            <a:pathLst>
              <a:path w="29" h="3">
                <a:moveTo>
                  <a:pt x="0" y="3"/>
                </a:moveTo>
                <a:lnTo>
                  <a:pt x="5" y="0"/>
                </a:lnTo>
                <a:lnTo>
                  <a:pt x="29" y="0"/>
                </a:lnTo>
                <a:lnTo>
                  <a:pt x="24" y="3"/>
                </a:lnTo>
                <a:close/>
              </a:path>
            </a:pathLst>
          </a:custGeom>
          <a:solidFill>
            <a:srgbClr val="F8F8F8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bba-group-3-0271"/>
          <p:cNvSpPr/>
          <p:nvPr/>
        </p:nvSpPr>
        <p:spPr>
          <a:xfrm>
            <a:off x="6992470" y="2721052"/>
            <a:ext cx="39550" cy="181931"/>
          </a:xfrm>
          <a:custGeom>
            <a:avLst/>
            <a:gdLst/>
            <a:ahLst/>
            <a:cxnLst/>
            <a:rect l="l" t="t" r="r" b="b"/>
            <a:pathLst>
              <a:path w="5" h="23">
                <a:moveTo>
                  <a:pt x="0" y="3"/>
                </a:moveTo>
                <a:lnTo>
                  <a:pt x="5" y="0"/>
                </a:lnTo>
                <a:lnTo>
                  <a:pt x="5" y="20"/>
                </a:lnTo>
                <a:lnTo>
                  <a:pt x="0" y="23"/>
                </a:lnTo>
                <a:close/>
              </a:path>
            </a:pathLst>
          </a:custGeom>
          <a:solidFill>
            <a:srgbClr val="D0D0D0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bba-group-3-0272"/>
          <p:cNvSpPr/>
          <p:nvPr/>
        </p:nvSpPr>
        <p:spPr>
          <a:xfrm>
            <a:off x="7000380" y="2744782"/>
            <a:ext cx="189841" cy="158201"/>
          </a:xfrm>
          <a:prstGeom prst="rect">
            <a:avLst/>
          </a:prstGeom>
          <a:solidFill>
            <a:srgbClr val="FFDAD4"/>
          </a:solidFill>
          <a:ln w="7119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bba-group-3-0273"/>
          <p:cNvSpPr/>
          <p:nvPr/>
        </p:nvSpPr>
        <p:spPr>
          <a:xfrm>
            <a:off x="7000380" y="2721052"/>
            <a:ext cx="229391" cy="23730"/>
          </a:xfrm>
          <a:custGeom>
            <a:avLst/>
            <a:gdLst/>
            <a:ahLst/>
            <a:cxnLst/>
            <a:rect l="l" t="t" r="r" b="b"/>
            <a:pathLst>
              <a:path w="29" h="3">
                <a:moveTo>
                  <a:pt x="0" y="3"/>
                </a:moveTo>
                <a:lnTo>
                  <a:pt x="5" y="0"/>
                </a:lnTo>
                <a:lnTo>
                  <a:pt x="29" y="0"/>
                </a:lnTo>
                <a:lnTo>
                  <a:pt x="24" y="3"/>
                </a:lnTo>
                <a:close/>
              </a:path>
            </a:pathLst>
          </a:custGeom>
          <a:solidFill>
            <a:srgbClr val="F8F8F8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bba-group-3-0274"/>
          <p:cNvSpPr/>
          <p:nvPr/>
        </p:nvSpPr>
        <p:spPr>
          <a:xfrm>
            <a:off x="7190221" y="2721052"/>
            <a:ext cx="39550" cy="181931"/>
          </a:xfrm>
          <a:custGeom>
            <a:avLst/>
            <a:gdLst/>
            <a:ahLst/>
            <a:cxnLst/>
            <a:rect l="l" t="t" r="r" b="b"/>
            <a:pathLst>
              <a:path w="5" h="23">
                <a:moveTo>
                  <a:pt x="0" y="3"/>
                </a:moveTo>
                <a:lnTo>
                  <a:pt x="5" y="0"/>
                </a:lnTo>
                <a:lnTo>
                  <a:pt x="5" y="20"/>
                </a:lnTo>
                <a:lnTo>
                  <a:pt x="0" y="23"/>
                </a:lnTo>
                <a:close/>
              </a:path>
            </a:pathLst>
          </a:custGeom>
          <a:solidFill>
            <a:srgbClr val="D0D0D0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bba-group-3-0275"/>
          <p:cNvSpPr/>
          <p:nvPr/>
        </p:nvSpPr>
        <p:spPr>
          <a:xfrm>
            <a:off x="7198131" y="2744782"/>
            <a:ext cx="189841" cy="158201"/>
          </a:xfrm>
          <a:prstGeom prst="rect">
            <a:avLst/>
          </a:prstGeom>
          <a:solidFill>
            <a:srgbClr val="FFDAD4"/>
          </a:solidFill>
          <a:ln w="7119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bba-group-3-0276"/>
          <p:cNvSpPr/>
          <p:nvPr/>
        </p:nvSpPr>
        <p:spPr>
          <a:xfrm>
            <a:off x="7198131" y="2721052"/>
            <a:ext cx="229391" cy="23730"/>
          </a:xfrm>
          <a:custGeom>
            <a:avLst/>
            <a:gdLst/>
            <a:ahLst/>
            <a:cxnLst/>
            <a:rect l="l" t="t" r="r" b="b"/>
            <a:pathLst>
              <a:path w="29" h="3">
                <a:moveTo>
                  <a:pt x="0" y="3"/>
                </a:moveTo>
                <a:lnTo>
                  <a:pt x="5" y="0"/>
                </a:lnTo>
                <a:lnTo>
                  <a:pt x="29" y="0"/>
                </a:lnTo>
                <a:lnTo>
                  <a:pt x="24" y="3"/>
                </a:lnTo>
                <a:close/>
              </a:path>
            </a:pathLst>
          </a:custGeom>
          <a:solidFill>
            <a:srgbClr val="F8F8F8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bba-group-3-0277"/>
          <p:cNvSpPr/>
          <p:nvPr/>
        </p:nvSpPr>
        <p:spPr>
          <a:xfrm>
            <a:off x="7387972" y="2721052"/>
            <a:ext cx="39550" cy="181931"/>
          </a:xfrm>
          <a:custGeom>
            <a:avLst/>
            <a:gdLst/>
            <a:ahLst/>
            <a:cxnLst/>
            <a:rect l="l" t="t" r="r" b="b"/>
            <a:pathLst>
              <a:path w="5" h="23">
                <a:moveTo>
                  <a:pt x="0" y="3"/>
                </a:moveTo>
                <a:lnTo>
                  <a:pt x="5" y="0"/>
                </a:lnTo>
                <a:lnTo>
                  <a:pt x="5" y="20"/>
                </a:lnTo>
                <a:lnTo>
                  <a:pt x="0" y="23"/>
                </a:lnTo>
                <a:close/>
              </a:path>
            </a:pathLst>
          </a:custGeom>
          <a:solidFill>
            <a:srgbClr val="D0D0D0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bba-group-3-0278"/>
          <p:cNvSpPr/>
          <p:nvPr/>
        </p:nvSpPr>
        <p:spPr>
          <a:xfrm>
            <a:off x="7395882" y="2744782"/>
            <a:ext cx="189841" cy="158201"/>
          </a:xfrm>
          <a:prstGeom prst="rect">
            <a:avLst/>
          </a:prstGeom>
          <a:solidFill>
            <a:srgbClr val="FFDAD4"/>
          </a:solidFill>
          <a:ln w="7119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bba-group-3-0279"/>
          <p:cNvSpPr/>
          <p:nvPr/>
        </p:nvSpPr>
        <p:spPr>
          <a:xfrm>
            <a:off x="7395882" y="2721052"/>
            <a:ext cx="229391" cy="23730"/>
          </a:xfrm>
          <a:custGeom>
            <a:avLst/>
            <a:gdLst/>
            <a:ahLst/>
            <a:cxnLst/>
            <a:rect l="l" t="t" r="r" b="b"/>
            <a:pathLst>
              <a:path w="29" h="3">
                <a:moveTo>
                  <a:pt x="0" y="3"/>
                </a:moveTo>
                <a:lnTo>
                  <a:pt x="5" y="0"/>
                </a:lnTo>
                <a:lnTo>
                  <a:pt x="29" y="0"/>
                </a:lnTo>
                <a:lnTo>
                  <a:pt x="24" y="3"/>
                </a:lnTo>
                <a:close/>
              </a:path>
            </a:pathLst>
          </a:custGeom>
          <a:solidFill>
            <a:srgbClr val="F8F8F8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bba-group-3-0280"/>
          <p:cNvSpPr/>
          <p:nvPr/>
        </p:nvSpPr>
        <p:spPr>
          <a:xfrm>
            <a:off x="7585723" y="2721052"/>
            <a:ext cx="39550" cy="181931"/>
          </a:xfrm>
          <a:custGeom>
            <a:avLst/>
            <a:gdLst/>
            <a:ahLst/>
            <a:cxnLst/>
            <a:rect l="l" t="t" r="r" b="b"/>
            <a:pathLst>
              <a:path w="5" h="23">
                <a:moveTo>
                  <a:pt x="0" y="3"/>
                </a:moveTo>
                <a:lnTo>
                  <a:pt x="5" y="0"/>
                </a:lnTo>
                <a:lnTo>
                  <a:pt x="5" y="20"/>
                </a:lnTo>
                <a:lnTo>
                  <a:pt x="0" y="23"/>
                </a:lnTo>
                <a:close/>
              </a:path>
            </a:pathLst>
          </a:custGeom>
          <a:solidFill>
            <a:srgbClr val="D0D0D0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bba-group-3-0281"/>
          <p:cNvSpPr/>
          <p:nvPr/>
        </p:nvSpPr>
        <p:spPr>
          <a:xfrm>
            <a:off x="7593633" y="2744782"/>
            <a:ext cx="189841" cy="158201"/>
          </a:xfrm>
          <a:prstGeom prst="rect">
            <a:avLst/>
          </a:prstGeom>
          <a:solidFill>
            <a:srgbClr val="FFDAD4"/>
          </a:solidFill>
          <a:ln w="7119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bba-group-3-0282"/>
          <p:cNvSpPr/>
          <p:nvPr/>
        </p:nvSpPr>
        <p:spPr>
          <a:xfrm>
            <a:off x="7593633" y="2721052"/>
            <a:ext cx="229391" cy="23730"/>
          </a:xfrm>
          <a:custGeom>
            <a:avLst/>
            <a:gdLst/>
            <a:ahLst/>
            <a:cxnLst/>
            <a:rect l="l" t="t" r="r" b="b"/>
            <a:pathLst>
              <a:path w="29" h="3">
                <a:moveTo>
                  <a:pt x="0" y="3"/>
                </a:moveTo>
                <a:lnTo>
                  <a:pt x="5" y="0"/>
                </a:lnTo>
                <a:lnTo>
                  <a:pt x="29" y="0"/>
                </a:lnTo>
                <a:lnTo>
                  <a:pt x="24" y="3"/>
                </a:lnTo>
                <a:close/>
              </a:path>
            </a:pathLst>
          </a:custGeom>
          <a:solidFill>
            <a:srgbClr val="F8F8F8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bba-group-3-0283"/>
          <p:cNvSpPr/>
          <p:nvPr/>
        </p:nvSpPr>
        <p:spPr>
          <a:xfrm>
            <a:off x="7783474" y="2721052"/>
            <a:ext cx="39550" cy="181931"/>
          </a:xfrm>
          <a:custGeom>
            <a:avLst/>
            <a:gdLst/>
            <a:ahLst/>
            <a:cxnLst/>
            <a:rect l="l" t="t" r="r" b="b"/>
            <a:pathLst>
              <a:path w="5" h="23">
                <a:moveTo>
                  <a:pt x="0" y="3"/>
                </a:moveTo>
                <a:lnTo>
                  <a:pt x="5" y="0"/>
                </a:lnTo>
                <a:lnTo>
                  <a:pt x="5" y="20"/>
                </a:lnTo>
                <a:lnTo>
                  <a:pt x="0" y="23"/>
                </a:lnTo>
                <a:close/>
              </a:path>
            </a:pathLst>
          </a:custGeom>
          <a:solidFill>
            <a:srgbClr val="D0D0D0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bba-group-3-0284"/>
          <p:cNvSpPr/>
          <p:nvPr/>
        </p:nvSpPr>
        <p:spPr>
          <a:xfrm>
            <a:off x="5616124" y="2958353"/>
            <a:ext cx="189841" cy="158201"/>
          </a:xfrm>
          <a:prstGeom prst="rect">
            <a:avLst/>
          </a:prstGeom>
          <a:solidFill>
            <a:srgbClr val="FED966"/>
          </a:solidFill>
          <a:ln w="7119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bba-group-3-0285"/>
          <p:cNvSpPr/>
          <p:nvPr/>
        </p:nvSpPr>
        <p:spPr>
          <a:xfrm>
            <a:off x="5616124" y="2934623"/>
            <a:ext cx="229391" cy="23730"/>
          </a:xfrm>
          <a:custGeom>
            <a:avLst/>
            <a:gdLst/>
            <a:ahLst/>
            <a:cxnLst/>
            <a:rect l="l" t="t" r="r" b="b"/>
            <a:pathLst>
              <a:path w="29" h="3">
                <a:moveTo>
                  <a:pt x="0" y="3"/>
                </a:moveTo>
                <a:lnTo>
                  <a:pt x="5" y="0"/>
                </a:lnTo>
                <a:lnTo>
                  <a:pt x="29" y="0"/>
                </a:lnTo>
                <a:lnTo>
                  <a:pt x="24" y="3"/>
                </a:lnTo>
                <a:close/>
              </a:path>
            </a:pathLst>
          </a:custGeom>
          <a:solidFill>
            <a:srgbClr val="F8F8F8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bba-group-3-0286"/>
          <p:cNvSpPr/>
          <p:nvPr/>
        </p:nvSpPr>
        <p:spPr>
          <a:xfrm>
            <a:off x="5805965" y="2934623"/>
            <a:ext cx="39550" cy="181931"/>
          </a:xfrm>
          <a:custGeom>
            <a:avLst/>
            <a:gdLst/>
            <a:ahLst/>
            <a:cxnLst/>
            <a:rect l="l" t="t" r="r" b="b"/>
            <a:pathLst>
              <a:path w="5" h="23">
                <a:moveTo>
                  <a:pt x="0" y="3"/>
                </a:moveTo>
                <a:lnTo>
                  <a:pt x="5" y="0"/>
                </a:lnTo>
                <a:lnTo>
                  <a:pt x="5" y="20"/>
                </a:lnTo>
                <a:lnTo>
                  <a:pt x="0" y="23"/>
                </a:lnTo>
                <a:close/>
              </a:path>
            </a:pathLst>
          </a:custGeom>
          <a:solidFill>
            <a:srgbClr val="D0D0D0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bba-group-3-0287"/>
          <p:cNvSpPr/>
          <p:nvPr/>
        </p:nvSpPr>
        <p:spPr>
          <a:xfrm>
            <a:off x="5813875" y="2958353"/>
            <a:ext cx="189841" cy="158201"/>
          </a:xfrm>
          <a:prstGeom prst="rect">
            <a:avLst/>
          </a:prstGeom>
          <a:solidFill>
            <a:srgbClr val="FED966"/>
          </a:solidFill>
          <a:ln w="7119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bba-group-3-0288"/>
          <p:cNvSpPr/>
          <p:nvPr/>
        </p:nvSpPr>
        <p:spPr>
          <a:xfrm>
            <a:off x="5813875" y="2934623"/>
            <a:ext cx="229391" cy="23730"/>
          </a:xfrm>
          <a:custGeom>
            <a:avLst/>
            <a:gdLst/>
            <a:ahLst/>
            <a:cxnLst/>
            <a:rect l="l" t="t" r="r" b="b"/>
            <a:pathLst>
              <a:path w="29" h="3">
                <a:moveTo>
                  <a:pt x="0" y="3"/>
                </a:moveTo>
                <a:lnTo>
                  <a:pt x="5" y="0"/>
                </a:lnTo>
                <a:lnTo>
                  <a:pt x="29" y="0"/>
                </a:lnTo>
                <a:lnTo>
                  <a:pt x="24" y="3"/>
                </a:lnTo>
                <a:close/>
              </a:path>
            </a:pathLst>
          </a:custGeom>
          <a:solidFill>
            <a:srgbClr val="F8F8F8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bba-group-3-0289"/>
          <p:cNvSpPr/>
          <p:nvPr/>
        </p:nvSpPr>
        <p:spPr>
          <a:xfrm>
            <a:off x="6003716" y="2934623"/>
            <a:ext cx="39550" cy="181931"/>
          </a:xfrm>
          <a:custGeom>
            <a:avLst/>
            <a:gdLst/>
            <a:ahLst/>
            <a:cxnLst/>
            <a:rect l="l" t="t" r="r" b="b"/>
            <a:pathLst>
              <a:path w="5" h="23">
                <a:moveTo>
                  <a:pt x="0" y="3"/>
                </a:moveTo>
                <a:lnTo>
                  <a:pt x="5" y="0"/>
                </a:lnTo>
                <a:lnTo>
                  <a:pt x="5" y="20"/>
                </a:lnTo>
                <a:lnTo>
                  <a:pt x="0" y="23"/>
                </a:lnTo>
                <a:close/>
              </a:path>
            </a:pathLst>
          </a:custGeom>
          <a:solidFill>
            <a:srgbClr val="D0D0D0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bba-group-3-0290"/>
          <p:cNvSpPr/>
          <p:nvPr/>
        </p:nvSpPr>
        <p:spPr>
          <a:xfrm>
            <a:off x="6011626" y="2958353"/>
            <a:ext cx="189841" cy="158201"/>
          </a:xfrm>
          <a:prstGeom prst="rect">
            <a:avLst/>
          </a:prstGeom>
          <a:solidFill>
            <a:srgbClr val="FED966"/>
          </a:solidFill>
          <a:ln w="7119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bba-group-3-0291"/>
          <p:cNvSpPr/>
          <p:nvPr/>
        </p:nvSpPr>
        <p:spPr>
          <a:xfrm>
            <a:off x="6011626" y="2934623"/>
            <a:ext cx="229391" cy="23730"/>
          </a:xfrm>
          <a:custGeom>
            <a:avLst/>
            <a:gdLst/>
            <a:ahLst/>
            <a:cxnLst/>
            <a:rect l="l" t="t" r="r" b="b"/>
            <a:pathLst>
              <a:path w="29" h="3">
                <a:moveTo>
                  <a:pt x="0" y="3"/>
                </a:moveTo>
                <a:lnTo>
                  <a:pt x="5" y="0"/>
                </a:lnTo>
                <a:lnTo>
                  <a:pt x="29" y="0"/>
                </a:lnTo>
                <a:lnTo>
                  <a:pt x="24" y="3"/>
                </a:lnTo>
                <a:close/>
              </a:path>
            </a:pathLst>
          </a:custGeom>
          <a:solidFill>
            <a:srgbClr val="F8F8F8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bba-group-3-0292"/>
          <p:cNvSpPr/>
          <p:nvPr/>
        </p:nvSpPr>
        <p:spPr>
          <a:xfrm>
            <a:off x="6201467" y="2934623"/>
            <a:ext cx="39550" cy="181931"/>
          </a:xfrm>
          <a:custGeom>
            <a:avLst/>
            <a:gdLst/>
            <a:ahLst/>
            <a:cxnLst/>
            <a:rect l="l" t="t" r="r" b="b"/>
            <a:pathLst>
              <a:path w="5" h="23">
                <a:moveTo>
                  <a:pt x="0" y="3"/>
                </a:moveTo>
                <a:lnTo>
                  <a:pt x="5" y="0"/>
                </a:lnTo>
                <a:lnTo>
                  <a:pt x="5" y="20"/>
                </a:lnTo>
                <a:lnTo>
                  <a:pt x="0" y="23"/>
                </a:lnTo>
                <a:close/>
              </a:path>
            </a:pathLst>
          </a:custGeom>
          <a:solidFill>
            <a:srgbClr val="D0D0D0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bba-group-3-0293"/>
          <p:cNvSpPr/>
          <p:nvPr/>
        </p:nvSpPr>
        <p:spPr>
          <a:xfrm>
            <a:off x="6209377" y="2958353"/>
            <a:ext cx="189841" cy="158201"/>
          </a:xfrm>
          <a:prstGeom prst="rect">
            <a:avLst/>
          </a:prstGeom>
          <a:solidFill>
            <a:srgbClr val="FED966"/>
          </a:solidFill>
          <a:ln w="7119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bba-group-3-0294"/>
          <p:cNvSpPr/>
          <p:nvPr/>
        </p:nvSpPr>
        <p:spPr>
          <a:xfrm>
            <a:off x="6209377" y="2934623"/>
            <a:ext cx="229391" cy="23730"/>
          </a:xfrm>
          <a:custGeom>
            <a:avLst/>
            <a:gdLst/>
            <a:ahLst/>
            <a:cxnLst/>
            <a:rect l="l" t="t" r="r" b="b"/>
            <a:pathLst>
              <a:path w="29" h="3">
                <a:moveTo>
                  <a:pt x="0" y="3"/>
                </a:moveTo>
                <a:lnTo>
                  <a:pt x="5" y="0"/>
                </a:lnTo>
                <a:lnTo>
                  <a:pt x="29" y="0"/>
                </a:lnTo>
                <a:lnTo>
                  <a:pt x="24" y="3"/>
                </a:lnTo>
                <a:close/>
              </a:path>
            </a:pathLst>
          </a:custGeom>
          <a:solidFill>
            <a:srgbClr val="F8F8F8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bba-group-3-0295"/>
          <p:cNvSpPr/>
          <p:nvPr/>
        </p:nvSpPr>
        <p:spPr>
          <a:xfrm>
            <a:off x="6399218" y="2934623"/>
            <a:ext cx="39550" cy="181931"/>
          </a:xfrm>
          <a:custGeom>
            <a:avLst/>
            <a:gdLst/>
            <a:ahLst/>
            <a:cxnLst/>
            <a:rect l="l" t="t" r="r" b="b"/>
            <a:pathLst>
              <a:path w="5" h="23">
                <a:moveTo>
                  <a:pt x="0" y="3"/>
                </a:moveTo>
                <a:lnTo>
                  <a:pt x="5" y="0"/>
                </a:lnTo>
                <a:lnTo>
                  <a:pt x="5" y="20"/>
                </a:lnTo>
                <a:lnTo>
                  <a:pt x="0" y="23"/>
                </a:lnTo>
                <a:close/>
              </a:path>
            </a:pathLst>
          </a:custGeom>
          <a:solidFill>
            <a:srgbClr val="D0D0D0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bba-group-3-0296"/>
          <p:cNvSpPr/>
          <p:nvPr/>
        </p:nvSpPr>
        <p:spPr>
          <a:xfrm>
            <a:off x="6407128" y="2958353"/>
            <a:ext cx="189841" cy="158201"/>
          </a:xfrm>
          <a:prstGeom prst="rect">
            <a:avLst/>
          </a:prstGeom>
          <a:solidFill>
            <a:srgbClr val="FED966"/>
          </a:solidFill>
          <a:ln w="7119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bba-group-3-0297"/>
          <p:cNvSpPr/>
          <p:nvPr/>
        </p:nvSpPr>
        <p:spPr>
          <a:xfrm>
            <a:off x="6407128" y="2934623"/>
            <a:ext cx="229391" cy="23730"/>
          </a:xfrm>
          <a:custGeom>
            <a:avLst/>
            <a:gdLst/>
            <a:ahLst/>
            <a:cxnLst/>
            <a:rect l="l" t="t" r="r" b="b"/>
            <a:pathLst>
              <a:path w="29" h="3">
                <a:moveTo>
                  <a:pt x="0" y="3"/>
                </a:moveTo>
                <a:lnTo>
                  <a:pt x="5" y="0"/>
                </a:lnTo>
                <a:lnTo>
                  <a:pt x="29" y="0"/>
                </a:lnTo>
                <a:lnTo>
                  <a:pt x="24" y="3"/>
                </a:lnTo>
                <a:close/>
              </a:path>
            </a:pathLst>
          </a:custGeom>
          <a:solidFill>
            <a:srgbClr val="F8F8F8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bba-group-3-0298"/>
          <p:cNvSpPr/>
          <p:nvPr/>
        </p:nvSpPr>
        <p:spPr>
          <a:xfrm>
            <a:off x="6596969" y="2934623"/>
            <a:ext cx="39550" cy="181931"/>
          </a:xfrm>
          <a:custGeom>
            <a:avLst/>
            <a:gdLst/>
            <a:ahLst/>
            <a:cxnLst/>
            <a:rect l="l" t="t" r="r" b="b"/>
            <a:pathLst>
              <a:path w="5" h="23">
                <a:moveTo>
                  <a:pt x="0" y="3"/>
                </a:moveTo>
                <a:lnTo>
                  <a:pt x="5" y="0"/>
                </a:lnTo>
                <a:lnTo>
                  <a:pt x="5" y="20"/>
                </a:lnTo>
                <a:lnTo>
                  <a:pt x="0" y="23"/>
                </a:lnTo>
                <a:close/>
              </a:path>
            </a:pathLst>
          </a:custGeom>
          <a:solidFill>
            <a:srgbClr val="D0D0D0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bba-group-3-0299"/>
          <p:cNvSpPr/>
          <p:nvPr/>
        </p:nvSpPr>
        <p:spPr>
          <a:xfrm>
            <a:off x="6604879" y="2958353"/>
            <a:ext cx="189841" cy="158201"/>
          </a:xfrm>
          <a:prstGeom prst="rect">
            <a:avLst/>
          </a:prstGeom>
          <a:solidFill>
            <a:srgbClr val="FED966"/>
          </a:solidFill>
          <a:ln w="7119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bba-group-3-0300"/>
          <p:cNvSpPr/>
          <p:nvPr/>
        </p:nvSpPr>
        <p:spPr>
          <a:xfrm>
            <a:off x="6604879" y="2934623"/>
            <a:ext cx="229391" cy="23730"/>
          </a:xfrm>
          <a:custGeom>
            <a:avLst/>
            <a:gdLst/>
            <a:ahLst/>
            <a:cxnLst/>
            <a:rect l="l" t="t" r="r" b="b"/>
            <a:pathLst>
              <a:path w="29" h="3">
                <a:moveTo>
                  <a:pt x="0" y="3"/>
                </a:moveTo>
                <a:lnTo>
                  <a:pt x="5" y="0"/>
                </a:lnTo>
                <a:lnTo>
                  <a:pt x="29" y="0"/>
                </a:lnTo>
                <a:lnTo>
                  <a:pt x="24" y="3"/>
                </a:lnTo>
                <a:close/>
              </a:path>
            </a:pathLst>
          </a:custGeom>
          <a:solidFill>
            <a:srgbClr val="F8F8F8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bba-group-3-0301"/>
          <p:cNvSpPr/>
          <p:nvPr/>
        </p:nvSpPr>
        <p:spPr>
          <a:xfrm>
            <a:off x="6794720" y="2934623"/>
            <a:ext cx="39550" cy="181931"/>
          </a:xfrm>
          <a:custGeom>
            <a:avLst/>
            <a:gdLst/>
            <a:ahLst/>
            <a:cxnLst/>
            <a:rect l="l" t="t" r="r" b="b"/>
            <a:pathLst>
              <a:path w="5" h="23">
                <a:moveTo>
                  <a:pt x="0" y="3"/>
                </a:moveTo>
                <a:lnTo>
                  <a:pt x="5" y="0"/>
                </a:lnTo>
                <a:lnTo>
                  <a:pt x="5" y="20"/>
                </a:lnTo>
                <a:lnTo>
                  <a:pt x="0" y="23"/>
                </a:lnTo>
                <a:close/>
              </a:path>
            </a:pathLst>
          </a:custGeom>
          <a:solidFill>
            <a:srgbClr val="D0D0D0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bba-group-3-0302"/>
          <p:cNvSpPr/>
          <p:nvPr/>
        </p:nvSpPr>
        <p:spPr>
          <a:xfrm>
            <a:off x="6802630" y="2958353"/>
            <a:ext cx="189841" cy="158201"/>
          </a:xfrm>
          <a:prstGeom prst="rect">
            <a:avLst/>
          </a:prstGeom>
          <a:solidFill>
            <a:srgbClr val="FED966"/>
          </a:solidFill>
          <a:ln w="7119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bba-group-3-0303"/>
          <p:cNvSpPr/>
          <p:nvPr/>
        </p:nvSpPr>
        <p:spPr>
          <a:xfrm>
            <a:off x="6802630" y="2934623"/>
            <a:ext cx="229391" cy="23730"/>
          </a:xfrm>
          <a:custGeom>
            <a:avLst/>
            <a:gdLst/>
            <a:ahLst/>
            <a:cxnLst/>
            <a:rect l="l" t="t" r="r" b="b"/>
            <a:pathLst>
              <a:path w="29" h="3">
                <a:moveTo>
                  <a:pt x="0" y="3"/>
                </a:moveTo>
                <a:lnTo>
                  <a:pt x="5" y="0"/>
                </a:lnTo>
                <a:lnTo>
                  <a:pt x="29" y="0"/>
                </a:lnTo>
                <a:lnTo>
                  <a:pt x="24" y="3"/>
                </a:lnTo>
                <a:close/>
              </a:path>
            </a:pathLst>
          </a:custGeom>
          <a:solidFill>
            <a:srgbClr val="F8F8F8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bba-group-3-0304"/>
          <p:cNvSpPr/>
          <p:nvPr/>
        </p:nvSpPr>
        <p:spPr>
          <a:xfrm>
            <a:off x="6992470" y="2934623"/>
            <a:ext cx="39550" cy="181931"/>
          </a:xfrm>
          <a:custGeom>
            <a:avLst/>
            <a:gdLst/>
            <a:ahLst/>
            <a:cxnLst/>
            <a:rect l="l" t="t" r="r" b="b"/>
            <a:pathLst>
              <a:path w="5" h="23">
                <a:moveTo>
                  <a:pt x="0" y="3"/>
                </a:moveTo>
                <a:lnTo>
                  <a:pt x="5" y="0"/>
                </a:lnTo>
                <a:lnTo>
                  <a:pt x="5" y="20"/>
                </a:lnTo>
                <a:lnTo>
                  <a:pt x="0" y="23"/>
                </a:lnTo>
                <a:close/>
              </a:path>
            </a:pathLst>
          </a:custGeom>
          <a:solidFill>
            <a:srgbClr val="D0D0D0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bba-group-3-0305"/>
          <p:cNvSpPr/>
          <p:nvPr/>
        </p:nvSpPr>
        <p:spPr>
          <a:xfrm>
            <a:off x="7000380" y="2958353"/>
            <a:ext cx="189841" cy="158201"/>
          </a:xfrm>
          <a:prstGeom prst="rect">
            <a:avLst/>
          </a:prstGeom>
          <a:solidFill>
            <a:srgbClr val="FED966"/>
          </a:solidFill>
          <a:ln w="7119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bba-group-3-0306"/>
          <p:cNvSpPr/>
          <p:nvPr/>
        </p:nvSpPr>
        <p:spPr>
          <a:xfrm>
            <a:off x="7000380" y="2934623"/>
            <a:ext cx="229391" cy="23730"/>
          </a:xfrm>
          <a:custGeom>
            <a:avLst/>
            <a:gdLst/>
            <a:ahLst/>
            <a:cxnLst/>
            <a:rect l="l" t="t" r="r" b="b"/>
            <a:pathLst>
              <a:path w="29" h="3">
                <a:moveTo>
                  <a:pt x="0" y="3"/>
                </a:moveTo>
                <a:lnTo>
                  <a:pt x="5" y="0"/>
                </a:lnTo>
                <a:lnTo>
                  <a:pt x="29" y="0"/>
                </a:lnTo>
                <a:lnTo>
                  <a:pt x="24" y="3"/>
                </a:lnTo>
                <a:close/>
              </a:path>
            </a:pathLst>
          </a:custGeom>
          <a:solidFill>
            <a:srgbClr val="F8F8F8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bba-group-3-0307"/>
          <p:cNvSpPr/>
          <p:nvPr/>
        </p:nvSpPr>
        <p:spPr>
          <a:xfrm>
            <a:off x="7190221" y="2934623"/>
            <a:ext cx="39550" cy="181931"/>
          </a:xfrm>
          <a:custGeom>
            <a:avLst/>
            <a:gdLst/>
            <a:ahLst/>
            <a:cxnLst/>
            <a:rect l="l" t="t" r="r" b="b"/>
            <a:pathLst>
              <a:path w="5" h="23">
                <a:moveTo>
                  <a:pt x="0" y="3"/>
                </a:moveTo>
                <a:lnTo>
                  <a:pt x="5" y="0"/>
                </a:lnTo>
                <a:lnTo>
                  <a:pt x="5" y="20"/>
                </a:lnTo>
                <a:lnTo>
                  <a:pt x="0" y="23"/>
                </a:lnTo>
                <a:close/>
              </a:path>
            </a:pathLst>
          </a:custGeom>
          <a:solidFill>
            <a:srgbClr val="D0D0D0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bba-group-3-0308"/>
          <p:cNvSpPr/>
          <p:nvPr/>
        </p:nvSpPr>
        <p:spPr>
          <a:xfrm>
            <a:off x="7198131" y="2958353"/>
            <a:ext cx="189841" cy="158201"/>
          </a:xfrm>
          <a:prstGeom prst="rect">
            <a:avLst/>
          </a:prstGeom>
          <a:solidFill>
            <a:srgbClr val="FED966"/>
          </a:solidFill>
          <a:ln w="7119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bba-group-3-0309"/>
          <p:cNvSpPr/>
          <p:nvPr/>
        </p:nvSpPr>
        <p:spPr>
          <a:xfrm>
            <a:off x="7198131" y="2934623"/>
            <a:ext cx="229391" cy="23730"/>
          </a:xfrm>
          <a:custGeom>
            <a:avLst/>
            <a:gdLst/>
            <a:ahLst/>
            <a:cxnLst/>
            <a:rect l="l" t="t" r="r" b="b"/>
            <a:pathLst>
              <a:path w="29" h="3">
                <a:moveTo>
                  <a:pt x="0" y="3"/>
                </a:moveTo>
                <a:lnTo>
                  <a:pt x="5" y="0"/>
                </a:lnTo>
                <a:lnTo>
                  <a:pt x="29" y="0"/>
                </a:lnTo>
                <a:lnTo>
                  <a:pt x="24" y="3"/>
                </a:lnTo>
                <a:close/>
              </a:path>
            </a:pathLst>
          </a:custGeom>
          <a:solidFill>
            <a:srgbClr val="F8F8F8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bba-group-3-0310"/>
          <p:cNvSpPr/>
          <p:nvPr/>
        </p:nvSpPr>
        <p:spPr>
          <a:xfrm>
            <a:off x="7387972" y="2934623"/>
            <a:ext cx="39550" cy="181931"/>
          </a:xfrm>
          <a:custGeom>
            <a:avLst/>
            <a:gdLst/>
            <a:ahLst/>
            <a:cxnLst/>
            <a:rect l="l" t="t" r="r" b="b"/>
            <a:pathLst>
              <a:path w="5" h="23">
                <a:moveTo>
                  <a:pt x="0" y="3"/>
                </a:moveTo>
                <a:lnTo>
                  <a:pt x="5" y="0"/>
                </a:lnTo>
                <a:lnTo>
                  <a:pt x="5" y="20"/>
                </a:lnTo>
                <a:lnTo>
                  <a:pt x="0" y="23"/>
                </a:lnTo>
                <a:close/>
              </a:path>
            </a:pathLst>
          </a:custGeom>
          <a:solidFill>
            <a:srgbClr val="D0D0D0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bba-group-3-0311"/>
          <p:cNvSpPr/>
          <p:nvPr/>
        </p:nvSpPr>
        <p:spPr>
          <a:xfrm>
            <a:off x="7395882" y="2958353"/>
            <a:ext cx="189841" cy="158201"/>
          </a:xfrm>
          <a:prstGeom prst="rect">
            <a:avLst/>
          </a:prstGeom>
          <a:solidFill>
            <a:srgbClr val="FED966"/>
          </a:solidFill>
          <a:ln w="7119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bba-group-3-0312"/>
          <p:cNvSpPr/>
          <p:nvPr/>
        </p:nvSpPr>
        <p:spPr>
          <a:xfrm>
            <a:off x="7395882" y="2934623"/>
            <a:ext cx="229391" cy="23730"/>
          </a:xfrm>
          <a:custGeom>
            <a:avLst/>
            <a:gdLst/>
            <a:ahLst/>
            <a:cxnLst/>
            <a:rect l="l" t="t" r="r" b="b"/>
            <a:pathLst>
              <a:path w="29" h="3">
                <a:moveTo>
                  <a:pt x="0" y="3"/>
                </a:moveTo>
                <a:lnTo>
                  <a:pt x="5" y="0"/>
                </a:lnTo>
                <a:lnTo>
                  <a:pt x="29" y="0"/>
                </a:lnTo>
                <a:lnTo>
                  <a:pt x="24" y="3"/>
                </a:lnTo>
                <a:close/>
              </a:path>
            </a:pathLst>
          </a:custGeom>
          <a:solidFill>
            <a:srgbClr val="F8F8F8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bba-group-3-0313"/>
          <p:cNvSpPr/>
          <p:nvPr/>
        </p:nvSpPr>
        <p:spPr>
          <a:xfrm>
            <a:off x="7585723" y="2934623"/>
            <a:ext cx="39550" cy="181931"/>
          </a:xfrm>
          <a:custGeom>
            <a:avLst/>
            <a:gdLst/>
            <a:ahLst/>
            <a:cxnLst/>
            <a:rect l="l" t="t" r="r" b="b"/>
            <a:pathLst>
              <a:path w="5" h="23">
                <a:moveTo>
                  <a:pt x="0" y="3"/>
                </a:moveTo>
                <a:lnTo>
                  <a:pt x="5" y="0"/>
                </a:lnTo>
                <a:lnTo>
                  <a:pt x="5" y="20"/>
                </a:lnTo>
                <a:lnTo>
                  <a:pt x="0" y="23"/>
                </a:lnTo>
                <a:close/>
              </a:path>
            </a:pathLst>
          </a:custGeom>
          <a:solidFill>
            <a:srgbClr val="D0D0D0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bba-group-3-0314"/>
          <p:cNvSpPr/>
          <p:nvPr/>
        </p:nvSpPr>
        <p:spPr>
          <a:xfrm>
            <a:off x="7593633" y="2958353"/>
            <a:ext cx="189841" cy="158201"/>
          </a:xfrm>
          <a:prstGeom prst="rect">
            <a:avLst/>
          </a:prstGeom>
          <a:solidFill>
            <a:srgbClr val="FED966"/>
          </a:solidFill>
          <a:ln w="7119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bba-group-3-0315"/>
          <p:cNvSpPr/>
          <p:nvPr/>
        </p:nvSpPr>
        <p:spPr>
          <a:xfrm>
            <a:off x="7593633" y="2934623"/>
            <a:ext cx="229391" cy="23730"/>
          </a:xfrm>
          <a:custGeom>
            <a:avLst/>
            <a:gdLst/>
            <a:ahLst/>
            <a:cxnLst/>
            <a:rect l="l" t="t" r="r" b="b"/>
            <a:pathLst>
              <a:path w="29" h="3">
                <a:moveTo>
                  <a:pt x="0" y="3"/>
                </a:moveTo>
                <a:lnTo>
                  <a:pt x="5" y="0"/>
                </a:lnTo>
                <a:lnTo>
                  <a:pt x="29" y="0"/>
                </a:lnTo>
                <a:lnTo>
                  <a:pt x="24" y="3"/>
                </a:lnTo>
                <a:close/>
              </a:path>
            </a:pathLst>
          </a:custGeom>
          <a:solidFill>
            <a:srgbClr val="F8F8F8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bba-group-3-0316"/>
          <p:cNvSpPr/>
          <p:nvPr/>
        </p:nvSpPr>
        <p:spPr>
          <a:xfrm>
            <a:off x="7783474" y="2934623"/>
            <a:ext cx="39550" cy="181931"/>
          </a:xfrm>
          <a:custGeom>
            <a:avLst/>
            <a:gdLst/>
            <a:ahLst/>
            <a:cxnLst/>
            <a:rect l="l" t="t" r="r" b="b"/>
            <a:pathLst>
              <a:path w="5" h="23">
                <a:moveTo>
                  <a:pt x="0" y="3"/>
                </a:moveTo>
                <a:lnTo>
                  <a:pt x="5" y="0"/>
                </a:lnTo>
                <a:lnTo>
                  <a:pt x="5" y="20"/>
                </a:lnTo>
                <a:lnTo>
                  <a:pt x="0" y="23"/>
                </a:lnTo>
                <a:close/>
              </a:path>
            </a:pathLst>
          </a:custGeom>
          <a:solidFill>
            <a:srgbClr val="D0D0D0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bba-group-3-0317"/>
          <p:cNvSpPr/>
          <p:nvPr/>
        </p:nvSpPr>
        <p:spPr>
          <a:xfrm>
            <a:off x="5616124" y="3251024"/>
            <a:ext cx="189841" cy="158201"/>
          </a:xfrm>
          <a:prstGeom prst="rect">
            <a:avLst/>
          </a:prstGeom>
          <a:solidFill>
            <a:srgbClr val="BAACFB"/>
          </a:solidFill>
          <a:ln w="7119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bba-group-3-0318"/>
          <p:cNvSpPr/>
          <p:nvPr/>
        </p:nvSpPr>
        <p:spPr>
          <a:xfrm>
            <a:off x="5616124" y="3227294"/>
            <a:ext cx="229391" cy="23730"/>
          </a:xfrm>
          <a:custGeom>
            <a:avLst/>
            <a:gdLst/>
            <a:ahLst/>
            <a:cxnLst/>
            <a:rect l="l" t="t" r="r" b="b"/>
            <a:pathLst>
              <a:path w="29" h="3">
                <a:moveTo>
                  <a:pt x="0" y="3"/>
                </a:moveTo>
                <a:lnTo>
                  <a:pt x="5" y="0"/>
                </a:lnTo>
                <a:lnTo>
                  <a:pt x="29" y="0"/>
                </a:lnTo>
                <a:lnTo>
                  <a:pt x="24" y="3"/>
                </a:lnTo>
                <a:close/>
              </a:path>
            </a:pathLst>
          </a:custGeom>
          <a:solidFill>
            <a:srgbClr val="F8F8F8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bba-group-3-0319"/>
          <p:cNvSpPr/>
          <p:nvPr/>
        </p:nvSpPr>
        <p:spPr>
          <a:xfrm>
            <a:off x="5805965" y="3227294"/>
            <a:ext cx="39550" cy="181931"/>
          </a:xfrm>
          <a:custGeom>
            <a:avLst/>
            <a:gdLst/>
            <a:ahLst/>
            <a:cxnLst/>
            <a:rect l="l" t="t" r="r" b="b"/>
            <a:pathLst>
              <a:path w="5" h="23">
                <a:moveTo>
                  <a:pt x="0" y="3"/>
                </a:moveTo>
                <a:lnTo>
                  <a:pt x="5" y="0"/>
                </a:lnTo>
                <a:lnTo>
                  <a:pt x="5" y="20"/>
                </a:lnTo>
                <a:lnTo>
                  <a:pt x="0" y="23"/>
                </a:lnTo>
                <a:close/>
              </a:path>
            </a:pathLst>
          </a:custGeom>
          <a:solidFill>
            <a:srgbClr val="D0D0D0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bba-group-3-0320"/>
          <p:cNvSpPr/>
          <p:nvPr/>
        </p:nvSpPr>
        <p:spPr>
          <a:xfrm>
            <a:off x="5813875" y="3251024"/>
            <a:ext cx="189841" cy="158201"/>
          </a:xfrm>
          <a:prstGeom prst="rect">
            <a:avLst/>
          </a:prstGeom>
          <a:solidFill>
            <a:srgbClr val="BAACFB"/>
          </a:solidFill>
          <a:ln w="7119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bba-group-3-0321"/>
          <p:cNvSpPr/>
          <p:nvPr/>
        </p:nvSpPr>
        <p:spPr>
          <a:xfrm>
            <a:off x="5813875" y="3227294"/>
            <a:ext cx="229391" cy="23730"/>
          </a:xfrm>
          <a:custGeom>
            <a:avLst/>
            <a:gdLst/>
            <a:ahLst/>
            <a:cxnLst/>
            <a:rect l="l" t="t" r="r" b="b"/>
            <a:pathLst>
              <a:path w="29" h="3">
                <a:moveTo>
                  <a:pt x="0" y="3"/>
                </a:moveTo>
                <a:lnTo>
                  <a:pt x="5" y="0"/>
                </a:lnTo>
                <a:lnTo>
                  <a:pt x="29" y="0"/>
                </a:lnTo>
                <a:lnTo>
                  <a:pt x="24" y="3"/>
                </a:lnTo>
                <a:close/>
              </a:path>
            </a:pathLst>
          </a:custGeom>
          <a:solidFill>
            <a:srgbClr val="F8F8F8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bba-group-3-0322"/>
          <p:cNvSpPr/>
          <p:nvPr/>
        </p:nvSpPr>
        <p:spPr>
          <a:xfrm>
            <a:off x="6003716" y="3227294"/>
            <a:ext cx="39550" cy="181931"/>
          </a:xfrm>
          <a:custGeom>
            <a:avLst/>
            <a:gdLst/>
            <a:ahLst/>
            <a:cxnLst/>
            <a:rect l="l" t="t" r="r" b="b"/>
            <a:pathLst>
              <a:path w="5" h="23">
                <a:moveTo>
                  <a:pt x="0" y="3"/>
                </a:moveTo>
                <a:lnTo>
                  <a:pt x="5" y="0"/>
                </a:lnTo>
                <a:lnTo>
                  <a:pt x="5" y="20"/>
                </a:lnTo>
                <a:lnTo>
                  <a:pt x="0" y="23"/>
                </a:lnTo>
                <a:close/>
              </a:path>
            </a:pathLst>
          </a:custGeom>
          <a:solidFill>
            <a:srgbClr val="D0D0D0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bba-group-3-0323"/>
          <p:cNvSpPr/>
          <p:nvPr/>
        </p:nvSpPr>
        <p:spPr>
          <a:xfrm>
            <a:off x="6011626" y="3251024"/>
            <a:ext cx="189841" cy="158201"/>
          </a:xfrm>
          <a:prstGeom prst="rect">
            <a:avLst/>
          </a:prstGeom>
          <a:solidFill>
            <a:srgbClr val="BAACFB"/>
          </a:solidFill>
          <a:ln w="7119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bba-group-3-0324"/>
          <p:cNvSpPr/>
          <p:nvPr/>
        </p:nvSpPr>
        <p:spPr>
          <a:xfrm>
            <a:off x="6011626" y="3227294"/>
            <a:ext cx="229391" cy="23730"/>
          </a:xfrm>
          <a:custGeom>
            <a:avLst/>
            <a:gdLst/>
            <a:ahLst/>
            <a:cxnLst/>
            <a:rect l="l" t="t" r="r" b="b"/>
            <a:pathLst>
              <a:path w="29" h="3">
                <a:moveTo>
                  <a:pt x="0" y="3"/>
                </a:moveTo>
                <a:lnTo>
                  <a:pt x="5" y="0"/>
                </a:lnTo>
                <a:lnTo>
                  <a:pt x="29" y="0"/>
                </a:lnTo>
                <a:lnTo>
                  <a:pt x="24" y="3"/>
                </a:lnTo>
                <a:close/>
              </a:path>
            </a:pathLst>
          </a:custGeom>
          <a:solidFill>
            <a:srgbClr val="F8F8F8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bba-group-3-0325"/>
          <p:cNvSpPr/>
          <p:nvPr/>
        </p:nvSpPr>
        <p:spPr>
          <a:xfrm>
            <a:off x="6201467" y="3227294"/>
            <a:ext cx="39550" cy="181931"/>
          </a:xfrm>
          <a:custGeom>
            <a:avLst/>
            <a:gdLst/>
            <a:ahLst/>
            <a:cxnLst/>
            <a:rect l="l" t="t" r="r" b="b"/>
            <a:pathLst>
              <a:path w="5" h="23">
                <a:moveTo>
                  <a:pt x="0" y="3"/>
                </a:moveTo>
                <a:lnTo>
                  <a:pt x="5" y="0"/>
                </a:lnTo>
                <a:lnTo>
                  <a:pt x="5" y="20"/>
                </a:lnTo>
                <a:lnTo>
                  <a:pt x="0" y="23"/>
                </a:lnTo>
                <a:close/>
              </a:path>
            </a:pathLst>
          </a:custGeom>
          <a:solidFill>
            <a:srgbClr val="D0D0D0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bba-group-3-0326"/>
          <p:cNvSpPr/>
          <p:nvPr/>
        </p:nvSpPr>
        <p:spPr>
          <a:xfrm>
            <a:off x="6209377" y="3251024"/>
            <a:ext cx="189841" cy="158201"/>
          </a:xfrm>
          <a:prstGeom prst="rect">
            <a:avLst/>
          </a:prstGeom>
          <a:solidFill>
            <a:srgbClr val="BAACFB"/>
          </a:solidFill>
          <a:ln w="7119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bba-group-3-0327"/>
          <p:cNvSpPr/>
          <p:nvPr/>
        </p:nvSpPr>
        <p:spPr>
          <a:xfrm>
            <a:off x="6209377" y="3227294"/>
            <a:ext cx="229391" cy="23730"/>
          </a:xfrm>
          <a:custGeom>
            <a:avLst/>
            <a:gdLst/>
            <a:ahLst/>
            <a:cxnLst/>
            <a:rect l="l" t="t" r="r" b="b"/>
            <a:pathLst>
              <a:path w="29" h="3">
                <a:moveTo>
                  <a:pt x="0" y="3"/>
                </a:moveTo>
                <a:lnTo>
                  <a:pt x="5" y="0"/>
                </a:lnTo>
                <a:lnTo>
                  <a:pt x="29" y="0"/>
                </a:lnTo>
                <a:lnTo>
                  <a:pt x="24" y="3"/>
                </a:lnTo>
                <a:close/>
              </a:path>
            </a:pathLst>
          </a:custGeom>
          <a:solidFill>
            <a:srgbClr val="F8F8F8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bba-group-3-0328"/>
          <p:cNvSpPr/>
          <p:nvPr/>
        </p:nvSpPr>
        <p:spPr>
          <a:xfrm>
            <a:off x="6399218" y="3227294"/>
            <a:ext cx="39550" cy="181931"/>
          </a:xfrm>
          <a:custGeom>
            <a:avLst/>
            <a:gdLst/>
            <a:ahLst/>
            <a:cxnLst/>
            <a:rect l="l" t="t" r="r" b="b"/>
            <a:pathLst>
              <a:path w="5" h="23">
                <a:moveTo>
                  <a:pt x="0" y="3"/>
                </a:moveTo>
                <a:lnTo>
                  <a:pt x="5" y="0"/>
                </a:lnTo>
                <a:lnTo>
                  <a:pt x="5" y="20"/>
                </a:lnTo>
                <a:lnTo>
                  <a:pt x="0" y="23"/>
                </a:lnTo>
                <a:close/>
              </a:path>
            </a:pathLst>
          </a:custGeom>
          <a:solidFill>
            <a:srgbClr val="D0D0D0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bba-group-3-0329"/>
          <p:cNvSpPr/>
          <p:nvPr/>
        </p:nvSpPr>
        <p:spPr>
          <a:xfrm>
            <a:off x="6407128" y="3251024"/>
            <a:ext cx="189841" cy="158201"/>
          </a:xfrm>
          <a:prstGeom prst="rect">
            <a:avLst/>
          </a:prstGeom>
          <a:solidFill>
            <a:srgbClr val="BAACFB"/>
          </a:solidFill>
          <a:ln w="7119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bba-group-3-0330"/>
          <p:cNvSpPr/>
          <p:nvPr/>
        </p:nvSpPr>
        <p:spPr>
          <a:xfrm>
            <a:off x="6407128" y="3227294"/>
            <a:ext cx="229391" cy="23730"/>
          </a:xfrm>
          <a:custGeom>
            <a:avLst/>
            <a:gdLst/>
            <a:ahLst/>
            <a:cxnLst/>
            <a:rect l="l" t="t" r="r" b="b"/>
            <a:pathLst>
              <a:path w="29" h="3">
                <a:moveTo>
                  <a:pt x="0" y="3"/>
                </a:moveTo>
                <a:lnTo>
                  <a:pt x="5" y="0"/>
                </a:lnTo>
                <a:lnTo>
                  <a:pt x="29" y="0"/>
                </a:lnTo>
                <a:lnTo>
                  <a:pt x="24" y="3"/>
                </a:lnTo>
                <a:close/>
              </a:path>
            </a:pathLst>
          </a:custGeom>
          <a:solidFill>
            <a:srgbClr val="F8F8F8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bba-group-3-0331"/>
          <p:cNvSpPr/>
          <p:nvPr/>
        </p:nvSpPr>
        <p:spPr>
          <a:xfrm>
            <a:off x="6596969" y="3227294"/>
            <a:ext cx="39550" cy="181931"/>
          </a:xfrm>
          <a:custGeom>
            <a:avLst/>
            <a:gdLst/>
            <a:ahLst/>
            <a:cxnLst/>
            <a:rect l="l" t="t" r="r" b="b"/>
            <a:pathLst>
              <a:path w="5" h="23">
                <a:moveTo>
                  <a:pt x="0" y="3"/>
                </a:moveTo>
                <a:lnTo>
                  <a:pt x="5" y="0"/>
                </a:lnTo>
                <a:lnTo>
                  <a:pt x="5" y="20"/>
                </a:lnTo>
                <a:lnTo>
                  <a:pt x="0" y="23"/>
                </a:lnTo>
                <a:close/>
              </a:path>
            </a:pathLst>
          </a:custGeom>
          <a:solidFill>
            <a:srgbClr val="D0D0D0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bba-group-3-0332"/>
          <p:cNvSpPr/>
          <p:nvPr/>
        </p:nvSpPr>
        <p:spPr>
          <a:xfrm>
            <a:off x="6604879" y="3251024"/>
            <a:ext cx="189841" cy="158201"/>
          </a:xfrm>
          <a:prstGeom prst="rect">
            <a:avLst/>
          </a:prstGeom>
          <a:solidFill>
            <a:srgbClr val="BAACFB"/>
          </a:solidFill>
          <a:ln w="7119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bba-group-3-0333"/>
          <p:cNvSpPr/>
          <p:nvPr/>
        </p:nvSpPr>
        <p:spPr>
          <a:xfrm>
            <a:off x="6604879" y="3227294"/>
            <a:ext cx="229391" cy="23730"/>
          </a:xfrm>
          <a:custGeom>
            <a:avLst/>
            <a:gdLst/>
            <a:ahLst/>
            <a:cxnLst/>
            <a:rect l="l" t="t" r="r" b="b"/>
            <a:pathLst>
              <a:path w="29" h="3">
                <a:moveTo>
                  <a:pt x="0" y="3"/>
                </a:moveTo>
                <a:lnTo>
                  <a:pt x="5" y="0"/>
                </a:lnTo>
                <a:lnTo>
                  <a:pt x="29" y="0"/>
                </a:lnTo>
                <a:lnTo>
                  <a:pt x="24" y="3"/>
                </a:lnTo>
                <a:close/>
              </a:path>
            </a:pathLst>
          </a:custGeom>
          <a:solidFill>
            <a:srgbClr val="F8F8F8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bba-group-3-0334"/>
          <p:cNvSpPr/>
          <p:nvPr/>
        </p:nvSpPr>
        <p:spPr>
          <a:xfrm>
            <a:off x="6794720" y="3227294"/>
            <a:ext cx="39550" cy="181931"/>
          </a:xfrm>
          <a:custGeom>
            <a:avLst/>
            <a:gdLst/>
            <a:ahLst/>
            <a:cxnLst/>
            <a:rect l="l" t="t" r="r" b="b"/>
            <a:pathLst>
              <a:path w="5" h="23">
                <a:moveTo>
                  <a:pt x="0" y="3"/>
                </a:moveTo>
                <a:lnTo>
                  <a:pt x="5" y="0"/>
                </a:lnTo>
                <a:lnTo>
                  <a:pt x="5" y="20"/>
                </a:lnTo>
                <a:lnTo>
                  <a:pt x="0" y="23"/>
                </a:lnTo>
                <a:close/>
              </a:path>
            </a:pathLst>
          </a:custGeom>
          <a:solidFill>
            <a:srgbClr val="D0D0D0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bba-group-3-0335"/>
          <p:cNvSpPr/>
          <p:nvPr/>
        </p:nvSpPr>
        <p:spPr>
          <a:xfrm>
            <a:off x="6802630" y="3251024"/>
            <a:ext cx="189841" cy="158201"/>
          </a:xfrm>
          <a:prstGeom prst="rect">
            <a:avLst/>
          </a:prstGeom>
          <a:solidFill>
            <a:srgbClr val="BAACFB"/>
          </a:solidFill>
          <a:ln w="7119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bba-group-3-0336"/>
          <p:cNvSpPr/>
          <p:nvPr/>
        </p:nvSpPr>
        <p:spPr>
          <a:xfrm>
            <a:off x="6802630" y="3227294"/>
            <a:ext cx="229391" cy="23730"/>
          </a:xfrm>
          <a:custGeom>
            <a:avLst/>
            <a:gdLst/>
            <a:ahLst/>
            <a:cxnLst/>
            <a:rect l="l" t="t" r="r" b="b"/>
            <a:pathLst>
              <a:path w="29" h="3">
                <a:moveTo>
                  <a:pt x="0" y="3"/>
                </a:moveTo>
                <a:lnTo>
                  <a:pt x="5" y="0"/>
                </a:lnTo>
                <a:lnTo>
                  <a:pt x="29" y="0"/>
                </a:lnTo>
                <a:lnTo>
                  <a:pt x="24" y="3"/>
                </a:lnTo>
                <a:close/>
              </a:path>
            </a:pathLst>
          </a:custGeom>
          <a:solidFill>
            <a:srgbClr val="F8F8F8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bba-group-3-0337"/>
          <p:cNvSpPr/>
          <p:nvPr/>
        </p:nvSpPr>
        <p:spPr>
          <a:xfrm>
            <a:off x="6992470" y="3227294"/>
            <a:ext cx="39550" cy="181931"/>
          </a:xfrm>
          <a:custGeom>
            <a:avLst/>
            <a:gdLst/>
            <a:ahLst/>
            <a:cxnLst/>
            <a:rect l="l" t="t" r="r" b="b"/>
            <a:pathLst>
              <a:path w="5" h="23">
                <a:moveTo>
                  <a:pt x="0" y="3"/>
                </a:moveTo>
                <a:lnTo>
                  <a:pt x="5" y="0"/>
                </a:lnTo>
                <a:lnTo>
                  <a:pt x="5" y="20"/>
                </a:lnTo>
                <a:lnTo>
                  <a:pt x="0" y="23"/>
                </a:lnTo>
                <a:close/>
              </a:path>
            </a:pathLst>
          </a:custGeom>
          <a:solidFill>
            <a:srgbClr val="D0D0D0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bba-group-3-0338"/>
          <p:cNvSpPr/>
          <p:nvPr/>
        </p:nvSpPr>
        <p:spPr>
          <a:xfrm>
            <a:off x="7000380" y="3251024"/>
            <a:ext cx="189841" cy="158201"/>
          </a:xfrm>
          <a:prstGeom prst="rect">
            <a:avLst/>
          </a:prstGeom>
          <a:solidFill>
            <a:srgbClr val="BAACFB"/>
          </a:solidFill>
          <a:ln w="7119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bba-group-3-0339"/>
          <p:cNvSpPr/>
          <p:nvPr/>
        </p:nvSpPr>
        <p:spPr>
          <a:xfrm>
            <a:off x="7000380" y="3227294"/>
            <a:ext cx="229391" cy="23730"/>
          </a:xfrm>
          <a:custGeom>
            <a:avLst/>
            <a:gdLst/>
            <a:ahLst/>
            <a:cxnLst/>
            <a:rect l="l" t="t" r="r" b="b"/>
            <a:pathLst>
              <a:path w="29" h="3">
                <a:moveTo>
                  <a:pt x="0" y="3"/>
                </a:moveTo>
                <a:lnTo>
                  <a:pt x="5" y="0"/>
                </a:lnTo>
                <a:lnTo>
                  <a:pt x="29" y="0"/>
                </a:lnTo>
                <a:lnTo>
                  <a:pt x="24" y="3"/>
                </a:lnTo>
                <a:close/>
              </a:path>
            </a:pathLst>
          </a:custGeom>
          <a:solidFill>
            <a:srgbClr val="F8F8F8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bba-group-3-0340"/>
          <p:cNvSpPr/>
          <p:nvPr/>
        </p:nvSpPr>
        <p:spPr>
          <a:xfrm>
            <a:off x="7190221" y="3227294"/>
            <a:ext cx="39550" cy="181931"/>
          </a:xfrm>
          <a:custGeom>
            <a:avLst/>
            <a:gdLst/>
            <a:ahLst/>
            <a:cxnLst/>
            <a:rect l="l" t="t" r="r" b="b"/>
            <a:pathLst>
              <a:path w="5" h="23">
                <a:moveTo>
                  <a:pt x="0" y="3"/>
                </a:moveTo>
                <a:lnTo>
                  <a:pt x="5" y="0"/>
                </a:lnTo>
                <a:lnTo>
                  <a:pt x="5" y="20"/>
                </a:lnTo>
                <a:lnTo>
                  <a:pt x="0" y="23"/>
                </a:lnTo>
                <a:close/>
              </a:path>
            </a:pathLst>
          </a:custGeom>
          <a:solidFill>
            <a:srgbClr val="D0D0D0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bba-group-3-0341"/>
          <p:cNvSpPr/>
          <p:nvPr/>
        </p:nvSpPr>
        <p:spPr>
          <a:xfrm>
            <a:off x="7198131" y="3251024"/>
            <a:ext cx="189841" cy="158201"/>
          </a:xfrm>
          <a:prstGeom prst="rect">
            <a:avLst/>
          </a:prstGeom>
          <a:solidFill>
            <a:srgbClr val="BAACFB"/>
          </a:solidFill>
          <a:ln w="7119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bba-group-3-0342"/>
          <p:cNvSpPr/>
          <p:nvPr/>
        </p:nvSpPr>
        <p:spPr>
          <a:xfrm>
            <a:off x="7198131" y="3227294"/>
            <a:ext cx="229391" cy="23730"/>
          </a:xfrm>
          <a:custGeom>
            <a:avLst/>
            <a:gdLst/>
            <a:ahLst/>
            <a:cxnLst/>
            <a:rect l="l" t="t" r="r" b="b"/>
            <a:pathLst>
              <a:path w="29" h="3">
                <a:moveTo>
                  <a:pt x="0" y="3"/>
                </a:moveTo>
                <a:lnTo>
                  <a:pt x="5" y="0"/>
                </a:lnTo>
                <a:lnTo>
                  <a:pt x="29" y="0"/>
                </a:lnTo>
                <a:lnTo>
                  <a:pt x="24" y="3"/>
                </a:lnTo>
                <a:close/>
              </a:path>
            </a:pathLst>
          </a:custGeom>
          <a:solidFill>
            <a:srgbClr val="F8F8F8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bba-group-3-0343"/>
          <p:cNvSpPr/>
          <p:nvPr/>
        </p:nvSpPr>
        <p:spPr>
          <a:xfrm>
            <a:off x="7387972" y="3227294"/>
            <a:ext cx="39550" cy="181931"/>
          </a:xfrm>
          <a:custGeom>
            <a:avLst/>
            <a:gdLst/>
            <a:ahLst/>
            <a:cxnLst/>
            <a:rect l="l" t="t" r="r" b="b"/>
            <a:pathLst>
              <a:path w="5" h="23">
                <a:moveTo>
                  <a:pt x="0" y="3"/>
                </a:moveTo>
                <a:lnTo>
                  <a:pt x="5" y="0"/>
                </a:lnTo>
                <a:lnTo>
                  <a:pt x="5" y="20"/>
                </a:lnTo>
                <a:lnTo>
                  <a:pt x="0" y="23"/>
                </a:lnTo>
                <a:close/>
              </a:path>
            </a:pathLst>
          </a:custGeom>
          <a:solidFill>
            <a:srgbClr val="D0D0D0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bba-group-3-0344"/>
          <p:cNvSpPr/>
          <p:nvPr/>
        </p:nvSpPr>
        <p:spPr>
          <a:xfrm>
            <a:off x="7395882" y="3251024"/>
            <a:ext cx="189841" cy="158201"/>
          </a:xfrm>
          <a:prstGeom prst="rect">
            <a:avLst/>
          </a:prstGeom>
          <a:solidFill>
            <a:srgbClr val="BAACFB"/>
          </a:solidFill>
          <a:ln w="7119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bba-group-3-0345"/>
          <p:cNvSpPr/>
          <p:nvPr/>
        </p:nvSpPr>
        <p:spPr>
          <a:xfrm>
            <a:off x="7395882" y="3227294"/>
            <a:ext cx="229391" cy="23730"/>
          </a:xfrm>
          <a:custGeom>
            <a:avLst/>
            <a:gdLst/>
            <a:ahLst/>
            <a:cxnLst/>
            <a:rect l="l" t="t" r="r" b="b"/>
            <a:pathLst>
              <a:path w="29" h="3">
                <a:moveTo>
                  <a:pt x="0" y="3"/>
                </a:moveTo>
                <a:lnTo>
                  <a:pt x="5" y="0"/>
                </a:lnTo>
                <a:lnTo>
                  <a:pt x="29" y="0"/>
                </a:lnTo>
                <a:lnTo>
                  <a:pt x="24" y="3"/>
                </a:lnTo>
                <a:close/>
              </a:path>
            </a:pathLst>
          </a:custGeom>
          <a:solidFill>
            <a:srgbClr val="F8F8F8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bba-group-3-0346"/>
          <p:cNvSpPr/>
          <p:nvPr/>
        </p:nvSpPr>
        <p:spPr>
          <a:xfrm>
            <a:off x="7585723" y="3227294"/>
            <a:ext cx="39550" cy="181931"/>
          </a:xfrm>
          <a:custGeom>
            <a:avLst/>
            <a:gdLst/>
            <a:ahLst/>
            <a:cxnLst/>
            <a:rect l="l" t="t" r="r" b="b"/>
            <a:pathLst>
              <a:path w="5" h="23">
                <a:moveTo>
                  <a:pt x="0" y="3"/>
                </a:moveTo>
                <a:lnTo>
                  <a:pt x="5" y="0"/>
                </a:lnTo>
                <a:lnTo>
                  <a:pt x="5" y="20"/>
                </a:lnTo>
                <a:lnTo>
                  <a:pt x="0" y="23"/>
                </a:lnTo>
                <a:close/>
              </a:path>
            </a:pathLst>
          </a:custGeom>
          <a:solidFill>
            <a:srgbClr val="D0D0D0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bba-group-3-0347"/>
          <p:cNvSpPr/>
          <p:nvPr/>
        </p:nvSpPr>
        <p:spPr>
          <a:xfrm>
            <a:off x="7593633" y="3251024"/>
            <a:ext cx="189841" cy="158201"/>
          </a:xfrm>
          <a:prstGeom prst="rect">
            <a:avLst/>
          </a:prstGeom>
          <a:solidFill>
            <a:srgbClr val="BAACFB"/>
          </a:solidFill>
          <a:ln w="7119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bba-group-3-0348"/>
          <p:cNvSpPr/>
          <p:nvPr/>
        </p:nvSpPr>
        <p:spPr>
          <a:xfrm>
            <a:off x="7593633" y="3227294"/>
            <a:ext cx="229391" cy="23730"/>
          </a:xfrm>
          <a:custGeom>
            <a:avLst/>
            <a:gdLst/>
            <a:ahLst/>
            <a:cxnLst/>
            <a:rect l="l" t="t" r="r" b="b"/>
            <a:pathLst>
              <a:path w="29" h="3">
                <a:moveTo>
                  <a:pt x="0" y="3"/>
                </a:moveTo>
                <a:lnTo>
                  <a:pt x="5" y="0"/>
                </a:lnTo>
                <a:lnTo>
                  <a:pt x="29" y="0"/>
                </a:lnTo>
                <a:lnTo>
                  <a:pt x="24" y="3"/>
                </a:lnTo>
                <a:close/>
              </a:path>
            </a:pathLst>
          </a:custGeom>
          <a:solidFill>
            <a:srgbClr val="F8F8F8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bba-group-3-0349"/>
          <p:cNvSpPr/>
          <p:nvPr/>
        </p:nvSpPr>
        <p:spPr>
          <a:xfrm>
            <a:off x="7783474" y="3227294"/>
            <a:ext cx="39550" cy="181931"/>
          </a:xfrm>
          <a:custGeom>
            <a:avLst/>
            <a:gdLst/>
            <a:ahLst/>
            <a:cxnLst/>
            <a:rect l="l" t="t" r="r" b="b"/>
            <a:pathLst>
              <a:path w="5" h="23">
                <a:moveTo>
                  <a:pt x="0" y="3"/>
                </a:moveTo>
                <a:lnTo>
                  <a:pt x="5" y="0"/>
                </a:lnTo>
                <a:lnTo>
                  <a:pt x="5" y="20"/>
                </a:lnTo>
                <a:lnTo>
                  <a:pt x="0" y="23"/>
                </a:lnTo>
                <a:close/>
              </a:path>
            </a:pathLst>
          </a:custGeom>
          <a:solidFill>
            <a:srgbClr val="D0D0D0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bba-group-3-0350"/>
          <p:cNvSpPr txBox="1"/>
          <p:nvPr/>
        </p:nvSpPr>
        <p:spPr>
          <a:xfrm>
            <a:off x="6446678" y="3053273"/>
            <a:ext cx="197751" cy="17402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1494" b="1">
                <a:solidFill>
                  <a:srgbClr val="000000"/>
                </a:solidFill>
                <a:latin typeface="Liberation Serif"/>
              </a:rPr>
              <a:t>⋮</a:t>
            </a:r>
          </a:p>
        </p:txBody>
      </p:sp>
      <p:sp>
        <p:nvSpPr>
          <p:cNvPr id="352" name="bba-group-3-0351"/>
          <p:cNvSpPr txBox="1"/>
          <p:nvPr/>
        </p:nvSpPr>
        <p:spPr>
          <a:xfrm>
            <a:off x="6739349" y="3053273"/>
            <a:ext cx="197751" cy="17402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1494" b="1">
                <a:solidFill>
                  <a:srgbClr val="000000"/>
                </a:solidFill>
                <a:latin typeface="Liberation Serif"/>
              </a:rPr>
              <a:t>⋮</a:t>
            </a:r>
          </a:p>
        </p:txBody>
      </p:sp>
      <p:sp>
        <p:nvSpPr>
          <p:cNvPr id="353" name="bba-caption-0352"/>
          <p:cNvSpPr txBox="1"/>
          <p:nvPr/>
        </p:nvSpPr>
        <p:spPr>
          <a:xfrm>
            <a:off x="5813875" y="3504145"/>
            <a:ext cx="1740208" cy="34013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1806" b="1">
                <a:solidFill>
                  <a:srgbClr val="000000"/>
                </a:solidFill>
                <a:latin typeface="Liberation Serif"/>
              </a:rPr>
              <a:t>Build BBA</a:t>
            </a:r>
          </a:p>
        </p:txBody>
      </p:sp>
      <p:sp>
        <p:nvSpPr>
          <p:cNvPr id="354" name="bba-arrows-0353"/>
          <p:cNvSpPr/>
          <p:nvPr/>
        </p:nvSpPr>
        <p:spPr>
          <a:xfrm>
            <a:off x="8036595" y="1297246"/>
            <a:ext cx="450872" cy="221481"/>
          </a:xfrm>
          <a:custGeom>
            <a:avLst/>
            <a:gdLst/>
            <a:ahLst/>
            <a:cxnLst/>
            <a:rect l="l" t="t" r="r" b="b"/>
            <a:pathLst>
              <a:path w="57" h="28">
                <a:moveTo>
                  <a:pt x="0" y="7"/>
                </a:moveTo>
                <a:lnTo>
                  <a:pt x="35" y="7"/>
                </a:lnTo>
                <a:lnTo>
                  <a:pt x="35" y="0"/>
                </a:lnTo>
                <a:lnTo>
                  <a:pt x="57" y="14"/>
                </a:lnTo>
                <a:lnTo>
                  <a:pt x="35" y="28"/>
                </a:lnTo>
                <a:lnTo>
                  <a:pt x="35" y="21"/>
                </a:lnTo>
                <a:lnTo>
                  <a:pt x="0" y="21"/>
                </a:lnTo>
                <a:close/>
              </a:path>
            </a:pathLst>
          </a:custGeom>
          <a:solidFill>
            <a:srgbClr val="FEFAEE"/>
          </a:solidFill>
          <a:ln w="15820">
            <a:solidFill>
              <a:srgbClr val="F4A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bba-arrows-0354"/>
          <p:cNvSpPr/>
          <p:nvPr/>
        </p:nvSpPr>
        <p:spPr>
          <a:xfrm>
            <a:off x="8036595" y="2815972"/>
            <a:ext cx="450872" cy="221481"/>
          </a:xfrm>
          <a:custGeom>
            <a:avLst/>
            <a:gdLst/>
            <a:ahLst/>
            <a:cxnLst/>
            <a:rect l="l" t="t" r="r" b="b"/>
            <a:pathLst>
              <a:path w="57" h="28">
                <a:moveTo>
                  <a:pt x="0" y="7"/>
                </a:moveTo>
                <a:lnTo>
                  <a:pt x="35" y="7"/>
                </a:lnTo>
                <a:lnTo>
                  <a:pt x="35" y="0"/>
                </a:lnTo>
                <a:lnTo>
                  <a:pt x="57" y="14"/>
                </a:lnTo>
                <a:lnTo>
                  <a:pt x="35" y="28"/>
                </a:lnTo>
                <a:lnTo>
                  <a:pt x="35" y="21"/>
                </a:lnTo>
                <a:lnTo>
                  <a:pt x="0" y="21"/>
                </a:lnTo>
                <a:close/>
              </a:path>
            </a:pathLst>
          </a:custGeom>
          <a:solidFill>
            <a:srgbClr val="FEFAEE"/>
          </a:solidFill>
          <a:ln w="15820">
            <a:solidFill>
              <a:srgbClr val="5D8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diffusion-column-0355"/>
          <p:cNvSpPr/>
          <p:nvPr/>
        </p:nvSpPr>
        <p:spPr>
          <a:xfrm>
            <a:off x="8558657" y="822644"/>
            <a:ext cx="181931" cy="166111"/>
          </a:xfrm>
          <a:prstGeom prst="rect">
            <a:avLst/>
          </a:prstGeom>
          <a:solidFill>
            <a:srgbClr val="F2C92B"/>
          </a:solidFill>
          <a:ln w="7910">
            <a:solidFill>
              <a:srgbClr val="8FB4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7" name="diffusion-column-0356"/>
          <p:cNvCxnSpPr/>
          <p:nvPr/>
        </p:nvCxnSpPr>
        <p:spPr>
          <a:xfrm>
            <a:off x="8843419" y="901744"/>
            <a:ext cx="189840" cy="0"/>
          </a:xfrm>
          <a:prstGeom prst="line">
            <a:avLst/>
          </a:prstGeom>
          <a:ln w="15820">
            <a:solidFill>
              <a:srgbClr val="F4A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8" name="diffusion-column-0357"/>
          <p:cNvSpPr/>
          <p:nvPr/>
        </p:nvSpPr>
        <p:spPr>
          <a:xfrm>
            <a:off x="9033259" y="862194"/>
            <a:ext cx="79100" cy="7910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10" y="5"/>
                </a:moveTo>
                <a:lnTo>
                  <a:pt x="0" y="10"/>
                </a:lnTo>
                <a:lnTo>
                  <a:pt x="0" y="0"/>
                </a:lnTo>
                <a:close/>
              </a:path>
            </a:pathLst>
          </a:custGeom>
          <a:solidFill>
            <a:srgbClr val="F4A070"/>
          </a:solidFill>
          <a:ln w="7910">
            <a:solidFill>
              <a:srgbClr val="F4A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diffusion-column-0358"/>
          <p:cNvSpPr/>
          <p:nvPr/>
        </p:nvSpPr>
        <p:spPr>
          <a:xfrm>
            <a:off x="8764318" y="862194"/>
            <a:ext cx="79100" cy="7910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0" y="5"/>
                </a:moveTo>
                <a:lnTo>
                  <a:pt x="10" y="0"/>
                </a:lnTo>
                <a:lnTo>
                  <a:pt x="10" y="10"/>
                </a:lnTo>
                <a:close/>
              </a:path>
            </a:pathLst>
          </a:custGeom>
          <a:solidFill>
            <a:srgbClr val="F4A070"/>
          </a:solidFill>
          <a:ln w="7910">
            <a:solidFill>
              <a:srgbClr val="F4A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diffusion-column-0359"/>
          <p:cNvSpPr/>
          <p:nvPr/>
        </p:nvSpPr>
        <p:spPr>
          <a:xfrm>
            <a:off x="9191460" y="862194"/>
            <a:ext cx="189841" cy="158201"/>
          </a:xfrm>
          <a:prstGeom prst="ellipse">
            <a:avLst/>
          </a:prstGeom>
          <a:solidFill>
            <a:srgbClr val="B9D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diffusion-column-0360"/>
          <p:cNvSpPr/>
          <p:nvPr/>
        </p:nvSpPr>
        <p:spPr>
          <a:xfrm>
            <a:off x="9159820" y="822644"/>
            <a:ext cx="189841" cy="158201"/>
          </a:xfrm>
          <a:prstGeom prst="ellipse">
            <a:avLst/>
          </a:prstGeom>
          <a:solidFill>
            <a:srgbClr val="B9BD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diffusion-column-0361"/>
          <p:cNvSpPr/>
          <p:nvPr/>
        </p:nvSpPr>
        <p:spPr>
          <a:xfrm>
            <a:off x="8558657" y="1044125"/>
            <a:ext cx="181931" cy="166111"/>
          </a:xfrm>
          <a:prstGeom prst="rect">
            <a:avLst/>
          </a:prstGeom>
          <a:solidFill>
            <a:srgbClr val="8FC3A0"/>
          </a:solidFill>
          <a:ln w="7910">
            <a:solidFill>
              <a:srgbClr val="8FB4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3" name="diffusion-column-0362"/>
          <p:cNvCxnSpPr/>
          <p:nvPr/>
        </p:nvCxnSpPr>
        <p:spPr>
          <a:xfrm>
            <a:off x="8843419" y="1123225"/>
            <a:ext cx="189840" cy="0"/>
          </a:xfrm>
          <a:prstGeom prst="line">
            <a:avLst/>
          </a:prstGeom>
          <a:ln w="15820">
            <a:solidFill>
              <a:srgbClr val="F4A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4" name="diffusion-column-0363"/>
          <p:cNvSpPr/>
          <p:nvPr/>
        </p:nvSpPr>
        <p:spPr>
          <a:xfrm>
            <a:off x="9033259" y="1083675"/>
            <a:ext cx="79100" cy="7910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10" y="5"/>
                </a:moveTo>
                <a:lnTo>
                  <a:pt x="0" y="10"/>
                </a:lnTo>
                <a:lnTo>
                  <a:pt x="0" y="0"/>
                </a:lnTo>
                <a:close/>
              </a:path>
            </a:pathLst>
          </a:custGeom>
          <a:solidFill>
            <a:srgbClr val="F4A070"/>
          </a:solidFill>
          <a:ln w="7910">
            <a:solidFill>
              <a:srgbClr val="F4A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diffusion-column-0364"/>
          <p:cNvSpPr/>
          <p:nvPr/>
        </p:nvSpPr>
        <p:spPr>
          <a:xfrm>
            <a:off x="8764318" y="1083675"/>
            <a:ext cx="79100" cy="7910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0" y="5"/>
                </a:moveTo>
                <a:lnTo>
                  <a:pt x="10" y="0"/>
                </a:lnTo>
                <a:lnTo>
                  <a:pt x="10" y="10"/>
                </a:lnTo>
                <a:close/>
              </a:path>
            </a:pathLst>
          </a:custGeom>
          <a:solidFill>
            <a:srgbClr val="F4A070"/>
          </a:solidFill>
          <a:ln w="7910">
            <a:solidFill>
              <a:srgbClr val="F4A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diffusion-column-0365"/>
          <p:cNvSpPr/>
          <p:nvPr/>
        </p:nvSpPr>
        <p:spPr>
          <a:xfrm>
            <a:off x="9191460" y="1083675"/>
            <a:ext cx="189841" cy="158201"/>
          </a:xfrm>
          <a:prstGeom prst="ellipse">
            <a:avLst/>
          </a:prstGeom>
          <a:solidFill>
            <a:srgbClr val="B9D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diffusion-column-0366"/>
          <p:cNvSpPr/>
          <p:nvPr/>
        </p:nvSpPr>
        <p:spPr>
          <a:xfrm>
            <a:off x="9159820" y="1044125"/>
            <a:ext cx="189841" cy="158201"/>
          </a:xfrm>
          <a:prstGeom prst="ellipse">
            <a:avLst/>
          </a:prstGeom>
          <a:solidFill>
            <a:srgbClr val="666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diffusion-column-0367"/>
          <p:cNvSpPr/>
          <p:nvPr/>
        </p:nvSpPr>
        <p:spPr>
          <a:xfrm>
            <a:off x="8558657" y="1265606"/>
            <a:ext cx="181931" cy="166111"/>
          </a:xfrm>
          <a:prstGeom prst="rect">
            <a:avLst/>
          </a:prstGeom>
          <a:solidFill>
            <a:srgbClr val="8FC3A0"/>
          </a:solidFill>
          <a:ln w="7910">
            <a:solidFill>
              <a:srgbClr val="8FB4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9" name="diffusion-column-0368"/>
          <p:cNvCxnSpPr/>
          <p:nvPr/>
        </p:nvCxnSpPr>
        <p:spPr>
          <a:xfrm>
            <a:off x="8843419" y="1344706"/>
            <a:ext cx="189840" cy="0"/>
          </a:xfrm>
          <a:prstGeom prst="line">
            <a:avLst/>
          </a:prstGeom>
          <a:ln w="15820">
            <a:solidFill>
              <a:srgbClr val="F4A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0" name="diffusion-column-0369"/>
          <p:cNvSpPr/>
          <p:nvPr/>
        </p:nvSpPr>
        <p:spPr>
          <a:xfrm>
            <a:off x="9033259" y="1305156"/>
            <a:ext cx="79100" cy="7910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10" y="5"/>
                </a:moveTo>
                <a:lnTo>
                  <a:pt x="0" y="10"/>
                </a:lnTo>
                <a:lnTo>
                  <a:pt x="0" y="0"/>
                </a:lnTo>
                <a:close/>
              </a:path>
            </a:pathLst>
          </a:custGeom>
          <a:solidFill>
            <a:srgbClr val="F4A070"/>
          </a:solidFill>
          <a:ln w="7910">
            <a:solidFill>
              <a:srgbClr val="F4A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diffusion-column-0370"/>
          <p:cNvSpPr/>
          <p:nvPr/>
        </p:nvSpPr>
        <p:spPr>
          <a:xfrm>
            <a:off x="8764318" y="1305156"/>
            <a:ext cx="79100" cy="7910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0" y="5"/>
                </a:moveTo>
                <a:lnTo>
                  <a:pt x="10" y="0"/>
                </a:lnTo>
                <a:lnTo>
                  <a:pt x="10" y="10"/>
                </a:lnTo>
                <a:close/>
              </a:path>
            </a:pathLst>
          </a:custGeom>
          <a:solidFill>
            <a:srgbClr val="F4A070"/>
          </a:solidFill>
          <a:ln w="7910">
            <a:solidFill>
              <a:srgbClr val="F4A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diffusion-column-0371"/>
          <p:cNvSpPr/>
          <p:nvPr/>
        </p:nvSpPr>
        <p:spPr>
          <a:xfrm>
            <a:off x="9191460" y="1305156"/>
            <a:ext cx="189841" cy="158201"/>
          </a:xfrm>
          <a:prstGeom prst="ellipse">
            <a:avLst/>
          </a:prstGeom>
          <a:solidFill>
            <a:srgbClr val="B9D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diffusion-column-0372"/>
          <p:cNvSpPr/>
          <p:nvPr/>
        </p:nvSpPr>
        <p:spPr>
          <a:xfrm>
            <a:off x="9159820" y="1265606"/>
            <a:ext cx="189841" cy="158201"/>
          </a:xfrm>
          <a:prstGeom prst="ellipse">
            <a:avLst/>
          </a:prstGeom>
          <a:solidFill>
            <a:srgbClr val="B9BD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diffusion-column-0373"/>
          <p:cNvSpPr/>
          <p:nvPr/>
        </p:nvSpPr>
        <p:spPr>
          <a:xfrm>
            <a:off x="8558657" y="1487087"/>
            <a:ext cx="181931" cy="166111"/>
          </a:xfrm>
          <a:prstGeom prst="rect">
            <a:avLst/>
          </a:prstGeom>
          <a:solidFill>
            <a:srgbClr val="F2C92B"/>
          </a:solidFill>
          <a:ln w="7910">
            <a:solidFill>
              <a:srgbClr val="8FB4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5" name="diffusion-column-0374"/>
          <p:cNvCxnSpPr/>
          <p:nvPr/>
        </p:nvCxnSpPr>
        <p:spPr>
          <a:xfrm>
            <a:off x="8843419" y="1566187"/>
            <a:ext cx="189840" cy="0"/>
          </a:xfrm>
          <a:prstGeom prst="line">
            <a:avLst/>
          </a:prstGeom>
          <a:ln w="15820">
            <a:solidFill>
              <a:srgbClr val="F4A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6" name="diffusion-column-0375"/>
          <p:cNvSpPr/>
          <p:nvPr/>
        </p:nvSpPr>
        <p:spPr>
          <a:xfrm>
            <a:off x="9033259" y="1526637"/>
            <a:ext cx="79100" cy="7910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10" y="5"/>
                </a:moveTo>
                <a:lnTo>
                  <a:pt x="0" y="10"/>
                </a:lnTo>
                <a:lnTo>
                  <a:pt x="0" y="0"/>
                </a:lnTo>
                <a:close/>
              </a:path>
            </a:pathLst>
          </a:custGeom>
          <a:solidFill>
            <a:srgbClr val="F4A070"/>
          </a:solidFill>
          <a:ln w="7910">
            <a:solidFill>
              <a:srgbClr val="F4A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diffusion-column-0376"/>
          <p:cNvSpPr/>
          <p:nvPr/>
        </p:nvSpPr>
        <p:spPr>
          <a:xfrm>
            <a:off x="8764318" y="1526637"/>
            <a:ext cx="79100" cy="7910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0" y="5"/>
                </a:moveTo>
                <a:lnTo>
                  <a:pt x="10" y="0"/>
                </a:lnTo>
                <a:lnTo>
                  <a:pt x="10" y="10"/>
                </a:lnTo>
                <a:close/>
              </a:path>
            </a:pathLst>
          </a:custGeom>
          <a:solidFill>
            <a:srgbClr val="F4A070"/>
          </a:solidFill>
          <a:ln w="7910">
            <a:solidFill>
              <a:srgbClr val="F4A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diffusion-column-0377"/>
          <p:cNvSpPr/>
          <p:nvPr/>
        </p:nvSpPr>
        <p:spPr>
          <a:xfrm>
            <a:off x="9191460" y="1526637"/>
            <a:ext cx="189841" cy="158201"/>
          </a:xfrm>
          <a:prstGeom prst="ellipse">
            <a:avLst/>
          </a:prstGeom>
          <a:solidFill>
            <a:srgbClr val="B9D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diffusion-column-0378"/>
          <p:cNvSpPr/>
          <p:nvPr/>
        </p:nvSpPr>
        <p:spPr>
          <a:xfrm>
            <a:off x="9159820" y="1487087"/>
            <a:ext cx="189841" cy="158201"/>
          </a:xfrm>
          <a:prstGeom prst="ellipse">
            <a:avLst/>
          </a:prstGeom>
          <a:solidFill>
            <a:srgbClr val="666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diffusion-column-0379"/>
          <p:cNvSpPr/>
          <p:nvPr/>
        </p:nvSpPr>
        <p:spPr>
          <a:xfrm>
            <a:off x="8558657" y="1708567"/>
            <a:ext cx="181931" cy="166111"/>
          </a:xfrm>
          <a:prstGeom prst="rect">
            <a:avLst/>
          </a:prstGeom>
          <a:solidFill>
            <a:srgbClr val="8FC3A0"/>
          </a:solidFill>
          <a:ln w="7910">
            <a:solidFill>
              <a:srgbClr val="8FB4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1" name="diffusion-column-0380"/>
          <p:cNvCxnSpPr/>
          <p:nvPr/>
        </p:nvCxnSpPr>
        <p:spPr>
          <a:xfrm>
            <a:off x="8843419" y="1787668"/>
            <a:ext cx="189840" cy="0"/>
          </a:xfrm>
          <a:prstGeom prst="line">
            <a:avLst/>
          </a:prstGeom>
          <a:ln w="15820">
            <a:solidFill>
              <a:srgbClr val="F4A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2" name="diffusion-column-0381"/>
          <p:cNvSpPr/>
          <p:nvPr/>
        </p:nvSpPr>
        <p:spPr>
          <a:xfrm>
            <a:off x="9033259" y="1748118"/>
            <a:ext cx="79100" cy="7910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10" y="5"/>
                </a:moveTo>
                <a:lnTo>
                  <a:pt x="0" y="10"/>
                </a:lnTo>
                <a:lnTo>
                  <a:pt x="0" y="0"/>
                </a:lnTo>
                <a:close/>
              </a:path>
            </a:pathLst>
          </a:custGeom>
          <a:solidFill>
            <a:srgbClr val="F4A070"/>
          </a:solidFill>
          <a:ln w="7910">
            <a:solidFill>
              <a:srgbClr val="F4A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diffusion-column-0382"/>
          <p:cNvSpPr/>
          <p:nvPr/>
        </p:nvSpPr>
        <p:spPr>
          <a:xfrm>
            <a:off x="8764318" y="1748118"/>
            <a:ext cx="79100" cy="7910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0" y="5"/>
                </a:moveTo>
                <a:lnTo>
                  <a:pt x="10" y="0"/>
                </a:lnTo>
                <a:lnTo>
                  <a:pt x="10" y="10"/>
                </a:lnTo>
                <a:close/>
              </a:path>
            </a:pathLst>
          </a:custGeom>
          <a:solidFill>
            <a:srgbClr val="F4A070"/>
          </a:solidFill>
          <a:ln w="7910">
            <a:solidFill>
              <a:srgbClr val="F4A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diffusion-column-0383"/>
          <p:cNvSpPr/>
          <p:nvPr/>
        </p:nvSpPr>
        <p:spPr>
          <a:xfrm>
            <a:off x="9191460" y="1748118"/>
            <a:ext cx="189841" cy="158201"/>
          </a:xfrm>
          <a:prstGeom prst="ellipse">
            <a:avLst/>
          </a:prstGeom>
          <a:solidFill>
            <a:srgbClr val="B9D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diffusion-column-0384"/>
          <p:cNvSpPr/>
          <p:nvPr/>
        </p:nvSpPr>
        <p:spPr>
          <a:xfrm>
            <a:off x="9159820" y="1708567"/>
            <a:ext cx="189841" cy="158201"/>
          </a:xfrm>
          <a:prstGeom prst="ellipse">
            <a:avLst/>
          </a:prstGeom>
          <a:solidFill>
            <a:srgbClr val="B9BD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diffusion-column-0385"/>
          <p:cNvSpPr/>
          <p:nvPr/>
        </p:nvSpPr>
        <p:spPr>
          <a:xfrm>
            <a:off x="8558657" y="1930048"/>
            <a:ext cx="181931" cy="166111"/>
          </a:xfrm>
          <a:prstGeom prst="rect">
            <a:avLst/>
          </a:prstGeom>
          <a:solidFill>
            <a:srgbClr val="8FC3A0"/>
          </a:solidFill>
          <a:ln w="7910">
            <a:solidFill>
              <a:srgbClr val="8FB4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7" name="diffusion-column-0386"/>
          <p:cNvCxnSpPr/>
          <p:nvPr/>
        </p:nvCxnSpPr>
        <p:spPr>
          <a:xfrm>
            <a:off x="8843419" y="2009149"/>
            <a:ext cx="189840" cy="0"/>
          </a:xfrm>
          <a:prstGeom prst="line">
            <a:avLst/>
          </a:prstGeom>
          <a:ln w="15820">
            <a:solidFill>
              <a:srgbClr val="F4A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8" name="diffusion-column-0387"/>
          <p:cNvSpPr/>
          <p:nvPr/>
        </p:nvSpPr>
        <p:spPr>
          <a:xfrm>
            <a:off x="9033259" y="1969599"/>
            <a:ext cx="79100" cy="7910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10" y="5"/>
                </a:moveTo>
                <a:lnTo>
                  <a:pt x="0" y="10"/>
                </a:lnTo>
                <a:lnTo>
                  <a:pt x="0" y="0"/>
                </a:lnTo>
                <a:close/>
              </a:path>
            </a:pathLst>
          </a:custGeom>
          <a:solidFill>
            <a:srgbClr val="F4A070"/>
          </a:solidFill>
          <a:ln w="7910">
            <a:solidFill>
              <a:srgbClr val="F4A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diffusion-column-0388"/>
          <p:cNvSpPr/>
          <p:nvPr/>
        </p:nvSpPr>
        <p:spPr>
          <a:xfrm>
            <a:off x="8764318" y="1969599"/>
            <a:ext cx="79100" cy="7910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0" y="5"/>
                </a:moveTo>
                <a:lnTo>
                  <a:pt x="10" y="0"/>
                </a:lnTo>
                <a:lnTo>
                  <a:pt x="10" y="10"/>
                </a:lnTo>
                <a:close/>
              </a:path>
            </a:pathLst>
          </a:custGeom>
          <a:solidFill>
            <a:srgbClr val="F4A070"/>
          </a:solidFill>
          <a:ln w="7910">
            <a:solidFill>
              <a:srgbClr val="F4A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diffusion-column-0389"/>
          <p:cNvSpPr/>
          <p:nvPr/>
        </p:nvSpPr>
        <p:spPr>
          <a:xfrm>
            <a:off x="9191460" y="1969599"/>
            <a:ext cx="189841" cy="158201"/>
          </a:xfrm>
          <a:prstGeom prst="ellipse">
            <a:avLst/>
          </a:prstGeom>
          <a:solidFill>
            <a:srgbClr val="B9D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diffusion-column-0390"/>
          <p:cNvSpPr/>
          <p:nvPr/>
        </p:nvSpPr>
        <p:spPr>
          <a:xfrm>
            <a:off x="9159820" y="1930048"/>
            <a:ext cx="189841" cy="158201"/>
          </a:xfrm>
          <a:prstGeom prst="ellipse">
            <a:avLst/>
          </a:prstGeom>
          <a:solidFill>
            <a:srgbClr val="666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diffusion-column-0391"/>
          <p:cNvSpPr/>
          <p:nvPr/>
        </p:nvSpPr>
        <p:spPr>
          <a:xfrm>
            <a:off x="8558657" y="2151529"/>
            <a:ext cx="181931" cy="166111"/>
          </a:xfrm>
          <a:prstGeom prst="rect">
            <a:avLst/>
          </a:prstGeom>
          <a:solidFill>
            <a:srgbClr val="F2C92B"/>
          </a:solidFill>
          <a:ln w="7910">
            <a:solidFill>
              <a:srgbClr val="8FB4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3" name="diffusion-column-0392"/>
          <p:cNvCxnSpPr/>
          <p:nvPr/>
        </p:nvCxnSpPr>
        <p:spPr>
          <a:xfrm>
            <a:off x="8843419" y="2230630"/>
            <a:ext cx="189840" cy="0"/>
          </a:xfrm>
          <a:prstGeom prst="line">
            <a:avLst/>
          </a:prstGeom>
          <a:ln w="15820">
            <a:solidFill>
              <a:srgbClr val="F4A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4" name="diffusion-column-0393"/>
          <p:cNvSpPr/>
          <p:nvPr/>
        </p:nvSpPr>
        <p:spPr>
          <a:xfrm>
            <a:off x="9033259" y="2191080"/>
            <a:ext cx="79100" cy="7910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10" y="5"/>
                </a:moveTo>
                <a:lnTo>
                  <a:pt x="0" y="10"/>
                </a:lnTo>
                <a:lnTo>
                  <a:pt x="0" y="0"/>
                </a:lnTo>
                <a:close/>
              </a:path>
            </a:pathLst>
          </a:custGeom>
          <a:solidFill>
            <a:srgbClr val="F4A070"/>
          </a:solidFill>
          <a:ln w="7910">
            <a:solidFill>
              <a:srgbClr val="F4A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diffusion-column-0394"/>
          <p:cNvSpPr/>
          <p:nvPr/>
        </p:nvSpPr>
        <p:spPr>
          <a:xfrm>
            <a:off x="8764318" y="2191080"/>
            <a:ext cx="79100" cy="7910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0" y="5"/>
                </a:moveTo>
                <a:lnTo>
                  <a:pt x="10" y="0"/>
                </a:lnTo>
                <a:lnTo>
                  <a:pt x="10" y="10"/>
                </a:lnTo>
                <a:close/>
              </a:path>
            </a:pathLst>
          </a:custGeom>
          <a:solidFill>
            <a:srgbClr val="F4A070"/>
          </a:solidFill>
          <a:ln w="7910">
            <a:solidFill>
              <a:srgbClr val="F4A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diffusion-column-0395"/>
          <p:cNvSpPr/>
          <p:nvPr/>
        </p:nvSpPr>
        <p:spPr>
          <a:xfrm>
            <a:off x="9191460" y="2191080"/>
            <a:ext cx="189841" cy="158201"/>
          </a:xfrm>
          <a:prstGeom prst="ellipse">
            <a:avLst/>
          </a:prstGeom>
          <a:solidFill>
            <a:srgbClr val="B9D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diffusion-column-0396"/>
          <p:cNvSpPr/>
          <p:nvPr/>
        </p:nvSpPr>
        <p:spPr>
          <a:xfrm>
            <a:off x="9159820" y="2151529"/>
            <a:ext cx="189841" cy="158201"/>
          </a:xfrm>
          <a:prstGeom prst="ellipse">
            <a:avLst/>
          </a:prstGeom>
          <a:solidFill>
            <a:srgbClr val="B9BD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diffusion-column-0397"/>
          <p:cNvSpPr/>
          <p:nvPr/>
        </p:nvSpPr>
        <p:spPr>
          <a:xfrm>
            <a:off x="8558657" y="2373010"/>
            <a:ext cx="181931" cy="166111"/>
          </a:xfrm>
          <a:prstGeom prst="rect">
            <a:avLst/>
          </a:prstGeom>
          <a:solidFill>
            <a:srgbClr val="8FC3A0"/>
          </a:solidFill>
          <a:ln w="7910">
            <a:solidFill>
              <a:srgbClr val="8FB4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9" name="diffusion-column-0398"/>
          <p:cNvCxnSpPr/>
          <p:nvPr/>
        </p:nvCxnSpPr>
        <p:spPr>
          <a:xfrm>
            <a:off x="8843419" y="2452111"/>
            <a:ext cx="189840" cy="0"/>
          </a:xfrm>
          <a:prstGeom prst="line">
            <a:avLst/>
          </a:prstGeom>
          <a:ln w="15820">
            <a:solidFill>
              <a:srgbClr val="F4A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0" name="diffusion-column-0399"/>
          <p:cNvSpPr/>
          <p:nvPr/>
        </p:nvSpPr>
        <p:spPr>
          <a:xfrm>
            <a:off x="9033259" y="2412561"/>
            <a:ext cx="79100" cy="7910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10" y="5"/>
                </a:moveTo>
                <a:lnTo>
                  <a:pt x="0" y="10"/>
                </a:lnTo>
                <a:lnTo>
                  <a:pt x="0" y="0"/>
                </a:lnTo>
                <a:close/>
              </a:path>
            </a:pathLst>
          </a:custGeom>
          <a:solidFill>
            <a:srgbClr val="F4A070"/>
          </a:solidFill>
          <a:ln w="7910">
            <a:solidFill>
              <a:srgbClr val="F4A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diffusion-column-0400"/>
          <p:cNvSpPr/>
          <p:nvPr/>
        </p:nvSpPr>
        <p:spPr>
          <a:xfrm>
            <a:off x="8764318" y="2412561"/>
            <a:ext cx="79100" cy="7910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0" y="5"/>
                </a:moveTo>
                <a:lnTo>
                  <a:pt x="10" y="0"/>
                </a:lnTo>
                <a:lnTo>
                  <a:pt x="10" y="10"/>
                </a:lnTo>
                <a:close/>
              </a:path>
            </a:pathLst>
          </a:custGeom>
          <a:solidFill>
            <a:srgbClr val="F4A070"/>
          </a:solidFill>
          <a:ln w="7910">
            <a:solidFill>
              <a:srgbClr val="F4A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diffusion-column-0401"/>
          <p:cNvSpPr/>
          <p:nvPr/>
        </p:nvSpPr>
        <p:spPr>
          <a:xfrm>
            <a:off x="9191460" y="2412561"/>
            <a:ext cx="189841" cy="158201"/>
          </a:xfrm>
          <a:prstGeom prst="ellipse">
            <a:avLst/>
          </a:prstGeom>
          <a:solidFill>
            <a:srgbClr val="B9D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diffusion-column-0402"/>
          <p:cNvSpPr/>
          <p:nvPr/>
        </p:nvSpPr>
        <p:spPr>
          <a:xfrm>
            <a:off x="9159820" y="2373010"/>
            <a:ext cx="189841" cy="158201"/>
          </a:xfrm>
          <a:prstGeom prst="ellipse">
            <a:avLst/>
          </a:prstGeom>
          <a:solidFill>
            <a:srgbClr val="666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diffusion-column-0403"/>
          <p:cNvSpPr/>
          <p:nvPr/>
        </p:nvSpPr>
        <p:spPr>
          <a:xfrm>
            <a:off x="8558657" y="2594491"/>
            <a:ext cx="181931" cy="166111"/>
          </a:xfrm>
          <a:prstGeom prst="rect">
            <a:avLst/>
          </a:prstGeom>
          <a:solidFill>
            <a:srgbClr val="8FC3A0"/>
          </a:solidFill>
          <a:ln w="7910">
            <a:solidFill>
              <a:srgbClr val="8FB4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5" name="diffusion-column-0404"/>
          <p:cNvCxnSpPr/>
          <p:nvPr/>
        </p:nvCxnSpPr>
        <p:spPr>
          <a:xfrm>
            <a:off x="8843419" y="2673592"/>
            <a:ext cx="189840" cy="0"/>
          </a:xfrm>
          <a:prstGeom prst="line">
            <a:avLst/>
          </a:prstGeom>
          <a:ln w="15820">
            <a:solidFill>
              <a:srgbClr val="F4A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6" name="diffusion-column-0405"/>
          <p:cNvSpPr/>
          <p:nvPr/>
        </p:nvSpPr>
        <p:spPr>
          <a:xfrm>
            <a:off x="9033259" y="2634042"/>
            <a:ext cx="79100" cy="7910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10" y="5"/>
                </a:moveTo>
                <a:lnTo>
                  <a:pt x="0" y="10"/>
                </a:lnTo>
                <a:lnTo>
                  <a:pt x="0" y="0"/>
                </a:lnTo>
                <a:close/>
              </a:path>
            </a:pathLst>
          </a:custGeom>
          <a:solidFill>
            <a:srgbClr val="F4A070"/>
          </a:solidFill>
          <a:ln w="7910">
            <a:solidFill>
              <a:srgbClr val="F4A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diffusion-column-0406"/>
          <p:cNvSpPr/>
          <p:nvPr/>
        </p:nvSpPr>
        <p:spPr>
          <a:xfrm>
            <a:off x="8764318" y="2634042"/>
            <a:ext cx="79100" cy="7910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0" y="5"/>
                </a:moveTo>
                <a:lnTo>
                  <a:pt x="10" y="0"/>
                </a:lnTo>
                <a:lnTo>
                  <a:pt x="10" y="10"/>
                </a:lnTo>
                <a:close/>
              </a:path>
            </a:pathLst>
          </a:custGeom>
          <a:solidFill>
            <a:srgbClr val="F4A070"/>
          </a:solidFill>
          <a:ln w="7910">
            <a:solidFill>
              <a:srgbClr val="F4A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diffusion-column-0407"/>
          <p:cNvSpPr/>
          <p:nvPr/>
        </p:nvSpPr>
        <p:spPr>
          <a:xfrm>
            <a:off x="9191460" y="2634042"/>
            <a:ext cx="189841" cy="158201"/>
          </a:xfrm>
          <a:prstGeom prst="ellipse">
            <a:avLst/>
          </a:prstGeom>
          <a:solidFill>
            <a:srgbClr val="B9D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diffusion-column-0408"/>
          <p:cNvSpPr/>
          <p:nvPr/>
        </p:nvSpPr>
        <p:spPr>
          <a:xfrm>
            <a:off x="9159820" y="2594491"/>
            <a:ext cx="189841" cy="158201"/>
          </a:xfrm>
          <a:prstGeom prst="ellipse">
            <a:avLst/>
          </a:prstGeom>
          <a:solidFill>
            <a:srgbClr val="B9BD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diffusion-column-0409"/>
          <p:cNvSpPr/>
          <p:nvPr/>
        </p:nvSpPr>
        <p:spPr>
          <a:xfrm>
            <a:off x="8558657" y="2815972"/>
            <a:ext cx="181931" cy="166111"/>
          </a:xfrm>
          <a:prstGeom prst="rect">
            <a:avLst/>
          </a:prstGeom>
          <a:solidFill>
            <a:srgbClr val="F2C92B"/>
          </a:solidFill>
          <a:ln w="7910">
            <a:solidFill>
              <a:srgbClr val="8FB4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1" name="diffusion-column-0410"/>
          <p:cNvCxnSpPr/>
          <p:nvPr/>
        </p:nvCxnSpPr>
        <p:spPr>
          <a:xfrm>
            <a:off x="8843419" y="2895073"/>
            <a:ext cx="189840" cy="0"/>
          </a:xfrm>
          <a:prstGeom prst="line">
            <a:avLst/>
          </a:prstGeom>
          <a:ln w="15820">
            <a:solidFill>
              <a:srgbClr val="F4A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2" name="diffusion-column-0411"/>
          <p:cNvSpPr/>
          <p:nvPr/>
        </p:nvSpPr>
        <p:spPr>
          <a:xfrm>
            <a:off x="9033259" y="2855522"/>
            <a:ext cx="79100" cy="7910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10" y="5"/>
                </a:moveTo>
                <a:lnTo>
                  <a:pt x="0" y="10"/>
                </a:lnTo>
                <a:lnTo>
                  <a:pt x="0" y="0"/>
                </a:lnTo>
                <a:close/>
              </a:path>
            </a:pathLst>
          </a:custGeom>
          <a:solidFill>
            <a:srgbClr val="F4A070"/>
          </a:solidFill>
          <a:ln w="7910">
            <a:solidFill>
              <a:srgbClr val="F4A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diffusion-column-0412"/>
          <p:cNvSpPr/>
          <p:nvPr/>
        </p:nvSpPr>
        <p:spPr>
          <a:xfrm>
            <a:off x="8764318" y="2855522"/>
            <a:ext cx="79100" cy="7910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0" y="5"/>
                </a:moveTo>
                <a:lnTo>
                  <a:pt x="10" y="0"/>
                </a:lnTo>
                <a:lnTo>
                  <a:pt x="10" y="10"/>
                </a:lnTo>
                <a:close/>
              </a:path>
            </a:pathLst>
          </a:custGeom>
          <a:solidFill>
            <a:srgbClr val="F4A070"/>
          </a:solidFill>
          <a:ln w="7910">
            <a:solidFill>
              <a:srgbClr val="F4A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diffusion-column-0413"/>
          <p:cNvSpPr/>
          <p:nvPr/>
        </p:nvSpPr>
        <p:spPr>
          <a:xfrm>
            <a:off x="9191460" y="2855522"/>
            <a:ext cx="189841" cy="158201"/>
          </a:xfrm>
          <a:prstGeom prst="ellipse">
            <a:avLst/>
          </a:prstGeom>
          <a:solidFill>
            <a:srgbClr val="B9D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diffusion-column-0414"/>
          <p:cNvSpPr/>
          <p:nvPr/>
        </p:nvSpPr>
        <p:spPr>
          <a:xfrm>
            <a:off x="9159820" y="2815972"/>
            <a:ext cx="189841" cy="158201"/>
          </a:xfrm>
          <a:prstGeom prst="ellipse">
            <a:avLst/>
          </a:prstGeom>
          <a:solidFill>
            <a:srgbClr val="666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diffusion-column-0415"/>
          <p:cNvSpPr/>
          <p:nvPr/>
        </p:nvSpPr>
        <p:spPr>
          <a:xfrm>
            <a:off x="8558657" y="3037453"/>
            <a:ext cx="181931" cy="166111"/>
          </a:xfrm>
          <a:prstGeom prst="rect">
            <a:avLst/>
          </a:prstGeom>
          <a:solidFill>
            <a:srgbClr val="8FC3A0"/>
          </a:solidFill>
          <a:ln w="7910">
            <a:solidFill>
              <a:srgbClr val="8FB4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7" name="diffusion-column-0416"/>
          <p:cNvCxnSpPr/>
          <p:nvPr/>
        </p:nvCxnSpPr>
        <p:spPr>
          <a:xfrm>
            <a:off x="8843419" y="3116554"/>
            <a:ext cx="189840" cy="0"/>
          </a:xfrm>
          <a:prstGeom prst="line">
            <a:avLst/>
          </a:prstGeom>
          <a:ln w="15820">
            <a:solidFill>
              <a:srgbClr val="F4A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8" name="diffusion-column-0417"/>
          <p:cNvSpPr/>
          <p:nvPr/>
        </p:nvSpPr>
        <p:spPr>
          <a:xfrm>
            <a:off x="9033259" y="3077003"/>
            <a:ext cx="79100" cy="7910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10" y="5"/>
                </a:moveTo>
                <a:lnTo>
                  <a:pt x="0" y="10"/>
                </a:lnTo>
                <a:lnTo>
                  <a:pt x="0" y="0"/>
                </a:lnTo>
                <a:close/>
              </a:path>
            </a:pathLst>
          </a:custGeom>
          <a:solidFill>
            <a:srgbClr val="F4A070"/>
          </a:solidFill>
          <a:ln w="7910">
            <a:solidFill>
              <a:srgbClr val="F4A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diffusion-column-0418"/>
          <p:cNvSpPr/>
          <p:nvPr/>
        </p:nvSpPr>
        <p:spPr>
          <a:xfrm>
            <a:off x="8764318" y="3077003"/>
            <a:ext cx="79100" cy="7910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0" y="5"/>
                </a:moveTo>
                <a:lnTo>
                  <a:pt x="10" y="0"/>
                </a:lnTo>
                <a:lnTo>
                  <a:pt x="10" y="10"/>
                </a:lnTo>
                <a:close/>
              </a:path>
            </a:pathLst>
          </a:custGeom>
          <a:solidFill>
            <a:srgbClr val="F4A070"/>
          </a:solidFill>
          <a:ln w="7910">
            <a:solidFill>
              <a:srgbClr val="F4A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diffusion-column-0419"/>
          <p:cNvSpPr/>
          <p:nvPr/>
        </p:nvSpPr>
        <p:spPr>
          <a:xfrm>
            <a:off x="9191460" y="3077003"/>
            <a:ext cx="189841" cy="158201"/>
          </a:xfrm>
          <a:prstGeom prst="ellipse">
            <a:avLst/>
          </a:prstGeom>
          <a:solidFill>
            <a:srgbClr val="B9D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diffusion-column-0420"/>
          <p:cNvSpPr/>
          <p:nvPr/>
        </p:nvSpPr>
        <p:spPr>
          <a:xfrm>
            <a:off x="9159820" y="3037453"/>
            <a:ext cx="189841" cy="158201"/>
          </a:xfrm>
          <a:prstGeom prst="ellipse">
            <a:avLst/>
          </a:prstGeom>
          <a:solidFill>
            <a:srgbClr val="B9BD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diffusion-column-0421"/>
          <p:cNvSpPr/>
          <p:nvPr/>
        </p:nvSpPr>
        <p:spPr>
          <a:xfrm>
            <a:off x="8558657" y="3258934"/>
            <a:ext cx="181931" cy="166111"/>
          </a:xfrm>
          <a:prstGeom prst="rect">
            <a:avLst/>
          </a:prstGeom>
          <a:solidFill>
            <a:srgbClr val="8FC3A0"/>
          </a:solidFill>
          <a:ln w="7910">
            <a:solidFill>
              <a:srgbClr val="8FB4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3" name="diffusion-column-0422"/>
          <p:cNvCxnSpPr/>
          <p:nvPr/>
        </p:nvCxnSpPr>
        <p:spPr>
          <a:xfrm>
            <a:off x="8843419" y="3338035"/>
            <a:ext cx="189840" cy="0"/>
          </a:xfrm>
          <a:prstGeom prst="line">
            <a:avLst/>
          </a:prstGeom>
          <a:ln w="15820">
            <a:solidFill>
              <a:srgbClr val="F4A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4" name="diffusion-column-0423"/>
          <p:cNvSpPr/>
          <p:nvPr/>
        </p:nvSpPr>
        <p:spPr>
          <a:xfrm>
            <a:off x="9033259" y="3298484"/>
            <a:ext cx="79100" cy="7910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10" y="5"/>
                </a:moveTo>
                <a:lnTo>
                  <a:pt x="0" y="10"/>
                </a:lnTo>
                <a:lnTo>
                  <a:pt x="0" y="0"/>
                </a:lnTo>
                <a:close/>
              </a:path>
            </a:pathLst>
          </a:custGeom>
          <a:solidFill>
            <a:srgbClr val="F4A070"/>
          </a:solidFill>
          <a:ln w="7910">
            <a:solidFill>
              <a:srgbClr val="F4A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diffusion-column-0424"/>
          <p:cNvSpPr/>
          <p:nvPr/>
        </p:nvSpPr>
        <p:spPr>
          <a:xfrm>
            <a:off x="8764318" y="3298484"/>
            <a:ext cx="79100" cy="7910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0" y="5"/>
                </a:moveTo>
                <a:lnTo>
                  <a:pt x="10" y="0"/>
                </a:lnTo>
                <a:lnTo>
                  <a:pt x="10" y="10"/>
                </a:lnTo>
                <a:close/>
              </a:path>
            </a:pathLst>
          </a:custGeom>
          <a:solidFill>
            <a:srgbClr val="F4A070"/>
          </a:solidFill>
          <a:ln w="7910">
            <a:solidFill>
              <a:srgbClr val="F4A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diffusion-column-0425"/>
          <p:cNvSpPr/>
          <p:nvPr/>
        </p:nvSpPr>
        <p:spPr>
          <a:xfrm>
            <a:off x="9191460" y="3298484"/>
            <a:ext cx="189841" cy="158201"/>
          </a:xfrm>
          <a:prstGeom prst="ellipse">
            <a:avLst/>
          </a:prstGeom>
          <a:solidFill>
            <a:srgbClr val="B9D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diffusion-column-0426"/>
          <p:cNvSpPr/>
          <p:nvPr/>
        </p:nvSpPr>
        <p:spPr>
          <a:xfrm>
            <a:off x="9159820" y="3258934"/>
            <a:ext cx="189841" cy="158201"/>
          </a:xfrm>
          <a:prstGeom prst="ellipse">
            <a:avLst/>
          </a:prstGeom>
          <a:solidFill>
            <a:srgbClr val="666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diffusion-branches-0427"/>
          <p:cNvSpPr/>
          <p:nvPr/>
        </p:nvSpPr>
        <p:spPr>
          <a:xfrm>
            <a:off x="9405031" y="1431716"/>
            <a:ext cx="332221" cy="403412"/>
          </a:xfrm>
          <a:custGeom>
            <a:avLst/>
            <a:gdLst/>
            <a:ahLst/>
            <a:cxnLst/>
            <a:rect l="l" t="t" r="r" b="b"/>
            <a:pathLst>
              <a:path w="42" h="51">
                <a:moveTo>
                  <a:pt x="0" y="51"/>
                </a:moveTo>
                <a:lnTo>
                  <a:pt x="15" y="42"/>
                </a:lnTo>
                <a:lnTo>
                  <a:pt x="30" y="25"/>
                </a:lnTo>
                <a:lnTo>
                  <a:pt x="42" y="0"/>
                </a:lnTo>
              </a:path>
            </a:pathLst>
          </a:custGeom>
          <a:noFill/>
          <a:ln w="20566">
            <a:solidFill>
              <a:srgbClr val="439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diffusion-branches-0428"/>
          <p:cNvSpPr/>
          <p:nvPr/>
        </p:nvSpPr>
        <p:spPr>
          <a:xfrm>
            <a:off x="9650242" y="1431716"/>
            <a:ext cx="87010" cy="110740"/>
          </a:xfrm>
          <a:custGeom>
            <a:avLst/>
            <a:gdLst/>
            <a:ahLst/>
            <a:cxnLst/>
            <a:rect l="l" t="t" r="r" b="b"/>
            <a:pathLst>
              <a:path w="11" h="14">
                <a:moveTo>
                  <a:pt x="11" y="0"/>
                </a:moveTo>
                <a:lnTo>
                  <a:pt x="11" y="14"/>
                </a:lnTo>
                <a:lnTo>
                  <a:pt x="0" y="9"/>
                </a:lnTo>
                <a:close/>
              </a:path>
            </a:pathLst>
          </a:custGeom>
          <a:solidFill>
            <a:srgbClr val="4396D2"/>
          </a:solidFill>
          <a:ln w="7910">
            <a:solidFill>
              <a:srgbClr val="439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diffusion-branches-0429"/>
          <p:cNvSpPr/>
          <p:nvPr/>
        </p:nvSpPr>
        <p:spPr>
          <a:xfrm>
            <a:off x="9405031" y="2175260"/>
            <a:ext cx="387592" cy="7910"/>
          </a:xfrm>
          <a:custGeom>
            <a:avLst/>
            <a:gdLst/>
            <a:ahLst/>
            <a:cxnLst/>
            <a:rect l="l" t="t" r="r" b="b"/>
            <a:pathLst>
              <a:path w="49" h="1">
                <a:moveTo>
                  <a:pt x="0" y="0"/>
                </a:moveTo>
                <a:lnTo>
                  <a:pt x="18" y="0"/>
                </a:lnTo>
                <a:lnTo>
                  <a:pt x="32" y="1"/>
                </a:lnTo>
                <a:lnTo>
                  <a:pt x="49" y="1"/>
                </a:lnTo>
              </a:path>
            </a:pathLst>
          </a:custGeom>
          <a:noFill/>
          <a:ln w="20566">
            <a:solidFill>
              <a:srgbClr val="439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diffusion-branches-0430"/>
          <p:cNvSpPr/>
          <p:nvPr/>
        </p:nvSpPr>
        <p:spPr>
          <a:xfrm>
            <a:off x="9689792" y="2135709"/>
            <a:ext cx="102830" cy="94920"/>
          </a:xfrm>
          <a:custGeom>
            <a:avLst/>
            <a:gdLst/>
            <a:ahLst/>
            <a:cxnLst/>
            <a:rect l="l" t="t" r="r" b="b"/>
            <a:pathLst>
              <a:path w="13" h="12">
                <a:moveTo>
                  <a:pt x="13" y="6"/>
                </a:move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4396D2"/>
          </a:solidFill>
          <a:ln w="7910">
            <a:solidFill>
              <a:srgbClr val="439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diffusion-branches-0431"/>
          <p:cNvSpPr/>
          <p:nvPr/>
        </p:nvSpPr>
        <p:spPr>
          <a:xfrm>
            <a:off x="9405031" y="2689412"/>
            <a:ext cx="387592" cy="332221"/>
          </a:xfrm>
          <a:custGeom>
            <a:avLst/>
            <a:gdLst/>
            <a:ahLst/>
            <a:cxnLst/>
            <a:rect l="l" t="t" r="r" b="b"/>
            <a:pathLst>
              <a:path w="49" h="42">
                <a:moveTo>
                  <a:pt x="0" y="0"/>
                </a:moveTo>
                <a:lnTo>
                  <a:pt x="21" y="5"/>
                </a:lnTo>
                <a:lnTo>
                  <a:pt x="37" y="21"/>
                </a:lnTo>
                <a:lnTo>
                  <a:pt x="49" y="42"/>
                </a:lnTo>
              </a:path>
            </a:pathLst>
          </a:custGeom>
          <a:noFill/>
          <a:ln w="20566">
            <a:solidFill>
              <a:srgbClr val="439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diffusion-branches-0432"/>
          <p:cNvSpPr/>
          <p:nvPr/>
        </p:nvSpPr>
        <p:spPr>
          <a:xfrm>
            <a:off x="9697702" y="2910893"/>
            <a:ext cx="94920" cy="110740"/>
          </a:xfrm>
          <a:custGeom>
            <a:avLst/>
            <a:gdLst/>
            <a:ahLst/>
            <a:cxnLst/>
            <a:rect l="l" t="t" r="r" b="b"/>
            <a:pathLst>
              <a:path w="12" h="14">
                <a:moveTo>
                  <a:pt x="12" y="14"/>
                </a:moveTo>
                <a:lnTo>
                  <a:pt x="0" y="6"/>
                </a:lnTo>
                <a:lnTo>
                  <a:pt x="11" y="0"/>
                </a:lnTo>
                <a:close/>
              </a:path>
            </a:pathLst>
          </a:custGeom>
          <a:solidFill>
            <a:srgbClr val="4396D2"/>
          </a:solidFill>
          <a:ln w="7910">
            <a:solidFill>
              <a:srgbClr val="439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adaptive-probability-0433"/>
          <p:cNvSpPr/>
          <p:nvPr/>
        </p:nvSpPr>
        <p:spPr>
          <a:xfrm>
            <a:off x="9887543" y="703993"/>
            <a:ext cx="640713" cy="2760602"/>
          </a:xfrm>
          <a:prstGeom prst="rect">
            <a:avLst/>
          </a:prstGeom>
          <a:noFill/>
          <a:ln w="22148">
            <a:solidFill>
              <a:srgbClr val="88A8E8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adaptive-probability-0434"/>
          <p:cNvSpPr/>
          <p:nvPr/>
        </p:nvSpPr>
        <p:spPr>
          <a:xfrm>
            <a:off x="10014104" y="751453"/>
            <a:ext cx="379682" cy="332221"/>
          </a:xfrm>
          <a:prstGeom prst="rect">
            <a:avLst/>
          </a:prstGeom>
          <a:solidFill>
            <a:srgbClr val="FFFFFF"/>
          </a:solidFill>
          <a:ln w="7910">
            <a:solidFill>
              <a:srgbClr val="C8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adaptive-probability-0435"/>
          <p:cNvSpPr/>
          <p:nvPr/>
        </p:nvSpPr>
        <p:spPr>
          <a:xfrm>
            <a:off x="10053654" y="791003"/>
            <a:ext cx="300581" cy="229391"/>
          </a:xfrm>
          <a:custGeom>
            <a:avLst/>
            <a:gdLst/>
            <a:ahLst/>
            <a:cxnLst/>
            <a:rect l="l" t="t" r="r" b="b"/>
            <a:pathLst>
              <a:path w="38" h="29">
                <a:moveTo>
                  <a:pt x="0" y="29"/>
                </a:moveTo>
                <a:lnTo>
                  <a:pt x="2" y="28"/>
                </a:lnTo>
                <a:lnTo>
                  <a:pt x="3" y="26"/>
                </a:lnTo>
                <a:lnTo>
                  <a:pt x="5" y="24"/>
                </a:lnTo>
                <a:lnTo>
                  <a:pt x="6" y="21"/>
                </a:lnTo>
                <a:lnTo>
                  <a:pt x="8" y="18"/>
                </a:lnTo>
                <a:lnTo>
                  <a:pt x="9" y="15"/>
                </a:lnTo>
                <a:lnTo>
                  <a:pt x="11" y="11"/>
                </a:lnTo>
                <a:lnTo>
                  <a:pt x="13" y="8"/>
                </a:lnTo>
                <a:lnTo>
                  <a:pt x="14" y="4"/>
                </a:lnTo>
                <a:lnTo>
                  <a:pt x="16" y="2"/>
                </a:lnTo>
                <a:lnTo>
                  <a:pt x="17" y="1"/>
                </a:lnTo>
                <a:lnTo>
                  <a:pt x="19" y="0"/>
                </a:lnTo>
                <a:lnTo>
                  <a:pt x="21" y="1"/>
                </a:lnTo>
                <a:lnTo>
                  <a:pt x="22" y="2"/>
                </a:lnTo>
                <a:lnTo>
                  <a:pt x="24" y="4"/>
                </a:lnTo>
                <a:lnTo>
                  <a:pt x="25" y="8"/>
                </a:lnTo>
                <a:lnTo>
                  <a:pt x="27" y="11"/>
                </a:lnTo>
                <a:lnTo>
                  <a:pt x="29" y="15"/>
                </a:lnTo>
                <a:lnTo>
                  <a:pt x="30" y="18"/>
                </a:lnTo>
                <a:lnTo>
                  <a:pt x="32" y="21"/>
                </a:lnTo>
                <a:lnTo>
                  <a:pt x="33" y="24"/>
                </a:lnTo>
                <a:lnTo>
                  <a:pt x="35" y="26"/>
                </a:lnTo>
                <a:lnTo>
                  <a:pt x="36" y="28"/>
                </a:lnTo>
                <a:lnTo>
                  <a:pt x="38" y="29"/>
                </a:lnTo>
              </a:path>
            </a:pathLst>
          </a:custGeom>
          <a:noFill/>
          <a:ln w="12656">
            <a:solidFill>
              <a:srgbClr val="F3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adaptive-probability-0436"/>
          <p:cNvSpPr/>
          <p:nvPr/>
        </p:nvSpPr>
        <p:spPr>
          <a:xfrm>
            <a:off x="10014104" y="1131135"/>
            <a:ext cx="379682" cy="332221"/>
          </a:xfrm>
          <a:prstGeom prst="rect">
            <a:avLst/>
          </a:prstGeom>
          <a:solidFill>
            <a:srgbClr val="FFFFFF"/>
          </a:solidFill>
          <a:ln w="7910">
            <a:solidFill>
              <a:srgbClr val="C8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adaptive-probability-0437"/>
          <p:cNvSpPr/>
          <p:nvPr/>
        </p:nvSpPr>
        <p:spPr>
          <a:xfrm>
            <a:off x="10053654" y="1170685"/>
            <a:ext cx="300581" cy="229391"/>
          </a:xfrm>
          <a:custGeom>
            <a:avLst/>
            <a:gdLst/>
            <a:ahLst/>
            <a:cxnLst/>
            <a:rect l="l" t="t" r="r" b="b"/>
            <a:pathLst>
              <a:path w="38" h="29">
                <a:moveTo>
                  <a:pt x="0" y="29"/>
                </a:moveTo>
                <a:lnTo>
                  <a:pt x="2" y="28"/>
                </a:lnTo>
                <a:lnTo>
                  <a:pt x="3" y="26"/>
                </a:lnTo>
                <a:lnTo>
                  <a:pt x="5" y="24"/>
                </a:lnTo>
                <a:lnTo>
                  <a:pt x="6" y="21"/>
                </a:lnTo>
                <a:lnTo>
                  <a:pt x="8" y="18"/>
                </a:lnTo>
                <a:lnTo>
                  <a:pt x="9" y="15"/>
                </a:lnTo>
                <a:lnTo>
                  <a:pt x="11" y="11"/>
                </a:lnTo>
                <a:lnTo>
                  <a:pt x="13" y="8"/>
                </a:lnTo>
                <a:lnTo>
                  <a:pt x="14" y="4"/>
                </a:lnTo>
                <a:lnTo>
                  <a:pt x="16" y="2"/>
                </a:lnTo>
                <a:lnTo>
                  <a:pt x="17" y="1"/>
                </a:lnTo>
                <a:lnTo>
                  <a:pt x="19" y="0"/>
                </a:lnTo>
                <a:lnTo>
                  <a:pt x="21" y="1"/>
                </a:lnTo>
                <a:lnTo>
                  <a:pt x="22" y="2"/>
                </a:lnTo>
                <a:lnTo>
                  <a:pt x="24" y="4"/>
                </a:lnTo>
                <a:lnTo>
                  <a:pt x="25" y="8"/>
                </a:lnTo>
                <a:lnTo>
                  <a:pt x="27" y="11"/>
                </a:lnTo>
                <a:lnTo>
                  <a:pt x="29" y="15"/>
                </a:lnTo>
                <a:lnTo>
                  <a:pt x="30" y="18"/>
                </a:lnTo>
                <a:lnTo>
                  <a:pt x="32" y="21"/>
                </a:lnTo>
                <a:lnTo>
                  <a:pt x="33" y="24"/>
                </a:lnTo>
                <a:lnTo>
                  <a:pt x="35" y="26"/>
                </a:lnTo>
                <a:lnTo>
                  <a:pt x="36" y="28"/>
                </a:lnTo>
                <a:lnTo>
                  <a:pt x="38" y="29"/>
                </a:lnTo>
              </a:path>
            </a:pathLst>
          </a:custGeom>
          <a:noFill/>
          <a:ln w="12656">
            <a:solidFill>
              <a:srgbClr val="F3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adaptive-probability-0438"/>
          <p:cNvSpPr/>
          <p:nvPr/>
        </p:nvSpPr>
        <p:spPr>
          <a:xfrm>
            <a:off x="10014104" y="1510817"/>
            <a:ext cx="379682" cy="332221"/>
          </a:xfrm>
          <a:prstGeom prst="rect">
            <a:avLst/>
          </a:prstGeom>
          <a:solidFill>
            <a:srgbClr val="FFFFFF"/>
          </a:solidFill>
          <a:ln w="7910">
            <a:solidFill>
              <a:srgbClr val="C8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adaptive-probability-0439"/>
          <p:cNvSpPr/>
          <p:nvPr/>
        </p:nvSpPr>
        <p:spPr>
          <a:xfrm>
            <a:off x="10053654" y="1550367"/>
            <a:ext cx="300581" cy="229391"/>
          </a:xfrm>
          <a:custGeom>
            <a:avLst/>
            <a:gdLst/>
            <a:ahLst/>
            <a:cxnLst/>
            <a:rect l="l" t="t" r="r" b="b"/>
            <a:pathLst>
              <a:path w="38" h="29">
                <a:moveTo>
                  <a:pt x="0" y="29"/>
                </a:moveTo>
                <a:lnTo>
                  <a:pt x="2" y="28"/>
                </a:lnTo>
                <a:lnTo>
                  <a:pt x="3" y="26"/>
                </a:lnTo>
                <a:lnTo>
                  <a:pt x="5" y="24"/>
                </a:lnTo>
                <a:lnTo>
                  <a:pt x="6" y="21"/>
                </a:lnTo>
                <a:lnTo>
                  <a:pt x="8" y="18"/>
                </a:lnTo>
                <a:lnTo>
                  <a:pt x="9" y="15"/>
                </a:lnTo>
                <a:lnTo>
                  <a:pt x="11" y="11"/>
                </a:lnTo>
                <a:lnTo>
                  <a:pt x="13" y="8"/>
                </a:lnTo>
                <a:lnTo>
                  <a:pt x="14" y="4"/>
                </a:lnTo>
                <a:lnTo>
                  <a:pt x="16" y="2"/>
                </a:lnTo>
                <a:lnTo>
                  <a:pt x="17" y="1"/>
                </a:lnTo>
                <a:lnTo>
                  <a:pt x="19" y="0"/>
                </a:lnTo>
                <a:lnTo>
                  <a:pt x="21" y="1"/>
                </a:lnTo>
                <a:lnTo>
                  <a:pt x="22" y="2"/>
                </a:lnTo>
                <a:lnTo>
                  <a:pt x="24" y="4"/>
                </a:lnTo>
                <a:lnTo>
                  <a:pt x="25" y="8"/>
                </a:lnTo>
                <a:lnTo>
                  <a:pt x="27" y="11"/>
                </a:lnTo>
                <a:lnTo>
                  <a:pt x="29" y="15"/>
                </a:lnTo>
                <a:lnTo>
                  <a:pt x="30" y="18"/>
                </a:lnTo>
                <a:lnTo>
                  <a:pt x="32" y="21"/>
                </a:lnTo>
                <a:lnTo>
                  <a:pt x="33" y="24"/>
                </a:lnTo>
                <a:lnTo>
                  <a:pt x="35" y="26"/>
                </a:lnTo>
                <a:lnTo>
                  <a:pt x="36" y="28"/>
                </a:lnTo>
                <a:lnTo>
                  <a:pt x="38" y="29"/>
                </a:lnTo>
              </a:path>
            </a:pathLst>
          </a:custGeom>
          <a:noFill/>
          <a:ln w="12656">
            <a:solidFill>
              <a:srgbClr val="F3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adaptive-probability-0440"/>
          <p:cNvSpPr/>
          <p:nvPr/>
        </p:nvSpPr>
        <p:spPr>
          <a:xfrm>
            <a:off x="10014104" y="1890498"/>
            <a:ext cx="379682" cy="332221"/>
          </a:xfrm>
          <a:prstGeom prst="rect">
            <a:avLst/>
          </a:prstGeom>
          <a:solidFill>
            <a:srgbClr val="FFFFFF"/>
          </a:solidFill>
          <a:ln w="7910">
            <a:solidFill>
              <a:srgbClr val="C8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adaptive-probability-0441"/>
          <p:cNvSpPr/>
          <p:nvPr/>
        </p:nvSpPr>
        <p:spPr>
          <a:xfrm>
            <a:off x="10053654" y="1930048"/>
            <a:ext cx="300581" cy="229391"/>
          </a:xfrm>
          <a:custGeom>
            <a:avLst/>
            <a:gdLst/>
            <a:ahLst/>
            <a:cxnLst/>
            <a:rect l="l" t="t" r="r" b="b"/>
            <a:pathLst>
              <a:path w="38" h="29">
                <a:moveTo>
                  <a:pt x="0" y="29"/>
                </a:moveTo>
                <a:lnTo>
                  <a:pt x="2" y="28"/>
                </a:lnTo>
                <a:lnTo>
                  <a:pt x="3" y="26"/>
                </a:lnTo>
                <a:lnTo>
                  <a:pt x="5" y="24"/>
                </a:lnTo>
                <a:lnTo>
                  <a:pt x="6" y="21"/>
                </a:lnTo>
                <a:lnTo>
                  <a:pt x="8" y="18"/>
                </a:lnTo>
                <a:lnTo>
                  <a:pt x="9" y="15"/>
                </a:lnTo>
                <a:lnTo>
                  <a:pt x="11" y="11"/>
                </a:lnTo>
                <a:lnTo>
                  <a:pt x="13" y="8"/>
                </a:lnTo>
                <a:lnTo>
                  <a:pt x="14" y="4"/>
                </a:lnTo>
                <a:lnTo>
                  <a:pt x="16" y="2"/>
                </a:lnTo>
                <a:lnTo>
                  <a:pt x="17" y="1"/>
                </a:lnTo>
                <a:lnTo>
                  <a:pt x="19" y="0"/>
                </a:lnTo>
                <a:lnTo>
                  <a:pt x="21" y="1"/>
                </a:lnTo>
                <a:lnTo>
                  <a:pt x="22" y="2"/>
                </a:lnTo>
                <a:lnTo>
                  <a:pt x="24" y="4"/>
                </a:lnTo>
                <a:lnTo>
                  <a:pt x="25" y="8"/>
                </a:lnTo>
                <a:lnTo>
                  <a:pt x="27" y="11"/>
                </a:lnTo>
                <a:lnTo>
                  <a:pt x="29" y="15"/>
                </a:lnTo>
                <a:lnTo>
                  <a:pt x="30" y="18"/>
                </a:lnTo>
                <a:lnTo>
                  <a:pt x="32" y="21"/>
                </a:lnTo>
                <a:lnTo>
                  <a:pt x="33" y="24"/>
                </a:lnTo>
                <a:lnTo>
                  <a:pt x="35" y="26"/>
                </a:lnTo>
                <a:lnTo>
                  <a:pt x="36" y="28"/>
                </a:lnTo>
                <a:lnTo>
                  <a:pt x="38" y="29"/>
                </a:lnTo>
              </a:path>
            </a:pathLst>
          </a:custGeom>
          <a:noFill/>
          <a:ln w="12656">
            <a:solidFill>
              <a:srgbClr val="F3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adaptive-probability-0442"/>
          <p:cNvSpPr/>
          <p:nvPr/>
        </p:nvSpPr>
        <p:spPr>
          <a:xfrm>
            <a:off x="10014104" y="2270180"/>
            <a:ext cx="379682" cy="332221"/>
          </a:xfrm>
          <a:prstGeom prst="rect">
            <a:avLst/>
          </a:prstGeom>
          <a:solidFill>
            <a:srgbClr val="FFFFFF"/>
          </a:solidFill>
          <a:ln w="7910">
            <a:solidFill>
              <a:srgbClr val="C8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adaptive-probability-0443"/>
          <p:cNvSpPr/>
          <p:nvPr/>
        </p:nvSpPr>
        <p:spPr>
          <a:xfrm>
            <a:off x="10053654" y="2309730"/>
            <a:ext cx="300581" cy="229391"/>
          </a:xfrm>
          <a:custGeom>
            <a:avLst/>
            <a:gdLst/>
            <a:ahLst/>
            <a:cxnLst/>
            <a:rect l="l" t="t" r="r" b="b"/>
            <a:pathLst>
              <a:path w="38" h="29">
                <a:moveTo>
                  <a:pt x="0" y="29"/>
                </a:moveTo>
                <a:lnTo>
                  <a:pt x="2" y="28"/>
                </a:lnTo>
                <a:lnTo>
                  <a:pt x="3" y="26"/>
                </a:lnTo>
                <a:lnTo>
                  <a:pt x="5" y="24"/>
                </a:lnTo>
                <a:lnTo>
                  <a:pt x="6" y="21"/>
                </a:lnTo>
                <a:lnTo>
                  <a:pt x="8" y="18"/>
                </a:lnTo>
                <a:lnTo>
                  <a:pt x="9" y="15"/>
                </a:lnTo>
                <a:lnTo>
                  <a:pt x="11" y="11"/>
                </a:lnTo>
                <a:lnTo>
                  <a:pt x="13" y="8"/>
                </a:lnTo>
                <a:lnTo>
                  <a:pt x="14" y="4"/>
                </a:lnTo>
                <a:lnTo>
                  <a:pt x="16" y="2"/>
                </a:lnTo>
                <a:lnTo>
                  <a:pt x="17" y="1"/>
                </a:lnTo>
                <a:lnTo>
                  <a:pt x="19" y="0"/>
                </a:lnTo>
                <a:lnTo>
                  <a:pt x="21" y="1"/>
                </a:lnTo>
                <a:lnTo>
                  <a:pt x="22" y="2"/>
                </a:lnTo>
                <a:lnTo>
                  <a:pt x="24" y="4"/>
                </a:lnTo>
                <a:lnTo>
                  <a:pt x="25" y="8"/>
                </a:lnTo>
                <a:lnTo>
                  <a:pt x="27" y="11"/>
                </a:lnTo>
                <a:lnTo>
                  <a:pt x="29" y="15"/>
                </a:lnTo>
                <a:lnTo>
                  <a:pt x="30" y="18"/>
                </a:lnTo>
                <a:lnTo>
                  <a:pt x="32" y="21"/>
                </a:lnTo>
                <a:lnTo>
                  <a:pt x="33" y="24"/>
                </a:lnTo>
                <a:lnTo>
                  <a:pt x="35" y="26"/>
                </a:lnTo>
                <a:lnTo>
                  <a:pt x="36" y="28"/>
                </a:lnTo>
                <a:lnTo>
                  <a:pt x="38" y="29"/>
                </a:lnTo>
              </a:path>
            </a:pathLst>
          </a:custGeom>
          <a:noFill/>
          <a:ln w="12656">
            <a:solidFill>
              <a:srgbClr val="F3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adaptive-probability-0444"/>
          <p:cNvSpPr/>
          <p:nvPr/>
        </p:nvSpPr>
        <p:spPr>
          <a:xfrm>
            <a:off x="10014104" y="2649862"/>
            <a:ext cx="379682" cy="332221"/>
          </a:xfrm>
          <a:prstGeom prst="rect">
            <a:avLst/>
          </a:prstGeom>
          <a:solidFill>
            <a:srgbClr val="FFFFFF"/>
          </a:solidFill>
          <a:ln w="7910">
            <a:solidFill>
              <a:srgbClr val="C8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adaptive-probability-0445"/>
          <p:cNvSpPr/>
          <p:nvPr/>
        </p:nvSpPr>
        <p:spPr>
          <a:xfrm>
            <a:off x="10053654" y="2689412"/>
            <a:ext cx="300581" cy="229391"/>
          </a:xfrm>
          <a:custGeom>
            <a:avLst/>
            <a:gdLst/>
            <a:ahLst/>
            <a:cxnLst/>
            <a:rect l="l" t="t" r="r" b="b"/>
            <a:pathLst>
              <a:path w="38" h="29">
                <a:moveTo>
                  <a:pt x="0" y="29"/>
                </a:moveTo>
                <a:lnTo>
                  <a:pt x="2" y="28"/>
                </a:lnTo>
                <a:lnTo>
                  <a:pt x="3" y="26"/>
                </a:lnTo>
                <a:lnTo>
                  <a:pt x="5" y="24"/>
                </a:lnTo>
                <a:lnTo>
                  <a:pt x="6" y="21"/>
                </a:lnTo>
                <a:lnTo>
                  <a:pt x="8" y="18"/>
                </a:lnTo>
                <a:lnTo>
                  <a:pt x="9" y="15"/>
                </a:lnTo>
                <a:lnTo>
                  <a:pt x="11" y="11"/>
                </a:lnTo>
                <a:lnTo>
                  <a:pt x="13" y="8"/>
                </a:lnTo>
                <a:lnTo>
                  <a:pt x="14" y="4"/>
                </a:lnTo>
                <a:lnTo>
                  <a:pt x="16" y="2"/>
                </a:lnTo>
                <a:lnTo>
                  <a:pt x="17" y="1"/>
                </a:lnTo>
                <a:lnTo>
                  <a:pt x="19" y="0"/>
                </a:lnTo>
                <a:lnTo>
                  <a:pt x="21" y="1"/>
                </a:lnTo>
                <a:lnTo>
                  <a:pt x="22" y="2"/>
                </a:lnTo>
                <a:lnTo>
                  <a:pt x="24" y="4"/>
                </a:lnTo>
                <a:lnTo>
                  <a:pt x="25" y="8"/>
                </a:lnTo>
                <a:lnTo>
                  <a:pt x="27" y="11"/>
                </a:lnTo>
                <a:lnTo>
                  <a:pt x="29" y="15"/>
                </a:lnTo>
                <a:lnTo>
                  <a:pt x="30" y="18"/>
                </a:lnTo>
                <a:lnTo>
                  <a:pt x="32" y="21"/>
                </a:lnTo>
                <a:lnTo>
                  <a:pt x="33" y="24"/>
                </a:lnTo>
                <a:lnTo>
                  <a:pt x="35" y="26"/>
                </a:lnTo>
                <a:lnTo>
                  <a:pt x="36" y="28"/>
                </a:lnTo>
                <a:lnTo>
                  <a:pt x="38" y="29"/>
                </a:lnTo>
              </a:path>
            </a:pathLst>
          </a:custGeom>
          <a:noFill/>
          <a:ln w="12656">
            <a:solidFill>
              <a:srgbClr val="F3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adaptive-probability-0446"/>
          <p:cNvSpPr/>
          <p:nvPr/>
        </p:nvSpPr>
        <p:spPr>
          <a:xfrm>
            <a:off x="10014104" y="3029543"/>
            <a:ext cx="379682" cy="332221"/>
          </a:xfrm>
          <a:prstGeom prst="rect">
            <a:avLst/>
          </a:prstGeom>
          <a:solidFill>
            <a:srgbClr val="FFFFFF"/>
          </a:solidFill>
          <a:ln w="7910">
            <a:solidFill>
              <a:srgbClr val="C8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adaptive-probability-0447"/>
          <p:cNvSpPr/>
          <p:nvPr/>
        </p:nvSpPr>
        <p:spPr>
          <a:xfrm>
            <a:off x="10053654" y="3069093"/>
            <a:ext cx="300581" cy="229391"/>
          </a:xfrm>
          <a:custGeom>
            <a:avLst/>
            <a:gdLst/>
            <a:ahLst/>
            <a:cxnLst/>
            <a:rect l="l" t="t" r="r" b="b"/>
            <a:pathLst>
              <a:path w="38" h="29">
                <a:moveTo>
                  <a:pt x="0" y="29"/>
                </a:moveTo>
                <a:lnTo>
                  <a:pt x="2" y="28"/>
                </a:lnTo>
                <a:lnTo>
                  <a:pt x="3" y="26"/>
                </a:lnTo>
                <a:lnTo>
                  <a:pt x="5" y="24"/>
                </a:lnTo>
                <a:lnTo>
                  <a:pt x="6" y="21"/>
                </a:lnTo>
                <a:lnTo>
                  <a:pt x="8" y="18"/>
                </a:lnTo>
                <a:lnTo>
                  <a:pt x="9" y="15"/>
                </a:lnTo>
                <a:lnTo>
                  <a:pt x="11" y="11"/>
                </a:lnTo>
                <a:lnTo>
                  <a:pt x="13" y="8"/>
                </a:lnTo>
                <a:lnTo>
                  <a:pt x="14" y="4"/>
                </a:lnTo>
                <a:lnTo>
                  <a:pt x="16" y="2"/>
                </a:lnTo>
                <a:lnTo>
                  <a:pt x="17" y="1"/>
                </a:lnTo>
                <a:lnTo>
                  <a:pt x="19" y="0"/>
                </a:lnTo>
                <a:lnTo>
                  <a:pt x="21" y="1"/>
                </a:lnTo>
                <a:lnTo>
                  <a:pt x="22" y="2"/>
                </a:lnTo>
                <a:lnTo>
                  <a:pt x="24" y="4"/>
                </a:lnTo>
                <a:lnTo>
                  <a:pt x="25" y="8"/>
                </a:lnTo>
                <a:lnTo>
                  <a:pt x="27" y="11"/>
                </a:lnTo>
                <a:lnTo>
                  <a:pt x="29" y="15"/>
                </a:lnTo>
                <a:lnTo>
                  <a:pt x="30" y="18"/>
                </a:lnTo>
                <a:lnTo>
                  <a:pt x="32" y="21"/>
                </a:lnTo>
                <a:lnTo>
                  <a:pt x="33" y="24"/>
                </a:lnTo>
                <a:lnTo>
                  <a:pt x="35" y="26"/>
                </a:lnTo>
                <a:lnTo>
                  <a:pt x="36" y="28"/>
                </a:lnTo>
                <a:lnTo>
                  <a:pt x="38" y="29"/>
                </a:lnTo>
              </a:path>
            </a:pathLst>
          </a:custGeom>
          <a:noFill/>
          <a:ln w="12656">
            <a:solidFill>
              <a:srgbClr val="F3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adaptive-masses-0448"/>
          <p:cNvSpPr/>
          <p:nvPr/>
        </p:nvSpPr>
        <p:spPr>
          <a:xfrm>
            <a:off x="10860477" y="775183"/>
            <a:ext cx="522062" cy="332221"/>
          </a:xfrm>
          <a:prstGeom prst="rect">
            <a:avLst/>
          </a:prstGeom>
          <a:solidFill>
            <a:srgbClr val="B9D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adaptive-masses-0449"/>
          <p:cNvSpPr/>
          <p:nvPr/>
        </p:nvSpPr>
        <p:spPr>
          <a:xfrm>
            <a:off x="10820927" y="727723"/>
            <a:ext cx="522062" cy="332221"/>
          </a:xfrm>
          <a:prstGeom prst="rect">
            <a:avLst/>
          </a:prstGeom>
          <a:solidFill>
            <a:srgbClr val="FEFAEE"/>
          </a:solidFill>
          <a:ln w="17402">
            <a:solidFill>
              <a:srgbClr val="5D8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adaptive-masses-0450"/>
          <p:cNvSpPr txBox="1"/>
          <p:nvPr/>
        </p:nvSpPr>
        <p:spPr>
          <a:xfrm>
            <a:off x="10860477" y="735633"/>
            <a:ext cx="142381" cy="31640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>
                <a:solidFill>
                  <a:srgbClr val="000000"/>
                </a:solidFill>
                <a:latin typeface="Liberation Sans"/>
              </a:rPr>
              <a:t>M</a:t>
            </a:r>
          </a:p>
        </p:txBody>
      </p:sp>
      <p:sp>
        <p:nvSpPr>
          <p:cNvPr id="452" name="adaptive-masses-0451"/>
          <p:cNvSpPr txBox="1"/>
          <p:nvPr/>
        </p:nvSpPr>
        <p:spPr>
          <a:xfrm>
            <a:off x="10987038" y="791003"/>
            <a:ext cx="94920" cy="25312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>
                <a:solidFill>
                  <a:srgbClr val="000000"/>
                </a:solidFill>
                <a:latin typeface="Liberation Sans"/>
              </a:rPr>
              <a:t>1</a:t>
            </a:r>
          </a:p>
        </p:txBody>
      </p:sp>
      <p:sp>
        <p:nvSpPr>
          <p:cNvPr id="453" name="adaptive-masses-0452"/>
          <p:cNvSpPr txBox="1"/>
          <p:nvPr/>
        </p:nvSpPr>
        <p:spPr>
          <a:xfrm>
            <a:off x="11050318" y="735633"/>
            <a:ext cx="268941" cy="31640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>
                <a:solidFill>
                  <a:srgbClr val="000000"/>
                </a:solidFill>
                <a:latin typeface="Liberation Sans"/>
              </a:rPr>
              <a:t>(A)</a:t>
            </a:r>
          </a:p>
        </p:txBody>
      </p:sp>
      <p:sp>
        <p:nvSpPr>
          <p:cNvPr id="454" name="adaptive-masses-0453"/>
          <p:cNvSpPr/>
          <p:nvPr/>
        </p:nvSpPr>
        <p:spPr>
          <a:xfrm>
            <a:off x="11422090" y="814734"/>
            <a:ext cx="158201" cy="158201"/>
          </a:xfrm>
          <a:prstGeom prst="ellipse">
            <a:avLst/>
          </a:prstGeom>
          <a:solidFill>
            <a:srgbClr val="FEFAEE"/>
          </a:solidFill>
          <a:ln w="1186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5" name="adaptive-masses-0454"/>
          <p:cNvCxnSpPr/>
          <p:nvPr/>
        </p:nvCxnSpPr>
        <p:spPr>
          <a:xfrm>
            <a:off x="11449775" y="893834"/>
            <a:ext cx="102830" cy="0"/>
          </a:xfrm>
          <a:prstGeom prst="line">
            <a:avLst/>
          </a:prstGeom>
          <a:ln w="1107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6" name="adaptive-masses-0455"/>
          <p:cNvCxnSpPr/>
          <p:nvPr/>
        </p:nvCxnSpPr>
        <p:spPr>
          <a:xfrm>
            <a:off x="11501190" y="842419"/>
            <a:ext cx="0" cy="102830"/>
          </a:xfrm>
          <a:prstGeom prst="line">
            <a:avLst/>
          </a:prstGeom>
          <a:ln w="1107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7" name="adaptive-masses-0456"/>
          <p:cNvSpPr/>
          <p:nvPr/>
        </p:nvSpPr>
        <p:spPr>
          <a:xfrm>
            <a:off x="11691031" y="767273"/>
            <a:ext cx="537882" cy="332221"/>
          </a:xfrm>
          <a:prstGeom prst="rect">
            <a:avLst/>
          </a:prstGeom>
          <a:solidFill>
            <a:srgbClr val="B9D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adaptive-masses-0457"/>
          <p:cNvSpPr/>
          <p:nvPr/>
        </p:nvSpPr>
        <p:spPr>
          <a:xfrm>
            <a:off x="11659391" y="727723"/>
            <a:ext cx="537882" cy="332221"/>
          </a:xfrm>
          <a:prstGeom prst="rect">
            <a:avLst/>
          </a:prstGeom>
          <a:solidFill>
            <a:srgbClr val="FFFFFF"/>
          </a:solidFill>
          <a:ln w="18193">
            <a:solidFill>
              <a:srgbClr val="5D8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9" name="adaptive-masses-0458"/>
          <p:cNvCxnSpPr/>
          <p:nvPr/>
        </p:nvCxnSpPr>
        <p:spPr>
          <a:xfrm flipV="1">
            <a:off x="11659391" y="727723"/>
            <a:ext cx="79100" cy="79101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0" name="adaptive-masses-0459"/>
          <p:cNvCxnSpPr/>
          <p:nvPr/>
        </p:nvCxnSpPr>
        <p:spPr>
          <a:xfrm flipV="1">
            <a:off x="11659391" y="727723"/>
            <a:ext cx="158200" cy="158201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1" name="adaptive-masses-0460"/>
          <p:cNvCxnSpPr/>
          <p:nvPr/>
        </p:nvCxnSpPr>
        <p:spPr>
          <a:xfrm flipV="1">
            <a:off x="11659391" y="727723"/>
            <a:ext cx="237301" cy="237301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adaptive-masses-0461"/>
          <p:cNvCxnSpPr/>
          <p:nvPr/>
        </p:nvCxnSpPr>
        <p:spPr>
          <a:xfrm flipV="1">
            <a:off x="11659391" y="727723"/>
            <a:ext cx="316401" cy="316402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3" name="adaptive-masses-0462"/>
          <p:cNvCxnSpPr/>
          <p:nvPr/>
        </p:nvCxnSpPr>
        <p:spPr>
          <a:xfrm flipV="1">
            <a:off x="11722671" y="727723"/>
            <a:ext cx="332221" cy="332222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4" name="adaptive-masses-0463"/>
          <p:cNvCxnSpPr/>
          <p:nvPr/>
        </p:nvCxnSpPr>
        <p:spPr>
          <a:xfrm flipV="1">
            <a:off x="11801771" y="727723"/>
            <a:ext cx="332222" cy="332222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5" name="adaptive-masses-0464"/>
          <p:cNvCxnSpPr/>
          <p:nvPr/>
        </p:nvCxnSpPr>
        <p:spPr>
          <a:xfrm flipV="1">
            <a:off x="11880872" y="743543"/>
            <a:ext cx="316401" cy="316402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6" name="adaptive-masses-0465"/>
          <p:cNvCxnSpPr/>
          <p:nvPr/>
        </p:nvCxnSpPr>
        <p:spPr>
          <a:xfrm flipV="1">
            <a:off x="11959972" y="822644"/>
            <a:ext cx="237301" cy="237301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7" name="adaptive-masses-0466"/>
          <p:cNvCxnSpPr/>
          <p:nvPr/>
        </p:nvCxnSpPr>
        <p:spPr>
          <a:xfrm flipV="1">
            <a:off x="12039072" y="901744"/>
            <a:ext cx="158201" cy="158201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8" name="adaptive-masses-0467"/>
          <p:cNvCxnSpPr/>
          <p:nvPr/>
        </p:nvCxnSpPr>
        <p:spPr>
          <a:xfrm flipV="1">
            <a:off x="12118173" y="980844"/>
            <a:ext cx="79100" cy="79101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9" name="adaptive-masses-0468"/>
          <p:cNvSpPr/>
          <p:nvPr/>
        </p:nvSpPr>
        <p:spPr>
          <a:xfrm>
            <a:off x="10860477" y="1226055"/>
            <a:ext cx="522062" cy="332221"/>
          </a:xfrm>
          <a:prstGeom prst="rect">
            <a:avLst/>
          </a:prstGeom>
          <a:solidFill>
            <a:srgbClr val="B9D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adaptive-masses-0469"/>
          <p:cNvSpPr/>
          <p:nvPr/>
        </p:nvSpPr>
        <p:spPr>
          <a:xfrm>
            <a:off x="10820927" y="1178595"/>
            <a:ext cx="522062" cy="332221"/>
          </a:xfrm>
          <a:prstGeom prst="rect">
            <a:avLst/>
          </a:prstGeom>
          <a:solidFill>
            <a:srgbClr val="FEFAEE"/>
          </a:solidFill>
          <a:ln w="17402">
            <a:solidFill>
              <a:srgbClr val="5D8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" name="adaptive-masses-0470"/>
          <p:cNvSpPr txBox="1"/>
          <p:nvPr/>
        </p:nvSpPr>
        <p:spPr>
          <a:xfrm>
            <a:off x="10860477" y="1186505"/>
            <a:ext cx="142381" cy="31640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>
                <a:solidFill>
                  <a:srgbClr val="000000"/>
                </a:solidFill>
                <a:latin typeface="Liberation Sans"/>
              </a:rPr>
              <a:t>M</a:t>
            </a:r>
          </a:p>
        </p:txBody>
      </p:sp>
      <p:sp>
        <p:nvSpPr>
          <p:cNvPr id="472" name="adaptive-masses-0471"/>
          <p:cNvSpPr txBox="1"/>
          <p:nvPr/>
        </p:nvSpPr>
        <p:spPr>
          <a:xfrm>
            <a:off x="10987038" y="1241875"/>
            <a:ext cx="94920" cy="25312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>
                <a:solidFill>
                  <a:srgbClr val="000000"/>
                </a:solidFill>
                <a:latin typeface="Liberation Sans"/>
              </a:rPr>
              <a:t>2</a:t>
            </a:r>
          </a:p>
        </p:txBody>
      </p:sp>
      <p:sp>
        <p:nvSpPr>
          <p:cNvPr id="473" name="adaptive-masses-0472"/>
          <p:cNvSpPr txBox="1"/>
          <p:nvPr/>
        </p:nvSpPr>
        <p:spPr>
          <a:xfrm>
            <a:off x="11050318" y="1186505"/>
            <a:ext cx="268941" cy="31640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>
                <a:solidFill>
                  <a:srgbClr val="000000"/>
                </a:solidFill>
                <a:latin typeface="Liberation Sans"/>
              </a:rPr>
              <a:t>(A)</a:t>
            </a:r>
          </a:p>
        </p:txBody>
      </p:sp>
      <p:sp>
        <p:nvSpPr>
          <p:cNvPr id="474" name="adaptive-masses-0473"/>
          <p:cNvSpPr/>
          <p:nvPr/>
        </p:nvSpPr>
        <p:spPr>
          <a:xfrm>
            <a:off x="11422090" y="1265606"/>
            <a:ext cx="158201" cy="158201"/>
          </a:xfrm>
          <a:prstGeom prst="ellipse">
            <a:avLst/>
          </a:prstGeom>
          <a:solidFill>
            <a:srgbClr val="FEFAEE"/>
          </a:solidFill>
          <a:ln w="1186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5" name="adaptive-masses-0474"/>
          <p:cNvCxnSpPr/>
          <p:nvPr/>
        </p:nvCxnSpPr>
        <p:spPr>
          <a:xfrm>
            <a:off x="11449775" y="1344706"/>
            <a:ext cx="102830" cy="0"/>
          </a:xfrm>
          <a:prstGeom prst="line">
            <a:avLst/>
          </a:prstGeom>
          <a:ln w="1107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6" name="adaptive-masses-0475"/>
          <p:cNvCxnSpPr/>
          <p:nvPr/>
        </p:nvCxnSpPr>
        <p:spPr>
          <a:xfrm>
            <a:off x="11501190" y="1293291"/>
            <a:ext cx="0" cy="102830"/>
          </a:xfrm>
          <a:prstGeom prst="line">
            <a:avLst/>
          </a:prstGeom>
          <a:ln w="1107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7" name="adaptive-masses-0476"/>
          <p:cNvSpPr/>
          <p:nvPr/>
        </p:nvSpPr>
        <p:spPr>
          <a:xfrm>
            <a:off x="11691031" y="1218145"/>
            <a:ext cx="537882" cy="332221"/>
          </a:xfrm>
          <a:prstGeom prst="rect">
            <a:avLst/>
          </a:prstGeom>
          <a:solidFill>
            <a:srgbClr val="B9D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" name="adaptive-masses-0477"/>
          <p:cNvSpPr/>
          <p:nvPr/>
        </p:nvSpPr>
        <p:spPr>
          <a:xfrm>
            <a:off x="11659391" y="1178595"/>
            <a:ext cx="537882" cy="332221"/>
          </a:xfrm>
          <a:prstGeom prst="rect">
            <a:avLst/>
          </a:prstGeom>
          <a:solidFill>
            <a:srgbClr val="FFFFFF"/>
          </a:solidFill>
          <a:ln w="18193">
            <a:solidFill>
              <a:srgbClr val="5D8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9" name="adaptive-masses-0478"/>
          <p:cNvCxnSpPr/>
          <p:nvPr/>
        </p:nvCxnSpPr>
        <p:spPr>
          <a:xfrm flipV="1">
            <a:off x="11659391" y="1178595"/>
            <a:ext cx="79100" cy="79101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0" name="adaptive-masses-0479"/>
          <p:cNvCxnSpPr/>
          <p:nvPr/>
        </p:nvCxnSpPr>
        <p:spPr>
          <a:xfrm flipV="1">
            <a:off x="11659391" y="1178595"/>
            <a:ext cx="158200" cy="158201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1" name="adaptive-masses-0480"/>
          <p:cNvCxnSpPr/>
          <p:nvPr/>
        </p:nvCxnSpPr>
        <p:spPr>
          <a:xfrm flipV="1">
            <a:off x="11659391" y="1178595"/>
            <a:ext cx="237301" cy="237301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2" name="adaptive-masses-0481"/>
          <p:cNvCxnSpPr/>
          <p:nvPr/>
        </p:nvCxnSpPr>
        <p:spPr>
          <a:xfrm flipV="1">
            <a:off x="11659391" y="1178595"/>
            <a:ext cx="316401" cy="316402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3" name="adaptive-masses-0482"/>
          <p:cNvCxnSpPr/>
          <p:nvPr/>
        </p:nvCxnSpPr>
        <p:spPr>
          <a:xfrm flipV="1">
            <a:off x="11722671" y="1178595"/>
            <a:ext cx="332221" cy="332222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4" name="adaptive-masses-0483"/>
          <p:cNvCxnSpPr/>
          <p:nvPr/>
        </p:nvCxnSpPr>
        <p:spPr>
          <a:xfrm flipV="1">
            <a:off x="11801771" y="1178595"/>
            <a:ext cx="332222" cy="332222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5" name="adaptive-masses-0484"/>
          <p:cNvCxnSpPr/>
          <p:nvPr/>
        </p:nvCxnSpPr>
        <p:spPr>
          <a:xfrm flipV="1">
            <a:off x="11880872" y="1194415"/>
            <a:ext cx="316401" cy="316402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6" name="adaptive-masses-0485"/>
          <p:cNvCxnSpPr/>
          <p:nvPr/>
        </p:nvCxnSpPr>
        <p:spPr>
          <a:xfrm flipV="1">
            <a:off x="11959972" y="1273516"/>
            <a:ext cx="237301" cy="237301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7" name="adaptive-masses-0486"/>
          <p:cNvCxnSpPr/>
          <p:nvPr/>
        </p:nvCxnSpPr>
        <p:spPr>
          <a:xfrm flipV="1">
            <a:off x="12039072" y="1352616"/>
            <a:ext cx="158201" cy="158201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8" name="adaptive-masses-0487"/>
          <p:cNvCxnSpPr/>
          <p:nvPr/>
        </p:nvCxnSpPr>
        <p:spPr>
          <a:xfrm flipV="1">
            <a:off x="12118173" y="1431716"/>
            <a:ext cx="79100" cy="79101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9" name="adaptive-masses-0488"/>
          <p:cNvSpPr/>
          <p:nvPr/>
        </p:nvSpPr>
        <p:spPr>
          <a:xfrm>
            <a:off x="10860477" y="1676927"/>
            <a:ext cx="522062" cy="332221"/>
          </a:xfrm>
          <a:prstGeom prst="rect">
            <a:avLst/>
          </a:prstGeom>
          <a:solidFill>
            <a:srgbClr val="B9D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" name="adaptive-masses-0489"/>
          <p:cNvSpPr/>
          <p:nvPr/>
        </p:nvSpPr>
        <p:spPr>
          <a:xfrm>
            <a:off x="10820927" y="1629467"/>
            <a:ext cx="522062" cy="332221"/>
          </a:xfrm>
          <a:prstGeom prst="rect">
            <a:avLst/>
          </a:prstGeom>
          <a:solidFill>
            <a:srgbClr val="FEFAEE"/>
          </a:solidFill>
          <a:ln w="17402">
            <a:solidFill>
              <a:srgbClr val="5D8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" name="adaptive-masses-0490"/>
          <p:cNvSpPr txBox="1"/>
          <p:nvPr/>
        </p:nvSpPr>
        <p:spPr>
          <a:xfrm>
            <a:off x="10860477" y="1637377"/>
            <a:ext cx="142381" cy="31640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>
                <a:solidFill>
                  <a:srgbClr val="000000"/>
                </a:solidFill>
                <a:latin typeface="Liberation Sans"/>
              </a:rPr>
              <a:t>M</a:t>
            </a:r>
          </a:p>
        </p:txBody>
      </p:sp>
      <p:sp>
        <p:nvSpPr>
          <p:cNvPr id="492" name="adaptive-masses-0491"/>
          <p:cNvSpPr txBox="1"/>
          <p:nvPr/>
        </p:nvSpPr>
        <p:spPr>
          <a:xfrm>
            <a:off x="10987038" y="1692747"/>
            <a:ext cx="94920" cy="25312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>
                <a:solidFill>
                  <a:srgbClr val="000000"/>
                </a:solidFill>
                <a:latin typeface="Liberation Sans"/>
              </a:rPr>
              <a:t>3</a:t>
            </a:r>
          </a:p>
        </p:txBody>
      </p:sp>
      <p:sp>
        <p:nvSpPr>
          <p:cNvPr id="493" name="adaptive-masses-0492"/>
          <p:cNvSpPr txBox="1"/>
          <p:nvPr/>
        </p:nvSpPr>
        <p:spPr>
          <a:xfrm>
            <a:off x="11050318" y="1637377"/>
            <a:ext cx="268941" cy="31640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>
                <a:solidFill>
                  <a:srgbClr val="000000"/>
                </a:solidFill>
                <a:latin typeface="Liberation Sans"/>
              </a:rPr>
              <a:t>(A)</a:t>
            </a:r>
          </a:p>
        </p:txBody>
      </p:sp>
      <p:sp>
        <p:nvSpPr>
          <p:cNvPr id="494" name="adaptive-masses-0493"/>
          <p:cNvSpPr/>
          <p:nvPr/>
        </p:nvSpPr>
        <p:spPr>
          <a:xfrm>
            <a:off x="11422090" y="1716478"/>
            <a:ext cx="158201" cy="158201"/>
          </a:xfrm>
          <a:prstGeom prst="ellipse">
            <a:avLst/>
          </a:prstGeom>
          <a:solidFill>
            <a:srgbClr val="FEFAEE"/>
          </a:solidFill>
          <a:ln w="1186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5" name="adaptive-masses-0494"/>
          <p:cNvCxnSpPr/>
          <p:nvPr/>
        </p:nvCxnSpPr>
        <p:spPr>
          <a:xfrm>
            <a:off x="11449775" y="1795578"/>
            <a:ext cx="102830" cy="0"/>
          </a:xfrm>
          <a:prstGeom prst="line">
            <a:avLst/>
          </a:prstGeom>
          <a:ln w="1107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6" name="adaptive-masses-0495"/>
          <p:cNvCxnSpPr/>
          <p:nvPr/>
        </p:nvCxnSpPr>
        <p:spPr>
          <a:xfrm>
            <a:off x="11501190" y="1744163"/>
            <a:ext cx="0" cy="102830"/>
          </a:xfrm>
          <a:prstGeom prst="line">
            <a:avLst/>
          </a:prstGeom>
          <a:ln w="1107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7" name="adaptive-masses-0496"/>
          <p:cNvSpPr/>
          <p:nvPr/>
        </p:nvSpPr>
        <p:spPr>
          <a:xfrm>
            <a:off x="11691031" y="1669017"/>
            <a:ext cx="537882" cy="332221"/>
          </a:xfrm>
          <a:prstGeom prst="rect">
            <a:avLst/>
          </a:prstGeom>
          <a:solidFill>
            <a:srgbClr val="B9D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" name="adaptive-masses-0497"/>
          <p:cNvSpPr/>
          <p:nvPr/>
        </p:nvSpPr>
        <p:spPr>
          <a:xfrm>
            <a:off x="11659391" y="1629467"/>
            <a:ext cx="537882" cy="332221"/>
          </a:xfrm>
          <a:prstGeom prst="rect">
            <a:avLst/>
          </a:prstGeom>
          <a:solidFill>
            <a:srgbClr val="FFFFFF"/>
          </a:solidFill>
          <a:ln w="18193">
            <a:solidFill>
              <a:srgbClr val="5D8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9" name="adaptive-masses-0498"/>
          <p:cNvCxnSpPr/>
          <p:nvPr/>
        </p:nvCxnSpPr>
        <p:spPr>
          <a:xfrm flipV="1">
            <a:off x="11659391" y="1629467"/>
            <a:ext cx="79100" cy="79100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0" name="adaptive-masses-0499"/>
          <p:cNvCxnSpPr/>
          <p:nvPr/>
        </p:nvCxnSpPr>
        <p:spPr>
          <a:xfrm flipV="1">
            <a:off x="11659391" y="1629467"/>
            <a:ext cx="158200" cy="158201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1" name="adaptive-masses-0500"/>
          <p:cNvCxnSpPr/>
          <p:nvPr/>
        </p:nvCxnSpPr>
        <p:spPr>
          <a:xfrm flipV="1">
            <a:off x="11659391" y="1629467"/>
            <a:ext cx="237301" cy="237301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2" name="adaptive-masses-0501"/>
          <p:cNvCxnSpPr/>
          <p:nvPr/>
        </p:nvCxnSpPr>
        <p:spPr>
          <a:xfrm flipV="1">
            <a:off x="11659391" y="1629467"/>
            <a:ext cx="316401" cy="316402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3" name="adaptive-masses-0502"/>
          <p:cNvCxnSpPr/>
          <p:nvPr/>
        </p:nvCxnSpPr>
        <p:spPr>
          <a:xfrm flipV="1">
            <a:off x="11722671" y="1629467"/>
            <a:ext cx="332221" cy="332222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4" name="adaptive-masses-0503"/>
          <p:cNvCxnSpPr/>
          <p:nvPr/>
        </p:nvCxnSpPr>
        <p:spPr>
          <a:xfrm flipV="1">
            <a:off x="11801771" y="1629467"/>
            <a:ext cx="332222" cy="332222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5" name="adaptive-masses-0504"/>
          <p:cNvCxnSpPr/>
          <p:nvPr/>
        </p:nvCxnSpPr>
        <p:spPr>
          <a:xfrm flipV="1">
            <a:off x="11880872" y="1645287"/>
            <a:ext cx="316401" cy="316402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6" name="adaptive-masses-0505"/>
          <p:cNvCxnSpPr/>
          <p:nvPr/>
        </p:nvCxnSpPr>
        <p:spPr>
          <a:xfrm flipV="1">
            <a:off x="11959972" y="1724388"/>
            <a:ext cx="237301" cy="237301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7" name="adaptive-masses-0506"/>
          <p:cNvCxnSpPr/>
          <p:nvPr/>
        </p:nvCxnSpPr>
        <p:spPr>
          <a:xfrm flipV="1">
            <a:off x="12039072" y="1803488"/>
            <a:ext cx="158201" cy="158201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8" name="adaptive-masses-0507"/>
          <p:cNvCxnSpPr/>
          <p:nvPr/>
        </p:nvCxnSpPr>
        <p:spPr>
          <a:xfrm flipV="1">
            <a:off x="12118173" y="1882588"/>
            <a:ext cx="79100" cy="79101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9" name="adaptive-masses-0508"/>
          <p:cNvSpPr/>
          <p:nvPr/>
        </p:nvSpPr>
        <p:spPr>
          <a:xfrm>
            <a:off x="10860477" y="2159439"/>
            <a:ext cx="522062" cy="332221"/>
          </a:xfrm>
          <a:prstGeom prst="rect">
            <a:avLst/>
          </a:prstGeom>
          <a:solidFill>
            <a:srgbClr val="B9D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" name="adaptive-masses-0509"/>
          <p:cNvSpPr/>
          <p:nvPr/>
        </p:nvSpPr>
        <p:spPr>
          <a:xfrm>
            <a:off x="10820927" y="2111979"/>
            <a:ext cx="522062" cy="332221"/>
          </a:xfrm>
          <a:prstGeom prst="rect">
            <a:avLst/>
          </a:prstGeom>
          <a:solidFill>
            <a:srgbClr val="FEFAEE"/>
          </a:solidFill>
          <a:ln w="17402">
            <a:solidFill>
              <a:srgbClr val="5D8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" name="adaptive-masses-0510"/>
          <p:cNvSpPr txBox="1"/>
          <p:nvPr/>
        </p:nvSpPr>
        <p:spPr>
          <a:xfrm>
            <a:off x="10860477" y="2119889"/>
            <a:ext cx="142381" cy="31640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>
                <a:solidFill>
                  <a:srgbClr val="000000"/>
                </a:solidFill>
                <a:latin typeface="Liberation Sans"/>
              </a:rPr>
              <a:t>M</a:t>
            </a:r>
          </a:p>
        </p:txBody>
      </p:sp>
      <p:sp>
        <p:nvSpPr>
          <p:cNvPr id="512" name="adaptive-masses-0511"/>
          <p:cNvSpPr txBox="1"/>
          <p:nvPr/>
        </p:nvSpPr>
        <p:spPr>
          <a:xfrm>
            <a:off x="10987038" y="2175260"/>
            <a:ext cx="94920" cy="25312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>
                <a:solidFill>
                  <a:srgbClr val="000000"/>
                </a:solidFill>
                <a:latin typeface="Liberation Sans"/>
              </a:rPr>
              <a:t>4</a:t>
            </a:r>
          </a:p>
        </p:txBody>
      </p:sp>
      <p:sp>
        <p:nvSpPr>
          <p:cNvPr id="513" name="adaptive-masses-0512"/>
          <p:cNvSpPr txBox="1"/>
          <p:nvPr/>
        </p:nvSpPr>
        <p:spPr>
          <a:xfrm>
            <a:off x="11050318" y="2119889"/>
            <a:ext cx="268941" cy="31640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>
                <a:solidFill>
                  <a:srgbClr val="000000"/>
                </a:solidFill>
                <a:latin typeface="Liberation Sans"/>
              </a:rPr>
              <a:t>(A)</a:t>
            </a:r>
          </a:p>
        </p:txBody>
      </p:sp>
      <p:sp>
        <p:nvSpPr>
          <p:cNvPr id="514" name="adaptive-masses-0513"/>
          <p:cNvSpPr/>
          <p:nvPr/>
        </p:nvSpPr>
        <p:spPr>
          <a:xfrm>
            <a:off x="11422090" y="2198990"/>
            <a:ext cx="158201" cy="158201"/>
          </a:xfrm>
          <a:prstGeom prst="ellipse">
            <a:avLst/>
          </a:prstGeom>
          <a:solidFill>
            <a:srgbClr val="FEFAEE"/>
          </a:solidFill>
          <a:ln w="1186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5" name="adaptive-masses-0514"/>
          <p:cNvCxnSpPr/>
          <p:nvPr/>
        </p:nvCxnSpPr>
        <p:spPr>
          <a:xfrm>
            <a:off x="11449775" y="2278090"/>
            <a:ext cx="102830" cy="0"/>
          </a:xfrm>
          <a:prstGeom prst="line">
            <a:avLst/>
          </a:prstGeom>
          <a:ln w="1107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6" name="adaptive-masses-0515"/>
          <p:cNvCxnSpPr/>
          <p:nvPr/>
        </p:nvCxnSpPr>
        <p:spPr>
          <a:xfrm>
            <a:off x="11501190" y="2226675"/>
            <a:ext cx="0" cy="102830"/>
          </a:xfrm>
          <a:prstGeom prst="line">
            <a:avLst/>
          </a:prstGeom>
          <a:ln w="1107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7" name="adaptive-masses-0516"/>
          <p:cNvSpPr/>
          <p:nvPr/>
        </p:nvSpPr>
        <p:spPr>
          <a:xfrm>
            <a:off x="11691031" y="2151529"/>
            <a:ext cx="537882" cy="332221"/>
          </a:xfrm>
          <a:prstGeom prst="rect">
            <a:avLst/>
          </a:prstGeom>
          <a:solidFill>
            <a:srgbClr val="B9D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" name="adaptive-masses-0517"/>
          <p:cNvSpPr/>
          <p:nvPr/>
        </p:nvSpPr>
        <p:spPr>
          <a:xfrm>
            <a:off x="11659391" y="2111979"/>
            <a:ext cx="537882" cy="332221"/>
          </a:xfrm>
          <a:prstGeom prst="rect">
            <a:avLst/>
          </a:prstGeom>
          <a:solidFill>
            <a:srgbClr val="FFFFFF"/>
          </a:solidFill>
          <a:ln w="18193">
            <a:solidFill>
              <a:srgbClr val="5D8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9" name="adaptive-masses-0518"/>
          <p:cNvCxnSpPr/>
          <p:nvPr/>
        </p:nvCxnSpPr>
        <p:spPr>
          <a:xfrm flipV="1">
            <a:off x="11659391" y="2111979"/>
            <a:ext cx="79100" cy="79101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0" name="adaptive-masses-0519"/>
          <p:cNvCxnSpPr/>
          <p:nvPr/>
        </p:nvCxnSpPr>
        <p:spPr>
          <a:xfrm flipV="1">
            <a:off x="11659391" y="2111979"/>
            <a:ext cx="158200" cy="158201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1" name="adaptive-masses-0520"/>
          <p:cNvCxnSpPr/>
          <p:nvPr/>
        </p:nvCxnSpPr>
        <p:spPr>
          <a:xfrm flipV="1">
            <a:off x="11659391" y="2111979"/>
            <a:ext cx="237301" cy="237301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2" name="adaptive-masses-0521"/>
          <p:cNvCxnSpPr/>
          <p:nvPr/>
        </p:nvCxnSpPr>
        <p:spPr>
          <a:xfrm flipV="1">
            <a:off x="11659391" y="2111979"/>
            <a:ext cx="316401" cy="316402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3" name="adaptive-masses-0522"/>
          <p:cNvCxnSpPr/>
          <p:nvPr/>
        </p:nvCxnSpPr>
        <p:spPr>
          <a:xfrm flipV="1">
            <a:off x="11722671" y="2111979"/>
            <a:ext cx="332221" cy="332222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4" name="adaptive-masses-0523"/>
          <p:cNvCxnSpPr/>
          <p:nvPr/>
        </p:nvCxnSpPr>
        <p:spPr>
          <a:xfrm flipV="1">
            <a:off x="11801771" y="2111979"/>
            <a:ext cx="332222" cy="332222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5" name="adaptive-masses-0524"/>
          <p:cNvCxnSpPr/>
          <p:nvPr/>
        </p:nvCxnSpPr>
        <p:spPr>
          <a:xfrm flipV="1">
            <a:off x="11880872" y="2127799"/>
            <a:ext cx="316401" cy="316402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6" name="adaptive-masses-0525"/>
          <p:cNvCxnSpPr/>
          <p:nvPr/>
        </p:nvCxnSpPr>
        <p:spPr>
          <a:xfrm flipV="1">
            <a:off x="11959972" y="2206900"/>
            <a:ext cx="237301" cy="237301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7" name="adaptive-masses-0526"/>
          <p:cNvCxnSpPr/>
          <p:nvPr/>
        </p:nvCxnSpPr>
        <p:spPr>
          <a:xfrm flipV="1">
            <a:off x="12039072" y="2286000"/>
            <a:ext cx="158201" cy="158201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8" name="adaptive-masses-0527"/>
          <p:cNvCxnSpPr/>
          <p:nvPr/>
        </p:nvCxnSpPr>
        <p:spPr>
          <a:xfrm flipV="1">
            <a:off x="12118173" y="2365100"/>
            <a:ext cx="79100" cy="79101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9" name="adaptive-masses-0528"/>
          <p:cNvSpPr/>
          <p:nvPr/>
        </p:nvSpPr>
        <p:spPr>
          <a:xfrm>
            <a:off x="10860477" y="2752692"/>
            <a:ext cx="522062" cy="332221"/>
          </a:xfrm>
          <a:prstGeom prst="rect">
            <a:avLst/>
          </a:prstGeom>
          <a:solidFill>
            <a:srgbClr val="B9D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" name="adaptive-masses-0529"/>
          <p:cNvSpPr/>
          <p:nvPr/>
        </p:nvSpPr>
        <p:spPr>
          <a:xfrm>
            <a:off x="10820927" y="2705232"/>
            <a:ext cx="522062" cy="332221"/>
          </a:xfrm>
          <a:prstGeom prst="rect">
            <a:avLst/>
          </a:prstGeom>
          <a:solidFill>
            <a:srgbClr val="FEFAEE"/>
          </a:solidFill>
          <a:ln w="17402">
            <a:solidFill>
              <a:srgbClr val="5D8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" name="adaptive-masses-0530"/>
          <p:cNvSpPr txBox="1"/>
          <p:nvPr/>
        </p:nvSpPr>
        <p:spPr>
          <a:xfrm>
            <a:off x="10860477" y="2713142"/>
            <a:ext cx="142381" cy="31640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>
                <a:solidFill>
                  <a:srgbClr val="000000"/>
                </a:solidFill>
                <a:latin typeface="Liberation Sans"/>
              </a:rPr>
              <a:t>M</a:t>
            </a:r>
          </a:p>
        </p:txBody>
      </p:sp>
      <p:sp>
        <p:nvSpPr>
          <p:cNvPr id="532" name="adaptive-masses-0531"/>
          <p:cNvSpPr txBox="1"/>
          <p:nvPr/>
        </p:nvSpPr>
        <p:spPr>
          <a:xfrm>
            <a:off x="10979128" y="2768512"/>
            <a:ext cx="197751" cy="25312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>
                <a:solidFill>
                  <a:srgbClr val="000000"/>
                </a:solidFill>
                <a:latin typeface="Liberation Sans"/>
              </a:rPr>
              <a:t>n−1</a:t>
            </a:r>
          </a:p>
        </p:txBody>
      </p:sp>
      <p:sp>
        <p:nvSpPr>
          <p:cNvPr id="533" name="adaptive-masses-0532"/>
          <p:cNvSpPr txBox="1"/>
          <p:nvPr/>
        </p:nvSpPr>
        <p:spPr>
          <a:xfrm>
            <a:off x="11145239" y="2713142"/>
            <a:ext cx="181931" cy="31640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Liberation Sans"/>
              </a:rPr>
              <a:t>(A)</a:t>
            </a:r>
          </a:p>
        </p:txBody>
      </p:sp>
      <p:sp>
        <p:nvSpPr>
          <p:cNvPr id="534" name="adaptive-masses-0533"/>
          <p:cNvSpPr/>
          <p:nvPr/>
        </p:nvSpPr>
        <p:spPr>
          <a:xfrm>
            <a:off x="11422090" y="2792242"/>
            <a:ext cx="158201" cy="158201"/>
          </a:xfrm>
          <a:prstGeom prst="ellipse">
            <a:avLst/>
          </a:prstGeom>
          <a:solidFill>
            <a:srgbClr val="FEFAEE"/>
          </a:solidFill>
          <a:ln w="1186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5" name="adaptive-masses-0534"/>
          <p:cNvCxnSpPr/>
          <p:nvPr/>
        </p:nvCxnSpPr>
        <p:spPr>
          <a:xfrm>
            <a:off x="11449775" y="2871343"/>
            <a:ext cx="102830" cy="0"/>
          </a:xfrm>
          <a:prstGeom prst="line">
            <a:avLst/>
          </a:prstGeom>
          <a:ln w="1107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6" name="adaptive-masses-0535"/>
          <p:cNvCxnSpPr/>
          <p:nvPr/>
        </p:nvCxnSpPr>
        <p:spPr>
          <a:xfrm>
            <a:off x="11501190" y="2819927"/>
            <a:ext cx="0" cy="102831"/>
          </a:xfrm>
          <a:prstGeom prst="line">
            <a:avLst/>
          </a:prstGeom>
          <a:ln w="1107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7" name="adaptive-masses-0536"/>
          <p:cNvSpPr/>
          <p:nvPr/>
        </p:nvSpPr>
        <p:spPr>
          <a:xfrm>
            <a:off x="11691031" y="2744782"/>
            <a:ext cx="537882" cy="332221"/>
          </a:xfrm>
          <a:prstGeom prst="rect">
            <a:avLst/>
          </a:prstGeom>
          <a:solidFill>
            <a:srgbClr val="B9D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" name="adaptive-masses-0537"/>
          <p:cNvSpPr/>
          <p:nvPr/>
        </p:nvSpPr>
        <p:spPr>
          <a:xfrm>
            <a:off x="11659391" y="2705232"/>
            <a:ext cx="537882" cy="332221"/>
          </a:xfrm>
          <a:prstGeom prst="rect">
            <a:avLst/>
          </a:prstGeom>
          <a:solidFill>
            <a:srgbClr val="FFFFFF"/>
          </a:solidFill>
          <a:ln w="18193">
            <a:solidFill>
              <a:srgbClr val="5D8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9" name="adaptive-masses-0538"/>
          <p:cNvCxnSpPr/>
          <p:nvPr/>
        </p:nvCxnSpPr>
        <p:spPr>
          <a:xfrm flipV="1">
            <a:off x="11659391" y="2705232"/>
            <a:ext cx="79100" cy="79100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0" name="adaptive-masses-0539"/>
          <p:cNvCxnSpPr/>
          <p:nvPr/>
        </p:nvCxnSpPr>
        <p:spPr>
          <a:xfrm flipV="1">
            <a:off x="11659391" y="2705232"/>
            <a:ext cx="158200" cy="158201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1" name="adaptive-masses-0540"/>
          <p:cNvCxnSpPr/>
          <p:nvPr/>
        </p:nvCxnSpPr>
        <p:spPr>
          <a:xfrm flipV="1">
            <a:off x="11659391" y="2705232"/>
            <a:ext cx="237301" cy="237301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2" name="adaptive-masses-0541"/>
          <p:cNvCxnSpPr/>
          <p:nvPr/>
        </p:nvCxnSpPr>
        <p:spPr>
          <a:xfrm flipV="1">
            <a:off x="11659391" y="2705232"/>
            <a:ext cx="316401" cy="316401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3" name="adaptive-masses-0542"/>
          <p:cNvCxnSpPr/>
          <p:nvPr/>
        </p:nvCxnSpPr>
        <p:spPr>
          <a:xfrm flipV="1">
            <a:off x="11722671" y="2705232"/>
            <a:ext cx="332221" cy="332221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4" name="adaptive-masses-0543"/>
          <p:cNvCxnSpPr/>
          <p:nvPr/>
        </p:nvCxnSpPr>
        <p:spPr>
          <a:xfrm flipV="1">
            <a:off x="11801771" y="2705232"/>
            <a:ext cx="332222" cy="332221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5" name="adaptive-masses-0544"/>
          <p:cNvCxnSpPr/>
          <p:nvPr/>
        </p:nvCxnSpPr>
        <p:spPr>
          <a:xfrm flipV="1">
            <a:off x="11880872" y="2721052"/>
            <a:ext cx="316401" cy="316401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6" name="adaptive-masses-0545"/>
          <p:cNvCxnSpPr/>
          <p:nvPr/>
        </p:nvCxnSpPr>
        <p:spPr>
          <a:xfrm flipV="1">
            <a:off x="11959972" y="2800152"/>
            <a:ext cx="237301" cy="237301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7" name="adaptive-masses-0546"/>
          <p:cNvCxnSpPr/>
          <p:nvPr/>
        </p:nvCxnSpPr>
        <p:spPr>
          <a:xfrm flipV="1">
            <a:off x="12039072" y="2879253"/>
            <a:ext cx="158201" cy="158200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8" name="adaptive-masses-0547"/>
          <p:cNvCxnSpPr/>
          <p:nvPr/>
        </p:nvCxnSpPr>
        <p:spPr>
          <a:xfrm flipV="1">
            <a:off x="12118173" y="2958353"/>
            <a:ext cx="79100" cy="79100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9" name="adaptive-masses-0548"/>
          <p:cNvSpPr/>
          <p:nvPr/>
        </p:nvSpPr>
        <p:spPr>
          <a:xfrm>
            <a:off x="10860477" y="3187744"/>
            <a:ext cx="522062" cy="332221"/>
          </a:xfrm>
          <a:prstGeom prst="rect">
            <a:avLst/>
          </a:prstGeom>
          <a:solidFill>
            <a:srgbClr val="B9D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" name="adaptive-masses-0549"/>
          <p:cNvSpPr/>
          <p:nvPr/>
        </p:nvSpPr>
        <p:spPr>
          <a:xfrm>
            <a:off x="10820927" y="3140284"/>
            <a:ext cx="522062" cy="332221"/>
          </a:xfrm>
          <a:prstGeom prst="rect">
            <a:avLst/>
          </a:prstGeom>
          <a:solidFill>
            <a:srgbClr val="FEFAEE"/>
          </a:solidFill>
          <a:ln w="17402">
            <a:solidFill>
              <a:srgbClr val="5D8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" name="adaptive-masses-0550"/>
          <p:cNvSpPr txBox="1"/>
          <p:nvPr/>
        </p:nvSpPr>
        <p:spPr>
          <a:xfrm>
            <a:off x="10860477" y="3148194"/>
            <a:ext cx="142381" cy="31640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>
                <a:solidFill>
                  <a:srgbClr val="000000"/>
                </a:solidFill>
                <a:latin typeface="Liberation Sans"/>
              </a:rPr>
              <a:t>M</a:t>
            </a:r>
          </a:p>
        </p:txBody>
      </p:sp>
      <p:sp>
        <p:nvSpPr>
          <p:cNvPr id="552" name="adaptive-masses-0551"/>
          <p:cNvSpPr txBox="1"/>
          <p:nvPr/>
        </p:nvSpPr>
        <p:spPr>
          <a:xfrm>
            <a:off x="10987038" y="3203564"/>
            <a:ext cx="94920" cy="25312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>
                <a:solidFill>
                  <a:srgbClr val="000000"/>
                </a:solidFill>
                <a:latin typeface="Liberation Sans"/>
              </a:rPr>
              <a:t>n</a:t>
            </a:r>
          </a:p>
        </p:txBody>
      </p:sp>
      <p:sp>
        <p:nvSpPr>
          <p:cNvPr id="553" name="adaptive-masses-0552"/>
          <p:cNvSpPr txBox="1"/>
          <p:nvPr/>
        </p:nvSpPr>
        <p:spPr>
          <a:xfrm>
            <a:off x="11050318" y="3148194"/>
            <a:ext cx="268941" cy="31640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>
                <a:solidFill>
                  <a:srgbClr val="000000"/>
                </a:solidFill>
                <a:latin typeface="Liberation Sans"/>
              </a:rPr>
              <a:t>(A)</a:t>
            </a:r>
          </a:p>
        </p:txBody>
      </p:sp>
      <p:sp>
        <p:nvSpPr>
          <p:cNvPr id="554" name="adaptive-masses-0553"/>
          <p:cNvSpPr/>
          <p:nvPr/>
        </p:nvSpPr>
        <p:spPr>
          <a:xfrm>
            <a:off x="11422090" y="3227294"/>
            <a:ext cx="158201" cy="158201"/>
          </a:xfrm>
          <a:prstGeom prst="ellipse">
            <a:avLst/>
          </a:prstGeom>
          <a:solidFill>
            <a:srgbClr val="FEFAEE"/>
          </a:solidFill>
          <a:ln w="1186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5" name="adaptive-masses-0554"/>
          <p:cNvCxnSpPr/>
          <p:nvPr/>
        </p:nvCxnSpPr>
        <p:spPr>
          <a:xfrm>
            <a:off x="11449775" y="3306394"/>
            <a:ext cx="102830" cy="0"/>
          </a:xfrm>
          <a:prstGeom prst="line">
            <a:avLst/>
          </a:prstGeom>
          <a:ln w="1107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6" name="adaptive-masses-0555"/>
          <p:cNvCxnSpPr/>
          <p:nvPr/>
        </p:nvCxnSpPr>
        <p:spPr>
          <a:xfrm>
            <a:off x="11501190" y="3254979"/>
            <a:ext cx="0" cy="102831"/>
          </a:xfrm>
          <a:prstGeom prst="line">
            <a:avLst/>
          </a:prstGeom>
          <a:ln w="1107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7" name="adaptive-masses-0556"/>
          <p:cNvSpPr/>
          <p:nvPr/>
        </p:nvSpPr>
        <p:spPr>
          <a:xfrm>
            <a:off x="11691031" y="3179834"/>
            <a:ext cx="537882" cy="332221"/>
          </a:xfrm>
          <a:prstGeom prst="rect">
            <a:avLst/>
          </a:prstGeom>
          <a:solidFill>
            <a:srgbClr val="B9D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" name="adaptive-masses-0557"/>
          <p:cNvSpPr/>
          <p:nvPr/>
        </p:nvSpPr>
        <p:spPr>
          <a:xfrm>
            <a:off x="11659391" y="3140284"/>
            <a:ext cx="537882" cy="332221"/>
          </a:xfrm>
          <a:prstGeom prst="rect">
            <a:avLst/>
          </a:prstGeom>
          <a:solidFill>
            <a:srgbClr val="FFFFFF"/>
          </a:solidFill>
          <a:ln w="18193">
            <a:solidFill>
              <a:srgbClr val="5D8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9" name="adaptive-masses-0558"/>
          <p:cNvCxnSpPr/>
          <p:nvPr/>
        </p:nvCxnSpPr>
        <p:spPr>
          <a:xfrm flipV="1">
            <a:off x="11659391" y="3140284"/>
            <a:ext cx="79100" cy="79100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0" name="adaptive-masses-0559"/>
          <p:cNvCxnSpPr/>
          <p:nvPr/>
        </p:nvCxnSpPr>
        <p:spPr>
          <a:xfrm flipV="1">
            <a:off x="11659391" y="3140284"/>
            <a:ext cx="158200" cy="158200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1" name="adaptive-masses-0560"/>
          <p:cNvCxnSpPr/>
          <p:nvPr/>
        </p:nvCxnSpPr>
        <p:spPr>
          <a:xfrm flipV="1">
            <a:off x="11659391" y="3140284"/>
            <a:ext cx="237301" cy="237301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2" name="adaptive-masses-0561"/>
          <p:cNvCxnSpPr/>
          <p:nvPr/>
        </p:nvCxnSpPr>
        <p:spPr>
          <a:xfrm flipV="1">
            <a:off x="11659391" y="3140284"/>
            <a:ext cx="316401" cy="316401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3" name="adaptive-masses-0562"/>
          <p:cNvCxnSpPr/>
          <p:nvPr/>
        </p:nvCxnSpPr>
        <p:spPr>
          <a:xfrm flipV="1">
            <a:off x="11722671" y="3140284"/>
            <a:ext cx="332221" cy="332221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4" name="adaptive-masses-0563"/>
          <p:cNvCxnSpPr/>
          <p:nvPr/>
        </p:nvCxnSpPr>
        <p:spPr>
          <a:xfrm flipV="1">
            <a:off x="11801771" y="3140284"/>
            <a:ext cx="332222" cy="332221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5" name="adaptive-masses-0564"/>
          <p:cNvCxnSpPr/>
          <p:nvPr/>
        </p:nvCxnSpPr>
        <p:spPr>
          <a:xfrm flipV="1">
            <a:off x="11880872" y="3156104"/>
            <a:ext cx="316401" cy="316401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adaptive-masses-0565"/>
          <p:cNvCxnSpPr/>
          <p:nvPr/>
        </p:nvCxnSpPr>
        <p:spPr>
          <a:xfrm flipV="1">
            <a:off x="11959972" y="3235204"/>
            <a:ext cx="237301" cy="237301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7" name="adaptive-masses-0566"/>
          <p:cNvCxnSpPr/>
          <p:nvPr/>
        </p:nvCxnSpPr>
        <p:spPr>
          <a:xfrm flipV="1">
            <a:off x="12039072" y="3314304"/>
            <a:ext cx="158201" cy="158201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8" name="adaptive-masses-0567"/>
          <p:cNvCxnSpPr/>
          <p:nvPr/>
        </p:nvCxnSpPr>
        <p:spPr>
          <a:xfrm flipV="1">
            <a:off x="12118173" y="3393405"/>
            <a:ext cx="79100" cy="79100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9" name="adaptive-masses-0568"/>
          <p:cNvSpPr txBox="1"/>
          <p:nvPr/>
        </p:nvSpPr>
        <p:spPr>
          <a:xfrm>
            <a:off x="10994948" y="2373010"/>
            <a:ext cx="221481" cy="26894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1557" b="1">
                <a:solidFill>
                  <a:srgbClr val="000000"/>
                </a:solidFill>
                <a:latin typeface="Liberation Serif"/>
              </a:rPr>
              <a:t>⋮</a:t>
            </a:r>
          </a:p>
        </p:txBody>
      </p:sp>
      <p:sp>
        <p:nvSpPr>
          <p:cNvPr id="570" name="adaptive-masses-0569"/>
          <p:cNvSpPr txBox="1"/>
          <p:nvPr/>
        </p:nvSpPr>
        <p:spPr>
          <a:xfrm>
            <a:off x="11509100" y="2373010"/>
            <a:ext cx="221481" cy="26894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1557" b="1">
                <a:solidFill>
                  <a:srgbClr val="000000"/>
                </a:solidFill>
                <a:latin typeface="Liberation Serif"/>
              </a:rPr>
              <a:t>⋮</a:t>
            </a:r>
          </a:p>
        </p:txBody>
      </p:sp>
      <p:sp>
        <p:nvSpPr>
          <p:cNvPr id="571" name="adaptive-outcomes-0570"/>
          <p:cNvSpPr/>
          <p:nvPr/>
        </p:nvSpPr>
        <p:spPr>
          <a:xfrm>
            <a:off x="12466214" y="711903"/>
            <a:ext cx="1123225" cy="2768512"/>
          </a:xfrm>
          <a:prstGeom prst="rect">
            <a:avLst/>
          </a:prstGeom>
          <a:noFill/>
          <a:ln w="22148">
            <a:solidFill>
              <a:srgbClr val="6CB446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2" name="adaptive-outcomes-0571"/>
          <p:cNvSpPr/>
          <p:nvPr/>
        </p:nvSpPr>
        <p:spPr>
          <a:xfrm>
            <a:off x="12663965" y="806824"/>
            <a:ext cx="759363" cy="601163"/>
          </a:xfrm>
          <a:prstGeom prst="roundRect">
            <a:avLst>
              <a:gd name="adj" fmla="val 7894"/>
            </a:avLst>
          </a:prstGeom>
          <a:solidFill>
            <a:srgbClr val="B9D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" name="adaptive-outcomes-0572"/>
          <p:cNvSpPr/>
          <p:nvPr/>
        </p:nvSpPr>
        <p:spPr>
          <a:xfrm>
            <a:off x="12632325" y="767273"/>
            <a:ext cx="759363" cy="601163"/>
          </a:xfrm>
          <a:prstGeom prst="roundRect">
            <a:avLst>
              <a:gd name="adj" fmla="val 7894"/>
            </a:avLst>
          </a:prstGeom>
          <a:solidFill>
            <a:srgbClr val="DDEBF4"/>
          </a:solidFill>
          <a:ln w="11865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" name="adaptive-outcomes-0573"/>
          <p:cNvSpPr/>
          <p:nvPr/>
        </p:nvSpPr>
        <p:spPr>
          <a:xfrm>
            <a:off x="12703515" y="1146955"/>
            <a:ext cx="110740" cy="166111"/>
          </a:xfrm>
          <a:prstGeom prst="rect">
            <a:avLst/>
          </a:prstGeom>
          <a:solidFill>
            <a:srgbClr val="E1EEDA"/>
          </a:solidFill>
          <a:ln w="11074">
            <a:solidFill>
              <a:srgbClr val="AED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" name="adaptive-outcomes-0574"/>
          <p:cNvSpPr/>
          <p:nvPr/>
        </p:nvSpPr>
        <p:spPr>
          <a:xfrm>
            <a:off x="12830076" y="1059945"/>
            <a:ext cx="110740" cy="253121"/>
          </a:xfrm>
          <a:prstGeom prst="rect">
            <a:avLst/>
          </a:prstGeom>
          <a:solidFill>
            <a:srgbClr val="E1EEDA"/>
          </a:solidFill>
          <a:ln w="11074">
            <a:solidFill>
              <a:srgbClr val="AED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" name="adaptive-outcomes-0575"/>
          <p:cNvSpPr/>
          <p:nvPr/>
        </p:nvSpPr>
        <p:spPr>
          <a:xfrm>
            <a:off x="12956636" y="775183"/>
            <a:ext cx="110740" cy="537882"/>
          </a:xfrm>
          <a:prstGeom prst="rect">
            <a:avLst/>
          </a:prstGeom>
          <a:solidFill>
            <a:srgbClr val="E1EEDA"/>
          </a:solidFill>
          <a:ln w="11074">
            <a:solidFill>
              <a:srgbClr val="AED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" name="adaptive-outcomes-0576"/>
          <p:cNvSpPr/>
          <p:nvPr/>
        </p:nvSpPr>
        <p:spPr>
          <a:xfrm>
            <a:off x="13083197" y="1091585"/>
            <a:ext cx="110740" cy="221481"/>
          </a:xfrm>
          <a:prstGeom prst="rect">
            <a:avLst/>
          </a:prstGeom>
          <a:solidFill>
            <a:srgbClr val="E1EEDA"/>
          </a:solidFill>
          <a:ln w="11074">
            <a:solidFill>
              <a:srgbClr val="AED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8" name="adaptive-outcomes-0577"/>
          <p:cNvSpPr/>
          <p:nvPr/>
        </p:nvSpPr>
        <p:spPr>
          <a:xfrm>
            <a:off x="13209758" y="1178595"/>
            <a:ext cx="110740" cy="134471"/>
          </a:xfrm>
          <a:prstGeom prst="rect">
            <a:avLst/>
          </a:prstGeom>
          <a:solidFill>
            <a:srgbClr val="E1EEDA"/>
          </a:solidFill>
          <a:ln w="11074">
            <a:solidFill>
              <a:srgbClr val="AED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" name="adaptive-outcomes-0578"/>
          <p:cNvSpPr/>
          <p:nvPr/>
        </p:nvSpPr>
        <p:spPr>
          <a:xfrm>
            <a:off x="12663965" y="1479176"/>
            <a:ext cx="759363" cy="601163"/>
          </a:xfrm>
          <a:prstGeom prst="roundRect">
            <a:avLst>
              <a:gd name="adj" fmla="val 7894"/>
            </a:avLst>
          </a:prstGeom>
          <a:solidFill>
            <a:srgbClr val="B9D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" name="adaptive-outcomes-0579"/>
          <p:cNvSpPr/>
          <p:nvPr/>
        </p:nvSpPr>
        <p:spPr>
          <a:xfrm>
            <a:off x="12632325" y="1439626"/>
            <a:ext cx="759363" cy="601163"/>
          </a:xfrm>
          <a:prstGeom prst="roundRect">
            <a:avLst>
              <a:gd name="adj" fmla="val 7894"/>
            </a:avLst>
          </a:prstGeom>
          <a:solidFill>
            <a:srgbClr val="DDEBF4"/>
          </a:solidFill>
          <a:ln w="11865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" name="adaptive-outcomes-0580"/>
          <p:cNvSpPr/>
          <p:nvPr/>
        </p:nvSpPr>
        <p:spPr>
          <a:xfrm>
            <a:off x="12703515" y="1716478"/>
            <a:ext cx="110740" cy="268941"/>
          </a:xfrm>
          <a:prstGeom prst="rect">
            <a:avLst/>
          </a:prstGeom>
          <a:solidFill>
            <a:srgbClr val="E1EEDA"/>
          </a:solidFill>
          <a:ln w="11074">
            <a:solidFill>
              <a:srgbClr val="AED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" name="adaptive-outcomes-0581"/>
          <p:cNvSpPr/>
          <p:nvPr/>
        </p:nvSpPr>
        <p:spPr>
          <a:xfrm>
            <a:off x="12830076" y="1502907"/>
            <a:ext cx="110740" cy="482512"/>
          </a:xfrm>
          <a:prstGeom prst="rect">
            <a:avLst/>
          </a:prstGeom>
          <a:solidFill>
            <a:srgbClr val="E1EEDA"/>
          </a:solidFill>
          <a:ln w="11074">
            <a:solidFill>
              <a:srgbClr val="AED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" name="adaptive-outcomes-0582"/>
          <p:cNvSpPr/>
          <p:nvPr/>
        </p:nvSpPr>
        <p:spPr>
          <a:xfrm>
            <a:off x="12956636" y="1740208"/>
            <a:ext cx="110740" cy="245211"/>
          </a:xfrm>
          <a:prstGeom prst="rect">
            <a:avLst/>
          </a:prstGeom>
          <a:solidFill>
            <a:srgbClr val="E1EEDA"/>
          </a:solidFill>
          <a:ln w="11074">
            <a:solidFill>
              <a:srgbClr val="AED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" name="adaptive-outcomes-0583"/>
          <p:cNvSpPr/>
          <p:nvPr/>
        </p:nvSpPr>
        <p:spPr>
          <a:xfrm>
            <a:off x="13083197" y="1763938"/>
            <a:ext cx="110740" cy="221481"/>
          </a:xfrm>
          <a:prstGeom prst="rect">
            <a:avLst/>
          </a:prstGeom>
          <a:solidFill>
            <a:srgbClr val="E1EEDA"/>
          </a:solidFill>
          <a:ln w="11074">
            <a:solidFill>
              <a:srgbClr val="AED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" name="adaptive-outcomes-0584"/>
          <p:cNvSpPr/>
          <p:nvPr/>
        </p:nvSpPr>
        <p:spPr>
          <a:xfrm>
            <a:off x="13209758" y="1819308"/>
            <a:ext cx="110740" cy="166111"/>
          </a:xfrm>
          <a:prstGeom prst="rect">
            <a:avLst/>
          </a:prstGeom>
          <a:solidFill>
            <a:srgbClr val="E1EEDA"/>
          </a:solidFill>
          <a:ln w="11074">
            <a:solidFill>
              <a:srgbClr val="AED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adaptive-outcomes-0585"/>
          <p:cNvSpPr/>
          <p:nvPr/>
        </p:nvSpPr>
        <p:spPr>
          <a:xfrm>
            <a:off x="12663965" y="2159439"/>
            <a:ext cx="759363" cy="601163"/>
          </a:xfrm>
          <a:prstGeom prst="roundRect">
            <a:avLst>
              <a:gd name="adj" fmla="val 7894"/>
            </a:avLst>
          </a:prstGeom>
          <a:solidFill>
            <a:srgbClr val="B9D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" name="adaptive-outcomes-0586"/>
          <p:cNvSpPr/>
          <p:nvPr/>
        </p:nvSpPr>
        <p:spPr>
          <a:xfrm>
            <a:off x="12632325" y="2119889"/>
            <a:ext cx="759363" cy="601163"/>
          </a:xfrm>
          <a:prstGeom prst="roundRect">
            <a:avLst>
              <a:gd name="adj" fmla="val 7894"/>
            </a:avLst>
          </a:prstGeom>
          <a:solidFill>
            <a:srgbClr val="DDEBF4"/>
          </a:solidFill>
          <a:ln w="11865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adaptive-outcomes-0587"/>
          <p:cNvSpPr/>
          <p:nvPr/>
        </p:nvSpPr>
        <p:spPr>
          <a:xfrm>
            <a:off x="12703515" y="2388830"/>
            <a:ext cx="110740" cy="276851"/>
          </a:xfrm>
          <a:prstGeom prst="rect">
            <a:avLst/>
          </a:prstGeom>
          <a:solidFill>
            <a:srgbClr val="E1EEDA"/>
          </a:solidFill>
          <a:ln w="11074">
            <a:solidFill>
              <a:srgbClr val="AED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" name="adaptive-outcomes-0588"/>
          <p:cNvSpPr/>
          <p:nvPr/>
        </p:nvSpPr>
        <p:spPr>
          <a:xfrm>
            <a:off x="12830076" y="2325550"/>
            <a:ext cx="110740" cy="340131"/>
          </a:xfrm>
          <a:prstGeom prst="rect">
            <a:avLst/>
          </a:prstGeom>
          <a:solidFill>
            <a:srgbClr val="E1EEDA"/>
          </a:solidFill>
          <a:ln w="11074">
            <a:solidFill>
              <a:srgbClr val="AED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" name="adaptive-outcomes-0589"/>
          <p:cNvSpPr/>
          <p:nvPr/>
        </p:nvSpPr>
        <p:spPr>
          <a:xfrm>
            <a:off x="12956636" y="2270180"/>
            <a:ext cx="110740" cy="395502"/>
          </a:xfrm>
          <a:prstGeom prst="rect">
            <a:avLst/>
          </a:prstGeom>
          <a:solidFill>
            <a:srgbClr val="E1EEDA"/>
          </a:solidFill>
          <a:ln w="11074">
            <a:solidFill>
              <a:srgbClr val="AED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" name="adaptive-outcomes-0590"/>
          <p:cNvSpPr/>
          <p:nvPr/>
        </p:nvSpPr>
        <p:spPr>
          <a:xfrm>
            <a:off x="13083197" y="2365100"/>
            <a:ext cx="110740" cy="300581"/>
          </a:xfrm>
          <a:prstGeom prst="rect">
            <a:avLst/>
          </a:prstGeom>
          <a:solidFill>
            <a:srgbClr val="E1EEDA"/>
          </a:solidFill>
          <a:ln w="11074">
            <a:solidFill>
              <a:srgbClr val="AED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" name="adaptive-outcomes-0591"/>
          <p:cNvSpPr/>
          <p:nvPr/>
        </p:nvSpPr>
        <p:spPr>
          <a:xfrm>
            <a:off x="13209758" y="2483751"/>
            <a:ext cx="110740" cy="181931"/>
          </a:xfrm>
          <a:prstGeom prst="rect">
            <a:avLst/>
          </a:prstGeom>
          <a:solidFill>
            <a:srgbClr val="E1EEDA"/>
          </a:solidFill>
          <a:ln w="11074">
            <a:solidFill>
              <a:srgbClr val="AED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" name="adaptive-outcomes-0592"/>
          <p:cNvSpPr/>
          <p:nvPr/>
        </p:nvSpPr>
        <p:spPr>
          <a:xfrm>
            <a:off x="12663965" y="2831792"/>
            <a:ext cx="759363" cy="601163"/>
          </a:xfrm>
          <a:prstGeom prst="roundRect">
            <a:avLst>
              <a:gd name="adj" fmla="val 7894"/>
            </a:avLst>
          </a:prstGeom>
          <a:solidFill>
            <a:srgbClr val="B9D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" name="adaptive-outcomes-0593"/>
          <p:cNvSpPr/>
          <p:nvPr/>
        </p:nvSpPr>
        <p:spPr>
          <a:xfrm>
            <a:off x="12632325" y="2792242"/>
            <a:ext cx="759363" cy="601163"/>
          </a:xfrm>
          <a:prstGeom prst="roundRect">
            <a:avLst>
              <a:gd name="adj" fmla="val 7894"/>
            </a:avLst>
          </a:prstGeom>
          <a:solidFill>
            <a:srgbClr val="DDEBF4"/>
          </a:solidFill>
          <a:ln w="11865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" name="adaptive-outcomes-0594"/>
          <p:cNvSpPr/>
          <p:nvPr/>
        </p:nvSpPr>
        <p:spPr>
          <a:xfrm>
            <a:off x="12703515" y="2895073"/>
            <a:ext cx="110740" cy="442962"/>
          </a:xfrm>
          <a:prstGeom prst="rect">
            <a:avLst/>
          </a:prstGeom>
          <a:solidFill>
            <a:srgbClr val="E1EEDA"/>
          </a:solidFill>
          <a:ln w="11074">
            <a:solidFill>
              <a:srgbClr val="AED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" name="adaptive-outcomes-0595"/>
          <p:cNvSpPr/>
          <p:nvPr/>
        </p:nvSpPr>
        <p:spPr>
          <a:xfrm>
            <a:off x="12830076" y="2895073"/>
            <a:ext cx="110740" cy="442962"/>
          </a:xfrm>
          <a:prstGeom prst="rect">
            <a:avLst/>
          </a:prstGeom>
          <a:solidFill>
            <a:srgbClr val="E1EEDA"/>
          </a:solidFill>
          <a:ln w="11074">
            <a:solidFill>
              <a:srgbClr val="AED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adaptive-outcomes-0596"/>
          <p:cNvSpPr/>
          <p:nvPr/>
        </p:nvSpPr>
        <p:spPr>
          <a:xfrm>
            <a:off x="12956636" y="2895073"/>
            <a:ext cx="110740" cy="442962"/>
          </a:xfrm>
          <a:prstGeom prst="rect">
            <a:avLst/>
          </a:prstGeom>
          <a:solidFill>
            <a:srgbClr val="E1EEDA"/>
          </a:solidFill>
          <a:ln w="11074">
            <a:solidFill>
              <a:srgbClr val="AED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" name="adaptive-outcomes-0597"/>
          <p:cNvSpPr/>
          <p:nvPr/>
        </p:nvSpPr>
        <p:spPr>
          <a:xfrm>
            <a:off x="13083197" y="2895073"/>
            <a:ext cx="110740" cy="442962"/>
          </a:xfrm>
          <a:prstGeom prst="rect">
            <a:avLst/>
          </a:prstGeom>
          <a:solidFill>
            <a:srgbClr val="E1EEDA"/>
          </a:solidFill>
          <a:ln w="11074">
            <a:solidFill>
              <a:srgbClr val="AED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" name="adaptive-outcomes-0598"/>
          <p:cNvSpPr/>
          <p:nvPr/>
        </p:nvSpPr>
        <p:spPr>
          <a:xfrm>
            <a:off x="13209758" y="2895073"/>
            <a:ext cx="110740" cy="442962"/>
          </a:xfrm>
          <a:prstGeom prst="rect">
            <a:avLst/>
          </a:prstGeom>
          <a:solidFill>
            <a:srgbClr val="E1EEDA"/>
          </a:solidFill>
          <a:ln w="11074">
            <a:solidFill>
              <a:srgbClr val="AED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" name="adaptive-caption-0599"/>
          <p:cNvSpPr txBox="1"/>
          <p:nvPr/>
        </p:nvSpPr>
        <p:spPr>
          <a:xfrm>
            <a:off x="9571142" y="3504145"/>
            <a:ext cx="2847612" cy="34013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1806" b="1">
                <a:solidFill>
                  <a:srgbClr val="000000"/>
                </a:solidFill>
                <a:latin typeface="Liberation Serif"/>
              </a:rPr>
              <a:t>Adaptive transformation</a:t>
            </a:r>
          </a:p>
        </p:txBody>
      </p:sp>
      <p:sp>
        <p:nvSpPr>
          <p:cNvPr id="601" name="hodmmd-input-0600"/>
          <p:cNvSpPr/>
          <p:nvPr/>
        </p:nvSpPr>
        <p:spPr>
          <a:xfrm>
            <a:off x="545792" y="4548270"/>
            <a:ext cx="5442104" cy="601163"/>
          </a:xfrm>
          <a:prstGeom prst="rect">
            <a:avLst/>
          </a:prstGeom>
          <a:noFill/>
          <a:ln w="1582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" name="hodmmd-input-0601"/>
          <p:cNvSpPr/>
          <p:nvPr/>
        </p:nvSpPr>
        <p:spPr>
          <a:xfrm>
            <a:off x="1067855" y="4746021"/>
            <a:ext cx="514152" cy="332221"/>
          </a:xfrm>
          <a:prstGeom prst="rect">
            <a:avLst/>
          </a:prstGeom>
          <a:solidFill>
            <a:srgbClr val="B9D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" name="hodmmd-input-0602"/>
          <p:cNvSpPr/>
          <p:nvPr/>
        </p:nvSpPr>
        <p:spPr>
          <a:xfrm>
            <a:off x="1028304" y="4698561"/>
            <a:ext cx="514152" cy="332221"/>
          </a:xfrm>
          <a:prstGeom prst="rect">
            <a:avLst/>
          </a:prstGeom>
          <a:solidFill>
            <a:srgbClr val="FEFAEE"/>
          </a:solidFill>
          <a:ln w="17402">
            <a:solidFill>
              <a:srgbClr val="5D8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" name="hodmmd-input-0603"/>
          <p:cNvSpPr txBox="1"/>
          <p:nvPr/>
        </p:nvSpPr>
        <p:spPr>
          <a:xfrm>
            <a:off x="1067855" y="4706471"/>
            <a:ext cx="142381" cy="31640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>
                <a:solidFill>
                  <a:srgbClr val="000000"/>
                </a:solidFill>
                <a:latin typeface="Liberation Sans"/>
              </a:rPr>
              <a:t>M</a:t>
            </a:r>
          </a:p>
        </p:txBody>
      </p:sp>
      <p:sp>
        <p:nvSpPr>
          <p:cNvPr id="605" name="hodmmd-input-0604"/>
          <p:cNvSpPr txBox="1"/>
          <p:nvPr/>
        </p:nvSpPr>
        <p:spPr>
          <a:xfrm>
            <a:off x="1194415" y="4761841"/>
            <a:ext cx="94920" cy="25312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>
                <a:solidFill>
                  <a:srgbClr val="000000"/>
                </a:solidFill>
                <a:latin typeface="Liberation Sans"/>
              </a:rPr>
              <a:t>1</a:t>
            </a:r>
          </a:p>
        </p:txBody>
      </p:sp>
      <p:sp>
        <p:nvSpPr>
          <p:cNvPr id="606" name="hodmmd-input-0605"/>
          <p:cNvSpPr txBox="1"/>
          <p:nvPr/>
        </p:nvSpPr>
        <p:spPr>
          <a:xfrm>
            <a:off x="1257695" y="4706471"/>
            <a:ext cx="261031" cy="31640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>
                <a:solidFill>
                  <a:srgbClr val="000000"/>
                </a:solidFill>
                <a:latin typeface="Liberation Sans"/>
              </a:rPr>
              <a:t>(A)</a:t>
            </a:r>
          </a:p>
        </p:txBody>
      </p:sp>
      <p:sp>
        <p:nvSpPr>
          <p:cNvPr id="607" name="hodmmd-input-0606"/>
          <p:cNvSpPr/>
          <p:nvPr/>
        </p:nvSpPr>
        <p:spPr>
          <a:xfrm>
            <a:off x="1621557" y="4785571"/>
            <a:ext cx="158201" cy="158201"/>
          </a:xfrm>
          <a:prstGeom prst="ellipse">
            <a:avLst/>
          </a:prstGeom>
          <a:solidFill>
            <a:srgbClr val="FEFAEE"/>
          </a:solidFill>
          <a:ln w="1186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8" name="hodmmd-input-0607"/>
          <p:cNvCxnSpPr/>
          <p:nvPr/>
        </p:nvCxnSpPr>
        <p:spPr>
          <a:xfrm>
            <a:off x="1649242" y="4864671"/>
            <a:ext cx="102831" cy="0"/>
          </a:xfrm>
          <a:prstGeom prst="line">
            <a:avLst/>
          </a:prstGeom>
          <a:ln w="1107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9" name="hodmmd-input-0608"/>
          <p:cNvCxnSpPr/>
          <p:nvPr/>
        </p:nvCxnSpPr>
        <p:spPr>
          <a:xfrm>
            <a:off x="1700657" y="4813256"/>
            <a:ext cx="0" cy="102831"/>
          </a:xfrm>
          <a:prstGeom prst="line">
            <a:avLst/>
          </a:prstGeom>
          <a:ln w="1107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0" name="hodmmd-input-0609"/>
          <p:cNvSpPr/>
          <p:nvPr/>
        </p:nvSpPr>
        <p:spPr>
          <a:xfrm>
            <a:off x="1890498" y="4738111"/>
            <a:ext cx="537882" cy="332221"/>
          </a:xfrm>
          <a:prstGeom prst="rect">
            <a:avLst/>
          </a:prstGeom>
          <a:solidFill>
            <a:srgbClr val="B9D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" name="hodmmd-input-0610"/>
          <p:cNvSpPr/>
          <p:nvPr/>
        </p:nvSpPr>
        <p:spPr>
          <a:xfrm>
            <a:off x="1858858" y="4698561"/>
            <a:ext cx="537882" cy="332221"/>
          </a:xfrm>
          <a:prstGeom prst="rect">
            <a:avLst/>
          </a:prstGeom>
          <a:solidFill>
            <a:srgbClr val="FFFFFF"/>
          </a:solidFill>
          <a:ln w="18193">
            <a:solidFill>
              <a:srgbClr val="5D8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2" name="hodmmd-input-0611"/>
          <p:cNvCxnSpPr/>
          <p:nvPr/>
        </p:nvCxnSpPr>
        <p:spPr>
          <a:xfrm flipV="1">
            <a:off x="1858858" y="4698561"/>
            <a:ext cx="79100" cy="79100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3" name="hodmmd-input-0612"/>
          <p:cNvCxnSpPr/>
          <p:nvPr/>
        </p:nvCxnSpPr>
        <p:spPr>
          <a:xfrm flipV="1">
            <a:off x="1858858" y="4698561"/>
            <a:ext cx="158201" cy="158200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4" name="hodmmd-input-0613"/>
          <p:cNvCxnSpPr/>
          <p:nvPr/>
        </p:nvCxnSpPr>
        <p:spPr>
          <a:xfrm flipV="1">
            <a:off x="1858858" y="4698561"/>
            <a:ext cx="237301" cy="237301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5" name="hodmmd-input-0614"/>
          <p:cNvCxnSpPr/>
          <p:nvPr/>
        </p:nvCxnSpPr>
        <p:spPr>
          <a:xfrm flipV="1">
            <a:off x="1858858" y="4698561"/>
            <a:ext cx="316401" cy="316401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6" name="hodmmd-input-0615"/>
          <p:cNvCxnSpPr/>
          <p:nvPr/>
        </p:nvCxnSpPr>
        <p:spPr>
          <a:xfrm flipV="1">
            <a:off x="1922138" y="4698561"/>
            <a:ext cx="332222" cy="332221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7" name="hodmmd-input-0616"/>
          <p:cNvCxnSpPr/>
          <p:nvPr/>
        </p:nvCxnSpPr>
        <p:spPr>
          <a:xfrm flipV="1">
            <a:off x="2001239" y="4698561"/>
            <a:ext cx="332221" cy="332221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8" name="hodmmd-input-0617"/>
          <p:cNvCxnSpPr/>
          <p:nvPr/>
        </p:nvCxnSpPr>
        <p:spPr>
          <a:xfrm flipV="1">
            <a:off x="2080339" y="4714381"/>
            <a:ext cx="316401" cy="316401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9" name="hodmmd-input-0618"/>
          <p:cNvCxnSpPr/>
          <p:nvPr/>
        </p:nvCxnSpPr>
        <p:spPr>
          <a:xfrm flipV="1">
            <a:off x="2159439" y="4793481"/>
            <a:ext cx="237301" cy="237301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0" name="hodmmd-input-0619"/>
          <p:cNvCxnSpPr/>
          <p:nvPr/>
        </p:nvCxnSpPr>
        <p:spPr>
          <a:xfrm flipV="1">
            <a:off x="2238540" y="4872581"/>
            <a:ext cx="158200" cy="158201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1" name="hodmmd-input-0620"/>
          <p:cNvCxnSpPr/>
          <p:nvPr/>
        </p:nvCxnSpPr>
        <p:spPr>
          <a:xfrm flipV="1">
            <a:off x="2317640" y="4951682"/>
            <a:ext cx="79100" cy="79100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2" name="hodmmd-input-0621"/>
          <p:cNvSpPr/>
          <p:nvPr/>
        </p:nvSpPr>
        <p:spPr>
          <a:xfrm>
            <a:off x="4152768" y="4746021"/>
            <a:ext cx="514152" cy="332221"/>
          </a:xfrm>
          <a:prstGeom prst="rect">
            <a:avLst/>
          </a:prstGeom>
          <a:solidFill>
            <a:srgbClr val="B9D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" name="hodmmd-input-0622"/>
          <p:cNvSpPr/>
          <p:nvPr/>
        </p:nvSpPr>
        <p:spPr>
          <a:xfrm>
            <a:off x="4113218" y="4698561"/>
            <a:ext cx="514152" cy="332221"/>
          </a:xfrm>
          <a:prstGeom prst="rect">
            <a:avLst/>
          </a:prstGeom>
          <a:solidFill>
            <a:srgbClr val="FEFAEE"/>
          </a:solidFill>
          <a:ln w="17402">
            <a:solidFill>
              <a:srgbClr val="5D8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hodmmd-input-0623"/>
          <p:cNvSpPr txBox="1"/>
          <p:nvPr/>
        </p:nvSpPr>
        <p:spPr>
          <a:xfrm>
            <a:off x="4152768" y="4706471"/>
            <a:ext cx="142381" cy="31640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>
                <a:solidFill>
                  <a:srgbClr val="000000"/>
                </a:solidFill>
                <a:latin typeface="Liberation Sans"/>
              </a:rPr>
              <a:t>M</a:t>
            </a:r>
          </a:p>
        </p:txBody>
      </p:sp>
      <p:sp>
        <p:nvSpPr>
          <p:cNvPr id="625" name="hodmmd-input-0624"/>
          <p:cNvSpPr txBox="1"/>
          <p:nvPr/>
        </p:nvSpPr>
        <p:spPr>
          <a:xfrm>
            <a:off x="4279329" y="4761841"/>
            <a:ext cx="94920" cy="25312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>
                <a:solidFill>
                  <a:srgbClr val="000000"/>
                </a:solidFill>
                <a:latin typeface="Liberation Sans"/>
              </a:rPr>
              <a:t>1</a:t>
            </a:r>
          </a:p>
        </p:txBody>
      </p:sp>
      <p:sp>
        <p:nvSpPr>
          <p:cNvPr id="626" name="hodmmd-input-0625"/>
          <p:cNvSpPr txBox="1"/>
          <p:nvPr/>
        </p:nvSpPr>
        <p:spPr>
          <a:xfrm>
            <a:off x="4342609" y="4706471"/>
            <a:ext cx="261031" cy="31640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>
                <a:solidFill>
                  <a:srgbClr val="000000"/>
                </a:solidFill>
                <a:latin typeface="Liberation Sans"/>
              </a:rPr>
              <a:t>(A)</a:t>
            </a:r>
          </a:p>
        </p:txBody>
      </p:sp>
      <p:sp>
        <p:nvSpPr>
          <p:cNvPr id="627" name="hodmmd-input-0626"/>
          <p:cNvSpPr/>
          <p:nvPr/>
        </p:nvSpPr>
        <p:spPr>
          <a:xfrm>
            <a:off x="4706470" y="4785571"/>
            <a:ext cx="158201" cy="158201"/>
          </a:xfrm>
          <a:prstGeom prst="ellipse">
            <a:avLst/>
          </a:prstGeom>
          <a:solidFill>
            <a:srgbClr val="FEFAEE"/>
          </a:solidFill>
          <a:ln w="1186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28" name="hodmmd-input-0627"/>
          <p:cNvCxnSpPr/>
          <p:nvPr/>
        </p:nvCxnSpPr>
        <p:spPr>
          <a:xfrm>
            <a:off x="4734156" y="4864671"/>
            <a:ext cx="102830" cy="0"/>
          </a:xfrm>
          <a:prstGeom prst="line">
            <a:avLst/>
          </a:prstGeom>
          <a:ln w="1107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9" name="hodmmd-input-0628"/>
          <p:cNvCxnSpPr/>
          <p:nvPr/>
        </p:nvCxnSpPr>
        <p:spPr>
          <a:xfrm>
            <a:off x="4785571" y="4813256"/>
            <a:ext cx="0" cy="102831"/>
          </a:xfrm>
          <a:prstGeom prst="line">
            <a:avLst/>
          </a:prstGeom>
          <a:ln w="1107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0" name="hodmmd-input-0629"/>
          <p:cNvSpPr/>
          <p:nvPr/>
        </p:nvSpPr>
        <p:spPr>
          <a:xfrm>
            <a:off x="4975412" y="4738111"/>
            <a:ext cx="537882" cy="332221"/>
          </a:xfrm>
          <a:prstGeom prst="rect">
            <a:avLst/>
          </a:prstGeom>
          <a:solidFill>
            <a:srgbClr val="B9D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hodmmd-input-0630"/>
          <p:cNvSpPr/>
          <p:nvPr/>
        </p:nvSpPr>
        <p:spPr>
          <a:xfrm>
            <a:off x="4943772" y="4698561"/>
            <a:ext cx="537882" cy="332221"/>
          </a:xfrm>
          <a:prstGeom prst="rect">
            <a:avLst/>
          </a:prstGeom>
          <a:solidFill>
            <a:srgbClr val="FFFFFF"/>
          </a:solidFill>
          <a:ln w="18193">
            <a:solidFill>
              <a:srgbClr val="5D8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2" name="hodmmd-input-0631"/>
          <p:cNvCxnSpPr/>
          <p:nvPr/>
        </p:nvCxnSpPr>
        <p:spPr>
          <a:xfrm flipV="1">
            <a:off x="4943772" y="4698561"/>
            <a:ext cx="79100" cy="79100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3" name="hodmmd-input-0632"/>
          <p:cNvCxnSpPr/>
          <p:nvPr/>
        </p:nvCxnSpPr>
        <p:spPr>
          <a:xfrm flipV="1">
            <a:off x="4943772" y="4698561"/>
            <a:ext cx="158200" cy="158200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4" name="hodmmd-input-0633"/>
          <p:cNvCxnSpPr/>
          <p:nvPr/>
        </p:nvCxnSpPr>
        <p:spPr>
          <a:xfrm flipV="1">
            <a:off x="4943772" y="4698561"/>
            <a:ext cx="237301" cy="237301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5" name="hodmmd-input-0634"/>
          <p:cNvCxnSpPr/>
          <p:nvPr/>
        </p:nvCxnSpPr>
        <p:spPr>
          <a:xfrm flipV="1">
            <a:off x="4943772" y="4698561"/>
            <a:ext cx="316401" cy="316401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6" name="hodmmd-input-0635"/>
          <p:cNvCxnSpPr/>
          <p:nvPr/>
        </p:nvCxnSpPr>
        <p:spPr>
          <a:xfrm flipV="1">
            <a:off x="5007052" y="4698561"/>
            <a:ext cx="332221" cy="332221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7" name="hodmmd-input-0636"/>
          <p:cNvCxnSpPr/>
          <p:nvPr/>
        </p:nvCxnSpPr>
        <p:spPr>
          <a:xfrm flipV="1">
            <a:off x="5086152" y="4698561"/>
            <a:ext cx="332222" cy="332221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8" name="hodmmd-input-0637"/>
          <p:cNvCxnSpPr/>
          <p:nvPr/>
        </p:nvCxnSpPr>
        <p:spPr>
          <a:xfrm flipV="1">
            <a:off x="5165252" y="4714381"/>
            <a:ext cx="316402" cy="316401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9" name="hodmmd-input-0638"/>
          <p:cNvCxnSpPr/>
          <p:nvPr/>
        </p:nvCxnSpPr>
        <p:spPr>
          <a:xfrm flipV="1">
            <a:off x="5244353" y="4793481"/>
            <a:ext cx="237301" cy="237301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0" name="hodmmd-input-0639"/>
          <p:cNvCxnSpPr/>
          <p:nvPr/>
        </p:nvCxnSpPr>
        <p:spPr>
          <a:xfrm flipV="1">
            <a:off x="5323453" y="4872581"/>
            <a:ext cx="158201" cy="158201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1" name="hodmmd-input-0640"/>
          <p:cNvCxnSpPr/>
          <p:nvPr/>
        </p:nvCxnSpPr>
        <p:spPr>
          <a:xfrm flipV="1">
            <a:off x="5402554" y="4951682"/>
            <a:ext cx="79100" cy="79100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2" name="hodmmd-0641"/>
          <p:cNvSpPr/>
          <p:nvPr/>
        </p:nvSpPr>
        <p:spPr>
          <a:xfrm>
            <a:off x="1922138" y="5196893"/>
            <a:ext cx="442962" cy="213571"/>
          </a:xfrm>
          <a:custGeom>
            <a:avLst/>
            <a:gdLst/>
            <a:ahLst/>
            <a:cxnLst/>
            <a:rect l="l" t="t" r="r" b="b"/>
            <a:pathLst>
              <a:path w="56" h="27">
                <a:moveTo>
                  <a:pt x="0" y="0"/>
                </a:moveTo>
                <a:lnTo>
                  <a:pt x="24" y="8"/>
                </a:lnTo>
                <a:lnTo>
                  <a:pt x="29" y="0"/>
                </a:lnTo>
                <a:lnTo>
                  <a:pt x="56" y="24"/>
                </a:lnTo>
                <a:lnTo>
                  <a:pt x="22" y="18"/>
                </a:lnTo>
                <a:lnTo>
                  <a:pt x="20" y="27"/>
                </a:lnTo>
                <a:close/>
              </a:path>
            </a:pathLst>
          </a:custGeom>
          <a:solidFill>
            <a:srgbClr val="F9F4FA"/>
          </a:solidFill>
          <a:ln w="11865">
            <a:solidFill>
              <a:srgbClr val="FF76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3" name="hodmmd-0642"/>
          <p:cNvSpPr/>
          <p:nvPr/>
        </p:nvSpPr>
        <p:spPr>
          <a:xfrm>
            <a:off x="4073668" y="5196893"/>
            <a:ext cx="427142" cy="213571"/>
          </a:xfrm>
          <a:custGeom>
            <a:avLst/>
            <a:gdLst/>
            <a:ahLst/>
            <a:cxnLst/>
            <a:rect l="l" t="t" r="r" b="b"/>
            <a:pathLst>
              <a:path w="54" h="27">
                <a:moveTo>
                  <a:pt x="54" y="0"/>
                </a:moveTo>
                <a:lnTo>
                  <a:pt x="30" y="8"/>
                </a:lnTo>
                <a:lnTo>
                  <a:pt x="25" y="0"/>
                </a:lnTo>
                <a:lnTo>
                  <a:pt x="0" y="24"/>
                </a:lnTo>
                <a:lnTo>
                  <a:pt x="33" y="18"/>
                </a:lnTo>
                <a:lnTo>
                  <a:pt x="36" y="27"/>
                </a:lnTo>
                <a:close/>
              </a:path>
            </a:pathLst>
          </a:custGeom>
          <a:solidFill>
            <a:srgbClr val="F9F4FA"/>
          </a:solidFill>
          <a:ln w="11865">
            <a:solidFill>
              <a:srgbClr val="FF76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4" name="hodmmd-0643"/>
          <p:cNvSpPr txBox="1"/>
          <p:nvPr/>
        </p:nvSpPr>
        <p:spPr>
          <a:xfrm>
            <a:off x="2602401" y="5181073"/>
            <a:ext cx="1384256" cy="34804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1806" b="0">
                <a:solidFill>
                  <a:srgbClr val="000000"/>
                </a:solidFill>
                <a:latin typeface="Liberation Serif"/>
              </a:rPr>
              <a:t>HODMMD</a:t>
            </a:r>
          </a:p>
        </p:txBody>
      </p:sp>
      <p:sp>
        <p:nvSpPr>
          <p:cNvPr id="645" name="hodmmd-0644"/>
          <p:cNvSpPr/>
          <p:nvPr/>
        </p:nvSpPr>
        <p:spPr>
          <a:xfrm>
            <a:off x="1336796" y="5481654"/>
            <a:ext cx="1961689" cy="316401"/>
          </a:xfrm>
          <a:custGeom>
            <a:avLst/>
            <a:gdLst/>
            <a:ahLst/>
            <a:cxnLst/>
            <a:rect l="l" t="t" r="r" b="b"/>
            <a:pathLst>
              <a:path w="248" h="40">
                <a:moveTo>
                  <a:pt x="248" y="0"/>
                </a:moveTo>
                <a:lnTo>
                  <a:pt x="248" y="14"/>
                </a:lnTo>
                <a:lnTo>
                  <a:pt x="0" y="14"/>
                </a:lnTo>
                <a:lnTo>
                  <a:pt x="0" y="40"/>
                </a:lnTo>
              </a:path>
            </a:pathLst>
          </a:custGeom>
          <a:noFill/>
          <a:ln w="17402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6" name="hodmmd-0645"/>
          <p:cNvSpPr/>
          <p:nvPr/>
        </p:nvSpPr>
        <p:spPr>
          <a:xfrm>
            <a:off x="1281426" y="5687315"/>
            <a:ext cx="110740" cy="110740"/>
          </a:xfrm>
          <a:custGeom>
            <a:avLst/>
            <a:gdLst/>
            <a:ahLst/>
            <a:cxnLst/>
            <a:rect l="l" t="t" r="r" b="b"/>
            <a:pathLst>
              <a:path w="14" h="14">
                <a:moveTo>
                  <a:pt x="7" y="14"/>
                </a:moveTo>
                <a:lnTo>
                  <a:pt x="0" y="0"/>
                </a:lnTo>
                <a:lnTo>
                  <a:pt x="14" y="0"/>
                </a:lnTo>
                <a:close/>
              </a:path>
            </a:pathLst>
          </a:custGeom>
          <a:solidFill>
            <a:srgbClr val="000000"/>
          </a:solidFill>
          <a:ln w="79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7" name="reliability-sets-0646"/>
          <p:cNvSpPr/>
          <p:nvPr/>
        </p:nvSpPr>
        <p:spPr>
          <a:xfrm>
            <a:off x="545792" y="5798055"/>
            <a:ext cx="1582007" cy="506242"/>
          </a:xfrm>
          <a:prstGeom prst="rect">
            <a:avLst/>
          </a:prstGeom>
          <a:noFill/>
          <a:ln w="1582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8" name="reliability-sets-0647"/>
          <p:cNvSpPr/>
          <p:nvPr/>
        </p:nvSpPr>
        <p:spPr>
          <a:xfrm>
            <a:off x="656533" y="5948346"/>
            <a:ext cx="221481" cy="221481"/>
          </a:xfrm>
          <a:prstGeom prst="ellipse">
            <a:avLst/>
          </a:prstGeom>
          <a:solidFill>
            <a:srgbClr val="FEFAEE"/>
          </a:solidFill>
          <a:ln w="17402">
            <a:solidFill>
              <a:srgbClr val="F3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9" name="reliability-sets-0648"/>
          <p:cNvSpPr/>
          <p:nvPr/>
        </p:nvSpPr>
        <p:spPr>
          <a:xfrm>
            <a:off x="1036215" y="5948346"/>
            <a:ext cx="221481" cy="221481"/>
          </a:xfrm>
          <a:prstGeom prst="ellipse">
            <a:avLst/>
          </a:prstGeom>
          <a:solidFill>
            <a:srgbClr val="FEFAEE"/>
          </a:solidFill>
          <a:ln w="17402">
            <a:solidFill>
              <a:srgbClr val="5D8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0" name="reliability-sets-0649"/>
          <p:cNvSpPr/>
          <p:nvPr/>
        </p:nvSpPr>
        <p:spPr>
          <a:xfrm>
            <a:off x="1415896" y="5948346"/>
            <a:ext cx="221481" cy="221481"/>
          </a:xfrm>
          <a:prstGeom prst="ellipse">
            <a:avLst/>
          </a:prstGeom>
          <a:solidFill>
            <a:srgbClr val="FEFAEE"/>
          </a:solidFill>
          <a:ln w="17402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1" name="reliability-sets-0650"/>
          <p:cNvSpPr/>
          <p:nvPr/>
        </p:nvSpPr>
        <p:spPr>
          <a:xfrm>
            <a:off x="1795578" y="5948346"/>
            <a:ext cx="221481" cy="221481"/>
          </a:xfrm>
          <a:prstGeom prst="ellipse">
            <a:avLst/>
          </a:prstGeom>
          <a:solidFill>
            <a:srgbClr val="FEFAEE"/>
          </a:solidFill>
          <a:ln w="17402">
            <a:solidFill>
              <a:srgbClr val="D93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2" name="reliability-sets-0651"/>
          <p:cNvSpPr/>
          <p:nvPr/>
        </p:nvSpPr>
        <p:spPr>
          <a:xfrm>
            <a:off x="2230630" y="5798055"/>
            <a:ext cx="3757266" cy="506242"/>
          </a:xfrm>
          <a:prstGeom prst="rect">
            <a:avLst/>
          </a:prstGeom>
          <a:noFill/>
          <a:ln w="1582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3" name="reliability-sets-0652"/>
          <p:cNvSpPr/>
          <p:nvPr/>
        </p:nvSpPr>
        <p:spPr>
          <a:xfrm>
            <a:off x="2396740" y="5948346"/>
            <a:ext cx="221481" cy="221481"/>
          </a:xfrm>
          <a:prstGeom prst="ellipse">
            <a:avLst/>
          </a:prstGeom>
          <a:solidFill>
            <a:srgbClr val="FEFAEE"/>
          </a:solidFill>
          <a:ln w="17402">
            <a:solidFill>
              <a:srgbClr val="9AB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4" name="reliability-sets-0653"/>
          <p:cNvSpPr/>
          <p:nvPr/>
        </p:nvSpPr>
        <p:spPr>
          <a:xfrm>
            <a:off x="2728962" y="5948346"/>
            <a:ext cx="221481" cy="221481"/>
          </a:xfrm>
          <a:prstGeom prst="ellipse">
            <a:avLst/>
          </a:prstGeom>
          <a:solidFill>
            <a:srgbClr val="FEFAEE"/>
          </a:solidFill>
          <a:ln w="17402">
            <a:solidFill>
              <a:srgbClr val="E3D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5" name="reliability-sets-0654"/>
          <p:cNvSpPr/>
          <p:nvPr/>
        </p:nvSpPr>
        <p:spPr>
          <a:xfrm>
            <a:off x="3061183" y="5948346"/>
            <a:ext cx="221481" cy="221481"/>
          </a:xfrm>
          <a:prstGeom prst="ellipse">
            <a:avLst/>
          </a:prstGeom>
          <a:solidFill>
            <a:srgbClr val="FEFAEE"/>
          </a:solidFill>
          <a:ln w="17402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6" name="reliability-sets-0655"/>
          <p:cNvSpPr/>
          <p:nvPr/>
        </p:nvSpPr>
        <p:spPr>
          <a:xfrm>
            <a:off x="3393405" y="5948346"/>
            <a:ext cx="221481" cy="221481"/>
          </a:xfrm>
          <a:prstGeom prst="ellipse">
            <a:avLst/>
          </a:prstGeom>
          <a:solidFill>
            <a:srgbClr val="FEFAEE"/>
          </a:solidFill>
          <a:ln w="17402">
            <a:solidFill>
              <a:srgbClr val="D93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7" name="reliability-sets-0656"/>
          <p:cNvSpPr txBox="1"/>
          <p:nvPr/>
        </p:nvSpPr>
        <p:spPr>
          <a:xfrm>
            <a:off x="3757266" y="5900886"/>
            <a:ext cx="316401" cy="30058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1557" b="1">
                <a:solidFill>
                  <a:srgbClr val="000000"/>
                </a:solidFill>
                <a:latin typeface="Liberation Serif"/>
              </a:rPr>
              <a:t>⋮</a:t>
            </a:r>
          </a:p>
        </p:txBody>
      </p:sp>
      <p:sp>
        <p:nvSpPr>
          <p:cNvPr id="658" name="reliability-sets-0657"/>
          <p:cNvSpPr/>
          <p:nvPr/>
        </p:nvSpPr>
        <p:spPr>
          <a:xfrm>
            <a:off x="4057848" y="5948346"/>
            <a:ext cx="221481" cy="221481"/>
          </a:xfrm>
          <a:prstGeom prst="ellipse">
            <a:avLst/>
          </a:prstGeom>
          <a:solidFill>
            <a:srgbClr val="FEFAEE"/>
          </a:solidFill>
          <a:ln w="17402">
            <a:solidFill>
              <a:srgbClr val="D93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9" name="reliability-sets-0658"/>
          <p:cNvSpPr/>
          <p:nvPr/>
        </p:nvSpPr>
        <p:spPr>
          <a:xfrm>
            <a:off x="4390069" y="5948346"/>
            <a:ext cx="221481" cy="221481"/>
          </a:xfrm>
          <a:prstGeom prst="ellipse">
            <a:avLst/>
          </a:prstGeom>
          <a:solidFill>
            <a:srgbClr val="FEFAEE"/>
          </a:solidFill>
          <a:ln w="17402">
            <a:solidFill>
              <a:srgbClr val="E3D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0" name="reliability-sets-0659"/>
          <p:cNvSpPr/>
          <p:nvPr/>
        </p:nvSpPr>
        <p:spPr>
          <a:xfrm>
            <a:off x="4722291" y="5948346"/>
            <a:ext cx="221481" cy="221481"/>
          </a:xfrm>
          <a:prstGeom prst="ellipse">
            <a:avLst/>
          </a:prstGeom>
          <a:solidFill>
            <a:srgbClr val="FEFAEE"/>
          </a:solidFill>
          <a:ln w="17402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1" name="reliability-sets-0660"/>
          <p:cNvSpPr/>
          <p:nvPr/>
        </p:nvSpPr>
        <p:spPr>
          <a:xfrm>
            <a:off x="5054512" y="5948346"/>
            <a:ext cx="221481" cy="221481"/>
          </a:xfrm>
          <a:prstGeom prst="ellipse">
            <a:avLst/>
          </a:prstGeom>
          <a:solidFill>
            <a:srgbClr val="FEFAEE"/>
          </a:solidFill>
          <a:ln w="17402">
            <a:solidFill>
              <a:srgbClr val="F3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2" name="assessment-masses-0661"/>
          <p:cNvSpPr/>
          <p:nvPr/>
        </p:nvSpPr>
        <p:spPr>
          <a:xfrm>
            <a:off x="656533" y="6533689"/>
            <a:ext cx="522062" cy="332221"/>
          </a:xfrm>
          <a:prstGeom prst="rect">
            <a:avLst/>
          </a:prstGeom>
          <a:solidFill>
            <a:srgbClr val="B9D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3" name="assessment-masses-0662"/>
          <p:cNvSpPr/>
          <p:nvPr/>
        </p:nvSpPr>
        <p:spPr>
          <a:xfrm>
            <a:off x="616983" y="6486228"/>
            <a:ext cx="522062" cy="332221"/>
          </a:xfrm>
          <a:prstGeom prst="rect">
            <a:avLst/>
          </a:prstGeom>
          <a:solidFill>
            <a:srgbClr val="FEFAEE"/>
          </a:solidFill>
          <a:ln w="17402">
            <a:solidFill>
              <a:srgbClr val="5D8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4" name="assessment-masses-0663"/>
          <p:cNvSpPr txBox="1"/>
          <p:nvPr/>
        </p:nvSpPr>
        <p:spPr>
          <a:xfrm>
            <a:off x="656533" y="6494138"/>
            <a:ext cx="142381" cy="31640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>
                <a:solidFill>
                  <a:srgbClr val="000000"/>
                </a:solidFill>
                <a:latin typeface="Liberation Sans"/>
              </a:rPr>
              <a:t>M</a:t>
            </a:r>
          </a:p>
        </p:txBody>
      </p:sp>
      <p:sp>
        <p:nvSpPr>
          <p:cNvPr id="665" name="assessment-masses-0664"/>
          <p:cNvSpPr txBox="1"/>
          <p:nvPr/>
        </p:nvSpPr>
        <p:spPr>
          <a:xfrm>
            <a:off x="783093" y="6549509"/>
            <a:ext cx="94920" cy="25312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>
                <a:solidFill>
                  <a:srgbClr val="000000"/>
                </a:solidFill>
                <a:latin typeface="Liberation Sans"/>
              </a:rPr>
              <a:t>1</a:t>
            </a:r>
          </a:p>
        </p:txBody>
      </p:sp>
      <p:sp>
        <p:nvSpPr>
          <p:cNvPr id="666" name="assessment-masses-0665"/>
          <p:cNvSpPr txBox="1"/>
          <p:nvPr/>
        </p:nvSpPr>
        <p:spPr>
          <a:xfrm>
            <a:off x="846374" y="6494138"/>
            <a:ext cx="268941" cy="31640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>
                <a:solidFill>
                  <a:srgbClr val="000000"/>
                </a:solidFill>
                <a:latin typeface="Liberation Sans"/>
              </a:rPr>
              <a:t>(A)</a:t>
            </a:r>
          </a:p>
        </p:txBody>
      </p:sp>
      <p:sp>
        <p:nvSpPr>
          <p:cNvPr id="667" name="assessment-masses-0666"/>
          <p:cNvSpPr/>
          <p:nvPr/>
        </p:nvSpPr>
        <p:spPr>
          <a:xfrm>
            <a:off x="1218145" y="6573239"/>
            <a:ext cx="158201" cy="158201"/>
          </a:xfrm>
          <a:prstGeom prst="ellipse">
            <a:avLst/>
          </a:prstGeom>
          <a:solidFill>
            <a:srgbClr val="FEFAEE"/>
          </a:solidFill>
          <a:ln w="1186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8" name="assessment-masses-0667"/>
          <p:cNvCxnSpPr/>
          <p:nvPr/>
        </p:nvCxnSpPr>
        <p:spPr>
          <a:xfrm>
            <a:off x="1245830" y="6652339"/>
            <a:ext cx="102831" cy="0"/>
          </a:xfrm>
          <a:prstGeom prst="line">
            <a:avLst/>
          </a:prstGeom>
          <a:ln w="1107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9" name="assessment-masses-0668"/>
          <p:cNvCxnSpPr/>
          <p:nvPr/>
        </p:nvCxnSpPr>
        <p:spPr>
          <a:xfrm>
            <a:off x="1297246" y="6600924"/>
            <a:ext cx="0" cy="102830"/>
          </a:xfrm>
          <a:prstGeom prst="line">
            <a:avLst/>
          </a:prstGeom>
          <a:ln w="1107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0" name="assessment-masses-0669"/>
          <p:cNvSpPr/>
          <p:nvPr/>
        </p:nvSpPr>
        <p:spPr>
          <a:xfrm>
            <a:off x="1487086" y="6525779"/>
            <a:ext cx="537882" cy="332221"/>
          </a:xfrm>
          <a:prstGeom prst="rect">
            <a:avLst/>
          </a:prstGeom>
          <a:solidFill>
            <a:srgbClr val="B9D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1" name="assessment-masses-0670"/>
          <p:cNvSpPr/>
          <p:nvPr/>
        </p:nvSpPr>
        <p:spPr>
          <a:xfrm>
            <a:off x="1455446" y="6486228"/>
            <a:ext cx="537882" cy="332221"/>
          </a:xfrm>
          <a:prstGeom prst="rect">
            <a:avLst/>
          </a:prstGeom>
          <a:solidFill>
            <a:srgbClr val="FFFFFF"/>
          </a:solidFill>
          <a:ln w="18193">
            <a:solidFill>
              <a:srgbClr val="5D8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2" name="assessment-masses-0671"/>
          <p:cNvCxnSpPr/>
          <p:nvPr/>
        </p:nvCxnSpPr>
        <p:spPr>
          <a:xfrm flipV="1">
            <a:off x="1455446" y="6486228"/>
            <a:ext cx="79101" cy="79101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3" name="assessment-masses-0672"/>
          <p:cNvCxnSpPr/>
          <p:nvPr/>
        </p:nvCxnSpPr>
        <p:spPr>
          <a:xfrm flipV="1">
            <a:off x="1455446" y="6486228"/>
            <a:ext cx="158201" cy="158201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4" name="assessment-masses-0673"/>
          <p:cNvCxnSpPr/>
          <p:nvPr/>
        </p:nvCxnSpPr>
        <p:spPr>
          <a:xfrm flipV="1">
            <a:off x="1455446" y="6486228"/>
            <a:ext cx="237301" cy="237301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5" name="assessment-masses-0674"/>
          <p:cNvCxnSpPr/>
          <p:nvPr/>
        </p:nvCxnSpPr>
        <p:spPr>
          <a:xfrm flipV="1">
            <a:off x="1455446" y="6486228"/>
            <a:ext cx="316402" cy="316402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6" name="assessment-masses-0675"/>
          <p:cNvCxnSpPr/>
          <p:nvPr/>
        </p:nvCxnSpPr>
        <p:spPr>
          <a:xfrm flipV="1">
            <a:off x="1518727" y="6486228"/>
            <a:ext cx="332221" cy="332222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7" name="assessment-masses-0676"/>
          <p:cNvCxnSpPr/>
          <p:nvPr/>
        </p:nvCxnSpPr>
        <p:spPr>
          <a:xfrm flipV="1">
            <a:off x="1597827" y="6486228"/>
            <a:ext cx="332221" cy="332222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8" name="assessment-masses-0677"/>
          <p:cNvCxnSpPr/>
          <p:nvPr/>
        </p:nvCxnSpPr>
        <p:spPr>
          <a:xfrm flipV="1">
            <a:off x="1676927" y="6502048"/>
            <a:ext cx="316402" cy="316402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9" name="assessment-masses-0678"/>
          <p:cNvCxnSpPr/>
          <p:nvPr/>
        </p:nvCxnSpPr>
        <p:spPr>
          <a:xfrm flipV="1">
            <a:off x="1756028" y="6581149"/>
            <a:ext cx="237301" cy="237301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0" name="assessment-masses-0679"/>
          <p:cNvCxnSpPr/>
          <p:nvPr/>
        </p:nvCxnSpPr>
        <p:spPr>
          <a:xfrm flipV="1">
            <a:off x="1835128" y="6660249"/>
            <a:ext cx="158201" cy="158201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1" name="assessment-masses-0680"/>
          <p:cNvCxnSpPr/>
          <p:nvPr/>
        </p:nvCxnSpPr>
        <p:spPr>
          <a:xfrm flipV="1">
            <a:off x="1914228" y="6739349"/>
            <a:ext cx="79101" cy="79101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2" name="assessment-masses-0681"/>
          <p:cNvSpPr/>
          <p:nvPr/>
        </p:nvSpPr>
        <p:spPr>
          <a:xfrm>
            <a:off x="656533" y="7000381"/>
            <a:ext cx="522062" cy="332221"/>
          </a:xfrm>
          <a:prstGeom prst="rect">
            <a:avLst/>
          </a:prstGeom>
          <a:solidFill>
            <a:srgbClr val="B9D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3" name="assessment-masses-0682"/>
          <p:cNvSpPr/>
          <p:nvPr/>
        </p:nvSpPr>
        <p:spPr>
          <a:xfrm>
            <a:off x="616983" y="6952920"/>
            <a:ext cx="522062" cy="332221"/>
          </a:xfrm>
          <a:prstGeom prst="rect">
            <a:avLst/>
          </a:prstGeom>
          <a:solidFill>
            <a:srgbClr val="FEFAEE"/>
          </a:solidFill>
          <a:ln w="17402">
            <a:solidFill>
              <a:srgbClr val="5D8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4" name="assessment-masses-0683"/>
          <p:cNvSpPr txBox="1"/>
          <p:nvPr/>
        </p:nvSpPr>
        <p:spPr>
          <a:xfrm>
            <a:off x="656533" y="6960830"/>
            <a:ext cx="142381" cy="31640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>
                <a:solidFill>
                  <a:srgbClr val="000000"/>
                </a:solidFill>
                <a:latin typeface="Liberation Sans"/>
              </a:rPr>
              <a:t>M</a:t>
            </a:r>
          </a:p>
        </p:txBody>
      </p:sp>
      <p:sp>
        <p:nvSpPr>
          <p:cNvPr id="685" name="assessment-masses-0684"/>
          <p:cNvSpPr txBox="1"/>
          <p:nvPr/>
        </p:nvSpPr>
        <p:spPr>
          <a:xfrm>
            <a:off x="783093" y="7016201"/>
            <a:ext cx="94920" cy="25312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>
                <a:solidFill>
                  <a:srgbClr val="000000"/>
                </a:solidFill>
                <a:latin typeface="Liberation Sans"/>
              </a:rPr>
              <a:t>2</a:t>
            </a:r>
          </a:p>
        </p:txBody>
      </p:sp>
      <p:sp>
        <p:nvSpPr>
          <p:cNvPr id="686" name="assessment-masses-0685"/>
          <p:cNvSpPr txBox="1"/>
          <p:nvPr/>
        </p:nvSpPr>
        <p:spPr>
          <a:xfrm>
            <a:off x="846374" y="6960830"/>
            <a:ext cx="268941" cy="31640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>
                <a:solidFill>
                  <a:srgbClr val="000000"/>
                </a:solidFill>
                <a:latin typeface="Liberation Sans"/>
              </a:rPr>
              <a:t>(A)</a:t>
            </a:r>
          </a:p>
        </p:txBody>
      </p:sp>
      <p:sp>
        <p:nvSpPr>
          <p:cNvPr id="687" name="assessment-masses-0686"/>
          <p:cNvSpPr/>
          <p:nvPr/>
        </p:nvSpPr>
        <p:spPr>
          <a:xfrm>
            <a:off x="1218145" y="7039931"/>
            <a:ext cx="158201" cy="158201"/>
          </a:xfrm>
          <a:prstGeom prst="ellipse">
            <a:avLst/>
          </a:prstGeom>
          <a:solidFill>
            <a:srgbClr val="FEFAEE"/>
          </a:solidFill>
          <a:ln w="1186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88" name="assessment-masses-0687"/>
          <p:cNvCxnSpPr/>
          <p:nvPr/>
        </p:nvCxnSpPr>
        <p:spPr>
          <a:xfrm>
            <a:off x="1245830" y="7119031"/>
            <a:ext cx="102831" cy="0"/>
          </a:xfrm>
          <a:prstGeom prst="line">
            <a:avLst/>
          </a:prstGeom>
          <a:ln w="1107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9" name="assessment-masses-0688"/>
          <p:cNvCxnSpPr/>
          <p:nvPr/>
        </p:nvCxnSpPr>
        <p:spPr>
          <a:xfrm>
            <a:off x="1297246" y="7067616"/>
            <a:ext cx="0" cy="102830"/>
          </a:xfrm>
          <a:prstGeom prst="line">
            <a:avLst/>
          </a:prstGeom>
          <a:ln w="1107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0" name="assessment-masses-0689"/>
          <p:cNvSpPr/>
          <p:nvPr/>
        </p:nvSpPr>
        <p:spPr>
          <a:xfrm>
            <a:off x="1487086" y="6992471"/>
            <a:ext cx="537882" cy="332221"/>
          </a:xfrm>
          <a:prstGeom prst="rect">
            <a:avLst/>
          </a:prstGeom>
          <a:solidFill>
            <a:srgbClr val="B9D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1" name="assessment-masses-0690"/>
          <p:cNvSpPr/>
          <p:nvPr/>
        </p:nvSpPr>
        <p:spPr>
          <a:xfrm>
            <a:off x="1455446" y="6952920"/>
            <a:ext cx="537882" cy="332221"/>
          </a:xfrm>
          <a:prstGeom prst="rect">
            <a:avLst/>
          </a:prstGeom>
          <a:solidFill>
            <a:srgbClr val="FFFFFF"/>
          </a:solidFill>
          <a:ln w="18193">
            <a:solidFill>
              <a:srgbClr val="5D8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92" name="assessment-masses-0691"/>
          <p:cNvCxnSpPr/>
          <p:nvPr/>
        </p:nvCxnSpPr>
        <p:spPr>
          <a:xfrm flipV="1">
            <a:off x="1455446" y="6952920"/>
            <a:ext cx="79101" cy="79101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3" name="assessment-masses-0692"/>
          <p:cNvCxnSpPr/>
          <p:nvPr/>
        </p:nvCxnSpPr>
        <p:spPr>
          <a:xfrm flipV="1">
            <a:off x="1455446" y="6952920"/>
            <a:ext cx="158201" cy="158201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4" name="assessment-masses-0693"/>
          <p:cNvCxnSpPr/>
          <p:nvPr/>
        </p:nvCxnSpPr>
        <p:spPr>
          <a:xfrm flipV="1">
            <a:off x="1455446" y="6952920"/>
            <a:ext cx="237301" cy="237301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5" name="assessment-masses-0694"/>
          <p:cNvCxnSpPr/>
          <p:nvPr/>
        </p:nvCxnSpPr>
        <p:spPr>
          <a:xfrm flipV="1">
            <a:off x="1455446" y="6952920"/>
            <a:ext cx="316402" cy="316402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6" name="assessment-masses-0695"/>
          <p:cNvCxnSpPr/>
          <p:nvPr/>
        </p:nvCxnSpPr>
        <p:spPr>
          <a:xfrm flipV="1">
            <a:off x="1518727" y="6952920"/>
            <a:ext cx="332221" cy="332222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7" name="assessment-masses-0696"/>
          <p:cNvCxnSpPr/>
          <p:nvPr/>
        </p:nvCxnSpPr>
        <p:spPr>
          <a:xfrm flipV="1">
            <a:off x="1597827" y="6952920"/>
            <a:ext cx="332221" cy="332222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8" name="assessment-masses-0697"/>
          <p:cNvCxnSpPr/>
          <p:nvPr/>
        </p:nvCxnSpPr>
        <p:spPr>
          <a:xfrm flipV="1">
            <a:off x="1676927" y="6968740"/>
            <a:ext cx="316402" cy="316402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9" name="assessment-masses-0698"/>
          <p:cNvCxnSpPr/>
          <p:nvPr/>
        </p:nvCxnSpPr>
        <p:spPr>
          <a:xfrm flipV="1">
            <a:off x="1756028" y="7047841"/>
            <a:ext cx="237301" cy="237301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0" name="assessment-masses-0699"/>
          <p:cNvCxnSpPr/>
          <p:nvPr/>
        </p:nvCxnSpPr>
        <p:spPr>
          <a:xfrm flipV="1">
            <a:off x="1835128" y="7126941"/>
            <a:ext cx="158201" cy="158201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1" name="assessment-masses-0700"/>
          <p:cNvCxnSpPr/>
          <p:nvPr/>
        </p:nvCxnSpPr>
        <p:spPr>
          <a:xfrm flipV="1">
            <a:off x="1914228" y="7206042"/>
            <a:ext cx="79101" cy="79100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2" name="assessment-masses-0701"/>
          <p:cNvSpPr/>
          <p:nvPr/>
        </p:nvSpPr>
        <p:spPr>
          <a:xfrm>
            <a:off x="656533" y="7467073"/>
            <a:ext cx="522062" cy="332221"/>
          </a:xfrm>
          <a:prstGeom prst="rect">
            <a:avLst/>
          </a:prstGeom>
          <a:solidFill>
            <a:srgbClr val="B9D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3" name="assessment-masses-0702"/>
          <p:cNvSpPr/>
          <p:nvPr/>
        </p:nvSpPr>
        <p:spPr>
          <a:xfrm>
            <a:off x="616983" y="7419612"/>
            <a:ext cx="522062" cy="332221"/>
          </a:xfrm>
          <a:prstGeom prst="rect">
            <a:avLst/>
          </a:prstGeom>
          <a:solidFill>
            <a:srgbClr val="FEFAEE"/>
          </a:solidFill>
          <a:ln w="17402">
            <a:solidFill>
              <a:srgbClr val="5D8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4" name="assessment-masses-0703"/>
          <p:cNvSpPr txBox="1"/>
          <p:nvPr/>
        </p:nvSpPr>
        <p:spPr>
          <a:xfrm>
            <a:off x="656533" y="7427522"/>
            <a:ext cx="142381" cy="31640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>
                <a:solidFill>
                  <a:srgbClr val="000000"/>
                </a:solidFill>
                <a:latin typeface="Liberation Sans"/>
              </a:rPr>
              <a:t>M</a:t>
            </a:r>
          </a:p>
        </p:txBody>
      </p:sp>
      <p:sp>
        <p:nvSpPr>
          <p:cNvPr id="705" name="assessment-masses-0704"/>
          <p:cNvSpPr txBox="1"/>
          <p:nvPr/>
        </p:nvSpPr>
        <p:spPr>
          <a:xfrm>
            <a:off x="783093" y="7482893"/>
            <a:ext cx="94920" cy="25312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>
                <a:solidFill>
                  <a:srgbClr val="000000"/>
                </a:solidFill>
                <a:latin typeface="Liberation Sans"/>
              </a:rPr>
              <a:t>3</a:t>
            </a:r>
          </a:p>
        </p:txBody>
      </p:sp>
      <p:sp>
        <p:nvSpPr>
          <p:cNvPr id="706" name="assessment-masses-0705"/>
          <p:cNvSpPr txBox="1"/>
          <p:nvPr/>
        </p:nvSpPr>
        <p:spPr>
          <a:xfrm>
            <a:off x="846374" y="7427522"/>
            <a:ext cx="268941" cy="31640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>
                <a:solidFill>
                  <a:srgbClr val="000000"/>
                </a:solidFill>
                <a:latin typeface="Liberation Sans"/>
              </a:rPr>
              <a:t>(A)</a:t>
            </a:r>
          </a:p>
        </p:txBody>
      </p:sp>
      <p:sp>
        <p:nvSpPr>
          <p:cNvPr id="707" name="assessment-masses-0706"/>
          <p:cNvSpPr/>
          <p:nvPr/>
        </p:nvSpPr>
        <p:spPr>
          <a:xfrm>
            <a:off x="1218145" y="7506623"/>
            <a:ext cx="158201" cy="158201"/>
          </a:xfrm>
          <a:prstGeom prst="ellipse">
            <a:avLst/>
          </a:prstGeom>
          <a:solidFill>
            <a:srgbClr val="FEFAEE"/>
          </a:solidFill>
          <a:ln w="1186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8" name="assessment-masses-0707"/>
          <p:cNvCxnSpPr/>
          <p:nvPr/>
        </p:nvCxnSpPr>
        <p:spPr>
          <a:xfrm>
            <a:off x="1245830" y="7585723"/>
            <a:ext cx="102831" cy="0"/>
          </a:xfrm>
          <a:prstGeom prst="line">
            <a:avLst/>
          </a:prstGeom>
          <a:ln w="1107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9" name="assessment-masses-0708"/>
          <p:cNvCxnSpPr/>
          <p:nvPr/>
        </p:nvCxnSpPr>
        <p:spPr>
          <a:xfrm>
            <a:off x="1297246" y="7534308"/>
            <a:ext cx="0" cy="102830"/>
          </a:xfrm>
          <a:prstGeom prst="line">
            <a:avLst/>
          </a:prstGeom>
          <a:ln w="1107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0" name="assessment-masses-0709"/>
          <p:cNvSpPr/>
          <p:nvPr/>
        </p:nvSpPr>
        <p:spPr>
          <a:xfrm>
            <a:off x="1487086" y="7459163"/>
            <a:ext cx="537882" cy="332221"/>
          </a:xfrm>
          <a:prstGeom prst="rect">
            <a:avLst/>
          </a:prstGeom>
          <a:solidFill>
            <a:srgbClr val="B9D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1" name="assessment-masses-0710"/>
          <p:cNvSpPr/>
          <p:nvPr/>
        </p:nvSpPr>
        <p:spPr>
          <a:xfrm>
            <a:off x="1455446" y="7419612"/>
            <a:ext cx="537882" cy="332221"/>
          </a:xfrm>
          <a:prstGeom prst="rect">
            <a:avLst/>
          </a:prstGeom>
          <a:solidFill>
            <a:srgbClr val="FFFFFF"/>
          </a:solidFill>
          <a:ln w="18193">
            <a:solidFill>
              <a:srgbClr val="5D8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2" name="assessment-masses-0711"/>
          <p:cNvCxnSpPr/>
          <p:nvPr/>
        </p:nvCxnSpPr>
        <p:spPr>
          <a:xfrm flipV="1">
            <a:off x="1455446" y="7419612"/>
            <a:ext cx="79101" cy="79101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3" name="assessment-masses-0712"/>
          <p:cNvCxnSpPr/>
          <p:nvPr/>
        </p:nvCxnSpPr>
        <p:spPr>
          <a:xfrm flipV="1">
            <a:off x="1455446" y="7419612"/>
            <a:ext cx="158201" cy="158201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4" name="assessment-masses-0713"/>
          <p:cNvCxnSpPr/>
          <p:nvPr/>
        </p:nvCxnSpPr>
        <p:spPr>
          <a:xfrm flipV="1">
            <a:off x="1455446" y="7419612"/>
            <a:ext cx="237301" cy="237301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5" name="assessment-masses-0714"/>
          <p:cNvCxnSpPr/>
          <p:nvPr/>
        </p:nvCxnSpPr>
        <p:spPr>
          <a:xfrm flipV="1">
            <a:off x="1455446" y="7419612"/>
            <a:ext cx="316402" cy="316402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6" name="assessment-masses-0715"/>
          <p:cNvCxnSpPr/>
          <p:nvPr/>
        </p:nvCxnSpPr>
        <p:spPr>
          <a:xfrm flipV="1">
            <a:off x="1518727" y="7419612"/>
            <a:ext cx="332221" cy="332222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7" name="assessment-masses-0716"/>
          <p:cNvCxnSpPr/>
          <p:nvPr/>
        </p:nvCxnSpPr>
        <p:spPr>
          <a:xfrm flipV="1">
            <a:off x="1597827" y="7419612"/>
            <a:ext cx="332221" cy="332222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8" name="assessment-masses-0717"/>
          <p:cNvCxnSpPr/>
          <p:nvPr/>
        </p:nvCxnSpPr>
        <p:spPr>
          <a:xfrm flipV="1">
            <a:off x="1676927" y="7435433"/>
            <a:ext cx="316402" cy="316401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9" name="assessment-masses-0718"/>
          <p:cNvCxnSpPr/>
          <p:nvPr/>
        </p:nvCxnSpPr>
        <p:spPr>
          <a:xfrm flipV="1">
            <a:off x="1756028" y="7514533"/>
            <a:ext cx="237301" cy="237301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0" name="assessment-masses-0719"/>
          <p:cNvCxnSpPr/>
          <p:nvPr/>
        </p:nvCxnSpPr>
        <p:spPr>
          <a:xfrm flipV="1">
            <a:off x="1835128" y="7593633"/>
            <a:ext cx="158201" cy="158201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1" name="assessment-masses-0720"/>
          <p:cNvCxnSpPr/>
          <p:nvPr/>
        </p:nvCxnSpPr>
        <p:spPr>
          <a:xfrm flipV="1">
            <a:off x="1914228" y="7672734"/>
            <a:ext cx="79101" cy="79100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2" name="assessment-masses-0721"/>
          <p:cNvSpPr/>
          <p:nvPr/>
        </p:nvSpPr>
        <p:spPr>
          <a:xfrm>
            <a:off x="656533" y="8163156"/>
            <a:ext cx="522062" cy="332221"/>
          </a:xfrm>
          <a:prstGeom prst="rect">
            <a:avLst/>
          </a:prstGeom>
          <a:solidFill>
            <a:srgbClr val="B9D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3" name="assessment-masses-0722"/>
          <p:cNvSpPr/>
          <p:nvPr/>
        </p:nvSpPr>
        <p:spPr>
          <a:xfrm>
            <a:off x="616983" y="8115696"/>
            <a:ext cx="522062" cy="332221"/>
          </a:xfrm>
          <a:prstGeom prst="rect">
            <a:avLst/>
          </a:prstGeom>
          <a:solidFill>
            <a:srgbClr val="FEFAEE"/>
          </a:solidFill>
          <a:ln w="17402">
            <a:solidFill>
              <a:srgbClr val="5D8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4" name="assessment-masses-0723"/>
          <p:cNvSpPr txBox="1"/>
          <p:nvPr/>
        </p:nvSpPr>
        <p:spPr>
          <a:xfrm>
            <a:off x="656533" y="8123606"/>
            <a:ext cx="142381" cy="31640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>
                <a:solidFill>
                  <a:srgbClr val="000000"/>
                </a:solidFill>
                <a:latin typeface="Liberation Sans"/>
              </a:rPr>
              <a:t>M</a:t>
            </a:r>
          </a:p>
        </p:txBody>
      </p:sp>
      <p:sp>
        <p:nvSpPr>
          <p:cNvPr id="725" name="assessment-masses-0724"/>
          <p:cNvSpPr txBox="1"/>
          <p:nvPr/>
        </p:nvSpPr>
        <p:spPr>
          <a:xfrm>
            <a:off x="775183" y="8178976"/>
            <a:ext cx="197751" cy="25312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>
                <a:solidFill>
                  <a:srgbClr val="000000"/>
                </a:solidFill>
                <a:latin typeface="Liberation Sans"/>
              </a:rPr>
              <a:t>n−1</a:t>
            </a:r>
          </a:p>
        </p:txBody>
      </p:sp>
      <p:sp>
        <p:nvSpPr>
          <p:cNvPr id="726" name="assessment-masses-0725"/>
          <p:cNvSpPr txBox="1"/>
          <p:nvPr/>
        </p:nvSpPr>
        <p:spPr>
          <a:xfrm>
            <a:off x="941294" y="8123606"/>
            <a:ext cx="181931" cy="31640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Liberation Sans"/>
              </a:rPr>
              <a:t>(A)</a:t>
            </a:r>
          </a:p>
        </p:txBody>
      </p:sp>
      <p:sp>
        <p:nvSpPr>
          <p:cNvPr id="727" name="assessment-masses-0726"/>
          <p:cNvSpPr/>
          <p:nvPr/>
        </p:nvSpPr>
        <p:spPr>
          <a:xfrm>
            <a:off x="1218145" y="8202706"/>
            <a:ext cx="158201" cy="158201"/>
          </a:xfrm>
          <a:prstGeom prst="ellipse">
            <a:avLst/>
          </a:prstGeom>
          <a:solidFill>
            <a:srgbClr val="FEFAEE"/>
          </a:solidFill>
          <a:ln w="1186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28" name="assessment-masses-0727"/>
          <p:cNvCxnSpPr/>
          <p:nvPr/>
        </p:nvCxnSpPr>
        <p:spPr>
          <a:xfrm>
            <a:off x="1245830" y="8281806"/>
            <a:ext cx="102831" cy="0"/>
          </a:xfrm>
          <a:prstGeom prst="line">
            <a:avLst/>
          </a:prstGeom>
          <a:ln w="1107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9" name="assessment-masses-0728"/>
          <p:cNvCxnSpPr/>
          <p:nvPr/>
        </p:nvCxnSpPr>
        <p:spPr>
          <a:xfrm>
            <a:off x="1297246" y="8230391"/>
            <a:ext cx="0" cy="102830"/>
          </a:xfrm>
          <a:prstGeom prst="line">
            <a:avLst/>
          </a:prstGeom>
          <a:ln w="1107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0" name="assessment-masses-0729"/>
          <p:cNvSpPr/>
          <p:nvPr/>
        </p:nvSpPr>
        <p:spPr>
          <a:xfrm>
            <a:off x="1487086" y="8155246"/>
            <a:ext cx="537882" cy="332221"/>
          </a:xfrm>
          <a:prstGeom prst="rect">
            <a:avLst/>
          </a:prstGeom>
          <a:solidFill>
            <a:srgbClr val="B9D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1" name="assessment-masses-0730"/>
          <p:cNvSpPr/>
          <p:nvPr/>
        </p:nvSpPr>
        <p:spPr>
          <a:xfrm>
            <a:off x="1455446" y="8115696"/>
            <a:ext cx="537882" cy="332221"/>
          </a:xfrm>
          <a:prstGeom prst="rect">
            <a:avLst/>
          </a:prstGeom>
          <a:solidFill>
            <a:srgbClr val="FFFFFF"/>
          </a:solidFill>
          <a:ln w="18193">
            <a:solidFill>
              <a:srgbClr val="5D8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2" name="assessment-masses-0731"/>
          <p:cNvCxnSpPr/>
          <p:nvPr/>
        </p:nvCxnSpPr>
        <p:spPr>
          <a:xfrm flipV="1">
            <a:off x="1455446" y="8115696"/>
            <a:ext cx="79101" cy="79100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3" name="assessment-masses-0732"/>
          <p:cNvCxnSpPr/>
          <p:nvPr/>
        </p:nvCxnSpPr>
        <p:spPr>
          <a:xfrm flipV="1">
            <a:off x="1455446" y="8115696"/>
            <a:ext cx="158201" cy="158200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4" name="assessment-masses-0733"/>
          <p:cNvCxnSpPr/>
          <p:nvPr/>
        </p:nvCxnSpPr>
        <p:spPr>
          <a:xfrm flipV="1">
            <a:off x="1455446" y="8115696"/>
            <a:ext cx="237301" cy="237301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5" name="assessment-masses-0734"/>
          <p:cNvCxnSpPr/>
          <p:nvPr/>
        </p:nvCxnSpPr>
        <p:spPr>
          <a:xfrm flipV="1">
            <a:off x="1455446" y="8115696"/>
            <a:ext cx="316402" cy="316401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6" name="assessment-masses-0735"/>
          <p:cNvCxnSpPr/>
          <p:nvPr/>
        </p:nvCxnSpPr>
        <p:spPr>
          <a:xfrm flipV="1">
            <a:off x="1518727" y="8115696"/>
            <a:ext cx="332221" cy="332221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7" name="assessment-masses-0736"/>
          <p:cNvCxnSpPr/>
          <p:nvPr/>
        </p:nvCxnSpPr>
        <p:spPr>
          <a:xfrm flipV="1">
            <a:off x="1597827" y="8115696"/>
            <a:ext cx="332221" cy="332221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8" name="assessment-masses-0737"/>
          <p:cNvCxnSpPr/>
          <p:nvPr/>
        </p:nvCxnSpPr>
        <p:spPr>
          <a:xfrm flipV="1">
            <a:off x="1676927" y="8131516"/>
            <a:ext cx="316402" cy="316401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9" name="assessment-masses-0738"/>
          <p:cNvCxnSpPr/>
          <p:nvPr/>
        </p:nvCxnSpPr>
        <p:spPr>
          <a:xfrm flipV="1">
            <a:off x="1756028" y="8210616"/>
            <a:ext cx="237301" cy="237301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0" name="assessment-masses-0739"/>
          <p:cNvCxnSpPr/>
          <p:nvPr/>
        </p:nvCxnSpPr>
        <p:spPr>
          <a:xfrm flipV="1">
            <a:off x="1835128" y="8289716"/>
            <a:ext cx="158201" cy="158201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1" name="assessment-masses-0740"/>
          <p:cNvCxnSpPr/>
          <p:nvPr/>
        </p:nvCxnSpPr>
        <p:spPr>
          <a:xfrm flipV="1">
            <a:off x="1914228" y="8368817"/>
            <a:ext cx="79101" cy="79100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2" name="assessment-masses-0741"/>
          <p:cNvSpPr/>
          <p:nvPr/>
        </p:nvSpPr>
        <p:spPr>
          <a:xfrm>
            <a:off x="656533" y="8606118"/>
            <a:ext cx="522062" cy="332221"/>
          </a:xfrm>
          <a:prstGeom prst="rect">
            <a:avLst/>
          </a:prstGeom>
          <a:solidFill>
            <a:srgbClr val="B9D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3" name="assessment-masses-0742"/>
          <p:cNvSpPr/>
          <p:nvPr/>
        </p:nvSpPr>
        <p:spPr>
          <a:xfrm>
            <a:off x="616983" y="8558657"/>
            <a:ext cx="522062" cy="332221"/>
          </a:xfrm>
          <a:prstGeom prst="rect">
            <a:avLst/>
          </a:prstGeom>
          <a:solidFill>
            <a:srgbClr val="FEFAEE"/>
          </a:solidFill>
          <a:ln w="17402">
            <a:solidFill>
              <a:srgbClr val="5D8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4" name="assessment-masses-0743"/>
          <p:cNvSpPr txBox="1"/>
          <p:nvPr/>
        </p:nvSpPr>
        <p:spPr>
          <a:xfrm>
            <a:off x="656533" y="8566567"/>
            <a:ext cx="142381" cy="31640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>
                <a:solidFill>
                  <a:srgbClr val="000000"/>
                </a:solidFill>
                <a:latin typeface="Liberation Sans"/>
              </a:rPr>
              <a:t>M</a:t>
            </a:r>
          </a:p>
        </p:txBody>
      </p:sp>
      <p:sp>
        <p:nvSpPr>
          <p:cNvPr id="745" name="assessment-masses-0744"/>
          <p:cNvSpPr txBox="1"/>
          <p:nvPr/>
        </p:nvSpPr>
        <p:spPr>
          <a:xfrm>
            <a:off x="783093" y="8621938"/>
            <a:ext cx="94920" cy="25312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>
                <a:solidFill>
                  <a:srgbClr val="000000"/>
                </a:solidFill>
                <a:latin typeface="Liberation Sans"/>
              </a:rPr>
              <a:t>n</a:t>
            </a:r>
          </a:p>
        </p:txBody>
      </p:sp>
      <p:sp>
        <p:nvSpPr>
          <p:cNvPr id="746" name="assessment-masses-0745"/>
          <p:cNvSpPr txBox="1"/>
          <p:nvPr/>
        </p:nvSpPr>
        <p:spPr>
          <a:xfrm>
            <a:off x="846374" y="8566567"/>
            <a:ext cx="268941" cy="31640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>
                <a:solidFill>
                  <a:srgbClr val="000000"/>
                </a:solidFill>
                <a:latin typeface="Liberation Sans"/>
              </a:rPr>
              <a:t>(A)</a:t>
            </a:r>
          </a:p>
        </p:txBody>
      </p:sp>
      <p:sp>
        <p:nvSpPr>
          <p:cNvPr id="747" name="assessment-masses-0746"/>
          <p:cNvSpPr/>
          <p:nvPr/>
        </p:nvSpPr>
        <p:spPr>
          <a:xfrm>
            <a:off x="1218145" y="8645668"/>
            <a:ext cx="158201" cy="158201"/>
          </a:xfrm>
          <a:prstGeom prst="ellipse">
            <a:avLst/>
          </a:prstGeom>
          <a:solidFill>
            <a:srgbClr val="FEFAEE"/>
          </a:solidFill>
          <a:ln w="1186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8" name="assessment-masses-0747"/>
          <p:cNvCxnSpPr/>
          <p:nvPr/>
        </p:nvCxnSpPr>
        <p:spPr>
          <a:xfrm>
            <a:off x="1245830" y="8724768"/>
            <a:ext cx="102831" cy="0"/>
          </a:xfrm>
          <a:prstGeom prst="line">
            <a:avLst/>
          </a:prstGeom>
          <a:ln w="1107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9" name="assessment-masses-0748"/>
          <p:cNvCxnSpPr/>
          <p:nvPr/>
        </p:nvCxnSpPr>
        <p:spPr>
          <a:xfrm>
            <a:off x="1297246" y="8673353"/>
            <a:ext cx="0" cy="102830"/>
          </a:xfrm>
          <a:prstGeom prst="line">
            <a:avLst/>
          </a:prstGeom>
          <a:ln w="1107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0" name="assessment-masses-0749"/>
          <p:cNvSpPr/>
          <p:nvPr/>
        </p:nvSpPr>
        <p:spPr>
          <a:xfrm>
            <a:off x="1487086" y="8598208"/>
            <a:ext cx="537882" cy="332221"/>
          </a:xfrm>
          <a:prstGeom prst="rect">
            <a:avLst/>
          </a:prstGeom>
          <a:solidFill>
            <a:srgbClr val="B9D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1" name="assessment-masses-0750"/>
          <p:cNvSpPr/>
          <p:nvPr/>
        </p:nvSpPr>
        <p:spPr>
          <a:xfrm>
            <a:off x="1455446" y="8558657"/>
            <a:ext cx="537882" cy="332221"/>
          </a:xfrm>
          <a:prstGeom prst="rect">
            <a:avLst/>
          </a:prstGeom>
          <a:solidFill>
            <a:srgbClr val="FFFFFF"/>
          </a:solidFill>
          <a:ln w="18193">
            <a:solidFill>
              <a:srgbClr val="5D8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2" name="assessment-masses-0751"/>
          <p:cNvCxnSpPr/>
          <p:nvPr/>
        </p:nvCxnSpPr>
        <p:spPr>
          <a:xfrm flipV="1">
            <a:off x="1455446" y="8558657"/>
            <a:ext cx="79101" cy="79101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3" name="assessment-masses-0752"/>
          <p:cNvCxnSpPr/>
          <p:nvPr/>
        </p:nvCxnSpPr>
        <p:spPr>
          <a:xfrm flipV="1">
            <a:off x="1455446" y="8558657"/>
            <a:ext cx="158201" cy="158201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4" name="assessment-masses-0753"/>
          <p:cNvCxnSpPr/>
          <p:nvPr/>
        </p:nvCxnSpPr>
        <p:spPr>
          <a:xfrm flipV="1">
            <a:off x="1455446" y="8558657"/>
            <a:ext cx="237301" cy="237301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5" name="assessment-masses-0754"/>
          <p:cNvCxnSpPr/>
          <p:nvPr/>
        </p:nvCxnSpPr>
        <p:spPr>
          <a:xfrm flipV="1">
            <a:off x="1455446" y="8558657"/>
            <a:ext cx="316402" cy="316402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6" name="assessment-masses-0755"/>
          <p:cNvCxnSpPr/>
          <p:nvPr/>
        </p:nvCxnSpPr>
        <p:spPr>
          <a:xfrm flipV="1">
            <a:off x="1518727" y="8558657"/>
            <a:ext cx="332221" cy="332222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7" name="assessment-masses-0756"/>
          <p:cNvCxnSpPr/>
          <p:nvPr/>
        </p:nvCxnSpPr>
        <p:spPr>
          <a:xfrm flipV="1">
            <a:off x="1597827" y="8558657"/>
            <a:ext cx="332221" cy="332222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8" name="assessment-masses-0757"/>
          <p:cNvCxnSpPr/>
          <p:nvPr/>
        </p:nvCxnSpPr>
        <p:spPr>
          <a:xfrm flipV="1">
            <a:off x="1676927" y="8574478"/>
            <a:ext cx="316402" cy="316401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9" name="assessment-masses-0758"/>
          <p:cNvCxnSpPr/>
          <p:nvPr/>
        </p:nvCxnSpPr>
        <p:spPr>
          <a:xfrm flipV="1">
            <a:off x="1756028" y="8653578"/>
            <a:ext cx="237301" cy="237301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0" name="assessment-masses-0759"/>
          <p:cNvCxnSpPr/>
          <p:nvPr/>
        </p:nvCxnSpPr>
        <p:spPr>
          <a:xfrm flipV="1">
            <a:off x="1835128" y="8732678"/>
            <a:ext cx="158201" cy="158201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1" name="assessment-masses-0760"/>
          <p:cNvCxnSpPr/>
          <p:nvPr/>
        </p:nvCxnSpPr>
        <p:spPr>
          <a:xfrm flipV="1">
            <a:off x="1914228" y="8811779"/>
            <a:ext cx="79101" cy="79100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2" name="assessment-masses-0761"/>
          <p:cNvSpPr txBox="1"/>
          <p:nvPr/>
        </p:nvSpPr>
        <p:spPr>
          <a:xfrm>
            <a:off x="996664" y="7767654"/>
            <a:ext cx="268941" cy="29267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1681" b="1">
                <a:solidFill>
                  <a:srgbClr val="000000"/>
                </a:solidFill>
                <a:latin typeface="Liberation Serif"/>
              </a:rPr>
              <a:t>⋮</a:t>
            </a:r>
          </a:p>
        </p:txBody>
      </p:sp>
      <p:sp>
        <p:nvSpPr>
          <p:cNvPr id="763" name="assessment-masses-0762"/>
          <p:cNvSpPr txBox="1"/>
          <p:nvPr/>
        </p:nvSpPr>
        <p:spPr>
          <a:xfrm>
            <a:off x="1305156" y="7767654"/>
            <a:ext cx="268941" cy="29267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1681" b="1">
                <a:solidFill>
                  <a:srgbClr val="000000"/>
                </a:solidFill>
                <a:latin typeface="Liberation Serif"/>
              </a:rPr>
              <a:t>⋮</a:t>
            </a:r>
          </a:p>
        </p:txBody>
      </p:sp>
      <p:sp>
        <p:nvSpPr>
          <p:cNvPr id="764" name="assessment-masses-0763"/>
          <p:cNvSpPr/>
          <p:nvPr/>
        </p:nvSpPr>
        <p:spPr>
          <a:xfrm>
            <a:off x="2270180" y="7443343"/>
            <a:ext cx="158201" cy="158201"/>
          </a:xfrm>
          <a:prstGeom prst="ellipse">
            <a:avLst/>
          </a:prstGeom>
          <a:solidFill>
            <a:srgbClr val="FEFAEE"/>
          </a:solidFill>
          <a:ln w="1186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5" name="assessment-masses-0764"/>
          <p:cNvCxnSpPr/>
          <p:nvPr/>
        </p:nvCxnSpPr>
        <p:spPr>
          <a:xfrm>
            <a:off x="2297865" y="7522443"/>
            <a:ext cx="102830" cy="0"/>
          </a:xfrm>
          <a:prstGeom prst="line">
            <a:avLst/>
          </a:prstGeom>
          <a:ln w="1107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6" name="assessment-masses-0765"/>
          <p:cNvCxnSpPr/>
          <p:nvPr/>
        </p:nvCxnSpPr>
        <p:spPr>
          <a:xfrm>
            <a:off x="2349280" y="7471028"/>
            <a:ext cx="0" cy="102830"/>
          </a:xfrm>
          <a:prstGeom prst="line">
            <a:avLst/>
          </a:prstGeom>
          <a:ln w="1107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7" name="reliability-vector-0766"/>
          <p:cNvSpPr/>
          <p:nvPr/>
        </p:nvSpPr>
        <p:spPr>
          <a:xfrm>
            <a:off x="2689412" y="6399218"/>
            <a:ext cx="379682" cy="2586581"/>
          </a:xfrm>
          <a:prstGeom prst="roundRect">
            <a:avLst>
              <a:gd name="adj" fmla="val 10416"/>
            </a:avLst>
          </a:prstGeom>
          <a:solidFill>
            <a:srgbClr val="F9F4FA"/>
          </a:solidFill>
          <a:ln w="15820">
            <a:solidFill>
              <a:srgbClr val="FF76D1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8" name="reliability-vector-0767"/>
          <p:cNvSpPr/>
          <p:nvPr/>
        </p:nvSpPr>
        <p:spPr>
          <a:xfrm>
            <a:off x="2768512" y="6430858"/>
            <a:ext cx="221481" cy="221481"/>
          </a:xfrm>
          <a:prstGeom prst="ellipse">
            <a:avLst/>
          </a:prstGeom>
          <a:solidFill>
            <a:srgbClr val="FEFAEE"/>
          </a:solidFill>
          <a:ln w="17402">
            <a:solidFill>
              <a:srgbClr val="D93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9" name="reliability-vector-0768"/>
          <p:cNvSpPr/>
          <p:nvPr/>
        </p:nvSpPr>
        <p:spPr>
          <a:xfrm>
            <a:off x="2768512" y="6715619"/>
            <a:ext cx="221481" cy="221481"/>
          </a:xfrm>
          <a:prstGeom prst="ellipse">
            <a:avLst/>
          </a:prstGeom>
          <a:solidFill>
            <a:srgbClr val="FEFAEE"/>
          </a:solidFill>
          <a:ln w="17402">
            <a:solidFill>
              <a:srgbClr val="5D8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0" name="reliability-vector-0769"/>
          <p:cNvSpPr/>
          <p:nvPr/>
        </p:nvSpPr>
        <p:spPr>
          <a:xfrm>
            <a:off x="2768512" y="7000381"/>
            <a:ext cx="221481" cy="221481"/>
          </a:xfrm>
          <a:prstGeom prst="ellipse">
            <a:avLst/>
          </a:prstGeom>
          <a:solidFill>
            <a:srgbClr val="FEFAEE"/>
          </a:solidFill>
          <a:ln w="17402">
            <a:solidFill>
              <a:srgbClr val="F3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1" name="reliability-vector-0770"/>
          <p:cNvSpPr/>
          <p:nvPr/>
        </p:nvSpPr>
        <p:spPr>
          <a:xfrm>
            <a:off x="2768512" y="7285142"/>
            <a:ext cx="221481" cy="221481"/>
          </a:xfrm>
          <a:prstGeom prst="ellipse">
            <a:avLst/>
          </a:prstGeom>
          <a:solidFill>
            <a:srgbClr val="FEFAEE"/>
          </a:solidFill>
          <a:ln w="17402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2" name="reliability-vector-0771"/>
          <p:cNvSpPr/>
          <p:nvPr/>
        </p:nvSpPr>
        <p:spPr>
          <a:xfrm>
            <a:off x="2768512" y="7569903"/>
            <a:ext cx="221481" cy="221481"/>
          </a:xfrm>
          <a:prstGeom prst="ellipse">
            <a:avLst/>
          </a:prstGeom>
          <a:solidFill>
            <a:srgbClr val="FEFAEE"/>
          </a:solidFill>
          <a:ln w="17402">
            <a:solidFill>
              <a:srgbClr val="E3D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3" name="reliability-vector-0772"/>
          <p:cNvSpPr/>
          <p:nvPr/>
        </p:nvSpPr>
        <p:spPr>
          <a:xfrm>
            <a:off x="2768512" y="7854664"/>
            <a:ext cx="221481" cy="221481"/>
          </a:xfrm>
          <a:prstGeom prst="ellipse">
            <a:avLst/>
          </a:prstGeom>
          <a:solidFill>
            <a:srgbClr val="FEFAEE"/>
          </a:solidFill>
          <a:ln w="17402">
            <a:solidFill>
              <a:srgbClr val="9AB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4" name="reliability-vector-0773"/>
          <p:cNvSpPr/>
          <p:nvPr/>
        </p:nvSpPr>
        <p:spPr>
          <a:xfrm>
            <a:off x="2768512" y="8400457"/>
            <a:ext cx="221481" cy="221481"/>
          </a:xfrm>
          <a:prstGeom prst="ellipse">
            <a:avLst/>
          </a:prstGeom>
          <a:solidFill>
            <a:srgbClr val="FEFAEE"/>
          </a:solidFill>
          <a:ln w="17402">
            <a:solidFill>
              <a:srgbClr val="F4A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5" name="reliability-vector-0774"/>
          <p:cNvSpPr/>
          <p:nvPr/>
        </p:nvSpPr>
        <p:spPr>
          <a:xfrm>
            <a:off x="2768512" y="8685218"/>
            <a:ext cx="221481" cy="221481"/>
          </a:xfrm>
          <a:prstGeom prst="ellipse">
            <a:avLst/>
          </a:prstGeom>
          <a:solidFill>
            <a:srgbClr val="FEFAEE"/>
          </a:solidFill>
          <a:ln w="17402">
            <a:solidFill>
              <a:srgbClr val="5D8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6" name="reliability-vector-0775"/>
          <p:cNvSpPr txBox="1"/>
          <p:nvPr/>
        </p:nvSpPr>
        <p:spPr>
          <a:xfrm>
            <a:off x="2736872" y="8076145"/>
            <a:ext cx="276851" cy="30058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1557" b="1">
                <a:solidFill>
                  <a:srgbClr val="000000"/>
                </a:solidFill>
                <a:latin typeface="Liberation Serif"/>
              </a:rPr>
              <a:t>⋮</a:t>
            </a:r>
          </a:p>
        </p:txBody>
      </p:sp>
      <p:sp>
        <p:nvSpPr>
          <p:cNvPr id="777" name="assessment-flow-0776"/>
          <p:cNvSpPr/>
          <p:nvPr/>
        </p:nvSpPr>
        <p:spPr>
          <a:xfrm>
            <a:off x="3425045" y="7427522"/>
            <a:ext cx="419232" cy="419232"/>
          </a:xfrm>
          <a:custGeom>
            <a:avLst/>
            <a:gdLst/>
            <a:ahLst/>
            <a:cxnLst/>
            <a:rect l="l" t="t" r="r" b="b"/>
            <a:pathLst>
              <a:path w="53" h="53">
                <a:moveTo>
                  <a:pt x="0" y="12"/>
                </a:moveTo>
                <a:lnTo>
                  <a:pt x="24" y="12"/>
                </a:lnTo>
                <a:lnTo>
                  <a:pt x="24" y="0"/>
                </a:lnTo>
                <a:lnTo>
                  <a:pt x="53" y="27"/>
                </a:lnTo>
                <a:lnTo>
                  <a:pt x="24" y="53"/>
                </a:lnTo>
                <a:lnTo>
                  <a:pt x="24" y="41"/>
                </a:lnTo>
                <a:lnTo>
                  <a:pt x="0" y="41"/>
                </a:lnTo>
                <a:close/>
              </a:path>
            </a:pathLst>
          </a:custGeom>
          <a:solidFill>
            <a:srgbClr val="F998DD"/>
          </a:solidFill>
          <a:ln w="10283">
            <a:solidFill>
              <a:srgbClr val="FF76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8" name="assessment-grid-0777"/>
          <p:cNvSpPr/>
          <p:nvPr/>
        </p:nvSpPr>
        <p:spPr>
          <a:xfrm>
            <a:off x="4065758" y="6399218"/>
            <a:ext cx="1827218" cy="2586581"/>
          </a:xfrm>
          <a:prstGeom prst="rect">
            <a:avLst/>
          </a:prstGeom>
          <a:solidFill>
            <a:srgbClr val="FFFFFF"/>
          </a:solidFill>
          <a:ln w="15820">
            <a:solidFill>
              <a:srgbClr val="F7A9DD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79" name="assessment-grid-0778"/>
          <p:cNvCxnSpPr/>
          <p:nvPr/>
        </p:nvCxnSpPr>
        <p:spPr>
          <a:xfrm flipV="1">
            <a:off x="4065758" y="6399218"/>
            <a:ext cx="142380" cy="142381"/>
          </a:xfrm>
          <a:prstGeom prst="line">
            <a:avLst/>
          </a:prstGeom>
          <a:ln w="10283">
            <a:solidFill>
              <a:srgbClr val="F5E9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0" name="assessment-grid-0779"/>
          <p:cNvCxnSpPr/>
          <p:nvPr/>
        </p:nvCxnSpPr>
        <p:spPr>
          <a:xfrm flipV="1">
            <a:off x="4065758" y="6399218"/>
            <a:ext cx="284761" cy="284761"/>
          </a:xfrm>
          <a:prstGeom prst="line">
            <a:avLst/>
          </a:prstGeom>
          <a:ln w="10283">
            <a:solidFill>
              <a:srgbClr val="F5E9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1" name="assessment-grid-0780"/>
          <p:cNvCxnSpPr/>
          <p:nvPr/>
        </p:nvCxnSpPr>
        <p:spPr>
          <a:xfrm flipV="1">
            <a:off x="4065758" y="6399218"/>
            <a:ext cx="427142" cy="427142"/>
          </a:xfrm>
          <a:prstGeom prst="line">
            <a:avLst/>
          </a:prstGeom>
          <a:ln w="10283">
            <a:solidFill>
              <a:srgbClr val="F5E9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2" name="assessment-grid-0781"/>
          <p:cNvCxnSpPr/>
          <p:nvPr/>
        </p:nvCxnSpPr>
        <p:spPr>
          <a:xfrm flipV="1">
            <a:off x="4065758" y="6399218"/>
            <a:ext cx="569522" cy="569522"/>
          </a:xfrm>
          <a:prstGeom prst="line">
            <a:avLst/>
          </a:prstGeom>
          <a:ln w="10283">
            <a:solidFill>
              <a:srgbClr val="F5E9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3" name="assessment-grid-0782"/>
          <p:cNvCxnSpPr/>
          <p:nvPr/>
        </p:nvCxnSpPr>
        <p:spPr>
          <a:xfrm flipV="1">
            <a:off x="4065758" y="6399218"/>
            <a:ext cx="711903" cy="711903"/>
          </a:xfrm>
          <a:prstGeom prst="line">
            <a:avLst/>
          </a:prstGeom>
          <a:ln w="10283">
            <a:solidFill>
              <a:srgbClr val="F5E9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4" name="assessment-grid-0783"/>
          <p:cNvCxnSpPr/>
          <p:nvPr/>
        </p:nvCxnSpPr>
        <p:spPr>
          <a:xfrm flipV="1">
            <a:off x="4065758" y="6399218"/>
            <a:ext cx="854283" cy="854284"/>
          </a:xfrm>
          <a:prstGeom prst="line">
            <a:avLst/>
          </a:prstGeom>
          <a:ln w="10283">
            <a:solidFill>
              <a:srgbClr val="F5E9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5" name="assessment-grid-0784"/>
          <p:cNvCxnSpPr/>
          <p:nvPr/>
        </p:nvCxnSpPr>
        <p:spPr>
          <a:xfrm flipV="1">
            <a:off x="4065758" y="6399218"/>
            <a:ext cx="996664" cy="996664"/>
          </a:xfrm>
          <a:prstGeom prst="line">
            <a:avLst/>
          </a:prstGeom>
          <a:ln w="10283">
            <a:solidFill>
              <a:srgbClr val="F5E9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6" name="assessment-grid-0785"/>
          <p:cNvCxnSpPr/>
          <p:nvPr/>
        </p:nvCxnSpPr>
        <p:spPr>
          <a:xfrm flipV="1">
            <a:off x="4065758" y="6399218"/>
            <a:ext cx="1139045" cy="1139045"/>
          </a:xfrm>
          <a:prstGeom prst="line">
            <a:avLst/>
          </a:prstGeom>
          <a:ln w="10283">
            <a:solidFill>
              <a:srgbClr val="F5E9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7" name="assessment-grid-0786"/>
          <p:cNvCxnSpPr/>
          <p:nvPr/>
        </p:nvCxnSpPr>
        <p:spPr>
          <a:xfrm flipV="1">
            <a:off x="4065758" y="6399218"/>
            <a:ext cx="1281425" cy="1281426"/>
          </a:xfrm>
          <a:prstGeom prst="line">
            <a:avLst/>
          </a:prstGeom>
          <a:ln w="10283">
            <a:solidFill>
              <a:srgbClr val="F5E9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8" name="assessment-grid-0787"/>
          <p:cNvCxnSpPr/>
          <p:nvPr/>
        </p:nvCxnSpPr>
        <p:spPr>
          <a:xfrm flipV="1">
            <a:off x="4065758" y="6399218"/>
            <a:ext cx="1423806" cy="1423806"/>
          </a:xfrm>
          <a:prstGeom prst="line">
            <a:avLst/>
          </a:prstGeom>
          <a:ln w="10283">
            <a:solidFill>
              <a:srgbClr val="F5E9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9" name="assessment-grid-0788"/>
          <p:cNvCxnSpPr/>
          <p:nvPr/>
        </p:nvCxnSpPr>
        <p:spPr>
          <a:xfrm flipV="1">
            <a:off x="4065758" y="6399218"/>
            <a:ext cx="1566187" cy="1566187"/>
          </a:xfrm>
          <a:prstGeom prst="line">
            <a:avLst/>
          </a:prstGeom>
          <a:ln w="10283">
            <a:solidFill>
              <a:srgbClr val="F5E9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0" name="assessment-grid-0789"/>
          <p:cNvCxnSpPr/>
          <p:nvPr/>
        </p:nvCxnSpPr>
        <p:spPr>
          <a:xfrm flipV="1">
            <a:off x="4065758" y="6399218"/>
            <a:ext cx="1708567" cy="1708567"/>
          </a:xfrm>
          <a:prstGeom prst="line">
            <a:avLst/>
          </a:prstGeom>
          <a:ln w="10283">
            <a:solidFill>
              <a:srgbClr val="F5E9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1" name="assessment-grid-0790"/>
          <p:cNvCxnSpPr/>
          <p:nvPr/>
        </p:nvCxnSpPr>
        <p:spPr>
          <a:xfrm flipV="1">
            <a:off x="4065758" y="6422948"/>
            <a:ext cx="1827218" cy="1827218"/>
          </a:xfrm>
          <a:prstGeom prst="line">
            <a:avLst/>
          </a:prstGeom>
          <a:ln w="10283">
            <a:solidFill>
              <a:srgbClr val="F5E9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2" name="assessment-grid-0791"/>
          <p:cNvCxnSpPr/>
          <p:nvPr/>
        </p:nvCxnSpPr>
        <p:spPr>
          <a:xfrm flipV="1">
            <a:off x="4065758" y="6565329"/>
            <a:ext cx="1827218" cy="1827218"/>
          </a:xfrm>
          <a:prstGeom prst="line">
            <a:avLst/>
          </a:prstGeom>
          <a:ln w="10283">
            <a:solidFill>
              <a:srgbClr val="F5E9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3" name="assessment-grid-0792"/>
          <p:cNvCxnSpPr/>
          <p:nvPr/>
        </p:nvCxnSpPr>
        <p:spPr>
          <a:xfrm flipV="1">
            <a:off x="4065758" y="6707709"/>
            <a:ext cx="1827218" cy="1827218"/>
          </a:xfrm>
          <a:prstGeom prst="line">
            <a:avLst/>
          </a:prstGeom>
          <a:ln w="10283">
            <a:solidFill>
              <a:srgbClr val="F5E9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4" name="assessment-grid-0793"/>
          <p:cNvCxnSpPr/>
          <p:nvPr/>
        </p:nvCxnSpPr>
        <p:spPr>
          <a:xfrm flipV="1">
            <a:off x="4065758" y="6850090"/>
            <a:ext cx="1827218" cy="1827218"/>
          </a:xfrm>
          <a:prstGeom prst="line">
            <a:avLst/>
          </a:prstGeom>
          <a:ln w="10283">
            <a:solidFill>
              <a:srgbClr val="F5E9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5" name="assessment-grid-0794"/>
          <p:cNvCxnSpPr/>
          <p:nvPr/>
        </p:nvCxnSpPr>
        <p:spPr>
          <a:xfrm flipV="1">
            <a:off x="4065758" y="6992471"/>
            <a:ext cx="1827218" cy="1827218"/>
          </a:xfrm>
          <a:prstGeom prst="line">
            <a:avLst/>
          </a:prstGeom>
          <a:ln w="10283">
            <a:solidFill>
              <a:srgbClr val="F5E9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6" name="assessment-grid-0795"/>
          <p:cNvCxnSpPr/>
          <p:nvPr/>
        </p:nvCxnSpPr>
        <p:spPr>
          <a:xfrm flipV="1">
            <a:off x="4065758" y="7134851"/>
            <a:ext cx="1827218" cy="1827218"/>
          </a:xfrm>
          <a:prstGeom prst="line">
            <a:avLst/>
          </a:prstGeom>
          <a:ln w="10283">
            <a:solidFill>
              <a:srgbClr val="F5E9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7" name="assessment-grid-0796"/>
          <p:cNvCxnSpPr/>
          <p:nvPr/>
        </p:nvCxnSpPr>
        <p:spPr>
          <a:xfrm flipV="1">
            <a:off x="4184408" y="7277232"/>
            <a:ext cx="1708568" cy="1708567"/>
          </a:xfrm>
          <a:prstGeom prst="line">
            <a:avLst/>
          </a:prstGeom>
          <a:ln w="10283">
            <a:solidFill>
              <a:srgbClr val="F5E9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8" name="assessment-grid-0797"/>
          <p:cNvCxnSpPr/>
          <p:nvPr/>
        </p:nvCxnSpPr>
        <p:spPr>
          <a:xfrm flipV="1">
            <a:off x="4326789" y="7419612"/>
            <a:ext cx="1566187" cy="1566187"/>
          </a:xfrm>
          <a:prstGeom prst="line">
            <a:avLst/>
          </a:prstGeom>
          <a:ln w="10283">
            <a:solidFill>
              <a:srgbClr val="F5E9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9" name="assessment-grid-0798"/>
          <p:cNvCxnSpPr/>
          <p:nvPr/>
        </p:nvCxnSpPr>
        <p:spPr>
          <a:xfrm flipV="1">
            <a:off x="4469169" y="7561993"/>
            <a:ext cx="1423807" cy="1423806"/>
          </a:xfrm>
          <a:prstGeom prst="line">
            <a:avLst/>
          </a:prstGeom>
          <a:ln w="10283">
            <a:solidFill>
              <a:srgbClr val="F5E9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0" name="assessment-grid-0799"/>
          <p:cNvCxnSpPr/>
          <p:nvPr/>
        </p:nvCxnSpPr>
        <p:spPr>
          <a:xfrm flipV="1">
            <a:off x="4611550" y="7704374"/>
            <a:ext cx="1281426" cy="1281425"/>
          </a:xfrm>
          <a:prstGeom prst="line">
            <a:avLst/>
          </a:prstGeom>
          <a:ln w="10283">
            <a:solidFill>
              <a:srgbClr val="F5E9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1" name="assessment-grid-0800"/>
          <p:cNvCxnSpPr/>
          <p:nvPr/>
        </p:nvCxnSpPr>
        <p:spPr>
          <a:xfrm flipV="1">
            <a:off x="4753931" y="7846754"/>
            <a:ext cx="1139045" cy="1139045"/>
          </a:xfrm>
          <a:prstGeom prst="line">
            <a:avLst/>
          </a:prstGeom>
          <a:ln w="10283">
            <a:solidFill>
              <a:srgbClr val="F5E9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2" name="assessment-grid-0801"/>
          <p:cNvCxnSpPr/>
          <p:nvPr/>
        </p:nvCxnSpPr>
        <p:spPr>
          <a:xfrm flipV="1">
            <a:off x="4896311" y="7989135"/>
            <a:ext cx="996665" cy="996664"/>
          </a:xfrm>
          <a:prstGeom prst="line">
            <a:avLst/>
          </a:prstGeom>
          <a:ln w="10283">
            <a:solidFill>
              <a:srgbClr val="F5E9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3" name="assessment-grid-0802"/>
          <p:cNvCxnSpPr/>
          <p:nvPr/>
        </p:nvCxnSpPr>
        <p:spPr>
          <a:xfrm flipV="1">
            <a:off x="5038692" y="8131516"/>
            <a:ext cx="854284" cy="854283"/>
          </a:xfrm>
          <a:prstGeom prst="line">
            <a:avLst/>
          </a:prstGeom>
          <a:ln w="10283">
            <a:solidFill>
              <a:srgbClr val="F5E9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4" name="assessment-grid-0803"/>
          <p:cNvCxnSpPr/>
          <p:nvPr/>
        </p:nvCxnSpPr>
        <p:spPr>
          <a:xfrm flipV="1">
            <a:off x="5181073" y="8273896"/>
            <a:ext cx="711903" cy="711903"/>
          </a:xfrm>
          <a:prstGeom prst="line">
            <a:avLst/>
          </a:prstGeom>
          <a:ln w="10283">
            <a:solidFill>
              <a:srgbClr val="F5E9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5" name="assessment-grid-0804"/>
          <p:cNvCxnSpPr/>
          <p:nvPr/>
        </p:nvCxnSpPr>
        <p:spPr>
          <a:xfrm flipV="1">
            <a:off x="5323453" y="8416277"/>
            <a:ext cx="569523" cy="569522"/>
          </a:xfrm>
          <a:prstGeom prst="line">
            <a:avLst/>
          </a:prstGeom>
          <a:ln w="10283">
            <a:solidFill>
              <a:srgbClr val="F5E9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6" name="assessment-grid-0805"/>
          <p:cNvCxnSpPr/>
          <p:nvPr/>
        </p:nvCxnSpPr>
        <p:spPr>
          <a:xfrm flipV="1">
            <a:off x="5465834" y="8558657"/>
            <a:ext cx="427142" cy="427142"/>
          </a:xfrm>
          <a:prstGeom prst="line">
            <a:avLst/>
          </a:prstGeom>
          <a:ln w="10283">
            <a:solidFill>
              <a:srgbClr val="F5E9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7" name="assessment-grid-0806"/>
          <p:cNvCxnSpPr/>
          <p:nvPr/>
        </p:nvCxnSpPr>
        <p:spPr>
          <a:xfrm flipV="1">
            <a:off x="5608214" y="8701038"/>
            <a:ext cx="284762" cy="284761"/>
          </a:xfrm>
          <a:prstGeom prst="line">
            <a:avLst/>
          </a:prstGeom>
          <a:ln w="10283">
            <a:solidFill>
              <a:srgbClr val="F5E9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8" name="assessment-grid-0807"/>
          <p:cNvCxnSpPr/>
          <p:nvPr/>
        </p:nvCxnSpPr>
        <p:spPr>
          <a:xfrm flipV="1">
            <a:off x="5750595" y="8843419"/>
            <a:ext cx="142381" cy="142380"/>
          </a:xfrm>
          <a:prstGeom prst="line">
            <a:avLst/>
          </a:prstGeom>
          <a:ln w="10283">
            <a:solidFill>
              <a:srgbClr val="F5E9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9" name="assessment-grid-0808"/>
          <p:cNvSpPr/>
          <p:nvPr/>
        </p:nvSpPr>
        <p:spPr>
          <a:xfrm>
            <a:off x="4255599" y="6502048"/>
            <a:ext cx="300581" cy="229391"/>
          </a:xfrm>
          <a:custGeom>
            <a:avLst/>
            <a:gdLst/>
            <a:ahLst/>
            <a:cxnLst/>
            <a:rect l="l" t="t" r="r" b="b"/>
            <a:pathLst>
              <a:path w="38" h="29">
                <a:moveTo>
                  <a:pt x="0" y="29"/>
                </a:moveTo>
                <a:lnTo>
                  <a:pt x="2" y="28"/>
                </a:lnTo>
                <a:lnTo>
                  <a:pt x="3" y="26"/>
                </a:lnTo>
                <a:lnTo>
                  <a:pt x="5" y="24"/>
                </a:lnTo>
                <a:lnTo>
                  <a:pt x="6" y="21"/>
                </a:lnTo>
                <a:lnTo>
                  <a:pt x="8" y="18"/>
                </a:lnTo>
                <a:lnTo>
                  <a:pt x="10" y="15"/>
                </a:lnTo>
                <a:lnTo>
                  <a:pt x="11" y="11"/>
                </a:lnTo>
                <a:lnTo>
                  <a:pt x="13" y="8"/>
                </a:lnTo>
                <a:lnTo>
                  <a:pt x="14" y="4"/>
                </a:lnTo>
                <a:lnTo>
                  <a:pt x="16" y="2"/>
                </a:lnTo>
                <a:lnTo>
                  <a:pt x="17" y="1"/>
                </a:lnTo>
                <a:lnTo>
                  <a:pt x="19" y="0"/>
                </a:lnTo>
                <a:lnTo>
                  <a:pt x="21" y="1"/>
                </a:lnTo>
                <a:lnTo>
                  <a:pt x="22" y="2"/>
                </a:lnTo>
                <a:lnTo>
                  <a:pt x="24" y="4"/>
                </a:lnTo>
                <a:lnTo>
                  <a:pt x="25" y="8"/>
                </a:lnTo>
                <a:lnTo>
                  <a:pt x="27" y="11"/>
                </a:lnTo>
                <a:lnTo>
                  <a:pt x="28" y="15"/>
                </a:lnTo>
                <a:lnTo>
                  <a:pt x="30" y="18"/>
                </a:lnTo>
                <a:lnTo>
                  <a:pt x="32" y="21"/>
                </a:lnTo>
                <a:lnTo>
                  <a:pt x="33" y="24"/>
                </a:lnTo>
                <a:lnTo>
                  <a:pt x="35" y="26"/>
                </a:lnTo>
                <a:lnTo>
                  <a:pt x="36" y="28"/>
                </a:lnTo>
                <a:lnTo>
                  <a:pt x="38" y="29"/>
                </a:lnTo>
              </a:path>
            </a:pathLst>
          </a:custGeom>
          <a:noFill/>
          <a:ln w="12656">
            <a:solidFill>
              <a:srgbClr val="98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0" name="assessment-grid-0809"/>
          <p:cNvSpPr/>
          <p:nvPr/>
        </p:nvSpPr>
        <p:spPr>
          <a:xfrm>
            <a:off x="4793481" y="6502048"/>
            <a:ext cx="300581" cy="229391"/>
          </a:xfrm>
          <a:custGeom>
            <a:avLst/>
            <a:gdLst/>
            <a:ahLst/>
            <a:cxnLst/>
            <a:rect l="l" t="t" r="r" b="b"/>
            <a:pathLst>
              <a:path w="38" h="29">
                <a:moveTo>
                  <a:pt x="0" y="29"/>
                </a:moveTo>
                <a:lnTo>
                  <a:pt x="2" y="28"/>
                </a:lnTo>
                <a:lnTo>
                  <a:pt x="3" y="26"/>
                </a:lnTo>
                <a:lnTo>
                  <a:pt x="5" y="24"/>
                </a:lnTo>
                <a:lnTo>
                  <a:pt x="6" y="21"/>
                </a:lnTo>
                <a:lnTo>
                  <a:pt x="8" y="18"/>
                </a:lnTo>
                <a:lnTo>
                  <a:pt x="10" y="15"/>
                </a:lnTo>
                <a:lnTo>
                  <a:pt x="11" y="11"/>
                </a:lnTo>
                <a:lnTo>
                  <a:pt x="13" y="8"/>
                </a:lnTo>
                <a:lnTo>
                  <a:pt x="14" y="4"/>
                </a:lnTo>
                <a:lnTo>
                  <a:pt x="16" y="2"/>
                </a:lnTo>
                <a:lnTo>
                  <a:pt x="17" y="1"/>
                </a:lnTo>
                <a:lnTo>
                  <a:pt x="19" y="0"/>
                </a:lnTo>
                <a:lnTo>
                  <a:pt x="21" y="1"/>
                </a:lnTo>
                <a:lnTo>
                  <a:pt x="22" y="2"/>
                </a:lnTo>
                <a:lnTo>
                  <a:pt x="24" y="4"/>
                </a:lnTo>
                <a:lnTo>
                  <a:pt x="25" y="8"/>
                </a:lnTo>
                <a:lnTo>
                  <a:pt x="27" y="11"/>
                </a:lnTo>
                <a:lnTo>
                  <a:pt x="28" y="15"/>
                </a:lnTo>
                <a:lnTo>
                  <a:pt x="30" y="18"/>
                </a:lnTo>
                <a:lnTo>
                  <a:pt x="32" y="21"/>
                </a:lnTo>
                <a:lnTo>
                  <a:pt x="33" y="24"/>
                </a:lnTo>
                <a:lnTo>
                  <a:pt x="35" y="26"/>
                </a:lnTo>
                <a:lnTo>
                  <a:pt x="36" y="28"/>
                </a:lnTo>
                <a:lnTo>
                  <a:pt x="38" y="29"/>
                </a:lnTo>
              </a:path>
            </a:pathLst>
          </a:custGeom>
          <a:noFill/>
          <a:ln w="12656">
            <a:solidFill>
              <a:srgbClr val="F7A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1" name="assessment-grid-0810"/>
          <p:cNvSpPr/>
          <p:nvPr/>
        </p:nvSpPr>
        <p:spPr>
          <a:xfrm>
            <a:off x="5331363" y="6502048"/>
            <a:ext cx="300581" cy="229391"/>
          </a:xfrm>
          <a:custGeom>
            <a:avLst/>
            <a:gdLst/>
            <a:ahLst/>
            <a:cxnLst/>
            <a:rect l="l" t="t" r="r" b="b"/>
            <a:pathLst>
              <a:path w="38" h="29">
                <a:moveTo>
                  <a:pt x="0" y="29"/>
                </a:moveTo>
                <a:lnTo>
                  <a:pt x="2" y="28"/>
                </a:lnTo>
                <a:lnTo>
                  <a:pt x="3" y="26"/>
                </a:lnTo>
                <a:lnTo>
                  <a:pt x="5" y="24"/>
                </a:lnTo>
                <a:lnTo>
                  <a:pt x="6" y="21"/>
                </a:lnTo>
                <a:lnTo>
                  <a:pt x="8" y="18"/>
                </a:lnTo>
                <a:lnTo>
                  <a:pt x="10" y="15"/>
                </a:lnTo>
                <a:lnTo>
                  <a:pt x="11" y="11"/>
                </a:lnTo>
                <a:lnTo>
                  <a:pt x="13" y="8"/>
                </a:lnTo>
                <a:lnTo>
                  <a:pt x="14" y="4"/>
                </a:lnTo>
                <a:lnTo>
                  <a:pt x="16" y="2"/>
                </a:lnTo>
                <a:lnTo>
                  <a:pt x="17" y="1"/>
                </a:lnTo>
                <a:lnTo>
                  <a:pt x="19" y="0"/>
                </a:lnTo>
                <a:lnTo>
                  <a:pt x="21" y="1"/>
                </a:lnTo>
                <a:lnTo>
                  <a:pt x="22" y="2"/>
                </a:lnTo>
                <a:lnTo>
                  <a:pt x="24" y="4"/>
                </a:lnTo>
                <a:lnTo>
                  <a:pt x="25" y="8"/>
                </a:lnTo>
                <a:lnTo>
                  <a:pt x="27" y="11"/>
                </a:lnTo>
                <a:lnTo>
                  <a:pt x="28" y="15"/>
                </a:lnTo>
                <a:lnTo>
                  <a:pt x="30" y="18"/>
                </a:lnTo>
                <a:lnTo>
                  <a:pt x="32" y="21"/>
                </a:lnTo>
                <a:lnTo>
                  <a:pt x="33" y="24"/>
                </a:lnTo>
                <a:lnTo>
                  <a:pt x="35" y="26"/>
                </a:lnTo>
                <a:lnTo>
                  <a:pt x="36" y="28"/>
                </a:lnTo>
                <a:lnTo>
                  <a:pt x="38" y="29"/>
                </a:lnTo>
              </a:path>
            </a:pathLst>
          </a:custGeom>
          <a:noFill/>
          <a:ln w="12656">
            <a:solidFill>
              <a:srgbClr val="F3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2" name="assessment-grid-0811"/>
          <p:cNvSpPr/>
          <p:nvPr/>
        </p:nvSpPr>
        <p:spPr>
          <a:xfrm>
            <a:off x="4255599" y="6897550"/>
            <a:ext cx="300581" cy="229391"/>
          </a:xfrm>
          <a:custGeom>
            <a:avLst/>
            <a:gdLst/>
            <a:ahLst/>
            <a:cxnLst/>
            <a:rect l="l" t="t" r="r" b="b"/>
            <a:pathLst>
              <a:path w="38" h="29">
                <a:moveTo>
                  <a:pt x="0" y="29"/>
                </a:moveTo>
                <a:lnTo>
                  <a:pt x="2" y="28"/>
                </a:lnTo>
                <a:lnTo>
                  <a:pt x="3" y="26"/>
                </a:lnTo>
                <a:lnTo>
                  <a:pt x="5" y="24"/>
                </a:lnTo>
                <a:lnTo>
                  <a:pt x="6" y="21"/>
                </a:lnTo>
                <a:lnTo>
                  <a:pt x="8" y="18"/>
                </a:lnTo>
                <a:lnTo>
                  <a:pt x="10" y="15"/>
                </a:lnTo>
                <a:lnTo>
                  <a:pt x="11" y="11"/>
                </a:lnTo>
                <a:lnTo>
                  <a:pt x="13" y="8"/>
                </a:lnTo>
                <a:lnTo>
                  <a:pt x="14" y="4"/>
                </a:lnTo>
                <a:lnTo>
                  <a:pt x="16" y="2"/>
                </a:lnTo>
                <a:lnTo>
                  <a:pt x="17" y="1"/>
                </a:lnTo>
                <a:lnTo>
                  <a:pt x="19" y="0"/>
                </a:lnTo>
                <a:lnTo>
                  <a:pt x="21" y="1"/>
                </a:lnTo>
                <a:lnTo>
                  <a:pt x="22" y="2"/>
                </a:lnTo>
                <a:lnTo>
                  <a:pt x="24" y="4"/>
                </a:lnTo>
                <a:lnTo>
                  <a:pt x="25" y="8"/>
                </a:lnTo>
                <a:lnTo>
                  <a:pt x="27" y="11"/>
                </a:lnTo>
                <a:lnTo>
                  <a:pt x="28" y="15"/>
                </a:lnTo>
                <a:lnTo>
                  <a:pt x="30" y="18"/>
                </a:lnTo>
                <a:lnTo>
                  <a:pt x="32" y="21"/>
                </a:lnTo>
                <a:lnTo>
                  <a:pt x="33" y="24"/>
                </a:lnTo>
                <a:lnTo>
                  <a:pt x="35" y="26"/>
                </a:lnTo>
                <a:lnTo>
                  <a:pt x="36" y="28"/>
                </a:lnTo>
                <a:lnTo>
                  <a:pt x="38" y="29"/>
                </a:lnTo>
              </a:path>
            </a:pathLst>
          </a:custGeom>
          <a:noFill/>
          <a:ln w="12656">
            <a:solidFill>
              <a:srgbClr val="98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3" name="assessment-grid-0812"/>
          <p:cNvSpPr/>
          <p:nvPr/>
        </p:nvSpPr>
        <p:spPr>
          <a:xfrm>
            <a:off x="4793481" y="6897550"/>
            <a:ext cx="300581" cy="229391"/>
          </a:xfrm>
          <a:custGeom>
            <a:avLst/>
            <a:gdLst/>
            <a:ahLst/>
            <a:cxnLst/>
            <a:rect l="l" t="t" r="r" b="b"/>
            <a:pathLst>
              <a:path w="38" h="29">
                <a:moveTo>
                  <a:pt x="0" y="29"/>
                </a:moveTo>
                <a:lnTo>
                  <a:pt x="2" y="28"/>
                </a:lnTo>
                <a:lnTo>
                  <a:pt x="3" y="26"/>
                </a:lnTo>
                <a:lnTo>
                  <a:pt x="5" y="24"/>
                </a:lnTo>
                <a:lnTo>
                  <a:pt x="6" y="21"/>
                </a:lnTo>
                <a:lnTo>
                  <a:pt x="8" y="18"/>
                </a:lnTo>
                <a:lnTo>
                  <a:pt x="10" y="15"/>
                </a:lnTo>
                <a:lnTo>
                  <a:pt x="11" y="11"/>
                </a:lnTo>
                <a:lnTo>
                  <a:pt x="13" y="8"/>
                </a:lnTo>
                <a:lnTo>
                  <a:pt x="14" y="4"/>
                </a:lnTo>
                <a:lnTo>
                  <a:pt x="16" y="2"/>
                </a:lnTo>
                <a:lnTo>
                  <a:pt x="17" y="1"/>
                </a:lnTo>
                <a:lnTo>
                  <a:pt x="19" y="0"/>
                </a:lnTo>
                <a:lnTo>
                  <a:pt x="21" y="1"/>
                </a:lnTo>
                <a:lnTo>
                  <a:pt x="22" y="2"/>
                </a:lnTo>
                <a:lnTo>
                  <a:pt x="24" y="4"/>
                </a:lnTo>
                <a:lnTo>
                  <a:pt x="25" y="8"/>
                </a:lnTo>
                <a:lnTo>
                  <a:pt x="27" y="11"/>
                </a:lnTo>
                <a:lnTo>
                  <a:pt x="28" y="15"/>
                </a:lnTo>
                <a:lnTo>
                  <a:pt x="30" y="18"/>
                </a:lnTo>
                <a:lnTo>
                  <a:pt x="32" y="21"/>
                </a:lnTo>
                <a:lnTo>
                  <a:pt x="33" y="24"/>
                </a:lnTo>
                <a:lnTo>
                  <a:pt x="35" y="26"/>
                </a:lnTo>
                <a:lnTo>
                  <a:pt x="36" y="28"/>
                </a:lnTo>
                <a:lnTo>
                  <a:pt x="38" y="29"/>
                </a:lnTo>
              </a:path>
            </a:pathLst>
          </a:custGeom>
          <a:noFill/>
          <a:ln w="12656">
            <a:solidFill>
              <a:srgbClr val="F7A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4" name="assessment-grid-0813"/>
          <p:cNvSpPr/>
          <p:nvPr/>
        </p:nvSpPr>
        <p:spPr>
          <a:xfrm>
            <a:off x="5331363" y="6897550"/>
            <a:ext cx="300581" cy="229391"/>
          </a:xfrm>
          <a:custGeom>
            <a:avLst/>
            <a:gdLst/>
            <a:ahLst/>
            <a:cxnLst/>
            <a:rect l="l" t="t" r="r" b="b"/>
            <a:pathLst>
              <a:path w="38" h="29">
                <a:moveTo>
                  <a:pt x="0" y="29"/>
                </a:moveTo>
                <a:lnTo>
                  <a:pt x="2" y="28"/>
                </a:lnTo>
                <a:lnTo>
                  <a:pt x="3" y="26"/>
                </a:lnTo>
                <a:lnTo>
                  <a:pt x="5" y="24"/>
                </a:lnTo>
                <a:lnTo>
                  <a:pt x="6" y="21"/>
                </a:lnTo>
                <a:lnTo>
                  <a:pt x="8" y="18"/>
                </a:lnTo>
                <a:lnTo>
                  <a:pt x="10" y="15"/>
                </a:lnTo>
                <a:lnTo>
                  <a:pt x="11" y="11"/>
                </a:lnTo>
                <a:lnTo>
                  <a:pt x="13" y="8"/>
                </a:lnTo>
                <a:lnTo>
                  <a:pt x="14" y="4"/>
                </a:lnTo>
                <a:lnTo>
                  <a:pt x="16" y="2"/>
                </a:lnTo>
                <a:lnTo>
                  <a:pt x="17" y="1"/>
                </a:lnTo>
                <a:lnTo>
                  <a:pt x="19" y="0"/>
                </a:lnTo>
                <a:lnTo>
                  <a:pt x="21" y="1"/>
                </a:lnTo>
                <a:lnTo>
                  <a:pt x="22" y="2"/>
                </a:lnTo>
                <a:lnTo>
                  <a:pt x="24" y="4"/>
                </a:lnTo>
                <a:lnTo>
                  <a:pt x="25" y="8"/>
                </a:lnTo>
                <a:lnTo>
                  <a:pt x="27" y="11"/>
                </a:lnTo>
                <a:lnTo>
                  <a:pt x="28" y="15"/>
                </a:lnTo>
                <a:lnTo>
                  <a:pt x="30" y="18"/>
                </a:lnTo>
                <a:lnTo>
                  <a:pt x="32" y="21"/>
                </a:lnTo>
                <a:lnTo>
                  <a:pt x="33" y="24"/>
                </a:lnTo>
                <a:lnTo>
                  <a:pt x="35" y="26"/>
                </a:lnTo>
                <a:lnTo>
                  <a:pt x="36" y="28"/>
                </a:lnTo>
                <a:lnTo>
                  <a:pt x="38" y="29"/>
                </a:lnTo>
              </a:path>
            </a:pathLst>
          </a:custGeom>
          <a:noFill/>
          <a:ln w="12656">
            <a:solidFill>
              <a:srgbClr val="F3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5" name="assessment-grid-0814"/>
          <p:cNvSpPr/>
          <p:nvPr/>
        </p:nvSpPr>
        <p:spPr>
          <a:xfrm>
            <a:off x="4255599" y="7293052"/>
            <a:ext cx="300581" cy="229391"/>
          </a:xfrm>
          <a:custGeom>
            <a:avLst/>
            <a:gdLst/>
            <a:ahLst/>
            <a:cxnLst/>
            <a:rect l="l" t="t" r="r" b="b"/>
            <a:pathLst>
              <a:path w="38" h="29">
                <a:moveTo>
                  <a:pt x="0" y="29"/>
                </a:moveTo>
                <a:lnTo>
                  <a:pt x="2" y="28"/>
                </a:lnTo>
                <a:lnTo>
                  <a:pt x="3" y="26"/>
                </a:lnTo>
                <a:lnTo>
                  <a:pt x="5" y="24"/>
                </a:lnTo>
                <a:lnTo>
                  <a:pt x="6" y="21"/>
                </a:lnTo>
                <a:lnTo>
                  <a:pt x="8" y="18"/>
                </a:lnTo>
                <a:lnTo>
                  <a:pt x="10" y="15"/>
                </a:lnTo>
                <a:lnTo>
                  <a:pt x="11" y="11"/>
                </a:lnTo>
                <a:lnTo>
                  <a:pt x="13" y="8"/>
                </a:lnTo>
                <a:lnTo>
                  <a:pt x="14" y="4"/>
                </a:lnTo>
                <a:lnTo>
                  <a:pt x="16" y="2"/>
                </a:lnTo>
                <a:lnTo>
                  <a:pt x="17" y="1"/>
                </a:lnTo>
                <a:lnTo>
                  <a:pt x="19" y="0"/>
                </a:lnTo>
                <a:lnTo>
                  <a:pt x="21" y="1"/>
                </a:lnTo>
                <a:lnTo>
                  <a:pt x="22" y="2"/>
                </a:lnTo>
                <a:lnTo>
                  <a:pt x="24" y="4"/>
                </a:lnTo>
                <a:lnTo>
                  <a:pt x="25" y="8"/>
                </a:lnTo>
                <a:lnTo>
                  <a:pt x="27" y="11"/>
                </a:lnTo>
                <a:lnTo>
                  <a:pt x="28" y="15"/>
                </a:lnTo>
                <a:lnTo>
                  <a:pt x="30" y="18"/>
                </a:lnTo>
                <a:lnTo>
                  <a:pt x="32" y="21"/>
                </a:lnTo>
                <a:lnTo>
                  <a:pt x="33" y="24"/>
                </a:lnTo>
                <a:lnTo>
                  <a:pt x="35" y="26"/>
                </a:lnTo>
                <a:lnTo>
                  <a:pt x="36" y="28"/>
                </a:lnTo>
                <a:lnTo>
                  <a:pt x="38" y="29"/>
                </a:lnTo>
              </a:path>
            </a:pathLst>
          </a:custGeom>
          <a:noFill/>
          <a:ln w="12656">
            <a:solidFill>
              <a:srgbClr val="98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6" name="assessment-grid-0815"/>
          <p:cNvSpPr/>
          <p:nvPr/>
        </p:nvSpPr>
        <p:spPr>
          <a:xfrm>
            <a:off x="4793481" y="7293052"/>
            <a:ext cx="300581" cy="229391"/>
          </a:xfrm>
          <a:custGeom>
            <a:avLst/>
            <a:gdLst/>
            <a:ahLst/>
            <a:cxnLst/>
            <a:rect l="l" t="t" r="r" b="b"/>
            <a:pathLst>
              <a:path w="38" h="29">
                <a:moveTo>
                  <a:pt x="0" y="29"/>
                </a:moveTo>
                <a:lnTo>
                  <a:pt x="2" y="28"/>
                </a:lnTo>
                <a:lnTo>
                  <a:pt x="3" y="26"/>
                </a:lnTo>
                <a:lnTo>
                  <a:pt x="5" y="24"/>
                </a:lnTo>
                <a:lnTo>
                  <a:pt x="6" y="21"/>
                </a:lnTo>
                <a:lnTo>
                  <a:pt x="8" y="18"/>
                </a:lnTo>
                <a:lnTo>
                  <a:pt x="10" y="15"/>
                </a:lnTo>
                <a:lnTo>
                  <a:pt x="11" y="11"/>
                </a:lnTo>
                <a:lnTo>
                  <a:pt x="13" y="8"/>
                </a:lnTo>
                <a:lnTo>
                  <a:pt x="14" y="4"/>
                </a:lnTo>
                <a:lnTo>
                  <a:pt x="16" y="2"/>
                </a:lnTo>
                <a:lnTo>
                  <a:pt x="17" y="1"/>
                </a:lnTo>
                <a:lnTo>
                  <a:pt x="19" y="0"/>
                </a:lnTo>
                <a:lnTo>
                  <a:pt x="21" y="1"/>
                </a:lnTo>
                <a:lnTo>
                  <a:pt x="22" y="2"/>
                </a:lnTo>
                <a:lnTo>
                  <a:pt x="24" y="4"/>
                </a:lnTo>
                <a:lnTo>
                  <a:pt x="25" y="8"/>
                </a:lnTo>
                <a:lnTo>
                  <a:pt x="27" y="11"/>
                </a:lnTo>
                <a:lnTo>
                  <a:pt x="28" y="15"/>
                </a:lnTo>
                <a:lnTo>
                  <a:pt x="30" y="18"/>
                </a:lnTo>
                <a:lnTo>
                  <a:pt x="32" y="21"/>
                </a:lnTo>
                <a:lnTo>
                  <a:pt x="33" y="24"/>
                </a:lnTo>
                <a:lnTo>
                  <a:pt x="35" y="26"/>
                </a:lnTo>
                <a:lnTo>
                  <a:pt x="36" y="28"/>
                </a:lnTo>
                <a:lnTo>
                  <a:pt x="38" y="29"/>
                </a:lnTo>
              </a:path>
            </a:pathLst>
          </a:custGeom>
          <a:noFill/>
          <a:ln w="12656">
            <a:solidFill>
              <a:srgbClr val="F7A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7" name="assessment-grid-0816"/>
          <p:cNvSpPr/>
          <p:nvPr/>
        </p:nvSpPr>
        <p:spPr>
          <a:xfrm>
            <a:off x="5331363" y="7293052"/>
            <a:ext cx="300581" cy="229391"/>
          </a:xfrm>
          <a:custGeom>
            <a:avLst/>
            <a:gdLst/>
            <a:ahLst/>
            <a:cxnLst/>
            <a:rect l="l" t="t" r="r" b="b"/>
            <a:pathLst>
              <a:path w="38" h="29">
                <a:moveTo>
                  <a:pt x="0" y="29"/>
                </a:moveTo>
                <a:lnTo>
                  <a:pt x="2" y="28"/>
                </a:lnTo>
                <a:lnTo>
                  <a:pt x="3" y="26"/>
                </a:lnTo>
                <a:lnTo>
                  <a:pt x="5" y="24"/>
                </a:lnTo>
                <a:lnTo>
                  <a:pt x="6" y="21"/>
                </a:lnTo>
                <a:lnTo>
                  <a:pt x="8" y="18"/>
                </a:lnTo>
                <a:lnTo>
                  <a:pt x="10" y="15"/>
                </a:lnTo>
                <a:lnTo>
                  <a:pt x="11" y="11"/>
                </a:lnTo>
                <a:lnTo>
                  <a:pt x="13" y="8"/>
                </a:lnTo>
                <a:lnTo>
                  <a:pt x="14" y="4"/>
                </a:lnTo>
                <a:lnTo>
                  <a:pt x="16" y="2"/>
                </a:lnTo>
                <a:lnTo>
                  <a:pt x="17" y="1"/>
                </a:lnTo>
                <a:lnTo>
                  <a:pt x="19" y="0"/>
                </a:lnTo>
                <a:lnTo>
                  <a:pt x="21" y="1"/>
                </a:lnTo>
                <a:lnTo>
                  <a:pt x="22" y="2"/>
                </a:lnTo>
                <a:lnTo>
                  <a:pt x="24" y="4"/>
                </a:lnTo>
                <a:lnTo>
                  <a:pt x="25" y="8"/>
                </a:lnTo>
                <a:lnTo>
                  <a:pt x="27" y="11"/>
                </a:lnTo>
                <a:lnTo>
                  <a:pt x="28" y="15"/>
                </a:lnTo>
                <a:lnTo>
                  <a:pt x="30" y="18"/>
                </a:lnTo>
                <a:lnTo>
                  <a:pt x="32" y="21"/>
                </a:lnTo>
                <a:lnTo>
                  <a:pt x="33" y="24"/>
                </a:lnTo>
                <a:lnTo>
                  <a:pt x="35" y="26"/>
                </a:lnTo>
                <a:lnTo>
                  <a:pt x="36" y="28"/>
                </a:lnTo>
                <a:lnTo>
                  <a:pt x="38" y="29"/>
                </a:lnTo>
              </a:path>
            </a:pathLst>
          </a:custGeom>
          <a:noFill/>
          <a:ln w="12656">
            <a:solidFill>
              <a:srgbClr val="F3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8" name="assessment-grid-0817"/>
          <p:cNvSpPr/>
          <p:nvPr/>
        </p:nvSpPr>
        <p:spPr>
          <a:xfrm>
            <a:off x="4255599" y="7688554"/>
            <a:ext cx="300581" cy="229391"/>
          </a:xfrm>
          <a:custGeom>
            <a:avLst/>
            <a:gdLst/>
            <a:ahLst/>
            <a:cxnLst/>
            <a:rect l="l" t="t" r="r" b="b"/>
            <a:pathLst>
              <a:path w="38" h="29">
                <a:moveTo>
                  <a:pt x="0" y="29"/>
                </a:moveTo>
                <a:lnTo>
                  <a:pt x="2" y="28"/>
                </a:lnTo>
                <a:lnTo>
                  <a:pt x="3" y="26"/>
                </a:lnTo>
                <a:lnTo>
                  <a:pt x="5" y="24"/>
                </a:lnTo>
                <a:lnTo>
                  <a:pt x="6" y="21"/>
                </a:lnTo>
                <a:lnTo>
                  <a:pt x="8" y="18"/>
                </a:lnTo>
                <a:lnTo>
                  <a:pt x="10" y="15"/>
                </a:lnTo>
                <a:lnTo>
                  <a:pt x="11" y="11"/>
                </a:lnTo>
                <a:lnTo>
                  <a:pt x="13" y="8"/>
                </a:lnTo>
                <a:lnTo>
                  <a:pt x="14" y="4"/>
                </a:lnTo>
                <a:lnTo>
                  <a:pt x="16" y="2"/>
                </a:lnTo>
                <a:lnTo>
                  <a:pt x="17" y="1"/>
                </a:lnTo>
                <a:lnTo>
                  <a:pt x="19" y="0"/>
                </a:lnTo>
                <a:lnTo>
                  <a:pt x="21" y="1"/>
                </a:lnTo>
                <a:lnTo>
                  <a:pt x="22" y="2"/>
                </a:lnTo>
                <a:lnTo>
                  <a:pt x="24" y="4"/>
                </a:lnTo>
                <a:lnTo>
                  <a:pt x="25" y="8"/>
                </a:lnTo>
                <a:lnTo>
                  <a:pt x="27" y="11"/>
                </a:lnTo>
                <a:lnTo>
                  <a:pt x="28" y="15"/>
                </a:lnTo>
                <a:lnTo>
                  <a:pt x="30" y="18"/>
                </a:lnTo>
                <a:lnTo>
                  <a:pt x="32" y="21"/>
                </a:lnTo>
                <a:lnTo>
                  <a:pt x="33" y="24"/>
                </a:lnTo>
                <a:lnTo>
                  <a:pt x="35" y="26"/>
                </a:lnTo>
                <a:lnTo>
                  <a:pt x="36" y="28"/>
                </a:lnTo>
                <a:lnTo>
                  <a:pt x="38" y="29"/>
                </a:lnTo>
              </a:path>
            </a:pathLst>
          </a:custGeom>
          <a:noFill/>
          <a:ln w="12656">
            <a:solidFill>
              <a:srgbClr val="98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9" name="assessment-grid-0818"/>
          <p:cNvSpPr/>
          <p:nvPr/>
        </p:nvSpPr>
        <p:spPr>
          <a:xfrm>
            <a:off x="4793481" y="7688554"/>
            <a:ext cx="300581" cy="229391"/>
          </a:xfrm>
          <a:custGeom>
            <a:avLst/>
            <a:gdLst/>
            <a:ahLst/>
            <a:cxnLst/>
            <a:rect l="l" t="t" r="r" b="b"/>
            <a:pathLst>
              <a:path w="38" h="29">
                <a:moveTo>
                  <a:pt x="0" y="29"/>
                </a:moveTo>
                <a:lnTo>
                  <a:pt x="2" y="28"/>
                </a:lnTo>
                <a:lnTo>
                  <a:pt x="3" y="26"/>
                </a:lnTo>
                <a:lnTo>
                  <a:pt x="5" y="24"/>
                </a:lnTo>
                <a:lnTo>
                  <a:pt x="6" y="21"/>
                </a:lnTo>
                <a:lnTo>
                  <a:pt x="8" y="18"/>
                </a:lnTo>
                <a:lnTo>
                  <a:pt x="10" y="15"/>
                </a:lnTo>
                <a:lnTo>
                  <a:pt x="11" y="11"/>
                </a:lnTo>
                <a:lnTo>
                  <a:pt x="13" y="8"/>
                </a:lnTo>
                <a:lnTo>
                  <a:pt x="14" y="4"/>
                </a:lnTo>
                <a:lnTo>
                  <a:pt x="16" y="2"/>
                </a:lnTo>
                <a:lnTo>
                  <a:pt x="17" y="1"/>
                </a:lnTo>
                <a:lnTo>
                  <a:pt x="19" y="0"/>
                </a:lnTo>
                <a:lnTo>
                  <a:pt x="21" y="1"/>
                </a:lnTo>
                <a:lnTo>
                  <a:pt x="22" y="2"/>
                </a:lnTo>
                <a:lnTo>
                  <a:pt x="24" y="4"/>
                </a:lnTo>
                <a:lnTo>
                  <a:pt x="25" y="8"/>
                </a:lnTo>
                <a:lnTo>
                  <a:pt x="27" y="11"/>
                </a:lnTo>
                <a:lnTo>
                  <a:pt x="28" y="15"/>
                </a:lnTo>
                <a:lnTo>
                  <a:pt x="30" y="18"/>
                </a:lnTo>
                <a:lnTo>
                  <a:pt x="32" y="21"/>
                </a:lnTo>
                <a:lnTo>
                  <a:pt x="33" y="24"/>
                </a:lnTo>
                <a:lnTo>
                  <a:pt x="35" y="26"/>
                </a:lnTo>
                <a:lnTo>
                  <a:pt x="36" y="28"/>
                </a:lnTo>
                <a:lnTo>
                  <a:pt x="38" y="29"/>
                </a:lnTo>
              </a:path>
            </a:pathLst>
          </a:custGeom>
          <a:noFill/>
          <a:ln w="12656">
            <a:solidFill>
              <a:srgbClr val="F7A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0" name="assessment-grid-0819"/>
          <p:cNvSpPr/>
          <p:nvPr/>
        </p:nvSpPr>
        <p:spPr>
          <a:xfrm>
            <a:off x="5331363" y="7688554"/>
            <a:ext cx="300581" cy="229391"/>
          </a:xfrm>
          <a:custGeom>
            <a:avLst/>
            <a:gdLst/>
            <a:ahLst/>
            <a:cxnLst/>
            <a:rect l="l" t="t" r="r" b="b"/>
            <a:pathLst>
              <a:path w="38" h="29">
                <a:moveTo>
                  <a:pt x="0" y="29"/>
                </a:moveTo>
                <a:lnTo>
                  <a:pt x="2" y="28"/>
                </a:lnTo>
                <a:lnTo>
                  <a:pt x="3" y="26"/>
                </a:lnTo>
                <a:lnTo>
                  <a:pt x="5" y="24"/>
                </a:lnTo>
                <a:lnTo>
                  <a:pt x="6" y="21"/>
                </a:lnTo>
                <a:lnTo>
                  <a:pt x="8" y="18"/>
                </a:lnTo>
                <a:lnTo>
                  <a:pt x="10" y="15"/>
                </a:lnTo>
                <a:lnTo>
                  <a:pt x="11" y="11"/>
                </a:lnTo>
                <a:lnTo>
                  <a:pt x="13" y="8"/>
                </a:lnTo>
                <a:lnTo>
                  <a:pt x="14" y="4"/>
                </a:lnTo>
                <a:lnTo>
                  <a:pt x="16" y="2"/>
                </a:lnTo>
                <a:lnTo>
                  <a:pt x="17" y="1"/>
                </a:lnTo>
                <a:lnTo>
                  <a:pt x="19" y="0"/>
                </a:lnTo>
                <a:lnTo>
                  <a:pt x="21" y="1"/>
                </a:lnTo>
                <a:lnTo>
                  <a:pt x="22" y="2"/>
                </a:lnTo>
                <a:lnTo>
                  <a:pt x="24" y="4"/>
                </a:lnTo>
                <a:lnTo>
                  <a:pt x="25" y="8"/>
                </a:lnTo>
                <a:lnTo>
                  <a:pt x="27" y="11"/>
                </a:lnTo>
                <a:lnTo>
                  <a:pt x="28" y="15"/>
                </a:lnTo>
                <a:lnTo>
                  <a:pt x="30" y="18"/>
                </a:lnTo>
                <a:lnTo>
                  <a:pt x="32" y="21"/>
                </a:lnTo>
                <a:lnTo>
                  <a:pt x="33" y="24"/>
                </a:lnTo>
                <a:lnTo>
                  <a:pt x="35" y="26"/>
                </a:lnTo>
                <a:lnTo>
                  <a:pt x="36" y="28"/>
                </a:lnTo>
                <a:lnTo>
                  <a:pt x="38" y="29"/>
                </a:lnTo>
              </a:path>
            </a:pathLst>
          </a:custGeom>
          <a:noFill/>
          <a:ln w="12656">
            <a:solidFill>
              <a:srgbClr val="F3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1" name="assessment-grid-0820"/>
          <p:cNvSpPr/>
          <p:nvPr/>
        </p:nvSpPr>
        <p:spPr>
          <a:xfrm>
            <a:off x="4255599" y="8084055"/>
            <a:ext cx="300581" cy="229391"/>
          </a:xfrm>
          <a:custGeom>
            <a:avLst/>
            <a:gdLst/>
            <a:ahLst/>
            <a:cxnLst/>
            <a:rect l="l" t="t" r="r" b="b"/>
            <a:pathLst>
              <a:path w="38" h="29">
                <a:moveTo>
                  <a:pt x="0" y="29"/>
                </a:moveTo>
                <a:lnTo>
                  <a:pt x="2" y="28"/>
                </a:lnTo>
                <a:lnTo>
                  <a:pt x="3" y="26"/>
                </a:lnTo>
                <a:lnTo>
                  <a:pt x="5" y="24"/>
                </a:lnTo>
                <a:lnTo>
                  <a:pt x="6" y="21"/>
                </a:lnTo>
                <a:lnTo>
                  <a:pt x="8" y="18"/>
                </a:lnTo>
                <a:lnTo>
                  <a:pt x="10" y="15"/>
                </a:lnTo>
                <a:lnTo>
                  <a:pt x="11" y="11"/>
                </a:lnTo>
                <a:lnTo>
                  <a:pt x="13" y="8"/>
                </a:lnTo>
                <a:lnTo>
                  <a:pt x="14" y="4"/>
                </a:lnTo>
                <a:lnTo>
                  <a:pt x="16" y="2"/>
                </a:lnTo>
                <a:lnTo>
                  <a:pt x="17" y="1"/>
                </a:lnTo>
                <a:lnTo>
                  <a:pt x="19" y="0"/>
                </a:lnTo>
                <a:lnTo>
                  <a:pt x="21" y="1"/>
                </a:lnTo>
                <a:lnTo>
                  <a:pt x="22" y="2"/>
                </a:lnTo>
                <a:lnTo>
                  <a:pt x="24" y="4"/>
                </a:lnTo>
                <a:lnTo>
                  <a:pt x="25" y="8"/>
                </a:lnTo>
                <a:lnTo>
                  <a:pt x="27" y="11"/>
                </a:lnTo>
                <a:lnTo>
                  <a:pt x="28" y="15"/>
                </a:lnTo>
                <a:lnTo>
                  <a:pt x="30" y="18"/>
                </a:lnTo>
                <a:lnTo>
                  <a:pt x="32" y="21"/>
                </a:lnTo>
                <a:lnTo>
                  <a:pt x="33" y="24"/>
                </a:lnTo>
                <a:lnTo>
                  <a:pt x="35" y="26"/>
                </a:lnTo>
                <a:lnTo>
                  <a:pt x="36" y="28"/>
                </a:lnTo>
                <a:lnTo>
                  <a:pt x="38" y="29"/>
                </a:lnTo>
              </a:path>
            </a:pathLst>
          </a:custGeom>
          <a:noFill/>
          <a:ln w="12656">
            <a:solidFill>
              <a:srgbClr val="98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2" name="assessment-grid-0821"/>
          <p:cNvSpPr/>
          <p:nvPr/>
        </p:nvSpPr>
        <p:spPr>
          <a:xfrm>
            <a:off x="4793481" y="8084055"/>
            <a:ext cx="300581" cy="229391"/>
          </a:xfrm>
          <a:custGeom>
            <a:avLst/>
            <a:gdLst/>
            <a:ahLst/>
            <a:cxnLst/>
            <a:rect l="l" t="t" r="r" b="b"/>
            <a:pathLst>
              <a:path w="38" h="29">
                <a:moveTo>
                  <a:pt x="0" y="29"/>
                </a:moveTo>
                <a:lnTo>
                  <a:pt x="2" y="28"/>
                </a:lnTo>
                <a:lnTo>
                  <a:pt x="3" y="26"/>
                </a:lnTo>
                <a:lnTo>
                  <a:pt x="5" y="24"/>
                </a:lnTo>
                <a:lnTo>
                  <a:pt x="6" y="21"/>
                </a:lnTo>
                <a:lnTo>
                  <a:pt x="8" y="18"/>
                </a:lnTo>
                <a:lnTo>
                  <a:pt x="10" y="15"/>
                </a:lnTo>
                <a:lnTo>
                  <a:pt x="11" y="11"/>
                </a:lnTo>
                <a:lnTo>
                  <a:pt x="13" y="8"/>
                </a:lnTo>
                <a:lnTo>
                  <a:pt x="14" y="4"/>
                </a:lnTo>
                <a:lnTo>
                  <a:pt x="16" y="2"/>
                </a:lnTo>
                <a:lnTo>
                  <a:pt x="17" y="1"/>
                </a:lnTo>
                <a:lnTo>
                  <a:pt x="19" y="0"/>
                </a:lnTo>
                <a:lnTo>
                  <a:pt x="21" y="1"/>
                </a:lnTo>
                <a:lnTo>
                  <a:pt x="22" y="2"/>
                </a:lnTo>
                <a:lnTo>
                  <a:pt x="24" y="4"/>
                </a:lnTo>
                <a:lnTo>
                  <a:pt x="25" y="8"/>
                </a:lnTo>
                <a:lnTo>
                  <a:pt x="27" y="11"/>
                </a:lnTo>
                <a:lnTo>
                  <a:pt x="28" y="15"/>
                </a:lnTo>
                <a:lnTo>
                  <a:pt x="30" y="18"/>
                </a:lnTo>
                <a:lnTo>
                  <a:pt x="32" y="21"/>
                </a:lnTo>
                <a:lnTo>
                  <a:pt x="33" y="24"/>
                </a:lnTo>
                <a:lnTo>
                  <a:pt x="35" y="26"/>
                </a:lnTo>
                <a:lnTo>
                  <a:pt x="36" y="28"/>
                </a:lnTo>
                <a:lnTo>
                  <a:pt x="38" y="29"/>
                </a:lnTo>
              </a:path>
            </a:pathLst>
          </a:custGeom>
          <a:noFill/>
          <a:ln w="12656">
            <a:solidFill>
              <a:srgbClr val="F7A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3" name="assessment-grid-0822"/>
          <p:cNvSpPr/>
          <p:nvPr/>
        </p:nvSpPr>
        <p:spPr>
          <a:xfrm>
            <a:off x="5331363" y="8084055"/>
            <a:ext cx="300581" cy="229391"/>
          </a:xfrm>
          <a:custGeom>
            <a:avLst/>
            <a:gdLst/>
            <a:ahLst/>
            <a:cxnLst/>
            <a:rect l="l" t="t" r="r" b="b"/>
            <a:pathLst>
              <a:path w="38" h="29">
                <a:moveTo>
                  <a:pt x="0" y="29"/>
                </a:moveTo>
                <a:lnTo>
                  <a:pt x="2" y="28"/>
                </a:lnTo>
                <a:lnTo>
                  <a:pt x="3" y="26"/>
                </a:lnTo>
                <a:lnTo>
                  <a:pt x="5" y="24"/>
                </a:lnTo>
                <a:lnTo>
                  <a:pt x="6" y="21"/>
                </a:lnTo>
                <a:lnTo>
                  <a:pt x="8" y="18"/>
                </a:lnTo>
                <a:lnTo>
                  <a:pt x="10" y="15"/>
                </a:lnTo>
                <a:lnTo>
                  <a:pt x="11" y="11"/>
                </a:lnTo>
                <a:lnTo>
                  <a:pt x="13" y="8"/>
                </a:lnTo>
                <a:lnTo>
                  <a:pt x="14" y="4"/>
                </a:lnTo>
                <a:lnTo>
                  <a:pt x="16" y="2"/>
                </a:lnTo>
                <a:lnTo>
                  <a:pt x="17" y="1"/>
                </a:lnTo>
                <a:lnTo>
                  <a:pt x="19" y="0"/>
                </a:lnTo>
                <a:lnTo>
                  <a:pt x="21" y="1"/>
                </a:lnTo>
                <a:lnTo>
                  <a:pt x="22" y="2"/>
                </a:lnTo>
                <a:lnTo>
                  <a:pt x="24" y="4"/>
                </a:lnTo>
                <a:lnTo>
                  <a:pt x="25" y="8"/>
                </a:lnTo>
                <a:lnTo>
                  <a:pt x="27" y="11"/>
                </a:lnTo>
                <a:lnTo>
                  <a:pt x="28" y="15"/>
                </a:lnTo>
                <a:lnTo>
                  <a:pt x="30" y="18"/>
                </a:lnTo>
                <a:lnTo>
                  <a:pt x="32" y="21"/>
                </a:lnTo>
                <a:lnTo>
                  <a:pt x="33" y="24"/>
                </a:lnTo>
                <a:lnTo>
                  <a:pt x="35" y="26"/>
                </a:lnTo>
                <a:lnTo>
                  <a:pt x="36" y="28"/>
                </a:lnTo>
                <a:lnTo>
                  <a:pt x="38" y="29"/>
                </a:lnTo>
              </a:path>
            </a:pathLst>
          </a:custGeom>
          <a:noFill/>
          <a:ln w="12656">
            <a:solidFill>
              <a:srgbClr val="F3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4" name="assessment-grid-0823"/>
          <p:cNvSpPr/>
          <p:nvPr/>
        </p:nvSpPr>
        <p:spPr>
          <a:xfrm>
            <a:off x="4255599" y="8479557"/>
            <a:ext cx="300581" cy="229391"/>
          </a:xfrm>
          <a:custGeom>
            <a:avLst/>
            <a:gdLst/>
            <a:ahLst/>
            <a:cxnLst/>
            <a:rect l="l" t="t" r="r" b="b"/>
            <a:pathLst>
              <a:path w="38" h="29">
                <a:moveTo>
                  <a:pt x="0" y="29"/>
                </a:moveTo>
                <a:lnTo>
                  <a:pt x="2" y="28"/>
                </a:lnTo>
                <a:lnTo>
                  <a:pt x="3" y="26"/>
                </a:lnTo>
                <a:lnTo>
                  <a:pt x="5" y="24"/>
                </a:lnTo>
                <a:lnTo>
                  <a:pt x="6" y="21"/>
                </a:lnTo>
                <a:lnTo>
                  <a:pt x="8" y="18"/>
                </a:lnTo>
                <a:lnTo>
                  <a:pt x="10" y="15"/>
                </a:lnTo>
                <a:lnTo>
                  <a:pt x="11" y="11"/>
                </a:lnTo>
                <a:lnTo>
                  <a:pt x="13" y="8"/>
                </a:lnTo>
                <a:lnTo>
                  <a:pt x="14" y="4"/>
                </a:lnTo>
                <a:lnTo>
                  <a:pt x="16" y="2"/>
                </a:lnTo>
                <a:lnTo>
                  <a:pt x="17" y="1"/>
                </a:lnTo>
                <a:lnTo>
                  <a:pt x="19" y="0"/>
                </a:lnTo>
                <a:lnTo>
                  <a:pt x="21" y="1"/>
                </a:lnTo>
                <a:lnTo>
                  <a:pt x="22" y="2"/>
                </a:lnTo>
                <a:lnTo>
                  <a:pt x="24" y="4"/>
                </a:lnTo>
                <a:lnTo>
                  <a:pt x="25" y="8"/>
                </a:lnTo>
                <a:lnTo>
                  <a:pt x="27" y="11"/>
                </a:lnTo>
                <a:lnTo>
                  <a:pt x="28" y="15"/>
                </a:lnTo>
                <a:lnTo>
                  <a:pt x="30" y="18"/>
                </a:lnTo>
                <a:lnTo>
                  <a:pt x="32" y="21"/>
                </a:lnTo>
                <a:lnTo>
                  <a:pt x="33" y="24"/>
                </a:lnTo>
                <a:lnTo>
                  <a:pt x="35" y="26"/>
                </a:lnTo>
                <a:lnTo>
                  <a:pt x="36" y="28"/>
                </a:lnTo>
                <a:lnTo>
                  <a:pt x="38" y="29"/>
                </a:lnTo>
              </a:path>
            </a:pathLst>
          </a:custGeom>
          <a:noFill/>
          <a:ln w="12656">
            <a:solidFill>
              <a:srgbClr val="98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5" name="assessment-grid-0824"/>
          <p:cNvSpPr/>
          <p:nvPr/>
        </p:nvSpPr>
        <p:spPr>
          <a:xfrm>
            <a:off x="4793481" y="8479557"/>
            <a:ext cx="300581" cy="229391"/>
          </a:xfrm>
          <a:custGeom>
            <a:avLst/>
            <a:gdLst/>
            <a:ahLst/>
            <a:cxnLst/>
            <a:rect l="l" t="t" r="r" b="b"/>
            <a:pathLst>
              <a:path w="38" h="29">
                <a:moveTo>
                  <a:pt x="0" y="29"/>
                </a:moveTo>
                <a:lnTo>
                  <a:pt x="2" y="28"/>
                </a:lnTo>
                <a:lnTo>
                  <a:pt x="3" y="26"/>
                </a:lnTo>
                <a:lnTo>
                  <a:pt x="5" y="24"/>
                </a:lnTo>
                <a:lnTo>
                  <a:pt x="6" y="21"/>
                </a:lnTo>
                <a:lnTo>
                  <a:pt x="8" y="18"/>
                </a:lnTo>
                <a:lnTo>
                  <a:pt x="10" y="15"/>
                </a:lnTo>
                <a:lnTo>
                  <a:pt x="11" y="11"/>
                </a:lnTo>
                <a:lnTo>
                  <a:pt x="13" y="8"/>
                </a:lnTo>
                <a:lnTo>
                  <a:pt x="14" y="4"/>
                </a:lnTo>
                <a:lnTo>
                  <a:pt x="16" y="2"/>
                </a:lnTo>
                <a:lnTo>
                  <a:pt x="17" y="1"/>
                </a:lnTo>
                <a:lnTo>
                  <a:pt x="19" y="0"/>
                </a:lnTo>
                <a:lnTo>
                  <a:pt x="21" y="1"/>
                </a:lnTo>
                <a:lnTo>
                  <a:pt x="22" y="2"/>
                </a:lnTo>
                <a:lnTo>
                  <a:pt x="24" y="4"/>
                </a:lnTo>
                <a:lnTo>
                  <a:pt x="25" y="8"/>
                </a:lnTo>
                <a:lnTo>
                  <a:pt x="27" y="11"/>
                </a:lnTo>
                <a:lnTo>
                  <a:pt x="28" y="15"/>
                </a:lnTo>
                <a:lnTo>
                  <a:pt x="30" y="18"/>
                </a:lnTo>
                <a:lnTo>
                  <a:pt x="32" y="21"/>
                </a:lnTo>
                <a:lnTo>
                  <a:pt x="33" y="24"/>
                </a:lnTo>
                <a:lnTo>
                  <a:pt x="35" y="26"/>
                </a:lnTo>
                <a:lnTo>
                  <a:pt x="36" y="28"/>
                </a:lnTo>
                <a:lnTo>
                  <a:pt x="38" y="29"/>
                </a:lnTo>
              </a:path>
            </a:pathLst>
          </a:custGeom>
          <a:noFill/>
          <a:ln w="12656">
            <a:solidFill>
              <a:srgbClr val="F7A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6" name="assessment-grid-0825"/>
          <p:cNvSpPr/>
          <p:nvPr/>
        </p:nvSpPr>
        <p:spPr>
          <a:xfrm>
            <a:off x="5331363" y="8479557"/>
            <a:ext cx="300581" cy="229391"/>
          </a:xfrm>
          <a:custGeom>
            <a:avLst/>
            <a:gdLst/>
            <a:ahLst/>
            <a:cxnLst/>
            <a:rect l="l" t="t" r="r" b="b"/>
            <a:pathLst>
              <a:path w="38" h="29">
                <a:moveTo>
                  <a:pt x="0" y="29"/>
                </a:moveTo>
                <a:lnTo>
                  <a:pt x="2" y="28"/>
                </a:lnTo>
                <a:lnTo>
                  <a:pt x="3" y="26"/>
                </a:lnTo>
                <a:lnTo>
                  <a:pt x="5" y="24"/>
                </a:lnTo>
                <a:lnTo>
                  <a:pt x="6" y="21"/>
                </a:lnTo>
                <a:lnTo>
                  <a:pt x="8" y="18"/>
                </a:lnTo>
                <a:lnTo>
                  <a:pt x="10" y="15"/>
                </a:lnTo>
                <a:lnTo>
                  <a:pt x="11" y="11"/>
                </a:lnTo>
                <a:lnTo>
                  <a:pt x="13" y="8"/>
                </a:lnTo>
                <a:lnTo>
                  <a:pt x="14" y="4"/>
                </a:lnTo>
                <a:lnTo>
                  <a:pt x="16" y="2"/>
                </a:lnTo>
                <a:lnTo>
                  <a:pt x="17" y="1"/>
                </a:lnTo>
                <a:lnTo>
                  <a:pt x="19" y="0"/>
                </a:lnTo>
                <a:lnTo>
                  <a:pt x="21" y="1"/>
                </a:lnTo>
                <a:lnTo>
                  <a:pt x="22" y="2"/>
                </a:lnTo>
                <a:lnTo>
                  <a:pt x="24" y="4"/>
                </a:lnTo>
                <a:lnTo>
                  <a:pt x="25" y="8"/>
                </a:lnTo>
                <a:lnTo>
                  <a:pt x="27" y="11"/>
                </a:lnTo>
                <a:lnTo>
                  <a:pt x="28" y="15"/>
                </a:lnTo>
                <a:lnTo>
                  <a:pt x="30" y="18"/>
                </a:lnTo>
                <a:lnTo>
                  <a:pt x="32" y="21"/>
                </a:lnTo>
                <a:lnTo>
                  <a:pt x="33" y="24"/>
                </a:lnTo>
                <a:lnTo>
                  <a:pt x="35" y="26"/>
                </a:lnTo>
                <a:lnTo>
                  <a:pt x="36" y="28"/>
                </a:lnTo>
                <a:lnTo>
                  <a:pt x="38" y="29"/>
                </a:lnTo>
              </a:path>
            </a:pathLst>
          </a:custGeom>
          <a:noFill/>
          <a:ln w="12656">
            <a:solidFill>
              <a:srgbClr val="F3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7" name="assignment-probabilities-0826"/>
          <p:cNvSpPr/>
          <p:nvPr/>
        </p:nvSpPr>
        <p:spPr>
          <a:xfrm>
            <a:off x="7498713" y="4564090"/>
            <a:ext cx="680263" cy="3053273"/>
          </a:xfrm>
          <a:prstGeom prst="rect">
            <a:avLst/>
          </a:prstGeom>
          <a:noFill/>
          <a:ln w="22148">
            <a:solidFill>
              <a:srgbClr val="000000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8" name="assignment-probabilities-0827"/>
          <p:cNvSpPr/>
          <p:nvPr/>
        </p:nvSpPr>
        <p:spPr>
          <a:xfrm>
            <a:off x="7649003" y="4619460"/>
            <a:ext cx="379682" cy="340131"/>
          </a:xfrm>
          <a:prstGeom prst="rect">
            <a:avLst/>
          </a:prstGeom>
          <a:solidFill>
            <a:srgbClr val="FFFFFF"/>
          </a:solidFill>
          <a:ln w="7910">
            <a:solidFill>
              <a:srgbClr val="C8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9" name="assignment-probabilities-0828"/>
          <p:cNvSpPr/>
          <p:nvPr/>
        </p:nvSpPr>
        <p:spPr>
          <a:xfrm>
            <a:off x="7688553" y="4659010"/>
            <a:ext cx="300581" cy="237301"/>
          </a:xfrm>
          <a:custGeom>
            <a:avLst/>
            <a:gdLst/>
            <a:ahLst/>
            <a:cxnLst/>
            <a:rect l="l" t="t" r="r" b="b"/>
            <a:pathLst>
              <a:path w="38" h="30">
                <a:moveTo>
                  <a:pt x="0" y="30"/>
                </a:moveTo>
                <a:lnTo>
                  <a:pt x="2" y="29"/>
                </a:lnTo>
                <a:lnTo>
                  <a:pt x="3" y="27"/>
                </a:lnTo>
                <a:lnTo>
                  <a:pt x="5" y="25"/>
                </a:lnTo>
                <a:lnTo>
                  <a:pt x="6" y="22"/>
                </a:lnTo>
                <a:lnTo>
                  <a:pt x="8" y="19"/>
                </a:lnTo>
                <a:lnTo>
                  <a:pt x="10" y="15"/>
                </a:lnTo>
                <a:lnTo>
                  <a:pt x="11" y="11"/>
                </a:lnTo>
                <a:lnTo>
                  <a:pt x="13" y="8"/>
                </a:lnTo>
                <a:lnTo>
                  <a:pt x="14" y="5"/>
                </a:lnTo>
                <a:lnTo>
                  <a:pt x="16" y="2"/>
                </a:lnTo>
                <a:lnTo>
                  <a:pt x="17" y="1"/>
                </a:lnTo>
                <a:lnTo>
                  <a:pt x="19" y="0"/>
                </a:lnTo>
                <a:lnTo>
                  <a:pt x="21" y="1"/>
                </a:lnTo>
                <a:lnTo>
                  <a:pt x="22" y="2"/>
                </a:lnTo>
                <a:lnTo>
                  <a:pt x="24" y="5"/>
                </a:lnTo>
                <a:lnTo>
                  <a:pt x="25" y="8"/>
                </a:lnTo>
                <a:lnTo>
                  <a:pt x="27" y="11"/>
                </a:lnTo>
                <a:lnTo>
                  <a:pt x="28" y="15"/>
                </a:lnTo>
                <a:lnTo>
                  <a:pt x="30" y="19"/>
                </a:lnTo>
                <a:lnTo>
                  <a:pt x="32" y="22"/>
                </a:lnTo>
                <a:lnTo>
                  <a:pt x="33" y="25"/>
                </a:lnTo>
                <a:lnTo>
                  <a:pt x="35" y="27"/>
                </a:lnTo>
                <a:lnTo>
                  <a:pt x="36" y="29"/>
                </a:lnTo>
                <a:lnTo>
                  <a:pt x="38" y="30"/>
                </a:lnTo>
              </a:path>
            </a:pathLst>
          </a:custGeom>
          <a:noFill/>
          <a:ln w="12656">
            <a:solidFill>
              <a:srgbClr val="F3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0" name="assignment-probabilities-0829"/>
          <p:cNvSpPr/>
          <p:nvPr/>
        </p:nvSpPr>
        <p:spPr>
          <a:xfrm>
            <a:off x="7649003" y="5022872"/>
            <a:ext cx="379682" cy="340131"/>
          </a:xfrm>
          <a:prstGeom prst="rect">
            <a:avLst/>
          </a:prstGeom>
          <a:solidFill>
            <a:srgbClr val="FFFFFF"/>
          </a:solidFill>
          <a:ln w="7910">
            <a:solidFill>
              <a:srgbClr val="C8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1" name="assignment-probabilities-0830"/>
          <p:cNvSpPr/>
          <p:nvPr/>
        </p:nvSpPr>
        <p:spPr>
          <a:xfrm>
            <a:off x="7688553" y="5062422"/>
            <a:ext cx="300581" cy="237301"/>
          </a:xfrm>
          <a:custGeom>
            <a:avLst/>
            <a:gdLst/>
            <a:ahLst/>
            <a:cxnLst/>
            <a:rect l="l" t="t" r="r" b="b"/>
            <a:pathLst>
              <a:path w="38" h="30">
                <a:moveTo>
                  <a:pt x="0" y="30"/>
                </a:moveTo>
                <a:lnTo>
                  <a:pt x="2" y="29"/>
                </a:lnTo>
                <a:lnTo>
                  <a:pt x="3" y="27"/>
                </a:lnTo>
                <a:lnTo>
                  <a:pt x="5" y="25"/>
                </a:lnTo>
                <a:lnTo>
                  <a:pt x="6" y="22"/>
                </a:lnTo>
                <a:lnTo>
                  <a:pt x="8" y="19"/>
                </a:lnTo>
                <a:lnTo>
                  <a:pt x="10" y="15"/>
                </a:lnTo>
                <a:lnTo>
                  <a:pt x="11" y="11"/>
                </a:lnTo>
                <a:lnTo>
                  <a:pt x="13" y="8"/>
                </a:lnTo>
                <a:lnTo>
                  <a:pt x="14" y="5"/>
                </a:lnTo>
                <a:lnTo>
                  <a:pt x="16" y="2"/>
                </a:lnTo>
                <a:lnTo>
                  <a:pt x="17" y="1"/>
                </a:lnTo>
                <a:lnTo>
                  <a:pt x="19" y="0"/>
                </a:lnTo>
                <a:lnTo>
                  <a:pt x="21" y="1"/>
                </a:lnTo>
                <a:lnTo>
                  <a:pt x="22" y="2"/>
                </a:lnTo>
                <a:lnTo>
                  <a:pt x="24" y="5"/>
                </a:lnTo>
                <a:lnTo>
                  <a:pt x="25" y="8"/>
                </a:lnTo>
                <a:lnTo>
                  <a:pt x="27" y="11"/>
                </a:lnTo>
                <a:lnTo>
                  <a:pt x="28" y="15"/>
                </a:lnTo>
                <a:lnTo>
                  <a:pt x="30" y="19"/>
                </a:lnTo>
                <a:lnTo>
                  <a:pt x="32" y="22"/>
                </a:lnTo>
                <a:lnTo>
                  <a:pt x="33" y="25"/>
                </a:lnTo>
                <a:lnTo>
                  <a:pt x="35" y="27"/>
                </a:lnTo>
                <a:lnTo>
                  <a:pt x="36" y="29"/>
                </a:lnTo>
                <a:lnTo>
                  <a:pt x="38" y="30"/>
                </a:lnTo>
              </a:path>
            </a:pathLst>
          </a:custGeom>
          <a:noFill/>
          <a:ln w="12656">
            <a:solidFill>
              <a:srgbClr val="F7A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2" name="assignment-probabilities-0831"/>
          <p:cNvSpPr/>
          <p:nvPr/>
        </p:nvSpPr>
        <p:spPr>
          <a:xfrm>
            <a:off x="7649003" y="5426284"/>
            <a:ext cx="379682" cy="340131"/>
          </a:xfrm>
          <a:prstGeom prst="rect">
            <a:avLst/>
          </a:prstGeom>
          <a:solidFill>
            <a:srgbClr val="FFFFFF"/>
          </a:solidFill>
          <a:ln w="7910">
            <a:solidFill>
              <a:srgbClr val="C8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3" name="assignment-probabilities-0832"/>
          <p:cNvSpPr/>
          <p:nvPr/>
        </p:nvSpPr>
        <p:spPr>
          <a:xfrm>
            <a:off x="7688553" y="5465834"/>
            <a:ext cx="300581" cy="237301"/>
          </a:xfrm>
          <a:custGeom>
            <a:avLst/>
            <a:gdLst/>
            <a:ahLst/>
            <a:cxnLst/>
            <a:rect l="l" t="t" r="r" b="b"/>
            <a:pathLst>
              <a:path w="38" h="30">
                <a:moveTo>
                  <a:pt x="0" y="30"/>
                </a:moveTo>
                <a:lnTo>
                  <a:pt x="2" y="29"/>
                </a:lnTo>
                <a:lnTo>
                  <a:pt x="3" y="27"/>
                </a:lnTo>
                <a:lnTo>
                  <a:pt x="5" y="25"/>
                </a:lnTo>
                <a:lnTo>
                  <a:pt x="6" y="22"/>
                </a:lnTo>
                <a:lnTo>
                  <a:pt x="8" y="19"/>
                </a:lnTo>
                <a:lnTo>
                  <a:pt x="10" y="15"/>
                </a:lnTo>
                <a:lnTo>
                  <a:pt x="11" y="11"/>
                </a:lnTo>
                <a:lnTo>
                  <a:pt x="13" y="8"/>
                </a:lnTo>
                <a:lnTo>
                  <a:pt x="14" y="5"/>
                </a:lnTo>
                <a:lnTo>
                  <a:pt x="16" y="2"/>
                </a:lnTo>
                <a:lnTo>
                  <a:pt x="17" y="1"/>
                </a:lnTo>
                <a:lnTo>
                  <a:pt x="19" y="0"/>
                </a:lnTo>
                <a:lnTo>
                  <a:pt x="21" y="1"/>
                </a:lnTo>
                <a:lnTo>
                  <a:pt x="22" y="2"/>
                </a:lnTo>
                <a:lnTo>
                  <a:pt x="24" y="5"/>
                </a:lnTo>
                <a:lnTo>
                  <a:pt x="25" y="8"/>
                </a:lnTo>
                <a:lnTo>
                  <a:pt x="27" y="11"/>
                </a:lnTo>
                <a:lnTo>
                  <a:pt x="28" y="15"/>
                </a:lnTo>
                <a:lnTo>
                  <a:pt x="30" y="19"/>
                </a:lnTo>
                <a:lnTo>
                  <a:pt x="32" y="22"/>
                </a:lnTo>
                <a:lnTo>
                  <a:pt x="33" y="25"/>
                </a:lnTo>
                <a:lnTo>
                  <a:pt x="35" y="27"/>
                </a:lnTo>
                <a:lnTo>
                  <a:pt x="36" y="29"/>
                </a:lnTo>
                <a:lnTo>
                  <a:pt x="38" y="30"/>
                </a:lnTo>
              </a:path>
            </a:pathLst>
          </a:custGeom>
          <a:noFill/>
          <a:ln w="12656">
            <a:solidFill>
              <a:srgbClr val="98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4" name="assignment-probabilities-0833"/>
          <p:cNvSpPr/>
          <p:nvPr/>
        </p:nvSpPr>
        <p:spPr>
          <a:xfrm>
            <a:off x="7649003" y="5829696"/>
            <a:ext cx="379682" cy="340131"/>
          </a:xfrm>
          <a:prstGeom prst="rect">
            <a:avLst/>
          </a:prstGeom>
          <a:solidFill>
            <a:srgbClr val="FFFFFF"/>
          </a:solidFill>
          <a:ln w="7910">
            <a:solidFill>
              <a:srgbClr val="C8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5" name="assignment-probabilities-0834"/>
          <p:cNvSpPr/>
          <p:nvPr/>
        </p:nvSpPr>
        <p:spPr>
          <a:xfrm>
            <a:off x="7688553" y="5869246"/>
            <a:ext cx="300581" cy="237301"/>
          </a:xfrm>
          <a:custGeom>
            <a:avLst/>
            <a:gdLst/>
            <a:ahLst/>
            <a:cxnLst/>
            <a:rect l="l" t="t" r="r" b="b"/>
            <a:pathLst>
              <a:path w="38" h="30">
                <a:moveTo>
                  <a:pt x="0" y="30"/>
                </a:moveTo>
                <a:lnTo>
                  <a:pt x="2" y="29"/>
                </a:lnTo>
                <a:lnTo>
                  <a:pt x="3" y="27"/>
                </a:lnTo>
                <a:lnTo>
                  <a:pt x="5" y="25"/>
                </a:lnTo>
                <a:lnTo>
                  <a:pt x="6" y="22"/>
                </a:lnTo>
                <a:lnTo>
                  <a:pt x="8" y="19"/>
                </a:lnTo>
                <a:lnTo>
                  <a:pt x="10" y="15"/>
                </a:lnTo>
                <a:lnTo>
                  <a:pt x="11" y="11"/>
                </a:lnTo>
                <a:lnTo>
                  <a:pt x="13" y="8"/>
                </a:lnTo>
                <a:lnTo>
                  <a:pt x="14" y="5"/>
                </a:lnTo>
                <a:lnTo>
                  <a:pt x="16" y="2"/>
                </a:lnTo>
                <a:lnTo>
                  <a:pt x="17" y="1"/>
                </a:lnTo>
                <a:lnTo>
                  <a:pt x="19" y="0"/>
                </a:lnTo>
                <a:lnTo>
                  <a:pt x="21" y="1"/>
                </a:lnTo>
                <a:lnTo>
                  <a:pt x="22" y="2"/>
                </a:lnTo>
                <a:lnTo>
                  <a:pt x="24" y="5"/>
                </a:lnTo>
                <a:lnTo>
                  <a:pt x="25" y="8"/>
                </a:lnTo>
                <a:lnTo>
                  <a:pt x="27" y="11"/>
                </a:lnTo>
                <a:lnTo>
                  <a:pt x="28" y="15"/>
                </a:lnTo>
                <a:lnTo>
                  <a:pt x="30" y="19"/>
                </a:lnTo>
                <a:lnTo>
                  <a:pt x="32" y="22"/>
                </a:lnTo>
                <a:lnTo>
                  <a:pt x="33" y="25"/>
                </a:lnTo>
                <a:lnTo>
                  <a:pt x="35" y="27"/>
                </a:lnTo>
                <a:lnTo>
                  <a:pt x="36" y="29"/>
                </a:lnTo>
                <a:lnTo>
                  <a:pt x="38" y="30"/>
                </a:lnTo>
              </a:path>
            </a:pathLst>
          </a:custGeom>
          <a:noFill/>
          <a:ln w="12656">
            <a:solidFill>
              <a:srgbClr val="F3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6" name="assignment-probabilities-0835"/>
          <p:cNvSpPr/>
          <p:nvPr/>
        </p:nvSpPr>
        <p:spPr>
          <a:xfrm>
            <a:off x="7649003" y="6233107"/>
            <a:ext cx="379682" cy="340131"/>
          </a:xfrm>
          <a:prstGeom prst="rect">
            <a:avLst/>
          </a:prstGeom>
          <a:solidFill>
            <a:srgbClr val="FFFFFF"/>
          </a:solidFill>
          <a:ln w="7910">
            <a:solidFill>
              <a:srgbClr val="C8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7" name="assignment-probabilities-0836"/>
          <p:cNvSpPr/>
          <p:nvPr/>
        </p:nvSpPr>
        <p:spPr>
          <a:xfrm>
            <a:off x="7688553" y="6272657"/>
            <a:ext cx="300581" cy="237301"/>
          </a:xfrm>
          <a:custGeom>
            <a:avLst/>
            <a:gdLst/>
            <a:ahLst/>
            <a:cxnLst/>
            <a:rect l="l" t="t" r="r" b="b"/>
            <a:pathLst>
              <a:path w="38" h="30">
                <a:moveTo>
                  <a:pt x="0" y="30"/>
                </a:moveTo>
                <a:lnTo>
                  <a:pt x="2" y="29"/>
                </a:lnTo>
                <a:lnTo>
                  <a:pt x="3" y="27"/>
                </a:lnTo>
                <a:lnTo>
                  <a:pt x="5" y="25"/>
                </a:lnTo>
                <a:lnTo>
                  <a:pt x="6" y="22"/>
                </a:lnTo>
                <a:lnTo>
                  <a:pt x="8" y="19"/>
                </a:lnTo>
                <a:lnTo>
                  <a:pt x="10" y="15"/>
                </a:lnTo>
                <a:lnTo>
                  <a:pt x="11" y="11"/>
                </a:lnTo>
                <a:lnTo>
                  <a:pt x="13" y="8"/>
                </a:lnTo>
                <a:lnTo>
                  <a:pt x="14" y="5"/>
                </a:lnTo>
                <a:lnTo>
                  <a:pt x="16" y="2"/>
                </a:lnTo>
                <a:lnTo>
                  <a:pt x="17" y="1"/>
                </a:lnTo>
                <a:lnTo>
                  <a:pt x="19" y="0"/>
                </a:lnTo>
                <a:lnTo>
                  <a:pt x="21" y="1"/>
                </a:lnTo>
                <a:lnTo>
                  <a:pt x="22" y="2"/>
                </a:lnTo>
                <a:lnTo>
                  <a:pt x="24" y="5"/>
                </a:lnTo>
                <a:lnTo>
                  <a:pt x="25" y="8"/>
                </a:lnTo>
                <a:lnTo>
                  <a:pt x="27" y="11"/>
                </a:lnTo>
                <a:lnTo>
                  <a:pt x="28" y="15"/>
                </a:lnTo>
                <a:lnTo>
                  <a:pt x="30" y="19"/>
                </a:lnTo>
                <a:lnTo>
                  <a:pt x="32" y="22"/>
                </a:lnTo>
                <a:lnTo>
                  <a:pt x="33" y="25"/>
                </a:lnTo>
                <a:lnTo>
                  <a:pt x="35" y="27"/>
                </a:lnTo>
                <a:lnTo>
                  <a:pt x="36" y="29"/>
                </a:lnTo>
                <a:lnTo>
                  <a:pt x="38" y="30"/>
                </a:lnTo>
              </a:path>
            </a:pathLst>
          </a:custGeom>
          <a:noFill/>
          <a:ln w="12656">
            <a:solidFill>
              <a:srgbClr val="F7A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8" name="assignment-probabilities-0837"/>
          <p:cNvSpPr/>
          <p:nvPr/>
        </p:nvSpPr>
        <p:spPr>
          <a:xfrm>
            <a:off x="7649003" y="6636519"/>
            <a:ext cx="379682" cy="340131"/>
          </a:xfrm>
          <a:prstGeom prst="rect">
            <a:avLst/>
          </a:prstGeom>
          <a:solidFill>
            <a:srgbClr val="FFFFFF"/>
          </a:solidFill>
          <a:ln w="7910">
            <a:solidFill>
              <a:srgbClr val="C8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9" name="assignment-probabilities-0838"/>
          <p:cNvSpPr/>
          <p:nvPr/>
        </p:nvSpPr>
        <p:spPr>
          <a:xfrm>
            <a:off x="7688553" y="6676069"/>
            <a:ext cx="300581" cy="237301"/>
          </a:xfrm>
          <a:custGeom>
            <a:avLst/>
            <a:gdLst/>
            <a:ahLst/>
            <a:cxnLst/>
            <a:rect l="l" t="t" r="r" b="b"/>
            <a:pathLst>
              <a:path w="38" h="30">
                <a:moveTo>
                  <a:pt x="0" y="30"/>
                </a:moveTo>
                <a:lnTo>
                  <a:pt x="2" y="29"/>
                </a:lnTo>
                <a:lnTo>
                  <a:pt x="3" y="27"/>
                </a:lnTo>
                <a:lnTo>
                  <a:pt x="5" y="25"/>
                </a:lnTo>
                <a:lnTo>
                  <a:pt x="6" y="22"/>
                </a:lnTo>
                <a:lnTo>
                  <a:pt x="8" y="19"/>
                </a:lnTo>
                <a:lnTo>
                  <a:pt x="10" y="15"/>
                </a:lnTo>
                <a:lnTo>
                  <a:pt x="11" y="11"/>
                </a:lnTo>
                <a:lnTo>
                  <a:pt x="13" y="8"/>
                </a:lnTo>
                <a:lnTo>
                  <a:pt x="14" y="5"/>
                </a:lnTo>
                <a:lnTo>
                  <a:pt x="16" y="2"/>
                </a:lnTo>
                <a:lnTo>
                  <a:pt x="17" y="1"/>
                </a:lnTo>
                <a:lnTo>
                  <a:pt x="19" y="0"/>
                </a:lnTo>
                <a:lnTo>
                  <a:pt x="21" y="1"/>
                </a:lnTo>
                <a:lnTo>
                  <a:pt x="22" y="2"/>
                </a:lnTo>
                <a:lnTo>
                  <a:pt x="24" y="5"/>
                </a:lnTo>
                <a:lnTo>
                  <a:pt x="25" y="8"/>
                </a:lnTo>
                <a:lnTo>
                  <a:pt x="27" y="11"/>
                </a:lnTo>
                <a:lnTo>
                  <a:pt x="28" y="15"/>
                </a:lnTo>
                <a:lnTo>
                  <a:pt x="30" y="19"/>
                </a:lnTo>
                <a:lnTo>
                  <a:pt x="32" y="22"/>
                </a:lnTo>
                <a:lnTo>
                  <a:pt x="33" y="25"/>
                </a:lnTo>
                <a:lnTo>
                  <a:pt x="35" y="27"/>
                </a:lnTo>
                <a:lnTo>
                  <a:pt x="36" y="29"/>
                </a:lnTo>
                <a:lnTo>
                  <a:pt x="38" y="30"/>
                </a:lnTo>
              </a:path>
            </a:pathLst>
          </a:custGeom>
          <a:noFill/>
          <a:ln w="12656">
            <a:solidFill>
              <a:srgbClr val="98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0" name="assignment-probabilities-0839"/>
          <p:cNvSpPr/>
          <p:nvPr/>
        </p:nvSpPr>
        <p:spPr>
          <a:xfrm>
            <a:off x="7649003" y="7039931"/>
            <a:ext cx="379682" cy="340131"/>
          </a:xfrm>
          <a:prstGeom prst="rect">
            <a:avLst/>
          </a:prstGeom>
          <a:solidFill>
            <a:srgbClr val="FFFFFF"/>
          </a:solidFill>
          <a:ln w="7910">
            <a:solidFill>
              <a:srgbClr val="C8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1" name="assignment-probabilities-0840"/>
          <p:cNvSpPr/>
          <p:nvPr/>
        </p:nvSpPr>
        <p:spPr>
          <a:xfrm>
            <a:off x="7688553" y="7079481"/>
            <a:ext cx="300581" cy="237301"/>
          </a:xfrm>
          <a:custGeom>
            <a:avLst/>
            <a:gdLst/>
            <a:ahLst/>
            <a:cxnLst/>
            <a:rect l="l" t="t" r="r" b="b"/>
            <a:pathLst>
              <a:path w="38" h="30">
                <a:moveTo>
                  <a:pt x="0" y="30"/>
                </a:moveTo>
                <a:lnTo>
                  <a:pt x="2" y="29"/>
                </a:lnTo>
                <a:lnTo>
                  <a:pt x="3" y="27"/>
                </a:lnTo>
                <a:lnTo>
                  <a:pt x="5" y="25"/>
                </a:lnTo>
                <a:lnTo>
                  <a:pt x="6" y="22"/>
                </a:lnTo>
                <a:lnTo>
                  <a:pt x="8" y="19"/>
                </a:lnTo>
                <a:lnTo>
                  <a:pt x="10" y="15"/>
                </a:lnTo>
                <a:lnTo>
                  <a:pt x="11" y="11"/>
                </a:lnTo>
                <a:lnTo>
                  <a:pt x="13" y="8"/>
                </a:lnTo>
                <a:lnTo>
                  <a:pt x="14" y="5"/>
                </a:lnTo>
                <a:lnTo>
                  <a:pt x="16" y="2"/>
                </a:lnTo>
                <a:lnTo>
                  <a:pt x="17" y="1"/>
                </a:lnTo>
                <a:lnTo>
                  <a:pt x="19" y="0"/>
                </a:lnTo>
                <a:lnTo>
                  <a:pt x="21" y="1"/>
                </a:lnTo>
                <a:lnTo>
                  <a:pt x="22" y="2"/>
                </a:lnTo>
                <a:lnTo>
                  <a:pt x="24" y="5"/>
                </a:lnTo>
                <a:lnTo>
                  <a:pt x="25" y="8"/>
                </a:lnTo>
                <a:lnTo>
                  <a:pt x="27" y="11"/>
                </a:lnTo>
                <a:lnTo>
                  <a:pt x="28" y="15"/>
                </a:lnTo>
                <a:lnTo>
                  <a:pt x="30" y="19"/>
                </a:lnTo>
                <a:lnTo>
                  <a:pt x="32" y="22"/>
                </a:lnTo>
                <a:lnTo>
                  <a:pt x="33" y="25"/>
                </a:lnTo>
                <a:lnTo>
                  <a:pt x="35" y="27"/>
                </a:lnTo>
                <a:lnTo>
                  <a:pt x="36" y="29"/>
                </a:lnTo>
                <a:lnTo>
                  <a:pt x="38" y="30"/>
                </a:lnTo>
              </a:path>
            </a:pathLst>
          </a:custGeom>
          <a:noFill/>
          <a:ln w="12656">
            <a:solidFill>
              <a:srgbClr val="F3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2" name="assignment-probabilities-0841"/>
          <p:cNvSpPr txBox="1"/>
          <p:nvPr/>
        </p:nvSpPr>
        <p:spPr>
          <a:xfrm>
            <a:off x="7593633" y="7277232"/>
            <a:ext cx="458782" cy="25312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1557" b="1">
                <a:solidFill>
                  <a:srgbClr val="000000"/>
                </a:solidFill>
                <a:latin typeface="Liberation Serif"/>
              </a:rPr>
              <a:t>⋮</a:t>
            </a:r>
          </a:p>
        </p:txBody>
      </p:sp>
      <p:sp>
        <p:nvSpPr>
          <p:cNvPr id="843" name="assignment-arrows-0842"/>
          <p:cNvSpPr/>
          <p:nvPr/>
        </p:nvSpPr>
        <p:spPr>
          <a:xfrm>
            <a:off x="8503287" y="4627370"/>
            <a:ext cx="767273" cy="268941"/>
          </a:xfrm>
          <a:custGeom>
            <a:avLst/>
            <a:gdLst/>
            <a:ahLst/>
            <a:cxnLst/>
            <a:rect l="l" t="t" r="r" b="b"/>
            <a:pathLst>
              <a:path w="97" h="34">
                <a:moveTo>
                  <a:pt x="0" y="34"/>
                </a:moveTo>
                <a:lnTo>
                  <a:pt x="15" y="11"/>
                </a:lnTo>
                <a:lnTo>
                  <a:pt x="45" y="0"/>
                </a:lnTo>
                <a:lnTo>
                  <a:pt x="75" y="9"/>
                </a:lnTo>
                <a:lnTo>
                  <a:pt x="97" y="17"/>
                </a:lnTo>
              </a:path>
            </a:pathLst>
          </a:custGeom>
          <a:noFill/>
          <a:ln w="18984">
            <a:solidFill>
              <a:srgbClr val="00A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4" name="assignment-arrows-0843"/>
          <p:cNvSpPr/>
          <p:nvPr/>
        </p:nvSpPr>
        <p:spPr>
          <a:xfrm>
            <a:off x="9159820" y="4682740"/>
            <a:ext cx="110740" cy="87010"/>
          </a:xfrm>
          <a:custGeom>
            <a:avLst/>
            <a:gdLst/>
            <a:ahLst/>
            <a:cxnLst/>
            <a:rect l="l" t="t" r="r" b="b"/>
            <a:pathLst>
              <a:path w="14" h="11">
                <a:moveTo>
                  <a:pt x="14" y="10"/>
                </a:moveTo>
                <a:lnTo>
                  <a:pt x="0" y="11"/>
                </a:lnTo>
                <a:lnTo>
                  <a:pt x="4" y="0"/>
                </a:lnTo>
                <a:close/>
              </a:path>
            </a:pathLst>
          </a:custGeom>
          <a:solidFill>
            <a:srgbClr val="00A9E8"/>
          </a:solidFill>
          <a:ln w="7910">
            <a:solidFill>
              <a:srgbClr val="00A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5" name="assignment-masses-0844"/>
          <p:cNvSpPr/>
          <p:nvPr/>
        </p:nvSpPr>
        <p:spPr>
          <a:xfrm>
            <a:off x="9468311" y="4635280"/>
            <a:ext cx="522062" cy="332221"/>
          </a:xfrm>
          <a:prstGeom prst="rect">
            <a:avLst/>
          </a:prstGeom>
          <a:solidFill>
            <a:srgbClr val="B9D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6" name="assignment-masses-0845"/>
          <p:cNvSpPr/>
          <p:nvPr/>
        </p:nvSpPr>
        <p:spPr>
          <a:xfrm>
            <a:off x="9428761" y="4587820"/>
            <a:ext cx="522062" cy="332221"/>
          </a:xfrm>
          <a:prstGeom prst="rect">
            <a:avLst/>
          </a:prstGeom>
          <a:solidFill>
            <a:srgbClr val="FEFAEE"/>
          </a:solidFill>
          <a:ln w="17402">
            <a:solidFill>
              <a:srgbClr val="5D8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7" name="assignment-masses-0846"/>
          <p:cNvSpPr txBox="1"/>
          <p:nvPr/>
        </p:nvSpPr>
        <p:spPr>
          <a:xfrm>
            <a:off x="9468311" y="4595730"/>
            <a:ext cx="142381" cy="31640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>
                <a:solidFill>
                  <a:srgbClr val="000000"/>
                </a:solidFill>
                <a:latin typeface="Liberation Sans"/>
              </a:rPr>
              <a:t>M</a:t>
            </a:r>
          </a:p>
        </p:txBody>
      </p:sp>
      <p:sp>
        <p:nvSpPr>
          <p:cNvPr id="848" name="assignment-masses-0847"/>
          <p:cNvSpPr txBox="1"/>
          <p:nvPr/>
        </p:nvSpPr>
        <p:spPr>
          <a:xfrm>
            <a:off x="9594872" y="4651100"/>
            <a:ext cx="94920" cy="25312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>
                <a:solidFill>
                  <a:srgbClr val="000000"/>
                </a:solidFill>
                <a:latin typeface="Liberation Sans"/>
              </a:rPr>
              <a:t>1</a:t>
            </a:r>
          </a:p>
        </p:txBody>
      </p:sp>
      <p:sp>
        <p:nvSpPr>
          <p:cNvPr id="849" name="assignment-masses-0848"/>
          <p:cNvSpPr txBox="1"/>
          <p:nvPr/>
        </p:nvSpPr>
        <p:spPr>
          <a:xfrm>
            <a:off x="9658152" y="4595730"/>
            <a:ext cx="268941" cy="31640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>
                <a:solidFill>
                  <a:srgbClr val="000000"/>
                </a:solidFill>
                <a:latin typeface="Liberation Sans"/>
              </a:rPr>
              <a:t>(A)</a:t>
            </a:r>
          </a:p>
        </p:txBody>
      </p:sp>
      <p:sp>
        <p:nvSpPr>
          <p:cNvPr id="850" name="assignment-masses-0849"/>
          <p:cNvSpPr/>
          <p:nvPr/>
        </p:nvSpPr>
        <p:spPr>
          <a:xfrm>
            <a:off x="10029924" y="4674830"/>
            <a:ext cx="158201" cy="158201"/>
          </a:xfrm>
          <a:prstGeom prst="ellipse">
            <a:avLst/>
          </a:prstGeom>
          <a:solidFill>
            <a:srgbClr val="FEFAEE"/>
          </a:solidFill>
          <a:ln w="1186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51" name="assignment-masses-0850"/>
          <p:cNvCxnSpPr/>
          <p:nvPr/>
        </p:nvCxnSpPr>
        <p:spPr>
          <a:xfrm>
            <a:off x="10057609" y="4753931"/>
            <a:ext cx="102830" cy="0"/>
          </a:xfrm>
          <a:prstGeom prst="line">
            <a:avLst/>
          </a:prstGeom>
          <a:ln w="1107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2" name="assignment-masses-0851"/>
          <p:cNvCxnSpPr/>
          <p:nvPr/>
        </p:nvCxnSpPr>
        <p:spPr>
          <a:xfrm>
            <a:off x="10109024" y="4702516"/>
            <a:ext cx="0" cy="102830"/>
          </a:xfrm>
          <a:prstGeom prst="line">
            <a:avLst/>
          </a:prstGeom>
          <a:ln w="1107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3" name="assignment-masses-0852"/>
          <p:cNvSpPr/>
          <p:nvPr/>
        </p:nvSpPr>
        <p:spPr>
          <a:xfrm>
            <a:off x="10298865" y="4627370"/>
            <a:ext cx="537882" cy="332221"/>
          </a:xfrm>
          <a:prstGeom prst="rect">
            <a:avLst/>
          </a:prstGeom>
          <a:solidFill>
            <a:srgbClr val="B9D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4" name="assignment-masses-0853"/>
          <p:cNvSpPr/>
          <p:nvPr/>
        </p:nvSpPr>
        <p:spPr>
          <a:xfrm>
            <a:off x="10267225" y="4587820"/>
            <a:ext cx="537882" cy="332221"/>
          </a:xfrm>
          <a:prstGeom prst="rect">
            <a:avLst/>
          </a:prstGeom>
          <a:solidFill>
            <a:srgbClr val="FFFFFF"/>
          </a:solidFill>
          <a:ln w="18193">
            <a:solidFill>
              <a:srgbClr val="5D8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55" name="assignment-masses-0854"/>
          <p:cNvCxnSpPr/>
          <p:nvPr/>
        </p:nvCxnSpPr>
        <p:spPr>
          <a:xfrm flipV="1">
            <a:off x="10267225" y="4587820"/>
            <a:ext cx="79100" cy="79100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6" name="assignment-masses-0855"/>
          <p:cNvCxnSpPr/>
          <p:nvPr/>
        </p:nvCxnSpPr>
        <p:spPr>
          <a:xfrm flipV="1">
            <a:off x="10267225" y="4587820"/>
            <a:ext cx="158200" cy="158201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7" name="assignment-masses-0856"/>
          <p:cNvCxnSpPr/>
          <p:nvPr/>
        </p:nvCxnSpPr>
        <p:spPr>
          <a:xfrm flipV="1">
            <a:off x="10267225" y="4587820"/>
            <a:ext cx="237301" cy="237301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8" name="assignment-masses-0857"/>
          <p:cNvCxnSpPr/>
          <p:nvPr/>
        </p:nvCxnSpPr>
        <p:spPr>
          <a:xfrm flipV="1">
            <a:off x="10267225" y="4587820"/>
            <a:ext cx="316401" cy="316401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9" name="assignment-masses-0858"/>
          <p:cNvCxnSpPr/>
          <p:nvPr/>
        </p:nvCxnSpPr>
        <p:spPr>
          <a:xfrm flipV="1">
            <a:off x="10330505" y="4587820"/>
            <a:ext cx="332221" cy="332222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0" name="assignment-masses-0859"/>
          <p:cNvCxnSpPr/>
          <p:nvPr/>
        </p:nvCxnSpPr>
        <p:spPr>
          <a:xfrm flipV="1">
            <a:off x="10409605" y="4587820"/>
            <a:ext cx="332222" cy="332222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1" name="assignment-masses-0860"/>
          <p:cNvCxnSpPr/>
          <p:nvPr/>
        </p:nvCxnSpPr>
        <p:spPr>
          <a:xfrm flipV="1">
            <a:off x="10488706" y="4603640"/>
            <a:ext cx="316401" cy="316402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2" name="assignment-masses-0861"/>
          <p:cNvCxnSpPr/>
          <p:nvPr/>
        </p:nvCxnSpPr>
        <p:spPr>
          <a:xfrm flipV="1">
            <a:off x="10567806" y="4682740"/>
            <a:ext cx="237301" cy="237302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3" name="assignment-masses-0862"/>
          <p:cNvCxnSpPr/>
          <p:nvPr/>
        </p:nvCxnSpPr>
        <p:spPr>
          <a:xfrm flipV="1">
            <a:off x="10646906" y="4761841"/>
            <a:ext cx="158201" cy="158201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4" name="assignment-masses-0863"/>
          <p:cNvCxnSpPr/>
          <p:nvPr/>
        </p:nvCxnSpPr>
        <p:spPr>
          <a:xfrm flipV="1">
            <a:off x="10726007" y="4840941"/>
            <a:ext cx="79100" cy="79101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5" name="assignment-arrows-0864"/>
          <p:cNvSpPr/>
          <p:nvPr/>
        </p:nvSpPr>
        <p:spPr>
          <a:xfrm>
            <a:off x="8503287" y="5030782"/>
            <a:ext cx="767273" cy="268941"/>
          </a:xfrm>
          <a:custGeom>
            <a:avLst/>
            <a:gdLst/>
            <a:ahLst/>
            <a:cxnLst/>
            <a:rect l="l" t="t" r="r" b="b"/>
            <a:pathLst>
              <a:path w="97" h="34">
                <a:moveTo>
                  <a:pt x="0" y="34"/>
                </a:moveTo>
                <a:lnTo>
                  <a:pt x="15" y="11"/>
                </a:lnTo>
                <a:lnTo>
                  <a:pt x="45" y="0"/>
                </a:lnTo>
                <a:lnTo>
                  <a:pt x="75" y="9"/>
                </a:lnTo>
                <a:lnTo>
                  <a:pt x="97" y="24"/>
                </a:lnTo>
              </a:path>
            </a:pathLst>
          </a:custGeom>
          <a:noFill/>
          <a:ln w="18984">
            <a:solidFill>
              <a:srgbClr val="00A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6" name="assignment-arrows-0865"/>
          <p:cNvSpPr/>
          <p:nvPr/>
        </p:nvSpPr>
        <p:spPr>
          <a:xfrm>
            <a:off x="9159820" y="5125702"/>
            <a:ext cx="110740" cy="94920"/>
          </a:xfrm>
          <a:custGeom>
            <a:avLst/>
            <a:gdLst/>
            <a:ahLst/>
            <a:cxnLst/>
            <a:rect l="l" t="t" r="r" b="b"/>
            <a:pathLst>
              <a:path w="14" h="12">
                <a:moveTo>
                  <a:pt x="14" y="12"/>
                </a:moveTo>
                <a:lnTo>
                  <a:pt x="0" y="10"/>
                </a:lnTo>
                <a:lnTo>
                  <a:pt x="7" y="0"/>
                </a:lnTo>
                <a:close/>
              </a:path>
            </a:pathLst>
          </a:custGeom>
          <a:solidFill>
            <a:srgbClr val="00A9E8"/>
          </a:solidFill>
          <a:ln w="7910">
            <a:solidFill>
              <a:srgbClr val="00A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7" name="assignment-masses-0866"/>
          <p:cNvSpPr/>
          <p:nvPr/>
        </p:nvSpPr>
        <p:spPr>
          <a:xfrm>
            <a:off x="9468311" y="5094062"/>
            <a:ext cx="522062" cy="332221"/>
          </a:xfrm>
          <a:prstGeom prst="rect">
            <a:avLst/>
          </a:prstGeom>
          <a:solidFill>
            <a:srgbClr val="B9D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8" name="assignment-masses-0867"/>
          <p:cNvSpPr/>
          <p:nvPr/>
        </p:nvSpPr>
        <p:spPr>
          <a:xfrm>
            <a:off x="9428761" y="5046602"/>
            <a:ext cx="522062" cy="332221"/>
          </a:xfrm>
          <a:prstGeom prst="rect">
            <a:avLst/>
          </a:prstGeom>
          <a:solidFill>
            <a:srgbClr val="FEFAEE"/>
          </a:solidFill>
          <a:ln w="17402">
            <a:solidFill>
              <a:srgbClr val="5D8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9" name="assignment-masses-0868"/>
          <p:cNvSpPr txBox="1"/>
          <p:nvPr/>
        </p:nvSpPr>
        <p:spPr>
          <a:xfrm>
            <a:off x="9468311" y="5054512"/>
            <a:ext cx="142381" cy="31640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>
                <a:solidFill>
                  <a:srgbClr val="000000"/>
                </a:solidFill>
                <a:latin typeface="Liberation Sans"/>
              </a:rPr>
              <a:t>M</a:t>
            </a:r>
          </a:p>
        </p:txBody>
      </p:sp>
      <p:sp>
        <p:nvSpPr>
          <p:cNvPr id="870" name="assignment-masses-0869"/>
          <p:cNvSpPr txBox="1"/>
          <p:nvPr/>
        </p:nvSpPr>
        <p:spPr>
          <a:xfrm>
            <a:off x="9594872" y="5109882"/>
            <a:ext cx="94920" cy="25312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>
                <a:solidFill>
                  <a:srgbClr val="000000"/>
                </a:solidFill>
                <a:latin typeface="Liberation Sans"/>
              </a:rPr>
              <a:t>2</a:t>
            </a:r>
          </a:p>
        </p:txBody>
      </p:sp>
      <p:sp>
        <p:nvSpPr>
          <p:cNvPr id="871" name="assignment-masses-0870"/>
          <p:cNvSpPr txBox="1"/>
          <p:nvPr/>
        </p:nvSpPr>
        <p:spPr>
          <a:xfrm>
            <a:off x="9658152" y="5054512"/>
            <a:ext cx="268941" cy="31640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>
                <a:solidFill>
                  <a:srgbClr val="000000"/>
                </a:solidFill>
                <a:latin typeface="Liberation Sans"/>
              </a:rPr>
              <a:t>(A)</a:t>
            </a:r>
          </a:p>
        </p:txBody>
      </p:sp>
      <p:sp>
        <p:nvSpPr>
          <p:cNvPr id="872" name="assignment-masses-0871"/>
          <p:cNvSpPr/>
          <p:nvPr/>
        </p:nvSpPr>
        <p:spPr>
          <a:xfrm>
            <a:off x="10029924" y="5133612"/>
            <a:ext cx="158201" cy="158201"/>
          </a:xfrm>
          <a:prstGeom prst="ellipse">
            <a:avLst/>
          </a:prstGeom>
          <a:solidFill>
            <a:srgbClr val="FEFAEE"/>
          </a:solidFill>
          <a:ln w="1186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73" name="assignment-masses-0872"/>
          <p:cNvCxnSpPr/>
          <p:nvPr/>
        </p:nvCxnSpPr>
        <p:spPr>
          <a:xfrm>
            <a:off x="10057609" y="5212713"/>
            <a:ext cx="102830" cy="0"/>
          </a:xfrm>
          <a:prstGeom prst="line">
            <a:avLst/>
          </a:prstGeom>
          <a:ln w="1107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4" name="assignment-masses-0873"/>
          <p:cNvCxnSpPr/>
          <p:nvPr/>
        </p:nvCxnSpPr>
        <p:spPr>
          <a:xfrm>
            <a:off x="10109024" y="5161298"/>
            <a:ext cx="0" cy="102830"/>
          </a:xfrm>
          <a:prstGeom prst="line">
            <a:avLst/>
          </a:prstGeom>
          <a:ln w="1107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5" name="assignment-masses-0874"/>
          <p:cNvSpPr/>
          <p:nvPr/>
        </p:nvSpPr>
        <p:spPr>
          <a:xfrm>
            <a:off x="10298865" y="5086152"/>
            <a:ext cx="537882" cy="332221"/>
          </a:xfrm>
          <a:prstGeom prst="rect">
            <a:avLst/>
          </a:prstGeom>
          <a:solidFill>
            <a:srgbClr val="B9D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6" name="assignment-masses-0875"/>
          <p:cNvSpPr/>
          <p:nvPr/>
        </p:nvSpPr>
        <p:spPr>
          <a:xfrm>
            <a:off x="10267225" y="5046602"/>
            <a:ext cx="537882" cy="332221"/>
          </a:xfrm>
          <a:prstGeom prst="rect">
            <a:avLst/>
          </a:prstGeom>
          <a:solidFill>
            <a:srgbClr val="FFFFFF"/>
          </a:solidFill>
          <a:ln w="18193">
            <a:solidFill>
              <a:srgbClr val="5D8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77" name="assignment-masses-0876"/>
          <p:cNvCxnSpPr/>
          <p:nvPr/>
        </p:nvCxnSpPr>
        <p:spPr>
          <a:xfrm flipV="1">
            <a:off x="10267225" y="5046602"/>
            <a:ext cx="79100" cy="79100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8" name="assignment-masses-0877"/>
          <p:cNvCxnSpPr/>
          <p:nvPr/>
        </p:nvCxnSpPr>
        <p:spPr>
          <a:xfrm flipV="1">
            <a:off x="10267225" y="5046602"/>
            <a:ext cx="158200" cy="158201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9" name="assignment-masses-0878"/>
          <p:cNvCxnSpPr/>
          <p:nvPr/>
        </p:nvCxnSpPr>
        <p:spPr>
          <a:xfrm flipV="1">
            <a:off x="10267225" y="5046602"/>
            <a:ext cx="237301" cy="237301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0" name="assignment-masses-0879"/>
          <p:cNvCxnSpPr/>
          <p:nvPr/>
        </p:nvCxnSpPr>
        <p:spPr>
          <a:xfrm flipV="1">
            <a:off x="10267225" y="5046602"/>
            <a:ext cx="316401" cy="316401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1" name="assignment-masses-0880"/>
          <p:cNvCxnSpPr/>
          <p:nvPr/>
        </p:nvCxnSpPr>
        <p:spPr>
          <a:xfrm flipV="1">
            <a:off x="10330505" y="5046602"/>
            <a:ext cx="332221" cy="332222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2" name="assignment-masses-0881"/>
          <p:cNvCxnSpPr/>
          <p:nvPr/>
        </p:nvCxnSpPr>
        <p:spPr>
          <a:xfrm flipV="1">
            <a:off x="10409605" y="5046602"/>
            <a:ext cx="332222" cy="332222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3" name="assignment-masses-0882"/>
          <p:cNvCxnSpPr/>
          <p:nvPr/>
        </p:nvCxnSpPr>
        <p:spPr>
          <a:xfrm flipV="1">
            <a:off x="10488706" y="5062422"/>
            <a:ext cx="316401" cy="316402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4" name="assignment-masses-0883"/>
          <p:cNvCxnSpPr/>
          <p:nvPr/>
        </p:nvCxnSpPr>
        <p:spPr>
          <a:xfrm flipV="1">
            <a:off x="10567806" y="5141522"/>
            <a:ext cx="237301" cy="237302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5" name="assignment-masses-0884"/>
          <p:cNvCxnSpPr/>
          <p:nvPr/>
        </p:nvCxnSpPr>
        <p:spPr>
          <a:xfrm flipV="1">
            <a:off x="10646906" y="5220623"/>
            <a:ext cx="158201" cy="158201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6" name="assignment-masses-0885"/>
          <p:cNvCxnSpPr/>
          <p:nvPr/>
        </p:nvCxnSpPr>
        <p:spPr>
          <a:xfrm flipV="1">
            <a:off x="10726007" y="5299723"/>
            <a:ext cx="79100" cy="79101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7" name="assignment-arrows-0886"/>
          <p:cNvSpPr/>
          <p:nvPr/>
        </p:nvSpPr>
        <p:spPr>
          <a:xfrm>
            <a:off x="8503287" y="5434194"/>
            <a:ext cx="767273" cy="268941"/>
          </a:xfrm>
          <a:custGeom>
            <a:avLst/>
            <a:gdLst/>
            <a:ahLst/>
            <a:cxnLst/>
            <a:rect l="l" t="t" r="r" b="b"/>
            <a:pathLst>
              <a:path w="97" h="34">
                <a:moveTo>
                  <a:pt x="0" y="34"/>
                </a:moveTo>
                <a:lnTo>
                  <a:pt x="15" y="11"/>
                </a:lnTo>
                <a:lnTo>
                  <a:pt x="45" y="0"/>
                </a:lnTo>
                <a:lnTo>
                  <a:pt x="75" y="9"/>
                </a:lnTo>
                <a:lnTo>
                  <a:pt x="97" y="31"/>
                </a:lnTo>
              </a:path>
            </a:pathLst>
          </a:custGeom>
          <a:noFill/>
          <a:ln w="18984">
            <a:solidFill>
              <a:srgbClr val="00A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8" name="assignment-arrows-0887"/>
          <p:cNvSpPr/>
          <p:nvPr/>
        </p:nvSpPr>
        <p:spPr>
          <a:xfrm>
            <a:off x="9159820" y="5568664"/>
            <a:ext cx="110740" cy="110740"/>
          </a:xfrm>
          <a:custGeom>
            <a:avLst/>
            <a:gdLst/>
            <a:ahLst/>
            <a:cxnLst/>
            <a:rect l="l" t="t" r="r" b="b"/>
            <a:pathLst>
              <a:path w="14" h="14">
                <a:moveTo>
                  <a:pt x="14" y="14"/>
                </a:moveTo>
                <a:lnTo>
                  <a:pt x="0" y="9"/>
                </a:lnTo>
                <a:lnTo>
                  <a:pt x="9" y="0"/>
                </a:lnTo>
                <a:close/>
              </a:path>
            </a:pathLst>
          </a:custGeom>
          <a:solidFill>
            <a:srgbClr val="00A9E8"/>
          </a:solidFill>
          <a:ln w="7910">
            <a:solidFill>
              <a:srgbClr val="00A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9" name="assignment-masses-0888"/>
          <p:cNvSpPr/>
          <p:nvPr/>
        </p:nvSpPr>
        <p:spPr>
          <a:xfrm>
            <a:off x="9468311" y="5552844"/>
            <a:ext cx="522062" cy="332221"/>
          </a:xfrm>
          <a:prstGeom prst="rect">
            <a:avLst/>
          </a:prstGeom>
          <a:solidFill>
            <a:srgbClr val="B9D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0" name="assignment-masses-0889"/>
          <p:cNvSpPr/>
          <p:nvPr/>
        </p:nvSpPr>
        <p:spPr>
          <a:xfrm>
            <a:off x="9428761" y="5505384"/>
            <a:ext cx="522062" cy="332221"/>
          </a:xfrm>
          <a:prstGeom prst="rect">
            <a:avLst/>
          </a:prstGeom>
          <a:solidFill>
            <a:srgbClr val="FEFAEE"/>
          </a:solidFill>
          <a:ln w="17402">
            <a:solidFill>
              <a:srgbClr val="5D8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1" name="assignment-masses-0890"/>
          <p:cNvSpPr txBox="1"/>
          <p:nvPr/>
        </p:nvSpPr>
        <p:spPr>
          <a:xfrm>
            <a:off x="9468311" y="5513294"/>
            <a:ext cx="142381" cy="31640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>
                <a:solidFill>
                  <a:srgbClr val="000000"/>
                </a:solidFill>
                <a:latin typeface="Liberation Sans"/>
              </a:rPr>
              <a:t>M</a:t>
            </a:r>
          </a:p>
        </p:txBody>
      </p:sp>
      <p:sp>
        <p:nvSpPr>
          <p:cNvPr id="892" name="assignment-masses-0891"/>
          <p:cNvSpPr txBox="1"/>
          <p:nvPr/>
        </p:nvSpPr>
        <p:spPr>
          <a:xfrm>
            <a:off x="9594872" y="5568664"/>
            <a:ext cx="94920" cy="25312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>
                <a:solidFill>
                  <a:srgbClr val="000000"/>
                </a:solidFill>
                <a:latin typeface="Liberation Sans"/>
              </a:rPr>
              <a:t>3</a:t>
            </a:r>
          </a:p>
        </p:txBody>
      </p:sp>
      <p:sp>
        <p:nvSpPr>
          <p:cNvPr id="893" name="assignment-masses-0892"/>
          <p:cNvSpPr txBox="1"/>
          <p:nvPr/>
        </p:nvSpPr>
        <p:spPr>
          <a:xfrm>
            <a:off x="9658152" y="5513294"/>
            <a:ext cx="268941" cy="31640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>
                <a:solidFill>
                  <a:srgbClr val="000000"/>
                </a:solidFill>
                <a:latin typeface="Liberation Sans"/>
              </a:rPr>
              <a:t>(A)</a:t>
            </a:r>
          </a:p>
        </p:txBody>
      </p:sp>
      <p:sp>
        <p:nvSpPr>
          <p:cNvPr id="894" name="assignment-masses-0893"/>
          <p:cNvSpPr/>
          <p:nvPr/>
        </p:nvSpPr>
        <p:spPr>
          <a:xfrm>
            <a:off x="10029924" y="5592394"/>
            <a:ext cx="158201" cy="158201"/>
          </a:xfrm>
          <a:prstGeom prst="ellipse">
            <a:avLst/>
          </a:prstGeom>
          <a:solidFill>
            <a:srgbClr val="FEFAEE"/>
          </a:solidFill>
          <a:ln w="1186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5" name="assignment-masses-0894"/>
          <p:cNvCxnSpPr/>
          <p:nvPr/>
        </p:nvCxnSpPr>
        <p:spPr>
          <a:xfrm>
            <a:off x="10057609" y="5671495"/>
            <a:ext cx="102830" cy="0"/>
          </a:xfrm>
          <a:prstGeom prst="line">
            <a:avLst/>
          </a:prstGeom>
          <a:ln w="1107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6" name="assignment-masses-0895"/>
          <p:cNvCxnSpPr/>
          <p:nvPr/>
        </p:nvCxnSpPr>
        <p:spPr>
          <a:xfrm>
            <a:off x="10109024" y="5620080"/>
            <a:ext cx="0" cy="102830"/>
          </a:xfrm>
          <a:prstGeom prst="line">
            <a:avLst/>
          </a:prstGeom>
          <a:ln w="1107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7" name="assignment-masses-0896"/>
          <p:cNvSpPr/>
          <p:nvPr/>
        </p:nvSpPr>
        <p:spPr>
          <a:xfrm>
            <a:off x="10298865" y="5544934"/>
            <a:ext cx="537882" cy="332221"/>
          </a:xfrm>
          <a:prstGeom prst="rect">
            <a:avLst/>
          </a:prstGeom>
          <a:solidFill>
            <a:srgbClr val="B9D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8" name="assignment-masses-0897"/>
          <p:cNvSpPr/>
          <p:nvPr/>
        </p:nvSpPr>
        <p:spPr>
          <a:xfrm>
            <a:off x="10267225" y="5505384"/>
            <a:ext cx="537882" cy="332221"/>
          </a:xfrm>
          <a:prstGeom prst="rect">
            <a:avLst/>
          </a:prstGeom>
          <a:solidFill>
            <a:srgbClr val="FFFFFF"/>
          </a:solidFill>
          <a:ln w="18193">
            <a:solidFill>
              <a:srgbClr val="5D8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9" name="assignment-masses-0898"/>
          <p:cNvCxnSpPr/>
          <p:nvPr/>
        </p:nvCxnSpPr>
        <p:spPr>
          <a:xfrm flipV="1">
            <a:off x="10267225" y="5505384"/>
            <a:ext cx="79100" cy="79100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0" name="assignment-masses-0899"/>
          <p:cNvCxnSpPr/>
          <p:nvPr/>
        </p:nvCxnSpPr>
        <p:spPr>
          <a:xfrm flipV="1">
            <a:off x="10267225" y="5505384"/>
            <a:ext cx="158200" cy="158201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1" name="assignment-masses-0900"/>
          <p:cNvCxnSpPr/>
          <p:nvPr/>
        </p:nvCxnSpPr>
        <p:spPr>
          <a:xfrm flipV="1">
            <a:off x="10267225" y="5505384"/>
            <a:ext cx="237301" cy="237301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2" name="assignment-masses-0901"/>
          <p:cNvCxnSpPr/>
          <p:nvPr/>
        </p:nvCxnSpPr>
        <p:spPr>
          <a:xfrm flipV="1">
            <a:off x="10267225" y="5505384"/>
            <a:ext cx="316401" cy="316401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3" name="assignment-masses-0902"/>
          <p:cNvCxnSpPr/>
          <p:nvPr/>
        </p:nvCxnSpPr>
        <p:spPr>
          <a:xfrm flipV="1">
            <a:off x="10330505" y="5505384"/>
            <a:ext cx="332221" cy="332222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4" name="assignment-masses-0903"/>
          <p:cNvCxnSpPr/>
          <p:nvPr/>
        </p:nvCxnSpPr>
        <p:spPr>
          <a:xfrm flipV="1">
            <a:off x="10409605" y="5505384"/>
            <a:ext cx="332222" cy="332222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5" name="assignment-masses-0904"/>
          <p:cNvCxnSpPr/>
          <p:nvPr/>
        </p:nvCxnSpPr>
        <p:spPr>
          <a:xfrm flipV="1">
            <a:off x="10488706" y="5521204"/>
            <a:ext cx="316401" cy="316402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6" name="assignment-masses-0905"/>
          <p:cNvCxnSpPr/>
          <p:nvPr/>
        </p:nvCxnSpPr>
        <p:spPr>
          <a:xfrm flipV="1">
            <a:off x="10567806" y="5600304"/>
            <a:ext cx="237301" cy="237302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7" name="assignment-masses-0906"/>
          <p:cNvCxnSpPr/>
          <p:nvPr/>
        </p:nvCxnSpPr>
        <p:spPr>
          <a:xfrm flipV="1">
            <a:off x="10646906" y="5679405"/>
            <a:ext cx="158201" cy="158201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8" name="assignment-masses-0907"/>
          <p:cNvCxnSpPr/>
          <p:nvPr/>
        </p:nvCxnSpPr>
        <p:spPr>
          <a:xfrm flipV="1">
            <a:off x="10726007" y="5758505"/>
            <a:ext cx="79100" cy="79101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9" name="assignment-arrows-0908"/>
          <p:cNvSpPr/>
          <p:nvPr/>
        </p:nvSpPr>
        <p:spPr>
          <a:xfrm>
            <a:off x="8503287" y="5837606"/>
            <a:ext cx="767273" cy="300581"/>
          </a:xfrm>
          <a:custGeom>
            <a:avLst/>
            <a:gdLst/>
            <a:ahLst/>
            <a:cxnLst/>
            <a:rect l="l" t="t" r="r" b="b"/>
            <a:pathLst>
              <a:path w="97" h="38">
                <a:moveTo>
                  <a:pt x="0" y="34"/>
                </a:moveTo>
                <a:lnTo>
                  <a:pt x="15" y="11"/>
                </a:lnTo>
                <a:lnTo>
                  <a:pt x="45" y="0"/>
                </a:lnTo>
                <a:lnTo>
                  <a:pt x="75" y="9"/>
                </a:lnTo>
                <a:lnTo>
                  <a:pt x="97" y="38"/>
                </a:lnTo>
              </a:path>
            </a:pathLst>
          </a:custGeom>
          <a:noFill/>
          <a:ln w="18984">
            <a:solidFill>
              <a:srgbClr val="00A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0" name="assignment-arrows-0909"/>
          <p:cNvSpPr/>
          <p:nvPr/>
        </p:nvSpPr>
        <p:spPr>
          <a:xfrm>
            <a:off x="9167730" y="6027446"/>
            <a:ext cx="102830" cy="110740"/>
          </a:xfrm>
          <a:custGeom>
            <a:avLst/>
            <a:gdLst/>
            <a:ahLst/>
            <a:cxnLst/>
            <a:rect l="l" t="t" r="r" b="b"/>
            <a:pathLst>
              <a:path w="13" h="14">
                <a:moveTo>
                  <a:pt x="13" y="14"/>
                </a:moveTo>
                <a:lnTo>
                  <a:pt x="0" y="7"/>
                </a:lnTo>
                <a:lnTo>
                  <a:pt x="10" y="0"/>
                </a:lnTo>
                <a:close/>
              </a:path>
            </a:pathLst>
          </a:custGeom>
          <a:solidFill>
            <a:srgbClr val="00A9E8"/>
          </a:solidFill>
          <a:ln w="7910">
            <a:solidFill>
              <a:srgbClr val="00A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1" name="assignment-masses-0910"/>
          <p:cNvSpPr/>
          <p:nvPr/>
        </p:nvSpPr>
        <p:spPr>
          <a:xfrm>
            <a:off x="9468311" y="6011626"/>
            <a:ext cx="522062" cy="332221"/>
          </a:xfrm>
          <a:prstGeom prst="rect">
            <a:avLst/>
          </a:prstGeom>
          <a:solidFill>
            <a:srgbClr val="B9D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2" name="assignment-masses-0911"/>
          <p:cNvSpPr/>
          <p:nvPr/>
        </p:nvSpPr>
        <p:spPr>
          <a:xfrm>
            <a:off x="9428761" y="5964166"/>
            <a:ext cx="522062" cy="332221"/>
          </a:xfrm>
          <a:prstGeom prst="rect">
            <a:avLst/>
          </a:prstGeom>
          <a:solidFill>
            <a:srgbClr val="FEFAEE"/>
          </a:solidFill>
          <a:ln w="17402">
            <a:solidFill>
              <a:srgbClr val="5D8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3" name="assignment-masses-0912"/>
          <p:cNvSpPr txBox="1"/>
          <p:nvPr/>
        </p:nvSpPr>
        <p:spPr>
          <a:xfrm>
            <a:off x="9468311" y="5972076"/>
            <a:ext cx="142381" cy="31640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>
                <a:solidFill>
                  <a:srgbClr val="000000"/>
                </a:solidFill>
                <a:latin typeface="Liberation Sans"/>
              </a:rPr>
              <a:t>M</a:t>
            </a:r>
          </a:p>
        </p:txBody>
      </p:sp>
      <p:sp>
        <p:nvSpPr>
          <p:cNvPr id="914" name="assignment-masses-0913"/>
          <p:cNvSpPr txBox="1"/>
          <p:nvPr/>
        </p:nvSpPr>
        <p:spPr>
          <a:xfrm>
            <a:off x="9594872" y="6027446"/>
            <a:ext cx="94920" cy="25312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>
                <a:solidFill>
                  <a:srgbClr val="000000"/>
                </a:solidFill>
                <a:latin typeface="Liberation Sans"/>
              </a:rPr>
              <a:t>4</a:t>
            </a:r>
          </a:p>
        </p:txBody>
      </p:sp>
      <p:sp>
        <p:nvSpPr>
          <p:cNvPr id="915" name="assignment-masses-0914"/>
          <p:cNvSpPr txBox="1"/>
          <p:nvPr/>
        </p:nvSpPr>
        <p:spPr>
          <a:xfrm>
            <a:off x="9658152" y="5972076"/>
            <a:ext cx="268941" cy="31640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>
                <a:solidFill>
                  <a:srgbClr val="000000"/>
                </a:solidFill>
                <a:latin typeface="Liberation Sans"/>
              </a:rPr>
              <a:t>(A)</a:t>
            </a:r>
          </a:p>
        </p:txBody>
      </p:sp>
      <p:sp>
        <p:nvSpPr>
          <p:cNvPr id="916" name="assignment-masses-0915"/>
          <p:cNvSpPr/>
          <p:nvPr/>
        </p:nvSpPr>
        <p:spPr>
          <a:xfrm>
            <a:off x="10029924" y="6051176"/>
            <a:ext cx="158201" cy="158201"/>
          </a:xfrm>
          <a:prstGeom prst="ellipse">
            <a:avLst/>
          </a:prstGeom>
          <a:solidFill>
            <a:srgbClr val="FEFAEE"/>
          </a:solidFill>
          <a:ln w="1186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17" name="assignment-masses-0916"/>
          <p:cNvCxnSpPr/>
          <p:nvPr/>
        </p:nvCxnSpPr>
        <p:spPr>
          <a:xfrm>
            <a:off x="10057609" y="6130277"/>
            <a:ext cx="102830" cy="0"/>
          </a:xfrm>
          <a:prstGeom prst="line">
            <a:avLst/>
          </a:prstGeom>
          <a:ln w="1107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8" name="assignment-masses-0917"/>
          <p:cNvCxnSpPr/>
          <p:nvPr/>
        </p:nvCxnSpPr>
        <p:spPr>
          <a:xfrm>
            <a:off x="10109024" y="6078862"/>
            <a:ext cx="0" cy="102830"/>
          </a:xfrm>
          <a:prstGeom prst="line">
            <a:avLst/>
          </a:prstGeom>
          <a:ln w="1107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9" name="assignment-masses-0918"/>
          <p:cNvSpPr/>
          <p:nvPr/>
        </p:nvSpPr>
        <p:spPr>
          <a:xfrm>
            <a:off x="10298865" y="6003716"/>
            <a:ext cx="537882" cy="332221"/>
          </a:xfrm>
          <a:prstGeom prst="rect">
            <a:avLst/>
          </a:prstGeom>
          <a:solidFill>
            <a:srgbClr val="B9D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0" name="assignment-masses-0919"/>
          <p:cNvSpPr/>
          <p:nvPr/>
        </p:nvSpPr>
        <p:spPr>
          <a:xfrm>
            <a:off x="10267225" y="5964166"/>
            <a:ext cx="537882" cy="332221"/>
          </a:xfrm>
          <a:prstGeom prst="rect">
            <a:avLst/>
          </a:prstGeom>
          <a:solidFill>
            <a:srgbClr val="FFFFFF"/>
          </a:solidFill>
          <a:ln w="18193">
            <a:solidFill>
              <a:srgbClr val="5D8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21" name="assignment-masses-0920"/>
          <p:cNvCxnSpPr/>
          <p:nvPr/>
        </p:nvCxnSpPr>
        <p:spPr>
          <a:xfrm flipV="1">
            <a:off x="10267225" y="5964166"/>
            <a:ext cx="79100" cy="79100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2" name="assignment-masses-0921"/>
          <p:cNvCxnSpPr/>
          <p:nvPr/>
        </p:nvCxnSpPr>
        <p:spPr>
          <a:xfrm flipV="1">
            <a:off x="10267225" y="5964166"/>
            <a:ext cx="158200" cy="158201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3" name="assignment-masses-0922"/>
          <p:cNvCxnSpPr/>
          <p:nvPr/>
        </p:nvCxnSpPr>
        <p:spPr>
          <a:xfrm flipV="1">
            <a:off x="10267225" y="5964166"/>
            <a:ext cx="237301" cy="237301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4" name="assignment-masses-0923"/>
          <p:cNvCxnSpPr/>
          <p:nvPr/>
        </p:nvCxnSpPr>
        <p:spPr>
          <a:xfrm flipV="1">
            <a:off x="10267225" y="5964166"/>
            <a:ext cx="316401" cy="316401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5" name="assignment-masses-0924"/>
          <p:cNvCxnSpPr/>
          <p:nvPr/>
        </p:nvCxnSpPr>
        <p:spPr>
          <a:xfrm flipV="1">
            <a:off x="10330505" y="5964166"/>
            <a:ext cx="332221" cy="332222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6" name="assignment-masses-0925"/>
          <p:cNvCxnSpPr/>
          <p:nvPr/>
        </p:nvCxnSpPr>
        <p:spPr>
          <a:xfrm flipV="1">
            <a:off x="10409605" y="5964166"/>
            <a:ext cx="332222" cy="332222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7" name="assignment-masses-0926"/>
          <p:cNvCxnSpPr/>
          <p:nvPr/>
        </p:nvCxnSpPr>
        <p:spPr>
          <a:xfrm flipV="1">
            <a:off x="10488706" y="5979986"/>
            <a:ext cx="316401" cy="316402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8" name="assignment-masses-0927"/>
          <p:cNvCxnSpPr/>
          <p:nvPr/>
        </p:nvCxnSpPr>
        <p:spPr>
          <a:xfrm flipV="1">
            <a:off x="10567806" y="6059087"/>
            <a:ext cx="237301" cy="237301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9" name="assignment-masses-0928"/>
          <p:cNvCxnSpPr/>
          <p:nvPr/>
        </p:nvCxnSpPr>
        <p:spPr>
          <a:xfrm flipV="1">
            <a:off x="10646906" y="6138187"/>
            <a:ext cx="158201" cy="158201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0" name="assignment-masses-0929"/>
          <p:cNvCxnSpPr/>
          <p:nvPr/>
        </p:nvCxnSpPr>
        <p:spPr>
          <a:xfrm flipV="1">
            <a:off x="10726007" y="6217287"/>
            <a:ext cx="79100" cy="79101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1" name="assignment-arrows-0930"/>
          <p:cNvSpPr/>
          <p:nvPr/>
        </p:nvSpPr>
        <p:spPr>
          <a:xfrm>
            <a:off x="8503287" y="6826360"/>
            <a:ext cx="767273" cy="268941"/>
          </a:xfrm>
          <a:custGeom>
            <a:avLst/>
            <a:gdLst/>
            <a:ahLst/>
            <a:cxnLst/>
            <a:rect l="l" t="t" r="r" b="b"/>
            <a:pathLst>
              <a:path w="97" h="34">
                <a:moveTo>
                  <a:pt x="0" y="34"/>
                </a:moveTo>
                <a:lnTo>
                  <a:pt x="15" y="11"/>
                </a:lnTo>
                <a:lnTo>
                  <a:pt x="45" y="0"/>
                </a:lnTo>
                <a:lnTo>
                  <a:pt x="75" y="9"/>
                </a:lnTo>
                <a:lnTo>
                  <a:pt x="97" y="25"/>
                </a:lnTo>
              </a:path>
            </a:pathLst>
          </a:custGeom>
          <a:noFill/>
          <a:ln w="18984">
            <a:solidFill>
              <a:srgbClr val="00A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2" name="assignment-arrows-0931"/>
          <p:cNvSpPr/>
          <p:nvPr/>
        </p:nvSpPr>
        <p:spPr>
          <a:xfrm>
            <a:off x="9159820" y="6921280"/>
            <a:ext cx="110740" cy="102830"/>
          </a:xfrm>
          <a:custGeom>
            <a:avLst/>
            <a:gdLst/>
            <a:ahLst/>
            <a:cxnLst/>
            <a:rect l="l" t="t" r="r" b="b"/>
            <a:pathLst>
              <a:path w="14" h="13">
                <a:moveTo>
                  <a:pt x="14" y="13"/>
                </a:moveTo>
                <a:lnTo>
                  <a:pt x="0" y="10"/>
                </a:lnTo>
                <a:lnTo>
                  <a:pt x="7" y="0"/>
                </a:lnTo>
                <a:close/>
              </a:path>
            </a:pathLst>
          </a:custGeom>
          <a:solidFill>
            <a:srgbClr val="00A9E8"/>
          </a:solidFill>
          <a:ln w="7910">
            <a:solidFill>
              <a:srgbClr val="00A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3" name="assignment-masses-0932"/>
          <p:cNvSpPr/>
          <p:nvPr/>
        </p:nvSpPr>
        <p:spPr>
          <a:xfrm>
            <a:off x="9468311" y="6897550"/>
            <a:ext cx="522062" cy="332221"/>
          </a:xfrm>
          <a:prstGeom prst="rect">
            <a:avLst/>
          </a:prstGeom>
          <a:solidFill>
            <a:srgbClr val="B9D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4" name="assignment-masses-0933"/>
          <p:cNvSpPr/>
          <p:nvPr/>
        </p:nvSpPr>
        <p:spPr>
          <a:xfrm>
            <a:off x="9428761" y="6850090"/>
            <a:ext cx="522062" cy="332221"/>
          </a:xfrm>
          <a:prstGeom prst="rect">
            <a:avLst/>
          </a:prstGeom>
          <a:solidFill>
            <a:srgbClr val="FEFAEE"/>
          </a:solidFill>
          <a:ln w="17402">
            <a:solidFill>
              <a:srgbClr val="5D8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5" name="assignment-masses-0934"/>
          <p:cNvSpPr txBox="1"/>
          <p:nvPr/>
        </p:nvSpPr>
        <p:spPr>
          <a:xfrm>
            <a:off x="9468311" y="6858000"/>
            <a:ext cx="142381" cy="31640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>
                <a:solidFill>
                  <a:srgbClr val="000000"/>
                </a:solidFill>
                <a:latin typeface="Liberation Sans"/>
              </a:rPr>
              <a:t>M</a:t>
            </a:r>
          </a:p>
        </p:txBody>
      </p:sp>
      <p:sp>
        <p:nvSpPr>
          <p:cNvPr id="936" name="assignment-masses-0935"/>
          <p:cNvSpPr txBox="1"/>
          <p:nvPr/>
        </p:nvSpPr>
        <p:spPr>
          <a:xfrm>
            <a:off x="9586962" y="6913370"/>
            <a:ext cx="197751" cy="25312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>
                <a:solidFill>
                  <a:srgbClr val="000000"/>
                </a:solidFill>
                <a:latin typeface="Liberation Sans"/>
              </a:rPr>
              <a:t>n−1</a:t>
            </a:r>
          </a:p>
        </p:txBody>
      </p:sp>
      <p:sp>
        <p:nvSpPr>
          <p:cNvPr id="937" name="assignment-masses-0936"/>
          <p:cNvSpPr txBox="1"/>
          <p:nvPr/>
        </p:nvSpPr>
        <p:spPr>
          <a:xfrm>
            <a:off x="9753072" y="6858000"/>
            <a:ext cx="181931" cy="31640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Liberation Sans"/>
              </a:rPr>
              <a:t>(A)</a:t>
            </a:r>
          </a:p>
        </p:txBody>
      </p:sp>
      <p:sp>
        <p:nvSpPr>
          <p:cNvPr id="938" name="assignment-masses-0937"/>
          <p:cNvSpPr/>
          <p:nvPr/>
        </p:nvSpPr>
        <p:spPr>
          <a:xfrm>
            <a:off x="10029924" y="6937100"/>
            <a:ext cx="158201" cy="158201"/>
          </a:xfrm>
          <a:prstGeom prst="ellipse">
            <a:avLst/>
          </a:prstGeom>
          <a:solidFill>
            <a:srgbClr val="FEFAEE"/>
          </a:solidFill>
          <a:ln w="1186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39" name="assignment-masses-0938"/>
          <p:cNvCxnSpPr/>
          <p:nvPr/>
        </p:nvCxnSpPr>
        <p:spPr>
          <a:xfrm>
            <a:off x="10057609" y="7016201"/>
            <a:ext cx="102830" cy="0"/>
          </a:xfrm>
          <a:prstGeom prst="line">
            <a:avLst/>
          </a:prstGeom>
          <a:ln w="1107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0" name="assignment-masses-0939"/>
          <p:cNvCxnSpPr/>
          <p:nvPr/>
        </p:nvCxnSpPr>
        <p:spPr>
          <a:xfrm>
            <a:off x="10109024" y="6964785"/>
            <a:ext cx="0" cy="102831"/>
          </a:xfrm>
          <a:prstGeom prst="line">
            <a:avLst/>
          </a:prstGeom>
          <a:ln w="1107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1" name="assignment-masses-0940"/>
          <p:cNvSpPr/>
          <p:nvPr/>
        </p:nvSpPr>
        <p:spPr>
          <a:xfrm>
            <a:off x="10298865" y="6889640"/>
            <a:ext cx="537882" cy="332221"/>
          </a:xfrm>
          <a:prstGeom prst="rect">
            <a:avLst/>
          </a:prstGeom>
          <a:solidFill>
            <a:srgbClr val="B9D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2" name="assignment-masses-0941"/>
          <p:cNvSpPr/>
          <p:nvPr/>
        </p:nvSpPr>
        <p:spPr>
          <a:xfrm>
            <a:off x="10267225" y="6850090"/>
            <a:ext cx="537882" cy="332221"/>
          </a:xfrm>
          <a:prstGeom prst="rect">
            <a:avLst/>
          </a:prstGeom>
          <a:solidFill>
            <a:srgbClr val="FFFFFF"/>
          </a:solidFill>
          <a:ln w="18193">
            <a:solidFill>
              <a:srgbClr val="5D8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43" name="assignment-masses-0942"/>
          <p:cNvCxnSpPr/>
          <p:nvPr/>
        </p:nvCxnSpPr>
        <p:spPr>
          <a:xfrm flipV="1">
            <a:off x="10267225" y="6850090"/>
            <a:ext cx="79100" cy="79100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4" name="assignment-masses-0943"/>
          <p:cNvCxnSpPr/>
          <p:nvPr/>
        </p:nvCxnSpPr>
        <p:spPr>
          <a:xfrm flipV="1">
            <a:off x="10267225" y="6850090"/>
            <a:ext cx="158200" cy="158201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5" name="assignment-masses-0944"/>
          <p:cNvCxnSpPr/>
          <p:nvPr/>
        </p:nvCxnSpPr>
        <p:spPr>
          <a:xfrm flipV="1">
            <a:off x="10267225" y="6850090"/>
            <a:ext cx="237301" cy="237301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6" name="assignment-masses-0945"/>
          <p:cNvCxnSpPr/>
          <p:nvPr/>
        </p:nvCxnSpPr>
        <p:spPr>
          <a:xfrm flipV="1">
            <a:off x="10267225" y="6850090"/>
            <a:ext cx="316401" cy="316401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7" name="assignment-masses-0946"/>
          <p:cNvCxnSpPr/>
          <p:nvPr/>
        </p:nvCxnSpPr>
        <p:spPr>
          <a:xfrm flipV="1">
            <a:off x="10330505" y="6850090"/>
            <a:ext cx="332221" cy="332221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8" name="assignment-masses-0947"/>
          <p:cNvCxnSpPr/>
          <p:nvPr/>
        </p:nvCxnSpPr>
        <p:spPr>
          <a:xfrm flipV="1">
            <a:off x="10409605" y="6850090"/>
            <a:ext cx="332222" cy="332221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9" name="assignment-masses-0948"/>
          <p:cNvCxnSpPr/>
          <p:nvPr/>
        </p:nvCxnSpPr>
        <p:spPr>
          <a:xfrm flipV="1">
            <a:off x="10488706" y="6865910"/>
            <a:ext cx="316401" cy="316401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0" name="assignment-masses-0949"/>
          <p:cNvCxnSpPr/>
          <p:nvPr/>
        </p:nvCxnSpPr>
        <p:spPr>
          <a:xfrm flipV="1">
            <a:off x="10567806" y="6945010"/>
            <a:ext cx="237301" cy="237301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1" name="assignment-masses-0950"/>
          <p:cNvCxnSpPr/>
          <p:nvPr/>
        </p:nvCxnSpPr>
        <p:spPr>
          <a:xfrm flipV="1">
            <a:off x="10646906" y="7024111"/>
            <a:ext cx="158201" cy="158200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2" name="assignment-masses-0951"/>
          <p:cNvCxnSpPr/>
          <p:nvPr/>
        </p:nvCxnSpPr>
        <p:spPr>
          <a:xfrm flipV="1">
            <a:off x="10726007" y="7103211"/>
            <a:ext cx="79100" cy="79100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3" name="assignment-arrows-0952"/>
          <p:cNvSpPr/>
          <p:nvPr/>
        </p:nvSpPr>
        <p:spPr>
          <a:xfrm>
            <a:off x="8503287" y="7229772"/>
            <a:ext cx="767273" cy="268941"/>
          </a:xfrm>
          <a:custGeom>
            <a:avLst/>
            <a:gdLst/>
            <a:ahLst/>
            <a:cxnLst/>
            <a:rect l="l" t="t" r="r" b="b"/>
            <a:pathLst>
              <a:path w="97" h="34">
                <a:moveTo>
                  <a:pt x="0" y="34"/>
                </a:moveTo>
                <a:lnTo>
                  <a:pt x="15" y="11"/>
                </a:lnTo>
                <a:lnTo>
                  <a:pt x="45" y="0"/>
                </a:lnTo>
                <a:lnTo>
                  <a:pt x="75" y="9"/>
                </a:lnTo>
                <a:lnTo>
                  <a:pt x="97" y="31"/>
                </a:lnTo>
              </a:path>
            </a:pathLst>
          </a:custGeom>
          <a:noFill/>
          <a:ln w="18984">
            <a:solidFill>
              <a:srgbClr val="00A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4" name="assignment-arrows-0953"/>
          <p:cNvSpPr/>
          <p:nvPr/>
        </p:nvSpPr>
        <p:spPr>
          <a:xfrm>
            <a:off x="9159820" y="7364242"/>
            <a:ext cx="110740" cy="110740"/>
          </a:xfrm>
          <a:custGeom>
            <a:avLst/>
            <a:gdLst/>
            <a:ahLst/>
            <a:cxnLst/>
            <a:rect l="l" t="t" r="r" b="b"/>
            <a:pathLst>
              <a:path w="14" h="14">
                <a:moveTo>
                  <a:pt x="14" y="14"/>
                </a:moveTo>
                <a:lnTo>
                  <a:pt x="0" y="9"/>
                </a:lnTo>
                <a:lnTo>
                  <a:pt x="9" y="0"/>
                </a:lnTo>
                <a:close/>
              </a:path>
            </a:pathLst>
          </a:custGeom>
          <a:solidFill>
            <a:srgbClr val="00A9E8"/>
          </a:solidFill>
          <a:ln w="7910">
            <a:solidFill>
              <a:srgbClr val="00A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5" name="assignment-masses-0954"/>
          <p:cNvSpPr/>
          <p:nvPr/>
        </p:nvSpPr>
        <p:spPr>
          <a:xfrm>
            <a:off x="9468311" y="7348422"/>
            <a:ext cx="522062" cy="332221"/>
          </a:xfrm>
          <a:prstGeom prst="rect">
            <a:avLst/>
          </a:prstGeom>
          <a:solidFill>
            <a:srgbClr val="B9D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6" name="assignment-masses-0955"/>
          <p:cNvSpPr/>
          <p:nvPr/>
        </p:nvSpPr>
        <p:spPr>
          <a:xfrm>
            <a:off x="9428761" y="7300962"/>
            <a:ext cx="522062" cy="332221"/>
          </a:xfrm>
          <a:prstGeom prst="rect">
            <a:avLst/>
          </a:prstGeom>
          <a:solidFill>
            <a:srgbClr val="FEFAEE"/>
          </a:solidFill>
          <a:ln w="17402">
            <a:solidFill>
              <a:srgbClr val="5D8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7" name="assignment-masses-0956"/>
          <p:cNvSpPr txBox="1"/>
          <p:nvPr/>
        </p:nvSpPr>
        <p:spPr>
          <a:xfrm>
            <a:off x="9468311" y="7308872"/>
            <a:ext cx="142381" cy="31640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>
                <a:solidFill>
                  <a:srgbClr val="000000"/>
                </a:solidFill>
                <a:latin typeface="Liberation Sans"/>
              </a:rPr>
              <a:t>M</a:t>
            </a:r>
          </a:p>
        </p:txBody>
      </p:sp>
      <p:sp>
        <p:nvSpPr>
          <p:cNvPr id="958" name="assignment-masses-0957"/>
          <p:cNvSpPr txBox="1"/>
          <p:nvPr/>
        </p:nvSpPr>
        <p:spPr>
          <a:xfrm>
            <a:off x="9594872" y="7364242"/>
            <a:ext cx="94920" cy="25312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>
                <a:solidFill>
                  <a:srgbClr val="000000"/>
                </a:solidFill>
                <a:latin typeface="Liberation Sans"/>
              </a:rPr>
              <a:t>n</a:t>
            </a:r>
          </a:p>
        </p:txBody>
      </p:sp>
      <p:sp>
        <p:nvSpPr>
          <p:cNvPr id="959" name="assignment-masses-0958"/>
          <p:cNvSpPr txBox="1"/>
          <p:nvPr/>
        </p:nvSpPr>
        <p:spPr>
          <a:xfrm>
            <a:off x="9658152" y="7308872"/>
            <a:ext cx="268941" cy="31640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>
                <a:solidFill>
                  <a:srgbClr val="000000"/>
                </a:solidFill>
                <a:latin typeface="Liberation Sans"/>
              </a:rPr>
              <a:t>(A)</a:t>
            </a:r>
          </a:p>
        </p:txBody>
      </p:sp>
      <p:sp>
        <p:nvSpPr>
          <p:cNvPr id="960" name="assignment-masses-0959"/>
          <p:cNvSpPr/>
          <p:nvPr/>
        </p:nvSpPr>
        <p:spPr>
          <a:xfrm>
            <a:off x="10029924" y="7387972"/>
            <a:ext cx="158201" cy="158201"/>
          </a:xfrm>
          <a:prstGeom prst="ellipse">
            <a:avLst/>
          </a:prstGeom>
          <a:solidFill>
            <a:srgbClr val="FEFAEE"/>
          </a:solidFill>
          <a:ln w="1186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61" name="assignment-masses-0960"/>
          <p:cNvCxnSpPr/>
          <p:nvPr/>
        </p:nvCxnSpPr>
        <p:spPr>
          <a:xfrm>
            <a:off x="10057609" y="7467073"/>
            <a:ext cx="102830" cy="0"/>
          </a:xfrm>
          <a:prstGeom prst="line">
            <a:avLst/>
          </a:prstGeom>
          <a:ln w="1107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2" name="assignment-masses-0961"/>
          <p:cNvCxnSpPr/>
          <p:nvPr/>
        </p:nvCxnSpPr>
        <p:spPr>
          <a:xfrm>
            <a:off x="10109024" y="7415657"/>
            <a:ext cx="0" cy="102831"/>
          </a:xfrm>
          <a:prstGeom prst="line">
            <a:avLst/>
          </a:prstGeom>
          <a:ln w="1107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3" name="assignment-masses-0962"/>
          <p:cNvSpPr/>
          <p:nvPr/>
        </p:nvSpPr>
        <p:spPr>
          <a:xfrm>
            <a:off x="10298865" y="7340512"/>
            <a:ext cx="537882" cy="332221"/>
          </a:xfrm>
          <a:prstGeom prst="rect">
            <a:avLst/>
          </a:prstGeom>
          <a:solidFill>
            <a:srgbClr val="B9D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4" name="assignment-masses-0963"/>
          <p:cNvSpPr/>
          <p:nvPr/>
        </p:nvSpPr>
        <p:spPr>
          <a:xfrm>
            <a:off x="10267225" y="7300962"/>
            <a:ext cx="537882" cy="332221"/>
          </a:xfrm>
          <a:prstGeom prst="rect">
            <a:avLst/>
          </a:prstGeom>
          <a:solidFill>
            <a:srgbClr val="FFFFFF"/>
          </a:solidFill>
          <a:ln w="18193">
            <a:solidFill>
              <a:srgbClr val="5D8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65" name="assignment-masses-0964"/>
          <p:cNvCxnSpPr/>
          <p:nvPr/>
        </p:nvCxnSpPr>
        <p:spPr>
          <a:xfrm flipV="1">
            <a:off x="10267225" y="7300962"/>
            <a:ext cx="79100" cy="79100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6" name="assignment-masses-0965"/>
          <p:cNvCxnSpPr/>
          <p:nvPr/>
        </p:nvCxnSpPr>
        <p:spPr>
          <a:xfrm flipV="1">
            <a:off x="10267225" y="7300962"/>
            <a:ext cx="158200" cy="158201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7" name="assignment-masses-0966"/>
          <p:cNvCxnSpPr/>
          <p:nvPr/>
        </p:nvCxnSpPr>
        <p:spPr>
          <a:xfrm flipV="1">
            <a:off x="10267225" y="7300962"/>
            <a:ext cx="237301" cy="237301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8" name="assignment-masses-0967"/>
          <p:cNvCxnSpPr/>
          <p:nvPr/>
        </p:nvCxnSpPr>
        <p:spPr>
          <a:xfrm flipV="1">
            <a:off x="10267225" y="7300962"/>
            <a:ext cx="316401" cy="316401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9" name="assignment-masses-0968"/>
          <p:cNvCxnSpPr/>
          <p:nvPr/>
        </p:nvCxnSpPr>
        <p:spPr>
          <a:xfrm flipV="1">
            <a:off x="10330505" y="7300962"/>
            <a:ext cx="332221" cy="332221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0" name="assignment-masses-0969"/>
          <p:cNvCxnSpPr/>
          <p:nvPr/>
        </p:nvCxnSpPr>
        <p:spPr>
          <a:xfrm flipV="1">
            <a:off x="10409605" y="7300962"/>
            <a:ext cx="332222" cy="332221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1" name="assignment-masses-0970"/>
          <p:cNvCxnSpPr/>
          <p:nvPr/>
        </p:nvCxnSpPr>
        <p:spPr>
          <a:xfrm flipV="1">
            <a:off x="10488706" y="7316782"/>
            <a:ext cx="316401" cy="316401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2" name="assignment-masses-0971"/>
          <p:cNvCxnSpPr/>
          <p:nvPr/>
        </p:nvCxnSpPr>
        <p:spPr>
          <a:xfrm flipV="1">
            <a:off x="10567806" y="7395882"/>
            <a:ext cx="237301" cy="237301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3" name="assignment-masses-0972"/>
          <p:cNvCxnSpPr/>
          <p:nvPr/>
        </p:nvCxnSpPr>
        <p:spPr>
          <a:xfrm flipV="1">
            <a:off x="10646906" y="7474983"/>
            <a:ext cx="158201" cy="158200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4" name="assignment-masses-0973"/>
          <p:cNvCxnSpPr/>
          <p:nvPr/>
        </p:nvCxnSpPr>
        <p:spPr>
          <a:xfrm flipV="1">
            <a:off x="10726007" y="7554083"/>
            <a:ext cx="79100" cy="79100"/>
          </a:xfrm>
          <a:prstGeom prst="line">
            <a:avLst/>
          </a:prstGeom>
          <a:ln w="12656">
            <a:solidFill>
              <a:srgbClr val="86B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5" name="assignment-masses-0974"/>
          <p:cNvSpPr txBox="1"/>
          <p:nvPr/>
        </p:nvSpPr>
        <p:spPr>
          <a:xfrm>
            <a:off x="9571142" y="6422948"/>
            <a:ext cx="221481" cy="26894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1557" b="1">
                <a:solidFill>
                  <a:srgbClr val="000000"/>
                </a:solidFill>
                <a:latin typeface="Liberation Serif"/>
              </a:rPr>
              <a:t>⋮</a:t>
            </a:r>
          </a:p>
        </p:txBody>
      </p:sp>
      <p:sp>
        <p:nvSpPr>
          <p:cNvPr id="976" name="assignment-masses-0975"/>
          <p:cNvSpPr txBox="1"/>
          <p:nvPr/>
        </p:nvSpPr>
        <p:spPr>
          <a:xfrm>
            <a:off x="10085294" y="6422948"/>
            <a:ext cx="221481" cy="26894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1557" b="1">
                <a:solidFill>
                  <a:srgbClr val="000000"/>
                </a:solidFill>
                <a:latin typeface="Liberation Serif"/>
              </a:rPr>
              <a:t>⋮</a:t>
            </a:r>
          </a:p>
        </p:txBody>
      </p:sp>
      <p:sp>
        <p:nvSpPr>
          <p:cNvPr id="977" name="fusion-0976"/>
          <p:cNvSpPr/>
          <p:nvPr/>
        </p:nvSpPr>
        <p:spPr>
          <a:xfrm>
            <a:off x="11018678" y="4643190"/>
            <a:ext cx="1803488" cy="2950443"/>
          </a:xfrm>
          <a:prstGeom prst="rect">
            <a:avLst/>
          </a:prstGeom>
          <a:noFill/>
          <a:ln w="22148">
            <a:solidFill>
              <a:srgbClr val="F4A070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8" name="fusion-0977"/>
          <p:cNvSpPr/>
          <p:nvPr/>
        </p:nvSpPr>
        <p:spPr>
          <a:xfrm>
            <a:off x="11303439" y="4761841"/>
            <a:ext cx="490422" cy="751453"/>
          </a:xfrm>
          <a:prstGeom prst="roundRect">
            <a:avLst>
              <a:gd name="adj" fmla="val 11290"/>
            </a:avLst>
          </a:prstGeom>
          <a:noFill/>
          <a:ln w="14238">
            <a:solidFill>
              <a:srgbClr val="F7A9D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9" name="fusion-0978"/>
          <p:cNvSpPr/>
          <p:nvPr/>
        </p:nvSpPr>
        <p:spPr>
          <a:xfrm>
            <a:off x="11445820" y="4856761"/>
            <a:ext cx="197751" cy="150291"/>
          </a:xfrm>
          <a:prstGeom prst="rect">
            <a:avLst/>
          </a:prstGeom>
          <a:solidFill>
            <a:srgbClr val="FFDAD4"/>
          </a:solidFill>
          <a:ln w="7119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0" name="fusion-0979"/>
          <p:cNvSpPr/>
          <p:nvPr/>
        </p:nvSpPr>
        <p:spPr>
          <a:xfrm>
            <a:off x="11445820" y="4833031"/>
            <a:ext cx="237301" cy="23730"/>
          </a:xfrm>
          <a:custGeom>
            <a:avLst/>
            <a:gdLst/>
            <a:ahLst/>
            <a:cxnLst/>
            <a:rect l="l" t="t" r="r" b="b"/>
            <a:pathLst>
              <a:path w="30" h="3">
                <a:moveTo>
                  <a:pt x="0" y="3"/>
                </a:moveTo>
                <a:lnTo>
                  <a:pt x="5" y="0"/>
                </a:lnTo>
                <a:lnTo>
                  <a:pt x="30" y="0"/>
                </a:lnTo>
                <a:lnTo>
                  <a:pt x="25" y="3"/>
                </a:lnTo>
                <a:close/>
              </a:path>
            </a:pathLst>
          </a:custGeom>
          <a:solidFill>
            <a:srgbClr val="F8F8F8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1" name="fusion-0980"/>
          <p:cNvSpPr/>
          <p:nvPr/>
        </p:nvSpPr>
        <p:spPr>
          <a:xfrm>
            <a:off x="11643571" y="4833031"/>
            <a:ext cx="39550" cy="174021"/>
          </a:xfrm>
          <a:custGeom>
            <a:avLst/>
            <a:gdLst/>
            <a:ahLst/>
            <a:cxnLst/>
            <a:rect l="l" t="t" r="r" b="b"/>
            <a:pathLst>
              <a:path w="5" h="22">
                <a:moveTo>
                  <a:pt x="0" y="3"/>
                </a:moveTo>
                <a:lnTo>
                  <a:pt x="5" y="0"/>
                </a:lnTo>
                <a:lnTo>
                  <a:pt x="5" y="19"/>
                </a:lnTo>
                <a:lnTo>
                  <a:pt x="0" y="22"/>
                </a:lnTo>
                <a:close/>
              </a:path>
            </a:pathLst>
          </a:custGeom>
          <a:solidFill>
            <a:srgbClr val="D0D0D0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2" name="fusion-0981"/>
          <p:cNvSpPr/>
          <p:nvPr/>
        </p:nvSpPr>
        <p:spPr>
          <a:xfrm>
            <a:off x="11445820" y="5086152"/>
            <a:ext cx="197751" cy="150291"/>
          </a:xfrm>
          <a:prstGeom prst="rect">
            <a:avLst/>
          </a:prstGeom>
          <a:solidFill>
            <a:srgbClr val="FED966"/>
          </a:solidFill>
          <a:ln w="7119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3" name="fusion-0982"/>
          <p:cNvSpPr/>
          <p:nvPr/>
        </p:nvSpPr>
        <p:spPr>
          <a:xfrm>
            <a:off x="11445820" y="5062422"/>
            <a:ext cx="237301" cy="23730"/>
          </a:xfrm>
          <a:custGeom>
            <a:avLst/>
            <a:gdLst/>
            <a:ahLst/>
            <a:cxnLst/>
            <a:rect l="l" t="t" r="r" b="b"/>
            <a:pathLst>
              <a:path w="30" h="3">
                <a:moveTo>
                  <a:pt x="0" y="3"/>
                </a:moveTo>
                <a:lnTo>
                  <a:pt x="5" y="0"/>
                </a:lnTo>
                <a:lnTo>
                  <a:pt x="30" y="0"/>
                </a:lnTo>
                <a:lnTo>
                  <a:pt x="25" y="3"/>
                </a:lnTo>
                <a:close/>
              </a:path>
            </a:pathLst>
          </a:custGeom>
          <a:solidFill>
            <a:srgbClr val="F8F8F8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4" name="fusion-0983"/>
          <p:cNvSpPr/>
          <p:nvPr/>
        </p:nvSpPr>
        <p:spPr>
          <a:xfrm>
            <a:off x="11643571" y="5062422"/>
            <a:ext cx="39550" cy="174021"/>
          </a:xfrm>
          <a:custGeom>
            <a:avLst/>
            <a:gdLst/>
            <a:ahLst/>
            <a:cxnLst/>
            <a:rect l="l" t="t" r="r" b="b"/>
            <a:pathLst>
              <a:path w="5" h="22">
                <a:moveTo>
                  <a:pt x="0" y="3"/>
                </a:moveTo>
                <a:lnTo>
                  <a:pt x="5" y="0"/>
                </a:lnTo>
                <a:lnTo>
                  <a:pt x="5" y="19"/>
                </a:lnTo>
                <a:lnTo>
                  <a:pt x="0" y="22"/>
                </a:lnTo>
                <a:close/>
              </a:path>
            </a:pathLst>
          </a:custGeom>
          <a:solidFill>
            <a:srgbClr val="D0D0D0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5" name="fusion-0984"/>
          <p:cNvSpPr/>
          <p:nvPr/>
        </p:nvSpPr>
        <p:spPr>
          <a:xfrm>
            <a:off x="11445820" y="5315543"/>
            <a:ext cx="197751" cy="150291"/>
          </a:xfrm>
          <a:prstGeom prst="rect">
            <a:avLst/>
          </a:prstGeom>
          <a:solidFill>
            <a:srgbClr val="BAACFB"/>
          </a:solidFill>
          <a:ln w="7119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6" name="fusion-0985"/>
          <p:cNvSpPr/>
          <p:nvPr/>
        </p:nvSpPr>
        <p:spPr>
          <a:xfrm>
            <a:off x="11445820" y="5291813"/>
            <a:ext cx="237301" cy="23730"/>
          </a:xfrm>
          <a:custGeom>
            <a:avLst/>
            <a:gdLst/>
            <a:ahLst/>
            <a:cxnLst/>
            <a:rect l="l" t="t" r="r" b="b"/>
            <a:pathLst>
              <a:path w="30" h="3">
                <a:moveTo>
                  <a:pt x="0" y="3"/>
                </a:moveTo>
                <a:lnTo>
                  <a:pt x="5" y="0"/>
                </a:lnTo>
                <a:lnTo>
                  <a:pt x="30" y="0"/>
                </a:lnTo>
                <a:lnTo>
                  <a:pt x="25" y="3"/>
                </a:lnTo>
                <a:close/>
              </a:path>
            </a:pathLst>
          </a:custGeom>
          <a:solidFill>
            <a:srgbClr val="F8F8F8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7" name="fusion-0986"/>
          <p:cNvSpPr/>
          <p:nvPr/>
        </p:nvSpPr>
        <p:spPr>
          <a:xfrm>
            <a:off x="11643571" y="5291813"/>
            <a:ext cx="39550" cy="174021"/>
          </a:xfrm>
          <a:custGeom>
            <a:avLst/>
            <a:gdLst/>
            <a:ahLst/>
            <a:cxnLst/>
            <a:rect l="l" t="t" r="r" b="b"/>
            <a:pathLst>
              <a:path w="5" h="22">
                <a:moveTo>
                  <a:pt x="0" y="3"/>
                </a:moveTo>
                <a:lnTo>
                  <a:pt x="5" y="0"/>
                </a:lnTo>
                <a:lnTo>
                  <a:pt x="5" y="19"/>
                </a:lnTo>
                <a:lnTo>
                  <a:pt x="0" y="22"/>
                </a:lnTo>
                <a:close/>
              </a:path>
            </a:pathLst>
          </a:custGeom>
          <a:solidFill>
            <a:srgbClr val="D0D0D0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8" name="fusion-0987"/>
          <p:cNvSpPr txBox="1"/>
          <p:nvPr/>
        </p:nvSpPr>
        <p:spPr>
          <a:xfrm>
            <a:off x="11445820" y="5181073"/>
            <a:ext cx="197751" cy="14238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1432" b="1">
                <a:solidFill>
                  <a:srgbClr val="000000"/>
                </a:solidFill>
                <a:latin typeface="Liberation Serif"/>
              </a:rPr>
              <a:t>⋮</a:t>
            </a:r>
          </a:p>
        </p:txBody>
      </p:sp>
      <p:sp>
        <p:nvSpPr>
          <p:cNvPr id="989" name="fusion-0988"/>
          <p:cNvSpPr/>
          <p:nvPr/>
        </p:nvSpPr>
        <p:spPr>
          <a:xfrm>
            <a:off x="11303439" y="5703135"/>
            <a:ext cx="490422" cy="751453"/>
          </a:xfrm>
          <a:prstGeom prst="roundRect">
            <a:avLst>
              <a:gd name="adj" fmla="val 11290"/>
            </a:avLst>
          </a:prstGeom>
          <a:noFill/>
          <a:ln w="14238">
            <a:solidFill>
              <a:srgbClr val="F7A9D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" name="fusion-0989"/>
          <p:cNvSpPr/>
          <p:nvPr/>
        </p:nvSpPr>
        <p:spPr>
          <a:xfrm>
            <a:off x="11445820" y="5798055"/>
            <a:ext cx="197751" cy="150291"/>
          </a:xfrm>
          <a:prstGeom prst="rect">
            <a:avLst/>
          </a:prstGeom>
          <a:solidFill>
            <a:srgbClr val="FFDAD4"/>
          </a:solidFill>
          <a:ln w="7119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1" name="fusion-0990"/>
          <p:cNvSpPr/>
          <p:nvPr/>
        </p:nvSpPr>
        <p:spPr>
          <a:xfrm>
            <a:off x="11445820" y="5774325"/>
            <a:ext cx="237301" cy="23730"/>
          </a:xfrm>
          <a:custGeom>
            <a:avLst/>
            <a:gdLst/>
            <a:ahLst/>
            <a:cxnLst/>
            <a:rect l="l" t="t" r="r" b="b"/>
            <a:pathLst>
              <a:path w="30" h="3">
                <a:moveTo>
                  <a:pt x="0" y="3"/>
                </a:moveTo>
                <a:lnTo>
                  <a:pt x="5" y="0"/>
                </a:lnTo>
                <a:lnTo>
                  <a:pt x="30" y="0"/>
                </a:lnTo>
                <a:lnTo>
                  <a:pt x="25" y="3"/>
                </a:lnTo>
                <a:close/>
              </a:path>
            </a:pathLst>
          </a:custGeom>
          <a:solidFill>
            <a:srgbClr val="F8F8F8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2" name="fusion-0991"/>
          <p:cNvSpPr/>
          <p:nvPr/>
        </p:nvSpPr>
        <p:spPr>
          <a:xfrm>
            <a:off x="11643571" y="5774325"/>
            <a:ext cx="39550" cy="174021"/>
          </a:xfrm>
          <a:custGeom>
            <a:avLst/>
            <a:gdLst/>
            <a:ahLst/>
            <a:cxnLst/>
            <a:rect l="l" t="t" r="r" b="b"/>
            <a:pathLst>
              <a:path w="5" h="22">
                <a:moveTo>
                  <a:pt x="0" y="3"/>
                </a:moveTo>
                <a:lnTo>
                  <a:pt x="5" y="0"/>
                </a:lnTo>
                <a:lnTo>
                  <a:pt x="5" y="19"/>
                </a:lnTo>
                <a:lnTo>
                  <a:pt x="0" y="22"/>
                </a:lnTo>
                <a:close/>
              </a:path>
            </a:pathLst>
          </a:custGeom>
          <a:solidFill>
            <a:srgbClr val="D0D0D0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3" name="fusion-0992"/>
          <p:cNvSpPr/>
          <p:nvPr/>
        </p:nvSpPr>
        <p:spPr>
          <a:xfrm>
            <a:off x="11445820" y="6027446"/>
            <a:ext cx="197751" cy="150291"/>
          </a:xfrm>
          <a:prstGeom prst="rect">
            <a:avLst/>
          </a:prstGeom>
          <a:solidFill>
            <a:srgbClr val="FED966"/>
          </a:solidFill>
          <a:ln w="7119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4" name="fusion-0993"/>
          <p:cNvSpPr/>
          <p:nvPr/>
        </p:nvSpPr>
        <p:spPr>
          <a:xfrm>
            <a:off x="11445820" y="6003716"/>
            <a:ext cx="237301" cy="23730"/>
          </a:xfrm>
          <a:custGeom>
            <a:avLst/>
            <a:gdLst/>
            <a:ahLst/>
            <a:cxnLst/>
            <a:rect l="l" t="t" r="r" b="b"/>
            <a:pathLst>
              <a:path w="30" h="3">
                <a:moveTo>
                  <a:pt x="0" y="3"/>
                </a:moveTo>
                <a:lnTo>
                  <a:pt x="5" y="0"/>
                </a:lnTo>
                <a:lnTo>
                  <a:pt x="30" y="0"/>
                </a:lnTo>
                <a:lnTo>
                  <a:pt x="25" y="3"/>
                </a:lnTo>
                <a:close/>
              </a:path>
            </a:pathLst>
          </a:custGeom>
          <a:solidFill>
            <a:srgbClr val="F8F8F8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5" name="fusion-0994"/>
          <p:cNvSpPr/>
          <p:nvPr/>
        </p:nvSpPr>
        <p:spPr>
          <a:xfrm>
            <a:off x="11643571" y="6003716"/>
            <a:ext cx="39550" cy="174021"/>
          </a:xfrm>
          <a:custGeom>
            <a:avLst/>
            <a:gdLst/>
            <a:ahLst/>
            <a:cxnLst/>
            <a:rect l="l" t="t" r="r" b="b"/>
            <a:pathLst>
              <a:path w="5" h="22">
                <a:moveTo>
                  <a:pt x="0" y="3"/>
                </a:moveTo>
                <a:lnTo>
                  <a:pt x="5" y="0"/>
                </a:lnTo>
                <a:lnTo>
                  <a:pt x="5" y="19"/>
                </a:lnTo>
                <a:lnTo>
                  <a:pt x="0" y="22"/>
                </a:lnTo>
                <a:close/>
              </a:path>
            </a:pathLst>
          </a:custGeom>
          <a:solidFill>
            <a:srgbClr val="D0D0D0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6" name="fusion-0995"/>
          <p:cNvSpPr/>
          <p:nvPr/>
        </p:nvSpPr>
        <p:spPr>
          <a:xfrm>
            <a:off x="11445820" y="6256837"/>
            <a:ext cx="197751" cy="150291"/>
          </a:xfrm>
          <a:prstGeom prst="rect">
            <a:avLst/>
          </a:prstGeom>
          <a:solidFill>
            <a:srgbClr val="BAACFB"/>
          </a:solidFill>
          <a:ln w="7119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7" name="fusion-0996"/>
          <p:cNvSpPr/>
          <p:nvPr/>
        </p:nvSpPr>
        <p:spPr>
          <a:xfrm>
            <a:off x="11445820" y="6233107"/>
            <a:ext cx="237301" cy="23730"/>
          </a:xfrm>
          <a:custGeom>
            <a:avLst/>
            <a:gdLst/>
            <a:ahLst/>
            <a:cxnLst/>
            <a:rect l="l" t="t" r="r" b="b"/>
            <a:pathLst>
              <a:path w="30" h="3">
                <a:moveTo>
                  <a:pt x="0" y="3"/>
                </a:moveTo>
                <a:lnTo>
                  <a:pt x="5" y="0"/>
                </a:lnTo>
                <a:lnTo>
                  <a:pt x="30" y="0"/>
                </a:lnTo>
                <a:lnTo>
                  <a:pt x="25" y="3"/>
                </a:lnTo>
                <a:close/>
              </a:path>
            </a:pathLst>
          </a:custGeom>
          <a:solidFill>
            <a:srgbClr val="F8F8F8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8" name="fusion-0997"/>
          <p:cNvSpPr/>
          <p:nvPr/>
        </p:nvSpPr>
        <p:spPr>
          <a:xfrm>
            <a:off x="11643571" y="6233107"/>
            <a:ext cx="39550" cy="174021"/>
          </a:xfrm>
          <a:custGeom>
            <a:avLst/>
            <a:gdLst/>
            <a:ahLst/>
            <a:cxnLst/>
            <a:rect l="l" t="t" r="r" b="b"/>
            <a:pathLst>
              <a:path w="5" h="22">
                <a:moveTo>
                  <a:pt x="0" y="3"/>
                </a:moveTo>
                <a:lnTo>
                  <a:pt x="5" y="0"/>
                </a:lnTo>
                <a:lnTo>
                  <a:pt x="5" y="19"/>
                </a:lnTo>
                <a:lnTo>
                  <a:pt x="0" y="22"/>
                </a:lnTo>
                <a:close/>
              </a:path>
            </a:pathLst>
          </a:custGeom>
          <a:solidFill>
            <a:srgbClr val="D0D0D0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9" name="fusion-0998"/>
          <p:cNvSpPr txBox="1"/>
          <p:nvPr/>
        </p:nvSpPr>
        <p:spPr>
          <a:xfrm>
            <a:off x="11445820" y="6122367"/>
            <a:ext cx="197751" cy="14238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1432" b="1">
                <a:solidFill>
                  <a:srgbClr val="000000"/>
                </a:solidFill>
                <a:latin typeface="Liberation Serif"/>
              </a:rPr>
              <a:t>⋮</a:t>
            </a:r>
          </a:p>
        </p:txBody>
      </p:sp>
      <p:sp>
        <p:nvSpPr>
          <p:cNvPr id="1000" name="fusion-0999"/>
          <p:cNvSpPr/>
          <p:nvPr/>
        </p:nvSpPr>
        <p:spPr>
          <a:xfrm>
            <a:off x="11303439" y="6676069"/>
            <a:ext cx="490422" cy="751453"/>
          </a:xfrm>
          <a:prstGeom prst="roundRect">
            <a:avLst>
              <a:gd name="adj" fmla="val 11290"/>
            </a:avLst>
          </a:prstGeom>
          <a:noFill/>
          <a:ln w="14238">
            <a:solidFill>
              <a:srgbClr val="F7A9D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" name="fusion-1000"/>
          <p:cNvSpPr/>
          <p:nvPr/>
        </p:nvSpPr>
        <p:spPr>
          <a:xfrm>
            <a:off x="11445820" y="6770990"/>
            <a:ext cx="197751" cy="150291"/>
          </a:xfrm>
          <a:prstGeom prst="rect">
            <a:avLst/>
          </a:prstGeom>
          <a:solidFill>
            <a:srgbClr val="FFDAD4"/>
          </a:solidFill>
          <a:ln w="7119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2" name="fusion-1001"/>
          <p:cNvSpPr/>
          <p:nvPr/>
        </p:nvSpPr>
        <p:spPr>
          <a:xfrm>
            <a:off x="11445820" y="6747260"/>
            <a:ext cx="237301" cy="23730"/>
          </a:xfrm>
          <a:custGeom>
            <a:avLst/>
            <a:gdLst/>
            <a:ahLst/>
            <a:cxnLst/>
            <a:rect l="l" t="t" r="r" b="b"/>
            <a:pathLst>
              <a:path w="30" h="3">
                <a:moveTo>
                  <a:pt x="0" y="3"/>
                </a:moveTo>
                <a:lnTo>
                  <a:pt x="5" y="0"/>
                </a:lnTo>
                <a:lnTo>
                  <a:pt x="30" y="0"/>
                </a:lnTo>
                <a:lnTo>
                  <a:pt x="25" y="3"/>
                </a:lnTo>
                <a:close/>
              </a:path>
            </a:pathLst>
          </a:custGeom>
          <a:solidFill>
            <a:srgbClr val="F8F8F8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3" name="fusion-1002"/>
          <p:cNvSpPr/>
          <p:nvPr/>
        </p:nvSpPr>
        <p:spPr>
          <a:xfrm>
            <a:off x="11643571" y="6747260"/>
            <a:ext cx="39550" cy="174021"/>
          </a:xfrm>
          <a:custGeom>
            <a:avLst/>
            <a:gdLst/>
            <a:ahLst/>
            <a:cxnLst/>
            <a:rect l="l" t="t" r="r" b="b"/>
            <a:pathLst>
              <a:path w="5" h="22">
                <a:moveTo>
                  <a:pt x="0" y="3"/>
                </a:moveTo>
                <a:lnTo>
                  <a:pt x="5" y="0"/>
                </a:lnTo>
                <a:lnTo>
                  <a:pt x="5" y="19"/>
                </a:lnTo>
                <a:lnTo>
                  <a:pt x="0" y="22"/>
                </a:lnTo>
                <a:close/>
              </a:path>
            </a:pathLst>
          </a:custGeom>
          <a:solidFill>
            <a:srgbClr val="D0D0D0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4" name="fusion-1003"/>
          <p:cNvSpPr/>
          <p:nvPr/>
        </p:nvSpPr>
        <p:spPr>
          <a:xfrm>
            <a:off x="11445820" y="7000381"/>
            <a:ext cx="197751" cy="150291"/>
          </a:xfrm>
          <a:prstGeom prst="rect">
            <a:avLst/>
          </a:prstGeom>
          <a:solidFill>
            <a:srgbClr val="FED966"/>
          </a:solidFill>
          <a:ln w="7119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5" name="fusion-1004"/>
          <p:cNvSpPr/>
          <p:nvPr/>
        </p:nvSpPr>
        <p:spPr>
          <a:xfrm>
            <a:off x="11445820" y="6976651"/>
            <a:ext cx="237301" cy="23730"/>
          </a:xfrm>
          <a:custGeom>
            <a:avLst/>
            <a:gdLst/>
            <a:ahLst/>
            <a:cxnLst/>
            <a:rect l="l" t="t" r="r" b="b"/>
            <a:pathLst>
              <a:path w="30" h="3">
                <a:moveTo>
                  <a:pt x="0" y="3"/>
                </a:moveTo>
                <a:lnTo>
                  <a:pt x="5" y="0"/>
                </a:lnTo>
                <a:lnTo>
                  <a:pt x="30" y="0"/>
                </a:lnTo>
                <a:lnTo>
                  <a:pt x="25" y="3"/>
                </a:lnTo>
                <a:close/>
              </a:path>
            </a:pathLst>
          </a:custGeom>
          <a:solidFill>
            <a:srgbClr val="F8F8F8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6" name="fusion-1005"/>
          <p:cNvSpPr/>
          <p:nvPr/>
        </p:nvSpPr>
        <p:spPr>
          <a:xfrm>
            <a:off x="11643571" y="6976651"/>
            <a:ext cx="39550" cy="174021"/>
          </a:xfrm>
          <a:custGeom>
            <a:avLst/>
            <a:gdLst/>
            <a:ahLst/>
            <a:cxnLst/>
            <a:rect l="l" t="t" r="r" b="b"/>
            <a:pathLst>
              <a:path w="5" h="22">
                <a:moveTo>
                  <a:pt x="0" y="3"/>
                </a:moveTo>
                <a:lnTo>
                  <a:pt x="5" y="0"/>
                </a:lnTo>
                <a:lnTo>
                  <a:pt x="5" y="19"/>
                </a:lnTo>
                <a:lnTo>
                  <a:pt x="0" y="22"/>
                </a:lnTo>
                <a:close/>
              </a:path>
            </a:pathLst>
          </a:custGeom>
          <a:solidFill>
            <a:srgbClr val="D0D0D0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7" name="fusion-1006"/>
          <p:cNvSpPr/>
          <p:nvPr/>
        </p:nvSpPr>
        <p:spPr>
          <a:xfrm>
            <a:off x="11445820" y="7229772"/>
            <a:ext cx="197751" cy="150291"/>
          </a:xfrm>
          <a:prstGeom prst="rect">
            <a:avLst/>
          </a:prstGeom>
          <a:solidFill>
            <a:srgbClr val="BAACFB"/>
          </a:solidFill>
          <a:ln w="7119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8" name="fusion-1007"/>
          <p:cNvSpPr/>
          <p:nvPr/>
        </p:nvSpPr>
        <p:spPr>
          <a:xfrm>
            <a:off x="11445820" y="7206042"/>
            <a:ext cx="237301" cy="23730"/>
          </a:xfrm>
          <a:custGeom>
            <a:avLst/>
            <a:gdLst/>
            <a:ahLst/>
            <a:cxnLst/>
            <a:rect l="l" t="t" r="r" b="b"/>
            <a:pathLst>
              <a:path w="30" h="3">
                <a:moveTo>
                  <a:pt x="0" y="3"/>
                </a:moveTo>
                <a:lnTo>
                  <a:pt x="5" y="0"/>
                </a:lnTo>
                <a:lnTo>
                  <a:pt x="30" y="0"/>
                </a:lnTo>
                <a:lnTo>
                  <a:pt x="25" y="3"/>
                </a:lnTo>
                <a:close/>
              </a:path>
            </a:pathLst>
          </a:custGeom>
          <a:solidFill>
            <a:srgbClr val="F8F8F8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9" name="fusion-1008"/>
          <p:cNvSpPr/>
          <p:nvPr/>
        </p:nvSpPr>
        <p:spPr>
          <a:xfrm>
            <a:off x="11643571" y="7206042"/>
            <a:ext cx="39550" cy="174021"/>
          </a:xfrm>
          <a:custGeom>
            <a:avLst/>
            <a:gdLst/>
            <a:ahLst/>
            <a:cxnLst/>
            <a:rect l="l" t="t" r="r" b="b"/>
            <a:pathLst>
              <a:path w="5" h="22">
                <a:moveTo>
                  <a:pt x="0" y="3"/>
                </a:moveTo>
                <a:lnTo>
                  <a:pt x="5" y="0"/>
                </a:lnTo>
                <a:lnTo>
                  <a:pt x="5" y="19"/>
                </a:lnTo>
                <a:lnTo>
                  <a:pt x="0" y="22"/>
                </a:lnTo>
                <a:close/>
              </a:path>
            </a:pathLst>
          </a:custGeom>
          <a:solidFill>
            <a:srgbClr val="D0D0D0"/>
          </a:solidFill>
          <a:ln w="5537">
            <a:solidFill>
              <a:srgbClr val="1C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0" name="fusion-1009"/>
          <p:cNvSpPr txBox="1"/>
          <p:nvPr/>
        </p:nvSpPr>
        <p:spPr>
          <a:xfrm>
            <a:off x="11445820" y="7095301"/>
            <a:ext cx="197751" cy="14238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1432" b="1">
                <a:solidFill>
                  <a:srgbClr val="000000"/>
                </a:solidFill>
                <a:latin typeface="Liberation Serif"/>
              </a:rPr>
              <a:t>⋮</a:t>
            </a:r>
          </a:p>
        </p:txBody>
      </p:sp>
      <p:sp>
        <p:nvSpPr>
          <p:cNvPr id="1011" name="fusion-1010"/>
          <p:cNvSpPr txBox="1"/>
          <p:nvPr/>
        </p:nvSpPr>
        <p:spPr>
          <a:xfrm>
            <a:off x="11390450" y="5347183"/>
            <a:ext cx="316401" cy="27685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1557" b="1">
                <a:solidFill>
                  <a:srgbClr val="000000"/>
                </a:solidFill>
                <a:latin typeface="Liberation Serif"/>
              </a:rPr>
              <a:t>⋮</a:t>
            </a:r>
          </a:p>
        </p:txBody>
      </p:sp>
      <p:sp>
        <p:nvSpPr>
          <p:cNvPr id="1012" name="fusion-1011"/>
          <p:cNvSpPr txBox="1"/>
          <p:nvPr/>
        </p:nvSpPr>
        <p:spPr>
          <a:xfrm>
            <a:off x="11390450" y="6320118"/>
            <a:ext cx="316401" cy="27685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1557" b="1">
                <a:solidFill>
                  <a:srgbClr val="000000"/>
                </a:solidFill>
                <a:latin typeface="Liberation Serif"/>
              </a:rPr>
              <a:t>⋮</a:t>
            </a:r>
          </a:p>
        </p:txBody>
      </p:sp>
      <p:sp>
        <p:nvSpPr>
          <p:cNvPr id="1013" name="fusion-1012"/>
          <p:cNvSpPr/>
          <p:nvPr/>
        </p:nvSpPr>
        <p:spPr>
          <a:xfrm>
            <a:off x="12086533" y="5964166"/>
            <a:ext cx="537882" cy="348042"/>
          </a:xfrm>
          <a:prstGeom prst="rect">
            <a:avLst/>
          </a:prstGeom>
          <a:solidFill>
            <a:srgbClr val="B9D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4" name="fusion-1013"/>
          <p:cNvSpPr/>
          <p:nvPr/>
        </p:nvSpPr>
        <p:spPr>
          <a:xfrm>
            <a:off x="12046982" y="5916706"/>
            <a:ext cx="537882" cy="348042"/>
          </a:xfrm>
          <a:prstGeom prst="rect">
            <a:avLst/>
          </a:prstGeom>
          <a:solidFill>
            <a:srgbClr val="FEFAEE"/>
          </a:solidFill>
          <a:ln w="17402">
            <a:solidFill>
              <a:srgbClr val="5D8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5" name="fusion-1014"/>
          <p:cNvSpPr txBox="1"/>
          <p:nvPr/>
        </p:nvSpPr>
        <p:spPr>
          <a:xfrm>
            <a:off x="12046982" y="5916706"/>
            <a:ext cx="537882" cy="34804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1370" b="0">
                <a:solidFill>
                  <a:srgbClr val="000000"/>
                </a:solidFill>
                <a:latin typeface="Liberation Sans"/>
              </a:rPr>
              <a:t>M</a:t>
            </a:r>
          </a:p>
        </p:txBody>
      </p:sp>
      <p:sp>
        <p:nvSpPr>
          <p:cNvPr id="1016" name="lower-captions-1015"/>
          <p:cNvSpPr txBox="1"/>
          <p:nvPr/>
        </p:nvSpPr>
        <p:spPr>
          <a:xfrm>
            <a:off x="7870484" y="7672734"/>
            <a:ext cx="2768512" cy="387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1743" b="1">
                <a:solidFill>
                  <a:srgbClr val="000000"/>
                </a:solidFill>
                <a:latin typeface="Liberation Serif"/>
              </a:rPr>
              <a:t>Reliability Assignment</a:t>
            </a:r>
          </a:p>
        </p:txBody>
      </p:sp>
      <p:sp>
        <p:nvSpPr>
          <p:cNvPr id="1017" name="lower-captions-1016"/>
          <p:cNvSpPr txBox="1"/>
          <p:nvPr/>
        </p:nvSpPr>
        <p:spPr>
          <a:xfrm>
            <a:off x="11216429" y="7672734"/>
            <a:ext cx="1621557" cy="387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1743" b="1">
                <a:solidFill>
                  <a:srgbClr val="000000"/>
                </a:solidFill>
                <a:latin typeface="Liberation Serif"/>
              </a:rPr>
              <a:t>Fusion</a:t>
            </a:r>
          </a:p>
        </p:txBody>
      </p:sp>
      <p:sp>
        <p:nvSpPr>
          <p:cNvPr id="1018" name="applications-1017"/>
          <p:cNvSpPr/>
          <p:nvPr/>
        </p:nvSpPr>
        <p:spPr>
          <a:xfrm>
            <a:off x="6905460" y="8052415"/>
            <a:ext cx="6628609" cy="996664"/>
          </a:xfrm>
          <a:prstGeom prst="rect">
            <a:avLst/>
          </a:prstGeom>
          <a:noFill/>
          <a:ln w="22148">
            <a:solidFill>
              <a:srgbClr val="000000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9" name="applications-1018"/>
          <p:cNvSpPr/>
          <p:nvPr/>
        </p:nvSpPr>
        <p:spPr>
          <a:xfrm>
            <a:off x="6992470" y="8226436"/>
            <a:ext cx="1708567" cy="719813"/>
          </a:xfrm>
          <a:prstGeom prst="rect">
            <a:avLst/>
          </a:prstGeom>
          <a:solidFill>
            <a:srgbClr val="F1E8C9"/>
          </a:solidFill>
          <a:ln w="7910">
            <a:solidFill>
              <a:srgbClr val="DED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0" name="applications-1019"/>
          <p:cNvSpPr txBox="1"/>
          <p:nvPr/>
        </p:nvSpPr>
        <p:spPr>
          <a:xfrm>
            <a:off x="7032021" y="8242256"/>
            <a:ext cx="1629467" cy="6881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1743" b="1">
                <a:solidFill>
                  <a:srgbClr val="000000"/>
                </a:solidFill>
                <a:latin typeface="Liberation Serif"/>
              </a:rPr>
              <a:t>Pattern</a:t>
            </a:r>
            <a:br/>
            <a:r>
              <a:rPr sz="1743" b="1">
                <a:solidFill>
                  <a:srgbClr val="000000"/>
                </a:solidFill>
                <a:latin typeface="Liberation Serif"/>
              </a:rPr>
              <a:t>classification</a:t>
            </a:r>
          </a:p>
        </p:txBody>
      </p:sp>
      <p:sp>
        <p:nvSpPr>
          <p:cNvPr id="1021" name="applications-1020"/>
          <p:cNvSpPr/>
          <p:nvPr/>
        </p:nvSpPr>
        <p:spPr>
          <a:xfrm>
            <a:off x="8922519" y="8226436"/>
            <a:ext cx="1708567" cy="719813"/>
          </a:xfrm>
          <a:prstGeom prst="rect">
            <a:avLst/>
          </a:prstGeom>
          <a:solidFill>
            <a:srgbClr val="F1E8C9"/>
          </a:solidFill>
          <a:ln w="7910">
            <a:solidFill>
              <a:srgbClr val="DED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2" name="applications-1021"/>
          <p:cNvSpPr txBox="1"/>
          <p:nvPr/>
        </p:nvSpPr>
        <p:spPr>
          <a:xfrm>
            <a:off x="8962069" y="8242256"/>
            <a:ext cx="1629467" cy="6881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1743" b="1">
                <a:solidFill>
                  <a:srgbClr val="000000"/>
                </a:solidFill>
                <a:latin typeface="Liberation Serif"/>
              </a:rPr>
              <a:t>Image</a:t>
            </a:r>
            <a:br/>
            <a:r>
              <a:rPr sz="1743" b="1">
                <a:solidFill>
                  <a:srgbClr val="000000"/>
                </a:solidFill>
                <a:latin typeface="Liberation Serif"/>
              </a:rPr>
              <a:t>classification</a:t>
            </a:r>
          </a:p>
        </p:txBody>
      </p:sp>
      <p:sp>
        <p:nvSpPr>
          <p:cNvPr id="1023" name="applications-1022"/>
          <p:cNvSpPr/>
          <p:nvPr/>
        </p:nvSpPr>
        <p:spPr>
          <a:xfrm>
            <a:off x="10852567" y="8226436"/>
            <a:ext cx="2539121" cy="719813"/>
          </a:xfrm>
          <a:prstGeom prst="rect">
            <a:avLst/>
          </a:prstGeom>
          <a:solidFill>
            <a:srgbClr val="F1E8C9"/>
          </a:solidFill>
          <a:ln w="7910">
            <a:solidFill>
              <a:srgbClr val="DED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4" name="applications-1023"/>
          <p:cNvSpPr txBox="1"/>
          <p:nvPr/>
        </p:nvSpPr>
        <p:spPr>
          <a:xfrm>
            <a:off x="10892117" y="8242256"/>
            <a:ext cx="2460021" cy="6881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1743" b="1">
                <a:solidFill>
                  <a:srgbClr val="000000"/>
                </a:solidFill>
                <a:latin typeface="Liberation Serif"/>
              </a:rPr>
              <a:t>Low- light image</a:t>
            </a:r>
            <a:br/>
            <a:r>
              <a:rPr sz="1743" b="1">
                <a:solidFill>
                  <a:srgbClr val="000000"/>
                </a:solidFill>
                <a:latin typeface="Liberation Serif"/>
              </a:rPr>
              <a:t>enhancement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__ORIGINAL_REFERENCE_IMAGE__" descr="A Dynamic Learning Strategy for Dempster-Shafer Theory with Applications in Classification and Enhancement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779280" cy="91439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