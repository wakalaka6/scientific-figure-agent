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8259425" cy="8591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from the supplied reference as editable PowerPoint shapes and live text. Circuit cards and functional components are grouped; ungroup to edit individual quantum gates, wires, labels, and matrix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0001 rect"/>
          <p:cNvSpPr/>
          <p:nvPr/>
        </p:nvSpPr>
        <p:spPr>
          <a:xfrm>
            <a:off x="0" y="0"/>
            <a:ext cx="18259425" cy="859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(a) Dataset Construction"/>
          <p:cNvGrpSpPr/>
          <p:nvPr/>
        </p:nvGrpSpPr>
        <p:grpSpPr>
          <a:xfrm>
            <a:off x="123825" y="180975"/>
            <a:ext cx="18040350" cy="6657975"/>
            <a:chOff x="123825" y="180975"/>
            <a:chExt cx="18040350" cy="6657975"/>
          </a:xfrm>
        </p:grpSpPr>
        <p:sp>
          <p:nvSpPr>
            <p:cNvPr id="4" name="obj0003 poly"/>
            <p:cNvSpPr/>
            <p:nvPr/>
          </p:nvSpPr>
          <p:spPr>
            <a:xfrm>
              <a:off x="123825" y="180975"/>
              <a:ext cx="18040350" cy="2695575"/>
            </a:xfrm>
            <a:custGeom>
              <a:avLst/>
              <a:gdLst/>
              <a:ahLst/>
              <a:cxnLst/>
              <a:rect l="0" t="0" r="w" b="h"/>
              <a:pathLst>
                <a:path w="189400" h="28300" fill="none">
                  <a:moveTo>
                    <a:pt x="0" y="0"/>
                  </a:moveTo>
                  <a:lnTo>
                    <a:pt x="189400" y="0"/>
                  </a:lnTo>
                  <a:lnTo>
                    <a:pt x="189400" y="28300"/>
                  </a:lnTo>
                  <a:lnTo>
                    <a:pt x="0" y="28300"/>
                  </a:lnTo>
                  <a:close/>
                </a:path>
              </a:pathLst>
            </a:custGeom>
            <a:noFill/>
            <a:ln w="47625">
              <a:solidFill>
                <a:srgbClr val="000000"/>
              </a:solidFill>
              <a:custDash>
                <a:ds d="400000" sp="280000"/>
              </a:custDash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bj0004 poly"/>
            <p:cNvSpPr/>
            <p:nvPr/>
          </p:nvSpPr>
          <p:spPr>
            <a:xfrm>
              <a:off x="304800" y="1285875"/>
              <a:ext cx="161925" cy="5476875"/>
            </a:xfrm>
            <a:custGeom>
              <a:avLst/>
              <a:gdLst/>
              <a:ahLst/>
              <a:cxnLst/>
              <a:rect l="0" t="0" r="w" b="h"/>
              <a:pathLst>
                <a:path w="1700" h="57500" fill="none">
                  <a:moveTo>
                    <a:pt x="1000" y="0"/>
                  </a:moveTo>
                  <a:lnTo>
                    <a:pt x="0" y="0"/>
                  </a:lnTo>
                  <a:lnTo>
                    <a:pt x="0" y="57500"/>
                  </a:lnTo>
                  <a:lnTo>
                    <a:pt x="1700" y="575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bj0005 poly"/>
            <p:cNvSpPr/>
            <p:nvPr/>
          </p:nvSpPr>
          <p:spPr>
            <a:xfrm>
              <a:off x="304800" y="6686550"/>
              <a:ext cx="161925" cy="152400"/>
            </a:xfrm>
            <a:custGeom>
              <a:avLst/>
              <a:gdLst/>
              <a:ahLst/>
              <a:cxnLst/>
              <a:rect l="0" t="0" r="w" b="h"/>
              <a:pathLst>
                <a:path w="1700" h="1600" fill="norm">
                  <a:moveTo>
                    <a:pt x="0" y="0"/>
                  </a:moveTo>
                  <a:lnTo>
                    <a:pt x="1700" y="800"/>
                  </a:lnTo>
                  <a:lnTo>
                    <a:pt x="0" y="16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Initial large ansatz"/>
            <p:cNvGrpSpPr/>
            <p:nvPr/>
          </p:nvGrpSpPr>
          <p:grpSpPr>
            <a:xfrm>
              <a:off x="390525" y="371475"/>
              <a:ext cx="3895725" cy="1962150"/>
              <a:chOff x="390525" y="371475"/>
              <a:chExt cx="3895725" cy="1962150"/>
            </a:xfrm>
          </p:grpSpPr>
          <p:sp>
            <p:nvSpPr>
              <p:cNvPr id="8" name="obj0007 rect"/>
              <p:cNvSpPr/>
              <p:nvPr/>
            </p:nvSpPr>
            <p:spPr>
              <a:xfrm>
                <a:off x="485775" y="504825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obj0008 rect"/>
              <p:cNvSpPr/>
              <p:nvPr/>
            </p:nvSpPr>
            <p:spPr>
              <a:xfrm>
                <a:off x="390525" y="371475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" name="Qubit input |0⟩"/>
              <p:cNvGrpSpPr/>
              <p:nvPr/>
            </p:nvGrpSpPr>
            <p:grpSpPr>
              <a:xfrm>
                <a:off x="504825" y="469011"/>
                <a:ext cx="157386" cy="201168"/>
                <a:chOff x="504825" y="469011"/>
                <a:chExt cx="157386" cy="201168"/>
              </a:xfrm>
            </p:grpSpPr>
            <p:sp>
              <p:nvSpPr>
                <p:cNvPr id="11" name="Text: |0"/>
                <p:cNvSpPr txBox="1"/>
                <p:nvPr/>
              </p:nvSpPr>
              <p:spPr>
                <a:xfrm>
                  <a:off x="504825" y="4690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2" name="obj0011 poly"/>
                <p:cNvSpPr/>
                <p:nvPr/>
              </p:nvSpPr>
              <p:spPr>
                <a:xfrm>
                  <a:off x="628650" y="5048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" name="obj0012 poly"/>
              <p:cNvSpPr/>
              <p:nvPr/>
            </p:nvSpPr>
            <p:spPr>
              <a:xfrm>
                <a:off x="790575" y="57150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obj0013 poly"/>
              <p:cNvSpPr/>
              <p:nvPr/>
            </p:nvSpPr>
            <p:spPr>
              <a:xfrm>
                <a:off x="857250" y="438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obj0014 poly"/>
              <p:cNvSpPr/>
              <p:nvPr/>
            </p:nvSpPr>
            <p:spPr>
              <a:xfrm>
                <a:off x="1228725" y="438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obj0015 ellipse"/>
              <p:cNvSpPr/>
              <p:nvPr/>
            </p:nvSpPr>
            <p:spPr>
              <a:xfrm>
                <a:off x="1590675" y="4381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obj0016 poly"/>
              <p:cNvSpPr/>
              <p:nvPr/>
            </p:nvSpPr>
            <p:spPr>
              <a:xfrm>
                <a:off x="1924050" y="438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obj0017 poly"/>
              <p:cNvSpPr/>
              <p:nvPr/>
            </p:nvSpPr>
            <p:spPr>
              <a:xfrm>
                <a:off x="2495550" y="438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obj0018 ellipse"/>
              <p:cNvSpPr/>
              <p:nvPr/>
            </p:nvSpPr>
            <p:spPr>
              <a:xfrm>
                <a:off x="2828925" y="4381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0" name="Measurement"/>
              <p:cNvGrpSpPr/>
              <p:nvPr/>
            </p:nvGrpSpPr>
            <p:grpSpPr>
              <a:xfrm>
                <a:off x="3810000" y="457200"/>
                <a:ext cx="257175" cy="209550"/>
                <a:chOff x="3810000" y="457200"/>
                <a:chExt cx="257175" cy="209550"/>
              </a:xfrm>
            </p:grpSpPr>
            <p:sp>
              <p:nvSpPr>
                <p:cNvPr id="21" name="obj0020 rect"/>
                <p:cNvSpPr/>
                <p:nvPr/>
              </p:nvSpPr>
              <p:spPr>
                <a:xfrm>
                  <a:off x="3810000" y="4572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" name="obj0021 path"/>
                <p:cNvSpPr/>
                <p:nvPr/>
              </p:nvSpPr>
              <p:spPr>
                <a:xfrm>
                  <a:off x="3838575" y="4857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" name="obj0022 poly"/>
                <p:cNvSpPr/>
                <p:nvPr/>
              </p:nvSpPr>
              <p:spPr>
                <a:xfrm>
                  <a:off x="3918013" y="4857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" name="obj0023 poly"/>
                <p:cNvSpPr/>
                <p:nvPr/>
              </p:nvSpPr>
              <p:spPr>
                <a:xfrm>
                  <a:off x="3950113" y="4857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" name="Qubit input |0⟩"/>
              <p:cNvGrpSpPr/>
              <p:nvPr/>
            </p:nvGrpSpPr>
            <p:grpSpPr>
              <a:xfrm>
                <a:off x="504825" y="792861"/>
                <a:ext cx="157386" cy="201168"/>
                <a:chOff x="504825" y="792861"/>
                <a:chExt cx="157386" cy="201168"/>
              </a:xfrm>
            </p:grpSpPr>
            <p:sp>
              <p:nvSpPr>
                <p:cNvPr id="26" name="Text: |0"/>
                <p:cNvSpPr txBox="1"/>
                <p:nvPr/>
              </p:nvSpPr>
              <p:spPr>
                <a:xfrm>
                  <a:off x="504825" y="7928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27" name="obj0026 poly"/>
                <p:cNvSpPr/>
                <p:nvPr/>
              </p:nvSpPr>
              <p:spPr>
                <a:xfrm>
                  <a:off x="628650" y="8286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8" name="obj0027 poly"/>
              <p:cNvSpPr/>
              <p:nvPr/>
            </p:nvSpPr>
            <p:spPr>
              <a:xfrm>
                <a:off x="790575" y="8953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obj0028 poly"/>
              <p:cNvSpPr/>
              <p:nvPr/>
            </p:nvSpPr>
            <p:spPr>
              <a:xfrm>
                <a:off x="857250" y="762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obj0029 poly"/>
              <p:cNvSpPr/>
              <p:nvPr/>
            </p:nvSpPr>
            <p:spPr>
              <a:xfrm>
                <a:off x="1228725" y="762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obj0030 ellipse"/>
              <p:cNvSpPr/>
              <p:nvPr/>
            </p:nvSpPr>
            <p:spPr>
              <a:xfrm>
                <a:off x="1590675" y="7620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obj0031 poly"/>
              <p:cNvSpPr/>
              <p:nvPr/>
            </p:nvSpPr>
            <p:spPr>
              <a:xfrm>
                <a:off x="1924050" y="762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obj0032 poly"/>
              <p:cNvSpPr/>
              <p:nvPr/>
            </p:nvSpPr>
            <p:spPr>
              <a:xfrm>
                <a:off x="2495550" y="762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obj0033 ellipse"/>
              <p:cNvSpPr/>
              <p:nvPr/>
            </p:nvSpPr>
            <p:spPr>
              <a:xfrm>
                <a:off x="2828925" y="7620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5" name="Measurement"/>
              <p:cNvGrpSpPr/>
              <p:nvPr/>
            </p:nvGrpSpPr>
            <p:grpSpPr>
              <a:xfrm>
                <a:off x="3810000" y="781050"/>
                <a:ext cx="257175" cy="209550"/>
                <a:chOff x="3810000" y="781050"/>
                <a:chExt cx="257175" cy="209550"/>
              </a:xfrm>
            </p:grpSpPr>
            <p:sp>
              <p:nvSpPr>
                <p:cNvPr id="36" name="obj0035 rect"/>
                <p:cNvSpPr/>
                <p:nvPr/>
              </p:nvSpPr>
              <p:spPr>
                <a:xfrm>
                  <a:off x="3810000" y="7810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obj0036 path"/>
                <p:cNvSpPr/>
                <p:nvPr/>
              </p:nvSpPr>
              <p:spPr>
                <a:xfrm>
                  <a:off x="3838575" y="8096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obj0037 poly"/>
                <p:cNvSpPr/>
                <p:nvPr/>
              </p:nvSpPr>
              <p:spPr>
                <a:xfrm>
                  <a:off x="3918013" y="8096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obj0038 poly"/>
                <p:cNvSpPr/>
                <p:nvPr/>
              </p:nvSpPr>
              <p:spPr>
                <a:xfrm>
                  <a:off x="3950113" y="8096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0" name="Qubit input |0⟩"/>
              <p:cNvGrpSpPr/>
              <p:nvPr/>
            </p:nvGrpSpPr>
            <p:grpSpPr>
              <a:xfrm>
                <a:off x="504825" y="1107186"/>
                <a:ext cx="157386" cy="201168"/>
                <a:chOff x="504825" y="1107186"/>
                <a:chExt cx="157386" cy="201168"/>
              </a:xfrm>
            </p:grpSpPr>
            <p:sp>
              <p:nvSpPr>
                <p:cNvPr id="41" name="Text: |0"/>
                <p:cNvSpPr txBox="1"/>
                <p:nvPr/>
              </p:nvSpPr>
              <p:spPr>
                <a:xfrm>
                  <a:off x="504825" y="11071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42" name="obj0041 poly"/>
                <p:cNvSpPr/>
                <p:nvPr/>
              </p:nvSpPr>
              <p:spPr>
                <a:xfrm>
                  <a:off x="628650" y="11430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3" name="obj0042 poly"/>
              <p:cNvSpPr/>
              <p:nvPr/>
            </p:nvSpPr>
            <p:spPr>
              <a:xfrm>
                <a:off x="790575" y="12096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obj0043 poly"/>
              <p:cNvSpPr/>
              <p:nvPr/>
            </p:nvSpPr>
            <p:spPr>
              <a:xfrm>
                <a:off x="857250" y="1076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obj0044 poly"/>
              <p:cNvSpPr/>
              <p:nvPr/>
            </p:nvSpPr>
            <p:spPr>
              <a:xfrm>
                <a:off x="1228725" y="1076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obj0045 ellipse"/>
              <p:cNvSpPr/>
              <p:nvPr/>
            </p:nvSpPr>
            <p:spPr>
              <a:xfrm>
                <a:off x="1590675" y="10763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obj0046 poly"/>
              <p:cNvSpPr/>
              <p:nvPr/>
            </p:nvSpPr>
            <p:spPr>
              <a:xfrm>
                <a:off x="1924050" y="1076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obj0047 poly"/>
              <p:cNvSpPr/>
              <p:nvPr/>
            </p:nvSpPr>
            <p:spPr>
              <a:xfrm>
                <a:off x="2495550" y="1076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obj0048 ellipse"/>
              <p:cNvSpPr/>
              <p:nvPr/>
            </p:nvSpPr>
            <p:spPr>
              <a:xfrm>
                <a:off x="2828925" y="10763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0" name="Measurement"/>
              <p:cNvGrpSpPr/>
              <p:nvPr/>
            </p:nvGrpSpPr>
            <p:grpSpPr>
              <a:xfrm>
                <a:off x="3810000" y="1095375"/>
                <a:ext cx="257175" cy="209550"/>
                <a:chOff x="3810000" y="1095375"/>
                <a:chExt cx="257175" cy="209550"/>
              </a:xfrm>
            </p:grpSpPr>
            <p:sp>
              <p:nvSpPr>
                <p:cNvPr id="51" name="obj0050 rect"/>
                <p:cNvSpPr/>
                <p:nvPr/>
              </p:nvSpPr>
              <p:spPr>
                <a:xfrm>
                  <a:off x="3810000" y="10953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" name="obj0051 path"/>
                <p:cNvSpPr/>
                <p:nvPr/>
              </p:nvSpPr>
              <p:spPr>
                <a:xfrm>
                  <a:off x="3838575" y="11239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obj0052 poly"/>
                <p:cNvSpPr/>
                <p:nvPr/>
              </p:nvSpPr>
              <p:spPr>
                <a:xfrm>
                  <a:off x="3918013" y="11239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" name="obj0053 poly"/>
                <p:cNvSpPr/>
                <p:nvPr/>
              </p:nvSpPr>
              <p:spPr>
                <a:xfrm>
                  <a:off x="3950113" y="11239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5" name="Qubit input |0⟩"/>
              <p:cNvGrpSpPr/>
              <p:nvPr/>
            </p:nvGrpSpPr>
            <p:grpSpPr>
              <a:xfrm>
                <a:off x="504825" y="1583436"/>
                <a:ext cx="157386" cy="201168"/>
                <a:chOff x="504825" y="1583436"/>
                <a:chExt cx="157386" cy="201168"/>
              </a:xfrm>
            </p:grpSpPr>
            <p:sp>
              <p:nvSpPr>
                <p:cNvPr id="56" name="Text: |0"/>
                <p:cNvSpPr txBox="1"/>
                <p:nvPr/>
              </p:nvSpPr>
              <p:spPr>
                <a:xfrm>
                  <a:off x="504825" y="15834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57" name="obj0056 poly"/>
                <p:cNvSpPr/>
                <p:nvPr/>
              </p:nvSpPr>
              <p:spPr>
                <a:xfrm>
                  <a:off x="628650" y="16192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8" name="obj0057 poly"/>
              <p:cNvSpPr/>
              <p:nvPr/>
            </p:nvSpPr>
            <p:spPr>
              <a:xfrm>
                <a:off x="790575" y="168592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obj0058 poly"/>
              <p:cNvSpPr/>
              <p:nvPr/>
            </p:nvSpPr>
            <p:spPr>
              <a:xfrm>
                <a:off x="857250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obj0059 poly"/>
              <p:cNvSpPr/>
              <p:nvPr/>
            </p:nvSpPr>
            <p:spPr>
              <a:xfrm>
                <a:off x="1228725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obj0060 ellipse"/>
              <p:cNvSpPr/>
              <p:nvPr/>
            </p:nvSpPr>
            <p:spPr>
              <a:xfrm>
                <a:off x="1590675" y="15525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obj0061 poly"/>
              <p:cNvSpPr/>
              <p:nvPr/>
            </p:nvSpPr>
            <p:spPr>
              <a:xfrm>
                <a:off x="1924050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obj0062 poly"/>
              <p:cNvSpPr/>
              <p:nvPr/>
            </p:nvSpPr>
            <p:spPr>
              <a:xfrm>
                <a:off x="2495550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obj0063 ellipse"/>
              <p:cNvSpPr/>
              <p:nvPr/>
            </p:nvSpPr>
            <p:spPr>
              <a:xfrm>
                <a:off x="2828925" y="15525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5" name="Measurement"/>
              <p:cNvGrpSpPr/>
              <p:nvPr/>
            </p:nvGrpSpPr>
            <p:grpSpPr>
              <a:xfrm>
                <a:off x="3810000" y="1571625"/>
                <a:ext cx="257175" cy="209550"/>
                <a:chOff x="3810000" y="1571625"/>
                <a:chExt cx="257175" cy="209550"/>
              </a:xfrm>
            </p:grpSpPr>
            <p:sp>
              <p:nvSpPr>
                <p:cNvPr id="66" name="obj0065 rect"/>
                <p:cNvSpPr/>
                <p:nvPr/>
              </p:nvSpPr>
              <p:spPr>
                <a:xfrm>
                  <a:off x="3810000" y="15716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obj0066 path"/>
                <p:cNvSpPr/>
                <p:nvPr/>
              </p:nvSpPr>
              <p:spPr>
                <a:xfrm>
                  <a:off x="3838575" y="16002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obj0067 poly"/>
                <p:cNvSpPr/>
                <p:nvPr/>
              </p:nvSpPr>
              <p:spPr>
                <a:xfrm>
                  <a:off x="3918013" y="16002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" name="obj0068 poly"/>
                <p:cNvSpPr/>
                <p:nvPr/>
              </p:nvSpPr>
              <p:spPr>
                <a:xfrm>
                  <a:off x="3950113" y="16002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0" name="Qubit input |0⟩"/>
              <p:cNvGrpSpPr/>
              <p:nvPr/>
            </p:nvGrpSpPr>
            <p:grpSpPr>
              <a:xfrm>
                <a:off x="504825" y="1897761"/>
                <a:ext cx="157386" cy="201168"/>
                <a:chOff x="504825" y="1897761"/>
                <a:chExt cx="157386" cy="201168"/>
              </a:xfrm>
            </p:grpSpPr>
            <p:sp>
              <p:nvSpPr>
                <p:cNvPr id="71" name="Text: |0"/>
                <p:cNvSpPr txBox="1"/>
                <p:nvPr/>
              </p:nvSpPr>
              <p:spPr>
                <a:xfrm>
                  <a:off x="504825" y="18977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72" name="obj0071 poly"/>
                <p:cNvSpPr/>
                <p:nvPr/>
              </p:nvSpPr>
              <p:spPr>
                <a:xfrm>
                  <a:off x="628650" y="19335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3" name="obj0072 poly"/>
              <p:cNvSpPr/>
              <p:nvPr/>
            </p:nvSpPr>
            <p:spPr>
              <a:xfrm>
                <a:off x="790575" y="20002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obj0073 poly"/>
              <p:cNvSpPr/>
              <p:nvPr/>
            </p:nvSpPr>
            <p:spPr>
              <a:xfrm>
                <a:off x="857250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obj0074 poly"/>
              <p:cNvSpPr/>
              <p:nvPr/>
            </p:nvSpPr>
            <p:spPr>
              <a:xfrm>
                <a:off x="1228725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obj0075 ellipse"/>
              <p:cNvSpPr/>
              <p:nvPr/>
            </p:nvSpPr>
            <p:spPr>
              <a:xfrm>
                <a:off x="1590675" y="18669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obj0076 poly"/>
              <p:cNvSpPr/>
              <p:nvPr/>
            </p:nvSpPr>
            <p:spPr>
              <a:xfrm>
                <a:off x="1924050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obj0077 poly"/>
              <p:cNvSpPr/>
              <p:nvPr/>
            </p:nvSpPr>
            <p:spPr>
              <a:xfrm>
                <a:off x="2495550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obj0078 ellipse"/>
              <p:cNvSpPr/>
              <p:nvPr/>
            </p:nvSpPr>
            <p:spPr>
              <a:xfrm>
                <a:off x="2828925" y="18669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80" name="Measurement"/>
              <p:cNvGrpSpPr/>
              <p:nvPr/>
            </p:nvGrpSpPr>
            <p:grpSpPr>
              <a:xfrm>
                <a:off x="3810000" y="1885950"/>
                <a:ext cx="257175" cy="209550"/>
                <a:chOff x="3810000" y="1885950"/>
                <a:chExt cx="257175" cy="209550"/>
              </a:xfrm>
            </p:grpSpPr>
            <p:sp>
              <p:nvSpPr>
                <p:cNvPr id="81" name="obj0080 rect"/>
                <p:cNvSpPr/>
                <p:nvPr/>
              </p:nvSpPr>
              <p:spPr>
                <a:xfrm>
                  <a:off x="3810000" y="18859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obj0081 path"/>
                <p:cNvSpPr/>
                <p:nvPr/>
              </p:nvSpPr>
              <p:spPr>
                <a:xfrm>
                  <a:off x="3838575" y="19145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obj0082 poly"/>
                <p:cNvSpPr/>
                <p:nvPr/>
              </p:nvSpPr>
              <p:spPr>
                <a:xfrm>
                  <a:off x="3918013" y="19145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4" name="obj0083 poly"/>
                <p:cNvSpPr/>
                <p:nvPr/>
              </p:nvSpPr>
              <p:spPr>
                <a:xfrm>
                  <a:off x="3950113" y="19145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85" name="obj0084 ellipse"/>
              <p:cNvSpPr/>
              <p:nvPr/>
            </p:nvSpPr>
            <p:spPr>
              <a:xfrm>
                <a:off x="572929" y="13730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obj0085 ellipse"/>
              <p:cNvSpPr/>
              <p:nvPr/>
            </p:nvSpPr>
            <p:spPr>
              <a:xfrm>
                <a:off x="572929" y="14301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obj0086 ellipse"/>
              <p:cNvSpPr/>
              <p:nvPr/>
            </p:nvSpPr>
            <p:spPr>
              <a:xfrm>
                <a:off x="572929" y="1487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obj0087 ellipse"/>
              <p:cNvSpPr/>
              <p:nvPr/>
            </p:nvSpPr>
            <p:spPr>
              <a:xfrm>
                <a:off x="2335054" y="13730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obj0088 ellipse"/>
              <p:cNvSpPr/>
              <p:nvPr/>
            </p:nvSpPr>
            <p:spPr>
              <a:xfrm>
                <a:off x="2335054" y="14301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obj0089 ellipse"/>
              <p:cNvSpPr/>
              <p:nvPr/>
            </p:nvSpPr>
            <p:spPr>
              <a:xfrm>
                <a:off x="2335054" y="1487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obj0090 ellipse"/>
              <p:cNvSpPr/>
              <p:nvPr/>
            </p:nvSpPr>
            <p:spPr>
              <a:xfrm>
                <a:off x="3935254" y="13730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obj0091 ellipse"/>
              <p:cNvSpPr/>
              <p:nvPr/>
            </p:nvSpPr>
            <p:spPr>
              <a:xfrm>
                <a:off x="3935254" y="14301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obj0092 ellipse"/>
              <p:cNvSpPr/>
              <p:nvPr/>
            </p:nvSpPr>
            <p:spPr>
              <a:xfrm>
                <a:off x="3935254" y="1487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obj0093 rect"/>
              <p:cNvSpPr/>
              <p:nvPr/>
            </p:nvSpPr>
            <p:spPr>
              <a:xfrm>
                <a:off x="3200400" y="504825"/>
                <a:ext cx="123825" cy="4191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obj0094 rect"/>
              <p:cNvSpPr/>
              <p:nvPr/>
            </p:nvSpPr>
            <p:spPr>
              <a:xfrm>
                <a:off x="3400425" y="83820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obj0095 rect"/>
              <p:cNvSpPr/>
              <p:nvPr/>
            </p:nvSpPr>
            <p:spPr>
              <a:xfrm>
                <a:off x="3571875" y="1638300"/>
                <a:ext cx="123825" cy="43815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7" name="Initial middle ansatz"/>
            <p:cNvGrpSpPr/>
            <p:nvPr/>
          </p:nvGrpSpPr>
          <p:grpSpPr>
            <a:xfrm>
              <a:off x="819150" y="857250"/>
              <a:ext cx="3505200" cy="1514475"/>
              <a:chOff x="819150" y="857250"/>
              <a:chExt cx="3505200" cy="1514475"/>
            </a:xfrm>
          </p:grpSpPr>
          <p:sp>
            <p:nvSpPr>
              <p:cNvPr id="98" name="obj0097 rect"/>
              <p:cNvSpPr/>
              <p:nvPr/>
            </p:nvSpPr>
            <p:spPr>
              <a:xfrm>
                <a:off x="914400" y="990600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obj0098 rect"/>
              <p:cNvSpPr/>
              <p:nvPr/>
            </p:nvSpPr>
            <p:spPr>
              <a:xfrm>
                <a:off x="819150" y="857250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0" name="Qubit input |0⟩"/>
              <p:cNvGrpSpPr/>
              <p:nvPr/>
            </p:nvGrpSpPr>
            <p:grpSpPr>
              <a:xfrm>
                <a:off x="933450" y="945261"/>
                <a:ext cx="157386" cy="201168"/>
                <a:chOff x="933450" y="945261"/>
                <a:chExt cx="157386" cy="201168"/>
              </a:xfrm>
            </p:grpSpPr>
            <p:sp>
              <p:nvSpPr>
                <p:cNvPr id="101" name="Text: |0"/>
                <p:cNvSpPr txBox="1"/>
                <p:nvPr/>
              </p:nvSpPr>
              <p:spPr>
                <a:xfrm>
                  <a:off x="933450" y="9452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02" name="obj0101 poly"/>
                <p:cNvSpPr/>
                <p:nvPr/>
              </p:nvSpPr>
              <p:spPr>
                <a:xfrm>
                  <a:off x="1057275" y="9810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3" name="obj0102 poly"/>
              <p:cNvSpPr/>
              <p:nvPr/>
            </p:nvSpPr>
            <p:spPr>
              <a:xfrm>
                <a:off x="1219200" y="104775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obj0103 poly"/>
              <p:cNvSpPr/>
              <p:nvPr/>
            </p:nvSpPr>
            <p:spPr>
              <a:xfrm>
                <a:off x="1285875" y="9144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obj0104 poly"/>
              <p:cNvSpPr/>
              <p:nvPr/>
            </p:nvSpPr>
            <p:spPr>
              <a:xfrm>
                <a:off x="1657350" y="9144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obj0105 ellipse"/>
              <p:cNvSpPr/>
              <p:nvPr/>
            </p:nvSpPr>
            <p:spPr>
              <a:xfrm>
                <a:off x="2019300" y="9144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obj0106 poly"/>
              <p:cNvSpPr/>
              <p:nvPr/>
            </p:nvSpPr>
            <p:spPr>
              <a:xfrm>
                <a:off x="2352675" y="9144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obj0107 poly"/>
              <p:cNvSpPr/>
              <p:nvPr/>
            </p:nvSpPr>
            <p:spPr>
              <a:xfrm>
                <a:off x="2924175" y="9144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9" name="Measurement"/>
              <p:cNvGrpSpPr/>
              <p:nvPr/>
            </p:nvGrpSpPr>
            <p:grpSpPr>
              <a:xfrm>
                <a:off x="3848100" y="933450"/>
                <a:ext cx="257175" cy="209550"/>
                <a:chOff x="3848100" y="933450"/>
                <a:chExt cx="257175" cy="209550"/>
              </a:xfrm>
            </p:grpSpPr>
            <p:sp>
              <p:nvSpPr>
                <p:cNvPr id="110" name="obj0109 rect"/>
                <p:cNvSpPr/>
                <p:nvPr/>
              </p:nvSpPr>
              <p:spPr>
                <a:xfrm>
                  <a:off x="3848100" y="9334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" name="obj0110 path"/>
                <p:cNvSpPr/>
                <p:nvPr/>
              </p:nvSpPr>
              <p:spPr>
                <a:xfrm>
                  <a:off x="3876675" y="9620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2" name="obj0111 poly"/>
                <p:cNvSpPr/>
                <p:nvPr/>
              </p:nvSpPr>
              <p:spPr>
                <a:xfrm>
                  <a:off x="3956113" y="9620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" name="obj0112 poly"/>
                <p:cNvSpPr/>
                <p:nvPr/>
              </p:nvSpPr>
              <p:spPr>
                <a:xfrm>
                  <a:off x="3988213" y="9620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4" name="Qubit input |0⟩"/>
              <p:cNvGrpSpPr/>
              <p:nvPr/>
            </p:nvGrpSpPr>
            <p:grpSpPr>
              <a:xfrm>
                <a:off x="933450" y="1269111"/>
                <a:ext cx="157386" cy="201168"/>
                <a:chOff x="933450" y="1269111"/>
                <a:chExt cx="157386" cy="201168"/>
              </a:xfrm>
            </p:grpSpPr>
            <p:sp>
              <p:nvSpPr>
                <p:cNvPr id="115" name="Text: |0"/>
                <p:cNvSpPr txBox="1"/>
                <p:nvPr/>
              </p:nvSpPr>
              <p:spPr>
                <a:xfrm>
                  <a:off x="933450" y="12691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16" name="obj0115 poly"/>
                <p:cNvSpPr/>
                <p:nvPr/>
              </p:nvSpPr>
              <p:spPr>
                <a:xfrm>
                  <a:off x="1057275" y="13049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7" name="obj0116 poly"/>
              <p:cNvSpPr/>
              <p:nvPr/>
            </p:nvSpPr>
            <p:spPr>
              <a:xfrm>
                <a:off x="1219200" y="137160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obj0117 poly"/>
              <p:cNvSpPr/>
              <p:nvPr/>
            </p:nvSpPr>
            <p:spPr>
              <a:xfrm>
                <a:off x="1285875" y="1238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obj0118 poly"/>
              <p:cNvSpPr/>
              <p:nvPr/>
            </p:nvSpPr>
            <p:spPr>
              <a:xfrm>
                <a:off x="1657350" y="1238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obj0119 ellipse"/>
              <p:cNvSpPr/>
              <p:nvPr/>
            </p:nvSpPr>
            <p:spPr>
              <a:xfrm>
                <a:off x="2019300" y="12382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obj0120 poly"/>
              <p:cNvSpPr/>
              <p:nvPr/>
            </p:nvSpPr>
            <p:spPr>
              <a:xfrm>
                <a:off x="2352675" y="1238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obj0121 poly"/>
              <p:cNvSpPr/>
              <p:nvPr/>
            </p:nvSpPr>
            <p:spPr>
              <a:xfrm>
                <a:off x="2924175" y="1238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3" name="Measurement"/>
              <p:cNvGrpSpPr/>
              <p:nvPr/>
            </p:nvGrpSpPr>
            <p:grpSpPr>
              <a:xfrm>
                <a:off x="3848100" y="1257300"/>
                <a:ext cx="257175" cy="209550"/>
                <a:chOff x="3848100" y="1257300"/>
                <a:chExt cx="257175" cy="209550"/>
              </a:xfrm>
            </p:grpSpPr>
            <p:sp>
              <p:nvSpPr>
                <p:cNvPr id="124" name="obj0123 rect"/>
                <p:cNvSpPr/>
                <p:nvPr/>
              </p:nvSpPr>
              <p:spPr>
                <a:xfrm>
                  <a:off x="3848100" y="12573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5" name="obj0124 path"/>
                <p:cNvSpPr/>
                <p:nvPr/>
              </p:nvSpPr>
              <p:spPr>
                <a:xfrm>
                  <a:off x="3876675" y="12858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6" name="obj0125 poly"/>
                <p:cNvSpPr/>
                <p:nvPr/>
              </p:nvSpPr>
              <p:spPr>
                <a:xfrm>
                  <a:off x="3956113" y="12858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7" name="obj0126 poly"/>
                <p:cNvSpPr/>
                <p:nvPr/>
              </p:nvSpPr>
              <p:spPr>
                <a:xfrm>
                  <a:off x="3988213" y="12858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28" name="Qubit input |0⟩"/>
              <p:cNvGrpSpPr/>
              <p:nvPr/>
            </p:nvGrpSpPr>
            <p:grpSpPr>
              <a:xfrm>
                <a:off x="933450" y="1583436"/>
                <a:ext cx="157386" cy="201168"/>
                <a:chOff x="933450" y="1583436"/>
                <a:chExt cx="157386" cy="201168"/>
              </a:xfrm>
            </p:grpSpPr>
            <p:sp>
              <p:nvSpPr>
                <p:cNvPr id="129" name="Text: |0"/>
                <p:cNvSpPr txBox="1"/>
                <p:nvPr/>
              </p:nvSpPr>
              <p:spPr>
                <a:xfrm>
                  <a:off x="933450" y="15834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30" name="obj0129 poly"/>
                <p:cNvSpPr/>
                <p:nvPr/>
              </p:nvSpPr>
              <p:spPr>
                <a:xfrm>
                  <a:off x="1057275" y="16192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1" name="obj0130 poly"/>
              <p:cNvSpPr/>
              <p:nvPr/>
            </p:nvSpPr>
            <p:spPr>
              <a:xfrm>
                <a:off x="1219200" y="168592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obj0131 poly"/>
              <p:cNvSpPr/>
              <p:nvPr/>
            </p:nvSpPr>
            <p:spPr>
              <a:xfrm>
                <a:off x="1285875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obj0132 poly"/>
              <p:cNvSpPr/>
              <p:nvPr/>
            </p:nvSpPr>
            <p:spPr>
              <a:xfrm>
                <a:off x="1657350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obj0133 ellipse"/>
              <p:cNvSpPr/>
              <p:nvPr/>
            </p:nvSpPr>
            <p:spPr>
              <a:xfrm>
                <a:off x="2019300" y="15525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obj0134 poly"/>
              <p:cNvSpPr/>
              <p:nvPr/>
            </p:nvSpPr>
            <p:spPr>
              <a:xfrm>
                <a:off x="2352675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obj0135 poly"/>
              <p:cNvSpPr/>
              <p:nvPr/>
            </p:nvSpPr>
            <p:spPr>
              <a:xfrm>
                <a:off x="2924175" y="1552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7" name="Measurement"/>
              <p:cNvGrpSpPr/>
              <p:nvPr/>
            </p:nvGrpSpPr>
            <p:grpSpPr>
              <a:xfrm>
                <a:off x="3848100" y="1571625"/>
                <a:ext cx="257175" cy="209550"/>
                <a:chOff x="3848100" y="1571625"/>
                <a:chExt cx="257175" cy="209550"/>
              </a:xfrm>
            </p:grpSpPr>
            <p:sp>
              <p:nvSpPr>
                <p:cNvPr id="138" name="obj0137 rect"/>
                <p:cNvSpPr/>
                <p:nvPr/>
              </p:nvSpPr>
              <p:spPr>
                <a:xfrm>
                  <a:off x="3848100" y="15716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9" name="obj0138 path"/>
                <p:cNvSpPr/>
                <p:nvPr/>
              </p:nvSpPr>
              <p:spPr>
                <a:xfrm>
                  <a:off x="3876675" y="16002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0" name="obj0139 poly"/>
                <p:cNvSpPr/>
                <p:nvPr/>
              </p:nvSpPr>
              <p:spPr>
                <a:xfrm>
                  <a:off x="3956113" y="16002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1" name="obj0140 poly"/>
                <p:cNvSpPr/>
                <p:nvPr/>
              </p:nvSpPr>
              <p:spPr>
                <a:xfrm>
                  <a:off x="3988213" y="16002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42" name="Qubit input |0⟩"/>
              <p:cNvGrpSpPr/>
              <p:nvPr/>
            </p:nvGrpSpPr>
            <p:grpSpPr>
              <a:xfrm>
                <a:off x="933450" y="1897761"/>
                <a:ext cx="157386" cy="201168"/>
                <a:chOff x="933450" y="1897761"/>
                <a:chExt cx="157386" cy="201168"/>
              </a:xfrm>
            </p:grpSpPr>
            <p:sp>
              <p:nvSpPr>
                <p:cNvPr id="143" name="Text: |0"/>
                <p:cNvSpPr txBox="1"/>
                <p:nvPr/>
              </p:nvSpPr>
              <p:spPr>
                <a:xfrm>
                  <a:off x="933450" y="18977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44" name="obj0143 poly"/>
                <p:cNvSpPr/>
                <p:nvPr/>
              </p:nvSpPr>
              <p:spPr>
                <a:xfrm>
                  <a:off x="1057275" y="19335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45" name="obj0144 poly"/>
              <p:cNvSpPr/>
              <p:nvPr/>
            </p:nvSpPr>
            <p:spPr>
              <a:xfrm>
                <a:off x="1219200" y="200025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obj0145 poly"/>
              <p:cNvSpPr/>
              <p:nvPr/>
            </p:nvSpPr>
            <p:spPr>
              <a:xfrm>
                <a:off x="1285875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obj0146 poly"/>
              <p:cNvSpPr/>
              <p:nvPr/>
            </p:nvSpPr>
            <p:spPr>
              <a:xfrm>
                <a:off x="1657350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obj0147 ellipse"/>
              <p:cNvSpPr/>
              <p:nvPr/>
            </p:nvSpPr>
            <p:spPr>
              <a:xfrm>
                <a:off x="2019300" y="18669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obj0148 poly"/>
              <p:cNvSpPr/>
              <p:nvPr/>
            </p:nvSpPr>
            <p:spPr>
              <a:xfrm>
                <a:off x="2352675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obj0149 poly"/>
              <p:cNvSpPr/>
              <p:nvPr/>
            </p:nvSpPr>
            <p:spPr>
              <a:xfrm>
                <a:off x="2924175" y="18669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51" name="Measurement"/>
              <p:cNvGrpSpPr/>
              <p:nvPr/>
            </p:nvGrpSpPr>
            <p:grpSpPr>
              <a:xfrm>
                <a:off x="3848100" y="1885950"/>
                <a:ext cx="257175" cy="209550"/>
                <a:chOff x="3848100" y="1885950"/>
                <a:chExt cx="257175" cy="209550"/>
              </a:xfrm>
            </p:grpSpPr>
            <p:sp>
              <p:nvSpPr>
                <p:cNvPr id="152" name="obj0151 rect"/>
                <p:cNvSpPr/>
                <p:nvPr/>
              </p:nvSpPr>
              <p:spPr>
                <a:xfrm>
                  <a:off x="3848100" y="18859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3" name="obj0152 path"/>
                <p:cNvSpPr/>
                <p:nvPr/>
              </p:nvSpPr>
              <p:spPr>
                <a:xfrm>
                  <a:off x="3876675" y="19145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4" name="obj0153 poly"/>
                <p:cNvSpPr/>
                <p:nvPr/>
              </p:nvSpPr>
              <p:spPr>
                <a:xfrm>
                  <a:off x="3956113" y="19145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5" name="obj0154 poly"/>
                <p:cNvSpPr/>
                <p:nvPr/>
              </p:nvSpPr>
              <p:spPr>
                <a:xfrm>
                  <a:off x="3988213" y="19145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56" name="obj0155 rect"/>
              <p:cNvSpPr/>
              <p:nvPr/>
            </p:nvSpPr>
            <p:spPr>
              <a:xfrm>
                <a:off x="3295650" y="9715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obj0156 rect"/>
              <p:cNvSpPr/>
              <p:nvPr/>
            </p:nvSpPr>
            <p:spPr>
              <a:xfrm>
                <a:off x="3495675" y="13144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obj0157 rect"/>
              <p:cNvSpPr/>
              <p:nvPr/>
            </p:nvSpPr>
            <p:spPr>
              <a:xfrm>
                <a:off x="3667125" y="1628775"/>
                <a:ext cx="123825" cy="4572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9" name="Initial small ansatz"/>
            <p:cNvGrpSpPr/>
            <p:nvPr/>
          </p:nvGrpSpPr>
          <p:grpSpPr>
            <a:xfrm>
              <a:off x="1695450" y="1247775"/>
              <a:ext cx="2657475" cy="1152525"/>
              <a:chOff x="1695450" y="1247775"/>
              <a:chExt cx="2657475" cy="1152525"/>
            </a:xfrm>
          </p:grpSpPr>
          <p:sp>
            <p:nvSpPr>
              <p:cNvPr id="160" name="obj0159 rect"/>
              <p:cNvSpPr/>
              <p:nvPr/>
            </p:nvSpPr>
            <p:spPr>
              <a:xfrm>
                <a:off x="1790700" y="138112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obj0160 rect"/>
              <p:cNvSpPr/>
              <p:nvPr/>
            </p:nvSpPr>
            <p:spPr>
              <a:xfrm>
                <a:off x="1695450" y="124777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2" name="Qubit input |0⟩"/>
              <p:cNvGrpSpPr/>
              <p:nvPr/>
            </p:nvGrpSpPr>
            <p:grpSpPr>
              <a:xfrm>
                <a:off x="1809750" y="1345311"/>
                <a:ext cx="157386" cy="201168"/>
                <a:chOff x="1809750" y="1345311"/>
                <a:chExt cx="157386" cy="201168"/>
              </a:xfrm>
            </p:grpSpPr>
            <p:sp>
              <p:nvSpPr>
                <p:cNvPr id="163" name="Text: |0"/>
                <p:cNvSpPr txBox="1"/>
                <p:nvPr/>
              </p:nvSpPr>
              <p:spPr>
                <a:xfrm>
                  <a:off x="1809750" y="13453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64" name="obj0163 poly"/>
                <p:cNvSpPr/>
                <p:nvPr/>
              </p:nvSpPr>
              <p:spPr>
                <a:xfrm>
                  <a:off x="1933575" y="13811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65" name="obj0164 poly"/>
              <p:cNvSpPr/>
              <p:nvPr/>
            </p:nvSpPr>
            <p:spPr>
              <a:xfrm>
                <a:off x="2095500" y="144780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obj0165 poly"/>
              <p:cNvSpPr/>
              <p:nvPr/>
            </p:nvSpPr>
            <p:spPr>
              <a:xfrm>
                <a:off x="2162175" y="1314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obj0166 poly"/>
              <p:cNvSpPr/>
              <p:nvPr/>
            </p:nvSpPr>
            <p:spPr>
              <a:xfrm>
                <a:off x="2533650" y="1314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obj0167 ellipse"/>
              <p:cNvSpPr/>
              <p:nvPr/>
            </p:nvSpPr>
            <p:spPr>
              <a:xfrm>
                <a:off x="2895600" y="13144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9" name="Measurement"/>
              <p:cNvGrpSpPr/>
              <p:nvPr/>
            </p:nvGrpSpPr>
            <p:grpSpPr>
              <a:xfrm>
                <a:off x="3876675" y="1333500"/>
                <a:ext cx="257175" cy="209550"/>
                <a:chOff x="3876675" y="1333500"/>
                <a:chExt cx="257175" cy="209550"/>
              </a:xfrm>
            </p:grpSpPr>
            <p:sp>
              <p:nvSpPr>
                <p:cNvPr id="170" name="obj0169 rect"/>
                <p:cNvSpPr/>
                <p:nvPr/>
              </p:nvSpPr>
              <p:spPr>
                <a:xfrm>
                  <a:off x="3876675" y="13335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1" name="obj0170 path"/>
                <p:cNvSpPr/>
                <p:nvPr/>
              </p:nvSpPr>
              <p:spPr>
                <a:xfrm>
                  <a:off x="3905250" y="13620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2" name="obj0171 poly"/>
                <p:cNvSpPr/>
                <p:nvPr/>
              </p:nvSpPr>
              <p:spPr>
                <a:xfrm>
                  <a:off x="3984688" y="13620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3" name="obj0172 poly"/>
                <p:cNvSpPr/>
                <p:nvPr/>
              </p:nvSpPr>
              <p:spPr>
                <a:xfrm>
                  <a:off x="4016788" y="13620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74" name="Qubit input |0⟩"/>
              <p:cNvGrpSpPr/>
              <p:nvPr/>
            </p:nvGrpSpPr>
            <p:grpSpPr>
              <a:xfrm>
                <a:off x="1809750" y="1659636"/>
                <a:ext cx="157386" cy="201168"/>
                <a:chOff x="1809750" y="1659636"/>
                <a:chExt cx="157386" cy="201168"/>
              </a:xfrm>
            </p:grpSpPr>
            <p:sp>
              <p:nvSpPr>
                <p:cNvPr id="175" name="Text: |0"/>
                <p:cNvSpPr txBox="1"/>
                <p:nvPr/>
              </p:nvSpPr>
              <p:spPr>
                <a:xfrm>
                  <a:off x="1809750" y="16596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76" name="obj0175 poly"/>
                <p:cNvSpPr/>
                <p:nvPr/>
              </p:nvSpPr>
              <p:spPr>
                <a:xfrm>
                  <a:off x="1933575" y="16954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77" name="obj0176 poly"/>
              <p:cNvSpPr/>
              <p:nvPr/>
            </p:nvSpPr>
            <p:spPr>
              <a:xfrm>
                <a:off x="2095500" y="176212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obj0177 poly"/>
              <p:cNvSpPr/>
              <p:nvPr/>
            </p:nvSpPr>
            <p:spPr>
              <a:xfrm>
                <a:off x="2162175" y="16287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obj0178 poly"/>
              <p:cNvSpPr/>
              <p:nvPr/>
            </p:nvSpPr>
            <p:spPr>
              <a:xfrm>
                <a:off x="2533650" y="16287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obj0179 ellipse"/>
              <p:cNvSpPr/>
              <p:nvPr/>
            </p:nvSpPr>
            <p:spPr>
              <a:xfrm>
                <a:off x="2895600" y="16287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1" name="Measurement"/>
              <p:cNvGrpSpPr/>
              <p:nvPr/>
            </p:nvGrpSpPr>
            <p:grpSpPr>
              <a:xfrm>
                <a:off x="3876675" y="1647825"/>
                <a:ext cx="257175" cy="209550"/>
                <a:chOff x="3876675" y="1647825"/>
                <a:chExt cx="257175" cy="209550"/>
              </a:xfrm>
            </p:grpSpPr>
            <p:sp>
              <p:nvSpPr>
                <p:cNvPr id="182" name="obj0181 rect"/>
                <p:cNvSpPr/>
                <p:nvPr/>
              </p:nvSpPr>
              <p:spPr>
                <a:xfrm>
                  <a:off x="3876675" y="16478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3" name="obj0182 path"/>
                <p:cNvSpPr/>
                <p:nvPr/>
              </p:nvSpPr>
              <p:spPr>
                <a:xfrm>
                  <a:off x="3905250" y="16764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4" name="obj0183 poly"/>
                <p:cNvSpPr/>
                <p:nvPr/>
              </p:nvSpPr>
              <p:spPr>
                <a:xfrm>
                  <a:off x="3984688" y="16764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5" name="obj0184 poly"/>
                <p:cNvSpPr/>
                <p:nvPr/>
              </p:nvSpPr>
              <p:spPr>
                <a:xfrm>
                  <a:off x="4016788" y="16764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86" name="Qubit input |0⟩"/>
              <p:cNvGrpSpPr/>
              <p:nvPr/>
            </p:nvGrpSpPr>
            <p:grpSpPr>
              <a:xfrm>
                <a:off x="1809750" y="1983486"/>
                <a:ext cx="157386" cy="201168"/>
                <a:chOff x="1809750" y="1983486"/>
                <a:chExt cx="157386" cy="201168"/>
              </a:xfrm>
            </p:grpSpPr>
            <p:sp>
              <p:nvSpPr>
                <p:cNvPr id="187" name="Text: |0"/>
                <p:cNvSpPr txBox="1"/>
                <p:nvPr/>
              </p:nvSpPr>
              <p:spPr>
                <a:xfrm>
                  <a:off x="1809750" y="19834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88" name="obj0187 poly"/>
                <p:cNvSpPr/>
                <p:nvPr/>
              </p:nvSpPr>
              <p:spPr>
                <a:xfrm>
                  <a:off x="1933575" y="20193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89" name="obj0188 poly"/>
              <p:cNvSpPr/>
              <p:nvPr/>
            </p:nvSpPr>
            <p:spPr>
              <a:xfrm>
                <a:off x="2095500" y="208597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obj0189 poly"/>
              <p:cNvSpPr/>
              <p:nvPr/>
            </p:nvSpPr>
            <p:spPr>
              <a:xfrm>
                <a:off x="2162175" y="1952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obj0190 poly"/>
              <p:cNvSpPr/>
              <p:nvPr/>
            </p:nvSpPr>
            <p:spPr>
              <a:xfrm>
                <a:off x="2533650" y="1952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obj0191 ellipse"/>
              <p:cNvSpPr/>
              <p:nvPr/>
            </p:nvSpPr>
            <p:spPr>
              <a:xfrm>
                <a:off x="2895600" y="19526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93" name="Measurement"/>
              <p:cNvGrpSpPr/>
              <p:nvPr/>
            </p:nvGrpSpPr>
            <p:grpSpPr>
              <a:xfrm>
                <a:off x="3876675" y="1971675"/>
                <a:ext cx="257175" cy="209550"/>
                <a:chOff x="3876675" y="1971675"/>
                <a:chExt cx="257175" cy="209550"/>
              </a:xfrm>
            </p:grpSpPr>
            <p:sp>
              <p:nvSpPr>
                <p:cNvPr id="194" name="obj0193 rect"/>
                <p:cNvSpPr/>
                <p:nvPr/>
              </p:nvSpPr>
              <p:spPr>
                <a:xfrm>
                  <a:off x="3876675" y="19716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5" name="obj0194 path"/>
                <p:cNvSpPr/>
                <p:nvPr/>
              </p:nvSpPr>
              <p:spPr>
                <a:xfrm>
                  <a:off x="3905250" y="20002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6" name="obj0195 poly"/>
                <p:cNvSpPr/>
                <p:nvPr/>
              </p:nvSpPr>
              <p:spPr>
                <a:xfrm>
                  <a:off x="3984688" y="20002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7" name="obj0196 poly"/>
                <p:cNvSpPr/>
                <p:nvPr/>
              </p:nvSpPr>
              <p:spPr>
                <a:xfrm>
                  <a:off x="4016788" y="20002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98" name="obj0197 rect"/>
              <p:cNvSpPr/>
              <p:nvPr/>
            </p:nvSpPr>
            <p:spPr>
              <a:xfrm>
                <a:off x="3257550" y="138112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obj0198 rect"/>
              <p:cNvSpPr/>
              <p:nvPr/>
            </p:nvSpPr>
            <p:spPr>
              <a:xfrm>
                <a:off x="3457575" y="171450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00" name="Text: (a) Dataset Construction"/>
            <p:cNvSpPr txBox="1"/>
            <p:nvPr/>
          </p:nvSpPr>
          <p:spPr>
            <a:xfrm>
              <a:off x="361950" y="2358247"/>
              <a:ext cx="3947562" cy="49034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25" b="1" i="0">
                  <a:solidFill>
                    <a:srgbClr val="000000"/>
                  </a:solidFill>
                  <a:latin typeface="Times New Roman"/>
                </a:rPr>
                <a:t>(a) Dataset Construction</a:t>
              </a:r>
            </a:p>
          </p:txBody>
        </p:sp>
        <p:sp>
          <p:nvSpPr>
            <p:cNvPr id="201" name="Text: APFA"/>
            <p:cNvSpPr txBox="1"/>
            <p:nvPr/>
          </p:nvSpPr>
          <p:spPr>
            <a:xfrm>
              <a:off x="4438650" y="880158"/>
              <a:ext cx="714167" cy="33947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25" b="1" i="0">
                  <a:solidFill>
                    <a:srgbClr val="000000"/>
                  </a:solidFill>
                  <a:latin typeface="Times New Roman"/>
                </a:rPr>
                <a:t>APFA</a:t>
              </a:r>
            </a:p>
          </p:txBody>
        </p:sp>
        <p:grpSp>
          <p:nvGrpSpPr>
            <p:cNvPr id="202" name="APFA network icon"/>
            <p:cNvGrpSpPr/>
            <p:nvPr/>
          </p:nvGrpSpPr>
          <p:grpSpPr>
            <a:xfrm>
              <a:off x="5200650" y="714375"/>
              <a:ext cx="704850" cy="704850"/>
              <a:chOff x="5200650" y="714375"/>
              <a:chExt cx="704850" cy="704850"/>
            </a:xfrm>
          </p:grpSpPr>
          <p:sp>
            <p:nvSpPr>
              <p:cNvPr id="203" name="obj0202 poly"/>
              <p:cNvSpPr/>
              <p:nvPr/>
            </p:nvSpPr>
            <p:spPr>
              <a:xfrm>
                <a:off x="5724525" y="1066800"/>
                <a:ext cx="13335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1400" h="1" fill="none">
                    <a:moveTo>
                      <a:pt x="0" y="0"/>
                    </a:moveTo>
                    <a:lnTo>
                      <a:pt x="140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obj0203 ellipse"/>
              <p:cNvSpPr/>
              <p:nvPr/>
            </p:nvSpPr>
            <p:spPr>
              <a:xfrm>
                <a:off x="5810250" y="10191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obj0204 poly"/>
              <p:cNvSpPr/>
              <p:nvPr/>
            </p:nvSpPr>
            <p:spPr>
              <a:xfrm>
                <a:off x="5674308" y="1174563"/>
                <a:ext cx="87557" cy="101028"/>
              </a:xfrm>
              <a:custGeom>
                <a:avLst/>
                <a:gdLst/>
                <a:ahLst/>
                <a:cxnLst/>
                <a:rect l="0" t="0" r="w" b="h"/>
                <a:pathLst>
                  <a:path w="919" h="1061" fill="none">
                    <a:moveTo>
                      <a:pt x="0" y="0"/>
                    </a:moveTo>
                    <a:lnTo>
                      <a:pt x="919" y="1061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obj0205 ellipse"/>
              <p:cNvSpPr/>
              <p:nvPr/>
            </p:nvSpPr>
            <p:spPr>
              <a:xfrm>
                <a:off x="5714241" y="1227966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obj0206 poly"/>
              <p:cNvSpPr/>
              <p:nvPr/>
            </p:nvSpPr>
            <p:spPr>
              <a:xfrm>
                <a:off x="5553075" y="1219200"/>
                <a:ext cx="95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" h="1600" fill="none">
                    <a:moveTo>
                      <a:pt x="0" y="0"/>
                    </a:moveTo>
                    <a:lnTo>
                      <a:pt x="0" y="160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obj0207 ellipse"/>
              <p:cNvSpPr/>
              <p:nvPr/>
            </p:nvSpPr>
            <p:spPr>
              <a:xfrm>
                <a:off x="5505450" y="13239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obj0208 poly"/>
              <p:cNvSpPr/>
              <p:nvPr/>
            </p:nvSpPr>
            <p:spPr>
              <a:xfrm>
                <a:off x="5344284" y="1174563"/>
                <a:ext cx="87557" cy="101028"/>
              </a:xfrm>
              <a:custGeom>
                <a:avLst/>
                <a:gdLst/>
                <a:ahLst/>
                <a:cxnLst/>
                <a:rect l="0" t="0" r="w" b="h"/>
                <a:pathLst>
                  <a:path w="919" h="1061" fill="none">
                    <a:moveTo>
                      <a:pt x="919" y="0"/>
                    </a:moveTo>
                    <a:lnTo>
                      <a:pt x="0" y="1061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obj0209 ellipse"/>
              <p:cNvSpPr/>
              <p:nvPr/>
            </p:nvSpPr>
            <p:spPr>
              <a:xfrm>
                <a:off x="5296659" y="1227966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obj0210 poly"/>
              <p:cNvSpPr/>
              <p:nvPr/>
            </p:nvSpPr>
            <p:spPr>
              <a:xfrm>
                <a:off x="5248275" y="1066800"/>
                <a:ext cx="13335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1400" h="1" fill="none">
                    <a:moveTo>
                      <a:pt x="1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obj0211 ellipse"/>
              <p:cNvSpPr/>
              <p:nvPr/>
            </p:nvSpPr>
            <p:spPr>
              <a:xfrm>
                <a:off x="5200650" y="10191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obj0212 poly"/>
              <p:cNvSpPr/>
              <p:nvPr/>
            </p:nvSpPr>
            <p:spPr>
              <a:xfrm>
                <a:off x="5344284" y="858009"/>
                <a:ext cx="87557" cy="101028"/>
              </a:xfrm>
              <a:custGeom>
                <a:avLst/>
                <a:gdLst/>
                <a:ahLst/>
                <a:cxnLst/>
                <a:rect l="0" t="0" r="w" b="h"/>
                <a:pathLst>
                  <a:path w="919" h="1061" fill="none">
                    <a:moveTo>
                      <a:pt x="919" y="1061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obj0213 ellipse"/>
              <p:cNvSpPr/>
              <p:nvPr/>
            </p:nvSpPr>
            <p:spPr>
              <a:xfrm>
                <a:off x="5296659" y="810384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obj0214 poly"/>
              <p:cNvSpPr/>
              <p:nvPr/>
            </p:nvSpPr>
            <p:spPr>
              <a:xfrm>
                <a:off x="5553075" y="762000"/>
                <a:ext cx="95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" h="1600" fill="none">
                    <a:moveTo>
                      <a:pt x="0" y="160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obj0215 ellipse"/>
              <p:cNvSpPr/>
              <p:nvPr/>
            </p:nvSpPr>
            <p:spPr>
              <a:xfrm>
                <a:off x="5505450" y="7143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obj0216 poly"/>
              <p:cNvSpPr/>
              <p:nvPr/>
            </p:nvSpPr>
            <p:spPr>
              <a:xfrm>
                <a:off x="5674308" y="858009"/>
                <a:ext cx="87557" cy="101028"/>
              </a:xfrm>
              <a:custGeom>
                <a:avLst/>
                <a:gdLst/>
                <a:ahLst/>
                <a:cxnLst/>
                <a:rect l="0" t="0" r="w" b="h"/>
                <a:pathLst>
                  <a:path w="919" h="1061" fill="none">
                    <a:moveTo>
                      <a:pt x="0" y="1061"/>
                    </a:moveTo>
                    <a:lnTo>
                      <a:pt x="919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obj0217 ellipse"/>
              <p:cNvSpPr/>
              <p:nvPr/>
            </p:nvSpPr>
            <p:spPr>
              <a:xfrm>
                <a:off x="5714241" y="810384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obj0218 path"/>
              <p:cNvSpPr/>
              <p:nvPr/>
            </p:nvSpPr>
            <p:spPr>
              <a:xfrm>
                <a:off x="5257800" y="838200"/>
                <a:ext cx="561975" cy="447675"/>
              </a:xfrm>
              <a:custGeom>
                <a:avLst/>
                <a:gdLst/>
                <a:ahLst/>
                <a:cxnLst/>
                <a:rect l="0" t="0" r="w" b="h"/>
                <a:pathLst>
                  <a:path w="5900" h="4700" fill="norm">
                    <a:moveTo>
                      <a:pt x="800" y="1800"/>
                    </a:moveTo>
                    <a:cubicBezTo>
                      <a:pt x="500" y="1000"/>
                      <a:pt x="1300" y="800"/>
                      <a:pt x="1700" y="1100"/>
                    </a:cubicBezTo>
                    <a:cubicBezTo>
                      <a:pt x="1600" y="200"/>
                      <a:pt x="2700" y="0"/>
                      <a:pt x="3100" y="800"/>
                    </a:cubicBezTo>
                    <a:cubicBezTo>
                      <a:pt x="3700" y="200"/>
                      <a:pt x="4600" y="700"/>
                      <a:pt x="4400" y="1400"/>
                    </a:cubicBezTo>
                    <a:cubicBezTo>
                      <a:pt x="5500" y="1100"/>
                      <a:pt x="5900" y="2300"/>
                      <a:pt x="5100" y="2700"/>
                    </a:cubicBezTo>
                    <a:cubicBezTo>
                      <a:pt x="5800" y="3600"/>
                      <a:pt x="4700" y="4200"/>
                      <a:pt x="4100" y="3600"/>
                    </a:cubicBezTo>
                    <a:cubicBezTo>
                      <a:pt x="3900" y="4600"/>
                      <a:pt x="2800" y="4700"/>
                      <a:pt x="2500" y="3900"/>
                    </a:cubicBezTo>
                    <a:cubicBezTo>
                      <a:pt x="1700" y="4500"/>
                      <a:pt x="700" y="3800"/>
                      <a:pt x="1100" y="3200"/>
                    </a:cubicBezTo>
                    <a:cubicBezTo>
                      <a:pt x="0" y="3100"/>
                      <a:pt x="200" y="2000"/>
                      <a:pt x="800" y="18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obj0219 poly"/>
              <p:cNvSpPr/>
              <p:nvPr/>
            </p:nvSpPr>
            <p:spPr>
              <a:xfrm>
                <a:off x="5353050" y="1076325"/>
                <a:ext cx="40005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4200" h="1" fill="none">
                    <a:moveTo>
                      <a:pt x="0" y="0"/>
                    </a:moveTo>
                    <a:lnTo>
                      <a:pt x="420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21" name="obj0220 poly"/>
            <p:cNvSpPr/>
            <p:nvPr/>
          </p:nvSpPr>
          <p:spPr>
            <a:xfrm>
              <a:off x="4438650" y="1524000"/>
              <a:ext cx="1257300" cy="371475"/>
            </a:xfrm>
            <a:custGeom>
              <a:avLst/>
              <a:gdLst/>
              <a:ahLst/>
              <a:cxnLst/>
              <a:rect l="0" t="0" r="w" b="h"/>
              <a:pathLst>
                <a:path w="13200" h="3900" fill="norm">
                  <a:moveTo>
                    <a:pt x="0" y="1000"/>
                  </a:moveTo>
                  <a:lnTo>
                    <a:pt x="11200" y="1000"/>
                  </a:lnTo>
                  <a:lnTo>
                    <a:pt x="11200" y="0"/>
                  </a:lnTo>
                  <a:lnTo>
                    <a:pt x="13200" y="1950"/>
                  </a:lnTo>
                  <a:lnTo>
                    <a:pt x="11200" y="3900"/>
                  </a:lnTo>
                  <a:lnTo>
                    <a:pt x="11200" y="2900"/>
                  </a:lnTo>
                  <a:lnTo>
                    <a:pt x="0" y="290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22" name="Trajectory — large ansatz"/>
            <p:cNvGrpSpPr/>
            <p:nvPr/>
          </p:nvGrpSpPr>
          <p:grpSpPr>
            <a:xfrm>
              <a:off x="5991225" y="342900"/>
              <a:ext cx="3895725" cy="1962150"/>
              <a:chOff x="5991225" y="342900"/>
              <a:chExt cx="3895725" cy="1962150"/>
            </a:xfrm>
          </p:grpSpPr>
          <p:sp>
            <p:nvSpPr>
              <p:cNvPr id="223" name="obj0222 rect"/>
              <p:cNvSpPr/>
              <p:nvPr/>
            </p:nvSpPr>
            <p:spPr>
              <a:xfrm>
                <a:off x="6086475" y="476250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obj0223 rect"/>
              <p:cNvSpPr/>
              <p:nvPr/>
            </p:nvSpPr>
            <p:spPr>
              <a:xfrm>
                <a:off x="5991225" y="342900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25" name="Qubit input |0⟩"/>
              <p:cNvGrpSpPr/>
              <p:nvPr/>
            </p:nvGrpSpPr>
            <p:grpSpPr>
              <a:xfrm>
                <a:off x="6105525" y="440436"/>
                <a:ext cx="157386" cy="201168"/>
                <a:chOff x="6105525" y="440436"/>
                <a:chExt cx="157386" cy="201168"/>
              </a:xfrm>
            </p:grpSpPr>
            <p:sp>
              <p:nvSpPr>
                <p:cNvPr id="226" name="Text: |0"/>
                <p:cNvSpPr txBox="1"/>
                <p:nvPr/>
              </p:nvSpPr>
              <p:spPr>
                <a:xfrm>
                  <a:off x="6105525" y="4404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227" name="obj0226 poly"/>
                <p:cNvSpPr/>
                <p:nvPr/>
              </p:nvSpPr>
              <p:spPr>
                <a:xfrm>
                  <a:off x="6229350" y="4762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28" name="obj0227 poly"/>
              <p:cNvSpPr/>
              <p:nvPr/>
            </p:nvSpPr>
            <p:spPr>
              <a:xfrm>
                <a:off x="6391275" y="54292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obj0228 poly"/>
              <p:cNvSpPr/>
              <p:nvPr/>
            </p:nvSpPr>
            <p:spPr>
              <a:xfrm>
                <a:off x="6457950" y="409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obj0229 poly"/>
              <p:cNvSpPr/>
              <p:nvPr/>
            </p:nvSpPr>
            <p:spPr>
              <a:xfrm>
                <a:off x="6829425" y="409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obj0230 ellipse"/>
              <p:cNvSpPr/>
              <p:nvPr/>
            </p:nvSpPr>
            <p:spPr>
              <a:xfrm>
                <a:off x="7191375" y="409575"/>
                <a:ext cx="266700" cy="266700"/>
              </a:xfrm>
              <a:prstGeom prst="ellipse">
                <a:avLst/>
              </a:pr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obj0231 poly"/>
              <p:cNvSpPr/>
              <p:nvPr/>
            </p:nvSpPr>
            <p:spPr>
              <a:xfrm>
                <a:off x="7524750" y="409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obj0232 poly"/>
              <p:cNvSpPr/>
              <p:nvPr/>
            </p:nvSpPr>
            <p:spPr>
              <a:xfrm>
                <a:off x="8096250" y="409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obj0233 ellipse"/>
              <p:cNvSpPr/>
              <p:nvPr/>
            </p:nvSpPr>
            <p:spPr>
              <a:xfrm>
                <a:off x="8429625" y="409575"/>
                <a:ext cx="266700" cy="266700"/>
              </a:xfrm>
              <a:prstGeom prst="ellipse">
                <a:avLst/>
              </a:pr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35" name="Measurement"/>
              <p:cNvGrpSpPr/>
              <p:nvPr/>
            </p:nvGrpSpPr>
            <p:grpSpPr>
              <a:xfrm>
                <a:off x="9410700" y="428625"/>
                <a:ext cx="257175" cy="209550"/>
                <a:chOff x="9410700" y="428625"/>
                <a:chExt cx="257175" cy="209550"/>
              </a:xfrm>
            </p:grpSpPr>
            <p:sp>
              <p:nvSpPr>
                <p:cNvPr id="236" name="obj0235 rect"/>
                <p:cNvSpPr/>
                <p:nvPr/>
              </p:nvSpPr>
              <p:spPr>
                <a:xfrm>
                  <a:off x="9410700" y="4286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7" name="obj0236 path"/>
                <p:cNvSpPr/>
                <p:nvPr/>
              </p:nvSpPr>
              <p:spPr>
                <a:xfrm>
                  <a:off x="9439275" y="4572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8" name="obj0237 poly"/>
                <p:cNvSpPr/>
                <p:nvPr/>
              </p:nvSpPr>
              <p:spPr>
                <a:xfrm>
                  <a:off x="9518714" y="4572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9" name="obj0238 poly"/>
                <p:cNvSpPr/>
                <p:nvPr/>
              </p:nvSpPr>
              <p:spPr>
                <a:xfrm>
                  <a:off x="9550813" y="4572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0" name="Qubit input |0⟩"/>
              <p:cNvGrpSpPr/>
              <p:nvPr/>
            </p:nvGrpSpPr>
            <p:grpSpPr>
              <a:xfrm>
                <a:off x="6105525" y="764286"/>
                <a:ext cx="157386" cy="201168"/>
                <a:chOff x="6105525" y="764286"/>
                <a:chExt cx="157386" cy="201168"/>
              </a:xfrm>
            </p:grpSpPr>
            <p:sp>
              <p:nvSpPr>
                <p:cNvPr id="241" name="Text: |0"/>
                <p:cNvSpPr txBox="1"/>
                <p:nvPr/>
              </p:nvSpPr>
              <p:spPr>
                <a:xfrm>
                  <a:off x="6105525" y="7642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242" name="obj0241 poly"/>
                <p:cNvSpPr/>
                <p:nvPr/>
              </p:nvSpPr>
              <p:spPr>
                <a:xfrm>
                  <a:off x="6229350" y="8001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43" name="obj0242 poly"/>
              <p:cNvSpPr/>
              <p:nvPr/>
            </p:nvSpPr>
            <p:spPr>
              <a:xfrm>
                <a:off x="6391275" y="8667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obj0243 poly"/>
              <p:cNvSpPr/>
              <p:nvPr/>
            </p:nvSpPr>
            <p:spPr>
              <a:xfrm>
                <a:off x="6457950" y="733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obj0244 poly"/>
              <p:cNvSpPr/>
              <p:nvPr/>
            </p:nvSpPr>
            <p:spPr>
              <a:xfrm>
                <a:off x="6829425" y="733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obj0245 ellipse"/>
              <p:cNvSpPr/>
              <p:nvPr/>
            </p:nvSpPr>
            <p:spPr>
              <a:xfrm>
                <a:off x="7191375" y="733425"/>
                <a:ext cx="266700" cy="266700"/>
              </a:xfrm>
              <a:prstGeom prst="ellipse">
                <a:avLst/>
              </a:pr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obj0246 poly"/>
              <p:cNvSpPr/>
              <p:nvPr/>
            </p:nvSpPr>
            <p:spPr>
              <a:xfrm>
                <a:off x="7524750" y="733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obj0247 poly"/>
              <p:cNvSpPr/>
              <p:nvPr/>
            </p:nvSpPr>
            <p:spPr>
              <a:xfrm>
                <a:off x="8096250" y="733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obj0248 ellipse"/>
              <p:cNvSpPr/>
              <p:nvPr/>
            </p:nvSpPr>
            <p:spPr>
              <a:xfrm>
                <a:off x="8429625" y="733425"/>
                <a:ext cx="266700" cy="266700"/>
              </a:xfrm>
              <a:prstGeom prst="ellipse">
                <a:avLst/>
              </a:pr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50" name="Measurement"/>
              <p:cNvGrpSpPr/>
              <p:nvPr/>
            </p:nvGrpSpPr>
            <p:grpSpPr>
              <a:xfrm>
                <a:off x="9410700" y="752475"/>
                <a:ext cx="257175" cy="209550"/>
                <a:chOff x="9410700" y="752475"/>
                <a:chExt cx="257175" cy="209550"/>
              </a:xfrm>
            </p:grpSpPr>
            <p:sp>
              <p:nvSpPr>
                <p:cNvPr id="251" name="obj0250 rect"/>
                <p:cNvSpPr/>
                <p:nvPr/>
              </p:nvSpPr>
              <p:spPr>
                <a:xfrm>
                  <a:off x="9410700" y="7524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2" name="obj0251 path"/>
                <p:cNvSpPr/>
                <p:nvPr/>
              </p:nvSpPr>
              <p:spPr>
                <a:xfrm>
                  <a:off x="9439275" y="7810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3" name="obj0252 poly"/>
                <p:cNvSpPr/>
                <p:nvPr/>
              </p:nvSpPr>
              <p:spPr>
                <a:xfrm>
                  <a:off x="9518714" y="7810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4" name="obj0253 poly"/>
                <p:cNvSpPr/>
                <p:nvPr/>
              </p:nvSpPr>
              <p:spPr>
                <a:xfrm>
                  <a:off x="9550813" y="7810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5" name="Qubit input |0⟩"/>
              <p:cNvGrpSpPr/>
              <p:nvPr/>
            </p:nvGrpSpPr>
            <p:grpSpPr>
              <a:xfrm>
                <a:off x="6105525" y="1078611"/>
                <a:ext cx="157386" cy="201168"/>
                <a:chOff x="6105525" y="1078611"/>
                <a:chExt cx="157386" cy="201168"/>
              </a:xfrm>
            </p:grpSpPr>
            <p:sp>
              <p:nvSpPr>
                <p:cNvPr id="256" name="Text: |0"/>
                <p:cNvSpPr txBox="1"/>
                <p:nvPr/>
              </p:nvSpPr>
              <p:spPr>
                <a:xfrm>
                  <a:off x="6105525" y="10786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257" name="obj0256 poly"/>
                <p:cNvSpPr/>
                <p:nvPr/>
              </p:nvSpPr>
              <p:spPr>
                <a:xfrm>
                  <a:off x="6229350" y="11144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58" name="obj0257 poly"/>
              <p:cNvSpPr/>
              <p:nvPr/>
            </p:nvSpPr>
            <p:spPr>
              <a:xfrm>
                <a:off x="6391275" y="118110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obj0258 poly"/>
              <p:cNvSpPr/>
              <p:nvPr/>
            </p:nvSpPr>
            <p:spPr>
              <a:xfrm>
                <a:off x="6457950" y="10477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obj0259 poly"/>
              <p:cNvSpPr/>
              <p:nvPr/>
            </p:nvSpPr>
            <p:spPr>
              <a:xfrm>
                <a:off x="6829425" y="10477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obj0260 ellipse"/>
              <p:cNvSpPr/>
              <p:nvPr/>
            </p:nvSpPr>
            <p:spPr>
              <a:xfrm>
                <a:off x="7191375" y="1047750"/>
                <a:ext cx="266700" cy="266700"/>
              </a:xfrm>
              <a:prstGeom prst="ellipse">
                <a:avLst/>
              </a:pr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obj0261 poly"/>
              <p:cNvSpPr/>
              <p:nvPr/>
            </p:nvSpPr>
            <p:spPr>
              <a:xfrm>
                <a:off x="7524750" y="10477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obj0262 poly"/>
              <p:cNvSpPr/>
              <p:nvPr/>
            </p:nvSpPr>
            <p:spPr>
              <a:xfrm>
                <a:off x="8096250" y="10477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obj0263 ellipse"/>
              <p:cNvSpPr/>
              <p:nvPr/>
            </p:nvSpPr>
            <p:spPr>
              <a:xfrm>
                <a:off x="8429625" y="1047750"/>
                <a:ext cx="266700" cy="266700"/>
              </a:xfrm>
              <a:prstGeom prst="ellipse">
                <a:avLst/>
              </a:pr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5" name="Measurement"/>
              <p:cNvGrpSpPr/>
              <p:nvPr/>
            </p:nvGrpSpPr>
            <p:grpSpPr>
              <a:xfrm>
                <a:off x="9410700" y="1066800"/>
                <a:ext cx="257175" cy="209550"/>
                <a:chOff x="9410700" y="1066800"/>
                <a:chExt cx="257175" cy="209550"/>
              </a:xfrm>
            </p:grpSpPr>
            <p:sp>
              <p:nvSpPr>
                <p:cNvPr id="266" name="obj0265 rect"/>
                <p:cNvSpPr/>
                <p:nvPr/>
              </p:nvSpPr>
              <p:spPr>
                <a:xfrm>
                  <a:off x="9410700" y="10668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67" name="obj0266 path"/>
                <p:cNvSpPr/>
                <p:nvPr/>
              </p:nvSpPr>
              <p:spPr>
                <a:xfrm>
                  <a:off x="9439275" y="10953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68" name="obj0267 poly"/>
                <p:cNvSpPr/>
                <p:nvPr/>
              </p:nvSpPr>
              <p:spPr>
                <a:xfrm>
                  <a:off x="9518714" y="10953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69" name="obj0268 poly"/>
                <p:cNvSpPr/>
                <p:nvPr/>
              </p:nvSpPr>
              <p:spPr>
                <a:xfrm>
                  <a:off x="9550813" y="10953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0" name="Qubit input |0⟩"/>
              <p:cNvGrpSpPr/>
              <p:nvPr/>
            </p:nvGrpSpPr>
            <p:grpSpPr>
              <a:xfrm>
                <a:off x="6105525" y="1554861"/>
                <a:ext cx="157386" cy="201168"/>
                <a:chOff x="6105525" y="1554861"/>
                <a:chExt cx="157386" cy="201168"/>
              </a:xfrm>
            </p:grpSpPr>
            <p:sp>
              <p:nvSpPr>
                <p:cNvPr id="271" name="Text: |0"/>
                <p:cNvSpPr txBox="1"/>
                <p:nvPr/>
              </p:nvSpPr>
              <p:spPr>
                <a:xfrm>
                  <a:off x="6105525" y="15548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272" name="obj0271 poly"/>
                <p:cNvSpPr/>
                <p:nvPr/>
              </p:nvSpPr>
              <p:spPr>
                <a:xfrm>
                  <a:off x="6229350" y="15906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73" name="obj0272 poly"/>
              <p:cNvSpPr/>
              <p:nvPr/>
            </p:nvSpPr>
            <p:spPr>
              <a:xfrm>
                <a:off x="6391275" y="16573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obj0273 poly"/>
              <p:cNvSpPr/>
              <p:nvPr/>
            </p:nvSpPr>
            <p:spPr>
              <a:xfrm>
                <a:off x="6457950" y="1524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obj0274 poly"/>
              <p:cNvSpPr/>
              <p:nvPr/>
            </p:nvSpPr>
            <p:spPr>
              <a:xfrm>
                <a:off x="6829425" y="1524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obj0275 ellipse"/>
              <p:cNvSpPr/>
              <p:nvPr/>
            </p:nvSpPr>
            <p:spPr>
              <a:xfrm>
                <a:off x="7191375" y="1524000"/>
                <a:ext cx="266700" cy="266700"/>
              </a:xfrm>
              <a:prstGeom prst="ellipse">
                <a:avLst/>
              </a:pr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obj0276 poly"/>
              <p:cNvSpPr/>
              <p:nvPr/>
            </p:nvSpPr>
            <p:spPr>
              <a:xfrm>
                <a:off x="7524750" y="1524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obj0277 poly"/>
              <p:cNvSpPr/>
              <p:nvPr/>
            </p:nvSpPr>
            <p:spPr>
              <a:xfrm>
                <a:off x="8096250" y="1524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obj0278 ellipse"/>
              <p:cNvSpPr/>
              <p:nvPr/>
            </p:nvSpPr>
            <p:spPr>
              <a:xfrm>
                <a:off x="8429625" y="1524000"/>
                <a:ext cx="266700" cy="266700"/>
              </a:xfrm>
              <a:prstGeom prst="ellipse">
                <a:avLst/>
              </a:pr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80" name="Measurement"/>
              <p:cNvGrpSpPr/>
              <p:nvPr/>
            </p:nvGrpSpPr>
            <p:grpSpPr>
              <a:xfrm>
                <a:off x="9410700" y="1543050"/>
                <a:ext cx="257175" cy="209550"/>
                <a:chOff x="9410700" y="1543050"/>
                <a:chExt cx="257175" cy="209550"/>
              </a:xfrm>
            </p:grpSpPr>
            <p:sp>
              <p:nvSpPr>
                <p:cNvPr id="281" name="obj0280 rect"/>
                <p:cNvSpPr/>
                <p:nvPr/>
              </p:nvSpPr>
              <p:spPr>
                <a:xfrm>
                  <a:off x="9410700" y="15430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2" name="obj0281 path"/>
                <p:cNvSpPr/>
                <p:nvPr/>
              </p:nvSpPr>
              <p:spPr>
                <a:xfrm>
                  <a:off x="9439275" y="15716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3" name="obj0282 poly"/>
                <p:cNvSpPr/>
                <p:nvPr/>
              </p:nvSpPr>
              <p:spPr>
                <a:xfrm>
                  <a:off x="9518714" y="15716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4" name="obj0283 poly"/>
                <p:cNvSpPr/>
                <p:nvPr/>
              </p:nvSpPr>
              <p:spPr>
                <a:xfrm>
                  <a:off x="9550813" y="15716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85" name="Qubit input |0⟩"/>
              <p:cNvGrpSpPr/>
              <p:nvPr/>
            </p:nvGrpSpPr>
            <p:grpSpPr>
              <a:xfrm>
                <a:off x="6105525" y="1869186"/>
                <a:ext cx="157386" cy="201168"/>
                <a:chOff x="6105525" y="1869186"/>
                <a:chExt cx="157386" cy="201168"/>
              </a:xfrm>
            </p:grpSpPr>
            <p:sp>
              <p:nvSpPr>
                <p:cNvPr id="286" name="Text: |0"/>
                <p:cNvSpPr txBox="1"/>
                <p:nvPr/>
              </p:nvSpPr>
              <p:spPr>
                <a:xfrm>
                  <a:off x="6105525" y="18691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287" name="obj0286 poly"/>
                <p:cNvSpPr/>
                <p:nvPr/>
              </p:nvSpPr>
              <p:spPr>
                <a:xfrm>
                  <a:off x="6229350" y="19050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88" name="obj0287 poly"/>
              <p:cNvSpPr/>
              <p:nvPr/>
            </p:nvSpPr>
            <p:spPr>
              <a:xfrm>
                <a:off x="6391275" y="19716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obj0288 poly"/>
              <p:cNvSpPr/>
              <p:nvPr/>
            </p:nvSpPr>
            <p:spPr>
              <a:xfrm>
                <a:off x="6457950" y="1838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obj0289 poly"/>
              <p:cNvSpPr/>
              <p:nvPr/>
            </p:nvSpPr>
            <p:spPr>
              <a:xfrm>
                <a:off x="6829425" y="1838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obj0290 ellipse"/>
              <p:cNvSpPr/>
              <p:nvPr/>
            </p:nvSpPr>
            <p:spPr>
              <a:xfrm>
                <a:off x="7191375" y="1838325"/>
                <a:ext cx="266700" cy="266700"/>
              </a:xfrm>
              <a:prstGeom prst="ellipse">
                <a:avLst/>
              </a:pr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obj0291 poly"/>
              <p:cNvSpPr/>
              <p:nvPr/>
            </p:nvSpPr>
            <p:spPr>
              <a:xfrm>
                <a:off x="7524750" y="1838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obj0292 poly"/>
              <p:cNvSpPr/>
              <p:nvPr/>
            </p:nvSpPr>
            <p:spPr>
              <a:xfrm>
                <a:off x="8096250" y="18383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obj0293 ellipse"/>
              <p:cNvSpPr/>
              <p:nvPr/>
            </p:nvSpPr>
            <p:spPr>
              <a:xfrm>
                <a:off x="8429625" y="1838325"/>
                <a:ext cx="266700" cy="266700"/>
              </a:xfrm>
              <a:prstGeom prst="ellipse">
                <a:avLst/>
              </a:pr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95" name="Measurement"/>
              <p:cNvGrpSpPr/>
              <p:nvPr/>
            </p:nvGrpSpPr>
            <p:grpSpPr>
              <a:xfrm>
                <a:off x="9410700" y="1857375"/>
                <a:ext cx="257175" cy="209550"/>
                <a:chOff x="9410700" y="1857375"/>
                <a:chExt cx="257175" cy="209550"/>
              </a:xfrm>
            </p:grpSpPr>
            <p:sp>
              <p:nvSpPr>
                <p:cNvPr id="296" name="obj0295 rect"/>
                <p:cNvSpPr/>
                <p:nvPr/>
              </p:nvSpPr>
              <p:spPr>
                <a:xfrm>
                  <a:off x="9410700" y="18573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97" name="obj0296 path"/>
                <p:cNvSpPr/>
                <p:nvPr/>
              </p:nvSpPr>
              <p:spPr>
                <a:xfrm>
                  <a:off x="9439275" y="18859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98" name="obj0297 poly"/>
                <p:cNvSpPr/>
                <p:nvPr/>
              </p:nvSpPr>
              <p:spPr>
                <a:xfrm>
                  <a:off x="9518714" y="18859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99" name="obj0298 poly"/>
                <p:cNvSpPr/>
                <p:nvPr/>
              </p:nvSpPr>
              <p:spPr>
                <a:xfrm>
                  <a:off x="9550813" y="18859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00" name="obj0299 ellipse"/>
              <p:cNvSpPr/>
              <p:nvPr/>
            </p:nvSpPr>
            <p:spPr>
              <a:xfrm>
                <a:off x="6173629" y="13444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obj0300 ellipse"/>
              <p:cNvSpPr/>
              <p:nvPr/>
            </p:nvSpPr>
            <p:spPr>
              <a:xfrm>
                <a:off x="6173629" y="14016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obj0301 ellipse"/>
              <p:cNvSpPr/>
              <p:nvPr/>
            </p:nvSpPr>
            <p:spPr>
              <a:xfrm>
                <a:off x="6173629" y="14587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obj0302 ellipse"/>
              <p:cNvSpPr/>
              <p:nvPr/>
            </p:nvSpPr>
            <p:spPr>
              <a:xfrm>
                <a:off x="7935754" y="13444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obj0303 ellipse"/>
              <p:cNvSpPr/>
              <p:nvPr/>
            </p:nvSpPr>
            <p:spPr>
              <a:xfrm>
                <a:off x="7935754" y="14016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obj0304 ellipse"/>
              <p:cNvSpPr/>
              <p:nvPr/>
            </p:nvSpPr>
            <p:spPr>
              <a:xfrm>
                <a:off x="7935754" y="14587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obj0305 ellipse"/>
              <p:cNvSpPr/>
              <p:nvPr/>
            </p:nvSpPr>
            <p:spPr>
              <a:xfrm>
                <a:off x="9535954" y="13444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obj0306 ellipse"/>
              <p:cNvSpPr/>
              <p:nvPr/>
            </p:nvSpPr>
            <p:spPr>
              <a:xfrm>
                <a:off x="9535954" y="14016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obj0307 ellipse"/>
              <p:cNvSpPr/>
              <p:nvPr/>
            </p:nvSpPr>
            <p:spPr>
              <a:xfrm>
                <a:off x="9535954" y="14587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obj0308 rect"/>
              <p:cNvSpPr/>
              <p:nvPr/>
            </p:nvSpPr>
            <p:spPr>
              <a:xfrm>
                <a:off x="8801100" y="476250"/>
                <a:ext cx="123825" cy="4191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obj0309 rect"/>
              <p:cNvSpPr/>
              <p:nvPr/>
            </p:nvSpPr>
            <p:spPr>
              <a:xfrm>
                <a:off x="9001125" y="80962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obj0310 rect"/>
              <p:cNvSpPr/>
              <p:nvPr/>
            </p:nvSpPr>
            <p:spPr>
              <a:xfrm>
                <a:off x="9172575" y="1609725"/>
                <a:ext cx="123825" cy="43815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2" name="Trajectory — middle ansatz"/>
            <p:cNvGrpSpPr/>
            <p:nvPr/>
          </p:nvGrpSpPr>
          <p:grpSpPr>
            <a:xfrm>
              <a:off x="7886700" y="876300"/>
              <a:ext cx="3505200" cy="1514475"/>
              <a:chOff x="7886700" y="876300"/>
              <a:chExt cx="3505200" cy="1514475"/>
            </a:xfrm>
          </p:grpSpPr>
          <p:sp>
            <p:nvSpPr>
              <p:cNvPr id="313" name="obj0312 rect"/>
              <p:cNvSpPr/>
              <p:nvPr/>
            </p:nvSpPr>
            <p:spPr>
              <a:xfrm>
                <a:off x="7981950" y="1009650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obj0313 rect"/>
              <p:cNvSpPr/>
              <p:nvPr/>
            </p:nvSpPr>
            <p:spPr>
              <a:xfrm>
                <a:off x="7886700" y="876300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15" name="Qubit input |0⟩"/>
              <p:cNvGrpSpPr/>
              <p:nvPr/>
            </p:nvGrpSpPr>
            <p:grpSpPr>
              <a:xfrm>
                <a:off x="8001000" y="964311"/>
                <a:ext cx="157386" cy="201168"/>
                <a:chOff x="8001000" y="964311"/>
                <a:chExt cx="157386" cy="201168"/>
              </a:xfrm>
            </p:grpSpPr>
            <p:sp>
              <p:nvSpPr>
                <p:cNvPr id="316" name="Text: |0"/>
                <p:cNvSpPr txBox="1"/>
                <p:nvPr/>
              </p:nvSpPr>
              <p:spPr>
                <a:xfrm>
                  <a:off x="8001000" y="9643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317" name="obj0316 poly"/>
                <p:cNvSpPr/>
                <p:nvPr/>
              </p:nvSpPr>
              <p:spPr>
                <a:xfrm>
                  <a:off x="8124825" y="10001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18" name="obj0317 poly"/>
              <p:cNvSpPr/>
              <p:nvPr/>
            </p:nvSpPr>
            <p:spPr>
              <a:xfrm>
                <a:off x="8286750" y="106680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obj0318 poly"/>
              <p:cNvSpPr/>
              <p:nvPr/>
            </p:nvSpPr>
            <p:spPr>
              <a:xfrm>
                <a:off x="8353425" y="933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obj0319 poly"/>
              <p:cNvSpPr/>
              <p:nvPr/>
            </p:nvSpPr>
            <p:spPr>
              <a:xfrm>
                <a:off x="8724900" y="933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obj0320 ellipse"/>
              <p:cNvSpPr/>
              <p:nvPr/>
            </p:nvSpPr>
            <p:spPr>
              <a:xfrm>
                <a:off x="9086850" y="933450"/>
                <a:ext cx="266700" cy="266700"/>
              </a:xfrm>
              <a:prstGeom prst="ellipse">
                <a:avLst/>
              </a:pr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obj0321 poly"/>
              <p:cNvSpPr/>
              <p:nvPr/>
            </p:nvSpPr>
            <p:spPr>
              <a:xfrm>
                <a:off x="9420225" y="933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obj0322 poly"/>
              <p:cNvSpPr/>
              <p:nvPr/>
            </p:nvSpPr>
            <p:spPr>
              <a:xfrm>
                <a:off x="9991725" y="933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24" name="Measurement"/>
              <p:cNvGrpSpPr/>
              <p:nvPr/>
            </p:nvGrpSpPr>
            <p:grpSpPr>
              <a:xfrm>
                <a:off x="10915650" y="952500"/>
                <a:ext cx="257175" cy="209550"/>
                <a:chOff x="10915650" y="952500"/>
                <a:chExt cx="257175" cy="209550"/>
              </a:xfrm>
            </p:grpSpPr>
            <p:sp>
              <p:nvSpPr>
                <p:cNvPr id="325" name="obj0324 rect"/>
                <p:cNvSpPr/>
                <p:nvPr/>
              </p:nvSpPr>
              <p:spPr>
                <a:xfrm>
                  <a:off x="10915650" y="9525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6" name="obj0325 path"/>
                <p:cNvSpPr/>
                <p:nvPr/>
              </p:nvSpPr>
              <p:spPr>
                <a:xfrm>
                  <a:off x="10944225" y="9810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7" name="obj0326 poly"/>
                <p:cNvSpPr/>
                <p:nvPr/>
              </p:nvSpPr>
              <p:spPr>
                <a:xfrm>
                  <a:off x="11023664" y="9810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8" name="obj0327 poly"/>
                <p:cNvSpPr/>
                <p:nvPr/>
              </p:nvSpPr>
              <p:spPr>
                <a:xfrm>
                  <a:off x="11055763" y="9810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329" name="Qubit input |0⟩"/>
              <p:cNvGrpSpPr/>
              <p:nvPr/>
            </p:nvGrpSpPr>
            <p:grpSpPr>
              <a:xfrm>
                <a:off x="8001000" y="1288161"/>
                <a:ext cx="157386" cy="201168"/>
                <a:chOff x="8001000" y="1288161"/>
                <a:chExt cx="157386" cy="201168"/>
              </a:xfrm>
            </p:grpSpPr>
            <p:sp>
              <p:nvSpPr>
                <p:cNvPr id="330" name="Text: |0"/>
                <p:cNvSpPr txBox="1"/>
                <p:nvPr/>
              </p:nvSpPr>
              <p:spPr>
                <a:xfrm>
                  <a:off x="8001000" y="12881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331" name="obj0330 poly"/>
                <p:cNvSpPr/>
                <p:nvPr/>
              </p:nvSpPr>
              <p:spPr>
                <a:xfrm>
                  <a:off x="8124825" y="13239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32" name="obj0331 poly"/>
              <p:cNvSpPr/>
              <p:nvPr/>
            </p:nvSpPr>
            <p:spPr>
              <a:xfrm>
                <a:off x="8286750" y="139065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obj0332 poly"/>
              <p:cNvSpPr/>
              <p:nvPr/>
            </p:nvSpPr>
            <p:spPr>
              <a:xfrm>
                <a:off x="8353425" y="1257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obj0333 poly"/>
              <p:cNvSpPr/>
              <p:nvPr/>
            </p:nvSpPr>
            <p:spPr>
              <a:xfrm>
                <a:off x="8724900" y="1257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obj0334 ellipse"/>
              <p:cNvSpPr/>
              <p:nvPr/>
            </p:nvSpPr>
            <p:spPr>
              <a:xfrm>
                <a:off x="9086850" y="1257300"/>
                <a:ext cx="266700" cy="266700"/>
              </a:xfrm>
              <a:prstGeom prst="ellipse">
                <a:avLst/>
              </a:pr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obj0335 poly"/>
              <p:cNvSpPr/>
              <p:nvPr/>
            </p:nvSpPr>
            <p:spPr>
              <a:xfrm>
                <a:off x="9420225" y="1257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obj0336 poly"/>
              <p:cNvSpPr/>
              <p:nvPr/>
            </p:nvSpPr>
            <p:spPr>
              <a:xfrm>
                <a:off x="9991725" y="1257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38" name="Measurement"/>
              <p:cNvGrpSpPr/>
              <p:nvPr/>
            </p:nvGrpSpPr>
            <p:grpSpPr>
              <a:xfrm>
                <a:off x="10915650" y="1276350"/>
                <a:ext cx="257175" cy="209550"/>
                <a:chOff x="10915650" y="1276350"/>
                <a:chExt cx="257175" cy="209550"/>
              </a:xfrm>
            </p:grpSpPr>
            <p:sp>
              <p:nvSpPr>
                <p:cNvPr id="339" name="obj0338 rect"/>
                <p:cNvSpPr/>
                <p:nvPr/>
              </p:nvSpPr>
              <p:spPr>
                <a:xfrm>
                  <a:off x="10915650" y="12763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40" name="obj0339 path"/>
                <p:cNvSpPr/>
                <p:nvPr/>
              </p:nvSpPr>
              <p:spPr>
                <a:xfrm>
                  <a:off x="10944225" y="13049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41" name="obj0340 poly"/>
                <p:cNvSpPr/>
                <p:nvPr/>
              </p:nvSpPr>
              <p:spPr>
                <a:xfrm>
                  <a:off x="11023664" y="13049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42" name="obj0341 poly"/>
                <p:cNvSpPr/>
                <p:nvPr/>
              </p:nvSpPr>
              <p:spPr>
                <a:xfrm>
                  <a:off x="11055763" y="13049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343" name="Qubit input |0⟩"/>
              <p:cNvGrpSpPr/>
              <p:nvPr/>
            </p:nvGrpSpPr>
            <p:grpSpPr>
              <a:xfrm>
                <a:off x="8001000" y="1602486"/>
                <a:ext cx="157386" cy="201168"/>
                <a:chOff x="8001000" y="1602486"/>
                <a:chExt cx="157386" cy="201168"/>
              </a:xfrm>
            </p:grpSpPr>
            <p:sp>
              <p:nvSpPr>
                <p:cNvPr id="344" name="Text: |0"/>
                <p:cNvSpPr txBox="1"/>
                <p:nvPr/>
              </p:nvSpPr>
              <p:spPr>
                <a:xfrm>
                  <a:off x="8001000" y="16024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345" name="obj0344 poly"/>
                <p:cNvSpPr/>
                <p:nvPr/>
              </p:nvSpPr>
              <p:spPr>
                <a:xfrm>
                  <a:off x="8124825" y="16383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46" name="obj0345 poly"/>
              <p:cNvSpPr/>
              <p:nvPr/>
            </p:nvSpPr>
            <p:spPr>
              <a:xfrm>
                <a:off x="8286750" y="170497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obj0346 poly"/>
              <p:cNvSpPr/>
              <p:nvPr/>
            </p:nvSpPr>
            <p:spPr>
              <a:xfrm>
                <a:off x="8353425" y="1571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obj0347 poly"/>
              <p:cNvSpPr/>
              <p:nvPr/>
            </p:nvSpPr>
            <p:spPr>
              <a:xfrm>
                <a:off x="8724900" y="1571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obj0348 ellipse"/>
              <p:cNvSpPr/>
              <p:nvPr/>
            </p:nvSpPr>
            <p:spPr>
              <a:xfrm>
                <a:off x="9086850" y="1571625"/>
                <a:ext cx="266700" cy="266700"/>
              </a:xfrm>
              <a:prstGeom prst="ellipse">
                <a:avLst/>
              </a:pr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obj0349 poly"/>
              <p:cNvSpPr/>
              <p:nvPr/>
            </p:nvSpPr>
            <p:spPr>
              <a:xfrm>
                <a:off x="9420225" y="1571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obj0350 poly"/>
              <p:cNvSpPr/>
              <p:nvPr/>
            </p:nvSpPr>
            <p:spPr>
              <a:xfrm>
                <a:off x="9991725" y="1571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52" name="Measurement"/>
              <p:cNvGrpSpPr/>
              <p:nvPr/>
            </p:nvGrpSpPr>
            <p:grpSpPr>
              <a:xfrm>
                <a:off x="10915650" y="1590675"/>
                <a:ext cx="257175" cy="209550"/>
                <a:chOff x="10915650" y="1590675"/>
                <a:chExt cx="257175" cy="209550"/>
              </a:xfrm>
            </p:grpSpPr>
            <p:sp>
              <p:nvSpPr>
                <p:cNvPr id="353" name="obj0352 rect"/>
                <p:cNvSpPr/>
                <p:nvPr/>
              </p:nvSpPr>
              <p:spPr>
                <a:xfrm>
                  <a:off x="10915650" y="15906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54" name="obj0353 path"/>
                <p:cNvSpPr/>
                <p:nvPr/>
              </p:nvSpPr>
              <p:spPr>
                <a:xfrm>
                  <a:off x="10944225" y="16192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55" name="obj0354 poly"/>
                <p:cNvSpPr/>
                <p:nvPr/>
              </p:nvSpPr>
              <p:spPr>
                <a:xfrm>
                  <a:off x="11023664" y="16192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56" name="obj0355 poly"/>
                <p:cNvSpPr/>
                <p:nvPr/>
              </p:nvSpPr>
              <p:spPr>
                <a:xfrm>
                  <a:off x="11055763" y="16192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357" name="Qubit input |0⟩"/>
              <p:cNvGrpSpPr/>
              <p:nvPr/>
            </p:nvGrpSpPr>
            <p:grpSpPr>
              <a:xfrm>
                <a:off x="8001000" y="1916811"/>
                <a:ext cx="157386" cy="201168"/>
                <a:chOff x="8001000" y="1916811"/>
                <a:chExt cx="157386" cy="201168"/>
              </a:xfrm>
            </p:grpSpPr>
            <p:sp>
              <p:nvSpPr>
                <p:cNvPr id="358" name="Text: |0"/>
                <p:cNvSpPr txBox="1"/>
                <p:nvPr/>
              </p:nvSpPr>
              <p:spPr>
                <a:xfrm>
                  <a:off x="8001000" y="19168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359" name="obj0358 poly"/>
                <p:cNvSpPr/>
                <p:nvPr/>
              </p:nvSpPr>
              <p:spPr>
                <a:xfrm>
                  <a:off x="8124825" y="19526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60" name="obj0359 poly"/>
              <p:cNvSpPr/>
              <p:nvPr/>
            </p:nvSpPr>
            <p:spPr>
              <a:xfrm>
                <a:off x="8286750" y="201930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obj0360 poly"/>
              <p:cNvSpPr/>
              <p:nvPr/>
            </p:nvSpPr>
            <p:spPr>
              <a:xfrm>
                <a:off x="8353425" y="188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obj0361 poly"/>
              <p:cNvSpPr/>
              <p:nvPr/>
            </p:nvSpPr>
            <p:spPr>
              <a:xfrm>
                <a:off x="8724900" y="188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obj0362 ellipse"/>
              <p:cNvSpPr/>
              <p:nvPr/>
            </p:nvSpPr>
            <p:spPr>
              <a:xfrm>
                <a:off x="9086850" y="1885950"/>
                <a:ext cx="266700" cy="266700"/>
              </a:xfrm>
              <a:prstGeom prst="ellipse">
                <a:avLst/>
              </a:pr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obj0363 poly"/>
              <p:cNvSpPr/>
              <p:nvPr/>
            </p:nvSpPr>
            <p:spPr>
              <a:xfrm>
                <a:off x="9420225" y="188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obj0364 poly"/>
              <p:cNvSpPr/>
              <p:nvPr/>
            </p:nvSpPr>
            <p:spPr>
              <a:xfrm>
                <a:off x="9991725" y="188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66" name="Measurement"/>
              <p:cNvGrpSpPr/>
              <p:nvPr/>
            </p:nvGrpSpPr>
            <p:grpSpPr>
              <a:xfrm>
                <a:off x="10915650" y="1905000"/>
                <a:ext cx="257175" cy="209550"/>
                <a:chOff x="10915650" y="1905000"/>
                <a:chExt cx="257175" cy="209550"/>
              </a:xfrm>
            </p:grpSpPr>
            <p:sp>
              <p:nvSpPr>
                <p:cNvPr id="367" name="obj0366 rect"/>
                <p:cNvSpPr/>
                <p:nvPr/>
              </p:nvSpPr>
              <p:spPr>
                <a:xfrm>
                  <a:off x="10915650" y="19050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8" name="obj0367 path"/>
                <p:cNvSpPr/>
                <p:nvPr/>
              </p:nvSpPr>
              <p:spPr>
                <a:xfrm>
                  <a:off x="10944225" y="19335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9" name="obj0368 poly"/>
                <p:cNvSpPr/>
                <p:nvPr/>
              </p:nvSpPr>
              <p:spPr>
                <a:xfrm>
                  <a:off x="11023664" y="19335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0" name="obj0369 poly"/>
                <p:cNvSpPr/>
                <p:nvPr/>
              </p:nvSpPr>
              <p:spPr>
                <a:xfrm>
                  <a:off x="11055763" y="19335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71" name="obj0370 rect"/>
              <p:cNvSpPr/>
              <p:nvPr/>
            </p:nvSpPr>
            <p:spPr>
              <a:xfrm>
                <a:off x="10363200" y="99060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obj0371 rect"/>
              <p:cNvSpPr/>
              <p:nvPr/>
            </p:nvSpPr>
            <p:spPr>
              <a:xfrm>
                <a:off x="10563225" y="133350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obj0372 rect"/>
              <p:cNvSpPr/>
              <p:nvPr/>
            </p:nvSpPr>
            <p:spPr>
              <a:xfrm>
                <a:off x="10734675" y="1647825"/>
                <a:ext cx="123825" cy="4572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74" name="Trajectory — small ansatz"/>
            <p:cNvGrpSpPr/>
            <p:nvPr/>
          </p:nvGrpSpPr>
          <p:grpSpPr>
            <a:xfrm>
              <a:off x="9629775" y="1333500"/>
              <a:ext cx="2657475" cy="1152525"/>
              <a:chOff x="9629775" y="1333500"/>
              <a:chExt cx="2657475" cy="1152525"/>
            </a:xfrm>
          </p:grpSpPr>
          <p:sp>
            <p:nvSpPr>
              <p:cNvPr id="375" name="obj0374 rect"/>
              <p:cNvSpPr/>
              <p:nvPr/>
            </p:nvSpPr>
            <p:spPr>
              <a:xfrm>
                <a:off x="9725025" y="1466850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obj0375 rect"/>
              <p:cNvSpPr/>
              <p:nvPr/>
            </p:nvSpPr>
            <p:spPr>
              <a:xfrm>
                <a:off x="9629775" y="1333500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77" name="Qubit input |0⟩"/>
              <p:cNvGrpSpPr/>
              <p:nvPr/>
            </p:nvGrpSpPr>
            <p:grpSpPr>
              <a:xfrm>
                <a:off x="9744075" y="1431036"/>
                <a:ext cx="157386" cy="201168"/>
                <a:chOff x="9744075" y="1431036"/>
                <a:chExt cx="157386" cy="201168"/>
              </a:xfrm>
            </p:grpSpPr>
            <p:sp>
              <p:nvSpPr>
                <p:cNvPr id="378" name="Text: |0"/>
                <p:cNvSpPr txBox="1"/>
                <p:nvPr/>
              </p:nvSpPr>
              <p:spPr>
                <a:xfrm>
                  <a:off x="9744075" y="14310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379" name="obj0378 poly"/>
                <p:cNvSpPr/>
                <p:nvPr/>
              </p:nvSpPr>
              <p:spPr>
                <a:xfrm>
                  <a:off x="9867900" y="14668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80" name="obj0379 poly"/>
              <p:cNvSpPr/>
              <p:nvPr/>
            </p:nvSpPr>
            <p:spPr>
              <a:xfrm>
                <a:off x="10029825" y="153352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obj0380 poly"/>
              <p:cNvSpPr/>
              <p:nvPr/>
            </p:nvSpPr>
            <p:spPr>
              <a:xfrm>
                <a:off x="10096500" y="14001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obj0381 poly"/>
              <p:cNvSpPr/>
              <p:nvPr/>
            </p:nvSpPr>
            <p:spPr>
              <a:xfrm>
                <a:off x="10467975" y="14001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obj0382 ellipse"/>
              <p:cNvSpPr/>
              <p:nvPr/>
            </p:nvSpPr>
            <p:spPr>
              <a:xfrm>
                <a:off x="10829925" y="1400175"/>
                <a:ext cx="266700" cy="266700"/>
              </a:xfrm>
              <a:prstGeom prst="ellipse">
                <a:avLst/>
              </a:pr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84" name="Measurement"/>
              <p:cNvGrpSpPr/>
              <p:nvPr/>
            </p:nvGrpSpPr>
            <p:grpSpPr>
              <a:xfrm>
                <a:off x="11811000" y="1419225"/>
                <a:ext cx="257175" cy="209550"/>
                <a:chOff x="11811000" y="1419225"/>
                <a:chExt cx="257175" cy="209550"/>
              </a:xfrm>
            </p:grpSpPr>
            <p:sp>
              <p:nvSpPr>
                <p:cNvPr id="385" name="obj0384 rect"/>
                <p:cNvSpPr/>
                <p:nvPr/>
              </p:nvSpPr>
              <p:spPr>
                <a:xfrm>
                  <a:off x="11811000" y="14192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6" name="obj0385 path"/>
                <p:cNvSpPr/>
                <p:nvPr/>
              </p:nvSpPr>
              <p:spPr>
                <a:xfrm>
                  <a:off x="11839575" y="14478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7" name="obj0386 poly"/>
                <p:cNvSpPr/>
                <p:nvPr/>
              </p:nvSpPr>
              <p:spPr>
                <a:xfrm>
                  <a:off x="11919014" y="14478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8" name="obj0387 poly"/>
                <p:cNvSpPr/>
                <p:nvPr/>
              </p:nvSpPr>
              <p:spPr>
                <a:xfrm>
                  <a:off x="11951113" y="14478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389" name="Qubit input |0⟩"/>
              <p:cNvGrpSpPr/>
              <p:nvPr/>
            </p:nvGrpSpPr>
            <p:grpSpPr>
              <a:xfrm>
                <a:off x="9744075" y="1745361"/>
                <a:ext cx="157386" cy="201168"/>
                <a:chOff x="9744075" y="1745361"/>
                <a:chExt cx="157386" cy="201168"/>
              </a:xfrm>
            </p:grpSpPr>
            <p:sp>
              <p:nvSpPr>
                <p:cNvPr id="390" name="Text: |0"/>
                <p:cNvSpPr txBox="1"/>
                <p:nvPr/>
              </p:nvSpPr>
              <p:spPr>
                <a:xfrm>
                  <a:off x="9744075" y="17453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391" name="obj0390 poly"/>
                <p:cNvSpPr/>
                <p:nvPr/>
              </p:nvSpPr>
              <p:spPr>
                <a:xfrm>
                  <a:off x="9867900" y="17811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92" name="obj0391 poly"/>
              <p:cNvSpPr/>
              <p:nvPr/>
            </p:nvSpPr>
            <p:spPr>
              <a:xfrm>
                <a:off x="10029825" y="184785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obj0392 poly"/>
              <p:cNvSpPr/>
              <p:nvPr/>
            </p:nvSpPr>
            <p:spPr>
              <a:xfrm>
                <a:off x="10096500" y="17145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obj0393 poly"/>
              <p:cNvSpPr/>
              <p:nvPr/>
            </p:nvSpPr>
            <p:spPr>
              <a:xfrm>
                <a:off x="10467975" y="17145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obj0394 ellipse"/>
              <p:cNvSpPr/>
              <p:nvPr/>
            </p:nvSpPr>
            <p:spPr>
              <a:xfrm>
                <a:off x="10829925" y="1714500"/>
                <a:ext cx="266700" cy="266700"/>
              </a:xfrm>
              <a:prstGeom prst="ellipse">
                <a:avLst/>
              </a:pr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96" name="Measurement"/>
              <p:cNvGrpSpPr/>
              <p:nvPr/>
            </p:nvGrpSpPr>
            <p:grpSpPr>
              <a:xfrm>
                <a:off x="11811000" y="1733550"/>
                <a:ext cx="257175" cy="209550"/>
                <a:chOff x="11811000" y="1733550"/>
                <a:chExt cx="257175" cy="209550"/>
              </a:xfrm>
            </p:grpSpPr>
            <p:sp>
              <p:nvSpPr>
                <p:cNvPr id="397" name="obj0396 rect"/>
                <p:cNvSpPr/>
                <p:nvPr/>
              </p:nvSpPr>
              <p:spPr>
                <a:xfrm>
                  <a:off x="11811000" y="17335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8" name="obj0397 path"/>
                <p:cNvSpPr/>
                <p:nvPr/>
              </p:nvSpPr>
              <p:spPr>
                <a:xfrm>
                  <a:off x="11839575" y="17621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9" name="obj0398 poly"/>
                <p:cNvSpPr/>
                <p:nvPr/>
              </p:nvSpPr>
              <p:spPr>
                <a:xfrm>
                  <a:off x="11919014" y="17621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0" name="obj0399 poly"/>
                <p:cNvSpPr/>
                <p:nvPr/>
              </p:nvSpPr>
              <p:spPr>
                <a:xfrm>
                  <a:off x="11951113" y="17621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01" name="Qubit input |0⟩"/>
              <p:cNvGrpSpPr/>
              <p:nvPr/>
            </p:nvGrpSpPr>
            <p:grpSpPr>
              <a:xfrm>
                <a:off x="9744075" y="2069211"/>
                <a:ext cx="157386" cy="201168"/>
                <a:chOff x="9744075" y="2069211"/>
                <a:chExt cx="157386" cy="201168"/>
              </a:xfrm>
            </p:grpSpPr>
            <p:sp>
              <p:nvSpPr>
                <p:cNvPr id="402" name="Text: |0"/>
                <p:cNvSpPr txBox="1"/>
                <p:nvPr/>
              </p:nvSpPr>
              <p:spPr>
                <a:xfrm>
                  <a:off x="9744075" y="20692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403" name="obj0402 poly"/>
                <p:cNvSpPr/>
                <p:nvPr/>
              </p:nvSpPr>
              <p:spPr>
                <a:xfrm>
                  <a:off x="9867900" y="21050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04" name="obj0403 poly"/>
              <p:cNvSpPr/>
              <p:nvPr/>
            </p:nvSpPr>
            <p:spPr>
              <a:xfrm>
                <a:off x="10029825" y="217170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obj0404 poly"/>
              <p:cNvSpPr/>
              <p:nvPr/>
            </p:nvSpPr>
            <p:spPr>
              <a:xfrm>
                <a:off x="10096500" y="20383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obj0405 poly"/>
              <p:cNvSpPr/>
              <p:nvPr/>
            </p:nvSpPr>
            <p:spPr>
              <a:xfrm>
                <a:off x="10467975" y="20383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obj0406 ellipse"/>
              <p:cNvSpPr/>
              <p:nvPr/>
            </p:nvSpPr>
            <p:spPr>
              <a:xfrm>
                <a:off x="10829925" y="2038350"/>
                <a:ext cx="266700" cy="266700"/>
              </a:xfrm>
              <a:prstGeom prst="ellipse">
                <a:avLst/>
              </a:pr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408" name="Measurement"/>
              <p:cNvGrpSpPr/>
              <p:nvPr/>
            </p:nvGrpSpPr>
            <p:grpSpPr>
              <a:xfrm>
                <a:off x="11811000" y="2057400"/>
                <a:ext cx="257175" cy="209550"/>
                <a:chOff x="11811000" y="2057400"/>
                <a:chExt cx="257175" cy="209550"/>
              </a:xfrm>
            </p:grpSpPr>
            <p:sp>
              <p:nvSpPr>
                <p:cNvPr id="409" name="obj0408 rect"/>
                <p:cNvSpPr/>
                <p:nvPr/>
              </p:nvSpPr>
              <p:spPr>
                <a:xfrm>
                  <a:off x="11811000" y="20574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0" name="obj0409 path"/>
                <p:cNvSpPr/>
                <p:nvPr/>
              </p:nvSpPr>
              <p:spPr>
                <a:xfrm>
                  <a:off x="11839575" y="20859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1" name="obj0410 poly"/>
                <p:cNvSpPr/>
                <p:nvPr/>
              </p:nvSpPr>
              <p:spPr>
                <a:xfrm>
                  <a:off x="11919014" y="20859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2" name="obj0411 poly"/>
                <p:cNvSpPr/>
                <p:nvPr/>
              </p:nvSpPr>
              <p:spPr>
                <a:xfrm>
                  <a:off x="11951113" y="20859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13" name="obj0412 rect"/>
              <p:cNvSpPr/>
              <p:nvPr/>
            </p:nvSpPr>
            <p:spPr>
              <a:xfrm>
                <a:off x="11191875" y="14668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obj0413 rect"/>
              <p:cNvSpPr/>
              <p:nvPr/>
            </p:nvSpPr>
            <p:spPr>
              <a:xfrm>
                <a:off x="11391900" y="180022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15" name="Text: Frozen Paramters Trajectoy"/>
            <p:cNvSpPr txBox="1"/>
            <p:nvPr/>
          </p:nvSpPr>
          <p:spPr>
            <a:xfrm>
              <a:off x="7048500" y="2480643"/>
              <a:ext cx="3376270" cy="364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5" b="1" i="0">
                  <a:solidFill>
                    <a:srgbClr val="000000"/>
                  </a:solidFill>
                  <a:latin typeface="Times New Roman"/>
                </a:rPr>
                <a:t>Frozen Paramters Trajectoy</a:t>
              </a:r>
            </a:p>
          </p:txBody>
        </p:sp>
        <p:grpSp>
          <p:nvGrpSpPr>
            <p:cNvPr id="416" name="Intensity scale"/>
            <p:cNvGrpSpPr/>
            <p:nvPr/>
          </p:nvGrpSpPr>
          <p:grpSpPr>
            <a:xfrm>
              <a:off x="12163425" y="260318"/>
              <a:ext cx="996538" cy="2301907"/>
              <a:chOff x="12163425" y="260318"/>
              <a:chExt cx="996538" cy="2301907"/>
            </a:xfrm>
          </p:grpSpPr>
          <p:sp>
            <p:nvSpPr>
              <p:cNvPr id="417" name="Text: Intensity ↑"/>
              <p:cNvSpPr txBox="1"/>
              <p:nvPr/>
            </p:nvSpPr>
            <p:spPr>
              <a:xfrm>
                <a:off x="12163425" y="260318"/>
                <a:ext cx="996538" cy="27660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>
                    <a:solidFill>
                      <a:srgbClr val="000000"/>
                    </a:solidFill>
                    <a:latin typeface="Times New Roman"/>
                  </a:rPr>
                  <a:t>Intensity ↑</a:t>
                </a:r>
              </a:p>
            </p:txBody>
          </p:sp>
          <p:sp>
            <p:nvSpPr>
              <p:cNvPr id="418" name="obj0417 rect"/>
              <p:cNvSpPr/>
              <p:nvPr/>
            </p:nvSpPr>
            <p:spPr>
              <a:xfrm>
                <a:off x="12420600" y="523875"/>
                <a:ext cx="314325" cy="407670"/>
              </a:xfrm>
              <a:prstGeom prst="rect">
                <a:avLst/>
              </a:prstGeom>
              <a:solidFill>
                <a:srgbClr val="163D6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obj0418 rect"/>
              <p:cNvSpPr/>
              <p:nvPr/>
            </p:nvSpPr>
            <p:spPr>
              <a:xfrm>
                <a:off x="12420600" y="931545"/>
                <a:ext cx="314325" cy="407670"/>
              </a:xfrm>
              <a:prstGeom prst="rect">
                <a:avLst/>
              </a:prstGeom>
              <a:solidFill>
                <a:srgbClr val="215F9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obj0419 rect"/>
              <p:cNvSpPr/>
              <p:nvPr/>
            </p:nvSpPr>
            <p:spPr>
              <a:xfrm>
                <a:off x="12420600" y="1339215"/>
                <a:ext cx="314325" cy="407670"/>
              </a:xfrm>
              <a:prstGeom prst="rect">
                <a:avLst/>
              </a:prstGeom>
              <a:solidFill>
                <a:srgbClr val="5298D5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obj0420 rect"/>
              <p:cNvSpPr/>
              <p:nvPr/>
            </p:nvSpPr>
            <p:spPr>
              <a:xfrm>
                <a:off x="12420600" y="1746885"/>
                <a:ext cx="314325" cy="407670"/>
              </a:xfrm>
              <a:prstGeom prst="rect">
                <a:avLst/>
              </a:prstGeom>
              <a:solidFill>
                <a:srgbClr val="A6CBEB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obj0421 rect"/>
              <p:cNvSpPr/>
              <p:nvPr/>
            </p:nvSpPr>
            <p:spPr>
              <a:xfrm>
                <a:off x="12420600" y="2154555"/>
                <a:ext cx="314325" cy="407670"/>
              </a:xfrm>
              <a:prstGeom prst="rect">
                <a:avLst/>
              </a:prstGeom>
              <a:solidFill>
                <a:srgbClr val="DCEAF7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obj0422 rect"/>
              <p:cNvSpPr/>
              <p:nvPr/>
            </p:nvSpPr>
            <p:spPr>
              <a:xfrm>
                <a:off x="12420600" y="523875"/>
                <a:ext cx="314325" cy="2038350"/>
              </a:xfrm>
              <a:prstGeom prst="rect">
                <a:avLst/>
              </a:pr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24" name="Text: Frozen"/>
            <p:cNvSpPr txBox="1"/>
            <p:nvPr/>
          </p:nvSpPr>
          <p:spPr>
            <a:xfrm>
              <a:off x="12989756" y="632365"/>
              <a:ext cx="785738" cy="32689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000000"/>
                  </a:solidFill>
                  <a:latin typeface="Times New Roman"/>
                </a:rPr>
                <a:t>Frozen</a:t>
              </a:r>
            </a:p>
          </p:txBody>
        </p:sp>
        <p:sp>
          <p:nvSpPr>
            <p:cNvPr id="425" name="Text: Parameter"/>
            <p:cNvSpPr txBox="1"/>
            <p:nvPr/>
          </p:nvSpPr>
          <p:spPr>
            <a:xfrm>
              <a:off x="12795126" y="927640"/>
              <a:ext cx="1174998" cy="32689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000000"/>
                  </a:solidFill>
                  <a:latin typeface="Times New Roman"/>
                </a:rPr>
                <a:t>Parameter</a:t>
              </a:r>
            </a:p>
          </p:txBody>
        </p:sp>
        <p:sp>
          <p:nvSpPr>
            <p:cNvPr id="426" name="Text: Selection"/>
            <p:cNvSpPr txBox="1"/>
            <p:nvPr/>
          </p:nvSpPr>
          <p:spPr>
            <a:xfrm>
              <a:off x="12884252" y="1222915"/>
              <a:ext cx="996747" cy="32689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000000"/>
                  </a:solidFill>
                  <a:latin typeface="Times New Roman"/>
                </a:rPr>
                <a:t>Selection</a:t>
              </a:r>
            </a:p>
          </p:txBody>
        </p:sp>
        <p:sp>
          <p:nvSpPr>
            <p:cNvPr id="427" name="obj0426 poly"/>
            <p:cNvSpPr/>
            <p:nvPr/>
          </p:nvSpPr>
          <p:spPr>
            <a:xfrm>
              <a:off x="12801600" y="1524000"/>
              <a:ext cx="1123950" cy="400050"/>
            </a:xfrm>
            <a:custGeom>
              <a:avLst/>
              <a:gdLst/>
              <a:ahLst/>
              <a:cxnLst/>
              <a:rect l="0" t="0" r="w" b="h"/>
              <a:pathLst>
                <a:path w="11800" h="4200" fill="norm">
                  <a:moveTo>
                    <a:pt x="0" y="1000"/>
                  </a:moveTo>
                  <a:lnTo>
                    <a:pt x="9800" y="1000"/>
                  </a:lnTo>
                  <a:lnTo>
                    <a:pt x="9800" y="0"/>
                  </a:lnTo>
                  <a:lnTo>
                    <a:pt x="11800" y="2100"/>
                  </a:lnTo>
                  <a:lnTo>
                    <a:pt x="9800" y="4200"/>
                  </a:lnTo>
                  <a:lnTo>
                    <a:pt x="9800" y="3200"/>
                  </a:lnTo>
                  <a:lnTo>
                    <a:pt x="0" y="320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Text: Threshold: τ"/>
            <p:cNvSpPr txBox="1"/>
            <p:nvPr/>
          </p:nvSpPr>
          <p:spPr>
            <a:xfrm>
              <a:off x="12801600" y="1908143"/>
              <a:ext cx="1147762" cy="2766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i="1">
                  <a:solidFill>
                    <a:srgbClr val="000000"/>
                  </a:solidFill>
                  <a:latin typeface="Times New Roman"/>
                </a:rPr>
                <a:t>Threshold: τ</a:t>
              </a:r>
            </a:p>
          </p:txBody>
        </p:sp>
        <p:grpSp>
          <p:nvGrpSpPr>
            <p:cNvPr id="429" name="Label — large ansatz"/>
            <p:cNvGrpSpPr/>
            <p:nvPr/>
          </p:nvGrpSpPr>
          <p:grpSpPr>
            <a:xfrm>
              <a:off x="14144625" y="438150"/>
              <a:ext cx="3895725" cy="1962150"/>
              <a:chOff x="14144625" y="438150"/>
              <a:chExt cx="3895725" cy="1962150"/>
            </a:xfrm>
          </p:grpSpPr>
          <p:sp>
            <p:nvSpPr>
              <p:cNvPr id="430" name="obj0429 rect"/>
              <p:cNvSpPr/>
              <p:nvPr/>
            </p:nvSpPr>
            <p:spPr>
              <a:xfrm>
                <a:off x="14239875" y="571500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obj0430 rect"/>
              <p:cNvSpPr/>
              <p:nvPr/>
            </p:nvSpPr>
            <p:spPr>
              <a:xfrm>
                <a:off x="14144625" y="438150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432" name="Qubit input |0⟩"/>
              <p:cNvGrpSpPr/>
              <p:nvPr/>
            </p:nvGrpSpPr>
            <p:grpSpPr>
              <a:xfrm>
                <a:off x="14258925" y="535686"/>
                <a:ext cx="157386" cy="201168"/>
                <a:chOff x="14258925" y="535686"/>
                <a:chExt cx="157386" cy="201168"/>
              </a:xfrm>
            </p:grpSpPr>
            <p:sp>
              <p:nvSpPr>
                <p:cNvPr id="433" name="Text: |0"/>
                <p:cNvSpPr txBox="1"/>
                <p:nvPr/>
              </p:nvSpPr>
              <p:spPr>
                <a:xfrm>
                  <a:off x="14258925" y="5356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434" name="obj0433 poly"/>
                <p:cNvSpPr/>
                <p:nvPr/>
              </p:nvSpPr>
              <p:spPr>
                <a:xfrm>
                  <a:off x="14382750" y="5715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35" name="obj0434 poly"/>
              <p:cNvSpPr/>
              <p:nvPr/>
            </p:nvSpPr>
            <p:spPr>
              <a:xfrm>
                <a:off x="14544675" y="6381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obj0435 poly"/>
              <p:cNvSpPr/>
              <p:nvPr/>
            </p:nvSpPr>
            <p:spPr>
              <a:xfrm>
                <a:off x="14611350" y="504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obj0436 poly"/>
              <p:cNvSpPr/>
              <p:nvPr/>
            </p:nvSpPr>
            <p:spPr>
              <a:xfrm>
                <a:off x="14982825" y="504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obj0437 ellipse"/>
              <p:cNvSpPr/>
              <p:nvPr/>
            </p:nvSpPr>
            <p:spPr>
              <a:xfrm>
                <a:off x="15344775" y="5048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obj0438 poly"/>
              <p:cNvSpPr/>
              <p:nvPr/>
            </p:nvSpPr>
            <p:spPr>
              <a:xfrm>
                <a:off x="15678150" y="504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obj0439 poly"/>
              <p:cNvSpPr/>
              <p:nvPr/>
            </p:nvSpPr>
            <p:spPr>
              <a:xfrm>
                <a:off x="16249650" y="504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obj0440 ellipse"/>
              <p:cNvSpPr/>
              <p:nvPr/>
            </p:nvSpPr>
            <p:spPr>
              <a:xfrm>
                <a:off x="16583025" y="5048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442" name="Measurement"/>
              <p:cNvGrpSpPr/>
              <p:nvPr/>
            </p:nvGrpSpPr>
            <p:grpSpPr>
              <a:xfrm>
                <a:off x="17564100" y="523875"/>
                <a:ext cx="257175" cy="209550"/>
                <a:chOff x="17564100" y="523875"/>
                <a:chExt cx="257175" cy="209550"/>
              </a:xfrm>
            </p:grpSpPr>
            <p:sp>
              <p:nvSpPr>
                <p:cNvPr id="443" name="obj0442 rect"/>
                <p:cNvSpPr/>
                <p:nvPr/>
              </p:nvSpPr>
              <p:spPr>
                <a:xfrm>
                  <a:off x="17564100" y="5238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4" name="obj0443 path"/>
                <p:cNvSpPr/>
                <p:nvPr/>
              </p:nvSpPr>
              <p:spPr>
                <a:xfrm>
                  <a:off x="17592675" y="5524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5" name="obj0444 poly"/>
                <p:cNvSpPr/>
                <p:nvPr/>
              </p:nvSpPr>
              <p:spPr>
                <a:xfrm>
                  <a:off x="17672114" y="5524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6" name="obj0445 poly"/>
                <p:cNvSpPr/>
                <p:nvPr/>
              </p:nvSpPr>
              <p:spPr>
                <a:xfrm>
                  <a:off x="17704213" y="5524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47" name="Qubit input |0⟩"/>
              <p:cNvGrpSpPr/>
              <p:nvPr/>
            </p:nvGrpSpPr>
            <p:grpSpPr>
              <a:xfrm>
                <a:off x="14258925" y="859536"/>
                <a:ext cx="157386" cy="201168"/>
                <a:chOff x="14258925" y="859536"/>
                <a:chExt cx="157386" cy="201168"/>
              </a:xfrm>
            </p:grpSpPr>
            <p:sp>
              <p:nvSpPr>
                <p:cNvPr id="448" name="Text: |0"/>
                <p:cNvSpPr txBox="1"/>
                <p:nvPr/>
              </p:nvSpPr>
              <p:spPr>
                <a:xfrm>
                  <a:off x="14258925" y="8595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449" name="obj0448 poly"/>
                <p:cNvSpPr/>
                <p:nvPr/>
              </p:nvSpPr>
              <p:spPr>
                <a:xfrm>
                  <a:off x="14382750" y="8953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50" name="obj0449 poly"/>
              <p:cNvSpPr/>
              <p:nvPr/>
            </p:nvSpPr>
            <p:spPr>
              <a:xfrm>
                <a:off x="14544675" y="96202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obj0450 poly"/>
              <p:cNvSpPr/>
              <p:nvPr/>
            </p:nvSpPr>
            <p:spPr>
              <a:xfrm>
                <a:off x="14611350" y="8286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obj0451 poly"/>
              <p:cNvSpPr/>
              <p:nvPr/>
            </p:nvSpPr>
            <p:spPr>
              <a:xfrm>
                <a:off x="14982825" y="8286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obj0452 ellipse"/>
              <p:cNvSpPr/>
              <p:nvPr/>
            </p:nvSpPr>
            <p:spPr>
              <a:xfrm>
                <a:off x="15344775" y="82867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obj0453 poly"/>
              <p:cNvSpPr/>
              <p:nvPr/>
            </p:nvSpPr>
            <p:spPr>
              <a:xfrm>
                <a:off x="15678150" y="8286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obj0454 poly"/>
              <p:cNvSpPr/>
              <p:nvPr/>
            </p:nvSpPr>
            <p:spPr>
              <a:xfrm>
                <a:off x="16249650" y="8286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obj0455 ellipse"/>
              <p:cNvSpPr/>
              <p:nvPr/>
            </p:nvSpPr>
            <p:spPr>
              <a:xfrm>
                <a:off x="16583025" y="8286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457" name="Measurement"/>
              <p:cNvGrpSpPr/>
              <p:nvPr/>
            </p:nvGrpSpPr>
            <p:grpSpPr>
              <a:xfrm>
                <a:off x="17564100" y="847725"/>
                <a:ext cx="257175" cy="209550"/>
                <a:chOff x="17564100" y="847725"/>
                <a:chExt cx="257175" cy="209550"/>
              </a:xfrm>
            </p:grpSpPr>
            <p:sp>
              <p:nvSpPr>
                <p:cNvPr id="458" name="obj0457 rect"/>
                <p:cNvSpPr/>
                <p:nvPr/>
              </p:nvSpPr>
              <p:spPr>
                <a:xfrm>
                  <a:off x="17564100" y="8477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9" name="obj0458 path"/>
                <p:cNvSpPr/>
                <p:nvPr/>
              </p:nvSpPr>
              <p:spPr>
                <a:xfrm>
                  <a:off x="17592675" y="8763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0" name="obj0459 poly"/>
                <p:cNvSpPr/>
                <p:nvPr/>
              </p:nvSpPr>
              <p:spPr>
                <a:xfrm>
                  <a:off x="17672114" y="8763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1" name="obj0460 poly"/>
                <p:cNvSpPr/>
                <p:nvPr/>
              </p:nvSpPr>
              <p:spPr>
                <a:xfrm>
                  <a:off x="17704213" y="8763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62" name="Qubit input |0⟩"/>
              <p:cNvGrpSpPr/>
              <p:nvPr/>
            </p:nvGrpSpPr>
            <p:grpSpPr>
              <a:xfrm>
                <a:off x="14258925" y="1173861"/>
                <a:ext cx="157386" cy="201168"/>
                <a:chOff x="14258925" y="1173861"/>
                <a:chExt cx="157386" cy="201168"/>
              </a:xfrm>
            </p:grpSpPr>
            <p:sp>
              <p:nvSpPr>
                <p:cNvPr id="463" name="Text: |0"/>
                <p:cNvSpPr txBox="1"/>
                <p:nvPr/>
              </p:nvSpPr>
              <p:spPr>
                <a:xfrm>
                  <a:off x="14258925" y="11738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464" name="obj0463 poly"/>
                <p:cNvSpPr/>
                <p:nvPr/>
              </p:nvSpPr>
              <p:spPr>
                <a:xfrm>
                  <a:off x="14382750" y="12096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65" name="obj0464 poly"/>
              <p:cNvSpPr/>
              <p:nvPr/>
            </p:nvSpPr>
            <p:spPr>
              <a:xfrm>
                <a:off x="14544675" y="12763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obj0465 poly"/>
              <p:cNvSpPr/>
              <p:nvPr/>
            </p:nvSpPr>
            <p:spPr>
              <a:xfrm>
                <a:off x="14611350" y="1143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obj0466 poly"/>
              <p:cNvSpPr/>
              <p:nvPr/>
            </p:nvSpPr>
            <p:spPr>
              <a:xfrm>
                <a:off x="14982825" y="1143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obj0467 ellipse"/>
              <p:cNvSpPr/>
              <p:nvPr/>
            </p:nvSpPr>
            <p:spPr>
              <a:xfrm>
                <a:off x="15344775" y="11430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obj0468 poly"/>
              <p:cNvSpPr/>
              <p:nvPr/>
            </p:nvSpPr>
            <p:spPr>
              <a:xfrm>
                <a:off x="15678150" y="1143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obj0469 poly"/>
              <p:cNvSpPr/>
              <p:nvPr/>
            </p:nvSpPr>
            <p:spPr>
              <a:xfrm>
                <a:off x="16249650" y="11430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obj0470 ellipse"/>
              <p:cNvSpPr/>
              <p:nvPr/>
            </p:nvSpPr>
            <p:spPr>
              <a:xfrm>
                <a:off x="16583025" y="11430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472" name="Measurement"/>
              <p:cNvGrpSpPr/>
              <p:nvPr/>
            </p:nvGrpSpPr>
            <p:grpSpPr>
              <a:xfrm>
                <a:off x="17564100" y="1162050"/>
                <a:ext cx="257175" cy="209550"/>
                <a:chOff x="17564100" y="1162050"/>
                <a:chExt cx="257175" cy="209550"/>
              </a:xfrm>
            </p:grpSpPr>
            <p:sp>
              <p:nvSpPr>
                <p:cNvPr id="473" name="obj0472 rect"/>
                <p:cNvSpPr/>
                <p:nvPr/>
              </p:nvSpPr>
              <p:spPr>
                <a:xfrm>
                  <a:off x="17564100" y="11620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4" name="obj0473 path"/>
                <p:cNvSpPr/>
                <p:nvPr/>
              </p:nvSpPr>
              <p:spPr>
                <a:xfrm>
                  <a:off x="17592675" y="11906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5" name="obj0474 poly"/>
                <p:cNvSpPr/>
                <p:nvPr/>
              </p:nvSpPr>
              <p:spPr>
                <a:xfrm>
                  <a:off x="17672114" y="11906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6" name="obj0475 poly"/>
                <p:cNvSpPr/>
                <p:nvPr/>
              </p:nvSpPr>
              <p:spPr>
                <a:xfrm>
                  <a:off x="17704213" y="11906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77" name="Qubit input |0⟩"/>
              <p:cNvGrpSpPr/>
              <p:nvPr/>
            </p:nvGrpSpPr>
            <p:grpSpPr>
              <a:xfrm>
                <a:off x="14258925" y="1650111"/>
                <a:ext cx="157386" cy="201168"/>
                <a:chOff x="14258925" y="1650111"/>
                <a:chExt cx="157386" cy="201168"/>
              </a:xfrm>
            </p:grpSpPr>
            <p:sp>
              <p:nvSpPr>
                <p:cNvPr id="478" name="Text: |0"/>
                <p:cNvSpPr txBox="1"/>
                <p:nvPr/>
              </p:nvSpPr>
              <p:spPr>
                <a:xfrm>
                  <a:off x="14258925" y="16501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479" name="obj0478 poly"/>
                <p:cNvSpPr/>
                <p:nvPr/>
              </p:nvSpPr>
              <p:spPr>
                <a:xfrm>
                  <a:off x="14382750" y="16859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80" name="obj0479 poly"/>
              <p:cNvSpPr/>
              <p:nvPr/>
            </p:nvSpPr>
            <p:spPr>
              <a:xfrm>
                <a:off x="14544675" y="175260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obj0480 poly"/>
              <p:cNvSpPr/>
              <p:nvPr/>
            </p:nvSpPr>
            <p:spPr>
              <a:xfrm>
                <a:off x="14611350" y="1619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obj0481 poly"/>
              <p:cNvSpPr/>
              <p:nvPr/>
            </p:nvSpPr>
            <p:spPr>
              <a:xfrm>
                <a:off x="14982825" y="1619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" name="obj0482 ellipse"/>
              <p:cNvSpPr/>
              <p:nvPr/>
            </p:nvSpPr>
            <p:spPr>
              <a:xfrm>
                <a:off x="15344775" y="161925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obj0483 poly"/>
              <p:cNvSpPr/>
              <p:nvPr/>
            </p:nvSpPr>
            <p:spPr>
              <a:xfrm>
                <a:off x="15678150" y="1619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obj0484 poly"/>
              <p:cNvSpPr/>
              <p:nvPr/>
            </p:nvSpPr>
            <p:spPr>
              <a:xfrm>
                <a:off x="16249650" y="16192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obj0485 ellipse"/>
              <p:cNvSpPr/>
              <p:nvPr/>
            </p:nvSpPr>
            <p:spPr>
              <a:xfrm>
                <a:off x="16583025" y="16192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487" name="Measurement"/>
              <p:cNvGrpSpPr/>
              <p:nvPr/>
            </p:nvGrpSpPr>
            <p:grpSpPr>
              <a:xfrm>
                <a:off x="17564100" y="1638300"/>
                <a:ext cx="257175" cy="209550"/>
                <a:chOff x="17564100" y="1638300"/>
                <a:chExt cx="257175" cy="209550"/>
              </a:xfrm>
            </p:grpSpPr>
            <p:sp>
              <p:nvSpPr>
                <p:cNvPr id="488" name="obj0487 rect"/>
                <p:cNvSpPr/>
                <p:nvPr/>
              </p:nvSpPr>
              <p:spPr>
                <a:xfrm>
                  <a:off x="17564100" y="16383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9" name="obj0488 path"/>
                <p:cNvSpPr/>
                <p:nvPr/>
              </p:nvSpPr>
              <p:spPr>
                <a:xfrm>
                  <a:off x="17592675" y="16668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0" name="obj0489 poly"/>
                <p:cNvSpPr/>
                <p:nvPr/>
              </p:nvSpPr>
              <p:spPr>
                <a:xfrm>
                  <a:off x="17672114" y="16668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1" name="obj0490 poly"/>
                <p:cNvSpPr/>
                <p:nvPr/>
              </p:nvSpPr>
              <p:spPr>
                <a:xfrm>
                  <a:off x="17704213" y="16668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92" name="Qubit input |0⟩"/>
              <p:cNvGrpSpPr/>
              <p:nvPr/>
            </p:nvGrpSpPr>
            <p:grpSpPr>
              <a:xfrm>
                <a:off x="14258925" y="1964436"/>
                <a:ext cx="157386" cy="201168"/>
                <a:chOff x="14258925" y="1964436"/>
                <a:chExt cx="157386" cy="201168"/>
              </a:xfrm>
            </p:grpSpPr>
            <p:sp>
              <p:nvSpPr>
                <p:cNvPr id="493" name="Text: |0"/>
                <p:cNvSpPr txBox="1"/>
                <p:nvPr/>
              </p:nvSpPr>
              <p:spPr>
                <a:xfrm>
                  <a:off x="14258925" y="19644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494" name="obj0493 poly"/>
                <p:cNvSpPr/>
                <p:nvPr/>
              </p:nvSpPr>
              <p:spPr>
                <a:xfrm>
                  <a:off x="14382750" y="20002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95" name="obj0494 poly"/>
              <p:cNvSpPr/>
              <p:nvPr/>
            </p:nvSpPr>
            <p:spPr>
              <a:xfrm>
                <a:off x="14544675" y="206692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obj0495 poly"/>
              <p:cNvSpPr/>
              <p:nvPr/>
            </p:nvSpPr>
            <p:spPr>
              <a:xfrm>
                <a:off x="14611350" y="1933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obj0496 poly"/>
              <p:cNvSpPr/>
              <p:nvPr/>
            </p:nvSpPr>
            <p:spPr>
              <a:xfrm>
                <a:off x="14982825" y="1933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obj0497 ellipse"/>
              <p:cNvSpPr/>
              <p:nvPr/>
            </p:nvSpPr>
            <p:spPr>
              <a:xfrm>
                <a:off x="15344775" y="19335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obj0498 poly"/>
              <p:cNvSpPr/>
              <p:nvPr/>
            </p:nvSpPr>
            <p:spPr>
              <a:xfrm>
                <a:off x="15678150" y="1933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" name="obj0499 poly"/>
              <p:cNvSpPr/>
              <p:nvPr/>
            </p:nvSpPr>
            <p:spPr>
              <a:xfrm>
                <a:off x="16249650" y="19335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" name="obj0500 ellipse"/>
              <p:cNvSpPr/>
              <p:nvPr/>
            </p:nvSpPr>
            <p:spPr>
              <a:xfrm>
                <a:off x="16583025" y="19335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02" name="Measurement"/>
              <p:cNvGrpSpPr/>
              <p:nvPr/>
            </p:nvGrpSpPr>
            <p:grpSpPr>
              <a:xfrm>
                <a:off x="17564100" y="1952625"/>
                <a:ext cx="257175" cy="209550"/>
                <a:chOff x="17564100" y="1952625"/>
                <a:chExt cx="257175" cy="209550"/>
              </a:xfrm>
            </p:grpSpPr>
            <p:sp>
              <p:nvSpPr>
                <p:cNvPr id="503" name="obj0502 rect"/>
                <p:cNvSpPr/>
                <p:nvPr/>
              </p:nvSpPr>
              <p:spPr>
                <a:xfrm>
                  <a:off x="17564100" y="19526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4" name="obj0503 path"/>
                <p:cNvSpPr/>
                <p:nvPr/>
              </p:nvSpPr>
              <p:spPr>
                <a:xfrm>
                  <a:off x="17592675" y="19812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5" name="obj0504 poly"/>
                <p:cNvSpPr/>
                <p:nvPr/>
              </p:nvSpPr>
              <p:spPr>
                <a:xfrm>
                  <a:off x="17672114" y="19812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6" name="obj0505 poly"/>
                <p:cNvSpPr/>
                <p:nvPr/>
              </p:nvSpPr>
              <p:spPr>
                <a:xfrm>
                  <a:off x="17704213" y="19812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07" name="obj0506 ellipse"/>
              <p:cNvSpPr/>
              <p:nvPr/>
            </p:nvSpPr>
            <p:spPr>
              <a:xfrm>
                <a:off x="14327029" y="14397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obj0507 ellipse"/>
              <p:cNvSpPr/>
              <p:nvPr/>
            </p:nvSpPr>
            <p:spPr>
              <a:xfrm>
                <a:off x="14327029" y="14968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obj0508 ellipse"/>
              <p:cNvSpPr/>
              <p:nvPr/>
            </p:nvSpPr>
            <p:spPr>
              <a:xfrm>
                <a:off x="14327029" y="15540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obj0509 ellipse"/>
              <p:cNvSpPr/>
              <p:nvPr/>
            </p:nvSpPr>
            <p:spPr>
              <a:xfrm>
                <a:off x="16089154" y="14397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obj0510 ellipse"/>
              <p:cNvSpPr/>
              <p:nvPr/>
            </p:nvSpPr>
            <p:spPr>
              <a:xfrm>
                <a:off x="16089154" y="14968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obj0511 ellipse"/>
              <p:cNvSpPr/>
              <p:nvPr/>
            </p:nvSpPr>
            <p:spPr>
              <a:xfrm>
                <a:off x="16089154" y="15540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obj0512 ellipse"/>
              <p:cNvSpPr/>
              <p:nvPr/>
            </p:nvSpPr>
            <p:spPr>
              <a:xfrm>
                <a:off x="17689354" y="14397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obj0513 ellipse"/>
              <p:cNvSpPr/>
              <p:nvPr/>
            </p:nvSpPr>
            <p:spPr>
              <a:xfrm>
                <a:off x="17689354" y="14968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obj0514 ellipse"/>
              <p:cNvSpPr/>
              <p:nvPr/>
            </p:nvSpPr>
            <p:spPr>
              <a:xfrm>
                <a:off x="17689354" y="15540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obj0515 rect"/>
              <p:cNvSpPr/>
              <p:nvPr/>
            </p:nvSpPr>
            <p:spPr>
              <a:xfrm>
                <a:off x="16954500" y="571500"/>
                <a:ext cx="123825" cy="4191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" name="obj0516 rect"/>
              <p:cNvSpPr/>
              <p:nvPr/>
            </p:nvSpPr>
            <p:spPr>
              <a:xfrm>
                <a:off x="17154525" y="9048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" name="obj0517 rect"/>
              <p:cNvSpPr/>
              <p:nvPr/>
            </p:nvSpPr>
            <p:spPr>
              <a:xfrm>
                <a:off x="17325975" y="1704975"/>
                <a:ext cx="123825" cy="43815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9" name="Label — middle ansatz"/>
            <p:cNvGrpSpPr/>
            <p:nvPr/>
          </p:nvGrpSpPr>
          <p:grpSpPr>
            <a:xfrm>
              <a:off x="14563725" y="904875"/>
              <a:ext cx="3505200" cy="1514475"/>
              <a:chOff x="14563725" y="904875"/>
              <a:chExt cx="3505200" cy="1514475"/>
            </a:xfrm>
          </p:grpSpPr>
          <p:sp>
            <p:nvSpPr>
              <p:cNvPr id="520" name="obj0519 rect"/>
              <p:cNvSpPr/>
              <p:nvPr/>
            </p:nvSpPr>
            <p:spPr>
              <a:xfrm>
                <a:off x="14658975" y="1038225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obj0520 rect"/>
              <p:cNvSpPr/>
              <p:nvPr/>
            </p:nvSpPr>
            <p:spPr>
              <a:xfrm>
                <a:off x="14563725" y="904875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22" name="Qubit input |0⟩"/>
              <p:cNvGrpSpPr/>
              <p:nvPr/>
            </p:nvGrpSpPr>
            <p:grpSpPr>
              <a:xfrm>
                <a:off x="14678025" y="992886"/>
                <a:ext cx="157386" cy="201168"/>
                <a:chOff x="14678025" y="992886"/>
                <a:chExt cx="157386" cy="201168"/>
              </a:xfrm>
            </p:grpSpPr>
            <p:sp>
              <p:nvSpPr>
                <p:cNvPr id="523" name="Text: |0"/>
                <p:cNvSpPr txBox="1"/>
                <p:nvPr/>
              </p:nvSpPr>
              <p:spPr>
                <a:xfrm>
                  <a:off x="14678025" y="9928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524" name="obj0523 poly"/>
                <p:cNvSpPr/>
                <p:nvPr/>
              </p:nvSpPr>
              <p:spPr>
                <a:xfrm>
                  <a:off x="14801850" y="10287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25" name="obj0524 poly"/>
              <p:cNvSpPr/>
              <p:nvPr/>
            </p:nvSpPr>
            <p:spPr>
              <a:xfrm>
                <a:off x="14963775" y="109537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obj0525 poly"/>
              <p:cNvSpPr/>
              <p:nvPr/>
            </p:nvSpPr>
            <p:spPr>
              <a:xfrm>
                <a:off x="15030450" y="9620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obj0526 poly"/>
              <p:cNvSpPr/>
              <p:nvPr/>
            </p:nvSpPr>
            <p:spPr>
              <a:xfrm>
                <a:off x="15401925" y="9620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obj0527 ellipse"/>
              <p:cNvSpPr/>
              <p:nvPr/>
            </p:nvSpPr>
            <p:spPr>
              <a:xfrm>
                <a:off x="15763875" y="9620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obj0528 poly"/>
              <p:cNvSpPr/>
              <p:nvPr/>
            </p:nvSpPr>
            <p:spPr>
              <a:xfrm>
                <a:off x="16097250" y="9620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obj0529 poly"/>
              <p:cNvSpPr/>
              <p:nvPr/>
            </p:nvSpPr>
            <p:spPr>
              <a:xfrm>
                <a:off x="16668750" y="9620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31" name="Measurement"/>
              <p:cNvGrpSpPr/>
              <p:nvPr/>
            </p:nvGrpSpPr>
            <p:grpSpPr>
              <a:xfrm>
                <a:off x="17592675" y="981075"/>
                <a:ext cx="257175" cy="209550"/>
                <a:chOff x="17592675" y="981075"/>
                <a:chExt cx="257175" cy="209550"/>
              </a:xfrm>
            </p:grpSpPr>
            <p:sp>
              <p:nvSpPr>
                <p:cNvPr id="532" name="obj0531 rect"/>
                <p:cNvSpPr/>
                <p:nvPr/>
              </p:nvSpPr>
              <p:spPr>
                <a:xfrm>
                  <a:off x="17592675" y="9810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3" name="obj0532 path"/>
                <p:cNvSpPr/>
                <p:nvPr/>
              </p:nvSpPr>
              <p:spPr>
                <a:xfrm>
                  <a:off x="17621250" y="10096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4" name="obj0533 poly"/>
                <p:cNvSpPr/>
                <p:nvPr/>
              </p:nvSpPr>
              <p:spPr>
                <a:xfrm>
                  <a:off x="17700688" y="10096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5" name="obj0534 poly"/>
                <p:cNvSpPr/>
                <p:nvPr/>
              </p:nvSpPr>
              <p:spPr>
                <a:xfrm>
                  <a:off x="17732788" y="10096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36" name="Qubit input |0⟩"/>
              <p:cNvGrpSpPr/>
              <p:nvPr/>
            </p:nvGrpSpPr>
            <p:grpSpPr>
              <a:xfrm>
                <a:off x="14678025" y="1316736"/>
                <a:ext cx="157386" cy="201168"/>
                <a:chOff x="14678025" y="1316736"/>
                <a:chExt cx="157386" cy="201168"/>
              </a:xfrm>
            </p:grpSpPr>
            <p:sp>
              <p:nvSpPr>
                <p:cNvPr id="537" name="Text: |0"/>
                <p:cNvSpPr txBox="1"/>
                <p:nvPr/>
              </p:nvSpPr>
              <p:spPr>
                <a:xfrm>
                  <a:off x="14678025" y="13167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538" name="obj0537 poly"/>
                <p:cNvSpPr/>
                <p:nvPr/>
              </p:nvSpPr>
              <p:spPr>
                <a:xfrm>
                  <a:off x="14801850" y="13525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39" name="obj0538 poly"/>
              <p:cNvSpPr/>
              <p:nvPr/>
            </p:nvSpPr>
            <p:spPr>
              <a:xfrm>
                <a:off x="14963775" y="141922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obj0539 poly"/>
              <p:cNvSpPr/>
              <p:nvPr/>
            </p:nvSpPr>
            <p:spPr>
              <a:xfrm>
                <a:off x="15030450" y="1285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obj0540 poly"/>
              <p:cNvSpPr/>
              <p:nvPr/>
            </p:nvSpPr>
            <p:spPr>
              <a:xfrm>
                <a:off x="15401925" y="1285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obj0541 ellipse"/>
              <p:cNvSpPr/>
              <p:nvPr/>
            </p:nvSpPr>
            <p:spPr>
              <a:xfrm>
                <a:off x="15763875" y="12858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obj0542 poly"/>
              <p:cNvSpPr/>
              <p:nvPr/>
            </p:nvSpPr>
            <p:spPr>
              <a:xfrm>
                <a:off x="16097250" y="1285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obj0543 poly"/>
              <p:cNvSpPr/>
              <p:nvPr/>
            </p:nvSpPr>
            <p:spPr>
              <a:xfrm>
                <a:off x="16668750" y="1285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45" name="Measurement"/>
              <p:cNvGrpSpPr/>
              <p:nvPr/>
            </p:nvGrpSpPr>
            <p:grpSpPr>
              <a:xfrm>
                <a:off x="17592675" y="1304925"/>
                <a:ext cx="257175" cy="209550"/>
                <a:chOff x="17592675" y="1304925"/>
                <a:chExt cx="257175" cy="209550"/>
              </a:xfrm>
            </p:grpSpPr>
            <p:sp>
              <p:nvSpPr>
                <p:cNvPr id="546" name="obj0545 rect"/>
                <p:cNvSpPr/>
                <p:nvPr/>
              </p:nvSpPr>
              <p:spPr>
                <a:xfrm>
                  <a:off x="17592675" y="13049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7" name="obj0546 path"/>
                <p:cNvSpPr/>
                <p:nvPr/>
              </p:nvSpPr>
              <p:spPr>
                <a:xfrm>
                  <a:off x="17621250" y="13335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8" name="obj0547 poly"/>
                <p:cNvSpPr/>
                <p:nvPr/>
              </p:nvSpPr>
              <p:spPr>
                <a:xfrm>
                  <a:off x="17700688" y="13335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9" name="obj0548 poly"/>
                <p:cNvSpPr/>
                <p:nvPr/>
              </p:nvSpPr>
              <p:spPr>
                <a:xfrm>
                  <a:off x="17732788" y="13335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50" name="Qubit input |0⟩"/>
              <p:cNvGrpSpPr/>
              <p:nvPr/>
            </p:nvGrpSpPr>
            <p:grpSpPr>
              <a:xfrm>
                <a:off x="14678025" y="1631061"/>
                <a:ext cx="157386" cy="201168"/>
                <a:chOff x="14678025" y="1631061"/>
                <a:chExt cx="157386" cy="201168"/>
              </a:xfrm>
            </p:grpSpPr>
            <p:sp>
              <p:nvSpPr>
                <p:cNvPr id="551" name="Text: |0"/>
                <p:cNvSpPr txBox="1"/>
                <p:nvPr/>
              </p:nvSpPr>
              <p:spPr>
                <a:xfrm>
                  <a:off x="14678025" y="16310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552" name="obj0551 poly"/>
                <p:cNvSpPr/>
                <p:nvPr/>
              </p:nvSpPr>
              <p:spPr>
                <a:xfrm>
                  <a:off x="14801850" y="16668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53" name="obj0552 poly"/>
              <p:cNvSpPr/>
              <p:nvPr/>
            </p:nvSpPr>
            <p:spPr>
              <a:xfrm>
                <a:off x="14963775" y="173355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obj0553 poly"/>
              <p:cNvSpPr/>
              <p:nvPr/>
            </p:nvSpPr>
            <p:spPr>
              <a:xfrm>
                <a:off x="15030450" y="1600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obj0554 poly"/>
              <p:cNvSpPr/>
              <p:nvPr/>
            </p:nvSpPr>
            <p:spPr>
              <a:xfrm>
                <a:off x="15401925" y="1600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obj0555 ellipse"/>
              <p:cNvSpPr/>
              <p:nvPr/>
            </p:nvSpPr>
            <p:spPr>
              <a:xfrm>
                <a:off x="15763875" y="16002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obj0556 poly"/>
              <p:cNvSpPr/>
              <p:nvPr/>
            </p:nvSpPr>
            <p:spPr>
              <a:xfrm>
                <a:off x="16097250" y="1600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obj0557 poly"/>
              <p:cNvSpPr/>
              <p:nvPr/>
            </p:nvSpPr>
            <p:spPr>
              <a:xfrm>
                <a:off x="16668750" y="1600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59" name="Measurement"/>
              <p:cNvGrpSpPr/>
              <p:nvPr/>
            </p:nvGrpSpPr>
            <p:grpSpPr>
              <a:xfrm>
                <a:off x="17592675" y="1619250"/>
                <a:ext cx="257175" cy="209550"/>
                <a:chOff x="17592675" y="1619250"/>
                <a:chExt cx="257175" cy="209550"/>
              </a:xfrm>
            </p:grpSpPr>
            <p:sp>
              <p:nvSpPr>
                <p:cNvPr id="560" name="obj0559 rect"/>
                <p:cNvSpPr/>
                <p:nvPr/>
              </p:nvSpPr>
              <p:spPr>
                <a:xfrm>
                  <a:off x="17592675" y="16192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1" name="obj0560 path"/>
                <p:cNvSpPr/>
                <p:nvPr/>
              </p:nvSpPr>
              <p:spPr>
                <a:xfrm>
                  <a:off x="17621250" y="16478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2" name="obj0561 poly"/>
                <p:cNvSpPr/>
                <p:nvPr/>
              </p:nvSpPr>
              <p:spPr>
                <a:xfrm>
                  <a:off x="17700688" y="16478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3" name="obj0562 poly"/>
                <p:cNvSpPr/>
                <p:nvPr/>
              </p:nvSpPr>
              <p:spPr>
                <a:xfrm>
                  <a:off x="17732788" y="16478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64" name="Qubit input |0⟩"/>
              <p:cNvGrpSpPr/>
              <p:nvPr/>
            </p:nvGrpSpPr>
            <p:grpSpPr>
              <a:xfrm>
                <a:off x="14678025" y="1945386"/>
                <a:ext cx="157386" cy="201168"/>
                <a:chOff x="14678025" y="1945386"/>
                <a:chExt cx="157386" cy="201168"/>
              </a:xfrm>
            </p:grpSpPr>
            <p:sp>
              <p:nvSpPr>
                <p:cNvPr id="565" name="Text: |0"/>
                <p:cNvSpPr txBox="1"/>
                <p:nvPr/>
              </p:nvSpPr>
              <p:spPr>
                <a:xfrm>
                  <a:off x="14678025" y="19453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566" name="obj0565 poly"/>
                <p:cNvSpPr/>
                <p:nvPr/>
              </p:nvSpPr>
              <p:spPr>
                <a:xfrm>
                  <a:off x="14801850" y="19812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67" name="obj0566 poly"/>
              <p:cNvSpPr/>
              <p:nvPr/>
            </p:nvSpPr>
            <p:spPr>
              <a:xfrm>
                <a:off x="14963775" y="204787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" name="obj0567 poly"/>
              <p:cNvSpPr/>
              <p:nvPr/>
            </p:nvSpPr>
            <p:spPr>
              <a:xfrm>
                <a:off x="15030450" y="19145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" name="obj0568 poly"/>
              <p:cNvSpPr/>
              <p:nvPr/>
            </p:nvSpPr>
            <p:spPr>
              <a:xfrm>
                <a:off x="15401925" y="19145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obj0569 ellipse"/>
              <p:cNvSpPr/>
              <p:nvPr/>
            </p:nvSpPr>
            <p:spPr>
              <a:xfrm>
                <a:off x="15763875" y="19145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obj0570 poly"/>
              <p:cNvSpPr/>
              <p:nvPr/>
            </p:nvSpPr>
            <p:spPr>
              <a:xfrm>
                <a:off x="16097250" y="19145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obj0571 poly"/>
              <p:cNvSpPr/>
              <p:nvPr/>
            </p:nvSpPr>
            <p:spPr>
              <a:xfrm>
                <a:off x="16668750" y="19145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73" name="Measurement"/>
              <p:cNvGrpSpPr/>
              <p:nvPr/>
            </p:nvGrpSpPr>
            <p:grpSpPr>
              <a:xfrm>
                <a:off x="17592675" y="1933575"/>
                <a:ext cx="257175" cy="209550"/>
                <a:chOff x="17592675" y="1933575"/>
                <a:chExt cx="257175" cy="209550"/>
              </a:xfrm>
            </p:grpSpPr>
            <p:sp>
              <p:nvSpPr>
                <p:cNvPr id="574" name="obj0573 rect"/>
                <p:cNvSpPr/>
                <p:nvPr/>
              </p:nvSpPr>
              <p:spPr>
                <a:xfrm>
                  <a:off x="17592675" y="19335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5" name="obj0574 path"/>
                <p:cNvSpPr/>
                <p:nvPr/>
              </p:nvSpPr>
              <p:spPr>
                <a:xfrm>
                  <a:off x="17621250" y="19621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6" name="obj0575 poly"/>
                <p:cNvSpPr/>
                <p:nvPr/>
              </p:nvSpPr>
              <p:spPr>
                <a:xfrm>
                  <a:off x="17700688" y="19621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7" name="obj0576 poly"/>
                <p:cNvSpPr/>
                <p:nvPr/>
              </p:nvSpPr>
              <p:spPr>
                <a:xfrm>
                  <a:off x="17732788" y="19621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78" name="obj0577 rect"/>
              <p:cNvSpPr/>
              <p:nvPr/>
            </p:nvSpPr>
            <p:spPr>
              <a:xfrm>
                <a:off x="17040225" y="10191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obj0578 rect"/>
              <p:cNvSpPr/>
              <p:nvPr/>
            </p:nvSpPr>
            <p:spPr>
              <a:xfrm>
                <a:off x="17240250" y="13620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obj0579 rect"/>
              <p:cNvSpPr/>
              <p:nvPr/>
            </p:nvSpPr>
            <p:spPr>
              <a:xfrm>
                <a:off x="17411700" y="1676400"/>
                <a:ext cx="123825" cy="4572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1" name="Label — small ansatz"/>
            <p:cNvGrpSpPr/>
            <p:nvPr/>
          </p:nvGrpSpPr>
          <p:grpSpPr>
            <a:xfrm>
              <a:off x="15449550" y="1314450"/>
              <a:ext cx="2657475" cy="1152525"/>
              <a:chOff x="15449550" y="1314450"/>
              <a:chExt cx="2657475" cy="1152525"/>
            </a:xfrm>
          </p:grpSpPr>
          <p:sp>
            <p:nvSpPr>
              <p:cNvPr id="582" name="obj0581 rect"/>
              <p:cNvSpPr/>
              <p:nvPr/>
            </p:nvSpPr>
            <p:spPr>
              <a:xfrm>
                <a:off x="15544800" y="1447800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obj0582 rect"/>
              <p:cNvSpPr/>
              <p:nvPr/>
            </p:nvSpPr>
            <p:spPr>
              <a:xfrm>
                <a:off x="15449550" y="1314450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84" name="Qubit input |0⟩"/>
              <p:cNvGrpSpPr/>
              <p:nvPr/>
            </p:nvGrpSpPr>
            <p:grpSpPr>
              <a:xfrm>
                <a:off x="15563850" y="1411986"/>
                <a:ext cx="157386" cy="201168"/>
                <a:chOff x="15563850" y="1411986"/>
                <a:chExt cx="157386" cy="201168"/>
              </a:xfrm>
            </p:grpSpPr>
            <p:sp>
              <p:nvSpPr>
                <p:cNvPr id="585" name="Text: |0"/>
                <p:cNvSpPr txBox="1"/>
                <p:nvPr/>
              </p:nvSpPr>
              <p:spPr>
                <a:xfrm>
                  <a:off x="15563850" y="14119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586" name="obj0585 poly"/>
                <p:cNvSpPr/>
                <p:nvPr/>
              </p:nvSpPr>
              <p:spPr>
                <a:xfrm>
                  <a:off x="15687675" y="14478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87" name="obj0586 poly"/>
              <p:cNvSpPr/>
              <p:nvPr/>
            </p:nvSpPr>
            <p:spPr>
              <a:xfrm>
                <a:off x="15849600" y="151447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obj0587 poly"/>
              <p:cNvSpPr/>
              <p:nvPr/>
            </p:nvSpPr>
            <p:spPr>
              <a:xfrm>
                <a:off x="15916275" y="13811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obj0588 poly"/>
              <p:cNvSpPr/>
              <p:nvPr/>
            </p:nvSpPr>
            <p:spPr>
              <a:xfrm>
                <a:off x="16287750" y="13811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obj0589 ellipse"/>
              <p:cNvSpPr/>
              <p:nvPr/>
            </p:nvSpPr>
            <p:spPr>
              <a:xfrm>
                <a:off x="16649700" y="13811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591" name="Measurement"/>
              <p:cNvGrpSpPr/>
              <p:nvPr/>
            </p:nvGrpSpPr>
            <p:grpSpPr>
              <a:xfrm>
                <a:off x="17630775" y="1400175"/>
                <a:ext cx="257175" cy="209550"/>
                <a:chOff x="17630775" y="1400175"/>
                <a:chExt cx="257175" cy="209550"/>
              </a:xfrm>
            </p:grpSpPr>
            <p:sp>
              <p:nvSpPr>
                <p:cNvPr id="592" name="obj0591 rect"/>
                <p:cNvSpPr/>
                <p:nvPr/>
              </p:nvSpPr>
              <p:spPr>
                <a:xfrm>
                  <a:off x="17630775" y="14001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3" name="obj0592 path"/>
                <p:cNvSpPr/>
                <p:nvPr/>
              </p:nvSpPr>
              <p:spPr>
                <a:xfrm>
                  <a:off x="17659350" y="14287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4" name="obj0593 poly"/>
                <p:cNvSpPr/>
                <p:nvPr/>
              </p:nvSpPr>
              <p:spPr>
                <a:xfrm>
                  <a:off x="17738788" y="14287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5" name="obj0594 poly"/>
                <p:cNvSpPr/>
                <p:nvPr/>
              </p:nvSpPr>
              <p:spPr>
                <a:xfrm>
                  <a:off x="17770888" y="14287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96" name="Qubit input |0⟩"/>
              <p:cNvGrpSpPr/>
              <p:nvPr/>
            </p:nvGrpSpPr>
            <p:grpSpPr>
              <a:xfrm>
                <a:off x="15563850" y="1726311"/>
                <a:ext cx="157386" cy="201168"/>
                <a:chOff x="15563850" y="1726311"/>
                <a:chExt cx="157386" cy="201168"/>
              </a:xfrm>
            </p:grpSpPr>
            <p:sp>
              <p:nvSpPr>
                <p:cNvPr id="597" name="Text: |0"/>
                <p:cNvSpPr txBox="1"/>
                <p:nvPr/>
              </p:nvSpPr>
              <p:spPr>
                <a:xfrm>
                  <a:off x="15563850" y="17263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598" name="obj0597 poly"/>
                <p:cNvSpPr/>
                <p:nvPr/>
              </p:nvSpPr>
              <p:spPr>
                <a:xfrm>
                  <a:off x="15687675" y="17621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99" name="obj0598 poly"/>
              <p:cNvSpPr/>
              <p:nvPr/>
            </p:nvSpPr>
            <p:spPr>
              <a:xfrm>
                <a:off x="15849600" y="182880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" name="obj0599 poly"/>
              <p:cNvSpPr/>
              <p:nvPr/>
            </p:nvSpPr>
            <p:spPr>
              <a:xfrm>
                <a:off x="15916275" y="1695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" name="obj0600 poly"/>
              <p:cNvSpPr/>
              <p:nvPr/>
            </p:nvSpPr>
            <p:spPr>
              <a:xfrm>
                <a:off x="16287750" y="1695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" name="obj0601 ellipse"/>
              <p:cNvSpPr/>
              <p:nvPr/>
            </p:nvSpPr>
            <p:spPr>
              <a:xfrm>
                <a:off x="16649700" y="169545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03" name="Measurement"/>
              <p:cNvGrpSpPr/>
              <p:nvPr/>
            </p:nvGrpSpPr>
            <p:grpSpPr>
              <a:xfrm>
                <a:off x="17630775" y="1714500"/>
                <a:ext cx="257175" cy="209550"/>
                <a:chOff x="17630775" y="1714500"/>
                <a:chExt cx="257175" cy="209550"/>
              </a:xfrm>
            </p:grpSpPr>
            <p:sp>
              <p:nvSpPr>
                <p:cNvPr id="604" name="obj0603 rect"/>
                <p:cNvSpPr/>
                <p:nvPr/>
              </p:nvSpPr>
              <p:spPr>
                <a:xfrm>
                  <a:off x="17630775" y="17145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5" name="obj0604 path"/>
                <p:cNvSpPr/>
                <p:nvPr/>
              </p:nvSpPr>
              <p:spPr>
                <a:xfrm>
                  <a:off x="17659350" y="17430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6" name="obj0605 poly"/>
                <p:cNvSpPr/>
                <p:nvPr/>
              </p:nvSpPr>
              <p:spPr>
                <a:xfrm>
                  <a:off x="17738788" y="17430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7" name="obj0606 poly"/>
                <p:cNvSpPr/>
                <p:nvPr/>
              </p:nvSpPr>
              <p:spPr>
                <a:xfrm>
                  <a:off x="17770888" y="17430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08" name="Qubit input |0⟩"/>
              <p:cNvGrpSpPr/>
              <p:nvPr/>
            </p:nvGrpSpPr>
            <p:grpSpPr>
              <a:xfrm>
                <a:off x="15563850" y="2050161"/>
                <a:ext cx="157386" cy="201168"/>
                <a:chOff x="15563850" y="2050161"/>
                <a:chExt cx="157386" cy="201168"/>
              </a:xfrm>
            </p:grpSpPr>
            <p:sp>
              <p:nvSpPr>
                <p:cNvPr id="609" name="Text: |0"/>
                <p:cNvSpPr txBox="1"/>
                <p:nvPr/>
              </p:nvSpPr>
              <p:spPr>
                <a:xfrm>
                  <a:off x="15563850" y="20501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610" name="obj0609 poly"/>
                <p:cNvSpPr/>
                <p:nvPr/>
              </p:nvSpPr>
              <p:spPr>
                <a:xfrm>
                  <a:off x="15687675" y="20859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11" name="obj0610 poly"/>
              <p:cNvSpPr/>
              <p:nvPr/>
            </p:nvSpPr>
            <p:spPr>
              <a:xfrm>
                <a:off x="15849600" y="215265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obj0611 poly"/>
              <p:cNvSpPr/>
              <p:nvPr/>
            </p:nvSpPr>
            <p:spPr>
              <a:xfrm>
                <a:off x="15916275" y="2019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obj0612 poly"/>
              <p:cNvSpPr/>
              <p:nvPr/>
            </p:nvSpPr>
            <p:spPr>
              <a:xfrm>
                <a:off x="16287750" y="2019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obj0613 ellipse"/>
              <p:cNvSpPr/>
              <p:nvPr/>
            </p:nvSpPr>
            <p:spPr>
              <a:xfrm>
                <a:off x="16649700" y="20193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15" name="Measurement"/>
              <p:cNvGrpSpPr/>
              <p:nvPr/>
            </p:nvGrpSpPr>
            <p:grpSpPr>
              <a:xfrm>
                <a:off x="17630775" y="2038350"/>
                <a:ext cx="257175" cy="209550"/>
                <a:chOff x="17630775" y="2038350"/>
                <a:chExt cx="257175" cy="209550"/>
              </a:xfrm>
            </p:grpSpPr>
            <p:sp>
              <p:nvSpPr>
                <p:cNvPr id="616" name="obj0615 rect"/>
                <p:cNvSpPr/>
                <p:nvPr/>
              </p:nvSpPr>
              <p:spPr>
                <a:xfrm>
                  <a:off x="17630775" y="20383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7" name="obj0616 path"/>
                <p:cNvSpPr/>
                <p:nvPr/>
              </p:nvSpPr>
              <p:spPr>
                <a:xfrm>
                  <a:off x="17659350" y="20669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8" name="obj0617 poly"/>
                <p:cNvSpPr/>
                <p:nvPr/>
              </p:nvSpPr>
              <p:spPr>
                <a:xfrm>
                  <a:off x="17738788" y="20669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9" name="obj0618 poly"/>
                <p:cNvSpPr/>
                <p:nvPr/>
              </p:nvSpPr>
              <p:spPr>
                <a:xfrm>
                  <a:off x="17770888" y="20669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20" name="obj0619 rect"/>
              <p:cNvSpPr/>
              <p:nvPr/>
            </p:nvSpPr>
            <p:spPr>
              <a:xfrm>
                <a:off x="17011650" y="144780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obj0620 rect"/>
              <p:cNvSpPr/>
              <p:nvPr/>
            </p:nvSpPr>
            <p:spPr>
              <a:xfrm>
                <a:off x="17211675" y="17811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22" name="Text: Training Dataset: Label"/>
            <p:cNvSpPr txBox="1"/>
            <p:nvPr/>
          </p:nvSpPr>
          <p:spPr>
            <a:xfrm>
              <a:off x="14830425" y="2490168"/>
              <a:ext cx="2866147" cy="364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5" b="1" i="0">
                  <a:solidFill>
                    <a:srgbClr val="000000"/>
                  </a:solidFill>
                  <a:latin typeface="Times New Roman"/>
                </a:rPr>
                <a:t>Training Dataset: Label</a:t>
              </a:r>
            </a:p>
          </p:txBody>
        </p:sp>
      </p:grpSp>
      <p:grpSp>
        <p:nvGrpSpPr>
          <p:cNvPr id="623" name="(b) ResNet-18 Based Model Training"/>
          <p:cNvGrpSpPr/>
          <p:nvPr/>
        </p:nvGrpSpPr>
        <p:grpSpPr>
          <a:xfrm>
            <a:off x="123825" y="2971800"/>
            <a:ext cx="7396810" cy="5581650"/>
            <a:chOff x="123825" y="2971800"/>
            <a:chExt cx="7396810" cy="5581650"/>
          </a:xfrm>
        </p:grpSpPr>
        <p:sp>
          <p:nvSpPr>
            <p:cNvPr id="624" name="obj0623 rect"/>
            <p:cNvSpPr/>
            <p:nvPr/>
          </p:nvSpPr>
          <p:spPr>
            <a:xfrm>
              <a:off x="123825" y="2971800"/>
              <a:ext cx="7286625" cy="5581650"/>
            </a:xfrm>
            <a:prstGeom prst="rect">
              <a:avLst/>
            </a:prstGeom>
            <a:noFill/>
            <a:ln w="47625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625" name="Training label — large ansatz"/>
            <p:cNvGrpSpPr/>
            <p:nvPr/>
          </p:nvGrpSpPr>
          <p:grpSpPr>
            <a:xfrm>
              <a:off x="390525" y="3095625"/>
              <a:ext cx="3895725" cy="1962150"/>
              <a:chOff x="390525" y="3095625"/>
              <a:chExt cx="3895725" cy="1962150"/>
            </a:xfrm>
          </p:grpSpPr>
          <p:sp>
            <p:nvSpPr>
              <p:cNvPr id="626" name="obj0625 rect"/>
              <p:cNvSpPr/>
              <p:nvPr/>
            </p:nvSpPr>
            <p:spPr>
              <a:xfrm>
                <a:off x="485775" y="3228975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obj0626 rect"/>
              <p:cNvSpPr/>
              <p:nvPr/>
            </p:nvSpPr>
            <p:spPr>
              <a:xfrm>
                <a:off x="390525" y="3095625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28" name="Qubit input |0⟩"/>
              <p:cNvGrpSpPr/>
              <p:nvPr/>
            </p:nvGrpSpPr>
            <p:grpSpPr>
              <a:xfrm>
                <a:off x="504825" y="3193161"/>
                <a:ext cx="157386" cy="201168"/>
                <a:chOff x="504825" y="3193161"/>
                <a:chExt cx="157386" cy="201168"/>
              </a:xfrm>
            </p:grpSpPr>
            <p:sp>
              <p:nvSpPr>
                <p:cNvPr id="629" name="Text: |0"/>
                <p:cNvSpPr txBox="1"/>
                <p:nvPr/>
              </p:nvSpPr>
              <p:spPr>
                <a:xfrm>
                  <a:off x="504825" y="31931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630" name="obj0629 poly"/>
                <p:cNvSpPr/>
                <p:nvPr/>
              </p:nvSpPr>
              <p:spPr>
                <a:xfrm>
                  <a:off x="628650" y="32289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31" name="obj0630 poly"/>
              <p:cNvSpPr/>
              <p:nvPr/>
            </p:nvSpPr>
            <p:spPr>
              <a:xfrm>
                <a:off x="790575" y="32956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obj0631 poly"/>
              <p:cNvSpPr/>
              <p:nvPr/>
            </p:nvSpPr>
            <p:spPr>
              <a:xfrm>
                <a:off x="857250" y="316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obj0632 poly"/>
              <p:cNvSpPr/>
              <p:nvPr/>
            </p:nvSpPr>
            <p:spPr>
              <a:xfrm>
                <a:off x="1228725" y="316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obj0633 ellipse"/>
              <p:cNvSpPr/>
              <p:nvPr/>
            </p:nvSpPr>
            <p:spPr>
              <a:xfrm>
                <a:off x="1590675" y="31623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obj0634 poly"/>
              <p:cNvSpPr/>
              <p:nvPr/>
            </p:nvSpPr>
            <p:spPr>
              <a:xfrm>
                <a:off x="1924050" y="316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" name="obj0635 poly"/>
              <p:cNvSpPr/>
              <p:nvPr/>
            </p:nvSpPr>
            <p:spPr>
              <a:xfrm>
                <a:off x="2495550" y="316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" name="obj0636 ellipse"/>
              <p:cNvSpPr/>
              <p:nvPr/>
            </p:nvSpPr>
            <p:spPr>
              <a:xfrm>
                <a:off x="2828925" y="316230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38" name="Measurement"/>
              <p:cNvGrpSpPr/>
              <p:nvPr/>
            </p:nvGrpSpPr>
            <p:grpSpPr>
              <a:xfrm>
                <a:off x="3810000" y="3181350"/>
                <a:ext cx="257175" cy="209550"/>
                <a:chOff x="3810000" y="3181350"/>
                <a:chExt cx="257175" cy="209550"/>
              </a:xfrm>
            </p:grpSpPr>
            <p:sp>
              <p:nvSpPr>
                <p:cNvPr id="639" name="obj0638 rect"/>
                <p:cNvSpPr/>
                <p:nvPr/>
              </p:nvSpPr>
              <p:spPr>
                <a:xfrm>
                  <a:off x="3810000" y="31813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40" name="obj0639 path"/>
                <p:cNvSpPr/>
                <p:nvPr/>
              </p:nvSpPr>
              <p:spPr>
                <a:xfrm>
                  <a:off x="3838575" y="32099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41" name="obj0640 poly"/>
                <p:cNvSpPr/>
                <p:nvPr/>
              </p:nvSpPr>
              <p:spPr>
                <a:xfrm>
                  <a:off x="3918013" y="32099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42" name="obj0641 poly"/>
                <p:cNvSpPr/>
                <p:nvPr/>
              </p:nvSpPr>
              <p:spPr>
                <a:xfrm>
                  <a:off x="3950113" y="32099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43" name="Qubit input |0⟩"/>
              <p:cNvGrpSpPr/>
              <p:nvPr/>
            </p:nvGrpSpPr>
            <p:grpSpPr>
              <a:xfrm>
                <a:off x="504825" y="3517011"/>
                <a:ext cx="157386" cy="201168"/>
                <a:chOff x="504825" y="3517011"/>
                <a:chExt cx="157386" cy="201168"/>
              </a:xfrm>
            </p:grpSpPr>
            <p:sp>
              <p:nvSpPr>
                <p:cNvPr id="644" name="Text: |0"/>
                <p:cNvSpPr txBox="1"/>
                <p:nvPr/>
              </p:nvSpPr>
              <p:spPr>
                <a:xfrm>
                  <a:off x="504825" y="35170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645" name="obj0644 poly"/>
                <p:cNvSpPr/>
                <p:nvPr/>
              </p:nvSpPr>
              <p:spPr>
                <a:xfrm>
                  <a:off x="628650" y="35528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46" name="obj0645 poly"/>
              <p:cNvSpPr/>
              <p:nvPr/>
            </p:nvSpPr>
            <p:spPr>
              <a:xfrm>
                <a:off x="790575" y="361950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obj0646 poly"/>
              <p:cNvSpPr/>
              <p:nvPr/>
            </p:nvSpPr>
            <p:spPr>
              <a:xfrm>
                <a:off x="857250" y="3486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obj0647 poly"/>
              <p:cNvSpPr/>
              <p:nvPr/>
            </p:nvSpPr>
            <p:spPr>
              <a:xfrm>
                <a:off x="1228725" y="3486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obj0648 ellipse"/>
              <p:cNvSpPr/>
              <p:nvPr/>
            </p:nvSpPr>
            <p:spPr>
              <a:xfrm>
                <a:off x="1590675" y="348615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obj0649 poly"/>
              <p:cNvSpPr/>
              <p:nvPr/>
            </p:nvSpPr>
            <p:spPr>
              <a:xfrm>
                <a:off x="1924050" y="3486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obj0650 poly"/>
              <p:cNvSpPr/>
              <p:nvPr/>
            </p:nvSpPr>
            <p:spPr>
              <a:xfrm>
                <a:off x="2495550" y="3486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obj0651 ellipse"/>
              <p:cNvSpPr/>
              <p:nvPr/>
            </p:nvSpPr>
            <p:spPr>
              <a:xfrm>
                <a:off x="2828925" y="34861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53" name="Measurement"/>
              <p:cNvGrpSpPr/>
              <p:nvPr/>
            </p:nvGrpSpPr>
            <p:grpSpPr>
              <a:xfrm>
                <a:off x="3810000" y="3505200"/>
                <a:ext cx="257175" cy="209550"/>
                <a:chOff x="3810000" y="3505200"/>
                <a:chExt cx="257175" cy="209550"/>
              </a:xfrm>
            </p:grpSpPr>
            <p:sp>
              <p:nvSpPr>
                <p:cNvPr id="654" name="obj0653 rect"/>
                <p:cNvSpPr/>
                <p:nvPr/>
              </p:nvSpPr>
              <p:spPr>
                <a:xfrm>
                  <a:off x="3810000" y="35052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55" name="obj0654 path"/>
                <p:cNvSpPr/>
                <p:nvPr/>
              </p:nvSpPr>
              <p:spPr>
                <a:xfrm>
                  <a:off x="3838575" y="35337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56" name="obj0655 poly"/>
                <p:cNvSpPr/>
                <p:nvPr/>
              </p:nvSpPr>
              <p:spPr>
                <a:xfrm>
                  <a:off x="3918013" y="35337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57" name="obj0656 poly"/>
                <p:cNvSpPr/>
                <p:nvPr/>
              </p:nvSpPr>
              <p:spPr>
                <a:xfrm>
                  <a:off x="3950113" y="35337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58" name="Qubit input |0⟩"/>
              <p:cNvGrpSpPr/>
              <p:nvPr/>
            </p:nvGrpSpPr>
            <p:grpSpPr>
              <a:xfrm>
                <a:off x="504825" y="3831336"/>
                <a:ext cx="157386" cy="201168"/>
                <a:chOff x="504825" y="3831336"/>
                <a:chExt cx="157386" cy="201168"/>
              </a:xfrm>
            </p:grpSpPr>
            <p:sp>
              <p:nvSpPr>
                <p:cNvPr id="659" name="Text: |0"/>
                <p:cNvSpPr txBox="1"/>
                <p:nvPr/>
              </p:nvSpPr>
              <p:spPr>
                <a:xfrm>
                  <a:off x="504825" y="38313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660" name="obj0659 poly"/>
                <p:cNvSpPr/>
                <p:nvPr/>
              </p:nvSpPr>
              <p:spPr>
                <a:xfrm>
                  <a:off x="628650" y="38671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61" name="obj0660 poly"/>
              <p:cNvSpPr/>
              <p:nvPr/>
            </p:nvSpPr>
            <p:spPr>
              <a:xfrm>
                <a:off x="790575" y="393382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obj0661 poly"/>
              <p:cNvSpPr/>
              <p:nvPr/>
            </p:nvSpPr>
            <p:spPr>
              <a:xfrm>
                <a:off x="857250" y="3800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obj0662 poly"/>
              <p:cNvSpPr/>
              <p:nvPr/>
            </p:nvSpPr>
            <p:spPr>
              <a:xfrm>
                <a:off x="1228725" y="3800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obj0663 ellipse"/>
              <p:cNvSpPr/>
              <p:nvPr/>
            </p:nvSpPr>
            <p:spPr>
              <a:xfrm>
                <a:off x="1590675" y="38004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obj0664 poly"/>
              <p:cNvSpPr/>
              <p:nvPr/>
            </p:nvSpPr>
            <p:spPr>
              <a:xfrm>
                <a:off x="1924050" y="3800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obj0665 poly"/>
              <p:cNvSpPr/>
              <p:nvPr/>
            </p:nvSpPr>
            <p:spPr>
              <a:xfrm>
                <a:off x="2495550" y="3800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obj0666 ellipse"/>
              <p:cNvSpPr/>
              <p:nvPr/>
            </p:nvSpPr>
            <p:spPr>
              <a:xfrm>
                <a:off x="2828925" y="38004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68" name="Measurement"/>
              <p:cNvGrpSpPr/>
              <p:nvPr/>
            </p:nvGrpSpPr>
            <p:grpSpPr>
              <a:xfrm>
                <a:off x="3810000" y="3819525"/>
                <a:ext cx="257175" cy="209550"/>
                <a:chOff x="3810000" y="3819525"/>
                <a:chExt cx="257175" cy="209550"/>
              </a:xfrm>
            </p:grpSpPr>
            <p:sp>
              <p:nvSpPr>
                <p:cNvPr id="669" name="obj0668 rect"/>
                <p:cNvSpPr/>
                <p:nvPr/>
              </p:nvSpPr>
              <p:spPr>
                <a:xfrm>
                  <a:off x="3810000" y="38195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0" name="obj0669 path"/>
                <p:cNvSpPr/>
                <p:nvPr/>
              </p:nvSpPr>
              <p:spPr>
                <a:xfrm>
                  <a:off x="3838575" y="38481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1" name="obj0670 poly"/>
                <p:cNvSpPr/>
                <p:nvPr/>
              </p:nvSpPr>
              <p:spPr>
                <a:xfrm>
                  <a:off x="3918013" y="38481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2" name="obj0671 poly"/>
                <p:cNvSpPr/>
                <p:nvPr/>
              </p:nvSpPr>
              <p:spPr>
                <a:xfrm>
                  <a:off x="3950113" y="38481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73" name="Qubit input |0⟩"/>
              <p:cNvGrpSpPr/>
              <p:nvPr/>
            </p:nvGrpSpPr>
            <p:grpSpPr>
              <a:xfrm>
                <a:off x="504825" y="4307586"/>
                <a:ext cx="157386" cy="201168"/>
                <a:chOff x="504825" y="4307586"/>
                <a:chExt cx="157386" cy="201168"/>
              </a:xfrm>
            </p:grpSpPr>
            <p:sp>
              <p:nvSpPr>
                <p:cNvPr id="674" name="Text: |0"/>
                <p:cNvSpPr txBox="1"/>
                <p:nvPr/>
              </p:nvSpPr>
              <p:spPr>
                <a:xfrm>
                  <a:off x="504825" y="43075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675" name="obj0674 poly"/>
                <p:cNvSpPr/>
                <p:nvPr/>
              </p:nvSpPr>
              <p:spPr>
                <a:xfrm>
                  <a:off x="628650" y="43434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76" name="obj0675 poly"/>
              <p:cNvSpPr/>
              <p:nvPr/>
            </p:nvSpPr>
            <p:spPr>
              <a:xfrm>
                <a:off x="790575" y="44100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obj0676 poly"/>
              <p:cNvSpPr/>
              <p:nvPr/>
            </p:nvSpPr>
            <p:spPr>
              <a:xfrm>
                <a:off x="857250" y="4276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obj0677 poly"/>
              <p:cNvSpPr/>
              <p:nvPr/>
            </p:nvSpPr>
            <p:spPr>
              <a:xfrm>
                <a:off x="1228725" y="4276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obj0678 ellipse"/>
              <p:cNvSpPr/>
              <p:nvPr/>
            </p:nvSpPr>
            <p:spPr>
              <a:xfrm>
                <a:off x="1590675" y="42767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obj0679 poly"/>
              <p:cNvSpPr/>
              <p:nvPr/>
            </p:nvSpPr>
            <p:spPr>
              <a:xfrm>
                <a:off x="1924050" y="4276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obj0680 poly"/>
              <p:cNvSpPr/>
              <p:nvPr/>
            </p:nvSpPr>
            <p:spPr>
              <a:xfrm>
                <a:off x="2495550" y="4276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obj0681 ellipse"/>
              <p:cNvSpPr/>
              <p:nvPr/>
            </p:nvSpPr>
            <p:spPr>
              <a:xfrm>
                <a:off x="2828925" y="42767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83" name="Measurement"/>
              <p:cNvGrpSpPr/>
              <p:nvPr/>
            </p:nvGrpSpPr>
            <p:grpSpPr>
              <a:xfrm>
                <a:off x="3810000" y="4295775"/>
                <a:ext cx="257175" cy="209550"/>
                <a:chOff x="3810000" y="4295775"/>
                <a:chExt cx="257175" cy="209550"/>
              </a:xfrm>
            </p:grpSpPr>
            <p:sp>
              <p:nvSpPr>
                <p:cNvPr id="684" name="obj0683 rect"/>
                <p:cNvSpPr/>
                <p:nvPr/>
              </p:nvSpPr>
              <p:spPr>
                <a:xfrm>
                  <a:off x="3810000" y="42957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5" name="obj0684 path"/>
                <p:cNvSpPr/>
                <p:nvPr/>
              </p:nvSpPr>
              <p:spPr>
                <a:xfrm>
                  <a:off x="3838575" y="43243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6" name="obj0685 poly"/>
                <p:cNvSpPr/>
                <p:nvPr/>
              </p:nvSpPr>
              <p:spPr>
                <a:xfrm>
                  <a:off x="3918013" y="43243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7" name="obj0686 poly"/>
                <p:cNvSpPr/>
                <p:nvPr/>
              </p:nvSpPr>
              <p:spPr>
                <a:xfrm>
                  <a:off x="3950113" y="43243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88" name="Qubit input |0⟩"/>
              <p:cNvGrpSpPr/>
              <p:nvPr/>
            </p:nvGrpSpPr>
            <p:grpSpPr>
              <a:xfrm>
                <a:off x="504825" y="4621911"/>
                <a:ext cx="157386" cy="201168"/>
                <a:chOff x="504825" y="4621911"/>
                <a:chExt cx="157386" cy="201168"/>
              </a:xfrm>
            </p:grpSpPr>
            <p:sp>
              <p:nvSpPr>
                <p:cNvPr id="689" name="Text: |0"/>
                <p:cNvSpPr txBox="1"/>
                <p:nvPr/>
              </p:nvSpPr>
              <p:spPr>
                <a:xfrm>
                  <a:off x="504825" y="46219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690" name="obj0689 poly"/>
                <p:cNvSpPr/>
                <p:nvPr/>
              </p:nvSpPr>
              <p:spPr>
                <a:xfrm>
                  <a:off x="628650" y="46577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91" name="obj0690 poly"/>
              <p:cNvSpPr/>
              <p:nvPr/>
            </p:nvSpPr>
            <p:spPr>
              <a:xfrm>
                <a:off x="790575" y="472440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obj0691 poly"/>
              <p:cNvSpPr/>
              <p:nvPr/>
            </p:nvSpPr>
            <p:spPr>
              <a:xfrm>
                <a:off x="857250" y="4591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obj0692 poly"/>
              <p:cNvSpPr/>
              <p:nvPr/>
            </p:nvSpPr>
            <p:spPr>
              <a:xfrm>
                <a:off x="1228725" y="4591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obj0693 ellipse"/>
              <p:cNvSpPr/>
              <p:nvPr/>
            </p:nvSpPr>
            <p:spPr>
              <a:xfrm>
                <a:off x="1590675" y="45910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obj0694 poly"/>
              <p:cNvSpPr/>
              <p:nvPr/>
            </p:nvSpPr>
            <p:spPr>
              <a:xfrm>
                <a:off x="1924050" y="4591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obj0695 poly"/>
              <p:cNvSpPr/>
              <p:nvPr/>
            </p:nvSpPr>
            <p:spPr>
              <a:xfrm>
                <a:off x="2495550" y="4591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obj0696 ellipse"/>
              <p:cNvSpPr/>
              <p:nvPr/>
            </p:nvSpPr>
            <p:spPr>
              <a:xfrm>
                <a:off x="2828925" y="45910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98" name="Measurement"/>
              <p:cNvGrpSpPr/>
              <p:nvPr/>
            </p:nvGrpSpPr>
            <p:grpSpPr>
              <a:xfrm>
                <a:off x="3810000" y="4610100"/>
                <a:ext cx="257175" cy="209550"/>
                <a:chOff x="3810000" y="4610100"/>
                <a:chExt cx="257175" cy="209550"/>
              </a:xfrm>
            </p:grpSpPr>
            <p:sp>
              <p:nvSpPr>
                <p:cNvPr id="699" name="obj0698 rect"/>
                <p:cNvSpPr/>
                <p:nvPr/>
              </p:nvSpPr>
              <p:spPr>
                <a:xfrm>
                  <a:off x="3810000" y="46101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0" name="obj0699 path"/>
                <p:cNvSpPr/>
                <p:nvPr/>
              </p:nvSpPr>
              <p:spPr>
                <a:xfrm>
                  <a:off x="3838575" y="46386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1" name="obj0700 poly"/>
                <p:cNvSpPr/>
                <p:nvPr/>
              </p:nvSpPr>
              <p:spPr>
                <a:xfrm>
                  <a:off x="3918013" y="46386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2" name="obj0701 poly"/>
                <p:cNvSpPr/>
                <p:nvPr/>
              </p:nvSpPr>
              <p:spPr>
                <a:xfrm>
                  <a:off x="3950113" y="46386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03" name="obj0702 ellipse"/>
              <p:cNvSpPr/>
              <p:nvPr/>
            </p:nvSpPr>
            <p:spPr>
              <a:xfrm>
                <a:off x="572929" y="40971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obj0703 ellipse"/>
              <p:cNvSpPr/>
              <p:nvPr/>
            </p:nvSpPr>
            <p:spPr>
              <a:xfrm>
                <a:off x="572929" y="4154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obj0704 ellipse"/>
              <p:cNvSpPr/>
              <p:nvPr/>
            </p:nvSpPr>
            <p:spPr>
              <a:xfrm>
                <a:off x="572929" y="42114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obj0705 ellipse"/>
              <p:cNvSpPr/>
              <p:nvPr/>
            </p:nvSpPr>
            <p:spPr>
              <a:xfrm>
                <a:off x="2335054" y="40971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obj0706 ellipse"/>
              <p:cNvSpPr/>
              <p:nvPr/>
            </p:nvSpPr>
            <p:spPr>
              <a:xfrm>
                <a:off x="2335054" y="4154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obj0707 ellipse"/>
              <p:cNvSpPr/>
              <p:nvPr/>
            </p:nvSpPr>
            <p:spPr>
              <a:xfrm>
                <a:off x="2335054" y="42114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obj0708 ellipse"/>
              <p:cNvSpPr/>
              <p:nvPr/>
            </p:nvSpPr>
            <p:spPr>
              <a:xfrm>
                <a:off x="3935254" y="40971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obj0709 ellipse"/>
              <p:cNvSpPr/>
              <p:nvPr/>
            </p:nvSpPr>
            <p:spPr>
              <a:xfrm>
                <a:off x="3935254" y="4154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obj0710 ellipse"/>
              <p:cNvSpPr/>
              <p:nvPr/>
            </p:nvSpPr>
            <p:spPr>
              <a:xfrm>
                <a:off x="3935254" y="42114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obj0711 rect"/>
              <p:cNvSpPr/>
              <p:nvPr/>
            </p:nvSpPr>
            <p:spPr>
              <a:xfrm>
                <a:off x="3200400" y="3228975"/>
                <a:ext cx="123825" cy="4191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obj0712 rect"/>
              <p:cNvSpPr/>
              <p:nvPr/>
            </p:nvSpPr>
            <p:spPr>
              <a:xfrm>
                <a:off x="3400425" y="35623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obj0713 rect"/>
              <p:cNvSpPr/>
              <p:nvPr/>
            </p:nvSpPr>
            <p:spPr>
              <a:xfrm>
                <a:off x="3571875" y="4362450"/>
                <a:ext cx="123825" cy="43815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15" name="Training label — middle ansatz"/>
            <p:cNvGrpSpPr/>
            <p:nvPr/>
          </p:nvGrpSpPr>
          <p:grpSpPr>
            <a:xfrm>
              <a:off x="1952625" y="3171825"/>
              <a:ext cx="3505200" cy="1514475"/>
              <a:chOff x="1952625" y="3171825"/>
              <a:chExt cx="3505200" cy="1514475"/>
            </a:xfrm>
          </p:grpSpPr>
          <p:sp>
            <p:nvSpPr>
              <p:cNvPr id="716" name="obj0715 rect"/>
              <p:cNvSpPr/>
              <p:nvPr/>
            </p:nvSpPr>
            <p:spPr>
              <a:xfrm>
                <a:off x="2047875" y="3305175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obj0716 rect"/>
              <p:cNvSpPr/>
              <p:nvPr/>
            </p:nvSpPr>
            <p:spPr>
              <a:xfrm>
                <a:off x="1952625" y="3171825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18" name="Qubit input |0⟩"/>
              <p:cNvGrpSpPr/>
              <p:nvPr/>
            </p:nvGrpSpPr>
            <p:grpSpPr>
              <a:xfrm>
                <a:off x="2066925" y="3259836"/>
                <a:ext cx="157386" cy="201168"/>
                <a:chOff x="2066925" y="3259836"/>
                <a:chExt cx="157386" cy="201168"/>
              </a:xfrm>
            </p:grpSpPr>
            <p:sp>
              <p:nvSpPr>
                <p:cNvPr id="719" name="Text: |0"/>
                <p:cNvSpPr txBox="1"/>
                <p:nvPr/>
              </p:nvSpPr>
              <p:spPr>
                <a:xfrm>
                  <a:off x="2066925" y="32598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720" name="obj0719 poly"/>
                <p:cNvSpPr/>
                <p:nvPr/>
              </p:nvSpPr>
              <p:spPr>
                <a:xfrm>
                  <a:off x="2190750" y="32956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21" name="obj0720 poly"/>
              <p:cNvSpPr/>
              <p:nvPr/>
            </p:nvSpPr>
            <p:spPr>
              <a:xfrm>
                <a:off x="2352675" y="336232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" name="obj0721 poly"/>
              <p:cNvSpPr/>
              <p:nvPr/>
            </p:nvSpPr>
            <p:spPr>
              <a:xfrm>
                <a:off x="2419350" y="32289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obj0722 poly"/>
              <p:cNvSpPr/>
              <p:nvPr/>
            </p:nvSpPr>
            <p:spPr>
              <a:xfrm>
                <a:off x="2790825" y="32289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obj0723 ellipse"/>
              <p:cNvSpPr/>
              <p:nvPr/>
            </p:nvSpPr>
            <p:spPr>
              <a:xfrm>
                <a:off x="3152775" y="322897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obj0724 poly"/>
              <p:cNvSpPr/>
              <p:nvPr/>
            </p:nvSpPr>
            <p:spPr>
              <a:xfrm>
                <a:off x="3486150" y="32289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obj0725 poly"/>
              <p:cNvSpPr/>
              <p:nvPr/>
            </p:nvSpPr>
            <p:spPr>
              <a:xfrm>
                <a:off x="4057650" y="32289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27" name="Measurement"/>
              <p:cNvGrpSpPr/>
              <p:nvPr/>
            </p:nvGrpSpPr>
            <p:grpSpPr>
              <a:xfrm>
                <a:off x="4981575" y="3248025"/>
                <a:ext cx="257175" cy="209550"/>
                <a:chOff x="4981575" y="3248025"/>
                <a:chExt cx="257175" cy="209550"/>
              </a:xfrm>
            </p:grpSpPr>
            <p:sp>
              <p:nvSpPr>
                <p:cNvPr id="728" name="obj0727 rect"/>
                <p:cNvSpPr/>
                <p:nvPr/>
              </p:nvSpPr>
              <p:spPr>
                <a:xfrm>
                  <a:off x="4981575" y="32480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9" name="obj0728 path"/>
                <p:cNvSpPr/>
                <p:nvPr/>
              </p:nvSpPr>
              <p:spPr>
                <a:xfrm>
                  <a:off x="5010150" y="32766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0" name="obj0729 poly"/>
                <p:cNvSpPr/>
                <p:nvPr/>
              </p:nvSpPr>
              <p:spPr>
                <a:xfrm>
                  <a:off x="5089588" y="32766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1" name="obj0730 poly"/>
                <p:cNvSpPr/>
                <p:nvPr/>
              </p:nvSpPr>
              <p:spPr>
                <a:xfrm>
                  <a:off x="5121688" y="32766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32" name="Qubit input |0⟩"/>
              <p:cNvGrpSpPr/>
              <p:nvPr/>
            </p:nvGrpSpPr>
            <p:grpSpPr>
              <a:xfrm>
                <a:off x="2066925" y="3583686"/>
                <a:ext cx="157386" cy="201168"/>
                <a:chOff x="2066925" y="3583686"/>
                <a:chExt cx="157386" cy="201168"/>
              </a:xfrm>
            </p:grpSpPr>
            <p:sp>
              <p:nvSpPr>
                <p:cNvPr id="733" name="Text: |0"/>
                <p:cNvSpPr txBox="1"/>
                <p:nvPr/>
              </p:nvSpPr>
              <p:spPr>
                <a:xfrm>
                  <a:off x="2066925" y="35836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734" name="obj0733 poly"/>
                <p:cNvSpPr/>
                <p:nvPr/>
              </p:nvSpPr>
              <p:spPr>
                <a:xfrm>
                  <a:off x="2190750" y="36195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35" name="obj0734 poly"/>
              <p:cNvSpPr/>
              <p:nvPr/>
            </p:nvSpPr>
            <p:spPr>
              <a:xfrm>
                <a:off x="2352675" y="368617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obj0735 poly"/>
              <p:cNvSpPr/>
              <p:nvPr/>
            </p:nvSpPr>
            <p:spPr>
              <a:xfrm>
                <a:off x="2419350" y="3552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" name="obj0736 poly"/>
              <p:cNvSpPr/>
              <p:nvPr/>
            </p:nvSpPr>
            <p:spPr>
              <a:xfrm>
                <a:off x="2790825" y="3552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" name="obj0737 ellipse"/>
              <p:cNvSpPr/>
              <p:nvPr/>
            </p:nvSpPr>
            <p:spPr>
              <a:xfrm>
                <a:off x="3152775" y="35528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" name="obj0738 poly"/>
              <p:cNvSpPr/>
              <p:nvPr/>
            </p:nvSpPr>
            <p:spPr>
              <a:xfrm>
                <a:off x="3486150" y="3552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" name="obj0739 poly"/>
              <p:cNvSpPr/>
              <p:nvPr/>
            </p:nvSpPr>
            <p:spPr>
              <a:xfrm>
                <a:off x="4057650" y="35528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41" name="Measurement"/>
              <p:cNvGrpSpPr/>
              <p:nvPr/>
            </p:nvGrpSpPr>
            <p:grpSpPr>
              <a:xfrm>
                <a:off x="4981575" y="3571875"/>
                <a:ext cx="257175" cy="209550"/>
                <a:chOff x="4981575" y="3571875"/>
                <a:chExt cx="257175" cy="209550"/>
              </a:xfrm>
            </p:grpSpPr>
            <p:sp>
              <p:nvSpPr>
                <p:cNvPr id="742" name="obj0741 rect"/>
                <p:cNvSpPr/>
                <p:nvPr/>
              </p:nvSpPr>
              <p:spPr>
                <a:xfrm>
                  <a:off x="4981575" y="35718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3" name="obj0742 path"/>
                <p:cNvSpPr/>
                <p:nvPr/>
              </p:nvSpPr>
              <p:spPr>
                <a:xfrm>
                  <a:off x="5010150" y="36004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4" name="obj0743 poly"/>
                <p:cNvSpPr/>
                <p:nvPr/>
              </p:nvSpPr>
              <p:spPr>
                <a:xfrm>
                  <a:off x="5089588" y="36004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5" name="obj0744 poly"/>
                <p:cNvSpPr/>
                <p:nvPr/>
              </p:nvSpPr>
              <p:spPr>
                <a:xfrm>
                  <a:off x="5121688" y="36004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46" name="Qubit input |0⟩"/>
              <p:cNvGrpSpPr/>
              <p:nvPr/>
            </p:nvGrpSpPr>
            <p:grpSpPr>
              <a:xfrm>
                <a:off x="2066925" y="3898011"/>
                <a:ext cx="157386" cy="201168"/>
                <a:chOff x="2066925" y="3898011"/>
                <a:chExt cx="157386" cy="201168"/>
              </a:xfrm>
            </p:grpSpPr>
            <p:sp>
              <p:nvSpPr>
                <p:cNvPr id="747" name="Text: |0"/>
                <p:cNvSpPr txBox="1"/>
                <p:nvPr/>
              </p:nvSpPr>
              <p:spPr>
                <a:xfrm>
                  <a:off x="2066925" y="38980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748" name="obj0747 poly"/>
                <p:cNvSpPr/>
                <p:nvPr/>
              </p:nvSpPr>
              <p:spPr>
                <a:xfrm>
                  <a:off x="2190750" y="39338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49" name="obj0748 poly"/>
              <p:cNvSpPr/>
              <p:nvPr/>
            </p:nvSpPr>
            <p:spPr>
              <a:xfrm>
                <a:off x="2352675" y="400050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obj0749 poly"/>
              <p:cNvSpPr/>
              <p:nvPr/>
            </p:nvSpPr>
            <p:spPr>
              <a:xfrm>
                <a:off x="2419350" y="3867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obj0750 poly"/>
              <p:cNvSpPr/>
              <p:nvPr/>
            </p:nvSpPr>
            <p:spPr>
              <a:xfrm>
                <a:off x="2790825" y="3867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obj0751 ellipse"/>
              <p:cNvSpPr/>
              <p:nvPr/>
            </p:nvSpPr>
            <p:spPr>
              <a:xfrm>
                <a:off x="3152775" y="38671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" name="obj0752 poly"/>
              <p:cNvSpPr/>
              <p:nvPr/>
            </p:nvSpPr>
            <p:spPr>
              <a:xfrm>
                <a:off x="3486150" y="3867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" name="obj0753 poly"/>
              <p:cNvSpPr/>
              <p:nvPr/>
            </p:nvSpPr>
            <p:spPr>
              <a:xfrm>
                <a:off x="4057650" y="38671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55" name="Measurement"/>
              <p:cNvGrpSpPr/>
              <p:nvPr/>
            </p:nvGrpSpPr>
            <p:grpSpPr>
              <a:xfrm>
                <a:off x="4981575" y="3886200"/>
                <a:ext cx="257175" cy="209550"/>
                <a:chOff x="4981575" y="3886200"/>
                <a:chExt cx="257175" cy="209550"/>
              </a:xfrm>
            </p:grpSpPr>
            <p:sp>
              <p:nvSpPr>
                <p:cNvPr id="756" name="obj0755 rect"/>
                <p:cNvSpPr/>
                <p:nvPr/>
              </p:nvSpPr>
              <p:spPr>
                <a:xfrm>
                  <a:off x="4981575" y="38862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7" name="obj0756 path"/>
                <p:cNvSpPr/>
                <p:nvPr/>
              </p:nvSpPr>
              <p:spPr>
                <a:xfrm>
                  <a:off x="5010150" y="39147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8" name="obj0757 poly"/>
                <p:cNvSpPr/>
                <p:nvPr/>
              </p:nvSpPr>
              <p:spPr>
                <a:xfrm>
                  <a:off x="5089588" y="39147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9" name="obj0758 poly"/>
                <p:cNvSpPr/>
                <p:nvPr/>
              </p:nvSpPr>
              <p:spPr>
                <a:xfrm>
                  <a:off x="5121688" y="39147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60" name="Qubit input |0⟩"/>
              <p:cNvGrpSpPr/>
              <p:nvPr/>
            </p:nvGrpSpPr>
            <p:grpSpPr>
              <a:xfrm>
                <a:off x="2066925" y="4212336"/>
                <a:ext cx="157386" cy="201168"/>
                <a:chOff x="2066925" y="4212336"/>
                <a:chExt cx="157386" cy="201168"/>
              </a:xfrm>
            </p:grpSpPr>
            <p:sp>
              <p:nvSpPr>
                <p:cNvPr id="761" name="Text: |0"/>
                <p:cNvSpPr txBox="1"/>
                <p:nvPr/>
              </p:nvSpPr>
              <p:spPr>
                <a:xfrm>
                  <a:off x="2066925" y="42123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762" name="obj0761 poly"/>
                <p:cNvSpPr/>
                <p:nvPr/>
              </p:nvSpPr>
              <p:spPr>
                <a:xfrm>
                  <a:off x="2190750" y="42481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63" name="obj0762 poly"/>
              <p:cNvSpPr/>
              <p:nvPr/>
            </p:nvSpPr>
            <p:spPr>
              <a:xfrm>
                <a:off x="2352675" y="431482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" name="obj0763 poly"/>
              <p:cNvSpPr/>
              <p:nvPr/>
            </p:nvSpPr>
            <p:spPr>
              <a:xfrm>
                <a:off x="2419350" y="4181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" name="obj0764 poly"/>
              <p:cNvSpPr/>
              <p:nvPr/>
            </p:nvSpPr>
            <p:spPr>
              <a:xfrm>
                <a:off x="2790825" y="4181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obj0765 ellipse"/>
              <p:cNvSpPr/>
              <p:nvPr/>
            </p:nvSpPr>
            <p:spPr>
              <a:xfrm>
                <a:off x="3152775" y="418147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obj0766 poly"/>
              <p:cNvSpPr/>
              <p:nvPr/>
            </p:nvSpPr>
            <p:spPr>
              <a:xfrm>
                <a:off x="3486150" y="4181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obj0767 poly"/>
              <p:cNvSpPr/>
              <p:nvPr/>
            </p:nvSpPr>
            <p:spPr>
              <a:xfrm>
                <a:off x="4057650" y="41814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69" name="Measurement"/>
              <p:cNvGrpSpPr/>
              <p:nvPr/>
            </p:nvGrpSpPr>
            <p:grpSpPr>
              <a:xfrm>
                <a:off x="4981575" y="4200525"/>
                <a:ext cx="257175" cy="209550"/>
                <a:chOff x="4981575" y="4200525"/>
                <a:chExt cx="257175" cy="209550"/>
              </a:xfrm>
            </p:grpSpPr>
            <p:sp>
              <p:nvSpPr>
                <p:cNvPr id="770" name="obj0769 rect"/>
                <p:cNvSpPr/>
                <p:nvPr/>
              </p:nvSpPr>
              <p:spPr>
                <a:xfrm>
                  <a:off x="4981575" y="42005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1" name="obj0770 path"/>
                <p:cNvSpPr/>
                <p:nvPr/>
              </p:nvSpPr>
              <p:spPr>
                <a:xfrm>
                  <a:off x="5010150" y="42291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2" name="obj0771 poly"/>
                <p:cNvSpPr/>
                <p:nvPr/>
              </p:nvSpPr>
              <p:spPr>
                <a:xfrm>
                  <a:off x="5089588" y="42291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3" name="obj0772 poly"/>
                <p:cNvSpPr/>
                <p:nvPr/>
              </p:nvSpPr>
              <p:spPr>
                <a:xfrm>
                  <a:off x="5121688" y="42291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74" name="obj0773 rect"/>
              <p:cNvSpPr/>
              <p:nvPr/>
            </p:nvSpPr>
            <p:spPr>
              <a:xfrm>
                <a:off x="4429125" y="328612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" name="obj0774 rect"/>
              <p:cNvSpPr/>
              <p:nvPr/>
            </p:nvSpPr>
            <p:spPr>
              <a:xfrm>
                <a:off x="4629150" y="362902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" name="obj0775 rect"/>
              <p:cNvSpPr/>
              <p:nvPr/>
            </p:nvSpPr>
            <p:spPr>
              <a:xfrm>
                <a:off x="4800600" y="3943350"/>
                <a:ext cx="123825" cy="4572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77" name="Training label — small ansatz"/>
            <p:cNvGrpSpPr/>
            <p:nvPr/>
          </p:nvGrpSpPr>
          <p:grpSpPr>
            <a:xfrm>
              <a:off x="4410075" y="3019425"/>
              <a:ext cx="2657475" cy="1152525"/>
              <a:chOff x="4410075" y="3019425"/>
              <a:chExt cx="2657475" cy="1152525"/>
            </a:xfrm>
          </p:grpSpPr>
          <p:sp>
            <p:nvSpPr>
              <p:cNvPr id="778" name="obj0777 rect"/>
              <p:cNvSpPr/>
              <p:nvPr/>
            </p:nvSpPr>
            <p:spPr>
              <a:xfrm>
                <a:off x="4505325" y="315277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" name="obj0778 rect"/>
              <p:cNvSpPr/>
              <p:nvPr/>
            </p:nvSpPr>
            <p:spPr>
              <a:xfrm>
                <a:off x="4410075" y="301942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80" name="Qubit input |0⟩"/>
              <p:cNvGrpSpPr/>
              <p:nvPr/>
            </p:nvGrpSpPr>
            <p:grpSpPr>
              <a:xfrm>
                <a:off x="4524375" y="3116961"/>
                <a:ext cx="157386" cy="201168"/>
                <a:chOff x="4524375" y="3116961"/>
                <a:chExt cx="157386" cy="201168"/>
              </a:xfrm>
            </p:grpSpPr>
            <p:sp>
              <p:nvSpPr>
                <p:cNvPr id="781" name="Text: |0"/>
                <p:cNvSpPr txBox="1"/>
                <p:nvPr/>
              </p:nvSpPr>
              <p:spPr>
                <a:xfrm>
                  <a:off x="4524375" y="31169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782" name="obj0781 poly"/>
                <p:cNvSpPr/>
                <p:nvPr/>
              </p:nvSpPr>
              <p:spPr>
                <a:xfrm>
                  <a:off x="4648200" y="31527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83" name="obj0782 poly"/>
              <p:cNvSpPr/>
              <p:nvPr/>
            </p:nvSpPr>
            <p:spPr>
              <a:xfrm>
                <a:off x="4810125" y="321945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obj0783 poly"/>
              <p:cNvSpPr/>
              <p:nvPr/>
            </p:nvSpPr>
            <p:spPr>
              <a:xfrm>
                <a:off x="4876800" y="3086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" name="obj0784 poly"/>
              <p:cNvSpPr/>
              <p:nvPr/>
            </p:nvSpPr>
            <p:spPr>
              <a:xfrm>
                <a:off x="5248275" y="3086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" name="obj0785 ellipse"/>
              <p:cNvSpPr/>
              <p:nvPr/>
            </p:nvSpPr>
            <p:spPr>
              <a:xfrm>
                <a:off x="5610225" y="308610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87" name="Measurement"/>
              <p:cNvGrpSpPr/>
              <p:nvPr/>
            </p:nvGrpSpPr>
            <p:grpSpPr>
              <a:xfrm>
                <a:off x="6591300" y="3105150"/>
                <a:ext cx="257175" cy="209550"/>
                <a:chOff x="6591300" y="3105150"/>
                <a:chExt cx="257175" cy="209550"/>
              </a:xfrm>
            </p:grpSpPr>
            <p:sp>
              <p:nvSpPr>
                <p:cNvPr id="788" name="obj0787 rect"/>
                <p:cNvSpPr/>
                <p:nvPr/>
              </p:nvSpPr>
              <p:spPr>
                <a:xfrm>
                  <a:off x="6591300" y="31051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9" name="obj0788 path"/>
                <p:cNvSpPr/>
                <p:nvPr/>
              </p:nvSpPr>
              <p:spPr>
                <a:xfrm>
                  <a:off x="6619875" y="31337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0" name="obj0789 poly"/>
                <p:cNvSpPr/>
                <p:nvPr/>
              </p:nvSpPr>
              <p:spPr>
                <a:xfrm>
                  <a:off x="6699314" y="31337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1" name="obj0790 poly"/>
                <p:cNvSpPr/>
                <p:nvPr/>
              </p:nvSpPr>
              <p:spPr>
                <a:xfrm>
                  <a:off x="6731413" y="31337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92" name="Qubit input |0⟩"/>
              <p:cNvGrpSpPr/>
              <p:nvPr/>
            </p:nvGrpSpPr>
            <p:grpSpPr>
              <a:xfrm>
                <a:off x="4524375" y="3431286"/>
                <a:ext cx="157386" cy="201168"/>
                <a:chOff x="4524375" y="3431286"/>
                <a:chExt cx="157386" cy="201168"/>
              </a:xfrm>
            </p:grpSpPr>
            <p:sp>
              <p:nvSpPr>
                <p:cNvPr id="793" name="Text: |0"/>
                <p:cNvSpPr txBox="1"/>
                <p:nvPr/>
              </p:nvSpPr>
              <p:spPr>
                <a:xfrm>
                  <a:off x="4524375" y="34312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794" name="obj0793 poly"/>
                <p:cNvSpPr/>
                <p:nvPr/>
              </p:nvSpPr>
              <p:spPr>
                <a:xfrm>
                  <a:off x="4648200" y="34671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95" name="obj0794 poly"/>
              <p:cNvSpPr/>
              <p:nvPr/>
            </p:nvSpPr>
            <p:spPr>
              <a:xfrm>
                <a:off x="4810125" y="353377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obj0795 poly"/>
              <p:cNvSpPr/>
              <p:nvPr/>
            </p:nvSpPr>
            <p:spPr>
              <a:xfrm>
                <a:off x="4876800" y="3400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obj0796 poly"/>
              <p:cNvSpPr/>
              <p:nvPr/>
            </p:nvSpPr>
            <p:spPr>
              <a:xfrm>
                <a:off x="5248275" y="3400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obj0797 ellipse"/>
              <p:cNvSpPr/>
              <p:nvPr/>
            </p:nvSpPr>
            <p:spPr>
              <a:xfrm>
                <a:off x="5610225" y="34004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99" name="Measurement"/>
              <p:cNvGrpSpPr/>
              <p:nvPr/>
            </p:nvGrpSpPr>
            <p:grpSpPr>
              <a:xfrm>
                <a:off x="6591300" y="3419475"/>
                <a:ext cx="257175" cy="209550"/>
                <a:chOff x="6591300" y="3419475"/>
                <a:chExt cx="257175" cy="209550"/>
              </a:xfrm>
            </p:grpSpPr>
            <p:sp>
              <p:nvSpPr>
                <p:cNvPr id="800" name="obj0799 rect"/>
                <p:cNvSpPr/>
                <p:nvPr/>
              </p:nvSpPr>
              <p:spPr>
                <a:xfrm>
                  <a:off x="6591300" y="34194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1" name="obj0800 path"/>
                <p:cNvSpPr/>
                <p:nvPr/>
              </p:nvSpPr>
              <p:spPr>
                <a:xfrm>
                  <a:off x="6619875" y="34480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2" name="obj0801 poly"/>
                <p:cNvSpPr/>
                <p:nvPr/>
              </p:nvSpPr>
              <p:spPr>
                <a:xfrm>
                  <a:off x="6699314" y="34480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3" name="obj0802 poly"/>
                <p:cNvSpPr/>
                <p:nvPr/>
              </p:nvSpPr>
              <p:spPr>
                <a:xfrm>
                  <a:off x="6731413" y="34480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804" name="Qubit input |0⟩"/>
              <p:cNvGrpSpPr/>
              <p:nvPr/>
            </p:nvGrpSpPr>
            <p:grpSpPr>
              <a:xfrm>
                <a:off x="4524375" y="3755136"/>
                <a:ext cx="157386" cy="201168"/>
                <a:chOff x="4524375" y="3755136"/>
                <a:chExt cx="157386" cy="201168"/>
              </a:xfrm>
            </p:grpSpPr>
            <p:sp>
              <p:nvSpPr>
                <p:cNvPr id="805" name="Text: |0"/>
                <p:cNvSpPr txBox="1"/>
                <p:nvPr/>
              </p:nvSpPr>
              <p:spPr>
                <a:xfrm>
                  <a:off x="4524375" y="37551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806" name="obj0805 poly"/>
                <p:cNvSpPr/>
                <p:nvPr/>
              </p:nvSpPr>
              <p:spPr>
                <a:xfrm>
                  <a:off x="4648200" y="37909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807" name="obj0806 poly"/>
              <p:cNvSpPr/>
              <p:nvPr/>
            </p:nvSpPr>
            <p:spPr>
              <a:xfrm>
                <a:off x="4810125" y="385762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obj0807 poly"/>
              <p:cNvSpPr/>
              <p:nvPr/>
            </p:nvSpPr>
            <p:spPr>
              <a:xfrm>
                <a:off x="4876800" y="37242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" name="obj0808 poly"/>
              <p:cNvSpPr/>
              <p:nvPr/>
            </p:nvSpPr>
            <p:spPr>
              <a:xfrm>
                <a:off x="5248275" y="37242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" name="obj0809 ellipse"/>
              <p:cNvSpPr/>
              <p:nvPr/>
            </p:nvSpPr>
            <p:spPr>
              <a:xfrm>
                <a:off x="5610225" y="37242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811" name="Measurement"/>
              <p:cNvGrpSpPr/>
              <p:nvPr/>
            </p:nvGrpSpPr>
            <p:grpSpPr>
              <a:xfrm>
                <a:off x="6591300" y="3743325"/>
                <a:ext cx="257175" cy="209550"/>
                <a:chOff x="6591300" y="3743325"/>
                <a:chExt cx="257175" cy="209550"/>
              </a:xfrm>
            </p:grpSpPr>
            <p:sp>
              <p:nvSpPr>
                <p:cNvPr id="812" name="obj0811 rect"/>
                <p:cNvSpPr/>
                <p:nvPr/>
              </p:nvSpPr>
              <p:spPr>
                <a:xfrm>
                  <a:off x="6591300" y="37433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3" name="obj0812 path"/>
                <p:cNvSpPr/>
                <p:nvPr/>
              </p:nvSpPr>
              <p:spPr>
                <a:xfrm>
                  <a:off x="6619875" y="37719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4" name="obj0813 poly"/>
                <p:cNvSpPr/>
                <p:nvPr/>
              </p:nvSpPr>
              <p:spPr>
                <a:xfrm>
                  <a:off x="6699314" y="37719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5" name="obj0814 poly"/>
                <p:cNvSpPr/>
                <p:nvPr/>
              </p:nvSpPr>
              <p:spPr>
                <a:xfrm>
                  <a:off x="6731413" y="37719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816" name="obj0815 rect"/>
              <p:cNvSpPr/>
              <p:nvPr/>
            </p:nvSpPr>
            <p:spPr>
              <a:xfrm>
                <a:off x="5972175" y="31527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" name="obj0816 rect"/>
              <p:cNvSpPr/>
              <p:nvPr/>
            </p:nvSpPr>
            <p:spPr>
              <a:xfrm>
                <a:off x="6172200" y="34861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18" name="Text: Training Dataset: Label"/>
            <p:cNvSpPr txBox="1"/>
            <p:nvPr/>
          </p:nvSpPr>
          <p:spPr>
            <a:xfrm>
              <a:off x="419100" y="5128593"/>
              <a:ext cx="2866147" cy="364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5" b="1" i="0">
                  <a:solidFill>
                    <a:srgbClr val="000000"/>
                  </a:solidFill>
                  <a:latin typeface="Times New Roman"/>
                </a:rPr>
                <a:t>Training Dataset: Label</a:t>
              </a:r>
            </a:p>
          </p:txBody>
        </p:sp>
        <p:sp>
          <p:nvSpPr>
            <p:cNvPr id="819" name="Text: Loss Function"/>
            <p:cNvSpPr txBox="1"/>
            <p:nvPr/>
          </p:nvSpPr>
          <p:spPr>
            <a:xfrm>
              <a:off x="5524500" y="4395168"/>
              <a:ext cx="1713071" cy="364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5" b="1" i="0">
                  <a:solidFill>
                    <a:srgbClr val="000000"/>
                  </a:solidFill>
                  <a:latin typeface="Times New Roman"/>
                </a:rPr>
                <a:t>Loss Function</a:t>
              </a:r>
            </a:p>
          </p:txBody>
        </p:sp>
        <p:grpSp>
          <p:nvGrpSpPr>
            <p:cNvPr id="820" name="Loss function — editable mathematical components"/>
            <p:cNvGrpSpPr/>
            <p:nvPr/>
          </p:nvGrpSpPr>
          <p:grpSpPr>
            <a:xfrm>
              <a:off x="4743450" y="4810125"/>
              <a:ext cx="2105025" cy="622506"/>
              <a:chOff x="4743450" y="4810125"/>
              <a:chExt cx="2105025" cy="622506"/>
            </a:xfrm>
          </p:grpSpPr>
          <p:sp>
            <p:nvSpPr>
              <p:cNvPr id="821" name="obj0820 rect"/>
              <p:cNvSpPr/>
              <p:nvPr/>
            </p:nvSpPr>
            <p:spPr>
              <a:xfrm>
                <a:off x="4743450" y="4810125"/>
                <a:ext cx="2105025" cy="619125"/>
              </a:xfrm>
              <a:prstGeom prst="rect">
                <a:avLst/>
              </a:prstGeom>
              <a:solidFill>
                <a:srgbClr val="F8C5CE"/>
              </a:solidFill>
              <a:ln w="33337">
                <a:solidFill>
                  <a:srgbClr val="EC527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Text: min"/>
              <p:cNvSpPr txBox="1"/>
              <p:nvPr/>
            </p:nvSpPr>
            <p:spPr>
              <a:xfrm>
                <a:off x="4791075" y="4956286"/>
                <a:ext cx="388441" cy="28917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0" i="0">
                    <a:solidFill>
                      <a:srgbClr val="000000"/>
                    </a:solidFill>
                    <a:latin typeface="Times New Roman"/>
                  </a:rPr>
                  <a:t>min</a:t>
                </a:r>
              </a:p>
            </p:txBody>
          </p:sp>
          <p:sp>
            <p:nvSpPr>
              <p:cNvPr id="823" name="Text: ω"/>
              <p:cNvSpPr txBox="1"/>
              <p:nvPr/>
            </p:nvSpPr>
            <p:spPr>
              <a:xfrm>
                <a:off x="4886325" y="5155168"/>
                <a:ext cx="148501" cy="188595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5" b="0" i="1">
                    <a:solidFill>
                      <a:srgbClr val="000000"/>
                    </a:solidFill>
                    <a:latin typeface="Times New Roman"/>
                  </a:rPr>
                  <a:t>ω</a:t>
                </a:r>
              </a:p>
            </p:txBody>
          </p:sp>
          <p:sp>
            <p:nvSpPr>
              <p:cNvPr id="824" name="Text: 1"/>
              <p:cNvSpPr txBox="1"/>
              <p:nvPr/>
            </p:nvSpPr>
            <p:spPr>
              <a:xfrm>
                <a:off x="5286375" y="4832318"/>
                <a:ext cx="152400" cy="27660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0" i="0">
                    <a:solidFill>
                      <a:srgbClr val="000000"/>
                    </a:solidFill>
                    <a:latin typeface="Times New Roman"/>
                  </a:rPr>
                  <a:t>1</a:t>
                </a:r>
              </a:p>
            </p:txBody>
          </p:sp>
          <p:sp>
            <p:nvSpPr>
              <p:cNvPr id="825" name="obj0824 poly"/>
              <p:cNvSpPr/>
              <p:nvPr/>
            </p:nvSpPr>
            <p:spPr>
              <a:xfrm>
                <a:off x="5248275" y="5124450"/>
                <a:ext cx="228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400" h="1" fill="none">
                    <a:moveTo>
                      <a:pt x="0" y="0"/>
                    </a:moveTo>
                    <a:lnTo>
                      <a:pt x="2400" y="0"/>
                    </a:lnTo>
                  </a:path>
                </a:pathLst>
              </a:custGeom>
              <a:noFill/>
              <a:ln w="1238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" name="Text: N"/>
              <p:cNvSpPr txBox="1"/>
              <p:nvPr/>
            </p:nvSpPr>
            <p:spPr>
              <a:xfrm>
                <a:off x="5265703" y="5089636"/>
                <a:ext cx="193744" cy="28917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0" i="1">
                    <a:solidFill>
                      <a:srgbClr val="000000"/>
                    </a:solidFill>
                    <a:latin typeface="Times New Roman"/>
                  </a:rPr>
                  <a:t>N</a:t>
                </a:r>
              </a:p>
            </p:txBody>
          </p:sp>
          <p:sp>
            <p:nvSpPr>
              <p:cNvPr id="827" name="Text: ∑"/>
              <p:cNvSpPr txBox="1"/>
              <p:nvPr/>
            </p:nvSpPr>
            <p:spPr>
              <a:xfrm>
                <a:off x="5524500" y="4863322"/>
                <a:ext cx="312450" cy="490347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925" b="0" i="0">
                    <a:solidFill>
                      <a:srgbClr val="000000"/>
                    </a:solidFill>
                    <a:latin typeface="Times New Roman"/>
                  </a:rPr>
                  <a:t>∑</a:t>
                </a:r>
              </a:p>
            </p:txBody>
          </p:sp>
          <p:sp>
            <p:nvSpPr>
              <p:cNvPr id="828" name="Text: N"/>
              <p:cNvSpPr txBox="1"/>
              <p:nvPr/>
            </p:nvSpPr>
            <p:spPr>
              <a:xfrm>
                <a:off x="5586390" y="4812268"/>
                <a:ext cx="142920" cy="188595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5" b="0" i="1">
                    <a:solidFill>
                      <a:srgbClr val="000000"/>
                    </a:solidFill>
                    <a:latin typeface="Times New Roman"/>
                  </a:rPr>
                  <a:t>N</a:t>
                </a:r>
              </a:p>
            </p:txBody>
          </p:sp>
          <p:sp>
            <p:nvSpPr>
              <p:cNvPr id="829" name="Text: i=1"/>
              <p:cNvSpPr txBox="1"/>
              <p:nvPr/>
            </p:nvSpPr>
            <p:spPr>
              <a:xfrm>
                <a:off x="5534576" y="5269182"/>
                <a:ext cx="227499" cy="16344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5" b="0" i="1">
                    <a:solidFill>
                      <a:srgbClr val="000000"/>
                    </a:solidFill>
                    <a:latin typeface="Times New Roman"/>
                  </a:rPr>
                  <a:t>i=1</a:t>
                </a:r>
              </a:p>
            </p:txBody>
          </p:sp>
          <p:sp>
            <p:nvSpPr>
              <p:cNvPr id="830" name="obj0829 poly"/>
              <p:cNvSpPr/>
              <p:nvPr/>
            </p:nvSpPr>
            <p:spPr>
              <a:xfrm>
                <a:off x="5867400" y="5000625"/>
                <a:ext cx="95" cy="209550"/>
              </a:xfrm>
              <a:custGeom>
                <a:avLst/>
                <a:gdLst/>
                <a:ahLst/>
                <a:cxnLst/>
                <a:rect l="0" t="0" r="w" b="h"/>
                <a:pathLst>
                  <a:path w="1" h="2200" fill="none">
                    <a:moveTo>
                      <a:pt x="0" y="0"/>
                    </a:moveTo>
                    <a:lnTo>
                      <a:pt x="0" y="2200"/>
                    </a:lnTo>
                  </a:path>
                </a:pathLst>
              </a:custGeom>
              <a:noFill/>
              <a:ln w="1047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obj0830 poly"/>
              <p:cNvSpPr/>
              <p:nvPr/>
            </p:nvSpPr>
            <p:spPr>
              <a:xfrm>
                <a:off x="5905500" y="5000625"/>
                <a:ext cx="95" cy="209550"/>
              </a:xfrm>
              <a:custGeom>
                <a:avLst/>
                <a:gdLst/>
                <a:ahLst/>
                <a:cxnLst/>
                <a:rect l="0" t="0" r="w" b="h"/>
                <a:pathLst>
                  <a:path w="1" h="2200" fill="none">
                    <a:moveTo>
                      <a:pt x="0" y="0"/>
                    </a:moveTo>
                    <a:lnTo>
                      <a:pt x="0" y="2200"/>
                    </a:lnTo>
                  </a:path>
                </a:pathLst>
              </a:custGeom>
              <a:noFill/>
              <a:ln w="1047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obj0831 poly"/>
              <p:cNvSpPr/>
              <p:nvPr/>
            </p:nvSpPr>
            <p:spPr>
              <a:xfrm>
                <a:off x="6610350" y="5000625"/>
                <a:ext cx="95" cy="209550"/>
              </a:xfrm>
              <a:custGeom>
                <a:avLst/>
                <a:gdLst/>
                <a:ahLst/>
                <a:cxnLst/>
                <a:rect l="0" t="0" r="w" b="h"/>
                <a:pathLst>
                  <a:path w="1" h="2200" fill="none">
                    <a:moveTo>
                      <a:pt x="0" y="0"/>
                    </a:moveTo>
                    <a:lnTo>
                      <a:pt x="0" y="2200"/>
                    </a:lnTo>
                  </a:path>
                </a:pathLst>
              </a:custGeom>
              <a:noFill/>
              <a:ln w="1047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obj0832 poly"/>
              <p:cNvSpPr/>
              <p:nvPr/>
            </p:nvSpPr>
            <p:spPr>
              <a:xfrm>
                <a:off x="6648450" y="5000625"/>
                <a:ext cx="95" cy="209550"/>
              </a:xfrm>
              <a:custGeom>
                <a:avLst/>
                <a:gdLst/>
                <a:ahLst/>
                <a:cxnLst/>
                <a:rect l="0" t="0" r="w" b="h"/>
                <a:pathLst>
                  <a:path w="1" h="2200" fill="none">
                    <a:moveTo>
                      <a:pt x="0" y="0"/>
                    </a:moveTo>
                    <a:lnTo>
                      <a:pt x="0" y="2200"/>
                    </a:lnTo>
                  </a:path>
                </a:pathLst>
              </a:custGeom>
              <a:noFill/>
              <a:ln w="1047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Text: C"/>
              <p:cNvSpPr txBox="1"/>
              <p:nvPr/>
            </p:nvSpPr>
            <p:spPr>
              <a:xfrm>
                <a:off x="5934075" y="4965811"/>
                <a:ext cx="193744" cy="28917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0" i="0">
                    <a:solidFill>
                      <a:srgbClr val="000000"/>
                    </a:solidFill>
                    <a:latin typeface="Times New Roman"/>
                  </a:rPr>
                  <a:t>C</a:t>
                </a:r>
              </a:p>
            </p:txBody>
          </p:sp>
          <p:sp>
            <p:nvSpPr>
              <p:cNvPr id="835" name="obj0834 poly"/>
              <p:cNvSpPr/>
              <p:nvPr/>
            </p:nvSpPr>
            <p:spPr>
              <a:xfrm>
                <a:off x="5962650" y="4972050"/>
                <a:ext cx="114300" cy="28575"/>
              </a:xfrm>
              <a:custGeom>
                <a:avLst/>
                <a:gdLst/>
                <a:ahLst/>
                <a:cxnLst/>
                <a:rect l="0" t="0" r="w" b="h"/>
                <a:pathLst>
                  <a:path w="1200" h="300" fill="none">
                    <a:moveTo>
                      <a:pt x="0" y="300"/>
                    </a:moveTo>
                    <a:lnTo>
                      <a:pt x="600" y="0"/>
                    </a:lnTo>
                    <a:lnTo>
                      <a:pt x="1200" y="300"/>
                    </a:lnTo>
                  </a:path>
                </a:pathLst>
              </a:custGeom>
              <a:noFill/>
              <a:ln w="11429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Text: i"/>
              <p:cNvSpPr txBox="1"/>
              <p:nvPr/>
            </p:nvSpPr>
            <p:spPr>
              <a:xfrm>
                <a:off x="6086475" y="5097875"/>
                <a:ext cx="84668" cy="176022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1">
                    <a:solidFill>
                      <a:srgbClr val="000000"/>
                    </a:solidFill>
                    <a:latin typeface="Times New Roman"/>
                  </a:rPr>
                  <a:t>i</a:t>
                </a:r>
              </a:p>
            </p:txBody>
          </p:sp>
          <p:sp>
            <p:nvSpPr>
              <p:cNvPr id="837" name="Text: −"/>
              <p:cNvSpPr txBox="1"/>
              <p:nvPr/>
            </p:nvSpPr>
            <p:spPr>
              <a:xfrm>
                <a:off x="6191250" y="4984575"/>
                <a:ext cx="160437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0" i="0">
                    <a:solidFill>
                      <a:srgbClr val="000000"/>
                    </a:solidFill>
                    <a:latin typeface="Times New Roman"/>
                  </a:rPr>
                  <a:t>−</a:t>
                </a:r>
              </a:p>
            </p:txBody>
          </p:sp>
          <p:sp>
            <p:nvSpPr>
              <p:cNvPr id="838" name="Text: C"/>
              <p:cNvSpPr txBox="1"/>
              <p:nvPr/>
            </p:nvSpPr>
            <p:spPr>
              <a:xfrm>
                <a:off x="6381750" y="4965811"/>
                <a:ext cx="193744" cy="28917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0" i="0">
                    <a:solidFill>
                      <a:srgbClr val="000000"/>
                    </a:solidFill>
                    <a:latin typeface="Times New Roman"/>
                  </a:rPr>
                  <a:t>C</a:t>
                </a:r>
              </a:p>
            </p:txBody>
          </p:sp>
          <p:sp>
            <p:nvSpPr>
              <p:cNvPr id="839" name="Text: i"/>
              <p:cNvSpPr txBox="1"/>
              <p:nvPr/>
            </p:nvSpPr>
            <p:spPr>
              <a:xfrm>
                <a:off x="6534150" y="5097875"/>
                <a:ext cx="84668" cy="176022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1">
                    <a:solidFill>
                      <a:srgbClr val="000000"/>
                    </a:solidFill>
                    <a:latin typeface="Times New Roman"/>
                  </a:rPr>
                  <a:t>i</a:t>
                </a:r>
              </a:p>
            </p:txBody>
          </p:sp>
          <p:sp>
            <p:nvSpPr>
              <p:cNvPr id="840" name="Text: 2"/>
              <p:cNvSpPr txBox="1"/>
              <p:nvPr/>
            </p:nvSpPr>
            <p:spPr>
              <a:xfrm>
                <a:off x="6705600" y="4926568"/>
                <a:ext cx="119062" cy="188595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5" b="0" i="0">
                    <a:solidFill>
                      <a:srgbClr val="000000"/>
                    </a:solidFill>
                    <a:latin typeface="Times New Roman"/>
                  </a:rPr>
                  <a:t>2</a:t>
                </a:r>
              </a:p>
            </p:txBody>
          </p:sp>
          <p:sp>
            <p:nvSpPr>
              <p:cNvPr id="841" name="Text: F"/>
              <p:cNvSpPr txBox="1"/>
              <p:nvPr/>
            </p:nvSpPr>
            <p:spPr>
              <a:xfrm>
                <a:off x="6696075" y="5098018"/>
                <a:ext cx="134898" cy="188595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5" b="0" i="1">
                    <a:solidFill>
                      <a:srgbClr val="000000"/>
                    </a:solidFill>
                    <a:latin typeface="Times New Roman"/>
                  </a:rPr>
                  <a:t>F</a:t>
                </a:r>
              </a:p>
            </p:txBody>
          </p:sp>
        </p:grpSp>
        <p:sp>
          <p:nvSpPr>
            <p:cNvPr id="842" name="obj0841 poly"/>
            <p:cNvSpPr/>
            <p:nvPr/>
          </p:nvSpPr>
          <p:spPr>
            <a:xfrm>
              <a:off x="2381250" y="5076825"/>
              <a:ext cx="2238375" cy="76200"/>
            </a:xfrm>
            <a:custGeom>
              <a:avLst/>
              <a:gdLst/>
              <a:ahLst/>
              <a:cxnLst/>
              <a:rect l="0" t="0" r="w" b="h"/>
              <a:pathLst>
                <a:path w="23500" h="800" fill="none">
                  <a:moveTo>
                    <a:pt x="0" y="0"/>
                  </a:moveTo>
                  <a:lnTo>
                    <a:pt x="0" y="800"/>
                  </a:lnTo>
                  <a:lnTo>
                    <a:pt x="23500" y="80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custDash>
                <a:ds d="370370" sp="296296"/>
              </a:custDash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3" name="obj0842 poly"/>
            <p:cNvSpPr/>
            <p:nvPr/>
          </p:nvSpPr>
          <p:spPr>
            <a:xfrm>
              <a:off x="4457700" y="5153025"/>
              <a:ext cx="161925" cy="95"/>
            </a:xfrm>
            <a:custGeom>
              <a:avLst/>
              <a:gdLst/>
              <a:ahLst/>
              <a:cxnLst/>
              <a:rect l="0" t="0" r="w" b="h"/>
              <a:pathLst>
                <a:path w="1700" h="1" fill="none">
                  <a:moveTo>
                    <a:pt x="0" y="0"/>
                  </a:moveTo>
                  <a:lnTo>
                    <a:pt x="1700" y="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4" name="obj0843 poly"/>
            <p:cNvSpPr/>
            <p:nvPr/>
          </p:nvSpPr>
          <p:spPr>
            <a:xfrm>
              <a:off x="4524375" y="5103495"/>
              <a:ext cx="95250" cy="99060"/>
            </a:xfrm>
            <a:custGeom>
              <a:avLst/>
              <a:gdLst/>
              <a:ahLst/>
              <a:cxnLst/>
              <a:rect l="0" t="0" r="w" b="h"/>
              <a:pathLst>
                <a:path w="1000" h="1040" fill="none">
                  <a:moveTo>
                    <a:pt x="0" y="0"/>
                  </a:moveTo>
                  <a:lnTo>
                    <a:pt x="1000" y="520"/>
                  </a:lnTo>
                  <a:lnTo>
                    <a:pt x="0" y="104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5" name="obj0844 poly"/>
            <p:cNvSpPr/>
            <p:nvPr/>
          </p:nvSpPr>
          <p:spPr>
            <a:xfrm>
              <a:off x="3305175" y="5286375"/>
              <a:ext cx="1276350" cy="504825"/>
            </a:xfrm>
            <a:custGeom>
              <a:avLst/>
              <a:gdLst/>
              <a:ahLst/>
              <a:cxnLst/>
              <a:rect l="0" t="0" r="w" b="h"/>
              <a:pathLst>
                <a:path w="13400" h="5300" fill="none">
                  <a:moveTo>
                    <a:pt x="13400" y="0"/>
                  </a:moveTo>
                  <a:lnTo>
                    <a:pt x="6500" y="0"/>
                  </a:lnTo>
                  <a:lnTo>
                    <a:pt x="6500" y="5300"/>
                  </a:lnTo>
                  <a:lnTo>
                    <a:pt x="0" y="530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custDash>
                <a:ds d="370370" sp="296296"/>
              </a:custDash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6" name="obj0845 poly"/>
            <p:cNvSpPr/>
            <p:nvPr/>
          </p:nvSpPr>
          <p:spPr>
            <a:xfrm>
              <a:off x="3305175" y="5791200"/>
              <a:ext cx="152400" cy="95"/>
            </a:xfrm>
            <a:custGeom>
              <a:avLst/>
              <a:gdLst/>
              <a:ahLst/>
              <a:cxnLst/>
              <a:rect l="0" t="0" r="w" b="h"/>
              <a:pathLst>
                <a:path w="1600" h="1" fill="none">
                  <a:moveTo>
                    <a:pt x="1600" y="0"/>
                  </a:moveTo>
                  <a:lnTo>
                    <a:pt x="0" y="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7" name="obj0846 poly"/>
            <p:cNvSpPr/>
            <p:nvPr/>
          </p:nvSpPr>
          <p:spPr>
            <a:xfrm>
              <a:off x="3305175" y="5746623"/>
              <a:ext cx="85725" cy="89154"/>
            </a:xfrm>
            <a:custGeom>
              <a:avLst/>
              <a:gdLst/>
              <a:ahLst/>
              <a:cxnLst/>
              <a:rect l="0" t="0" r="w" b="h"/>
              <a:pathLst>
                <a:path w="900" h="936" fill="none">
                  <a:moveTo>
                    <a:pt x="900" y="936"/>
                  </a:moveTo>
                  <a:lnTo>
                    <a:pt x="0" y="468"/>
                  </a:lnTo>
                  <a:lnTo>
                    <a:pt x="900" y="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8" name="obj0847 poly"/>
            <p:cNvSpPr/>
            <p:nvPr/>
          </p:nvSpPr>
          <p:spPr>
            <a:xfrm>
              <a:off x="6858000" y="5114925"/>
              <a:ext cx="200025" cy="1695450"/>
            </a:xfrm>
            <a:custGeom>
              <a:avLst/>
              <a:gdLst/>
              <a:ahLst/>
              <a:cxnLst/>
              <a:rect l="0" t="0" r="w" b="h"/>
              <a:pathLst>
                <a:path w="2100" h="17800" fill="none">
                  <a:moveTo>
                    <a:pt x="2100" y="17800"/>
                  </a:moveTo>
                  <a:lnTo>
                    <a:pt x="2100" y="0"/>
                  </a:lnTo>
                  <a:lnTo>
                    <a:pt x="0" y="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custDash>
                <a:ds d="407407" sp="333333"/>
              </a:custDash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9" name="obj0848 poly"/>
            <p:cNvSpPr/>
            <p:nvPr/>
          </p:nvSpPr>
          <p:spPr>
            <a:xfrm>
              <a:off x="6858000" y="5114925"/>
              <a:ext cx="171450" cy="95"/>
            </a:xfrm>
            <a:custGeom>
              <a:avLst/>
              <a:gdLst/>
              <a:ahLst/>
              <a:cxnLst/>
              <a:rect l="0" t="0" r="w" b="h"/>
              <a:pathLst>
                <a:path w="1800" h="1" fill="none">
                  <a:moveTo>
                    <a:pt x="1800" y="0"/>
                  </a:moveTo>
                  <a:lnTo>
                    <a:pt x="0" y="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0" name="obj0849 poly"/>
            <p:cNvSpPr/>
            <p:nvPr/>
          </p:nvSpPr>
          <p:spPr>
            <a:xfrm>
              <a:off x="6858000" y="5065395"/>
              <a:ext cx="95250" cy="99060"/>
            </a:xfrm>
            <a:custGeom>
              <a:avLst/>
              <a:gdLst/>
              <a:ahLst/>
              <a:cxnLst/>
              <a:rect l="0" t="0" r="w" b="h"/>
              <a:pathLst>
                <a:path w="1000" h="1040" fill="none">
                  <a:moveTo>
                    <a:pt x="1000" y="1040"/>
                  </a:moveTo>
                  <a:lnTo>
                    <a:pt x="0" y="520"/>
                  </a:lnTo>
                  <a:lnTo>
                    <a:pt x="1000" y="0"/>
                  </a:lnTo>
                </a:path>
              </a:pathLst>
            </a:custGeom>
            <a:noFill/>
            <a:ln w="25717">
              <a:solidFill>
                <a:srgbClr val="E94361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1" name="obj0850 poly"/>
            <p:cNvSpPr/>
            <p:nvPr/>
          </p:nvSpPr>
          <p:spPr>
            <a:xfrm>
              <a:off x="219075" y="5591175"/>
              <a:ext cx="7077075" cy="2457450"/>
            </a:xfrm>
            <a:custGeom>
              <a:avLst/>
              <a:gdLst/>
              <a:ahLst/>
              <a:cxnLst/>
              <a:rect l="0" t="0" r="w" b="h"/>
              <a:pathLst>
                <a:path w="74300" h="25800" fill="none">
                  <a:moveTo>
                    <a:pt x="0" y="0"/>
                  </a:moveTo>
                  <a:lnTo>
                    <a:pt x="74300" y="0"/>
                  </a:lnTo>
                  <a:lnTo>
                    <a:pt x="74300" y="25800"/>
                  </a:lnTo>
                  <a:lnTo>
                    <a:pt x="0" y="258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custDash>
                <a:ds d="100000" sp="100000"/>
              </a:custDash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52" name="Model weights update"/>
            <p:cNvGrpSpPr/>
            <p:nvPr/>
          </p:nvGrpSpPr>
          <p:grpSpPr>
            <a:xfrm>
              <a:off x="819150" y="5667375"/>
              <a:ext cx="2466975" cy="260652"/>
              <a:chOff x="819150" y="5667375"/>
              <a:chExt cx="2466975" cy="260652"/>
            </a:xfrm>
          </p:grpSpPr>
          <p:sp>
            <p:nvSpPr>
              <p:cNvPr id="853" name="obj0852 rect"/>
              <p:cNvSpPr/>
              <p:nvPr/>
            </p:nvSpPr>
            <p:spPr>
              <a:xfrm>
                <a:off x="1238250" y="5667375"/>
                <a:ext cx="2047875" cy="257175"/>
              </a:xfrm>
              <a:prstGeom prst="rect">
                <a:avLst/>
              </a:prstGeom>
              <a:solidFill>
                <a:srgbClr val="D9E2F4"/>
              </a:solidFill>
              <a:ln w="34290">
                <a:solidFill>
                  <a:srgbClr val="527ECB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Text: Model Weights Update"/>
              <p:cNvSpPr txBox="1"/>
              <p:nvPr/>
            </p:nvSpPr>
            <p:spPr>
              <a:xfrm>
                <a:off x="1276350" y="5689140"/>
                <a:ext cx="1813873" cy="238887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25" b="1" i="0">
                    <a:solidFill>
                      <a:srgbClr val="000000"/>
                    </a:solidFill>
                    <a:latin typeface="Times New Roman"/>
                  </a:rPr>
                  <a:t>Model Weights Update</a:t>
                </a:r>
              </a:p>
            </p:txBody>
          </p:sp>
          <p:sp>
            <p:nvSpPr>
              <p:cNvPr id="855" name="obj0854 poly"/>
              <p:cNvSpPr/>
              <p:nvPr/>
            </p:nvSpPr>
            <p:spPr>
              <a:xfrm>
                <a:off x="819150" y="5743575"/>
                <a:ext cx="276225" cy="161925"/>
              </a:xfrm>
              <a:custGeom>
                <a:avLst/>
                <a:gdLst/>
                <a:ahLst/>
                <a:cxnLst/>
                <a:rect l="0" t="0" r="w" b="h"/>
                <a:pathLst>
                  <a:path w="2900" h="1700" fill="none">
                    <a:moveTo>
                      <a:pt x="2900" y="0"/>
                    </a:moveTo>
                    <a:lnTo>
                      <a:pt x="0" y="1700"/>
                    </a:lnTo>
                  </a:path>
                </a:pathLst>
              </a:custGeom>
              <a:noFill/>
              <a:ln w="3333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obj0855 poly"/>
              <p:cNvSpPr/>
              <p:nvPr/>
            </p:nvSpPr>
            <p:spPr>
              <a:xfrm>
                <a:off x="819150" y="5778241"/>
                <a:ext cx="150108" cy="127259"/>
              </a:xfrm>
              <a:custGeom>
                <a:avLst/>
                <a:gdLst/>
                <a:ahLst/>
                <a:cxnLst/>
                <a:rect l="0" t="0" r="w" b="h"/>
                <a:pathLst>
                  <a:path w="1576" h="1336" fill="none">
                    <a:moveTo>
                      <a:pt x="1576" y="1256"/>
                    </a:moveTo>
                    <a:lnTo>
                      <a:pt x="0" y="1336"/>
                    </a:lnTo>
                    <a:lnTo>
                      <a:pt x="840" y="0"/>
                    </a:lnTo>
                  </a:path>
                </a:pathLst>
              </a:custGeom>
              <a:noFill/>
              <a:ln w="3333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57" name="Input tensor"/>
            <p:cNvGrpSpPr/>
            <p:nvPr/>
          </p:nvGrpSpPr>
          <p:grpSpPr>
            <a:xfrm>
              <a:off x="352425" y="5924550"/>
              <a:ext cx="845135" cy="2000583"/>
              <a:chOff x="352425" y="5924550"/>
              <a:chExt cx="845135" cy="2000583"/>
            </a:xfrm>
          </p:grpSpPr>
          <p:sp>
            <p:nvSpPr>
              <p:cNvPr id="858" name="obj0857 rect"/>
              <p:cNvSpPr/>
              <p:nvPr/>
            </p:nvSpPr>
            <p:spPr>
              <a:xfrm>
                <a:off x="514350" y="6134100"/>
                <a:ext cx="238125" cy="1266825"/>
              </a:xfrm>
              <a:prstGeom prst="rect">
                <a:avLst/>
              </a:prstGeom>
              <a:solidFill>
                <a:srgbClr val="BD78E8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obj0858 poly"/>
              <p:cNvSpPr/>
              <p:nvPr/>
            </p:nvSpPr>
            <p:spPr>
              <a:xfrm>
                <a:off x="514350" y="5924550"/>
                <a:ext cx="438150" cy="209550"/>
              </a:xfrm>
              <a:custGeom>
                <a:avLst/>
                <a:gdLst/>
                <a:ahLst/>
                <a:cxnLst/>
                <a:rect l="0" t="0" r="w" b="h"/>
                <a:pathLst>
                  <a:path w="4600" h="2200" fill="norm">
                    <a:moveTo>
                      <a:pt x="0" y="2200"/>
                    </a:moveTo>
                    <a:lnTo>
                      <a:pt x="2100" y="0"/>
                    </a:lnTo>
                    <a:lnTo>
                      <a:pt x="4600" y="0"/>
                    </a:lnTo>
                    <a:lnTo>
                      <a:pt x="2500" y="2200"/>
                    </a:lnTo>
                    <a:close/>
                  </a:path>
                </a:pathLst>
              </a:custGeom>
              <a:solidFill>
                <a:srgbClr val="D393F2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obj0859 poly"/>
              <p:cNvSpPr/>
              <p:nvPr/>
            </p:nvSpPr>
            <p:spPr>
              <a:xfrm>
                <a:off x="752475" y="5924550"/>
                <a:ext cx="200025" cy="1476375"/>
              </a:xfrm>
              <a:custGeom>
                <a:avLst/>
                <a:gdLst/>
                <a:ahLst/>
                <a:cxnLst/>
                <a:rect l="0" t="0" r="w" b="h"/>
                <a:pathLst>
                  <a:path w="2100" h="15500" fill="norm">
                    <a:moveTo>
                      <a:pt x="0" y="2200"/>
                    </a:moveTo>
                    <a:lnTo>
                      <a:pt x="2100" y="0"/>
                    </a:lnTo>
                    <a:lnTo>
                      <a:pt x="2100" y="13300"/>
                    </a:lnTo>
                    <a:lnTo>
                      <a:pt x="0" y="15500"/>
                    </a:lnTo>
                    <a:close/>
                  </a:path>
                </a:pathLst>
              </a:custGeom>
              <a:solidFill>
                <a:srgbClr val="9960B6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Text: (B, 3+K, H, W)"/>
              <p:cNvSpPr txBox="1"/>
              <p:nvPr/>
            </p:nvSpPr>
            <p:spPr>
              <a:xfrm>
                <a:off x="352425" y="7469457"/>
                <a:ext cx="845135" cy="16344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5" b="1" i="0">
                    <a:solidFill>
                      <a:srgbClr val="000000"/>
                    </a:solidFill>
                    <a:latin typeface="Times New Roman"/>
                  </a:rPr>
                  <a:t>(B, 3+K, H, W)</a:t>
                </a:r>
              </a:p>
            </p:txBody>
          </p:sp>
          <p:sp>
            <p:nvSpPr>
              <p:cNvPr id="862" name="Text: Inputs"/>
              <p:cNvSpPr txBox="1"/>
              <p:nvPr/>
            </p:nvSpPr>
            <p:spPr>
              <a:xfrm>
                <a:off x="419100" y="7661100"/>
                <a:ext cx="603662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000000"/>
                    </a:solidFill>
                    <a:latin typeface="Times New Roman"/>
                  </a:rPr>
                  <a:t>Inputs</a:t>
                </a:r>
              </a:p>
            </p:txBody>
          </p:sp>
        </p:grpSp>
        <p:sp>
          <p:nvSpPr>
            <p:cNvPr id="863" name="obj0862 poly"/>
            <p:cNvSpPr/>
            <p:nvPr/>
          </p:nvSpPr>
          <p:spPr>
            <a:xfrm>
              <a:off x="1085850" y="6800850"/>
              <a:ext cx="276225" cy="95"/>
            </a:xfrm>
            <a:custGeom>
              <a:avLst/>
              <a:gdLst/>
              <a:ahLst/>
              <a:cxnLst/>
              <a:rect l="0" t="0" r="w" b="h"/>
              <a:pathLst>
                <a:path w="2900" h="1" fill="none">
                  <a:moveTo>
                    <a:pt x="0" y="0"/>
                  </a:moveTo>
                  <a:lnTo>
                    <a:pt x="290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4" name="obj0863 poly"/>
            <p:cNvSpPr/>
            <p:nvPr/>
          </p:nvSpPr>
          <p:spPr>
            <a:xfrm>
              <a:off x="1238250" y="6736461"/>
              <a:ext cx="123825" cy="128778"/>
            </a:xfrm>
            <a:custGeom>
              <a:avLst/>
              <a:gdLst/>
              <a:ahLst/>
              <a:cxnLst/>
              <a:rect l="0" t="0" r="w" b="h"/>
              <a:pathLst>
                <a:path w="1300" h="1352" fill="none">
                  <a:moveTo>
                    <a:pt x="0" y="0"/>
                  </a:moveTo>
                  <a:lnTo>
                    <a:pt x="1300" y="676"/>
                  </a:lnTo>
                  <a:lnTo>
                    <a:pt x="0" y="135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65" name="ResNet-18"/>
            <p:cNvGrpSpPr/>
            <p:nvPr/>
          </p:nvGrpSpPr>
          <p:grpSpPr>
            <a:xfrm>
              <a:off x="1238250" y="6155007"/>
              <a:ext cx="1395606" cy="1373315"/>
              <a:chOff x="1238250" y="6155007"/>
              <a:chExt cx="1395606" cy="1373315"/>
            </a:xfrm>
          </p:grpSpPr>
          <p:sp>
            <p:nvSpPr>
              <p:cNvPr id="866" name="obj0865 poly"/>
              <p:cNvSpPr/>
              <p:nvPr/>
            </p:nvSpPr>
            <p:spPr>
              <a:xfrm>
                <a:off x="1533525" y="6353175"/>
                <a:ext cx="36195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3800" h="1600" fill="none">
                    <a:moveTo>
                      <a:pt x="0" y="0"/>
                    </a:moveTo>
                    <a:lnTo>
                      <a:pt x="3800" y="160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obj0866 poly"/>
              <p:cNvSpPr/>
              <p:nvPr/>
            </p:nvSpPr>
            <p:spPr>
              <a:xfrm>
                <a:off x="1533525" y="6353175"/>
                <a:ext cx="361950" cy="438150"/>
              </a:xfrm>
              <a:custGeom>
                <a:avLst/>
                <a:gdLst/>
                <a:ahLst/>
                <a:cxnLst/>
                <a:rect l="0" t="0" r="w" b="h"/>
                <a:pathLst>
                  <a:path w="3800" h="4600" fill="none">
                    <a:moveTo>
                      <a:pt x="0" y="0"/>
                    </a:moveTo>
                    <a:lnTo>
                      <a:pt x="3800" y="460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obj0867 poly"/>
              <p:cNvSpPr/>
              <p:nvPr/>
            </p:nvSpPr>
            <p:spPr>
              <a:xfrm>
                <a:off x="1533525" y="6353175"/>
                <a:ext cx="361950" cy="704850"/>
              </a:xfrm>
              <a:custGeom>
                <a:avLst/>
                <a:gdLst/>
                <a:ahLst/>
                <a:cxnLst/>
                <a:rect l="0" t="0" r="w" b="h"/>
                <a:pathLst>
                  <a:path w="3800" h="7400" fill="none">
                    <a:moveTo>
                      <a:pt x="0" y="0"/>
                    </a:moveTo>
                    <a:lnTo>
                      <a:pt x="3800" y="740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obj0868 poly"/>
              <p:cNvSpPr/>
              <p:nvPr/>
            </p:nvSpPr>
            <p:spPr>
              <a:xfrm>
                <a:off x="1533525" y="6629400"/>
                <a:ext cx="361950" cy="161925"/>
              </a:xfrm>
              <a:custGeom>
                <a:avLst/>
                <a:gdLst/>
                <a:ahLst/>
                <a:cxnLst/>
                <a:rect l="0" t="0" r="w" b="h"/>
                <a:pathLst>
                  <a:path w="3800" h="1700" fill="none">
                    <a:moveTo>
                      <a:pt x="0" y="0"/>
                    </a:moveTo>
                    <a:lnTo>
                      <a:pt x="3800" y="170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obj0869 poly"/>
              <p:cNvSpPr/>
              <p:nvPr/>
            </p:nvSpPr>
            <p:spPr>
              <a:xfrm>
                <a:off x="1533525" y="6505575"/>
                <a:ext cx="361950" cy="400050"/>
              </a:xfrm>
              <a:custGeom>
                <a:avLst/>
                <a:gdLst/>
                <a:ahLst/>
                <a:cxnLst/>
                <a:rect l="0" t="0" r="w" b="h"/>
                <a:pathLst>
                  <a:path w="3800" h="4200" fill="none">
                    <a:moveTo>
                      <a:pt x="0" y="4200"/>
                    </a:moveTo>
                    <a:lnTo>
                      <a:pt x="3800" y="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obj0870 poly"/>
              <p:cNvSpPr/>
              <p:nvPr/>
            </p:nvSpPr>
            <p:spPr>
              <a:xfrm>
                <a:off x="1533525" y="6791325"/>
                <a:ext cx="361950" cy="114300"/>
              </a:xfrm>
              <a:custGeom>
                <a:avLst/>
                <a:gdLst/>
                <a:ahLst/>
                <a:cxnLst/>
                <a:rect l="0" t="0" r="w" b="h"/>
                <a:pathLst>
                  <a:path w="3800" h="1200" fill="none">
                    <a:moveTo>
                      <a:pt x="0" y="1200"/>
                    </a:moveTo>
                    <a:lnTo>
                      <a:pt x="3800" y="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obj0871 poly"/>
              <p:cNvSpPr/>
              <p:nvPr/>
            </p:nvSpPr>
            <p:spPr>
              <a:xfrm>
                <a:off x="1533525" y="6791325"/>
                <a:ext cx="361950" cy="390525"/>
              </a:xfrm>
              <a:custGeom>
                <a:avLst/>
                <a:gdLst/>
                <a:ahLst/>
                <a:cxnLst/>
                <a:rect l="0" t="0" r="w" b="h"/>
                <a:pathLst>
                  <a:path w="3800" h="4100" fill="none">
                    <a:moveTo>
                      <a:pt x="0" y="4100"/>
                    </a:moveTo>
                    <a:lnTo>
                      <a:pt x="3800" y="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obj0872 ellipse"/>
              <p:cNvSpPr/>
              <p:nvPr/>
            </p:nvSpPr>
            <p:spPr>
              <a:xfrm>
                <a:off x="1452562" y="6272212"/>
                <a:ext cx="161925" cy="161925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obj0873 ellipse"/>
              <p:cNvSpPr/>
              <p:nvPr/>
            </p:nvSpPr>
            <p:spPr>
              <a:xfrm>
                <a:off x="1452562" y="6548438"/>
                <a:ext cx="161925" cy="161925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obj0874 ellipse"/>
              <p:cNvSpPr/>
              <p:nvPr/>
            </p:nvSpPr>
            <p:spPr>
              <a:xfrm>
                <a:off x="1452562" y="6824662"/>
                <a:ext cx="161925" cy="161925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obj0875 ellipse"/>
              <p:cNvSpPr/>
              <p:nvPr/>
            </p:nvSpPr>
            <p:spPr>
              <a:xfrm>
                <a:off x="1452562" y="7100888"/>
                <a:ext cx="161925" cy="161925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obj0876 ellipse"/>
              <p:cNvSpPr/>
              <p:nvPr/>
            </p:nvSpPr>
            <p:spPr>
              <a:xfrm>
                <a:off x="1814512" y="6424612"/>
                <a:ext cx="161925" cy="161925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obj0877 ellipse"/>
              <p:cNvSpPr/>
              <p:nvPr/>
            </p:nvSpPr>
            <p:spPr>
              <a:xfrm>
                <a:off x="1814512" y="6710362"/>
                <a:ext cx="161925" cy="161925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obj0878 ellipse"/>
              <p:cNvSpPr/>
              <p:nvPr/>
            </p:nvSpPr>
            <p:spPr>
              <a:xfrm>
                <a:off x="1814512" y="6977062"/>
                <a:ext cx="161925" cy="161925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Text: ResNet-18"/>
              <p:cNvSpPr txBox="1"/>
              <p:nvPr/>
            </p:nvSpPr>
            <p:spPr>
              <a:xfrm>
                <a:off x="1238250" y="7213997"/>
                <a:ext cx="1092354" cy="314325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5" b="1" i="0">
                    <a:solidFill>
                      <a:srgbClr val="000000"/>
                    </a:solidFill>
                    <a:latin typeface="Times New Roman"/>
                  </a:rPr>
                  <a:t>ResNet-18</a:t>
                </a:r>
              </a:p>
            </p:txBody>
          </p:sp>
          <p:sp>
            <p:nvSpPr>
              <p:cNvPr id="881" name="Text: (B, 512, H′, W′)"/>
              <p:cNvSpPr txBox="1"/>
              <p:nvPr/>
            </p:nvSpPr>
            <p:spPr>
              <a:xfrm>
                <a:off x="1762125" y="6155007"/>
                <a:ext cx="871731" cy="16344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5" b="1" i="0">
                    <a:solidFill>
                      <a:srgbClr val="000000"/>
                    </a:solidFill>
                    <a:latin typeface="Times New Roman"/>
                  </a:rPr>
                  <a:t>(B, 512, H′, W′)</a:t>
                </a:r>
              </a:p>
            </p:txBody>
          </p:sp>
        </p:grpSp>
        <p:sp>
          <p:nvSpPr>
            <p:cNvPr id="882" name="obj0881 poly"/>
            <p:cNvSpPr/>
            <p:nvPr/>
          </p:nvSpPr>
          <p:spPr>
            <a:xfrm>
              <a:off x="2047875" y="6581775"/>
              <a:ext cx="257175" cy="152400"/>
            </a:xfrm>
            <a:custGeom>
              <a:avLst/>
              <a:gdLst/>
              <a:ahLst/>
              <a:cxnLst/>
              <a:rect l="0" t="0" r="w" b="h"/>
              <a:pathLst>
                <a:path w="2700" h="1600" fill="none">
                  <a:moveTo>
                    <a:pt x="0" y="1600"/>
                  </a:moveTo>
                  <a:lnTo>
                    <a:pt x="2700" y="0"/>
                  </a:lnTo>
                </a:path>
              </a:pathLst>
            </a:custGeom>
            <a:noFill/>
            <a:ln w="35242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3" name="obj0882 poly"/>
            <p:cNvSpPr/>
            <p:nvPr/>
          </p:nvSpPr>
          <p:spPr>
            <a:xfrm>
              <a:off x="2176418" y="6581775"/>
              <a:ext cx="128632" cy="109403"/>
            </a:xfrm>
            <a:custGeom>
              <a:avLst/>
              <a:gdLst/>
              <a:ahLst/>
              <a:cxnLst/>
              <a:rect l="0" t="0" r="w" b="h"/>
              <a:pathLst>
                <a:path w="1350" h="1149" fill="none">
                  <a:moveTo>
                    <a:pt x="0" y="75"/>
                  </a:moveTo>
                  <a:lnTo>
                    <a:pt x="1350" y="0"/>
                  </a:lnTo>
                  <a:lnTo>
                    <a:pt x="636" y="1149"/>
                  </a:lnTo>
                </a:path>
              </a:pathLst>
            </a:custGeom>
            <a:noFill/>
            <a:ln w="35242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4" name="obj0883 rect"/>
            <p:cNvSpPr/>
            <p:nvPr/>
          </p:nvSpPr>
          <p:spPr>
            <a:xfrm>
              <a:off x="2381250" y="6448425"/>
              <a:ext cx="219075" cy="190500"/>
            </a:xfrm>
            <a:prstGeom prst="rect">
              <a:avLst/>
            </a:prstGeom>
            <a:solidFill>
              <a:srgbClr val="74B643"/>
            </a:solidFill>
            <a:ln w="20955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5" name="Text: 1x1 Conv"/>
            <p:cNvSpPr txBox="1"/>
            <p:nvPr/>
          </p:nvSpPr>
          <p:spPr>
            <a:xfrm>
              <a:off x="2266950" y="6669500"/>
              <a:ext cx="584805" cy="1760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000000"/>
                  </a:solidFill>
                  <a:latin typeface="Times New Roman"/>
                </a:rPr>
                <a:t>1x1 Conv</a:t>
              </a:r>
            </a:p>
          </p:txBody>
        </p:sp>
        <p:sp>
          <p:nvSpPr>
            <p:cNvPr id="886" name="obj0885 poly"/>
            <p:cNvSpPr/>
            <p:nvPr/>
          </p:nvSpPr>
          <p:spPr>
            <a:xfrm>
              <a:off x="2676525" y="6562725"/>
              <a:ext cx="257175" cy="95"/>
            </a:xfrm>
            <a:custGeom>
              <a:avLst/>
              <a:gdLst/>
              <a:ahLst/>
              <a:cxnLst/>
              <a:rect l="0" t="0" r="w" b="h"/>
              <a:pathLst>
                <a:path w="2700" h="1" fill="none">
                  <a:moveTo>
                    <a:pt x="0" y="0"/>
                  </a:moveTo>
                  <a:lnTo>
                    <a:pt x="2700" y="0"/>
                  </a:lnTo>
                </a:path>
              </a:pathLst>
            </a:custGeom>
            <a:noFill/>
            <a:ln w="36194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7" name="obj0886 poly"/>
            <p:cNvSpPr/>
            <p:nvPr/>
          </p:nvSpPr>
          <p:spPr>
            <a:xfrm>
              <a:off x="2819400" y="6503289"/>
              <a:ext cx="114300" cy="118872"/>
            </a:xfrm>
            <a:custGeom>
              <a:avLst/>
              <a:gdLst/>
              <a:ahLst/>
              <a:cxnLst/>
              <a:rect l="0" t="0" r="w" b="h"/>
              <a:pathLst>
                <a:path w="1200" h="1248" fill="none">
                  <a:moveTo>
                    <a:pt x="0" y="0"/>
                  </a:moveTo>
                  <a:lnTo>
                    <a:pt x="1200" y="624"/>
                  </a:lnTo>
                  <a:lnTo>
                    <a:pt x="0" y="1248"/>
                  </a:lnTo>
                </a:path>
              </a:pathLst>
            </a:custGeom>
            <a:noFill/>
            <a:ln w="36194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88" name="Flatten &amp; Concat tensor"/>
            <p:cNvGrpSpPr/>
            <p:nvPr/>
          </p:nvGrpSpPr>
          <p:grpSpPr>
            <a:xfrm>
              <a:off x="2390775" y="6010275"/>
              <a:ext cx="1536412" cy="1952958"/>
              <a:chOff x="2390775" y="6010275"/>
              <a:chExt cx="1536412" cy="1952958"/>
            </a:xfrm>
          </p:grpSpPr>
          <p:sp>
            <p:nvSpPr>
              <p:cNvPr id="889" name="obj0888 poly"/>
              <p:cNvSpPr/>
              <p:nvPr/>
            </p:nvSpPr>
            <p:spPr>
              <a:xfrm>
                <a:off x="2952750" y="6010275"/>
                <a:ext cx="447675" cy="190500"/>
              </a:xfrm>
              <a:custGeom>
                <a:avLst/>
                <a:gdLst/>
                <a:ahLst/>
                <a:cxnLst/>
                <a:rect l="0" t="0" r="w" b="h"/>
                <a:pathLst>
                  <a:path w="4700" h="2000" fill="norm">
                    <a:moveTo>
                      <a:pt x="0" y="2000"/>
                    </a:moveTo>
                    <a:lnTo>
                      <a:pt x="2000" y="0"/>
                    </a:lnTo>
                    <a:lnTo>
                      <a:pt x="4700" y="0"/>
                    </a:lnTo>
                    <a:lnTo>
                      <a:pt x="2600" y="2000"/>
                    </a:lnTo>
                    <a:close/>
                  </a:path>
                </a:pathLst>
              </a:custGeom>
              <a:solidFill>
                <a:srgbClr val="F1F4F9"/>
              </a:solidFill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obj0889 poly"/>
              <p:cNvSpPr/>
              <p:nvPr/>
            </p:nvSpPr>
            <p:spPr>
              <a:xfrm>
                <a:off x="3200400" y="6010275"/>
                <a:ext cx="200025" cy="1457325"/>
              </a:xfrm>
              <a:custGeom>
                <a:avLst/>
                <a:gdLst/>
                <a:ahLst/>
                <a:cxnLst/>
                <a:rect l="0" t="0" r="w" b="h"/>
                <a:pathLst>
                  <a:path w="2100" h="15300" fill="norm">
                    <a:moveTo>
                      <a:pt x="0" y="2000"/>
                    </a:moveTo>
                    <a:lnTo>
                      <a:pt x="2100" y="0"/>
                    </a:lnTo>
                    <a:lnTo>
                      <a:pt x="2100" y="13100"/>
                    </a:lnTo>
                    <a:lnTo>
                      <a:pt x="0" y="15300"/>
                    </a:lnTo>
                    <a:close/>
                  </a:path>
                </a:pathLst>
              </a:custGeom>
              <a:solidFill>
                <a:srgbClr val="A8B9D3"/>
              </a:solidFill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obj0890 rect"/>
              <p:cNvSpPr/>
              <p:nvPr/>
            </p:nvSpPr>
            <p:spPr>
              <a:xfrm>
                <a:off x="2952750" y="6200775"/>
                <a:ext cx="247650" cy="140494"/>
              </a:xfrm>
              <a:prstGeom prst="rect">
                <a:avLst/>
              </a:prstGeom>
              <a:solidFill>
                <a:srgbClr val="FDD7F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obj0891 rect"/>
              <p:cNvSpPr/>
              <p:nvPr/>
            </p:nvSpPr>
            <p:spPr>
              <a:xfrm>
                <a:off x="2952750" y="6341269"/>
                <a:ext cx="247650" cy="140494"/>
              </a:xfrm>
              <a:prstGeom prst="rect">
                <a:avLst/>
              </a:prstGeom>
              <a:solidFill>
                <a:srgbClr val="C9E5B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obj0892 rect"/>
              <p:cNvSpPr/>
              <p:nvPr/>
            </p:nvSpPr>
            <p:spPr>
              <a:xfrm>
                <a:off x="2952750" y="6481762"/>
                <a:ext cx="247650" cy="140494"/>
              </a:xfrm>
              <a:prstGeom prst="rect">
                <a:avLst/>
              </a:prstGeom>
              <a:solidFill>
                <a:srgbClr val="C9E5B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" name="obj0893 rect"/>
              <p:cNvSpPr/>
              <p:nvPr/>
            </p:nvSpPr>
            <p:spPr>
              <a:xfrm>
                <a:off x="2952750" y="6622256"/>
                <a:ext cx="247650" cy="140494"/>
              </a:xfrm>
              <a:prstGeom prst="rect">
                <a:avLst/>
              </a:prstGeom>
              <a:solidFill>
                <a:srgbClr val="FDD7F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" name="obj0894 rect"/>
              <p:cNvSpPr/>
              <p:nvPr/>
            </p:nvSpPr>
            <p:spPr>
              <a:xfrm>
                <a:off x="2952750" y="6762750"/>
                <a:ext cx="247650" cy="140494"/>
              </a:xfrm>
              <a:prstGeom prst="rect">
                <a:avLst/>
              </a:prstGeom>
              <a:solidFill>
                <a:srgbClr val="FDD7F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obj0895 rect"/>
              <p:cNvSpPr/>
              <p:nvPr/>
            </p:nvSpPr>
            <p:spPr>
              <a:xfrm>
                <a:off x="2952750" y="6903244"/>
                <a:ext cx="247650" cy="140494"/>
              </a:xfrm>
              <a:prstGeom prst="rect">
                <a:avLst/>
              </a:prstGeom>
              <a:solidFill>
                <a:srgbClr val="C9E5B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" name="obj0896 rect"/>
              <p:cNvSpPr/>
              <p:nvPr/>
            </p:nvSpPr>
            <p:spPr>
              <a:xfrm>
                <a:off x="2952750" y="7043738"/>
                <a:ext cx="247650" cy="140494"/>
              </a:xfrm>
              <a:prstGeom prst="rect">
                <a:avLst/>
              </a:prstGeom>
              <a:solidFill>
                <a:srgbClr val="FDD7F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" name="obj0897 rect"/>
              <p:cNvSpPr/>
              <p:nvPr/>
            </p:nvSpPr>
            <p:spPr>
              <a:xfrm>
                <a:off x="2952750" y="7184231"/>
                <a:ext cx="247650" cy="140494"/>
              </a:xfrm>
              <a:prstGeom prst="rect">
                <a:avLst/>
              </a:prstGeom>
              <a:solidFill>
                <a:srgbClr val="FDD7F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obj0898 rect"/>
              <p:cNvSpPr/>
              <p:nvPr/>
            </p:nvSpPr>
            <p:spPr>
              <a:xfrm>
                <a:off x="2952750" y="7324725"/>
                <a:ext cx="247650" cy="140494"/>
              </a:xfrm>
              <a:prstGeom prst="rect">
                <a:avLst/>
              </a:prstGeom>
              <a:solidFill>
                <a:srgbClr val="FFF1C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Text: (B, 512, H′ W′)"/>
              <p:cNvSpPr txBox="1"/>
              <p:nvPr/>
            </p:nvSpPr>
            <p:spPr>
              <a:xfrm>
                <a:off x="2609850" y="7517082"/>
                <a:ext cx="840775" cy="16344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5" b="1" i="0">
                    <a:solidFill>
                      <a:srgbClr val="000000"/>
                    </a:solidFill>
                    <a:latin typeface="Times New Roman"/>
                  </a:rPr>
                  <a:t>(B, 512, H′ W′)</a:t>
                </a:r>
              </a:p>
            </p:txBody>
          </p:sp>
          <p:sp>
            <p:nvSpPr>
              <p:cNvPr id="901" name="Text: Flatten &amp; Concat"/>
              <p:cNvSpPr txBox="1"/>
              <p:nvPr/>
            </p:nvSpPr>
            <p:spPr>
              <a:xfrm>
                <a:off x="2390775" y="7699200"/>
                <a:ext cx="1536412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000000"/>
                    </a:solidFill>
                    <a:latin typeface="Times New Roman"/>
                  </a:rPr>
                  <a:t>Flatten &amp; Concat</a:t>
                </a:r>
              </a:p>
            </p:txBody>
          </p:sp>
        </p:grpSp>
        <p:grpSp>
          <p:nvGrpSpPr>
            <p:cNvPr id="902" name="Multi-head self-attention module"/>
            <p:cNvGrpSpPr/>
            <p:nvPr/>
          </p:nvGrpSpPr>
          <p:grpSpPr>
            <a:xfrm>
              <a:off x="3400425" y="5565600"/>
              <a:ext cx="2305988" cy="2102025"/>
              <a:chOff x="3400425" y="5565600"/>
              <a:chExt cx="2305988" cy="2102025"/>
            </a:xfrm>
          </p:grpSpPr>
          <p:sp>
            <p:nvSpPr>
              <p:cNvPr id="903" name="obj0902 rect"/>
              <p:cNvSpPr/>
              <p:nvPr/>
            </p:nvSpPr>
            <p:spPr>
              <a:xfrm>
                <a:off x="3848100" y="5829300"/>
                <a:ext cx="1819275" cy="1676400"/>
              </a:xfrm>
              <a:prstGeom prst="roundRect">
                <a:avLst>
                  <a:gd name="adj" fmla="val 19318"/>
                </a:avLst>
              </a:prstGeom>
              <a:solidFill>
                <a:srgbClr val="E7E7E7"/>
              </a:solidFill>
              <a:ln w="26669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obj0903 rect"/>
              <p:cNvSpPr/>
              <p:nvPr/>
            </p:nvSpPr>
            <p:spPr>
              <a:xfrm>
                <a:off x="3733800" y="5905500"/>
                <a:ext cx="1847850" cy="1685925"/>
              </a:xfrm>
              <a:prstGeom prst="roundRect">
                <a:avLst>
                  <a:gd name="adj" fmla="val 19774"/>
                </a:avLst>
              </a:prstGeom>
              <a:solidFill>
                <a:srgbClr val="E7E7E7"/>
              </a:solidFill>
              <a:ln w="26669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obj0904 rect"/>
              <p:cNvSpPr/>
              <p:nvPr/>
            </p:nvSpPr>
            <p:spPr>
              <a:xfrm>
                <a:off x="3619500" y="6000750"/>
                <a:ext cx="1876425" cy="1666875"/>
              </a:xfrm>
              <a:prstGeom prst="roundRect">
                <a:avLst>
                  <a:gd name="adj" fmla="val 20571"/>
                </a:avLst>
              </a:prstGeom>
              <a:solidFill>
                <a:srgbClr val="E7E7E7"/>
              </a:solidFill>
              <a:ln w="26669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" name="Text: Head"/>
              <p:cNvSpPr txBox="1"/>
              <p:nvPr/>
            </p:nvSpPr>
            <p:spPr>
              <a:xfrm>
                <a:off x="4286250" y="5565600"/>
                <a:ext cx="503247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000000"/>
                    </a:solidFill>
                    <a:latin typeface="Times New Roman"/>
                  </a:rPr>
                  <a:t>Head</a:t>
                </a:r>
              </a:p>
            </p:txBody>
          </p:sp>
          <p:sp>
            <p:nvSpPr>
              <p:cNvPr id="907" name="obj0906 poly"/>
              <p:cNvSpPr/>
              <p:nvPr/>
            </p:nvSpPr>
            <p:spPr>
              <a:xfrm>
                <a:off x="4752975" y="5743575"/>
                <a:ext cx="285750" cy="123825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1300" fill="none">
                    <a:moveTo>
                      <a:pt x="0" y="0"/>
                    </a:moveTo>
                    <a:lnTo>
                      <a:pt x="0" y="1300"/>
                    </a:lnTo>
                    <a:lnTo>
                      <a:pt x="3000" y="0"/>
                    </a:lnTo>
                    <a:lnTo>
                      <a:pt x="3000" y="800"/>
                    </a:lnTo>
                  </a:path>
                </a:pathLst>
              </a:custGeom>
              <a:noFill/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" name="Text: MHSA"/>
              <p:cNvSpPr txBox="1"/>
              <p:nvPr/>
            </p:nvSpPr>
            <p:spPr>
              <a:xfrm>
                <a:off x="4714875" y="6003893"/>
                <a:ext cx="676275" cy="27660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>
                    <a:solidFill>
                      <a:srgbClr val="000000"/>
                    </a:solidFill>
                    <a:latin typeface="Times New Roman"/>
                  </a:rPr>
                  <a:t>MHSA</a:t>
                </a:r>
              </a:p>
            </p:txBody>
          </p:sp>
          <p:sp>
            <p:nvSpPr>
              <p:cNvPr id="909" name="obj0908 poly"/>
              <p:cNvSpPr/>
              <p:nvPr/>
            </p:nvSpPr>
            <p:spPr>
              <a:xfrm>
                <a:off x="3400425" y="6286500"/>
                <a:ext cx="381000" cy="533400"/>
              </a:xfrm>
              <a:custGeom>
                <a:avLst/>
                <a:gdLst/>
                <a:ahLst/>
                <a:cxnLst/>
                <a:rect l="0" t="0" r="w" b="h"/>
                <a:pathLst>
                  <a:path w="4000" h="5600" fill="none">
                    <a:moveTo>
                      <a:pt x="0" y="5600"/>
                    </a:moveTo>
                    <a:lnTo>
                      <a:pt x="1400" y="5600"/>
                    </a:lnTo>
                    <a:lnTo>
                      <a:pt x="1400" y="0"/>
                    </a:lnTo>
                    <a:lnTo>
                      <a:pt x="4000" y="0"/>
                    </a:lnTo>
                  </a:path>
                </a:pathLst>
              </a:custGeom>
              <a:noFill/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obj0909 poly"/>
              <p:cNvSpPr/>
              <p:nvPr/>
            </p:nvSpPr>
            <p:spPr>
              <a:xfrm>
                <a:off x="3533775" y="6819900"/>
                <a:ext cx="257175" cy="552450"/>
              </a:xfrm>
              <a:custGeom>
                <a:avLst/>
                <a:gdLst/>
                <a:ahLst/>
                <a:cxnLst/>
                <a:rect l="0" t="0" r="w" b="h"/>
                <a:pathLst>
                  <a:path w="2700" h="5800" fill="none">
                    <a:moveTo>
                      <a:pt x="0" y="0"/>
                    </a:moveTo>
                    <a:lnTo>
                      <a:pt x="0" y="5800"/>
                    </a:lnTo>
                    <a:lnTo>
                      <a:pt x="2700" y="5800"/>
                    </a:lnTo>
                  </a:path>
                </a:pathLst>
              </a:custGeom>
              <a:noFill/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" name="obj0910 poly"/>
              <p:cNvSpPr/>
              <p:nvPr/>
            </p:nvSpPr>
            <p:spPr>
              <a:xfrm>
                <a:off x="3533775" y="6105525"/>
                <a:ext cx="180975" cy="180975"/>
              </a:xfrm>
              <a:custGeom>
                <a:avLst/>
                <a:gdLst/>
                <a:ahLst/>
                <a:cxnLst/>
                <a:rect l="0" t="0" r="w" b="h"/>
                <a:pathLst>
                  <a:path w="1900" h="1900" fill="none">
                    <a:moveTo>
                      <a:pt x="0" y="1900"/>
                    </a:moveTo>
                    <a:lnTo>
                      <a:pt x="1900" y="0"/>
                    </a:lnTo>
                  </a:path>
                </a:pathLst>
              </a:custGeom>
              <a:noFill/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" name="obj0911 poly"/>
              <p:cNvSpPr/>
              <p:nvPr/>
            </p:nvSpPr>
            <p:spPr>
              <a:xfrm>
                <a:off x="3533775" y="6638925"/>
                <a:ext cx="180975" cy="180975"/>
              </a:xfrm>
              <a:custGeom>
                <a:avLst/>
                <a:gdLst/>
                <a:ahLst/>
                <a:cxnLst/>
                <a:rect l="0" t="0" r="w" b="h"/>
                <a:pathLst>
                  <a:path w="1900" h="1900" fill="none">
                    <a:moveTo>
                      <a:pt x="0" y="1900"/>
                    </a:moveTo>
                    <a:lnTo>
                      <a:pt x="1900" y="0"/>
                    </a:lnTo>
                  </a:path>
                </a:pathLst>
              </a:custGeom>
              <a:noFill/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obj0912 poly"/>
              <p:cNvSpPr/>
              <p:nvPr/>
            </p:nvSpPr>
            <p:spPr>
              <a:xfrm>
                <a:off x="3533775" y="7191375"/>
                <a:ext cx="180975" cy="180975"/>
              </a:xfrm>
              <a:custGeom>
                <a:avLst/>
                <a:gdLst/>
                <a:ahLst/>
                <a:cxnLst/>
                <a:rect l="0" t="0" r="w" b="h"/>
                <a:pathLst>
                  <a:path w="1900" h="1900" fill="none">
                    <a:moveTo>
                      <a:pt x="0" y="1900"/>
                    </a:moveTo>
                    <a:lnTo>
                      <a:pt x="1900" y="0"/>
                    </a:lnTo>
                  </a:path>
                </a:pathLst>
              </a:custGeom>
              <a:noFill/>
              <a:ln w="23812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" name="obj0913 poly"/>
              <p:cNvSpPr/>
              <p:nvPr/>
            </p:nvSpPr>
            <p:spPr>
              <a:xfrm>
                <a:off x="3552825" y="6286500"/>
                <a:ext cx="24765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600" h="1" fill="none">
                    <a:moveTo>
                      <a:pt x="0" y="0"/>
                    </a:moveTo>
                    <a:lnTo>
                      <a:pt x="2600" y="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obj0914 poly"/>
              <p:cNvSpPr/>
              <p:nvPr/>
            </p:nvSpPr>
            <p:spPr>
              <a:xfrm>
                <a:off x="3714750" y="6241923"/>
                <a:ext cx="85725" cy="89154"/>
              </a:xfrm>
              <a:custGeom>
                <a:avLst/>
                <a:gdLst/>
                <a:ahLst/>
                <a:cxnLst/>
                <a:rect l="0" t="0" r="w" b="h"/>
                <a:pathLst>
                  <a:path w="900" h="936" fill="norm">
                    <a:moveTo>
                      <a:pt x="0" y="0"/>
                    </a:moveTo>
                    <a:lnTo>
                      <a:pt x="900" y="468"/>
                    </a:lnTo>
                    <a:lnTo>
                      <a:pt x="0" y="936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obj0915 poly"/>
              <p:cNvSpPr/>
              <p:nvPr/>
            </p:nvSpPr>
            <p:spPr>
              <a:xfrm>
                <a:off x="3552825" y="6829425"/>
                <a:ext cx="24765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600" h="1" fill="none">
                    <a:moveTo>
                      <a:pt x="0" y="0"/>
                    </a:moveTo>
                    <a:lnTo>
                      <a:pt x="2600" y="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" name="obj0916 poly"/>
              <p:cNvSpPr/>
              <p:nvPr/>
            </p:nvSpPr>
            <p:spPr>
              <a:xfrm>
                <a:off x="3714750" y="6784848"/>
                <a:ext cx="85725" cy="89154"/>
              </a:xfrm>
              <a:custGeom>
                <a:avLst/>
                <a:gdLst/>
                <a:ahLst/>
                <a:cxnLst/>
                <a:rect l="0" t="0" r="w" b="h"/>
                <a:pathLst>
                  <a:path w="900" h="936" fill="norm">
                    <a:moveTo>
                      <a:pt x="0" y="0"/>
                    </a:moveTo>
                    <a:lnTo>
                      <a:pt x="900" y="468"/>
                    </a:lnTo>
                    <a:lnTo>
                      <a:pt x="0" y="936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" name="obj0917 poly"/>
              <p:cNvSpPr/>
              <p:nvPr/>
            </p:nvSpPr>
            <p:spPr>
              <a:xfrm>
                <a:off x="3552825" y="7372350"/>
                <a:ext cx="24765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600" h="1" fill="none">
                    <a:moveTo>
                      <a:pt x="0" y="0"/>
                    </a:moveTo>
                    <a:lnTo>
                      <a:pt x="2600" y="0"/>
                    </a:lnTo>
                  </a:path>
                </a:pathLst>
              </a:custGeom>
              <a:noFill/>
              <a:ln w="2476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obj0918 poly"/>
              <p:cNvSpPr/>
              <p:nvPr/>
            </p:nvSpPr>
            <p:spPr>
              <a:xfrm>
                <a:off x="3714750" y="7327773"/>
                <a:ext cx="85725" cy="89154"/>
              </a:xfrm>
              <a:custGeom>
                <a:avLst/>
                <a:gdLst/>
                <a:ahLst/>
                <a:cxnLst/>
                <a:rect l="0" t="0" r="w" b="h"/>
                <a:pathLst>
                  <a:path w="900" h="936" fill="norm">
                    <a:moveTo>
                      <a:pt x="0" y="0"/>
                    </a:moveTo>
                    <a:lnTo>
                      <a:pt x="900" y="468"/>
                    </a:lnTo>
                    <a:lnTo>
                      <a:pt x="0" y="936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920" name="Editable matrix"/>
              <p:cNvGrpSpPr/>
              <p:nvPr/>
            </p:nvGrpSpPr>
            <p:grpSpPr>
              <a:xfrm>
                <a:off x="3838575" y="6067425"/>
                <a:ext cx="314325" cy="447675"/>
                <a:chOff x="3838575" y="6067425"/>
                <a:chExt cx="314325" cy="447675"/>
              </a:xfrm>
            </p:grpSpPr>
            <p:sp>
              <p:nvSpPr>
                <p:cNvPr id="921" name="obj0920 rect"/>
                <p:cNvSpPr/>
                <p:nvPr/>
              </p:nvSpPr>
              <p:spPr>
                <a:xfrm>
                  <a:off x="3838575" y="6067425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2" name="obj0921 rect"/>
                <p:cNvSpPr/>
                <p:nvPr/>
              </p:nvSpPr>
              <p:spPr>
                <a:xfrm>
                  <a:off x="3943350" y="6067425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3" name="obj0922 rect"/>
                <p:cNvSpPr/>
                <p:nvPr/>
              </p:nvSpPr>
              <p:spPr>
                <a:xfrm>
                  <a:off x="4048125" y="6067425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4" name="obj0923 rect"/>
                <p:cNvSpPr/>
                <p:nvPr/>
              </p:nvSpPr>
              <p:spPr>
                <a:xfrm>
                  <a:off x="3838575" y="6179344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5" name="obj0924 rect"/>
                <p:cNvSpPr/>
                <p:nvPr/>
              </p:nvSpPr>
              <p:spPr>
                <a:xfrm>
                  <a:off x="3943350" y="6179344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6" name="obj0925 rect"/>
                <p:cNvSpPr/>
                <p:nvPr/>
              </p:nvSpPr>
              <p:spPr>
                <a:xfrm>
                  <a:off x="4048125" y="6179344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7" name="obj0926 rect"/>
                <p:cNvSpPr/>
                <p:nvPr/>
              </p:nvSpPr>
              <p:spPr>
                <a:xfrm>
                  <a:off x="3838575" y="6291262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8" name="obj0927 rect"/>
                <p:cNvSpPr/>
                <p:nvPr/>
              </p:nvSpPr>
              <p:spPr>
                <a:xfrm>
                  <a:off x="3943350" y="6291262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9" name="obj0928 rect"/>
                <p:cNvSpPr/>
                <p:nvPr/>
              </p:nvSpPr>
              <p:spPr>
                <a:xfrm>
                  <a:off x="4048125" y="6291262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0" name="obj0929 rect"/>
                <p:cNvSpPr/>
                <p:nvPr/>
              </p:nvSpPr>
              <p:spPr>
                <a:xfrm>
                  <a:off x="3838575" y="6403181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1" name="obj0930 rect"/>
                <p:cNvSpPr/>
                <p:nvPr/>
              </p:nvSpPr>
              <p:spPr>
                <a:xfrm>
                  <a:off x="3943350" y="6403181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2" name="obj0931 rect"/>
                <p:cNvSpPr/>
                <p:nvPr/>
              </p:nvSpPr>
              <p:spPr>
                <a:xfrm>
                  <a:off x="4048125" y="6403181"/>
                  <a:ext cx="104775" cy="111919"/>
                </a:xfrm>
                <a:prstGeom prst="rect">
                  <a:avLst/>
                </a:prstGeom>
                <a:solidFill>
                  <a:srgbClr val="BE65A6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33" name="Editable matrix"/>
              <p:cNvGrpSpPr/>
              <p:nvPr/>
            </p:nvGrpSpPr>
            <p:grpSpPr>
              <a:xfrm>
                <a:off x="3838575" y="6600825"/>
                <a:ext cx="314325" cy="447675"/>
                <a:chOff x="3838575" y="6600825"/>
                <a:chExt cx="314325" cy="447675"/>
              </a:xfrm>
            </p:grpSpPr>
            <p:sp>
              <p:nvSpPr>
                <p:cNvPr id="934" name="obj0933 rect"/>
                <p:cNvSpPr/>
                <p:nvPr/>
              </p:nvSpPr>
              <p:spPr>
                <a:xfrm>
                  <a:off x="3838575" y="6600825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5" name="obj0934 rect"/>
                <p:cNvSpPr/>
                <p:nvPr/>
              </p:nvSpPr>
              <p:spPr>
                <a:xfrm>
                  <a:off x="3943350" y="6600825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6" name="obj0935 rect"/>
                <p:cNvSpPr/>
                <p:nvPr/>
              </p:nvSpPr>
              <p:spPr>
                <a:xfrm>
                  <a:off x="4048125" y="6600825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7" name="obj0936 rect"/>
                <p:cNvSpPr/>
                <p:nvPr/>
              </p:nvSpPr>
              <p:spPr>
                <a:xfrm>
                  <a:off x="3838575" y="6712744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8" name="obj0937 rect"/>
                <p:cNvSpPr/>
                <p:nvPr/>
              </p:nvSpPr>
              <p:spPr>
                <a:xfrm>
                  <a:off x="3943350" y="6712744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9" name="obj0938 rect"/>
                <p:cNvSpPr/>
                <p:nvPr/>
              </p:nvSpPr>
              <p:spPr>
                <a:xfrm>
                  <a:off x="4048125" y="6712744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0" name="obj0939 rect"/>
                <p:cNvSpPr/>
                <p:nvPr/>
              </p:nvSpPr>
              <p:spPr>
                <a:xfrm>
                  <a:off x="3838575" y="6824662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1" name="obj0940 rect"/>
                <p:cNvSpPr/>
                <p:nvPr/>
              </p:nvSpPr>
              <p:spPr>
                <a:xfrm>
                  <a:off x="3943350" y="6824662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2" name="obj0941 rect"/>
                <p:cNvSpPr/>
                <p:nvPr/>
              </p:nvSpPr>
              <p:spPr>
                <a:xfrm>
                  <a:off x="4048125" y="6824662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3" name="obj0942 rect"/>
                <p:cNvSpPr/>
                <p:nvPr/>
              </p:nvSpPr>
              <p:spPr>
                <a:xfrm>
                  <a:off x="3838575" y="6936581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4" name="obj0943 rect"/>
                <p:cNvSpPr/>
                <p:nvPr/>
              </p:nvSpPr>
              <p:spPr>
                <a:xfrm>
                  <a:off x="3943350" y="6936581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5" name="obj0944 rect"/>
                <p:cNvSpPr/>
                <p:nvPr/>
              </p:nvSpPr>
              <p:spPr>
                <a:xfrm>
                  <a:off x="4048125" y="6936581"/>
                  <a:ext cx="104775" cy="111919"/>
                </a:xfrm>
                <a:prstGeom prst="rect">
                  <a:avLst/>
                </a:prstGeom>
                <a:solidFill>
                  <a:srgbClr val="B78D7B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46" name="Editable matrix"/>
              <p:cNvGrpSpPr/>
              <p:nvPr/>
            </p:nvGrpSpPr>
            <p:grpSpPr>
              <a:xfrm>
                <a:off x="3838575" y="7143750"/>
                <a:ext cx="314325" cy="447675"/>
                <a:chOff x="3838575" y="7143750"/>
                <a:chExt cx="314325" cy="447675"/>
              </a:xfrm>
            </p:grpSpPr>
            <p:sp>
              <p:nvSpPr>
                <p:cNvPr id="947" name="obj0946 rect"/>
                <p:cNvSpPr/>
                <p:nvPr/>
              </p:nvSpPr>
              <p:spPr>
                <a:xfrm>
                  <a:off x="3838575" y="7143750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8" name="obj0947 rect"/>
                <p:cNvSpPr/>
                <p:nvPr/>
              </p:nvSpPr>
              <p:spPr>
                <a:xfrm>
                  <a:off x="3943350" y="7143750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9" name="obj0948 rect"/>
                <p:cNvSpPr/>
                <p:nvPr/>
              </p:nvSpPr>
              <p:spPr>
                <a:xfrm>
                  <a:off x="4048125" y="7143750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0" name="obj0949 rect"/>
                <p:cNvSpPr/>
                <p:nvPr/>
              </p:nvSpPr>
              <p:spPr>
                <a:xfrm>
                  <a:off x="3838575" y="7255669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1" name="obj0950 rect"/>
                <p:cNvSpPr/>
                <p:nvPr/>
              </p:nvSpPr>
              <p:spPr>
                <a:xfrm>
                  <a:off x="3943350" y="7255669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2" name="obj0951 rect"/>
                <p:cNvSpPr/>
                <p:nvPr/>
              </p:nvSpPr>
              <p:spPr>
                <a:xfrm>
                  <a:off x="4048125" y="7255669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3" name="obj0952 rect"/>
                <p:cNvSpPr/>
                <p:nvPr/>
              </p:nvSpPr>
              <p:spPr>
                <a:xfrm>
                  <a:off x="3838575" y="7367588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4" name="obj0953 rect"/>
                <p:cNvSpPr/>
                <p:nvPr/>
              </p:nvSpPr>
              <p:spPr>
                <a:xfrm>
                  <a:off x="3943350" y="7367588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5" name="obj0954 rect"/>
                <p:cNvSpPr/>
                <p:nvPr/>
              </p:nvSpPr>
              <p:spPr>
                <a:xfrm>
                  <a:off x="4048125" y="7367588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6" name="obj0955 rect"/>
                <p:cNvSpPr/>
                <p:nvPr/>
              </p:nvSpPr>
              <p:spPr>
                <a:xfrm>
                  <a:off x="3838575" y="7479506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7" name="obj0956 rect"/>
                <p:cNvSpPr/>
                <p:nvPr/>
              </p:nvSpPr>
              <p:spPr>
                <a:xfrm>
                  <a:off x="3943350" y="7479506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8" name="obj0957 rect"/>
                <p:cNvSpPr/>
                <p:nvPr/>
              </p:nvSpPr>
              <p:spPr>
                <a:xfrm>
                  <a:off x="4048125" y="7479506"/>
                  <a:ext cx="104775" cy="111919"/>
                </a:xfrm>
                <a:prstGeom prst="rect">
                  <a:avLst/>
                </a:prstGeom>
                <a:solidFill>
                  <a:srgbClr val="8CB89A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959" name="obj0958 poly"/>
              <p:cNvSpPr/>
              <p:nvPr/>
            </p:nvSpPr>
            <p:spPr>
              <a:xfrm>
                <a:off x="4162425" y="6286500"/>
                <a:ext cx="1524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1600" h="1" fill="none">
                    <a:moveTo>
                      <a:pt x="0" y="0"/>
                    </a:moveTo>
                    <a:lnTo>
                      <a:pt x="1600" y="0"/>
                    </a:lnTo>
                  </a:path>
                </a:pathLst>
              </a:custGeom>
              <a:noFill/>
              <a:ln w="2095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" name="obj0959 poly"/>
              <p:cNvSpPr/>
              <p:nvPr/>
            </p:nvSpPr>
            <p:spPr>
              <a:xfrm>
                <a:off x="4248150" y="6251829"/>
                <a:ext cx="66675" cy="69342"/>
              </a:xfrm>
              <a:custGeom>
                <a:avLst/>
                <a:gdLst/>
                <a:ahLst/>
                <a:cxnLst/>
                <a:rect l="0" t="0" r="w" b="h"/>
                <a:pathLst>
                  <a:path w="700" h="728" fill="norm">
                    <a:moveTo>
                      <a:pt x="0" y="0"/>
                    </a:moveTo>
                    <a:lnTo>
                      <a:pt x="700" y="364"/>
                    </a:lnTo>
                    <a:lnTo>
                      <a:pt x="0" y="728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961" name="Editable matrix"/>
              <p:cNvGrpSpPr/>
              <p:nvPr/>
            </p:nvGrpSpPr>
            <p:grpSpPr>
              <a:xfrm>
                <a:off x="4333875" y="6143625"/>
                <a:ext cx="200025" cy="295275"/>
                <a:chOff x="4333875" y="6143625"/>
                <a:chExt cx="200025" cy="295275"/>
              </a:xfrm>
            </p:grpSpPr>
            <p:sp>
              <p:nvSpPr>
                <p:cNvPr id="962" name="obj0961 rect"/>
                <p:cNvSpPr/>
                <p:nvPr/>
              </p:nvSpPr>
              <p:spPr>
                <a:xfrm>
                  <a:off x="4333875" y="6143625"/>
                  <a:ext cx="100012" cy="98425"/>
                </a:xfrm>
                <a:prstGeom prst="rect">
                  <a:avLst/>
                </a:prstGeom>
                <a:solidFill>
                  <a:srgbClr val="E2EFD7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3" name="obj0962 rect"/>
                <p:cNvSpPr/>
                <p:nvPr/>
              </p:nvSpPr>
              <p:spPr>
                <a:xfrm>
                  <a:off x="4433888" y="6143625"/>
                  <a:ext cx="100012" cy="98425"/>
                </a:xfrm>
                <a:prstGeom prst="rect">
                  <a:avLst/>
                </a:prstGeom>
                <a:solidFill>
                  <a:srgbClr val="E2EFD7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4" name="obj0963 rect"/>
                <p:cNvSpPr/>
                <p:nvPr/>
              </p:nvSpPr>
              <p:spPr>
                <a:xfrm>
                  <a:off x="4333875" y="6242050"/>
                  <a:ext cx="100012" cy="98425"/>
                </a:xfrm>
                <a:prstGeom prst="rect">
                  <a:avLst/>
                </a:prstGeom>
                <a:solidFill>
                  <a:srgbClr val="E2EFD7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5" name="obj0964 rect"/>
                <p:cNvSpPr/>
                <p:nvPr/>
              </p:nvSpPr>
              <p:spPr>
                <a:xfrm>
                  <a:off x="4433888" y="6242050"/>
                  <a:ext cx="100012" cy="98425"/>
                </a:xfrm>
                <a:prstGeom prst="rect">
                  <a:avLst/>
                </a:prstGeom>
                <a:solidFill>
                  <a:srgbClr val="E2EFD7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6" name="obj0965 rect"/>
                <p:cNvSpPr/>
                <p:nvPr/>
              </p:nvSpPr>
              <p:spPr>
                <a:xfrm>
                  <a:off x="4333875" y="6340475"/>
                  <a:ext cx="100012" cy="98425"/>
                </a:xfrm>
                <a:prstGeom prst="rect">
                  <a:avLst/>
                </a:prstGeom>
                <a:solidFill>
                  <a:srgbClr val="E2EFD7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7" name="obj0966 rect"/>
                <p:cNvSpPr/>
                <p:nvPr/>
              </p:nvSpPr>
              <p:spPr>
                <a:xfrm>
                  <a:off x="4433888" y="6340475"/>
                  <a:ext cx="100012" cy="98425"/>
                </a:xfrm>
                <a:prstGeom prst="rect">
                  <a:avLst/>
                </a:prstGeom>
                <a:solidFill>
                  <a:srgbClr val="E2EFD7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968" name="obj0967 poly"/>
              <p:cNvSpPr/>
              <p:nvPr/>
            </p:nvSpPr>
            <p:spPr>
              <a:xfrm>
                <a:off x="4162425" y="6829425"/>
                <a:ext cx="1524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1600" h="1" fill="none">
                    <a:moveTo>
                      <a:pt x="0" y="0"/>
                    </a:moveTo>
                    <a:lnTo>
                      <a:pt x="1600" y="0"/>
                    </a:lnTo>
                  </a:path>
                </a:pathLst>
              </a:custGeom>
              <a:noFill/>
              <a:ln w="2095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" name="obj0968 poly"/>
              <p:cNvSpPr/>
              <p:nvPr/>
            </p:nvSpPr>
            <p:spPr>
              <a:xfrm>
                <a:off x="4248150" y="6794754"/>
                <a:ext cx="66675" cy="69342"/>
              </a:xfrm>
              <a:custGeom>
                <a:avLst/>
                <a:gdLst/>
                <a:ahLst/>
                <a:cxnLst/>
                <a:rect l="0" t="0" r="w" b="h"/>
                <a:pathLst>
                  <a:path w="700" h="728" fill="norm">
                    <a:moveTo>
                      <a:pt x="0" y="0"/>
                    </a:moveTo>
                    <a:lnTo>
                      <a:pt x="700" y="364"/>
                    </a:lnTo>
                    <a:lnTo>
                      <a:pt x="0" y="728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970" name="Editable matrix"/>
              <p:cNvGrpSpPr/>
              <p:nvPr/>
            </p:nvGrpSpPr>
            <p:grpSpPr>
              <a:xfrm>
                <a:off x="4333875" y="6686550"/>
                <a:ext cx="200025" cy="295275"/>
                <a:chOff x="4333875" y="6686550"/>
                <a:chExt cx="200025" cy="295275"/>
              </a:xfrm>
            </p:grpSpPr>
            <p:sp>
              <p:nvSpPr>
                <p:cNvPr id="971" name="obj0970 rect"/>
                <p:cNvSpPr/>
                <p:nvPr/>
              </p:nvSpPr>
              <p:spPr>
                <a:xfrm>
                  <a:off x="4333875" y="6686550"/>
                  <a:ext cx="100012" cy="98425"/>
                </a:xfrm>
                <a:prstGeom prst="rect">
                  <a:avLst/>
                </a:prstGeom>
                <a:solidFill>
                  <a:srgbClr val="FAE4D4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2" name="obj0971 rect"/>
                <p:cNvSpPr/>
                <p:nvPr/>
              </p:nvSpPr>
              <p:spPr>
                <a:xfrm>
                  <a:off x="4433888" y="6686550"/>
                  <a:ext cx="100012" cy="98425"/>
                </a:xfrm>
                <a:prstGeom prst="rect">
                  <a:avLst/>
                </a:prstGeom>
                <a:solidFill>
                  <a:srgbClr val="FAE4D4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3" name="obj0972 rect"/>
                <p:cNvSpPr/>
                <p:nvPr/>
              </p:nvSpPr>
              <p:spPr>
                <a:xfrm>
                  <a:off x="4333875" y="6784975"/>
                  <a:ext cx="100012" cy="98425"/>
                </a:xfrm>
                <a:prstGeom prst="rect">
                  <a:avLst/>
                </a:prstGeom>
                <a:solidFill>
                  <a:srgbClr val="FAE4D4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4" name="obj0973 rect"/>
                <p:cNvSpPr/>
                <p:nvPr/>
              </p:nvSpPr>
              <p:spPr>
                <a:xfrm>
                  <a:off x="4433888" y="6784975"/>
                  <a:ext cx="100012" cy="98425"/>
                </a:xfrm>
                <a:prstGeom prst="rect">
                  <a:avLst/>
                </a:prstGeom>
                <a:solidFill>
                  <a:srgbClr val="FAE4D4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5" name="obj0974 rect"/>
                <p:cNvSpPr/>
                <p:nvPr/>
              </p:nvSpPr>
              <p:spPr>
                <a:xfrm>
                  <a:off x="4333875" y="6883400"/>
                  <a:ext cx="100012" cy="98425"/>
                </a:xfrm>
                <a:prstGeom prst="rect">
                  <a:avLst/>
                </a:prstGeom>
                <a:solidFill>
                  <a:srgbClr val="FAE4D4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6" name="obj0975 rect"/>
                <p:cNvSpPr/>
                <p:nvPr/>
              </p:nvSpPr>
              <p:spPr>
                <a:xfrm>
                  <a:off x="4433888" y="6883400"/>
                  <a:ext cx="100012" cy="98425"/>
                </a:xfrm>
                <a:prstGeom prst="rect">
                  <a:avLst/>
                </a:prstGeom>
                <a:solidFill>
                  <a:srgbClr val="FAE4D4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977" name="obj0976 poly"/>
              <p:cNvSpPr/>
              <p:nvPr/>
            </p:nvSpPr>
            <p:spPr>
              <a:xfrm>
                <a:off x="4162425" y="7372350"/>
                <a:ext cx="1524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1600" h="1" fill="none">
                    <a:moveTo>
                      <a:pt x="0" y="0"/>
                    </a:moveTo>
                    <a:lnTo>
                      <a:pt x="1600" y="0"/>
                    </a:lnTo>
                  </a:path>
                </a:pathLst>
              </a:custGeom>
              <a:noFill/>
              <a:ln w="2095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" name="obj0977 poly"/>
              <p:cNvSpPr/>
              <p:nvPr/>
            </p:nvSpPr>
            <p:spPr>
              <a:xfrm>
                <a:off x="4248150" y="7337679"/>
                <a:ext cx="66675" cy="69342"/>
              </a:xfrm>
              <a:custGeom>
                <a:avLst/>
                <a:gdLst/>
                <a:ahLst/>
                <a:cxnLst/>
                <a:rect l="0" t="0" r="w" b="h"/>
                <a:pathLst>
                  <a:path w="700" h="728" fill="norm">
                    <a:moveTo>
                      <a:pt x="0" y="0"/>
                    </a:moveTo>
                    <a:lnTo>
                      <a:pt x="700" y="364"/>
                    </a:lnTo>
                    <a:lnTo>
                      <a:pt x="0" y="728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979" name="Editable matrix"/>
              <p:cNvGrpSpPr/>
              <p:nvPr/>
            </p:nvGrpSpPr>
            <p:grpSpPr>
              <a:xfrm>
                <a:off x="4333875" y="7219950"/>
                <a:ext cx="200025" cy="295275"/>
                <a:chOff x="4333875" y="7219950"/>
                <a:chExt cx="200025" cy="295275"/>
              </a:xfrm>
            </p:grpSpPr>
            <p:sp>
              <p:nvSpPr>
                <p:cNvPr id="980" name="obj0979 rect"/>
                <p:cNvSpPr/>
                <p:nvPr/>
              </p:nvSpPr>
              <p:spPr>
                <a:xfrm>
                  <a:off x="4333875" y="7219950"/>
                  <a:ext cx="100012" cy="98425"/>
                </a:xfrm>
                <a:prstGeom prst="rect">
                  <a:avLst/>
                </a:prstGeom>
                <a:solidFill>
                  <a:srgbClr val="F8DCE2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1" name="obj0980 rect"/>
                <p:cNvSpPr/>
                <p:nvPr/>
              </p:nvSpPr>
              <p:spPr>
                <a:xfrm>
                  <a:off x="4433888" y="7219950"/>
                  <a:ext cx="100012" cy="98425"/>
                </a:xfrm>
                <a:prstGeom prst="rect">
                  <a:avLst/>
                </a:prstGeom>
                <a:solidFill>
                  <a:srgbClr val="F8DCE2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2" name="obj0981 rect"/>
                <p:cNvSpPr/>
                <p:nvPr/>
              </p:nvSpPr>
              <p:spPr>
                <a:xfrm>
                  <a:off x="4333875" y="7318375"/>
                  <a:ext cx="100012" cy="98425"/>
                </a:xfrm>
                <a:prstGeom prst="rect">
                  <a:avLst/>
                </a:prstGeom>
                <a:solidFill>
                  <a:srgbClr val="F8DCE2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3" name="obj0982 rect"/>
                <p:cNvSpPr/>
                <p:nvPr/>
              </p:nvSpPr>
              <p:spPr>
                <a:xfrm>
                  <a:off x="4433888" y="7318375"/>
                  <a:ext cx="100012" cy="98425"/>
                </a:xfrm>
                <a:prstGeom prst="rect">
                  <a:avLst/>
                </a:prstGeom>
                <a:solidFill>
                  <a:srgbClr val="F8DCE2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4" name="obj0983 rect"/>
                <p:cNvSpPr/>
                <p:nvPr/>
              </p:nvSpPr>
              <p:spPr>
                <a:xfrm>
                  <a:off x="4333875" y="7416800"/>
                  <a:ext cx="100012" cy="98425"/>
                </a:xfrm>
                <a:prstGeom prst="rect">
                  <a:avLst/>
                </a:prstGeom>
                <a:solidFill>
                  <a:srgbClr val="F8DCE2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5" name="obj0984 rect"/>
                <p:cNvSpPr/>
                <p:nvPr/>
              </p:nvSpPr>
              <p:spPr>
                <a:xfrm>
                  <a:off x="4433888" y="7416800"/>
                  <a:ext cx="100012" cy="98425"/>
                </a:xfrm>
                <a:prstGeom prst="rect">
                  <a:avLst/>
                </a:prstGeom>
                <a:solidFill>
                  <a:srgbClr val="F8DCE2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986" name="obj0985 poly"/>
              <p:cNvSpPr/>
              <p:nvPr/>
            </p:nvSpPr>
            <p:spPr>
              <a:xfrm>
                <a:off x="4533900" y="6296025"/>
                <a:ext cx="114300" cy="1066800"/>
              </a:xfrm>
              <a:custGeom>
                <a:avLst/>
                <a:gdLst/>
                <a:ahLst/>
                <a:cxnLst/>
                <a:rect l="0" t="0" r="w" b="h"/>
                <a:pathLst>
                  <a:path w="1200" h="11200" fill="none">
                    <a:moveTo>
                      <a:pt x="0" y="0"/>
                    </a:moveTo>
                    <a:lnTo>
                      <a:pt x="1200" y="0"/>
                    </a:lnTo>
                    <a:lnTo>
                      <a:pt x="1200" y="11200"/>
                    </a:lnTo>
                    <a:lnTo>
                      <a:pt x="0" y="11200"/>
                    </a:lnTo>
                  </a:path>
                </a:pathLst>
              </a:custGeom>
              <a:noFill/>
              <a:ln w="2095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" name="obj0986 poly"/>
              <p:cNvSpPr/>
              <p:nvPr/>
            </p:nvSpPr>
            <p:spPr>
              <a:xfrm>
                <a:off x="4533900" y="6829425"/>
                <a:ext cx="20955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200" h="1" fill="none">
                    <a:moveTo>
                      <a:pt x="0" y="0"/>
                    </a:moveTo>
                    <a:lnTo>
                      <a:pt x="2200" y="0"/>
                    </a:lnTo>
                  </a:path>
                </a:pathLst>
              </a:custGeom>
              <a:noFill/>
              <a:ln w="22859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" name="obj0987 poly"/>
              <p:cNvSpPr/>
              <p:nvPr/>
            </p:nvSpPr>
            <p:spPr>
              <a:xfrm>
                <a:off x="4667250" y="6789801"/>
                <a:ext cx="76200" cy="79248"/>
              </a:xfrm>
              <a:custGeom>
                <a:avLst/>
                <a:gdLst/>
                <a:ahLst/>
                <a:cxnLst/>
                <a:rect l="0" t="0" r="w" b="h"/>
                <a:pathLst>
                  <a:path w="800" h="832" fill="norm">
                    <a:moveTo>
                      <a:pt x="0" y="0"/>
                    </a:moveTo>
                    <a:lnTo>
                      <a:pt x="800" y="416"/>
                    </a:lnTo>
                    <a:lnTo>
                      <a:pt x="0" y="832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989" name="Editable matrix"/>
              <p:cNvGrpSpPr/>
              <p:nvPr/>
            </p:nvGrpSpPr>
            <p:grpSpPr>
              <a:xfrm>
                <a:off x="4762500" y="6705600"/>
                <a:ext cx="295275" cy="304800"/>
                <a:chOff x="4762500" y="6705600"/>
                <a:chExt cx="295275" cy="304800"/>
              </a:xfrm>
            </p:grpSpPr>
            <p:sp>
              <p:nvSpPr>
                <p:cNvPr id="990" name="obj0989 rect"/>
                <p:cNvSpPr/>
                <p:nvPr/>
              </p:nvSpPr>
              <p:spPr>
                <a:xfrm>
                  <a:off x="4762500" y="67056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1" name="obj0990 rect"/>
                <p:cNvSpPr/>
                <p:nvPr/>
              </p:nvSpPr>
              <p:spPr>
                <a:xfrm>
                  <a:off x="4860925" y="67056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2" name="obj0991 rect"/>
                <p:cNvSpPr/>
                <p:nvPr/>
              </p:nvSpPr>
              <p:spPr>
                <a:xfrm>
                  <a:off x="4959350" y="67056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3" name="obj0992 rect"/>
                <p:cNvSpPr/>
                <p:nvPr/>
              </p:nvSpPr>
              <p:spPr>
                <a:xfrm>
                  <a:off x="4762500" y="68072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4" name="obj0993 rect"/>
                <p:cNvSpPr/>
                <p:nvPr/>
              </p:nvSpPr>
              <p:spPr>
                <a:xfrm>
                  <a:off x="4860925" y="68072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5" name="obj0994 rect"/>
                <p:cNvSpPr/>
                <p:nvPr/>
              </p:nvSpPr>
              <p:spPr>
                <a:xfrm>
                  <a:off x="4959350" y="68072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6" name="obj0995 rect"/>
                <p:cNvSpPr/>
                <p:nvPr/>
              </p:nvSpPr>
              <p:spPr>
                <a:xfrm>
                  <a:off x="4762500" y="69088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7" name="obj0996 rect"/>
                <p:cNvSpPr/>
                <p:nvPr/>
              </p:nvSpPr>
              <p:spPr>
                <a:xfrm>
                  <a:off x="4860925" y="69088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8" name="obj0997 rect"/>
                <p:cNvSpPr/>
                <p:nvPr/>
              </p:nvSpPr>
              <p:spPr>
                <a:xfrm>
                  <a:off x="4959350" y="6908800"/>
                  <a:ext cx="98425" cy="101600"/>
                </a:xfrm>
                <a:prstGeom prst="rect">
                  <a:avLst/>
                </a:prstGeom>
                <a:solidFill>
                  <a:srgbClr val="F8CC00"/>
                </a:solidFill>
                <a:ln w="12382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999" name="obj0998 poly"/>
              <p:cNvSpPr/>
              <p:nvPr/>
            </p:nvSpPr>
            <p:spPr>
              <a:xfrm>
                <a:off x="5086350" y="6915150"/>
                <a:ext cx="142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1500" h="1" fill="none">
                    <a:moveTo>
                      <a:pt x="0" y="0"/>
                    </a:moveTo>
                    <a:lnTo>
                      <a:pt x="1500" y="0"/>
                    </a:lnTo>
                  </a:path>
                </a:pathLst>
              </a:custGeom>
              <a:noFill/>
              <a:ln w="2190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" name="obj0999 poly"/>
              <p:cNvSpPr/>
              <p:nvPr/>
            </p:nvSpPr>
            <p:spPr>
              <a:xfrm>
                <a:off x="5162550" y="6880479"/>
                <a:ext cx="66675" cy="69342"/>
              </a:xfrm>
              <a:custGeom>
                <a:avLst/>
                <a:gdLst/>
                <a:ahLst/>
                <a:cxnLst/>
                <a:rect l="0" t="0" r="w" b="h"/>
                <a:pathLst>
                  <a:path w="700" h="728" fill="norm">
                    <a:moveTo>
                      <a:pt x="0" y="0"/>
                    </a:moveTo>
                    <a:lnTo>
                      <a:pt x="700" y="364"/>
                    </a:lnTo>
                    <a:lnTo>
                      <a:pt x="0" y="728"/>
                    </a:lnTo>
                    <a:close/>
                  </a:path>
                </a:pathLst>
              </a:custGeom>
              <a:solidFill>
                <a:srgbClr val="000000"/>
              </a:solidFill>
              <a:ln w="762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" name="obj1000 rect"/>
              <p:cNvSpPr/>
              <p:nvPr/>
            </p:nvSpPr>
            <p:spPr>
              <a:xfrm>
                <a:off x="5257800" y="6467475"/>
                <a:ext cx="190500" cy="866775"/>
              </a:xfrm>
              <a:prstGeom prst="roundRect">
                <a:avLst>
                  <a:gd name="adj" fmla="val 20000"/>
                </a:avLst>
              </a:prstGeom>
              <a:solidFill>
                <a:srgbClr val="4D7ECF"/>
              </a:solidFill>
              <a:ln w="17145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" name="Text: Softmax"/>
              <p:cNvSpPr txBox="1"/>
              <p:nvPr/>
            </p:nvSpPr>
            <p:spPr>
              <a:xfrm rot="16200000">
                <a:off x="5015404" y="6783577"/>
                <a:ext cx="691009" cy="238887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25" b="1" i="0">
                    <a:solidFill>
                      <a:srgbClr val="FFFFFF"/>
                    </a:solidFill>
                    <a:latin typeface="Times New Roman"/>
                  </a:rPr>
                  <a:t>Softmax</a:t>
                </a:r>
              </a:p>
            </p:txBody>
          </p:sp>
        </p:grpSp>
        <p:grpSp>
          <p:nvGrpSpPr>
            <p:cNvPr id="1003" name="TITAN wordmark"/>
            <p:cNvGrpSpPr/>
            <p:nvPr/>
          </p:nvGrpSpPr>
          <p:grpSpPr>
            <a:xfrm>
              <a:off x="5800725" y="5667375"/>
              <a:ext cx="1104900" cy="352425"/>
              <a:chOff x="5800725" y="5667375"/>
              <a:chExt cx="1104900" cy="352425"/>
            </a:xfrm>
          </p:grpSpPr>
          <p:sp>
            <p:nvSpPr>
              <p:cNvPr id="1004" name="obj1003 poly"/>
              <p:cNvSpPr/>
              <p:nvPr/>
            </p:nvSpPr>
            <p:spPr>
              <a:xfrm>
                <a:off x="5800725" y="5705475"/>
                <a:ext cx="217203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280" h="3300" fill="norm">
                    <a:moveTo>
                      <a:pt x="0" y="0"/>
                    </a:moveTo>
                    <a:lnTo>
                      <a:pt x="2280" y="0"/>
                    </a:lnTo>
                    <a:lnTo>
                      <a:pt x="2280" y="900"/>
                    </a:lnTo>
                    <a:lnTo>
                      <a:pt x="1586" y="900"/>
                    </a:lnTo>
                    <a:lnTo>
                      <a:pt x="1586" y="3300"/>
                    </a:lnTo>
                    <a:lnTo>
                      <a:pt x="694" y="3300"/>
                    </a:lnTo>
                    <a:lnTo>
                      <a:pt x="694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" name="obj1004 poly"/>
              <p:cNvSpPr/>
              <p:nvPr/>
            </p:nvSpPr>
            <p:spPr>
              <a:xfrm>
                <a:off x="6055702" y="5705475"/>
                <a:ext cx="103879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1091" h="3300" fill="norm">
                    <a:moveTo>
                      <a:pt x="0" y="0"/>
                    </a:moveTo>
                    <a:lnTo>
                      <a:pt x="1091" y="0"/>
                    </a:lnTo>
                    <a:lnTo>
                      <a:pt x="1091" y="3300"/>
                    </a:lnTo>
                    <a:lnTo>
                      <a:pt x="0" y="33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" name="obj1005 poly"/>
              <p:cNvSpPr/>
              <p:nvPr/>
            </p:nvSpPr>
            <p:spPr>
              <a:xfrm>
                <a:off x="6197356" y="5705475"/>
                <a:ext cx="217203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280" h="3300" fill="norm">
                    <a:moveTo>
                      <a:pt x="0" y="0"/>
                    </a:moveTo>
                    <a:lnTo>
                      <a:pt x="2280" y="0"/>
                    </a:lnTo>
                    <a:lnTo>
                      <a:pt x="2280" y="900"/>
                    </a:lnTo>
                    <a:lnTo>
                      <a:pt x="1586" y="900"/>
                    </a:lnTo>
                    <a:lnTo>
                      <a:pt x="1586" y="3300"/>
                    </a:lnTo>
                    <a:lnTo>
                      <a:pt x="694" y="3300"/>
                    </a:lnTo>
                    <a:lnTo>
                      <a:pt x="694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" name="obj1006 path"/>
              <p:cNvSpPr/>
              <p:nvPr/>
            </p:nvSpPr>
            <p:spPr>
              <a:xfrm>
                <a:off x="6442889" y="5667375"/>
                <a:ext cx="245533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2578" h="3700" fill="norm">
                    <a:moveTo>
                      <a:pt x="0" y="3700"/>
                    </a:moveTo>
                    <a:lnTo>
                      <a:pt x="0" y="1600"/>
                    </a:lnTo>
                    <a:cubicBezTo>
                      <a:pt x="0" y="0"/>
                      <a:pt x="2578" y="0"/>
                      <a:pt x="2578" y="1600"/>
                    </a:cubicBezTo>
                    <a:lnTo>
                      <a:pt x="2578" y="3700"/>
                    </a:lnTo>
                    <a:lnTo>
                      <a:pt x="1586" y="3700"/>
                    </a:lnTo>
                    <a:lnTo>
                      <a:pt x="1586" y="2600"/>
                    </a:lnTo>
                    <a:lnTo>
                      <a:pt x="1091" y="2600"/>
                    </a:lnTo>
                    <a:lnTo>
                      <a:pt x="1091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" name="obj1007 rect"/>
              <p:cNvSpPr/>
              <p:nvPr/>
            </p:nvSpPr>
            <p:spPr>
              <a:xfrm>
                <a:off x="6546769" y="5800725"/>
                <a:ext cx="47218" cy="66675"/>
              </a:xfrm>
              <a:prstGeom prst="roundRect">
                <a:avLst>
                  <a:gd name="adj" fmla="val 4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" name="obj1008 path"/>
              <p:cNvSpPr/>
              <p:nvPr/>
            </p:nvSpPr>
            <p:spPr>
              <a:xfrm>
                <a:off x="6735640" y="5667375"/>
                <a:ext cx="169985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1785" h="3700" fill="norm">
                    <a:moveTo>
                      <a:pt x="0" y="3700"/>
                    </a:moveTo>
                    <a:lnTo>
                      <a:pt x="0" y="1500"/>
                    </a:lnTo>
                    <a:cubicBezTo>
                      <a:pt x="0" y="0"/>
                      <a:pt x="1785" y="0"/>
                      <a:pt x="1785" y="1500"/>
                    </a:cubicBezTo>
                    <a:lnTo>
                      <a:pt x="1785" y="3700"/>
                    </a:lnTo>
                    <a:lnTo>
                      <a:pt x="1091" y="3700"/>
                    </a:lnTo>
                    <a:lnTo>
                      <a:pt x="1091" y="1600"/>
                    </a:lnTo>
                    <a:cubicBezTo>
                      <a:pt x="1091" y="1100"/>
                      <a:pt x="694" y="1100"/>
                      <a:pt x="694" y="1600"/>
                    </a:cubicBezTo>
                    <a:lnTo>
                      <a:pt x="694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10" name="obj1009 poly"/>
            <p:cNvSpPr/>
            <p:nvPr/>
          </p:nvSpPr>
          <p:spPr>
            <a:xfrm>
              <a:off x="5486400" y="6591300"/>
              <a:ext cx="266700" cy="304800"/>
            </a:xfrm>
            <a:custGeom>
              <a:avLst/>
              <a:gdLst/>
              <a:ahLst/>
              <a:cxnLst/>
              <a:rect l="0" t="0" r="w" b="h"/>
              <a:pathLst>
                <a:path w="2800" h="3200" fill="none">
                  <a:moveTo>
                    <a:pt x="0" y="3200"/>
                  </a:moveTo>
                  <a:lnTo>
                    <a:pt x="2800" y="0"/>
                  </a:lnTo>
                </a:path>
              </a:pathLst>
            </a:custGeom>
            <a:noFill/>
            <a:ln w="32384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1" name="obj1010 poly"/>
            <p:cNvSpPr/>
            <p:nvPr/>
          </p:nvSpPr>
          <p:spPr>
            <a:xfrm>
              <a:off x="5643103" y="6591300"/>
              <a:ext cx="109997" cy="114729"/>
            </a:xfrm>
            <a:custGeom>
              <a:avLst/>
              <a:gdLst/>
              <a:ahLst/>
              <a:cxnLst/>
              <a:rect l="0" t="0" r="w" b="h"/>
              <a:pathLst>
                <a:path w="1155" h="1204" fill="norm">
                  <a:moveTo>
                    <a:pt x="0" y="451"/>
                  </a:moveTo>
                  <a:lnTo>
                    <a:pt x="1155" y="0"/>
                  </a:lnTo>
                  <a:lnTo>
                    <a:pt x="861" y="1204"/>
                  </a:lnTo>
                  <a:close/>
                </a:path>
              </a:pathLst>
            </a:custGeom>
            <a:solidFill>
              <a:srgbClr val="000000"/>
            </a:solidFill>
            <a:ln w="762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2" name="obj1011 rect"/>
            <p:cNvSpPr/>
            <p:nvPr/>
          </p:nvSpPr>
          <p:spPr>
            <a:xfrm>
              <a:off x="5848350" y="6467475"/>
              <a:ext cx="219075" cy="190500"/>
            </a:xfrm>
            <a:prstGeom prst="rect">
              <a:avLst/>
            </a:prstGeom>
            <a:solidFill>
              <a:srgbClr val="78B845"/>
            </a:solidFill>
            <a:ln w="1905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3" name="Text: 1x1 Conv"/>
            <p:cNvSpPr txBox="1"/>
            <p:nvPr/>
          </p:nvSpPr>
          <p:spPr>
            <a:xfrm>
              <a:off x="5743575" y="6297739"/>
              <a:ext cx="508055" cy="1508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000000"/>
                  </a:solidFill>
                  <a:latin typeface="Times New Roman"/>
                </a:rPr>
                <a:t>1x1 Conv</a:t>
              </a:r>
            </a:p>
          </p:txBody>
        </p:sp>
        <p:sp>
          <p:nvSpPr>
            <p:cNvPr id="1014" name="Text: (B, 512, H′, W′)"/>
            <p:cNvSpPr txBox="1"/>
            <p:nvPr/>
          </p:nvSpPr>
          <p:spPr>
            <a:xfrm rot="16200000">
              <a:off x="5372241" y="7083360"/>
              <a:ext cx="871731" cy="16344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5" b="1" i="0">
                  <a:solidFill>
                    <a:srgbClr val="000000"/>
                  </a:solidFill>
                  <a:latin typeface="Times New Roman"/>
                </a:rPr>
                <a:t>(B, 512, H′, W′)</a:t>
              </a:r>
            </a:p>
          </p:txBody>
        </p:sp>
        <p:sp>
          <p:nvSpPr>
            <p:cNvPr id="1015" name="obj1014 poly"/>
            <p:cNvSpPr/>
            <p:nvPr/>
          </p:nvSpPr>
          <p:spPr>
            <a:xfrm>
              <a:off x="6143625" y="6581775"/>
              <a:ext cx="142875" cy="95"/>
            </a:xfrm>
            <a:custGeom>
              <a:avLst/>
              <a:gdLst/>
              <a:ahLst/>
              <a:cxnLst/>
              <a:rect l="0" t="0" r="w" b="h"/>
              <a:pathLst>
                <a:path w="1500" h="1" fill="none">
                  <a:moveTo>
                    <a:pt x="0" y="0"/>
                  </a:moveTo>
                  <a:lnTo>
                    <a:pt x="1500" y="0"/>
                  </a:lnTo>
                </a:path>
              </a:pathLst>
            </a:custGeom>
            <a:noFill/>
            <a:ln w="27622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6" name="obj1015 poly"/>
            <p:cNvSpPr/>
            <p:nvPr/>
          </p:nvSpPr>
          <p:spPr>
            <a:xfrm>
              <a:off x="6210300" y="6542151"/>
              <a:ext cx="76200" cy="79248"/>
            </a:xfrm>
            <a:custGeom>
              <a:avLst/>
              <a:gdLst/>
              <a:ahLst/>
              <a:cxnLst/>
              <a:rect l="0" t="0" r="w" b="h"/>
              <a:pathLst>
                <a:path w="800" h="832" fill="none">
                  <a:moveTo>
                    <a:pt x="0" y="0"/>
                  </a:moveTo>
                  <a:lnTo>
                    <a:pt x="800" y="416"/>
                  </a:lnTo>
                  <a:lnTo>
                    <a:pt x="0" y="832"/>
                  </a:lnTo>
                </a:path>
              </a:pathLst>
            </a:custGeom>
            <a:noFill/>
            <a:ln w="27622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7" name="Text: Upsampling"/>
            <p:cNvSpPr txBox="1"/>
            <p:nvPr/>
          </p:nvSpPr>
          <p:spPr>
            <a:xfrm>
              <a:off x="6248400" y="6183868"/>
              <a:ext cx="786066" cy="1885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5" b="1" i="0">
                  <a:solidFill>
                    <a:srgbClr val="000000"/>
                  </a:solidFill>
                  <a:latin typeface="Times New Roman"/>
                </a:rPr>
                <a:t>Upsampling</a:t>
              </a:r>
            </a:p>
          </p:txBody>
        </p:sp>
        <p:grpSp>
          <p:nvGrpSpPr>
            <p:cNvPr id="1018" name="Editable matrix"/>
            <p:cNvGrpSpPr/>
            <p:nvPr/>
          </p:nvGrpSpPr>
          <p:grpSpPr>
            <a:xfrm>
              <a:off x="6372225" y="6391275"/>
              <a:ext cx="419100" cy="409575"/>
              <a:chOff x="6372225" y="6391275"/>
              <a:chExt cx="419100" cy="409575"/>
            </a:xfrm>
          </p:grpSpPr>
          <p:sp>
            <p:nvSpPr>
              <p:cNvPr id="1019" name="obj1018 rect"/>
              <p:cNvSpPr/>
              <p:nvPr/>
            </p:nvSpPr>
            <p:spPr>
              <a:xfrm>
                <a:off x="6372225" y="6391275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" name="obj1019 rect"/>
              <p:cNvSpPr/>
              <p:nvPr/>
            </p:nvSpPr>
            <p:spPr>
              <a:xfrm>
                <a:off x="6511925" y="6391275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" name="obj1020 rect"/>
              <p:cNvSpPr/>
              <p:nvPr/>
            </p:nvSpPr>
            <p:spPr>
              <a:xfrm>
                <a:off x="6651625" y="6391275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" name="obj1021 rect"/>
              <p:cNvSpPr/>
              <p:nvPr/>
            </p:nvSpPr>
            <p:spPr>
              <a:xfrm>
                <a:off x="6372225" y="6527800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" name="obj1022 rect"/>
              <p:cNvSpPr/>
              <p:nvPr/>
            </p:nvSpPr>
            <p:spPr>
              <a:xfrm>
                <a:off x="6511925" y="6527800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" name="obj1023 rect"/>
              <p:cNvSpPr/>
              <p:nvPr/>
            </p:nvSpPr>
            <p:spPr>
              <a:xfrm>
                <a:off x="6651625" y="6527800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" name="obj1024 rect"/>
              <p:cNvSpPr/>
              <p:nvPr/>
            </p:nvSpPr>
            <p:spPr>
              <a:xfrm>
                <a:off x="6372225" y="6664325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" name="obj1025 rect"/>
              <p:cNvSpPr/>
              <p:nvPr/>
            </p:nvSpPr>
            <p:spPr>
              <a:xfrm>
                <a:off x="6511925" y="6664325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" name="obj1026 rect"/>
              <p:cNvSpPr/>
              <p:nvPr/>
            </p:nvSpPr>
            <p:spPr>
              <a:xfrm>
                <a:off x="6651625" y="6664325"/>
                <a:ext cx="139700" cy="136525"/>
              </a:xfrm>
              <a:prstGeom prst="rect">
                <a:avLst/>
              </a:prstGeom>
              <a:solidFill>
                <a:srgbClr val="1FC997"/>
              </a:solidFill>
              <a:ln w="1524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28" name="Text: (B, 512, H′, W′)"/>
            <p:cNvSpPr txBox="1"/>
            <p:nvPr/>
          </p:nvSpPr>
          <p:spPr>
            <a:xfrm rot="16200000">
              <a:off x="5781816" y="7083360"/>
              <a:ext cx="871731" cy="16344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5" b="1" i="0">
                  <a:solidFill>
                    <a:srgbClr val="000000"/>
                  </a:solidFill>
                  <a:latin typeface="Times New Roman"/>
                </a:rPr>
                <a:t>(B, 512, H′, W′)</a:t>
              </a:r>
            </a:p>
          </p:txBody>
        </p:sp>
        <p:sp>
          <p:nvSpPr>
            <p:cNvPr id="1029" name="obj1028 poly"/>
            <p:cNvSpPr/>
            <p:nvPr/>
          </p:nvSpPr>
          <p:spPr>
            <a:xfrm>
              <a:off x="6581775" y="6810375"/>
              <a:ext cx="314325" cy="495300"/>
            </a:xfrm>
            <a:custGeom>
              <a:avLst/>
              <a:gdLst/>
              <a:ahLst/>
              <a:cxnLst/>
              <a:rect l="0" t="0" r="w" b="h"/>
              <a:pathLst>
                <a:path w="3300" h="5200" fill="none">
                  <a:moveTo>
                    <a:pt x="0" y="0"/>
                  </a:moveTo>
                  <a:lnTo>
                    <a:pt x="0" y="5200"/>
                  </a:lnTo>
                  <a:lnTo>
                    <a:pt x="3300" y="5200"/>
                  </a:lnTo>
                </a:path>
              </a:pathLst>
            </a:custGeom>
            <a:noFill/>
            <a:ln w="25717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0" name="obj1029 poly"/>
            <p:cNvSpPr/>
            <p:nvPr/>
          </p:nvSpPr>
          <p:spPr>
            <a:xfrm>
              <a:off x="6753225" y="7305675"/>
              <a:ext cx="142875" cy="95"/>
            </a:xfrm>
            <a:custGeom>
              <a:avLst/>
              <a:gdLst/>
              <a:ahLst/>
              <a:cxnLst/>
              <a:rect l="0" t="0" r="w" b="h"/>
              <a:pathLst>
                <a:path w="1500" h="1" fill="none">
                  <a:moveTo>
                    <a:pt x="0" y="0"/>
                  </a:moveTo>
                  <a:lnTo>
                    <a:pt x="1500" y="0"/>
                  </a:lnTo>
                </a:path>
              </a:pathLst>
            </a:custGeom>
            <a:noFill/>
            <a:ln w="25717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1" name="obj1030 poly"/>
            <p:cNvSpPr/>
            <p:nvPr/>
          </p:nvSpPr>
          <p:spPr>
            <a:xfrm>
              <a:off x="6800850" y="7256145"/>
              <a:ext cx="95250" cy="99060"/>
            </a:xfrm>
            <a:custGeom>
              <a:avLst/>
              <a:gdLst/>
              <a:ahLst/>
              <a:cxnLst/>
              <a:rect l="0" t="0" r="w" b="h"/>
              <a:pathLst>
                <a:path w="1000" h="1040" fill="none">
                  <a:moveTo>
                    <a:pt x="0" y="0"/>
                  </a:moveTo>
                  <a:lnTo>
                    <a:pt x="1000" y="520"/>
                  </a:lnTo>
                  <a:lnTo>
                    <a:pt x="0" y="1040"/>
                  </a:lnTo>
                </a:path>
              </a:pathLst>
            </a:custGeom>
            <a:noFill/>
            <a:ln w="25717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2" name="obj1031 rect"/>
            <p:cNvSpPr/>
            <p:nvPr/>
          </p:nvSpPr>
          <p:spPr>
            <a:xfrm>
              <a:off x="6924675" y="6791325"/>
              <a:ext cx="276225" cy="1019175"/>
            </a:xfrm>
            <a:prstGeom prst="roundRect">
              <a:avLst>
                <a:gd name="adj" fmla="val 24137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3" name="Text: Outputs"/>
            <p:cNvSpPr txBox="1"/>
            <p:nvPr/>
          </p:nvSpPr>
          <p:spPr>
            <a:xfrm rot="16200000">
              <a:off x="6605893" y="7123005"/>
              <a:ext cx="914742" cy="32689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000000"/>
                  </a:solidFill>
                  <a:latin typeface="Times New Roman"/>
                </a:rPr>
                <a:t>Outputs</a:t>
              </a:r>
            </a:p>
          </p:txBody>
        </p:sp>
        <p:sp>
          <p:nvSpPr>
            <p:cNvPr id="1034" name="Text: (B, 512, H, W)"/>
            <p:cNvSpPr txBox="1"/>
            <p:nvPr/>
          </p:nvSpPr>
          <p:spPr>
            <a:xfrm>
              <a:off x="6448425" y="7840932"/>
              <a:ext cx="802079" cy="16344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5" b="1" i="0">
                  <a:solidFill>
                    <a:srgbClr val="000000"/>
                  </a:solidFill>
                  <a:latin typeface="Times New Roman"/>
                </a:rPr>
                <a:t>(B, 512, H, W)</a:t>
              </a:r>
            </a:p>
          </p:txBody>
        </p:sp>
        <p:sp>
          <p:nvSpPr>
            <p:cNvPr id="1035" name="Text: (b) ResNet-18 Based Model Training"/>
            <p:cNvSpPr txBox="1"/>
            <p:nvPr/>
          </p:nvSpPr>
          <p:spPr>
            <a:xfrm>
              <a:off x="247650" y="8035004"/>
              <a:ext cx="5684535" cy="47777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1" i="0">
                  <a:solidFill>
                    <a:srgbClr val="000000"/>
                  </a:solidFill>
                  <a:latin typeface="Times New Roman"/>
                </a:rPr>
                <a:t>(b) ResNet-18 Based Model Training</a:t>
              </a:r>
            </a:p>
          </p:txBody>
        </p:sp>
      </p:grpSp>
      <p:grpSp>
        <p:nvGrpSpPr>
          <p:cNvPr id="1036" name="(c) Applications in VQEs"/>
          <p:cNvGrpSpPr/>
          <p:nvPr/>
        </p:nvGrpSpPr>
        <p:grpSpPr>
          <a:xfrm>
            <a:off x="7581900" y="3000375"/>
            <a:ext cx="10610850" cy="5553075"/>
            <a:chOff x="7581900" y="3000375"/>
            <a:chExt cx="10610850" cy="5553075"/>
          </a:xfrm>
        </p:grpSpPr>
        <p:sp>
          <p:nvSpPr>
            <p:cNvPr id="1037" name="obj1036 poly"/>
            <p:cNvSpPr/>
            <p:nvPr/>
          </p:nvSpPr>
          <p:spPr>
            <a:xfrm>
              <a:off x="7581900" y="3000375"/>
              <a:ext cx="10610850" cy="5553075"/>
            </a:xfrm>
            <a:custGeom>
              <a:avLst/>
              <a:gdLst/>
              <a:ahLst/>
              <a:cxnLst/>
              <a:rect l="0" t="0" r="w" b="h"/>
              <a:pathLst>
                <a:path w="111400" h="58300" fill="none">
                  <a:moveTo>
                    <a:pt x="0" y="0"/>
                  </a:moveTo>
                  <a:lnTo>
                    <a:pt x="111400" y="0"/>
                  </a:lnTo>
                  <a:lnTo>
                    <a:pt x="111400" y="58300"/>
                  </a:lnTo>
                  <a:lnTo>
                    <a:pt x="0" y="58300"/>
                  </a:lnTo>
                  <a:close/>
                </a:path>
              </a:pathLst>
            </a:custGeom>
            <a:noFill/>
            <a:ln w="47625">
              <a:solidFill>
                <a:srgbClr val="000000"/>
              </a:solidFill>
              <a:custDash>
                <a:ds d="680000" sp="240000"/>
                <a:ds d="120000" sp="240000"/>
              </a:custDash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038" name="Large VQE — before freezing"/>
            <p:cNvGrpSpPr/>
            <p:nvPr/>
          </p:nvGrpSpPr>
          <p:grpSpPr>
            <a:xfrm>
              <a:off x="7658100" y="3152775"/>
              <a:ext cx="3895725" cy="1962150"/>
              <a:chOff x="7658100" y="3152775"/>
              <a:chExt cx="3895725" cy="1962150"/>
            </a:xfrm>
          </p:grpSpPr>
          <p:sp>
            <p:nvSpPr>
              <p:cNvPr id="1039" name="obj1038 rect"/>
              <p:cNvSpPr/>
              <p:nvPr/>
            </p:nvSpPr>
            <p:spPr>
              <a:xfrm>
                <a:off x="7753350" y="3286125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" name="obj1039 rect"/>
              <p:cNvSpPr/>
              <p:nvPr/>
            </p:nvSpPr>
            <p:spPr>
              <a:xfrm>
                <a:off x="7658100" y="3152775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41" name="Qubit input |0⟩"/>
              <p:cNvGrpSpPr/>
              <p:nvPr/>
            </p:nvGrpSpPr>
            <p:grpSpPr>
              <a:xfrm>
                <a:off x="7772400" y="3250311"/>
                <a:ext cx="157386" cy="201168"/>
                <a:chOff x="7772400" y="3250311"/>
                <a:chExt cx="157386" cy="201168"/>
              </a:xfrm>
            </p:grpSpPr>
            <p:sp>
              <p:nvSpPr>
                <p:cNvPr id="1042" name="Text: |0"/>
                <p:cNvSpPr txBox="1"/>
                <p:nvPr/>
              </p:nvSpPr>
              <p:spPr>
                <a:xfrm>
                  <a:off x="7772400" y="32503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043" name="obj1042 poly"/>
                <p:cNvSpPr/>
                <p:nvPr/>
              </p:nvSpPr>
              <p:spPr>
                <a:xfrm>
                  <a:off x="7896225" y="32861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44" name="obj1043 poly"/>
              <p:cNvSpPr/>
              <p:nvPr/>
            </p:nvSpPr>
            <p:spPr>
              <a:xfrm>
                <a:off x="8058150" y="335280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" name="obj1044 poly"/>
              <p:cNvSpPr/>
              <p:nvPr/>
            </p:nvSpPr>
            <p:spPr>
              <a:xfrm>
                <a:off x="8124825" y="3219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" name="obj1045 poly"/>
              <p:cNvSpPr/>
              <p:nvPr/>
            </p:nvSpPr>
            <p:spPr>
              <a:xfrm>
                <a:off x="8496300" y="3219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" name="obj1046 ellipse"/>
              <p:cNvSpPr/>
              <p:nvPr/>
            </p:nvSpPr>
            <p:spPr>
              <a:xfrm>
                <a:off x="8858250" y="32194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obj1047 poly"/>
              <p:cNvSpPr/>
              <p:nvPr/>
            </p:nvSpPr>
            <p:spPr>
              <a:xfrm>
                <a:off x="9191625" y="3219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obj1048 poly"/>
              <p:cNvSpPr/>
              <p:nvPr/>
            </p:nvSpPr>
            <p:spPr>
              <a:xfrm>
                <a:off x="9763125" y="32194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" name="obj1049 ellipse"/>
              <p:cNvSpPr/>
              <p:nvPr/>
            </p:nvSpPr>
            <p:spPr>
              <a:xfrm>
                <a:off x="10096500" y="32194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51" name="Measurement"/>
              <p:cNvGrpSpPr/>
              <p:nvPr/>
            </p:nvGrpSpPr>
            <p:grpSpPr>
              <a:xfrm>
                <a:off x="11077575" y="3238500"/>
                <a:ext cx="257175" cy="209550"/>
                <a:chOff x="11077575" y="3238500"/>
                <a:chExt cx="257175" cy="209550"/>
              </a:xfrm>
            </p:grpSpPr>
            <p:sp>
              <p:nvSpPr>
                <p:cNvPr id="1052" name="obj1051 rect"/>
                <p:cNvSpPr/>
                <p:nvPr/>
              </p:nvSpPr>
              <p:spPr>
                <a:xfrm>
                  <a:off x="11077575" y="32385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3" name="obj1052 path"/>
                <p:cNvSpPr/>
                <p:nvPr/>
              </p:nvSpPr>
              <p:spPr>
                <a:xfrm>
                  <a:off x="11106150" y="32670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4" name="obj1053 poly"/>
                <p:cNvSpPr/>
                <p:nvPr/>
              </p:nvSpPr>
              <p:spPr>
                <a:xfrm>
                  <a:off x="11185588" y="32670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5" name="obj1054 poly"/>
                <p:cNvSpPr/>
                <p:nvPr/>
              </p:nvSpPr>
              <p:spPr>
                <a:xfrm>
                  <a:off x="11217688" y="32670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056" name="Qubit input |0⟩"/>
              <p:cNvGrpSpPr/>
              <p:nvPr/>
            </p:nvGrpSpPr>
            <p:grpSpPr>
              <a:xfrm>
                <a:off x="7772400" y="3574161"/>
                <a:ext cx="157386" cy="201168"/>
                <a:chOff x="7772400" y="3574161"/>
                <a:chExt cx="157386" cy="201168"/>
              </a:xfrm>
            </p:grpSpPr>
            <p:sp>
              <p:nvSpPr>
                <p:cNvPr id="1057" name="Text: |0"/>
                <p:cNvSpPr txBox="1"/>
                <p:nvPr/>
              </p:nvSpPr>
              <p:spPr>
                <a:xfrm>
                  <a:off x="7772400" y="35741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058" name="obj1057 poly"/>
                <p:cNvSpPr/>
                <p:nvPr/>
              </p:nvSpPr>
              <p:spPr>
                <a:xfrm>
                  <a:off x="7896225" y="36099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59" name="obj1058 poly"/>
              <p:cNvSpPr/>
              <p:nvPr/>
            </p:nvSpPr>
            <p:spPr>
              <a:xfrm>
                <a:off x="8058150" y="36766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" name="obj1059 poly"/>
              <p:cNvSpPr/>
              <p:nvPr/>
            </p:nvSpPr>
            <p:spPr>
              <a:xfrm>
                <a:off x="8124825" y="3543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" name="obj1060 poly"/>
              <p:cNvSpPr/>
              <p:nvPr/>
            </p:nvSpPr>
            <p:spPr>
              <a:xfrm>
                <a:off x="8496300" y="3543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" name="obj1061 ellipse"/>
              <p:cNvSpPr/>
              <p:nvPr/>
            </p:nvSpPr>
            <p:spPr>
              <a:xfrm>
                <a:off x="8858250" y="35433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" name="obj1062 poly"/>
              <p:cNvSpPr/>
              <p:nvPr/>
            </p:nvSpPr>
            <p:spPr>
              <a:xfrm>
                <a:off x="9191625" y="3543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" name="obj1063 poly"/>
              <p:cNvSpPr/>
              <p:nvPr/>
            </p:nvSpPr>
            <p:spPr>
              <a:xfrm>
                <a:off x="9763125" y="3543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" name="obj1064 ellipse"/>
              <p:cNvSpPr/>
              <p:nvPr/>
            </p:nvSpPr>
            <p:spPr>
              <a:xfrm>
                <a:off x="10096500" y="35433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66" name="Measurement"/>
              <p:cNvGrpSpPr/>
              <p:nvPr/>
            </p:nvGrpSpPr>
            <p:grpSpPr>
              <a:xfrm>
                <a:off x="11077575" y="3562350"/>
                <a:ext cx="257175" cy="209550"/>
                <a:chOff x="11077575" y="3562350"/>
                <a:chExt cx="257175" cy="209550"/>
              </a:xfrm>
            </p:grpSpPr>
            <p:sp>
              <p:nvSpPr>
                <p:cNvPr id="1067" name="obj1066 rect"/>
                <p:cNvSpPr/>
                <p:nvPr/>
              </p:nvSpPr>
              <p:spPr>
                <a:xfrm>
                  <a:off x="11077575" y="35623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8" name="obj1067 path"/>
                <p:cNvSpPr/>
                <p:nvPr/>
              </p:nvSpPr>
              <p:spPr>
                <a:xfrm>
                  <a:off x="11106150" y="35909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9" name="obj1068 poly"/>
                <p:cNvSpPr/>
                <p:nvPr/>
              </p:nvSpPr>
              <p:spPr>
                <a:xfrm>
                  <a:off x="11185588" y="35909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70" name="obj1069 poly"/>
                <p:cNvSpPr/>
                <p:nvPr/>
              </p:nvSpPr>
              <p:spPr>
                <a:xfrm>
                  <a:off x="11217688" y="35909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071" name="Qubit input |0⟩"/>
              <p:cNvGrpSpPr/>
              <p:nvPr/>
            </p:nvGrpSpPr>
            <p:grpSpPr>
              <a:xfrm>
                <a:off x="7772400" y="3888486"/>
                <a:ext cx="157386" cy="201168"/>
                <a:chOff x="7772400" y="3888486"/>
                <a:chExt cx="157386" cy="201168"/>
              </a:xfrm>
            </p:grpSpPr>
            <p:sp>
              <p:nvSpPr>
                <p:cNvPr id="1072" name="Text: |0"/>
                <p:cNvSpPr txBox="1"/>
                <p:nvPr/>
              </p:nvSpPr>
              <p:spPr>
                <a:xfrm>
                  <a:off x="7772400" y="38884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073" name="obj1072 poly"/>
                <p:cNvSpPr/>
                <p:nvPr/>
              </p:nvSpPr>
              <p:spPr>
                <a:xfrm>
                  <a:off x="7896225" y="39243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74" name="obj1073 poly"/>
              <p:cNvSpPr/>
              <p:nvPr/>
            </p:nvSpPr>
            <p:spPr>
              <a:xfrm>
                <a:off x="8058150" y="39909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" name="obj1074 poly"/>
              <p:cNvSpPr/>
              <p:nvPr/>
            </p:nvSpPr>
            <p:spPr>
              <a:xfrm>
                <a:off x="8124825" y="3857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" name="obj1075 poly"/>
              <p:cNvSpPr/>
              <p:nvPr/>
            </p:nvSpPr>
            <p:spPr>
              <a:xfrm>
                <a:off x="8496300" y="3857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obj1076 ellipse"/>
              <p:cNvSpPr/>
              <p:nvPr/>
            </p:nvSpPr>
            <p:spPr>
              <a:xfrm>
                <a:off x="8858250" y="38576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" name="obj1077 poly"/>
              <p:cNvSpPr/>
              <p:nvPr/>
            </p:nvSpPr>
            <p:spPr>
              <a:xfrm>
                <a:off x="9191625" y="3857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" name="obj1078 poly"/>
              <p:cNvSpPr/>
              <p:nvPr/>
            </p:nvSpPr>
            <p:spPr>
              <a:xfrm>
                <a:off x="9763125" y="3857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" name="obj1079 ellipse"/>
              <p:cNvSpPr/>
              <p:nvPr/>
            </p:nvSpPr>
            <p:spPr>
              <a:xfrm>
                <a:off x="10096500" y="38576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81" name="Measurement"/>
              <p:cNvGrpSpPr/>
              <p:nvPr/>
            </p:nvGrpSpPr>
            <p:grpSpPr>
              <a:xfrm>
                <a:off x="11077575" y="3876675"/>
                <a:ext cx="257175" cy="209550"/>
                <a:chOff x="11077575" y="3876675"/>
                <a:chExt cx="257175" cy="209550"/>
              </a:xfrm>
            </p:grpSpPr>
            <p:sp>
              <p:nvSpPr>
                <p:cNvPr id="1082" name="obj1081 rect"/>
                <p:cNvSpPr/>
                <p:nvPr/>
              </p:nvSpPr>
              <p:spPr>
                <a:xfrm>
                  <a:off x="11077575" y="38766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3" name="obj1082 path"/>
                <p:cNvSpPr/>
                <p:nvPr/>
              </p:nvSpPr>
              <p:spPr>
                <a:xfrm>
                  <a:off x="11106150" y="39052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4" name="obj1083 poly"/>
                <p:cNvSpPr/>
                <p:nvPr/>
              </p:nvSpPr>
              <p:spPr>
                <a:xfrm>
                  <a:off x="11185588" y="39052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5" name="obj1084 poly"/>
                <p:cNvSpPr/>
                <p:nvPr/>
              </p:nvSpPr>
              <p:spPr>
                <a:xfrm>
                  <a:off x="11217688" y="39052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086" name="Qubit input |0⟩"/>
              <p:cNvGrpSpPr/>
              <p:nvPr/>
            </p:nvGrpSpPr>
            <p:grpSpPr>
              <a:xfrm>
                <a:off x="7772400" y="4364736"/>
                <a:ext cx="157386" cy="201168"/>
                <a:chOff x="7772400" y="4364736"/>
                <a:chExt cx="157386" cy="201168"/>
              </a:xfrm>
            </p:grpSpPr>
            <p:sp>
              <p:nvSpPr>
                <p:cNvPr id="1087" name="Text: |0"/>
                <p:cNvSpPr txBox="1"/>
                <p:nvPr/>
              </p:nvSpPr>
              <p:spPr>
                <a:xfrm>
                  <a:off x="7772400" y="43647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088" name="obj1087 poly"/>
                <p:cNvSpPr/>
                <p:nvPr/>
              </p:nvSpPr>
              <p:spPr>
                <a:xfrm>
                  <a:off x="7896225" y="44005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89" name="obj1088 poly"/>
              <p:cNvSpPr/>
              <p:nvPr/>
            </p:nvSpPr>
            <p:spPr>
              <a:xfrm>
                <a:off x="8058150" y="446722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" name="obj1089 poly"/>
              <p:cNvSpPr/>
              <p:nvPr/>
            </p:nvSpPr>
            <p:spPr>
              <a:xfrm>
                <a:off x="8124825" y="4333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" name="obj1090 poly"/>
              <p:cNvSpPr/>
              <p:nvPr/>
            </p:nvSpPr>
            <p:spPr>
              <a:xfrm>
                <a:off x="8496300" y="4333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" name="obj1091 ellipse"/>
              <p:cNvSpPr/>
              <p:nvPr/>
            </p:nvSpPr>
            <p:spPr>
              <a:xfrm>
                <a:off x="8858250" y="43338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" name="obj1092 poly"/>
              <p:cNvSpPr/>
              <p:nvPr/>
            </p:nvSpPr>
            <p:spPr>
              <a:xfrm>
                <a:off x="9191625" y="4333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" name="obj1093 poly"/>
              <p:cNvSpPr/>
              <p:nvPr/>
            </p:nvSpPr>
            <p:spPr>
              <a:xfrm>
                <a:off x="9763125" y="4333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" name="obj1094 ellipse"/>
              <p:cNvSpPr/>
              <p:nvPr/>
            </p:nvSpPr>
            <p:spPr>
              <a:xfrm>
                <a:off x="10096500" y="43338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96" name="Measurement"/>
              <p:cNvGrpSpPr/>
              <p:nvPr/>
            </p:nvGrpSpPr>
            <p:grpSpPr>
              <a:xfrm>
                <a:off x="11077575" y="4352925"/>
                <a:ext cx="257175" cy="209550"/>
                <a:chOff x="11077575" y="4352925"/>
                <a:chExt cx="257175" cy="209550"/>
              </a:xfrm>
            </p:grpSpPr>
            <p:sp>
              <p:nvSpPr>
                <p:cNvPr id="1097" name="obj1096 rect"/>
                <p:cNvSpPr/>
                <p:nvPr/>
              </p:nvSpPr>
              <p:spPr>
                <a:xfrm>
                  <a:off x="11077575" y="43529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8" name="obj1097 path"/>
                <p:cNvSpPr/>
                <p:nvPr/>
              </p:nvSpPr>
              <p:spPr>
                <a:xfrm>
                  <a:off x="11106150" y="43815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9" name="obj1098 poly"/>
                <p:cNvSpPr/>
                <p:nvPr/>
              </p:nvSpPr>
              <p:spPr>
                <a:xfrm>
                  <a:off x="11185588" y="43815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0" name="obj1099 poly"/>
                <p:cNvSpPr/>
                <p:nvPr/>
              </p:nvSpPr>
              <p:spPr>
                <a:xfrm>
                  <a:off x="11217688" y="43815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01" name="Qubit input |0⟩"/>
              <p:cNvGrpSpPr/>
              <p:nvPr/>
            </p:nvGrpSpPr>
            <p:grpSpPr>
              <a:xfrm>
                <a:off x="7772400" y="4679061"/>
                <a:ext cx="157386" cy="201168"/>
                <a:chOff x="7772400" y="4679061"/>
                <a:chExt cx="157386" cy="201168"/>
              </a:xfrm>
            </p:grpSpPr>
            <p:sp>
              <p:nvSpPr>
                <p:cNvPr id="1102" name="Text: |0"/>
                <p:cNvSpPr txBox="1"/>
                <p:nvPr/>
              </p:nvSpPr>
              <p:spPr>
                <a:xfrm>
                  <a:off x="7772400" y="46790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103" name="obj1102 poly"/>
                <p:cNvSpPr/>
                <p:nvPr/>
              </p:nvSpPr>
              <p:spPr>
                <a:xfrm>
                  <a:off x="7896225" y="47148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04" name="obj1103 poly"/>
              <p:cNvSpPr/>
              <p:nvPr/>
            </p:nvSpPr>
            <p:spPr>
              <a:xfrm>
                <a:off x="8058150" y="47815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" name="obj1104 poly"/>
              <p:cNvSpPr/>
              <p:nvPr/>
            </p:nvSpPr>
            <p:spPr>
              <a:xfrm>
                <a:off x="8124825" y="4648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" name="obj1105 poly"/>
              <p:cNvSpPr/>
              <p:nvPr/>
            </p:nvSpPr>
            <p:spPr>
              <a:xfrm>
                <a:off x="8496300" y="4648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" name="obj1106 ellipse"/>
              <p:cNvSpPr/>
              <p:nvPr/>
            </p:nvSpPr>
            <p:spPr>
              <a:xfrm>
                <a:off x="8858250" y="46482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" name="obj1107 poly"/>
              <p:cNvSpPr/>
              <p:nvPr/>
            </p:nvSpPr>
            <p:spPr>
              <a:xfrm>
                <a:off x="9191625" y="4648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" name="obj1108 poly"/>
              <p:cNvSpPr/>
              <p:nvPr/>
            </p:nvSpPr>
            <p:spPr>
              <a:xfrm>
                <a:off x="9763125" y="46482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" name="obj1109 ellipse"/>
              <p:cNvSpPr/>
              <p:nvPr/>
            </p:nvSpPr>
            <p:spPr>
              <a:xfrm>
                <a:off x="10096500" y="46482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11" name="Measurement"/>
              <p:cNvGrpSpPr/>
              <p:nvPr/>
            </p:nvGrpSpPr>
            <p:grpSpPr>
              <a:xfrm>
                <a:off x="11077575" y="4667250"/>
                <a:ext cx="257175" cy="209550"/>
                <a:chOff x="11077575" y="4667250"/>
                <a:chExt cx="257175" cy="209550"/>
              </a:xfrm>
            </p:grpSpPr>
            <p:sp>
              <p:nvSpPr>
                <p:cNvPr id="1112" name="obj1111 rect"/>
                <p:cNvSpPr/>
                <p:nvPr/>
              </p:nvSpPr>
              <p:spPr>
                <a:xfrm>
                  <a:off x="11077575" y="46672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3" name="obj1112 path"/>
                <p:cNvSpPr/>
                <p:nvPr/>
              </p:nvSpPr>
              <p:spPr>
                <a:xfrm>
                  <a:off x="11106150" y="46958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4" name="obj1113 poly"/>
                <p:cNvSpPr/>
                <p:nvPr/>
              </p:nvSpPr>
              <p:spPr>
                <a:xfrm>
                  <a:off x="11185588" y="46958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5" name="obj1114 poly"/>
                <p:cNvSpPr/>
                <p:nvPr/>
              </p:nvSpPr>
              <p:spPr>
                <a:xfrm>
                  <a:off x="11217688" y="46958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16" name="obj1115 ellipse"/>
              <p:cNvSpPr/>
              <p:nvPr/>
            </p:nvSpPr>
            <p:spPr>
              <a:xfrm>
                <a:off x="7840504" y="4154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7" name="obj1116 ellipse"/>
              <p:cNvSpPr/>
              <p:nvPr/>
            </p:nvSpPr>
            <p:spPr>
              <a:xfrm>
                <a:off x="7840504" y="42114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8" name="obj1117 ellipse"/>
              <p:cNvSpPr/>
              <p:nvPr/>
            </p:nvSpPr>
            <p:spPr>
              <a:xfrm>
                <a:off x="7840504" y="42686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9" name="obj1118 ellipse"/>
              <p:cNvSpPr/>
              <p:nvPr/>
            </p:nvSpPr>
            <p:spPr>
              <a:xfrm>
                <a:off x="9602629" y="4154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0" name="obj1119 ellipse"/>
              <p:cNvSpPr/>
              <p:nvPr/>
            </p:nvSpPr>
            <p:spPr>
              <a:xfrm>
                <a:off x="9602629" y="42114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obj1120 ellipse"/>
              <p:cNvSpPr/>
              <p:nvPr/>
            </p:nvSpPr>
            <p:spPr>
              <a:xfrm>
                <a:off x="9602629" y="42686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obj1121 ellipse"/>
              <p:cNvSpPr/>
              <p:nvPr/>
            </p:nvSpPr>
            <p:spPr>
              <a:xfrm>
                <a:off x="11202829" y="41543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3" name="obj1122 ellipse"/>
              <p:cNvSpPr/>
              <p:nvPr/>
            </p:nvSpPr>
            <p:spPr>
              <a:xfrm>
                <a:off x="11202829" y="421147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" name="obj1123 ellipse"/>
              <p:cNvSpPr/>
              <p:nvPr/>
            </p:nvSpPr>
            <p:spPr>
              <a:xfrm>
                <a:off x="11202829" y="4268629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obj1124 rect"/>
              <p:cNvSpPr/>
              <p:nvPr/>
            </p:nvSpPr>
            <p:spPr>
              <a:xfrm>
                <a:off x="10467975" y="3286125"/>
                <a:ext cx="123825" cy="4191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obj1125 rect"/>
              <p:cNvSpPr/>
              <p:nvPr/>
            </p:nvSpPr>
            <p:spPr>
              <a:xfrm>
                <a:off x="10668000" y="361950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obj1126 rect"/>
              <p:cNvSpPr/>
              <p:nvPr/>
            </p:nvSpPr>
            <p:spPr>
              <a:xfrm>
                <a:off x="10839450" y="4419600"/>
                <a:ext cx="123825" cy="43815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28" name="Large VQE — after TITAN"/>
            <p:cNvGrpSpPr/>
            <p:nvPr/>
          </p:nvGrpSpPr>
          <p:grpSpPr>
            <a:xfrm>
              <a:off x="7658100" y="5791200"/>
              <a:ext cx="3895725" cy="1962150"/>
              <a:chOff x="7658100" y="5791200"/>
              <a:chExt cx="3895725" cy="1962150"/>
            </a:xfrm>
          </p:grpSpPr>
          <p:sp>
            <p:nvSpPr>
              <p:cNvPr id="1129" name="obj1128 rect"/>
              <p:cNvSpPr/>
              <p:nvPr/>
            </p:nvSpPr>
            <p:spPr>
              <a:xfrm>
                <a:off x="7753350" y="5924550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" name="obj1129 rect"/>
              <p:cNvSpPr/>
              <p:nvPr/>
            </p:nvSpPr>
            <p:spPr>
              <a:xfrm>
                <a:off x="7658100" y="5791200"/>
                <a:ext cx="3800475" cy="1828800"/>
              </a:xfrm>
              <a:prstGeom prst="rect">
                <a:avLst/>
              </a:prstGeom>
              <a:solidFill>
                <a:srgbClr val="FDD7FC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31" name="Qubit input |0⟩"/>
              <p:cNvGrpSpPr/>
              <p:nvPr/>
            </p:nvGrpSpPr>
            <p:grpSpPr>
              <a:xfrm>
                <a:off x="7772400" y="5888736"/>
                <a:ext cx="157386" cy="201168"/>
                <a:chOff x="7772400" y="5888736"/>
                <a:chExt cx="157386" cy="201168"/>
              </a:xfrm>
            </p:grpSpPr>
            <p:sp>
              <p:nvSpPr>
                <p:cNvPr id="1132" name="Text: |0"/>
                <p:cNvSpPr txBox="1"/>
                <p:nvPr/>
              </p:nvSpPr>
              <p:spPr>
                <a:xfrm>
                  <a:off x="7772400" y="58887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133" name="obj1132 poly"/>
                <p:cNvSpPr/>
                <p:nvPr/>
              </p:nvSpPr>
              <p:spPr>
                <a:xfrm>
                  <a:off x="7896225" y="59245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34" name="obj1133 poly"/>
              <p:cNvSpPr/>
              <p:nvPr/>
            </p:nvSpPr>
            <p:spPr>
              <a:xfrm>
                <a:off x="8058150" y="599122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5" name="obj1134 poly"/>
              <p:cNvSpPr/>
              <p:nvPr/>
            </p:nvSpPr>
            <p:spPr>
              <a:xfrm>
                <a:off x="8124825" y="5857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6" name="obj1135 poly"/>
              <p:cNvSpPr/>
              <p:nvPr/>
            </p:nvSpPr>
            <p:spPr>
              <a:xfrm>
                <a:off x="8496300" y="5857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7" name="obj1136 ellipse"/>
              <p:cNvSpPr/>
              <p:nvPr/>
            </p:nvSpPr>
            <p:spPr>
              <a:xfrm>
                <a:off x="8858250" y="58578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8" name="obj1137 poly"/>
              <p:cNvSpPr/>
              <p:nvPr/>
            </p:nvSpPr>
            <p:spPr>
              <a:xfrm>
                <a:off x="9191625" y="5857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9" name="obj1138 poly"/>
              <p:cNvSpPr/>
              <p:nvPr/>
            </p:nvSpPr>
            <p:spPr>
              <a:xfrm>
                <a:off x="9763125" y="5857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0" name="obj1139 ellipse"/>
              <p:cNvSpPr/>
              <p:nvPr/>
            </p:nvSpPr>
            <p:spPr>
              <a:xfrm>
                <a:off x="10096500" y="585787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41" name="Measurement"/>
              <p:cNvGrpSpPr/>
              <p:nvPr/>
            </p:nvGrpSpPr>
            <p:grpSpPr>
              <a:xfrm>
                <a:off x="11077575" y="5876925"/>
                <a:ext cx="257175" cy="209550"/>
                <a:chOff x="11077575" y="5876925"/>
                <a:chExt cx="257175" cy="209550"/>
              </a:xfrm>
            </p:grpSpPr>
            <p:sp>
              <p:nvSpPr>
                <p:cNvPr id="1142" name="obj1141 rect"/>
                <p:cNvSpPr/>
                <p:nvPr/>
              </p:nvSpPr>
              <p:spPr>
                <a:xfrm>
                  <a:off x="11077575" y="58769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3" name="obj1142 path"/>
                <p:cNvSpPr/>
                <p:nvPr/>
              </p:nvSpPr>
              <p:spPr>
                <a:xfrm>
                  <a:off x="11106150" y="59055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4" name="obj1143 poly"/>
                <p:cNvSpPr/>
                <p:nvPr/>
              </p:nvSpPr>
              <p:spPr>
                <a:xfrm>
                  <a:off x="11185588" y="59055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5" name="obj1144 poly"/>
                <p:cNvSpPr/>
                <p:nvPr/>
              </p:nvSpPr>
              <p:spPr>
                <a:xfrm>
                  <a:off x="11217688" y="59055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46" name="Qubit input |0⟩"/>
              <p:cNvGrpSpPr/>
              <p:nvPr/>
            </p:nvGrpSpPr>
            <p:grpSpPr>
              <a:xfrm>
                <a:off x="7772400" y="6212586"/>
                <a:ext cx="157386" cy="201168"/>
                <a:chOff x="7772400" y="6212586"/>
                <a:chExt cx="157386" cy="201168"/>
              </a:xfrm>
            </p:grpSpPr>
            <p:sp>
              <p:nvSpPr>
                <p:cNvPr id="1147" name="Text: |0"/>
                <p:cNvSpPr txBox="1"/>
                <p:nvPr/>
              </p:nvSpPr>
              <p:spPr>
                <a:xfrm>
                  <a:off x="7772400" y="62125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148" name="obj1147 poly"/>
                <p:cNvSpPr/>
                <p:nvPr/>
              </p:nvSpPr>
              <p:spPr>
                <a:xfrm>
                  <a:off x="7896225" y="62484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49" name="obj1148 poly"/>
              <p:cNvSpPr/>
              <p:nvPr/>
            </p:nvSpPr>
            <p:spPr>
              <a:xfrm>
                <a:off x="8058150" y="63150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" name="obj1149 poly"/>
              <p:cNvSpPr/>
              <p:nvPr/>
            </p:nvSpPr>
            <p:spPr>
              <a:xfrm>
                <a:off x="8124825" y="6181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" name="obj1150 poly"/>
              <p:cNvSpPr/>
              <p:nvPr/>
            </p:nvSpPr>
            <p:spPr>
              <a:xfrm>
                <a:off x="8496300" y="6181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" name="obj1151 ellipse"/>
              <p:cNvSpPr/>
              <p:nvPr/>
            </p:nvSpPr>
            <p:spPr>
              <a:xfrm>
                <a:off x="8858250" y="61817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" name="obj1152 poly"/>
              <p:cNvSpPr/>
              <p:nvPr/>
            </p:nvSpPr>
            <p:spPr>
              <a:xfrm>
                <a:off x="9191625" y="6181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" name="obj1153 poly"/>
              <p:cNvSpPr/>
              <p:nvPr/>
            </p:nvSpPr>
            <p:spPr>
              <a:xfrm>
                <a:off x="9763125" y="6181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" name="obj1154 ellipse"/>
              <p:cNvSpPr/>
              <p:nvPr/>
            </p:nvSpPr>
            <p:spPr>
              <a:xfrm>
                <a:off x="10096500" y="61817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56" name="Measurement"/>
              <p:cNvGrpSpPr/>
              <p:nvPr/>
            </p:nvGrpSpPr>
            <p:grpSpPr>
              <a:xfrm>
                <a:off x="11077575" y="6200775"/>
                <a:ext cx="257175" cy="209550"/>
                <a:chOff x="11077575" y="6200775"/>
                <a:chExt cx="257175" cy="209550"/>
              </a:xfrm>
            </p:grpSpPr>
            <p:sp>
              <p:nvSpPr>
                <p:cNvPr id="1157" name="obj1156 rect"/>
                <p:cNvSpPr/>
                <p:nvPr/>
              </p:nvSpPr>
              <p:spPr>
                <a:xfrm>
                  <a:off x="11077575" y="62007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8" name="obj1157 path"/>
                <p:cNvSpPr/>
                <p:nvPr/>
              </p:nvSpPr>
              <p:spPr>
                <a:xfrm>
                  <a:off x="11106150" y="62293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9" name="obj1158 poly"/>
                <p:cNvSpPr/>
                <p:nvPr/>
              </p:nvSpPr>
              <p:spPr>
                <a:xfrm>
                  <a:off x="11185588" y="62293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0" name="obj1159 poly"/>
                <p:cNvSpPr/>
                <p:nvPr/>
              </p:nvSpPr>
              <p:spPr>
                <a:xfrm>
                  <a:off x="11217688" y="62293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61" name="Qubit input |0⟩"/>
              <p:cNvGrpSpPr/>
              <p:nvPr/>
            </p:nvGrpSpPr>
            <p:grpSpPr>
              <a:xfrm>
                <a:off x="7772400" y="6526911"/>
                <a:ext cx="157386" cy="201168"/>
                <a:chOff x="7772400" y="6526911"/>
                <a:chExt cx="157386" cy="201168"/>
              </a:xfrm>
            </p:grpSpPr>
            <p:sp>
              <p:nvSpPr>
                <p:cNvPr id="1162" name="Text: |0"/>
                <p:cNvSpPr txBox="1"/>
                <p:nvPr/>
              </p:nvSpPr>
              <p:spPr>
                <a:xfrm>
                  <a:off x="7772400" y="65269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163" name="obj1162 poly"/>
                <p:cNvSpPr/>
                <p:nvPr/>
              </p:nvSpPr>
              <p:spPr>
                <a:xfrm>
                  <a:off x="7896225" y="65627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64" name="obj1163 poly"/>
              <p:cNvSpPr/>
              <p:nvPr/>
            </p:nvSpPr>
            <p:spPr>
              <a:xfrm>
                <a:off x="8058150" y="662940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5" name="obj1164 poly"/>
              <p:cNvSpPr/>
              <p:nvPr/>
            </p:nvSpPr>
            <p:spPr>
              <a:xfrm>
                <a:off x="8124825" y="6496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6" name="obj1165 poly"/>
              <p:cNvSpPr/>
              <p:nvPr/>
            </p:nvSpPr>
            <p:spPr>
              <a:xfrm>
                <a:off x="8496300" y="6496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obj1166 ellipse"/>
              <p:cNvSpPr/>
              <p:nvPr/>
            </p:nvSpPr>
            <p:spPr>
              <a:xfrm>
                <a:off x="8858250" y="64960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obj1167 poly"/>
              <p:cNvSpPr/>
              <p:nvPr/>
            </p:nvSpPr>
            <p:spPr>
              <a:xfrm>
                <a:off x="9191625" y="6496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" name="obj1168 poly"/>
              <p:cNvSpPr/>
              <p:nvPr/>
            </p:nvSpPr>
            <p:spPr>
              <a:xfrm>
                <a:off x="9763125" y="64960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" name="obj1169 ellipse"/>
              <p:cNvSpPr/>
              <p:nvPr/>
            </p:nvSpPr>
            <p:spPr>
              <a:xfrm>
                <a:off x="10096500" y="64960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71" name="Measurement"/>
              <p:cNvGrpSpPr/>
              <p:nvPr/>
            </p:nvGrpSpPr>
            <p:grpSpPr>
              <a:xfrm>
                <a:off x="11077575" y="6515100"/>
                <a:ext cx="257175" cy="209550"/>
                <a:chOff x="11077575" y="6515100"/>
                <a:chExt cx="257175" cy="209550"/>
              </a:xfrm>
            </p:grpSpPr>
            <p:sp>
              <p:nvSpPr>
                <p:cNvPr id="1172" name="obj1171 rect"/>
                <p:cNvSpPr/>
                <p:nvPr/>
              </p:nvSpPr>
              <p:spPr>
                <a:xfrm>
                  <a:off x="11077575" y="65151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3" name="obj1172 path"/>
                <p:cNvSpPr/>
                <p:nvPr/>
              </p:nvSpPr>
              <p:spPr>
                <a:xfrm>
                  <a:off x="11106150" y="65436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4" name="obj1173 poly"/>
                <p:cNvSpPr/>
                <p:nvPr/>
              </p:nvSpPr>
              <p:spPr>
                <a:xfrm>
                  <a:off x="11185588" y="65436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5" name="obj1174 poly"/>
                <p:cNvSpPr/>
                <p:nvPr/>
              </p:nvSpPr>
              <p:spPr>
                <a:xfrm>
                  <a:off x="11217688" y="65436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76" name="Qubit input |0⟩"/>
              <p:cNvGrpSpPr/>
              <p:nvPr/>
            </p:nvGrpSpPr>
            <p:grpSpPr>
              <a:xfrm>
                <a:off x="7772400" y="7003161"/>
                <a:ext cx="157386" cy="201168"/>
                <a:chOff x="7772400" y="7003161"/>
                <a:chExt cx="157386" cy="201168"/>
              </a:xfrm>
            </p:grpSpPr>
            <p:sp>
              <p:nvSpPr>
                <p:cNvPr id="1177" name="Text: |0"/>
                <p:cNvSpPr txBox="1"/>
                <p:nvPr/>
              </p:nvSpPr>
              <p:spPr>
                <a:xfrm>
                  <a:off x="7772400" y="70031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178" name="obj1177 poly"/>
                <p:cNvSpPr/>
                <p:nvPr/>
              </p:nvSpPr>
              <p:spPr>
                <a:xfrm>
                  <a:off x="7896225" y="70389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79" name="obj1178 poly"/>
              <p:cNvSpPr/>
              <p:nvPr/>
            </p:nvSpPr>
            <p:spPr>
              <a:xfrm>
                <a:off x="8058150" y="7105650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obj1179 poly"/>
              <p:cNvSpPr/>
              <p:nvPr/>
            </p:nvSpPr>
            <p:spPr>
              <a:xfrm>
                <a:off x="8124825" y="697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obj1180 poly"/>
              <p:cNvSpPr/>
              <p:nvPr/>
            </p:nvSpPr>
            <p:spPr>
              <a:xfrm>
                <a:off x="8496300" y="697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2" name="obj1181 ellipse"/>
              <p:cNvSpPr/>
              <p:nvPr/>
            </p:nvSpPr>
            <p:spPr>
              <a:xfrm>
                <a:off x="8858250" y="697230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3" name="obj1182 poly"/>
              <p:cNvSpPr/>
              <p:nvPr/>
            </p:nvSpPr>
            <p:spPr>
              <a:xfrm>
                <a:off x="9191625" y="697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obj1183 poly"/>
              <p:cNvSpPr/>
              <p:nvPr/>
            </p:nvSpPr>
            <p:spPr>
              <a:xfrm>
                <a:off x="9763125" y="69723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obj1184 ellipse"/>
              <p:cNvSpPr/>
              <p:nvPr/>
            </p:nvSpPr>
            <p:spPr>
              <a:xfrm>
                <a:off x="10096500" y="69723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86" name="Measurement"/>
              <p:cNvGrpSpPr/>
              <p:nvPr/>
            </p:nvGrpSpPr>
            <p:grpSpPr>
              <a:xfrm>
                <a:off x="11077575" y="6991350"/>
                <a:ext cx="257175" cy="209550"/>
                <a:chOff x="11077575" y="6991350"/>
                <a:chExt cx="257175" cy="209550"/>
              </a:xfrm>
            </p:grpSpPr>
            <p:sp>
              <p:nvSpPr>
                <p:cNvPr id="1187" name="obj1186 rect"/>
                <p:cNvSpPr/>
                <p:nvPr/>
              </p:nvSpPr>
              <p:spPr>
                <a:xfrm>
                  <a:off x="11077575" y="69913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88" name="obj1187 path"/>
                <p:cNvSpPr/>
                <p:nvPr/>
              </p:nvSpPr>
              <p:spPr>
                <a:xfrm>
                  <a:off x="11106150" y="70199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89" name="obj1188 poly"/>
                <p:cNvSpPr/>
                <p:nvPr/>
              </p:nvSpPr>
              <p:spPr>
                <a:xfrm>
                  <a:off x="11185588" y="70199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90" name="obj1189 poly"/>
                <p:cNvSpPr/>
                <p:nvPr/>
              </p:nvSpPr>
              <p:spPr>
                <a:xfrm>
                  <a:off x="11217688" y="70199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91" name="Qubit input |0⟩"/>
              <p:cNvGrpSpPr/>
              <p:nvPr/>
            </p:nvGrpSpPr>
            <p:grpSpPr>
              <a:xfrm>
                <a:off x="7772400" y="7317486"/>
                <a:ext cx="157386" cy="201168"/>
                <a:chOff x="7772400" y="7317486"/>
                <a:chExt cx="157386" cy="201168"/>
              </a:xfrm>
            </p:grpSpPr>
            <p:sp>
              <p:nvSpPr>
                <p:cNvPr id="1192" name="Text: |0"/>
                <p:cNvSpPr txBox="1"/>
                <p:nvPr/>
              </p:nvSpPr>
              <p:spPr>
                <a:xfrm>
                  <a:off x="7772400" y="73174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193" name="obj1192 poly"/>
                <p:cNvSpPr/>
                <p:nvPr/>
              </p:nvSpPr>
              <p:spPr>
                <a:xfrm>
                  <a:off x="7896225" y="73533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94" name="obj1193 poly"/>
              <p:cNvSpPr/>
              <p:nvPr/>
            </p:nvSpPr>
            <p:spPr>
              <a:xfrm>
                <a:off x="8058150" y="7419975"/>
                <a:ext cx="328612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4500" h="1" fill="none">
                    <a:moveTo>
                      <a:pt x="0" y="0"/>
                    </a:moveTo>
                    <a:lnTo>
                      <a:pt x="34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5" name="obj1194 poly"/>
              <p:cNvSpPr/>
              <p:nvPr/>
            </p:nvSpPr>
            <p:spPr>
              <a:xfrm>
                <a:off x="8124825" y="7286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6" name="obj1195 poly"/>
              <p:cNvSpPr/>
              <p:nvPr/>
            </p:nvSpPr>
            <p:spPr>
              <a:xfrm>
                <a:off x="8496300" y="7286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7" name="obj1196 ellipse"/>
              <p:cNvSpPr/>
              <p:nvPr/>
            </p:nvSpPr>
            <p:spPr>
              <a:xfrm>
                <a:off x="8858250" y="72866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obj1197 poly"/>
              <p:cNvSpPr/>
              <p:nvPr/>
            </p:nvSpPr>
            <p:spPr>
              <a:xfrm>
                <a:off x="9191625" y="7286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9" name="obj1198 poly"/>
              <p:cNvSpPr/>
              <p:nvPr/>
            </p:nvSpPr>
            <p:spPr>
              <a:xfrm>
                <a:off x="9763125" y="72866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0" name="obj1199 ellipse"/>
              <p:cNvSpPr/>
              <p:nvPr/>
            </p:nvSpPr>
            <p:spPr>
              <a:xfrm>
                <a:off x="10096500" y="72866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01" name="Measurement"/>
              <p:cNvGrpSpPr/>
              <p:nvPr/>
            </p:nvGrpSpPr>
            <p:grpSpPr>
              <a:xfrm>
                <a:off x="11077575" y="7305675"/>
                <a:ext cx="257175" cy="209550"/>
                <a:chOff x="11077575" y="7305675"/>
                <a:chExt cx="257175" cy="209550"/>
              </a:xfrm>
            </p:grpSpPr>
            <p:sp>
              <p:nvSpPr>
                <p:cNvPr id="1202" name="obj1201 rect"/>
                <p:cNvSpPr/>
                <p:nvPr/>
              </p:nvSpPr>
              <p:spPr>
                <a:xfrm>
                  <a:off x="11077575" y="73056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03" name="obj1202 path"/>
                <p:cNvSpPr/>
                <p:nvPr/>
              </p:nvSpPr>
              <p:spPr>
                <a:xfrm>
                  <a:off x="11106150" y="73342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04" name="obj1203 poly"/>
                <p:cNvSpPr/>
                <p:nvPr/>
              </p:nvSpPr>
              <p:spPr>
                <a:xfrm>
                  <a:off x="11185588" y="73342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05" name="obj1204 poly"/>
                <p:cNvSpPr/>
                <p:nvPr/>
              </p:nvSpPr>
              <p:spPr>
                <a:xfrm>
                  <a:off x="11217688" y="73342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206" name="obj1205 ellipse"/>
              <p:cNvSpPr/>
              <p:nvPr/>
            </p:nvSpPr>
            <p:spPr>
              <a:xfrm>
                <a:off x="7840504" y="67927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obj1206 ellipse"/>
              <p:cNvSpPr/>
              <p:nvPr/>
            </p:nvSpPr>
            <p:spPr>
              <a:xfrm>
                <a:off x="7840504" y="68499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8" name="obj1207 ellipse"/>
              <p:cNvSpPr/>
              <p:nvPr/>
            </p:nvSpPr>
            <p:spPr>
              <a:xfrm>
                <a:off x="7840504" y="69070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9" name="obj1208 ellipse"/>
              <p:cNvSpPr/>
              <p:nvPr/>
            </p:nvSpPr>
            <p:spPr>
              <a:xfrm>
                <a:off x="9602629" y="67927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obj1209 ellipse"/>
              <p:cNvSpPr/>
              <p:nvPr/>
            </p:nvSpPr>
            <p:spPr>
              <a:xfrm>
                <a:off x="9602629" y="68499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obj1210 ellipse"/>
              <p:cNvSpPr/>
              <p:nvPr/>
            </p:nvSpPr>
            <p:spPr>
              <a:xfrm>
                <a:off x="9602629" y="69070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obj1211 ellipse"/>
              <p:cNvSpPr/>
              <p:nvPr/>
            </p:nvSpPr>
            <p:spPr>
              <a:xfrm>
                <a:off x="11202829" y="67927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obj1212 ellipse"/>
              <p:cNvSpPr/>
              <p:nvPr/>
            </p:nvSpPr>
            <p:spPr>
              <a:xfrm>
                <a:off x="11202829" y="684990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obj1213 ellipse"/>
              <p:cNvSpPr/>
              <p:nvPr/>
            </p:nvSpPr>
            <p:spPr>
              <a:xfrm>
                <a:off x="11202829" y="6907054"/>
                <a:ext cx="16192" cy="16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obj1214 rect"/>
              <p:cNvSpPr/>
              <p:nvPr/>
            </p:nvSpPr>
            <p:spPr>
              <a:xfrm>
                <a:off x="10467975" y="5924550"/>
                <a:ext cx="123825" cy="4191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6" name="obj1215 rect"/>
              <p:cNvSpPr/>
              <p:nvPr/>
            </p:nvSpPr>
            <p:spPr>
              <a:xfrm>
                <a:off x="10668000" y="625792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7" name="obj1216 rect"/>
              <p:cNvSpPr/>
              <p:nvPr/>
            </p:nvSpPr>
            <p:spPr>
              <a:xfrm>
                <a:off x="10839450" y="7058025"/>
                <a:ext cx="123825" cy="43815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18" name="Text: Large Size"/>
            <p:cNvSpPr txBox="1"/>
            <p:nvPr/>
          </p:nvSpPr>
          <p:spPr>
            <a:xfrm>
              <a:off x="7753350" y="5252418"/>
              <a:ext cx="1297930" cy="364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5" b="1" i="0">
                  <a:solidFill>
                    <a:srgbClr val="000000"/>
                  </a:solidFill>
                  <a:latin typeface="Times New Roman"/>
                </a:rPr>
                <a:t>Large Size</a:t>
              </a:r>
            </a:p>
          </p:txBody>
        </p:sp>
        <p:sp>
          <p:nvSpPr>
            <p:cNvPr id="1219" name="obj1218 poly"/>
            <p:cNvSpPr/>
            <p:nvPr/>
          </p:nvSpPr>
          <p:spPr>
            <a:xfrm>
              <a:off x="9239250" y="5143500"/>
              <a:ext cx="95" cy="561975"/>
            </a:xfrm>
            <a:custGeom>
              <a:avLst/>
              <a:gdLst/>
              <a:ahLst/>
              <a:cxnLst/>
              <a:rect l="0" t="0" r="w" b="h"/>
              <a:pathLst>
                <a:path w="1" h="5900" fill="none">
                  <a:moveTo>
                    <a:pt x="0" y="0"/>
                  </a:moveTo>
                  <a:lnTo>
                    <a:pt x="0" y="5900"/>
                  </a:lnTo>
                </a:path>
              </a:pathLst>
            </a:custGeom>
            <a:noFill/>
            <a:ln w="45719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0" name="obj1219 poly"/>
            <p:cNvSpPr/>
            <p:nvPr/>
          </p:nvSpPr>
          <p:spPr>
            <a:xfrm>
              <a:off x="9140190" y="5514975"/>
              <a:ext cx="198120" cy="190500"/>
            </a:xfrm>
            <a:custGeom>
              <a:avLst/>
              <a:gdLst/>
              <a:ahLst/>
              <a:cxnLst/>
              <a:rect l="0" t="0" r="w" b="h"/>
              <a:pathLst>
                <a:path w="2080" h="2000" fill="norm">
                  <a:moveTo>
                    <a:pt x="2080" y="0"/>
                  </a:moveTo>
                  <a:lnTo>
                    <a:pt x="1040" y="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62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21" name="TITAN wordmark"/>
            <p:cNvGrpSpPr/>
            <p:nvPr/>
          </p:nvGrpSpPr>
          <p:grpSpPr>
            <a:xfrm>
              <a:off x="9496425" y="5257800"/>
              <a:ext cx="1114425" cy="352425"/>
              <a:chOff x="9496425" y="5257800"/>
              <a:chExt cx="1114425" cy="352425"/>
            </a:xfrm>
          </p:grpSpPr>
          <p:sp>
            <p:nvSpPr>
              <p:cNvPr id="1222" name="obj1221 poly"/>
              <p:cNvSpPr/>
              <p:nvPr/>
            </p:nvSpPr>
            <p:spPr>
              <a:xfrm>
                <a:off x="9496425" y="5295900"/>
                <a:ext cx="2190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300" h="3300" fill="norm">
                    <a:moveTo>
                      <a:pt x="0" y="0"/>
                    </a:moveTo>
                    <a:lnTo>
                      <a:pt x="2300" y="0"/>
                    </a:lnTo>
                    <a:lnTo>
                      <a:pt x="2300" y="900"/>
                    </a:lnTo>
                    <a:lnTo>
                      <a:pt x="1600" y="900"/>
                    </a:lnTo>
                    <a:lnTo>
                      <a:pt x="1600" y="3300"/>
                    </a:lnTo>
                    <a:lnTo>
                      <a:pt x="700" y="3300"/>
                    </a:lnTo>
                    <a:lnTo>
                      <a:pt x="700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obj1222 poly"/>
              <p:cNvSpPr/>
              <p:nvPr/>
            </p:nvSpPr>
            <p:spPr>
              <a:xfrm>
                <a:off x="9753600" y="5295900"/>
                <a:ext cx="1047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1100" h="3300" fill="norm">
                    <a:moveTo>
                      <a:pt x="0" y="0"/>
                    </a:moveTo>
                    <a:lnTo>
                      <a:pt x="1100" y="0"/>
                    </a:lnTo>
                    <a:lnTo>
                      <a:pt x="1100" y="3300"/>
                    </a:lnTo>
                    <a:lnTo>
                      <a:pt x="0" y="33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obj1223 poly"/>
              <p:cNvSpPr/>
              <p:nvPr/>
            </p:nvSpPr>
            <p:spPr>
              <a:xfrm>
                <a:off x="9896475" y="5295900"/>
                <a:ext cx="2190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300" h="3300" fill="norm">
                    <a:moveTo>
                      <a:pt x="0" y="0"/>
                    </a:moveTo>
                    <a:lnTo>
                      <a:pt x="2300" y="0"/>
                    </a:lnTo>
                    <a:lnTo>
                      <a:pt x="2300" y="900"/>
                    </a:lnTo>
                    <a:lnTo>
                      <a:pt x="1600" y="900"/>
                    </a:lnTo>
                    <a:lnTo>
                      <a:pt x="1600" y="3300"/>
                    </a:lnTo>
                    <a:lnTo>
                      <a:pt x="700" y="3300"/>
                    </a:lnTo>
                    <a:lnTo>
                      <a:pt x="700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5" name="obj1224 path"/>
              <p:cNvSpPr/>
              <p:nvPr/>
            </p:nvSpPr>
            <p:spPr>
              <a:xfrm>
                <a:off x="10144125" y="5257800"/>
                <a:ext cx="247650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2600" h="3700" fill="norm">
                    <a:moveTo>
                      <a:pt x="0" y="3700"/>
                    </a:moveTo>
                    <a:lnTo>
                      <a:pt x="0" y="1600"/>
                    </a:lnTo>
                    <a:cubicBezTo>
                      <a:pt x="0" y="0"/>
                      <a:pt x="2600" y="0"/>
                      <a:pt x="2600" y="1600"/>
                    </a:cubicBezTo>
                    <a:lnTo>
                      <a:pt x="2600" y="3700"/>
                    </a:lnTo>
                    <a:lnTo>
                      <a:pt x="1600" y="3700"/>
                    </a:lnTo>
                    <a:lnTo>
                      <a:pt x="1600" y="2600"/>
                    </a:lnTo>
                    <a:lnTo>
                      <a:pt x="1100" y="2600"/>
                    </a:lnTo>
                    <a:lnTo>
                      <a:pt x="1100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6" name="obj1225 rect"/>
              <p:cNvSpPr/>
              <p:nvPr/>
            </p:nvSpPr>
            <p:spPr>
              <a:xfrm>
                <a:off x="10248900" y="5391150"/>
                <a:ext cx="47625" cy="66675"/>
              </a:xfrm>
              <a:prstGeom prst="roundRect">
                <a:avLst>
                  <a:gd name="adj" fmla="val 4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7" name="obj1226 path"/>
              <p:cNvSpPr/>
              <p:nvPr/>
            </p:nvSpPr>
            <p:spPr>
              <a:xfrm>
                <a:off x="10439400" y="5257800"/>
                <a:ext cx="171450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1800" h="3700" fill="norm">
                    <a:moveTo>
                      <a:pt x="0" y="3700"/>
                    </a:moveTo>
                    <a:lnTo>
                      <a:pt x="0" y="1500"/>
                    </a:lnTo>
                    <a:cubicBezTo>
                      <a:pt x="0" y="0"/>
                      <a:pt x="1800" y="0"/>
                      <a:pt x="1800" y="1500"/>
                    </a:cubicBezTo>
                    <a:lnTo>
                      <a:pt x="1800" y="3700"/>
                    </a:lnTo>
                    <a:lnTo>
                      <a:pt x="1100" y="3700"/>
                    </a:lnTo>
                    <a:lnTo>
                      <a:pt x="1100" y="1600"/>
                    </a:lnTo>
                    <a:cubicBezTo>
                      <a:pt x="1100" y="1100"/>
                      <a:pt x="700" y="1100"/>
                      <a:pt x="700" y="1600"/>
                    </a:cubicBezTo>
                    <a:lnTo>
                      <a:pt x="700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28" name="Middle VQE — before freezing"/>
            <p:cNvGrpSpPr/>
            <p:nvPr/>
          </p:nvGrpSpPr>
          <p:grpSpPr>
            <a:xfrm>
              <a:off x="11668125" y="3152775"/>
              <a:ext cx="3505200" cy="1514475"/>
              <a:chOff x="11668125" y="3152775"/>
              <a:chExt cx="3505200" cy="1514475"/>
            </a:xfrm>
          </p:grpSpPr>
          <p:sp>
            <p:nvSpPr>
              <p:cNvPr id="1229" name="obj1228 rect"/>
              <p:cNvSpPr/>
              <p:nvPr/>
            </p:nvSpPr>
            <p:spPr>
              <a:xfrm>
                <a:off x="11763375" y="3286125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0" name="obj1229 rect"/>
              <p:cNvSpPr/>
              <p:nvPr/>
            </p:nvSpPr>
            <p:spPr>
              <a:xfrm>
                <a:off x="11668125" y="3152775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31" name="Qubit input |0⟩"/>
              <p:cNvGrpSpPr/>
              <p:nvPr/>
            </p:nvGrpSpPr>
            <p:grpSpPr>
              <a:xfrm>
                <a:off x="11782425" y="3240786"/>
                <a:ext cx="157386" cy="201168"/>
                <a:chOff x="11782425" y="3240786"/>
                <a:chExt cx="157386" cy="201168"/>
              </a:xfrm>
            </p:grpSpPr>
            <p:sp>
              <p:nvSpPr>
                <p:cNvPr id="1232" name="Text: |0"/>
                <p:cNvSpPr txBox="1"/>
                <p:nvPr/>
              </p:nvSpPr>
              <p:spPr>
                <a:xfrm>
                  <a:off x="11782425" y="32407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233" name="obj1232 poly"/>
                <p:cNvSpPr/>
                <p:nvPr/>
              </p:nvSpPr>
              <p:spPr>
                <a:xfrm>
                  <a:off x="11906250" y="32766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234" name="obj1233 poly"/>
              <p:cNvSpPr/>
              <p:nvPr/>
            </p:nvSpPr>
            <p:spPr>
              <a:xfrm>
                <a:off x="12068175" y="334327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5" name="obj1234 poly"/>
              <p:cNvSpPr/>
              <p:nvPr/>
            </p:nvSpPr>
            <p:spPr>
              <a:xfrm>
                <a:off x="12134850" y="32099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6" name="obj1235 poly"/>
              <p:cNvSpPr/>
              <p:nvPr/>
            </p:nvSpPr>
            <p:spPr>
              <a:xfrm>
                <a:off x="12506325" y="32099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7" name="obj1236 ellipse"/>
              <p:cNvSpPr/>
              <p:nvPr/>
            </p:nvSpPr>
            <p:spPr>
              <a:xfrm>
                <a:off x="12868275" y="32099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8" name="obj1237 poly"/>
              <p:cNvSpPr/>
              <p:nvPr/>
            </p:nvSpPr>
            <p:spPr>
              <a:xfrm>
                <a:off x="13201650" y="32099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9" name="obj1238 poly"/>
              <p:cNvSpPr/>
              <p:nvPr/>
            </p:nvSpPr>
            <p:spPr>
              <a:xfrm>
                <a:off x="13773150" y="32099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40" name="Measurement"/>
              <p:cNvGrpSpPr/>
              <p:nvPr/>
            </p:nvGrpSpPr>
            <p:grpSpPr>
              <a:xfrm>
                <a:off x="14697075" y="3228975"/>
                <a:ext cx="257175" cy="209550"/>
                <a:chOff x="14697075" y="3228975"/>
                <a:chExt cx="257175" cy="209550"/>
              </a:xfrm>
            </p:grpSpPr>
            <p:sp>
              <p:nvSpPr>
                <p:cNvPr id="1241" name="obj1240 rect"/>
                <p:cNvSpPr/>
                <p:nvPr/>
              </p:nvSpPr>
              <p:spPr>
                <a:xfrm>
                  <a:off x="14697075" y="32289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42" name="obj1241 path"/>
                <p:cNvSpPr/>
                <p:nvPr/>
              </p:nvSpPr>
              <p:spPr>
                <a:xfrm>
                  <a:off x="14725650" y="32575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43" name="obj1242 poly"/>
                <p:cNvSpPr/>
                <p:nvPr/>
              </p:nvSpPr>
              <p:spPr>
                <a:xfrm>
                  <a:off x="14805088" y="32575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44" name="obj1243 poly"/>
                <p:cNvSpPr/>
                <p:nvPr/>
              </p:nvSpPr>
              <p:spPr>
                <a:xfrm>
                  <a:off x="14837188" y="32575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245" name="Qubit input |0⟩"/>
              <p:cNvGrpSpPr/>
              <p:nvPr/>
            </p:nvGrpSpPr>
            <p:grpSpPr>
              <a:xfrm>
                <a:off x="11782425" y="3564636"/>
                <a:ext cx="157386" cy="201168"/>
                <a:chOff x="11782425" y="3564636"/>
                <a:chExt cx="157386" cy="201168"/>
              </a:xfrm>
            </p:grpSpPr>
            <p:sp>
              <p:nvSpPr>
                <p:cNvPr id="1246" name="Text: |0"/>
                <p:cNvSpPr txBox="1"/>
                <p:nvPr/>
              </p:nvSpPr>
              <p:spPr>
                <a:xfrm>
                  <a:off x="11782425" y="35646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247" name="obj1246 poly"/>
                <p:cNvSpPr/>
                <p:nvPr/>
              </p:nvSpPr>
              <p:spPr>
                <a:xfrm>
                  <a:off x="11906250" y="36004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248" name="obj1247 poly"/>
              <p:cNvSpPr/>
              <p:nvPr/>
            </p:nvSpPr>
            <p:spPr>
              <a:xfrm>
                <a:off x="12068175" y="366712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9" name="obj1248 poly"/>
              <p:cNvSpPr/>
              <p:nvPr/>
            </p:nvSpPr>
            <p:spPr>
              <a:xfrm>
                <a:off x="12134850" y="35337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0" name="obj1249 poly"/>
              <p:cNvSpPr/>
              <p:nvPr/>
            </p:nvSpPr>
            <p:spPr>
              <a:xfrm>
                <a:off x="12506325" y="35337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1" name="obj1250 ellipse"/>
              <p:cNvSpPr/>
              <p:nvPr/>
            </p:nvSpPr>
            <p:spPr>
              <a:xfrm>
                <a:off x="12868275" y="35337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2" name="obj1251 poly"/>
              <p:cNvSpPr/>
              <p:nvPr/>
            </p:nvSpPr>
            <p:spPr>
              <a:xfrm>
                <a:off x="13201650" y="35337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3" name="obj1252 poly"/>
              <p:cNvSpPr/>
              <p:nvPr/>
            </p:nvSpPr>
            <p:spPr>
              <a:xfrm>
                <a:off x="13773150" y="35337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54" name="Measurement"/>
              <p:cNvGrpSpPr/>
              <p:nvPr/>
            </p:nvGrpSpPr>
            <p:grpSpPr>
              <a:xfrm>
                <a:off x="14697075" y="3552825"/>
                <a:ext cx="257175" cy="209550"/>
                <a:chOff x="14697075" y="3552825"/>
                <a:chExt cx="257175" cy="209550"/>
              </a:xfrm>
            </p:grpSpPr>
            <p:sp>
              <p:nvSpPr>
                <p:cNvPr id="1255" name="obj1254 rect"/>
                <p:cNvSpPr/>
                <p:nvPr/>
              </p:nvSpPr>
              <p:spPr>
                <a:xfrm>
                  <a:off x="14697075" y="35528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56" name="obj1255 path"/>
                <p:cNvSpPr/>
                <p:nvPr/>
              </p:nvSpPr>
              <p:spPr>
                <a:xfrm>
                  <a:off x="14725650" y="35814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57" name="obj1256 poly"/>
                <p:cNvSpPr/>
                <p:nvPr/>
              </p:nvSpPr>
              <p:spPr>
                <a:xfrm>
                  <a:off x="14805088" y="35814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58" name="obj1257 poly"/>
                <p:cNvSpPr/>
                <p:nvPr/>
              </p:nvSpPr>
              <p:spPr>
                <a:xfrm>
                  <a:off x="14837188" y="35814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259" name="Qubit input |0⟩"/>
              <p:cNvGrpSpPr/>
              <p:nvPr/>
            </p:nvGrpSpPr>
            <p:grpSpPr>
              <a:xfrm>
                <a:off x="11782425" y="3878961"/>
                <a:ext cx="157386" cy="201168"/>
                <a:chOff x="11782425" y="3878961"/>
                <a:chExt cx="157386" cy="201168"/>
              </a:xfrm>
            </p:grpSpPr>
            <p:sp>
              <p:nvSpPr>
                <p:cNvPr id="1260" name="Text: |0"/>
                <p:cNvSpPr txBox="1"/>
                <p:nvPr/>
              </p:nvSpPr>
              <p:spPr>
                <a:xfrm>
                  <a:off x="11782425" y="38789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261" name="obj1260 poly"/>
                <p:cNvSpPr/>
                <p:nvPr/>
              </p:nvSpPr>
              <p:spPr>
                <a:xfrm>
                  <a:off x="11906250" y="39147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262" name="obj1261 poly"/>
              <p:cNvSpPr/>
              <p:nvPr/>
            </p:nvSpPr>
            <p:spPr>
              <a:xfrm>
                <a:off x="12068175" y="398145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3" name="obj1262 poly"/>
              <p:cNvSpPr/>
              <p:nvPr/>
            </p:nvSpPr>
            <p:spPr>
              <a:xfrm>
                <a:off x="12134850" y="3848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4" name="obj1263 poly"/>
              <p:cNvSpPr/>
              <p:nvPr/>
            </p:nvSpPr>
            <p:spPr>
              <a:xfrm>
                <a:off x="12506325" y="3848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5" name="obj1264 ellipse"/>
              <p:cNvSpPr/>
              <p:nvPr/>
            </p:nvSpPr>
            <p:spPr>
              <a:xfrm>
                <a:off x="12868275" y="384810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6" name="obj1265 poly"/>
              <p:cNvSpPr/>
              <p:nvPr/>
            </p:nvSpPr>
            <p:spPr>
              <a:xfrm>
                <a:off x="13201650" y="3848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7" name="obj1266 poly"/>
              <p:cNvSpPr/>
              <p:nvPr/>
            </p:nvSpPr>
            <p:spPr>
              <a:xfrm>
                <a:off x="13773150" y="3848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68" name="Measurement"/>
              <p:cNvGrpSpPr/>
              <p:nvPr/>
            </p:nvGrpSpPr>
            <p:grpSpPr>
              <a:xfrm>
                <a:off x="14697075" y="3867150"/>
                <a:ext cx="257175" cy="209550"/>
                <a:chOff x="14697075" y="3867150"/>
                <a:chExt cx="257175" cy="209550"/>
              </a:xfrm>
            </p:grpSpPr>
            <p:sp>
              <p:nvSpPr>
                <p:cNvPr id="1269" name="obj1268 rect"/>
                <p:cNvSpPr/>
                <p:nvPr/>
              </p:nvSpPr>
              <p:spPr>
                <a:xfrm>
                  <a:off x="14697075" y="38671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70" name="obj1269 path"/>
                <p:cNvSpPr/>
                <p:nvPr/>
              </p:nvSpPr>
              <p:spPr>
                <a:xfrm>
                  <a:off x="14725650" y="38957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71" name="obj1270 poly"/>
                <p:cNvSpPr/>
                <p:nvPr/>
              </p:nvSpPr>
              <p:spPr>
                <a:xfrm>
                  <a:off x="14805088" y="38957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72" name="obj1271 poly"/>
                <p:cNvSpPr/>
                <p:nvPr/>
              </p:nvSpPr>
              <p:spPr>
                <a:xfrm>
                  <a:off x="14837188" y="38957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273" name="Qubit input |0⟩"/>
              <p:cNvGrpSpPr/>
              <p:nvPr/>
            </p:nvGrpSpPr>
            <p:grpSpPr>
              <a:xfrm>
                <a:off x="11782425" y="4193286"/>
                <a:ext cx="157386" cy="201168"/>
                <a:chOff x="11782425" y="4193286"/>
                <a:chExt cx="157386" cy="201168"/>
              </a:xfrm>
            </p:grpSpPr>
            <p:sp>
              <p:nvSpPr>
                <p:cNvPr id="1274" name="Text: |0"/>
                <p:cNvSpPr txBox="1"/>
                <p:nvPr/>
              </p:nvSpPr>
              <p:spPr>
                <a:xfrm>
                  <a:off x="11782425" y="41932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275" name="obj1274 poly"/>
                <p:cNvSpPr/>
                <p:nvPr/>
              </p:nvSpPr>
              <p:spPr>
                <a:xfrm>
                  <a:off x="11906250" y="42291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276" name="obj1275 poly"/>
              <p:cNvSpPr/>
              <p:nvPr/>
            </p:nvSpPr>
            <p:spPr>
              <a:xfrm>
                <a:off x="12068175" y="429577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7" name="obj1276 poly"/>
              <p:cNvSpPr/>
              <p:nvPr/>
            </p:nvSpPr>
            <p:spPr>
              <a:xfrm>
                <a:off x="12134850" y="4162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8" name="obj1277 poly"/>
              <p:cNvSpPr/>
              <p:nvPr/>
            </p:nvSpPr>
            <p:spPr>
              <a:xfrm>
                <a:off x="12506325" y="4162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9" name="obj1278 ellipse"/>
              <p:cNvSpPr/>
              <p:nvPr/>
            </p:nvSpPr>
            <p:spPr>
              <a:xfrm>
                <a:off x="12868275" y="41624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0" name="obj1279 poly"/>
              <p:cNvSpPr/>
              <p:nvPr/>
            </p:nvSpPr>
            <p:spPr>
              <a:xfrm>
                <a:off x="13201650" y="4162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1" name="obj1280 poly"/>
              <p:cNvSpPr/>
              <p:nvPr/>
            </p:nvSpPr>
            <p:spPr>
              <a:xfrm>
                <a:off x="13773150" y="41624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82" name="Measurement"/>
              <p:cNvGrpSpPr/>
              <p:nvPr/>
            </p:nvGrpSpPr>
            <p:grpSpPr>
              <a:xfrm>
                <a:off x="14697075" y="4181475"/>
                <a:ext cx="257175" cy="209550"/>
                <a:chOff x="14697075" y="4181475"/>
                <a:chExt cx="257175" cy="209550"/>
              </a:xfrm>
            </p:grpSpPr>
            <p:sp>
              <p:nvSpPr>
                <p:cNvPr id="1283" name="obj1282 rect"/>
                <p:cNvSpPr/>
                <p:nvPr/>
              </p:nvSpPr>
              <p:spPr>
                <a:xfrm>
                  <a:off x="14697075" y="41814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84" name="obj1283 path"/>
                <p:cNvSpPr/>
                <p:nvPr/>
              </p:nvSpPr>
              <p:spPr>
                <a:xfrm>
                  <a:off x="14725650" y="42100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85" name="obj1284 poly"/>
                <p:cNvSpPr/>
                <p:nvPr/>
              </p:nvSpPr>
              <p:spPr>
                <a:xfrm>
                  <a:off x="14805088" y="42100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86" name="obj1285 poly"/>
                <p:cNvSpPr/>
                <p:nvPr/>
              </p:nvSpPr>
              <p:spPr>
                <a:xfrm>
                  <a:off x="14837188" y="42100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287" name="obj1286 rect"/>
              <p:cNvSpPr/>
              <p:nvPr/>
            </p:nvSpPr>
            <p:spPr>
              <a:xfrm>
                <a:off x="14144625" y="32670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8" name="obj1287 rect"/>
              <p:cNvSpPr/>
              <p:nvPr/>
            </p:nvSpPr>
            <p:spPr>
              <a:xfrm>
                <a:off x="14344650" y="36099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9" name="obj1288 rect"/>
              <p:cNvSpPr/>
              <p:nvPr/>
            </p:nvSpPr>
            <p:spPr>
              <a:xfrm>
                <a:off x="14516100" y="3924300"/>
                <a:ext cx="123825" cy="4572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90" name="Middle VQE — after TITAN"/>
            <p:cNvGrpSpPr/>
            <p:nvPr/>
          </p:nvGrpSpPr>
          <p:grpSpPr>
            <a:xfrm>
              <a:off x="11753850" y="5314950"/>
              <a:ext cx="3505200" cy="1514475"/>
              <a:chOff x="11753850" y="5314950"/>
              <a:chExt cx="3505200" cy="1514475"/>
            </a:xfrm>
          </p:grpSpPr>
          <p:sp>
            <p:nvSpPr>
              <p:cNvPr id="1291" name="obj1290 rect"/>
              <p:cNvSpPr/>
              <p:nvPr/>
            </p:nvSpPr>
            <p:spPr>
              <a:xfrm>
                <a:off x="11849100" y="5448300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2" name="obj1291 rect"/>
              <p:cNvSpPr/>
              <p:nvPr/>
            </p:nvSpPr>
            <p:spPr>
              <a:xfrm>
                <a:off x="11753850" y="5314950"/>
                <a:ext cx="3409950" cy="1381125"/>
              </a:xfrm>
              <a:prstGeom prst="rect">
                <a:avLst/>
              </a:prstGeom>
              <a:solidFill>
                <a:srgbClr val="C9E5B4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293" name="Qubit input |0⟩"/>
              <p:cNvGrpSpPr/>
              <p:nvPr/>
            </p:nvGrpSpPr>
            <p:grpSpPr>
              <a:xfrm>
                <a:off x="11868150" y="5402961"/>
                <a:ext cx="157386" cy="201168"/>
                <a:chOff x="11868150" y="5402961"/>
                <a:chExt cx="157386" cy="201168"/>
              </a:xfrm>
            </p:grpSpPr>
            <p:sp>
              <p:nvSpPr>
                <p:cNvPr id="1294" name="Text: |0"/>
                <p:cNvSpPr txBox="1"/>
                <p:nvPr/>
              </p:nvSpPr>
              <p:spPr>
                <a:xfrm>
                  <a:off x="11868150" y="54029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295" name="obj1294 poly"/>
                <p:cNvSpPr/>
                <p:nvPr/>
              </p:nvSpPr>
              <p:spPr>
                <a:xfrm>
                  <a:off x="11991975" y="54387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296" name="obj1295 poly"/>
              <p:cNvSpPr/>
              <p:nvPr/>
            </p:nvSpPr>
            <p:spPr>
              <a:xfrm>
                <a:off x="12153900" y="550545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7" name="obj1296 poly"/>
              <p:cNvSpPr/>
              <p:nvPr/>
            </p:nvSpPr>
            <p:spPr>
              <a:xfrm>
                <a:off x="12220575" y="5372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8" name="obj1297 poly"/>
              <p:cNvSpPr/>
              <p:nvPr/>
            </p:nvSpPr>
            <p:spPr>
              <a:xfrm>
                <a:off x="12592050" y="5372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9" name="obj1298 ellipse"/>
              <p:cNvSpPr/>
              <p:nvPr/>
            </p:nvSpPr>
            <p:spPr>
              <a:xfrm>
                <a:off x="12954000" y="537210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0" name="obj1299 poly"/>
              <p:cNvSpPr/>
              <p:nvPr/>
            </p:nvSpPr>
            <p:spPr>
              <a:xfrm>
                <a:off x="13287375" y="5372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1" name="obj1300 poly"/>
              <p:cNvSpPr/>
              <p:nvPr/>
            </p:nvSpPr>
            <p:spPr>
              <a:xfrm>
                <a:off x="13858875" y="53721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02" name="Measurement"/>
              <p:cNvGrpSpPr/>
              <p:nvPr/>
            </p:nvGrpSpPr>
            <p:grpSpPr>
              <a:xfrm>
                <a:off x="14782800" y="5391150"/>
                <a:ext cx="257175" cy="209550"/>
                <a:chOff x="14782800" y="5391150"/>
                <a:chExt cx="257175" cy="209550"/>
              </a:xfrm>
            </p:grpSpPr>
            <p:sp>
              <p:nvSpPr>
                <p:cNvPr id="1303" name="obj1302 rect"/>
                <p:cNvSpPr/>
                <p:nvPr/>
              </p:nvSpPr>
              <p:spPr>
                <a:xfrm>
                  <a:off x="14782800" y="53911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04" name="obj1303 path"/>
                <p:cNvSpPr/>
                <p:nvPr/>
              </p:nvSpPr>
              <p:spPr>
                <a:xfrm>
                  <a:off x="14811375" y="54197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05" name="obj1304 poly"/>
                <p:cNvSpPr/>
                <p:nvPr/>
              </p:nvSpPr>
              <p:spPr>
                <a:xfrm>
                  <a:off x="14890814" y="54197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06" name="obj1305 poly"/>
                <p:cNvSpPr/>
                <p:nvPr/>
              </p:nvSpPr>
              <p:spPr>
                <a:xfrm>
                  <a:off x="14922913" y="54197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307" name="Qubit input |0⟩"/>
              <p:cNvGrpSpPr/>
              <p:nvPr/>
            </p:nvGrpSpPr>
            <p:grpSpPr>
              <a:xfrm>
                <a:off x="11868150" y="5726811"/>
                <a:ext cx="157386" cy="201168"/>
                <a:chOff x="11868150" y="5726811"/>
                <a:chExt cx="157386" cy="201168"/>
              </a:xfrm>
            </p:grpSpPr>
            <p:sp>
              <p:nvSpPr>
                <p:cNvPr id="1308" name="Text: |0"/>
                <p:cNvSpPr txBox="1"/>
                <p:nvPr/>
              </p:nvSpPr>
              <p:spPr>
                <a:xfrm>
                  <a:off x="11868150" y="57268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309" name="obj1308 poly"/>
                <p:cNvSpPr/>
                <p:nvPr/>
              </p:nvSpPr>
              <p:spPr>
                <a:xfrm>
                  <a:off x="11991975" y="57626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10" name="obj1309 poly"/>
              <p:cNvSpPr/>
              <p:nvPr/>
            </p:nvSpPr>
            <p:spPr>
              <a:xfrm>
                <a:off x="12153900" y="582930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1" name="obj1310 poly"/>
              <p:cNvSpPr/>
              <p:nvPr/>
            </p:nvSpPr>
            <p:spPr>
              <a:xfrm>
                <a:off x="12220575" y="569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2" name="obj1311 poly"/>
              <p:cNvSpPr/>
              <p:nvPr/>
            </p:nvSpPr>
            <p:spPr>
              <a:xfrm>
                <a:off x="12592050" y="569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3" name="obj1312 ellipse"/>
              <p:cNvSpPr/>
              <p:nvPr/>
            </p:nvSpPr>
            <p:spPr>
              <a:xfrm>
                <a:off x="12954000" y="56959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4" name="obj1313 poly"/>
              <p:cNvSpPr/>
              <p:nvPr/>
            </p:nvSpPr>
            <p:spPr>
              <a:xfrm>
                <a:off x="13287375" y="569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5" name="obj1314 poly"/>
              <p:cNvSpPr/>
              <p:nvPr/>
            </p:nvSpPr>
            <p:spPr>
              <a:xfrm>
                <a:off x="13858875" y="56959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16" name="Measurement"/>
              <p:cNvGrpSpPr/>
              <p:nvPr/>
            </p:nvGrpSpPr>
            <p:grpSpPr>
              <a:xfrm>
                <a:off x="14782800" y="5715000"/>
                <a:ext cx="257175" cy="209550"/>
                <a:chOff x="14782800" y="5715000"/>
                <a:chExt cx="257175" cy="209550"/>
              </a:xfrm>
            </p:grpSpPr>
            <p:sp>
              <p:nvSpPr>
                <p:cNvPr id="1317" name="obj1316 rect"/>
                <p:cNvSpPr/>
                <p:nvPr/>
              </p:nvSpPr>
              <p:spPr>
                <a:xfrm>
                  <a:off x="14782800" y="57150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18" name="obj1317 path"/>
                <p:cNvSpPr/>
                <p:nvPr/>
              </p:nvSpPr>
              <p:spPr>
                <a:xfrm>
                  <a:off x="14811375" y="57435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19" name="obj1318 poly"/>
                <p:cNvSpPr/>
                <p:nvPr/>
              </p:nvSpPr>
              <p:spPr>
                <a:xfrm>
                  <a:off x="14890814" y="57435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20" name="obj1319 poly"/>
                <p:cNvSpPr/>
                <p:nvPr/>
              </p:nvSpPr>
              <p:spPr>
                <a:xfrm>
                  <a:off x="14922913" y="57435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321" name="Qubit input |0⟩"/>
              <p:cNvGrpSpPr/>
              <p:nvPr/>
            </p:nvGrpSpPr>
            <p:grpSpPr>
              <a:xfrm>
                <a:off x="11868150" y="6041136"/>
                <a:ext cx="157386" cy="201168"/>
                <a:chOff x="11868150" y="6041136"/>
                <a:chExt cx="157386" cy="201168"/>
              </a:xfrm>
            </p:grpSpPr>
            <p:sp>
              <p:nvSpPr>
                <p:cNvPr id="1322" name="Text: |0"/>
                <p:cNvSpPr txBox="1"/>
                <p:nvPr/>
              </p:nvSpPr>
              <p:spPr>
                <a:xfrm>
                  <a:off x="11868150" y="60411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323" name="obj1322 poly"/>
                <p:cNvSpPr/>
                <p:nvPr/>
              </p:nvSpPr>
              <p:spPr>
                <a:xfrm>
                  <a:off x="11991975" y="60769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24" name="obj1323 poly"/>
              <p:cNvSpPr/>
              <p:nvPr/>
            </p:nvSpPr>
            <p:spPr>
              <a:xfrm>
                <a:off x="12153900" y="6143625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5" name="obj1324 poly"/>
              <p:cNvSpPr/>
              <p:nvPr/>
            </p:nvSpPr>
            <p:spPr>
              <a:xfrm>
                <a:off x="12220575" y="60102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6" name="obj1325 poly"/>
              <p:cNvSpPr/>
              <p:nvPr/>
            </p:nvSpPr>
            <p:spPr>
              <a:xfrm>
                <a:off x="12592050" y="60102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7" name="obj1326 ellipse"/>
              <p:cNvSpPr/>
              <p:nvPr/>
            </p:nvSpPr>
            <p:spPr>
              <a:xfrm>
                <a:off x="12954000" y="60102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8" name="obj1327 poly"/>
              <p:cNvSpPr/>
              <p:nvPr/>
            </p:nvSpPr>
            <p:spPr>
              <a:xfrm>
                <a:off x="13287375" y="60102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9" name="obj1328 poly"/>
              <p:cNvSpPr/>
              <p:nvPr/>
            </p:nvSpPr>
            <p:spPr>
              <a:xfrm>
                <a:off x="13858875" y="60102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30" name="Measurement"/>
              <p:cNvGrpSpPr/>
              <p:nvPr/>
            </p:nvGrpSpPr>
            <p:grpSpPr>
              <a:xfrm>
                <a:off x="14782800" y="6029325"/>
                <a:ext cx="257175" cy="209550"/>
                <a:chOff x="14782800" y="6029325"/>
                <a:chExt cx="257175" cy="209550"/>
              </a:xfrm>
            </p:grpSpPr>
            <p:sp>
              <p:nvSpPr>
                <p:cNvPr id="1331" name="obj1330 rect"/>
                <p:cNvSpPr/>
                <p:nvPr/>
              </p:nvSpPr>
              <p:spPr>
                <a:xfrm>
                  <a:off x="14782800" y="60293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32" name="obj1331 path"/>
                <p:cNvSpPr/>
                <p:nvPr/>
              </p:nvSpPr>
              <p:spPr>
                <a:xfrm>
                  <a:off x="14811375" y="60579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33" name="obj1332 poly"/>
                <p:cNvSpPr/>
                <p:nvPr/>
              </p:nvSpPr>
              <p:spPr>
                <a:xfrm>
                  <a:off x="14890814" y="60579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34" name="obj1333 poly"/>
                <p:cNvSpPr/>
                <p:nvPr/>
              </p:nvSpPr>
              <p:spPr>
                <a:xfrm>
                  <a:off x="14922913" y="60579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335" name="Qubit input |0⟩"/>
              <p:cNvGrpSpPr/>
              <p:nvPr/>
            </p:nvGrpSpPr>
            <p:grpSpPr>
              <a:xfrm>
                <a:off x="11868150" y="6355461"/>
                <a:ext cx="157386" cy="201168"/>
                <a:chOff x="11868150" y="6355461"/>
                <a:chExt cx="157386" cy="201168"/>
              </a:xfrm>
            </p:grpSpPr>
            <p:sp>
              <p:nvSpPr>
                <p:cNvPr id="1336" name="Text: |0"/>
                <p:cNvSpPr txBox="1"/>
                <p:nvPr/>
              </p:nvSpPr>
              <p:spPr>
                <a:xfrm>
                  <a:off x="11868150" y="63554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337" name="obj1336 poly"/>
                <p:cNvSpPr/>
                <p:nvPr/>
              </p:nvSpPr>
              <p:spPr>
                <a:xfrm>
                  <a:off x="11991975" y="63912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38" name="obj1337 poly"/>
              <p:cNvSpPr/>
              <p:nvPr/>
            </p:nvSpPr>
            <p:spPr>
              <a:xfrm>
                <a:off x="12153900" y="6457950"/>
                <a:ext cx="2895600" cy="95"/>
              </a:xfrm>
              <a:custGeom>
                <a:avLst/>
                <a:gdLst/>
                <a:ahLst/>
                <a:cxnLst/>
                <a:rect l="0" t="0" r="w" b="h"/>
                <a:pathLst>
                  <a:path w="30400" h="1" fill="none">
                    <a:moveTo>
                      <a:pt x="0" y="0"/>
                    </a:moveTo>
                    <a:lnTo>
                      <a:pt x="30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9" name="obj1338 poly"/>
              <p:cNvSpPr/>
              <p:nvPr/>
            </p:nvSpPr>
            <p:spPr>
              <a:xfrm>
                <a:off x="12220575" y="63246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0" name="obj1339 poly"/>
              <p:cNvSpPr/>
              <p:nvPr/>
            </p:nvSpPr>
            <p:spPr>
              <a:xfrm>
                <a:off x="12592050" y="63246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1" name="obj1340 ellipse"/>
              <p:cNvSpPr/>
              <p:nvPr/>
            </p:nvSpPr>
            <p:spPr>
              <a:xfrm>
                <a:off x="12954000" y="632460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2" name="obj1341 poly"/>
              <p:cNvSpPr/>
              <p:nvPr/>
            </p:nvSpPr>
            <p:spPr>
              <a:xfrm>
                <a:off x="13287375" y="63246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3" name="obj1342 poly"/>
              <p:cNvSpPr/>
              <p:nvPr/>
            </p:nvSpPr>
            <p:spPr>
              <a:xfrm>
                <a:off x="13858875" y="63246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44" name="Measurement"/>
              <p:cNvGrpSpPr/>
              <p:nvPr/>
            </p:nvGrpSpPr>
            <p:grpSpPr>
              <a:xfrm>
                <a:off x="14782800" y="6343650"/>
                <a:ext cx="257175" cy="209550"/>
                <a:chOff x="14782800" y="6343650"/>
                <a:chExt cx="257175" cy="209550"/>
              </a:xfrm>
            </p:grpSpPr>
            <p:sp>
              <p:nvSpPr>
                <p:cNvPr id="1345" name="obj1344 rect"/>
                <p:cNvSpPr/>
                <p:nvPr/>
              </p:nvSpPr>
              <p:spPr>
                <a:xfrm>
                  <a:off x="14782800" y="63436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46" name="obj1345 path"/>
                <p:cNvSpPr/>
                <p:nvPr/>
              </p:nvSpPr>
              <p:spPr>
                <a:xfrm>
                  <a:off x="14811375" y="63722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47" name="obj1346 poly"/>
                <p:cNvSpPr/>
                <p:nvPr/>
              </p:nvSpPr>
              <p:spPr>
                <a:xfrm>
                  <a:off x="14890814" y="63722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48" name="obj1347 poly"/>
                <p:cNvSpPr/>
                <p:nvPr/>
              </p:nvSpPr>
              <p:spPr>
                <a:xfrm>
                  <a:off x="14922913" y="63722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49" name="obj1348 rect"/>
              <p:cNvSpPr/>
              <p:nvPr/>
            </p:nvSpPr>
            <p:spPr>
              <a:xfrm>
                <a:off x="14230350" y="54292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0" name="obj1349 rect"/>
              <p:cNvSpPr/>
              <p:nvPr/>
            </p:nvSpPr>
            <p:spPr>
              <a:xfrm>
                <a:off x="14430375" y="57721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1" name="obj1350 rect"/>
              <p:cNvSpPr/>
              <p:nvPr/>
            </p:nvSpPr>
            <p:spPr>
              <a:xfrm>
                <a:off x="14601825" y="6086475"/>
                <a:ext cx="123825" cy="457200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52" name="Text: Middle Size"/>
            <p:cNvSpPr txBox="1"/>
            <p:nvPr/>
          </p:nvSpPr>
          <p:spPr>
            <a:xfrm>
              <a:off x="11696700" y="4738068"/>
              <a:ext cx="1436325" cy="364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5" b="1" i="0">
                  <a:solidFill>
                    <a:srgbClr val="000000"/>
                  </a:solidFill>
                  <a:latin typeface="Times New Roman"/>
                </a:rPr>
                <a:t>Middle Size</a:t>
              </a:r>
            </a:p>
          </p:txBody>
        </p:sp>
        <p:sp>
          <p:nvSpPr>
            <p:cNvPr id="1353" name="obj1352 poly"/>
            <p:cNvSpPr/>
            <p:nvPr/>
          </p:nvSpPr>
          <p:spPr>
            <a:xfrm>
              <a:off x="13154025" y="4619625"/>
              <a:ext cx="95" cy="638175"/>
            </a:xfrm>
            <a:custGeom>
              <a:avLst/>
              <a:gdLst/>
              <a:ahLst/>
              <a:cxnLst/>
              <a:rect l="0" t="0" r="w" b="h"/>
              <a:pathLst>
                <a:path w="1" h="6700" fill="none">
                  <a:moveTo>
                    <a:pt x="0" y="0"/>
                  </a:moveTo>
                  <a:lnTo>
                    <a:pt x="0" y="6700"/>
                  </a:lnTo>
                </a:path>
              </a:pathLst>
            </a:custGeom>
            <a:noFill/>
            <a:ln w="45719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4" name="obj1353 poly"/>
            <p:cNvSpPr/>
            <p:nvPr/>
          </p:nvSpPr>
          <p:spPr>
            <a:xfrm>
              <a:off x="13054965" y="5067300"/>
              <a:ext cx="198120" cy="190500"/>
            </a:xfrm>
            <a:custGeom>
              <a:avLst/>
              <a:gdLst/>
              <a:ahLst/>
              <a:cxnLst/>
              <a:rect l="0" t="0" r="w" b="h"/>
              <a:pathLst>
                <a:path w="2080" h="2000" fill="norm">
                  <a:moveTo>
                    <a:pt x="2080" y="0"/>
                  </a:moveTo>
                  <a:lnTo>
                    <a:pt x="1040" y="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62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55" name="TITAN wordmark"/>
            <p:cNvGrpSpPr/>
            <p:nvPr/>
          </p:nvGrpSpPr>
          <p:grpSpPr>
            <a:xfrm>
              <a:off x="13363575" y="4772025"/>
              <a:ext cx="1114425" cy="352425"/>
              <a:chOff x="13363575" y="4772025"/>
              <a:chExt cx="1114425" cy="352425"/>
            </a:xfrm>
          </p:grpSpPr>
          <p:sp>
            <p:nvSpPr>
              <p:cNvPr id="1356" name="obj1355 poly"/>
              <p:cNvSpPr/>
              <p:nvPr/>
            </p:nvSpPr>
            <p:spPr>
              <a:xfrm>
                <a:off x="13363575" y="4810125"/>
                <a:ext cx="2190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300" h="3300" fill="norm">
                    <a:moveTo>
                      <a:pt x="0" y="0"/>
                    </a:moveTo>
                    <a:lnTo>
                      <a:pt x="2300" y="0"/>
                    </a:lnTo>
                    <a:lnTo>
                      <a:pt x="2300" y="900"/>
                    </a:lnTo>
                    <a:lnTo>
                      <a:pt x="1600" y="900"/>
                    </a:lnTo>
                    <a:lnTo>
                      <a:pt x="1600" y="3300"/>
                    </a:lnTo>
                    <a:lnTo>
                      <a:pt x="700" y="3300"/>
                    </a:lnTo>
                    <a:lnTo>
                      <a:pt x="700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7" name="obj1356 poly"/>
              <p:cNvSpPr/>
              <p:nvPr/>
            </p:nvSpPr>
            <p:spPr>
              <a:xfrm>
                <a:off x="13620750" y="4810125"/>
                <a:ext cx="1047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1100" h="3300" fill="norm">
                    <a:moveTo>
                      <a:pt x="0" y="0"/>
                    </a:moveTo>
                    <a:lnTo>
                      <a:pt x="1100" y="0"/>
                    </a:lnTo>
                    <a:lnTo>
                      <a:pt x="1100" y="3300"/>
                    </a:lnTo>
                    <a:lnTo>
                      <a:pt x="0" y="33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8" name="obj1357 poly"/>
              <p:cNvSpPr/>
              <p:nvPr/>
            </p:nvSpPr>
            <p:spPr>
              <a:xfrm>
                <a:off x="13763625" y="4810125"/>
                <a:ext cx="2190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300" h="3300" fill="norm">
                    <a:moveTo>
                      <a:pt x="0" y="0"/>
                    </a:moveTo>
                    <a:lnTo>
                      <a:pt x="2300" y="0"/>
                    </a:lnTo>
                    <a:lnTo>
                      <a:pt x="2300" y="900"/>
                    </a:lnTo>
                    <a:lnTo>
                      <a:pt x="1600" y="900"/>
                    </a:lnTo>
                    <a:lnTo>
                      <a:pt x="1600" y="3300"/>
                    </a:lnTo>
                    <a:lnTo>
                      <a:pt x="700" y="3300"/>
                    </a:lnTo>
                    <a:lnTo>
                      <a:pt x="700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9" name="obj1358 path"/>
              <p:cNvSpPr/>
              <p:nvPr/>
            </p:nvSpPr>
            <p:spPr>
              <a:xfrm>
                <a:off x="14011275" y="4772025"/>
                <a:ext cx="247650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2600" h="3700" fill="norm">
                    <a:moveTo>
                      <a:pt x="0" y="3700"/>
                    </a:moveTo>
                    <a:lnTo>
                      <a:pt x="0" y="1600"/>
                    </a:lnTo>
                    <a:cubicBezTo>
                      <a:pt x="0" y="0"/>
                      <a:pt x="2600" y="0"/>
                      <a:pt x="2600" y="1600"/>
                    </a:cubicBezTo>
                    <a:lnTo>
                      <a:pt x="2600" y="3700"/>
                    </a:lnTo>
                    <a:lnTo>
                      <a:pt x="1600" y="3700"/>
                    </a:lnTo>
                    <a:lnTo>
                      <a:pt x="1600" y="2600"/>
                    </a:lnTo>
                    <a:lnTo>
                      <a:pt x="1100" y="2600"/>
                    </a:lnTo>
                    <a:lnTo>
                      <a:pt x="1100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0" name="obj1359 rect"/>
              <p:cNvSpPr/>
              <p:nvPr/>
            </p:nvSpPr>
            <p:spPr>
              <a:xfrm>
                <a:off x="14116050" y="4905375"/>
                <a:ext cx="47625" cy="66675"/>
              </a:xfrm>
              <a:prstGeom prst="roundRect">
                <a:avLst>
                  <a:gd name="adj" fmla="val 4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1" name="obj1360 path"/>
              <p:cNvSpPr/>
              <p:nvPr/>
            </p:nvSpPr>
            <p:spPr>
              <a:xfrm>
                <a:off x="14306550" y="4772025"/>
                <a:ext cx="171450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1800" h="3700" fill="norm">
                    <a:moveTo>
                      <a:pt x="0" y="3700"/>
                    </a:moveTo>
                    <a:lnTo>
                      <a:pt x="0" y="1500"/>
                    </a:lnTo>
                    <a:cubicBezTo>
                      <a:pt x="0" y="0"/>
                      <a:pt x="1800" y="0"/>
                      <a:pt x="1800" y="1500"/>
                    </a:cubicBezTo>
                    <a:lnTo>
                      <a:pt x="1800" y="3700"/>
                    </a:lnTo>
                    <a:lnTo>
                      <a:pt x="1100" y="3700"/>
                    </a:lnTo>
                    <a:lnTo>
                      <a:pt x="1100" y="1600"/>
                    </a:lnTo>
                    <a:cubicBezTo>
                      <a:pt x="1100" y="1100"/>
                      <a:pt x="700" y="1100"/>
                      <a:pt x="700" y="1600"/>
                    </a:cubicBezTo>
                    <a:lnTo>
                      <a:pt x="700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62" name="Small VQE — before freezing"/>
            <p:cNvGrpSpPr/>
            <p:nvPr/>
          </p:nvGrpSpPr>
          <p:grpSpPr>
            <a:xfrm>
              <a:off x="15220950" y="3190875"/>
              <a:ext cx="2657475" cy="1152525"/>
              <a:chOff x="15220950" y="3190875"/>
              <a:chExt cx="2657475" cy="1152525"/>
            </a:xfrm>
          </p:grpSpPr>
          <p:sp>
            <p:nvSpPr>
              <p:cNvPr id="1363" name="obj1362 rect"/>
              <p:cNvSpPr/>
              <p:nvPr/>
            </p:nvSpPr>
            <p:spPr>
              <a:xfrm>
                <a:off x="15316200" y="332422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4" name="obj1363 rect"/>
              <p:cNvSpPr/>
              <p:nvPr/>
            </p:nvSpPr>
            <p:spPr>
              <a:xfrm>
                <a:off x="15220950" y="319087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65" name="Qubit input |0⟩"/>
              <p:cNvGrpSpPr/>
              <p:nvPr/>
            </p:nvGrpSpPr>
            <p:grpSpPr>
              <a:xfrm>
                <a:off x="15335250" y="3288411"/>
                <a:ext cx="157386" cy="201168"/>
                <a:chOff x="15335250" y="3288411"/>
                <a:chExt cx="157386" cy="201168"/>
              </a:xfrm>
            </p:grpSpPr>
            <p:sp>
              <p:nvSpPr>
                <p:cNvPr id="1366" name="Text: |0"/>
                <p:cNvSpPr txBox="1"/>
                <p:nvPr/>
              </p:nvSpPr>
              <p:spPr>
                <a:xfrm>
                  <a:off x="15335250" y="328841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367" name="obj1366 poly"/>
                <p:cNvSpPr/>
                <p:nvPr/>
              </p:nvSpPr>
              <p:spPr>
                <a:xfrm>
                  <a:off x="15459075" y="332422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68" name="obj1367 poly"/>
              <p:cNvSpPr/>
              <p:nvPr/>
            </p:nvSpPr>
            <p:spPr>
              <a:xfrm>
                <a:off x="15621000" y="339090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9" name="obj1368 poly"/>
              <p:cNvSpPr/>
              <p:nvPr/>
            </p:nvSpPr>
            <p:spPr>
              <a:xfrm>
                <a:off x="15687675" y="32575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0" name="obj1369 poly"/>
              <p:cNvSpPr/>
              <p:nvPr/>
            </p:nvSpPr>
            <p:spPr>
              <a:xfrm>
                <a:off x="16059150" y="325755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1" name="obj1370 ellipse"/>
              <p:cNvSpPr/>
              <p:nvPr/>
            </p:nvSpPr>
            <p:spPr>
              <a:xfrm>
                <a:off x="16421100" y="3257550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72" name="Measurement"/>
              <p:cNvGrpSpPr/>
              <p:nvPr/>
            </p:nvGrpSpPr>
            <p:grpSpPr>
              <a:xfrm>
                <a:off x="17402175" y="3276600"/>
                <a:ext cx="257175" cy="209550"/>
                <a:chOff x="17402175" y="3276600"/>
                <a:chExt cx="257175" cy="209550"/>
              </a:xfrm>
            </p:grpSpPr>
            <p:sp>
              <p:nvSpPr>
                <p:cNvPr id="1373" name="obj1372 rect"/>
                <p:cNvSpPr/>
                <p:nvPr/>
              </p:nvSpPr>
              <p:spPr>
                <a:xfrm>
                  <a:off x="17402175" y="327660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4" name="obj1373 path"/>
                <p:cNvSpPr/>
                <p:nvPr/>
              </p:nvSpPr>
              <p:spPr>
                <a:xfrm>
                  <a:off x="17430750" y="330517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5" name="obj1374 poly"/>
                <p:cNvSpPr/>
                <p:nvPr/>
              </p:nvSpPr>
              <p:spPr>
                <a:xfrm>
                  <a:off x="17510188" y="330517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6" name="obj1375 poly"/>
                <p:cNvSpPr/>
                <p:nvPr/>
              </p:nvSpPr>
              <p:spPr>
                <a:xfrm>
                  <a:off x="17542288" y="330517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377" name="Qubit input |0⟩"/>
              <p:cNvGrpSpPr/>
              <p:nvPr/>
            </p:nvGrpSpPr>
            <p:grpSpPr>
              <a:xfrm>
                <a:off x="15335250" y="3602736"/>
                <a:ext cx="157386" cy="201168"/>
                <a:chOff x="15335250" y="3602736"/>
                <a:chExt cx="157386" cy="201168"/>
              </a:xfrm>
            </p:grpSpPr>
            <p:sp>
              <p:nvSpPr>
                <p:cNvPr id="1378" name="Text: |0"/>
                <p:cNvSpPr txBox="1"/>
                <p:nvPr/>
              </p:nvSpPr>
              <p:spPr>
                <a:xfrm>
                  <a:off x="15335250" y="36027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379" name="obj1378 poly"/>
                <p:cNvSpPr/>
                <p:nvPr/>
              </p:nvSpPr>
              <p:spPr>
                <a:xfrm>
                  <a:off x="15459075" y="36385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80" name="obj1379 poly"/>
              <p:cNvSpPr/>
              <p:nvPr/>
            </p:nvSpPr>
            <p:spPr>
              <a:xfrm>
                <a:off x="15621000" y="370522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1" name="obj1380 poly"/>
              <p:cNvSpPr/>
              <p:nvPr/>
            </p:nvSpPr>
            <p:spPr>
              <a:xfrm>
                <a:off x="15687675" y="3571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2" name="obj1381 poly"/>
              <p:cNvSpPr/>
              <p:nvPr/>
            </p:nvSpPr>
            <p:spPr>
              <a:xfrm>
                <a:off x="16059150" y="35718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3" name="obj1382 ellipse"/>
              <p:cNvSpPr/>
              <p:nvPr/>
            </p:nvSpPr>
            <p:spPr>
              <a:xfrm>
                <a:off x="16421100" y="35718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84" name="Measurement"/>
              <p:cNvGrpSpPr/>
              <p:nvPr/>
            </p:nvGrpSpPr>
            <p:grpSpPr>
              <a:xfrm>
                <a:off x="17402175" y="3590925"/>
                <a:ext cx="257175" cy="209550"/>
                <a:chOff x="17402175" y="3590925"/>
                <a:chExt cx="257175" cy="209550"/>
              </a:xfrm>
            </p:grpSpPr>
            <p:sp>
              <p:nvSpPr>
                <p:cNvPr id="1385" name="obj1384 rect"/>
                <p:cNvSpPr/>
                <p:nvPr/>
              </p:nvSpPr>
              <p:spPr>
                <a:xfrm>
                  <a:off x="17402175" y="35909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86" name="obj1385 path"/>
                <p:cNvSpPr/>
                <p:nvPr/>
              </p:nvSpPr>
              <p:spPr>
                <a:xfrm>
                  <a:off x="17430750" y="36195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87" name="obj1386 poly"/>
                <p:cNvSpPr/>
                <p:nvPr/>
              </p:nvSpPr>
              <p:spPr>
                <a:xfrm>
                  <a:off x="17510188" y="36195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88" name="obj1387 poly"/>
                <p:cNvSpPr/>
                <p:nvPr/>
              </p:nvSpPr>
              <p:spPr>
                <a:xfrm>
                  <a:off x="17542288" y="36195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389" name="Qubit input |0⟩"/>
              <p:cNvGrpSpPr/>
              <p:nvPr/>
            </p:nvGrpSpPr>
            <p:grpSpPr>
              <a:xfrm>
                <a:off x="15335250" y="3926586"/>
                <a:ext cx="157386" cy="201168"/>
                <a:chOff x="15335250" y="3926586"/>
                <a:chExt cx="157386" cy="201168"/>
              </a:xfrm>
            </p:grpSpPr>
            <p:sp>
              <p:nvSpPr>
                <p:cNvPr id="1390" name="Text: |0"/>
                <p:cNvSpPr txBox="1"/>
                <p:nvPr/>
              </p:nvSpPr>
              <p:spPr>
                <a:xfrm>
                  <a:off x="15335250" y="39265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391" name="obj1390 poly"/>
                <p:cNvSpPr/>
                <p:nvPr/>
              </p:nvSpPr>
              <p:spPr>
                <a:xfrm>
                  <a:off x="15459075" y="39624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392" name="obj1391 poly"/>
              <p:cNvSpPr/>
              <p:nvPr/>
            </p:nvSpPr>
            <p:spPr>
              <a:xfrm>
                <a:off x="15621000" y="402907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3" name="obj1392 poly"/>
              <p:cNvSpPr/>
              <p:nvPr/>
            </p:nvSpPr>
            <p:spPr>
              <a:xfrm>
                <a:off x="15687675" y="3895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4" name="obj1393 poly"/>
              <p:cNvSpPr/>
              <p:nvPr/>
            </p:nvSpPr>
            <p:spPr>
              <a:xfrm>
                <a:off x="16059150" y="38957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5" name="obj1394 ellipse"/>
              <p:cNvSpPr/>
              <p:nvPr/>
            </p:nvSpPr>
            <p:spPr>
              <a:xfrm>
                <a:off x="16421100" y="389572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396" name="Measurement"/>
              <p:cNvGrpSpPr/>
              <p:nvPr/>
            </p:nvGrpSpPr>
            <p:grpSpPr>
              <a:xfrm>
                <a:off x="17402175" y="3914775"/>
                <a:ext cx="257175" cy="209550"/>
                <a:chOff x="17402175" y="3914775"/>
                <a:chExt cx="257175" cy="209550"/>
              </a:xfrm>
            </p:grpSpPr>
            <p:sp>
              <p:nvSpPr>
                <p:cNvPr id="1397" name="obj1396 rect"/>
                <p:cNvSpPr/>
                <p:nvPr/>
              </p:nvSpPr>
              <p:spPr>
                <a:xfrm>
                  <a:off x="17402175" y="39147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98" name="obj1397 path"/>
                <p:cNvSpPr/>
                <p:nvPr/>
              </p:nvSpPr>
              <p:spPr>
                <a:xfrm>
                  <a:off x="17430750" y="39433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99" name="obj1398 poly"/>
                <p:cNvSpPr/>
                <p:nvPr/>
              </p:nvSpPr>
              <p:spPr>
                <a:xfrm>
                  <a:off x="17510188" y="39433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00" name="obj1399 poly"/>
                <p:cNvSpPr/>
                <p:nvPr/>
              </p:nvSpPr>
              <p:spPr>
                <a:xfrm>
                  <a:off x="17542288" y="39433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401" name="obj1400 rect"/>
              <p:cNvSpPr/>
              <p:nvPr/>
            </p:nvSpPr>
            <p:spPr>
              <a:xfrm>
                <a:off x="16783050" y="332422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2" name="obj1401 rect"/>
              <p:cNvSpPr/>
              <p:nvPr/>
            </p:nvSpPr>
            <p:spPr>
              <a:xfrm>
                <a:off x="16983075" y="365760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3" name="Small VQE — after TITAN"/>
            <p:cNvGrpSpPr/>
            <p:nvPr/>
          </p:nvGrpSpPr>
          <p:grpSpPr>
            <a:xfrm>
              <a:off x="15449550" y="5191125"/>
              <a:ext cx="2657475" cy="1152525"/>
              <a:chOff x="15449550" y="5191125"/>
              <a:chExt cx="2657475" cy="1152525"/>
            </a:xfrm>
          </p:grpSpPr>
          <p:sp>
            <p:nvSpPr>
              <p:cNvPr id="1404" name="obj1403 rect"/>
              <p:cNvSpPr/>
              <p:nvPr/>
            </p:nvSpPr>
            <p:spPr>
              <a:xfrm>
                <a:off x="15544800" y="532447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5" name="obj1404 rect"/>
              <p:cNvSpPr/>
              <p:nvPr/>
            </p:nvSpPr>
            <p:spPr>
              <a:xfrm>
                <a:off x="15449550" y="5191125"/>
                <a:ext cx="2562225" cy="1019175"/>
              </a:xfrm>
              <a:prstGeom prst="rect">
                <a:avLst/>
              </a:prstGeom>
              <a:solidFill>
                <a:srgbClr val="FFF1CA"/>
              </a:solidFill>
              <a:ln w="2571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406" name="Qubit input |0⟩"/>
              <p:cNvGrpSpPr/>
              <p:nvPr/>
            </p:nvGrpSpPr>
            <p:grpSpPr>
              <a:xfrm>
                <a:off x="15563850" y="5288661"/>
                <a:ext cx="157386" cy="201168"/>
                <a:chOff x="15563850" y="5288661"/>
                <a:chExt cx="157386" cy="201168"/>
              </a:xfrm>
            </p:grpSpPr>
            <p:sp>
              <p:nvSpPr>
                <p:cNvPr id="1407" name="Text: |0"/>
                <p:cNvSpPr txBox="1"/>
                <p:nvPr/>
              </p:nvSpPr>
              <p:spPr>
                <a:xfrm>
                  <a:off x="15563850" y="5288661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408" name="obj1407 poly"/>
                <p:cNvSpPr/>
                <p:nvPr/>
              </p:nvSpPr>
              <p:spPr>
                <a:xfrm>
                  <a:off x="15687675" y="5324475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409" name="obj1408 poly"/>
              <p:cNvSpPr/>
              <p:nvPr/>
            </p:nvSpPr>
            <p:spPr>
              <a:xfrm>
                <a:off x="15849600" y="5391150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0" name="obj1409 poly"/>
              <p:cNvSpPr/>
              <p:nvPr/>
            </p:nvSpPr>
            <p:spPr>
              <a:xfrm>
                <a:off x="15916275" y="52578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1" name="obj1410 poly"/>
              <p:cNvSpPr/>
              <p:nvPr/>
            </p:nvSpPr>
            <p:spPr>
              <a:xfrm>
                <a:off x="16287750" y="5257800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2" name="obj1411 ellipse"/>
              <p:cNvSpPr/>
              <p:nvPr/>
            </p:nvSpPr>
            <p:spPr>
              <a:xfrm>
                <a:off x="16649700" y="5257800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413" name="Measurement"/>
              <p:cNvGrpSpPr/>
              <p:nvPr/>
            </p:nvGrpSpPr>
            <p:grpSpPr>
              <a:xfrm>
                <a:off x="17630775" y="5276850"/>
                <a:ext cx="257175" cy="209550"/>
                <a:chOff x="17630775" y="5276850"/>
                <a:chExt cx="257175" cy="209550"/>
              </a:xfrm>
            </p:grpSpPr>
            <p:sp>
              <p:nvSpPr>
                <p:cNvPr id="1414" name="obj1413 rect"/>
                <p:cNvSpPr/>
                <p:nvPr/>
              </p:nvSpPr>
              <p:spPr>
                <a:xfrm>
                  <a:off x="17630775" y="5276850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15" name="obj1414 path"/>
                <p:cNvSpPr/>
                <p:nvPr/>
              </p:nvSpPr>
              <p:spPr>
                <a:xfrm>
                  <a:off x="17659350" y="5305425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16" name="obj1415 poly"/>
                <p:cNvSpPr/>
                <p:nvPr/>
              </p:nvSpPr>
              <p:spPr>
                <a:xfrm>
                  <a:off x="17738788" y="5305425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17" name="obj1416 poly"/>
                <p:cNvSpPr/>
                <p:nvPr/>
              </p:nvSpPr>
              <p:spPr>
                <a:xfrm>
                  <a:off x="17770888" y="5305425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418" name="Qubit input |0⟩"/>
              <p:cNvGrpSpPr/>
              <p:nvPr/>
            </p:nvGrpSpPr>
            <p:grpSpPr>
              <a:xfrm>
                <a:off x="15563850" y="5602986"/>
                <a:ext cx="157386" cy="201168"/>
                <a:chOff x="15563850" y="5602986"/>
                <a:chExt cx="157386" cy="201168"/>
              </a:xfrm>
            </p:grpSpPr>
            <p:sp>
              <p:nvSpPr>
                <p:cNvPr id="1419" name="Text: |0"/>
                <p:cNvSpPr txBox="1"/>
                <p:nvPr/>
              </p:nvSpPr>
              <p:spPr>
                <a:xfrm>
                  <a:off x="15563850" y="560298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420" name="obj1419 poly"/>
                <p:cNvSpPr/>
                <p:nvPr/>
              </p:nvSpPr>
              <p:spPr>
                <a:xfrm>
                  <a:off x="15687675" y="563880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421" name="obj1420 poly"/>
              <p:cNvSpPr/>
              <p:nvPr/>
            </p:nvSpPr>
            <p:spPr>
              <a:xfrm>
                <a:off x="15849600" y="570547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2" name="obj1421 poly"/>
              <p:cNvSpPr/>
              <p:nvPr/>
            </p:nvSpPr>
            <p:spPr>
              <a:xfrm>
                <a:off x="15916275" y="55721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3" name="obj1422 poly"/>
              <p:cNvSpPr/>
              <p:nvPr/>
            </p:nvSpPr>
            <p:spPr>
              <a:xfrm>
                <a:off x="16287750" y="557212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4" name="obj1423 ellipse"/>
              <p:cNvSpPr/>
              <p:nvPr/>
            </p:nvSpPr>
            <p:spPr>
              <a:xfrm>
                <a:off x="16649700" y="5572125"/>
                <a:ext cx="266700" cy="266700"/>
              </a:xfrm>
              <a:prstGeom prst="ellipse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425" name="Measurement"/>
              <p:cNvGrpSpPr/>
              <p:nvPr/>
            </p:nvGrpSpPr>
            <p:grpSpPr>
              <a:xfrm>
                <a:off x="17630775" y="5591175"/>
                <a:ext cx="257175" cy="209550"/>
                <a:chOff x="17630775" y="5591175"/>
                <a:chExt cx="257175" cy="209550"/>
              </a:xfrm>
            </p:grpSpPr>
            <p:sp>
              <p:nvSpPr>
                <p:cNvPr id="1426" name="obj1425 rect"/>
                <p:cNvSpPr/>
                <p:nvPr/>
              </p:nvSpPr>
              <p:spPr>
                <a:xfrm>
                  <a:off x="17630775" y="559117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27" name="obj1426 path"/>
                <p:cNvSpPr/>
                <p:nvPr/>
              </p:nvSpPr>
              <p:spPr>
                <a:xfrm>
                  <a:off x="17659350" y="561975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28" name="obj1427 poly"/>
                <p:cNvSpPr/>
                <p:nvPr/>
              </p:nvSpPr>
              <p:spPr>
                <a:xfrm>
                  <a:off x="17738788" y="561975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29" name="obj1428 poly"/>
                <p:cNvSpPr/>
                <p:nvPr/>
              </p:nvSpPr>
              <p:spPr>
                <a:xfrm>
                  <a:off x="17770888" y="561975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430" name="Qubit input |0⟩"/>
              <p:cNvGrpSpPr/>
              <p:nvPr/>
            </p:nvGrpSpPr>
            <p:grpSpPr>
              <a:xfrm>
                <a:off x="15563850" y="5926836"/>
                <a:ext cx="157386" cy="201168"/>
                <a:chOff x="15563850" y="5926836"/>
                <a:chExt cx="157386" cy="201168"/>
              </a:xfrm>
            </p:grpSpPr>
            <p:sp>
              <p:nvSpPr>
                <p:cNvPr id="1431" name="Text: |0"/>
                <p:cNvSpPr txBox="1"/>
                <p:nvPr/>
              </p:nvSpPr>
              <p:spPr>
                <a:xfrm>
                  <a:off x="15563850" y="5926836"/>
                  <a:ext cx="157386" cy="201168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b="1" i="0">
                      <a:solidFill>
                        <a:srgbClr val="000000"/>
                      </a:solidFill>
                      <a:latin typeface="Times New Roman"/>
                    </a:rPr>
                    <a:t>|0</a:t>
                  </a:r>
                </a:p>
              </p:txBody>
            </p:sp>
            <p:sp>
              <p:nvSpPr>
                <p:cNvPr id="1432" name="obj1431 poly"/>
                <p:cNvSpPr/>
                <p:nvPr/>
              </p:nvSpPr>
              <p:spPr>
                <a:xfrm>
                  <a:off x="15687675" y="5962650"/>
                  <a:ext cx="28575" cy="1143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300" h="1200" fill="none">
                      <a:moveTo>
                        <a:pt x="0" y="0"/>
                      </a:moveTo>
                      <a:lnTo>
                        <a:pt x="300" y="600"/>
                      </a:lnTo>
                      <a:lnTo>
                        <a:pt x="0" y="1200"/>
                      </a:lnTo>
                    </a:path>
                  </a:pathLst>
                </a:custGeom>
                <a:noFill/>
                <a:ln w="11906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433" name="obj1432 poly"/>
              <p:cNvSpPr/>
              <p:nvPr/>
            </p:nvSpPr>
            <p:spPr>
              <a:xfrm>
                <a:off x="15849600" y="6029325"/>
                <a:ext cx="2047875" cy="95"/>
              </a:xfrm>
              <a:custGeom>
                <a:avLst/>
                <a:gdLst/>
                <a:ahLst/>
                <a:cxnLst/>
                <a:rect l="0" t="0" r="w" b="h"/>
                <a:pathLst>
                  <a:path w="21500" h="1" fill="none">
                    <a:moveTo>
                      <a:pt x="0" y="0"/>
                    </a:moveTo>
                    <a:lnTo>
                      <a:pt x="215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4" name="obj1433 poly"/>
              <p:cNvSpPr/>
              <p:nvPr/>
            </p:nvSpPr>
            <p:spPr>
              <a:xfrm>
                <a:off x="15916275" y="58959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750" y="0"/>
                    </a:lnTo>
                    <a:lnTo>
                      <a:pt x="2250" y="0"/>
                    </a:lnTo>
                    <a:lnTo>
                      <a:pt x="3000" y="1400"/>
                    </a:lnTo>
                    <a:lnTo>
                      <a:pt x="2250" y="2800"/>
                    </a:lnTo>
                    <a:lnTo>
                      <a:pt x="750" y="2800"/>
                    </a:lnTo>
                    <a:close/>
                  </a:path>
                </a:pathLst>
              </a:cu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5" name="obj1434 poly"/>
              <p:cNvSpPr/>
              <p:nvPr/>
            </p:nvSpPr>
            <p:spPr>
              <a:xfrm>
                <a:off x="16287750" y="5895975"/>
                <a:ext cx="2857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000" h="2800" fill="norm">
                    <a:moveTo>
                      <a:pt x="0" y="1400"/>
                    </a:moveTo>
                    <a:lnTo>
                      <a:pt x="1500" y="0"/>
                    </a:lnTo>
                    <a:lnTo>
                      <a:pt x="3000" y="1400"/>
                    </a:lnTo>
                    <a:lnTo>
                      <a:pt x="15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6" name="obj1435 ellipse"/>
              <p:cNvSpPr/>
              <p:nvPr/>
            </p:nvSpPr>
            <p:spPr>
              <a:xfrm>
                <a:off x="16649700" y="5895975"/>
                <a:ext cx="266700" cy="2667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437" name="Measurement"/>
              <p:cNvGrpSpPr/>
              <p:nvPr/>
            </p:nvGrpSpPr>
            <p:grpSpPr>
              <a:xfrm>
                <a:off x="17630775" y="5915025"/>
                <a:ext cx="257175" cy="209550"/>
                <a:chOff x="17630775" y="5915025"/>
                <a:chExt cx="257175" cy="209550"/>
              </a:xfrm>
            </p:grpSpPr>
            <p:sp>
              <p:nvSpPr>
                <p:cNvPr id="1438" name="obj1437 rect"/>
                <p:cNvSpPr/>
                <p:nvPr/>
              </p:nvSpPr>
              <p:spPr>
                <a:xfrm>
                  <a:off x="17630775" y="5915025"/>
                  <a:ext cx="257175" cy="2095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39" name="obj1438 path"/>
                <p:cNvSpPr/>
                <p:nvPr/>
              </p:nvSpPr>
              <p:spPr>
                <a:xfrm>
                  <a:off x="17659350" y="5943600"/>
                  <a:ext cx="200025" cy="1333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2100" h="1400" fill="none">
                      <a:moveTo>
                        <a:pt x="0" y="1400"/>
                      </a:moveTo>
                      <a:cubicBezTo>
                        <a:pt x="300" y="200"/>
                        <a:pt x="1600" y="0"/>
                        <a:pt x="2100" y="1400"/>
                      </a:cubicBez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40" name="obj1439 poly"/>
                <p:cNvSpPr/>
                <p:nvPr/>
              </p:nvSpPr>
              <p:spPr>
                <a:xfrm>
                  <a:off x="17738788" y="5943600"/>
                  <a:ext cx="79724" cy="15240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837" h="1600" fill="none">
                      <a:moveTo>
                        <a:pt x="0" y="1600"/>
                      </a:moveTo>
                      <a:lnTo>
                        <a:pt x="837" y="0"/>
                      </a:lnTo>
                    </a:path>
                  </a:pathLst>
                </a:custGeom>
                <a:noFill/>
                <a:ln w="17145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41" name="obj1440 poly"/>
                <p:cNvSpPr/>
                <p:nvPr/>
              </p:nvSpPr>
              <p:spPr>
                <a:xfrm>
                  <a:off x="17770888" y="5943600"/>
                  <a:ext cx="47625" cy="57150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500" h="600" fill="none">
                      <a:moveTo>
                        <a:pt x="0" y="200"/>
                      </a:moveTo>
                      <a:lnTo>
                        <a:pt x="500" y="0"/>
                      </a:lnTo>
                      <a:lnTo>
                        <a:pt x="500" y="600"/>
                      </a:lnTo>
                    </a:path>
                  </a:pathLst>
                </a:custGeom>
                <a:noFill/>
                <a:ln w="15240">
                  <a:solidFill>
                    <a:srgbClr val="000000"/>
                  </a:solidFill>
                  <a:miter lim="800000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442" name="obj1441 rect"/>
              <p:cNvSpPr/>
              <p:nvPr/>
            </p:nvSpPr>
            <p:spPr>
              <a:xfrm>
                <a:off x="17011650" y="5324475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3" name="obj1442 rect"/>
              <p:cNvSpPr/>
              <p:nvPr/>
            </p:nvSpPr>
            <p:spPr>
              <a:xfrm>
                <a:off x="17211675" y="5657850"/>
                <a:ext cx="123825" cy="447675"/>
              </a:xfrm>
              <a:prstGeom prst="rect">
                <a:avLst/>
              </a:prstGeom>
              <a:solidFill>
                <a:srgbClr val="FFFFFF"/>
              </a:solidFill>
              <a:ln w="18097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444" name="Text: Small Size"/>
            <p:cNvSpPr txBox="1"/>
            <p:nvPr/>
          </p:nvSpPr>
          <p:spPr>
            <a:xfrm>
              <a:off x="15163800" y="4585668"/>
              <a:ext cx="1267599" cy="364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5" b="1" i="0">
                  <a:solidFill>
                    <a:srgbClr val="000000"/>
                  </a:solidFill>
                  <a:latin typeface="Times New Roman"/>
                </a:rPr>
                <a:t>Small Size</a:t>
              </a:r>
            </a:p>
          </p:txBody>
        </p:sp>
        <p:sp>
          <p:nvSpPr>
            <p:cNvPr id="1445" name="obj1444 poly"/>
            <p:cNvSpPr/>
            <p:nvPr/>
          </p:nvSpPr>
          <p:spPr>
            <a:xfrm>
              <a:off x="16449675" y="4438650"/>
              <a:ext cx="95" cy="647700"/>
            </a:xfrm>
            <a:custGeom>
              <a:avLst/>
              <a:gdLst/>
              <a:ahLst/>
              <a:cxnLst/>
              <a:rect l="0" t="0" r="w" b="h"/>
              <a:pathLst>
                <a:path w="1" h="6800" fill="none">
                  <a:moveTo>
                    <a:pt x="0" y="0"/>
                  </a:moveTo>
                  <a:lnTo>
                    <a:pt x="0" y="6800"/>
                  </a:lnTo>
                </a:path>
              </a:pathLst>
            </a:custGeom>
            <a:noFill/>
            <a:ln w="45719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6" name="obj1445 poly"/>
            <p:cNvSpPr/>
            <p:nvPr/>
          </p:nvSpPr>
          <p:spPr>
            <a:xfrm>
              <a:off x="16350615" y="4895850"/>
              <a:ext cx="198120" cy="190500"/>
            </a:xfrm>
            <a:custGeom>
              <a:avLst/>
              <a:gdLst/>
              <a:ahLst/>
              <a:cxnLst/>
              <a:rect l="0" t="0" r="w" b="h"/>
              <a:pathLst>
                <a:path w="2080" h="2000" fill="norm">
                  <a:moveTo>
                    <a:pt x="2080" y="0"/>
                  </a:moveTo>
                  <a:lnTo>
                    <a:pt x="1040" y="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620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47" name="TITAN wordmark"/>
            <p:cNvGrpSpPr/>
            <p:nvPr/>
          </p:nvGrpSpPr>
          <p:grpSpPr>
            <a:xfrm>
              <a:off x="16697325" y="4505325"/>
              <a:ext cx="1114425" cy="352425"/>
              <a:chOff x="16697325" y="4505325"/>
              <a:chExt cx="1114425" cy="352425"/>
            </a:xfrm>
          </p:grpSpPr>
          <p:sp>
            <p:nvSpPr>
              <p:cNvPr id="1448" name="obj1447 poly"/>
              <p:cNvSpPr/>
              <p:nvPr/>
            </p:nvSpPr>
            <p:spPr>
              <a:xfrm>
                <a:off x="16697325" y="4543425"/>
                <a:ext cx="2190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300" h="3300" fill="norm">
                    <a:moveTo>
                      <a:pt x="0" y="0"/>
                    </a:moveTo>
                    <a:lnTo>
                      <a:pt x="2300" y="0"/>
                    </a:lnTo>
                    <a:lnTo>
                      <a:pt x="2300" y="900"/>
                    </a:lnTo>
                    <a:lnTo>
                      <a:pt x="1600" y="900"/>
                    </a:lnTo>
                    <a:lnTo>
                      <a:pt x="1600" y="3300"/>
                    </a:lnTo>
                    <a:lnTo>
                      <a:pt x="700" y="3300"/>
                    </a:lnTo>
                    <a:lnTo>
                      <a:pt x="700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9" name="obj1448 poly"/>
              <p:cNvSpPr/>
              <p:nvPr/>
            </p:nvSpPr>
            <p:spPr>
              <a:xfrm>
                <a:off x="16954500" y="4543425"/>
                <a:ext cx="1047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1100" h="3300" fill="norm">
                    <a:moveTo>
                      <a:pt x="0" y="0"/>
                    </a:moveTo>
                    <a:lnTo>
                      <a:pt x="1100" y="0"/>
                    </a:lnTo>
                    <a:lnTo>
                      <a:pt x="1100" y="3300"/>
                    </a:lnTo>
                    <a:lnTo>
                      <a:pt x="0" y="33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0" name="obj1449 poly"/>
              <p:cNvSpPr/>
              <p:nvPr/>
            </p:nvSpPr>
            <p:spPr>
              <a:xfrm>
                <a:off x="17097375" y="4543425"/>
                <a:ext cx="219075" cy="314325"/>
              </a:xfrm>
              <a:custGeom>
                <a:avLst/>
                <a:gdLst/>
                <a:ahLst/>
                <a:cxnLst/>
                <a:rect l="0" t="0" r="w" b="h"/>
                <a:pathLst>
                  <a:path w="2300" h="3300" fill="norm">
                    <a:moveTo>
                      <a:pt x="0" y="0"/>
                    </a:moveTo>
                    <a:lnTo>
                      <a:pt x="2300" y="0"/>
                    </a:lnTo>
                    <a:lnTo>
                      <a:pt x="2300" y="900"/>
                    </a:lnTo>
                    <a:lnTo>
                      <a:pt x="1600" y="900"/>
                    </a:lnTo>
                    <a:lnTo>
                      <a:pt x="1600" y="3300"/>
                    </a:lnTo>
                    <a:lnTo>
                      <a:pt x="700" y="3300"/>
                    </a:lnTo>
                    <a:lnTo>
                      <a:pt x="700" y="900"/>
                    </a:lnTo>
                    <a:lnTo>
                      <a:pt x="0" y="9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1" name="obj1450 path"/>
              <p:cNvSpPr/>
              <p:nvPr/>
            </p:nvSpPr>
            <p:spPr>
              <a:xfrm>
                <a:off x="17345025" y="4505325"/>
                <a:ext cx="247650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2600" h="3700" fill="norm">
                    <a:moveTo>
                      <a:pt x="0" y="3700"/>
                    </a:moveTo>
                    <a:lnTo>
                      <a:pt x="0" y="1600"/>
                    </a:lnTo>
                    <a:cubicBezTo>
                      <a:pt x="0" y="0"/>
                      <a:pt x="2600" y="0"/>
                      <a:pt x="2600" y="1600"/>
                    </a:cubicBezTo>
                    <a:lnTo>
                      <a:pt x="2600" y="3700"/>
                    </a:lnTo>
                    <a:lnTo>
                      <a:pt x="1600" y="3700"/>
                    </a:lnTo>
                    <a:lnTo>
                      <a:pt x="1600" y="2600"/>
                    </a:lnTo>
                    <a:lnTo>
                      <a:pt x="1100" y="2600"/>
                    </a:lnTo>
                    <a:lnTo>
                      <a:pt x="1100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2" name="obj1451 rect"/>
              <p:cNvSpPr/>
              <p:nvPr/>
            </p:nvSpPr>
            <p:spPr>
              <a:xfrm>
                <a:off x="17449800" y="4638675"/>
                <a:ext cx="47625" cy="66675"/>
              </a:xfrm>
              <a:prstGeom prst="roundRect">
                <a:avLst>
                  <a:gd name="adj" fmla="val 4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3" name="obj1452 path"/>
              <p:cNvSpPr/>
              <p:nvPr/>
            </p:nvSpPr>
            <p:spPr>
              <a:xfrm>
                <a:off x="17640300" y="4505325"/>
                <a:ext cx="171450" cy="352425"/>
              </a:xfrm>
              <a:custGeom>
                <a:avLst/>
                <a:gdLst/>
                <a:ahLst/>
                <a:cxnLst/>
                <a:rect l="0" t="0" r="w" b="h"/>
                <a:pathLst>
                  <a:path w="1800" h="3700" fill="norm">
                    <a:moveTo>
                      <a:pt x="0" y="3700"/>
                    </a:moveTo>
                    <a:lnTo>
                      <a:pt x="0" y="1500"/>
                    </a:lnTo>
                    <a:cubicBezTo>
                      <a:pt x="0" y="0"/>
                      <a:pt x="1800" y="0"/>
                      <a:pt x="1800" y="1500"/>
                    </a:cubicBezTo>
                    <a:lnTo>
                      <a:pt x="1800" y="3700"/>
                    </a:lnTo>
                    <a:lnTo>
                      <a:pt x="1100" y="3700"/>
                    </a:lnTo>
                    <a:lnTo>
                      <a:pt x="1100" y="1600"/>
                    </a:lnTo>
                    <a:cubicBezTo>
                      <a:pt x="1100" y="1100"/>
                      <a:pt x="700" y="1100"/>
                      <a:pt x="700" y="1600"/>
                    </a:cubicBezTo>
                    <a:lnTo>
                      <a:pt x="700" y="3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454" name="Text: (c) Applications in VQEs"/>
            <p:cNvSpPr txBox="1"/>
            <p:nvPr/>
          </p:nvSpPr>
          <p:spPr>
            <a:xfrm>
              <a:off x="7667625" y="7987379"/>
              <a:ext cx="3872329" cy="47777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50" b="1" i="0">
                  <a:solidFill>
                    <a:srgbClr val="000000"/>
                  </a:solidFill>
                  <a:latin typeface="Times New Roman"/>
                </a:rPr>
                <a:t>(c) Applications in VQEs</a:t>
              </a:r>
            </a:p>
          </p:txBody>
        </p:sp>
        <p:grpSp>
          <p:nvGrpSpPr>
            <p:cNvPr id="1455" name="Legend"/>
            <p:cNvGrpSpPr/>
            <p:nvPr/>
          </p:nvGrpSpPr>
          <p:grpSpPr>
            <a:xfrm>
              <a:off x="12401550" y="7162800"/>
              <a:ext cx="5695950" cy="1238250"/>
              <a:chOff x="12401550" y="7162800"/>
              <a:chExt cx="5695950" cy="1238250"/>
            </a:xfrm>
          </p:grpSpPr>
          <p:sp>
            <p:nvSpPr>
              <p:cNvPr id="1456" name="obj1455 rect"/>
              <p:cNvSpPr/>
              <p:nvPr/>
            </p:nvSpPr>
            <p:spPr>
              <a:xfrm>
                <a:off x="12401550" y="7162800"/>
                <a:ext cx="5695950" cy="1238250"/>
              </a:xfrm>
              <a:prstGeom prst="rect">
                <a:avLst/>
              </a:prstGeom>
              <a:solidFill>
                <a:srgbClr val="FFFFFF"/>
              </a:solidFill>
              <a:ln w="36194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7" name="obj1456 poly"/>
              <p:cNvSpPr/>
              <p:nvPr/>
            </p:nvSpPr>
            <p:spPr>
              <a:xfrm>
                <a:off x="12525375" y="7296150"/>
                <a:ext cx="3238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400" h="2800" fill="norm">
                    <a:moveTo>
                      <a:pt x="0" y="1400"/>
                    </a:moveTo>
                    <a:lnTo>
                      <a:pt x="850" y="0"/>
                    </a:lnTo>
                    <a:lnTo>
                      <a:pt x="2550" y="0"/>
                    </a:lnTo>
                    <a:lnTo>
                      <a:pt x="3400" y="1400"/>
                    </a:lnTo>
                    <a:lnTo>
                      <a:pt x="2550" y="2800"/>
                    </a:lnTo>
                    <a:lnTo>
                      <a:pt x="85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8" name="obj1457 poly"/>
              <p:cNvSpPr/>
              <p:nvPr/>
            </p:nvSpPr>
            <p:spPr>
              <a:xfrm>
                <a:off x="12525375" y="7639050"/>
                <a:ext cx="323850" cy="266700"/>
              </a:xfrm>
              <a:custGeom>
                <a:avLst/>
                <a:gdLst/>
                <a:ahLst/>
                <a:cxnLst/>
                <a:rect l="0" t="0" r="w" b="h"/>
                <a:pathLst>
                  <a:path w="3400" h="2800" fill="norm">
                    <a:moveTo>
                      <a:pt x="0" y="1400"/>
                    </a:moveTo>
                    <a:lnTo>
                      <a:pt x="1700" y="0"/>
                    </a:lnTo>
                    <a:lnTo>
                      <a:pt x="3400" y="1400"/>
                    </a:lnTo>
                    <a:lnTo>
                      <a:pt x="1700" y="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9" name="obj1458 ellipse"/>
              <p:cNvSpPr/>
              <p:nvPr/>
            </p:nvSpPr>
            <p:spPr>
              <a:xfrm>
                <a:off x="12544425" y="7981950"/>
                <a:ext cx="285750" cy="2857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0" name="Text: Rotation X"/>
              <p:cNvSpPr txBox="1"/>
              <p:nvPr/>
            </p:nvSpPr>
            <p:spPr>
              <a:xfrm>
                <a:off x="12944475" y="7308675"/>
                <a:ext cx="986626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000000"/>
                    </a:solidFill>
                    <a:latin typeface="Times New Roman"/>
                  </a:rPr>
                  <a:t>Rotation X</a:t>
                </a:r>
              </a:p>
            </p:txBody>
          </p:sp>
          <p:sp>
            <p:nvSpPr>
              <p:cNvPr id="1461" name="Text: Rotation Y"/>
              <p:cNvSpPr txBox="1"/>
              <p:nvPr/>
            </p:nvSpPr>
            <p:spPr>
              <a:xfrm>
                <a:off x="12944475" y="7661100"/>
                <a:ext cx="979200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000000"/>
                    </a:solidFill>
                    <a:latin typeface="Times New Roman"/>
                  </a:rPr>
                  <a:t>Rotation Y</a:t>
                </a:r>
              </a:p>
            </p:txBody>
          </p:sp>
          <p:sp>
            <p:nvSpPr>
              <p:cNvPr id="1462" name="Text: Rotation Z"/>
              <p:cNvSpPr txBox="1"/>
              <p:nvPr/>
            </p:nvSpPr>
            <p:spPr>
              <a:xfrm>
                <a:off x="12944475" y="8023050"/>
                <a:ext cx="975583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000000"/>
                    </a:solidFill>
                    <a:latin typeface="Times New Roman"/>
                  </a:rPr>
                  <a:t>Rotation Z</a:t>
                </a:r>
              </a:p>
            </p:txBody>
          </p:sp>
          <p:sp>
            <p:nvSpPr>
              <p:cNvPr id="1463" name="obj1462 rect"/>
              <p:cNvSpPr/>
              <p:nvPr/>
            </p:nvSpPr>
            <p:spPr>
              <a:xfrm>
                <a:off x="14020800" y="7258050"/>
                <a:ext cx="314325" cy="2952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4" name="obj1463 rect"/>
              <p:cNvSpPr/>
              <p:nvPr/>
            </p:nvSpPr>
            <p:spPr>
              <a:xfrm>
                <a:off x="14020800" y="7658100"/>
                <a:ext cx="314325" cy="276225"/>
              </a:xfrm>
              <a:prstGeom prst="rect">
                <a:avLst/>
              </a:prstGeom>
              <a:solidFill>
                <a:srgbClr val="C9E5B4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5" name="obj1464 rect"/>
              <p:cNvSpPr/>
              <p:nvPr/>
            </p:nvSpPr>
            <p:spPr>
              <a:xfrm>
                <a:off x="14020800" y="8039100"/>
                <a:ext cx="314325" cy="276225"/>
              </a:xfrm>
              <a:prstGeom prst="rect">
                <a:avLst/>
              </a:prstGeom>
              <a:solidFill>
                <a:srgbClr val="FFF1CA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6" name="Text: Active Params"/>
              <p:cNvSpPr txBox="1"/>
              <p:nvPr/>
            </p:nvSpPr>
            <p:spPr>
              <a:xfrm>
                <a:off x="14439900" y="7308818"/>
                <a:ext cx="1356792" cy="27660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>
                    <a:solidFill>
                      <a:srgbClr val="000000"/>
                    </a:solidFill>
                    <a:latin typeface="Times New Roman"/>
                  </a:rPr>
                  <a:t>Active Params</a:t>
                </a:r>
              </a:p>
            </p:txBody>
          </p:sp>
          <p:sp>
            <p:nvSpPr>
              <p:cNvPr id="1467" name="Text: Mid-size Ansatz"/>
              <p:cNvSpPr txBox="1"/>
              <p:nvPr/>
            </p:nvSpPr>
            <p:spPr>
              <a:xfrm>
                <a:off x="14439900" y="7689675"/>
                <a:ext cx="1408718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75A547"/>
                    </a:solidFill>
                    <a:latin typeface="Times New Roman"/>
                  </a:rPr>
                  <a:t>Mid-size Ansatz</a:t>
                </a:r>
              </a:p>
            </p:txBody>
          </p:sp>
          <p:sp>
            <p:nvSpPr>
              <p:cNvPr id="1468" name="Text: Small-size Ansatz"/>
              <p:cNvSpPr txBox="1"/>
              <p:nvPr/>
            </p:nvSpPr>
            <p:spPr>
              <a:xfrm>
                <a:off x="14439900" y="8042100"/>
                <a:ext cx="1542142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F58432"/>
                    </a:solidFill>
                    <a:latin typeface="Times New Roman"/>
                  </a:rPr>
                  <a:t>Small-size Ansatz</a:t>
                </a:r>
              </a:p>
            </p:txBody>
          </p:sp>
          <p:sp>
            <p:nvSpPr>
              <p:cNvPr id="1469" name="obj1468 rect"/>
              <p:cNvSpPr/>
              <p:nvPr/>
            </p:nvSpPr>
            <p:spPr>
              <a:xfrm>
                <a:off x="15992475" y="7258050"/>
                <a:ext cx="314325" cy="304800"/>
              </a:xfrm>
              <a:prstGeom prst="rect">
                <a:avLst/>
              </a:prstGeom>
              <a:solidFill>
                <a:srgbClr val="864DD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0" name="obj1469 rect"/>
              <p:cNvSpPr/>
              <p:nvPr/>
            </p:nvSpPr>
            <p:spPr>
              <a:xfrm>
                <a:off x="16097250" y="7620000"/>
                <a:ext cx="114300" cy="35242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1" name="obj1470 rect"/>
              <p:cNvSpPr/>
              <p:nvPr/>
            </p:nvSpPr>
            <p:spPr>
              <a:xfrm>
                <a:off x="16040100" y="8058150"/>
                <a:ext cx="314325" cy="257175"/>
              </a:xfrm>
              <a:prstGeom prst="rect">
                <a:avLst/>
              </a:prstGeom>
              <a:solidFill>
                <a:srgbClr val="FDD7FC"/>
              </a:solidFill>
              <a:ln w="19050">
                <a:solidFill>
                  <a:srgbClr val="000000"/>
                </a:solidFill>
                <a:miter lim="800000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2" name="Text: Frozen Params"/>
              <p:cNvSpPr txBox="1"/>
              <p:nvPr/>
            </p:nvSpPr>
            <p:spPr>
              <a:xfrm>
                <a:off x="16440150" y="7308818"/>
                <a:ext cx="1411233" cy="27660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>
                    <a:solidFill>
                      <a:srgbClr val="000000"/>
                    </a:solidFill>
                    <a:latin typeface="Times New Roman"/>
                  </a:rPr>
                  <a:t>Frozen Params</a:t>
                </a:r>
              </a:p>
            </p:txBody>
          </p:sp>
          <p:sp>
            <p:nvSpPr>
              <p:cNvPr id="1473" name="Text: C-NOT"/>
              <p:cNvSpPr txBox="1"/>
              <p:nvPr/>
            </p:nvSpPr>
            <p:spPr>
              <a:xfrm>
                <a:off x="16544925" y="7670911"/>
                <a:ext cx="753517" cy="289179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1" i="0">
                    <a:solidFill>
                      <a:srgbClr val="000000"/>
                    </a:solidFill>
                    <a:latin typeface="Times New Roman"/>
                  </a:rPr>
                  <a:t>C-NOT</a:t>
                </a:r>
              </a:p>
            </p:txBody>
          </p:sp>
          <p:sp>
            <p:nvSpPr>
              <p:cNvPr id="1474" name="Text: Large-size Ansatz"/>
              <p:cNvSpPr txBox="1"/>
              <p:nvPr/>
            </p:nvSpPr>
            <p:spPr>
              <a:xfrm>
                <a:off x="16430625" y="8042100"/>
                <a:ext cx="1564094" cy="264033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 i="0">
                    <a:solidFill>
                      <a:srgbClr val="F580F0"/>
                    </a:solidFill>
                    <a:latin typeface="Times New Roman"/>
                  </a:rPr>
                  <a:t>Large-size Ansatz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TITAN A Trajectory-Informed Technique for Adaptive Parameter Freezing in Large-Scale VQ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59425" cy="8591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 — Trajectory-Informed Adaptive Parameter Freezing</dc:title>
  <dc:subject>Editable reconstruction of the supplied three-panel diagram</dc:subject>
  <dc:creator/>
  <cp:keywords>TITAN, VQE, editable, diagram, vector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