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199864" cy="90159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 image. All text, region boxes, arrows, film borders, perforations, camera wireframes and result annotations are editable PowerPoint objects. Photographs and point-cloud renderings are individual embedded images. Source aspect ratio: 1881 × 986.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 descr="Background"/>
          <p:cNvSpPr/>
          <p:nvPr/>
        </p:nvSpPr>
        <p:spPr>
          <a:xfrm>
            <a:off x="0" y="0"/>
            <a:ext cx="17199864" cy="9015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ybrid Video Generation region" descr="Hybrid Video Generation region"/>
          <p:cNvSpPr/>
          <p:nvPr/>
        </p:nvSpPr>
        <p:spPr>
          <a:xfrm>
            <a:off x="3099816" y="100584"/>
            <a:ext cx="9482328" cy="5477256"/>
          </a:xfrm>
          <a:prstGeom prst="roundRect">
            <a:avLst>
              <a:gd name="adj" fmla="val 9348"/>
            </a:avLst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eature Matching Selector region" descr="Feature Matching Selector region"/>
          <p:cNvSpPr/>
          <p:nvPr/>
        </p:nvSpPr>
        <p:spPr>
          <a:xfrm>
            <a:off x="12664440" y="82296"/>
            <a:ext cx="4535424" cy="5449824"/>
          </a:xfrm>
          <a:prstGeom prst="roundRect">
            <a:avLst>
              <a:gd name="adj" fmla="val 9072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bust relay stage dashed boundary" descr="Robust relay stage dashed boundary"/>
          <p:cNvSpPr/>
          <p:nvPr/>
        </p:nvSpPr>
        <p:spPr>
          <a:xfrm>
            <a:off x="3273552" y="704088"/>
            <a:ext cx="5532120" cy="4617720"/>
          </a:xfrm>
          <a:prstGeom prst="roundRect">
            <a:avLst>
              <a:gd name="adj" fmla="val 7920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se refinement stage dashed boundary" descr="Pose refinement stage dashed boundary"/>
          <p:cNvSpPr/>
          <p:nvPr/>
        </p:nvSpPr>
        <p:spPr>
          <a:xfrm>
            <a:off x="8860536" y="694944"/>
            <a:ext cx="3483864" cy="4617720"/>
          </a:xfrm>
          <a:prstGeom prst="roundRect">
            <a:avLst>
              <a:gd name="adj" fmla="val 8136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put to baseline pose model" descr="Input to baseline pose model"/>
          <p:cNvSpPr/>
          <p:nvPr/>
        </p:nvSpPr>
        <p:spPr>
          <a:xfrm>
            <a:off x="1773936" y="4471416"/>
            <a:ext cx="183" cy="1252728"/>
          </a:xfrm>
          <a:custGeom>
            <a:avLst/>
            <a:gdLst/>
            <a:ahLst/>
            <a:cxnLst/>
            <a:rect l="0" t="0" r="r" b="b"/>
            <a:pathLst>
              <a:path w="183" h="1252728">
                <a:moveTo>
                  <a:pt x="0" y="0"/>
                </a:moveTo>
                <a:lnTo>
                  <a:pt x="0" y="1252728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put to DynamiCrafter shaft" descr="Input to DynamiCrafter shaft"/>
          <p:cNvSpPr/>
          <p:nvPr/>
        </p:nvSpPr>
        <p:spPr>
          <a:xfrm>
            <a:off x="3081528" y="2935224"/>
            <a:ext cx="393924" cy="183"/>
          </a:xfrm>
          <a:custGeom>
            <a:avLst/>
            <a:gdLst/>
            <a:ahLst/>
            <a:cxnLst/>
            <a:rect l="0" t="0" r="r" b="b"/>
            <a:pathLst>
              <a:path w="393924" h="183">
                <a:moveTo>
                  <a:pt x="0" y="0"/>
                </a:moveTo>
                <a:lnTo>
                  <a:pt x="393924" y="0"/>
                </a:lnTo>
              </a:path>
            </a:pathLst>
          </a:custGeom>
          <a:noFill/>
          <a:ln w="36576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nput to DynamiCrafter arrowhead" descr="Input to DynamiCrafter arrowhead"/>
          <p:cNvSpPr/>
          <p:nvPr/>
        </p:nvSpPr>
        <p:spPr>
          <a:xfrm>
            <a:off x="3447288" y="2873776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nput start image" descr="Input start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35608"/>
            <a:ext cx="2313432" cy="1444752"/>
          </a:xfrm>
          <a:prstGeom prst="rect">
            <a:avLst/>
          </a:prstGeom>
        </p:spPr>
      </p:pic>
      <p:sp>
        <p:nvSpPr>
          <p:cNvPr id="11" name="Input start frame" descr="Input start frame"/>
          <p:cNvSpPr/>
          <p:nvPr/>
        </p:nvSpPr>
        <p:spPr>
          <a:xfrm>
            <a:off x="594360" y="1408176"/>
            <a:ext cx="2368296" cy="1499616"/>
          </a:xfrm>
          <a:prstGeom prst="roundRect">
            <a:avLst>
              <a:gd name="adj" fmla="val 609"/>
            </a:avLst>
          </a:prstGeom>
          <a:noFill/>
          <a:ln w="5486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nput end image" descr="Input en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90088"/>
            <a:ext cx="2313432" cy="1444752"/>
          </a:xfrm>
          <a:prstGeom prst="rect">
            <a:avLst/>
          </a:prstGeom>
        </p:spPr>
      </p:pic>
      <p:sp>
        <p:nvSpPr>
          <p:cNvPr id="13" name="Input end frame" descr="Input end frame"/>
          <p:cNvSpPr/>
          <p:nvPr/>
        </p:nvSpPr>
        <p:spPr>
          <a:xfrm>
            <a:off x="594360" y="2962656"/>
            <a:ext cx="2368296" cy="1499616"/>
          </a:xfrm>
          <a:prstGeom prst="roundRect">
            <a:avLst>
              <a:gd name="adj" fmla="val 609"/>
            </a:avLst>
          </a:prstGeom>
          <a:noFill/>
          <a:ln w="5486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put Image Pair" descr="Input Image Pair"/>
          <p:cNvSpPr txBox="1"/>
          <p:nvPr/>
        </p:nvSpPr>
        <p:spPr>
          <a:xfrm>
            <a:off x="211775" y="886968"/>
            <a:ext cx="3124322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 Image Pair</a:t>
            </a:r>
          </a:p>
        </p:txBody>
      </p:sp>
      <p:sp>
        <p:nvSpPr>
          <p:cNvPr id="15" name="Hybrid Video Generation title" descr="Hybrid Video Generation title"/>
          <p:cNvSpPr txBox="1"/>
          <p:nvPr/>
        </p:nvSpPr>
        <p:spPr>
          <a:xfrm>
            <a:off x="5783397" y="155448"/>
            <a:ext cx="4435206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806000"/>
                </a:solidFill>
                <a:latin typeface="Times New Roman"/>
                <a:ea typeface="Times New Roman"/>
                <a:cs typeface="Times New Roman"/>
              </a:rPr>
              <a:t>Hybrid Video Generation</a:t>
            </a:r>
          </a:p>
        </p:txBody>
      </p:sp>
      <p:sp>
        <p:nvSpPr>
          <p:cNvPr id="16" name="Selector title" descr="Selector title"/>
          <p:cNvSpPr txBox="1"/>
          <p:nvPr/>
        </p:nvSpPr>
        <p:spPr>
          <a:xfrm>
            <a:off x="12563856" y="155448"/>
            <a:ext cx="4809744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385724"/>
                </a:solidFill>
                <a:latin typeface="Times New Roman"/>
                <a:ea typeface="Times New Roman"/>
                <a:cs typeface="Times New Roman"/>
              </a:rPr>
              <a:t>Feature Matching Selector</a:t>
            </a:r>
          </a:p>
        </p:txBody>
      </p:sp>
      <p:sp>
        <p:nvSpPr>
          <p:cNvPr id="17" name="Robust relay title line 1" descr="Robust relay title line 1"/>
          <p:cNvSpPr txBox="1"/>
          <p:nvPr/>
        </p:nvSpPr>
        <p:spPr>
          <a:xfrm>
            <a:off x="3443996" y="1197864"/>
            <a:ext cx="2164568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Robust Relay</a:t>
            </a:r>
          </a:p>
        </p:txBody>
      </p:sp>
      <p:sp>
        <p:nvSpPr>
          <p:cNvPr id="18" name="Robust relay title line 2" descr="Robust relay title line 2"/>
          <p:cNvSpPr txBox="1"/>
          <p:nvPr/>
        </p:nvSpPr>
        <p:spPr>
          <a:xfrm>
            <a:off x="3104571" y="1508760"/>
            <a:ext cx="2843418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 Generation</a:t>
            </a:r>
          </a:p>
        </p:txBody>
      </p:sp>
      <p:sp>
        <p:nvSpPr>
          <p:cNvPr id="19" name="Pose guided title line 1" descr="Pose guided title line 1"/>
          <p:cNvSpPr txBox="1"/>
          <p:nvPr/>
        </p:nvSpPr>
        <p:spPr>
          <a:xfrm>
            <a:off x="8978676" y="1197864"/>
            <a:ext cx="1994855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Pose-Guided</a:t>
            </a:r>
          </a:p>
        </p:txBody>
      </p:sp>
      <p:sp>
        <p:nvSpPr>
          <p:cNvPr id="20" name="Pose guided title line 2" descr="Pose guided title line 2"/>
          <p:cNvSpPr txBox="1"/>
          <p:nvPr/>
        </p:nvSpPr>
        <p:spPr>
          <a:xfrm>
            <a:off x="8554395" y="1499616"/>
            <a:ext cx="2843418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 Refinement</a:t>
            </a:r>
          </a:p>
        </p:txBody>
      </p:sp>
      <p:sp>
        <p:nvSpPr>
          <p:cNvPr id="21" name="DynamiCrafter network box" descr="DynamiCrafter network box"/>
          <p:cNvSpPr/>
          <p:nvPr/>
        </p:nvSpPr>
        <p:spPr>
          <a:xfrm>
            <a:off x="3383280" y="2377440"/>
            <a:ext cx="2167128" cy="960120"/>
          </a:xfrm>
          <a:prstGeom prst="roundRect">
            <a:avLst>
              <a:gd name="adj" fmla="val 18095"/>
            </a:avLst>
          </a:prstGeom>
          <a:solidFill>
            <a:srgbClr val="DB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ynamiCrafter network label" descr="DynamiCrafter network label"/>
          <p:cNvSpPr txBox="1"/>
          <p:nvPr/>
        </p:nvSpPr>
        <p:spPr>
          <a:xfrm>
            <a:off x="3162727" y="2642616"/>
            <a:ext cx="2562515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DynamiCrafter</a:t>
            </a:r>
          </a:p>
        </p:txBody>
      </p:sp>
      <p:sp>
        <p:nvSpPr>
          <p:cNvPr id="23" name="DynamiCrafter frozen branch 0" descr="DynamiCrafter frozen branch 0"/>
          <p:cNvSpPr/>
          <p:nvPr/>
        </p:nvSpPr>
        <p:spPr>
          <a:xfrm>
            <a:off x="5294376" y="2468880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128016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ynamiCrafter frozen crystal 0 0.47 -1" descr="DynamiCrafter frozen crystal 0 0.47 -1"/>
          <p:cNvSpPr/>
          <p:nvPr/>
        </p:nvSpPr>
        <p:spPr>
          <a:xfrm>
            <a:off x="5260008" y="251688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ynamiCrafter frozen crystal 0 0.47 1" descr="DynamiCrafter frozen crystal 0 0.47 1"/>
          <p:cNvSpPr/>
          <p:nvPr/>
        </p:nvSpPr>
        <p:spPr>
          <a:xfrm>
            <a:off x="5294376" y="251688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ynamiCrafter frozen crystal 0 0.74 -1" descr="DynamiCrafter frozen crystal 0 0.74 -1"/>
          <p:cNvSpPr/>
          <p:nvPr/>
        </p:nvSpPr>
        <p:spPr>
          <a:xfrm>
            <a:off x="5260008" y="248232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ynamiCrafter frozen crystal 0 0.74 1" descr="DynamiCrafter frozen crystal 0 0.74 1"/>
          <p:cNvSpPr/>
          <p:nvPr/>
        </p:nvSpPr>
        <p:spPr>
          <a:xfrm>
            <a:off x="5294376" y="248232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ynamiCrafter frozen branch 1" descr="DynamiCrafter frozen branch 1"/>
          <p:cNvSpPr/>
          <p:nvPr/>
        </p:nvSpPr>
        <p:spPr>
          <a:xfrm>
            <a:off x="5294376" y="253288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64008"/>
                </a:moveTo>
                <a:lnTo>
                  <a:pt x="110865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ynamiCrafter frozen crystal 1 0.47 -1" descr="DynamiCrafter frozen crystal 1 0.47 -1"/>
          <p:cNvSpPr/>
          <p:nvPr/>
        </p:nvSpPr>
        <p:spPr>
          <a:xfrm>
            <a:off x="5346483" y="252712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ynamiCrafter frozen crystal 1 0.47 1" descr="DynamiCrafter frozen crystal 1 0.47 1"/>
          <p:cNvSpPr/>
          <p:nvPr/>
        </p:nvSpPr>
        <p:spPr>
          <a:xfrm>
            <a:off x="5346483" y="256681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ynamiCrafter frozen crystal 1 0.74 -1" descr="DynamiCrafter frozen crystal 1 0.74 -1"/>
          <p:cNvSpPr/>
          <p:nvPr/>
        </p:nvSpPr>
        <p:spPr>
          <a:xfrm>
            <a:off x="5376416" y="2509845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ynamiCrafter frozen crystal 1 0.74 1" descr="DynamiCrafter frozen crystal 1 0.74 1"/>
          <p:cNvSpPr/>
          <p:nvPr/>
        </p:nvSpPr>
        <p:spPr>
          <a:xfrm>
            <a:off x="5376416" y="254953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ynamiCrafter frozen branch 2" descr="DynamiCrafter frozen branch 2"/>
          <p:cNvSpPr/>
          <p:nvPr/>
        </p:nvSpPr>
        <p:spPr>
          <a:xfrm>
            <a:off x="5294376" y="2596896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0"/>
                </a:moveTo>
                <a:lnTo>
                  <a:pt x="110865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ynamiCrafter frozen crystal 2 0.47 -1" descr="DynamiCrafter frozen crystal 2 0.47 -1"/>
          <p:cNvSpPr/>
          <p:nvPr/>
        </p:nvSpPr>
        <p:spPr>
          <a:xfrm>
            <a:off x="5346483" y="2607137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ynamiCrafter frozen crystal 2 0.47 1" descr="DynamiCrafter frozen crystal 2 0.47 1"/>
          <p:cNvSpPr/>
          <p:nvPr/>
        </p:nvSpPr>
        <p:spPr>
          <a:xfrm>
            <a:off x="5346483" y="2626980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ynamiCrafter frozen crystal 2 0.74 -1" descr="DynamiCrafter frozen crystal 2 0.74 -1"/>
          <p:cNvSpPr/>
          <p:nvPr/>
        </p:nvSpPr>
        <p:spPr>
          <a:xfrm>
            <a:off x="5376416" y="262441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ynamiCrafter frozen crystal 2 0.74 1" descr="DynamiCrafter frozen crystal 2 0.74 1"/>
          <p:cNvSpPr/>
          <p:nvPr/>
        </p:nvSpPr>
        <p:spPr>
          <a:xfrm>
            <a:off x="5376416" y="264426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ynamiCrafter frozen branch 3" descr="DynamiCrafter frozen branch 3"/>
          <p:cNvSpPr/>
          <p:nvPr/>
        </p:nvSpPr>
        <p:spPr>
          <a:xfrm>
            <a:off x="5294376" y="2596896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ynamiCrafter frozen crystal 3 0.47 -1" descr="DynamiCrafter frozen crystal 3 0.47 -1"/>
          <p:cNvSpPr/>
          <p:nvPr/>
        </p:nvSpPr>
        <p:spPr>
          <a:xfrm>
            <a:off x="5294376" y="265706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ynamiCrafter frozen crystal 3 0.47 1" descr="DynamiCrafter frozen crystal 3 0.47 1"/>
          <p:cNvSpPr/>
          <p:nvPr/>
        </p:nvSpPr>
        <p:spPr>
          <a:xfrm>
            <a:off x="5260008" y="265706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ynamiCrafter frozen crystal 3 0.74 -1" descr="DynamiCrafter frozen crystal 3 0.74 -1"/>
          <p:cNvSpPr/>
          <p:nvPr/>
        </p:nvSpPr>
        <p:spPr>
          <a:xfrm>
            <a:off x="5294376" y="269162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ynamiCrafter frozen crystal 3 0.74 1" descr="DynamiCrafter frozen crystal 3 0.74 1"/>
          <p:cNvSpPr/>
          <p:nvPr/>
        </p:nvSpPr>
        <p:spPr>
          <a:xfrm>
            <a:off x="5260008" y="269162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ynamiCrafter frozen branch 4" descr="DynamiCrafter frozen branch 4"/>
          <p:cNvSpPr/>
          <p:nvPr/>
        </p:nvSpPr>
        <p:spPr>
          <a:xfrm>
            <a:off x="5183511" y="2596896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0"/>
                </a:moveTo>
                <a:lnTo>
                  <a:pt x="0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ynamiCrafter frozen crystal 4 0.47 -1" descr="DynamiCrafter frozen crystal 4 0.47 -1"/>
          <p:cNvSpPr/>
          <p:nvPr/>
        </p:nvSpPr>
        <p:spPr>
          <a:xfrm>
            <a:off x="5242269" y="2626980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ynamiCrafter frozen crystal 4 0.47 1" descr="DynamiCrafter frozen crystal 4 0.47 1"/>
          <p:cNvSpPr/>
          <p:nvPr/>
        </p:nvSpPr>
        <p:spPr>
          <a:xfrm>
            <a:off x="5207901" y="2607137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ynamiCrafter frozen crystal 4 0.74 -1" descr="DynamiCrafter frozen crystal 4 0.74 -1"/>
          <p:cNvSpPr/>
          <p:nvPr/>
        </p:nvSpPr>
        <p:spPr>
          <a:xfrm>
            <a:off x="5212336" y="264426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ynamiCrafter frozen crystal 4 0.74 1" descr="DynamiCrafter frozen crystal 4 0.74 1"/>
          <p:cNvSpPr/>
          <p:nvPr/>
        </p:nvSpPr>
        <p:spPr>
          <a:xfrm>
            <a:off x="5177968" y="262441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ynamiCrafter frozen branch 5" descr="DynamiCrafter frozen branch 5"/>
          <p:cNvSpPr/>
          <p:nvPr/>
        </p:nvSpPr>
        <p:spPr>
          <a:xfrm>
            <a:off x="5183511" y="253288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64008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ynamiCrafter frozen crystal 5 0.47 -1" descr="DynamiCrafter frozen crystal 5 0.47 -1"/>
          <p:cNvSpPr/>
          <p:nvPr/>
        </p:nvSpPr>
        <p:spPr>
          <a:xfrm>
            <a:off x="5207901" y="256681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ynamiCrafter frozen crystal 5 0.47 1" descr="DynamiCrafter frozen crystal 5 0.47 1"/>
          <p:cNvSpPr/>
          <p:nvPr/>
        </p:nvSpPr>
        <p:spPr>
          <a:xfrm>
            <a:off x="5242269" y="252712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ynamiCrafter frozen crystal 5 0.74 -1" descr="DynamiCrafter frozen crystal 5 0.74 -1"/>
          <p:cNvSpPr/>
          <p:nvPr/>
        </p:nvSpPr>
        <p:spPr>
          <a:xfrm>
            <a:off x="5177968" y="254953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ynamiCrafter frozen crystal 5 0.74 1" descr="DynamiCrafter frozen crystal 5 0.74 1"/>
          <p:cNvSpPr/>
          <p:nvPr/>
        </p:nvSpPr>
        <p:spPr>
          <a:xfrm>
            <a:off x="5212336" y="2509845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ynamiCrafter to video clip shaft" descr="DynamiCrafter to video clip shaft"/>
          <p:cNvSpPr/>
          <p:nvPr/>
        </p:nvSpPr>
        <p:spPr>
          <a:xfrm>
            <a:off x="5550408" y="2898648"/>
            <a:ext cx="211044" cy="183"/>
          </a:xfrm>
          <a:custGeom>
            <a:avLst/>
            <a:gdLst/>
            <a:ahLst/>
            <a:cxnLst/>
            <a:rect l="0" t="0" r="r" b="b"/>
            <a:pathLst>
              <a:path w="211044" h="183">
                <a:moveTo>
                  <a:pt x="0" y="0"/>
                </a:moveTo>
                <a:lnTo>
                  <a:pt x="211044" y="0"/>
                </a:lnTo>
              </a:path>
            </a:pathLst>
          </a:custGeom>
          <a:noFill/>
          <a:ln w="36576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ynamiCrafter to video clip arrowhead" descr="DynamiCrafter to video clip arrowhead"/>
          <p:cNvSpPr/>
          <p:nvPr/>
        </p:nvSpPr>
        <p:spPr>
          <a:xfrm>
            <a:off x="5733288" y="2837200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ewCrafter network box" descr="ViewCrafter network box"/>
          <p:cNvSpPr/>
          <p:nvPr/>
        </p:nvSpPr>
        <p:spPr>
          <a:xfrm>
            <a:off x="9006840" y="2340864"/>
            <a:ext cx="1783080" cy="960120"/>
          </a:xfrm>
          <a:prstGeom prst="roundRect">
            <a:avLst>
              <a:gd name="adj" fmla="val 18095"/>
            </a:avLst>
          </a:prstGeom>
          <a:solidFill>
            <a:srgbClr val="DB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ewCrafter network label" descr="ViewCrafter network label"/>
          <p:cNvSpPr txBox="1"/>
          <p:nvPr/>
        </p:nvSpPr>
        <p:spPr>
          <a:xfrm>
            <a:off x="8854684" y="2606040"/>
            <a:ext cx="2187976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ViewCrafter</a:t>
            </a:r>
          </a:p>
        </p:txBody>
      </p:sp>
      <p:sp>
        <p:nvSpPr>
          <p:cNvPr id="57" name="ViewCrafter frozen branch 0" descr="ViewCrafter frozen branch 0"/>
          <p:cNvSpPr/>
          <p:nvPr/>
        </p:nvSpPr>
        <p:spPr>
          <a:xfrm>
            <a:off x="10570464" y="2404872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128016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ewCrafter frozen crystal 0 0.47 -1" descr="ViewCrafter frozen crystal 0 0.47 -1"/>
          <p:cNvSpPr/>
          <p:nvPr/>
        </p:nvSpPr>
        <p:spPr>
          <a:xfrm>
            <a:off x="10536096" y="245287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ewCrafter frozen crystal 0 0.47 1" descr="ViewCrafter frozen crystal 0 0.47 1"/>
          <p:cNvSpPr/>
          <p:nvPr/>
        </p:nvSpPr>
        <p:spPr>
          <a:xfrm>
            <a:off x="10570464" y="245287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ewCrafter frozen crystal 0 0.74 -1" descr="ViewCrafter frozen crystal 0 0.74 -1"/>
          <p:cNvSpPr/>
          <p:nvPr/>
        </p:nvSpPr>
        <p:spPr>
          <a:xfrm>
            <a:off x="10536096" y="241831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ewCrafter frozen crystal 0 0.74 1" descr="ViewCrafter frozen crystal 0 0.74 1"/>
          <p:cNvSpPr/>
          <p:nvPr/>
        </p:nvSpPr>
        <p:spPr>
          <a:xfrm>
            <a:off x="10570464" y="241831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ewCrafter frozen branch 1" descr="ViewCrafter frozen branch 1"/>
          <p:cNvSpPr/>
          <p:nvPr/>
        </p:nvSpPr>
        <p:spPr>
          <a:xfrm>
            <a:off x="10570464" y="2468880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64008"/>
                </a:moveTo>
                <a:lnTo>
                  <a:pt x="110865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ewCrafter frozen crystal 1 0.47 -1" descr="ViewCrafter frozen crystal 1 0.47 -1"/>
          <p:cNvSpPr/>
          <p:nvPr/>
        </p:nvSpPr>
        <p:spPr>
          <a:xfrm>
            <a:off x="10622571" y="2463119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ewCrafter frozen crystal 1 0.47 1" descr="ViewCrafter frozen crystal 1 0.47 1"/>
          <p:cNvSpPr/>
          <p:nvPr/>
        </p:nvSpPr>
        <p:spPr>
          <a:xfrm>
            <a:off x="10622571" y="250280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ewCrafter frozen crystal 1 0.74 -1" descr="ViewCrafter frozen crystal 1 0.74 -1"/>
          <p:cNvSpPr/>
          <p:nvPr/>
        </p:nvSpPr>
        <p:spPr>
          <a:xfrm>
            <a:off x="10652504" y="244583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ewCrafter frozen crystal 1 0.74 1" descr="ViewCrafter frozen crystal 1 0.74 1"/>
          <p:cNvSpPr/>
          <p:nvPr/>
        </p:nvSpPr>
        <p:spPr>
          <a:xfrm>
            <a:off x="10652504" y="248552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ewCrafter frozen branch 2" descr="ViewCrafter frozen branch 2"/>
          <p:cNvSpPr/>
          <p:nvPr/>
        </p:nvSpPr>
        <p:spPr>
          <a:xfrm>
            <a:off x="10570464" y="253288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0"/>
                </a:moveTo>
                <a:lnTo>
                  <a:pt x="110865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ewCrafter frozen crystal 2 0.47 -1" descr="ViewCrafter frozen crystal 2 0.47 -1"/>
          <p:cNvSpPr/>
          <p:nvPr/>
        </p:nvSpPr>
        <p:spPr>
          <a:xfrm>
            <a:off x="10622571" y="254312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ewCrafter frozen crystal 2 0.47 1" descr="ViewCrafter frozen crystal 2 0.47 1"/>
          <p:cNvSpPr/>
          <p:nvPr/>
        </p:nvSpPr>
        <p:spPr>
          <a:xfrm>
            <a:off x="10622571" y="256297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ewCrafter frozen crystal 2 0.74 -1" descr="ViewCrafter frozen crystal 2 0.74 -1"/>
          <p:cNvSpPr/>
          <p:nvPr/>
        </p:nvSpPr>
        <p:spPr>
          <a:xfrm>
            <a:off x="10652504" y="2560411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ewCrafter frozen crystal 2 0.74 1" descr="ViewCrafter frozen crystal 2 0.74 1"/>
          <p:cNvSpPr/>
          <p:nvPr/>
        </p:nvSpPr>
        <p:spPr>
          <a:xfrm>
            <a:off x="10652504" y="2580254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ewCrafter frozen branch 3" descr="ViewCrafter frozen branch 3"/>
          <p:cNvSpPr/>
          <p:nvPr/>
        </p:nvSpPr>
        <p:spPr>
          <a:xfrm>
            <a:off x="10570464" y="2532888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ewCrafter frozen crystal 3 0.47 -1" descr="ViewCrafter frozen crystal 3 0.47 -1"/>
          <p:cNvSpPr/>
          <p:nvPr/>
        </p:nvSpPr>
        <p:spPr>
          <a:xfrm>
            <a:off x="10570464" y="259305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ewCrafter frozen crystal 3 0.47 1" descr="ViewCrafter frozen crystal 3 0.47 1"/>
          <p:cNvSpPr/>
          <p:nvPr/>
        </p:nvSpPr>
        <p:spPr>
          <a:xfrm>
            <a:off x="10536096" y="259305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ewCrafter frozen crystal 3 0.74 -1" descr="ViewCrafter frozen crystal 3 0.74 -1"/>
          <p:cNvSpPr/>
          <p:nvPr/>
        </p:nvSpPr>
        <p:spPr>
          <a:xfrm>
            <a:off x="10570464" y="262762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ewCrafter frozen crystal 3 0.74 1" descr="ViewCrafter frozen crystal 3 0.74 1"/>
          <p:cNvSpPr/>
          <p:nvPr/>
        </p:nvSpPr>
        <p:spPr>
          <a:xfrm>
            <a:off x="10536096" y="262762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ewCrafter frozen branch 4" descr="ViewCrafter frozen branch 4"/>
          <p:cNvSpPr/>
          <p:nvPr/>
        </p:nvSpPr>
        <p:spPr>
          <a:xfrm>
            <a:off x="10459599" y="253288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0"/>
                </a:moveTo>
                <a:lnTo>
                  <a:pt x="0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ewCrafter frozen crystal 4 0.47 -1" descr="ViewCrafter frozen crystal 4 0.47 -1"/>
          <p:cNvSpPr/>
          <p:nvPr/>
        </p:nvSpPr>
        <p:spPr>
          <a:xfrm>
            <a:off x="10518357" y="256297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ewCrafter frozen crystal 4 0.47 1" descr="ViewCrafter frozen crystal 4 0.47 1"/>
          <p:cNvSpPr/>
          <p:nvPr/>
        </p:nvSpPr>
        <p:spPr>
          <a:xfrm>
            <a:off x="10483989" y="254312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ewCrafter frozen crystal 4 0.74 -1" descr="ViewCrafter frozen crystal 4 0.74 -1"/>
          <p:cNvSpPr/>
          <p:nvPr/>
        </p:nvSpPr>
        <p:spPr>
          <a:xfrm>
            <a:off x="10488424" y="2580254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ewCrafter frozen crystal 4 0.74 1" descr="ViewCrafter frozen crystal 4 0.74 1"/>
          <p:cNvSpPr/>
          <p:nvPr/>
        </p:nvSpPr>
        <p:spPr>
          <a:xfrm>
            <a:off x="10454056" y="2560411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ewCrafter frozen branch 5" descr="ViewCrafter frozen branch 5"/>
          <p:cNvSpPr/>
          <p:nvPr/>
        </p:nvSpPr>
        <p:spPr>
          <a:xfrm>
            <a:off x="10459599" y="2468880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64008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ewCrafter frozen crystal 5 0.47 -1" descr="ViewCrafter frozen crystal 5 0.47 -1"/>
          <p:cNvSpPr/>
          <p:nvPr/>
        </p:nvSpPr>
        <p:spPr>
          <a:xfrm>
            <a:off x="10483989" y="250280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ewCrafter frozen crystal 5 0.47 1" descr="ViewCrafter frozen crystal 5 0.47 1"/>
          <p:cNvSpPr/>
          <p:nvPr/>
        </p:nvSpPr>
        <p:spPr>
          <a:xfrm>
            <a:off x="10518357" y="2463119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ewCrafter frozen crystal 5 0.74 -1" descr="ViewCrafter frozen crystal 5 0.74 -1"/>
          <p:cNvSpPr/>
          <p:nvPr/>
        </p:nvSpPr>
        <p:spPr>
          <a:xfrm>
            <a:off x="10454056" y="248552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ewCrafter frozen crystal 5 0.74 1" descr="ViewCrafter frozen crystal 5 0.74 1"/>
          <p:cNvSpPr/>
          <p:nvPr/>
        </p:nvSpPr>
        <p:spPr>
          <a:xfrm>
            <a:off x="10488424" y="244583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lay frames to ViewCrafter shaft" descr="Relay frames to ViewCrafter shaft"/>
          <p:cNvSpPr/>
          <p:nvPr/>
        </p:nvSpPr>
        <p:spPr>
          <a:xfrm>
            <a:off x="8531352" y="2862072"/>
            <a:ext cx="475488" cy="183"/>
          </a:xfrm>
          <a:custGeom>
            <a:avLst/>
            <a:gdLst/>
            <a:ahLst/>
            <a:cxnLst/>
            <a:rect l="0" t="0" r="r" b="b"/>
            <a:pathLst>
              <a:path w="475488" h="183">
                <a:moveTo>
                  <a:pt x="0" y="0"/>
                </a:moveTo>
                <a:lnTo>
                  <a:pt x="475488" y="0"/>
                </a:lnTo>
              </a:path>
            </a:pathLst>
          </a:custGeom>
          <a:noFill/>
          <a:ln w="36576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lay frames to ViewCrafter arrowhead" descr="Relay frames to ViewCrafter arrowhead"/>
          <p:cNvSpPr/>
          <p:nvPr/>
        </p:nvSpPr>
        <p:spPr>
          <a:xfrm>
            <a:off x="9006840" y="2862072"/>
            <a:ext cx="183" cy="183"/>
          </a:xfrm>
          <a:custGeom>
            <a:avLst/>
            <a:gdLst/>
            <a:ahLst/>
            <a:cxnLst/>
            <a:rect l="0" t="0" r="r" b="b"/>
            <a:pathLst>
              <a:path w="183" h="183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ewCrafter to hybrid video shaft" descr="ViewCrafter to hybrid video shaft"/>
          <p:cNvSpPr/>
          <p:nvPr/>
        </p:nvSpPr>
        <p:spPr>
          <a:xfrm>
            <a:off x="10789920" y="2862072"/>
            <a:ext cx="145024" cy="183"/>
          </a:xfrm>
          <a:custGeom>
            <a:avLst/>
            <a:gdLst/>
            <a:ahLst/>
            <a:cxnLst/>
            <a:rect l="0" t="0" r="r" b="b"/>
            <a:pathLst>
              <a:path w="145024" h="183">
                <a:moveTo>
                  <a:pt x="0" y="0"/>
                </a:moveTo>
                <a:lnTo>
                  <a:pt x="145024" y="0"/>
                </a:lnTo>
              </a:path>
            </a:pathLst>
          </a:custGeom>
          <a:noFill/>
          <a:ln w="36576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ewCrafter to hybrid video arrowhead" descr="ViewCrafter to hybrid video arrowhead"/>
          <p:cNvSpPr/>
          <p:nvPr/>
        </p:nvSpPr>
        <p:spPr>
          <a:xfrm>
            <a:off x="10908792" y="2805013"/>
            <a:ext cx="118872" cy="114117"/>
          </a:xfrm>
          <a:custGeom>
            <a:avLst/>
            <a:gdLst/>
            <a:ahLst/>
            <a:cxnLst/>
            <a:rect l="0" t="0" r="r" b="b"/>
            <a:pathLst>
              <a:path w="118872" h="114117">
                <a:moveTo>
                  <a:pt x="118872" y="57059"/>
                </a:moveTo>
                <a:lnTo>
                  <a:pt x="0" y="1141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ybrid video to selector shaft" descr="Hybrid video to selector shaft"/>
          <p:cNvSpPr/>
          <p:nvPr/>
        </p:nvSpPr>
        <p:spPr>
          <a:xfrm>
            <a:off x="12033504" y="2852928"/>
            <a:ext cx="759684" cy="183"/>
          </a:xfrm>
          <a:custGeom>
            <a:avLst/>
            <a:gdLst/>
            <a:ahLst/>
            <a:cxnLst/>
            <a:rect l="0" t="0" r="r" b="b"/>
            <a:pathLst>
              <a:path w="759684" h="183">
                <a:moveTo>
                  <a:pt x="0" y="0"/>
                </a:moveTo>
                <a:lnTo>
                  <a:pt x="759684" y="0"/>
                </a:lnTo>
              </a:path>
            </a:pathLst>
          </a:custGeom>
          <a:noFill/>
          <a:ln w="36576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Hybrid video to selector arrowhead" descr="Hybrid video to selector arrowhead"/>
          <p:cNvSpPr/>
          <p:nvPr/>
        </p:nvSpPr>
        <p:spPr>
          <a:xfrm>
            <a:off x="12765024" y="2791480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tart frame legend swatch" descr="Start frame legend swatch"/>
          <p:cNvSpPr/>
          <p:nvPr/>
        </p:nvSpPr>
        <p:spPr>
          <a:xfrm>
            <a:off x="3474720" y="3849624"/>
            <a:ext cx="740664" cy="448056"/>
          </a:xfrm>
          <a:prstGeom prst="rect">
            <a:avLst/>
          </a:prstGeom>
          <a:noFill/>
          <a:ln w="5486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nd frame legend swatch" descr="End frame legend swatch"/>
          <p:cNvSpPr/>
          <p:nvPr/>
        </p:nvSpPr>
        <p:spPr>
          <a:xfrm>
            <a:off x="3474720" y="4361688"/>
            <a:ext cx="740664" cy="448056"/>
          </a:xfrm>
          <a:prstGeom prst="rect">
            <a:avLst/>
          </a:prstGeom>
          <a:noFill/>
          <a:ln w="5486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tart frame legend" descr="Start frame legend"/>
          <p:cNvSpPr txBox="1"/>
          <p:nvPr/>
        </p:nvSpPr>
        <p:spPr>
          <a:xfrm>
            <a:off x="4315968" y="3904488"/>
            <a:ext cx="1801734" cy="24743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 marL="0" marR="0"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Start Frame</a:t>
            </a:r>
          </a:p>
        </p:txBody>
      </p:sp>
      <p:sp>
        <p:nvSpPr>
          <p:cNvPr id="96" name="End frame legend" descr="End frame legend"/>
          <p:cNvSpPr txBox="1"/>
          <p:nvPr/>
        </p:nvSpPr>
        <p:spPr>
          <a:xfrm>
            <a:off x="4315968" y="4462272"/>
            <a:ext cx="1544239" cy="24743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 marL="0" marR="0"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End Frame</a:t>
            </a:r>
          </a:p>
        </p:txBody>
      </p:sp>
      <p:sp>
        <p:nvSpPr>
          <p:cNvPr id="97" name="Frozen network legend snowflake branch 0" descr="Frozen network legend snowflake branch 0"/>
          <p:cNvSpPr/>
          <p:nvPr/>
        </p:nvSpPr>
        <p:spPr>
          <a:xfrm>
            <a:off x="9180576" y="4434840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128016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ozen network legend snowflake crystal 0 0.47 -1" descr="Frozen network legend snowflake crystal 0 0.47 -1"/>
          <p:cNvSpPr/>
          <p:nvPr/>
        </p:nvSpPr>
        <p:spPr>
          <a:xfrm>
            <a:off x="9146208" y="448284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ozen network legend snowflake crystal 0 0.47 1" descr="Frozen network legend snowflake crystal 0 0.47 1"/>
          <p:cNvSpPr/>
          <p:nvPr/>
        </p:nvSpPr>
        <p:spPr>
          <a:xfrm>
            <a:off x="9180576" y="4482846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ozen network legend snowflake crystal 0 0.74 -1" descr="Frozen network legend snowflake crystal 0 0.74 -1"/>
          <p:cNvSpPr/>
          <p:nvPr/>
        </p:nvSpPr>
        <p:spPr>
          <a:xfrm>
            <a:off x="9146208" y="444828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ozen network legend snowflake crystal 0 0.74 1" descr="Frozen network legend snowflake crystal 0 0.74 1"/>
          <p:cNvSpPr/>
          <p:nvPr/>
        </p:nvSpPr>
        <p:spPr>
          <a:xfrm>
            <a:off x="9180576" y="444828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ozen network legend snowflake branch 1" descr="Frozen network legend snowflake branch 1"/>
          <p:cNvSpPr/>
          <p:nvPr/>
        </p:nvSpPr>
        <p:spPr>
          <a:xfrm>
            <a:off x="9180576" y="449884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64008"/>
                </a:moveTo>
                <a:lnTo>
                  <a:pt x="110865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ozen network legend snowflake crystal 1 0.47 -1" descr="Frozen network legend snowflake crystal 1 0.47 -1"/>
          <p:cNvSpPr/>
          <p:nvPr/>
        </p:nvSpPr>
        <p:spPr>
          <a:xfrm>
            <a:off x="9232683" y="449308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ozen network legend snowflake crystal 1 0.47 1" descr="Frozen network legend snowflake crystal 1 0.47 1"/>
          <p:cNvSpPr/>
          <p:nvPr/>
        </p:nvSpPr>
        <p:spPr>
          <a:xfrm>
            <a:off x="9232683" y="453277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ozen network legend snowflake crystal 1 0.74 -1" descr="Frozen network legend snowflake crystal 1 0.74 -1"/>
          <p:cNvSpPr/>
          <p:nvPr/>
        </p:nvSpPr>
        <p:spPr>
          <a:xfrm>
            <a:off x="9262616" y="4475805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ozen network legend snowflake crystal 1 0.74 1" descr="Frozen network legend snowflake crystal 1 0.74 1"/>
          <p:cNvSpPr/>
          <p:nvPr/>
        </p:nvSpPr>
        <p:spPr>
          <a:xfrm>
            <a:off x="9262616" y="451549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ozen network legend snowflake branch 2" descr="Frozen network legend snowflake branch 2"/>
          <p:cNvSpPr/>
          <p:nvPr/>
        </p:nvSpPr>
        <p:spPr>
          <a:xfrm>
            <a:off x="9180576" y="4562856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0" y="0"/>
                </a:moveTo>
                <a:lnTo>
                  <a:pt x="110865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ozen network legend snowflake crystal 2 0.47 -1" descr="Frozen network legend snowflake crystal 2 0.47 -1"/>
          <p:cNvSpPr/>
          <p:nvPr/>
        </p:nvSpPr>
        <p:spPr>
          <a:xfrm>
            <a:off x="9232683" y="4573097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ozen network legend snowflake crystal 2 0.47 1" descr="Frozen network legend snowflake crystal 2 0.47 1"/>
          <p:cNvSpPr/>
          <p:nvPr/>
        </p:nvSpPr>
        <p:spPr>
          <a:xfrm>
            <a:off x="9232683" y="4592940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ozen network legend snowflake crystal 2 0.74 -1" descr="Frozen network legend snowflake crystal 2 0.74 -1"/>
          <p:cNvSpPr/>
          <p:nvPr/>
        </p:nvSpPr>
        <p:spPr>
          <a:xfrm>
            <a:off x="9262616" y="459037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19842"/>
                </a:moveTo>
                <a:lnTo>
                  <a:pt x="34368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ozen network legend snowflake crystal 2 0.74 1" descr="Frozen network legend snowflake crystal 2 0.74 1"/>
          <p:cNvSpPr/>
          <p:nvPr/>
        </p:nvSpPr>
        <p:spPr>
          <a:xfrm>
            <a:off x="9262616" y="461022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ozen network legend snowflake branch 3" descr="Frozen network legend snowflake branch 3"/>
          <p:cNvSpPr/>
          <p:nvPr/>
        </p:nvSpPr>
        <p:spPr>
          <a:xfrm>
            <a:off x="9180576" y="4562856"/>
            <a:ext cx="183" cy="128016"/>
          </a:xfrm>
          <a:custGeom>
            <a:avLst/>
            <a:gdLst/>
            <a:ahLst/>
            <a:cxnLst/>
            <a:rect l="0" t="0" r="r" b="b"/>
            <a:pathLst>
              <a:path w="183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ozen network legend snowflake crystal 3 0.47 -1" descr="Frozen network legend snowflake crystal 3 0.47 -1"/>
          <p:cNvSpPr/>
          <p:nvPr/>
        </p:nvSpPr>
        <p:spPr>
          <a:xfrm>
            <a:off x="9180576" y="462302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ozen network legend snowflake crystal 3 0.47 1" descr="Frozen network legend snowflake crystal 3 0.47 1"/>
          <p:cNvSpPr/>
          <p:nvPr/>
        </p:nvSpPr>
        <p:spPr>
          <a:xfrm>
            <a:off x="9146208" y="4623024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ozen network legend snowflake crystal 3 0.74 -1" descr="Frozen network legend snowflake crystal 3 0.74 -1"/>
          <p:cNvSpPr/>
          <p:nvPr/>
        </p:nvSpPr>
        <p:spPr>
          <a:xfrm>
            <a:off x="9180576" y="465758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0" y="0"/>
                </a:moveTo>
                <a:lnTo>
                  <a:pt x="34368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ozen network legend snowflake crystal 3 0.74 1" descr="Frozen network legend snowflake crystal 3 0.74 1"/>
          <p:cNvSpPr/>
          <p:nvPr/>
        </p:nvSpPr>
        <p:spPr>
          <a:xfrm>
            <a:off x="9146208" y="4657588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ozen network legend snowflake branch 4" descr="Frozen network legend snowflake branch 4"/>
          <p:cNvSpPr/>
          <p:nvPr/>
        </p:nvSpPr>
        <p:spPr>
          <a:xfrm>
            <a:off x="9069711" y="4562856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0"/>
                </a:moveTo>
                <a:lnTo>
                  <a:pt x="0" y="64008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ozen network legend snowflake crystal 4 0.47 -1" descr="Frozen network legend snowflake crystal 4 0.47 -1"/>
          <p:cNvSpPr/>
          <p:nvPr/>
        </p:nvSpPr>
        <p:spPr>
          <a:xfrm>
            <a:off x="9128469" y="4592940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ozen network legend snowflake crystal 4 0.47 1" descr="Frozen network legend snowflake crystal 4 0.47 1"/>
          <p:cNvSpPr/>
          <p:nvPr/>
        </p:nvSpPr>
        <p:spPr>
          <a:xfrm>
            <a:off x="9094101" y="4573097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ozen network legend snowflake crystal 4 0.74 -1" descr="Frozen network legend snowflake crystal 4 0.74 -1"/>
          <p:cNvSpPr/>
          <p:nvPr/>
        </p:nvSpPr>
        <p:spPr>
          <a:xfrm>
            <a:off x="9098536" y="4610222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0"/>
                </a:moveTo>
                <a:lnTo>
                  <a:pt x="0" y="39685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ozen network legend snowflake crystal 4 0.74 1" descr="Frozen network legend snowflake crystal 4 0.74 1"/>
          <p:cNvSpPr/>
          <p:nvPr/>
        </p:nvSpPr>
        <p:spPr>
          <a:xfrm>
            <a:off x="9064168" y="4590379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19842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ozen network legend snowflake branch 5" descr="Frozen network legend snowflake branch 5"/>
          <p:cNvSpPr/>
          <p:nvPr/>
        </p:nvSpPr>
        <p:spPr>
          <a:xfrm>
            <a:off x="9069711" y="4498848"/>
            <a:ext cx="110865" cy="64008"/>
          </a:xfrm>
          <a:custGeom>
            <a:avLst/>
            <a:gdLst/>
            <a:ahLst/>
            <a:cxnLst/>
            <a:rect l="0" t="0" r="r" b="b"/>
            <a:pathLst>
              <a:path w="110865" h="64008">
                <a:moveTo>
                  <a:pt x="110865" y="64008"/>
                </a:moveTo>
                <a:lnTo>
                  <a:pt x="0" y="0"/>
                </a:lnTo>
              </a:path>
            </a:pathLst>
          </a:custGeom>
          <a:noFill/>
          <a:ln w="16459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ozen network legend snowflake crystal 5 0.47 -1" descr="Frozen network legend snowflake crystal 5 0.47 -1"/>
          <p:cNvSpPr/>
          <p:nvPr/>
        </p:nvSpPr>
        <p:spPr>
          <a:xfrm>
            <a:off x="9094101" y="4532772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ozen network legend snowflake crystal 5 0.47 1" descr="Frozen network legend snowflake crystal 5 0.47 1"/>
          <p:cNvSpPr/>
          <p:nvPr/>
        </p:nvSpPr>
        <p:spPr>
          <a:xfrm>
            <a:off x="9128469" y="4493087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ozen network legend snowflake crystal 5 0.74 -1" descr="Frozen network legend snowflake crystal 5 0.74 -1"/>
          <p:cNvSpPr/>
          <p:nvPr/>
        </p:nvSpPr>
        <p:spPr>
          <a:xfrm>
            <a:off x="9064168" y="4515490"/>
            <a:ext cx="34368" cy="19842"/>
          </a:xfrm>
          <a:custGeom>
            <a:avLst/>
            <a:gdLst/>
            <a:ahLst/>
            <a:cxnLst/>
            <a:rect l="0" t="0" r="r" b="b"/>
            <a:pathLst>
              <a:path w="34368" h="19842">
                <a:moveTo>
                  <a:pt x="34368" y="0"/>
                </a:moveTo>
                <a:lnTo>
                  <a:pt x="0" y="19842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ozen network legend snowflake crystal 5 0.74 1" descr="Frozen network legend snowflake crystal 5 0.74 1"/>
          <p:cNvSpPr/>
          <p:nvPr/>
        </p:nvSpPr>
        <p:spPr>
          <a:xfrm>
            <a:off x="9098536" y="4475805"/>
            <a:ext cx="183" cy="39685"/>
          </a:xfrm>
          <a:custGeom>
            <a:avLst/>
            <a:gdLst/>
            <a:ahLst/>
            <a:cxnLst/>
            <a:rect l="0" t="0" r="r" b="b"/>
            <a:pathLst>
              <a:path w="183" h="39685">
                <a:moveTo>
                  <a:pt x="0" y="39685"/>
                </a:moveTo>
                <a:lnTo>
                  <a:pt x="0" y="0"/>
                </a:lnTo>
              </a:path>
            </a:pathLst>
          </a:custGeom>
          <a:noFill/>
          <a:ln w="12801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ozen network legend" descr="Frozen network legend"/>
          <p:cNvSpPr txBox="1"/>
          <p:nvPr/>
        </p:nvSpPr>
        <p:spPr>
          <a:xfrm>
            <a:off x="9381744" y="4416552"/>
            <a:ext cx="2187976" cy="24743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 marL="0" marR="0"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Frozen Network</a:t>
            </a:r>
          </a:p>
        </p:txBody>
      </p:sp>
      <p:sp>
        <p:nvSpPr>
          <p:cNvPr id="128" name="Video clip filmstrip black film" descr="Video clip filmstrip black film"/>
          <p:cNvSpPr/>
          <p:nvPr/>
        </p:nvSpPr>
        <p:spPr>
          <a:xfrm>
            <a:off x="5870448" y="850392"/>
            <a:ext cx="960120" cy="4023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Video clip filmstrip perforations 1" descr="Video clip filmstrip perforations 1"/>
          <p:cNvSpPr/>
          <p:nvPr/>
        </p:nvSpPr>
        <p:spPr>
          <a:xfrm>
            <a:off x="5889650" y="859536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deo clip filmstrip perforations 2" descr="Video clip filmstrip perforations 2"/>
          <p:cNvSpPr/>
          <p:nvPr/>
        </p:nvSpPr>
        <p:spPr>
          <a:xfrm>
            <a:off x="5889650" y="1472184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deo clip filmstrip perforations 3" descr="Video clip filmstrip perforations 3"/>
          <p:cNvSpPr/>
          <p:nvPr/>
        </p:nvSpPr>
        <p:spPr>
          <a:xfrm>
            <a:off x="5889650" y="2112264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ideo clip filmstrip perforations 4" descr="Video clip filmstrip perforations 4"/>
          <p:cNvSpPr/>
          <p:nvPr/>
        </p:nvSpPr>
        <p:spPr>
          <a:xfrm>
            <a:off x="5889650" y="2752344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Video clip filmstrip perforations 5" descr="Video clip filmstrip perforations 5"/>
          <p:cNvSpPr/>
          <p:nvPr/>
        </p:nvSpPr>
        <p:spPr>
          <a:xfrm>
            <a:off x="5889650" y="2953512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Video clip filmstrip perforations 6" descr="Video clip filmstrip perforations 6"/>
          <p:cNvSpPr/>
          <p:nvPr/>
        </p:nvSpPr>
        <p:spPr>
          <a:xfrm>
            <a:off x="5889650" y="3575304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ideo clip filmstrip perforations 7" descr="Video clip filmstrip perforations 7"/>
          <p:cNvSpPr/>
          <p:nvPr/>
        </p:nvSpPr>
        <p:spPr>
          <a:xfrm>
            <a:off x="5889650" y="4197096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ideo clip filmstrip perforations 8" descr="Video clip filmstrip perforations 8"/>
          <p:cNvSpPr/>
          <p:nvPr/>
        </p:nvSpPr>
        <p:spPr>
          <a:xfrm>
            <a:off x="5889650" y="4809744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Video clip filmstrip photo 1" descr="Video clip filmstrip photo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923544"/>
            <a:ext cx="877824" cy="502920"/>
          </a:xfrm>
          <a:prstGeom prst="roundRect">
            <a:avLst>
              <a:gd name="adj" fmla="val 3636"/>
            </a:avLst>
          </a:prstGeom>
        </p:spPr>
      </p:pic>
      <p:sp>
        <p:nvSpPr>
          <p:cNvPr id="138" name="Video clip filmstrip frame 1" descr="Video clip filmstrip frame 1"/>
          <p:cNvSpPr/>
          <p:nvPr/>
        </p:nvSpPr>
        <p:spPr>
          <a:xfrm>
            <a:off x="5909767" y="917143"/>
            <a:ext cx="890626" cy="515722"/>
          </a:xfrm>
          <a:prstGeom prst="roundRect">
            <a:avLst>
              <a:gd name="adj" fmla="val 2836"/>
            </a:avLst>
          </a:prstGeom>
          <a:noFill/>
          <a:ln w="246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Video clip filmstrip photo 2" descr="Video clip filmstrip photo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554480"/>
            <a:ext cx="877824" cy="539496"/>
          </a:xfrm>
          <a:prstGeom prst="roundRect">
            <a:avLst>
              <a:gd name="adj" fmla="val 3389"/>
            </a:avLst>
          </a:prstGeom>
        </p:spPr>
      </p:pic>
      <p:pic>
        <p:nvPicPr>
          <p:cNvPr id="140" name="Video clip filmstrip photo 3" descr="Video clip filmstrip photo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2185416"/>
            <a:ext cx="877824" cy="539496"/>
          </a:xfrm>
          <a:prstGeom prst="roundRect">
            <a:avLst>
              <a:gd name="adj" fmla="val 3389"/>
            </a:avLst>
          </a:prstGeom>
        </p:spPr>
      </p:pic>
      <p:pic>
        <p:nvPicPr>
          <p:cNvPr id="141" name="Video clip filmstrip photo 4" descr="Video clip filmstrip photo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3026664"/>
            <a:ext cx="877824" cy="521208"/>
          </a:xfrm>
          <a:prstGeom prst="roundRect">
            <a:avLst>
              <a:gd name="adj" fmla="val 3508"/>
            </a:avLst>
          </a:prstGeom>
        </p:spPr>
      </p:pic>
      <p:pic>
        <p:nvPicPr>
          <p:cNvPr id="142" name="Video clip filmstrip photo 5" descr="Video clip filmstrip photo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168" y="3639312"/>
            <a:ext cx="877824" cy="530352"/>
          </a:xfrm>
          <a:prstGeom prst="roundRect">
            <a:avLst>
              <a:gd name="adj" fmla="val 3448"/>
            </a:avLst>
          </a:prstGeom>
        </p:spPr>
      </p:pic>
      <p:pic>
        <p:nvPicPr>
          <p:cNvPr id="143" name="Video clip filmstrip photo 6" descr="Video clip filmstrip photo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6168" y="4315968"/>
            <a:ext cx="877824" cy="457200"/>
          </a:xfrm>
          <a:prstGeom prst="roundRect">
            <a:avLst>
              <a:gd name="adj" fmla="val 4000"/>
            </a:avLst>
          </a:prstGeom>
        </p:spPr>
      </p:pic>
      <p:sp>
        <p:nvSpPr>
          <p:cNvPr id="144" name="Video clip filmstrip frame 6" descr="Video clip filmstrip frame 6"/>
          <p:cNvSpPr/>
          <p:nvPr/>
        </p:nvSpPr>
        <p:spPr>
          <a:xfrm>
            <a:off x="5909767" y="4309567"/>
            <a:ext cx="890626" cy="470002"/>
          </a:xfrm>
          <a:prstGeom prst="roundRect">
            <a:avLst>
              <a:gd name="adj" fmla="val 3112"/>
            </a:avLst>
          </a:prstGeom>
          <a:noFill/>
          <a:ln w="246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Video clip ellipsis background" descr="Video clip ellipsis background"/>
          <p:cNvSpPr/>
          <p:nvPr/>
        </p:nvSpPr>
        <p:spPr>
          <a:xfrm>
            <a:off x="5897880" y="2816352"/>
            <a:ext cx="896112" cy="118872"/>
          </a:xfrm>
          <a:prstGeom prst="rect">
            <a:avLst/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Video clip ellipsis" descr="Video clip ellipsis"/>
          <p:cNvSpPr txBox="1"/>
          <p:nvPr/>
        </p:nvSpPr>
        <p:spPr>
          <a:xfrm>
            <a:off x="5984748" y="2679192"/>
            <a:ext cx="731520" cy="2924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47" name="Video clip caption" descr="Video clip caption"/>
          <p:cNvSpPr txBox="1"/>
          <p:nvPr/>
        </p:nvSpPr>
        <p:spPr>
          <a:xfrm>
            <a:off x="5433365" y="4937760"/>
            <a:ext cx="1825142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 Clip</a:t>
            </a:r>
          </a:p>
        </p:txBody>
      </p:sp>
      <p:sp>
        <p:nvSpPr>
          <p:cNvPr id="148" name="Relay selection first shaft" descr="Relay selection first shaft"/>
          <p:cNvSpPr/>
          <p:nvPr/>
        </p:nvSpPr>
        <p:spPr>
          <a:xfrm>
            <a:off x="6830568" y="1188720"/>
            <a:ext cx="429768" cy="219456"/>
          </a:xfrm>
          <a:custGeom>
            <a:avLst/>
            <a:gdLst/>
            <a:ahLst/>
            <a:cxnLst/>
            <a:rect l="0" t="0" r="r" b="b"/>
            <a:pathLst>
              <a:path w="429768" h="219456">
                <a:moveTo>
                  <a:pt x="0" y="0"/>
                </a:moveTo>
                <a:cubicBezTo>
                  <a:pt x="210312" y="0"/>
                  <a:pt x="146304" y="219456"/>
                  <a:pt x="429768" y="219456"/>
                </a:cubicBezTo>
              </a:path>
            </a:pathLst>
          </a:custGeom>
          <a:noFill/>
          <a:ln w="18288">
            <a:solidFill>
              <a:srgbClr val="000000"/>
            </a:solidFill>
            <a:custDash>
              <a:ds d="350000" sp="350000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lay selection first arrowhead" descr="Relay selection first arrowhead"/>
          <p:cNvSpPr/>
          <p:nvPr/>
        </p:nvSpPr>
        <p:spPr>
          <a:xfrm>
            <a:off x="7159752" y="1359896"/>
            <a:ext cx="100584" cy="96561"/>
          </a:xfrm>
          <a:custGeom>
            <a:avLst/>
            <a:gdLst/>
            <a:ahLst/>
            <a:cxnLst/>
            <a:rect l="0" t="0" r="r" b="b"/>
            <a:pathLst>
              <a:path w="100584" h="96561">
                <a:moveTo>
                  <a:pt x="100584" y="48280"/>
                </a:moveTo>
                <a:lnTo>
                  <a:pt x="0" y="96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lay selection second shaft" descr="Relay selection second shaft"/>
          <p:cNvSpPr/>
          <p:nvPr/>
        </p:nvSpPr>
        <p:spPr>
          <a:xfrm>
            <a:off x="6830568" y="1819656"/>
            <a:ext cx="438912" cy="576072"/>
          </a:xfrm>
          <a:custGeom>
            <a:avLst/>
            <a:gdLst/>
            <a:ahLst/>
            <a:cxnLst/>
            <a:rect l="0" t="0" r="r" b="b"/>
            <a:pathLst>
              <a:path w="438912" h="576072">
                <a:moveTo>
                  <a:pt x="0" y="0"/>
                </a:moveTo>
                <a:cubicBezTo>
                  <a:pt x="283464" y="45720"/>
                  <a:pt x="118872" y="448056"/>
                  <a:pt x="438912" y="576072"/>
                </a:cubicBezTo>
              </a:path>
            </a:pathLst>
          </a:custGeom>
          <a:noFill/>
          <a:ln w="18288">
            <a:solidFill>
              <a:srgbClr val="000000"/>
            </a:solidFill>
            <a:custDash>
              <a:ds d="350000" sp="350000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lay selection second arrowhead" descr="Relay selection second arrowhead"/>
          <p:cNvSpPr/>
          <p:nvPr/>
        </p:nvSpPr>
        <p:spPr>
          <a:xfrm>
            <a:off x="7158159" y="2313545"/>
            <a:ext cx="111321" cy="89654"/>
          </a:xfrm>
          <a:custGeom>
            <a:avLst/>
            <a:gdLst/>
            <a:ahLst/>
            <a:cxnLst/>
            <a:rect l="0" t="0" r="r" b="b"/>
            <a:pathLst>
              <a:path w="111321" h="89654">
                <a:moveTo>
                  <a:pt x="111321" y="82183"/>
                </a:moveTo>
                <a:lnTo>
                  <a:pt x="0" y="89654"/>
                </a:lnTo>
                <a:lnTo>
                  <a:pt x="3586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lay selection third shaft" descr="Relay selection third shaft"/>
          <p:cNvSpPr/>
          <p:nvPr/>
        </p:nvSpPr>
        <p:spPr>
          <a:xfrm>
            <a:off x="6830568" y="3364992"/>
            <a:ext cx="438912" cy="539496"/>
          </a:xfrm>
          <a:custGeom>
            <a:avLst/>
            <a:gdLst/>
            <a:ahLst/>
            <a:cxnLst/>
            <a:rect l="0" t="0" r="r" b="b"/>
            <a:pathLst>
              <a:path w="438912" h="539496">
                <a:moveTo>
                  <a:pt x="0" y="539496"/>
                </a:moveTo>
                <a:cubicBezTo>
                  <a:pt x="237744" y="475488"/>
                  <a:pt x="109728" y="9144"/>
                  <a:pt x="438912" y="0"/>
                </a:cubicBezTo>
              </a:path>
            </a:pathLst>
          </a:custGeom>
          <a:noFill/>
          <a:ln w="18288">
            <a:solidFill>
              <a:srgbClr val="000000"/>
            </a:solidFill>
            <a:custDash>
              <a:ds d="350000" sp="350000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lay selection third arrowhead" descr="Relay selection third arrowhead"/>
          <p:cNvSpPr/>
          <p:nvPr/>
        </p:nvSpPr>
        <p:spPr>
          <a:xfrm>
            <a:off x="7167594" y="3319523"/>
            <a:ext cx="101886" cy="96523"/>
          </a:xfrm>
          <a:custGeom>
            <a:avLst/>
            <a:gdLst/>
            <a:ahLst/>
            <a:cxnLst/>
            <a:rect l="0" t="0" r="r" b="b"/>
            <a:pathLst>
              <a:path w="101886" h="96523">
                <a:moveTo>
                  <a:pt x="101886" y="45469"/>
                </a:moveTo>
                <a:lnTo>
                  <a:pt x="2681" y="965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lay selection fourth shaft" descr="Relay selection fourth shaft"/>
          <p:cNvSpPr/>
          <p:nvPr/>
        </p:nvSpPr>
        <p:spPr>
          <a:xfrm>
            <a:off x="6830568" y="4334256"/>
            <a:ext cx="438912" cy="219456"/>
          </a:xfrm>
          <a:custGeom>
            <a:avLst/>
            <a:gdLst/>
            <a:ahLst/>
            <a:cxnLst/>
            <a:rect l="0" t="0" r="r" b="b"/>
            <a:pathLst>
              <a:path w="438912" h="219456">
                <a:moveTo>
                  <a:pt x="0" y="219456"/>
                </a:moveTo>
                <a:cubicBezTo>
                  <a:pt x="301752" y="219456"/>
                  <a:pt x="155448" y="0"/>
                  <a:pt x="438912" y="0"/>
                </a:cubicBezTo>
              </a:path>
            </a:pathLst>
          </a:custGeom>
          <a:noFill/>
          <a:ln w="18288">
            <a:solidFill>
              <a:srgbClr val="000000"/>
            </a:solidFill>
            <a:custDash>
              <a:ds d="350000" sp="350000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lay selection fourth arrowhead" descr="Relay selection fourth arrowhead"/>
          <p:cNvSpPr/>
          <p:nvPr/>
        </p:nvSpPr>
        <p:spPr>
          <a:xfrm>
            <a:off x="7168896" y="4285976"/>
            <a:ext cx="100584" cy="96561"/>
          </a:xfrm>
          <a:custGeom>
            <a:avLst/>
            <a:gdLst/>
            <a:ahLst/>
            <a:cxnLst/>
            <a:rect l="0" t="0" r="r" b="b"/>
            <a:pathLst>
              <a:path w="100584" h="96561">
                <a:moveTo>
                  <a:pt x="100584" y="48280"/>
                </a:moveTo>
                <a:lnTo>
                  <a:pt x="0" y="96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lay frame filmstrip black film" descr="Relay frame filmstrip black film"/>
          <p:cNvSpPr/>
          <p:nvPr/>
        </p:nvSpPr>
        <p:spPr>
          <a:xfrm>
            <a:off x="7278624" y="859536"/>
            <a:ext cx="1188720" cy="3995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lay frame filmstrip perforations 1" descr="Relay frame filmstrip perforations 1"/>
          <p:cNvSpPr/>
          <p:nvPr/>
        </p:nvSpPr>
        <p:spPr>
          <a:xfrm>
            <a:off x="7297826" y="868680"/>
            <a:ext cx="1132942" cy="65837"/>
          </a:xfrm>
          <a:custGeom>
            <a:avLst/>
            <a:gdLst/>
            <a:ahLst/>
            <a:cxnLst/>
            <a:rect l="0" t="0" r="r" b="b"/>
            <a:pathLst>
              <a:path w="1132942" h="65837">
                <a:moveTo>
                  <a:pt x="0" y="0"/>
                </a:moveTo>
                <a:lnTo>
                  <a:pt x="54521" y="0"/>
                </a:lnTo>
                <a:lnTo>
                  <a:pt x="54521" y="65837"/>
                </a:lnTo>
                <a:lnTo>
                  <a:pt x="0" y="65837"/>
                </a:lnTo>
                <a:close/>
                <a:moveTo>
                  <a:pt x="71895" y="0"/>
                </a:moveTo>
                <a:lnTo>
                  <a:pt x="126416" y="0"/>
                </a:lnTo>
                <a:lnTo>
                  <a:pt x="126416" y="65837"/>
                </a:lnTo>
                <a:lnTo>
                  <a:pt x="71895" y="65837"/>
                </a:lnTo>
                <a:close/>
                <a:moveTo>
                  <a:pt x="143789" y="0"/>
                </a:moveTo>
                <a:lnTo>
                  <a:pt x="198310" y="0"/>
                </a:lnTo>
                <a:lnTo>
                  <a:pt x="198310" y="65837"/>
                </a:lnTo>
                <a:lnTo>
                  <a:pt x="143789" y="65837"/>
                </a:lnTo>
                <a:close/>
                <a:moveTo>
                  <a:pt x="215684" y="0"/>
                </a:moveTo>
                <a:lnTo>
                  <a:pt x="270205" y="0"/>
                </a:lnTo>
                <a:lnTo>
                  <a:pt x="270205" y="65837"/>
                </a:lnTo>
                <a:lnTo>
                  <a:pt x="215684" y="65837"/>
                </a:lnTo>
                <a:close/>
                <a:moveTo>
                  <a:pt x="287579" y="0"/>
                </a:moveTo>
                <a:lnTo>
                  <a:pt x="342100" y="0"/>
                </a:lnTo>
                <a:lnTo>
                  <a:pt x="342100" y="65837"/>
                </a:lnTo>
                <a:lnTo>
                  <a:pt x="287579" y="65837"/>
                </a:lnTo>
                <a:close/>
                <a:moveTo>
                  <a:pt x="359474" y="0"/>
                </a:moveTo>
                <a:lnTo>
                  <a:pt x="413995" y="0"/>
                </a:lnTo>
                <a:lnTo>
                  <a:pt x="413995" y="65837"/>
                </a:lnTo>
                <a:lnTo>
                  <a:pt x="359474" y="65837"/>
                </a:lnTo>
                <a:close/>
                <a:moveTo>
                  <a:pt x="431368" y="0"/>
                </a:moveTo>
                <a:lnTo>
                  <a:pt x="485889" y="0"/>
                </a:lnTo>
                <a:lnTo>
                  <a:pt x="485889" y="65837"/>
                </a:lnTo>
                <a:lnTo>
                  <a:pt x="431368" y="65837"/>
                </a:lnTo>
                <a:close/>
                <a:moveTo>
                  <a:pt x="503263" y="0"/>
                </a:moveTo>
                <a:lnTo>
                  <a:pt x="557784" y="0"/>
                </a:lnTo>
                <a:lnTo>
                  <a:pt x="557784" y="65837"/>
                </a:lnTo>
                <a:lnTo>
                  <a:pt x="503263" y="65837"/>
                </a:lnTo>
                <a:close/>
                <a:moveTo>
                  <a:pt x="575158" y="0"/>
                </a:moveTo>
                <a:lnTo>
                  <a:pt x="629679" y="0"/>
                </a:lnTo>
                <a:lnTo>
                  <a:pt x="629679" y="65837"/>
                </a:lnTo>
                <a:lnTo>
                  <a:pt x="575158" y="65837"/>
                </a:lnTo>
                <a:close/>
                <a:moveTo>
                  <a:pt x="647052" y="0"/>
                </a:moveTo>
                <a:lnTo>
                  <a:pt x="701573" y="0"/>
                </a:lnTo>
                <a:lnTo>
                  <a:pt x="701573" y="65837"/>
                </a:lnTo>
                <a:lnTo>
                  <a:pt x="647052" y="65837"/>
                </a:lnTo>
                <a:close/>
                <a:moveTo>
                  <a:pt x="718947" y="0"/>
                </a:moveTo>
                <a:lnTo>
                  <a:pt x="773468" y="0"/>
                </a:lnTo>
                <a:lnTo>
                  <a:pt x="773468" y="65837"/>
                </a:lnTo>
                <a:lnTo>
                  <a:pt x="718947" y="65837"/>
                </a:lnTo>
                <a:close/>
                <a:moveTo>
                  <a:pt x="790842" y="0"/>
                </a:moveTo>
                <a:lnTo>
                  <a:pt x="845363" y="0"/>
                </a:lnTo>
                <a:lnTo>
                  <a:pt x="845363" y="65837"/>
                </a:lnTo>
                <a:lnTo>
                  <a:pt x="790842" y="65837"/>
                </a:lnTo>
                <a:close/>
                <a:moveTo>
                  <a:pt x="862736" y="0"/>
                </a:moveTo>
                <a:lnTo>
                  <a:pt x="917258" y="0"/>
                </a:lnTo>
                <a:lnTo>
                  <a:pt x="917258" y="65837"/>
                </a:lnTo>
                <a:lnTo>
                  <a:pt x="862736" y="65837"/>
                </a:lnTo>
                <a:close/>
                <a:moveTo>
                  <a:pt x="934631" y="0"/>
                </a:moveTo>
                <a:lnTo>
                  <a:pt x="989152" y="0"/>
                </a:lnTo>
                <a:lnTo>
                  <a:pt x="989152" y="65837"/>
                </a:lnTo>
                <a:lnTo>
                  <a:pt x="934631" y="65837"/>
                </a:lnTo>
                <a:close/>
                <a:moveTo>
                  <a:pt x="1006526" y="0"/>
                </a:moveTo>
                <a:lnTo>
                  <a:pt x="1061047" y="0"/>
                </a:lnTo>
                <a:lnTo>
                  <a:pt x="1061047" y="65837"/>
                </a:lnTo>
                <a:lnTo>
                  <a:pt x="1006526" y="65837"/>
                </a:lnTo>
                <a:close/>
                <a:moveTo>
                  <a:pt x="1078420" y="0"/>
                </a:moveTo>
                <a:lnTo>
                  <a:pt x="1132942" y="0"/>
                </a:lnTo>
                <a:lnTo>
                  <a:pt x="1132942" y="65837"/>
                </a:lnTo>
                <a:lnTo>
                  <a:pt x="1078420" y="65837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lay frame filmstrip perforations 2" descr="Relay frame filmstrip perforations 2"/>
          <p:cNvSpPr/>
          <p:nvPr/>
        </p:nvSpPr>
        <p:spPr>
          <a:xfrm>
            <a:off x="7297826" y="1856232"/>
            <a:ext cx="1132942" cy="65837"/>
          </a:xfrm>
          <a:custGeom>
            <a:avLst/>
            <a:gdLst/>
            <a:ahLst/>
            <a:cxnLst/>
            <a:rect l="0" t="0" r="r" b="b"/>
            <a:pathLst>
              <a:path w="1132942" h="65837">
                <a:moveTo>
                  <a:pt x="0" y="0"/>
                </a:moveTo>
                <a:lnTo>
                  <a:pt x="54521" y="0"/>
                </a:lnTo>
                <a:lnTo>
                  <a:pt x="54521" y="65837"/>
                </a:lnTo>
                <a:lnTo>
                  <a:pt x="0" y="65837"/>
                </a:lnTo>
                <a:close/>
                <a:moveTo>
                  <a:pt x="71895" y="0"/>
                </a:moveTo>
                <a:lnTo>
                  <a:pt x="126416" y="0"/>
                </a:lnTo>
                <a:lnTo>
                  <a:pt x="126416" y="65837"/>
                </a:lnTo>
                <a:lnTo>
                  <a:pt x="71895" y="65837"/>
                </a:lnTo>
                <a:close/>
                <a:moveTo>
                  <a:pt x="143789" y="0"/>
                </a:moveTo>
                <a:lnTo>
                  <a:pt x="198310" y="0"/>
                </a:lnTo>
                <a:lnTo>
                  <a:pt x="198310" y="65837"/>
                </a:lnTo>
                <a:lnTo>
                  <a:pt x="143789" y="65837"/>
                </a:lnTo>
                <a:close/>
                <a:moveTo>
                  <a:pt x="215684" y="0"/>
                </a:moveTo>
                <a:lnTo>
                  <a:pt x="270205" y="0"/>
                </a:lnTo>
                <a:lnTo>
                  <a:pt x="270205" y="65837"/>
                </a:lnTo>
                <a:lnTo>
                  <a:pt x="215684" y="65837"/>
                </a:lnTo>
                <a:close/>
                <a:moveTo>
                  <a:pt x="287579" y="0"/>
                </a:moveTo>
                <a:lnTo>
                  <a:pt x="342100" y="0"/>
                </a:lnTo>
                <a:lnTo>
                  <a:pt x="342100" y="65837"/>
                </a:lnTo>
                <a:lnTo>
                  <a:pt x="287579" y="65837"/>
                </a:lnTo>
                <a:close/>
                <a:moveTo>
                  <a:pt x="359474" y="0"/>
                </a:moveTo>
                <a:lnTo>
                  <a:pt x="413995" y="0"/>
                </a:lnTo>
                <a:lnTo>
                  <a:pt x="413995" y="65837"/>
                </a:lnTo>
                <a:lnTo>
                  <a:pt x="359474" y="65837"/>
                </a:lnTo>
                <a:close/>
                <a:moveTo>
                  <a:pt x="431368" y="0"/>
                </a:moveTo>
                <a:lnTo>
                  <a:pt x="485889" y="0"/>
                </a:lnTo>
                <a:lnTo>
                  <a:pt x="485889" y="65837"/>
                </a:lnTo>
                <a:lnTo>
                  <a:pt x="431368" y="65837"/>
                </a:lnTo>
                <a:close/>
                <a:moveTo>
                  <a:pt x="503263" y="0"/>
                </a:moveTo>
                <a:lnTo>
                  <a:pt x="557784" y="0"/>
                </a:lnTo>
                <a:lnTo>
                  <a:pt x="557784" y="65837"/>
                </a:lnTo>
                <a:lnTo>
                  <a:pt x="503263" y="65837"/>
                </a:lnTo>
                <a:close/>
                <a:moveTo>
                  <a:pt x="575158" y="0"/>
                </a:moveTo>
                <a:lnTo>
                  <a:pt x="629679" y="0"/>
                </a:lnTo>
                <a:lnTo>
                  <a:pt x="629679" y="65837"/>
                </a:lnTo>
                <a:lnTo>
                  <a:pt x="575158" y="65837"/>
                </a:lnTo>
                <a:close/>
                <a:moveTo>
                  <a:pt x="647052" y="0"/>
                </a:moveTo>
                <a:lnTo>
                  <a:pt x="701573" y="0"/>
                </a:lnTo>
                <a:lnTo>
                  <a:pt x="701573" y="65837"/>
                </a:lnTo>
                <a:lnTo>
                  <a:pt x="647052" y="65837"/>
                </a:lnTo>
                <a:close/>
                <a:moveTo>
                  <a:pt x="718947" y="0"/>
                </a:moveTo>
                <a:lnTo>
                  <a:pt x="773468" y="0"/>
                </a:lnTo>
                <a:lnTo>
                  <a:pt x="773468" y="65837"/>
                </a:lnTo>
                <a:lnTo>
                  <a:pt x="718947" y="65837"/>
                </a:lnTo>
                <a:close/>
                <a:moveTo>
                  <a:pt x="790842" y="0"/>
                </a:moveTo>
                <a:lnTo>
                  <a:pt x="845363" y="0"/>
                </a:lnTo>
                <a:lnTo>
                  <a:pt x="845363" y="65837"/>
                </a:lnTo>
                <a:lnTo>
                  <a:pt x="790842" y="65837"/>
                </a:lnTo>
                <a:close/>
                <a:moveTo>
                  <a:pt x="862736" y="0"/>
                </a:moveTo>
                <a:lnTo>
                  <a:pt x="917258" y="0"/>
                </a:lnTo>
                <a:lnTo>
                  <a:pt x="917258" y="65837"/>
                </a:lnTo>
                <a:lnTo>
                  <a:pt x="862736" y="65837"/>
                </a:lnTo>
                <a:close/>
                <a:moveTo>
                  <a:pt x="934631" y="0"/>
                </a:moveTo>
                <a:lnTo>
                  <a:pt x="989152" y="0"/>
                </a:lnTo>
                <a:lnTo>
                  <a:pt x="989152" y="65837"/>
                </a:lnTo>
                <a:lnTo>
                  <a:pt x="934631" y="65837"/>
                </a:lnTo>
                <a:close/>
                <a:moveTo>
                  <a:pt x="1006526" y="0"/>
                </a:moveTo>
                <a:lnTo>
                  <a:pt x="1061047" y="0"/>
                </a:lnTo>
                <a:lnTo>
                  <a:pt x="1061047" y="65837"/>
                </a:lnTo>
                <a:lnTo>
                  <a:pt x="1006526" y="65837"/>
                </a:lnTo>
                <a:close/>
                <a:moveTo>
                  <a:pt x="1078420" y="0"/>
                </a:moveTo>
                <a:lnTo>
                  <a:pt x="1132942" y="0"/>
                </a:lnTo>
                <a:lnTo>
                  <a:pt x="1132942" y="65837"/>
                </a:lnTo>
                <a:lnTo>
                  <a:pt x="1078420" y="65837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lay frame filmstrip perforations 3" descr="Relay frame filmstrip perforations 3"/>
          <p:cNvSpPr/>
          <p:nvPr/>
        </p:nvSpPr>
        <p:spPr>
          <a:xfrm>
            <a:off x="7297826" y="2834640"/>
            <a:ext cx="1132942" cy="65837"/>
          </a:xfrm>
          <a:custGeom>
            <a:avLst/>
            <a:gdLst/>
            <a:ahLst/>
            <a:cxnLst/>
            <a:rect l="0" t="0" r="r" b="b"/>
            <a:pathLst>
              <a:path w="1132942" h="65837">
                <a:moveTo>
                  <a:pt x="0" y="0"/>
                </a:moveTo>
                <a:lnTo>
                  <a:pt x="54521" y="0"/>
                </a:lnTo>
                <a:lnTo>
                  <a:pt x="54521" y="65837"/>
                </a:lnTo>
                <a:lnTo>
                  <a:pt x="0" y="65837"/>
                </a:lnTo>
                <a:close/>
                <a:moveTo>
                  <a:pt x="71895" y="0"/>
                </a:moveTo>
                <a:lnTo>
                  <a:pt x="126416" y="0"/>
                </a:lnTo>
                <a:lnTo>
                  <a:pt x="126416" y="65837"/>
                </a:lnTo>
                <a:lnTo>
                  <a:pt x="71895" y="65837"/>
                </a:lnTo>
                <a:close/>
                <a:moveTo>
                  <a:pt x="143789" y="0"/>
                </a:moveTo>
                <a:lnTo>
                  <a:pt x="198310" y="0"/>
                </a:lnTo>
                <a:lnTo>
                  <a:pt x="198310" y="65837"/>
                </a:lnTo>
                <a:lnTo>
                  <a:pt x="143789" y="65837"/>
                </a:lnTo>
                <a:close/>
                <a:moveTo>
                  <a:pt x="215684" y="0"/>
                </a:moveTo>
                <a:lnTo>
                  <a:pt x="270205" y="0"/>
                </a:lnTo>
                <a:lnTo>
                  <a:pt x="270205" y="65837"/>
                </a:lnTo>
                <a:lnTo>
                  <a:pt x="215684" y="65837"/>
                </a:lnTo>
                <a:close/>
                <a:moveTo>
                  <a:pt x="287579" y="0"/>
                </a:moveTo>
                <a:lnTo>
                  <a:pt x="342100" y="0"/>
                </a:lnTo>
                <a:lnTo>
                  <a:pt x="342100" y="65837"/>
                </a:lnTo>
                <a:lnTo>
                  <a:pt x="287579" y="65837"/>
                </a:lnTo>
                <a:close/>
                <a:moveTo>
                  <a:pt x="359474" y="0"/>
                </a:moveTo>
                <a:lnTo>
                  <a:pt x="413995" y="0"/>
                </a:lnTo>
                <a:lnTo>
                  <a:pt x="413995" y="65837"/>
                </a:lnTo>
                <a:lnTo>
                  <a:pt x="359474" y="65837"/>
                </a:lnTo>
                <a:close/>
                <a:moveTo>
                  <a:pt x="431368" y="0"/>
                </a:moveTo>
                <a:lnTo>
                  <a:pt x="485889" y="0"/>
                </a:lnTo>
                <a:lnTo>
                  <a:pt x="485889" y="65837"/>
                </a:lnTo>
                <a:lnTo>
                  <a:pt x="431368" y="65837"/>
                </a:lnTo>
                <a:close/>
                <a:moveTo>
                  <a:pt x="503263" y="0"/>
                </a:moveTo>
                <a:lnTo>
                  <a:pt x="557784" y="0"/>
                </a:lnTo>
                <a:lnTo>
                  <a:pt x="557784" y="65837"/>
                </a:lnTo>
                <a:lnTo>
                  <a:pt x="503263" y="65837"/>
                </a:lnTo>
                <a:close/>
                <a:moveTo>
                  <a:pt x="575158" y="0"/>
                </a:moveTo>
                <a:lnTo>
                  <a:pt x="629679" y="0"/>
                </a:lnTo>
                <a:lnTo>
                  <a:pt x="629679" y="65837"/>
                </a:lnTo>
                <a:lnTo>
                  <a:pt x="575158" y="65837"/>
                </a:lnTo>
                <a:close/>
                <a:moveTo>
                  <a:pt x="647052" y="0"/>
                </a:moveTo>
                <a:lnTo>
                  <a:pt x="701573" y="0"/>
                </a:lnTo>
                <a:lnTo>
                  <a:pt x="701573" y="65837"/>
                </a:lnTo>
                <a:lnTo>
                  <a:pt x="647052" y="65837"/>
                </a:lnTo>
                <a:close/>
                <a:moveTo>
                  <a:pt x="718947" y="0"/>
                </a:moveTo>
                <a:lnTo>
                  <a:pt x="773468" y="0"/>
                </a:lnTo>
                <a:lnTo>
                  <a:pt x="773468" y="65837"/>
                </a:lnTo>
                <a:lnTo>
                  <a:pt x="718947" y="65837"/>
                </a:lnTo>
                <a:close/>
                <a:moveTo>
                  <a:pt x="790842" y="0"/>
                </a:moveTo>
                <a:lnTo>
                  <a:pt x="845363" y="0"/>
                </a:lnTo>
                <a:lnTo>
                  <a:pt x="845363" y="65837"/>
                </a:lnTo>
                <a:lnTo>
                  <a:pt x="790842" y="65837"/>
                </a:lnTo>
                <a:close/>
                <a:moveTo>
                  <a:pt x="862736" y="0"/>
                </a:moveTo>
                <a:lnTo>
                  <a:pt x="917258" y="0"/>
                </a:lnTo>
                <a:lnTo>
                  <a:pt x="917258" y="65837"/>
                </a:lnTo>
                <a:lnTo>
                  <a:pt x="862736" y="65837"/>
                </a:lnTo>
                <a:close/>
                <a:moveTo>
                  <a:pt x="934631" y="0"/>
                </a:moveTo>
                <a:lnTo>
                  <a:pt x="989152" y="0"/>
                </a:lnTo>
                <a:lnTo>
                  <a:pt x="989152" y="65837"/>
                </a:lnTo>
                <a:lnTo>
                  <a:pt x="934631" y="65837"/>
                </a:lnTo>
                <a:close/>
                <a:moveTo>
                  <a:pt x="1006526" y="0"/>
                </a:moveTo>
                <a:lnTo>
                  <a:pt x="1061047" y="0"/>
                </a:lnTo>
                <a:lnTo>
                  <a:pt x="1061047" y="65837"/>
                </a:lnTo>
                <a:lnTo>
                  <a:pt x="1006526" y="65837"/>
                </a:lnTo>
                <a:close/>
                <a:moveTo>
                  <a:pt x="1078420" y="0"/>
                </a:moveTo>
                <a:lnTo>
                  <a:pt x="1132942" y="0"/>
                </a:lnTo>
                <a:lnTo>
                  <a:pt x="1132942" y="65837"/>
                </a:lnTo>
                <a:lnTo>
                  <a:pt x="1078420" y="65837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lay frame filmstrip perforations 4" descr="Relay frame filmstrip perforations 4"/>
          <p:cNvSpPr/>
          <p:nvPr/>
        </p:nvSpPr>
        <p:spPr>
          <a:xfrm>
            <a:off x="7297826" y="3794760"/>
            <a:ext cx="1132942" cy="65837"/>
          </a:xfrm>
          <a:custGeom>
            <a:avLst/>
            <a:gdLst/>
            <a:ahLst/>
            <a:cxnLst/>
            <a:rect l="0" t="0" r="r" b="b"/>
            <a:pathLst>
              <a:path w="1132942" h="65837">
                <a:moveTo>
                  <a:pt x="0" y="0"/>
                </a:moveTo>
                <a:lnTo>
                  <a:pt x="54521" y="0"/>
                </a:lnTo>
                <a:lnTo>
                  <a:pt x="54521" y="65837"/>
                </a:lnTo>
                <a:lnTo>
                  <a:pt x="0" y="65837"/>
                </a:lnTo>
                <a:close/>
                <a:moveTo>
                  <a:pt x="71895" y="0"/>
                </a:moveTo>
                <a:lnTo>
                  <a:pt x="126416" y="0"/>
                </a:lnTo>
                <a:lnTo>
                  <a:pt x="126416" y="65837"/>
                </a:lnTo>
                <a:lnTo>
                  <a:pt x="71895" y="65837"/>
                </a:lnTo>
                <a:close/>
                <a:moveTo>
                  <a:pt x="143789" y="0"/>
                </a:moveTo>
                <a:lnTo>
                  <a:pt x="198310" y="0"/>
                </a:lnTo>
                <a:lnTo>
                  <a:pt x="198310" y="65837"/>
                </a:lnTo>
                <a:lnTo>
                  <a:pt x="143789" y="65837"/>
                </a:lnTo>
                <a:close/>
                <a:moveTo>
                  <a:pt x="215684" y="0"/>
                </a:moveTo>
                <a:lnTo>
                  <a:pt x="270205" y="0"/>
                </a:lnTo>
                <a:lnTo>
                  <a:pt x="270205" y="65837"/>
                </a:lnTo>
                <a:lnTo>
                  <a:pt x="215684" y="65837"/>
                </a:lnTo>
                <a:close/>
                <a:moveTo>
                  <a:pt x="287579" y="0"/>
                </a:moveTo>
                <a:lnTo>
                  <a:pt x="342100" y="0"/>
                </a:lnTo>
                <a:lnTo>
                  <a:pt x="342100" y="65837"/>
                </a:lnTo>
                <a:lnTo>
                  <a:pt x="287579" y="65837"/>
                </a:lnTo>
                <a:close/>
                <a:moveTo>
                  <a:pt x="359474" y="0"/>
                </a:moveTo>
                <a:lnTo>
                  <a:pt x="413995" y="0"/>
                </a:lnTo>
                <a:lnTo>
                  <a:pt x="413995" y="65837"/>
                </a:lnTo>
                <a:lnTo>
                  <a:pt x="359474" y="65837"/>
                </a:lnTo>
                <a:close/>
                <a:moveTo>
                  <a:pt x="431368" y="0"/>
                </a:moveTo>
                <a:lnTo>
                  <a:pt x="485889" y="0"/>
                </a:lnTo>
                <a:lnTo>
                  <a:pt x="485889" y="65837"/>
                </a:lnTo>
                <a:lnTo>
                  <a:pt x="431368" y="65837"/>
                </a:lnTo>
                <a:close/>
                <a:moveTo>
                  <a:pt x="503263" y="0"/>
                </a:moveTo>
                <a:lnTo>
                  <a:pt x="557784" y="0"/>
                </a:lnTo>
                <a:lnTo>
                  <a:pt x="557784" y="65837"/>
                </a:lnTo>
                <a:lnTo>
                  <a:pt x="503263" y="65837"/>
                </a:lnTo>
                <a:close/>
                <a:moveTo>
                  <a:pt x="575158" y="0"/>
                </a:moveTo>
                <a:lnTo>
                  <a:pt x="629679" y="0"/>
                </a:lnTo>
                <a:lnTo>
                  <a:pt x="629679" y="65837"/>
                </a:lnTo>
                <a:lnTo>
                  <a:pt x="575158" y="65837"/>
                </a:lnTo>
                <a:close/>
                <a:moveTo>
                  <a:pt x="647052" y="0"/>
                </a:moveTo>
                <a:lnTo>
                  <a:pt x="701573" y="0"/>
                </a:lnTo>
                <a:lnTo>
                  <a:pt x="701573" y="65837"/>
                </a:lnTo>
                <a:lnTo>
                  <a:pt x="647052" y="65837"/>
                </a:lnTo>
                <a:close/>
                <a:moveTo>
                  <a:pt x="718947" y="0"/>
                </a:moveTo>
                <a:lnTo>
                  <a:pt x="773468" y="0"/>
                </a:lnTo>
                <a:lnTo>
                  <a:pt x="773468" y="65837"/>
                </a:lnTo>
                <a:lnTo>
                  <a:pt x="718947" y="65837"/>
                </a:lnTo>
                <a:close/>
                <a:moveTo>
                  <a:pt x="790842" y="0"/>
                </a:moveTo>
                <a:lnTo>
                  <a:pt x="845363" y="0"/>
                </a:lnTo>
                <a:lnTo>
                  <a:pt x="845363" y="65837"/>
                </a:lnTo>
                <a:lnTo>
                  <a:pt x="790842" y="65837"/>
                </a:lnTo>
                <a:close/>
                <a:moveTo>
                  <a:pt x="862736" y="0"/>
                </a:moveTo>
                <a:lnTo>
                  <a:pt x="917258" y="0"/>
                </a:lnTo>
                <a:lnTo>
                  <a:pt x="917258" y="65837"/>
                </a:lnTo>
                <a:lnTo>
                  <a:pt x="862736" y="65837"/>
                </a:lnTo>
                <a:close/>
                <a:moveTo>
                  <a:pt x="934631" y="0"/>
                </a:moveTo>
                <a:lnTo>
                  <a:pt x="989152" y="0"/>
                </a:lnTo>
                <a:lnTo>
                  <a:pt x="989152" y="65837"/>
                </a:lnTo>
                <a:lnTo>
                  <a:pt x="934631" y="65837"/>
                </a:lnTo>
                <a:close/>
                <a:moveTo>
                  <a:pt x="1006526" y="0"/>
                </a:moveTo>
                <a:lnTo>
                  <a:pt x="1061047" y="0"/>
                </a:lnTo>
                <a:lnTo>
                  <a:pt x="1061047" y="65837"/>
                </a:lnTo>
                <a:lnTo>
                  <a:pt x="1006526" y="65837"/>
                </a:lnTo>
                <a:close/>
                <a:moveTo>
                  <a:pt x="1078420" y="0"/>
                </a:moveTo>
                <a:lnTo>
                  <a:pt x="1132942" y="0"/>
                </a:lnTo>
                <a:lnTo>
                  <a:pt x="1132942" y="65837"/>
                </a:lnTo>
                <a:lnTo>
                  <a:pt x="1078420" y="65837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lay frame filmstrip perforations 5" descr="Relay frame filmstrip perforations 5"/>
          <p:cNvSpPr/>
          <p:nvPr/>
        </p:nvSpPr>
        <p:spPr>
          <a:xfrm>
            <a:off x="7297826" y="4773168"/>
            <a:ext cx="1132942" cy="65837"/>
          </a:xfrm>
          <a:custGeom>
            <a:avLst/>
            <a:gdLst/>
            <a:ahLst/>
            <a:cxnLst/>
            <a:rect l="0" t="0" r="r" b="b"/>
            <a:pathLst>
              <a:path w="1132942" h="65837">
                <a:moveTo>
                  <a:pt x="0" y="0"/>
                </a:moveTo>
                <a:lnTo>
                  <a:pt x="54521" y="0"/>
                </a:lnTo>
                <a:lnTo>
                  <a:pt x="54521" y="65837"/>
                </a:lnTo>
                <a:lnTo>
                  <a:pt x="0" y="65837"/>
                </a:lnTo>
                <a:close/>
                <a:moveTo>
                  <a:pt x="71895" y="0"/>
                </a:moveTo>
                <a:lnTo>
                  <a:pt x="126416" y="0"/>
                </a:lnTo>
                <a:lnTo>
                  <a:pt x="126416" y="65837"/>
                </a:lnTo>
                <a:lnTo>
                  <a:pt x="71895" y="65837"/>
                </a:lnTo>
                <a:close/>
                <a:moveTo>
                  <a:pt x="143789" y="0"/>
                </a:moveTo>
                <a:lnTo>
                  <a:pt x="198310" y="0"/>
                </a:lnTo>
                <a:lnTo>
                  <a:pt x="198310" y="65837"/>
                </a:lnTo>
                <a:lnTo>
                  <a:pt x="143789" y="65837"/>
                </a:lnTo>
                <a:close/>
                <a:moveTo>
                  <a:pt x="215684" y="0"/>
                </a:moveTo>
                <a:lnTo>
                  <a:pt x="270205" y="0"/>
                </a:lnTo>
                <a:lnTo>
                  <a:pt x="270205" y="65837"/>
                </a:lnTo>
                <a:lnTo>
                  <a:pt x="215684" y="65837"/>
                </a:lnTo>
                <a:close/>
                <a:moveTo>
                  <a:pt x="287579" y="0"/>
                </a:moveTo>
                <a:lnTo>
                  <a:pt x="342100" y="0"/>
                </a:lnTo>
                <a:lnTo>
                  <a:pt x="342100" y="65837"/>
                </a:lnTo>
                <a:lnTo>
                  <a:pt x="287579" y="65837"/>
                </a:lnTo>
                <a:close/>
                <a:moveTo>
                  <a:pt x="359474" y="0"/>
                </a:moveTo>
                <a:lnTo>
                  <a:pt x="413995" y="0"/>
                </a:lnTo>
                <a:lnTo>
                  <a:pt x="413995" y="65837"/>
                </a:lnTo>
                <a:lnTo>
                  <a:pt x="359474" y="65837"/>
                </a:lnTo>
                <a:close/>
                <a:moveTo>
                  <a:pt x="431368" y="0"/>
                </a:moveTo>
                <a:lnTo>
                  <a:pt x="485889" y="0"/>
                </a:lnTo>
                <a:lnTo>
                  <a:pt x="485889" y="65837"/>
                </a:lnTo>
                <a:lnTo>
                  <a:pt x="431368" y="65837"/>
                </a:lnTo>
                <a:close/>
                <a:moveTo>
                  <a:pt x="503263" y="0"/>
                </a:moveTo>
                <a:lnTo>
                  <a:pt x="557784" y="0"/>
                </a:lnTo>
                <a:lnTo>
                  <a:pt x="557784" y="65837"/>
                </a:lnTo>
                <a:lnTo>
                  <a:pt x="503263" y="65837"/>
                </a:lnTo>
                <a:close/>
                <a:moveTo>
                  <a:pt x="575158" y="0"/>
                </a:moveTo>
                <a:lnTo>
                  <a:pt x="629679" y="0"/>
                </a:lnTo>
                <a:lnTo>
                  <a:pt x="629679" y="65837"/>
                </a:lnTo>
                <a:lnTo>
                  <a:pt x="575158" y="65837"/>
                </a:lnTo>
                <a:close/>
                <a:moveTo>
                  <a:pt x="647052" y="0"/>
                </a:moveTo>
                <a:lnTo>
                  <a:pt x="701573" y="0"/>
                </a:lnTo>
                <a:lnTo>
                  <a:pt x="701573" y="65837"/>
                </a:lnTo>
                <a:lnTo>
                  <a:pt x="647052" y="65837"/>
                </a:lnTo>
                <a:close/>
                <a:moveTo>
                  <a:pt x="718947" y="0"/>
                </a:moveTo>
                <a:lnTo>
                  <a:pt x="773468" y="0"/>
                </a:lnTo>
                <a:lnTo>
                  <a:pt x="773468" y="65837"/>
                </a:lnTo>
                <a:lnTo>
                  <a:pt x="718947" y="65837"/>
                </a:lnTo>
                <a:close/>
                <a:moveTo>
                  <a:pt x="790842" y="0"/>
                </a:moveTo>
                <a:lnTo>
                  <a:pt x="845363" y="0"/>
                </a:lnTo>
                <a:lnTo>
                  <a:pt x="845363" y="65837"/>
                </a:lnTo>
                <a:lnTo>
                  <a:pt x="790842" y="65837"/>
                </a:lnTo>
                <a:close/>
                <a:moveTo>
                  <a:pt x="862736" y="0"/>
                </a:moveTo>
                <a:lnTo>
                  <a:pt x="917258" y="0"/>
                </a:lnTo>
                <a:lnTo>
                  <a:pt x="917258" y="65837"/>
                </a:lnTo>
                <a:lnTo>
                  <a:pt x="862736" y="65837"/>
                </a:lnTo>
                <a:close/>
                <a:moveTo>
                  <a:pt x="934631" y="0"/>
                </a:moveTo>
                <a:lnTo>
                  <a:pt x="989152" y="0"/>
                </a:lnTo>
                <a:lnTo>
                  <a:pt x="989152" y="65837"/>
                </a:lnTo>
                <a:lnTo>
                  <a:pt x="934631" y="65837"/>
                </a:lnTo>
                <a:close/>
                <a:moveTo>
                  <a:pt x="1006526" y="0"/>
                </a:moveTo>
                <a:lnTo>
                  <a:pt x="1061047" y="0"/>
                </a:lnTo>
                <a:lnTo>
                  <a:pt x="1061047" y="65837"/>
                </a:lnTo>
                <a:lnTo>
                  <a:pt x="1006526" y="65837"/>
                </a:lnTo>
                <a:close/>
                <a:moveTo>
                  <a:pt x="1078420" y="0"/>
                </a:moveTo>
                <a:lnTo>
                  <a:pt x="1132942" y="0"/>
                </a:lnTo>
                <a:lnTo>
                  <a:pt x="1132942" y="65837"/>
                </a:lnTo>
                <a:lnTo>
                  <a:pt x="1078420" y="65837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Relay frame filmstrip photo 1" descr="Relay frame filmstrip photo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2632" y="987552"/>
            <a:ext cx="1069848" cy="832104"/>
          </a:xfrm>
          <a:prstGeom prst="roundRect">
            <a:avLst>
              <a:gd name="adj" fmla="val 2197"/>
            </a:avLst>
          </a:prstGeom>
        </p:spPr>
      </p:pic>
      <p:sp>
        <p:nvSpPr>
          <p:cNvPr id="163" name="Relay frame filmstrip frame 1" descr="Relay frame filmstrip frame 1"/>
          <p:cNvSpPr/>
          <p:nvPr/>
        </p:nvSpPr>
        <p:spPr>
          <a:xfrm>
            <a:off x="7336231" y="981151"/>
            <a:ext cx="1082650" cy="844906"/>
          </a:xfrm>
          <a:prstGeom prst="roundRect">
            <a:avLst>
              <a:gd name="adj" fmla="val 1731"/>
            </a:avLst>
          </a:prstGeom>
          <a:noFill/>
          <a:ln w="246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Relay frame filmstrip photo 2" descr="Relay frame filmstrip photo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632" y="1965960"/>
            <a:ext cx="1069848" cy="841248"/>
          </a:xfrm>
          <a:prstGeom prst="roundRect">
            <a:avLst>
              <a:gd name="adj" fmla="val 2173"/>
            </a:avLst>
          </a:prstGeom>
        </p:spPr>
      </p:pic>
      <p:pic>
        <p:nvPicPr>
          <p:cNvPr id="165" name="Relay frame filmstrip photo 3" descr="Relay frame filmstrip photo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2632" y="2916936"/>
            <a:ext cx="1069848" cy="841248"/>
          </a:xfrm>
          <a:prstGeom prst="roundRect">
            <a:avLst>
              <a:gd name="adj" fmla="val 2173"/>
            </a:avLst>
          </a:prstGeom>
        </p:spPr>
      </p:pic>
      <p:pic>
        <p:nvPicPr>
          <p:cNvPr id="166" name="Relay frame filmstrip photo 4" descr="Relay frame filmstrip photo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2632" y="3904488"/>
            <a:ext cx="1069848" cy="832104"/>
          </a:xfrm>
          <a:prstGeom prst="roundRect">
            <a:avLst>
              <a:gd name="adj" fmla="val 2197"/>
            </a:avLst>
          </a:prstGeom>
        </p:spPr>
      </p:pic>
      <p:sp>
        <p:nvSpPr>
          <p:cNvPr id="167" name="Relay frame filmstrip frame 4" descr="Relay frame filmstrip frame 4"/>
          <p:cNvSpPr/>
          <p:nvPr/>
        </p:nvSpPr>
        <p:spPr>
          <a:xfrm>
            <a:off x="7336231" y="3898087"/>
            <a:ext cx="1082650" cy="844906"/>
          </a:xfrm>
          <a:prstGeom prst="roundRect">
            <a:avLst>
              <a:gd name="adj" fmla="val 1731"/>
            </a:avLst>
          </a:prstGeom>
          <a:noFill/>
          <a:ln w="246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lay frame caption" descr="Relay frame caption"/>
          <p:cNvSpPr txBox="1"/>
          <p:nvPr/>
        </p:nvSpPr>
        <p:spPr>
          <a:xfrm>
            <a:off x="6893844" y="4937760"/>
            <a:ext cx="1994855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Relay Frame</a:t>
            </a:r>
          </a:p>
        </p:txBody>
      </p:sp>
      <p:sp>
        <p:nvSpPr>
          <p:cNvPr id="169" name="Hybrid video filmstrip black film" descr="Hybrid video filmstrip black film"/>
          <p:cNvSpPr/>
          <p:nvPr/>
        </p:nvSpPr>
        <p:spPr>
          <a:xfrm>
            <a:off x="11045952" y="850392"/>
            <a:ext cx="960120" cy="4023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Hybrid video filmstrip perforations 1" descr="Hybrid video filmstrip perforations 1"/>
          <p:cNvSpPr/>
          <p:nvPr/>
        </p:nvSpPr>
        <p:spPr>
          <a:xfrm>
            <a:off x="11065154" y="859536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Hybrid video filmstrip perforations 2" descr="Hybrid video filmstrip perforations 2"/>
          <p:cNvSpPr/>
          <p:nvPr/>
        </p:nvSpPr>
        <p:spPr>
          <a:xfrm>
            <a:off x="11065154" y="1499616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Hybrid video filmstrip perforations 3" descr="Hybrid video filmstrip perforations 3"/>
          <p:cNvSpPr/>
          <p:nvPr/>
        </p:nvSpPr>
        <p:spPr>
          <a:xfrm>
            <a:off x="11065154" y="2130552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Hybrid video filmstrip perforations 4" descr="Hybrid video filmstrip perforations 4"/>
          <p:cNvSpPr/>
          <p:nvPr/>
        </p:nvSpPr>
        <p:spPr>
          <a:xfrm>
            <a:off x="11065154" y="2761488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Hybrid video filmstrip perforations 5" descr="Hybrid video filmstrip perforations 5"/>
          <p:cNvSpPr/>
          <p:nvPr/>
        </p:nvSpPr>
        <p:spPr>
          <a:xfrm>
            <a:off x="11065154" y="2953512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Hybrid video filmstrip perforations 6" descr="Hybrid video filmstrip perforations 6"/>
          <p:cNvSpPr/>
          <p:nvPr/>
        </p:nvSpPr>
        <p:spPr>
          <a:xfrm>
            <a:off x="11065154" y="3584448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Hybrid video filmstrip perforations 7" descr="Hybrid video filmstrip perforations 7"/>
          <p:cNvSpPr/>
          <p:nvPr/>
        </p:nvSpPr>
        <p:spPr>
          <a:xfrm>
            <a:off x="11065154" y="4187952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Hybrid video filmstrip perforations 8" descr="Hybrid video filmstrip perforations 8"/>
          <p:cNvSpPr/>
          <p:nvPr/>
        </p:nvSpPr>
        <p:spPr>
          <a:xfrm>
            <a:off x="11065154" y="4818888"/>
            <a:ext cx="904342" cy="49378"/>
          </a:xfrm>
          <a:custGeom>
            <a:avLst/>
            <a:gdLst/>
            <a:ahLst/>
            <a:cxnLst/>
            <a:rect l="0" t="0" r="r" b="b"/>
            <a:pathLst>
              <a:path w="904342" h="49378">
                <a:moveTo>
                  <a:pt x="0" y="0"/>
                </a:moveTo>
                <a:lnTo>
                  <a:pt x="44074" y="0"/>
                </a:lnTo>
                <a:lnTo>
                  <a:pt x="44074" y="49378"/>
                </a:lnTo>
                <a:lnTo>
                  <a:pt x="0" y="49378"/>
                </a:lnTo>
                <a:close/>
                <a:moveTo>
                  <a:pt x="61448" y="0"/>
                </a:moveTo>
                <a:lnTo>
                  <a:pt x="105522" y="0"/>
                </a:lnTo>
                <a:lnTo>
                  <a:pt x="105522" y="49378"/>
                </a:lnTo>
                <a:lnTo>
                  <a:pt x="61448" y="49378"/>
                </a:lnTo>
                <a:close/>
                <a:moveTo>
                  <a:pt x="122895" y="0"/>
                </a:moveTo>
                <a:lnTo>
                  <a:pt x="166969" y="0"/>
                </a:lnTo>
                <a:lnTo>
                  <a:pt x="166969" y="49378"/>
                </a:lnTo>
                <a:lnTo>
                  <a:pt x="122895" y="49378"/>
                </a:lnTo>
                <a:close/>
                <a:moveTo>
                  <a:pt x="184343" y="0"/>
                </a:moveTo>
                <a:lnTo>
                  <a:pt x="228417" y="0"/>
                </a:lnTo>
                <a:lnTo>
                  <a:pt x="228417" y="49378"/>
                </a:lnTo>
                <a:lnTo>
                  <a:pt x="184343" y="49378"/>
                </a:lnTo>
                <a:close/>
                <a:moveTo>
                  <a:pt x="245791" y="0"/>
                </a:moveTo>
                <a:lnTo>
                  <a:pt x="289865" y="0"/>
                </a:lnTo>
                <a:lnTo>
                  <a:pt x="289865" y="49378"/>
                </a:lnTo>
                <a:lnTo>
                  <a:pt x="245791" y="49378"/>
                </a:lnTo>
                <a:close/>
                <a:moveTo>
                  <a:pt x="307238" y="0"/>
                </a:moveTo>
                <a:lnTo>
                  <a:pt x="351312" y="0"/>
                </a:lnTo>
                <a:lnTo>
                  <a:pt x="351312" y="49378"/>
                </a:lnTo>
                <a:lnTo>
                  <a:pt x="307238" y="49378"/>
                </a:lnTo>
                <a:close/>
                <a:moveTo>
                  <a:pt x="368686" y="0"/>
                </a:moveTo>
                <a:lnTo>
                  <a:pt x="412760" y="0"/>
                </a:lnTo>
                <a:lnTo>
                  <a:pt x="412760" y="49378"/>
                </a:lnTo>
                <a:lnTo>
                  <a:pt x="368686" y="49378"/>
                </a:lnTo>
                <a:close/>
                <a:moveTo>
                  <a:pt x="430134" y="0"/>
                </a:moveTo>
                <a:lnTo>
                  <a:pt x="474208" y="0"/>
                </a:lnTo>
                <a:lnTo>
                  <a:pt x="474208" y="49378"/>
                </a:lnTo>
                <a:lnTo>
                  <a:pt x="430134" y="49378"/>
                </a:lnTo>
                <a:close/>
                <a:moveTo>
                  <a:pt x="491581" y="0"/>
                </a:moveTo>
                <a:lnTo>
                  <a:pt x="535656" y="0"/>
                </a:lnTo>
                <a:lnTo>
                  <a:pt x="535656" y="49378"/>
                </a:lnTo>
                <a:lnTo>
                  <a:pt x="491581" y="49378"/>
                </a:lnTo>
                <a:close/>
                <a:moveTo>
                  <a:pt x="553029" y="0"/>
                </a:moveTo>
                <a:lnTo>
                  <a:pt x="597103" y="0"/>
                </a:lnTo>
                <a:lnTo>
                  <a:pt x="597103" y="49378"/>
                </a:lnTo>
                <a:lnTo>
                  <a:pt x="553029" y="49378"/>
                </a:lnTo>
                <a:close/>
                <a:moveTo>
                  <a:pt x="614477" y="0"/>
                </a:moveTo>
                <a:lnTo>
                  <a:pt x="658551" y="0"/>
                </a:lnTo>
                <a:lnTo>
                  <a:pt x="658551" y="49378"/>
                </a:lnTo>
                <a:lnTo>
                  <a:pt x="614477" y="49378"/>
                </a:lnTo>
                <a:close/>
                <a:moveTo>
                  <a:pt x="675924" y="0"/>
                </a:moveTo>
                <a:lnTo>
                  <a:pt x="719999" y="0"/>
                </a:lnTo>
                <a:lnTo>
                  <a:pt x="719999" y="49378"/>
                </a:lnTo>
                <a:lnTo>
                  <a:pt x="675924" y="49378"/>
                </a:lnTo>
                <a:close/>
                <a:moveTo>
                  <a:pt x="737372" y="0"/>
                </a:moveTo>
                <a:lnTo>
                  <a:pt x="781446" y="0"/>
                </a:lnTo>
                <a:lnTo>
                  <a:pt x="781446" y="49378"/>
                </a:lnTo>
                <a:lnTo>
                  <a:pt x="737372" y="49378"/>
                </a:lnTo>
                <a:close/>
                <a:moveTo>
                  <a:pt x="798820" y="0"/>
                </a:moveTo>
                <a:lnTo>
                  <a:pt x="842894" y="0"/>
                </a:lnTo>
                <a:lnTo>
                  <a:pt x="842894" y="49378"/>
                </a:lnTo>
                <a:lnTo>
                  <a:pt x="798820" y="49378"/>
                </a:lnTo>
                <a:close/>
                <a:moveTo>
                  <a:pt x="860268" y="0"/>
                </a:moveTo>
                <a:lnTo>
                  <a:pt x="904342" y="0"/>
                </a:lnTo>
                <a:lnTo>
                  <a:pt x="904342" y="49378"/>
                </a:lnTo>
                <a:lnTo>
                  <a:pt x="860268" y="49378"/>
                </a:lnTo>
                <a:close/>
              </a:path>
            </a:pathLst>
          </a:cu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Hybrid video filmstrip photo 1" descr="Hybrid video filmstrip photo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82528" y="932688"/>
            <a:ext cx="877824" cy="530352"/>
          </a:xfrm>
          <a:prstGeom prst="roundRect">
            <a:avLst>
              <a:gd name="adj" fmla="val 3448"/>
            </a:avLst>
          </a:prstGeom>
        </p:spPr>
      </p:pic>
      <p:sp>
        <p:nvSpPr>
          <p:cNvPr id="179" name="Hybrid video filmstrip frame 1" descr="Hybrid video filmstrip frame 1"/>
          <p:cNvSpPr/>
          <p:nvPr/>
        </p:nvSpPr>
        <p:spPr>
          <a:xfrm>
            <a:off x="11076127" y="926287"/>
            <a:ext cx="890626" cy="543154"/>
          </a:xfrm>
          <a:prstGeom prst="roundRect">
            <a:avLst>
              <a:gd name="adj" fmla="val 2693"/>
            </a:avLst>
          </a:prstGeom>
          <a:noFill/>
          <a:ln w="246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Hybrid video filmstrip photo 2" descr="Hybrid video filmstrip photo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82528" y="1572768"/>
            <a:ext cx="877824" cy="530352"/>
          </a:xfrm>
          <a:prstGeom prst="roundRect">
            <a:avLst>
              <a:gd name="adj" fmla="val 3448"/>
            </a:avLst>
          </a:prstGeom>
        </p:spPr>
      </p:pic>
      <p:pic>
        <p:nvPicPr>
          <p:cNvPr id="181" name="Hybrid video filmstrip photo 3" descr="Hybrid video filmstrip photo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82528" y="2203704"/>
            <a:ext cx="877824" cy="521208"/>
          </a:xfrm>
          <a:prstGeom prst="roundRect">
            <a:avLst>
              <a:gd name="adj" fmla="val 3508"/>
            </a:avLst>
          </a:prstGeom>
        </p:spPr>
      </p:pic>
      <p:pic>
        <p:nvPicPr>
          <p:cNvPr id="182" name="Hybrid video filmstrip photo 4" descr="Hybrid video filmstrip photo 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82528" y="3035808"/>
            <a:ext cx="877824" cy="521208"/>
          </a:xfrm>
          <a:prstGeom prst="roundRect">
            <a:avLst>
              <a:gd name="adj" fmla="val 3508"/>
            </a:avLst>
          </a:prstGeom>
        </p:spPr>
      </p:pic>
      <p:pic>
        <p:nvPicPr>
          <p:cNvPr id="183" name="Hybrid video filmstrip photo 5" descr="Hybrid video filmstrip photo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82528" y="3648456"/>
            <a:ext cx="877824" cy="512064"/>
          </a:xfrm>
          <a:prstGeom prst="roundRect">
            <a:avLst>
              <a:gd name="adj" fmla="val 3571"/>
            </a:avLst>
          </a:prstGeom>
        </p:spPr>
      </p:pic>
      <p:pic>
        <p:nvPicPr>
          <p:cNvPr id="184" name="Hybrid video filmstrip photo 6" descr="Hybrid video filmstrip photo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82528" y="4297680"/>
            <a:ext cx="877824" cy="493776"/>
          </a:xfrm>
          <a:prstGeom prst="roundRect">
            <a:avLst>
              <a:gd name="adj" fmla="val 3703"/>
            </a:avLst>
          </a:prstGeom>
        </p:spPr>
      </p:pic>
      <p:sp>
        <p:nvSpPr>
          <p:cNvPr id="185" name="Hybrid video filmstrip frame 6" descr="Hybrid video filmstrip frame 6"/>
          <p:cNvSpPr/>
          <p:nvPr/>
        </p:nvSpPr>
        <p:spPr>
          <a:xfrm>
            <a:off x="11076127" y="4291279"/>
            <a:ext cx="890626" cy="506578"/>
          </a:xfrm>
          <a:prstGeom prst="roundRect">
            <a:avLst>
              <a:gd name="adj" fmla="val 2888"/>
            </a:avLst>
          </a:prstGeom>
          <a:noFill/>
          <a:ln w="246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Hybrid video ellipsis background" descr="Hybrid video ellipsis background"/>
          <p:cNvSpPr/>
          <p:nvPr/>
        </p:nvSpPr>
        <p:spPr>
          <a:xfrm>
            <a:off x="11073384" y="2825496"/>
            <a:ext cx="905256" cy="109728"/>
          </a:xfrm>
          <a:prstGeom prst="rect">
            <a:avLst/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Hybrid video ellipsis" descr="Hybrid video ellipsis"/>
          <p:cNvSpPr txBox="1"/>
          <p:nvPr/>
        </p:nvSpPr>
        <p:spPr>
          <a:xfrm>
            <a:off x="11155680" y="2688336"/>
            <a:ext cx="731520" cy="2924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88" name="Hybrid video caption" descr="Hybrid video caption"/>
          <p:cNvSpPr txBox="1"/>
          <p:nvPr/>
        </p:nvSpPr>
        <p:spPr>
          <a:xfrm>
            <a:off x="10448300" y="4937760"/>
            <a:ext cx="2164568" cy="3261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Video</a:t>
            </a:r>
          </a:p>
        </p:txBody>
      </p:sp>
      <p:pic>
        <p:nvPicPr>
          <p:cNvPr id="189" name="Feature matching start photo" descr="Feature matching start photo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011912" y="877824"/>
            <a:ext cx="1792224" cy="1033272"/>
          </a:xfrm>
          <a:prstGeom prst="rect">
            <a:avLst/>
          </a:prstGeom>
        </p:spPr>
      </p:pic>
      <p:sp>
        <p:nvSpPr>
          <p:cNvPr id="190" name="Feature matching start blue border" descr="Feature matching start blue border"/>
          <p:cNvSpPr/>
          <p:nvPr/>
        </p:nvSpPr>
        <p:spPr>
          <a:xfrm>
            <a:off x="13011912" y="877824"/>
            <a:ext cx="1792224" cy="1033272"/>
          </a:xfrm>
          <a:prstGeom prst="rect">
            <a:avLst/>
          </a:prstGeom>
          <a:noFill/>
          <a:ln w="27432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Feature matching end photo" descr="Feature matching end phot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011912" y="2066544"/>
            <a:ext cx="1792224" cy="1024128"/>
          </a:xfrm>
          <a:prstGeom prst="rect">
            <a:avLst/>
          </a:prstGeom>
        </p:spPr>
      </p:pic>
      <p:sp>
        <p:nvSpPr>
          <p:cNvPr id="192" name="Feature matching end yellow border" descr="Feature matching end yellow border"/>
          <p:cNvSpPr/>
          <p:nvPr/>
        </p:nvSpPr>
        <p:spPr>
          <a:xfrm>
            <a:off x="13011912" y="2066544"/>
            <a:ext cx="1792224" cy="1024128"/>
          </a:xfrm>
          <a:prstGeom prst="rect">
            <a:avLst/>
          </a:prstGeom>
          <a:noFill/>
          <a:ln w="27432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Upper match count shaft" descr="Upper match count shaft"/>
          <p:cNvSpPr/>
          <p:nvPr/>
        </p:nvSpPr>
        <p:spPr>
          <a:xfrm>
            <a:off x="16696944" y="1399032"/>
            <a:ext cx="228600" cy="2093976"/>
          </a:xfrm>
          <a:custGeom>
            <a:avLst/>
            <a:gdLst/>
            <a:ahLst/>
            <a:cxnLst/>
            <a:rect l="0" t="0" r="r" b="b"/>
            <a:pathLst>
              <a:path w="228600" h="2093976">
                <a:moveTo>
                  <a:pt x="0" y="0"/>
                </a:moveTo>
                <a:cubicBezTo>
                  <a:pt x="137160" y="320040"/>
                  <a:pt x="228600" y="1627632"/>
                  <a:pt x="228600" y="2093976"/>
                </a:cubicBezTo>
              </a:path>
            </a:pathLst>
          </a:custGeom>
          <a:noFill/>
          <a:ln w="237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Upper match count arrowhead" descr="Upper match count arrowhead"/>
          <p:cNvSpPr/>
          <p:nvPr/>
        </p:nvSpPr>
        <p:spPr>
          <a:xfrm>
            <a:off x="16872875" y="3383280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Lower match count shaft" descr="Lower match count shaft"/>
          <p:cNvSpPr/>
          <p:nvPr/>
        </p:nvSpPr>
        <p:spPr>
          <a:xfrm>
            <a:off x="16687800" y="2569464"/>
            <a:ext cx="237744" cy="923544"/>
          </a:xfrm>
          <a:custGeom>
            <a:avLst/>
            <a:gdLst/>
            <a:ahLst/>
            <a:cxnLst/>
            <a:rect l="0" t="0" r="r" b="b"/>
            <a:pathLst>
              <a:path w="237744" h="923544">
                <a:moveTo>
                  <a:pt x="0" y="0"/>
                </a:moveTo>
                <a:cubicBezTo>
                  <a:pt x="155448" y="192024"/>
                  <a:pt x="237744" y="667512"/>
                  <a:pt x="237744" y="923544"/>
                </a:cubicBezTo>
              </a:path>
            </a:pathLst>
          </a:custGeom>
          <a:noFill/>
          <a:ln w="237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Lower match count arrowhead" descr="Lower match count arrowhead"/>
          <p:cNvSpPr/>
          <p:nvPr/>
        </p:nvSpPr>
        <p:spPr>
          <a:xfrm>
            <a:off x="16872875" y="3383280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eature matching candidate filmstrip black film" descr="Feature matching candidate filmstrip black film"/>
          <p:cNvSpPr/>
          <p:nvPr/>
        </p:nvSpPr>
        <p:spPr>
          <a:xfrm>
            <a:off x="14831568" y="758952"/>
            <a:ext cx="1865376" cy="2377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eature matching candidate filmstrip perforations 1" descr="Feature matching candidate filmstrip perforations 1"/>
          <p:cNvSpPr/>
          <p:nvPr/>
        </p:nvSpPr>
        <p:spPr>
          <a:xfrm>
            <a:off x="14850770" y="768096"/>
            <a:ext cx="1809598" cy="74066"/>
          </a:xfrm>
          <a:custGeom>
            <a:avLst/>
            <a:gdLst/>
            <a:ahLst/>
            <a:cxnLst/>
            <a:rect l="0" t="0" r="r" b="b"/>
            <a:pathLst>
              <a:path w="1809598" h="74066">
                <a:moveTo>
                  <a:pt x="0" y="0"/>
                </a:moveTo>
                <a:lnTo>
                  <a:pt x="104424" y="0"/>
                </a:lnTo>
                <a:lnTo>
                  <a:pt x="104424" y="74066"/>
                </a:lnTo>
                <a:lnTo>
                  <a:pt x="0" y="74066"/>
                </a:lnTo>
                <a:close/>
                <a:moveTo>
                  <a:pt x="121798" y="0"/>
                </a:moveTo>
                <a:lnTo>
                  <a:pt x="226223" y="0"/>
                </a:lnTo>
                <a:lnTo>
                  <a:pt x="226223" y="74066"/>
                </a:lnTo>
                <a:lnTo>
                  <a:pt x="121798" y="74066"/>
                </a:lnTo>
                <a:close/>
                <a:moveTo>
                  <a:pt x="243596" y="0"/>
                </a:moveTo>
                <a:lnTo>
                  <a:pt x="348021" y="0"/>
                </a:lnTo>
                <a:lnTo>
                  <a:pt x="348021" y="74066"/>
                </a:lnTo>
                <a:lnTo>
                  <a:pt x="243596" y="74066"/>
                </a:lnTo>
                <a:close/>
                <a:moveTo>
                  <a:pt x="365394" y="0"/>
                </a:moveTo>
                <a:lnTo>
                  <a:pt x="469819" y="0"/>
                </a:lnTo>
                <a:lnTo>
                  <a:pt x="469819" y="74066"/>
                </a:lnTo>
                <a:lnTo>
                  <a:pt x="365394" y="74066"/>
                </a:lnTo>
                <a:close/>
                <a:moveTo>
                  <a:pt x="487192" y="0"/>
                </a:moveTo>
                <a:lnTo>
                  <a:pt x="591617" y="0"/>
                </a:lnTo>
                <a:lnTo>
                  <a:pt x="591617" y="74066"/>
                </a:lnTo>
                <a:lnTo>
                  <a:pt x="487192" y="74066"/>
                </a:lnTo>
                <a:close/>
                <a:moveTo>
                  <a:pt x="608990" y="0"/>
                </a:moveTo>
                <a:lnTo>
                  <a:pt x="713415" y="0"/>
                </a:lnTo>
                <a:lnTo>
                  <a:pt x="713415" y="74066"/>
                </a:lnTo>
                <a:lnTo>
                  <a:pt x="608990" y="74066"/>
                </a:lnTo>
                <a:close/>
                <a:moveTo>
                  <a:pt x="730788" y="0"/>
                </a:moveTo>
                <a:lnTo>
                  <a:pt x="835213" y="0"/>
                </a:lnTo>
                <a:lnTo>
                  <a:pt x="835213" y="74066"/>
                </a:lnTo>
                <a:lnTo>
                  <a:pt x="730788" y="74066"/>
                </a:lnTo>
                <a:close/>
                <a:moveTo>
                  <a:pt x="852587" y="0"/>
                </a:moveTo>
                <a:lnTo>
                  <a:pt x="957011" y="0"/>
                </a:lnTo>
                <a:lnTo>
                  <a:pt x="957011" y="74066"/>
                </a:lnTo>
                <a:lnTo>
                  <a:pt x="852587" y="74066"/>
                </a:lnTo>
                <a:close/>
                <a:moveTo>
                  <a:pt x="974385" y="0"/>
                </a:moveTo>
                <a:lnTo>
                  <a:pt x="1078809" y="0"/>
                </a:lnTo>
                <a:lnTo>
                  <a:pt x="1078809" y="74066"/>
                </a:lnTo>
                <a:lnTo>
                  <a:pt x="974385" y="74066"/>
                </a:lnTo>
                <a:close/>
                <a:moveTo>
                  <a:pt x="1096183" y="0"/>
                </a:moveTo>
                <a:lnTo>
                  <a:pt x="1200607" y="0"/>
                </a:lnTo>
                <a:lnTo>
                  <a:pt x="1200607" y="74066"/>
                </a:lnTo>
                <a:lnTo>
                  <a:pt x="1096183" y="74066"/>
                </a:lnTo>
                <a:close/>
                <a:moveTo>
                  <a:pt x="1217981" y="0"/>
                </a:moveTo>
                <a:lnTo>
                  <a:pt x="1322405" y="0"/>
                </a:lnTo>
                <a:lnTo>
                  <a:pt x="1322405" y="74066"/>
                </a:lnTo>
                <a:lnTo>
                  <a:pt x="1217981" y="74066"/>
                </a:lnTo>
                <a:close/>
                <a:moveTo>
                  <a:pt x="1339779" y="0"/>
                </a:moveTo>
                <a:lnTo>
                  <a:pt x="1444203" y="0"/>
                </a:lnTo>
                <a:lnTo>
                  <a:pt x="1444203" y="74066"/>
                </a:lnTo>
                <a:lnTo>
                  <a:pt x="1339779" y="74066"/>
                </a:lnTo>
                <a:close/>
                <a:moveTo>
                  <a:pt x="1461577" y="0"/>
                </a:moveTo>
                <a:lnTo>
                  <a:pt x="1566001" y="0"/>
                </a:lnTo>
                <a:lnTo>
                  <a:pt x="1566001" y="74066"/>
                </a:lnTo>
                <a:lnTo>
                  <a:pt x="1461577" y="74066"/>
                </a:lnTo>
                <a:close/>
                <a:moveTo>
                  <a:pt x="1583375" y="0"/>
                </a:moveTo>
                <a:lnTo>
                  <a:pt x="1687800" y="0"/>
                </a:lnTo>
                <a:lnTo>
                  <a:pt x="1687800" y="74066"/>
                </a:lnTo>
                <a:lnTo>
                  <a:pt x="1583375" y="74066"/>
                </a:lnTo>
                <a:close/>
                <a:moveTo>
                  <a:pt x="1705173" y="0"/>
                </a:moveTo>
                <a:lnTo>
                  <a:pt x="1809598" y="0"/>
                </a:lnTo>
                <a:lnTo>
                  <a:pt x="1809598" y="74066"/>
                </a:lnTo>
                <a:lnTo>
                  <a:pt x="1705173" y="74066"/>
                </a:lnTo>
                <a:close/>
              </a:path>
            </a:pathLst>
          </a:cu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eature matching candidate filmstrip perforations 2" descr="Feature matching candidate filmstrip perforations 2"/>
          <p:cNvSpPr/>
          <p:nvPr/>
        </p:nvSpPr>
        <p:spPr>
          <a:xfrm>
            <a:off x="14850770" y="1911096"/>
            <a:ext cx="1809598" cy="74066"/>
          </a:xfrm>
          <a:custGeom>
            <a:avLst/>
            <a:gdLst/>
            <a:ahLst/>
            <a:cxnLst/>
            <a:rect l="0" t="0" r="r" b="b"/>
            <a:pathLst>
              <a:path w="1809598" h="74066">
                <a:moveTo>
                  <a:pt x="0" y="0"/>
                </a:moveTo>
                <a:lnTo>
                  <a:pt x="104424" y="0"/>
                </a:lnTo>
                <a:lnTo>
                  <a:pt x="104424" y="74066"/>
                </a:lnTo>
                <a:lnTo>
                  <a:pt x="0" y="74066"/>
                </a:lnTo>
                <a:close/>
                <a:moveTo>
                  <a:pt x="121798" y="0"/>
                </a:moveTo>
                <a:lnTo>
                  <a:pt x="226223" y="0"/>
                </a:lnTo>
                <a:lnTo>
                  <a:pt x="226223" y="74066"/>
                </a:lnTo>
                <a:lnTo>
                  <a:pt x="121798" y="74066"/>
                </a:lnTo>
                <a:close/>
                <a:moveTo>
                  <a:pt x="243596" y="0"/>
                </a:moveTo>
                <a:lnTo>
                  <a:pt x="348021" y="0"/>
                </a:lnTo>
                <a:lnTo>
                  <a:pt x="348021" y="74066"/>
                </a:lnTo>
                <a:lnTo>
                  <a:pt x="243596" y="74066"/>
                </a:lnTo>
                <a:close/>
                <a:moveTo>
                  <a:pt x="365394" y="0"/>
                </a:moveTo>
                <a:lnTo>
                  <a:pt x="469819" y="0"/>
                </a:lnTo>
                <a:lnTo>
                  <a:pt x="469819" y="74066"/>
                </a:lnTo>
                <a:lnTo>
                  <a:pt x="365394" y="74066"/>
                </a:lnTo>
                <a:close/>
                <a:moveTo>
                  <a:pt x="487192" y="0"/>
                </a:moveTo>
                <a:lnTo>
                  <a:pt x="591617" y="0"/>
                </a:lnTo>
                <a:lnTo>
                  <a:pt x="591617" y="74066"/>
                </a:lnTo>
                <a:lnTo>
                  <a:pt x="487192" y="74066"/>
                </a:lnTo>
                <a:close/>
                <a:moveTo>
                  <a:pt x="608990" y="0"/>
                </a:moveTo>
                <a:lnTo>
                  <a:pt x="713415" y="0"/>
                </a:lnTo>
                <a:lnTo>
                  <a:pt x="713415" y="74066"/>
                </a:lnTo>
                <a:lnTo>
                  <a:pt x="608990" y="74066"/>
                </a:lnTo>
                <a:close/>
                <a:moveTo>
                  <a:pt x="730788" y="0"/>
                </a:moveTo>
                <a:lnTo>
                  <a:pt x="835213" y="0"/>
                </a:lnTo>
                <a:lnTo>
                  <a:pt x="835213" y="74066"/>
                </a:lnTo>
                <a:lnTo>
                  <a:pt x="730788" y="74066"/>
                </a:lnTo>
                <a:close/>
                <a:moveTo>
                  <a:pt x="852587" y="0"/>
                </a:moveTo>
                <a:lnTo>
                  <a:pt x="957011" y="0"/>
                </a:lnTo>
                <a:lnTo>
                  <a:pt x="957011" y="74066"/>
                </a:lnTo>
                <a:lnTo>
                  <a:pt x="852587" y="74066"/>
                </a:lnTo>
                <a:close/>
                <a:moveTo>
                  <a:pt x="974385" y="0"/>
                </a:moveTo>
                <a:lnTo>
                  <a:pt x="1078809" y="0"/>
                </a:lnTo>
                <a:lnTo>
                  <a:pt x="1078809" y="74066"/>
                </a:lnTo>
                <a:lnTo>
                  <a:pt x="974385" y="74066"/>
                </a:lnTo>
                <a:close/>
                <a:moveTo>
                  <a:pt x="1096183" y="0"/>
                </a:moveTo>
                <a:lnTo>
                  <a:pt x="1200607" y="0"/>
                </a:lnTo>
                <a:lnTo>
                  <a:pt x="1200607" y="74066"/>
                </a:lnTo>
                <a:lnTo>
                  <a:pt x="1096183" y="74066"/>
                </a:lnTo>
                <a:close/>
                <a:moveTo>
                  <a:pt x="1217981" y="0"/>
                </a:moveTo>
                <a:lnTo>
                  <a:pt x="1322405" y="0"/>
                </a:lnTo>
                <a:lnTo>
                  <a:pt x="1322405" y="74066"/>
                </a:lnTo>
                <a:lnTo>
                  <a:pt x="1217981" y="74066"/>
                </a:lnTo>
                <a:close/>
                <a:moveTo>
                  <a:pt x="1339779" y="0"/>
                </a:moveTo>
                <a:lnTo>
                  <a:pt x="1444203" y="0"/>
                </a:lnTo>
                <a:lnTo>
                  <a:pt x="1444203" y="74066"/>
                </a:lnTo>
                <a:lnTo>
                  <a:pt x="1339779" y="74066"/>
                </a:lnTo>
                <a:close/>
                <a:moveTo>
                  <a:pt x="1461577" y="0"/>
                </a:moveTo>
                <a:lnTo>
                  <a:pt x="1566001" y="0"/>
                </a:lnTo>
                <a:lnTo>
                  <a:pt x="1566001" y="74066"/>
                </a:lnTo>
                <a:lnTo>
                  <a:pt x="1461577" y="74066"/>
                </a:lnTo>
                <a:close/>
                <a:moveTo>
                  <a:pt x="1583375" y="0"/>
                </a:moveTo>
                <a:lnTo>
                  <a:pt x="1687800" y="0"/>
                </a:lnTo>
                <a:lnTo>
                  <a:pt x="1687800" y="74066"/>
                </a:lnTo>
                <a:lnTo>
                  <a:pt x="1583375" y="74066"/>
                </a:lnTo>
                <a:close/>
                <a:moveTo>
                  <a:pt x="1705173" y="0"/>
                </a:moveTo>
                <a:lnTo>
                  <a:pt x="1809598" y="0"/>
                </a:lnTo>
                <a:lnTo>
                  <a:pt x="1809598" y="74066"/>
                </a:lnTo>
                <a:lnTo>
                  <a:pt x="1705173" y="74066"/>
                </a:lnTo>
                <a:close/>
              </a:path>
            </a:pathLst>
          </a:cu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eature matching candidate filmstrip perforations 3" descr="Feature matching candidate filmstrip perforations 3"/>
          <p:cNvSpPr/>
          <p:nvPr/>
        </p:nvSpPr>
        <p:spPr>
          <a:xfrm>
            <a:off x="14850770" y="3054096"/>
            <a:ext cx="1809598" cy="74066"/>
          </a:xfrm>
          <a:custGeom>
            <a:avLst/>
            <a:gdLst/>
            <a:ahLst/>
            <a:cxnLst/>
            <a:rect l="0" t="0" r="r" b="b"/>
            <a:pathLst>
              <a:path w="1809598" h="74066">
                <a:moveTo>
                  <a:pt x="0" y="0"/>
                </a:moveTo>
                <a:lnTo>
                  <a:pt x="104424" y="0"/>
                </a:lnTo>
                <a:lnTo>
                  <a:pt x="104424" y="74066"/>
                </a:lnTo>
                <a:lnTo>
                  <a:pt x="0" y="74066"/>
                </a:lnTo>
                <a:close/>
                <a:moveTo>
                  <a:pt x="121798" y="0"/>
                </a:moveTo>
                <a:lnTo>
                  <a:pt x="226223" y="0"/>
                </a:lnTo>
                <a:lnTo>
                  <a:pt x="226223" y="74066"/>
                </a:lnTo>
                <a:lnTo>
                  <a:pt x="121798" y="74066"/>
                </a:lnTo>
                <a:close/>
                <a:moveTo>
                  <a:pt x="243596" y="0"/>
                </a:moveTo>
                <a:lnTo>
                  <a:pt x="348021" y="0"/>
                </a:lnTo>
                <a:lnTo>
                  <a:pt x="348021" y="74066"/>
                </a:lnTo>
                <a:lnTo>
                  <a:pt x="243596" y="74066"/>
                </a:lnTo>
                <a:close/>
                <a:moveTo>
                  <a:pt x="365394" y="0"/>
                </a:moveTo>
                <a:lnTo>
                  <a:pt x="469819" y="0"/>
                </a:lnTo>
                <a:lnTo>
                  <a:pt x="469819" y="74066"/>
                </a:lnTo>
                <a:lnTo>
                  <a:pt x="365394" y="74066"/>
                </a:lnTo>
                <a:close/>
                <a:moveTo>
                  <a:pt x="487192" y="0"/>
                </a:moveTo>
                <a:lnTo>
                  <a:pt x="591617" y="0"/>
                </a:lnTo>
                <a:lnTo>
                  <a:pt x="591617" y="74066"/>
                </a:lnTo>
                <a:lnTo>
                  <a:pt x="487192" y="74066"/>
                </a:lnTo>
                <a:close/>
                <a:moveTo>
                  <a:pt x="608990" y="0"/>
                </a:moveTo>
                <a:lnTo>
                  <a:pt x="713415" y="0"/>
                </a:lnTo>
                <a:lnTo>
                  <a:pt x="713415" y="74066"/>
                </a:lnTo>
                <a:lnTo>
                  <a:pt x="608990" y="74066"/>
                </a:lnTo>
                <a:close/>
                <a:moveTo>
                  <a:pt x="730788" y="0"/>
                </a:moveTo>
                <a:lnTo>
                  <a:pt x="835213" y="0"/>
                </a:lnTo>
                <a:lnTo>
                  <a:pt x="835213" y="74066"/>
                </a:lnTo>
                <a:lnTo>
                  <a:pt x="730788" y="74066"/>
                </a:lnTo>
                <a:close/>
                <a:moveTo>
                  <a:pt x="852587" y="0"/>
                </a:moveTo>
                <a:lnTo>
                  <a:pt x="957011" y="0"/>
                </a:lnTo>
                <a:lnTo>
                  <a:pt x="957011" y="74066"/>
                </a:lnTo>
                <a:lnTo>
                  <a:pt x="852587" y="74066"/>
                </a:lnTo>
                <a:close/>
                <a:moveTo>
                  <a:pt x="974385" y="0"/>
                </a:moveTo>
                <a:lnTo>
                  <a:pt x="1078809" y="0"/>
                </a:lnTo>
                <a:lnTo>
                  <a:pt x="1078809" y="74066"/>
                </a:lnTo>
                <a:lnTo>
                  <a:pt x="974385" y="74066"/>
                </a:lnTo>
                <a:close/>
                <a:moveTo>
                  <a:pt x="1096183" y="0"/>
                </a:moveTo>
                <a:lnTo>
                  <a:pt x="1200607" y="0"/>
                </a:lnTo>
                <a:lnTo>
                  <a:pt x="1200607" y="74066"/>
                </a:lnTo>
                <a:lnTo>
                  <a:pt x="1096183" y="74066"/>
                </a:lnTo>
                <a:close/>
                <a:moveTo>
                  <a:pt x="1217981" y="0"/>
                </a:moveTo>
                <a:lnTo>
                  <a:pt x="1322405" y="0"/>
                </a:lnTo>
                <a:lnTo>
                  <a:pt x="1322405" y="74066"/>
                </a:lnTo>
                <a:lnTo>
                  <a:pt x="1217981" y="74066"/>
                </a:lnTo>
                <a:close/>
                <a:moveTo>
                  <a:pt x="1339779" y="0"/>
                </a:moveTo>
                <a:lnTo>
                  <a:pt x="1444203" y="0"/>
                </a:lnTo>
                <a:lnTo>
                  <a:pt x="1444203" y="74066"/>
                </a:lnTo>
                <a:lnTo>
                  <a:pt x="1339779" y="74066"/>
                </a:lnTo>
                <a:close/>
                <a:moveTo>
                  <a:pt x="1461577" y="0"/>
                </a:moveTo>
                <a:lnTo>
                  <a:pt x="1566001" y="0"/>
                </a:lnTo>
                <a:lnTo>
                  <a:pt x="1566001" y="74066"/>
                </a:lnTo>
                <a:lnTo>
                  <a:pt x="1461577" y="74066"/>
                </a:lnTo>
                <a:close/>
                <a:moveTo>
                  <a:pt x="1583375" y="0"/>
                </a:moveTo>
                <a:lnTo>
                  <a:pt x="1687800" y="0"/>
                </a:lnTo>
                <a:lnTo>
                  <a:pt x="1687800" y="74066"/>
                </a:lnTo>
                <a:lnTo>
                  <a:pt x="1583375" y="74066"/>
                </a:lnTo>
                <a:close/>
                <a:moveTo>
                  <a:pt x="1705173" y="0"/>
                </a:moveTo>
                <a:lnTo>
                  <a:pt x="1809598" y="0"/>
                </a:lnTo>
                <a:lnTo>
                  <a:pt x="1809598" y="74066"/>
                </a:lnTo>
                <a:lnTo>
                  <a:pt x="1705173" y="74066"/>
                </a:lnTo>
                <a:close/>
              </a:path>
            </a:pathLst>
          </a:cu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Feature matching candidate filmstrip photo 1" descr="Feature matching candidate filmstrip photo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895576" y="868680"/>
            <a:ext cx="1737360" cy="1005840"/>
          </a:xfrm>
          <a:prstGeom prst="roundRect">
            <a:avLst>
              <a:gd name="adj" fmla="val 1818"/>
            </a:avLst>
          </a:prstGeom>
        </p:spPr>
      </p:pic>
      <p:pic>
        <p:nvPicPr>
          <p:cNvPr id="202" name="Feature matching candidate filmstrip photo 2" descr="Feature matching candidate filmstrip photo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95576" y="2029968"/>
            <a:ext cx="1737360" cy="996696"/>
          </a:xfrm>
          <a:prstGeom prst="roundRect">
            <a:avLst>
              <a:gd name="adj" fmla="val 1834"/>
            </a:avLst>
          </a:prstGeom>
        </p:spPr>
      </p:pic>
      <p:sp>
        <p:nvSpPr>
          <p:cNvPr id="203" name="Feature candidates dashed boundary" descr="Feature candidates dashed boundary"/>
          <p:cNvSpPr/>
          <p:nvPr/>
        </p:nvSpPr>
        <p:spPr>
          <a:xfrm>
            <a:off x="14758416" y="685800"/>
            <a:ext cx="2011680" cy="2779776"/>
          </a:xfrm>
          <a:prstGeom prst="roundRect">
            <a:avLst>
              <a:gd name="adj" fmla="val 8636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eature candidates ellipsis" descr="Feature candidates ellipsis"/>
          <p:cNvSpPr txBox="1"/>
          <p:nvPr/>
        </p:nvSpPr>
        <p:spPr>
          <a:xfrm>
            <a:off x="15398496" y="3063240"/>
            <a:ext cx="731520" cy="30367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05" name="Count legend sample shaft" descr="Count legend sample shaft"/>
          <p:cNvSpPr/>
          <p:nvPr/>
        </p:nvSpPr>
        <p:spPr>
          <a:xfrm>
            <a:off x="12673584" y="3557016"/>
            <a:ext cx="344180" cy="183"/>
          </a:xfrm>
          <a:custGeom>
            <a:avLst/>
            <a:gdLst/>
            <a:ahLst/>
            <a:cxnLst/>
            <a:rect l="0" t="0" r="r" b="b"/>
            <a:pathLst>
              <a:path w="344180" h="183">
                <a:moveTo>
                  <a:pt x="0" y="0"/>
                </a:moveTo>
                <a:lnTo>
                  <a:pt x="344180" y="0"/>
                </a:lnTo>
              </a:path>
            </a:pathLst>
          </a:custGeom>
          <a:noFill/>
          <a:ln w="246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Count legend sample arrowhead" descr="Count legend sample arrowhead"/>
          <p:cNvSpPr/>
          <p:nvPr/>
        </p:nvSpPr>
        <p:spPr>
          <a:xfrm>
            <a:off x="12993624" y="3504347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ount legend text" descr="Count legend text"/>
          <p:cNvSpPr txBox="1"/>
          <p:nvPr/>
        </p:nvSpPr>
        <p:spPr>
          <a:xfrm>
            <a:off x="13194792" y="3470148"/>
            <a:ext cx="2896088" cy="24181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 marL="0" marR="0">
              <a:spcBef>
                <a:spcPts val="0"/>
              </a:spcBef>
              <a:spcAft>
                <a:spcPts val="0"/>
              </a:spcAft>
            </a:pPr>
            <a:r>
              <a:rPr sz="1547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Matched Inlier Count</a:t>
            </a:r>
          </a:p>
        </p:txBody>
      </p:sp>
      <p:sp>
        <p:nvSpPr>
          <p:cNvPr id="208" name="Addition legend circle" descr="Addition legend circle"/>
          <p:cNvSpPr/>
          <p:nvPr/>
        </p:nvSpPr>
        <p:spPr>
          <a:xfrm>
            <a:off x="12819888" y="3758184"/>
            <a:ext cx="210312" cy="210312"/>
          </a:xfrm>
          <a:prstGeom prst="ellipse">
            <a:avLst/>
          </a:prstGeom>
          <a:noFill/>
          <a:ln w="18288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Addition legend horizontal" descr="Addition legend horizontal"/>
          <p:cNvSpPr/>
          <p:nvPr/>
        </p:nvSpPr>
        <p:spPr>
          <a:xfrm>
            <a:off x="12829032" y="3863340"/>
            <a:ext cx="192024" cy="183"/>
          </a:xfrm>
          <a:custGeom>
            <a:avLst/>
            <a:gdLst/>
            <a:ahLst/>
            <a:cxnLst/>
            <a:rect l="0" t="0" r="r" b="b"/>
            <a:pathLst>
              <a:path w="192024" h="183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16459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Addition legend vertical" descr="Addition legend vertical"/>
          <p:cNvSpPr/>
          <p:nvPr/>
        </p:nvSpPr>
        <p:spPr>
          <a:xfrm>
            <a:off x="12925044" y="3767328"/>
            <a:ext cx="183" cy="192024"/>
          </a:xfrm>
          <a:custGeom>
            <a:avLst/>
            <a:gdLst/>
            <a:ahLst/>
            <a:cxnLst/>
            <a:rect l="0" t="0" r="r" b="b"/>
            <a:pathLst>
              <a:path w="183" h="192024">
                <a:moveTo>
                  <a:pt x="0" y="0"/>
                </a:moveTo>
                <a:lnTo>
                  <a:pt x="0" y="192024"/>
                </a:lnTo>
              </a:path>
            </a:pathLst>
          </a:custGeom>
          <a:noFill/>
          <a:ln w="16459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Addition legend text" descr="Addition legend text"/>
          <p:cNvSpPr txBox="1"/>
          <p:nvPr/>
        </p:nvSpPr>
        <p:spPr>
          <a:xfrm>
            <a:off x="13194792" y="3726180"/>
            <a:ext cx="1386230" cy="24181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 marL="0" marR="0">
              <a:spcBef>
                <a:spcPts val="0"/>
              </a:spcBef>
              <a:spcAft>
                <a:spcPts val="0"/>
              </a:spcAft>
            </a:pPr>
            <a:r>
              <a:rPr sz="1547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Addition</a:t>
            </a:r>
          </a:p>
        </p:txBody>
      </p:sp>
      <p:sp>
        <p:nvSpPr>
          <p:cNvPr id="212" name="Match sum circle" descr="Match sum circle"/>
          <p:cNvSpPr/>
          <p:nvPr/>
        </p:nvSpPr>
        <p:spPr>
          <a:xfrm>
            <a:off x="16770096" y="3502152"/>
            <a:ext cx="301752" cy="301752"/>
          </a:xfrm>
          <a:prstGeom prst="ellipse">
            <a:avLst/>
          </a:prstGeom>
          <a:noFill/>
          <a:ln w="18288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Match sum horizontal" descr="Match sum horizontal"/>
          <p:cNvSpPr/>
          <p:nvPr/>
        </p:nvSpPr>
        <p:spPr>
          <a:xfrm>
            <a:off x="16779240" y="3653028"/>
            <a:ext cx="283464" cy="183"/>
          </a:xfrm>
          <a:custGeom>
            <a:avLst/>
            <a:gdLst/>
            <a:ahLst/>
            <a:cxnLst/>
            <a:rect l="0" t="0" r="r" b="b"/>
            <a:pathLst>
              <a:path w="283464" h="183">
                <a:moveTo>
                  <a:pt x="0" y="0"/>
                </a:moveTo>
                <a:lnTo>
                  <a:pt x="283464" y="0"/>
                </a:lnTo>
              </a:path>
            </a:pathLst>
          </a:custGeom>
          <a:noFill/>
          <a:ln w="17373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Match sum vertical" descr="Match sum vertical"/>
          <p:cNvSpPr/>
          <p:nvPr/>
        </p:nvSpPr>
        <p:spPr>
          <a:xfrm>
            <a:off x="16920972" y="3511296"/>
            <a:ext cx="183" cy="283464"/>
          </a:xfrm>
          <a:custGeom>
            <a:avLst/>
            <a:gdLst/>
            <a:ahLst/>
            <a:cxnLst/>
            <a:rect l="0" t="0" r="r" b="b"/>
            <a:pathLst>
              <a:path w="183" h="283464">
                <a:moveTo>
                  <a:pt x="0" y="0"/>
                </a:moveTo>
                <a:lnTo>
                  <a:pt x="0" y="283464"/>
                </a:lnTo>
              </a:path>
            </a:pathLst>
          </a:custGeom>
          <a:noFill/>
          <a:ln w="17373">
            <a:solidFill>
              <a:srgbClr val="1D365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andidates to top k shaft" descr="Candidates to top k shaft"/>
          <p:cNvSpPr/>
          <p:nvPr/>
        </p:nvSpPr>
        <p:spPr>
          <a:xfrm>
            <a:off x="14904720" y="3465576"/>
            <a:ext cx="868680" cy="393192"/>
          </a:xfrm>
          <a:custGeom>
            <a:avLst/>
            <a:gdLst/>
            <a:ahLst/>
            <a:cxnLst/>
            <a:rect l="0" t="0" r="r" b="b"/>
            <a:pathLst>
              <a:path w="868680" h="393192">
                <a:moveTo>
                  <a:pt x="868680" y="0"/>
                </a:moveTo>
                <a:cubicBezTo>
                  <a:pt x="795528" y="274320"/>
                  <a:pt x="109728" y="100584"/>
                  <a:pt x="0" y="393192"/>
                </a:cubicBezTo>
              </a:path>
            </a:pathLst>
          </a:custGeom>
          <a:noFill/>
          <a:ln w="25603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andidates to top k arrowhead" descr="Candidates to top k arrowhead"/>
          <p:cNvSpPr/>
          <p:nvPr/>
        </p:nvSpPr>
        <p:spPr>
          <a:xfrm>
            <a:off x="14894831" y="3747636"/>
            <a:ext cx="90413" cy="111132"/>
          </a:xfrm>
          <a:custGeom>
            <a:avLst/>
            <a:gdLst/>
            <a:ahLst/>
            <a:cxnLst/>
            <a:rect l="0" t="0" r="r" b="b"/>
            <a:pathLst>
              <a:path w="90413" h="111132">
                <a:moveTo>
                  <a:pt x="9889" y="111132"/>
                </a:moveTo>
                <a:lnTo>
                  <a:pt x="0" y="0"/>
                </a:lnTo>
                <a:lnTo>
                  <a:pt x="90413" y="339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Match sum to top k shaft" descr="Match sum to top k shaft"/>
          <p:cNvSpPr/>
          <p:nvPr/>
        </p:nvSpPr>
        <p:spPr>
          <a:xfrm>
            <a:off x="15334488" y="3813048"/>
            <a:ext cx="1581912" cy="256032"/>
          </a:xfrm>
          <a:custGeom>
            <a:avLst/>
            <a:gdLst/>
            <a:ahLst/>
            <a:cxnLst/>
            <a:rect l="0" t="0" r="r" b="b"/>
            <a:pathLst>
              <a:path w="1581912" h="256032">
                <a:moveTo>
                  <a:pt x="1581912" y="0"/>
                </a:moveTo>
                <a:cubicBezTo>
                  <a:pt x="1490472" y="164592"/>
                  <a:pt x="493776" y="256032"/>
                  <a:pt x="0" y="256032"/>
                </a:cubicBezTo>
              </a:path>
            </a:pathLst>
          </a:custGeom>
          <a:noFill/>
          <a:ln w="25603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Match sum to top k arrowhead" descr="Match sum to top k arrowhead"/>
          <p:cNvSpPr/>
          <p:nvPr/>
        </p:nvSpPr>
        <p:spPr>
          <a:xfrm>
            <a:off x="15334488" y="4016411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0" y="52669"/>
                </a:moveTo>
                <a:lnTo>
                  <a:pt x="109728" y="0"/>
                </a:lnTo>
                <a:lnTo>
                  <a:pt x="109728" y="1053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op k label" descr="Top k label"/>
          <p:cNvSpPr txBox="1"/>
          <p:nvPr/>
        </p:nvSpPr>
        <p:spPr>
          <a:xfrm>
            <a:off x="14471294" y="3922776"/>
            <a:ext cx="830275" cy="26993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Top k</a:t>
            </a:r>
          </a:p>
        </p:txBody>
      </p:sp>
      <p:sp>
        <p:nvSpPr>
          <p:cNvPr id="220" name="Top k to selected frames shaft" descr="Top k to selected frames shaft"/>
          <p:cNvSpPr/>
          <p:nvPr/>
        </p:nvSpPr>
        <p:spPr>
          <a:xfrm>
            <a:off x="14904720" y="4261104"/>
            <a:ext cx="183" cy="124724"/>
          </a:xfrm>
          <a:custGeom>
            <a:avLst/>
            <a:gdLst/>
            <a:ahLst/>
            <a:cxnLst/>
            <a:rect l="0" t="0" r="r" b="b"/>
            <a:pathLst>
              <a:path w="183" h="124724">
                <a:moveTo>
                  <a:pt x="0" y="0"/>
                </a:moveTo>
                <a:lnTo>
                  <a:pt x="0" y="124724"/>
                </a:lnTo>
              </a:path>
            </a:pathLst>
          </a:custGeom>
          <a:noFill/>
          <a:ln w="25603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op k to selected frames arrowhead" descr="Top k to selected frames arrowhead"/>
          <p:cNvSpPr/>
          <p:nvPr/>
        </p:nvSpPr>
        <p:spPr>
          <a:xfrm>
            <a:off x="14852051" y="4361688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elected top k horizontal filmstrip black film" descr="Selected top k horizontal filmstrip black film"/>
          <p:cNvSpPr/>
          <p:nvPr/>
        </p:nvSpPr>
        <p:spPr>
          <a:xfrm>
            <a:off x="12847320" y="4498848"/>
            <a:ext cx="4142232" cy="7040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elected top k horizontal filmstrip perforations 1" descr="Selected top k horizontal filmstrip perforations 1"/>
          <p:cNvSpPr/>
          <p:nvPr/>
        </p:nvSpPr>
        <p:spPr>
          <a:xfrm>
            <a:off x="12866522" y="4507992"/>
            <a:ext cx="4086454" cy="47549"/>
          </a:xfrm>
          <a:custGeom>
            <a:avLst/>
            <a:gdLst/>
            <a:ahLst/>
            <a:cxnLst/>
            <a:rect l="0" t="0" r="r" b="b"/>
            <a:pathLst>
              <a:path w="4086454" h="47549">
                <a:moveTo>
                  <a:pt x="0" y="0"/>
                </a:moveTo>
                <a:lnTo>
                  <a:pt x="41253" y="0"/>
                </a:lnTo>
                <a:lnTo>
                  <a:pt x="41253" y="47549"/>
                </a:lnTo>
                <a:lnTo>
                  <a:pt x="0" y="47549"/>
                </a:lnTo>
                <a:close/>
                <a:moveTo>
                  <a:pt x="58626" y="0"/>
                </a:moveTo>
                <a:lnTo>
                  <a:pt x="99879" y="0"/>
                </a:lnTo>
                <a:lnTo>
                  <a:pt x="99879" y="47549"/>
                </a:lnTo>
                <a:lnTo>
                  <a:pt x="58626" y="47549"/>
                </a:lnTo>
                <a:close/>
                <a:moveTo>
                  <a:pt x="117252" y="0"/>
                </a:moveTo>
                <a:lnTo>
                  <a:pt x="158505" y="0"/>
                </a:lnTo>
                <a:lnTo>
                  <a:pt x="158505" y="47549"/>
                </a:lnTo>
                <a:lnTo>
                  <a:pt x="117252" y="47549"/>
                </a:lnTo>
                <a:close/>
                <a:moveTo>
                  <a:pt x="175878" y="0"/>
                </a:moveTo>
                <a:lnTo>
                  <a:pt x="217131" y="0"/>
                </a:lnTo>
                <a:lnTo>
                  <a:pt x="217131" y="47549"/>
                </a:lnTo>
                <a:lnTo>
                  <a:pt x="175878" y="47549"/>
                </a:lnTo>
                <a:close/>
                <a:moveTo>
                  <a:pt x="234504" y="0"/>
                </a:moveTo>
                <a:lnTo>
                  <a:pt x="275757" y="0"/>
                </a:lnTo>
                <a:lnTo>
                  <a:pt x="275757" y="47549"/>
                </a:lnTo>
                <a:lnTo>
                  <a:pt x="234504" y="47549"/>
                </a:lnTo>
                <a:close/>
                <a:moveTo>
                  <a:pt x="293131" y="0"/>
                </a:moveTo>
                <a:lnTo>
                  <a:pt x="334383" y="0"/>
                </a:lnTo>
                <a:lnTo>
                  <a:pt x="334383" y="47549"/>
                </a:lnTo>
                <a:lnTo>
                  <a:pt x="293131" y="47549"/>
                </a:lnTo>
                <a:close/>
                <a:moveTo>
                  <a:pt x="351757" y="0"/>
                </a:moveTo>
                <a:lnTo>
                  <a:pt x="393009" y="0"/>
                </a:lnTo>
                <a:lnTo>
                  <a:pt x="393009" y="47549"/>
                </a:lnTo>
                <a:lnTo>
                  <a:pt x="351757" y="47549"/>
                </a:lnTo>
                <a:close/>
                <a:moveTo>
                  <a:pt x="410383" y="0"/>
                </a:moveTo>
                <a:lnTo>
                  <a:pt x="451635" y="0"/>
                </a:lnTo>
                <a:lnTo>
                  <a:pt x="451635" y="47549"/>
                </a:lnTo>
                <a:lnTo>
                  <a:pt x="410383" y="47549"/>
                </a:lnTo>
                <a:close/>
                <a:moveTo>
                  <a:pt x="469009" y="0"/>
                </a:moveTo>
                <a:lnTo>
                  <a:pt x="510261" y="0"/>
                </a:lnTo>
                <a:lnTo>
                  <a:pt x="510261" y="47549"/>
                </a:lnTo>
                <a:lnTo>
                  <a:pt x="469009" y="47549"/>
                </a:lnTo>
                <a:close/>
                <a:moveTo>
                  <a:pt x="527635" y="0"/>
                </a:moveTo>
                <a:lnTo>
                  <a:pt x="568887" y="0"/>
                </a:lnTo>
                <a:lnTo>
                  <a:pt x="568887" y="47549"/>
                </a:lnTo>
                <a:lnTo>
                  <a:pt x="527635" y="47549"/>
                </a:lnTo>
                <a:close/>
                <a:moveTo>
                  <a:pt x="586261" y="0"/>
                </a:moveTo>
                <a:lnTo>
                  <a:pt x="627514" y="0"/>
                </a:lnTo>
                <a:lnTo>
                  <a:pt x="627514" y="47549"/>
                </a:lnTo>
                <a:lnTo>
                  <a:pt x="586261" y="47549"/>
                </a:lnTo>
                <a:close/>
                <a:moveTo>
                  <a:pt x="644887" y="0"/>
                </a:moveTo>
                <a:lnTo>
                  <a:pt x="686140" y="0"/>
                </a:lnTo>
                <a:lnTo>
                  <a:pt x="686140" y="47549"/>
                </a:lnTo>
                <a:lnTo>
                  <a:pt x="644887" y="47549"/>
                </a:lnTo>
                <a:close/>
                <a:moveTo>
                  <a:pt x="703513" y="0"/>
                </a:moveTo>
                <a:lnTo>
                  <a:pt x="744766" y="0"/>
                </a:lnTo>
                <a:lnTo>
                  <a:pt x="744766" y="47549"/>
                </a:lnTo>
                <a:lnTo>
                  <a:pt x="703513" y="47549"/>
                </a:lnTo>
                <a:close/>
                <a:moveTo>
                  <a:pt x="762139" y="0"/>
                </a:moveTo>
                <a:lnTo>
                  <a:pt x="803392" y="0"/>
                </a:lnTo>
                <a:lnTo>
                  <a:pt x="803392" y="47549"/>
                </a:lnTo>
                <a:lnTo>
                  <a:pt x="762139" y="47549"/>
                </a:lnTo>
                <a:close/>
                <a:moveTo>
                  <a:pt x="820765" y="0"/>
                </a:moveTo>
                <a:lnTo>
                  <a:pt x="862018" y="0"/>
                </a:lnTo>
                <a:lnTo>
                  <a:pt x="862018" y="47549"/>
                </a:lnTo>
                <a:lnTo>
                  <a:pt x="820765" y="47549"/>
                </a:lnTo>
                <a:close/>
                <a:moveTo>
                  <a:pt x="879392" y="0"/>
                </a:moveTo>
                <a:lnTo>
                  <a:pt x="920644" y="0"/>
                </a:lnTo>
                <a:lnTo>
                  <a:pt x="920644" y="47549"/>
                </a:lnTo>
                <a:lnTo>
                  <a:pt x="879392" y="47549"/>
                </a:lnTo>
                <a:close/>
                <a:moveTo>
                  <a:pt x="938018" y="0"/>
                </a:moveTo>
                <a:lnTo>
                  <a:pt x="979270" y="0"/>
                </a:lnTo>
                <a:lnTo>
                  <a:pt x="979270" y="47549"/>
                </a:lnTo>
                <a:lnTo>
                  <a:pt x="938018" y="47549"/>
                </a:lnTo>
                <a:close/>
                <a:moveTo>
                  <a:pt x="996644" y="0"/>
                </a:moveTo>
                <a:lnTo>
                  <a:pt x="1037896" y="0"/>
                </a:lnTo>
                <a:lnTo>
                  <a:pt x="1037896" y="47549"/>
                </a:lnTo>
                <a:lnTo>
                  <a:pt x="996644" y="47549"/>
                </a:lnTo>
                <a:close/>
                <a:moveTo>
                  <a:pt x="1055270" y="0"/>
                </a:moveTo>
                <a:lnTo>
                  <a:pt x="1096522" y="0"/>
                </a:lnTo>
                <a:lnTo>
                  <a:pt x="1096522" y="47549"/>
                </a:lnTo>
                <a:lnTo>
                  <a:pt x="1055270" y="47549"/>
                </a:lnTo>
                <a:close/>
                <a:moveTo>
                  <a:pt x="1113896" y="0"/>
                </a:moveTo>
                <a:lnTo>
                  <a:pt x="1155148" y="0"/>
                </a:lnTo>
                <a:lnTo>
                  <a:pt x="1155148" y="47549"/>
                </a:lnTo>
                <a:lnTo>
                  <a:pt x="1113896" y="47549"/>
                </a:lnTo>
                <a:close/>
                <a:moveTo>
                  <a:pt x="1172522" y="0"/>
                </a:moveTo>
                <a:lnTo>
                  <a:pt x="1213775" y="0"/>
                </a:lnTo>
                <a:lnTo>
                  <a:pt x="1213775" y="47549"/>
                </a:lnTo>
                <a:lnTo>
                  <a:pt x="1172522" y="47549"/>
                </a:lnTo>
                <a:close/>
                <a:moveTo>
                  <a:pt x="1231148" y="0"/>
                </a:moveTo>
                <a:lnTo>
                  <a:pt x="1272401" y="0"/>
                </a:lnTo>
                <a:lnTo>
                  <a:pt x="1272401" y="47549"/>
                </a:lnTo>
                <a:lnTo>
                  <a:pt x="1231148" y="47549"/>
                </a:lnTo>
                <a:close/>
                <a:moveTo>
                  <a:pt x="1289774" y="0"/>
                </a:moveTo>
                <a:lnTo>
                  <a:pt x="1331027" y="0"/>
                </a:lnTo>
                <a:lnTo>
                  <a:pt x="1331027" y="47549"/>
                </a:lnTo>
                <a:lnTo>
                  <a:pt x="1289774" y="47549"/>
                </a:lnTo>
                <a:close/>
                <a:moveTo>
                  <a:pt x="1348400" y="0"/>
                </a:moveTo>
                <a:lnTo>
                  <a:pt x="1389653" y="0"/>
                </a:lnTo>
                <a:lnTo>
                  <a:pt x="1389653" y="47549"/>
                </a:lnTo>
                <a:lnTo>
                  <a:pt x="1348400" y="47549"/>
                </a:lnTo>
                <a:close/>
                <a:moveTo>
                  <a:pt x="1407026" y="0"/>
                </a:moveTo>
                <a:lnTo>
                  <a:pt x="1448279" y="0"/>
                </a:lnTo>
                <a:lnTo>
                  <a:pt x="1448279" y="47549"/>
                </a:lnTo>
                <a:lnTo>
                  <a:pt x="1407026" y="47549"/>
                </a:lnTo>
                <a:close/>
                <a:moveTo>
                  <a:pt x="1465653" y="0"/>
                </a:moveTo>
                <a:lnTo>
                  <a:pt x="1506905" y="0"/>
                </a:lnTo>
                <a:lnTo>
                  <a:pt x="1506905" y="47549"/>
                </a:lnTo>
                <a:lnTo>
                  <a:pt x="1465653" y="47549"/>
                </a:lnTo>
                <a:close/>
                <a:moveTo>
                  <a:pt x="1524279" y="0"/>
                </a:moveTo>
                <a:lnTo>
                  <a:pt x="1565531" y="0"/>
                </a:lnTo>
                <a:lnTo>
                  <a:pt x="1565531" y="47549"/>
                </a:lnTo>
                <a:lnTo>
                  <a:pt x="1524279" y="47549"/>
                </a:lnTo>
                <a:close/>
                <a:moveTo>
                  <a:pt x="1582905" y="0"/>
                </a:moveTo>
                <a:lnTo>
                  <a:pt x="1624157" y="0"/>
                </a:lnTo>
                <a:lnTo>
                  <a:pt x="1624157" y="47549"/>
                </a:lnTo>
                <a:lnTo>
                  <a:pt x="1582905" y="47549"/>
                </a:lnTo>
                <a:close/>
                <a:moveTo>
                  <a:pt x="1641531" y="0"/>
                </a:moveTo>
                <a:lnTo>
                  <a:pt x="1682783" y="0"/>
                </a:lnTo>
                <a:lnTo>
                  <a:pt x="1682783" y="47549"/>
                </a:lnTo>
                <a:lnTo>
                  <a:pt x="1641531" y="47549"/>
                </a:lnTo>
                <a:close/>
                <a:moveTo>
                  <a:pt x="1700157" y="0"/>
                </a:moveTo>
                <a:lnTo>
                  <a:pt x="1741409" y="0"/>
                </a:lnTo>
                <a:lnTo>
                  <a:pt x="1741409" y="47549"/>
                </a:lnTo>
                <a:lnTo>
                  <a:pt x="1700157" y="47549"/>
                </a:lnTo>
                <a:close/>
                <a:moveTo>
                  <a:pt x="1758783" y="0"/>
                </a:moveTo>
                <a:lnTo>
                  <a:pt x="1800036" y="0"/>
                </a:lnTo>
                <a:lnTo>
                  <a:pt x="1800036" y="47549"/>
                </a:lnTo>
                <a:lnTo>
                  <a:pt x="1758783" y="47549"/>
                </a:lnTo>
                <a:close/>
                <a:moveTo>
                  <a:pt x="1817409" y="0"/>
                </a:moveTo>
                <a:lnTo>
                  <a:pt x="1858662" y="0"/>
                </a:lnTo>
                <a:lnTo>
                  <a:pt x="1858662" y="47549"/>
                </a:lnTo>
                <a:lnTo>
                  <a:pt x="1817409" y="47549"/>
                </a:lnTo>
                <a:close/>
                <a:moveTo>
                  <a:pt x="1876035" y="0"/>
                </a:moveTo>
                <a:lnTo>
                  <a:pt x="1917288" y="0"/>
                </a:lnTo>
                <a:lnTo>
                  <a:pt x="1917288" y="47549"/>
                </a:lnTo>
                <a:lnTo>
                  <a:pt x="1876035" y="47549"/>
                </a:lnTo>
                <a:close/>
                <a:moveTo>
                  <a:pt x="1934661" y="0"/>
                </a:moveTo>
                <a:lnTo>
                  <a:pt x="1975914" y="0"/>
                </a:lnTo>
                <a:lnTo>
                  <a:pt x="1975914" y="47549"/>
                </a:lnTo>
                <a:lnTo>
                  <a:pt x="1934661" y="47549"/>
                </a:lnTo>
                <a:close/>
                <a:moveTo>
                  <a:pt x="1993287" y="0"/>
                </a:moveTo>
                <a:lnTo>
                  <a:pt x="2034540" y="0"/>
                </a:lnTo>
                <a:lnTo>
                  <a:pt x="2034540" y="47549"/>
                </a:lnTo>
                <a:lnTo>
                  <a:pt x="1993287" y="47549"/>
                </a:lnTo>
                <a:close/>
                <a:moveTo>
                  <a:pt x="2051914" y="0"/>
                </a:moveTo>
                <a:lnTo>
                  <a:pt x="2093166" y="0"/>
                </a:lnTo>
                <a:lnTo>
                  <a:pt x="2093166" y="47549"/>
                </a:lnTo>
                <a:lnTo>
                  <a:pt x="2051914" y="47549"/>
                </a:lnTo>
                <a:close/>
                <a:moveTo>
                  <a:pt x="2110540" y="0"/>
                </a:moveTo>
                <a:lnTo>
                  <a:pt x="2151792" y="0"/>
                </a:lnTo>
                <a:lnTo>
                  <a:pt x="2151792" y="47549"/>
                </a:lnTo>
                <a:lnTo>
                  <a:pt x="2110540" y="47549"/>
                </a:lnTo>
                <a:close/>
                <a:moveTo>
                  <a:pt x="2169166" y="0"/>
                </a:moveTo>
                <a:lnTo>
                  <a:pt x="2210418" y="0"/>
                </a:lnTo>
                <a:lnTo>
                  <a:pt x="2210418" y="47549"/>
                </a:lnTo>
                <a:lnTo>
                  <a:pt x="2169166" y="47549"/>
                </a:lnTo>
                <a:close/>
                <a:moveTo>
                  <a:pt x="2227792" y="0"/>
                </a:moveTo>
                <a:lnTo>
                  <a:pt x="2269044" y="0"/>
                </a:lnTo>
                <a:lnTo>
                  <a:pt x="2269044" y="47549"/>
                </a:lnTo>
                <a:lnTo>
                  <a:pt x="2227792" y="47549"/>
                </a:lnTo>
                <a:close/>
                <a:moveTo>
                  <a:pt x="2286418" y="0"/>
                </a:moveTo>
                <a:lnTo>
                  <a:pt x="2327671" y="0"/>
                </a:lnTo>
                <a:lnTo>
                  <a:pt x="2327671" y="47549"/>
                </a:lnTo>
                <a:lnTo>
                  <a:pt x="2286418" y="47549"/>
                </a:lnTo>
                <a:close/>
                <a:moveTo>
                  <a:pt x="2345044" y="0"/>
                </a:moveTo>
                <a:lnTo>
                  <a:pt x="2386297" y="0"/>
                </a:lnTo>
                <a:lnTo>
                  <a:pt x="2386297" y="47549"/>
                </a:lnTo>
                <a:lnTo>
                  <a:pt x="2345044" y="47549"/>
                </a:lnTo>
                <a:close/>
                <a:moveTo>
                  <a:pt x="2403670" y="0"/>
                </a:moveTo>
                <a:lnTo>
                  <a:pt x="2444923" y="0"/>
                </a:lnTo>
                <a:lnTo>
                  <a:pt x="2444923" y="47549"/>
                </a:lnTo>
                <a:lnTo>
                  <a:pt x="2403670" y="47549"/>
                </a:lnTo>
                <a:close/>
                <a:moveTo>
                  <a:pt x="2462296" y="0"/>
                </a:moveTo>
                <a:lnTo>
                  <a:pt x="2503549" y="0"/>
                </a:lnTo>
                <a:lnTo>
                  <a:pt x="2503549" y="47549"/>
                </a:lnTo>
                <a:lnTo>
                  <a:pt x="2462296" y="47549"/>
                </a:lnTo>
                <a:close/>
                <a:moveTo>
                  <a:pt x="2520922" y="0"/>
                </a:moveTo>
                <a:lnTo>
                  <a:pt x="2562175" y="0"/>
                </a:lnTo>
                <a:lnTo>
                  <a:pt x="2562175" y="47549"/>
                </a:lnTo>
                <a:lnTo>
                  <a:pt x="2520922" y="47549"/>
                </a:lnTo>
                <a:close/>
                <a:moveTo>
                  <a:pt x="2579549" y="0"/>
                </a:moveTo>
                <a:lnTo>
                  <a:pt x="2620801" y="0"/>
                </a:lnTo>
                <a:lnTo>
                  <a:pt x="2620801" y="47549"/>
                </a:lnTo>
                <a:lnTo>
                  <a:pt x="2579549" y="47549"/>
                </a:lnTo>
                <a:close/>
                <a:moveTo>
                  <a:pt x="2638175" y="0"/>
                </a:moveTo>
                <a:lnTo>
                  <a:pt x="2679427" y="0"/>
                </a:lnTo>
                <a:lnTo>
                  <a:pt x="2679427" y="47549"/>
                </a:lnTo>
                <a:lnTo>
                  <a:pt x="2638175" y="47549"/>
                </a:lnTo>
                <a:close/>
                <a:moveTo>
                  <a:pt x="2696801" y="0"/>
                </a:moveTo>
                <a:lnTo>
                  <a:pt x="2738053" y="0"/>
                </a:lnTo>
                <a:lnTo>
                  <a:pt x="2738053" y="47549"/>
                </a:lnTo>
                <a:lnTo>
                  <a:pt x="2696801" y="47549"/>
                </a:lnTo>
                <a:close/>
                <a:moveTo>
                  <a:pt x="2755427" y="0"/>
                </a:moveTo>
                <a:lnTo>
                  <a:pt x="2796679" y="0"/>
                </a:lnTo>
                <a:lnTo>
                  <a:pt x="2796679" y="47549"/>
                </a:lnTo>
                <a:lnTo>
                  <a:pt x="2755427" y="47549"/>
                </a:lnTo>
                <a:close/>
                <a:moveTo>
                  <a:pt x="2814053" y="0"/>
                </a:moveTo>
                <a:lnTo>
                  <a:pt x="2855305" y="0"/>
                </a:lnTo>
                <a:lnTo>
                  <a:pt x="2855305" y="47549"/>
                </a:lnTo>
                <a:lnTo>
                  <a:pt x="2814053" y="47549"/>
                </a:lnTo>
                <a:close/>
                <a:moveTo>
                  <a:pt x="2872679" y="0"/>
                </a:moveTo>
                <a:lnTo>
                  <a:pt x="2913932" y="0"/>
                </a:lnTo>
                <a:lnTo>
                  <a:pt x="2913932" y="47549"/>
                </a:lnTo>
                <a:lnTo>
                  <a:pt x="2872679" y="47549"/>
                </a:lnTo>
                <a:close/>
                <a:moveTo>
                  <a:pt x="2931305" y="0"/>
                </a:moveTo>
                <a:lnTo>
                  <a:pt x="2972558" y="0"/>
                </a:lnTo>
                <a:lnTo>
                  <a:pt x="2972558" y="47549"/>
                </a:lnTo>
                <a:lnTo>
                  <a:pt x="2931305" y="47549"/>
                </a:lnTo>
                <a:close/>
                <a:moveTo>
                  <a:pt x="2989931" y="0"/>
                </a:moveTo>
                <a:lnTo>
                  <a:pt x="3031184" y="0"/>
                </a:lnTo>
                <a:lnTo>
                  <a:pt x="3031184" y="47549"/>
                </a:lnTo>
                <a:lnTo>
                  <a:pt x="2989931" y="47549"/>
                </a:lnTo>
                <a:close/>
                <a:moveTo>
                  <a:pt x="3048557" y="0"/>
                </a:moveTo>
                <a:lnTo>
                  <a:pt x="3089810" y="0"/>
                </a:lnTo>
                <a:lnTo>
                  <a:pt x="3089810" y="47549"/>
                </a:lnTo>
                <a:lnTo>
                  <a:pt x="3048557" y="47549"/>
                </a:lnTo>
                <a:close/>
                <a:moveTo>
                  <a:pt x="3107183" y="0"/>
                </a:moveTo>
                <a:lnTo>
                  <a:pt x="3148436" y="0"/>
                </a:lnTo>
                <a:lnTo>
                  <a:pt x="3148436" y="47549"/>
                </a:lnTo>
                <a:lnTo>
                  <a:pt x="3107183" y="47549"/>
                </a:lnTo>
                <a:close/>
                <a:moveTo>
                  <a:pt x="3165810" y="0"/>
                </a:moveTo>
                <a:lnTo>
                  <a:pt x="3207062" y="0"/>
                </a:lnTo>
                <a:lnTo>
                  <a:pt x="3207062" y="47549"/>
                </a:lnTo>
                <a:lnTo>
                  <a:pt x="3165810" y="47549"/>
                </a:lnTo>
                <a:close/>
                <a:moveTo>
                  <a:pt x="3224436" y="0"/>
                </a:moveTo>
                <a:lnTo>
                  <a:pt x="3265688" y="0"/>
                </a:lnTo>
                <a:lnTo>
                  <a:pt x="3265688" y="47549"/>
                </a:lnTo>
                <a:lnTo>
                  <a:pt x="3224436" y="47549"/>
                </a:lnTo>
                <a:close/>
                <a:moveTo>
                  <a:pt x="3283062" y="0"/>
                </a:moveTo>
                <a:lnTo>
                  <a:pt x="3324314" y="0"/>
                </a:lnTo>
                <a:lnTo>
                  <a:pt x="3324314" y="47549"/>
                </a:lnTo>
                <a:lnTo>
                  <a:pt x="3283062" y="47549"/>
                </a:lnTo>
                <a:close/>
                <a:moveTo>
                  <a:pt x="3341688" y="0"/>
                </a:moveTo>
                <a:lnTo>
                  <a:pt x="3382940" y="0"/>
                </a:lnTo>
                <a:lnTo>
                  <a:pt x="3382940" y="47549"/>
                </a:lnTo>
                <a:lnTo>
                  <a:pt x="3341688" y="47549"/>
                </a:lnTo>
                <a:close/>
                <a:moveTo>
                  <a:pt x="3400314" y="0"/>
                </a:moveTo>
                <a:lnTo>
                  <a:pt x="3441566" y="0"/>
                </a:lnTo>
                <a:lnTo>
                  <a:pt x="3441566" y="47549"/>
                </a:lnTo>
                <a:lnTo>
                  <a:pt x="3400314" y="47549"/>
                </a:lnTo>
                <a:close/>
                <a:moveTo>
                  <a:pt x="3458940" y="0"/>
                </a:moveTo>
                <a:lnTo>
                  <a:pt x="3500193" y="0"/>
                </a:lnTo>
                <a:lnTo>
                  <a:pt x="3500193" y="47549"/>
                </a:lnTo>
                <a:lnTo>
                  <a:pt x="3458940" y="47549"/>
                </a:lnTo>
                <a:close/>
                <a:moveTo>
                  <a:pt x="3517566" y="0"/>
                </a:moveTo>
                <a:lnTo>
                  <a:pt x="3558819" y="0"/>
                </a:lnTo>
                <a:lnTo>
                  <a:pt x="3558819" y="47549"/>
                </a:lnTo>
                <a:lnTo>
                  <a:pt x="3517566" y="47549"/>
                </a:lnTo>
                <a:close/>
                <a:moveTo>
                  <a:pt x="3576192" y="0"/>
                </a:moveTo>
                <a:lnTo>
                  <a:pt x="3617445" y="0"/>
                </a:lnTo>
                <a:lnTo>
                  <a:pt x="3617445" y="47549"/>
                </a:lnTo>
                <a:lnTo>
                  <a:pt x="3576192" y="47549"/>
                </a:lnTo>
                <a:close/>
                <a:moveTo>
                  <a:pt x="3634818" y="0"/>
                </a:moveTo>
                <a:lnTo>
                  <a:pt x="3676071" y="0"/>
                </a:lnTo>
                <a:lnTo>
                  <a:pt x="3676071" y="47549"/>
                </a:lnTo>
                <a:lnTo>
                  <a:pt x="3634818" y="47549"/>
                </a:lnTo>
                <a:close/>
                <a:moveTo>
                  <a:pt x="3693444" y="0"/>
                </a:moveTo>
                <a:lnTo>
                  <a:pt x="3734697" y="0"/>
                </a:lnTo>
                <a:lnTo>
                  <a:pt x="3734697" y="47549"/>
                </a:lnTo>
                <a:lnTo>
                  <a:pt x="3693444" y="47549"/>
                </a:lnTo>
                <a:close/>
                <a:moveTo>
                  <a:pt x="3752071" y="0"/>
                </a:moveTo>
                <a:lnTo>
                  <a:pt x="3793323" y="0"/>
                </a:lnTo>
                <a:lnTo>
                  <a:pt x="3793323" y="47549"/>
                </a:lnTo>
                <a:lnTo>
                  <a:pt x="3752071" y="47549"/>
                </a:lnTo>
                <a:close/>
                <a:moveTo>
                  <a:pt x="3810697" y="0"/>
                </a:moveTo>
                <a:lnTo>
                  <a:pt x="3851949" y="0"/>
                </a:lnTo>
                <a:lnTo>
                  <a:pt x="3851949" y="47549"/>
                </a:lnTo>
                <a:lnTo>
                  <a:pt x="3810697" y="47549"/>
                </a:lnTo>
                <a:close/>
                <a:moveTo>
                  <a:pt x="3869323" y="0"/>
                </a:moveTo>
                <a:lnTo>
                  <a:pt x="3910575" y="0"/>
                </a:lnTo>
                <a:lnTo>
                  <a:pt x="3910575" y="47549"/>
                </a:lnTo>
                <a:lnTo>
                  <a:pt x="3869323" y="47549"/>
                </a:lnTo>
                <a:close/>
                <a:moveTo>
                  <a:pt x="3927949" y="0"/>
                </a:moveTo>
                <a:lnTo>
                  <a:pt x="3969201" y="0"/>
                </a:lnTo>
                <a:lnTo>
                  <a:pt x="3969201" y="47549"/>
                </a:lnTo>
                <a:lnTo>
                  <a:pt x="3927949" y="47549"/>
                </a:lnTo>
                <a:close/>
                <a:moveTo>
                  <a:pt x="3986575" y="0"/>
                </a:moveTo>
                <a:lnTo>
                  <a:pt x="4027827" y="0"/>
                </a:lnTo>
                <a:lnTo>
                  <a:pt x="4027827" y="47549"/>
                </a:lnTo>
                <a:lnTo>
                  <a:pt x="3986575" y="47549"/>
                </a:lnTo>
                <a:close/>
                <a:moveTo>
                  <a:pt x="4045201" y="0"/>
                </a:moveTo>
                <a:lnTo>
                  <a:pt x="4086454" y="0"/>
                </a:lnTo>
                <a:lnTo>
                  <a:pt x="4086454" y="47549"/>
                </a:lnTo>
                <a:lnTo>
                  <a:pt x="4045201" y="47549"/>
                </a:lnTo>
                <a:close/>
              </a:path>
            </a:pathLst>
          </a:cu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elected top k horizontal filmstrip perforations 2" descr="Selected top k horizontal filmstrip perforations 2"/>
          <p:cNvSpPr/>
          <p:nvPr/>
        </p:nvSpPr>
        <p:spPr>
          <a:xfrm>
            <a:off x="12866522" y="5148072"/>
            <a:ext cx="4086454" cy="47549"/>
          </a:xfrm>
          <a:custGeom>
            <a:avLst/>
            <a:gdLst/>
            <a:ahLst/>
            <a:cxnLst/>
            <a:rect l="0" t="0" r="r" b="b"/>
            <a:pathLst>
              <a:path w="4086454" h="47549">
                <a:moveTo>
                  <a:pt x="0" y="0"/>
                </a:moveTo>
                <a:lnTo>
                  <a:pt x="41253" y="0"/>
                </a:lnTo>
                <a:lnTo>
                  <a:pt x="41253" y="47549"/>
                </a:lnTo>
                <a:lnTo>
                  <a:pt x="0" y="47549"/>
                </a:lnTo>
                <a:close/>
                <a:moveTo>
                  <a:pt x="58626" y="0"/>
                </a:moveTo>
                <a:lnTo>
                  <a:pt x="99879" y="0"/>
                </a:lnTo>
                <a:lnTo>
                  <a:pt x="99879" y="47549"/>
                </a:lnTo>
                <a:lnTo>
                  <a:pt x="58626" y="47549"/>
                </a:lnTo>
                <a:close/>
                <a:moveTo>
                  <a:pt x="117252" y="0"/>
                </a:moveTo>
                <a:lnTo>
                  <a:pt x="158505" y="0"/>
                </a:lnTo>
                <a:lnTo>
                  <a:pt x="158505" y="47549"/>
                </a:lnTo>
                <a:lnTo>
                  <a:pt x="117252" y="47549"/>
                </a:lnTo>
                <a:close/>
                <a:moveTo>
                  <a:pt x="175878" y="0"/>
                </a:moveTo>
                <a:lnTo>
                  <a:pt x="217131" y="0"/>
                </a:lnTo>
                <a:lnTo>
                  <a:pt x="217131" y="47549"/>
                </a:lnTo>
                <a:lnTo>
                  <a:pt x="175878" y="47549"/>
                </a:lnTo>
                <a:close/>
                <a:moveTo>
                  <a:pt x="234504" y="0"/>
                </a:moveTo>
                <a:lnTo>
                  <a:pt x="275757" y="0"/>
                </a:lnTo>
                <a:lnTo>
                  <a:pt x="275757" y="47549"/>
                </a:lnTo>
                <a:lnTo>
                  <a:pt x="234504" y="47549"/>
                </a:lnTo>
                <a:close/>
                <a:moveTo>
                  <a:pt x="293131" y="0"/>
                </a:moveTo>
                <a:lnTo>
                  <a:pt x="334383" y="0"/>
                </a:lnTo>
                <a:lnTo>
                  <a:pt x="334383" y="47549"/>
                </a:lnTo>
                <a:lnTo>
                  <a:pt x="293131" y="47549"/>
                </a:lnTo>
                <a:close/>
                <a:moveTo>
                  <a:pt x="351757" y="0"/>
                </a:moveTo>
                <a:lnTo>
                  <a:pt x="393009" y="0"/>
                </a:lnTo>
                <a:lnTo>
                  <a:pt x="393009" y="47549"/>
                </a:lnTo>
                <a:lnTo>
                  <a:pt x="351757" y="47549"/>
                </a:lnTo>
                <a:close/>
                <a:moveTo>
                  <a:pt x="410383" y="0"/>
                </a:moveTo>
                <a:lnTo>
                  <a:pt x="451635" y="0"/>
                </a:lnTo>
                <a:lnTo>
                  <a:pt x="451635" y="47549"/>
                </a:lnTo>
                <a:lnTo>
                  <a:pt x="410383" y="47549"/>
                </a:lnTo>
                <a:close/>
                <a:moveTo>
                  <a:pt x="469009" y="0"/>
                </a:moveTo>
                <a:lnTo>
                  <a:pt x="510261" y="0"/>
                </a:lnTo>
                <a:lnTo>
                  <a:pt x="510261" y="47549"/>
                </a:lnTo>
                <a:lnTo>
                  <a:pt x="469009" y="47549"/>
                </a:lnTo>
                <a:close/>
                <a:moveTo>
                  <a:pt x="527635" y="0"/>
                </a:moveTo>
                <a:lnTo>
                  <a:pt x="568887" y="0"/>
                </a:lnTo>
                <a:lnTo>
                  <a:pt x="568887" y="47549"/>
                </a:lnTo>
                <a:lnTo>
                  <a:pt x="527635" y="47549"/>
                </a:lnTo>
                <a:close/>
                <a:moveTo>
                  <a:pt x="586261" y="0"/>
                </a:moveTo>
                <a:lnTo>
                  <a:pt x="627514" y="0"/>
                </a:lnTo>
                <a:lnTo>
                  <a:pt x="627514" y="47549"/>
                </a:lnTo>
                <a:lnTo>
                  <a:pt x="586261" y="47549"/>
                </a:lnTo>
                <a:close/>
                <a:moveTo>
                  <a:pt x="644887" y="0"/>
                </a:moveTo>
                <a:lnTo>
                  <a:pt x="686140" y="0"/>
                </a:lnTo>
                <a:lnTo>
                  <a:pt x="686140" y="47549"/>
                </a:lnTo>
                <a:lnTo>
                  <a:pt x="644887" y="47549"/>
                </a:lnTo>
                <a:close/>
                <a:moveTo>
                  <a:pt x="703513" y="0"/>
                </a:moveTo>
                <a:lnTo>
                  <a:pt x="744766" y="0"/>
                </a:lnTo>
                <a:lnTo>
                  <a:pt x="744766" y="47549"/>
                </a:lnTo>
                <a:lnTo>
                  <a:pt x="703513" y="47549"/>
                </a:lnTo>
                <a:close/>
                <a:moveTo>
                  <a:pt x="762139" y="0"/>
                </a:moveTo>
                <a:lnTo>
                  <a:pt x="803392" y="0"/>
                </a:lnTo>
                <a:lnTo>
                  <a:pt x="803392" y="47549"/>
                </a:lnTo>
                <a:lnTo>
                  <a:pt x="762139" y="47549"/>
                </a:lnTo>
                <a:close/>
                <a:moveTo>
                  <a:pt x="820765" y="0"/>
                </a:moveTo>
                <a:lnTo>
                  <a:pt x="862018" y="0"/>
                </a:lnTo>
                <a:lnTo>
                  <a:pt x="862018" y="47549"/>
                </a:lnTo>
                <a:lnTo>
                  <a:pt x="820765" y="47549"/>
                </a:lnTo>
                <a:close/>
                <a:moveTo>
                  <a:pt x="879392" y="0"/>
                </a:moveTo>
                <a:lnTo>
                  <a:pt x="920644" y="0"/>
                </a:lnTo>
                <a:lnTo>
                  <a:pt x="920644" y="47549"/>
                </a:lnTo>
                <a:lnTo>
                  <a:pt x="879392" y="47549"/>
                </a:lnTo>
                <a:close/>
                <a:moveTo>
                  <a:pt x="938018" y="0"/>
                </a:moveTo>
                <a:lnTo>
                  <a:pt x="979270" y="0"/>
                </a:lnTo>
                <a:lnTo>
                  <a:pt x="979270" y="47549"/>
                </a:lnTo>
                <a:lnTo>
                  <a:pt x="938018" y="47549"/>
                </a:lnTo>
                <a:close/>
                <a:moveTo>
                  <a:pt x="996644" y="0"/>
                </a:moveTo>
                <a:lnTo>
                  <a:pt x="1037896" y="0"/>
                </a:lnTo>
                <a:lnTo>
                  <a:pt x="1037896" y="47549"/>
                </a:lnTo>
                <a:lnTo>
                  <a:pt x="996644" y="47549"/>
                </a:lnTo>
                <a:close/>
                <a:moveTo>
                  <a:pt x="1055270" y="0"/>
                </a:moveTo>
                <a:lnTo>
                  <a:pt x="1096522" y="0"/>
                </a:lnTo>
                <a:lnTo>
                  <a:pt x="1096522" y="47549"/>
                </a:lnTo>
                <a:lnTo>
                  <a:pt x="1055270" y="47549"/>
                </a:lnTo>
                <a:close/>
                <a:moveTo>
                  <a:pt x="1113896" y="0"/>
                </a:moveTo>
                <a:lnTo>
                  <a:pt x="1155148" y="0"/>
                </a:lnTo>
                <a:lnTo>
                  <a:pt x="1155148" y="47549"/>
                </a:lnTo>
                <a:lnTo>
                  <a:pt x="1113896" y="47549"/>
                </a:lnTo>
                <a:close/>
                <a:moveTo>
                  <a:pt x="1172522" y="0"/>
                </a:moveTo>
                <a:lnTo>
                  <a:pt x="1213775" y="0"/>
                </a:lnTo>
                <a:lnTo>
                  <a:pt x="1213775" y="47549"/>
                </a:lnTo>
                <a:lnTo>
                  <a:pt x="1172522" y="47549"/>
                </a:lnTo>
                <a:close/>
                <a:moveTo>
                  <a:pt x="1231148" y="0"/>
                </a:moveTo>
                <a:lnTo>
                  <a:pt x="1272401" y="0"/>
                </a:lnTo>
                <a:lnTo>
                  <a:pt x="1272401" y="47549"/>
                </a:lnTo>
                <a:lnTo>
                  <a:pt x="1231148" y="47549"/>
                </a:lnTo>
                <a:close/>
                <a:moveTo>
                  <a:pt x="1289774" y="0"/>
                </a:moveTo>
                <a:lnTo>
                  <a:pt x="1331027" y="0"/>
                </a:lnTo>
                <a:lnTo>
                  <a:pt x="1331027" y="47549"/>
                </a:lnTo>
                <a:lnTo>
                  <a:pt x="1289774" y="47549"/>
                </a:lnTo>
                <a:close/>
                <a:moveTo>
                  <a:pt x="1348400" y="0"/>
                </a:moveTo>
                <a:lnTo>
                  <a:pt x="1389653" y="0"/>
                </a:lnTo>
                <a:lnTo>
                  <a:pt x="1389653" y="47549"/>
                </a:lnTo>
                <a:lnTo>
                  <a:pt x="1348400" y="47549"/>
                </a:lnTo>
                <a:close/>
                <a:moveTo>
                  <a:pt x="1407026" y="0"/>
                </a:moveTo>
                <a:lnTo>
                  <a:pt x="1448279" y="0"/>
                </a:lnTo>
                <a:lnTo>
                  <a:pt x="1448279" y="47549"/>
                </a:lnTo>
                <a:lnTo>
                  <a:pt x="1407026" y="47549"/>
                </a:lnTo>
                <a:close/>
                <a:moveTo>
                  <a:pt x="1465653" y="0"/>
                </a:moveTo>
                <a:lnTo>
                  <a:pt x="1506905" y="0"/>
                </a:lnTo>
                <a:lnTo>
                  <a:pt x="1506905" y="47549"/>
                </a:lnTo>
                <a:lnTo>
                  <a:pt x="1465653" y="47549"/>
                </a:lnTo>
                <a:close/>
                <a:moveTo>
                  <a:pt x="1524279" y="0"/>
                </a:moveTo>
                <a:lnTo>
                  <a:pt x="1565531" y="0"/>
                </a:lnTo>
                <a:lnTo>
                  <a:pt x="1565531" y="47549"/>
                </a:lnTo>
                <a:lnTo>
                  <a:pt x="1524279" y="47549"/>
                </a:lnTo>
                <a:close/>
                <a:moveTo>
                  <a:pt x="1582905" y="0"/>
                </a:moveTo>
                <a:lnTo>
                  <a:pt x="1624157" y="0"/>
                </a:lnTo>
                <a:lnTo>
                  <a:pt x="1624157" y="47549"/>
                </a:lnTo>
                <a:lnTo>
                  <a:pt x="1582905" y="47549"/>
                </a:lnTo>
                <a:close/>
                <a:moveTo>
                  <a:pt x="1641531" y="0"/>
                </a:moveTo>
                <a:lnTo>
                  <a:pt x="1682783" y="0"/>
                </a:lnTo>
                <a:lnTo>
                  <a:pt x="1682783" y="47549"/>
                </a:lnTo>
                <a:lnTo>
                  <a:pt x="1641531" y="47549"/>
                </a:lnTo>
                <a:close/>
                <a:moveTo>
                  <a:pt x="1700157" y="0"/>
                </a:moveTo>
                <a:lnTo>
                  <a:pt x="1741409" y="0"/>
                </a:lnTo>
                <a:lnTo>
                  <a:pt x="1741409" y="47549"/>
                </a:lnTo>
                <a:lnTo>
                  <a:pt x="1700157" y="47549"/>
                </a:lnTo>
                <a:close/>
                <a:moveTo>
                  <a:pt x="1758783" y="0"/>
                </a:moveTo>
                <a:lnTo>
                  <a:pt x="1800036" y="0"/>
                </a:lnTo>
                <a:lnTo>
                  <a:pt x="1800036" y="47549"/>
                </a:lnTo>
                <a:lnTo>
                  <a:pt x="1758783" y="47549"/>
                </a:lnTo>
                <a:close/>
                <a:moveTo>
                  <a:pt x="1817409" y="0"/>
                </a:moveTo>
                <a:lnTo>
                  <a:pt x="1858662" y="0"/>
                </a:lnTo>
                <a:lnTo>
                  <a:pt x="1858662" y="47549"/>
                </a:lnTo>
                <a:lnTo>
                  <a:pt x="1817409" y="47549"/>
                </a:lnTo>
                <a:close/>
                <a:moveTo>
                  <a:pt x="1876035" y="0"/>
                </a:moveTo>
                <a:lnTo>
                  <a:pt x="1917288" y="0"/>
                </a:lnTo>
                <a:lnTo>
                  <a:pt x="1917288" y="47549"/>
                </a:lnTo>
                <a:lnTo>
                  <a:pt x="1876035" y="47549"/>
                </a:lnTo>
                <a:close/>
                <a:moveTo>
                  <a:pt x="1934661" y="0"/>
                </a:moveTo>
                <a:lnTo>
                  <a:pt x="1975914" y="0"/>
                </a:lnTo>
                <a:lnTo>
                  <a:pt x="1975914" y="47549"/>
                </a:lnTo>
                <a:lnTo>
                  <a:pt x="1934661" y="47549"/>
                </a:lnTo>
                <a:close/>
                <a:moveTo>
                  <a:pt x="1993287" y="0"/>
                </a:moveTo>
                <a:lnTo>
                  <a:pt x="2034540" y="0"/>
                </a:lnTo>
                <a:lnTo>
                  <a:pt x="2034540" y="47549"/>
                </a:lnTo>
                <a:lnTo>
                  <a:pt x="1993287" y="47549"/>
                </a:lnTo>
                <a:close/>
                <a:moveTo>
                  <a:pt x="2051914" y="0"/>
                </a:moveTo>
                <a:lnTo>
                  <a:pt x="2093166" y="0"/>
                </a:lnTo>
                <a:lnTo>
                  <a:pt x="2093166" y="47549"/>
                </a:lnTo>
                <a:lnTo>
                  <a:pt x="2051914" y="47549"/>
                </a:lnTo>
                <a:close/>
                <a:moveTo>
                  <a:pt x="2110540" y="0"/>
                </a:moveTo>
                <a:lnTo>
                  <a:pt x="2151792" y="0"/>
                </a:lnTo>
                <a:lnTo>
                  <a:pt x="2151792" y="47549"/>
                </a:lnTo>
                <a:lnTo>
                  <a:pt x="2110540" y="47549"/>
                </a:lnTo>
                <a:close/>
                <a:moveTo>
                  <a:pt x="2169166" y="0"/>
                </a:moveTo>
                <a:lnTo>
                  <a:pt x="2210418" y="0"/>
                </a:lnTo>
                <a:lnTo>
                  <a:pt x="2210418" y="47549"/>
                </a:lnTo>
                <a:lnTo>
                  <a:pt x="2169166" y="47549"/>
                </a:lnTo>
                <a:close/>
                <a:moveTo>
                  <a:pt x="2227792" y="0"/>
                </a:moveTo>
                <a:lnTo>
                  <a:pt x="2269044" y="0"/>
                </a:lnTo>
                <a:lnTo>
                  <a:pt x="2269044" y="47549"/>
                </a:lnTo>
                <a:lnTo>
                  <a:pt x="2227792" y="47549"/>
                </a:lnTo>
                <a:close/>
                <a:moveTo>
                  <a:pt x="2286418" y="0"/>
                </a:moveTo>
                <a:lnTo>
                  <a:pt x="2327671" y="0"/>
                </a:lnTo>
                <a:lnTo>
                  <a:pt x="2327671" y="47549"/>
                </a:lnTo>
                <a:lnTo>
                  <a:pt x="2286418" y="47549"/>
                </a:lnTo>
                <a:close/>
                <a:moveTo>
                  <a:pt x="2345044" y="0"/>
                </a:moveTo>
                <a:lnTo>
                  <a:pt x="2386297" y="0"/>
                </a:lnTo>
                <a:lnTo>
                  <a:pt x="2386297" y="47549"/>
                </a:lnTo>
                <a:lnTo>
                  <a:pt x="2345044" y="47549"/>
                </a:lnTo>
                <a:close/>
                <a:moveTo>
                  <a:pt x="2403670" y="0"/>
                </a:moveTo>
                <a:lnTo>
                  <a:pt x="2444923" y="0"/>
                </a:lnTo>
                <a:lnTo>
                  <a:pt x="2444923" y="47549"/>
                </a:lnTo>
                <a:lnTo>
                  <a:pt x="2403670" y="47549"/>
                </a:lnTo>
                <a:close/>
                <a:moveTo>
                  <a:pt x="2462296" y="0"/>
                </a:moveTo>
                <a:lnTo>
                  <a:pt x="2503549" y="0"/>
                </a:lnTo>
                <a:lnTo>
                  <a:pt x="2503549" y="47549"/>
                </a:lnTo>
                <a:lnTo>
                  <a:pt x="2462296" y="47549"/>
                </a:lnTo>
                <a:close/>
                <a:moveTo>
                  <a:pt x="2520922" y="0"/>
                </a:moveTo>
                <a:lnTo>
                  <a:pt x="2562175" y="0"/>
                </a:lnTo>
                <a:lnTo>
                  <a:pt x="2562175" y="47549"/>
                </a:lnTo>
                <a:lnTo>
                  <a:pt x="2520922" y="47549"/>
                </a:lnTo>
                <a:close/>
                <a:moveTo>
                  <a:pt x="2579549" y="0"/>
                </a:moveTo>
                <a:lnTo>
                  <a:pt x="2620801" y="0"/>
                </a:lnTo>
                <a:lnTo>
                  <a:pt x="2620801" y="47549"/>
                </a:lnTo>
                <a:lnTo>
                  <a:pt x="2579549" y="47549"/>
                </a:lnTo>
                <a:close/>
                <a:moveTo>
                  <a:pt x="2638175" y="0"/>
                </a:moveTo>
                <a:lnTo>
                  <a:pt x="2679427" y="0"/>
                </a:lnTo>
                <a:lnTo>
                  <a:pt x="2679427" y="47549"/>
                </a:lnTo>
                <a:lnTo>
                  <a:pt x="2638175" y="47549"/>
                </a:lnTo>
                <a:close/>
                <a:moveTo>
                  <a:pt x="2696801" y="0"/>
                </a:moveTo>
                <a:lnTo>
                  <a:pt x="2738053" y="0"/>
                </a:lnTo>
                <a:lnTo>
                  <a:pt x="2738053" y="47549"/>
                </a:lnTo>
                <a:lnTo>
                  <a:pt x="2696801" y="47549"/>
                </a:lnTo>
                <a:close/>
                <a:moveTo>
                  <a:pt x="2755427" y="0"/>
                </a:moveTo>
                <a:lnTo>
                  <a:pt x="2796679" y="0"/>
                </a:lnTo>
                <a:lnTo>
                  <a:pt x="2796679" y="47549"/>
                </a:lnTo>
                <a:lnTo>
                  <a:pt x="2755427" y="47549"/>
                </a:lnTo>
                <a:close/>
                <a:moveTo>
                  <a:pt x="2814053" y="0"/>
                </a:moveTo>
                <a:lnTo>
                  <a:pt x="2855305" y="0"/>
                </a:lnTo>
                <a:lnTo>
                  <a:pt x="2855305" y="47549"/>
                </a:lnTo>
                <a:lnTo>
                  <a:pt x="2814053" y="47549"/>
                </a:lnTo>
                <a:close/>
                <a:moveTo>
                  <a:pt x="2872679" y="0"/>
                </a:moveTo>
                <a:lnTo>
                  <a:pt x="2913932" y="0"/>
                </a:lnTo>
                <a:lnTo>
                  <a:pt x="2913932" y="47549"/>
                </a:lnTo>
                <a:lnTo>
                  <a:pt x="2872679" y="47549"/>
                </a:lnTo>
                <a:close/>
                <a:moveTo>
                  <a:pt x="2931305" y="0"/>
                </a:moveTo>
                <a:lnTo>
                  <a:pt x="2972558" y="0"/>
                </a:lnTo>
                <a:lnTo>
                  <a:pt x="2972558" y="47549"/>
                </a:lnTo>
                <a:lnTo>
                  <a:pt x="2931305" y="47549"/>
                </a:lnTo>
                <a:close/>
                <a:moveTo>
                  <a:pt x="2989931" y="0"/>
                </a:moveTo>
                <a:lnTo>
                  <a:pt x="3031184" y="0"/>
                </a:lnTo>
                <a:lnTo>
                  <a:pt x="3031184" y="47549"/>
                </a:lnTo>
                <a:lnTo>
                  <a:pt x="2989931" y="47549"/>
                </a:lnTo>
                <a:close/>
                <a:moveTo>
                  <a:pt x="3048557" y="0"/>
                </a:moveTo>
                <a:lnTo>
                  <a:pt x="3089810" y="0"/>
                </a:lnTo>
                <a:lnTo>
                  <a:pt x="3089810" y="47549"/>
                </a:lnTo>
                <a:lnTo>
                  <a:pt x="3048557" y="47549"/>
                </a:lnTo>
                <a:close/>
                <a:moveTo>
                  <a:pt x="3107183" y="0"/>
                </a:moveTo>
                <a:lnTo>
                  <a:pt x="3148436" y="0"/>
                </a:lnTo>
                <a:lnTo>
                  <a:pt x="3148436" y="47549"/>
                </a:lnTo>
                <a:lnTo>
                  <a:pt x="3107183" y="47549"/>
                </a:lnTo>
                <a:close/>
                <a:moveTo>
                  <a:pt x="3165810" y="0"/>
                </a:moveTo>
                <a:lnTo>
                  <a:pt x="3207062" y="0"/>
                </a:lnTo>
                <a:lnTo>
                  <a:pt x="3207062" y="47549"/>
                </a:lnTo>
                <a:lnTo>
                  <a:pt x="3165810" y="47549"/>
                </a:lnTo>
                <a:close/>
                <a:moveTo>
                  <a:pt x="3224436" y="0"/>
                </a:moveTo>
                <a:lnTo>
                  <a:pt x="3265688" y="0"/>
                </a:lnTo>
                <a:lnTo>
                  <a:pt x="3265688" y="47549"/>
                </a:lnTo>
                <a:lnTo>
                  <a:pt x="3224436" y="47549"/>
                </a:lnTo>
                <a:close/>
                <a:moveTo>
                  <a:pt x="3283062" y="0"/>
                </a:moveTo>
                <a:lnTo>
                  <a:pt x="3324314" y="0"/>
                </a:lnTo>
                <a:lnTo>
                  <a:pt x="3324314" y="47549"/>
                </a:lnTo>
                <a:lnTo>
                  <a:pt x="3283062" y="47549"/>
                </a:lnTo>
                <a:close/>
                <a:moveTo>
                  <a:pt x="3341688" y="0"/>
                </a:moveTo>
                <a:lnTo>
                  <a:pt x="3382940" y="0"/>
                </a:lnTo>
                <a:lnTo>
                  <a:pt x="3382940" y="47549"/>
                </a:lnTo>
                <a:lnTo>
                  <a:pt x="3341688" y="47549"/>
                </a:lnTo>
                <a:close/>
                <a:moveTo>
                  <a:pt x="3400314" y="0"/>
                </a:moveTo>
                <a:lnTo>
                  <a:pt x="3441566" y="0"/>
                </a:lnTo>
                <a:lnTo>
                  <a:pt x="3441566" y="47549"/>
                </a:lnTo>
                <a:lnTo>
                  <a:pt x="3400314" y="47549"/>
                </a:lnTo>
                <a:close/>
                <a:moveTo>
                  <a:pt x="3458940" y="0"/>
                </a:moveTo>
                <a:lnTo>
                  <a:pt x="3500193" y="0"/>
                </a:lnTo>
                <a:lnTo>
                  <a:pt x="3500193" y="47549"/>
                </a:lnTo>
                <a:lnTo>
                  <a:pt x="3458940" y="47549"/>
                </a:lnTo>
                <a:close/>
                <a:moveTo>
                  <a:pt x="3517566" y="0"/>
                </a:moveTo>
                <a:lnTo>
                  <a:pt x="3558819" y="0"/>
                </a:lnTo>
                <a:lnTo>
                  <a:pt x="3558819" y="47549"/>
                </a:lnTo>
                <a:lnTo>
                  <a:pt x="3517566" y="47549"/>
                </a:lnTo>
                <a:close/>
                <a:moveTo>
                  <a:pt x="3576192" y="0"/>
                </a:moveTo>
                <a:lnTo>
                  <a:pt x="3617445" y="0"/>
                </a:lnTo>
                <a:lnTo>
                  <a:pt x="3617445" y="47549"/>
                </a:lnTo>
                <a:lnTo>
                  <a:pt x="3576192" y="47549"/>
                </a:lnTo>
                <a:close/>
                <a:moveTo>
                  <a:pt x="3634818" y="0"/>
                </a:moveTo>
                <a:lnTo>
                  <a:pt x="3676071" y="0"/>
                </a:lnTo>
                <a:lnTo>
                  <a:pt x="3676071" y="47549"/>
                </a:lnTo>
                <a:lnTo>
                  <a:pt x="3634818" y="47549"/>
                </a:lnTo>
                <a:close/>
                <a:moveTo>
                  <a:pt x="3693444" y="0"/>
                </a:moveTo>
                <a:lnTo>
                  <a:pt x="3734697" y="0"/>
                </a:lnTo>
                <a:lnTo>
                  <a:pt x="3734697" y="47549"/>
                </a:lnTo>
                <a:lnTo>
                  <a:pt x="3693444" y="47549"/>
                </a:lnTo>
                <a:close/>
                <a:moveTo>
                  <a:pt x="3752071" y="0"/>
                </a:moveTo>
                <a:lnTo>
                  <a:pt x="3793323" y="0"/>
                </a:lnTo>
                <a:lnTo>
                  <a:pt x="3793323" y="47549"/>
                </a:lnTo>
                <a:lnTo>
                  <a:pt x="3752071" y="47549"/>
                </a:lnTo>
                <a:close/>
                <a:moveTo>
                  <a:pt x="3810697" y="0"/>
                </a:moveTo>
                <a:lnTo>
                  <a:pt x="3851949" y="0"/>
                </a:lnTo>
                <a:lnTo>
                  <a:pt x="3851949" y="47549"/>
                </a:lnTo>
                <a:lnTo>
                  <a:pt x="3810697" y="47549"/>
                </a:lnTo>
                <a:close/>
                <a:moveTo>
                  <a:pt x="3869323" y="0"/>
                </a:moveTo>
                <a:lnTo>
                  <a:pt x="3910575" y="0"/>
                </a:lnTo>
                <a:lnTo>
                  <a:pt x="3910575" y="47549"/>
                </a:lnTo>
                <a:lnTo>
                  <a:pt x="3869323" y="47549"/>
                </a:lnTo>
                <a:close/>
                <a:moveTo>
                  <a:pt x="3927949" y="0"/>
                </a:moveTo>
                <a:lnTo>
                  <a:pt x="3969201" y="0"/>
                </a:lnTo>
                <a:lnTo>
                  <a:pt x="3969201" y="47549"/>
                </a:lnTo>
                <a:lnTo>
                  <a:pt x="3927949" y="47549"/>
                </a:lnTo>
                <a:close/>
                <a:moveTo>
                  <a:pt x="3986575" y="0"/>
                </a:moveTo>
                <a:lnTo>
                  <a:pt x="4027827" y="0"/>
                </a:lnTo>
                <a:lnTo>
                  <a:pt x="4027827" y="47549"/>
                </a:lnTo>
                <a:lnTo>
                  <a:pt x="3986575" y="47549"/>
                </a:lnTo>
                <a:close/>
                <a:moveTo>
                  <a:pt x="4045201" y="0"/>
                </a:moveTo>
                <a:lnTo>
                  <a:pt x="4086454" y="0"/>
                </a:lnTo>
                <a:lnTo>
                  <a:pt x="4086454" y="47549"/>
                </a:lnTo>
                <a:lnTo>
                  <a:pt x="4045201" y="47549"/>
                </a:lnTo>
                <a:close/>
              </a:path>
            </a:pathLst>
          </a:cu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5" name="Selected top k horizontal filmstrip photo 1" descr="Selected top k horizontal filmstrip photo 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893040" y="4581144"/>
            <a:ext cx="877824" cy="557784"/>
          </a:xfrm>
          <a:prstGeom prst="roundRect">
            <a:avLst>
              <a:gd name="adj" fmla="val 3278"/>
            </a:avLst>
          </a:prstGeom>
        </p:spPr>
      </p:pic>
      <p:sp>
        <p:nvSpPr>
          <p:cNvPr id="226" name="Selected top k horizontal filmstrip frame 1" descr="Selected top k horizontal filmstrip frame 1"/>
          <p:cNvSpPr/>
          <p:nvPr/>
        </p:nvSpPr>
        <p:spPr>
          <a:xfrm>
            <a:off x="12886639" y="4574743"/>
            <a:ext cx="890626" cy="570586"/>
          </a:xfrm>
          <a:prstGeom prst="roundRect">
            <a:avLst>
              <a:gd name="adj" fmla="val 2564"/>
            </a:avLst>
          </a:prstGeom>
          <a:noFill/>
          <a:ln w="246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Selected top k horizontal filmstrip photo 2" descr="Selected top k horizontal filmstrip photo 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844016" y="4572000"/>
            <a:ext cx="877824" cy="557784"/>
          </a:xfrm>
          <a:prstGeom prst="roundRect">
            <a:avLst>
              <a:gd name="adj" fmla="val 3278"/>
            </a:avLst>
          </a:prstGeom>
        </p:spPr>
      </p:pic>
      <p:pic>
        <p:nvPicPr>
          <p:cNvPr id="228" name="Selected top k horizontal filmstrip photo 3" descr="Selected top k horizontal filmstrip photo 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115032" y="4572000"/>
            <a:ext cx="877824" cy="557784"/>
          </a:xfrm>
          <a:prstGeom prst="roundRect">
            <a:avLst>
              <a:gd name="adj" fmla="val 3278"/>
            </a:avLst>
          </a:prstGeom>
        </p:spPr>
      </p:pic>
      <p:pic>
        <p:nvPicPr>
          <p:cNvPr id="229" name="Selected top k horizontal filmstrip photo 4" descr="Selected top k horizontal filmstrip photo 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084296" y="4572000"/>
            <a:ext cx="850392" cy="557784"/>
          </a:xfrm>
          <a:prstGeom prst="roundRect">
            <a:avLst>
              <a:gd name="adj" fmla="val 3278"/>
            </a:avLst>
          </a:prstGeom>
        </p:spPr>
      </p:pic>
      <p:sp>
        <p:nvSpPr>
          <p:cNvPr id="230" name="Selected top k horizontal filmstrip frame 4" descr="Selected top k horizontal filmstrip frame 4"/>
          <p:cNvSpPr/>
          <p:nvPr/>
        </p:nvSpPr>
        <p:spPr>
          <a:xfrm>
            <a:off x="16077895" y="4565599"/>
            <a:ext cx="863194" cy="570586"/>
          </a:xfrm>
          <a:prstGeom prst="roundRect">
            <a:avLst>
              <a:gd name="adj" fmla="val 2564"/>
            </a:avLst>
          </a:prstGeom>
          <a:noFill/>
          <a:ln w="246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elected frames ellipsis cell" descr="Selected frames ellipsis cell"/>
          <p:cNvSpPr/>
          <p:nvPr/>
        </p:nvSpPr>
        <p:spPr>
          <a:xfrm>
            <a:off x="14785848" y="4572000"/>
            <a:ext cx="274320" cy="557784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elected frames ellipsis" descr="Selected frames ellipsis"/>
          <p:cNvSpPr txBox="1"/>
          <p:nvPr/>
        </p:nvSpPr>
        <p:spPr>
          <a:xfrm>
            <a:off x="14552676" y="4700016"/>
            <a:ext cx="731520" cy="26993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33" name="Selected video to pose model" descr="Selected video to pose model"/>
          <p:cNvSpPr/>
          <p:nvPr/>
        </p:nvSpPr>
        <p:spPr>
          <a:xfrm>
            <a:off x="14895576" y="5212080"/>
            <a:ext cx="183" cy="502920"/>
          </a:xfrm>
          <a:custGeom>
            <a:avLst/>
            <a:gdLst/>
            <a:ahLst/>
            <a:cxnLst/>
            <a:rect l="0" t="0" r="r" b="b"/>
            <a:pathLst>
              <a:path w="183" h="502920">
                <a:moveTo>
                  <a:pt x="0" y="0"/>
                </a:moveTo>
                <a:lnTo>
                  <a:pt x="0" y="502920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Video clip down-link" descr="Video clip down-link"/>
          <p:cNvSpPr/>
          <p:nvPr/>
        </p:nvSpPr>
        <p:spPr>
          <a:xfrm>
            <a:off x="6419088" y="5577840"/>
            <a:ext cx="100584" cy="137160"/>
          </a:xfrm>
          <a:custGeom>
            <a:avLst/>
            <a:gdLst/>
            <a:ahLst/>
            <a:cxnLst/>
            <a:rect l="0" t="0" r="r" b="b"/>
            <a:pathLst>
              <a:path w="100584" h="137160">
                <a:moveTo>
                  <a:pt x="0" y="0"/>
                </a:moveTo>
                <a:cubicBezTo>
                  <a:pt x="18288" y="109728"/>
                  <a:pt x="82296" y="73152"/>
                  <a:pt x="100584" y="137160"/>
                </a:cubicBez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Hybrid video down-link" descr="Hybrid video down-link"/>
          <p:cNvSpPr/>
          <p:nvPr/>
        </p:nvSpPr>
        <p:spPr>
          <a:xfrm>
            <a:off x="10917936" y="5568696"/>
            <a:ext cx="356616" cy="146304"/>
          </a:xfrm>
          <a:custGeom>
            <a:avLst/>
            <a:gdLst/>
            <a:ahLst/>
            <a:cxnLst/>
            <a:rect l="0" t="0" r="r" b="b"/>
            <a:pathLst>
              <a:path w="356616" h="146304">
                <a:moveTo>
                  <a:pt x="356616" y="0"/>
                </a:moveTo>
                <a:cubicBezTo>
                  <a:pt x="219456" y="146304"/>
                  <a:pt x="146304" y="73152"/>
                  <a:pt x="0" y="146304"/>
                </a:cubicBez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Baseline pose model box" descr="Baseline pose model box"/>
          <p:cNvSpPr/>
          <p:nvPr/>
        </p:nvSpPr>
        <p:spPr>
          <a:xfrm>
            <a:off x="109728" y="5715000"/>
            <a:ext cx="3328416" cy="539496"/>
          </a:xfrm>
          <a:prstGeom prst="roundRect">
            <a:avLst>
              <a:gd name="adj" fmla="val 18644"/>
            </a:avLst>
          </a:prstGeom>
          <a:solidFill>
            <a:srgbClr val="ACB7C9"/>
          </a:solidFill>
          <a:ln w="19202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Baseline pose model text" descr="Baseline pose model text"/>
          <p:cNvSpPr txBox="1"/>
          <p:nvPr/>
        </p:nvSpPr>
        <p:spPr>
          <a:xfrm>
            <a:off x="-500725" y="5779008"/>
            <a:ext cx="4622475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Pose Model (e.g. DUSt3R)</a:t>
            </a:r>
          </a:p>
        </p:txBody>
      </p:sp>
      <p:sp>
        <p:nvSpPr>
          <p:cNvPr id="238" name="Generated video pose model box" descr="Generated video pose model box"/>
          <p:cNvSpPr/>
          <p:nvPr/>
        </p:nvSpPr>
        <p:spPr>
          <a:xfrm>
            <a:off x="4855464" y="5715000"/>
            <a:ext cx="7525512" cy="539496"/>
          </a:xfrm>
          <a:prstGeom prst="roundRect">
            <a:avLst>
              <a:gd name="adj" fmla="val 18644"/>
            </a:avLst>
          </a:prstGeom>
          <a:solidFill>
            <a:srgbClr val="ACB7C9"/>
          </a:solidFill>
          <a:ln w="19202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enerated video pose model text" descr="Generated video pose model text"/>
          <p:cNvSpPr txBox="1"/>
          <p:nvPr/>
        </p:nvSpPr>
        <p:spPr>
          <a:xfrm>
            <a:off x="6343559" y="5779008"/>
            <a:ext cx="4622475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Pose Model (e.g. DUSt3R)</a:t>
            </a:r>
          </a:p>
        </p:txBody>
      </p:sp>
      <p:sp>
        <p:nvSpPr>
          <p:cNvPr id="240" name="Selected video pose model box" descr="Selected video pose model box"/>
          <p:cNvSpPr/>
          <p:nvPr/>
        </p:nvSpPr>
        <p:spPr>
          <a:xfrm>
            <a:off x="12819888" y="5715000"/>
            <a:ext cx="4151376" cy="539496"/>
          </a:xfrm>
          <a:prstGeom prst="roundRect">
            <a:avLst>
              <a:gd name="adj" fmla="val 18644"/>
            </a:avLst>
          </a:prstGeom>
          <a:solidFill>
            <a:srgbClr val="ACB7C9"/>
          </a:solidFill>
          <a:ln w="19202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elected video pose model text" descr="Selected video pose model text"/>
          <p:cNvSpPr txBox="1"/>
          <p:nvPr/>
        </p:nvSpPr>
        <p:spPr>
          <a:xfrm>
            <a:off x="12620915" y="5779008"/>
            <a:ext cx="4622475" cy="359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 marL="0" marR="0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Pose Model (e.g. DUSt3R)</a:t>
            </a:r>
          </a:p>
        </p:txBody>
      </p:sp>
      <p:sp>
        <p:nvSpPr>
          <p:cNvPr id="242" name="Baseline model to reconstruction shaft" descr="Baseline model to reconstruction shaft"/>
          <p:cNvSpPr/>
          <p:nvPr/>
        </p:nvSpPr>
        <p:spPr>
          <a:xfrm>
            <a:off x="1773936" y="6254496"/>
            <a:ext cx="183" cy="115580"/>
          </a:xfrm>
          <a:custGeom>
            <a:avLst/>
            <a:gdLst/>
            <a:ahLst/>
            <a:cxnLst/>
            <a:rect l="0" t="0" r="r" b="b"/>
            <a:pathLst>
              <a:path w="183" h="115580">
                <a:moveTo>
                  <a:pt x="0" y="0"/>
                </a:moveTo>
                <a:lnTo>
                  <a:pt x="0" y="115580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Baseline model to reconstruction arrowhead" descr="Baseline model to reconstruction arrowhead"/>
          <p:cNvSpPr/>
          <p:nvPr/>
        </p:nvSpPr>
        <p:spPr>
          <a:xfrm>
            <a:off x="1721267" y="6345936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Video clip model to reconstruction shaft" descr="Video clip model to reconstruction shaft"/>
          <p:cNvSpPr/>
          <p:nvPr/>
        </p:nvSpPr>
        <p:spPr>
          <a:xfrm>
            <a:off x="6620256" y="6254496"/>
            <a:ext cx="183" cy="115580"/>
          </a:xfrm>
          <a:custGeom>
            <a:avLst/>
            <a:gdLst/>
            <a:ahLst/>
            <a:cxnLst/>
            <a:rect l="0" t="0" r="r" b="b"/>
            <a:pathLst>
              <a:path w="183" h="115580">
                <a:moveTo>
                  <a:pt x="0" y="0"/>
                </a:moveTo>
                <a:lnTo>
                  <a:pt x="0" y="115580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Video clip model to reconstruction arrowhead" descr="Video clip model to reconstruction arrowhead"/>
          <p:cNvSpPr/>
          <p:nvPr/>
        </p:nvSpPr>
        <p:spPr>
          <a:xfrm>
            <a:off x="6567587" y="6345936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Hybrid model to reconstruction shaft" descr="Hybrid model to reconstruction shaft"/>
          <p:cNvSpPr/>
          <p:nvPr/>
        </p:nvSpPr>
        <p:spPr>
          <a:xfrm>
            <a:off x="10587357" y="6254496"/>
            <a:ext cx="10539" cy="115932"/>
          </a:xfrm>
          <a:custGeom>
            <a:avLst/>
            <a:gdLst/>
            <a:ahLst/>
            <a:cxnLst/>
            <a:rect l="0" t="0" r="r" b="b"/>
            <a:pathLst>
              <a:path w="10539" h="115932">
                <a:moveTo>
                  <a:pt x="10539" y="0"/>
                </a:moveTo>
                <a:lnTo>
                  <a:pt x="0" y="115932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Hybrid model to reconstruction arrowhead" descr="Hybrid model to reconstruction arrowhead"/>
          <p:cNvSpPr/>
          <p:nvPr/>
        </p:nvSpPr>
        <p:spPr>
          <a:xfrm>
            <a:off x="10537089" y="6341618"/>
            <a:ext cx="104906" cy="114046"/>
          </a:xfrm>
          <a:custGeom>
            <a:avLst/>
            <a:gdLst/>
            <a:ahLst/>
            <a:cxnLst/>
            <a:rect l="0" t="0" r="r" b="b"/>
            <a:pathLst>
              <a:path w="104906" h="114046">
                <a:moveTo>
                  <a:pt x="42519" y="114046"/>
                </a:moveTo>
                <a:lnTo>
                  <a:pt x="0" y="0"/>
                </a:lnTo>
                <a:lnTo>
                  <a:pt x="104906" y="95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elected model to reconstruction shaft" descr="Selected model to reconstruction shaft"/>
          <p:cNvSpPr/>
          <p:nvPr/>
        </p:nvSpPr>
        <p:spPr>
          <a:xfrm>
            <a:off x="14904720" y="6254496"/>
            <a:ext cx="183" cy="115580"/>
          </a:xfrm>
          <a:custGeom>
            <a:avLst/>
            <a:gdLst/>
            <a:ahLst/>
            <a:cxnLst/>
            <a:rect l="0" t="0" r="r" b="b"/>
            <a:pathLst>
              <a:path w="183" h="115580">
                <a:moveTo>
                  <a:pt x="0" y="0"/>
                </a:moveTo>
                <a:lnTo>
                  <a:pt x="0" y="115580"/>
                </a:lnTo>
              </a:path>
            </a:pathLst>
          </a:custGeom>
          <a:noFill/>
          <a:ln w="24688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elected model to reconstruction arrowhead" descr="Selected model to reconstruction arrowhead"/>
          <p:cNvSpPr/>
          <p:nvPr/>
        </p:nvSpPr>
        <p:spPr>
          <a:xfrm>
            <a:off x="14852051" y="6345936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0" name="Baseline point cloud" descr="Baseline point cloud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288" y="6547104"/>
            <a:ext cx="3538728" cy="1600200"/>
          </a:xfrm>
          <a:prstGeom prst="rect">
            <a:avLst/>
          </a:prstGeom>
        </p:spPr>
      </p:pic>
      <p:pic>
        <p:nvPicPr>
          <p:cNvPr id="251" name="Video clip reconstruction" descr="Video clip reconstructi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28616" y="6547104"/>
            <a:ext cx="3447288" cy="2212848"/>
          </a:xfrm>
          <a:prstGeom prst="rect">
            <a:avLst/>
          </a:prstGeom>
        </p:spPr>
      </p:pic>
      <p:pic>
        <p:nvPicPr>
          <p:cNvPr id="252" name="Hybrid video reconstruction" descr="Hybrid video reconstructi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06256" y="6547104"/>
            <a:ext cx="3447288" cy="2414016"/>
          </a:xfrm>
          <a:prstGeom prst="rect">
            <a:avLst/>
          </a:prstGeom>
        </p:spPr>
      </p:pic>
      <p:pic>
        <p:nvPicPr>
          <p:cNvPr id="253" name="Selected frames reconstruction" descr="Selected frames reconstruction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185648" y="6547104"/>
            <a:ext cx="3630168" cy="2093976"/>
          </a:xfrm>
          <a:prstGeom prst="rect">
            <a:avLst/>
          </a:prstGeom>
        </p:spPr>
      </p:pic>
      <p:sp>
        <p:nvSpPr>
          <p:cNvPr id="254" name="Baseline estimated cameras dark face 0" descr="Baseline estimated cameras dark face 0"/>
          <p:cNvSpPr/>
          <p:nvPr/>
        </p:nvSpPr>
        <p:spPr>
          <a:xfrm>
            <a:off x="1234440" y="7726680"/>
            <a:ext cx="475488" cy="301752"/>
          </a:xfrm>
          <a:custGeom>
            <a:avLst/>
            <a:gdLst/>
            <a:ahLst/>
            <a:cxnLst/>
            <a:rect l="0" t="0" r="r" b="b"/>
            <a:pathLst>
              <a:path w="475488" h="301752">
                <a:moveTo>
                  <a:pt x="0" y="36576"/>
                </a:moveTo>
                <a:lnTo>
                  <a:pt x="475488" y="0"/>
                </a:lnTo>
                <a:lnTo>
                  <a:pt x="356616" y="301752"/>
                </a:lnTo>
                <a:lnTo>
                  <a:pt x="73152" y="2468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Baseline estimated cameras sensor 0" descr="Baseline estimated cameras sensor 0"/>
          <p:cNvSpPr/>
          <p:nvPr/>
        </p:nvSpPr>
        <p:spPr>
          <a:xfrm>
            <a:off x="1234440" y="7726680"/>
            <a:ext cx="475488" cy="466344"/>
          </a:xfrm>
          <a:custGeom>
            <a:avLst/>
            <a:gdLst/>
            <a:ahLst/>
            <a:cxnLst/>
            <a:rect l="0" t="0" r="r" b="b"/>
            <a:pathLst>
              <a:path w="475488" h="466344">
                <a:moveTo>
                  <a:pt x="0" y="36576"/>
                </a:moveTo>
                <a:lnTo>
                  <a:pt x="475488" y="0"/>
                </a:lnTo>
                <a:lnTo>
                  <a:pt x="347472" y="466344"/>
                </a:lnTo>
                <a:lnTo>
                  <a:pt x="54864" y="210312"/>
                </a:lnTo>
                <a:close/>
              </a:path>
            </a:pathLst>
          </a:custGeom>
          <a:noFill/>
          <a:ln w="205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Baseline estimated cameras ray 0-0" descr="Baseline estimated cameras ray 0-0"/>
          <p:cNvSpPr/>
          <p:nvPr/>
        </p:nvSpPr>
        <p:spPr>
          <a:xfrm>
            <a:off x="1234440" y="7763256"/>
            <a:ext cx="347472" cy="429768"/>
          </a:xfrm>
          <a:custGeom>
            <a:avLst/>
            <a:gdLst/>
            <a:ahLst/>
            <a:cxnLst/>
            <a:rect l="0" t="0" r="r" b="b"/>
            <a:pathLst>
              <a:path w="347472" h="429768">
                <a:moveTo>
                  <a:pt x="0" y="0"/>
                </a:moveTo>
                <a:lnTo>
                  <a:pt x="347472" y="429768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Baseline estimated cameras ray 0-1" descr="Baseline estimated cameras ray 0-1"/>
          <p:cNvSpPr/>
          <p:nvPr/>
        </p:nvSpPr>
        <p:spPr>
          <a:xfrm>
            <a:off x="1581912" y="7726680"/>
            <a:ext cx="128016" cy="466344"/>
          </a:xfrm>
          <a:custGeom>
            <a:avLst/>
            <a:gdLst/>
            <a:ahLst/>
            <a:cxnLst/>
            <a:rect l="0" t="0" r="r" b="b"/>
            <a:pathLst>
              <a:path w="128016" h="466344">
                <a:moveTo>
                  <a:pt x="128016" y="0"/>
                </a:moveTo>
                <a:lnTo>
                  <a:pt x="0" y="466344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Baseline estimated cameras ray 0-2" descr="Baseline estimated cameras ray 0-2"/>
          <p:cNvSpPr/>
          <p:nvPr/>
        </p:nvSpPr>
        <p:spPr>
          <a:xfrm>
            <a:off x="1581912" y="8193024"/>
            <a:ext cx="183" cy="183"/>
          </a:xfrm>
          <a:custGeom>
            <a:avLst/>
            <a:gdLst/>
            <a:ahLst/>
            <a:cxnLst/>
            <a:rect l="0" t="0" r="r" b="b"/>
            <a:pathLst>
              <a:path w="183" h="18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Baseline estimated cameras ray 0-3" descr="Baseline estimated cameras ray 0-3"/>
          <p:cNvSpPr/>
          <p:nvPr/>
        </p:nvSpPr>
        <p:spPr>
          <a:xfrm>
            <a:off x="1289304" y="7936992"/>
            <a:ext cx="292608" cy="256032"/>
          </a:xfrm>
          <a:custGeom>
            <a:avLst/>
            <a:gdLst/>
            <a:ahLst/>
            <a:cxnLst/>
            <a:rect l="0" t="0" r="r" b="b"/>
            <a:pathLst>
              <a:path w="292608" h="256032">
                <a:moveTo>
                  <a:pt x="0" y="0"/>
                </a:moveTo>
                <a:lnTo>
                  <a:pt x="292608" y="256032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Baseline estimated cameras sensor 1" descr="Baseline estimated cameras sensor 1"/>
          <p:cNvSpPr/>
          <p:nvPr/>
        </p:nvSpPr>
        <p:spPr>
          <a:xfrm>
            <a:off x="1600200" y="7726680"/>
            <a:ext cx="484632" cy="502920"/>
          </a:xfrm>
          <a:custGeom>
            <a:avLst/>
            <a:gdLst/>
            <a:ahLst/>
            <a:cxnLst/>
            <a:rect l="0" t="0" r="r" b="b"/>
            <a:pathLst>
              <a:path w="484632" h="502920">
                <a:moveTo>
                  <a:pt x="109728" y="0"/>
                </a:moveTo>
                <a:lnTo>
                  <a:pt x="484632" y="438912"/>
                </a:lnTo>
                <a:lnTo>
                  <a:pt x="0" y="502920"/>
                </a:lnTo>
                <a:close/>
              </a:path>
            </a:pathLst>
          </a:custGeom>
          <a:noFill/>
          <a:ln w="2057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Baseline estimated cameras ray 1-0" descr="Baseline estimated cameras ray 1-0"/>
          <p:cNvSpPr/>
          <p:nvPr/>
        </p:nvSpPr>
        <p:spPr>
          <a:xfrm>
            <a:off x="1581912" y="7726680"/>
            <a:ext cx="128016" cy="466344"/>
          </a:xfrm>
          <a:custGeom>
            <a:avLst/>
            <a:gdLst/>
            <a:ahLst/>
            <a:cxnLst/>
            <a:rect l="0" t="0" r="r" b="b"/>
            <a:pathLst>
              <a:path w="128016" h="466344">
                <a:moveTo>
                  <a:pt x="128016" y="0"/>
                </a:moveTo>
                <a:lnTo>
                  <a:pt x="0" y="466344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Baseline estimated cameras ray 1-1" descr="Baseline estimated cameras ray 1-1"/>
          <p:cNvSpPr/>
          <p:nvPr/>
        </p:nvSpPr>
        <p:spPr>
          <a:xfrm>
            <a:off x="1581912" y="8165592"/>
            <a:ext cx="502920" cy="27432"/>
          </a:xfrm>
          <a:custGeom>
            <a:avLst/>
            <a:gdLst/>
            <a:ahLst/>
            <a:cxnLst/>
            <a:rect l="0" t="0" r="r" b="b"/>
            <a:pathLst>
              <a:path w="502920" h="27432">
                <a:moveTo>
                  <a:pt x="502920" y="0"/>
                </a:moveTo>
                <a:lnTo>
                  <a:pt x="0" y="27432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Baseline estimated cameras ray 1-2" descr="Baseline estimated cameras ray 1-2"/>
          <p:cNvSpPr/>
          <p:nvPr/>
        </p:nvSpPr>
        <p:spPr>
          <a:xfrm>
            <a:off x="1581912" y="8193024"/>
            <a:ext cx="18288" cy="36576"/>
          </a:xfrm>
          <a:custGeom>
            <a:avLst/>
            <a:gdLst/>
            <a:ahLst/>
            <a:cxnLst/>
            <a:rect l="0" t="0" r="r" b="b"/>
            <a:pathLst>
              <a:path w="18288" h="36576">
                <a:moveTo>
                  <a:pt x="18288" y="36576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Baseline estimated cameras sensor 2" descr="Baseline estimated cameras sensor 2"/>
          <p:cNvSpPr/>
          <p:nvPr/>
        </p:nvSpPr>
        <p:spPr>
          <a:xfrm>
            <a:off x="1106424" y="8247888"/>
            <a:ext cx="411480" cy="402336"/>
          </a:xfrm>
          <a:custGeom>
            <a:avLst/>
            <a:gdLst/>
            <a:ahLst/>
            <a:cxnLst/>
            <a:rect l="0" t="0" r="r" b="b"/>
            <a:pathLst>
              <a:path w="411480" h="402336">
                <a:moveTo>
                  <a:pt x="0" y="36576"/>
                </a:moveTo>
                <a:lnTo>
                  <a:pt x="411480" y="0"/>
                </a:lnTo>
                <a:lnTo>
                  <a:pt x="338328" y="402336"/>
                </a:lnTo>
                <a:close/>
              </a:path>
            </a:pathLst>
          </a:custGeom>
          <a:noFill/>
          <a:ln w="2057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Baseline estimated cameras ray 2-0" descr="Baseline estimated cameras ray 2-0"/>
          <p:cNvSpPr/>
          <p:nvPr/>
        </p:nvSpPr>
        <p:spPr>
          <a:xfrm>
            <a:off x="1106424" y="8193024"/>
            <a:ext cx="475488" cy="91440"/>
          </a:xfrm>
          <a:custGeom>
            <a:avLst/>
            <a:gdLst/>
            <a:ahLst/>
            <a:cxnLst/>
            <a:rect l="0" t="0" r="r" b="b"/>
            <a:pathLst>
              <a:path w="475488" h="91440">
                <a:moveTo>
                  <a:pt x="0" y="91440"/>
                </a:moveTo>
                <a:lnTo>
                  <a:pt x="475488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Baseline estimated cameras ray 2-1" descr="Baseline estimated cameras ray 2-1"/>
          <p:cNvSpPr/>
          <p:nvPr/>
        </p:nvSpPr>
        <p:spPr>
          <a:xfrm>
            <a:off x="1517904" y="8193024"/>
            <a:ext cx="64008" cy="54864"/>
          </a:xfrm>
          <a:custGeom>
            <a:avLst/>
            <a:gdLst/>
            <a:ahLst/>
            <a:cxnLst/>
            <a:rect l="0" t="0" r="r" b="b"/>
            <a:pathLst>
              <a:path w="64008" h="54864">
                <a:moveTo>
                  <a:pt x="0" y="54864"/>
                </a:moveTo>
                <a:lnTo>
                  <a:pt x="64008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Baseline estimated cameras ray 2-2" descr="Baseline estimated cameras ray 2-2"/>
          <p:cNvSpPr/>
          <p:nvPr/>
        </p:nvSpPr>
        <p:spPr>
          <a:xfrm>
            <a:off x="1444752" y="8193024"/>
            <a:ext cx="137160" cy="457200"/>
          </a:xfrm>
          <a:custGeom>
            <a:avLst/>
            <a:gdLst/>
            <a:ahLst/>
            <a:cxnLst/>
            <a:rect l="0" t="0" r="r" b="b"/>
            <a:pathLst>
              <a:path w="137160" h="457200">
                <a:moveTo>
                  <a:pt x="0" y="457200"/>
                </a:moveTo>
                <a:lnTo>
                  <a:pt x="137160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Baseline estimated cameras camera center" descr="Baseline estimated cameras camera center"/>
          <p:cNvSpPr/>
          <p:nvPr/>
        </p:nvSpPr>
        <p:spPr>
          <a:xfrm>
            <a:off x="1545336" y="8156448"/>
            <a:ext cx="73152" cy="73152"/>
          </a:xfrm>
          <a:prstGeom prst="ellipse">
            <a:avLst/>
          </a:prstGeom>
          <a:solidFill>
            <a:srgbClr val="F7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Baseline failed" descr="Baseline failed"/>
          <p:cNvSpPr/>
          <p:nvPr/>
        </p:nvSpPr>
        <p:spPr>
          <a:xfrm>
            <a:off x="1975104" y="8366760"/>
            <a:ext cx="402336" cy="384048"/>
          </a:xfrm>
          <a:custGeom>
            <a:avLst/>
            <a:gdLst/>
            <a:ahLst/>
            <a:cxnLst/>
            <a:rect l="0" t="0" r="r" b="b"/>
            <a:pathLst>
              <a:path w="402336" h="384048">
                <a:moveTo>
                  <a:pt x="64008" y="0"/>
                </a:moveTo>
                <a:cubicBezTo>
                  <a:pt x="9144" y="54864"/>
                  <a:pt x="64008" y="155448"/>
                  <a:pt x="137160" y="228600"/>
                </a:cubicBezTo>
                <a:cubicBezTo>
                  <a:pt x="91440" y="283464"/>
                  <a:pt x="36576" y="320040"/>
                  <a:pt x="0" y="310896"/>
                </a:cubicBezTo>
                <a:lnTo>
                  <a:pt x="36576" y="365760"/>
                </a:lnTo>
                <a:cubicBezTo>
                  <a:pt x="109728" y="384048"/>
                  <a:pt x="182880" y="292608"/>
                  <a:pt x="210312" y="265176"/>
                </a:cubicBezTo>
                <a:cubicBezTo>
                  <a:pt x="283464" y="338328"/>
                  <a:pt x="356616" y="384048"/>
                  <a:pt x="402336" y="329184"/>
                </a:cubicBezTo>
                <a:lnTo>
                  <a:pt x="365760" y="292608"/>
                </a:lnTo>
                <a:cubicBezTo>
                  <a:pt x="338328" y="329184"/>
                  <a:pt x="256032" y="256032"/>
                  <a:pt x="237744" y="228600"/>
                </a:cubicBezTo>
                <a:cubicBezTo>
                  <a:pt x="301752" y="155448"/>
                  <a:pt x="356616" y="100584"/>
                  <a:pt x="384048" y="100584"/>
                </a:cubicBezTo>
                <a:lnTo>
                  <a:pt x="338328" y="54864"/>
                </a:lnTo>
                <a:cubicBezTo>
                  <a:pt x="283464" y="54864"/>
                  <a:pt x="210312" y="155448"/>
                  <a:pt x="192024" y="173736"/>
                </a:cubicBezTo>
                <a:cubicBezTo>
                  <a:pt x="128016" y="109728"/>
                  <a:pt x="91440" y="45720"/>
                  <a:pt x="64008" y="0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Video clip estimated cameras dark face 0" descr="Video clip estimated cameras dark face 0"/>
          <p:cNvSpPr/>
          <p:nvPr/>
        </p:nvSpPr>
        <p:spPr>
          <a:xfrm>
            <a:off x="7196328" y="8339328"/>
            <a:ext cx="329184" cy="521208"/>
          </a:xfrm>
          <a:custGeom>
            <a:avLst/>
            <a:gdLst/>
            <a:ahLst/>
            <a:cxnLst/>
            <a:rect l="0" t="0" r="r" b="b"/>
            <a:pathLst>
              <a:path w="329184" h="521208">
                <a:moveTo>
                  <a:pt x="0" y="466344"/>
                </a:moveTo>
                <a:lnTo>
                  <a:pt x="201168" y="0"/>
                </a:lnTo>
                <a:lnTo>
                  <a:pt x="329184" y="237744"/>
                </a:lnTo>
                <a:lnTo>
                  <a:pt x="118872" y="5212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Video clip estimated cameras sensor 0" descr="Video clip estimated cameras sensor 0"/>
          <p:cNvSpPr/>
          <p:nvPr/>
        </p:nvSpPr>
        <p:spPr>
          <a:xfrm>
            <a:off x="7196328" y="8339328"/>
            <a:ext cx="438912" cy="585216"/>
          </a:xfrm>
          <a:custGeom>
            <a:avLst/>
            <a:gdLst/>
            <a:ahLst/>
            <a:cxnLst/>
            <a:rect l="0" t="0" r="r" b="b"/>
            <a:pathLst>
              <a:path w="438912" h="585216">
                <a:moveTo>
                  <a:pt x="0" y="466344"/>
                </a:moveTo>
                <a:lnTo>
                  <a:pt x="201168" y="0"/>
                </a:lnTo>
                <a:lnTo>
                  <a:pt x="438912" y="493776"/>
                </a:lnTo>
                <a:lnTo>
                  <a:pt x="109728" y="585216"/>
                </a:lnTo>
                <a:close/>
              </a:path>
            </a:pathLst>
          </a:custGeom>
          <a:noFill/>
          <a:ln w="205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Video clip estimated cameras ray 0-0" descr="Video clip estimated cameras ray 0-0"/>
          <p:cNvSpPr/>
          <p:nvPr/>
        </p:nvSpPr>
        <p:spPr>
          <a:xfrm>
            <a:off x="7196328" y="8805672"/>
            <a:ext cx="438912" cy="183"/>
          </a:xfrm>
          <a:custGeom>
            <a:avLst/>
            <a:gdLst/>
            <a:ahLst/>
            <a:cxnLst/>
            <a:rect l="0" t="0" r="r" b="b"/>
            <a:pathLst>
              <a:path w="438912" h="183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Video clip estimated cameras ray 0-1" descr="Video clip estimated cameras ray 0-1"/>
          <p:cNvSpPr/>
          <p:nvPr/>
        </p:nvSpPr>
        <p:spPr>
          <a:xfrm>
            <a:off x="7397496" y="8339328"/>
            <a:ext cx="237744" cy="466344"/>
          </a:xfrm>
          <a:custGeom>
            <a:avLst/>
            <a:gdLst/>
            <a:ahLst/>
            <a:cxnLst/>
            <a:rect l="0" t="0" r="r" b="b"/>
            <a:pathLst>
              <a:path w="237744" h="466344">
                <a:moveTo>
                  <a:pt x="0" y="0"/>
                </a:moveTo>
                <a:lnTo>
                  <a:pt x="237744" y="466344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Video clip estimated cameras ray 0-2" descr="Video clip estimated cameras ray 0-2"/>
          <p:cNvSpPr/>
          <p:nvPr/>
        </p:nvSpPr>
        <p:spPr>
          <a:xfrm>
            <a:off x="7635240" y="8805672"/>
            <a:ext cx="183" cy="27432"/>
          </a:xfrm>
          <a:custGeom>
            <a:avLst/>
            <a:gdLst/>
            <a:ahLst/>
            <a:cxnLst/>
            <a:rect l="0" t="0" r="r" b="b"/>
            <a:pathLst>
              <a:path w="183" h="27432">
                <a:moveTo>
                  <a:pt x="0" y="27432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Video clip estimated cameras ray 0-3" descr="Video clip estimated cameras ray 0-3"/>
          <p:cNvSpPr/>
          <p:nvPr/>
        </p:nvSpPr>
        <p:spPr>
          <a:xfrm>
            <a:off x="7306056" y="8805672"/>
            <a:ext cx="329184" cy="118872"/>
          </a:xfrm>
          <a:custGeom>
            <a:avLst/>
            <a:gdLst/>
            <a:ahLst/>
            <a:cxnLst/>
            <a:rect l="0" t="0" r="r" b="b"/>
            <a:pathLst>
              <a:path w="329184" h="118872">
                <a:moveTo>
                  <a:pt x="0" y="118872"/>
                </a:moveTo>
                <a:lnTo>
                  <a:pt x="329184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Video clip estimated cameras sensor 1" descr="Video clip estimated cameras sensor 1"/>
          <p:cNvSpPr/>
          <p:nvPr/>
        </p:nvSpPr>
        <p:spPr>
          <a:xfrm>
            <a:off x="7406640" y="8302752"/>
            <a:ext cx="448056" cy="457200"/>
          </a:xfrm>
          <a:custGeom>
            <a:avLst/>
            <a:gdLst/>
            <a:ahLst/>
            <a:cxnLst/>
            <a:rect l="0" t="0" r="r" b="b"/>
            <a:pathLst>
              <a:path w="448056" h="457200">
                <a:moveTo>
                  <a:pt x="0" y="36576"/>
                </a:moveTo>
                <a:lnTo>
                  <a:pt x="448056" y="0"/>
                </a:lnTo>
                <a:lnTo>
                  <a:pt x="246888" y="457200"/>
                </a:lnTo>
                <a:close/>
              </a:path>
            </a:pathLst>
          </a:custGeom>
          <a:noFill/>
          <a:ln w="2057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Video clip estimated cameras ray 1-0" descr="Video clip estimated cameras ray 1-0"/>
          <p:cNvSpPr/>
          <p:nvPr/>
        </p:nvSpPr>
        <p:spPr>
          <a:xfrm>
            <a:off x="7406640" y="8339328"/>
            <a:ext cx="228600" cy="466344"/>
          </a:xfrm>
          <a:custGeom>
            <a:avLst/>
            <a:gdLst/>
            <a:ahLst/>
            <a:cxnLst/>
            <a:rect l="0" t="0" r="r" b="b"/>
            <a:pathLst>
              <a:path w="228600" h="466344">
                <a:moveTo>
                  <a:pt x="0" y="0"/>
                </a:moveTo>
                <a:lnTo>
                  <a:pt x="228600" y="466344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Video clip estimated cameras ray 1-1" descr="Video clip estimated cameras ray 1-1"/>
          <p:cNvSpPr/>
          <p:nvPr/>
        </p:nvSpPr>
        <p:spPr>
          <a:xfrm>
            <a:off x="7635240" y="8302752"/>
            <a:ext cx="219456" cy="502920"/>
          </a:xfrm>
          <a:custGeom>
            <a:avLst/>
            <a:gdLst/>
            <a:ahLst/>
            <a:cxnLst/>
            <a:rect l="0" t="0" r="r" b="b"/>
            <a:pathLst>
              <a:path w="219456" h="502920">
                <a:moveTo>
                  <a:pt x="219456" y="0"/>
                </a:moveTo>
                <a:lnTo>
                  <a:pt x="0" y="50292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Video clip estimated cameras ray 1-2" descr="Video clip estimated cameras ray 1-2"/>
          <p:cNvSpPr/>
          <p:nvPr/>
        </p:nvSpPr>
        <p:spPr>
          <a:xfrm>
            <a:off x="7635240" y="8759952"/>
            <a:ext cx="18288" cy="45720"/>
          </a:xfrm>
          <a:custGeom>
            <a:avLst/>
            <a:gdLst/>
            <a:ahLst/>
            <a:cxnLst/>
            <a:rect l="0" t="0" r="r" b="b"/>
            <a:pathLst>
              <a:path w="18288" h="45720">
                <a:moveTo>
                  <a:pt x="18288" y="0"/>
                </a:moveTo>
                <a:lnTo>
                  <a:pt x="0" y="4572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Video clip estimated cameras sensor 2" descr="Video clip estimated cameras sensor 2"/>
          <p:cNvSpPr/>
          <p:nvPr/>
        </p:nvSpPr>
        <p:spPr>
          <a:xfrm>
            <a:off x="7461504" y="8366760"/>
            <a:ext cx="310896" cy="210312"/>
          </a:xfrm>
          <a:custGeom>
            <a:avLst/>
            <a:gdLst/>
            <a:ahLst/>
            <a:cxnLst/>
            <a:rect l="0" t="0" r="r" b="b"/>
            <a:pathLst>
              <a:path w="310896" h="210312">
                <a:moveTo>
                  <a:pt x="0" y="45720"/>
                </a:moveTo>
                <a:lnTo>
                  <a:pt x="310896" y="0"/>
                </a:lnTo>
                <a:lnTo>
                  <a:pt x="219456" y="210312"/>
                </a:lnTo>
                <a:lnTo>
                  <a:pt x="91440" y="210312"/>
                </a:lnTo>
                <a:close/>
              </a:path>
            </a:pathLst>
          </a:custGeom>
          <a:noFill/>
          <a:ln w="2057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Video clip estimated cameras ray 2-0" descr="Video clip estimated cameras ray 2-0"/>
          <p:cNvSpPr/>
          <p:nvPr/>
        </p:nvSpPr>
        <p:spPr>
          <a:xfrm>
            <a:off x="7461504" y="8412480"/>
            <a:ext cx="173736" cy="393192"/>
          </a:xfrm>
          <a:custGeom>
            <a:avLst/>
            <a:gdLst/>
            <a:ahLst/>
            <a:cxnLst/>
            <a:rect l="0" t="0" r="r" b="b"/>
            <a:pathLst>
              <a:path w="173736" h="393192">
                <a:moveTo>
                  <a:pt x="0" y="0"/>
                </a:moveTo>
                <a:lnTo>
                  <a:pt x="173736" y="393192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Video clip estimated cameras ray 2-1" descr="Video clip estimated cameras ray 2-1"/>
          <p:cNvSpPr/>
          <p:nvPr/>
        </p:nvSpPr>
        <p:spPr>
          <a:xfrm>
            <a:off x="7635240" y="8366760"/>
            <a:ext cx="137160" cy="438912"/>
          </a:xfrm>
          <a:custGeom>
            <a:avLst/>
            <a:gdLst/>
            <a:ahLst/>
            <a:cxnLst/>
            <a:rect l="0" t="0" r="r" b="b"/>
            <a:pathLst>
              <a:path w="137160" h="438912">
                <a:moveTo>
                  <a:pt x="137160" y="0"/>
                </a:moveTo>
                <a:lnTo>
                  <a:pt x="0" y="438912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Video clip estimated cameras ray 2-2" descr="Video clip estimated cameras ray 2-2"/>
          <p:cNvSpPr/>
          <p:nvPr/>
        </p:nvSpPr>
        <p:spPr>
          <a:xfrm>
            <a:off x="7635240" y="8577072"/>
            <a:ext cx="45720" cy="228600"/>
          </a:xfrm>
          <a:custGeom>
            <a:avLst/>
            <a:gdLst/>
            <a:ahLst/>
            <a:cxnLst/>
            <a:rect l="0" t="0" r="r" b="b"/>
            <a:pathLst>
              <a:path w="45720" h="228600">
                <a:moveTo>
                  <a:pt x="45720" y="0"/>
                </a:moveTo>
                <a:lnTo>
                  <a:pt x="0" y="22860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Video clip estimated cameras ray 2-3" descr="Video clip estimated cameras ray 2-3"/>
          <p:cNvSpPr/>
          <p:nvPr/>
        </p:nvSpPr>
        <p:spPr>
          <a:xfrm>
            <a:off x="7552944" y="8577072"/>
            <a:ext cx="82296" cy="228600"/>
          </a:xfrm>
          <a:custGeom>
            <a:avLst/>
            <a:gdLst/>
            <a:ahLst/>
            <a:cxnLst/>
            <a:rect l="0" t="0" r="r" b="b"/>
            <a:pathLst>
              <a:path w="82296" h="228600">
                <a:moveTo>
                  <a:pt x="0" y="0"/>
                </a:moveTo>
                <a:lnTo>
                  <a:pt x="82296" y="22860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Video clip estimated cameras camera center" descr="Video clip estimated cameras camera center"/>
          <p:cNvSpPr/>
          <p:nvPr/>
        </p:nvSpPr>
        <p:spPr>
          <a:xfrm>
            <a:off x="7598664" y="8769096"/>
            <a:ext cx="73152" cy="73152"/>
          </a:xfrm>
          <a:prstGeom prst="ellipse">
            <a:avLst/>
          </a:prstGeom>
          <a:solidFill>
            <a:srgbClr val="F7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Video clip failed" descr="Video clip failed"/>
          <p:cNvSpPr/>
          <p:nvPr/>
        </p:nvSpPr>
        <p:spPr>
          <a:xfrm>
            <a:off x="7955280" y="8092440"/>
            <a:ext cx="402336" cy="384048"/>
          </a:xfrm>
          <a:custGeom>
            <a:avLst/>
            <a:gdLst/>
            <a:ahLst/>
            <a:cxnLst/>
            <a:rect l="0" t="0" r="r" b="b"/>
            <a:pathLst>
              <a:path w="402336" h="384048">
                <a:moveTo>
                  <a:pt x="64008" y="0"/>
                </a:moveTo>
                <a:cubicBezTo>
                  <a:pt x="9144" y="54864"/>
                  <a:pt x="64008" y="155448"/>
                  <a:pt x="137160" y="228600"/>
                </a:cubicBezTo>
                <a:cubicBezTo>
                  <a:pt x="91440" y="283464"/>
                  <a:pt x="36576" y="320040"/>
                  <a:pt x="0" y="310896"/>
                </a:cubicBezTo>
                <a:lnTo>
                  <a:pt x="36576" y="365760"/>
                </a:lnTo>
                <a:cubicBezTo>
                  <a:pt x="109728" y="384048"/>
                  <a:pt x="182880" y="292608"/>
                  <a:pt x="210312" y="265176"/>
                </a:cubicBezTo>
                <a:cubicBezTo>
                  <a:pt x="283464" y="338328"/>
                  <a:pt x="356616" y="384048"/>
                  <a:pt x="402336" y="329184"/>
                </a:cubicBezTo>
                <a:lnTo>
                  <a:pt x="365760" y="292608"/>
                </a:lnTo>
                <a:cubicBezTo>
                  <a:pt x="338328" y="329184"/>
                  <a:pt x="256032" y="256032"/>
                  <a:pt x="237744" y="228600"/>
                </a:cubicBezTo>
                <a:cubicBezTo>
                  <a:pt x="301752" y="155448"/>
                  <a:pt x="356616" y="100584"/>
                  <a:pt x="384048" y="100584"/>
                </a:cubicBezTo>
                <a:lnTo>
                  <a:pt x="338328" y="54864"/>
                </a:lnTo>
                <a:cubicBezTo>
                  <a:pt x="283464" y="54864"/>
                  <a:pt x="210312" y="155448"/>
                  <a:pt x="192024" y="173736"/>
                </a:cubicBezTo>
                <a:cubicBezTo>
                  <a:pt x="128016" y="109728"/>
                  <a:pt x="91440" y="45720"/>
                  <a:pt x="64008" y="0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Hybrid estimated cameras dark face 0" descr="Hybrid estimated cameras dark face 0"/>
          <p:cNvSpPr/>
          <p:nvPr/>
        </p:nvSpPr>
        <p:spPr>
          <a:xfrm>
            <a:off x="9217152" y="6693408"/>
            <a:ext cx="310896" cy="356616"/>
          </a:xfrm>
          <a:custGeom>
            <a:avLst/>
            <a:gdLst/>
            <a:ahLst/>
            <a:cxnLst/>
            <a:rect l="0" t="0" r="r" b="b"/>
            <a:pathLst>
              <a:path w="310896" h="356616">
                <a:moveTo>
                  <a:pt x="0" y="0"/>
                </a:moveTo>
                <a:lnTo>
                  <a:pt x="73152" y="9144"/>
                </a:lnTo>
                <a:lnTo>
                  <a:pt x="310896" y="356616"/>
                </a:lnTo>
                <a:lnTo>
                  <a:pt x="201168" y="3383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Hybrid estimated cameras sensor 0" descr="Hybrid estimated cameras sensor 0"/>
          <p:cNvSpPr/>
          <p:nvPr/>
        </p:nvSpPr>
        <p:spPr>
          <a:xfrm>
            <a:off x="9116568" y="6693408"/>
            <a:ext cx="411480" cy="356616"/>
          </a:xfrm>
          <a:custGeom>
            <a:avLst/>
            <a:gdLst/>
            <a:ahLst/>
            <a:cxnLst/>
            <a:rect l="0" t="0" r="r" b="b"/>
            <a:pathLst>
              <a:path w="411480" h="356616">
                <a:moveTo>
                  <a:pt x="0" y="320040"/>
                </a:moveTo>
                <a:lnTo>
                  <a:pt x="100584" y="0"/>
                </a:lnTo>
                <a:lnTo>
                  <a:pt x="173736" y="9144"/>
                </a:lnTo>
                <a:lnTo>
                  <a:pt x="411480" y="356616"/>
                </a:lnTo>
                <a:close/>
              </a:path>
            </a:pathLst>
          </a:custGeom>
          <a:noFill/>
          <a:ln w="205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Hybrid estimated cameras ray 0-0" descr="Hybrid estimated cameras ray 0-0"/>
          <p:cNvSpPr/>
          <p:nvPr/>
        </p:nvSpPr>
        <p:spPr>
          <a:xfrm>
            <a:off x="9116568" y="7013448"/>
            <a:ext cx="183" cy="9144"/>
          </a:xfrm>
          <a:custGeom>
            <a:avLst/>
            <a:gdLst/>
            <a:ahLst/>
            <a:cxnLst/>
            <a:rect l="0" t="0" r="r" b="b"/>
            <a:pathLst>
              <a:path w="183" h="9144">
                <a:moveTo>
                  <a:pt x="0" y="0"/>
                </a:moveTo>
                <a:lnTo>
                  <a:pt x="0" y="9144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Hybrid estimated cameras ray 0-1" descr="Hybrid estimated cameras ray 0-1"/>
          <p:cNvSpPr/>
          <p:nvPr/>
        </p:nvSpPr>
        <p:spPr>
          <a:xfrm>
            <a:off x="9116568" y="6693408"/>
            <a:ext cx="100584" cy="329184"/>
          </a:xfrm>
          <a:custGeom>
            <a:avLst/>
            <a:gdLst/>
            <a:ahLst/>
            <a:cxnLst/>
            <a:rect l="0" t="0" r="r" b="b"/>
            <a:pathLst>
              <a:path w="100584" h="329184">
                <a:moveTo>
                  <a:pt x="100584" y="0"/>
                </a:moveTo>
                <a:lnTo>
                  <a:pt x="0" y="329184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Hybrid estimated cameras ray 0-2" descr="Hybrid estimated cameras ray 0-2"/>
          <p:cNvSpPr/>
          <p:nvPr/>
        </p:nvSpPr>
        <p:spPr>
          <a:xfrm>
            <a:off x="9116568" y="6702552"/>
            <a:ext cx="173736" cy="320040"/>
          </a:xfrm>
          <a:custGeom>
            <a:avLst/>
            <a:gdLst/>
            <a:ahLst/>
            <a:cxnLst/>
            <a:rect l="0" t="0" r="r" b="b"/>
            <a:pathLst>
              <a:path w="173736" h="320040">
                <a:moveTo>
                  <a:pt x="173736" y="0"/>
                </a:moveTo>
                <a:lnTo>
                  <a:pt x="0" y="32004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Hybrid estimated cameras ray 0-3" descr="Hybrid estimated cameras ray 0-3"/>
          <p:cNvSpPr/>
          <p:nvPr/>
        </p:nvSpPr>
        <p:spPr>
          <a:xfrm>
            <a:off x="9116568" y="7022592"/>
            <a:ext cx="411480" cy="27432"/>
          </a:xfrm>
          <a:custGeom>
            <a:avLst/>
            <a:gdLst/>
            <a:ahLst/>
            <a:cxnLst/>
            <a:rect l="0" t="0" r="r" b="b"/>
            <a:pathLst>
              <a:path w="411480" h="27432">
                <a:moveTo>
                  <a:pt x="411480" y="27432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Hybrid estimated cameras sensor 1" descr="Hybrid estimated cameras sensor 1"/>
          <p:cNvSpPr/>
          <p:nvPr/>
        </p:nvSpPr>
        <p:spPr>
          <a:xfrm>
            <a:off x="9144000" y="7022592"/>
            <a:ext cx="374904" cy="338328"/>
          </a:xfrm>
          <a:custGeom>
            <a:avLst/>
            <a:gdLst/>
            <a:ahLst/>
            <a:cxnLst/>
            <a:rect l="0" t="0" r="r" b="b"/>
            <a:pathLst>
              <a:path w="374904" h="338328">
                <a:moveTo>
                  <a:pt x="0" y="0"/>
                </a:moveTo>
                <a:lnTo>
                  <a:pt x="374904" y="27432"/>
                </a:lnTo>
                <a:lnTo>
                  <a:pt x="210312" y="338328"/>
                </a:lnTo>
                <a:close/>
              </a:path>
            </a:pathLst>
          </a:custGeom>
          <a:noFill/>
          <a:ln w="2057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Hybrid estimated cameras ray 1-0" descr="Hybrid estimated cameras ray 1-0"/>
          <p:cNvSpPr/>
          <p:nvPr/>
        </p:nvSpPr>
        <p:spPr>
          <a:xfrm>
            <a:off x="9116568" y="7022592"/>
            <a:ext cx="27432" cy="183"/>
          </a:xfrm>
          <a:custGeom>
            <a:avLst/>
            <a:gdLst/>
            <a:ahLst/>
            <a:cxnLst/>
            <a:rect l="0" t="0" r="r" b="b"/>
            <a:pathLst>
              <a:path w="27432" h="183">
                <a:moveTo>
                  <a:pt x="27432" y="0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Hybrid estimated cameras ray 1-1" descr="Hybrid estimated cameras ray 1-1"/>
          <p:cNvSpPr/>
          <p:nvPr/>
        </p:nvSpPr>
        <p:spPr>
          <a:xfrm>
            <a:off x="9116568" y="7022592"/>
            <a:ext cx="402336" cy="27432"/>
          </a:xfrm>
          <a:custGeom>
            <a:avLst/>
            <a:gdLst/>
            <a:ahLst/>
            <a:cxnLst/>
            <a:rect l="0" t="0" r="r" b="b"/>
            <a:pathLst>
              <a:path w="402336" h="27432">
                <a:moveTo>
                  <a:pt x="402336" y="27432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Hybrid estimated cameras ray 1-2" descr="Hybrid estimated cameras ray 1-2"/>
          <p:cNvSpPr/>
          <p:nvPr/>
        </p:nvSpPr>
        <p:spPr>
          <a:xfrm>
            <a:off x="9116568" y="7022592"/>
            <a:ext cx="237744" cy="338328"/>
          </a:xfrm>
          <a:custGeom>
            <a:avLst/>
            <a:gdLst/>
            <a:ahLst/>
            <a:cxnLst/>
            <a:rect l="0" t="0" r="r" b="b"/>
            <a:pathLst>
              <a:path w="237744" h="338328">
                <a:moveTo>
                  <a:pt x="237744" y="338328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Hybrid estimated cameras sensor 2" descr="Hybrid estimated cameras sensor 2"/>
          <p:cNvSpPr/>
          <p:nvPr/>
        </p:nvSpPr>
        <p:spPr>
          <a:xfrm>
            <a:off x="9134856" y="6922008"/>
            <a:ext cx="118872" cy="210312"/>
          </a:xfrm>
          <a:custGeom>
            <a:avLst/>
            <a:gdLst/>
            <a:ahLst/>
            <a:cxnLst/>
            <a:rect l="0" t="0" r="r" b="b"/>
            <a:pathLst>
              <a:path w="118872" h="210312">
                <a:moveTo>
                  <a:pt x="0" y="0"/>
                </a:moveTo>
                <a:lnTo>
                  <a:pt x="118872" y="118872"/>
                </a:lnTo>
                <a:lnTo>
                  <a:pt x="54864" y="210312"/>
                </a:lnTo>
                <a:close/>
              </a:path>
            </a:pathLst>
          </a:custGeom>
          <a:noFill/>
          <a:ln w="2057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Hybrid estimated cameras ray 2-0" descr="Hybrid estimated cameras ray 2-0"/>
          <p:cNvSpPr/>
          <p:nvPr/>
        </p:nvSpPr>
        <p:spPr>
          <a:xfrm>
            <a:off x="9116568" y="6922008"/>
            <a:ext cx="18288" cy="100584"/>
          </a:xfrm>
          <a:custGeom>
            <a:avLst/>
            <a:gdLst/>
            <a:ahLst/>
            <a:cxnLst/>
            <a:rect l="0" t="0" r="r" b="b"/>
            <a:pathLst>
              <a:path w="18288" h="100584">
                <a:moveTo>
                  <a:pt x="18288" y="0"/>
                </a:moveTo>
                <a:lnTo>
                  <a:pt x="0" y="100584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Hybrid estimated cameras ray 2-1" descr="Hybrid estimated cameras ray 2-1"/>
          <p:cNvSpPr/>
          <p:nvPr/>
        </p:nvSpPr>
        <p:spPr>
          <a:xfrm>
            <a:off x="9116568" y="7022592"/>
            <a:ext cx="137160" cy="18288"/>
          </a:xfrm>
          <a:custGeom>
            <a:avLst/>
            <a:gdLst/>
            <a:ahLst/>
            <a:cxnLst/>
            <a:rect l="0" t="0" r="r" b="b"/>
            <a:pathLst>
              <a:path w="137160" h="18288">
                <a:moveTo>
                  <a:pt x="137160" y="18288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Hybrid estimated cameras ray 2-2" descr="Hybrid estimated cameras ray 2-2"/>
          <p:cNvSpPr/>
          <p:nvPr/>
        </p:nvSpPr>
        <p:spPr>
          <a:xfrm>
            <a:off x="9116568" y="7022592"/>
            <a:ext cx="73152" cy="109728"/>
          </a:xfrm>
          <a:custGeom>
            <a:avLst/>
            <a:gdLst/>
            <a:ahLst/>
            <a:cxnLst/>
            <a:rect l="0" t="0" r="r" b="b"/>
            <a:pathLst>
              <a:path w="73152" h="109728">
                <a:moveTo>
                  <a:pt x="73152" y="109728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Hybrid estimated cameras camera center" descr="Hybrid estimated cameras camera center"/>
          <p:cNvSpPr/>
          <p:nvPr/>
        </p:nvSpPr>
        <p:spPr>
          <a:xfrm>
            <a:off x="9079992" y="6986016"/>
            <a:ext cx="73152" cy="73152"/>
          </a:xfrm>
          <a:prstGeom prst="ellipse">
            <a:avLst/>
          </a:prstGeom>
          <a:solidFill>
            <a:srgbClr val="F7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Hybrid failed" descr="Hybrid failed"/>
          <p:cNvSpPr/>
          <p:nvPr/>
        </p:nvSpPr>
        <p:spPr>
          <a:xfrm>
            <a:off x="8906256" y="7287768"/>
            <a:ext cx="402336" cy="384048"/>
          </a:xfrm>
          <a:custGeom>
            <a:avLst/>
            <a:gdLst/>
            <a:ahLst/>
            <a:cxnLst/>
            <a:rect l="0" t="0" r="r" b="b"/>
            <a:pathLst>
              <a:path w="402336" h="384048">
                <a:moveTo>
                  <a:pt x="64008" y="0"/>
                </a:moveTo>
                <a:cubicBezTo>
                  <a:pt x="9144" y="54864"/>
                  <a:pt x="64008" y="155448"/>
                  <a:pt x="137160" y="228600"/>
                </a:cubicBezTo>
                <a:cubicBezTo>
                  <a:pt x="91440" y="283464"/>
                  <a:pt x="36576" y="320040"/>
                  <a:pt x="0" y="310896"/>
                </a:cubicBezTo>
                <a:lnTo>
                  <a:pt x="36576" y="365760"/>
                </a:lnTo>
                <a:cubicBezTo>
                  <a:pt x="109728" y="384048"/>
                  <a:pt x="182880" y="292608"/>
                  <a:pt x="210312" y="265176"/>
                </a:cubicBezTo>
                <a:cubicBezTo>
                  <a:pt x="283464" y="338328"/>
                  <a:pt x="356616" y="384048"/>
                  <a:pt x="402336" y="329184"/>
                </a:cubicBezTo>
                <a:lnTo>
                  <a:pt x="365760" y="292608"/>
                </a:lnTo>
                <a:cubicBezTo>
                  <a:pt x="338328" y="329184"/>
                  <a:pt x="256032" y="256032"/>
                  <a:pt x="237744" y="228600"/>
                </a:cubicBezTo>
                <a:cubicBezTo>
                  <a:pt x="301752" y="155448"/>
                  <a:pt x="356616" y="100584"/>
                  <a:pt x="384048" y="100584"/>
                </a:cubicBezTo>
                <a:lnTo>
                  <a:pt x="338328" y="54864"/>
                </a:lnTo>
                <a:cubicBezTo>
                  <a:pt x="283464" y="54864"/>
                  <a:pt x="210312" y="155448"/>
                  <a:pt x="192024" y="173736"/>
                </a:cubicBezTo>
                <a:cubicBezTo>
                  <a:pt x="128016" y="109728"/>
                  <a:pt x="91440" y="45720"/>
                  <a:pt x="64008" y="0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elected estimated cameras dark face 0" descr="Selected estimated cameras dark face 0"/>
          <p:cNvSpPr/>
          <p:nvPr/>
        </p:nvSpPr>
        <p:spPr>
          <a:xfrm>
            <a:off x="15160752" y="8311896"/>
            <a:ext cx="210312" cy="374904"/>
          </a:xfrm>
          <a:custGeom>
            <a:avLst/>
            <a:gdLst/>
            <a:ahLst/>
            <a:cxnLst/>
            <a:rect l="0" t="0" r="r" b="b"/>
            <a:pathLst>
              <a:path w="210312" h="374904">
                <a:moveTo>
                  <a:pt x="100584" y="0"/>
                </a:moveTo>
                <a:lnTo>
                  <a:pt x="210312" y="45720"/>
                </a:lnTo>
                <a:lnTo>
                  <a:pt x="118872" y="374904"/>
                </a:lnTo>
                <a:lnTo>
                  <a:pt x="0" y="3474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elected estimated cameras sensor 0" descr="Selected estimated cameras sensor 0"/>
          <p:cNvSpPr/>
          <p:nvPr/>
        </p:nvSpPr>
        <p:spPr>
          <a:xfrm>
            <a:off x="15160752" y="8311896"/>
            <a:ext cx="475488" cy="393192"/>
          </a:xfrm>
          <a:custGeom>
            <a:avLst/>
            <a:gdLst/>
            <a:ahLst/>
            <a:cxnLst/>
            <a:rect l="0" t="0" r="r" b="b"/>
            <a:pathLst>
              <a:path w="475488" h="393192">
                <a:moveTo>
                  <a:pt x="0" y="347472"/>
                </a:moveTo>
                <a:lnTo>
                  <a:pt x="100584" y="0"/>
                </a:lnTo>
                <a:lnTo>
                  <a:pt x="475488" y="320040"/>
                </a:lnTo>
                <a:lnTo>
                  <a:pt x="118872" y="393192"/>
                </a:lnTo>
                <a:close/>
              </a:path>
            </a:pathLst>
          </a:custGeom>
          <a:noFill/>
          <a:ln w="20574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elected estimated cameras ray 0-0" descr="Selected estimated cameras ray 0-0"/>
          <p:cNvSpPr/>
          <p:nvPr/>
        </p:nvSpPr>
        <p:spPr>
          <a:xfrm>
            <a:off x="15160752" y="8631936"/>
            <a:ext cx="475488" cy="27432"/>
          </a:xfrm>
          <a:custGeom>
            <a:avLst/>
            <a:gdLst/>
            <a:ahLst/>
            <a:cxnLst/>
            <a:rect l="0" t="0" r="r" b="b"/>
            <a:pathLst>
              <a:path w="475488" h="27432">
                <a:moveTo>
                  <a:pt x="0" y="27432"/>
                </a:moveTo>
                <a:lnTo>
                  <a:pt x="475488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elected estimated cameras ray 0-1" descr="Selected estimated cameras ray 0-1"/>
          <p:cNvSpPr/>
          <p:nvPr/>
        </p:nvSpPr>
        <p:spPr>
          <a:xfrm>
            <a:off x="15261336" y="8311896"/>
            <a:ext cx="374904" cy="320040"/>
          </a:xfrm>
          <a:custGeom>
            <a:avLst/>
            <a:gdLst/>
            <a:ahLst/>
            <a:cxnLst/>
            <a:rect l="0" t="0" r="r" b="b"/>
            <a:pathLst>
              <a:path w="374904" h="320040">
                <a:moveTo>
                  <a:pt x="0" y="0"/>
                </a:moveTo>
                <a:lnTo>
                  <a:pt x="374904" y="32004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elected estimated cameras ray 0-2" descr="Selected estimated cameras ray 0-2"/>
          <p:cNvSpPr/>
          <p:nvPr/>
        </p:nvSpPr>
        <p:spPr>
          <a:xfrm>
            <a:off x="15636240" y="8631936"/>
            <a:ext cx="183" cy="183"/>
          </a:xfrm>
          <a:custGeom>
            <a:avLst/>
            <a:gdLst/>
            <a:ahLst/>
            <a:cxnLst/>
            <a:rect l="0" t="0" r="r" b="b"/>
            <a:pathLst>
              <a:path w="183" h="18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elected estimated cameras ray 0-3" descr="Selected estimated cameras ray 0-3"/>
          <p:cNvSpPr/>
          <p:nvPr/>
        </p:nvSpPr>
        <p:spPr>
          <a:xfrm>
            <a:off x="15279624" y="8631936"/>
            <a:ext cx="356616" cy="73152"/>
          </a:xfrm>
          <a:custGeom>
            <a:avLst/>
            <a:gdLst/>
            <a:ahLst/>
            <a:cxnLst/>
            <a:rect l="0" t="0" r="r" b="b"/>
            <a:pathLst>
              <a:path w="356616" h="73152">
                <a:moveTo>
                  <a:pt x="0" y="73152"/>
                </a:moveTo>
                <a:lnTo>
                  <a:pt x="356616" y="0"/>
                </a:lnTo>
              </a:path>
            </a:pathLst>
          </a:custGeom>
          <a:noFill/>
          <a:ln w="18288">
            <a:solidFill>
              <a:srgbClr val="FF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elected estimated cameras sensor 1" descr="Selected estimated cameras sensor 1"/>
          <p:cNvSpPr/>
          <p:nvPr/>
        </p:nvSpPr>
        <p:spPr>
          <a:xfrm>
            <a:off x="15307056" y="8266176"/>
            <a:ext cx="420624" cy="365760"/>
          </a:xfrm>
          <a:custGeom>
            <a:avLst/>
            <a:gdLst/>
            <a:ahLst/>
            <a:cxnLst/>
            <a:rect l="0" t="0" r="r" b="b"/>
            <a:pathLst>
              <a:path w="420624" h="365760">
                <a:moveTo>
                  <a:pt x="0" y="45720"/>
                </a:moveTo>
                <a:lnTo>
                  <a:pt x="420624" y="0"/>
                </a:lnTo>
                <a:lnTo>
                  <a:pt x="320040" y="365760"/>
                </a:lnTo>
                <a:close/>
              </a:path>
            </a:pathLst>
          </a:custGeom>
          <a:noFill/>
          <a:ln w="20574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elected estimated cameras ray 1-0" descr="Selected estimated cameras ray 1-0"/>
          <p:cNvSpPr/>
          <p:nvPr/>
        </p:nvSpPr>
        <p:spPr>
          <a:xfrm>
            <a:off x="15307056" y="8311896"/>
            <a:ext cx="329184" cy="320040"/>
          </a:xfrm>
          <a:custGeom>
            <a:avLst/>
            <a:gdLst/>
            <a:ahLst/>
            <a:cxnLst/>
            <a:rect l="0" t="0" r="r" b="b"/>
            <a:pathLst>
              <a:path w="329184" h="320040">
                <a:moveTo>
                  <a:pt x="0" y="0"/>
                </a:moveTo>
                <a:lnTo>
                  <a:pt x="329184" y="32004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elected estimated cameras ray 1-1" descr="Selected estimated cameras ray 1-1"/>
          <p:cNvSpPr/>
          <p:nvPr/>
        </p:nvSpPr>
        <p:spPr>
          <a:xfrm>
            <a:off x="15636240" y="8266176"/>
            <a:ext cx="91440" cy="365760"/>
          </a:xfrm>
          <a:custGeom>
            <a:avLst/>
            <a:gdLst/>
            <a:ahLst/>
            <a:cxnLst/>
            <a:rect l="0" t="0" r="r" b="b"/>
            <a:pathLst>
              <a:path w="91440" h="365760">
                <a:moveTo>
                  <a:pt x="91440" y="0"/>
                </a:moveTo>
                <a:lnTo>
                  <a:pt x="0" y="36576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elected estimated cameras ray 1-2" descr="Selected estimated cameras ray 1-2"/>
          <p:cNvSpPr/>
          <p:nvPr/>
        </p:nvSpPr>
        <p:spPr>
          <a:xfrm>
            <a:off x="15627096" y="8631936"/>
            <a:ext cx="9144" cy="183"/>
          </a:xfrm>
          <a:custGeom>
            <a:avLst/>
            <a:gdLst/>
            <a:ahLst/>
            <a:cxnLst/>
            <a:rect l="0" t="0" r="r" b="b"/>
            <a:pathLst>
              <a:path w="9144" h="183">
                <a:moveTo>
                  <a:pt x="0" y="0"/>
                </a:moveTo>
                <a:lnTo>
                  <a:pt x="9144" y="0"/>
                </a:lnTo>
              </a:path>
            </a:pathLst>
          </a:custGeom>
          <a:noFill/>
          <a:ln w="18288">
            <a:solidFill>
              <a:srgbClr val="1000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elected estimated cameras sensor 2" descr="Selected estimated cameras sensor 2"/>
          <p:cNvSpPr/>
          <p:nvPr/>
        </p:nvSpPr>
        <p:spPr>
          <a:xfrm>
            <a:off x="15261336" y="8357616"/>
            <a:ext cx="237744" cy="310896"/>
          </a:xfrm>
          <a:custGeom>
            <a:avLst/>
            <a:gdLst/>
            <a:ahLst/>
            <a:cxnLst/>
            <a:rect l="0" t="0" r="r" b="b"/>
            <a:pathLst>
              <a:path w="237744" h="310896">
                <a:moveTo>
                  <a:pt x="82296" y="0"/>
                </a:moveTo>
                <a:lnTo>
                  <a:pt x="237744" y="146304"/>
                </a:lnTo>
                <a:lnTo>
                  <a:pt x="0" y="310896"/>
                </a:lnTo>
                <a:close/>
              </a:path>
            </a:pathLst>
          </a:custGeom>
          <a:noFill/>
          <a:ln w="20574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elected estimated cameras ray 2-0" descr="Selected estimated cameras ray 2-0"/>
          <p:cNvSpPr/>
          <p:nvPr/>
        </p:nvSpPr>
        <p:spPr>
          <a:xfrm>
            <a:off x="15343632" y="8357616"/>
            <a:ext cx="292608" cy="274320"/>
          </a:xfrm>
          <a:custGeom>
            <a:avLst/>
            <a:gdLst/>
            <a:ahLst/>
            <a:cxnLst/>
            <a:rect l="0" t="0" r="r" b="b"/>
            <a:pathLst>
              <a:path w="292608" h="274320">
                <a:moveTo>
                  <a:pt x="0" y="0"/>
                </a:moveTo>
                <a:lnTo>
                  <a:pt x="292608" y="27432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elected estimated cameras ray 2-1" descr="Selected estimated cameras ray 2-1"/>
          <p:cNvSpPr/>
          <p:nvPr/>
        </p:nvSpPr>
        <p:spPr>
          <a:xfrm>
            <a:off x="15499080" y="8503920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37160" h="128016">
                <a:moveTo>
                  <a:pt x="0" y="0"/>
                </a:moveTo>
                <a:lnTo>
                  <a:pt x="137160" y="128016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elected estimated cameras ray 2-2" descr="Selected estimated cameras ray 2-2"/>
          <p:cNvSpPr/>
          <p:nvPr/>
        </p:nvSpPr>
        <p:spPr>
          <a:xfrm>
            <a:off x="15261336" y="8631936"/>
            <a:ext cx="374904" cy="36576"/>
          </a:xfrm>
          <a:custGeom>
            <a:avLst/>
            <a:gdLst/>
            <a:ahLst/>
            <a:cxnLst/>
            <a:rect l="0" t="0" r="r" b="b"/>
            <a:pathLst>
              <a:path w="374904" h="36576">
                <a:moveTo>
                  <a:pt x="0" y="36576"/>
                </a:moveTo>
                <a:lnTo>
                  <a:pt x="374904" y="0"/>
                </a:lnTo>
              </a:path>
            </a:pathLst>
          </a:custGeom>
          <a:noFill/>
          <a:ln w="18288">
            <a:solidFill>
              <a:srgbClr val="FFF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elected estimated cameras camera center" descr="Selected estimated cameras camera center"/>
          <p:cNvSpPr/>
          <p:nvPr/>
        </p:nvSpPr>
        <p:spPr>
          <a:xfrm>
            <a:off x="15599664" y="8595360"/>
            <a:ext cx="73152" cy="73152"/>
          </a:xfrm>
          <a:prstGeom prst="ellipse">
            <a:avLst/>
          </a:prstGeom>
          <a:solidFill>
            <a:srgbClr val="F7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elected successful check" descr="Selected successful check"/>
          <p:cNvSpPr/>
          <p:nvPr/>
        </p:nvSpPr>
        <p:spPr>
          <a:xfrm>
            <a:off x="15873984" y="8385048"/>
            <a:ext cx="521208" cy="530352"/>
          </a:xfrm>
          <a:custGeom>
            <a:avLst/>
            <a:gdLst/>
            <a:ahLst/>
            <a:cxnLst/>
            <a:rect l="0" t="0" r="r" b="b"/>
            <a:pathLst>
              <a:path w="521208" h="530352">
                <a:moveTo>
                  <a:pt x="0" y="301752"/>
                </a:moveTo>
                <a:cubicBezTo>
                  <a:pt x="54864" y="237744"/>
                  <a:pt x="91440" y="301752"/>
                  <a:pt x="137160" y="420624"/>
                </a:cubicBezTo>
                <a:cubicBezTo>
                  <a:pt x="256032" y="228600"/>
                  <a:pt x="402336" y="82296"/>
                  <a:pt x="512064" y="0"/>
                </a:cubicBezTo>
                <a:lnTo>
                  <a:pt x="521208" y="18288"/>
                </a:lnTo>
                <a:cubicBezTo>
                  <a:pt x="356616" y="182880"/>
                  <a:pt x="246888" y="356616"/>
                  <a:pt x="128016" y="530352"/>
                </a:cubicBezTo>
                <a:cubicBezTo>
                  <a:pt x="73152" y="411480"/>
                  <a:pt x="45720" y="329184"/>
                  <a:pt x="0" y="30175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Baseline result dashed frame" descr="Baseline result dashed frame"/>
          <p:cNvSpPr/>
          <p:nvPr/>
        </p:nvSpPr>
        <p:spPr>
          <a:xfrm>
            <a:off x="-9144" y="6446520"/>
            <a:ext cx="3575304" cy="2551176"/>
          </a:xfrm>
          <a:prstGeom prst="roundRect">
            <a:avLst>
              <a:gd name="adj" fmla="val 8602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Video clip result dashed frame" descr="Video clip result dashed frame"/>
          <p:cNvSpPr/>
          <p:nvPr/>
        </p:nvSpPr>
        <p:spPr>
          <a:xfrm>
            <a:off x="4837176" y="6446520"/>
            <a:ext cx="3575304" cy="2551176"/>
          </a:xfrm>
          <a:prstGeom prst="roundRect">
            <a:avLst>
              <a:gd name="adj" fmla="val 8602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Hybrid video result dashed frame" descr="Hybrid video result dashed frame"/>
          <p:cNvSpPr/>
          <p:nvPr/>
        </p:nvSpPr>
        <p:spPr>
          <a:xfrm>
            <a:off x="8805672" y="6446520"/>
            <a:ext cx="3575304" cy="2551176"/>
          </a:xfrm>
          <a:prstGeom prst="roundRect">
            <a:avLst>
              <a:gd name="adj" fmla="val 8602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elected video result dashed frame" descr="Selected video result dashed frame"/>
          <p:cNvSpPr/>
          <p:nvPr/>
        </p:nvSpPr>
        <p:spPr>
          <a:xfrm>
            <a:off x="13112496" y="6446520"/>
            <a:ext cx="3584448" cy="2551176"/>
          </a:xfrm>
          <a:prstGeom prst="roundRect">
            <a:avLst>
              <a:gd name="adj" fmla="val 8602"/>
            </a:avLst>
          </a:prstGeom>
          <a:noFill/>
          <a:ln w="25603">
            <a:solidFill>
              <a:srgbClr val="1D365A"/>
            </a:solidFill>
            <a:custDash>
              <a:ds d="392857" sp="321429"/>
            </a:custDash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Baseline to clip reconstruction shaft" descr="Baseline to clip reconstruction shaft"/>
          <p:cNvSpPr/>
          <p:nvPr/>
        </p:nvSpPr>
        <p:spPr>
          <a:xfrm>
            <a:off x="3575304" y="7717536"/>
            <a:ext cx="1162020" cy="183"/>
          </a:xfrm>
          <a:custGeom>
            <a:avLst/>
            <a:gdLst/>
            <a:ahLst/>
            <a:cxnLst/>
            <a:rect l="0" t="0" r="r" b="b"/>
            <a:pathLst>
              <a:path w="1162020" h="183">
                <a:moveTo>
                  <a:pt x="0" y="0"/>
                </a:moveTo>
                <a:lnTo>
                  <a:pt x="1162020" y="0"/>
                </a:lnTo>
              </a:path>
            </a:pathLst>
          </a:custGeom>
          <a:noFill/>
          <a:ln w="34747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Baseline to clip reconstruction arrowhead" descr="Baseline to clip reconstruction arrowhead"/>
          <p:cNvSpPr/>
          <p:nvPr/>
        </p:nvSpPr>
        <p:spPr>
          <a:xfrm>
            <a:off x="4709160" y="7656088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Clip to hybrid reconstruction shaft" descr="Clip to hybrid reconstruction shaft"/>
          <p:cNvSpPr/>
          <p:nvPr/>
        </p:nvSpPr>
        <p:spPr>
          <a:xfrm>
            <a:off x="8421624" y="7717536"/>
            <a:ext cx="284196" cy="183"/>
          </a:xfrm>
          <a:custGeom>
            <a:avLst/>
            <a:gdLst/>
            <a:ahLst/>
            <a:cxnLst/>
            <a:rect l="0" t="0" r="r" b="b"/>
            <a:pathLst>
              <a:path w="284196" h="183">
                <a:moveTo>
                  <a:pt x="0" y="0"/>
                </a:moveTo>
                <a:lnTo>
                  <a:pt x="284196" y="0"/>
                </a:lnTo>
              </a:path>
            </a:pathLst>
          </a:custGeom>
          <a:noFill/>
          <a:ln w="34747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Clip to hybrid reconstruction arrowhead" descr="Clip to hybrid reconstruction arrowhead"/>
          <p:cNvSpPr/>
          <p:nvPr/>
        </p:nvSpPr>
        <p:spPr>
          <a:xfrm>
            <a:off x="8677656" y="7656088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Hybrid to selected reconstruction shaft" descr="Hybrid to selected reconstruction shaft"/>
          <p:cNvSpPr/>
          <p:nvPr/>
        </p:nvSpPr>
        <p:spPr>
          <a:xfrm>
            <a:off x="12399264" y="7717536"/>
            <a:ext cx="613380" cy="183"/>
          </a:xfrm>
          <a:custGeom>
            <a:avLst/>
            <a:gdLst/>
            <a:ahLst/>
            <a:cxnLst/>
            <a:rect l="0" t="0" r="r" b="b"/>
            <a:pathLst>
              <a:path w="613380" h="183">
                <a:moveTo>
                  <a:pt x="0" y="0"/>
                </a:moveTo>
                <a:lnTo>
                  <a:pt x="613380" y="0"/>
                </a:lnTo>
              </a:path>
            </a:pathLst>
          </a:custGeom>
          <a:noFill/>
          <a:ln w="34747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Hybrid to selected reconstruction arrowhead" descr="Hybrid to selected reconstruction arrowhead"/>
          <p:cNvSpPr/>
          <p:nvPr/>
        </p:nvSpPr>
        <p:spPr>
          <a:xfrm>
            <a:off x="12984480" y="7656088"/>
            <a:ext cx="128016" cy="122895"/>
          </a:xfrm>
          <a:custGeom>
            <a:avLst/>
            <a:gdLst/>
            <a:ahLst/>
            <a:cxnLst/>
            <a:rect l="0" t="0" r="r" b="b"/>
            <a:pathLst>
              <a:path w="128016" h="122895">
                <a:moveTo>
                  <a:pt x="128016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oseCrafter Extreme Pose Estimation with Hybrid Video Synthesi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199864" cy="9015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PoseCrafter — editable diagram reconstruction</dc:title>
  <dc:subject>Hybrid Video Generation and Feature Matching Selector</dc:subject>
  <dc:creator>OpenAI</dc:creator>
  <cp:keywords>PoseCrafter, editable, diagram, reconstruction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