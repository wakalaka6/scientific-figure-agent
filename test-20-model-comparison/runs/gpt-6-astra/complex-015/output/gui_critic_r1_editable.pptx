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474184" cy="84216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Reference-based reconstruction. All titles, labels, diagrams, arrows, borders, and icons are editable native PowerPoint objects. Six small phone-screen images are cropped from the supplied reference and embedded as independent images. Canvas: 1911 × 921. Fonts: Times New Roman and Comic Sans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Canvas and major section borders"/>
          <p:cNvGrpSpPr/>
          <p:nvPr/>
        </p:nvGrpSpPr>
        <p:grpSpPr>
          <a:xfrm>
            <a:off x="0" y="0"/>
            <a:ext cx="17492472" cy="8421624"/>
            <a:chOff x="0" y="0"/>
            <a:chExt cx="17492472" cy="8421624"/>
          </a:xfrm>
        </p:grpSpPr>
        <p:sp>
          <p:nvSpPr>
            <p:cNvPr id="3" name="White canvas"/>
            <p:cNvSpPr/>
            <p:nvPr/>
          </p:nvSpPr>
          <p:spPr>
            <a:xfrm>
              <a:off x="0" y="0"/>
              <a:ext cx="17474184" cy="8421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ata pipeline outer border"/>
            <p:cNvSpPr/>
            <p:nvPr/>
          </p:nvSpPr>
          <p:spPr>
            <a:xfrm>
              <a:off x="9144" y="155448"/>
              <a:ext cx="9564624" cy="8266176"/>
            </a:xfrm>
            <a:prstGeom prst="roundRect">
              <a:avLst>
                <a:gd name="adj" fmla="val 7300"/>
              </a:avLst>
            </a:prstGeom>
            <a:noFill/>
            <a:ln w="5943" cap="rnd">
              <a:solidFill>
                <a:srgbClr val="96969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GUI Critic outer border"/>
            <p:cNvSpPr/>
            <p:nvPr/>
          </p:nvSpPr>
          <p:spPr>
            <a:xfrm>
              <a:off x="9729216" y="155448"/>
              <a:ext cx="7763256" cy="8266176"/>
            </a:xfrm>
            <a:prstGeom prst="roundRect">
              <a:avLst>
                <a:gd name="adj" fmla="val 7656"/>
              </a:avLst>
            </a:prstGeom>
            <a:noFill/>
            <a:ln w="5943" cap="rnd">
              <a:solidFill>
                <a:srgbClr val="96969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GUI operations boundary"/>
            <p:cNvSpPr/>
            <p:nvPr/>
          </p:nvSpPr>
          <p:spPr>
            <a:xfrm>
              <a:off x="164592" y="704088"/>
              <a:ext cx="4023360" cy="7580376"/>
            </a:xfrm>
            <a:prstGeom prst="roundRect">
              <a:avLst>
                <a:gd name="adj" fmla="val 7954"/>
              </a:avLst>
            </a:prstGeom>
            <a:noFill/>
            <a:ln w="16459" cap="rnd">
              <a:solidFill>
                <a:srgbClr val="FFBD0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GUI critiques boundary"/>
            <p:cNvSpPr/>
            <p:nvPr/>
          </p:nvSpPr>
          <p:spPr>
            <a:xfrm>
              <a:off x="4279392" y="704088"/>
              <a:ext cx="5175504" cy="7580376"/>
            </a:xfrm>
            <a:prstGeom prst="roundRect">
              <a:avLst>
                <a:gd name="adj" fmla="val 7243"/>
              </a:avLst>
            </a:prstGeom>
            <a:noFill/>
            <a:ln w="16459" cap="rnd">
              <a:solidFill>
                <a:srgbClr val="72AC4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FT cold-start boundary"/>
            <p:cNvSpPr/>
            <p:nvPr/>
          </p:nvSpPr>
          <p:spPr>
            <a:xfrm>
              <a:off x="9893808" y="612648"/>
              <a:ext cx="7498080" cy="2496312"/>
            </a:xfrm>
            <a:prstGeom prst="roundRect">
              <a:avLst>
                <a:gd name="adj" fmla="val 6959"/>
              </a:avLst>
            </a:prstGeom>
            <a:noFill/>
            <a:ln w="16459" cap="rnd">
              <a:solidFill>
                <a:srgbClr val="559DDF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-GRPO boundary"/>
            <p:cNvSpPr/>
            <p:nvPr/>
          </p:nvSpPr>
          <p:spPr>
            <a:xfrm>
              <a:off x="9857232" y="3355848"/>
              <a:ext cx="7498080" cy="4928616"/>
            </a:xfrm>
            <a:prstGeom prst="roundRect">
              <a:avLst>
                <a:gd name="adj" fmla="val 7050"/>
              </a:avLst>
            </a:prstGeom>
            <a:noFill/>
            <a:ln w="16459" cap="rnd">
              <a:solidFill>
                <a:srgbClr val="559DDF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ata Collection Pipeline with Reasoning Bootstrapping"/>
            <p:cNvSpPr txBox="1"/>
            <p:nvPr/>
          </p:nvSpPr>
          <p:spPr>
            <a:xfrm>
              <a:off x="758952" y="228600"/>
              <a:ext cx="8193024" cy="455371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92" b="1" i="0" u="none">
                  <a:solidFill>
                    <a:srgbClr val="080808"/>
                  </a:solidFill>
                  <a:latin typeface="Times New Roman"/>
                </a:rPr>
                <a:t>Data Collection Pipeline with Reasoning Bootstrapping</a:t>
              </a:r>
            </a:p>
          </p:txBody>
        </p:sp>
        <p:sp>
          <p:nvSpPr>
            <p:cNvPr id="11" name="GUI-Critic-R1"/>
            <p:cNvSpPr txBox="1"/>
            <p:nvPr/>
          </p:nvSpPr>
          <p:spPr>
            <a:xfrm>
              <a:off x="11951208" y="228600"/>
              <a:ext cx="3401568" cy="455371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92" b="1" i="0" u="none">
                  <a:solidFill>
                    <a:srgbClr val="080808"/>
                  </a:solidFill>
                  <a:latin typeface="Times New Roman"/>
                </a:rPr>
                <a:t>GUI-Critic-R1</a:t>
              </a:r>
            </a:p>
          </p:txBody>
        </p:sp>
      </p:grpSp>
      <p:grpSp>
        <p:nvGrpSpPr>
          <p:cNvPr id="12" name="GUI operations collection: screen sequence and task"/>
          <p:cNvGrpSpPr/>
          <p:nvPr/>
        </p:nvGrpSpPr>
        <p:grpSpPr>
          <a:xfrm>
            <a:off x="274320" y="758952"/>
            <a:ext cx="3849624" cy="3364992"/>
            <a:chOff x="274320" y="758952"/>
            <a:chExt cx="3849624" cy="3364992"/>
          </a:xfrm>
        </p:grpSpPr>
        <p:sp>
          <p:nvSpPr>
            <p:cNvPr id="13" name="GUI Operations Collection"/>
            <p:cNvSpPr txBox="1"/>
            <p:nvPr/>
          </p:nvSpPr>
          <p:spPr>
            <a:xfrm>
              <a:off x="420624" y="758952"/>
              <a:ext cx="3575304" cy="40187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68" b="1" i="0" u="none">
                  <a:solidFill>
                    <a:srgbClr val="080808"/>
                  </a:solidFill>
                  <a:latin typeface="Times New Roman"/>
                </a:rPr>
                <a:t>GUI Operations Collection</a:t>
              </a:r>
            </a:p>
          </p:txBody>
        </p:sp>
        <p:sp>
          <p:nvSpPr>
            <p:cNvPr id="14" name="Highlighted correct screenshot"/>
            <p:cNvSpPr/>
            <p:nvPr/>
          </p:nvSpPr>
          <p:spPr>
            <a:xfrm>
              <a:off x="2542032" y="1161288"/>
              <a:ext cx="658368" cy="1307592"/>
            </a:xfrm>
            <a:prstGeom prst="rect">
              <a:avLst/>
            </a:prstGeom>
            <a:solidFill>
              <a:srgbClr val="FFE38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5" name="GUI operation screenshot 1" descr="phone_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184" y="1216152"/>
              <a:ext cx="557784" cy="1188720"/>
            </a:xfrm>
            <a:prstGeom prst="rect">
              <a:avLst/>
            </a:prstGeom>
          </p:spPr>
        </p:pic>
        <p:sp>
          <p:nvSpPr>
            <p:cNvPr id="16" name="Phone screenshot border"/>
            <p:cNvSpPr/>
            <p:nvPr/>
          </p:nvSpPr>
          <p:spPr>
            <a:xfrm>
              <a:off x="329184" y="1216152"/>
              <a:ext cx="557784" cy="1188720"/>
            </a:xfrm>
            <a:prstGeom prst="rect">
              <a:avLst/>
            </a:prstGeom>
            <a:noFill/>
            <a:ln w="6858" cap="rnd">
              <a:solidFill>
                <a:srgbClr val="55555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7" name="GUI operation screenshot 2" descr="phone_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256" y="1216152"/>
              <a:ext cx="539496" cy="1188720"/>
            </a:xfrm>
            <a:prstGeom prst="rect">
              <a:avLst/>
            </a:prstGeom>
          </p:spPr>
        </p:pic>
        <p:sp>
          <p:nvSpPr>
            <p:cNvPr id="18" name="Phone screenshot border"/>
            <p:cNvSpPr/>
            <p:nvPr/>
          </p:nvSpPr>
          <p:spPr>
            <a:xfrm>
              <a:off x="905256" y="1216152"/>
              <a:ext cx="539496" cy="1188720"/>
            </a:xfrm>
            <a:prstGeom prst="rect">
              <a:avLst/>
            </a:prstGeom>
            <a:noFill/>
            <a:ln w="6858" cap="rnd">
              <a:solidFill>
                <a:srgbClr val="55555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9" name="GUI operation screenshot 3" descr="phone_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3040" y="1216152"/>
              <a:ext cx="548640" cy="1188720"/>
            </a:xfrm>
            <a:prstGeom prst="rect">
              <a:avLst/>
            </a:prstGeom>
          </p:spPr>
        </p:pic>
        <p:sp>
          <p:nvSpPr>
            <p:cNvPr id="20" name="Phone screenshot border"/>
            <p:cNvSpPr/>
            <p:nvPr/>
          </p:nvSpPr>
          <p:spPr>
            <a:xfrm>
              <a:off x="1463040" y="1216152"/>
              <a:ext cx="548640" cy="1188720"/>
            </a:xfrm>
            <a:prstGeom prst="rect">
              <a:avLst/>
            </a:prstGeom>
            <a:noFill/>
            <a:ln w="6858" cap="rnd">
              <a:solidFill>
                <a:srgbClr val="55555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1" name="GUI operation screenshot 4" descr="phone_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29968" y="1216152"/>
              <a:ext cx="493776" cy="1188720"/>
            </a:xfrm>
            <a:prstGeom prst="rect">
              <a:avLst/>
            </a:prstGeom>
          </p:spPr>
        </p:pic>
        <p:sp>
          <p:nvSpPr>
            <p:cNvPr id="22" name="Phone screenshot border"/>
            <p:cNvSpPr/>
            <p:nvPr/>
          </p:nvSpPr>
          <p:spPr>
            <a:xfrm>
              <a:off x="2029968" y="1216152"/>
              <a:ext cx="493776" cy="1188720"/>
            </a:xfrm>
            <a:prstGeom prst="rect">
              <a:avLst/>
            </a:prstGeom>
            <a:noFill/>
            <a:ln w="6858" cap="rnd">
              <a:solidFill>
                <a:srgbClr val="55555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3" name="GUI operation screenshot 5" descr="phone_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06040" y="1216152"/>
              <a:ext cx="530352" cy="1188720"/>
            </a:xfrm>
            <a:prstGeom prst="rect">
              <a:avLst/>
            </a:prstGeom>
          </p:spPr>
        </p:pic>
        <p:sp>
          <p:nvSpPr>
            <p:cNvPr id="24" name="Phone screenshot border"/>
            <p:cNvSpPr/>
            <p:nvPr/>
          </p:nvSpPr>
          <p:spPr>
            <a:xfrm>
              <a:off x="2606040" y="1216152"/>
              <a:ext cx="530352" cy="1188720"/>
            </a:xfrm>
            <a:prstGeom prst="rect">
              <a:avLst/>
            </a:prstGeom>
            <a:noFill/>
            <a:ln w="6858" cap="rnd">
              <a:solidFill>
                <a:srgbClr val="55555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5" name="GUI operation screenshot 6" descr="phone_6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84448" y="1216152"/>
              <a:ext cx="539496" cy="1188720"/>
            </a:xfrm>
            <a:prstGeom prst="rect">
              <a:avLst/>
            </a:prstGeom>
          </p:spPr>
        </p:pic>
        <p:sp>
          <p:nvSpPr>
            <p:cNvPr id="26" name="Phone screenshot border"/>
            <p:cNvSpPr/>
            <p:nvPr/>
          </p:nvSpPr>
          <p:spPr>
            <a:xfrm>
              <a:off x="3584448" y="1216152"/>
              <a:ext cx="539496" cy="1188720"/>
            </a:xfrm>
            <a:prstGeom prst="rect">
              <a:avLst/>
            </a:prstGeom>
            <a:noFill/>
            <a:ln w="6858" cap="rnd">
              <a:solidFill>
                <a:srgbClr val="55555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Ellipsis dot"/>
            <p:cNvSpPr/>
            <p:nvPr/>
          </p:nvSpPr>
          <p:spPr>
            <a:xfrm>
              <a:off x="3290926" y="1846174"/>
              <a:ext cx="38405" cy="38405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Ellipsis dot"/>
            <p:cNvSpPr/>
            <p:nvPr/>
          </p:nvSpPr>
          <p:spPr>
            <a:xfrm>
              <a:off x="3354934" y="1846174"/>
              <a:ext cx="38405" cy="38405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Ellipsis dot"/>
            <p:cNvSpPr/>
            <p:nvPr/>
          </p:nvSpPr>
          <p:spPr>
            <a:xfrm>
              <a:off x="3418942" y="1846174"/>
              <a:ext cx="38405" cy="38405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peration sequence path"/>
            <p:cNvSpPr/>
            <p:nvPr/>
          </p:nvSpPr>
          <p:spPr>
            <a:xfrm>
              <a:off x="850392" y="1508760"/>
              <a:ext cx="246888" cy="950976"/>
            </a:xfrm>
            <a:custGeom>
              <a:avLst/>
              <a:gdLst/>
              <a:ahLst/>
              <a:cxnLst/>
              <a:rect l="0" t="0" r="r" b="b"/>
              <a:pathLst>
                <a:path w="246888" h="950976" fill="none">
                  <a:moveTo>
                    <a:pt x="0" y="0"/>
                  </a:moveTo>
                  <a:cubicBezTo>
                    <a:pt x="182880" y="429768"/>
                    <a:pt x="109728" y="676656"/>
                    <a:pt x="246888" y="950976"/>
                  </a:cubicBezTo>
                </a:path>
              </a:pathLst>
            </a:custGeom>
            <a:noFill/>
            <a:ln w="15544" cap="rnd">
              <a:solidFill>
                <a:srgbClr val="FFBD03"/>
              </a:solidFill>
              <a:prstDash val="sysDot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Curve"/>
            <p:cNvSpPr/>
            <p:nvPr/>
          </p:nvSpPr>
          <p:spPr>
            <a:xfrm>
              <a:off x="1581912" y="1261872"/>
              <a:ext cx="1517904" cy="777240"/>
            </a:xfrm>
            <a:custGeom>
              <a:avLst/>
              <a:gdLst/>
              <a:ahLst/>
              <a:cxnLst/>
              <a:rect l="0" t="0" r="r" b="b"/>
              <a:pathLst>
                <a:path w="1517904" h="777240" fill="none">
                  <a:moveTo>
                    <a:pt x="0" y="118872"/>
                  </a:moveTo>
                  <a:cubicBezTo>
                    <a:pt x="384048" y="0"/>
                    <a:pt x="411480" y="374904"/>
                    <a:pt x="630936" y="393192"/>
                  </a:cubicBezTo>
                  <a:cubicBezTo>
                    <a:pt x="960120" y="475488"/>
                    <a:pt x="1216152" y="658368"/>
                    <a:pt x="1517904" y="777240"/>
                  </a:cubicBezTo>
                </a:path>
              </a:pathLst>
            </a:custGeom>
            <a:noFill/>
            <a:ln w="15544" cap="rnd">
              <a:solidFill>
                <a:srgbClr val="FFBD03"/>
              </a:solidFill>
              <a:prstDash val="sysDot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Curve"/>
            <p:cNvSpPr/>
            <p:nvPr/>
          </p:nvSpPr>
          <p:spPr>
            <a:xfrm>
              <a:off x="3191256" y="1417320"/>
              <a:ext cx="841248" cy="832104"/>
            </a:xfrm>
            <a:custGeom>
              <a:avLst/>
              <a:gdLst/>
              <a:ahLst/>
              <a:cxnLst/>
              <a:rect l="0" t="0" r="r" b="b"/>
              <a:pathLst>
                <a:path w="841248" h="832104" fill="none">
                  <a:moveTo>
                    <a:pt x="0" y="585216"/>
                  </a:moveTo>
                  <a:cubicBezTo>
                    <a:pt x="429768" y="832104"/>
                    <a:pt x="667512" y="374904"/>
                    <a:pt x="841248" y="0"/>
                  </a:cubicBezTo>
                </a:path>
              </a:pathLst>
            </a:custGeom>
            <a:noFill/>
            <a:ln w="15544" cap="rnd">
              <a:solidFill>
                <a:srgbClr val="FFBD03"/>
              </a:solidFill>
              <a:prstDash val="sysDot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Touch gesture"/>
            <p:cNvSpPr/>
            <p:nvPr/>
          </p:nvSpPr>
          <p:spPr>
            <a:xfrm>
              <a:off x="749808" y="1371600"/>
              <a:ext cx="166421" cy="202082"/>
            </a:xfrm>
            <a:custGeom>
              <a:avLst/>
              <a:gdLst/>
              <a:ahLst/>
              <a:cxnLst/>
              <a:rect l="0" t="0" r="r" b="b"/>
              <a:pathLst>
                <a:path w="166421" h="202082">
                  <a:moveTo>
                    <a:pt x="29718" y="166421"/>
                  </a:moveTo>
                  <a:lnTo>
                    <a:pt x="17831" y="118872"/>
                  </a:lnTo>
                  <a:lnTo>
                    <a:pt x="0" y="101041"/>
                  </a:lnTo>
                  <a:lnTo>
                    <a:pt x="0" y="83210"/>
                  </a:lnTo>
                  <a:lnTo>
                    <a:pt x="17831" y="77267"/>
                  </a:lnTo>
                  <a:lnTo>
                    <a:pt x="47549" y="112928"/>
                  </a:lnTo>
                  <a:lnTo>
                    <a:pt x="47549" y="11887"/>
                  </a:lnTo>
                  <a:lnTo>
                    <a:pt x="59436" y="0"/>
                  </a:lnTo>
                  <a:lnTo>
                    <a:pt x="77267" y="5944"/>
                  </a:lnTo>
                  <a:lnTo>
                    <a:pt x="83210" y="95098"/>
                  </a:lnTo>
                  <a:lnTo>
                    <a:pt x="89154" y="53492"/>
                  </a:lnTo>
                  <a:lnTo>
                    <a:pt x="106985" y="53492"/>
                  </a:lnTo>
                  <a:lnTo>
                    <a:pt x="112928" y="106985"/>
                  </a:lnTo>
                  <a:lnTo>
                    <a:pt x="118872" y="65380"/>
                  </a:lnTo>
                  <a:lnTo>
                    <a:pt x="136703" y="65380"/>
                  </a:lnTo>
                  <a:lnTo>
                    <a:pt x="142646" y="118872"/>
                  </a:lnTo>
                  <a:lnTo>
                    <a:pt x="148590" y="83210"/>
                  </a:lnTo>
                  <a:lnTo>
                    <a:pt x="166421" y="89154"/>
                  </a:lnTo>
                  <a:lnTo>
                    <a:pt x="166421" y="154534"/>
                  </a:lnTo>
                  <a:lnTo>
                    <a:pt x="136703" y="202082"/>
                  </a:lnTo>
                  <a:lnTo>
                    <a:pt x="83210" y="202082"/>
                  </a:lnTo>
                  <a:close/>
                </a:path>
              </a:pathLst>
            </a:custGeom>
            <a:solidFill>
              <a:srgbClr val="FFB500"/>
            </a:solidFill>
            <a:ln w="5029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ouch gesture"/>
            <p:cNvSpPr/>
            <p:nvPr/>
          </p:nvSpPr>
          <p:spPr>
            <a:xfrm>
              <a:off x="1490472" y="1252728"/>
              <a:ext cx="168981" cy="205191"/>
            </a:xfrm>
            <a:custGeom>
              <a:avLst/>
              <a:gdLst/>
              <a:ahLst/>
              <a:cxnLst/>
              <a:rect l="0" t="0" r="r" b="b"/>
              <a:pathLst>
                <a:path w="168981" h="205191">
                  <a:moveTo>
                    <a:pt x="30175" y="168981"/>
                  </a:moveTo>
                  <a:lnTo>
                    <a:pt x="18105" y="120701"/>
                  </a:lnTo>
                  <a:lnTo>
                    <a:pt x="0" y="102596"/>
                  </a:lnTo>
                  <a:lnTo>
                    <a:pt x="0" y="84491"/>
                  </a:lnTo>
                  <a:lnTo>
                    <a:pt x="18105" y="78456"/>
                  </a:lnTo>
                  <a:lnTo>
                    <a:pt x="48280" y="114666"/>
                  </a:lnTo>
                  <a:lnTo>
                    <a:pt x="48280" y="12070"/>
                  </a:lnTo>
                  <a:lnTo>
                    <a:pt x="60350" y="0"/>
                  </a:lnTo>
                  <a:lnTo>
                    <a:pt x="78456" y="6035"/>
                  </a:lnTo>
                  <a:lnTo>
                    <a:pt x="84491" y="96561"/>
                  </a:lnTo>
                  <a:lnTo>
                    <a:pt x="90526" y="54315"/>
                  </a:lnTo>
                  <a:lnTo>
                    <a:pt x="108631" y="54315"/>
                  </a:lnTo>
                  <a:lnTo>
                    <a:pt x="114666" y="108631"/>
                  </a:lnTo>
                  <a:lnTo>
                    <a:pt x="120701" y="66385"/>
                  </a:lnTo>
                  <a:lnTo>
                    <a:pt x="138806" y="66385"/>
                  </a:lnTo>
                  <a:lnTo>
                    <a:pt x="144841" y="120701"/>
                  </a:lnTo>
                  <a:lnTo>
                    <a:pt x="150876" y="84491"/>
                  </a:lnTo>
                  <a:lnTo>
                    <a:pt x="168981" y="90526"/>
                  </a:lnTo>
                  <a:lnTo>
                    <a:pt x="168981" y="156911"/>
                  </a:lnTo>
                  <a:lnTo>
                    <a:pt x="138806" y="205191"/>
                  </a:lnTo>
                  <a:lnTo>
                    <a:pt x="84491" y="205191"/>
                  </a:lnTo>
                  <a:close/>
                </a:path>
              </a:pathLst>
            </a:custGeom>
            <a:solidFill>
              <a:srgbClr val="FFB500"/>
            </a:solidFill>
            <a:ln w="5029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ouch gesture"/>
            <p:cNvSpPr/>
            <p:nvPr/>
          </p:nvSpPr>
          <p:spPr>
            <a:xfrm>
              <a:off x="2029968" y="1536192"/>
              <a:ext cx="184343" cy="223845"/>
            </a:xfrm>
            <a:custGeom>
              <a:avLst/>
              <a:gdLst/>
              <a:ahLst/>
              <a:cxnLst/>
              <a:rect l="0" t="0" r="r" b="b"/>
              <a:pathLst>
                <a:path w="184343" h="223845">
                  <a:moveTo>
                    <a:pt x="32918" y="184343"/>
                  </a:moveTo>
                  <a:lnTo>
                    <a:pt x="19751" y="131674"/>
                  </a:lnTo>
                  <a:lnTo>
                    <a:pt x="0" y="111923"/>
                  </a:lnTo>
                  <a:lnTo>
                    <a:pt x="0" y="92172"/>
                  </a:lnTo>
                  <a:lnTo>
                    <a:pt x="19751" y="85588"/>
                  </a:lnTo>
                  <a:lnTo>
                    <a:pt x="52669" y="125090"/>
                  </a:lnTo>
                  <a:lnTo>
                    <a:pt x="52669" y="13167"/>
                  </a:lnTo>
                  <a:lnTo>
                    <a:pt x="65837" y="0"/>
                  </a:lnTo>
                  <a:lnTo>
                    <a:pt x="85588" y="6584"/>
                  </a:lnTo>
                  <a:lnTo>
                    <a:pt x="92172" y="105339"/>
                  </a:lnTo>
                  <a:lnTo>
                    <a:pt x="98755" y="59253"/>
                  </a:lnTo>
                  <a:lnTo>
                    <a:pt x="118506" y="59253"/>
                  </a:lnTo>
                  <a:lnTo>
                    <a:pt x="125090" y="118506"/>
                  </a:lnTo>
                  <a:lnTo>
                    <a:pt x="131674" y="72420"/>
                  </a:lnTo>
                  <a:lnTo>
                    <a:pt x="151425" y="72420"/>
                  </a:lnTo>
                  <a:lnTo>
                    <a:pt x="158008" y="131674"/>
                  </a:lnTo>
                  <a:lnTo>
                    <a:pt x="164592" y="92172"/>
                  </a:lnTo>
                  <a:lnTo>
                    <a:pt x="184343" y="98755"/>
                  </a:lnTo>
                  <a:lnTo>
                    <a:pt x="184343" y="171176"/>
                  </a:lnTo>
                  <a:lnTo>
                    <a:pt x="151425" y="223845"/>
                  </a:lnTo>
                  <a:lnTo>
                    <a:pt x="92172" y="223845"/>
                  </a:lnTo>
                  <a:close/>
                </a:path>
              </a:pathLst>
            </a:custGeom>
            <a:solidFill>
              <a:srgbClr val="FFB500"/>
            </a:solidFill>
            <a:ln w="5029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Touch gesture"/>
            <p:cNvSpPr/>
            <p:nvPr/>
          </p:nvSpPr>
          <p:spPr>
            <a:xfrm>
              <a:off x="3035808" y="1956816"/>
              <a:ext cx="171541" cy="208300"/>
            </a:xfrm>
            <a:custGeom>
              <a:avLst/>
              <a:gdLst/>
              <a:ahLst/>
              <a:cxnLst/>
              <a:rect l="0" t="0" r="r" b="b"/>
              <a:pathLst>
                <a:path w="171541" h="208300">
                  <a:moveTo>
                    <a:pt x="30632" y="171541"/>
                  </a:moveTo>
                  <a:lnTo>
                    <a:pt x="18379" y="122530"/>
                  </a:lnTo>
                  <a:lnTo>
                    <a:pt x="0" y="104150"/>
                  </a:lnTo>
                  <a:lnTo>
                    <a:pt x="0" y="85771"/>
                  </a:lnTo>
                  <a:lnTo>
                    <a:pt x="18379" y="79644"/>
                  </a:lnTo>
                  <a:lnTo>
                    <a:pt x="49012" y="116403"/>
                  </a:lnTo>
                  <a:lnTo>
                    <a:pt x="49012" y="12253"/>
                  </a:lnTo>
                  <a:lnTo>
                    <a:pt x="61265" y="0"/>
                  </a:lnTo>
                  <a:lnTo>
                    <a:pt x="79644" y="6126"/>
                  </a:lnTo>
                  <a:lnTo>
                    <a:pt x="85771" y="98024"/>
                  </a:lnTo>
                  <a:lnTo>
                    <a:pt x="91897" y="55138"/>
                  </a:lnTo>
                  <a:lnTo>
                    <a:pt x="110277" y="55138"/>
                  </a:lnTo>
                  <a:lnTo>
                    <a:pt x="116403" y="110277"/>
                  </a:lnTo>
                  <a:lnTo>
                    <a:pt x="122530" y="67391"/>
                  </a:lnTo>
                  <a:lnTo>
                    <a:pt x="140909" y="67391"/>
                  </a:lnTo>
                  <a:lnTo>
                    <a:pt x="147036" y="122530"/>
                  </a:lnTo>
                  <a:lnTo>
                    <a:pt x="153162" y="85771"/>
                  </a:lnTo>
                  <a:lnTo>
                    <a:pt x="171541" y="91897"/>
                  </a:lnTo>
                  <a:lnTo>
                    <a:pt x="171541" y="159288"/>
                  </a:lnTo>
                  <a:lnTo>
                    <a:pt x="140909" y="208300"/>
                  </a:lnTo>
                  <a:lnTo>
                    <a:pt x="85771" y="208300"/>
                  </a:lnTo>
                  <a:close/>
                </a:path>
              </a:pathLst>
            </a:custGeom>
            <a:solidFill>
              <a:srgbClr val="FFB500"/>
            </a:solidFill>
            <a:ln w="5029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ouch gesture"/>
            <p:cNvSpPr/>
            <p:nvPr/>
          </p:nvSpPr>
          <p:spPr>
            <a:xfrm>
              <a:off x="3922776" y="1280160"/>
              <a:ext cx="168981" cy="205191"/>
            </a:xfrm>
            <a:custGeom>
              <a:avLst/>
              <a:gdLst/>
              <a:ahLst/>
              <a:cxnLst/>
              <a:rect l="0" t="0" r="r" b="b"/>
              <a:pathLst>
                <a:path w="168981" h="205191">
                  <a:moveTo>
                    <a:pt x="30175" y="168981"/>
                  </a:moveTo>
                  <a:lnTo>
                    <a:pt x="18105" y="120701"/>
                  </a:lnTo>
                  <a:lnTo>
                    <a:pt x="0" y="102596"/>
                  </a:lnTo>
                  <a:lnTo>
                    <a:pt x="0" y="84491"/>
                  </a:lnTo>
                  <a:lnTo>
                    <a:pt x="18105" y="78456"/>
                  </a:lnTo>
                  <a:lnTo>
                    <a:pt x="48280" y="114666"/>
                  </a:lnTo>
                  <a:lnTo>
                    <a:pt x="48280" y="12070"/>
                  </a:lnTo>
                  <a:lnTo>
                    <a:pt x="60350" y="0"/>
                  </a:lnTo>
                  <a:lnTo>
                    <a:pt x="78456" y="6035"/>
                  </a:lnTo>
                  <a:lnTo>
                    <a:pt x="84491" y="96561"/>
                  </a:lnTo>
                  <a:lnTo>
                    <a:pt x="90526" y="54315"/>
                  </a:lnTo>
                  <a:lnTo>
                    <a:pt x="108631" y="54315"/>
                  </a:lnTo>
                  <a:lnTo>
                    <a:pt x="114666" y="108631"/>
                  </a:lnTo>
                  <a:lnTo>
                    <a:pt x="120701" y="66385"/>
                  </a:lnTo>
                  <a:lnTo>
                    <a:pt x="138806" y="66385"/>
                  </a:lnTo>
                  <a:lnTo>
                    <a:pt x="144841" y="120701"/>
                  </a:lnTo>
                  <a:lnTo>
                    <a:pt x="150876" y="84491"/>
                  </a:lnTo>
                  <a:lnTo>
                    <a:pt x="168981" y="90526"/>
                  </a:lnTo>
                  <a:lnTo>
                    <a:pt x="168981" y="156911"/>
                  </a:lnTo>
                  <a:lnTo>
                    <a:pt x="138806" y="205191"/>
                  </a:lnTo>
                  <a:lnTo>
                    <a:pt x="84491" y="205191"/>
                  </a:lnTo>
                  <a:close/>
                </a:path>
              </a:pathLst>
            </a:custGeom>
            <a:solidFill>
              <a:srgbClr val="FFB500"/>
            </a:solidFill>
            <a:ln w="5029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own arrow"/>
            <p:cNvSpPr/>
            <p:nvPr/>
          </p:nvSpPr>
          <p:spPr>
            <a:xfrm>
              <a:off x="923544" y="2377440"/>
              <a:ext cx="228600" cy="219456"/>
            </a:xfrm>
            <a:custGeom>
              <a:avLst/>
              <a:gdLst/>
              <a:ahLst/>
              <a:cxnLst/>
              <a:rect l="0" t="0" r="r" b="b"/>
              <a:pathLst>
                <a:path w="228600" h="219456">
                  <a:moveTo>
                    <a:pt x="73152" y="0"/>
                  </a:moveTo>
                  <a:lnTo>
                    <a:pt x="155448" y="0"/>
                  </a:lnTo>
                  <a:lnTo>
                    <a:pt x="155448" y="144841"/>
                  </a:lnTo>
                  <a:lnTo>
                    <a:pt x="228600" y="144841"/>
                  </a:lnTo>
                  <a:lnTo>
                    <a:pt x="114300" y="219456"/>
                  </a:lnTo>
                  <a:lnTo>
                    <a:pt x="0" y="144841"/>
                  </a:lnTo>
                  <a:lnTo>
                    <a:pt x="73152" y="144841"/>
                  </a:lnTo>
                  <a:close/>
                </a:path>
              </a:pathLst>
            </a:custGeom>
            <a:solidFill>
              <a:srgbClr val="FFCD53"/>
            </a:solidFill>
            <a:ln w="5029" cap="rnd">
              <a:solidFill>
                <a:srgbClr val="AC955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urved continuation arrow"/>
            <p:cNvSpPr/>
            <p:nvPr/>
          </p:nvSpPr>
          <p:spPr>
            <a:xfrm>
              <a:off x="3209544" y="2295144"/>
              <a:ext cx="219456" cy="301752"/>
            </a:xfrm>
            <a:custGeom>
              <a:avLst/>
              <a:gdLst/>
              <a:ahLst/>
              <a:cxnLst/>
              <a:rect l="0" t="0" r="r" b="b"/>
              <a:pathLst>
                <a:path w="219456" h="301752">
                  <a:moveTo>
                    <a:pt x="0" y="0"/>
                  </a:moveTo>
                  <a:cubicBezTo>
                    <a:pt x="128016" y="0"/>
                    <a:pt x="146304" y="91440"/>
                    <a:pt x="146304" y="201168"/>
                  </a:cubicBezTo>
                  <a:lnTo>
                    <a:pt x="219456" y="201168"/>
                  </a:lnTo>
                  <a:lnTo>
                    <a:pt x="128016" y="301752"/>
                  </a:lnTo>
                  <a:lnTo>
                    <a:pt x="18288" y="201168"/>
                  </a:lnTo>
                  <a:lnTo>
                    <a:pt x="91440" y="201168"/>
                  </a:lnTo>
                  <a:cubicBezTo>
                    <a:pt x="91440" y="109728"/>
                    <a:pt x="82296" y="54864"/>
                    <a:pt x="0" y="0"/>
                  </a:cubicBezTo>
                  <a:close/>
                </a:path>
              </a:pathLst>
            </a:custGeom>
            <a:solidFill>
              <a:srgbClr val="FFE397"/>
            </a:solidFill>
            <a:ln w="6858" cap="rnd">
              <a:solidFill>
                <a:srgbClr val="9C8E6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ask and operation history background"/>
            <p:cNvSpPr/>
            <p:nvPr/>
          </p:nvSpPr>
          <p:spPr>
            <a:xfrm>
              <a:off x="274320" y="2523744"/>
              <a:ext cx="3840480" cy="1600200"/>
            </a:xfrm>
            <a:prstGeom prst="roundRect">
              <a:avLst>
                <a:gd name="adj" fmla="val 8571"/>
              </a:avLst>
            </a:prstGeom>
            <a:solidFill>
              <a:srgbClr val="FFFB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Task Instruction: Search for someone`s post"/>
            <p:cNvSpPr txBox="1"/>
            <p:nvPr/>
          </p:nvSpPr>
          <p:spPr>
            <a:xfrm>
              <a:off x="320040" y="2560320"/>
              <a:ext cx="3767328" cy="25250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63" b="1" i="0" u="none">
                  <a:solidFill>
                    <a:srgbClr val="080808"/>
                  </a:solidFill>
                  <a:latin typeface="Comic Sans MS"/>
                </a:rPr>
                <a:t>Task Instruction: </a:t>
              </a:r>
              <a:r>
                <a:rPr sz="1363" b="0" i="0" u="sng">
                  <a:solidFill>
                    <a:srgbClr val="080808"/>
                  </a:solidFill>
                  <a:latin typeface="Comic Sans MS"/>
                </a:rPr>
                <a:t>Search for someone`s post</a:t>
              </a:r>
            </a:p>
          </p:txBody>
        </p:sp>
        <p:sp>
          <p:nvSpPr>
            <p:cNvPr id="42" name="on Twitter and send it to tom33@gmail.com"/>
            <p:cNvSpPr txBox="1"/>
            <p:nvPr/>
          </p:nvSpPr>
          <p:spPr>
            <a:xfrm>
              <a:off x="320040" y="2779776"/>
              <a:ext cx="3685032" cy="26180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9" b="0" i="0" u="sng">
                  <a:solidFill>
                    <a:srgbClr val="454545"/>
                  </a:solidFill>
                  <a:latin typeface="Comic Sans MS"/>
                </a:rPr>
                <a:t>on Twitter and send it to tom33@gmail.com</a:t>
              </a:r>
            </a:p>
          </p:txBody>
        </p:sp>
        <p:sp>
          <p:nvSpPr>
            <p:cNvPr id="43" name="via Google Mail"/>
            <p:cNvSpPr txBox="1"/>
            <p:nvPr/>
          </p:nvSpPr>
          <p:spPr>
            <a:xfrm>
              <a:off x="320040" y="3008376"/>
              <a:ext cx="1363228" cy="277063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 i="0" u="sng">
                  <a:solidFill>
                    <a:srgbClr val="454545"/>
                  </a:solidFill>
                  <a:latin typeface="Comic Sans MS"/>
                </a:rPr>
                <a:t>via Google Mail</a:t>
              </a:r>
            </a:p>
          </p:txBody>
        </p:sp>
        <p:sp>
          <p:nvSpPr>
            <p:cNvPr id="44" name="Operation History:"/>
            <p:cNvSpPr txBox="1"/>
            <p:nvPr/>
          </p:nvSpPr>
          <p:spPr>
            <a:xfrm>
              <a:off x="320040" y="3209544"/>
              <a:ext cx="1645034" cy="25566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2" b="1" i="0" u="none">
                  <a:solidFill>
                    <a:srgbClr val="080808"/>
                  </a:solidFill>
                  <a:latin typeface="Comic Sans MS"/>
                </a:rPr>
                <a:t>Operation History:</a:t>
              </a:r>
            </a:p>
          </p:txBody>
        </p:sp>
        <p:sp>
          <p:nvSpPr>
            <p:cNvPr id="45" name="1. Open Twitter 2. Click the"/>
            <p:cNvSpPr txBox="1"/>
            <p:nvPr/>
          </p:nvSpPr>
          <p:spPr>
            <a:xfrm>
              <a:off x="2048256" y="3246120"/>
              <a:ext cx="2057400" cy="22951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0" i="0" u="none">
                  <a:solidFill>
                    <a:srgbClr val="454545"/>
                  </a:solidFill>
                  <a:latin typeface="Comic Sans MS"/>
                </a:rPr>
                <a:t>1. Open Twitter 2. Click the</a:t>
              </a:r>
            </a:p>
          </p:txBody>
        </p:sp>
        <p:sp>
          <p:nvSpPr>
            <p:cNvPr id="46" name="search icon 3. Click on the search box 4. Click on"/>
            <p:cNvSpPr txBox="1"/>
            <p:nvPr/>
          </p:nvSpPr>
          <p:spPr>
            <a:xfrm>
              <a:off x="320040" y="3438144"/>
              <a:ext cx="3803904" cy="24506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8" b="0" i="0" u="none">
                  <a:solidFill>
                    <a:srgbClr val="454545"/>
                  </a:solidFill>
                  <a:latin typeface="Comic Sans MS"/>
                </a:rPr>
                <a:t>search icon 3. Click on the search box 4. Click on</a:t>
              </a:r>
            </a:p>
          </p:txBody>
        </p:sp>
        <p:sp>
          <p:nvSpPr>
            <p:cNvPr id="47" name="Musk in Recent for a quick access"/>
            <p:cNvSpPr txBox="1"/>
            <p:nvPr/>
          </p:nvSpPr>
          <p:spPr>
            <a:xfrm>
              <a:off x="320040" y="3630168"/>
              <a:ext cx="3785616" cy="25685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9" b="0" i="0" u="none">
                  <a:solidFill>
                    <a:srgbClr val="454545"/>
                  </a:solidFill>
                  <a:latin typeface="Comic Sans MS"/>
                </a:rPr>
                <a:t>Musk in Recent for a quick access</a:t>
              </a:r>
            </a:p>
          </p:txBody>
        </p:sp>
        <p:sp>
          <p:nvSpPr>
            <p:cNvPr id="48" name="Correct Action:"/>
            <p:cNvSpPr txBox="1"/>
            <p:nvPr/>
          </p:nvSpPr>
          <p:spPr>
            <a:xfrm>
              <a:off x="320040" y="3822192"/>
              <a:ext cx="1385016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1" i="0" u="none">
                  <a:solidFill>
                    <a:srgbClr val="080808"/>
                  </a:solidFill>
                  <a:latin typeface="Comic Sans MS"/>
                </a:rPr>
                <a:t>Correct Action:</a:t>
              </a:r>
            </a:p>
          </p:txBody>
        </p:sp>
        <p:sp>
          <p:nvSpPr>
            <p:cNvPr id="49" name="Click share button of first post"/>
            <p:cNvSpPr txBox="1"/>
            <p:nvPr/>
          </p:nvSpPr>
          <p:spPr>
            <a:xfrm>
              <a:off x="1792224" y="3849624"/>
              <a:ext cx="2304288" cy="22951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0" i="0" u="none">
                  <a:solidFill>
                    <a:srgbClr val="454545"/>
                  </a:solidFill>
                  <a:latin typeface="Comic Sans MS"/>
                </a:rPr>
                <a:t>Click share button of first post</a:t>
              </a:r>
            </a:p>
          </p:txBody>
        </p:sp>
      </p:grpSp>
      <p:grpSp>
        <p:nvGrpSpPr>
          <p:cNvPr id="50" name="Negative operations sampling"/>
          <p:cNvGrpSpPr/>
          <p:nvPr/>
        </p:nvGrpSpPr>
        <p:grpSpPr>
          <a:xfrm>
            <a:off x="283464" y="4096512"/>
            <a:ext cx="3831336" cy="2002536"/>
            <a:chOff x="283464" y="4096512"/>
            <a:chExt cx="3831336" cy="2002536"/>
          </a:xfrm>
        </p:grpSpPr>
        <p:sp>
          <p:nvSpPr>
            <p:cNvPr id="51" name="Negative Operations Sampling"/>
            <p:cNvSpPr txBox="1"/>
            <p:nvPr/>
          </p:nvSpPr>
          <p:spPr>
            <a:xfrm>
              <a:off x="384048" y="4096512"/>
              <a:ext cx="3621024" cy="338877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86" b="1" i="0" u="none">
                  <a:solidFill>
                    <a:srgbClr val="080808"/>
                  </a:solidFill>
                  <a:latin typeface="Times New Roman"/>
                </a:rPr>
                <a:t>Negative Operations Sampling</a:t>
              </a:r>
            </a:p>
          </p:txBody>
        </p:sp>
        <p:sp>
          <p:nvSpPr>
            <p:cNvPr id="52" name="Rectangle"/>
            <p:cNvSpPr/>
            <p:nvPr/>
          </p:nvSpPr>
          <p:spPr>
            <a:xfrm>
              <a:off x="283464" y="4398264"/>
              <a:ext cx="3831336" cy="1618488"/>
            </a:xfrm>
            <a:prstGeom prst="roundRect">
              <a:avLst>
                <a:gd name="adj" fmla="val 7909"/>
              </a:avLst>
            </a:prstGeom>
            <a:solidFill>
              <a:srgbClr val="FCFB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Stacked operation record"/>
            <p:cNvSpPr/>
            <p:nvPr/>
          </p:nvSpPr>
          <p:spPr>
            <a:xfrm>
              <a:off x="603504" y="4709160"/>
              <a:ext cx="713232" cy="1152144"/>
            </a:xfrm>
            <a:prstGeom prst="rect">
              <a:avLst/>
            </a:prstGeom>
            <a:solidFill>
              <a:srgbClr val="FFFFFF"/>
            </a:solidFill>
            <a:ln w="10972" cap="rnd">
              <a:solidFill>
                <a:srgbClr val="929292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Instruction"/>
            <p:cNvSpPr txBox="1"/>
            <p:nvPr/>
          </p:nvSpPr>
          <p:spPr>
            <a:xfrm>
              <a:off x="630936" y="4745736"/>
              <a:ext cx="685800" cy="17007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0" i="0" u="none">
                  <a:solidFill>
                    <a:srgbClr val="B0B0B0"/>
                  </a:solidFill>
                  <a:latin typeface="Comic Sans MS"/>
                </a:rPr>
                <a:t>Instruction</a:t>
              </a:r>
            </a:p>
          </p:txBody>
        </p:sp>
        <p:sp>
          <p:nvSpPr>
            <p:cNvPr id="55" name="Stacked operation record"/>
            <p:cNvSpPr/>
            <p:nvPr/>
          </p:nvSpPr>
          <p:spPr>
            <a:xfrm>
              <a:off x="566928" y="4754880"/>
              <a:ext cx="713232" cy="1152144"/>
            </a:xfrm>
            <a:prstGeom prst="rect">
              <a:avLst/>
            </a:prstGeom>
            <a:solidFill>
              <a:srgbClr val="FFFFFF"/>
            </a:solidFill>
            <a:ln w="10972" cap="rnd">
              <a:solidFill>
                <a:srgbClr val="929292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Instruction"/>
            <p:cNvSpPr txBox="1"/>
            <p:nvPr/>
          </p:nvSpPr>
          <p:spPr>
            <a:xfrm>
              <a:off x="594360" y="4791456"/>
              <a:ext cx="685800" cy="17007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0" i="0" u="none">
                  <a:solidFill>
                    <a:srgbClr val="B0B0B0"/>
                  </a:solidFill>
                  <a:latin typeface="Comic Sans MS"/>
                </a:rPr>
                <a:t>Instruction</a:t>
              </a:r>
            </a:p>
          </p:txBody>
        </p:sp>
        <p:sp>
          <p:nvSpPr>
            <p:cNvPr id="57" name="Operation record"/>
            <p:cNvSpPr/>
            <p:nvPr/>
          </p:nvSpPr>
          <p:spPr>
            <a:xfrm>
              <a:off x="466344" y="4946904"/>
              <a:ext cx="713232" cy="1152144"/>
            </a:xfrm>
            <a:prstGeom prst="rect">
              <a:avLst/>
            </a:prstGeom>
            <a:solidFill>
              <a:srgbClr val="FFFFFF"/>
            </a:solidFill>
            <a:ln w="10972" cap="rnd">
              <a:solidFill>
                <a:srgbClr val="7F7F7F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Instruction"/>
            <p:cNvSpPr txBox="1"/>
            <p:nvPr/>
          </p:nvSpPr>
          <p:spPr>
            <a:xfrm>
              <a:off x="493776" y="4956048"/>
              <a:ext cx="676656" cy="18761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0" b="1" i="0" u="none">
                  <a:solidFill>
                    <a:srgbClr val="080808"/>
                  </a:solidFill>
                  <a:latin typeface="Comic Sans MS"/>
                </a:rPr>
                <a:t>Instruction</a:t>
              </a:r>
            </a:p>
          </p:txBody>
        </p:sp>
        <p:sp>
          <p:nvSpPr>
            <p:cNvPr id="59" name="History"/>
            <p:cNvSpPr txBox="1"/>
            <p:nvPr/>
          </p:nvSpPr>
          <p:spPr>
            <a:xfrm>
              <a:off x="576072" y="5111496"/>
              <a:ext cx="566928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1" i="0" u="none">
                  <a:solidFill>
                    <a:srgbClr val="080808"/>
                  </a:solidFill>
                  <a:latin typeface="Comic Sans MS"/>
                </a:rPr>
                <a:t>History</a:t>
              </a:r>
            </a:p>
          </p:txBody>
        </p:sp>
        <p:pic>
          <p:nvPicPr>
            <p:cNvPr id="60" name="Twitter screen in operation record" descr="phone_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9496" y="5294376"/>
              <a:ext cx="338328" cy="758952"/>
            </a:xfrm>
            <a:prstGeom prst="rect">
              <a:avLst/>
            </a:prstGeom>
          </p:spPr>
        </p:pic>
        <p:sp>
          <p:nvSpPr>
            <p:cNvPr id="61" name="Ellipsis dot"/>
            <p:cNvSpPr/>
            <p:nvPr/>
          </p:nvSpPr>
          <p:spPr>
            <a:xfrm>
              <a:off x="1210666" y="5837530"/>
              <a:ext cx="29261" cy="29261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Ellipsis dot"/>
            <p:cNvSpPr/>
            <p:nvPr/>
          </p:nvSpPr>
          <p:spPr>
            <a:xfrm>
              <a:off x="1265530" y="5837530"/>
              <a:ext cx="29261" cy="29261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Ellipsis dot"/>
            <p:cNvSpPr/>
            <p:nvPr/>
          </p:nvSpPr>
          <p:spPr>
            <a:xfrm>
              <a:off x="1320394" y="5837530"/>
              <a:ext cx="29261" cy="29261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Arrow"/>
            <p:cNvSpPr/>
            <p:nvPr/>
          </p:nvSpPr>
          <p:spPr>
            <a:xfrm>
              <a:off x="1353312" y="5367528"/>
              <a:ext cx="704088" cy="91"/>
            </a:xfrm>
            <a:custGeom>
              <a:avLst/>
              <a:gdLst/>
              <a:ahLst/>
              <a:cxnLst/>
              <a:rect l="0" t="0" r="r" b="b"/>
              <a:pathLst>
                <a:path w="704088" h="91" fill="none">
                  <a:moveTo>
                    <a:pt x="0" y="0"/>
                  </a:moveTo>
                  <a:lnTo>
                    <a:pt x="704088" y="0"/>
                  </a:lnTo>
                </a:path>
              </a:pathLst>
            </a:custGeom>
            <a:noFill/>
            <a:ln w="16459" cap="rnd">
              <a:solidFill>
                <a:srgbClr val="08080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Arrow arrowhead"/>
            <p:cNvSpPr/>
            <p:nvPr/>
          </p:nvSpPr>
          <p:spPr>
            <a:xfrm>
              <a:off x="1938370" y="5299376"/>
              <a:ext cx="119030" cy="136304"/>
            </a:xfrm>
            <a:custGeom>
              <a:avLst/>
              <a:gdLst/>
              <a:ahLst/>
              <a:cxnLst/>
              <a:rect l="0" t="0" r="r" b="b"/>
              <a:pathLst>
                <a:path w="119030" h="136304" fill="none">
                  <a:moveTo>
                    <a:pt x="0" y="136304"/>
                  </a:moveTo>
                  <a:lnTo>
                    <a:pt x="119030" y="68152"/>
                  </a:lnTo>
                  <a:lnTo>
                    <a:pt x="0" y="0"/>
                  </a:lnTo>
                </a:path>
              </a:pathLst>
            </a:custGeom>
            <a:noFill/>
            <a:ln w="16459" cap="rnd">
              <a:solidFill>
                <a:srgbClr val="08080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6" name="Qwen model logo"/>
            <p:cNvGrpSpPr/>
            <p:nvPr/>
          </p:nvGrpSpPr>
          <p:grpSpPr>
            <a:xfrm>
              <a:off x="1613573" y="4923701"/>
              <a:ext cx="312039" cy="320954"/>
              <a:chOff x="1613573" y="4923701"/>
              <a:chExt cx="312039" cy="320954"/>
            </a:xfrm>
          </p:grpSpPr>
          <p:sp>
            <p:nvSpPr>
              <p:cNvPr id="67" name="Qwen logo vector outline"/>
              <p:cNvSpPr/>
              <p:nvPr/>
            </p:nvSpPr>
            <p:spPr>
              <a:xfrm>
                <a:off x="1613573" y="4923701"/>
                <a:ext cx="312039" cy="320954"/>
              </a:xfrm>
              <a:custGeom>
                <a:avLst/>
                <a:gdLst/>
                <a:ahLst/>
                <a:cxnLst/>
                <a:rect l="0" t="0" r="r" b="b"/>
                <a:pathLst>
                  <a:path w="312039" h="320954">
                    <a:moveTo>
                      <a:pt x="267462" y="133731"/>
                    </a:moveTo>
                    <a:lnTo>
                      <a:pt x="294208" y="160477"/>
                    </a:lnTo>
                    <a:lnTo>
                      <a:pt x="294208" y="169393"/>
                    </a:lnTo>
                    <a:lnTo>
                      <a:pt x="312039" y="196139"/>
                    </a:lnTo>
                    <a:lnTo>
                      <a:pt x="303124" y="205054"/>
                    </a:lnTo>
                    <a:lnTo>
                      <a:pt x="276377" y="205054"/>
                    </a:lnTo>
                    <a:lnTo>
                      <a:pt x="258547" y="187223"/>
                    </a:lnTo>
                    <a:lnTo>
                      <a:pt x="258547" y="178308"/>
                    </a:lnTo>
                    <a:lnTo>
                      <a:pt x="249631" y="169393"/>
                    </a:lnTo>
                    <a:lnTo>
                      <a:pt x="240716" y="169393"/>
                    </a:lnTo>
                    <a:lnTo>
                      <a:pt x="240716" y="178308"/>
                    </a:lnTo>
                    <a:lnTo>
                      <a:pt x="231800" y="187223"/>
                    </a:lnTo>
                    <a:lnTo>
                      <a:pt x="231800" y="196139"/>
                    </a:lnTo>
                    <a:lnTo>
                      <a:pt x="222885" y="205054"/>
                    </a:lnTo>
                    <a:lnTo>
                      <a:pt x="222885" y="213970"/>
                    </a:lnTo>
                    <a:lnTo>
                      <a:pt x="205054" y="231800"/>
                    </a:lnTo>
                    <a:lnTo>
                      <a:pt x="205054" y="240716"/>
                    </a:lnTo>
                    <a:lnTo>
                      <a:pt x="196139" y="249631"/>
                    </a:lnTo>
                    <a:lnTo>
                      <a:pt x="196139" y="258547"/>
                    </a:lnTo>
                    <a:lnTo>
                      <a:pt x="187223" y="267462"/>
                    </a:lnTo>
                    <a:lnTo>
                      <a:pt x="187223" y="276377"/>
                    </a:lnTo>
                    <a:lnTo>
                      <a:pt x="178308" y="285293"/>
                    </a:lnTo>
                    <a:lnTo>
                      <a:pt x="178308" y="294208"/>
                    </a:lnTo>
                    <a:lnTo>
                      <a:pt x="160477" y="312039"/>
                    </a:lnTo>
                    <a:lnTo>
                      <a:pt x="142646" y="294208"/>
                    </a:lnTo>
                    <a:lnTo>
                      <a:pt x="142646" y="285293"/>
                    </a:lnTo>
                    <a:lnTo>
                      <a:pt x="133731" y="276377"/>
                    </a:lnTo>
                    <a:lnTo>
                      <a:pt x="151562" y="258547"/>
                    </a:lnTo>
                    <a:lnTo>
                      <a:pt x="151562" y="249631"/>
                    </a:lnTo>
                    <a:lnTo>
                      <a:pt x="160477" y="240716"/>
                    </a:lnTo>
                    <a:lnTo>
                      <a:pt x="160477" y="231800"/>
                    </a:lnTo>
                    <a:lnTo>
                      <a:pt x="178308" y="213970"/>
                    </a:lnTo>
                    <a:lnTo>
                      <a:pt x="178308" y="205054"/>
                    </a:lnTo>
                    <a:lnTo>
                      <a:pt x="187223" y="196139"/>
                    </a:lnTo>
                    <a:lnTo>
                      <a:pt x="187223" y="187223"/>
                    </a:lnTo>
                    <a:lnTo>
                      <a:pt x="196139" y="178308"/>
                    </a:lnTo>
                    <a:lnTo>
                      <a:pt x="196139" y="169393"/>
                    </a:lnTo>
                    <a:lnTo>
                      <a:pt x="205054" y="160477"/>
                    </a:lnTo>
                    <a:lnTo>
                      <a:pt x="205054" y="151562"/>
                    </a:lnTo>
                    <a:lnTo>
                      <a:pt x="222885" y="133731"/>
                    </a:lnTo>
                    <a:close/>
                    <a:moveTo>
                      <a:pt x="35662" y="80239"/>
                    </a:moveTo>
                    <a:lnTo>
                      <a:pt x="62408" y="80239"/>
                    </a:lnTo>
                    <a:lnTo>
                      <a:pt x="89154" y="106985"/>
                    </a:lnTo>
                    <a:lnTo>
                      <a:pt x="89154" y="115900"/>
                    </a:lnTo>
                    <a:lnTo>
                      <a:pt x="98069" y="124816"/>
                    </a:lnTo>
                    <a:lnTo>
                      <a:pt x="98069" y="133731"/>
                    </a:lnTo>
                    <a:lnTo>
                      <a:pt x="106985" y="142646"/>
                    </a:lnTo>
                    <a:lnTo>
                      <a:pt x="106985" y="151562"/>
                    </a:lnTo>
                    <a:lnTo>
                      <a:pt x="115900" y="160477"/>
                    </a:lnTo>
                    <a:lnTo>
                      <a:pt x="115900" y="169393"/>
                    </a:lnTo>
                    <a:lnTo>
                      <a:pt x="133731" y="187223"/>
                    </a:lnTo>
                    <a:lnTo>
                      <a:pt x="133731" y="196139"/>
                    </a:lnTo>
                    <a:lnTo>
                      <a:pt x="151562" y="222885"/>
                    </a:lnTo>
                    <a:lnTo>
                      <a:pt x="151562" y="240716"/>
                    </a:lnTo>
                    <a:lnTo>
                      <a:pt x="142646" y="249631"/>
                    </a:lnTo>
                    <a:lnTo>
                      <a:pt x="142646" y="258547"/>
                    </a:lnTo>
                    <a:lnTo>
                      <a:pt x="115900" y="285293"/>
                    </a:lnTo>
                    <a:lnTo>
                      <a:pt x="62408" y="285293"/>
                    </a:lnTo>
                    <a:lnTo>
                      <a:pt x="53492" y="276377"/>
                    </a:lnTo>
                    <a:lnTo>
                      <a:pt x="53492" y="267462"/>
                    </a:lnTo>
                    <a:lnTo>
                      <a:pt x="80239" y="240716"/>
                    </a:lnTo>
                    <a:lnTo>
                      <a:pt x="106985" y="240716"/>
                    </a:lnTo>
                    <a:lnTo>
                      <a:pt x="106985" y="222885"/>
                    </a:lnTo>
                    <a:lnTo>
                      <a:pt x="98069" y="213970"/>
                    </a:lnTo>
                    <a:lnTo>
                      <a:pt x="98069" y="205054"/>
                    </a:lnTo>
                    <a:lnTo>
                      <a:pt x="80239" y="187223"/>
                    </a:lnTo>
                    <a:lnTo>
                      <a:pt x="80239" y="178308"/>
                    </a:lnTo>
                    <a:lnTo>
                      <a:pt x="71323" y="169393"/>
                    </a:lnTo>
                    <a:lnTo>
                      <a:pt x="71323" y="160477"/>
                    </a:lnTo>
                    <a:lnTo>
                      <a:pt x="53492" y="142646"/>
                    </a:lnTo>
                    <a:lnTo>
                      <a:pt x="53492" y="133731"/>
                    </a:lnTo>
                    <a:lnTo>
                      <a:pt x="44577" y="124816"/>
                    </a:lnTo>
                    <a:lnTo>
                      <a:pt x="44577" y="115900"/>
                    </a:lnTo>
                    <a:lnTo>
                      <a:pt x="26746" y="89154"/>
                    </a:lnTo>
                    <a:close/>
                    <a:moveTo>
                      <a:pt x="80239" y="62408"/>
                    </a:moveTo>
                    <a:lnTo>
                      <a:pt x="89154" y="53492"/>
                    </a:lnTo>
                    <a:lnTo>
                      <a:pt x="89154" y="44577"/>
                    </a:lnTo>
                    <a:lnTo>
                      <a:pt x="98069" y="35662"/>
                    </a:lnTo>
                    <a:lnTo>
                      <a:pt x="98069" y="26746"/>
                    </a:lnTo>
                    <a:lnTo>
                      <a:pt x="115900" y="8915"/>
                    </a:lnTo>
                    <a:lnTo>
                      <a:pt x="133731" y="35662"/>
                    </a:lnTo>
                    <a:lnTo>
                      <a:pt x="133731" y="62408"/>
                    </a:lnTo>
                    <a:lnTo>
                      <a:pt x="124816" y="71323"/>
                    </a:lnTo>
                    <a:lnTo>
                      <a:pt x="124816" y="80239"/>
                    </a:lnTo>
                    <a:lnTo>
                      <a:pt x="276377" y="80239"/>
                    </a:lnTo>
                    <a:lnTo>
                      <a:pt x="285293" y="89154"/>
                    </a:lnTo>
                    <a:lnTo>
                      <a:pt x="285293" y="98069"/>
                    </a:lnTo>
                    <a:lnTo>
                      <a:pt x="267462" y="124816"/>
                    </a:lnTo>
                    <a:lnTo>
                      <a:pt x="106985" y="124816"/>
                    </a:lnTo>
                    <a:lnTo>
                      <a:pt x="98069" y="115900"/>
                    </a:lnTo>
                    <a:lnTo>
                      <a:pt x="98069" y="106985"/>
                    </a:lnTo>
                    <a:lnTo>
                      <a:pt x="80239" y="80239"/>
                    </a:lnTo>
                    <a:close/>
                    <a:moveTo>
                      <a:pt x="115900" y="0"/>
                    </a:moveTo>
                    <a:lnTo>
                      <a:pt x="106985" y="8915"/>
                    </a:lnTo>
                    <a:lnTo>
                      <a:pt x="106985" y="17831"/>
                    </a:lnTo>
                    <a:lnTo>
                      <a:pt x="98069" y="26746"/>
                    </a:lnTo>
                    <a:lnTo>
                      <a:pt x="98069" y="35662"/>
                    </a:lnTo>
                    <a:lnTo>
                      <a:pt x="80239" y="53492"/>
                    </a:lnTo>
                    <a:lnTo>
                      <a:pt x="80239" y="62408"/>
                    </a:lnTo>
                    <a:lnTo>
                      <a:pt x="62408" y="80239"/>
                    </a:lnTo>
                    <a:lnTo>
                      <a:pt x="26746" y="80239"/>
                    </a:lnTo>
                    <a:lnTo>
                      <a:pt x="17831" y="89154"/>
                    </a:lnTo>
                    <a:lnTo>
                      <a:pt x="17831" y="98069"/>
                    </a:lnTo>
                    <a:lnTo>
                      <a:pt x="0" y="124816"/>
                    </a:lnTo>
                    <a:lnTo>
                      <a:pt x="8915" y="133731"/>
                    </a:lnTo>
                    <a:lnTo>
                      <a:pt x="8915" y="142646"/>
                    </a:lnTo>
                    <a:lnTo>
                      <a:pt x="17831" y="151562"/>
                    </a:lnTo>
                    <a:lnTo>
                      <a:pt x="17831" y="160477"/>
                    </a:lnTo>
                    <a:lnTo>
                      <a:pt x="26746" y="169393"/>
                    </a:lnTo>
                    <a:lnTo>
                      <a:pt x="26746" y="178308"/>
                    </a:lnTo>
                    <a:lnTo>
                      <a:pt x="44577" y="196139"/>
                    </a:lnTo>
                    <a:lnTo>
                      <a:pt x="44577" y="205054"/>
                    </a:lnTo>
                    <a:lnTo>
                      <a:pt x="26746" y="231800"/>
                    </a:lnTo>
                    <a:lnTo>
                      <a:pt x="26746" y="249631"/>
                    </a:lnTo>
                    <a:lnTo>
                      <a:pt x="35662" y="258547"/>
                    </a:lnTo>
                    <a:lnTo>
                      <a:pt x="35662" y="267462"/>
                    </a:lnTo>
                    <a:lnTo>
                      <a:pt x="44577" y="276377"/>
                    </a:lnTo>
                    <a:lnTo>
                      <a:pt x="44577" y="285293"/>
                    </a:lnTo>
                    <a:lnTo>
                      <a:pt x="133731" y="285293"/>
                    </a:lnTo>
                    <a:lnTo>
                      <a:pt x="142646" y="294208"/>
                    </a:lnTo>
                    <a:lnTo>
                      <a:pt x="142646" y="303124"/>
                    </a:lnTo>
                    <a:lnTo>
                      <a:pt x="151562" y="312039"/>
                    </a:lnTo>
                    <a:lnTo>
                      <a:pt x="151562" y="320954"/>
                    </a:lnTo>
                    <a:lnTo>
                      <a:pt x="205054" y="320954"/>
                    </a:lnTo>
                    <a:lnTo>
                      <a:pt x="222885" y="303124"/>
                    </a:lnTo>
                    <a:lnTo>
                      <a:pt x="222885" y="285293"/>
                    </a:lnTo>
                    <a:lnTo>
                      <a:pt x="240716" y="267462"/>
                    </a:lnTo>
                    <a:lnTo>
                      <a:pt x="240716" y="258547"/>
                    </a:lnTo>
                    <a:lnTo>
                      <a:pt x="249631" y="249631"/>
                    </a:lnTo>
                    <a:lnTo>
                      <a:pt x="285293" y="249631"/>
                    </a:lnTo>
                    <a:lnTo>
                      <a:pt x="303124" y="231800"/>
                    </a:lnTo>
                    <a:lnTo>
                      <a:pt x="303124" y="222885"/>
                    </a:lnTo>
                    <a:lnTo>
                      <a:pt x="312039" y="213970"/>
                    </a:lnTo>
                    <a:lnTo>
                      <a:pt x="312039" y="187223"/>
                    </a:lnTo>
                    <a:lnTo>
                      <a:pt x="276377" y="133731"/>
                    </a:lnTo>
                    <a:lnTo>
                      <a:pt x="276377" y="115900"/>
                    </a:lnTo>
                    <a:lnTo>
                      <a:pt x="285293" y="106985"/>
                    </a:lnTo>
                    <a:lnTo>
                      <a:pt x="285293" y="98069"/>
                    </a:lnTo>
                    <a:lnTo>
                      <a:pt x="294208" y="89154"/>
                    </a:lnTo>
                    <a:lnTo>
                      <a:pt x="294208" y="80239"/>
                    </a:lnTo>
                    <a:lnTo>
                      <a:pt x="285293" y="71323"/>
                    </a:lnTo>
                    <a:lnTo>
                      <a:pt x="285293" y="62408"/>
                    </a:lnTo>
                    <a:lnTo>
                      <a:pt x="276377" y="53492"/>
                    </a:lnTo>
                    <a:lnTo>
                      <a:pt x="276377" y="44577"/>
                    </a:lnTo>
                    <a:lnTo>
                      <a:pt x="187223" y="44577"/>
                    </a:lnTo>
                    <a:lnTo>
                      <a:pt x="178308" y="35662"/>
                    </a:lnTo>
                    <a:lnTo>
                      <a:pt x="178308" y="26746"/>
                    </a:lnTo>
                    <a:lnTo>
                      <a:pt x="160477" y="8915"/>
                    </a:lnTo>
                    <a:lnTo>
                      <a:pt x="151562" y="8915"/>
                    </a:lnTo>
                    <a:lnTo>
                      <a:pt x="142646" y="0"/>
                    </a:lnTo>
                    <a:close/>
                  </a:path>
                </a:pathLst>
              </a:custGeom>
              <a:solidFill>
                <a:srgbClr val="7C4E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Rectangle"/>
            <p:cNvSpPr/>
            <p:nvPr/>
          </p:nvSpPr>
          <p:spPr>
            <a:xfrm>
              <a:off x="2606040" y="4453128"/>
              <a:ext cx="1508760" cy="1124712"/>
            </a:xfrm>
            <a:prstGeom prst="rect">
              <a:avLst/>
            </a:prstGeom>
            <a:solidFill>
              <a:srgbClr val="FFFFFF"/>
            </a:solidFill>
            <a:ln w="13716" cap="rnd">
              <a:solidFill>
                <a:srgbClr val="8C8C8C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"/>
            <p:cNvSpPr/>
            <p:nvPr/>
          </p:nvSpPr>
          <p:spPr>
            <a:xfrm>
              <a:off x="2505456" y="4517136"/>
              <a:ext cx="1508760" cy="1124712"/>
            </a:xfrm>
            <a:prstGeom prst="rect">
              <a:avLst/>
            </a:prstGeom>
            <a:solidFill>
              <a:srgbClr val="FFFFFF"/>
            </a:solidFill>
            <a:ln w="13716" cap="rnd">
              <a:solidFill>
                <a:srgbClr val="8C8C8C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Negative action highlight"/>
            <p:cNvSpPr/>
            <p:nvPr/>
          </p:nvSpPr>
          <p:spPr>
            <a:xfrm>
              <a:off x="2121408" y="4736592"/>
              <a:ext cx="1527048" cy="1216152"/>
            </a:xfrm>
            <a:prstGeom prst="rect">
              <a:avLst/>
            </a:prstGeom>
            <a:solidFill>
              <a:srgbClr val="FFE79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tangle"/>
            <p:cNvSpPr/>
            <p:nvPr/>
          </p:nvSpPr>
          <p:spPr>
            <a:xfrm>
              <a:off x="2194560" y="4800600"/>
              <a:ext cx="1380744" cy="1097280"/>
            </a:xfrm>
            <a:prstGeom prst="rect">
              <a:avLst/>
            </a:prstGeom>
            <a:solidFill>
              <a:srgbClr val="FFFFFF"/>
            </a:solidFill>
            <a:ln w="10058" cap="rnd">
              <a:solidFill>
                <a:srgbClr val="999999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Action: Click the"/>
            <p:cNvSpPr txBox="1"/>
            <p:nvPr/>
          </p:nvSpPr>
          <p:spPr>
            <a:xfrm>
              <a:off x="2276856" y="4855464"/>
              <a:ext cx="1298448" cy="23495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6" b="1" i="0" u="none">
                  <a:solidFill>
                    <a:srgbClr val="080808"/>
                  </a:solidFill>
                  <a:latin typeface="Comic Sans MS"/>
                </a:rPr>
                <a:t>Action: </a:t>
              </a:r>
              <a:r>
                <a:rPr sz="1256" b="0" i="0" u="none">
                  <a:solidFill>
                    <a:srgbClr val="080808"/>
                  </a:solidFill>
                  <a:latin typeface="Comic Sans MS"/>
                </a:rPr>
                <a:t>Click the</a:t>
              </a:r>
            </a:p>
          </p:txBody>
        </p:sp>
        <p:sp>
          <p:nvSpPr>
            <p:cNvPr id="73" name="“Letter” button."/>
            <p:cNvSpPr txBox="1"/>
            <p:nvPr/>
          </p:nvSpPr>
          <p:spPr>
            <a:xfrm>
              <a:off x="2276856" y="5047488"/>
              <a:ext cx="1298448" cy="24904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2" b="0" i="0" u="none">
                  <a:solidFill>
                    <a:srgbClr val="080808"/>
                  </a:solidFill>
                  <a:latin typeface="Comic Sans MS"/>
                </a:rPr>
                <a:t>“Letter” button.</a:t>
              </a:r>
            </a:p>
          </p:txBody>
        </p:sp>
        <p:sp>
          <p:nvSpPr>
            <p:cNvPr id="74" name="≠"/>
            <p:cNvSpPr txBox="1"/>
            <p:nvPr/>
          </p:nvSpPr>
          <p:spPr>
            <a:xfrm>
              <a:off x="2761488" y="5212080"/>
              <a:ext cx="374904" cy="47914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736" b="0" i="0" u="none">
                  <a:solidFill>
                    <a:srgbClr val="E4230B"/>
                  </a:solidFill>
                  <a:latin typeface="Liberation Sans"/>
                </a:rPr>
                <a:t>≠</a:t>
              </a:r>
            </a:p>
          </p:txBody>
        </p:sp>
        <p:sp>
          <p:nvSpPr>
            <p:cNvPr id="75" name="Click the stop"/>
            <p:cNvSpPr txBox="1"/>
            <p:nvPr/>
          </p:nvSpPr>
          <p:spPr>
            <a:xfrm>
              <a:off x="2286000" y="5468112"/>
              <a:ext cx="1298448" cy="25804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96" b="0" i="0" u="none">
                  <a:solidFill>
                    <a:srgbClr val="508D30"/>
                  </a:solidFill>
                  <a:latin typeface="Comic Sans MS"/>
                </a:rPr>
                <a:t>Click the stop</a:t>
              </a:r>
            </a:p>
          </p:txBody>
        </p:sp>
        <p:sp>
          <p:nvSpPr>
            <p:cNvPr id="76" name="recording button."/>
            <p:cNvSpPr txBox="1"/>
            <p:nvPr/>
          </p:nvSpPr>
          <p:spPr>
            <a:xfrm>
              <a:off x="2286000" y="5660136"/>
              <a:ext cx="1316736" cy="235233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8" b="0" i="0" u="none">
                  <a:solidFill>
                    <a:srgbClr val="508D30"/>
                  </a:solidFill>
                  <a:latin typeface="Comic Sans MS"/>
                </a:rPr>
                <a:t>recording button.</a:t>
              </a:r>
            </a:p>
          </p:txBody>
        </p:sp>
        <p:sp>
          <p:nvSpPr>
            <p:cNvPr id="77" name="Ellipsis dot"/>
            <p:cNvSpPr/>
            <p:nvPr/>
          </p:nvSpPr>
          <p:spPr>
            <a:xfrm>
              <a:off x="3685946" y="5624474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Ellipsis dot"/>
            <p:cNvSpPr/>
            <p:nvPr/>
          </p:nvSpPr>
          <p:spPr>
            <a:xfrm>
              <a:off x="3749954" y="5624474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Ellipsis dot"/>
            <p:cNvSpPr/>
            <p:nvPr/>
          </p:nvSpPr>
          <p:spPr>
            <a:xfrm>
              <a:off x="3813962" y="5624474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Data filtering"/>
          <p:cNvGrpSpPr/>
          <p:nvPr/>
        </p:nvGrpSpPr>
        <p:grpSpPr>
          <a:xfrm>
            <a:off x="283464" y="6199632"/>
            <a:ext cx="3968496" cy="1965960"/>
            <a:chOff x="283464" y="6199632"/>
            <a:chExt cx="3968496" cy="1965960"/>
          </a:xfrm>
        </p:grpSpPr>
        <p:sp>
          <p:nvSpPr>
            <p:cNvPr id="81" name="Data Filtering"/>
            <p:cNvSpPr txBox="1"/>
            <p:nvPr/>
          </p:nvSpPr>
          <p:spPr>
            <a:xfrm>
              <a:off x="384048" y="6199632"/>
              <a:ext cx="1480342" cy="338877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86" b="1" i="0" u="none">
                  <a:solidFill>
                    <a:srgbClr val="080808"/>
                  </a:solidFill>
                  <a:latin typeface="Times New Roman"/>
                </a:rPr>
                <a:t>Data Filtering</a:t>
              </a:r>
            </a:p>
          </p:txBody>
        </p:sp>
        <p:sp>
          <p:nvSpPr>
            <p:cNvPr id="82" name="Rectangle"/>
            <p:cNvSpPr/>
            <p:nvPr/>
          </p:nvSpPr>
          <p:spPr>
            <a:xfrm>
              <a:off x="283464" y="6437376"/>
              <a:ext cx="3822192" cy="1728216"/>
            </a:xfrm>
            <a:prstGeom prst="roundRect">
              <a:avLst>
                <a:gd name="adj" fmla="val 7936"/>
              </a:avLst>
            </a:prstGeom>
            <a:solidFill>
              <a:srgbClr val="FCFB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Stacked operation record"/>
            <p:cNvSpPr/>
            <p:nvPr/>
          </p:nvSpPr>
          <p:spPr>
            <a:xfrm>
              <a:off x="484632" y="6675120"/>
              <a:ext cx="969264" cy="1152144"/>
            </a:xfrm>
            <a:prstGeom prst="rect">
              <a:avLst/>
            </a:prstGeom>
            <a:solidFill>
              <a:srgbClr val="FFFFFF"/>
            </a:solidFill>
            <a:ln w="10972" cap="rnd">
              <a:solidFill>
                <a:srgbClr val="929292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Instruction"/>
            <p:cNvSpPr txBox="1"/>
            <p:nvPr/>
          </p:nvSpPr>
          <p:spPr>
            <a:xfrm>
              <a:off x="512064" y="6711696"/>
              <a:ext cx="941832" cy="17007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0" i="0" u="none">
                  <a:solidFill>
                    <a:srgbClr val="B0B0B0"/>
                  </a:solidFill>
                  <a:latin typeface="Comic Sans MS"/>
                </a:rPr>
                <a:t>Instruction</a:t>
              </a:r>
            </a:p>
          </p:txBody>
        </p:sp>
        <p:sp>
          <p:nvSpPr>
            <p:cNvPr id="85" name="Stacked operation record"/>
            <p:cNvSpPr/>
            <p:nvPr/>
          </p:nvSpPr>
          <p:spPr>
            <a:xfrm>
              <a:off x="448056" y="6720840"/>
              <a:ext cx="969264" cy="1152144"/>
            </a:xfrm>
            <a:prstGeom prst="rect">
              <a:avLst/>
            </a:prstGeom>
            <a:solidFill>
              <a:srgbClr val="FFFFFF"/>
            </a:solidFill>
            <a:ln w="10972" cap="rnd">
              <a:solidFill>
                <a:srgbClr val="929292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Instruction"/>
            <p:cNvSpPr txBox="1"/>
            <p:nvPr/>
          </p:nvSpPr>
          <p:spPr>
            <a:xfrm>
              <a:off x="475488" y="6757416"/>
              <a:ext cx="941832" cy="17007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4" b="0" i="0" u="none">
                  <a:solidFill>
                    <a:srgbClr val="B0B0B0"/>
                  </a:solidFill>
                  <a:latin typeface="Comic Sans MS"/>
                </a:rPr>
                <a:t>Instruction</a:t>
              </a:r>
            </a:p>
          </p:txBody>
        </p:sp>
        <p:sp>
          <p:nvSpPr>
            <p:cNvPr id="87" name="Operation record"/>
            <p:cNvSpPr/>
            <p:nvPr/>
          </p:nvSpPr>
          <p:spPr>
            <a:xfrm>
              <a:off x="347472" y="6912864"/>
              <a:ext cx="969264" cy="1152144"/>
            </a:xfrm>
            <a:prstGeom prst="rect">
              <a:avLst/>
            </a:prstGeom>
            <a:solidFill>
              <a:srgbClr val="FFFFFF"/>
            </a:solidFill>
            <a:ln w="10972" cap="rnd">
              <a:solidFill>
                <a:srgbClr val="7F7F7F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Instruction"/>
            <p:cNvSpPr txBox="1"/>
            <p:nvPr/>
          </p:nvSpPr>
          <p:spPr>
            <a:xfrm>
              <a:off x="374904" y="6922008"/>
              <a:ext cx="932688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1" i="0" u="none">
                  <a:solidFill>
                    <a:srgbClr val="080808"/>
                  </a:solidFill>
                  <a:latin typeface="Comic Sans MS"/>
                </a:rPr>
                <a:t>Instruction</a:t>
              </a:r>
            </a:p>
          </p:txBody>
        </p:sp>
        <p:sp>
          <p:nvSpPr>
            <p:cNvPr id="89" name="History"/>
            <p:cNvSpPr txBox="1"/>
            <p:nvPr/>
          </p:nvSpPr>
          <p:spPr>
            <a:xfrm>
              <a:off x="457200" y="7077456"/>
              <a:ext cx="82296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1" i="0" u="none">
                  <a:solidFill>
                    <a:srgbClr val="080808"/>
                  </a:solidFill>
                  <a:latin typeface="Comic Sans MS"/>
                </a:rPr>
                <a:t>History</a:t>
              </a:r>
            </a:p>
          </p:txBody>
        </p:sp>
        <p:pic>
          <p:nvPicPr>
            <p:cNvPr id="90" name="Twitter screen in operation record" descr="phone_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0624" y="7260336"/>
              <a:ext cx="338328" cy="758952"/>
            </a:xfrm>
            <a:prstGeom prst="rect">
              <a:avLst/>
            </a:prstGeom>
          </p:spPr>
        </p:pic>
        <p:sp>
          <p:nvSpPr>
            <p:cNvPr id="91" name="Click the"/>
            <p:cNvSpPr txBox="1"/>
            <p:nvPr/>
          </p:nvSpPr>
          <p:spPr>
            <a:xfrm>
              <a:off x="786384" y="7342632"/>
              <a:ext cx="521208" cy="186663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4" b="0" i="0" u="none">
                  <a:solidFill>
                    <a:srgbClr val="E00000"/>
                  </a:solidFill>
                  <a:latin typeface="Comic Sans MS"/>
                </a:rPr>
                <a:t>Click the</a:t>
              </a:r>
            </a:p>
          </p:txBody>
        </p:sp>
        <p:sp>
          <p:nvSpPr>
            <p:cNvPr id="92" name="“Letter”"/>
            <p:cNvSpPr txBox="1"/>
            <p:nvPr/>
          </p:nvSpPr>
          <p:spPr>
            <a:xfrm>
              <a:off x="786384" y="7488936"/>
              <a:ext cx="521208" cy="19623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2" b="0" i="0" u="none">
                  <a:solidFill>
                    <a:srgbClr val="E00000"/>
                  </a:solidFill>
                  <a:latin typeface="Comic Sans MS"/>
                </a:rPr>
                <a:t>“Letter”</a:t>
              </a:r>
            </a:p>
          </p:txBody>
        </p:sp>
        <p:sp>
          <p:nvSpPr>
            <p:cNvPr id="93" name="button."/>
            <p:cNvSpPr txBox="1"/>
            <p:nvPr/>
          </p:nvSpPr>
          <p:spPr>
            <a:xfrm>
              <a:off x="786384" y="7635240"/>
              <a:ext cx="521208" cy="19623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2" b="0" i="0" u="none">
                  <a:solidFill>
                    <a:srgbClr val="E00000"/>
                  </a:solidFill>
                  <a:latin typeface="Comic Sans MS"/>
                </a:rPr>
                <a:t>button.</a:t>
              </a:r>
            </a:p>
          </p:txBody>
        </p:sp>
        <p:sp>
          <p:nvSpPr>
            <p:cNvPr id="94" name="False"/>
            <p:cNvSpPr txBox="1"/>
            <p:nvPr/>
          </p:nvSpPr>
          <p:spPr>
            <a:xfrm>
              <a:off x="786384" y="7781544"/>
              <a:ext cx="521208" cy="19623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2" b="1" i="0" u="none">
                  <a:solidFill>
                    <a:srgbClr val="080808"/>
                  </a:solidFill>
                  <a:latin typeface="Comic Sans MS"/>
                </a:rPr>
                <a:t>False</a:t>
              </a:r>
            </a:p>
          </p:txBody>
        </p:sp>
        <p:sp>
          <p:nvSpPr>
            <p:cNvPr id="95" name="Ellipsis dot"/>
            <p:cNvSpPr/>
            <p:nvPr/>
          </p:nvSpPr>
          <p:spPr>
            <a:xfrm>
              <a:off x="1346911" y="7884871"/>
              <a:ext cx="31090" cy="31090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Ellipsis dot"/>
            <p:cNvSpPr/>
            <p:nvPr/>
          </p:nvSpPr>
          <p:spPr>
            <a:xfrm>
              <a:off x="1401775" y="7884871"/>
              <a:ext cx="31090" cy="31090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Ellipsis dot"/>
            <p:cNvSpPr/>
            <p:nvPr/>
          </p:nvSpPr>
          <p:spPr>
            <a:xfrm>
              <a:off x="1456639" y="7884871"/>
              <a:ext cx="31090" cy="31090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Arrow"/>
            <p:cNvSpPr/>
            <p:nvPr/>
          </p:nvSpPr>
          <p:spPr>
            <a:xfrm>
              <a:off x="1508760" y="6976872"/>
              <a:ext cx="548640" cy="91"/>
            </a:xfrm>
            <a:custGeom>
              <a:avLst/>
              <a:gdLst/>
              <a:ahLst/>
              <a:cxnLst/>
              <a:rect l="0" t="0" r="r" b="b"/>
              <a:pathLst>
                <a:path w="548640" h="91" fill="none">
                  <a:moveTo>
                    <a:pt x="0" y="0"/>
                  </a:moveTo>
                  <a:lnTo>
                    <a:pt x="548640" y="0"/>
                  </a:lnTo>
                </a:path>
              </a:pathLst>
            </a:custGeom>
            <a:noFill/>
            <a:ln w="16459" cap="rnd">
              <a:solidFill>
                <a:srgbClr val="08080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Arrow arrowhead"/>
            <p:cNvSpPr/>
            <p:nvPr/>
          </p:nvSpPr>
          <p:spPr>
            <a:xfrm>
              <a:off x="1946305" y="6913263"/>
              <a:ext cx="111095" cy="127217"/>
            </a:xfrm>
            <a:custGeom>
              <a:avLst/>
              <a:gdLst/>
              <a:ahLst/>
              <a:cxnLst/>
              <a:rect l="0" t="0" r="r" b="b"/>
              <a:pathLst>
                <a:path w="111095" h="127217" fill="none">
                  <a:moveTo>
                    <a:pt x="0" y="127217"/>
                  </a:moveTo>
                  <a:lnTo>
                    <a:pt x="111095" y="63609"/>
                  </a:lnTo>
                  <a:lnTo>
                    <a:pt x="0" y="0"/>
                  </a:lnTo>
                </a:path>
              </a:pathLst>
            </a:custGeom>
            <a:noFill/>
            <a:ln w="16459" cap="rnd">
              <a:solidFill>
                <a:srgbClr val="08080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00" name="OpenAI model logo"/>
            <p:cNvGrpSpPr/>
            <p:nvPr/>
          </p:nvGrpSpPr>
          <p:grpSpPr>
            <a:xfrm>
              <a:off x="1613916" y="6533388"/>
              <a:ext cx="320040" cy="320040"/>
              <a:chOff x="1613916" y="6533388"/>
              <a:chExt cx="320040" cy="320040"/>
            </a:xfrm>
          </p:grpSpPr>
          <p:sp>
            <p:nvSpPr>
              <p:cNvPr id="101" name="OpenAI logo vector outline"/>
              <p:cNvSpPr/>
              <p:nvPr/>
            </p:nvSpPr>
            <p:spPr>
              <a:xfrm>
                <a:off x="1613916" y="6533388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320040" h="320040">
                    <a:moveTo>
                      <a:pt x="201168" y="201168"/>
                    </a:moveTo>
                    <a:lnTo>
                      <a:pt x="201168" y="228600"/>
                    </a:lnTo>
                    <a:lnTo>
                      <a:pt x="192024" y="237744"/>
                    </a:lnTo>
                    <a:lnTo>
                      <a:pt x="182880" y="237744"/>
                    </a:lnTo>
                    <a:lnTo>
                      <a:pt x="164592" y="256032"/>
                    </a:lnTo>
                    <a:lnTo>
                      <a:pt x="155448" y="256032"/>
                    </a:lnTo>
                    <a:lnTo>
                      <a:pt x="146304" y="265176"/>
                    </a:lnTo>
                    <a:lnTo>
                      <a:pt x="137160" y="265176"/>
                    </a:lnTo>
                    <a:lnTo>
                      <a:pt x="109728" y="283464"/>
                    </a:lnTo>
                    <a:lnTo>
                      <a:pt x="91440" y="283464"/>
                    </a:lnTo>
                    <a:lnTo>
                      <a:pt x="82296" y="274320"/>
                    </a:lnTo>
                    <a:lnTo>
                      <a:pt x="64008" y="274320"/>
                    </a:lnTo>
                    <a:lnTo>
                      <a:pt x="36576" y="246888"/>
                    </a:lnTo>
                    <a:lnTo>
                      <a:pt x="36576" y="228600"/>
                    </a:lnTo>
                    <a:lnTo>
                      <a:pt x="27432" y="219456"/>
                    </a:lnTo>
                    <a:lnTo>
                      <a:pt x="45720" y="201168"/>
                    </a:lnTo>
                    <a:lnTo>
                      <a:pt x="64008" y="219456"/>
                    </a:lnTo>
                    <a:lnTo>
                      <a:pt x="73152" y="219456"/>
                    </a:lnTo>
                    <a:lnTo>
                      <a:pt x="100584" y="237744"/>
                    </a:lnTo>
                    <a:lnTo>
                      <a:pt x="118872" y="237744"/>
                    </a:lnTo>
                    <a:lnTo>
                      <a:pt x="128016" y="228600"/>
                    </a:lnTo>
                    <a:lnTo>
                      <a:pt x="137160" y="228600"/>
                    </a:lnTo>
                    <a:lnTo>
                      <a:pt x="146304" y="219456"/>
                    </a:lnTo>
                    <a:lnTo>
                      <a:pt x="155448" y="219456"/>
                    </a:lnTo>
                    <a:lnTo>
                      <a:pt x="173736" y="201168"/>
                    </a:lnTo>
                    <a:lnTo>
                      <a:pt x="182880" y="201168"/>
                    </a:lnTo>
                    <a:lnTo>
                      <a:pt x="192024" y="192024"/>
                    </a:lnTo>
                    <a:close/>
                    <a:moveTo>
                      <a:pt x="219456" y="146304"/>
                    </a:moveTo>
                    <a:lnTo>
                      <a:pt x="246888" y="173736"/>
                    </a:lnTo>
                    <a:lnTo>
                      <a:pt x="246888" y="246888"/>
                    </a:lnTo>
                    <a:lnTo>
                      <a:pt x="237744" y="256032"/>
                    </a:lnTo>
                    <a:lnTo>
                      <a:pt x="237744" y="274320"/>
                    </a:lnTo>
                    <a:lnTo>
                      <a:pt x="219456" y="292608"/>
                    </a:lnTo>
                    <a:lnTo>
                      <a:pt x="210312" y="292608"/>
                    </a:lnTo>
                    <a:lnTo>
                      <a:pt x="201168" y="301752"/>
                    </a:lnTo>
                    <a:lnTo>
                      <a:pt x="182880" y="301752"/>
                    </a:lnTo>
                    <a:lnTo>
                      <a:pt x="173736" y="310896"/>
                    </a:lnTo>
                    <a:lnTo>
                      <a:pt x="164592" y="301752"/>
                    </a:lnTo>
                    <a:lnTo>
                      <a:pt x="146304" y="301752"/>
                    </a:lnTo>
                    <a:lnTo>
                      <a:pt x="137160" y="292608"/>
                    </a:lnTo>
                    <a:lnTo>
                      <a:pt x="137160" y="283464"/>
                    </a:lnTo>
                    <a:lnTo>
                      <a:pt x="146304" y="274320"/>
                    </a:lnTo>
                    <a:lnTo>
                      <a:pt x="155448" y="274320"/>
                    </a:lnTo>
                    <a:lnTo>
                      <a:pt x="164592" y="265176"/>
                    </a:lnTo>
                    <a:lnTo>
                      <a:pt x="173736" y="265176"/>
                    </a:lnTo>
                    <a:lnTo>
                      <a:pt x="201168" y="246888"/>
                    </a:lnTo>
                    <a:lnTo>
                      <a:pt x="201168" y="164592"/>
                    </a:lnTo>
                    <a:close/>
                    <a:moveTo>
                      <a:pt x="146304" y="118872"/>
                    </a:moveTo>
                    <a:lnTo>
                      <a:pt x="173736" y="118872"/>
                    </a:lnTo>
                    <a:lnTo>
                      <a:pt x="201168" y="146304"/>
                    </a:lnTo>
                    <a:lnTo>
                      <a:pt x="201168" y="173736"/>
                    </a:lnTo>
                    <a:lnTo>
                      <a:pt x="173736" y="201168"/>
                    </a:lnTo>
                    <a:lnTo>
                      <a:pt x="146304" y="201168"/>
                    </a:lnTo>
                    <a:lnTo>
                      <a:pt x="118872" y="173736"/>
                    </a:lnTo>
                    <a:lnTo>
                      <a:pt x="118872" y="146304"/>
                    </a:lnTo>
                    <a:close/>
                    <a:moveTo>
                      <a:pt x="182880" y="100584"/>
                    </a:moveTo>
                    <a:lnTo>
                      <a:pt x="192024" y="100584"/>
                    </a:lnTo>
                    <a:lnTo>
                      <a:pt x="201168" y="91440"/>
                    </a:lnTo>
                    <a:lnTo>
                      <a:pt x="210312" y="91440"/>
                    </a:lnTo>
                    <a:lnTo>
                      <a:pt x="219456" y="100584"/>
                    </a:lnTo>
                    <a:lnTo>
                      <a:pt x="228600" y="100584"/>
                    </a:lnTo>
                    <a:lnTo>
                      <a:pt x="246888" y="118872"/>
                    </a:lnTo>
                    <a:lnTo>
                      <a:pt x="256032" y="118872"/>
                    </a:lnTo>
                    <a:lnTo>
                      <a:pt x="265176" y="128016"/>
                    </a:lnTo>
                    <a:lnTo>
                      <a:pt x="274320" y="128016"/>
                    </a:lnTo>
                    <a:lnTo>
                      <a:pt x="301752" y="155448"/>
                    </a:lnTo>
                    <a:lnTo>
                      <a:pt x="301752" y="210312"/>
                    </a:lnTo>
                    <a:lnTo>
                      <a:pt x="283464" y="237744"/>
                    </a:lnTo>
                    <a:lnTo>
                      <a:pt x="274320" y="237744"/>
                    </a:lnTo>
                    <a:lnTo>
                      <a:pt x="265176" y="246888"/>
                    </a:lnTo>
                    <a:lnTo>
                      <a:pt x="256032" y="237744"/>
                    </a:lnTo>
                    <a:lnTo>
                      <a:pt x="256032" y="164592"/>
                    </a:lnTo>
                    <a:lnTo>
                      <a:pt x="246888" y="155448"/>
                    </a:lnTo>
                    <a:lnTo>
                      <a:pt x="237744" y="155448"/>
                    </a:lnTo>
                    <a:lnTo>
                      <a:pt x="219456" y="137160"/>
                    </a:lnTo>
                    <a:lnTo>
                      <a:pt x="210312" y="137160"/>
                    </a:lnTo>
                    <a:lnTo>
                      <a:pt x="201168" y="128016"/>
                    </a:lnTo>
                    <a:lnTo>
                      <a:pt x="192024" y="128016"/>
                    </a:lnTo>
                    <a:lnTo>
                      <a:pt x="173736" y="109728"/>
                    </a:lnTo>
                    <a:close/>
                    <a:moveTo>
                      <a:pt x="36576" y="82296"/>
                    </a:moveTo>
                    <a:lnTo>
                      <a:pt x="45720" y="82296"/>
                    </a:lnTo>
                    <a:lnTo>
                      <a:pt x="54864" y="73152"/>
                    </a:lnTo>
                    <a:lnTo>
                      <a:pt x="64008" y="82296"/>
                    </a:lnTo>
                    <a:lnTo>
                      <a:pt x="64008" y="155448"/>
                    </a:lnTo>
                    <a:lnTo>
                      <a:pt x="73152" y="164592"/>
                    </a:lnTo>
                    <a:lnTo>
                      <a:pt x="82296" y="164592"/>
                    </a:lnTo>
                    <a:lnTo>
                      <a:pt x="100584" y="182880"/>
                    </a:lnTo>
                    <a:lnTo>
                      <a:pt x="109728" y="182880"/>
                    </a:lnTo>
                    <a:lnTo>
                      <a:pt x="118872" y="192024"/>
                    </a:lnTo>
                    <a:lnTo>
                      <a:pt x="128016" y="192024"/>
                    </a:lnTo>
                    <a:lnTo>
                      <a:pt x="146304" y="210312"/>
                    </a:lnTo>
                    <a:lnTo>
                      <a:pt x="128016" y="228600"/>
                    </a:lnTo>
                    <a:lnTo>
                      <a:pt x="109728" y="228600"/>
                    </a:lnTo>
                    <a:lnTo>
                      <a:pt x="100584" y="219456"/>
                    </a:lnTo>
                    <a:lnTo>
                      <a:pt x="91440" y="219456"/>
                    </a:lnTo>
                    <a:lnTo>
                      <a:pt x="73152" y="201168"/>
                    </a:lnTo>
                    <a:lnTo>
                      <a:pt x="64008" y="201168"/>
                    </a:lnTo>
                    <a:lnTo>
                      <a:pt x="54864" y="192024"/>
                    </a:lnTo>
                    <a:lnTo>
                      <a:pt x="45720" y="192024"/>
                    </a:lnTo>
                    <a:lnTo>
                      <a:pt x="18288" y="164592"/>
                    </a:lnTo>
                    <a:lnTo>
                      <a:pt x="18288" y="109728"/>
                    </a:lnTo>
                    <a:close/>
                    <a:moveTo>
                      <a:pt x="292608" y="100584"/>
                    </a:moveTo>
                    <a:lnTo>
                      <a:pt x="274320" y="118872"/>
                    </a:lnTo>
                    <a:lnTo>
                      <a:pt x="256032" y="100584"/>
                    </a:lnTo>
                    <a:lnTo>
                      <a:pt x="246888" y="100584"/>
                    </a:lnTo>
                    <a:lnTo>
                      <a:pt x="219456" y="82296"/>
                    </a:lnTo>
                    <a:lnTo>
                      <a:pt x="201168" y="82296"/>
                    </a:lnTo>
                    <a:lnTo>
                      <a:pt x="192024" y="91440"/>
                    </a:lnTo>
                    <a:lnTo>
                      <a:pt x="182880" y="91440"/>
                    </a:lnTo>
                    <a:lnTo>
                      <a:pt x="173736" y="100584"/>
                    </a:lnTo>
                    <a:lnTo>
                      <a:pt x="164592" y="100584"/>
                    </a:lnTo>
                    <a:lnTo>
                      <a:pt x="146304" y="118872"/>
                    </a:lnTo>
                    <a:lnTo>
                      <a:pt x="137160" y="118872"/>
                    </a:lnTo>
                    <a:lnTo>
                      <a:pt x="128016" y="128016"/>
                    </a:lnTo>
                    <a:lnTo>
                      <a:pt x="118872" y="118872"/>
                    </a:lnTo>
                    <a:lnTo>
                      <a:pt x="118872" y="91440"/>
                    </a:lnTo>
                    <a:lnTo>
                      <a:pt x="128016" y="82296"/>
                    </a:lnTo>
                    <a:lnTo>
                      <a:pt x="137160" y="82296"/>
                    </a:lnTo>
                    <a:lnTo>
                      <a:pt x="155448" y="64008"/>
                    </a:lnTo>
                    <a:lnTo>
                      <a:pt x="164592" y="64008"/>
                    </a:lnTo>
                    <a:lnTo>
                      <a:pt x="173736" y="54864"/>
                    </a:lnTo>
                    <a:lnTo>
                      <a:pt x="182880" y="54864"/>
                    </a:lnTo>
                    <a:lnTo>
                      <a:pt x="210312" y="36576"/>
                    </a:lnTo>
                    <a:lnTo>
                      <a:pt x="228600" y="36576"/>
                    </a:lnTo>
                    <a:lnTo>
                      <a:pt x="237744" y="45720"/>
                    </a:lnTo>
                    <a:lnTo>
                      <a:pt x="256032" y="45720"/>
                    </a:lnTo>
                    <a:lnTo>
                      <a:pt x="283464" y="73152"/>
                    </a:lnTo>
                    <a:lnTo>
                      <a:pt x="283464" y="91440"/>
                    </a:lnTo>
                    <a:close/>
                    <a:moveTo>
                      <a:pt x="173736" y="18288"/>
                    </a:moveTo>
                    <a:lnTo>
                      <a:pt x="182880" y="27432"/>
                    </a:lnTo>
                    <a:lnTo>
                      <a:pt x="182880" y="36576"/>
                    </a:lnTo>
                    <a:lnTo>
                      <a:pt x="173736" y="45720"/>
                    </a:lnTo>
                    <a:lnTo>
                      <a:pt x="164592" y="45720"/>
                    </a:lnTo>
                    <a:lnTo>
                      <a:pt x="155448" y="54864"/>
                    </a:lnTo>
                    <a:lnTo>
                      <a:pt x="146304" y="54864"/>
                    </a:lnTo>
                    <a:lnTo>
                      <a:pt x="137160" y="64008"/>
                    </a:lnTo>
                    <a:lnTo>
                      <a:pt x="128016" y="64008"/>
                    </a:lnTo>
                    <a:lnTo>
                      <a:pt x="109728" y="91440"/>
                    </a:lnTo>
                    <a:lnTo>
                      <a:pt x="118872" y="100584"/>
                    </a:lnTo>
                    <a:lnTo>
                      <a:pt x="109728" y="109728"/>
                    </a:lnTo>
                    <a:lnTo>
                      <a:pt x="118872" y="118872"/>
                    </a:lnTo>
                    <a:lnTo>
                      <a:pt x="118872" y="128016"/>
                    </a:lnTo>
                    <a:lnTo>
                      <a:pt x="109728" y="137160"/>
                    </a:lnTo>
                    <a:lnTo>
                      <a:pt x="109728" y="164592"/>
                    </a:lnTo>
                    <a:lnTo>
                      <a:pt x="100584" y="173736"/>
                    </a:lnTo>
                    <a:lnTo>
                      <a:pt x="91440" y="164592"/>
                    </a:lnTo>
                    <a:lnTo>
                      <a:pt x="82296" y="164592"/>
                    </a:lnTo>
                    <a:lnTo>
                      <a:pt x="73152" y="155448"/>
                    </a:lnTo>
                    <a:lnTo>
                      <a:pt x="73152" y="73152"/>
                    </a:lnTo>
                    <a:lnTo>
                      <a:pt x="82296" y="64008"/>
                    </a:lnTo>
                    <a:lnTo>
                      <a:pt x="82296" y="45720"/>
                    </a:lnTo>
                    <a:lnTo>
                      <a:pt x="100584" y="27432"/>
                    </a:lnTo>
                    <a:lnTo>
                      <a:pt x="109728" y="27432"/>
                    </a:lnTo>
                    <a:lnTo>
                      <a:pt x="118872" y="18288"/>
                    </a:lnTo>
                    <a:close/>
                    <a:moveTo>
                      <a:pt x="128016" y="0"/>
                    </a:moveTo>
                    <a:lnTo>
                      <a:pt x="118872" y="9144"/>
                    </a:lnTo>
                    <a:lnTo>
                      <a:pt x="100584" y="9144"/>
                    </a:lnTo>
                    <a:lnTo>
                      <a:pt x="73152" y="36576"/>
                    </a:lnTo>
                    <a:lnTo>
                      <a:pt x="73152" y="45720"/>
                    </a:lnTo>
                    <a:lnTo>
                      <a:pt x="54864" y="64008"/>
                    </a:lnTo>
                    <a:lnTo>
                      <a:pt x="45720" y="64008"/>
                    </a:lnTo>
                    <a:lnTo>
                      <a:pt x="18288" y="82296"/>
                    </a:lnTo>
                    <a:lnTo>
                      <a:pt x="18288" y="91440"/>
                    </a:lnTo>
                    <a:lnTo>
                      <a:pt x="0" y="118872"/>
                    </a:lnTo>
                    <a:lnTo>
                      <a:pt x="0" y="155448"/>
                    </a:lnTo>
                    <a:lnTo>
                      <a:pt x="18288" y="182880"/>
                    </a:lnTo>
                    <a:lnTo>
                      <a:pt x="18288" y="237744"/>
                    </a:lnTo>
                    <a:lnTo>
                      <a:pt x="27432" y="246888"/>
                    </a:lnTo>
                    <a:lnTo>
                      <a:pt x="27432" y="256032"/>
                    </a:lnTo>
                    <a:lnTo>
                      <a:pt x="54864" y="283464"/>
                    </a:lnTo>
                    <a:lnTo>
                      <a:pt x="64008" y="283464"/>
                    </a:lnTo>
                    <a:lnTo>
                      <a:pt x="73152" y="292608"/>
                    </a:lnTo>
                    <a:lnTo>
                      <a:pt x="118872" y="292608"/>
                    </a:lnTo>
                    <a:lnTo>
                      <a:pt x="137160" y="310896"/>
                    </a:lnTo>
                    <a:lnTo>
                      <a:pt x="146304" y="310896"/>
                    </a:lnTo>
                    <a:lnTo>
                      <a:pt x="155448" y="320040"/>
                    </a:lnTo>
                    <a:lnTo>
                      <a:pt x="192024" y="320040"/>
                    </a:lnTo>
                    <a:lnTo>
                      <a:pt x="201168" y="310896"/>
                    </a:lnTo>
                    <a:lnTo>
                      <a:pt x="219456" y="310896"/>
                    </a:lnTo>
                    <a:lnTo>
                      <a:pt x="246888" y="283464"/>
                    </a:lnTo>
                    <a:lnTo>
                      <a:pt x="246888" y="274320"/>
                    </a:lnTo>
                    <a:lnTo>
                      <a:pt x="265176" y="256032"/>
                    </a:lnTo>
                    <a:lnTo>
                      <a:pt x="274320" y="256032"/>
                    </a:lnTo>
                    <a:lnTo>
                      <a:pt x="301752" y="237744"/>
                    </a:lnTo>
                    <a:lnTo>
                      <a:pt x="301752" y="228600"/>
                    </a:lnTo>
                    <a:lnTo>
                      <a:pt x="320040" y="201168"/>
                    </a:lnTo>
                    <a:lnTo>
                      <a:pt x="320040" y="164592"/>
                    </a:lnTo>
                    <a:lnTo>
                      <a:pt x="301752" y="137160"/>
                    </a:lnTo>
                    <a:lnTo>
                      <a:pt x="301752" y="82296"/>
                    </a:lnTo>
                    <a:lnTo>
                      <a:pt x="292608" y="73152"/>
                    </a:lnTo>
                    <a:lnTo>
                      <a:pt x="292608" y="64008"/>
                    </a:lnTo>
                    <a:lnTo>
                      <a:pt x="265176" y="36576"/>
                    </a:lnTo>
                    <a:lnTo>
                      <a:pt x="256032" y="36576"/>
                    </a:lnTo>
                    <a:lnTo>
                      <a:pt x="246888" y="27432"/>
                    </a:lnTo>
                    <a:lnTo>
                      <a:pt x="201168" y="27432"/>
                    </a:lnTo>
                    <a:lnTo>
                      <a:pt x="182880" y="9144"/>
                    </a:lnTo>
                    <a:lnTo>
                      <a:pt x="173736" y="9144"/>
                    </a:lnTo>
                    <a:lnTo>
                      <a:pt x="164592" y="0"/>
                    </a:lnTo>
                    <a:close/>
                  </a:path>
                </a:pathLst>
              </a:custGeom>
              <a:solidFill>
                <a:srgbClr val="08080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2" name="Rectangle"/>
            <p:cNvSpPr/>
            <p:nvPr/>
          </p:nvSpPr>
          <p:spPr>
            <a:xfrm>
              <a:off x="2743200" y="6300216"/>
              <a:ext cx="1271016" cy="676656"/>
            </a:xfrm>
            <a:prstGeom prst="rect">
              <a:avLst/>
            </a:prstGeom>
            <a:noFill/>
            <a:ln w="11887" cap="rnd">
              <a:solidFill>
                <a:srgbClr val="8A8A8A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"/>
            <p:cNvSpPr/>
            <p:nvPr/>
          </p:nvSpPr>
          <p:spPr>
            <a:xfrm>
              <a:off x="2660904" y="6409944"/>
              <a:ext cx="1271016" cy="676656"/>
            </a:xfrm>
            <a:prstGeom prst="rect">
              <a:avLst/>
            </a:prstGeom>
            <a:noFill/>
            <a:ln w="11887" cap="rnd">
              <a:solidFill>
                <a:srgbClr val="8A8A8A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"/>
            <p:cNvSpPr/>
            <p:nvPr/>
          </p:nvSpPr>
          <p:spPr>
            <a:xfrm>
              <a:off x="2121408" y="6501384"/>
              <a:ext cx="1453896" cy="804672"/>
            </a:xfrm>
            <a:prstGeom prst="rect">
              <a:avLst/>
            </a:prstGeom>
            <a:solidFill>
              <a:srgbClr val="FFE79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Rectangle"/>
            <p:cNvSpPr/>
            <p:nvPr/>
          </p:nvSpPr>
          <p:spPr>
            <a:xfrm>
              <a:off x="2194560" y="6565392"/>
              <a:ext cx="1289304" cy="658368"/>
            </a:xfrm>
            <a:prstGeom prst="rect">
              <a:avLst/>
            </a:prstGeom>
            <a:solidFill>
              <a:srgbClr val="FFFFFF"/>
            </a:solidFill>
            <a:ln w="10058" cap="rnd">
              <a:solidFill>
                <a:srgbClr val="888888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Click the “Letter”"/>
            <p:cNvSpPr txBox="1"/>
            <p:nvPr/>
          </p:nvSpPr>
          <p:spPr>
            <a:xfrm>
              <a:off x="2240280" y="6720840"/>
              <a:ext cx="1225296" cy="21736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i="0" u="none">
                  <a:solidFill>
                    <a:srgbClr val="F00000"/>
                  </a:solidFill>
                  <a:latin typeface="Comic Sans MS"/>
                </a:rPr>
                <a:t>Click the “Letter”</a:t>
              </a:r>
            </a:p>
          </p:txBody>
        </p:sp>
        <p:sp>
          <p:nvSpPr>
            <p:cNvPr id="107" name="button is False"/>
            <p:cNvSpPr txBox="1"/>
            <p:nvPr/>
          </p:nvSpPr>
          <p:spPr>
            <a:xfrm>
              <a:off x="2240280" y="6922008"/>
              <a:ext cx="1225296" cy="24140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 u="none">
                  <a:solidFill>
                    <a:srgbClr val="F00000"/>
                  </a:solidFill>
                  <a:latin typeface="Comic Sans MS"/>
                </a:rPr>
                <a:t>button</a:t>
              </a:r>
              <a:r>
                <a:rPr sz="1296" b="1" i="0" u="none">
                  <a:solidFill>
                    <a:srgbClr val="080808"/>
                  </a:solidFill>
                  <a:latin typeface="Comic Sans MS"/>
                </a:rPr>
                <a:t> is </a:t>
              </a:r>
              <a:r>
                <a:rPr sz="1296" b="1" i="0" u="none">
                  <a:solidFill>
                    <a:srgbClr val="080808"/>
                  </a:solidFill>
                  <a:latin typeface="Comic Sans MS"/>
                </a:rPr>
                <a:t>False</a:t>
              </a:r>
            </a:p>
          </p:txBody>
        </p:sp>
        <p:sp>
          <p:nvSpPr>
            <p:cNvPr id="108" name="Ellipsis dot"/>
            <p:cNvSpPr/>
            <p:nvPr/>
          </p:nvSpPr>
          <p:spPr>
            <a:xfrm>
              <a:off x="3634740" y="7008876"/>
              <a:ext cx="27432" cy="27432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Ellipsis dot"/>
            <p:cNvSpPr/>
            <p:nvPr/>
          </p:nvSpPr>
          <p:spPr>
            <a:xfrm>
              <a:off x="3680460" y="7008876"/>
              <a:ext cx="27432" cy="27432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Ellipsis dot"/>
            <p:cNvSpPr/>
            <p:nvPr/>
          </p:nvSpPr>
          <p:spPr>
            <a:xfrm>
              <a:off x="3726180" y="7008876"/>
              <a:ext cx="27432" cy="27432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Down arrow"/>
            <p:cNvSpPr/>
            <p:nvPr/>
          </p:nvSpPr>
          <p:spPr>
            <a:xfrm>
              <a:off x="2752344" y="7251192"/>
              <a:ext cx="210312" cy="182880"/>
            </a:xfrm>
            <a:custGeom>
              <a:avLst/>
              <a:gdLst/>
              <a:ahLst/>
              <a:cxnLst/>
              <a:rect l="0" t="0" r="r" b="b"/>
              <a:pathLst>
                <a:path w="210312" h="182880">
                  <a:moveTo>
                    <a:pt x="67300" y="0"/>
                  </a:moveTo>
                  <a:lnTo>
                    <a:pt x="143012" y="0"/>
                  </a:lnTo>
                  <a:lnTo>
                    <a:pt x="143012" y="120701"/>
                  </a:lnTo>
                  <a:lnTo>
                    <a:pt x="210312" y="120701"/>
                  </a:lnTo>
                  <a:lnTo>
                    <a:pt x="105156" y="182880"/>
                  </a:lnTo>
                  <a:lnTo>
                    <a:pt x="0" y="120701"/>
                  </a:lnTo>
                  <a:lnTo>
                    <a:pt x="67300" y="120701"/>
                  </a:lnTo>
                  <a:close/>
                </a:path>
              </a:pathLst>
            </a:custGeom>
            <a:solidFill>
              <a:srgbClr val="FFDC62"/>
            </a:solidFill>
            <a:ln w="7315" cap="rnd">
              <a:solidFill>
                <a:srgbClr val="927E3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Selected filtered examples"/>
            <p:cNvSpPr/>
            <p:nvPr/>
          </p:nvSpPr>
          <p:spPr>
            <a:xfrm>
              <a:off x="1755648" y="7406640"/>
              <a:ext cx="2295144" cy="713232"/>
            </a:xfrm>
            <a:prstGeom prst="roundRect">
              <a:avLst>
                <a:gd name="adj" fmla="val 7692"/>
              </a:avLst>
            </a:prstGeom>
            <a:solidFill>
              <a:srgbClr val="FFF3BF"/>
            </a:solidFill>
            <a:ln w="7315" cap="rnd">
              <a:solidFill>
                <a:srgbClr val="30455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"/>
            <p:cNvSpPr/>
            <p:nvPr/>
          </p:nvSpPr>
          <p:spPr>
            <a:xfrm>
              <a:off x="2231136" y="7525512"/>
              <a:ext cx="1709928" cy="438912"/>
            </a:xfrm>
            <a:prstGeom prst="rect">
              <a:avLst/>
            </a:prstGeom>
            <a:solidFill>
              <a:srgbClr val="FFFFFF"/>
            </a:solidFill>
            <a:ln w="9144" cap="rnd">
              <a:solidFill>
                <a:srgbClr val="FFBD0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"/>
            <p:cNvSpPr/>
            <p:nvPr/>
          </p:nvSpPr>
          <p:spPr>
            <a:xfrm>
              <a:off x="2029968" y="7598664"/>
              <a:ext cx="1801368" cy="411480"/>
            </a:xfrm>
            <a:prstGeom prst="rect">
              <a:avLst/>
            </a:prstGeom>
            <a:solidFill>
              <a:srgbClr val="FFFFFF"/>
            </a:solidFill>
            <a:ln w="9144" cap="rnd">
              <a:solidFill>
                <a:srgbClr val="FFBD0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Rectangle"/>
            <p:cNvSpPr/>
            <p:nvPr/>
          </p:nvSpPr>
          <p:spPr>
            <a:xfrm>
              <a:off x="1856232" y="7699248"/>
              <a:ext cx="1847088" cy="356616"/>
            </a:xfrm>
            <a:prstGeom prst="rect">
              <a:avLst/>
            </a:prstGeom>
            <a:solidFill>
              <a:srgbClr val="FFFFFF"/>
            </a:solidFill>
            <a:ln w="9144" cap="rnd">
              <a:solidFill>
                <a:srgbClr val="FFBD0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&lt;score&gt;...&lt;/score&gt;"/>
            <p:cNvSpPr txBox="1"/>
            <p:nvPr/>
          </p:nvSpPr>
          <p:spPr>
            <a:xfrm>
              <a:off x="1874520" y="7708392"/>
              <a:ext cx="1801368" cy="214061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0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117" name="&lt;suggestion&gt;...&lt;/suggestion&gt;"/>
            <p:cNvSpPr txBox="1"/>
            <p:nvPr/>
          </p:nvSpPr>
          <p:spPr>
            <a:xfrm>
              <a:off x="1874520" y="7872984"/>
              <a:ext cx="1810512" cy="21245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118" name="Ellipsis dot"/>
            <p:cNvSpPr/>
            <p:nvPr/>
          </p:nvSpPr>
          <p:spPr>
            <a:xfrm>
              <a:off x="3727094" y="7942478"/>
              <a:ext cx="25603" cy="25603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Ellipsis dot"/>
            <p:cNvSpPr/>
            <p:nvPr/>
          </p:nvSpPr>
          <p:spPr>
            <a:xfrm>
              <a:off x="3781958" y="7942478"/>
              <a:ext cx="25603" cy="25603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Ellipsis dot"/>
            <p:cNvSpPr/>
            <p:nvPr/>
          </p:nvSpPr>
          <p:spPr>
            <a:xfrm>
              <a:off x="3836822" y="7942478"/>
              <a:ext cx="25603" cy="25603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Selected response badge"/>
            <p:cNvSpPr/>
            <p:nvPr/>
          </p:nvSpPr>
          <p:spPr>
            <a:xfrm>
              <a:off x="3246120" y="7296912"/>
              <a:ext cx="1005840" cy="237744"/>
            </a:xfrm>
            <a:prstGeom prst="roundRect">
              <a:avLst>
                <a:gd name="adj" fmla="val 50000"/>
              </a:avLst>
            </a:prstGeom>
            <a:solidFill>
              <a:srgbClr val="FFE9A1"/>
            </a:solidFill>
            <a:ln w="10972" cap="rnd">
              <a:solidFill>
                <a:srgbClr val="FFBD03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Ellipse"/>
            <p:cNvSpPr/>
            <p:nvPr/>
          </p:nvSpPr>
          <p:spPr>
            <a:xfrm>
              <a:off x="3328416" y="7324344"/>
              <a:ext cx="182880" cy="182880"/>
            </a:xfrm>
            <a:prstGeom prst="ellipse">
              <a:avLst/>
            </a:prstGeom>
            <a:solidFill>
              <a:srgbClr val="FFE386"/>
            </a:solidFill>
            <a:ln w="18288" cap="rnd">
              <a:solidFill>
                <a:srgbClr val="454A5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Ellipse"/>
            <p:cNvSpPr/>
            <p:nvPr/>
          </p:nvSpPr>
          <p:spPr>
            <a:xfrm>
              <a:off x="3383280" y="7388352"/>
              <a:ext cx="21946" cy="27432"/>
            </a:xfrm>
            <a:prstGeom prst="ellipse">
              <a:avLst/>
            </a:prstGeom>
            <a:solidFill>
              <a:srgbClr val="454A5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Ellipse"/>
            <p:cNvSpPr/>
            <p:nvPr/>
          </p:nvSpPr>
          <p:spPr>
            <a:xfrm>
              <a:off x="3438144" y="7388352"/>
              <a:ext cx="21946" cy="27432"/>
            </a:xfrm>
            <a:prstGeom prst="ellipse">
              <a:avLst/>
            </a:prstGeom>
            <a:solidFill>
              <a:srgbClr val="454A5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Curve"/>
            <p:cNvSpPr/>
            <p:nvPr/>
          </p:nvSpPr>
          <p:spPr>
            <a:xfrm>
              <a:off x="3378708" y="7429500"/>
              <a:ext cx="82296" cy="43891"/>
            </a:xfrm>
            <a:custGeom>
              <a:avLst/>
              <a:gdLst/>
              <a:ahLst/>
              <a:cxnLst/>
              <a:rect l="0" t="0" r="r" b="b"/>
              <a:pathLst>
                <a:path w="82296" h="43891" fill="none">
                  <a:moveTo>
                    <a:pt x="0" y="0"/>
                  </a:moveTo>
                  <a:cubicBezTo>
                    <a:pt x="22860" y="43891"/>
                    <a:pt x="59436" y="43891"/>
                    <a:pt x="82296" y="0"/>
                  </a:cubicBezTo>
                </a:path>
              </a:pathLst>
            </a:custGeom>
            <a:noFill/>
            <a:ln w="15544" cap="rnd">
              <a:solidFill>
                <a:srgbClr val="454A5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Select!"/>
            <p:cNvSpPr txBox="1"/>
            <p:nvPr/>
          </p:nvSpPr>
          <p:spPr>
            <a:xfrm>
              <a:off x="3611880" y="7306056"/>
              <a:ext cx="621792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0" i="0" u="none">
                  <a:solidFill>
                    <a:srgbClr val="080808"/>
                  </a:solidFill>
                  <a:latin typeface="Times New Roman"/>
                </a:rPr>
                <a:t>Select!</a:t>
              </a:r>
            </a:p>
          </p:txBody>
        </p:sp>
      </p:grpSp>
      <p:grpSp>
        <p:nvGrpSpPr>
          <p:cNvPr id="127" name="Progressive chain of thought prompt"/>
          <p:cNvGrpSpPr/>
          <p:nvPr/>
        </p:nvGrpSpPr>
        <p:grpSpPr>
          <a:xfrm>
            <a:off x="4352544" y="758952"/>
            <a:ext cx="4974336" cy="2980944"/>
            <a:chOff x="4352544" y="758952"/>
            <a:chExt cx="4974336" cy="2980944"/>
          </a:xfrm>
        </p:grpSpPr>
        <p:sp>
          <p:nvSpPr>
            <p:cNvPr id="128" name="GUI Critiques Generation"/>
            <p:cNvSpPr txBox="1"/>
            <p:nvPr/>
          </p:nvSpPr>
          <p:spPr>
            <a:xfrm>
              <a:off x="4416552" y="758952"/>
              <a:ext cx="4901184" cy="40187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68" b="1" i="0" u="none">
                  <a:solidFill>
                    <a:srgbClr val="080808"/>
                  </a:solidFill>
                  <a:latin typeface="Times New Roman"/>
                </a:rPr>
                <a:t>GUI Critiques Generation</a:t>
              </a:r>
            </a:p>
          </p:txBody>
        </p:sp>
        <p:sp>
          <p:nvSpPr>
            <p:cNvPr id="129" name="Rectangle"/>
            <p:cNvSpPr/>
            <p:nvPr/>
          </p:nvSpPr>
          <p:spPr>
            <a:xfrm>
              <a:off x="4352544" y="1115568"/>
              <a:ext cx="4974336" cy="2624328"/>
            </a:xfrm>
            <a:prstGeom prst="roundRect">
              <a:avLst>
                <a:gd name="adj" fmla="val 7665"/>
              </a:avLst>
            </a:prstGeom>
            <a:solidFill>
              <a:srgbClr val="F0F8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Progressive CoT Paradigm"/>
            <p:cNvSpPr txBox="1"/>
            <p:nvPr/>
          </p:nvSpPr>
          <p:spPr>
            <a:xfrm>
              <a:off x="4498848" y="1143000"/>
              <a:ext cx="4590288" cy="34838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 i="0" u="none">
                  <a:solidFill>
                    <a:srgbClr val="080808"/>
                  </a:solidFill>
                  <a:latin typeface="Times New Roman"/>
                </a:rPr>
                <a:t>Progressive CoT Paradigm</a:t>
              </a:r>
            </a:p>
          </p:txBody>
        </p:sp>
        <p:sp>
          <p:nvSpPr>
            <p:cNvPr id="131" name="Editable CoT prompt"/>
            <p:cNvSpPr/>
            <p:nvPr/>
          </p:nvSpPr>
          <p:spPr>
            <a:xfrm>
              <a:off x="4480560" y="1527048"/>
              <a:ext cx="4681728" cy="1892808"/>
            </a:xfrm>
            <a:prstGeom prst="roundRect">
              <a:avLst>
                <a:gd name="adj" fmla="val 7729"/>
              </a:avLst>
            </a:prstGeom>
            <a:solidFill>
              <a:srgbClr val="FEFEFE"/>
            </a:solidFill>
            <a:ln w="18288" cap="rnd">
              <a:solidFill>
                <a:srgbClr val="263B62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There is a multimodal agent that can perform a series of actions on a smart"/>
            <p:cNvSpPr txBox="1"/>
            <p:nvPr/>
          </p:nvSpPr>
          <p:spPr>
            <a:xfrm>
              <a:off x="4553712" y="1600200"/>
              <a:ext cx="4562856" cy="19483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3" b="0" i="0" u="none">
                  <a:solidFill>
                    <a:srgbClr val="080808"/>
                  </a:solidFill>
                  <a:latin typeface="Comic Sans MS"/>
                </a:rPr>
                <a:t>There is a multimodal agent that can perform a series of actions on a smart</a:t>
              </a:r>
            </a:p>
          </p:txBody>
        </p:sp>
        <p:sp>
          <p:nvSpPr>
            <p:cNvPr id="133" name="device (phone or PC) ... In some steps, the action decided by the mobile agent may"/>
            <p:cNvSpPr txBox="1"/>
            <p:nvPr/>
          </p:nvSpPr>
          <p:spPr>
            <a:xfrm>
              <a:off x="4553712" y="1744675"/>
              <a:ext cx="4562856" cy="18228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7" b="0" i="0" u="none">
                  <a:solidFill>
                    <a:srgbClr val="080808"/>
                  </a:solidFill>
                  <a:latin typeface="Comic Sans MS"/>
                </a:rPr>
                <a:t>device (phone or PC) ... In some steps, the action decided by the mobile agent may</a:t>
              </a:r>
            </a:p>
          </p:txBody>
        </p:sp>
        <p:sp>
          <p:nvSpPr>
            <p:cNvPr id="134" name="be wrong.Now, you are a critic model used to evaluate the agent's decision. I will"/>
            <p:cNvSpPr txBox="1"/>
            <p:nvPr/>
          </p:nvSpPr>
          <p:spPr>
            <a:xfrm>
              <a:off x="4553712" y="1889150"/>
              <a:ext cx="4562856" cy="18459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1" b="0" i="0" u="none">
                  <a:solidFill>
                    <a:srgbClr val="080808"/>
                  </a:solidFill>
                  <a:latin typeface="Comic Sans MS"/>
                </a:rPr>
                <a:t>be wrong.Now, you are a critic model used to evaluate the agent's decision. I will</a:t>
              </a:r>
            </a:p>
          </p:txBody>
        </p:sp>
        <p:sp>
          <p:nvSpPr>
            <p:cNvPr id="135" name="provide you with the following information: 1. User instruction. 2. History: The"/>
            <p:cNvSpPr txBox="1"/>
            <p:nvPr/>
          </p:nvSpPr>
          <p:spPr>
            <a:xfrm>
              <a:off x="4553712" y="2033626"/>
              <a:ext cx="4562856" cy="18706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6" b="0" i="0" u="none">
                  <a:solidFill>
                    <a:srgbClr val="080808"/>
                  </a:solidFill>
                  <a:latin typeface="Comic Sans MS"/>
                </a:rPr>
                <a:t>provide you with the following information: 1. </a:t>
              </a:r>
              <a:r>
                <a:rPr sz="966" b="1" i="0" u="none">
                  <a:solidFill>
                    <a:srgbClr val="080808"/>
                  </a:solidFill>
                  <a:latin typeface="Comic Sans MS"/>
                </a:rPr>
                <a:t>User instruction.</a:t>
              </a:r>
              <a:r>
                <a:rPr sz="966" b="0" i="0" u="none">
                  <a:solidFill>
                    <a:srgbClr val="080808"/>
                  </a:solidFill>
                  <a:latin typeface="Comic Sans MS"/>
                </a:rPr>
                <a:t> 2. </a:t>
              </a:r>
              <a:r>
                <a:rPr sz="966" b="1" i="0" u="none">
                  <a:solidFill>
                    <a:srgbClr val="080808"/>
                  </a:solidFill>
                  <a:latin typeface="Comic Sans MS"/>
                </a:rPr>
                <a:t>History:</a:t>
              </a:r>
              <a:r>
                <a:rPr sz="966" b="0" i="0" u="none">
                  <a:solidFill>
                    <a:srgbClr val="080808"/>
                  </a:solidFill>
                  <a:latin typeface="Comic Sans MS"/>
                </a:rPr>
                <a:t> The</a:t>
              </a:r>
            </a:p>
          </p:txBody>
        </p:sp>
        <p:sp>
          <p:nvSpPr>
            <p:cNvPr id="136" name="action history of the agent in the previous steps.   3. Decision: The decision of the"/>
            <p:cNvSpPr txBox="1"/>
            <p:nvPr/>
          </p:nvSpPr>
          <p:spPr>
            <a:xfrm>
              <a:off x="4553712" y="2178101"/>
              <a:ext cx="4562856" cy="18060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7" b="0" i="0" u="none">
                  <a:solidFill>
                    <a:srgbClr val="080808"/>
                  </a:solidFill>
                  <a:latin typeface="Comic Sans MS"/>
                </a:rPr>
                <a:t>action history of the agent in the previous steps.   3. </a:t>
              </a:r>
              <a:r>
                <a:rPr sz="927" b="1" i="0" u="none">
                  <a:solidFill>
                    <a:srgbClr val="080808"/>
                  </a:solidFill>
                  <a:latin typeface="Comic Sans MS"/>
                </a:rPr>
                <a:t>Decision:</a:t>
              </a:r>
              <a:r>
                <a:rPr sz="927" b="0" i="0" u="none">
                  <a:solidFill>
                    <a:srgbClr val="080808"/>
                  </a:solidFill>
                  <a:latin typeface="Comic Sans MS"/>
                </a:rPr>
                <a:t> The decision of the</a:t>
              </a:r>
            </a:p>
          </p:txBody>
        </p:sp>
        <p:sp>
          <p:nvSpPr>
            <p:cNvPr id="137" name="agent for this step. 4. Image: The screenshot before executing this action."/>
            <p:cNvSpPr txBox="1"/>
            <p:nvPr/>
          </p:nvSpPr>
          <p:spPr>
            <a:xfrm>
              <a:off x="4553712" y="2322576"/>
              <a:ext cx="4562856" cy="194601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2" b="0" i="0" u="none">
                  <a:solidFill>
                    <a:srgbClr val="080808"/>
                  </a:solidFill>
                  <a:latin typeface="Comic Sans MS"/>
                </a:rPr>
                <a:t>agent for this step. 4. </a:t>
              </a:r>
              <a:r>
                <a:rPr sz="1012" b="1" i="0" u="none">
                  <a:solidFill>
                    <a:srgbClr val="080808"/>
                  </a:solidFill>
                  <a:latin typeface="Comic Sans MS"/>
                </a:rPr>
                <a:t>Image:</a:t>
              </a:r>
              <a:r>
                <a:rPr sz="1012" b="0" i="0" u="none">
                  <a:solidFill>
                    <a:srgbClr val="080808"/>
                  </a:solidFill>
                  <a:latin typeface="Comic Sans MS"/>
                </a:rPr>
                <a:t> The screenshot before executing this action.</a:t>
              </a:r>
            </a:p>
          </p:txBody>
        </p:sp>
        <p:sp>
          <p:nvSpPr>
            <p:cNvPr id="138" name="&lt;thinking&gt; **Observation**: Describe the screenshot."/>
            <p:cNvSpPr txBox="1"/>
            <p:nvPr/>
          </p:nvSpPr>
          <p:spPr>
            <a:xfrm>
              <a:off x="4553712" y="2467051"/>
              <a:ext cx="4562856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1" i="0" u="none">
                  <a:solidFill>
                    <a:srgbClr val="F00000"/>
                  </a:solidFill>
                  <a:latin typeface="Comic Sans MS"/>
                </a:rPr>
                <a:t>&lt;thinking&gt; </a:t>
              </a:r>
              <a:r>
                <a:rPr sz="1044" b="0" i="0" u="none">
                  <a:solidFill>
                    <a:srgbClr val="F00000"/>
                  </a:solidFill>
                  <a:latin typeface="Comic Sans MS"/>
                </a:rPr>
                <a:t>**Observation**: Describe the screenshot.</a:t>
              </a:r>
            </a:p>
          </p:txBody>
        </p:sp>
        <p:sp>
          <p:nvSpPr>
            <p:cNvPr id="139" name="**Possible Result**: Analysis from the possible result perspective."/>
            <p:cNvSpPr txBox="1"/>
            <p:nvPr/>
          </p:nvSpPr>
          <p:spPr>
            <a:xfrm>
              <a:off x="4553712" y="2611526"/>
              <a:ext cx="4562856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0" u="none">
                  <a:solidFill>
                    <a:srgbClr val="F00000"/>
                  </a:solidFill>
                  <a:latin typeface="Comic Sans MS"/>
                </a:rPr>
                <a:t>**Possible Result**: Analysis from the possible result perspective.</a:t>
              </a:r>
            </a:p>
          </p:txBody>
        </p:sp>
        <p:sp>
          <p:nvSpPr>
            <p:cNvPr id="140" name="**Critique**: Criticize why the decision is correct or incorrect. &lt;/thinking&gt;"/>
            <p:cNvSpPr txBox="1"/>
            <p:nvPr/>
          </p:nvSpPr>
          <p:spPr>
            <a:xfrm>
              <a:off x="4553712" y="2756002"/>
              <a:ext cx="4562856" cy="194883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4" b="0" i="0" u="none">
                  <a:solidFill>
                    <a:srgbClr val="F00000"/>
                  </a:solidFill>
                  <a:latin typeface="Comic Sans MS"/>
                </a:rPr>
                <a:t>**Critique**: Criticize why the decision is correct or incorrect. </a:t>
              </a:r>
              <a:r>
                <a:rPr sz="1014" b="1" i="0" u="none">
                  <a:solidFill>
                    <a:srgbClr val="F00000"/>
                  </a:solidFill>
                  <a:latin typeface="Comic Sans MS"/>
                </a:rPr>
                <a:t>&lt;/thinking&gt;</a:t>
              </a:r>
            </a:p>
          </p:txBody>
        </p:sp>
        <p:sp>
          <p:nvSpPr>
            <p:cNvPr id="141" name="&lt;score&gt; Correct or Incorrect &lt;/score&gt;"/>
            <p:cNvSpPr txBox="1"/>
            <p:nvPr/>
          </p:nvSpPr>
          <p:spPr>
            <a:xfrm>
              <a:off x="4553712" y="2900477"/>
              <a:ext cx="4562856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1" i="0" u="none">
                  <a:solidFill>
                    <a:srgbClr val="F00000"/>
                  </a:solidFill>
                  <a:latin typeface="Comic Sans MS"/>
                </a:rPr>
                <a:t>&lt;score&gt; </a:t>
              </a:r>
              <a:r>
                <a:rPr sz="1044" b="0" i="0" u="none">
                  <a:solidFill>
                    <a:srgbClr val="F00000"/>
                  </a:solidFill>
                  <a:latin typeface="Comic Sans MS"/>
                </a:rPr>
                <a:t>Correct or Incorrect</a:t>
              </a:r>
              <a:r>
                <a:rPr sz="1044" b="1" i="0" u="none">
                  <a:solidFill>
                    <a:srgbClr val="F00000"/>
                  </a:solidFill>
                  <a:latin typeface="Comic Sans MS"/>
                </a:rPr>
                <a:t> &lt;/score&gt;</a:t>
              </a:r>
            </a:p>
          </p:txBody>
        </p:sp>
        <p:sp>
          <p:nvSpPr>
            <p:cNvPr id="142" name="&lt;suggestion&gt; If correct, provide a brief summary; if incorrect, suggest a better"/>
            <p:cNvSpPr txBox="1"/>
            <p:nvPr/>
          </p:nvSpPr>
          <p:spPr>
            <a:xfrm>
              <a:off x="4553712" y="3044952"/>
              <a:ext cx="4562856" cy="18389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47" b="1" i="0" u="none">
                  <a:solidFill>
                    <a:srgbClr val="F00000"/>
                  </a:solidFill>
                  <a:latin typeface="Comic Sans MS"/>
                </a:rPr>
                <a:t>&lt;suggestion&gt; </a:t>
              </a:r>
              <a:r>
                <a:rPr sz="947" b="0" i="0" u="none">
                  <a:solidFill>
                    <a:srgbClr val="F00000"/>
                  </a:solidFill>
                  <a:latin typeface="Comic Sans MS"/>
                </a:rPr>
                <a:t>If correct, provide a brief summary; if incorrect, suggest a better</a:t>
              </a:r>
            </a:p>
          </p:txBody>
        </p:sp>
        <p:sp>
          <p:nvSpPr>
            <p:cNvPr id="143" name="decision briefly. &lt;/suggestion&gt;"/>
            <p:cNvSpPr txBox="1"/>
            <p:nvPr/>
          </p:nvSpPr>
          <p:spPr>
            <a:xfrm>
              <a:off x="4553712" y="3189427"/>
              <a:ext cx="4562856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0" u="none">
                  <a:solidFill>
                    <a:srgbClr val="F00000"/>
                  </a:solidFill>
                  <a:latin typeface="Comic Sans MS"/>
                </a:rPr>
                <a:t>decision briefly. </a:t>
              </a:r>
              <a:r>
                <a:rPr sz="1044" b="1" i="0" u="none">
                  <a:solidFill>
                    <a:srgbClr val="F00000"/>
                  </a:solidFill>
                  <a:latin typeface="Comic Sans MS"/>
                </a:rPr>
                <a:t>&lt;/suggestion&gt;</a:t>
              </a:r>
            </a:p>
          </p:txBody>
        </p:sp>
      </p:grpSp>
      <p:grpSp>
        <p:nvGrpSpPr>
          <p:cNvPr id="144" name="Reasoning bootstrapping and selection"/>
          <p:cNvGrpSpPr/>
          <p:nvPr/>
        </p:nvGrpSpPr>
        <p:grpSpPr>
          <a:xfrm>
            <a:off x="4352544" y="3785616"/>
            <a:ext cx="4983480" cy="4370832"/>
            <a:chOff x="4352544" y="3785616"/>
            <a:chExt cx="4983480" cy="4370832"/>
          </a:xfrm>
        </p:grpSpPr>
        <p:sp>
          <p:nvSpPr>
            <p:cNvPr id="145" name="Rectangle"/>
            <p:cNvSpPr/>
            <p:nvPr/>
          </p:nvSpPr>
          <p:spPr>
            <a:xfrm>
              <a:off x="4352544" y="3785616"/>
              <a:ext cx="4983480" cy="4370832"/>
            </a:xfrm>
            <a:prstGeom prst="roundRect">
              <a:avLst>
                <a:gd name="adj" fmla="val 4811"/>
              </a:avLst>
            </a:prstGeom>
            <a:solidFill>
              <a:srgbClr val="F0F8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Reasoning Bootstrapping."/>
            <p:cNvSpPr txBox="1"/>
            <p:nvPr/>
          </p:nvSpPr>
          <p:spPr>
            <a:xfrm>
              <a:off x="4498848" y="3803904"/>
              <a:ext cx="4590288" cy="34838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 i="0" u="none">
                  <a:solidFill>
                    <a:srgbClr val="080808"/>
                  </a:solidFill>
                  <a:latin typeface="Times New Roman"/>
                </a:rPr>
                <a:t>Reasoning Bootstrapping.</a:t>
              </a:r>
            </a:p>
          </p:txBody>
        </p:sp>
        <p:sp>
          <p:nvSpPr>
            <p:cNvPr id="147" name="Bootstrapped reasoning card"/>
            <p:cNvSpPr/>
            <p:nvPr/>
          </p:nvSpPr>
          <p:spPr>
            <a:xfrm>
              <a:off x="5340096" y="4197096"/>
              <a:ext cx="3685032" cy="2112264"/>
            </a:xfrm>
            <a:prstGeom prst="rect">
              <a:avLst/>
            </a:prstGeom>
            <a:solidFill>
              <a:srgbClr val="FFFFFF"/>
            </a:solidFill>
            <a:ln w="33832" cap="rnd">
              <a:solidFill>
                <a:srgbClr val="E5E5E5"/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Bootstrapped reasoning card"/>
            <p:cNvSpPr/>
            <p:nvPr/>
          </p:nvSpPr>
          <p:spPr>
            <a:xfrm>
              <a:off x="5166360" y="4352544"/>
              <a:ext cx="3694176" cy="2112264"/>
            </a:xfrm>
            <a:prstGeom prst="rect">
              <a:avLst/>
            </a:prstGeom>
            <a:solidFill>
              <a:srgbClr val="FFFFFF"/>
            </a:solidFill>
            <a:ln w="33832" cap="rnd">
              <a:solidFill>
                <a:srgbClr val="E5E5E5"/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Bootstrapped reasoning card"/>
            <p:cNvSpPr/>
            <p:nvPr/>
          </p:nvSpPr>
          <p:spPr>
            <a:xfrm>
              <a:off x="4480560" y="4626864"/>
              <a:ext cx="3675888" cy="2139696"/>
            </a:xfrm>
            <a:prstGeom prst="rect">
              <a:avLst/>
            </a:prstGeom>
            <a:solidFill>
              <a:srgbClr val="FFFFFF"/>
            </a:solidFill>
            <a:ln w="33832" cap="rnd">
              <a:solidFill>
                <a:srgbClr val="E5E5E5"/>
              </a:solidFill>
              <a:prstDash val="lg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&lt;thinking&gt;  **Observation**: The screenshot shows"/>
            <p:cNvSpPr txBox="1"/>
            <p:nvPr/>
          </p:nvSpPr>
          <p:spPr>
            <a:xfrm>
              <a:off x="4581144" y="4654296"/>
              <a:ext cx="3511296" cy="20989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 b="1" i="0" u="none">
                  <a:solidFill>
                    <a:srgbClr val="080808"/>
                  </a:solidFill>
                  <a:latin typeface="Comic Sans MS"/>
                </a:rPr>
                <a:t>&lt;thinking&gt;  </a:t>
              </a:r>
              <a:r>
                <a:rPr sz="1105" b="1" i="0" u="none">
                  <a:solidFill>
                    <a:srgbClr val="B64E00"/>
                  </a:solidFill>
                  <a:latin typeface="Comic Sans MS"/>
                </a:rPr>
                <a:t>**Observation**: </a:t>
              </a:r>
              <a:r>
                <a:rPr sz="1105" b="0" i="0" u="none">
                  <a:solidFill>
                    <a:srgbClr val="080808"/>
                  </a:solidFill>
                  <a:latin typeface="Comic Sans MS"/>
                </a:rPr>
                <a:t>The screenshot shows</a:t>
              </a:r>
            </a:p>
          </p:txBody>
        </p:sp>
        <p:sp>
          <p:nvSpPr>
            <p:cNvPr id="151" name="the Twitter feed with a list of posts, including ..."/>
            <p:cNvSpPr txBox="1"/>
            <p:nvPr/>
          </p:nvSpPr>
          <p:spPr>
            <a:xfrm>
              <a:off x="4581144" y="4823460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the Twitter feed with a list of posts, including ...</a:t>
              </a:r>
            </a:p>
          </p:txBody>
        </p:sp>
        <p:sp>
          <p:nvSpPr>
            <p:cNvPr id="152" name="**Possible Result**: If the agent clicks the “Letter”"/>
            <p:cNvSpPr txBox="1"/>
            <p:nvPr/>
          </p:nvSpPr>
          <p:spPr>
            <a:xfrm>
              <a:off x="4581144" y="4992624"/>
              <a:ext cx="3511296" cy="20978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4" b="1" i="0" u="none">
                  <a:solidFill>
                    <a:srgbClr val="B64E00"/>
                  </a:solidFill>
                  <a:latin typeface="Comic Sans MS"/>
                </a:rPr>
                <a:t>**Possible Result**: </a:t>
              </a:r>
              <a:r>
                <a:rPr sz="1104" b="0" i="0" u="none">
                  <a:solidFill>
                    <a:srgbClr val="080808"/>
                  </a:solidFill>
                  <a:latin typeface="Comic Sans MS"/>
                </a:rPr>
                <a:t>If the agent clicks the “Letter”</a:t>
              </a:r>
            </a:p>
          </p:txBody>
        </p:sp>
        <p:sp>
          <p:nvSpPr>
            <p:cNvPr id="153" name="button, it will likely not achieve any meaningful"/>
            <p:cNvSpPr txBox="1"/>
            <p:nvPr/>
          </p:nvSpPr>
          <p:spPr>
            <a:xfrm>
              <a:off x="4581144" y="5161788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button, it will likely not achieve any meaningful</a:t>
              </a:r>
            </a:p>
          </p:txBody>
        </p:sp>
        <p:sp>
          <p:nvSpPr>
            <p:cNvPr id="154" name="action...  **Critique**: The decision to click the"/>
            <p:cNvSpPr txBox="1"/>
            <p:nvPr/>
          </p:nvSpPr>
          <p:spPr>
            <a:xfrm>
              <a:off x="4581144" y="5330952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action...  </a:t>
              </a:r>
              <a:r>
                <a:rPr sz="1116" b="1" i="0" u="none">
                  <a:solidFill>
                    <a:srgbClr val="B64E00"/>
                  </a:solidFill>
                  <a:latin typeface="Comic Sans MS"/>
                </a:rPr>
                <a:t>**Critique**: </a:t>
              </a: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The decision to click the</a:t>
              </a:r>
            </a:p>
          </p:txBody>
        </p:sp>
        <p:sp>
          <p:nvSpPr>
            <p:cNvPr id="155" name="“Letter” button is incorrect because it does not"/>
            <p:cNvSpPr txBox="1"/>
            <p:nvPr/>
          </p:nvSpPr>
          <p:spPr>
            <a:xfrm>
              <a:off x="4581144" y="5500116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“Letter” button is incorrect because it does not</a:t>
              </a:r>
            </a:p>
          </p:txBody>
        </p:sp>
        <p:sp>
          <p:nvSpPr>
            <p:cNvPr id="156" name="align with the current state of the application..."/>
            <p:cNvSpPr txBox="1"/>
            <p:nvPr/>
          </p:nvSpPr>
          <p:spPr>
            <a:xfrm>
              <a:off x="4581144" y="5669280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align with the current state of the application...</a:t>
              </a:r>
            </a:p>
          </p:txBody>
        </p:sp>
        <p:sp>
          <p:nvSpPr>
            <p:cNvPr id="157" name="&lt;/thinking&gt;"/>
            <p:cNvSpPr txBox="1"/>
            <p:nvPr/>
          </p:nvSpPr>
          <p:spPr>
            <a:xfrm>
              <a:off x="4581144" y="5838444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1" i="0" u="none">
                  <a:solidFill>
                    <a:srgbClr val="080808"/>
                  </a:solidFill>
                  <a:latin typeface="Comic Sans MS"/>
                </a:rPr>
                <a:t>&lt;/thinking&gt;</a:t>
              </a:r>
            </a:p>
          </p:txBody>
        </p:sp>
        <p:sp>
          <p:nvSpPr>
            <p:cNvPr id="158" name="&lt;score&gt; Incorrect &lt;/score&gt;"/>
            <p:cNvSpPr txBox="1"/>
            <p:nvPr/>
          </p:nvSpPr>
          <p:spPr>
            <a:xfrm>
              <a:off x="4581144" y="6007608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1" i="0" u="none">
                  <a:solidFill>
                    <a:srgbClr val="080808"/>
                  </a:solidFill>
                  <a:latin typeface="Comic Sans MS"/>
                </a:rPr>
                <a:t>&lt;score&gt; </a:t>
              </a:r>
              <a:r>
                <a:rPr sz="1116" b="0" i="0" u="none">
                  <a:solidFill>
                    <a:srgbClr val="F00000"/>
                  </a:solidFill>
                  <a:latin typeface="Comic Sans MS"/>
                </a:rPr>
                <a:t>Incorrect</a:t>
              </a:r>
              <a:r>
                <a:rPr sz="1116" b="1" i="0" u="none">
                  <a:solidFill>
                    <a:srgbClr val="080808"/>
                  </a:solidFill>
                  <a:latin typeface="Comic Sans MS"/>
                </a:rPr>
                <a:t> &lt;/score&gt;</a:t>
              </a:r>
            </a:p>
          </p:txBody>
        </p:sp>
        <p:sp>
          <p:nvSpPr>
            <p:cNvPr id="159" name="&lt;suggestion&gt; The agent should instead select a"/>
            <p:cNvSpPr txBox="1"/>
            <p:nvPr/>
          </p:nvSpPr>
          <p:spPr>
            <a:xfrm>
              <a:off x="4581144" y="6176772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1" i="0" u="none">
                  <a:solidFill>
                    <a:srgbClr val="080808"/>
                  </a:solidFill>
                  <a:latin typeface="Comic Sans MS"/>
                </a:rPr>
                <a:t>&lt;suggestion&gt; </a:t>
              </a:r>
              <a:r>
                <a:rPr sz="1116" b="0" i="0" u="none">
                  <a:solidFill>
                    <a:srgbClr val="F00000"/>
                  </a:solidFill>
                  <a:latin typeface="Comic Sans MS"/>
                </a:rPr>
                <a:t>The agent should instead select a</a:t>
              </a:r>
            </a:p>
          </p:txBody>
        </p:sp>
        <p:sp>
          <p:nvSpPr>
            <p:cNvPr id="160" name="desired tweet and clicking the share button of it."/>
            <p:cNvSpPr txBox="1"/>
            <p:nvPr/>
          </p:nvSpPr>
          <p:spPr>
            <a:xfrm>
              <a:off x="4581144" y="6345936"/>
              <a:ext cx="3511296" cy="20574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 u="none">
                  <a:solidFill>
                    <a:srgbClr val="F00000"/>
                  </a:solidFill>
                  <a:latin typeface="Comic Sans MS"/>
                </a:rPr>
                <a:t>desired tweet and clicking the share button of it.</a:t>
              </a:r>
            </a:p>
          </p:txBody>
        </p:sp>
        <p:sp>
          <p:nvSpPr>
            <p:cNvPr id="161" name="&lt;/suggestion&gt;"/>
            <p:cNvSpPr txBox="1"/>
            <p:nvPr/>
          </p:nvSpPr>
          <p:spPr>
            <a:xfrm>
              <a:off x="4581144" y="6515100"/>
              <a:ext cx="351129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1" i="0" u="none">
                  <a:solidFill>
                    <a:srgbClr val="080808"/>
                  </a:solidFill>
                  <a:latin typeface="Comic Sans MS"/>
                </a:rPr>
                <a:t>&lt;/suggestion&gt;</a:t>
              </a:r>
            </a:p>
          </p:txBody>
        </p:sp>
        <p:sp>
          <p:nvSpPr>
            <p:cNvPr id="162" name="Correct indicator"/>
            <p:cNvSpPr/>
            <p:nvPr/>
          </p:nvSpPr>
          <p:spPr>
            <a:xfrm>
              <a:off x="6638544" y="5952744"/>
              <a:ext cx="256032" cy="256032"/>
            </a:xfrm>
            <a:prstGeom prst="ellipse">
              <a:avLst/>
            </a:prstGeom>
            <a:solidFill>
              <a:srgbClr val="FFFFFF"/>
            </a:solidFill>
            <a:ln w="15544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Check mark"/>
            <p:cNvSpPr/>
            <p:nvPr/>
          </p:nvSpPr>
          <p:spPr>
            <a:xfrm>
              <a:off x="6711513" y="6035954"/>
              <a:ext cx="120335" cy="88331"/>
            </a:xfrm>
            <a:custGeom>
              <a:avLst/>
              <a:gdLst/>
              <a:ahLst/>
              <a:cxnLst/>
              <a:rect l="0" t="0" r="r" b="b"/>
              <a:pathLst>
                <a:path w="120335" h="88331" fill="none">
                  <a:moveTo>
                    <a:pt x="0" y="44806"/>
                  </a:moveTo>
                  <a:lnTo>
                    <a:pt x="44806" y="88331"/>
                  </a:lnTo>
                  <a:lnTo>
                    <a:pt x="120335" y="0"/>
                  </a:lnTo>
                </a:path>
              </a:pathLst>
            </a:custGeom>
            <a:noFill/>
            <a:ln w="17373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Correct indicator"/>
            <p:cNvSpPr/>
            <p:nvPr/>
          </p:nvSpPr>
          <p:spPr>
            <a:xfrm>
              <a:off x="7808976" y="6245352"/>
              <a:ext cx="256032" cy="256032"/>
            </a:xfrm>
            <a:prstGeom prst="ellipse">
              <a:avLst/>
            </a:prstGeom>
            <a:solidFill>
              <a:srgbClr val="FFFFFF"/>
            </a:solidFill>
            <a:ln w="15544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Check mark"/>
            <p:cNvSpPr/>
            <p:nvPr/>
          </p:nvSpPr>
          <p:spPr>
            <a:xfrm>
              <a:off x="7881945" y="6328562"/>
              <a:ext cx="120335" cy="88331"/>
            </a:xfrm>
            <a:custGeom>
              <a:avLst/>
              <a:gdLst/>
              <a:ahLst/>
              <a:cxnLst/>
              <a:rect l="0" t="0" r="r" b="b"/>
              <a:pathLst>
                <a:path w="120335" h="88331" fill="none">
                  <a:moveTo>
                    <a:pt x="0" y="44806"/>
                  </a:moveTo>
                  <a:lnTo>
                    <a:pt x="44806" y="88331"/>
                  </a:lnTo>
                  <a:lnTo>
                    <a:pt x="120335" y="0"/>
                  </a:lnTo>
                </a:path>
              </a:pathLst>
            </a:custGeom>
            <a:noFill/>
            <a:ln w="17373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Ellipse"/>
            <p:cNvSpPr/>
            <p:nvPr/>
          </p:nvSpPr>
          <p:spPr>
            <a:xfrm>
              <a:off x="8379562" y="6322162"/>
              <a:ext cx="65837" cy="6583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Ellipse"/>
            <p:cNvSpPr/>
            <p:nvPr/>
          </p:nvSpPr>
          <p:spPr>
            <a:xfrm>
              <a:off x="8498434" y="6249010"/>
              <a:ext cx="65837" cy="6583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Ellipse"/>
            <p:cNvSpPr/>
            <p:nvPr/>
          </p:nvSpPr>
          <p:spPr>
            <a:xfrm>
              <a:off x="8608162" y="6175858"/>
              <a:ext cx="65837" cy="6583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"/>
            <p:cNvSpPr/>
            <p:nvPr/>
          </p:nvSpPr>
          <p:spPr>
            <a:xfrm>
              <a:off x="4517136" y="6784848"/>
              <a:ext cx="1837944" cy="576072"/>
            </a:xfrm>
            <a:prstGeom prst="rect">
              <a:avLst/>
            </a:prstGeom>
            <a:solidFill>
              <a:srgbClr val="FFFFFF"/>
            </a:solidFill>
            <a:ln w="6400" cap="rnd">
              <a:solidFill>
                <a:srgbClr val="E7E7E7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&lt;thinking&gt;...&lt;/thinking&gt;"/>
            <p:cNvSpPr txBox="1"/>
            <p:nvPr/>
          </p:nvSpPr>
          <p:spPr>
            <a:xfrm>
              <a:off x="4553712" y="6803136"/>
              <a:ext cx="1773936" cy="20930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1" b="0" i="0" u="none">
                  <a:solidFill>
                    <a:srgbClr val="080808"/>
                  </a:solidFill>
                  <a:latin typeface="Comic Sans MS"/>
                </a:rPr>
                <a:t>&lt;thinking&gt;...&lt;/thinking&gt;</a:t>
              </a:r>
            </a:p>
          </p:txBody>
        </p:sp>
        <p:sp>
          <p:nvSpPr>
            <p:cNvPr id="171" name="&lt;score&gt;...&lt;/score&gt;"/>
            <p:cNvSpPr txBox="1"/>
            <p:nvPr/>
          </p:nvSpPr>
          <p:spPr>
            <a:xfrm>
              <a:off x="4553712" y="6976872"/>
              <a:ext cx="1645920" cy="20930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1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172" name="&lt;suggestion&gt;...&lt;/suggestion&gt;"/>
            <p:cNvSpPr txBox="1"/>
            <p:nvPr/>
          </p:nvSpPr>
          <p:spPr>
            <a:xfrm>
              <a:off x="4553712" y="7150608"/>
              <a:ext cx="1746504" cy="20585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173" name="Incorrect indicator"/>
            <p:cNvSpPr/>
            <p:nvPr/>
          </p:nvSpPr>
          <p:spPr>
            <a:xfrm>
              <a:off x="6181344" y="6995160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Line"/>
            <p:cNvSpPr/>
            <p:nvPr/>
          </p:nvSpPr>
          <p:spPr>
            <a:xfrm>
              <a:off x="6218652" y="7028627"/>
              <a:ext cx="35662" cy="42794"/>
            </a:xfrm>
            <a:custGeom>
              <a:avLst/>
              <a:gdLst/>
              <a:ahLst/>
              <a:cxnLst/>
              <a:rect l="0" t="0" r="r" b="b"/>
              <a:pathLst>
                <a:path w="35662" h="42794" fill="none">
                  <a:moveTo>
                    <a:pt x="0" y="0"/>
                  </a:moveTo>
                  <a:lnTo>
                    <a:pt x="35662" y="42794"/>
                  </a:lnTo>
                </a:path>
              </a:pathLst>
            </a:custGeom>
            <a:noFill/>
            <a:ln w="9144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Line"/>
            <p:cNvSpPr/>
            <p:nvPr/>
          </p:nvSpPr>
          <p:spPr>
            <a:xfrm>
              <a:off x="6218652" y="7028627"/>
              <a:ext cx="35662" cy="42794"/>
            </a:xfrm>
            <a:custGeom>
              <a:avLst/>
              <a:gdLst/>
              <a:ahLst/>
              <a:cxnLst/>
              <a:rect l="0" t="0" r="r" b="b"/>
              <a:pathLst>
                <a:path w="35662" h="42794" fill="none">
                  <a:moveTo>
                    <a:pt x="35662" y="0"/>
                  </a:moveTo>
                  <a:lnTo>
                    <a:pt x="0" y="42794"/>
                  </a:lnTo>
                </a:path>
              </a:pathLst>
            </a:custGeom>
            <a:noFill/>
            <a:ln w="9144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Correct indicator"/>
            <p:cNvSpPr/>
            <p:nvPr/>
          </p:nvSpPr>
          <p:spPr>
            <a:xfrm>
              <a:off x="6309360" y="7178040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Check mark"/>
            <p:cNvSpPr/>
            <p:nvPr/>
          </p:nvSpPr>
          <p:spPr>
            <a:xfrm>
              <a:off x="6340632" y="7213702"/>
              <a:ext cx="51572" cy="37856"/>
            </a:xfrm>
            <a:custGeom>
              <a:avLst/>
              <a:gdLst/>
              <a:ahLst/>
              <a:cxnLst/>
              <a:rect l="0" t="0" r="r" b="b"/>
              <a:pathLst>
                <a:path w="51572" h="37856" fill="none">
                  <a:moveTo>
                    <a:pt x="0" y="19202"/>
                  </a:moveTo>
                  <a:lnTo>
                    <a:pt x="19202" y="37856"/>
                  </a:lnTo>
                  <a:lnTo>
                    <a:pt x="51572" y="0"/>
                  </a:lnTo>
                </a:path>
              </a:pathLst>
            </a:custGeom>
            <a:noFill/>
            <a:ln w="7315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"/>
            <p:cNvSpPr/>
            <p:nvPr/>
          </p:nvSpPr>
          <p:spPr>
            <a:xfrm>
              <a:off x="6702552" y="6784848"/>
              <a:ext cx="1837944" cy="576072"/>
            </a:xfrm>
            <a:prstGeom prst="rect">
              <a:avLst/>
            </a:prstGeom>
            <a:solidFill>
              <a:srgbClr val="FFFFFF"/>
            </a:solidFill>
            <a:ln w="6400" cap="rnd">
              <a:solidFill>
                <a:srgbClr val="E7E7E7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&lt;thinking&gt;...&lt;/thinking&gt;"/>
            <p:cNvSpPr txBox="1"/>
            <p:nvPr/>
          </p:nvSpPr>
          <p:spPr>
            <a:xfrm>
              <a:off x="6739128" y="6803136"/>
              <a:ext cx="1773936" cy="20930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1" b="0" i="0" u="none">
                  <a:solidFill>
                    <a:srgbClr val="080808"/>
                  </a:solidFill>
                  <a:latin typeface="Comic Sans MS"/>
                </a:rPr>
                <a:t>&lt;thinking&gt;...&lt;/thinking&gt;</a:t>
              </a:r>
            </a:p>
          </p:txBody>
        </p:sp>
        <p:sp>
          <p:nvSpPr>
            <p:cNvPr id="180" name="&lt;score&gt;...&lt;/score&gt;"/>
            <p:cNvSpPr txBox="1"/>
            <p:nvPr/>
          </p:nvSpPr>
          <p:spPr>
            <a:xfrm>
              <a:off x="6739128" y="6976872"/>
              <a:ext cx="1645920" cy="20930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1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181" name="&lt;suggestion&gt;...&lt;/suggestion&gt;"/>
            <p:cNvSpPr txBox="1"/>
            <p:nvPr/>
          </p:nvSpPr>
          <p:spPr>
            <a:xfrm>
              <a:off x="6739128" y="7150608"/>
              <a:ext cx="1746504" cy="20585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182" name="Incorrect indicator"/>
            <p:cNvSpPr/>
            <p:nvPr/>
          </p:nvSpPr>
          <p:spPr>
            <a:xfrm>
              <a:off x="8366760" y="6995160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Line"/>
            <p:cNvSpPr/>
            <p:nvPr/>
          </p:nvSpPr>
          <p:spPr>
            <a:xfrm>
              <a:off x="8404068" y="7028627"/>
              <a:ext cx="35662" cy="42794"/>
            </a:xfrm>
            <a:custGeom>
              <a:avLst/>
              <a:gdLst/>
              <a:ahLst/>
              <a:cxnLst/>
              <a:rect l="0" t="0" r="r" b="b"/>
              <a:pathLst>
                <a:path w="35662" h="42794" fill="none">
                  <a:moveTo>
                    <a:pt x="0" y="0"/>
                  </a:moveTo>
                  <a:lnTo>
                    <a:pt x="35662" y="42794"/>
                  </a:lnTo>
                </a:path>
              </a:pathLst>
            </a:custGeom>
            <a:noFill/>
            <a:ln w="9144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Line"/>
            <p:cNvSpPr/>
            <p:nvPr/>
          </p:nvSpPr>
          <p:spPr>
            <a:xfrm>
              <a:off x="8404068" y="7028627"/>
              <a:ext cx="35662" cy="42794"/>
            </a:xfrm>
            <a:custGeom>
              <a:avLst/>
              <a:gdLst/>
              <a:ahLst/>
              <a:cxnLst/>
              <a:rect l="0" t="0" r="r" b="b"/>
              <a:pathLst>
                <a:path w="35662" h="42794" fill="none">
                  <a:moveTo>
                    <a:pt x="35662" y="0"/>
                  </a:moveTo>
                  <a:lnTo>
                    <a:pt x="0" y="42794"/>
                  </a:lnTo>
                </a:path>
              </a:pathLst>
            </a:custGeom>
            <a:noFill/>
            <a:ln w="9144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Incorrect indicator"/>
            <p:cNvSpPr/>
            <p:nvPr/>
          </p:nvSpPr>
          <p:spPr>
            <a:xfrm>
              <a:off x="8494776" y="7178040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Line"/>
            <p:cNvSpPr/>
            <p:nvPr/>
          </p:nvSpPr>
          <p:spPr>
            <a:xfrm>
              <a:off x="8532084" y="7211507"/>
              <a:ext cx="35662" cy="42794"/>
            </a:xfrm>
            <a:custGeom>
              <a:avLst/>
              <a:gdLst/>
              <a:ahLst/>
              <a:cxnLst/>
              <a:rect l="0" t="0" r="r" b="b"/>
              <a:pathLst>
                <a:path w="35662" h="42794" fill="none">
                  <a:moveTo>
                    <a:pt x="0" y="0"/>
                  </a:moveTo>
                  <a:lnTo>
                    <a:pt x="35662" y="42794"/>
                  </a:lnTo>
                </a:path>
              </a:pathLst>
            </a:custGeom>
            <a:noFill/>
            <a:ln w="9144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Line"/>
            <p:cNvSpPr/>
            <p:nvPr/>
          </p:nvSpPr>
          <p:spPr>
            <a:xfrm>
              <a:off x="8532084" y="7211507"/>
              <a:ext cx="35662" cy="42794"/>
            </a:xfrm>
            <a:custGeom>
              <a:avLst/>
              <a:gdLst/>
              <a:ahLst/>
              <a:cxnLst/>
              <a:rect l="0" t="0" r="r" b="b"/>
              <a:pathLst>
                <a:path w="35662" h="42794" fill="none">
                  <a:moveTo>
                    <a:pt x="35662" y="0"/>
                  </a:moveTo>
                  <a:lnTo>
                    <a:pt x="0" y="42794"/>
                  </a:lnTo>
                </a:path>
              </a:pathLst>
            </a:custGeom>
            <a:noFill/>
            <a:ln w="9144" cap="rnd">
              <a:solidFill>
                <a:srgbClr val="FF454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Ellipsis dot"/>
            <p:cNvSpPr/>
            <p:nvPr/>
          </p:nvSpPr>
          <p:spPr>
            <a:xfrm>
              <a:off x="6401714" y="6996074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Ellipsis dot"/>
            <p:cNvSpPr/>
            <p:nvPr/>
          </p:nvSpPr>
          <p:spPr>
            <a:xfrm>
              <a:off x="6456578" y="6996074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Ellipsis dot"/>
            <p:cNvSpPr/>
            <p:nvPr/>
          </p:nvSpPr>
          <p:spPr>
            <a:xfrm>
              <a:off x="6511442" y="6996074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Chosen reasoning examples"/>
            <p:cNvSpPr/>
            <p:nvPr/>
          </p:nvSpPr>
          <p:spPr>
            <a:xfrm>
              <a:off x="4663440" y="7424928"/>
              <a:ext cx="4370832" cy="704088"/>
            </a:xfrm>
            <a:prstGeom prst="roundRect">
              <a:avLst>
                <a:gd name="adj" fmla="val 7792"/>
              </a:avLst>
            </a:prstGeom>
            <a:solidFill>
              <a:srgbClr val="D7E7D5"/>
            </a:solidFill>
            <a:ln w="9144" cap="rnd">
              <a:solidFill>
                <a:srgbClr val="3C718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ectangle"/>
            <p:cNvSpPr/>
            <p:nvPr/>
          </p:nvSpPr>
          <p:spPr>
            <a:xfrm>
              <a:off x="4764024" y="7498080"/>
              <a:ext cx="1856232" cy="585216"/>
            </a:xfrm>
            <a:prstGeom prst="rect">
              <a:avLst/>
            </a:prstGeom>
            <a:solidFill>
              <a:srgbClr val="FFFFFF"/>
            </a:solidFill>
            <a:ln w="10058" cap="rnd">
              <a:solidFill>
                <a:srgbClr val="72AC4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&lt;thinking&gt;...&lt;/thinking&gt;"/>
            <p:cNvSpPr txBox="1"/>
            <p:nvPr/>
          </p:nvSpPr>
          <p:spPr>
            <a:xfrm>
              <a:off x="4809744" y="7516368"/>
              <a:ext cx="1783080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&lt;thinking&gt;...&lt;/thinking&gt;</a:t>
              </a:r>
            </a:p>
          </p:txBody>
        </p:sp>
        <p:sp>
          <p:nvSpPr>
            <p:cNvPr id="194" name="&lt;score&gt;...&lt;/score&gt;"/>
            <p:cNvSpPr txBox="1"/>
            <p:nvPr/>
          </p:nvSpPr>
          <p:spPr>
            <a:xfrm>
              <a:off x="4809744" y="7708392"/>
              <a:ext cx="177393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195" name="&lt;suggestion&gt;...&lt;/suggestion&gt;"/>
            <p:cNvSpPr txBox="1"/>
            <p:nvPr/>
          </p:nvSpPr>
          <p:spPr>
            <a:xfrm>
              <a:off x="4809744" y="7891272"/>
              <a:ext cx="1783080" cy="209633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196" name="Correct indicator"/>
            <p:cNvSpPr/>
            <p:nvPr/>
          </p:nvSpPr>
          <p:spPr>
            <a:xfrm>
              <a:off x="6181344" y="7763256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Check mark"/>
            <p:cNvSpPr/>
            <p:nvPr/>
          </p:nvSpPr>
          <p:spPr>
            <a:xfrm>
              <a:off x="6212616" y="7798918"/>
              <a:ext cx="51572" cy="37856"/>
            </a:xfrm>
            <a:custGeom>
              <a:avLst/>
              <a:gdLst/>
              <a:ahLst/>
              <a:cxnLst/>
              <a:rect l="0" t="0" r="r" b="b"/>
              <a:pathLst>
                <a:path w="51572" h="37856" fill="none">
                  <a:moveTo>
                    <a:pt x="0" y="19202"/>
                  </a:moveTo>
                  <a:lnTo>
                    <a:pt x="19202" y="37856"/>
                  </a:lnTo>
                  <a:lnTo>
                    <a:pt x="51572" y="0"/>
                  </a:lnTo>
                </a:path>
              </a:pathLst>
            </a:custGeom>
            <a:noFill/>
            <a:ln w="7315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Correct indicator"/>
            <p:cNvSpPr/>
            <p:nvPr/>
          </p:nvSpPr>
          <p:spPr>
            <a:xfrm>
              <a:off x="6510528" y="7927848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Check mark"/>
            <p:cNvSpPr/>
            <p:nvPr/>
          </p:nvSpPr>
          <p:spPr>
            <a:xfrm>
              <a:off x="6541800" y="7963510"/>
              <a:ext cx="51572" cy="37856"/>
            </a:xfrm>
            <a:custGeom>
              <a:avLst/>
              <a:gdLst/>
              <a:ahLst/>
              <a:cxnLst/>
              <a:rect l="0" t="0" r="r" b="b"/>
              <a:pathLst>
                <a:path w="51572" h="37856" fill="none">
                  <a:moveTo>
                    <a:pt x="0" y="19202"/>
                  </a:moveTo>
                  <a:lnTo>
                    <a:pt x="19202" y="37856"/>
                  </a:lnTo>
                  <a:lnTo>
                    <a:pt x="51572" y="0"/>
                  </a:lnTo>
                </a:path>
              </a:pathLst>
            </a:custGeom>
            <a:noFill/>
            <a:ln w="7315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Rectangle"/>
            <p:cNvSpPr/>
            <p:nvPr/>
          </p:nvSpPr>
          <p:spPr>
            <a:xfrm>
              <a:off x="7004304" y="7498080"/>
              <a:ext cx="1938528" cy="585216"/>
            </a:xfrm>
            <a:prstGeom prst="rect">
              <a:avLst/>
            </a:prstGeom>
            <a:solidFill>
              <a:srgbClr val="FFFFFF"/>
            </a:solidFill>
            <a:ln w="10058" cap="rnd">
              <a:solidFill>
                <a:srgbClr val="72AC4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&lt;thinking&gt;...&lt;/thinking&gt;"/>
            <p:cNvSpPr txBox="1"/>
            <p:nvPr/>
          </p:nvSpPr>
          <p:spPr>
            <a:xfrm>
              <a:off x="7050024" y="7516368"/>
              <a:ext cx="186537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&lt;thinking&gt;...&lt;/thinking&gt;</a:t>
              </a:r>
            </a:p>
          </p:txBody>
        </p:sp>
        <p:sp>
          <p:nvSpPr>
            <p:cNvPr id="202" name="&lt;score&gt;...&lt;/score&gt;"/>
            <p:cNvSpPr txBox="1"/>
            <p:nvPr/>
          </p:nvSpPr>
          <p:spPr>
            <a:xfrm>
              <a:off x="7050024" y="7708392"/>
              <a:ext cx="1856232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203" name="&lt;suggestion&gt;...&lt;/suggestion&gt;"/>
            <p:cNvSpPr txBox="1"/>
            <p:nvPr/>
          </p:nvSpPr>
          <p:spPr>
            <a:xfrm>
              <a:off x="7050024" y="7891272"/>
              <a:ext cx="1865376" cy="21168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6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204" name="Correct indicator"/>
            <p:cNvSpPr/>
            <p:nvPr/>
          </p:nvSpPr>
          <p:spPr>
            <a:xfrm>
              <a:off x="8503920" y="7763256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Check mark"/>
            <p:cNvSpPr/>
            <p:nvPr/>
          </p:nvSpPr>
          <p:spPr>
            <a:xfrm>
              <a:off x="8535192" y="7798918"/>
              <a:ext cx="51572" cy="37856"/>
            </a:xfrm>
            <a:custGeom>
              <a:avLst/>
              <a:gdLst/>
              <a:ahLst/>
              <a:cxnLst/>
              <a:rect l="0" t="0" r="r" b="b"/>
              <a:pathLst>
                <a:path w="51572" h="37856" fill="none">
                  <a:moveTo>
                    <a:pt x="0" y="19202"/>
                  </a:moveTo>
                  <a:lnTo>
                    <a:pt x="19202" y="37856"/>
                  </a:lnTo>
                  <a:lnTo>
                    <a:pt x="51572" y="0"/>
                  </a:lnTo>
                </a:path>
              </a:pathLst>
            </a:custGeom>
            <a:noFill/>
            <a:ln w="7315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Correct indicator"/>
            <p:cNvSpPr/>
            <p:nvPr/>
          </p:nvSpPr>
          <p:spPr>
            <a:xfrm>
              <a:off x="8833104" y="7927848"/>
              <a:ext cx="109728" cy="109728"/>
            </a:xfrm>
            <a:prstGeom prst="ellipse">
              <a:avLst/>
            </a:prstGeom>
            <a:solidFill>
              <a:srgbClr val="FFFFFF"/>
            </a:solidFill>
            <a:ln w="8229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Check mark"/>
            <p:cNvSpPr/>
            <p:nvPr/>
          </p:nvSpPr>
          <p:spPr>
            <a:xfrm>
              <a:off x="8864376" y="7963510"/>
              <a:ext cx="51572" cy="37856"/>
            </a:xfrm>
            <a:custGeom>
              <a:avLst/>
              <a:gdLst/>
              <a:ahLst/>
              <a:cxnLst/>
              <a:rect l="0" t="0" r="r" b="b"/>
              <a:pathLst>
                <a:path w="51572" h="37856" fill="none">
                  <a:moveTo>
                    <a:pt x="0" y="19202"/>
                  </a:moveTo>
                  <a:lnTo>
                    <a:pt x="19202" y="37856"/>
                  </a:lnTo>
                  <a:lnTo>
                    <a:pt x="51572" y="0"/>
                  </a:lnTo>
                </a:path>
              </a:pathLst>
            </a:custGeom>
            <a:noFill/>
            <a:ln w="7315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Ellipsis dot"/>
            <p:cNvSpPr/>
            <p:nvPr/>
          </p:nvSpPr>
          <p:spPr>
            <a:xfrm>
              <a:off x="6749186" y="7718450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Ellipsis dot"/>
            <p:cNvSpPr/>
            <p:nvPr/>
          </p:nvSpPr>
          <p:spPr>
            <a:xfrm>
              <a:off x="6813194" y="7718450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Ellipsis dot"/>
            <p:cNvSpPr/>
            <p:nvPr/>
          </p:nvSpPr>
          <p:spPr>
            <a:xfrm>
              <a:off x="6877202" y="7718450"/>
              <a:ext cx="34747" cy="34747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Selected response badge"/>
            <p:cNvSpPr/>
            <p:nvPr/>
          </p:nvSpPr>
          <p:spPr>
            <a:xfrm>
              <a:off x="8257032" y="7342632"/>
              <a:ext cx="1005840" cy="237744"/>
            </a:xfrm>
            <a:prstGeom prst="roundRect">
              <a:avLst>
                <a:gd name="adj" fmla="val 50000"/>
              </a:avLst>
            </a:prstGeom>
            <a:solidFill>
              <a:srgbClr val="FFE9A1"/>
            </a:solidFill>
            <a:ln w="10972" cap="rnd">
              <a:solidFill>
                <a:srgbClr val="FFBD03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Ellipse"/>
            <p:cNvSpPr/>
            <p:nvPr/>
          </p:nvSpPr>
          <p:spPr>
            <a:xfrm>
              <a:off x="8339328" y="7370064"/>
              <a:ext cx="182880" cy="182880"/>
            </a:xfrm>
            <a:prstGeom prst="ellipse">
              <a:avLst/>
            </a:prstGeom>
            <a:solidFill>
              <a:srgbClr val="FFE386"/>
            </a:solidFill>
            <a:ln w="18288" cap="rnd">
              <a:solidFill>
                <a:srgbClr val="454A5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Ellipse"/>
            <p:cNvSpPr/>
            <p:nvPr/>
          </p:nvSpPr>
          <p:spPr>
            <a:xfrm>
              <a:off x="8394192" y="7434072"/>
              <a:ext cx="21946" cy="27432"/>
            </a:xfrm>
            <a:prstGeom prst="ellipse">
              <a:avLst/>
            </a:prstGeom>
            <a:solidFill>
              <a:srgbClr val="454A5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Ellipse"/>
            <p:cNvSpPr/>
            <p:nvPr/>
          </p:nvSpPr>
          <p:spPr>
            <a:xfrm>
              <a:off x="8449056" y="7434072"/>
              <a:ext cx="21946" cy="27432"/>
            </a:xfrm>
            <a:prstGeom prst="ellipse">
              <a:avLst/>
            </a:prstGeom>
            <a:solidFill>
              <a:srgbClr val="454A5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Curve"/>
            <p:cNvSpPr/>
            <p:nvPr/>
          </p:nvSpPr>
          <p:spPr>
            <a:xfrm>
              <a:off x="8389620" y="7475220"/>
              <a:ext cx="82296" cy="43891"/>
            </a:xfrm>
            <a:custGeom>
              <a:avLst/>
              <a:gdLst/>
              <a:ahLst/>
              <a:cxnLst/>
              <a:rect l="0" t="0" r="r" b="b"/>
              <a:pathLst>
                <a:path w="82296" h="43891" fill="none">
                  <a:moveTo>
                    <a:pt x="0" y="0"/>
                  </a:moveTo>
                  <a:cubicBezTo>
                    <a:pt x="22860" y="43891"/>
                    <a:pt x="59436" y="43891"/>
                    <a:pt x="82296" y="0"/>
                  </a:cubicBezTo>
                </a:path>
              </a:pathLst>
            </a:custGeom>
            <a:noFill/>
            <a:ln w="15544" cap="rnd">
              <a:solidFill>
                <a:srgbClr val="454A5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Select!"/>
            <p:cNvSpPr txBox="1"/>
            <p:nvPr/>
          </p:nvSpPr>
          <p:spPr>
            <a:xfrm>
              <a:off x="8622792" y="7351776"/>
              <a:ext cx="621792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0" i="0" u="none">
                  <a:solidFill>
                    <a:srgbClr val="080808"/>
                  </a:solidFill>
                  <a:latin typeface="Times New Roman"/>
                </a:rPr>
                <a:t>Select!</a:t>
              </a:r>
            </a:p>
          </p:txBody>
        </p:sp>
      </p:grpSp>
      <p:grpSp>
        <p:nvGrpSpPr>
          <p:cNvPr id="217" name="Prompt routing to reasoning models"/>
          <p:cNvGrpSpPr/>
          <p:nvPr/>
        </p:nvGrpSpPr>
        <p:grpSpPr>
          <a:xfrm>
            <a:off x="7132320" y="3493008"/>
            <a:ext cx="1650492" cy="493776"/>
            <a:chOff x="7132320" y="3493008"/>
            <a:chExt cx="1650492" cy="493776"/>
          </a:xfrm>
        </p:grpSpPr>
        <p:sp>
          <p:nvSpPr>
            <p:cNvPr id="218" name="Prompt"/>
            <p:cNvSpPr txBox="1"/>
            <p:nvPr/>
          </p:nvSpPr>
          <p:spPr>
            <a:xfrm>
              <a:off x="7132320" y="3493008"/>
              <a:ext cx="709746" cy="32461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80808"/>
                  </a:solidFill>
                  <a:latin typeface="Times New Roman"/>
                </a:rPr>
                <a:t>Prompt</a:t>
              </a:r>
            </a:p>
          </p:txBody>
        </p:sp>
        <p:sp>
          <p:nvSpPr>
            <p:cNvPr id="219" name="Arrow"/>
            <p:cNvSpPr/>
            <p:nvPr/>
          </p:nvSpPr>
          <p:spPr>
            <a:xfrm>
              <a:off x="7909560" y="3493008"/>
              <a:ext cx="91" cy="493776"/>
            </a:xfrm>
            <a:custGeom>
              <a:avLst/>
              <a:gdLst/>
              <a:ahLst/>
              <a:cxnLst/>
              <a:rect l="0" t="0" r="r" b="b"/>
              <a:pathLst>
                <a:path w="91" h="493776" fill="none">
                  <a:moveTo>
                    <a:pt x="0" y="0"/>
                  </a:moveTo>
                  <a:lnTo>
                    <a:pt x="0" y="493776"/>
                  </a:lnTo>
                </a:path>
              </a:pathLst>
            </a:custGeom>
            <a:noFill/>
            <a:ln w="18288" cap="rnd">
              <a:solidFill>
                <a:srgbClr val="08080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Arrow arrowhead"/>
            <p:cNvSpPr/>
            <p:nvPr/>
          </p:nvSpPr>
          <p:spPr>
            <a:xfrm>
              <a:off x="7832321" y="3851883"/>
              <a:ext cx="154478" cy="134901"/>
            </a:xfrm>
            <a:custGeom>
              <a:avLst/>
              <a:gdLst/>
              <a:ahLst/>
              <a:cxnLst/>
              <a:rect l="0" t="0" r="r" b="b"/>
              <a:pathLst>
                <a:path w="154478" h="134901" fill="none">
                  <a:moveTo>
                    <a:pt x="0" y="0"/>
                  </a:moveTo>
                  <a:lnTo>
                    <a:pt x="77239" y="134901"/>
                  </a:lnTo>
                  <a:lnTo>
                    <a:pt x="154478" y="0"/>
                  </a:lnTo>
                </a:path>
              </a:pathLst>
            </a:custGeom>
            <a:noFill/>
            <a:ln w="18288" cap="rnd">
              <a:solidFill>
                <a:srgbClr val="08080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21" name="Qwen model logo"/>
            <p:cNvGrpSpPr/>
            <p:nvPr/>
          </p:nvGrpSpPr>
          <p:grpSpPr>
            <a:xfrm>
              <a:off x="8023174" y="3533470"/>
              <a:ext cx="304038" cy="312725"/>
              <a:chOff x="8023174" y="3533470"/>
              <a:chExt cx="304038" cy="312725"/>
            </a:xfrm>
          </p:grpSpPr>
          <p:sp>
            <p:nvSpPr>
              <p:cNvPr id="222" name="Qwen logo vector outline"/>
              <p:cNvSpPr/>
              <p:nvPr/>
            </p:nvSpPr>
            <p:spPr>
              <a:xfrm>
                <a:off x="8023174" y="3533470"/>
                <a:ext cx="304038" cy="312725"/>
              </a:xfrm>
              <a:custGeom>
                <a:avLst/>
                <a:gdLst/>
                <a:ahLst/>
                <a:cxnLst/>
                <a:rect l="0" t="0" r="r" b="b"/>
                <a:pathLst>
                  <a:path w="304038" h="312725">
                    <a:moveTo>
                      <a:pt x="260604" y="130302"/>
                    </a:moveTo>
                    <a:lnTo>
                      <a:pt x="286664" y="156362"/>
                    </a:lnTo>
                    <a:lnTo>
                      <a:pt x="286664" y="165049"/>
                    </a:lnTo>
                    <a:lnTo>
                      <a:pt x="304038" y="191110"/>
                    </a:lnTo>
                    <a:lnTo>
                      <a:pt x="295351" y="199796"/>
                    </a:lnTo>
                    <a:lnTo>
                      <a:pt x="269291" y="199796"/>
                    </a:lnTo>
                    <a:lnTo>
                      <a:pt x="251917" y="182423"/>
                    </a:lnTo>
                    <a:lnTo>
                      <a:pt x="251917" y="173736"/>
                    </a:lnTo>
                    <a:lnTo>
                      <a:pt x="243230" y="165049"/>
                    </a:lnTo>
                    <a:lnTo>
                      <a:pt x="234544" y="165049"/>
                    </a:lnTo>
                    <a:lnTo>
                      <a:pt x="234544" y="173736"/>
                    </a:lnTo>
                    <a:lnTo>
                      <a:pt x="225857" y="182423"/>
                    </a:lnTo>
                    <a:lnTo>
                      <a:pt x="225857" y="191110"/>
                    </a:lnTo>
                    <a:lnTo>
                      <a:pt x="217170" y="199796"/>
                    </a:lnTo>
                    <a:lnTo>
                      <a:pt x="217170" y="208483"/>
                    </a:lnTo>
                    <a:lnTo>
                      <a:pt x="199796" y="225857"/>
                    </a:lnTo>
                    <a:lnTo>
                      <a:pt x="199796" y="234544"/>
                    </a:lnTo>
                    <a:lnTo>
                      <a:pt x="191110" y="243230"/>
                    </a:lnTo>
                    <a:lnTo>
                      <a:pt x="191110" y="251917"/>
                    </a:lnTo>
                    <a:lnTo>
                      <a:pt x="182423" y="260604"/>
                    </a:lnTo>
                    <a:lnTo>
                      <a:pt x="182423" y="269291"/>
                    </a:lnTo>
                    <a:lnTo>
                      <a:pt x="173736" y="277978"/>
                    </a:lnTo>
                    <a:lnTo>
                      <a:pt x="173736" y="286664"/>
                    </a:lnTo>
                    <a:lnTo>
                      <a:pt x="156362" y="304038"/>
                    </a:lnTo>
                    <a:lnTo>
                      <a:pt x="138989" y="286664"/>
                    </a:lnTo>
                    <a:lnTo>
                      <a:pt x="138989" y="277978"/>
                    </a:lnTo>
                    <a:lnTo>
                      <a:pt x="130302" y="269291"/>
                    </a:lnTo>
                    <a:lnTo>
                      <a:pt x="147676" y="251917"/>
                    </a:lnTo>
                    <a:lnTo>
                      <a:pt x="147676" y="243230"/>
                    </a:lnTo>
                    <a:lnTo>
                      <a:pt x="156362" y="234544"/>
                    </a:lnTo>
                    <a:lnTo>
                      <a:pt x="156362" y="225857"/>
                    </a:lnTo>
                    <a:lnTo>
                      <a:pt x="173736" y="208483"/>
                    </a:lnTo>
                    <a:lnTo>
                      <a:pt x="173736" y="199796"/>
                    </a:lnTo>
                    <a:lnTo>
                      <a:pt x="182423" y="191110"/>
                    </a:lnTo>
                    <a:lnTo>
                      <a:pt x="182423" y="182423"/>
                    </a:lnTo>
                    <a:lnTo>
                      <a:pt x="191110" y="173736"/>
                    </a:lnTo>
                    <a:lnTo>
                      <a:pt x="191110" y="165049"/>
                    </a:lnTo>
                    <a:lnTo>
                      <a:pt x="199796" y="156362"/>
                    </a:lnTo>
                    <a:lnTo>
                      <a:pt x="199796" y="147676"/>
                    </a:lnTo>
                    <a:lnTo>
                      <a:pt x="217170" y="130302"/>
                    </a:lnTo>
                    <a:close/>
                    <a:moveTo>
                      <a:pt x="34747" y="78181"/>
                    </a:moveTo>
                    <a:lnTo>
                      <a:pt x="60808" y="78181"/>
                    </a:lnTo>
                    <a:lnTo>
                      <a:pt x="86868" y="104242"/>
                    </a:lnTo>
                    <a:lnTo>
                      <a:pt x="86868" y="112928"/>
                    </a:lnTo>
                    <a:lnTo>
                      <a:pt x="95555" y="121615"/>
                    </a:lnTo>
                    <a:lnTo>
                      <a:pt x="95555" y="130302"/>
                    </a:lnTo>
                    <a:lnTo>
                      <a:pt x="104242" y="138989"/>
                    </a:lnTo>
                    <a:lnTo>
                      <a:pt x="104242" y="147676"/>
                    </a:lnTo>
                    <a:lnTo>
                      <a:pt x="112928" y="156362"/>
                    </a:lnTo>
                    <a:lnTo>
                      <a:pt x="112928" y="165049"/>
                    </a:lnTo>
                    <a:lnTo>
                      <a:pt x="130302" y="182423"/>
                    </a:lnTo>
                    <a:lnTo>
                      <a:pt x="130302" y="191110"/>
                    </a:lnTo>
                    <a:lnTo>
                      <a:pt x="147676" y="217170"/>
                    </a:lnTo>
                    <a:lnTo>
                      <a:pt x="147676" y="234544"/>
                    </a:lnTo>
                    <a:lnTo>
                      <a:pt x="138989" y="243230"/>
                    </a:lnTo>
                    <a:lnTo>
                      <a:pt x="138989" y="251917"/>
                    </a:lnTo>
                    <a:lnTo>
                      <a:pt x="112928" y="277978"/>
                    </a:lnTo>
                    <a:lnTo>
                      <a:pt x="60808" y="277978"/>
                    </a:lnTo>
                    <a:lnTo>
                      <a:pt x="52121" y="269291"/>
                    </a:lnTo>
                    <a:lnTo>
                      <a:pt x="52121" y="260604"/>
                    </a:lnTo>
                    <a:lnTo>
                      <a:pt x="78181" y="234544"/>
                    </a:lnTo>
                    <a:lnTo>
                      <a:pt x="104242" y="234544"/>
                    </a:lnTo>
                    <a:lnTo>
                      <a:pt x="104242" y="217170"/>
                    </a:lnTo>
                    <a:lnTo>
                      <a:pt x="95555" y="208483"/>
                    </a:lnTo>
                    <a:lnTo>
                      <a:pt x="95555" y="199796"/>
                    </a:lnTo>
                    <a:lnTo>
                      <a:pt x="78181" y="182423"/>
                    </a:lnTo>
                    <a:lnTo>
                      <a:pt x="78181" y="173736"/>
                    </a:lnTo>
                    <a:lnTo>
                      <a:pt x="69494" y="165049"/>
                    </a:lnTo>
                    <a:lnTo>
                      <a:pt x="69494" y="156362"/>
                    </a:lnTo>
                    <a:lnTo>
                      <a:pt x="52121" y="138989"/>
                    </a:lnTo>
                    <a:lnTo>
                      <a:pt x="52121" y="130302"/>
                    </a:lnTo>
                    <a:lnTo>
                      <a:pt x="43434" y="121615"/>
                    </a:lnTo>
                    <a:lnTo>
                      <a:pt x="43434" y="112928"/>
                    </a:lnTo>
                    <a:lnTo>
                      <a:pt x="26060" y="86868"/>
                    </a:lnTo>
                    <a:close/>
                    <a:moveTo>
                      <a:pt x="78181" y="60808"/>
                    </a:moveTo>
                    <a:lnTo>
                      <a:pt x="86868" y="52121"/>
                    </a:lnTo>
                    <a:lnTo>
                      <a:pt x="86868" y="43434"/>
                    </a:lnTo>
                    <a:lnTo>
                      <a:pt x="95555" y="34747"/>
                    </a:lnTo>
                    <a:lnTo>
                      <a:pt x="95555" y="26060"/>
                    </a:lnTo>
                    <a:lnTo>
                      <a:pt x="112928" y="8687"/>
                    </a:lnTo>
                    <a:lnTo>
                      <a:pt x="130302" y="34747"/>
                    </a:lnTo>
                    <a:lnTo>
                      <a:pt x="130302" y="60808"/>
                    </a:lnTo>
                    <a:lnTo>
                      <a:pt x="121615" y="69494"/>
                    </a:lnTo>
                    <a:lnTo>
                      <a:pt x="121615" y="78181"/>
                    </a:lnTo>
                    <a:lnTo>
                      <a:pt x="269291" y="78181"/>
                    </a:lnTo>
                    <a:lnTo>
                      <a:pt x="277978" y="86868"/>
                    </a:lnTo>
                    <a:lnTo>
                      <a:pt x="277978" y="95555"/>
                    </a:lnTo>
                    <a:lnTo>
                      <a:pt x="260604" y="121615"/>
                    </a:lnTo>
                    <a:lnTo>
                      <a:pt x="104242" y="121615"/>
                    </a:lnTo>
                    <a:lnTo>
                      <a:pt x="95555" y="112928"/>
                    </a:lnTo>
                    <a:lnTo>
                      <a:pt x="95555" y="104242"/>
                    </a:lnTo>
                    <a:lnTo>
                      <a:pt x="78181" y="78181"/>
                    </a:lnTo>
                    <a:close/>
                    <a:moveTo>
                      <a:pt x="112928" y="0"/>
                    </a:moveTo>
                    <a:lnTo>
                      <a:pt x="104242" y="8687"/>
                    </a:lnTo>
                    <a:lnTo>
                      <a:pt x="104242" y="17374"/>
                    </a:lnTo>
                    <a:lnTo>
                      <a:pt x="95555" y="26060"/>
                    </a:lnTo>
                    <a:lnTo>
                      <a:pt x="95555" y="34747"/>
                    </a:lnTo>
                    <a:lnTo>
                      <a:pt x="78181" y="52121"/>
                    </a:lnTo>
                    <a:lnTo>
                      <a:pt x="78181" y="60808"/>
                    </a:lnTo>
                    <a:lnTo>
                      <a:pt x="60808" y="78181"/>
                    </a:lnTo>
                    <a:lnTo>
                      <a:pt x="26060" y="78181"/>
                    </a:lnTo>
                    <a:lnTo>
                      <a:pt x="17374" y="86868"/>
                    </a:lnTo>
                    <a:lnTo>
                      <a:pt x="17374" y="95555"/>
                    </a:lnTo>
                    <a:lnTo>
                      <a:pt x="0" y="121615"/>
                    </a:lnTo>
                    <a:lnTo>
                      <a:pt x="8687" y="130302"/>
                    </a:lnTo>
                    <a:lnTo>
                      <a:pt x="8687" y="138989"/>
                    </a:lnTo>
                    <a:lnTo>
                      <a:pt x="17374" y="147676"/>
                    </a:lnTo>
                    <a:lnTo>
                      <a:pt x="17374" y="156362"/>
                    </a:lnTo>
                    <a:lnTo>
                      <a:pt x="26060" y="165049"/>
                    </a:lnTo>
                    <a:lnTo>
                      <a:pt x="26060" y="173736"/>
                    </a:lnTo>
                    <a:lnTo>
                      <a:pt x="43434" y="191110"/>
                    </a:lnTo>
                    <a:lnTo>
                      <a:pt x="43434" y="199796"/>
                    </a:lnTo>
                    <a:lnTo>
                      <a:pt x="26060" y="225857"/>
                    </a:lnTo>
                    <a:lnTo>
                      <a:pt x="26060" y="243230"/>
                    </a:lnTo>
                    <a:lnTo>
                      <a:pt x="34747" y="251917"/>
                    </a:lnTo>
                    <a:lnTo>
                      <a:pt x="34747" y="260604"/>
                    </a:lnTo>
                    <a:lnTo>
                      <a:pt x="43434" y="269291"/>
                    </a:lnTo>
                    <a:lnTo>
                      <a:pt x="43434" y="277978"/>
                    </a:lnTo>
                    <a:lnTo>
                      <a:pt x="130302" y="277978"/>
                    </a:lnTo>
                    <a:lnTo>
                      <a:pt x="138989" y="286664"/>
                    </a:lnTo>
                    <a:lnTo>
                      <a:pt x="138989" y="295351"/>
                    </a:lnTo>
                    <a:lnTo>
                      <a:pt x="147676" y="304038"/>
                    </a:lnTo>
                    <a:lnTo>
                      <a:pt x="147676" y="312725"/>
                    </a:lnTo>
                    <a:lnTo>
                      <a:pt x="199796" y="312725"/>
                    </a:lnTo>
                    <a:lnTo>
                      <a:pt x="217170" y="295351"/>
                    </a:lnTo>
                    <a:lnTo>
                      <a:pt x="217170" y="277978"/>
                    </a:lnTo>
                    <a:lnTo>
                      <a:pt x="234544" y="260604"/>
                    </a:lnTo>
                    <a:lnTo>
                      <a:pt x="234544" y="251917"/>
                    </a:lnTo>
                    <a:lnTo>
                      <a:pt x="243230" y="243230"/>
                    </a:lnTo>
                    <a:lnTo>
                      <a:pt x="277978" y="243230"/>
                    </a:lnTo>
                    <a:lnTo>
                      <a:pt x="295351" y="225857"/>
                    </a:lnTo>
                    <a:lnTo>
                      <a:pt x="295351" y="217170"/>
                    </a:lnTo>
                    <a:lnTo>
                      <a:pt x="304038" y="208483"/>
                    </a:lnTo>
                    <a:lnTo>
                      <a:pt x="304038" y="182423"/>
                    </a:lnTo>
                    <a:lnTo>
                      <a:pt x="269291" y="130302"/>
                    </a:lnTo>
                    <a:lnTo>
                      <a:pt x="269291" y="112928"/>
                    </a:lnTo>
                    <a:lnTo>
                      <a:pt x="277978" y="104242"/>
                    </a:lnTo>
                    <a:lnTo>
                      <a:pt x="277978" y="95555"/>
                    </a:lnTo>
                    <a:lnTo>
                      <a:pt x="286664" y="86868"/>
                    </a:lnTo>
                    <a:lnTo>
                      <a:pt x="286664" y="78181"/>
                    </a:lnTo>
                    <a:lnTo>
                      <a:pt x="277978" y="69494"/>
                    </a:lnTo>
                    <a:lnTo>
                      <a:pt x="277978" y="60808"/>
                    </a:lnTo>
                    <a:lnTo>
                      <a:pt x="269291" y="52121"/>
                    </a:lnTo>
                    <a:lnTo>
                      <a:pt x="269291" y="43434"/>
                    </a:lnTo>
                    <a:lnTo>
                      <a:pt x="182423" y="43434"/>
                    </a:lnTo>
                    <a:lnTo>
                      <a:pt x="173736" y="34747"/>
                    </a:lnTo>
                    <a:lnTo>
                      <a:pt x="173736" y="26060"/>
                    </a:lnTo>
                    <a:lnTo>
                      <a:pt x="156362" y="8687"/>
                    </a:lnTo>
                    <a:lnTo>
                      <a:pt x="147676" y="8687"/>
                    </a:lnTo>
                    <a:lnTo>
                      <a:pt x="138989" y="0"/>
                    </a:lnTo>
                    <a:close/>
                  </a:path>
                </a:pathLst>
              </a:custGeom>
              <a:solidFill>
                <a:srgbClr val="7C4E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3" name="OpenAI model logo"/>
            <p:cNvGrpSpPr/>
            <p:nvPr/>
          </p:nvGrpSpPr>
          <p:grpSpPr>
            <a:xfrm>
              <a:off x="8462772" y="3534156"/>
              <a:ext cx="320040" cy="320040"/>
              <a:chOff x="8462772" y="3534156"/>
              <a:chExt cx="320040" cy="320040"/>
            </a:xfrm>
          </p:grpSpPr>
          <p:sp>
            <p:nvSpPr>
              <p:cNvPr id="224" name="OpenAI logo vector outline"/>
              <p:cNvSpPr/>
              <p:nvPr/>
            </p:nvSpPr>
            <p:spPr>
              <a:xfrm>
                <a:off x="8462772" y="3534156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320040" h="320040">
                    <a:moveTo>
                      <a:pt x="201168" y="201168"/>
                    </a:moveTo>
                    <a:lnTo>
                      <a:pt x="201168" y="228600"/>
                    </a:lnTo>
                    <a:lnTo>
                      <a:pt x="192024" y="237744"/>
                    </a:lnTo>
                    <a:lnTo>
                      <a:pt x="182880" y="237744"/>
                    </a:lnTo>
                    <a:lnTo>
                      <a:pt x="164592" y="256032"/>
                    </a:lnTo>
                    <a:lnTo>
                      <a:pt x="155448" y="256032"/>
                    </a:lnTo>
                    <a:lnTo>
                      <a:pt x="146304" y="265176"/>
                    </a:lnTo>
                    <a:lnTo>
                      <a:pt x="137160" y="265176"/>
                    </a:lnTo>
                    <a:lnTo>
                      <a:pt x="109728" y="283464"/>
                    </a:lnTo>
                    <a:lnTo>
                      <a:pt x="91440" y="283464"/>
                    </a:lnTo>
                    <a:lnTo>
                      <a:pt x="82296" y="274320"/>
                    </a:lnTo>
                    <a:lnTo>
                      <a:pt x="64008" y="274320"/>
                    </a:lnTo>
                    <a:lnTo>
                      <a:pt x="36576" y="246888"/>
                    </a:lnTo>
                    <a:lnTo>
                      <a:pt x="36576" y="228600"/>
                    </a:lnTo>
                    <a:lnTo>
                      <a:pt x="27432" y="219456"/>
                    </a:lnTo>
                    <a:lnTo>
                      <a:pt x="45720" y="201168"/>
                    </a:lnTo>
                    <a:lnTo>
                      <a:pt x="64008" y="219456"/>
                    </a:lnTo>
                    <a:lnTo>
                      <a:pt x="73152" y="219456"/>
                    </a:lnTo>
                    <a:lnTo>
                      <a:pt x="100584" y="237744"/>
                    </a:lnTo>
                    <a:lnTo>
                      <a:pt x="118872" y="237744"/>
                    </a:lnTo>
                    <a:lnTo>
                      <a:pt x="128016" y="228600"/>
                    </a:lnTo>
                    <a:lnTo>
                      <a:pt x="137160" y="228600"/>
                    </a:lnTo>
                    <a:lnTo>
                      <a:pt x="146304" y="219456"/>
                    </a:lnTo>
                    <a:lnTo>
                      <a:pt x="155448" y="219456"/>
                    </a:lnTo>
                    <a:lnTo>
                      <a:pt x="173736" y="201168"/>
                    </a:lnTo>
                    <a:lnTo>
                      <a:pt x="182880" y="201168"/>
                    </a:lnTo>
                    <a:lnTo>
                      <a:pt x="192024" y="192024"/>
                    </a:lnTo>
                    <a:close/>
                    <a:moveTo>
                      <a:pt x="219456" y="146304"/>
                    </a:moveTo>
                    <a:lnTo>
                      <a:pt x="246888" y="173736"/>
                    </a:lnTo>
                    <a:lnTo>
                      <a:pt x="246888" y="246888"/>
                    </a:lnTo>
                    <a:lnTo>
                      <a:pt x="237744" y="256032"/>
                    </a:lnTo>
                    <a:lnTo>
                      <a:pt x="237744" y="274320"/>
                    </a:lnTo>
                    <a:lnTo>
                      <a:pt x="219456" y="292608"/>
                    </a:lnTo>
                    <a:lnTo>
                      <a:pt x="210312" y="292608"/>
                    </a:lnTo>
                    <a:lnTo>
                      <a:pt x="201168" y="301752"/>
                    </a:lnTo>
                    <a:lnTo>
                      <a:pt x="182880" y="301752"/>
                    </a:lnTo>
                    <a:lnTo>
                      <a:pt x="173736" y="310896"/>
                    </a:lnTo>
                    <a:lnTo>
                      <a:pt x="164592" y="301752"/>
                    </a:lnTo>
                    <a:lnTo>
                      <a:pt x="146304" y="301752"/>
                    </a:lnTo>
                    <a:lnTo>
                      <a:pt x="137160" y="292608"/>
                    </a:lnTo>
                    <a:lnTo>
                      <a:pt x="137160" y="283464"/>
                    </a:lnTo>
                    <a:lnTo>
                      <a:pt x="146304" y="274320"/>
                    </a:lnTo>
                    <a:lnTo>
                      <a:pt x="155448" y="274320"/>
                    </a:lnTo>
                    <a:lnTo>
                      <a:pt x="164592" y="265176"/>
                    </a:lnTo>
                    <a:lnTo>
                      <a:pt x="173736" y="265176"/>
                    </a:lnTo>
                    <a:lnTo>
                      <a:pt x="201168" y="246888"/>
                    </a:lnTo>
                    <a:lnTo>
                      <a:pt x="201168" y="164592"/>
                    </a:lnTo>
                    <a:close/>
                    <a:moveTo>
                      <a:pt x="146304" y="118872"/>
                    </a:moveTo>
                    <a:lnTo>
                      <a:pt x="173736" y="118872"/>
                    </a:lnTo>
                    <a:lnTo>
                      <a:pt x="201168" y="146304"/>
                    </a:lnTo>
                    <a:lnTo>
                      <a:pt x="201168" y="173736"/>
                    </a:lnTo>
                    <a:lnTo>
                      <a:pt x="173736" y="201168"/>
                    </a:lnTo>
                    <a:lnTo>
                      <a:pt x="146304" y="201168"/>
                    </a:lnTo>
                    <a:lnTo>
                      <a:pt x="118872" y="173736"/>
                    </a:lnTo>
                    <a:lnTo>
                      <a:pt x="118872" y="146304"/>
                    </a:lnTo>
                    <a:close/>
                    <a:moveTo>
                      <a:pt x="182880" y="100584"/>
                    </a:moveTo>
                    <a:lnTo>
                      <a:pt x="192024" y="100584"/>
                    </a:lnTo>
                    <a:lnTo>
                      <a:pt x="201168" y="91440"/>
                    </a:lnTo>
                    <a:lnTo>
                      <a:pt x="210312" y="91440"/>
                    </a:lnTo>
                    <a:lnTo>
                      <a:pt x="219456" y="100584"/>
                    </a:lnTo>
                    <a:lnTo>
                      <a:pt x="228600" y="100584"/>
                    </a:lnTo>
                    <a:lnTo>
                      <a:pt x="246888" y="118872"/>
                    </a:lnTo>
                    <a:lnTo>
                      <a:pt x="256032" y="118872"/>
                    </a:lnTo>
                    <a:lnTo>
                      <a:pt x="265176" y="128016"/>
                    </a:lnTo>
                    <a:lnTo>
                      <a:pt x="274320" y="128016"/>
                    </a:lnTo>
                    <a:lnTo>
                      <a:pt x="301752" y="155448"/>
                    </a:lnTo>
                    <a:lnTo>
                      <a:pt x="301752" y="210312"/>
                    </a:lnTo>
                    <a:lnTo>
                      <a:pt x="283464" y="237744"/>
                    </a:lnTo>
                    <a:lnTo>
                      <a:pt x="274320" y="237744"/>
                    </a:lnTo>
                    <a:lnTo>
                      <a:pt x="265176" y="246888"/>
                    </a:lnTo>
                    <a:lnTo>
                      <a:pt x="256032" y="237744"/>
                    </a:lnTo>
                    <a:lnTo>
                      <a:pt x="256032" y="164592"/>
                    </a:lnTo>
                    <a:lnTo>
                      <a:pt x="246888" y="155448"/>
                    </a:lnTo>
                    <a:lnTo>
                      <a:pt x="237744" y="155448"/>
                    </a:lnTo>
                    <a:lnTo>
                      <a:pt x="219456" y="137160"/>
                    </a:lnTo>
                    <a:lnTo>
                      <a:pt x="210312" y="137160"/>
                    </a:lnTo>
                    <a:lnTo>
                      <a:pt x="201168" y="128016"/>
                    </a:lnTo>
                    <a:lnTo>
                      <a:pt x="192024" y="128016"/>
                    </a:lnTo>
                    <a:lnTo>
                      <a:pt x="173736" y="109728"/>
                    </a:lnTo>
                    <a:close/>
                    <a:moveTo>
                      <a:pt x="36576" y="82296"/>
                    </a:moveTo>
                    <a:lnTo>
                      <a:pt x="45720" y="82296"/>
                    </a:lnTo>
                    <a:lnTo>
                      <a:pt x="54864" y="73152"/>
                    </a:lnTo>
                    <a:lnTo>
                      <a:pt x="64008" y="82296"/>
                    </a:lnTo>
                    <a:lnTo>
                      <a:pt x="64008" y="155448"/>
                    </a:lnTo>
                    <a:lnTo>
                      <a:pt x="73152" y="164592"/>
                    </a:lnTo>
                    <a:lnTo>
                      <a:pt x="82296" y="164592"/>
                    </a:lnTo>
                    <a:lnTo>
                      <a:pt x="100584" y="182880"/>
                    </a:lnTo>
                    <a:lnTo>
                      <a:pt x="109728" y="182880"/>
                    </a:lnTo>
                    <a:lnTo>
                      <a:pt x="118872" y="192024"/>
                    </a:lnTo>
                    <a:lnTo>
                      <a:pt x="128016" y="192024"/>
                    </a:lnTo>
                    <a:lnTo>
                      <a:pt x="146304" y="210312"/>
                    </a:lnTo>
                    <a:lnTo>
                      <a:pt x="128016" y="228600"/>
                    </a:lnTo>
                    <a:lnTo>
                      <a:pt x="109728" y="228600"/>
                    </a:lnTo>
                    <a:lnTo>
                      <a:pt x="100584" y="219456"/>
                    </a:lnTo>
                    <a:lnTo>
                      <a:pt x="91440" y="219456"/>
                    </a:lnTo>
                    <a:lnTo>
                      <a:pt x="73152" y="201168"/>
                    </a:lnTo>
                    <a:lnTo>
                      <a:pt x="64008" y="201168"/>
                    </a:lnTo>
                    <a:lnTo>
                      <a:pt x="54864" y="192024"/>
                    </a:lnTo>
                    <a:lnTo>
                      <a:pt x="45720" y="192024"/>
                    </a:lnTo>
                    <a:lnTo>
                      <a:pt x="18288" y="164592"/>
                    </a:lnTo>
                    <a:lnTo>
                      <a:pt x="18288" y="109728"/>
                    </a:lnTo>
                    <a:close/>
                    <a:moveTo>
                      <a:pt x="292608" y="100584"/>
                    </a:moveTo>
                    <a:lnTo>
                      <a:pt x="274320" y="118872"/>
                    </a:lnTo>
                    <a:lnTo>
                      <a:pt x="256032" y="100584"/>
                    </a:lnTo>
                    <a:lnTo>
                      <a:pt x="246888" y="100584"/>
                    </a:lnTo>
                    <a:lnTo>
                      <a:pt x="219456" y="82296"/>
                    </a:lnTo>
                    <a:lnTo>
                      <a:pt x="201168" y="82296"/>
                    </a:lnTo>
                    <a:lnTo>
                      <a:pt x="192024" y="91440"/>
                    </a:lnTo>
                    <a:lnTo>
                      <a:pt x="182880" y="91440"/>
                    </a:lnTo>
                    <a:lnTo>
                      <a:pt x="173736" y="100584"/>
                    </a:lnTo>
                    <a:lnTo>
                      <a:pt x="164592" y="100584"/>
                    </a:lnTo>
                    <a:lnTo>
                      <a:pt x="146304" y="118872"/>
                    </a:lnTo>
                    <a:lnTo>
                      <a:pt x="137160" y="118872"/>
                    </a:lnTo>
                    <a:lnTo>
                      <a:pt x="128016" y="128016"/>
                    </a:lnTo>
                    <a:lnTo>
                      <a:pt x="118872" y="118872"/>
                    </a:lnTo>
                    <a:lnTo>
                      <a:pt x="118872" y="91440"/>
                    </a:lnTo>
                    <a:lnTo>
                      <a:pt x="128016" y="82296"/>
                    </a:lnTo>
                    <a:lnTo>
                      <a:pt x="137160" y="82296"/>
                    </a:lnTo>
                    <a:lnTo>
                      <a:pt x="155448" y="64008"/>
                    </a:lnTo>
                    <a:lnTo>
                      <a:pt x="164592" y="64008"/>
                    </a:lnTo>
                    <a:lnTo>
                      <a:pt x="173736" y="54864"/>
                    </a:lnTo>
                    <a:lnTo>
                      <a:pt x="182880" y="54864"/>
                    </a:lnTo>
                    <a:lnTo>
                      <a:pt x="210312" y="36576"/>
                    </a:lnTo>
                    <a:lnTo>
                      <a:pt x="228600" y="36576"/>
                    </a:lnTo>
                    <a:lnTo>
                      <a:pt x="237744" y="45720"/>
                    </a:lnTo>
                    <a:lnTo>
                      <a:pt x="256032" y="45720"/>
                    </a:lnTo>
                    <a:lnTo>
                      <a:pt x="283464" y="73152"/>
                    </a:lnTo>
                    <a:lnTo>
                      <a:pt x="283464" y="91440"/>
                    </a:lnTo>
                    <a:close/>
                    <a:moveTo>
                      <a:pt x="173736" y="18288"/>
                    </a:moveTo>
                    <a:lnTo>
                      <a:pt x="182880" y="27432"/>
                    </a:lnTo>
                    <a:lnTo>
                      <a:pt x="182880" y="36576"/>
                    </a:lnTo>
                    <a:lnTo>
                      <a:pt x="173736" y="45720"/>
                    </a:lnTo>
                    <a:lnTo>
                      <a:pt x="164592" y="45720"/>
                    </a:lnTo>
                    <a:lnTo>
                      <a:pt x="155448" y="54864"/>
                    </a:lnTo>
                    <a:lnTo>
                      <a:pt x="146304" y="54864"/>
                    </a:lnTo>
                    <a:lnTo>
                      <a:pt x="137160" y="64008"/>
                    </a:lnTo>
                    <a:lnTo>
                      <a:pt x="128016" y="64008"/>
                    </a:lnTo>
                    <a:lnTo>
                      <a:pt x="109728" y="91440"/>
                    </a:lnTo>
                    <a:lnTo>
                      <a:pt x="118872" y="100584"/>
                    </a:lnTo>
                    <a:lnTo>
                      <a:pt x="109728" y="109728"/>
                    </a:lnTo>
                    <a:lnTo>
                      <a:pt x="118872" y="118872"/>
                    </a:lnTo>
                    <a:lnTo>
                      <a:pt x="118872" y="128016"/>
                    </a:lnTo>
                    <a:lnTo>
                      <a:pt x="109728" y="137160"/>
                    </a:lnTo>
                    <a:lnTo>
                      <a:pt x="109728" y="164592"/>
                    </a:lnTo>
                    <a:lnTo>
                      <a:pt x="100584" y="173736"/>
                    </a:lnTo>
                    <a:lnTo>
                      <a:pt x="91440" y="164592"/>
                    </a:lnTo>
                    <a:lnTo>
                      <a:pt x="82296" y="164592"/>
                    </a:lnTo>
                    <a:lnTo>
                      <a:pt x="73152" y="155448"/>
                    </a:lnTo>
                    <a:lnTo>
                      <a:pt x="73152" y="73152"/>
                    </a:lnTo>
                    <a:lnTo>
                      <a:pt x="82296" y="64008"/>
                    </a:lnTo>
                    <a:lnTo>
                      <a:pt x="82296" y="45720"/>
                    </a:lnTo>
                    <a:lnTo>
                      <a:pt x="100584" y="27432"/>
                    </a:lnTo>
                    <a:lnTo>
                      <a:pt x="109728" y="27432"/>
                    </a:lnTo>
                    <a:lnTo>
                      <a:pt x="118872" y="18288"/>
                    </a:lnTo>
                    <a:close/>
                    <a:moveTo>
                      <a:pt x="128016" y="0"/>
                    </a:moveTo>
                    <a:lnTo>
                      <a:pt x="118872" y="9144"/>
                    </a:lnTo>
                    <a:lnTo>
                      <a:pt x="100584" y="9144"/>
                    </a:lnTo>
                    <a:lnTo>
                      <a:pt x="73152" y="36576"/>
                    </a:lnTo>
                    <a:lnTo>
                      <a:pt x="73152" y="45720"/>
                    </a:lnTo>
                    <a:lnTo>
                      <a:pt x="54864" y="64008"/>
                    </a:lnTo>
                    <a:lnTo>
                      <a:pt x="45720" y="64008"/>
                    </a:lnTo>
                    <a:lnTo>
                      <a:pt x="18288" y="82296"/>
                    </a:lnTo>
                    <a:lnTo>
                      <a:pt x="18288" y="91440"/>
                    </a:lnTo>
                    <a:lnTo>
                      <a:pt x="0" y="118872"/>
                    </a:lnTo>
                    <a:lnTo>
                      <a:pt x="0" y="155448"/>
                    </a:lnTo>
                    <a:lnTo>
                      <a:pt x="18288" y="182880"/>
                    </a:lnTo>
                    <a:lnTo>
                      <a:pt x="18288" y="237744"/>
                    </a:lnTo>
                    <a:lnTo>
                      <a:pt x="27432" y="246888"/>
                    </a:lnTo>
                    <a:lnTo>
                      <a:pt x="27432" y="256032"/>
                    </a:lnTo>
                    <a:lnTo>
                      <a:pt x="54864" y="283464"/>
                    </a:lnTo>
                    <a:lnTo>
                      <a:pt x="64008" y="283464"/>
                    </a:lnTo>
                    <a:lnTo>
                      <a:pt x="73152" y="292608"/>
                    </a:lnTo>
                    <a:lnTo>
                      <a:pt x="118872" y="292608"/>
                    </a:lnTo>
                    <a:lnTo>
                      <a:pt x="137160" y="310896"/>
                    </a:lnTo>
                    <a:lnTo>
                      <a:pt x="146304" y="310896"/>
                    </a:lnTo>
                    <a:lnTo>
                      <a:pt x="155448" y="320040"/>
                    </a:lnTo>
                    <a:lnTo>
                      <a:pt x="192024" y="320040"/>
                    </a:lnTo>
                    <a:lnTo>
                      <a:pt x="201168" y="310896"/>
                    </a:lnTo>
                    <a:lnTo>
                      <a:pt x="219456" y="310896"/>
                    </a:lnTo>
                    <a:lnTo>
                      <a:pt x="246888" y="283464"/>
                    </a:lnTo>
                    <a:lnTo>
                      <a:pt x="246888" y="274320"/>
                    </a:lnTo>
                    <a:lnTo>
                      <a:pt x="265176" y="256032"/>
                    </a:lnTo>
                    <a:lnTo>
                      <a:pt x="274320" y="256032"/>
                    </a:lnTo>
                    <a:lnTo>
                      <a:pt x="301752" y="237744"/>
                    </a:lnTo>
                    <a:lnTo>
                      <a:pt x="301752" y="228600"/>
                    </a:lnTo>
                    <a:lnTo>
                      <a:pt x="320040" y="201168"/>
                    </a:lnTo>
                    <a:lnTo>
                      <a:pt x="320040" y="164592"/>
                    </a:lnTo>
                    <a:lnTo>
                      <a:pt x="301752" y="137160"/>
                    </a:lnTo>
                    <a:lnTo>
                      <a:pt x="301752" y="82296"/>
                    </a:lnTo>
                    <a:lnTo>
                      <a:pt x="292608" y="73152"/>
                    </a:lnTo>
                    <a:lnTo>
                      <a:pt x="292608" y="64008"/>
                    </a:lnTo>
                    <a:lnTo>
                      <a:pt x="265176" y="36576"/>
                    </a:lnTo>
                    <a:lnTo>
                      <a:pt x="256032" y="36576"/>
                    </a:lnTo>
                    <a:lnTo>
                      <a:pt x="246888" y="27432"/>
                    </a:lnTo>
                    <a:lnTo>
                      <a:pt x="201168" y="27432"/>
                    </a:lnTo>
                    <a:lnTo>
                      <a:pt x="182880" y="9144"/>
                    </a:lnTo>
                    <a:lnTo>
                      <a:pt x="173736" y="9144"/>
                    </a:lnTo>
                    <a:lnTo>
                      <a:pt x="164592" y="0"/>
                    </a:lnTo>
                    <a:close/>
                  </a:path>
                </a:pathLst>
              </a:custGeom>
              <a:solidFill>
                <a:srgbClr val="08080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25" name="RFT cold start: dataset"/>
          <p:cNvGrpSpPr/>
          <p:nvPr/>
        </p:nvGrpSpPr>
        <p:grpSpPr>
          <a:xfrm>
            <a:off x="9976104" y="704088"/>
            <a:ext cx="6428232" cy="2322576"/>
            <a:chOff x="9976104" y="704088"/>
            <a:chExt cx="6428232" cy="2322576"/>
          </a:xfrm>
        </p:grpSpPr>
        <p:sp>
          <p:nvSpPr>
            <p:cNvPr id="226" name="RFT Cold-Start"/>
            <p:cNvSpPr txBox="1"/>
            <p:nvPr/>
          </p:nvSpPr>
          <p:spPr>
            <a:xfrm>
              <a:off x="10030968" y="704088"/>
              <a:ext cx="1993392" cy="39593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 u="none">
                  <a:solidFill>
                    <a:srgbClr val="080808"/>
                  </a:solidFill>
                  <a:latin typeface="Times New Roman"/>
                </a:rPr>
                <a:t>RFT Cold-Start</a:t>
              </a:r>
            </a:p>
          </p:txBody>
        </p:sp>
        <p:sp>
          <p:nvSpPr>
            <p:cNvPr id="227" name="Rectangle"/>
            <p:cNvSpPr/>
            <p:nvPr/>
          </p:nvSpPr>
          <p:spPr>
            <a:xfrm>
              <a:off x="12006072" y="859536"/>
              <a:ext cx="4398264" cy="292608"/>
            </a:xfrm>
            <a:prstGeom prst="rect">
              <a:avLst/>
            </a:prstGeom>
            <a:solidFill>
              <a:srgbClr val="F2F2F2"/>
            </a:solidFill>
            <a:ln w="9144" cap="rnd">
              <a:solidFill>
                <a:srgbClr val="969696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Task Instruction; Operation History; Screenshot; Action"/>
            <p:cNvSpPr txBox="1"/>
            <p:nvPr/>
          </p:nvSpPr>
          <p:spPr>
            <a:xfrm>
              <a:off x="12051792" y="905256"/>
              <a:ext cx="4325112" cy="238131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6" b="0" i="0" u="none">
                  <a:solidFill>
                    <a:srgbClr val="080808"/>
                  </a:solidFill>
                  <a:latin typeface="Comic Sans MS"/>
                </a:rPr>
                <a:t>Task Instruction; Operation History; Screenshot; Action</a:t>
              </a:r>
            </a:p>
          </p:txBody>
        </p:sp>
        <p:sp>
          <p:nvSpPr>
            <p:cNvPr id="229" name="Rectangle"/>
            <p:cNvSpPr/>
            <p:nvPr/>
          </p:nvSpPr>
          <p:spPr>
            <a:xfrm>
              <a:off x="9976104" y="1252728"/>
              <a:ext cx="3831336" cy="1773936"/>
            </a:xfrm>
            <a:prstGeom prst="roundRect">
              <a:avLst>
                <a:gd name="adj" fmla="val 7731"/>
              </a:avLst>
            </a:prstGeom>
            <a:solidFill>
              <a:srgbClr val="EEF5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GUI-Critic Dataset"/>
            <p:cNvSpPr txBox="1"/>
            <p:nvPr/>
          </p:nvSpPr>
          <p:spPr>
            <a:xfrm>
              <a:off x="10872216" y="1271016"/>
              <a:ext cx="2185416" cy="30083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0" i="0" u="none">
                  <a:solidFill>
                    <a:srgbClr val="080808"/>
                  </a:solidFill>
                  <a:latin typeface="Times New Roman"/>
                </a:rPr>
                <a:t>GUI-Critic Dataset</a:t>
              </a:r>
            </a:p>
          </p:txBody>
        </p:sp>
        <p:sp>
          <p:nvSpPr>
            <p:cNvPr id="231" name="Critique dataset example"/>
            <p:cNvSpPr/>
            <p:nvPr/>
          </p:nvSpPr>
          <p:spPr>
            <a:xfrm>
              <a:off x="10104120" y="1682496"/>
              <a:ext cx="1591056" cy="374904"/>
            </a:xfrm>
            <a:prstGeom prst="rect">
              <a:avLst/>
            </a:prstGeom>
            <a:solidFill>
              <a:srgbClr val="FFF3C5"/>
            </a:solidFill>
            <a:ln w="8229" cap="rnd">
              <a:solidFill>
                <a:srgbClr val="FFBD0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&lt;score&gt;...&lt;/score&gt;"/>
            <p:cNvSpPr txBox="1"/>
            <p:nvPr/>
          </p:nvSpPr>
          <p:spPr>
            <a:xfrm>
              <a:off x="10177272" y="1709928"/>
              <a:ext cx="1481328" cy="19147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3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233" name="&lt;suggestion&gt;...&lt;/suggestion&gt;"/>
            <p:cNvSpPr txBox="1"/>
            <p:nvPr/>
          </p:nvSpPr>
          <p:spPr>
            <a:xfrm>
              <a:off x="10177272" y="1865376"/>
              <a:ext cx="1481328" cy="178473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4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234" name="Critique dataset example"/>
            <p:cNvSpPr/>
            <p:nvPr/>
          </p:nvSpPr>
          <p:spPr>
            <a:xfrm>
              <a:off x="10104120" y="2505456"/>
              <a:ext cx="1591056" cy="374904"/>
            </a:xfrm>
            <a:prstGeom prst="rect">
              <a:avLst/>
            </a:prstGeom>
            <a:solidFill>
              <a:srgbClr val="FFF3C5"/>
            </a:solidFill>
            <a:ln w="8229" cap="rnd">
              <a:solidFill>
                <a:srgbClr val="FFBD0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&lt;score&gt;...&lt;/score&gt;"/>
            <p:cNvSpPr txBox="1"/>
            <p:nvPr/>
          </p:nvSpPr>
          <p:spPr>
            <a:xfrm>
              <a:off x="10177272" y="2532888"/>
              <a:ext cx="1481328" cy="19147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3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236" name="&lt;suggestion&gt;...&lt;/suggestion&gt;"/>
            <p:cNvSpPr txBox="1"/>
            <p:nvPr/>
          </p:nvSpPr>
          <p:spPr>
            <a:xfrm>
              <a:off x="10177272" y="2688336"/>
              <a:ext cx="1481328" cy="178473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4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237" name="Reasoning dataset example"/>
            <p:cNvSpPr/>
            <p:nvPr/>
          </p:nvSpPr>
          <p:spPr>
            <a:xfrm>
              <a:off x="11987784" y="1636776"/>
              <a:ext cx="1655064" cy="484632"/>
            </a:xfrm>
            <a:prstGeom prst="rect">
              <a:avLst/>
            </a:prstGeom>
            <a:solidFill>
              <a:srgbClr val="E6EED8"/>
            </a:solidFill>
            <a:ln w="15544" cap="rnd">
              <a:solidFill>
                <a:srgbClr val="72AC4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&lt;thinking&gt;...&lt;/thinking&gt;"/>
            <p:cNvSpPr txBox="1"/>
            <p:nvPr/>
          </p:nvSpPr>
          <p:spPr>
            <a:xfrm>
              <a:off x="12070080" y="1655064"/>
              <a:ext cx="1545336" cy="18909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9" b="0" i="0" u="none">
                  <a:solidFill>
                    <a:srgbClr val="080808"/>
                  </a:solidFill>
                  <a:latin typeface="Comic Sans MS"/>
                </a:rPr>
                <a:t>&lt;thinking&gt;...&lt;/thinking&gt;</a:t>
              </a:r>
            </a:p>
          </p:txBody>
        </p:sp>
        <p:sp>
          <p:nvSpPr>
            <p:cNvPr id="239" name="&lt;score&gt;...&lt;/score&gt;"/>
            <p:cNvSpPr txBox="1"/>
            <p:nvPr/>
          </p:nvSpPr>
          <p:spPr>
            <a:xfrm>
              <a:off x="12070080" y="1801368"/>
              <a:ext cx="1545336" cy="18909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9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240" name="&lt;suggestion&gt;...&lt;/suggestion&gt;"/>
            <p:cNvSpPr txBox="1"/>
            <p:nvPr/>
          </p:nvSpPr>
          <p:spPr>
            <a:xfrm>
              <a:off x="12070080" y="1947672"/>
              <a:ext cx="1545336" cy="18508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4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241" name="Reasoning dataset example"/>
            <p:cNvSpPr/>
            <p:nvPr/>
          </p:nvSpPr>
          <p:spPr>
            <a:xfrm>
              <a:off x="11987784" y="2468880"/>
              <a:ext cx="1655064" cy="484632"/>
            </a:xfrm>
            <a:prstGeom prst="rect">
              <a:avLst/>
            </a:prstGeom>
            <a:solidFill>
              <a:srgbClr val="E6EED8"/>
            </a:solidFill>
            <a:ln w="15544" cap="rnd">
              <a:solidFill>
                <a:srgbClr val="72AC4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&lt;thinking&gt;...&lt;/thinking&gt;"/>
            <p:cNvSpPr txBox="1"/>
            <p:nvPr/>
          </p:nvSpPr>
          <p:spPr>
            <a:xfrm>
              <a:off x="12070080" y="2487168"/>
              <a:ext cx="1545336" cy="18909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9" b="0" i="0" u="none">
                  <a:solidFill>
                    <a:srgbClr val="080808"/>
                  </a:solidFill>
                  <a:latin typeface="Comic Sans MS"/>
                </a:rPr>
                <a:t>&lt;thinking&gt;...&lt;/thinking&gt;</a:t>
              </a:r>
            </a:p>
          </p:txBody>
        </p:sp>
        <p:sp>
          <p:nvSpPr>
            <p:cNvPr id="243" name="&lt;score&gt;...&lt;/score&gt;"/>
            <p:cNvSpPr txBox="1"/>
            <p:nvPr/>
          </p:nvSpPr>
          <p:spPr>
            <a:xfrm>
              <a:off x="12070080" y="2633472"/>
              <a:ext cx="1545336" cy="18909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79" b="0" i="0" u="none">
                  <a:solidFill>
                    <a:srgbClr val="080808"/>
                  </a:solidFill>
                  <a:latin typeface="Comic Sans MS"/>
                </a:rPr>
                <a:t>&lt;score&gt;...&lt;/score&gt;</a:t>
              </a:r>
            </a:p>
          </p:txBody>
        </p:sp>
        <p:sp>
          <p:nvSpPr>
            <p:cNvPr id="244" name="&lt;suggestion&gt;...&lt;/suggestion&gt;"/>
            <p:cNvSpPr txBox="1"/>
            <p:nvPr/>
          </p:nvSpPr>
          <p:spPr>
            <a:xfrm>
              <a:off x="12070080" y="2779776"/>
              <a:ext cx="1545336" cy="18508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4" b="0" i="0" u="none">
                  <a:solidFill>
                    <a:srgbClr val="080808"/>
                  </a:solidFill>
                  <a:latin typeface="Comic Sans MS"/>
                </a:rPr>
                <a:t>&lt;suggestion&gt;...&lt;/suggestion&gt;</a:t>
              </a:r>
            </a:p>
          </p:txBody>
        </p:sp>
        <p:sp>
          <p:nvSpPr>
            <p:cNvPr id="245" name="Ellipsis dot"/>
            <p:cNvSpPr/>
            <p:nvPr/>
          </p:nvSpPr>
          <p:spPr>
            <a:xfrm>
              <a:off x="10892333" y="2205533"/>
              <a:ext cx="32918" cy="32918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Ellipsis dot"/>
            <p:cNvSpPr/>
            <p:nvPr/>
          </p:nvSpPr>
          <p:spPr>
            <a:xfrm>
              <a:off x="10892333" y="2269541"/>
              <a:ext cx="32918" cy="32918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Ellipsis dot"/>
            <p:cNvSpPr/>
            <p:nvPr/>
          </p:nvSpPr>
          <p:spPr>
            <a:xfrm>
              <a:off x="10892333" y="2333549"/>
              <a:ext cx="32918" cy="32918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Ellipsis dot"/>
            <p:cNvSpPr/>
            <p:nvPr/>
          </p:nvSpPr>
          <p:spPr>
            <a:xfrm>
              <a:off x="12885725" y="2187245"/>
              <a:ext cx="32918" cy="32918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Ellipsis dot"/>
            <p:cNvSpPr/>
            <p:nvPr/>
          </p:nvSpPr>
          <p:spPr>
            <a:xfrm>
              <a:off x="12885725" y="2251253"/>
              <a:ext cx="32918" cy="32918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Ellipsis dot"/>
            <p:cNvSpPr/>
            <p:nvPr/>
          </p:nvSpPr>
          <p:spPr>
            <a:xfrm>
              <a:off x="12885725" y="2315261"/>
              <a:ext cx="32918" cy="32918"/>
            </a:xfrm>
            <a:prstGeom prst="ellipse">
              <a:avLst/>
            </a:prstGeom>
            <a:solidFill>
              <a:srgbClr val="08080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1" name="RFT model training flow"/>
          <p:cNvGrpSpPr/>
          <p:nvPr/>
        </p:nvGrpSpPr>
        <p:grpSpPr>
          <a:xfrm>
            <a:off x="13871448" y="1252728"/>
            <a:ext cx="3493008" cy="1783080"/>
            <a:chOff x="13871448" y="1252728"/>
            <a:chExt cx="3493008" cy="1783080"/>
          </a:xfrm>
        </p:grpSpPr>
        <p:sp>
          <p:nvSpPr>
            <p:cNvPr id="252" name="Down arrow"/>
            <p:cNvSpPr/>
            <p:nvPr/>
          </p:nvSpPr>
          <p:spPr>
            <a:xfrm>
              <a:off x="14273784" y="1380744"/>
              <a:ext cx="237744" cy="502920"/>
            </a:xfrm>
            <a:custGeom>
              <a:avLst/>
              <a:gdLst/>
              <a:ahLst/>
              <a:cxnLst/>
              <a:rect l="0" t="0" r="r" b="b"/>
              <a:pathLst>
                <a:path w="237744" h="502920">
                  <a:moveTo>
                    <a:pt x="76078" y="0"/>
                  </a:moveTo>
                  <a:lnTo>
                    <a:pt x="161666" y="0"/>
                  </a:lnTo>
                  <a:lnTo>
                    <a:pt x="161666" y="331927"/>
                  </a:lnTo>
                  <a:lnTo>
                    <a:pt x="237744" y="331927"/>
                  </a:lnTo>
                  <a:lnTo>
                    <a:pt x="118872" y="502920"/>
                  </a:lnTo>
                  <a:lnTo>
                    <a:pt x="0" y="331927"/>
                  </a:lnTo>
                  <a:lnTo>
                    <a:pt x="76078" y="331927"/>
                  </a:lnTo>
                  <a:close/>
                </a:path>
              </a:pathLst>
            </a:custGeom>
            <a:solidFill>
              <a:srgbClr val="9BC5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ight arrow"/>
            <p:cNvSpPr/>
            <p:nvPr/>
          </p:nvSpPr>
          <p:spPr>
            <a:xfrm>
              <a:off x="13871448" y="2194560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19456" h="219456">
                  <a:moveTo>
                    <a:pt x="0" y="59253"/>
                  </a:moveTo>
                  <a:lnTo>
                    <a:pt x="127284" y="59253"/>
                  </a:lnTo>
                  <a:lnTo>
                    <a:pt x="127284" y="0"/>
                  </a:lnTo>
                  <a:lnTo>
                    <a:pt x="219456" y="109728"/>
                  </a:lnTo>
                  <a:lnTo>
                    <a:pt x="127284" y="219456"/>
                  </a:lnTo>
                  <a:lnTo>
                    <a:pt x="127284" y="160203"/>
                  </a:lnTo>
                  <a:lnTo>
                    <a:pt x="0" y="160203"/>
                  </a:lnTo>
                  <a:close/>
                </a:path>
              </a:pathLst>
            </a:custGeom>
            <a:solidFill>
              <a:srgbClr val="9BC5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54" name="Robot model icon"/>
            <p:cNvGrpSpPr/>
            <p:nvPr/>
          </p:nvGrpSpPr>
          <p:grpSpPr>
            <a:xfrm>
              <a:off x="14145768" y="2011680"/>
              <a:ext cx="512064" cy="466344"/>
              <a:chOff x="14145768" y="2011680"/>
              <a:chExt cx="512064" cy="466344"/>
            </a:xfrm>
          </p:grpSpPr>
          <p:sp>
            <p:nvSpPr>
              <p:cNvPr id="255" name="Line"/>
              <p:cNvSpPr/>
              <p:nvPr/>
            </p:nvSpPr>
            <p:spPr>
              <a:xfrm>
                <a:off x="14401800" y="2057400"/>
                <a:ext cx="91" cy="82296"/>
              </a:xfrm>
              <a:custGeom>
                <a:avLst/>
                <a:gdLst/>
                <a:ahLst/>
                <a:cxnLst/>
                <a:rect l="0" t="0" r="r" b="b"/>
                <a:pathLst>
                  <a:path w="91" h="82296" fill="none">
                    <a:moveTo>
                      <a:pt x="0" y="82296"/>
                    </a:moveTo>
                    <a:lnTo>
                      <a:pt x="0" y="0"/>
                    </a:lnTo>
                  </a:path>
                </a:pathLst>
              </a:custGeom>
              <a:noFill/>
              <a:ln w="18288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Ellipse"/>
              <p:cNvSpPr/>
              <p:nvPr/>
            </p:nvSpPr>
            <p:spPr>
              <a:xfrm>
                <a:off x="14358823" y="2011680"/>
                <a:ext cx="85954" cy="85954"/>
              </a:xfrm>
              <a:prstGeom prst="ellipse">
                <a:avLst/>
              </a:prstGeom>
              <a:solidFill>
                <a:srgbClr val="ABC9E5"/>
              </a:solidFill>
              <a:ln w="15544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Rectangle"/>
              <p:cNvSpPr/>
              <p:nvPr/>
            </p:nvSpPr>
            <p:spPr>
              <a:xfrm>
                <a:off x="14145768" y="2231136"/>
                <a:ext cx="50292" cy="173736"/>
              </a:xfrm>
              <a:prstGeom prst="roundRect">
                <a:avLst>
                  <a:gd name="adj" fmla="val 36363"/>
                </a:avLst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Rectangle"/>
              <p:cNvSpPr/>
              <p:nvPr/>
            </p:nvSpPr>
            <p:spPr>
              <a:xfrm>
                <a:off x="14607540" y="2231136"/>
                <a:ext cx="50292" cy="173736"/>
              </a:xfrm>
              <a:prstGeom prst="roundRect">
                <a:avLst>
                  <a:gd name="adj" fmla="val 36363"/>
                </a:avLst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Rectangle"/>
              <p:cNvSpPr/>
              <p:nvPr/>
            </p:nvSpPr>
            <p:spPr>
              <a:xfrm>
                <a:off x="14182344" y="2130552"/>
                <a:ext cx="438912" cy="347472"/>
              </a:xfrm>
              <a:prstGeom prst="roundRect">
                <a:avLst>
                  <a:gd name="adj" fmla="val 42105"/>
                </a:avLst>
              </a:prstGeom>
              <a:solidFill>
                <a:srgbClr val="B8D1E7"/>
              </a:solidFill>
              <a:ln w="21031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Rectangle"/>
              <p:cNvSpPr/>
              <p:nvPr/>
            </p:nvSpPr>
            <p:spPr>
              <a:xfrm>
                <a:off x="14237208" y="2231136"/>
                <a:ext cx="329184" cy="17373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630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Ellipse"/>
              <p:cNvSpPr/>
              <p:nvPr/>
            </p:nvSpPr>
            <p:spPr>
              <a:xfrm>
                <a:off x="14292072" y="2276856"/>
                <a:ext cx="54864" cy="64008"/>
              </a:xfrm>
              <a:prstGeom prst="ellipse">
                <a:avLst/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Ellipse"/>
              <p:cNvSpPr/>
              <p:nvPr/>
            </p:nvSpPr>
            <p:spPr>
              <a:xfrm>
                <a:off x="14456664" y="2276856"/>
                <a:ext cx="54864" cy="64008"/>
              </a:xfrm>
              <a:prstGeom prst="ellipse">
                <a:avLst/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Line"/>
              <p:cNvSpPr/>
              <p:nvPr/>
            </p:nvSpPr>
            <p:spPr>
              <a:xfrm>
                <a:off x="14374368" y="2368296"/>
                <a:ext cx="54864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4864" h="91" fill="none">
                    <a:moveTo>
                      <a:pt x="0" y="0"/>
                    </a:moveTo>
                    <a:lnTo>
                      <a:pt x="54864" y="0"/>
                    </a:lnTo>
                  </a:path>
                </a:pathLst>
              </a:custGeom>
              <a:noFill/>
              <a:ln w="12801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Ellipse"/>
              <p:cNvSpPr/>
              <p:nvPr/>
            </p:nvSpPr>
            <p:spPr>
              <a:xfrm>
                <a:off x="14305788" y="2286000"/>
                <a:ext cx="15545" cy="1554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Ellipse"/>
              <p:cNvSpPr/>
              <p:nvPr/>
            </p:nvSpPr>
            <p:spPr>
              <a:xfrm>
                <a:off x="14470380" y="2286000"/>
                <a:ext cx="15545" cy="1554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6" name="Baseline"/>
            <p:cNvSpPr txBox="1"/>
            <p:nvPr/>
          </p:nvSpPr>
          <p:spPr>
            <a:xfrm>
              <a:off x="14036040" y="2496312"/>
              <a:ext cx="749808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0" i="0" u="none">
                  <a:solidFill>
                    <a:srgbClr val="080808"/>
                  </a:solidFill>
                  <a:latin typeface="Comic Sans MS"/>
                </a:rPr>
                <a:t>Baseline</a:t>
              </a:r>
            </a:p>
          </p:txBody>
        </p:sp>
        <p:sp>
          <p:nvSpPr>
            <p:cNvPr id="267" name="Model"/>
            <p:cNvSpPr txBox="1"/>
            <p:nvPr/>
          </p:nvSpPr>
          <p:spPr>
            <a:xfrm>
              <a:off x="14036040" y="2688336"/>
              <a:ext cx="749808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0" i="0" u="none">
                  <a:solidFill>
                    <a:srgbClr val="080808"/>
                  </a:solidFill>
                  <a:latin typeface="Comic Sans MS"/>
                </a:rPr>
                <a:t>Model</a:t>
              </a:r>
            </a:p>
          </p:txBody>
        </p:sp>
        <p:sp>
          <p:nvSpPr>
            <p:cNvPr id="268" name="Right arrow"/>
            <p:cNvSpPr/>
            <p:nvPr/>
          </p:nvSpPr>
          <p:spPr>
            <a:xfrm>
              <a:off x="14767560" y="2194560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19456" h="219456">
                  <a:moveTo>
                    <a:pt x="0" y="59253"/>
                  </a:moveTo>
                  <a:lnTo>
                    <a:pt x="127284" y="59253"/>
                  </a:lnTo>
                  <a:lnTo>
                    <a:pt x="127284" y="0"/>
                  </a:lnTo>
                  <a:lnTo>
                    <a:pt x="219456" y="109728"/>
                  </a:lnTo>
                  <a:lnTo>
                    <a:pt x="127284" y="219456"/>
                  </a:lnTo>
                  <a:lnTo>
                    <a:pt x="127284" y="160203"/>
                  </a:lnTo>
                  <a:lnTo>
                    <a:pt x="0" y="160203"/>
                  </a:lnTo>
                  <a:close/>
                </a:path>
              </a:pathLst>
            </a:custGeom>
            <a:solidFill>
              <a:srgbClr val="9BC5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inforcement fine tuning"/>
            <p:cNvSpPr/>
            <p:nvPr/>
          </p:nvSpPr>
          <p:spPr>
            <a:xfrm>
              <a:off x="15078456" y="1252728"/>
              <a:ext cx="1124712" cy="1783080"/>
            </a:xfrm>
            <a:prstGeom prst="roundRect">
              <a:avLst>
                <a:gd name="adj" fmla="val 50000"/>
              </a:avLst>
            </a:prstGeom>
            <a:solidFill>
              <a:srgbClr val="EDF4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Head silhouette"/>
            <p:cNvSpPr/>
            <p:nvPr/>
          </p:nvSpPr>
          <p:spPr>
            <a:xfrm>
              <a:off x="15389352" y="1316736"/>
              <a:ext cx="512064" cy="475488"/>
            </a:xfrm>
            <a:custGeom>
              <a:avLst/>
              <a:gdLst/>
              <a:ahLst/>
              <a:cxnLst/>
              <a:rect l="0" t="0" r="r" b="b"/>
              <a:pathLst>
                <a:path w="512064" h="475488">
                  <a:moveTo>
                    <a:pt x="109728" y="429768"/>
                  </a:moveTo>
                  <a:lnTo>
                    <a:pt x="118872" y="338328"/>
                  </a:lnTo>
                  <a:cubicBezTo>
                    <a:pt x="27432" y="310896"/>
                    <a:pt x="0" y="274320"/>
                    <a:pt x="54864" y="228600"/>
                  </a:cubicBezTo>
                  <a:cubicBezTo>
                    <a:pt x="9144" y="82296"/>
                    <a:pt x="137160" y="0"/>
                    <a:pt x="256032" y="27432"/>
                  </a:cubicBezTo>
                  <a:cubicBezTo>
                    <a:pt x="438912" y="27432"/>
                    <a:pt x="512064" y="155448"/>
                    <a:pt x="402336" y="320040"/>
                  </a:cubicBezTo>
                  <a:lnTo>
                    <a:pt x="374904" y="475488"/>
                  </a:lnTo>
                  <a:lnTo>
                    <a:pt x="118872" y="475488"/>
                  </a:lnTo>
                  <a:close/>
                </a:path>
              </a:pathLst>
            </a:custGeom>
            <a:solidFill>
              <a:srgbClr val="E8C3B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Ellipse"/>
            <p:cNvSpPr/>
            <p:nvPr/>
          </p:nvSpPr>
          <p:spPr>
            <a:xfrm>
              <a:off x="15517368" y="1389888"/>
              <a:ext cx="246888" cy="265176"/>
            </a:xfrm>
            <a:prstGeom prst="ellipse">
              <a:avLst/>
            </a:prstGeom>
            <a:solidFill>
              <a:srgbClr val="F0CDA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Ellipse"/>
            <p:cNvSpPr/>
            <p:nvPr/>
          </p:nvSpPr>
          <p:spPr>
            <a:xfrm>
              <a:off x="15553944" y="1417320"/>
              <a:ext cx="164592" cy="173736"/>
            </a:xfrm>
            <a:prstGeom prst="ellipse">
              <a:avLst/>
            </a:prstGeom>
            <a:solidFill>
              <a:srgbClr val="FFD65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"/>
            <p:cNvSpPr/>
            <p:nvPr/>
          </p:nvSpPr>
          <p:spPr>
            <a:xfrm>
              <a:off x="15617952" y="1572768"/>
              <a:ext cx="54864" cy="73152"/>
            </a:xfrm>
            <a:prstGeom prst="roundRect">
              <a:avLst>
                <a:gd name="adj" fmla="val 16666"/>
              </a:avLst>
            </a:prstGeom>
            <a:solidFill>
              <a:srgbClr val="C9A76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Line"/>
            <p:cNvSpPr/>
            <p:nvPr/>
          </p:nvSpPr>
          <p:spPr>
            <a:xfrm>
              <a:off x="15645384" y="1453896"/>
              <a:ext cx="91" cy="118872"/>
            </a:xfrm>
            <a:custGeom>
              <a:avLst/>
              <a:gdLst/>
              <a:ahLst/>
              <a:cxnLst/>
              <a:rect l="0" t="0" r="r" b="b"/>
              <a:pathLst>
                <a:path w="91" h="118872" fill="none">
                  <a:moveTo>
                    <a:pt x="0" y="0"/>
                  </a:moveTo>
                  <a:lnTo>
                    <a:pt x="0" y="118872"/>
                  </a:lnTo>
                </a:path>
              </a:pathLst>
            </a:custGeom>
            <a:noFill/>
            <a:ln w="9144" cap="rnd">
              <a:solidFill>
                <a:srgbClr val="FFF3A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Line"/>
            <p:cNvSpPr/>
            <p:nvPr/>
          </p:nvSpPr>
          <p:spPr>
            <a:xfrm>
              <a:off x="15599664" y="1472184"/>
              <a:ext cx="45720" cy="45720"/>
            </a:xfrm>
            <a:custGeom>
              <a:avLst/>
              <a:gdLst/>
              <a:ahLst/>
              <a:cxnLst/>
              <a:rect l="0" t="0" r="r" b="b"/>
              <a:pathLst>
                <a:path w="45720" h="45720" fill="none">
                  <a:moveTo>
                    <a:pt x="0" y="0"/>
                  </a:moveTo>
                  <a:lnTo>
                    <a:pt x="45720" y="45720"/>
                  </a:lnTo>
                </a:path>
              </a:pathLst>
            </a:custGeom>
            <a:noFill/>
            <a:ln w="7315" cap="rnd">
              <a:solidFill>
                <a:srgbClr val="FFF3A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Line"/>
            <p:cNvSpPr/>
            <p:nvPr/>
          </p:nvSpPr>
          <p:spPr>
            <a:xfrm>
              <a:off x="15645384" y="1472184"/>
              <a:ext cx="36576" cy="45720"/>
            </a:xfrm>
            <a:custGeom>
              <a:avLst/>
              <a:gdLst/>
              <a:ahLst/>
              <a:cxnLst/>
              <a:rect l="0" t="0" r="r" b="b"/>
              <a:pathLst>
                <a:path w="36576" h="45720" fill="none">
                  <a:moveTo>
                    <a:pt x="36576" y="0"/>
                  </a:moveTo>
                  <a:lnTo>
                    <a:pt x="0" y="45720"/>
                  </a:lnTo>
                </a:path>
              </a:pathLst>
            </a:custGeom>
            <a:noFill/>
            <a:ln w="7315" cap="rnd">
              <a:solidFill>
                <a:srgbClr val="FFF3A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inforced"/>
            <p:cNvSpPr txBox="1"/>
            <p:nvPr/>
          </p:nvSpPr>
          <p:spPr>
            <a:xfrm>
              <a:off x="15179040" y="1947672"/>
              <a:ext cx="950976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0" i="0" u="none">
                  <a:solidFill>
                    <a:srgbClr val="080808"/>
                  </a:solidFill>
                  <a:latin typeface="Comic Sans MS"/>
                </a:rPr>
                <a:t>Reinforced</a:t>
              </a:r>
            </a:p>
          </p:txBody>
        </p:sp>
        <p:sp>
          <p:nvSpPr>
            <p:cNvPr id="278" name="Fine-Tuning"/>
            <p:cNvSpPr txBox="1"/>
            <p:nvPr/>
          </p:nvSpPr>
          <p:spPr>
            <a:xfrm>
              <a:off x="15151608" y="2148840"/>
              <a:ext cx="1005840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0" i="0" u="none">
                  <a:solidFill>
                    <a:srgbClr val="080808"/>
                  </a:solidFill>
                  <a:latin typeface="Comic Sans MS"/>
                </a:rPr>
                <a:t>Fine-Tuning</a:t>
              </a:r>
            </a:p>
          </p:txBody>
        </p:sp>
        <p:sp>
          <p:nvSpPr>
            <p:cNvPr id="279" name="Fine tuning book outline"/>
            <p:cNvSpPr/>
            <p:nvPr/>
          </p:nvSpPr>
          <p:spPr>
            <a:xfrm>
              <a:off x="15435072" y="2569464"/>
              <a:ext cx="402336" cy="301752"/>
            </a:xfrm>
            <a:prstGeom prst="roundRect">
              <a:avLst>
                <a:gd name="adj" fmla="val 18181"/>
              </a:avLst>
            </a:prstGeom>
            <a:solidFill>
              <a:srgbClr val="BCD9FF"/>
            </a:solidFill>
            <a:ln w="27432" cap="rnd">
              <a:solidFill>
                <a:srgbClr val="0755CD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angle"/>
            <p:cNvSpPr/>
            <p:nvPr/>
          </p:nvSpPr>
          <p:spPr>
            <a:xfrm>
              <a:off x="15453360" y="2496312"/>
              <a:ext cx="173736" cy="329184"/>
            </a:xfrm>
            <a:prstGeom prst="roundRect">
              <a:avLst>
                <a:gd name="adj" fmla="val 31578"/>
              </a:avLst>
            </a:prstGeom>
            <a:solidFill>
              <a:srgbClr val="BCD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angle"/>
            <p:cNvSpPr/>
            <p:nvPr/>
          </p:nvSpPr>
          <p:spPr>
            <a:xfrm>
              <a:off x="15645384" y="2496312"/>
              <a:ext cx="173736" cy="329184"/>
            </a:xfrm>
            <a:prstGeom prst="roundRect">
              <a:avLst>
                <a:gd name="adj" fmla="val 31578"/>
              </a:avLst>
            </a:prstGeom>
            <a:solidFill>
              <a:srgbClr val="BCD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Line"/>
            <p:cNvSpPr/>
            <p:nvPr/>
          </p:nvSpPr>
          <p:spPr>
            <a:xfrm>
              <a:off x="15636240" y="2606040"/>
              <a:ext cx="91" cy="228600"/>
            </a:xfrm>
            <a:custGeom>
              <a:avLst/>
              <a:gdLst/>
              <a:ahLst/>
              <a:cxnLst/>
              <a:rect l="0" t="0" r="r" b="b"/>
              <a:pathLst>
                <a:path w="91" h="228600" fill="none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8288" cap="rnd">
              <a:solidFill>
                <a:srgbClr val="1C65CD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"/>
            <p:cNvSpPr/>
            <p:nvPr/>
          </p:nvSpPr>
          <p:spPr>
            <a:xfrm>
              <a:off x="15499080" y="2596896"/>
              <a:ext cx="45720" cy="118872"/>
            </a:xfrm>
            <a:prstGeom prst="rect">
              <a:avLst/>
            </a:prstGeom>
            <a:solidFill>
              <a:srgbClr val="FF6E9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Line"/>
            <p:cNvSpPr/>
            <p:nvPr/>
          </p:nvSpPr>
          <p:spPr>
            <a:xfrm>
              <a:off x="15526512" y="2715768"/>
              <a:ext cx="45720" cy="91"/>
            </a:xfrm>
            <a:custGeom>
              <a:avLst/>
              <a:gdLst/>
              <a:ahLst/>
              <a:cxnLst/>
              <a:rect l="0" t="0" r="r" b="b"/>
              <a:pathLst>
                <a:path w="45720" h="91" fill="none">
                  <a:moveTo>
                    <a:pt x="0" y="0"/>
                  </a:moveTo>
                  <a:lnTo>
                    <a:pt x="45720" y="0"/>
                  </a:lnTo>
                </a:path>
              </a:pathLst>
            </a:custGeom>
            <a:noFill/>
            <a:ln w="18288" cap="rnd">
              <a:solidFill>
                <a:srgbClr val="277AE3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Line"/>
            <p:cNvSpPr/>
            <p:nvPr/>
          </p:nvSpPr>
          <p:spPr>
            <a:xfrm>
              <a:off x="15636240" y="2862072"/>
              <a:ext cx="91" cy="64008"/>
            </a:xfrm>
            <a:custGeom>
              <a:avLst/>
              <a:gdLst/>
              <a:ahLst/>
              <a:cxnLst/>
              <a:rect l="0" t="0" r="r" b="b"/>
              <a:pathLst>
                <a:path w="91" h="64008" fill="none">
                  <a:moveTo>
                    <a:pt x="0" y="0"/>
                  </a:moveTo>
                  <a:lnTo>
                    <a:pt x="0" y="64008"/>
                  </a:lnTo>
                </a:path>
              </a:pathLst>
            </a:custGeom>
            <a:noFill/>
            <a:ln w="18288" cap="rnd">
              <a:solidFill>
                <a:srgbClr val="0C57C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Right arrow"/>
            <p:cNvSpPr/>
            <p:nvPr/>
          </p:nvSpPr>
          <p:spPr>
            <a:xfrm>
              <a:off x="16258032" y="2194560"/>
              <a:ext cx="219456" cy="219456"/>
            </a:xfrm>
            <a:custGeom>
              <a:avLst/>
              <a:gdLst/>
              <a:ahLst/>
              <a:cxnLst/>
              <a:rect l="0" t="0" r="r" b="b"/>
              <a:pathLst>
                <a:path w="219456" h="219456">
                  <a:moveTo>
                    <a:pt x="0" y="59253"/>
                  </a:moveTo>
                  <a:lnTo>
                    <a:pt x="127284" y="59253"/>
                  </a:lnTo>
                  <a:lnTo>
                    <a:pt x="127284" y="0"/>
                  </a:lnTo>
                  <a:lnTo>
                    <a:pt x="219456" y="109728"/>
                  </a:lnTo>
                  <a:lnTo>
                    <a:pt x="127284" y="219456"/>
                  </a:lnTo>
                  <a:lnTo>
                    <a:pt x="127284" y="160203"/>
                  </a:lnTo>
                  <a:lnTo>
                    <a:pt x="0" y="160203"/>
                  </a:lnTo>
                  <a:close/>
                </a:path>
              </a:pathLst>
            </a:custGeom>
            <a:solidFill>
              <a:srgbClr val="9BC5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7" name="Robot model icon"/>
            <p:cNvGrpSpPr/>
            <p:nvPr/>
          </p:nvGrpSpPr>
          <p:grpSpPr>
            <a:xfrm>
              <a:off x="16495776" y="2011680"/>
              <a:ext cx="512064" cy="466344"/>
              <a:chOff x="16495776" y="2011680"/>
              <a:chExt cx="512064" cy="466344"/>
            </a:xfrm>
          </p:grpSpPr>
          <p:sp>
            <p:nvSpPr>
              <p:cNvPr id="288" name="Line"/>
              <p:cNvSpPr/>
              <p:nvPr/>
            </p:nvSpPr>
            <p:spPr>
              <a:xfrm>
                <a:off x="16751808" y="2057400"/>
                <a:ext cx="91" cy="82296"/>
              </a:xfrm>
              <a:custGeom>
                <a:avLst/>
                <a:gdLst/>
                <a:ahLst/>
                <a:cxnLst/>
                <a:rect l="0" t="0" r="r" b="b"/>
                <a:pathLst>
                  <a:path w="91" h="82296" fill="none">
                    <a:moveTo>
                      <a:pt x="0" y="82296"/>
                    </a:moveTo>
                    <a:lnTo>
                      <a:pt x="0" y="0"/>
                    </a:lnTo>
                  </a:path>
                </a:pathLst>
              </a:custGeom>
              <a:noFill/>
              <a:ln w="18288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Ellipse"/>
              <p:cNvSpPr/>
              <p:nvPr/>
            </p:nvSpPr>
            <p:spPr>
              <a:xfrm>
                <a:off x="16708831" y="2011680"/>
                <a:ext cx="85954" cy="85954"/>
              </a:xfrm>
              <a:prstGeom prst="ellipse">
                <a:avLst/>
              </a:prstGeom>
              <a:solidFill>
                <a:srgbClr val="ABC9E5"/>
              </a:solidFill>
              <a:ln w="15544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Rectangle"/>
              <p:cNvSpPr/>
              <p:nvPr/>
            </p:nvSpPr>
            <p:spPr>
              <a:xfrm>
                <a:off x="16495776" y="2231136"/>
                <a:ext cx="50292" cy="173736"/>
              </a:xfrm>
              <a:prstGeom prst="roundRect">
                <a:avLst>
                  <a:gd name="adj" fmla="val 36363"/>
                </a:avLst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Rectangle"/>
              <p:cNvSpPr/>
              <p:nvPr/>
            </p:nvSpPr>
            <p:spPr>
              <a:xfrm>
                <a:off x="16957548" y="2231136"/>
                <a:ext cx="50292" cy="173736"/>
              </a:xfrm>
              <a:prstGeom prst="roundRect">
                <a:avLst>
                  <a:gd name="adj" fmla="val 36363"/>
                </a:avLst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Rectangle"/>
              <p:cNvSpPr/>
              <p:nvPr/>
            </p:nvSpPr>
            <p:spPr>
              <a:xfrm>
                <a:off x="16532352" y="2130552"/>
                <a:ext cx="438912" cy="347472"/>
              </a:xfrm>
              <a:prstGeom prst="roundRect">
                <a:avLst>
                  <a:gd name="adj" fmla="val 42105"/>
                </a:avLst>
              </a:prstGeom>
              <a:solidFill>
                <a:srgbClr val="B8D1E7"/>
              </a:solidFill>
              <a:ln w="21031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Rectangle"/>
              <p:cNvSpPr/>
              <p:nvPr/>
            </p:nvSpPr>
            <p:spPr>
              <a:xfrm>
                <a:off x="16587216" y="2231136"/>
                <a:ext cx="329184" cy="173736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4630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Ellipse"/>
              <p:cNvSpPr/>
              <p:nvPr/>
            </p:nvSpPr>
            <p:spPr>
              <a:xfrm>
                <a:off x="16642080" y="2276856"/>
                <a:ext cx="54864" cy="64008"/>
              </a:xfrm>
              <a:prstGeom prst="ellipse">
                <a:avLst/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Ellipse"/>
              <p:cNvSpPr/>
              <p:nvPr/>
            </p:nvSpPr>
            <p:spPr>
              <a:xfrm>
                <a:off x="16806672" y="2276856"/>
                <a:ext cx="54864" cy="64008"/>
              </a:xfrm>
              <a:prstGeom prst="ellipse">
                <a:avLst/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Line"/>
              <p:cNvSpPr/>
              <p:nvPr/>
            </p:nvSpPr>
            <p:spPr>
              <a:xfrm>
                <a:off x="16724376" y="2368296"/>
                <a:ext cx="54864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4864" h="91" fill="none">
                    <a:moveTo>
                      <a:pt x="0" y="0"/>
                    </a:moveTo>
                    <a:lnTo>
                      <a:pt x="54864" y="0"/>
                    </a:lnTo>
                  </a:path>
                </a:pathLst>
              </a:custGeom>
              <a:noFill/>
              <a:ln w="12801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Ellipse"/>
              <p:cNvSpPr/>
              <p:nvPr/>
            </p:nvSpPr>
            <p:spPr>
              <a:xfrm>
                <a:off x="16655796" y="2286000"/>
                <a:ext cx="15545" cy="1554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Ellipse"/>
              <p:cNvSpPr/>
              <p:nvPr/>
            </p:nvSpPr>
            <p:spPr>
              <a:xfrm>
                <a:off x="16820388" y="2286000"/>
                <a:ext cx="15545" cy="1554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99" name="RFT Initialized"/>
            <p:cNvSpPr txBox="1"/>
            <p:nvPr/>
          </p:nvSpPr>
          <p:spPr>
            <a:xfrm>
              <a:off x="16166592" y="2532888"/>
              <a:ext cx="1197864" cy="244794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16" b="0" i="0" u="none">
                  <a:solidFill>
                    <a:srgbClr val="080808"/>
                  </a:solidFill>
                  <a:latin typeface="Comic Sans MS"/>
                </a:rPr>
                <a:t>RFT Initialized</a:t>
              </a:r>
            </a:p>
          </p:txBody>
        </p:sp>
        <p:sp>
          <p:nvSpPr>
            <p:cNvPr id="300" name="Model"/>
            <p:cNvSpPr txBox="1"/>
            <p:nvPr/>
          </p:nvSpPr>
          <p:spPr>
            <a:xfrm>
              <a:off x="16367760" y="2724912"/>
              <a:ext cx="795528" cy="25923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4" b="0" i="0" u="none">
                  <a:solidFill>
                    <a:srgbClr val="080808"/>
                  </a:solidFill>
                  <a:latin typeface="Comic Sans MS"/>
                </a:rPr>
                <a:t>Model</a:t>
              </a:r>
            </a:p>
          </p:txBody>
        </p:sp>
      </p:grpSp>
      <p:grpSp>
        <p:nvGrpSpPr>
          <p:cNvPr id="301" name="S-GRPO: query, outputs, rewards and advantages"/>
          <p:cNvGrpSpPr/>
          <p:nvPr/>
        </p:nvGrpSpPr>
        <p:grpSpPr>
          <a:xfrm>
            <a:off x="9976104" y="3447288"/>
            <a:ext cx="7296912" cy="4643780"/>
            <a:chOff x="9976104" y="3447288"/>
            <a:chExt cx="7296912" cy="4643780"/>
          </a:xfrm>
        </p:grpSpPr>
        <p:sp>
          <p:nvSpPr>
            <p:cNvPr id="302" name="Suggestion-Aware Group Relative Policy Optimization (S-GRPO)"/>
            <p:cNvSpPr txBox="1"/>
            <p:nvPr/>
          </p:nvSpPr>
          <p:spPr>
            <a:xfrm>
              <a:off x="9976104" y="3447288"/>
              <a:ext cx="7296912" cy="36502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44" b="1" i="0" u="none">
                  <a:solidFill>
                    <a:srgbClr val="080808"/>
                  </a:solidFill>
                  <a:latin typeface="Times New Roman"/>
                </a:rPr>
                <a:t>Suggestion-Aware Group Relative Policy Optimization (S-GRPO)</a:t>
              </a:r>
            </a:p>
          </p:txBody>
        </p:sp>
        <p:sp>
          <p:nvSpPr>
            <p:cNvPr id="303" name="Query"/>
            <p:cNvSpPr txBox="1"/>
            <p:nvPr/>
          </p:nvSpPr>
          <p:spPr>
            <a:xfrm>
              <a:off x="10323576" y="3995928"/>
              <a:ext cx="736792" cy="336499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0" i="0" u="none">
                  <a:solidFill>
                    <a:srgbClr val="080808"/>
                  </a:solidFill>
                  <a:latin typeface="Comic Sans MS"/>
                </a:rPr>
                <a:t>Query</a:t>
              </a:r>
            </a:p>
          </p:txBody>
        </p:sp>
        <p:sp>
          <p:nvSpPr>
            <p:cNvPr id="304" name="Rectangle"/>
            <p:cNvSpPr/>
            <p:nvPr/>
          </p:nvSpPr>
          <p:spPr>
            <a:xfrm>
              <a:off x="11055096" y="3904488"/>
              <a:ext cx="3026664" cy="484632"/>
            </a:xfrm>
            <a:prstGeom prst="rect">
              <a:avLst/>
            </a:prstGeom>
            <a:solidFill>
              <a:srgbClr val="FAFAFA"/>
            </a:solidFill>
            <a:ln w="9144" cap="rnd">
              <a:solidFill>
                <a:srgbClr val="999999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Task Instruction; Operation History;"/>
            <p:cNvSpPr txBox="1"/>
            <p:nvPr/>
          </p:nvSpPr>
          <p:spPr>
            <a:xfrm>
              <a:off x="11192256" y="3986784"/>
              <a:ext cx="2825496" cy="23884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0" i="0" u="none">
                  <a:solidFill>
                    <a:srgbClr val="080808"/>
                  </a:solidFill>
                  <a:latin typeface="Comic Sans MS"/>
                </a:rPr>
                <a:t>Task Instruction; Operation History;</a:t>
              </a:r>
            </a:p>
          </p:txBody>
        </p:sp>
        <p:sp>
          <p:nvSpPr>
            <p:cNvPr id="306" name="Screenshot; Action"/>
            <p:cNvSpPr txBox="1"/>
            <p:nvPr/>
          </p:nvSpPr>
          <p:spPr>
            <a:xfrm>
              <a:off x="11192256" y="4178808"/>
              <a:ext cx="2825496" cy="25566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2" b="0" i="0" u="none">
                  <a:solidFill>
                    <a:srgbClr val="080808"/>
                  </a:solidFill>
                  <a:latin typeface="Comic Sans MS"/>
                </a:rPr>
                <a:t>Screenshot; Action</a:t>
              </a:r>
            </a:p>
          </p:txBody>
        </p:sp>
        <p:sp>
          <p:nvSpPr>
            <p:cNvPr id="307" name="Down arrow"/>
            <p:cNvSpPr/>
            <p:nvPr/>
          </p:nvSpPr>
          <p:spPr>
            <a:xfrm>
              <a:off x="12321540" y="4453128"/>
              <a:ext cx="265176" cy="219456"/>
            </a:xfrm>
            <a:custGeom>
              <a:avLst/>
              <a:gdLst/>
              <a:ahLst/>
              <a:cxnLst/>
              <a:rect l="0" t="0" r="r" b="b"/>
              <a:pathLst>
                <a:path w="265176" h="219456">
                  <a:moveTo>
                    <a:pt x="84856" y="0"/>
                  </a:moveTo>
                  <a:lnTo>
                    <a:pt x="180320" y="0"/>
                  </a:lnTo>
                  <a:lnTo>
                    <a:pt x="180320" y="144841"/>
                  </a:lnTo>
                  <a:lnTo>
                    <a:pt x="265176" y="144841"/>
                  </a:lnTo>
                  <a:lnTo>
                    <a:pt x="132588" y="219456"/>
                  </a:lnTo>
                  <a:lnTo>
                    <a:pt x="0" y="144841"/>
                  </a:lnTo>
                  <a:lnTo>
                    <a:pt x="84856" y="144841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Arrow shading"/>
            <p:cNvSpPr/>
            <p:nvPr/>
          </p:nvSpPr>
          <p:spPr>
            <a:xfrm>
              <a:off x="12435840" y="4471416"/>
              <a:ext cx="109728" cy="173736"/>
            </a:xfrm>
            <a:custGeom>
              <a:avLst/>
              <a:gdLst/>
              <a:ahLst/>
              <a:cxnLst/>
              <a:rect l="0" t="0" r="r" b="b"/>
              <a:pathLst>
                <a:path w="109728" h="173736">
                  <a:moveTo>
                    <a:pt x="0" y="0"/>
                  </a:moveTo>
                  <a:lnTo>
                    <a:pt x="64008" y="0"/>
                  </a:lnTo>
                  <a:lnTo>
                    <a:pt x="64008" y="108265"/>
                  </a:lnTo>
                  <a:lnTo>
                    <a:pt x="109728" y="108265"/>
                  </a:lnTo>
                  <a:lnTo>
                    <a:pt x="27432" y="173736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Optimization feedback loop"/>
            <p:cNvSpPr/>
            <p:nvPr/>
          </p:nvSpPr>
          <p:spPr>
            <a:xfrm>
              <a:off x="10177272" y="4965192"/>
              <a:ext cx="2039112" cy="2660904"/>
            </a:xfrm>
            <a:custGeom>
              <a:avLst/>
              <a:gdLst/>
              <a:ahLst/>
              <a:cxnLst/>
              <a:rect l="0" t="0" r="r" b="b"/>
              <a:pathLst>
                <a:path w="2039112" h="2660904" fill="none">
                  <a:moveTo>
                    <a:pt x="1024128" y="2660904"/>
                  </a:moveTo>
                  <a:lnTo>
                    <a:pt x="0" y="2660904"/>
                  </a:lnTo>
                  <a:lnTo>
                    <a:pt x="0" y="0"/>
                  </a:lnTo>
                  <a:lnTo>
                    <a:pt x="2039112" y="0"/>
                  </a:lnTo>
                </a:path>
              </a:pathLst>
            </a:custGeom>
            <a:noFill/>
            <a:ln w="21031" cap="rnd">
              <a:solidFill>
                <a:srgbClr val="4279DC"/>
              </a:solidFill>
              <a:prstDash val="sysDot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" name="Arrow"/>
            <p:cNvSpPr/>
            <p:nvPr/>
          </p:nvSpPr>
          <p:spPr>
            <a:xfrm>
              <a:off x="12070080" y="4965192"/>
              <a:ext cx="146304" cy="91"/>
            </a:xfrm>
            <a:custGeom>
              <a:avLst/>
              <a:gdLst/>
              <a:ahLst/>
              <a:cxnLst/>
              <a:rect l="0" t="0" r="r" b="b"/>
              <a:pathLst>
                <a:path w="146304" h="91" fill="none">
                  <a:moveTo>
                    <a:pt x="0" y="0"/>
                  </a:moveTo>
                  <a:lnTo>
                    <a:pt x="146304" y="0"/>
                  </a:lnTo>
                </a:path>
              </a:pathLst>
            </a:custGeom>
            <a:noFill/>
            <a:ln w="18288" cap="rnd">
              <a:solidFill>
                <a:srgbClr val="4279D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Arrow arrowhead"/>
            <p:cNvSpPr/>
            <p:nvPr/>
          </p:nvSpPr>
          <p:spPr>
            <a:xfrm>
              <a:off x="12097354" y="4897040"/>
              <a:ext cx="119030" cy="136304"/>
            </a:xfrm>
            <a:custGeom>
              <a:avLst/>
              <a:gdLst/>
              <a:ahLst/>
              <a:cxnLst/>
              <a:rect l="0" t="0" r="r" b="b"/>
              <a:pathLst>
                <a:path w="119030" h="136304" fill="none">
                  <a:moveTo>
                    <a:pt x="0" y="136304"/>
                  </a:moveTo>
                  <a:lnTo>
                    <a:pt x="119030" y="68152"/>
                  </a:lnTo>
                  <a:lnTo>
                    <a:pt x="0" y="0"/>
                  </a:lnTo>
                </a:path>
              </a:pathLst>
            </a:custGeom>
            <a:noFill/>
            <a:ln w="18288" cap="rnd">
              <a:solidFill>
                <a:srgbClr val="4279D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Optimization"/>
            <p:cNvSpPr txBox="1"/>
            <p:nvPr/>
          </p:nvSpPr>
          <p:spPr>
            <a:xfrm>
              <a:off x="10597896" y="4992624"/>
              <a:ext cx="1527048" cy="30083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0" i="0" u="none">
                  <a:solidFill>
                    <a:srgbClr val="4279DC"/>
                  </a:solidFill>
                  <a:latin typeface="Times New Roman"/>
                </a:rPr>
                <a:t>Optimization</a:t>
              </a:r>
            </a:p>
          </p:txBody>
        </p:sp>
        <p:sp>
          <p:nvSpPr>
            <p:cNvPr id="313" name="Graduation cap"/>
            <p:cNvSpPr/>
            <p:nvPr/>
          </p:nvSpPr>
          <p:spPr>
            <a:xfrm>
              <a:off x="10954512" y="4709160"/>
              <a:ext cx="393192" cy="137160"/>
            </a:xfrm>
            <a:custGeom>
              <a:avLst/>
              <a:gdLst/>
              <a:ahLst/>
              <a:cxnLst/>
              <a:rect l="0" t="0" r="r" b="b"/>
              <a:pathLst>
                <a:path w="393192" h="137160">
                  <a:moveTo>
                    <a:pt x="0" y="73152"/>
                  </a:moveTo>
                  <a:lnTo>
                    <a:pt x="192024" y="0"/>
                  </a:lnTo>
                  <a:lnTo>
                    <a:pt x="393192" y="73152"/>
                  </a:lnTo>
                  <a:lnTo>
                    <a:pt x="192024" y="137160"/>
                  </a:lnTo>
                  <a:close/>
                </a:path>
              </a:pathLst>
            </a:custGeom>
            <a:solidFill>
              <a:srgbClr val="383B3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Vector shape"/>
            <p:cNvSpPr/>
            <p:nvPr/>
          </p:nvSpPr>
          <p:spPr>
            <a:xfrm>
              <a:off x="11045952" y="4828032"/>
              <a:ext cx="210312" cy="54864"/>
            </a:xfrm>
            <a:custGeom>
              <a:avLst/>
              <a:gdLst/>
              <a:ahLst/>
              <a:cxnLst/>
              <a:rect l="0" t="0" r="r" b="b"/>
              <a:pathLst>
                <a:path w="210312" h="54864">
                  <a:moveTo>
                    <a:pt x="0" y="0"/>
                  </a:moveTo>
                  <a:lnTo>
                    <a:pt x="0" y="54864"/>
                  </a:lnTo>
                  <a:lnTo>
                    <a:pt x="192024" y="54864"/>
                  </a:lnTo>
                  <a:lnTo>
                    <a:pt x="210312" y="0"/>
                  </a:lnTo>
                  <a:lnTo>
                    <a:pt x="109728" y="36576"/>
                  </a:lnTo>
                  <a:close/>
                </a:path>
              </a:pathLst>
            </a:custGeom>
            <a:solidFill>
              <a:srgbClr val="383B3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Line"/>
            <p:cNvSpPr/>
            <p:nvPr/>
          </p:nvSpPr>
          <p:spPr>
            <a:xfrm>
              <a:off x="11311128" y="4791456"/>
              <a:ext cx="91" cy="100584"/>
            </a:xfrm>
            <a:custGeom>
              <a:avLst/>
              <a:gdLst/>
              <a:ahLst/>
              <a:cxnLst/>
              <a:rect l="0" t="0" r="r" b="b"/>
              <a:pathLst>
                <a:path w="91" h="100584" fill="none">
                  <a:moveTo>
                    <a:pt x="0" y="0"/>
                  </a:moveTo>
                  <a:lnTo>
                    <a:pt x="0" y="100584"/>
                  </a:lnTo>
                </a:path>
              </a:pathLst>
            </a:custGeom>
            <a:noFill/>
            <a:ln w="11887" cap="rnd">
              <a:solidFill>
                <a:srgbClr val="383B3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16" name="Robot model icon"/>
            <p:cNvGrpSpPr/>
            <p:nvPr/>
          </p:nvGrpSpPr>
          <p:grpSpPr>
            <a:xfrm>
              <a:off x="12213458" y="4698736"/>
              <a:ext cx="481340" cy="438364"/>
              <a:chOff x="12213458" y="4698736"/>
              <a:chExt cx="481340" cy="438364"/>
            </a:xfrm>
          </p:grpSpPr>
          <p:sp>
            <p:nvSpPr>
              <p:cNvPr id="317" name="Line"/>
              <p:cNvSpPr/>
              <p:nvPr/>
            </p:nvSpPr>
            <p:spPr>
              <a:xfrm>
                <a:off x="12454128" y="4741713"/>
                <a:ext cx="91" cy="77358"/>
              </a:xfrm>
              <a:custGeom>
                <a:avLst/>
                <a:gdLst/>
                <a:ahLst/>
                <a:cxnLst/>
                <a:rect l="0" t="0" r="r" b="b"/>
                <a:pathLst>
                  <a:path w="91" h="77358" fill="none">
                    <a:moveTo>
                      <a:pt x="0" y="77358"/>
                    </a:moveTo>
                    <a:lnTo>
                      <a:pt x="0" y="0"/>
                    </a:lnTo>
                  </a:path>
                </a:pathLst>
              </a:custGeom>
              <a:noFill/>
              <a:ln w="17190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Ellipse"/>
              <p:cNvSpPr/>
              <p:nvPr/>
            </p:nvSpPr>
            <p:spPr>
              <a:xfrm>
                <a:off x="12413730" y="4698736"/>
                <a:ext cx="80796" cy="80796"/>
              </a:xfrm>
              <a:prstGeom prst="ellipse">
                <a:avLst/>
              </a:prstGeom>
              <a:solidFill>
                <a:srgbClr val="ABC9E5"/>
              </a:solidFill>
              <a:ln w="14612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Rectangle"/>
              <p:cNvSpPr/>
              <p:nvPr/>
            </p:nvSpPr>
            <p:spPr>
              <a:xfrm>
                <a:off x="12213458" y="4905024"/>
                <a:ext cx="47274" cy="163312"/>
              </a:xfrm>
              <a:prstGeom prst="roundRect">
                <a:avLst>
                  <a:gd name="adj" fmla="val 36363"/>
                </a:avLst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Rectangle"/>
              <p:cNvSpPr/>
              <p:nvPr/>
            </p:nvSpPr>
            <p:spPr>
              <a:xfrm>
                <a:off x="12647524" y="4905024"/>
                <a:ext cx="47274" cy="163312"/>
              </a:xfrm>
              <a:prstGeom prst="roundRect">
                <a:avLst>
                  <a:gd name="adj" fmla="val 36363"/>
                </a:avLst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Rectangle"/>
              <p:cNvSpPr/>
              <p:nvPr/>
            </p:nvSpPr>
            <p:spPr>
              <a:xfrm>
                <a:off x="12247839" y="4810476"/>
                <a:ext cx="412577" cy="326624"/>
              </a:xfrm>
              <a:prstGeom prst="roundRect">
                <a:avLst>
                  <a:gd name="adj" fmla="val 42105"/>
                </a:avLst>
              </a:prstGeom>
              <a:solidFill>
                <a:srgbClr val="B8D1E7"/>
              </a:solidFill>
              <a:ln w="19769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Rectangle"/>
              <p:cNvSpPr/>
              <p:nvPr/>
            </p:nvSpPr>
            <p:spPr>
              <a:xfrm>
                <a:off x="12299412" y="4905024"/>
                <a:ext cx="309433" cy="1633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3752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Ellipse"/>
              <p:cNvSpPr/>
              <p:nvPr/>
            </p:nvSpPr>
            <p:spPr>
              <a:xfrm>
                <a:off x="12350984" y="4948001"/>
                <a:ext cx="51572" cy="60168"/>
              </a:xfrm>
              <a:prstGeom prst="ellipse">
                <a:avLst/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Ellipse"/>
              <p:cNvSpPr/>
              <p:nvPr/>
            </p:nvSpPr>
            <p:spPr>
              <a:xfrm>
                <a:off x="12505700" y="4948001"/>
                <a:ext cx="51572" cy="60168"/>
              </a:xfrm>
              <a:prstGeom prst="ellipse">
                <a:avLst/>
              </a:prstGeom>
              <a:solidFill>
                <a:srgbClr val="49576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Line"/>
              <p:cNvSpPr/>
              <p:nvPr/>
            </p:nvSpPr>
            <p:spPr>
              <a:xfrm>
                <a:off x="12428342" y="5033955"/>
                <a:ext cx="51572" cy="91"/>
              </a:xfrm>
              <a:custGeom>
                <a:avLst/>
                <a:gdLst/>
                <a:ahLst/>
                <a:cxnLst/>
                <a:rect l="0" t="0" r="r" b="b"/>
                <a:pathLst>
                  <a:path w="51572" h="91" fill="none">
                    <a:moveTo>
                      <a:pt x="0" y="0"/>
                    </a:moveTo>
                    <a:lnTo>
                      <a:pt x="51572" y="0"/>
                    </a:lnTo>
                  </a:path>
                </a:pathLst>
              </a:custGeom>
              <a:noFill/>
              <a:ln w="12033" cap="rnd">
                <a:solidFill>
                  <a:srgbClr val="49576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Ellipse"/>
              <p:cNvSpPr/>
              <p:nvPr/>
            </p:nvSpPr>
            <p:spPr>
              <a:xfrm>
                <a:off x="12363877" y="4956597"/>
                <a:ext cx="14612" cy="146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Ellipse"/>
              <p:cNvSpPr/>
              <p:nvPr/>
            </p:nvSpPr>
            <p:spPr>
              <a:xfrm>
                <a:off x="12518593" y="4956597"/>
                <a:ext cx="14612" cy="146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28" name="Down arrow"/>
            <p:cNvSpPr/>
            <p:nvPr/>
          </p:nvSpPr>
          <p:spPr>
            <a:xfrm>
              <a:off x="12321540" y="5285232"/>
              <a:ext cx="265176" cy="219456"/>
            </a:xfrm>
            <a:custGeom>
              <a:avLst/>
              <a:gdLst/>
              <a:ahLst/>
              <a:cxnLst/>
              <a:rect l="0" t="0" r="r" b="b"/>
              <a:pathLst>
                <a:path w="265176" h="219456">
                  <a:moveTo>
                    <a:pt x="84856" y="0"/>
                  </a:moveTo>
                  <a:lnTo>
                    <a:pt x="180320" y="0"/>
                  </a:lnTo>
                  <a:lnTo>
                    <a:pt x="180320" y="144841"/>
                  </a:lnTo>
                  <a:lnTo>
                    <a:pt x="265176" y="144841"/>
                  </a:lnTo>
                  <a:lnTo>
                    <a:pt x="132588" y="219456"/>
                  </a:lnTo>
                  <a:lnTo>
                    <a:pt x="0" y="144841"/>
                  </a:lnTo>
                  <a:lnTo>
                    <a:pt x="84856" y="144841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Arrow shading"/>
            <p:cNvSpPr/>
            <p:nvPr/>
          </p:nvSpPr>
          <p:spPr>
            <a:xfrm>
              <a:off x="12435840" y="5303520"/>
              <a:ext cx="109728" cy="173736"/>
            </a:xfrm>
            <a:custGeom>
              <a:avLst/>
              <a:gdLst/>
              <a:ahLst/>
              <a:cxnLst/>
              <a:rect l="0" t="0" r="r" b="b"/>
              <a:pathLst>
                <a:path w="109728" h="173736">
                  <a:moveTo>
                    <a:pt x="0" y="0"/>
                  </a:moveTo>
                  <a:lnTo>
                    <a:pt x="64008" y="0"/>
                  </a:lnTo>
                  <a:lnTo>
                    <a:pt x="64008" y="108265"/>
                  </a:lnTo>
                  <a:lnTo>
                    <a:pt x="109728" y="108265"/>
                  </a:lnTo>
                  <a:lnTo>
                    <a:pt x="27432" y="173736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0" name="Output"/>
            <p:cNvSpPr txBox="1"/>
            <p:nvPr/>
          </p:nvSpPr>
          <p:spPr>
            <a:xfrm>
              <a:off x="10369296" y="5678424"/>
              <a:ext cx="794471" cy="32461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80808"/>
                  </a:solidFill>
                  <a:latin typeface="Comic Sans MS"/>
                </a:rPr>
                <a:t>Output</a:t>
              </a:r>
            </a:p>
          </p:txBody>
        </p:sp>
        <p:sp>
          <p:nvSpPr>
            <p:cNvPr id="331" name="Reward"/>
            <p:cNvSpPr txBox="1"/>
            <p:nvPr/>
          </p:nvSpPr>
          <p:spPr>
            <a:xfrm>
              <a:off x="10332720" y="6382512"/>
              <a:ext cx="822960" cy="32461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 i="0" u="none">
                  <a:solidFill>
                    <a:srgbClr val="080808"/>
                  </a:solidFill>
                  <a:latin typeface="Comic Sans MS"/>
                </a:rPr>
                <a:t>Reward</a:t>
              </a:r>
            </a:p>
          </p:txBody>
        </p:sp>
        <p:sp>
          <p:nvSpPr>
            <p:cNvPr id="332" name="Output o1"/>
            <p:cNvSpPr/>
            <p:nvPr/>
          </p:nvSpPr>
          <p:spPr>
            <a:xfrm>
              <a:off x="11173968" y="5650992"/>
              <a:ext cx="786384" cy="329184"/>
            </a:xfrm>
            <a:prstGeom prst="roundRect">
              <a:avLst>
                <a:gd name="adj" fmla="val 5555"/>
              </a:avLst>
            </a:prstGeom>
            <a:solidFill>
              <a:srgbClr val="BAD5ED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o"/>
            <p:cNvSpPr txBox="1"/>
            <p:nvPr/>
          </p:nvSpPr>
          <p:spPr>
            <a:xfrm>
              <a:off x="11439144" y="5696712"/>
              <a:ext cx="146304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o</a:t>
              </a:r>
            </a:p>
          </p:txBody>
        </p:sp>
        <p:sp>
          <p:nvSpPr>
            <p:cNvPr id="334" name="1"/>
            <p:cNvSpPr txBox="1"/>
            <p:nvPr/>
          </p:nvSpPr>
          <p:spPr>
            <a:xfrm>
              <a:off x="11548872" y="581558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335" name="Down arrow"/>
            <p:cNvSpPr/>
            <p:nvPr/>
          </p:nvSpPr>
          <p:spPr>
            <a:xfrm>
              <a:off x="11416284" y="6044184"/>
              <a:ext cx="265176" cy="228600"/>
            </a:xfrm>
            <a:custGeom>
              <a:avLst/>
              <a:gdLst/>
              <a:ahLst/>
              <a:cxnLst/>
              <a:rect l="0" t="0" r="r" b="b"/>
              <a:pathLst>
                <a:path w="265176" h="228600">
                  <a:moveTo>
                    <a:pt x="84856" y="0"/>
                  </a:moveTo>
                  <a:lnTo>
                    <a:pt x="180320" y="0"/>
                  </a:lnTo>
                  <a:lnTo>
                    <a:pt x="180320" y="150876"/>
                  </a:lnTo>
                  <a:lnTo>
                    <a:pt x="265176" y="150876"/>
                  </a:lnTo>
                  <a:lnTo>
                    <a:pt x="132588" y="228600"/>
                  </a:lnTo>
                  <a:lnTo>
                    <a:pt x="0" y="150876"/>
                  </a:lnTo>
                  <a:lnTo>
                    <a:pt x="84856" y="150876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Arrow shading"/>
            <p:cNvSpPr/>
            <p:nvPr/>
          </p:nvSpPr>
          <p:spPr>
            <a:xfrm>
              <a:off x="11530584" y="6062472"/>
              <a:ext cx="109728" cy="182880"/>
            </a:xfrm>
            <a:custGeom>
              <a:avLst/>
              <a:gdLst/>
              <a:ahLst/>
              <a:cxnLst/>
              <a:rect l="0" t="0" r="r" b="b"/>
              <a:pathLst>
                <a:path w="109728" h="182880">
                  <a:moveTo>
                    <a:pt x="0" y="0"/>
                  </a:moveTo>
                  <a:lnTo>
                    <a:pt x="64008" y="0"/>
                  </a:lnTo>
                  <a:lnTo>
                    <a:pt x="64008" y="114300"/>
                  </a:lnTo>
                  <a:lnTo>
                    <a:pt x="109728" y="114300"/>
                  </a:lnTo>
                  <a:lnTo>
                    <a:pt x="27432" y="182880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eward r1"/>
            <p:cNvSpPr/>
            <p:nvPr/>
          </p:nvSpPr>
          <p:spPr>
            <a:xfrm>
              <a:off x="11183112" y="6336792"/>
              <a:ext cx="786384" cy="320040"/>
            </a:xfrm>
            <a:prstGeom prst="roundRect">
              <a:avLst>
                <a:gd name="adj" fmla="val 5714"/>
              </a:avLst>
            </a:prstGeom>
            <a:solidFill>
              <a:srgbClr val="ACBEE3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"/>
            <p:cNvSpPr txBox="1"/>
            <p:nvPr/>
          </p:nvSpPr>
          <p:spPr>
            <a:xfrm>
              <a:off x="11439144" y="6382512"/>
              <a:ext cx="121987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r</a:t>
              </a:r>
            </a:p>
          </p:txBody>
        </p:sp>
        <p:sp>
          <p:nvSpPr>
            <p:cNvPr id="339" name="1"/>
            <p:cNvSpPr txBox="1"/>
            <p:nvPr/>
          </p:nvSpPr>
          <p:spPr>
            <a:xfrm>
              <a:off x="11530584" y="650138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340" name="Down arrow"/>
            <p:cNvSpPr/>
            <p:nvPr/>
          </p:nvSpPr>
          <p:spPr>
            <a:xfrm>
              <a:off x="11416284" y="6720840"/>
              <a:ext cx="265176" cy="228600"/>
            </a:xfrm>
            <a:custGeom>
              <a:avLst/>
              <a:gdLst/>
              <a:ahLst/>
              <a:cxnLst/>
              <a:rect l="0" t="0" r="r" b="b"/>
              <a:pathLst>
                <a:path w="265176" h="228600">
                  <a:moveTo>
                    <a:pt x="84856" y="0"/>
                  </a:moveTo>
                  <a:lnTo>
                    <a:pt x="180320" y="0"/>
                  </a:lnTo>
                  <a:lnTo>
                    <a:pt x="180320" y="150876"/>
                  </a:lnTo>
                  <a:lnTo>
                    <a:pt x="265176" y="150876"/>
                  </a:lnTo>
                  <a:lnTo>
                    <a:pt x="132588" y="228600"/>
                  </a:lnTo>
                  <a:lnTo>
                    <a:pt x="0" y="150876"/>
                  </a:lnTo>
                  <a:lnTo>
                    <a:pt x="84856" y="150876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Arrow shading"/>
            <p:cNvSpPr/>
            <p:nvPr/>
          </p:nvSpPr>
          <p:spPr>
            <a:xfrm>
              <a:off x="11530584" y="6739128"/>
              <a:ext cx="109728" cy="182880"/>
            </a:xfrm>
            <a:custGeom>
              <a:avLst/>
              <a:gdLst/>
              <a:ahLst/>
              <a:cxnLst/>
              <a:rect l="0" t="0" r="r" b="b"/>
              <a:pathLst>
                <a:path w="109728" h="182880">
                  <a:moveTo>
                    <a:pt x="0" y="0"/>
                  </a:moveTo>
                  <a:lnTo>
                    <a:pt x="64008" y="0"/>
                  </a:lnTo>
                  <a:lnTo>
                    <a:pt x="64008" y="114300"/>
                  </a:lnTo>
                  <a:lnTo>
                    <a:pt x="109728" y="114300"/>
                  </a:lnTo>
                  <a:lnTo>
                    <a:pt x="27432" y="182880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Output o2"/>
            <p:cNvSpPr/>
            <p:nvPr/>
          </p:nvSpPr>
          <p:spPr>
            <a:xfrm>
              <a:off x="12079224" y="5650992"/>
              <a:ext cx="786384" cy="329184"/>
            </a:xfrm>
            <a:prstGeom prst="roundRect">
              <a:avLst>
                <a:gd name="adj" fmla="val 5555"/>
              </a:avLst>
            </a:prstGeom>
            <a:solidFill>
              <a:srgbClr val="BAD5ED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o"/>
            <p:cNvSpPr txBox="1"/>
            <p:nvPr/>
          </p:nvSpPr>
          <p:spPr>
            <a:xfrm>
              <a:off x="12344400" y="5696712"/>
              <a:ext cx="146304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o</a:t>
              </a:r>
            </a:p>
          </p:txBody>
        </p:sp>
        <p:sp>
          <p:nvSpPr>
            <p:cNvPr id="344" name="2"/>
            <p:cNvSpPr txBox="1"/>
            <p:nvPr/>
          </p:nvSpPr>
          <p:spPr>
            <a:xfrm>
              <a:off x="12454128" y="581558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345" name="Down arrow"/>
            <p:cNvSpPr/>
            <p:nvPr/>
          </p:nvSpPr>
          <p:spPr>
            <a:xfrm>
              <a:off x="12321540" y="6044184"/>
              <a:ext cx="265176" cy="228600"/>
            </a:xfrm>
            <a:custGeom>
              <a:avLst/>
              <a:gdLst/>
              <a:ahLst/>
              <a:cxnLst/>
              <a:rect l="0" t="0" r="r" b="b"/>
              <a:pathLst>
                <a:path w="265176" h="228600">
                  <a:moveTo>
                    <a:pt x="84856" y="0"/>
                  </a:moveTo>
                  <a:lnTo>
                    <a:pt x="180320" y="0"/>
                  </a:lnTo>
                  <a:lnTo>
                    <a:pt x="180320" y="150876"/>
                  </a:lnTo>
                  <a:lnTo>
                    <a:pt x="265176" y="150876"/>
                  </a:lnTo>
                  <a:lnTo>
                    <a:pt x="132588" y="228600"/>
                  </a:lnTo>
                  <a:lnTo>
                    <a:pt x="0" y="150876"/>
                  </a:lnTo>
                  <a:lnTo>
                    <a:pt x="84856" y="150876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Arrow shading"/>
            <p:cNvSpPr/>
            <p:nvPr/>
          </p:nvSpPr>
          <p:spPr>
            <a:xfrm>
              <a:off x="12435840" y="6062472"/>
              <a:ext cx="109728" cy="182880"/>
            </a:xfrm>
            <a:custGeom>
              <a:avLst/>
              <a:gdLst/>
              <a:ahLst/>
              <a:cxnLst/>
              <a:rect l="0" t="0" r="r" b="b"/>
              <a:pathLst>
                <a:path w="109728" h="182880">
                  <a:moveTo>
                    <a:pt x="0" y="0"/>
                  </a:moveTo>
                  <a:lnTo>
                    <a:pt x="64008" y="0"/>
                  </a:lnTo>
                  <a:lnTo>
                    <a:pt x="64008" y="114300"/>
                  </a:lnTo>
                  <a:lnTo>
                    <a:pt x="109728" y="114300"/>
                  </a:lnTo>
                  <a:lnTo>
                    <a:pt x="27432" y="182880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eward r2"/>
            <p:cNvSpPr/>
            <p:nvPr/>
          </p:nvSpPr>
          <p:spPr>
            <a:xfrm>
              <a:off x="12088368" y="6336792"/>
              <a:ext cx="786384" cy="320040"/>
            </a:xfrm>
            <a:prstGeom prst="roundRect">
              <a:avLst>
                <a:gd name="adj" fmla="val 5714"/>
              </a:avLst>
            </a:prstGeom>
            <a:solidFill>
              <a:srgbClr val="ACBEE3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"/>
            <p:cNvSpPr txBox="1"/>
            <p:nvPr/>
          </p:nvSpPr>
          <p:spPr>
            <a:xfrm>
              <a:off x="12344400" y="6382512"/>
              <a:ext cx="121987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r</a:t>
              </a:r>
            </a:p>
          </p:txBody>
        </p:sp>
        <p:sp>
          <p:nvSpPr>
            <p:cNvPr id="349" name="2"/>
            <p:cNvSpPr txBox="1"/>
            <p:nvPr/>
          </p:nvSpPr>
          <p:spPr>
            <a:xfrm>
              <a:off x="12435840" y="650138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350" name="Down arrow"/>
            <p:cNvSpPr/>
            <p:nvPr/>
          </p:nvSpPr>
          <p:spPr>
            <a:xfrm>
              <a:off x="12321540" y="6720840"/>
              <a:ext cx="265176" cy="228600"/>
            </a:xfrm>
            <a:custGeom>
              <a:avLst/>
              <a:gdLst/>
              <a:ahLst/>
              <a:cxnLst/>
              <a:rect l="0" t="0" r="r" b="b"/>
              <a:pathLst>
                <a:path w="265176" h="228600">
                  <a:moveTo>
                    <a:pt x="84856" y="0"/>
                  </a:moveTo>
                  <a:lnTo>
                    <a:pt x="180320" y="0"/>
                  </a:lnTo>
                  <a:lnTo>
                    <a:pt x="180320" y="150876"/>
                  </a:lnTo>
                  <a:lnTo>
                    <a:pt x="265176" y="150876"/>
                  </a:lnTo>
                  <a:lnTo>
                    <a:pt x="132588" y="228600"/>
                  </a:lnTo>
                  <a:lnTo>
                    <a:pt x="0" y="150876"/>
                  </a:lnTo>
                  <a:lnTo>
                    <a:pt x="84856" y="150876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Arrow shading"/>
            <p:cNvSpPr/>
            <p:nvPr/>
          </p:nvSpPr>
          <p:spPr>
            <a:xfrm>
              <a:off x="12435840" y="6739128"/>
              <a:ext cx="109728" cy="182880"/>
            </a:xfrm>
            <a:custGeom>
              <a:avLst/>
              <a:gdLst/>
              <a:ahLst/>
              <a:cxnLst/>
              <a:rect l="0" t="0" r="r" b="b"/>
              <a:pathLst>
                <a:path w="109728" h="182880">
                  <a:moveTo>
                    <a:pt x="0" y="0"/>
                  </a:moveTo>
                  <a:lnTo>
                    <a:pt x="64008" y="0"/>
                  </a:lnTo>
                  <a:lnTo>
                    <a:pt x="64008" y="114300"/>
                  </a:lnTo>
                  <a:lnTo>
                    <a:pt x="109728" y="114300"/>
                  </a:lnTo>
                  <a:lnTo>
                    <a:pt x="27432" y="182880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Output o3"/>
            <p:cNvSpPr/>
            <p:nvPr/>
          </p:nvSpPr>
          <p:spPr>
            <a:xfrm>
              <a:off x="12966192" y="5650992"/>
              <a:ext cx="786384" cy="329184"/>
            </a:xfrm>
            <a:prstGeom prst="roundRect">
              <a:avLst>
                <a:gd name="adj" fmla="val 5555"/>
              </a:avLst>
            </a:prstGeom>
            <a:solidFill>
              <a:srgbClr val="BAD5ED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o"/>
            <p:cNvSpPr txBox="1"/>
            <p:nvPr/>
          </p:nvSpPr>
          <p:spPr>
            <a:xfrm>
              <a:off x="13231368" y="5696712"/>
              <a:ext cx="146304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o</a:t>
              </a:r>
            </a:p>
          </p:txBody>
        </p:sp>
        <p:sp>
          <p:nvSpPr>
            <p:cNvPr id="354" name="3"/>
            <p:cNvSpPr txBox="1"/>
            <p:nvPr/>
          </p:nvSpPr>
          <p:spPr>
            <a:xfrm>
              <a:off x="13341096" y="581558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355" name="Down arrow"/>
            <p:cNvSpPr/>
            <p:nvPr/>
          </p:nvSpPr>
          <p:spPr>
            <a:xfrm>
              <a:off x="13208508" y="6044184"/>
              <a:ext cx="265176" cy="228600"/>
            </a:xfrm>
            <a:custGeom>
              <a:avLst/>
              <a:gdLst/>
              <a:ahLst/>
              <a:cxnLst/>
              <a:rect l="0" t="0" r="r" b="b"/>
              <a:pathLst>
                <a:path w="265176" h="228600">
                  <a:moveTo>
                    <a:pt x="84856" y="0"/>
                  </a:moveTo>
                  <a:lnTo>
                    <a:pt x="180320" y="0"/>
                  </a:lnTo>
                  <a:lnTo>
                    <a:pt x="180320" y="150876"/>
                  </a:lnTo>
                  <a:lnTo>
                    <a:pt x="265176" y="150876"/>
                  </a:lnTo>
                  <a:lnTo>
                    <a:pt x="132588" y="228600"/>
                  </a:lnTo>
                  <a:lnTo>
                    <a:pt x="0" y="150876"/>
                  </a:lnTo>
                  <a:lnTo>
                    <a:pt x="84856" y="150876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Arrow shading"/>
            <p:cNvSpPr/>
            <p:nvPr/>
          </p:nvSpPr>
          <p:spPr>
            <a:xfrm>
              <a:off x="13322808" y="6062472"/>
              <a:ext cx="109728" cy="182880"/>
            </a:xfrm>
            <a:custGeom>
              <a:avLst/>
              <a:gdLst/>
              <a:ahLst/>
              <a:cxnLst/>
              <a:rect l="0" t="0" r="r" b="b"/>
              <a:pathLst>
                <a:path w="109728" h="182880">
                  <a:moveTo>
                    <a:pt x="0" y="0"/>
                  </a:moveTo>
                  <a:lnTo>
                    <a:pt x="64008" y="0"/>
                  </a:lnTo>
                  <a:lnTo>
                    <a:pt x="64008" y="114300"/>
                  </a:lnTo>
                  <a:lnTo>
                    <a:pt x="109728" y="114300"/>
                  </a:lnTo>
                  <a:lnTo>
                    <a:pt x="27432" y="182880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eward r3"/>
            <p:cNvSpPr/>
            <p:nvPr/>
          </p:nvSpPr>
          <p:spPr>
            <a:xfrm>
              <a:off x="12975336" y="6336792"/>
              <a:ext cx="786384" cy="320040"/>
            </a:xfrm>
            <a:prstGeom prst="roundRect">
              <a:avLst>
                <a:gd name="adj" fmla="val 5714"/>
              </a:avLst>
            </a:prstGeom>
            <a:solidFill>
              <a:srgbClr val="ACBEE3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"/>
            <p:cNvSpPr txBox="1"/>
            <p:nvPr/>
          </p:nvSpPr>
          <p:spPr>
            <a:xfrm>
              <a:off x="13231368" y="6382512"/>
              <a:ext cx="121987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r</a:t>
              </a:r>
            </a:p>
          </p:txBody>
        </p:sp>
        <p:sp>
          <p:nvSpPr>
            <p:cNvPr id="359" name="3"/>
            <p:cNvSpPr txBox="1"/>
            <p:nvPr/>
          </p:nvSpPr>
          <p:spPr>
            <a:xfrm>
              <a:off x="13322808" y="650138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360" name="Down arrow"/>
            <p:cNvSpPr/>
            <p:nvPr/>
          </p:nvSpPr>
          <p:spPr>
            <a:xfrm>
              <a:off x="13208508" y="6720840"/>
              <a:ext cx="265176" cy="228600"/>
            </a:xfrm>
            <a:custGeom>
              <a:avLst/>
              <a:gdLst/>
              <a:ahLst/>
              <a:cxnLst/>
              <a:rect l="0" t="0" r="r" b="b"/>
              <a:pathLst>
                <a:path w="265176" h="228600">
                  <a:moveTo>
                    <a:pt x="84856" y="0"/>
                  </a:moveTo>
                  <a:lnTo>
                    <a:pt x="180320" y="0"/>
                  </a:lnTo>
                  <a:lnTo>
                    <a:pt x="180320" y="150876"/>
                  </a:lnTo>
                  <a:lnTo>
                    <a:pt x="265176" y="150876"/>
                  </a:lnTo>
                  <a:lnTo>
                    <a:pt x="132588" y="228600"/>
                  </a:lnTo>
                  <a:lnTo>
                    <a:pt x="0" y="150876"/>
                  </a:lnTo>
                  <a:lnTo>
                    <a:pt x="84856" y="150876"/>
                  </a:lnTo>
                  <a:close/>
                </a:path>
              </a:pathLst>
            </a:custGeom>
            <a:solidFill>
              <a:srgbClr val="B4D4ED"/>
            </a:solidFill>
            <a:ln w="16459" cap="rnd">
              <a:solidFill>
                <a:srgbClr val="2C7EC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1" name="Arrow shading"/>
            <p:cNvSpPr/>
            <p:nvPr/>
          </p:nvSpPr>
          <p:spPr>
            <a:xfrm>
              <a:off x="13322808" y="6739128"/>
              <a:ext cx="109728" cy="182880"/>
            </a:xfrm>
            <a:custGeom>
              <a:avLst/>
              <a:gdLst/>
              <a:ahLst/>
              <a:cxnLst/>
              <a:rect l="0" t="0" r="r" b="b"/>
              <a:pathLst>
                <a:path w="109728" h="182880">
                  <a:moveTo>
                    <a:pt x="0" y="0"/>
                  </a:moveTo>
                  <a:lnTo>
                    <a:pt x="64008" y="0"/>
                  </a:lnTo>
                  <a:lnTo>
                    <a:pt x="64008" y="114300"/>
                  </a:lnTo>
                  <a:lnTo>
                    <a:pt x="109728" y="114300"/>
                  </a:lnTo>
                  <a:lnTo>
                    <a:pt x="27432" y="182880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69ABE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Group computation"/>
            <p:cNvSpPr/>
            <p:nvPr/>
          </p:nvSpPr>
          <p:spPr>
            <a:xfrm>
              <a:off x="11201400" y="6986016"/>
              <a:ext cx="2569464" cy="329184"/>
            </a:xfrm>
            <a:prstGeom prst="roundRect">
              <a:avLst>
                <a:gd name="adj" fmla="val 5555"/>
              </a:avLst>
            </a:prstGeom>
            <a:solidFill>
              <a:srgbClr val="D6DDE7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Group Computation"/>
            <p:cNvSpPr txBox="1"/>
            <p:nvPr/>
          </p:nvSpPr>
          <p:spPr>
            <a:xfrm>
              <a:off x="11384280" y="7013448"/>
              <a:ext cx="2231136" cy="306781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91" b="0" i="0" u="none">
                  <a:solidFill>
                    <a:srgbClr val="FFFFFF"/>
                  </a:solidFill>
                  <a:latin typeface="Times New Roman"/>
                </a:rPr>
                <a:t>Group Computation</a:t>
              </a:r>
            </a:p>
          </p:txBody>
        </p:sp>
        <p:sp>
          <p:nvSpPr>
            <p:cNvPr id="364" name="Advantage A1"/>
            <p:cNvSpPr/>
            <p:nvPr/>
          </p:nvSpPr>
          <p:spPr>
            <a:xfrm>
              <a:off x="11192256" y="7452360"/>
              <a:ext cx="795528" cy="329184"/>
            </a:xfrm>
            <a:prstGeom prst="roundRect">
              <a:avLst>
                <a:gd name="adj" fmla="val 5555"/>
              </a:avLst>
            </a:prstGeom>
            <a:solidFill>
              <a:srgbClr val="86B4DC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A"/>
            <p:cNvSpPr txBox="1"/>
            <p:nvPr/>
          </p:nvSpPr>
          <p:spPr>
            <a:xfrm>
              <a:off x="11457432" y="7488936"/>
              <a:ext cx="170636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A</a:t>
              </a:r>
            </a:p>
          </p:txBody>
        </p:sp>
        <p:sp>
          <p:nvSpPr>
            <p:cNvPr id="366" name="1"/>
            <p:cNvSpPr txBox="1"/>
            <p:nvPr/>
          </p:nvSpPr>
          <p:spPr>
            <a:xfrm>
              <a:off x="11594592" y="759866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367" name="Advantage A2"/>
            <p:cNvSpPr/>
            <p:nvPr/>
          </p:nvSpPr>
          <p:spPr>
            <a:xfrm>
              <a:off x="12097512" y="7452360"/>
              <a:ext cx="795528" cy="329184"/>
            </a:xfrm>
            <a:prstGeom prst="roundRect">
              <a:avLst>
                <a:gd name="adj" fmla="val 5555"/>
              </a:avLst>
            </a:prstGeom>
            <a:solidFill>
              <a:srgbClr val="86B4DC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A"/>
            <p:cNvSpPr txBox="1"/>
            <p:nvPr/>
          </p:nvSpPr>
          <p:spPr>
            <a:xfrm>
              <a:off x="12362688" y="7488936"/>
              <a:ext cx="170636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A</a:t>
              </a:r>
            </a:p>
          </p:txBody>
        </p:sp>
        <p:sp>
          <p:nvSpPr>
            <p:cNvPr id="369" name="2"/>
            <p:cNvSpPr txBox="1"/>
            <p:nvPr/>
          </p:nvSpPr>
          <p:spPr>
            <a:xfrm>
              <a:off x="12499848" y="759866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2</a:t>
              </a:r>
            </a:p>
          </p:txBody>
        </p:sp>
        <p:sp>
          <p:nvSpPr>
            <p:cNvPr id="370" name="Advantage A3"/>
            <p:cNvSpPr/>
            <p:nvPr/>
          </p:nvSpPr>
          <p:spPr>
            <a:xfrm>
              <a:off x="12984480" y="7452360"/>
              <a:ext cx="795528" cy="329184"/>
            </a:xfrm>
            <a:prstGeom prst="roundRect">
              <a:avLst>
                <a:gd name="adj" fmla="val 5555"/>
              </a:avLst>
            </a:prstGeom>
            <a:solidFill>
              <a:srgbClr val="86B4DC"/>
            </a:solidFill>
            <a:ln w="10058" cap="rnd">
              <a:solidFill>
                <a:srgbClr val="304D7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A"/>
            <p:cNvSpPr txBox="1"/>
            <p:nvPr/>
          </p:nvSpPr>
          <p:spPr>
            <a:xfrm>
              <a:off x="13249656" y="7488936"/>
              <a:ext cx="170636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u="none">
                  <a:solidFill>
                    <a:srgbClr val="FFFFFF"/>
                  </a:solidFill>
                  <a:latin typeface="Times New Roman"/>
                </a:rPr>
                <a:t>A</a:t>
              </a:r>
            </a:p>
          </p:txBody>
        </p:sp>
        <p:sp>
          <p:nvSpPr>
            <p:cNvPr id="372" name="3"/>
            <p:cNvSpPr txBox="1"/>
            <p:nvPr/>
          </p:nvSpPr>
          <p:spPr>
            <a:xfrm>
              <a:off x="13386816" y="7598664"/>
              <a:ext cx="102870" cy="199796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4" b="0" i="1" u="none">
                  <a:solidFill>
                    <a:srgbClr val="FFFFFF"/>
                  </a:solidFill>
                  <a:latin typeface="Times New Roman"/>
                </a:rPr>
                <a:t>3</a:t>
              </a:r>
            </a:p>
          </p:txBody>
        </p:sp>
        <p:sp>
          <p:nvSpPr>
            <p:cNvPr id="373" name="Advantage"/>
            <p:cNvSpPr txBox="1"/>
            <p:nvPr/>
          </p:nvSpPr>
          <p:spPr>
            <a:xfrm>
              <a:off x="11823192" y="7772400"/>
              <a:ext cx="1325880" cy="318668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4" b="0" i="0" u="none">
                  <a:solidFill>
                    <a:srgbClr val="080808"/>
                  </a:solidFill>
                  <a:latin typeface="Comic Sans MS"/>
                </a:rPr>
                <a:t>Advantage</a:t>
              </a:r>
            </a:p>
          </p:txBody>
        </p:sp>
      </p:grpSp>
      <p:grpSp>
        <p:nvGrpSpPr>
          <p:cNvPr id="374" name="S-GRPO: suggestion, accuracy and format rewards"/>
          <p:cNvGrpSpPr/>
          <p:nvPr/>
        </p:nvGrpSpPr>
        <p:grpSpPr>
          <a:xfrm>
            <a:off x="13743432" y="4242816"/>
            <a:ext cx="3401568" cy="3772632"/>
            <a:chOff x="13743432" y="4242816"/>
            <a:chExt cx="3401568" cy="3772632"/>
          </a:xfrm>
        </p:grpSpPr>
        <p:sp>
          <p:nvSpPr>
            <p:cNvPr id="375" name="Reward detail connector"/>
            <p:cNvSpPr/>
            <p:nvPr/>
          </p:nvSpPr>
          <p:spPr>
            <a:xfrm>
              <a:off x="13743432" y="4425696"/>
              <a:ext cx="402336" cy="1865376"/>
            </a:xfrm>
            <a:custGeom>
              <a:avLst/>
              <a:gdLst/>
              <a:ahLst/>
              <a:cxnLst/>
              <a:rect l="0" t="0" r="r" b="b"/>
              <a:pathLst>
                <a:path w="402336" h="1865376" fill="none">
                  <a:moveTo>
                    <a:pt x="0" y="1865376"/>
                  </a:moveTo>
                  <a:lnTo>
                    <a:pt x="402336" y="0"/>
                  </a:lnTo>
                </a:path>
              </a:pathLst>
            </a:custGeom>
            <a:noFill/>
            <a:ln w="12801" cap="rnd">
              <a:solidFill>
                <a:srgbClr val="A0A0A0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6" name="Reward detail connector"/>
            <p:cNvSpPr/>
            <p:nvPr/>
          </p:nvSpPr>
          <p:spPr>
            <a:xfrm>
              <a:off x="13743432" y="6720840"/>
              <a:ext cx="402336" cy="1133856"/>
            </a:xfrm>
            <a:custGeom>
              <a:avLst/>
              <a:gdLst/>
              <a:ahLst/>
              <a:cxnLst/>
              <a:rect l="0" t="0" r="r" b="b"/>
              <a:pathLst>
                <a:path w="402336" h="1133856" fill="none">
                  <a:moveTo>
                    <a:pt x="0" y="0"/>
                  </a:moveTo>
                  <a:lnTo>
                    <a:pt x="402336" y="1133856"/>
                  </a:lnTo>
                </a:path>
              </a:pathLst>
            </a:custGeom>
            <a:noFill/>
            <a:ln w="12801" cap="rnd">
              <a:solidFill>
                <a:srgbClr val="A0A0A0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eward details"/>
            <p:cNvSpPr/>
            <p:nvPr/>
          </p:nvSpPr>
          <p:spPr>
            <a:xfrm>
              <a:off x="14145768" y="4242816"/>
              <a:ext cx="2999232" cy="3767328"/>
            </a:xfrm>
            <a:prstGeom prst="roundRect">
              <a:avLst>
                <a:gd name="adj" fmla="val 8231"/>
              </a:avLst>
            </a:prstGeom>
            <a:solidFill>
              <a:srgbClr val="ECEFF7"/>
            </a:solidFill>
            <a:ln w="9144" cap="rnd">
              <a:solidFill>
                <a:srgbClr val="999999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Line"/>
            <p:cNvSpPr/>
            <p:nvPr/>
          </p:nvSpPr>
          <p:spPr>
            <a:xfrm>
              <a:off x="14154912" y="6355080"/>
              <a:ext cx="2980944" cy="91"/>
            </a:xfrm>
            <a:custGeom>
              <a:avLst/>
              <a:gdLst/>
              <a:ahLst/>
              <a:cxnLst/>
              <a:rect l="0" t="0" r="r" b="b"/>
              <a:pathLst>
                <a:path w="2980944" h="91" fill="none">
                  <a:moveTo>
                    <a:pt x="0" y="0"/>
                  </a:moveTo>
                  <a:lnTo>
                    <a:pt x="2980944" y="0"/>
                  </a:lnTo>
                </a:path>
              </a:pathLst>
            </a:custGeom>
            <a:noFill/>
            <a:ln w="9144" cap="rnd">
              <a:solidFill>
                <a:srgbClr val="A4A4A4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Line"/>
            <p:cNvSpPr/>
            <p:nvPr/>
          </p:nvSpPr>
          <p:spPr>
            <a:xfrm>
              <a:off x="14154912" y="7114032"/>
              <a:ext cx="2980944" cy="91"/>
            </a:xfrm>
            <a:custGeom>
              <a:avLst/>
              <a:gdLst/>
              <a:ahLst/>
              <a:cxnLst/>
              <a:rect l="0" t="0" r="r" b="b"/>
              <a:pathLst>
                <a:path w="2980944" h="91" fill="none">
                  <a:moveTo>
                    <a:pt x="0" y="0"/>
                  </a:moveTo>
                  <a:lnTo>
                    <a:pt x="2980944" y="0"/>
                  </a:lnTo>
                </a:path>
              </a:pathLst>
            </a:custGeom>
            <a:noFill/>
            <a:ln w="9144" cap="rnd">
              <a:solidFill>
                <a:srgbClr val="A4A4A4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0" name="•"/>
            <p:cNvSpPr txBox="1"/>
            <p:nvPr/>
          </p:nvSpPr>
          <p:spPr>
            <a:xfrm>
              <a:off x="14237208" y="4425696"/>
              <a:ext cx="106999" cy="28895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u="none">
                  <a:solidFill>
                    <a:srgbClr val="080808"/>
                  </a:solidFill>
                  <a:latin typeface="Times New Roman"/>
                </a:rPr>
                <a:t>•</a:t>
              </a:r>
            </a:p>
          </p:txBody>
        </p:sp>
        <p:sp>
          <p:nvSpPr>
            <p:cNvPr id="381" name="Suggestion Reward"/>
            <p:cNvSpPr txBox="1"/>
            <p:nvPr/>
          </p:nvSpPr>
          <p:spPr>
            <a:xfrm>
              <a:off x="14520672" y="4407408"/>
              <a:ext cx="2514600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 u="none">
                  <a:solidFill>
                    <a:srgbClr val="080808"/>
                  </a:solidFill>
                  <a:latin typeface="Comic Sans MS"/>
                </a:rPr>
                <a:t>Suggestion Reward</a:t>
              </a:r>
            </a:p>
          </p:txBody>
        </p:sp>
        <p:sp>
          <p:nvSpPr>
            <p:cNvPr id="382" name="&lt;suggestion&gt; The agent should instead"/>
            <p:cNvSpPr txBox="1"/>
            <p:nvPr/>
          </p:nvSpPr>
          <p:spPr>
            <a:xfrm>
              <a:off x="14237208" y="4681728"/>
              <a:ext cx="2852928" cy="22000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 i="0" u="none">
                  <a:solidFill>
                    <a:srgbClr val="E90000"/>
                  </a:solidFill>
                  <a:latin typeface="Comic Sans MS"/>
                </a:rPr>
                <a:t>&lt;suggestion&gt; </a:t>
              </a:r>
              <a:r>
                <a:rPr sz="1166" b="0" i="0" u="none">
                  <a:solidFill>
                    <a:srgbClr val="080808"/>
                  </a:solidFill>
                  <a:latin typeface="Comic Sans MS"/>
                </a:rPr>
                <a:t>The agent should instead</a:t>
              </a:r>
            </a:p>
          </p:txBody>
        </p:sp>
        <p:sp>
          <p:nvSpPr>
            <p:cNvPr id="383" name="select a desired tweet and clicking the"/>
            <p:cNvSpPr txBox="1"/>
            <p:nvPr/>
          </p:nvSpPr>
          <p:spPr>
            <a:xfrm>
              <a:off x="14237208" y="4864608"/>
              <a:ext cx="2852928" cy="22000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0" i="0" u="none">
                  <a:solidFill>
                    <a:srgbClr val="080808"/>
                  </a:solidFill>
                  <a:latin typeface="Comic Sans MS"/>
                </a:rPr>
                <a:t>select a desired tweet and clicking the</a:t>
              </a:r>
            </a:p>
          </p:txBody>
        </p:sp>
        <p:sp>
          <p:nvSpPr>
            <p:cNvPr id="384" name="share button of it. &lt;/suggestion&gt;"/>
            <p:cNvSpPr txBox="1"/>
            <p:nvPr/>
          </p:nvSpPr>
          <p:spPr>
            <a:xfrm>
              <a:off x="14237208" y="5038344"/>
              <a:ext cx="2852928" cy="22000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0" i="0" u="none">
                  <a:solidFill>
                    <a:srgbClr val="080808"/>
                  </a:solidFill>
                  <a:latin typeface="Comic Sans MS"/>
                </a:rPr>
                <a:t>share button of it. </a:t>
              </a:r>
              <a:r>
                <a:rPr sz="1166" b="1" i="0" u="none">
                  <a:solidFill>
                    <a:srgbClr val="E90000"/>
                  </a:solidFill>
                  <a:latin typeface="Comic Sans MS"/>
                </a:rPr>
                <a:t>&lt;/suggestion&gt;</a:t>
              </a:r>
            </a:p>
          </p:txBody>
        </p:sp>
        <p:sp>
          <p:nvSpPr>
            <p:cNvPr id="385" name="Annotation: Click share button of first post"/>
            <p:cNvSpPr txBox="1"/>
            <p:nvPr/>
          </p:nvSpPr>
          <p:spPr>
            <a:xfrm>
              <a:off x="14218920" y="5248656"/>
              <a:ext cx="2843784" cy="20493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5" b="1" i="0" u="sng">
                  <a:solidFill>
                    <a:srgbClr val="4B8B32"/>
                  </a:solidFill>
                  <a:latin typeface="Comic Sans MS"/>
                </a:rPr>
                <a:t>Annotation: </a:t>
              </a:r>
              <a:r>
                <a:rPr sz="1075" b="0" i="0" u="sng">
                  <a:solidFill>
                    <a:srgbClr val="080808"/>
                  </a:solidFill>
                  <a:latin typeface="Comic Sans MS"/>
                </a:rPr>
                <a:t>Click share button of first post</a:t>
              </a:r>
            </a:p>
          </p:txBody>
        </p:sp>
        <p:sp>
          <p:nvSpPr>
            <p:cNvPr id="386" name="Line"/>
            <p:cNvSpPr/>
            <p:nvPr/>
          </p:nvSpPr>
          <p:spPr>
            <a:xfrm>
              <a:off x="14218920" y="5422392"/>
              <a:ext cx="2816352" cy="91"/>
            </a:xfrm>
            <a:custGeom>
              <a:avLst/>
              <a:gdLst/>
              <a:ahLst/>
              <a:cxnLst/>
              <a:rect l="0" t="0" r="r" b="b"/>
              <a:pathLst>
                <a:path w="2816352" h="91" fill="none">
                  <a:moveTo>
                    <a:pt x="0" y="0"/>
                  </a:moveTo>
                  <a:lnTo>
                    <a:pt x="2816352" y="0"/>
                  </a:lnTo>
                </a:path>
              </a:pathLst>
            </a:custGeom>
            <a:noFill/>
            <a:ln w="7315" cap="rnd">
              <a:solidFill>
                <a:srgbClr val="48555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Down arrow"/>
            <p:cNvSpPr/>
            <p:nvPr/>
          </p:nvSpPr>
          <p:spPr>
            <a:xfrm>
              <a:off x="15572232" y="5504688"/>
              <a:ext cx="246888" cy="228600"/>
            </a:xfrm>
            <a:custGeom>
              <a:avLst/>
              <a:gdLst/>
              <a:ahLst/>
              <a:cxnLst/>
              <a:rect l="0" t="0" r="r" b="b"/>
              <a:pathLst>
                <a:path w="246888" h="228600">
                  <a:moveTo>
                    <a:pt x="79004" y="0"/>
                  </a:moveTo>
                  <a:lnTo>
                    <a:pt x="167884" y="0"/>
                  </a:lnTo>
                  <a:lnTo>
                    <a:pt x="167884" y="150876"/>
                  </a:lnTo>
                  <a:lnTo>
                    <a:pt x="246888" y="150876"/>
                  </a:lnTo>
                  <a:lnTo>
                    <a:pt x="123444" y="228600"/>
                  </a:lnTo>
                  <a:lnTo>
                    <a:pt x="0" y="150876"/>
                  </a:lnTo>
                  <a:lnTo>
                    <a:pt x="79004" y="150876"/>
                  </a:lnTo>
                  <a:close/>
                </a:path>
              </a:pathLst>
            </a:custGeom>
            <a:solidFill>
              <a:srgbClr val="9BC5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Consistency"/>
            <p:cNvSpPr txBox="1"/>
            <p:nvPr/>
          </p:nvSpPr>
          <p:spPr>
            <a:xfrm>
              <a:off x="14520672" y="5788152"/>
              <a:ext cx="1060704" cy="23189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8" b="1" i="0" u="none">
                  <a:solidFill>
                    <a:srgbClr val="3973D4"/>
                  </a:solidFill>
                  <a:latin typeface="Comic Sans MS"/>
                </a:rPr>
                <a:t>Consistency</a:t>
              </a:r>
            </a:p>
          </p:txBody>
        </p:sp>
        <p:sp>
          <p:nvSpPr>
            <p:cNvPr id="389" name="Measurement"/>
            <p:cNvSpPr txBox="1"/>
            <p:nvPr/>
          </p:nvSpPr>
          <p:spPr>
            <a:xfrm>
              <a:off x="14520672" y="5952744"/>
              <a:ext cx="1051560" cy="23189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8" b="1" i="0" u="none">
                  <a:solidFill>
                    <a:srgbClr val="3973D4"/>
                  </a:solidFill>
                  <a:latin typeface="Comic Sans MS"/>
                </a:rPr>
                <a:t>Measurement</a:t>
              </a:r>
            </a:p>
          </p:txBody>
        </p:sp>
        <p:grpSp>
          <p:nvGrpSpPr>
            <p:cNvPr id="390" name="Qwen model logo"/>
            <p:cNvGrpSpPr/>
            <p:nvPr/>
          </p:nvGrpSpPr>
          <p:grpSpPr>
            <a:xfrm>
              <a:off x="15557830" y="5837758"/>
              <a:ext cx="304038" cy="312725"/>
              <a:chOff x="15557830" y="5837758"/>
              <a:chExt cx="304038" cy="312725"/>
            </a:xfrm>
          </p:grpSpPr>
          <p:sp>
            <p:nvSpPr>
              <p:cNvPr id="391" name="Qwen logo vector outline"/>
              <p:cNvSpPr/>
              <p:nvPr/>
            </p:nvSpPr>
            <p:spPr>
              <a:xfrm>
                <a:off x="15557830" y="5837758"/>
                <a:ext cx="304038" cy="312725"/>
              </a:xfrm>
              <a:custGeom>
                <a:avLst/>
                <a:gdLst/>
                <a:ahLst/>
                <a:cxnLst/>
                <a:rect l="0" t="0" r="r" b="b"/>
                <a:pathLst>
                  <a:path w="304038" h="312725">
                    <a:moveTo>
                      <a:pt x="260604" y="130302"/>
                    </a:moveTo>
                    <a:lnTo>
                      <a:pt x="286664" y="156362"/>
                    </a:lnTo>
                    <a:lnTo>
                      <a:pt x="286664" y="165049"/>
                    </a:lnTo>
                    <a:lnTo>
                      <a:pt x="304038" y="191110"/>
                    </a:lnTo>
                    <a:lnTo>
                      <a:pt x="295351" y="199796"/>
                    </a:lnTo>
                    <a:lnTo>
                      <a:pt x="269291" y="199796"/>
                    </a:lnTo>
                    <a:lnTo>
                      <a:pt x="251917" y="182423"/>
                    </a:lnTo>
                    <a:lnTo>
                      <a:pt x="251917" y="173736"/>
                    </a:lnTo>
                    <a:lnTo>
                      <a:pt x="243230" y="165049"/>
                    </a:lnTo>
                    <a:lnTo>
                      <a:pt x="234544" y="165049"/>
                    </a:lnTo>
                    <a:lnTo>
                      <a:pt x="234544" y="173736"/>
                    </a:lnTo>
                    <a:lnTo>
                      <a:pt x="225857" y="182423"/>
                    </a:lnTo>
                    <a:lnTo>
                      <a:pt x="225857" y="191110"/>
                    </a:lnTo>
                    <a:lnTo>
                      <a:pt x="217170" y="199796"/>
                    </a:lnTo>
                    <a:lnTo>
                      <a:pt x="217170" y="208483"/>
                    </a:lnTo>
                    <a:lnTo>
                      <a:pt x="199796" y="225857"/>
                    </a:lnTo>
                    <a:lnTo>
                      <a:pt x="199796" y="234544"/>
                    </a:lnTo>
                    <a:lnTo>
                      <a:pt x="191110" y="243230"/>
                    </a:lnTo>
                    <a:lnTo>
                      <a:pt x="191110" y="251917"/>
                    </a:lnTo>
                    <a:lnTo>
                      <a:pt x="182423" y="260604"/>
                    </a:lnTo>
                    <a:lnTo>
                      <a:pt x="182423" y="269291"/>
                    </a:lnTo>
                    <a:lnTo>
                      <a:pt x="173736" y="277978"/>
                    </a:lnTo>
                    <a:lnTo>
                      <a:pt x="173736" y="286664"/>
                    </a:lnTo>
                    <a:lnTo>
                      <a:pt x="156362" y="304038"/>
                    </a:lnTo>
                    <a:lnTo>
                      <a:pt x="138989" y="286664"/>
                    </a:lnTo>
                    <a:lnTo>
                      <a:pt x="138989" y="277978"/>
                    </a:lnTo>
                    <a:lnTo>
                      <a:pt x="130302" y="269291"/>
                    </a:lnTo>
                    <a:lnTo>
                      <a:pt x="147676" y="251917"/>
                    </a:lnTo>
                    <a:lnTo>
                      <a:pt x="147676" y="243230"/>
                    </a:lnTo>
                    <a:lnTo>
                      <a:pt x="156362" y="234544"/>
                    </a:lnTo>
                    <a:lnTo>
                      <a:pt x="156362" y="225857"/>
                    </a:lnTo>
                    <a:lnTo>
                      <a:pt x="173736" y="208483"/>
                    </a:lnTo>
                    <a:lnTo>
                      <a:pt x="173736" y="199796"/>
                    </a:lnTo>
                    <a:lnTo>
                      <a:pt x="182423" y="191110"/>
                    </a:lnTo>
                    <a:lnTo>
                      <a:pt x="182423" y="182423"/>
                    </a:lnTo>
                    <a:lnTo>
                      <a:pt x="191110" y="173736"/>
                    </a:lnTo>
                    <a:lnTo>
                      <a:pt x="191110" y="165049"/>
                    </a:lnTo>
                    <a:lnTo>
                      <a:pt x="199796" y="156362"/>
                    </a:lnTo>
                    <a:lnTo>
                      <a:pt x="199796" y="147676"/>
                    </a:lnTo>
                    <a:lnTo>
                      <a:pt x="217170" y="130302"/>
                    </a:lnTo>
                    <a:close/>
                    <a:moveTo>
                      <a:pt x="34747" y="78181"/>
                    </a:moveTo>
                    <a:lnTo>
                      <a:pt x="60808" y="78181"/>
                    </a:lnTo>
                    <a:lnTo>
                      <a:pt x="86868" y="104242"/>
                    </a:lnTo>
                    <a:lnTo>
                      <a:pt x="86868" y="112928"/>
                    </a:lnTo>
                    <a:lnTo>
                      <a:pt x="95555" y="121615"/>
                    </a:lnTo>
                    <a:lnTo>
                      <a:pt x="95555" y="130302"/>
                    </a:lnTo>
                    <a:lnTo>
                      <a:pt x="104242" y="138989"/>
                    </a:lnTo>
                    <a:lnTo>
                      <a:pt x="104242" y="147676"/>
                    </a:lnTo>
                    <a:lnTo>
                      <a:pt x="112928" y="156362"/>
                    </a:lnTo>
                    <a:lnTo>
                      <a:pt x="112928" y="165049"/>
                    </a:lnTo>
                    <a:lnTo>
                      <a:pt x="130302" y="182423"/>
                    </a:lnTo>
                    <a:lnTo>
                      <a:pt x="130302" y="191110"/>
                    </a:lnTo>
                    <a:lnTo>
                      <a:pt x="147676" y="217170"/>
                    </a:lnTo>
                    <a:lnTo>
                      <a:pt x="147676" y="234544"/>
                    </a:lnTo>
                    <a:lnTo>
                      <a:pt x="138989" y="243230"/>
                    </a:lnTo>
                    <a:lnTo>
                      <a:pt x="138989" y="251917"/>
                    </a:lnTo>
                    <a:lnTo>
                      <a:pt x="112928" y="277978"/>
                    </a:lnTo>
                    <a:lnTo>
                      <a:pt x="60808" y="277978"/>
                    </a:lnTo>
                    <a:lnTo>
                      <a:pt x="52121" y="269291"/>
                    </a:lnTo>
                    <a:lnTo>
                      <a:pt x="52121" y="260604"/>
                    </a:lnTo>
                    <a:lnTo>
                      <a:pt x="78181" y="234544"/>
                    </a:lnTo>
                    <a:lnTo>
                      <a:pt x="104242" y="234544"/>
                    </a:lnTo>
                    <a:lnTo>
                      <a:pt x="104242" y="217170"/>
                    </a:lnTo>
                    <a:lnTo>
                      <a:pt x="95555" y="208483"/>
                    </a:lnTo>
                    <a:lnTo>
                      <a:pt x="95555" y="199796"/>
                    </a:lnTo>
                    <a:lnTo>
                      <a:pt x="78181" y="182423"/>
                    </a:lnTo>
                    <a:lnTo>
                      <a:pt x="78181" y="173736"/>
                    </a:lnTo>
                    <a:lnTo>
                      <a:pt x="69494" y="165049"/>
                    </a:lnTo>
                    <a:lnTo>
                      <a:pt x="69494" y="156362"/>
                    </a:lnTo>
                    <a:lnTo>
                      <a:pt x="52121" y="138989"/>
                    </a:lnTo>
                    <a:lnTo>
                      <a:pt x="52121" y="130302"/>
                    </a:lnTo>
                    <a:lnTo>
                      <a:pt x="43434" y="121615"/>
                    </a:lnTo>
                    <a:lnTo>
                      <a:pt x="43434" y="112928"/>
                    </a:lnTo>
                    <a:lnTo>
                      <a:pt x="26060" y="86868"/>
                    </a:lnTo>
                    <a:close/>
                    <a:moveTo>
                      <a:pt x="78181" y="60808"/>
                    </a:moveTo>
                    <a:lnTo>
                      <a:pt x="86868" y="52121"/>
                    </a:lnTo>
                    <a:lnTo>
                      <a:pt x="86868" y="43434"/>
                    </a:lnTo>
                    <a:lnTo>
                      <a:pt x="95555" y="34747"/>
                    </a:lnTo>
                    <a:lnTo>
                      <a:pt x="95555" y="26060"/>
                    </a:lnTo>
                    <a:lnTo>
                      <a:pt x="112928" y="8687"/>
                    </a:lnTo>
                    <a:lnTo>
                      <a:pt x="130302" y="34747"/>
                    </a:lnTo>
                    <a:lnTo>
                      <a:pt x="130302" y="60808"/>
                    </a:lnTo>
                    <a:lnTo>
                      <a:pt x="121615" y="69494"/>
                    </a:lnTo>
                    <a:lnTo>
                      <a:pt x="121615" y="78181"/>
                    </a:lnTo>
                    <a:lnTo>
                      <a:pt x="269291" y="78181"/>
                    </a:lnTo>
                    <a:lnTo>
                      <a:pt x="277978" y="86868"/>
                    </a:lnTo>
                    <a:lnTo>
                      <a:pt x="277978" y="95555"/>
                    </a:lnTo>
                    <a:lnTo>
                      <a:pt x="260604" y="121615"/>
                    </a:lnTo>
                    <a:lnTo>
                      <a:pt x="104242" y="121615"/>
                    </a:lnTo>
                    <a:lnTo>
                      <a:pt x="95555" y="112928"/>
                    </a:lnTo>
                    <a:lnTo>
                      <a:pt x="95555" y="104242"/>
                    </a:lnTo>
                    <a:lnTo>
                      <a:pt x="78181" y="78181"/>
                    </a:lnTo>
                    <a:close/>
                    <a:moveTo>
                      <a:pt x="112928" y="0"/>
                    </a:moveTo>
                    <a:lnTo>
                      <a:pt x="104242" y="8687"/>
                    </a:lnTo>
                    <a:lnTo>
                      <a:pt x="104242" y="17374"/>
                    </a:lnTo>
                    <a:lnTo>
                      <a:pt x="95555" y="26060"/>
                    </a:lnTo>
                    <a:lnTo>
                      <a:pt x="95555" y="34747"/>
                    </a:lnTo>
                    <a:lnTo>
                      <a:pt x="78181" y="52121"/>
                    </a:lnTo>
                    <a:lnTo>
                      <a:pt x="78181" y="60808"/>
                    </a:lnTo>
                    <a:lnTo>
                      <a:pt x="60808" y="78181"/>
                    </a:lnTo>
                    <a:lnTo>
                      <a:pt x="26060" y="78181"/>
                    </a:lnTo>
                    <a:lnTo>
                      <a:pt x="17374" y="86868"/>
                    </a:lnTo>
                    <a:lnTo>
                      <a:pt x="17374" y="95555"/>
                    </a:lnTo>
                    <a:lnTo>
                      <a:pt x="0" y="121615"/>
                    </a:lnTo>
                    <a:lnTo>
                      <a:pt x="8687" y="130302"/>
                    </a:lnTo>
                    <a:lnTo>
                      <a:pt x="8687" y="138989"/>
                    </a:lnTo>
                    <a:lnTo>
                      <a:pt x="17374" y="147676"/>
                    </a:lnTo>
                    <a:lnTo>
                      <a:pt x="17374" y="156362"/>
                    </a:lnTo>
                    <a:lnTo>
                      <a:pt x="26060" y="165049"/>
                    </a:lnTo>
                    <a:lnTo>
                      <a:pt x="26060" y="173736"/>
                    </a:lnTo>
                    <a:lnTo>
                      <a:pt x="43434" y="191110"/>
                    </a:lnTo>
                    <a:lnTo>
                      <a:pt x="43434" y="199796"/>
                    </a:lnTo>
                    <a:lnTo>
                      <a:pt x="26060" y="225857"/>
                    </a:lnTo>
                    <a:lnTo>
                      <a:pt x="26060" y="243230"/>
                    </a:lnTo>
                    <a:lnTo>
                      <a:pt x="34747" y="251917"/>
                    </a:lnTo>
                    <a:lnTo>
                      <a:pt x="34747" y="260604"/>
                    </a:lnTo>
                    <a:lnTo>
                      <a:pt x="43434" y="269291"/>
                    </a:lnTo>
                    <a:lnTo>
                      <a:pt x="43434" y="277978"/>
                    </a:lnTo>
                    <a:lnTo>
                      <a:pt x="130302" y="277978"/>
                    </a:lnTo>
                    <a:lnTo>
                      <a:pt x="138989" y="286664"/>
                    </a:lnTo>
                    <a:lnTo>
                      <a:pt x="138989" y="295351"/>
                    </a:lnTo>
                    <a:lnTo>
                      <a:pt x="147676" y="304038"/>
                    </a:lnTo>
                    <a:lnTo>
                      <a:pt x="147676" y="312725"/>
                    </a:lnTo>
                    <a:lnTo>
                      <a:pt x="199796" y="312725"/>
                    </a:lnTo>
                    <a:lnTo>
                      <a:pt x="217170" y="295351"/>
                    </a:lnTo>
                    <a:lnTo>
                      <a:pt x="217170" y="277978"/>
                    </a:lnTo>
                    <a:lnTo>
                      <a:pt x="234544" y="260604"/>
                    </a:lnTo>
                    <a:lnTo>
                      <a:pt x="234544" y="251917"/>
                    </a:lnTo>
                    <a:lnTo>
                      <a:pt x="243230" y="243230"/>
                    </a:lnTo>
                    <a:lnTo>
                      <a:pt x="277978" y="243230"/>
                    </a:lnTo>
                    <a:lnTo>
                      <a:pt x="295351" y="225857"/>
                    </a:lnTo>
                    <a:lnTo>
                      <a:pt x="295351" y="217170"/>
                    </a:lnTo>
                    <a:lnTo>
                      <a:pt x="304038" y="208483"/>
                    </a:lnTo>
                    <a:lnTo>
                      <a:pt x="304038" y="182423"/>
                    </a:lnTo>
                    <a:lnTo>
                      <a:pt x="269291" y="130302"/>
                    </a:lnTo>
                    <a:lnTo>
                      <a:pt x="269291" y="112928"/>
                    </a:lnTo>
                    <a:lnTo>
                      <a:pt x="277978" y="104242"/>
                    </a:lnTo>
                    <a:lnTo>
                      <a:pt x="277978" y="95555"/>
                    </a:lnTo>
                    <a:lnTo>
                      <a:pt x="286664" y="86868"/>
                    </a:lnTo>
                    <a:lnTo>
                      <a:pt x="286664" y="78181"/>
                    </a:lnTo>
                    <a:lnTo>
                      <a:pt x="277978" y="69494"/>
                    </a:lnTo>
                    <a:lnTo>
                      <a:pt x="277978" y="60808"/>
                    </a:lnTo>
                    <a:lnTo>
                      <a:pt x="269291" y="52121"/>
                    </a:lnTo>
                    <a:lnTo>
                      <a:pt x="269291" y="43434"/>
                    </a:lnTo>
                    <a:lnTo>
                      <a:pt x="182423" y="43434"/>
                    </a:lnTo>
                    <a:lnTo>
                      <a:pt x="173736" y="34747"/>
                    </a:lnTo>
                    <a:lnTo>
                      <a:pt x="173736" y="26060"/>
                    </a:lnTo>
                    <a:lnTo>
                      <a:pt x="156362" y="8687"/>
                    </a:lnTo>
                    <a:lnTo>
                      <a:pt x="147676" y="8687"/>
                    </a:lnTo>
                    <a:lnTo>
                      <a:pt x="138989" y="0"/>
                    </a:lnTo>
                    <a:close/>
                  </a:path>
                </a:pathLst>
              </a:custGeom>
              <a:solidFill>
                <a:srgbClr val="7C4E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92" name="Right arrow"/>
            <p:cNvSpPr/>
            <p:nvPr/>
          </p:nvSpPr>
          <p:spPr>
            <a:xfrm>
              <a:off x="16011144" y="5888736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28600" h="228600">
                  <a:moveTo>
                    <a:pt x="0" y="61722"/>
                  </a:moveTo>
                  <a:lnTo>
                    <a:pt x="132588" y="61722"/>
                  </a:lnTo>
                  <a:lnTo>
                    <a:pt x="132588" y="0"/>
                  </a:lnTo>
                  <a:lnTo>
                    <a:pt x="228600" y="114300"/>
                  </a:lnTo>
                  <a:lnTo>
                    <a:pt x="132588" y="228600"/>
                  </a:lnTo>
                  <a:lnTo>
                    <a:pt x="132588" y="166878"/>
                  </a:lnTo>
                  <a:lnTo>
                    <a:pt x="0" y="166878"/>
                  </a:lnTo>
                  <a:close/>
                </a:path>
              </a:pathLst>
            </a:custGeom>
            <a:solidFill>
              <a:srgbClr val="9BC5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Correct indicator"/>
            <p:cNvSpPr/>
            <p:nvPr/>
          </p:nvSpPr>
          <p:spPr>
            <a:xfrm>
              <a:off x="16386048" y="5907024"/>
              <a:ext cx="201168" cy="201168"/>
            </a:xfrm>
            <a:prstGeom prst="ellipse">
              <a:avLst/>
            </a:prstGeom>
            <a:solidFill>
              <a:srgbClr val="FFFFFF"/>
            </a:solidFill>
            <a:ln w="15544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Check mark"/>
            <p:cNvSpPr/>
            <p:nvPr/>
          </p:nvSpPr>
          <p:spPr>
            <a:xfrm>
              <a:off x="16443381" y="5972404"/>
              <a:ext cx="94549" cy="69403"/>
            </a:xfrm>
            <a:custGeom>
              <a:avLst/>
              <a:gdLst/>
              <a:ahLst/>
              <a:cxnLst/>
              <a:rect l="0" t="0" r="r" b="b"/>
              <a:pathLst>
                <a:path w="94549" h="69403" fill="none">
                  <a:moveTo>
                    <a:pt x="0" y="35204"/>
                  </a:moveTo>
                  <a:lnTo>
                    <a:pt x="35204" y="69403"/>
                  </a:lnTo>
                  <a:lnTo>
                    <a:pt x="94549" y="0"/>
                  </a:lnTo>
                </a:path>
              </a:pathLst>
            </a:custGeom>
            <a:noFill/>
            <a:ln w="17373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5" name="•"/>
            <p:cNvSpPr txBox="1"/>
            <p:nvPr/>
          </p:nvSpPr>
          <p:spPr>
            <a:xfrm>
              <a:off x="14237208" y="6492240"/>
              <a:ext cx="106999" cy="28895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u="none">
                  <a:solidFill>
                    <a:srgbClr val="080808"/>
                  </a:solidFill>
                  <a:latin typeface="Times New Roman"/>
                </a:rPr>
                <a:t>•</a:t>
              </a:r>
            </a:p>
          </p:txBody>
        </p:sp>
        <p:sp>
          <p:nvSpPr>
            <p:cNvPr id="396" name="Accuracy Reward"/>
            <p:cNvSpPr txBox="1"/>
            <p:nvPr/>
          </p:nvSpPr>
          <p:spPr>
            <a:xfrm>
              <a:off x="14520672" y="6473952"/>
              <a:ext cx="2514600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 u="none">
                  <a:solidFill>
                    <a:srgbClr val="080808"/>
                  </a:solidFill>
                  <a:latin typeface="Comic Sans MS"/>
                </a:rPr>
                <a:t>Accuracy Reward</a:t>
              </a:r>
            </a:p>
          </p:txBody>
        </p:sp>
        <p:sp>
          <p:nvSpPr>
            <p:cNvPr id="397" name="&lt;score&gt; Incorrect &lt;/score&gt;"/>
            <p:cNvSpPr txBox="1"/>
            <p:nvPr/>
          </p:nvSpPr>
          <p:spPr>
            <a:xfrm>
              <a:off x="14621256" y="6748272"/>
              <a:ext cx="1993392" cy="216852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7" b="1" i="0" u="none">
                  <a:solidFill>
                    <a:srgbClr val="E90000"/>
                  </a:solidFill>
                  <a:latin typeface="Comic Sans MS"/>
                </a:rPr>
                <a:t>&lt;score&gt; </a:t>
              </a:r>
              <a:r>
                <a:rPr sz="1147" b="0" i="0" u="none">
                  <a:solidFill>
                    <a:srgbClr val="080808"/>
                  </a:solidFill>
                  <a:latin typeface="Comic Sans MS"/>
                </a:rPr>
                <a:t>Incorrect</a:t>
              </a:r>
              <a:r>
                <a:rPr sz="1147" b="1" i="0" u="none">
                  <a:solidFill>
                    <a:srgbClr val="E90000"/>
                  </a:solidFill>
                  <a:latin typeface="Comic Sans MS"/>
                </a:rPr>
                <a:t> &lt;/score&gt;</a:t>
              </a:r>
            </a:p>
          </p:txBody>
        </p:sp>
        <p:sp>
          <p:nvSpPr>
            <p:cNvPr id="398" name="Correct indicator"/>
            <p:cNvSpPr/>
            <p:nvPr/>
          </p:nvSpPr>
          <p:spPr>
            <a:xfrm>
              <a:off x="16706088" y="6739128"/>
              <a:ext cx="201168" cy="201168"/>
            </a:xfrm>
            <a:prstGeom prst="ellipse">
              <a:avLst/>
            </a:prstGeom>
            <a:solidFill>
              <a:srgbClr val="FFFFFF"/>
            </a:solidFill>
            <a:ln w="15544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Check mark"/>
            <p:cNvSpPr/>
            <p:nvPr/>
          </p:nvSpPr>
          <p:spPr>
            <a:xfrm>
              <a:off x="16763421" y="6804508"/>
              <a:ext cx="94549" cy="69403"/>
            </a:xfrm>
            <a:custGeom>
              <a:avLst/>
              <a:gdLst/>
              <a:ahLst/>
              <a:cxnLst/>
              <a:rect l="0" t="0" r="r" b="b"/>
              <a:pathLst>
                <a:path w="94549" h="69403" fill="none">
                  <a:moveTo>
                    <a:pt x="0" y="35204"/>
                  </a:moveTo>
                  <a:lnTo>
                    <a:pt x="35204" y="69403"/>
                  </a:lnTo>
                  <a:lnTo>
                    <a:pt x="94549" y="0"/>
                  </a:lnTo>
                </a:path>
              </a:pathLst>
            </a:custGeom>
            <a:noFill/>
            <a:ln w="17373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0" name="•"/>
            <p:cNvSpPr txBox="1"/>
            <p:nvPr/>
          </p:nvSpPr>
          <p:spPr>
            <a:xfrm>
              <a:off x="14237208" y="7214616"/>
              <a:ext cx="106999" cy="28895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u="none">
                  <a:solidFill>
                    <a:srgbClr val="080808"/>
                  </a:solidFill>
                  <a:latin typeface="Times New Roman"/>
                </a:rPr>
                <a:t>•</a:t>
              </a:r>
            </a:p>
          </p:txBody>
        </p:sp>
        <p:sp>
          <p:nvSpPr>
            <p:cNvPr id="401" name="Format Reward"/>
            <p:cNvSpPr txBox="1"/>
            <p:nvPr/>
          </p:nvSpPr>
          <p:spPr>
            <a:xfrm>
              <a:off x="14520672" y="7187184"/>
              <a:ext cx="2487168" cy="312725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0" u="none">
                  <a:solidFill>
                    <a:srgbClr val="080808"/>
                  </a:solidFill>
                  <a:latin typeface="Comic Sans MS"/>
                </a:rPr>
                <a:t>Format Reward</a:t>
              </a:r>
            </a:p>
          </p:txBody>
        </p:sp>
        <p:sp>
          <p:nvSpPr>
            <p:cNvPr id="402" name="&lt;thinking&gt; ... &lt;/thinking&gt;"/>
            <p:cNvSpPr txBox="1"/>
            <p:nvPr/>
          </p:nvSpPr>
          <p:spPr>
            <a:xfrm>
              <a:off x="14685264" y="7443216"/>
              <a:ext cx="2029968" cy="22476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 i="0" u="none">
                  <a:solidFill>
                    <a:srgbClr val="E90000"/>
                  </a:solidFill>
                  <a:latin typeface="Comic Sans MS"/>
                </a:rPr>
                <a:t>&lt;thinking&gt; ... &lt;/thinking&gt;</a:t>
              </a:r>
            </a:p>
          </p:txBody>
        </p:sp>
        <p:sp>
          <p:nvSpPr>
            <p:cNvPr id="403" name="&lt;score&gt; ... &lt;/score&gt;"/>
            <p:cNvSpPr txBox="1"/>
            <p:nvPr/>
          </p:nvSpPr>
          <p:spPr>
            <a:xfrm>
              <a:off x="14676120" y="7616952"/>
              <a:ext cx="1847088" cy="22476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 i="0" u="none">
                  <a:solidFill>
                    <a:srgbClr val="E90000"/>
                  </a:solidFill>
                  <a:latin typeface="Comic Sans MS"/>
                </a:rPr>
                <a:t>&lt;score&gt; ... &lt;/score&gt;</a:t>
              </a:r>
            </a:p>
          </p:txBody>
        </p:sp>
        <p:sp>
          <p:nvSpPr>
            <p:cNvPr id="404" name="&lt;suggestion&gt; ... &lt;/suggestion&gt;"/>
            <p:cNvSpPr txBox="1"/>
            <p:nvPr/>
          </p:nvSpPr>
          <p:spPr>
            <a:xfrm>
              <a:off x="14429232" y="7790688"/>
              <a:ext cx="2505456" cy="224760"/>
            </a:xfrm>
            <a:prstGeom prst="rect">
              <a:avLst/>
            </a:prstGeom>
            <a:noFill/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 i="0" u="none">
                  <a:solidFill>
                    <a:srgbClr val="E90000"/>
                  </a:solidFill>
                  <a:latin typeface="Comic Sans MS"/>
                </a:rPr>
                <a:t>&lt;suggestion&gt; ... &lt;/suggestion&gt;</a:t>
              </a:r>
            </a:p>
          </p:txBody>
        </p:sp>
        <p:sp>
          <p:nvSpPr>
            <p:cNvPr id="405" name="Correct indicator"/>
            <p:cNvSpPr/>
            <p:nvPr/>
          </p:nvSpPr>
          <p:spPr>
            <a:xfrm>
              <a:off x="16495776" y="7552944"/>
              <a:ext cx="201168" cy="201168"/>
            </a:xfrm>
            <a:prstGeom prst="ellipse">
              <a:avLst/>
            </a:prstGeom>
            <a:solidFill>
              <a:srgbClr val="FFFFFF"/>
            </a:solidFill>
            <a:ln w="15544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Check mark"/>
            <p:cNvSpPr/>
            <p:nvPr/>
          </p:nvSpPr>
          <p:spPr>
            <a:xfrm>
              <a:off x="16553109" y="7618324"/>
              <a:ext cx="94549" cy="69403"/>
            </a:xfrm>
            <a:custGeom>
              <a:avLst/>
              <a:gdLst/>
              <a:ahLst/>
              <a:cxnLst/>
              <a:rect l="0" t="0" r="r" b="b"/>
              <a:pathLst>
                <a:path w="94549" h="69403" fill="none">
                  <a:moveTo>
                    <a:pt x="0" y="35204"/>
                  </a:moveTo>
                  <a:lnTo>
                    <a:pt x="35204" y="69403"/>
                  </a:lnTo>
                  <a:lnTo>
                    <a:pt x="94549" y="0"/>
                  </a:lnTo>
                </a:path>
              </a:pathLst>
            </a:custGeom>
            <a:noFill/>
            <a:ln w="17373" cap="rnd">
              <a:solidFill>
                <a:srgbClr val="00C99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Look Before You Leap A GUI-Critic-R1 Model for Pre-Operative Error Diagnosis in GUI Auto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4184" cy="8421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GUI-Critic-R1 — Editable Diagram Reconstruction</dc:title>
  <dc:subject>Data Collection Pipeline with Reasoning Bootstrapping and Suggestion-Aware GRPO</dc:subject>
  <dc:creator/>
  <cp:keywords>editable, GUI-Critic-R1, reasoning bootstrapping, S-GRPO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