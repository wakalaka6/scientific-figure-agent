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0" autoCompressPictures="0" embedTrueTypeFonts="1">
  <p:sldMasterIdLst>
    <p:sldMasterId id="2147483648" r:id="rId1"/>
  </p:sldMasterIdLst>
  <p:sldIdLst>
    <p:sldId id="256" r:id="rId7"/>
    <p:sldId id="257" r:id="rId13"/>
  </p:sldIdLst>
  <p:sldSz cx="17638776" cy="10963656" type="screen4x3"/>
  <p:notesSz cx="6858000" cy="9144000"/>
  <p:embeddedFontLst>
    <p:embeddedFont>
      <p:font typeface="DejaVu Sans Mono" pitchFamily="49" charset="0"/>
      <p:regular r:id="rIdRoverFont1"/>
      <p:bold r:id="rIdRoverFont2"/>
    </p:embeddedFont>
    <p:embeddedFont>
      <p:font typeface="Liberation Serif" pitchFamily="18" charset="0"/>
      <p:regular r:id="rIdRoverFont3"/>
      <p:italic r:id="rIdRoverFont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RoverFont1" Type="http://schemas.openxmlformats.org/officeDocument/2006/relationships/font" Target="fonts/font1.fntdata"/><Relationship Id="rIdRoverFont2" Type="http://schemas.openxmlformats.org/officeDocument/2006/relationships/font" Target="fonts/font2.fntdata"/><Relationship Id="rIdRoverFont3" Type="http://schemas.openxmlformats.org/officeDocument/2006/relationships/font" Target="fonts/font3.fntdata"/><Relationship Id="rIdRoverFont4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13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Reconstructed from the provided reference. Text, time-step labels, panels, arrows, φ/ψ symbols and ellipsis dots are native editable objects. Nine robot scenes are separate original raster crops. The last completion line is shifted slightly upward to avoid the source image clipping.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effectLst/>
      </p:grpSpPr>
      <p:sp>
        <p:nvSpPr>
          <p:cNvPr id="2" name="Canvas"/>
          <p:cNvSpPr/>
          <p:nvPr/>
        </p:nvSpPr>
        <p:spPr>
          <a:xfrm>
            <a:off x="0" y="0"/>
            <a:ext cx="17638776" cy="10963656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ask level 1 - gray panel"/>
          <p:cNvSpPr/>
          <p:nvPr/>
        </p:nvSpPr>
        <p:spPr>
          <a:xfrm>
            <a:off x="91440" y="192024"/>
            <a:ext cx="5751576" cy="10771632"/>
          </a:xfrm>
          <a:prstGeom prst="rect">
            <a:avLst/>
          </a:prstGeom>
          <a:solidFill>
            <a:srgbClr val="F0F0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ask level 2 - ochre panel"/>
          <p:cNvSpPr/>
          <p:nvPr/>
        </p:nvSpPr>
        <p:spPr>
          <a:xfrm>
            <a:off x="6208776" y="155448"/>
            <a:ext cx="5614416" cy="10177272"/>
          </a:xfrm>
          <a:prstGeom prst="rect">
            <a:avLst/>
          </a:prstGeom>
          <a:solidFill>
            <a:srgbClr val="FB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ask level 3 - brown panel"/>
          <p:cNvSpPr/>
          <p:nvPr/>
        </p:nvSpPr>
        <p:spPr>
          <a:xfrm>
            <a:off x="12170664" y="146304"/>
            <a:ext cx="5468112" cy="10817352"/>
          </a:xfrm>
          <a:prstGeom prst="rect">
            <a:avLst/>
          </a:prstGeom>
          <a:solidFill>
            <a:srgbClr val="F1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evel 1 next task band 01"/>
          <p:cNvSpPr/>
          <p:nvPr/>
        </p:nvSpPr>
        <p:spPr>
          <a:xfrm>
            <a:off x="91440" y="3502152"/>
            <a:ext cx="5751576" cy="374904"/>
          </a:xfrm>
          <a:prstGeom prst="rect">
            <a:avLst/>
          </a:prstGeom>
          <a:solidFill>
            <a:srgbClr val="FB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vel 1 next task band 02"/>
          <p:cNvSpPr/>
          <p:nvPr/>
        </p:nvSpPr>
        <p:spPr>
          <a:xfrm>
            <a:off x="91440" y="6739128"/>
            <a:ext cx="5751576" cy="365760"/>
          </a:xfrm>
          <a:prstGeom prst="rect">
            <a:avLst/>
          </a:prstGeom>
          <a:solidFill>
            <a:srgbClr val="FB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Level 1 next task band 03"/>
          <p:cNvSpPr/>
          <p:nvPr/>
        </p:nvSpPr>
        <p:spPr>
          <a:xfrm>
            <a:off x="91440" y="9939528"/>
            <a:ext cx="5751576" cy="393192"/>
          </a:xfrm>
          <a:prstGeom prst="rect">
            <a:avLst/>
          </a:prstGeom>
          <a:solidFill>
            <a:srgbClr val="FB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vel 2 next task band 01"/>
          <p:cNvSpPr/>
          <p:nvPr/>
        </p:nvSpPr>
        <p:spPr>
          <a:xfrm>
            <a:off x="6208776" y="3456432"/>
            <a:ext cx="5614416" cy="329184"/>
          </a:xfrm>
          <a:prstGeom prst="rect">
            <a:avLst/>
          </a:prstGeom>
          <a:solidFill>
            <a:srgbClr val="F1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Level 2 next task band 02"/>
          <p:cNvSpPr/>
          <p:nvPr/>
        </p:nvSpPr>
        <p:spPr>
          <a:xfrm>
            <a:off x="6208776" y="6601968"/>
            <a:ext cx="5614416" cy="384048"/>
          </a:xfrm>
          <a:prstGeom prst="rect">
            <a:avLst/>
          </a:prstGeom>
          <a:solidFill>
            <a:srgbClr val="F1EC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L1 observation 00 - microwave closed" descr="L1 observation 00 - microwave clos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" y="667512"/>
            <a:ext cx="3950208" cy="2523744"/>
          </a:xfrm>
          <a:prstGeom prst="rect">
            <a:avLst/>
          </a:prstGeom>
          <a:effectLst/>
        </p:spPr>
      </p:pic>
      <p:pic>
        <p:nvPicPr>
          <p:cNvPr id="12" name="L1 observation 14 - door open" descr="L1 observation 14 - door 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9848" y="3913632"/>
            <a:ext cx="3904488" cy="2514600"/>
          </a:xfrm>
          <a:prstGeom prst="rect">
            <a:avLst/>
          </a:prstGeom>
          <a:effectLst/>
        </p:spPr>
      </p:pic>
      <p:pic>
        <p:nvPicPr>
          <p:cNvPr id="13" name="L1 observation 31 - steak inside" descr="L1 observation 31 - steak insid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7132320"/>
            <a:ext cx="3904488" cy="2532888"/>
          </a:xfrm>
          <a:prstGeom prst="rect">
            <a:avLst/>
          </a:prstGeom>
          <a:effectLst/>
        </p:spPr>
      </p:pic>
      <p:pic>
        <p:nvPicPr>
          <p:cNvPr id="14" name="L2 observation 00 - microwave closed" descr="L2 observation 00 - microwave clos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41464" y="548640"/>
            <a:ext cx="3867912" cy="2532888"/>
          </a:xfrm>
          <a:prstGeom prst="rect">
            <a:avLst/>
          </a:prstGeom>
          <a:effectLst/>
        </p:spPr>
      </p:pic>
      <p:pic>
        <p:nvPicPr>
          <p:cNvPr id="15" name="L2 observation 09 - handle grasped" descr="L2 observation 09 - handle grasp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41464" y="3758184"/>
            <a:ext cx="3867912" cy="2523744"/>
          </a:xfrm>
          <a:prstGeom prst="rect">
            <a:avLst/>
          </a:prstGeom>
          <a:effectLst/>
        </p:spPr>
      </p:pic>
      <p:pic>
        <p:nvPicPr>
          <p:cNvPr id="16" name="L2 observation 14 - door open" descr="L2 observation 14 - door ope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608" y="7132320"/>
            <a:ext cx="3858768" cy="2532888"/>
          </a:xfrm>
          <a:prstGeom prst="rect">
            <a:avLst/>
          </a:prstGeom>
          <a:effectLst/>
        </p:spPr>
      </p:pic>
      <p:pic>
        <p:nvPicPr>
          <p:cNvPr id="17" name="L3 observation 00 - approach" descr="L3 observation 00 - approach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3039344" y="530352"/>
            <a:ext cx="3904488" cy="2523744"/>
          </a:xfrm>
          <a:prstGeom prst="rect">
            <a:avLst/>
          </a:prstGeom>
          <a:effectLst/>
        </p:spPr>
      </p:pic>
      <p:pic>
        <p:nvPicPr>
          <p:cNvPr id="18" name="L3 observation 01 - closer to handle" descr="L3 observation 01 - closer to handl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3039344" y="3767328"/>
            <a:ext cx="3904488" cy="2514600"/>
          </a:xfrm>
          <a:prstGeom prst="rect">
            <a:avLst/>
          </a:prstGeom>
          <a:effectLst/>
        </p:spPr>
      </p:pic>
      <p:pic>
        <p:nvPicPr>
          <p:cNvPr id="19" name="L3 observation 09 - handle grasped" descr="L3 observation 09 - handle grasp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039344" y="7653528"/>
            <a:ext cx="3904488" cy="2542032"/>
          </a:xfrm>
          <a:prstGeom prst="rect">
            <a:avLst/>
          </a:prstGeom>
          <a:effectLst/>
        </p:spPr>
      </p:pic>
      <p:sp>
        <p:nvSpPr>
          <p:cNvPr id="20" name="L1 main task"/>
          <p:cNvSpPr txBox="1"/>
          <p:nvPr/>
        </p:nvSpPr>
        <p:spPr>
          <a:xfrm>
            <a:off x="128016" y="212160"/>
            <a:ext cx="1769364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777777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777777"/>
                  </a:solidFill>
                </a:ln>
                <a:solidFill>
                  <a:srgbClr val="777777"/>
                </a:solidFill>
                <a:latin typeface="DejaVu Sans Mono" pitchFamily="49" charset="0"/>
              </a:rPr>
              <a:t>Task:  “Thaw the steak in the microwave”</a:t>
            </a:r>
          </a:p>
        </p:txBody>
      </p:sp>
      <p:sp>
        <p:nvSpPr>
          <p:cNvPr id="21" name="L2 main task"/>
          <p:cNvSpPr txBox="1"/>
          <p:nvPr/>
        </p:nvSpPr>
        <p:spPr>
          <a:xfrm>
            <a:off x="6300216" y="230448"/>
            <a:ext cx="1152144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C69627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C69627"/>
                  </a:solidFill>
                </a:ln>
                <a:solidFill>
                  <a:srgbClr val="C69627"/>
                </a:solidFill>
                <a:latin typeface="DejaVu Sans Mono" pitchFamily="49" charset="0"/>
              </a:rPr>
              <a:t>Task: </a:t>
            </a:r>
            <a:r>
              <a:rPr sz="1907" b="1" i="0" spc="-92" kern="120000">
                <a:ln w="3200">
                  <a:solidFill>
                    <a:srgbClr val="C69627"/>
                  </a:solidFill>
                </a:ln>
                <a:solidFill>
                  <a:srgbClr val="C69627"/>
                </a:solidFill>
                <a:latin typeface="DejaVu Sans Mono" pitchFamily="49" charset="0"/>
              </a:rPr>
              <a:t>“Open microwave door”</a:t>
            </a:r>
          </a:p>
        </p:txBody>
      </p:sp>
      <p:sp>
        <p:nvSpPr>
          <p:cNvPr id="22" name="L3 main task"/>
          <p:cNvSpPr txBox="1"/>
          <p:nvPr/>
        </p:nvSpPr>
        <p:spPr>
          <a:xfrm>
            <a:off x="12335256" y="212160"/>
            <a:ext cx="548640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824C14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824C14"/>
                  </a:solidFill>
                </a:ln>
                <a:solidFill>
                  <a:srgbClr val="824C14"/>
                </a:solidFill>
                <a:latin typeface="DejaVu Sans Mono" pitchFamily="49" charset="0"/>
              </a:rPr>
              <a:t>Task: </a:t>
            </a:r>
            <a:r>
              <a:rPr sz="1907" b="1" i="0" spc="-92" kern="120000">
                <a:ln w="3200">
                  <a:solidFill>
                    <a:srgbClr val="824C14"/>
                  </a:solidFill>
                </a:ln>
                <a:solidFill>
                  <a:srgbClr val="824C14"/>
                </a:solidFill>
                <a:latin typeface="DejaVu Sans Mono" pitchFamily="49" charset="0"/>
              </a:rPr>
              <a:t>“Grasp door handle”</a:t>
            </a:r>
          </a:p>
        </p:txBody>
      </p:sp>
      <p:grpSp>
        <p:nvGrpSpPr>
          <p:cNvPr id="23" name="L1 time o0"/>
          <p:cNvGrpSpPr/>
          <p:nvPr/>
        </p:nvGrpSpPr>
        <p:grpSpPr>
          <a:xfrm>
            <a:off x="530352" y="1665467"/>
            <a:ext cx="551462" cy="521208"/>
            <a:chOff x="530352" y="1665467"/>
            <a:chExt cx="551462" cy="521208"/>
          </a:xfrm>
          <a:effectLst/>
        </p:grpSpPr>
        <p:sp>
          <p:nvSpPr>
            <p:cNvPr id="24" name="L1 time o0 1"/>
            <p:cNvSpPr txBox="1"/>
            <p:nvPr/>
          </p:nvSpPr>
          <p:spPr>
            <a:xfrm>
              <a:off x="530352" y="1665467"/>
              <a:ext cx="143143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777777"/>
                  </a:solidFill>
                  <a:latin typeface="Liberation Serif"/>
                </a:defRPr>
                <a:buNone/>
              </a:pPr>
              <a:r>
                <a:rPr sz="2736" b="0" i="0" spc="0" kern="120000">
                  <a:solidFill>
                    <a:srgbClr val="777777"/>
                  </a:solidFill>
                  <a:latin typeface="Liberation Serif" pitchFamily="18" charset="0"/>
                </a:rPr>
                <a:t>[</a:t>
              </a:r>
            </a:p>
          </p:txBody>
        </p:sp>
        <p:sp>
          <p:nvSpPr>
            <p:cNvPr id="25" name="L1 time o0 2"/>
            <p:cNvSpPr txBox="1"/>
            <p:nvPr/>
          </p:nvSpPr>
          <p:spPr>
            <a:xfrm>
              <a:off x="646063" y="1665467"/>
              <a:ext cx="201168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777777"/>
                  </a:solidFill>
                  <a:latin typeface="Liberation Serif"/>
                </a:defRPr>
                <a:buNone/>
              </a:pPr>
              <a:r>
                <a:rPr sz="2736" b="0" i="1" spc="0" kern="120000">
                  <a:solidFill>
                    <a:srgbClr val="777777"/>
                  </a:solidFill>
                  <a:latin typeface="Liberation Serif" pitchFamily="18" charset="0"/>
                </a:rPr>
                <a:t>o</a:t>
              </a:r>
            </a:p>
          </p:txBody>
        </p:sp>
        <p:sp>
          <p:nvSpPr>
            <p:cNvPr id="26" name="L1 time o0 3"/>
            <p:cNvSpPr txBox="1"/>
            <p:nvPr/>
          </p:nvSpPr>
          <p:spPr>
            <a:xfrm>
              <a:off x="819799" y="1827255"/>
              <a:ext cx="146304" cy="356616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1872">
                  <a:solidFill>
                    <a:srgbClr val="777777"/>
                  </a:solidFill>
                  <a:latin typeface="Liberation Serif"/>
                </a:defRPr>
                <a:buNone/>
              </a:pPr>
              <a:r>
                <a:rPr sz="1872" b="0" i="0" spc="0" kern="120000">
                  <a:solidFill>
                    <a:srgbClr val="777777"/>
                  </a:solidFill>
                  <a:latin typeface="Liberation Serif" pitchFamily="18" charset="0"/>
                </a:rPr>
                <a:t>0</a:t>
              </a:r>
            </a:p>
          </p:txBody>
        </p:sp>
        <p:sp>
          <p:nvSpPr>
            <p:cNvPr id="27" name="L1 time o0 4"/>
            <p:cNvSpPr txBox="1"/>
            <p:nvPr/>
          </p:nvSpPr>
          <p:spPr>
            <a:xfrm>
              <a:off x="938671" y="1665467"/>
              <a:ext cx="143143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777777"/>
                  </a:solidFill>
                  <a:latin typeface="Liberation Serif"/>
                </a:defRPr>
                <a:buNone/>
              </a:pPr>
              <a:r>
                <a:rPr sz="2736" b="0" i="0" spc="0" kern="120000">
                  <a:solidFill>
                    <a:srgbClr val="777777"/>
                  </a:solidFill>
                  <a:latin typeface="Liberation Serif" pitchFamily="18" charset="0"/>
                </a:rPr>
                <a:t>]</a:t>
              </a:r>
            </a:p>
          </p:txBody>
        </p:sp>
      </p:grpSp>
      <p:grpSp>
        <p:nvGrpSpPr>
          <p:cNvPr id="28" name="L1 time o14"/>
          <p:cNvGrpSpPr/>
          <p:nvPr/>
        </p:nvGrpSpPr>
        <p:grpSpPr>
          <a:xfrm>
            <a:off x="420624" y="4865867"/>
            <a:ext cx="670334" cy="521208"/>
            <a:chOff x="420624" y="4865867"/>
            <a:chExt cx="670334" cy="521208"/>
          </a:xfrm>
          <a:effectLst/>
        </p:grpSpPr>
        <p:sp>
          <p:nvSpPr>
            <p:cNvPr id="29" name="L1 time o14 1"/>
            <p:cNvSpPr txBox="1"/>
            <p:nvPr/>
          </p:nvSpPr>
          <p:spPr>
            <a:xfrm>
              <a:off x="420624" y="4865867"/>
              <a:ext cx="143143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777777"/>
                  </a:solidFill>
                  <a:latin typeface="Liberation Serif"/>
                </a:defRPr>
                <a:buNone/>
              </a:pPr>
              <a:r>
                <a:rPr sz="2736" b="0" i="0" spc="0" kern="120000">
                  <a:solidFill>
                    <a:srgbClr val="777777"/>
                  </a:solidFill>
                  <a:latin typeface="Liberation Serif" pitchFamily="18" charset="0"/>
                </a:rPr>
                <a:t>[</a:t>
              </a:r>
            </a:p>
          </p:txBody>
        </p:sp>
        <p:sp>
          <p:nvSpPr>
            <p:cNvPr id="30" name="L1 time o14 2"/>
            <p:cNvSpPr txBox="1"/>
            <p:nvPr/>
          </p:nvSpPr>
          <p:spPr>
            <a:xfrm>
              <a:off x="536335" y="4865867"/>
              <a:ext cx="201168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777777"/>
                  </a:solidFill>
                  <a:latin typeface="Liberation Serif"/>
                </a:defRPr>
                <a:buNone/>
              </a:pPr>
              <a:r>
                <a:rPr sz="2736" b="0" i="1" spc="0" kern="120000">
                  <a:solidFill>
                    <a:srgbClr val="777777"/>
                  </a:solidFill>
                  <a:latin typeface="Liberation Serif" pitchFamily="18" charset="0"/>
                </a:rPr>
                <a:t>o</a:t>
              </a:r>
            </a:p>
          </p:txBody>
        </p:sp>
        <p:sp>
          <p:nvSpPr>
            <p:cNvPr id="31" name="L1 time o14 3"/>
            <p:cNvSpPr txBox="1"/>
            <p:nvPr/>
          </p:nvSpPr>
          <p:spPr>
            <a:xfrm>
              <a:off x="710071" y="5027655"/>
              <a:ext cx="265176" cy="356616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1872">
                  <a:solidFill>
                    <a:srgbClr val="777777"/>
                  </a:solidFill>
                  <a:latin typeface="Liberation Serif"/>
                </a:defRPr>
                <a:buNone/>
              </a:pPr>
              <a:r>
                <a:rPr sz="1872" b="0" i="0" spc="0" kern="120000">
                  <a:solidFill>
                    <a:srgbClr val="777777"/>
                  </a:solidFill>
                  <a:latin typeface="Liberation Serif" pitchFamily="18" charset="0"/>
                </a:rPr>
                <a:t>14</a:t>
              </a:r>
            </a:p>
          </p:txBody>
        </p:sp>
        <p:sp>
          <p:nvSpPr>
            <p:cNvPr id="32" name="L1 time o14 4"/>
            <p:cNvSpPr txBox="1"/>
            <p:nvPr/>
          </p:nvSpPr>
          <p:spPr>
            <a:xfrm>
              <a:off x="947815" y="4865867"/>
              <a:ext cx="143143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777777"/>
                  </a:solidFill>
                  <a:latin typeface="Liberation Serif"/>
                </a:defRPr>
                <a:buNone/>
              </a:pPr>
              <a:r>
                <a:rPr sz="2736" b="0" i="0" spc="0" kern="120000">
                  <a:solidFill>
                    <a:srgbClr val="777777"/>
                  </a:solidFill>
                  <a:latin typeface="Liberation Serif" pitchFamily="18" charset="0"/>
                </a:rPr>
                <a:t>]</a:t>
              </a:r>
            </a:p>
          </p:txBody>
        </p:sp>
      </p:grpSp>
      <p:grpSp>
        <p:nvGrpSpPr>
          <p:cNvPr id="33" name="L1 time o31"/>
          <p:cNvGrpSpPr/>
          <p:nvPr/>
        </p:nvGrpSpPr>
        <p:grpSpPr>
          <a:xfrm>
            <a:off x="338328" y="8175995"/>
            <a:ext cx="670334" cy="521208"/>
            <a:chOff x="338328" y="8175995"/>
            <a:chExt cx="670334" cy="521208"/>
          </a:xfrm>
          <a:effectLst/>
        </p:grpSpPr>
        <p:sp>
          <p:nvSpPr>
            <p:cNvPr id="34" name="L1 time o31 1"/>
            <p:cNvSpPr txBox="1"/>
            <p:nvPr/>
          </p:nvSpPr>
          <p:spPr>
            <a:xfrm>
              <a:off x="338328" y="8175995"/>
              <a:ext cx="143143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777777"/>
                  </a:solidFill>
                  <a:latin typeface="Liberation Serif"/>
                </a:defRPr>
                <a:buNone/>
              </a:pPr>
              <a:r>
                <a:rPr sz="2736" b="0" i="0" spc="0" kern="120000">
                  <a:solidFill>
                    <a:srgbClr val="777777"/>
                  </a:solidFill>
                  <a:latin typeface="Liberation Serif" pitchFamily="18" charset="0"/>
                </a:rPr>
                <a:t>[</a:t>
              </a:r>
            </a:p>
          </p:txBody>
        </p:sp>
        <p:sp>
          <p:nvSpPr>
            <p:cNvPr id="35" name="L1 time o31 2"/>
            <p:cNvSpPr txBox="1"/>
            <p:nvPr/>
          </p:nvSpPr>
          <p:spPr>
            <a:xfrm>
              <a:off x="454039" y="8175995"/>
              <a:ext cx="201168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777777"/>
                  </a:solidFill>
                  <a:latin typeface="Liberation Serif"/>
                </a:defRPr>
                <a:buNone/>
              </a:pPr>
              <a:r>
                <a:rPr sz="2736" b="0" i="1" spc="0" kern="120000">
                  <a:solidFill>
                    <a:srgbClr val="777777"/>
                  </a:solidFill>
                  <a:latin typeface="Liberation Serif" pitchFamily="18" charset="0"/>
                </a:rPr>
                <a:t>o</a:t>
              </a:r>
            </a:p>
          </p:txBody>
        </p:sp>
        <p:sp>
          <p:nvSpPr>
            <p:cNvPr id="36" name="L1 time o31 3"/>
            <p:cNvSpPr txBox="1"/>
            <p:nvPr/>
          </p:nvSpPr>
          <p:spPr>
            <a:xfrm>
              <a:off x="627775" y="8337783"/>
              <a:ext cx="265176" cy="356616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1872">
                  <a:solidFill>
                    <a:srgbClr val="777777"/>
                  </a:solidFill>
                  <a:latin typeface="Liberation Serif"/>
                </a:defRPr>
                <a:buNone/>
              </a:pPr>
              <a:r>
                <a:rPr sz="1872" b="0" i="0" spc="0" kern="120000">
                  <a:solidFill>
                    <a:srgbClr val="777777"/>
                  </a:solidFill>
                  <a:latin typeface="Liberation Serif" pitchFamily="18" charset="0"/>
                </a:rPr>
                <a:t>31</a:t>
              </a:r>
            </a:p>
          </p:txBody>
        </p:sp>
        <p:sp>
          <p:nvSpPr>
            <p:cNvPr id="37" name="L1 time o31 4"/>
            <p:cNvSpPr txBox="1"/>
            <p:nvPr/>
          </p:nvSpPr>
          <p:spPr>
            <a:xfrm>
              <a:off x="865519" y="8175995"/>
              <a:ext cx="143143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777777"/>
                  </a:solidFill>
                  <a:latin typeface="Liberation Serif"/>
                </a:defRPr>
                <a:buNone/>
              </a:pPr>
              <a:r>
                <a:rPr sz="2736" b="0" i="0" spc="0" kern="120000">
                  <a:solidFill>
                    <a:srgbClr val="777777"/>
                  </a:solidFill>
                  <a:latin typeface="Liberation Serif" pitchFamily="18" charset="0"/>
                </a:rPr>
                <a:t>]</a:t>
              </a:r>
            </a:p>
          </p:txBody>
        </p:sp>
      </p:grpSp>
      <p:grpSp>
        <p:nvGrpSpPr>
          <p:cNvPr id="38" name="L2 time o0"/>
          <p:cNvGrpSpPr/>
          <p:nvPr/>
        </p:nvGrpSpPr>
        <p:grpSpPr>
          <a:xfrm>
            <a:off x="6583680" y="1628891"/>
            <a:ext cx="551462" cy="521208"/>
            <a:chOff x="6583680" y="1628891"/>
            <a:chExt cx="551462" cy="521208"/>
          </a:xfrm>
          <a:effectLst/>
        </p:grpSpPr>
        <p:sp>
          <p:nvSpPr>
            <p:cNvPr id="39" name="L2 time o0 1"/>
            <p:cNvSpPr txBox="1"/>
            <p:nvPr/>
          </p:nvSpPr>
          <p:spPr>
            <a:xfrm>
              <a:off x="6583680" y="1628891"/>
              <a:ext cx="143143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C69627"/>
                  </a:solidFill>
                  <a:latin typeface="Liberation Serif"/>
                </a:defRPr>
                <a:buNone/>
              </a:pPr>
              <a:r>
                <a:rPr sz="2736" b="0" i="0" spc="0" kern="120000">
                  <a:solidFill>
                    <a:srgbClr val="C69627"/>
                  </a:solidFill>
                  <a:latin typeface="Liberation Serif" pitchFamily="18" charset="0"/>
                </a:rPr>
                <a:t>[</a:t>
              </a:r>
            </a:p>
          </p:txBody>
        </p:sp>
        <p:sp>
          <p:nvSpPr>
            <p:cNvPr id="40" name="L2 time o0 2"/>
            <p:cNvSpPr txBox="1"/>
            <p:nvPr/>
          </p:nvSpPr>
          <p:spPr>
            <a:xfrm>
              <a:off x="6699391" y="1628891"/>
              <a:ext cx="201168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C69627"/>
                  </a:solidFill>
                  <a:latin typeface="Liberation Serif"/>
                </a:defRPr>
                <a:buNone/>
              </a:pPr>
              <a:r>
                <a:rPr sz="2736" b="0" i="1" spc="0" kern="120000">
                  <a:solidFill>
                    <a:srgbClr val="C69627"/>
                  </a:solidFill>
                  <a:latin typeface="Liberation Serif" pitchFamily="18" charset="0"/>
                </a:rPr>
                <a:t>o</a:t>
              </a:r>
            </a:p>
          </p:txBody>
        </p:sp>
        <p:sp>
          <p:nvSpPr>
            <p:cNvPr id="41" name="L2 time o0 3"/>
            <p:cNvSpPr txBox="1"/>
            <p:nvPr/>
          </p:nvSpPr>
          <p:spPr>
            <a:xfrm>
              <a:off x="6873127" y="1790679"/>
              <a:ext cx="146304" cy="356616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1872">
                  <a:solidFill>
                    <a:srgbClr val="C69627"/>
                  </a:solidFill>
                  <a:latin typeface="Liberation Serif"/>
                </a:defRPr>
                <a:buNone/>
              </a:pPr>
              <a:r>
                <a:rPr sz="1872" b="0" i="0" spc="0" kern="120000">
                  <a:solidFill>
                    <a:srgbClr val="C69627"/>
                  </a:solidFill>
                  <a:latin typeface="Liberation Serif" pitchFamily="18" charset="0"/>
                </a:rPr>
                <a:t>0</a:t>
              </a:r>
            </a:p>
          </p:txBody>
        </p:sp>
        <p:sp>
          <p:nvSpPr>
            <p:cNvPr id="42" name="L2 time o0 4"/>
            <p:cNvSpPr txBox="1"/>
            <p:nvPr/>
          </p:nvSpPr>
          <p:spPr>
            <a:xfrm>
              <a:off x="6991999" y="1628891"/>
              <a:ext cx="143143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C69627"/>
                  </a:solidFill>
                  <a:latin typeface="Liberation Serif"/>
                </a:defRPr>
                <a:buNone/>
              </a:pPr>
              <a:r>
                <a:rPr sz="2736" b="0" i="0" spc="0" kern="120000">
                  <a:solidFill>
                    <a:srgbClr val="C69627"/>
                  </a:solidFill>
                  <a:latin typeface="Liberation Serif" pitchFamily="18" charset="0"/>
                </a:rPr>
                <a:t>]</a:t>
              </a:r>
            </a:p>
          </p:txBody>
        </p:sp>
      </p:grpSp>
      <p:grpSp>
        <p:nvGrpSpPr>
          <p:cNvPr id="43" name="L2 time o9"/>
          <p:cNvGrpSpPr/>
          <p:nvPr/>
        </p:nvGrpSpPr>
        <p:grpSpPr>
          <a:xfrm>
            <a:off x="6583680" y="4765283"/>
            <a:ext cx="551462" cy="521208"/>
            <a:chOff x="6583680" y="4765283"/>
            <a:chExt cx="551462" cy="521208"/>
          </a:xfrm>
          <a:effectLst/>
        </p:grpSpPr>
        <p:sp>
          <p:nvSpPr>
            <p:cNvPr id="44" name="L2 time o9 1"/>
            <p:cNvSpPr txBox="1"/>
            <p:nvPr/>
          </p:nvSpPr>
          <p:spPr>
            <a:xfrm>
              <a:off x="6583680" y="4765283"/>
              <a:ext cx="143143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C69627"/>
                  </a:solidFill>
                  <a:latin typeface="Liberation Serif"/>
                </a:defRPr>
                <a:buNone/>
              </a:pPr>
              <a:r>
                <a:rPr sz="2736" b="0" i="0" spc="0" kern="120000">
                  <a:solidFill>
                    <a:srgbClr val="C69627"/>
                  </a:solidFill>
                  <a:latin typeface="Liberation Serif" pitchFamily="18" charset="0"/>
                </a:rPr>
                <a:t>[</a:t>
              </a:r>
            </a:p>
          </p:txBody>
        </p:sp>
        <p:sp>
          <p:nvSpPr>
            <p:cNvPr id="45" name="L2 time o9 2"/>
            <p:cNvSpPr txBox="1"/>
            <p:nvPr/>
          </p:nvSpPr>
          <p:spPr>
            <a:xfrm>
              <a:off x="6699391" y="4765283"/>
              <a:ext cx="201168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C69627"/>
                  </a:solidFill>
                  <a:latin typeface="Liberation Serif"/>
                </a:defRPr>
                <a:buNone/>
              </a:pPr>
              <a:r>
                <a:rPr sz="2736" b="0" i="1" spc="0" kern="120000">
                  <a:solidFill>
                    <a:srgbClr val="C69627"/>
                  </a:solidFill>
                  <a:latin typeface="Liberation Serif" pitchFamily="18" charset="0"/>
                </a:rPr>
                <a:t>o</a:t>
              </a:r>
            </a:p>
          </p:txBody>
        </p:sp>
        <p:sp>
          <p:nvSpPr>
            <p:cNvPr id="46" name="L2 time o9 3"/>
            <p:cNvSpPr txBox="1"/>
            <p:nvPr/>
          </p:nvSpPr>
          <p:spPr>
            <a:xfrm>
              <a:off x="6873127" y="4927071"/>
              <a:ext cx="146304" cy="356616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1872">
                  <a:solidFill>
                    <a:srgbClr val="C69627"/>
                  </a:solidFill>
                  <a:latin typeface="Liberation Serif"/>
                </a:defRPr>
                <a:buNone/>
              </a:pPr>
              <a:r>
                <a:rPr sz="1872" b="0" i="0" spc="0" kern="120000">
                  <a:solidFill>
                    <a:srgbClr val="C69627"/>
                  </a:solidFill>
                  <a:latin typeface="Liberation Serif" pitchFamily="18" charset="0"/>
                </a:rPr>
                <a:t>9</a:t>
              </a:r>
            </a:p>
          </p:txBody>
        </p:sp>
        <p:sp>
          <p:nvSpPr>
            <p:cNvPr id="47" name="L2 time o9 4"/>
            <p:cNvSpPr txBox="1"/>
            <p:nvPr/>
          </p:nvSpPr>
          <p:spPr>
            <a:xfrm>
              <a:off x="6991999" y="4765283"/>
              <a:ext cx="143143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C69627"/>
                  </a:solidFill>
                  <a:latin typeface="Liberation Serif"/>
                </a:defRPr>
                <a:buNone/>
              </a:pPr>
              <a:r>
                <a:rPr sz="2736" b="0" i="0" spc="0" kern="120000">
                  <a:solidFill>
                    <a:srgbClr val="C69627"/>
                  </a:solidFill>
                  <a:latin typeface="Liberation Serif" pitchFamily="18" charset="0"/>
                </a:rPr>
                <a:t>]</a:t>
              </a:r>
            </a:p>
          </p:txBody>
        </p:sp>
      </p:grpSp>
      <p:grpSp>
        <p:nvGrpSpPr>
          <p:cNvPr id="48" name="L2 time o14"/>
          <p:cNvGrpSpPr/>
          <p:nvPr/>
        </p:nvGrpSpPr>
        <p:grpSpPr>
          <a:xfrm>
            <a:off x="6473952" y="8267435"/>
            <a:ext cx="670334" cy="521208"/>
            <a:chOff x="6473952" y="8267435"/>
            <a:chExt cx="670334" cy="521208"/>
          </a:xfrm>
          <a:effectLst/>
        </p:grpSpPr>
        <p:sp>
          <p:nvSpPr>
            <p:cNvPr id="49" name="L2 time o14 1"/>
            <p:cNvSpPr txBox="1"/>
            <p:nvPr/>
          </p:nvSpPr>
          <p:spPr>
            <a:xfrm>
              <a:off x="6473952" y="8267435"/>
              <a:ext cx="143143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C69627"/>
                  </a:solidFill>
                  <a:latin typeface="Liberation Serif"/>
                </a:defRPr>
                <a:buNone/>
              </a:pPr>
              <a:r>
                <a:rPr sz="2736" b="0" i="0" spc="0" kern="120000">
                  <a:solidFill>
                    <a:srgbClr val="C69627"/>
                  </a:solidFill>
                  <a:latin typeface="Liberation Serif" pitchFamily="18" charset="0"/>
                </a:rPr>
                <a:t>[</a:t>
              </a:r>
            </a:p>
          </p:txBody>
        </p:sp>
        <p:sp>
          <p:nvSpPr>
            <p:cNvPr id="50" name="L2 time o14 2"/>
            <p:cNvSpPr txBox="1"/>
            <p:nvPr/>
          </p:nvSpPr>
          <p:spPr>
            <a:xfrm>
              <a:off x="6589663" y="8267435"/>
              <a:ext cx="201168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C69627"/>
                  </a:solidFill>
                  <a:latin typeface="Liberation Serif"/>
                </a:defRPr>
                <a:buNone/>
              </a:pPr>
              <a:r>
                <a:rPr sz="2736" b="0" i="1" spc="0" kern="120000">
                  <a:solidFill>
                    <a:srgbClr val="C69627"/>
                  </a:solidFill>
                  <a:latin typeface="Liberation Serif" pitchFamily="18" charset="0"/>
                </a:rPr>
                <a:t>o</a:t>
              </a:r>
            </a:p>
          </p:txBody>
        </p:sp>
        <p:sp>
          <p:nvSpPr>
            <p:cNvPr id="51" name="L2 time o14 3"/>
            <p:cNvSpPr txBox="1"/>
            <p:nvPr/>
          </p:nvSpPr>
          <p:spPr>
            <a:xfrm>
              <a:off x="6763399" y="8429223"/>
              <a:ext cx="265176" cy="356616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1872">
                  <a:solidFill>
                    <a:srgbClr val="C69627"/>
                  </a:solidFill>
                  <a:latin typeface="Liberation Serif"/>
                </a:defRPr>
                <a:buNone/>
              </a:pPr>
              <a:r>
                <a:rPr sz="1872" b="0" i="0" spc="0" kern="120000">
                  <a:solidFill>
                    <a:srgbClr val="C69627"/>
                  </a:solidFill>
                  <a:latin typeface="Liberation Serif" pitchFamily="18" charset="0"/>
                </a:rPr>
                <a:t>14</a:t>
              </a:r>
            </a:p>
          </p:txBody>
        </p:sp>
        <p:sp>
          <p:nvSpPr>
            <p:cNvPr id="52" name="L2 time o14 4"/>
            <p:cNvSpPr txBox="1"/>
            <p:nvPr/>
          </p:nvSpPr>
          <p:spPr>
            <a:xfrm>
              <a:off x="7001143" y="8267435"/>
              <a:ext cx="143143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C69627"/>
                  </a:solidFill>
                  <a:latin typeface="Liberation Serif"/>
                </a:defRPr>
                <a:buNone/>
              </a:pPr>
              <a:r>
                <a:rPr sz="2736" b="0" i="0" spc="0" kern="120000">
                  <a:solidFill>
                    <a:srgbClr val="C69627"/>
                  </a:solidFill>
                  <a:latin typeface="Liberation Serif" pitchFamily="18" charset="0"/>
                </a:rPr>
                <a:t>]</a:t>
              </a:r>
            </a:p>
          </p:txBody>
        </p:sp>
      </p:grpSp>
      <p:grpSp>
        <p:nvGrpSpPr>
          <p:cNvPr id="53" name="L3 time o0"/>
          <p:cNvGrpSpPr/>
          <p:nvPr/>
        </p:nvGrpSpPr>
        <p:grpSpPr>
          <a:xfrm>
            <a:off x="12499848" y="1546595"/>
            <a:ext cx="551462" cy="521208"/>
            <a:chOff x="12499848" y="1546595"/>
            <a:chExt cx="551462" cy="521208"/>
          </a:xfrm>
          <a:effectLst/>
        </p:grpSpPr>
        <p:sp>
          <p:nvSpPr>
            <p:cNvPr id="54" name="L3 time o0 1"/>
            <p:cNvSpPr txBox="1"/>
            <p:nvPr/>
          </p:nvSpPr>
          <p:spPr>
            <a:xfrm>
              <a:off x="12499848" y="1546595"/>
              <a:ext cx="143143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824C14"/>
                  </a:solidFill>
                  <a:latin typeface="Liberation Serif"/>
                </a:defRPr>
                <a:buNone/>
              </a:pPr>
              <a:r>
                <a:rPr sz="2736" b="0" i="0" spc="0" kern="120000">
                  <a:solidFill>
                    <a:srgbClr val="824C14"/>
                  </a:solidFill>
                  <a:latin typeface="Liberation Serif" pitchFamily="18" charset="0"/>
                </a:rPr>
                <a:t>[</a:t>
              </a:r>
            </a:p>
          </p:txBody>
        </p:sp>
        <p:sp>
          <p:nvSpPr>
            <p:cNvPr id="55" name="L3 time o0 2"/>
            <p:cNvSpPr txBox="1"/>
            <p:nvPr/>
          </p:nvSpPr>
          <p:spPr>
            <a:xfrm>
              <a:off x="12615559" y="1546595"/>
              <a:ext cx="201168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824C14"/>
                  </a:solidFill>
                  <a:latin typeface="Liberation Serif"/>
                </a:defRPr>
                <a:buNone/>
              </a:pPr>
              <a:r>
                <a:rPr sz="2736" b="0" i="1" spc="0" kern="120000">
                  <a:solidFill>
                    <a:srgbClr val="824C14"/>
                  </a:solidFill>
                  <a:latin typeface="Liberation Serif" pitchFamily="18" charset="0"/>
                </a:rPr>
                <a:t>o</a:t>
              </a:r>
            </a:p>
          </p:txBody>
        </p:sp>
        <p:sp>
          <p:nvSpPr>
            <p:cNvPr id="56" name="L3 time o0 3"/>
            <p:cNvSpPr txBox="1"/>
            <p:nvPr/>
          </p:nvSpPr>
          <p:spPr>
            <a:xfrm>
              <a:off x="12789295" y="1708383"/>
              <a:ext cx="146304" cy="356616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1872">
                  <a:solidFill>
                    <a:srgbClr val="824C14"/>
                  </a:solidFill>
                  <a:latin typeface="Liberation Serif"/>
                </a:defRPr>
                <a:buNone/>
              </a:pPr>
              <a:r>
                <a:rPr sz="1872" b="0" i="0" spc="0" kern="120000">
                  <a:solidFill>
                    <a:srgbClr val="824C14"/>
                  </a:solidFill>
                  <a:latin typeface="Liberation Serif" pitchFamily="18" charset="0"/>
                </a:rPr>
                <a:t>0</a:t>
              </a:r>
            </a:p>
          </p:txBody>
        </p:sp>
        <p:sp>
          <p:nvSpPr>
            <p:cNvPr id="57" name="L3 time o0 4"/>
            <p:cNvSpPr txBox="1"/>
            <p:nvPr/>
          </p:nvSpPr>
          <p:spPr>
            <a:xfrm>
              <a:off x="12908167" y="1546595"/>
              <a:ext cx="143143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824C14"/>
                  </a:solidFill>
                  <a:latin typeface="Liberation Serif"/>
                </a:defRPr>
                <a:buNone/>
              </a:pPr>
              <a:r>
                <a:rPr sz="2736" b="0" i="0" spc="0" kern="120000">
                  <a:solidFill>
                    <a:srgbClr val="824C14"/>
                  </a:solidFill>
                  <a:latin typeface="Liberation Serif" pitchFamily="18" charset="0"/>
                </a:rPr>
                <a:t>]</a:t>
              </a:r>
            </a:p>
          </p:txBody>
        </p:sp>
      </p:grpSp>
      <p:grpSp>
        <p:nvGrpSpPr>
          <p:cNvPr id="58" name="L3 time o1"/>
          <p:cNvGrpSpPr/>
          <p:nvPr/>
        </p:nvGrpSpPr>
        <p:grpSpPr>
          <a:xfrm>
            <a:off x="12499848" y="4701275"/>
            <a:ext cx="551462" cy="521208"/>
            <a:chOff x="12499848" y="4701275"/>
            <a:chExt cx="551462" cy="521208"/>
          </a:xfrm>
          <a:effectLst/>
        </p:grpSpPr>
        <p:sp>
          <p:nvSpPr>
            <p:cNvPr id="59" name="L3 time o1 1"/>
            <p:cNvSpPr txBox="1"/>
            <p:nvPr/>
          </p:nvSpPr>
          <p:spPr>
            <a:xfrm>
              <a:off x="12499848" y="4701275"/>
              <a:ext cx="143143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824C14"/>
                  </a:solidFill>
                  <a:latin typeface="Liberation Serif"/>
                </a:defRPr>
                <a:buNone/>
              </a:pPr>
              <a:r>
                <a:rPr sz="2736" b="0" i="0" spc="0" kern="120000">
                  <a:solidFill>
                    <a:srgbClr val="824C14"/>
                  </a:solidFill>
                  <a:latin typeface="Liberation Serif" pitchFamily="18" charset="0"/>
                </a:rPr>
                <a:t>[</a:t>
              </a:r>
            </a:p>
          </p:txBody>
        </p:sp>
        <p:sp>
          <p:nvSpPr>
            <p:cNvPr id="60" name="L3 time o1 2"/>
            <p:cNvSpPr txBox="1"/>
            <p:nvPr/>
          </p:nvSpPr>
          <p:spPr>
            <a:xfrm>
              <a:off x="12615559" y="4701275"/>
              <a:ext cx="201168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824C14"/>
                  </a:solidFill>
                  <a:latin typeface="Liberation Serif"/>
                </a:defRPr>
                <a:buNone/>
              </a:pPr>
              <a:r>
                <a:rPr sz="2736" b="0" i="1" spc="0" kern="120000">
                  <a:solidFill>
                    <a:srgbClr val="824C14"/>
                  </a:solidFill>
                  <a:latin typeface="Liberation Serif" pitchFamily="18" charset="0"/>
                </a:rPr>
                <a:t>o</a:t>
              </a:r>
            </a:p>
          </p:txBody>
        </p:sp>
        <p:sp>
          <p:nvSpPr>
            <p:cNvPr id="61" name="L3 time o1 3"/>
            <p:cNvSpPr txBox="1"/>
            <p:nvPr/>
          </p:nvSpPr>
          <p:spPr>
            <a:xfrm>
              <a:off x="12789295" y="4863063"/>
              <a:ext cx="146304" cy="356616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1872">
                  <a:solidFill>
                    <a:srgbClr val="824C14"/>
                  </a:solidFill>
                  <a:latin typeface="Liberation Serif"/>
                </a:defRPr>
                <a:buNone/>
              </a:pPr>
              <a:r>
                <a:rPr sz="1872" b="0" i="0" spc="0" kern="120000">
                  <a:solidFill>
                    <a:srgbClr val="824C14"/>
                  </a:solidFill>
                  <a:latin typeface="Liberation Serif" pitchFamily="18" charset="0"/>
                </a:rPr>
                <a:t>1</a:t>
              </a:r>
            </a:p>
          </p:txBody>
        </p:sp>
        <p:sp>
          <p:nvSpPr>
            <p:cNvPr id="62" name="L3 time o1 4"/>
            <p:cNvSpPr txBox="1"/>
            <p:nvPr/>
          </p:nvSpPr>
          <p:spPr>
            <a:xfrm>
              <a:off x="12908167" y="4701275"/>
              <a:ext cx="143143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824C14"/>
                  </a:solidFill>
                  <a:latin typeface="Liberation Serif"/>
                </a:defRPr>
                <a:buNone/>
              </a:pPr>
              <a:r>
                <a:rPr sz="2736" b="0" i="0" spc="0" kern="120000">
                  <a:solidFill>
                    <a:srgbClr val="824C14"/>
                  </a:solidFill>
                  <a:latin typeface="Liberation Serif" pitchFamily="18" charset="0"/>
                </a:rPr>
                <a:t>]</a:t>
              </a:r>
            </a:p>
          </p:txBody>
        </p:sp>
      </p:grpSp>
      <p:grpSp>
        <p:nvGrpSpPr>
          <p:cNvPr id="63" name="L3 time o9"/>
          <p:cNvGrpSpPr/>
          <p:nvPr/>
        </p:nvGrpSpPr>
        <p:grpSpPr>
          <a:xfrm>
            <a:off x="12545568" y="8724635"/>
            <a:ext cx="551462" cy="521208"/>
            <a:chOff x="12545568" y="8724635"/>
            <a:chExt cx="551462" cy="521208"/>
          </a:xfrm>
          <a:effectLst/>
        </p:grpSpPr>
        <p:sp>
          <p:nvSpPr>
            <p:cNvPr id="64" name="L3 time o9 1"/>
            <p:cNvSpPr txBox="1"/>
            <p:nvPr/>
          </p:nvSpPr>
          <p:spPr>
            <a:xfrm>
              <a:off x="12545568" y="8724635"/>
              <a:ext cx="143143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824C14"/>
                  </a:solidFill>
                  <a:latin typeface="Liberation Serif"/>
                </a:defRPr>
                <a:buNone/>
              </a:pPr>
              <a:r>
                <a:rPr sz="2736" b="0" i="0" spc="0" kern="120000">
                  <a:solidFill>
                    <a:srgbClr val="824C14"/>
                  </a:solidFill>
                  <a:latin typeface="Liberation Serif" pitchFamily="18" charset="0"/>
                </a:rPr>
                <a:t>[</a:t>
              </a:r>
            </a:p>
          </p:txBody>
        </p:sp>
        <p:sp>
          <p:nvSpPr>
            <p:cNvPr id="65" name="L3 time o9 2"/>
            <p:cNvSpPr txBox="1"/>
            <p:nvPr/>
          </p:nvSpPr>
          <p:spPr>
            <a:xfrm>
              <a:off x="12661279" y="8724635"/>
              <a:ext cx="201168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824C14"/>
                  </a:solidFill>
                  <a:latin typeface="Liberation Serif"/>
                </a:defRPr>
                <a:buNone/>
              </a:pPr>
              <a:r>
                <a:rPr sz="2736" b="0" i="1" spc="0" kern="120000">
                  <a:solidFill>
                    <a:srgbClr val="824C14"/>
                  </a:solidFill>
                  <a:latin typeface="Liberation Serif" pitchFamily="18" charset="0"/>
                </a:rPr>
                <a:t>o</a:t>
              </a:r>
            </a:p>
          </p:txBody>
        </p:sp>
        <p:sp>
          <p:nvSpPr>
            <p:cNvPr id="66" name="L3 time o9 3"/>
            <p:cNvSpPr txBox="1"/>
            <p:nvPr/>
          </p:nvSpPr>
          <p:spPr>
            <a:xfrm>
              <a:off x="12835015" y="8886423"/>
              <a:ext cx="146304" cy="356616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1872">
                  <a:solidFill>
                    <a:srgbClr val="824C14"/>
                  </a:solidFill>
                  <a:latin typeface="Liberation Serif"/>
                </a:defRPr>
                <a:buNone/>
              </a:pPr>
              <a:r>
                <a:rPr sz="1872" b="0" i="0" spc="0" kern="120000">
                  <a:solidFill>
                    <a:srgbClr val="824C14"/>
                  </a:solidFill>
                  <a:latin typeface="Liberation Serif" pitchFamily="18" charset="0"/>
                </a:rPr>
                <a:t>9</a:t>
              </a:r>
            </a:p>
          </p:txBody>
        </p:sp>
        <p:sp>
          <p:nvSpPr>
            <p:cNvPr id="67" name="L3 time o9 4"/>
            <p:cNvSpPr txBox="1"/>
            <p:nvPr/>
          </p:nvSpPr>
          <p:spPr>
            <a:xfrm>
              <a:off x="12953887" y="8724635"/>
              <a:ext cx="143143" cy="521208"/>
            </a:xfrm>
            <a:prstGeom prst="rect">
              <a:avLst/>
            </a:prstGeom>
            <a:noFill/>
            <a:effectLst/>
          </p:spPr>
          <p:txBody>
            <a:bodyPr wrap="none" anchor="t" lIns="0" rIns="0" tIns="0" bIns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  <a:defRPr sz="2736">
                  <a:solidFill>
                    <a:srgbClr val="824C14"/>
                  </a:solidFill>
                  <a:latin typeface="Liberation Serif"/>
                </a:defRPr>
                <a:buNone/>
              </a:pPr>
              <a:r>
                <a:rPr sz="2736" b="0" i="0" spc="0" kern="120000">
                  <a:solidFill>
                    <a:srgbClr val="824C14"/>
                  </a:solidFill>
                  <a:latin typeface="Liberation Serif" pitchFamily="18" charset="0"/>
                </a:rPr>
                <a:t>]</a:t>
              </a:r>
            </a:p>
          </p:txBody>
        </p:sp>
      </p:grpSp>
      <p:sp>
        <p:nvSpPr>
          <p:cNvPr id="68" name="L1 observation 00 description"/>
          <p:cNvSpPr txBox="1"/>
          <p:nvPr/>
        </p:nvSpPr>
        <p:spPr>
          <a:xfrm>
            <a:off x="128016" y="3220536"/>
            <a:ext cx="1769364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777777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777777"/>
                  </a:solidFill>
                </a:ln>
                <a:solidFill>
                  <a:srgbClr val="777777"/>
                </a:solidFill>
                <a:latin typeface="DejaVu Sans Mono" pitchFamily="49" charset="0"/>
              </a:rPr>
              <a:t>The gripper is in front of microwave...</a:t>
            </a:r>
          </a:p>
        </p:txBody>
      </p:sp>
      <p:sp>
        <p:nvSpPr>
          <p:cNvPr id="69" name="L1 next task - open door"/>
          <p:cNvSpPr txBox="1"/>
          <p:nvPr/>
        </p:nvSpPr>
        <p:spPr>
          <a:xfrm>
            <a:off x="128016" y="3540576"/>
            <a:ext cx="1769364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C69627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C69627"/>
                  </a:solidFill>
                </a:ln>
                <a:solidFill>
                  <a:srgbClr val="C69627"/>
                </a:solidFill>
                <a:latin typeface="DejaVu Sans Mono" pitchFamily="49" charset="0"/>
              </a:rPr>
              <a:t>The robot needs to: </a:t>
            </a:r>
            <a:r>
              <a:rPr sz="1907" b="1" i="0" spc="-92" kern="120000">
                <a:ln w="3200">
                  <a:solidFill>
                    <a:srgbClr val="C69627"/>
                  </a:solidFill>
                </a:ln>
                <a:solidFill>
                  <a:srgbClr val="C69627"/>
                </a:solidFill>
                <a:latin typeface="DejaVu Sans Mono" pitchFamily="49" charset="0"/>
              </a:rPr>
              <a:t>“Open microwave door”</a:t>
            </a:r>
          </a:p>
        </p:txBody>
      </p:sp>
      <p:sp>
        <p:nvSpPr>
          <p:cNvPr id="70" name="L1 observation 14 description"/>
          <p:cNvSpPr txBox="1"/>
          <p:nvPr/>
        </p:nvSpPr>
        <p:spPr>
          <a:xfrm>
            <a:off x="128016" y="6448368"/>
            <a:ext cx="1769364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777777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777777"/>
                  </a:solidFill>
                </a:ln>
                <a:solidFill>
                  <a:srgbClr val="777777"/>
                </a:solidFill>
                <a:latin typeface="DejaVu Sans Mono" pitchFamily="49" charset="0"/>
              </a:rPr>
              <a:t>The robot opened the microwave door.</a:t>
            </a:r>
          </a:p>
        </p:txBody>
      </p:sp>
      <p:sp>
        <p:nvSpPr>
          <p:cNvPr id="71" name="L1 next task - place steak"/>
          <p:cNvSpPr txBox="1"/>
          <p:nvPr/>
        </p:nvSpPr>
        <p:spPr>
          <a:xfrm>
            <a:off x="128016" y="6772652"/>
            <a:ext cx="17693640" cy="356616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872">
                <a:solidFill>
                  <a:srgbClr val="C69627"/>
                </a:solidFill>
                <a:latin typeface="DejaVu Sans Mono"/>
              </a:defRPr>
              <a:buNone/>
            </a:pPr>
            <a:r>
              <a:rPr sz="1872" b="0" i="0" spc="-133" kern="120000">
                <a:ln w="3200">
                  <a:solidFill>
                    <a:srgbClr val="C69627"/>
                  </a:solidFill>
                </a:ln>
                <a:solidFill>
                  <a:srgbClr val="C69627"/>
                </a:solidFill>
                <a:latin typeface="DejaVu Sans Mono" pitchFamily="49" charset="0"/>
              </a:rPr>
              <a:t>The robot needs to: </a:t>
            </a:r>
            <a:r>
              <a:rPr sz="1872" b="1" i="0" spc="-133" kern="120000">
                <a:ln w="3200">
                  <a:solidFill>
                    <a:srgbClr val="C69627"/>
                  </a:solidFill>
                </a:ln>
                <a:solidFill>
                  <a:srgbClr val="C69627"/>
                </a:solidFill>
                <a:latin typeface="DejaVu Sans Mono" pitchFamily="49" charset="0"/>
              </a:rPr>
              <a:t>“Put steak in microwave”</a:t>
            </a:r>
          </a:p>
        </p:txBody>
      </p:sp>
      <p:sp>
        <p:nvSpPr>
          <p:cNvPr id="72" name="L1 observation 31 description"/>
          <p:cNvSpPr txBox="1"/>
          <p:nvPr/>
        </p:nvSpPr>
        <p:spPr>
          <a:xfrm>
            <a:off x="128016" y="9676200"/>
            <a:ext cx="1769364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777777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777777"/>
                  </a:solidFill>
                </a:ln>
                <a:solidFill>
                  <a:srgbClr val="777777"/>
                </a:solidFill>
                <a:latin typeface="DejaVu Sans Mono" pitchFamily="49" charset="0"/>
              </a:rPr>
              <a:t>The robot put the steak in the microwave.</a:t>
            </a:r>
          </a:p>
        </p:txBody>
      </p:sp>
      <p:sp>
        <p:nvSpPr>
          <p:cNvPr id="73" name="L1 next task - close door"/>
          <p:cNvSpPr txBox="1"/>
          <p:nvPr/>
        </p:nvSpPr>
        <p:spPr>
          <a:xfrm>
            <a:off x="128016" y="9987096"/>
            <a:ext cx="1769364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C69627"/>
                </a:solidFill>
                <a:latin typeface="DejaVu Sans Mono"/>
              </a:defRPr>
              <a:buNone/>
            </a:pPr>
            <a:r>
              <a:rPr sz="1907" b="0" i="0" spc="-99" kern="120000">
                <a:ln w="3200">
                  <a:solidFill>
                    <a:srgbClr val="C69627"/>
                  </a:solidFill>
                </a:ln>
                <a:solidFill>
                  <a:srgbClr val="C69627"/>
                </a:solidFill>
                <a:latin typeface="DejaVu Sans Mono" pitchFamily="49" charset="0"/>
              </a:rPr>
              <a:t>The robot needs to: </a:t>
            </a:r>
            <a:r>
              <a:rPr sz="1907" b="1" i="0" spc="-99" kern="120000">
                <a:ln w="3200">
                  <a:solidFill>
                    <a:srgbClr val="C69627"/>
                  </a:solidFill>
                </a:ln>
                <a:solidFill>
                  <a:srgbClr val="C69627"/>
                </a:solidFill>
                <a:latin typeface="DejaVu Sans Mono" pitchFamily="49" charset="0"/>
              </a:rPr>
              <a:t>“Close microwave door”</a:t>
            </a:r>
          </a:p>
        </p:txBody>
      </p:sp>
      <p:sp>
        <p:nvSpPr>
          <p:cNvPr id="74" name="L2 observation 00 description"/>
          <p:cNvSpPr txBox="1"/>
          <p:nvPr/>
        </p:nvSpPr>
        <p:spPr>
          <a:xfrm>
            <a:off x="6300216" y="3183960"/>
            <a:ext cx="1152144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C69627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C69627"/>
                  </a:solidFill>
                </a:ln>
                <a:solidFill>
                  <a:srgbClr val="C69627"/>
                </a:solidFill>
                <a:latin typeface="DejaVu Sans Mono" pitchFamily="49" charset="0"/>
              </a:rPr>
              <a:t>The gripper is in front of microwave...</a:t>
            </a:r>
          </a:p>
        </p:txBody>
      </p:sp>
      <p:sp>
        <p:nvSpPr>
          <p:cNvPr id="75" name="L2 next task - grasp handle"/>
          <p:cNvSpPr txBox="1"/>
          <p:nvPr/>
        </p:nvSpPr>
        <p:spPr>
          <a:xfrm>
            <a:off x="6300216" y="3467424"/>
            <a:ext cx="1152144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824C14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824C14"/>
                  </a:solidFill>
                </a:ln>
                <a:solidFill>
                  <a:srgbClr val="824C14"/>
                </a:solidFill>
                <a:latin typeface="DejaVu Sans Mono" pitchFamily="49" charset="0"/>
              </a:rPr>
              <a:t>The robot needs to: </a:t>
            </a:r>
            <a:r>
              <a:rPr sz="1907" b="1" i="0" spc="-92" kern="120000">
                <a:ln w="3200">
                  <a:solidFill>
                    <a:srgbClr val="824C14"/>
                  </a:solidFill>
                </a:ln>
                <a:solidFill>
                  <a:srgbClr val="824C14"/>
                </a:solidFill>
                <a:latin typeface="DejaVu Sans Mono" pitchFamily="49" charset="0"/>
              </a:rPr>
              <a:t>“Grasp door handle”</a:t>
            </a:r>
          </a:p>
        </p:txBody>
      </p:sp>
      <p:sp>
        <p:nvSpPr>
          <p:cNvPr id="76" name="L2 observation 09 description"/>
          <p:cNvSpPr txBox="1"/>
          <p:nvPr/>
        </p:nvSpPr>
        <p:spPr>
          <a:xfrm>
            <a:off x="6300216" y="6302064"/>
            <a:ext cx="1152144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C69627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C69627"/>
                  </a:solidFill>
                </a:ln>
                <a:solidFill>
                  <a:srgbClr val="C69627"/>
                </a:solidFill>
                <a:latin typeface="DejaVu Sans Mono" pitchFamily="49" charset="0"/>
              </a:rPr>
              <a:t>The robot fully grasped the door handle.</a:t>
            </a:r>
          </a:p>
        </p:txBody>
      </p:sp>
      <p:sp>
        <p:nvSpPr>
          <p:cNvPr id="77" name="L2 next task - pull open"/>
          <p:cNvSpPr txBox="1"/>
          <p:nvPr/>
        </p:nvSpPr>
        <p:spPr>
          <a:xfrm>
            <a:off x="6300216" y="6631248"/>
            <a:ext cx="1152144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824C14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824C14"/>
                  </a:solidFill>
                </a:ln>
                <a:solidFill>
                  <a:srgbClr val="824C14"/>
                </a:solidFill>
                <a:latin typeface="DejaVu Sans Mono" pitchFamily="49" charset="0"/>
              </a:rPr>
              <a:t>The robot needs to: </a:t>
            </a:r>
            <a:r>
              <a:rPr sz="1907" b="1" i="0" spc="-92" kern="120000">
                <a:ln w="3200">
                  <a:solidFill>
                    <a:srgbClr val="824C14"/>
                  </a:solidFill>
                </a:ln>
                <a:solidFill>
                  <a:srgbClr val="824C14"/>
                </a:solidFill>
                <a:latin typeface="DejaVu Sans Mono" pitchFamily="49" charset="0"/>
              </a:rPr>
              <a:t>“Pull door open”</a:t>
            </a:r>
          </a:p>
        </p:txBody>
      </p:sp>
      <p:sp>
        <p:nvSpPr>
          <p:cNvPr id="78" name="L2 observation 14 description"/>
          <p:cNvSpPr txBox="1"/>
          <p:nvPr/>
        </p:nvSpPr>
        <p:spPr>
          <a:xfrm>
            <a:off x="6300216" y="9676200"/>
            <a:ext cx="1152144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C69627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C69627"/>
                  </a:solidFill>
                </a:ln>
                <a:solidFill>
                  <a:srgbClr val="C69627"/>
                </a:solidFill>
                <a:latin typeface="DejaVu Sans Mono" pitchFamily="49" charset="0"/>
              </a:rPr>
              <a:t>The robot opened the microwave door.</a:t>
            </a:r>
          </a:p>
        </p:txBody>
      </p:sp>
      <p:sp>
        <p:nvSpPr>
          <p:cNvPr id="79" name="L2 completed"/>
          <p:cNvSpPr txBox="1"/>
          <p:nvPr/>
        </p:nvSpPr>
        <p:spPr>
          <a:xfrm>
            <a:off x="6300216" y="9950520"/>
            <a:ext cx="1152144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C69627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C69627"/>
                  </a:solidFill>
                </a:ln>
                <a:solidFill>
                  <a:srgbClr val="C69627"/>
                </a:solidFill>
                <a:latin typeface="DejaVu Sans Mono" pitchFamily="49" charset="0"/>
              </a:rPr>
              <a:t>Task is complete.</a:t>
            </a:r>
          </a:p>
        </p:txBody>
      </p:sp>
      <p:sp>
        <p:nvSpPr>
          <p:cNvPr id="80" name="L3 observation 00 description"/>
          <p:cNvSpPr txBox="1"/>
          <p:nvPr/>
        </p:nvSpPr>
        <p:spPr>
          <a:xfrm>
            <a:off x="12335256" y="3092520"/>
            <a:ext cx="548640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824C14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824C14"/>
                  </a:solidFill>
                </a:ln>
                <a:solidFill>
                  <a:srgbClr val="824C14"/>
                </a:solidFill>
                <a:latin typeface="DejaVu Sans Mono" pitchFamily="49" charset="0"/>
              </a:rPr>
              <a:t>The gripper is in front of microwave...</a:t>
            </a:r>
          </a:p>
        </p:txBody>
      </p:sp>
      <p:sp>
        <p:nvSpPr>
          <p:cNvPr id="81" name="L3 progress 0 percent"/>
          <p:cNvSpPr txBox="1"/>
          <p:nvPr/>
        </p:nvSpPr>
        <p:spPr>
          <a:xfrm>
            <a:off x="12335256" y="3366840"/>
            <a:ext cx="548640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824C14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824C14"/>
                  </a:solidFill>
                </a:ln>
                <a:solidFill>
                  <a:srgbClr val="824C14"/>
                </a:solidFill>
                <a:latin typeface="DejaVu Sans Mono" pitchFamily="49" charset="0"/>
              </a:rPr>
              <a:t>Task progress: </a:t>
            </a:r>
            <a:r>
              <a:rPr sz="1907" b="1" i="0" spc="-92" kern="120000">
                <a:ln w="3200">
                  <a:solidFill>
                    <a:srgbClr val="824C14"/>
                  </a:solidFill>
                </a:ln>
                <a:solidFill>
                  <a:srgbClr val="824C14"/>
                </a:solidFill>
                <a:latin typeface="DejaVu Sans Mono" pitchFamily="49" charset="0"/>
              </a:rPr>
              <a:t>0%</a:t>
            </a:r>
          </a:p>
        </p:txBody>
      </p:sp>
      <p:sp>
        <p:nvSpPr>
          <p:cNvPr id="82" name="L3 observation 01 description"/>
          <p:cNvSpPr txBox="1"/>
          <p:nvPr/>
        </p:nvSpPr>
        <p:spPr>
          <a:xfrm>
            <a:off x="12335256" y="6320352"/>
            <a:ext cx="548640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824C14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824C14"/>
                  </a:solidFill>
                </a:ln>
                <a:solidFill>
                  <a:srgbClr val="824C14"/>
                </a:solidFill>
                <a:latin typeface="DejaVu Sans Mono" pitchFamily="49" charset="0"/>
              </a:rPr>
              <a:t>The gripper moved closer to the door...</a:t>
            </a:r>
          </a:p>
        </p:txBody>
      </p:sp>
      <p:sp>
        <p:nvSpPr>
          <p:cNvPr id="83" name="L3 progress 40 percent"/>
          <p:cNvSpPr txBox="1"/>
          <p:nvPr/>
        </p:nvSpPr>
        <p:spPr>
          <a:xfrm>
            <a:off x="12335256" y="6594672"/>
            <a:ext cx="548640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824C14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824C14"/>
                  </a:solidFill>
                </a:ln>
                <a:solidFill>
                  <a:srgbClr val="824C14"/>
                </a:solidFill>
                <a:latin typeface="DejaVu Sans Mono" pitchFamily="49" charset="0"/>
              </a:rPr>
              <a:t>Task progress: </a:t>
            </a:r>
            <a:r>
              <a:rPr sz="1907" b="1" i="0" spc="-92" kern="120000">
                <a:ln w="3200">
                  <a:solidFill>
                    <a:srgbClr val="824C14"/>
                  </a:solidFill>
                </a:ln>
                <a:solidFill>
                  <a:srgbClr val="824C14"/>
                </a:solidFill>
                <a:latin typeface="DejaVu Sans Mono" pitchFamily="49" charset="0"/>
              </a:rPr>
              <a:t>40%</a:t>
            </a:r>
          </a:p>
        </p:txBody>
      </p:sp>
      <p:sp>
        <p:nvSpPr>
          <p:cNvPr id="84" name="L3 observation 09 description"/>
          <p:cNvSpPr txBox="1"/>
          <p:nvPr/>
        </p:nvSpPr>
        <p:spPr>
          <a:xfrm>
            <a:off x="12335256" y="10160832"/>
            <a:ext cx="548640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824C14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824C14"/>
                  </a:solidFill>
                </a:ln>
                <a:solidFill>
                  <a:srgbClr val="824C14"/>
                </a:solidFill>
                <a:latin typeface="DejaVu Sans Mono" pitchFamily="49" charset="0"/>
              </a:rPr>
              <a:t>The robot fully grasped the door...</a:t>
            </a:r>
          </a:p>
        </p:txBody>
      </p:sp>
      <p:sp>
        <p:nvSpPr>
          <p:cNvPr id="85" name="L3 progress 100 percent"/>
          <p:cNvSpPr txBox="1"/>
          <p:nvPr/>
        </p:nvSpPr>
        <p:spPr>
          <a:xfrm>
            <a:off x="12335256" y="10416864"/>
            <a:ext cx="548640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824C14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824C14"/>
                  </a:solidFill>
                </a:ln>
                <a:solidFill>
                  <a:srgbClr val="824C14"/>
                </a:solidFill>
                <a:latin typeface="DejaVu Sans Mono" pitchFamily="49" charset="0"/>
              </a:rPr>
              <a:t>Task progress: </a:t>
            </a:r>
            <a:r>
              <a:rPr sz="1907" b="1" i="0" spc="-92" kern="120000">
                <a:ln w="3200">
                  <a:solidFill>
                    <a:srgbClr val="824C14"/>
                  </a:solidFill>
                </a:ln>
                <a:solidFill>
                  <a:srgbClr val="824C14"/>
                </a:solidFill>
                <a:latin typeface="DejaVu Sans Mono" pitchFamily="49" charset="0"/>
              </a:rPr>
              <a:t>100%</a:t>
            </a:r>
          </a:p>
        </p:txBody>
      </p:sp>
      <p:sp>
        <p:nvSpPr>
          <p:cNvPr id="86" name="L3 completed"/>
          <p:cNvSpPr txBox="1"/>
          <p:nvPr/>
        </p:nvSpPr>
        <p:spPr>
          <a:xfrm>
            <a:off x="12335256" y="10672896"/>
            <a:ext cx="5486400" cy="363474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1907">
                <a:solidFill>
                  <a:srgbClr val="824C14"/>
                </a:solidFill>
                <a:latin typeface="DejaVu Sans Mono"/>
              </a:defRPr>
              <a:buNone/>
            </a:pPr>
            <a:r>
              <a:rPr sz="1907" b="0" i="0" spc="-92" kern="120000">
                <a:ln w="3200">
                  <a:solidFill>
                    <a:srgbClr val="824C14"/>
                  </a:solidFill>
                </a:ln>
                <a:solidFill>
                  <a:srgbClr val="824C14"/>
                </a:solidFill>
                <a:latin typeface="DejaVu Sans Mono" pitchFamily="49" charset="0"/>
              </a:rPr>
              <a:t>Task is complete.</a:t>
            </a:r>
          </a:p>
        </p:txBody>
      </p:sp>
      <p:sp>
        <p:nvSpPr>
          <p:cNvPr id="87" name="L1 continuation 1.1"/>
          <p:cNvSpPr/>
          <p:nvPr/>
        </p:nvSpPr>
        <p:spPr>
          <a:xfrm>
            <a:off x="2512771" y="10440619"/>
            <a:ext cx="85954" cy="85954"/>
          </a:xfrm>
          <a:prstGeom prst="ellipse">
            <a:avLst/>
          </a:prstGeom>
          <a:solidFill>
            <a:srgbClr val="777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L1 continuation 1.2"/>
          <p:cNvSpPr/>
          <p:nvPr/>
        </p:nvSpPr>
        <p:spPr>
          <a:xfrm>
            <a:off x="2654503" y="10440619"/>
            <a:ext cx="85954" cy="85954"/>
          </a:xfrm>
          <a:prstGeom prst="ellipse">
            <a:avLst/>
          </a:prstGeom>
          <a:solidFill>
            <a:srgbClr val="777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L1 continuation 1.3"/>
          <p:cNvSpPr/>
          <p:nvPr/>
        </p:nvSpPr>
        <p:spPr>
          <a:xfrm>
            <a:off x="2796235" y="10440619"/>
            <a:ext cx="85954" cy="85954"/>
          </a:xfrm>
          <a:prstGeom prst="ellipse">
            <a:avLst/>
          </a:prstGeom>
          <a:solidFill>
            <a:srgbClr val="777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L1 continuation 2.1"/>
          <p:cNvSpPr/>
          <p:nvPr/>
        </p:nvSpPr>
        <p:spPr>
          <a:xfrm>
            <a:off x="2512771" y="10746943"/>
            <a:ext cx="85954" cy="85954"/>
          </a:xfrm>
          <a:prstGeom prst="ellipse">
            <a:avLst/>
          </a:prstGeom>
          <a:solidFill>
            <a:srgbClr val="777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L1 continuation 2.2"/>
          <p:cNvSpPr/>
          <p:nvPr/>
        </p:nvSpPr>
        <p:spPr>
          <a:xfrm>
            <a:off x="2654503" y="10746943"/>
            <a:ext cx="85954" cy="85954"/>
          </a:xfrm>
          <a:prstGeom prst="ellipse">
            <a:avLst/>
          </a:prstGeom>
          <a:solidFill>
            <a:srgbClr val="777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L1 continuation 2.3"/>
          <p:cNvSpPr/>
          <p:nvPr/>
        </p:nvSpPr>
        <p:spPr>
          <a:xfrm>
            <a:off x="2796235" y="10746943"/>
            <a:ext cx="85954" cy="85954"/>
          </a:xfrm>
          <a:prstGeom prst="ellipse">
            <a:avLst/>
          </a:prstGeom>
          <a:solidFill>
            <a:srgbClr val="777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L3 continuation 1.1"/>
          <p:cNvSpPr/>
          <p:nvPr/>
        </p:nvSpPr>
        <p:spPr>
          <a:xfrm>
            <a:off x="14898319" y="7060082"/>
            <a:ext cx="85954" cy="85954"/>
          </a:xfrm>
          <a:prstGeom prst="ellipse">
            <a:avLst/>
          </a:prstGeom>
          <a:solidFill>
            <a:srgbClr val="824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L3 continuation 1.2"/>
          <p:cNvSpPr/>
          <p:nvPr/>
        </p:nvSpPr>
        <p:spPr>
          <a:xfrm>
            <a:off x="15040051" y="7060082"/>
            <a:ext cx="85954" cy="85954"/>
          </a:xfrm>
          <a:prstGeom prst="ellipse">
            <a:avLst/>
          </a:prstGeom>
          <a:solidFill>
            <a:srgbClr val="824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L3 continuation 1.3"/>
          <p:cNvSpPr/>
          <p:nvPr/>
        </p:nvSpPr>
        <p:spPr>
          <a:xfrm>
            <a:off x="15181783" y="7060082"/>
            <a:ext cx="85954" cy="85954"/>
          </a:xfrm>
          <a:prstGeom prst="ellipse">
            <a:avLst/>
          </a:prstGeom>
          <a:solidFill>
            <a:srgbClr val="824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L3 continuation 2.1"/>
          <p:cNvSpPr/>
          <p:nvPr/>
        </p:nvSpPr>
        <p:spPr>
          <a:xfrm>
            <a:off x="14898319" y="7366406"/>
            <a:ext cx="85954" cy="85954"/>
          </a:xfrm>
          <a:prstGeom prst="ellipse">
            <a:avLst/>
          </a:prstGeom>
          <a:solidFill>
            <a:srgbClr val="824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L3 continuation 2.2"/>
          <p:cNvSpPr/>
          <p:nvPr/>
        </p:nvSpPr>
        <p:spPr>
          <a:xfrm>
            <a:off x="15040051" y="7366406"/>
            <a:ext cx="85954" cy="85954"/>
          </a:xfrm>
          <a:prstGeom prst="ellipse">
            <a:avLst/>
          </a:prstGeom>
          <a:solidFill>
            <a:srgbClr val="824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L3 continuation 2.3"/>
          <p:cNvSpPr/>
          <p:nvPr/>
        </p:nvSpPr>
        <p:spPr>
          <a:xfrm>
            <a:off x="15181783" y="7366406"/>
            <a:ext cx="85954" cy="85954"/>
          </a:xfrm>
          <a:prstGeom prst="ellipse">
            <a:avLst/>
          </a:prstGeom>
          <a:solidFill>
            <a:srgbClr val="824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L1 to L2 decomposition route"/>
          <p:cNvSpPr/>
          <p:nvPr/>
        </p:nvSpPr>
        <p:spPr>
          <a:xfrm>
            <a:off x="5669280" y="393192"/>
            <a:ext cx="475488" cy="3310128"/>
          </a:xfrm>
          <a:custGeom>
            <a:avLst/>
            <a:gdLst/>
            <a:ahLst/>
            <a:cxnLst/>
            <a:rect l="l" t="t" r="r" b="b"/>
            <a:pathLst>
              <a:path w="52" h="362">
                <a:moveTo>
                  <a:pt x="0" y="362"/>
                </a:moveTo>
                <a:lnTo>
                  <a:pt x="22" y="362"/>
                </a:lnTo>
                <a:lnTo>
                  <a:pt x="22" y="0"/>
                </a:lnTo>
                <a:lnTo>
                  <a:pt x="52" y="0"/>
                </a:lnTo>
              </a:path>
            </a:pathLst>
          </a:custGeom>
          <a:noFill/>
          <a:ln w="68580" cap="flat">
            <a:solidFill>
              <a:srgbClr val="C6962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L1 to L2 arrowhead"/>
          <p:cNvSpPr/>
          <p:nvPr/>
        </p:nvSpPr>
        <p:spPr>
          <a:xfrm>
            <a:off x="6099048" y="292608"/>
            <a:ext cx="210312" cy="201168"/>
          </a:xfrm>
          <a:custGeom>
            <a:avLst/>
            <a:gdLst/>
            <a:ahLst/>
            <a:cxnLst/>
            <a:rect l="l" t="t" r="r" b="b"/>
            <a:pathLst>
              <a:path w="23" h="22">
                <a:moveTo>
                  <a:pt x="0" y="0"/>
                </a:moveTo>
                <a:lnTo>
                  <a:pt x="23" y="11"/>
                </a:lnTo>
                <a:lnTo>
                  <a:pt x="0" y="22"/>
                </a:lnTo>
                <a:close/>
              </a:path>
            </a:pathLst>
          </a:custGeom>
          <a:solidFill>
            <a:srgbClr val="C69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L2 to L1 completion route"/>
          <p:cNvSpPr/>
          <p:nvPr/>
        </p:nvSpPr>
        <p:spPr>
          <a:xfrm>
            <a:off x="5138928" y="5193792"/>
            <a:ext cx="1280160" cy="3337560"/>
          </a:xfrm>
          <a:custGeom>
            <a:avLst/>
            <a:gdLst/>
            <a:ahLst/>
            <a:cxnLst/>
            <a:rect l="l" t="t" r="r" b="b"/>
            <a:pathLst>
              <a:path w="140" h="365">
                <a:moveTo>
                  <a:pt x="140" y="365"/>
                </a:moveTo>
                <a:lnTo>
                  <a:pt x="118" y="365"/>
                </a:lnTo>
                <a:lnTo>
                  <a:pt x="118" y="0"/>
                </a:lnTo>
                <a:lnTo>
                  <a:pt x="0" y="0"/>
                </a:lnTo>
              </a:path>
            </a:pathLst>
          </a:custGeom>
          <a:noFill/>
          <a:ln w="68580" cap="flat">
            <a:solidFill>
              <a:srgbClr val="C69627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L2 to L1 arrowhead"/>
          <p:cNvSpPr/>
          <p:nvPr/>
        </p:nvSpPr>
        <p:spPr>
          <a:xfrm>
            <a:off x="4983480" y="5084064"/>
            <a:ext cx="210312" cy="219456"/>
          </a:xfrm>
          <a:custGeom>
            <a:avLst/>
            <a:gdLst/>
            <a:ahLst/>
            <a:cxnLst/>
            <a:rect l="l" t="t" r="r" b="b"/>
            <a:pathLst>
              <a:path w="23" h="24">
                <a:moveTo>
                  <a:pt x="23" y="0"/>
                </a:moveTo>
                <a:lnTo>
                  <a:pt x="0" y="12"/>
                </a:lnTo>
                <a:lnTo>
                  <a:pt x="23" y="24"/>
                </a:lnTo>
                <a:close/>
              </a:path>
            </a:pathLst>
          </a:custGeom>
          <a:solidFill>
            <a:srgbClr val="C696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L2 to L3 decomposition route"/>
          <p:cNvSpPr/>
          <p:nvPr/>
        </p:nvSpPr>
        <p:spPr>
          <a:xfrm>
            <a:off x="11558016" y="356616"/>
            <a:ext cx="594360" cy="3310128"/>
          </a:xfrm>
          <a:custGeom>
            <a:avLst/>
            <a:gdLst/>
            <a:ahLst/>
            <a:cxnLst/>
            <a:rect l="l" t="t" r="r" b="b"/>
            <a:pathLst>
              <a:path w="65" h="362">
                <a:moveTo>
                  <a:pt x="0" y="362"/>
                </a:moveTo>
                <a:lnTo>
                  <a:pt x="31" y="362"/>
                </a:lnTo>
                <a:lnTo>
                  <a:pt x="31" y="0"/>
                </a:lnTo>
                <a:lnTo>
                  <a:pt x="65" y="0"/>
                </a:lnTo>
              </a:path>
            </a:pathLst>
          </a:custGeom>
          <a:noFill/>
          <a:ln w="68580" cap="flat">
            <a:solidFill>
              <a:srgbClr val="824C1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L2 to L3 arrowhead"/>
          <p:cNvSpPr/>
          <p:nvPr/>
        </p:nvSpPr>
        <p:spPr>
          <a:xfrm>
            <a:off x="12097512" y="256032"/>
            <a:ext cx="210312" cy="201168"/>
          </a:xfrm>
          <a:custGeom>
            <a:avLst/>
            <a:gdLst/>
            <a:ahLst/>
            <a:cxnLst/>
            <a:rect l="l" t="t" r="r" b="b"/>
            <a:pathLst>
              <a:path w="23" h="22">
                <a:moveTo>
                  <a:pt x="0" y="0"/>
                </a:moveTo>
                <a:lnTo>
                  <a:pt x="23" y="11"/>
                </a:lnTo>
                <a:lnTo>
                  <a:pt x="0" y="22"/>
                </a:lnTo>
                <a:close/>
              </a:path>
            </a:pathLst>
          </a:custGeom>
          <a:solidFill>
            <a:srgbClr val="824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L3 to L2 completion route"/>
          <p:cNvSpPr/>
          <p:nvPr/>
        </p:nvSpPr>
        <p:spPr>
          <a:xfrm>
            <a:off x="11183112" y="5129784"/>
            <a:ext cx="1261872" cy="3849624"/>
          </a:xfrm>
          <a:custGeom>
            <a:avLst/>
            <a:gdLst/>
            <a:ahLst/>
            <a:cxnLst/>
            <a:rect l="l" t="t" r="r" b="b"/>
            <a:pathLst>
              <a:path w="138" h="421">
                <a:moveTo>
                  <a:pt x="138" y="421"/>
                </a:moveTo>
                <a:lnTo>
                  <a:pt x="114" y="421"/>
                </a:lnTo>
                <a:lnTo>
                  <a:pt x="114" y="0"/>
                </a:lnTo>
                <a:lnTo>
                  <a:pt x="0" y="0"/>
                </a:lnTo>
              </a:path>
            </a:pathLst>
          </a:custGeom>
          <a:noFill/>
          <a:ln w="68580" cap="flat">
            <a:solidFill>
              <a:srgbClr val="824C14"/>
            </a:solidFill>
            <a:miter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L3 to L2 arrowhead"/>
          <p:cNvSpPr/>
          <p:nvPr/>
        </p:nvSpPr>
        <p:spPr>
          <a:xfrm>
            <a:off x="11018520" y="5029200"/>
            <a:ext cx="210312" cy="201168"/>
          </a:xfrm>
          <a:custGeom>
            <a:avLst/>
            <a:gdLst/>
            <a:ahLst/>
            <a:cxnLst/>
            <a:rect l="l" t="t" r="r" b="b"/>
            <a:pathLst>
              <a:path w="23" h="22">
                <a:moveTo>
                  <a:pt x="23" y="0"/>
                </a:moveTo>
                <a:lnTo>
                  <a:pt x="0" y="11"/>
                </a:lnTo>
                <a:lnTo>
                  <a:pt x="23" y="22"/>
                </a:lnTo>
                <a:close/>
              </a:path>
            </a:pathLst>
          </a:custGeom>
          <a:solidFill>
            <a:srgbClr val="824C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L1 to L2 phi box"/>
          <p:cNvSpPr/>
          <p:nvPr/>
        </p:nvSpPr>
        <p:spPr>
          <a:xfrm>
            <a:off x="5577840" y="1673352"/>
            <a:ext cx="585216" cy="594360"/>
          </a:xfrm>
          <a:prstGeom prst="rect">
            <a:avLst/>
          </a:prstGeom>
          <a:solidFill>
            <a:srgbClr val="FFFFFF"/>
          </a:solidFill>
          <a:ln w="42976">
            <a:solidFill>
              <a:srgbClr val="C6962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L1 to L2 phi symbol"/>
          <p:cNvSpPr txBox="1"/>
          <p:nvPr/>
        </p:nvSpPr>
        <p:spPr>
          <a:xfrm>
            <a:off x="5715000" y="1675424"/>
            <a:ext cx="12106656" cy="65836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456">
                <a:solidFill>
                  <a:srgbClr val="C69627"/>
                </a:solidFill>
                <a:latin typeface="Liberation Serif"/>
              </a:defRPr>
              <a:buNone/>
            </a:pPr>
            <a:r>
              <a:rPr sz="3456" b="0" i="1" spc="0" kern="120000">
                <a:solidFill>
                  <a:srgbClr val="C69627"/>
                </a:solidFill>
                <a:latin typeface="Liberation Serif" pitchFamily="18" charset="0"/>
              </a:rPr>
              <a:t>ϕ</a:t>
            </a:r>
          </a:p>
        </p:txBody>
      </p:sp>
      <p:sp>
        <p:nvSpPr>
          <p:cNvPr id="109" name="L2 to L1 psi box"/>
          <p:cNvSpPr/>
          <p:nvPr/>
        </p:nvSpPr>
        <p:spPr>
          <a:xfrm>
            <a:off x="5916168" y="7141464"/>
            <a:ext cx="585216" cy="594360"/>
          </a:xfrm>
          <a:prstGeom prst="rect">
            <a:avLst/>
          </a:prstGeom>
          <a:solidFill>
            <a:srgbClr val="FFFFFF"/>
          </a:solidFill>
          <a:ln w="42976">
            <a:solidFill>
              <a:srgbClr val="C69627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L2 to L1 psi symbol"/>
          <p:cNvSpPr txBox="1"/>
          <p:nvPr/>
        </p:nvSpPr>
        <p:spPr>
          <a:xfrm>
            <a:off x="6053328" y="7143536"/>
            <a:ext cx="11768328" cy="65836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456">
                <a:solidFill>
                  <a:srgbClr val="C69627"/>
                </a:solidFill>
                <a:latin typeface="Liberation Serif"/>
              </a:defRPr>
              <a:buNone/>
            </a:pPr>
            <a:r>
              <a:rPr sz="3456" b="0" i="1" spc="0" kern="120000">
                <a:solidFill>
                  <a:srgbClr val="C69627"/>
                </a:solidFill>
                <a:latin typeface="Liberation Serif" pitchFamily="18" charset="0"/>
              </a:rPr>
              <a:t>ψ</a:t>
            </a:r>
          </a:p>
        </p:txBody>
      </p:sp>
      <p:sp>
        <p:nvSpPr>
          <p:cNvPr id="111" name="L2 to L3 phi box"/>
          <p:cNvSpPr/>
          <p:nvPr/>
        </p:nvSpPr>
        <p:spPr>
          <a:xfrm>
            <a:off x="11539728" y="1709928"/>
            <a:ext cx="585216" cy="594360"/>
          </a:xfrm>
          <a:prstGeom prst="rect">
            <a:avLst/>
          </a:prstGeom>
          <a:solidFill>
            <a:srgbClr val="FFFFFF"/>
          </a:solidFill>
          <a:ln w="42976">
            <a:solidFill>
              <a:srgbClr val="824C14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L2 to L3 phi symbol"/>
          <p:cNvSpPr txBox="1"/>
          <p:nvPr/>
        </p:nvSpPr>
        <p:spPr>
          <a:xfrm>
            <a:off x="11676888" y="1712000"/>
            <a:ext cx="6144768" cy="65836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456">
                <a:solidFill>
                  <a:srgbClr val="824C14"/>
                </a:solidFill>
                <a:latin typeface="Liberation Serif"/>
              </a:defRPr>
              <a:buNone/>
            </a:pPr>
            <a:r>
              <a:rPr sz="3456" b="0" i="1" spc="0" kern="120000">
                <a:solidFill>
                  <a:srgbClr val="824C14"/>
                </a:solidFill>
                <a:latin typeface="Liberation Serif" pitchFamily="18" charset="0"/>
              </a:rPr>
              <a:t>ϕ</a:t>
            </a:r>
          </a:p>
        </p:txBody>
      </p:sp>
      <p:sp>
        <p:nvSpPr>
          <p:cNvPr id="113" name="L3 to L2 psi box"/>
          <p:cNvSpPr/>
          <p:nvPr/>
        </p:nvSpPr>
        <p:spPr>
          <a:xfrm>
            <a:off x="11932920" y="7488936"/>
            <a:ext cx="585216" cy="594360"/>
          </a:xfrm>
          <a:prstGeom prst="rect">
            <a:avLst/>
          </a:prstGeom>
          <a:solidFill>
            <a:srgbClr val="FFFFFF"/>
          </a:solidFill>
          <a:ln w="42976">
            <a:solidFill>
              <a:srgbClr val="824C14"/>
            </a:solidFill>
            <a:rou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L3 to L2 psi symbol"/>
          <p:cNvSpPr txBox="1"/>
          <p:nvPr/>
        </p:nvSpPr>
        <p:spPr>
          <a:xfrm>
            <a:off x="12070080" y="7491008"/>
            <a:ext cx="5751576" cy="658368"/>
          </a:xfrm>
          <a:prstGeom prst="rect">
            <a:avLst/>
          </a:prstGeom>
          <a:noFill/>
          <a:effectLst/>
        </p:spPr>
        <p:txBody>
          <a:bodyPr wrap="none" anchor="t" lIns="0" rIns="0" tIns="0" bIns="0">
            <a:no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defRPr sz="3456">
                <a:solidFill>
                  <a:srgbClr val="824C14"/>
                </a:solidFill>
                <a:latin typeface="Liberation Serif"/>
              </a:defRPr>
              <a:buNone/>
            </a:pPr>
            <a:r>
              <a:rPr sz="3456" b="0" i="1" spc="0" kern="120000">
                <a:solidFill>
                  <a:srgbClr val="824C14"/>
                </a:solidFill>
                <a:latin typeface="Liberation Serif" pitchFamily="18" charset="0"/>
              </a:rPr>
              <a:t>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ROVER Recursive Reasoning Over Videos with Vision-Language Models for Embodied Tasks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7638776" cy="109636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ROVER — Recursive Reasoning Over Videos</dc:title>
  <dc:subject>Editable reconstruction of the supplied reference diagram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