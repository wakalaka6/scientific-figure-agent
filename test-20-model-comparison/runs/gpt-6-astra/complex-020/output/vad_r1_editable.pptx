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227296" cy="968349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reconstruction of the provided Vad-R1 diagram. All text, connectors, containers, illustrations and filmstrip borders are native PowerPoint objects. Video thumbnails are embedded images. Font: Comic Sans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 0"/>
          <p:cNvSpPr/>
          <p:nvPr/>
        </p:nvSpPr>
        <p:spPr>
          <a:xfrm>
            <a:off x="0" y="0"/>
            <a:ext cx="17227296" cy="9683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 1"/>
          <p:cNvSpPr/>
          <p:nvPr/>
        </p:nvSpPr>
        <p:spPr>
          <a:xfrm>
            <a:off x="128016" y="128016"/>
            <a:ext cx="6876288" cy="6062472"/>
          </a:xfrm>
          <a:prstGeom prst="rect">
            <a:avLst/>
          </a:prstGeom>
          <a:noFill/>
          <a:ln w="40233" cap="flat">
            <a:solidFill>
              <a:srgbClr val="A6A6A6"/>
            </a:solidFill>
            <a:round/>
            <a:custDash>
              <a:ds d="409091" sp="295455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 2"/>
          <p:cNvSpPr/>
          <p:nvPr/>
        </p:nvSpPr>
        <p:spPr>
          <a:xfrm>
            <a:off x="128016" y="6519672"/>
            <a:ext cx="6876288" cy="1837944"/>
          </a:xfrm>
          <a:prstGeom prst="rect">
            <a:avLst/>
          </a:prstGeom>
          <a:noFill/>
          <a:ln w="40233" cap="flat">
            <a:solidFill>
              <a:srgbClr val="A6A6A6"/>
            </a:solidFill>
            <a:round/>
            <a:custDash>
              <a:ds d="409091" sp="295455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 3"/>
          <p:cNvSpPr/>
          <p:nvPr/>
        </p:nvSpPr>
        <p:spPr>
          <a:xfrm>
            <a:off x="128016" y="8677656"/>
            <a:ext cx="6876288" cy="969264"/>
          </a:xfrm>
          <a:prstGeom prst="rect">
            <a:avLst/>
          </a:prstGeom>
          <a:noFill/>
          <a:ln w="40233" cap="flat">
            <a:solidFill>
              <a:srgbClr val="A6A6A6"/>
            </a:solidFill>
            <a:round/>
            <a:custDash>
              <a:ds d="409091" sp="295455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 4"/>
          <p:cNvSpPr/>
          <p:nvPr/>
        </p:nvSpPr>
        <p:spPr>
          <a:xfrm>
            <a:off x="7351776" y="128016"/>
            <a:ext cx="9756648" cy="9518904"/>
          </a:xfrm>
          <a:prstGeom prst="rect">
            <a:avLst/>
          </a:prstGeom>
          <a:noFill/>
          <a:ln w="40233" cap="flat">
            <a:solidFill>
              <a:srgbClr val="A6A6A6"/>
            </a:solidFill>
            <a:round/>
            <a:custDash>
              <a:ds d="409091" sp="295455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th 5"/>
          <p:cNvSpPr/>
          <p:nvPr/>
        </p:nvSpPr>
        <p:spPr>
          <a:xfrm>
            <a:off x="128016" y="740664"/>
            <a:ext cx="6876288" cy="91"/>
          </a:xfrm>
          <a:custGeom>
            <a:avLst/>
            <a:gdLst/>
            <a:ahLst/>
            <a:cxnLst/>
            <a:rect l="0" t="0" r="r" b="b"/>
            <a:pathLst>
              <a:path w="6876288" h="91">
                <a:moveTo>
                  <a:pt x="0" y="0"/>
                </a:moveTo>
                <a:lnTo>
                  <a:pt x="6876288" y="0"/>
                </a:lnTo>
              </a:path>
            </a:pathLst>
          </a:custGeom>
          <a:noFill/>
          <a:ln w="40233" cap="flat">
            <a:solidFill>
              <a:srgbClr val="A6A6A6"/>
            </a:solidFill>
            <a:round/>
            <a:custDash>
              <a:ds d="409091" sp="295455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ath 6"/>
          <p:cNvSpPr/>
          <p:nvPr/>
        </p:nvSpPr>
        <p:spPr>
          <a:xfrm>
            <a:off x="7351776" y="740664"/>
            <a:ext cx="9756648" cy="91"/>
          </a:xfrm>
          <a:custGeom>
            <a:avLst/>
            <a:gdLst/>
            <a:ahLst/>
            <a:cxnLst/>
            <a:rect l="0" t="0" r="r" b="b"/>
            <a:pathLst>
              <a:path w="9756648" h="91">
                <a:moveTo>
                  <a:pt x="0" y="0"/>
                </a:moveTo>
                <a:lnTo>
                  <a:pt x="9756648" y="0"/>
                </a:lnTo>
              </a:path>
            </a:pathLst>
          </a:custGeom>
          <a:noFill/>
          <a:ln w="40233" cap="flat">
            <a:solidFill>
              <a:srgbClr val="A6A6A6"/>
            </a:solidFill>
            <a:round/>
            <a:custDash>
              <a:ds d="409091" sp="295455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th 7"/>
          <p:cNvSpPr/>
          <p:nvPr/>
        </p:nvSpPr>
        <p:spPr>
          <a:xfrm>
            <a:off x="7351776" y="2395728"/>
            <a:ext cx="9756648" cy="91"/>
          </a:xfrm>
          <a:custGeom>
            <a:avLst/>
            <a:gdLst/>
            <a:ahLst/>
            <a:cxnLst/>
            <a:rect l="0" t="0" r="r" b="b"/>
            <a:pathLst>
              <a:path w="9756648" h="91">
                <a:moveTo>
                  <a:pt x="0" y="0"/>
                </a:moveTo>
                <a:lnTo>
                  <a:pt x="9756648" y="0"/>
                </a:lnTo>
              </a:path>
            </a:pathLst>
          </a:custGeom>
          <a:noFill/>
          <a:ln w="18288" cap="flat">
            <a:solidFill>
              <a:srgbClr val="969696"/>
            </a:solidFill>
            <a:round/>
            <a:custDash>
              <a:ds d="3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th 8"/>
          <p:cNvSpPr/>
          <p:nvPr/>
        </p:nvSpPr>
        <p:spPr>
          <a:xfrm>
            <a:off x="7351776" y="6912864"/>
            <a:ext cx="9756648" cy="91"/>
          </a:xfrm>
          <a:custGeom>
            <a:avLst/>
            <a:gdLst/>
            <a:ahLst/>
            <a:cxnLst/>
            <a:rect l="0" t="0" r="r" b="b"/>
            <a:pathLst>
              <a:path w="9756648" h="91">
                <a:moveTo>
                  <a:pt x="0" y="0"/>
                </a:moveTo>
                <a:lnTo>
                  <a:pt x="9756648" y="0"/>
                </a:lnTo>
              </a:path>
            </a:pathLst>
          </a:custGeom>
          <a:noFill/>
          <a:ln w="18288" cap="flat">
            <a:solidFill>
              <a:srgbClr val="969696"/>
            </a:solidFill>
            <a:round/>
            <a:custDash>
              <a:ds d="3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th 9"/>
          <p:cNvSpPr/>
          <p:nvPr/>
        </p:nvSpPr>
        <p:spPr>
          <a:xfrm>
            <a:off x="13130784" y="6912864"/>
            <a:ext cx="91" cy="2734056"/>
          </a:xfrm>
          <a:custGeom>
            <a:avLst/>
            <a:gdLst/>
            <a:ahLst/>
            <a:cxnLst/>
            <a:rect l="0" t="0" r="r" b="b"/>
            <a:pathLst>
              <a:path w="91" h="2734056">
                <a:moveTo>
                  <a:pt x="0" y="0"/>
                </a:moveTo>
                <a:lnTo>
                  <a:pt x="0" y="2734056"/>
                </a:lnTo>
              </a:path>
            </a:pathLst>
          </a:custGeom>
          <a:noFill/>
          <a:ln w="18288" cap="flat">
            <a:solidFill>
              <a:srgbClr val="969696"/>
            </a:solidFill>
            <a:round/>
            <a:custDash>
              <a:ds d="350000" sp="2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Stage 1: SFT with Reasoning Annotations"/>
          <p:cNvSpPr txBox="1"/>
          <p:nvPr/>
        </p:nvSpPr>
        <p:spPr>
          <a:xfrm>
            <a:off x="156904" y="215060"/>
            <a:ext cx="6806345" cy="592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92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Stage 1: SFT with Reasoning Annotations</a:t>
            </a:r>
          </a:p>
        </p:txBody>
      </p:sp>
      <p:sp>
        <p:nvSpPr>
          <p:cNvPr id="13" name="Stage 2: AVA-GRPO with Video-level Weak Labels"/>
          <p:cNvSpPr txBox="1"/>
          <p:nvPr/>
        </p:nvSpPr>
        <p:spPr>
          <a:xfrm>
            <a:off x="7964217" y="213484"/>
            <a:ext cx="8583889" cy="608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61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Stage 2: AVA-GRPO with Video-level Weak Labels</a:t>
            </a:r>
          </a:p>
        </p:txBody>
      </p:sp>
      <p:sp>
        <p:nvSpPr>
          <p:cNvPr id="14" name="Untrimmed"/>
          <p:cNvSpPr txBox="1"/>
          <p:nvPr/>
        </p:nvSpPr>
        <p:spPr>
          <a:xfrm>
            <a:off x="235009" y="1086124"/>
            <a:ext cx="1482957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Untrimmed</a:t>
            </a:r>
          </a:p>
        </p:txBody>
      </p:sp>
      <p:sp>
        <p:nvSpPr>
          <p:cNvPr id="15" name="Video"/>
          <p:cNvSpPr txBox="1"/>
          <p:nvPr/>
        </p:nvSpPr>
        <p:spPr>
          <a:xfrm>
            <a:off x="575070" y="1393728"/>
            <a:ext cx="802836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grpSp>
        <p:nvGrpSpPr>
          <p:cNvPr id="892" name="video-filmstrip-14"/>
          <p:cNvGrpSpPr/>
          <p:nvPr/>
        </p:nvGrpSpPr>
        <p:grpSpPr>
          <a:xfrm>
            <a:off x="1837944" y="950976"/>
            <a:ext cx="4187952" cy="832104"/>
            <a:chOff x="1837944" y="950976"/>
            <a:chExt cx="4187952" cy="832104"/>
          </a:xfrm>
        </p:grpSpPr>
        <p:sp>
          <p:nvSpPr>
            <p:cNvPr id="16" name="rect 14"/>
            <p:cNvSpPr/>
            <p:nvPr/>
          </p:nvSpPr>
          <p:spPr>
            <a:xfrm>
              <a:off x="1837944" y="950976"/>
              <a:ext cx="4187952" cy="832104"/>
            </a:xfrm>
            <a:prstGeom prst="rect">
              <a:avLst/>
            </a:prstGeom>
            <a:solidFill>
              <a:srgbClr val="05050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 15"/>
            <p:cNvSpPr/>
            <p:nvPr/>
          </p:nvSpPr>
          <p:spPr>
            <a:xfrm>
              <a:off x="1865376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 16"/>
            <p:cNvSpPr/>
            <p:nvPr/>
          </p:nvSpPr>
          <p:spPr>
            <a:xfrm>
              <a:off x="1865376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 17"/>
            <p:cNvSpPr/>
            <p:nvPr/>
          </p:nvSpPr>
          <p:spPr>
            <a:xfrm>
              <a:off x="1998406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 18"/>
            <p:cNvSpPr/>
            <p:nvPr/>
          </p:nvSpPr>
          <p:spPr>
            <a:xfrm>
              <a:off x="1998406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 19"/>
            <p:cNvSpPr/>
            <p:nvPr/>
          </p:nvSpPr>
          <p:spPr>
            <a:xfrm>
              <a:off x="2131437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 20"/>
            <p:cNvSpPr/>
            <p:nvPr/>
          </p:nvSpPr>
          <p:spPr>
            <a:xfrm>
              <a:off x="2131437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 21"/>
            <p:cNvSpPr/>
            <p:nvPr/>
          </p:nvSpPr>
          <p:spPr>
            <a:xfrm>
              <a:off x="2264467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 22"/>
            <p:cNvSpPr/>
            <p:nvPr/>
          </p:nvSpPr>
          <p:spPr>
            <a:xfrm>
              <a:off x="2264467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 23"/>
            <p:cNvSpPr/>
            <p:nvPr/>
          </p:nvSpPr>
          <p:spPr>
            <a:xfrm>
              <a:off x="2397498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 24"/>
            <p:cNvSpPr/>
            <p:nvPr/>
          </p:nvSpPr>
          <p:spPr>
            <a:xfrm>
              <a:off x="2397498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 25"/>
            <p:cNvSpPr/>
            <p:nvPr/>
          </p:nvSpPr>
          <p:spPr>
            <a:xfrm>
              <a:off x="2530528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 26"/>
            <p:cNvSpPr/>
            <p:nvPr/>
          </p:nvSpPr>
          <p:spPr>
            <a:xfrm>
              <a:off x="2530528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 27"/>
            <p:cNvSpPr/>
            <p:nvPr/>
          </p:nvSpPr>
          <p:spPr>
            <a:xfrm>
              <a:off x="2663559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 28"/>
            <p:cNvSpPr/>
            <p:nvPr/>
          </p:nvSpPr>
          <p:spPr>
            <a:xfrm>
              <a:off x="2663559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 29"/>
            <p:cNvSpPr/>
            <p:nvPr/>
          </p:nvSpPr>
          <p:spPr>
            <a:xfrm>
              <a:off x="2796589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 30"/>
            <p:cNvSpPr/>
            <p:nvPr/>
          </p:nvSpPr>
          <p:spPr>
            <a:xfrm>
              <a:off x="2796589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 31"/>
            <p:cNvSpPr/>
            <p:nvPr/>
          </p:nvSpPr>
          <p:spPr>
            <a:xfrm>
              <a:off x="2929620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 32"/>
            <p:cNvSpPr/>
            <p:nvPr/>
          </p:nvSpPr>
          <p:spPr>
            <a:xfrm>
              <a:off x="2929620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 33"/>
            <p:cNvSpPr/>
            <p:nvPr/>
          </p:nvSpPr>
          <p:spPr>
            <a:xfrm>
              <a:off x="3062650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 34"/>
            <p:cNvSpPr/>
            <p:nvPr/>
          </p:nvSpPr>
          <p:spPr>
            <a:xfrm>
              <a:off x="3062650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 35"/>
            <p:cNvSpPr/>
            <p:nvPr/>
          </p:nvSpPr>
          <p:spPr>
            <a:xfrm>
              <a:off x="3195681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 36"/>
            <p:cNvSpPr/>
            <p:nvPr/>
          </p:nvSpPr>
          <p:spPr>
            <a:xfrm>
              <a:off x="3195681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 37"/>
            <p:cNvSpPr/>
            <p:nvPr/>
          </p:nvSpPr>
          <p:spPr>
            <a:xfrm>
              <a:off x="3328711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 38"/>
            <p:cNvSpPr/>
            <p:nvPr/>
          </p:nvSpPr>
          <p:spPr>
            <a:xfrm>
              <a:off x="3328711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 39"/>
            <p:cNvSpPr/>
            <p:nvPr/>
          </p:nvSpPr>
          <p:spPr>
            <a:xfrm>
              <a:off x="3461741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 40"/>
            <p:cNvSpPr/>
            <p:nvPr/>
          </p:nvSpPr>
          <p:spPr>
            <a:xfrm>
              <a:off x="3461741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 41"/>
            <p:cNvSpPr/>
            <p:nvPr/>
          </p:nvSpPr>
          <p:spPr>
            <a:xfrm>
              <a:off x="3594772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 42"/>
            <p:cNvSpPr/>
            <p:nvPr/>
          </p:nvSpPr>
          <p:spPr>
            <a:xfrm>
              <a:off x="3594772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 43"/>
            <p:cNvSpPr/>
            <p:nvPr/>
          </p:nvSpPr>
          <p:spPr>
            <a:xfrm>
              <a:off x="3727802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 44"/>
            <p:cNvSpPr/>
            <p:nvPr/>
          </p:nvSpPr>
          <p:spPr>
            <a:xfrm>
              <a:off x="3727802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 45"/>
            <p:cNvSpPr/>
            <p:nvPr/>
          </p:nvSpPr>
          <p:spPr>
            <a:xfrm>
              <a:off x="3860833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 46"/>
            <p:cNvSpPr/>
            <p:nvPr/>
          </p:nvSpPr>
          <p:spPr>
            <a:xfrm>
              <a:off x="3860833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 47"/>
            <p:cNvSpPr/>
            <p:nvPr/>
          </p:nvSpPr>
          <p:spPr>
            <a:xfrm>
              <a:off x="3993863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 48"/>
            <p:cNvSpPr/>
            <p:nvPr/>
          </p:nvSpPr>
          <p:spPr>
            <a:xfrm>
              <a:off x="3993863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 49"/>
            <p:cNvSpPr/>
            <p:nvPr/>
          </p:nvSpPr>
          <p:spPr>
            <a:xfrm>
              <a:off x="4126894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 50"/>
            <p:cNvSpPr/>
            <p:nvPr/>
          </p:nvSpPr>
          <p:spPr>
            <a:xfrm>
              <a:off x="4126894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 51"/>
            <p:cNvSpPr/>
            <p:nvPr/>
          </p:nvSpPr>
          <p:spPr>
            <a:xfrm>
              <a:off x="4259924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 52"/>
            <p:cNvSpPr/>
            <p:nvPr/>
          </p:nvSpPr>
          <p:spPr>
            <a:xfrm>
              <a:off x="4259924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 53"/>
            <p:cNvSpPr/>
            <p:nvPr/>
          </p:nvSpPr>
          <p:spPr>
            <a:xfrm>
              <a:off x="4392955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 54"/>
            <p:cNvSpPr/>
            <p:nvPr/>
          </p:nvSpPr>
          <p:spPr>
            <a:xfrm>
              <a:off x="4392955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 55"/>
            <p:cNvSpPr/>
            <p:nvPr/>
          </p:nvSpPr>
          <p:spPr>
            <a:xfrm>
              <a:off x="4525985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 56"/>
            <p:cNvSpPr/>
            <p:nvPr/>
          </p:nvSpPr>
          <p:spPr>
            <a:xfrm>
              <a:off x="4525985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 57"/>
            <p:cNvSpPr/>
            <p:nvPr/>
          </p:nvSpPr>
          <p:spPr>
            <a:xfrm>
              <a:off x="4659015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 58"/>
            <p:cNvSpPr/>
            <p:nvPr/>
          </p:nvSpPr>
          <p:spPr>
            <a:xfrm>
              <a:off x="4659015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 59"/>
            <p:cNvSpPr/>
            <p:nvPr/>
          </p:nvSpPr>
          <p:spPr>
            <a:xfrm>
              <a:off x="4792046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 60"/>
            <p:cNvSpPr/>
            <p:nvPr/>
          </p:nvSpPr>
          <p:spPr>
            <a:xfrm>
              <a:off x="4792046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 61"/>
            <p:cNvSpPr/>
            <p:nvPr/>
          </p:nvSpPr>
          <p:spPr>
            <a:xfrm>
              <a:off x="4925076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 62"/>
            <p:cNvSpPr/>
            <p:nvPr/>
          </p:nvSpPr>
          <p:spPr>
            <a:xfrm>
              <a:off x="4925076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 63"/>
            <p:cNvSpPr/>
            <p:nvPr/>
          </p:nvSpPr>
          <p:spPr>
            <a:xfrm>
              <a:off x="5058107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 64"/>
            <p:cNvSpPr/>
            <p:nvPr/>
          </p:nvSpPr>
          <p:spPr>
            <a:xfrm>
              <a:off x="5058107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 65"/>
            <p:cNvSpPr/>
            <p:nvPr/>
          </p:nvSpPr>
          <p:spPr>
            <a:xfrm>
              <a:off x="5191137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 66"/>
            <p:cNvSpPr/>
            <p:nvPr/>
          </p:nvSpPr>
          <p:spPr>
            <a:xfrm>
              <a:off x="5191137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 67"/>
            <p:cNvSpPr/>
            <p:nvPr/>
          </p:nvSpPr>
          <p:spPr>
            <a:xfrm>
              <a:off x="5324168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 68"/>
            <p:cNvSpPr/>
            <p:nvPr/>
          </p:nvSpPr>
          <p:spPr>
            <a:xfrm>
              <a:off x="5324168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 69"/>
            <p:cNvSpPr/>
            <p:nvPr/>
          </p:nvSpPr>
          <p:spPr>
            <a:xfrm>
              <a:off x="5457198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 70"/>
            <p:cNvSpPr/>
            <p:nvPr/>
          </p:nvSpPr>
          <p:spPr>
            <a:xfrm>
              <a:off x="5457198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 71"/>
            <p:cNvSpPr/>
            <p:nvPr/>
          </p:nvSpPr>
          <p:spPr>
            <a:xfrm>
              <a:off x="5590229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 72"/>
            <p:cNvSpPr/>
            <p:nvPr/>
          </p:nvSpPr>
          <p:spPr>
            <a:xfrm>
              <a:off x="5590229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 73"/>
            <p:cNvSpPr/>
            <p:nvPr/>
          </p:nvSpPr>
          <p:spPr>
            <a:xfrm>
              <a:off x="5723259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 74"/>
            <p:cNvSpPr/>
            <p:nvPr/>
          </p:nvSpPr>
          <p:spPr>
            <a:xfrm>
              <a:off x="5723259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 75"/>
            <p:cNvSpPr/>
            <p:nvPr/>
          </p:nvSpPr>
          <p:spPr>
            <a:xfrm>
              <a:off x="5856290" y="978408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 76"/>
            <p:cNvSpPr/>
            <p:nvPr/>
          </p:nvSpPr>
          <p:spPr>
            <a:xfrm>
              <a:off x="5856290" y="1684919"/>
              <a:ext cx="95544" cy="70729"/>
            </a:xfrm>
            <a:prstGeom prst="roundRect">
              <a:avLst>
                <a:gd name="adj" fmla="val 12928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9" name="Video frame" descr="fram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4520" y="1131433"/>
              <a:ext cx="793699" cy="471190"/>
            </a:xfrm>
            <a:prstGeom prst="rect">
              <a:avLst/>
            </a:prstGeom>
          </p:spPr>
        </p:pic>
        <p:pic>
          <p:nvPicPr>
            <p:cNvPr id="80" name="Video frame" descr="fram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95651" y="1131433"/>
              <a:ext cx="793699" cy="471190"/>
            </a:xfrm>
            <a:prstGeom prst="rect">
              <a:avLst/>
            </a:prstGeom>
          </p:spPr>
        </p:pic>
        <p:pic>
          <p:nvPicPr>
            <p:cNvPr id="81" name="Video frame" descr="fram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16782" y="1131433"/>
              <a:ext cx="793699" cy="471190"/>
            </a:xfrm>
            <a:prstGeom prst="rect">
              <a:avLst/>
            </a:prstGeom>
          </p:spPr>
        </p:pic>
        <p:pic>
          <p:nvPicPr>
            <p:cNvPr id="82" name="Video frame" descr="frame4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7914" y="1131433"/>
              <a:ext cx="793699" cy="471190"/>
            </a:xfrm>
            <a:prstGeom prst="rect">
              <a:avLst/>
            </a:prstGeom>
          </p:spPr>
        </p:pic>
        <p:pic>
          <p:nvPicPr>
            <p:cNvPr id="83" name="Video frame" descr="frame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59045" y="1131433"/>
              <a:ext cx="793699" cy="471190"/>
            </a:xfrm>
            <a:prstGeom prst="rect">
              <a:avLst/>
            </a:prstGeom>
          </p:spPr>
        </p:pic>
      </p:grpSp>
      <p:sp>
        <p:nvSpPr>
          <p:cNvPr id="84" name="path 82"/>
          <p:cNvSpPr/>
          <p:nvPr/>
        </p:nvSpPr>
        <p:spPr>
          <a:xfrm>
            <a:off x="3803904" y="1819656"/>
            <a:ext cx="91" cy="265176"/>
          </a:xfrm>
          <a:custGeom>
            <a:avLst/>
            <a:gdLst/>
            <a:ahLst/>
            <a:cxnLst/>
            <a:rect l="0" t="0" r="r" b="b"/>
            <a:pathLst>
              <a:path w="91" h="265176">
                <a:moveTo>
                  <a:pt x="0" y="0"/>
                </a:moveTo>
                <a:lnTo>
                  <a:pt x="0" y="265176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path 83"/>
          <p:cNvSpPr/>
          <p:nvPr/>
        </p:nvSpPr>
        <p:spPr>
          <a:xfrm>
            <a:off x="3737336" y="1956816"/>
            <a:ext cx="133137" cy="128016"/>
          </a:xfrm>
          <a:custGeom>
            <a:avLst/>
            <a:gdLst/>
            <a:ahLst/>
            <a:cxnLst/>
            <a:rect l="0" t="0" r="r" b="b"/>
            <a:pathLst>
              <a:path w="133137" h="128016">
                <a:moveTo>
                  <a:pt x="0" y="0"/>
                </a:moveTo>
                <a:lnTo>
                  <a:pt x="66568" y="128016"/>
                </a:lnTo>
                <a:lnTo>
                  <a:pt x="133137" y="0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893" name="prompt-icon-84"/>
          <p:cNvGrpSpPr/>
          <p:nvPr/>
        </p:nvGrpSpPr>
        <p:grpSpPr>
          <a:xfrm>
            <a:off x="1599184" y="2230882"/>
            <a:ext cx="586740" cy="577850"/>
            <a:chOff x="1599184" y="2230882"/>
            <a:chExt cx="586740" cy="577850"/>
          </a:xfrm>
        </p:grpSpPr>
        <p:sp>
          <p:nvSpPr>
            <p:cNvPr id="86" name="rect 84"/>
            <p:cNvSpPr/>
            <p:nvPr/>
          </p:nvSpPr>
          <p:spPr>
            <a:xfrm>
              <a:off x="1776984" y="2230882"/>
              <a:ext cx="408940" cy="53340"/>
            </a:xfrm>
            <a:prstGeom prst="roundRect">
              <a:avLst>
                <a:gd name="adj" fmla="val 33333"/>
              </a:avLst>
            </a:prstGeom>
            <a:solidFill>
              <a:srgbClr val="A9CCEC"/>
            </a:solidFill>
            <a:ln w="1778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ect 85"/>
            <p:cNvSpPr/>
            <p:nvPr/>
          </p:nvSpPr>
          <p:spPr>
            <a:xfrm>
              <a:off x="1812544" y="2284222"/>
              <a:ext cx="346710" cy="240030"/>
            </a:xfrm>
            <a:prstGeom prst="rect">
              <a:avLst/>
            </a:prstGeom>
            <a:solidFill>
              <a:srgbClr val="C0DDF4"/>
            </a:solidFill>
            <a:ln w="1778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path 86"/>
            <p:cNvSpPr/>
            <p:nvPr/>
          </p:nvSpPr>
          <p:spPr>
            <a:xfrm>
              <a:off x="1865884" y="2328672"/>
              <a:ext cx="53340" cy="53340"/>
            </a:xfrm>
            <a:custGeom>
              <a:avLst/>
              <a:gdLst/>
              <a:ahLst/>
              <a:cxnLst/>
              <a:rect l="0" t="0" r="r" b="b"/>
              <a:pathLst>
                <a:path w="53340" h="53340">
                  <a:moveTo>
                    <a:pt x="0" y="0"/>
                  </a:moveTo>
                  <a:lnTo>
                    <a:pt x="53340" y="0"/>
                  </a:lnTo>
                  <a:lnTo>
                    <a:pt x="53340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F5F6F9"/>
            </a:solidFill>
            <a:ln w="1244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path 87"/>
            <p:cNvSpPr/>
            <p:nvPr/>
          </p:nvSpPr>
          <p:spPr>
            <a:xfrm>
              <a:off x="1874774" y="2328672"/>
              <a:ext cx="222250" cy="142240"/>
            </a:xfrm>
            <a:custGeom>
              <a:avLst/>
              <a:gdLst/>
              <a:ahLst/>
              <a:cxnLst/>
              <a:rect l="0" t="0" r="r" b="b"/>
              <a:pathLst>
                <a:path w="222250" h="142240">
                  <a:moveTo>
                    <a:pt x="88900" y="0"/>
                  </a:moveTo>
                  <a:lnTo>
                    <a:pt x="222250" y="0"/>
                  </a:lnTo>
                  <a:moveTo>
                    <a:pt x="88900" y="44450"/>
                  </a:moveTo>
                  <a:lnTo>
                    <a:pt x="213360" y="44450"/>
                  </a:lnTo>
                  <a:moveTo>
                    <a:pt x="0" y="97790"/>
                  </a:moveTo>
                  <a:lnTo>
                    <a:pt x="195580" y="97790"/>
                  </a:lnTo>
                  <a:moveTo>
                    <a:pt x="0" y="142240"/>
                  </a:moveTo>
                  <a:lnTo>
                    <a:pt x="124460" y="142240"/>
                  </a:lnTo>
                </a:path>
              </a:pathLst>
            </a:custGeom>
            <a:noFill/>
            <a:ln w="1244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path 88"/>
            <p:cNvSpPr/>
            <p:nvPr/>
          </p:nvSpPr>
          <p:spPr>
            <a:xfrm>
              <a:off x="1616964" y="2622042"/>
              <a:ext cx="364490" cy="177800"/>
            </a:xfrm>
            <a:custGeom>
              <a:avLst/>
              <a:gdLst/>
              <a:ahLst/>
              <a:cxnLst/>
              <a:rect l="0" t="0" r="r" b="b"/>
              <a:pathLst>
                <a:path w="364490" h="177800">
                  <a:moveTo>
                    <a:pt x="17780" y="53340"/>
                  </a:moveTo>
                  <a:cubicBezTo>
                    <a:pt x="62230" y="0"/>
                    <a:pt x="248920" y="0"/>
                    <a:pt x="328930" y="44450"/>
                  </a:cubicBezTo>
                  <a:lnTo>
                    <a:pt x="364490" y="177800"/>
                  </a:lnTo>
                  <a:lnTo>
                    <a:pt x="0" y="17780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B7E790"/>
            </a:solidFill>
            <a:ln w="1778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path 89"/>
            <p:cNvSpPr/>
            <p:nvPr/>
          </p:nvSpPr>
          <p:spPr>
            <a:xfrm>
              <a:off x="1696974" y="2622042"/>
              <a:ext cx="168910" cy="177800"/>
            </a:xfrm>
            <a:custGeom>
              <a:avLst/>
              <a:gdLst/>
              <a:ahLst/>
              <a:cxnLst/>
              <a:rect l="0" t="0" r="r" b="b"/>
              <a:pathLst>
                <a:path w="168910" h="177800">
                  <a:moveTo>
                    <a:pt x="17780" y="0"/>
                  </a:moveTo>
                  <a:lnTo>
                    <a:pt x="80010" y="142240"/>
                  </a:lnTo>
                  <a:lnTo>
                    <a:pt x="160020" y="0"/>
                  </a:lnTo>
                  <a:lnTo>
                    <a:pt x="168910" y="97790"/>
                  </a:lnTo>
                  <a:lnTo>
                    <a:pt x="80010" y="1778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9F9F2"/>
            </a:solidFill>
            <a:ln w="1778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path 90"/>
            <p:cNvSpPr/>
            <p:nvPr/>
          </p:nvSpPr>
          <p:spPr>
            <a:xfrm>
              <a:off x="1768094" y="2595372"/>
              <a:ext cx="62230" cy="106680"/>
            </a:xfrm>
            <a:custGeom>
              <a:avLst/>
              <a:gdLst/>
              <a:ahLst/>
              <a:cxnLst/>
              <a:rect l="0" t="0" r="r" b="b"/>
              <a:pathLst>
                <a:path w="62230" h="106680">
                  <a:moveTo>
                    <a:pt x="0" y="0"/>
                  </a:moveTo>
                  <a:lnTo>
                    <a:pt x="0" y="97790"/>
                  </a:lnTo>
                  <a:lnTo>
                    <a:pt x="35560" y="106680"/>
                  </a:lnTo>
                  <a:lnTo>
                    <a:pt x="62230" y="8890"/>
                  </a:lnTo>
                  <a:close/>
                </a:path>
              </a:pathLst>
            </a:custGeom>
            <a:solidFill>
              <a:srgbClr val="EEDED6"/>
            </a:solidFill>
            <a:ln w="1778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path 91"/>
            <p:cNvSpPr/>
            <p:nvPr/>
          </p:nvSpPr>
          <p:spPr>
            <a:xfrm>
              <a:off x="1599184" y="2346452"/>
              <a:ext cx="293370" cy="346710"/>
            </a:xfrm>
            <a:custGeom>
              <a:avLst/>
              <a:gdLst/>
              <a:ahLst/>
              <a:cxnLst/>
              <a:rect l="0" t="0" r="r" b="b"/>
              <a:pathLst>
                <a:path w="293370" h="346710">
                  <a:moveTo>
                    <a:pt x="80010" y="88900"/>
                  </a:moveTo>
                  <a:cubicBezTo>
                    <a:pt x="97790" y="8890"/>
                    <a:pt x="231140" y="0"/>
                    <a:pt x="275590" y="80010"/>
                  </a:cubicBezTo>
                  <a:cubicBezTo>
                    <a:pt x="293370" y="133350"/>
                    <a:pt x="248920" y="257810"/>
                    <a:pt x="266700" y="302260"/>
                  </a:cubicBezTo>
                  <a:cubicBezTo>
                    <a:pt x="248920" y="346710"/>
                    <a:pt x="177800" y="284480"/>
                    <a:pt x="133350" y="293370"/>
                  </a:cubicBezTo>
                  <a:cubicBezTo>
                    <a:pt x="53340" y="302260"/>
                    <a:pt x="17780" y="257810"/>
                    <a:pt x="53340" y="204470"/>
                  </a:cubicBezTo>
                  <a:cubicBezTo>
                    <a:pt x="0" y="186690"/>
                    <a:pt x="35560" y="142240"/>
                    <a:pt x="80010" y="88900"/>
                  </a:cubicBezTo>
                  <a:close/>
                </a:path>
              </a:pathLst>
            </a:custGeom>
            <a:solidFill>
              <a:srgbClr val="78717F"/>
            </a:solidFill>
            <a:ln w="1778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path 92"/>
            <p:cNvSpPr/>
            <p:nvPr/>
          </p:nvSpPr>
          <p:spPr>
            <a:xfrm>
              <a:off x="1679194" y="2426462"/>
              <a:ext cx="168910" cy="222250"/>
            </a:xfrm>
            <a:custGeom>
              <a:avLst/>
              <a:gdLst/>
              <a:ahLst/>
              <a:cxnLst/>
              <a:rect l="0" t="0" r="r" b="b"/>
              <a:pathLst>
                <a:path w="168910" h="222250">
                  <a:moveTo>
                    <a:pt x="17780" y="35560"/>
                  </a:moveTo>
                  <a:cubicBezTo>
                    <a:pt x="44450" y="53340"/>
                    <a:pt x="133350" y="26670"/>
                    <a:pt x="151130" y="0"/>
                  </a:cubicBezTo>
                  <a:cubicBezTo>
                    <a:pt x="168910" y="53340"/>
                    <a:pt x="168910" y="151130"/>
                    <a:pt x="124460" y="177800"/>
                  </a:cubicBezTo>
                  <a:cubicBezTo>
                    <a:pt x="62230" y="222250"/>
                    <a:pt x="0" y="142240"/>
                    <a:pt x="8890" y="71120"/>
                  </a:cubicBezTo>
                  <a:close/>
                </a:path>
              </a:pathLst>
            </a:custGeom>
            <a:solidFill>
              <a:srgbClr val="F3E4DF"/>
            </a:solidFill>
            <a:ln w="1778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path 93"/>
            <p:cNvSpPr/>
            <p:nvPr/>
          </p:nvSpPr>
          <p:spPr>
            <a:xfrm>
              <a:off x="1625854" y="2595372"/>
              <a:ext cx="71120" cy="71120"/>
            </a:xfrm>
            <a:custGeom>
              <a:avLst/>
              <a:gdLst/>
              <a:ahLst/>
              <a:cxnLst/>
              <a:rect l="0" t="0" r="r" b="b"/>
              <a:pathLst>
                <a:path w="71120" h="71120">
                  <a:moveTo>
                    <a:pt x="35560" y="0"/>
                  </a:moveTo>
                  <a:cubicBezTo>
                    <a:pt x="0" y="26670"/>
                    <a:pt x="26670" y="71120"/>
                    <a:pt x="71120" y="53340"/>
                  </a:cubicBezTo>
                </a:path>
              </a:pathLst>
            </a:custGeom>
            <a:noFill/>
            <a:ln w="1778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path 94"/>
            <p:cNvSpPr/>
            <p:nvPr/>
          </p:nvSpPr>
          <p:spPr>
            <a:xfrm>
              <a:off x="1821434" y="2577592"/>
              <a:ext cx="168910" cy="231140"/>
            </a:xfrm>
            <a:custGeom>
              <a:avLst/>
              <a:gdLst/>
              <a:ahLst/>
              <a:cxnLst/>
              <a:rect l="0" t="0" r="r" b="b"/>
              <a:pathLst>
                <a:path w="168910" h="231140">
                  <a:moveTo>
                    <a:pt x="80010" y="115570"/>
                  </a:moveTo>
                  <a:lnTo>
                    <a:pt x="133350" y="0"/>
                  </a:lnTo>
                  <a:lnTo>
                    <a:pt x="168910" y="8890"/>
                  </a:lnTo>
                  <a:lnTo>
                    <a:pt x="133350" y="195580"/>
                  </a:lnTo>
                  <a:cubicBezTo>
                    <a:pt x="124460" y="222250"/>
                    <a:pt x="80010" y="231140"/>
                    <a:pt x="44450" y="222250"/>
                  </a:cubicBezTo>
                  <a:lnTo>
                    <a:pt x="0" y="204470"/>
                  </a:lnTo>
                  <a:lnTo>
                    <a:pt x="17780" y="142240"/>
                  </a:lnTo>
                  <a:close/>
                </a:path>
              </a:pathLst>
            </a:custGeom>
            <a:solidFill>
              <a:srgbClr val="B4E28B"/>
            </a:solidFill>
            <a:ln w="1778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path 95"/>
            <p:cNvSpPr/>
            <p:nvPr/>
          </p:nvSpPr>
          <p:spPr>
            <a:xfrm>
              <a:off x="1954784" y="2497582"/>
              <a:ext cx="80010" cy="97790"/>
            </a:xfrm>
            <a:custGeom>
              <a:avLst/>
              <a:gdLst/>
              <a:ahLst/>
              <a:cxnLst/>
              <a:rect l="0" t="0" r="r" b="b"/>
              <a:pathLst>
                <a:path w="80010" h="97790">
                  <a:moveTo>
                    <a:pt x="0" y="88900"/>
                  </a:moveTo>
                  <a:lnTo>
                    <a:pt x="8890" y="35560"/>
                  </a:lnTo>
                  <a:cubicBezTo>
                    <a:pt x="17780" y="17780"/>
                    <a:pt x="26670" y="8890"/>
                    <a:pt x="35560" y="17780"/>
                  </a:cubicBezTo>
                  <a:lnTo>
                    <a:pt x="53340" y="26670"/>
                  </a:lnTo>
                  <a:lnTo>
                    <a:pt x="62230" y="0"/>
                  </a:lnTo>
                  <a:lnTo>
                    <a:pt x="80010" y="8890"/>
                  </a:lnTo>
                  <a:lnTo>
                    <a:pt x="53340" y="97790"/>
                  </a:lnTo>
                  <a:close/>
                </a:path>
              </a:pathLst>
            </a:custGeom>
            <a:solidFill>
              <a:srgbClr val="F4DED8"/>
            </a:solidFill>
            <a:ln w="1778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path 96"/>
            <p:cNvSpPr/>
            <p:nvPr/>
          </p:nvSpPr>
          <p:spPr>
            <a:xfrm>
              <a:off x="1999234" y="2417572"/>
              <a:ext cx="44450" cy="88900"/>
            </a:xfrm>
            <a:custGeom>
              <a:avLst/>
              <a:gdLst/>
              <a:ahLst/>
              <a:cxnLst/>
              <a:rect l="0" t="0" r="r" b="b"/>
              <a:pathLst>
                <a:path w="44450" h="88900">
                  <a:moveTo>
                    <a:pt x="0" y="88900"/>
                  </a:moveTo>
                  <a:lnTo>
                    <a:pt x="44450" y="0"/>
                  </a:lnTo>
                </a:path>
              </a:pathLst>
            </a:custGeom>
            <a:noFill/>
            <a:ln w="13334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path 97"/>
            <p:cNvSpPr/>
            <p:nvPr/>
          </p:nvSpPr>
          <p:spPr>
            <a:xfrm>
              <a:off x="1661414" y="2719832"/>
              <a:ext cx="106680" cy="80010"/>
            </a:xfrm>
            <a:custGeom>
              <a:avLst/>
              <a:gdLst/>
              <a:ahLst/>
              <a:cxnLst/>
              <a:rect l="0" t="0" r="r" b="b"/>
              <a:pathLst>
                <a:path w="106680" h="80010">
                  <a:moveTo>
                    <a:pt x="0" y="17780"/>
                  </a:moveTo>
                  <a:lnTo>
                    <a:pt x="8890" y="80010"/>
                  </a:lnTo>
                  <a:moveTo>
                    <a:pt x="106680" y="0"/>
                  </a:moveTo>
                  <a:lnTo>
                    <a:pt x="106680" y="62230"/>
                  </a:lnTo>
                </a:path>
              </a:pathLst>
            </a:custGeom>
            <a:noFill/>
            <a:ln w="13334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0" name="Prompt"/>
          <p:cNvSpPr txBox="1"/>
          <p:nvPr/>
        </p:nvSpPr>
        <p:spPr>
          <a:xfrm>
            <a:off x="478231" y="2328062"/>
            <a:ext cx="1020949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Prompt</a:t>
            </a:r>
          </a:p>
        </p:txBody>
      </p:sp>
      <p:sp>
        <p:nvSpPr>
          <p:cNvPr id="101" name="path 99"/>
          <p:cNvSpPr/>
          <p:nvPr/>
        </p:nvSpPr>
        <p:spPr>
          <a:xfrm>
            <a:off x="2295144" y="2523744"/>
            <a:ext cx="841248" cy="91"/>
          </a:xfrm>
          <a:custGeom>
            <a:avLst/>
            <a:gdLst/>
            <a:ahLst/>
            <a:cxnLst/>
            <a:rect l="0" t="0" r="r" b="b"/>
            <a:pathLst>
              <a:path w="841248" h="91">
                <a:moveTo>
                  <a:pt x="0" y="0"/>
                </a:moveTo>
                <a:lnTo>
                  <a:pt x="841248" y="0"/>
                </a:lnTo>
              </a:path>
            </a:pathLst>
          </a:custGeom>
          <a:noFill/>
          <a:ln w="4114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path 100"/>
          <p:cNvSpPr/>
          <p:nvPr/>
        </p:nvSpPr>
        <p:spPr>
          <a:xfrm>
            <a:off x="2999232" y="2452421"/>
            <a:ext cx="137160" cy="142646"/>
          </a:xfrm>
          <a:custGeom>
            <a:avLst/>
            <a:gdLst/>
            <a:ahLst/>
            <a:cxnLst/>
            <a:rect l="0" t="0" r="r" b="b"/>
            <a:pathLst>
              <a:path w="137160" h="142646">
                <a:moveTo>
                  <a:pt x="0" y="142646"/>
                </a:moveTo>
                <a:lnTo>
                  <a:pt x="137160" y="71323"/>
                </a:lnTo>
                <a:lnTo>
                  <a:pt x="0" y="0"/>
                </a:lnTo>
              </a:path>
            </a:pathLst>
          </a:custGeom>
          <a:noFill/>
          <a:ln w="4114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894" name="policy-model-101"/>
          <p:cNvGrpSpPr/>
          <p:nvPr/>
        </p:nvGrpSpPr>
        <p:grpSpPr>
          <a:xfrm>
            <a:off x="3311500" y="1979219"/>
            <a:ext cx="979514" cy="1090504"/>
            <a:chOff x="3311500" y="1979219"/>
            <a:chExt cx="979514" cy="1090504"/>
          </a:xfrm>
        </p:grpSpPr>
        <p:sp>
          <p:nvSpPr>
            <p:cNvPr id="103" name="ellipse 101"/>
            <p:cNvSpPr/>
            <p:nvPr/>
          </p:nvSpPr>
          <p:spPr>
            <a:xfrm>
              <a:off x="3513125" y="2132838"/>
              <a:ext cx="124816" cy="105613"/>
            </a:xfrm>
            <a:prstGeom prst="ellipse">
              <a:avLst/>
            </a:prstGeom>
            <a:solidFill>
              <a:srgbClr val="ED7278"/>
            </a:solidFill>
            <a:ln w="2496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ellipse 102"/>
            <p:cNvSpPr/>
            <p:nvPr/>
          </p:nvSpPr>
          <p:spPr>
            <a:xfrm>
              <a:off x="3657143" y="2123237"/>
              <a:ext cx="124816" cy="115214"/>
            </a:xfrm>
            <a:prstGeom prst="ellipse">
              <a:avLst/>
            </a:prstGeom>
            <a:solidFill>
              <a:srgbClr val="ED7278"/>
            </a:solidFill>
            <a:ln w="2496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ellipse 103"/>
            <p:cNvSpPr/>
            <p:nvPr/>
          </p:nvSpPr>
          <p:spPr>
            <a:xfrm>
              <a:off x="3810762" y="2132838"/>
              <a:ext cx="124816" cy="105613"/>
            </a:xfrm>
            <a:prstGeom prst="ellipse">
              <a:avLst/>
            </a:prstGeom>
            <a:solidFill>
              <a:srgbClr val="ED7278"/>
            </a:solidFill>
            <a:ln w="2496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rect 104"/>
            <p:cNvSpPr/>
            <p:nvPr/>
          </p:nvSpPr>
          <p:spPr>
            <a:xfrm>
              <a:off x="3311500" y="2372868"/>
              <a:ext cx="96012" cy="211226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2496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ect 105"/>
            <p:cNvSpPr/>
            <p:nvPr/>
          </p:nvSpPr>
          <p:spPr>
            <a:xfrm>
              <a:off x="4108399" y="2372868"/>
              <a:ext cx="96012" cy="211226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2496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path 106"/>
            <p:cNvSpPr/>
            <p:nvPr/>
          </p:nvSpPr>
          <p:spPr>
            <a:xfrm>
              <a:off x="3503524" y="2824124"/>
              <a:ext cx="528066" cy="192024"/>
            </a:xfrm>
            <a:custGeom>
              <a:avLst/>
              <a:gdLst/>
              <a:ahLst/>
              <a:cxnLst/>
              <a:rect l="0" t="0" r="r" b="b"/>
              <a:pathLst>
                <a:path w="528066" h="192024">
                  <a:moveTo>
                    <a:pt x="172822" y="0"/>
                  </a:moveTo>
                  <a:lnTo>
                    <a:pt x="172822" y="67208"/>
                  </a:lnTo>
                  <a:lnTo>
                    <a:pt x="67208" y="86411"/>
                  </a:lnTo>
                  <a:cubicBezTo>
                    <a:pt x="9601" y="96012"/>
                    <a:pt x="0" y="134417"/>
                    <a:pt x="0" y="192024"/>
                  </a:cubicBezTo>
                  <a:lnTo>
                    <a:pt x="528066" y="192024"/>
                  </a:lnTo>
                  <a:lnTo>
                    <a:pt x="528066" y="144018"/>
                  </a:lnTo>
                  <a:cubicBezTo>
                    <a:pt x="508864" y="96012"/>
                    <a:pt x="422453" y="86411"/>
                    <a:pt x="326441" y="76810"/>
                  </a:cubicBezTo>
                  <a:lnTo>
                    <a:pt x="326441" y="0"/>
                  </a:lnTo>
                  <a:close/>
                </a:path>
              </a:pathLst>
            </a:custGeom>
            <a:solidFill>
              <a:srgbClr val="96D8EE"/>
            </a:solidFill>
            <a:ln w="2496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path 107"/>
            <p:cNvSpPr/>
            <p:nvPr/>
          </p:nvSpPr>
          <p:spPr>
            <a:xfrm>
              <a:off x="3705149" y="2843327"/>
              <a:ext cx="124816" cy="153619"/>
            </a:xfrm>
            <a:custGeom>
              <a:avLst/>
              <a:gdLst/>
              <a:ahLst/>
              <a:cxnLst/>
              <a:rect l="0" t="0" r="r" b="b"/>
              <a:pathLst>
                <a:path w="124816" h="153619">
                  <a:moveTo>
                    <a:pt x="0" y="0"/>
                  </a:moveTo>
                  <a:lnTo>
                    <a:pt x="0" y="96012"/>
                  </a:lnTo>
                  <a:cubicBezTo>
                    <a:pt x="28804" y="153619"/>
                    <a:pt x="115214" y="134417"/>
                    <a:pt x="124816" y="86411"/>
                  </a:cubicBezTo>
                  <a:lnTo>
                    <a:pt x="124816" y="0"/>
                  </a:lnTo>
                  <a:close/>
                </a:path>
              </a:pathLst>
            </a:custGeom>
            <a:solidFill>
              <a:srgbClr val="367797"/>
            </a:solidFill>
            <a:ln w="2496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rect 108"/>
            <p:cNvSpPr/>
            <p:nvPr/>
          </p:nvSpPr>
          <p:spPr>
            <a:xfrm>
              <a:off x="3388309" y="2190445"/>
              <a:ext cx="739292" cy="672084"/>
            </a:xfrm>
            <a:prstGeom prst="roundRect">
              <a:avLst>
                <a:gd name="adj" fmla="val 21428"/>
              </a:avLst>
            </a:prstGeom>
            <a:solidFill>
              <a:srgbClr val="70CCE9"/>
            </a:solidFill>
            <a:ln w="2496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path 109"/>
            <p:cNvSpPr/>
            <p:nvPr/>
          </p:nvSpPr>
          <p:spPr>
            <a:xfrm>
              <a:off x="3397910" y="2248052"/>
              <a:ext cx="672084" cy="604876"/>
            </a:xfrm>
            <a:custGeom>
              <a:avLst/>
              <a:gdLst/>
              <a:ahLst/>
              <a:cxnLst/>
              <a:rect l="0" t="0" r="r" b="b"/>
              <a:pathLst>
                <a:path w="672084" h="604876">
                  <a:moveTo>
                    <a:pt x="76810" y="0"/>
                  </a:moveTo>
                  <a:cubicBezTo>
                    <a:pt x="0" y="28804"/>
                    <a:pt x="19202" y="470459"/>
                    <a:pt x="57607" y="537667"/>
                  </a:cubicBezTo>
                  <a:cubicBezTo>
                    <a:pt x="124816" y="604876"/>
                    <a:pt x="604876" y="604876"/>
                    <a:pt x="672084" y="537667"/>
                  </a:cubicBezTo>
                </a:path>
              </a:pathLst>
            </a:custGeom>
            <a:noFill/>
            <a:ln w="24003" cap="rnd">
              <a:solidFill>
                <a:srgbClr val="B9EB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ect 110"/>
            <p:cNvSpPr/>
            <p:nvPr/>
          </p:nvSpPr>
          <p:spPr>
            <a:xfrm>
              <a:off x="3455518" y="2257654"/>
              <a:ext cx="595274" cy="508864"/>
            </a:xfrm>
            <a:prstGeom prst="roundRect">
              <a:avLst>
                <a:gd name="adj" fmla="val 18867"/>
              </a:avLst>
            </a:prstGeom>
            <a:solidFill>
              <a:srgbClr val="D2F2F7"/>
            </a:solidFill>
            <a:ln w="2496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ellipse 111"/>
            <p:cNvSpPr/>
            <p:nvPr/>
          </p:nvSpPr>
          <p:spPr>
            <a:xfrm>
              <a:off x="3551530" y="2344064"/>
              <a:ext cx="105613" cy="124816"/>
            </a:xfrm>
            <a:prstGeom prst="ellipse">
              <a:avLst/>
            </a:prstGeom>
            <a:solidFill>
              <a:srgbClr val="B9E7F0"/>
            </a:solidFill>
            <a:ln w="2400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ellipse 112"/>
            <p:cNvSpPr/>
            <p:nvPr/>
          </p:nvSpPr>
          <p:spPr>
            <a:xfrm>
              <a:off x="3839566" y="2344064"/>
              <a:ext cx="105613" cy="124816"/>
            </a:xfrm>
            <a:prstGeom prst="ellipse">
              <a:avLst/>
            </a:prstGeom>
            <a:solidFill>
              <a:srgbClr val="B9E7F0"/>
            </a:solidFill>
            <a:ln w="2400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path 113"/>
            <p:cNvSpPr/>
            <p:nvPr/>
          </p:nvSpPr>
          <p:spPr>
            <a:xfrm>
              <a:off x="3666744" y="2507285"/>
              <a:ext cx="163220" cy="67208"/>
            </a:xfrm>
            <a:custGeom>
              <a:avLst/>
              <a:gdLst/>
              <a:ahLst/>
              <a:cxnLst/>
              <a:rect l="0" t="0" r="r" b="b"/>
              <a:pathLst>
                <a:path w="163220" h="67208">
                  <a:moveTo>
                    <a:pt x="0" y="9601"/>
                  </a:moveTo>
                  <a:cubicBezTo>
                    <a:pt x="38405" y="67208"/>
                    <a:pt x="115214" y="67208"/>
                    <a:pt x="163220" y="0"/>
                  </a:cubicBezTo>
                </a:path>
              </a:pathLst>
            </a:custGeom>
            <a:noFill/>
            <a:ln w="23042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path 114"/>
            <p:cNvSpPr/>
            <p:nvPr/>
          </p:nvSpPr>
          <p:spPr>
            <a:xfrm>
              <a:off x="3522726" y="2526487"/>
              <a:ext cx="441655" cy="48006"/>
            </a:xfrm>
            <a:custGeom>
              <a:avLst/>
              <a:gdLst/>
              <a:ahLst/>
              <a:cxnLst/>
              <a:rect l="0" t="0" r="r" b="b"/>
              <a:pathLst>
                <a:path w="441655" h="48006">
                  <a:moveTo>
                    <a:pt x="0" y="0"/>
                  </a:moveTo>
                  <a:lnTo>
                    <a:pt x="57607" y="0"/>
                  </a:lnTo>
                  <a:moveTo>
                    <a:pt x="0" y="48006"/>
                  </a:moveTo>
                  <a:lnTo>
                    <a:pt x="57607" y="48006"/>
                  </a:lnTo>
                  <a:moveTo>
                    <a:pt x="384048" y="0"/>
                  </a:moveTo>
                  <a:lnTo>
                    <a:pt x="441655" y="0"/>
                  </a:lnTo>
                  <a:moveTo>
                    <a:pt x="384048" y="48006"/>
                  </a:moveTo>
                  <a:lnTo>
                    <a:pt x="441655" y="48006"/>
                  </a:lnTo>
                </a:path>
              </a:pathLst>
            </a:custGeom>
            <a:noFill/>
            <a:ln w="16322" cap="rnd">
              <a:solidFill>
                <a:srgbClr val="3C788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AI"/>
            <p:cNvSpPr txBox="1"/>
            <p:nvPr/>
          </p:nvSpPr>
          <p:spPr>
            <a:xfrm>
              <a:off x="3535112" y="2914184"/>
              <a:ext cx="184166" cy="1555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680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AI</a:t>
              </a:r>
            </a:p>
          </p:txBody>
        </p:sp>
        <p:sp>
          <p:nvSpPr>
            <p:cNvPr id="118" name="path 116"/>
            <p:cNvSpPr/>
            <p:nvPr/>
          </p:nvSpPr>
          <p:spPr>
            <a:xfrm>
              <a:off x="3915223" y="1979219"/>
              <a:ext cx="375791" cy="405459"/>
            </a:xfrm>
            <a:custGeom>
              <a:avLst/>
              <a:gdLst/>
              <a:ahLst/>
              <a:cxnLst/>
              <a:rect l="0" t="0" r="r" b="b"/>
              <a:pathLst>
                <a:path w="375791" h="405459">
                  <a:moveTo>
                    <a:pt x="187895" y="0"/>
                  </a:moveTo>
                  <a:cubicBezTo>
                    <a:pt x="108782" y="69225"/>
                    <a:pt x="207674" y="98892"/>
                    <a:pt x="128560" y="178006"/>
                  </a:cubicBezTo>
                  <a:cubicBezTo>
                    <a:pt x="89003" y="197785"/>
                    <a:pt x="79114" y="158228"/>
                    <a:pt x="79114" y="148339"/>
                  </a:cubicBezTo>
                  <a:cubicBezTo>
                    <a:pt x="0" y="247231"/>
                    <a:pt x="39557" y="365902"/>
                    <a:pt x="168117" y="385680"/>
                  </a:cubicBezTo>
                  <a:cubicBezTo>
                    <a:pt x="306566" y="405459"/>
                    <a:pt x="375791" y="286788"/>
                    <a:pt x="316456" y="187895"/>
                  </a:cubicBezTo>
                  <a:cubicBezTo>
                    <a:pt x="316456" y="247231"/>
                    <a:pt x="257120" y="237342"/>
                    <a:pt x="247231" y="197785"/>
                  </a:cubicBezTo>
                  <a:cubicBezTo>
                    <a:pt x="296677" y="89003"/>
                    <a:pt x="197785" y="108782"/>
                    <a:pt x="187895" y="0"/>
                  </a:cubicBezTo>
                  <a:close/>
                </a:path>
              </a:pathLst>
            </a:custGeom>
            <a:solidFill>
              <a:srgbClr val="F64A57"/>
            </a:solidFill>
            <a:ln w="15822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path 117"/>
            <p:cNvSpPr/>
            <p:nvPr/>
          </p:nvSpPr>
          <p:spPr>
            <a:xfrm>
              <a:off x="3984448" y="2127557"/>
              <a:ext cx="237342" cy="217563"/>
            </a:xfrm>
            <a:custGeom>
              <a:avLst/>
              <a:gdLst/>
              <a:ahLst/>
              <a:cxnLst/>
              <a:rect l="0" t="0" r="r" b="b"/>
              <a:pathLst>
                <a:path w="237342" h="217563">
                  <a:moveTo>
                    <a:pt x="128560" y="0"/>
                  </a:moveTo>
                  <a:cubicBezTo>
                    <a:pt x="89003" y="79114"/>
                    <a:pt x="138449" y="79114"/>
                    <a:pt x="89003" y="118671"/>
                  </a:cubicBezTo>
                  <a:cubicBezTo>
                    <a:pt x="39557" y="118671"/>
                    <a:pt x="69225" y="89003"/>
                    <a:pt x="49446" y="89003"/>
                  </a:cubicBezTo>
                  <a:cubicBezTo>
                    <a:pt x="0" y="168117"/>
                    <a:pt x="69225" y="217563"/>
                    <a:pt x="118671" y="207674"/>
                  </a:cubicBezTo>
                  <a:cubicBezTo>
                    <a:pt x="207674" y="207674"/>
                    <a:pt x="237342" y="138449"/>
                    <a:pt x="197785" y="108782"/>
                  </a:cubicBezTo>
                  <a:cubicBezTo>
                    <a:pt x="178006" y="178006"/>
                    <a:pt x="128560" y="128560"/>
                    <a:pt x="158228" y="89003"/>
                  </a:cubicBezTo>
                  <a:cubicBezTo>
                    <a:pt x="168117" y="59335"/>
                    <a:pt x="138449" y="39557"/>
                    <a:pt x="128560" y="0"/>
                  </a:cubicBezTo>
                  <a:close/>
                </a:path>
              </a:pathLst>
            </a:custGeom>
            <a:solidFill>
              <a:srgbClr val="FFB747"/>
            </a:solidFill>
            <a:ln w="11867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path 118"/>
            <p:cNvSpPr/>
            <p:nvPr/>
          </p:nvSpPr>
          <p:spPr>
            <a:xfrm>
              <a:off x="4261346" y="2068222"/>
              <a:ext cx="9889" cy="29668"/>
            </a:xfrm>
            <a:custGeom>
              <a:avLst/>
              <a:gdLst/>
              <a:ahLst/>
              <a:cxnLst/>
              <a:rect l="0" t="0" r="r" b="b"/>
              <a:pathLst>
                <a:path w="9889" h="29668">
                  <a:moveTo>
                    <a:pt x="0" y="0"/>
                  </a:moveTo>
                  <a:lnTo>
                    <a:pt x="9889" y="29668"/>
                  </a:lnTo>
                </a:path>
              </a:pathLst>
            </a:custGeom>
            <a:noFill/>
            <a:ln w="988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path 119"/>
            <p:cNvSpPr/>
            <p:nvPr/>
          </p:nvSpPr>
          <p:spPr>
            <a:xfrm>
              <a:off x="3994337" y="2048443"/>
              <a:ext cx="9889" cy="29668"/>
            </a:xfrm>
            <a:custGeom>
              <a:avLst/>
              <a:gdLst/>
              <a:ahLst/>
              <a:cxnLst/>
              <a:rect l="0" t="0" r="r" b="b"/>
              <a:pathLst>
                <a:path w="9889" h="29668">
                  <a:moveTo>
                    <a:pt x="0" y="0"/>
                  </a:moveTo>
                  <a:lnTo>
                    <a:pt x="9889" y="29668"/>
                  </a:lnTo>
                </a:path>
              </a:pathLst>
            </a:custGeom>
            <a:noFill/>
            <a:ln w="988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path 120"/>
            <p:cNvSpPr/>
            <p:nvPr/>
          </p:nvSpPr>
          <p:spPr>
            <a:xfrm>
              <a:off x="4221789" y="1989108"/>
              <a:ext cx="9889" cy="29668"/>
            </a:xfrm>
            <a:custGeom>
              <a:avLst/>
              <a:gdLst/>
              <a:ahLst/>
              <a:cxnLst/>
              <a:rect l="0" t="0" r="r" b="b"/>
              <a:pathLst>
                <a:path w="9889" h="29668">
                  <a:moveTo>
                    <a:pt x="0" y="0"/>
                  </a:moveTo>
                  <a:lnTo>
                    <a:pt x="9889" y="29668"/>
                  </a:lnTo>
                </a:path>
              </a:pathLst>
            </a:custGeom>
            <a:noFill/>
            <a:ln w="988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3" name="MLLM"/>
          <p:cNvSpPr txBox="1"/>
          <p:nvPr/>
        </p:nvSpPr>
        <p:spPr>
          <a:xfrm>
            <a:off x="4439321" y="2082820"/>
            <a:ext cx="866380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MLLM</a:t>
            </a:r>
          </a:p>
        </p:txBody>
      </p:sp>
      <p:sp>
        <p:nvSpPr>
          <p:cNvPr id="124" name="Perform Anomaly Reasoning"/>
          <p:cNvSpPr txBox="1"/>
          <p:nvPr/>
        </p:nvSpPr>
        <p:spPr>
          <a:xfrm>
            <a:off x="653201" y="3078558"/>
            <a:ext cx="2910162" cy="3954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Perform Anomaly Reasoning</a:t>
            </a:r>
          </a:p>
        </p:txBody>
      </p:sp>
      <p:sp>
        <p:nvSpPr>
          <p:cNvPr id="125" name="path 123"/>
          <p:cNvSpPr/>
          <p:nvPr/>
        </p:nvSpPr>
        <p:spPr>
          <a:xfrm>
            <a:off x="3776472" y="3118104"/>
            <a:ext cx="91" cy="237744"/>
          </a:xfrm>
          <a:custGeom>
            <a:avLst/>
            <a:gdLst/>
            <a:ahLst/>
            <a:cxnLst/>
            <a:rect l="0" t="0" r="r" b="b"/>
            <a:pathLst>
              <a:path w="91" h="237744">
                <a:moveTo>
                  <a:pt x="0" y="0"/>
                </a:moveTo>
                <a:lnTo>
                  <a:pt x="0" y="237744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path 124"/>
          <p:cNvSpPr/>
          <p:nvPr/>
        </p:nvSpPr>
        <p:spPr>
          <a:xfrm>
            <a:off x="3709904" y="3227832"/>
            <a:ext cx="133137" cy="128016"/>
          </a:xfrm>
          <a:custGeom>
            <a:avLst/>
            <a:gdLst/>
            <a:ahLst/>
            <a:cxnLst/>
            <a:rect l="0" t="0" r="r" b="b"/>
            <a:pathLst>
              <a:path w="133137" h="128016">
                <a:moveTo>
                  <a:pt x="0" y="0"/>
                </a:moveTo>
                <a:lnTo>
                  <a:pt x="66568" y="128016"/>
                </a:lnTo>
                <a:lnTo>
                  <a:pt x="133137" y="0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Completion"/>
          <p:cNvSpPr txBox="1"/>
          <p:nvPr/>
        </p:nvSpPr>
        <p:spPr>
          <a:xfrm>
            <a:off x="252601" y="3711619"/>
            <a:ext cx="1418284" cy="4656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36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Completion</a:t>
            </a:r>
          </a:p>
        </p:txBody>
      </p:sp>
      <p:sp>
        <p:nvSpPr>
          <p:cNvPr id="128" name="path 126"/>
          <p:cNvSpPr/>
          <p:nvPr/>
        </p:nvSpPr>
        <p:spPr>
          <a:xfrm>
            <a:off x="1719072" y="3447288"/>
            <a:ext cx="5020056" cy="1124712"/>
          </a:xfrm>
          <a:custGeom>
            <a:avLst/>
            <a:gdLst/>
            <a:ahLst/>
            <a:cxnLst/>
            <a:rect l="0" t="0" r="r" b="b"/>
            <a:pathLst>
              <a:path w="5020056" h="1124712">
                <a:moveTo>
                  <a:pt x="146304" y="0"/>
                </a:moveTo>
                <a:cubicBezTo>
                  <a:pt x="64008" y="0"/>
                  <a:pt x="18288" y="18288"/>
                  <a:pt x="18288" y="109728"/>
                </a:cubicBezTo>
                <a:lnTo>
                  <a:pt x="0" y="832104"/>
                </a:lnTo>
                <a:cubicBezTo>
                  <a:pt x="0" y="941832"/>
                  <a:pt x="45720" y="969264"/>
                  <a:pt x="146304" y="950976"/>
                </a:cubicBezTo>
                <a:lnTo>
                  <a:pt x="2935224" y="950976"/>
                </a:lnTo>
                <a:lnTo>
                  <a:pt x="3749040" y="1124712"/>
                </a:lnTo>
                <a:lnTo>
                  <a:pt x="3648456" y="1005840"/>
                </a:lnTo>
                <a:cubicBezTo>
                  <a:pt x="3611880" y="960120"/>
                  <a:pt x="3675888" y="950976"/>
                  <a:pt x="3749040" y="950976"/>
                </a:cubicBezTo>
                <a:lnTo>
                  <a:pt x="4928616" y="950976"/>
                </a:lnTo>
                <a:cubicBezTo>
                  <a:pt x="4992624" y="950976"/>
                  <a:pt x="5020056" y="923544"/>
                  <a:pt x="5010912" y="850392"/>
                </a:cubicBezTo>
                <a:lnTo>
                  <a:pt x="5010912" y="82296"/>
                </a:lnTo>
                <a:cubicBezTo>
                  <a:pt x="5010912" y="9144"/>
                  <a:pt x="4965192" y="0"/>
                  <a:pt x="4864608" y="0"/>
                </a:cubicBezTo>
                <a:close/>
              </a:path>
            </a:pathLst>
          </a:custGeom>
          <a:solidFill>
            <a:srgbClr val="FFFFFF"/>
          </a:solidFill>
          <a:ln w="16459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&lt;think&gt;"/>
          <p:cNvSpPr txBox="1"/>
          <p:nvPr/>
        </p:nvSpPr>
        <p:spPr>
          <a:xfrm>
            <a:off x="1832823" y="3471794"/>
            <a:ext cx="780226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&lt;think&gt;</a:t>
            </a:r>
          </a:p>
        </p:txBody>
      </p:sp>
      <p:sp>
        <p:nvSpPr>
          <p:cNvPr id="130" name="path 128"/>
          <p:cNvSpPr/>
          <p:nvPr/>
        </p:nvSpPr>
        <p:spPr>
          <a:xfrm>
            <a:off x="1874520" y="3739530"/>
            <a:ext cx="692444" cy="91"/>
          </a:xfrm>
          <a:custGeom>
            <a:avLst/>
            <a:gdLst/>
            <a:ahLst/>
            <a:cxnLst/>
            <a:rect l="0" t="0" r="r" b="b"/>
            <a:pathLst>
              <a:path w="692444" h="91">
                <a:moveTo>
                  <a:pt x="0" y="0"/>
                </a:moveTo>
                <a:lnTo>
                  <a:pt x="692444" y="0"/>
                </a:lnTo>
              </a:path>
            </a:pathLst>
          </a:custGeom>
          <a:noFill/>
          <a:ln w="91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he video shows ... "/>
          <p:cNvSpPr txBox="1"/>
          <p:nvPr/>
        </p:nvSpPr>
        <p:spPr>
          <a:xfrm>
            <a:off x="2525267" y="3471794"/>
            <a:ext cx="2048956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The video shows ... </a:t>
            </a:r>
          </a:p>
        </p:txBody>
      </p:sp>
      <p:sp>
        <p:nvSpPr>
          <p:cNvPr id="132" name="&lt;/think&gt;"/>
          <p:cNvSpPr txBox="1"/>
          <p:nvPr/>
        </p:nvSpPr>
        <p:spPr>
          <a:xfrm>
            <a:off x="4486441" y="3471794"/>
            <a:ext cx="892526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&lt;/think&gt;</a:t>
            </a:r>
          </a:p>
        </p:txBody>
      </p:sp>
      <p:sp>
        <p:nvSpPr>
          <p:cNvPr id="133" name="path 131"/>
          <p:cNvSpPr/>
          <p:nvPr/>
        </p:nvSpPr>
        <p:spPr>
          <a:xfrm>
            <a:off x="4528137" y="3739530"/>
            <a:ext cx="804743" cy="91"/>
          </a:xfrm>
          <a:custGeom>
            <a:avLst/>
            <a:gdLst/>
            <a:ahLst/>
            <a:cxnLst/>
            <a:rect l="0" t="0" r="r" b="b"/>
            <a:pathLst>
              <a:path w="804743" h="91">
                <a:moveTo>
                  <a:pt x="0" y="0"/>
                </a:moveTo>
                <a:lnTo>
                  <a:pt x="804743" y="0"/>
                </a:lnTo>
              </a:path>
            </a:pathLst>
          </a:custGeom>
          <a:noFill/>
          <a:ln w="91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&lt;answer&gt;"/>
          <p:cNvSpPr txBox="1"/>
          <p:nvPr/>
        </p:nvSpPr>
        <p:spPr>
          <a:xfrm>
            <a:off x="1832823" y="3746114"/>
            <a:ext cx="964963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135" name="path 133"/>
          <p:cNvSpPr/>
          <p:nvPr/>
        </p:nvSpPr>
        <p:spPr>
          <a:xfrm>
            <a:off x="1874520" y="4013850"/>
            <a:ext cx="877181" cy="91"/>
          </a:xfrm>
          <a:custGeom>
            <a:avLst/>
            <a:gdLst/>
            <a:ahLst/>
            <a:cxnLst/>
            <a:rect l="0" t="0" r="r" b="b"/>
            <a:pathLst>
              <a:path w="877181" h="91">
                <a:moveTo>
                  <a:pt x="0" y="0"/>
                </a:moveTo>
                <a:lnTo>
                  <a:pt x="877181" y="0"/>
                </a:lnTo>
              </a:path>
            </a:pathLst>
          </a:custGeom>
          <a:noFill/>
          <a:ln w="91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he anomaly "/>
          <p:cNvSpPr txBox="1"/>
          <p:nvPr/>
        </p:nvSpPr>
        <p:spPr>
          <a:xfrm>
            <a:off x="2710004" y="3746114"/>
            <a:ext cx="1414805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The anomaly </a:t>
            </a:r>
          </a:p>
        </p:txBody>
      </p:sp>
      <p:sp>
        <p:nvSpPr>
          <p:cNvPr id="137" name="occurred in"/>
          <p:cNvSpPr txBox="1"/>
          <p:nvPr/>
        </p:nvSpPr>
        <p:spPr>
          <a:xfrm>
            <a:off x="4037027" y="3746114"/>
            <a:ext cx="1244748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occurred in</a:t>
            </a:r>
          </a:p>
        </p:txBody>
      </p:sp>
      <p:sp>
        <p:nvSpPr>
          <p:cNvPr id="138" name=" the video is"/>
          <p:cNvSpPr txBox="1"/>
          <p:nvPr/>
        </p:nvSpPr>
        <p:spPr>
          <a:xfrm>
            <a:off x="5193993" y="3746114"/>
            <a:ext cx="1336046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 the video is</a:t>
            </a:r>
          </a:p>
        </p:txBody>
      </p:sp>
      <p:sp>
        <p:nvSpPr>
          <p:cNvPr id="139" name="Fighting ... "/>
          <p:cNvSpPr txBox="1"/>
          <p:nvPr/>
        </p:nvSpPr>
        <p:spPr>
          <a:xfrm>
            <a:off x="1832823" y="4011290"/>
            <a:ext cx="1217102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Fighting ... </a:t>
            </a:r>
          </a:p>
        </p:txBody>
      </p:sp>
      <p:sp>
        <p:nvSpPr>
          <p:cNvPr id="140" name="a physical altercation"/>
          <p:cNvSpPr txBox="1"/>
          <p:nvPr/>
        </p:nvSpPr>
        <p:spPr>
          <a:xfrm>
            <a:off x="2962143" y="4011290"/>
            <a:ext cx="2264769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a physical altercation</a:t>
            </a:r>
          </a:p>
        </p:txBody>
      </p:sp>
      <p:sp>
        <p:nvSpPr>
          <p:cNvPr id="141" name=" ... "/>
          <p:cNvSpPr txBox="1"/>
          <p:nvPr/>
        </p:nvSpPr>
        <p:spPr>
          <a:xfrm>
            <a:off x="5139129" y="4011290"/>
            <a:ext cx="382891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 ... </a:t>
            </a:r>
          </a:p>
        </p:txBody>
      </p:sp>
      <p:sp>
        <p:nvSpPr>
          <p:cNvPr id="142" name="&lt;/answer&gt;"/>
          <p:cNvSpPr txBox="1"/>
          <p:nvPr/>
        </p:nvSpPr>
        <p:spPr>
          <a:xfrm>
            <a:off x="5434238" y="4011290"/>
            <a:ext cx="1077263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&lt;/answer&gt;</a:t>
            </a:r>
          </a:p>
        </p:txBody>
      </p:sp>
      <p:sp>
        <p:nvSpPr>
          <p:cNvPr id="143" name="path 141"/>
          <p:cNvSpPr/>
          <p:nvPr/>
        </p:nvSpPr>
        <p:spPr>
          <a:xfrm>
            <a:off x="5475934" y="4279026"/>
            <a:ext cx="989481" cy="91"/>
          </a:xfrm>
          <a:custGeom>
            <a:avLst/>
            <a:gdLst/>
            <a:ahLst/>
            <a:cxnLst/>
            <a:rect l="0" t="0" r="r" b="b"/>
            <a:pathLst>
              <a:path w="989481" h="91">
                <a:moveTo>
                  <a:pt x="0" y="0"/>
                </a:moveTo>
                <a:lnTo>
                  <a:pt x="989481" y="0"/>
                </a:lnTo>
              </a:path>
            </a:pathLst>
          </a:custGeom>
          <a:noFill/>
          <a:ln w="91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path 142"/>
          <p:cNvSpPr/>
          <p:nvPr/>
        </p:nvSpPr>
        <p:spPr>
          <a:xfrm>
            <a:off x="3767328" y="4443984"/>
            <a:ext cx="91" cy="475488"/>
          </a:xfrm>
          <a:custGeom>
            <a:avLst/>
            <a:gdLst/>
            <a:ahLst/>
            <a:cxnLst/>
            <a:rect l="0" t="0" r="r" b="b"/>
            <a:pathLst>
              <a:path w="91" h="475488">
                <a:moveTo>
                  <a:pt x="0" y="0"/>
                </a:moveTo>
                <a:lnTo>
                  <a:pt x="0" y="475488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path 143"/>
          <p:cNvSpPr/>
          <p:nvPr/>
        </p:nvSpPr>
        <p:spPr>
          <a:xfrm>
            <a:off x="3700760" y="4791456"/>
            <a:ext cx="133137" cy="128016"/>
          </a:xfrm>
          <a:custGeom>
            <a:avLst/>
            <a:gdLst/>
            <a:ahLst/>
            <a:cxnLst/>
            <a:rect l="0" t="0" r="r" b="b"/>
            <a:pathLst>
              <a:path w="133137" h="128016">
                <a:moveTo>
                  <a:pt x="0" y="0"/>
                </a:moveTo>
                <a:lnTo>
                  <a:pt x="66568" y="128016"/>
                </a:lnTo>
                <a:lnTo>
                  <a:pt x="133137" y="0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path 144"/>
          <p:cNvSpPr/>
          <p:nvPr/>
        </p:nvSpPr>
        <p:spPr>
          <a:xfrm>
            <a:off x="3700760" y="4443984"/>
            <a:ext cx="133137" cy="128016"/>
          </a:xfrm>
          <a:custGeom>
            <a:avLst/>
            <a:gdLst/>
            <a:ahLst/>
            <a:cxnLst/>
            <a:rect l="0" t="0" r="r" b="b"/>
            <a:pathLst>
              <a:path w="133137" h="128016">
                <a:moveTo>
                  <a:pt x="133137" y="128016"/>
                </a:moveTo>
                <a:lnTo>
                  <a:pt x="66568" y="0"/>
                </a:lnTo>
                <a:lnTo>
                  <a:pt x="0" y="128016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oken Prediction Loss"/>
          <p:cNvSpPr txBox="1"/>
          <p:nvPr/>
        </p:nvSpPr>
        <p:spPr>
          <a:xfrm>
            <a:off x="4062222" y="4539996"/>
            <a:ext cx="2422303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Token Prediction Loss</a:t>
            </a:r>
          </a:p>
        </p:txBody>
      </p:sp>
      <p:sp>
        <p:nvSpPr>
          <p:cNvPr id="148" name="path 146"/>
          <p:cNvSpPr/>
          <p:nvPr/>
        </p:nvSpPr>
        <p:spPr>
          <a:xfrm>
            <a:off x="4480560" y="2514600"/>
            <a:ext cx="2368296" cy="2176272"/>
          </a:xfrm>
          <a:custGeom>
            <a:avLst/>
            <a:gdLst/>
            <a:ahLst/>
            <a:cxnLst/>
            <a:rect l="0" t="0" r="r" b="b"/>
            <a:pathLst>
              <a:path w="2368296" h="2176272">
                <a:moveTo>
                  <a:pt x="2048256" y="2176272"/>
                </a:moveTo>
                <a:lnTo>
                  <a:pt x="2368296" y="2176272"/>
                </a:lnTo>
                <a:lnTo>
                  <a:pt x="2368296" y="0"/>
                </a:lnTo>
                <a:lnTo>
                  <a:pt x="0" y="0"/>
                </a:lnTo>
              </a:path>
            </a:pathLst>
          </a:custGeom>
          <a:noFill/>
          <a:ln w="36576" cap="rnd">
            <a:solidFill>
              <a:srgbClr val="2C7ABE"/>
            </a:solidFill>
            <a:round/>
            <a:custDash>
              <a:ds d="100000" sp="1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path 147"/>
          <p:cNvSpPr/>
          <p:nvPr/>
        </p:nvSpPr>
        <p:spPr>
          <a:xfrm>
            <a:off x="4480560" y="2448032"/>
            <a:ext cx="128016" cy="133137"/>
          </a:xfrm>
          <a:custGeom>
            <a:avLst/>
            <a:gdLst/>
            <a:ahLst/>
            <a:cxnLst/>
            <a:rect l="0" t="0" r="r" b="b"/>
            <a:pathLst>
              <a:path w="128016" h="133137">
                <a:moveTo>
                  <a:pt x="128016" y="0"/>
                </a:moveTo>
                <a:lnTo>
                  <a:pt x="0" y="66568"/>
                </a:lnTo>
                <a:lnTo>
                  <a:pt x="128016" y="133137"/>
                </a:lnTo>
              </a:path>
            </a:pathLst>
          </a:custGeom>
          <a:noFill/>
          <a:ln w="36576" cap="rnd">
            <a:solidFill>
              <a:srgbClr val="2C7AB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Update"/>
          <p:cNvSpPr txBox="1"/>
          <p:nvPr/>
        </p:nvSpPr>
        <p:spPr>
          <a:xfrm>
            <a:off x="4905665" y="2567452"/>
            <a:ext cx="1019542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2C7ABE"/>
                </a:solidFill>
                <a:latin typeface="Comic Sans MS"/>
                <a:ea typeface="Comic Sans MS"/>
                <a:cs typeface="Comic Sans MS"/>
              </a:rPr>
              <a:t>Update</a:t>
            </a:r>
          </a:p>
        </p:txBody>
      </p:sp>
      <p:sp>
        <p:nvSpPr>
          <p:cNvPr id="151" name="Reasoning"/>
          <p:cNvSpPr txBox="1"/>
          <p:nvPr/>
        </p:nvSpPr>
        <p:spPr>
          <a:xfrm>
            <a:off x="323865" y="5202570"/>
            <a:ext cx="1286775" cy="460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6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Reasoning</a:t>
            </a:r>
          </a:p>
        </p:txBody>
      </p:sp>
      <p:sp>
        <p:nvSpPr>
          <p:cNvPr id="152" name="Annotation"/>
          <p:cNvSpPr txBox="1"/>
          <p:nvPr/>
        </p:nvSpPr>
        <p:spPr>
          <a:xfrm>
            <a:off x="259053" y="5509809"/>
            <a:ext cx="1416398" cy="460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6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Annotation</a:t>
            </a:r>
          </a:p>
        </p:txBody>
      </p:sp>
      <p:sp>
        <p:nvSpPr>
          <p:cNvPr id="153" name="path 151"/>
          <p:cNvSpPr/>
          <p:nvPr/>
        </p:nvSpPr>
        <p:spPr>
          <a:xfrm>
            <a:off x="1728216" y="5001768"/>
            <a:ext cx="5074920" cy="1060704"/>
          </a:xfrm>
          <a:custGeom>
            <a:avLst/>
            <a:gdLst/>
            <a:ahLst/>
            <a:cxnLst/>
            <a:rect l="0" t="0" r="r" b="b"/>
            <a:pathLst>
              <a:path w="5074920" h="1060704">
                <a:moveTo>
                  <a:pt x="0" y="0"/>
                </a:moveTo>
                <a:lnTo>
                  <a:pt x="4654296" y="0"/>
                </a:lnTo>
                <a:lnTo>
                  <a:pt x="5065776" y="265176"/>
                </a:lnTo>
                <a:lnTo>
                  <a:pt x="5056632" y="512064"/>
                </a:lnTo>
                <a:lnTo>
                  <a:pt x="5074920" y="1060704"/>
                </a:lnTo>
                <a:lnTo>
                  <a:pt x="0" y="1060704"/>
                </a:lnTo>
                <a:lnTo>
                  <a:pt x="9144" y="347472"/>
                </a:lnTo>
                <a:close/>
              </a:path>
            </a:pathLst>
          </a:custGeom>
          <a:solidFill>
            <a:srgbClr val="FFFFFF"/>
          </a:solidFill>
          <a:ln w="25603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path 152"/>
          <p:cNvSpPr/>
          <p:nvPr/>
        </p:nvSpPr>
        <p:spPr>
          <a:xfrm>
            <a:off x="6382512" y="5001768"/>
            <a:ext cx="411480" cy="265176"/>
          </a:xfrm>
          <a:custGeom>
            <a:avLst/>
            <a:gdLst/>
            <a:ahLst/>
            <a:cxnLst/>
            <a:rect l="0" t="0" r="r" b="b"/>
            <a:pathLst>
              <a:path w="411480" h="265176">
                <a:moveTo>
                  <a:pt x="0" y="0"/>
                </a:moveTo>
                <a:cubicBezTo>
                  <a:pt x="45720" y="36576"/>
                  <a:pt x="27432" y="182880"/>
                  <a:pt x="18288" y="246888"/>
                </a:cubicBezTo>
                <a:lnTo>
                  <a:pt x="411480" y="265176"/>
                </a:lnTo>
              </a:path>
            </a:pathLst>
          </a:custGeom>
          <a:noFill/>
          <a:ln w="25603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path 153"/>
          <p:cNvSpPr/>
          <p:nvPr/>
        </p:nvSpPr>
        <p:spPr>
          <a:xfrm>
            <a:off x="6382512" y="5001768"/>
            <a:ext cx="27432" cy="237744"/>
          </a:xfrm>
          <a:custGeom>
            <a:avLst/>
            <a:gdLst/>
            <a:ahLst/>
            <a:cxnLst/>
            <a:rect l="0" t="0" r="r" b="b"/>
            <a:pathLst>
              <a:path w="27432" h="237744">
                <a:moveTo>
                  <a:pt x="0" y="0"/>
                </a:moveTo>
                <a:lnTo>
                  <a:pt x="27432" y="237744"/>
                </a:lnTo>
              </a:path>
            </a:pathLst>
          </a:custGeom>
          <a:noFill/>
          <a:ln w="1828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&lt;think&gt;"/>
          <p:cNvSpPr txBox="1"/>
          <p:nvPr/>
        </p:nvSpPr>
        <p:spPr>
          <a:xfrm>
            <a:off x="1796247" y="5154290"/>
            <a:ext cx="780226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&lt;think&gt;</a:t>
            </a:r>
          </a:p>
        </p:txBody>
      </p:sp>
      <p:sp>
        <p:nvSpPr>
          <p:cNvPr id="157" name="path 155"/>
          <p:cNvSpPr/>
          <p:nvPr/>
        </p:nvSpPr>
        <p:spPr>
          <a:xfrm>
            <a:off x="1837944" y="5422026"/>
            <a:ext cx="692444" cy="91"/>
          </a:xfrm>
          <a:custGeom>
            <a:avLst/>
            <a:gdLst/>
            <a:ahLst/>
            <a:cxnLst/>
            <a:rect l="0" t="0" r="r" b="b"/>
            <a:pathLst>
              <a:path w="692444" h="91">
                <a:moveTo>
                  <a:pt x="0" y="0"/>
                </a:moveTo>
                <a:lnTo>
                  <a:pt x="692444" y="0"/>
                </a:lnTo>
              </a:path>
            </a:pathLst>
          </a:custGeom>
          <a:noFill/>
          <a:ln w="91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he video shows ... "/>
          <p:cNvSpPr txBox="1"/>
          <p:nvPr/>
        </p:nvSpPr>
        <p:spPr>
          <a:xfrm>
            <a:off x="2488691" y="5154290"/>
            <a:ext cx="2048956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The video shows ... </a:t>
            </a:r>
          </a:p>
        </p:txBody>
      </p:sp>
      <p:sp>
        <p:nvSpPr>
          <p:cNvPr id="159" name="&lt;/think&gt;"/>
          <p:cNvSpPr txBox="1"/>
          <p:nvPr/>
        </p:nvSpPr>
        <p:spPr>
          <a:xfrm>
            <a:off x="4449865" y="5154290"/>
            <a:ext cx="892526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&lt;/think&gt;</a:t>
            </a:r>
          </a:p>
        </p:txBody>
      </p:sp>
      <p:sp>
        <p:nvSpPr>
          <p:cNvPr id="160" name="path 158"/>
          <p:cNvSpPr/>
          <p:nvPr/>
        </p:nvSpPr>
        <p:spPr>
          <a:xfrm>
            <a:off x="4491561" y="5422026"/>
            <a:ext cx="804743" cy="91"/>
          </a:xfrm>
          <a:custGeom>
            <a:avLst/>
            <a:gdLst/>
            <a:ahLst/>
            <a:cxnLst/>
            <a:rect l="0" t="0" r="r" b="b"/>
            <a:pathLst>
              <a:path w="804743" h="91">
                <a:moveTo>
                  <a:pt x="0" y="0"/>
                </a:moveTo>
                <a:lnTo>
                  <a:pt x="804743" y="0"/>
                </a:lnTo>
              </a:path>
            </a:pathLst>
          </a:custGeom>
          <a:noFill/>
          <a:ln w="91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&lt;answer&gt;"/>
          <p:cNvSpPr txBox="1"/>
          <p:nvPr/>
        </p:nvSpPr>
        <p:spPr>
          <a:xfrm>
            <a:off x="1796247" y="5428610"/>
            <a:ext cx="964963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162" name="path 160"/>
          <p:cNvSpPr/>
          <p:nvPr/>
        </p:nvSpPr>
        <p:spPr>
          <a:xfrm>
            <a:off x="1837944" y="5696346"/>
            <a:ext cx="877181" cy="91"/>
          </a:xfrm>
          <a:custGeom>
            <a:avLst/>
            <a:gdLst/>
            <a:ahLst/>
            <a:cxnLst/>
            <a:rect l="0" t="0" r="r" b="b"/>
            <a:pathLst>
              <a:path w="877181" h="91">
                <a:moveTo>
                  <a:pt x="0" y="0"/>
                </a:moveTo>
                <a:lnTo>
                  <a:pt x="877181" y="0"/>
                </a:lnTo>
              </a:path>
            </a:pathLst>
          </a:custGeom>
          <a:noFill/>
          <a:ln w="91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he anomaly "/>
          <p:cNvSpPr txBox="1"/>
          <p:nvPr/>
        </p:nvSpPr>
        <p:spPr>
          <a:xfrm>
            <a:off x="2673428" y="5428610"/>
            <a:ext cx="1414805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The anomaly </a:t>
            </a:r>
          </a:p>
        </p:txBody>
      </p:sp>
      <p:sp>
        <p:nvSpPr>
          <p:cNvPr id="164" name="category of"/>
          <p:cNvSpPr txBox="1"/>
          <p:nvPr/>
        </p:nvSpPr>
        <p:spPr>
          <a:xfrm>
            <a:off x="4000451" y="5428610"/>
            <a:ext cx="1280539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528628"/>
                </a:solidFill>
                <a:latin typeface="Comic Sans MS"/>
                <a:ea typeface="Comic Sans MS"/>
                <a:cs typeface="Comic Sans MS"/>
              </a:rPr>
              <a:t>category of</a:t>
            </a:r>
          </a:p>
        </p:txBody>
      </p:sp>
      <p:sp>
        <p:nvSpPr>
          <p:cNvPr id="165" name=" the video is"/>
          <p:cNvSpPr txBox="1"/>
          <p:nvPr/>
        </p:nvSpPr>
        <p:spPr>
          <a:xfrm>
            <a:off x="5193208" y="5428610"/>
            <a:ext cx="1336046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 the video is</a:t>
            </a:r>
          </a:p>
        </p:txBody>
      </p:sp>
      <p:sp>
        <p:nvSpPr>
          <p:cNvPr id="166" name="Fighting ... "/>
          <p:cNvSpPr txBox="1"/>
          <p:nvPr/>
        </p:nvSpPr>
        <p:spPr>
          <a:xfrm>
            <a:off x="1796247" y="5693786"/>
            <a:ext cx="1217102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Fighting ... </a:t>
            </a:r>
          </a:p>
        </p:txBody>
      </p:sp>
      <p:sp>
        <p:nvSpPr>
          <p:cNvPr id="167" name="two individuals"/>
          <p:cNvSpPr txBox="1"/>
          <p:nvPr/>
        </p:nvSpPr>
        <p:spPr>
          <a:xfrm>
            <a:off x="2925567" y="5693786"/>
            <a:ext cx="1579612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528628"/>
                </a:solidFill>
                <a:latin typeface="Comic Sans MS"/>
                <a:ea typeface="Comic Sans MS"/>
                <a:cs typeface="Comic Sans MS"/>
              </a:rPr>
              <a:t>two individuals</a:t>
            </a:r>
          </a:p>
        </p:txBody>
      </p:sp>
      <p:sp>
        <p:nvSpPr>
          <p:cNvPr id="168" name=" ... "/>
          <p:cNvSpPr txBox="1"/>
          <p:nvPr/>
        </p:nvSpPr>
        <p:spPr>
          <a:xfrm>
            <a:off x="4417396" y="5693786"/>
            <a:ext cx="382891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 ... </a:t>
            </a:r>
          </a:p>
        </p:txBody>
      </p:sp>
      <p:sp>
        <p:nvSpPr>
          <p:cNvPr id="169" name="&lt;/answer&gt;"/>
          <p:cNvSpPr txBox="1"/>
          <p:nvPr/>
        </p:nvSpPr>
        <p:spPr>
          <a:xfrm>
            <a:off x="4712505" y="5693786"/>
            <a:ext cx="1077263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&lt;/answer&gt;</a:t>
            </a:r>
          </a:p>
        </p:txBody>
      </p:sp>
      <p:sp>
        <p:nvSpPr>
          <p:cNvPr id="170" name="path 168"/>
          <p:cNvSpPr/>
          <p:nvPr/>
        </p:nvSpPr>
        <p:spPr>
          <a:xfrm>
            <a:off x="4754201" y="5961522"/>
            <a:ext cx="989481" cy="91"/>
          </a:xfrm>
          <a:custGeom>
            <a:avLst/>
            <a:gdLst/>
            <a:ahLst/>
            <a:cxnLst/>
            <a:rect l="0" t="0" r="r" b="b"/>
            <a:pathLst>
              <a:path w="989481" h="91">
                <a:moveTo>
                  <a:pt x="0" y="0"/>
                </a:moveTo>
                <a:lnTo>
                  <a:pt x="989481" y="0"/>
                </a:lnTo>
              </a:path>
            </a:pathLst>
          </a:custGeom>
          <a:noFill/>
          <a:ln w="91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Prompt"/>
          <p:cNvSpPr txBox="1"/>
          <p:nvPr/>
        </p:nvSpPr>
        <p:spPr>
          <a:xfrm>
            <a:off x="275783" y="6753027"/>
            <a:ext cx="1225239" cy="5925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92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Prompt</a:t>
            </a:r>
          </a:p>
        </p:txBody>
      </p:sp>
      <p:grpSp>
        <p:nvGrpSpPr>
          <p:cNvPr id="895" name="prompt-icon-170"/>
          <p:cNvGrpSpPr/>
          <p:nvPr/>
        </p:nvGrpSpPr>
        <p:grpSpPr>
          <a:xfrm>
            <a:off x="439420" y="7335901"/>
            <a:ext cx="762762" cy="751205"/>
            <a:chOff x="439420" y="7335901"/>
            <a:chExt cx="762762" cy="751205"/>
          </a:xfrm>
        </p:grpSpPr>
        <p:sp>
          <p:nvSpPr>
            <p:cNvPr id="172" name="rect 170"/>
            <p:cNvSpPr/>
            <p:nvPr/>
          </p:nvSpPr>
          <p:spPr>
            <a:xfrm>
              <a:off x="670560" y="7335901"/>
              <a:ext cx="531622" cy="69342"/>
            </a:xfrm>
            <a:prstGeom prst="roundRect">
              <a:avLst>
                <a:gd name="adj" fmla="val 33333"/>
              </a:avLst>
            </a:prstGeom>
            <a:solidFill>
              <a:srgbClr val="A9CCEC"/>
            </a:solidFill>
            <a:ln w="2311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rect 171"/>
            <p:cNvSpPr/>
            <p:nvPr/>
          </p:nvSpPr>
          <p:spPr>
            <a:xfrm>
              <a:off x="716788" y="7405243"/>
              <a:ext cx="450723" cy="312039"/>
            </a:xfrm>
            <a:prstGeom prst="rect">
              <a:avLst/>
            </a:prstGeom>
            <a:solidFill>
              <a:srgbClr val="C0DDF4"/>
            </a:solidFill>
            <a:ln w="2311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path 172"/>
            <p:cNvSpPr/>
            <p:nvPr/>
          </p:nvSpPr>
          <p:spPr>
            <a:xfrm>
              <a:off x="786130" y="7463028"/>
              <a:ext cx="69342" cy="69342"/>
            </a:xfrm>
            <a:custGeom>
              <a:avLst/>
              <a:gdLst/>
              <a:ahLst/>
              <a:cxnLst/>
              <a:rect l="0" t="0" r="r" b="b"/>
              <a:pathLst>
                <a:path w="69342" h="69342">
                  <a:moveTo>
                    <a:pt x="0" y="0"/>
                  </a:moveTo>
                  <a:lnTo>
                    <a:pt x="69342" y="0"/>
                  </a:lnTo>
                  <a:lnTo>
                    <a:pt x="69342" y="69342"/>
                  </a:lnTo>
                  <a:lnTo>
                    <a:pt x="0" y="69342"/>
                  </a:lnTo>
                  <a:close/>
                </a:path>
              </a:pathLst>
            </a:custGeom>
            <a:solidFill>
              <a:srgbClr val="F5F6F9"/>
            </a:solidFill>
            <a:ln w="1617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path 173"/>
            <p:cNvSpPr/>
            <p:nvPr/>
          </p:nvSpPr>
          <p:spPr>
            <a:xfrm>
              <a:off x="797687" y="7463028"/>
              <a:ext cx="288925" cy="184912"/>
            </a:xfrm>
            <a:custGeom>
              <a:avLst/>
              <a:gdLst/>
              <a:ahLst/>
              <a:cxnLst/>
              <a:rect l="0" t="0" r="r" b="b"/>
              <a:pathLst>
                <a:path w="288925" h="184912">
                  <a:moveTo>
                    <a:pt x="115570" y="0"/>
                  </a:moveTo>
                  <a:lnTo>
                    <a:pt x="288925" y="0"/>
                  </a:lnTo>
                  <a:moveTo>
                    <a:pt x="115570" y="57785"/>
                  </a:moveTo>
                  <a:lnTo>
                    <a:pt x="277368" y="57785"/>
                  </a:lnTo>
                  <a:moveTo>
                    <a:pt x="0" y="127127"/>
                  </a:moveTo>
                  <a:lnTo>
                    <a:pt x="254254" y="127127"/>
                  </a:lnTo>
                  <a:moveTo>
                    <a:pt x="0" y="184912"/>
                  </a:moveTo>
                  <a:lnTo>
                    <a:pt x="161798" y="184912"/>
                  </a:lnTo>
                </a:path>
              </a:pathLst>
            </a:custGeom>
            <a:noFill/>
            <a:ln w="1617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path 174"/>
            <p:cNvSpPr/>
            <p:nvPr/>
          </p:nvSpPr>
          <p:spPr>
            <a:xfrm>
              <a:off x="462534" y="7844409"/>
              <a:ext cx="473837" cy="231140"/>
            </a:xfrm>
            <a:custGeom>
              <a:avLst/>
              <a:gdLst/>
              <a:ahLst/>
              <a:cxnLst/>
              <a:rect l="0" t="0" r="r" b="b"/>
              <a:pathLst>
                <a:path w="473837" h="231140">
                  <a:moveTo>
                    <a:pt x="23114" y="69342"/>
                  </a:moveTo>
                  <a:cubicBezTo>
                    <a:pt x="80899" y="0"/>
                    <a:pt x="323596" y="0"/>
                    <a:pt x="427609" y="57785"/>
                  </a:cubicBezTo>
                  <a:lnTo>
                    <a:pt x="473837" y="231140"/>
                  </a:lnTo>
                  <a:lnTo>
                    <a:pt x="0" y="231140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B7E790"/>
            </a:solidFill>
            <a:ln w="2311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path 175"/>
            <p:cNvSpPr/>
            <p:nvPr/>
          </p:nvSpPr>
          <p:spPr>
            <a:xfrm>
              <a:off x="566547" y="7844409"/>
              <a:ext cx="219583" cy="231140"/>
            </a:xfrm>
            <a:custGeom>
              <a:avLst/>
              <a:gdLst/>
              <a:ahLst/>
              <a:cxnLst/>
              <a:rect l="0" t="0" r="r" b="b"/>
              <a:pathLst>
                <a:path w="219583" h="231140">
                  <a:moveTo>
                    <a:pt x="23114" y="0"/>
                  </a:moveTo>
                  <a:lnTo>
                    <a:pt x="104013" y="184912"/>
                  </a:lnTo>
                  <a:lnTo>
                    <a:pt x="208026" y="0"/>
                  </a:lnTo>
                  <a:lnTo>
                    <a:pt x="219583" y="127127"/>
                  </a:lnTo>
                  <a:lnTo>
                    <a:pt x="104013" y="231140"/>
                  </a:lnTo>
                  <a:lnTo>
                    <a:pt x="0" y="115570"/>
                  </a:lnTo>
                  <a:close/>
                </a:path>
              </a:pathLst>
            </a:custGeom>
            <a:solidFill>
              <a:srgbClr val="F9F9F2"/>
            </a:solidFill>
            <a:ln w="2311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path 176"/>
            <p:cNvSpPr/>
            <p:nvPr/>
          </p:nvSpPr>
          <p:spPr>
            <a:xfrm>
              <a:off x="659003" y="7809738"/>
              <a:ext cx="80899" cy="138684"/>
            </a:xfrm>
            <a:custGeom>
              <a:avLst/>
              <a:gdLst/>
              <a:ahLst/>
              <a:cxnLst/>
              <a:rect l="0" t="0" r="r" b="b"/>
              <a:pathLst>
                <a:path w="80899" h="138684">
                  <a:moveTo>
                    <a:pt x="0" y="0"/>
                  </a:moveTo>
                  <a:lnTo>
                    <a:pt x="0" y="127127"/>
                  </a:lnTo>
                  <a:lnTo>
                    <a:pt x="46228" y="138684"/>
                  </a:lnTo>
                  <a:lnTo>
                    <a:pt x="80899" y="11557"/>
                  </a:lnTo>
                  <a:close/>
                </a:path>
              </a:pathLst>
            </a:custGeom>
            <a:solidFill>
              <a:srgbClr val="EEDED6"/>
            </a:solidFill>
            <a:ln w="2311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path 177"/>
            <p:cNvSpPr/>
            <p:nvPr/>
          </p:nvSpPr>
          <p:spPr>
            <a:xfrm>
              <a:off x="439420" y="7486142"/>
              <a:ext cx="381381" cy="450723"/>
            </a:xfrm>
            <a:custGeom>
              <a:avLst/>
              <a:gdLst/>
              <a:ahLst/>
              <a:cxnLst/>
              <a:rect l="0" t="0" r="r" b="b"/>
              <a:pathLst>
                <a:path w="381381" h="450723">
                  <a:moveTo>
                    <a:pt x="104013" y="115570"/>
                  </a:moveTo>
                  <a:cubicBezTo>
                    <a:pt x="127127" y="11557"/>
                    <a:pt x="300482" y="0"/>
                    <a:pt x="358267" y="104013"/>
                  </a:cubicBezTo>
                  <a:cubicBezTo>
                    <a:pt x="381381" y="173355"/>
                    <a:pt x="323596" y="335153"/>
                    <a:pt x="346710" y="392938"/>
                  </a:cubicBezTo>
                  <a:cubicBezTo>
                    <a:pt x="323596" y="450723"/>
                    <a:pt x="231140" y="369824"/>
                    <a:pt x="173355" y="381381"/>
                  </a:cubicBezTo>
                  <a:cubicBezTo>
                    <a:pt x="69342" y="392938"/>
                    <a:pt x="23114" y="335153"/>
                    <a:pt x="69342" y="265811"/>
                  </a:cubicBezTo>
                  <a:cubicBezTo>
                    <a:pt x="0" y="242697"/>
                    <a:pt x="46228" y="184912"/>
                    <a:pt x="104013" y="115570"/>
                  </a:cubicBezTo>
                  <a:close/>
                </a:path>
              </a:pathLst>
            </a:custGeom>
            <a:solidFill>
              <a:srgbClr val="78717F"/>
            </a:solidFill>
            <a:ln w="2311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path 178"/>
            <p:cNvSpPr/>
            <p:nvPr/>
          </p:nvSpPr>
          <p:spPr>
            <a:xfrm>
              <a:off x="543433" y="7590155"/>
              <a:ext cx="219583" cy="288925"/>
            </a:xfrm>
            <a:custGeom>
              <a:avLst/>
              <a:gdLst/>
              <a:ahLst/>
              <a:cxnLst/>
              <a:rect l="0" t="0" r="r" b="b"/>
              <a:pathLst>
                <a:path w="219583" h="288925">
                  <a:moveTo>
                    <a:pt x="23114" y="46228"/>
                  </a:moveTo>
                  <a:cubicBezTo>
                    <a:pt x="57785" y="69342"/>
                    <a:pt x="173355" y="34671"/>
                    <a:pt x="196469" y="0"/>
                  </a:cubicBezTo>
                  <a:cubicBezTo>
                    <a:pt x="219583" y="69342"/>
                    <a:pt x="219583" y="196469"/>
                    <a:pt x="161798" y="231140"/>
                  </a:cubicBezTo>
                  <a:cubicBezTo>
                    <a:pt x="80899" y="288925"/>
                    <a:pt x="0" y="184912"/>
                    <a:pt x="11557" y="92456"/>
                  </a:cubicBezTo>
                  <a:close/>
                </a:path>
              </a:pathLst>
            </a:custGeom>
            <a:solidFill>
              <a:srgbClr val="F3E4DF"/>
            </a:solidFill>
            <a:ln w="2311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path 179"/>
            <p:cNvSpPr/>
            <p:nvPr/>
          </p:nvSpPr>
          <p:spPr>
            <a:xfrm>
              <a:off x="474091" y="7809738"/>
              <a:ext cx="92456" cy="92456"/>
            </a:xfrm>
            <a:custGeom>
              <a:avLst/>
              <a:gdLst/>
              <a:ahLst/>
              <a:cxnLst/>
              <a:rect l="0" t="0" r="r" b="b"/>
              <a:pathLst>
                <a:path w="92456" h="92456">
                  <a:moveTo>
                    <a:pt x="46228" y="0"/>
                  </a:moveTo>
                  <a:cubicBezTo>
                    <a:pt x="0" y="34671"/>
                    <a:pt x="34671" y="92456"/>
                    <a:pt x="92456" y="69342"/>
                  </a:cubicBezTo>
                </a:path>
              </a:pathLst>
            </a:custGeom>
            <a:noFill/>
            <a:ln w="2311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path 180"/>
            <p:cNvSpPr/>
            <p:nvPr/>
          </p:nvSpPr>
          <p:spPr>
            <a:xfrm>
              <a:off x="728345" y="7786624"/>
              <a:ext cx="219583" cy="300482"/>
            </a:xfrm>
            <a:custGeom>
              <a:avLst/>
              <a:gdLst/>
              <a:ahLst/>
              <a:cxnLst/>
              <a:rect l="0" t="0" r="r" b="b"/>
              <a:pathLst>
                <a:path w="219583" h="300482">
                  <a:moveTo>
                    <a:pt x="104013" y="150241"/>
                  </a:moveTo>
                  <a:lnTo>
                    <a:pt x="173355" y="0"/>
                  </a:lnTo>
                  <a:lnTo>
                    <a:pt x="219583" y="11557"/>
                  </a:lnTo>
                  <a:lnTo>
                    <a:pt x="173355" y="254254"/>
                  </a:lnTo>
                  <a:cubicBezTo>
                    <a:pt x="161798" y="288925"/>
                    <a:pt x="104013" y="300482"/>
                    <a:pt x="57785" y="288925"/>
                  </a:cubicBezTo>
                  <a:lnTo>
                    <a:pt x="0" y="265811"/>
                  </a:lnTo>
                  <a:lnTo>
                    <a:pt x="23114" y="184912"/>
                  </a:lnTo>
                  <a:close/>
                </a:path>
              </a:pathLst>
            </a:custGeom>
            <a:solidFill>
              <a:srgbClr val="B4E28B"/>
            </a:solidFill>
            <a:ln w="2311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path 181"/>
            <p:cNvSpPr/>
            <p:nvPr/>
          </p:nvSpPr>
          <p:spPr>
            <a:xfrm>
              <a:off x="901700" y="7682611"/>
              <a:ext cx="104013" cy="127127"/>
            </a:xfrm>
            <a:custGeom>
              <a:avLst/>
              <a:gdLst/>
              <a:ahLst/>
              <a:cxnLst/>
              <a:rect l="0" t="0" r="r" b="b"/>
              <a:pathLst>
                <a:path w="104013" h="127127">
                  <a:moveTo>
                    <a:pt x="0" y="115570"/>
                  </a:moveTo>
                  <a:lnTo>
                    <a:pt x="11557" y="46228"/>
                  </a:lnTo>
                  <a:cubicBezTo>
                    <a:pt x="23114" y="23114"/>
                    <a:pt x="34671" y="11557"/>
                    <a:pt x="46228" y="23114"/>
                  </a:cubicBezTo>
                  <a:lnTo>
                    <a:pt x="69342" y="34671"/>
                  </a:lnTo>
                  <a:lnTo>
                    <a:pt x="80899" y="0"/>
                  </a:lnTo>
                  <a:lnTo>
                    <a:pt x="104013" y="11557"/>
                  </a:lnTo>
                  <a:lnTo>
                    <a:pt x="69342" y="127127"/>
                  </a:lnTo>
                  <a:close/>
                </a:path>
              </a:pathLst>
            </a:custGeom>
            <a:solidFill>
              <a:srgbClr val="F4DED8"/>
            </a:solidFill>
            <a:ln w="2311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path 182"/>
            <p:cNvSpPr/>
            <p:nvPr/>
          </p:nvSpPr>
          <p:spPr>
            <a:xfrm>
              <a:off x="959485" y="7578598"/>
              <a:ext cx="57785" cy="115570"/>
            </a:xfrm>
            <a:custGeom>
              <a:avLst/>
              <a:gdLst/>
              <a:ahLst/>
              <a:cxnLst/>
              <a:rect l="0" t="0" r="r" b="b"/>
              <a:pathLst>
                <a:path w="57785" h="115570">
                  <a:moveTo>
                    <a:pt x="0" y="115570"/>
                  </a:moveTo>
                  <a:lnTo>
                    <a:pt x="57785" y="0"/>
                  </a:lnTo>
                </a:path>
              </a:pathLst>
            </a:custGeom>
            <a:noFill/>
            <a:ln w="1733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path 183"/>
            <p:cNvSpPr/>
            <p:nvPr/>
          </p:nvSpPr>
          <p:spPr>
            <a:xfrm>
              <a:off x="520319" y="7971536"/>
              <a:ext cx="138684" cy="104013"/>
            </a:xfrm>
            <a:custGeom>
              <a:avLst/>
              <a:gdLst/>
              <a:ahLst/>
              <a:cxnLst/>
              <a:rect l="0" t="0" r="r" b="b"/>
              <a:pathLst>
                <a:path w="138684" h="104013">
                  <a:moveTo>
                    <a:pt x="0" y="23114"/>
                  </a:moveTo>
                  <a:lnTo>
                    <a:pt x="11557" y="104013"/>
                  </a:lnTo>
                  <a:moveTo>
                    <a:pt x="138684" y="0"/>
                  </a:moveTo>
                  <a:lnTo>
                    <a:pt x="138684" y="80899"/>
                  </a:lnTo>
                </a:path>
              </a:pathLst>
            </a:custGeom>
            <a:noFill/>
            <a:ln w="1733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6" name="path 184"/>
          <p:cNvSpPr/>
          <p:nvPr/>
        </p:nvSpPr>
        <p:spPr>
          <a:xfrm>
            <a:off x="1709928" y="6775704"/>
            <a:ext cx="5084064" cy="1371600"/>
          </a:xfrm>
          <a:custGeom>
            <a:avLst/>
            <a:gdLst/>
            <a:ahLst/>
            <a:cxnLst/>
            <a:rect l="0" t="0" r="r" b="b"/>
            <a:pathLst>
              <a:path w="5084064" h="1371600">
                <a:moveTo>
                  <a:pt x="0" y="0"/>
                </a:moveTo>
                <a:lnTo>
                  <a:pt x="4663440" y="0"/>
                </a:lnTo>
                <a:lnTo>
                  <a:pt x="5074920" y="265176"/>
                </a:lnTo>
                <a:lnTo>
                  <a:pt x="5065776" y="512064"/>
                </a:lnTo>
                <a:lnTo>
                  <a:pt x="5084064" y="1371600"/>
                </a:lnTo>
                <a:lnTo>
                  <a:pt x="0" y="1371600"/>
                </a:lnTo>
                <a:lnTo>
                  <a:pt x="9144" y="347472"/>
                </a:lnTo>
                <a:close/>
              </a:path>
            </a:pathLst>
          </a:custGeom>
          <a:solidFill>
            <a:srgbClr val="FFFFFF"/>
          </a:solidFill>
          <a:ln w="25603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path 185"/>
          <p:cNvSpPr/>
          <p:nvPr/>
        </p:nvSpPr>
        <p:spPr>
          <a:xfrm>
            <a:off x="6373368" y="6775704"/>
            <a:ext cx="411480" cy="265176"/>
          </a:xfrm>
          <a:custGeom>
            <a:avLst/>
            <a:gdLst/>
            <a:ahLst/>
            <a:cxnLst/>
            <a:rect l="0" t="0" r="r" b="b"/>
            <a:pathLst>
              <a:path w="411480" h="265176">
                <a:moveTo>
                  <a:pt x="0" y="0"/>
                </a:moveTo>
                <a:cubicBezTo>
                  <a:pt x="45720" y="36576"/>
                  <a:pt x="27432" y="182880"/>
                  <a:pt x="18288" y="246888"/>
                </a:cubicBezTo>
                <a:lnTo>
                  <a:pt x="411480" y="265176"/>
                </a:lnTo>
              </a:path>
            </a:pathLst>
          </a:custGeom>
          <a:noFill/>
          <a:ln w="25603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path 186"/>
          <p:cNvSpPr/>
          <p:nvPr/>
        </p:nvSpPr>
        <p:spPr>
          <a:xfrm>
            <a:off x="6373368" y="6775704"/>
            <a:ext cx="27432" cy="237744"/>
          </a:xfrm>
          <a:custGeom>
            <a:avLst/>
            <a:gdLst/>
            <a:ahLst/>
            <a:cxnLst/>
            <a:rect l="0" t="0" r="r" b="b"/>
            <a:pathLst>
              <a:path w="27432" h="237744">
                <a:moveTo>
                  <a:pt x="0" y="0"/>
                </a:moveTo>
                <a:lnTo>
                  <a:pt x="27432" y="237744"/>
                </a:lnTo>
              </a:path>
            </a:pathLst>
          </a:custGeom>
          <a:noFill/>
          <a:ln w="1828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Analyze whether the video is abnormal or"/>
          <p:cNvSpPr txBox="1"/>
          <p:nvPr/>
        </p:nvSpPr>
        <p:spPr>
          <a:xfrm>
            <a:off x="1776222" y="6908292"/>
            <a:ext cx="450856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Analyze whether the video is abnormal or</a:t>
            </a:r>
          </a:p>
        </p:txBody>
      </p:sp>
      <p:sp>
        <p:nvSpPr>
          <p:cNvPr id="190" name="normal, "/>
          <p:cNvSpPr txBox="1"/>
          <p:nvPr/>
        </p:nvSpPr>
        <p:spPr>
          <a:xfrm>
            <a:off x="1776222" y="7173468"/>
            <a:ext cx="929973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normal, </a:t>
            </a:r>
          </a:p>
        </p:txBody>
      </p:sp>
      <p:sp>
        <p:nvSpPr>
          <p:cNvPr id="191" name="think before answering"/>
          <p:cNvSpPr txBox="1"/>
          <p:nvPr/>
        </p:nvSpPr>
        <p:spPr>
          <a:xfrm>
            <a:off x="2614755" y="7173468"/>
            <a:ext cx="2551855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3AFE4"/>
                </a:solidFill>
                <a:latin typeface="Comic Sans MS"/>
                <a:ea typeface="Comic Sans MS"/>
                <a:cs typeface="Comic Sans MS"/>
              </a:rPr>
              <a:t>think before answering</a:t>
            </a:r>
          </a:p>
        </p:txBody>
      </p:sp>
      <p:sp>
        <p:nvSpPr>
          <p:cNvPr id="192" name=", generate your"/>
          <p:cNvSpPr txBox="1"/>
          <p:nvPr/>
        </p:nvSpPr>
        <p:spPr>
          <a:xfrm>
            <a:off x="5075170" y="7173468"/>
            <a:ext cx="1710535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, generate your</a:t>
            </a:r>
          </a:p>
        </p:txBody>
      </p:sp>
      <p:sp>
        <p:nvSpPr>
          <p:cNvPr id="193" name="reasoning process and answer enclosed in"/>
          <p:cNvSpPr txBox="1"/>
          <p:nvPr/>
        </p:nvSpPr>
        <p:spPr>
          <a:xfrm>
            <a:off x="1776222" y="7438644"/>
            <a:ext cx="4468951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reasoning process and answer enclosed in</a:t>
            </a:r>
          </a:p>
        </p:txBody>
      </p:sp>
      <p:sp>
        <p:nvSpPr>
          <p:cNvPr id="194" name="&lt;think&gt;...&lt;/think&gt; and &lt;answer&gt;...&lt;/answer&gt; tags ..."/>
          <p:cNvSpPr txBox="1"/>
          <p:nvPr/>
        </p:nvSpPr>
        <p:spPr>
          <a:xfrm>
            <a:off x="1778295" y="7705784"/>
            <a:ext cx="4949113" cy="391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4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&lt;think&gt;...&lt;/think&gt; and &lt;answer&gt;...&lt;/answer&gt; tags ...</a:t>
            </a:r>
          </a:p>
        </p:txBody>
      </p:sp>
      <p:sp>
        <p:nvSpPr>
          <p:cNvPr id="195" name="path 193"/>
          <p:cNvSpPr/>
          <p:nvPr/>
        </p:nvSpPr>
        <p:spPr>
          <a:xfrm>
            <a:off x="262616" y="8805672"/>
            <a:ext cx="284927" cy="307421"/>
          </a:xfrm>
          <a:custGeom>
            <a:avLst/>
            <a:gdLst/>
            <a:ahLst/>
            <a:cxnLst/>
            <a:rect l="0" t="0" r="r" b="b"/>
            <a:pathLst>
              <a:path w="284927" h="307421">
                <a:moveTo>
                  <a:pt x="142464" y="0"/>
                </a:moveTo>
                <a:cubicBezTo>
                  <a:pt x="82479" y="52487"/>
                  <a:pt x="157460" y="74981"/>
                  <a:pt x="97475" y="134965"/>
                </a:cubicBezTo>
                <a:cubicBezTo>
                  <a:pt x="67483" y="149962"/>
                  <a:pt x="59985" y="119969"/>
                  <a:pt x="59985" y="112471"/>
                </a:cubicBezTo>
                <a:cubicBezTo>
                  <a:pt x="0" y="187452"/>
                  <a:pt x="29992" y="277429"/>
                  <a:pt x="127467" y="292425"/>
                </a:cubicBezTo>
                <a:cubicBezTo>
                  <a:pt x="232440" y="307421"/>
                  <a:pt x="284927" y="217444"/>
                  <a:pt x="239939" y="142464"/>
                </a:cubicBezTo>
                <a:cubicBezTo>
                  <a:pt x="239939" y="187452"/>
                  <a:pt x="194950" y="179954"/>
                  <a:pt x="187452" y="149962"/>
                </a:cubicBezTo>
                <a:cubicBezTo>
                  <a:pt x="224942" y="67483"/>
                  <a:pt x="149962" y="82479"/>
                  <a:pt x="142464" y="0"/>
                </a:cubicBezTo>
                <a:close/>
              </a:path>
            </a:pathLst>
          </a:custGeom>
          <a:solidFill>
            <a:srgbClr val="F64A57"/>
          </a:solidFill>
          <a:ln w="1199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path 194"/>
          <p:cNvSpPr/>
          <p:nvPr/>
        </p:nvSpPr>
        <p:spPr>
          <a:xfrm>
            <a:off x="315102" y="8918143"/>
            <a:ext cx="179954" cy="164958"/>
          </a:xfrm>
          <a:custGeom>
            <a:avLst/>
            <a:gdLst/>
            <a:ahLst/>
            <a:cxnLst/>
            <a:rect l="0" t="0" r="r" b="b"/>
            <a:pathLst>
              <a:path w="179954" h="164958">
                <a:moveTo>
                  <a:pt x="97475" y="0"/>
                </a:moveTo>
                <a:cubicBezTo>
                  <a:pt x="67483" y="59985"/>
                  <a:pt x="104973" y="59985"/>
                  <a:pt x="67483" y="89977"/>
                </a:cubicBezTo>
                <a:cubicBezTo>
                  <a:pt x="29992" y="89977"/>
                  <a:pt x="52487" y="67483"/>
                  <a:pt x="37490" y="67483"/>
                </a:cubicBezTo>
                <a:cubicBezTo>
                  <a:pt x="0" y="127467"/>
                  <a:pt x="52487" y="164958"/>
                  <a:pt x="89977" y="157460"/>
                </a:cubicBezTo>
                <a:cubicBezTo>
                  <a:pt x="157460" y="157460"/>
                  <a:pt x="179954" y="104973"/>
                  <a:pt x="149962" y="82479"/>
                </a:cubicBezTo>
                <a:cubicBezTo>
                  <a:pt x="134965" y="134965"/>
                  <a:pt x="97475" y="97475"/>
                  <a:pt x="119969" y="67483"/>
                </a:cubicBezTo>
                <a:cubicBezTo>
                  <a:pt x="127467" y="44988"/>
                  <a:pt x="104973" y="29992"/>
                  <a:pt x="97475" y="0"/>
                </a:cubicBezTo>
                <a:close/>
              </a:path>
            </a:pathLst>
          </a:custGeom>
          <a:solidFill>
            <a:srgbClr val="FFB747"/>
          </a:solidFill>
          <a:ln w="8997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path 195"/>
          <p:cNvSpPr/>
          <p:nvPr/>
        </p:nvSpPr>
        <p:spPr>
          <a:xfrm>
            <a:off x="525048" y="8873155"/>
            <a:ext cx="7498" cy="22494"/>
          </a:xfrm>
          <a:custGeom>
            <a:avLst/>
            <a:gdLst/>
            <a:ahLst/>
            <a:cxnLst/>
            <a:rect l="0" t="0" r="r" b="b"/>
            <a:pathLst>
              <a:path w="7498" h="22494">
                <a:moveTo>
                  <a:pt x="0" y="0"/>
                </a:moveTo>
                <a:lnTo>
                  <a:pt x="7498" y="22494"/>
                </a:lnTo>
              </a:path>
            </a:pathLst>
          </a:custGeom>
          <a:noFill/>
          <a:ln w="749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path 196"/>
          <p:cNvSpPr/>
          <p:nvPr/>
        </p:nvSpPr>
        <p:spPr>
          <a:xfrm>
            <a:off x="322600" y="8858159"/>
            <a:ext cx="7498" cy="22494"/>
          </a:xfrm>
          <a:custGeom>
            <a:avLst/>
            <a:gdLst/>
            <a:ahLst/>
            <a:cxnLst/>
            <a:rect l="0" t="0" r="r" b="b"/>
            <a:pathLst>
              <a:path w="7498" h="22494">
                <a:moveTo>
                  <a:pt x="0" y="0"/>
                </a:moveTo>
                <a:lnTo>
                  <a:pt x="7498" y="22494"/>
                </a:lnTo>
              </a:path>
            </a:pathLst>
          </a:custGeom>
          <a:noFill/>
          <a:ln w="749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path 197"/>
          <p:cNvSpPr/>
          <p:nvPr/>
        </p:nvSpPr>
        <p:spPr>
          <a:xfrm>
            <a:off x="495056" y="8813170"/>
            <a:ext cx="7498" cy="22494"/>
          </a:xfrm>
          <a:custGeom>
            <a:avLst/>
            <a:gdLst/>
            <a:ahLst/>
            <a:cxnLst/>
            <a:rect l="0" t="0" r="r" b="b"/>
            <a:pathLst>
              <a:path w="7498" h="22494">
                <a:moveTo>
                  <a:pt x="0" y="0"/>
                </a:moveTo>
                <a:lnTo>
                  <a:pt x="7498" y="22494"/>
                </a:lnTo>
              </a:path>
            </a:pathLst>
          </a:custGeom>
          <a:noFill/>
          <a:ln w="749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Trainable"/>
          <p:cNvSpPr txBox="1"/>
          <p:nvPr/>
        </p:nvSpPr>
        <p:spPr>
          <a:xfrm>
            <a:off x="569214" y="8828532"/>
            <a:ext cx="1097816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Trainable</a:t>
            </a:r>
          </a:p>
        </p:txBody>
      </p:sp>
      <p:grpSp>
        <p:nvGrpSpPr>
          <p:cNvPr id="896" name="reward-symbol-199"/>
          <p:cNvGrpSpPr/>
          <p:nvPr/>
        </p:nvGrpSpPr>
        <p:grpSpPr>
          <a:xfrm>
            <a:off x="1837944" y="8792022"/>
            <a:ext cx="292608" cy="410822"/>
            <a:chOff x="1837944" y="8792022"/>
            <a:chExt cx="292608" cy="410822"/>
          </a:xfrm>
        </p:grpSpPr>
        <p:sp>
          <p:nvSpPr>
            <p:cNvPr id="201" name="R symbol"/>
            <p:cNvSpPr/>
            <p:nvPr/>
          </p:nvSpPr>
          <p:spPr>
            <a:xfrm>
              <a:off x="1837944" y="8805672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459B08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path 200"/>
            <p:cNvSpPr/>
            <p:nvPr/>
          </p:nvSpPr>
          <p:spPr>
            <a:xfrm>
              <a:off x="1874520" y="8833104"/>
              <a:ext cx="219456" cy="237744"/>
            </a:xfrm>
            <a:custGeom>
              <a:avLst/>
              <a:gdLst/>
              <a:ahLst/>
              <a:cxnLst/>
              <a:rect l="0" t="0" r="r" b="b"/>
              <a:pathLst>
                <a:path w="219456" h="237744">
                  <a:moveTo>
                    <a:pt x="0" y="9144"/>
                  </a:moveTo>
                  <a:lnTo>
                    <a:pt x="118506" y="0"/>
                  </a:lnTo>
                  <a:lnTo>
                    <a:pt x="219456" y="228600"/>
                  </a:lnTo>
                  <a:lnTo>
                    <a:pt x="133137" y="237744"/>
                  </a:lnTo>
                  <a:close/>
                </a:path>
              </a:pathLst>
            </a:custGeom>
            <a:solidFill>
              <a:srgbClr val="86B7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R"/>
            <p:cNvSpPr txBox="1"/>
            <p:nvPr/>
          </p:nvSpPr>
          <p:spPr>
            <a:xfrm>
              <a:off x="1867714" y="8792022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204" name="Rewards"/>
          <p:cNvSpPr txBox="1"/>
          <p:nvPr/>
        </p:nvSpPr>
        <p:spPr>
          <a:xfrm>
            <a:off x="2160270" y="8819388"/>
            <a:ext cx="98908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Rewards</a:t>
            </a:r>
          </a:p>
        </p:txBody>
      </p:sp>
      <p:grpSp>
        <p:nvGrpSpPr>
          <p:cNvPr id="897" name="reward-symbol-203"/>
          <p:cNvGrpSpPr/>
          <p:nvPr/>
        </p:nvGrpSpPr>
        <p:grpSpPr>
          <a:xfrm>
            <a:off x="3255264" y="8792022"/>
            <a:ext cx="292608" cy="410822"/>
            <a:chOff x="3255264" y="8792022"/>
            <a:chExt cx="292608" cy="410822"/>
          </a:xfrm>
        </p:grpSpPr>
        <p:sp>
          <p:nvSpPr>
            <p:cNvPr id="205" name="D symbol"/>
            <p:cNvSpPr/>
            <p:nvPr/>
          </p:nvSpPr>
          <p:spPr>
            <a:xfrm>
              <a:off x="3255264" y="8805672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A9CEED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6" name="D"/>
            <p:cNvSpPr txBox="1"/>
            <p:nvPr/>
          </p:nvSpPr>
          <p:spPr>
            <a:xfrm>
              <a:off x="3275711" y="8792022"/>
              <a:ext cx="256279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D</a:t>
              </a:r>
            </a:p>
          </p:txBody>
        </p:sp>
      </p:grpSp>
      <p:sp>
        <p:nvSpPr>
          <p:cNvPr id="207" name="KL Divergence"/>
          <p:cNvSpPr txBox="1"/>
          <p:nvPr/>
        </p:nvSpPr>
        <p:spPr>
          <a:xfrm>
            <a:off x="3586734" y="8819388"/>
            <a:ext cx="1609523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KL Divergence</a:t>
            </a:r>
          </a:p>
        </p:txBody>
      </p:sp>
      <p:grpSp>
        <p:nvGrpSpPr>
          <p:cNvPr id="898" name="reward-symbol-206"/>
          <p:cNvGrpSpPr/>
          <p:nvPr/>
        </p:nvGrpSpPr>
        <p:grpSpPr>
          <a:xfrm>
            <a:off x="5358384" y="8782878"/>
            <a:ext cx="292608" cy="410822"/>
            <a:chOff x="5358384" y="8782878"/>
            <a:chExt cx="292608" cy="410822"/>
          </a:xfrm>
        </p:grpSpPr>
        <p:sp>
          <p:nvSpPr>
            <p:cNvPr id="208" name="A symbol"/>
            <p:cNvSpPr/>
            <p:nvPr/>
          </p:nvSpPr>
          <p:spPr>
            <a:xfrm>
              <a:off x="5358384" y="8796528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FFE58B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A"/>
            <p:cNvSpPr txBox="1"/>
            <p:nvPr/>
          </p:nvSpPr>
          <p:spPr>
            <a:xfrm>
              <a:off x="5377724" y="8782878"/>
              <a:ext cx="25849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A</a:t>
              </a:r>
            </a:p>
          </p:txBody>
        </p:sp>
      </p:grpSp>
      <p:sp>
        <p:nvSpPr>
          <p:cNvPr id="210" name="Advantage"/>
          <p:cNvSpPr txBox="1"/>
          <p:nvPr/>
        </p:nvSpPr>
        <p:spPr>
          <a:xfrm>
            <a:off x="5700255" y="8820579"/>
            <a:ext cx="1175786" cy="3995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47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Advantage</a:t>
            </a:r>
          </a:p>
        </p:txBody>
      </p:sp>
      <p:sp>
        <p:nvSpPr>
          <p:cNvPr id="211" name="path 209"/>
          <p:cNvSpPr/>
          <p:nvPr/>
        </p:nvSpPr>
        <p:spPr>
          <a:xfrm>
            <a:off x="256032" y="9363456"/>
            <a:ext cx="310896" cy="91"/>
          </a:xfrm>
          <a:custGeom>
            <a:avLst/>
            <a:gdLst/>
            <a:ahLst/>
            <a:cxnLst/>
            <a:rect l="0" t="0" r="r" b="b"/>
            <a:pathLst>
              <a:path w="310896" h="91">
                <a:moveTo>
                  <a:pt x="0" y="0"/>
                </a:moveTo>
                <a:lnTo>
                  <a:pt x="310896" y="0"/>
                </a:lnTo>
              </a:path>
            </a:pathLst>
          </a:custGeom>
          <a:noFill/>
          <a:ln w="45719" cap="rnd">
            <a:solidFill>
              <a:srgbClr val="223C4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path 210"/>
          <p:cNvSpPr/>
          <p:nvPr/>
        </p:nvSpPr>
        <p:spPr>
          <a:xfrm>
            <a:off x="256032" y="9363456"/>
            <a:ext cx="310896" cy="91"/>
          </a:xfrm>
          <a:custGeom>
            <a:avLst/>
            <a:gdLst/>
            <a:ahLst/>
            <a:cxnLst/>
            <a:rect l="0" t="0" r="r" b="b"/>
            <a:pathLst>
              <a:path w="310896" h="91">
                <a:moveTo>
                  <a:pt x="0" y="0"/>
                </a:moveTo>
                <a:lnTo>
                  <a:pt x="310896" y="0"/>
                </a:lnTo>
              </a:path>
            </a:pathLst>
          </a:custGeom>
          <a:noFill/>
          <a:ln w="25603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path 211"/>
          <p:cNvSpPr/>
          <p:nvPr/>
        </p:nvSpPr>
        <p:spPr>
          <a:xfrm>
            <a:off x="310896" y="9320480"/>
            <a:ext cx="34104" cy="42976"/>
          </a:xfrm>
          <a:custGeom>
            <a:avLst/>
            <a:gdLst/>
            <a:ahLst/>
            <a:cxnLst/>
            <a:rect l="0" t="0" r="r" b="b"/>
            <a:pathLst>
              <a:path w="34104" h="42976">
                <a:moveTo>
                  <a:pt x="0" y="42976"/>
                </a:moveTo>
                <a:lnTo>
                  <a:pt x="34104" y="0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path 212"/>
          <p:cNvSpPr/>
          <p:nvPr/>
        </p:nvSpPr>
        <p:spPr>
          <a:xfrm>
            <a:off x="310896" y="9320480"/>
            <a:ext cx="34104" cy="42976"/>
          </a:xfrm>
          <a:custGeom>
            <a:avLst/>
            <a:gdLst/>
            <a:ahLst/>
            <a:cxnLst/>
            <a:rect l="0" t="0" r="r" b="b"/>
            <a:pathLst>
              <a:path w="34104" h="42976">
                <a:moveTo>
                  <a:pt x="0" y="42976"/>
                </a:moveTo>
                <a:lnTo>
                  <a:pt x="34104" y="0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path 213"/>
          <p:cNvSpPr/>
          <p:nvPr/>
        </p:nvSpPr>
        <p:spPr>
          <a:xfrm>
            <a:off x="310896" y="9363456"/>
            <a:ext cx="34104" cy="42976"/>
          </a:xfrm>
          <a:custGeom>
            <a:avLst/>
            <a:gdLst/>
            <a:ahLst/>
            <a:cxnLst/>
            <a:rect l="0" t="0" r="r" b="b"/>
            <a:pathLst>
              <a:path w="34104" h="42976">
                <a:moveTo>
                  <a:pt x="0" y="0"/>
                </a:moveTo>
                <a:lnTo>
                  <a:pt x="34104" y="42976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path 214"/>
          <p:cNvSpPr/>
          <p:nvPr/>
        </p:nvSpPr>
        <p:spPr>
          <a:xfrm>
            <a:off x="310896" y="9363456"/>
            <a:ext cx="34104" cy="42976"/>
          </a:xfrm>
          <a:custGeom>
            <a:avLst/>
            <a:gdLst/>
            <a:ahLst/>
            <a:cxnLst/>
            <a:rect l="0" t="0" r="r" b="b"/>
            <a:pathLst>
              <a:path w="34104" h="42976">
                <a:moveTo>
                  <a:pt x="0" y="0"/>
                </a:moveTo>
                <a:lnTo>
                  <a:pt x="34104" y="42976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path 215"/>
          <p:cNvSpPr/>
          <p:nvPr/>
        </p:nvSpPr>
        <p:spPr>
          <a:xfrm>
            <a:off x="477960" y="9363456"/>
            <a:ext cx="34104" cy="42976"/>
          </a:xfrm>
          <a:custGeom>
            <a:avLst/>
            <a:gdLst/>
            <a:ahLst/>
            <a:cxnLst/>
            <a:rect l="0" t="0" r="r" b="b"/>
            <a:pathLst>
              <a:path w="34104" h="42976">
                <a:moveTo>
                  <a:pt x="34104" y="0"/>
                </a:moveTo>
                <a:lnTo>
                  <a:pt x="0" y="42976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path 216"/>
          <p:cNvSpPr/>
          <p:nvPr/>
        </p:nvSpPr>
        <p:spPr>
          <a:xfrm>
            <a:off x="477960" y="9363456"/>
            <a:ext cx="34104" cy="42976"/>
          </a:xfrm>
          <a:custGeom>
            <a:avLst/>
            <a:gdLst/>
            <a:ahLst/>
            <a:cxnLst/>
            <a:rect l="0" t="0" r="r" b="b"/>
            <a:pathLst>
              <a:path w="34104" h="42976">
                <a:moveTo>
                  <a:pt x="34104" y="0"/>
                </a:moveTo>
                <a:lnTo>
                  <a:pt x="0" y="42976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path 217"/>
          <p:cNvSpPr/>
          <p:nvPr/>
        </p:nvSpPr>
        <p:spPr>
          <a:xfrm>
            <a:off x="477960" y="9320480"/>
            <a:ext cx="34104" cy="42976"/>
          </a:xfrm>
          <a:custGeom>
            <a:avLst/>
            <a:gdLst/>
            <a:ahLst/>
            <a:cxnLst/>
            <a:rect l="0" t="0" r="r" b="b"/>
            <a:pathLst>
              <a:path w="34104" h="42976">
                <a:moveTo>
                  <a:pt x="34104" y="42976"/>
                </a:moveTo>
                <a:lnTo>
                  <a:pt x="0" y="0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path 218"/>
          <p:cNvSpPr/>
          <p:nvPr/>
        </p:nvSpPr>
        <p:spPr>
          <a:xfrm>
            <a:off x="477960" y="9320480"/>
            <a:ext cx="34104" cy="42976"/>
          </a:xfrm>
          <a:custGeom>
            <a:avLst/>
            <a:gdLst/>
            <a:ahLst/>
            <a:cxnLst/>
            <a:rect l="0" t="0" r="r" b="b"/>
            <a:pathLst>
              <a:path w="34104" h="42976">
                <a:moveTo>
                  <a:pt x="34104" y="42976"/>
                </a:moveTo>
                <a:lnTo>
                  <a:pt x="0" y="0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path 219"/>
          <p:cNvSpPr/>
          <p:nvPr/>
        </p:nvSpPr>
        <p:spPr>
          <a:xfrm>
            <a:off x="333756" y="9228834"/>
            <a:ext cx="155448" cy="269244"/>
          </a:xfrm>
          <a:custGeom>
            <a:avLst/>
            <a:gdLst/>
            <a:ahLst/>
            <a:cxnLst/>
            <a:rect l="0" t="0" r="r" b="b"/>
            <a:pathLst>
              <a:path w="155448" h="269244">
                <a:moveTo>
                  <a:pt x="0" y="0"/>
                </a:moveTo>
                <a:lnTo>
                  <a:pt x="155448" y="269244"/>
                </a:lnTo>
              </a:path>
            </a:pathLst>
          </a:custGeom>
          <a:noFill/>
          <a:ln w="45719" cap="rnd">
            <a:solidFill>
              <a:srgbClr val="223C4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path 220"/>
          <p:cNvSpPr/>
          <p:nvPr/>
        </p:nvSpPr>
        <p:spPr>
          <a:xfrm>
            <a:off x="333756" y="9228834"/>
            <a:ext cx="155448" cy="269244"/>
          </a:xfrm>
          <a:custGeom>
            <a:avLst/>
            <a:gdLst/>
            <a:ahLst/>
            <a:cxnLst/>
            <a:rect l="0" t="0" r="r" b="b"/>
            <a:pathLst>
              <a:path w="155448" h="269244">
                <a:moveTo>
                  <a:pt x="0" y="0"/>
                </a:moveTo>
                <a:lnTo>
                  <a:pt x="155448" y="269244"/>
                </a:lnTo>
              </a:path>
            </a:pathLst>
          </a:custGeom>
          <a:noFill/>
          <a:ln w="25603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path 221"/>
          <p:cNvSpPr/>
          <p:nvPr/>
        </p:nvSpPr>
        <p:spPr>
          <a:xfrm>
            <a:off x="361188" y="9276348"/>
            <a:ext cx="54271" cy="8047"/>
          </a:xfrm>
          <a:custGeom>
            <a:avLst/>
            <a:gdLst/>
            <a:ahLst/>
            <a:cxnLst/>
            <a:rect l="0" t="0" r="r" b="b"/>
            <a:pathLst>
              <a:path w="54271" h="8047">
                <a:moveTo>
                  <a:pt x="0" y="0"/>
                </a:moveTo>
                <a:lnTo>
                  <a:pt x="54271" y="8047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path 222"/>
          <p:cNvSpPr/>
          <p:nvPr/>
        </p:nvSpPr>
        <p:spPr>
          <a:xfrm>
            <a:off x="361188" y="9276348"/>
            <a:ext cx="54271" cy="8047"/>
          </a:xfrm>
          <a:custGeom>
            <a:avLst/>
            <a:gdLst/>
            <a:ahLst/>
            <a:cxnLst/>
            <a:rect l="0" t="0" r="r" b="b"/>
            <a:pathLst>
              <a:path w="54271" h="8047">
                <a:moveTo>
                  <a:pt x="0" y="0"/>
                </a:moveTo>
                <a:lnTo>
                  <a:pt x="54271" y="8047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path 223"/>
          <p:cNvSpPr/>
          <p:nvPr/>
        </p:nvSpPr>
        <p:spPr>
          <a:xfrm>
            <a:off x="341021" y="9276348"/>
            <a:ext cx="20167" cy="51023"/>
          </a:xfrm>
          <a:custGeom>
            <a:avLst/>
            <a:gdLst/>
            <a:ahLst/>
            <a:cxnLst/>
            <a:rect l="0" t="0" r="r" b="b"/>
            <a:pathLst>
              <a:path w="20167" h="51023">
                <a:moveTo>
                  <a:pt x="20167" y="0"/>
                </a:moveTo>
                <a:lnTo>
                  <a:pt x="0" y="51023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path 224"/>
          <p:cNvSpPr/>
          <p:nvPr/>
        </p:nvSpPr>
        <p:spPr>
          <a:xfrm>
            <a:off x="341021" y="9276348"/>
            <a:ext cx="20167" cy="51023"/>
          </a:xfrm>
          <a:custGeom>
            <a:avLst/>
            <a:gdLst/>
            <a:ahLst/>
            <a:cxnLst/>
            <a:rect l="0" t="0" r="r" b="b"/>
            <a:pathLst>
              <a:path w="20167" h="51023">
                <a:moveTo>
                  <a:pt x="20167" y="0"/>
                </a:moveTo>
                <a:lnTo>
                  <a:pt x="0" y="51023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path 225"/>
          <p:cNvSpPr/>
          <p:nvPr/>
        </p:nvSpPr>
        <p:spPr>
          <a:xfrm>
            <a:off x="407501" y="9442518"/>
            <a:ext cx="54271" cy="8047"/>
          </a:xfrm>
          <a:custGeom>
            <a:avLst/>
            <a:gdLst/>
            <a:ahLst/>
            <a:cxnLst/>
            <a:rect l="0" t="0" r="r" b="b"/>
            <a:pathLst>
              <a:path w="54271" h="8047">
                <a:moveTo>
                  <a:pt x="54271" y="8047"/>
                </a:moveTo>
                <a:lnTo>
                  <a:pt x="0" y="0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path 226"/>
          <p:cNvSpPr/>
          <p:nvPr/>
        </p:nvSpPr>
        <p:spPr>
          <a:xfrm>
            <a:off x="407501" y="9442518"/>
            <a:ext cx="54271" cy="8047"/>
          </a:xfrm>
          <a:custGeom>
            <a:avLst/>
            <a:gdLst/>
            <a:ahLst/>
            <a:cxnLst/>
            <a:rect l="0" t="0" r="r" b="b"/>
            <a:pathLst>
              <a:path w="54271" h="8047">
                <a:moveTo>
                  <a:pt x="54271" y="8047"/>
                </a:moveTo>
                <a:lnTo>
                  <a:pt x="0" y="0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ath 227"/>
          <p:cNvSpPr/>
          <p:nvPr/>
        </p:nvSpPr>
        <p:spPr>
          <a:xfrm>
            <a:off x="461772" y="9399541"/>
            <a:ext cx="20167" cy="51023"/>
          </a:xfrm>
          <a:custGeom>
            <a:avLst/>
            <a:gdLst/>
            <a:ahLst/>
            <a:cxnLst/>
            <a:rect l="0" t="0" r="r" b="b"/>
            <a:pathLst>
              <a:path w="20167" h="51023">
                <a:moveTo>
                  <a:pt x="0" y="51023"/>
                </a:moveTo>
                <a:lnTo>
                  <a:pt x="20167" y="0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path 228"/>
          <p:cNvSpPr/>
          <p:nvPr/>
        </p:nvSpPr>
        <p:spPr>
          <a:xfrm>
            <a:off x="461772" y="9399541"/>
            <a:ext cx="20167" cy="51023"/>
          </a:xfrm>
          <a:custGeom>
            <a:avLst/>
            <a:gdLst/>
            <a:ahLst/>
            <a:cxnLst/>
            <a:rect l="0" t="0" r="r" b="b"/>
            <a:pathLst>
              <a:path w="20167" h="51023">
                <a:moveTo>
                  <a:pt x="0" y="51023"/>
                </a:moveTo>
                <a:lnTo>
                  <a:pt x="20167" y="0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path 229"/>
          <p:cNvSpPr/>
          <p:nvPr/>
        </p:nvSpPr>
        <p:spPr>
          <a:xfrm>
            <a:off x="333756" y="9228834"/>
            <a:ext cx="155448" cy="269244"/>
          </a:xfrm>
          <a:custGeom>
            <a:avLst/>
            <a:gdLst/>
            <a:ahLst/>
            <a:cxnLst/>
            <a:rect l="0" t="0" r="r" b="b"/>
            <a:pathLst>
              <a:path w="155448" h="269244">
                <a:moveTo>
                  <a:pt x="155448" y="0"/>
                </a:moveTo>
                <a:lnTo>
                  <a:pt x="0" y="269244"/>
                </a:lnTo>
              </a:path>
            </a:pathLst>
          </a:custGeom>
          <a:noFill/>
          <a:ln w="45719" cap="rnd">
            <a:solidFill>
              <a:srgbClr val="223C4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path 230"/>
          <p:cNvSpPr/>
          <p:nvPr/>
        </p:nvSpPr>
        <p:spPr>
          <a:xfrm>
            <a:off x="333756" y="9228834"/>
            <a:ext cx="155448" cy="269244"/>
          </a:xfrm>
          <a:custGeom>
            <a:avLst/>
            <a:gdLst/>
            <a:ahLst/>
            <a:cxnLst/>
            <a:rect l="0" t="0" r="r" b="b"/>
            <a:pathLst>
              <a:path w="155448" h="269244">
                <a:moveTo>
                  <a:pt x="155448" y="0"/>
                </a:moveTo>
                <a:lnTo>
                  <a:pt x="0" y="269244"/>
                </a:lnTo>
              </a:path>
            </a:pathLst>
          </a:custGeom>
          <a:noFill/>
          <a:ln w="25603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path 231"/>
          <p:cNvSpPr/>
          <p:nvPr/>
        </p:nvSpPr>
        <p:spPr>
          <a:xfrm>
            <a:off x="461772" y="9276348"/>
            <a:ext cx="20167" cy="51023"/>
          </a:xfrm>
          <a:custGeom>
            <a:avLst/>
            <a:gdLst/>
            <a:ahLst/>
            <a:cxnLst/>
            <a:rect l="0" t="0" r="r" b="b"/>
            <a:pathLst>
              <a:path w="20167" h="51023">
                <a:moveTo>
                  <a:pt x="0" y="0"/>
                </a:moveTo>
                <a:lnTo>
                  <a:pt x="20167" y="51023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path 232"/>
          <p:cNvSpPr/>
          <p:nvPr/>
        </p:nvSpPr>
        <p:spPr>
          <a:xfrm>
            <a:off x="461772" y="9276348"/>
            <a:ext cx="20167" cy="51023"/>
          </a:xfrm>
          <a:custGeom>
            <a:avLst/>
            <a:gdLst/>
            <a:ahLst/>
            <a:cxnLst/>
            <a:rect l="0" t="0" r="r" b="b"/>
            <a:pathLst>
              <a:path w="20167" h="51023">
                <a:moveTo>
                  <a:pt x="0" y="0"/>
                </a:moveTo>
                <a:lnTo>
                  <a:pt x="20167" y="51023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path 233"/>
          <p:cNvSpPr/>
          <p:nvPr/>
        </p:nvSpPr>
        <p:spPr>
          <a:xfrm>
            <a:off x="407501" y="9276348"/>
            <a:ext cx="54271" cy="8047"/>
          </a:xfrm>
          <a:custGeom>
            <a:avLst/>
            <a:gdLst/>
            <a:ahLst/>
            <a:cxnLst/>
            <a:rect l="0" t="0" r="r" b="b"/>
            <a:pathLst>
              <a:path w="54271" h="8047">
                <a:moveTo>
                  <a:pt x="54271" y="0"/>
                </a:moveTo>
                <a:lnTo>
                  <a:pt x="0" y="8047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path 234"/>
          <p:cNvSpPr/>
          <p:nvPr/>
        </p:nvSpPr>
        <p:spPr>
          <a:xfrm>
            <a:off x="407501" y="9276348"/>
            <a:ext cx="54271" cy="8047"/>
          </a:xfrm>
          <a:custGeom>
            <a:avLst/>
            <a:gdLst/>
            <a:ahLst/>
            <a:cxnLst/>
            <a:rect l="0" t="0" r="r" b="b"/>
            <a:pathLst>
              <a:path w="54271" h="8047">
                <a:moveTo>
                  <a:pt x="54271" y="0"/>
                </a:moveTo>
                <a:lnTo>
                  <a:pt x="0" y="8047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path 235"/>
          <p:cNvSpPr/>
          <p:nvPr/>
        </p:nvSpPr>
        <p:spPr>
          <a:xfrm>
            <a:off x="341021" y="9399541"/>
            <a:ext cx="20167" cy="51023"/>
          </a:xfrm>
          <a:custGeom>
            <a:avLst/>
            <a:gdLst/>
            <a:ahLst/>
            <a:cxnLst/>
            <a:rect l="0" t="0" r="r" b="b"/>
            <a:pathLst>
              <a:path w="20167" h="51023">
                <a:moveTo>
                  <a:pt x="20167" y="51023"/>
                </a:moveTo>
                <a:lnTo>
                  <a:pt x="0" y="0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path 236"/>
          <p:cNvSpPr/>
          <p:nvPr/>
        </p:nvSpPr>
        <p:spPr>
          <a:xfrm>
            <a:off x="341021" y="9399541"/>
            <a:ext cx="20167" cy="51023"/>
          </a:xfrm>
          <a:custGeom>
            <a:avLst/>
            <a:gdLst/>
            <a:ahLst/>
            <a:cxnLst/>
            <a:rect l="0" t="0" r="r" b="b"/>
            <a:pathLst>
              <a:path w="20167" h="51023">
                <a:moveTo>
                  <a:pt x="20167" y="51023"/>
                </a:moveTo>
                <a:lnTo>
                  <a:pt x="0" y="0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path 237"/>
          <p:cNvSpPr/>
          <p:nvPr/>
        </p:nvSpPr>
        <p:spPr>
          <a:xfrm>
            <a:off x="361188" y="9442518"/>
            <a:ext cx="54271" cy="8047"/>
          </a:xfrm>
          <a:custGeom>
            <a:avLst/>
            <a:gdLst/>
            <a:ahLst/>
            <a:cxnLst/>
            <a:rect l="0" t="0" r="r" b="b"/>
            <a:pathLst>
              <a:path w="54271" h="8047">
                <a:moveTo>
                  <a:pt x="0" y="8047"/>
                </a:moveTo>
                <a:lnTo>
                  <a:pt x="54271" y="0"/>
                </a:lnTo>
              </a:path>
            </a:pathLst>
          </a:custGeom>
          <a:noFill/>
          <a:ln w="34747" cap="rnd">
            <a:solidFill>
              <a:srgbClr val="23465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path 238"/>
          <p:cNvSpPr/>
          <p:nvPr/>
        </p:nvSpPr>
        <p:spPr>
          <a:xfrm>
            <a:off x="361188" y="9442518"/>
            <a:ext cx="54271" cy="8047"/>
          </a:xfrm>
          <a:custGeom>
            <a:avLst/>
            <a:gdLst/>
            <a:ahLst/>
            <a:cxnLst/>
            <a:rect l="0" t="0" r="r" b="b"/>
            <a:pathLst>
              <a:path w="54271" h="8047">
                <a:moveTo>
                  <a:pt x="0" y="8047"/>
                </a:moveTo>
                <a:lnTo>
                  <a:pt x="54271" y="0"/>
                </a:lnTo>
              </a:path>
            </a:pathLst>
          </a:custGeom>
          <a:noFill/>
          <a:ln w="16459" cap="rnd">
            <a:solidFill>
              <a:srgbClr val="B6E3F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Frozen"/>
          <p:cNvSpPr txBox="1"/>
          <p:nvPr/>
        </p:nvSpPr>
        <p:spPr>
          <a:xfrm>
            <a:off x="578358" y="9230868"/>
            <a:ext cx="828139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Frozen</a:t>
            </a:r>
          </a:p>
        </p:txBody>
      </p:sp>
      <p:grpSp>
        <p:nvGrpSpPr>
          <p:cNvPr id="899" name="label-240"/>
          <p:cNvGrpSpPr/>
          <p:nvPr/>
        </p:nvGrpSpPr>
        <p:grpSpPr>
          <a:xfrm>
            <a:off x="1490472" y="9232514"/>
            <a:ext cx="685800" cy="395021"/>
            <a:chOff x="1490472" y="9232514"/>
            <a:chExt cx="685800" cy="395021"/>
          </a:xfrm>
        </p:grpSpPr>
        <p:sp>
          <p:nvSpPr>
            <p:cNvPr id="242" name="rect 240"/>
            <p:cNvSpPr/>
            <p:nvPr/>
          </p:nvSpPr>
          <p:spPr>
            <a:xfrm>
              <a:off x="1490472" y="9244584"/>
              <a:ext cx="685800" cy="292608"/>
            </a:xfrm>
            <a:prstGeom prst="roundRect">
              <a:avLst>
                <a:gd name="adj" fmla="val 25000"/>
              </a:avLst>
            </a:prstGeom>
            <a:solidFill>
              <a:srgbClr val="E8E8E8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Mean"/>
            <p:cNvSpPr txBox="1"/>
            <p:nvPr/>
          </p:nvSpPr>
          <p:spPr>
            <a:xfrm>
              <a:off x="1521106" y="9232514"/>
              <a:ext cx="628921" cy="39502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28" b="0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Mean</a:t>
              </a:r>
            </a:p>
          </p:txBody>
        </p:sp>
      </p:grpSp>
      <p:grpSp>
        <p:nvGrpSpPr>
          <p:cNvPr id="900" name="label-242"/>
          <p:cNvGrpSpPr/>
          <p:nvPr/>
        </p:nvGrpSpPr>
        <p:grpSpPr>
          <a:xfrm>
            <a:off x="2276856" y="9232514"/>
            <a:ext cx="539496" cy="395021"/>
            <a:chOff x="2276856" y="9232514"/>
            <a:chExt cx="539496" cy="395021"/>
          </a:xfrm>
        </p:grpSpPr>
        <p:sp>
          <p:nvSpPr>
            <p:cNvPr id="244" name="rect 242"/>
            <p:cNvSpPr/>
            <p:nvPr/>
          </p:nvSpPr>
          <p:spPr>
            <a:xfrm>
              <a:off x="2276856" y="9244584"/>
              <a:ext cx="539496" cy="292608"/>
            </a:xfrm>
            <a:prstGeom prst="roundRect">
              <a:avLst>
                <a:gd name="adj" fmla="val 25000"/>
              </a:avLst>
            </a:prstGeom>
            <a:solidFill>
              <a:srgbClr val="E8E8E8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5" name="Std"/>
            <p:cNvSpPr txBox="1"/>
            <p:nvPr/>
          </p:nvSpPr>
          <p:spPr>
            <a:xfrm>
              <a:off x="2312669" y="9232514"/>
              <a:ext cx="472259" cy="39502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28" b="0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Std</a:t>
              </a:r>
            </a:p>
          </p:txBody>
        </p:sp>
      </p:grpSp>
      <p:sp>
        <p:nvSpPr>
          <p:cNvPr id="246" name="Mean &amp; Standard Deviation of Rewards"/>
          <p:cNvSpPr txBox="1"/>
          <p:nvPr/>
        </p:nvSpPr>
        <p:spPr>
          <a:xfrm>
            <a:off x="2857820" y="9251625"/>
            <a:ext cx="4016552" cy="3867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91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Mean &amp; Standard Deviation of Rewards</a:t>
            </a:r>
          </a:p>
        </p:txBody>
      </p:sp>
      <p:sp>
        <p:nvSpPr>
          <p:cNvPr id="247" name="Step 1: Generating Completions"/>
          <p:cNvSpPr txBox="1"/>
          <p:nvPr/>
        </p:nvSpPr>
        <p:spPr>
          <a:xfrm>
            <a:off x="7442029" y="833867"/>
            <a:ext cx="4642675" cy="53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2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Step 1: Generating Completions</a:t>
            </a:r>
          </a:p>
        </p:txBody>
      </p:sp>
      <p:sp>
        <p:nvSpPr>
          <p:cNvPr id="248" name="path 246"/>
          <p:cNvSpPr/>
          <p:nvPr/>
        </p:nvSpPr>
        <p:spPr>
          <a:xfrm>
            <a:off x="7507224" y="1188720"/>
            <a:ext cx="4507992" cy="91"/>
          </a:xfrm>
          <a:custGeom>
            <a:avLst/>
            <a:gdLst/>
            <a:ahLst/>
            <a:cxnLst/>
            <a:rect l="0" t="0" r="r" b="b"/>
            <a:pathLst>
              <a:path w="4507992" h="91">
                <a:moveTo>
                  <a:pt x="0" y="0"/>
                </a:moveTo>
                <a:lnTo>
                  <a:pt x="4507992" y="0"/>
                </a:lnTo>
              </a:path>
            </a:pathLst>
          </a:custGeom>
          <a:noFill/>
          <a:ln w="155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01" name="video-filmstrip-247"/>
          <p:cNvGrpSpPr/>
          <p:nvPr/>
        </p:nvGrpSpPr>
        <p:grpSpPr>
          <a:xfrm>
            <a:off x="7488936" y="1316736"/>
            <a:ext cx="3803904" cy="758952"/>
            <a:chOff x="7488936" y="1316736"/>
            <a:chExt cx="3803904" cy="758952"/>
          </a:xfrm>
        </p:grpSpPr>
        <p:sp>
          <p:nvSpPr>
            <p:cNvPr id="249" name="rect 247"/>
            <p:cNvSpPr/>
            <p:nvPr/>
          </p:nvSpPr>
          <p:spPr>
            <a:xfrm>
              <a:off x="7488936" y="1316736"/>
              <a:ext cx="3803904" cy="758952"/>
            </a:xfrm>
            <a:prstGeom prst="rect">
              <a:avLst/>
            </a:prstGeom>
            <a:solidFill>
              <a:srgbClr val="05050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0" name="rect 248"/>
            <p:cNvSpPr/>
            <p:nvPr/>
          </p:nvSpPr>
          <p:spPr>
            <a:xfrm>
              <a:off x="7516368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1" name="rect 249"/>
            <p:cNvSpPr/>
            <p:nvPr/>
          </p:nvSpPr>
          <p:spPr>
            <a:xfrm>
              <a:off x="7516368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rect 250"/>
            <p:cNvSpPr/>
            <p:nvPr/>
          </p:nvSpPr>
          <p:spPr>
            <a:xfrm>
              <a:off x="7645330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 251"/>
            <p:cNvSpPr/>
            <p:nvPr/>
          </p:nvSpPr>
          <p:spPr>
            <a:xfrm>
              <a:off x="7645330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 252"/>
            <p:cNvSpPr/>
            <p:nvPr/>
          </p:nvSpPr>
          <p:spPr>
            <a:xfrm>
              <a:off x="7774292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5" name="rect 253"/>
            <p:cNvSpPr/>
            <p:nvPr/>
          </p:nvSpPr>
          <p:spPr>
            <a:xfrm>
              <a:off x="7774292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ct 254"/>
            <p:cNvSpPr/>
            <p:nvPr/>
          </p:nvSpPr>
          <p:spPr>
            <a:xfrm>
              <a:off x="7903254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ct 255"/>
            <p:cNvSpPr/>
            <p:nvPr/>
          </p:nvSpPr>
          <p:spPr>
            <a:xfrm>
              <a:off x="7903254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 256"/>
            <p:cNvSpPr/>
            <p:nvPr/>
          </p:nvSpPr>
          <p:spPr>
            <a:xfrm>
              <a:off x="8032216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 257"/>
            <p:cNvSpPr/>
            <p:nvPr/>
          </p:nvSpPr>
          <p:spPr>
            <a:xfrm>
              <a:off x="8032216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0" name="rect 258"/>
            <p:cNvSpPr/>
            <p:nvPr/>
          </p:nvSpPr>
          <p:spPr>
            <a:xfrm>
              <a:off x="8161178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ct 259"/>
            <p:cNvSpPr/>
            <p:nvPr/>
          </p:nvSpPr>
          <p:spPr>
            <a:xfrm>
              <a:off x="8161178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 260"/>
            <p:cNvSpPr/>
            <p:nvPr/>
          </p:nvSpPr>
          <p:spPr>
            <a:xfrm>
              <a:off x="8290140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 261"/>
            <p:cNvSpPr/>
            <p:nvPr/>
          </p:nvSpPr>
          <p:spPr>
            <a:xfrm>
              <a:off x="8290140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 262"/>
            <p:cNvSpPr/>
            <p:nvPr/>
          </p:nvSpPr>
          <p:spPr>
            <a:xfrm>
              <a:off x="8419102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5" name="rect 263"/>
            <p:cNvSpPr/>
            <p:nvPr/>
          </p:nvSpPr>
          <p:spPr>
            <a:xfrm>
              <a:off x="8419102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6" name="rect 264"/>
            <p:cNvSpPr/>
            <p:nvPr/>
          </p:nvSpPr>
          <p:spPr>
            <a:xfrm>
              <a:off x="8548063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rect 265"/>
            <p:cNvSpPr/>
            <p:nvPr/>
          </p:nvSpPr>
          <p:spPr>
            <a:xfrm>
              <a:off x="8548063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 266"/>
            <p:cNvSpPr/>
            <p:nvPr/>
          </p:nvSpPr>
          <p:spPr>
            <a:xfrm>
              <a:off x="8677025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 267"/>
            <p:cNvSpPr/>
            <p:nvPr/>
          </p:nvSpPr>
          <p:spPr>
            <a:xfrm>
              <a:off x="8677025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rect 268"/>
            <p:cNvSpPr/>
            <p:nvPr/>
          </p:nvSpPr>
          <p:spPr>
            <a:xfrm>
              <a:off x="8805987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1" name="rect 269"/>
            <p:cNvSpPr/>
            <p:nvPr/>
          </p:nvSpPr>
          <p:spPr>
            <a:xfrm>
              <a:off x="8805987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rect 270"/>
            <p:cNvSpPr/>
            <p:nvPr/>
          </p:nvSpPr>
          <p:spPr>
            <a:xfrm>
              <a:off x="8934949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 271"/>
            <p:cNvSpPr/>
            <p:nvPr/>
          </p:nvSpPr>
          <p:spPr>
            <a:xfrm>
              <a:off x="8934949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 272"/>
            <p:cNvSpPr/>
            <p:nvPr/>
          </p:nvSpPr>
          <p:spPr>
            <a:xfrm>
              <a:off x="9063911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5" name="rect 273"/>
            <p:cNvSpPr/>
            <p:nvPr/>
          </p:nvSpPr>
          <p:spPr>
            <a:xfrm>
              <a:off x="9063911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6" name="rect 274"/>
            <p:cNvSpPr/>
            <p:nvPr/>
          </p:nvSpPr>
          <p:spPr>
            <a:xfrm>
              <a:off x="9192873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rect 275"/>
            <p:cNvSpPr/>
            <p:nvPr/>
          </p:nvSpPr>
          <p:spPr>
            <a:xfrm>
              <a:off x="9192873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 276"/>
            <p:cNvSpPr/>
            <p:nvPr/>
          </p:nvSpPr>
          <p:spPr>
            <a:xfrm>
              <a:off x="9321835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 277"/>
            <p:cNvSpPr/>
            <p:nvPr/>
          </p:nvSpPr>
          <p:spPr>
            <a:xfrm>
              <a:off x="9321835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rect 278"/>
            <p:cNvSpPr/>
            <p:nvPr/>
          </p:nvSpPr>
          <p:spPr>
            <a:xfrm>
              <a:off x="9450797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rect 279"/>
            <p:cNvSpPr/>
            <p:nvPr/>
          </p:nvSpPr>
          <p:spPr>
            <a:xfrm>
              <a:off x="9450797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rect 280"/>
            <p:cNvSpPr/>
            <p:nvPr/>
          </p:nvSpPr>
          <p:spPr>
            <a:xfrm>
              <a:off x="9579759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 281"/>
            <p:cNvSpPr/>
            <p:nvPr/>
          </p:nvSpPr>
          <p:spPr>
            <a:xfrm>
              <a:off x="9579759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 282"/>
            <p:cNvSpPr/>
            <p:nvPr/>
          </p:nvSpPr>
          <p:spPr>
            <a:xfrm>
              <a:off x="9708721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rect 283"/>
            <p:cNvSpPr/>
            <p:nvPr/>
          </p:nvSpPr>
          <p:spPr>
            <a:xfrm>
              <a:off x="9708721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rect 284"/>
            <p:cNvSpPr/>
            <p:nvPr/>
          </p:nvSpPr>
          <p:spPr>
            <a:xfrm>
              <a:off x="9837683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rect 285"/>
            <p:cNvSpPr/>
            <p:nvPr/>
          </p:nvSpPr>
          <p:spPr>
            <a:xfrm>
              <a:off x="9837683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 286"/>
            <p:cNvSpPr/>
            <p:nvPr/>
          </p:nvSpPr>
          <p:spPr>
            <a:xfrm>
              <a:off x="9966645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 287"/>
            <p:cNvSpPr/>
            <p:nvPr/>
          </p:nvSpPr>
          <p:spPr>
            <a:xfrm>
              <a:off x="9966645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ct 288"/>
            <p:cNvSpPr/>
            <p:nvPr/>
          </p:nvSpPr>
          <p:spPr>
            <a:xfrm>
              <a:off x="10095607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1" name="rect 289"/>
            <p:cNvSpPr/>
            <p:nvPr/>
          </p:nvSpPr>
          <p:spPr>
            <a:xfrm>
              <a:off x="10095607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ect 290"/>
            <p:cNvSpPr/>
            <p:nvPr/>
          </p:nvSpPr>
          <p:spPr>
            <a:xfrm>
              <a:off x="10224569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 291"/>
            <p:cNvSpPr/>
            <p:nvPr/>
          </p:nvSpPr>
          <p:spPr>
            <a:xfrm>
              <a:off x="10224569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 292"/>
            <p:cNvSpPr/>
            <p:nvPr/>
          </p:nvSpPr>
          <p:spPr>
            <a:xfrm>
              <a:off x="10353530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5" name="rect 293"/>
            <p:cNvSpPr/>
            <p:nvPr/>
          </p:nvSpPr>
          <p:spPr>
            <a:xfrm>
              <a:off x="10353530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6" name="rect 294"/>
            <p:cNvSpPr/>
            <p:nvPr/>
          </p:nvSpPr>
          <p:spPr>
            <a:xfrm>
              <a:off x="10482492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rect 295"/>
            <p:cNvSpPr/>
            <p:nvPr/>
          </p:nvSpPr>
          <p:spPr>
            <a:xfrm>
              <a:off x="10482492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 296"/>
            <p:cNvSpPr/>
            <p:nvPr/>
          </p:nvSpPr>
          <p:spPr>
            <a:xfrm>
              <a:off x="10611454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 297"/>
            <p:cNvSpPr/>
            <p:nvPr/>
          </p:nvSpPr>
          <p:spPr>
            <a:xfrm>
              <a:off x="10611454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0" name="rect 298"/>
            <p:cNvSpPr/>
            <p:nvPr/>
          </p:nvSpPr>
          <p:spPr>
            <a:xfrm>
              <a:off x="10740416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1" name="rect 299"/>
            <p:cNvSpPr/>
            <p:nvPr/>
          </p:nvSpPr>
          <p:spPr>
            <a:xfrm>
              <a:off x="10740416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rect 300"/>
            <p:cNvSpPr/>
            <p:nvPr/>
          </p:nvSpPr>
          <p:spPr>
            <a:xfrm>
              <a:off x="10869378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 301"/>
            <p:cNvSpPr/>
            <p:nvPr/>
          </p:nvSpPr>
          <p:spPr>
            <a:xfrm>
              <a:off x="10869378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 302"/>
            <p:cNvSpPr/>
            <p:nvPr/>
          </p:nvSpPr>
          <p:spPr>
            <a:xfrm>
              <a:off x="10998340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ct 303"/>
            <p:cNvSpPr/>
            <p:nvPr/>
          </p:nvSpPr>
          <p:spPr>
            <a:xfrm>
              <a:off x="10998340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6" name="rect 304"/>
            <p:cNvSpPr/>
            <p:nvPr/>
          </p:nvSpPr>
          <p:spPr>
            <a:xfrm>
              <a:off x="11127302" y="1344168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rect 305"/>
            <p:cNvSpPr/>
            <p:nvPr/>
          </p:nvSpPr>
          <p:spPr>
            <a:xfrm>
              <a:off x="11127302" y="1983745"/>
              <a:ext cx="87735" cy="64511"/>
            </a:xfrm>
            <a:prstGeom prst="roundRect">
              <a:avLst>
                <a:gd name="adj" fmla="val 1417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08" name="Video frame" descr="fram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25512" y="1490975"/>
              <a:ext cx="716890" cy="410474"/>
            </a:xfrm>
            <a:prstGeom prst="rect">
              <a:avLst/>
            </a:prstGeom>
          </p:spPr>
        </p:pic>
        <p:pic>
          <p:nvPicPr>
            <p:cNvPr id="309" name="Video frame" descr="fram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9834" y="1490975"/>
              <a:ext cx="716890" cy="410474"/>
            </a:xfrm>
            <a:prstGeom prst="rect">
              <a:avLst/>
            </a:prstGeom>
          </p:spPr>
        </p:pic>
        <p:pic>
          <p:nvPicPr>
            <p:cNvPr id="310" name="Video frame" descr="fram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14155" y="1490975"/>
              <a:ext cx="716890" cy="410474"/>
            </a:xfrm>
            <a:prstGeom prst="rect">
              <a:avLst/>
            </a:prstGeom>
          </p:spPr>
        </p:pic>
        <p:pic>
          <p:nvPicPr>
            <p:cNvPr id="311" name="Video frame" descr="frame4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58477" y="1490975"/>
              <a:ext cx="716890" cy="410474"/>
            </a:xfrm>
            <a:prstGeom prst="rect">
              <a:avLst/>
            </a:prstGeom>
          </p:spPr>
        </p:pic>
        <p:pic>
          <p:nvPicPr>
            <p:cNvPr id="312" name="Video frame" descr="frame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02798" y="1490975"/>
              <a:ext cx="716890" cy="410474"/>
            </a:xfrm>
            <a:prstGeom prst="rect">
              <a:avLst/>
            </a:prstGeom>
          </p:spPr>
        </p:pic>
      </p:grpSp>
      <p:sp>
        <p:nvSpPr>
          <p:cNvPr id="313" name="Untrimmed Video"/>
          <p:cNvSpPr txBox="1"/>
          <p:nvPr/>
        </p:nvSpPr>
        <p:spPr>
          <a:xfrm>
            <a:off x="8343809" y="2055388"/>
            <a:ext cx="2294701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Untrimmed Video</a:t>
            </a:r>
          </a:p>
        </p:txBody>
      </p:sp>
      <p:sp>
        <p:nvSpPr>
          <p:cNvPr id="314" name="+"/>
          <p:cNvSpPr txBox="1"/>
          <p:nvPr/>
        </p:nvSpPr>
        <p:spPr>
          <a:xfrm>
            <a:off x="11397082" y="1534363"/>
            <a:ext cx="36954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79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grpSp>
        <p:nvGrpSpPr>
          <p:cNvPr id="902" name="prompt-icon-313"/>
          <p:cNvGrpSpPr/>
          <p:nvPr/>
        </p:nvGrpSpPr>
        <p:grpSpPr>
          <a:xfrm>
            <a:off x="11860784" y="1344422"/>
            <a:ext cx="620268" cy="610870"/>
            <a:chOff x="11860784" y="1344422"/>
            <a:chExt cx="620268" cy="610870"/>
          </a:xfrm>
        </p:grpSpPr>
        <p:sp>
          <p:nvSpPr>
            <p:cNvPr id="315" name="rect 313"/>
            <p:cNvSpPr/>
            <p:nvPr/>
          </p:nvSpPr>
          <p:spPr>
            <a:xfrm>
              <a:off x="12048744" y="1344422"/>
              <a:ext cx="432308" cy="56388"/>
            </a:xfrm>
            <a:prstGeom prst="roundRect">
              <a:avLst>
                <a:gd name="adj" fmla="val 33333"/>
              </a:avLst>
            </a:prstGeom>
            <a:solidFill>
              <a:srgbClr val="A9CCEC"/>
            </a:solidFill>
            <a:ln w="1879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6" name="rect 314"/>
            <p:cNvSpPr/>
            <p:nvPr/>
          </p:nvSpPr>
          <p:spPr>
            <a:xfrm>
              <a:off x="12086336" y="1400810"/>
              <a:ext cx="366522" cy="253746"/>
            </a:xfrm>
            <a:prstGeom prst="rect">
              <a:avLst/>
            </a:prstGeom>
            <a:solidFill>
              <a:srgbClr val="C0DDF4"/>
            </a:solidFill>
            <a:ln w="1879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path 315"/>
            <p:cNvSpPr/>
            <p:nvPr/>
          </p:nvSpPr>
          <p:spPr>
            <a:xfrm>
              <a:off x="12142724" y="1447800"/>
              <a:ext cx="56388" cy="56388"/>
            </a:xfrm>
            <a:custGeom>
              <a:avLst/>
              <a:gdLst/>
              <a:ahLst/>
              <a:cxnLst/>
              <a:rect l="0" t="0" r="r" b="b"/>
              <a:pathLst>
                <a:path w="56388" h="56388">
                  <a:moveTo>
                    <a:pt x="0" y="0"/>
                  </a:moveTo>
                  <a:lnTo>
                    <a:pt x="56388" y="0"/>
                  </a:lnTo>
                  <a:lnTo>
                    <a:pt x="56388" y="56388"/>
                  </a:lnTo>
                  <a:lnTo>
                    <a:pt x="0" y="56388"/>
                  </a:lnTo>
                  <a:close/>
                </a:path>
              </a:pathLst>
            </a:custGeom>
            <a:solidFill>
              <a:srgbClr val="F5F6F9"/>
            </a:solidFill>
            <a:ln w="13157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path 316"/>
            <p:cNvSpPr/>
            <p:nvPr/>
          </p:nvSpPr>
          <p:spPr>
            <a:xfrm>
              <a:off x="12152122" y="1447800"/>
              <a:ext cx="234950" cy="150368"/>
            </a:xfrm>
            <a:custGeom>
              <a:avLst/>
              <a:gdLst/>
              <a:ahLst/>
              <a:cxnLst/>
              <a:rect l="0" t="0" r="r" b="b"/>
              <a:pathLst>
                <a:path w="234950" h="150368">
                  <a:moveTo>
                    <a:pt x="93980" y="0"/>
                  </a:moveTo>
                  <a:lnTo>
                    <a:pt x="234950" y="0"/>
                  </a:lnTo>
                  <a:moveTo>
                    <a:pt x="93980" y="46990"/>
                  </a:moveTo>
                  <a:lnTo>
                    <a:pt x="225552" y="46990"/>
                  </a:lnTo>
                  <a:moveTo>
                    <a:pt x="0" y="103378"/>
                  </a:moveTo>
                  <a:lnTo>
                    <a:pt x="206756" y="103378"/>
                  </a:lnTo>
                  <a:moveTo>
                    <a:pt x="0" y="150368"/>
                  </a:moveTo>
                  <a:lnTo>
                    <a:pt x="131572" y="150368"/>
                  </a:lnTo>
                </a:path>
              </a:pathLst>
            </a:custGeom>
            <a:noFill/>
            <a:ln w="13157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path 317"/>
            <p:cNvSpPr/>
            <p:nvPr/>
          </p:nvSpPr>
          <p:spPr>
            <a:xfrm>
              <a:off x="11879580" y="1757934"/>
              <a:ext cx="385318" cy="187960"/>
            </a:xfrm>
            <a:custGeom>
              <a:avLst/>
              <a:gdLst/>
              <a:ahLst/>
              <a:cxnLst/>
              <a:rect l="0" t="0" r="r" b="b"/>
              <a:pathLst>
                <a:path w="385318" h="187960">
                  <a:moveTo>
                    <a:pt x="18796" y="56388"/>
                  </a:moveTo>
                  <a:cubicBezTo>
                    <a:pt x="65786" y="0"/>
                    <a:pt x="263144" y="0"/>
                    <a:pt x="347726" y="46990"/>
                  </a:cubicBezTo>
                  <a:lnTo>
                    <a:pt x="385318" y="187960"/>
                  </a:lnTo>
                  <a:lnTo>
                    <a:pt x="0" y="187960"/>
                  </a:lnTo>
                  <a:lnTo>
                    <a:pt x="0" y="103378"/>
                  </a:lnTo>
                  <a:close/>
                </a:path>
              </a:pathLst>
            </a:custGeom>
            <a:solidFill>
              <a:srgbClr val="B7E790"/>
            </a:solidFill>
            <a:ln w="1879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0" name="path 318"/>
            <p:cNvSpPr/>
            <p:nvPr/>
          </p:nvSpPr>
          <p:spPr>
            <a:xfrm>
              <a:off x="11964162" y="1757934"/>
              <a:ext cx="178562" cy="187960"/>
            </a:xfrm>
            <a:custGeom>
              <a:avLst/>
              <a:gdLst/>
              <a:ahLst/>
              <a:cxnLst/>
              <a:rect l="0" t="0" r="r" b="b"/>
              <a:pathLst>
                <a:path w="178562" h="187960">
                  <a:moveTo>
                    <a:pt x="18796" y="0"/>
                  </a:moveTo>
                  <a:lnTo>
                    <a:pt x="84582" y="150368"/>
                  </a:lnTo>
                  <a:lnTo>
                    <a:pt x="169164" y="0"/>
                  </a:lnTo>
                  <a:lnTo>
                    <a:pt x="178562" y="103378"/>
                  </a:lnTo>
                  <a:lnTo>
                    <a:pt x="84582" y="187960"/>
                  </a:lnTo>
                  <a:lnTo>
                    <a:pt x="0" y="93980"/>
                  </a:lnTo>
                  <a:close/>
                </a:path>
              </a:pathLst>
            </a:custGeom>
            <a:solidFill>
              <a:srgbClr val="F9F9F2"/>
            </a:solidFill>
            <a:ln w="1879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1" name="path 319"/>
            <p:cNvSpPr/>
            <p:nvPr/>
          </p:nvSpPr>
          <p:spPr>
            <a:xfrm>
              <a:off x="12039346" y="1729740"/>
              <a:ext cx="65786" cy="112776"/>
            </a:xfrm>
            <a:custGeom>
              <a:avLst/>
              <a:gdLst/>
              <a:ahLst/>
              <a:cxnLst/>
              <a:rect l="0" t="0" r="r" b="b"/>
              <a:pathLst>
                <a:path w="65786" h="112776">
                  <a:moveTo>
                    <a:pt x="0" y="0"/>
                  </a:moveTo>
                  <a:lnTo>
                    <a:pt x="0" y="103378"/>
                  </a:lnTo>
                  <a:lnTo>
                    <a:pt x="37592" y="112776"/>
                  </a:lnTo>
                  <a:lnTo>
                    <a:pt x="65786" y="9398"/>
                  </a:lnTo>
                  <a:close/>
                </a:path>
              </a:pathLst>
            </a:custGeom>
            <a:solidFill>
              <a:srgbClr val="EEDED6"/>
            </a:solidFill>
            <a:ln w="1879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path 320"/>
            <p:cNvSpPr/>
            <p:nvPr/>
          </p:nvSpPr>
          <p:spPr>
            <a:xfrm>
              <a:off x="11860784" y="1466596"/>
              <a:ext cx="310134" cy="366522"/>
            </a:xfrm>
            <a:custGeom>
              <a:avLst/>
              <a:gdLst/>
              <a:ahLst/>
              <a:cxnLst/>
              <a:rect l="0" t="0" r="r" b="b"/>
              <a:pathLst>
                <a:path w="310134" h="366522">
                  <a:moveTo>
                    <a:pt x="84582" y="93980"/>
                  </a:moveTo>
                  <a:cubicBezTo>
                    <a:pt x="103378" y="9398"/>
                    <a:pt x="244348" y="0"/>
                    <a:pt x="291338" y="84582"/>
                  </a:cubicBezTo>
                  <a:cubicBezTo>
                    <a:pt x="310134" y="140970"/>
                    <a:pt x="263144" y="272542"/>
                    <a:pt x="281940" y="319532"/>
                  </a:cubicBezTo>
                  <a:cubicBezTo>
                    <a:pt x="263144" y="366522"/>
                    <a:pt x="187960" y="300736"/>
                    <a:pt x="140970" y="310134"/>
                  </a:cubicBezTo>
                  <a:cubicBezTo>
                    <a:pt x="56388" y="319532"/>
                    <a:pt x="18796" y="272542"/>
                    <a:pt x="56388" y="216154"/>
                  </a:cubicBezTo>
                  <a:cubicBezTo>
                    <a:pt x="0" y="197358"/>
                    <a:pt x="37592" y="150368"/>
                    <a:pt x="84582" y="93980"/>
                  </a:cubicBezTo>
                  <a:close/>
                </a:path>
              </a:pathLst>
            </a:custGeom>
            <a:solidFill>
              <a:srgbClr val="78717F"/>
            </a:solidFill>
            <a:ln w="1879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path 321"/>
            <p:cNvSpPr/>
            <p:nvPr/>
          </p:nvSpPr>
          <p:spPr>
            <a:xfrm>
              <a:off x="11945366" y="1551178"/>
              <a:ext cx="178562" cy="234950"/>
            </a:xfrm>
            <a:custGeom>
              <a:avLst/>
              <a:gdLst/>
              <a:ahLst/>
              <a:cxnLst/>
              <a:rect l="0" t="0" r="r" b="b"/>
              <a:pathLst>
                <a:path w="178562" h="234950">
                  <a:moveTo>
                    <a:pt x="18796" y="37592"/>
                  </a:moveTo>
                  <a:cubicBezTo>
                    <a:pt x="46990" y="56388"/>
                    <a:pt x="140970" y="28194"/>
                    <a:pt x="159766" y="0"/>
                  </a:cubicBezTo>
                  <a:cubicBezTo>
                    <a:pt x="178562" y="56388"/>
                    <a:pt x="178562" y="159766"/>
                    <a:pt x="131572" y="187960"/>
                  </a:cubicBezTo>
                  <a:cubicBezTo>
                    <a:pt x="65786" y="234950"/>
                    <a:pt x="0" y="150368"/>
                    <a:pt x="9398" y="75184"/>
                  </a:cubicBezTo>
                  <a:close/>
                </a:path>
              </a:pathLst>
            </a:custGeom>
            <a:solidFill>
              <a:srgbClr val="F3E4DF"/>
            </a:solidFill>
            <a:ln w="1879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path 322"/>
            <p:cNvSpPr/>
            <p:nvPr/>
          </p:nvSpPr>
          <p:spPr>
            <a:xfrm>
              <a:off x="11888978" y="1729740"/>
              <a:ext cx="75184" cy="75184"/>
            </a:xfrm>
            <a:custGeom>
              <a:avLst/>
              <a:gdLst/>
              <a:ahLst/>
              <a:cxnLst/>
              <a:rect l="0" t="0" r="r" b="b"/>
              <a:pathLst>
                <a:path w="75184" h="75184">
                  <a:moveTo>
                    <a:pt x="37592" y="0"/>
                  </a:moveTo>
                  <a:cubicBezTo>
                    <a:pt x="0" y="28194"/>
                    <a:pt x="28194" y="75184"/>
                    <a:pt x="75184" y="56388"/>
                  </a:cubicBezTo>
                </a:path>
              </a:pathLst>
            </a:custGeom>
            <a:noFill/>
            <a:ln w="1879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5" name="path 323"/>
            <p:cNvSpPr/>
            <p:nvPr/>
          </p:nvSpPr>
          <p:spPr>
            <a:xfrm>
              <a:off x="12095734" y="1710944"/>
              <a:ext cx="178562" cy="244348"/>
            </a:xfrm>
            <a:custGeom>
              <a:avLst/>
              <a:gdLst/>
              <a:ahLst/>
              <a:cxnLst/>
              <a:rect l="0" t="0" r="r" b="b"/>
              <a:pathLst>
                <a:path w="178562" h="244348">
                  <a:moveTo>
                    <a:pt x="84582" y="122174"/>
                  </a:moveTo>
                  <a:lnTo>
                    <a:pt x="140970" y="0"/>
                  </a:lnTo>
                  <a:lnTo>
                    <a:pt x="178562" y="9398"/>
                  </a:lnTo>
                  <a:lnTo>
                    <a:pt x="140970" y="206756"/>
                  </a:lnTo>
                  <a:cubicBezTo>
                    <a:pt x="131572" y="234950"/>
                    <a:pt x="84582" y="244348"/>
                    <a:pt x="46990" y="234950"/>
                  </a:cubicBezTo>
                  <a:lnTo>
                    <a:pt x="0" y="216154"/>
                  </a:lnTo>
                  <a:lnTo>
                    <a:pt x="18796" y="150368"/>
                  </a:lnTo>
                  <a:close/>
                </a:path>
              </a:pathLst>
            </a:custGeom>
            <a:solidFill>
              <a:srgbClr val="B4E28B"/>
            </a:solidFill>
            <a:ln w="1879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6" name="path 324"/>
            <p:cNvSpPr/>
            <p:nvPr/>
          </p:nvSpPr>
          <p:spPr>
            <a:xfrm>
              <a:off x="12236704" y="1626362"/>
              <a:ext cx="84582" cy="103378"/>
            </a:xfrm>
            <a:custGeom>
              <a:avLst/>
              <a:gdLst/>
              <a:ahLst/>
              <a:cxnLst/>
              <a:rect l="0" t="0" r="r" b="b"/>
              <a:pathLst>
                <a:path w="84582" h="103378">
                  <a:moveTo>
                    <a:pt x="0" y="93980"/>
                  </a:moveTo>
                  <a:lnTo>
                    <a:pt x="9398" y="37592"/>
                  </a:lnTo>
                  <a:cubicBezTo>
                    <a:pt x="18796" y="18796"/>
                    <a:pt x="28194" y="9398"/>
                    <a:pt x="37592" y="18796"/>
                  </a:cubicBezTo>
                  <a:lnTo>
                    <a:pt x="56388" y="28194"/>
                  </a:lnTo>
                  <a:lnTo>
                    <a:pt x="65786" y="0"/>
                  </a:lnTo>
                  <a:lnTo>
                    <a:pt x="84582" y="9398"/>
                  </a:lnTo>
                  <a:lnTo>
                    <a:pt x="56388" y="103378"/>
                  </a:lnTo>
                  <a:close/>
                </a:path>
              </a:pathLst>
            </a:custGeom>
            <a:solidFill>
              <a:srgbClr val="F4DED8"/>
            </a:solidFill>
            <a:ln w="1879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path 325"/>
            <p:cNvSpPr/>
            <p:nvPr/>
          </p:nvSpPr>
          <p:spPr>
            <a:xfrm>
              <a:off x="12283694" y="1541780"/>
              <a:ext cx="46990" cy="93980"/>
            </a:xfrm>
            <a:custGeom>
              <a:avLst/>
              <a:gdLst/>
              <a:ahLst/>
              <a:cxnLst/>
              <a:rect l="0" t="0" r="r" b="b"/>
              <a:pathLst>
                <a:path w="46990" h="93980">
                  <a:moveTo>
                    <a:pt x="0" y="93980"/>
                  </a:moveTo>
                  <a:lnTo>
                    <a:pt x="46990" y="0"/>
                  </a:lnTo>
                </a:path>
              </a:pathLst>
            </a:custGeom>
            <a:noFill/>
            <a:ln w="14096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path 326"/>
            <p:cNvSpPr/>
            <p:nvPr/>
          </p:nvSpPr>
          <p:spPr>
            <a:xfrm>
              <a:off x="11926570" y="1861312"/>
              <a:ext cx="112776" cy="84582"/>
            </a:xfrm>
            <a:custGeom>
              <a:avLst/>
              <a:gdLst/>
              <a:ahLst/>
              <a:cxnLst/>
              <a:rect l="0" t="0" r="r" b="b"/>
              <a:pathLst>
                <a:path w="112776" h="84582">
                  <a:moveTo>
                    <a:pt x="0" y="18796"/>
                  </a:moveTo>
                  <a:lnTo>
                    <a:pt x="9398" y="84582"/>
                  </a:lnTo>
                  <a:moveTo>
                    <a:pt x="112776" y="0"/>
                  </a:moveTo>
                  <a:lnTo>
                    <a:pt x="112776" y="65786"/>
                  </a:lnTo>
                </a:path>
              </a:pathLst>
            </a:custGeom>
            <a:noFill/>
            <a:ln w="14096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9" name="Prompt"/>
          <p:cNvSpPr txBox="1"/>
          <p:nvPr/>
        </p:nvSpPr>
        <p:spPr>
          <a:xfrm>
            <a:off x="11653937" y="2009668"/>
            <a:ext cx="986895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Prompt</a:t>
            </a:r>
          </a:p>
        </p:txBody>
      </p:sp>
      <p:sp>
        <p:nvSpPr>
          <p:cNvPr id="330" name="path 328"/>
          <p:cNvSpPr/>
          <p:nvPr/>
        </p:nvSpPr>
        <p:spPr>
          <a:xfrm>
            <a:off x="12591288" y="1700784"/>
            <a:ext cx="347472" cy="91"/>
          </a:xfrm>
          <a:custGeom>
            <a:avLst/>
            <a:gdLst/>
            <a:ahLst/>
            <a:cxnLst/>
            <a:rect l="0" t="0" r="r" b="b"/>
            <a:pathLst>
              <a:path w="347472" h="91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/>
          <a:ln w="4114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path 329"/>
          <p:cNvSpPr/>
          <p:nvPr/>
        </p:nvSpPr>
        <p:spPr>
          <a:xfrm>
            <a:off x="12801600" y="1629461"/>
            <a:ext cx="137160" cy="142646"/>
          </a:xfrm>
          <a:custGeom>
            <a:avLst/>
            <a:gdLst/>
            <a:ahLst/>
            <a:cxnLst/>
            <a:rect l="0" t="0" r="r" b="b"/>
            <a:pathLst>
              <a:path w="137160" h="142646">
                <a:moveTo>
                  <a:pt x="0" y="142646"/>
                </a:moveTo>
                <a:lnTo>
                  <a:pt x="137160" y="71323"/>
                </a:lnTo>
                <a:lnTo>
                  <a:pt x="0" y="0"/>
                </a:lnTo>
              </a:path>
            </a:pathLst>
          </a:custGeom>
          <a:noFill/>
          <a:ln w="4114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03" name="policy-model-330"/>
          <p:cNvGrpSpPr/>
          <p:nvPr/>
        </p:nvGrpSpPr>
        <p:grpSpPr>
          <a:xfrm>
            <a:off x="13125023" y="898947"/>
            <a:ext cx="736968" cy="820474"/>
            <a:chOff x="13125023" y="898947"/>
            <a:chExt cx="736968" cy="820474"/>
          </a:xfrm>
        </p:grpSpPr>
        <p:sp>
          <p:nvSpPr>
            <p:cNvPr id="332" name="ellipse 330"/>
            <p:cNvSpPr/>
            <p:nvPr/>
          </p:nvSpPr>
          <p:spPr>
            <a:xfrm>
              <a:off x="13276722" y="1014527"/>
              <a:ext cx="93909" cy="79461"/>
            </a:xfrm>
            <a:prstGeom prst="ellipse">
              <a:avLst/>
            </a:prstGeom>
            <a:solidFill>
              <a:srgbClr val="ED7278"/>
            </a:solidFill>
            <a:ln w="1878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ellipse 331"/>
            <p:cNvSpPr/>
            <p:nvPr/>
          </p:nvSpPr>
          <p:spPr>
            <a:xfrm>
              <a:off x="13385079" y="1007303"/>
              <a:ext cx="93909" cy="86685"/>
            </a:xfrm>
            <a:prstGeom prst="ellipse">
              <a:avLst/>
            </a:prstGeom>
            <a:solidFill>
              <a:srgbClr val="ED7278"/>
            </a:solidFill>
            <a:ln w="1878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ellipse 332"/>
            <p:cNvSpPr/>
            <p:nvPr/>
          </p:nvSpPr>
          <p:spPr>
            <a:xfrm>
              <a:off x="13500659" y="1014527"/>
              <a:ext cx="93909" cy="79461"/>
            </a:xfrm>
            <a:prstGeom prst="ellipse">
              <a:avLst/>
            </a:prstGeom>
            <a:solidFill>
              <a:srgbClr val="ED7278"/>
            </a:solidFill>
            <a:ln w="1878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rect 333"/>
            <p:cNvSpPr/>
            <p:nvPr/>
          </p:nvSpPr>
          <p:spPr>
            <a:xfrm>
              <a:off x="13125023" y="1195121"/>
              <a:ext cx="72238" cy="158923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1878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rect 334"/>
            <p:cNvSpPr/>
            <p:nvPr/>
          </p:nvSpPr>
          <p:spPr>
            <a:xfrm>
              <a:off x="13724595" y="1195121"/>
              <a:ext cx="72238" cy="158923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1878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path 335"/>
            <p:cNvSpPr/>
            <p:nvPr/>
          </p:nvSpPr>
          <p:spPr>
            <a:xfrm>
              <a:off x="13269498" y="1534638"/>
              <a:ext cx="397307" cy="144475"/>
            </a:xfrm>
            <a:custGeom>
              <a:avLst/>
              <a:gdLst/>
              <a:ahLst/>
              <a:cxnLst/>
              <a:rect l="0" t="0" r="r" b="b"/>
              <a:pathLst>
                <a:path w="397307" h="144475">
                  <a:moveTo>
                    <a:pt x="130028" y="0"/>
                  </a:moveTo>
                  <a:lnTo>
                    <a:pt x="130028" y="50566"/>
                  </a:lnTo>
                  <a:lnTo>
                    <a:pt x="50566" y="65014"/>
                  </a:lnTo>
                  <a:cubicBezTo>
                    <a:pt x="7224" y="72238"/>
                    <a:pt x="0" y="101133"/>
                    <a:pt x="0" y="144475"/>
                  </a:cubicBezTo>
                  <a:lnTo>
                    <a:pt x="397307" y="144475"/>
                  </a:lnTo>
                  <a:lnTo>
                    <a:pt x="397307" y="108356"/>
                  </a:lnTo>
                  <a:cubicBezTo>
                    <a:pt x="382859" y="72238"/>
                    <a:pt x="317845" y="65014"/>
                    <a:pt x="245608" y="57790"/>
                  </a:cubicBezTo>
                  <a:lnTo>
                    <a:pt x="245608" y="0"/>
                  </a:lnTo>
                  <a:close/>
                </a:path>
              </a:pathLst>
            </a:custGeom>
            <a:solidFill>
              <a:srgbClr val="96D8EE"/>
            </a:solidFill>
            <a:ln w="1878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path 336"/>
            <p:cNvSpPr/>
            <p:nvPr/>
          </p:nvSpPr>
          <p:spPr>
            <a:xfrm>
              <a:off x="13421197" y="1549085"/>
              <a:ext cx="93909" cy="115580"/>
            </a:xfrm>
            <a:custGeom>
              <a:avLst/>
              <a:gdLst/>
              <a:ahLst/>
              <a:cxnLst/>
              <a:rect l="0" t="0" r="r" b="b"/>
              <a:pathLst>
                <a:path w="93909" h="115580">
                  <a:moveTo>
                    <a:pt x="0" y="0"/>
                  </a:moveTo>
                  <a:lnTo>
                    <a:pt x="0" y="72238"/>
                  </a:lnTo>
                  <a:cubicBezTo>
                    <a:pt x="21671" y="115580"/>
                    <a:pt x="86685" y="101133"/>
                    <a:pt x="93909" y="65014"/>
                  </a:cubicBezTo>
                  <a:lnTo>
                    <a:pt x="93909" y="0"/>
                  </a:lnTo>
                  <a:close/>
                </a:path>
              </a:pathLst>
            </a:custGeom>
            <a:solidFill>
              <a:srgbClr val="367797"/>
            </a:solidFill>
            <a:ln w="1878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rect 337"/>
            <p:cNvSpPr/>
            <p:nvPr/>
          </p:nvSpPr>
          <p:spPr>
            <a:xfrm>
              <a:off x="13182813" y="1057869"/>
              <a:ext cx="556230" cy="505663"/>
            </a:xfrm>
            <a:prstGeom prst="roundRect">
              <a:avLst>
                <a:gd name="adj" fmla="val 21428"/>
              </a:avLst>
            </a:prstGeom>
            <a:solidFill>
              <a:srgbClr val="70CCE9"/>
            </a:solidFill>
            <a:ln w="1878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path 338"/>
            <p:cNvSpPr/>
            <p:nvPr/>
          </p:nvSpPr>
          <p:spPr>
            <a:xfrm>
              <a:off x="13190037" y="1101212"/>
              <a:ext cx="505663" cy="455097"/>
            </a:xfrm>
            <a:custGeom>
              <a:avLst/>
              <a:gdLst/>
              <a:ahLst/>
              <a:cxnLst/>
              <a:rect l="0" t="0" r="r" b="b"/>
              <a:pathLst>
                <a:path w="505663" h="455097">
                  <a:moveTo>
                    <a:pt x="57790" y="0"/>
                  </a:moveTo>
                  <a:cubicBezTo>
                    <a:pt x="0" y="21671"/>
                    <a:pt x="14448" y="353964"/>
                    <a:pt x="43343" y="404531"/>
                  </a:cubicBezTo>
                  <a:cubicBezTo>
                    <a:pt x="93909" y="455097"/>
                    <a:pt x="455097" y="455097"/>
                    <a:pt x="505663" y="404531"/>
                  </a:cubicBezTo>
                </a:path>
              </a:pathLst>
            </a:custGeom>
            <a:noFill/>
            <a:ln w="18059" cap="rnd">
              <a:solidFill>
                <a:srgbClr val="B9EB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rect 339"/>
            <p:cNvSpPr/>
            <p:nvPr/>
          </p:nvSpPr>
          <p:spPr>
            <a:xfrm>
              <a:off x="13233380" y="1108436"/>
              <a:ext cx="447873" cy="382859"/>
            </a:xfrm>
            <a:prstGeom prst="roundRect">
              <a:avLst>
                <a:gd name="adj" fmla="val 18867"/>
              </a:avLst>
            </a:prstGeom>
            <a:solidFill>
              <a:srgbClr val="D2F2F7"/>
            </a:solidFill>
            <a:ln w="1878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ellipse 340"/>
            <p:cNvSpPr/>
            <p:nvPr/>
          </p:nvSpPr>
          <p:spPr>
            <a:xfrm>
              <a:off x="13305617" y="1173450"/>
              <a:ext cx="79461" cy="93909"/>
            </a:xfrm>
            <a:prstGeom prst="ellipse">
              <a:avLst/>
            </a:prstGeom>
            <a:solidFill>
              <a:srgbClr val="B9E7F0"/>
            </a:solidFill>
            <a:ln w="1805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ellipse 341"/>
            <p:cNvSpPr/>
            <p:nvPr/>
          </p:nvSpPr>
          <p:spPr>
            <a:xfrm>
              <a:off x="13522330" y="1173450"/>
              <a:ext cx="79461" cy="93909"/>
            </a:xfrm>
            <a:prstGeom prst="ellipse">
              <a:avLst/>
            </a:prstGeom>
            <a:solidFill>
              <a:srgbClr val="B9E7F0"/>
            </a:solidFill>
            <a:ln w="1805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path 342"/>
            <p:cNvSpPr/>
            <p:nvPr/>
          </p:nvSpPr>
          <p:spPr>
            <a:xfrm>
              <a:off x="13392302" y="1296253"/>
              <a:ext cx="122804" cy="50566"/>
            </a:xfrm>
            <a:custGeom>
              <a:avLst/>
              <a:gdLst/>
              <a:ahLst/>
              <a:cxnLst/>
              <a:rect l="0" t="0" r="r" b="b"/>
              <a:pathLst>
                <a:path w="122804" h="50566">
                  <a:moveTo>
                    <a:pt x="0" y="7224"/>
                  </a:moveTo>
                  <a:cubicBezTo>
                    <a:pt x="28895" y="50566"/>
                    <a:pt x="86685" y="50566"/>
                    <a:pt x="122804" y="0"/>
                  </a:cubicBezTo>
                </a:path>
              </a:pathLst>
            </a:custGeom>
            <a:noFill/>
            <a:ln w="17337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path 343"/>
            <p:cNvSpPr/>
            <p:nvPr/>
          </p:nvSpPr>
          <p:spPr>
            <a:xfrm>
              <a:off x="13283946" y="1310701"/>
              <a:ext cx="332293" cy="36119"/>
            </a:xfrm>
            <a:custGeom>
              <a:avLst/>
              <a:gdLst/>
              <a:ahLst/>
              <a:cxnLst/>
              <a:rect l="0" t="0" r="r" b="b"/>
              <a:pathLst>
                <a:path w="332293" h="36119">
                  <a:moveTo>
                    <a:pt x="0" y="0"/>
                  </a:moveTo>
                  <a:lnTo>
                    <a:pt x="43343" y="0"/>
                  </a:lnTo>
                  <a:moveTo>
                    <a:pt x="0" y="36119"/>
                  </a:moveTo>
                  <a:lnTo>
                    <a:pt x="43343" y="36119"/>
                  </a:lnTo>
                  <a:moveTo>
                    <a:pt x="288950" y="0"/>
                  </a:moveTo>
                  <a:lnTo>
                    <a:pt x="332293" y="0"/>
                  </a:lnTo>
                  <a:moveTo>
                    <a:pt x="288950" y="36119"/>
                  </a:moveTo>
                  <a:lnTo>
                    <a:pt x="332293" y="36119"/>
                  </a:lnTo>
                </a:path>
              </a:pathLst>
            </a:custGeom>
            <a:noFill/>
            <a:ln w="12280" cap="rnd">
              <a:solidFill>
                <a:srgbClr val="3C788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AI"/>
            <p:cNvSpPr txBox="1"/>
            <p:nvPr/>
          </p:nvSpPr>
          <p:spPr>
            <a:xfrm>
              <a:off x="13293265" y="1602396"/>
              <a:ext cx="154948" cy="11702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511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AI</a:t>
              </a:r>
            </a:p>
          </p:txBody>
        </p:sp>
        <p:sp>
          <p:nvSpPr>
            <p:cNvPr id="347" name="path 345"/>
            <p:cNvSpPr/>
            <p:nvPr/>
          </p:nvSpPr>
          <p:spPr>
            <a:xfrm>
              <a:off x="13579253" y="898947"/>
              <a:ext cx="282738" cy="305059"/>
            </a:xfrm>
            <a:custGeom>
              <a:avLst/>
              <a:gdLst/>
              <a:ahLst/>
              <a:cxnLst/>
              <a:rect l="0" t="0" r="r" b="b"/>
              <a:pathLst>
                <a:path w="282738" h="305059">
                  <a:moveTo>
                    <a:pt x="141369" y="0"/>
                  </a:moveTo>
                  <a:cubicBezTo>
                    <a:pt x="81845" y="52083"/>
                    <a:pt x="156250" y="74405"/>
                    <a:pt x="96726" y="133929"/>
                  </a:cubicBezTo>
                  <a:cubicBezTo>
                    <a:pt x="66964" y="148809"/>
                    <a:pt x="59524" y="119048"/>
                    <a:pt x="59524" y="111607"/>
                  </a:cubicBezTo>
                  <a:cubicBezTo>
                    <a:pt x="0" y="186012"/>
                    <a:pt x="29762" y="275297"/>
                    <a:pt x="126488" y="290178"/>
                  </a:cubicBezTo>
                  <a:cubicBezTo>
                    <a:pt x="230655" y="305059"/>
                    <a:pt x="282738" y="215774"/>
                    <a:pt x="238095" y="141369"/>
                  </a:cubicBezTo>
                  <a:cubicBezTo>
                    <a:pt x="238095" y="186012"/>
                    <a:pt x="193452" y="178571"/>
                    <a:pt x="186012" y="148809"/>
                  </a:cubicBezTo>
                  <a:cubicBezTo>
                    <a:pt x="223214" y="66964"/>
                    <a:pt x="148809" y="81845"/>
                    <a:pt x="141369" y="0"/>
                  </a:cubicBezTo>
                  <a:close/>
                </a:path>
              </a:pathLst>
            </a:custGeom>
            <a:solidFill>
              <a:srgbClr val="F64A57"/>
            </a:solidFill>
            <a:ln w="11904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path 346"/>
            <p:cNvSpPr/>
            <p:nvPr/>
          </p:nvSpPr>
          <p:spPr>
            <a:xfrm>
              <a:off x="13631337" y="1010554"/>
              <a:ext cx="178571" cy="163690"/>
            </a:xfrm>
            <a:custGeom>
              <a:avLst/>
              <a:gdLst/>
              <a:ahLst/>
              <a:cxnLst/>
              <a:rect l="0" t="0" r="r" b="b"/>
              <a:pathLst>
                <a:path w="178571" h="163690">
                  <a:moveTo>
                    <a:pt x="96726" y="0"/>
                  </a:moveTo>
                  <a:cubicBezTo>
                    <a:pt x="66964" y="59524"/>
                    <a:pt x="104167" y="59524"/>
                    <a:pt x="66964" y="89286"/>
                  </a:cubicBezTo>
                  <a:cubicBezTo>
                    <a:pt x="29762" y="89286"/>
                    <a:pt x="52083" y="66964"/>
                    <a:pt x="37202" y="66964"/>
                  </a:cubicBezTo>
                  <a:cubicBezTo>
                    <a:pt x="0" y="126488"/>
                    <a:pt x="52083" y="163690"/>
                    <a:pt x="89286" y="156250"/>
                  </a:cubicBezTo>
                  <a:cubicBezTo>
                    <a:pt x="156250" y="156250"/>
                    <a:pt x="178571" y="104167"/>
                    <a:pt x="148809" y="81845"/>
                  </a:cubicBezTo>
                  <a:cubicBezTo>
                    <a:pt x="133929" y="133929"/>
                    <a:pt x="96726" y="96726"/>
                    <a:pt x="119048" y="66964"/>
                  </a:cubicBezTo>
                  <a:cubicBezTo>
                    <a:pt x="126488" y="44643"/>
                    <a:pt x="104167" y="29762"/>
                    <a:pt x="96726" y="0"/>
                  </a:cubicBezTo>
                  <a:close/>
                </a:path>
              </a:pathLst>
            </a:custGeom>
            <a:solidFill>
              <a:srgbClr val="FFB747"/>
            </a:solidFill>
            <a:ln w="892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path 347"/>
            <p:cNvSpPr/>
            <p:nvPr/>
          </p:nvSpPr>
          <p:spPr>
            <a:xfrm>
              <a:off x="13839670" y="965911"/>
              <a:ext cx="7440" cy="22321"/>
            </a:xfrm>
            <a:custGeom>
              <a:avLst/>
              <a:gdLst/>
              <a:ahLst/>
              <a:cxnLst/>
              <a:rect l="0" t="0" r="r" b="b"/>
              <a:pathLst>
                <a:path w="7440" h="22321">
                  <a:moveTo>
                    <a:pt x="0" y="0"/>
                  </a:moveTo>
                  <a:lnTo>
                    <a:pt x="7440" y="22321"/>
                  </a:lnTo>
                </a:path>
              </a:pathLst>
            </a:custGeom>
            <a:noFill/>
            <a:ln w="744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path 348"/>
            <p:cNvSpPr/>
            <p:nvPr/>
          </p:nvSpPr>
          <p:spPr>
            <a:xfrm>
              <a:off x="13638777" y="951030"/>
              <a:ext cx="7440" cy="22321"/>
            </a:xfrm>
            <a:custGeom>
              <a:avLst/>
              <a:gdLst/>
              <a:ahLst/>
              <a:cxnLst/>
              <a:rect l="0" t="0" r="r" b="b"/>
              <a:pathLst>
                <a:path w="7440" h="22321">
                  <a:moveTo>
                    <a:pt x="0" y="0"/>
                  </a:moveTo>
                  <a:lnTo>
                    <a:pt x="7440" y="22321"/>
                  </a:lnTo>
                </a:path>
              </a:pathLst>
            </a:custGeom>
            <a:noFill/>
            <a:ln w="744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path 349"/>
            <p:cNvSpPr/>
            <p:nvPr/>
          </p:nvSpPr>
          <p:spPr>
            <a:xfrm>
              <a:off x="13809908" y="906387"/>
              <a:ext cx="7440" cy="22321"/>
            </a:xfrm>
            <a:custGeom>
              <a:avLst/>
              <a:gdLst/>
              <a:ahLst/>
              <a:cxnLst/>
              <a:rect l="0" t="0" r="r" b="b"/>
              <a:pathLst>
                <a:path w="7440" h="22321">
                  <a:moveTo>
                    <a:pt x="0" y="0"/>
                  </a:moveTo>
                  <a:lnTo>
                    <a:pt x="7440" y="22321"/>
                  </a:lnTo>
                </a:path>
              </a:pathLst>
            </a:custGeom>
            <a:noFill/>
            <a:ln w="744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52" name="Policy"/>
          <p:cNvSpPr txBox="1"/>
          <p:nvPr/>
        </p:nvSpPr>
        <p:spPr>
          <a:xfrm>
            <a:off x="13049499" y="1715414"/>
            <a:ext cx="844713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Policy</a:t>
            </a:r>
          </a:p>
        </p:txBody>
      </p:sp>
      <p:sp>
        <p:nvSpPr>
          <p:cNvPr id="353" name="Model"/>
          <p:cNvSpPr txBox="1"/>
          <p:nvPr/>
        </p:nvSpPr>
        <p:spPr>
          <a:xfrm>
            <a:off x="13028943" y="2022653"/>
            <a:ext cx="885825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354" name="path 352"/>
          <p:cNvSpPr/>
          <p:nvPr/>
        </p:nvSpPr>
        <p:spPr>
          <a:xfrm>
            <a:off x="14045184" y="1709928"/>
            <a:ext cx="1005840" cy="91"/>
          </a:xfrm>
          <a:custGeom>
            <a:avLst/>
            <a:gdLst/>
            <a:ahLst/>
            <a:cxnLst/>
            <a:rect l="0" t="0" r="r" b="b"/>
            <a:pathLst>
              <a:path w="1005840" h="91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4114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path 353"/>
          <p:cNvSpPr/>
          <p:nvPr/>
        </p:nvSpPr>
        <p:spPr>
          <a:xfrm>
            <a:off x="14913864" y="1638605"/>
            <a:ext cx="137160" cy="142646"/>
          </a:xfrm>
          <a:custGeom>
            <a:avLst/>
            <a:gdLst/>
            <a:ahLst/>
            <a:cxnLst/>
            <a:rect l="0" t="0" r="r" b="b"/>
            <a:pathLst>
              <a:path w="137160" h="142646">
                <a:moveTo>
                  <a:pt x="0" y="142646"/>
                </a:moveTo>
                <a:lnTo>
                  <a:pt x="137160" y="71323"/>
                </a:lnTo>
                <a:lnTo>
                  <a:pt x="0" y="0"/>
                </a:lnTo>
              </a:path>
            </a:pathLst>
          </a:custGeom>
          <a:noFill/>
          <a:ln w="4114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Generate"/>
          <p:cNvSpPr txBox="1"/>
          <p:nvPr/>
        </p:nvSpPr>
        <p:spPr>
          <a:xfrm>
            <a:off x="14036589" y="1283086"/>
            <a:ext cx="1119833" cy="4279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2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Generate</a:t>
            </a:r>
          </a:p>
        </p:txBody>
      </p:sp>
      <p:grpSp>
        <p:nvGrpSpPr>
          <p:cNvPr id="904" name="label-355"/>
          <p:cNvGrpSpPr/>
          <p:nvPr/>
        </p:nvGrpSpPr>
        <p:grpSpPr>
          <a:xfrm>
            <a:off x="15197328" y="841248"/>
            <a:ext cx="1527048" cy="435437"/>
            <a:chOff x="15197328" y="841248"/>
            <a:chExt cx="1527048" cy="435437"/>
          </a:xfrm>
        </p:grpSpPr>
        <p:sp>
          <p:nvSpPr>
            <p:cNvPr id="357" name="rect 355"/>
            <p:cNvSpPr/>
            <p:nvPr/>
          </p:nvSpPr>
          <p:spPr>
            <a:xfrm>
              <a:off x="15197328" y="841248"/>
              <a:ext cx="1527048" cy="356616"/>
            </a:xfrm>
            <a:prstGeom prst="roundRect">
              <a:avLst>
                <a:gd name="adj" fmla="val 35897"/>
              </a:avLst>
            </a:prstGeom>
            <a:solidFill>
              <a:srgbClr val="F8B889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Completion 1"/>
            <p:cNvSpPr txBox="1"/>
            <p:nvPr/>
          </p:nvSpPr>
          <p:spPr>
            <a:xfrm>
              <a:off x="15224826" y="848746"/>
              <a:ext cx="1476806" cy="4279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72" b="0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Completion 1</a:t>
              </a:r>
            </a:p>
          </p:txBody>
        </p:sp>
      </p:grpSp>
      <p:grpSp>
        <p:nvGrpSpPr>
          <p:cNvPr id="905" name="label-357"/>
          <p:cNvGrpSpPr/>
          <p:nvPr/>
        </p:nvGrpSpPr>
        <p:grpSpPr>
          <a:xfrm>
            <a:off x="15197328" y="1280160"/>
            <a:ext cx="1527048" cy="435437"/>
            <a:chOff x="15197328" y="1280160"/>
            <a:chExt cx="1527048" cy="435437"/>
          </a:xfrm>
        </p:grpSpPr>
        <p:sp>
          <p:nvSpPr>
            <p:cNvPr id="359" name="rect 357"/>
            <p:cNvSpPr/>
            <p:nvPr/>
          </p:nvSpPr>
          <p:spPr>
            <a:xfrm>
              <a:off x="15197328" y="1280160"/>
              <a:ext cx="1527048" cy="356616"/>
            </a:xfrm>
            <a:prstGeom prst="roundRect">
              <a:avLst>
                <a:gd name="adj" fmla="val 35897"/>
              </a:avLst>
            </a:prstGeom>
            <a:solidFill>
              <a:srgbClr val="F8B889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Completion 2"/>
            <p:cNvSpPr txBox="1"/>
            <p:nvPr/>
          </p:nvSpPr>
          <p:spPr>
            <a:xfrm>
              <a:off x="15205788" y="1287658"/>
              <a:ext cx="1514882" cy="4279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72" b="0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Completion 2</a:t>
              </a:r>
            </a:p>
          </p:txBody>
        </p:sp>
      </p:grpSp>
      <p:sp>
        <p:nvSpPr>
          <p:cNvPr id="361" name="A Group of"/>
          <p:cNvSpPr txBox="1"/>
          <p:nvPr/>
        </p:nvSpPr>
        <p:spPr>
          <a:xfrm>
            <a:off x="15167103" y="1724558"/>
            <a:ext cx="1583841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A Group of</a:t>
            </a:r>
          </a:p>
        </p:txBody>
      </p:sp>
      <p:sp>
        <p:nvSpPr>
          <p:cNvPr id="362" name="Completions"/>
          <p:cNvSpPr txBox="1"/>
          <p:nvPr/>
        </p:nvSpPr>
        <p:spPr>
          <a:xfrm>
            <a:off x="15139242" y="2034540"/>
            <a:ext cx="163956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Completions</a:t>
            </a:r>
          </a:p>
        </p:txBody>
      </p:sp>
      <p:sp>
        <p:nvSpPr>
          <p:cNvPr id="363" name="Step 2: Computing Rewards"/>
          <p:cNvSpPr txBox="1"/>
          <p:nvPr/>
        </p:nvSpPr>
        <p:spPr>
          <a:xfrm>
            <a:off x="7440747" y="2469429"/>
            <a:ext cx="4157705" cy="5431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76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Step 2: Computing Rewards</a:t>
            </a:r>
          </a:p>
        </p:txBody>
      </p:sp>
      <p:sp>
        <p:nvSpPr>
          <p:cNvPr id="364" name="path 362"/>
          <p:cNvSpPr/>
          <p:nvPr/>
        </p:nvSpPr>
        <p:spPr>
          <a:xfrm>
            <a:off x="7507224" y="2834640"/>
            <a:ext cx="3950208" cy="91"/>
          </a:xfrm>
          <a:custGeom>
            <a:avLst/>
            <a:gdLst/>
            <a:ahLst/>
            <a:cxnLst/>
            <a:rect l="0" t="0" r="r" b="b"/>
            <a:pathLst>
              <a:path w="3950208" h="91">
                <a:moveTo>
                  <a:pt x="0" y="0"/>
                </a:moveTo>
                <a:lnTo>
                  <a:pt x="3950208" y="0"/>
                </a:lnTo>
              </a:path>
            </a:pathLst>
          </a:custGeom>
          <a:noFill/>
          <a:ln w="155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06" name="label-363"/>
          <p:cNvGrpSpPr/>
          <p:nvPr/>
        </p:nvGrpSpPr>
        <p:grpSpPr>
          <a:xfrm>
            <a:off x="7607808" y="2990088"/>
            <a:ext cx="1517904" cy="440009"/>
            <a:chOff x="7607808" y="2990088"/>
            <a:chExt cx="1517904" cy="440009"/>
          </a:xfrm>
        </p:grpSpPr>
        <p:sp>
          <p:nvSpPr>
            <p:cNvPr id="365" name="rect 363"/>
            <p:cNvSpPr/>
            <p:nvPr/>
          </p:nvSpPr>
          <p:spPr>
            <a:xfrm>
              <a:off x="7607808" y="2990088"/>
              <a:ext cx="1517904" cy="365760"/>
            </a:xfrm>
            <a:prstGeom prst="roundRect">
              <a:avLst>
                <a:gd name="adj" fmla="val 35000"/>
              </a:avLst>
            </a:prstGeom>
            <a:solidFill>
              <a:srgbClr val="F8B889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6" name="Completion 1"/>
            <p:cNvSpPr txBox="1"/>
            <p:nvPr/>
          </p:nvSpPr>
          <p:spPr>
            <a:xfrm>
              <a:off x="7630734" y="3002158"/>
              <a:ext cx="1476806" cy="4279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72" b="0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Completion 1</a:t>
              </a:r>
            </a:p>
          </p:txBody>
        </p:sp>
      </p:grpSp>
      <p:sp>
        <p:nvSpPr>
          <p:cNvPr id="367" name="path 365"/>
          <p:cNvSpPr/>
          <p:nvPr/>
        </p:nvSpPr>
        <p:spPr>
          <a:xfrm>
            <a:off x="9189720" y="3054096"/>
            <a:ext cx="2807208" cy="91"/>
          </a:xfrm>
          <a:custGeom>
            <a:avLst/>
            <a:gdLst/>
            <a:ahLst/>
            <a:cxnLst/>
            <a:rect l="0" t="0" r="r" b="b"/>
            <a:pathLst>
              <a:path w="2807208" h="91">
                <a:moveTo>
                  <a:pt x="0" y="0"/>
                </a:moveTo>
                <a:lnTo>
                  <a:pt x="2807208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path 366"/>
          <p:cNvSpPr/>
          <p:nvPr/>
        </p:nvSpPr>
        <p:spPr>
          <a:xfrm>
            <a:off x="11859768" y="2982773"/>
            <a:ext cx="137160" cy="142646"/>
          </a:xfrm>
          <a:custGeom>
            <a:avLst/>
            <a:gdLst/>
            <a:ahLst/>
            <a:cxnLst/>
            <a:rect l="0" t="0" r="r" b="b"/>
            <a:pathLst>
              <a:path w="137160" h="142646">
                <a:moveTo>
                  <a:pt x="0" y="142646"/>
                </a:moveTo>
                <a:lnTo>
                  <a:pt x="137160" y="71323"/>
                </a:lnTo>
                <a:lnTo>
                  <a:pt x="0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(1) Format Reward"/>
          <p:cNvSpPr txBox="1"/>
          <p:nvPr/>
        </p:nvSpPr>
        <p:spPr>
          <a:xfrm>
            <a:off x="9358793" y="3125236"/>
            <a:ext cx="2384819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(1) Format Reward</a:t>
            </a:r>
          </a:p>
        </p:txBody>
      </p:sp>
      <p:sp>
        <p:nvSpPr>
          <p:cNvPr id="370" name="path 368"/>
          <p:cNvSpPr/>
          <p:nvPr/>
        </p:nvSpPr>
        <p:spPr>
          <a:xfrm>
            <a:off x="7744968" y="3392424"/>
            <a:ext cx="91" cy="548640"/>
          </a:xfrm>
          <a:custGeom>
            <a:avLst/>
            <a:gdLst/>
            <a:ahLst/>
            <a:cxnLst/>
            <a:rect l="0" t="0" r="r" b="b"/>
            <a:pathLst>
              <a:path w="91" h="548640">
                <a:moveTo>
                  <a:pt x="0" y="0"/>
                </a:moveTo>
                <a:lnTo>
                  <a:pt x="0" y="54864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Extract"/>
          <p:cNvSpPr txBox="1"/>
          <p:nvPr/>
        </p:nvSpPr>
        <p:spPr>
          <a:xfrm>
            <a:off x="8032244" y="3338840"/>
            <a:ext cx="1003154" cy="4443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43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Extract</a:t>
            </a:r>
          </a:p>
        </p:txBody>
      </p:sp>
      <p:sp>
        <p:nvSpPr>
          <p:cNvPr id="372" name="Prediction"/>
          <p:cNvSpPr txBox="1"/>
          <p:nvPr/>
        </p:nvSpPr>
        <p:spPr>
          <a:xfrm>
            <a:off x="7900424" y="3605479"/>
            <a:ext cx="1266794" cy="4443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43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Prediction</a:t>
            </a:r>
          </a:p>
        </p:txBody>
      </p:sp>
      <p:sp>
        <p:nvSpPr>
          <p:cNvPr id="373" name="path 371"/>
          <p:cNvSpPr/>
          <p:nvPr/>
        </p:nvSpPr>
        <p:spPr>
          <a:xfrm>
            <a:off x="7580376" y="3959352"/>
            <a:ext cx="4443984" cy="91"/>
          </a:xfrm>
          <a:custGeom>
            <a:avLst/>
            <a:gdLst/>
            <a:ahLst/>
            <a:cxnLst/>
            <a:rect l="0" t="0" r="r" b="b"/>
            <a:pathLst>
              <a:path w="4443984" h="91">
                <a:moveTo>
                  <a:pt x="0" y="0"/>
                </a:moveTo>
                <a:lnTo>
                  <a:pt x="4443984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path 372"/>
          <p:cNvSpPr/>
          <p:nvPr/>
        </p:nvSpPr>
        <p:spPr>
          <a:xfrm>
            <a:off x="11887200" y="3888029"/>
            <a:ext cx="137160" cy="142646"/>
          </a:xfrm>
          <a:custGeom>
            <a:avLst/>
            <a:gdLst/>
            <a:ahLst/>
            <a:cxnLst/>
            <a:rect l="0" t="0" r="r" b="b"/>
            <a:pathLst>
              <a:path w="137160" h="142646">
                <a:moveTo>
                  <a:pt x="0" y="142646"/>
                </a:moveTo>
                <a:lnTo>
                  <a:pt x="137160" y="71323"/>
                </a:lnTo>
                <a:lnTo>
                  <a:pt x="0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(2) Accuracy Reward"/>
          <p:cNvSpPr txBox="1"/>
          <p:nvPr/>
        </p:nvSpPr>
        <p:spPr>
          <a:xfrm>
            <a:off x="9358793" y="3582436"/>
            <a:ext cx="2674534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(2) Accuracy Reward</a:t>
            </a:r>
          </a:p>
        </p:txBody>
      </p:sp>
      <p:sp>
        <p:nvSpPr>
          <p:cNvPr id="376" name="path 374"/>
          <p:cNvSpPr/>
          <p:nvPr/>
        </p:nvSpPr>
        <p:spPr>
          <a:xfrm>
            <a:off x="7580376" y="3959352"/>
            <a:ext cx="91" cy="493776"/>
          </a:xfrm>
          <a:custGeom>
            <a:avLst/>
            <a:gdLst/>
            <a:ahLst/>
            <a:cxnLst/>
            <a:rect l="0" t="0" r="r" b="b"/>
            <a:pathLst>
              <a:path w="91" h="493776">
                <a:moveTo>
                  <a:pt x="0" y="0"/>
                </a:moveTo>
                <a:lnTo>
                  <a:pt x="0" y="493776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path 375"/>
          <p:cNvSpPr/>
          <p:nvPr/>
        </p:nvSpPr>
        <p:spPr>
          <a:xfrm>
            <a:off x="7509053" y="4315968"/>
            <a:ext cx="142646" cy="137160"/>
          </a:xfrm>
          <a:custGeom>
            <a:avLst/>
            <a:gdLst/>
            <a:ahLst/>
            <a:cxnLst/>
            <a:rect l="0" t="0" r="r" b="b"/>
            <a:pathLst>
              <a:path w="142646" h="137160">
                <a:moveTo>
                  <a:pt x="0" y="0"/>
                </a:moveTo>
                <a:lnTo>
                  <a:pt x="71323" y="137160"/>
                </a:lnTo>
                <a:lnTo>
                  <a:pt x="142646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(3) Anomaly Verification Reward"/>
          <p:cNvSpPr txBox="1"/>
          <p:nvPr/>
        </p:nvSpPr>
        <p:spPr>
          <a:xfrm>
            <a:off x="7722017" y="4048780"/>
            <a:ext cx="4114607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(3) Anomaly Verification Reward</a:t>
            </a:r>
          </a:p>
        </p:txBody>
      </p:sp>
      <p:sp>
        <p:nvSpPr>
          <p:cNvPr id="379" name="rect 377"/>
          <p:cNvSpPr/>
          <p:nvPr/>
        </p:nvSpPr>
        <p:spPr>
          <a:xfrm>
            <a:off x="12170664" y="2532888"/>
            <a:ext cx="4764024" cy="822960"/>
          </a:xfrm>
          <a:prstGeom prst="roundRect">
            <a:avLst>
              <a:gd name="adj" fmla="val 21111"/>
            </a:avLst>
          </a:prstGeom>
          <a:solidFill>
            <a:srgbClr val="F9F9F9"/>
          </a:solidFill>
          <a:ln w="18288" cap="flat">
            <a:solidFill>
              <a:srgbClr val="D2D2D2"/>
            </a:solidFill>
            <a:round/>
            <a:custDash>
              <a:ds d="250000" sp="1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 378"/>
          <p:cNvSpPr/>
          <p:nvPr/>
        </p:nvSpPr>
        <p:spPr>
          <a:xfrm>
            <a:off x="12289536" y="2651760"/>
            <a:ext cx="2112264" cy="594360"/>
          </a:xfrm>
          <a:prstGeom prst="rect">
            <a:avLst/>
          </a:prstGeom>
          <a:solidFill>
            <a:srgbClr val="FBE4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&lt;think&gt;...&lt;/think&gt;"/>
          <p:cNvSpPr txBox="1"/>
          <p:nvPr/>
        </p:nvSpPr>
        <p:spPr>
          <a:xfrm>
            <a:off x="12437001" y="2638044"/>
            <a:ext cx="1821906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&lt;think&gt;...&lt;/think&gt;</a:t>
            </a:r>
          </a:p>
        </p:txBody>
      </p:sp>
      <p:sp>
        <p:nvSpPr>
          <p:cNvPr id="382" name="&lt;answer&gt;...&lt;/answer&gt;"/>
          <p:cNvSpPr txBox="1"/>
          <p:nvPr/>
        </p:nvSpPr>
        <p:spPr>
          <a:xfrm>
            <a:off x="12244584" y="2894076"/>
            <a:ext cx="22067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&lt;answer&gt;...&lt;/answer&gt;</a:t>
            </a:r>
          </a:p>
        </p:txBody>
      </p:sp>
      <p:sp>
        <p:nvSpPr>
          <p:cNvPr id="383" name="If satisfied:"/>
          <p:cNvSpPr txBox="1"/>
          <p:nvPr/>
        </p:nvSpPr>
        <p:spPr>
          <a:xfrm>
            <a:off x="14515109" y="2584407"/>
            <a:ext cx="1377733" cy="3992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46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If satisfied:</a:t>
            </a:r>
          </a:p>
        </p:txBody>
      </p:sp>
      <p:grpSp>
        <p:nvGrpSpPr>
          <p:cNvPr id="907" name="reward-symbol-382"/>
          <p:cNvGrpSpPr/>
          <p:nvPr/>
        </p:nvGrpSpPr>
        <p:grpSpPr>
          <a:xfrm>
            <a:off x="15937992" y="2592390"/>
            <a:ext cx="292608" cy="410822"/>
            <a:chOff x="15937992" y="2592390"/>
            <a:chExt cx="292608" cy="410822"/>
          </a:xfrm>
        </p:grpSpPr>
        <p:sp>
          <p:nvSpPr>
            <p:cNvPr id="384" name="R symbol"/>
            <p:cNvSpPr/>
            <p:nvPr/>
          </p:nvSpPr>
          <p:spPr>
            <a:xfrm>
              <a:off x="15937992" y="2606040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CCE2B8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R"/>
            <p:cNvSpPr txBox="1"/>
            <p:nvPr/>
          </p:nvSpPr>
          <p:spPr>
            <a:xfrm>
              <a:off x="15967762" y="2592390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386" name="== 1"/>
          <p:cNvSpPr txBox="1"/>
          <p:nvPr/>
        </p:nvSpPr>
        <p:spPr>
          <a:xfrm>
            <a:off x="16293419" y="2589032"/>
            <a:ext cx="535667" cy="4443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43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== 1</a:t>
            </a:r>
          </a:p>
        </p:txBody>
      </p:sp>
      <p:sp>
        <p:nvSpPr>
          <p:cNvPr id="387" name="Else:"/>
          <p:cNvSpPr txBox="1"/>
          <p:nvPr/>
        </p:nvSpPr>
        <p:spPr>
          <a:xfrm>
            <a:off x="14868693" y="2938150"/>
            <a:ext cx="625735" cy="4279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2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Else:</a:t>
            </a:r>
          </a:p>
        </p:txBody>
      </p:sp>
      <p:grpSp>
        <p:nvGrpSpPr>
          <p:cNvPr id="908" name="reward-symbol-386"/>
          <p:cNvGrpSpPr/>
          <p:nvPr/>
        </p:nvGrpSpPr>
        <p:grpSpPr>
          <a:xfrm>
            <a:off x="15553944" y="2949006"/>
            <a:ext cx="292608" cy="410822"/>
            <a:chOff x="15553944" y="2949006"/>
            <a:chExt cx="292608" cy="410822"/>
          </a:xfrm>
        </p:grpSpPr>
        <p:sp>
          <p:nvSpPr>
            <p:cNvPr id="388" name="R symbol"/>
            <p:cNvSpPr/>
            <p:nvPr/>
          </p:nvSpPr>
          <p:spPr>
            <a:xfrm>
              <a:off x="15553944" y="2962656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CCE2B8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R"/>
            <p:cNvSpPr txBox="1"/>
            <p:nvPr/>
          </p:nvSpPr>
          <p:spPr>
            <a:xfrm>
              <a:off x="15583714" y="2949006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390" name="== 0"/>
          <p:cNvSpPr txBox="1"/>
          <p:nvPr/>
        </p:nvSpPr>
        <p:spPr>
          <a:xfrm>
            <a:off x="15891083" y="2954792"/>
            <a:ext cx="575208" cy="4443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43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== 0</a:t>
            </a:r>
          </a:p>
        </p:txBody>
      </p:sp>
      <p:sp>
        <p:nvSpPr>
          <p:cNvPr id="391" name="rect 389"/>
          <p:cNvSpPr/>
          <p:nvPr/>
        </p:nvSpPr>
        <p:spPr>
          <a:xfrm>
            <a:off x="12170664" y="3465576"/>
            <a:ext cx="4764024" cy="768096"/>
          </a:xfrm>
          <a:prstGeom prst="roundRect">
            <a:avLst>
              <a:gd name="adj" fmla="val 21428"/>
            </a:avLst>
          </a:prstGeom>
          <a:solidFill>
            <a:srgbClr val="F9F9F9"/>
          </a:solidFill>
          <a:ln w="18288" cap="flat">
            <a:solidFill>
              <a:srgbClr val="D2D2D2"/>
            </a:solidFill>
            <a:round/>
            <a:custDash>
              <a:ds d="250000" sp="1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ect 390"/>
          <p:cNvSpPr/>
          <p:nvPr/>
        </p:nvSpPr>
        <p:spPr>
          <a:xfrm>
            <a:off x="12280392" y="3666744"/>
            <a:ext cx="1170432" cy="338328"/>
          </a:xfrm>
          <a:prstGeom prst="roundRect">
            <a:avLst>
              <a:gd name="adj" fmla="val 21621"/>
            </a:avLst>
          </a:prstGeom>
          <a:solidFill>
            <a:srgbClr val="FFE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Prediction"/>
          <p:cNvSpPr txBox="1"/>
          <p:nvPr/>
        </p:nvSpPr>
        <p:spPr>
          <a:xfrm>
            <a:off x="12310110" y="3698748"/>
            <a:ext cx="117296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Prediction</a:t>
            </a:r>
          </a:p>
        </p:txBody>
      </p:sp>
      <p:sp>
        <p:nvSpPr>
          <p:cNvPr id="394" name="v.s."/>
          <p:cNvSpPr txBox="1"/>
          <p:nvPr/>
        </p:nvSpPr>
        <p:spPr>
          <a:xfrm>
            <a:off x="13484474" y="3675522"/>
            <a:ext cx="479103" cy="460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6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v.s.</a:t>
            </a:r>
          </a:p>
        </p:txBody>
      </p:sp>
      <p:sp>
        <p:nvSpPr>
          <p:cNvPr id="395" name="rect 393"/>
          <p:cNvSpPr/>
          <p:nvPr/>
        </p:nvSpPr>
        <p:spPr>
          <a:xfrm>
            <a:off x="13944600" y="3657600"/>
            <a:ext cx="676656" cy="347472"/>
          </a:xfrm>
          <a:prstGeom prst="roundRect">
            <a:avLst>
              <a:gd name="adj" fmla="val 18421"/>
            </a:avLst>
          </a:prstGeom>
          <a:solidFill>
            <a:srgbClr val="B8D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Label"/>
          <p:cNvSpPr txBox="1"/>
          <p:nvPr/>
        </p:nvSpPr>
        <p:spPr>
          <a:xfrm>
            <a:off x="13965174" y="3689604"/>
            <a:ext cx="657796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Label</a:t>
            </a:r>
          </a:p>
        </p:txBody>
      </p:sp>
      <p:sp>
        <p:nvSpPr>
          <p:cNvPr id="397" name="If same:"/>
          <p:cNvSpPr txBox="1"/>
          <p:nvPr/>
        </p:nvSpPr>
        <p:spPr>
          <a:xfrm>
            <a:off x="14786397" y="3495934"/>
            <a:ext cx="1040287" cy="4279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2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If same:</a:t>
            </a:r>
          </a:p>
        </p:txBody>
      </p:sp>
      <p:grpSp>
        <p:nvGrpSpPr>
          <p:cNvPr id="909" name="reward-symbol-396"/>
          <p:cNvGrpSpPr/>
          <p:nvPr/>
        </p:nvGrpSpPr>
        <p:grpSpPr>
          <a:xfrm>
            <a:off x="15919704" y="3515934"/>
            <a:ext cx="292608" cy="410822"/>
            <a:chOff x="15919704" y="3515934"/>
            <a:chExt cx="292608" cy="410822"/>
          </a:xfrm>
        </p:grpSpPr>
        <p:sp>
          <p:nvSpPr>
            <p:cNvPr id="398" name="R symbol"/>
            <p:cNvSpPr/>
            <p:nvPr/>
          </p:nvSpPr>
          <p:spPr>
            <a:xfrm>
              <a:off x="15919704" y="3529584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7DBC10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R"/>
            <p:cNvSpPr txBox="1"/>
            <p:nvPr/>
          </p:nvSpPr>
          <p:spPr>
            <a:xfrm>
              <a:off x="15949474" y="3515934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400" name="== 1"/>
          <p:cNvSpPr txBox="1"/>
          <p:nvPr/>
        </p:nvSpPr>
        <p:spPr>
          <a:xfrm>
            <a:off x="16275131" y="3512576"/>
            <a:ext cx="535667" cy="4443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43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== 1</a:t>
            </a:r>
          </a:p>
        </p:txBody>
      </p:sp>
      <p:sp>
        <p:nvSpPr>
          <p:cNvPr id="401" name="Else:"/>
          <p:cNvSpPr txBox="1"/>
          <p:nvPr/>
        </p:nvSpPr>
        <p:spPr>
          <a:xfrm>
            <a:off x="14978421" y="3870838"/>
            <a:ext cx="625735" cy="4279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2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Else:</a:t>
            </a:r>
          </a:p>
        </p:txBody>
      </p:sp>
      <p:grpSp>
        <p:nvGrpSpPr>
          <p:cNvPr id="910" name="reward-symbol-400"/>
          <p:cNvGrpSpPr/>
          <p:nvPr/>
        </p:nvGrpSpPr>
        <p:grpSpPr>
          <a:xfrm>
            <a:off x="15663672" y="3881694"/>
            <a:ext cx="292608" cy="410822"/>
            <a:chOff x="15663672" y="3881694"/>
            <a:chExt cx="292608" cy="410822"/>
          </a:xfrm>
        </p:grpSpPr>
        <p:sp>
          <p:nvSpPr>
            <p:cNvPr id="402" name="R symbol"/>
            <p:cNvSpPr/>
            <p:nvPr/>
          </p:nvSpPr>
          <p:spPr>
            <a:xfrm>
              <a:off x="15663672" y="3895344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7DBC10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R"/>
            <p:cNvSpPr txBox="1"/>
            <p:nvPr/>
          </p:nvSpPr>
          <p:spPr>
            <a:xfrm>
              <a:off x="15693442" y="3881694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404" name="== 0"/>
          <p:cNvSpPr txBox="1"/>
          <p:nvPr/>
        </p:nvSpPr>
        <p:spPr>
          <a:xfrm>
            <a:off x="16009955" y="3887480"/>
            <a:ext cx="575208" cy="4443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43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== 0</a:t>
            </a:r>
          </a:p>
        </p:txBody>
      </p:sp>
      <p:sp>
        <p:nvSpPr>
          <p:cNvPr id="405" name="rect 403"/>
          <p:cNvSpPr/>
          <p:nvPr/>
        </p:nvSpPr>
        <p:spPr>
          <a:xfrm>
            <a:off x="7443216" y="4507992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FFE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Prediction"/>
          <p:cNvSpPr txBox="1"/>
          <p:nvPr/>
        </p:nvSpPr>
        <p:spPr>
          <a:xfrm>
            <a:off x="7463790" y="4549140"/>
            <a:ext cx="117296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Prediction</a:t>
            </a:r>
          </a:p>
        </p:txBody>
      </p:sp>
      <p:sp>
        <p:nvSpPr>
          <p:cNvPr id="407" name="path 405"/>
          <p:cNvSpPr/>
          <p:nvPr/>
        </p:nvSpPr>
        <p:spPr>
          <a:xfrm>
            <a:off x="7589520" y="4901184"/>
            <a:ext cx="1399032" cy="137160"/>
          </a:xfrm>
          <a:custGeom>
            <a:avLst/>
            <a:gdLst/>
            <a:ahLst/>
            <a:cxnLst/>
            <a:rect l="0" t="0" r="r" b="b"/>
            <a:pathLst>
              <a:path w="1399032" h="137160">
                <a:moveTo>
                  <a:pt x="0" y="0"/>
                </a:moveTo>
                <a:lnTo>
                  <a:pt x="0" y="137160"/>
                </a:lnTo>
                <a:lnTo>
                  <a:pt x="1399032" y="137160"/>
                </a:lnTo>
              </a:path>
            </a:pathLst>
          </a:custGeom>
          <a:noFill/>
          <a:ln w="4114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path 406"/>
          <p:cNvSpPr/>
          <p:nvPr/>
        </p:nvSpPr>
        <p:spPr>
          <a:xfrm>
            <a:off x="8851392" y="4967021"/>
            <a:ext cx="137160" cy="142646"/>
          </a:xfrm>
          <a:custGeom>
            <a:avLst/>
            <a:gdLst/>
            <a:ahLst/>
            <a:cxnLst/>
            <a:rect l="0" t="0" r="r" b="b"/>
            <a:pathLst>
              <a:path w="137160" h="142646">
                <a:moveTo>
                  <a:pt x="0" y="142646"/>
                </a:moveTo>
                <a:lnTo>
                  <a:pt x="137160" y="71323"/>
                </a:lnTo>
                <a:lnTo>
                  <a:pt x="0" y="0"/>
                </a:lnTo>
              </a:path>
            </a:pathLst>
          </a:custGeom>
          <a:noFill/>
          <a:ln w="4114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path 407"/>
          <p:cNvSpPr/>
          <p:nvPr/>
        </p:nvSpPr>
        <p:spPr>
          <a:xfrm>
            <a:off x="7589520" y="5038344"/>
            <a:ext cx="1152144" cy="1216152"/>
          </a:xfrm>
          <a:custGeom>
            <a:avLst/>
            <a:gdLst/>
            <a:ahLst/>
            <a:cxnLst/>
            <a:rect l="0" t="0" r="r" b="b"/>
            <a:pathLst>
              <a:path w="1152144" h="1216152">
                <a:moveTo>
                  <a:pt x="0" y="0"/>
                </a:moveTo>
                <a:lnTo>
                  <a:pt x="0" y="1216152"/>
                </a:lnTo>
                <a:lnTo>
                  <a:pt x="1152144" y="1216152"/>
                </a:lnTo>
              </a:path>
            </a:pathLst>
          </a:custGeom>
          <a:noFill/>
          <a:ln w="4114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path 408"/>
          <p:cNvSpPr/>
          <p:nvPr/>
        </p:nvSpPr>
        <p:spPr>
          <a:xfrm>
            <a:off x="8604504" y="6183173"/>
            <a:ext cx="137160" cy="142646"/>
          </a:xfrm>
          <a:custGeom>
            <a:avLst/>
            <a:gdLst/>
            <a:ahLst/>
            <a:cxnLst/>
            <a:rect l="0" t="0" r="r" b="b"/>
            <a:pathLst>
              <a:path w="137160" h="142646">
                <a:moveTo>
                  <a:pt x="0" y="142646"/>
                </a:moveTo>
                <a:lnTo>
                  <a:pt x="137160" y="71323"/>
                </a:lnTo>
                <a:lnTo>
                  <a:pt x="0" y="0"/>
                </a:lnTo>
              </a:path>
            </a:pathLst>
          </a:custGeom>
          <a:noFill/>
          <a:ln w="4114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11" name="label-409"/>
          <p:cNvGrpSpPr/>
          <p:nvPr/>
        </p:nvGrpSpPr>
        <p:grpSpPr>
          <a:xfrm>
            <a:off x="7662672" y="5148072"/>
            <a:ext cx="1152144" cy="435437"/>
            <a:chOff x="7662672" y="5148072"/>
            <a:chExt cx="1152144" cy="435437"/>
          </a:xfrm>
        </p:grpSpPr>
        <p:sp>
          <p:nvSpPr>
            <p:cNvPr id="411" name="rect 409"/>
            <p:cNvSpPr/>
            <p:nvPr/>
          </p:nvSpPr>
          <p:spPr>
            <a:xfrm>
              <a:off x="7662672" y="5148072"/>
              <a:ext cx="1152144" cy="356616"/>
            </a:xfrm>
            <a:prstGeom prst="roundRect">
              <a:avLst>
                <a:gd name="adj" fmla="val 50000"/>
              </a:avLst>
            </a:prstGeom>
            <a:solidFill>
              <a:srgbClr val="FF9C9C"/>
            </a:solidFill>
            <a:ln w="18288" cap="rnd">
              <a:solidFill>
                <a:srgbClr val="FF000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Abnormal"/>
            <p:cNvSpPr txBox="1"/>
            <p:nvPr/>
          </p:nvSpPr>
          <p:spPr>
            <a:xfrm>
              <a:off x="7668507" y="5155570"/>
              <a:ext cx="1145229" cy="4279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72" b="0">
                  <a:solidFill>
                    <a:srgbClr val="F00000"/>
                  </a:solidFill>
                  <a:latin typeface="Comic Sans MS"/>
                  <a:ea typeface="Comic Sans MS"/>
                  <a:cs typeface="Comic Sans MS"/>
                </a:rPr>
                <a:t>Abnormal</a:t>
              </a:r>
            </a:p>
          </p:txBody>
        </p:sp>
      </p:grpSp>
      <p:sp>
        <p:nvSpPr>
          <p:cNvPr id="413" name="or"/>
          <p:cNvSpPr txBox="1"/>
          <p:nvPr/>
        </p:nvSpPr>
        <p:spPr>
          <a:xfrm>
            <a:off x="8078633" y="5648980"/>
            <a:ext cx="372925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grpSp>
        <p:nvGrpSpPr>
          <p:cNvPr id="912" name="label-412"/>
          <p:cNvGrpSpPr/>
          <p:nvPr/>
        </p:nvGrpSpPr>
        <p:grpSpPr>
          <a:xfrm>
            <a:off x="7598664" y="6345936"/>
            <a:ext cx="1152144" cy="445678"/>
            <a:chOff x="7598664" y="6345936"/>
            <a:chExt cx="1152144" cy="445678"/>
          </a:xfrm>
        </p:grpSpPr>
        <p:sp>
          <p:nvSpPr>
            <p:cNvPr id="414" name="rect 412"/>
            <p:cNvSpPr/>
            <p:nvPr/>
          </p:nvSpPr>
          <p:spPr>
            <a:xfrm>
              <a:off x="7598664" y="6345936"/>
              <a:ext cx="1152144" cy="356616"/>
            </a:xfrm>
            <a:prstGeom prst="roundRect">
              <a:avLst>
                <a:gd name="adj" fmla="val 50000"/>
              </a:avLst>
            </a:prstGeom>
            <a:solidFill>
              <a:srgbClr val="E4F0D8"/>
            </a:solidFill>
            <a:ln w="18288" cap="rnd">
              <a:solidFill>
                <a:srgbClr val="3A602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5" name="Normal"/>
            <p:cNvSpPr txBox="1"/>
            <p:nvPr/>
          </p:nvSpPr>
          <p:spPr>
            <a:xfrm>
              <a:off x="7712347" y="6347216"/>
              <a:ext cx="929716" cy="44439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943" b="0">
                  <a:solidFill>
                    <a:srgbClr val="006700"/>
                  </a:solidFill>
                  <a:latin typeface="Comic Sans MS"/>
                  <a:ea typeface="Comic Sans MS"/>
                  <a:cs typeface="Comic Sans MS"/>
                </a:rPr>
                <a:t>Normal</a:t>
              </a:r>
            </a:p>
          </p:txBody>
        </p:sp>
      </p:grpSp>
      <p:sp>
        <p:nvSpPr>
          <p:cNvPr id="416" name="rect 414"/>
          <p:cNvSpPr/>
          <p:nvPr/>
        </p:nvSpPr>
        <p:spPr>
          <a:xfrm>
            <a:off x="9116568" y="4471416"/>
            <a:ext cx="2980944" cy="1216152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18288" cap="rnd">
            <a:solidFill>
              <a:srgbClr val="333333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13" name="video-filmstrip-415"/>
          <p:cNvGrpSpPr/>
          <p:nvPr/>
        </p:nvGrpSpPr>
        <p:grpSpPr>
          <a:xfrm>
            <a:off x="9235440" y="4544568"/>
            <a:ext cx="2752344" cy="539496"/>
            <a:chOff x="9235440" y="4544568"/>
            <a:chExt cx="2752344" cy="539496"/>
          </a:xfrm>
        </p:grpSpPr>
        <p:sp>
          <p:nvSpPr>
            <p:cNvPr id="417" name="rect 415"/>
            <p:cNvSpPr/>
            <p:nvPr/>
          </p:nvSpPr>
          <p:spPr>
            <a:xfrm>
              <a:off x="9235440" y="4544568"/>
              <a:ext cx="2752344" cy="539496"/>
            </a:xfrm>
            <a:prstGeom prst="rect">
              <a:avLst/>
            </a:prstGeom>
            <a:solidFill>
              <a:srgbClr val="05050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 416"/>
            <p:cNvSpPr/>
            <p:nvPr/>
          </p:nvSpPr>
          <p:spPr>
            <a:xfrm>
              <a:off x="9262872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 417"/>
            <p:cNvSpPr/>
            <p:nvPr/>
          </p:nvSpPr>
          <p:spPr>
            <a:xfrm>
              <a:off x="9262872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0" name="rect 418"/>
            <p:cNvSpPr/>
            <p:nvPr/>
          </p:nvSpPr>
          <p:spPr>
            <a:xfrm>
              <a:off x="9352483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1" name="rect 419"/>
            <p:cNvSpPr/>
            <p:nvPr/>
          </p:nvSpPr>
          <p:spPr>
            <a:xfrm>
              <a:off x="9352483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rect 420"/>
            <p:cNvSpPr/>
            <p:nvPr/>
          </p:nvSpPr>
          <p:spPr>
            <a:xfrm>
              <a:off x="9442094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 421"/>
            <p:cNvSpPr/>
            <p:nvPr/>
          </p:nvSpPr>
          <p:spPr>
            <a:xfrm>
              <a:off x="9442094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 422"/>
            <p:cNvSpPr/>
            <p:nvPr/>
          </p:nvSpPr>
          <p:spPr>
            <a:xfrm>
              <a:off x="9531706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5" name="rect 423"/>
            <p:cNvSpPr/>
            <p:nvPr/>
          </p:nvSpPr>
          <p:spPr>
            <a:xfrm>
              <a:off x="9531706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6" name="rect 424"/>
            <p:cNvSpPr/>
            <p:nvPr/>
          </p:nvSpPr>
          <p:spPr>
            <a:xfrm>
              <a:off x="9621317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rect 425"/>
            <p:cNvSpPr/>
            <p:nvPr/>
          </p:nvSpPr>
          <p:spPr>
            <a:xfrm>
              <a:off x="9621317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 426"/>
            <p:cNvSpPr/>
            <p:nvPr/>
          </p:nvSpPr>
          <p:spPr>
            <a:xfrm>
              <a:off x="9710928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 427"/>
            <p:cNvSpPr/>
            <p:nvPr/>
          </p:nvSpPr>
          <p:spPr>
            <a:xfrm>
              <a:off x="9710928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0" name="rect 428"/>
            <p:cNvSpPr/>
            <p:nvPr/>
          </p:nvSpPr>
          <p:spPr>
            <a:xfrm>
              <a:off x="9800539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1" name="rect 429"/>
            <p:cNvSpPr/>
            <p:nvPr/>
          </p:nvSpPr>
          <p:spPr>
            <a:xfrm>
              <a:off x="9800539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rect 430"/>
            <p:cNvSpPr/>
            <p:nvPr/>
          </p:nvSpPr>
          <p:spPr>
            <a:xfrm>
              <a:off x="9890150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 431"/>
            <p:cNvSpPr/>
            <p:nvPr/>
          </p:nvSpPr>
          <p:spPr>
            <a:xfrm>
              <a:off x="9890150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 432"/>
            <p:cNvSpPr/>
            <p:nvPr/>
          </p:nvSpPr>
          <p:spPr>
            <a:xfrm>
              <a:off x="9979762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5" name="rect 433"/>
            <p:cNvSpPr/>
            <p:nvPr/>
          </p:nvSpPr>
          <p:spPr>
            <a:xfrm>
              <a:off x="9979762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6" name="rect 434"/>
            <p:cNvSpPr/>
            <p:nvPr/>
          </p:nvSpPr>
          <p:spPr>
            <a:xfrm>
              <a:off x="10069373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rect 435"/>
            <p:cNvSpPr/>
            <p:nvPr/>
          </p:nvSpPr>
          <p:spPr>
            <a:xfrm>
              <a:off x="10069373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 436"/>
            <p:cNvSpPr/>
            <p:nvPr/>
          </p:nvSpPr>
          <p:spPr>
            <a:xfrm>
              <a:off x="10158984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 437"/>
            <p:cNvSpPr/>
            <p:nvPr/>
          </p:nvSpPr>
          <p:spPr>
            <a:xfrm>
              <a:off x="10158984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0" name="rect 438"/>
            <p:cNvSpPr/>
            <p:nvPr/>
          </p:nvSpPr>
          <p:spPr>
            <a:xfrm>
              <a:off x="10248595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1" name="rect 439"/>
            <p:cNvSpPr/>
            <p:nvPr/>
          </p:nvSpPr>
          <p:spPr>
            <a:xfrm>
              <a:off x="10248595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rect 440"/>
            <p:cNvSpPr/>
            <p:nvPr/>
          </p:nvSpPr>
          <p:spPr>
            <a:xfrm>
              <a:off x="10338206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 441"/>
            <p:cNvSpPr/>
            <p:nvPr/>
          </p:nvSpPr>
          <p:spPr>
            <a:xfrm>
              <a:off x="10338206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 442"/>
            <p:cNvSpPr/>
            <p:nvPr/>
          </p:nvSpPr>
          <p:spPr>
            <a:xfrm>
              <a:off x="10427818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rect 443"/>
            <p:cNvSpPr/>
            <p:nvPr/>
          </p:nvSpPr>
          <p:spPr>
            <a:xfrm>
              <a:off x="10427818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6" name="rect 444"/>
            <p:cNvSpPr/>
            <p:nvPr/>
          </p:nvSpPr>
          <p:spPr>
            <a:xfrm>
              <a:off x="10517429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rect 445"/>
            <p:cNvSpPr/>
            <p:nvPr/>
          </p:nvSpPr>
          <p:spPr>
            <a:xfrm>
              <a:off x="10517429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 446"/>
            <p:cNvSpPr/>
            <p:nvPr/>
          </p:nvSpPr>
          <p:spPr>
            <a:xfrm>
              <a:off x="10607040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 447"/>
            <p:cNvSpPr/>
            <p:nvPr/>
          </p:nvSpPr>
          <p:spPr>
            <a:xfrm>
              <a:off x="10607040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0" name="rect 448"/>
            <p:cNvSpPr/>
            <p:nvPr/>
          </p:nvSpPr>
          <p:spPr>
            <a:xfrm>
              <a:off x="10696651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1" name="rect 449"/>
            <p:cNvSpPr/>
            <p:nvPr/>
          </p:nvSpPr>
          <p:spPr>
            <a:xfrm>
              <a:off x="10696651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rect 450"/>
            <p:cNvSpPr/>
            <p:nvPr/>
          </p:nvSpPr>
          <p:spPr>
            <a:xfrm>
              <a:off x="10786262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 451"/>
            <p:cNvSpPr/>
            <p:nvPr/>
          </p:nvSpPr>
          <p:spPr>
            <a:xfrm>
              <a:off x="10786262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 452"/>
            <p:cNvSpPr/>
            <p:nvPr/>
          </p:nvSpPr>
          <p:spPr>
            <a:xfrm>
              <a:off x="10875874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rect 453"/>
            <p:cNvSpPr/>
            <p:nvPr/>
          </p:nvSpPr>
          <p:spPr>
            <a:xfrm>
              <a:off x="10875874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rect 454"/>
            <p:cNvSpPr/>
            <p:nvPr/>
          </p:nvSpPr>
          <p:spPr>
            <a:xfrm>
              <a:off x="10965485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rect 455"/>
            <p:cNvSpPr/>
            <p:nvPr/>
          </p:nvSpPr>
          <p:spPr>
            <a:xfrm>
              <a:off x="10965485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 456"/>
            <p:cNvSpPr/>
            <p:nvPr/>
          </p:nvSpPr>
          <p:spPr>
            <a:xfrm>
              <a:off x="11055096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 457"/>
            <p:cNvSpPr/>
            <p:nvPr/>
          </p:nvSpPr>
          <p:spPr>
            <a:xfrm>
              <a:off x="11055096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rect 458"/>
            <p:cNvSpPr/>
            <p:nvPr/>
          </p:nvSpPr>
          <p:spPr>
            <a:xfrm>
              <a:off x="11144707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rect 459"/>
            <p:cNvSpPr/>
            <p:nvPr/>
          </p:nvSpPr>
          <p:spPr>
            <a:xfrm>
              <a:off x="11144707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rect 460"/>
            <p:cNvSpPr/>
            <p:nvPr/>
          </p:nvSpPr>
          <p:spPr>
            <a:xfrm>
              <a:off x="11234318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 461"/>
            <p:cNvSpPr/>
            <p:nvPr/>
          </p:nvSpPr>
          <p:spPr>
            <a:xfrm>
              <a:off x="11234318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 462"/>
            <p:cNvSpPr/>
            <p:nvPr/>
          </p:nvSpPr>
          <p:spPr>
            <a:xfrm>
              <a:off x="11323930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rect 463"/>
            <p:cNvSpPr/>
            <p:nvPr/>
          </p:nvSpPr>
          <p:spPr>
            <a:xfrm>
              <a:off x="11323930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6" name="rect 464"/>
            <p:cNvSpPr/>
            <p:nvPr/>
          </p:nvSpPr>
          <p:spPr>
            <a:xfrm>
              <a:off x="11413541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rect 465"/>
            <p:cNvSpPr/>
            <p:nvPr/>
          </p:nvSpPr>
          <p:spPr>
            <a:xfrm>
              <a:off x="11413541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 466"/>
            <p:cNvSpPr/>
            <p:nvPr/>
          </p:nvSpPr>
          <p:spPr>
            <a:xfrm>
              <a:off x="11503152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 467"/>
            <p:cNvSpPr/>
            <p:nvPr/>
          </p:nvSpPr>
          <p:spPr>
            <a:xfrm>
              <a:off x="11503152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rect 468"/>
            <p:cNvSpPr/>
            <p:nvPr/>
          </p:nvSpPr>
          <p:spPr>
            <a:xfrm>
              <a:off x="11592763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rect 469"/>
            <p:cNvSpPr/>
            <p:nvPr/>
          </p:nvSpPr>
          <p:spPr>
            <a:xfrm>
              <a:off x="11592763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rect 470"/>
            <p:cNvSpPr/>
            <p:nvPr/>
          </p:nvSpPr>
          <p:spPr>
            <a:xfrm>
              <a:off x="11682374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 471"/>
            <p:cNvSpPr/>
            <p:nvPr/>
          </p:nvSpPr>
          <p:spPr>
            <a:xfrm>
              <a:off x="11682374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 472"/>
            <p:cNvSpPr/>
            <p:nvPr/>
          </p:nvSpPr>
          <p:spPr>
            <a:xfrm>
              <a:off x="11771986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rect 473"/>
            <p:cNvSpPr/>
            <p:nvPr/>
          </p:nvSpPr>
          <p:spPr>
            <a:xfrm>
              <a:off x="11771986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6" name="rect 474"/>
            <p:cNvSpPr/>
            <p:nvPr/>
          </p:nvSpPr>
          <p:spPr>
            <a:xfrm>
              <a:off x="11861597" y="4572000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rect 475"/>
            <p:cNvSpPr/>
            <p:nvPr/>
          </p:nvSpPr>
          <p:spPr>
            <a:xfrm>
              <a:off x="11861597" y="5010775"/>
              <a:ext cx="62366" cy="45857"/>
            </a:xfrm>
            <a:prstGeom prst="roundRect">
              <a:avLst>
                <a:gd name="adj" fmla="val 1994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78" name="Video frame" descr="fram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72016" y="4636145"/>
              <a:ext cx="506578" cy="356342"/>
            </a:xfrm>
            <a:prstGeom prst="rect">
              <a:avLst/>
            </a:prstGeom>
          </p:spPr>
        </p:pic>
        <p:pic>
          <p:nvPicPr>
            <p:cNvPr id="479" name="Video frame" descr="fram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06026" y="4636145"/>
              <a:ext cx="506578" cy="356342"/>
            </a:xfrm>
            <a:prstGeom prst="rect">
              <a:avLst/>
            </a:prstGeom>
          </p:spPr>
        </p:pic>
        <p:pic>
          <p:nvPicPr>
            <p:cNvPr id="480" name="Video frame" descr="fram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40035" y="4636145"/>
              <a:ext cx="506578" cy="356342"/>
            </a:xfrm>
            <a:prstGeom prst="rect">
              <a:avLst/>
            </a:prstGeom>
          </p:spPr>
        </p:pic>
        <p:sp>
          <p:nvSpPr>
            <p:cNvPr id="481" name="rect 479"/>
            <p:cNvSpPr/>
            <p:nvPr/>
          </p:nvSpPr>
          <p:spPr>
            <a:xfrm>
              <a:off x="10349179" y="4636145"/>
              <a:ext cx="488290" cy="356342"/>
            </a:xfrm>
            <a:prstGeom prst="rect">
              <a:avLst/>
            </a:prstGeom>
            <a:solidFill>
              <a:srgbClr val="FFFFFF"/>
            </a:solidFill>
            <a:ln w="38404" cap="rnd">
              <a:solidFill>
                <a:srgbClr val="FF000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82" name="Video frame" descr="frame4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74045" y="4636145"/>
              <a:ext cx="506578" cy="356342"/>
            </a:xfrm>
            <a:prstGeom prst="rect">
              <a:avLst/>
            </a:prstGeom>
          </p:spPr>
        </p:pic>
        <p:sp>
          <p:nvSpPr>
            <p:cNvPr id="483" name="rect 481"/>
            <p:cNvSpPr/>
            <p:nvPr/>
          </p:nvSpPr>
          <p:spPr>
            <a:xfrm>
              <a:off x="10883189" y="4636145"/>
              <a:ext cx="488290" cy="356342"/>
            </a:xfrm>
            <a:prstGeom prst="rect">
              <a:avLst/>
            </a:prstGeom>
            <a:solidFill>
              <a:srgbClr val="FFFFFF"/>
            </a:solidFill>
            <a:ln w="38404" cap="rnd">
              <a:solidFill>
                <a:srgbClr val="FF000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84" name="Video frame" descr="frame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08054" y="4636145"/>
              <a:ext cx="506578" cy="356342"/>
            </a:xfrm>
            <a:prstGeom prst="rect">
              <a:avLst/>
            </a:prstGeom>
          </p:spPr>
        </p:pic>
      </p:grpSp>
      <p:sp>
        <p:nvSpPr>
          <p:cNvPr id="485" name="Video with Abnormal"/>
          <p:cNvSpPr txBox="1"/>
          <p:nvPr/>
        </p:nvSpPr>
        <p:spPr>
          <a:xfrm>
            <a:off x="9422958" y="5105278"/>
            <a:ext cx="2382062" cy="4279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2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Video with Abnormal</a:t>
            </a:r>
          </a:p>
        </p:txBody>
      </p:sp>
      <p:sp>
        <p:nvSpPr>
          <p:cNvPr id="486" name="Segment Discarded"/>
          <p:cNvSpPr txBox="1"/>
          <p:nvPr/>
        </p:nvSpPr>
        <p:spPr>
          <a:xfrm>
            <a:off x="9483770" y="5366796"/>
            <a:ext cx="2260440" cy="4279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2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Segment Discarded</a:t>
            </a:r>
          </a:p>
        </p:txBody>
      </p:sp>
      <p:sp>
        <p:nvSpPr>
          <p:cNvPr id="487" name="rect 485"/>
          <p:cNvSpPr/>
          <p:nvPr/>
        </p:nvSpPr>
        <p:spPr>
          <a:xfrm>
            <a:off x="8887968" y="5852160"/>
            <a:ext cx="3364992" cy="96012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8288" cap="rnd">
            <a:solidFill>
              <a:srgbClr val="333333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14" name="video-filmstrip-486"/>
          <p:cNvGrpSpPr/>
          <p:nvPr/>
        </p:nvGrpSpPr>
        <p:grpSpPr>
          <a:xfrm>
            <a:off x="8961120" y="5934456"/>
            <a:ext cx="1380744" cy="274320"/>
            <a:chOff x="8961120" y="5934456"/>
            <a:chExt cx="1380744" cy="274320"/>
          </a:xfrm>
        </p:grpSpPr>
        <p:sp>
          <p:nvSpPr>
            <p:cNvPr id="488" name="rect 486"/>
            <p:cNvSpPr/>
            <p:nvPr/>
          </p:nvSpPr>
          <p:spPr>
            <a:xfrm>
              <a:off x="8961120" y="5934456"/>
              <a:ext cx="1380744" cy="274320"/>
            </a:xfrm>
            <a:prstGeom prst="rect">
              <a:avLst/>
            </a:prstGeom>
            <a:solidFill>
              <a:srgbClr val="05050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 487"/>
            <p:cNvSpPr/>
            <p:nvPr/>
          </p:nvSpPr>
          <p:spPr>
            <a:xfrm>
              <a:off x="8988552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0" name="rect 488"/>
            <p:cNvSpPr/>
            <p:nvPr/>
          </p:nvSpPr>
          <p:spPr>
            <a:xfrm>
              <a:off x="8988552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1" name="rect 489"/>
            <p:cNvSpPr/>
            <p:nvPr/>
          </p:nvSpPr>
          <p:spPr>
            <a:xfrm>
              <a:off x="9031027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2" name="rect 490"/>
            <p:cNvSpPr/>
            <p:nvPr/>
          </p:nvSpPr>
          <p:spPr>
            <a:xfrm>
              <a:off x="9031027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 491"/>
            <p:cNvSpPr/>
            <p:nvPr/>
          </p:nvSpPr>
          <p:spPr>
            <a:xfrm>
              <a:off x="9073503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 492"/>
            <p:cNvSpPr/>
            <p:nvPr/>
          </p:nvSpPr>
          <p:spPr>
            <a:xfrm>
              <a:off x="9073503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5" name="rect 493"/>
            <p:cNvSpPr/>
            <p:nvPr/>
          </p:nvSpPr>
          <p:spPr>
            <a:xfrm>
              <a:off x="9115978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6" name="rect 494"/>
            <p:cNvSpPr/>
            <p:nvPr/>
          </p:nvSpPr>
          <p:spPr>
            <a:xfrm>
              <a:off x="9115978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rect 495"/>
            <p:cNvSpPr/>
            <p:nvPr/>
          </p:nvSpPr>
          <p:spPr>
            <a:xfrm>
              <a:off x="9158453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 496"/>
            <p:cNvSpPr/>
            <p:nvPr/>
          </p:nvSpPr>
          <p:spPr>
            <a:xfrm>
              <a:off x="9158453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 497"/>
            <p:cNvSpPr/>
            <p:nvPr/>
          </p:nvSpPr>
          <p:spPr>
            <a:xfrm>
              <a:off x="9200929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0" name="rect 498"/>
            <p:cNvSpPr/>
            <p:nvPr/>
          </p:nvSpPr>
          <p:spPr>
            <a:xfrm>
              <a:off x="9200929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1" name="rect 499"/>
            <p:cNvSpPr/>
            <p:nvPr/>
          </p:nvSpPr>
          <p:spPr>
            <a:xfrm>
              <a:off x="9243404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rect 500"/>
            <p:cNvSpPr/>
            <p:nvPr/>
          </p:nvSpPr>
          <p:spPr>
            <a:xfrm>
              <a:off x="9243404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 501"/>
            <p:cNvSpPr/>
            <p:nvPr/>
          </p:nvSpPr>
          <p:spPr>
            <a:xfrm>
              <a:off x="9285879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 502"/>
            <p:cNvSpPr/>
            <p:nvPr/>
          </p:nvSpPr>
          <p:spPr>
            <a:xfrm>
              <a:off x="9285879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rect 503"/>
            <p:cNvSpPr/>
            <p:nvPr/>
          </p:nvSpPr>
          <p:spPr>
            <a:xfrm>
              <a:off x="9328355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rect 504"/>
            <p:cNvSpPr/>
            <p:nvPr/>
          </p:nvSpPr>
          <p:spPr>
            <a:xfrm>
              <a:off x="9328355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rect 505"/>
            <p:cNvSpPr/>
            <p:nvPr/>
          </p:nvSpPr>
          <p:spPr>
            <a:xfrm>
              <a:off x="9370830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 506"/>
            <p:cNvSpPr/>
            <p:nvPr/>
          </p:nvSpPr>
          <p:spPr>
            <a:xfrm>
              <a:off x="9370830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 507"/>
            <p:cNvSpPr/>
            <p:nvPr/>
          </p:nvSpPr>
          <p:spPr>
            <a:xfrm>
              <a:off x="9413306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rect 508"/>
            <p:cNvSpPr/>
            <p:nvPr/>
          </p:nvSpPr>
          <p:spPr>
            <a:xfrm>
              <a:off x="9413306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rect 509"/>
            <p:cNvSpPr/>
            <p:nvPr/>
          </p:nvSpPr>
          <p:spPr>
            <a:xfrm>
              <a:off x="9455781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rect 510"/>
            <p:cNvSpPr/>
            <p:nvPr/>
          </p:nvSpPr>
          <p:spPr>
            <a:xfrm>
              <a:off x="9455781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 511"/>
            <p:cNvSpPr/>
            <p:nvPr/>
          </p:nvSpPr>
          <p:spPr>
            <a:xfrm>
              <a:off x="9498256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 512"/>
            <p:cNvSpPr/>
            <p:nvPr/>
          </p:nvSpPr>
          <p:spPr>
            <a:xfrm>
              <a:off x="9498256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rect 513"/>
            <p:cNvSpPr/>
            <p:nvPr/>
          </p:nvSpPr>
          <p:spPr>
            <a:xfrm>
              <a:off x="9540732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6" name="rect 514"/>
            <p:cNvSpPr/>
            <p:nvPr/>
          </p:nvSpPr>
          <p:spPr>
            <a:xfrm>
              <a:off x="9540732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rect 515"/>
            <p:cNvSpPr/>
            <p:nvPr/>
          </p:nvSpPr>
          <p:spPr>
            <a:xfrm>
              <a:off x="9583207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 516"/>
            <p:cNvSpPr/>
            <p:nvPr/>
          </p:nvSpPr>
          <p:spPr>
            <a:xfrm>
              <a:off x="9583207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 517"/>
            <p:cNvSpPr/>
            <p:nvPr/>
          </p:nvSpPr>
          <p:spPr>
            <a:xfrm>
              <a:off x="9625682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0" name="rect 518"/>
            <p:cNvSpPr/>
            <p:nvPr/>
          </p:nvSpPr>
          <p:spPr>
            <a:xfrm>
              <a:off x="9625682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rect 519"/>
            <p:cNvSpPr/>
            <p:nvPr/>
          </p:nvSpPr>
          <p:spPr>
            <a:xfrm>
              <a:off x="9668158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rect 520"/>
            <p:cNvSpPr/>
            <p:nvPr/>
          </p:nvSpPr>
          <p:spPr>
            <a:xfrm>
              <a:off x="9668158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 521"/>
            <p:cNvSpPr/>
            <p:nvPr/>
          </p:nvSpPr>
          <p:spPr>
            <a:xfrm>
              <a:off x="9710633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 522"/>
            <p:cNvSpPr/>
            <p:nvPr/>
          </p:nvSpPr>
          <p:spPr>
            <a:xfrm>
              <a:off x="9710633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5" name="rect 523"/>
            <p:cNvSpPr/>
            <p:nvPr/>
          </p:nvSpPr>
          <p:spPr>
            <a:xfrm>
              <a:off x="9753108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6" name="rect 524"/>
            <p:cNvSpPr/>
            <p:nvPr/>
          </p:nvSpPr>
          <p:spPr>
            <a:xfrm>
              <a:off x="9753108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7" name="rect 525"/>
            <p:cNvSpPr/>
            <p:nvPr/>
          </p:nvSpPr>
          <p:spPr>
            <a:xfrm>
              <a:off x="9795584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 526"/>
            <p:cNvSpPr/>
            <p:nvPr/>
          </p:nvSpPr>
          <p:spPr>
            <a:xfrm>
              <a:off x="9795584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 527"/>
            <p:cNvSpPr/>
            <p:nvPr/>
          </p:nvSpPr>
          <p:spPr>
            <a:xfrm>
              <a:off x="9838059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0" name="rect 528"/>
            <p:cNvSpPr/>
            <p:nvPr/>
          </p:nvSpPr>
          <p:spPr>
            <a:xfrm>
              <a:off x="9838059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1" name="rect 529"/>
            <p:cNvSpPr/>
            <p:nvPr/>
          </p:nvSpPr>
          <p:spPr>
            <a:xfrm>
              <a:off x="9880534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rect 530"/>
            <p:cNvSpPr/>
            <p:nvPr/>
          </p:nvSpPr>
          <p:spPr>
            <a:xfrm>
              <a:off x="9880534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 531"/>
            <p:cNvSpPr/>
            <p:nvPr/>
          </p:nvSpPr>
          <p:spPr>
            <a:xfrm>
              <a:off x="9923010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 532"/>
            <p:cNvSpPr/>
            <p:nvPr/>
          </p:nvSpPr>
          <p:spPr>
            <a:xfrm>
              <a:off x="9923010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5" name="rect 533"/>
            <p:cNvSpPr/>
            <p:nvPr/>
          </p:nvSpPr>
          <p:spPr>
            <a:xfrm>
              <a:off x="9965485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6" name="rect 534"/>
            <p:cNvSpPr/>
            <p:nvPr/>
          </p:nvSpPr>
          <p:spPr>
            <a:xfrm>
              <a:off x="9965485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rect 535"/>
            <p:cNvSpPr/>
            <p:nvPr/>
          </p:nvSpPr>
          <p:spPr>
            <a:xfrm>
              <a:off x="10007961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 536"/>
            <p:cNvSpPr/>
            <p:nvPr/>
          </p:nvSpPr>
          <p:spPr>
            <a:xfrm>
              <a:off x="10007961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 537"/>
            <p:cNvSpPr/>
            <p:nvPr/>
          </p:nvSpPr>
          <p:spPr>
            <a:xfrm>
              <a:off x="10050436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0" name="rect 538"/>
            <p:cNvSpPr/>
            <p:nvPr/>
          </p:nvSpPr>
          <p:spPr>
            <a:xfrm>
              <a:off x="10050436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1" name="rect 539"/>
            <p:cNvSpPr/>
            <p:nvPr/>
          </p:nvSpPr>
          <p:spPr>
            <a:xfrm>
              <a:off x="10092911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rect 540"/>
            <p:cNvSpPr/>
            <p:nvPr/>
          </p:nvSpPr>
          <p:spPr>
            <a:xfrm>
              <a:off x="10092911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 541"/>
            <p:cNvSpPr/>
            <p:nvPr/>
          </p:nvSpPr>
          <p:spPr>
            <a:xfrm>
              <a:off x="10135387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 542"/>
            <p:cNvSpPr/>
            <p:nvPr/>
          </p:nvSpPr>
          <p:spPr>
            <a:xfrm>
              <a:off x="10135387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rect 543"/>
            <p:cNvSpPr/>
            <p:nvPr/>
          </p:nvSpPr>
          <p:spPr>
            <a:xfrm>
              <a:off x="10177862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rect 544"/>
            <p:cNvSpPr/>
            <p:nvPr/>
          </p:nvSpPr>
          <p:spPr>
            <a:xfrm>
              <a:off x="10177862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rect 545"/>
            <p:cNvSpPr/>
            <p:nvPr/>
          </p:nvSpPr>
          <p:spPr>
            <a:xfrm>
              <a:off x="10220337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 546"/>
            <p:cNvSpPr/>
            <p:nvPr/>
          </p:nvSpPr>
          <p:spPr>
            <a:xfrm>
              <a:off x="10220337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 547"/>
            <p:cNvSpPr/>
            <p:nvPr/>
          </p:nvSpPr>
          <p:spPr>
            <a:xfrm>
              <a:off x="10262813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rect 548"/>
            <p:cNvSpPr/>
            <p:nvPr/>
          </p:nvSpPr>
          <p:spPr>
            <a:xfrm>
              <a:off x="10262813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rect 549"/>
            <p:cNvSpPr/>
            <p:nvPr/>
          </p:nvSpPr>
          <p:spPr>
            <a:xfrm>
              <a:off x="8997696" y="5989320"/>
              <a:ext cx="232258" cy="164592"/>
            </a:xfrm>
            <a:prstGeom prst="rect">
              <a:avLst/>
            </a:prstGeom>
            <a:solidFill>
              <a:srgbClr val="FFFFFF"/>
            </a:solidFill>
            <a:ln w="731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52" name="Video frame" descr="fram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57386" y="5989320"/>
              <a:ext cx="232258" cy="164592"/>
            </a:xfrm>
            <a:prstGeom prst="rect">
              <a:avLst/>
            </a:prstGeom>
          </p:spPr>
        </p:pic>
        <p:pic>
          <p:nvPicPr>
            <p:cNvPr id="553" name="Video frame" descr="fram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17075" y="5989320"/>
              <a:ext cx="232258" cy="164592"/>
            </a:xfrm>
            <a:prstGeom prst="rect">
              <a:avLst/>
            </a:prstGeom>
          </p:spPr>
        </p:pic>
        <p:pic>
          <p:nvPicPr>
            <p:cNvPr id="554" name="Video frame" descr="frame4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76765" y="5989320"/>
              <a:ext cx="232258" cy="164592"/>
            </a:xfrm>
            <a:prstGeom prst="rect">
              <a:avLst/>
            </a:prstGeom>
          </p:spPr>
        </p:pic>
        <p:pic>
          <p:nvPicPr>
            <p:cNvPr id="555" name="Video frame" descr="frame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36454" y="5989320"/>
              <a:ext cx="232258" cy="164592"/>
            </a:xfrm>
            <a:prstGeom prst="rect">
              <a:avLst/>
            </a:prstGeom>
          </p:spPr>
        </p:pic>
      </p:grpSp>
      <p:sp>
        <p:nvSpPr>
          <p:cNvPr id="556" name="or"/>
          <p:cNvSpPr txBox="1"/>
          <p:nvPr/>
        </p:nvSpPr>
        <p:spPr>
          <a:xfrm>
            <a:off x="10384658" y="5897514"/>
            <a:ext cx="360088" cy="460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6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grpSp>
        <p:nvGrpSpPr>
          <p:cNvPr id="915" name="video-filmstrip-555"/>
          <p:cNvGrpSpPr/>
          <p:nvPr/>
        </p:nvGrpSpPr>
        <p:grpSpPr>
          <a:xfrm>
            <a:off x="10780776" y="5934456"/>
            <a:ext cx="1380744" cy="274320"/>
            <a:chOff x="10780776" y="5934456"/>
            <a:chExt cx="1380744" cy="274320"/>
          </a:xfrm>
        </p:grpSpPr>
        <p:sp>
          <p:nvSpPr>
            <p:cNvPr id="557" name="rect 555"/>
            <p:cNvSpPr/>
            <p:nvPr/>
          </p:nvSpPr>
          <p:spPr>
            <a:xfrm>
              <a:off x="10780776" y="5934456"/>
              <a:ext cx="1380744" cy="274320"/>
            </a:xfrm>
            <a:prstGeom prst="rect">
              <a:avLst/>
            </a:prstGeom>
            <a:solidFill>
              <a:srgbClr val="05050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 556"/>
            <p:cNvSpPr/>
            <p:nvPr/>
          </p:nvSpPr>
          <p:spPr>
            <a:xfrm>
              <a:off x="10808208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 557"/>
            <p:cNvSpPr/>
            <p:nvPr/>
          </p:nvSpPr>
          <p:spPr>
            <a:xfrm>
              <a:off x="10808208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0" name="rect 558"/>
            <p:cNvSpPr/>
            <p:nvPr/>
          </p:nvSpPr>
          <p:spPr>
            <a:xfrm>
              <a:off x="10850683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rect 559"/>
            <p:cNvSpPr/>
            <p:nvPr/>
          </p:nvSpPr>
          <p:spPr>
            <a:xfrm>
              <a:off x="10850683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rect 560"/>
            <p:cNvSpPr/>
            <p:nvPr/>
          </p:nvSpPr>
          <p:spPr>
            <a:xfrm>
              <a:off x="10893159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 561"/>
            <p:cNvSpPr/>
            <p:nvPr/>
          </p:nvSpPr>
          <p:spPr>
            <a:xfrm>
              <a:off x="10893159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rect 562"/>
            <p:cNvSpPr/>
            <p:nvPr/>
          </p:nvSpPr>
          <p:spPr>
            <a:xfrm>
              <a:off x="10935634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5" name="rect 563"/>
            <p:cNvSpPr/>
            <p:nvPr/>
          </p:nvSpPr>
          <p:spPr>
            <a:xfrm>
              <a:off x="10935634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6" name="rect 564"/>
            <p:cNvSpPr/>
            <p:nvPr/>
          </p:nvSpPr>
          <p:spPr>
            <a:xfrm>
              <a:off x="10978109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rect 565"/>
            <p:cNvSpPr/>
            <p:nvPr/>
          </p:nvSpPr>
          <p:spPr>
            <a:xfrm>
              <a:off x="10978109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 566"/>
            <p:cNvSpPr/>
            <p:nvPr/>
          </p:nvSpPr>
          <p:spPr>
            <a:xfrm>
              <a:off x="11020585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 567"/>
            <p:cNvSpPr/>
            <p:nvPr/>
          </p:nvSpPr>
          <p:spPr>
            <a:xfrm>
              <a:off x="11020585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0" name="rect 568"/>
            <p:cNvSpPr/>
            <p:nvPr/>
          </p:nvSpPr>
          <p:spPr>
            <a:xfrm>
              <a:off x="11063060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rect 569"/>
            <p:cNvSpPr/>
            <p:nvPr/>
          </p:nvSpPr>
          <p:spPr>
            <a:xfrm>
              <a:off x="11063060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2" name="rect 570"/>
            <p:cNvSpPr/>
            <p:nvPr/>
          </p:nvSpPr>
          <p:spPr>
            <a:xfrm>
              <a:off x="11105535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 571"/>
            <p:cNvSpPr/>
            <p:nvPr/>
          </p:nvSpPr>
          <p:spPr>
            <a:xfrm>
              <a:off x="11105535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 572"/>
            <p:cNvSpPr/>
            <p:nvPr/>
          </p:nvSpPr>
          <p:spPr>
            <a:xfrm>
              <a:off x="11148011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5" name="rect 573"/>
            <p:cNvSpPr/>
            <p:nvPr/>
          </p:nvSpPr>
          <p:spPr>
            <a:xfrm>
              <a:off x="11148011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6" name="rect 574"/>
            <p:cNvSpPr/>
            <p:nvPr/>
          </p:nvSpPr>
          <p:spPr>
            <a:xfrm>
              <a:off x="11190486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7" name="rect 575"/>
            <p:cNvSpPr/>
            <p:nvPr/>
          </p:nvSpPr>
          <p:spPr>
            <a:xfrm>
              <a:off x="11190486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 576"/>
            <p:cNvSpPr/>
            <p:nvPr/>
          </p:nvSpPr>
          <p:spPr>
            <a:xfrm>
              <a:off x="11232962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 577"/>
            <p:cNvSpPr/>
            <p:nvPr/>
          </p:nvSpPr>
          <p:spPr>
            <a:xfrm>
              <a:off x="11232962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0" name="rect 578"/>
            <p:cNvSpPr/>
            <p:nvPr/>
          </p:nvSpPr>
          <p:spPr>
            <a:xfrm>
              <a:off x="11275437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1" name="rect 579"/>
            <p:cNvSpPr/>
            <p:nvPr/>
          </p:nvSpPr>
          <p:spPr>
            <a:xfrm>
              <a:off x="11275437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rect 580"/>
            <p:cNvSpPr/>
            <p:nvPr/>
          </p:nvSpPr>
          <p:spPr>
            <a:xfrm>
              <a:off x="11317912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 581"/>
            <p:cNvSpPr/>
            <p:nvPr/>
          </p:nvSpPr>
          <p:spPr>
            <a:xfrm>
              <a:off x="11317912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 582"/>
            <p:cNvSpPr/>
            <p:nvPr/>
          </p:nvSpPr>
          <p:spPr>
            <a:xfrm>
              <a:off x="11360388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5" name="rect 583"/>
            <p:cNvSpPr/>
            <p:nvPr/>
          </p:nvSpPr>
          <p:spPr>
            <a:xfrm>
              <a:off x="11360388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6" name="rect 584"/>
            <p:cNvSpPr/>
            <p:nvPr/>
          </p:nvSpPr>
          <p:spPr>
            <a:xfrm>
              <a:off x="11402863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rect 585"/>
            <p:cNvSpPr/>
            <p:nvPr/>
          </p:nvSpPr>
          <p:spPr>
            <a:xfrm>
              <a:off x="11402863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 586"/>
            <p:cNvSpPr/>
            <p:nvPr/>
          </p:nvSpPr>
          <p:spPr>
            <a:xfrm>
              <a:off x="11445338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 587"/>
            <p:cNvSpPr/>
            <p:nvPr/>
          </p:nvSpPr>
          <p:spPr>
            <a:xfrm>
              <a:off x="11445338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0" name="rect 588"/>
            <p:cNvSpPr/>
            <p:nvPr/>
          </p:nvSpPr>
          <p:spPr>
            <a:xfrm>
              <a:off x="11487814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1" name="rect 589"/>
            <p:cNvSpPr/>
            <p:nvPr/>
          </p:nvSpPr>
          <p:spPr>
            <a:xfrm>
              <a:off x="11487814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rect 590"/>
            <p:cNvSpPr/>
            <p:nvPr/>
          </p:nvSpPr>
          <p:spPr>
            <a:xfrm>
              <a:off x="11530289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 591"/>
            <p:cNvSpPr/>
            <p:nvPr/>
          </p:nvSpPr>
          <p:spPr>
            <a:xfrm>
              <a:off x="11530289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 592"/>
            <p:cNvSpPr/>
            <p:nvPr/>
          </p:nvSpPr>
          <p:spPr>
            <a:xfrm>
              <a:off x="11572764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5" name="rect 593"/>
            <p:cNvSpPr/>
            <p:nvPr/>
          </p:nvSpPr>
          <p:spPr>
            <a:xfrm>
              <a:off x="11572764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6" name="rect 594"/>
            <p:cNvSpPr/>
            <p:nvPr/>
          </p:nvSpPr>
          <p:spPr>
            <a:xfrm>
              <a:off x="11615240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rect 595"/>
            <p:cNvSpPr/>
            <p:nvPr/>
          </p:nvSpPr>
          <p:spPr>
            <a:xfrm>
              <a:off x="11615240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 596"/>
            <p:cNvSpPr/>
            <p:nvPr/>
          </p:nvSpPr>
          <p:spPr>
            <a:xfrm>
              <a:off x="11657715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 597"/>
            <p:cNvSpPr/>
            <p:nvPr/>
          </p:nvSpPr>
          <p:spPr>
            <a:xfrm>
              <a:off x="11657715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0" name="rect 598"/>
            <p:cNvSpPr/>
            <p:nvPr/>
          </p:nvSpPr>
          <p:spPr>
            <a:xfrm>
              <a:off x="11700190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1" name="rect 599"/>
            <p:cNvSpPr/>
            <p:nvPr/>
          </p:nvSpPr>
          <p:spPr>
            <a:xfrm>
              <a:off x="11700190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2" name="rect 600"/>
            <p:cNvSpPr/>
            <p:nvPr/>
          </p:nvSpPr>
          <p:spPr>
            <a:xfrm>
              <a:off x="11742666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 601"/>
            <p:cNvSpPr/>
            <p:nvPr/>
          </p:nvSpPr>
          <p:spPr>
            <a:xfrm>
              <a:off x="11742666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 602"/>
            <p:cNvSpPr/>
            <p:nvPr/>
          </p:nvSpPr>
          <p:spPr>
            <a:xfrm>
              <a:off x="11785141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5" name="rect 603"/>
            <p:cNvSpPr/>
            <p:nvPr/>
          </p:nvSpPr>
          <p:spPr>
            <a:xfrm>
              <a:off x="11785141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6" name="rect 604"/>
            <p:cNvSpPr/>
            <p:nvPr/>
          </p:nvSpPr>
          <p:spPr>
            <a:xfrm>
              <a:off x="11827617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7" name="rect 605"/>
            <p:cNvSpPr/>
            <p:nvPr/>
          </p:nvSpPr>
          <p:spPr>
            <a:xfrm>
              <a:off x="11827617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 606"/>
            <p:cNvSpPr/>
            <p:nvPr/>
          </p:nvSpPr>
          <p:spPr>
            <a:xfrm>
              <a:off x="11870092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 607"/>
            <p:cNvSpPr/>
            <p:nvPr/>
          </p:nvSpPr>
          <p:spPr>
            <a:xfrm>
              <a:off x="11870092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0" name="rect 608"/>
            <p:cNvSpPr/>
            <p:nvPr/>
          </p:nvSpPr>
          <p:spPr>
            <a:xfrm>
              <a:off x="11912567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1" name="rect 609"/>
            <p:cNvSpPr/>
            <p:nvPr/>
          </p:nvSpPr>
          <p:spPr>
            <a:xfrm>
              <a:off x="11912567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rect 610"/>
            <p:cNvSpPr/>
            <p:nvPr/>
          </p:nvSpPr>
          <p:spPr>
            <a:xfrm>
              <a:off x="11955043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 611"/>
            <p:cNvSpPr/>
            <p:nvPr/>
          </p:nvSpPr>
          <p:spPr>
            <a:xfrm>
              <a:off x="11955043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 612"/>
            <p:cNvSpPr/>
            <p:nvPr/>
          </p:nvSpPr>
          <p:spPr>
            <a:xfrm>
              <a:off x="11997518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5" name="rect 613"/>
            <p:cNvSpPr/>
            <p:nvPr/>
          </p:nvSpPr>
          <p:spPr>
            <a:xfrm>
              <a:off x="11997518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6" name="rect 614"/>
            <p:cNvSpPr/>
            <p:nvPr/>
          </p:nvSpPr>
          <p:spPr>
            <a:xfrm>
              <a:off x="12039993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7" name="rect 615"/>
            <p:cNvSpPr/>
            <p:nvPr/>
          </p:nvSpPr>
          <p:spPr>
            <a:xfrm>
              <a:off x="12039993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 616"/>
            <p:cNvSpPr/>
            <p:nvPr/>
          </p:nvSpPr>
          <p:spPr>
            <a:xfrm>
              <a:off x="12082469" y="5961888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 617"/>
            <p:cNvSpPr/>
            <p:nvPr/>
          </p:nvSpPr>
          <p:spPr>
            <a:xfrm>
              <a:off x="12082469" y="6153912"/>
              <a:ext cx="27936" cy="27432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20" name="Video frame" descr="fram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17352" y="5989320"/>
              <a:ext cx="232258" cy="164592"/>
            </a:xfrm>
            <a:prstGeom prst="rect">
              <a:avLst/>
            </a:prstGeom>
          </p:spPr>
        </p:pic>
        <p:pic>
          <p:nvPicPr>
            <p:cNvPr id="621" name="Video frame" descr="fram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77042" y="5989320"/>
              <a:ext cx="232258" cy="164592"/>
            </a:xfrm>
            <a:prstGeom prst="rect">
              <a:avLst/>
            </a:prstGeom>
          </p:spPr>
        </p:pic>
        <p:pic>
          <p:nvPicPr>
            <p:cNvPr id="622" name="Video frame" descr="fram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36731" y="5989320"/>
              <a:ext cx="232258" cy="164592"/>
            </a:xfrm>
            <a:prstGeom prst="rect">
              <a:avLst/>
            </a:prstGeom>
          </p:spPr>
        </p:pic>
        <p:sp>
          <p:nvSpPr>
            <p:cNvPr id="623" name="rect 621"/>
            <p:cNvSpPr/>
            <p:nvPr/>
          </p:nvSpPr>
          <p:spPr>
            <a:xfrm>
              <a:off x="11596421" y="5989320"/>
              <a:ext cx="232258" cy="164592"/>
            </a:xfrm>
            <a:prstGeom prst="rect">
              <a:avLst/>
            </a:prstGeom>
            <a:solidFill>
              <a:srgbClr val="FFFFFF"/>
            </a:solidFill>
            <a:ln w="731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 622"/>
            <p:cNvSpPr/>
            <p:nvPr/>
          </p:nvSpPr>
          <p:spPr>
            <a:xfrm>
              <a:off x="11856110" y="5989320"/>
              <a:ext cx="232258" cy="164592"/>
            </a:xfrm>
            <a:prstGeom prst="rect">
              <a:avLst/>
            </a:prstGeom>
            <a:solidFill>
              <a:srgbClr val="FFFFFF"/>
            </a:solidFill>
            <a:ln w="731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25" name="Video with Beginning or Ending"/>
          <p:cNvSpPr txBox="1"/>
          <p:nvPr/>
        </p:nvSpPr>
        <p:spPr>
          <a:xfrm>
            <a:off x="8898594" y="6222492"/>
            <a:ext cx="3348311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Video with Beginning or Ending</a:t>
            </a:r>
          </a:p>
        </p:txBody>
      </p:sp>
      <p:sp>
        <p:nvSpPr>
          <p:cNvPr id="626" name="Segment Discarded"/>
          <p:cNvSpPr txBox="1"/>
          <p:nvPr/>
        </p:nvSpPr>
        <p:spPr>
          <a:xfrm>
            <a:off x="9486025" y="6485382"/>
            <a:ext cx="217345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Segment Discarded</a:t>
            </a:r>
          </a:p>
        </p:txBody>
      </p:sp>
      <p:grpSp>
        <p:nvGrpSpPr>
          <p:cNvPr id="916" name="prompt-icon-625"/>
          <p:cNvGrpSpPr/>
          <p:nvPr/>
        </p:nvGrpSpPr>
        <p:grpSpPr>
          <a:xfrm>
            <a:off x="12638024" y="4377944"/>
            <a:ext cx="469392" cy="462280"/>
            <a:chOff x="12638024" y="4377944"/>
            <a:chExt cx="469392" cy="462280"/>
          </a:xfrm>
        </p:grpSpPr>
        <p:sp>
          <p:nvSpPr>
            <p:cNvPr id="627" name="rect 625"/>
            <p:cNvSpPr/>
            <p:nvPr/>
          </p:nvSpPr>
          <p:spPr>
            <a:xfrm>
              <a:off x="12780264" y="4377944"/>
              <a:ext cx="327152" cy="42672"/>
            </a:xfrm>
            <a:prstGeom prst="roundRect">
              <a:avLst>
                <a:gd name="adj" fmla="val 33333"/>
              </a:avLst>
            </a:prstGeom>
            <a:solidFill>
              <a:srgbClr val="A9CCEC"/>
            </a:solidFill>
            <a:ln w="1422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 626"/>
            <p:cNvSpPr/>
            <p:nvPr/>
          </p:nvSpPr>
          <p:spPr>
            <a:xfrm>
              <a:off x="12808712" y="4420616"/>
              <a:ext cx="277368" cy="192024"/>
            </a:xfrm>
            <a:prstGeom prst="rect">
              <a:avLst/>
            </a:prstGeom>
            <a:solidFill>
              <a:srgbClr val="C0DDF4"/>
            </a:solidFill>
            <a:ln w="1422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9" name="path 627"/>
            <p:cNvSpPr/>
            <p:nvPr/>
          </p:nvSpPr>
          <p:spPr>
            <a:xfrm>
              <a:off x="12851384" y="4456176"/>
              <a:ext cx="42672" cy="42672"/>
            </a:xfrm>
            <a:custGeom>
              <a:avLst/>
              <a:gdLst/>
              <a:ahLst/>
              <a:cxnLst/>
              <a:rect l="0" t="0" r="r" b="b"/>
              <a:pathLst>
                <a:path w="42672" h="42672">
                  <a:moveTo>
                    <a:pt x="0" y="0"/>
                  </a:moveTo>
                  <a:lnTo>
                    <a:pt x="42672" y="0"/>
                  </a:lnTo>
                  <a:lnTo>
                    <a:pt x="42672" y="42672"/>
                  </a:lnTo>
                  <a:lnTo>
                    <a:pt x="0" y="42672"/>
                  </a:lnTo>
                  <a:close/>
                </a:path>
              </a:pathLst>
            </a:custGeom>
            <a:solidFill>
              <a:srgbClr val="F5F6F9"/>
            </a:solidFill>
            <a:ln w="9956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0" name="path 628"/>
            <p:cNvSpPr/>
            <p:nvPr/>
          </p:nvSpPr>
          <p:spPr>
            <a:xfrm>
              <a:off x="12858496" y="4456176"/>
              <a:ext cx="177800" cy="113792"/>
            </a:xfrm>
            <a:custGeom>
              <a:avLst/>
              <a:gdLst/>
              <a:ahLst/>
              <a:cxnLst/>
              <a:rect l="0" t="0" r="r" b="b"/>
              <a:pathLst>
                <a:path w="177800" h="113792">
                  <a:moveTo>
                    <a:pt x="71120" y="0"/>
                  </a:moveTo>
                  <a:lnTo>
                    <a:pt x="177800" y="0"/>
                  </a:lnTo>
                  <a:moveTo>
                    <a:pt x="71120" y="35560"/>
                  </a:moveTo>
                  <a:lnTo>
                    <a:pt x="170688" y="35560"/>
                  </a:lnTo>
                  <a:moveTo>
                    <a:pt x="0" y="78232"/>
                  </a:moveTo>
                  <a:lnTo>
                    <a:pt x="156464" y="78232"/>
                  </a:lnTo>
                  <a:moveTo>
                    <a:pt x="0" y="113792"/>
                  </a:moveTo>
                  <a:lnTo>
                    <a:pt x="99568" y="113792"/>
                  </a:lnTo>
                </a:path>
              </a:pathLst>
            </a:custGeom>
            <a:noFill/>
            <a:ln w="9956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1" name="path 629"/>
            <p:cNvSpPr/>
            <p:nvPr/>
          </p:nvSpPr>
          <p:spPr>
            <a:xfrm>
              <a:off x="12652248" y="4690872"/>
              <a:ext cx="291592" cy="142240"/>
            </a:xfrm>
            <a:custGeom>
              <a:avLst/>
              <a:gdLst/>
              <a:ahLst/>
              <a:cxnLst/>
              <a:rect l="0" t="0" r="r" b="b"/>
              <a:pathLst>
                <a:path w="291592" h="142240">
                  <a:moveTo>
                    <a:pt x="14224" y="42672"/>
                  </a:moveTo>
                  <a:cubicBezTo>
                    <a:pt x="49784" y="0"/>
                    <a:pt x="199136" y="0"/>
                    <a:pt x="263144" y="35560"/>
                  </a:cubicBezTo>
                  <a:lnTo>
                    <a:pt x="291592" y="142240"/>
                  </a:lnTo>
                  <a:lnTo>
                    <a:pt x="0" y="142240"/>
                  </a:lnTo>
                  <a:lnTo>
                    <a:pt x="0" y="78232"/>
                  </a:lnTo>
                  <a:close/>
                </a:path>
              </a:pathLst>
            </a:custGeom>
            <a:solidFill>
              <a:srgbClr val="B7E790"/>
            </a:solidFill>
            <a:ln w="1422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2" name="path 630"/>
            <p:cNvSpPr/>
            <p:nvPr/>
          </p:nvSpPr>
          <p:spPr>
            <a:xfrm>
              <a:off x="12716256" y="4690872"/>
              <a:ext cx="135128" cy="142240"/>
            </a:xfrm>
            <a:custGeom>
              <a:avLst/>
              <a:gdLst/>
              <a:ahLst/>
              <a:cxnLst/>
              <a:rect l="0" t="0" r="r" b="b"/>
              <a:pathLst>
                <a:path w="135128" h="142240">
                  <a:moveTo>
                    <a:pt x="14224" y="0"/>
                  </a:moveTo>
                  <a:lnTo>
                    <a:pt x="64008" y="113792"/>
                  </a:lnTo>
                  <a:lnTo>
                    <a:pt x="128016" y="0"/>
                  </a:lnTo>
                  <a:lnTo>
                    <a:pt x="135128" y="78232"/>
                  </a:lnTo>
                  <a:lnTo>
                    <a:pt x="64008" y="142240"/>
                  </a:lnTo>
                  <a:lnTo>
                    <a:pt x="0" y="71120"/>
                  </a:lnTo>
                  <a:close/>
                </a:path>
              </a:pathLst>
            </a:custGeom>
            <a:solidFill>
              <a:srgbClr val="F9F9F2"/>
            </a:solidFill>
            <a:ln w="1422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3" name="path 631"/>
            <p:cNvSpPr/>
            <p:nvPr/>
          </p:nvSpPr>
          <p:spPr>
            <a:xfrm>
              <a:off x="12773152" y="4669536"/>
              <a:ext cx="49784" cy="85344"/>
            </a:xfrm>
            <a:custGeom>
              <a:avLst/>
              <a:gdLst/>
              <a:ahLst/>
              <a:cxnLst/>
              <a:rect l="0" t="0" r="r" b="b"/>
              <a:pathLst>
                <a:path w="49784" h="85344">
                  <a:moveTo>
                    <a:pt x="0" y="0"/>
                  </a:moveTo>
                  <a:lnTo>
                    <a:pt x="0" y="78232"/>
                  </a:lnTo>
                  <a:lnTo>
                    <a:pt x="28448" y="85344"/>
                  </a:lnTo>
                  <a:lnTo>
                    <a:pt x="49784" y="7112"/>
                  </a:lnTo>
                  <a:close/>
                </a:path>
              </a:pathLst>
            </a:custGeom>
            <a:solidFill>
              <a:srgbClr val="EEDED6"/>
            </a:solidFill>
            <a:ln w="1422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4" name="path 632"/>
            <p:cNvSpPr/>
            <p:nvPr/>
          </p:nvSpPr>
          <p:spPr>
            <a:xfrm>
              <a:off x="12638024" y="4470400"/>
              <a:ext cx="234696" cy="277368"/>
            </a:xfrm>
            <a:custGeom>
              <a:avLst/>
              <a:gdLst/>
              <a:ahLst/>
              <a:cxnLst/>
              <a:rect l="0" t="0" r="r" b="b"/>
              <a:pathLst>
                <a:path w="234696" h="277368">
                  <a:moveTo>
                    <a:pt x="64008" y="71120"/>
                  </a:moveTo>
                  <a:cubicBezTo>
                    <a:pt x="78232" y="7112"/>
                    <a:pt x="184912" y="0"/>
                    <a:pt x="220472" y="64008"/>
                  </a:cubicBezTo>
                  <a:cubicBezTo>
                    <a:pt x="234696" y="106680"/>
                    <a:pt x="199136" y="206248"/>
                    <a:pt x="213360" y="241808"/>
                  </a:cubicBezTo>
                  <a:cubicBezTo>
                    <a:pt x="199136" y="277368"/>
                    <a:pt x="142240" y="227584"/>
                    <a:pt x="106680" y="234696"/>
                  </a:cubicBezTo>
                  <a:cubicBezTo>
                    <a:pt x="42672" y="241808"/>
                    <a:pt x="14224" y="206248"/>
                    <a:pt x="42672" y="163576"/>
                  </a:cubicBezTo>
                  <a:cubicBezTo>
                    <a:pt x="0" y="149352"/>
                    <a:pt x="28448" y="113792"/>
                    <a:pt x="64008" y="71120"/>
                  </a:cubicBezTo>
                  <a:close/>
                </a:path>
              </a:pathLst>
            </a:custGeom>
            <a:solidFill>
              <a:srgbClr val="78717F"/>
            </a:solidFill>
            <a:ln w="1422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5" name="path 633"/>
            <p:cNvSpPr/>
            <p:nvPr/>
          </p:nvSpPr>
          <p:spPr>
            <a:xfrm>
              <a:off x="12702032" y="4534408"/>
              <a:ext cx="135128" cy="177800"/>
            </a:xfrm>
            <a:custGeom>
              <a:avLst/>
              <a:gdLst/>
              <a:ahLst/>
              <a:cxnLst/>
              <a:rect l="0" t="0" r="r" b="b"/>
              <a:pathLst>
                <a:path w="135128" h="177800">
                  <a:moveTo>
                    <a:pt x="14224" y="28448"/>
                  </a:moveTo>
                  <a:cubicBezTo>
                    <a:pt x="35560" y="42672"/>
                    <a:pt x="106680" y="21336"/>
                    <a:pt x="120904" y="0"/>
                  </a:cubicBezTo>
                  <a:cubicBezTo>
                    <a:pt x="135128" y="42672"/>
                    <a:pt x="135128" y="120904"/>
                    <a:pt x="99568" y="142240"/>
                  </a:cubicBezTo>
                  <a:cubicBezTo>
                    <a:pt x="49784" y="177800"/>
                    <a:pt x="0" y="113792"/>
                    <a:pt x="7112" y="56896"/>
                  </a:cubicBezTo>
                  <a:close/>
                </a:path>
              </a:pathLst>
            </a:custGeom>
            <a:solidFill>
              <a:srgbClr val="F3E4DF"/>
            </a:solidFill>
            <a:ln w="1422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6" name="path 634"/>
            <p:cNvSpPr/>
            <p:nvPr/>
          </p:nvSpPr>
          <p:spPr>
            <a:xfrm>
              <a:off x="12659360" y="4669536"/>
              <a:ext cx="56896" cy="56896"/>
            </a:xfrm>
            <a:custGeom>
              <a:avLst/>
              <a:gdLst/>
              <a:ahLst/>
              <a:cxnLst/>
              <a:rect l="0" t="0" r="r" b="b"/>
              <a:pathLst>
                <a:path w="56896" h="56896">
                  <a:moveTo>
                    <a:pt x="28448" y="0"/>
                  </a:moveTo>
                  <a:cubicBezTo>
                    <a:pt x="0" y="21336"/>
                    <a:pt x="21336" y="56896"/>
                    <a:pt x="56896" y="42672"/>
                  </a:cubicBezTo>
                </a:path>
              </a:pathLst>
            </a:custGeom>
            <a:noFill/>
            <a:ln w="1422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7" name="path 635"/>
            <p:cNvSpPr/>
            <p:nvPr/>
          </p:nvSpPr>
          <p:spPr>
            <a:xfrm>
              <a:off x="12815824" y="4655312"/>
              <a:ext cx="135128" cy="184912"/>
            </a:xfrm>
            <a:custGeom>
              <a:avLst/>
              <a:gdLst/>
              <a:ahLst/>
              <a:cxnLst/>
              <a:rect l="0" t="0" r="r" b="b"/>
              <a:pathLst>
                <a:path w="135128" h="184912">
                  <a:moveTo>
                    <a:pt x="64008" y="92456"/>
                  </a:moveTo>
                  <a:lnTo>
                    <a:pt x="106680" y="0"/>
                  </a:lnTo>
                  <a:lnTo>
                    <a:pt x="135128" y="7112"/>
                  </a:lnTo>
                  <a:lnTo>
                    <a:pt x="106680" y="156464"/>
                  </a:lnTo>
                  <a:cubicBezTo>
                    <a:pt x="99568" y="177800"/>
                    <a:pt x="64008" y="184912"/>
                    <a:pt x="35560" y="177800"/>
                  </a:cubicBezTo>
                  <a:lnTo>
                    <a:pt x="0" y="163576"/>
                  </a:lnTo>
                  <a:lnTo>
                    <a:pt x="14224" y="113792"/>
                  </a:lnTo>
                  <a:close/>
                </a:path>
              </a:pathLst>
            </a:custGeom>
            <a:solidFill>
              <a:srgbClr val="B4E28B"/>
            </a:solidFill>
            <a:ln w="1422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8" name="path 636"/>
            <p:cNvSpPr/>
            <p:nvPr/>
          </p:nvSpPr>
          <p:spPr>
            <a:xfrm>
              <a:off x="12922504" y="4591304"/>
              <a:ext cx="64008" cy="78232"/>
            </a:xfrm>
            <a:custGeom>
              <a:avLst/>
              <a:gdLst/>
              <a:ahLst/>
              <a:cxnLst/>
              <a:rect l="0" t="0" r="r" b="b"/>
              <a:pathLst>
                <a:path w="64008" h="78232">
                  <a:moveTo>
                    <a:pt x="0" y="71120"/>
                  </a:moveTo>
                  <a:lnTo>
                    <a:pt x="7112" y="28448"/>
                  </a:lnTo>
                  <a:cubicBezTo>
                    <a:pt x="14224" y="14224"/>
                    <a:pt x="21336" y="7112"/>
                    <a:pt x="28448" y="14224"/>
                  </a:cubicBezTo>
                  <a:lnTo>
                    <a:pt x="42672" y="21336"/>
                  </a:lnTo>
                  <a:lnTo>
                    <a:pt x="49784" y="0"/>
                  </a:lnTo>
                  <a:lnTo>
                    <a:pt x="64008" y="7112"/>
                  </a:lnTo>
                  <a:lnTo>
                    <a:pt x="42672" y="78232"/>
                  </a:lnTo>
                  <a:close/>
                </a:path>
              </a:pathLst>
            </a:custGeom>
            <a:solidFill>
              <a:srgbClr val="F4DED8"/>
            </a:solidFill>
            <a:ln w="14223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path 637"/>
            <p:cNvSpPr/>
            <p:nvPr/>
          </p:nvSpPr>
          <p:spPr>
            <a:xfrm>
              <a:off x="12958064" y="4527296"/>
              <a:ext cx="35560" cy="71120"/>
            </a:xfrm>
            <a:custGeom>
              <a:avLst/>
              <a:gdLst/>
              <a:ahLst/>
              <a:cxnLst/>
              <a:rect l="0" t="0" r="r" b="b"/>
              <a:pathLst>
                <a:path w="35560" h="71120">
                  <a:moveTo>
                    <a:pt x="0" y="71120"/>
                  </a:moveTo>
                  <a:lnTo>
                    <a:pt x="35560" y="0"/>
                  </a:lnTo>
                </a:path>
              </a:pathLst>
            </a:custGeom>
            <a:noFill/>
            <a:ln w="1066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0" name="path 638"/>
            <p:cNvSpPr/>
            <p:nvPr/>
          </p:nvSpPr>
          <p:spPr>
            <a:xfrm>
              <a:off x="12687808" y="4769104"/>
              <a:ext cx="85344" cy="64008"/>
            </a:xfrm>
            <a:custGeom>
              <a:avLst/>
              <a:gdLst/>
              <a:ahLst/>
              <a:cxnLst/>
              <a:rect l="0" t="0" r="r" b="b"/>
              <a:pathLst>
                <a:path w="85344" h="64008">
                  <a:moveTo>
                    <a:pt x="0" y="14224"/>
                  </a:moveTo>
                  <a:lnTo>
                    <a:pt x="7112" y="64008"/>
                  </a:lnTo>
                  <a:moveTo>
                    <a:pt x="85344" y="0"/>
                  </a:moveTo>
                  <a:lnTo>
                    <a:pt x="85344" y="49784"/>
                  </a:lnTo>
                </a:path>
              </a:pathLst>
            </a:custGeom>
            <a:noFill/>
            <a:ln w="1066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41" name="Prompt"/>
          <p:cNvSpPr txBox="1"/>
          <p:nvPr/>
        </p:nvSpPr>
        <p:spPr>
          <a:xfrm>
            <a:off x="12440321" y="4789444"/>
            <a:ext cx="986895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Prompt</a:t>
            </a:r>
          </a:p>
        </p:txBody>
      </p:sp>
      <p:sp>
        <p:nvSpPr>
          <p:cNvPr id="642" name="path 640"/>
          <p:cNvSpPr/>
          <p:nvPr/>
        </p:nvSpPr>
        <p:spPr>
          <a:xfrm>
            <a:off x="12902184" y="5175504"/>
            <a:ext cx="91" cy="237744"/>
          </a:xfrm>
          <a:custGeom>
            <a:avLst/>
            <a:gdLst/>
            <a:ahLst/>
            <a:cxnLst/>
            <a:rect l="0" t="0" r="r" b="b"/>
            <a:pathLst>
              <a:path w="91" h="237744">
                <a:moveTo>
                  <a:pt x="0" y="0"/>
                </a:moveTo>
                <a:lnTo>
                  <a:pt x="0" y="237744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3" name="path 641"/>
          <p:cNvSpPr/>
          <p:nvPr/>
        </p:nvSpPr>
        <p:spPr>
          <a:xfrm>
            <a:off x="12835616" y="5285232"/>
            <a:ext cx="133137" cy="128016"/>
          </a:xfrm>
          <a:custGeom>
            <a:avLst/>
            <a:gdLst/>
            <a:ahLst/>
            <a:cxnLst/>
            <a:rect l="0" t="0" r="r" b="b"/>
            <a:pathLst>
              <a:path w="133137" h="128016">
                <a:moveTo>
                  <a:pt x="0" y="0"/>
                </a:moveTo>
                <a:lnTo>
                  <a:pt x="66568" y="128016"/>
                </a:lnTo>
                <a:lnTo>
                  <a:pt x="133137" y="0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17" name="policy-model-642"/>
          <p:cNvGrpSpPr/>
          <p:nvPr/>
        </p:nvGrpSpPr>
        <p:grpSpPr>
          <a:xfrm>
            <a:off x="12576658" y="5396789"/>
            <a:ext cx="746296" cy="830860"/>
            <a:chOff x="12576658" y="5396789"/>
            <a:chExt cx="746296" cy="830860"/>
          </a:xfrm>
        </p:grpSpPr>
        <p:sp>
          <p:nvSpPr>
            <p:cNvPr id="644" name="ellipse 642"/>
            <p:cNvSpPr/>
            <p:nvPr/>
          </p:nvSpPr>
          <p:spPr>
            <a:xfrm>
              <a:off x="12730277" y="5513832"/>
              <a:ext cx="95098" cy="80467"/>
            </a:xfrm>
            <a:prstGeom prst="ellipse">
              <a:avLst/>
            </a:prstGeom>
            <a:solidFill>
              <a:srgbClr val="ED7278"/>
            </a:solidFill>
            <a:ln w="1901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5" name="ellipse 643"/>
            <p:cNvSpPr/>
            <p:nvPr/>
          </p:nvSpPr>
          <p:spPr>
            <a:xfrm>
              <a:off x="12840005" y="5506517"/>
              <a:ext cx="95098" cy="87782"/>
            </a:xfrm>
            <a:prstGeom prst="ellipse">
              <a:avLst/>
            </a:prstGeom>
            <a:solidFill>
              <a:srgbClr val="ED7278"/>
            </a:solidFill>
            <a:ln w="1901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6" name="ellipse 644"/>
            <p:cNvSpPr/>
            <p:nvPr/>
          </p:nvSpPr>
          <p:spPr>
            <a:xfrm>
              <a:off x="12957048" y="5513832"/>
              <a:ext cx="95098" cy="80467"/>
            </a:xfrm>
            <a:prstGeom prst="ellipse">
              <a:avLst/>
            </a:prstGeom>
            <a:solidFill>
              <a:srgbClr val="ED7278"/>
            </a:solidFill>
            <a:ln w="1901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rect 645"/>
            <p:cNvSpPr/>
            <p:nvPr/>
          </p:nvSpPr>
          <p:spPr>
            <a:xfrm>
              <a:off x="12576658" y="5696712"/>
              <a:ext cx="73152" cy="160934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1901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 646"/>
            <p:cNvSpPr/>
            <p:nvPr/>
          </p:nvSpPr>
          <p:spPr>
            <a:xfrm>
              <a:off x="13183819" y="5696712"/>
              <a:ext cx="73152" cy="160934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1901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path 647"/>
            <p:cNvSpPr/>
            <p:nvPr/>
          </p:nvSpPr>
          <p:spPr>
            <a:xfrm>
              <a:off x="12722962" y="6040526"/>
              <a:ext cx="402336" cy="146304"/>
            </a:xfrm>
            <a:custGeom>
              <a:avLst/>
              <a:gdLst/>
              <a:ahLst/>
              <a:cxnLst/>
              <a:rect l="0" t="0" r="r" b="b"/>
              <a:pathLst>
                <a:path w="402336" h="146304">
                  <a:moveTo>
                    <a:pt x="131674" y="0"/>
                  </a:moveTo>
                  <a:lnTo>
                    <a:pt x="131674" y="51206"/>
                  </a:lnTo>
                  <a:lnTo>
                    <a:pt x="51206" y="65837"/>
                  </a:lnTo>
                  <a:cubicBezTo>
                    <a:pt x="7315" y="73152"/>
                    <a:pt x="0" y="102413"/>
                    <a:pt x="0" y="146304"/>
                  </a:cubicBezTo>
                  <a:lnTo>
                    <a:pt x="402336" y="146304"/>
                  </a:lnTo>
                  <a:lnTo>
                    <a:pt x="402336" y="109728"/>
                  </a:lnTo>
                  <a:cubicBezTo>
                    <a:pt x="387706" y="73152"/>
                    <a:pt x="321869" y="65837"/>
                    <a:pt x="248717" y="58522"/>
                  </a:cubicBezTo>
                  <a:lnTo>
                    <a:pt x="248717" y="0"/>
                  </a:lnTo>
                  <a:close/>
                </a:path>
              </a:pathLst>
            </a:custGeom>
            <a:solidFill>
              <a:srgbClr val="96D8EE"/>
            </a:solidFill>
            <a:ln w="1901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0" name="path 648"/>
            <p:cNvSpPr/>
            <p:nvPr/>
          </p:nvSpPr>
          <p:spPr>
            <a:xfrm>
              <a:off x="12876581" y="6055157"/>
              <a:ext cx="95098" cy="117043"/>
            </a:xfrm>
            <a:custGeom>
              <a:avLst/>
              <a:gdLst/>
              <a:ahLst/>
              <a:cxnLst/>
              <a:rect l="0" t="0" r="r" b="b"/>
              <a:pathLst>
                <a:path w="95098" h="117043">
                  <a:moveTo>
                    <a:pt x="0" y="0"/>
                  </a:moveTo>
                  <a:lnTo>
                    <a:pt x="0" y="73152"/>
                  </a:lnTo>
                  <a:cubicBezTo>
                    <a:pt x="21946" y="117043"/>
                    <a:pt x="87782" y="102413"/>
                    <a:pt x="95098" y="65837"/>
                  </a:cubicBezTo>
                  <a:lnTo>
                    <a:pt x="95098" y="0"/>
                  </a:lnTo>
                  <a:close/>
                </a:path>
              </a:pathLst>
            </a:custGeom>
            <a:solidFill>
              <a:srgbClr val="367797"/>
            </a:solidFill>
            <a:ln w="1901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1" name="rect 649"/>
            <p:cNvSpPr/>
            <p:nvPr/>
          </p:nvSpPr>
          <p:spPr>
            <a:xfrm>
              <a:off x="12635179" y="5557723"/>
              <a:ext cx="563270" cy="512064"/>
            </a:xfrm>
            <a:prstGeom prst="roundRect">
              <a:avLst>
                <a:gd name="adj" fmla="val 21428"/>
              </a:avLst>
            </a:prstGeom>
            <a:solidFill>
              <a:srgbClr val="70CCE9"/>
            </a:solidFill>
            <a:ln w="1901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path 650"/>
            <p:cNvSpPr/>
            <p:nvPr/>
          </p:nvSpPr>
          <p:spPr>
            <a:xfrm>
              <a:off x="12642494" y="5601614"/>
              <a:ext cx="512064" cy="460858"/>
            </a:xfrm>
            <a:custGeom>
              <a:avLst/>
              <a:gdLst/>
              <a:ahLst/>
              <a:cxnLst/>
              <a:rect l="0" t="0" r="r" b="b"/>
              <a:pathLst>
                <a:path w="512064" h="460858">
                  <a:moveTo>
                    <a:pt x="58522" y="0"/>
                  </a:moveTo>
                  <a:cubicBezTo>
                    <a:pt x="0" y="21946"/>
                    <a:pt x="14630" y="358445"/>
                    <a:pt x="43891" y="409651"/>
                  </a:cubicBezTo>
                  <a:cubicBezTo>
                    <a:pt x="95098" y="460858"/>
                    <a:pt x="460858" y="460858"/>
                    <a:pt x="512064" y="409651"/>
                  </a:cubicBezTo>
                </a:path>
              </a:pathLst>
            </a:custGeom>
            <a:noFill/>
            <a:ln w="18288" cap="rnd">
              <a:solidFill>
                <a:srgbClr val="B9EB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 651"/>
            <p:cNvSpPr/>
            <p:nvPr/>
          </p:nvSpPr>
          <p:spPr>
            <a:xfrm>
              <a:off x="12686386" y="5608930"/>
              <a:ext cx="453542" cy="387706"/>
            </a:xfrm>
            <a:prstGeom prst="roundRect">
              <a:avLst>
                <a:gd name="adj" fmla="val 18867"/>
              </a:avLst>
            </a:prstGeom>
            <a:solidFill>
              <a:srgbClr val="D2F2F7"/>
            </a:solidFill>
            <a:ln w="1901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ellipse 652"/>
            <p:cNvSpPr/>
            <p:nvPr/>
          </p:nvSpPr>
          <p:spPr>
            <a:xfrm>
              <a:off x="12759538" y="5674766"/>
              <a:ext cx="80467" cy="95098"/>
            </a:xfrm>
            <a:prstGeom prst="ellipse">
              <a:avLst/>
            </a:prstGeom>
            <a:solidFill>
              <a:srgbClr val="B9E7F0"/>
            </a:solidFill>
            <a:ln w="1828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5" name="ellipse 653"/>
            <p:cNvSpPr/>
            <p:nvPr/>
          </p:nvSpPr>
          <p:spPr>
            <a:xfrm>
              <a:off x="12978994" y="5674766"/>
              <a:ext cx="80467" cy="95098"/>
            </a:xfrm>
            <a:prstGeom prst="ellipse">
              <a:avLst/>
            </a:prstGeom>
            <a:solidFill>
              <a:srgbClr val="B9E7F0"/>
            </a:solidFill>
            <a:ln w="1828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6" name="path 654"/>
            <p:cNvSpPr/>
            <p:nvPr/>
          </p:nvSpPr>
          <p:spPr>
            <a:xfrm>
              <a:off x="12847320" y="5799125"/>
              <a:ext cx="124358" cy="51206"/>
            </a:xfrm>
            <a:custGeom>
              <a:avLst/>
              <a:gdLst/>
              <a:ahLst/>
              <a:cxnLst/>
              <a:rect l="0" t="0" r="r" b="b"/>
              <a:pathLst>
                <a:path w="124358" h="51206">
                  <a:moveTo>
                    <a:pt x="0" y="7315"/>
                  </a:moveTo>
                  <a:cubicBezTo>
                    <a:pt x="29261" y="51206"/>
                    <a:pt x="87782" y="51206"/>
                    <a:pt x="124358" y="0"/>
                  </a:cubicBezTo>
                </a:path>
              </a:pathLst>
            </a:custGeom>
            <a:noFill/>
            <a:ln w="17556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path 655"/>
            <p:cNvSpPr/>
            <p:nvPr/>
          </p:nvSpPr>
          <p:spPr>
            <a:xfrm>
              <a:off x="12737592" y="5813755"/>
              <a:ext cx="336499" cy="36576"/>
            </a:xfrm>
            <a:custGeom>
              <a:avLst/>
              <a:gdLst/>
              <a:ahLst/>
              <a:cxnLst/>
              <a:rect l="0" t="0" r="r" b="b"/>
              <a:pathLst>
                <a:path w="336499" h="36576">
                  <a:moveTo>
                    <a:pt x="0" y="0"/>
                  </a:moveTo>
                  <a:lnTo>
                    <a:pt x="43891" y="0"/>
                  </a:lnTo>
                  <a:moveTo>
                    <a:pt x="0" y="36576"/>
                  </a:moveTo>
                  <a:lnTo>
                    <a:pt x="43891" y="36576"/>
                  </a:lnTo>
                  <a:moveTo>
                    <a:pt x="292608" y="0"/>
                  </a:moveTo>
                  <a:lnTo>
                    <a:pt x="336499" y="0"/>
                  </a:lnTo>
                  <a:moveTo>
                    <a:pt x="292608" y="36576"/>
                  </a:moveTo>
                  <a:lnTo>
                    <a:pt x="336499" y="36576"/>
                  </a:lnTo>
                </a:path>
              </a:pathLst>
            </a:custGeom>
            <a:noFill/>
            <a:ln w="12435" cap="rnd">
              <a:solidFill>
                <a:srgbClr val="3C788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AI"/>
            <p:cNvSpPr txBox="1"/>
            <p:nvPr/>
          </p:nvSpPr>
          <p:spPr>
            <a:xfrm>
              <a:off x="12747029" y="6109143"/>
              <a:ext cx="157877" cy="11850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518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AI</a:t>
              </a:r>
            </a:p>
          </p:txBody>
        </p:sp>
        <p:sp>
          <p:nvSpPr>
            <p:cNvPr id="659" name="path 657"/>
            <p:cNvSpPr/>
            <p:nvPr/>
          </p:nvSpPr>
          <p:spPr>
            <a:xfrm>
              <a:off x="13036637" y="5396789"/>
              <a:ext cx="286317" cy="308921"/>
            </a:xfrm>
            <a:custGeom>
              <a:avLst/>
              <a:gdLst/>
              <a:ahLst/>
              <a:cxnLst/>
              <a:rect l="0" t="0" r="r" b="b"/>
              <a:pathLst>
                <a:path w="286317" h="308921">
                  <a:moveTo>
                    <a:pt x="143158" y="0"/>
                  </a:moveTo>
                  <a:cubicBezTo>
                    <a:pt x="82881" y="52743"/>
                    <a:pt x="158228" y="75347"/>
                    <a:pt x="97951" y="135624"/>
                  </a:cubicBezTo>
                  <a:cubicBezTo>
                    <a:pt x="67812" y="150693"/>
                    <a:pt x="60277" y="120554"/>
                    <a:pt x="60277" y="113020"/>
                  </a:cubicBezTo>
                  <a:cubicBezTo>
                    <a:pt x="0" y="188366"/>
                    <a:pt x="30139" y="278782"/>
                    <a:pt x="128089" y="293852"/>
                  </a:cubicBezTo>
                  <a:cubicBezTo>
                    <a:pt x="233574" y="308921"/>
                    <a:pt x="286317" y="218505"/>
                    <a:pt x="241109" y="143158"/>
                  </a:cubicBezTo>
                  <a:cubicBezTo>
                    <a:pt x="241109" y="188366"/>
                    <a:pt x="195901" y="180832"/>
                    <a:pt x="188366" y="150693"/>
                  </a:cubicBezTo>
                  <a:cubicBezTo>
                    <a:pt x="226040" y="67812"/>
                    <a:pt x="150693" y="82881"/>
                    <a:pt x="143158" y="0"/>
                  </a:cubicBezTo>
                  <a:close/>
                </a:path>
              </a:pathLst>
            </a:custGeom>
            <a:solidFill>
              <a:srgbClr val="F64A57"/>
            </a:solidFill>
            <a:ln w="12055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0" name="path 658"/>
            <p:cNvSpPr/>
            <p:nvPr/>
          </p:nvSpPr>
          <p:spPr>
            <a:xfrm>
              <a:off x="13089380" y="5509809"/>
              <a:ext cx="180832" cy="165762"/>
            </a:xfrm>
            <a:custGeom>
              <a:avLst/>
              <a:gdLst/>
              <a:ahLst/>
              <a:cxnLst/>
              <a:rect l="0" t="0" r="r" b="b"/>
              <a:pathLst>
                <a:path w="180832" h="165762">
                  <a:moveTo>
                    <a:pt x="97951" y="0"/>
                  </a:moveTo>
                  <a:cubicBezTo>
                    <a:pt x="67812" y="60277"/>
                    <a:pt x="105485" y="60277"/>
                    <a:pt x="67812" y="90416"/>
                  </a:cubicBezTo>
                  <a:cubicBezTo>
                    <a:pt x="30139" y="90416"/>
                    <a:pt x="52743" y="67812"/>
                    <a:pt x="37673" y="67812"/>
                  </a:cubicBezTo>
                  <a:cubicBezTo>
                    <a:pt x="0" y="128089"/>
                    <a:pt x="52743" y="165762"/>
                    <a:pt x="90416" y="158228"/>
                  </a:cubicBezTo>
                  <a:cubicBezTo>
                    <a:pt x="158228" y="158228"/>
                    <a:pt x="180832" y="105485"/>
                    <a:pt x="150693" y="82881"/>
                  </a:cubicBezTo>
                  <a:cubicBezTo>
                    <a:pt x="135624" y="135624"/>
                    <a:pt x="97951" y="97951"/>
                    <a:pt x="120554" y="67812"/>
                  </a:cubicBezTo>
                  <a:cubicBezTo>
                    <a:pt x="128089" y="45208"/>
                    <a:pt x="105485" y="30139"/>
                    <a:pt x="97951" y="0"/>
                  </a:cubicBezTo>
                  <a:close/>
                </a:path>
              </a:pathLst>
            </a:custGeom>
            <a:solidFill>
              <a:srgbClr val="FFB747"/>
            </a:solidFill>
            <a:ln w="904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1" name="path 659"/>
            <p:cNvSpPr/>
            <p:nvPr/>
          </p:nvSpPr>
          <p:spPr>
            <a:xfrm>
              <a:off x="13300350" y="5464601"/>
              <a:ext cx="7535" cy="22604"/>
            </a:xfrm>
            <a:custGeom>
              <a:avLst/>
              <a:gdLst/>
              <a:ahLst/>
              <a:cxnLst/>
              <a:rect l="0" t="0" r="r" b="b"/>
              <a:pathLst>
                <a:path w="7535" h="22604">
                  <a:moveTo>
                    <a:pt x="0" y="0"/>
                  </a:moveTo>
                  <a:lnTo>
                    <a:pt x="7535" y="22604"/>
                  </a:lnTo>
                </a:path>
              </a:pathLst>
            </a:custGeom>
            <a:noFill/>
            <a:ln w="7534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path 660"/>
            <p:cNvSpPr/>
            <p:nvPr/>
          </p:nvSpPr>
          <p:spPr>
            <a:xfrm>
              <a:off x="13096915" y="5449531"/>
              <a:ext cx="7535" cy="22604"/>
            </a:xfrm>
            <a:custGeom>
              <a:avLst/>
              <a:gdLst/>
              <a:ahLst/>
              <a:cxnLst/>
              <a:rect l="0" t="0" r="r" b="b"/>
              <a:pathLst>
                <a:path w="7535" h="22604">
                  <a:moveTo>
                    <a:pt x="0" y="0"/>
                  </a:moveTo>
                  <a:lnTo>
                    <a:pt x="7535" y="22604"/>
                  </a:lnTo>
                </a:path>
              </a:pathLst>
            </a:custGeom>
            <a:noFill/>
            <a:ln w="7534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path 661"/>
            <p:cNvSpPr/>
            <p:nvPr/>
          </p:nvSpPr>
          <p:spPr>
            <a:xfrm>
              <a:off x="13270212" y="5404323"/>
              <a:ext cx="7535" cy="22604"/>
            </a:xfrm>
            <a:custGeom>
              <a:avLst/>
              <a:gdLst/>
              <a:ahLst/>
              <a:cxnLst/>
              <a:rect l="0" t="0" r="r" b="b"/>
              <a:pathLst>
                <a:path w="7535" h="22604">
                  <a:moveTo>
                    <a:pt x="0" y="0"/>
                  </a:moveTo>
                  <a:lnTo>
                    <a:pt x="7535" y="22604"/>
                  </a:lnTo>
                </a:path>
              </a:pathLst>
            </a:custGeom>
            <a:noFill/>
            <a:ln w="7534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64" name="Policy"/>
          <p:cNvSpPr txBox="1"/>
          <p:nvPr/>
        </p:nvSpPr>
        <p:spPr>
          <a:xfrm>
            <a:off x="12500859" y="6250838"/>
            <a:ext cx="844713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Policy</a:t>
            </a:r>
          </a:p>
        </p:txBody>
      </p:sp>
      <p:sp>
        <p:nvSpPr>
          <p:cNvPr id="665" name="Model"/>
          <p:cNvSpPr txBox="1"/>
          <p:nvPr/>
        </p:nvSpPr>
        <p:spPr>
          <a:xfrm>
            <a:off x="12480303" y="6552590"/>
            <a:ext cx="885825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666" name="path 664"/>
          <p:cNvSpPr/>
          <p:nvPr/>
        </p:nvSpPr>
        <p:spPr>
          <a:xfrm>
            <a:off x="12298680" y="5330952"/>
            <a:ext cx="210312" cy="210312"/>
          </a:xfrm>
          <a:custGeom>
            <a:avLst/>
            <a:gdLst/>
            <a:ahLst/>
            <a:cxnLst/>
            <a:rect l="0" t="0" r="r" b="b"/>
            <a:pathLst>
              <a:path w="210312" h="210312">
                <a:moveTo>
                  <a:pt x="0" y="0"/>
                </a:moveTo>
                <a:lnTo>
                  <a:pt x="210312" y="210312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7" name="path 665"/>
          <p:cNvSpPr/>
          <p:nvPr/>
        </p:nvSpPr>
        <p:spPr>
          <a:xfrm>
            <a:off x="12371400" y="5403672"/>
            <a:ext cx="137592" cy="137592"/>
          </a:xfrm>
          <a:custGeom>
            <a:avLst/>
            <a:gdLst/>
            <a:ahLst/>
            <a:cxnLst/>
            <a:rect l="0" t="0" r="r" b="b"/>
            <a:pathLst>
              <a:path w="137592" h="137592">
                <a:moveTo>
                  <a:pt x="0" y="94142"/>
                </a:moveTo>
                <a:lnTo>
                  <a:pt x="137592" y="137592"/>
                </a:lnTo>
                <a:lnTo>
                  <a:pt x="94142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8" name="or"/>
          <p:cNvSpPr txBox="1"/>
          <p:nvPr/>
        </p:nvSpPr>
        <p:spPr>
          <a:xfrm>
            <a:off x="12140306" y="5577474"/>
            <a:ext cx="360088" cy="460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6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669" name="path 667"/>
          <p:cNvSpPr/>
          <p:nvPr/>
        </p:nvSpPr>
        <p:spPr>
          <a:xfrm>
            <a:off x="12298680" y="5934456"/>
            <a:ext cx="219456" cy="210312"/>
          </a:xfrm>
          <a:custGeom>
            <a:avLst/>
            <a:gdLst/>
            <a:ahLst/>
            <a:cxnLst/>
            <a:rect l="0" t="0" r="r" b="b"/>
            <a:pathLst>
              <a:path w="219456" h="210312">
                <a:moveTo>
                  <a:pt x="0" y="210312"/>
                </a:moveTo>
                <a:lnTo>
                  <a:pt x="219456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0" name="path 668"/>
          <p:cNvSpPr/>
          <p:nvPr/>
        </p:nvSpPr>
        <p:spPr>
          <a:xfrm>
            <a:off x="12379651" y="5934456"/>
            <a:ext cx="138485" cy="136636"/>
          </a:xfrm>
          <a:custGeom>
            <a:avLst/>
            <a:gdLst/>
            <a:ahLst/>
            <a:cxnLst/>
            <a:rect l="0" t="0" r="r" b="b"/>
            <a:pathLst>
              <a:path w="138485" h="136636">
                <a:moveTo>
                  <a:pt x="92118" y="136636"/>
                </a:moveTo>
                <a:lnTo>
                  <a:pt x="138485" y="0"/>
                </a:lnTo>
                <a:lnTo>
                  <a:pt x="0" y="40513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1" name="path 669"/>
          <p:cNvSpPr/>
          <p:nvPr/>
        </p:nvSpPr>
        <p:spPr>
          <a:xfrm>
            <a:off x="13295376" y="4974336"/>
            <a:ext cx="128016" cy="832104"/>
          </a:xfrm>
          <a:custGeom>
            <a:avLst/>
            <a:gdLst/>
            <a:ahLst/>
            <a:cxnLst/>
            <a:rect l="0" t="0" r="r" b="b"/>
            <a:pathLst>
              <a:path w="128016" h="832104">
                <a:moveTo>
                  <a:pt x="0" y="832104"/>
                </a:moveTo>
                <a:lnTo>
                  <a:pt x="128016" y="832104"/>
                </a:lnTo>
                <a:lnTo>
                  <a:pt x="128016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2" name="path 670"/>
          <p:cNvSpPr/>
          <p:nvPr/>
        </p:nvSpPr>
        <p:spPr>
          <a:xfrm>
            <a:off x="13423392" y="4974336"/>
            <a:ext cx="237744" cy="91"/>
          </a:xfrm>
          <a:custGeom>
            <a:avLst/>
            <a:gdLst/>
            <a:ahLst/>
            <a:cxnLst/>
            <a:rect l="0" t="0" r="r" b="b"/>
            <a:pathLst>
              <a:path w="237744" h="91">
                <a:moveTo>
                  <a:pt x="0" y="0"/>
                </a:moveTo>
                <a:lnTo>
                  <a:pt x="237744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3" name="path 671"/>
          <p:cNvSpPr/>
          <p:nvPr/>
        </p:nvSpPr>
        <p:spPr>
          <a:xfrm>
            <a:off x="13533120" y="4907768"/>
            <a:ext cx="128016" cy="133137"/>
          </a:xfrm>
          <a:custGeom>
            <a:avLst/>
            <a:gdLst/>
            <a:ahLst/>
            <a:cxnLst/>
            <a:rect l="0" t="0" r="r" b="b"/>
            <a:pathLst>
              <a:path w="128016" h="133137">
                <a:moveTo>
                  <a:pt x="0" y="133137"/>
                </a:moveTo>
                <a:lnTo>
                  <a:pt x="128016" y="66568"/>
                </a:lnTo>
                <a:lnTo>
                  <a:pt x="0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4" name="path 672"/>
          <p:cNvSpPr/>
          <p:nvPr/>
        </p:nvSpPr>
        <p:spPr>
          <a:xfrm>
            <a:off x="13423392" y="5806440"/>
            <a:ext cx="237744" cy="576072"/>
          </a:xfrm>
          <a:custGeom>
            <a:avLst/>
            <a:gdLst/>
            <a:ahLst/>
            <a:cxnLst/>
            <a:rect l="0" t="0" r="r" b="b"/>
            <a:pathLst>
              <a:path w="237744" h="576072">
                <a:moveTo>
                  <a:pt x="0" y="0"/>
                </a:moveTo>
                <a:lnTo>
                  <a:pt x="0" y="576072"/>
                </a:lnTo>
                <a:lnTo>
                  <a:pt x="237744" y="576072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5" name="path 673"/>
          <p:cNvSpPr/>
          <p:nvPr/>
        </p:nvSpPr>
        <p:spPr>
          <a:xfrm>
            <a:off x="13533120" y="6315944"/>
            <a:ext cx="128016" cy="133137"/>
          </a:xfrm>
          <a:custGeom>
            <a:avLst/>
            <a:gdLst/>
            <a:ahLst/>
            <a:cxnLst/>
            <a:rect l="0" t="0" r="r" b="b"/>
            <a:pathLst>
              <a:path w="128016" h="133137">
                <a:moveTo>
                  <a:pt x="0" y="133137"/>
                </a:moveTo>
                <a:lnTo>
                  <a:pt x="128016" y="66568"/>
                </a:lnTo>
                <a:lnTo>
                  <a:pt x="0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6" name="rect 674"/>
          <p:cNvSpPr/>
          <p:nvPr/>
        </p:nvSpPr>
        <p:spPr>
          <a:xfrm>
            <a:off x="13725144" y="4306824"/>
            <a:ext cx="3209544" cy="1325880"/>
          </a:xfrm>
          <a:prstGeom prst="roundRect">
            <a:avLst>
              <a:gd name="adj" fmla="val 16551"/>
            </a:avLst>
          </a:prstGeom>
          <a:solidFill>
            <a:srgbClr val="F9F9F9"/>
          </a:solidFill>
          <a:ln w="18288" cap="flat">
            <a:solidFill>
              <a:srgbClr val="D2D2D2"/>
            </a:solidFill>
            <a:round/>
            <a:custDash>
              <a:ds d="250000" sp="1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7" name="Original"/>
          <p:cNvSpPr txBox="1"/>
          <p:nvPr/>
        </p:nvSpPr>
        <p:spPr>
          <a:xfrm>
            <a:off x="14269121" y="4286524"/>
            <a:ext cx="1093372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Original</a:t>
            </a:r>
          </a:p>
        </p:txBody>
      </p:sp>
      <p:sp>
        <p:nvSpPr>
          <p:cNvPr id="678" name="New"/>
          <p:cNvSpPr txBox="1"/>
          <p:nvPr/>
        </p:nvSpPr>
        <p:spPr>
          <a:xfrm>
            <a:off x="16097921" y="4286524"/>
            <a:ext cx="651353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New</a:t>
            </a:r>
          </a:p>
        </p:txBody>
      </p:sp>
      <p:sp>
        <p:nvSpPr>
          <p:cNvPr id="679" name="If:"/>
          <p:cNvSpPr txBox="1"/>
          <p:nvPr/>
        </p:nvSpPr>
        <p:spPr>
          <a:xfrm>
            <a:off x="13747913" y="4652284"/>
            <a:ext cx="465008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If:</a:t>
            </a:r>
          </a:p>
        </p:txBody>
      </p:sp>
      <p:grpSp>
        <p:nvGrpSpPr>
          <p:cNvPr id="918" name="label-678"/>
          <p:cNvGrpSpPr/>
          <p:nvPr/>
        </p:nvGrpSpPr>
        <p:grpSpPr>
          <a:xfrm>
            <a:off x="14200632" y="4636008"/>
            <a:ext cx="1152144" cy="435437"/>
            <a:chOff x="14200632" y="4636008"/>
            <a:chExt cx="1152144" cy="435437"/>
          </a:xfrm>
        </p:grpSpPr>
        <p:sp>
          <p:nvSpPr>
            <p:cNvPr id="680" name="rect 678"/>
            <p:cNvSpPr/>
            <p:nvPr/>
          </p:nvSpPr>
          <p:spPr>
            <a:xfrm>
              <a:off x="14200632" y="4636008"/>
              <a:ext cx="1152144" cy="356616"/>
            </a:xfrm>
            <a:prstGeom prst="roundRect">
              <a:avLst>
                <a:gd name="adj" fmla="val 50000"/>
              </a:avLst>
            </a:prstGeom>
            <a:solidFill>
              <a:srgbClr val="FF9C9C"/>
            </a:solidFill>
            <a:ln w="18288" cap="rnd">
              <a:solidFill>
                <a:srgbClr val="FF000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1" name="Abnormal"/>
            <p:cNvSpPr txBox="1"/>
            <p:nvPr/>
          </p:nvSpPr>
          <p:spPr>
            <a:xfrm>
              <a:off x="14206467" y="4643506"/>
              <a:ext cx="1145229" cy="4279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72" b="0">
                  <a:solidFill>
                    <a:srgbClr val="EE0000"/>
                  </a:solidFill>
                  <a:latin typeface="Comic Sans MS"/>
                  <a:ea typeface="Comic Sans MS"/>
                  <a:cs typeface="Comic Sans MS"/>
                </a:rPr>
                <a:t>Abnormal</a:t>
              </a:r>
            </a:p>
          </p:txBody>
        </p:sp>
      </p:grpSp>
      <p:sp>
        <p:nvSpPr>
          <p:cNvPr id="682" name="path 680"/>
          <p:cNvSpPr/>
          <p:nvPr/>
        </p:nvSpPr>
        <p:spPr>
          <a:xfrm>
            <a:off x="15435072" y="4809744"/>
            <a:ext cx="164592" cy="91"/>
          </a:xfrm>
          <a:custGeom>
            <a:avLst/>
            <a:gdLst/>
            <a:ahLst/>
            <a:cxnLst/>
            <a:rect l="0" t="0" r="r" b="b"/>
            <a:pathLst>
              <a:path w="164592" h="91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3" name="path 681"/>
          <p:cNvSpPr/>
          <p:nvPr/>
        </p:nvSpPr>
        <p:spPr>
          <a:xfrm>
            <a:off x="15489936" y="4752685"/>
            <a:ext cx="109728" cy="114117"/>
          </a:xfrm>
          <a:custGeom>
            <a:avLst/>
            <a:gdLst/>
            <a:ahLst/>
            <a:cxnLst/>
            <a:rect l="0" t="0" r="r" b="b"/>
            <a:pathLst>
              <a:path w="109728" h="114117">
                <a:moveTo>
                  <a:pt x="0" y="114117"/>
                </a:moveTo>
                <a:lnTo>
                  <a:pt x="109728" y="57059"/>
                </a:lnTo>
                <a:lnTo>
                  <a:pt x="0" y="0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19" name="label-682"/>
          <p:cNvGrpSpPr/>
          <p:nvPr/>
        </p:nvGrpSpPr>
        <p:grpSpPr>
          <a:xfrm>
            <a:off x="15718536" y="4636008"/>
            <a:ext cx="1152144" cy="445678"/>
            <a:chOff x="15718536" y="4636008"/>
            <a:chExt cx="1152144" cy="445678"/>
          </a:xfrm>
        </p:grpSpPr>
        <p:sp>
          <p:nvSpPr>
            <p:cNvPr id="684" name="rect 682"/>
            <p:cNvSpPr/>
            <p:nvPr/>
          </p:nvSpPr>
          <p:spPr>
            <a:xfrm>
              <a:off x="15718536" y="4636008"/>
              <a:ext cx="1152144" cy="356616"/>
            </a:xfrm>
            <a:prstGeom prst="roundRect">
              <a:avLst>
                <a:gd name="adj" fmla="val 50000"/>
              </a:avLst>
            </a:prstGeom>
            <a:solidFill>
              <a:srgbClr val="E4F0D8"/>
            </a:solidFill>
            <a:ln w="18288" cap="flat">
              <a:solidFill>
                <a:srgbClr val="3B602C"/>
              </a:solidFill>
              <a:round/>
              <a:custDash>
                <a:ds d="400000" sp="250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5" name="Normal"/>
            <p:cNvSpPr txBox="1"/>
            <p:nvPr/>
          </p:nvSpPr>
          <p:spPr>
            <a:xfrm>
              <a:off x="15832219" y="4637288"/>
              <a:ext cx="929716" cy="44439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943" b="0">
                  <a:solidFill>
                    <a:srgbClr val="006700"/>
                  </a:solidFill>
                  <a:latin typeface="Comic Sans MS"/>
                  <a:ea typeface="Comic Sans MS"/>
                  <a:cs typeface="Comic Sans MS"/>
                </a:rPr>
                <a:t>Normal</a:t>
              </a:r>
            </a:p>
          </p:txBody>
        </p:sp>
      </p:grpSp>
      <p:sp>
        <p:nvSpPr>
          <p:cNvPr id="686" name="ellipse 684"/>
          <p:cNvSpPr/>
          <p:nvPr/>
        </p:nvSpPr>
        <p:spPr>
          <a:xfrm>
            <a:off x="13917168" y="5138928"/>
            <a:ext cx="246888" cy="246888"/>
          </a:xfrm>
          <a:prstGeom prst="ellipse">
            <a:avLst/>
          </a:prstGeom>
          <a:solidFill>
            <a:srgbClr val="8EC74B"/>
          </a:solidFill>
          <a:ln w="1828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7" name="path 685"/>
          <p:cNvSpPr/>
          <p:nvPr/>
        </p:nvSpPr>
        <p:spPr>
          <a:xfrm>
            <a:off x="13972032" y="5202936"/>
            <a:ext cx="137160" cy="109728"/>
          </a:xfrm>
          <a:custGeom>
            <a:avLst/>
            <a:gdLst/>
            <a:ahLst/>
            <a:cxnLst/>
            <a:rect l="0" t="0" r="r" b="b"/>
            <a:pathLst>
              <a:path w="137160" h="109728">
                <a:moveTo>
                  <a:pt x="0" y="64008"/>
                </a:moveTo>
                <a:lnTo>
                  <a:pt x="45720" y="109728"/>
                </a:lnTo>
                <a:lnTo>
                  <a:pt x="137160" y="0"/>
                </a:lnTo>
              </a:path>
            </a:pathLst>
          </a:custGeom>
          <a:noFill/>
          <a:ln w="2377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8" name="The model gave right"/>
          <p:cNvSpPr txBox="1"/>
          <p:nvPr/>
        </p:nvSpPr>
        <p:spPr>
          <a:xfrm>
            <a:off x="14230350" y="4988052"/>
            <a:ext cx="233879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The model gave right</a:t>
            </a:r>
          </a:p>
        </p:txBody>
      </p:sp>
      <p:sp>
        <p:nvSpPr>
          <p:cNvPr id="689" name="prediction!"/>
          <p:cNvSpPr txBox="1"/>
          <p:nvPr/>
        </p:nvSpPr>
        <p:spPr>
          <a:xfrm>
            <a:off x="14230350" y="5244084"/>
            <a:ext cx="123058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prediction!</a:t>
            </a:r>
          </a:p>
        </p:txBody>
      </p:sp>
      <p:grpSp>
        <p:nvGrpSpPr>
          <p:cNvPr id="920" name="reward-symbol-688"/>
          <p:cNvGrpSpPr/>
          <p:nvPr/>
        </p:nvGrpSpPr>
        <p:grpSpPr>
          <a:xfrm>
            <a:off x="15553944" y="5280726"/>
            <a:ext cx="292608" cy="410822"/>
            <a:chOff x="15553944" y="5280726"/>
            <a:chExt cx="292608" cy="410822"/>
          </a:xfrm>
        </p:grpSpPr>
        <p:sp>
          <p:nvSpPr>
            <p:cNvPr id="690" name="R symbol"/>
            <p:cNvSpPr/>
            <p:nvPr/>
          </p:nvSpPr>
          <p:spPr>
            <a:xfrm>
              <a:off x="15553944" y="5294376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008E0B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R"/>
            <p:cNvSpPr txBox="1"/>
            <p:nvPr/>
          </p:nvSpPr>
          <p:spPr>
            <a:xfrm>
              <a:off x="15583714" y="5280726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692" name="== 0.5"/>
          <p:cNvSpPr txBox="1"/>
          <p:nvPr/>
        </p:nvSpPr>
        <p:spPr>
          <a:xfrm>
            <a:off x="15887609" y="5283220"/>
            <a:ext cx="845663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== 0.5</a:t>
            </a:r>
          </a:p>
        </p:txBody>
      </p:sp>
      <p:sp>
        <p:nvSpPr>
          <p:cNvPr id="693" name="rect 691"/>
          <p:cNvSpPr/>
          <p:nvPr/>
        </p:nvSpPr>
        <p:spPr>
          <a:xfrm>
            <a:off x="13725144" y="5705856"/>
            <a:ext cx="3209544" cy="1115568"/>
          </a:xfrm>
          <a:prstGeom prst="roundRect">
            <a:avLst>
              <a:gd name="adj" fmla="val 19672"/>
            </a:avLst>
          </a:prstGeom>
          <a:solidFill>
            <a:srgbClr val="F9F9F9"/>
          </a:solidFill>
          <a:ln w="18288" cap="flat">
            <a:solidFill>
              <a:srgbClr val="D2D2D2"/>
            </a:solidFill>
            <a:round/>
            <a:custDash>
              <a:ds d="250000" sp="1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4" name="If:"/>
          <p:cNvSpPr txBox="1"/>
          <p:nvPr/>
        </p:nvSpPr>
        <p:spPr>
          <a:xfrm>
            <a:off x="13747913" y="5804428"/>
            <a:ext cx="465008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If:</a:t>
            </a:r>
          </a:p>
        </p:txBody>
      </p:sp>
      <p:grpSp>
        <p:nvGrpSpPr>
          <p:cNvPr id="921" name="label-693"/>
          <p:cNvGrpSpPr/>
          <p:nvPr/>
        </p:nvGrpSpPr>
        <p:grpSpPr>
          <a:xfrm>
            <a:off x="14200632" y="5779008"/>
            <a:ext cx="1152144" cy="445678"/>
            <a:chOff x="14200632" y="5779008"/>
            <a:chExt cx="1152144" cy="445678"/>
          </a:xfrm>
        </p:grpSpPr>
        <p:sp>
          <p:nvSpPr>
            <p:cNvPr id="695" name="rect 693"/>
            <p:cNvSpPr/>
            <p:nvPr/>
          </p:nvSpPr>
          <p:spPr>
            <a:xfrm>
              <a:off x="14200632" y="5779008"/>
              <a:ext cx="1152144" cy="356616"/>
            </a:xfrm>
            <a:prstGeom prst="roundRect">
              <a:avLst>
                <a:gd name="adj" fmla="val 50000"/>
              </a:avLst>
            </a:prstGeom>
            <a:solidFill>
              <a:srgbClr val="E4F0D8"/>
            </a:solidFill>
            <a:ln w="18288" cap="rnd">
              <a:solidFill>
                <a:srgbClr val="3A602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Normal"/>
            <p:cNvSpPr txBox="1"/>
            <p:nvPr/>
          </p:nvSpPr>
          <p:spPr>
            <a:xfrm>
              <a:off x="14314315" y="5780288"/>
              <a:ext cx="929716" cy="44439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943" b="0">
                  <a:solidFill>
                    <a:srgbClr val="006700"/>
                  </a:solidFill>
                  <a:latin typeface="Comic Sans MS"/>
                  <a:ea typeface="Comic Sans MS"/>
                  <a:cs typeface="Comic Sans MS"/>
                </a:rPr>
                <a:t>Normal</a:t>
              </a:r>
            </a:p>
          </p:txBody>
        </p:sp>
      </p:grpSp>
      <p:sp>
        <p:nvSpPr>
          <p:cNvPr id="697" name="path 695"/>
          <p:cNvSpPr/>
          <p:nvPr/>
        </p:nvSpPr>
        <p:spPr>
          <a:xfrm>
            <a:off x="15435072" y="5961888"/>
            <a:ext cx="173736" cy="91"/>
          </a:xfrm>
          <a:custGeom>
            <a:avLst/>
            <a:gdLst/>
            <a:ahLst/>
            <a:cxnLst/>
            <a:rect l="0" t="0" r="r" b="b"/>
            <a:pathLst>
              <a:path w="173736" h="91">
                <a:moveTo>
                  <a:pt x="0" y="0"/>
                </a:moveTo>
                <a:lnTo>
                  <a:pt x="173736" y="0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8" name="path 696"/>
          <p:cNvSpPr/>
          <p:nvPr/>
        </p:nvSpPr>
        <p:spPr>
          <a:xfrm>
            <a:off x="15499080" y="5904829"/>
            <a:ext cx="109728" cy="114117"/>
          </a:xfrm>
          <a:custGeom>
            <a:avLst/>
            <a:gdLst/>
            <a:ahLst/>
            <a:cxnLst/>
            <a:rect l="0" t="0" r="r" b="b"/>
            <a:pathLst>
              <a:path w="109728" h="114117">
                <a:moveTo>
                  <a:pt x="0" y="114117"/>
                </a:moveTo>
                <a:lnTo>
                  <a:pt x="109728" y="57059"/>
                </a:lnTo>
                <a:lnTo>
                  <a:pt x="0" y="0"/>
                </a:lnTo>
              </a:path>
            </a:pathLst>
          </a:custGeom>
          <a:noFill/>
          <a:ln w="3657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22" name="label-697"/>
          <p:cNvGrpSpPr/>
          <p:nvPr/>
        </p:nvGrpSpPr>
        <p:grpSpPr>
          <a:xfrm>
            <a:off x="15718536" y="5779008"/>
            <a:ext cx="1152144" cy="435437"/>
            <a:chOff x="15718536" y="5779008"/>
            <a:chExt cx="1152144" cy="435437"/>
          </a:xfrm>
        </p:grpSpPr>
        <p:sp>
          <p:nvSpPr>
            <p:cNvPr id="699" name="rect 697"/>
            <p:cNvSpPr/>
            <p:nvPr/>
          </p:nvSpPr>
          <p:spPr>
            <a:xfrm>
              <a:off x="15718536" y="5779008"/>
              <a:ext cx="1152144" cy="356616"/>
            </a:xfrm>
            <a:prstGeom prst="roundRect">
              <a:avLst>
                <a:gd name="adj" fmla="val 50000"/>
              </a:avLst>
            </a:prstGeom>
            <a:solidFill>
              <a:srgbClr val="FF9C9C"/>
            </a:solidFill>
            <a:ln w="18288" cap="flat">
              <a:solidFill>
                <a:srgbClr val="FF0000"/>
              </a:solidFill>
              <a:round/>
              <a:custDash>
                <a:ds d="400000" sp="250000"/>
              </a:custDash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Abnormal"/>
            <p:cNvSpPr txBox="1"/>
            <p:nvPr/>
          </p:nvSpPr>
          <p:spPr>
            <a:xfrm>
              <a:off x="15724371" y="5786506"/>
              <a:ext cx="1145229" cy="4279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72" b="0">
                  <a:solidFill>
                    <a:srgbClr val="F00000"/>
                  </a:solidFill>
                  <a:latin typeface="Comic Sans MS"/>
                  <a:ea typeface="Comic Sans MS"/>
                  <a:cs typeface="Comic Sans MS"/>
                </a:rPr>
                <a:t>Abnormal</a:t>
              </a:r>
            </a:p>
          </p:txBody>
        </p:sp>
      </p:grpSp>
      <p:sp>
        <p:nvSpPr>
          <p:cNvPr id="701" name="ellipse 699"/>
          <p:cNvSpPr/>
          <p:nvPr/>
        </p:nvSpPr>
        <p:spPr>
          <a:xfrm>
            <a:off x="13917168" y="6291072"/>
            <a:ext cx="246888" cy="246888"/>
          </a:xfrm>
          <a:prstGeom prst="ellipse">
            <a:avLst/>
          </a:prstGeom>
          <a:solidFill>
            <a:srgbClr val="F44D3F"/>
          </a:solidFill>
          <a:ln w="1828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2" name="path 700"/>
          <p:cNvSpPr/>
          <p:nvPr/>
        </p:nvSpPr>
        <p:spPr>
          <a:xfrm>
            <a:off x="13981176" y="6355080"/>
            <a:ext cx="118872" cy="118872"/>
          </a:xfrm>
          <a:custGeom>
            <a:avLst/>
            <a:gdLst/>
            <a:ahLst/>
            <a:cxnLst/>
            <a:rect l="0" t="0" r="r" b="b"/>
            <a:pathLst>
              <a:path w="118872" h="118872">
                <a:moveTo>
                  <a:pt x="0" y="0"/>
                </a:moveTo>
                <a:lnTo>
                  <a:pt x="118872" y="118872"/>
                </a:lnTo>
                <a:moveTo>
                  <a:pt x="109728" y="0"/>
                </a:moveTo>
                <a:lnTo>
                  <a:pt x="9144" y="118872"/>
                </a:lnTo>
              </a:path>
            </a:pathLst>
          </a:custGeom>
          <a:noFill/>
          <a:ln w="20116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3" name="The model just saw a few"/>
          <p:cNvSpPr txBox="1"/>
          <p:nvPr/>
        </p:nvSpPr>
        <p:spPr>
          <a:xfrm>
            <a:off x="14230350" y="6158484"/>
            <a:ext cx="2795206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The model just saw a few</a:t>
            </a:r>
          </a:p>
        </p:txBody>
      </p:sp>
      <p:sp>
        <p:nvSpPr>
          <p:cNvPr id="704" name="frames!"/>
          <p:cNvSpPr txBox="1"/>
          <p:nvPr/>
        </p:nvSpPr>
        <p:spPr>
          <a:xfrm>
            <a:off x="14230350" y="6414516"/>
            <a:ext cx="902934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frames!</a:t>
            </a:r>
          </a:p>
        </p:txBody>
      </p:sp>
      <p:grpSp>
        <p:nvGrpSpPr>
          <p:cNvPr id="923" name="reward-symbol-703"/>
          <p:cNvGrpSpPr/>
          <p:nvPr/>
        </p:nvGrpSpPr>
        <p:grpSpPr>
          <a:xfrm>
            <a:off x="15499080" y="6469446"/>
            <a:ext cx="292608" cy="410822"/>
            <a:chOff x="15499080" y="6469446"/>
            <a:chExt cx="292608" cy="410822"/>
          </a:xfrm>
        </p:grpSpPr>
        <p:sp>
          <p:nvSpPr>
            <p:cNvPr id="705" name="R symbol"/>
            <p:cNvSpPr/>
            <p:nvPr/>
          </p:nvSpPr>
          <p:spPr>
            <a:xfrm>
              <a:off x="15499080" y="6483096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008E0B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6" name="R"/>
            <p:cNvSpPr txBox="1"/>
            <p:nvPr/>
          </p:nvSpPr>
          <p:spPr>
            <a:xfrm>
              <a:off x="15528850" y="6469446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707" name="== -0.2"/>
          <p:cNvSpPr txBox="1"/>
          <p:nvPr/>
        </p:nvSpPr>
        <p:spPr>
          <a:xfrm>
            <a:off x="15834482" y="6473586"/>
            <a:ext cx="923194" cy="460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6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== -0.2</a:t>
            </a:r>
          </a:p>
        </p:txBody>
      </p:sp>
      <p:sp>
        <p:nvSpPr>
          <p:cNvPr id="708" name="Step 3: Computing KL Divergence"/>
          <p:cNvSpPr txBox="1"/>
          <p:nvPr/>
        </p:nvSpPr>
        <p:spPr>
          <a:xfrm>
            <a:off x="7451115" y="6996868"/>
            <a:ext cx="4893686" cy="5315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Step 3: Computing KL Divergence</a:t>
            </a:r>
          </a:p>
        </p:txBody>
      </p:sp>
      <p:sp>
        <p:nvSpPr>
          <p:cNvPr id="709" name="path 707"/>
          <p:cNvSpPr/>
          <p:nvPr/>
        </p:nvSpPr>
        <p:spPr>
          <a:xfrm>
            <a:off x="7507224" y="7342632"/>
            <a:ext cx="4754880" cy="91"/>
          </a:xfrm>
          <a:custGeom>
            <a:avLst/>
            <a:gdLst/>
            <a:ahLst/>
            <a:cxnLst/>
            <a:rect l="0" t="0" r="r" b="b"/>
            <a:pathLst>
              <a:path w="4754880" h="91">
                <a:moveTo>
                  <a:pt x="0" y="0"/>
                </a:moveTo>
                <a:lnTo>
                  <a:pt x="4754880" y="0"/>
                </a:lnTo>
              </a:path>
            </a:pathLst>
          </a:custGeom>
          <a:noFill/>
          <a:ln w="155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24" name="label-708"/>
          <p:cNvGrpSpPr/>
          <p:nvPr/>
        </p:nvGrpSpPr>
        <p:grpSpPr>
          <a:xfrm>
            <a:off x="7452360" y="7717536"/>
            <a:ext cx="1517904" cy="435437"/>
            <a:chOff x="7452360" y="7717536"/>
            <a:chExt cx="1517904" cy="435437"/>
          </a:xfrm>
        </p:grpSpPr>
        <p:sp>
          <p:nvSpPr>
            <p:cNvPr id="710" name="rect 708"/>
            <p:cNvSpPr/>
            <p:nvPr/>
          </p:nvSpPr>
          <p:spPr>
            <a:xfrm>
              <a:off x="7452360" y="7717536"/>
              <a:ext cx="1517904" cy="356616"/>
            </a:xfrm>
            <a:prstGeom prst="roundRect">
              <a:avLst>
                <a:gd name="adj" fmla="val 35897"/>
              </a:avLst>
            </a:prstGeom>
            <a:solidFill>
              <a:srgbClr val="F8B889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1" name="Completion 1"/>
            <p:cNvSpPr txBox="1"/>
            <p:nvPr/>
          </p:nvSpPr>
          <p:spPr>
            <a:xfrm>
              <a:off x="7475286" y="7725034"/>
              <a:ext cx="1476806" cy="4279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72" b="0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Completion 1</a:t>
              </a:r>
            </a:p>
          </p:txBody>
        </p:sp>
      </p:grpSp>
      <p:grpSp>
        <p:nvGrpSpPr>
          <p:cNvPr id="925" name="label-710"/>
          <p:cNvGrpSpPr/>
          <p:nvPr/>
        </p:nvGrpSpPr>
        <p:grpSpPr>
          <a:xfrm>
            <a:off x="7452360" y="8138160"/>
            <a:ext cx="1518770" cy="435437"/>
            <a:chOff x="7452360" y="8138160"/>
            <a:chExt cx="1518770" cy="435437"/>
          </a:xfrm>
        </p:grpSpPr>
        <p:sp>
          <p:nvSpPr>
            <p:cNvPr id="712" name="rect 710"/>
            <p:cNvSpPr/>
            <p:nvPr/>
          </p:nvSpPr>
          <p:spPr>
            <a:xfrm>
              <a:off x="7452360" y="8138160"/>
              <a:ext cx="1517904" cy="356616"/>
            </a:xfrm>
            <a:prstGeom prst="roundRect">
              <a:avLst>
                <a:gd name="adj" fmla="val 35897"/>
              </a:avLst>
            </a:prstGeom>
            <a:solidFill>
              <a:srgbClr val="F8B889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3" name="Completion 2"/>
            <p:cNvSpPr txBox="1"/>
            <p:nvPr/>
          </p:nvSpPr>
          <p:spPr>
            <a:xfrm>
              <a:off x="7456248" y="8145658"/>
              <a:ext cx="1514882" cy="4279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72" b="0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Completion 2</a:t>
              </a:r>
            </a:p>
          </p:txBody>
        </p:sp>
      </p:grpSp>
      <p:sp>
        <p:nvSpPr>
          <p:cNvPr id="714" name="..."/>
          <p:cNvSpPr txBox="1"/>
          <p:nvPr/>
        </p:nvSpPr>
        <p:spPr>
          <a:xfrm>
            <a:off x="8027243" y="8459480"/>
            <a:ext cx="283171" cy="4443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43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715" name="A Group of"/>
          <p:cNvSpPr txBox="1"/>
          <p:nvPr/>
        </p:nvSpPr>
        <p:spPr>
          <a:xfrm>
            <a:off x="7399275" y="8811158"/>
            <a:ext cx="1583841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A Group of</a:t>
            </a:r>
          </a:p>
        </p:txBody>
      </p:sp>
      <p:sp>
        <p:nvSpPr>
          <p:cNvPr id="716" name="Completions"/>
          <p:cNvSpPr txBox="1"/>
          <p:nvPr/>
        </p:nvSpPr>
        <p:spPr>
          <a:xfrm>
            <a:off x="7371414" y="9118397"/>
            <a:ext cx="1639562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Completions</a:t>
            </a:r>
          </a:p>
        </p:txBody>
      </p:sp>
      <p:sp>
        <p:nvSpPr>
          <p:cNvPr id="717" name="path 715"/>
          <p:cNvSpPr/>
          <p:nvPr/>
        </p:nvSpPr>
        <p:spPr>
          <a:xfrm>
            <a:off x="9034272" y="7763256"/>
            <a:ext cx="210312" cy="768096"/>
          </a:xfrm>
          <a:custGeom>
            <a:avLst/>
            <a:gdLst/>
            <a:ahLst/>
            <a:cxnLst/>
            <a:rect l="0" t="0" r="r" b="b"/>
            <a:pathLst>
              <a:path w="210312" h="768096">
                <a:moveTo>
                  <a:pt x="0" y="768096"/>
                </a:moveTo>
                <a:lnTo>
                  <a:pt x="210312" y="768096"/>
                </a:lnTo>
                <a:lnTo>
                  <a:pt x="210312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8" name="path 716"/>
          <p:cNvSpPr/>
          <p:nvPr/>
        </p:nvSpPr>
        <p:spPr>
          <a:xfrm>
            <a:off x="9244584" y="7763256"/>
            <a:ext cx="274320" cy="91"/>
          </a:xfrm>
          <a:custGeom>
            <a:avLst/>
            <a:gdLst/>
            <a:ahLst/>
            <a:cxnLst/>
            <a:rect l="0" t="0" r="r" b="b"/>
            <a:pathLst>
              <a:path w="274320" h="91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9" name="path 717"/>
          <p:cNvSpPr/>
          <p:nvPr/>
        </p:nvSpPr>
        <p:spPr>
          <a:xfrm>
            <a:off x="9390888" y="7696688"/>
            <a:ext cx="128016" cy="133137"/>
          </a:xfrm>
          <a:custGeom>
            <a:avLst/>
            <a:gdLst/>
            <a:ahLst/>
            <a:cxnLst/>
            <a:rect l="0" t="0" r="r" b="b"/>
            <a:pathLst>
              <a:path w="128016" h="133137">
                <a:moveTo>
                  <a:pt x="0" y="133137"/>
                </a:moveTo>
                <a:lnTo>
                  <a:pt x="128016" y="66568"/>
                </a:lnTo>
                <a:lnTo>
                  <a:pt x="0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0" name="path 718"/>
          <p:cNvSpPr/>
          <p:nvPr/>
        </p:nvSpPr>
        <p:spPr>
          <a:xfrm>
            <a:off x="9244584" y="8531352"/>
            <a:ext cx="228600" cy="832104"/>
          </a:xfrm>
          <a:custGeom>
            <a:avLst/>
            <a:gdLst/>
            <a:ahLst/>
            <a:cxnLst/>
            <a:rect l="0" t="0" r="r" b="b"/>
            <a:pathLst>
              <a:path w="228600" h="832104">
                <a:moveTo>
                  <a:pt x="0" y="0"/>
                </a:moveTo>
                <a:lnTo>
                  <a:pt x="0" y="832104"/>
                </a:lnTo>
                <a:lnTo>
                  <a:pt x="228600" y="832104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1" name="path 719"/>
          <p:cNvSpPr/>
          <p:nvPr/>
        </p:nvSpPr>
        <p:spPr>
          <a:xfrm>
            <a:off x="9345168" y="9296888"/>
            <a:ext cx="128016" cy="133137"/>
          </a:xfrm>
          <a:custGeom>
            <a:avLst/>
            <a:gdLst/>
            <a:ahLst/>
            <a:cxnLst/>
            <a:rect l="0" t="0" r="r" b="b"/>
            <a:pathLst>
              <a:path w="128016" h="133137">
                <a:moveTo>
                  <a:pt x="0" y="133137"/>
                </a:moveTo>
                <a:lnTo>
                  <a:pt x="128016" y="66568"/>
                </a:lnTo>
                <a:lnTo>
                  <a:pt x="0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2" name="Policy"/>
          <p:cNvSpPr txBox="1"/>
          <p:nvPr/>
        </p:nvSpPr>
        <p:spPr>
          <a:xfrm>
            <a:off x="9739626" y="7459492"/>
            <a:ext cx="816588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Policy</a:t>
            </a:r>
          </a:p>
        </p:txBody>
      </p:sp>
      <p:sp>
        <p:nvSpPr>
          <p:cNvPr id="723" name="Model"/>
          <p:cNvSpPr txBox="1"/>
          <p:nvPr/>
        </p:nvSpPr>
        <p:spPr>
          <a:xfrm>
            <a:off x="9719766" y="7751186"/>
            <a:ext cx="856307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grpSp>
        <p:nvGrpSpPr>
          <p:cNvPr id="926" name="policy-model-722"/>
          <p:cNvGrpSpPr/>
          <p:nvPr/>
        </p:nvGrpSpPr>
        <p:grpSpPr>
          <a:xfrm>
            <a:off x="10823844" y="7431603"/>
            <a:ext cx="531737" cy="591988"/>
            <a:chOff x="10823844" y="7431603"/>
            <a:chExt cx="531737" cy="591988"/>
          </a:xfrm>
        </p:grpSpPr>
        <p:sp>
          <p:nvSpPr>
            <p:cNvPr id="724" name="ellipse 722"/>
            <p:cNvSpPr/>
            <p:nvPr/>
          </p:nvSpPr>
          <p:spPr>
            <a:xfrm>
              <a:off x="10933298" y="7514996"/>
              <a:ext cx="67757" cy="57333"/>
            </a:xfrm>
            <a:prstGeom prst="ellipse">
              <a:avLst/>
            </a:prstGeom>
            <a:solidFill>
              <a:srgbClr val="ED7278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5" name="ellipse 723"/>
            <p:cNvSpPr/>
            <p:nvPr/>
          </p:nvSpPr>
          <p:spPr>
            <a:xfrm>
              <a:off x="11011479" y="7509784"/>
              <a:ext cx="67757" cy="62545"/>
            </a:xfrm>
            <a:prstGeom prst="ellipse">
              <a:avLst/>
            </a:prstGeom>
            <a:solidFill>
              <a:srgbClr val="ED7278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6" name="ellipse 724"/>
            <p:cNvSpPr/>
            <p:nvPr/>
          </p:nvSpPr>
          <p:spPr>
            <a:xfrm>
              <a:off x="11094872" y="7514996"/>
              <a:ext cx="67757" cy="57333"/>
            </a:xfrm>
            <a:prstGeom prst="ellipse">
              <a:avLst/>
            </a:prstGeom>
            <a:solidFill>
              <a:srgbClr val="ED7278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rect 725"/>
            <p:cNvSpPr/>
            <p:nvPr/>
          </p:nvSpPr>
          <p:spPr>
            <a:xfrm>
              <a:off x="10823844" y="7645298"/>
              <a:ext cx="52121" cy="114666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 726"/>
            <p:cNvSpPr/>
            <p:nvPr/>
          </p:nvSpPr>
          <p:spPr>
            <a:xfrm>
              <a:off x="11256447" y="7645298"/>
              <a:ext cx="52121" cy="114666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path 727"/>
            <p:cNvSpPr/>
            <p:nvPr/>
          </p:nvSpPr>
          <p:spPr>
            <a:xfrm>
              <a:off x="10928086" y="7890266"/>
              <a:ext cx="286664" cy="104242"/>
            </a:xfrm>
            <a:custGeom>
              <a:avLst/>
              <a:gdLst/>
              <a:ahLst/>
              <a:cxnLst/>
              <a:rect l="0" t="0" r="r" b="b"/>
              <a:pathLst>
                <a:path w="286664" h="104242">
                  <a:moveTo>
                    <a:pt x="93817" y="0"/>
                  </a:moveTo>
                  <a:lnTo>
                    <a:pt x="93817" y="36485"/>
                  </a:lnTo>
                  <a:lnTo>
                    <a:pt x="36485" y="46909"/>
                  </a:lnTo>
                  <a:cubicBezTo>
                    <a:pt x="5212" y="52121"/>
                    <a:pt x="0" y="72969"/>
                    <a:pt x="0" y="104242"/>
                  </a:cubicBezTo>
                  <a:lnTo>
                    <a:pt x="286664" y="104242"/>
                  </a:lnTo>
                  <a:lnTo>
                    <a:pt x="286664" y="78181"/>
                  </a:lnTo>
                  <a:cubicBezTo>
                    <a:pt x="276240" y="52121"/>
                    <a:pt x="229332" y="46909"/>
                    <a:pt x="177211" y="41697"/>
                  </a:cubicBezTo>
                  <a:lnTo>
                    <a:pt x="177211" y="0"/>
                  </a:lnTo>
                  <a:close/>
                </a:path>
              </a:pathLst>
            </a:custGeom>
            <a:solidFill>
              <a:srgbClr val="96D8EE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0" name="path 728"/>
            <p:cNvSpPr/>
            <p:nvPr/>
          </p:nvSpPr>
          <p:spPr>
            <a:xfrm>
              <a:off x="11037540" y="7900690"/>
              <a:ext cx="67757" cy="83393"/>
            </a:xfrm>
            <a:custGeom>
              <a:avLst/>
              <a:gdLst/>
              <a:ahLst/>
              <a:cxnLst/>
              <a:rect l="0" t="0" r="r" b="b"/>
              <a:pathLst>
                <a:path w="67757" h="83393">
                  <a:moveTo>
                    <a:pt x="0" y="0"/>
                  </a:moveTo>
                  <a:lnTo>
                    <a:pt x="0" y="52121"/>
                  </a:lnTo>
                  <a:cubicBezTo>
                    <a:pt x="15636" y="83393"/>
                    <a:pt x="62545" y="72969"/>
                    <a:pt x="67757" y="46909"/>
                  </a:cubicBezTo>
                  <a:lnTo>
                    <a:pt x="67757" y="0"/>
                  </a:lnTo>
                  <a:close/>
                </a:path>
              </a:pathLst>
            </a:custGeom>
            <a:solidFill>
              <a:srgbClr val="367797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1" name="rect 729"/>
            <p:cNvSpPr/>
            <p:nvPr/>
          </p:nvSpPr>
          <p:spPr>
            <a:xfrm>
              <a:off x="10865541" y="7546269"/>
              <a:ext cx="401330" cy="364846"/>
            </a:xfrm>
            <a:prstGeom prst="roundRect">
              <a:avLst>
                <a:gd name="adj" fmla="val 21428"/>
              </a:avLst>
            </a:prstGeom>
            <a:solidFill>
              <a:srgbClr val="70CCE9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path 730"/>
            <p:cNvSpPr/>
            <p:nvPr/>
          </p:nvSpPr>
          <p:spPr>
            <a:xfrm>
              <a:off x="10870753" y="7577541"/>
              <a:ext cx="364846" cy="328361"/>
            </a:xfrm>
            <a:custGeom>
              <a:avLst/>
              <a:gdLst/>
              <a:ahLst/>
              <a:cxnLst/>
              <a:rect l="0" t="0" r="r" b="b"/>
              <a:pathLst>
                <a:path w="364846" h="328361">
                  <a:moveTo>
                    <a:pt x="41697" y="0"/>
                  </a:moveTo>
                  <a:cubicBezTo>
                    <a:pt x="0" y="15636"/>
                    <a:pt x="10424" y="255392"/>
                    <a:pt x="31272" y="291876"/>
                  </a:cubicBezTo>
                  <a:cubicBezTo>
                    <a:pt x="67757" y="328361"/>
                    <a:pt x="328361" y="328361"/>
                    <a:pt x="364846" y="291876"/>
                  </a:cubicBezTo>
                </a:path>
              </a:pathLst>
            </a:custGeom>
            <a:noFill/>
            <a:ln w="13030" cap="rnd">
              <a:solidFill>
                <a:srgbClr val="B9EB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 731"/>
            <p:cNvSpPr/>
            <p:nvPr/>
          </p:nvSpPr>
          <p:spPr>
            <a:xfrm>
              <a:off x="10902025" y="7582753"/>
              <a:ext cx="323149" cy="276240"/>
            </a:xfrm>
            <a:prstGeom prst="roundRect">
              <a:avLst>
                <a:gd name="adj" fmla="val 18867"/>
              </a:avLst>
            </a:prstGeom>
            <a:solidFill>
              <a:srgbClr val="D2F2F7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ellipse 732"/>
            <p:cNvSpPr/>
            <p:nvPr/>
          </p:nvSpPr>
          <p:spPr>
            <a:xfrm>
              <a:off x="10954146" y="7629662"/>
              <a:ext cx="57333" cy="67757"/>
            </a:xfrm>
            <a:prstGeom prst="ellipse">
              <a:avLst/>
            </a:prstGeom>
            <a:solidFill>
              <a:srgbClr val="B9E7F0"/>
            </a:solidFill>
            <a:ln w="1303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5" name="ellipse 733"/>
            <p:cNvSpPr/>
            <p:nvPr/>
          </p:nvSpPr>
          <p:spPr>
            <a:xfrm>
              <a:off x="11110509" y="7629662"/>
              <a:ext cx="57333" cy="67757"/>
            </a:xfrm>
            <a:prstGeom prst="ellipse">
              <a:avLst/>
            </a:prstGeom>
            <a:solidFill>
              <a:srgbClr val="B9E7F0"/>
            </a:solidFill>
            <a:ln w="1303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6" name="path 734"/>
            <p:cNvSpPr/>
            <p:nvPr/>
          </p:nvSpPr>
          <p:spPr>
            <a:xfrm>
              <a:off x="11016691" y="7718268"/>
              <a:ext cx="88605" cy="36485"/>
            </a:xfrm>
            <a:custGeom>
              <a:avLst/>
              <a:gdLst/>
              <a:ahLst/>
              <a:cxnLst/>
              <a:rect l="0" t="0" r="r" b="b"/>
              <a:pathLst>
                <a:path w="88605" h="36485">
                  <a:moveTo>
                    <a:pt x="0" y="5212"/>
                  </a:moveTo>
                  <a:cubicBezTo>
                    <a:pt x="20848" y="36485"/>
                    <a:pt x="62545" y="36485"/>
                    <a:pt x="88605" y="0"/>
                  </a:cubicBezTo>
                </a:path>
              </a:pathLst>
            </a:custGeom>
            <a:noFill/>
            <a:ln w="1250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path 735"/>
            <p:cNvSpPr/>
            <p:nvPr/>
          </p:nvSpPr>
          <p:spPr>
            <a:xfrm>
              <a:off x="10938510" y="7728692"/>
              <a:ext cx="239756" cy="26060"/>
            </a:xfrm>
            <a:custGeom>
              <a:avLst/>
              <a:gdLst/>
              <a:ahLst/>
              <a:cxnLst/>
              <a:rect l="0" t="0" r="r" b="b"/>
              <a:pathLst>
                <a:path w="239756" h="26060">
                  <a:moveTo>
                    <a:pt x="0" y="0"/>
                  </a:moveTo>
                  <a:lnTo>
                    <a:pt x="31272" y="0"/>
                  </a:lnTo>
                  <a:moveTo>
                    <a:pt x="0" y="26060"/>
                  </a:moveTo>
                  <a:lnTo>
                    <a:pt x="31272" y="26060"/>
                  </a:lnTo>
                  <a:moveTo>
                    <a:pt x="208483" y="0"/>
                  </a:moveTo>
                  <a:lnTo>
                    <a:pt x="239756" y="0"/>
                  </a:lnTo>
                  <a:moveTo>
                    <a:pt x="208483" y="26060"/>
                  </a:moveTo>
                  <a:lnTo>
                    <a:pt x="239756" y="26060"/>
                  </a:lnTo>
                </a:path>
              </a:pathLst>
            </a:custGeom>
            <a:noFill/>
            <a:ln w="8860" cap="rnd">
              <a:solidFill>
                <a:srgbClr val="3C788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AI"/>
            <p:cNvSpPr txBox="1"/>
            <p:nvPr/>
          </p:nvSpPr>
          <p:spPr>
            <a:xfrm>
              <a:off x="10945234" y="7939155"/>
              <a:ext cx="134481" cy="8443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369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AI</a:t>
              </a:r>
            </a:p>
          </p:txBody>
        </p:sp>
        <p:sp>
          <p:nvSpPr>
            <p:cNvPr id="739" name="path 737"/>
            <p:cNvSpPr/>
            <p:nvPr/>
          </p:nvSpPr>
          <p:spPr>
            <a:xfrm>
              <a:off x="11151580" y="7431603"/>
              <a:ext cx="204001" cy="220106"/>
            </a:xfrm>
            <a:custGeom>
              <a:avLst/>
              <a:gdLst/>
              <a:ahLst/>
              <a:cxnLst/>
              <a:rect l="0" t="0" r="r" b="b"/>
              <a:pathLst>
                <a:path w="204001" h="220106">
                  <a:moveTo>
                    <a:pt x="102000" y="0"/>
                  </a:moveTo>
                  <a:cubicBezTo>
                    <a:pt x="59053" y="37579"/>
                    <a:pt x="112737" y="53684"/>
                    <a:pt x="69790" y="96632"/>
                  </a:cubicBezTo>
                  <a:cubicBezTo>
                    <a:pt x="48316" y="107369"/>
                    <a:pt x="42948" y="85895"/>
                    <a:pt x="42948" y="80527"/>
                  </a:cubicBezTo>
                  <a:cubicBezTo>
                    <a:pt x="0" y="134211"/>
                    <a:pt x="21474" y="198632"/>
                    <a:pt x="91264" y="209369"/>
                  </a:cubicBezTo>
                  <a:cubicBezTo>
                    <a:pt x="166422" y="220106"/>
                    <a:pt x="204001" y="155685"/>
                    <a:pt x="171790" y="102000"/>
                  </a:cubicBezTo>
                  <a:cubicBezTo>
                    <a:pt x="171790" y="134211"/>
                    <a:pt x="139580" y="128843"/>
                    <a:pt x="134211" y="107369"/>
                  </a:cubicBezTo>
                  <a:cubicBezTo>
                    <a:pt x="161053" y="48316"/>
                    <a:pt x="107369" y="59053"/>
                    <a:pt x="102000" y="0"/>
                  </a:cubicBezTo>
                  <a:close/>
                </a:path>
              </a:pathLst>
            </a:custGeom>
            <a:solidFill>
              <a:srgbClr val="F64A57"/>
            </a:solidFill>
            <a:ln w="858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0" name="path 738"/>
            <p:cNvSpPr/>
            <p:nvPr/>
          </p:nvSpPr>
          <p:spPr>
            <a:xfrm>
              <a:off x="11189159" y="7512130"/>
              <a:ext cx="128843" cy="118106"/>
            </a:xfrm>
            <a:custGeom>
              <a:avLst/>
              <a:gdLst/>
              <a:ahLst/>
              <a:cxnLst/>
              <a:rect l="0" t="0" r="r" b="b"/>
              <a:pathLst>
                <a:path w="128843" h="118106">
                  <a:moveTo>
                    <a:pt x="69790" y="0"/>
                  </a:moveTo>
                  <a:cubicBezTo>
                    <a:pt x="48316" y="42948"/>
                    <a:pt x="75158" y="42948"/>
                    <a:pt x="48316" y="64421"/>
                  </a:cubicBezTo>
                  <a:cubicBezTo>
                    <a:pt x="21474" y="64421"/>
                    <a:pt x="37579" y="48316"/>
                    <a:pt x="26842" y="48316"/>
                  </a:cubicBezTo>
                  <a:cubicBezTo>
                    <a:pt x="0" y="91264"/>
                    <a:pt x="37579" y="118106"/>
                    <a:pt x="64421" y="112737"/>
                  </a:cubicBezTo>
                  <a:cubicBezTo>
                    <a:pt x="112737" y="112737"/>
                    <a:pt x="128843" y="75158"/>
                    <a:pt x="107369" y="59053"/>
                  </a:cubicBezTo>
                  <a:cubicBezTo>
                    <a:pt x="96632" y="96632"/>
                    <a:pt x="69790" y="69790"/>
                    <a:pt x="85895" y="48316"/>
                  </a:cubicBezTo>
                  <a:cubicBezTo>
                    <a:pt x="91264" y="32211"/>
                    <a:pt x="75158" y="21474"/>
                    <a:pt x="69790" y="0"/>
                  </a:cubicBezTo>
                  <a:close/>
                </a:path>
              </a:pathLst>
            </a:custGeom>
            <a:solidFill>
              <a:srgbClr val="FFB747"/>
            </a:solidFill>
            <a:ln w="6442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1" name="path 739"/>
            <p:cNvSpPr/>
            <p:nvPr/>
          </p:nvSpPr>
          <p:spPr>
            <a:xfrm>
              <a:off x="11339475" y="7479919"/>
              <a:ext cx="5368" cy="16105"/>
            </a:xfrm>
            <a:custGeom>
              <a:avLst/>
              <a:gdLst/>
              <a:ahLst/>
              <a:cxnLst/>
              <a:rect l="0" t="0" r="r" b="b"/>
              <a:pathLst>
                <a:path w="5368" h="16105">
                  <a:moveTo>
                    <a:pt x="0" y="0"/>
                  </a:moveTo>
                  <a:lnTo>
                    <a:pt x="5368" y="16105"/>
                  </a:lnTo>
                </a:path>
              </a:pathLst>
            </a:custGeom>
            <a:noFill/>
            <a:ln w="536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2" name="path 740"/>
            <p:cNvSpPr/>
            <p:nvPr/>
          </p:nvSpPr>
          <p:spPr>
            <a:xfrm>
              <a:off x="11194527" y="7469182"/>
              <a:ext cx="5368" cy="16105"/>
            </a:xfrm>
            <a:custGeom>
              <a:avLst/>
              <a:gdLst/>
              <a:ahLst/>
              <a:cxnLst/>
              <a:rect l="0" t="0" r="r" b="b"/>
              <a:pathLst>
                <a:path w="5368" h="16105">
                  <a:moveTo>
                    <a:pt x="0" y="0"/>
                  </a:moveTo>
                  <a:lnTo>
                    <a:pt x="5368" y="16105"/>
                  </a:lnTo>
                </a:path>
              </a:pathLst>
            </a:custGeom>
            <a:noFill/>
            <a:ln w="536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path 741"/>
            <p:cNvSpPr/>
            <p:nvPr/>
          </p:nvSpPr>
          <p:spPr>
            <a:xfrm>
              <a:off x="11318002" y="7436972"/>
              <a:ext cx="5368" cy="16105"/>
            </a:xfrm>
            <a:custGeom>
              <a:avLst/>
              <a:gdLst/>
              <a:ahLst/>
              <a:cxnLst/>
              <a:rect l="0" t="0" r="r" b="b"/>
              <a:pathLst>
                <a:path w="5368" h="16105">
                  <a:moveTo>
                    <a:pt x="0" y="0"/>
                  </a:moveTo>
                  <a:lnTo>
                    <a:pt x="5368" y="16105"/>
                  </a:lnTo>
                </a:path>
              </a:pathLst>
            </a:custGeom>
            <a:noFill/>
            <a:ln w="536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44" name="Reference"/>
          <p:cNvSpPr txBox="1"/>
          <p:nvPr/>
        </p:nvSpPr>
        <p:spPr>
          <a:xfrm>
            <a:off x="9435713" y="8995684"/>
            <a:ext cx="1406126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Reference</a:t>
            </a:r>
          </a:p>
        </p:txBody>
      </p:sp>
      <p:sp>
        <p:nvSpPr>
          <p:cNvPr id="745" name="Model"/>
          <p:cNvSpPr txBox="1"/>
          <p:nvPr/>
        </p:nvSpPr>
        <p:spPr>
          <a:xfrm>
            <a:off x="9710622" y="9287378"/>
            <a:ext cx="856307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grpSp>
        <p:nvGrpSpPr>
          <p:cNvPr id="927" name="reference-model-744"/>
          <p:cNvGrpSpPr/>
          <p:nvPr/>
        </p:nvGrpSpPr>
        <p:grpSpPr>
          <a:xfrm>
            <a:off x="10823844" y="9041982"/>
            <a:ext cx="484724" cy="536089"/>
            <a:chOff x="10823844" y="9041982"/>
            <a:chExt cx="484724" cy="536089"/>
          </a:xfrm>
        </p:grpSpPr>
        <p:sp>
          <p:nvSpPr>
            <p:cNvPr id="746" name="ellipse 744"/>
            <p:cNvSpPr/>
            <p:nvPr/>
          </p:nvSpPr>
          <p:spPr>
            <a:xfrm>
              <a:off x="10933298" y="9069476"/>
              <a:ext cx="67757" cy="57333"/>
            </a:xfrm>
            <a:prstGeom prst="ellipse">
              <a:avLst/>
            </a:prstGeom>
            <a:solidFill>
              <a:srgbClr val="ED7278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ellipse 745"/>
            <p:cNvSpPr/>
            <p:nvPr/>
          </p:nvSpPr>
          <p:spPr>
            <a:xfrm>
              <a:off x="11011479" y="9064264"/>
              <a:ext cx="67757" cy="62545"/>
            </a:xfrm>
            <a:prstGeom prst="ellipse">
              <a:avLst/>
            </a:prstGeom>
            <a:solidFill>
              <a:srgbClr val="ED7278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ellipse 746"/>
            <p:cNvSpPr/>
            <p:nvPr/>
          </p:nvSpPr>
          <p:spPr>
            <a:xfrm>
              <a:off x="11094872" y="9069476"/>
              <a:ext cx="67757" cy="57333"/>
            </a:xfrm>
            <a:prstGeom prst="ellipse">
              <a:avLst/>
            </a:prstGeom>
            <a:solidFill>
              <a:srgbClr val="ED7278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 747"/>
            <p:cNvSpPr/>
            <p:nvPr/>
          </p:nvSpPr>
          <p:spPr>
            <a:xfrm>
              <a:off x="10823844" y="9199778"/>
              <a:ext cx="52121" cy="114666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0" name="rect 748"/>
            <p:cNvSpPr/>
            <p:nvPr/>
          </p:nvSpPr>
          <p:spPr>
            <a:xfrm>
              <a:off x="11256447" y="9199778"/>
              <a:ext cx="52121" cy="114666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1" name="path 749"/>
            <p:cNvSpPr/>
            <p:nvPr/>
          </p:nvSpPr>
          <p:spPr>
            <a:xfrm>
              <a:off x="10928086" y="9444746"/>
              <a:ext cx="286664" cy="104242"/>
            </a:xfrm>
            <a:custGeom>
              <a:avLst/>
              <a:gdLst/>
              <a:ahLst/>
              <a:cxnLst/>
              <a:rect l="0" t="0" r="r" b="b"/>
              <a:pathLst>
                <a:path w="286664" h="104242">
                  <a:moveTo>
                    <a:pt x="93817" y="0"/>
                  </a:moveTo>
                  <a:lnTo>
                    <a:pt x="93817" y="36485"/>
                  </a:lnTo>
                  <a:lnTo>
                    <a:pt x="36485" y="46909"/>
                  </a:lnTo>
                  <a:cubicBezTo>
                    <a:pt x="5212" y="52121"/>
                    <a:pt x="0" y="72969"/>
                    <a:pt x="0" y="104242"/>
                  </a:cubicBezTo>
                  <a:lnTo>
                    <a:pt x="286664" y="104242"/>
                  </a:lnTo>
                  <a:lnTo>
                    <a:pt x="286664" y="78181"/>
                  </a:lnTo>
                  <a:cubicBezTo>
                    <a:pt x="276240" y="52121"/>
                    <a:pt x="229332" y="46909"/>
                    <a:pt x="177211" y="41697"/>
                  </a:cubicBezTo>
                  <a:lnTo>
                    <a:pt x="177211" y="0"/>
                  </a:lnTo>
                  <a:close/>
                </a:path>
              </a:pathLst>
            </a:custGeom>
            <a:solidFill>
              <a:srgbClr val="96D8EE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2" name="path 750"/>
            <p:cNvSpPr/>
            <p:nvPr/>
          </p:nvSpPr>
          <p:spPr>
            <a:xfrm>
              <a:off x="11037540" y="9455170"/>
              <a:ext cx="67757" cy="83393"/>
            </a:xfrm>
            <a:custGeom>
              <a:avLst/>
              <a:gdLst/>
              <a:ahLst/>
              <a:cxnLst/>
              <a:rect l="0" t="0" r="r" b="b"/>
              <a:pathLst>
                <a:path w="67757" h="83393">
                  <a:moveTo>
                    <a:pt x="0" y="0"/>
                  </a:moveTo>
                  <a:lnTo>
                    <a:pt x="0" y="52121"/>
                  </a:lnTo>
                  <a:cubicBezTo>
                    <a:pt x="15636" y="83393"/>
                    <a:pt x="62545" y="72969"/>
                    <a:pt x="67757" y="46909"/>
                  </a:cubicBezTo>
                  <a:lnTo>
                    <a:pt x="67757" y="0"/>
                  </a:lnTo>
                  <a:close/>
                </a:path>
              </a:pathLst>
            </a:custGeom>
            <a:solidFill>
              <a:srgbClr val="367797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 751"/>
            <p:cNvSpPr/>
            <p:nvPr/>
          </p:nvSpPr>
          <p:spPr>
            <a:xfrm>
              <a:off x="10865541" y="9100749"/>
              <a:ext cx="401330" cy="364846"/>
            </a:xfrm>
            <a:prstGeom prst="roundRect">
              <a:avLst>
                <a:gd name="adj" fmla="val 21428"/>
              </a:avLst>
            </a:prstGeom>
            <a:solidFill>
              <a:srgbClr val="70CCE9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4" name="path 752"/>
            <p:cNvSpPr/>
            <p:nvPr/>
          </p:nvSpPr>
          <p:spPr>
            <a:xfrm>
              <a:off x="10870753" y="9132021"/>
              <a:ext cx="364846" cy="328361"/>
            </a:xfrm>
            <a:custGeom>
              <a:avLst/>
              <a:gdLst/>
              <a:ahLst/>
              <a:cxnLst/>
              <a:rect l="0" t="0" r="r" b="b"/>
              <a:pathLst>
                <a:path w="364846" h="328361">
                  <a:moveTo>
                    <a:pt x="41697" y="0"/>
                  </a:moveTo>
                  <a:cubicBezTo>
                    <a:pt x="0" y="15636"/>
                    <a:pt x="10424" y="255392"/>
                    <a:pt x="31272" y="291876"/>
                  </a:cubicBezTo>
                  <a:cubicBezTo>
                    <a:pt x="67757" y="328361"/>
                    <a:pt x="328361" y="328361"/>
                    <a:pt x="364846" y="291876"/>
                  </a:cubicBezTo>
                </a:path>
              </a:pathLst>
            </a:custGeom>
            <a:noFill/>
            <a:ln w="13030" cap="rnd">
              <a:solidFill>
                <a:srgbClr val="B9EB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5" name="rect 753"/>
            <p:cNvSpPr/>
            <p:nvPr/>
          </p:nvSpPr>
          <p:spPr>
            <a:xfrm>
              <a:off x="10902025" y="9137233"/>
              <a:ext cx="323149" cy="276240"/>
            </a:xfrm>
            <a:prstGeom prst="roundRect">
              <a:avLst>
                <a:gd name="adj" fmla="val 18867"/>
              </a:avLst>
            </a:prstGeom>
            <a:solidFill>
              <a:srgbClr val="D2F2F7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6" name="ellipse 754"/>
            <p:cNvSpPr/>
            <p:nvPr/>
          </p:nvSpPr>
          <p:spPr>
            <a:xfrm>
              <a:off x="10954146" y="9184142"/>
              <a:ext cx="57333" cy="67757"/>
            </a:xfrm>
            <a:prstGeom prst="ellipse">
              <a:avLst/>
            </a:prstGeom>
            <a:solidFill>
              <a:srgbClr val="B9E7F0"/>
            </a:solidFill>
            <a:ln w="1303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7" name="ellipse 755"/>
            <p:cNvSpPr/>
            <p:nvPr/>
          </p:nvSpPr>
          <p:spPr>
            <a:xfrm>
              <a:off x="11110509" y="9184142"/>
              <a:ext cx="57333" cy="67757"/>
            </a:xfrm>
            <a:prstGeom prst="ellipse">
              <a:avLst/>
            </a:prstGeom>
            <a:solidFill>
              <a:srgbClr val="B9E7F0"/>
            </a:solidFill>
            <a:ln w="1303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8" name="path 756"/>
            <p:cNvSpPr/>
            <p:nvPr/>
          </p:nvSpPr>
          <p:spPr>
            <a:xfrm>
              <a:off x="11016691" y="9272748"/>
              <a:ext cx="88605" cy="36485"/>
            </a:xfrm>
            <a:custGeom>
              <a:avLst/>
              <a:gdLst/>
              <a:ahLst/>
              <a:cxnLst/>
              <a:rect l="0" t="0" r="r" b="b"/>
              <a:pathLst>
                <a:path w="88605" h="36485">
                  <a:moveTo>
                    <a:pt x="0" y="5212"/>
                  </a:moveTo>
                  <a:cubicBezTo>
                    <a:pt x="20848" y="36485"/>
                    <a:pt x="62545" y="36485"/>
                    <a:pt x="88605" y="0"/>
                  </a:cubicBezTo>
                </a:path>
              </a:pathLst>
            </a:custGeom>
            <a:noFill/>
            <a:ln w="1250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9" name="path 757"/>
            <p:cNvSpPr/>
            <p:nvPr/>
          </p:nvSpPr>
          <p:spPr>
            <a:xfrm>
              <a:off x="10938510" y="9283172"/>
              <a:ext cx="239756" cy="26060"/>
            </a:xfrm>
            <a:custGeom>
              <a:avLst/>
              <a:gdLst/>
              <a:ahLst/>
              <a:cxnLst/>
              <a:rect l="0" t="0" r="r" b="b"/>
              <a:pathLst>
                <a:path w="239756" h="26060">
                  <a:moveTo>
                    <a:pt x="0" y="0"/>
                  </a:moveTo>
                  <a:lnTo>
                    <a:pt x="31272" y="0"/>
                  </a:lnTo>
                  <a:moveTo>
                    <a:pt x="0" y="26060"/>
                  </a:moveTo>
                  <a:lnTo>
                    <a:pt x="31272" y="26060"/>
                  </a:lnTo>
                  <a:moveTo>
                    <a:pt x="208483" y="0"/>
                  </a:moveTo>
                  <a:lnTo>
                    <a:pt x="239756" y="0"/>
                  </a:lnTo>
                  <a:moveTo>
                    <a:pt x="208483" y="26060"/>
                  </a:moveTo>
                  <a:lnTo>
                    <a:pt x="239756" y="26060"/>
                  </a:lnTo>
                </a:path>
              </a:pathLst>
            </a:custGeom>
            <a:noFill/>
            <a:ln w="8860" cap="rnd">
              <a:solidFill>
                <a:srgbClr val="3C788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0" name="AI"/>
            <p:cNvSpPr txBox="1"/>
            <p:nvPr/>
          </p:nvSpPr>
          <p:spPr>
            <a:xfrm>
              <a:off x="10945234" y="9493635"/>
              <a:ext cx="134481" cy="8443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369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AI</a:t>
              </a:r>
            </a:p>
          </p:txBody>
        </p:sp>
        <p:sp>
          <p:nvSpPr>
            <p:cNvPr id="761" name="path 759"/>
            <p:cNvSpPr/>
            <p:nvPr/>
          </p:nvSpPr>
          <p:spPr>
            <a:xfrm>
              <a:off x="11195413" y="9090325"/>
              <a:ext cx="111643" cy="91"/>
            </a:xfrm>
            <a:custGeom>
              <a:avLst/>
              <a:gdLst/>
              <a:ahLst/>
              <a:cxnLst/>
              <a:rect l="0" t="0" r="r" b="b"/>
              <a:pathLst>
                <a:path w="111643" h="91">
                  <a:moveTo>
                    <a:pt x="0" y="0"/>
                  </a:moveTo>
                  <a:lnTo>
                    <a:pt x="111643" y="0"/>
                  </a:lnTo>
                </a:path>
              </a:pathLst>
            </a:custGeom>
            <a:noFill/>
            <a:ln w="16418" cap="rnd">
              <a:solidFill>
                <a:srgbClr val="223C4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2" name="path 760"/>
            <p:cNvSpPr/>
            <p:nvPr/>
          </p:nvSpPr>
          <p:spPr>
            <a:xfrm>
              <a:off x="11195413" y="9090325"/>
              <a:ext cx="111643" cy="91"/>
            </a:xfrm>
            <a:custGeom>
              <a:avLst/>
              <a:gdLst/>
              <a:ahLst/>
              <a:cxnLst/>
              <a:rect l="0" t="0" r="r" b="b"/>
              <a:pathLst>
                <a:path w="111643" h="91">
                  <a:moveTo>
                    <a:pt x="0" y="0"/>
                  </a:moveTo>
                  <a:lnTo>
                    <a:pt x="111643" y="0"/>
                  </a:lnTo>
                </a:path>
              </a:pathLst>
            </a:custGeom>
            <a:noFill/>
            <a:ln w="9194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3" name="path 761"/>
            <p:cNvSpPr/>
            <p:nvPr/>
          </p:nvSpPr>
          <p:spPr>
            <a:xfrm>
              <a:off x="11215115" y="9074892"/>
              <a:ext cx="12247" cy="15433"/>
            </a:xfrm>
            <a:custGeom>
              <a:avLst/>
              <a:gdLst/>
              <a:ahLst/>
              <a:cxnLst/>
              <a:rect l="0" t="0" r="r" b="b"/>
              <a:pathLst>
                <a:path w="12247" h="15433">
                  <a:moveTo>
                    <a:pt x="0" y="15433"/>
                  </a:moveTo>
                  <a:lnTo>
                    <a:pt x="12247" y="0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4" name="path 762"/>
            <p:cNvSpPr/>
            <p:nvPr/>
          </p:nvSpPr>
          <p:spPr>
            <a:xfrm>
              <a:off x="11215115" y="9074892"/>
              <a:ext cx="12247" cy="15433"/>
            </a:xfrm>
            <a:custGeom>
              <a:avLst/>
              <a:gdLst/>
              <a:ahLst/>
              <a:cxnLst/>
              <a:rect l="0" t="0" r="r" b="b"/>
              <a:pathLst>
                <a:path w="12247" h="15433">
                  <a:moveTo>
                    <a:pt x="0" y="15433"/>
                  </a:moveTo>
                  <a:lnTo>
                    <a:pt x="12247" y="0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5" name="path 763"/>
            <p:cNvSpPr/>
            <p:nvPr/>
          </p:nvSpPr>
          <p:spPr>
            <a:xfrm>
              <a:off x="11215115" y="9090325"/>
              <a:ext cx="12247" cy="15433"/>
            </a:xfrm>
            <a:custGeom>
              <a:avLst/>
              <a:gdLst/>
              <a:ahLst/>
              <a:cxnLst/>
              <a:rect l="0" t="0" r="r" b="b"/>
              <a:pathLst>
                <a:path w="12247" h="15433">
                  <a:moveTo>
                    <a:pt x="0" y="0"/>
                  </a:moveTo>
                  <a:lnTo>
                    <a:pt x="12247" y="15433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6" name="path 764"/>
            <p:cNvSpPr/>
            <p:nvPr/>
          </p:nvSpPr>
          <p:spPr>
            <a:xfrm>
              <a:off x="11215115" y="9090325"/>
              <a:ext cx="12247" cy="15433"/>
            </a:xfrm>
            <a:custGeom>
              <a:avLst/>
              <a:gdLst/>
              <a:ahLst/>
              <a:cxnLst/>
              <a:rect l="0" t="0" r="r" b="b"/>
              <a:pathLst>
                <a:path w="12247" h="15433">
                  <a:moveTo>
                    <a:pt x="0" y="0"/>
                  </a:moveTo>
                  <a:lnTo>
                    <a:pt x="12247" y="15433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7" name="path 765"/>
            <p:cNvSpPr/>
            <p:nvPr/>
          </p:nvSpPr>
          <p:spPr>
            <a:xfrm>
              <a:off x="11275108" y="9090325"/>
              <a:ext cx="12247" cy="15433"/>
            </a:xfrm>
            <a:custGeom>
              <a:avLst/>
              <a:gdLst/>
              <a:ahLst/>
              <a:cxnLst/>
              <a:rect l="0" t="0" r="r" b="b"/>
              <a:pathLst>
                <a:path w="12247" h="15433">
                  <a:moveTo>
                    <a:pt x="12247" y="0"/>
                  </a:moveTo>
                  <a:lnTo>
                    <a:pt x="0" y="15433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8" name="path 766"/>
            <p:cNvSpPr/>
            <p:nvPr/>
          </p:nvSpPr>
          <p:spPr>
            <a:xfrm>
              <a:off x="11275108" y="9090325"/>
              <a:ext cx="12247" cy="15433"/>
            </a:xfrm>
            <a:custGeom>
              <a:avLst/>
              <a:gdLst/>
              <a:ahLst/>
              <a:cxnLst/>
              <a:rect l="0" t="0" r="r" b="b"/>
              <a:pathLst>
                <a:path w="12247" h="15433">
                  <a:moveTo>
                    <a:pt x="12247" y="0"/>
                  </a:moveTo>
                  <a:lnTo>
                    <a:pt x="0" y="15433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9" name="path 767"/>
            <p:cNvSpPr/>
            <p:nvPr/>
          </p:nvSpPr>
          <p:spPr>
            <a:xfrm>
              <a:off x="11275108" y="9074892"/>
              <a:ext cx="12247" cy="15433"/>
            </a:xfrm>
            <a:custGeom>
              <a:avLst/>
              <a:gdLst/>
              <a:ahLst/>
              <a:cxnLst/>
              <a:rect l="0" t="0" r="r" b="b"/>
              <a:pathLst>
                <a:path w="12247" h="15433">
                  <a:moveTo>
                    <a:pt x="12247" y="15433"/>
                  </a:moveTo>
                  <a:lnTo>
                    <a:pt x="0" y="0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0" name="path 768"/>
            <p:cNvSpPr/>
            <p:nvPr/>
          </p:nvSpPr>
          <p:spPr>
            <a:xfrm>
              <a:off x="11275108" y="9074892"/>
              <a:ext cx="12247" cy="15433"/>
            </a:xfrm>
            <a:custGeom>
              <a:avLst/>
              <a:gdLst/>
              <a:ahLst/>
              <a:cxnLst/>
              <a:rect l="0" t="0" r="r" b="b"/>
              <a:pathLst>
                <a:path w="12247" h="15433">
                  <a:moveTo>
                    <a:pt x="12247" y="15433"/>
                  </a:moveTo>
                  <a:lnTo>
                    <a:pt x="0" y="0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1" name="path 769"/>
            <p:cNvSpPr/>
            <p:nvPr/>
          </p:nvSpPr>
          <p:spPr>
            <a:xfrm>
              <a:off x="11223324" y="9041982"/>
              <a:ext cx="55821" cy="96685"/>
            </a:xfrm>
            <a:custGeom>
              <a:avLst/>
              <a:gdLst/>
              <a:ahLst/>
              <a:cxnLst/>
              <a:rect l="0" t="0" r="r" b="b"/>
              <a:pathLst>
                <a:path w="55821" h="96685">
                  <a:moveTo>
                    <a:pt x="0" y="0"/>
                  </a:moveTo>
                  <a:lnTo>
                    <a:pt x="55821" y="96685"/>
                  </a:lnTo>
                </a:path>
              </a:pathLst>
            </a:custGeom>
            <a:noFill/>
            <a:ln w="16418" cap="rnd">
              <a:solidFill>
                <a:srgbClr val="223C4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2" name="path 770"/>
            <p:cNvSpPr/>
            <p:nvPr/>
          </p:nvSpPr>
          <p:spPr>
            <a:xfrm>
              <a:off x="11223324" y="9041982"/>
              <a:ext cx="55821" cy="96685"/>
            </a:xfrm>
            <a:custGeom>
              <a:avLst/>
              <a:gdLst/>
              <a:ahLst/>
              <a:cxnLst/>
              <a:rect l="0" t="0" r="r" b="b"/>
              <a:pathLst>
                <a:path w="55821" h="96685">
                  <a:moveTo>
                    <a:pt x="0" y="0"/>
                  </a:moveTo>
                  <a:lnTo>
                    <a:pt x="55821" y="96685"/>
                  </a:lnTo>
                </a:path>
              </a:pathLst>
            </a:custGeom>
            <a:noFill/>
            <a:ln w="9194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3" name="path 771"/>
            <p:cNvSpPr/>
            <p:nvPr/>
          </p:nvSpPr>
          <p:spPr>
            <a:xfrm>
              <a:off x="11233175" y="9059044"/>
              <a:ext cx="19489" cy="2890"/>
            </a:xfrm>
            <a:custGeom>
              <a:avLst/>
              <a:gdLst/>
              <a:ahLst/>
              <a:cxnLst/>
              <a:rect l="0" t="0" r="r" b="b"/>
              <a:pathLst>
                <a:path w="19489" h="2890">
                  <a:moveTo>
                    <a:pt x="0" y="0"/>
                  </a:moveTo>
                  <a:lnTo>
                    <a:pt x="19489" y="2890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4" name="path 772"/>
            <p:cNvSpPr/>
            <p:nvPr/>
          </p:nvSpPr>
          <p:spPr>
            <a:xfrm>
              <a:off x="11233175" y="9059044"/>
              <a:ext cx="19489" cy="2890"/>
            </a:xfrm>
            <a:custGeom>
              <a:avLst/>
              <a:gdLst/>
              <a:ahLst/>
              <a:cxnLst/>
              <a:rect l="0" t="0" r="r" b="b"/>
              <a:pathLst>
                <a:path w="19489" h="2890">
                  <a:moveTo>
                    <a:pt x="0" y="0"/>
                  </a:moveTo>
                  <a:lnTo>
                    <a:pt x="19489" y="2890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5" name="path 773"/>
            <p:cNvSpPr/>
            <p:nvPr/>
          </p:nvSpPr>
          <p:spPr>
            <a:xfrm>
              <a:off x="11225933" y="9059044"/>
              <a:ext cx="7242" cy="18322"/>
            </a:xfrm>
            <a:custGeom>
              <a:avLst/>
              <a:gdLst/>
              <a:ahLst/>
              <a:cxnLst/>
              <a:rect l="0" t="0" r="r" b="b"/>
              <a:pathLst>
                <a:path w="7242" h="18322">
                  <a:moveTo>
                    <a:pt x="7242" y="0"/>
                  </a:moveTo>
                  <a:lnTo>
                    <a:pt x="0" y="18322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6" name="path 774"/>
            <p:cNvSpPr/>
            <p:nvPr/>
          </p:nvSpPr>
          <p:spPr>
            <a:xfrm>
              <a:off x="11225933" y="9059044"/>
              <a:ext cx="7242" cy="18322"/>
            </a:xfrm>
            <a:custGeom>
              <a:avLst/>
              <a:gdLst/>
              <a:ahLst/>
              <a:cxnLst/>
              <a:rect l="0" t="0" r="r" b="b"/>
              <a:pathLst>
                <a:path w="7242" h="18322">
                  <a:moveTo>
                    <a:pt x="7242" y="0"/>
                  </a:moveTo>
                  <a:lnTo>
                    <a:pt x="0" y="18322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7" name="path 775"/>
            <p:cNvSpPr/>
            <p:nvPr/>
          </p:nvSpPr>
          <p:spPr>
            <a:xfrm>
              <a:off x="11249806" y="9118716"/>
              <a:ext cx="19489" cy="2890"/>
            </a:xfrm>
            <a:custGeom>
              <a:avLst/>
              <a:gdLst/>
              <a:ahLst/>
              <a:cxnLst/>
              <a:rect l="0" t="0" r="r" b="b"/>
              <a:pathLst>
                <a:path w="19489" h="2890">
                  <a:moveTo>
                    <a:pt x="19489" y="2890"/>
                  </a:moveTo>
                  <a:lnTo>
                    <a:pt x="0" y="0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8" name="path 776"/>
            <p:cNvSpPr/>
            <p:nvPr/>
          </p:nvSpPr>
          <p:spPr>
            <a:xfrm>
              <a:off x="11249806" y="9118716"/>
              <a:ext cx="19489" cy="2890"/>
            </a:xfrm>
            <a:custGeom>
              <a:avLst/>
              <a:gdLst/>
              <a:ahLst/>
              <a:cxnLst/>
              <a:rect l="0" t="0" r="r" b="b"/>
              <a:pathLst>
                <a:path w="19489" h="2890">
                  <a:moveTo>
                    <a:pt x="19489" y="2890"/>
                  </a:moveTo>
                  <a:lnTo>
                    <a:pt x="0" y="0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9" name="path 777"/>
            <p:cNvSpPr/>
            <p:nvPr/>
          </p:nvSpPr>
          <p:spPr>
            <a:xfrm>
              <a:off x="11269295" y="9103283"/>
              <a:ext cx="7242" cy="18322"/>
            </a:xfrm>
            <a:custGeom>
              <a:avLst/>
              <a:gdLst/>
              <a:ahLst/>
              <a:cxnLst/>
              <a:rect l="0" t="0" r="r" b="b"/>
              <a:pathLst>
                <a:path w="7242" h="18322">
                  <a:moveTo>
                    <a:pt x="0" y="18322"/>
                  </a:moveTo>
                  <a:lnTo>
                    <a:pt x="7242" y="0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0" name="path 778"/>
            <p:cNvSpPr/>
            <p:nvPr/>
          </p:nvSpPr>
          <p:spPr>
            <a:xfrm>
              <a:off x="11269295" y="9103283"/>
              <a:ext cx="7242" cy="18322"/>
            </a:xfrm>
            <a:custGeom>
              <a:avLst/>
              <a:gdLst/>
              <a:ahLst/>
              <a:cxnLst/>
              <a:rect l="0" t="0" r="r" b="b"/>
              <a:pathLst>
                <a:path w="7242" h="18322">
                  <a:moveTo>
                    <a:pt x="0" y="18322"/>
                  </a:moveTo>
                  <a:lnTo>
                    <a:pt x="7242" y="0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1" name="path 779"/>
            <p:cNvSpPr/>
            <p:nvPr/>
          </p:nvSpPr>
          <p:spPr>
            <a:xfrm>
              <a:off x="11223324" y="9041982"/>
              <a:ext cx="55821" cy="96685"/>
            </a:xfrm>
            <a:custGeom>
              <a:avLst/>
              <a:gdLst/>
              <a:ahLst/>
              <a:cxnLst/>
              <a:rect l="0" t="0" r="r" b="b"/>
              <a:pathLst>
                <a:path w="55821" h="96685">
                  <a:moveTo>
                    <a:pt x="55821" y="0"/>
                  </a:moveTo>
                  <a:lnTo>
                    <a:pt x="0" y="96685"/>
                  </a:lnTo>
                </a:path>
              </a:pathLst>
            </a:custGeom>
            <a:noFill/>
            <a:ln w="16418" cap="rnd">
              <a:solidFill>
                <a:srgbClr val="223C4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2" name="path 780"/>
            <p:cNvSpPr/>
            <p:nvPr/>
          </p:nvSpPr>
          <p:spPr>
            <a:xfrm>
              <a:off x="11223324" y="9041982"/>
              <a:ext cx="55821" cy="96685"/>
            </a:xfrm>
            <a:custGeom>
              <a:avLst/>
              <a:gdLst/>
              <a:ahLst/>
              <a:cxnLst/>
              <a:rect l="0" t="0" r="r" b="b"/>
              <a:pathLst>
                <a:path w="55821" h="96685">
                  <a:moveTo>
                    <a:pt x="55821" y="0"/>
                  </a:moveTo>
                  <a:lnTo>
                    <a:pt x="0" y="96685"/>
                  </a:lnTo>
                </a:path>
              </a:pathLst>
            </a:custGeom>
            <a:noFill/>
            <a:ln w="9194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3" name="path 781"/>
            <p:cNvSpPr/>
            <p:nvPr/>
          </p:nvSpPr>
          <p:spPr>
            <a:xfrm>
              <a:off x="11269295" y="9059044"/>
              <a:ext cx="7242" cy="18322"/>
            </a:xfrm>
            <a:custGeom>
              <a:avLst/>
              <a:gdLst/>
              <a:ahLst/>
              <a:cxnLst/>
              <a:rect l="0" t="0" r="r" b="b"/>
              <a:pathLst>
                <a:path w="7242" h="18322">
                  <a:moveTo>
                    <a:pt x="0" y="0"/>
                  </a:moveTo>
                  <a:lnTo>
                    <a:pt x="7242" y="18322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4" name="path 782"/>
            <p:cNvSpPr/>
            <p:nvPr/>
          </p:nvSpPr>
          <p:spPr>
            <a:xfrm>
              <a:off x="11269295" y="9059044"/>
              <a:ext cx="7242" cy="18322"/>
            </a:xfrm>
            <a:custGeom>
              <a:avLst/>
              <a:gdLst/>
              <a:ahLst/>
              <a:cxnLst/>
              <a:rect l="0" t="0" r="r" b="b"/>
              <a:pathLst>
                <a:path w="7242" h="18322">
                  <a:moveTo>
                    <a:pt x="0" y="0"/>
                  </a:moveTo>
                  <a:lnTo>
                    <a:pt x="7242" y="18322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5" name="path 783"/>
            <p:cNvSpPr/>
            <p:nvPr/>
          </p:nvSpPr>
          <p:spPr>
            <a:xfrm>
              <a:off x="11249806" y="9059044"/>
              <a:ext cx="19489" cy="2890"/>
            </a:xfrm>
            <a:custGeom>
              <a:avLst/>
              <a:gdLst/>
              <a:ahLst/>
              <a:cxnLst/>
              <a:rect l="0" t="0" r="r" b="b"/>
              <a:pathLst>
                <a:path w="19489" h="2890">
                  <a:moveTo>
                    <a:pt x="19489" y="0"/>
                  </a:moveTo>
                  <a:lnTo>
                    <a:pt x="0" y="2890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6" name="path 784"/>
            <p:cNvSpPr/>
            <p:nvPr/>
          </p:nvSpPr>
          <p:spPr>
            <a:xfrm>
              <a:off x="11249806" y="9059044"/>
              <a:ext cx="19489" cy="2890"/>
            </a:xfrm>
            <a:custGeom>
              <a:avLst/>
              <a:gdLst/>
              <a:ahLst/>
              <a:cxnLst/>
              <a:rect l="0" t="0" r="r" b="b"/>
              <a:pathLst>
                <a:path w="19489" h="2890">
                  <a:moveTo>
                    <a:pt x="19489" y="0"/>
                  </a:moveTo>
                  <a:lnTo>
                    <a:pt x="0" y="2890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7" name="path 785"/>
            <p:cNvSpPr/>
            <p:nvPr/>
          </p:nvSpPr>
          <p:spPr>
            <a:xfrm>
              <a:off x="11225933" y="9103283"/>
              <a:ext cx="7242" cy="18322"/>
            </a:xfrm>
            <a:custGeom>
              <a:avLst/>
              <a:gdLst/>
              <a:ahLst/>
              <a:cxnLst/>
              <a:rect l="0" t="0" r="r" b="b"/>
              <a:pathLst>
                <a:path w="7242" h="18322">
                  <a:moveTo>
                    <a:pt x="7242" y="18322"/>
                  </a:moveTo>
                  <a:lnTo>
                    <a:pt x="0" y="0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8" name="path 786"/>
            <p:cNvSpPr/>
            <p:nvPr/>
          </p:nvSpPr>
          <p:spPr>
            <a:xfrm>
              <a:off x="11225933" y="9103283"/>
              <a:ext cx="7242" cy="18322"/>
            </a:xfrm>
            <a:custGeom>
              <a:avLst/>
              <a:gdLst/>
              <a:ahLst/>
              <a:cxnLst/>
              <a:rect l="0" t="0" r="r" b="b"/>
              <a:pathLst>
                <a:path w="7242" h="18322">
                  <a:moveTo>
                    <a:pt x="7242" y="18322"/>
                  </a:moveTo>
                  <a:lnTo>
                    <a:pt x="0" y="0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9" name="path 787"/>
            <p:cNvSpPr/>
            <p:nvPr/>
          </p:nvSpPr>
          <p:spPr>
            <a:xfrm>
              <a:off x="11233175" y="9118716"/>
              <a:ext cx="19489" cy="2890"/>
            </a:xfrm>
            <a:custGeom>
              <a:avLst/>
              <a:gdLst/>
              <a:ahLst/>
              <a:cxnLst/>
              <a:rect l="0" t="0" r="r" b="b"/>
              <a:pathLst>
                <a:path w="19489" h="2890">
                  <a:moveTo>
                    <a:pt x="0" y="2890"/>
                  </a:moveTo>
                  <a:lnTo>
                    <a:pt x="19489" y="0"/>
                  </a:lnTo>
                </a:path>
              </a:pathLst>
            </a:custGeom>
            <a:noFill/>
            <a:ln w="12477" cap="rnd">
              <a:solidFill>
                <a:srgbClr val="23465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0" name="path 788"/>
            <p:cNvSpPr/>
            <p:nvPr/>
          </p:nvSpPr>
          <p:spPr>
            <a:xfrm>
              <a:off x="11233175" y="9118716"/>
              <a:ext cx="19489" cy="2890"/>
            </a:xfrm>
            <a:custGeom>
              <a:avLst/>
              <a:gdLst/>
              <a:ahLst/>
              <a:cxnLst/>
              <a:rect l="0" t="0" r="r" b="b"/>
              <a:pathLst>
                <a:path w="19489" h="2890">
                  <a:moveTo>
                    <a:pt x="0" y="2890"/>
                  </a:moveTo>
                  <a:lnTo>
                    <a:pt x="19489" y="0"/>
                  </a:lnTo>
                </a:path>
              </a:pathLst>
            </a:custGeom>
            <a:noFill/>
            <a:ln w="5910" cap="rnd">
              <a:solidFill>
                <a:srgbClr val="B6E3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91" name="path 789"/>
          <p:cNvSpPr/>
          <p:nvPr/>
        </p:nvSpPr>
        <p:spPr>
          <a:xfrm>
            <a:off x="11402568" y="7717536"/>
            <a:ext cx="429768" cy="283464"/>
          </a:xfrm>
          <a:custGeom>
            <a:avLst/>
            <a:gdLst/>
            <a:ahLst/>
            <a:cxnLst/>
            <a:rect l="0" t="0" r="r" b="b"/>
            <a:pathLst>
              <a:path w="429768" h="283464">
                <a:moveTo>
                  <a:pt x="0" y="0"/>
                </a:moveTo>
                <a:lnTo>
                  <a:pt x="429768" y="0"/>
                </a:lnTo>
                <a:lnTo>
                  <a:pt x="429768" y="283464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2" name="path 790"/>
          <p:cNvSpPr/>
          <p:nvPr/>
        </p:nvSpPr>
        <p:spPr>
          <a:xfrm>
            <a:off x="11765768" y="7872984"/>
            <a:ext cx="133137" cy="128016"/>
          </a:xfrm>
          <a:custGeom>
            <a:avLst/>
            <a:gdLst/>
            <a:ahLst/>
            <a:cxnLst/>
            <a:rect l="0" t="0" r="r" b="b"/>
            <a:pathLst>
              <a:path w="133137" h="128016">
                <a:moveTo>
                  <a:pt x="0" y="0"/>
                </a:moveTo>
                <a:lnTo>
                  <a:pt x="66568" y="128016"/>
                </a:lnTo>
                <a:lnTo>
                  <a:pt x="133137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3" name="Token Wise"/>
          <p:cNvSpPr txBox="1"/>
          <p:nvPr/>
        </p:nvSpPr>
        <p:spPr>
          <a:xfrm>
            <a:off x="11767149" y="7484364"/>
            <a:ext cx="1341953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Token Wise</a:t>
            </a:r>
          </a:p>
        </p:txBody>
      </p:sp>
      <p:sp>
        <p:nvSpPr>
          <p:cNvPr id="794" name="Logits"/>
          <p:cNvSpPr txBox="1"/>
          <p:nvPr/>
        </p:nvSpPr>
        <p:spPr>
          <a:xfrm>
            <a:off x="12067115" y="7735824"/>
            <a:ext cx="742021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Logits</a:t>
            </a:r>
          </a:p>
        </p:txBody>
      </p:sp>
      <p:sp>
        <p:nvSpPr>
          <p:cNvPr id="795" name="path 793"/>
          <p:cNvSpPr/>
          <p:nvPr/>
        </p:nvSpPr>
        <p:spPr>
          <a:xfrm>
            <a:off x="11402568" y="9061704"/>
            <a:ext cx="1124712" cy="329184"/>
          </a:xfrm>
          <a:custGeom>
            <a:avLst/>
            <a:gdLst/>
            <a:ahLst/>
            <a:cxnLst/>
            <a:rect l="0" t="0" r="r" b="b"/>
            <a:pathLst>
              <a:path w="1124712" h="329184">
                <a:moveTo>
                  <a:pt x="0" y="329184"/>
                </a:moveTo>
                <a:lnTo>
                  <a:pt x="1124712" y="329184"/>
                </a:lnTo>
                <a:lnTo>
                  <a:pt x="1124712" y="0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6" name="path 794"/>
          <p:cNvSpPr/>
          <p:nvPr/>
        </p:nvSpPr>
        <p:spPr>
          <a:xfrm>
            <a:off x="12460712" y="9061704"/>
            <a:ext cx="133137" cy="128016"/>
          </a:xfrm>
          <a:custGeom>
            <a:avLst/>
            <a:gdLst/>
            <a:ahLst/>
            <a:cxnLst/>
            <a:rect l="0" t="0" r="r" b="b"/>
            <a:pathLst>
              <a:path w="133137" h="128016">
                <a:moveTo>
                  <a:pt x="133137" y="128016"/>
                </a:moveTo>
                <a:lnTo>
                  <a:pt x="66568" y="0"/>
                </a:lnTo>
                <a:lnTo>
                  <a:pt x="0" y="128016"/>
                </a:lnTo>
              </a:path>
            </a:pathLst>
          </a:custGeom>
          <a:noFill/>
          <a:ln w="3840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28" name="reward-symbol-795"/>
          <p:cNvGrpSpPr/>
          <p:nvPr/>
        </p:nvGrpSpPr>
        <p:grpSpPr>
          <a:xfrm>
            <a:off x="10296144" y="8380542"/>
            <a:ext cx="292608" cy="410822"/>
            <a:chOff x="10296144" y="8380542"/>
            <a:chExt cx="292608" cy="410822"/>
          </a:xfrm>
        </p:grpSpPr>
        <p:sp>
          <p:nvSpPr>
            <p:cNvPr id="797" name="D symbol"/>
            <p:cNvSpPr/>
            <p:nvPr/>
          </p:nvSpPr>
          <p:spPr>
            <a:xfrm>
              <a:off x="10296144" y="8394192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A9CEED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8" name="D"/>
            <p:cNvSpPr txBox="1"/>
            <p:nvPr/>
          </p:nvSpPr>
          <p:spPr>
            <a:xfrm>
              <a:off x="10316591" y="8380542"/>
              <a:ext cx="256279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D</a:t>
              </a:r>
            </a:p>
          </p:txBody>
        </p:sp>
      </p:grpSp>
      <p:sp>
        <p:nvSpPr>
          <p:cNvPr id="799" name="="/>
          <p:cNvSpPr txBox="1"/>
          <p:nvPr/>
        </p:nvSpPr>
        <p:spPr>
          <a:xfrm>
            <a:off x="10600182" y="8398764"/>
            <a:ext cx="208097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=</a:t>
            </a:r>
          </a:p>
        </p:txBody>
      </p:sp>
      <p:sp>
        <p:nvSpPr>
          <p:cNvPr id="800" name="D"/>
          <p:cNvSpPr txBox="1"/>
          <p:nvPr/>
        </p:nvSpPr>
        <p:spPr>
          <a:xfrm>
            <a:off x="10736519" y="8325795"/>
            <a:ext cx="369239" cy="5925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92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D</a:t>
            </a:r>
          </a:p>
        </p:txBody>
      </p:sp>
      <p:sp>
        <p:nvSpPr>
          <p:cNvPr id="801" name="KL"/>
          <p:cNvSpPr txBox="1"/>
          <p:nvPr/>
        </p:nvSpPr>
        <p:spPr>
          <a:xfrm>
            <a:off x="11003798" y="8609808"/>
            <a:ext cx="274963" cy="312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KL</a:t>
            </a:r>
          </a:p>
        </p:txBody>
      </p:sp>
      <p:sp>
        <p:nvSpPr>
          <p:cNvPr id="802" name="path 800"/>
          <p:cNvSpPr/>
          <p:nvPr/>
        </p:nvSpPr>
        <p:spPr>
          <a:xfrm>
            <a:off x="11247120" y="8193024"/>
            <a:ext cx="118872" cy="685800"/>
          </a:xfrm>
          <a:custGeom>
            <a:avLst/>
            <a:gdLst/>
            <a:ahLst/>
            <a:cxnLst/>
            <a:rect l="0" t="0" r="r" b="b"/>
            <a:pathLst>
              <a:path w="118872" h="685800">
                <a:moveTo>
                  <a:pt x="118872" y="0"/>
                </a:moveTo>
                <a:lnTo>
                  <a:pt x="0" y="347472"/>
                </a:lnTo>
                <a:lnTo>
                  <a:pt x="118872" y="685800"/>
                </a:lnTo>
              </a:path>
            </a:pathLst>
          </a:custGeom>
          <a:noFill/>
          <a:ln w="6400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3" name="path 801"/>
          <p:cNvSpPr/>
          <p:nvPr/>
        </p:nvSpPr>
        <p:spPr>
          <a:xfrm>
            <a:off x="12883896" y="8193024"/>
            <a:ext cx="137160" cy="685800"/>
          </a:xfrm>
          <a:custGeom>
            <a:avLst/>
            <a:gdLst/>
            <a:ahLst/>
            <a:cxnLst/>
            <a:rect l="0" t="0" r="r" b="b"/>
            <a:pathLst>
              <a:path w="137160" h="685800">
                <a:moveTo>
                  <a:pt x="0" y="0"/>
                </a:moveTo>
                <a:lnTo>
                  <a:pt x="137160" y="347472"/>
                </a:lnTo>
                <a:lnTo>
                  <a:pt x="0" y="685800"/>
                </a:lnTo>
              </a:path>
            </a:pathLst>
          </a:custGeom>
          <a:noFill/>
          <a:ln w="64008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4" name="rect 802"/>
          <p:cNvSpPr/>
          <p:nvPr/>
        </p:nvSpPr>
        <p:spPr>
          <a:xfrm>
            <a:off x="11484864" y="818388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7B4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5" name="rect 803"/>
          <p:cNvSpPr/>
          <p:nvPr/>
        </p:nvSpPr>
        <p:spPr>
          <a:xfrm>
            <a:off x="11667744" y="818388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29B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6" name="rect 804"/>
          <p:cNvSpPr/>
          <p:nvPr/>
        </p:nvSpPr>
        <p:spPr>
          <a:xfrm>
            <a:off x="11850624" y="818388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8CA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7" name="rect 805"/>
          <p:cNvSpPr/>
          <p:nvPr/>
        </p:nvSpPr>
        <p:spPr>
          <a:xfrm>
            <a:off x="11484864" y="836676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E3B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8" name="rect 806"/>
          <p:cNvSpPr/>
          <p:nvPr/>
        </p:nvSpPr>
        <p:spPr>
          <a:xfrm>
            <a:off x="11667744" y="836676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ED9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9" name="rect 807"/>
          <p:cNvSpPr/>
          <p:nvPr/>
        </p:nvSpPr>
        <p:spPr>
          <a:xfrm>
            <a:off x="11850624" y="836676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8B7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0" name="rect 808"/>
          <p:cNvSpPr/>
          <p:nvPr/>
        </p:nvSpPr>
        <p:spPr>
          <a:xfrm>
            <a:off x="11484864" y="854964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E8AF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1" name="rect 809"/>
          <p:cNvSpPr/>
          <p:nvPr/>
        </p:nvSpPr>
        <p:spPr>
          <a:xfrm>
            <a:off x="11667744" y="854964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2" name="rect 810"/>
          <p:cNvSpPr/>
          <p:nvPr/>
        </p:nvSpPr>
        <p:spPr>
          <a:xfrm>
            <a:off x="11850624" y="854964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3A4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3" name="rect 811"/>
          <p:cNvSpPr/>
          <p:nvPr/>
        </p:nvSpPr>
        <p:spPr>
          <a:xfrm>
            <a:off x="11484864" y="873252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E99B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4" name="rect 812"/>
          <p:cNvSpPr/>
          <p:nvPr/>
        </p:nvSpPr>
        <p:spPr>
          <a:xfrm>
            <a:off x="11667744" y="873252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ACD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5" name="rect 813"/>
          <p:cNvSpPr/>
          <p:nvPr/>
        </p:nvSpPr>
        <p:spPr>
          <a:xfrm>
            <a:off x="11850624" y="873252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EAB8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6" name="rect 814"/>
          <p:cNvSpPr/>
          <p:nvPr/>
        </p:nvSpPr>
        <p:spPr>
          <a:xfrm>
            <a:off x="12262104" y="818388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E3B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7" name="rect 815"/>
          <p:cNvSpPr/>
          <p:nvPr/>
        </p:nvSpPr>
        <p:spPr>
          <a:xfrm>
            <a:off x="12444984" y="818388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ED9B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8" name="rect 816"/>
          <p:cNvSpPr/>
          <p:nvPr/>
        </p:nvSpPr>
        <p:spPr>
          <a:xfrm>
            <a:off x="12627864" y="818388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8B7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9" name="rect 817"/>
          <p:cNvSpPr/>
          <p:nvPr/>
        </p:nvSpPr>
        <p:spPr>
          <a:xfrm>
            <a:off x="12262104" y="836676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E8AF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0" name="rect 818"/>
          <p:cNvSpPr/>
          <p:nvPr/>
        </p:nvSpPr>
        <p:spPr>
          <a:xfrm>
            <a:off x="12444984" y="836676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1" name="rect 819"/>
          <p:cNvSpPr/>
          <p:nvPr/>
        </p:nvSpPr>
        <p:spPr>
          <a:xfrm>
            <a:off x="12627864" y="836676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3A4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2" name="rect 820"/>
          <p:cNvSpPr/>
          <p:nvPr/>
        </p:nvSpPr>
        <p:spPr>
          <a:xfrm>
            <a:off x="12262104" y="854964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E99B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3" name="rect 821"/>
          <p:cNvSpPr/>
          <p:nvPr/>
        </p:nvSpPr>
        <p:spPr>
          <a:xfrm>
            <a:off x="12444984" y="854964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ACD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4" name="rect 822"/>
          <p:cNvSpPr/>
          <p:nvPr/>
        </p:nvSpPr>
        <p:spPr>
          <a:xfrm>
            <a:off x="12627864" y="854964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EAB8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5" name="rect 823"/>
          <p:cNvSpPr/>
          <p:nvPr/>
        </p:nvSpPr>
        <p:spPr>
          <a:xfrm>
            <a:off x="12262104" y="873252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7B4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6" name="rect 824"/>
          <p:cNvSpPr/>
          <p:nvPr/>
        </p:nvSpPr>
        <p:spPr>
          <a:xfrm>
            <a:off x="12444984" y="873252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29B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7" name="rect 825"/>
          <p:cNvSpPr/>
          <p:nvPr/>
        </p:nvSpPr>
        <p:spPr>
          <a:xfrm>
            <a:off x="12627864" y="8732520"/>
            <a:ext cx="146304" cy="155448"/>
          </a:xfrm>
          <a:prstGeom prst="roundRect">
            <a:avLst>
              <a:gd name="adj" fmla="val 25000"/>
            </a:avLst>
          </a:prstGeom>
          <a:solidFill>
            <a:srgbClr val="F8CA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8" name="path 826"/>
          <p:cNvSpPr/>
          <p:nvPr/>
        </p:nvSpPr>
        <p:spPr>
          <a:xfrm>
            <a:off x="12088368" y="8174736"/>
            <a:ext cx="91" cy="740664"/>
          </a:xfrm>
          <a:custGeom>
            <a:avLst/>
            <a:gdLst/>
            <a:ahLst/>
            <a:cxnLst/>
            <a:rect l="0" t="0" r="r" b="b"/>
            <a:pathLst>
              <a:path w="91" h="740664">
                <a:moveTo>
                  <a:pt x="0" y="0"/>
                </a:moveTo>
                <a:lnTo>
                  <a:pt x="0" y="740664"/>
                </a:lnTo>
              </a:path>
            </a:pathLst>
          </a:custGeom>
          <a:noFill/>
          <a:ln w="39319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9" name="path 827"/>
          <p:cNvSpPr/>
          <p:nvPr/>
        </p:nvSpPr>
        <p:spPr>
          <a:xfrm>
            <a:off x="12152376" y="8174736"/>
            <a:ext cx="91" cy="740664"/>
          </a:xfrm>
          <a:custGeom>
            <a:avLst/>
            <a:gdLst/>
            <a:ahLst/>
            <a:cxnLst/>
            <a:rect l="0" t="0" r="r" b="b"/>
            <a:pathLst>
              <a:path w="91" h="740664">
                <a:moveTo>
                  <a:pt x="0" y="0"/>
                </a:moveTo>
                <a:lnTo>
                  <a:pt x="0" y="740664"/>
                </a:lnTo>
              </a:path>
            </a:pathLst>
          </a:custGeom>
          <a:noFill/>
          <a:ln w="21945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0" name="Step 4: Computing Loss"/>
          <p:cNvSpPr txBox="1"/>
          <p:nvPr/>
        </p:nvSpPr>
        <p:spPr>
          <a:xfrm>
            <a:off x="13239466" y="6997057"/>
            <a:ext cx="3489876" cy="5296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17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Step 4: Computing Loss</a:t>
            </a:r>
          </a:p>
        </p:txBody>
      </p:sp>
      <p:sp>
        <p:nvSpPr>
          <p:cNvPr id="831" name="path 829"/>
          <p:cNvSpPr/>
          <p:nvPr/>
        </p:nvSpPr>
        <p:spPr>
          <a:xfrm>
            <a:off x="13295376" y="7342632"/>
            <a:ext cx="3337560" cy="91"/>
          </a:xfrm>
          <a:custGeom>
            <a:avLst/>
            <a:gdLst/>
            <a:ahLst/>
            <a:cxnLst/>
            <a:rect l="0" t="0" r="r" b="b"/>
            <a:pathLst>
              <a:path w="3337560" h="91">
                <a:moveTo>
                  <a:pt x="0" y="0"/>
                </a:moveTo>
                <a:lnTo>
                  <a:pt x="3337560" y="0"/>
                </a:lnTo>
              </a:path>
            </a:pathLst>
          </a:custGeom>
          <a:noFill/>
          <a:ln w="15544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2" name="Sum:"/>
          <p:cNvSpPr txBox="1"/>
          <p:nvPr/>
        </p:nvSpPr>
        <p:spPr>
          <a:xfrm>
            <a:off x="13508431" y="7521854"/>
            <a:ext cx="774633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Sum:</a:t>
            </a:r>
          </a:p>
        </p:txBody>
      </p:sp>
      <p:grpSp>
        <p:nvGrpSpPr>
          <p:cNvPr id="929" name="reward-symbol-831"/>
          <p:cNvGrpSpPr/>
          <p:nvPr/>
        </p:nvGrpSpPr>
        <p:grpSpPr>
          <a:xfrm>
            <a:off x="14612112" y="7502718"/>
            <a:ext cx="292608" cy="410822"/>
            <a:chOff x="14612112" y="7502718"/>
            <a:chExt cx="292608" cy="410822"/>
          </a:xfrm>
        </p:grpSpPr>
        <p:sp>
          <p:nvSpPr>
            <p:cNvPr id="833" name="R symbol"/>
            <p:cNvSpPr/>
            <p:nvPr/>
          </p:nvSpPr>
          <p:spPr>
            <a:xfrm>
              <a:off x="14612112" y="7516368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459B08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4" name="path 832"/>
            <p:cNvSpPr/>
            <p:nvPr/>
          </p:nvSpPr>
          <p:spPr>
            <a:xfrm>
              <a:off x="14648688" y="7543800"/>
              <a:ext cx="219456" cy="237744"/>
            </a:xfrm>
            <a:custGeom>
              <a:avLst/>
              <a:gdLst/>
              <a:ahLst/>
              <a:cxnLst/>
              <a:rect l="0" t="0" r="r" b="b"/>
              <a:pathLst>
                <a:path w="219456" h="237744">
                  <a:moveTo>
                    <a:pt x="0" y="9144"/>
                  </a:moveTo>
                  <a:lnTo>
                    <a:pt x="118506" y="0"/>
                  </a:lnTo>
                  <a:lnTo>
                    <a:pt x="219456" y="228600"/>
                  </a:lnTo>
                  <a:lnTo>
                    <a:pt x="133137" y="237744"/>
                  </a:lnTo>
                  <a:close/>
                </a:path>
              </a:pathLst>
            </a:custGeom>
            <a:solidFill>
              <a:srgbClr val="86B7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5" name="R"/>
            <p:cNvSpPr txBox="1"/>
            <p:nvPr/>
          </p:nvSpPr>
          <p:spPr>
            <a:xfrm>
              <a:off x="14641882" y="7502718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836" name="="/>
          <p:cNvSpPr txBox="1"/>
          <p:nvPr/>
        </p:nvSpPr>
        <p:spPr>
          <a:xfrm>
            <a:off x="14943582" y="7548372"/>
            <a:ext cx="208097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=</a:t>
            </a:r>
          </a:p>
        </p:txBody>
      </p:sp>
      <p:grpSp>
        <p:nvGrpSpPr>
          <p:cNvPr id="930" name="reward-symbol-835"/>
          <p:cNvGrpSpPr/>
          <p:nvPr/>
        </p:nvGrpSpPr>
        <p:grpSpPr>
          <a:xfrm>
            <a:off x="15179040" y="7502718"/>
            <a:ext cx="292608" cy="410822"/>
            <a:chOff x="15179040" y="7502718"/>
            <a:chExt cx="292608" cy="410822"/>
          </a:xfrm>
        </p:grpSpPr>
        <p:sp>
          <p:nvSpPr>
            <p:cNvPr id="837" name="R symbol"/>
            <p:cNvSpPr/>
            <p:nvPr/>
          </p:nvSpPr>
          <p:spPr>
            <a:xfrm>
              <a:off x="15179040" y="7516368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CCE2B8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8" name="R"/>
            <p:cNvSpPr txBox="1"/>
            <p:nvPr/>
          </p:nvSpPr>
          <p:spPr>
            <a:xfrm>
              <a:off x="15208810" y="7502718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839" name="+"/>
          <p:cNvSpPr txBox="1"/>
          <p:nvPr/>
        </p:nvSpPr>
        <p:spPr>
          <a:xfrm>
            <a:off x="15495697" y="7560808"/>
            <a:ext cx="185173" cy="3785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5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grpSp>
        <p:nvGrpSpPr>
          <p:cNvPr id="931" name="reward-symbol-838"/>
          <p:cNvGrpSpPr/>
          <p:nvPr/>
        </p:nvGrpSpPr>
        <p:grpSpPr>
          <a:xfrm>
            <a:off x="15764256" y="7502718"/>
            <a:ext cx="292608" cy="410822"/>
            <a:chOff x="15764256" y="7502718"/>
            <a:chExt cx="292608" cy="410822"/>
          </a:xfrm>
        </p:grpSpPr>
        <p:sp>
          <p:nvSpPr>
            <p:cNvPr id="840" name="R symbol"/>
            <p:cNvSpPr/>
            <p:nvPr/>
          </p:nvSpPr>
          <p:spPr>
            <a:xfrm>
              <a:off x="15764256" y="7516368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7DBC10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1" name="R"/>
            <p:cNvSpPr txBox="1"/>
            <p:nvPr/>
          </p:nvSpPr>
          <p:spPr>
            <a:xfrm>
              <a:off x="15794026" y="7502718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842" name="+"/>
          <p:cNvSpPr txBox="1"/>
          <p:nvPr/>
        </p:nvSpPr>
        <p:spPr>
          <a:xfrm>
            <a:off x="16080913" y="7560808"/>
            <a:ext cx="185173" cy="3785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5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grpSp>
        <p:nvGrpSpPr>
          <p:cNvPr id="932" name="reward-symbol-841"/>
          <p:cNvGrpSpPr/>
          <p:nvPr/>
        </p:nvGrpSpPr>
        <p:grpSpPr>
          <a:xfrm>
            <a:off x="16349472" y="7502718"/>
            <a:ext cx="292608" cy="410822"/>
            <a:chOff x="16349472" y="7502718"/>
            <a:chExt cx="292608" cy="410822"/>
          </a:xfrm>
        </p:grpSpPr>
        <p:sp>
          <p:nvSpPr>
            <p:cNvPr id="843" name="R symbol"/>
            <p:cNvSpPr/>
            <p:nvPr/>
          </p:nvSpPr>
          <p:spPr>
            <a:xfrm>
              <a:off x="16349472" y="7516368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008E0B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4" name="R"/>
            <p:cNvSpPr txBox="1"/>
            <p:nvPr/>
          </p:nvSpPr>
          <p:spPr>
            <a:xfrm>
              <a:off x="16379242" y="7502718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845" name="Normalize:"/>
          <p:cNvSpPr txBox="1"/>
          <p:nvPr/>
        </p:nvSpPr>
        <p:spPr>
          <a:xfrm>
            <a:off x="13501025" y="8136148"/>
            <a:ext cx="1494780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Normalize:</a:t>
            </a:r>
          </a:p>
        </p:txBody>
      </p:sp>
      <p:grpSp>
        <p:nvGrpSpPr>
          <p:cNvPr id="933" name="reward-symbol-844"/>
          <p:cNvGrpSpPr/>
          <p:nvPr/>
        </p:nvGrpSpPr>
        <p:grpSpPr>
          <a:xfrm>
            <a:off x="15060168" y="8151942"/>
            <a:ext cx="292608" cy="410822"/>
            <a:chOff x="15060168" y="8151942"/>
            <a:chExt cx="292608" cy="410822"/>
          </a:xfrm>
        </p:grpSpPr>
        <p:sp>
          <p:nvSpPr>
            <p:cNvPr id="846" name="A symbol"/>
            <p:cNvSpPr/>
            <p:nvPr/>
          </p:nvSpPr>
          <p:spPr>
            <a:xfrm>
              <a:off x="15060168" y="8165592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FFE58B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7" name="A"/>
            <p:cNvSpPr txBox="1"/>
            <p:nvPr/>
          </p:nvSpPr>
          <p:spPr>
            <a:xfrm>
              <a:off x="15079508" y="8151942"/>
              <a:ext cx="25849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A</a:t>
              </a:r>
            </a:p>
          </p:txBody>
        </p:sp>
      </p:grpSp>
      <p:sp>
        <p:nvSpPr>
          <p:cNvPr id="848" name="="/>
          <p:cNvSpPr txBox="1"/>
          <p:nvPr/>
        </p:nvSpPr>
        <p:spPr>
          <a:xfrm>
            <a:off x="15365943" y="8162666"/>
            <a:ext cx="199761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=</a:t>
            </a:r>
          </a:p>
        </p:txBody>
      </p:sp>
      <p:grpSp>
        <p:nvGrpSpPr>
          <p:cNvPr id="934" name="reward-symbol-847"/>
          <p:cNvGrpSpPr/>
          <p:nvPr/>
        </p:nvGrpSpPr>
        <p:grpSpPr>
          <a:xfrm>
            <a:off x="15636240" y="7950774"/>
            <a:ext cx="292608" cy="410822"/>
            <a:chOff x="15636240" y="7950774"/>
            <a:chExt cx="292608" cy="410822"/>
          </a:xfrm>
        </p:grpSpPr>
        <p:sp>
          <p:nvSpPr>
            <p:cNvPr id="849" name="R symbol"/>
            <p:cNvSpPr/>
            <p:nvPr/>
          </p:nvSpPr>
          <p:spPr>
            <a:xfrm>
              <a:off x="15636240" y="7964424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459B08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0" name="path 848"/>
            <p:cNvSpPr/>
            <p:nvPr/>
          </p:nvSpPr>
          <p:spPr>
            <a:xfrm>
              <a:off x="15672816" y="7991856"/>
              <a:ext cx="219456" cy="237744"/>
            </a:xfrm>
            <a:custGeom>
              <a:avLst/>
              <a:gdLst/>
              <a:ahLst/>
              <a:cxnLst/>
              <a:rect l="0" t="0" r="r" b="b"/>
              <a:pathLst>
                <a:path w="219456" h="237744">
                  <a:moveTo>
                    <a:pt x="0" y="9144"/>
                  </a:moveTo>
                  <a:lnTo>
                    <a:pt x="118506" y="0"/>
                  </a:lnTo>
                  <a:lnTo>
                    <a:pt x="219456" y="228600"/>
                  </a:lnTo>
                  <a:lnTo>
                    <a:pt x="133137" y="237744"/>
                  </a:lnTo>
                  <a:close/>
                </a:path>
              </a:pathLst>
            </a:custGeom>
            <a:solidFill>
              <a:srgbClr val="86B7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1" name="R"/>
            <p:cNvSpPr txBox="1"/>
            <p:nvPr/>
          </p:nvSpPr>
          <p:spPr>
            <a:xfrm>
              <a:off x="15666010" y="7950774"/>
              <a:ext cx="23763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R</a:t>
              </a:r>
            </a:p>
          </p:txBody>
        </p:sp>
      </p:grpSp>
      <p:sp>
        <p:nvSpPr>
          <p:cNvPr id="852" name="-"/>
          <p:cNvSpPr txBox="1"/>
          <p:nvPr/>
        </p:nvSpPr>
        <p:spPr>
          <a:xfrm>
            <a:off x="15932871" y="7988930"/>
            <a:ext cx="179187" cy="395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grpSp>
        <p:nvGrpSpPr>
          <p:cNvPr id="935" name="label-851"/>
          <p:cNvGrpSpPr/>
          <p:nvPr/>
        </p:nvGrpSpPr>
        <p:grpSpPr>
          <a:xfrm>
            <a:off x="16111728" y="7952354"/>
            <a:ext cx="685800" cy="395021"/>
            <a:chOff x="16111728" y="7952354"/>
            <a:chExt cx="685800" cy="395021"/>
          </a:xfrm>
        </p:grpSpPr>
        <p:sp>
          <p:nvSpPr>
            <p:cNvPr id="853" name="rect 851"/>
            <p:cNvSpPr/>
            <p:nvPr/>
          </p:nvSpPr>
          <p:spPr>
            <a:xfrm>
              <a:off x="16111728" y="7964424"/>
              <a:ext cx="685800" cy="292608"/>
            </a:xfrm>
            <a:prstGeom prst="roundRect">
              <a:avLst>
                <a:gd name="adj" fmla="val 25000"/>
              </a:avLst>
            </a:prstGeom>
            <a:solidFill>
              <a:srgbClr val="E8E8E8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4" name="Mean"/>
            <p:cNvSpPr txBox="1"/>
            <p:nvPr/>
          </p:nvSpPr>
          <p:spPr>
            <a:xfrm>
              <a:off x="16142362" y="7952354"/>
              <a:ext cx="628921" cy="39502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28" b="0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Mean</a:t>
              </a:r>
            </a:p>
          </p:txBody>
        </p:sp>
      </p:grpSp>
      <p:sp>
        <p:nvSpPr>
          <p:cNvPr id="855" name="path 853"/>
          <p:cNvSpPr/>
          <p:nvPr/>
        </p:nvSpPr>
        <p:spPr>
          <a:xfrm>
            <a:off x="15581376" y="8302752"/>
            <a:ext cx="1353312" cy="91"/>
          </a:xfrm>
          <a:custGeom>
            <a:avLst/>
            <a:gdLst/>
            <a:ahLst/>
            <a:cxnLst/>
            <a:rect l="0" t="0" r="r" b="b"/>
            <a:pathLst>
              <a:path w="1353312" h="91">
                <a:moveTo>
                  <a:pt x="0" y="0"/>
                </a:moveTo>
                <a:lnTo>
                  <a:pt x="1353312" y="0"/>
                </a:lnTo>
              </a:path>
            </a:pathLst>
          </a:custGeom>
          <a:noFill/>
          <a:ln w="27432" cap="rnd">
            <a:solidFill>
              <a:srgbClr val="05050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36" name="label-854"/>
          <p:cNvGrpSpPr/>
          <p:nvPr/>
        </p:nvGrpSpPr>
        <p:grpSpPr>
          <a:xfrm>
            <a:off x="15956280" y="8354690"/>
            <a:ext cx="539496" cy="395021"/>
            <a:chOff x="15956280" y="8354690"/>
            <a:chExt cx="539496" cy="395021"/>
          </a:xfrm>
        </p:grpSpPr>
        <p:sp>
          <p:nvSpPr>
            <p:cNvPr id="856" name="rect 854"/>
            <p:cNvSpPr/>
            <p:nvPr/>
          </p:nvSpPr>
          <p:spPr>
            <a:xfrm>
              <a:off x="15956280" y="8366760"/>
              <a:ext cx="539496" cy="292608"/>
            </a:xfrm>
            <a:prstGeom prst="roundRect">
              <a:avLst>
                <a:gd name="adj" fmla="val 25000"/>
              </a:avLst>
            </a:prstGeom>
            <a:solidFill>
              <a:srgbClr val="E8E8E8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7" name="Std"/>
            <p:cNvSpPr txBox="1"/>
            <p:nvPr/>
          </p:nvSpPr>
          <p:spPr>
            <a:xfrm>
              <a:off x="15992093" y="8354690"/>
              <a:ext cx="472259" cy="39502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28" b="0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Std</a:t>
              </a:r>
            </a:p>
          </p:txBody>
        </p:sp>
      </p:grpSp>
      <p:sp>
        <p:nvSpPr>
          <p:cNvPr id="858" name="Policy"/>
          <p:cNvSpPr txBox="1"/>
          <p:nvPr/>
        </p:nvSpPr>
        <p:spPr>
          <a:xfrm>
            <a:off x="13171841" y="8730508"/>
            <a:ext cx="816588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Policy</a:t>
            </a:r>
          </a:p>
        </p:txBody>
      </p:sp>
      <p:sp>
        <p:nvSpPr>
          <p:cNvPr id="859" name="Model"/>
          <p:cNvSpPr txBox="1"/>
          <p:nvPr/>
        </p:nvSpPr>
        <p:spPr>
          <a:xfrm>
            <a:off x="13171841" y="9022202"/>
            <a:ext cx="856307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grpSp>
        <p:nvGrpSpPr>
          <p:cNvPr id="937" name="policy-model-858"/>
          <p:cNvGrpSpPr/>
          <p:nvPr/>
        </p:nvGrpSpPr>
        <p:grpSpPr>
          <a:xfrm>
            <a:off x="13996812" y="8711763"/>
            <a:ext cx="531737" cy="591988"/>
            <a:chOff x="13996812" y="8711763"/>
            <a:chExt cx="531737" cy="591988"/>
          </a:xfrm>
        </p:grpSpPr>
        <p:sp>
          <p:nvSpPr>
            <p:cNvPr id="860" name="ellipse 858"/>
            <p:cNvSpPr/>
            <p:nvPr/>
          </p:nvSpPr>
          <p:spPr>
            <a:xfrm>
              <a:off x="14106266" y="8795156"/>
              <a:ext cx="67757" cy="57333"/>
            </a:xfrm>
            <a:prstGeom prst="ellipse">
              <a:avLst/>
            </a:prstGeom>
            <a:solidFill>
              <a:srgbClr val="ED7278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1" name="ellipse 859"/>
            <p:cNvSpPr/>
            <p:nvPr/>
          </p:nvSpPr>
          <p:spPr>
            <a:xfrm>
              <a:off x="14184447" y="8789944"/>
              <a:ext cx="67757" cy="62545"/>
            </a:xfrm>
            <a:prstGeom prst="ellipse">
              <a:avLst/>
            </a:prstGeom>
            <a:solidFill>
              <a:srgbClr val="ED7278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2" name="ellipse 860"/>
            <p:cNvSpPr/>
            <p:nvPr/>
          </p:nvSpPr>
          <p:spPr>
            <a:xfrm>
              <a:off x="14267840" y="8795156"/>
              <a:ext cx="67757" cy="57333"/>
            </a:xfrm>
            <a:prstGeom prst="ellipse">
              <a:avLst/>
            </a:prstGeom>
            <a:solidFill>
              <a:srgbClr val="ED7278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 861"/>
            <p:cNvSpPr/>
            <p:nvPr/>
          </p:nvSpPr>
          <p:spPr>
            <a:xfrm>
              <a:off x="13996812" y="8925458"/>
              <a:ext cx="52121" cy="114666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 862"/>
            <p:cNvSpPr/>
            <p:nvPr/>
          </p:nvSpPr>
          <p:spPr>
            <a:xfrm>
              <a:off x="14429415" y="8925458"/>
              <a:ext cx="52121" cy="114666"/>
            </a:xfrm>
            <a:prstGeom prst="roundRect">
              <a:avLst>
                <a:gd name="adj" fmla="val 50000"/>
              </a:avLst>
            </a:prstGeom>
            <a:solidFill>
              <a:srgbClr val="437E99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5" name="path 863"/>
            <p:cNvSpPr/>
            <p:nvPr/>
          </p:nvSpPr>
          <p:spPr>
            <a:xfrm>
              <a:off x="14101054" y="9170426"/>
              <a:ext cx="286664" cy="104242"/>
            </a:xfrm>
            <a:custGeom>
              <a:avLst/>
              <a:gdLst/>
              <a:ahLst/>
              <a:cxnLst/>
              <a:rect l="0" t="0" r="r" b="b"/>
              <a:pathLst>
                <a:path w="286664" h="104242">
                  <a:moveTo>
                    <a:pt x="93817" y="0"/>
                  </a:moveTo>
                  <a:lnTo>
                    <a:pt x="93817" y="36485"/>
                  </a:lnTo>
                  <a:lnTo>
                    <a:pt x="36485" y="46909"/>
                  </a:lnTo>
                  <a:cubicBezTo>
                    <a:pt x="5212" y="52121"/>
                    <a:pt x="0" y="72969"/>
                    <a:pt x="0" y="104242"/>
                  </a:cubicBezTo>
                  <a:lnTo>
                    <a:pt x="286664" y="104242"/>
                  </a:lnTo>
                  <a:lnTo>
                    <a:pt x="286664" y="78181"/>
                  </a:lnTo>
                  <a:cubicBezTo>
                    <a:pt x="276240" y="52121"/>
                    <a:pt x="229332" y="46909"/>
                    <a:pt x="177211" y="41697"/>
                  </a:cubicBezTo>
                  <a:lnTo>
                    <a:pt x="177211" y="0"/>
                  </a:lnTo>
                  <a:close/>
                </a:path>
              </a:pathLst>
            </a:custGeom>
            <a:solidFill>
              <a:srgbClr val="96D8EE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6" name="path 864"/>
            <p:cNvSpPr/>
            <p:nvPr/>
          </p:nvSpPr>
          <p:spPr>
            <a:xfrm>
              <a:off x="14210508" y="9180850"/>
              <a:ext cx="67757" cy="83393"/>
            </a:xfrm>
            <a:custGeom>
              <a:avLst/>
              <a:gdLst/>
              <a:ahLst/>
              <a:cxnLst/>
              <a:rect l="0" t="0" r="r" b="b"/>
              <a:pathLst>
                <a:path w="67757" h="83393">
                  <a:moveTo>
                    <a:pt x="0" y="0"/>
                  </a:moveTo>
                  <a:lnTo>
                    <a:pt x="0" y="52121"/>
                  </a:lnTo>
                  <a:cubicBezTo>
                    <a:pt x="15636" y="83393"/>
                    <a:pt x="62545" y="72969"/>
                    <a:pt x="67757" y="46909"/>
                  </a:cubicBezTo>
                  <a:lnTo>
                    <a:pt x="67757" y="0"/>
                  </a:lnTo>
                  <a:close/>
                </a:path>
              </a:pathLst>
            </a:custGeom>
            <a:solidFill>
              <a:srgbClr val="367797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7" name="rect 865"/>
            <p:cNvSpPr/>
            <p:nvPr/>
          </p:nvSpPr>
          <p:spPr>
            <a:xfrm>
              <a:off x="14038509" y="8826429"/>
              <a:ext cx="401330" cy="364846"/>
            </a:xfrm>
            <a:prstGeom prst="roundRect">
              <a:avLst>
                <a:gd name="adj" fmla="val 21428"/>
              </a:avLst>
            </a:prstGeom>
            <a:solidFill>
              <a:srgbClr val="70CCE9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8" name="path 866"/>
            <p:cNvSpPr/>
            <p:nvPr/>
          </p:nvSpPr>
          <p:spPr>
            <a:xfrm>
              <a:off x="14043721" y="8857701"/>
              <a:ext cx="364846" cy="328361"/>
            </a:xfrm>
            <a:custGeom>
              <a:avLst/>
              <a:gdLst/>
              <a:ahLst/>
              <a:cxnLst/>
              <a:rect l="0" t="0" r="r" b="b"/>
              <a:pathLst>
                <a:path w="364846" h="328361">
                  <a:moveTo>
                    <a:pt x="41697" y="0"/>
                  </a:moveTo>
                  <a:cubicBezTo>
                    <a:pt x="0" y="15636"/>
                    <a:pt x="10424" y="255392"/>
                    <a:pt x="31272" y="291876"/>
                  </a:cubicBezTo>
                  <a:cubicBezTo>
                    <a:pt x="67757" y="328361"/>
                    <a:pt x="328361" y="328361"/>
                    <a:pt x="364846" y="291876"/>
                  </a:cubicBezTo>
                </a:path>
              </a:pathLst>
            </a:custGeom>
            <a:noFill/>
            <a:ln w="13030" cap="rnd">
              <a:solidFill>
                <a:srgbClr val="B9EB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 867"/>
            <p:cNvSpPr/>
            <p:nvPr/>
          </p:nvSpPr>
          <p:spPr>
            <a:xfrm>
              <a:off x="14074993" y="8862913"/>
              <a:ext cx="323149" cy="276240"/>
            </a:xfrm>
            <a:prstGeom prst="roundRect">
              <a:avLst>
                <a:gd name="adj" fmla="val 18867"/>
              </a:avLst>
            </a:prstGeom>
            <a:solidFill>
              <a:srgbClr val="D2F2F7"/>
            </a:solidFill>
            <a:ln w="13551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0" name="ellipse 868"/>
            <p:cNvSpPr/>
            <p:nvPr/>
          </p:nvSpPr>
          <p:spPr>
            <a:xfrm>
              <a:off x="14127114" y="8909822"/>
              <a:ext cx="57333" cy="67757"/>
            </a:xfrm>
            <a:prstGeom prst="ellipse">
              <a:avLst/>
            </a:prstGeom>
            <a:solidFill>
              <a:srgbClr val="B9E7F0"/>
            </a:solidFill>
            <a:ln w="1303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1" name="ellipse 869"/>
            <p:cNvSpPr/>
            <p:nvPr/>
          </p:nvSpPr>
          <p:spPr>
            <a:xfrm>
              <a:off x="14283477" y="8909822"/>
              <a:ext cx="57333" cy="67757"/>
            </a:xfrm>
            <a:prstGeom prst="ellipse">
              <a:avLst/>
            </a:prstGeom>
            <a:solidFill>
              <a:srgbClr val="B9E7F0"/>
            </a:solidFill>
            <a:ln w="13030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2" name="path 870"/>
            <p:cNvSpPr/>
            <p:nvPr/>
          </p:nvSpPr>
          <p:spPr>
            <a:xfrm>
              <a:off x="14189659" y="8998428"/>
              <a:ext cx="88605" cy="36485"/>
            </a:xfrm>
            <a:custGeom>
              <a:avLst/>
              <a:gdLst/>
              <a:ahLst/>
              <a:cxnLst/>
              <a:rect l="0" t="0" r="r" b="b"/>
              <a:pathLst>
                <a:path w="88605" h="36485">
                  <a:moveTo>
                    <a:pt x="0" y="5212"/>
                  </a:moveTo>
                  <a:cubicBezTo>
                    <a:pt x="20848" y="36485"/>
                    <a:pt x="62545" y="36485"/>
                    <a:pt x="88605" y="0"/>
                  </a:cubicBezTo>
                </a:path>
              </a:pathLst>
            </a:custGeom>
            <a:noFill/>
            <a:ln w="1250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3" name="path 871"/>
            <p:cNvSpPr/>
            <p:nvPr/>
          </p:nvSpPr>
          <p:spPr>
            <a:xfrm>
              <a:off x="14111478" y="9008852"/>
              <a:ext cx="239756" cy="26060"/>
            </a:xfrm>
            <a:custGeom>
              <a:avLst/>
              <a:gdLst/>
              <a:ahLst/>
              <a:cxnLst/>
              <a:rect l="0" t="0" r="r" b="b"/>
              <a:pathLst>
                <a:path w="239756" h="26060">
                  <a:moveTo>
                    <a:pt x="0" y="0"/>
                  </a:moveTo>
                  <a:lnTo>
                    <a:pt x="31272" y="0"/>
                  </a:lnTo>
                  <a:moveTo>
                    <a:pt x="0" y="26060"/>
                  </a:moveTo>
                  <a:lnTo>
                    <a:pt x="31272" y="26060"/>
                  </a:lnTo>
                  <a:moveTo>
                    <a:pt x="208483" y="0"/>
                  </a:moveTo>
                  <a:lnTo>
                    <a:pt x="239756" y="0"/>
                  </a:lnTo>
                  <a:moveTo>
                    <a:pt x="208483" y="26060"/>
                  </a:moveTo>
                  <a:lnTo>
                    <a:pt x="239756" y="26060"/>
                  </a:lnTo>
                </a:path>
              </a:pathLst>
            </a:custGeom>
            <a:noFill/>
            <a:ln w="8860" cap="rnd">
              <a:solidFill>
                <a:srgbClr val="3C788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4" name="AI"/>
            <p:cNvSpPr txBox="1"/>
            <p:nvPr/>
          </p:nvSpPr>
          <p:spPr>
            <a:xfrm>
              <a:off x="14118202" y="9219315"/>
              <a:ext cx="134481" cy="8443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369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AI</a:t>
              </a:r>
            </a:p>
          </p:txBody>
        </p:sp>
        <p:sp>
          <p:nvSpPr>
            <p:cNvPr id="875" name="path 873"/>
            <p:cNvSpPr/>
            <p:nvPr/>
          </p:nvSpPr>
          <p:spPr>
            <a:xfrm>
              <a:off x="14324548" y="8711763"/>
              <a:ext cx="204001" cy="220106"/>
            </a:xfrm>
            <a:custGeom>
              <a:avLst/>
              <a:gdLst/>
              <a:ahLst/>
              <a:cxnLst/>
              <a:rect l="0" t="0" r="r" b="b"/>
              <a:pathLst>
                <a:path w="204001" h="220106">
                  <a:moveTo>
                    <a:pt x="102000" y="0"/>
                  </a:moveTo>
                  <a:cubicBezTo>
                    <a:pt x="59053" y="37579"/>
                    <a:pt x="112737" y="53684"/>
                    <a:pt x="69790" y="96632"/>
                  </a:cubicBezTo>
                  <a:cubicBezTo>
                    <a:pt x="48316" y="107369"/>
                    <a:pt x="42948" y="85895"/>
                    <a:pt x="42948" y="80527"/>
                  </a:cubicBezTo>
                  <a:cubicBezTo>
                    <a:pt x="0" y="134211"/>
                    <a:pt x="21474" y="198632"/>
                    <a:pt x="91264" y="209369"/>
                  </a:cubicBezTo>
                  <a:cubicBezTo>
                    <a:pt x="166422" y="220106"/>
                    <a:pt x="204001" y="155685"/>
                    <a:pt x="171790" y="102000"/>
                  </a:cubicBezTo>
                  <a:cubicBezTo>
                    <a:pt x="171790" y="134211"/>
                    <a:pt x="139580" y="128843"/>
                    <a:pt x="134211" y="107369"/>
                  </a:cubicBezTo>
                  <a:cubicBezTo>
                    <a:pt x="161053" y="48316"/>
                    <a:pt x="107369" y="59053"/>
                    <a:pt x="102000" y="0"/>
                  </a:cubicBezTo>
                  <a:close/>
                </a:path>
              </a:pathLst>
            </a:custGeom>
            <a:solidFill>
              <a:srgbClr val="F64A57"/>
            </a:solidFill>
            <a:ln w="8589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6" name="path 874"/>
            <p:cNvSpPr/>
            <p:nvPr/>
          </p:nvSpPr>
          <p:spPr>
            <a:xfrm>
              <a:off x="14362127" y="8792290"/>
              <a:ext cx="128843" cy="118106"/>
            </a:xfrm>
            <a:custGeom>
              <a:avLst/>
              <a:gdLst/>
              <a:ahLst/>
              <a:cxnLst/>
              <a:rect l="0" t="0" r="r" b="b"/>
              <a:pathLst>
                <a:path w="128843" h="118106">
                  <a:moveTo>
                    <a:pt x="69790" y="0"/>
                  </a:moveTo>
                  <a:cubicBezTo>
                    <a:pt x="48316" y="42948"/>
                    <a:pt x="75158" y="42948"/>
                    <a:pt x="48316" y="64421"/>
                  </a:cubicBezTo>
                  <a:cubicBezTo>
                    <a:pt x="21474" y="64421"/>
                    <a:pt x="37579" y="48316"/>
                    <a:pt x="26842" y="48316"/>
                  </a:cubicBezTo>
                  <a:cubicBezTo>
                    <a:pt x="0" y="91264"/>
                    <a:pt x="37579" y="118106"/>
                    <a:pt x="64421" y="112737"/>
                  </a:cubicBezTo>
                  <a:cubicBezTo>
                    <a:pt x="112737" y="112737"/>
                    <a:pt x="128843" y="75158"/>
                    <a:pt x="107369" y="59053"/>
                  </a:cubicBezTo>
                  <a:cubicBezTo>
                    <a:pt x="96632" y="96632"/>
                    <a:pt x="69790" y="69790"/>
                    <a:pt x="85895" y="48316"/>
                  </a:cubicBezTo>
                  <a:cubicBezTo>
                    <a:pt x="91264" y="32211"/>
                    <a:pt x="75158" y="21474"/>
                    <a:pt x="69790" y="0"/>
                  </a:cubicBezTo>
                  <a:close/>
                </a:path>
              </a:pathLst>
            </a:custGeom>
            <a:solidFill>
              <a:srgbClr val="FFB747"/>
            </a:solidFill>
            <a:ln w="6442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7" name="path 875"/>
            <p:cNvSpPr/>
            <p:nvPr/>
          </p:nvSpPr>
          <p:spPr>
            <a:xfrm>
              <a:off x="14512443" y="8760079"/>
              <a:ext cx="5368" cy="16105"/>
            </a:xfrm>
            <a:custGeom>
              <a:avLst/>
              <a:gdLst/>
              <a:ahLst/>
              <a:cxnLst/>
              <a:rect l="0" t="0" r="r" b="b"/>
              <a:pathLst>
                <a:path w="5368" h="16105">
                  <a:moveTo>
                    <a:pt x="0" y="0"/>
                  </a:moveTo>
                  <a:lnTo>
                    <a:pt x="5368" y="16105"/>
                  </a:lnTo>
                </a:path>
              </a:pathLst>
            </a:custGeom>
            <a:noFill/>
            <a:ln w="536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8" name="path 876"/>
            <p:cNvSpPr/>
            <p:nvPr/>
          </p:nvSpPr>
          <p:spPr>
            <a:xfrm>
              <a:off x="14367495" y="8749342"/>
              <a:ext cx="5368" cy="16105"/>
            </a:xfrm>
            <a:custGeom>
              <a:avLst/>
              <a:gdLst/>
              <a:ahLst/>
              <a:cxnLst/>
              <a:rect l="0" t="0" r="r" b="b"/>
              <a:pathLst>
                <a:path w="5368" h="16105">
                  <a:moveTo>
                    <a:pt x="0" y="0"/>
                  </a:moveTo>
                  <a:lnTo>
                    <a:pt x="5368" y="16105"/>
                  </a:lnTo>
                </a:path>
              </a:pathLst>
            </a:custGeom>
            <a:noFill/>
            <a:ln w="536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9" name="path 877"/>
            <p:cNvSpPr/>
            <p:nvPr/>
          </p:nvSpPr>
          <p:spPr>
            <a:xfrm>
              <a:off x="14490970" y="8717132"/>
              <a:ext cx="5368" cy="16105"/>
            </a:xfrm>
            <a:custGeom>
              <a:avLst/>
              <a:gdLst/>
              <a:ahLst/>
              <a:cxnLst/>
              <a:rect l="0" t="0" r="r" b="b"/>
              <a:pathLst>
                <a:path w="5368" h="16105">
                  <a:moveTo>
                    <a:pt x="0" y="0"/>
                  </a:moveTo>
                  <a:lnTo>
                    <a:pt x="5368" y="16105"/>
                  </a:lnTo>
                </a:path>
              </a:pathLst>
            </a:custGeom>
            <a:noFill/>
            <a:ln w="5368" cap="rnd">
              <a:solidFill>
                <a:srgbClr val="05050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80" name="path 878"/>
          <p:cNvSpPr/>
          <p:nvPr/>
        </p:nvSpPr>
        <p:spPr>
          <a:xfrm>
            <a:off x="14548104" y="8924544"/>
            <a:ext cx="804672" cy="192024"/>
          </a:xfrm>
          <a:custGeom>
            <a:avLst/>
            <a:gdLst/>
            <a:ahLst/>
            <a:cxnLst/>
            <a:rect l="0" t="0" r="r" b="b"/>
            <a:pathLst>
              <a:path w="804672" h="192024">
                <a:moveTo>
                  <a:pt x="804672" y="192024"/>
                </a:moveTo>
                <a:lnTo>
                  <a:pt x="804672" y="0"/>
                </a:lnTo>
                <a:lnTo>
                  <a:pt x="0" y="0"/>
                </a:lnTo>
              </a:path>
            </a:pathLst>
          </a:custGeom>
          <a:noFill/>
          <a:ln w="36576" cap="rnd">
            <a:solidFill>
              <a:srgbClr val="2C7ABE"/>
            </a:solidFill>
            <a:round/>
            <a:custDash>
              <a:ds d="100000" sp="1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1" name="path 879"/>
          <p:cNvSpPr/>
          <p:nvPr/>
        </p:nvSpPr>
        <p:spPr>
          <a:xfrm>
            <a:off x="14548104" y="8857976"/>
            <a:ext cx="128016" cy="133137"/>
          </a:xfrm>
          <a:custGeom>
            <a:avLst/>
            <a:gdLst/>
            <a:ahLst/>
            <a:cxnLst/>
            <a:rect l="0" t="0" r="r" b="b"/>
            <a:pathLst>
              <a:path w="128016" h="133137">
                <a:moveTo>
                  <a:pt x="128016" y="0"/>
                </a:moveTo>
                <a:lnTo>
                  <a:pt x="0" y="66568"/>
                </a:lnTo>
                <a:lnTo>
                  <a:pt x="128016" y="133137"/>
                </a:lnTo>
              </a:path>
            </a:pathLst>
          </a:custGeom>
          <a:noFill/>
          <a:ln w="36576" cap="rnd">
            <a:solidFill>
              <a:srgbClr val="2C7ABE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2" name="Update"/>
          <p:cNvSpPr txBox="1"/>
          <p:nvPr/>
        </p:nvSpPr>
        <p:spPr>
          <a:xfrm>
            <a:off x="15439553" y="8794516"/>
            <a:ext cx="1019542" cy="477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88" b="1">
                <a:solidFill>
                  <a:srgbClr val="2C7ABE"/>
                </a:solidFill>
                <a:latin typeface="Comic Sans MS"/>
                <a:ea typeface="Comic Sans MS"/>
                <a:cs typeface="Comic Sans MS"/>
              </a:rPr>
              <a:t>Update</a:t>
            </a:r>
          </a:p>
        </p:txBody>
      </p:sp>
      <p:sp>
        <p:nvSpPr>
          <p:cNvPr id="883" name="Loss ="/>
          <p:cNvSpPr txBox="1"/>
          <p:nvPr/>
        </p:nvSpPr>
        <p:spPr>
          <a:xfrm>
            <a:off x="14947514" y="9225930"/>
            <a:ext cx="894690" cy="4608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6" b="1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Loss =</a:t>
            </a:r>
          </a:p>
        </p:txBody>
      </p:sp>
      <p:sp>
        <p:nvSpPr>
          <p:cNvPr id="884" name="∑"/>
          <p:cNvSpPr txBox="1"/>
          <p:nvPr/>
        </p:nvSpPr>
        <p:spPr>
          <a:xfrm>
            <a:off x="15659923" y="9152961"/>
            <a:ext cx="409073" cy="6419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8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∑</a:t>
            </a:r>
          </a:p>
        </p:txBody>
      </p:sp>
      <p:sp>
        <p:nvSpPr>
          <p:cNvPr id="885" name="("/>
          <p:cNvSpPr txBox="1"/>
          <p:nvPr/>
        </p:nvSpPr>
        <p:spPr>
          <a:xfrm>
            <a:off x="15895015" y="9231782"/>
            <a:ext cx="210205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(</a:t>
            </a:r>
          </a:p>
        </p:txBody>
      </p:sp>
      <p:grpSp>
        <p:nvGrpSpPr>
          <p:cNvPr id="938" name="reward-symbol-884"/>
          <p:cNvGrpSpPr/>
          <p:nvPr/>
        </p:nvGrpSpPr>
        <p:grpSpPr>
          <a:xfrm>
            <a:off x="16093440" y="9221790"/>
            <a:ext cx="292608" cy="410822"/>
            <a:chOff x="16093440" y="9221790"/>
            <a:chExt cx="292608" cy="410822"/>
          </a:xfrm>
        </p:grpSpPr>
        <p:sp>
          <p:nvSpPr>
            <p:cNvPr id="886" name="A symbol"/>
            <p:cNvSpPr/>
            <p:nvPr/>
          </p:nvSpPr>
          <p:spPr>
            <a:xfrm>
              <a:off x="16093440" y="9235440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FFE58B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7" name="A"/>
            <p:cNvSpPr txBox="1"/>
            <p:nvPr/>
          </p:nvSpPr>
          <p:spPr>
            <a:xfrm>
              <a:off x="16112780" y="9221790"/>
              <a:ext cx="258493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A</a:t>
              </a:r>
            </a:p>
          </p:txBody>
        </p:sp>
      </p:grpSp>
      <p:sp>
        <p:nvSpPr>
          <p:cNvPr id="888" name="-"/>
          <p:cNvSpPr txBox="1"/>
          <p:nvPr/>
        </p:nvSpPr>
        <p:spPr>
          <a:xfrm>
            <a:off x="16386597" y="9256654"/>
            <a:ext cx="194110" cy="4279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2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grpSp>
        <p:nvGrpSpPr>
          <p:cNvPr id="939" name="reward-symbol-887"/>
          <p:cNvGrpSpPr/>
          <p:nvPr/>
        </p:nvGrpSpPr>
        <p:grpSpPr>
          <a:xfrm>
            <a:off x="16568928" y="9221790"/>
            <a:ext cx="292608" cy="410822"/>
            <a:chOff x="16568928" y="9221790"/>
            <a:chExt cx="292608" cy="410822"/>
          </a:xfrm>
        </p:grpSpPr>
        <p:sp>
          <p:nvSpPr>
            <p:cNvPr id="889" name="D symbol"/>
            <p:cNvSpPr/>
            <p:nvPr/>
          </p:nvSpPr>
          <p:spPr>
            <a:xfrm>
              <a:off x="16568928" y="9235440"/>
              <a:ext cx="292608" cy="292608"/>
            </a:xfrm>
            <a:prstGeom prst="roundRect">
              <a:avLst>
                <a:gd name="adj" fmla="val 25000"/>
              </a:avLst>
            </a:prstGeom>
            <a:solidFill>
              <a:srgbClr val="A9CEED"/>
            </a:solidFill>
            <a:ln w="18288" cap="rnd">
              <a:solidFill>
                <a:srgbClr val="17345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0" name="D"/>
            <p:cNvSpPr txBox="1"/>
            <p:nvPr/>
          </p:nvSpPr>
          <p:spPr>
            <a:xfrm>
              <a:off x="16589375" y="9221790"/>
              <a:ext cx="256279" cy="4108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797" b="1">
                  <a:solidFill>
                    <a:srgbClr val="050505"/>
                  </a:solidFill>
                  <a:latin typeface="Comic Sans MS"/>
                  <a:ea typeface="Comic Sans MS"/>
                  <a:cs typeface="Comic Sans MS"/>
                </a:rPr>
                <a:t>D</a:t>
              </a:r>
            </a:p>
          </p:txBody>
        </p:sp>
      </p:grpSp>
      <p:sp>
        <p:nvSpPr>
          <p:cNvPr id="891" name=")"/>
          <p:cNvSpPr txBox="1"/>
          <p:nvPr/>
        </p:nvSpPr>
        <p:spPr>
          <a:xfrm>
            <a:off x="16845991" y="9231782"/>
            <a:ext cx="210205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0">
                <a:solidFill>
                  <a:srgbClr val="050505"/>
                </a:solidFill>
                <a:latin typeface="Comic Sans MS"/>
                <a:ea typeface="Comic Sans MS"/>
                <a:cs typeface="Comic Sans MS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Vad-R1 Towards Video Anomaly Reasoning via Perception-to-Cognition Chain-of-Thought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227296" cy="9683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Vad-R1 — Editable training framework</dc:title>
  <dc:subject>Rebuilt from the supplied reference image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