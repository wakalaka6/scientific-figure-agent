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830800" cy="9725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reference. All text, coloured facets, frames, projection guides, attention blocks, arrows and mask shapes are editable PowerPoint objects. Landscape photographs are independently replaceable embedded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 descr="Canvas"/>
          <p:cNvSpPr/>
          <p:nvPr/>
        </p:nvSpPr>
        <p:spPr>
          <a:xfrm>
            <a:off x="0" y="0"/>
            <a:ext cx="17830800" cy="9725025"/>
          </a:xfrm>
          <a:custGeom>
            <a:avLst/>
            <a:gdLst/>
            <a:ahLst/>
            <a:cxnLst/>
            <a:rect l="0" t="0" r="r" b="b"/>
            <a:pathLst>
              <a:path w="1872000" h="1021000">
                <a:moveTo>
                  <a:pt x="0" y="0"/>
                </a:moveTo>
                <a:lnTo>
                  <a:pt x="1872000" y="0"/>
                </a:lnTo>
                <a:lnTo>
                  <a:pt x="1872000" y="1021000"/>
                </a:lnTo>
                <a:lnTo>
                  <a:pt x="0" y="1021000"/>
                </a:lnTo>
                <a:close/>
              </a:path>
            </a:pathLst>
          </a:custGeom>
          <a:solidFill>
            <a:srgbClr val="fef9f5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uter rounded border" descr="Outer rounded border"/>
          <p:cNvSpPr/>
          <p:nvPr/>
        </p:nvSpPr>
        <p:spPr>
          <a:xfrm>
            <a:off x="100012" y="100012"/>
            <a:ext cx="17726025" cy="9696450"/>
          </a:xfrm>
          <a:custGeom>
            <a:avLst/>
            <a:gdLst/>
            <a:ahLst/>
            <a:cxnLst/>
            <a:rect l="0" t="0" r="r" b="b"/>
            <a:pathLst>
              <a:path w="1861000" h="1018000">
                <a:moveTo>
                  <a:pt x="47000" y="0"/>
                </a:moveTo>
                <a:lnTo>
                  <a:pt x="1814000" y="0"/>
                </a:lnTo>
                <a:cubicBezTo>
                  <a:pt x="1839957" y="0"/>
                  <a:pt x="1861000" y="21043"/>
                  <a:pt x="1861000" y="47000"/>
                </a:cubicBezTo>
                <a:lnTo>
                  <a:pt x="1861000" y="971000"/>
                </a:lnTo>
                <a:cubicBezTo>
                  <a:pt x="1861000" y="996957"/>
                  <a:pt x="1839957" y="1018000"/>
                  <a:pt x="1814000" y="1018000"/>
                </a:cubicBezTo>
                <a:lnTo>
                  <a:pt x="47000" y="1018000"/>
                </a:lnTo>
                <a:cubicBezTo>
                  <a:pt x="21043" y="1018000"/>
                  <a:pt x="0" y="996957"/>
                  <a:pt x="0" y="971000"/>
                </a:cubicBezTo>
                <a:lnTo>
                  <a:pt x="0" y="47000"/>
                </a:lnTo>
                <a:cubicBezTo>
                  <a:pt x="0" y="21043"/>
                  <a:pt x="21043" y="0"/>
                  <a:pt x="47000" y="0"/>
                </a:cubicBezTo>
                <a:close/>
              </a:path>
            </a:pathLst>
          </a:custGeom>
          <a:noFill/>
          <a:ln w="2571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ube and equirectangular panel" descr="Cube and equirectangular panel"/>
          <p:cNvSpPr/>
          <p:nvPr/>
        </p:nvSpPr>
        <p:spPr>
          <a:xfrm>
            <a:off x="847725" y="323850"/>
            <a:ext cx="8515350" cy="4057650"/>
          </a:xfrm>
          <a:custGeom>
            <a:avLst/>
            <a:gdLst/>
            <a:ahLst/>
            <a:cxnLst/>
            <a:rect l="0" t="0" r="r" b="b"/>
            <a:pathLst>
              <a:path w="894000" h="426000">
                <a:moveTo>
                  <a:pt x="23000" y="0"/>
                </a:moveTo>
                <a:lnTo>
                  <a:pt x="871000" y="0"/>
                </a:lnTo>
                <a:cubicBezTo>
                  <a:pt x="883703" y="0"/>
                  <a:pt x="894000" y="10297"/>
                  <a:pt x="894000" y="23000"/>
                </a:cubicBezTo>
                <a:lnTo>
                  <a:pt x="894000" y="403000"/>
                </a:lnTo>
                <a:cubicBezTo>
                  <a:pt x="894000" y="415703"/>
                  <a:pt x="883703" y="426000"/>
                  <a:pt x="871000" y="426000"/>
                </a:cubicBezTo>
                <a:lnTo>
                  <a:pt x="23000" y="426000"/>
                </a:lnTo>
                <a:cubicBezTo>
                  <a:pt x="10297" y="426000"/>
                  <a:pt x="0" y="415703"/>
                  <a:pt x="0" y="403000"/>
                </a:cubicBezTo>
                <a:lnTo>
                  <a:pt x="0" y="23000"/>
                </a:lnTo>
                <a:cubicBezTo>
                  <a:pt x="0" y="10297"/>
                  <a:pt x="10297" y="0"/>
                  <a:pt x="23000" y="0"/>
                </a:cubicBezTo>
                <a:close/>
              </a:path>
            </a:pathLst>
          </a:custGeom>
          <a:solidFill>
            <a:srgbClr val="e0eaf6"/>
          </a:solidFill>
          <a:ln w="1809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ube map shadow" descr="Cube map shadow"/>
          <p:cNvSpPr/>
          <p:nvPr/>
        </p:nvSpPr>
        <p:spPr>
          <a:xfrm>
            <a:off x="1047749" y="409575"/>
            <a:ext cx="4600575" cy="3448050"/>
          </a:xfrm>
          <a:custGeom>
            <a:avLst/>
            <a:gdLst/>
            <a:ahLst/>
            <a:cxnLst/>
            <a:rect l="0" t="0" r="r" b="b"/>
            <a:pathLst>
              <a:path w="483000" h="362000">
                <a:moveTo>
                  <a:pt x="121000" y="0"/>
                </a:moveTo>
                <a:lnTo>
                  <a:pt x="243000" y="0"/>
                </a:lnTo>
                <a:lnTo>
                  <a:pt x="243000" y="121000"/>
                </a:lnTo>
                <a:lnTo>
                  <a:pt x="483000" y="121000"/>
                </a:lnTo>
                <a:lnTo>
                  <a:pt x="483000" y="175000"/>
                </a:lnTo>
                <a:lnTo>
                  <a:pt x="363000" y="242000"/>
                </a:lnTo>
                <a:lnTo>
                  <a:pt x="243000" y="242000"/>
                </a:lnTo>
                <a:lnTo>
                  <a:pt x="243000" y="317000"/>
                </a:lnTo>
                <a:lnTo>
                  <a:pt x="166000" y="362000"/>
                </a:lnTo>
                <a:lnTo>
                  <a:pt x="121000" y="362000"/>
                </a:lnTo>
                <a:lnTo>
                  <a:pt x="121000" y="242000"/>
                </a:lnTo>
                <a:lnTo>
                  <a:pt x="0" y="242000"/>
                </a:lnTo>
                <a:lnTo>
                  <a:pt x="0" y="121000"/>
                </a:lnTo>
                <a:lnTo>
                  <a:pt x="121000" y="121000"/>
                </a:lnTo>
                <a:close/>
              </a:path>
            </a:pathLst>
          </a:custGeom>
          <a:solidFill>
            <a:srgbClr val="e0eaf6"/>
          </a:solidFill>
          <a:ln w="9525">
            <a:noFill/>
          </a:ln>
          <a:effectLst>
            <a:outerShdw blurRad="209550" dist="209550" dir="2700000" algn="ctr" rotWithShape="0">
              <a:srgbClr val="000000">
                <a:alpha val="3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Equirectangular landscape" descr="Equirectangular landsca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25" y="1171575"/>
            <a:ext cx="5562600" cy="2771775"/>
          </a:xfrm>
          <a:prstGeom prst="rect">
            <a:avLst/>
          </a:prstGeom>
          <a:effectLst>
            <a:outerShdw blurRad="209550" dist="209550" dir="2700000" algn="ctr" rotWithShape="0">
              <a:srgbClr val="000000">
                <a:alpha val="32000"/>
              </a:srgbClr>
            </a:outerShdw>
          </a:effectLst>
        </p:spPr>
      </p:pic>
      <p:pic>
        <p:nvPicPr>
          <p:cNvPr id="7" name="Cube upper face" descr="Cube upper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409575"/>
            <a:ext cx="1162050" cy="1152525"/>
          </a:xfrm>
          <a:prstGeom prst="rect">
            <a:avLst/>
          </a:prstGeom>
        </p:spPr>
      </p:pic>
      <p:pic>
        <p:nvPicPr>
          <p:cNvPr id="8" name="Cube left face" descr="Cube left f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49" y="1562100"/>
            <a:ext cx="1162050" cy="1152525"/>
          </a:xfrm>
          <a:prstGeom prst="rect">
            <a:avLst/>
          </a:prstGeom>
        </p:spPr>
      </p:pic>
      <p:pic>
        <p:nvPicPr>
          <p:cNvPr id="9" name="Cube front face" descr="Cube front fa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562100"/>
            <a:ext cx="1152525" cy="1152525"/>
          </a:xfrm>
          <a:prstGeom prst="rect">
            <a:avLst/>
          </a:prstGeom>
        </p:spPr>
      </p:pic>
      <p:pic>
        <p:nvPicPr>
          <p:cNvPr id="10" name="Cube right face" descr="Cube right fa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325" y="1562100"/>
            <a:ext cx="1143000" cy="1152525"/>
          </a:xfrm>
          <a:prstGeom prst="rect">
            <a:avLst/>
          </a:prstGeom>
        </p:spPr>
      </p:pic>
      <p:pic>
        <p:nvPicPr>
          <p:cNvPr id="11" name="Cube back face" descr="Cube back fa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5325" y="1562100"/>
            <a:ext cx="1143000" cy="1152525"/>
          </a:xfrm>
          <a:prstGeom prst="rect">
            <a:avLst/>
          </a:prstGeom>
        </p:spPr>
      </p:pic>
      <p:pic>
        <p:nvPicPr>
          <p:cNvPr id="12" name="Cube down face" descr="Cube down fa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2714625"/>
            <a:ext cx="1152525" cy="1143000"/>
          </a:xfrm>
          <a:prstGeom prst="rect">
            <a:avLst/>
          </a:prstGeom>
        </p:spPr>
      </p:pic>
      <p:sp>
        <p:nvSpPr>
          <p:cNvPr id="13" name="Upper diagonal dashed divider" descr="Upper diagonal dashed divider"/>
          <p:cNvSpPr/>
          <p:nvPr/>
        </p:nvSpPr>
        <p:spPr>
          <a:xfrm>
            <a:off x="1819275" y="361950"/>
            <a:ext cx="6810375" cy="4000500"/>
          </a:xfrm>
          <a:custGeom>
            <a:avLst/>
            <a:gdLst/>
            <a:ahLst/>
            <a:cxnLst/>
            <a:rect l="0" t="0" r="r" b="b"/>
            <a:pathLst>
              <a:path w="715000" h="420000">
                <a:moveTo>
                  <a:pt x="0" y="420000"/>
                </a:moveTo>
                <a:lnTo>
                  <a:pt x="715000" y="0"/>
                </a:lnTo>
              </a:path>
            </a:pathLst>
          </a:custGeom>
          <a:noFill/>
          <a:ln w="26670">
            <a:solidFill>
              <a:srgbClr val="000000"/>
            </a:solidFill>
            <a:custDash>
              <a:ds d="678571" sp="285714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ower diagonal dashed divider" descr="Lower diagonal dashed divider"/>
          <p:cNvSpPr/>
          <p:nvPr/>
        </p:nvSpPr>
        <p:spPr>
          <a:xfrm>
            <a:off x="1962150" y="361950"/>
            <a:ext cx="6800850" cy="4000500"/>
          </a:xfrm>
          <a:custGeom>
            <a:avLst/>
            <a:gdLst/>
            <a:ahLst/>
            <a:cxnLst/>
            <a:rect l="0" t="0" r="r" b="b"/>
            <a:pathLst>
              <a:path w="714000" h="420000">
                <a:moveTo>
                  <a:pt x="0" y="420000"/>
                </a:moveTo>
                <a:lnTo>
                  <a:pt x="714000" y="0"/>
                </a:lnTo>
              </a:path>
            </a:pathLst>
          </a:custGeom>
          <a:noFill/>
          <a:ln w="26670">
            <a:solidFill>
              <a:srgbClr val="000000"/>
            </a:solidFill>
            <a:custDash>
              <a:ds d="678571" sp="285714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ubeMap title" descr="CubeMap title"/>
          <p:cNvSpPr txBox="1"/>
          <p:nvPr/>
        </p:nvSpPr>
        <p:spPr>
          <a:xfrm>
            <a:off x="4286250" y="320040"/>
            <a:ext cx="2066924" cy="4095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CubeMap</a:t>
            </a:r>
          </a:p>
        </p:txBody>
      </p:sp>
      <p:sp>
        <p:nvSpPr>
          <p:cNvPr id="16" name="Equirectangular Map title" descr="Equirectangular Map title"/>
          <p:cNvSpPr txBox="1"/>
          <p:nvPr/>
        </p:nvSpPr>
        <p:spPr>
          <a:xfrm>
            <a:off x="4848225" y="3958590"/>
            <a:ext cx="3390900" cy="4000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000000"/>
                </a:solidFill>
                <a:latin typeface="Calibri"/>
              </a:rPr>
              <a:t>Equirectangular Map</a:t>
            </a:r>
          </a:p>
        </p:txBody>
      </p:sp>
      <p:sp>
        <p:nvSpPr>
          <p:cNvPr id="17" name="Front cube face outline" descr="Front cube face outline"/>
          <p:cNvSpPr/>
          <p:nvPr/>
        </p:nvSpPr>
        <p:spPr>
          <a:xfrm>
            <a:off x="2209800" y="1562100"/>
            <a:ext cx="1152525" cy="1152525"/>
          </a:xfrm>
          <a:custGeom>
            <a:avLst/>
            <a:gdLst/>
            <a:ahLst/>
            <a:cxnLst/>
            <a:rect l="0" t="0" r="r" b="b"/>
            <a:pathLst>
              <a:path w="121000" h="121000">
                <a:moveTo>
                  <a:pt x="0" y="0"/>
                </a:moveTo>
                <a:lnTo>
                  <a:pt x="121000" y="0"/>
                </a:lnTo>
                <a:lnTo>
                  <a:pt x="121000" y="121000"/>
                </a:lnTo>
                <a:lnTo>
                  <a:pt x="0" y="121000"/>
                </a:lnTo>
                <a:close/>
              </a:path>
            </a:pathLst>
          </a:custGeom>
          <a:noFill/>
          <a:ln w="18097">
            <a:solidFill>
              <a:srgbClr val="ff09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tated front projection footprint" descr="Rotated front projection footprint"/>
          <p:cNvSpPr/>
          <p:nvPr/>
        </p:nvSpPr>
        <p:spPr>
          <a:xfrm>
            <a:off x="1628775" y="990599"/>
            <a:ext cx="2305050" cy="2305050"/>
          </a:xfrm>
          <a:custGeom>
            <a:avLst/>
            <a:gdLst/>
            <a:ahLst/>
            <a:cxnLst/>
            <a:rect l="0" t="0" r="r" b="b"/>
            <a:pathLst>
              <a:path w="242000" h="242000">
                <a:moveTo>
                  <a:pt x="121000" y="0"/>
                </a:moveTo>
                <a:lnTo>
                  <a:pt x="242000" y="121000"/>
                </a:lnTo>
                <a:lnTo>
                  <a:pt x="121000" y="242000"/>
                </a:lnTo>
                <a:lnTo>
                  <a:pt x="0" y="121000"/>
                </a:lnTo>
                <a:close/>
              </a:path>
            </a:pathLst>
          </a:custGeom>
          <a:noFill/>
          <a:ln w="17145">
            <a:solidFill>
              <a:srgbClr val="ff0905"/>
            </a:solidFill>
            <a:custDash>
              <a:ds d="500000" sp="388889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ont spherical upper arc" descr="Front spherical upper arc"/>
          <p:cNvSpPr/>
          <p:nvPr/>
        </p:nvSpPr>
        <p:spPr>
          <a:xfrm>
            <a:off x="2200275" y="762000"/>
            <a:ext cx="1162050" cy="800100"/>
          </a:xfrm>
          <a:custGeom>
            <a:avLst/>
            <a:gdLst/>
            <a:ahLst/>
            <a:cxnLst/>
            <a:rect l="0" t="0" r="r" b="b"/>
            <a:pathLst>
              <a:path w="122000" h="84000">
                <a:moveTo>
                  <a:pt x="0" y="84000"/>
                </a:moveTo>
                <a:cubicBezTo>
                  <a:pt x="0" y="0"/>
                  <a:pt x="121000" y="0"/>
                  <a:pt x="122000" y="84000"/>
                </a:cubicBezTo>
              </a:path>
            </a:pathLst>
          </a:custGeom>
          <a:noFill/>
          <a:ln w="15240">
            <a:solidFill>
              <a:srgbClr val="ff0905"/>
            </a:solidFill>
            <a:custDash>
              <a:ds d="500000" sp="375000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ont upper dashed edge" descr="Front upper dashed edge"/>
          <p:cNvSpPr/>
          <p:nvPr/>
        </p:nvSpPr>
        <p:spPr>
          <a:xfrm>
            <a:off x="2228850" y="1543050"/>
            <a:ext cx="1104900" cy="952"/>
          </a:xfrm>
          <a:custGeom>
            <a:avLst/>
            <a:gdLst/>
            <a:ahLst/>
            <a:cxnLst/>
            <a:rect l="0" t="0" r="r" b="b"/>
            <a:pathLst>
              <a:path w="116000" h="100">
                <a:moveTo>
                  <a:pt x="0" y="0"/>
                </a:moveTo>
                <a:lnTo>
                  <a:pt x="116000" y="0"/>
                </a:lnTo>
              </a:path>
            </a:pathLst>
          </a:custGeom>
          <a:noFill/>
          <a:ln w="14287">
            <a:solidFill>
              <a:srgbClr val="ff0905"/>
            </a:solidFill>
            <a:custDash>
              <a:ds d="466667" sp="333333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ont face letter" descr="Front face letter"/>
          <p:cNvSpPr txBox="1"/>
          <p:nvPr/>
        </p:nvSpPr>
        <p:spPr>
          <a:xfrm>
            <a:off x="2628900" y="1872615"/>
            <a:ext cx="333375" cy="4476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5" b="0" i="0">
                <a:solidFill>
                  <a:srgbClr val="000000"/>
                </a:solidFill>
                <a:latin typeface="Calibri"/>
              </a:rPr>
              <a:t>F</a:t>
            </a:r>
          </a:p>
        </p:txBody>
      </p:sp>
      <p:sp>
        <p:nvSpPr>
          <p:cNvPr id="22" name="Cube projection label" descr="Cube projection label"/>
          <p:cNvSpPr txBox="1"/>
          <p:nvPr/>
        </p:nvSpPr>
        <p:spPr>
          <a:xfrm>
            <a:off x="1143000" y="796289"/>
            <a:ext cx="1123950" cy="4191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23" name="Cube left projection" descr="Cube left projection"/>
          <p:cNvSpPr/>
          <p:nvPr/>
        </p:nvSpPr>
        <p:spPr>
          <a:xfrm>
            <a:off x="2019300" y="1123950"/>
            <a:ext cx="438150" cy="238125"/>
          </a:xfrm>
          <a:custGeom>
            <a:avLst/>
            <a:gdLst/>
            <a:ahLst/>
            <a:cxnLst/>
            <a:rect l="0" t="0" r="r" b="b"/>
            <a:pathLst>
              <a:path w="46000" h="25000">
                <a:moveTo>
                  <a:pt x="20000" y="25000"/>
                </a:moveTo>
                <a:lnTo>
                  <a:pt x="0" y="1000"/>
                </a:lnTo>
                <a:cubicBezTo>
                  <a:pt x="11000" y="0"/>
                  <a:pt x="26000" y="5000"/>
                  <a:pt x="46000" y="8000"/>
                </a:cubicBezTo>
              </a:path>
            </a:pathLst>
          </a:custGeom>
          <a:noFill/>
          <a:ln w="1428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ube left projection tip" descr="Cube left projection tip"/>
          <p:cNvSpPr/>
          <p:nvPr/>
        </p:nvSpPr>
        <p:spPr>
          <a:xfrm>
            <a:off x="2366951" y="1149284"/>
            <a:ext cx="90498" cy="76298"/>
          </a:xfrm>
          <a:custGeom>
            <a:avLst/>
            <a:gdLst/>
            <a:ahLst/>
            <a:cxnLst/>
            <a:rect l="0" t="0" r="r" b="b"/>
            <a:pathLst>
              <a:path w="9501" h="8010">
                <a:moveTo>
                  <a:pt x="9501" y="5340"/>
                </a:moveTo>
                <a:lnTo>
                  <a:pt x="0" y="8010"/>
                </a:lnTo>
                <a:lnTo>
                  <a:pt x="1202" y="0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ube right projection" descr="Cube right projection"/>
          <p:cNvSpPr/>
          <p:nvPr/>
        </p:nvSpPr>
        <p:spPr>
          <a:xfrm>
            <a:off x="3133725" y="1104900"/>
            <a:ext cx="419100" cy="238125"/>
          </a:xfrm>
          <a:custGeom>
            <a:avLst/>
            <a:gdLst/>
            <a:ahLst/>
            <a:cxnLst/>
            <a:rect l="0" t="0" r="r" b="b"/>
            <a:pathLst>
              <a:path w="44000" h="25000">
                <a:moveTo>
                  <a:pt x="25000" y="25000"/>
                </a:moveTo>
                <a:lnTo>
                  <a:pt x="44000" y="1000"/>
                </a:lnTo>
                <a:cubicBezTo>
                  <a:pt x="30000" y="0"/>
                  <a:pt x="11000" y="4000"/>
                  <a:pt x="0" y="8000"/>
                </a:cubicBezTo>
              </a:path>
            </a:pathLst>
          </a:custGeom>
          <a:noFill/>
          <a:ln w="1428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ube right projection tip" descr="Cube right projection tip"/>
          <p:cNvSpPr/>
          <p:nvPr/>
        </p:nvSpPr>
        <p:spPr>
          <a:xfrm>
            <a:off x="3133725" y="1115550"/>
            <a:ext cx="93746" cy="72507"/>
          </a:xfrm>
          <a:custGeom>
            <a:avLst/>
            <a:gdLst/>
            <a:ahLst/>
            <a:cxnLst/>
            <a:rect l="0" t="0" r="r" b="b"/>
            <a:pathLst>
              <a:path w="9842" h="7612">
                <a:moveTo>
                  <a:pt x="0" y="6882"/>
                </a:moveTo>
                <a:lnTo>
                  <a:pt x="7074" y="0"/>
                </a:lnTo>
                <a:lnTo>
                  <a:pt x="9842" y="7612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ay mapping r" descr="Ray mapping r"/>
          <p:cNvSpPr txBox="1"/>
          <p:nvPr/>
        </p:nvSpPr>
        <p:spPr>
          <a:xfrm>
            <a:off x="1304925" y="1167765"/>
            <a:ext cx="123824" cy="27622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D100"/>
                </a:solidFill>
                <a:latin typeface="Calibri"/>
              </a:rPr>
              <a:t>r</a:t>
            </a:r>
          </a:p>
        </p:txBody>
      </p:sp>
      <p:sp>
        <p:nvSpPr>
          <p:cNvPr id="28" name="Ray mapping arrow shaft" descr="Ray mapping arrow shaft"/>
          <p:cNvSpPr/>
          <p:nvPr/>
        </p:nvSpPr>
        <p:spPr>
          <a:xfrm>
            <a:off x="1438275" y="1362075"/>
            <a:ext cx="114300" cy="952"/>
          </a:xfrm>
          <a:custGeom>
            <a:avLst/>
            <a:gdLst/>
            <a:ahLst/>
            <a:cxnLst/>
            <a:rect l="0" t="0" r="r" b="b"/>
            <a:pathLst>
              <a:path w="12000" h="100">
                <a:moveTo>
                  <a:pt x="0" y="0"/>
                </a:moveTo>
                <a:lnTo>
                  <a:pt x="12000" y="0"/>
                </a:lnTo>
              </a:path>
            </a:pathLst>
          </a:custGeom>
          <a:noFill/>
          <a:ln w="14287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ay mapping arrow arrowhead" descr="Ray mapping arrow arrowhead"/>
          <p:cNvSpPr/>
          <p:nvPr/>
        </p:nvSpPr>
        <p:spPr>
          <a:xfrm>
            <a:off x="1552575" y="1328737"/>
            <a:ext cx="66675" cy="66675"/>
          </a:xfrm>
          <a:custGeom>
            <a:avLst/>
            <a:gdLst/>
            <a:ahLst/>
            <a:cxnLst/>
            <a:rect l="0" t="0" r="r" b="b"/>
            <a:pathLst>
              <a:path w="7000" h="7000">
                <a:moveTo>
                  <a:pt x="7000" y="3500"/>
                </a:moveTo>
                <a:lnTo>
                  <a:pt x="0" y="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ay mapping r star" descr="Ray mapping r star"/>
          <p:cNvSpPr txBox="1"/>
          <p:nvPr/>
        </p:nvSpPr>
        <p:spPr>
          <a:xfrm>
            <a:off x="1638300" y="1167765"/>
            <a:ext cx="266700" cy="27622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8B77"/>
                </a:solidFill>
                <a:latin typeface="Calibri"/>
              </a:rPr>
              <a:t>r*</a:t>
            </a:r>
          </a:p>
        </p:txBody>
      </p:sp>
      <p:sp>
        <p:nvSpPr>
          <p:cNvPr id="31" name="Cube radius ray" descr="Cube radius ray"/>
          <p:cNvSpPr/>
          <p:nvPr/>
        </p:nvSpPr>
        <p:spPr>
          <a:xfrm>
            <a:off x="2286000" y="1257300"/>
            <a:ext cx="504825" cy="285750"/>
          </a:xfrm>
          <a:custGeom>
            <a:avLst/>
            <a:gdLst/>
            <a:ahLst/>
            <a:cxnLst/>
            <a:rect l="0" t="0" r="r" b="b"/>
            <a:pathLst>
              <a:path w="53000" h="30000">
                <a:moveTo>
                  <a:pt x="53000" y="30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fcf5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adius tip" descr="Radius tip"/>
          <p:cNvSpPr/>
          <p:nvPr/>
        </p:nvSpPr>
        <p:spPr>
          <a:xfrm>
            <a:off x="2286000" y="1257300"/>
            <a:ext cx="104775" cy="76200"/>
          </a:xfrm>
          <a:custGeom>
            <a:avLst/>
            <a:gdLst/>
            <a:ahLst/>
            <a:cxnLst/>
            <a:rect l="0" t="0" r="r" b="b"/>
            <a:pathLst>
              <a:path w="11000" h="8000">
                <a:moveTo>
                  <a:pt x="0" y="0"/>
                </a:moveTo>
                <a:lnTo>
                  <a:pt x="11000" y="1000"/>
                </a:lnTo>
                <a:lnTo>
                  <a:pt x="4000" y="8000"/>
                </a:lnTo>
                <a:close/>
              </a:path>
            </a:pathLst>
          </a:custGeom>
          <a:noFill/>
          <a:ln w="14287">
            <a:solidFill>
              <a:srgbClr val="ffcf5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adius end" descr="Radius end"/>
          <p:cNvSpPr/>
          <p:nvPr/>
        </p:nvSpPr>
        <p:spPr>
          <a:xfrm>
            <a:off x="2695575" y="1457325"/>
            <a:ext cx="95250" cy="85725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9000"/>
                </a:moveTo>
                <a:lnTo>
                  <a:pt x="0" y="6000"/>
                </a:lnTo>
                <a:lnTo>
                  <a:pt x="5000" y="0"/>
                </a:lnTo>
                <a:close/>
              </a:path>
            </a:pathLst>
          </a:custGeom>
          <a:noFill/>
          <a:ln w="14287">
            <a:solidFill>
              <a:srgbClr val="ffcf5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rojected radius ray" descr="Projected radius ray"/>
          <p:cNvSpPr/>
          <p:nvPr/>
        </p:nvSpPr>
        <p:spPr>
          <a:xfrm>
            <a:off x="2409825" y="1343025"/>
            <a:ext cx="390525" cy="200025"/>
          </a:xfrm>
          <a:custGeom>
            <a:avLst/>
            <a:gdLst/>
            <a:ahLst/>
            <a:cxnLst/>
            <a:rect l="0" t="0" r="r" b="b"/>
            <a:pathLst>
              <a:path w="41000" h="21000">
                <a:moveTo>
                  <a:pt x="41000" y="2100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ff9c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rojected radius tip" descr="Projected radius tip"/>
          <p:cNvSpPr/>
          <p:nvPr/>
        </p:nvSpPr>
        <p:spPr>
          <a:xfrm>
            <a:off x="2409825" y="1343025"/>
            <a:ext cx="104775" cy="66675"/>
          </a:xfrm>
          <a:custGeom>
            <a:avLst/>
            <a:gdLst/>
            <a:ahLst/>
            <a:cxnLst/>
            <a:rect l="0" t="0" r="r" b="b"/>
            <a:pathLst>
              <a:path w="11000" h="7000">
                <a:moveTo>
                  <a:pt x="0" y="0"/>
                </a:moveTo>
                <a:lnTo>
                  <a:pt x="11000" y="0"/>
                </a:lnTo>
                <a:lnTo>
                  <a:pt x="4000" y="7000"/>
                </a:lnTo>
                <a:close/>
              </a:path>
            </a:pathLst>
          </a:custGeom>
          <a:noFill/>
          <a:ln w="14287">
            <a:solidFill>
              <a:srgbClr val="ff9c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rojected radius end" descr="Projected radius end"/>
          <p:cNvSpPr/>
          <p:nvPr/>
        </p:nvSpPr>
        <p:spPr>
          <a:xfrm>
            <a:off x="2705100" y="1457325"/>
            <a:ext cx="95250" cy="85725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9000"/>
                </a:moveTo>
                <a:lnTo>
                  <a:pt x="0" y="6000"/>
                </a:lnTo>
                <a:lnTo>
                  <a:pt x="5000" y="0"/>
                </a:lnTo>
                <a:close/>
              </a:path>
            </a:pathLst>
          </a:custGeom>
          <a:noFill/>
          <a:ln w="14287">
            <a:solidFill>
              <a:srgbClr val="ff9c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ube radius r" descr="Cube radius r"/>
          <p:cNvSpPr txBox="1"/>
          <p:nvPr/>
        </p:nvSpPr>
        <p:spPr>
          <a:xfrm>
            <a:off x="2314575" y="1291589"/>
            <a:ext cx="180975" cy="2667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FD100"/>
                </a:solidFill>
                <a:latin typeface="Calibri"/>
              </a:rPr>
              <a:t>r</a:t>
            </a:r>
          </a:p>
        </p:txBody>
      </p:sp>
      <p:sp>
        <p:nvSpPr>
          <p:cNvPr id="38" name="Cube radius r star" descr="Cube radius r star"/>
          <p:cNvSpPr txBox="1"/>
          <p:nvPr/>
        </p:nvSpPr>
        <p:spPr>
          <a:xfrm>
            <a:off x="2600325" y="1110615"/>
            <a:ext cx="295275" cy="2952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F9C86"/>
                </a:solidFill>
                <a:latin typeface="Calibri"/>
              </a:rPr>
              <a:t>r*</a:t>
            </a:r>
          </a:p>
        </p:txBody>
      </p:sp>
      <p:sp>
        <p:nvSpPr>
          <p:cNvPr id="39" name="a brace" descr="a brace"/>
          <p:cNvSpPr/>
          <p:nvPr/>
        </p:nvSpPr>
        <p:spPr>
          <a:xfrm>
            <a:off x="2219325" y="2724150"/>
            <a:ext cx="1143000" cy="257175"/>
          </a:xfrm>
          <a:custGeom>
            <a:avLst/>
            <a:gdLst/>
            <a:ahLst/>
            <a:cxnLst/>
            <a:rect l="0" t="0" r="r" b="b"/>
            <a:pathLst>
              <a:path w="120000" h="27000">
                <a:moveTo>
                  <a:pt x="0" y="0"/>
                </a:moveTo>
                <a:cubicBezTo>
                  <a:pt x="4000" y="14000"/>
                  <a:pt x="15000" y="14000"/>
                  <a:pt x="27000" y="14000"/>
                </a:cubicBezTo>
                <a:lnTo>
                  <a:pt x="40000" y="14000"/>
                </a:lnTo>
                <a:cubicBezTo>
                  <a:pt x="52000" y="14000"/>
                  <a:pt x="59000" y="19000"/>
                  <a:pt x="60000" y="27000"/>
                </a:cubicBezTo>
                <a:cubicBezTo>
                  <a:pt x="62000" y="17000"/>
                  <a:pt x="69000" y="14000"/>
                  <a:pt x="80000" y="14000"/>
                </a:cubicBezTo>
                <a:lnTo>
                  <a:pt x="94000" y="14000"/>
                </a:lnTo>
                <a:cubicBezTo>
                  <a:pt x="106000" y="14000"/>
                  <a:pt x="116000" y="9000"/>
                  <a:pt x="120000" y="0"/>
                </a:cubicBezTo>
              </a:path>
            </a:pathLst>
          </a:custGeom>
          <a:noFill/>
          <a:ln w="9525">
            <a:solidFill>
              <a:srgbClr val="c7eaa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 measure" descr="a measure"/>
          <p:cNvSpPr txBox="1"/>
          <p:nvPr/>
        </p:nvSpPr>
        <p:spPr>
          <a:xfrm>
            <a:off x="2647950" y="2853690"/>
            <a:ext cx="333375" cy="3810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25" b="0" i="0">
                <a:solidFill>
                  <a:srgbClr val="BDE990"/>
                </a:solidFill>
                <a:latin typeface="Calibri"/>
              </a:rPr>
              <a:t>a</a:t>
            </a:r>
          </a:p>
        </p:txBody>
      </p:sp>
      <p:sp>
        <p:nvSpPr>
          <p:cNvPr id="41" name="Square root two diagonal brace" descr="Square root two diagonal brace"/>
          <p:cNvSpPr/>
          <p:nvPr/>
        </p:nvSpPr>
        <p:spPr>
          <a:xfrm>
            <a:off x="1466850" y="2152650"/>
            <a:ext cx="1333500" cy="1323975"/>
          </a:xfrm>
          <a:custGeom>
            <a:avLst/>
            <a:gdLst/>
            <a:ahLst/>
            <a:cxnLst/>
            <a:rect l="0" t="0" r="r" b="b"/>
            <a:pathLst>
              <a:path w="140000" h="139000">
                <a:moveTo>
                  <a:pt x="11000" y="0"/>
                </a:moveTo>
                <a:cubicBezTo>
                  <a:pt x="0" y="12000"/>
                  <a:pt x="19000" y="28000"/>
                  <a:pt x="36000" y="44000"/>
                </a:cubicBezTo>
                <a:cubicBezTo>
                  <a:pt x="53000" y="60000"/>
                  <a:pt x="60000" y="71000"/>
                  <a:pt x="50000" y="84000"/>
                </a:cubicBezTo>
                <a:cubicBezTo>
                  <a:pt x="67000" y="76000"/>
                  <a:pt x="72000" y="83000"/>
                  <a:pt x="87000" y="97000"/>
                </a:cubicBezTo>
                <a:cubicBezTo>
                  <a:pt x="110000" y="119000"/>
                  <a:pt x="122000" y="139000"/>
                  <a:pt x="140000" y="124000"/>
                </a:cubicBezTo>
              </a:path>
            </a:pathLst>
          </a:custGeom>
          <a:noFill/>
          <a:ln w="9525">
            <a:solidFill>
              <a:srgbClr val="51c88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quare root two a" descr="Square root two a"/>
          <p:cNvSpPr txBox="1"/>
          <p:nvPr/>
        </p:nvSpPr>
        <p:spPr>
          <a:xfrm>
            <a:off x="1333500" y="2844165"/>
            <a:ext cx="723900" cy="42862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86D02D"/>
                </a:solidFill>
                <a:latin typeface="Calibri"/>
              </a:rPr>
              <a:t>√2 a</a:t>
            </a:r>
          </a:p>
        </p:txBody>
      </p:sp>
      <p:sp>
        <p:nvSpPr>
          <p:cNvPr id="43" name="Equirectangular F boundary" descr="Equirectangular F boundary"/>
          <p:cNvSpPr/>
          <p:nvPr/>
        </p:nvSpPr>
        <p:spPr>
          <a:xfrm>
            <a:off x="5734050" y="1685925"/>
            <a:ext cx="1352550" cy="1676400"/>
          </a:xfrm>
          <a:custGeom>
            <a:avLst/>
            <a:gdLst/>
            <a:ahLst/>
            <a:cxnLst/>
            <a:rect l="0" t="0" r="r" b="b"/>
            <a:pathLst>
              <a:path w="142000" h="176000">
                <a:moveTo>
                  <a:pt x="0" y="47000"/>
                </a:moveTo>
                <a:cubicBezTo>
                  <a:pt x="32000" y="2000"/>
                  <a:pt x="100000" y="0"/>
                  <a:pt x="142000" y="33000"/>
                </a:cubicBezTo>
                <a:lnTo>
                  <a:pt x="142000" y="139000"/>
                </a:lnTo>
                <a:cubicBezTo>
                  <a:pt x="109000" y="175000"/>
                  <a:pt x="31000" y="176000"/>
                  <a:pt x="0" y="138000"/>
                </a:cubicBezTo>
                <a:close/>
              </a:path>
            </a:pathLst>
          </a:custGeom>
          <a:noFill/>
          <a:ln w="17145">
            <a:solidFill>
              <a:srgbClr val="ff09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quirect left longitude" descr="Equirect left longitude"/>
          <p:cNvSpPr/>
          <p:nvPr/>
        </p:nvSpPr>
        <p:spPr>
          <a:xfrm>
            <a:off x="5734050" y="2152650"/>
            <a:ext cx="952" cy="1790700"/>
          </a:xfrm>
          <a:custGeom>
            <a:avLst/>
            <a:gdLst/>
            <a:ahLst/>
            <a:cxnLst/>
            <a:rect l="0" t="0" r="r" b="b"/>
            <a:pathLst>
              <a:path w="100" h="188000">
                <a:moveTo>
                  <a:pt x="0" y="0"/>
                </a:moveTo>
                <a:lnTo>
                  <a:pt x="0" y="188000"/>
                </a:lnTo>
              </a:path>
            </a:pathLst>
          </a:custGeom>
          <a:noFill/>
          <a:ln w="14287">
            <a:solidFill>
              <a:srgbClr val="ff0905"/>
            </a:solidFill>
            <a:custDash>
              <a:ds d="533333" sp="400000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quirect right longitude" descr="Equirect right longitude"/>
          <p:cNvSpPr/>
          <p:nvPr/>
        </p:nvSpPr>
        <p:spPr>
          <a:xfrm>
            <a:off x="7086600" y="1381125"/>
            <a:ext cx="952" cy="2562225"/>
          </a:xfrm>
          <a:custGeom>
            <a:avLst/>
            <a:gdLst/>
            <a:ahLst/>
            <a:cxnLst/>
            <a:rect l="0" t="0" r="r" b="b"/>
            <a:pathLst>
              <a:path w="100" h="269000">
                <a:moveTo>
                  <a:pt x="0" y="0"/>
                </a:moveTo>
                <a:lnTo>
                  <a:pt x="0" y="269000"/>
                </a:lnTo>
              </a:path>
            </a:pathLst>
          </a:custGeom>
          <a:noFill/>
          <a:ln w="14287">
            <a:solidFill>
              <a:srgbClr val="ff0905"/>
            </a:solidFill>
            <a:custDash>
              <a:ds d="533333" sp="400000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quirect diagonal projection" descr="Equirect diagonal projection"/>
          <p:cNvSpPr/>
          <p:nvPr/>
        </p:nvSpPr>
        <p:spPr>
          <a:xfrm>
            <a:off x="7067550" y="1181100"/>
            <a:ext cx="542925" cy="1866899"/>
          </a:xfrm>
          <a:custGeom>
            <a:avLst/>
            <a:gdLst/>
            <a:ahLst/>
            <a:cxnLst/>
            <a:rect l="0" t="0" r="r" b="b"/>
            <a:pathLst>
              <a:path w="57000" h="196000">
                <a:moveTo>
                  <a:pt x="57000" y="0"/>
                </a:moveTo>
                <a:lnTo>
                  <a:pt x="1000" y="89000"/>
                </a:lnTo>
                <a:lnTo>
                  <a:pt x="56000" y="142000"/>
                </a:lnTo>
                <a:lnTo>
                  <a:pt x="0" y="196000"/>
                </a:lnTo>
              </a:path>
            </a:pathLst>
          </a:custGeom>
          <a:noFill/>
          <a:ln w="15240">
            <a:solidFill>
              <a:srgbClr val="ff0905"/>
            </a:solidFill>
            <a:custDash>
              <a:ds d="500000" sp="375000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quirect left footprint" descr="Equirect left footprint"/>
          <p:cNvSpPr/>
          <p:nvPr/>
        </p:nvSpPr>
        <p:spPr>
          <a:xfrm>
            <a:off x="5267325" y="2171700"/>
            <a:ext cx="466724" cy="828675"/>
          </a:xfrm>
          <a:custGeom>
            <a:avLst/>
            <a:gdLst/>
            <a:ahLst/>
            <a:cxnLst/>
            <a:rect l="0" t="0" r="r" b="b"/>
            <a:pathLst>
              <a:path w="49000" h="87000">
                <a:moveTo>
                  <a:pt x="28000" y="0"/>
                </a:moveTo>
                <a:lnTo>
                  <a:pt x="0" y="38000"/>
                </a:lnTo>
                <a:lnTo>
                  <a:pt x="49000" y="87000"/>
                </a:lnTo>
              </a:path>
            </a:pathLst>
          </a:custGeom>
          <a:noFill/>
          <a:ln w="15240">
            <a:solidFill>
              <a:srgbClr val="ff0905"/>
            </a:solidFill>
            <a:custDash>
              <a:ds d="500000" sp="375000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quirect front face letter" descr="Equirect front face letter"/>
          <p:cNvSpPr txBox="1"/>
          <p:nvPr/>
        </p:nvSpPr>
        <p:spPr>
          <a:xfrm>
            <a:off x="6276975" y="2244090"/>
            <a:ext cx="333375" cy="4476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5" b="0" i="0">
                <a:solidFill>
                  <a:srgbClr val="000000"/>
                </a:solidFill>
                <a:latin typeface="Calibri"/>
              </a:rPr>
              <a:t>F</a:t>
            </a:r>
          </a:p>
        </p:txBody>
      </p:sp>
      <p:sp>
        <p:nvSpPr>
          <p:cNvPr id="49" name="Equirect projection label" descr="Equirect projection label"/>
          <p:cNvSpPr txBox="1"/>
          <p:nvPr/>
        </p:nvSpPr>
        <p:spPr>
          <a:xfrm>
            <a:off x="7610474" y="1263014"/>
            <a:ext cx="1181100" cy="4191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50" name="Equirect project arrow" descr="Equirect project arrow"/>
          <p:cNvSpPr/>
          <p:nvPr/>
        </p:nvSpPr>
        <p:spPr>
          <a:xfrm>
            <a:off x="7124700" y="1447800"/>
            <a:ext cx="409575" cy="295275"/>
          </a:xfrm>
          <a:custGeom>
            <a:avLst/>
            <a:gdLst/>
            <a:ahLst/>
            <a:cxnLst/>
            <a:rect l="0" t="0" r="r" b="b"/>
            <a:pathLst>
              <a:path w="43000" h="31000">
                <a:moveTo>
                  <a:pt x="14000" y="31000"/>
                </a:moveTo>
                <a:lnTo>
                  <a:pt x="43000" y="24000"/>
                </a:lnTo>
                <a:cubicBezTo>
                  <a:pt x="32000" y="13000"/>
                  <a:pt x="17000" y="5000"/>
                  <a:pt x="0" y="0"/>
                </a:cubicBezTo>
              </a:path>
            </a:pathLst>
          </a:custGeom>
          <a:noFill/>
          <a:ln w="1428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quirect project arrow tip" descr="Equirect project arrow tip"/>
          <p:cNvSpPr/>
          <p:nvPr/>
        </p:nvSpPr>
        <p:spPr>
          <a:xfrm>
            <a:off x="7124700" y="1434979"/>
            <a:ext cx="93126" cy="74017"/>
          </a:xfrm>
          <a:custGeom>
            <a:avLst/>
            <a:gdLst/>
            <a:ahLst/>
            <a:cxnLst/>
            <a:rect l="0" t="0" r="r" b="b"/>
            <a:pathLst>
              <a:path w="9777" h="7771">
                <a:moveTo>
                  <a:pt x="0" y="1346"/>
                </a:moveTo>
                <a:lnTo>
                  <a:pt x="9777" y="0"/>
                </a:lnTo>
                <a:lnTo>
                  <a:pt x="7492" y="7771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Folded map corner UL" descr="Folded map corner UL"/>
          <p:cNvSpPr/>
          <p:nvPr/>
        </p:nvSpPr>
        <p:spPr>
          <a:xfrm>
            <a:off x="10210800" y="1247775"/>
            <a:ext cx="723900" cy="723900"/>
          </a:xfrm>
          <a:custGeom>
            <a:avLst/>
            <a:gdLst/>
            <a:ahLst/>
            <a:cxnLst/>
            <a:rect l="0" t="0" r="r" b="b"/>
            <a:pathLst>
              <a:path w="76000" h="76000">
                <a:moveTo>
                  <a:pt x="76000" y="38000"/>
                </a:moveTo>
                <a:cubicBezTo>
                  <a:pt x="76000" y="58987"/>
                  <a:pt x="58987" y="76000"/>
                  <a:pt x="38000" y="76000"/>
                </a:cubicBezTo>
                <a:cubicBezTo>
                  <a:pt x="17013" y="76000"/>
                  <a:pt x="0" y="58987"/>
                  <a:pt x="0" y="38000"/>
                </a:cubicBezTo>
                <a:cubicBezTo>
                  <a:pt x="0" y="17013"/>
                  <a:pt x="17013" y="0"/>
                  <a:pt x="38000" y="0"/>
                </a:cubicBezTo>
                <a:cubicBezTo>
                  <a:pt x="58987" y="0"/>
                  <a:pt x="76000" y="17013"/>
                  <a:pt x="76000" y="38000"/>
                </a:cubicBezTo>
                <a:close/>
              </a:path>
            </a:pathLst>
          </a:custGeom>
          <a:solidFill>
            <a:srgbClr val="d5e5f1"/>
          </a:solidFill>
          <a:ln w="5238">
            <a:solidFill>
              <a:srgbClr val="aab6c1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Folded map corner UR" descr="Folded map corner UR"/>
          <p:cNvSpPr/>
          <p:nvPr/>
        </p:nvSpPr>
        <p:spPr>
          <a:xfrm>
            <a:off x="11791950" y="1247775"/>
            <a:ext cx="723900" cy="723900"/>
          </a:xfrm>
          <a:custGeom>
            <a:avLst/>
            <a:gdLst/>
            <a:ahLst/>
            <a:cxnLst/>
            <a:rect l="0" t="0" r="r" b="b"/>
            <a:pathLst>
              <a:path w="76000" h="76000">
                <a:moveTo>
                  <a:pt x="76000" y="38000"/>
                </a:moveTo>
                <a:cubicBezTo>
                  <a:pt x="76000" y="58987"/>
                  <a:pt x="58987" y="76000"/>
                  <a:pt x="38000" y="76000"/>
                </a:cubicBezTo>
                <a:cubicBezTo>
                  <a:pt x="17013" y="76000"/>
                  <a:pt x="0" y="58987"/>
                  <a:pt x="0" y="38000"/>
                </a:cubicBezTo>
                <a:cubicBezTo>
                  <a:pt x="0" y="17013"/>
                  <a:pt x="17013" y="0"/>
                  <a:pt x="38000" y="0"/>
                </a:cubicBezTo>
                <a:cubicBezTo>
                  <a:pt x="58987" y="0"/>
                  <a:pt x="76000" y="17013"/>
                  <a:pt x="76000" y="38000"/>
                </a:cubicBezTo>
                <a:close/>
              </a:path>
            </a:pathLst>
          </a:custGeom>
          <a:solidFill>
            <a:srgbClr val="d5e5f1"/>
          </a:solidFill>
          <a:ln w="5238">
            <a:solidFill>
              <a:srgbClr val="aab6c1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olded map corner BL" descr="Folded map corner BL"/>
          <p:cNvSpPr/>
          <p:nvPr/>
        </p:nvSpPr>
        <p:spPr>
          <a:xfrm>
            <a:off x="10210800" y="2847975"/>
            <a:ext cx="723900" cy="723900"/>
          </a:xfrm>
          <a:custGeom>
            <a:avLst/>
            <a:gdLst/>
            <a:ahLst/>
            <a:cxnLst/>
            <a:rect l="0" t="0" r="r" b="b"/>
            <a:pathLst>
              <a:path w="76000" h="76000">
                <a:moveTo>
                  <a:pt x="76000" y="38000"/>
                </a:moveTo>
                <a:cubicBezTo>
                  <a:pt x="76000" y="58987"/>
                  <a:pt x="58987" y="76000"/>
                  <a:pt x="38000" y="76000"/>
                </a:cubicBezTo>
                <a:cubicBezTo>
                  <a:pt x="17013" y="76000"/>
                  <a:pt x="0" y="58987"/>
                  <a:pt x="0" y="38000"/>
                </a:cubicBezTo>
                <a:cubicBezTo>
                  <a:pt x="0" y="17013"/>
                  <a:pt x="17013" y="0"/>
                  <a:pt x="38000" y="0"/>
                </a:cubicBezTo>
                <a:cubicBezTo>
                  <a:pt x="58987" y="0"/>
                  <a:pt x="76000" y="17013"/>
                  <a:pt x="76000" y="38000"/>
                </a:cubicBezTo>
                <a:close/>
              </a:path>
            </a:pathLst>
          </a:custGeom>
          <a:solidFill>
            <a:srgbClr val="d5e5f1"/>
          </a:solidFill>
          <a:ln w="5238">
            <a:solidFill>
              <a:srgbClr val="aab6c1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olded map corner BR" descr="Folded map corner BR"/>
          <p:cNvSpPr/>
          <p:nvPr/>
        </p:nvSpPr>
        <p:spPr>
          <a:xfrm>
            <a:off x="11791950" y="2847975"/>
            <a:ext cx="723900" cy="723900"/>
          </a:xfrm>
          <a:custGeom>
            <a:avLst/>
            <a:gdLst/>
            <a:ahLst/>
            <a:cxnLst/>
            <a:rect l="0" t="0" r="r" b="b"/>
            <a:pathLst>
              <a:path w="76000" h="76000">
                <a:moveTo>
                  <a:pt x="76000" y="38000"/>
                </a:moveTo>
                <a:cubicBezTo>
                  <a:pt x="76000" y="58987"/>
                  <a:pt x="58987" y="76000"/>
                  <a:pt x="38000" y="76000"/>
                </a:cubicBezTo>
                <a:cubicBezTo>
                  <a:pt x="17013" y="76000"/>
                  <a:pt x="0" y="58987"/>
                  <a:pt x="0" y="38000"/>
                </a:cubicBezTo>
                <a:cubicBezTo>
                  <a:pt x="0" y="17013"/>
                  <a:pt x="17013" y="0"/>
                  <a:pt x="38000" y="0"/>
                </a:cubicBezTo>
                <a:cubicBezTo>
                  <a:pt x="58987" y="0"/>
                  <a:pt x="76000" y="17013"/>
                  <a:pt x="76000" y="38000"/>
                </a:cubicBezTo>
                <a:close/>
              </a:path>
            </a:pathLst>
          </a:custGeom>
          <a:solidFill>
            <a:srgbClr val="d5e5f1"/>
          </a:solidFill>
          <a:ln w="5238">
            <a:solidFill>
              <a:srgbClr val="aab6c1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map facet U top left" descr="Remap facet U top left"/>
          <p:cNvSpPr/>
          <p:nvPr/>
        </p:nvSpPr>
        <p:spPr>
          <a:xfrm>
            <a:off x="10306050" y="1352550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0" y="5525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map facet U top right" descr="Remap facet U top right"/>
          <p:cNvSpPr/>
          <p:nvPr/>
        </p:nvSpPr>
        <p:spPr>
          <a:xfrm>
            <a:off x="11884818" y="1352550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55250" y="5525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map facet U bottom left" descr="Remap facet U bottom left"/>
          <p:cNvSpPr/>
          <p:nvPr/>
        </p:nvSpPr>
        <p:spPr>
          <a:xfrm>
            <a:off x="10306050" y="2931318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55250"/>
                </a:lnTo>
                <a:lnTo>
                  <a:pt x="0" y="5525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map facet U bottom right" descr="Remap facet U bottom right"/>
          <p:cNvSpPr/>
          <p:nvPr/>
        </p:nvSpPr>
        <p:spPr>
          <a:xfrm>
            <a:off x="11884818" y="2931318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55250" y="0"/>
                </a:moveTo>
                <a:lnTo>
                  <a:pt x="55250" y="55250"/>
                </a:lnTo>
                <a:lnTo>
                  <a:pt x="0" y="5525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map facet L full" descr="Remap facet L full"/>
          <p:cNvSpPr/>
          <p:nvPr/>
        </p:nvSpPr>
        <p:spPr>
          <a:xfrm>
            <a:off x="10306050" y="1352550"/>
            <a:ext cx="1052512" cy="1052512"/>
          </a:xfrm>
          <a:custGeom>
            <a:avLst/>
            <a:gdLst/>
            <a:ahLst/>
            <a:cxnLst/>
            <a:rect l="0" t="0" r="r" b="b"/>
            <a:pathLst>
              <a:path w="110500" h="110500">
                <a:moveTo>
                  <a:pt x="55250" y="0"/>
                </a:moveTo>
                <a:lnTo>
                  <a:pt x="110500" y="55250"/>
                </a:lnTo>
                <a:lnTo>
                  <a:pt x="55250" y="110500"/>
                </a:lnTo>
                <a:lnTo>
                  <a:pt x="0" y="55250"/>
                </a:lnTo>
                <a:close/>
              </a:path>
            </a:pathLst>
          </a:custGeom>
          <a:solidFill>
            <a:srgbClr val="e7e3f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map facet F full" descr="Remap facet F full"/>
          <p:cNvSpPr/>
          <p:nvPr/>
        </p:nvSpPr>
        <p:spPr>
          <a:xfrm>
            <a:off x="11358562" y="1352550"/>
            <a:ext cx="1052512" cy="1052512"/>
          </a:xfrm>
          <a:custGeom>
            <a:avLst/>
            <a:gdLst/>
            <a:ahLst/>
            <a:cxnLst/>
            <a:rect l="0" t="0" r="r" b="b"/>
            <a:pathLst>
              <a:path w="110500" h="110500">
                <a:moveTo>
                  <a:pt x="55250" y="0"/>
                </a:moveTo>
                <a:lnTo>
                  <a:pt x="110500" y="55250"/>
                </a:lnTo>
                <a:lnTo>
                  <a:pt x="55250" y="110500"/>
                </a:lnTo>
                <a:lnTo>
                  <a:pt x="0" y="5525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map facet B full" descr="Remap facet B full"/>
          <p:cNvSpPr/>
          <p:nvPr/>
        </p:nvSpPr>
        <p:spPr>
          <a:xfrm>
            <a:off x="10306050" y="2405062"/>
            <a:ext cx="1052512" cy="1052512"/>
          </a:xfrm>
          <a:custGeom>
            <a:avLst/>
            <a:gdLst/>
            <a:ahLst/>
            <a:cxnLst/>
            <a:rect l="0" t="0" r="r" b="b"/>
            <a:pathLst>
              <a:path w="110500" h="110500">
                <a:moveTo>
                  <a:pt x="55250" y="0"/>
                </a:moveTo>
                <a:lnTo>
                  <a:pt x="110500" y="55250"/>
                </a:lnTo>
                <a:lnTo>
                  <a:pt x="55250" y="110500"/>
                </a:lnTo>
                <a:lnTo>
                  <a:pt x="0" y="5525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map facet R full" descr="Remap facet R full"/>
          <p:cNvSpPr/>
          <p:nvPr/>
        </p:nvSpPr>
        <p:spPr>
          <a:xfrm>
            <a:off x="11358562" y="2405062"/>
            <a:ext cx="1052512" cy="1052512"/>
          </a:xfrm>
          <a:custGeom>
            <a:avLst/>
            <a:gdLst/>
            <a:ahLst/>
            <a:cxnLst/>
            <a:rect l="0" t="0" r="r" b="b"/>
            <a:pathLst>
              <a:path w="110500" h="110500">
                <a:moveTo>
                  <a:pt x="55250" y="0"/>
                </a:moveTo>
                <a:lnTo>
                  <a:pt x="110500" y="55250"/>
                </a:lnTo>
                <a:lnTo>
                  <a:pt x="55250" y="110500"/>
                </a:lnTo>
                <a:lnTo>
                  <a:pt x="0" y="55250"/>
                </a:lnTo>
                <a:close/>
              </a:path>
            </a:pathLst>
          </a:custGeom>
          <a:solidFill>
            <a:srgbClr val="fcf3eb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map facet D center" descr="Remap facet D center"/>
          <p:cNvSpPr/>
          <p:nvPr/>
        </p:nvSpPr>
        <p:spPr>
          <a:xfrm>
            <a:off x="10832306" y="1878806"/>
            <a:ext cx="1052512" cy="1052512"/>
          </a:xfrm>
          <a:custGeom>
            <a:avLst/>
            <a:gdLst/>
            <a:ahLst/>
            <a:cxnLst/>
            <a:rect l="0" t="0" r="r" b="b"/>
            <a:pathLst>
              <a:path w="110500" h="110500">
                <a:moveTo>
                  <a:pt x="55250" y="0"/>
                </a:moveTo>
                <a:lnTo>
                  <a:pt x="110500" y="55250"/>
                </a:lnTo>
                <a:lnTo>
                  <a:pt x="55250" y="110500"/>
                </a:lnTo>
                <a:lnTo>
                  <a:pt x="0" y="5525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map facet F upper half" descr="Remap facet F upper half"/>
          <p:cNvSpPr/>
          <p:nvPr/>
        </p:nvSpPr>
        <p:spPr>
          <a:xfrm>
            <a:off x="10832306" y="1352550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55250" y="5525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map facet L upper half" descr="Remap facet L upper half"/>
          <p:cNvSpPr/>
          <p:nvPr/>
        </p:nvSpPr>
        <p:spPr>
          <a:xfrm>
            <a:off x="11358562" y="1352550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0" y="55250"/>
                </a:lnTo>
                <a:close/>
              </a:path>
            </a:pathLst>
          </a:custGeom>
          <a:solidFill>
            <a:srgbClr val="e7e3f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map facet B left half" descr="Remap facet B left half"/>
          <p:cNvSpPr/>
          <p:nvPr/>
        </p:nvSpPr>
        <p:spPr>
          <a:xfrm>
            <a:off x="10306050" y="1878806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55250"/>
                </a:lnTo>
                <a:lnTo>
                  <a:pt x="0" y="5525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map facet L left half" descr="Remap facet L left half"/>
          <p:cNvSpPr/>
          <p:nvPr/>
        </p:nvSpPr>
        <p:spPr>
          <a:xfrm>
            <a:off x="10306050" y="2405062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0" y="55250"/>
                </a:lnTo>
                <a:close/>
              </a:path>
            </a:pathLst>
          </a:custGeom>
          <a:solidFill>
            <a:srgbClr val="e7e3f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map facet R right half" descr="Remap facet R right half"/>
          <p:cNvSpPr/>
          <p:nvPr/>
        </p:nvSpPr>
        <p:spPr>
          <a:xfrm>
            <a:off x="11884818" y="1878806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55250" y="0"/>
                </a:moveTo>
                <a:lnTo>
                  <a:pt x="55250" y="55250"/>
                </a:lnTo>
                <a:lnTo>
                  <a:pt x="0" y="55250"/>
                </a:lnTo>
                <a:close/>
              </a:path>
            </a:pathLst>
          </a:custGeom>
          <a:solidFill>
            <a:srgbClr val="fcf3eb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map facet F right half" descr="Remap facet F right half"/>
          <p:cNvSpPr/>
          <p:nvPr/>
        </p:nvSpPr>
        <p:spPr>
          <a:xfrm>
            <a:off x="11884818" y="2405062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0"/>
                </a:lnTo>
                <a:lnTo>
                  <a:pt x="55250" y="5525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map facet R lower half" descr="Remap facet R lower half"/>
          <p:cNvSpPr/>
          <p:nvPr/>
        </p:nvSpPr>
        <p:spPr>
          <a:xfrm>
            <a:off x="10832306" y="2931318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55250"/>
                </a:moveTo>
                <a:lnTo>
                  <a:pt x="55250" y="0"/>
                </a:lnTo>
                <a:lnTo>
                  <a:pt x="55250" y="55250"/>
                </a:lnTo>
                <a:close/>
              </a:path>
            </a:pathLst>
          </a:custGeom>
          <a:solidFill>
            <a:srgbClr val="fcf3eb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map facet B lower half" descr="Remap facet B lower half"/>
          <p:cNvSpPr/>
          <p:nvPr/>
        </p:nvSpPr>
        <p:spPr>
          <a:xfrm>
            <a:off x="11358562" y="2931318"/>
            <a:ext cx="526256" cy="526256"/>
          </a:xfrm>
          <a:custGeom>
            <a:avLst/>
            <a:gdLst/>
            <a:ahLst/>
            <a:cxnLst/>
            <a:rect l="0" t="0" r="r" b="b"/>
            <a:pathLst>
              <a:path w="55250" h="55250">
                <a:moveTo>
                  <a:pt x="0" y="0"/>
                </a:moveTo>
                <a:lnTo>
                  <a:pt x="55250" y="55250"/>
                </a:lnTo>
                <a:lnTo>
                  <a:pt x="0" y="5525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map face label U 1098 158" descr="Remap face label U 1098 158"/>
          <p:cNvSpPr txBox="1"/>
          <p:nvPr/>
        </p:nvSpPr>
        <p:spPr>
          <a:xfrm rot="18900000">
            <a:off x="10325100" y="13296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U</a:t>
            </a:r>
          </a:p>
        </p:txBody>
      </p:sp>
      <p:sp>
        <p:nvSpPr>
          <p:cNvPr id="74" name="Remap face label U 1290 158" descr="Remap face label U 1290 158"/>
          <p:cNvSpPr txBox="1"/>
          <p:nvPr/>
        </p:nvSpPr>
        <p:spPr>
          <a:xfrm rot="2700000">
            <a:off x="12153900" y="13296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U</a:t>
            </a:r>
          </a:p>
        </p:txBody>
      </p:sp>
      <p:sp>
        <p:nvSpPr>
          <p:cNvPr id="75" name="Remap face label U 1097 349" descr="Remap face label U 1097 349"/>
          <p:cNvSpPr txBox="1"/>
          <p:nvPr/>
        </p:nvSpPr>
        <p:spPr>
          <a:xfrm rot="13500000">
            <a:off x="10315575" y="31489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U</a:t>
            </a:r>
          </a:p>
        </p:txBody>
      </p:sp>
      <p:sp>
        <p:nvSpPr>
          <p:cNvPr id="76" name="Remap face label U 1289 349" descr="Remap face label U 1289 349"/>
          <p:cNvSpPr txBox="1"/>
          <p:nvPr/>
        </p:nvSpPr>
        <p:spPr>
          <a:xfrm rot="8100000">
            <a:off x="12144375" y="31489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U</a:t>
            </a:r>
          </a:p>
        </p:txBody>
      </p:sp>
      <p:sp>
        <p:nvSpPr>
          <p:cNvPr id="77" name="Remap face label L 1138 198" descr="Remap face label L 1138 198"/>
          <p:cNvSpPr txBox="1"/>
          <p:nvPr/>
        </p:nvSpPr>
        <p:spPr>
          <a:xfrm rot="18900000">
            <a:off x="10706100" y="17106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L</a:t>
            </a:r>
          </a:p>
        </p:txBody>
      </p:sp>
      <p:sp>
        <p:nvSpPr>
          <p:cNvPr id="78" name="Remap face label F 1249 198" descr="Remap face label F 1249 198"/>
          <p:cNvSpPr txBox="1"/>
          <p:nvPr/>
        </p:nvSpPr>
        <p:spPr>
          <a:xfrm rot="2700000">
            <a:off x="11763375" y="17106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F</a:t>
            </a:r>
          </a:p>
        </p:txBody>
      </p:sp>
      <p:sp>
        <p:nvSpPr>
          <p:cNvPr id="79" name="Remap face label B 1138 309" descr="Remap face label B 1138 309"/>
          <p:cNvSpPr txBox="1"/>
          <p:nvPr/>
        </p:nvSpPr>
        <p:spPr>
          <a:xfrm rot="13500000">
            <a:off x="10706100" y="27679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80" name="Remap face label R 1249 309" descr="Remap face label R 1249 309"/>
          <p:cNvSpPr txBox="1"/>
          <p:nvPr/>
        </p:nvSpPr>
        <p:spPr>
          <a:xfrm rot="8100000">
            <a:off x="11763375" y="27679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R</a:t>
            </a:r>
          </a:p>
        </p:txBody>
      </p:sp>
      <p:sp>
        <p:nvSpPr>
          <p:cNvPr id="81" name="Remap face label D 1193 254" descr="Remap face label D 1193 254"/>
          <p:cNvSpPr txBox="1"/>
          <p:nvPr/>
        </p:nvSpPr>
        <p:spPr>
          <a:xfrm>
            <a:off x="11229975" y="22440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82" name="Remap face label F 1175 160" descr="Remap face label F 1175 160"/>
          <p:cNvSpPr txBox="1"/>
          <p:nvPr/>
        </p:nvSpPr>
        <p:spPr>
          <a:xfrm rot="18900000">
            <a:off x="11058525" y="1348739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F</a:t>
            </a:r>
          </a:p>
        </p:txBody>
      </p:sp>
      <p:sp>
        <p:nvSpPr>
          <p:cNvPr id="83" name="Remap face label L 1209 165" descr="Remap face label L 1209 165"/>
          <p:cNvSpPr txBox="1"/>
          <p:nvPr/>
        </p:nvSpPr>
        <p:spPr>
          <a:xfrm rot="2700000">
            <a:off x="11382375" y="13963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L</a:t>
            </a:r>
          </a:p>
        </p:txBody>
      </p:sp>
      <p:sp>
        <p:nvSpPr>
          <p:cNvPr id="84" name="Remap face label B 1103 236" descr="Remap face label B 1103 236"/>
          <p:cNvSpPr txBox="1"/>
          <p:nvPr/>
        </p:nvSpPr>
        <p:spPr>
          <a:xfrm rot="18900000">
            <a:off x="10372725" y="207264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85" name="Remap face label L 1103 270" descr="Remap face label L 1103 270"/>
          <p:cNvSpPr txBox="1"/>
          <p:nvPr/>
        </p:nvSpPr>
        <p:spPr>
          <a:xfrm rot="13500000">
            <a:off x="10372725" y="23964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L</a:t>
            </a:r>
          </a:p>
        </p:txBody>
      </p:sp>
      <p:sp>
        <p:nvSpPr>
          <p:cNvPr id="86" name="Remap face label R 1288 235" descr="Remap face label R 1288 235"/>
          <p:cNvSpPr txBox="1"/>
          <p:nvPr/>
        </p:nvSpPr>
        <p:spPr>
          <a:xfrm rot="2700000">
            <a:off x="12134850" y="206311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R</a:t>
            </a:r>
          </a:p>
        </p:txBody>
      </p:sp>
      <p:sp>
        <p:nvSpPr>
          <p:cNvPr id="87" name="Remap face label F 1288 273" descr="Remap face label F 1288 273"/>
          <p:cNvSpPr txBox="1"/>
          <p:nvPr/>
        </p:nvSpPr>
        <p:spPr>
          <a:xfrm rot="8100000">
            <a:off x="12134850" y="2425065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F</a:t>
            </a:r>
          </a:p>
        </p:txBody>
      </p:sp>
      <p:sp>
        <p:nvSpPr>
          <p:cNvPr id="88" name="Remap face label R 1177 346" descr="Remap face label R 1177 346"/>
          <p:cNvSpPr txBox="1"/>
          <p:nvPr/>
        </p:nvSpPr>
        <p:spPr>
          <a:xfrm rot="13500000">
            <a:off x="11077575" y="31203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R</a:t>
            </a:r>
          </a:p>
        </p:txBody>
      </p:sp>
      <p:sp>
        <p:nvSpPr>
          <p:cNvPr id="89" name="Remap face label B 1209 346" descr="Remap face label B 1209 346"/>
          <p:cNvSpPr txBox="1"/>
          <p:nvPr/>
        </p:nvSpPr>
        <p:spPr>
          <a:xfrm rot="8100000">
            <a:off x="11382375" y="3120390"/>
            <a:ext cx="266700" cy="2857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90" name="Remap fold UL upper" descr="Remap fold UL upper"/>
          <p:cNvSpPr/>
          <p:nvPr/>
        </p:nvSpPr>
        <p:spPr>
          <a:xfrm>
            <a:off x="10534650" y="1133475"/>
            <a:ext cx="209550" cy="200025"/>
          </a:xfrm>
          <a:custGeom>
            <a:avLst/>
            <a:gdLst/>
            <a:ahLst/>
            <a:cxnLst/>
            <a:rect l="0" t="0" r="r" b="b"/>
            <a:pathLst>
              <a:path w="22000" h="21000">
                <a:moveTo>
                  <a:pt x="22000" y="21000"/>
                </a:moveTo>
                <a:lnTo>
                  <a:pt x="22000" y="0"/>
                </a:lnTo>
                <a:lnTo>
                  <a:pt x="0" y="2100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map fold UL upper tip" descr="Remap fold UL upper tip"/>
          <p:cNvSpPr/>
          <p:nvPr/>
        </p:nvSpPr>
        <p:spPr>
          <a:xfrm>
            <a:off x="10534650" y="1275436"/>
            <a:ext cx="59097" cy="58063"/>
          </a:xfrm>
          <a:custGeom>
            <a:avLst/>
            <a:gdLst/>
            <a:ahLst/>
            <a:cxnLst/>
            <a:rect l="0" t="0" r="r" b="b"/>
            <a:pathLst>
              <a:path w="6204" h="6096">
                <a:moveTo>
                  <a:pt x="0" y="6096"/>
                </a:moveTo>
                <a:lnTo>
                  <a:pt x="2476" y="0"/>
                </a:lnTo>
                <a:lnTo>
                  <a:pt x="6204" y="3906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map fold UL left" descr="Remap fold UL left"/>
          <p:cNvSpPr/>
          <p:nvPr/>
        </p:nvSpPr>
        <p:spPr>
          <a:xfrm>
            <a:off x="10077450" y="1590675"/>
            <a:ext cx="219075" cy="171450"/>
          </a:xfrm>
          <a:custGeom>
            <a:avLst/>
            <a:gdLst/>
            <a:ahLst/>
            <a:cxnLst/>
            <a:rect l="0" t="0" r="r" b="b"/>
            <a:pathLst>
              <a:path w="23000" h="18000">
                <a:moveTo>
                  <a:pt x="23000" y="18000"/>
                </a:moveTo>
                <a:lnTo>
                  <a:pt x="0" y="16000"/>
                </a:lnTo>
                <a:lnTo>
                  <a:pt x="22000" y="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map fold UL left tip" descr="Remap fold UL left tip"/>
          <p:cNvSpPr/>
          <p:nvPr/>
        </p:nvSpPr>
        <p:spPr>
          <a:xfrm>
            <a:off x="10225654" y="1590675"/>
            <a:ext cx="61345" cy="54412"/>
          </a:xfrm>
          <a:custGeom>
            <a:avLst/>
            <a:gdLst/>
            <a:ahLst/>
            <a:cxnLst/>
            <a:rect l="0" t="0" r="r" b="b"/>
            <a:pathLst>
              <a:path w="6440" h="5713">
                <a:moveTo>
                  <a:pt x="6440" y="0"/>
                </a:moveTo>
                <a:lnTo>
                  <a:pt x="3176" y="5713"/>
                </a:lnTo>
                <a:lnTo>
                  <a:pt x="0" y="1345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map fold UR upper" descr="Remap fold UR upper"/>
          <p:cNvSpPr/>
          <p:nvPr/>
        </p:nvSpPr>
        <p:spPr>
          <a:xfrm>
            <a:off x="12030075" y="1114425"/>
            <a:ext cx="209550" cy="238125"/>
          </a:xfrm>
          <a:custGeom>
            <a:avLst/>
            <a:gdLst/>
            <a:ahLst/>
            <a:cxnLst/>
            <a:rect l="0" t="0" r="r" b="b"/>
            <a:pathLst>
              <a:path w="22000" h="25000">
                <a:moveTo>
                  <a:pt x="0" y="22000"/>
                </a:moveTo>
                <a:lnTo>
                  <a:pt x="1000" y="0"/>
                </a:lnTo>
                <a:lnTo>
                  <a:pt x="22000" y="2500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map fold UR upper tip" descr="Remap fold UR upper tip"/>
          <p:cNvSpPr/>
          <p:nvPr/>
        </p:nvSpPr>
        <p:spPr>
          <a:xfrm>
            <a:off x="12183174" y="1292248"/>
            <a:ext cx="56450" cy="60301"/>
          </a:xfrm>
          <a:custGeom>
            <a:avLst/>
            <a:gdLst/>
            <a:ahLst/>
            <a:cxnLst/>
            <a:rect l="0" t="0" r="r" b="b"/>
            <a:pathLst>
              <a:path w="5927" h="6331">
                <a:moveTo>
                  <a:pt x="5927" y="6331"/>
                </a:moveTo>
                <a:lnTo>
                  <a:pt x="0" y="3473"/>
                </a:lnTo>
                <a:lnTo>
                  <a:pt x="4135" y="0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map fold UR right" descr="Remap fold UR right"/>
          <p:cNvSpPr/>
          <p:nvPr/>
        </p:nvSpPr>
        <p:spPr>
          <a:xfrm>
            <a:off x="12420600" y="1600200"/>
            <a:ext cx="219075" cy="161925"/>
          </a:xfrm>
          <a:custGeom>
            <a:avLst/>
            <a:gdLst/>
            <a:ahLst/>
            <a:cxnLst/>
            <a:rect l="0" t="0" r="r" b="b"/>
            <a:pathLst>
              <a:path w="23000" h="17000">
                <a:moveTo>
                  <a:pt x="0" y="17000"/>
                </a:moveTo>
                <a:lnTo>
                  <a:pt x="23000" y="17000"/>
                </a:lnTo>
                <a:lnTo>
                  <a:pt x="1000" y="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map fold UR right tip" descr="Remap fold UR right tip"/>
          <p:cNvSpPr/>
          <p:nvPr/>
        </p:nvSpPr>
        <p:spPr>
          <a:xfrm>
            <a:off x="12430125" y="1600200"/>
            <a:ext cx="60946" cy="55294"/>
          </a:xfrm>
          <a:custGeom>
            <a:avLst/>
            <a:gdLst/>
            <a:ahLst/>
            <a:cxnLst/>
            <a:rect l="0" t="0" r="r" b="b"/>
            <a:pathLst>
              <a:path w="6399" h="5805">
                <a:moveTo>
                  <a:pt x="0" y="0"/>
                </a:moveTo>
                <a:lnTo>
                  <a:pt x="6399" y="1532"/>
                </a:lnTo>
                <a:lnTo>
                  <a:pt x="3097" y="5805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map fold BL left" descr="Remap fold BL left"/>
          <p:cNvSpPr/>
          <p:nvPr/>
        </p:nvSpPr>
        <p:spPr>
          <a:xfrm>
            <a:off x="10096500" y="3038475"/>
            <a:ext cx="219075" cy="200025"/>
          </a:xfrm>
          <a:custGeom>
            <a:avLst/>
            <a:gdLst/>
            <a:ahLst/>
            <a:cxnLst/>
            <a:rect l="0" t="0" r="r" b="b"/>
            <a:pathLst>
              <a:path w="23000" h="21000">
                <a:moveTo>
                  <a:pt x="21000" y="0"/>
                </a:moveTo>
                <a:lnTo>
                  <a:pt x="0" y="3000"/>
                </a:lnTo>
                <a:lnTo>
                  <a:pt x="23000" y="2100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map fold BL left tip" descr="Remap fold BL left tip"/>
          <p:cNvSpPr/>
          <p:nvPr/>
        </p:nvSpPr>
        <p:spPr>
          <a:xfrm>
            <a:off x="10254719" y="3183025"/>
            <a:ext cx="60855" cy="55474"/>
          </a:xfrm>
          <a:custGeom>
            <a:avLst/>
            <a:gdLst/>
            <a:ahLst/>
            <a:cxnLst/>
            <a:rect l="0" t="0" r="r" b="b"/>
            <a:pathLst>
              <a:path w="6389" h="5824">
                <a:moveTo>
                  <a:pt x="6389" y="5824"/>
                </a:moveTo>
                <a:lnTo>
                  <a:pt x="0" y="4253"/>
                </a:lnTo>
                <a:lnTo>
                  <a:pt x="3328" y="0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map fold BL lower" descr="Remap fold BL lower"/>
          <p:cNvSpPr/>
          <p:nvPr/>
        </p:nvSpPr>
        <p:spPr>
          <a:xfrm>
            <a:off x="10515600" y="3486150"/>
            <a:ext cx="219075" cy="200025"/>
          </a:xfrm>
          <a:custGeom>
            <a:avLst/>
            <a:gdLst/>
            <a:ahLst/>
            <a:cxnLst/>
            <a:rect l="0" t="0" r="r" b="b"/>
            <a:pathLst>
              <a:path w="23000" h="21000">
                <a:moveTo>
                  <a:pt x="23000" y="0"/>
                </a:moveTo>
                <a:lnTo>
                  <a:pt x="23000" y="21000"/>
                </a:lnTo>
                <a:lnTo>
                  <a:pt x="0" y="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map fold BL lower tip" descr="Remap fold BL lower tip"/>
          <p:cNvSpPr/>
          <p:nvPr/>
        </p:nvSpPr>
        <p:spPr>
          <a:xfrm>
            <a:off x="10515600" y="3486150"/>
            <a:ext cx="59544" cy="57526"/>
          </a:xfrm>
          <a:custGeom>
            <a:avLst/>
            <a:gdLst/>
            <a:ahLst/>
            <a:cxnLst/>
            <a:rect l="0" t="0" r="r" b="b"/>
            <a:pathLst>
              <a:path w="6251" h="6040">
                <a:moveTo>
                  <a:pt x="0" y="0"/>
                </a:moveTo>
                <a:lnTo>
                  <a:pt x="6251" y="2052"/>
                </a:lnTo>
                <a:lnTo>
                  <a:pt x="2610" y="6040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map fold BR right" descr="Remap fold BR right"/>
          <p:cNvSpPr/>
          <p:nvPr/>
        </p:nvSpPr>
        <p:spPr>
          <a:xfrm>
            <a:off x="12439650" y="3048000"/>
            <a:ext cx="219075" cy="209550"/>
          </a:xfrm>
          <a:custGeom>
            <a:avLst/>
            <a:gdLst/>
            <a:ahLst/>
            <a:cxnLst/>
            <a:rect l="0" t="0" r="r" b="b"/>
            <a:pathLst>
              <a:path w="23000" h="22000">
                <a:moveTo>
                  <a:pt x="0" y="0"/>
                </a:moveTo>
                <a:lnTo>
                  <a:pt x="23000" y="1000"/>
                </a:lnTo>
                <a:lnTo>
                  <a:pt x="0" y="2200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map fold BR right tip" descr="Remap fold BR right tip"/>
          <p:cNvSpPr/>
          <p:nvPr/>
        </p:nvSpPr>
        <p:spPr>
          <a:xfrm>
            <a:off x="12439650" y="3200023"/>
            <a:ext cx="59544" cy="57526"/>
          </a:xfrm>
          <a:custGeom>
            <a:avLst/>
            <a:gdLst/>
            <a:ahLst/>
            <a:cxnLst/>
            <a:rect l="0" t="0" r="r" b="b"/>
            <a:pathLst>
              <a:path w="6251" h="6040">
                <a:moveTo>
                  <a:pt x="0" y="6040"/>
                </a:moveTo>
                <a:lnTo>
                  <a:pt x="2610" y="0"/>
                </a:lnTo>
                <a:lnTo>
                  <a:pt x="6251" y="3988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map fold BR lower" descr="Remap fold BR lower"/>
          <p:cNvSpPr/>
          <p:nvPr/>
        </p:nvSpPr>
        <p:spPr>
          <a:xfrm>
            <a:off x="12001500" y="3486150"/>
            <a:ext cx="209550" cy="200025"/>
          </a:xfrm>
          <a:custGeom>
            <a:avLst/>
            <a:gdLst/>
            <a:ahLst/>
            <a:cxnLst/>
            <a:rect l="0" t="0" r="r" b="b"/>
            <a:pathLst>
              <a:path w="22000" h="21000">
                <a:moveTo>
                  <a:pt x="0" y="0"/>
                </a:moveTo>
                <a:lnTo>
                  <a:pt x="0" y="21000"/>
                </a:lnTo>
                <a:lnTo>
                  <a:pt x="22000" y="0"/>
                </a:lnTo>
              </a:path>
            </a:pathLst>
          </a:custGeom>
          <a:noFill/>
          <a:ln w="10001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map fold BR lower tip" descr="Remap fold BR lower tip"/>
          <p:cNvSpPr/>
          <p:nvPr/>
        </p:nvSpPr>
        <p:spPr>
          <a:xfrm>
            <a:off x="12151952" y="3486150"/>
            <a:ext cx="59097" cy="58063"/>
          </a:xfrm>
          <a:custGeom>
            <a:avLst/>
            <a:gdLst/>
            <a:ahLst/>
            <a:cxnLst/>
            <a:rect l="0" t="0" r="r" b="b"/>
            <a:pathLst>
              <a:path w="6204" h="6096">
                <a:moveTo>
                  <a:pt x="6204" y="0"/>
                </a:moveTo>
                <a:lnTo>
                  <a:pt x="3729" y="6096"/>
                </a:lnTo>
                <a:lnTo>
                  <a:pt x="0" y="2190"/>
                </a:lnTo>
                <a:close/>
              </a:path>
            </a:pathLst>
          </a:custGeom>
          <a:solidFill>
            <a:srgbClr val="1c355e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map upper right dashed frame" descr="Remap upper right dashed frame"/>
          <p:cNvSpPr/>
          <p:nvPr/>
        </p:nvSpPr>
        <p:spPr>
          <a:xfrm>
            <a:off x="11363325" y="1352550"/>
            <a:ext cx="1057275" cy="1057275"/>
          </a:xfrm>
          <a:custGeom>
            <a:avLst/>
            <a:gdLst/>
            <a:ahLst/>
            <a:cxnLst/>
            <a:rect l="0" t="0" r="r" b="b"/>
            <a:pathLst>
              <a:path w="111000" h="111000">
                <a:moveTo>
                  <a:pt x="0" y="0"/>
                </a:moveTo>
                <a:lnTo>
                  <a:pt x="111000" y="0"/>
                </a:lnTo>
                <a:lnTo>
                  <a:pt x="111000" y="111000"/>
                </a:lnTo>
                <a:lnTo>
                  <a:pt x="0" y="111000"/>
                </a:lnTo>
                <a:close/>
              </a:path>
            </a:pathLst>
          </a:custGeom>
          <a:noFill/>
          <a:ln w="16192">
            <a:solidFill>
              <a:srgbClr val="ff0905"/>
            </a:solidFill>
            <a:custDash>
              <a:ds d="470588" sp="352941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map F diamond highlight" descr="Remap F diamond highlight"/>
          <p:cNvSpPr/>
          <p:nvPr/>
        </p:nvSpPr>
        <p:spPr>
          <a:xfrm>
            <a:off x="11363325" y="1352550"/>
            <a:ext cx="1057275" cy="1057275"/>
          </a:xfrm>
          <a:custGeom>
            <a:avLst/>
            <a:gdLst/>
            <a:ahLst/>
            <a:cxnLst/>
            <a:rect l="0" t="0" r="r" b="b"/>
            <a:pathLst>
              <a:path w="111000" h="111000">
                <a:moveTo>
                  <a:pt x="55500" y="0"/>
                </a:moveTo>
                <a:lnTo>
                  <a:pt x="111000" y="55500"/>
                </a:lnTo>
                <a:lnTo>
                  <a:pt x="55500" y="111000"/>
                </a:lnTo>
                <a:lnTo>
                  <a:pt x="0" y="55500"/>
                </a:lnTo>
                <a:close/>
              </a:path>
            </a:pathLst>
          </a:custGeom>
          <a:noFill/>
          <a:ln w="16192">
            <a:solidFill>
              <a:srgbClr val="ff09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map broad arrow" descr="Remap broad arrow"/>
          <p:cNvSpPr/>
          <p:nvPr/>
        </p:nvSpPr>
        <p:spPr>
          <a:xfrm>
            <a:off x="9829800" y="3657600"/>
            <a:ext cx="3057525" cy="285750"/>
          </a:xfrm>
          <a:custGeom>
            <a:avLst/>
            <a:gdLst/>
            <a:ahLst/>
            <a:cxnLst/>
            <a:rect l="0" t="0" r="r" b="b"/>
            <a:pathLst>
              <a:path w="321000" h="30000">
                <a:moveTo>
                  <a:pt x="0" y="8000"/>
                </a:moveTo>
                <a:lnTo>
                  <a:pt x="306000" y="8000"/>
                </a:lnTo>
                <a:lnTo>
                  <a:pt x="306000" y="0"/>
                </a:lnTo>
                <a:lnTo>
                  <a:pt x="321000" y="15000"/>
                </a:lnTo>
                <a:lnTo>
                  <a:pt x="306000" y="30000"/>
                </a:lnTo>
                <a:lnTo>
                  <a:pt x="306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e6e3de"/>
          </a:solidFill>
          <a:ln w="17145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map label" descr="remap label"/>
          <p:cNvSpPr txBox="1"/>
          <p:nvPr/>
        </p:nvSpPr>
        <p:spPr>
          <a:xfrm>
            <a:off x="10496550" y="3949065"/>
            <a:ext cx="1562100" cy="4095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remap</a:t>
            </a:r>
          </a:p>
        </p:txBody>
      </p:sp>
      <p:pic>
        <p:nvPicPr>
          <p:cNvPr id="110" name="ViewPoint Map photograph" descr="ViewPoint Map photograph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1650" y="371475"/>
            <a:ext cx="3733799" cy="3733799"/>
          </a:xfrm>
          <a:prstGeom prst="rect">
            <a:avLst/>
          </a:prstGeom>
          <a:effectLst>
            <a:outerShdw blurRad="209550" dist="209550" dir="2700000" algn="ctr" rotWithShape="0">
              <a:srgbClr val="000000">
                <a:alpha val="32000"/>
              </a:srgbClr>
            </a:outerShdw>
          </a:effectLst>
        </p:spPr>
      </p:pic>
      <p:sp>
        <p:nvSpPr>
          <p:cNvPr id="111" name="ViewPoint F dashed frame" descr="ViewPoint F dashed frame"/>
          <p:cNvSpPr/>
          <p:nvPr/>
        </p:nvSpPr>
        <p:spPr>
          <a:xfrm>
            <a:off x="15087600" y="371475"/>
            <a:ext cx="1838324" cy="1876425"/>
          </a:xfrm>
          <a:custGeom>
            <a:avLst/>
            <a:gdLst/>
            <a:ahLst/>
            <a:cxnLst/>
            <a:rect l="0" t="0" r="r" b="b"/>
            <a:pathLst>
              <a:path w="193000" h="197000">
                <a:moveTo>
                  <a:pt x="0" y="0"/>
                </a:moveTo>
                <a:lnTo>
                  <a:pt x="193000" y="0"/>
                </a:lnTo>
                <a:lnTo>
                  <a:pt x="193000" y="197000"/>
                </a:lnTo>
                <a:lnTo>
                  <a:pt x="0" y="197000"/>
                </a:lnTo>
                <a:close/>
              </a:path>
            </a:pathLst>
          </a:custGeom>
          <a:noFill/>
          <a:ln w="16192">
            <a:solidFill>
              <a:srgbClr val="ff0905"/>
            </a:solidFill>
            <a:custDash>
              <a:ds d="470588" sp="352941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ViewPoint F diamond" descr="ViewPoint F diamond"/>
          <p:cNvSpPr/>
          <p:nvPr/>
        </p:nvSpPr>
        <p:spPr>
          <a:xfrm>
            <a:off x="15097125" y="371475"/>
            <a:ext cx="1828800" cy="1866899"/>
          </a:xfrm>
          <a:custGeom>
            <a:avLst/>
            <a:gdLst/>
            <a:ahLst/>
            <a:cxnLst/>
            <a:rect l="0" t="0" r="r" b="b"/>
            <a:pathLst>
              <a:path w="192000" h="196000">
                <a:moveTo>
                  <a:pt x="97000" y="0"/>
                </a:moveTo>
                <a:lnTo>
                  <a:pt x="192000" y="99000"/>
                </a:lnTo>
                <a:lnTo>
                  <a:pt x="96000" y="196000"/>
                </a:lnTo>
                <a:lnTo>
                  <a:pt x="0" y="100000"/>
                </a:lnTo>
                <a:close/>
              </a:path>
            </a:pathLst>
          </a:custGeom>
          <a:noFill/>
          <a:ln w="19050">
            <a:solidFill>
              <a:srgbClr val="ff09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ViewPoint highlighted F" descr="ViewPoint highlighted F"/>
          <p:cNvSpPr txBox="1"/>
          <p:nvPr/>
        </p:nvSpPr>
        <p:spPr>
          <a:xfrm rot="2700000">
            <a:off x="15821024" y="1053465"/>
            <a:ext cx="390525" cy="4857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libri"/>
              </a:rPr>
              <a:t>F</a:t>
            </a:r>
          </a:p>
        </p:txBody>
      </p:sp>
      <p:sp>
        <p:nvSpPr>
          <p:cNvPr id="114" name="ViewPoint Map title" descr="ViewPoint Map title"/>
          <p:cNvSpPr txBox="1"/>
          <p:nvPr/>
        </p:nvSpPr>
        <p:spPr>
          <a:xfrm>
            <a:off x="13620750" y="4158615"/>
            <a:ext cx="2895600" cy="4191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ViewPoint Map</a:t>
            </a:r>
          </a:p>
        </p:txBody>
      </p:sp>
      <p:sp>
        <p:nvSpPr>
          <p:cNvPr id="115" name="Horizontal dashed stage divider" descr="Horizontal dashed stage divider"/>
          <p:cNvSpPr/>
          <p:nvPr/>
        </p:nvSpPr>
        <p:spPr>
          <a:xfrm>
            <a:off x="114300" y="4657725"/>
            <a:ext cx="17687925" cy="952"/>
          </a:xfrm>
          <a:custGeom>
            <a:avLst/>
            <a:gdLst/>
            <a:ahLst/>
            <a:cxnLst/>
            <a:rect l="0" t="0" r="r" b="b"/>
            <a:pathLst>
              <a:path w="1857000" h="100">
                <a:moveTo>
                  <a:pt x="0" y="0"/>
                </a:moveTo>
                <a:lnTo>
                  <a:pt x="1857000" y="0"/>
                </a:lnTo>
              </a:path>
            </a:pathLst>
          </a:custGeom>
          <a:noFill/>
          <a:ln w="26670">
            <a:solidFill>
              <a:srgbClr val="000000"/>
            </a:solidFill>
            <a:custDash>
              <a:ds d="857143" sp="321429"/>
            </a:custDash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6" name="Input panoramic video" descr="Input panoramic vide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5029200"/>
            <a:ext cx="4314825" cy="942975"/>
          </a:xfrm>
          <a:prstGeom prst="rect">
            <a:avLst/>
          </a:prstGeom>
        </p:spPr>
      </p:pic>
      <p:sp>
        <p:nvSpPr>
          <p:cNvPr id="117" name="Input label" descr="Input label"/>
          <p:cNvSpPr txBox="1"/>
          <p:nvPr/>
        </p:nvSpPr>
        <p:spPr>
          <a:xfrm>
            <a:off x="1809750" y="5968365"/>
            <a:ext cx="1457325" cy="4095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Input</a:t>
            </a:r>
          </a:p>
        </p:txBody>
      </p:sp>
      <p:sp>
        <p:nvSpPr>
          <p:cNvPr id="118" name="Projected input black plane" descr="Projected input black plane"/>
          <p:cNvSpPr/>
          <p:nvPr/>
        </p:nvSpPr>
        <p:spPr>
          <a:xfrm>
            <a:off x="409575" y="6619875"/>
            <a:ext cx="4305300" cy="942975"/>
          </a:xfrm>
          <a:custGeom>
            <a:avLst/>
            <a:gdLst/>
            <a:ahLst/>
            <a:cxnLst/>
            <a:rect l="0" t="0" r="r" b="b"/>
            <a:pathLst>
              <a:path w="452000" h="99000">
                <a:moveTo>
                  <a:pt x="74000" y="0"/>
                </a:moveTo>
                <a:lnTo>
                  <a:pt x="378000" y="0"/>
                </a:lnTo>
                <a:lnTo>
                  <a:pt x="452000" y="99000"/>
                </a:lnTo>
                <a:lnTo>
                  <a:pt x="0" y="99000"/>
                </a:lnTo>
                <a:close/>
              </a:path>
            </a:pathLst>
          </a:custGeom>
          <a:solidFill>
            <a:srgbClr val="030303"/>
          </a:solidFill>
          <a:ln w="11430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9" name="Projected input perspective image" descr="Projected input perspective 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2225" y="6629400"/>
            <a:ext cx="1552575" cy="381000"/>
          </a:xfrm>
          <a:prstGeom prst="rect">
            <a:avLst/>
          </a:prstGeom>
        </p:spPr>
      </p:pic>
      <p:sp>
        <p:nvSpPr>
          <p:cNvPr id="120" name="Projected Input Perspective Video label" descr="Projected Input Perspective Video label"/>
          <p:cNvSpPr txBox="1"/>
          <p:nvPr/>
        </p:nvSpPr>
        <p:spPr>
          <a:xfrm>
            <a:off x="219075" y="7530465"/>
            <a:ext cx="4638675" cy="4381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Projected Input Perspective Video</a:t>
            </a:r>
          </a:p>
        </p:txBody>
      </p:sp>
      <p:sp>
        <p:nvSpPr>
          <p:cNvPr id="121" name="Mask black plane" descr="Mask black plane"/>
          <p:cNvSpPr/>
          <p:nvPr/>
        </p:nvSpPr>
        <p:spPr>
          <a:xfrm>
            <a:off x="371475" y="8229600"/>
            <a:ext cx="4305300" cy="942975"/>
          </a:xfrm>
          <a:custGeom>
            <a:avLst/>
            <a:gdLst/>
            <a:ahLst/>
            <a:cxnLst/>
            <a:rect l="0" t="0" r="r" b="b"/>
            <a:pathLst>
              <a:path w="452000" h="99000">
                <a:moveTo>
                  <a:pt x="74000" y="0"/>
                </a:moveTo>
                <a:lnTo>
                  <a:pt x="381000" y="0"/>
                </a:lnTo>
                <a:lnTo>
                  <a:pt x="452000" y="99000"/>
                </a:lnTo>
                <a:lnTo>
                  <a:pt x="0" y="99000"/>
                </a:lnTo>
                <a:close/>
              </a:path>
            </a:pathLst>
          </a:custGeom>
          <a:solidFill>
            <a:srgbClr val="030303"/>
          </a:solidFill>
          <a:ln w="11430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Mask white diamond" descr="Mask white diamond"/>
          <p:cNvSpPr/>
          <p:nvPr/>
        </p:nvSpPr>
        <p:spPr>
          <a:xfrm>
            <a:off x="2524125" y="8229600"/>
            <a:ext cx="1533525" cy="381000"/>
          </a:xfrm>
          <a:custGeom>
            <a:avLst/>
            <a:gdLst/>
            <a:ahLst/>
            <a:cxnLst/>
            <a:rect l="0" t="0" r="r" b="b"/>
            <a:pathLst>
              <a:path w="161000" h="40000">
                <a:moveTo>
                  <a:pt x="0" y="19000"/>
                </a:moveTo>
                <a:lnTo>
                  <a:pt x="75000" y="0"/>
                </a:lnTo>
                <a:lnTo>
                  <a:pt x="161000" y="19000"/>
                </a:lnTo>
                <a:lnTo>
                  <a:pt x="91000" y="40000"/>
                </a:lnTo>
                <a:close/>
              </a:path>
            </a:pathLst>
          </a:custGeom>
          <a:solidFill>
            <a:srgbClr val="ffffff"/>
          </a:solidFill>
          <a:ln w="6191">
            <a:solidFill>
              <a:srgbClr val="d9dde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sk label" descr="Mask label"/>
          <p:cNvSpPr txBox="1"/>
          <p:nvPr/>
        </p:nvSpPr>
        <p:spPr>
          <a:xfrm>
            <a:off x="1971675" y="9206865"/>
            <a:ext cx="1304925" cy="4381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Mask</a:t>
            </a:r>
          </a:p>
        </p:txBody>
      </p:sp>
      <p:sp>
        <p:nvSpPr>
          <p:cNvPr id="124" name="add noise label" descr="add noise label"/>
          <p:cNvSpPr txBox="1"/>
          <p:nvPr/>
        </p:nvSpPr>
        <p:spPr>
          <a:xfrm>
            <a:off x="4295775" y="4996815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add noise</a:t>
            </a:r>
          </a:p>
        </p:txBody>
      </p:sp>
      <p:sp>
        <p:nvSpPr>
          <p:cNvPr id="125" name="Input concatenation brace" descr="Input concatenation brace"/>
          <p:cNvSpPr/>
          <p:nvPr/>
        </p:nvSpPr>
        <p:spPr>
          <a:xfrm>
            <a:off x="4810125" y="5648325"/>
            <a:ext cx="638175" cy="3009900"/>
          </a:xfrm>
          <a:custGeom>
            <a:avLst/>
            <a:gdLst/>
            <a:ahLst/>
            <a:cxnLst/>
            <a:rect l="0" t="0" r="r" b="b"/>
            <a:pathLst>
              <a:path w="67000" h="316000">
                <a:moveTo>
                  <a:pt x="0" y="0"/>
                </a:moveTo>
                <a:cubicBezTo>
                  <a:pt x="32000" y="0"/>
                  <a:pt x="57000" y="1000"/>
                  <a:pt x="67000" y="6000"/>
                </a:cubicBezTo>
                <a:lnTo>
                  <a:pt x="67000" y="310000"/>
                </a:lnTo>
                <a:cubicBezTo>
                  <a:pt x="58000" y="316000"/>
                  <a:pt x="29000" y="316000"/>
                  <a:pt x="0" y="316000"/>
                </a:cubicBezTo>
              </a:path>
            </a:pathLst>
          </a:custGeom>
          <a:noFill/>
          <a:ln w="2667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peated attention container" descr="Repeated attention container"/>
          <p:cNvSpPr/>
          <p:nvPr/>
        </p:nvSpPr>
        <p:spPr>
          <a:xfrm>
            <a:off x="6610350" y="5000625"/>
            <a:ext cx="7239000" cy="4162424"/>
          </a:xfrm>
          <a:custGeom>
            <a:avLst/>
            <a:gdLst/>
            <a:ahLst/>
            <a:cxnLst/>
            <a:rect l="0" t="0" r="r" b="b"/>
            <a:pathLst>
              <a:path w="760000" h="437000">
                <a:moveTo>
                  <a:pt x="44000" y="0"/>
                </a:moveTo>
                <a:lnTo>
                  <a:pt x="716000" y="0"/>
                </a:lnTo>
                <a:cubicBezTo>
                  <a:pt x="740301" y="0"/>
                  <a:pt x="760000" y="19699"/>
                  <a:pt x="760000" y="44000"/>
                </a:cubicBezTo>
                <a:lnTo>
                  <a:pt x="760000" y="393000"/>
                </a:lnTo>
                <a:cubicBezTo>
                  <a:pt x="760000" y="417301"/>
                  <a:pt x="740301" y="437000"/>
                  <a:pt x="716000" y="437000"/>
                </a:cubicBezTo>
                <a:lnTo>
                  <a:pt x="44000" y="437000"/>
                </a:lnTo>
                <a:cubicBezTo>
                  <a:pt x="19699" y="437000"/>
                  <a:pt x="0" y="417301"/>
                  <a:pt x="0" y="393000"/>
                </a:cubicBezTo>
                <a:lnTo>
                  <a:pt x="0" y="44000"/>
                </a:lnTo>
                <a:cubicBezTo>
                  <a:pt x="0" y="19699"/>
                  <a:pt x="19699" y="0"/>
                  <a:pt x="44000" y="0"/>
                </a:cubicBezTo>
                <a:close/>
              </a:path>
            </a:pathLst>
          </a:custGeom>
          <a:solidFill>
            <a:srgbClr val="fdf9e7"/>
          </a:solidFill>
          <a:ln w="1809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Pano Attention panel" descr="Pano Attention panel"/>
          <p:cNvSpPr/>
          <p:nvPr/>
        </p:nvSpPr>
        <p:spPr>
          <a:xfrm>
            <a:off x="6791325" y="5200650"/>
            <a:ext cx="2457450" cy="3676649"/>
          </a:xfrm>
          <a:custGeom>
            <a:avLst/>
            <a:gdLst/>
            <a:ahLst/>
            <a:cxnLst/>
            <a:rect l="0" t="0" r="r" b="b"/>
            <a:pathLst>
              <a:path w="258000" h="386000">
                <a:moveTo>
                  <a:pt x="24000" y="0"/>
                </a:moveTo>
                <a:lnTo>
                  <a:pt x="234000" y="0"/>
                </a:lnTo>
                <a:cubicBezTo>
                  <a:pt x="247255" y="0"/>
                  <a:pt x="258000" y="10745"/>
                  <a:pt x="258000" y="24000"/>
                </a:cubicBezTo>
                <a:lnTo>
                  <a:pt x="258000" y="362000"/>
                </a:lnTo>
                <a:cubicBezTo>
                  <a:pt x="258000" y="375255"/>
                  <a:pt x="247255" y="386000"/>
                  <a:pt x="234000" y="386000"/>
                </a:cubicBezTo>
                <a:lnTo>
                  <a:pt x="24000" y="386000"/>
                </a:lnTo>
                <a:cubicBezTo>
                  <a:pt x="10745" y="386000"/>
                  <a:pt x="0" y="375255"/>
                  <a:pt x="0" y="362000"/>
                </a:cubicBezTo>
                <a:lnTo>
                  <a:pt x="0" y="24000"/>
                </a:lnTo>
                <a:cubicBezTo>
                  <a:pt x="0" y="10745"/>
                  <a:pt x="10745" y="0"/>
                  <a:pt x="24000" y="0"/>
                </a:cubicBezTo>
                <a:close/>
              </a:path>
            </a:pathLst>
          </a:custGeom>
          <a:solidFill>
            <a:srgbClr val="fbe9d1"/>
          </a:solidFill>
          <a:ln w="17145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Perspective Attention panel" descr="Perspective Attention panel"/>
          <p:cNvSpPr/>
          <p:nvPr/>
        </p:nvSpPr>
        <p:spPr>
          <a:xfrm>
            <a:off x="9525000" y="5200650"/>
            <a:ext cx="4133849" cy="3676649"/>
          </a:xfrm>
          <a:custGeom>
            <a:avLst/>
            <a:gdLst/>
            <a:ahLst/>
            <a:cxnLst/>
            <a:rect l="0" t="0" r="r" b="b"/>
            <a:pathLst>
              <a:path w="434000" h="386000">
                <a:moveTo>
                  <a:pt x="37000" y="0"/>
                </a:moveTo>
                <a:lnTo>
                  <a:pt x="397000" y="0"/>
                </a:lnTo>
                <a:cubicBezTo>
                  <a:pt x="417435" y="0"/>
                  <a:pt x="434000" y="16565"/>
                  <a:pt x="434000" y="37000"/>
                </a:cubicBezTo>
                <a:lnTo>
                  <a:pt x="434000" y="349000"/>
                </a:lnTo>
                <a:cubicBezTo>
                  <a:pt x="434000" y="369435"/>
                  <a:pt x="417435" y="386000"/>
                  <a:pt x="397000" y="386000"/>
                </a:cubicBezTo>
                <a:lnTo>
                  <a:pt x="37000" y="386000"/>
                </a:lnTo>
                <a:cubicBezTo>
                  <a:pt x="16565" y="386000"/>
                  <a:pt x="0" y="369435"/>
                  <a:pt x="0" y="349000"/>
                </a:cubicBezTo>
                <a:lnTo>
                  <a:pt x="0" y="37000"/>
                </a:lnTo>
                <a:cubicBezTo>
                  <a:pt x="0" y="16565"/>
                  <a:pt x="16565" y="0"/>
                  <a:pt x="37000" y="0"/>
                </a:cubicBezTo>
                <a:close/>
              </a:path>
            </a:pathLst>
          </a:custGeom>
          <a:solidFill>
            <a:srgbClr val="e3e9e5"/>
          </a:solidFill>
          <a:ln w="17145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Pano Attention heading" descr="Pano Attention heading"/>
          <p:cNvSpPr txBox="1"/>
          <p:nvPr/>
        </p:nvSpPr>
        <p:spPr>
          <a:xfrm>
            <a:off x="6953250" y="5215890"/>
            <a:ext cx="2133600" cy="4000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Calibri"/>
              </a:rPr>
              <a:t>Pano Attention</a:t>
            </a:r>
          </a:p>
        </p:txBody>
      </p:sp>
      <p:sp>
        <p:nvSpPr>
          <p:cNvPr id="130" name="Perspective Attention heading" descr="Perspective Attention heading"/>
          <p:cNvSpPr txBox="1"/>
          <p:nvPr/>
        </p:nvSpPr>
        <p:spPr>
          <a:xfrm>
            <a:off x="10287000" y="5177790"/>
            <a:ext cx="2867025" cy="4000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Calibri"/>
              </a:rPr>
              <a:t>Perspective Attention</a:t>
            </a:r>
          </a:p>
        </p:txBody>
      </p:sp>
      <p:sp>
        <p:nvSpPr>
          <p:cNvPr id="131" name="concat label" descr="concat label"/>
          <p:cNvSpPr txBox="1"/>
          <p:nvPr/>
        </p:nvSpPr>
        <p:spPr>
          <a:xfrm>
            <a:off x="5429250" y="6701790"/>
            <a:ext cx="1066800" cy="3810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000000"/>
                </a:solidFill>
                <a:latin typeface="Calibri"/>
              </a:rPr>
              <a:t>concat</a:t>
            </a:r>
          </a:p>
        </p:txBody>
      </p:sp>
      <p:sp>
        <p:nvSpPr>
          <p:cNvPr id="132" name="Input concat arrow shaft" descr="Input concat arrow shaft"/>
          <p:cNvSpPr/>
          <p:nvPr/>
        </p:nvSpPr>
        <p:spPr>
          <a:xfrm>
            <a:off x="4857750" y="7153275"/>
            <a:ext cx="2057400" cy="952"/>
          </a:xfrm>
          <a:custGeom>
            <a:avLst/>
            <a:gdLst/>
            <a:ahLst/>
            <a:cxnLst/>
            <a:rect l="0" t="0" r="r" b="b"/>
            <a:pathLst>
              <a:path w="216000" h="10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24765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Input concat arrow arrowhead" descr="Input concat arrow arrowhead"/>
          <p:cNvSpPr/>
          <p:nvPr/>
        </p:nvSpPr>
        <p:spPr>
          <a:xfrm>
            <a:off x="6915150" y="7096125"/>
            <a:ext cx="114300" cy="114300"/>
          </a:xfrm>
          <a:custGeom>
            <a:avLst/>
            <a:gdLst/>
            <a:ahLst/>
            <a:cxnLst/>
            <a:rect l="0" t="0" r="r" b="b"/>
            <a:pathLst>
              <a:path w="12000" h="12000">
                <a:moveTo>
                  <a:pt x="12000" y="6000"/>
                </a:moveTo>
                <a:lnTo>
                  <a:pt x="0" y="12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Pano token L background" descr="Pano token L background"/>
          <p:cNvSpPr/>
          <p:nvPr/>
        </p:nvSpPr>
        <p:spPr>
          <a:xfrm>
            <a:off x="70866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Pano token L upper right" descr="Pano token L upper right"/>
          <p:cNvSpPr/>
          <p:nvPr/>
        </p:nvSpPr>
        <p:spPr>
          <a:xfrm>
            <a:off x="7296150" y="672465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0"/>
                </a:lnTo>
                <a:lnTo>
                  <a:pt x="22000" y="220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Pano token L lower right" descr="Pano token L lower right"/>
          <p:cNvSpPr/>
          <p:nvPr/>
        </p:nvSpPr>
        <p:spPr>
          <a:xfrm>
            <a:off x="7296150" y="693420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2200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Pano token L lower left" descr="Pano token L lower left"/>
          <p:cNvSpPr/>
          <p:nvPr/>
        </p:nvSpPr>
        <p:spPr>
          <a:xfrm>
            <a:off x="7086600" y="693420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Pano token L face diamond" descr="Pano token L face diamond"/>
          <p:cNvSpPr/>
          <p:nvPr/>
        </p:nvSpPr>
        <p:spPr>
          <a:xfrm>
            <a:off x="70866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22000" y="0"/>
                </a:moveTo>
                <a:lnTo>
                  <a:pt x="44000" y="22000"/>
                </a:lnTo>
                <a:lnTo>
                  <a:pt x="22000" y="44000"/>
                </a:lnTo>
                <a:lnTo>
                  <a:pt x="0" y="22000"/>
                </a:lnTo>
                <a:close/>
              </a:path>
            </a:pathLst>
          </a:custGeom>
          <a:solidFill>
            <a:srgbClr val="e7e3f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Pano token L border" descr="Pano token L border"/>
          <p:cNvSpPr/>
          <p:nvPr/>
        </p:nvSpPr>
        <p:spPr>
          <a:xfrm>
            <a:off x="70866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Pano token L letter" descr="Pano token L letter"/>
          <p:cNvSpPr txBox="1"/>
          <p:nvPr/>
        </p:nvSpPr>
        <p:spPr>
          <a:xfrm rot="18900000">
            <a:off x="7124700" y="6730365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L</a:t>
            </a:r>
          </a:p>
        </p:txBody>
      </p:sp>
      <p:sp>
        <p:nvSpPr>
          <p:cNvPr id="141" name="Pano token F background" descr="Pano token F background"/>
          <p:cNvSpPr/>
          <p:nvPr/>
        </p:nvSpPr>
        <p:spPr>
          <a:xfrm>
            <a:off x="75057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Pano token F upper right" descr="Pano token F upper right"/>
          <p:cNvSpPr/>
          <p:nvPr/>
        </p:nvSpPr>
        <p:spPr>
          <a:xfrm>
            <a:off x="7715250" y="672465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0"/>
                </a:lnTo>
                <a:lnTo>
                  <a:pt x="22000" y="220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Pano token F lower right" descr="Pano token F lower right"/>
          <p:cNvSpPr/>
          <p:nvPr/>
        </p:nvSpPr>
        <p:spPr>
          <a:xfrm>
            <a:off x="7715250" y="693420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2200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Pano token F lower left" descr="Pano token F lower left"/>
          <p:cNvSpPr/>
          <p:nvPr/>
        </p:nvSpPr>
        <p:spPr>
          <a:xfrm>
            <a:off x="7505700" y="693420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Pano token F face diamond" descr="Pano token F face diamond"/>
          <p:cNvSpPr/>
          <p:nvPr/>
        </p:nvSpPr>
        <p:spPr>
          <a:xfrm>
            <a:off x="75057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22000" y="0"/>
                </a:moveTo>
                <a:lnTo>
                  <a:pt x="44000" y="22000"/>
                </a:lnTo>
                <a:lnTo>
                  <a:pt x="22000" y="44000"/>
                </a:lnTo>
                <a:lnTo>
                  <a:pt x="0" y="220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Pano token F border" descr="Pano token F border"/>
          <p:cNvSpPr/>
          <p:nvPr/>
        </p:nvSpPr>
        <p:spPr>
          <a:xfrm>
            <a:off x="7505700" y="67246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Pano token F letter" descr="Pano token F letter"/>
          <p:cNvSpPr txBox="1"/>
          <p:nvPr/>
        </p:nvSpPr>
        <p:spPr>
          <a:xfrm rot="2700000">
            <a:off x="7543800" y="6730365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F</a:t>
            </a:r>
          </a:p>
        </p:txBody>
      </p:sp>
      <p:sp>
        <p:nvSpPr>
          <p:cNvPr id="148" name="Pano token B background" descr="Pano token B background"/>
          <p:cNvSpPr/>
          <p:nvPr/>
        </p:nvSpPr>
        <p:spPr>
          <a:xfrm>
            <a:off x="70866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Pano token B upper right" descr="Pano token B upper right"/>
          <p:cNvSpPr/>
          <p:nvPr/>
        </p:nvSpPr>
        <p:spPr>
          <a:xfrm>
            <a:off x="7296150" y="714375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0"/>
                </a:lnTo>
                <a:lnTo>
                  <a:pt x="22000" y="220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Pano token B lower right" descr="Pano token B lower right"/>
          <p:cNvSpPr/>
          <p:nvPr/>
        </p:nvSpPr>
        <p:spPr>
          <a:xfrm>
            <a:off x="7296150" y="7353299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2200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Pano token B lower left" descr="Pano token B lower left"/>
          <p:cNvSpPr/>
          <p:nvPr/>
        </p:nvSpPr>
        <p:spPr>
          <a:xfrm>
            <a:off x="7086600" y="7353299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Pano token B face diamond" descr="Pano token B face diamond"/>
          <p:cNvSpPr/>
          <p:nvPr/>
        </p:nvSpPr>
        <p:spPr>
          <a:xfrm>
            <a:off x="70866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22000" y="0"/>
                </a:moveTo>
                <a:lnTo>
                  <a:pt x="44000" y="22000"/>
                </a:lnTo>
                <a:lnTo>
                  <a:pt x="22000" y="44000"/>
                </a:lnTo>
                <a:lnTo>
                  <a:pt x="0" y="220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ano token B border" descr="Pano token B border"/>
          <p:cNvSpPr/>
          <p:nvPr/>
        </p:nvSpPr>
        <p:spPr>
          <a:xfrm>
            <a:off x="70866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ano token B letter" descr="Pano token B letter"/>
          <p:cNvSpPr txBox="1"/>
          <p:nvPr/>
        </p:nvSpPr>
        <p:spPr>
          <a:xfrm rot="13500000">
            <a:off x="7124700" y="7149465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155" name="Pano token R background" descr="Pano token R background"/>
          <p:cNvSpPr/>
          <p:nvPr/>
        </p:nvSpPr>
        <p:spPr>
          <a:xfrm>
            <a:off x="75057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Pano token R upper right" descr="Pano token R upper right"/>
          <p:cNvSpPr/>
          <p:nvPr/>
        </p:nvSpPr>
        <p:spPr>
          <a:xfrm>
            <a:off x="7715250" y="7143750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0"/>
                </a:lnTo>
                <a:lnTo>
                  <a:pt x="22000" y="220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Pano token R lower right" descr="Pano token R lower right"/>
          <p:cNvSpPr/>
          <p:nvPr/>
        </p:nvSpPr>
        <p:spPr>
          <a:xfrm>
            <a:off x="7715250" y="7353299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2200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Pano token R lower left" descr="Pano token R lower left"/>
          <p:cNvSpPr/>
          <p:nvPr/>
        </p:nvSpPr>
        <p:spPr>
          <a:xfrm>
            <a:off x="7505700" y="7353299"/>
            <a:ext cx="209550" cy="209550"/>
          </a:xfrm>
          <a:custGeom>
            <a:avLst/>
            <a:gdLst/>
            <a:ahLst/>
            <a:cxnLst/>
            <a:rect l="0" t="0" r="r" b="b"/>
            <a:pathLst>
              <a:path w="22000" h="22000">
                <a:moveTo>
                  <a:pt x="0" y="0"/>
                </a:moveTo>
                <a:lnTo>
                  <a:pt x="22000" y="22000"/>
                </a:lnTo>
                <a:lnTo>
                  <a:pt x="0" y="220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Pano token R face diamond" descr="Pano token R face diamond"/>
          <p:cNvSpPr/>
          <p:nvPr/>
        </p:nvSpPr>
        <p:spPr>
          <a:xfrm>
            <a:off x="75057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22000" y="0"/>
                </a:moveTo>
                <a:lnTo>
                  <a:pt x="44000" y="22000"/>
                </a:lnTo>
                <a:lnTo>
                  <a:pt x="22000" y="44000"/>
                </a:lnTo>
                <a:lnTo>
                  <a:pt x="0" y="22000"/>
                </a:lnTo>
                <a:close/>
              </a:path>
            </a:pathLst>
          </a:custGeom>
          <a:solidFill>
            <a:srgbClr val="fcf3eb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Pano token R border" descr="Pano token R border"/>
          <p:cNvSpPr/>
          <p:nvPr/>
        </p:nvSpPr>
        <p:spPr>
          <a:xfrm>
            <a:off x="7505700" y="71437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44000" h="44000">
                <a:moveTo>
                  <a:pt x="0" y="0"/>
                </a:moveTo>
                <a:lnTo>
                  <a:pt x="44000" y="0"/>
                </a:lnTo>
                <a:lnTo>
                  <a:pt x="44000" y="44000"/>
                </a:lnTo>
                <a:lnTo>
                  <a:pt x="0" y="44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Pano token R letter" descr="Pano token R letter"/>
          <p:cNvSpPr txBox="1"/>
          <p:nvPr/>
        </p:nvSpPr>
        <p:spPr>
          <a:xfrm rot="8100000">
            <a:off x="7543800" y="7149465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R</a:t>
            </a:r>
          </a:p>
        </p:txBody>
      </p:sp>
      <p:sp>
        <p:nvSpPr>
          <p:cNvPr id="162" name="Pano attention block" descr="Pano attention block"/>
          <p:cNvSpPr/>
          <p:nvPr/>
        </p:nvSpPr>
        <p:spPr>
          <a:xfrm>
            <a:off x="7991475" y="5715000"/>
            <a:ext cx="1057275" cy="2743200"/>
          </a:xfrm>
          <a:custGeom>
            <a:avLst/>
            <a:gdLst/>
            <a:ahLst/>
            <a:cxnLst/>
            <a:rect l="0" t="0" r="r" b="b"/>
            <a:pathLst>
              <a:path w="111000" h="288000">
                <a:moveTo>
                  <a:pt x="12000" y="0"/>
                </a:moveTo>
                <a:lnTo>
                  <a:pt x="99000" y="0"/>
                </a:lnTo>
                <a:cubicBezTo>
                  <a:pt x="105627" y="0"/>
                  <a:pt x="111000" y="5373"/>
                  <a:pt x="111000" y="12000"/>
                </a:cubicBezTo>
                <a:lnTo>
                  <a:pt x="111000" y="276000"/>
                </a:lnTo>
                <a:cubicBezTo>
                  <a:pt x="111000" y="282627"/>
                  <a:pt x="105627" y="288000"/>
                  <a:pt x="99000" y="288000"/>
                </a:cubicBezTo>
                <a:lnTo>
                  <a:pt x="12000" y="288000"/>
                </a:lnTo>
                <a:cubicBezTo>
                  <a:pt x="5373" y="288000"/>
                  <a:pt x="0" y="282627"/>
                  <a:pt x="0" y="276000"/>
                </a:cubicBezTo>
                <a:lnTo>
                  <a:pt x="0" y="12000"/>
                </a:lnTo>
                <a:cubicBezTo>
                  <a:pt x="0" y="5373"/>
                  <a:pt x="5373" y="0"/>
                  <a:pt x="12000" y="0"/>
                </a:cubicBezTo>
                <a:close/>
              </a:path>
            </a:pathLst>
          </a:custGeom>
          <a:solidFill>
            <a:srgbClr val="c5e0b5"/>
          </a:solidFill>
          <a:ln w="17145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Pano attention block label" descr="Pano attention block label"/>
          <p:cNvSpPr txBox="1"/>
          <p:nvPr/>
        </p:nvSpPr>
        <p:spPr>
          <a:xfrm>
            <a:off x="8020050" y="6638925"/>
            <a:ext cx="1000125" cy="8572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Attn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Block</a:t>
            </a:r>
          </a:p>
        </p:txBody>
      </p:sp>
      <p:sp>
        <p:nvSpPr>
          <p:cNvPr id="164" name="Pano to perspective connector" descr="Pano to perspective connector"/>
          <p:cNvSpPr/>
          <p:nvPr/>
        </p:nvSpPr>
        <p:spPr>
          <a:xfrm>
            <a:off x="9077325" y="7153275"/>
            <a:ext cx="1133475" cy="952"/>
          </a:xfrm>
          <a:custGeom>
            <a:avLst/>
            <a:gdLst/>
            <a:ahLst/>
            <a:cxnLst/>
            <a:rect l="0" t="0" r="r" b="b"/>
            <a:pathLst>
              <a:path w="119000" h="100">
                <a:moveTo>
                  <a:pt x="0" y="0"/>
                </a:moveTo>
                <a:lnTo>
                  <a:pt x="119000" y="0"/>
                </a:lnTo>
              </a:path>
            </a:pathLst>
          </a:custGeom>
          <a:noFill/>
          <a:ln w="2667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Perspective upper branch" descr="Perspective upper branch"/>
          <p:cNvSpPr/>
          <p:nvPr/>
        </p:nvSpPr>
        <p:spPr>
          <a:xfrm>
            <a:off x="10210800" y="6029325"/>
            <a:ext cx="533400" cy="1123950"/>
          </a:xfrm>
          <a:custGeom>
            <a:avLst/>
            <a:gdLst/>
            <a:ahLst/>
            <a:cxnLst/>
            <a:rect l="0" t="0" r="r" b="b"/>
            <a:pathLst>
              <a:path w="56000" h="118000">
                <a:moveTo>
                  <a:pt x="0" y="118000"/>
                </a:moveTo>
                <a:lnTo>
                  <a:pt x="0" y="20000"/>
                </a:lnTo>
                <a:cubicBezTo>
                  <a:pt x="0" y="7000"/>
                  <a:pt x="24000" y="4000"/>
                  <a:pt x="56000" y="0"/>
                </a:cubicBezTo>
              </a:path>
            </a:pathLst>
          </a:custGeom>
          <a:noFill/>
          <a:ln w="23812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Perspective upper middle branch" descr="Perspective upper middle branch"/>
          <p:cNvSpPr/>
          <p:nvPr/>
        </p:nvSpPr>
        <p:spPr>
          <a:xfrm>
            <a:off x="10210800" y="6686550"/>
            <a:ext cx="514350" cy="466724"/>
          </a:xfrm>
          <a:custGeom>
            <a:avLst/>
            <a:gdLst/>
            <a:ahLst/>
            <a:cxnLst/>
            <a:rect l="0" t="0" r="r" b="b"/>
            <a:pathLst>
              <a:path w="54000" h="49000">
                <a:moveTo>
                  <a:pt x="0" y="49000"/>
                </a:moveTo>
                <a:lnTo>
                  <a:pt x="0" y="13000"/>
                </a:lnTo>
                <a:cubicBezTo>
                  <a:pt x="0" y="5000"/>
                  <a:pt x="27000" y="2000"/>
                  <a:pt x="54000" y="0"/>
                </a:cubicBezTo>
              </a:path>
            </a:pathLst>
          </a:custGeom>
          <a:noFill/>
          <a:ln w="23812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Perspective lower middle branch" descr="Perspective lower middle branch"/>
          <p:cNvSpPr/>
          <p:nvPr/>
        </p:nvSpPr>
        <p:spPr>
          <a:xfrm>
            <a:off x="10210800" y="7153275"/>
            <a:ext cx="514350" cy="495299"/>
          </a:xfrm>
          <a:custGeom>
            <a:avLst/>
            <a:gdLst/>
            <a:ahLst/>
            <a:cxnLst/>
            <a:rect l="0" t="0" r="r" b="b"/>
            <a:pathLst>
              <a:path w="54000" h="52000">
                <a:moveTo>
                  <a:pt x="0" y="0"/>
                </a:moveTo>
                <a:lnTo>
                  <a:pt x="0" y="36000"/>
                </a:lnTo>
                <a:cubicBezTo>
                  <a:pt x="0" y="45000"/>
                  <a:pt x="26000" y="50000"/>
                  <a:pt x="54000" y="52000"/>
                </a:cubicBezTo>
              </a:path>
            </a:pathLst>
          </a:custGeom>
          <a:noFill/>
          <a:ln w="23812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Perspective lower branch" descr="Perspective lower branch"/>
          <p:cNvSpPr/>
          <p:nvPr/>
        </p:nvSpPr>
        <p:spPr>
          <a:xfrm>
            <a:off x="10210800" y="7153275"/>
            <a:ext cx="504825" cy="1095375"/>
          </a:xfrm>
          <a:custGeom>
            <a:avLst/>
            <a:gdLst/>
            <a:ahLst/>
            <a:cxnLst/>
            <a:rect l="0" t="0" r="r" b="b"/>
            <a:pathLst>
              <a:path w="53000" h="115000">
                <a:moveTo>
                  <a:pt x="0" y="0"/>
                </a:moveTo>
                <a:lnTo>
                  <a:pt x="0" y="93000"/>
                </a:lnTo>
                <a:cubicBezTo>
                  <a:pt x="0" y="107000"/>
                  <a:pt x="25000" y="112000"/>
                  <a:pt x="53000" y="115000"/>
                </a:cubicBezTo>
              </a:path>
            </a:pathLst>
          </a:custGeom>
          <a:noFill/>
          <a:ln w="23812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Perspective token L background" descr="Perspective token L background"/>
          <p:cNvSpPr/>
          <p:nvPr/>
        </p:nvSpPr>
        <p:spPr>
          <a:xfrm>
            <a:off x="9753600" y="584835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Perspective token L upper right" descr="Perspective token L upper right"/>
          <p:cNvSpPr/>
          <p:nvPr/>
        </p:nvSpPr>
        <p:spPr>
          <a:xfrm>
            <a:off x="9958387" y="5848350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0"/>
                </a:lnTo>
                <a:lnTo>
                  <a:pt x="21500" y="215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erspective token L lower right" descr="Perspective token L lower right"/>
          <p:cNvSpPr/>
          <p:nvPr/>
        </p:nvSpPr>
        <p:spPr>
          <a:xfrm>
            <a:off x="9958387" y="605313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2150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Perspective token L lower left" descr="Perspective token L lower left"/>
          <p:cNvSpPr/>
          <p:nvPr/>
        </p:nvSpPr>
        <p:spPr>
          <a:xfrm>
            <a:off x="9753600" y="605313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Perspective token L face diamond" descr="Perspective token L face diamond"/>
          <p:cNvSpPr/>
          <p:nvPr/>
        </p:nvSpPr>
        <p:spPr>
          <a:xfrm>
            <a:off x="9753600" y="584835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21500" y="0"/>
                </a:moveTo>
                <a:lnTo>
                  <a:pt x="43000" y="21500"/>
                </a:lnTo>
                <a:lnTo>
                  <a:pt x="21500" y="43000"/>
                </a:lnTo>
                <a:lnTo>
                  <a:pt x="0" y="21500"/>
                </a:lnTo>
                <a:close/>
              </a:path>
            </a:pathLst>
          </a:custGeom>
          <a:solidFill>
            <a:srgbClr val="e7e3f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Perspective token L border" descr="Perspective token L border"/>
          <p:cNvSpPr/>
          <p:nvPr/>
        </p:nvSpPr>
        <p:spPr>
          <a:xfrm>
            <a:off x="9753600" y="584835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erspective token L letter" descr="Perspective token L letter"/>
          <p:cNvSpPr txBox="1"/>
          <p:nvPr/>
        </p:nvSpPr>
        <p:spPr>
          <a:xfrm rot="18900000">
            <a:off x="9791700" y="5854065"/>
            <a:ext cx="333375" cy="3333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L</a:t>
            </a:r>
          </a:p>
        </p:txBody>
      </p:sp>
      <p:sp>
        <p:nvSpPr>
          <p:cNvPr id="176" name="Perspective token F background" descr="Perspective token F background"/>
          <p:cNvSpPr/>
          <p:nvPr/>
        </p:nvSpPr>
        <p:spPr>
          <a:xfrm>
            <a:off x="9753600" y="6553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Perspective token F upper right" descr="Perspective token F upper right"/>
          <p:cNvSpPr/>
          <p:nvPr/>
        </p:nvSpPr>
        <p:spPr>
          <a:xfrm>
            <a:off x="9958387" y="6553200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0"/>
                </a:lnTo>
                <a:lnTo>
                  <a:pt x="21500" y="215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Perspective token F lower right" descr="Perspective token F lower right"/>
          <p:cNvSpPr/>
          <p:nvPr/>
        </p:nvSpPr>
        <p:spPr>
          <a:xfrm>
            <a:off x="9958387" y="675798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2150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Perspective token F lower left" descr="Perspective token F lower left"/>
          <p:cNvSpPr/>
          <p:nvPr/>
        </p:nvSpPr>
        <p:spPr>
          <a:xfrm>
            <a:off x="9753600" y="675798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Perspective token F face diamond" descr="Perspective token F face diamond"/>
          <p:cNvSpPr/>
          <p:nvPr/>
        </p:nvSpPr>
        <p:spPr>
          <a:xfrm>
            <a:off x="9753600" y="6553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21500" y="0"/>
                </a:moveTo>
                <a:lnTo>
                  <a:pt x="43000" y="21500"/>
                </a:lnTo>
                <a:lnTo>
                  <a:pt x="21500" y="43000"/>
                </a:lnTo>
                <a:lnTo>
                  <a:pt x="0" y="215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Perspective token F border" descr="Perspective token F border"/>
          <p:cNvSpPr/>
          <p:nvPr/>
        </p:nvSpPr>
        <p:spPr>
          <a:xfrm>
            <a:off x="9753600" y="6553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Perspective token F letter" descr="Perspective token F letter"/>
          <p:cNvSpPr txBox="1"/>
          <p:nvPr/>
        </p:nvSpPr>
        <p:spPr>
          <a:xfrm rot="2700000">
            <a:off x="9791700" y="6558915"/>
            <a:ext cx="333375" cy="3333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F</a:t>
            </a:r>
          </a:p>
        </p:txBody>
      </p:sp>
      <p:sp>
        <p:nvSpPr>
          <p:cNvPr id="183" name="Perspective token B background" descr="Perspective token B background"/>
          <p:cNvSpPr/>
          <p:nvPr/>
        </p:nvSpPr>
        <p:spPr>
          <a:xfrm>
            <a:off x="9753600" y="7315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Perspective token B upper right" descr="Perspective token B upper right"/>
          <p:cNvSpPr/>
          <p:nvPr/>
        </p:nvSpPr>
        <p:spPr>
          <a:xfrm>
            <a:off x="9958387" y="7315200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0"/>
                </a:lnTo>
                <a:lnTo>
                  <a:pt x="21500" y="215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Perspective token B lower right" descr="Perspective token B lower right"/>
          <p:cNvSpPr/>
          <p:nvPr/>
        </p:nvSpPr>
        <p:spPr>
          <a:xfrm>
            <a:off x="9958387" y="751998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2150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Perspective token B lower left" descr="Perspective token B lower left"/>
          <p:cNvSpPr/>
          <p:nvPr/>
        </p:nvSpPr>
        <p:spPr>
          <a:xfrm>
            <a:off x="9753600" y="7519987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Perspective token B face diamond" descr="Perspective token B face diamond"/>
          <p:cNvSpPr/>
          <p:nvPr/>
        </p:nvSpPr>
        <p:spPr>
          <a:xfrm>
            <a:off x="9753600" y="7315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21500" y="0"/>
                </a:moveTo>
                <a:lnTo>
                  <a:pt x="43000" y="21500"/>
                </a:lnTo>
                <a:lnTo>
                  <a:pt x="21500" y="43000"/>
                </a:lnTo>
                <a:lnTo>
                  <a:pt x="0" y="215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Perspective token B border" descr="Perspective token B border"/>
          <p:cNvSpPr/>
          <p:nvPr/>
        </p:nvSpPr>
        <p:spPr>
          <a:xfrm>
            <a:off x="9753600" y="7315200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Perspective token B letter" descr="Perspective token B letter"/>
          <p:cNvSpPr txBox="1"/>
          <p:nvPr/>
        </p:nvSpPr>
        <p:spPr>
          <a:xfrm rot="13500000">
            <a:off x="9791700" y="7320915"/>
            <a:ext cx="333375" cy="3333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sp>
        <p:nvSpPr>
          <p:cNvPr id="190" name="Perspective token R background" descr="Perspective token R background"/>
          <p:cNvSpPr/>
          <p:nvPr/>
        </p:nvSpPr>
        <p:spPr>
          <a:xfrm>
            <a:off x="9753600" y="7953374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solidFill>
            <a:srgbClr val="bad7e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Perspective token R upper right" descr="Perspective token R upper right"/>
          <p:cNvSpPr/>
          <p:nvPr/>
        </p:nvSpPr>
        <p:spPr>
          <a:xfrm>
            <a:off x="9958387" y="7953374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0"/>
                </a:lnTo>
                <a:lnTo>
                  <a:pt x="21500" y="21500"/>
                </a:lnTo>
                <a:close/>
              </a:path>
            </a:pathLst>
          </a:custGeom>
          <a:solidFill>
            <a:srgbClr val="d4e5c4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Perspective token R lower right" descr="Perspective token R lower right"/>
          <p:cNvSpPr/>
          <p:nvPr/>
        </p:nvSpPr>
        <p:spPr>
          <a:xfrm>
            <a:off x="9958387" y="8158162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2150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fe5b9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Perspective token R lower left" descr="Perspective token R lower left"/>
          <p:cNvSpPr/>
          <p:nvPr/>
        </p:nvSpPr>
        <p:spPr>
          <a:xfrm>
            <a:off x="9753600" y="8158162"/>
            <a:ext cx="204787" cy="204787"/>
          </a:xfrm>
          <a:custGeom>
            <a:avLst/>
            <a:gdLst/>
            <a:ahLst/>
            <a:cxnLst/>
            <a:rect l="0" t="0" r="r" b="b"/>
            <a:pathLst>
              <a:path w="21500" h="21500">
                <a:moveTo>
                  <a:pt x="0" y="0"/>
                </a:moveTo>
                <a:lnTo>
                  <a:pt x="21500" y="21500"/>
                </a:lnTo>
                <a:lnTo>
                  <a:pt x="0" y="21500"/>
                </a:lnTo>
                <a:close/>
              </a:path>
            </a:pathLst>
          </a:custGeom>
          <a:solidFill>
            <a:srgbClr val="fac9bf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Perspective token R face diamond" descr="Perspective token R face diamond"/>
          <p:cNvSpPr/>
          <p:nvPr/>
        </p:nvSpPr>
        <p:spPr>
          <a:xfrm>
            <a:off x="9753600" y="7953374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21500" y="0"/>
                </a:moveTo>
                <a:lnTo>
                  <a:pt x="43000" y="21500"/>
                </a:lnTo>
                <a:lnTo>
                  <a:pt x="21500" y="43000"/>
                </a:lnTo>
                <a:lnTo>
                  <a:pt x="0" y="21500"/>
                </a:lnTo>
                <a:close/>
              </a:path>
            </a:pathLst>
          </a:custGeom>
          <a:solidFill>
            <a:srgbClr val="fcf3eb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Perspective token R border" descr="Perspective token R border"/>
          <p:cNvSpPr/>
          <p:nvPr/>
        </p:nvSpPr>
        <p:spPr>
          <a:xfrm>
            <a:off x="9753600" y="7953374"/>
            <a:ext cx="409575" cy="409575"/>
          </a:xfrm>
          <a:custGeom>
            <a:avLst/>
            <a:gdLst/>
            <a:ahLst/>
            <a:cxnLst/>
            <a:rect l="0" t="0" r="r" b="b"/>
            <a:pathLst>
              <a:path w="43000" h="43000">
                <a:moveTo>
                  <a:pt x="0" y="0"/>
                </a:moveTo>
                <a:lnTo>
                  <a:pt x="43000" y="0"/>
                </a:lnTo>
                <a:lnTo>
                  <a:pt x="43000" y="43000"/>
                </a:lnTo>
                <a:lnTo>
                  <a:pt x="0" y="43000"/>
                </a:lnTo>
                <a:close/>
              </a:path>
            </a:pathLst>
          </a:custGeom>
          <a:noFill/>
          <a:ln w="12382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Perspective token R letter" descr="Perspective token R letter"/>
          <p:cNvSpPr txBox="1"/>
          <p:nvPr/>
        </p:nvSpPr>
        <p:spPr>
          <a:xfrm rot="8100000">
            <a:off x="9791700" y="7959090"/>
            <a:ext cx="333375" cy="33337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Calibri"/>
              </a:rPr>
              <a:t>R</a:t>
            </a:r>
          </a:p>
        </p:txBody>
      </p:sp>
      <p:sp>
        <p:nvSpPr>
          <p:cNvPr id="197" name="Perspective L to attention shaft" descr="Perspective L to attention shaft"/>
          <p:cNvSpPr/>
          <p:nvPr/>
        </p:nvSpPr>
        <p:spPr>
          <a:xfrm>
            <a:off x="11734800" y="5943600"/>
            <a:ext cx="523874" cy="952"/>
          </a:xfrm>
          <a:custGeom>
            <a:avLst/>
            <a:gdLst/>
            <a:ahLst/>
            <a:cxnLst/>
            <a:rect l="0" t="0" r="r" b="b"/>
            <a:pathLst>
              <a:path w="55000" h="100">
                <a:moveTo>
                  <a:pt x="0" y="0"/>
                </a:moveTo>
                <a:lnTo>
                  <a:pt x="55000" y="0"/>
                </a:lnTo>
              </a:path>
            </a:pathLst>
          </a:custGeom>
          <a:noFill/>
          <a:ln w="2286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Perspective L to attention arrowhead" descr="Perspective L to attention arrowhead"/>
          <p:cNvSpPr/>
          <p:nvPr/>
        </p:nvSpPr>
        <p:spPr>
          <a:xfrm>
            <a:off x="12258675" y="5891212"/>
            <a:ext cx="104775" cy="104775"/>
          </a:xfrm>
          <a:custGeom>
            <a:avLst/>
            <a:gdLst/>
            <a:ahLst/>
            <a:cxnLst/>
            <a:rect l="0" t="0" r="r" b="b"/>
            <a:pathLst>
              <a:path w="11000" h="11000">
                <a:moveTo>
                  <a:pt x="11000" y="5500"/>
                </a:moveTo>
                <a:lnTo>
                  <a:pt x="0" y="1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9" name="Projected perspective L" descr="Projected perspective 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0" y="5753100"/>
            <a:ext cx="1619250" cy="495299"/>
          </a:xfrm>
          <a:prstGeom prst="rect">
            <a:avLst/>
          </a:prstGeom>
          <a:effectLst>
            <a:outerShdw blurRad="57150" dist="47625" dir="2700000" algn="ctr" rotWithShape="0">
              <a:srgbClr val="000000">
                <a:alpha val="35000"/>
              </a:srgbClr>
            </a:outerShdw>
          </a:effectLst>
        </p:spPr>
      </p:pic>
      <p:sp>
        <p:nvSpPr>
          <p:cNvPr id="200" name="Perspective F to attention shaft" descr="Perspective F to attention shaft"/>
          <p:cNvSpPr/>
          <p:nvPr/>
        </p:nvSpPr>
        <p:spPr>
          <a:xfrm>
            <a:off x="11734800" y="6638925"/>
            <a:ext cx="523874" cy="952"/>
          </a:xfrm>
          <a:custGeom>
            <a:avLst/>
            <a:gdLst/>
            <a:ahLst/>
            <a:cxnLst/>
            <a:rect l="0" t="0" r="r" b="b"/>
            <a:pathLst>
              <a:path w="55000" h="100">
                <a:moveTo>
                  <a:pt x="0" y="0"/>
                </a:moveTo>
                <a:lnTo>
                  <a:pt x="55000" y="0"/>
                </a:lnTo>
              </a:path>
            </a:pathLst>
          </a:custGeom>
          <a:noFill/>
          <a:ln w="2286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Perspective F to attention arrowhead" descr="Perspective F to attention arrowhead"/>
          <p:cNvSpPr/>
          <p:nvPr/>
        </p:nvSpPr>
        <p:spPr>
          <a:xfrm>
            <a:off x="12258675" y="6586537"/>
            <a:ext cx="104775" cy="104775"/>
          </a:xfrm>
          <a:custGeom>
            <a:avLst/>
            <a:gdLst/>
            <a:ahLst/>
            <a:cxnLst/>
            <a:rect l="0" t="0" r="r" b="b"/>
            <a:pathLst>
              <a:path w="11000" h="11000">
                <a:moveTo>
                  <a:pt x="11000" y="5500"/>
                </a:moveTo>
                <a:lnTo>
                  <a:pt x="0" y="1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2" name="Projected perspective F" descr="Projected perspective 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0" y="6391275"/>
            <a:ext cx="1619250" cy="514350"/>
          </a:xfrm>
          <a:prstGeom prst="rect">
            <a:avLst/>
          </a:prstGeom>
          <a:effectLst>
            <a:outerShdw blurRad="57150" dist="47625" dir="2700000" algn="ctr" rotWithShape="0">
              <a:srgbClr val="000000">
                <a:alpha val="35000"/>
              </a:srgbClr>
            </a:outerShdw>
          </a:effectLst>
        </p:spPr>
      </p:pic>
      <p:sp>
        <p:nvSpPr>
          <p:cNvPr id="203" name="Perspective B to attention shaft" descr="Perspective B to attention shaft"/>
          <p:cNvSpPr/>
          <p:nvPr/>
        </p:nvSpPr>
        <p:spPr>
          <a:xfrm>
            <a:off x="11734800" y="7696199"/>
            <a:ext cx="523874" cy="952"/>
          </a:xfrm>
          <a:custGeom>
            <a:avLst/>
            <a:gdLst/>
            <a:ahLst/>
            <a:cxnLst/>
            <a:rect l="0" t="0" r="r" b="b"/>
            <a:pathLst>
              <a:path w="55000" h="100">
                <a:moveTo>
                  <a:pt x="0" y="0"/>
                </a:moveTo>
                <a:lnTo>
                  <a:pt x="55000" y="0"/>
                </a:lnTo>
              </a:path>
            </a:pathLst>
          </a:custGeom>
          <a:noFill/>
          <a:ln w="2286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Perspective B to attention arrowhead" descr="Perspective B to attention arrowhead"/>
          <p:cNvSpPr/>
          <p:nvPr/>
        </p:nvSpPr>
        <p:spPr>
          <a:xfrm>
            <a:off x="12258675" y="7643812"/>
            <a:ext cx="104775" cy="104775"/>
          </a:xfrm>
          <a:custGeom>
            <a:avLst/>
            <a:gdLst/>
            <a:ahLst/>
            <a:cxnLst/>
            <a:rect l="0" t="0" r="r" b="b"/>
            <a:pathLst>
              <a:path w="11000" h="11000">
                <a:moveTo>
                  <a:pt x="11000" y="5500"/>
                </a:moveTo>
                <a:lnTo>
                  <a:pt x="0" y="1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5" name="Projected perspective B" descr="Projected perspective B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5600" y="7334250"/>
            <a:ext cx="1619250" cy="504825"/>
          </a:xfrm>
          <a:prstGeom prst="rect">
            <a:avLst/>
          </a:prstGeom>
          <a:effectLst>
            <a:outerShdw blurRad="57150" dist="47625" dir="2700000" algn="ctr" rotWithShape="0">
              <a:srgbClr val="000000">
                <a:alpha val="35000"/>
              </a:srgbClr>
            </a:outerShdw>
          </a:effectLst>
        </p:spPr>
      </p:pic>
      <p:sp>
        <p:nvSpPr>
          <p:cNvPr id="206" name="Perspective R to attention shaft" descr="Perspective R to attention shaft"/>
          <p:cNvSpPr/>
          <p:nvPr/>
        </p:nvSpPr>
        <p:spPr>
          <a:xfrm>
            <a:off x="11734800" y="8334375"/>
            <a:ext cx="523874" cy="952"/>
          </a:xfrm>
          <a:custGeom>
            <a:avLst/>
            <a:gdLst/>
            <a:ahLst/>
            <a:cxnLst/>
            <a:rect l="0" t="0" r="r" b="b"/>
            <a:pathLst>
              <a:path w="55000" h="100">
                <a:moveTo>
                  <a:pt x="0" y="0"/>
                </a:moveTo>
                <a:lnTo>
                  <a:pt x="55000" y="0"/>
                </a:lnTo>
              </a:path>
            </a:pathLst>
          </a:custGeom>
          <a:noFill/>
          <a:ln w="22860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Perspective R to attention arrowhead" descr="Perspective R to attention arrowhead"/>
          <p:cNvSpPr/>
          <p:nvPr/>
        </p:nvSpPr>
        <p:spPr>
          <a:xfrm>
            <a:off x="12258675" y="8281987"/>
            <a:ext cx="104775" cy="104775"/>
          </a:xfrm>
          <a:custGeom>
            <a:avLst/>
            <a:gdLst/>
            <a:ahLst/>
            <a:cxnLst/>
            <a:rect l="0" t="0" r="r" b="b"/>
            <a:pathLst>
              <a:path w="11000" h="11000">
                <a:moveTo>
                  <a:pt x="11000" y="5500"/>
                </a:moveTo>
                <a:lnTo>
                  <a:pt x="0" y="1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8" name="Projected perspective R" descr="Projected perspective 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5600" y="8001000"/>
            <a:ext cx="1619250" cy="495299"/>
          </a:xfrm>
          <a:prstGeom prst="rect">
            <a:avLst/>
          </a:prstGeom>
          <a:effectLst>
            <a:outerShdw blurRad="57150" dist="47625" dir="2700000" algn="ctr" rotWithShape="0">
              <a:srgbClr val="000000">
                <a:alpha val="35000"/>
              </a:srgbClr>
            </a:outerShdw>
          </a:effectLst>
        </p:spPr>
      </p:pic>
      <p:sp>
        <p:nvSpPr>
          <p:cNvPr id="209" name="Perspective attention block" descr="Perspective attention block"/>
          <p:cNvSpPr/>
          <p:nvPr/>
        </p:nvSpPr>
        <p:spPr>
          <a:xfrm>
            <a:off x="12420600" y="5715000"/>
            <a:ext cx="1057275" cy="2743200"/>
          </a:xfrm>
          <a:custGeom>
            <a:avLst/>
            <a:gdLst/>
            <a:ahLst/>
            <a:cxnLst/>
            <a:rect l="0" t="0" r="r" b="b"/>
            <a:pathLst>
              <a:path w="111000" h="288000">
                <a:moveTo>
                  <a:pt x="12000" y="0"/>
                </a:moveTo>
                <a:lnTo>
                  <a:pt x="99000" y="0"/>
                </a:lnTo>
                <a:cubicBezTo>
                  <a:pt x="105627" y="0"/>
                  <a:pt x="111000" y="5373"/>
                  <a:pt x="111000" y="12000"/>
                </a:cubicBezTo>
                <a:lnTo>
                  <a:pt x="111000" y="276000"/>
                </a:lnTo>
                <a:cubicBezTo>
                  <a:pt x="111000" y="282627"/>
                  <a:pt x="105627" y="288000"/>
                  <a:pt x="99000" y="288000"/>
                </a:cubicBezTo>
                <a:lnTo>
                  <a:pt x="12000" y="288000"/>
                </a:lnTo>
                <a:cubicBezTo>
                  <a:pt x="5373" y="288000"/>
                  <a:pt x="0" y="282627"/>
                  <a:pt x="0" y="276000"/>
                </a:cubicBezTo>
                <a:lnTo>
                  <a:pt x="0" y="12000"/>
                </a:lnTo>
                <a:cubicBezTo>
                  <a:pt x="0" y="5373"/>
                  <a:pt x="5373" y="0"/>
                  <a:pt x="12000" y="0"/>
                </a:cubicBezTo>
                <a:close/>
              </a:path>
            </a:pathLst>
          </a:custGeom>
          <a:solidFill>
            <a:srgbClr val="c5e0b5"/>
          </a:solidFill>
          <a:ln w="17145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Perspective attention block label" descr="Perspective attention block label"/>
          <p:cNvSpPr txBox="1"/>
          <p:nvPr/>
        </p:nvSpPr>
        <p:spPr>
          <a:xfrm>
            <a:off x="12449175" y="6638925"/>
            <a:ext cx="1000125" cy="8572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Attn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Block</a:t>
            </a:r>
          </a:p>
        </p:txBody>
      </p:sp>
      <p:sp>
        <p:nvSpPr>
          <p:cNvPr id="211" name="Attention output arrow shaft" descr="Attention output arrow shaft"/>
          <p:cNvSpPr/>
          <p:nvPr/>
        </p:nvSpPr>
        <p:spPr>
          <a:xfrm>
            <a:off x="13506450" y="7124700"/>
            <a:ext cx="628650" cy="952"/>
          </a:xfrm>
          <a:custGeom>
            <a:avLst/>
            <a:gdLst/>
            <a:ahLst/>
            <a:cxnLst/>
            <a:rect l="0" t="0" r="r" b="b"/>
            <a:pathLst>
              <a:path w="66000" h="100">
                <a:moveTo>
                  <a:pt x="0" y="0"/>
                </a:moveTo>
                <a:lnTo>
                  <a:pt x="66000" y="0"/>
                </a:lnTo>
              </a:path>
            </a:pathLst>
          </a:custGeom>
          <a:noFill/>
          <a:ln w="25717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Attention output arrow arrowhead" descr="Attention output arrow arrowhead"/>
          <p:cNvSpPr/>
          <p:nvPr/>
        </p:nvSpPr>
        <p:spPr>
          <a:xfrm>
            <a:off x="14135100" y="7067550"/>
            <a:ext cx="114300" cy="114300"/>
          </a:xfrm>
          <a:custGeom>
            <a:avLst/>
            <a:gdLst/>
            <a:ahLst/>
            <a:cxnLst/>
            <a:rect l="0" t="0" r="r" b="b"/>
            <a:pathLst>
              <a:path w="12000" h="12000">
                <a:moveTo>
                  <a:pt x="12000" y="6000"/>
                </a:moveTo>
                <a:lnTo>
                  <a:pt x="0" y="12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Prompt feed to Pano Attention" descr="Prompt feed to Pano Attention"/>
          <p:cNvSpPr/>
          <p:nvPr/>
        </p:nvSpPr>
        <p:spPr>
          <a:xfrm>
            <a:off x="8381999" y="8448675"/>
            <a:ext cx="1543050" cy="1095375"/>
          </a:xfrm>
          <a:custGeom>
            <a:avLst/>
            <a:gdLst/>
            <a:ahLst/>
            <a:cxnLst/>
            <a:rect l="0" t="0" r="r" b="b"/>
            <a:pathLst>
              <a:path w="162000" h="115000">
                <a:moveTo>
                  <a:pt x="162000" y="106000"/>
                </a:moveTo>
                <a:lnTo>
                  <a:pt x="44000" y="106000"/>
                </a:lnTo>
                <a:cubicBezTo>
                  <a:pt x="28000" y="106000"/>
                  <a:pt x="18000" y="94000"/>
                  <a:pt x="18000" y="79000"/>
                </a:cubicBezTo>
                <a:lnTo>
                  <a:pt x="18000" y="20000"/>
                </a:lnTo>
                <a:lnTo>
                  <a:pt x="27000" y="20000"/>
                </a:lnTo>
                <a:lnTo>
                  <a:pt x="13000" y="0"/>
                </a:lnTo>
                <a:lnTo>
                  <a:pt x="0" y="20000"/>
                </a:lnTo>
                <a:lnTo>
                  <a:pt x="9000" y="20000"/>
                </a:lnTo>
                <a:lnTo>
                  <a:pt x="9000" y="79000"/>
                </a:lnTo>
                <a:cubicBezTo>
                  <a:pt x="9000" y="100000"/>
                  <a:pt x="23000" y="115000"/>
                  <a:pt x="44000" y="115000"/>
                </a:cubicBezTo>
                <a:lnTo>
                  <a:pt x="162000" y="115000"/>
                </a:lnTo>
                <a:close/>
              </a:path>
            </a:pathLst>
          </a:custGeom>
          <a:solidFill>
            <a:srgbClr val="ffca83"/>
          </a:solidFill>
          <a:ln w="1428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Prompt feed to Perspective Attention" descr="Prompt feed to Perspective Attention"/>
          <p:cNvSpPr/>
          <p:nvPr/>
        </p:nvSpPr>
        <p:spPr>
          <a:xfrm>
            <a:off x="11191875" y="8448675"/>
            <a:ext cx="1914525" cy="1095375"/>
          </a:xfrm>
          <a:custGeom>
            <a:avLst/>
            <a:gdLst/>
            <a:ahLst/>
            <a:cxnLst/>
            <a:rect l="0" t="0" r="r" b="b"/>
            <a:pathLst>
              <a:path w="201000" h="115000">
                <a:moveTo>
                  <a:pt x="0" y="106000"/>
                </a:moveTo>
                <a:lnTo>
                  <a:pt x="157000" y="106000"/>
                </a:lnTo>
                <a:cubicBezTo>
                  <a:pt x="173000" y="106000"/>
                  <a:pt x="183000" y="94000"/>
                  <a:pt x="183000" y="79000"/>
                </a:cubicBezTo>
                <a:lnTo>
                  <a:pt x="183000" y="20000"/>
                </a:lnTo>
                <a:lnTo>
                  <a:pt x="174000" y="20000"/>
                </a:lnTo>
                <a:lnTo>
                  <a:pt x="187000" y="0"/>
                </a:lnTo>
                <a:lnTo>
                  <a:pt x="201000" y="20000"/>
                </a:lnTo>
                <a:lnTo>
                  <a:pt x="192000" y="20000"/>
                </a:lnTo>
                <a:lnTo>
                  <a:pt x="192000" y="79000"/>
                </a:lnTo>
                <a:cubicBezTo>
                  <a:pt x="192000" y="100000"/>
                  <a:pt x="178000" y="115000"/>
                  <a:pt x="157000" y="115000"/>
                </a:cubicBezTo>
                <a:lnTo>
                  <a:pt x="0" y="115000"/>
                </a:lnTo>
                <a:close/>
              </a:path>
            </a:pathLst>
          </a:custGeom>
          <a:solidFill>
            <a:srgbClr val="ffca83"/>
          </a:solidFill>
          <a:ln w="14287">
            <a:solidFill>
              <a:srgbClr val="1c355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Prompt label" descr="Prompt label"/>
          <p:cNvSpPr txBox="1"/>
          <p:nvPr/>
        </p:nvSpPr>
        <p:spPr>
          <a:xfrm>
            <a:off x="9982200" y="9206865"/>
            <a:ext cx="1181100" cy="4381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75" b="0" i="1">
                <a:solidFill>
                  <a:srgbClr val="000000"/>
                </a:solidFill>
                <a:latin typeface="Times New Roman"/>
              </a:rPr>
              <a:t>Prompt</a:t>
            </a:r>
          </a:p>
        </p:txBody>
      </p:sp>
      <p:sp>
        <p:nvSpPr>
          <p:cNvPr id="216" name="Repeat multiplication sign" descr="Repeat multiplication sign"/>
          <p:cNvSpPr txBox="1"/>
          <p:nvPr/>
        </p:nvSpPr>
        <p:spPr>
          <a:xfrm>
            <a:off x="13115925" y="8759190"/>
            <a:ext cx="276225" cy="32385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444444"/>
                </a:solidFill>
                <a:latin typeface="Times New Roman"/>
              </a:rPr>
              <a:t>×</a:t>
            </a:r>
          </a:p>
        </p:txBody>
      </p:sp>
      <p:sp>
        <p:nvSpPr>
          <p:cNvPr id="217" name="Repeat N" descr="Repeat N"/>
          <p:cNvSpPr txBox="1"/>
          <p:nvPr/>
        </p:nvSpPr>
        <p:spPr>
          <a:xfrm>
            <a:off x="13373100" y="8663940"/>
            <a:ext cx="457200" cy="466724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25" b="0" i="0">
                <a:solidFill>
                  <a:srgbClr val="000000"/>
                </a:solidFill>
                <a:latin typeface="Latin Modern Math"/>
              </a:rPr>
              <a:t>𝒩</a:t>
            </a:r>
          </a:p>
        </p:txBody>
      </p:sp>
      <p:pic>
        <p:nvPicPr>
          <p:cNvPr id="218" name="Output panoramic frame" descr="Output panoramic fram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39875" y="5476875"/>
            <a:ext cx="3086100" cy="3086100"/>
          </a:xfrm>
          <a:prstGeom prst="rect">
            <a:avLst/>
          </a:prstGeom>
          <a:effectLst>
            <a:outerShdw blurRad="209550" dist="209550" dir="2700000" algn="ctr" rotWithShape="0">
              <a:srgbClr val="000000">
                <a:alpha val="32000"/>
              </a:srgbClr>
            </a:outerShdw>
          </a:effectLst>
        </p:spPr>
      </p:pic>
      <p:sp>
        <p:nvSpPr>
          <p:cNvPr id="219" name="Output label" descr="Output label"/>
          <p:cNvSpPr txBox="1"/>
          <p:nvPr/>
        </p:nvSpPr>
        <p:spPr>
          <a:xfrm>
            <a:off x="14458950" y="8940165"/>
            <a:ext cx="2647950" cy="428625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000"/>
                </a:solidFill>
                <a:latin typeface="Calibri"/>
              </a:rPr>
              <a:t>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ViewPoint Panoramic Video Generation with Pretrained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0" cy="9725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ViewPoint Panoramic Video Generation with Pretrained Diffusion Models</dc:title>
  <dc:subject>Editable diagram reconstructed from supplied reference</dc:subject>
  <dc:creator/>
  <cp:keywords>ViewPoint, panorama, editable diagram, attention, diffusion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