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11"/>
  </p:sldIdLst>
  <p:sldSz cx="14516100" cy="7246620" type="screen4x3"/>
  <p:notesSz cx="6858000" cy="9144000"/>
  <p:embeddedFontLst>
    <p:embeddedFont>
      <p:font typeface="Noto Sans SemiCondensed" pitchFamily="34" charset="0"/>
      <p:regular r:id="rId8"/>
      <p:bold r:id="rId9"/>
      <p: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regular.fntdata"/><Relationship Id="rId9" Type="http://schemas.openxmlformats.org/officeDocument/2006/relationships/font" Target="fonts/bold.fntdata"/><Relationship Id="rId10" Type="http://schemas.openxmlformats.org/officeDocument/2006/relationships/font" Target="fonts/italic.fntdata"/><Relationship Id="rId11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background"/>
          <p:cNvGrpSpPr/>
          <p:nvPr/>
        </p:nvGrpSpPr>
        <p:grpSpPr>
          <a:xfrm>
            <a:off x="0" y="0"/>
            <a:ext cx="14516100" cy="7246620"/>
            <a:chOff x="0" y="0"/>
            <a:chExt cx="14516100" cy="7246620"/>
          </a:xfrm>
        </p:grpSpPr>
        <p:sp>
          <p:nvSpPr>
            <p:cNvPr id="3" name="white canvas"/>
            <p:cNvSpPr/>
            <p:nvPr/>
          </p:nvSpPr>
          <p:spPr>
            <a:xfrm>
              <a:off x="0" y="0"/>
              <a:ext cx="14516100" cy="72466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ampling section background"/>
            <p:cNvSpPr/>
            <p:nvPr/>
          </p:nvSpPr>
          <p:spPr>
            <a:xfrm>
              <a:off x="15240" y="45720"/>
              <a:ext cx="14500860" cy="3345180"/>
            </a:xfrm>
            <a:prstGeom prst="rect">
              <a:avLst/>
            </a:prstGeom>
            <a:solidFill>
              <a:srgbClr val="F2F5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ask section background"/>
            <p:cNvSpPr/>
            <p:nvPr/>
          </p:nvSpPr>
          <p:spPr>
            <a:xfrm>
              <a:off x="15240" y="3520440"/>
              <a:ext cx="14500860" cy="3726180"/>
            </a:xfrm>
            <a:prstGeom prst="rect">
              <a:avLst/>
            </a:prstGeom>
            <a:solidFill>
              <a:srgbClr val="F2F9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01 — Multi-modal datasets"/>
          <p:cNvGrpSpPr/>
          <p:nvPr/>
        </p:nvGrpSpPr>
        <p:grpSpPr>
          <a:xfrm>
            <a:off x="91440" y="167640"/>
            <a:ext cx="7601993" cy="3155823"/>
            <a:chOff x="91440" y="167640"/>
            <a:chExt cx="7601993" cy="3155823"/>
          </a:xfrm>
        </p:grpSpPr>
        <p:sp>
          <p:nvSpPr>
            <p:cNvPr id="7" name="dataset panel"/>
            <p:cNvSpPr/>
            <p:nvPr/>
          </p:nvSpPr>
          <p:spPr>
            <a:xfrm>
              <a:off x="91440" y="167640"/>
              <a:ext cx="7299960" cy="2621280"/>
            </a:xfrm>
            <a:prstGeom prst="rect">
              <a:avLst/>
            </a:prstGeom>
            <a:solidFill>
              <a:srgbClr val="CDDFF5"/>
            </a:solidFill>
            <a:ln w="6096">
              <a:solidFill>
                <a:srgbClr val="C7DCF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8" name="IDR imagery" descr="IDR imagery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740" y="327660"/>
              <a:ext cx="1851660" cy="1821180"/>
            </a:xfrm>
            <a:prstGeom prst="rect">
              <a:avLst/>
            </a:prstGeom>
            <a:effectLst/>
          </p:spPr>
        </p:pic>
        <p:pic>
          <p:nvPicPr>
            <p:cNvPr id="9" name="hiPSC imagery" descr="hiPSC imagery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9320" y="327660"/>
              <a:ext cx="1866900" cy="1821180"/>
            </a:xfrm>
            <a:prstGeom prst="rect">
              <a:avLst/>
            </a:prstGeom>
            <a:effectLst/>
          </p:spPr>
        </p:pic>
        <p:pic>
          <p:nvPicPr>
            <p:cNvPr id="10" name="HiP-CT imagery" descr="HiP-CT imagery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68140" y="327660"/>
              <a:ext cx="3108960" cy="1821180"/>
            </a:xfrm>
            <a:prstGeom prst="rect">
              <a:avLst/>
            </a:prstGeom>
            <a:effectLst/>
          </p:spPr>
        </p:pic>
        <p:sp>
          <p:nvSpPr>
            <p:cNvPr id="11" name="IDR heading 0"/>
            <p:cNvSpPr txBox="1"/>
            <p:nvPr/>
          </p:nvSpPr>
          <p:spPr>
            <a:xfrm>
              <a:off x="205740" y="727481"/>
              <a:ext cx="185928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IDR</a:t>
              </a:r>
            </a:p>
          </p:txBody>
        </p:sp>
        <p:sp>
          <p:nvSpPr>
            <p:cNvPr id="12" name="IDR heading 1"/>
            <p:cNvSpPr txBox="1"/>
            <p:nvPr/>
          </p:nvSpPr>
          <p:spPr>
            <a:xfrm>
              <a:off x="205740" y="971321"/>
              <a:ext cx="185928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Public Repository of</a:t>
              </a:r>
            </a:p>
          </p:txBody>
        </p:sp>
        <p:sp>
          <p:nvSpPr>
            <p:cNvPr id="13" name="IDR heading 2"/>
            <p:cNvSpPr txBox="1"/>
            <p:nvPr/>
          </p:nvSpPr>
          <p:spPr>
            <a:xfrm>
              <a:off x="205740" y="1215161"/>
              <a:ext cx="185928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Image Datasets</a:t>
              </a:r>
            </a:p>
          </p:txBody>
        </p:sp>
        <p:sp>
          <p:nvSpPr>
            <p:cNvPr id="14" name="hiPSC heading 0"/>
            <p:cNvSpPr txBox="1"/>
            <p:nvPr/>
          </p:nvSpPr>
          <p:spPr>
            <a:xfrm>
              <a:off x="2179320" y="727481"/>
              <a:ext cx="187452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hiPSC</a:t>
              </a:r>
            </a:p>
          </p:txBody>
        </p:sp>
        <p:sp>
          <p:nvSpPr>
            <p:cNvPr id="15" name="hiPSC heading 1"/>
            <p:cNvSpPr txBox="1"/>
            <p:nvPr/>
          </p:nvSpPr>
          <p:spPr>
            <a:xfrm>
              <a:off x="2179320" y="971321"/>
              <a:ext cx="187452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Single-cell Image</a:t>
              </a:r>
            </a:p>
          </p:txBody>
        </p:sp>
        <p:sp>
          <p:nvSpPr>
            <p:cNvPr id="16" name="hiPSC heading 2"/>
            <p:cNvSpPr txBox="1"/>
            <p:nvPr/>
          </p:nvSpPr>
          <p:spPr>
            <a:xfrm>
              <a:off x="2179320" y="1215161"/>
              <a:ext cx="187452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Dataset</a:t>
              </a:r>
            </a:p>
          </p:txBody>
        </p:sp>
        <p:sp>
          <p:nvSpPr>
            <p:cNvPr id="17" name="HiP-CT heading 0"/>
            <p:cNvSpPr txBox="1"/>
            <p:nvPr/>
          </p:nvSpPr>
          <p:spPr>
            <a:xfrm>
              <a:off x="4168140" y="727481"/>
              <a:ext cx="311658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HiP-CT</a:t>
              </a:r>
            </a:p>
          </p:txBody>
        </p:sp>
        <p:sp>
          <p:nvSpPr>
            <p:cNvPr id="18" name="HiP-CT heading 1"/>
            <p:cNvSpPr txBox="1"/>
            <p:nvPr/>
          </p:nvSpPr>
          <p:spPr>
            <a:xfrm>
              <a:off x="4168140" y="971321"/>
              <a:ext cx="311658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Human Organ</a:t>
              </a:r>
            </a:p>
          </p:txBody>
        </p:sp>
        <p:sp>
          <p:nvSpPr>
            <p:cNvPr id="19" name="HiP-CT heading 2"/>
            <p:cNvSpPr txBox="1"/>
            <p:nvPr/>
          </p:nvSpPr>
          <p:spPr>
            <a:xfrm>
              <a:off x="4168140" y="1215161"/>
              <a:ext cx="3116580" cy="2668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10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Atlas</a:t>
              </a:r>
            </a:p>
          </p:txBody>
        </p:sp>
        <p:sp>
          <p:nvSpPr>
            <p:cNvPr id="20" name="IDR detail 0"/>
            <p:cNvSpPr txBox="1"/>
            <p:nvPr/>
          </p:nvSpPr>
          <p:spPr>
            <a:xfrm>
              <a:off x="205740" y="1455115"/>
              <a:ext cx="1859280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8" b="0" i="1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&gt;100 studies</a:t>
              </a:r>
            </a:p>
          </p:txBody>
        </p:sp>
        <p:sp>
          <p:nvSpPr>
            <p:cNvPr id="21" name="IDR detail 1"/>
            <p:cNvSpPr txBox="1"/>
            <p:nvPr/>
          </p:nvSpPr>
          <p:spPr>
            <a:xfrm>
              <a:off x="205740" y="1653235"/>
              <a:ext cx="1859280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8" b="0" i="1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&gt;14,000,000 images</a:t>
              </a:r>
            </a:p>
          </p:txBody>
        </p:sp>
        <p:sp>
          <p:nvSpPr>
            <p:cNvPr id="22" name="hiPSC detail 0"/>
            <p:cNvSpPr txBox="1"/>
            <p:nvPr/>
          </p:nvSpPr>
          <p:spPr>
            <a:xfrm>
              <a:off x="2179320" y="1455115"/>
              <a:ext cx="1874520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8" b="0" i="1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&gt;200,000 cells</a:t>
              </a:r>
            </a:p>
          </p:txBody>
        </p:sp>
        <p:sp>
          <p:nvSpPr>
            <p:cNvPr id="23" name="hiPSC detail 1"/>
            <p:cNvSpPr txBox="1"/>
            <p:nvPr/>
          </p:nvSpPr>
          <p:spPr>
            <a:xfrm>
              <a:off x="2179320" y="1653235"/>
              <a:ext cx="1874520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8" b="0" i="1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25 cellular structures</a:t>
              </a:r>
            </a:p>
          </p:txBody>
        </p:sp>
        <p:sp>
          <p:nvSpPr>
            <p:cNvPr id="24" name="HiP-CT detail 0"/>
            <p:cNvSpPr txBox="1"/>
            <p:nvPr/>
          </p:nvSpPr>
          <p:spPr>
            <a:xfrm>
              <a:off x="4168140" y="1455115"/>
              <a:ext cx="3116580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8" b="0" i="1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&gt;150 patients, &gt;10,000 samples</a:t>
              </a:r>
            </a:p>
          </p:txBody>
        </p:sp>
        <p:sp>
          <p:nvSpPr>
            <p:cNvPr id="25" name="HiP-CT detail 1"/>
            <p:cNvSpPr txBox="1"/>
            <p:nvPr/>
          </p:nvSpPr>
          <p:spPr>
            <a:xfrm>
              <a:off x="4168140" y="1653235"/>
              <a:ext cx="3116580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8" b="0" i="1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5 organ types, 6 Imaging Scale</a:t>
              </a:r>
            </a:p>
          </p:txBody>
        </p:sp>
        <p:sp>
          <p:nvSpPr>
            <p:cNvPr id="26" name="dataset size summary"/>
            <p:cNvSpPr txBox="1"/>
            <p:nvPr/>
          </p:nvSpPr>
          <p:spPr>
            <a:xfrm>
              <a:off x="213360" y="2369896"/>
              <a:ext cx="5397311" cy="29070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48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Raw-level Dataset, 2-5D dimensionality, MB-TB level file size</a:t>
              </a:r>
            </a:p>
          </p:txBody>
        </p:sp>
        <p:sp>
          <p:nvSpPr>
            <p:cNvPr id="27" name="additional datasets"/>
            <p:cNvSpPr txBox="1"/>
            <p:nvPr/>
          </p:nvSpPr>
          <p:spPr>
            <a:xfrm>
              <a:off x="6858000" y="2248891"/>
              <a:ext cx="332645" cy="18280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24" b="1" i="0" lang="en-US" dirty="0">
                  <a:solidFill>
                    <a:srgbClr val="507ECE"/>
                  </a:solidFill>
                  <a:latin typeface="Noto Sans SemiCondensed"/>
                  <a:ea typeface="Noto Sans SemiCondensed"/>
                  <a:cs typeface="Noto Sans SemiCondensed"/>
                </a:rPr>
                <a:t>••• •••</a:t>
              </a:r>
            </a:p>
          </p:txBody>
        </p:sp>
        <p:sp>
          <p:nvSpPr>
            <p:cNvPr id="28" name="RMS title"/>
            <p:cNvSpPr txBox="1"/>
            <p:nvPr/>
          </p:nvSpPr>
          <p:spPr>
            <a:xfrm>
              <a:off x="91440" y="3033293"/>
              <a:ext cx="7601993" cy="29017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45" b="1" i="0" lang="en-US" dirty="0">
                  <a:solidFill>
                    <a:srgbClr val="507ECE"/>
                  </a:solidFill>
                  <a:latin typeface="Noto Sans SemiCondensed"/>
                  <a:ea typeface="Noto Sans SemiCondensed"/>
                  <a:cs typeface="Noto Sans SemiCondensed"/>
                </a:rPr>
                <a:t>Multi-modal, Multi-dimensionality Dataset with Random Multi-scale Sampling (RMS)</a:t>
              </a:r>
            </a:p>
          </p:txBody>
        </p:sp>
        <p:sp>
          <p:nvSpPr>
            <p:cNvPr id="29" name="datasets to sampling"/>
            <p:cNvSpPr/>
            <p:nvPr/>
          </p:nvSpPr>
          <p:spPr>
            <a:xfrm>
              <a:off x="7399020" y="929640"/>
              <a:ext cx="441960" cy="0"/>
            </a:xfrm>
            <a:custGeom>
              <a:avLst/>
              <a:gdLst/>
              <a:ahLst/>
              <a:cxnLst/>
              <a:rect l="l" t="t" r="r" b="b"/>
              <a:pathLst>
                <a:path w="58" h="0">
                  <a:moveTo>
                    <a:pt x="0" y="0"/>
                  </a:moveTo>
                  <a:lnTo>
                    <a:pt x="58" y="0"/>
                  </a:lnTo>
                </a:path>
              </a:pathLst>
            </a:custGeom>
            <a:noFill/>
            <a:ln w="8763">
              <a:solidFill>
                <a:srgbClr val="507EC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02 — Random multi-scale sampling"/>
          <p:cNvGrpSpPr/>
          <p:nvPr/>
        </p:nvGrpSpPr>
        <p:grpSpPr>
          <a:xfrm>
            <a:off x="7848600" y="167640"/>
            <a:ext cx="6652260" cy="3116580"/>
            <a:chOff x="7848600" y="167640"/>
            <a:chExt cx="6652260" cy="3116580"/>
          </a:xfrm>
        </p:grpSpPr>
        <p:sp>
          <p:nvSpPr>
            <p:cNvPr id="31" name="sample count"/>
            <p:cNvSpPr txBox="1"/>
            <p:nvPr/>
          </p:nvSpPr>
          <p:spPr>
            <a:xfrm>
              <a:off x="7848600" y="222352"/>
              <a:ext cx="1391349" cy="2211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46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1 Raw Data Sampled</a:t>
              </a:r>
            </a:p>
          </p:txBody>
        </p:sp>
        <p:sp>
          <p:nvSpPr>
            <p:cNvPr id="32" name="sample count arrow"/>
            <p:cNvSpPr/>
            <p:nvPr/>
          </p:nvSpPr>
          <p:spPr>
            <a:xfrm>
              <a:off x="9250680" y="297180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39" h="0">
                  <a:moveTo>
                    <a:pt x="0" y="0"/>
                  </a:moveTo>
                  <a:lnTo>
                    <a:pt x="39" y="0"/>
                  </a:lnTo>
                </a:path>
              </a:pathLst>
            </a:custGeom>
            <a:noFill/>
            <a:ln w="7620">
              <a:solidFill>
                <a:srgbClr val="B7BBC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combination count"/>
            <p:cNvSpPr txBox="1"/>
            <p:nvPr/>
          </p:nvSpPr>
          <p:spPr>
            <a:xfrm>
              <a:off x="9563100" y="222352"/>
              <a:ext cx="693183" cy="2211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46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12 Combo</a:t>
              </a:r>
            </a:p>
          </p:txBody>
        </p:sp>
        <p:sp>
          <p:nvSpPr>
            <p:cNvPr id="34" name="Masked column tint"/>
            <p:cNvSpPr/>
            <p:nvPr/>
          </p:nvSpPr>
          <p:spPr>
            <a:xfrm>
              <a:off x="10576560" y="167640"/>
              <a:ext cx="944880" cy="3116580"/>
            </a:xfrm>
            <a:prstGeom prst="rect">
              <a:avLst/>
            </a:prstGeom>
            <a:solidFill>
              <a:srgbClr val="DAE0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Masked column title"/>
            <p:cNvSpPr txBox="1"/>
            <p:nvPr/>
          </p:nvSpPr>
          <p:spPr>
            <a:xfrm>
              <a:off x="10576560" y="222352"/>
              <a:ext cx="952500" cy="2211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46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Masked</a:t>
              </a:r>
            </a:p>
          </p:txBody>
        </p:sp>
        <p:sp>
          <p:nvSpPr>
            <p:cNvPr id="36" name="Deformed column tint"/>
            <p:cNvSpPr/>
            <p:nvPr/>
          </p:nvSpPr>
          <p:spPr>
            <a:xfrm>
              <a:off x="11567160" y="167640"/>
              <a:ext cx="944880" cy="3116580"/>
            </a:xfrm>
            <a:prstGeom prst="rect">
              <a:avLst/>
            </a:prstGeom>
            <a:solidFill>
              <a:srgbClr val="F4E3D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eformed column title"/>
            <p:cNvSpPr txBox="1"/>
            <p:nvPr/>
          </p:nvSpPr>
          <p:spPr>
            <a:xfrm>
              <a:off x="11567160" y="222352"/>
              <a:ext cx="952500" cy="2211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46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Deformed</a:t>
              </a:r>
            </a:p>
          </p:txBody>
        </p:sp>
        <p:sp>
          <p:nvSpPr>
            <p:cNvPr id="38" name="Noisy column tint"/>
            <p:cNvSpPr/>
            <p:nvPr/>
          </p:nvSpPr>
          <p:spPr>
            <a:xfrm>
              <a:off x="12557760" y="167640"/>
              <a:ext cx="944880" cy="3116580"/>
            </a:xfrm>
            <a:prstGeom prst="rect">
              <a:avLst/>
            </a:prstGeom>
            <a:solidFill>
              <a:srgbClr val="DEEA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Noisy column title"/>
            <p:cNvSpPr txBox="1"/>
            <p:nvPr/>
          </p:nvSpPr>
          <p:spPr>
            <a:xfrm>
              <a:off x="12557760" y="222352"/>
              <a:ext cx="952500" cy="2211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46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Noisy</a:t>
              </a:r>
            </a:p>
          </p:txBody>
        </p:sp>
        <p:sp>
          <p:nvSpPr>
            <p:cNvPr id="40" name="Low-Res column tint"/>
            <p:cNvSpPr/>
            <p:nvPr/>
          </p:nvSpPr>
          <p:spPr>
            <a:xfrm>
              <a:off x="13548360" y="167640"/>
              <a:ext cx="944880" cy="3116580"/>
            </a:xfrm>
            <a:prstGeom prst="rect">
              <a:avLst/>
            </a:prstGeom>
            <a:solidFill>
              <a:srgbClr val="F0EFD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Low-Res column title"/>
            <p:cNvSpPr txBox="1"/>
            <p:nvPr/>
          </p:nvSpPr>
          <p:spPr>
            <a:xfrm>
              <a:off x="13548360" y="222352"/>
              <a:ext cx="952500" cy="2211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46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Low-Res</a:t>
              </a:r>
            </a:p>
          </p:txBody>
        </p:sp>
        <p:sp>
          <p:nvSpPr>
            <p:cNvPr id="42" name="Local row tint"/>
            <p:cNvSpPr/>
            <p:nvPr/>
          </p:nvSpPr>
          <p:spPr>
            <a:xfrm>
              <a:off x="9563100" y="419100"/>
              <a:ext cx="4930140" cy="952500"/>
            </a:xfrm>
            <a:prstGeom prst="rect">
              <a:avLst/>
            </a:prstGeom>
            <a:solidFill>
              <a:srgbClr val="DDEBF7">
                <a:alpha val="53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Mid-range row tint"/>
            <p:cNvSpPr/>
            <p:nvPr/>
          </p:nvSpPr>
          <p:spPr>
            <a:xfrm>
              <a:off x="9563100" y="1447800"/>
              <a:ext cx="4930140" cy="906780"/>
            </a:xfrm>
            <a:prstGeom prst="rect">
              <a:avLst/>
            </a:prstGeom>
            <a:solidFill>
              <a:srgbClr val="DDE2F5">
                <a:alpha val="53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Global row tint"/>
            <p:cNvSpPr/>
            <p:nvPr/>
          </p:nvSpPr>
          <p:spPr>
            <a:xfrm>
              <a:off x="9563100" y="2407920"/>
              <a:ext cx="4930140" cy="876300"/>
            </a:xfrm>
            <a:prstGeom prst="rect">
              <a:avLst/>
            </a:prstGeom>
            <a:solidFill>
              <a:srgbClr val="F1EFD7">
                <a:alpha val="53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5" name="raw sampling view" descr="raw sampling view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63840" y="434340"/>
              <a:ext cx="1508760" cy="1005840"/>
            </a:xfrm>
            <a:prstGeom prst="rect">
              <a:avLst/>
            </a:prstGeom>
            <a:effectLst/>
          </p:spPr>
        </p:pic>
        <p:sp>
          <p:nvSpPr>
            <p:cNvPr id="46" name="raw sampling red frame"/>
            <p:cNvSpPr/>
            <p:nvPr/>
          </p:nvSpPr>
          <p:spPr>
            <a:xfrm>
              <a:off x="7852410" y="417576"/>
              <a:ext cx="1527810" cy="1032510"/>
            </a:xfrm>
            <a:prstGeom prst="rect">
              <a:avLst/>
            </a:prstGeom>
            <a:noFill/>
            <a:ln w="10287">
              <a:solidFill>
                <a:srgbClr val="DD756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selection line 1"/>
            <p:cNvSpPr txBox="1"/>
            <p:nvPr/>
          </p:nvSpPr>
          <p:spPr>
            <a:xfrm>
              <a:off x="8115300" y="510235"/>
              <a:ext cx="996529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2/3D selection</a:t>
              </a:r>
            </a:p>
          </p:txBody>
        </p:sp>
        <p:sp>
          <p:nvSpPr>
            <p:cNvPr id="48" name="selection line 2"/>
            <p:cNvSpPr txBox="1"/>
            <p:nvPr/>
          </p:nvSpPr>
          <p:spPr>
            <a:xfrm>
              <a:off x="8115300" y="708355"/>
              <a:ext cx="568566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window</a:t>
              </a:r>
            </a:p>
          </p:txBody>
        </p:sp>
        <p:sp>
          <p:nvSpPr>
            <p:cNvPr id="49" name="raw sampling caption"/>
            <p:cNvSpPr txBox="1"/>
            <p:nvPr/>
          </p:nvSpPr>
          <p:spPr>
            <a:xfrm>
              <a:off x="7856220" y="1272235"/>
              <a:ext cx="325173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Raw</a:t>
              </a:r>
            </a:p>
          </p:txBody>
        </p:sp>
        <p:sp>
          <p:nvSpPr>
            <p:cNvPr id="50" name="raw selection window"/>
            <p:cNvSpPr/>
            <p:nvPr/>
          </p:nvSpPr>
          <p:spPr>
            <a:xfrm>
              <a:off x="8793480" y="746760"/>
              <a:ext cx="396240" cy="396240"/>
            </a:xfrm>
            <a:prstGeom prst="rect">
              <a:avLst/>
            </a:prstGeom>
            <a:noFill/>
            <a:ln w="9906">
              <a:solidFill>
                <a:srgbClr val="DD756E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selection white pointer"/>
            <p:cNvSpPr/>
            <p:nvPr/>
          </p:nvSpPr>
          <p:spPr>
            <a:xfrm>
              <a:off x="8595360" y="891540"/>
              <a:ext cx="198120" cy="53340"/>
            </a:xfrm>
            <a:custGeom>
              <a:avLst/>
              <a:gdLst/>
              <a:ahLst/>
              <a:cxnLst/>
              <a:rect l="l" t="t" r="r" b="b"/>
              <a:pathLst>
                <a:path w="26" h="7">
                  <a:moveTo>
                    <a:pt x="0" y="0"/>
                  </a:moveTo>
                  <a:lnTo>
                    <a:pt x="26" y="7"/>
                  </a:lnTo>
                </a:path>
              </a:pathLst>
            </a:custGeom>
            <a:noFill/>
            <a:ln w="9144">
              <a:solidFill>
                <a:srgbClr val="FFFFFF"/>
              </a:solidFill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aw to half scale"/>
            <p:cNvSpPr/>
            <p:nvPr/>
          </p:nvSpPr>
          <p:spPr>
            <a:xfrm>
              <a:off x="8618220" y="1455420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w="0" h="13">
                  <a:moveTo>
                    <a:pt x="0" y="0"/>
                  </a:moveTo>
                  <a:lnTo>
                    <a:pt x="0" y="13"/>
                  </a:lnTo>
                </a:path>
              </a:pathLst>
            </a:custGeom>
            <a:noFill/>
            <a:ln w="8763">
              <a:solidFill>
                <a:srgbClr val="507EC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3" name="half scale view" descr="half scale view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9120" y="1554480"/>
              <a:ext cx="1188720" cy="800100"/>
            </a:xfrm>
            <a:prstGeom prst="rect">
              <a:avLst/>
            </a:prstGeom>
            <a:effectLst/>
          </p:spPr>
        </p:pic>
        <p:sp>
          <p:nvSpPr>
            <p:cNvPr id="54" name="half scale caption"/>
            <p:cNvSpPr txBox="1"/>
            <p:nvPr/>
          </p:nvSpPr>
          <p:spPr>
            <a:xfrm>
              <a:off x="8214360" y="2171395"/>
              <a:ext cx="255464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1/2</a:t>
              </a:r>
            </a:p>
          </p:txBody>
        </p:sp>
        <p:sp>
          <p:nvSpPr>
            <p:cNvPr id="55" name="half scale selection window"/>
            <p:cNvSpPr/>
            <p:nvPr/>
          </p:nvSpPr>
          <p:spPr>
            <a:xfrm>
              <a:off x="8595360" y="1691640"/>
              <a:ext cx="388620" cy="388620"/>
            </a:xfrm>
            <a:prstGeom prst="rect">
              <a:avLst/>
            </a:prstGeom>
            <a:noFill/>
            <a:ln w="9144">
              <a:solidFill>
                <a:srgbClr val="DD756E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half to quarter scale"/>
            <p:cNvSpPr/>
            <p:nvPr/>
          </p:nvSpPr>
          <p:spPr>
            <a:xfrm>
              <a:off x="8793480" y="2362200"/>
              <a:ext cx="0" cy="160020"/>
            </a:xfrm>
            <a:custGeom>
              <a:avLst/>
              <a:gdLst/>
              <a:ahLst/>
              <a:cxnLst/>
              <a:rect l="l" t="t" r="r" b="b"/>
              <a:pathLst>
                <a:path w="0" h="21">
                  <a:moveTo>
                    <a:pt x="0" y="0"/>
                  </a:moveTo>
                  <a:lnTo>
                    <a:pt x="0" y="21"/>
                  </a:lnTo>
                </a:path>
              </a:pathLst>
            </a:custGeom>
            <a:noFill/>
            <a:ln w="8763">
              <a:solidFill>
                <a:srgbClr val="507EC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57" name="quarter scale view" descr="quarter scale view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26780" y="2522220"/>
              <a:ext cx="861060" cy="579120"/>
            </a:xfrm>
            <a:prstGeom prst="rect">
              <a:avLst/>
            </a:prstGeom>
            <a:effectLst/>
          </p:spPr>
        </p:pic>
        <p:sp>
          <p:nvSpPr>
            <p:cNvPr id="58" name="quarter scale caption"/>
            <p:cNvSpPr txBox="1"/>
            <p:nvPr/>
          </p:nvSpPr>
          <p:spPr>
            <a:xfrm>
              <a:off x="8534400" y="2925775"/>
              <a:ext cx="255464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1/4</a:t>
              </a:r>
            </a:p>
          </p:txBody>
        </p:sp>
        <p:sp>
          <p:nvSpPr>
            <p:cNvPr id="59" name="quarter scale selection window"/>
            <p:cNvSpPr/>
            <p:nvPr/>
          </p:nvSpPr>
          <p:spPr>
            <a:xfrm>
              <a:off x="8930640" y="2644140"/>
              <a:ext cx="396240" cy="396240"/>
            </a:xfrm>
            <a:prstGeom prst="rect">
              <a:avLst/>
            </a:prstGeom>
            <a:noFill/>
            <a:ln w="9144">
              <a:solidFill>
                <a:srgbClr val="DD756E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0" name="local crop" descr="local crop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62160" y="502920"/>
              <a:ext cx="784860" cy="792480"/>
            </a:xfrm>
            <a:prstGeom prst="rect">
              <a:avLst/>
            </a:prstGeom>
            <a:effectLst/>
          </p:spPr>
        </p:pic>
        <p:sp>
          <p:nvSpPr>
            <p:cNvPr id="61" name="local crop border"/>
            <p:cNvSpPr/>
            <p:nvPr/>
          </p:nvSpPr>
          <p:spPr>
            <a:xfrm>
              <a:off x="9654540" y="498348"/>
              <a:ext cx="800100" cy="800862"/>
            </a:xfrm>
            <a:prstGeom prst="rect">
              <a:avLst/>
            </a:prstGeom>
            <a:noFill/>
            <a:ln w="9144">
              <a:solidFill>
                <a:srgbClr val="DD756E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local crop label"/>
            <p:cNvSpPr txBox="1"/>
            <p:nvPr/>
          </p:nvSpPr>
          <p:spPr>
            <a:xfrm>
              <a:off x="9662160" y="1112215"/>
              <a:ext cx="388853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Local</a:t>
              </a:r>
            </a:p>
          </p:txBody>
        </p:sp>
        <p:sp>
          <p:nvSpPr>
            <p:cNvPr id="63" name="local crop zoom arrow"/>
            <p:cNvSpPr/>
            <p:nvPr/>
          </p:nvSpPr>
          <p:spPr>
            <a:xfrm>
              <a:off x="9189720" y="94488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525">
              <a:solidFill>
                <a:srgbClr val="DD756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4" name="mid range crop" descr="mid range crop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2160" y="1493520"/>
              <a:ext cx="784860" cy="807720"/>
            </a:xfrm>
            <a:prstGeom prst="rect">
              <a:avLst/>
            </a:prstGeom>
            <a:effectLst/>
          </p:spPr>
        </p:pic>
        <p:sp>
          <p:nvSpPr>
            <p:cNvPr id="65" name="mid range crop border"/>
            <p:cNvSpPr/>
            <p:nvPr/>
          </p:nvSpPr>
          <p:spPr>
            <a:xfrm>
              <a:off x="9654540" y="1488948"/>
              <a:ext cx="800100" cy="816102"/>
            </a:xfrm>
            <a:prstGeom prst="rect">
              <a:avLst/>
            </a:prstGeom>
            <a:noFill/>
            <a:ln w="9144">
              <a:solidFill>
                <a:srgbClr val="DD756E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mid range crop label"/>
            <p:cNvSpPr txBox="1"/>
            <p:nvPr/>
          </p:nvSpPr>
          <p:spPr>
            <a:xfrm>
              <a:off x="9662160" y="2118055"/>
              <a:ext cx="735194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Mid-range</a:t>
              </a:r>
            </a:p>
          </p:txBody>
        </p:sp>
        <p:sp>
          <p:nvSpPr>
            <p:cNvPr id="67" name="mid range crop zoom arrow"/>
            <p:cNvSpPr/>
            <p:nvPr/>
          </p:nvSpPr>
          <p:spPr>
            <a:xfrm>
              <a:off x="8983980" y="1889760"/>
              <a:ext cx="662940" cy="0"/>
            </a:xfrm>
            <a:custGeom>
              <a:avLst/>
              <a:gdLst/>
              <a:ahLst/>
              <a:cxnLst/>
              <a:rect l="l" t="t" r="r" b="b"/>
              <a:pathLst>
                <a:path w="87" h="0">
                  <a:moveTo>
                    <a:pt x="0" y="0"/>
                  </a:moveTo>
                  <a:lnTo>
                    <a:pt x="87" y="0"/>
                  </a:lnTo>
                </a:path>
              </a:pathLst>
            </a:custGeom>
            <a:noFill/>
            <a:ln w="9525">
              <a:solidFill>
                <a:srgbClr val="DD756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8" name="global crop" descr="global crop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662160" y="2453640"/>
              <a:ext cx="784860" cy="784860"/>
            </a:xfrm>
            <a:prstGeom prst="rect">
              <a:avLst/>
            </a:prstGeom>
            <a:effectLst/>
          </p:spPr>
        </p:pic>
        <p:sp>
          <p:nvSpPr>
            <p:cNvPr id="69" name="global crop border"/>
            <p:cNvSpPr/>
            <p:nvPr/>
          </p:nvSpPr>
          <p:spPr>
            <a:xfrm>
              <a:off x="9654540" y="2449068"/>
              <a:ext cx="800100" cy="793242"/>
            </a:xfrm>
            <a:prstGeom prst="rect">
              <a:avLst/>
            </a:prstGeom>
            <a:noFill/>
            <a:ln w="9144">
              <a:solidFill>
                <a:srgbClr val="DD756E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global crop label"/>
            <p:cNvSpPr txBox="1"/>
            <p:nvPr/>
          </p:nvSpPr>
          <p:spPr>
            <a:xfrm>
              <a:off x="9662160" y="3055315"/>
              <a:ext cx="470623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Global</a:t>
              </a:r>
            </a:p>
          </p:txBody>
        </p:sp>
        <p:sp>
          <p:nvSpPr>
            <p:cNvPr id="71" name="global crop zoom arrow"/>
            <p:cNvSpPr/>
            <p:nvPr/>
          </p:nvSpPr>
          <p:spPr>
            <a:xfrm>
              <a:off x="9326880" y="2842260"/>
              <a:ext cx="320040" cy="0"/>
            </a:xfrm>
            <a:custGeom>
              <a:avLst/>
              <a:gdLst/>
              <a:ahLst/>
              <a:cxnLst/>
              <a:rect l="l" t="t" r="r" b="b"/>
              <a:pathLst>
                <a:path w="42" h="0">
                  <a:moveTo>
                    <a:pt x="0" y="0"/>
                  </a:moveTo>
                  <a:lnTo>
                    <a:pt x="42" y="0"/>
                  </a:lnTo>
                </a:path>
              </a:pathLst>
            </a:custGeom>
            <a:noFill/>
            <a:ln w="9525">
              <a:solidFill>
                <a:srgbClr val="DD756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2" name="augmentation row 1 column 1" descr="augmentation row 1 column 1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52760" y="495300"/>
              <a:ext cx="800100" cy="800100"/>
            </a:xfrm>
            <a:prstGeom prst="rect">
              <a:avLst/>
            </a:prstGeom>
            <a:effectLst/>
          </p:spPr>
        </p:pic>
        <p:pic>
          <p:nvPicPr>
            <p:cNvPr id="73" name="augmentation row 1 column 2" descr="augmentation row 1 column 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643360" y="495300"/>
              <a:ext cx="800100" cy="800100"/>
            </a:xfrm>
            <a:prstGeom prst="rect">
              <a:avLst/>
            </a:prstGeom>
            <a:effectLst/>
          </p:spPr>
        </p:pic>
        <p:pic>
          <p:nvPicPr>
            <p:cNvPr id="74" name="augmentation row 1 column 3" descr="augmentation row 1 column 3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633960" y="495300"/>
              <a:ext cx="792480" cy="800100"/>
            </a:xfrm>
            <a:prstGeom prst="rect">
              <a:avLst/>
            </a:prstGeom>
            <a:effectLst/>
          </p:spPr>
        </p:pic>
        <p:pic>
          <p:nvPicPr>
            <p:cNvPr id="75" name="augmentation row 1 column 4" descr="augmentation row 1 column 4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624560" y="495300"/>
              <a:ext cx="792480" cy="800100"/>
            </a:xfrm>
            <a:prstGeom prst="rect">
              <a:avLst/>
            </a:prstGeom>
            <a:effectLst/>
          </p:spPr>
        </p:pic>
        <p:pic>
          <p:nvPicPr>
            <p:cNvPr id="76" name="augmentation row 2 column 1" descr="augmentation row 2 column 1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652760" y="1485900"/>
              <a:ext cx="800100" cy="815340"/>
            </a:xfrm>
            <a:prstGeom prst="rect">
              <a:avLst/>
            </a:prstGeom>
            <a:effectLst/>
          </p:spPr>
        </p:pic>
        <p:pic>
          <p:nvPicPr>
            <p:cNvPr id="77" name="augmentation row 2 column 2" descr="augmentation row 2 column 2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643360" y="1485900"/>
              <a:ext cx="800100" cy="815340"/>
            </a:xfrm>
            <a:prstGeom prst="rect">
              <a:avLst/>
            </a:prstGeom>
            <a:effectLst/>
          </p:spPr>
        </p:pic>
        <p:pic>
          <p:nvPicPr>
            <p:cNvPr id="78" name="augmentation row 2 column 3" descr="augmentation row 2 column 3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2633960" y="1485900"/>
              <a:ext cx="792480" cy="815340"/>
            </a:xfrm>
            <a:prstGeom prst="rect">
              <a:avLst/>
            </a:prstGeom>
            <a:effectLst/>
          </p:spPr>
        </p:pic>
        <p:pic>
          <p:nvPicPr>
            <p:cNvPr id="79" name="augmentation row 2 column 4" descr="augmentation row 2 column 4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624560" y="1485900"/>
              <a:ext cx="792480" cy="815340"/>
            </a:xfrm>
            <a:prstGeom prst="rect">
              <a:avLst/>
            </a:prstGeom>
            <a:effectLst/>
          </p:spPr>
        </p:pic>
        <p:pic>
          <p:nvPicPr>
            <p:cNvPr id="80" name="augmentation row 3 column 1" descr="augmentation row 3 column 1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52760" y="2446020"/>
              <a:ext cx="800100" cy="792480"/>
            </a:xfrm>
            <a:prstGeom prst="rect">
              <a:avLst/>
            </a:prstGeom>
            <a:effectLst/>
          </p:spPr>
        </p:pic>
        <p:pic>
          <p:nvPicPr>
            <p:cNvPr id="81" name="augmentation row 3 column 2" descr="augmentation row 3 column 2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643360" y="2446020"/>
              <a:ext cx="800100" cy="792480"/>
            </a:xfrm>
            <a:prstGeom prst="rect">
              <a:avLst/>
            </a:prstGeom>
            <a:effectLst/>
          </p:spPr>
        </p:pic>
        <p:pic>
          <p:nvPicPr>
            <p:cNvPr id="82" name="augmentation row 3 column 3" descr="augmentation row 3 column 3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2633960" y="2446020"/>
              <a:ext cx="792480" cy="792480"/>
            </a:xfrm>
            <a:prstGeom prst="rect">
              <a:avLst/>
            </a:prstGeom>
            <a:effectLst/>
          </p:spPr>
        </p:pic>
        <p:pic>
          <p:nvPicPr>
            <p:cNvPr id="83" name="augmentation row 3 column 4" descr="augmentation row 3 column 4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624560" y="2446020"/>
              <a:ext cx="792480" cy="792480"/>
            </a:xfrm>
            <a:prstGeom prst="rect">
              <a:avLst/>
            </a:prstGeom>
            <a:effectLst/>
          </p:spPr>
        </p:pic>
      </p:grpSp>
      <p:grpSp>
        <p:nvGrpSpPr>
          <p:cNvPr id="84" name="03 — Image Restoration"/>
          <p:cNvGrpSpPr/>
          <p:nvPr/>
        </p:nvGrpSpPr>
        <p:grpSpPr>
          <a:xfrm>
            <a:off x="91440" y="3603955"/>
            <a:ext cx="5798820" cy="1596695"/>
            <a:chOff x="91440" y="3603955"/>
            <a:chExt cx="5798820" cy="1596695"/>
          </a:xfrm>
        </p:grpSpPr>
        <p:sp>
          <p:nvSpPr>
            <p:cNvPr id="85" name="restoration task panel"/>
            <p:cNvSpPr/>
            <p:nvPr/>
          </p:nvSpPr>
          <p:spPr>
            <a:xfrm>
              <a:off x="91440" y="3836670"/>
              <a:ext cx="5798820" cy="1363980"/>
            </a:xfrm>
            <a:prstGeom prst="rect">
              <a:avLst/>
            </a:pr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estoration task title"/>
            <p:cNvSpPr txBox="1"/>
            <p:nvPr/>
          </p:nvSpPr>
          <p:spPr>
            <a:xfrm>
              <a:off x="121920" y="3603955"/>
              <a:ext cx="1664946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4F9861"/>
                  </a:solidFill>
                  <a:latin typeface="Noto Sans SemiCondensed"/>
                  <a:ea typeface="Noto Sans SemiCondensed"/>
                  <a:cs typeface="Noto Sans SemiCondensed"/>
                </a:rPr>
                <a:t>Task: Image Restoration</a:t>
              </a:r>
            </a:p>
          </p:txBody>
        </p:sp>
        <p:pic>
          <p:nvPicPr>
            <p:cNvPr id="87" name="restoration raw" descr="restoration raw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60020" y="3916680"/>
              <a:ext cx="1219200" cy="1211580"/>
            </a:xfrm>
            <a:prstGeom prst="rect">
              <a:avLst/>
            </a:prstGeom>
            <a:effectLst/>
          </p:spPr>
        </p:pic>
        <p:sp>
          <p:nvSpPr>
            <p:cNvPr id="88" name="restoration raw caption"/>
            <p:cNvSpPr txBox="1"/>
            <p:nvPr/>
          </p:nvSpPr>
          <p:spPr>
            <a:xfrm>
              <a:off x="182880" y="4944313"/>
              <a:ext cx="32666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Raw</a:t>
              </a:r>
            </a:p>
          </p:txBody>
        </p:sp>
        <p:pic>
          <p:nvPicPr>
            <p:cNvPr id="89" name="restoration noisy" descr="restoration noisy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81200" y="3916680"/>
              <a:ext cx="1226820" cy="1211580"/>
            </a:xfrm>
            <a:prstGeom prst="rect">
              <a:avLst/>
            </a:prstGeom>
            <a:effectLst/>
          </p:spPr>
        </p:pic>
        <p:sp>
          <p:nvSpPr>
            <p:cNvPr id="90" name="restoration noisy caption"/>
            <p:cNvSpPr txBox="1"/>
            <p:nvPr/>
          </p:nvSpPr>
          <p:spPr>
            <a:xfrm>
              <a:off x="2004060" y="4944313"/>
              <a:ext cx="418313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Noisy</a:t>
              </a:r>
            </a:p>
          </p:txBody>
        </p:sp>
        <p:pic>
          <p:nvPicPr>
            <p:cNvPr id="91" name="restoration result" descr="restoration result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594860" y="3916680"/>
              <a:ext cx="1226820" cy="1211580"/>
            </a:xfrm>
            <a:prstGeom prst="rect">
              <a:avLst/>
            </a:prstGeom>
            <a:effectLst/>
          </p:spPr>
        </p:pic>
        <p:sp>
          <p:nvSpPr>
            <p:cNvPr id="92" name="restoration result caption"/>
            <p:cNvSpPr txBox="1"/>
            <p:nvPr/>
          </p:nvSpPr>
          <p:spPr>
            <a:xfrm>
              <a:off x="4617720" y="4944313"/>
              <a:ext cx="642124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Restored</a:t>
              </a:r>
            </a:p>
          </p:txBody>
        </p:sp>
        <p:sp>
          <p:nvSpPr>
            <p:cNvPr id="93" name="random noise outline"/>
            <p:cNvSpPr/>
            <p:nvPr/>
          </p:nvSpPr>
          <p:spPr>
            <a:xfrm>
              <a:off x="1470660" y="4335780"/>
              <a:ext cx="426720" cy="373380"/>
            </a:xfrm>
            <a:prstGeom prst="roundRect">
              <a:avLst>
                <a:gd name="adj" fmla="val 12244"/>
              </a:avLst>
            </a:prstGeom>
            <a:solidFill>
              <a:srgbClr val="B4B3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andom noise inset"/>
            <p:cNvSpPr/>
            <p:nvPr/>
          </p:nvSpPr>
          <p:spPr>
            <a:xfrm>
              <a:off x="1508760" y="4381500"/>
              <a:ext cx="213360" cy="297180"/>
            </a:xfrm>
            <a:custGeom>
              <a:avLst/>
              <a:gdLst/>
              <a:ahLst/>
              <a:cxnLst/>
              <a:rect l="l" t="t" r="r" b="b"/>
              <a:pathLst>
                <a:path w="28" h="39">
                  <a:moveTo>
                    <a:pt x="0" y="0"/>
                  </a:moveTo>
                  <a:lnTo>
                    <a:pt x="28" y="0"/>
                  </a:lnTo>
                  <a:lnTo>
                    <a:pt x="5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random noise right fill"/>
            <p:cNvSpPr/>
            <p:nvPr/>
          </p:nvSpPr>
          <p:spPr>
            <a:xfrm>
              <a:off x="1607820" y="4335780"/>
              <a:ext cx="289560" cy="373380"/>
            </a:xfrm>
            <a:custGeom>
              <a:avLst/>
              <a:gdLst/>
              <a:ahLst/>
              <a:cxnLst/>
              <a:rect l="l" t="t" r="r" b="b"/>
              <a:pathLst>
                <a:path w="38" h="49">
                  <a:moveTo>
                    <a:pt x="26" y="0"/>
                  </a:moveTo>
                  <a:lnTo>
                    <a:pt x="33" y="0"/>
                  </a:lnTo>
                  <a:lnTo>
                    <a:pt x="38" y="5"/>
                  </a:lnTo>
                  <a:lnTo>
                    <a:pt x="38" y="44"/>
                  </a:lnTo>
                  <a:lnTo>
                    <a:pt x="33" y="4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B79E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andom noise lightning"/>
            <p:cNvSpPr/>
            <p:nvPr/>
          </p:nvSpPr>
          <p:spPr>
            <a:xfrm>
              <a:off x="1676400" y="4335780"/>
              <a:ext cx="167640" cy="266700"/>
            </a:xfrm>
            <a:custGeom>
              <a:avLst/>
              <a:gdLst/>
              <a:ahLst/>
              <a:cxnLst/>
              <a:rect l="l" t="t" r="r" b="b"/>
              <a:pathLst>
                <a:path w="22" h="35">
                  <a:moveTo>
                    <a:pt x="10" y="0"/>
                  </a:moveTo>
                  <a:lnTo>
                    <a:pt x="2" y="17"/>
                  </a:lnTo>
                  <a:lnTo>
                    <a:pt x="14" y="17"/>
                  </a:lnTo>
                  <a:lnTo>
                    <a:pt x="0" y="31"/>
                  </a:lnTo>
                  <a:lnTo>
                    <a:pt x="17" y="26"/>
                  </a:lnTo>
                  <a:lnTo>
                    <a:pt x="22" y="35"/>
                  </a:lnTo>
                  <a:lnTo>
                    <a:pt x="22" y="9"/>
                  </a:lnTo>
                  <a:lnTo>
                    <a:pt x="13" y="9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andom noise Random"/>
            <p:cNvSpPr txBox="1"/>
            <p:nvPr/>
          </p:nvSpPr>
          <p:spPr>
            <a:xfrm>
              <a:off x="1447800" y="4408551"/>
              <a:ext cx="48006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Random</a:t>
              </a:r>
            </a:p>
          </p:txBody>
        </p:sp>
        <p:sp>
          <p:nvSpPr>
            <p:cNvPr id="98" name="random noise type"/>
            <p:cNvSpPr txBox="1"/>
            <p:nvPr/>
          </p:nvSpPr>
          <p:spPr>
            <a:xfrm>
              <a:off x="1432560" y="4538091"/>
              <a:ext cx="51054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Noise</a:t>
              </a:r>
            </a:p>
          </p:txBody>
        </p:sp>
        <p:sp>
          <p:nvSpPr>
            <p:cNvPr id="99" name="raw into noise"/>
            <p:cNvSpPr/>
            <p:nvPr/>
          </p:nvSpPr>
          <p:spPr>
            <a:xfrm>
              <a:off x="1394460" y="4526280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11" h="0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noise into noisy"/>
            <p:cNvSpPr/>
            <p:nvPr/>
          </p:nvSpPr>
          <p:spPr>
            <a:xfrm>
              <a:off x="1897380" y="4526280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storation Mamba encoder"/>
            <p:cNvSpPr/>
            <p:nvPr/>
          </p:nvSpPr>
          <p:spPr>
            <a:xfrm>
              <a:off x="3284220" y="3909060"/>
              <a:ext cx="1211580" cy="845820"/>
            </a:xfrm>
            <a:custGeom>
              <a:avLst/>
              <a:gdLst/>
              <a:ahLst/>
              <a:cxnLst/>
              <a:rect l="l" t="t" r="r" b="b"/>
              <a:pathLst>
                <a:path w="159" h="111">
                  <a:moveTo>
                    <a:pt x="0" y="0"/>
                  </a:moveTo>
                  <a:lnTo>
                    <a:pt x="159" y="0"/>
                  </a:lnTo>
                  <a:lnTo>
                    <a:pt x="132" y="111"/>
                  </a:lnTo>
                  <a:lnTo>
                    <a:pt x="27" y="111"/>
                  </a:lnTo>
                  <a:close/>
                </a:path>
              </a:pathLst>
            </a:custGeom>
            <a:solidFill>
              <a:srgbClr val="4F986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storation Mamba decoder"/>
            <p:cNvSpPr/>
            <p:nvPr/>
          </p:nvSpPr>
          <p:spPr>
            <a:xfrm>
              <a:off x="3284220" y="4808220"/>
              <a:ext cx="1211580" cy="320040"/>
            </a:xfrm>
            <a:custGeom>
              <a:avLst/>
              <a:gdLst/>
              <a:ahLst/>
              <a:cxnLst/>
              <a:rect l="l" t="t" r="r" b="b"/>
              <a:pathLst>
                <a:path w="159" h="42">
                  <a:moveTo>
                    <a:pt x="27" y="0"/>
                  </a:moveTo>
                  <a:lnTo>
                    <a:pt x="132" y="0"/>
                  </a:lnTo>
                  <a:lnTo>
                    <a:pt x="159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7BB08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storation Mamba Mamba"/>
            <p:cNvSpPr txBox="1"/>
            <p:nvPr/>
          </p:nvSpPr>
          <p:spPr>
            <a:xfrm>
              <a:off x="3284220" y="415343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Mamba</a:t>
              </a:r>
            </a:p>
          </p:txBody>
        </p:sp>
        <p:sp>
          <p:nvSpPr>
            <p:cNvPr id="104" name="restoration Mamba Encoder"/>
            <p:cNvSpPr txBox="1"/>
            <p:nvPr/>
          </p:nvSpPr>
          <p:spPr>
            <a:xfrm>
              <a:off x="3284220" y="435155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Encoder</a:t>
              </a:r>
            </a:p>
          </p:txBody>
        </p:sp>
        <p:sp>
          <p:nvSpPr>
            <p:cNvPr id="105" name="restoration Mamba Conv"/>
            <p:cNvSpPr txBox="1"/>
            <p:nvPr/>
          </p:nvSpPr>
          <p:spPr>
            <a:xfrm>
              <a:off x="3284220" y="484974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Conv</a:t>
              </a:r>
            </a:p>
          </p:txBody>
        </p:sp>
        <p:sp>
          <p:nvSpPr>
            <p:cNvPr id="106" name="restoration Mamba Decoder"/>
            <p:cNvSpPr txBox="1"/>
            <p:nvPr/>
          </p:nvSpPr>
          <p:spPr>
            <a:xfrm>
              <a:off x="3284220" y="498690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Decoder</a:t>
              </a:r>
            </a:p>
          </p:txBody>
        </p:sp>
        <p:sp>
          <p:nvSpPr>
            <p:cNvPr id="107" name="noisy into encoder"/>
            <p:cNvSpPr/>
            <p:nvPr/>
          </p:nvSpPr>
          <p:spPr>
            <a:xfrm>
              <a:off x="2590800" y="3695700"/>
              <a:ext cx="1295400" cy="213360"/>
            </a:xfrm>
            <a:custGeom>
              <a:avLst/>
              <a:gdLst/>
              <a:ahLst/>
              <a:cxnLst/>
              <a:rect l="l" t="t" r="r" b="b"/>
              <a:pathLst>
                <a:path w="170" h="28">
                  <a:moveTo>
                    <a:pt x="0" y="28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8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decoder into restored"/>
            <p:cNvSpPr/>
            <p:nvPr/>
          </p:nvSpPr>
          <p:spPr>
            <a:xfrm>
              <a:off x="3886200" y="5135880"/>
              <a:ext cx="1318260" cy="182880"/>
            </a:xfrm>
            <a:custGeom>
              <a:avLst/>
              <a:gdLst/>
              <a:ahLst/>
              <a:cxnLst/>
              <a:rect l="l" t="t" r="r" b="b"/>
              <a:pathLst>
                <a:path w="173" h="24">
                  <a:moveTo>
                    <a:pt x="0" y="0"/>
                  </a:moveTo>
                  <a:lnTo>
                    <a:pt x="0" y="24"/>
                  </a:lnTo>
                  <a:lnTo>
                    <a:pt x="173" y="24"/>
                  </a:lnTo>
                  <a:lnTo>
                    <a:pt x="173" y="0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" name="04 — Image Super-resolution"/>
          <p:cNvGrpSpPr/>
          <p:nvPr/>
        </p:nvGrpSpPr>
        <p:grpSpPr>
          <a:xfrm>
            <a:off x="91440" y="5295595"/>
            <a:ext cx="5798820" cy="1543355"/>
            <a:chOff x="91440" y="5295595"/>
            <a:chExt cx="5798820" cy="1543355"/>
          </a:xfrm>
        </p:grpSpPr>
        <p:sp>
          <p:nvSpPr>
            <p:cNvPr id="110" name="super resolution task panel"/>
            <p:cNvSpPr/>
            <p:nvPr/>
          </p:nvSpPr>
          <p:spPr>
            <a:xfrm>
              <a:off x="91440" y="5474970"/>
              <a:ext cx="5798820" cy="1363980"/>
            </a:xfrm>
            <a:prstGeom prst="rect">
              <a:avLst/>
            </a:pr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super resolution task title"/>
            <p:cNvSpPr txBox="1"/>
            <p:nvPr/>
          </p:nvSpPr>
          <p:spPr>
            <a:xfrm>
              <a:off x="121920" y="5295595"/>
              <a:ext cx="2003052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4F9861"/>
                  </a:solidFill>
                  <a:latin typeface="Noto Sans SemiCondensed"/>
                  <a:ea typeface="Noto Sans SemiCondensed"/>
                  <a:cs typeface="Noto Sans SemiCondensed"/>
                </a:rPr>
                <a:t>Task: Image Super-resolution</a:t>
              </a:r>
            </a:p>
          </p:txBody>
        </p:sp>
        <p:pic>
          <p:nvPicPr>
            <p:cNvPr id="112" name="super resolution raw" descr="super resolution raw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0020" y="5554980"/>
              <a:ext cx="1219200" cy="1203960"/>
            </a:xfrm>
            <a:prstGeom prst="rect">
              <a:avLst/>
            </a:prstGeom>
            <a:effectLst/>
          </p:spPr>
        </p:pic>
        <p:sp>
          <p:nvSpPr>
            <p:cNvPr id="113" name="super resolution raw caption"/>
            <p:cNvSpPr txBox="1"/>
            <p:nvPr/>
          </p:nvSpPr>
          <p:spPr>
            <a:xfrm>
              <a:off x="182880" y="6574993"/>
              <a:ext cx="32666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Raw</a:t>
              </a:r>
            </a:p>
          </p:txBody>
        </p:sp>
        <p:pic>
          <p:nvPicPr>
            <p:cNvPr id="114" name="downsampled image" descr="downsampled image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981200" y="5554980"/>
              <a:ext cx="1211580" cy="1203960"/>
            </a:xfrm>
            <a:prstGeom prst="rect">
              <a:avLst/>
            </a:prstGeom>
            <a:effectLst/>
          </p:spPr>
        </p:pic>
        <p:sp>
          <p:nvSpPr>
            <p:cNvPr id="115" name="downsampled image caption"/>
            <p:cNvSpPr txBox="1"/>
            <p:nvPr/>
          </p:nvSpPr>
          <p:spPr>
            <a:xfrm>
              <a:off x="2004060" y="6574993"/>
              <a:ext cx="1001049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Downsampled</a:t>
              </a:r>
            </a:p>
          </p:txBody>
        </p:sp>
        <p:pic>
          <p:nvPicPr>
            <p:cNvPr id="116" name="upsampled image" descr="upsampled image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587240" y="5554980"/>
              <a:ext cx="1211580" cy="1203960"/>
            </a:xfrm>
            <a:prstGeom prst="rect">
              <a:avLst/>
            </a:prstGeom>
            <a:effectLst/>
          </p:spPr>
        </p:pic>
        <p:sp>
          <p:nvSpPr>
            <p:cNvPr id="117" name="upsampled image caption"/>
            <p:cNvSpPr txBox="1"/>
            <p:nvPr/>
          </p:nvSpPr>
          <p:spPr>
            <a:xfrm>
              <a:off x="4610100" y="6574993"/>
              <a:ext cx="801186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Upsampled</a:t>
              </a:r>
            </a:p>
          </p:txBody>
        </p:sp>
        <p:sp>
          <p:nvSpPr>
            <p:cNvPr id="118" name="random low resolution outline"/>
            <p:cNvSpPr/>
            <p:nvPr/>
          </p:nvSpPr>
          <p:spPr>
            <a:xfrm>
              <a:off x="1470660" y="5966460"/>
              <a:ext cx="426720" cy="373380"/>
            </a:xfrm>
            <a:prstGeom prst="roundRect">
              <a:avLst>
                <a:gd name="adj" fmla="val 12244"/>
              </a:avLst>
            </a:prstGeom>
            <a:solidFill>
              <a:srgbClr val="B4B3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andom low resolution inset"/>
            <p:cNvSpPr/>
            <p:nvPr/>
          </p:nvSpPr>
          <p:spPr>
            <a:xfrm>
              <a:off x="1508760" y="6012180"/>
              <a:ext cx="213360" cy="297180"/>
            </a:xfrm>
            <a:custGeom>
              <a:avLst/>
              <a:gdLst/>
              <a:ahLst/>
              <a:cxnLst/>
              <a:rect l="l" t="t" r="r" b="b"/>
              <a:pathLst>
                <a:path w="28" h="39">
                  <a:moveTo>
                    <a:pt x="0" y="0"/>
                  </a:moveTo>
                  <a:lnTo>
                    <a:pt x="28" y="0"/>
                  </a:lnTo>
                  <a:lnTo>
                    <a:pt x="5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random low resolution right fill"/>
            <p:cNvSpPr/>
            <p:nvPr/>
          </p:nvSpPr>
          <p:spPr>
            <a:xfrm>
              <a:off x="1607820" y="5966460"/>
              <a:ext cx="289560" cy="373380"/>
            </a:xfrm>
            <a:custGeom>
              <a:avLst/>
              <a:gdLst/>
              <a:ahLst/>
              <a:cxnLst/>
              <a:rect l="l" t="t" r="r" b="b"/>
              <a:pathLst>
                <a:path w="38" h="49">
                  <a:moveTo>
                    <a:pt x="26" y="0"/>
                  </a:moveTo>
                  <a:lnTo>
                    <a:pt x="33" y="0"/>
                  </a:lnTo>
                  <a:lnTo>
                    <a:pt x="38" y="5"/>
                  </a:lnTo>
                  <a:lnTo>
                    <a:pt x="38" y="44"/>
                  </a:lnTo>
                  <a:lnTo>
                    <a:pt x="33" y="4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B79E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random low resolution lightning"/>
            <p:cNvSpPr/>
            <p:nvPr/>
          </p:nvSpPr>
          <p:spPr>
            <a:xfrm>
              <a:off x="1676400" y="5966460"/>
              <a:ext cx="167640" cy="266700"/>
            </a:xfrm>
            <a:custGeom>
              <a:avLst/>
              <a:gdLst/>
              <a:ahLst/>
              <a:cxnLst/>
              <a:rect l="l" t="t" r="r" b="b"/>
              <a:pathLst>
                <a:path w="22" h="35">
                  <a:moveTo>
                    <a:pt x="10" y="0"/>
                  </a:moveTo>
                  <a:lnTo>
                    <a:pt x="2" y="17"/>
                  </a:lnTo>
                  <a:lnTo>
                    <a:pt x="14" y="17"/>
                  </a:lnTo>
                  <a:lnTo>
                    <a:pt x="0" y="31"/>
                  </a:lnTo>
                  <a:lnTo>
                    <a:pt x="17" y="26"/>
                  </a:lnTo>
                  <a:lnTo>
                    <a:pt x="22" y="35"/>
                  </a:lnTo>
                  <a:lnTo>
                    <a:pt x="22" y="9"/>
                  </a:lnTo>
                  <a:lnTo>
                    <a:pt x="13" y="9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andom low resolution Random"/>
            <p:cNvSpPr txBox="1"/>
            <p:nvPr/>
          </p:nvSpPr>
          <p:spPr>
            <a:xfrm>
              <a:off x="1447800" y="6039231"/>
              <a:ext cx="48006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Random</a:t>
              </a:r>
            </a:p>
          </p:txBody>
        </p:sp>
        <p:sp>
          <p:nvSpPr>
            <p:cNvPr id="123" name="random low resolution type"/>
            <p:cNvSpPr txBox="1"/>
            <p:nvPr/>
          </p:nvSpPr>
          <p:spPr>
            <a:xfrm>
              <a:off x="1432560" y="6168771"/>
              <a:ext cx="51054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Low-Res</a:t>
              </a:r>
            </a:p>
          </p:txBody>
        </p:sp>
        <p:sp>
          <p:nvSpPr>
            <p:cNvPr id="124" name="raw into downsample"/>
            <p:cNvSpPr/>
            <p:nvPr/>
          </p:nvSpPr>
          <p:spPr>
            <a:xfrm>
              <a:off x="1394460" y="6156960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11" h="0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downsample into image"/>
            <p:cNvSpPr/>
            <p:nvPr/>
          </p:nvSpPr>
          <p:spPr>
            <a:xfrm>
              <a:off x="1897380" y="6156960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super resolution Mamba encoder"/>
            <p:cNvSpPr/>
            <p:nvPr/>
          </p:nvSpPr>
          <p:spPr>
            <a:xfrm>
              <a:off x="3284220" y="5547360"/>
              <a:ext cx="1211580" cy="845820"/>
            </a:xfrm>
            <a:custGeom>
              <a:avLst/>
              <a:gdLst/>
              <a:ahLst/>
              <a:cxnLst/>
              <a:rect l="l" t="t" r="r" b="b"/>
              <a:pathLst>
                <a:path w="159" h="111">
                  <a:moveTo>
                    <a:pt x="0" y="0"/>
                  </a:moveTo>
                  <a:lnTo>
                    <a:pt x="159" y="0"/>
                  </a:lnTo>
                  <a:lnTo>
                    <a:pt x="132" y="111"/>
                  </a:lnTo>
                  <a:lnTo>
                    <a:pt x="27" y="111"/>
                  </a:lnTo>
                  <a:close/>
                </a:path>
              </a:pathLst>
            </a:custGeom>
            <a:solidFill>
              <a:srgbClr val="4F986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super resolution Mamba decoder"/>
            <p:cNvSpPr/>
            <p:nvPr/>
          </p:nvSpPr>
          <p:spPr>
            <a:xfrm>
              <a:off x="3284220" y="6446520"/>
              <a:ext cx="1211580" cy="320040"/>
            </a:xfrm>
            <a:custGeom>
              <a:avLst/>
              <a:gdLst/>
              <a:ahLst/>
              <a:cxnLst/>
              <a:rect l="l" t="t" r="r" b="b"/>
              <a:pathLst>
                <a:path w="159" h="42">
                  <a:moveTo>
                    <a:pt x="27" y="0"/>
                  </a:moveTo>
                  <a:lnTo>
                    <a:pt x="132" y="0"/>
                  </a:lnTo>
                  <a:lnTo>
                    <a:pt x="159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7BB08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super resolution Mamba Mamba"/>
            <p:cNvSpPr txBox="1"/>
            <p:nvPr/>
          </p:nvSpPr>
          <p:spPr>
            <a:xfrm>
              <a:off x="3284220" y="579173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Mamba</a:t>
              </a:r>
            </a:p>
          </p:txBody>
        </p:sp>
        <p:sp>
          <p:nvSpPr>
            <p:cNvPr id="129" name="super resolution Mamba Encoder"/>
            <p:cNvSpPr txBox="1"/>
            <p:nvPr/>
          </p:nvSpPr>
          <p:spPr>
            <a:xfrm>
              <a:off x="3284220" y="598985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Encoder</a:t>
              </a:r>
            </a:p>
          </p:txBody>
        </p:sp>
        <p:sp>
          <p:nvSpPr>
            <p:cNvPr id="130" name="super resolution Mamba Conv"/>
            <p:cNvSpPr txBox="1"/>
            <p:nvPr/>
          </p:nvSpPr>
          <p:spPr>
            <a:xfrm>
              <a:off x="3284220" y="648804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Conv</a:t>
              </a:r>
            </a:p>
          </p:txBody>
        </p:sp>
        <p:sp>
          <p:nvSpPr>
            <p:cNvPr id="131" name="super resolution Mamba Decoder"/>
            <p:cNvSpPr txBox="1"/>
            <p:nvPr/>
          </p:nvSpPr>
          <p:spPr>
            <a:xfrm>
              <a:off x="3284220" y="662520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Decoder</a:t>
              </a:r>
            </a:p>
          </p:txBody>
        </p:sp>
        <p:sp>
          <p:nvSpPr>
            <p:cNvPr id="132" name="downsampled into encoder"/>
            <p:cNvSpPr/>
            <p:nvPr/>
          </p:nvSpPr>
          <p:spPr>
            <a:xfrm>
              <a:off x="2583180" y="5334000"/>
              <a:ext cx="1303020" cy="213360"/>
            </a:xfrm>
            <a:custGeom>
              <a:avLst/>
              <a:gdLst/>
              <a:ahLst/>
              <a:cxnLst/>
              <a:rect l="l" t="t" r="r" b="b"/>
              <a:pathLst>
                <a:path w="171" h="28">
                  <a:moveTo>
                    <a:pt x="0" y="28"/>
                  </a:moveTo>
                  <a:lnTo>
                    <a:pt x="0" y="0"/>
                  </a:lnTo>
                  <a:lnTo>
                    <a:pt x="171" y="0"/>
                  </a:lnTo>
                  <a:lnTo>
                    <a:pt x="171" y="28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decoder into upsampled"/>
            <p:cNvSpPr/>
            <p:nvPr/>
          </p:nvSpPr>
          <p:spPr>
            <a:xfrm>
              <a:off x="3886200" y="6774180"/>
              <a:ext cx="1303020" cy="175260"/>
            </a:xfrm>
            <a:custGeom>
              <a:avLst/>
              <a:gdLst/>
              <a:ahLst/>
              <a:cxnLst/>
              <a:rect l="l" t="t" r="r" b="b"/>
              <a:pathLst>
                <a:path w="171" h="23">
                  <a:moveTo>
                    <a:pt x="0" y="0"/>
                  </a:moveTo>
                  <a:lnTo>
                    <a:pt x="0" y="23"/>
                  </a:lnTo>
                  <a:lnTo>
                    <a:pt x="171" y="23"/>
                  </a:lnTo>
                  <a:lnTo>
                    <a:pt x="171" y="0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05 — Image Fusion"/>
          <p:cNvGrpSpPr/>
          <p:nvPr/>
        </p:nvGrpSpPr>
        <p:grpSpPr>
          <a:xfrm>
            <a:off x="6012180" y="3603955"/>
            <a:ext cx="8473440" cy="1596695"/>
            <a:chOff x="6012180" y="3603955"/>
            <a:chExt cx="8473440" cy="1596695"/>
          </a:xfrm>
        </p:grpSpPr>
        <p:sp>
          <p:nvSpPr>
            <p:cNvPr id="135" name="fusion task panel"/>
            <p:cNvSpPr/>
            <p:nvPr/>
          </p:nvSpPr>
          <p:spPr>
            <a:xfrm>
              <a:off x="6012180" y="3836670"/>
              <a:ext cx="8473440" cy="1363980"/>
            </a:xfrm>
            <a:prstGeom prst="rect">
              <a:avLst/>
            </a:pr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fusion task title"/>
            <p:cNvSpPr txBox="1"/>
            <p:nvPr/>
          </p:nvSpPr>
          <p:spPr>
            <a:xfrm>
              <a:off x="6042660" y="3603955"/>
              <a:ext cx="1319047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4F9861"/>
                  </a:solidFill>
                  <a:latin typeface="Noto Sans SemiCondensed"/>
                  <a:ea typeface="Noto Sans SemiCondensed"/>
                  <a:cs typeface="Noto Sans SemiCondensed"/>
                </a:rPr>
                <a:t>Task: Image Fusion</a:t>
              </a:r>
            </a:p>
          </p:txBody>
        </p:sp>
        <p:pic>
          <p:nvPicPr>
            <p:cNvPr id="137" name="fusion raw" descr="fusion raw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6088380" y="3916680"/>
              <a:ext cx="1219200" cy="1211580"/>
            </a:xfrm>
            <a:prstGeom prst="rect">
              <a:avLst/>
            </a:prstGeom>
            <a:effectLst/>
          </p:spPr>
        </p:pic>
        <p:sp>
          <p:nvSpPr>
            <p:cNvPr id="138" name="fusion raw caption"/>
            <p:cNvSpPr txBox="1"/>
            <p:nvPr/>
          </p:nvSpPr>
          <p:spPr>
            <a:xfrm>
              <a:off x="6111240" y="4944313"/>
              <a:ext cx="32666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Raw</a:t>
              </a:r>
            </a:p>
          </p:txBody>
        </p:sp>
        <p:pic>
          <p:nvPicPr>
            <p:cNvPr id="139" name="masked A" descr="masked A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909560" y="3916680"/>
              <a:ext cx="1211580" cy="1203960"/>
            </a:xfrm>
            <a:prstGeom prst="rect">
              <a:avLst/>
            </a:prstGeom>
            <a:effectLst/>
          </p:spPr>
        </p:pic>
        <p:sp>
          <p:nvSpPr>
            <p:cNvPr id="140" name="masked A border"/>
            <p:cNvSpPr/>
            <p:nvPr/>
          </p:nvSpPr>
          <p:spPr>
            <a:xfrm>
              <a:off x="7909560" y="3916680"/>
              <a:ext cx="1211580" cy="1203960"/>
            </a:xfrm>
            <a:prstGeom prst="rect">
              <a:avLst/>
            </a:prstGeom>
            <a:noFill/>
            <a:ln w="8763">
              <a:solidFill>
                <a:srgbClr val="4F986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masked A caption"/>
            <p:cNvSpPr txBox="1"/>
            <p:nvPr/>
          </p:nvSpPr>
          <p:spPr>
            <a:xfrm>
              <a:off x="7932420" y="4936693"/>
              <a:ext cx="694013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Masked A</a:t>
              </a:r>
            </a:p>
          </p:txBody>
        </p:sp>
        <p:pic>
          <p:nvPicPr>
            <p:cNvPr id="142" name="masked B" descr="masked B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212580" y="3916680"/>
              <a:ext cx="1211580" cy="1203960"/>
            </a:xfrm>
            <a:prstGeom prst="rect">
              <a:avLst/>
            </a:prstGeom>
            <a:effectLst/>
          </p:spPr>
        </p:pic>
        <p:sp>
          <p:nvSpPr>
            <p:cNvPr id="143" name="masked B border"/>
            <p:cNvSpPr/>
            <p:nvPr/>
          </p:nvSpPr>
          <p:spPr>
            <a:xfrm>
              <a:off x="9212580" y="3916680"/>
              <a:ext cx="1211580" cy="1203960"/>
            </a:xfrm>
            <a:prstGeom prst="rect">
              <a:avLst/>
            </a:prstGeom>
            <a:noFill/>
            <a:ln w="8763">
              <a:solidFill>
                <a:srgbClr val="4F986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masked B caption"/>
            <p:cNvSpPr txBox="1"/>
            <p:nvPr/>
          </p:nvSpPr>
          <p:spPr>
            <a:xfrm>
              <a:off x="9235440" y="4936693"/>
              <a:ext cx="692387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Masked B</a:t>
              </a:r>
            </a:p>
          </p:txBody>
        </p:sp>
        <p:pic>
          <p:nvPicPr>
            <p:cNvPr id="145" name="visible A and B" descr="visible A and B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0515600" y="3916680"/>
              <a:ext cx="1219200" cy="1211580"/>
            </a:xfrm>
            <a:prstGeom prst="rect">
              <a:avLst/>
            </a:prstGeom>
            <a:effectLst/>
          </p:spPr>
        </p:pic>
        <p:sp>
          <p:nvSpPr>
            <p:cNvPr id="146" name="visible A and B caption"/>
            <p:cNvSpPr txBox="1"/>
            <p:nvPr/>
          </p:nvSpPr>
          <p:spPr>
            <a:xfrm>
              <a:off x="10538460" y="4944313"/>
              <a:ext cx="805622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Visible A&amp;B</a:t>
              </a:r>
            </a:p>
          </p:txBody>
        </p:sp>
        <p:pic>
          <p:nvPicPr>
            <p:cNvPr id="147" name="fusion reconstructed" descr="fusion reconstructed.pn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3144500" y="3916680"/>
              <a:ext cx="1211580" cy="1211580"/>
            </a:xfrm>
            <a:prstGeom prst="rect">
              <a:avLst/>
            </a:prstGeom>
            <a:effectLst/>
          </p:spPr>
        </p:pic>
        <p:sp>
          <p:nvSpPr>
            <p:cNvPr id="148" name="fusion reconstructed caption"/>
            <p:cNvSpPr txBox="1"/>
            <p:nvPr/>
          </p:nvSpPr>
          <p:spPr>
            <a:xfrm>
              <a:off x="13167360" y="4944313"/>
              <a:ext cx="100593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Fuse+Reconed</a:t>
              </a:r>
            </a:p>
          </p:txBody>
        </p:sp>
        <p:sp>
          <p:nvSpPr>
            <p:cNvPr id="149" name="random masking outline"/>
            <p:cNvSpPr/>
            <p:nvPr/>
          </p:nvSpPr>
          <p:spPr>
            <a:xfrm>
              <a:off x="7399020" y="4335780"/>
              <a:ext cx="426720" cy="373380"/>
            </a:xfrm>
            <a:prstGeom prst="roundRect">
              <a:avLst>
                <a:gd name="adj" fmla="val 12244"/>
              </a:avLst>
            </a:prstGeom>
            <a:solidFill>
              <a:srgbClr val="B4B3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random masking inset"/>
            <p:cNvSpPr/>
            <p:nvPr/>
          </p:nvSpPr>
          <p:spPr>
            <a:xfrm>
              <a:off x="7437120" y="4381500"/>
              <a:ext cx="213360" cy="297180"/>
            </a:xfrm>
            <a:custGeom>
              <a:avLst/>
              <a:gdLst/>
              <a:ahLst/>
              <a:cxnLst/>
              <a:rect l="l" t="t" r="r" b="b"/>
              <a:pathLst>
                <a:path w="28" h="39">
                  <a:moveTo>
                    <a:pt x="0" y="0"/>
                  </a:moveTo>
                  <a:lnTo>
                    <a:pt x="28" y="0"/>
                  </a:lnTo>
                  <a:lnTo>
                    <a:pt x="5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random masking right fill"/>
            <p:cNvSpPr/>
            <p:nvPr/>
          </p:nvSpPr>
          <p:spPr>
            <a:xfrm>
              <a:off x="7536180" y="4335780"/>
              <a:ext cx="289560" cy="373380"/>
            </a:xfrm>
            <a:custGeom>
              <a:avLst/>
              <a:gdLst/>
              <a:ahLst/>
              <a:cxnLst/>
              <a:rect l="l" t="t" r="r" b="b"/>
              <a:pathLst>
                <a:path w="38" h="49">
                  <a:moveTo>
                    <a:pt x="26" y="0"/>
                  </a:moveTo>
                  <a:lnTo>
                    <a:pt x="33" y="0"/>
                  </a:lnTo>
                  <a:lnTo>
                    <a:pt x="38" y="5"/>
                  </a:lnTo>
                  <a:lnTo>
                    <a:pt x="38" y="44"/>
                  </a:lnTo>
                  <a:lnTo>
                    <a:pt x="33" y="4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B79E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andom masking lightning"/>
            <p:cNvSpPr/>
            <p:nvPr/>
          </p:nvSpPr>
          <p:spPr>
            <a:xfrm>
              <a:off x="7604760" y="4335780"/>
              <a:ext cx="167640" cy="266700"/>
            </a:xfrm>
            <a:custGeom>
              <a:avLst/>
              <a:gdLst/>
              <a:ahLst/>
              <a:cxnLst/>
              <a:rect l="l" t="t" r="r" b="b"/>
              <a:pathLst>
                <a:path w="22" h="35">
                  <a:moveTo>
                    <a:pt x="10" y="0"/>
                  </a:moveTo>
                  <a:lnTo>
                    <a:pt x="2" y="17"/>
                  </a:lnTo>
                  <a:lnTo>
                    <a:pt x="14" y="17"/>
                  </a:lnTo>
                  <a:lnTo>
                    <a:pt x="0" y="31"/>
                  </a:lnTo>
                  <a:lnTo>
                    <a:pt x="17" y="26"/>
                  </a:lnTo>
                  <a:lnTo>
                    <a:pt x="22" y="35"/>
                  </a:lnTo>
                  <a:lnTo>
                    <a:pt x="22" y="9"/>
                  </a:lnTo>
                  <a:lnTo>
                    <a:pt x="13" y="9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andom masking Random"/>
            <p:cNvSpPr txBox="1"/>
            <p:nvPr/>
          </p:nvSpPr>
          <p:spPr>
            <a:xfrm>
              <a:off x="7376160" y="4408551"/>
              <a:ext cx="48006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Random</a:t>
              </a:r>
            </a:p>
          </p:txBody>
        </p:sp>
        <p:sp>
          <p:nvSpPr>
            <p:cNvPr id="154" name="random masking type"/>
            <p:cNvSpPr txBox="1"/>
            <p:nvPr/>
          </p:nvSpPr>
          <p:spPr>
            <a:xfrm>
              <a:off x="7360920" y="4538091"/>
              <a:ext cx="51054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Masking</a:t>
              </a:r>
            </a:p>
          </p:txBody>
        </p:sp>
        <p:sp>
          <p:nvSpPr>
            <p:cNvPr id="155" name="raw into masking"/>
            <p:cNvSpPr/>
            <p:nvPr/>
          </p:nvSpPr>
          <p:spPr>
            <a:xfrm>
              <a:off x="7322820" y="4526280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11" h="0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masking into image"/>
            <p:cNvSpPr/>
            <p:nvPr/>
          </p:nvSpPr>
          <p:spPr>
            <a:xfrm>
              <a:off x="7825740" y="4526280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fusion Mamba encoder"/>
            <p:cNvSpPr/>
            <p:nvPr/>
          </p:nvSpPr>
          <p:spPr>
            <a:xfrm>
              <a:off x="11811000" y="3909060"/>
              <a:ext cx="1211580" cy="845820"/>
            </a:xfrm>
            <a:custGeom>
              <a:avLst/>
              <a:gdLst/>
              <a:ahLst/>
              <a:cxnLst/>
              <a:rect l="l" t="t" r="r" b="b"/>
              <a:pathLst>
                <a:path w="159" h="111">
                  <a:moveTo>
                    <a:pt x="0" y="0"/>
                  </a:moveTo>
                  <a:lnTo>
                    <a:pt x="159" y="0"/>
                  </a:lnTo>
                  <a:lnTo>
                    <a:pt x="132" y="111"/>
                  </a:lnTo>
                  <a:lnTo>
                    <a:pt x="27" y="111"/>
                  </a:lnTo>
                  <a:close/>
                </a:path>
              </a:pathLst>
            </a:custGeom>
            <a:solidFill>
              <a:srgbClr val="4F986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fusion Mamba decoder"/>
            <p:cNvSpPr/>
            <p:nvPr/>
          </p:nvSpPr>
          <p:spPr>
            <a:xfrm>
              <a:off x="11811000" y="4808220"/>
              <a:ext cx="1211580" cy="320040"/>
            </a:xfrm>
            <a:custGeom>
              <a:avLst/>
              <a:gdLst/>
              <a:ahLst/>
              <a:cxnLst/>
              <a:rect l="l" t="t" r="r" b="b"/>
              <a:pathLst>
                <a:path w="159" h="42">
                  <a:moveTo>
                    <a:pt x="27" y="0"/>
                  </a:moveTo>
                  <a:lnTo>
                    <a:pt x="132" y="0"/>
                  </a:lnTo>
                  <a:lnTo>
                    <a:pt x="159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7BB08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fusion Mamba Mamba"/>
            <p:cNvSpPr txBox="1"/>
            <p:nvPr/>
          </p:nvSpPr>
          <p:spPr>
            <a:xfrm>
              <a:off x="11811000" y="415343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Mamba</a:t>
              </a:r>
            </a:p>
          </p:txBody>
        </p:sp>
        <p:sp>
          <p:nvSpPr>
            <p:cNvPr id="160" name="fusion Mamba Encoder"/>
            <p:cNvSpPr txBox="1"/>
            <p:nvPr/>
          </p:nvSpPr>
          <p:spPr>
            <a:xfrm>
              <a:off x="11811000" y="435155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Encoder</a:t>
              </a:r>
            </a:p>
          </p:txBody>
        </p:sp>
        <p:sp>
          <p:nvSpPr>
            <p:cNvPr id="161" name="fusion Mamba Conv"/>
            <p:cNvSpPr txBox="1"/>
            <p:nvPr/>
          </p:nvSpPr>
          <p:spPr>
            <a:xfrm>
              <a:off x="11811000" y="484974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Conv</a:t>
              </a:r>
            </a:p>
          </p:txBody>
        </p:sp>
        <p:sp>
          <p:nvSpPr>
            <p:cNvPr id="162" name="fusion Mamba Decoder"/>
            <p:cNvSpPr txBox="1"/>
            <p:nvPr/>
          </p:nvSpPr>
          <p:spPr>
            <a:xfrm>
              <a:off x="11811000" y="498690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Decoder</a:t>
              </a:r>
            </a:p>
          </p:txBody>
        </p:sp>
        <p:sp>
          <p:nvSpPr>
            <p:cNvPr id="163" name="mask A into encoder"/>
            <p:cNvSpPr/>
            <p:nvPr/>
          </p:nvSpPr>
          <p:spPr>
            <a:xfrm>
              <a:off x="8519160" y="3695700"/>
              <a:ext cx="3901440" cy="213360"/>
            </a:xfrm>
            <a:custGeom>
              <a:avLst/>
              <a:gdLst/>
              <a:ahLst/>
              <a:cxnLst/>
              <a:rect l="l" t="t" r="r" b="b"/>
              <a:pathLst>
                <a:path w="512" h="28">
                  <a:moveTo>
                    <a:pt x="0" y="28"/>
                  </a:moveTo>
                  <a:lnTo>
                    <a:pt x="0" y="0"/>
                  </a:lnTo>
                  <a:lnTo>
                    <a:pt x="512" y="0"/>
                  </a:lnTo>
                  <a:lnTo>
                    <a:pt x="512" y="28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mask B into encoder branch"/>
            <p:cNvSpPr/>
            <p:nvPr/>
          </p:nvSpPr>
          <p:spPr>
            <a:xfrm>
              <a:off x="9822180" y="3695700"/>
              <a:ext cx="2583180" cy="213360"/>
            </a:xfrm>
            <a:custGeom>
              <a:avLst/>
              <a:gdLst/>
              <a:ahLst/>
              <a:cxnLst/>
              <a:rect l="l" t="t" r="r" b="b"/>
              <a:pathLst>
                <a:path w="339" h="28">
                  <a:moveTo>
                    <a:pt x="0" y="28"/>
                  </a:moveTo>
                  <a:lnTo>
                    <a:pt x="0" y="0"/>
                  </a:lnTo>
                  <a:lnTo>
                    <a:pt x="339" y="0"/>
                  </a:lnTo>
                </a:path>
              </a:pathLst>
            </a:custGeom>
            <a:noFill/>
            <a:ln w="9525">
              <a:solidFill>
                <a:srgbClr val="4F986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fusion decoder into result"/>
            <p:cNvSpPr/>
            <p:nvPr/>
          </p:nvSpPr>
          <p:spPr>
            <a:xfrm>
              <a:off x="12420600" y="5135880"/>
              <a:ext cx="1325880" cy="182880"/>
            </a:xfrm>
            <a:custGeom>
              <a:avLst/>
              <a:gdLst/>
              <a:ahLst/>
              <a:cxnLst/>
              <a:rect l="l" t="t" r="r" b="b"/>
              <a:pathLst>
                <a:path w="174" h="24">
                  <a:moveTo>
                    <a:pt x="0" y="0"/>
                  </a:moveTo>
                  <a:lnTo>
                    <a:pt x="0" y="24"/>
                  </a:lnTo>
                  <a:lnTo>
                    <a:pt x="174" y="24"/>
                  </a:lnTo>
                  <a:lnTo>
                    <a:pt x="174" y="0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06 — Image Registration"/>
          <p:cNvGrpSpPr/>
          <p:nvPr/>
        </p:nvGrpSpPr>
        <p:grpSpPr>
          <a:xfrm>
            <a:off x="6012180" y="5295595"/>
            <a:ext cx="8473440" cy="1543355"/>
            <a:chOff x="6012180" y="5295595"/>
            <a:chExt cx="8473440" cy="1543355"/>
          </a:xfrm>
        </p:grpSpPr>
        <p:sp>
          <p:nvSpPr>
            <p:cNvPr id="167" name="registration task panel"/>
            <p:cNvSpPr/>
            <p:nvPr/>
          </p:nvSpPr>
          <p:spPr>
            <a:xfrm>
              <a:off x="6012180" y="5474970"/>
              <a:ext cx="8473440" cy="1363980"/>
            </a:xfrm>
            <a:prstGeom prst="rect">
              <a:avLst/>
            </a:pr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gistration task title"/>
            <p:cNvSpPr txBox="1"/>
            <p:nvPr/>
          </p:nvSpPr>
          <p:spPr>
            <a:xfrm>
              <a:off x="6042660" y="5295595"/>
              <a:ext cx="1708478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4F9861"/>
                  </a:solidFill>
                  <a:latin typeface="Noto Sans SemiCondensed"/>
                  <a:ea typeface="Noto Sans SemiCondensed"/>
                  <a:cs typeface="Noto Sans SemiCondensed"/>
                </a:rPr>
                <a:t>Task: Image Registration</a:t>
              </a:r>
            </a:p>
          </p:txBody>
        </p:sp>
        <p:pic>
          <p:nvPicPr>
            <p:cNvPr id="169" name="registration raw" descr="registration raw.p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088380" y="5554980"/>
              <a:ext cx="1219200" cy="1203960"/>
            </a:xfrm>
            <a:prstGeom prst="rect">
              <a:avLst/>
            </a:prstGeom>
            <a:effectLst/>
          </p:spPr>
        </p:pic>
        <p:sp>
          <p:nvSpPr>
            <p:cNvPr id="170" name="registration raw caption"/>
            <p:cNvSpPr txBox="1"/>
            <p:nvPr/>
          </p:nvSpPr>
          <p:spPr>
            <a:xfrm>
              <a:off x="6111240" y="6574993"/>
              <a:ext cx="32666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Raw</a:t>
              </a:r>
            </a:p>
          </p:txBody>
        </p:sp>
        <p:pic>
          <p:nvPicPr>
            <p:cNvPr id="171" name="deformed image" descr="deformed image.pn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909560" y="5554980"/>
              <a:ext cx="1211580" cy="1203960"/>
            </a:xfrm>
            <a:prstGeom prst="rect">
              <a:avLst/>
            </a:prstGeom>
            <a:effectLst/>
          </p:spPr>
        </p:pic>
        <p:sp>
          <p:nvSpPr>
            <p:cNvPr id="172" name="deformed image border"/>
            <p:cNvSpPr/>
            <p:nvPr/>
          </p:nvSpPr>
          <p:spPr>
            <a:xfrm>
              <a:off x="7909560" y="5554980"/>
              <a:ext cx="1211580" cy="1203960"/>
            </a:xfrm>
            <a:prstGeom prst="rect">
              <a:avLst/>
            </a:prstGeom>
            <a:noFill/>
            <a:ln w="8763">
              <a:solidFill>
                <a:srgbClr val="4F986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deformed image caption"/>
            <p:cNvSpPr txBox="1"/>
            <p:nvPr/>
          </p:nvSpPr>
          <p:spPr>
            <a:xfrm>
              <a:off x="7932420" y="6574993"/>
              <a:ext cx="714856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Deformed</a:t>
              </a:r>
            </a:p>
          </p:txBody>
        </p:sp>
        <p:pic>
          <p:nvPicPr>
            <p:cNvPr id="174" name="before error map" descr="before error map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204960" y="5554980"/>
              <a:ext cx="1219200" cy="1203960"/>
            </a:xfrm>
            <a:prstGeom prst="rect">
              <a:avLst/>
            </a:prstGeom>
            <a:effectLst/>
          </p:spPr>
        </p:pic>
        <p:sp>
          <p:nvSpPr>
            <p:cNvPr id="175" name="before error map caption"/>
            <p:cNvSpPr txBox="1"/>
            <p:nvPr/>
          </p:nvSpPr>
          <p:spPr>
            <a:xfrm>
              <a:off x="9227820" y="6574993"/>
              <a:ext cx="71175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Error Map</a:t>
              </a:r>
            </a:p>
          </p:txBody>
        </p:sp>
        <p:pic>
          <p:nvPicPr>
            <p:cNvPr id="176" name="registered image" descr="registered image.pn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1841480" y="5554980"/>
              <a:ext cx="1211580" cy="1203960"/>
            </a:xfrm>
            <a:prstGeom prst="rect">
              <a:avLst/>
            </a:prstGeom>
            <a:effectLst/>
          </p:spPr>
        </p:pic>
        <p:sp>
          <p:nvSpPr>
            <p:cNvPr id="177" name="registered image caption"/>
            <p:cNvSpPr txBox="1"/>
            <p:nvPr/>
          </p:nvSpPr>
          <p:spPr>
            <a:xfrm>
              <a:off x="11864340" y="6574993"/>
              <a:ext cx="825431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Registrated</a:t>
              </a:r>
            </a:p>
          </p:txBody>
        </p:sp>
        <p:pic>
          <p:nvPicPr>
            <p:cNvPr id="178" name="after error map" descr="after error map.pn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3136880" y="5554980"/>
              <a:ext cx="1219200" cy="1203960"/>
            </a:xfrm>
            <a:prstGeom prst="rect">
              <a:avLst/>
            </a:prstGeom>
            <a:effectLst/>
          </p:spPr>
        </p:pic>
        <p:sp>
          <p:nvSpPr>
            <p:cNvPr id="179" name="after error map caption"/>
            <p:cNvSpPr txBox="1"/>
            <p:nvPr/>
          </p:nvSpPr>
          <p:spPr>
            <a:xfrm>
              <a:off x="13159740" y="6574993"/>
              <a:ext cx="711750" cy="2242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63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Error Map</a:t>
              </a:r>
            </a:p>
          </p:txBody>
        </p:sp>
        <p:sp>
          <p:nvSpPr>
            <p:cNvPr id="180" name="random deforming outline"/>
            <p:cNvSpPr/>
            <p:nvPr/>
          </p:nvSpPr>
          <p:spPr>
            <a:xfrm>
              <a:off x="7399020" y="5966460"/>
              <a:ext cx="426720" cy="373380"/>
            </a:xfrm>
            <a:prstGeom prst="roundRect">
              <a:avLst>
                <a:gd name="adj" fmla="val 12244"/>
              </a:avLst>
            </a:prstGeom>
            <a:solidFill>
              <a:srgbClr val="B4B39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random deforming inset"/>
            <p:cNvSpPr/>
            <p:nvPr/>
          </p:nvSpPr>
          <p:spPr>
            <a:xfrm>
              <a:off x="7437120" y="6012180"/>
              <a:ext cx="213360" cy="297180"/>
            </a:xfrm>
            <a:custGeom>
              <a:avLst/>
              <a:gdLst/>
              <a:ahLst/>
              <a:cxnLst/>
              <a:rect l="l" t="t" r="r" b="b"/>
              <a:pathLst>
                <a:path w="28" h="39">
                  <a:moveTo>
                    <a:pt x="0" y="0"/>
                  </a:moveTo>
                  <a:lnTo>
                    <a:pt x="28" y="0"/>
                  </a:lnTo>
                  <a:lnTo>
                    <a:pt x="5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andom deforming right fill"/>
            <p:cNvSpPr/>
            <p:nvPr/>
          </p:nvSpPr>
          <p:spPr>
            <a:xfrm>
              <a:off x="7536180" y="5966460"/>
              <a:ext cx="289560" cy="373380"/>
            </a:xfrm>
            <a:custGeom>
              <a:avLst/>
              <a:gdLst/>
              <a:ahLst/>
              <a:cxnLst/>
              <a:rect l="l" t="t" r="r" b="b"/>
              <a:pathLst>
                <a:path w="38" h="49">
                  <a:moveTo>
                    <a:pt x="26" y="0"/>
                  </a:moveTo>
                  <a:lnTo>
                    <a:pt x="33" y="0"/>
                  </a:lnTo>
                  <a:lnTo>
                    <a:pt x="38" y="5"/>
                  </a:lnTo>
                  <a:lnTo>
                    <a:pt x="38" y="44"/>
                  </a:lnTo>
                  <a:lnTo>
                    <a:pt x="33" y="4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B79E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andom deforming lightning"/>
            <p:cNvSpPr/>
            <p:nvPr/>
          </p:nvSpPr>
          <p:spPr>
            <a:xfrm>
              <a:off x="7604760" y="5966460"/>
              <a:ext cx="167640" cy="266700"/>
            </a:xfrm>
            <a:custGeom>
              <a:avLst/>
              <a:gdLst/>
              <a:ahLst/>
              <a:cxnLst/>
              <a:rect l="l" t="t" r="r" b="b"/>
              <a:pathLst>
                <a:path w="22" h="35">
                  <a:moveTo>
                    <a:pt x="10" y="0"/>
                  </a:moveTo>
                  <a:lnTo>
                    <a:pt x="2" y="17"/>
                  </a:lnTo>
                  <a:lnTo>
                    <a:pt x="14" y="17"/>
                  </a:lnTo>
                  <a:lnTo>
                    <a:pt x="0" y="31"/>
                  </a:lnTo>
                  <a:lnTo>
                    <a:pt x="17" y="26"/>
                  </a:lnTo>
                  <a:lnTo>
                    <a:pt x="22" y="35"/>
                  </a:lnTo>
                  <a:lnTo>
                    <a:pt x="22" y="9"/>
                  </a:lnTo>
                  <a:lnTo>
                    <a:pt x="13" y="9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A8C6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andom deforming Random"/>
            <p:cNvSpPr txBox="1"/>
            <p:nvPr/>
          </p:nvSpPr>
          <p:spPr>
            <a:xfrm>
              <a:off x="7376160" y="6039231"/>
              <a:ext cx="48006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Random</a:t>
              </a:r>
            </a:p>
          </p:txBody>
        </p:sp>
        <p:sp>
          <p:nvSpPr>
            <p:cNvPr id="185" name="random deforming type"/>
            <p:cNvSpPr txBox="1"/>
            <p:nvPr/>
          </p:nvSpPr>
          <p:spPr>
            <a:xfrm>
              <a:off x="7360920" y="6168771"/>
              <a:ext cx="510540" cy="1495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1" b="1" i="0" lang="en-US" dirty="0">
                  <a:solidFill>
                    <a:srgbClr val="273238"/>
                  </a:solidFill>
                  <a:latin typeface="Noto Sans SemiCondensed"/>
                  <a:ea typeface="Noto Sans SemiCondensed"/>
                  <a:cs typeface="Noto Sans SemiCondensed"/>
                </a:rPr>
                <a:t>Deforming</a:t>
              </a:r>
            </a:p>
          </p:txBody>
        </p:sp>
        <p:sp>
          <p:nvSpPr>
            <p:cNvPr id="186" name="raw into deforming"/>
            <p:cNvSpPr/>
            <p:nvPr/>
          </p:nvSpPr>
          <p:spPr>
            <a:xfrm>
              <a:off x="7322820" y="6156960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11" h="0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deforming into image"/>
            <p:cNvSpPr/>
            <p:nvPr/>
          </p:nvSpPr>
          <p:spPr>
            <a:xfrm>
              <a:off x="7825740" y="6156960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</a:path>
              </a:pathLst>
            </a:custGeom>
            <a:noFill/>
            <a:ln w="7620">
              <a:solidFill>
                <a:srgbClr val="25312C"/>
              </a:solidFill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gistration Mamba encoder"/>
            <p:cNvSpPr/>
            <p:nvPr/>
          </p:nvSpPr>
          <p:spPr>
            <a:xfrm>
              <a:off x="10523220" y="5547360"/>
              <a:ext cx="1211580" cy="845820"/>
            </a:xfrm>
            <a:custGeom>
              <a:avLst/>
              <a:gdLst/>
              <a:ahLst/>
              <a:cxnLst/>
              <a:rect l="l" t="t" r="r" b="b"/>
              <a:pathLst>
                <a:path w="159" h="111">
                  <a:moveTo>
                    <a:pt x="0" y="0"/>
                  </a:moveTo>
                  <a:lnTo>
                    <a:pt x="159" y="0"/>
                  </a:lnTo>
                  <a:lnTo>
                    <a:pt x="132" y="111"/>
                  </a:lnTo>
                  <a:lnTo>
                    <a:pt x="27" y="111"/>
                  </a:lnTo>
                  <a:close/>
                </a:path>
              </a:pathLst>
            </a:custGeom>
            <a:solidFill>
              <a:srgbClr val="4F986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gistration Mamba decoder"/>
            <p:cNvSpPr/>
            <p:nvPr/>
          </p:nvSpPr>
          <p:spPr>
            <a:xfrm>
              <a:off x="10523220" y="6446520"/>
              <a:ext cx="1211580" cy="320040"/>
            </a:xfrm>
            <a:custGeom>
              <a:avLst/>
              <a:gdLst/>
              <a:ahLst/>
              <a:cxnLst/>
              <a:rect l="l" t="t" r="r" b="b"/>
              <a:pathLst>
                <a:path w="159" h="42">
                  <a:moveTo>
                    <a:pt x="27" y="0"/>
                  </a:moveTo>
                  <a:lnTo>
                    <a:pt x="132" y="0"/>
                  </a:lnTo>
                  <a:lnTo>
                    <a:pt x="159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7BB08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gistration Mamba Mamba"/>
            <p:cNvSpPr txBox="1"/>
            <p:nvPr/>
          </p:nvSpPr>
          <p:spPr>
            <a:xfrm>
              <a:off x="10523220" y="579173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Mamba</a:t>
              </a:r>
            </a:p>
          </p:txBody>
        </p:sp>
        <p:sp>
          <p:nvSpPr>
            <p:cNvPr id="191" name="registration Mamba Encoder"/>
            <p:cNvSpPr txBox="1"/>
            <p:nvPr/>
          </p:nvSpPr>
          <p:spPr>
            <a:xfrm>
              <a:off x="10523220" y="5989853"/>
              <a:ext cx="1219200" cy="22219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2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Encoder</a:t>
              </a:r>
            </a:p>
          </p:txBody>
        </p:sp>
        <p:sp>
          <p:nvSpPr>
            <p:cNvPr id="192" name="registration Mamba Conv"/>
            <p:cNvSpPr txBox="1"/>
            <p:nvPr/>
          </p:nvSpPr>
          <p:spPr>
            <a:xfrm>
              <a:off x="10523220" y="648804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Conv</a:t>
              </a:r>
            </a:p>
          </p:txBody>
        </p:sp>
        <p:sp>
          <p:nvSpPr>
            <p:cNvPr id="193" name="registration Mamba Decoder"/>
            <p:cNvSpPr txBox="1"/>
            <p:nvPr/>
          </p:nvSpPr>
          <p:spPr>
            <a:xfrm>
              <a:off x="10523220" y="6625209"/>
              <a:ext cx="1219200" cy="150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738" b="1" i="0" lang="en-US" dirty="0">
                  <a:solidFill>
                    <a:srgbClr val="FFFFFF"/>
                  </a:solidFill>
                  <a:latin typeface="Noto Sans SemiCondensed"/>
                  <a:ea typeface="Noto Sans SemiCondensed"/>
                  <a:cs typeface="Noto Sans SemiCondensed"/>
                </a:rPr>
                <a:t>Decoder</a:t>
              </a:r>
            </a:p>
          </p:txBody>
        </p:sp>
        <p:sp>
          <p:nvSpPr>
            <p:cNvPr id="194" name="deformed into encoder"/>
            <p:cNvSpPr/>
            <p:nvPr/>
          </p:nvSpPr>
          <p:spPr>
            <a:xfrm>
              <a:off x="8519160" y="5334000"/>
              <a:ext cx="2606040" cy="213360"/>
            </a:xfrm>
            <a:custGeom>
              <a:avLst/>
              <a:gdLst/>
              <a:ahLst/>
              <a:cxnLst/>
              <a:rect l="l" t="t" r="r" b="b"/>
              <a:pathLst>
                <a:path w="342" h="28">
                  <a:moveTo>
                    <a:pt x="0" y="28"/>
                  </a:moveTo>
                  <a:lnTo>
                    <a:pt x="0" y="0"/>
                  </a:lnTo>
                  <a:lnTo>
                    <a:pt x="342" y="0"/>
                  </a:lnTo>
                  <a:lnTo>
                    <a:pt x="342" y="28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gistration decoder into result"/>
            <p:cNvSpPr/>
            <p:nvPr/>
          </p:nvSpPr>
          <p:spPr>
            <a:xfrm>
              <a:off x="11125200" y="6774180"/>
              <a:ext cx="1318260" cy="175260"/>
            </a:xfrm>
            <a:custGeom>
              <a:avLst/>
              <a:gdLst/>
              <a:ahLst/>
              <a:cxnLst/>
              <a:rect l="l" t="t" r="r" b="b"/>
              <a:pathLst>
                <a:path w="173" h="23">
                  <a:moveTo>
                    <a:pt x="0" y="0"/>
                  </a:moveTo>
                  <a:lnTo>
                    <a:pt x="0" y="23"/>
                  </a:lnTo>
                  <a:lnTo>
                    <a:pt x="173" y="23"/>
                  </a:lnTo>
                  <a:lnTo>
                    <a:pt x="173" y="0"/>
                  </a:lnTo>
                </a:path>
              </a:pathLst>
            </a:custGeom>
            <a:noFill/>
            <a:ln w="9525">
              <a:solidFill>
                <a:srgbClr val="4F9861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6" name="07 — Footer and color legend"/>
          <p:cNvGrpSpPr/>
          <p:nvPr/>
        </p:nvGrpSpPr>
        <p:grpSpPr>
          <a:xfrm>
            <a:off x="91440" y="6903415"/>
            <a:ext cx="14454491" cy="428473"/>
            <a:chOff x="91440" y="6903415"/>
            <a:chExt cx="14454491" cy="428473"/>
          </a:xfrm>
        </p:grpSpPr>
        <p:sp>
          <p:nvSpPr>
            <p:cNvPr id="197" name="misalignment legend"/>
            <p:cNvSpPr txBox="1"/>
            <p:nvPr/>
          </p:nvSpPr>
          <p:spPr>
            <a:xfrm>
              <a:off x="12641580" y="6903415"/>
              <a:ext cx="614159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Misalign</a:t>
              </a:r>
            </a:p>
          </p:txBody>
        </p:sp>
        <p:sp>
          <p:nvSpPr>
            <p:cNvPr id="198" name="alignment error color scale"/>
            <p:cNvSpPr/>
            <p:nvPr/>
          </p:nvSpPr>
          <p:spPr>
            <a:xfrm>
              <a:off x="13296900" y="6941820"/>
              <a:ext cx="822960" cy="83820"/>
            </a:xfrm>
            <a:prstGeom prst="rect">
              <a:avLst/>
            </a:prstGeom>
            <a:gradFill rotWithShape="1">
              <a:gsLst>
                <a:gs pos="0">
                  <a:srgbClr val="A6E591"/>
                </a:gs>
                <a:gs pos="100000">
                  <a:srgbClr val="E82FE5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alignment legend"/>
            <p:cNvSpPr txBox="1"/>
            <p:nvPr/>
          </p:nvSpPr>
          <p:spPr>
            <a:xfrm>
              <a:off x="14157960" y="6903415"/>
              <a:ext cx="387971" cy="22326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58" b="1" i="0" lang="en-US" dirty="0">
                  <a:solidFill>
                    <a:srgbClr val="96999D"/>
                  </a:solidFill>
                  <a:latin typeface="Noto Sans SemiCondensed"/>
                  <a:ea typeface="Noto Sans SemiCondensed"/>
                  <a:cs typeface="Noto Sans SemiCondensed"/>
                </a:rPr>
                <a:t>Align</a:t>
              </a:r>
            </a:p>
          </p:txBody>
        </p:sp>
        <p:sp>
          <p:nvSpPr>
            <p:cNvPr id="200" name="TJP title"/>
            <p:cNvSpPr txBox="1"/>
            <p:nvPr/>
          </p:nvSpPr>
          <p:spPr>
            <a:xfrm>
              <a:off x="91440" y="7040194"/>
              <a:ext cx="8033861" cy="29169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54" b="1" i="0" lang="en-US" dirty="0">
                  <a:solidFill>
                    <a:srgbClr val="4F9861"/>
                  </a:solidFill>
                  <a:latin typeface="Noto Sans SemiCondensed"/>
                  <a:ea typeface="Noto Sans SemiCondensed"/>
                  <a:cs typeface="Noto Sans SemiCondensed"/>
                </a:rPr>
                <a:t>Task-related Joint-embedding Pre-training (TJP) on Multi-head Hierarchy Mamba2 (MHM)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Orochi Versatile Biomedical Image Processo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16100" cy="7246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Orochi — Versatile Biomedical Image Processor</dc:title>
  <dc:subject>Editable reconstruction of the supplied reference diagram</dc:subject>
  <dc:creator/>
  <cp:keywords>Orochi, biomedical imaging, RMS, Mamba, editable</cp:keywords>
  <dc:description>Vector text, shapes, connectors, sampling windows and gradient; individual embedded raster image assets.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