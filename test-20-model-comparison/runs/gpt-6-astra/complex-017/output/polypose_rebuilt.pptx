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7721072" cy="110642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Reconstructed from the supplied reference. All labels, mathematical symbols, arrows, panel borders, camera geometry and vector diagrams are editable PowerPoint objects. Twelve scientific image crops are embedded independently. Canvas: 1938 × 1210 reference pixels. Office fonts: Calibri, Times New Roman, Cambria Math. Compatible preview fonts: Carlito, Liberation Serif, Latin Modern Math.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tage A dashed boundary" descr="Stage A dashed boundary"/>
          <p:cNvSpPr/>
          <p:nvPr/>
        </p:nvSpPr>
        <p:spPr>
          <a:xfrm>
            <a:off x="82296" y="155448"/>
            <a:ext cx="17574768" cy="4690872"/>
          </a:xfrm>
          <a:prstGeom prst="roundRect">
            <a:avLst>
              <a:gd name="adj" fmla="val 2534"/>
            </a:avLst>
          </a:prstGeom>
          <a:noFill/>
          <a:ln w="29260" cap="flat">
            <a:solidFill>
              <a:srgbClr val="929695"/>
            </a:solidFill>
            <a:custDash>
              <a:ds d="218750" sp="218750"/>
            </a:custDash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tage B dashed boundary" descr="Stage B dashed boundary"/>
          <p:cNvSpPr/>
          <p:nvPr/>
        </p:nvSpPr>
        <p:spPr>
          <a:xfrm>
            <a:off x="82296" y="5093208"/>
            <a:ext cx="17574768" cy="6062472"/>
          </a:xfrm>
          <a:prstGeom prst="roundRect">
            <a:avLst>
              <a:gd name="adj" fmla="val 1960"/>
            </a:avLst>
          </a:prstGeom>
          <a:noFill/>
          <a:ln w="29260" cap="flat">
            <a:solidFill>
              <a:srgbClr val="929695"/>
            </a:solidFill>
            <a:custDash>
              <a:ds d="218750" sp="218750"/>
            </a:custDash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ge A title 1" descr="Stage A title 1"/>
          <p:cNvSpPr txBox="1"/>
          <p:nvPr/>
        </p:nvSpPr>
        <p:spPr>
          <a:xfrm>
            <a:off x="137160" y="228600"/>
            <a:ext cx="1538192" cy="4677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76" b="1" i="0"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(A) Stage 1:</a:t>
            </a:r>
          </a:p>
        </p:txBody>
      </p:sp>
      <p:sp>
        <p:nvSpPr>
          <p:cNvPr id="5" name="Stage A title 2" descr="Stage A title 2"/>
          <p:cNvSpPr txBox="1"/>
          <p:nvPr/>
        </p:nvSpPr>
        <p:spPr>
          <a:xfrm>
            <a:off x="1565624" y="228600"/>
            <a:ext cx="2530516" cy="4677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76" b="0" i="0"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Estimate the pose (</a:t>
            </a:r>
          </a:p>
        </p:txBody>
      </p:sp>
      <p:sp>
        <p:nvSpPr>
          <p:cNvPr id="6" name="Stage A title pose Pi" descr="Stage A title pose Pi"/>
          <p:cNvSpPr txBox="1"/>
          <p:nvPr/>
        </p:nvSpPr>
        <p:spPr>
          <a:xfrm>
            <a:off x="3986413" y="210312"/>
            <a:ext cx="358659" cy="4960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20" b="1" i="0"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Π</a:t>
            </a:r>
          </a:p>
        </p:txBody>
      </p:sp>
      <p:sp>
        <p:nvSpPr>
          <p:cNvPr id="7" name="Stage A title pose estimate" descr="Stage A title pose estimate"/>
          <p:cNvSpPr/>
          <p:nvPr/>
        </p:nvSpPr>
        <p:spPr>
          <a:xfrm>
            <a:off x="4067673" y="261518"/>
            <a:ext cx="86411" cy="36576"/>
          </a:xfrm>
          <a:custGeom>
            <a:avLst/>
            <a:gdLst/>
            <a:ahLst/>
            <a:cxnLst/>
            <a:rect l="0" t="0" r="r" b="b"/>
            <a:pathLst>
              <a:path w="9450" h="4000" fill="none" stroke="1" extrusionOk="0">
                <a:moveTo>
                  <a:pt x="0" y="4000"/>
                </a:moveTo>
                <a:lnTo>
                  <a:pt x="4725" y="0"/>
                </a:lnTo>
                <a:lnTo>
                  <a:pt x="9450" y="4000"/>
                </a:lnTo>
              </a:path>
            </a:pathLst>
          </a:custGeom>
          <a:noFill/>
          <a:ln w="15544" cap="flat">
            <a:solidFill>
              <a:srgbClr val="000000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ge A title remainder" descr="Stage A title remainder"/>
          <p:cNvSpPr txBox="1"/>
          <p:nvPr/>
        </p:nvSpPr>
        <p:spPr>
          <a:xfrm>
            <a:off x="4235344" y="228600"/>
            <a:ext cx="2662276" cy="4677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76" b="0" i="0"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) of each X-ray image</a:t>
            </a:r>
          </a:p>
        </p:txBody>
      </p:sp>
      <p:sp>
        <p:nvSpPr>
          <p:cNvPr id="9" name="Flow legend" descr="Flow legend"/>
          <p:cNvSpPr/>
          <p:nvPr/>
        </p:nvSpPr>
        <p:spPr>
          <a:xfrm>
            <a:off x="7141464" y="228600"/>
            <a:ext cx="4453128" cy="393192"/>
          </a:xfrm>
          <a:prstGeom prst="roundRect">
            <a:avLst>
              <a:gd name="adj" fmla="val 27906"/>
            </a:avLst>
          </a:prstGeom>
          <a:solidFill>
            <a:srgbClr val="FFFFFF"/>
          </a:solidFill>
          <a:ln w="24688" cap="flat">
            <a:solidFill>
              <a:srgbClr val="000000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egend operation flow" descr="Legend operation flow"/>
          <p:cNvSpPr/>
          <p:nvPr/>
        </p:nvSpPr>
        <p:spPr>
          <a:xfrm>
            <a:off x="7242048" y="350490"/>
            <a:ext cx="356616" cy="140269"/>
          </a:xfrm>
          <a:custGeom>
            <a:avLst/>
            <a:gdLst/>
            <a:ahLst/>
            <a:cxnLst/>
            <a:rect l="0" t="0" r="r" b="b"/>
            <a:pathLst>
              <a:path w="39000" h="15340" fill="none" stroke="1" extrusionOk="0">
                <a:moveTo>
                  <a:pt x="0" y="7670"/>
                </a:moveTo>
                <a:lnTo>
                  <a:pt x="39000" y="7670"/>
                </a:lnTo>
                <a:moveTo>
                  <a:pt x="26000" y="0"/>
                </a:moveTo>
                <a:lnTo>
                  <a:pt x="39000" y="7670"/>
                </a:lnTo>
                <a:lnTo>
                  <a:pt x="26000" y="15340"/>
                </a:lnTo>
              </a:path>
            </a:pathLst>
          </a:custGeom>
          <a:noFill/>
          <a:ln w="36576" cap="flat">
            <a:solidFill>
              <a:srgbClr val="00A7F5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peration flow label" descr="Operation flow label"/>
          <p:cNvSpPr txBox="1"/>
          <p:nvPr/>
        </p:nvSpPr>
        <p:spPr>
          <a:xfrm>
            <a:off x="7671816" y="246888"/>
            <a:ext cx="1668066" cy="396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0" i="0"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Operation flow</a:t>
            </a:r>
          </a:p>
        </p:txBody>
      </p:sp>
      <p:sp>
        <p:nvSpPr>
          <p:cNvPr id="12" name="Legend gradient flow" descr="Legend gradient flow"/>
          <p:cNvSpPr/>
          <p:nvPr/>
        </p:nvSpPr>
        <p:spPr>
          <a:xfrm>
            <a:off x="9546336" y="350490"/>
            <a:ext cx="365760" cy="140269"/>
          </a:xfrm>
          <a:custGeom>
            <a:avLst/>
            <a:gdLst/>
            <a:ahLst/>
            <a:cxnLst/>
            <a:rect l="0" t="0" r="r" b="b"/>
            <a:pathLst>
              <a:path w="40000" h="15340" fill="none" stroke="1" extrusionOk="0">
                <a:moveTo>
                  <a:pt x="0" y="7670"/>
                </a:moveTo>
                <a:lnTo>
                  <a:pt x="40000" y="7670"/>
                </a:lnTo>
                <a:moveTo>
                  <a:pt x="27000" y="0"/>
                </a:moveTo>
                <a:lnTo>
                  <a:pt x="40000" y="7670"/>
                </a:lnTo>
                <a:lnTo>
                  <a:pt x="27000" y="15340"/>
                </a:lnTo>
              </a:path>
            </a:pathLst>
          </a:custGeom>
          <a:noFill/>
          <a:ln w="36576" cap="flat">
            <a:solidFill>
              <a:srgbClr val="FF7300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Gradient flow label" descr="Gradient flow label"/>
          <p:cNvSpPr txBox="1"/>
          <p:nvPr/>
        </p:nvSpPr>
        <p:spPr>
          <a:xfrm>
            <a:off x="9985248" y="246888"/>
            <a:ext cx="1526934" cy="396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0" i="0"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Gradient flow</a:t>
            </a:r>
          </a:p>
        </p:txBody>
      </p:sp>
      <p:sp>
        <p:nvSpPr>
          <p:cNvPr id="14" name="Extract structure operation" descr="Extract structure operation"/>
          <p:cNvSpPr/>
          <p:nvPr/>
        </p:nvSpPr>
        <p:spPr>
          <a:xfrm>
            <a:off x="3840480" y="2615184"/>
            <a:ext cx="2176272" cy="1441026"/>
          </a:xfrm>
          <a:custGeom>
            <a:avLst/>
            <a:gdLst/>
            <a:ahLst/>
            <a:cxnLst/>
            <a:rect l="0" t="0" r="r" b="b"/>
            <a:pathLst>
              <a:path w="238000" h="157593" fill="none" stroke="1" extrusionOk="0">
                <a:moveTo>
                  <a:pt x="0" y="0"/>
                </a:moveTo>
                <a:cubicBezTo>
                  <a:pt x="41000" y="106000"/>
                  <a:pt x="119000" y="134000"/>
                  <a:pt x="238000" y="150000"/>
                </a:cubicBezTo>
                <a:moveTo>
                  <a:pt x="222544" y="137724"/>
                </a:moveTo>
                <a:lnTo>
                  <a:pt x="238000" y="150000"/>
                </a:lnTo>
                <a:lnTo>
                  <a:pt x="219780" y="157593"/>
                </a:lnTo>
              </a:path>
            </a:pathLst>
          </a:custGeom>
          <a:noFill/>
          <a:ln w="45719" cap="flat">
            <a:solidFill>
              <a:srgbClr val="00A7F5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reoperative CT volume" descr="Preoperative CT volum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841248"/>
            <a:ext cx="3858768" cy="3877056"/>
          </a:xfrm>
          <a:prstGeom prst="rect">
            <a:avLst/>
          </a:prstGeom>
        </p:spPr>
      </p:pic>
      <p:pic>
        <p:nvPicPr>
          <p:cNvPr id="16" name="Extracted anchor structure and projection planes" descr="Extracted anchor structure and projection plan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14984"/>
            <a:ext cx="3986784" cy="2990088"/>
          </a:xfrm>
          <a:prstGeom prst="rect">
            <a:avLst/>
          </a:prstGeom>
        </p:spPr>
      </p:pic>
      <p:sp>
        <p:nvSpPr>
          <p:cNvPr id="17" name="CT caption 1" descr="CT caption 1"/>
          <p:cNvSpPr txBox="1"/>
          <p:nvPr/>
        </p:nvSpPr>
        <p:spPr>
          <a:xfrm>
            <a:off x="2048256" y="4443984"/>
            <a:ext cx="1895623" cy="396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0" i="0"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Preoperative CT (</a:t>
            </a:r>
          </a:p>
        </p:txBody>
      </p:sp>
      <p:sp>
        <p:nvSpPr>
          <p:cNvPr id="18" name="CT caption 2" descr="CT caption 2"/>
          <p:cNvSpPr txBox="1"/>
          <p:nvPr/>
        </p:nvSpPr>
        <p:spPr>
          <a:xfrm>
            <a:off x="3834151" y="4443984"/>
            <a:ext cx="294623" cy="396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</a:t>
            </a:r>
          </a:p>
        </p:txBody>
      </p:sp>
      <p:sp>
        <p:nvSpPr>
          <p:cNvPr id="19" name="CT caption 3" descr="CT caption 3"/>
          <p:cNvSpPr txBox="1"/>
          <p:nvPr/>
        </p:nvSpPr>
        <p:spPr>
          <a:xfrm>
            <a:off x="4019045" y="4443984"/>
            <a:ext cx="187366" cy="396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0" i="0"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)</a:t>
            </a:r>
          </a:p>
        </p:txBody>
      </p:sp>
      <p:sp>
        <p:nvSpPr>
          <p:cNvPr id="20" name="Extraction label" descr="Extraction label"/>
          <p:cNvSpPr txBox="1"/>
          <p:nvPr/>
        </p:nvSpPr>
        <p:spPr>
          <a:xfrm>
            <a:off x="6099048" y="3803904"/>
            <a:ext cx="1901095" cy="4110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88" b="0" i="0"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Extract structure</a:t>
            </a:r>
          </a:p>
        </p:txBody>
      </p:sp>
      <p:sp>
        <p:nvSpPr>
          <p:cNvPr id="21" name="Extraction anchor S" descr="Extraction anchor S"/>
          <p:cNvSpPr txBox="1"/>
          <p:nvPr/>
        </p:nvSpPr>
        <p:spPr>
          <a:xfrm>
            <a:off x="6446520" y="4059936"/>
            <a:ext cx="267376" cy="4393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32" b="1" i="0"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22" name="Extraction anchor subscript" descr="Extraction anchor subscript"/>
          <p:cNvSpPr txBox="1"/>
          <p:nvPr/>
        </p:nvSpPr>
        <p:spPr>
          <a:xfrm>
            <a:off x="6604168" y="4233672"/>
            <a:ext cx="582401" cy="269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anchor</a:t>
            </a:r>
          </a:p>
        </p:txBody>
      </p:sp>
      <p:sp>
        <p:nvSpPr>
          <p:cNvPr id="23" name="Extraction product" descr="Extraction product"/>
          <p:cNvSpPr txBox="1"/>
          <p:nvPr/>
        </p:nvSpPr>
        <p:spPr>
          <a:xfrm>
            <a:off x="7123176" y="4096512"/>
            <a:ext cx="301809" cy="38267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3" b="0" i="0" lang="en-US" dirty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⊙</a:t>
            </a:r>
          </a:p>
        </p:txBody>
      </p:sp>
      <p:sp>
        <p:nvSpPr>
          <p:cNvPr id="24" name="Extraction V" descr="Extraction V"/>
          <p:cNvSpPr txBox="1"/>
          <p:nvPr/>
        </p:nvSpPr>
        <p:spPr>
          <a:xfrm>
            <a:off x="7388352" y="4059936"/>
            <a:ext cx="314439" cy="4393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32" b="1" i="0"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</a:t>
            </a:r>
          </a:p>
        </p:txBody>
      </p:sp>
      <p:sp>
        <p:nvSpPr>
          <p:cNvPr id="25" name="Camera 1 forward" descr="Camera 1 forward"/>
          <p:cNvSpPr/>
          <p:nvPr/>
        </p:nvSpPr>
        <p:spPr>
          <a:xfrm>
            <a:off x="8961120" y="1568745"/>
            <a:ext cx="2249424" cy="2591775"/>
          </a:xfrm>
          <a:custGeom>
            <a:avLst/>
            <a:gdLst/>
            <a:ahLst/>
            <a:cxnLst/>
            <a:rect l="0" t="0" r="r" b="b"/>
            <a:pathLst>
              <a:path w="246000" h="283440" fill="none" stroke="1" extrusionOk="0">
                <a:moveTo>
                  <a:pt x="0" y="283440"/>
                </a:moveTo>
                <a:lnTo>
                  <a:pt x="0" y="9440"/>
                </a:lnTo>
                <a:lnTo>
                  <a:pt x="246000" y="9440"/>
                </a:lnTo>
                <a:moveTo>
                  <a:pt x="230000" y="0"/>
                </a:moveTo>
                <a:lnTo>
                  <a:pt x="246000" y="9440"/>
                </a:lnTo>
                <a:lnTo>
                  <a:pt x="230000" y="18880"/>
                </a:lnTo>
              </a:path>
            </a:pathLst>
          </a:custGeom>
          <a:noFill/>
          <a:ln w="42062" cap="flat">
            <a:solidFill>
              <a:srgbClr val="00A7F5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mera 1 gradient" descr="Camera 1 gradient"/>
          <p:cNvSpPr/>
          <p:nvPr/>
        </p:nvSpPr>
        <p:spPr>
          <a:xfrm>
            <a:off x="9021105" y="1783080"/>
            <a:ext cx="2207727" cy="2359152"/>
          </a:xfrm>
          <a:custGeom>
            <a:avLst/>
            <a:gdLst/>
            <a:ahLst/>
            <a:cxnLst/>
            <a:rect l="0" t="0" r="r" b="b"/>
            <a:pathLst>
              <a:path w="241440" h="258000" fill="none" stroke="1" extrusionOk="0">
                <a:moveTo>
                  <a:pt x="241440" y="0"/>
                </a:moveTo>
                <a:lnTo>
                  <a:pt x="9440" y="0"/>
                </a:lnTo>
                <a:lnTo>
                  <a:pt x="9440" y="258000"/>
                </a:lnTo>
                <a:moveTo>
                  <a:pt x="18880" y="242000"/>
                </a:moveTo>
                <a:lnTo>
                  <a:pt x="9440" y="258000"/>
                </a:lnTo>
                <a:lnTo>
                  <a:pt x="0" y="242000"/>
                </a:lnTo>
              </a:path>
            </a:pathLst>
          </a:custGeom>
          <a:noFill/>
          <a:ln w="42062" cap="flat">
            <a:solidFill>
              <a:srgbClr val="FF7300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amera 2 forward" descr="Camera 2 forward"/>
          <p:cNvSpPr/>
          <p:nvPr/>
        </p:nvSpPr>
        <p:spPr>
          <a:xfrm>
            <a:off x="10479024" y="3479841"/>
            <a:ext cx="740664" cy="470367"/>
          </a:xfrm>
          <a:custGeom>
            <a:avLst/>
            <a:gdLst/>
            <a:ahLst/>
            <a:cxnLst/>
            <a:rect l="0" t="0" r="r" b="b"/>
            <a:pathLst>
              <a:path w="81000" h="51440" fill="none" stroke="1" extrusionOk="0">
                <a:moveTo>
                  <a:pt x="0" y="51440"/>
                </a:moveTo>
                <a:lnTo>
                  <a:pt x="0" y="9440"/>
                </a:lnTo>
                <a:lnTo>
                  <a:pt x="81000" y="9440"/>
                </a:lnTo>
                <a:moveTo>
                  <a:pt x="65000" y="0"/>
                </a:moveTo>
                <a:lnTo>
                  <a:pt x="81000" y="9440"/>
                </a:lnTo>
                <a:lnTo>
                  <a:pt x="65000" y="18880"/>
                </a:lnTo>
              </a:path>
            </a:pathLst>
          </a:custGeom>
          <a:noFill/>
          <a:ln w="42062" cap="flat">
            <a:solidFill>
              <a:srgbClr val="00A7F5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amera 2 gradient" descr="Camera 2 gradient"/>
          <p:cNvSpPr/>
          <p:nvPr/>
        </p:nvSpPr>
        <p:spPr>
          <a:xfrm>
            <a:off x="10548153" y="3694176"/>
            <a:ext cx="680679" cy="219456"/>
          </a:xfrm>
          <a:custGeom>
            <a:avLst/>
            <a:gdLst/>
            <a:ahLst/>
            <a:cxnLst/>
            <a:rect l="0" t="0" r="r" b="b"/>
            <a:pathLst>
              <a:path w="74440" h="24000" fill="none" stroke="1" extrusionOk="0">
                <a:moveTo>
                  <a:pt x="74440" y="0"/>
                </a:moveTo>
                <a:lnTo>
                  <a:pt x="9440" y="0"/>
                </a:lnTo>
                <a:lnTo>
                  <a:pt x="9440" y="24000"/>
                </a:lnTo>
                <a:moveTo>
                  <a:pt x="18880" y="8000"/>
                </a:moveTo>
                <a:lnTo>
                  <a:pt x="9440" y="24000"/>
                </a:lnTo>
                <a:lnTo>
                  <a:pt x="0" y="8000"/>
                </a:lnTo>
              </a:path>
            </a:pathLst>
          </a:custGeom>
          <a:noFill/>
          <a:ln w="42062" cap="flat">
            <a:solidFill>
              <a:srgbClr val="FF7300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amera 2 ray, left visible section" descr="Camera 2 ray, left visible section"/>
          <p:cNvSpPr/>
          <p:nvPr/>
        </p:nvSpPr>
        <p:spPr>
          <a:xfrm>
            <a:off x="5650992" y="2532888"/>
            <a:ext cx="658368" cy="210312"/>
          </a:xfrm>
          <a:custGeom>
            <a:avLst/>
            <a:gdLst/>
            <a:ahLst/>
            <a:cxnLst/>
            <a:rect l="0" t="0" r="r" b="b"/>
            <a:pathLst>
              <a:path w="72000" h="23000" fill="none" stroke="1" extrusionOk="0">
                <a:moveTo>
                  <a:pt x="0" y="0"/>
                </a:moveTo>
                <a:lnTo>
                  <a:pt x="72000" y="23000"/>
                </a:lnTo>
              </a:path>
            </a:pathLst>
          </a:custGeom>
          <a:noFill/>
          <a:ln w="27432" cap="flat">
            <a:solidFill>
              <a:srgbClr val="F45CB4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amera 2 ray, right visible section" descr="Camera 2 ray, right visible section"/>
          <p:cNvSpPr/>
          <p:nvPr/>
        </p:nvSpPr>
        <p:spPr>
          <a:xfrm>
            <a:off x="6986016" y="2953512"/>
            <a:ext cx="4206240" cy="1325880"/>
          </a:xfrm>
          <a:custGeom>
            <a:avLst/>
            <a:gdLst/>
            <a:ahLst/>
            <a:cxnLst/>
            <a:rect l="0" t="0" r="r" b="b"/>
            <a:pathLst>
              <a:path w="460000" h="145000" fill="none" stroke="1" extrusionOk="0">
                <a:moveTo>
                  <a:pt x="0" y="0"/>
                </a:moveTo>
                <a:lnTo>
                  <a:pt x="460000" y="145000"/>
                </a:lnTo>
              </a:path>
            </a:pathLst>
          </a:custGeom>
          <a:noFill/>
          <a:ln w="24688" cap="flat">
            <a:solidFill>
              <a:srgbClr val="F45CB4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amera 1 ray" descr="Camera 1 ray"/>
          <p:cNvSpPr/>
          <p:nvPr/>
        </p:nvSpPr>
        <p:spPr>
          <a:xfrm>
            <a:off x="7863840" y="2990088"/>
            <a:ext cx="1389888" cy="1600200"/>
          </a:xfrm>
          <a:custGeom>
            <a:avLst/>
            <a:gdLst/>
            <a:ahLst/>
            <a:cxnLst/>
            <a:rect l="0" t="0" r="r" b="b"/>
            <a:pathLst>
              <a:path w="152000" h="175000" fill="none" stroke="1" extrusionOk="0">
                <a:moveTo>
                  <a:pt x="0" y="0"/>
                </a:moveTo>
                <a:lnTo>
                  <a:pt x="152000" y="175000"/>
                </a:lnTo>
              </a:path>
            </a:pathLst>
          </a:custGeom>
          <a:noFill/>
          <a:ln w="20116" cap="flat">
            <a:solidFill>
              <a:srgbClr val="F45CB4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amera 1 face" descr="Camera 1 face"/>
          <p:cNvSpPr/>
          <p:nvPr/>
        </p:nvSpPr>
        <p:spPr>
          <a:xfrm>
            <a:off x="8897112" y="4160520"/>
            <a:ext cx="402336" cy="402336"/>
          </a:xfrm>
          <a:custGeom>
            <a:avLst/>
            <a:gdLst/>
            <a:ahLst/>
            <a:cxnLst/>
            <a:rect l="0" t="0" r="r" b="b"/>
            <a:pathLst>
              <a:path w="44000" h="44000" fill="norm" stroke="1" extrusionOk="0">
                <a:moveTo>
                  <a:pt x="0" y="0"/>
                </a:moveTo>
                <a:lnTo>
                  <a:pt x="34000" y="0"/>
                </a:lnTo>
                <a:lnTo>
                  <a:pt x="44000" y="44000"/>
                </a:lnTo>
                <a:lnTo>
                  <a:pt x="0" y="34000"/>
                </a:lnTo>
                <a:lnTo>
                  <a:pt x="0" y="0"/>
                </a:lnTo>
                <a:close/>
              </a:path>
            </a:pathLst>
          </a:custGeom>
          <a:solidFill>
            <a:srgbClr val="768A8C"/>
          </a:solidFill>
          <a:ln w="9144" cap="flat">
            <a:solidFill>
              <a:srgbClr val="4B5E6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amera 1 side" descr="Camera 1 side"/>
          <p:cNvSpPr/>
          <p:nvPr/>
        </p:nvSpPr>
        <p:spPr>
          <a:xfrm>
            <a:off x="8897112" y="4160520"/>
            <a:ext cx="402336" cy="402336"/>
          </a:xfrm>
          <a:custGeom>
            <a:avLst/>
            <a:gdLst/>
            <a:ahLst/>
            <a:cxnLst/>
            <a:rect l="0" t="0" r="r" b="b"/>
            <a:pathLst>
              <a:path w="44000" h="44000" fill="norm" stroke="1" extrusionOk="0">
                <a:moveTo>
                  <a:pt x="0" y="0"/>
                </a:moveTo>
                <a:lnTo>
                  <a:pt x="44000" y="44000"/>
                </a:lnTo>
                <a:lnTo>
                  <a:pt x="0" y="34000"/>
                </a:lnTo>
                <a:lnTo>
                  <a:pt x="0" y="0"/>
                </a:lnTo>
                <a:close/>
              </a:path>
            </a:pathLst>
          </a:custGeom>
          <a:solidFill>
            <a:srgbClr val="405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amera 1 top" descr="Camera 1 top"/>
          <p:cNvSpPr/>
          <p:nvPr/>
        </p:nvSpPr>
        <p:spPr>
          <a:xfrm>
            <a:off x="8897112" y="4160520"/>
            <a:ext cx="402336" cy="402336"/>
          </a:xfrm>
          <a:custGeom>
            <a:avLst/>
            <a:gdLst/>
            <a:ahLst/>
            <a:cxnLst/>
            <a:rect l="0" t="0" r="r" b="b"/>
            <a:pathLst>
              <a:path w="44000" h="44000" fill="norm" stroke="1" extrusionOk="0">
                <a:moveTo>
                  <a:pt x="0" y="0"/>
                </a:moveTo>
                <a:lnTo>
                  <a:pt x="34000" y="0"/>
                </a:lnTo>
                <a:lnTo>
                  <a:pt x="44000" y="44000"/>
                </a:lnTo>
                <a:lnTo>
                  <a:pt x="0" y="0"/>
                </a:lnTo>
                <a:close/>
              </a:path>
            </a:pathLst>
          </a:custGeom>
          <a:solidFill>
            <a:srgbClr val="819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amera 2 face" descr="Camera 2 face"/>
          <p:cNvSpPr/>
          <p:nvPr/>
        </p:nvSpPr>
        <p:spPr>
          <a:xfrm>
            <a:off x="10415016" y="3904488"/>
            <a:ext cx="786384" cy="365760"/>
          </a:xfrm>
          <a:custGeom>
            <a:avLst/>
            <a:gdLst/>
            <a:ahLst/>
            <a:cxnLst/>
            <a:rect l="0" t="0" r="r" b="b"/>
            <a:pathLst>
              <a:path w="86000" h="40000" fill="norm" stroke="1" extrusionOk="0">
                <a:moveTo>
                  <a:pt x="0" y="5000"/>
                </a:moveTo>
                <a:lnTo>
                  <a:pt x="30000" y="0"/>
                </a:lnTo>
                <a:lnTo>
                  <a:pt x="86000" y="40000"/>
                </a:lnTo>
                <a:lnTo>
                  <a:pt x="1000" y="37000"/>
                </a:lnTo>
                <a:lnTo>
                  <a:pt x="0" y="5000"/>
                </a:lnTo>
                <a:close/>
              </a:path>
            </a:pathLst>
          </a:custGeom>
          <a:solidFill>
            <a:srgbClr val="748C8F"/>
          </a:solidFill>
          <a:ln w="9144" cap="flat">
            <a:solidFill>
              <a:srgbClr val="4B5E6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amera 2 side" descr="Camera 2 side"/>
          <p:cNvSpPr/>
          <p:nvPr/>
        </p:nvSpPr>
        <p:spPr>
          <a:xfrm>
            <a:off x="10415016" y="3950208"/>
            <a:ext cx="786384" cy="320040"/>
          </a:xfrm>
          <a:custGeom>
            <a:avLst/>
            <a:gdLst/>
            <a:ahLst/>
            <a:cxnLst/>
            <a:rect l="0" t="0" r="r" b="b"/>
            <a:pathLst>
              <a:path w="86000" h="35000" fill="norm" stroke="1" extrusionOk="0">
                <a:moveTo>
                  <a:pt x="0" y="0"/>
                </a:moveTo>
                <a:lnTo>
                  <a:pt x="86000" y="35000"/>
                </a:lnTo>
                <a:lnTo>
                  <a:pt x="1000" y="32000"/>
                </a:lnTo>
                <a:lnTo>
                  <a:pt x="0" y="0"/>
                </a:lnTo>
                <a:close/>
              </a:path>
            </a:pathLst>
          </a:custGeom>
          <a:solidFill>
            <a:srgbClr val="506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amera 2 top" descr="Camera 2 top"/>
          <p:cNvSpPr/>
          <p:nvPr/>
        </p:nvSpPr>
        <p:spPr>
          <a:xfrm>
            <a:off x="10415016" y="3904488"/>
            <a:ext cx="786384" cy="365760"/>
          </a:xfrm>
          <a:custGeom>
            <a:avLst/>
            <a:gdLst/>
            <a:ahLst/>
            <a:cxnLst/>
            <a:rect l="0" t="0" r="r" b="b"/>
            <a:pathLst>
              <a:path w="86000" h="40000" fill="norm" stroke="1" extrusionOk="0">
                <a:moveTo>
                  <a:pt x="0" y="5000"/>
                </a:moveTo>
                <a:lnTo>
                  <a:pt x="30000" y="0"/>
                </a:lnTo>
                <a:lnTo>
                  <a:pt x="86000" y="40000"/>
                </a:lnTo>
                <a:lnTo>
                  <a:pt x="0" y="5000"/>
                </a:lnTo>
                <a:close/>
              </a:path>
            </a:pathLst>
          </a:custGeom>
          <a:solidFill>
            <a:srgbClr val="7F9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amera 1 pose trajectory" descr="Camera 1 pose trajectory"/>
          <p:cNvSpPr/>
          <p:nvPr/>
        </p:nvSpPr>
        <p:spPr>
          <a:xfrm>
            <a:off x="8080290" y="4361688"/>
            <a:ext cx="1173438" cy="331800"/>
          </a:xfrm>
          <a:custGeom>
            <a:avLst/>
            <a:gdLst/>
            <a:ahLst/>
            <a:cxnLst/>
            <a:rect l="0" t="0" r="r" b="b"/>
            <a:pathLst>
              <a:path w="128329" h="36286" fill="none" stroke="1" extrusionOk="0">
                <a:moveTo>
                  <a:pt x="3329" y="0"/>
                </a:moveTo>
                <a:cubicBezTo>
                  <a:pt x="-8671" y="34000"/>
                  <a:pt x="15329" y="15000"/>
                  <a:pt x="19329" y="26000"/>
                </a:cubicBezTo>
                <a:cubicBezTo>
                  <a:pt x="23329" y="49000"/>
                  <a:pt x="38329" y="26000"/>
                  <a:pt x="47329" y="21000"/>
                </a:cubicBezTo>
                <a:cubicBezTo>
                  <a:pt x="69329" y="8000"/>
                  <a:pt x="86329" y="32000"/>
                  <a:pt x="100329" y="36000"/>
                </a:cubicBezTo>
                <a:cubicBezTo>
                  <a:pt x="108329" y="38000"/>
                  <a:pt x="120329" y="29000"/>
                  <a:pt x="128329" y="25000"/>
                </a:cubicBezTo>
              </a:path>
            </a:pathLst>
          </a:custGeom>
          <a:noFill/>
          <a:ln w="36576" cap="flat">
            <a:solidFill>
              <a:srgbClr val="1CEC00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amera 1 trajectory start" descr="Camera 1 trajectory start"/>
          <p:cNvSpPr/>
          <p:nvPr/>
        </p:nvSpPr>
        <p:spPr>
          <a:xfrm>
            <a:off x="8046720" y="4297680"/>
            <a:ext cx="128016" cy="128016"/>
          </a:xfrm>
          <a:prstGeom prst="ellipse">
            <a:avLst/>
          </a:prstGeom>
          <a:solidFill>
            <a:srgbClr val="1CE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amera 1 trajectory end" descr="Camera 1 trajectory end"/>
          <p:cNvSpPr/>
          <p:nvPr/>
        </p:nvSpPr>
        <p:spPr>
          <a:xfrm>
            <a:off x="9189720" y="4526280"/>
            <a:ext cx="128016" cy="128016"/>
          </a:xfrm>
          <a:prstGeom prst="ellipse">
            <a:avLst/>
          </a:prstGeom>
          <a:solidFill>
            <a:srgbClr val="1CE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amera 2 pose trajectory" descr="Camera 2 pose trajectory"/>
          <p:cNvSpPr/>
          <p:nvPr/>
        </p:nvSpPr>
        <p:spPr>
          <a:xfrm>
            <a:off x="10488168" y="4279392"/>
            <a:ext cx="776846" cy="457630"/>
          </a:xfrm>
          <a:custGeom>
            <a:avLst/>
            <a:gdLst/>
            <a:ahLst/>
            <a:cxnLst/>
            <a:rect l="0" t="0" r="r" b="b"/>
            <a:pathLst>
              <a:path w="84957" h="50047" fill="none" stroke="1" extrusionOk="0">
                <a:moveTo>
                  <a:pt x="0" y="26000"/>
                </a:moveTo>
                <a:cubicBezTo>
                  <a:pt x="12000" y="34000"/>
                  <a:pt x="17000" y="57000"/>
                  <a:pt x="25000" y="44000"/>
                </a:cubicBezTo>
                <a:cubicBezTo>
                  <a:pt x="34000" y="30000"/>
                  <a:pt x="44000" y="64000"/>
                  <a:pt x="51000" y="43000"/>
                </a:cubicBezTo>
                <a:cubicBezTo>
                  <a:pt x="61000" y="13000"/>
                  <a:pt x="102000" y="60000"/>
                  <a:pt x="77000" y="42000"/>
                </a:cubicBezTo>
                <a:cubicBezTo>
                  <a:pt x="51000" y="25000"/>
                  <a:pt x="48000" y="0"/>
                  <a:pt x="78000" y="0"/>
                </a:cubicBezTo>
              </a:path>
            </a:pathLst>
          </a:custGeom>
          <a:noFill/>
          <a:ln w="36576" cap="flat">
            <a:solidFill>
              <a:srgbClr val="1CEC00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amera 2 trajectory start" descr="Camera 2 trajectory start"/>
          <p:cNvSpPr/>
          <p:nvPr/>
        </p:nvSpPr>
        <p:spPr>
          <a:xfrm>
            <a:off x="10424160" y="4453128"/>
            <a:ext cx="128016" cy="128016"/>
          </a:xfrm>
          <a:prstGeom prst="ellipse">
            <a:avLst/>
          </a:prstGeom>
          <a:solidFill>
            <a:srgbClr val="1CE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amera 2 trajectory end" descr="Camera 2 trajectory end"/>
          <p:cNvSpPr/>
          <p:nvPr/>
        </p:nvSpPr>
        <p:spPr>
          <a:xfrm>
            <a:off x="11137392" y="4215384"/>
            <a:ext cx="128016" cy="128016"/>
          </a:xfrm>
          <a:prstGeom prst="ellipse">
            <a:avLst/>
          </a:prstGeom>
          <a:solidFill>
            <a:srgbClr val="1CE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stimated camera 1 Pi" descr="Estimated camera 1 Pi"/>
          <p:cNvSpPr txBox="1"/>
          <p:nvPr/>
        </p:nvSpPr>
        <p:spPr>
          <a:xfrm>
            <a:off x="9372600" y="4297680"/>
            <a:ext cx="380005" cy="538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36" b="1" i="0"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Π</a:t>
            </a:r>
          </a:p>
        </p:txBody>
      </p:sp>
      <p:sp>
        <p:nvSpPr>
          <p:cNvPr id="45" name="Estimated camera 1 estimate" descr="Estimated camera 1 estimate"/>
          <p:cNvSpPr/>
          <p:nvPr/>
        </p:nvSpPr>
        <p:spPr>
          <a:xfrm>
            <a:off x="9460830" y="4353276"/>
            <a:ext cx="93817" cy="36576"/>
          </a:xfrm>
          <a:custGeom>
            <a:avLst/>
            <a:gdLst/>
            <a:ahLst/>
            <a:cxnLst/>
            <a:rect l="0" t="0" r="r" b="b"/>
            <a:pathLst>
              <a:path w="10260" h="4000" fill="none" stroke="1" extrusionOk="0">
                <a:moveTo>
                  <a:pt x="0" y="4000"/>
                </a:moveTo>
                <a:lnTo>
                  <a:pt x="5130" y="0"/>
                </a:lnTo>
                <a:lnTo>
                  <a:pt x="10260" y="4000"/>
                </a:lnTo>
              </a:path>
            </a:pathLst>
          </a:custGeom>
          <a:noFill/>
          <a:ln w="15544" cap="flat">
            <a:solidFill>
              <a:srgbClr val="000000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stimated camera 1 index" descr="Estimated camera 1 index"/>
          <p:cNvSpPr txBox="1"/>
          <p:nvPr/>
        </p:nvSpPr>
        <p:spPr>
          <a:xfrm>
            <a:off x="9642877" y="4507626"/>
            <a:ext cx="210312" cy="3123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6" b="0" i="0"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47" name="Estimated camera 2 Pi" descr="Estimated camera 2 Pi"/>
          <p:cNvSpPr txBox="1"/>
          <p:nvPr/>
        </p:nvSpPr>
        <p:spPr>
          <a:xfrm>
            <a:off x="11320272" y="4215384"/>
            <a:ext cx="380005" cy="538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36" b="1" i="0"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Π</a:t>
            </a:r>
          </a:p>
        </p:txBody>
      </p:sp>
      <p:sp>
        <p:nvSpPr>
          <p:cNvPr id="48" name="Estimated camera 2 estimate" descr="Estimated camera 2 estimate"/>
          <p:cNvSpPr/>
          <p:nvPr/>
        </p:nvSpPr>
        <p:spPr>
          <a:xfrm>
            <a:off x="11408502" y="4270980"/>
            <a:ext cx="93817" cy="36576"/>
          </a:xfrm>
          <a:custGeom>
            <a:avLst/>
            <a:gdLst/>
            <a:ahLst/>
            <a:cxnLst/>
            <a:rect l="0" t="0" r="r" b="b"/>
            <a:pathLst>
              <a:path w="10260" h="4000" fill="none" stroke="1" extrusionOk="0">
                <a:moveTo>
                  <a:pt x="0" y="4000"/>
                </a:moveTo>
                <a:lnTo>
                  <a:pt x="5130" y="0"/>
                </a:lnTo>
                <a:lnTo>
                  <a:pt x="10260" y="4000"/>
                </a:lnTo>
              </a:path>
            </a:pathLst>
          </a:custGeom>
          <a:noFill/>
          <a:ln w="15544" cap="flat">
            <a:solidFill>
              <a:srgbClr val="000000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stimated camera 2 index" descr="Estimated camera 2 index"/>
          <p:cNvSpPr txBox="1"/>
          <p:nvPr/>
        </p:nvSpPr>
        <p:spPr>
          <a:xfrm>
            <a:off x="11590549" y="4425330"/>
            <a:ext cx="210312" cy="3123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6" b="0" i="0"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50" name="Stage A renderer 1 output operation" descr="Stage A renderer 1 output operation"/>
          <p:cNvSpPr/>
          <p:nvPr/>
        </p:nvSpPr>
        <p:spPr>
          <a:xfrm>
            <a:off x="12289536" y="1568745"/>
            <a:ext cx="667512" cy="172639"/>
          </a:xfrm>
          <a:custGeom>
            <a:avLst/>
            <a:gdLst/>
            <a:ahLst/>
            <a:cxnLst/>
            <a:rect l="0" t="0" r="r" b="b"/>
            <a:pathLst>
              <a:path w="73000" h="18880" fill="none" stroke="1" extrusionOk="0">
                <a:moveTo>
                  <a:pt x="0" y="9440"/>
                </a:moveTo>
                <a:lnTo>
                  <a:pt x="73000" y="9440"/>
                </a:lnTo>
                <a:moveTo>
                  <a:pt x="57000" y="0"/>
                </a:moveTo>
                <a:lnTo>
                  <a:pt x="73000" y="9440"/>
                </a:lnTo>
                <a:lnTo>
                  <a:pt x="57000" y="18880"/>
                </a:lnTo>
              </a:path>
            </a:pathLst>
          </a:custGeom>
          <a:noFill/>
          <a:ln w="42062" cap="flat">
            <a:solidFill>
              <a:srgbClr val="00A7F5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Stage A renderer 1 output gradient" descr="Stage A renderer 1 output gradient"/>
          <p:cNvSpPr/>
          <p:nvPr/>
        </p:nvSpPr>
        <p:spPr>
          <a:xfrm>
            <a:off x="12289536" y="1696761"/>
            <a:ext cx="667512" cy="172639"/>
          </a:xfrm>
          <a:custGeom>
            <a:avLst/>
            <a:gdLst/>
            <a:ahLst/>
            <a:cxnLst/>
            <a:rect l="0" t="0" r="r" b="b"/>
            <a:pathLst>
              <a:path w="73000" h="18880" fill="none" stroke="1" extrusionOk="0">
                <a:moveTo>
                  <a:pt x="73000" y="9440"/>
                </a:moveTo>
                <a:lnTo>
                  <a:pt x="0" y="9440"/>
                </a:lnTo>
                <a:moveTo>
                  <a:pt x="16000" y="18880"/>
                </a:moveTo>
                <a:lnTo>
                  <a:pt x="0" y="9440"/>
                </a:lnTo>
                <a:lnTo>
                  <a:pt x="16000" y="0"/>
                </a:lnTo>
              </a:path>
            </a:pathLst>
          </a:custGeom>
          <a:noFill/>
          <a:ln w="42062" cap="flat">
            <a:solidFill>
              <a:srgbClr val="FF7300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Stage A image 1 comparison operation" descr="Stage A image 1 comparison operation"/>
          <p:cNvSpPr/>
          <p:nvPr/>
        </p:nvSpPr>
        <p:spPr>
          <a:xfrm>
            <a:off x="14923008" y="1568745"/>
            <a:ext cx="740664" cy="172639"/>
          </a:xfrm>
          <a:custGeom>
            <a:avLst/>
            <a:gdLst/>
            <a:ahLst/>
            <a:cxnLst/>
            <a:rect l="0" t="0" r="r" b="b"/>
            <a:pathLst>
              <a:path w="81000" h="18880" fill="none" stroke="1" extrusionOk="0">
                <a:moveTo>
                  <a:pt x="0" y="9440"/>
                </a:moveTo>
                <a:lnTo>
                  <a:pt x="81000" y="9440"/>
                </a:lnTo>
                <a:moveTo>
                  <a:pt x="65000" y="0"/>
                </a:moveTo>
                <a:lnTo>
                  <a:pt x="81000" y="9440"/>
                </a:lnTo>
                <a:lnTo>
                  <a:pt x="65000" y="18880"/>
                </a:lnTo>
              </a:path>
            </a:pathLst>
          </a:custGeom>
          <a:noFill/>
          <a:ln w="42062" cap="flat">
            <a:solidFill>
              <a:srgbClr val="00A7F5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Stage A image 1 comparison gradient" descr="Stage A image 1 comparison gradient"/>
          <p:cNvSpPr/>
          <p:nvPr/>
        </p:nvSpPr>
        <p:spPr>
          <a:xfrm>
            <a:off x="14923008" y="1696761"/>
            <a:ext cx="740664" cy="172639"/>
          </a:xfrm>
          <a:custGeom>
            <a:avLst/>
            <a:gdLst/>
            <a:ahLst/>
            <a:cxnLst/>
            <a:rect l="0" t="0" r="r" b="b"/>
            <a:pathLst>
              <a:path w="81000" h="18880" fill="none" stroke="1" extrusionOk="0">
                <a:moveTo>
                  <a:pt x="81000" y="9440"/>
                </a:moveTo>
                <a:lnTo>
                  <a:pt x="0" y="9440"/>
                </a:lnTo>
                <a:moveTo>
                  <a:pt x="16000" y="18880"/>
                </a:moveTo>
                <a:lnTo>
                  <a:pt x="0" y="9440"/>
                </a:lnTo>
                <a:lnTo>
                  <a:pt x="16000" y="0"/>
                </a:lnTo>
              </a:path>
            </a:pathLst>
          </a:custGeom>
          <a:noFill/>
          <a:ln w="42062" cap="flat">
            <a:solidFill>
              <a:srgbClr val="FF7300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Stage A renderer 2 output operation" descr="Stage A renderer 2 output operation"/>
          <p:cNvSpPr/>
          <p:nvPr/>
        </p:nvSpPr>
        <p:spPr>
          <a:xfrm>
            <a:off x="12289536" y="3479841"/>
            <a:ext cx="667512" cy="172639"/>
          </a:xfrm>
          <a:custGeom>
            <a:avLst/>
            <a:gdLst/>
            <a:ahLst/>
            <a:cxnLst/>
            <a:rect l="0" t="0" r="r" b="b"/>
            <a:pathLst>
              <a:path w="73000" h="18880" fill="none" stroke="1" extrusionOk="0">
                <a:moveTo>
                  <a:pt x="0" y="9440"/>
                </a:moveTo>
                <a:lnTo>
                  <a:pt x="73000" y="9440"/>
                </a:lnTo>
                <a:moveTo>
                  <a:pt x="57000" y="0"/>
                </a:moveTo>
                <a:lnTo>
                  <a:pt x="73000" y="9440"/>
                </a:lnTo>
                <a:lnTo>
                  <a:pt x="57000" y="18880"/>
                </a:lnTo>
              </a:path>
            </a:pathLst>
          </a:custGeom>
          <a:noFill/>
          <a:ln w="42062" cap="flat">
            <a:solidFill>
              <a:srgbClr val="00A7F5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Stage A renderer 2 output gradient" descr="Stage A renderer 2 output gradient"/>
          <p:cNvSpPr/>
          <p:nvPr/>
        </p:nvSpPr>
        <p:spPr>
          <a:xfrm>
            <a:off x="12289536" y="3607857"/>
            <a:ext cx="667512" cy="172639"/>
          </a:xfrm>
          <a:custGeom>
            <a:avLst/>
            <a:gdLst/>
            <a:ahLst/>
            <a:cxnLst/>
            <a:rect l="0" t="0" r="r" b="b"/>
            <a:pathLst>
              <a:path w="73000" h="18880" fill="none" stroke="1" extrusionOk="0">
                <a:moveTo>
                  <a:pt x="73000" y="9440"/>
                </a:moveTo>
                <a:lnTo>
                  <a:pt x="0" y="9440"/>
                </a:lnTo>
                <a:moveTo>
                  <a:pt x="16000" y="18880"/>
                </a:moveTo>
                <a:lnTo>
                  <a:pt x="0" y="9440"/>
                </a:lnTo>
                <a:lnTo>
                  <a:pt x="16000" y="0"/>
                </a:lnTo>
              </a:path>
            </a:pathLst>
          </a:custGeom>
          <a:noFill/>
          <a:ln w="42062" cap="flat">
            <a:solidFill>
              <a:srgbClr val="FF7300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Stage A image 2 comparison operation" descr="Stage A image 2 comparison operation"/>
          <p:cNvSpPr/>
          <p:nvPr/>
        </p:nvSpPr>
        <p:spPr>
          <a:xfrm>
            <a:off x="14923008" y="3479841"/>
            <a:ext cx="740664" cy="172639"/>
          </a:xfrm>
          <a:custGeom>
            <a:avLst/>
            <a:gdLst/>
            <a:ahLst/>
            <a:cxnLst/>
            <a:rect l="0" t="0" r="r" b="b"/>
            <a:pathLst>
              <a:path w="81000" h="18880" fill="none" stroke="1" extrusionOk="0">
                <a:moveTo>
                  <a:pt x="0" y="9440"/>
                </a:moveTo>
                <a:lnTo>
                  <a:pt x="81000" y="9440"/>
                </a:lnTo>
                <a:moveTo>
                  <a:pt x="65000" y="0"/>
                </a:moveTo>
                <a:lnTo>
                  <a:pt x="81000" y="9440"/>
                </a:lnTo>
                <a:lnTo>
                  <a:pt x="65000" y="18880"/>
                </a:lnTo>
              </a:path>
            </a:pathLst>
          </a:custGeom>
          <a:noFill/>
          <a:ln w="42062" cap="flat">
            <a:solidFill>
              <a:srgbClr val="00A7F5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Stage A image 2 comparison gradient" descr="Stage A image 2 comparison gradient"/>
          <p:cNvSpPr/>
          <p:nvPr/>
        </p:nvSpPr>
        <p:spPr>
          <a:xfrm>
            <a:off x="14923008" y="3607857"/>
            <a:ext cx="740664" cy="172639"/>
          </a:xfrm>
          <a:custGeom>
            <a:avLst/>
            <a:gdLst/>
            <a:ahLst/>
            <a:cxnLst/>
            <a:rect l="0" t="0" r="r" b="b"/>
            <a:pathLst>
              <a:path w="81000" h="18880" fill="none" stroke="1" extrusionOk="0">
                <a:moveTo>
                  <a:pt x="81000" y="9440"/>
                </a:moveTo>
                <a:lnTo>
                  <a:pt x="0" y="9440"/>
                </a:lnTo>
                <a:moveTo>
                  <a:pt x="16000" y="18880"/>
                </a:moveTo>
                <a:lnTo>
                  <a:pt x="0" y="9440"/>
                </a:lnTo>
                <a:lnTo>
                  <a:pt x="16000" y="0"/>
                </a:lnTo>
              </a:path>
            </a:pathLst>
          </a:custGeom>
          <a:noFill/>
          <a:ln w="42062" cap="flat">
            <a:solidFill>
              <a:srgbClr val="FF7300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Stage A view 1 projection" descr="Stage A view 1 projection"/>
          <p:cNvSpPr txBox="1"/>
          <p:nvPr/>
        </p:nvSpPr>
        <p:spPr>
          <a:xfrm>
            <a:off x="11338560" y="1005840"/>
            <a:ext cx="367875" cy="5244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64" b="0" i="0" lang="en-US" dirty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𝒫</a:t>
            </a:r>
          </a:p>
        </p:txBody>
      </p:sp>
      <p:sp>
        <p:nvSpPr>
          <p:cNvPr id="59" name="Stage A view 1 opening" descr="Stage A view 1 opening"/>
          <p:cNvSpPr txBox="1"/>
          <p:nvPr/>
        </p:nvSpPr>
        <p:spPr>
          <a:xfrm>
            <a:off x="11605851" y="1024128"/>
            <a:ext cx="216298" cy="4960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20" b="0" i="0"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</a:t>
            </a:r>
          </a:p>
        </p:txBody>
      </p:sp>
      <p:sp>
        <p:nvSpPr>
          <p:cNvPr id="60" name="Stage A view 1 Pi" descr="Stage A view 1 Pi"/>
          <p:cNvSpPr txBox="1"/>
          <p:nvPr/>
        </p:nvSpPr>
        <p:spPr>
          <a:xfrm>
            <a:off x="11712421" y="1014984"/>
            <a:ext cx="365774" cy="510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92" b="1" i="0"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Π</a:t>
            </a:r>
          </a:p>
        </p:txBody>
      </p:sp>
      <p:sp>
        <p:nvSpPr>
          <p:cNvPr id="61" name="Stage A view 1 estimate" descr="Stage A view 1 estimate"/>
          <p:cNvSpPr/>
          <p:nvPr/>
        </p:nvSpPr>
        <p:spPr>
          <a:xfrm>
            <a:off x="11796004" y="1067653"/>
            <a:ext cx="88880" cy="36576"/>
          </a:xfrm>
          <a:custGeom>
            <a:avLst/>
            <a:gdLst/>
            <a:ahLst/>
            <a:cxnLst/>
            <a:rect l="0" t="0" r="r" b="b"/>
            <a:pathLst>
              <a:path w="9720" h="4000" fill="none" stroke="1" extrusionOk="0">
                <a:moveTo>
                  <a:pt x="0" y="4000"/>
                </a:moveTo>
                <a:lnTo>
                  <a:pt x="4860" y="0"/>
                </a:lnTo>
                <a:lnTo>
                  <a:pt x="9720" y="4000"/>
                </a:lnTo>
              </a:path>
            </a:pathLst>
          </a:custGeom>
          <a:noFill/>
          <a:ln w="15544" cap="flat">
            <a:solidFill>
              <a:srgbClr val="000000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Stage A view 1 index" descr="Stage A view 1 index"/>
          <p:cNvSpPr txBox="1"/>
          <p:nvPr/>
        </p:nvSpPr>
        <p:spPr>
          <a:xfrm>
            <a:off x="11968467" y="1217249"/>
            <a:ext cx="205283" cy="2959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3" b="0" i="0"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63" name="Stage A view 1 closing" descr="Stage A view 1 closing"/>
          <p:cNvSpPr txBox="1"/>
          <p:nvPr/>
        </p:nvSpPr>
        <p:spPr>
          <a:xfrm>
            <a:off x="12073075" y="1024128"/>
            <a:ext cx="216298" cy="4960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20" b="0" i="0"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64" name="Stage A view 1 renderer box" descr="Stage A view 1 renderer box"/>
          <p:cNvSpPr/>
          <p:nvPr/>
        </p:nvSpPr>
        <p:spPr>
          <a:xfrm>
            <a:off x="11256264" y="1472184"/>
            <a:ext cx="1005840" cy="493776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22859" cap="flat">
            <a:solidFill>
              <a:srgbClr val="000000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Stage A view 1 renderer line 1" descr="Stage A view 1 renderer line 1"/>
          <p:cNvSpPr txBox="1"/>
          <p:nvPr/>
        </p:nvSpPr>
        <p:spPr>
          <a:xfrm>
            <a:off x="11435579" y="1508760"/>
            <a:ext cx="756937" cy="25511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6" b="0" i="1"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Diff. X-ray</a:t>
            </a:r>
          </a:p>
        </p:txBody>
      </p:sp>
      <p:sp>
        <p:nvSpPr>
          <p:cNvPr id="66" name="Stage A view 1 renderer line 2" descr="Stage A view 1 renderer line 2"/>
          <p:cNvSpPr txBox="1"/>
          <p:nvPr/>
        </p:nvSpPr>
        <p:spPr>
          <a:xfrm>
            <a:off x="11472034" y="1709928"/>
            <a:ext cx="684028" cy="25511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6" b="0" i="1"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renderer</a:t>
            </a:r>
          </a:p>
        </p:txBody>
      </p:sp>
      <p:sp>
        <p:nvSpPr>
          <p:cNvPr id="67" name="Stage A view 1 equation" descr="Stage A view 1 equation"/>
          <p:cNvSpPr txBox="1"/>
          <p:nvPr/>
        </p:nvSpPr>
        <p:spPr>
          <a:xfrm>
            <a:off x="11403818" y="1929384"/>
            <a:ext cx="820460" cy="425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0" i="0"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Eq. (3)</a:t>
            </a:r>
          </a:p>
        </p:txBody>
      </p:sp>
      <p:sp>
        <p:nvSpPr>
          <p:cNvPr id="68" name="Stage A view 2 projection" descr="Stage A view 2 projection"/>
          <p:cNvSpPr txBox="1"/>
          <p:nvPr/>
        </p:nvSpPr>
        <p:spPr>
          <a:xfrm>
            <a:off x="11338560" y="2916936"/>
            <a:ext cx="367875" cy="5244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64" b="0" i="0" lang="en-US" dirty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𝒫</a:t>
            </a:r>
          </a:p>
        </p:txBody>
      </p:sp>
      <p:sp>
        <p:nvSpPr>
          <p:cNvPr id="69" name="Stage A view 2 opening" descr="Stage A view 2 opening"/>
          <p:cNvSpPr txBox="1"/>
          <p:nvPr/>
        </p:nvSpPr>
        <p:spPr>
          <a:xfrm>
            <a:off x="11605851" y="2935224"/>
            <a:ext cx="216298" cy="4960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20" b="0" i="0"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</a:t>
            </a:r>
          </a:p>
        </p:txBody>
      </p:sp>
      <p:sp>
        <p:nvSpPr>
          <p:cNvPr id="70" name="Stage A view 2 Pi" descr="Stage A view 2 Pi"/>
          <p:cNvSpPr txBox="1"/>
          <p:nvPr/>
        </p:nvSpPr>
        <p:spPr>
          <a:xfrm>
            <a:off x="11712421" y="2926080"/>
            <a:ext cx="365774" cy="510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92" b="1" i="0"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Π</a:t>
            </a:r>
          </a:p>
        </p:txBody>
      </p:sp>
      <p:sp>
        <p:nvSpPr>
          <p:cNvPr id="71" name="Stage A view 2 estimate" descr="Stage A view 2 estimate"/>
          <p:cNvSpPr/>
          <p:nvPr/>
        </p:nvSpPr>
        <p:spPr>
          <a:xfrm>
            <a:off x="11796004" y="2978749"/>
            <a:ext cx="88880" cy="36576"/>
          </a:xfrm>
          <a:custGeom>
            <a:avLst/>
            <a:gdLst/>
            <a:ahLst/>
            <a:cxnLst/>
            <a:rect l="0" t="0" r="r" b="b"/>
            <a:pathLst>
              <a:path w="9720" h="4000" fill="none" stroke="1" extrusionOk="0">
                <a:moveTo>
                  <a:pt x="0" y="4000"/>
                </a:moveTo>
                <a:lnTo>
                  <a:pt x="4860" y="0"/>
                </a:lnTo>
                <a:lnTo>
                  <a:pt x="9720" y="4000"/>
                </a:lnTo>
              </a:path>
            </a:pathLst>
          </a:custGeom>
          <a:noFill/>
          <a:ln w="15544" cap="flat">
            <a:solidFill>
              <a:srgbClr val="000000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Stage A view 2 index" descr="Stage A view 2 index"/>
          <p:cNvSpPr txBox="1"/>
          <p:nvPr/>
        </p:nvSpPr>
        <p:spPr>
          <a:xfrm>
            <a:off x="11968467" y="3128345"/>
            <a:ext cx="205283" cy="2959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3" b="0" i="0"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73" name="Stage A view 2 closing" descr="Stage A view 2 closing"/>
          <p:cNvSpPr txBox="1"/>
          <p:nvPr/>
        </p:nvSpPr>
        <p:spPr>
          <a:xfrm>
            <a:off x="12073075" y="2935224"/>
            <a:ext cx="216298" cy="4960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20" b="0" i="0"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74" name="Stage A view 2 renderer box" descr="Stage A view 2 renderer box"/>
          <p:cNvSpPr/>
          <p:nvPr/>
        </p:nvSpPr>
        <p:spPr>
          <a:xfrm>
            <a:off x="11256264" y="3383280"/>
            <a:ext cx="1005840" cy="493776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22859" cap="flat">
            <a:solidFill>
              <a:srgbClr val="000000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Stage A view 2 renderer line 1" descr="Stage A view 2 renderer line 1"/>
          <p:cNvSpPr txBox="1"/>
          <p:nvPr/>
        </p:nvSpPr>
        <p:spPr>
          <a:xfrm>
            <a:off x="11435579" y="3419856"/>
            <a:ext cx="756937" cy="25511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6" b="0" i="1"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Diff. X-ray</a:t>
            </a:r>
          </a:p>
        </p:txBody>
      </p:sp>
      <p:sp>
        <p:nvSpPr>
          <p:cNvPr id="76" name="Stage A view 2 renderer line 2" descr="Stage A view 2 renderer line 2"/>
          <p:cNvSpPr txBox="1"/>
          <p:nvPr/>
        </p:nvSpPr>
        <p:spPr>
          <a:xfrm>
            <a:off x="11472034" y="3621024"/>
            <a:ext cx="684028" cy="25511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6" b="0" i="1"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renderer</a:t>
            </a:r>
          </a:p>
        </p:txBody>
      </p:sp>
      <p:sp>
        <p:nvSpPr>
          <p:cNvPr id="77" name="Stage A view 2 equation" descr="Stage A view 2 equation"/>
          <p:cNvSpPr txBox="1"/>
          <p:nvPr/>
        </p:nvSpPr>
        <p:spPr>
          <a:xfrm>
            <a:off x="11403818" y="3840480"/>
            <a:ext cx="820460" cy="425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0" i="0"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Eq. (3)</a:t>
            </a:r>
          </a:p>
        </p:txBody>
      </p:sp>
      <p:sp>
        <p:nvSpPr>
          <p:cNvPr id="78" name="Stage A rendered heading" descr="Stage A rendered heading"/>
          <p:cNvSpPr txBox="1"/>
          <p:nvPr/>
        </p:nvSpPr>
        <p:spPr>
          <a:xfrm>
            <a:off x="13153123" y="429768"/>
            <a:ext cx="1692683" cy="396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0" i="0"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Rendered X-ray</a:t>
            </a:r>
          </a:p>
        </p:txBody>
      </p:sp>
      <p:sp>
        <p:nvSpPr>
          <p:cNvPr id="79" name="Stage A real heading" descr="Stage A real heading"/>
          <p:cNvSpPr txBox="1"/>
          <p:nvPr/>
        </p:nvSpPr>
        <p:spPr>
          <a:xfrm>
            <a:off x="16150297" y="429768"/>
            <a:ext cx="1129870" cy="396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0" i="0"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Real X-ray</a:t>
            </a:r>
          </a:p>
        </p:txBody>
      </p:sp>
      <p:pic>
        <p:nvPicPr>
          <p:cNvPr id="80" name="Stage A a_render_1" descr="Stage A a_render_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3624" y="740664"/>
            <a:ext cx="1901952" cy="1911096"/>
          </a:xfrm>
          <a:prstGeom prst="rect">
            <a:avLst/>
          </a:prstGeom>
        </p:spPr>
      </p:pic>
      <p:pic>
        <p:nvPicPr>
          <p:cNvPr id="81" name="Stage A a_render_2" descr="Stage A a_render_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93624" y="2670048"/>
            <a:ext cx="1901952" cy="1920240"/>
          </a:xfrm>
          <a:prstGeom prst="rect">
            <a:avLst/>
          </a:prstGeom>
        </p:spPr>
      </p:pic>
      <p:pic>
        <p:nvPicPr>
          <p:cNvPr id="82" name="Stage A a_real_1" descr="Stage A a_real_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00248" y="740664"/>
            <a:ext cx="1920240" cy="1911096"/>
          </a:xfrm>
          <a:prstGeom prst="rect">
            <a:avLst/>
          </a:prstGeom>
        </p:spPr>
      </p:pic>
      <p:pic>
        <p:nvPicPr>
          <p:cNvPr id="83" name="Stage A a_real_2" descr="Stage A a_real_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00248" y="2670048"/>
            <a:ext cx="1920240" cy="1920240"/>
          </a:xfrm>
          <a:prstGeom prst="rect">
            <a:avLst/>
          </a:prstGeom>
        </p:spPr>
      </p:pic>
      <p:sp>
        <p:nvSpPr>
          <p:cNvPr id="84" name="Stage A view 1 loss symbol" descr="Stage A view 1 loss symbol"/>
          <p:cNvSpPr txBox="1"/>
          <p:nvPr/>
        </p:nvSpPr>
        <p:spPr>
          <a:xfrm>
            <a:off x="15140221" y="1197864"/>
            <a:ext cx="370246" cy="5244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64" b="0" i="0" lang="en-US" dirty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ℒ</a:t>
            </a:r>
          </a:p>
        </p:txBody>
      </p:sp>
      <p:sp>
        <p:nvSpPr>
          <p:cNvPr id="85" name="Stage A view 2 loss symbol" descr="Stage A view 2 loss symbol"/>
          <p:cNvSpPr txBox="1"/>
          <p:nvPr/>
        </p:nvSpPr>
        <p:spPr>
          <a:xfrm>
            <a:off x="15140221" y="3108960"/>
            <a:ext cx="370246" cy="5244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64" b="0" i="0" lang="en-US" dirty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ℒ</a:t>
            </a:r>
          </a:p>
        </p:txBody>
      </p:sp>
      <p:sp>
        <p:nvSpPr>
          <p:cNvPr id="86" name="Stage B title 1" descr="Stage B title 1"/>
          <p:cNvSpPr txBox="1"/>
          <p:nvPr/>
        </p:nvSpPr>
        <p:spPr>
          <a:xfrm>
            <a:off x="137160" y="5166360"/>
            <a:ext cx="1524491" cy="4677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76" b="1" i="0"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(B) Stage 2:</a:t>
            </a:r>
          </a:p>
        </p:txBody>
      </p:sp>
      <p:sp>
        <p:nvSpPr>
          <p:cNvPr id="87" name="Stage B title 2" descr="Stage B title 2"/>
          <p:cNvSpPr txBox="1"/>
          <p:nvPr/>
        </p:nvSpPr>
        <p:spPr>
          <a:xfrm>
            <a:off x="1551923" y="5166360"/>
            <a:ext cx="4397164" cy="4677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76" b="0" i="0"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Optimize structure-specific poses (</a:t>
            </a:r>
          </a:p>
        </p:txBody>
      </p:sp>
      <p:sp>
        <p:nvSpPr>
          <p:cNvPr id="88" name="Structure specific pose icon z" descr="Structure specific pose icon z"/>
          <p:cNvSpPr/>
          <p:nvPr/>
        </p:nvSpPr>
        <p:spPr>
          <a:xfrm>
            <a:off x="5907024" y="5221224"/>
            <a:ext cx="146304" cy="173736"/>
          </a:xfrm>
          <a:custGeom>
            <a:avLst/>
            <a:gdLst/>
            <a:ahLst/>
            <a:cxnLst/>
            <a:rect l="0" t="0" r="r" b="b"/>
            <a:pathLst>
              <a:path w="16000" h="19000" fill="none" stroke="1" extrusionOk="0">
                <a:moveTo>
                  <a:pt x="16000" y="19000"/>
                </a:moveTo>
                <a:lnTo>
                  <a:pt x="0" y="0"/>
                </a:lnTo>
                <a:moveTo>
                  <a:pt x="964" y="5725"/>
                </a:moveTo>
                <a:lnTo>
                  <a:pt x="0" y="0"/>
                </a:lnTo>
                <a:lnTo>
                  <a:pt x="5477" y="1924"/>
                </a:lnTo>
              </a:path>
            </a:pathLst>
          </a:custGeom>
          <a:noFill/>
          <a:ln w="16459" cap="flat">
            <a:solidFill>
              <a:srgbClr val="058AFF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Structure specific pose icon x" descr="Structure specific pose icon x"/>
          <p:cNvSpPr/>
          <p:nvPr/>
        </p:nvSpPr>
        <p:spPr>
          <a:xfrm>
            <a:off x="6053328" y="5394960"/>
            <a:ext cx="82296" cy="137160"/>
          </a:xfrm>
          <a:custGeom>
            <a:avLst/>
            <a:gdLst/>
            <a:ahLst/>
            <a:cxnLst/>
            <a:rect l="0" t="0" r="r" b="b"/>
            <a:pathLst>
              <a:path w="9000" h="15000" fill="none" stroke="1" extrusionOk="0">
                <a:moveTo>
                  <a:pt x="0" y="0"/>
                </a:moveTo>
                <a:lnTo>
                  <a:pt x="9000" y="15000"/>
                </a:lnTo>
                <a:moveTo>
                  <a:pt x="8957" y="9195"/>
                </a:moveTo>
                <a:lnTo>
                  <a:pt x="9000" y="15000"/>
                </a:lnTo>
                <a:lnTo>
                  <a:pt x="3898" y="12230"/>
                </a:lnTo>
              </a:path>
            </a:pathLst>
          </a:custGeom>
          <a:noFill/>
          <a:ln w="16459" cap="flat">
            <a:solidFill>
              <a:srgbClr val="FF352F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Structure specific pose icon y" descr="Structure specific pose icon y"/>
          <p:cNvSpPr/>
          <p:nvPr/>
        </p:nvSpPr>
        <p:spPr>
          <a:xfrm>
            <a:off x="5888736" y="5394960"/>
            <a:ext cx="164592" cy="137160"/>
          </a:xfrm>
          <a:custGeom>
            <a:avLst/>
            <a:gdLst/>
            <a:ahLst/>
            <a:cxnLst/>
            <a:rect l="0" t="0" r="r" b="b"/>
            <a:pathLst>
              <a:path w="18000" h="15000" fill="none" stroke="1" extrusionOk="0">
                <a:moveTo>
                  <a:pt x="18000" y="0"/>
                </a:moveTo>
                <a:lnTo>
                  <a:pt x="0" y="15000"/>
                </a:lnTo>
                <a:moveTo>
                  <a:pt x="5730" y="14065"/>
                </a:moveTo>
                <a:lnTo>
                  <a:pt x="0" y="15000"/>
                </a:lnTo>
                <a:lnTo>
                  <a:pt x="1953" y="9533"/>
                </a:lnTo>
              </a:path>
            </a:pathLst>
          </a:custGeom>
          <a:noFill/>
          <a:ln w="16459" cap="flat">
            <a:solidFill>
              <a:srgbClr val="1BDA10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Stage B title remainder 1" descr="Stage B title remainder 1"/>
          <p:cNvSpPr txBox="1"/>
          <p:nvPr/>
        </p:nvSpPr>
        <p:spPr>
          <a:xfrm>
            <a:off x="6153912" y="5166360"/>
            <a:ext cx="5631004" cy="4677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76" b="0" i="0"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) to estimate the polyrigid deformation field (</a:t>
            </a:r>
          </a:p>
        </p:txBody>
      </p:sp>
      <p:sp>
        <p:nvSpPr>
          <p:cNvPr id="92" name="Stage B deformation symbol" descr="Stage B deformation symbol"/>
          <p:cNvSpPr txBox="1"/>
          <p:nvPr/>
        </p:nvSpPr>
        <p:spPr>
          <a:xfrm>
            <a:off x="11675188" y="5129784"/>
            <a:ext cx="390234" cy="5244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64" b="1" i="0"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Φ</a:t>
            </a:r>
          </a:p>
        </p:txBody>
      </p:sp>
      <p:sp>
        <p:nvSpPr>
          <p:cNvPr id="93" name="Stage B title closing" descr="Stage B title closing"/>
          <p:cNvSpPr txBox="1"/>
          <p:nvPr/>
        </p:nvSpPr>
        <p:spPr>
          <a:xfrm>
            <a:off x="11955694" y="5166360"/>
            <a:ext cx="201225" cy="4677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76" b="0" i="0"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)</a:t>
            </a:r>
          </a:p>
        </p:txBody>
      </p:sp>
      <p:sp>
        <p:nvSpPr>
          <p:cNvPr id="94" name="Mathematical notation legend" descr="Mathematical notation legend"/>
          <p:cNvSpPr/>
          <p:nvPr/>
        </p:nvSpPr>
        <p:spPr>
          <a:xfrm>
            <a:off x="12262104" y="5202936"/>
            <a:ext cx="5303520" cy="804672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25603" cap="flat">
            <a:solidFill>
              <a:srgbClr val="000000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Projection notation" descr="Projection notation"/>
          <p:cNvSpPr txBox="1"/>
          <p:nvPr/>
        </p:nvSpPr>
        <p:spPr>
          <a:xfrm>
            <a:off x="12390120" y="5202936"/>
            <a:ext cx="360902" cy="510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92" b="0" i="0" lang="en-US" dirty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𝒫</a:t>
            </a:r>
          </a:p>
        </p:txBody>
      </p:sp>
      <p:sp>
        <p:nvSpPr>
          <p:cNvPr id="96" name="Projection operator label" descr="Projection operator label"/>
          <p:cNvSpPr txBox="1"/>
          <p:nvPr/>
        </p:nvSpPr>
        <p:spPr>
          <a:xfrm>
            <a:off x="12737592" y="5276088"/>
            <a:ext cx="2137910" cy="396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0" i="0"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Projection operator</a:t>
            </a:r>
          </a:p>
        </p:txBody>
      </p:sp>
      <p:sp>
        <p:nvSpPr>
          <p:cNvPr id="97" name="Loss notation" descr="Loss notation"/>
          <p:cNvSpPr txBox="1"/>
          <p:nvPr/>
        </p:nvSpPr>
        <p:spPr>
          <a:xfrm>
            <a:off x="12390120" y="5541264"/>
            <a:ext cx="363203" cy="510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92" b="0" i="0" lang="en-US" dirty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ℒ</a:t>
            </a:r>
          </a:p>
        </p:txBody>
      </p:sp>
      <p:sp>
        <p:nvSpPr>
          <p:cNvPr id="98" name="Image loss function label" descr="Image loss function label"/>
          <p:cNvSpPr txBox="1"/>
          <p:nvPr/>
        </p:nvSpPr>
        <p:spPr>
          <a:xfrm>
            <a:off x="12737592" y="5614416"/>
            <a:ext cx="2124623" cy="396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0" i="0"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Image loss function</a:t>
            </a:r>
          </a:p>
        </p:txBody>
      </p:sp>
      <p:sp>
        <p:nvSpPr>
          <p:cNvPr id="99" name="Articulated poses notation algebra" descr="Articulated poses notation algebra"/>
          <p:cNvSpPr txBox="1"/>
          <p:nvPr/>
        </p:nvSpPr>
        <p:spPr>
          <a:xfrm>
            <a:off x="14987016" y="5193792"/>
            <a:ext cx="329956" cy="510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92" b="0" i="0" lang="en-US" dirty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𝔗</a:t>
            </a:r>
          </a:p>
        </p:txBody>
      </p:sp>
      <p:sp>
        <p:nvSpPr>
          <p:cNvPr id="100" name="Articulated poses notation estimate" descr="Articulated poses notation estimate"/>
          <p:cNvSpPr/>
          <p:nvPr/>
        </p:nvSpPr>
        <p:spPr>
          <a:xfrm>
            <a:off x="15070958" y="5259629"/>
            <a:ext cx="88880" cy="36576"/>
          </a:xfrm>
          <a:custGeom>
            <a:avLst/>
            <a:gdLst/>
            <a:ahLst/>
            <a:cxnLst/>
            <a:rect l="0" t="0" r="r" b="b"/>
            <a:pathLst>
              <a:path w="9720" h="4000" fill="none" stroke="1" extrusionOk="0">
                <a:moveTo>
                  <a:pt x="0" y="4000"/>
                </a:moveTo>
                <a:lnTo>
                  <a:pt x="4860" y="0"/>
                </a:lnTo>
                <a:lnTo>
                  <a:pt x="9720" y="4000"/>
                </a:lnTo>
              </a:path>
            </a:pathLst>
          </a:custGeom>
          <a:noFill/>
          <a:ln w="15544" cap="flat">
            <a:solidFill>
              <a:srgbClr val="000000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Articulated poses label" descr="Articulated poses label"/>
          <p:cNvSpPr txBox="1"/>
          <p:nvPr/>
        </p:nvSpPr>
        <p:spPr>
          <a:xfrm>
            <a:off x="15407640" y="5276088"/>
            <a:ext cx="1911625" cy="396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0" i="0"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Articulated poses</a:t>
            </a:r>
          </a:p>
        </p:txBody>
      </p:sp>
      <p:sp>
        <p:nvSpPr>
          <p:cNvPr id="102" name="Camera matrix notation Pi" descr="Camera matrix notation Pi"/>
          <p:cNvSpPr txBox="1"/>
          <p:nvPr/>
        </p:nvSpPr>
        <p:spPr>
          <a:xfrm>
            <a:off x="14987016" y="5541264"/>
            <a:ext cx="365774" cy="510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92" b="1" i="0"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Π</a:t>
            </a:r>
          </a:p>
        </p:txBody>
      </p:sp>
      <p:sp>
        <p:nvSpPr>
          <p:cNvPr id="103" name="Camera matrix label" descr="Camera matrix label"/>
          <p:cNvSpPr txBox="1"/>
          <p:nvPr/>
        </p:nvSpPr>
        <p:spPr>
          <a:xfrm>
            <a:off x="15407640" y="5614416"/>
            <a:ext cx="1634833" cy="396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0" i="0"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Camera matrix</a:t>
            </a:r>
          </a:p>
        </p:txBody>
      </p:sp>
      <p:pic>
        <p:nvPicPr>
          <p:cNvPr id="104" name="Precomputed spatial weight field" descr="Precomputed spatial weight field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" y="6117336"/>
            <a:ext cx="4873752" cy="4315968"/>
          </a:xfrm>
          <a:prstGeom prst="rect">
            <a:avLst/>
          </a:prstGeom>
        </p:spPr>
      </p:pic>
      <p:pic>
        <p:nvPicPr>
          <p:cNvPr id="105" name="Warped CT and sampled deformation field" descr="Warped CT and sampled deformation field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63056" y="6062472"/>
            <a:ext cx="4901184" cy="4398264"/>
          </a:xfrm>
          <a:prstGeom prst="rect">
            <a:avLst/>
          </a:prstGeom>
        </p:spPr>
      </p:pic>
      <p:sp>
        <p:nvSpPr>
          <p:cNvPr id="106" name="Estimated articulated poses algebra" descr="Estimated articulated poses algebra"/>
          <p:cNvSpPr txBox="1"/>
          <p:nvPr/>
        </p:nvSpPr>
        <p:spPr>
          <a:xfrm>
            <a:off x="5248656" y="6108192"/>
            <a:ext cx="366660" cy="59527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24" b="0" i="0" lang="en-US" dirty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𝔗</a:t>
            </a:r>
          </a:p>
        </p:txBody>
      </p:sp>
      <p:sp>
        <p:nvSpPr>
          <p:cNvPr id="107" name="Estimated articulated poses estimate" descr="Estimated articulated poses estimate"/>
          <p:cNvSpPr/>
          <p:nvPr/>
        </p:nvSpPr>
        <p:spPr>
          <a:xfrm>
            <a:off x="5346588" y="6185002"/>
            <a:ext cx="103693" cy="36576"/>
          </a:xfrm>
          <a:custGeom>
            <a:avLst/>
            <a:gdLst/>
            <a:ahLst/>
            <a:cxnLst/>
            <a:rect l="0" t="0" r="r" b="b"/>
            <a:pathLst>
              <a:path w="11340" h="4000" fill="none" stroke="1" extrusionOk="0">
                <a:moveTo>
                  <a:pt x="0" y="4000"/>
                </a:moveTo>
                <a:lnTo>
                  <a:pt x="5670" y="0"/>
                </a:lnTo>
                <a:lnTo>
                  <a:pt x="11340" y="4000"/>
                </a:lnTo>
              </a:path>
            </a:pathLst>
          </a:custGeom>
          <a:noFill/>
          <a:ln w="15544" cap="flat">
            <a:solidFill>
              <a:srgbClr val="000000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Articulated pose vector left bracket" descr="Articulated pose vector left bracket"/>
          <p:cNvSpPr/>
          <p:nvPr/>
        </p:nvSpPr>
        <p:spPr>
          <a:xfrm>
            <a:off x="4764024" y="6592824"/>
            <a:ext cx="100584" cy="1335024"/>
          </a:xfrm>
          <a:custGeom>
            <a:avLst/>
            <a:gdLst/>
            <a:ahLst/>
            <a:cxnLst/>
            <a:rect l="0" t="0" r="r" b="b"/>
            <a:pathLst>
              <a:path w="11000" h="146000" fill="none" stroke="1" extrusionOk="0">
                <a:moveTo>
                  <a:pt x="11000" y="0"/>
                </a:moveTo>
                <a:lnTo>
                  <a:pt x="0" y="0"/>
                </a:lnTo>
                <a:lnTo>
                  <a:pt x="0" y="146000"/>
                </a:lnTo>
                <a:lnTo>
                  <a:pt x="11000" y="146000"/>
                </a:lnTo>
              </a:path>
            </a:pathLst>
          </a:custGeom>
          <a:noFill/>
          <a:ln w="16459" cap="flat">
            <a:solidFill>
              <a:srgbClr val="000000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Articulated pose vector right bracket" descr="Articulated pose vector right bracket"/>
          <p:cNvSpPr/>
          <p:nvPr/>
        </p:nvSpPr>
        <p:spPr>
          <a:xfrm>
            <a:off x="5879592" y="6592824"/>
            <a:ext cx="100584" cy="1335024"/>
          </a:xfrm>
          <a:custGeom>
            <a:avLst/>
            <a:gdLst/>
            <a:ahLst/>
            <a:cxnLst/>
            <a:rect l="0" t="0" r="r" b="b"/>
            <a:pathLst>
              <a:path w="11000" h="146000" fill="none" stroke="1" extrusionOk="0">
                <a:moveTo>
                  <a:pt x="0" y="0"/>
                </a:moveTo>
                <a:lnTo>
                  <a:pt x="11000" y="0"/>
                </a:lnTo>
                <a:lnTo>
                  <a:pt x="11000" y="146000"/>
                </a:lnTo>
                <a:lnTo>
                  <a:pt x="0" y="146000"/>
                </a:lnTo>
              </a:path>
            </a:pathLst>
          </a:custGeom>
          <a:noFill/>
          <a:ln w="16459" cap="flat">
            <a:solidFill>
              <a:srgbClr val="000000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Log pose 1" descr="Log pose 1"/>
          <p:cNvSpPr txBox="1"/>
          <p:nvPr/>
        </p:nvSpPr>
        <p:spPr>
          <a:xfrm>
            <a:off x="4864608" y="6519672"/>
            <a:ext cx="654725" cy="5244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64" b="0" i="0" lang="en-US" dirty="0">
                <a:solidFill>
                  <a:srgbClr val="FF2A00"/>
                </a:solidFill>
                <a:latin typeface="Times New Roman"/>
                <a:ea typeface="Times New Roman"/>
                <a:cs typeface="Times New Roman"/>
              </a:rPr>
              <a:t>log(</a:t>
            </a:r>
          </a:p>
        </p:txBody>
      </p:sp>
      <p:sp>
        <p:nvSpPr>
          <p:cNvPr id="111" name="Log pose closing 1" descr="Log pose closing 1"/>
          <p:cNvSpPr txBox="1"/>
          <p:nvPr/>
        </p:nvSpPr>
        <p:spPr>
          <a:xfrm>
            <a:off x="5769864" y="6519672"/>
            <a:ext cx="222399" cy="5244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64" b="0" i="0" lang="en-US" dirty="0">
                <a:solidFill>
                  <a:srgbClr val="FF2A00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112" name="Rigid pose 1 z" descr="Rigid pose 1 z"/>
          <p:cNvSpPr/>
          <p:nvPr/>
        </p:nvSpPr>
        <p:spPr>
          <a:xfrm>
            <a:off x="5520913" y="6592824"/>
            <a:ext cx="56927" cy="246888"/>
          </a:xfrm>
          <a:custGeom>
            <a:avLst/>
            <a:gdLst/>
            <a:ahLst/>
            <a:cxnLst/>
            <a:rect l="0" t="0" r="r" b="b"/>
            <a:pathLst>
              <a:path w="6226" h="27000" fill="none" stroke="1" extrusionOk="0">
                <a:moveTo>
                  <a:pt x="6226" y="27000"/>
                </a:moveTo>
                <a:lnTo>
                  <a:pt x="2176" y="0"/>
                </a:lnTo>
                <a:moveTo>
                  <a:pt x="0" y="5382"/>
                </a:moveTo>
                <a:lnTo>
                  <a:pt x="2176" y="0"/>
                </a:lnTo>
                <a:lnTo>
                  <a:pt x="5835" y="4507"/>
                </a:lnTo>
              </a:path>
            </a:pathLst>
          </a:custGeom>
          <a:noFill/>
          <a:ln w="16459" cap="flat">
            <a:solidFill>
              <a:srgbClr val="058AFF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igid pose 1 x" descr="Rigid pose 1 x"/>
          <p:cNvSpPr/>
          <p:nvPr/>
        </p:nvSpPr>
        <p:spPr>
          <a:xfrm>
            <a:off x="5577840" y="6839712"/>
            <a:ext cx="229606" cy="58334"/>
          </a:xfrm>
          <a:custGeom>
            <a:avLst/>
            <a:gdLst/>
            <a:ahLst/>
            <a:cxnLst/>
            <a:rect l="0" t="0" r="r" b="b"/>
            <a:pathLst>
              <a:path w="25110" h="6380" fill="none" stroke="1" extrusionOk="0">
                <a:moveTo>
                  <a:pt x="0" y="0"/>
                </a:moveTo>
                <a:lnTo>
                  <a:pt x="25110" y="4320"/>
                </a:lnTo>
                <a:moveTo>
                  <a:pt x="20683" y="565"/>
                </a:moveTo>
                <a:lnTo>
                  <a:pt x="25110" y="4320"/>
                </a:lnTo>
                <a:lnTo>
                  <a:pt x="19682" y="6380"/>
                </a:lnTo>
              </a:path>
            </a:pathLst>
          </a:custGeom>
          <a:noFill/>
          <a:ln w="16459" cap="flat">
            <a:solidFill>
              <a:srgbClr val="FF352F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igid pose 1 y" descr="Rigid pose 1 y"/>
          <p:cNvSpPr/>
          <p:nvPr/>
        </p:nvSpPr>
        <p:spPr>
          <a:xfrm>
            <a:off x="5405018" y="6839712"/>
            <a:ext cx="172822" cy="155539"/>
          </a:xfrm>
          <a:custGeom>
            <a:avLst/>
            <a:gdLst/>
            <a:ahLst/>
            <a:cxnLst/>
            <a:rect l="0" t="0" r="r" b="b"/>
            <a:pathLst>
              <a:path w="18900" h="17010" fill="none" stroke="1" extrusionOk="0">
                <a:moveTo>
                  <a:pt x="18900" y="0"/>
                </a:moveTo>
                <a:lnTo>
                  <a:pt x="0" y="17010"/>
                </a:lnTo>
                <a:moveTo>
                  <a:pt x="5690" y="15858"/>
                </a:moveTo>
                <a:lnTo>
                  <a:pt x="0" y="17010"/>
                </a:lnTo>
                <a:lnTo>
                  <a:pt x="1743" y="11472"/>
                </a:lnTo>
              </a:path>
            </a:pathLst>
          </a:custGeom>
          <a:noFill/>
          <a:ln w="16459" cap="flat">
            <a:solidFill>
              <a:srgbClr val="1BDA10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Log pose 2" descr="Log pose 2"/>
          <p:cNvSpPr txBox="1"/>
          <p:nvPr/>
        </p:nvSpPr>
        <p:spPr>
          <a:xfrm>
            <a:off x="4864608" y="6976872"/>
            <a:ext cx="654725" cy="5244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64" b="0" i="0" lang="en-US" dirty="0">
                <a:solidFill>
                  <a:srgbClr val="18D700"/>
                </a:solidFill>
                <a:latin typeface="Times New Roman"/>
                <a:ea typeface="Times New Roman"/>
                <a:cs typeface="Times New Roman"/>
              </a:rPr>
              <a:t>log(</a:t>
            </a:r>
          </a:p>
        </p:txBody>
      </p:sp>
      <p:sp>
        <p:nvSpPr>
          <p:cNvPr id="116" name="Log pose closing 2" descr="Log pose closing 2"/>
          <p:cNvSpPr txBox="1"/>
          <p:nvPr/>
        </p:nvSpPr>
        <p:spPr>
          <a:xfrm>
            <a:off x="5769864" y="6976872"/>
            <a:ext cx="222399" cy="5244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64" b="0" i="0" lang="en-US" dirty="0">
                <a:solidFill>
                  <a:srgbClr val="18D700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117" name="Rigid pose 2 z" descr="Rigid pose 2 z"/>
          <p:cNvSpPr/>
          <p:nvPr/>
        </p:nvSpPr>
        <p:spPr>
          <a:xfrm>
            <a:off x="5502409" y="7132320"/>
            <a:ext cx="121151" cy="276515"/>
          </a:xfrm>
          <a:custGeom>
            <a:avLst/>
            <a:gdLst/>
            <a:ahLst/>
            <a:cxnLst/>
            <a:rect l="0" t="0" r="r" b="b"/>
            <a:pathLst>
              <a:path w="13249" h="30240" fill="none" stroke="1" extrusionOk="0">
                <a:moveTo>
                  <a:pt x="13249" y="0"/>
                </a:moveTo>
                <a:lnTo>
                  <a:pt x="829" y="30240"/>
                </a:lnTo>
                <a:moveTo>
                  <a:pt x="5458" y="26736"/>
                </a:moveTo>
                <a:lnTo>
                  <a:pt x="829" y="30240"/>
                </a:lnTo>
                <a:lnTo>
                  <a:pt x="0" y="24494"/>
                </a:lnTo>
              </a:path>
            </a:pathLst>
          </a:custGeom>
          <a:noFill/>
          <a:ln w="16459" cap="flat">
            <a:solidFill>
              <a:srgbClr val="058AFF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igid pose 2 x" descr="Rigid pose 2 x"/>
          <p:cNvSpPr/>
          <p:nvPr/>
        </p:nvSpPr>
        <p:spPr>
          <a:xfrm>
            <a:off x="5623560" y="7132320"/>
            <a:ext cx="106162" cy="128382"/>
          </a:xfrm>
          <a:custGeom>
            <a:avLst/>
            <a:gdLst/>
            <a:ahLst/>
            <a:cxnLst/>
            <a:rect l="0" t="0" r="r" b="b"/>
            <a:pathLst>
              <a:path w="11610" h="14040" fill="none" stroke="1" extrusionOk="0">
                <a:moveTo>
                  <a:pt x="0" y="0"/>
                </a:moveTo>
                <a:lnTo>
                  <a:pt x="11610" y="14040"/>
                </a:lnTo>
                <a:moveTo>
                  <a:pt x="10697" y="8307"/>
                </a:moveTo>
                <a:lnTo>
                  <a:pt x="11610" y="14040"/>
                </a:lnTo>
                <a:lnTo>
                  <a:pt x="6150" y="12067"/>
                </a:lnTo>
              </a:path>
            </a:pathLst>
          </a:custGeom>
          <a:noFill/>
          <a:ln w="16459" cap="flat">
            <a:solidFill>
              <a:srgbClr val="FF352F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igid pose 2 y" descr="Rigid pose 2 y"/>
          <p:cNvSpPr/>
          <p:nvPr/>
        </p:nvSpPr>
        <p:spPr>
          <a:xfrm>
            <a:off x="5430987" y="7114820"/>
            <a:ext cx="192573" cy="53839"/>
          </a:xfrm>
          <a:custGeom>
            <a:avLst/>
            <a:gdLst/>
            <a:ahLst/>
            <a:cxnLst/>
            <a:rect l="0" t="0" r="r" b="b"/>
            <a:pathLst>
              <a:path w="21060" h="5888" fill="none" stroke="1" extrusionOk="0">
                <a:moveTo>
                  <a:pt x="21060" y="1914"/>
                </a:moveTo>
                <a:lnTo>
                  <a:pt x="0" y="3264"/>
                </a:lnTo>
                <a:moveTo>
                  <a:pt x="5178" y="5888"/>
                </a:moveTo>
                <a:lnTo>
                  <a:pt x="0" y="3264"/>
                </a:lnTo>
                <a:lnTo>
                  <a:pt x="4801" y="0"/>
                </a:lnTo>
              </a:path>
            </a:pathLst>
          </a:custGeom>
          <a:noFill/>
          <a:ln w="16459" cap="flat">
            <a:solidFill>
              <a:srgbClr val="1BDA10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Log pose 3" descr="Log pose 3"/>
          <p:cNvSpPr txBox="1"/>
          <p:nvPr/>
        </p:nvSpPr>
        <p:spPr>
          <a:xfrm>
            <a:off x="4864608" y="7434072"/>
            <a:ext cx="654725" cy="5244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64" b="0" i="0" lang="en-US" dirty="0">
                <a:solidFill>
                  <a:srgbClr val="0088FF"/>
                </a:solidFill>
                <a:latin typeface="Times New Roman"/>
                <a:ea typeface="Times New Roman"/>
                <a:cs typeface="Times New Roman"/>
              </a:rPr>
              <a:t>log(</a:t>
            </a:r>
          </a:p>
        </p:txBody>
      </p:sp>
      <p:sp>
        <p:nvSpPr>
          <p:cNvPr id="121" name="Log pose closing 3" descr="Log pose closing 3"/>
          <p:cNvSpPr txBox="1"/>
          <p:nvPr/>
        </p:nvSpPr>
        <p:spPr>
          <a:xfrm>
            <a:off x="5769864" y="7434072"/>
            <a:ext cx="222399" cy="5244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64" b="0" i="0" lang="en-US" dirty="0">
                <a:solidFill>
                  <a:srgbClr val="0088FF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122" name="Rigid pose 3 z" descr="Rigid pose 3 z"/>
          <p:cNvSpPr/>
          <p:nvPr/>
        </p:nvSpPr>
        <p:spPr>
          <a:xfrm>
            <a:off x="5589455" y="7524140"/>
            <a:ext cx="53620" cy="111100"/>
          </a:xfrm>
          <a:custGeom>
            <a:avLst/>
            <a:gdLst/>
            <a:ahLst/>
            <a:cxnLst/>
            <a:rect l="0" t="0" r="r" b="b"/>
            <a:pathLst>
              <a:path w="5864" h="12150" fill="none" stroke="1" extrusionOk="0">
                <a:moveTo>
                  <a:pt x="3730" y="12150"/>
                </a:moveTo>
                <a:lnTo>
                  <a:pt x="2380" y="0"/>
                </a:lnTo>
                <a:moveTo>
                  <a:pt x="0" y="5295"/>
                </a:moveTo>
                <a:lnTo>
                  <a:pt x="2380" y="0"/>
                </a:lnTo>
                <a:lnTo>
                  <a:pt x="5864" y="4644"/>
                </a:lnTo>
              </a:path>
            </a:pathLst>
          </a:custGeom>
          <a:noFill/>
          <a:ln w="16459" cap="flat">
            <a:solidFill>
              <a:srgbClr val="058AFF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igid pose 3 x" descr="Rigid pose 3 x"/>
          <p:cNvSpPr/>
          <p:nvPr/>
        </p:nvSpPr>
        <p:spPr>
          <a:xfrm>
            <a:off x="5623560" y="7635240"/>
            <a:ext cx="120792" cy="222199"/>
          </a:xfrm>
          <a:custGeom>
            <a:avLst/>
            <a:gdLst/>
            <a:ahLst/>
            <a:cxnLst/>
            <a:rect l="0" t="0" r="r" b="b"/>
            <a:pathLst>
              <a:path w="13210" h="24300" fill="none" stroke="1" extrusionOk="0">
                <a:moveTo>
                  <a:pt x="0" y="0"/>
                </a:moveTo>
                <a:lnTo>
                  <a:pt x="12960" y="24300"/>
                </a:lnTo>
                <a:moveTo>
                  <a:pt x="13210" y="18500"/>
                </a:moveTo>
                <a:lnTo>
                  <a:pt x="12960" y="24300"/>
                </a:lnTo>
                <a:lnTo>
                  <a:pt x="8004" y="21276"/>
                </a:lnTo>
              </a:path>
            </a:pathLst>
          </a:custGeom>
          <a:noFill/>
          <a:ln w="16459" cap="flat">
            <a:solidFill>
              <a:srgbClr val="FF352F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igid pose 3 y" descr="Rigid pose 3 y"/>
          <p:cNvSpPr/>
          <p:nvPr/>
        </p:nvSpPr>
        <p:spPr>
          <a:xfrm>
            <a:off x="5406299" y="7635240"/>
            <a:ext cx="217261" cy="96535"/>
          </a:xfrm>
          <a:custGeom>
            <a:avLst/>
            <a:gdLst/>
            <a:ahLst/>
            <a:cxnLst/>
            <a:rect l="0" t="0" r="r" b="b"/>
            <a:pathLst>
              <a:path w="23760" h="10557" fill="none" stroke="1" extrusionOk="0">
                <a:moveTo>
                  <a:pt x="23760" y="0"/>
                </a:moveTo>
                <a:lnTo>
                  <a:pt x="0" y="9720"/>
                </a:lnTo>
                <a:moveTo>
                  <a:pt x="5745" y="10557"/>
                </a:moveTo>
                <a:lnTo>
                  <a:pt x="0" y="9720"/>
                </a:lnTo>
                <a:lnTo>
                  <a:pt x="3511" y="5096"/>
                </a:lnTo>
              </a:path>
            </a:pathLst>
          </a:custGeom>
          <a:noFill/>
          <a:ln w="16459" cap="flat">
            <a:solidFill>
              <a:srgbClr val="1BDA10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Articulated pose gradient" descr="Articulated pose gradient"/>
          <p:cNvSpPr/>
          <p:nvPr/>
        </p:nvSpPr>
        <p:spPr>
          <a:xfrm>
            <a:off x="5189769" y="7982712"/>
            <a:ext cx="172639" cy="374904"/>
          </a:xfrm>
          <a:custGeom>
            <a:avLst/>
            <a:gdLst/>
            <a:ahLst/>
            <a:cxnLst/>
            <a:rect l="0" t="0" r="r" b="b"/>
            <a:pathLst>
              <a:path w="18880" h="41000" fill="none" stroke="1" extrusionOk="0">
                <a:moveTo>
                  <a:pt x="9440" y="41000"/>
                </a:moveTo>
                <a:lnTo>
                  <a:pt x="9440" y="0"/>
                </a:lnTo>
                <a:moveTo>
                  <a:pt x="0" y="16000"/>
                </a:moveTo>
                <a:lnTo>
                  <a:pt x="9440" y="0"/>
                </a:lnTo>
                <a:lnTo>
                  <a:pt x="18880" y="16000"/>
                </a:lnTo>
              </a:path>
            </a:pathLst>
          </a:custGeom>
          <a:noFill/>
          <a:ln w="41148" cap="flat">
            <a:solidFill>
              <a:srgbClr val="FF7300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Articulated pose operation" descr="Articulated pose operation"/>
          <p:cNvSpPr/>
          <p:nvPr/>
        </p:nvSpPr>
        <p:spPr>
          <a:xfrm>
            <a:off x="5418369" y="7955280"/>
            <a:ext cx="172639" cy="374904"/>
          </a:xfrm>
          <a:custGeom>
            <a:avLst/>
            <a:gdLst/>
            <a:ahLst/>
            <a:cxnLst/>
            <a:rect l="0" t="0" r="r" b="b"/>
            <a:pathLst>
              <a:path w="18880" h="41000" fill="none" stroke="1" extrusionOk="0">
                <a:moveTo>
                  <a:pt x="9440" y="0"/>
                </a:moveTo>
                <a:lnTo>
                  <a:pt x="9440" y="41000"/>
                </a:lnTo>
                <a:moveTo>
                  <a:pt x="18880" y="25000"/>
                </a:moveTo>
                <a:lnTo>
                  <a:pt x="9440" y="41000"/>
                </a:lnTo>
                <a:lnTo>
                  <a:pt x="0" y="25000"/>
                </a:lnTo>
              </a:path>
            </a:pathLst>
          </a:custGeom>
          <a:noFill/>
          <a:ln w="41148" cap="flat">
            <a:solidFill>
              <a:srgbClr val="00A7F5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Polyrigid exponential map" descr="Polyrigid exponential map"/>
          <p:cNvSpPr/>
          <p:nvPr/>
        </p:nvSpPr>
        <p:spPr>
          <a:xfrm>
            <a:off x="4873752" y="8394192"/>
            <a:ext cx="1005840" cy="448056"/>
          </a:xfrm>
          <a:prstGeom prst="roundRect">
            <a:avLst>
              <a:gd name="adj" fmla="val 22448"/>
            </a:avLst>
          </a:prstGeom>
          <a:solidFill>
            <a:srgbClr val="FFFFFF"/>
          </a:solidFill>
          <a:ln w="22859" cap="flat">
            <a:solidFill>
              <a:srgbClr val="000000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Exponential function" descr="Exponential function"/>
          <p:cNvSpPr txBox="1"/>
          <p:nvPr/>
        </p:nvSpPr>
        <p:spPr>
          <a:xfrm>
            <a:off x="4919472" y="8449056"/>
            <a:ext cx="564671" cy="396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0" i="0"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exp(</a:t>
            </a:r>
          </a:p>
        </p:txBody>
      </p:sp>
      <p:sp>
        <p:nvSpPr>
          <p:cNvPr id="129" name="Exponential weights" descr="Exponential weights"/>
          <p:cNvSpPr txBox="1"/>
          <p:nvPr/>
        </p:nvSpPr>
        <p:spPr>
          <a:xfrm>
            <a:off x="5374415" y="8449056"/>
            <a:ext cx="365760" cy="396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</a:t>
            </a:r>
          </a:p>
        </p:txBody>
      </p:sp>
      <p:sp>
        <p:nvSpPr>
          <p:cNvPr id="130" name="Exponential algebra algebra" descr="Exponential algebra algebra"/>
          <p:cNvSpPr txBox="1"/>
          <p:nvPr/>
        </p:nvSpPr>
        <p:spPr>
          <a:xfrm>
            <a:off x="5621303" y="8449056"/>
            <a:ext cx="274892" cy="38267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3" b="0" i="0" lang="en-US" dirty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𝔗</a:t>
            </a:r>
          </a:p>
        </p:txBody>
      </p:sp>
      <p:sp>
        <p:nvSpPr>
          <p:cNvPr id="131" name="Exponential algebra estimate" descr="Exponential algebra estimate"/>
          <p:cNvSpPr/>
          <p:nvPr/>
        </p:nvSpPr>
        <p:spPr>
          <a:xfrm>
            <a:off x="5684259" y="8498434"/>
            <a:ext cx="66660" cy="36576"/>
          </a:xfrm>
          <a:custGeom>
            <a:avLst/>
            <a:gdLst/>
            <a:ahLst/>
            <a:cxnLst/>
            <a:rect l="0" t="0" r="r" b="b"/>
            <a:pathLst>
              <a:path w="7290" h="4000" fill="none" stroke="1" extrusionOk="0">
                <a:moveTo>
                  <a:pt x="0" y="4000"/>
                </a:moveTo>
                <a:lnTo>
                  <a:pt x="3645" y="0"/>
                </a:lnTo>
                <a:lnTo>
                  <a:pt x="7290" y="4000"/>
                </a:lnTo>
              </a:path>
            </a:pathLst>
          </a:custGeom>
          <a:noFill/>
          <a:ln w="15544" cap="flat">
            <a:solidFill>
              <a:srgbClr val="000000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Exponential closing" descr="Exponential closing"/>
          <p:cNvSpPr txBox="1"/>
          <p:nvPr/>
        </p:nvSpPr>
        <p:spPr>
          <a:xfrm>
            <a:off x="5769864" y="8439912"/>
            <a:ext cx="194996" cy="396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0" i="0"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133" name="Weight field to exponential" descr="Weight field to exponential"/>
          <p:cNvSpPr/>
          <p:nvPr/>
        </p:nvSpPr>
        <p:spPr>
          <a:xfrm>
            <a:off x="5314036" y="8897112"/>
            <a:ext cx="161849" cy="384048"/>
          </a:xfrm>
          <a:custGeom>
            <a:avLst/>
            <a:gdLst/>
            <a:ahLst/>
            <a:cxnLst/>
            <a:rect l="0" t="0" r="r" b="b"/>
            <a:pathLst>
              <a:path w="17700" h="42000" fill="none" stroke="1" extrusionOk="0">
                <a:moveTo>
                  <a:pt x="8850" y="42000"/>
                </a:moveTo>
                <a:lnTo>
                  <a:pt x="8850" y="0"/>
                </a:lnTo>
                <a:moveTo>
                  <a:pt x="0" y="15000"/>
                </a:moveTo>
                <a:lnTo>
                  <a:pt x="8850" y="0"/>
                </a:lnTo>
                <a:lnTo>
                  <a:pt x="17700" y="15000"/>
                </a:lnTo>
              </a:path>
            </a:pathLst>
          </a:custGeom>
          <a:noFill/>
          <a:ln w="41148" cap="flat">
            <a:solidFill>
              <a:srgbClr val="00A7F5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Warp forward" descr="Warp forward"/>
          <p:cNvSpPr/>
          <p:nvPr/>
        </p:nvSpPr>
        <p:spPr>
          <a:xfrm>
            <a:off x="5907024" y="8435889"/>
            <a:ext cx="502920" cy="172639"/>
          </a:xfrm>
          <a:custGeom>
            <a:avLst/>
            <a:gdLst/>
            <a:ahLst/>
            <a:cxnLst/>
            <a:rect l="0" t="0" r="r" b="b"/>
            <a:pathLst>
              <a:path w="55000" h="18880" fill="none" stroke="1" extrusionOk="0">
                <a:moveTo>
                  <a:pt x="0" y="9440"/>
                </a:moveTo>
                <a:lnTo>
                  <a:pt x="55000" y="9440"/>
                </a:lnTo>
                <a:moveTo>
                  <a:pt x="39000" y="0"/>
                </a:moveTo>
                <a:lnTo>
                  <a:pt x="55000" y="9440"/>
                </a:lnTo>
                <a:lnTo>
                  <a:pt x="39000" y="18880"/>
                </a:lnTo>
              </a:path>
            </a:pathLst>
          </a:custGeom>
          <a:noFill/>
          <a:ln w="42062" cap="flat">
            <a:solidFill>
              <a:srgbClr val="00A7F5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Warp gradient" descr="Warp gradient"/>
          <p:cNvSpPr/>
          <p:nvPr/>
        </p:nvSpPr>
        <p:spPr>
          <a:xfrm>
            <a:off x="5925312" y="8618769"/>
            <a:ext cx="521208" cy="172639"/>
          </a:xfrm>
          <a:custGeom>
            <a:avLst/>
            <a:gdLst/>
            <a:ahLst/>
            <a:cxnLst/>
            <a:rect l="0" t="0" r="r" b="b"/>
            <a:pathLst>
              <a:path w="57000" h="18880" fill="none" stroke="1" extrusionOk="0">
                <a:moveTo>
                  <a:pt x="57000" y="9440"/>
                </a:moveTo>
                <a:lnTo>
                  <a:pt x="0" y="9440"/>
                </a:lnTo>
                <a:moveTo>
                  <a:pt x="16000" y="18880"/>
                </a:moveTo>
                <a:lnTo>
                  <a:pt x="0" y="9440"/>
                </a:lnTo>
                <a:lnTo>
                  <a:pt x="16000" y="0"/>
                </a:lnTo>
              </a:path>
            </a:pathLst>
          </a:custGeom>
          <a:noFill/>
          <a:ln w="42062" cap="flat">
            <a:solidFill>
              <a:srgbClr val="FF7300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Weight vector left bracket" descr="Weight vector left bracket"/>
          <p:cNvSpPr/>
          <p:nvPr/>
        </p:nvSpPr>
        <p:spPr>
          <a:xfrm>
            <a:off x="4965192" y="9253728"/>
            <a:ext cx="109728" cy="1335024"/>
          </a:xfrm>
          <a:custGeom>
            <a:avLst/>
            <a:gdLst/>
            <a:ahLst/>
            <a:cxnLst/>
            <a:rect l="0" t="0" r="r" b="b"/>
            <a:pathLst>
              <a:path w="12000" h="146000" fill="none" stroke="1" extrusionOk="0">
                <a:moveTo>
                  <a:pt x="12000" y="0"/>
                </a:moveTo>
                <a:lnTo>
                  <a:pt x="0" y="0"/>
                </a:lnTo>
                <a:lnTo>
                  <a:pt x="0" y="146000"/>
                </a:lnTo>
                <a:lnTo>
                  <a:pt x="12000" y="146000"/>
                </a:lnTo>
              </a:path>
            </a:pathLst>
          </a:custGeom>
          <a:noFill/>
          <a:ln w="14630" cap="flat">
            <a:solidFill>
              <a:srgbClr val="000000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Weight vector right bracket" descr="Weight vector right bracket"/>
          <p:cNvSpPr/>
          <p:nvPr/>
        </p:nvSpPr>
        <p:spPr>
          <a:xfrm>
            <a:off x="5705856" y="9253728"/>
            <a:ext cx="109728" cy="1335024"/>
          </a:xfrm>
          <a:custGeom>
            <a:avLst/>
            <a:gdLst/>
            <a:ahLst/>
            <a:cxnLst/>
            <a:rect l="0" t="0" r="r" b="b"/>
            <a:pathLst>
              <a:path w="12000" h="146000" fill="none" stroke="1" extrusionOk="0">
                <a:moveTo>
                  <a:pt x="0" y="0"/>
                </a:moveTo>
                <a:lnTo>
                  <a:pt x="12000" y="0"/>
                </a:lnTo>
                <a:lnTo>
                  <a:pt x="12000" y="146000"/>
                </a:lnTo>
                <a:lnTo>
                  <a:pt x="0" y="146000"/>
                </a:lnTo>
              </a:path>
            </a:pathLst>
          </a:custGeom>
          <a:noFill/>
          <a:ln w="14630" cap="flat">
            <a:solidFill>
              <a:srgbClr val="000000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Weight component 1" descr="Weight component 1"/>
          <p:cNvSpPr txBox="1"/>
          <p:nvPr/>
        </p:nvSpPr>
        <p:spPr>
          <a:xfrm>
            <a:off x="5093208" y="9272016"/>
            <a:ext cx="717804" cy="538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36" b="0" i="0" lang="en-US" dirty="0">
                <a:solidFill>
                  <a:srgbClr val="FF2900"/>
                </a:solidFill>
                <a:latin typeface="Times New Roman"/>
                <a:ea typeface="Times New Roman"/>
                <a:cs typeface="Times New Roman"/>
              </a:rPr>
              <a:t>0.24</a:t>
            </a:r>
          </a:p>
        </p:txBody>
      </p:sp>
      <p:sp>
        <p:nvSpPr>
          <p:cNvPr id="139" name="Weight component 2" descr="Weight component 2"/>
          <p:cNvSpPr txBox="1"/>
          <p:nvPr/>
        </p:nvSpPr>
        <p:spPr>
          <a:xfrm>
            <a:off x="5093208" y="9729216"/>
            <a:ext cx="717804" cy="538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36" b="0" i="0" lang="en-US" dirty="0">
                <a:solidFill>
                  <a:srgbClr val="25D100"/>
                </a:solidFill>
                <a:latin typeface="Times New Roman"/>
                <a:ea typeface="Times New Roman"/>
                <a:cs typeface="Times New Roman"/>
              </a:rPr>
              <a:t>0.75</a:t>
            </a:r>
          </a:p>
        </p:txBody>
      </p:sp>
      <p:sp>
        <p:nvSpPr>
          <p:cNvPr id="140" name="Weight component 3" descr="Weight component 3"/>
          <p:cNvSpPr txBox="1"/>
          <p:nvPr/>
        </p:nvSpPr>
        <p:spPr>
          <a:xfrm>
            <a:off x="5093208" y="10168128"/>
            <a:ext cx="717804" cy="538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36" b="0" i="0" lang="en-US" dirty="0">
                <a:solidFill>
                  <a:srgbClr val="2375FF"/>
                </a:solidFill>
                <a:latin typeface="Times New Roman"/>
                <a:ea typeface="Times New Roman"/>
                <a:cs typeface="Times New Roman"/>
              </a:rPr>
              <a:t>0.01</a:t>
            </a:r>
          </a:p>
        </p:txBody>
      </p:sp>
      <p:sp>
        <p:nvSpPr>
          <p:cNvPr id="141" name="Weight field at x 1" descr="Weight field at x 1"/>
          <p:cNvSpPr txBox="1"/>
          <p:nvPr/>
        </p:nvSpPr>
        <p:spPr>
          <a:xfrm>
            <a:off x="5047488" y="10597896"/>
            <a:ext cx="429768" cy="4960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20" b="1" i="0"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</a:t>
            </a:r>
          </a:p>
        </p:txBody>
      </p:sp>
      <p:sp>
        <p:nvSpPr>
          <p:cNvPr id="142" name="Weight field at x 2" descr="Weight field at x 2"/>
          <p:cNvSpPr txBox="1"/>
          <p:nvPr/>
        </p:nvSpPr>
        <p:spPr>
          <a:xfrm>
            <a:off x="5367528" y="10597896"/>
            <a:ext cx="482889" cy="4960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20" b="0" i="0"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(x)</a:t>
            </a:r>
          </a:p>
        </p:txBody>
      </p:sp>
      <p:sp>
        <p:nvSpPr>
          <p:cNvPr id="143" name="Precompute caption 1" descr="Precompute caption 1"/>
          <p:cNvSpPr txBox="1"/>
          <p:nvPr/>
        </p:nvSpPr>
        <p:spPr>
          <a:xfrm>
            <a:off x="758952" y="10387584"/>
            <a:ext cx="2901748" cy="425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0" i="0"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Precompute weight field </a:t>
            </a:r>
          </a:p>
        </p:txBody>
      </p:sp>
      <p:sp>
        <p:nvSpPr>
          <p:cNvPr id="144" name="Precompute caption 2" descr="Precompute caption 2"/>
          <p:cNvSpPr txBox="1"/>
          <p:nvPr/>
        </p:nvSpPr>
        <p:spPr>
          <a:xfrm>
            <a:off x="3550972" y="10387584"/>
            <a:ext cx="384048" cy="425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</a:t>
            </a:r>
          </a:p>
        </p:txBody>
      </p:sp>
      <p:sp>
        <p:nvSpPr>
          <p:cNvPr id="145" name="Weight field equation" descr="Weight field equation"/>
          <p:cNvSpPr txBox="1"/>
          <p:nvPr/>
        </p:nvSpPr>
        <p:spPr>
          <a:xfrm>
            <a:off x="1967210" y="10698480"/>
            <a:ext cx="820460" cy="425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0" i="0"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Eq. (6)</a:t>
            </a:r>
          </a:p>
        </p:txBody>
      </p:sp>
      <p:sp>
        <p:nvSpPr>
          <p:cNvPr id="146" name="Deformation caption 1" descr="Deformation caption 1"/>
          <p:cNvSpPr txBox="1"/>
          <p:nvPr/>
        </p:nvSpPr>
        <p:spPr>
          <a:xfrm>
            <a:off x="6272784" y="10387584"/>
            <a:ext cx="2990817" cy="425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0" i="0"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Sample deformation field </a:t>
            </a:r>
          </a:p>
        </p:txBody>
      </p:sp>
      <p:sp>
        <p:nvSpPr>
          <p:cNvPr id="147" name="Deformation caption 2" descr="Deformation caption 2"/>
          <p:cNvSpPr txBox="1"/>
          <p:nvPr/>
        </p:nvSpPr>
        <p:spPr>
          <a:xfrm>
            <a:off x="9153873" y="10387584"/>
            <a:ext cx="337171" cy="425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Φ</a:t>
            </a:r>
          </a:p>
        </p:txBody>
      </p:sp>
      <p:sp>
        <p:nvSpPr>
          <p:cNvPr id="148" name="Deformation caption 3" descr="Deformation caption 3"/>
          <p:cNvSpPr txBox="1"/>
          <p:nvPr/>
        </p:nvSpPr>
        <p:spPr>
          <a:xfrm>
            <a:off x="9381315" y="10387584"/>
            <a:ext cx="1279646" cy="425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0" i="0"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and warp </a:t>
            </a:r>
          </a:p>
        </p:txBody>
      </p:sp>
      <p:sp>
        <p:nvSpPr>
          <p:cNvPr id="149" name="Deformation caption 4" descr="Deformation caption 4"/>
          <p:cNvSpPr txBox="1"/>
          <p:nvPr/>
        </p:nvSpPr>
        <p:spPr>
          <a:xfrm>
            <a:off x="10551233" y="10387584"/>
            <a:ext cx="307838" cy="425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</a:t>
            </a:r>
          </a:p>
        </p:txBody>
      </p:sp>
      <p:sp>
        <p:nvSpPr>
          <p:cNvPr id="150" name="Deformation equation" descr="Deformation equation"/>
          <p:cNvSpPr txBox="1"/>
          <p:nvPr/>
        </p:nvSpPr>
        <p:spPr>
          <a:xfrm>
            <a:off x="8203418" y="10698480"/>
            <a:ext cx="820460" cy="425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0" i="0"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Eq. (4)</a:t>
            </a:r>
          </a:p>
        </p:txBody>
      </p:sp>
      <p:sp>
        <p:nvSpPr>
          <p:cNvPr id="151" name="Stage B view 1 input operation" descr="Stage B view 1 input operation"/>
          <p:cNvSpPr/>
          <p:nvPr/>
        </p:nvSpPr>
        <p:spPr>
          <a:xfrm>
            <a:off x="10826496" y="7338609"/>
            <a:ext cx="512064" cy="172639"/>
          </a:xfrm>
          <a:custGeom>
            <a:avLst/>
            <a:gdLst/>
            <a:ahLst/>
            <a:cxnLst/>
            <a:rect l="0" t="0" r="r" b="b"/>
            <a:pathLst>
              <a:path w="56000" h="18880" fill="none" stroke="1" extrusionOk="0">
                <a:moveTo>
                  <a:pt x="0" y="9440"/>
                </a:moveTo>
                <a:lnTo>
                  <a:pt x="56000" y="9440"/>
                </a:lnTo>
                <a:moveTo>
                  <a:pt x="40000" y="0"/>
                </a:moveTo>
                <a:lnTo>
                  <a:pt x="56000" y="9440"/>
                </a:lnTo>
                <a:lnTo>
                  <a:pt x="40000" y="18880"/>
                </a:lnTo>
              </a:path>
            </a:pathLst>
          </a:custGeom>
          <a:noFill/>
          <a:ln w="42062" cap="flat">
            <a:solidFill>
              <a:srgbClr val="00A7F5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Stage B view 1 input gradient" descr="Stage B view 1 input gradient"/>
          <p:cNvSpPr/>
          <p:nvPr/>
        </p:nvSpPr>
        <p:spPr>
          <a:xfrm>
            <a:off x="10826496" y="7466625"/>
            <a:ext cx="512064" cy="172639"/>
          </a:xfrm>
          <a:custGeom>
            <a:avLst/>
            <a:gdLst/>
            <a:ahLst/>
            <a:cxnLst/>
            <a:rect l="0" t="0" r="r" b="b"/>
            <a:pathLst>
              <a:path w="56000" h="18880" fill="none" stroke="1" extrusionOk="0">
                <a:moveTo>
                  <a:pt x="56000" y="9440"/>
                </a:moveTo>
                <a:lnTo>
                  <a:pt x="0" y="9440"/>
                </a:lnTo>
                <a:moveTo>
                  <a:pt x="16000" y="18880"/>
                </a:moveTo>
                <a:lnTo>
                  <a:pt x="0" y="9440"/>
                </a:lnTo>
                <a:lnTo>
                  <a:pt x="16000" y="0"/>
                </a:lnTo>
              </a:path>
            </a:pathLst>
          </a:custGeom>
          <a:noFill/>
          <a:ln w="42062" cap="flat">
            <a:solidFill>
              <a:srgbClr val="FF7300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Stage B view 1 output operation" descr="Stage B view 1 output operation"/>
          <p:cNvSpPr/>
          <p:nvPr/>
        </p:nvSpPr>
        <p:spPr>
          <a:xfrm>
            <a:off x="12399264" y="7338609"/>
            <a:ext cx="530352" cy="172639"/>
          </a:xfrm>
          <a:custGeom>
            <a:avLst/>
            <a:gdLst/>
            <a:ahLst/>
            <a:cxnLst/>
            <a:rect l="0" t="0" r="r" b="b"/>
            <a:pathLst>
              <a:path w="58000" h="18880" fill="none" stroke="1" extrusionOk="0">
                <a:moveTo>
                  <a:pt x="0" y="9440"/>
                </a:moveTo>
                <a:lnTo>
                  <a:pt x="58000" y="9440"/>
                </a:lnTo>
                <a:moveTo>
                  <a:pt x="42000" y="0"/>
                </a:moveTo>
                <a:lnTo>
                  <a:pt x="58000" y="9440"/>
                </a:lnTo>
                <a:lnTo>
                  <a:pt x="42000" y="18880"/>
                </a:lnTo>
              </a:path>
            </a:pathLst>
          </a:custGeom>
          <a:noFill/>
          <a:ln w="42062" cap="flat">
            <a:solidFill>
              <a:srgbClr val="00A7F5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Stage B view 1 output gradient" descr="Stage B view 1 output gradient"/>
          <p:cNvSpPr/>
          <p:nvPr/>
        </p:nvSpPr>
        <p:spPr>
          <a:xfrm>
            <a:off x="12399264" y="7466625"/>
            <a:ext cx="530352" cy="172639"/>
          </a:xfrm>
          <a:custGeom>
            <a:avLst/>
            <a:gdLst/>
            <a:ahLst/>
            <a:cxnLst/>
            <a:rect l="0" t="0" r="r" b="b"/>
            <a:pathLst>
              <a:path w="58000" h="18880" fill="none" stroke="1" extrusionOk="0">
                <a:moveTo>
                  <a:pt x="58000" y="9440"/>
                </a:moveTo>
                <a:lnTo>
                  <a:pt x="0" y="9440"/>
                </a:lnTo>
                <a:moveTo>
                  <a:pt x="16000" y="18880"/>
                </a:moveTo>
                <a:lnTo>
                  <a:pt x="0" y="9440"/>
                </a:lnTo>
                <a:lnTo>
                  <a:pt x="16000" y="0"/>
                </a:lnTo>
              </a:path>
            </a:pathLst>
          </a:custGeom>
          <a:noFill/>
          <a:ln w="42062" cap="flat">
            <a:solidFill>
              <a:srgbClr val="FF7300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Stage B view 1 image comparison operation" descr="Stage B view 1 image comparison operation"/>
          <p:cNvSpPr/>
          <p:nvPr/>
        </p:nvSpPr>
        <p:spPr>
          <a:xfrm>
            <a:off x="14904720" y="7338609"/>
            <a:ext cx="740664" cy="172639"/>
          </a:xfrm>
          <a:custGeom>
            <a:avLst/>
            <a:gdLst/>
            <a:ahLst/>
            <a:cxnLst/>
            <a:rect l="0" t="0" r="r" b="b"/>
            <a:pathLst>
              <a:path w="81000" h="18880" fill="none" stroke="1" extrusionOk="0">
                <a:moveTo>
                  <a:pt x="0" y="9440"/>
                </a:moveTo>
                <a:lnTo>
                  <a:pt x="81000" y="9440"/>
                </a:lnTo>
                <a:moveTo>
                  <a:pt x="65000" y="0"/>
                </a:moveTo>
                <a:lnTo>
                  <a:pt x="81000" y="9440"/>
                </a:lnTo>
                <a:lnTo>
                  <a:pt x="65000" y="18880"/>
                </a:lnTo>
              </a:path>
            </a:pathLst>
          </a:custGeom>
          <a:noFill/>
          <a:ln w="42062" cap="flat">
            <a:solidFill>
              <a:srgbClr val="00A7F5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Stage B view 1 image comparison gradient" descr="Stage B view 1 image comparison gradient"/>
          <p:cNvSpPr/>
          <p:nvPr/>
        </p:nvSpPr>
        <p:spPr>
          <a:xfrm>
            <a:off x="14904720" y="7466625"/>
            <a:ext cx="740664" cy="172639"/>
          </a:xfrm>
          <a:custGeom>
            <a:avLst/>
            <a:gdLst/>
            <a:ahLst/>
            <a:cxnLst/>
            <a:rect l="0" t="0" r="r" b="b"/>
            <a:pathLst>
              <a:path w="81000" h="18880" fill="none" stroke="1" extrusionOk="0">
                <a:moveTo>
                  <a:pt x="81000" y="9440"/>
                </a:moveTo>
                <a:lnTo>
                  <a:pt x="0" y="9440"/>
                </a:lnTo>
                <a:moveTo>
                  <a:pt x="16000" y="18880"/>
                </a:moveTo>
                <a:lnTo>
                  <a:pt x="0" y="9440"/>
                </a:lnTo>
                <a:lnTo>
                  <a:pt x="16000" y="0"/>
                </a:lnTo>
              </a:path>
            </a:pathLst>
          </a:custGeom>
          <a:noFill/>
          <a:ln w="42062" cap="flat">
            <a:solidFill>
              <a:srgbClr val="FF7300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Stage B view 2 input operation" descr="Stage B view 2 input operation"/>
          <p:cNvSpPr/>
          <p:nvPr/>
        </p:nvSpPr>
        <p:spPr>
          <a:xfrm>
            <a:off x="10826496" y="9277137"/>
            <a:ext cx="512064" cy="172639"/>
          </a:xfrm>
          <a:custGeom>
            <a:avLst/>
            <a:gdLst/>
            <a:ahLst/>
            <a:cxnLst/>
            <a:rect l="0" t="0" r="r" b="b"/>
            <a:pathLst>
              <a:path w="56000" h="18880" fill="none" stroke="1" extrusionOk="0">
                <a:moveTo>
                  <a:pt x="0" y="9440"/>
                </a:moveTo>
                <a:lnTo>
                  <a:pt x="56000" y="9440"/>
                </a:lnTo>
                <a:moveTo>
                  <a:pt x="40000" y="0"/>
                </a:moveTo>
                <a:lnTo>
                  <a:pt x="56000" y="9440"/>
                </a:lnTo>
                <a:lnTo>
                  <a:pt x="40000" y="18880"/>
                </a:lnTo>
              </a:path>
            </a:pathLst>
          </a:custGeom>
          <a:noFill/>
          <a:ln w="42062" cap="flat">
            <a:solidFill>
              <a:srgbClr val="00A7F5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Stage B view 2 input gradient" descr="Stage B view 2 input gradient"/>
          <p:cNvSpPr/>
          <p:nvPr/>
        </p:nvSpPr>
        <p:spPr>
          <a:xfrm>
            <a:off x="10826496" y="9405153"/>
            <a:ext cx="512064" cy="172639"/>
          </a:xfrm>
          <a:custGeom>
            <a:avLst/>
            <a:gdLst/>
            <a:ahLst/>
            <a:cxnLst/>
            <a:rect l="0" t="0" r="r" b="b"/>
            <a:pathLst>
              <a:path w="56000" h="18880" fill="none" stroke="1" extrusionOk="0">
                <a:moveTo>
                  <a:pt x="56000" y="9440"/>
                </a:moveTo>
                <a:lnTo>
                  <a:pt x="0" y="9440"/>
                </a:lnTo>
                <a:moveTo>
                  <a:pt x="16000" y="18880"/>
                </a:moveTo>
                <a:lnTo>
                  <a:pt x="0" y="9440"/>
                </a:lnTo>
                <a:lnTo>
                  <a:pt x="16000" y="0"/>
                </a:lnTo>
              </a:path>
            </a:pathLst>
          </a:custGeom>
          <a:noFill/>
          <a:ln w="42062" cap="flat">
            <a:solidFill>
              <a:srgbClr val="FF7300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Stage B view 2 output operation" descr="Stage B view 2 output operation"/>
          <p:cNvSpPr/>
          <p:nvPr/>
        </p:nvSpPr>
        <p:spPr>
          <a:xfrm>
            <a:off x="12399264" y="9277137"/>
            <a:ext cx="530352" cy="172639"/>
          </a:xfrm>
          <a:custGeom>
            <a:avLst/>
            <a:gdLst/>
            <a:ahLst/>
            <a:cxnLst/>
            <a:rect l="0" t="0" r="r" b="b"/>
            <a:pathLst>
              <a:path w="58000" h="18880" fill="none" stroke="1" extrusionOk="0">
                <a:moveTo>
                  <a:pt x="0" y="9440"/>
                </a:moveTo>
                <a:lnTo>
                  <a:pt x="58000" y="9440"/>
                </a:lnTo>
                <a:moveTo>
                  <a:pt x="42000" y="0"/>
                </a:moveTo>
                <a:lnTo>
                  <a:pt x="58000" y="9440"/>
                </a:lnTo>
                <a:lnTo>
                  <a:pt x="42000" y="18880"/>
                </a:lnTo>
              </a:path>
            </a:pathLst>
          </a:custGeom>
          <a:noFill/>
          <a:ln w="42062" cap="flat">
            <a:solidFill>
              <a:srgbClr val="00A7F5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Stage B view 2 output gradient" descr="Stage B view 2 output gradient"/>
          <p:cNvSpPr/>
          <p:nvPr/>
        </p:nvSpPr>
        <p:spPr>
          <a:xfrm>
            <a:off x="12399264" y="9405153"/>
            <a:ext cx="530352" cy="172639"/>
          </a:xfrm>
          <a:custGeom>
            <a:avLst/>
            <a:gdLst/>
            <a:ahLst/>
            <a:cxnLst/>
            <a:rect l="0" t="0" r="r" b="b"/>
            <a:pathLst>
              <a:path w="58000" h="18880" fill="none" stroke="1" extrusionOk="0">
                <a:moveTo>
                  <a:pt x="58000" y="9440"/>
                </a:moveTo>
                <a:lnTo>
                  <a:pt x="0" y="9440"/>
                </a:lnTo>
                <a:moveTo>
                  <a:pt x="16000" y="18880"/>
                </a:moveTo>
                <a:lnTo>
                  <a:pt x="0" y="9440"/>
                </a:lnTo>
                <a:lnTo>
                  <a:pt x="16000" y="0"/>
                </a:lnTo>
              </a:path>
            </a:pathLst>
          </a:custGeom>
          <a:noFill/>
          <a:ln w="42062" cap="flat">
            <a:solidFill>
              <a:srgbClr val="FF7300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Stage B view 2 image comparison operation" descr="Stage B view 2 image comparison operation"/>
          <p:cNvSpPr/>
          <p:nvPr/>
        </p:nvSpPr>
        <p:spPr>
          <a:xfrm>
            <a:off x="14904720" y="9277137"/>
            <a:ext cx="740664" cy="172639"/>
          </a:xfrm>
          <a:custGeom>
            <a:avLst/>
            <a:gdLst/>
            <a:ahLst/>
            <a:cxnLst/>
            <a:rect l="0" t="0" r="r" b="b"/>
            <a:pathLst>
              <a:path w="81000" h="18880" fill="none" stroke="1" extrusionOk="0">
                <a:moveTo>
                  <a:pt x="0" y="9440"/>
                </a:moveTo>
                <a:lnTo>
                  <a:pt x="81000" y="9440"/>
                </a:lnTo>
                <a:moveTo>
                  <a:pt x="65000" y="0"/>
                </a:moveTo>
                <a:lnTo>
                  <a:pt x="81000" y="9440"/>
                </a:lnTo>
                <a:lnTo>
                  <a:pt x="65000" y="18880"/>
                </a:lnTo>
              </a:path>
            </a:pathLst>
          </a:custGeom>
          <a:noFill/>
          <a:ln w="42062" cap="flat">
            <a:solidFill>
              <a:srgbClr val="00A7F5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Stage B view 2 image comparison gradient" descr="Stage B view 2 image comparison gradient"/>
          <p:cNvSpPr/>
          <p:nvPr/>
        </p:nvSpPr>
        <p:spPr>
          <a:xfrm>
            <a:off x="14904720" y="9405153"/>
            <a:ext cx="740664" cy="172639"/>
          </a:xfrm>
          <a:custGeom>
            <a:avLst/>
            <a:gdLst/>
            <a:ahLst/>
            <a:cxnLst/>
            <a:rect l="0" t="0" r="r" b="b"/>
            <a:pathLst>
              <a:path w="81000" h="18880" fill="none" stroke="1" extrusionOk="0">
                <a:moveTo>
                  <a:pt x="81000" y="9440"/>
                </a:moveTo>
                <a:lnTo>
                  <a:pt x="0" y="9440"/>
                </a:lnTo>
                <a:moveTo>
                  <a:pt x="16000" y="18880"/>
                </a:moveTo>
                <a:lnTo>
                  <a:pt x="0" y="9440"/>
                </a:lnTo>
                <a:lnTo>
                  <a:pt x="16000" y="0"/>
                </a:lnTo>
              </a:path>
            </a:pathLst>
          </a:custGeom>
          <a:noFill/>
          <a:ln w="42062" cap="flat">
            <a:solidFill>
              <a:srgbClr val="FF7300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Stage B view 1 projection" descr="Stage B view 1 projection"/>
          <p:cNvSpPr txBox="1"/>
          <p:nvPr/>
        </p:nvSpPr>
        <p:spPr>
          <a:xfrm>
            <a:off x="11448288" y="6784848"/>
            <a:ext cx="367875" cy="5244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64" b="0" i="0" lang="en-US" dirty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𝒫</a:t>
            </a:r>
          </a:p>
        </p:txBody>
      </p:sp>
      <p:sp>
        <p:nvSpPr>
          <p:cNvPr id="164" name="Stage B view 1 opening" descr="Stage B view 1 opening"/>
          <p:cNvSpPr txBox="1"/>
          <p:nvPr/>
        </p:nvSpPr>
        <p:spPr>
          <a:xfrm>
            <a:off x="11715579" y="6803136"/>
            <a:ext cx="216298" cy="4960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20" b="0" i="0"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</a:t>
            </a:r>
          </a:p>
        </p:txBody>
      </p:sp>
      <p:sp>
        <p:nvSpPr>
          <p:cNvPr id="165" name="Stage B view 1 Pi" descr="Stage B view 1 Pi"/>
          <p:cNvSpPr txBox="1"/>
          <p:nvPr/>
        </p:nvSpPr>
        <p:spPr>
          <a:xfrm>
            <a:off x="11822149" y="6793992"/>
            <a:ext cx="365774" cy="510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92" b="1" i="0"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Π</a:t>
            </a:r>
          </a:p>
        </p:txBody>
      </p:sp>
      <p:sp>
        <p:nvSpPr>
          <p:cNvPr id="166" name="Stage B view 1 estimate" descr="Stage B view 1 estimate"/>
          <p:cNvSpPr/>
          <p:nvPr/>
        </p:nvSpPr>
        <p:spPr>
          <a:xfrm>
            <a:off x="11905732" y="6846661"/>
            <a:ext cx="88880" cy="36576"/>
          </a:xfrm>
          <a:custGeom>
            <a:avLst/>
            <a:gdLst/>
            <a:ahLst/>
            <a:cxnLst/>
            <a:rect l="0" t="0" r="r" b="b"/>
            <a:pathLst>
              <a:path w="9720" h="4000" fill="none" stroke="1" extrusionOk="0">
                <a:moveTo>
                  <a:pt x="0" y="4000"/>
                </a:moveTo>
                <a:lnTo>
                  <a:pt x="4860" y="0"/>
                </a:lnTo>
                <a:lnTo>
                  <a:pt x="9720" y="4000"/>
                </a:lnTo>
              </a:path>
            </a:pathLst>
          </a:custGeom>
          <a:noFill/>
          <a:ln w="15544" cap="flat">
            <a:solidFill>
              <a:srgbClr val="000000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Stage B view 1 index" descr="Stage B view 1 index"/>
          <p:cNvSpPr txBox="1"/>
          <p:nvPr/>
        </p:nvSpPr>
        <p:spPr>
          <a:xfrm>
            <a:off x="12078195" y="6996257"/>
            <a:ext cx="205283" cy="2959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3" b="0" i="0"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68" name="Stage B view 1 closing" descr="Stage B view 1 closing"/>
          <p:cNvSpPr txBox="1"/>
          <p:nvPr/>
        </p:nvSpPr>
        <p:spPr>
          <a:xfrm>
            <a:off x="12182803" y="6803136"/>
            <a:ext cx="216298" cy="4960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20" b="0" i="0"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169" name="Stage B view 1 renderer box" descr="Stage B view 1 renderer box"/>
          <p:cNvSpPr/>
          <p:nvPr/>
        </p:nvSpPr>
        <p:spPr>
          <a:xfrm>
            <a:off x="11365992" y="7251192"/>
            <a:ext cx="1005840" cy="493776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22859" cap="flat">
            <a:solidFill>
              <a:srgbClr val="000000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Stage B view 1 renderer line 1" descr="Stage B view 1 renderer line 1"/>
          <p:cNvSpPr txBox="1"/>
          <p:nvPr/>
        </p:nvSpPr>
        <p:spPr>
          <a:xfrm>
            <a:off x="11545307" y="7287768"/>
            <a:ext cx="756937" cy="25511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6" b="0" i="1"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Diff. X-ray</a:t>
            </a:r>
          </a:p>
        </p:txBody>
      </p:sp>
      <p:sp>
        <p:nvSpPr>
          <p:cNvPr id="171" name="Stage B view 1 renderer line 2" descr="Stage B view 1 renderer line 2"/>
          <p:cNvSpPr txBox="1"/>
          <p:nvPr/>
        </p:nvSpPr>
        <p:spPr>
          <a:xfrm>
            <a:off x="11581762" y="7488936"/>
            <a:ext cx="684028" cy="25511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6" b="0" i="1"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renderer</a:t>
            </a:r>
          </a:p>
        </p:txBody>
      </p:sp>
      <p:sp>
        <p:nvSpPr>
          <p:cNvPr id="172" name="Stage B view 1 equation" descr="Stage B view 1 equation"/>
          <p:cNvSpPr txBox="1"/>
          <p:nvPr/>
        </p:nvSpPr>
        <p:spPr>
          <a:xfrm>
            <a:off x="11513546" y="7754112"/>
            <a:ext cx="820460" cy="425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0" i="0"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Eq. (3)</a:t>
            </a:r>
          </a:p>
        </p:txBody>
      </p:sp>
      <p:sp>
        <p:nvSpPr>
          <p:cNvPr id="173" name="Stage B view 2 projection" descr="Stage B view 2 projection"/>
          <p:cNvSpPr txBox="1"/>
          <p:nvPr/>
        </p:nvSpPr>
        <p:spPr>
          <a:xfrm>
            <a:off x="11448288" y="8723376"/>
            <a:ext cx="367875" cy="5244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64" b="0" i="0" lang="en-US" dirty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𝒫</a:t>
            </a:r>
          </a:p>
        </p:txBody>
      </p:sp>
      <p:sp>
        <p:nvSpPr>
          <p:cNvPr id="174" name="Stage B view 2 opening" descr="Stage B view 2 opening"/>
          <p:cNvSpPr txBox="1"/>
          <p:nvPr/>
        </p:nvSpPr>
        <p:spPr>
          <a:xfrm>
            <a:off x="11715579" y="8741664"/>
            <a:ext cx="216298" cy="4960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20" b="0" i="0"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</a:t>
            </a:r>
          </a:p>
        </p:txBody>
      </p:sp>
      <p:sp>
        <p:nvSpPr>
          <p:cNvPr id="175" name="Stage B view 2 Pi" descr="Stage B view 2 Pi"/>
          <p:cNvSpPr txBox="1"/>
          <p:nvPr/>
        </p:nvSpPr>
        <p:spPr>
          <a:xfrm>
            <a:off x="11822149" y="8732520"/>
            <a:ext cx="365774" cy="510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92" b="1" i="0"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Π</a:t>
            </a:r>
          </a:p>
        </p:txBody>
      </p:sp>
      <p:sp>
        <p:nvSpPr>
          <p:cNvPr id="176" name="Stage B view 2 estimate" descr="Stage B view 2 estimate"/>
          <p:cNvSpPr/>
          <p:nvPr/>
        </p:nvSpPr>
        <p:spPr>
          <a:xfrm>
            <a:off x="11905732" y="8785189"/>
            <a:ext cx="88880" cy="36576"/>
          </a:xfrm>
          <a:custGeom>
            <a:avLst/>
            <a:gdLst/>
            <a:ahLst/>
            <a:cxnLst/>
            <a:rect l="0" t="0" r="r" b="b"/>
            <a:pathLst>
              <a:path w="9720" h="4000" fill="none" stroke="1" extrusionOk="0">
                <a:moveTo>
                  <a:pt x="0" y="4000"/>
                </a:moveTo>
                <a:lnTo>
                  <a:pt x="4860" y="0"/>
                </a:lnTo>
                <a:lnTo>
                  <a:pt x="9720" y="4000"/>
                </a:lnTo>
              </a:path>
            </a:pathLst>
          </a:custGeom>
          <a:noFill/>
          <a:ln w="15544" cap="flat">
            <a:solidFill>
              <a:srgbClr val="000000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Stage B view 2 index" descr="Stage B view 2 index"/>
          <p:cNvSpPr txBox="1"/>
          <p:nvPr/>
        </p:nvSpPr>
        <p:spPr>
          <a:xfrm>
            <a:off x="12078195" y="8934785"/>
            <a:ext cx="205283" cy="29593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3" b="0" i="0"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78" name="Stage B view 2 closing" descr="Stage B view 2 closing"/>
          <p:cNvSpPr txBox="1"/>
          <p:nvPr/>
        </p:nvSpPr>
        <p:spPr>
          <a:xfrm>
            <a:off x="12182803" y="8741664"/>
            <a:ext cx="216298" cy="4960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20" b="0" i="0"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179" name="Stage B view 2 renderer box" descr="Stage B view 2 renderer box"/>
          <p:cNvSpPr/>
          <p:nvPr/>
        </p:nvSpPr>
        <p:spPr>
          <a:xfrm>
            <a:off x="11365992" y="9189720"/>
            <a:ext cx="1005840" cy="493776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22859" cap="flat">
            <a:solidFill>
              <a:srgbClr val="000000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Stage B view 2 renderer line 1" descr="Stage B view 2 renderer line 1"/>
          <p:cNvSpPr txBox="1"/>
          <p:nvPr/>
        </p:nvSpPr>
        <p:spPr>
          <a:xfrm>
            <a:off x="11545307" y="9226296"/>
            <a:ext cx="756937" cy="25511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6" b="0" i="1"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Diff. X-ray</a:t>
            </a:r>
          </a:p>
        </p:txBody>
      </p:sp>
      <p:sp>
        <p:nvSpPr>
          <p:cNvPr id="181" name="Stage B view 2 renderer line 2" descr="Stage B view 2 renderer line 2"/>
          <p:cNvSpPr txBox="1"/>
          <p:nvPr/>
        </p:nvSpPr>
        <p:spPr>
          <a:xfrm>
            <a:off x="11581762" y="9427464"/>
            <a:ext cx="684028" cy="25511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96" b="0" i="1"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renderer</a:t>
            </a:r>
          </a:p>
        </p:txBody>
      </p:sp>
      <p:sp>
        <p:nvSpPr>
          <p:cNvPr id="182" name="Stage B view 2 equation" descr="Stage B view 2 equation"/>
          <p:cNvSpPr txBox="1"/>
          <p:nvPr/>
        </p:nvSpPr>
        <p:spPr>
          <a:xfrm>
            <a:off x="11513546" y="9628632"/>
            <a:ext cx="820460" cy="425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0" i="0"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Eq. (3)</a:t>
            </a:r>
          </a:p>
        </p:txBody>
      </p:sp>
      <p:sp>
        <p:nvSpPr>
          <p:cNvPr id="183" name="Stage B rendered heading" descr="Stage B rendered heading"/>
          <p:cNvSpPr txBox="1"/>
          <p:nvPr/>
        </p:nvSpPr>
        <p:spPr>
          <a:xfrm>
            <a:off x="13116547" y="6236208"/>
            <a:ext cx="1692683" cy="396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0" i="0"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Rendered X-ray</a:t>
            </a:r>
          </a:p>
        </p:txBody>
      </p:sp>
      <p:sp>
        <p:nvSpPr>
          <p:cNvPr id="184" name="Stage B real heading" descr="Stage B real heading"/>
          <p:cNvSpPr txBox="1"/>
          <p:nvPr/>
        </p:nvSpPr>
        <p:spPr>
          <a:xfrm>
            <a:off x="16122865" y="6236208"/>
            <a:ext cx="1129870" cy="396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0" i="0"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Real X-ray</a:t>
            </a:r>
          </a:p>
        </p:txBody>
      </p:sp>
      <p:pic>
        <p:nvPicPr>
          <p:cNvPr id="185" name="Stage B b_render_1" descr="Stage B b_render_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957048" y="6547104"/>
            <a:ext cx="1901952" cy="1901952"/>
          </a:xfrm>
          <a:prstGeom prst="rect">
            <a:avLst/>
          </a:prstGeom>
        </p:spPr>
      </p:pic>
      <p:pic>
        <p:nvPicPr>
          <p:cNvPr id="186" name="Stage B b_render_2" descr="Stage B b_render_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957048" y="8476488"/>
            <a:ext cx="1901952" cy="1911096"/>
          </a:xfrm>
          <a:prstGeom prst="rect">
            <a:avLst/>
          </a:prstGeom>
        </p:spPr>
      </p:pic>
      <p:pic>
        <p:nvPicPr>
          <p:cNvPr id="187" name="Stage B b_real_1" descr="Stage B b_real_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681960" y="6547104"/>
            <a:ext cx="1901952" cy="1901952"/>
          </a:xfrm>
          <a:prstGeom prst="rect">
            <a:avLst/>
          </a:prstGeom>
        </p:spPr>
      </p:pic>
      <p:pic>
        <p:nvPicPr>
          <p:cNvPr id="188" name="Stage B b_real_2" descr="Stage B b_real_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681960" y="8476488"/>
            <a:ext cx="1901952" cy="1911096"/>
          </a:xfrm>
          <a:prstGeom prst="rect">
            <a:avLst/>
          </a:prstGeom>
        </p:spPr>
      </p:pic>
      <p:sp>
        <p:nvSpPr>
          <p:cNvPr id="189" name="Stage B view 1 loss symbol" descr="Stage B view 1 loss symbol"/>
          <p:cNvSpPr txBox="1"/>
          <p:nvPr/>
        </p:nvSpPr>
        <p:spPr>
          <a:xfrm>
            <a:off x="15140221" y="6976872"/>
            <a:ext cx="370246" cy="5244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64" b="0" i="0" lang="en-US" dirty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ℒ</a:t>
            </a:r>
          </a:p>
        </p:txBody>
      </p:sp>
      <p:sp>
        <p:nvSpPr>
          <p:cNvPr id="190" name="Stage B view 1 loss equation" descr="Stage B view 1 loss equation"/>
          <p:cNvSpPr txBox="1"/>
          <p:nvPr/>
        </p:nvSpPr>
        <p:spPr>
          <a:xfrm>
            <a:off x="14915114" y="7662672"/>
            <a:ext cx="820460" cy="425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0" i="0"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Eq. (7)</a:t>
            </a:r>
          </a:p>
        </p:txBody>
      </p:sp>
      <p:sp>
        <p:nvSpPr>
          <p:cNvPr id="191" name="Stage B view 2 loss symbol" descr="Stage B view 2 loss symbol"/>
          <p:cNvSpPr txBox="1"/>
          <p:nvPr/>
        </p:nvSpPr>
        <p:spPr>
          <a:xfrm>
            <a:off x="15140221" y="8915400"/>
            <a:ext cx="370246" cy="5244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64" b="0" i="0" lang="en-US" dirty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ℒ</a:t>
            </a:r>
          </a:p>
        </p:txBody>
      </p:sp>
      <p:sp>
        <p:nvSpPr>
          <p:cNvPr id="192" name="Stage B view 2 loss equation" descr="Stage B view 2 loss equation"/>
          <p:cNvSpPr txBox="1"/>
          <p:nvPr/>
        </p:nvSpPr>
        <p:spPr>
          <a:xfrm>
            <a:off x="14915114" y="9601200"/>
            <a:ext cx="820460" cy="42519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marL="0" marR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0" i="0" lang="en-US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Eq. (7)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EFERENCE_IMAGE_DO_NOT_EVALUATE" descr="PolyPose Deformable 2D3D Registration via Polyrigid Transformations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721072" cy="110642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PolyPose: editable diagram reconstruction</dc:title>
  <dc:subject>Deformable 2D/3D Registration via Polyrigid Transformations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