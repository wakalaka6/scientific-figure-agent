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7373600" cy="85915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363" name="Panel frames and dotted backgrounds"/>
          <p:cNvGrpSpPr/>
          <p:nvPr/>
        </p:nvGrpSpPr>
        <p:grpSpPr>
          <a:xfrm>
            <a:off x="3600450" y="152400"/>
            <a:ext cx="13763625" cy="8401050"/>
            <a:chOff x="3600450" y="152400"/>
            <a:chExt cx="13763625" cy="8401050"/>
          </a:xfrm>
        </p:grpSpPr>
        <p:sp>
          <p:nvSpPr>
            <p:cNvPr id="2" name="Background dot"/>
            <p:cNvSpPr/>
            <p:nvPr/>
          </p:nvSpPr>
          <p:spPr>
            <a:xfrm>
              <a:off x="373380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" name="Background dot"/>
            <p:cNvSpPr/>
            <p:nvPr/>
          </p:nvSpPr>
          <p:spPr>
            <a:xfrm>
              <a:off x="390525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Background dot"/>
            <p:cNvSpPr/>
            <p:nvPr/>
          </p:nvSpPr>
          <p:spPr>
            <a:xfrm>
              <a:off x="407670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ackground dot"/>
            <p:cNvSpPr/>
            <p:nvPr/>
          </p:nvSpPr>
          <p:spPr>
            <a:xfrm>
              <a:off x="424815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ackground dot"/>
            <p:cNvSpPr/>
            <p:nvPr/>
          </p:nvSpPr>
          <p:spPr>
            <a:xfrm>
              <a:off x="441960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ackground dot"/>
            <p:cNvSpPr/>
            <p:nvPr/>
          </p:nvSpPr>
          <p:spPr>
            <a:xfrm>
              <a:off x="459105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Background dot"/>
            <p:cNvSpPr/>
            <p:nvPr/>
          </p:nvSpPr>
          <p:spPr>
            <a:xfrm>
              <a:off x="476250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ackground dot"/>
            <p:cNvSpPr/>
            <p:nvPr/>
          </p:nvSpPr>
          <p:spPr>
            <a:xfrm>
              <a:off x="493395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ackground dot"/>
            <p:cNvSpPr/>
            <p:nvPr/>
          </p:nvSpPr>
          <p:spPr>
            <a:xfrm>
              <a:off x="510540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ackground dot"/>
            <p:cNvSpPr/>
            <p:nvPr/>
          </p:nvSpPr>
          <p:spPr>
            <a:xfrm>
              <a:off x="527685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Background dot"/>
            <p:cNvSpPr/>
            <p:nvPr/>
          </p:nvSpPr>
          <p:spPr>
            <a:xfrm>
              <a:off x="544830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ackground dot"/>
            <p:cNvSpPr/>
            <p:nvPr/>
          </p:nvSpPr>
          <p:spPr>
            <a:xfrm>
              <a:off x="561975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ackground dot"/>
            <p:cNvSpPr/>
            <p:nvPr/>
          </p:nvSpPr>
          <p:spPr>
            <a:xfrm>
              <a:off x="579120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ackground dot"/>
            <p:cNvSpPr/>
            <p:nvPr/>
          </p:nvSpPr>
          <p:spPr>
            <a:xfrm>
              <a:off x="596265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Background dot"/>
            <p:cNvSpPr/>
            <p:nvPr/>
          </p:nvSpPr>
          <p:spPr>
            <a:xfrm>
              <a:off x="613410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ackground dot"/>
            <p:cNvSpPr/>
            <p:nvPr/>
          </p:nvSpPr>
          <p:spPr>
            <a:xfrm>
              <a:off x="630555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ackground dot"/>
            <p:cNvSpPr/>
            <p:nvPr/>
          </p:nvSpPr>
          <p:spPr>
            <a:xfrm>
              <a:off x="647700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ackground dot"/>
            <p:cNvSpPr/>
            <p:nvPr/>
          </p:nvSpPr>
          <p:spPr>
            <a:xfrm>
              <a:off x="664845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Background dot"/>
            <p:cNvSpPr/>
            <p:nvPr/>
          </p:nvSpPr>
          <p:spPr>
            <a:xfrm>
              <a:off x="681990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Background dot"/>
            <p:cNvSpPr/>
            <p:nvPr/>
          </p:nvSpPr>
          <p:spPr>
            <a:xfrm>
              <a:off x="699135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Background dot"/>
            <p:cNvSpPr/>
            <p:nvPr/>
          </p:nvSpPr>
          <p:spPr>
            <a:xfrm>
              <a:off x="716280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Background dot"/>
            <p:cNvSpPr/>
            <p:nvPr/>
          </p:nvSpPr>
          <p:spPr>
            <a:xfrm>
              <a:off x="733425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Background dot"/>
            <p:cNvSpPr/>
            <p:nvPr/>
          </p:nvSpPr>
          <p:spPr>
            <a:xfrm>
              <a:off x="750570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Background dot"/>
            <p:cNvSpPr/>
            <p:nvPr/>
          </p:nvSpPr>
          <p:spPr>
            <a:xfrm>
              <a:off x="767715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Background dot"/>
            <p:cNvSpPr/>
            <p:nvPr/>
          </p:nvSpPr>
          <p:spPr>
            <a:xfrm>
              <a:off x="784860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Background dot"/>
            <p:cNvSpPr/>
            <p:nvPr/>
          </p:nvSpPr>
          <p:spPr>
            <a:xfrm>
              <a:off x="802005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Background dot"/>
            <p:cNvSpPr/>
            <p:nvPr/>
          </p:nvSpPr>
          <p:spPr>
            <a:xfrm>
              <a:off x="819150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Background dot"/>
            <p:cNvSpPr/>
            <p:nvPr/>
          </p:nvSpPr>
          <p:spPr>
            <a:xfrm>
              <a:off x="836295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Background dot"/>
            <p:cNvSpPr/>
            <p:nvPr/>
          </p:nvSpPr>
          <p:spPr>
            <a:xfrm>
              <a:off x="853440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Background dot"/>
            <p:cNvSpPr/>
            <p:nvPr/>
          </p:nvSpPr>
          <p:spPr>
            <a:xfrm>
              <a:off x="13677900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Background dot"/>
            <p:cNvSpPr/>
            <p:nvPr/>
          </p:nvSpPr>
          <p:spPr>
            <a:xfrm>
              <a:off x="3733800" y="457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Background dot"/>
            <p:cNvSpPr/>
            <p:nvPr/>
          </p:nvSpPr>
          <p:spPr>
            <a:xfrm>
              <a:off x="3905250" y="457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Background dot"/>
            <p:cNvSpPr/>
            <p:nvPr/>
          </p:nvSpPr>
          <p:spPr>
            <a:xfrm>
              <a:off x="4076700" y="457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Background dot"/>
            <p:cNvSpPr/>
            <p:nvPr/>
          </p:nvSpPr>
          <p:spPr>
            <a:xfrm>
              <a:off x="8020050" y="457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Background dot"/>
            <p:cNvSpPr/>
            <p:nvPr/>
          </p:nvSpPr>
          <p:spPr>
            <a:xfrm>
              <a:off x="8191500" y="457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Background dot"/>
            <p:cNvSpPr/>
            <p:nvPr/>
          </p:nvSpPr>
          <p:spPr>
            <a:xfrm>
              <a:off x="8362950" y="457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Background dot"/>
            <p:cNvSpPr/>
            <p:nvPr/>
          </p:nvSpPr>
          <p:spPr>
            <a:xfrm>
              <a:off x="8534400" y="457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Background dot"/>
            <p:cNvSpPr/>
            <p:nvPr/>
          </p:nvSpPr>
          <p:spPr>
            <a:xfrm>
              <a:off x="13677900" y="457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Background dot"/>
            <p:cNvSpPr/>
            <p:nvPr/>
          </p:nvSpPr>
          <p:spPr>
            <a:xfrm>
              <a:off x="3733800" y="628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Background dot"/>
            <p:cNvSpPr/>
            <p:nvPr/>
          </p:nvSpPr>
          <p:spPr>
            <a:xfrm>
              <a:off x="3905250" y="628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ackground dot"/>
            <p:cNvSpPr/>
            <p:nvPr/>
          </p:nvSpPr>
          <p:spPr>
            <a:xfrm>
              <a:off x="4076700" y="628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Background dot"/>
            <p:cNvSpPr/>
            <p:nvPr/>
          </p:nvSpPr>
          <p:spPr>
            <a:xfrm>
              <a:off x="8020050" y="628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Background dot"/>
            <p:cNvSpPr/>
            <p:nvPr/>
          </p:nvSpPr>
          <p:spPr>
            <a:xfrm>
              <a:off x="8191500" y="628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Background dot"/>
            <p:cNvSpPr/>
            <p:nvPr/>
          </p:nvSpPr>
          <p:spPr>
            <a:xfrm>
              <a:off x="8362950" y="628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ackground dot"/>
            <p:cNvSpPr/>
            <p:nvPr/>
          </p:nvSpPr>
          <p:spPr>
            <a:xfrm>
              <a:off x="8534400" y="628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Background dot"/>
            <p:cNvSpPr/>
            <p:nvPr/>
          </p:nvSpPr>
          <p:spPr>
            <a:xfrm>
              <a:off x="13677900" y="628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Background dot"/>
            <p:cNvSpPr/>
            <p:nvPr/>
          </p:nvSpPr>
          <p:spPr>
            <a:xfrm>
              <a:off x="3733800" y="8001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Background dot"/>
            <p:cNvSpPr/>
            <p:nvPr/>
          </p:nvSpPr>
          <p:spPr>
            <a:xfrm>
              <a:off x="3905250" y="8001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Background dot"/>
            <p:cNvSpPr/>
            <p:nvPr/>
          </p:nvSpPr>
          <p:spPr>
            <a:xfrm>
              <a:off x="4076700" y="8001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Background dot"/>
            <p:cNvSpPr/>
            <p:nvPr/>
          </p:nvSpPr>
          <p:spPr>
            <a:xfrm>
              <a:off x="8020050" y="8001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Background dot"/>
            <p:cNvSpPr/>
            <p:nvPr/>
          </p:nvSpPr>
          <p:spPr>
            <a:xfrm>
              <a:off x="8191500" y="8001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Background dot"/>
            <p:cNvSpPr/>
            <p:nvPr/>
          </p:nvSpPr>
          <p:spPr>
            <a:xfrm>
              <a:off x="8362950" y="8001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Background dot"/>
            <p:cNvSpPr/>
            <p:nvPr/>
          </p:nvSpPr>
          <p:spPr>
            <a:xfrm>
              <a:off x="8534400" y="8001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Background dot"/>
            <p:cNvSpPr/>
            <p:nvPr/>
          </p:nvSpPr>
          <p:spPr>
            <a:xfrm>
              <a:off x="13677900" y="8001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Background dot"/>
            <p:cNvSpPr/>
            <p:nvPr/>
          </p:nvSpPr>
          <p:spPr>
            <a:xfrm>
              <a:off x="3733800" y="9715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Background dot"/>
            <p:cNvSpPr/>
            <p:nvPr/>
          </p:nvSpPr>
          <p:spPr>
            <a:xfrm>
              <a:off x="3905250" y="9715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Background dot"/>
            <p:cNvSpPr/>
            <p:nvPr/>
          </p:nvSpPr>
          <p:spPr>
            <a:xfrm>
              <a:off x="4076700" y="9715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Background dot"/>
            <p:cNvSpPr/>
            <p:nvPr/>
          </p:nvSpPr>
          <p:spPr>
            <a:xfrm>
              <a:off x="8020050" y="9715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Background dot"/>
            <p:cNvSpPr/>
            <p:nvPr/>
          </p:nvSpPr>
          <p:spPr>
            <a:xfrm>
              <a:off x="8191500" y="9715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Background dot"/>
            <p:cNvSpPr/>
            <p:nvPr/>
          </p:nvSpPr>
          <p:spPr>
            <a:xfrm>
              <a:off x="8362950" y="9715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Background dot"/>
            <p:cNvSpPr/>
            <p:nvPr/>
          </p:nvSpPr>
          <p:spPr>
            <a:xfrm>
              <a:off x="8534400" y="9715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Background dot"/>
            <p:cNvSpPr/>
            <p:nvPr/>
          </p:nvSpPr>
          <p:spPr>
            <a:xfrm>
              <a:off x="13677900" y="9715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Background dot"/>
            <p:cNvSpPr/>
            <p:nvPr/>
          </p:nvSpPr>
          <p:spPr>
            <a:xfrm>
              <a:off x="3733800" y="11430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Background dot"/>
            <p:cNvSpPr/>
            <p:nvPr/>
          </p:nvSpPr>
          <p:spPr>
            <a:xfrm>
              <a:off x="3905250" y="11430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Background dot"/>
            <p:cNvSpPr/>
            <p:nvPr/>
          </p:nvSpPr>
          <p:spPr>
            <a:xfrm>
              <a:off x="4076700" y="11430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Background dot"/>
            <p:cNvSpPr/>
            <p:nvPr/>
          </p:nvSpPr>
          <p:spPr>
            <a:xfrm>
              <a:off x="8020050" y="11430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Background dot"/>
            <p:cNvSpPr/>
            <p:nvPr/>
          </p:nvSpPr>
          <p:spPr>
            <a:xfrm>
              <a:off x="8191500" y="11430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Background dot"/>
            <p:cNvSpPr/>
            <p:nvPr/>
          </p:nvSpPr>
          <p:spPr>
            <a:xfrm>
              <a:off x="8362950" y="11430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Background dot"/>
            <p:cNvSpPr/>
            <p:nvPr/>
          </p:nvSpPr>
          <p:spPr>
            <a:xfrm>
              <a:off x="8534400" y="11430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Background dot"/>
            <p:cNvSpPr/>
            <p:nvPr/>
          </p:nvSpPr>
          <p:spPr>
            <a:xfrm>
              <a:off x="13677900" y="11430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Background dot"/>
            <p:cNvSpPr/>
            <p:nvPr/>
          </p:nvSpPr>
          <p:spPr>
            <a:xfrm>
              <a:off x="3733800" y="13144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Background dot"/>
            <p:cNvSpPr/>
            <p:nvPr/>
          </p:nvSpPr>
          <p:spPr>
            <a:xfrm>
              <a:off x="3905250" y="13144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Background dot"/>
            <p:cNvSpPr/>
            <p:nvPr/>
          </p:nvSpPr>
          <p:spPr>
            <a:xfrm>
              <a:off x="4076700" y="13144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Background dot"/>
            <p:cNvSpPr/>
            <p:nvPr/>
          </p:nvSpPr>
          <p:spPr>
            <a:xfrm>
              <a:off x="8020050" y="13144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Background dot"/>
            <p:cNvSpPr/>
            <p:nvPr/>
          </p:nvSpPr>
          <p:spPr>
            <a:xfrm>
              <a:off x="8191500" y="13144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Background dot"/>
            <p:cNvSpPr/>
            <p:nvPr/>
          </p:nvSpPr>
          <p:spPr>
            <a:xfrm>
              <a:off x="8362950" y="13144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Background dot"/>
            <p:cNvSpPr/>
            <p:nvPr/>
          </p:nvSpPr>
          <p:spPr>
            <a:xfrm>
              <a:off x="8534400" y="13144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Background dot"/>
            <p:cNvSpPr/>
            <p:nvPr/>
          </p:nvSpPr>
          <p:spPr>
            <a:xfrm>
              <a:off x="13677900" y="13144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Background dot"/>
            <p:cNvSpPr/>
            <p:nvPr/>
          </p:nvSpPr>
          <p:spPr>
            <a:xfrm>
              <a:off x="3733800" y="14859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Background dot"/>
            <p:cNvSpPr/>
            <p:nvPr/>
          </p:nvSpPr>
          <p:spPr>
            <a:xfrm>
              <a:off x="3905250" y="14859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Background dot"/>
            <p:cNvSpPr/>
            <p:nvPr/>
          </p:nvSpPr>
          <p:spPr>
            <a:xfrm>
              <a:off x="4076700" y="14859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Background dot"/>
            <p:cNvSpPr/>
            <p:nvPr/>
          </p:nvSpPr>
          <p:spPr>
            <a:xfrm>
              <a:off x="8020050" y="14859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Background dot"/>
            <p:cNvSpPr/>
            <p:nvPr/>
          </p:nvSpPr>
          <p:spPr>
            <a:xfrm>
              <a:off x="8191500" y="14859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Background dot"/>
            <p:cNvSpPr/>
            <p:nvPr/>
          </p:nvSpPr>
          <p:spPr>
            <a:xfrm>
              <a:off x="8362950" y="14859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" name="Background dot"/>
            <p:cNvSpPr/>
            <p:nvPr/>
          </p:nvSpPr>
          <p:spPr>
            <a:xfrm>
              <a:off x="8534400" y="14859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Background dot"/>
            <p:cNvSpPr/>
            <p:nvPr/>
          </p:nvSpPr>
          <p:spPr>
            <a:xfrm>
              <a:off x="13677900" y="14859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Background dot"/>
            <p:cNvSpPr/>
            <p:nvPr/>
          </p:nvSpPr>
          <p:spPr>
            <a:xfrm>
              <a:off x="3733800" y="16573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Background dot"/>
            <p:cNvSpPr/>
            <p:nvPr/>
          </p:nvSpPr>
          <p:spPr>
            <a:xfrm>
              <a:off x="3905250" y="16573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" name="Background dot"/>
            <p:cNvSpPr/>
            <p:nvPr/>
          </p:nvSpPr>
          <p:spPr>
            <a:xfrm>
              <a:off x="4076700" y="16573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" name="Background dot"/>
            <p:cNvSpPr/>
            <p:nvPr/>
          </p:nvSpPr>
          <p:spPr>
            <a:xfrm>
              <a:off x="8020050" y="16573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Background dot"/>
            <p:cNvSpPr/>
            <p:nvPr/>
          </p:nvSpPr>
          <p:spPr>
            <a:xfrm>
              <a:off x="8191500" y="16573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Background dot"/>
            <p:cNvSpPr/>
            <p:nvPr/>
          </p:nvSpPr>
          <p:spPr>
            <a:xfrm>
              <a:off x="8362950" y="16573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Background dot"/>
            <p:cNvSpPr/>
            <p:nvPr/>
          </p:nvSpPr>
          <p:spPr>
            <a:xfrm>
              <a:off x="8534400" y="16573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" name="Background dot"/>
            <p:cNvSpPr/>
            <p:nvPr/>
          </p:nvSpPr>
          <p:spPr>
            <a:xfrm>
              <a:off x="13677900" y="16573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" name="Background dot"/>
            <p:cNvSpPr/>
            <p:nvPr/>
          </p:nvSpPr>
          <p:spPr>
            <a:xfrm>
              <a:off x="3733800" y="18288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" name="Background dot"/>
            <p:cNvSpPr/>
            <p:nvPr/>
          </p:nvSpPr>
          <p:spPr>
            <a:xfrm>
              <a:off x="3905250" y="18288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Background dot"/>
            <p:cNvSpPr/>
            <p:nvPr/>
          </p:nvSpPr>
          <p:spPr>
            <a:xfrm>
              <a:off x="4076700" y="18288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Background dot"/>
            <p:cNvSpPr/>
            <p:nvPr/>
          </p:nvSpPr>
          <p:spPr>
            <a:xfrm>
              <a:off x="8020050" y="18288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" name="Background dot"/>
            <p:cNvSpPr/>
            <p:nvPr/>
          </p:nvSpPr>
          <p:spPr>
            <a:xfrm>
              <a:off x="8191500" y="18288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" name="Background dot"/>
            <p:cNvSpPr/>
            <p:nvPr/>
          </p:nvSpPr>
          <p:spPr>
            <a:xfrm>
              <a:off x="8362950" y="18288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Background dot"/>
            <p:cNvSpPr/>
            <p:nvPr/>
          </p:nvSpPr>
          <p:spPr>
            <a:xfrm>
              <a:off x="8534400" y="18288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" name="Background dot"/>
            <p:cNvSpPr/>
            <p:nvPr/>
          </p:nvSpPr>
          <p:spPr>
            <a:xfrm>
              <a:off x="13677900" y="18288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Background dot"/>
            <p:cNvSpPr/>
            <p:nvPr/>
          </p:nvSpPr>
          <p:spPr>
            <a:xfrm>
              <a:off x="3733800" y="20002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Background dot"/>
            <p:cNvSpPr/>
            <p:nvPr/>
          </p:nvSpPr>
          <p:spPr>
            <a:xfrm>
              <a:off x="3905250" y="20002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" name="Background dot"/>
            <p:cNvSpPr/>
            <p:nvPr/>
          </p:nvSpPr>
          <p:spPr>
            <a:xfrm>
              <a:off x="4076700" y="20002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" name="Background dot"/>
            <p:cNvSpPr/>
            <p:nvPr/>
          </p:nvSpPr>
          <p:spPr>
            <a:xfrm>
              <a:off x="8020050" y="20002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" name="Background dot"/>
            <p:cNvSpPr/>
            <p:nvPr/>
          </p:nvSpPr>
          <p:spPr>
            <a:xfrm>
              <a:off x="8191500" y="20002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" name="Background dot"/>
            <p:cNvSpPr/>
            <p:nvPr/>
          </p:nvSpPr>
          <p:spPr>
            <a:xfrm>
              <a:off x="8362950" y="20002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" name="Background dot"/>
            <p:cNvSpPr/>
            <p:nvPr/>
          </p:nvSpPr>
          <p:spPr>
            <a:xfrm>
              <a:off x="8534400" y="20002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" name="Background dot"/>
            <p:cNvSpPr/>
            <p:nvPr/>
          </p:nvSpPr>
          <p:spPr>
            <a:xfrm>
              <a:off x="13677900" y="20002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" name="Background dot"/>
            <p:cNvSpPr/>
            <p:nvPr/>
          </p:nvSpPr>
          <p:spPr>
            <a:xfrm>
              <a:off x="3733800" y="21717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Background dot"/>
            <p:cNvSpPr/>
            <p:nvPr/>
          </p:nvSpPr>
          <p:spPr>
            <a:xfrm>
              <a:off x="3905250" y="21717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" name="Background dot"/>
            <p:cNvSpPr/>
            <p:nvPr/>
          </p:nvSpPr>
          <p:spPr>
            <a:xfrm>
              <a:off x="4076700" y="21717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" name="Background dot"/>
            <p:cNvSpPr/>
            <p:nvPr/>
          </p:nvSpPr>
          <p:spPr>
            <a:xfrm>
              <a:off x="8020050" y="21717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" name="Background dot"/>
            <p:cNvSpPr/>
            <p:nvPr/>
          </p:nvSpPr>
          <p:spPr>
            <a:xfrm>
              <a:off x="8191500" y="21717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Background dot"/>
            <p:cNvSpPr/>
            <p:nvPr/>
          </p:nvSpPr>
          <p:spPr>
            <a:xfrm>
              <a:off x="8362950" y="21717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" name="Background dot"/>
            <p:cNvSpPr/>
            <p:nvPr/>
          </p:nvSpPr>
          <p:spPr>
            <a:xfrm>
              <a:off x="8534400" y="21717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Background dot"/>
            <p:cNvSpPr/>
            <p:nvPr/>
          </p:nvSpPr>
          <p:spPr>
            <a:xfrm>
              <a:off x="13677900" y="21717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" name="Background dot"/>
            <p:cNvSpPr/>
            <p:nvPr/>
          </p:nvSpPr>
          <p:spPr>
            <a:xfrm>
              <a:off x="3733800" y="23431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" name="Background dot"/>
            <p:cNvSpPr/>
            <p:nvPr/>
          </p:nvSpPr>
          <p:spPr>
            <a:xfrm>
              <a:off x="3905250" y="23431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Background dot"/>
            <p:cNvSpPr/>
            <p:nvPr/>
          </p:nvSpPr>
          <p:spPr>
            <a:xfrm>
              <a:off x="4076700" y="23431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Background dot"/>
            <p:cNvSpPr/>
            <p:nvPr/>
          </p:nvSpPr>
          <p:spPr>
            <a:xfrm>
              <a:off x="8020050" y="23431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" name="Background dot"/>
            <p:cNvSpPr/>
            <p:nvPr/>
          </p:nvSpPr>
          <p:spPr>
            <a:xfrm>
              <a:off x="8191500" y="23431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" name="Background dot"/>
            <p:cNvSpPr/>
            <p:nvPr/>
          </p:nvSpPr>
          <p:spPr>
            <a:xfrm>
              <a:off x="8362950" y="23431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" name="Background dot"/>
            <p:cNvSpPr/>
            <p:nvPr/>
          </p:nvSpPr>
          <p:spPr>
            <a:xfrm>
              <a:off x="8534400" y="23431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" name="Background dot"/>
            <p:cNvSpPr/>
            <p:nvPr/>
          </p:nvSpPr>
          <p:spPr>
            <a:xfrm>
              <a:off x="13677900" y="23431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" name="Background dot"/>
            <p:cNvSpPr/>
            <p:nvPr/>
          </p:nvSpPr>
          <p:spPr>
            <a:xfrm>
              <a:off x="3733800" y="25146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" name="Background dot"/>
            <p:cNvSpPr/>
            <p:nvPr/>
          </p:nvSpPr>
          <p:spPr>
            <a:xfrm>
              <a:off x="3905250" y="25146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0" name="Background dot"/>
            <p:cNvSpPr/>
            <p:nvPr/>
          </p:nvSpPr>
          <p:spPr>
            <a:xfrm>
              <a:off x="4076700" y="25146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" name="Background dot"/>
            <p:cNvSpPr/>
            <p:nvPr/>
          </p:nvSpPr>
          <p:spPr>
            <a:xfrm>
              <a:off x="8020050" y="25146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" name="Background dot"/>
            <p:cNvSpPr/>
            <p:nvPr/>
          </p:nvSpPr>
          <p:spPr>
            <a:xfrm>
              <a:off x="8191500" y="25146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" name="Background dot"/>
            <p:cNvSpPr/>
            <p:nvPr/>
          </p:nvSpPr>
          <p:spPr>
            <a:xfrm>
              <a:off x="8362950" y="25146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" name="Background dot"/>
            <p:cNvSpPr/>
            <p:nvPr/>
          </p:nvSpPr>
          <p:spPr>
            <a:xfrm>
              <a:off x="8534400" y="25146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" name="Background dot"/>
            <p:cNvSpPr/>
            <p:nvPr/>
          </p:nvSpPr>
          <p:spPr>
            <a:xfrm>
              <a:off x="13677900" y="25146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6" name="Background dot"/>
            <p:cNvSpPr/>
            <p:nvPr/>
          </p:nvSpPr>
          <p:spPr>
            <a:xfrm>
              <a:off x="3733800" y="26860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" name="Background dot"/>
            <p:cNvSpPr/>
            <p:nvPr/>
          </p:nvSpPr>
          <p:spPr>
            <a:xfrm>
              <a:off x="3905250" y="26860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" name="Background dot"/>
            <p:cNvSpPr/>
            <p:nvPr/>
          </p:nvSpPr>
          <p:spPr>
            <a:xfrm>
              <a:off x="4076700" y="26860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" name="Background dot"/>
            <p:cNvSpPr/>
            <p:nvPr/>
          </p:nvSpPr>
          <p:spPr>
            <a:xfrm>
              <a:off x="8020050" y="26860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0" name="Background dot"/>
            <p:cNvSpPr/>
            <p:nvPr/>
          </p:nvSpPr>
          <p:spPr>
            <a:xfrm>
              <a:off x="8191500" y="26860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1" name="Background dot"/>
            <p:cNvSpPr/>
            <p:nvPr/>
          </p:nvSpPr>
          <p:spPr>
            <a:xfrm>
              <a:off x="8362950" y="26860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" name="Background dot"/>
            <p:cNvSpPr/>
            <p:nvPr/>
          </p:nvSpPr>
          <p:spPr>
            <a:xfrm>
              <a:off x="8534400" y="26860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" name="Background dot"/>
            <p:cNvSpPr/>
            <p:nvPr/>
          </p:nvSpPr>
          <p:spPr>
            <a:xfrm>
              <a:off x="13677900" y="26860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4" name="Background dot"/>
            <p:cNvSpPr/>
            <p:nvPr/>
          </p:nvSpPr>
          <p:spPr>
            <a:xfrm>
              <a:off x="3733800" y="28575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5" name="Background dot"/>
            <p:cNvSpPr/>
            <p:nvPr/>
          </p:nvSpPr>
          <p:spPr>
            <a:xfrm>
              <a:off x="3905250" y="28575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6" name="Background dot"/>
            <p:cNvSpPr/>
            <p:nvPr/>
          </p:nvSpPr>
          <p:spPr>
            <a:xfrm>
              <a:off x="4076700" y="28575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7" name="Background dot"/>
            <p:cNvSpPr/>
            <p:nvPr/>
          </p:nvSpPr>
          <p:spPr>
            <a:xfrm>
              <a:off x="8020050" y="28575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8" name="Background dot"/>
            <p:cNvSpPr/>
            <p:nvPr/>
          </p:nvSpPr>
          <p:spPr>
            <a:xfrm>
              <a:off x="8191500" y="28575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9" name="Background dot"/>
            <p:cNvSpPr/>
            <p:nvPr/>
          </p:nvSpPr>
          <p:spPr>
            <a:xfrm>
              <a:off x="8362950" y="28575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0" name="Background dot"/>
            <p:cNvSpPr/>
            <p:nvPr/>
          </p:nvSpPr>
          <p:spPr>
            <a:xfrm>
              <a:off x="8534400" y="28575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1" name="Background dot"/>
            <p:cNvSpPr/>
            <p:nvPr/>
          </p:nvSpPr>
          <p:spPr>
            <a:xfrm>
              <a:off x="13677900" y="28575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2" name="Background dot"/>
            <p:cNvSpPr/>
            <p:nvPr/>
          </p:nvSpPr>
          <p:spPr>
            <a:xfrm>
              <a:off x="3733800" y="30289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3" name="Background dot"/>
            <p:cNvSpPr/>
            <p:nvPr/>
          </p:nvSpPr>
          <p:spPr>
            <a:xfrm>
              <a:off x="3905250" y="30289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4" name="Background dot"/>
            <p:cNvSpPr/>
            <p:nvPr/>
          </p:nvSpPr>
          <p:spPr>
            <a:xfrm>
              <a:off x="4076700" y="30289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5" name="Background dot"/>
            <p:cNvSpPr/>
            <p:nvPr/>
          </p:nvSpPr>
          <p:spPr>
            <a:xfrm>
              <a:off x="8020050" y="30289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6" name="Background dot"/>
            <p:cNvSpPr/>
            <p:nvPr/>
          </p:nvSpPr>
          <p:spPr>
            <a:xfrm>
              <a:off x="8191500" y="30289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7" name="Background dot"/>
            <p:cNvSpPr/>
            <p:nvPr/>
          </p:nvSpPr>
          <p:spPr>
            <a:xfrm>
              <a:off x="8362950" y="30289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8" name="Background dot"/>
            <p:cNvSpPr/>
            <p:nvPr/>
          </p:nvSpPr>
          <p:spPr>
            <a:xfrm>
              <a:off x="8534400" y="30289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9" name="Background dot"/>
            <p:cNvSpPr/>
            <p:nvPr/>
          </p:nvSpPr>
          <p:spPr>
            <a:xfrm>
              <a:off x="13677900" y="30289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0" name="Background dot"/>
            <p:cNvSpPr/>
            <p:nvPr/>
          </p:nvSpPr>
          <p:spPr>
            <a:xfrm>
              <a:off x="3733800" y="32004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1" name="Background dot"/>
            <p:cNvSpPr/>
            <p:nvPr/>
          </p:nvSpPr>
          <p:spPr>
            <a:xfrm>
              <a:off x="3905250" y="32004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2" name="Background dot"/>
            <p:cNvSpPr/>
            <p:nvPr/>
          </p:nvSpPr>
          <p:spPr>
            <a:xfrm>
              <a:off x="4076700" y="32004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3" name="Background dot"/>
            <p:cNvSpPr/>
            <p:nvPr/>
          </p:nvSpPr>
          <p:spPr>
            <a:xfrm>
              <a:off x="8020050" y="32004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4" name="Background dot"/>
            <p:cNvSpPr/>
            <p:nvPr/>
          </p:nvSpPr>
          <p:spPr>
            <a:xfrm>
              <a:off x="8191500" y="32004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5" name="Background dot"/>
            <p:cNvSpPr/>
            <p:nvPr/>
          </p:nvSpPr>
          <p:spPr>
            <a:xfrm>
              <a:off x="8362950" y="32004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6" name="Background dot"/>
            <p:cNvSpPr/>
            <p:nvPr/>
          </p:nvSpPr>
          <p:spPr>
            <a:xfrm>
              <a:off x="8534400" y="32004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7" name="Background dot"/>
            <p:cNvSpPr/>
            <p:nvPr/>
          </p:nvSpPr>
          <p:spPr>
            <a:xfrm>
              <a:off x="13677900" y="32004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8" name="Background dot"/>
            <p:cNvSpPr/>
            <p:nvPr/>
          </p:nvSpPr>
          <p:spPr>
            <a:xfrm>
              <a:off x="3733800" y="33718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9" name="Background dot"/>
            <p:cNvSpPr/>
            <p:nvPr/>
          </p:nvSpPr>
          <p:spPr>
            <a:xfrm>
              <a:off x="3905250" y="33718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0" name="Background dot"/>
            <p:cNvSpPr/>
            <p:nvPr/>
          </p:nvSpPr>
          <p:spPr>
            <a:xfrm>
              <a:off x="4076700" y="33718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1" name="Background dot"/>
            <p:cNvSpPr/>
            <p:nvPr/>
          </p:nvSpPr>
          <p:spPr>
            <a:xfrm>
              <a:off x="8020050" y="33718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2" name="Background dot"/>
            <p:cNvSpPr/>
            <p:nvPr/>
          </p:nvSpPr>
          <p:spPr>
            <a:xfrm>
              <a:off x="8191500" y="33718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3" name="Background dot"/>
            <p:cNvSpPr/>
            <p:nvPr/>
          </p:nvSpPr>
          <p:spPr>
            <a:xfrm>
              <a:off x="8362950" y="33718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4" name="Background dot"/>
            <p:cNvSpPr/>
            <p:nvPr/>
          </p:nvSpPr>
          <p:spPr>
            <a:xfrm>
              <a:off x="8534400" y="33718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5" name="Background dot"/>
            <p:cNvSpPr/>
            <p:nvPr/>
          </p:nvSpPr>
          <p:spPr>
            <a:xfrm>
              <a:off x="13677900" y="33718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6" name="Background dot"/>
            <p:cNvSpPr/>
            <p:nvPr/>
          </p:nvSpPr>
          <p:spPr>
            <a:xfrm>
              <a:off x="3733800" y="35433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7" name="Background dot"/>
            <p:cNvSpPr/>
            <p:nvPr/>
          </p:nvSpPr>
          <p:spPr>
            <a:xfrm>
              <a:off x="3905250" y="35433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8" name="Background dot"/>
            <p:cNvSpPr/>
            <p:nvPr/>
          </p:nvSpPr>
          <p:spPr>
            <a:xfrm>
              <a:off x="4076700" y="35433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9" name="Background dot"/>
            <p:cNvSpPr/>
            <p:nvPr/>
          </p:nvSpPr>
          <p:spPr>
            <a:xfrm>
              <a:off x="8020050" y="35433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0" name="Background dot"/>
            <p:cNvSpPr/>
            <p:nvPr/>
          </p:nvSpPr>
          <p:spPr>
            <a:xfrm>
              <a:off x="8191500" y="35433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1" name="Background dot"/>
            <p:cNvSpPr/>
            <p:nvPr/>
          </p:nvSpPr>
          <p:spPr>
            <a:xfrm>
              <a:off x="8362950" y="35433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2" name="Background dot"/>
            <p:cNvSpPr/>
            <p:nvPr/>
          </p:nvSpPr>
          <p:spPr>
            <a:xfrm>
              <a:off x="8534400" y="35433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3" name="Background dot"/>
            <p:cNvSpPr/>
            <p:nvPr/>
          </p:nvSpPr>
          <p:spPr>
            <a:xfrm>
              <a:off x="13677900" y="35433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4" name="Background dot"/>
            <p:cNvSpPr/>
            <p:nvPr/>
          </p:nvSpPr>
          <p:spPr>
            <a:xfrm>
              <a:off x="3733800" y="3714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5" name="Background dot"/>
            <p:cNvSpPr/>
            <p:nvPr/>
          </p:nvSpPr>
          <p:spPr>
            <a:xfrm>
              <a:off x="3905250" y="3714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6" name="Background dot"/>
            <p:cNvSpPr/>
            <p:nvPr/>
          </p:nvSpPr>
          <p:spPr>
            <a:xfrm>
              <a:off x="4076700" y="3714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7" name="Background dot"/>
            <p:cNvSpPr/>
            <p:nvPr/>
          </p:nvSpPr>
          <p:spPr>
            <a:xfrm>
              <a:off x="8020050" y="3714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8" name="Background dot"/>
            <p:cNvSpPr/>
            <p:nvPr/>
          </p:nvSpPr>
          <p:spPr>
            <a:xfrm>
              <a:off x="8191500" y="3714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9" name="Background dot"/>
            <p:cNvSpPr/>
            <p:nvPr/>
          </p:nvSpPr>
          <p:spPr>
            <a:xfrm>
              <a:off x="8362950" y="3714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0" name="Background dot"/>
            <p:cNvSpPr/>
            <p:nvPr/>
          </p:nvSpPr>
          <p:spPr>
            <a:xfrm>
              <a:off x="8534400" y="3714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1" name="Background dot"/>
            <p:cNvSpPr/>
            <p:nvPr/>
          </p:nvSpPr>
          <p:spPr>
            <a:xfrm>
              <a:off x="13677900" y="3714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2" name="Background dot"/>
            <p:cNvSpPr/>
            <p:nvPr/>
          </p:nvSpPr>
          <p:spPr>
            <a:xfrm>
              <a:off x="3733800" y="3886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3" name="Background dot"/>
            <p:cNvSpPr/>
            <p:nvPr/>
          </p:nvSpPr>
          <p:spPr>
            <a:xfrm>
              <a:off x="3905250" y="3886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4" name="Background dot"/>
            <p:cNvSpPr/>
            <p:nvPr/>
          </p:nvSpPr>
          <p:spPr>
            <a:xfrm>
              <a:off x="4076700" y="3886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5" name="Background dot"/>
            <p:cNvSpPr/>
            <p:nvPr/>
          </p:nvSpPr>
          <p:spPr>
            <a:xfrm>
              <a:off x="8020050" y="3886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6" name="Background dot"/>
            <p:cNvSpPr/>
            <p:nvPr/>
          </p:nvSpPr>
          <p:spPr>
            <a:xfrm>
              <a:off x="8191500" y="3886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7" name="Background dot"/>
            <p:cNvSpPr/>
            <p:nvPr/>
          </p:nvSpPr>
          <p:spPr>
            <a:xfrm>
              <a:off x="8362950" y="3886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8" name="Background dot"/>
            <p:cNvSpPr/>
            <p:nvPr/>
          </p:nvSpPr>
          <p:spPr>
            <a:xfrm>
              <a:off x="8534400" y="3886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9" name="Background dot"/>
            <p:cNvSpPr/>
            <p:nvPr/>
          </p:nvSpPr>
          <p:spPr>
            <a:xfrm>
              <a:off x="13677900" y="3886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0" name="Background dot"/>
            <p:cNvSpPr/>
            <p:nvPr/>
          </p:nvSpPr>
          <p:spPr>
            <a:xfrm>
              <a:off x="373380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1" name="Background dot"/>
            <p:cNvSpPr/>
            <p:nvPr/>
          </p:nvSpPr>
          <p:spPr>
            <a:xfrm>
              <a:off x="390525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2" name="Background dot"/>
            <p:cNvSpPr/>
            <p:nvPr/>
          </p:nvSpPr>
          <p:spPr>
            <a:xfrm>
              <a:off x="407670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3" name="Background dot"/>
            <p:cNvSpPr/>
            <p:nvPr/>
          </p:nvSpPr>
          <p:spPr>
            <a:xfrm>
              <a:off x="424815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4" name="Background dot"/>
            <p:cNvSpPr/>
            <p:nvPr/>
          </p:nvSpPr>
          <p:spPr>
            <a:xfrm>
              <a:off x="441960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5" name="Background dot"/>
            <p:cNvSpPr/>
            <p:nvPr/>
          </p:nvSpPr>
          <p:spPr>
            <a:xfrm>
              <a:off x="459105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6" name="Background dot"/>
            <p:cNvSpPr/>
            <p:nvPr/>
          </p:nvSpPr>
          <p:spPr>
            <a:xfrm>
              <a:off x="476250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7" name="Background dot"/>
            <p:cNvSpPr/>
            <p:nvPr/>
          </p:nvSpPr>
          <p:spPr>
            <a:xfrm>
              <a:off x="493395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8" name="Background dot"/>
            <p:cNvSpPr/>
            <p:nvPr/>
          </p:nvSpPr>
          <p:spPr>
            <a:xfrm>
              <a:off x="510540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9" name="Background dot"/>
            <p:cNvSpPr/>
            <p:nvPr/>
          </p:nvSpPr>
          <p:spPr>
            <a:xfrm>
              <a:off x="527685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0" name="Background dot"/>
            <p:cNvSpPr/>
            <p:nvPr/>
          </p:nvSpPr>
          <p:spPr>
            <a:xfrm>
              <a:off x="544830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1" name="Background dot"/>
            <p:cNvSpPr/>
            <p:nvPr/>
          </p:nvSpPr>
          <p:spPr>
            <a:xfrm>
              <a:off x="561975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2" name="Background dot"/>
            <p:cNvSpPr/>
            <p:nvPr/>
          </p:nvSpPr>
          <p:spPr>
            <a:xfrm>
              <a:off x="579120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3" name="Background dot"/>
            <p:cNvSpPr/>
            <p:nvPr/>
          </p:nvSpPr>
          <p:spPr>
            <a:xfrm>
              <a:off x="596265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4" name="Background dot"/>
            <p:cNvSpPr/>
            <p:nvPr/>
          </p:nvSpPr>
          <p:spPr>
            <a:xfrm>
              <a:off x="613410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5" name="Background dot"/>
            <p:cNvSpPr/>
            <p:nvPr/>
          </p:nvSpPr>
          <p:spPr>
            <a:xfrm>
              <a:off x="630555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6" name="Background dot"/>
            <p:cNvSpPr/>
            <p:nvPr/>
          </p:nvSpPr>
          <p:spPr>
            <a:xfrm>
              <a:off x="647700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7" name="Background dot"/>
            <p:cNvSpPr/>
            <p:nvPr/>
          </p:nvSpPr>
          <p:spPr>
            <a:xfrm>
              <a:off x="664845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8" name="Background dot"/>
            <p:cNvSpPr/>
            <p:nvPr/>
          </p:nvSpPr>
          <p:spPr>
            <a:xfrm>
              <a:off x="681990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9" name="Background dot"/>
            <p:cNvSpPr/>
            <p:nvPr/>
          </p:nvSpPr>
          <p:spPr>
            <a:xfrm>
              <a:off x="699135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0" name="Background dot"/>
            <p:cNvSpPr/>
            <p:nvPr/>
          </p:nvSpPr>
          <p:spPr>
            <a:xfrm>
              <a:off x="716280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1" name="Background dot"/>
            <p:cNvSpPr/>
            <p:nvPr/>
          </p:nvSpPr>
          <p:spPr>
            <a:xfrm>
              <a:off x="733425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2" name="Background dot"/>
            <p:cNvSpPr/>
            <p:nvPr/>
          </p:nvSpPr>
          <p:spPr>
            <a:xfrm>
              <a:off x="750570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3" name="Background dot"/>
            <p:cNvSpPr/>
            <p:nvPr/>
          </p:nvSpPr>
          <p:spPr>
            <a:xfrm>
              <a:off x="767715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4" name="Background dot"/>
            <p:cNvSpPr/>
            <p:nvPr/>
          </p:nvSpPr>
          <p:spPr>
            <a:xfrm>
              <a:off x="784860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5" name="Background dot"/>
            <p:cNvSpPr/>
            <p:nvPr/>
          </p:nvSpPr>
          <p:spPr>
            <a:xfrm>
              <a:off x="802005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6" name="Background dot"/>
            <p:cNvSpPr/>
            <p:nvPr/>
          </p:nvSpPr>
          <p:spPr>
            <a:xfrm>
              <a:off x="819150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7" name="Background dot"/>
            <p:cNvSpPr/>
            <p:nvPr/>
          </p:nvSpPr>
          <p:spPr>
            <a:xfrm>
              <a:off x="836295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8" name="Background dot"/>
            <p:cNvSpPr/>
            <p:nvPr/>
          </p:nvSpPr>
          <p:spPr>
            <a:xfrm>
              <a:off x="853440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9" name="Background dot"/>
            <p:cNvSpPr/>
            <p:nvPr/>
          </p:nvSpPr>
          <p:spPr>
            <a:xfrm>
              <a:off x="13677900" y="40576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0" name="Background dot"/>
            <p:cNvSpPr/>
            <p:nvPr/>
          </p:nvSpPr>
          <p:spPr>
            <a:xfrm>
              <a:off x="3733800" y="46577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1" name="Background dot"/>
            <p:cNvSpPr/>
            <p:nvPr/>
          </p:nvSpPr>
          <p:spPr>
            <a:xfrm>
              <a:off x="3905250" y="46577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2" name="Background dot"/>
            <p:cNvSpPr/>
            <p:nvPr/>
          </p:nvSpPr>
          <p:spPr>
            <a:xfrm>
              <a:off x="4076700" y="46577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3" name="Background dot"/>
            <p:cNvSpPr/>
            <p:nvPr/>
          </p:nvSpPr>
          <p:spPr>
            <a:xfrm>
              <a:off x="13677900" y="46577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4" name="Background dot"/>
            <p:cNvSpPr/>
            <p:nvPr/>
          </p:nvSpPr>
          <p:spPr>
            <a:xfrm>
              <a:off x="3733800" y="48291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5" name="Background dot"/>
            <p:cNvSpPr/>
            <p:nvPr/>
          </p:nvSpPr>
          <p:spPr>
            <a:xfrm>
              <a:off x="3905250" y="48291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6" name="Background dot"/>
            <p:cNvSpPr/>
            <p:nvPr/>
          </p:nvSpPr>
          <p:spPr>
            <a:xfrm>
              <a:off x="4076700" y="48291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7" name="Background dot"/>
            <p:cNvSpPr/>
            <p:nvPr/>
          </p:nvSpPr>
          <p:spPr>
            <a:xfrm>
              <a:off x="13677900" y="48291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8" name="Background dot"/>
            <p:cNvSpPr/>
            <p:nvPr/>
          </p:nvSpPr>
          <p:spPr>
            <a:xfrm>
              <a:off x="3733800" y="50006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9" name="Background dot"/>
            <p:cNvSpPr/>
            <p:nvPr/>
          </p:nvSpPr>
          <p:spPr>
            <a:xfrm>
              <a:off x="3905250" y="50006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0" name="Background dot"/>
            <p:cNvSpPr/>
            <p:nvPr/>
          </p:nvSpPr>
          <p:spPr>
            <a:xfrm>
              <a:off x="4076700" y="50006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1" name="Background dot"/>
            <p:cNvSpPr/>
            <p:nvPr/>
          </p:nvSpPr>
          <p:spPr>
            <a:xfrm>
              <a:off x="13677900" y="50006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2" name="Background dot"/>
            <p:cNvSpPr/>
            <p:nvPr/>
          </p:nvSpPr>
          <p:spPr>
            <a:xfrm>
              <a:off x="3733800" y="51720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3" name="Background dot"/>
            <p:cNvSpPr/>
            <p:nvPr/>
          </p:nvSpPr>
          <p:spPr>
            <a:xfrm>
              <a:off x="3905250" y="51720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4" name="Background dot"/>
            <p:cNvSpPr/>
            <p:nvPr/>
          </p:nvSpPr>
          <p:spPr>
            <a:xfrm>
              <a:off x="4076700" y="51720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5" name="Background dot"/>
            <p:cNvSpPr/>
            <p:nvPr/>
          </p:nvSpPr>
          <p:spPr>
            <a:xfrm>
              <a:off x="13677900" y="51720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6" name="Background dot"/>
            <p:cNvSpPr/>
            <p:nvPr/>
          </p:nvSpPr>
          <p:spPr>
            <a:xfrm>
              <a:off x="3733800" y="53435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7" name="Background dot"/>
            <p:cNvSpPr/>
            <p:nvPr/>
          </p:nvSpPr>
          <p:spPr>
            <a:xfrm>
              <a:off x="3905250" y="53435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8" name="Background dot"/>
            <p:cNvSpPr/>
            <p:nvPr/>
          </p:nvSpPr>
          <p:spPr>
            <a:xfrm>
              <a:off x="4076700" y="53435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9" name="Background dot"/>
            <p:cNvSpPr/>
            <p:nvPr/>
          </p:nvSpPr>
          <p:spPr>
            <a:xfrm>
              <a:off x="13677900" y="53435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0" name="Background dot"/>
            <p:cNvSpPr/>
            <p:nvPr/>
          </p:nvSpPr>
          <p:spPr>
            <a:xfrm>
              <a:off x="3733800" y="55149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1" name="Background dot"/>
            <p:cNvSpPr/>
            <p:nvPr/>
          </p:nvSpPr>
          <p:spPr>
            <a:xfrm>
              <a:off x="3905250" y="55149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2" name="Background dot"/>
            <p:cNvSpPr/>
            <p:nvPr/>
          </p:nvSpPr>
          <p:spPr>
            <a:xfrm>
              <a:off x="4076700" y="55149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3" name="Background dot"/>
            <p:cNvSpPr/>
            <p:nvPr/>
          </p:nvSpPr>
          <p:spPr>
            <a:xfrm>
              <a:off x="13677900" y="55149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4" name="Background dot"/>
            <p:cNvSpPr/>
            <p:nvPr/>
          </p:nvSpPr>
          <p:spPr>
            <a:xfrm>
              <a:off x="3733800" y="56864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5" name="Background dot"/>
            <p:cNvSpPr/>
            <p:nvPr/>
          </p:nvSpPr>
          <p:spPr>
            <a:xfrm>
              <a:off x="3905250" y="56864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6" name="Background dot"/>
            <p:cNvSpPr/>
            <p:nvPr/>
          </p:nvSpPr>
          <p:spPr>
            <a:xfrm>
              <a:off x="4076700" y="56864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7" name="Background dot"/>
            <p:cNvSpPr/>
            <p:nvPr/>
          </p:nvSpPr>
          <p:spPr>
            <a:xfrm>
              <a:off x="13677900" y="56864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8" name="Background dot"/>
            <p:cNvSpPr/>
            <p:nvPr/>
          </p:nvSpPr>
          <p:spPr>
            <a:xfrm>
              <a:off x="3733800" y="58578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9" name="Background dot"/>
            <p:cNvSpPr/>
            <p:nvPr/>
          </p:nvSpPr>
          <p:spPr>
            <a:xfrm>
              <a:off x="3905250" y="58578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0" name="Background dot"/>
            <p:cNvSpPr/>
            <p:nvPr/>
          </p:nvSpPr>
          <p:spPr>
            <a:xfrm>
              <a:off x="4076700" y="58578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1" name="Background dot"/>
            <p:cNvSpPr/>
            <p:nvPr/>
          </p:nvSpPr>
          <p:spPr>
            <a:xfrm>
              <a:off x="13677900" y="58578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2" name="Background dot"/>
            <p:cNvSpPr/>
            <p:nvPr/>
          </p:nvSpPr>
          <p:spPr>
            <a:xfrm>
              <a:off x="3733800" y="60293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3" name="Background dot"/>
            <p:cNvSpPr/>
            <p:nvPr/>
          </p:nvSpPr>
          <p:spPr>
            <a:xfrm>
              <a:off x="3905250" y="60293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4" name="Background dot"/>
            <p:cNvSpPr/>
            <p:nvPr/>
          </p:nvSpPr>
          <p:spPr>
            <a:xfrm>
              <a:off x="4076700" y="60293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5" name="Background dot"/>
            <p:cNvSpPr/>
            <p:nvPr/>
          </p:nvSpPr>
          <p:spPr>
            <a:xfrm>
              <a:off x="13677900" y="60293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6" name="Background dot"/>
            <p:cNvSpPr/>
            <p:nvPr/>
          </p:nvSpPr>
          <p:spPr>
            <a:xfrm>
              <a:off x="3733800" y="62007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7" name="Background dot"/>
            <p:cNvSpPr/>
            <p:nvPr/>
          </p:nvSpPr>
          <p:spPr>
            <a:xfrm>
              <a:off x="3905250" y="62007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8" name="Background dot"/>
            <p:cNvSpPr/>
            <p:nvPr/>
          </p:nvSpPr>
          <p:spPr>
            <a:xfrm>
              <a:off x="4076700" y="62007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9" name="Background dot"/>
            <p:cNvSpPr/>
            <p:nvPr/>
          </p:nvSpPr>
          <p:spPr>
            <a:xfrm>
              <a:off x="13677900" y="62007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0" name="Background dot"/>
            <p:cNvSpPr/>
            <p:nvPr/>
          </p:nvSpPr>
          <p:spPr>
            <a:xfrm>
              <a:off x="3733800" y="63722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1" name="Background dot"/>
            <p:cNvSpPr/>
            <p:nvPr/>
          </p:nvSpPr>
          <p:spPr>
            <a:xfrm>
              <a:off x="3905250" y="63722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2" name="Background dot"/>
            <p:cNvSpPr/>
            <p:nvPr/>
          </p:nvSpPr>
          <p:spPr>
            <a:xfrm>
              <a:off x="4076700" y="63722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3" name="Background dot"/>
            <p:cNvSpPr/>
            <p:nvPr/>
          </p:nvSpPr>
          <p:spPr>
            <a:xfrm>
              <a:off x="13677900" y="63722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4" name="Background dot"/>
            <p:cNvSpPr/>
            <p:nvPr/>
          </p:nvSpPr>
          <p:spPr>
            <a:xfrm>
              <a:off x="3733800" y="65436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5" name="Background dot"/>
            <p:cNvSpPr/>
            <p:nvPr/>
          </p:nvSpPr>
          <p:spPr>
            <a:xfrm>
              <a:off x="3905250" y="65436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6" name="Background dot"/>
            <p:cNvSpPr/>
            <p:nvPr/>
          </p:nvSpPr>
          <p:spPr>
            <a:xfrm>
              <a:off x="4076700" y="65436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7" name="Background dot"/>
            <p:cNvSpPr/>
            <p:nvPr/>
          </p:nvSpPr>
          <p:spPr>
            <a:xfrm>
              <a:off x="13677900" y="65436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8" name="Background dot"/>
            <p:cNvSpPr/>
            <p:nvPr/>
          </p:nvSpPr>
          <p:spPr>
            <a:xfrm>
              <a:off x="3733800" y="67151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9" name="Background dot"/>
            <p:cNvSpPr/>
            <p:nvPr/>
          </p:nvSpPr>
          <p:spPr>
            <a:xfrm>
              <a:off x="3905250" y="67151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0" name="Background dot"/>
            <p:cNvSpPr/>
            <p:nvPr/>
          </p:nvSpPr>
          <p:spPr>
            <a:xfrm>
              <a:off x="4076700" y="67151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1" name="Background dot"/>
            <p:cNvSpPr/>
            <p:nvPr/>
          </p:nvSpPr>
          <p:spPr>
            <a:xfrm>
              <a:off x="13677900" y="67151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2" name="Background dot"/>
            <p:cNvSpPr/>
            <p:nvPr/>
          </p:nvSpPr>
          <p:spPr>
            <a:xfrm>
              <a:off x="3733800" y="68865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3" name="Background dot"/>
            <p:cNvSpPr/>
            <p:nvPr/>
          </p:nvSpPr>
          <p:spPr>
            <a:xfrm>
              <a:off x="3905250" y="68865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4" name="Background dot"/>
            <p:cNvSpPr/>
            <p:nvPr/>
          </p:nvSpPr>
          <p:spPr>
            <a:xfrm>
              <a:off x="4076700" y="68865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5" name="Background dot"/>
            <p:cNvSpPr/>
            <p:nvPr/>
          </p:nvSpPr>
          <p:spPr>
            <a:xfrm>
              <a:off x="13677900" y="68865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6" name="Background dot"/>
            <p:cNvSpPr/>
            <p:nvPr/>
          </p:nvSpPr>
          <p:spPr>
            <a:xfrm>
              <a:off x="3733800" y="70580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7" name="Background dot"/>
            <p:cNvSpPr/>
            <p:nvPr/>
          </p:nvSpPr>
          <p:spPr>
            <a:xfrm>
              <a:off x="3905250" y="70580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8" name="Background dot"/>
            <p:cNvSpPr/>
            <p:nvPr/>
          </p:nvSpPr>
          <p:spPr>
            <a:xfrm>
              <a:off x="4076700" y="70580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9" name="Background dot"/>
            <p:cNvSpPr/>
            <p:nvPr/>
          </p:nvSpPr>
          <p:spPr>
            <a:xfrm>
              <a:off x="13677900" y="70580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0" name="Background dot"/>
            <p:cNvSpPr/>
            <p:nvPr/>
          </p:nvSpPr>
          <p:spPr>
            <a:xfrm>
              <a:off x="3733800" y="72294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1" name="Background dot"/>
            <p:cNvSpPr/>
            <p:nvPr/>
          </p:nvSpPr>
          <p:spPr>
            <a:xfrm>
              <a:off x="3905250" y="72294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2" name="Background dot"/>
            <p:cNvSpPr/>
            <p:nvPr/>
          </p:nvSpPr>
          <p:spPr>
            <a:xfrm>
              <a:off x="4076700" y="72294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3" name="Background dot"/>
            <p:cNvSpPr/>
            <p:nvPr/>
          </p:nvSpPr>
          <p:spPr>
            <a:xfrm>
              <a:off x="13677900" y="72294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4" name="Background dot"/>
            <p:cNvSpPr/>
            <p:nvPr/>
          </p:nvSpPr>
          <p:spPr>
            <a:xfrm>
              <a:off x="3733800" y="74009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5" name="Background dot"/>
            <p:cNvSpPr/>
            <p:nvPr/>
          </p:nvSpPr>
          <p:spPr>
            <a:xfrm>
              <a:off x="3905250" y="74009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6" name="Background dot"/>
            <p:cNvSpPr/>
            <p:nvPr/>
          </p:nvSpPr>
          <p:spPr>
            <a:xfrm>
              <a:off x="4076700" y="74009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7" name="Background dot"/>
            <p:cNvSpPr/>
            <p:nvPr/>
          </p:nvSpPr>
          <p:spPr>
            <a:xfrm>
              <a:off x="13677900" y="74009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8" name="Background dot"/>
            <p:cNvSpPr/>
            <p:nvPr/>
          </p:nvSpPr>
          <p:spPr>
            <a:xfrm>
              <a:off x="3733800" y="75723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9" name="Background dot"/>
            <p:cNvSpPr/>
            <p:nvPr/>
          </p:nvSpPr>
          <p:spPr>
            <a:xfrm>
              <a:off x="3905250" y="75723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0" name="Background dot"/>
            <p:cNvSpPr/>
            <p:nvPr/>
          </p:nvSpPr>
          <p:spPr>
            <a:xfrm>
              <a:off x="4076700" y="75723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1" name="Background dot"/>
            <p:cNvSpPr/>
            <p:nvPr/>
          </p:nvSpPr>
          <p:spPr>
            <a:xfrm>
              <a:off x="13677900" y="75723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2" name="Background dot"/>
            <p:cNvSpPr/>
            <p:nvPr/>
          </p:nvSpPr>
          <p:spPr>
            <a:xfrm>
              <a:off x="3733800" y="77438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3" name="Background dot"/>
            <p:cNvSpPr/>
            <p:nvPr/>
          </p:nvSpPr>
          <p:spPr>
            <a:xfrm>
              <a:off x="3905250" y="77438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4" name="Background dot"/>
            <p:cNvSpPr/>
            <p:nvPr/>
          </p:nvSpPr>
          <p:spPr>
            <a:xfrm>
              <a:off x="4076700" y="77438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5" name="Background dot"/>
            <p:cNvSpPr/>
            <p:nvPr/>
          </p:nvSpPr>
          <p:spPr>
            <a:xfrm>
              <a:off x="13677900" y="77438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6" name="Background dot"/>
            <p:cNvSpPr/>
            <p:nvPr/>
          </p:nvSpPr>
          <p:spPr>
            <a:xfrm>
              <a:off x="3733800" y="79152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7" name="Background dot"/>
            <p:cNvSpPr/>
            <p:nvPr/>
          </p:nvSpPr>
          <p:spPr>
            <a:xfrm>
              <a:off x="3905250" y="79152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8" name="Background dot"/>
            <p:cNvSpPr/>
            <p:nvPr/>
          </p:nvSpPr>
          <p:spPr>
            <a:xfrm>
              <a:off x="4076700" y="79152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9" name="Background dot"/>
            <p:cNvSpPr/>
            <p:nvPr/>
          </p:nvSpPr>
          <p:spPr>
            <a:xfrm>
              <a:off x="13677900" y="79152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0" name="Background dot"/>
            <p:cNvSpPr/>
            <p:nvPr/>
          </p:nvSpPr>
          <p:spPr>
            <a:xfrm>
              <a:off x="3733800" y="80867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1" name="Background dot"/>
            <p:cNvSpPr/>
            <p:nvPr/>
          </p:nvSpPr>
          <p:spPr>
            <a:xfrm>
              <a:off x="3905250" y="80867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2" name="Background dot"/>
            <p:cNvSpPr/>
            <p:nvPr/>
          </p:nvSpPr>
          <p:spPr>
            <a:xfrm>
              <a:off x="4076700" y="80867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3" name="Background dot"/>
            <p:cNvSpPr/>
            <p:nvPr/>
          </p:nvSpPr>
          <p:spPr>
            <a:xfrm>
              <a:off x="13677900" y="80867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4" name="Background dot"/>
            <p:cNvSpPr/>
            <p:nvPr/>
          </p:nvSpPr>
          <p:spPr>
            <a:xfrm>
              <a:off x="3733800" y="82581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5" name="Background dot"/>
            <p:cNvSpPr/>
            <p:nvPr/>
          </p:nvSpPr>
          <p:spPr>
            <a:xfrm>
              <a:off x="3905250" y="82581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6" name="Background dot"/>
            <p:cNvSpPr/>
            <p:nvPr/>
          </p:nvSpPr>
          <p:spPr>
            <a:xfrm>
              <a:off x="4076700" y="82581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7" name="Background dot"/>
            <p:cNvSpPr/>
            <p:nvPr/>
          </p:nvSpPr>
          <p:spPr>
            <a:xfrm>
              <a:off x="13677900" y="825817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8" name="Background dot"/>
            <p:cNvSpPr/>
            <p:nvPr/>
          </p:nvSpPr>
          <p:spPr>
            <a:xfrm>
              <a:off x="3733800" y="84296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9" name="Background dot"/>
            <p:cNvSpPr/>
            <p:nvPr/>
          </p:nvSpPr>
          <p:spPr>
            <a:xfrm>
              <a:off x="3905250" y="84296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0" name="Background dot"/>
            <p:cNvSpPr/>
            <p:nvPr/>
          </p:nvSpPr>
          <p:spPr>
            <a:xfrm>
              <a:off x="4076700" y="84296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1" name="Background dot"/>
            <p:cNvSpPr/>
            <p:nvPr/>
          </p:nvSpPr>
          <p:spPr>
            <a:xfrm>
              <a:off x="13677900" y="8429625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2" name="Background dot"/>
            <p:cNvSpPr/>
            <p:nvPr/>
          </p:nvSpPr>
          <p:spPr>
            <a:xfrm>
              <a:off x="14106525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3" name="Background dot"/>
            <p:cNvSpPr/>
            <p:nvPr/>
          </p:nvSpPr>
          <p:spPr>
            <a:xfrm>
              <a:off x="14277975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4" name="Background dot"/>
            <p:cNvSpPr/>
            <p:nvPr/>
          </p:nvSpPr>
          <p:spPr>
            <a:xfrm>
              <a:off x="14449425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5" name="Background dot"/>
            <p:cNvSpPr/>
            <p:nvPr/>
          </p:nvSpPr>
          <p:spPr>
            <a:xfrm>
              <a:off x="14620875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6" name="Background dot"/>
            <p:cNvSpPr/>
            <p:nvPr/>
          </p:nvSpPr>
          <p:spPr>
            <a:xfrm>
              <a:off x="14792325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7" name="Background dot"/>
            <p:cNvSpPr/>
            <p:nvPr/>
          </p:nvSpPr>
          <p:spPr>
            <a:xfrm>
              <a:off x="14963775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8" name="Background dot"/>
            <p:cNvSpPr/>
            <p:nvPr/>
          </p:nvSpPr>
          <p:spPr>
            <a:xfrm>
              <a:off x="15135225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9" name="Background dot"/>
            <p:cNvSpPr/>
            <p:nvPr/>
          </p:nvSpPr>
          <p:spPr>
            <a:xfrm>
              <a:off x="15306675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0" name="Background dot"/>
            <p:cNvSpPr/>
            <p:nvPr/>
          </p:nvSpPr>
          <p:spPr>
            <a:xfrm>
              <a:off x="15478125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1" name="Background dot"/>
            <p:cNvSpPr/>
            <p:nvPr/>
          </p:nvSpPr>
          <p:spPr>
            <a:xfrm>
              <a:off x="15649575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2" name="Background dot"/>
            <p:cNvSpPr/>
            <p:nvPr/>
          </p:nvSpPr>
          <p:spPr>
            <a:xfrm>
              <a:off x="15821025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3" name="Background dot"/>
            <p:cNvSpPr/>
            <p:nvPr/>
          </p:nvSpPr>
          <p:spPr>
            <a:xfrm>
              <a:off x="15992475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4" name="Background dot"/>
            <p:cNvSpPr/>
            <p:nvPr/>
          </p:nvSpPr>
          <p:spPr>
            <a:xfrm>
              <a:off x="16163925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5" name="Background dot"/>
            <p:cNvSpPr/>
            <p:nvPr/>
          </p:nvSpPr>
          <p:spPr>
            <a:xfrm>
              <a:off x="16335375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6" name="Background dot"/>
            <p:cNvSpPr/>
            <p:nvPr/>
          </p:nvSpPr>
          <p:spPr>
            <a:xfrm>
              <a:off x="16506825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7" name="Background dot"/>
            <p:cNvSpPr/>
            <p:nvPr/>
          </p:nvSpPr>
          <p:spPr>
            <a:xfrm>
              <a:off x="16678275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8" name="Background dot"/>
            <p:cNvSpPr/>
            <p:nvPr/>
          </p:nvSpPr>
          <p:spPr>
            <a:xfrm>
              <a:off x="16849725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9" name="Background dot"/>
            <p:cNvSpPr/>
            <p:nvPr/>
          </p:nvSpPr>
          <p:spPr>
            <a:xfrm>
              <a:off x="17021175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0" name="Background dot"/>
            <p:cNvSpPr/>
            <p:nvPr/>
          </p:nvSpPr>
          <p:spPr>
            <a:xfrm>
              <a:off x="17192625" y="28575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1" name="Background dot"/>
            <p:cNvSpPr/>
            <p:nvPr/>
          </p:nvSpPr>
          <p:spPr>
            <a:xfrm>
              <a:off x="14106525" y="457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2" name="Background dot"/>
            <p:cNvSpPr/>
            <p:nvPr/>
          </p:nvSpPr>
          <p:spPr>
            <a:xfrm>
              <a:off x="14277975" y="457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3" name="Background dot"/>
            <p:cNvSpPr/>
            <p:nvPr/>
          </p:nvSpPr>
          <p:spPr>
            <a:xfrm>
              <a:off x="14449425" y="457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4" name="Background dot"/>
            <p:cNvSpPr/>
            <p:nvPr/>
          </p:nvSpPr>
          <p:spPr>
            <a:xfrm>
              <a:off x="14620875" y="457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5" name="Background dot"/>
            <p:cNvSpPr/>
            <p:nvPr/>
          </p:nvSpPr>
          <p:spPr>
            <a:xfrm>
              <a:off x="14792325" y="457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6" name="Background dot"/>
            <p:cNvSpPr/>
            <p:nvPr/>
          </p:nvSpPr>
          <p:spPr>
            <a:xfrm>
              <a:off x="14963775" y="457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7" name="Background dot"/>
            <p:cNvSpPr/>
            <p:nvPr/>
          </p:nvSpPr>
          <p:spPr>
            <a:xfrm>
              <a:off x="15135225" y="457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8" name="Background dot"/>
            <p:cNvSpPr/>
            <p:nvPr/>
          </p:nvSpPr>
          <p:spPr>
            <a:xfrm>
              <a:off x="15306675" y="457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9" name="Background dot"/>
            <p:cNvSpPr/>
            <p:nvPr/>
          </p:nvSpPr>
          <p:spPr>
            <a:xfrm>
              <a:off x="15478125" y="457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0" name="Background dot"/>
            <p:cNvSpPr/>
            <p:nvPr/>
          </p:nvSpPr>
          <p:spPr>
            <a:xfrm>
              <a:off x="15649575" y="457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1" name="Background dot"/>
            <p:cNvSpPr/>
            <p:nvPr/>
          </p:nvSpPr>
          <p:spPr>
            <a:xfrm>
              <a:off x="15821025" y="457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2" name="Background dot"/>
            <p:cNvSpPr/>
            <p:nvPr/>
          </p:nvSpPr>
          <p:spPr>
            <a:xfrm>
              <a:off x="15992475" y="457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3" name="Background dot"/>
            <p:cNvSpPr/>
            <p:nvPr/>
          </p:nvSpPr>
          <p:spPr>
            <a:xfrm>
              <a:off x="16163925" y="457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4" name="Background dot"/>
            <p:cNvSpPr/>
            <p:nvPr/>
          </p:nvSpPr>
          <p:spPr>
            <a:xfrm>
              <a:off x="16335375" y="457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5" name="Background dot"/>
            <p:cNvSpPr/>
            <p:nvPr/>
          </p:nvSpPr>
          <p:spPr>
            <a:xfrm>
              <a:off x="16506825" y="457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6" name="Background dot"/>
            <p:cNvSpPr/>
            <p:nvPr/>
          </p:nvSpPr>
          <p:spPr>
            <a:xfrm>
              <a:off x="16678275" y="457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7" name="Background dot"/>
            <p:cNvSpPr/>
            <p:nvPr/>
          </p:nvSpPr>
          <p:spPr>
            <a:xfrm>
              <a:off x="16849725" y="457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8" name="Background dot"/>
            <p:cNvSpPr/>
            <p:nvPr/>
          </p:nvSpPr>
          <p:spPr>
            <a:xfrm>
              <a:off x="17021175" y="457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9" name="Background dot"/>
            <p:cNvSpPr/>
            <p:nvPr/>
          </p:nvSpPr>
          <p:spPr>
            <a:xfrm>
              <a:off x="17192625" y="457200"/>
              <a:ext cx="38100" cy="38100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0" name="Inference region dashed frame"/>
            <p:cNvSpPr/>
            <p:nvPr/>
          </p:nvSpPr>
          <p:spPr>
            <a:xfrm>
              <a:off x="3600450" y="152400"/>
              <a:ext cx="10201275" cy="4105275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custDash>
                <a:ds d="300000" sp="150000"/>
              </a:custDash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1" name="Training region dashed frame"/>
            <p:cNvSpPr/>
            <p:nvPr/>
          </p:nvSpPr>
          <p:spPr>
            <a:xfrm>
              <a:off x="3600450" y="4524375"/>
              <a:ext cx="10201275" cy="4029075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custDash>
                <a:ds d="300000" sp="150000"/>
              </a:custDash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2" name="Rematching dashed frame"/>
            <p:cNvSpPr/>
            <p:nvPr/>
          </p:nvSpPr>
          <p:spPr>
            <a:xfrm>
              <a:off x="13973175" y="152400"/>
              <a:ext cx="3390900" cy="8401050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custDash>
                <a:ds d="300000" sp="150000"/>
              </a:custDash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5" name="Input samples"/>
          <p:cNvGrpSpPr/>
          <p:nvPr/>
        </p:nvGrpSpPr>
        <p:grpSpPr>
          <a:xfrm>
            <a:off x="-1196672" y="857250"/>
            <a:ext cx="4739972" cy="7715250"/>
            <a:chOff x="-1196672" y="857250"/>
            <a:chExt cx="4739972" cy="7715250"/>
          </a:xfrm>
        </p:grpSpPr>
        <p:pic>
          <p:nvPicPr>
            <p:cNvPr id="364" name="Testing sample cat" descr="testing_cat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8175" y="857250"/>
              <a:ext cx="2181225" cy="2276475"/>
            </a:xfrm>
            <a:prstGeom prst="rect">
              <a:avLst/>
            </a:prstGeom>
            <a:effectLst/>
          </p:spPr>
        </p:pic>
        <p:sp>
          <p:nvSpPr>
            <p:cNvPr id="365" name="Testing sample"/>
            <p:cNvSpPr txBox="1"/>
            <p:nvPr/>
          </p:nvSpPr>
          <p:spPr>
            <a:xfrm rot="16200000">
              <a:off x="-863576" y="1728788"/>
              <a:ext cx="2319226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b="0" i="0" kern="0">
                  <a:solidFill>
                    <a:srgbClr val="000000"/>
                  </a:solidFill>
                  <a:latin typeface="Times New Roman"/>
                </a:rPr>
                <a:t>Testing sample</a:t>
              </a:r>
              <a:endParaRPr sz="3000"/>
            </a:p>
          </p:txBody>
        </p:sp>
        <p:sp>
          <p:nvSpPr>
            <p:cNvPr id="366" name="Testing sample input arrow"/>
            <p:cNvSpPr/>
            <p:nvPr/>
          </p:nvSpPr>
          <p:spPr>
            <a:xfrm>
              <a:off x="2895600" y="1866900"/>
              <a:ext cx="647700" cy="619125"/>
            </a:xfrm>
            <a:custGeom>
              <a:avLst/>
              <a:gdLst/>
              <a:ahLst/>
              <a:cxnLst/>
              <a:rect l="0" t="0" r="r" b="b"/>
              <a:pathLst>
                <a:path w="68000" h="65000">
                  <a:moveTo>
                    <a:pt x="0" y="16900"/>
                  </a:moveTo>
                  <a:lnTo>
                    <a:pt x="0" y="48100"/>
                  </a:lnTo>
                  <a:lnTo>
                    <a:pt x="36040" y="48100"/>
                  </a:lnTo>
                  <a:lnTo>
                    <a:pt x="36040" y="65000"/>
                  </a:lnTo>
                  <a:lnTo>
                    <a:pt x="68000" y="32500"/>
                  </a:lnTo>
                  <a:lnTo>
                    <a:pt x="36040" y="0"/>
                  </a:lnTo>
                  <a:lnTo>
                    <a:pt x="36040" y="16900"/>
                  </a:lnTo>
                  <a:close/>
                </a:path>
              </a:pathLst>
            </a:custGeom>
            <a:solidFill>
              <a:srgbClr val="FFFFFF"/>
            </a:solidFill>
            <a:ln w="38100" cap="flat" cmpd="sng">
              <a:solidFill>
                <a:srgbClr val="305597"/>
              </a:solidFill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7" name="Training photograph stack frame"/>
            <p:cNvSpPr/>
            <p:nvPr/>
          </p:nvSpPr>
          <p:spPr>
            <a:xfrm>
              <a:off x="723900" y="4095750"/>
              <a:ext cx="2057400" cy="4476750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368" name="cat_back" descr="cat_back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7250" y="4200525"/>
              <a:ext cx="1428750" cy="1504950"/>
            </a:xfrm>
            <a:prstGeom prst="rect">
              <a:avLst/>
            </a:prstGeom>
            <a:effectLst/>
          </p:spPr>
        </p:pic>
        <p:sp>
          <p:nvSpPr>
            <p:cNvPr id="369" name="Cat sample frame"/>
            <p:cNvSpPr/>
            <p:nvPr/>
          </p:nvSpPr>
          <p:spPr>
            <a:xfrm>
              <a:off x="838200" y="4181475"/>
              <a:ext cx="1466850" cy="1543050"/>
            </a:xfrm>
            <a:prstGeom prst="roundRect">
              <a:avLst>
                <a:gd name="adj" fmla="val 194"/>
              </a:avLst>
            </a:prstGeom>
            <a:noFill/>
            <a:ln w="38100" cap="flat" cmpd="sng">
              <a:solidFill>
                <a:srgbClr val="ED7D31"/>
              </a:solidFill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370" name="cat_mid" descr="cat_mi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0600" y="4371975"/>
              <a:ext cx="1438275" cy="1485900"/>
            </a:xfrm>
            <a:prstGeom prst="rect">
              <a:avLst/>
            </a:prstGeom>
            <a:effectLst/>
          </p:spPr>
        </p:pic>
        <p:sp>
          <p:nvSpPr>
            <p:cNvPr id="371" name="Cat sample frame"/>
            <p:cNvSpPr/>
            <p:nvPr/>
          </p:nvSpPr>
          <p:spPr>
            <a:xfrm>
              <a:off x="971550" y="4352925"/>
              <a:ext cx="1476375" cy="1524000"/>
            </a:xfrm>
            <a:prstGeom prst="roundRect">
              <a:avLst>
                <a:gd name="adj" fmla="val 193"/>
              </a:avLst>
            </a:prstGeom>
            <a:noFill/>
            <a:ln w="38100" cap="flat" cmpd="sng">
              <a:solidFill>
                <a:srgbClr val="ED7D31"/>
              </a:solidFill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372" name="cat_front" descr="cat_front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81100" y="4562475"/>
              <a:ext cx="1438275" cy="1495425"/>
            </a:xfrm>
            <a:prstGeom prst="rect">
              <a:avLst/>
            </a:prstGeom>
            <a:effectLst/>
          </p:spPr>
        </p:pic>
        <p:sp>
          <p:nvSpPr>
            <p:cNvPr id="373" name="Cat sample frame"/>
            <p:cNvSpPr/>
            <p:nvPr/>
          </p:nvSpPr>
          <p:spPr>
            <a:xfrm>
              <a:off x="1162050" y="4543425"/>
              <a:ext cx="1476375" cy="1533525"/>
            </a:xfrm>
            <a:prstGeom prst="roundRect">
              <a:avLst>
                <a:gd name="adj" fmla="val 193"/>
              </a:avLst>
            </a:prstGeom>
            <a:noFill/>
            <a:ln w="38100" cap="flat" cmpd="sng">
              <a:solidFill>
                <a:srgbClr val="ED7D31"/>
              </a:solidFill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4" name="More task samples"/>
            <p:cNvSpPr/>
            <p:nvPr/>
          </p:nvSpPr>
          <p:spPr>
            <a:xfrm>
              <a:off x="1704975" y="6207442"/>
              <a:ext cx="43815" cy="4381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5" name="More task samples"/>
            <p:cNvSpPr/>
            <p:nvPr/>
          </p:nvSpPr>
          <p:spPr>
            <a:xfrm>
              <a:off x="1704975" y="6302692"/>
              <a:ext cx="43815" cy="4381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6" name="More task samples"/>
            <p:cNvSpPr/>
            <p:nvPr/>
          </p:nvSpPr>
          <p:spPr>
            <a:xfrm>
              <a:off x="1704975" y="6397942"/>
              <a:ext cx="43815" cy="4381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377" name="dog_back" descr="dog_back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38200" y="6553200"/>
              <a:ext cx="1543050" cy="1552575"/>
            </a:xfrm>
            <a:prstGeom prst="rect">
              <a:avLst/>
            </a:prstGeom>
            <a:effectLst/>
          </p:spPr>
        </p:pic>
        <p:sp>
          <p:nvSpPr>
            <p:cNvPr id="378" name="Dog sample frame"/>
            <p:cNvSpPr/>
            <p:nvPr/>
          </p:nvSpPr>
          <p:spPr>
            <a:xfrm>
              <a:off x="819150" y="6534150"/>
              <a:ext cx="1581150" cy="1590675"/>
            </a:xfrm>
            <a:prstGeom prst="roundRect">
              <a:avLst>
                <a:gd name="adj" fmla="val 180"/>
              </a:avLst>
            </a:prstGeom>
            <a:noFill/>
            <a:ln w="38100" cap="flat" cmpd="sng">
              <a:solidFill>
                <a:srgbClr val="4472C4"/>
              </a:solidFill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379" name="dog_mid" descr="dog_mi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81075" y="6705600"/>
              <a:ext cx="1543050" cy="1543050"/>
            </a:xfrm>
            <a:prstGeom prst="rect">
              <a:avLst/>
            </a:prstGeom>
            <a:effectLst/>
          </p:spPr>
        </p:pic>
        <p:sp>
          <p:nvSpPr>
            <p:cNvPr id="380" name="Dog sample frame"/>
            <p:cNvSpPr/>
            <p:nvPr/>
          </p:nvSpPr>
          <p:spPr>
            <a:xfrm>
              <a:off x="962025" y="6686550"/>
              <a:ext cx="1581150" cy="1581150"/>
            </a:xfrm>
            <a:prstGeom prst="roundRect">
              <a:avLst>
                <a:gd name="adj" fmla="val 180"/>
              </a:avLst>
            </a:prstGeom>
            <a:noFill/>
            <a:ln w="38100" cap="flat" cmpd="sng">
              <a:solidFill>
                <a:srgbClr val="4472C4"/>
              </a:solidFill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381" name="dog_front" descr="dog_front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33475" y="6867525"/>
              <a:ext cx="1543050" cy="1543050"/>
            </a:xfrm>
            <a:prstGeom prst="rect">
              <a:avLst/>
            </a:prstGeom>
            <a:effectLst/>
          </p:spPr>
        </p:pic>
        <p:sp>
          <p:nvSpPr>
            <p:cNvPr id="382" name="Dog sample frame"/>
            <p:cNvSpPr/>
            <p:nvPr/>
          </p:nvSpPr>
          <p:spPr>
            <a:xfrm>
              <a:off x="1114425" y="6848475"/>
              <a:ext cx="1581150" cy="1581150"/>
            </a:xfrm>
            <a:prstGeom prst="roundRect">
              <a:avLst>
                <a:gd name="adj" fmla="val 180"/>
              </a:avLst>
            </a:prstGeom>
            <a:noFill/>
            <a:ln w="38100" cap="flat" cmpd="sng">
              <a:solidFill>
                <a:srgbClr val="4472C4"/>
              </a:solidFill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3" name="Task-t training data"/>
            <p:cNvSpPr txBox="1"/>
            <p:nvPr/>
          </p:nvSpPr>
          <p:spPr>
            <a:xfrm rot="16200000">
              <a:off x="-1196672" y="6072188"/>
              <a:ext cx="2985418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b="0" i="0" kern="0">
                  <a:solidFill>
                    <a:srgbClr val="000000"/>
                  </a:solidFill>
                  <a:latin typeface="Times New Roman"/>
                </a:rPr>
                <a:t>Task-t training data</a:t>
              </a:r>
              <a:endParaRPr sz="3000"/>
            </a:p>
          </p:txBody>
        </p:sp>
        <p:sp>
          <p:nvSpPr>
            <p:cNvPr id="384" name="Training data input arrow"/>
            <p:cNvSpPr/>
            <p:nvPr/>
          </p:nvSpPr>
          <p:spPr>
            <a:xfrm>
              <a:off x="2895600" y="5991225"/>
              <a:ext cx="647700" cy="619125"/>
            </a:xfrm>
            <a:custGeom>
              <a:avLst/>
              <a:gdLst/>
              <a:ahLst/>
              <a:cxnLst/>
              <a:rect l="0" t="0" r="r" b="b"/>
              <a:pathLst>
                <a:path w="68000" h="65000">
                  <a:moveTo>
                    <a:pt x="0" y="16900"/>
                  </a:moveTo>
                  <a:lnTo>
                    <a:pt x="0" y="48100"/>
                  </a:lnTo>
                  <a:lnTo>
                    <a:pt x="36040" y="48100"/>
                  </a:lnTo>
                  <a:lnTo>
                    <a:pt x="36040" y="65000"/>
                  </a:lnTo>
                  <a:lnTo>
                    <a:pt x="68000" y="32500"/>
                  </a:lnTo>
                  <a:lnTo>
                    <a:pt x="36040" y="0"/>
                  </a:lnTo>
                  <a:lnTo>
                    <a:pt x="36040" y="16900"/>
                  </a:lnTo>
                  <a:close/>
                </a:path>
              </a:pathLst>
            </a:custGeom>
            <a:solidFill>
              <a:srgbClr val="FFFFFF"/>
            </a:solidFill>
            <a:ln w="38100" cap="flat" cmpd="sng">
              <a:solidFill>
                <a:srgbClr val="305597"/>
              </a:solidFill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25" name="Inference task ID prediction"/>
          <p:cNvGrpSpPr/>
          <p:nvPr/>
        </p:nvGrpSpPr>
        <p:grpSpPr>
          <a:xfrm>
            <a:off x="3178560" y="372294"/>
            <a:ext cx="6352807" cy="3552006"/>
            <a:chOff x="3178560" y="372294"/>
            <a:chExt cx="6352807" cy="3552006"/>
          </a:xfrm>
        </p:grpSpPr>
        <p:sp>
          <p:nvSpPr>
            <p:cNvPr id="386" name="Task inference panel"/>
            <p:cNvSpPr/>
            <p:nvPr/>
          </p:nvSpPr>
          <p:spPr>
            <a:xfrm>
              <a:off x="4257675" y="438150"/>
              <a:ext cx="3743325" cy="3486150"/>
            </a:xfrm>
            <a:prstGeom prst="rect">
              <a:avLst/>
            </a:prstGeom>
            <a:solidFill>
              <a:srgbClr val="DDEBF7"/>
            </a:solidFill>
            <a:ln w="38100" cap="flat" cmpd="sng">
              <a:solidFill>
                <a:srgbClr val="000000"/>
              </a:solidFill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7" name="Inference"/>
            <p:cNvSpPr txBox="1"/>
            <p:nvPr/>
          </p:nvSpPr>
          <p:spPr>
            <a:xfrm rot="5400000">
              <a:off x="3178560" y="1033462"/>
              <a:ext cx="1566156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b="1" i="0" kern="0">
                  <a:solidFill>
                    <a:srgbClr val="000000"/>
                  </a:solidFill>
                  <a:latin typeface="Times New Roman"/>
                </a:rPr>
                <a:t>Inference</a:t>
              </a:r>
              <a:endParaRPr sz="3000"/>
            </a:p>
          </p:txBody>
        </p:sp>
        <p:sp>
          <p:nvSpPr>
            <p:cNvPr id="388" name="Frozen pretrained backbone"/>
            <p:cNvSpPr/>
            <p:nvPr/>
          </p:nvSpPr>
          <p:spPr>
            <a:xfrm>
              <a:off x="4486275" y="495300"/>
              <a:ext cx="762000" cy="3343275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93" name="Locked parameters"/>
            <p:cNvGrpSpPr/>
            <p:nvPr/>
          </p:nvGrpSpPr>
          <p:grpSpPr>
            <a:xfrm>
              <a:off x="4705350" y="588169"/>
              <a:ext cx="323850" cy="441484"/>
              <a:chOff x="4705350" y="588169"/>
              <a:chExt cx="323850" cy="441484"/>
            </a:xfrm>
          </p:grpSpPr>
          <p:sp>
            <p:nvSpPr>
              <p:cNvPr id="389" name="Lock shackle"/>
              <p:cNvSpPr/>
              <p:nvPr/>
            </p:nvSpPr>
            <p:spPr>
              <a:xfrm>
                <a:off x="4776597" y="588169"/>
                <a:ext cx="181356" cy="231457"/>
              </a:xfrm>
              <a:custGeom>
                <a:avLst/>
                <a:gdLst/>
                <a:ahLst/>
                <a:cxnLst/>
                <a:rect l="0" t="0" r="r" b="b"/>
                <a:pathLst>
                  <a:path w="19040" h="24300">
                    <a:moveTo>
                      <a:pt x="0" y="24300"/>
                    </a:moveTo>
                    <a:lnTo>
                      <a:pt x="0" y="13500"/>
                    </a:lnTo>
                    <a:cubicBezTo>
                      <a:pt x="0" y="0"/>
                      <a:pt x="19040" y="0"/>
                      <a:pt x="19040" y="13500"/>
                    </a:cubicBezTo>
                    <a:lnTo>
                      <a:pt x="19040" y="24300"/>
                    </a:lnTo>
                  </a:path>
                </a:pathLst>
              </a:custGeom>
              <a:noFill/>
              <a:ln w="29146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0" name="Lock body"/>
              <p:cNvSpPr/>
              <p:nvPr/>
            </p:nvSpPr>
            <p:spPr>
              <a:xfrm>
                <a:off x="4705350" y="793909"/>
                <a:ext cx="323850" cy="235744"/>
              </a:xfrm>
              <a:prstGeom prst="roundRect">
                <a:avLst>
                  <a:gd name="adj" fmla="val 4808"/>
                </a:avLst>
              </a:prstGeom>
              <a:solidFill>
                <a:srgbClr val="000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1" name="Keyhole"/>
              <p:cNvSpPr/>
              <p:nvPr/>
            </p:nvSpPr>
            <p:spPr>
              <a:xfrm>
                <a:off x="4836509" y="873204"/>
                <a:ext cx="61532" cy="64770"/>
              </a:xfrm>
              <a:prstGeom prst="ellipse">
                <a:avLst/>
              </a:prstGeom>
              <a:solidFill>
                <a:srgbClr val="A9D18E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" name="Keyhole stem"/>
              <p:cNvSpPr/>
              <p:nvPr/>
            </p:nvSpPr>
            <p:spPr>
              <a:xfrm>
                <a:off x="4851082" y="909638"/>
                <a:ext cx="32385" cy="60007"/>
              </a:xfrm>
              <a:custGeom>
                <a:avLst/>
                <a:gdLst/>
                <a:ahLst/>
                <a:cxnLst/>
                <a:rect l="0" t="0" r="r" b="b"/>
                <a:pathLst>
                  <a:path w="3400" h="6300">
                    <a:moveTo>
                      <a:pt x="340" y="0"/>
                    </a:moveTo>
                    <a:lnTo>
                      <a:pt x="3060" y="0"/>
                    </a:lnTo>
                    <a:lnTo>
                      <a:pt x="3400" y="6300"/>
                    </a:lnTo>
                    <a:lnTo>
                      <a:pt x="0" y="6300"/>
                    </a:lnTo>
                    <a:close/>
                  </a:path>
                </a:pathLst>
              </a:custGeom>
              <a:solidFill>
                <a:srgbClr val="A9D18E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94" name="Pretrained backbone label"/>
            <p:cNvSpPr txBox="1"/>
            <p:nvPr/>
          </p:nvSpPr>
          <p:spPr>
            <a:xfrm rot="5400000">
              <a:off x="4031290" y="1814814"/>
              <a:ext cx="1689497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b="0" i="0" kern="0">
                  <a:solidFill>
                    <a:srgbClr val="000000"/>
                  </a:solidFill>
                  <a:latin typeface="Times New Roman"/>
                </a:rPr>
                <a:t>Pretrained </a:t>
              </a:r>
              <a:endParaRPr sz="3000"/>
            </a:p>
          </p:txBody>
        </p:sp>
        <p:sp>
          <p:nvSpPr>
            <p:cNvPr id="395" name="Pretrained backbone label"/>
            <p:cNvSpPr txBox="1"/>
            <p:nvPr/>
          </p:nvSpPr>
          <p:spPr>
            <a:xfrm rot="5400000">
              <a:off x="4753165" y="2748108"/>
              <a:ext cx="259006" cy="52006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150" b="0" i="0" kern="0">
                  <a:ln w="4801">
                    <a:solidFill>
                      <a:srgbClr val="000000"/>
                    </a:solidFill>
                  </a:ln>
                  <a:solidFill>
                    <a:srgbClr val="000000"/>
                  </a:solidFill>
                  <a:latin typeface="Latin Modern Math"/>
                </a:rPr>
                <a:t>ℎ</a:t>
              </a:r>
              <a:endParaRPr sz="3150"/>
            </a:p>
          </p:txBody>
        </p:sp>
        <p:sp>
          <p:nvSpPr>
            <p:cNvPr id="396" name="Pretrained backbone label"/>
            <p:cNvSpPr txBox="1"/>
            <p:nvPr/>
          </p:nvSpPr>
          <p:spPr>
            <a:xfrm rot="5400000">
              <a:off x="4474500" y="3190719"/>
              <a:ext cx="559542" cy="3962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0" i="0" kern="0">
                  <a:ln w="3658">
                    <a:solidFill>
                      <a:srgbClr val="000000"/>
                    </a:solidFill>
                  </a:ln>
                  <a:solidFill>
                    <a:srgbClr val="000000"/>
                  </a:solidFill>
                  <a:latin typeface="Latin Modern Math"/>
                </a:rPr>
                <a:t>𝑝𝑡𝑚</a:t>
              </a:r>
              <a:endParaRPr sz="2400"/>
            </a:p>
          </p:txBody>
        </p:sp>
        <p:sp>
          <p:nvSpPr>
            <p:cNvPr id="397" name="Task inference head g omega"/>
            <p:cNvSpPr/>
            <p:nvPr/>
          </p:nvSpPr>
          <p:spPr>
            <a:xfrm>
              <a:off x="5495925" y="533400"/>
              <a:ext cx="1600200" cy="3305175"/>
            </a:xfrm>
            <a:prstGeom prst="rect">
              <a:avLst/>
            </a:prstGeom>
            <a:solidFill>
              <a:srgbClr val="B4C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8" name="g omega"/>
            <p:cNvSpPr txBox="1"/>
            <p:nvPr/>
          </p:nvSpPr>
          <p:spPr>
            <a:xfrm>
              <a:off x="6125561" y="372294"/>
              <a:ext cx="224037" cy="5324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225" b="0" i="0" kern="0">
                  <a:ln w="4915">
                    <a:solidFill>
                      <a:srgbClr val="000000"/>
                    </a:solidFill>
                  </a:ln>
                  <a:solidFill>
                    <a:srgbClr val="000000"/>
                  </a:solidFill>
                  <a:latin typeface="Latin Modern Math"/>
                </a:rPr>
                <a:t>𝑔</a:t>
              </a:r>
              <a:endParaRPr sz="3225"/>
            </a:p>
          </p:txBody>
        </p:sp>
        <p:sp>
          <p:nvSpPr>
            <p:cNvPr id="399" name="g omega"/>
            <p:cNvSpPr txBox="1"/>
            <p:nvPr/>
          </p:nvSpPr>
          <p:spPr>
            <a:xfrm>
              <a:off x="6320928" y="572091"/>
              <a:ext cx="212236" cy="38385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25" b="0" i="0" kern="0">
                  <a:ln w="3543">
                    <a:solidFill>
                      <a:srgbClr val="000000"/>
                    </a:solidFill>
                  </a:ln>
                  <a:solidFill>
                    <a:srgbClr val="000000"/>
                  </a:solidFill>
                  <a:latin typeface="Latin Modern Math"/>
                </a:rPr>
                <a:t>𝜔</a:t>
              </a:r>
              <a:endParaRPr sz="2325"/>
            </a:p>
          </p:txBody>
        </p:sp>
        <p:sp>
          <p:nvSpPr>
            <p:cNvPr id="400" name="MLP block"/>
            <p:cNvSpPr/>
            <p:nvPr/>
          </p:nvSpPr>
          <p:spPr>
            <a:xfrm>
              <a:off x="5667375" y="1000125"/>
              <a:ext cx="476250" cy="2638425"/>
            </a:xfrm>
            <a:prstGeom prst="rect">
              <a:avLst/>
            </a:prstGeom>
            <a:solidFill>
              <a:srgbClr val="E2F0D9"/>
            </a:solidFill>
            <a:ln w="38100" cap="flat" cmpd="sng">
              <a:solidFill>
                <a:srgbClr val="FFFFFF"/>
              </a:solidFill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1" name="MLP"/>
            <p:cNvSpPr txBox="1"/>
            <p:nvPr/>
          </p:nvSpPr>
          <p:spPr>
            <a:xfrm rot="5400000">
              <a:off x="5508278" y="2100262"/>
              <a:ext cx="811969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b="0" i="0" kern="0">
                  <a:solidFill>
                    <a:srgbClr val="000000"/>
                  </a:solidFill>
                  <a:latin typeface="Times New Roman"/>
                </a:rPr>
                <a:t>MLP</a:t>
              </a:r>
              <a:endParaRPr sz="3000"/>
            </a:p>
          </p:txBody>
        </p:sp>
        <p:sp>
          <p:nvSpPr>
            <p:cNvPr id="402" name="Task prediction nodes"/>
            <p:cNvSpPr/>
            <p:nvPr/>
          </p:nvSpPr>
          <p:spPr>
            <a:xfrm>
              <a:off x="6496050" y="1000125"/>
              <a:ext cx="476250" cy="2686050"/>
            </a:xfrm>
            <a:prstGeom prst="rect">
              <a:avLst/>
            </a:prstGeom>
            <a:solidFill>
              <a:srgbClr val="ABB9CA"/>
            </a:solidFill>
            <a:ln w="38100" cap="flat" cmpd="sng">
              <a:solidFill>
                <a:srgbClr val="FFFFFF"/>
              </a:solidFill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3" name="Task embedding node"/>
            <p:cNvSpPr/>
            <p:nvPr/>
          </p:nvSpPr>
          <p:spPr>
            <a:xfrm>
              <a:off x="6610350" y="1066800"/>
              <a:ext cx="266700" cy="266700"/>
            </a:xfrm>
            <a:prstGeom prst="ellipse">
              <a:avLst/>
            </a:prstGeom>
            <a:solidFill>
              <a:srgbClr val="9DC3E6"/>
            </a:solidFill>
            <a:ln w="9525" cap="flat" cmpd="sng">
              <a:solidFill>
                <a:srgbClr val="FFFFFF"/>
              </a:solidFill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4" name="Task embedding node"/>
            <p:cNvSpPr/>
            <p:nvPr/>
          </p:nvSpPr>
          <p:spPr>
            <a:xfrm>
              <a:off x="6610350" y="1457325"/>
              <a:ext cx="266700" cy="266700"/>
            </a:xfrm>
            <a:prstGeom prst="ellipse">
              <a:avLst/>
            </a:prstGeom>
            <a:solidFill>
              <a:srgbClr val="9DC3E6"/>
            </a:solidFill>
            <a:ln w="9525" cap="flat" cmpd="sng">
              <a:solidFill>
                <a:srgbClr val="FFFFFF"/>
              </a:solidFill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5" name="Task embedding node"/>
            <p:cNvSpPr/>
            <p:nvPr/>
          </p:nvSpPr>
          <p:spPr>
            <a:xfrm>
              <a:off x="6610350" y="1847850"/>
              <a:ext cx="266700" cy="266700"/>
            </a:xfrm>
            <a:prstGeom prst="ellipse">
              <a:avLst/>
            </a:prstGeom>
            <a:solidFill>
              <a:srgbClr val="9DC3E6"/>
            </a:solidFill>
            <a:ln w="9525" cap="flat" cmpd="sng">
              <a:solidFill>
                <a:srgbClr val="FFFFFF"/>
              </a:solidFill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6" name="Task embedding node"/>
            <p:cNvSpPr/>
            <p:nvPr/>
          </p:nvSpPr>
          <p:spPr>
            <a:xfrm>
              <a:off x="6610350" y="2571750"/>
              <a:ext cx="266700" cy="266700"/>
            </a:xfrm>
            <a:prstGeom prst="ellipse">
              <a:avLst/>
            </a:prstGeom>
            <a:solidFill>
              <a:srgbClr val="9DC3E6"/>
            </a:solidFill>
            <a:ln w="9525" cap="flat" cmpd="sng">
              <a:solidFill>
                <a:srgbClr val="FFFFFF"/>
              </a:solidFill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7" name="Task embedding node"/>
            <p:cNvSpPr/>
            <p:nvPr/>
          </p:nvSpPr>
          <p:spPr>
            <a:xfrm>
              <a:off x="6610350" y="2962275"/>
              <a:ext cx="266700" cy="266700"/>
            </a:xfrm>
            <a:prstGeom prst="ellipse">
              <a:avLst/>
            </a:prstGeom>
            <a:solidFill>
              <a:srgbClr val="9DC3E6"/>
            </a:solidFill>
            <a:ln w="9525" cap="flat" cmpd="sng">
              <a:solidFill>
                <a:srgbClr val="FFFFFF"/>
              </a:solidFill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8" name="Task embedding node"/>
            <p:cNvSpPr/>
            <p:nvPr/>
          </p:nvSpPr>
          <p:spPr>
            <a:xfrm>
              <a:off x="6610350" y="3352800"/>
              <a:ext cx="266700" cy="266700"/>
            </a:xfrm>
            <a:prstGeom prst="ellipse">
              <a:avLst/>
            </a:prstGeom>
            <a:solidFill>
              <a:srgbClr val="9DC3E6"/>
            </a:solidFill>
            <a:ln w="9525" cap="flat" cmpd="sng">
              <a:solidFill>
                <a:srgbClr val="FFFFFF"/>
              </a:solidFill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9" name="More embedding nodes"/>
            <p:cNvSpPr/>
            <p:nvPr/>
          </p:nvSpPr>
          <p:spPr>
            <a:xfrm>
              <a:off x="6715125" y="2238375"/>
              <a:ext cx="38100" cy="381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0" name="More embedding nodes"/>
            <p:cNvSpPr/>
            <p:nvPr/>
          </p:nvSpPr>
          <p:spPr>
            <a:xfrm>
              <a:off x="6715125" y="2333625"/>
              <a:ext cx="38100" cy="381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1" name="More embedding nodes"/>
            <p:cNvSpPr/>
            <p:nvPr/>
          </p:nvSpPr>
          <p:spPr>
            <a:xfrm>
              <a:off x="6715125" y="2428875"/>
              <a:ext cx="38100" cy="381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12" name="Element 401"/>
            <p:cNvCxnSpPr/>
            <p:nvPr/>
          </p:nvCxnSpPr>
          <p:spPr>
            <a:xfrm>
              <a:off x="5248275" y="2352675"/>
              <a:ext cx="257175" cy="0"/>
            </a:xfrm>
            <a:prstGeom prst="line">
              <a:avLst/>
            </a:prstGeom>
            <a:ln w="38100">
              <a:solidFill>
                <a:srgbClr val="000000"/>
              </a:solidFill>
            </a:ln>
            <a:effectLst/>
          </p:spPr>
        </p:cxnSp>
        <p:sp>
          <p:nvSpPr>
            <p:cNvPr id="413" name="Arrow arrowhead"/>
            <p:cNvSpPr/>
            <p:nvPr/>
          </p:nvSpPr>
          <p:spPr>
            <a:xfrm>
              <a:off x="5419725" y="2228850"/>
              <a:ext cx="238125" cy="247650"/>
            </a:xfrm>
            <a:custGeom>
              <a:avLst/>
              <a:gdLst/>
              <a:ahLst/>
              <a:cxnLst/>
              <a:rect l="0" t="0" r="r" b="b"/>
              <a:pathLst>
                <a:path w="25000" h="26000">
                  <a:moveTo>
                    <a:pt x="25000" y="13000"/>
                  </a:moveTo>
                  <a:lnTo>
                    <a:pt x="0" y="26000"/>
                  </a:lnTo>
                  <a:lnTo>
                    <a:pt x="9000" y="13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14" name="Element 403"/>
            <p:cNvCxnSpPr/>
            <p:nvPr/>
          </p:nvCxnSpPr>
          <p:spPr>
            <a:xfrm>
              <a:off x="6153150" y="2352675"/>
              <a:ext cx="193167" cy="0"/>
            </a:xfrm>
            <a:prstGeom prst="line">
              <a:avLst/>
            </a:prstGeom>
            <a:ln w="38100">
              <a:solidFill>
                <a:srgbClr val="000000"/>
              </a:solidFill>
            </a:ln>
            <a:effectLst/>
          </p:spPr>
        </p:cxnSp>
        <p:sp>
          <p:nvSpPr>
            <p:cNvPr id="415" name="Arrow arrowhead"/>
            <p:cNvSpPr/>
            <p:nvPr/>
          </p:nvSpPr>
          <p:spPr>
            <a:xfrm>
              <a:off x="6267450" y="2228850"/>
              <a:ext cx="219075" cy="247650"/>
            </a:xfrm>
            <a:custGeom>
              <a:avLst/>
              <a:gdLst/>
              <a:ahLst/>
              <a:cxnLst/>
              <a:rect l="0" t="0" r="r" b="b"/>
              <a:pathLst>
                <a:path w="23000" h="26000">
                  <a:moveTo>
                    <a:pt x="23000" y="13000"/>
                  </a:moveTo>
                  <a:lnTo>
                    <a:pt x="0" y="26000"/>
                  </a:lnTo>
                  <a:lnTo>
                    <a:pt x="8280" y="13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16" name="Element 405"/>
            <p:cNvCxnSpPr/>
            <p:nvPr/>
          </p:nvCxnSpPr>
          <p:spPr>
            <a:xfrm>
              <a:off x="6981825" y="2352675"/>
              <a:ext cx="183642" cy="0"/>
            </a:xfrm>
            <a:prstGeom prst="line">
              <a:avLst/>
            </a:prstGeom>
            <a:ln w="38100">
              <a:solidFill>
                <a:srgbClr val="000000"/>
              </a:solidFill>
            </a:ln>
            <a:effectLst/>
          </p:spPr>
        </p:cxnSp>
        <p:sp>
          <p:nvSpPr>
            <p:cNvPr id="417" name="Arrow arrowhead"/>
            <p:cNvSpPr/>
            <p:nvPr/>
          </p:nvSpPr>
          <p:spPr>
            <a:xfrm>
              <a:off x="7086600" y="2228850"/>
              <a:ext cx="219075" cy="247650"/>
            </a:xfrm>
            <a:custGeom>
              <a:avLst/>
              <a:gdLst/>
              <a:ahLst/>
              <a:cxnLst/>
              <a:rect l="0" t="0" r="r" b="b"/>
              <a:pathLst>
                <a:path w="23000" h="26000">
                  <a:moveTo>
                    <a:pt x="23000" y="13000"/>
                  </a:moveTo>
                  <a:lnTo>
                    <a:pt x="0" y="26000"/>
                  </a:lnTo>
                  <a:lnTo>
                    <a:pt x="8280" y="13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8" name="Task"/>
            <p:cNvSpPr txBox="1"/>
            <p:nvPr/>
          </p:nvSpPr>
          <p:spPr>
            <a:xfrm>
              <a:off x="7200900" y="1915287"/>
              <a:ext cx="742578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b="0" i="0" kern="0">
                  <a:solidFill>
                    <a:srgbClr val="000000"/>
                  </a:solidFill>
                  <a:latin typeface="Times New Roman"/>
                </a:rPr>
                <a:t>Task</a:t>
              </a:r>
              <a:endParaRPr sz="3000"/>
            </a:p>
          </p:txBody>
        </p:sp>
        <p:sp>
          <p:nvSpPr>
            <p:cNvPr id="419" name="Predicted task ID tf"/>
            <p:cNvSpPr txBox="1"/>
            <p:nvPr/>
          </p:nvSpPr>
          <p:spPr>
            <a:xfrm>
              <a:off x="7200900" y="2334387"/>
              <a:ext cx="525847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b="0" i="0" kern="0">
                  <a:solidFill>
                    <a:srgbClr val="000000"/>
                  </a:solidFill>
                  <a:latin typeface="Times New Roman"/>
                </a:rPr>
                <a:t>ID </a:t>
              </a:r>
              <a:endParaRPr sz="3000"/>
            </a:p>
          </p:txBody>
        </p:sp>
        <p:sp>
          <p:nvSpPr>
            <p:cNvPr id="420" name="Predicted task ID tf"/>
            <p:cNvSpPr txBox="1"/>
            <p:nvPr/>
          </p:nvSpPr>
          <p:spPr>
            <a:xfrm>
              <a:off x="7698172" y="2334387"/>
              <a:ext cx="166115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b="0" i="0" kern="0">
                  <a:ln w="4572">
                    <a:solidFill>
                      <a:srgbClr val="000000"/>
                    </a:solidFill>
                  </a:ln>
                  <a:solidFill>
                    <a:srgbClr val="000000"/>
                  </a:solidFill>
                  <a:latin typeface="Latin Modern Math"/>
                </a:rPr>
                <a:t>𝑡</a:t>
              </a:r>
              <a:endParaRPr sz="3000"/>
            </a:p>
          </p:txBody>
        </p:sp>
        <p:sp>
          <p:nvSpPr>
            <p:cNvPr id="421" name="Predicted task ID tf"/>
            <p:cNvSpPr txBox="1"/>
            <p:nvPr/>
          </p:nvSpPr>
          <p:spPr>
            <a:xfrm>
              <a:off x="7835711" y="2553233"/>
              <a:ext cx="159261" cy="34671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00" b="0" i="0" kern="0">
                  <a:ln w="3200">
                    <a:solidFill>
                      <a:srgbClr val="000000"/>
                    </a:solidFill>
                  </a:ln>
                  <a:solidFill>
                    <a:srgbClr val="000000"/>
                  </a:solidFill>
                  <a:latin typeface="Latin Modern Math"/>
                </a:rPr>
                <a:t>𝑓</a:t>
              </a:r>
              <a:endParaRPr sz="2100"/>
            </a:p>
          </p:txBody>
        </p:sp>
        <p:sp>
          <p:nvSpPr>
            <p:cNvPr id="422" name="Editable mathematical accent"/>
            <p:cNvSpPr/>
            <p:nvPr/>
          </p:nvSpPr>
          <p:spPr>
            <a:xfrm>
              <a:off x="7763551" y="2417445"/>
              <a:ext cx="87630" cy="45720"/>
            </a:xfrm>
            <a:custGeom>
              <a:avLst/>
              <a:gdLst/>
              <a:ahLst/>
              <a:cxnLst/>
              <a:rect l="0" t="0" r="r" b="b"/>
              <a:pathLst>
                <a:path w="9200" h="4800">
                  <a:moveTo>
                    <a:pt x="0" y="4800"/>
                  </a:moveTo>
                  <a:lnTo>
                    <a:pt x="4600" y="0"/>
                  </a:lnTo>
                  <a:lnTo>
                    <a:pt x="9200" y="4800"/>
                  </a:lnTo>
                </a:path>
              </a:pathLst>
            </a:custGeom>
            <a:noFill/>
            <a:ln w="24765" cap="flat" cmpd="sng">
              <a:solidFill>
                <a:srgbClr val="000000"/>
              </a:solidFill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3" name="Initial Matching"/>
            <p:cNvSpPr txBox="1"/>
            <p:nvPr/>
          </p:nvSpPr>
          <p:spPr>
            <a:xfrm rot="5400000">
              <a:off x="7160699" y="1550670"/>
              <a:ext cx="2370668" cy="47053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50" b="0" i="0" kern="0">
                  <a:solidFill>
                    <a:srgbClr val="000000"/>
                  </a:solidFill>
                  <a:latin typeface="Times New Roman"/>
                </a:rPr>
                <a:t>Initial Matching</a:t>
              </a:r>
              <a:endParaRPr sz="2850"/>
            </a:p>
          </p:txBody>
        </p:sp>
        <p:sp>
          <p:nvSpPr>
            <p:cNvPr id="424" name="Initial matching input arrow"/>
            <p:cNvSpPr/>
            <p:nvPr/>
          </p:nvSpPr>
          <p:spPr>
            <a:xfrm>
              <a:off x="8058150" y="3028950"/>
              <a:ext cx="476250" cy="371475"/>
            </a:xfrm>
            <a:custGeom>
              <a:avLst/>
              <a:gdLst/>
              <a:ahLst/>
              <a:cxnLst/>
              <a:rect l="0" t="0" r="r" b="b"/>
              <a:pathLst>
                <a:path w="50000" h="39000">
                  <a:moveTo>
                    <a:pt x="0" y="10140"/>
                  </a:moveTo>
                  <a:lnTo>
                    <a:pt x="0" y="28860"/>
                  </a:lnTo>
                  <a:lnTo>
                    <a:pt x="26500" y="28860"/>
                  </a:lnTo>
                  <a:lnTo>
                    <a:pt x="26500" y="39000"/>
                  </a:lnTo>
                  <a:lnTo>
                    <a:pt x="50000" y="19500"/>
                  </a:lnTo>
                  <a:lnTo>
                    <a:pt x="26500" y="0"/>
                  </a:lnTo>
                  <a:lnTo>
                    <a:pt x="26500" y="10140"/>
                  </a:lnTo>
                  <a:close/>
                </a:path>
              </a:pathLst>
            </a:custGeom>
            <a:solidFill>
              <a:srgbClr val="FFFFFF"/>
            </a:solidFill>
            <a:ln w="38100" cap="flat" cmpd="sng">
              <a:solidFill>
                <a:srgbClr val="000000"/>
              </a:solidFill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63" name="Initial matching and parameter rematching"/>
          <p:cNvGrpSpPr/>
          <p:nvPr/>
        </p:nvGrpSpPr>
        <p:grpSpPr>
          <a:xfrm>
            <a:off x="8620125" y="314325"/>
            <a:ext cx="5712527" cy="3790950"/>
            <a:chOff x="8620125" y="314325"/>
            <a:chExt cx="5712527" cy="3790950"/>
          </a:xfrm>
        </p:grpSpPr>
        <p:sp>
          <p:nvSpPr>
            <p:cNvPr id="426" name="Matching panel frame"/>
            <p:cNvSpPr/>
            <p:nvPr/>
          </p:nvSpPr>
          <p:spPr>
            <a:xfrm>
              <a:off x="8620125" y="314325"/>
              <a:ext cx="5019675" cy="3790950"/>
            </a:xfrm>
            <a:prstGeom prst="rect">
              <a:avLst/>
            </a:prstGeom>
            <a:solidFill>
              <a:srgbClr val="DDEBF7"/>
            </a:solidFill>
            <a:ln w="38100" cap="flat" cmpd="sng">
              <a:solidFill>
                <a:srgbClr val="000000"/>
              </a:solidFill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7" name="Matching panel background"/>
            <p:cNvSpPr/>
            <p:nvPr/>
          </p:nvSpPr>
          <p:spPr>
            <a:xfrm>
              <a:off x="8839200" y="371475"/>
              <a:ext cx="4752975" cy="3676650"/>
            </a:xfrm>
            <a:prstGeom prst="rect">
              <a:avLst/>
            </a:prstGeom>
            <a:solidFill>
              <a:srgbClr val="FBE5D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532" name="Inference parameter pool"/>
            <p:cNvGrpSpPr/>
            <p:nvPr/>
          </p:nvGrpSpPr>
          <p:grpSpPr>
            <a:xfrm>
              <a:off x="8905875" y="457200"/>
              <a:ext cx="4019550" cy="1314450"/>
              <a:chOff x="8905875" y="457200"/>
              <a:chExt cx="4019550" cy="1314450"/>
            </a:xfrm>
          </p:grpSpPr>
          <p:sp>
            <p:nvSpPr>
              <p:cNvPr id="428" name="Parameter pool"/>
              <p:cNvSpPr/>
              <p:nvPr/>
            </p:nvSpPr>
            <p:spPr>
              <a:xfrm>
                <a:off x="8905875" y="457200"/>
                <a:ext cx="4019550" cy="1314450"/>
              </a:xfrm>
              <a:prstGeom prst="rect">
                <a:avLst/>
              </a:prstGeom>
              <a:solidFill>
                <a:srgbClr val="D9D9D9"/>
              </a:solidFill>
              <a:ln w="38100" cap="flat" cmpd="sng">
                <a:solidFill>
                  <a:srgbClr val="203653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" name="Parameter pool label background"/>
              <p:cNvSpPr/>
              <p:nvPr/>
            </p:nvSpPr>
            <p:spPr>
              <a:xfrm>
                <a:off x="8934450" y="485775"/>
                <a:ext cx="1190625" cy="1257300"/>
              </a:xfrm>
              <a:prstGeom prst="rect">
                <a:avLst/>
              </a:prstGeom>
              <a:solidFill>
                <a:srgbClr val="E5E0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0" name="Beige texture"/>
              <p:cNvSpPr/>
              <p:nvPr/>
            </p:nvSpPr>
            <p:spPr>
              <a:xfrm>
                <a:off x="9085469" y="1493976"/>
                <a:ext cx="100547" cy="93850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" name="Beige texture"/>
              <p:cNvSpPr/>
              <p:nvPr/>
            </p:nvSpPr>
            <p:spPr>
              <a:xfrm>
                <a:off x="9602237" y="870656"/>
                <a:ext cx="86296" cy="105045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2" name="Beige texture"/>
              <p:cNvSpPr/>
              <p:nvPr/>
            </p:nvSpPr>
            <p:spPr>
              <a:xfrm>
                <a:off x="9114534" y="1545069"/>
                <a:ext cx="127646" cy="137793"/>
              </a:xfrm>
              <a:prstGeom prst="ellipse">
                <a:avLst/>
              </a:prstGeom>
              <a:solidFill>
                <a:srgbClr val="E7E2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3" name="Beige texture"/>
              <p:cNvSpPr/>
              <p:nvPr/>
            </p:nvSpPr>
            <p:spPr>
              <a:xfrm>
                <a:off x="8990645" y="643205"/>
                <a:ext cx="95927" cy="68481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" name="Beige texture"/>
              <p:cNvSpPr/>
              <p:nvPr/>
            </p:nvSpPr>
            <p:spPr>
              <a:xfrm>
                <a:off x="9831242" y="1483440"/>
                <a:ext cx="54863" cy="132871"/>
              </a:xfrm>
              <a:prstGeom prst="ellipse">
                <a:avLst/>
              </a:prstGeom>
              <a:solidFill>
                <a:srgbClr val="E6E1D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" name="Beige texture"/>
              <p:cNvSpPr/>
              <p:nvPr/>
            </p:nvSpPr>
            <p:spPr>
              <a:xfrm>
                <a:off x="9822267" y="1537166"/>
                <a:ext cx="71052" cy="75399"/>
              </a:xfrm>
              <a:prstGeom prst="ellipse">
                <a:avLst/>
              </a:prstGeom>
              <a:solidFill>
                <a:srgbClr val="E6E1D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" name="Beige texture"/>
              <p:cNvSpPr/>
              <p:nvPr/>
            </p:nvSpPr>
            <p:spPr>
              <a:xfrm>
                <a:off x="9289376" y="535906"/>
                <a:ext cx="151796" cy="96727"/>
              </a:xfrm>
              <a:prstGeom prst="ellipse">
                <a:avLst/>
              </a:prstGeom>
              <a:solidFill>
                <a:srgbClr val="E7E2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" name="Beige texture"/>
              <p:cNvSpPr/>
              <p:nvPr/>
            </p:nvSpPr>
            <p:spPr>
              <a:xfrm>
                <a:off x="8991523" y="902771"/>
                <a:ext cx="148940" cy="156513"/>
              </a:xfrm>
              <a:prstGeom prst="ellipse">
                <a:avLst/>
              </a:prstGeom>
              <a:solidFill>
                <a:srgbClr val="E8E3D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" name="Beige texture"/>
              <p:cNvSpPr/>
              <p:nvPr/>
            </p:nvSpPr>
            <p:spPr>
              <a:xfrm>
                <a:off x="9764256" y="1489946"/>
                <a:ext cx="63529" cy="76939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" name="Beige texture"/>
              <p:cNvSpPr/>
              <p:nvPr/>
            </p:nvSpPr>
            <p:spPr>
              <a:xfrm>
                <a:off x="9160300" y="1435998"/>
                <a:ext cx="48068" cy="142272"/>
              </a:xfrm>
              <a:prstGeom prst="ellipse">
                <a:avLst/>
              </a:prstGeom>
              <a:solidFill>
                <a:srgbClr val="E6E1D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" name="Beige texture"/>
              <p:cNvSpPr/>
              <p:nvPr/>
            </p:nvSpPr>
            <p:spPr>
              <a:xfrm>
                <a:off x="9550897" y="506721"/>
                <a:ext cx="48568" cy="57965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" name="Beige texture"/>
              <p:cNvSpPr/>
              <p:nvPr/>
            </p:nvSpPr>
            <p:spPr>
              <a:xfrm>
                <a:off x="9147986" y="564444"/>
                <a:ext cx="113116" cy="114192"/>
              </a:xfrm>
              <a:prstGeom prst="ellipse">
                <a:avLst/>
              </a:prstGeom>
              <a:solidFill>
                <a:srgbClr val="E2DDC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" name="Beige texture"/>
              <p:cNvSpPr/>
              <p:nvPr/>
            </p:nvSpPr>
            <p:spPr>
              <a:xfrm>
                <a:off x="9554833" y="692515"/>
                <a:ext cx="120630" cy="59192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3" name="Beige texture"/>
              <p:cNvSpPr/>
              <p:nvPr/>
            </p:nvSpPr>
            <p:spPr>
              <a:xfrm>
                <a:off x="9220846" y="1308770"/>
                <a:ext cx="129879" cy="52727"/>
              </a:xfrm>
              <a:prstGeom prst="ellipse">
                <a:avLst/>
              </a:prstGeom>
              <a:solidFill>
                <a:srgbClr val="E2DDC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4" name="Beige texture"/>
              <p:cNvSpPr/>
              <p:nvPr/>
            </p:nvSpPr>
            <p:spPr>
              <a:xfrm>
                <a:off x="9543000" y="524068"/>
                <a:ext cx="132796" cy="138869"/>
              </a:xfrm>
              <a:prstGeom prst="ellipse">
                <a:avLst/>
              </a:prstGeom>
              <a:solidFill>
                <a:srgbClr val="E7E2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5" name="Beige texture"/>
              <p:cNvSpPr/>
              <p:nvPr/>
            </p:nvSpPr>
            <p:spPr>
              <a:xfrm>
                <a:off x="9111880" y="1039901"/>
                <a:ext cx="93616" cy="159828"/>
              </a:xfrm>
              <a:prstGeom prst="ellipse">
                <a:avLst/>
              </a:prstGeom>
              <a:solidFill>
                <a:srgbClr val="E7E2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6" name="Beige texture"/>
              <p:cNvSpPr/>
              <p:nvPr/>
            </p:nvSpPr>
            <p:spPr>
              <a:xfrm>
                <a:off x="9584427" y="1358159"/>
                <a:ext cx="89453" cy="131098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7" name="Beige texture"/>
              <p:cNvSpPr/>
              <p:nvPr/>
            </p:nvSpPr>
            <p:spPr>
              <a:xfrm>
                <a:off x="9854830" y="923016"/>
                <a:ext cx="146765" cy="61242"/>
              </a:xfrm>
              <a:prstGeom prst="ellipse">
                <a:avLst/>
              </a:prstGeom>
              <a:solidFill>
                <a:srgbClr val="E2DDC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8" name="Beige texture"/>
              <p:cNvSpPr/>
              <p:nvPr/>
            </p:nvSpPr>
            <p:spPr>
              <a:xfrm>
                <a:off x="9564625" y="505750"/>
                <a:ext cx="93593" cy="169725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9" name="Beige texture"/>
              <p:cNvSpPr/>
              <p:nvPr/>
            </p:nvSpPr>
            <p:spPr>
              <a:xfrm>
                <a:off x="9170378" y="999050"/>
                <a:ext cx="85197" cy="101312"/>
              </a:xfrm>
              <a:prstGeom prst="ellipse">
                <a:avLst/>
              </a:prstGeom>
              <a:solidFill>
                <a:srgbClr val="E6E1D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0" name="Beige texture"/>
              <p:cNvSpPr/>
              <p:nvPr/>
            </p:nvSpPr>
            <p:spPr>
              <a:xfrm>
                <a:off x="9233547" y="1092105"/>
                <a:ext cx="140745" cy="85658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1" name="Beige texture"/>
              <p:cNvSpPr/>
              <p:nvPr/>
            </p:nvSpPr>
            <p:spPr>
              <a:xfrm>
                <a:off x="9855136" y="1039305"/>
                <a:ext cx="50527" cy="144298"/>
              </a:xfrm>
              <a:prstGeom prst="ellipse">
                <a:avLst/>
              </a:prstGeom>
              <a:solidFill>
                <a:srgbClr val="E7E2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2" name="Beige texture"/>
              <p:cNvSpPr/>
              <p:nvPr/>
            </p:nvSpPr>
            <p:spPr>
              <a:xfrm>
                <a:off x="9004316" y="1224060"/>
                <a:ext cx="136526" cy="117713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3" name="Beige texture"/>
              <p:cNvSpPr/>
              <p:nvPr/>
            </p:nvSpPr>
            <p:spPr>
              <a:xfrm>
                <a:off x="9319655" y="1483289"/>
                <a:ext cx="157819" cy="97267"/>
              </a:xfrm>
              <a:prstGeom prst="ellipse">
                <a:avLst/>
              </a:prstGeom>
              <a:solidFill>
                <a:srgbClr val="E6E1D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4" name="Beige texture"/>
              <p:cNvSpPr/>
              <p:nvPr/>
            </p:nvSpPr>
            <p:spPr>
              <a:xfrm>
                <a:off x="9715129" y="1513395"/>
                <a:ext cx="63528" cy="83571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5" name="Beige texture"/>
              <p:cNvSpPr/>
              <p:nvPr/>
            </p:nvSpPr>
            <p:spPr>
              <a:xfrm>
                <a:off x="9130913" y="1516453"/>
                <a:ext cx="53398" cy="168386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6" name="Beige texture"/>
              <p:cNvSpPr/>
              <p:nvPr/>
            </p:nvSpPr>
            <p:spPr>
              <a:xfrm>
                <a:off x="8999848" y="737809"/>
                <a:ext cx="116955" cy="49095"/>
              </a:xfrm>
              <a:prstGeom prst="ellipse">
                <a:avLst/>
              </a:prstGeom>
              <a:solidFill>
                <a:srgbClr val="E8E3D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7" name="Beige texture"/>
              <p:cNvSpPr/>
              <p:nvPr/>
            </p:nvSpPr>
            <p:spPr>
              <a:xfrm>
                <a:off x="9820487" y="830023"/>
                <a:ext cx="81257" cy="49457"/>
              </a:xfrm>
              <a:prstGeom prst="ellipse">
                <a:avLst/>
              </a:prstGeom>
              <a:solidFill>
                <a:srgbClr val="E8E3D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8" name="Beige texture"/>
              <p:cNvSpPr/>
              <p:nvPr/>
            </p:nvSpPr>
            <p:spPr>
              <a:xfrm>
                <a:off x="9027859" y="1148854"/>
                <a:ext cx="111854" cy="64626"/>
              </a:xfrm>
              <a:prstGeom prst="ellipse">
                <a:avLst/>
              </a:prstGeom>
              <a:solidFill>
                <a:srgbClr val="E7E2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9" name="Beige texture"/>
              <p:cNvSpPr/>
              <p:nvPr/>
            </p:nvSpPr>
            <p:spPr>
              <a:xfrm>
                <a:off x="9095430" y="1136303"/>
                <a:ext cx="61105" cy="99622"/>
              </a:xfrm>
              <a:prstGeom prst="ellipse">
                <a:avLst/>
              </a:prstGeom>
              <a:solidFill>
                <a:srgbClr val="E8E3D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0" name="Beige texture"/>
              <p:cNvSpPr/>
              <p:nvPr/>
            </p:nvSpPr>
            <p:spPr>
              <a:xfrm>
                <a:off x="9647889" y="790163"/>
                <a:ext cx="114853" cy="147025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1" name="Beige texture"/>
              <p:cNvSpPr/>
              <p:nvPr/>
            </p:nvSpPr>
            <p:spPr>
              <a:xfrm>
                <a:off x="9037882" y="541429"/>
                <a:ext cx="148238" cy="108849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2" name="Beige texture"/>
              <p:cNvSpPr/>
              <p:nvPr/>
            </p:nvSpPr>
            <p:spPr>
              <a:xfrm>
                <a:off x="9860110" y="665976"/>
                <a:ext cx="62295" cy="146488"/>
              </a:xfrm>
              <a:prstGeom prst="ellipse">
                <a:avLst/>
              </a:prstGeom>
              <a:solidFill>
                <a:srgbClr val="E2DDC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3" name="Beige texture"/>
              <p:cNvSpPr/>
              <p:nvPr/>
            </p:nvSpPr>
            <p:spPr>
              <a:xfrm>
                <a:off x="9429307" y="1186465"/>
                <a:ext cx="145821" cy="72748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4" name="Beige texture"/>
              <p:cNvSpPr/>
              <p:nvPr/>
            </p:nvSpPr>
            <p:spPr>
              <a:xfrm>
                <a:off x="9464052" y="1610376"/>
                <a:ext cx="92006" cy="69053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5" name="Beige texture"/>
              <p:cNvSpPr/>
              <p:nvPr/>
            </p:nvSpPr>
            <p:spPr>
              <a:xfrm>
                <a:off x="9594130" y="1146573"/>
                <a:ext cx="55235" cy="128243"/>
              </a:xfrm>
              <a:prstGeom prst="ellipse">
                <a:avLst/>
              </a:prstGeom>
              <a:solidFill>
                <a:srgbClr val="E8E3D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6" name="Beige texture"/>
              <p:cNvSpPr/>
              <p:nvPr/>
            </p:nvSpPr>
            <p:spPr>
              <a:xfrm>
                <a:off x="9514963" y="1527058"/>
                <a:ext cx="109845" cy="112447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7" name="Beige texture"/>
              <p:cNvSpPr/>
              <p:nvPr/>
            </p:nvSpPr>
            <p:spPr>
              <a:xfrm>
                <a:off x="9930693" y="559010"/>
                <a:ext cx="147915" cy="118685"/>
              </a:xfrm>
              <a:prstGeom prst="ellipse">
                <a:avLst/>
              </a:prstGeom>
              <a:solidFill>
                <a:srgbClr val="E2DDC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8" name="Beige texture"/>
              <p:cNvSpPr/>
              <p:nvPr/>
            </p:nvSpPr>
            <p:spPr>
              <a:xfrm>
                <a:off x="9676380" y="1028605"/>
                <a:ext cx="129998" cy="60405"/>
              </a:xfrm>
              <a:prstGeom prst="ellipse">
                <a:avLst/>
              </a:prstGeom>
              <a:solidFill>
                <a:srgbClr val="E8E3D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9" name="Beige texture"/>
              <p:cNvSpPr/>
              <p:nvPr/>
            </p:nvSpPr>
            <p:spPr>
              <a:xfrm>
                <a:off x="9641344" y="518471"/>
                <a:ext cx="149226" cy="137708"/>
              </a:xfrm>
              <a:prstGeom prst="ellipse">
                <a:avLst/>
              </a:prstGeom>
              <a:solidFill>
                <a:srgbClr val="E2DDC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0" name="Beige texture"/>
              <p:cNvSpPr/>
              <p:nvPr/>
            </p:nvSpPr>
            <p:spPr>
              <a:xfrm>
                <a:off x="9792604" y="1347463"/>
                <a:ext cx="148064" cy="76242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1" name="Beige texture"/>
              <p:cNvSpPr/>
              <p:nvPr/>
            </p:nvSpPr>
            <p:spPr>
              <a:xfrm>
                <a:off x="9610627" y="585604"/>
                <a:ext cx="104309" cy="77728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2" name="Beige texture"/>
              <p:cNvSpPr/>
              <p:nvPr/>
            </p:nvSpPr>
            <p:spPr>
              <a:xfrm>
                <a:off x="9007932" y="704991"/>
                <a:ext cx="125127" cy="97982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3" name="Beige texture"/>
              <p:cNvSpPr/>
              <p:nvPr/>
            </p:nvSpPr>
            <p:spPr>
              <a:xfrm>
                <a:off x="8966014" y="1234809"/>
                <a:ext cx="133653" cy="58077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4" name="Beige texture"/>
              <p:cNvSpPr/>
              <p:nvPr/>
            </p:nvSpPr>
            <p:spPr>
              <a:xfrm>
                <a:off x="9773454" y="888526"/>
                <a:ext cx="108841" cy="50841"/>
              </a:xfrm>
              <a:prstGeom prst="ellipse">
                <a:avLst/>
              </a:prstGeom>
              <a:solidFill>
                <a:srgbClr val="E6E1D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5" name="Beige texture"/>
              <p:cNvSpPr/>
              <p:nvPr/>
            </p:nvSpPr>
            <p:spPr>
              <a:xfrm>
                <a:off x="9608522" y="1551518"/>
                <a:ext cx="48605" cy="165759"/>
              </a:xfrm>
              <a:prstGeom prst="ellipse">
                <a:avLst/>
              </a:prstGeom>
              <a:solidFill>
                <a:srgbClr val="E8E3D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6" name="Beige texture"/>
              <p:cNvSpPr/>
              <p:nvPr/>
            </p:nvSpPr>
            <p:spPr>
              <a:xfrm>
                <a:off x="9299889" y="762550"/>
                <a:ext cx="142812" cy="60780"/>
              </a:xfrm>
              <a:prstGeom prst="ellipse">
                <a:avLst/>
              </a:prstGeom>
              <a:solidFill>
                <a:srgbClr val="E2DDC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7" name="Beige texture"/>
              <p:cNvSpPr/>
              <p:nvPr/>
            </p:nvSpPr>
            <p:spPr>
              <a:xfrm>
                <a:off x="9058444" y="627758"/>
                <a:ext cx="69589" cy="75009"/>
              </a:xfrm>
              <a:prstGeom prst="ellipse">
                <a:avLst/>
              </a:prstGeom>
              <a:solidFill>
                <a:srgbClr val="E7E2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8" name="Beige texture"/>
              <p:cNvSpPr/>
              <p:nvPr/>
            </p:nvSpPr>
            <p:spPr>
              <a:xfrm>
                <a:off x="9698791" y="1029750"/>
                <a:ext cx="159204" cy="93741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9" name="Beige texture"/>
              <p:cNvSpPr/>
              <p:nvPr/>
            </p:nvSpPr>
            <p:spPr>
              <a:xfrm>
                <a:off x="9025327" y="491801"/>
                <a:ext cx="70563" cy="155889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0" name="Beige texture"/>
              <p:cNvSpPr/>
              <p:nvPr/>
            </p:nvSpPr>
            <p:spPr>
              <a:xfrm>
                <a:off x="9204166" y="1223420"/>
                <a:ext cx="125667" cy="49542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1" name="Beige texture"/>
              <p:cNvSpPr/>
              <p:nvPr/>
            </p:nvSpPr>
            <p:spPr>
              <a:xfrm>
                <a:off x="9908529" y="1036504"/>
                <a:ext cx="106998" cy="99279"/>
              </a:xfrm>
              <a:prstGeom prst="ellipse">
                <a:avLst/>
              </a:prstGeom>
              <a:solidFill>
                <a:srgbClr val="E6E1D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2" name="Beige texture"/>
              <p:cNvSpPr/>
              <p:nvPr/>
            </p:nvSpPr>
            <p:spPr>
              <a:xfrm>
                <a:off x="8997386" y="811137"/>
                <a:ext cx="116805" cy="74953"/>
              </a:xfrm>
              <a:prstGeom prst="ellipse">
                <a:avLst/>
              </a:prstGeom>
              <a:solidFill>
                <a:srgbClr val="E6E1D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3" name="Beige texture"/>
              <p:cNvSpPr/>
              <p:nvPr/>
            </p:nvSpPr>
            <p:spPr>
              <a:xfrm>
                <a:off x="9336863" y="1650500"/>
                <a:ext cx="52070" cy="70741"/>
              </a:xfrm>
              <a:prstGeom prst="ellipse">
                <a:avLst/>
              </a:prstGeom>
              <a:solidFill>
                <a:srgbClr val="E8E3D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4" name="Beige texture"/>
              <p:cNvSpPr/>
              <p:nvPr/>
            </p:nvSpPr>
            <p:spPr>
              <a:xfrm>
                <a:off x="9888117" y="1551164"/>
                <a:ext cx="154002" cy="156167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5" name="Beige texture"/>
              <p:cNvSpPr/>
              <p:nvPr/>
            </p:nvSpPr>
            <p:spPr>
              <a:xfrm>
                <a:off x="9409195" y="857484"/>
                <a:ext cx="50993" cy="102024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6" name="Beige texture"/>
              <p:cNvSpPr/>
              <p:nvPr/>
            </p:nvSpPr>
            <p:spPr>
              <a:xfrm>
                <a:off x="9374786" y="716859"/>
                <a:ext cx="87280" cy="151279"/>
              </a:xfrm>
              <a:prstGeom prst="ellipse">
                <a:avLst/>
              </a:prstGeom>
              <a:solidFill>
                <a:srgbClr val="E6E1D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7" name="Beige texture"/>
              <p:cNvSpPr/>
              <p:nvPr/>
            </p:nvSpPr>
            <p:spPr>
              <a:xfrm>
                <a:off x="9959476" y="1010936"/>
                <a:ext cx="82016" cy="105403"/>
              </a:xfrm>
              <a:prstGeom prst="ellipse">
                <a:avLst/>
              </a:prstGeom>
              <a:solidFill>
                <a:srgbClr val="E8E3D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8" name="Beige texture"/>
              <p:cNvSpPr/>
              <p:nvPr/>
            </p:nvSpPr>
            <p:spPr>
              <a:xfrm>
                <a:off x="9299030" y="683612"/>
                <a:ext cx="68923" cy="97423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9" name="Beige texture"/>
              <p:cNvSpPr/>
              <p:nvPr/>
            </p:nvSpPr>
            <p:spPr>
              <a:xfrm>
                <a:off x="9350073" y="1546981"/>
                <a:ext cx="50695" cy="73764"/>
              </a:xfrm>
              <a:prstGeom prst="ellipse">
                <a:avLst/>
              </a:prstGeom>
              <a:solidFill>
                <a:srgbClr val="E7E2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0" name="Beige texture"/>
              <p:cNvSpPr/>
              <p:nvPr/>
            </p:nvSpPr>
            <p:spPr>
              <a:xfrm>
                <a:off x="10024933" y="1138616"/>
                <a:ext cx="57445" cy="168343"/>
              </a:xfrm>
              <a:prstGeom prst="ellipse">
                <a:avLst/>
              </a:prstGeom>
              <a:solidFill>
                <a:srgbClr val="E7E2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1" name="Beige texture"/>
              <p:cNvSpPr/>
              <p:nvPr/>
            </p:nvSpPr>
            <p:spPr>
              <a:xfrm>
                <a:off x="9508448" y="882692"/>
                <a:ext cx="131470" cy="73781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2" name="Beige texture"/>
              <p:cNvSpPr/>
              <p:nvPr/>
            </p:nvSpPr>
            <p:spPr>
              <a:xfrm>
                <a:off x="9176905" y="1327507"/>
                <a:ext cx="124180" cy="99857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3" name="Beige texture"/>
              <p:cNvSpPr/>
              <p:nvPr/>
            </p:nvSpPr>
            <p:spPr>
              <a:xfrm>
                <a:off x="8937921" y="1543216"/>
                <a:ext cx="105043" cy="104985"/>
              </a:xfrm>
              <a:prstGeom prst="ellipse">
                <a:avLst/>
              </a:prstGeom>
              <a:solidFill>
                <a:srgbClr val="E2DDC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4" name="Beige texture"/>
              <p:cNvSpPr/>
              <p:nvPr/>
            </p:nvSpPr>
            <p:spPr>
              <a:xfrm>
                <a:off x="9979621" y="536549"/>
                <a:ext cx="55789" cy="48963"/>
              </a:xfrm>
              <a:prstGeom prst="ellipse">
                <a:avLst/>
              </a:prstGeom>
              <a:solidFill>
                <a:srgbClr val="E2DDC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5" name="Beige texture"/>
              <p:cNvSpPr/>
              <p:nvPr/>
            </p:nvSpPr>
            <p:spPr>
              <a:xfrm>
                <a:off x="9497801" y="1373320"/>
                <a:ext cx="85179" cy="133512"/>
              </a:xfrm>
              <a:prstGeom prst="ellipse">
                <a:avLst/>
              </a:prstGeom>
              <a:solidFill>
                <a:srgbClr val="E8E3D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6" name="Beige texture"/>
              <p:cNvSpPr/>
              <p:nvPr/>
            </p:nvSpPr>
            <p:spPr>
              <a:xfrm>
                <a:off x="9884010" y="1073334"/>
                <a:ext cx="121827" cy="96593"/>
              </a:xfrm>
              <a:prstGeom prst="ellipse">
                <a:avLst/>
              </a:prstGeom>
              <a:solidFill>
                <a:srgbClr val="E2DDC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7" name="Beige texture"/>
              <p:cNvSpPr/>
              <p:nvPr/>
            </p:nvSpPr>
            <p:spPr>
              <a:xfrm>
                <a:off x="9961971" y="721174"/>
                <a:ext cx="105772" cy="91882"/>
              </a:xfrm>
              <a:prstGeom prst="ellipse">
                <a:avLst/>
              </a:prstGeom>
              <a:solidFill>
                <a:srgbClr val="E8E3D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8" name="Beige texture"/>
              <p:cNvSpPr/>
              <p:nvPr/>
            </p:nvSpPr>
            <p:spPr>
              <a:xfrm>
                <a:off x="9772325" y="683634"/>
                <a:ext cx="112469" cy="146625"/>
              </a:xfrm>
              <a:prstGeom prst="ellipse">
                <a:avLst/>
              </a:prstGeom>
              <a:solidFill>
                <a:srgbClr val="E2DDC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9" name="Beige texture"/>
              <p:cNvSpPr/>
              <p:nvPr/>
            </p:nvSpPr>
            <p:spPr>
              <a:xfrm>
                <a:off x="8957425" y="1024389"/>
                <a:ext cx="48705" cy="132347"/>
              </a:xfrm>
              <a:prstGeom prst="ellipse">
                <a:avLst/>
              </a:prstGeom>
              <a:solidFill>
                <a:srgbClr val="E7E2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0" name="Beige texture"/>
              <p:cNvSpPr/>
              <p:nvPr/>
            </p:nvSpPr>
            <p:spPr>
              <a:xfrm>
                <a:off x="9037018" y="795961"/>
                <a:ext cx="96446" cy="168740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1" name="Beige texture"/>
              <p:cNvSpPr/>
              <p:nvPr/>
            </p:nvSpPr>
            <p:spPr>
              <a:xfrm>
                <a:off x="9187715" y="858371"/>
                <a:ext cx="99229" cy="131800"/>
              </a:xfrm>
              <a:prstGeom prst="ellipse">
                <a:avLst/>
              </a:prstGeom>
              <a:solidFill>
                <a:srgbClr val="E7E2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2" name="Beige texture"/>
              <p:cNvSpPr/>
              <p:nvPr/>
            </p:nvSpPr>
            <p:spPr>
              <a:xfrm>
                <a:off x="8988620" y="797123"/>
                <a:ext cx="125186" cy="139704"/>
              </a:xfrm>
              <a:prstGeom prst="ellipse">
                <a:avLst/>
              </a:prstGeom>
              <a:solidFill>
                <a:srgbClr val="E6E1D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3" name="Beige texture"/>
              <p:cNvSpPr/>
              <p:nvPr/>
            </p:nvSpPr>
            <p:spPr>
              <a:xfrm>
                <a:off x="9821990" y="1279705"/>
                <a:ext cx="50623" cy="70707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4" name="Beige texture"/>
              <p:cNvSpPr/>
              <p:nvPr/>
            </p:nvSpPr>
            <p:spPr>
              <a:xfrm>
                <a:off x="9750463" y="642640"/>
                <a:ext cx="99455" cy="89816"/>
              </a:xfrm>
              <a:prstGeom prst="ellipse">
                <a:avLst/>
              </a:prstGeom>
              <a:solidFill>
                <a:srgbClr val="E8E3D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5" name="Beige texture"/>
              <p:cNvSpPr/>
              <p:nvPr/>
            </p:nvSpPr>
            <p:spPr>
              <a:xfrm>
                <a:off x="9701324" y="986960"/>
                <a:ext cx="72380" cy="72739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6" name="Beige texture"/>
              <p:cNvSpPr/>
              <p:nvPr/>
            </p:nvSpPr>
            <p:spPr>
              <a:xfrm>
                <a:off x="9670739" y="1028501"/>
                <a:ext cx="161808" cy="163546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7" name="Beige texture"/>
              <p:cNvSpPr/>
              <p:nvPr/>
            </p:nvSpPr>
            <p:spPr>
              <a:xfrm>
                <a:off x="9910187" y="971609"/>
                <a:ext cx="90189" cy="146520"/>
              </a:xfrm>
              <a:prstGeom prst="ellipse">
                <a:avLst/>
              </a:prstGeom>
              <a:solidFill>
                <a:srgbClr val="E7E2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8" name="Beige texture"/>
              <p:cNvSpPr/>
              <p:nvPr/>
            </p:nvSpPr>
            <p:spPr>
              <a:xfrm>
                <a:off x="9882444" y="1585686"/>
                <a:ext cx="157818" cy="116469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9" name="Beige texture"/>
              <p:cNvSpPr/>
              <p:nvPr/>
            </p:nvSpPr>
            <p:spPr>
              <a:xfrm>
                <a:off x="9191739" y="1038669"/>
                <a:ext cx="149460" cy="79843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0" name="Beige texture"/>
              <p:cNvSpPr/>
              <p:nvPr/>
            </p:nvSpPr>
            <p:spPr>
              <a:xfrm>
                <a:off x="9980848" y="1103278"/>
                <a:ext cx="68923" cy="113396"/>
              </a:xfrm>
              <a:prstGeom prst="ellipse">
                <a:avLst/>
              </a:prstGeom>
              <a:solidFill>
                <a:srgbClr val="E7E2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1" name="Beige texture"/>
              <p:cNvSpPr/>
              <p:nvPr/>
            </p:nvSpPr>
            <p:spPr>
              <a:xfrm>
                <a:off x="8965853" y="1263887"/>
                <a:ext cx="73109" cy="171184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2" name="Beige texture"/>
              <p:cNvSpPr/>
              <p:nvPr/>
            </p:nvSpPr>
            <p:spPr>
              <a:xfrm>
                <a:off x="9830504" y="821706"/>
                <a:ext cx="114041" cy="72434"/>
              </a:xfrm>
              <a:prstGeom prst="ellipse">
                <a:avLst/>
              </a:prstGeom>
              <a:solidFill>
                <a:srgbClr val="E2DDC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3" name="Beige texture"/>
              <p:cNvSpPr/>
              <p:nvPr/>
            </p:nvSpPr>
            <p:spPr>
              <a:xfrm>
                <a:off x="9018872" y="1439778"/>
                <a:ext cx="85373" cy="96609"/>
              </a:xfrm>
              <a:prstGeom prst="ellipse">
                <a:avLst/>
              </a:prstGeom>
              <a:solidFill>
                <a:srgbClr val="E2DDC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4" name="Beige texture"/>
              <p:cNvSpPr/>
              <p:nvPr/>
            </p:nvSpPr>
            <p:spPr>
              <a:xfrm>
                <a:off x="8980186" y="674465"/>
                <a:ext cx="99521" cy="167067"/>
              </a:xfrm>
              <a:prstGeom prst="ellipse">
                <a:avLst/>
              </a:prstGeom>
              <a:solidFill>
                <a:srgbClr val="E2DDC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5" name="Beige texture"/>
              <p:cNvSpPr/>
              <p:nvPr/>
            </p:nvSpPr>
            <p:spPr>
              <a:xfrm>
                <a:off x="9598327" y="1377902"/>
                <a:ext cx="148558" cy="135662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6" name="Beige texture"/>
              <p:cNvSpPr/>
              <p:nvPr/>
            </p:nvSpPr>
            <p:spPr>
              <a:xfrm>
                <a:off x="9907478" y="1045735"/>
                <a:ext cx="91223" cy="141343"/>
              </a:xfrm>
              <a:prstGeom prst="ellipse">
                <a:avLst/>
              </a:prstGeom>
              <a:solidFill>
                <a:srgbClr val="E8E3D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7" name="Beige texture"/>
              <p:cNvSpPr/>
              <p:nvPr/>
            </p:nvSpPr>
            <p:spPr>
              <a:xfrm>
                <a:off x="9094121" y="937650"/>
                <a:ext cx="51404" cy="171344"/>
              </a:xfrm>
              <a:prstGeom prst="ellipse">
                <a:avLst/>
              </a:prstGeom>
              <a:solidFill>
                <a:srgbClr val="E7E2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8" name="Beige texture"/>
              <p:cNvSpPr/>
              <p:nvPr/>
            </p:nvSpPr>
            <p:spPr>
              <a:xfrm>
                <a:off x="9648275" y="590236"/>
                <a:ext cx="68300" cy="152669"/>
              </a:xfrm>
              <a:prstGeom prst="ellipse">
                <a:avLst/>
              </a:prstGeom>
              <a:solidFill>
                <a:srgbClr val="E8E3D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9" name="Beige texture"/>
              <p:cNvSpPr/>
              <p:nvPr/>
            </p:nvSpPr>
            <p:spPr>
              <a:xfrm>
                <a:off x="9598282" y="1604634"/>
                <a:ext cx="107108" cy="79041"/>
              </a:xfrm>
              <a:prstGeom prst="ellipse">
                <a:avLst/>
              </a:prstGeom>
              <a:solidFill>
                <a:srgbClr val="E6E1D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520" name="Element 508"/>
              <p:cNvCxnSpPr/>
              <p:nvPr/>
            </p:nvCxnSpPr>
            <p:spPr>
              <a:xfrm>
                <a:off x="10134600" y="466725"/>
                <a:ext cx="0" cy="1295400"/>
              </a:xfrm>
              <a:prstGeom prst="line">
                <a:avLst/>
              </a:prstGeom>
              <a:ln w="38100">
                <a:solidFill>
                  <a:srgbClr val="203653"/>
                </a:solidFill>
              </a:ln>
              <a:effectLst/>
            </p:spPr>
          </p:cxnSp>
          <p:sp>
            <p:nvSpPr>
              <p:cNvPr id="521" name="Param."/>
              <p:cNvSpPr txBox="1"/>
              <p:nvPr/>
            </p:nvSpPr>
            <p:spPr>
              <a:xfrm>
                <a:off x="9001125" y="553212"/>
                <a:ext cx="1097161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solidFill>
                      <a:srgbClr val="000000"/>
                    </a:solidFill>
                    <a:latin typeface="Times New Roman"/>
                  </a:rPr>
                  <a:t>Param.</a:t>
                </a:r>
                <a:endParaRPr sz="3000"/>
              </a:p>
            </p:txBody>
          </p:sp>
          <p:sp>
            <p:nvSpPr>
              <p:cNvPr id="522" name="Pool "/>
              <p:cNvSpPr txBox="1"/>
              <p:nvPr/>
            </p:nvSpPr>
            <p:spPr>
              <a:xfrm>
                <a:off x="9001125" y="981837"/>
                <a:ext cx="822573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solidFill>
                      <a:srgbClr val="000000"/>
                    </a:solidFill>
                    <a:latin typeface="Times New Roman"/>
                  </a:rPr>
                  <a:t>Pool </a:t>
                </a:r>
                <a:endParaRPr sz="3000"/>
              </a:p>
            </p:txBody>
          </p:sp>
          <p:sp>
            <p:nvSpPr>
              <p:cNvPr id="523" name="P"/>
              <p:cNvSpPr txBox="1"/>
              <p:nvPr/>
            </p:nvSpPr>
            <p:spPr>
              <a:xfrm>
                <a:off x="9795123" y="981837"/>
                <a:ext cx="273174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ln w="4572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𝑃</a:t>
                </a:r>
                <a:endParaRPr sz="3000"/>
              </a:p>
            </p:txBody>
          </p:sp>
          <p:sp>
            <p:nvSpPr>
              <p:cNvPr id="524" name="Parameter module"/>
              <p:cNvSpPr/>
              <p:nvPr/>
            </p:nvSpPr>
            <p:spPr>
              <a:xfrm>
                <a:off x="10191750" y="571500"/>
                <a:ext cx="361950" cy="1019175"/>
              </a:xfrm>
              <a:prstGeom prst="rect">
                <a:avLst/>
              </a:prstGeom>
              <a:solidFill>
                <a:srgbClr val="F4B183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5" name="Parameter module"/>
              <p:cNvSpPr/>
              <p:nvPr/>
            </p:nvSpPr>
            <p:spPr>
              <a:xfrm>
                <a:off x="10601325" y="571500"/>
                <a:ext cx="361950" cy="1019175"/>
              </a:xfrm>
              <a:prstGeom prst="rect">
                <a:avLst/>
              </a:prstGeom>
              <a:solidFill>
                <a:srgbClr val="F4B183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6" name="Parameter module"/>
              <p:cNvSpPr/>
              <p:nvPr/>
            </p:nvSpPr>
            <p:spPr>
              <a:xfrm>
                <a:off x="11020425" y="571500"/>
                <a:ext cx="361950" cy="1019175"/>
              </a:xfrm>
              <a:prstGeom prst="rect">
                <a:avLst/>
              </a:prstGeom>
              <a:solidFill>
                <a:srgbClr val="F4B183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7" name="Parameter module"/>
              <p:cNvSpPr/>
              <p:nvPr/>
            </p:nvSpPr>
            <p:spPr>
              <a:xfrm>
                <a:off x="12049125" y="571500"/>
                <a:ext cx="361950" cy="1019175"/>
              </a:xfrm>
              <a:prstGeom prst="rect">
                <a:avLst/>
              </a:prstGeom>
              <a:solidFill>
                <a:srgbClr val="F4B183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8" name="Parameter module"/>
              <p:cNvSpPr/>
              <p:nvPr/>
            </p:nvSpPr>
            <p:spPr>
              <a:xfrm>
                <a:off x="12458700" y="571500"/>
                <a:ext cx="361950" cy="1019175"/>
              </a:xfrm>
              <a:prstGeom prst="rect">
                <a:avLst/>
              </a:prstGeom>
              <a:solidFill>
                <a:srgbClr val="F4B183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9" name="More parameters"/>
              <p:cNvSpPr/>
              <p:nvPr/>
            </p:nvSpPr>
            <p:spPr>
              <a:xfrm>
                <a:off x="11506200" y="1047750"/>
                <a:ext cx="95250" cy="9525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0" name="More parameters"/>
              <p:cNvSpPr/>
              <p:nvPr/>
            </p:nvSpPr>
            <p:spPr>
              <a:xfrm>
                <a:off x="11687175" y="1047750"/>
                <a:ext cx="95250" cy="9525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1" name="More parameters"/>
              <p:cNvSpPr/>
              <p:nvPr/>
            </p:nvSpPr>
            <p:spPr>
              <a:xfrm>
                <a:off x="11877675" y="1047750"/>
                <a:ext cx="95250" cy="9525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pic>
          <p:nvPicPr>
            <p:cNvPr id="533" name="Testing cat passed to pretrained model" descr="matching_cat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953500" y="1866900"/>
              <a:ext cx="1095375" cy="1143000"/>
            </a:xfrm>
            <a:prstGeom prst="rect">
              <a:avLst/>
            </a:prstGeom>
            <a:effectLst/>
          </p:spPr>
        </p:pic>
        <p:cxnSp>
          <p:nvCxnSpPr>
            <p:cNvPr id="534" name="Element 520"/>
            <p:cNvCxnSpPr/>
            <p:nvPr/>
          </p:nvCxnSpPr>
          <p:spPr>
            <a:xfrm>
              <a:off x="9477375" y="3009900"/>
              <a:ext cx="0" cy="129921"/>
            </a:xfrm>
            <a:prstGeom prst="line">
              <a:avLst/>
            </a:prstGeom>
            <a:ln w="38100">
              <a:solidFill>
                <a:srgbClr val="000000"/>
              </a:solidFill>
            </a:ln>
            <a:effectLst/>
          </p:spPr>
        </p:cxnSp>
        <p:sp>
          <p:nvSpPr>
            <p:cNvPr id="535" name="Arrow arrowhead"/>
            <p:cNvSpPr/>
            <p:nvPr/>
          </p:nvSpPr>
          <p:spPr>
            <a:xfrm>
              <a:off x="9353550" y="3057525"/>
              <a:ext cx="247650" cy="228600"/>
            </a:xfrm>
            <a:custGeom>
              <a:avLst/>
              <a:gdLst/>
              <a:ahLst/>
              <a:cxnLst/>
              <a:rect l="0" t="0" r="r" b="b"/>
              <a:pathLst>
                <a:path w="26000" h="24000">
                  <a:moveTo>
                    <a:pt x="13000" y="24000"/>
                  </a:moveTo>
                  <a:lnTo>
                    <a:pt x="0" y="0"/>
                  </a:lnTo>
                  <a:lnTo>
                    <a:pt x="13000" y="8640"/>
                  </a:lnTo>
                  <a:lnTo>
                    <a:pt x="260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36" name="Element 522"/>
            <p:cNvCxnSpPr/>
            <p:nvPr/>
          </p:nvCxnSpPr>
          <p:spPr>
            <a:xfrm>
              <a:off x="11601450" y="1771650"/>
              <a:ext cx="0" cy="314325"/>
            </a:xfrm>
            <a:prstGeom prst="line">
              <a:avLst/>
            </a:prstGeom>
            <a:ln w="38100">
              <a:solidFill>
                <a:srgbClr val="000000"/>
              </a:solidFill>
            </a:ln>
            <a:effectLst/>
          </p:spPr>
        </p:cxnSp>
        <p:sp>
          <p:nvSpPr>
            <p:cNvPr id="537" name="Arrow arrowhead"/>
            <p:cNvSpPr/>
            <p:nvPr/>
          </p:nvSpPr>
          <p:spPr>
            <a:xfrm>
              <a:off x="11477625" y="2000250"/>
              <a:ext cx="247650" cy="238125"/>
            </a:xfrm>
            <a:custGeom>
              <a:avLst/>
              <a:gdLst/>
              <a:ahLst/>
              <a:cxnLst/>
              <a:rect l="0" t="0" r="r" b="b"/>
              <a:pathLst>
                <a:path w="26000" h="25000">
                  <a:moveTo>
                    <a:pt x="13000" y="25000"/>
                  </a:moveTo>
                  <a:lnTo>
                    <a:pt x="0" y="0"/>
                  </a:lnTo>
                  <a:lnTo>
                    <a:pt x="13000" y="9000"/>
                  </a:lnTo>
                  <a:lnTo>
                    <a:pt x="260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8" name="Selected parameter box"/>
            <p:cNvSpPr/>
            <p:nvPr/>
          </p:nvSpPr>
          <p:spPr>
            <a:xfrm>
              <a:off x="10315575" y="2238375"/>
              <a:ext cx="2600325" cy="638175"/>
            </a:xfrm>
            <a:prstGeom prst="roundRect">
              <a:avLst>
                <a:gd name="adj" fmla="val 19402"/>
              </a:avLst>
            </a:prstGeom>
            <a:solidFill>
              <a:srgbClr val="FFFFFF"/>
            </a:solidFill>
            <a:ln w="38100" cap="flat" cmpd="sng">
              <a:solidFill>
                <a:srgbClr val="203653"/>
              </a:solidFill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9" name="Selected parameter p"/>
            <p:cNvSpPr txBox="1"/>
            <p:nvPr/>
          </p:nvSpPr>
          <p:spPr>
            <a:xfrm>
              <a:off x="10817476" y="2296287"/>
              <a:ext cx="1414351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b="0" i="0" kern="0">
                  <a:solidFill>
                    <a:srgbClr val="000000"/>
                  </a:solidFill>
                  <a:latin typeface="Times New Roman"/>
                </a:rPr>
                <a:t>Selected </a:t>
              </a:r>
              <a:endParaRPr sz="3000"/>
            </a:p>
          </p:txBody>
        </p:sp>
        <p:sp>
          <p:nvSpPr>
            <p:cNvPr id="540" name="Selected parameter p"/>
            <p:cNvSpPr txBox="1"/>
            <p:nvPr/>
          </p:nvSpPr>
          <p:spPr>
            <a:xfrm>
              <a:off x="12203251" y="2277275"/>
              <a:ext cx="229798" cy="52006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150" b="0" i="0" kern="0">
                  <a:ln w="4801">
                    <a:solidFill>
                      <a:srgbClr val="000000"/>
                    </a:solidFill>
                  </a:ln>
                  <a:solidFill>
                    <a:srgbClr val="000000"/>
                  </a:solidFill>
                  <a:latin typeface="Latin Modern Math"/>
                </a:rPr>
                <a:t>𝑝</a:t>
              </a:r>
              <a:endParaRPr sz="3150"/>
            </a:p>
          </p:txBody>
        </p:sp>
        <p:cxnSp>
          <p:nvCxnSpPr>
            <p:cNvPr id="541" name="Element 527"/>
            <p:cNvCxnSpPr/>
            <p:nvPr/>
          </p:nvCxnSpPr>
          <p:spPr>
            <a:xfrm>
              <a:off x="11601450" y="2876550"/>
              <a:ext cx="0" cy="257175"/>
            </a:xfrm>
            <a:prstGeom prst="line">
              <a:avLst/>
            </a:prstGeom>
            <a:ln w="38100">
              <a:solidFill>
                <a:srgbClr val="000000"/>
              </a:solidFill>
            </a:ln>
            <a:effectLst/>
          </p:spPr>
        </p:cxnSp>
        <p:sp>
          <p:nvSpPr>
            <p:cNvPr id="542" name="Arrow arrowhead"/>
            <p:cNvSpPr/>
            <p:nvPr/>
          </p:nvSpPr>
          <p:spPr>
            <a:xfrm>
              <a:off x="11477625" y="3048000"/>
              <a:ext cx="247650" cy="238125"/>
            </a:xfrm>
            <a:custGeom>
              <a:avLst/>
              <a:gdLst/>
              <a:ahLst/>
              <a:cxnLst/>
              <a:rect l="0" t="0" r="r" b="b"/>
              <a:pathLst>
                <a:path w="26000" h="25000">
                  <a:moveTo>
                    <a:pt x="13000" y="25000"/>
                  </a:moveTo>
                  <a:lnTo>
                    <a:pt x="0" y="0"/>
                  </a:lnTo>
                  <a:lnTo>
                    <a:pt x="13000" y="9000"/>
                  </a:lnTo>
                  <a:lnTo>
                    <a:pt x="260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3" name="Matched pretrained model"/>
            <p:cNvSpPr/>
            <p:nvPr/>
          </p:nvSpPr>
          <p:spPr>
            <a:xfrm>
              <a:off x="8915400" y="3286125"/>
              <a:ext cx="4067175" cy="68580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548" name="Locked parameters"/>
            <p:cNvGrpSpPr/>
            <p:nvPr/>
          </p:nvGrpSpPr>
          <p:grpSpPr>
            <a:xfrm>
              <a:off x="9429750" y="3397568"/>
              <a:ext cx="333375" cy="451293"/>
              <a:chOff x="9429750" y="3397568"/>
              <a:chExt cx="333375" cy="451293"/>
            </a:xfrm>
          </p:grpSpPr>
          <p:sp>
            <p:nvSpPr>
              <p:cNvPr id="544" name="Lock shackle"/>
              <p:cNvSpPr/>
              <p:nvPr/>
            </p:nvSpPr>
            <p:spPr>
              <a:xfrm>
                <a:off x="9503092" y="3397568"/>
                <a:ext cx="186690" cy="236601"/>
              </a:xfrm>
              <a:custGeom>
                <a:avLst/>
                <a:gdLst/>
                <a:ahLst/>
                <a:cxnLst/>
                <a:rect l="0" t="0" r="r" b="b"/>
                <a:pathLst>
                  <a:path w="19600" h="24840">
                    <a:moveTo>
                      <a:pt x="0" y="24840"/>
                    </a:moveTo>
                    <a:lnTo>
                      <a:pt x="0" y="13800"/>
                    </a:lnTo>
                    <a:cubicBezTo>
                      <a:pt x="0" y="0"/>
                      <a:pt x="19600" y="0"/>
                      <a:pt x="19600" y="13800"/>
                    </a:cubicBezTo>
                    <a:lnTo>
                      <a:pt x="19600" y="24840"/>
                    </a:lnTo>
                  </a:path>
                </a:pathLst>
              </a:custGeom>
              <a:noFill/>
              <a:ln w="30003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5" name="Lock body"/>
              <p:cNvSpPr/>
              <p:nvPr/>
            </p:nvSpPr>
            <p:spPr>
              <a:xfrm>
                <a:off x="9429750" y="3607879"/>
                <a:ext cx="333375" cy="240982"/>
              </a:xfrm>
              <a:prstGeom prst="roundRect">
                <a:avLst>
                  <a:gd name="adj" fmla="val 4841"/>
                </a:avLst>
              </a:prstGeom>
              <a:solidFill>
                <a:srgbClr val="000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6" name="Keyhole"/>
              <p:cNvSpPr/>
              <p:nvPr/>
            </p:nvSpPr>
            <p:spPr>
              <a:xfrm>
                <a:off x="9564767" y="3688937"/>
                <a:ext cx="63341" cy="66675"/>
              </a:xfrm>
              <a:prstGeom prst="ellipse">
                <a:avLst/>
              </a:prstGeom>
              <a:solidFill>
                <a:srgbClr val="A9D18E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7" name="Keyhole stem"/>
              <p:cNvSpPr/>
              <p:nvPr/>
            </p:nvSpPr>
            <p:spPr>
              <a:xfrm>
                <a:off x="9579769" y="3726180"/>
                <a:ext cx="33338" cy="61341"/>
              </a:xfrm>
              <a:custGeom>
                <a:avLst/>
                <a:gdLst/>
                <a:ahLst/>
                <a:cxnLst/>
                <a:rect l="0" t="0" r="r" b="b"/>
                <a:pathLst>
                  <a:path w="3500" h="6440">
                    <a:moveTo>
                      <a:pt x="350" y="0"/>
                    </a:moveTo>
                    <a:lnTo>
                      <a:pt x="3150" y="0"/>
                    </a:lnTo>
                    <a:lnTo>
                      <a:pt x="3500" y="6440"/>
                    </a:lnTo>
                    <a:lnTo>
                      <a:pt x="0" y="6440"/>
                    </a:lnTo>
                    <a:close/>
                  </a:path>
                </a:pathLst>
              </a:custGeom>
              <a:solidFill>
                <a:srgbClr val="A9D18E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549" name="Pretrained h ptm"/>
            <p:cNvSpPr txBox="1"/>
            <p:nvPr/>
          </p:nvSpPr>
          <p:spPr>
            <a:xfrm>
              <a:off x="10039350" y="3410712"/>
              <a:ext cx="1689497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b="0" i="0" kern="0">
                  <a:solidFill>
                    <a:srgbClr val="000000"/>
                  </a:solidFill>
                  <a:latin typeface="Times New Roman"/>
                </a:rPr>
                <a:t>Pretrained </a:t>
              </a:r>
              <a:endParaRPr sz="3000"/>
            </a:p>
          </p:txBody>
        </p:sp>
        <p:sp>
          <p:nvSpPr>
            <p:cNvPr id="550" name="Pretrained h ptm"/>
            <p:cNvSpPr txBox="1"/>
            <p:nvPr/>
          </p:nvSpPr>
          <p:spPr>
            <a:xfrm>
              <a:off x="11700272" y="3391700"/>
              <a:ext cx="259006" cy="52006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150" b="0" i="0" kern="0">
                  <a:ln w="4801">
                    <a:solidFill>
                      <a:srgbClr val="000000"/>
                    </a:solidFill>
                  </a:ln>
                  <a:solidFill>
                    <a:srgbClr val="000000"/>
                  </a:solidFill>
                  <a:latin typeface="Latin Modern Math"/>
                </a:rPr>
                <a:t>ℎ</a:t>
              </a:r>
              <a:endParaRPr sz="3150"/>
            </a:p>
          </p:txBody>
        </p:sp>
        <p:sp>
          <p:nvSpPr>
            <p:cNvPr id="551" name="Pretrained h ptm"/>
            <p:cNvSpPr txBox="1"/>
            <p:nvPr/>
          </p:nvSpPr>
          <p:spPr>
            <a:xfrm>
              <a:off x="11930702" y="3582010"/>
              <a:ext cx="559542" cy="3962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0" i="0" kern="0">
                  <a:ln w="3658">
                    <a:solidFill>
                      <a:srgbClr val="000000"/>
                    </a:solidFill>
                  </a:ln>
                  <a:solidFill>
                    <a:srgbClr val="000000"/>
                  </a:solidFill>
                  <a:latin typeface="Latin Modern Math"/>
                </a:rPr>
                <a:t>𝑝𝑡𝑚</a:t>
              </a:r>
              <a:endParaRPr sz="2400"/>
            </a:p>
          </p:txBody>
        </p:sp>
        <p:cxnSp>
          <p:nvCxnSpPr>
            <p:cNvPr id="552" name="Rematching loop output"/>
            <p:cNvCxnSpPr/>
            <p:nvPr/>
          </p:nvCxnSpPr>
          <p:spPr>
            <a:xfrm>
              <a:off x="12982575" y="3667125"/>
              <a:ext cx="295275" cy="0"/>
            </a:xfrm>
            <a:prstGeom prst="line">
              <a:avLst/>
            </a:prstGeom>
            <a:ln w="38100">
              <a:solidFill>
                <a:srgbClr val="000000"/>
              </a:solidFill>
            </a:ln>
            <a:effectLst/>
          </p:spPr>
        </p:cxnSp>
        <p:cxnSp>
          <p:nvCxnSpPr>
            <p:cNvPr id="553" name="Element 538"/>
            <p:cNvCxnSpPr/>
            <p:nvPr/>
          </p:nvCxnSpPr>
          <p:spPr>
            <a:xfrm flipV="1">
              <a:off x="13277850" y="3295650"/>
              <a:ext cx="0" cy="371475"/>
            </a:xfrm>
            <a:prstGeom prst="line">
              <a:avLst/>
            </a:prstGeom>
            <a:ln w="38100">
              <a:solidFill>
                <a:srgbClr val="000000"/>
              </a:solidFill>
            </a:ln>
            <a:effectLst/>
          </p:spPr>
        </p:cxnSp>
        <p:sp>
          <p:nvSpPr>
            <p:cNvPr id="554" name="Arrow arrowhead"/>
            <p:cNvSpPr/>
            <p:nvPr/>
          </p:nvSpPr>
          <p:spPr>
            <a:xfrm>
              <a:off x="13154025" y="3143250"/>
              <a:ext cx="247650" cy="238125"/>
            </a:xfrm>
            <a:custGeom>
              <a:avLst/>
              <a:gdLst/>
              <a:ahLst/>
              <a:cxnLst/>
              <a:rect l="0" t="0" r="r" b="b"/>
              <a:pathLst>
                <a:path w="26000" h="25000">
                  <a:moveTo>
                    <a:pt x="13000" y="0"/>
                  </a:moveTo>
                  <a:lnTo>
                    <a:pt x="26000" y="25000"/>
                  </a:lnTo>
                  <a:lnTo>
                    <a:pt x="13000" y="16000"/>
                  </a:lnTo>
                  <a:lnTo>
                    <a:pt x="0" y="250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Rematching operation"/>
            <p:cNvSpPr/>
            <p:nvPr/>
          </p:nvSpPr>
          <p:spPr>
            <a:xfrm>
              <a:off x="13058775" y="1095375"/>
              <a:ext cx="457200" cy="2047875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6" name="Rematching"/>
            <p:cNvSpPr txBox="1"/>
            <p:nvPr/>
          </p:nvSpPr>
          <p:spPr>
            <a:xfrm rot="5400000">
              <a:off x="12335825" y="1890712"/>
              <a:ext cx="1996827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b="1" i="0" kern="0">
                  <a:solidFill>
                    <a:srgbClr val="FF0000"/>
                  </a:solidFill>
                  <a:latin typeface="Times New Roman"/>
                </a:rPr>
                <a:t>Rematching</a:t>
              </a:r>
              <a:endParaRPr sz="3000"/>
            </a:p>
          </p:txBody>
        </p:sp>
        <p:cxnSp>
          <p:nvCxnSpPr>
            <p:cNvPr id="557" name="Rematching loop return"/>
            <p:cNvCxnSpPr/>
            <p:nvPr/>
          </p:nvCxnSpPr>
          <p:spPr>
            <a:xfrm flipV="1">
              <a:off x="13277850" y="695325"/>
              <a:ext cx="0" cy="400050"/>
            </a:xfrm>
            <a:prstGeom prst="line">
              <a:avLst/>
            </a:prstGeom>
            <a:ln w="38100">
              <a:solidFill>
                <a:srgbClr val="000000"/>
              </a:solidFill>
            </a:ln>
            <a:effectLst/>
          </p:spPr>
        </p:cxnSp>
        <p:cxnSp>
          <p:nvCxnSpPr>
            <p:cNvPr id="558" name="Element 543"/>
            <p:cNvCxnSpPr/>
            <p:nvPr/>
          </p:nvCxnSpPr>
          <p:spPr>
            <a:xfrm flipH="1">
              <a:off x="13077825" y="695325"/>
              <a:ext cx="200025" cy="0"/>
            </a:xfrm>
            <a:prstGeom prst="line">
              <a:avLst/>
            </a:prstGeom>
            <a:ln w="38100">
              <a:solidFill>
                <a:srgbClr val="000000"/>
              </a:solidFill>
            </a:ln>
            <a:effectLst/>
          </p:spPr>
        </p:cxnSp>
        <p:sp>
          <p:nvSpPr>
            <p:cNvPr id="559" name="Arrow arrowhead"/>
            <p:cNvSpPr/>
            <p:nvPr/>
          </p:nvSpPr>
          <p:spPr>
            <a:xfrm>
              <a:off x="12925425" y="571500"/>
              <a:ext cx="238125" cy="247650"/>
            </a:xfrm>
            <a:custGeom>
              <a:avLst/>
              <a:gdLst/>
              <a:ahLst/>
              <a:cxnLst/>
              <a:rect l="0" t="0" r="r" b="b"/>
              <a:pathLst>
                <a:path w="25000" h="26000">
                  <a:moveTo>
                    <a:pt x="0" y="13000"/>
                  </a:moveTo>
                  <a:lnTo>
                    <a:pt x="25000" y="0"/>
                  </a:lnTo>
                  <a:lnTo>
                    <a:pt x="16000" y="13000"/>
                  </a:lnTo>
                  <a:lnTo>
                    <a:pt x="25000" y="260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0" name="Rematched task ID ts"/>
            <p:cNvSpPr txBox="1"/>
            <p:nvPr/>
          </p:nvSpPr>
          <p:spPr>
            <a:xfrm>
              <a:off x="13335000" y="553174"/>
              <a:ext cx="159239" cy="47053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50" b="0" i="0" kern="0">
                  <a:ln w="4343">
                    <a:solidFill>
                      <a:srgbClr val="000000"/>
                    </a:solidFill>
                  </a:ln>
                  <a:solidFill>
                    <a:srgbClr val="000000"/>
                  </a:solidFill>
                  <a:latin typeface="Latin Modern Math"/>
                </a:rPr>
                <a:t>𝑡</a:t>
              </a:r>
              <a:endParaRPr sz="2850"/>
            </a:p>
          </p:txBody>
        </p:sp>
        <p:sp>
          <p:nvSpPr>
            <p:cNvPr id="561" name="Rematched task ID ts"/>
            <p:cNvSpPr txBox="1"/>
            <p:nvPr/>
          </p:nvSpPr>
          <p:spPr>
            <a:xfrm>
              <a:off x="13465664" y="752989"/>
              <a:ext cx="149193" cy="33432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25" b="0" i="0" kern="0">
                  <a:ln w="3086">
                    <a:solidFill>
                      <a:srgbClr val="000000"/>
                    </a:solidFill>
                  </a:ln>
                  <a:solidFill>
                    <a:srgbClr val="000000"/>
                  </a:solidFill>
                  <a:latin typeface="Latin Modern Math"/>
                </a:rPr>
                <a:t>𝑠</a:t>
              </a:r>
              <a:endParaRPr sz="2025"/>
            </a:p>
          </p:txBody>
        </p:sp>
        <p:sp>
          <p:nvSpPr>
            <p:cNvPr id="562" name="Editable mathematical accent"/>
            <p:cNvSpPr/>
            <p:nvPr/>
          </p:nvSpPr>
          <p:spPr>
            <a:xfrm>
              <a:off x="13397110" y="632079"/>
              <a:ext cx="83249" cy="43434"/>
            </a:xfrm>
            <a:custGeom>
              <a:avLst/>
              <a:gdLst/>
              <a:ahLst/>
              <a:cxnLst/>
              <a:rect l="0" t="0" r="r" b="b"/>
              <a:pathLst>
                <a:path w="8740" h="4560">
                  <a:moveTo>
                    <a:pt x="0" y="4560"/>
                  </a:moveTo>
                  <a:lnTo>
                    <a:pt x="4370" y="0"/>
                  </a:lnTo>
                  <a:lnTo>
                    <a:pt x="8740" y="4560"/>
                  </a:lnTo>
                </a:path>
              </a:pathLst>
            </a:custGeom>
            <a:noFill/>
            <a:ln w="23526" cap="flat" cmpd="sng">
              <a:solidFill>
                <a:srgbClr val="000000"/>
              </a:solidFill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8" name="Training and CTIRD"/>
          <p:cNvGrpSpPr/>
          <p:nvPr/>
        </p:nvGrpSpPr>
        <p:grpSpPr>
          <a:xfrm>
            <a:off x="3220658" y="4648200"/>
            <a:ext cx="10419142" cy="3790950"/>
            <a:chOff x="3220658" y="4648200"/>
            <a:chExt cx="10419142" cy="3790950"/>
          </a:xfrm>
        </p:grpSpPr>
        <p:sp>
          <p:nvSpPr>
            <p:cNvPr id="564" name="Training panel frame"/>
            <p:cNvSpPr/>
            <p:nvPr/>
          </p:nvSpPr>
          <p:spPr>
            <a:xfrm>
              <a:off x="4257675" y="4648200"/>
              <a:ext cx="9382125" cy="3790950"/>
            </a:xfrm>
            <a:prstGeom prst="rect">
              <a:avLst/>
            </a:prstGeom>
            <a:solidFill>
              <a:srgbClr val="DDEBF7"/>
            </a:solidFill>
            <a:ln w="38100" cap="flat" cmpd="sng">
              <a:solidFill>
                <a:srgbClr val="000000"/>
              </a:solidFill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5" name="Parameter selection training area"/>
            <p:cNvSpPr/>
            <p:nvPr/>
          </p:nvSpPr>
          <p:spPr>
            <a:xfrm>
              <a:off x="4476750" y="4724400"/>
              <a:ext cx="4324350" cy="3638550"/>
            </a:xfrm>
            <a:prstGeom prst="rect">
              <a:avLst/>
            </a:prstGeom>
            <a:solidFill>
              <a:srgbClr val="FBE5D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6" name="Training"/>
            <p:cNvSpPr txBox="1"/>
            <p:nvPr/>
          </p:nvSpPr>
          <p:spPr>
            <a:xfrm rot="5400000">
              <a:off x="3241626" y="5176838"/>
              <a:ext cx="1440024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b="1" i="0" kern="0">
                  <a:solidFill>
                    <a:srgbClr val="000000"/>
                  </a:solidFill>
                  <a:latin typeface="Times New Roman"/>
                </a:rPr>
                <a:t>Training</a:t>
              </a:r>
              <a:endParaRPr sz="3000"/>
            </a:p>
          </p:txBody>
        </p:sp>
        <p:sp>
          <p:nvSpPr>
            <p:cNvPr id="567" name="CTIRD"/>
            <p:cNvSpPr txBox="1"/>
            <p:nvPr/>
          </p:nvSpPr>
          <p:spPr>
            <a:xfrm rot="16200000">
              <a:off x="3220658" y="7329488"/>
              <a:ext cx="1256407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b="1" i="0" kern="0">
                  <a:solidFill>
                    <a:srgbClr val="FF0000"/>
                  </a:solidFill>
                  <a:latin typeface="Times New Roman"/>
                </a:rPr>
                <a:t>CTIRD</a:t>
              </a:r>
              <a:endParaRPr sz="3000"/>
            </a:p>
          </p:txBody>
        </p:sp>
        <p:grpSp>
          <p:nvGrpSpPr>
            <p:cNvPr id="622" name="Task retrieval histogram"/>
            <p:cNvGrpSpPr/>
            <p:nvPr/>
          </p:nvGrpSpPr>
          <p:grpSpPr>
            <a:xfrm>
              <a:off x="4572000" y="4725162"/>
              <a:ext cx="4076700" cy="2237613"/>
              <a:chOff x="4572000" y="4725162"/>
              <a:chExt cx="4076700" cy="2237613"/>
            </a:xfrm>
          </p:grpSpPr>
          <p:sp>
            <p:nvSpPr>
              <p:cNvPr id="568" name="d"/>
              <p:cNvSpPr txBox="1"/>
              <p:nvPr/>
            </p:nvSpPr>
            <p:spPr>
              <a:xfrm>
                <a:off x="4572000" y="4763300"/>
                <a:ext cx="236600" cy="52006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150" b="0" i="0" kern="0">
                    <a:ln w="4801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𝑑</a:t>
                </a:r>
                <a:endParaRPr sz="3150"/>
              </a:p>
            </p:txBody>
          </p:sp>
          <p:sp>
            <p:nvSpPr>
              <p:cNvPr id="569" name="Task similarity histogram bin"/>
              <p:cNvSpPr/>
              <p:nvPr/>
            </p:nvSpPr>
            <p:spPr>
              <a:xfrm>
                <a:off x="4905375" y="5314950"/>
                <a:ext cx="171450" cy="314325"/>
              </a:xfrm>
              <a:prstGeom prst="rect">
                <a:avLst/>
              </a:prstGeom>
              <a:solidFill>
                <a:srgbClr val="E2F0D9"/>
              </a:solidFill>
              <a:ln w="1905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0" name="Task similarity histogram bin"/>
              <p:cNvSpPr/>
              <p:nvPr/>
            </p:nvSpPr>
            <p:spPr>
              <a:xfrm>
                <a:off x="5076825" y="5181600"/>
                <a:ext cx="152400" cy="447675"/>
              </a:xfrm>
              <a:prstGeom prst="rect">
                <a:avLst/>
              </a:prstGeom>
              <a:solidFill>
                <a:srgbClr val="E2F0D9"/>
              </a:solidFill>
              <a:ln w="1905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1" name="Task similarity histogram bin"/>
              <p:cNvSpPr/>
              <p:nvPr/>
            </p:nvSpPr>
            <p:spPr>
              <a:xfrm>
                <a:off x="5229225" y="5267325"/>
                <a:ext cx="152400" cy="361950"/>
              </a:xfrm>
              <a:prstGeom prst="rect">
                <a:avLst/>
              </a:prstGeom>
              <a:solidFill>
                <a:srgbClr val="E2F0D9"/>
              </a:solidFill>
              <a:ln w="1905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2" name="Task similarity histogram bin"/>
              <p:cNvSpPr/>
              <p:nvPr/>
            </p:nvSpPr>
            <p:spPr>
              <a:xfrm>
                <a:off x="5381625" y="5448300"/>
                <a:ext cx="152400" cy="180975"/>
              </a:xfrm>
              <a:prstGeom prst="rect">
                <a:avLst/>
              </a:prstGeom>
              <a:solidFill>
                <a:srgbClr val="E2F0D9"/>
              </a:solidFill>
              <a:ln w="1905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3" name="Task similarity histogram bin"/>
              <p:cNvSpPr/>
              <p:nvPr/>
            </p:nvSpPr>
            <p:spPr>
              <a:xfrm>
                <a:off x="5534025" y="5514975"/>
                <a:ext cx="123825" cy="114300"/>
              </a:xfrm>
              <a:prstGeom prst="rect">
                <a:avLst/>
              </a:prstGeom>
              <a:solidFill>
                <a:srgbClr val="E2F0D9"/>
              </a:solidFill>
              <a:ln w="1905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4" name="Task similarity histogram bin"/>
              <p:cNvSpPr/>
              <p:nvPr/>
            </p:nvSpPr>
            <p:spPr>
              <a:xfrm>
                <a:off x="5657850" y="5372100"/>
                <a:ext cx="152400" cy="257175"/>
              </a:xfrm>
              <a:prstGeom prst="rect">
                <a:avLst/>
              </a:prstGeom>
              <a:solidFill>
                <a:srgbClr val="FBE5D6"/>
              </a:solidFill>
              <a:ln w="1905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5" name="Task similarity histogram bin"/>
              <p:cNvSpPr/>
              <p:nvPr/>
            </p:nvSpPr>
            <p:spPr>
              <a:xfrm>
                <a:off x="5810250" y="5467350"/>
                <a:ext cx="152400" cy="161925"/>
              </a:xfrm>
              <a:prstGeom prst="rect">
                <a:avLst/>
              </a:prstGeom>
              <a:solidFill>
                <a:srgbClr val="FBE5D6"/>
              </a:solidFill>
              <a:ln w="1905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6" name="Task similarity histogram bin"/>
              <p:cNvSpPr/>
              <p:nvPr/>
            </p:nvSpPr>
            <p:spPr>
              <a:xfrm>
                <a:off x="5962650" y="5419725"/>
                <a:ext cx="152400" cy="209550"/>
              </a:xfrm>
              <a:prstGeom prst="rect">
                <a:avLst/>
              </a:prstGeom>
              <a:solidFill>
                <a:srgbClr val="FBE5D6"/>
              </a:solidFill>
              <a:ln w="1905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7" name="Task similarity histogram bin"/>
              <p:cNvSpPr/>
              <p:nvPr/>
            </p:nvSpPr>
            <p:spPr>
              <a:xfrm>
                <a:off x="6115050" y="5372100"/>
                <a:ext cx="152400" cy="257175"/>
              </a:xfrm>
              <a:prstGeom prst="rect">
                <a:avLst/>
              </a:prstGeom>
              <a:solidFill>
                <a:srgbClr val="FBE5D6"/>
              </a:solidFill>
              <a:ln w="1905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8" name="Task similarity histogram bin"/>
              <p:cNvSpPr/>
              <p:nvPr/>
            </p:nvSpPr>
            <p:spPr>
              <a:xfrm>
                <a:off x="6267450" y="5514975"/>
                <a:ext cx="152400" cy="114300"/>
              </a:xfrm>
              <a:prstGeom prst="rect">
                <a:avLst/>
              </a:prstGeom>
              <a:solidFill>
                <a:srgbClr val="FBE5D6"/>
              </a:solidFill>
              <a:ln w="1905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9" name="Task similarity histogram bin"/>
              <p:cNvSpPr/>
              <p:nvPr/>
            </p:nvSpPr>
            <p:spPr>
              <a:xfrm>
                <a:off x="6419850" y="5419725"/>
                <a:ext cx="152400" cy="209550"/>
              </a:xfrm>
              <a:prstGeom prst="rect">
                <a:avLst/>
              </a:prstGeom>
              <a:solidFill>
                <a:srgbClr val="B4C8E9"/>
              </a:solidFill>
              <a:ln w="1905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0" name="Task similarity histogram bin"/>
              <p:cNvSpPr/>
              <p:nvPr/>
            </p:nvSpPr>
            <p:spPr>
              <a:xfrm>
                <a:off x="6572250" y="5172075"/>
                <a:ext cx="142875" cy="457200"/>
              </a:xfrm>
              <a:prstGeom prst="rect">
                <a:avLst/>
              </a:prstGeom>
              <a:solidFill>
                <a:srgbClr val="B4C8E9"/>
              </a:solidFill>
              <a:ln w="1905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1" name="Task similarity histogram bin"/>
              <p:cNvSpPr/>
              <p:nvPr/>
            </p:nvSpPr>
            <p:spPr>
              <a:xfrm>
                <a:off x="6715125" y="5353050"/>
                <a:ext cx="152400" cy="276225"/>
              </a:xfrm>
              <a:prstGeom prst="rect">
                <a:avLst/>
              </a:prstGeom>
              <a:solidFill>
                <a:srgbClr val="B4C8E9"/>
              </a:solidFill>
              <a:ln w="1905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2" name="Task similarity histogram bin"/>
              <p:cNvSpPr/>
              <p:nvPr/>
            </p:nvSpPr>
            <p:spPr>
              <a:xfrm>
                <a:off x="6867525" y="5438775"/>
                <a:ext cx="152400" cy="190500"/>
              </a:xfrm>
              <a:prstGeom prst="rect">
                <a:avLst/>
              </a:prstGeom>
              <a:solidFill>
                <a:srgbClr val="B4C8E9"/>
              </a:solidFill>
              <a:ln w="1905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3" name="Task similarity histogram bin"/>
              <p:cNvSpPr/>
              <p:nvPr/>
            </p:nvSpPr>
            <p:spPr>
              <a:xfrm>
                <a:off x="7019925" y="5514975"/>
                <a:ext cx="152400" cy="114300"/>
              </a:xfrm>
              <a:prstGeom prst="rect">
                <a:avLst/>
              </a:prstGeom>
              <a:solidFill>
                <a:srgbClr val="B4C8E9"/>
              </a:solidFill>
              <a:ln w="1905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4" name="Task similarity histogram bin"/>
              <p:cNvSpPr/>
              <p:nvPr/>
            </p:nvSpPr>
            <p:spPr>
              <a:xfrm>
                <a:off x="7505700" y="5457825"/>
                <a:ext cx="142875" cy="171450"/>
              </a:xfrm>
              <a:prstGeom prst="rect">
                <a:avLst/>
              </a:prstGeom>
              <a:solidFill>
                <a:srgbClr val="EEEEEE"/>
              </a:solidFill>
              <a:ln w="1905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5" name="Task similarity histogram bin"/>
              <p:cNvSpPr/>
              <p:nvPr/>
            </p:nvSpPr>
            <p:spPr>
              <a:xfrm>
                <a:off x="7648575" y="5353050"/>
                <a:ext cx="142875" cy="276225"/>
              </a:xfrm>
              <a:prstGeom prst="rect">
                <a:avLst/>
              </a:prstGeom>
              <a:solidFill>
                <a:srgbClr val="EEEEEE"/>
              </a:solidFill>
              <a:ln w="1905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6" name="Task similarity histogram bin"/>
              <p:cNvSpPr/>
              <p:nvPr/>
            </p:nvSpPr>
            <p:spPr>
              <a:xfrm>
                <a:off x="7791450" y="5381625"/>
                <a:ext cx="152400" cy="247650"/>
              </a:xfrm>
              <a:prstGeom prst="rect">
                <a:avLst/>
              </a:prstGeom>
              <a:solidFill>
                <a:srgbClr val="EEEEEE"/>
              </a:solidFill>
              <a:ln w="1905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7" name="Task similarity histogram bin"/>
              <p:cNvSpPr/>
              <p:nvPr/>
            </p:nvSpPr>
            <p:spPr>
              <a:xfrm>
                <a:off x="7943850" y="5457825"/>
                <a:ext cx="152400" cy="171450"/>
              </a:xfrm>
              <a:prstGeom prst="rect">
                <a:avLst/>
              </a:prstGeom>
              <a:solidFill>
                <a:srgbClr val="EEEEEE"/>
              </a:solidFill>
              <a:ln w="1905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8" name="Task similarity histogram bin"/>
              <p:cNvSpPr/>
              <p:nvPr/>
            </p:nvSpPr>
            <p:spPr>
              <a:xfrm>
                <a:off x="8096250" y="5524500"/>
                <a:ext cx="152400" cy="104775"/>
              </a:xfrm>
              <a:prstGeom prst="rect">
                <a:avLst/>
              </a:prstGeom>
              <a:solidFill>
                <a:srgbClr val="EEEEEE"/>
              </a:solidFill>
              <a:ln w="1905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589" name="Histogram task axis"/>
              <p:cNvCxnSpPr/>
              <p:nvPr/>
            </p:nvCxnSpPr>
            <p:spPr>
              <a:xfrm>
                <a:off x="4800600" y="5629275"/>
                <a:ext cx="3556254" cy="0"/>
              </a:xfrm>
              <a:prstGeom prst="line">
                <a:avLst/>
              </a:prstGeom>
              <a:ln w="47625">
                <a:solidFill>
                  <a:srgbClr val="000000"/>
                </a:solidFill>
              </a:ln>
              <a:effectLst/>
            </p:spPr>
          </p:cxnSp>
          <p:sp>
            <p:nvSpPr>
              <p:cNvPr id="590" name="Histogram task axis arrowhead"/>
              <p:cNvSpPr/>
              <p:nvPr/>
            </p:nvSpPr>
            <p:spPr>
              <a:xfrm>
                <a:off x="8267700" y="5500688"/>
                <a:ext cx="247650" cy="257175"/>
              </a:xfrm>
              <a:custGeom>
                <a:avLst/>
                <a:gdLst/>
                <a:ahLst/>
                <a:cxnLst/>
                <a:rect l="0" t="0" r="r" b="b"/>
                <a:pathLst>
                  <a:path w="26000" h="27000">
                    <a:moveTo>
                      <a:pt x="26000" y="13500"/>
                    </a:moveTo>
                    <a:lnTo>
                      <a:pt x="0" y="27000"/>
                    </a:lnTo>
                    <a:lnTo>
                      <a:pt x="9360" y="13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591" name="Histogram distribution axis"/>
              <p:cNvCxnSpPr/>
              <p:nvPr/>
            </p:nvCxnSpPr>
            <p:spPr>
              <a:xfrm flipV="1">
                <a:off x="4895850" y="5010150"/>
                <a:ext cx="0" cy="619125"/>
              </a:xfrm>
              <a:prstGeom prst="line">
                <a:avLst/>
              </a:prstGeom>
              <a:ln w="38100">
                <a:solidFill>
                  <a:srgbClr val="000000"/>
                </a:solidFill>
              </a:ln>
              <a:effectLst/>
            </p:spPr>
          </p:cxnSp>
          <p:sp>
            <p:nvSpPr>
              <p:cNvPr id="592" name="Histogram distribution axis arrowhead"/>
              <p:cNvSpPr/>
              <p:nvPr/>
            </p:nvSpPr>
            <p:spPr>
              <a:xfrm>
                <a:off x="4781550" y="4857750"/>
                <a:ext cx="228600" cy="238125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5000">
                    <a:moveTo>
                      <a:pt x="12000" y="0"/>
                    </a:moveTo>
                    <a:lnTo>
                      <a:pt x="24000" y="25000"/>
                    </a:lnTo>
                    <a:lnTo>
                      <a:pt x="12000" y="16000"/>
                    </a:lnTo>
                    <a:lnTo>
                      <a:pt x="0" y="250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3" name="Histogram task 1"/>
              <p:cNvSpPr txBox="1"/>
              <p:nvPr/>
            </p:nvSpPr>
            <p:spPr>
              <a:xfrm>
                <a:off x="5057775" y="4725162"/>
                <a:ext cx="251080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ln w="4572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𝑇</a:t>
                </a:r>
                <a:endParaRPr sz="3000"/>
              </a:p>
            </p:txBody>
          </p:sp>
          <p:sp>
            <p:nvSpPr>
              <p:cNvPr id="594" name="Histogram task 1"/>
              <p:cNvSpPr txBox="1"/>
              <p:nvPr/>
            </p:nvSpPr>
            <p:spPr>
              <a:xfrm>
                <a:off x="5280280" y="4915433"/>
                <a:ext cx="161925" cy="34671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100" b="0" i="0" kern="0">
                    <a:solidFill>
                      <a:srgbClr val="000000"/>
                    </a:solidFill>
                    <a:latin typeface="Times New Roman"/>
                  </a:rPr>
                  <a:t>1</a:t>
                </a:r>
                <a:endParaRPr sz="2100"/>
              </a:p>
            </p:txBody>
          </p:sp>
          <p:sp>
            <p:nvSpPr>
              <p:cNvPr id="595" name="Histogram task 2"/>
              <p:cNvSpPr txBox="1"/>
              <p:nvPr/>
            </p:nvSpPr>
            <p:spPr>
              <a:xfrm>
                <a:off x="5819775" y="4725162"/>
                <a:ext cx="251080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ln w="4572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𝑇</a:t>
                </a:r>
                <a:endParaRPr sz="3000"/>
              </a:p>
            </p:txBody>
          </p:sp>
          <p:sp>
            <p:nvSpPr>
              <p:cNvPr id="596" name="Histogram task 2"/>
              <p:cNvSpPr txBox="1"/>
              <p:nvPr/>
            </p:nvSpPr>
            <p:spPr>
              <a:xfrm>
                <a:off x="6042280" y="4915433"/>
                <a:ext cx="161925" cy="34671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100" b="0" i="0" kern="0">
                    <a:solidFill>
                      <a:srgbClr val="000000"/>
                    </a:solidFill>
                    <a:latin typeface="Times New Roman"/>
                  </a:rPr>
                  <a:t>2</a:t>
                </a:r>
                <a:endParaRPr sz="2100"/>
              </a:p>
            </p:txBody>
          </p:sp>
          <p:sp>
            <p:nvSpPr>
              <p:cNvPr id="597" name="Histogram task 3"/>
              <p:cNvSpPr txBox="1"/>
              <p:nvPr/>
            </p:nvSpPr>
            <p:spPr>
              <a:xfrm>
                <a:off x="6572250" y="4725162"/>
                <a:ext cx="251080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ln w="4572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𝑇</a:t>
                </a:r>
                <a:endParaRPr sz="3000"/>
              </a:p>
            </p:txBody>
          </p:sp>
          <p:sp>
            <p:nvSpPr>
              <p:cNvPr id="598" name="Histogram task 3"/>
              <p:cNvSpPr txBox="1"/>
              <p:nvPr/>
            </p:nvSpPr>
            <p:spPr>
              <a:xfrm>
                <a:off x="6794755" y="4915433"/>
                <a:ext cx="161925" cy="34671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100" b="0" i="0" kern="0">
                    <a:solidFill>
                      <a:srgbClr val="000000"/>
                    </a:solidFill>
                    <a:latin typeface="Times New Roman"/>
                  </a:rPr>
                  <a:t>3</a:t>
                </a:r>
                <a:endParaRPr sz="2100"/>
              </a:p>
            </p:txBody>
          </p:sp>
          <p:sp>
            <p:nvSpPr>
              <p:cNvPr id="599" name="Earlier task T t minus 1"/>
              <p:cNvSpPr txBox="1"/>
              <p:nvPr/>
            </p:nvSpPr>
            <p:spPr>
              <a:xfrm>
                <a:off x="7143750" y="4753680"/>
                <a:ext cx="302054" cy="45815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775" b="0" i="0" kern="0">
                    <a:ln w="4229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⋯</a:t>
                </a:r>
                <a:endParaRPr sz="2775"/>
              </a:p>
            </p:txBody>
          </p:sp>
          <p:sp>
            <p:nvSpPr>
              <p:cNvPr id="600" name="Earlier task T t minus 1"/>
              <p:cNvSpPr txBox="1"/>
              <p:nvPr/>
            </p:nvSpPr>
            <p:spPr>
              <a:xfrm>
                <a:off x="7417229" y="4725162"/>
                <a:ext cx="251080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ln w="4572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𝑇</a:t>
                </a:r>
                <a:endParaRPr sz="3000"/>
              </a:p>
            </p:txBody>
          </p:sp>
          <p:sp>
            <p:nvSpPr>
              <p:cNvPr id="601" name="Earlier task T t minus 1"/>
              <p:cNvSpPr txBox="1"/>
              <p:nvPr/>
            </p:nvSpPr>
            <p:spPr>
              <a:xfrm>
                <a:off x="7639735" y="4915433"/>
                <a:ext cx="465698" cy="34671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100" b="0" i="0" kern="0">
                    <a:ln w="3200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𝑡−1</a:t>
                </a:r>
                <a:endParaRPr sz="2100"/>
              </a:p>
            </p:txBody>
          </p:sp>
          <p:sp>
            <p:nvSpPr>
              <p:cNvPr id="602" name="Earlier histogram tasks"/>
              <p:cNvSpPr/>
              <p:nvPr/>
            </p:nvSpPr>
            <p:spPr>
              <a:xfrm>
                <a:off x="7207568" y="5445442"/>
                <a:ext cx="43815" cy="4381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3" name="Earlier histogram tasks"/>
              <p:cNvSpPr/>
              <p:nvPr/>
            </p:nvSpPr>
            <p:spPr>
              <a:xfrm>
                <a:off x="7312342" y="5445442"/>
                <a:ext cx="43815" cy="4381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4" name="Earlier histogram tasks"/>
              <p:cNvSpPr/>
              <p:nvPr/>
            </p:nvSpPr>
            <p:spPr>
              <a:xfrm>
                <a:off x="7417118" y="5445442"/>
                <a:ext cx="43815" cy="4381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5" name="Top K retrieval arrow"/>
              <p:cNvSpPr/>
              <p:nvPr/>
            </p:nvSpPr>
            <p:spPr>
              <a:xfrm>
                <a:off x="6438900" y="5753100"/>
                <a:ext cx="295275" cy="276225"/>
              </a:xfrm>
              <a:custGeom>
                <a:avLst/>
                <a:gdLst/>
                <a:ahLst/>
                <a:cxnLst/>
                <a:rect l="0" t="0" r="r" b="b"/>
                <a:pathLst>
                  <a:path w="31000" h="29000">
                    <a:moveTo>
                      <a:pt x="8060" y="0"/>
                    </a:moveTo>
                    <a:lnTo>
                      <a:pt x="22940" y="0"/>
                    </a:lnTo>
                    <a:lnTo>
                      <a:pt x="22940" y="15370"/>
                    </a:lnTo>
                    <a:lnTo>
                      <a:pt x="31000" y="15370"/>
                    </a:lnTo>
                    <a:lnTo>
                      <a:pt x="15500" y="29000"/>
                    </a:lnTo>
                    <a:lnTo>
                      <a:pt x="0" y="15370"/>
                    </a:lnTo>
                    <a:lnTo>
                      <a:pt x="8060" y="1537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6" name="top-K"/>
              <p:cNvSpPr txBox="1"/>
              <p:nvPr/>
            </p:nvSpPr>
            <p:spPr>
              <a:xfrm>
                <a:off x="6905625" y="5610987"/>
                <a:ext cx="917451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solidFill>
                      <a:srgbClr val="000000"/>
                    </a:solidFill>
                    <a:latin typeface="Times New Roman"/>
                  </a:rPr>
                  <a:t>top-K</a:t>
                </a:r>
                <a:endParaRPr sz="3000"/>
              </a:p>
            </p:txBody>
          </p:sp>
          <p:sp>
            <p:nvSpPr>
              <p:cNvPr id="607" name="Top K selected task set"/>
              <p:cNvSpPr/>
              <p:nvPr/>
            </p:nvSpPr>
            <p:spPr>
              <a:xfrm>
                <a:off x="4619625" y="6057900"/>
                <a:ext cx="4029075" cy="590550"/>
              </a:xfrm>
              <a:prstGeom prst="roundRect">
                <a:avLst>
                  <a:gd name="adj" fmla="val 20967"/>
                </a:avLst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8" name="Retrieved task subset"/>
              <p:cNvSpPr txBox="1"/>
              <p:nvPr/>
            </p:nvSpPr>
            <p:spPr>
              <a:xfrm>
                <a:off x="5216958" y="6115812"/>
                <a:ext cx="219075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ln w="4572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{</a:t>
                </a:r>
                <a:endParaRPr sz="3000"/>
              </a:p>
            </p:txBody>
          </p:sp>
          <p:sp>
            <p:nvSpPr>
              <p:cNvPr id="609" name="Retrieved task subset"/>
              <p:cNvSpPr txBox="1"/>
              <p:nvPr/>
            </p:nvSpPr>
            <p:spPr>
              <a:xfrm>
                <a:off x="5407458" y="6115812"/>
                <a:ext cx="251080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ln w="4572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𝑇</a:t>
                </a:r>
                <a:endParaRPr sz="3000"/>
              </a:p>
            </p:txBody>
          </p:sp>
          <p:sp>
            <p:nvSpPr>
              <p:cNvPr id="610" name="Retrieved task subset"/>
              <p:cNvSpPr txBox="1"/>
              <p:nvPr/>
            </p:nvSpPr>
            <p:spPr>
              <a:xfrm>
                <a:off x="5629963" y="6315608"/>
                <a:ext cx="161925" cy="34671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100" b="0" i="0" kern="0">
                    <a:solidFill>
                      <a:srgbClr val="000000"/>
                    </a:solidFill>
                    <a:latin typeface="Times New Roman"/>
                  </a:rPr>
                  <a:t>1</a:t>
                </a:r>
                <a:endParaRPr sz="2100"/>
              </a:p>
            </p:txBody>
          </p:sp>
          <p:sp>
            <p:nvSpPr>
              <p:cNvPr id="611" name="Retrieved task subset"/>
              <p:cNvSpPr txBox="1"/>
              <p:nvPr/>
            </p:nvSpPr>
            <p:spPr>
              <a:xfrm>
                <a:off x="5763313" y="6115812"/>
                <a:ext cx="314325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solidFill>
                      <a:srgbClr val="000000"/>
                    </a:solidFill>
                    <a:latin typeface="Times New Roman"/>
                  </a:rPr>
                  <a:t>,  </a:t>
                </a:r>
                <a:endParaRPr sz="3000"/>
              </a:p>
            </p:txBody>
          </p:sp>
          <p:sp>
            <p:nvSpPr>
              <p:cNvPr id="612" name="Retrieved task subset"/>
              <p:cNvSpPr txBox="1"/>
              <p:nvPr/>
            </p:nvSpPr>
            <p:spPr>
              <a:xfrm>
                <a:off x="6049063" y="6115812"/>
                <a:ext cx="251080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ln w="4572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𝑇</a:t>
                </a:r>
                <a:endParaRPr sz="3000"/>
              </a:p>
            </p:txBody>
          </p:sp>
          <p:sp>
            <p:nvSpPr>
              <p:cNvPr id="613" name="Retrieved task subset"/>
              <p:cNvSpPr txBox="1"/>
              <p:nvPr/>
            </p:nvSpPr>
            <p:spPr>
              <a:xfrm>
                <a:off x="6271569" y="6315608"/>
                <a:ext cx="161925" cy="34671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100" b="0" i="0" kern="0">
                    <a:solidFill>
                      <a:srgbClr val="000000"/>
                    </a:solidFill>
                    <a:latin typeface="Times New Roman"/>
                  </a:rPr>
                  <a:t>3</a:t>
                </a:r>
                <a:endParaRPr sz="2100"/>
              </a:p>
            </p:txBody>
          </p:sp>
          <p:sp>
            <p:nvSpPr>
              <p:cNvPr id="614" name="Retrieved task subset"/>
              <p:cNvSpPr txBox="1"/>
              <p:nvPr/>
            </p:nvSpPr>
            <p:spPr>
              <a:xfrm>
                <a:off x="6404919" y="6115812"/>
                <a:ext cx="219075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solidFill>
                      <a:srgbClr val="000000"/>
                    </a:solidFill>
                    <a:latin typeface="Times New Roman"/>
                  </a:rPr>
                  <a:t>, </a:t>
                </a:r>
                <a:endParaRPr sz="3000"/>
              </a:p>
            </p:txBody>
          </p:sp>
          <p:sp>
            <p:nvSpPr>
              <p:cNvPr id="615" name="Retrieved task subset"/>
              <p:cNvSpPr txBox="1"/>
              <p:nvPr/>
            </p:nvSpPr>
            <p:spPr>
              <a:xfrm>
                <a:off x="6595419" y="6115812"/>
                <a:ext cx="251080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ln w="4572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𝑇</a:t>
                </a:r>
                <a:endParaRPr sz="3000"/>
              </a:p>
            </p:txBody>
          </p:sp>
          <p:sp>
            <p:nvSpPr>
              <p:cNvPr id="616" name="Retrieved task subset"/>
              <p:cNvSpPr txBox="1"/>
              <p:nvPr/>
            </p:nvSpPr>
            <p:spPr>
              <a:xfrm>
                <a:off x="6817924" y="6315608"/>
                <a:ext cx="161925" cy="34671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100" b="0" i="0" kern="0">
                    <a:solidFill>
                      <a:srgbClr val="000000"/>
                    </a:solidFill>
                    <a:latin typeface="Times New Roman"/>
                  </a:rPr>
                  <a:t>4</a:t>
                </a:r>
                <a:endParaRPr sz="2100"/>
              </a:p>
            </p:txBody>
          </p:sp>
          <p:sp>
            <p:nvSpPr>
              <p:cNvPr id="617" name="Retrieved task subset"/>
              <p:cNvSpPr txBox="1"/>
              <p:nvPr/>
            </p:nvSpPr>
            <p:spPr>
              <a:xfrm>
                <a:off x="6951274" y="6115812"/>
                <a:ext cx="577208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ln w="4572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 ⋯ </a:t>
                </a:r>
                <a:endParaRPr sz="3000"/>
              </a:p>
            </p:txBody>
          </p:sp>
          <p:sp>
            <p:nvSpPr>
              <p:cNvPr id="618" name="Retrieved task subset"/>
              <p:cNvSpPr txBox="1"/>
              <p:nvPr/>
            </p:nvSpPr>
            <p:spPr>
              <a:xfrm>
                <a:off x="7499907" y="6115812"/>
                <a:ext cx="251080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ln w="4572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𝑇</a:t>
                </a:r>
                <a:endParaRPr sz="3000"/>
              </a:p>
            </p:txBody>
          </p:sp>
          <p:sp>
            <p:nvSpPr>
              <p:cNvPr id="619" name="Retrieved task subset"/>
              <p:cNvSpPr txBox="1"/>
              <p:nvPr/>
            </p:nvSpPr>
            <p:spPr>
              <a:xfrm>
                <a:off x="7722412" y="6315608"/>
                <a:ext cx="138455" cy="34671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100" b="0" i="0" kern="0">
                    <a:ln w="3200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𝑗</a:t>
                </a:r>
                <a:endParaRPr sz="2100"/>
              </a:p>
            </p:txBody>
          </p:sp>
          <p:sp>
            <p:nvSpPr>
              <p:cNvPr id="620" name="Retrieved task subset"/>
              <p:cNvSpPr txBox="1"/>
              <p:nvPr/>
            </p:nvSpPr>
            <p:spPr>
              <a:xfrm>
                <a:off x="7832292" y="6115812"/>
                <a:ext cx="219075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ln w="4572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}</a:t>
                </a:r>
                <a:endParaRPr sz="3000"/>
              </a:p>
            </p:txBody>
          </p:sp>
          <p:sp>
            <p:nvSpPr>
              <p:cNvPr id="621" name="Selected task parameter retrieval"/>
              <p:cNvSpPr/>
              <p:nvPr/>
            </p:nvSpPr>
            <p:spPr>
              <a:xfrm>
                <a:off x="6438900" y="6686550"/>
                <a:ext cx="295275" cy="276225"/>
              </a:xfrm>
              <a:custGeom>
                <a:avLst/>
                <a:gdLst/>
                <a:ahLst/>
                <a:cxnLst/>
                <a:rect l="0" t="0" r="r" b="b"/>
                <a:pathLst>
                  <a:path w="31000" h="29000">
                    <a:moveTo>
                      <a:pt x="8060" y="0"/>
                    </a:moveTo>
                    <a:lnTo>
                      <a:pt x="22940" y="0"/>
                    </a:lnTo>
                    <a:lnTo>
                      <a:pt x="22940" y="15370"/>
                    </a:lnTo>
                    <a:lnTo>
                      <a:pt x="31000" y="15370"/>
                    </a:lnTo>
                    <a:lnTo>
                      <a:pt x="15500" y="29000"/>
                    </a:lnTo>
                    <a:lnTo>
                      <a:pt x="0" y="15370"/>
                    </a:lnTo>
                    <a:lnTo>
                      <a:pt x="8060" y="1537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49" name="Training parameter pool"/>
            <p:cNvGrpSpPr/>
            <p:nvPr/>
          </p:nvGrpSpPr>
          <p:grpSpPr>
            <a:xfrm>
              <a:off x="4648200" y="7010400"/>
              <a:ext cx="4010025" cy="1314450"/>
              <a:chOff x="4648200" y="7010400"/>
              <a:chExt cx="4010025" cy="1314450"/>
            </a:xfrm>
          </p:grpSpPr>
          <p:sp>
            <p:nvSpPr>
              <p:cNvPr id="623" name="Parameter pool"/>
              <p:cNvSpPr/>
              <p:nvPr/>
            </p:nvSpPr>
            <p:spPr>
              <a:xfrm>
                <a:off x="4648200" y="7010400"/>
                <a:ext cx="4010025" cy="1314450"/>
              </a:xfrm>
              <a:prstGeom prst="rect">
                <a:avLst/>
              </a:prstGeom>
              <a:solidFill>
                <a:srgbClr val="D9D9D9"/>
              </a:solidFill>
              <a:ln w="38100" cap="flat" cmpd="sng">
                <a:solidFill>
                  <a:srgbClr val="203653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4" name="Parameter pool label background"/>
              <p:cNvSpPr/>
              <p:nvPr/>
            </p:nvSpPr>
            <p:spPr>
              <a:xfrm>
                <a:off x="4676775" y="7038975"/>
                <a:ext cx="1190625" cy="1257300"/>
              </a:xfrm>
              <a:prstGeom prst="rect">
                <a:avLst/>
              </a:prstGeom>
              <a:solidFill>
                <a:srgbClr val="E5E0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5" name="Beige texture"/>
              <p:cNvSpPr/>
              <p:nvPr/>
            </p:nvSpPr>
            <p:spPr>
              <a:xfrm>
                <a:off x="4827794" y="8047176"/>
                <a:ext cx="100547" cy="93850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6" name="Beige texture"/>
              <p:cNvSpPr/>
              <p:nvPr/>
            </p:nvSpPr>
            <p:spPr>
              <a:xfrm>
                <a:off x="5344562" y="7423856"/>
                <a:ext cx="86296" cy="105045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7" name="Beige texture"/>
              <p:cNvSpPr/>
              <p:nvPr/>
            </p:nvSpPr>
            <p:spPr>
              <a:xfrm>
                <a:off x="4856859" y="8098269"/>
                <a:ext cx="127646" cy="137793"/>
              </a:xfrm>
              <a:prstGeom prst="ellipse">
                <a:avLst/>
              </a:prstGeom>
              <a:solidFill>
                <a:srgbClr val="E7E2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8" name="Beige texture"/>
              <p:cNvSpPr/>
              <p:nvPr/>
            </p:nvSpPr>
            <p:spPr>
              <a:xfrm>
                <a:off x="4732970" y="7196405"/>
                <a:ext cx="95927" cy="68481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9" name="Beige texture"/>
              <p:cNvSpPr/>
              <p:nvPr/>
            </p:nvSpPr>
            <p:spPr>
              <a:xfrm>
                <a:off x="5573567" y="8036640"/>
                <a:ext cx="54863" cy="132871"/>
              </a:xfrm>
              <a:prstGeom prst="ellipse">
                <a:avLst/>
              </a:prstGeom>
              <a:solidFill>
                <a:srgbClr val="E6E1D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0" name="Beige texture"/>
              <p:cNvSpPr/>
              <p:nvPr/>
            </p:nvSpPr>
            <p:spPr>
              <a:xfrm>
                <a:off x="5564592" y="8090366"/>
                <a:ext cx="71052" cy="75399"/>
              </a:xfrm>
              <a:prstGeom prst="ellipse">
                <a:avLst/>
              </a:prstGeom>
              <a:solidFill>
                <a:srgbClr val="E6E1D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1" name="Beige texture"/>
              <p:cNvSpPr/>
              <p:nvPr/>
            </p:nvSpPr>
            <p:spPr>
              <a:xfrm>
                <a:off x="5031701" y="7089106"/>
                <a:ext cx="151796" cy="96727"/>
              </a:xfrm>
              <a:prstGeom prst="ellipse">
                <a:avLst/>
              </a:prstGeom>
              <a:solidFill>
                <a:srgbClr val="E7E2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2" name="Beige texture"/>
              <p:cNvSpPr/>
              <p:nvPr/>
            </p:nvSpPr>
            <p:spPr>
              <a:xfrm>
                <a:off x="4733848" y="7455971"/>
                <a:ext cx="148940" cy="156513"/>
              </a:xfrm>
              <a:prstGeom prst="ellipse">
                <a:avLst/>
              </a:prstGeom>
              <a:solidFill>
                <a:srgbClr val="E8E3D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3" name="Beige texture"/>
              <p:cNvSpPr/>
              <p:nvPr/>
            </p:nvSpPr>
            <p:spPr>
              <a:xfrm>
                <a:off x="5506581" y="8043146"/>
                <a:ext cx="63529" cy="76939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4" name="Beige texture"/>
              <p:cNvSpPr/>
              <p:nvPr/>
            </p:nvSpPr>
            <p:spPr>
              <a:xfrm>
                <a:off x="4902625" y="7989198"/>
                <a:ext cx="48068" cy="142272"/>
              </a:xfrm>
              <a:prstGeom prst="ellipse">
                <a:avLst/>
              </a:prstGeom>
              <a:solidFill>
                <a:srgbClr val="E6E1D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5" name="Beige texture"/>
              <p:cNvSpPr/>
              <p:nvPr/>
            </p:nvSpPr>
            <p:spPr>
              <a:xfrm>
                <a:off x="5293222" y="7059921"/>
                <a:ext cx="48568" cy="57965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6" name="Beige texture"/>
              <p:cNvSpPr/>
              <p:nvPr/>
            </p:nvSpPr>
            <p:spPr>
              <a:xfrm>
                <a:off x="4890311" y="7117644"/>
                <a:ext cx="113116" cy="114192"/>
              </a:xfrm>
              <a:prstGeom prst="ellipse">
                <a:avLst/>
              </a:prstGeom>
              <a:solidFill>
                <a:srgbClr val="E2DDC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7" name="Beige texture"/>
              <p:cNvSpPr/>
              <p:nvPr/>
            </p:nvSpPr>
            <p:spPr>
              <a:xfrm>
                <a:off x="5297158" y="7245715"/>
                <a:ext cx="120630" cy="59192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8" name="Beige texture"/>
              <p:cNvSpPr/>
              <p:nvPr/>
            </p:nvSpPr>
            <p:spPr>
              <a:xfrm>
                <a:off x="4963171" y="7861970"/>
                <a:ext cx="129879" cy="52727"/>
              </a:xfrm>
              <a:prstGeom prst="ellipse">
                <a:avLst/>
              </a:prstGeom>
              <a:solidFill>
                <a:srgbClr val="E2DDC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9" name="Beige texture"/>
              <p:cNvSpPr/>
              <p:nvPr/>
            </p:nvSpPr>
            <p:spPr>
              <a:xfrm>
                <a:off x="5285325" y="7077268"/>
                <a:ext cx="132796" cy="138869"/>
              </a:xfrm>
              <a:prstGeom prst="ellipse">
                <a:avLst/>
              </a:prstGeom>
              <a:solidFill>
                <a:srgbClr val="E7E2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0" name="Beige texture"/>
              <p:cNvSpPr/>
              <p:nvPr/>
            </p:nvSpPr>
            <p:spPr>
              <a:xfrm>
                <a:off x="4854205" y="7593101"/>
                <a:ext cx="93616" cy="159828"/>
              </a:xfrm>
              <a:prstGeom prst="ellipse">
                <a:avLst/>
              </a:prstGeom>
              <a:solidFill>
                <a:srgbClr val="E7E2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1" name="Beige texture"/>
              <p:cNvSpPr/>
              <p:nvPr/>
            </p:nvSpPr>
            <p:spPr>
              <a:xfrm>
                <a:off x="5326752" y="7911359"/>
                <a:ext cx="89453" cy="131098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2" name="Beige texture"/>
              <p:cNvSpPr/>
              <p:nvPr/>
            </p:nvSpPr>
            <p:spPr>
              <a:xfrm>
                <a:off x="5597155" y="7476216"/>
                <a:ext cx="146765" cy="61242"/>
              </a:xfrm>
              <a:prstGeom prst="ellipse">
                <a:avLst/>
              </a:prstGeom>
              <a:solidFill>
                <a:srgbClr val="E2DDC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3" name="Beige texture"/>
              <p:cNvSpPr/>
              <p:nvPr/>
            </p:nvSpPr>
            <p:spPr>
              <a:xfrm>
                <a:off x="5306950" y="7058950"/>
                <a:ext cx="93593" cy="169725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4" name="Beige texture"/>
              <p:cNvSpPr/>
              <p:nvPr/>
            </p:nvSpPr>
            <p:spPr>
              <a:xfrm>
                <a:off x="4912703" y="7552250"/>
                <a:ext cx="85197" cy="101312"/>
              </a:xfrm>
              <a:prstGeom prst="ellipse">
                <a:avLst/>
              </a:prstGeom>
              <a:solidFill>
                <a:srgbClr val="E6E1D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5" name="Beige texture"/>
              <p:cNvSpPr/>
              <p:nvPr/>
            </p:nvSpPr>
            <p:spPr>
              <a:xfrm>
                <a:off x="4975872" y="7645305"/>
                <a:ext cx="140745" cy="85658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6" name="Beige texture"/>
              <p:cNvSpPr/>
              <p:nvPr/>
            </p:nvSpPr>
            <p:spPr>
              <a:xfrm>
                <a:off x="5597461" y="7592505"/>
                <a:ext cx="50527" cy="144298"/>
              </a:xfrm>
              <a:prstGeom prst="ellipse">
                <a:avLst/>
              </a:prstGeom>
              <a:solidFill>
                <a:srgbClr val="E7E2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7" name="Beige texture"/>
              <p:cNvSpPr/>
              <p:nvPr/>
            </p:nvSpPr>
            <p:spPr>
              <a:xfrm>
                <a:off x="4746641" y="7777260"/>
                <a:ext cx="136526" cy="117713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8" name="Beige texture"/>
              <p:cNvSpPr/>
              <p:nvPr/>
            </p:nvSpPr>
            <p:spPr>
              <a:xfrm>
                <a:off x="5061980" y="8036489"/>
                <a:ext cx="157819" cy="97267"/>
              </a:xfrm>
              <a:prstGeom prst="ellipse">
                <a:avLst/>
              </a:prstGeom>
              <a:solidFill>
                <a:srgbClr val="E6E1D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9" name="Beige texture"/>
              <p:cNvSpPr/>
              <p:nvPr/>
            </p:nvSpPr>
            <p:spPr>
              <a:xfrm>
                <a:off x="5457454" y="8066595"/>
                <a:ext cx="63528" cy="83571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0" name="Beige texture"/>
              <p:cNvSpPr/>
              <p:nvPr/>
            </p:nvSpPr>
            <p:spPr>
              <a:xfrm>
                <a:off x="4873238" y="8069653"/>
                <a:ext cx="53398" cy="168386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1" name="Beige texture"/>
              <p:cNvSpPr/>
              <p:nvPr/>
            </p:nvSpPr>
            <p:spPr>
              <a:xfrm>
                <a:off x="4742173" y="7291009"/>
                <a:ext cx="116955" cy="49095"/>
              </a:xfrm>
              <a:prstGeom prst="ellipse">
                <a:avLst/>
              </a:prstGeom>
              <a:solidFill>
                <a:srgbClr val="E8E3D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2" name="Beige texture"/>
              <p:cNvSpPr/>
              <p:nvPr/>
            </p:nvSpPr>
            <p:spPr>
              <a:xfrm>
                <a:off x="5562812" y="7383223"/>
                <a:ext cx="81257" cy="49457"/>
              </a:xfrm>
              <a:prstGeom prst="ellipse">
                <a:avLst/>
              </a:prstGeom>
              <a:solidFill>
                <a:srgbClr val="E8E3D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3" name="Beige texture"/>
              <p:cNvSpPr/>
              <p:nvPr/>
            </p:nvSpPr>
            <p:spPr>
              <a:xfrm>
                <a:off x="4770184" y="7702054"/>
                <a:ext cx="111854" cy="64626"/>
              </a:xfrm>
              <a:prstGeom prst="ellipse">
                <a:avLst/>
              </a:prstGeom>
              <a:solidFill>
                <a:srgbClr val="E7E2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4" name="Beige texture"/>
              <p:cNvSpPr/>
              <p:nvPr/>
            </p:nvSpPr>
            <p:spPr>
              <a:xfrm>
                <a:off x="4837755" y="7689503"/>
                <a:ext cx="61105" cy="99622"/>
              </a:xfrm>
              <a:prstGeom prst="ellipse">
                <a:avLst/>
              </a:prstGeom>
              <a:solidFill>
                <a:srgbClr val="E8E3D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5" name="Beige texture"/>
              <p:cNvSpPr/>
              <p:nvPr/>
            </p:nvSpPr>
            <p:spPr>
              <a:xfrm>
                <a:off x="5390214" y="7343363"/>
                <a:ext cx="114853" cy="147025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6" name="Beige texture"/>
              <p:cNvSpPr/>
              <p:nvPr/>
            </p:nvSpPr>
            <p:spPr>
              <a:xfrm>
                <a:off x="4780207" y="7094629"/>
                <a:ext cx="148238" cy="108849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7" name="Beige texture"/>
              <p:cNvSpPr/>
              <p:nvPr/>
            </p:nvSpPr>
            <p:spPr>
              <a:xfrm>
                <a:off x="5602435" y="7219176"/>
                <a:ext cx="62295" cy="146488"/>
              </a:xfrm>
              <a:prstGeom prst="ellipse">
                <a:avLst/>
              </a:prstGeom>
              <a:solidFill>
                <a:srgbClr val="E2DDC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8" name="Beige texture"/>
              <p:cNvSpPr/>
              <p:nvPr/>
            </p:nvSpPr>
            <p:spPr>
              <a:xfrm>
                <a:off x="5171632" y="7739665"/>
                <a:ext cx="145821" cy="72748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9" name="Beige texture"/>
              <p:cNvSpPr/>
              <p:nvPr/>
            </p:nvSpPr>
            <p:spPr>
              <a:xfrm>
                <a:off x="5206377" y="8163576"/>
                <a:ext cx="92006" cy="69053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0" name="Beige texture"/>
              <p:cNvSpPr/>
              <p:nvPr/>
            </p:nvSpPr>
            <p:spPr>
              <a:xfrm>
                <a:off x="5336455" y="7699773"/>
                <a:ext cx="55235" cy="128243"/>
              </a:xfrm>
              <a:prstGeom prst="ellipse">
                <a:avLst/>
              </a:prstGeom>
              <a:solidFill>
                <a:srgbClr val="E8E3D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1" name="Beige texture"/>
              <p:cNvSpPr/>
              <p:nvPr/>
            </p:nvSpPr>
            <p:spPr>
              <a:xfrm>
                <a:off x="5257288" y="8080258"/>
                <a:ext cx="109845" cy="112447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2" name="Beige texture"/>
              <p:cNvSpPr/>
              <p:nvPr/>
            </p:nvSpPr>
            <p:spPr>
              <a:xfrm>
                <a:off x="5673018" y="7112210"/>
                <a:ext cx="147915" cy="118685"/>
              </a:xfrm>
              <a:prstGeom prst="ellipse">
                <a:avLst/>
              </a:prstGeom>
              <a:solidFill>
                <a:srgbClr val="E2DDC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3" name="Beige texture"/>
              <p:cNvSpPr/>
              <p:nvPr/>
            </p:nvSpPr>
            <p:spPr>
              <a:xfrm>
                <a:off x="5418705" y="7581805"/>
                <a:ext cx="129998" cy="60405"/>
              </a:xfrm>
              <a:prstGeom prst="ellipse">
                <a:avLst/>
              </a:prstGeom>
              <a:solidFill>
                <a:srgbClr val="E8E3D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4" name="Beige texture"/>
              <p:cNvSpPr/>
              <p:nvPr/>
            </p:nvSpPr>
            <p:spPr>
              <a:xfrm>
                <a:off x="5383669" y="7071671"/>
                <a:ext cx="149226" cy="137708"/>
              </a:xfrm>
              <a:prstGeom prst="ellipse">
                <a:avLst/>
              </a:prstGeom>
              <a:solidFill>
                <a:srgbClr val="E2DDC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5" name="Beige texture"/>
              <p:cNvSpPr/>
              <p:nvPr/>
            </p:nvSpPr>
            <p:spPr>
              <a:xfrm>
                <a:off x="5534929" y="7900663"/>
                <a:ext cx="148064" cy="76242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6" name="Beige texture"/>
              <p:cNvSpPr/>
              <p:nvPr/>
            </p:nvSpPr>
            <p:spPr>
              <a:xfrm>
                <a:off x="5352952" y="7138804"/>
                <a:ext cx="104309" cy="77728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7" name="Beige texture"/>
              <p:cNvSpPr/>
              <p:nvPr/>
            </p:nvSpPr>
            <p:spPr>
              <a:xfrm>
                <a:off x="4750257" y="7258191"/>
                <a:ext cx="125127" cy="97982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8" name="Beige texture"/>
              <p:cNvSpPr/>
              <p:nvPr/>
            </p:nvSpPr>
            <p:spPr>
              <a:xfrm>
                <a:off x="4708339" y="7788009"/>
                <a:ext cx="133653" cy="58077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9" name="Beige texture"/>
              <p:cNvSpPr/>
              <p:nvPr/>
            </p:nvSpPr>
            <p:spPr>
              <a:xfrm>
                <a:off x="5515779" y="7441726"/>
                <a:ext cx="108841" cy="50841"/>
              </a:xfrm>
              <a:prstGeom prst="ellipse">
                <a:avLst/>
              </a:prstGeom>
              <a:solidFill>
                <a:srgbClr val="E6E1D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0" name="Beige texture"/>
              <p:cNvSpPr/>
              <p:nvPr/>
            </p:nvSpPr>
            <p:spPr>
              <a:xfrm>
                <a:off x="5350847" y="8104718"/>
                <a:ext cx="48605" cy="165759"/>
              </a:xfrm>
              <a:prstGeom prst="ellipse">
                <a:avLst/>
              </a:prstGeom>
              <a:solidFill>
                <a:srgbClr val="E8E3D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1" name="Beige texture"/>
              <p:cNvSpPr/>
              <p:nvPr/>
            </p:nvSpPr>
            <p:spPr>
              <a:xfrm>
                <a:off x="5042214" y="7315750"/>
                <a:ext cx="142812" cy="60780"/>
              </a:xfrm>
              <a:prstGeom prst="ellipse">
                <a:avLst/>
              </a:prstGeom>
              <a:solidFill>
                <a:srgbClr val="E2DDC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2" name="Beige texture"/>
              <p:cNvSpPr/>
              <p:nvPr/>
            </p:nvSpPr>
            <p:spPr>
              <a:xfrm>
                <a:off x="4800769" y="7180958"/>
                <a:ext cx="69589" cy="75009"/>
              </a:xfrm>
              <a:prstGeom prst="ellipse">
                <a:avLst/>
              </a:prstGeom>
              <a:solidFill>
                <a:srgbClr val="E7E2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3" name="Beige texture"/>
              <p:cNvSpPr/>
              <p:nvPr/>
            </p:nvSpPr>
            <p:spPr>
              <a:xfrm>
                <a:off x="5441116" y="7582950"/>
                <a:ext cx="159204" cy="93741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4" name="Beige texture"/>
              <p:cNvSpPr/>
              <p:nvPr/>
            </p:nvSpPr>
            <p:spPr>
              <a:xfrm>
                <a:off x="4767652" y="7045001"/>
                <a:ext cx="70563" cy="155889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5" name="Beige texture"/>
              <p:cNvSpPr/>
              <p:nvPr/>
            </p:nvSpPr>
            <p:spPr>
              <a:xfrm>
                <a:off x="4946491" y="7776620"/>
                <a:ext cx="125667" cy="49542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6" name="Beige texture"/>
              <p:cNvSpPr/>
              <p:nvPr/>
            </p:nvSpPr>
            <p:spPr>
              <a:xfrm>
                <a:off x="5650854" y="7589704"/>
                <a:ext cx="106998" cy="99279"/>
              </a:xfrm>
              <a:prstGeom prst="ellipse">
                <a:avLst/>
              </a:prstGeom>
              <a:solidFill>
                <a:srgbClr val="E6E1D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7" name="Beige texture"/>
              <p:cNvSpPr/>
              <p:nvPr/>
            </p:nvSpPr>
            <p:spPr>
              <a:xfrm>
                <a:off x="4739711" y="7364337"/>
                <a:ext cx="116805" cy="74953"/>
              </a:xfrm>
              <a:prstGeom prst="ellipse">
                <a:avLst/>
              </a:prstGeom>
              <a:solidFill>
                <a:srgbClr val="E6E1D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8" name="Beige texture"/>
              <p:cNvSpPr/>
              <p:nvPr/>
            </p:nvSpPr>
            <p:spPr>
              <a:xfrm>
                <a:off x="5079188" y="8203700"/>
                <a:ext cx="52070" cy="70741"/>
              </a:xfrm>
              <a:prstGeom prst="ellipse">
                <a:avLst/>
              </a:prstGeom>
              <a:solidFill>
                <a:srgbClr val="E8E3D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9" name="Beige texture"/>
              <p:cNvSpPr/>
              <p:nvPr/>
            </p:nvSpPr>
            <p:spPr>
              <a:xfrm>
                <a:off x="5630442" y="8104364"/>
                <a:ext cx="154002" cy="156167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0" name="Beige texture"/>
              <p:cNvSpPr/>
              <p:nvPr/>
            </p:nvSpPr>
            <p:spPr>
              <a:xfrm>
                <a:off x="5151520" y="7410684"/>
                <a:ext cx="50993" cy="102024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1" name="Beige texture"/>
              <p:cNvSpPr/>
              <p:nvPr/>
            </p:nvSpPr>
            <p:spPr>
              <a:xfrm>
                <a:off x="5117111" y="7270059"/>
                <a:ext cx="87280" cy="151279"/>
              </a:xfrm>
              <a:prstGeom prst="ellipse">
                <a:avLst/>
              </a:prstGeom>
              <a:solidFill>
                <a:srgbClr val="E6E1D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2" name="Beige texture"/>
              <p:cNvSpPr/>
              <p:nvPr/>
            </p:nvSpPr>
            <p:spPr>
              <a:xfrm>
                <a:off x="5701801" y="7564136"/>
                <a:ext cx="82016" cy="105403"/>
              </a:xfrm>
              <a:prstGeom prst="ellipse">
                <a:avLst/>
              </a:prstGeom>
              <a:solidFill>
                <a:srgbClr val="E8E3D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3" name="Beige texture"/>
              <p:cNvSpPr/>
              <p:nvPr/>
            </p:nvSpPr>
            <p:spPr>
              <a:xfrm>
                <a:off x="5041355" y="7236812"/>
                <a:ext cx="68923" cy="97423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4" name="Beige texture"/>
              <p:cNvSpPr/>
              <p:nvPr/>
            </p:nvSpPr>
            <p:spPr>
              <a:xfrm>
                <a:off x="5092398" y="8100181"/>
                <a:ext cx="50695" cy="73764"/>
              </a:xfrm>
              <a:prstGeom prst="ellipse">
                <a:avLst/>
              </a:prstGeom>
              <a:solidFill>
                <a:srgbClr val="E7E2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5" name="Beige texture"/>
              <p:cNvSpPr/>
              <p:nvPr/>
            </p:nvSpPr>
            <p:spPr>
              <a:xfrm>
                <a:off x="5767258" y="7691816"/>
                <a:ext cx="57445" cy="168343"/>
              </a:xfrm>
              <a:prstGeom prst="ellipse">
                <a:avLst/>
              </a:prstGeom>
              <a:solidFill>
                <a:srgbClr val="E7E2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6" name="Beige texture"/>
              <p:cNvSpPr/>
              <p:nvPr/>
            </p:nvSpPr>
            <p:spPr>
              <a:xfrm>
                <a:off x="5250773" y="7435892"/>
                <a:ext cx="131470" cy="73781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7" name="Beige texture"/>
              <p:cNvSpPr/>
              <p:nvPr/>
            </p:nvSpPr>
            <p:spPr>
              <a:xfrm>
                <a:off x="4919230" y="7880707"/>
                <a:ext cx="124180" cy="99857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8" name="Beige texture"/>
              <p:cNvSpPr/>
              <p:nvPr/>
            </p:nvSpPr>
            <p:spPr>
              <a:xfrm>
                <a:off x="4680246" y="8096416"/>
                <a:ext cx="105043" cy="104985"/>
              </a:xfrm>
              <a:prstGeom prst="ellipse">
                <a:avLst/>
              </a:prstGeom>
              <a:solidFill>
                <a:srgbClr val="E2DDC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9" name="Beige texture"/>
              <p:cNvSpPr/>
              <p:nvPr/>
            </p:nvSpPr>
            <p:spPr>
              <a:xfrm>
                <a:off x="5721946" y="7089749"/>
                <a:ext cx="55789" cy="48963"/>
              </a:xfrm>
              <a:prstGeom prst="ellipse">
                <a:avLst/>
              </a:prstGeom>
              <a:solidFill>
                <a:srgbClr val="E2DDC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0" name="Beige texture"/>
              <p:cNvSpPr/>
              <p:nvPr/>
            </p:nvSpPr>
            <p:spPr>
              <a:xfrm>
                <a:off x="5240126" y="7926520"/>
                <a:ext cx="85179" cy="133512"/>
              </a:xfrm>
              <a:prstGeom prst="ellipse">
                <a:avLst/>
              </a:prstGeom>
              <a:solidFill>
                <a:srgbClr val="E8E3D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1" name="Beige texture"/>
              <p:cNvSpPr/>
              <p:nvPr/>
            </p:nvSpPr>
            <p:spPr>
              <a:xfrm>
                <a:off x="5626335" y="7626534"/>
                <a:ext cx="121827" cy="96593"/>
              </a:xfrm>
              <a:prstGeom prst="ellipse">
                <a:avLst/>
              </a:prstGeom>
              <a:solidFill>
                <a:srgbClr val="E2DDC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2" name="Beige texture"/>
              <p:cNvSpPr/>
              <p:nvPr/>
            </p:nvSpPr>
            <p:spPr>
              <a:xfrm>
                <a:off x="5704296" y="7274374"/>
                <a:ext cx="105772" cy="91882"/>
              </a:xfrm>
              <a:prstGeom prst="ellipse">
                <a:avLst/>
              </a:prstGeom>
              <a:solidFill>
                <a:srgbClr val="E8E3D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3" name="Beige texture"/>
              <p:cNvSpPr/>
              <p:nvPr/>
            </p:nvSpPr>
            <p:spPr>
              <a:xfrm>
                <a:off x="5514650" y="7236834"/>
                <a:ext cx="112469" cy="146625"/>
              </a:xfrm>
              <a:prstGeom prst="ellipse">
                <a:avLst/>
              </a:prstGeom>
              <a:solidFill>
                <a:srgbClr val="E2DDC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4" name="Beige texture"/>
              <p:cNvSpPr/>
              <p:nvPr/>
            </p:nvSpPr>
            <p:spPr>
              <a:xfrm>
                <a:off x="4699750" y="7577589"/>
                <a:ext cx="48705" cy="132347"/>
              </a:xfrm>
              <a:prstGeom prst="ellipse">
                <a:avLst/>
              </a:prstGeom>
              <a:solidFill>
                <a:srgbClr val="E7E2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5" name="Beige texture"/>
              <p:cNvSpPr/>
              <p:nvPr/>
            </p:nvSpPr>
            <p:spPr>
              <a:xfrm>
                <a:off x="4779343" y="7349161"/>
                <a:ext cx="96446" cy="168740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6" name="Beige texture"/>
              <p:cNvSpPr/>
              <p:nvPr/>
            </p:nvSpPr>
            <p:spPr>
              <a:xfrm>
                <a:off x="4930040" y="7411571"/>
                <a:ext cx="99229" cy="131800"/>
              </a:xfrm>
              <a:prstGeom prst="ellipse">
                <a:avLst/>
              </a:prstGeom>
              <a:solidFill>
                <a:srgbClr val="E7E2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7" name="Beige texture"/>
              <p:cNvSpPr/>
              <p:nvPr/>
            </p:nvSpPr>
            <p:spPr>
              <a:xfrm>
                <a:off x="4730945" y="7350323"/>
                <a:ext cx="125186" cy="139704"/>
              </a:xfrm>
              <a:prstGeom prst="ellipse">
                <a:avLst/>
              </a:prstGeom>
              <a:solidFill>
                <a:srgbClr val="E6E1D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8" name="Beige texture"/>
              <p:cNvSpPr/>
              <p:nvPr/>
            </p:nvSpPr>
            <p:spPr>
              <a:xfrm>
                <a:off x="5564315" y="7832905"/>
                <a:ext cx="50623" cy="70707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9" name="Beige texture"/>
              <p:cNvSpPr/>
              <p:nvPr/>
            </p:nvSpPr>
            <p:spPr>
              <a:xfrm>
                <a:off x="5492788" y="7195840"/>
                <a:ext cx="99455" cy="89816"/>
              </a:xfrm>
              <a:prstGeom prst="ellipse">
                <a:avLst/>
              </a:prstGeom>
              <a:solidFill>
                <a:srgbClr val="E8E3D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0" name="Beige texture"/>
              <p:cNvSpPr/>
              <p:nvPr/>
            </p:nvSpPr>
            <p:spPr>
              <a:xfrm>
                <a:off x="5443649" y="7540160"/>
                <a:ext cx="72380" cy="72739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1" name="Beige texture"/>
              <p:cNvSpPr/>
              <p:nvPr/>
            </p:nvSpPr>
            <p:spPr>
              <a:xfrm>
                <a:off x="5413064" y="7581701"/>
                <a:ext cx="161808" cy="163546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2" name="Beige texture"/>
              <p:cNvSpPr/>
              <p:nvPr/>
            </p:nvSpPr>
            <p:spPr>
              <a:xfrm>
                <a:off x="5652512" y="7524809"/>
                <a:ext cx="90189" cy="146520"/>
              </a:xfrm>
              <a:prstGeom prst="ellipse">
                <a:avLst/>
              </a:prstGeom>
              <a:solidFill>
                <a:srgbClr val="E7E2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3" name="Beige texture"/>
              <p:cNvSpPr/>
              <p:nvPr/>
            </p:nvSpPr>
            <p:spPr>
              <a:xfrm>
                <a:off x="5624769" y="8138886"/>
                <a:ext cx="157818" cy="116469"/>
              </a:xfrm>
              <a:prstGeom prst="ellipse">
                <a:avLst/>
              </a:prstGeom>
              <a:solidFill>
                <a:srgbClr val="E3DED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4" name="Beige texture"/>
              <p:cNvSpPr/>
              <p:nvPr/>
            </p:nvSpPr>
            <p:spPr>
              <a:xfrm>
                <a:off x="4934064" y="7591869"/>
                <a:ext cx="149460" cy="79843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5" name="Beige texture"/>
              <p:cNvSpPr/>
              <p:nvPr/>
            </p:nvSpPr>
            <p:spPr>
              <a:xfrm>
                <a:off x="5723173" y="7656478"/>
                <a:ext cx="68923" cy="113396"/>
              </a:xfrm>
              <a:prstGeom prst="ellipse">
                <a:avLst/>
              </a:prstGeom>
              <a:solidFill>
                <a:srgbClr val="E7E2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6" name="Beige texture"/>
              <p:cNvSpPr/>
              <p:nvPr/>
            </p:nvSpPr>
            <p:spPr>
              <a:xfrm>
                <a:off x="4708178" y="7817087"/>
                <a:ext cx="73109" cy="171184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7" name="Beige texture"/>
              <p:cNvSpPr/>
              <p:nvPr/>
            </p:nvSpPr>
            <p:spPr>
              <a:xfrm>
                <a:off x="5572829" y="7374906"/>
                <a:ext cx="114041" cy="72434"/>
              </a:xfrm>
              <a:prstGeom prst="ellipse">
                <a:avLst/>
              </a:prstGeom>
              <a:solidFill>
                <a:srgbClr val="E2DDC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8" name="Beige texture"/>
              <p:cNvSpPr/>
              <p:nvPr/>
            </p:nvSpPr>
            <p:spPr>
              <a:xfrm>
                <a:off x="4761197" y="7992978"/>
                <a:ext cx="85373" cy="96609"/>
              </a:xfrm>
              <a:prstGeom prst="ellipse">
                <a:avLst/>
              </a:prstGeom>
              <a:solidFill>
                <a:srgbClr val="E2DDC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9" name="Beige texture"/>
              <p:cNvSpPr/>
              <p:nvPr/>
            </p:nvSpPr>
            <p:spPr>
              <a:xfrm>
                <a:off x="4722511" y="7227665"/>
                <a:ext cx="99521" cy="167067"/>
              </a:xfrm>
              <a:prstGeom prst="ellipse">
                <a:avLst/>
              </a:prstGeom>
              <a:solidFill>
                <a:srgbClr val="E2DDC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0" name="Beige texture"/>
              <p:cNvSpPr/>
              <p:nvPr/>
            </p:nvSpPr>
            <p:spPr>
              <a:xfrm>
                <a:off x="5340652" y="7931102"/>
                <a:ext cx="148558" cy="135662"/>
              </a:xfrm>
              <a:prstGeom prst="ellipse">
                <a:avLst/>
              </a:prstGeom>
              <a:solidFill>
                <a:srgbClr val="E4DFD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1" name="Beige texture"/>
              <p:cNvSpPr/>
              <p:nvPr/>
            </p:nvSpPr>
            <p:spPr>
              <a:xfrm>
                <a:off x="5649803" y="7598935"/>
                <a:ext cx="91223" cy="141343"/>
              </a:xfrm>
              <a:prstGeom prst="ellipse">
                <a:avLst/>
              </a:prstGeom>
              <a:solidFill>
                <a:srgbClr val="E8E3D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2" name="Beige texture"/>
              <p:cNvSpPr/>
              <p:nvPr/>
            </p:nvSpPr>
            <p:spPr>
              <a:xfrm>
                <a:off x="4836446" y="7490850"/>
                <a:ext cx="51404" cy="171344"/>
              </a:xfrm>
              <a:prstGeom prst="ellipse">
                <a:avLst/>
              </a:prstGeom>
              <a:solidFill>
                <a:srgbClr val="E7E2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3" name="Beige texture"/>
              <p:cNvSpPr/>
              <p:nvPr/>
            </p:nvSpPr>
            <p:spPr>
              <a:xfrm>
                <a:off x="5390600" y="7143436"/>
                <a:ext cx="68300" cy="152669"/>
              </a:xfrm>
              <a:prstGeom prst="ellipse">
                <a:avLst/>
              </a:prstGeom>
              <a:solidFill>
                <a:srgbClr val="E8E3D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4" name="Beige texture"/>
              <p:cNvSpPr/>
              <p:nvPr/>
            </p:nvSpPr>
            <p:spPr>
              <a:xfrm>
                <a:off x="5340607" y="8157834"/>
                <a:ext cx="107108" cy="79041"/>
              </a:xfrm>
              <a:prstGeom prst="ellipse">
                <a:avLst/>
              </a:prstGeom>
              <a:solidFill>
                <a:srgbClr val="E6E1D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715" name="Element 698"/>
              <p:cNvCxnSpPr/>
              <p:nvPr/>
            </p:nvCxnSpPr>
            <p:spPr>
              <a:xfrm>
                <a:off x="5876925" y="7019925"/>
                <a:ext cx="0" cy="1295400"/>
              </a:xfrm>
              <a:prstGeom prst="line">
                <a:avLst/>
              </a:prstGeom>
              <a:ln w="38100">
                <a:solidFill>
                  <a:srgbClr val="203653"/>
                </a:solidFill>
              </a:ln>
              <a:effectLst/>
            </p:spPr>
          </p:cxnSp>
          <p:sp>
            <p:nvSpPr>
              <p:cNvPr id="716" name="Param."/>
              <p:cNvSpPr txBox="1"/>
              <p:nvPr/>
            </p:nvSpPr>
            <p:spPr>
              <a:xfrm>
                <a:off x="4743450" y="7192137"/>
                <a:ext cx="1097161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solidFill>
                      <a:srgbClr val="000000"/>
                    </a:solidFill>
                    <a:latin typeface="Times New Roman"/>
                  </a:rPr>
                  <a:t>Param.</a:t>
                </a:r>
                <a:endParaRPr sz="3000"/>
              </a:p>
            </p:txBody>
          </p:sp>
          <p:sp>
            <p:nvSpPr>
              <p:cNvPr id="717" name="Pool "/>
              <p:cNvSpPr txBox="1"/>
              <p:nvPr/>
            </p:nvSpPr>
            <p:spPr>
              <a:xfrm>
                <a:off x="4743450" y="7620762"/>
                <a:ext cx="822573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solidFill>
                      <a:srgbClr val="000000"/>
                    </a:solidFill>
                    <a:latin typeface="Times New Roman"/>
                  </a:rPr>
                  <a:t>Pool </a:t>
                </a:r>
                <a:endParaRPr sz="3000"/>
              </a:p>
            </p:txBody>
          </p:sp>
          <p:sp>
            <p:nvSpPr>
              <p:cNvPr id="718" name="P"/>
              <p:cNvSpPr txBox="1"/>
              <p:nvPr/>
            </p:nvSpPr>
            <p:spPr>
              <a:xfrm>
                <a:off x="5537448" y="7620762"/>
                <a:ext cx="273174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ln w="4572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𝑃</a:t>
                </a:r>
                <a:endParaRPr sz="3000"/>
              </a:p>
            </p:txBody>
          </p:sp>
          <p:sp>
            <p:nvSpPr>
              <p:cNvPr id="719" name="Frozen parameter"/>
              <p:cNvSpPr/>
              <p:nvPr/>
            </p:nvSpPr>
            <p:spPr>
              <a:xfrm>
                <a:off x="5943600" y="7191375"/>
                <a:ext cx="352425" cy="1019175"/>
              </a:xfrm>
              <a:prstGeom prst="rect">
                <a:avLst/>
              </a:prstGeom>
              <a:solidFill>
                <a:srgbClr val="F4B183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724" name="Locked parameters"/>
              <p:cNvGrpSpPr/>
              <p:nvPr/>
            </p:nvGrpSpPr>
            <p:grpSpPr>
              <a:xfrm>
                <a:off x="5981700" y="7430929"/>
                <a:ext cx="266700" cy="362998"/>
                <a:chOff x="5981700" y="7430929"/>
                <a:chExt cx="266700" cy="362998"/>
              </a:xfrm>
            </p:grpSpPr>
            <p:sp>
              <p:nvSpPr>
                <p:cNvPr id="720" name="Lock shackle"/>
                <p:cNvSpPr/>
                <p:nvPr/>
              </p:nvSpPr>
              <p:spPr>
                <a:xfrm>
                  <a:off x="6040374" y="7430929"/>
                  <a:ext cx="149352" cy="19031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80" h="19980">
                      <a:moveTo>
                        <a:pt x="0" y="19980"/>
                      </a:moveTo>
                      <a:lnTo>
                        <a:pt x="0" y="11100"/>
                      </a:lnTo>
                      <a:cubicBezTo>
                        <a:pt x="0" y="0"/>
                        <a:pt x="15680" y="0"/>
                        <a:pt x="15680" y="11100"/>
                      </a:cubicBezTo>
                      <a:lnTo>
                        <a:pt x="15680" y="19980"/>
                      </a:lnTo>
                    </a:path>
                  </a:pathLst>
                </a:custGeom>
                <a:noFill/>
                <a:ln w="24003" cap="flat" cmpd="sng">
                  <a:solidFill>
                    <a:srgbClr val="000000"/>
                  </a:solidFill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21" name="Lock body"/>
                <p:cNvSpPr/>
                <p:nvPr/>
              </p:nvSpPr>
              <p:spPr>
                <a:xfrm>
                  <a:off x="5981700" y="7600093"/>
                  <a:ext cx="266700" cy="193834"/>
                </a:xfrm>
                <a:prstGeom prst="roundRect">
                  <a:avLst>
                    <a:gd name="adj" fmla="val 4815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22" name="Keyhole"/>
                <p:cNvSpPr/>
                <p:nvPr/>
              </p:nvSpPr>
              <p:spPr>
                <a:xfrm>
                  <a:off x="6089714" y="7665291"/>
                  <a:ext cx="50673" cy="53340"/>
                </a:xfrm>
                <a:prstGeom prst="ellipse">
                  <a:avLst/>
                </a:prstGeom>
                <a:solidFill>
                  <a:srgbClr val="F4B183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23" name="Keyhole stem"/>
                <p:cNvSpPr/>
                <p:nvPr/>
              </p:nvSpPr>
              <p:spPr>
                <a:xfrm>
                  <a:off x="6101715" y="7695248"/>
                  <a:ext cx="26670" cy="493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800" h="5180">
                      <a:moveTo>
                        <a:pt x="280" y="0"/>
                      </a:moveTo>
                      <a:lnTo>
                        <a:pt x="2520" y="0"/>
                      </a:lnTo>
                      <a:lnTo>
                        <a:pt x="2800" y="5180"/>
                      </a:lnTo>
                      <a:lnTo>
                        <a:pt x="0" y="5180"/>
                      </a:lnTo>
                      <a:close/>
                    </a:path>
                  </a:pathLst>
                </a:custGeom>
                <a:solidFill>
                  <a:srgbClr val="F4B183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725" name="Frozen parameter"/>
              <p:cNvSpPr/>
              <p:nvPr/>
            </p:nvSpPr>
            <p:spPr>
              <a:xfrm>
                <a:off x="6353175" y="7191375"/>
                <a:ext cx="352425" cy="1019175"/>
              </a:xfrm>
              <a:prstGeom prst="rect">
                <a:avLst/>
              </a:prstGeom>
              <a:solidFill>
                <a:srgbClr val="F4B183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730" name="Locked parameters"/>
              <p:cNvGrpSpPr/>
              <p:nvPr/>
            </p:nvGrpSpPr>
            <p:grpSpPr>
              <a:xfrm>
                <a:off x="6391275" y="7430929"/>
                <a:ext cx="266700" cy="362998"/>
                <a:chOff x="6391275" y="7430929"/>
                <a:chExt cx="266700" cy="362998"/>
              </a:xfrm>
            </p:grpSpPr>
            <p:sp>
              <p:nvSpPr>
                <p:cNvPr id="726" name="Lock shackle"/>
                <p:cNvSpPr/>
                <p:nvPr/>
              </p:nvSpPr>
              <p:spPr>
                <a:xfrm>
                  <a:off x="6449949" y="7430929"/>
                  <a:ext cx="149352" cy="19031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80" h="19980">
                      <a:moveTo>
                        <a:pt x="0" y="19980"/>
                      </a:moveTo>
                      <a:lnTo>
                        <a:pt x="0" y="11100"/>
                      </a:lnTo>
                      <a:cubicBezTo>
                        <a:pt x="0" y="0"/>
                        <a:pt x="15680" y="0"/>
                        <a:pt x="15680" y="11100"/>
                      </a:cubicBezTo>
                      <a:lnTo>
                        <a:pt x="15680" y="19980"/>
                      </a:lnTo>
                    </a:path>
                  </a:pathLst>
                </a:custGeom>
                <a:noFill/>
                <a:ln w="24003" cap="flat" cmpd="sng">
                  <a:solidFill>
                    <a:srgbClr val="000000"/>
                  </a:solidFill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27" name="Lock body"/>
                <p:cNvSpPr/>
                <p:nvPr/>
              </p:nvSpPr>
              <p:spPr>
                <a:xfrm>
                  <a:off x="6391275" y="7600093"/>
                  <a:ext cx="266700" cy="193834"/>
                </a:xfrm>
                <a:prstGeom prst="roundRect">
                  <a:avLst>
                    <a:gd name="adj" fmla="val 4815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28" name="Keyhole"/>
                <p:cNvSpPr/>
                <p:nvPr/>
              </p:nvSpPr>
              <p:spPr>
                <a:xfrm>
                  <a:off x="6499288" y="7665291"/>
                  <a:ext cx="50673" cy="53340"/>
                </a:xfrm>
                <a:prstGeom prst="ellipse">
                  <a:avLst/>
                </a:prstGeom>
                <a:solidFill>
                  <a:srgbClr val="F4B183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29" name="Keyhole stem"/>
                <p:cNvSpPr/>
                <p:nvPr/>
              </p:nvSpPr>
              <p:spPr>
                <a:xfrm>
                  <a:off x="6511290" y="7695248"/>
                  <a:ext cx="26670" cy="493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800" h="5180">
                      <a:moveTo>
                        <a:pt x="280" y="0"/>
                      </a:moveTo>
                      <a:lnTo>
                        <a:pt x="2520" y="0"/>
                      </a:lnTo>
                      <a:lnTo>
                        <a:pt x="2800" y="5180"/>
                      </a:lnTo>
                      <a:lnTo>
                        <a:pt x="0" y="5180"/>
                      </a:lnTo>
                      <a:close/>
                    </a:path>
                  </a:pathLst>
                </a:custGeom>
                <a:solidFill>
                  <a:srgbClr val="F4B183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731" name="Frozen parameter"/>
              <p:cNvSpPr/>
              <p:nvPr/>
            </p:nvSpPr>
            <p:spPr>
              <a:xfrm>
                <a:off x="6781800" y="7191375"/>
                <a:ext cx="352425" cy="1019175"/>
              </a:xfrm>
              <a:prstGeom prst="rect">
                <a:avLst/>
              </a:prstGeom>
              <a:solidFill>
                <a:srgbClr val="F4B183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736" name="Locked parameters"/>
              <p:cNvGrpSpPr/>
              <p:nvPr/>
            </p:nvGrpSpPr>
            <p:grpSpPr>
              <a:xfrm>
                <a:off x="6819900" y="7430929"/>
                <a:ext cx="266700" cy="362998"/>
                <a:chOff x="6819900" y="7430929"/>
                <a:chExt cx="266700" cy="362998"/>
              </a:xfrm>
            </p:grpSpPr>
            <p:sp>
              <p:nvSpPr>
                <p:cNvPr id="732" name="Lock shackle"/>
                <p:cNvSpPr/>
                <p:nvPr/>
              </p:nvSpPr>
              <p:spPr>
                <a:xfrm>
                  <a:off x="6878574" y="7430929"/>
                  <a:ext cx="149352" cy="19031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80" h="19980">
                      <a:moveTo>
                        <a:pt x="0" y="19980"/>
                      </a:moveTo>
                      <a:lnTo>
                        <a:pt x="0" y="11100"/>
                      </a:lnTo>
                      <a:cubicBezTo>
                        <a:pt x="0" y="0"/>
                        <a:pt x="15680" y="0"/>
                        <a:pt x="15680" y="11100"/>
                      </a:cubicBezTo>
                      <a:lnTo>
                        <a:pt x="15680" y="19980"/>
                      </a:lnTo>
                    </a:path>
                  </a:pathLst>
                </a:custGeom>
                <a:noFill/>
                <a:ln w="24003" cap="flat" cmpd="sng">
                  <a:solidFill>
                    <a:srgbClr val="000000"/>
                  </a:solidFill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33" name="Lock body"/>
                <p:cNvSpPr/>
                <p:nvPr/>
              </p:nvSpPr>
              <p:spPr>
                <a:xfrm>
                  <a:off x="6819900" y="7600093"/>
                  <a:ext cx="266700" cy="193834"/>
                </a:xfrm>
                <a:prstGeom prst="roundRect">
                  <a:avLst>
                    <a:gd name="adj" fmla="val 4815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34" name="Keyhole"/>
                <p:cNvSpPr/>
                <p:nvPr/>
              </p:nvSpPr>
              <p:spPr>
                <a:xfrm>
                  <a:off x="6927914" y="7665291"/>
                  <a:ext cx="50673" cy="53340"/>
                </a:xfrm>
                <a:prstGeom prst="ellipse">
                  <a:avLst/>
                </a:prstGeom>
                <a:solidFill>
                  <a:srgbClr val="F4B183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35" name="Keyhole stem"/>
                <p:cNvSpPr/>
                <p:nvPr/>
              </p:nvSpPr>
              <p:spPr>
                <a:xfrm>
                  <a:off x="6939915" y="7695248"/>
                  <a:ext cx="26670" cy="493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800" h="5180">
                      <a:moveTo>
                        <a:pt x="280" y="0"/>
                      </a:moveTo>
                      <a:lnTo>
                        <a:pt x="2520" y="0"/>
                      </a:lnTo>
                      <a:lnTo>
                        <a:pt x="2800" y="5180"/>
                      </a:lnTo>
                      <a:lnTo>
                        <a:pt x="0" y="5180"/>
                      </a:lnTo>
                      <a:close/>
                    </a:path>
                  </a:pathLst>
                </a:custGeom>
                <a:solidFill>
                  <a:srgbClr val="F4B183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737" name="Frozen parameter"/>
              <p:cNvSpPr/>
              <p:nvPr/>
            </p:nvSpPr>
            <p:spPr>
              <a:xfrm>
                <a:off x="7800975" y="7191375"/>
                <a:ext cx="352425" cy="1019175"/>
              </a:xfrm>
              <a:prstGeom prst="rect">
                <a:avLst/>
              </a:prstGeom>
              <a:solidFill>
                <a:srgbClr val="F4B183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742" name="Locked parameters"/>
              <p:cNvGrpSpPr/>
              <p:nvPr/>
            </p:nvGrpSpPr>
            <p:grpSpPr>
              <a:xfrm>
                <a:off x="7839075" y="7430929"/>
                <a:ext cx="266700" cy="362998"/>
                <a:chOff x="7839075" y="7430929"/>
                <a:chExt cx="266700" cy="362998"/>
              </a:xfrm>
            </p:grpSpPr>
            <p:sp>
              <p:nvSpPr>
                <p:cNvPr id="738" name="Lock shackle"/>
                <p:cNvSpPr/>
                <p:nvPr/>
              </p:nvSpPr>
              <p:spPr>
                <a:xfrm>
                  <a:off x="7897749" y="7430929"/>
                  <a:ext cx="149352" cy="19031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80" h="19980">
                      <a:moveTo>
                        <a:pt x="0" y="19980"/>
                      </a:moveTo>
                      <a:lnTo>
                        <a:pt x="0" y="11100"/>
                      </a:lnTo>
                      <a:cubicBezTo>
                        <a:pt x="0" y="0"/>
                        <a:pt x="15680" y="0"/>
                        <a:pt x="15680" y="11100"/>
                      </a:cubicBezTo>
                      <a:lnTo>
                        <a:pt x="15680" y="19980"/>
                      </a:lnTo>
                    </a:path>
                  </a:pathLst>
                </a:custGeom>
                <a:noFill/>
                <a:ln w="24003" cap="flat" cmpd="sng">
                  <a:solidFill>
                    <a:srgbClr val="000000"/>
                  </a:solidFill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39" name="Lock body"/>
                <p:cNvSpPr/>
                <p:nvPr/>
              </p:nvSpPr>
              <p:spPr>
                <a:xfrm>
                  <a:off x="7839075" y="7600093"/>
                  <a:ext cx="266700" cy="193834"/>
                </a:xfrm>
                <a:prstGeom prst="roundRect">
                  <a:avLst>
                    <a:gd name="adj" fmla="val 4815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40" name="Keyhole"/>
                <p:cNvSpPr/>
                <p:nvPr/>
              </p:nvSpPr>
              <p:spPr>
                <a:xfrm>
                  <a:off x="7947088" y="7665291"/>
                  <a:ext cx="50673" cy="53340"/>
                </a:xfrm>
                <a:prstGeom prst="ellipse">
                  <a:avLst/>
                </a:prstGeom>
                <a:solidFill>
                  <a:srgbClr val="F4B183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41" name="Keyhole stem"/>
                <p:cNvSpPr/>
                <p:nvPr/>
              </p:nvSpPr>
              <p:spPr>
                <a:xfrm>
                  <a:off x="7959090" y="7695248"/>
                  <a:ext cx="26670" cy="493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800" h="5180">
                      <a:moveTo>
                        <a:pt x="280" y="0"/>
                      </a:moveTo>
                      <a:lnTo>
                        <a:pt x="2520" y="0"/>
                      </a:lnTo>
                      <a:lnTo>
                        <a:pt x="2800" y="5180"/>
                      </a:lnTo>
                      <a:lnTo>
                        <a:pt x="0" y="5180"/>
                      </a:lnTo>
                      <a:close/>
                    </a:path>
                  </a:pathLst>
                </a:custGeom>
                <a:solidFill>
                  <a:srgbClr val="F4B183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743" name="Trainable parameter"/>
              <p:cNvSpPr/>
              <p:nvPr/>
            </p:nvSpPr>
            <p:spPr>
              <a:xfrm>
                <a:off x="8210550" y="7191375"/>
                <a:ext cx="352425" cy="1019175"/>
              </a:xfrm>
              <a:prstGeom prst="rect">
                <a:avLst/>
              </a:prstGeom>
              <a:solidFill>
                <a:srgbClr val="F4B183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4" name="More parameters"/>
              <p:cNvSpPr/>
              <p:nvPr/>
            </p:nvSpPr>
            <p:spPr>
              <a:xfrm>
                <a:off x="7210425" y="7591425"/>
                <a:ext cx="95250" cy="9525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5" name="More parameters"/>
              <p:cNvSpPr/>
              <p:nvPr/>
            </p:nvSpPr>
            <p:spPr>
              <a:xfrm>
                <a:off x="7400925" y="7591425"/>
                <a:ext cx="95250" cy="9525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6" name="More parameters"/>
              <p:cNvSpPr/>
              <p:nvPr/>
            </p:nvSpPr>
            <p:spPr>
              <a:xfrm>
                <a:off x="7600950" y="7591425"/>
                <a:ext cx="95250" cy="9525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7" name="Current task parameter outline"/>
              <p:cNvSpPr/>
              <p:nvPr/>
            </p:nvSpPr>
            <p:spPr>
              <a:xfrm>
                <a:off x="8210550" y="7191375"/>
                <a:ext cx="352425" cy="1019175"/>
              </a:xfrm>
              <a:prstGeom prst="rect">
                <a:avLst/>
              </a:prstGeom>
              <a:noFill/>
              <a:ln w="38100" cap="flat" cmpd="sng">
                <a:solidFill>
                  <a:srgbClr val="FF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8" name="Trainable parameter flame"/>
              <p:cNvSpPr/>
              <p:nvPr/>
            </p:nvSpPr>
            <p:spPr>
              <a:xfrm>
                <a:off x="8257794" y="7419975"/>
                <a:ext cx="294703" cy="382619"/>
              </a:xfrm>
              <a:custGeom>
                <a:avLst/>
                <a:gdLst/>
                <a:ahLst/>
                <a:cxnLst/>
                <a:rect l="0" t="0" r="r" b="b"/>
                <a:pathLst>
                  <a:path w="30940" h="40170">
                    <a:moveTo>
                      <a:pt x="14820" y="0"/>
                    </a:moveTo>
                    <a:cubicBezTo>
                      <a:pt x="19240" y="2730"/>
                      <a:pt x="22360" y="8580"/>
                      <a:pt x="20020" y="14820"/>
                    </a:cubicBezTo>
                    <a:cubicBezTo>
                      <a:pt x="17420" y="21450"/>
                      <a:pt x="18980" y="25350"/>
                      <a:pt x="25480" y="18720"/>
                    </a:cubicBezTo>
                    <a:cubicBezTo>
                      <a:pt x="30940" y="33540"/>
                      <a:pt x="20020" y="40170"/>
                      <a:pt x="14560" y="38220"/>
                    </a:cubicBezTo>
                    <a:cubicBezTo>
                      <a:pt x="9360" y="35100"/>
                      <a:pt x="9100" y="29250"/>
                      <a:pt x="11960" y="23010"/>
                    </a:cubicBezTo>
                    <a:cubicBezTo>
                      <a:pt x="5720" y="26520"/>
                      <a:pt x="4940" y="33540"/>
                      <a:pt x="8580" y="38220"/>
                    </a:cubicBezTo>
                    <a:cubicBezTo>
                      <a:pt x="520" y="33540"/>
                      <a:pt x="0" y="21060"/>
                      <a:pt x="7020" y="13260"/>
                    </a:cubicBezTo>
                    <a:cubicBezTo>
                      <a:pt x="13000" y="6630"/>
                      <a:pt x="16380" y="6240"/>
                      <a:pt x="14820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750" name="Feature distillation input arrow"/>
            <p:cNvSpPr/>
            <p:nvPr/>
          </p:nvSpPr>
          <p:spPr>
            <a:xfrm>
              <a:off x="8839200" y="6391275"/>
              <a:ext cx="428625" cy="361950"/>
            </a:xfrm>
            <a:custGeom>
              <a:avLst/>
              <a:gdLst/>
              <a:ahLst/>
              <a:cxnLst/>
              <a:rect l="0" t="0" r="r" b="b"/>
              <a:pathLst>
                <a:path w="45000" h="38000">
                  <a:moveTo>
                    <a:pt x="0" y="9880"/>
                  </a:moveTo>
                  <a:lnTo>
                    <a:pt x="0" y="28120"/>
                  </a:lnTo>
                  <a:lnTo>
                    <a:pt x="23850" y="28120"/>
                  </a:lnTo>
                  <a:lnTo>
                    <a:pt x="23850" y="38000"/>
                  </a:lnTo>
                  <a:lnTo>
                    <a:pt x="45000" y="19000"/>
                  </a:lnTo>
                  <a:lnTo>
                    <a:pt x="23850" y="0"/>
                  </a:lnTo>
                  <a:lnTo>
                    <a:pt x="23850" y="9880"/>
                  </a:lnTo>
                  <a:close/>
                </a:path>
              </a:pathLst>
            </a:custGeom>
            <a:solidFill>
              <a:srgbClr val="FFFFFF"/>
            </a:solidFill>
            <a:ln w="38100" cap="flat" cmpd="sng">
              <a:solidFill>
                <a:srgbClr val="000000"/>
              </a:solidFill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837" name="Feature relation distillation"/>
            <p:cNvGrpSpPr/>
            <p:nvPr/>
          </p:nvGrpSpPr>
          <p:grpSpPr>
            <a:xfrm>
              <a:off x="9267825" y="4762500"/>
              <a:ext cx="4210050" cy="3648837"/>
              <a:chOff x="9267825" y="4762500"/>
              <a:chExt cx="4210050" cy="3648837"/>
            </a:xfrm>
          </p:grpSpPr>
          <p:sp>
            <p:nvSpPr>
              <p:cNvPr id="751" name="Old feature space background"/>
              <p:cNvSpPr/>
              <p:nvPr/>
            </p:nvSpPr>
            <p:spPr>
              <a:xfrm>
                <a:off x="9267825" y="4762500"/>
                <a:ext cx="4210050" cy="1581150"/>
              </a:xfrm>
              <a:prstGeom prst="roundRect">
                <a:avLst>
                  <a:gd name="adj" fmla="val 19277"/>
                </a:avLst>
              </a:prstGeom>
              <a:solidFill>
                <a:srgbClr val="D9D9D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770" name="Old feature graph 1"/>
              <p:cNvGrpSpPr/>
              <p:nvPr/>
            </p:nvGrpSpPr>
            <p:grpSpPr>
              <a:xfrm>
                <a:off x="9344025" y="4829175"/>
                <a:ext cx="1466850" cy="1057275"/>
                <a:chOff x="9344025" y="4829175"/>
                <a:chExt cx="1466850" cy="1057275"/>
              </a:xfrm>
            </p:grpSpPr>
            <p:sp>
              <p:nvSpPr>
                <p:cNvPr id="752" name="Feature space dotted boundary"/>
                <p:cNvSpPr/>
                <p:nvPr/>
              </p:nvSpPr>
              <p:spPr>
                <a:xfrm>
                  <a:off x="9344025" y="4829175"/>
                  <a:ext cx="1466850" cy="10572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4000" h="111000">
                      <a:moveTo>
                        <a:pt x="42000" y="0"/>
                      </a:moveTo>
                      <a:lnTo>
                        <a:pt x="154000" y="28000"/>
                      </a:lnTo>
                      <a:lnTo>
                        <a:pt x="109000" y="111000"/>
                      </a:lnTo>
                      <a:lnTo>
                        <a:pt x="0" y="8700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5B7FC1"/>
                  </a:solidFill>
                  <a:custDash>
                    <a:ds d="100000" sp="100000"/>
                  </a:custDash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cxnSp>
              <p:nvCxnSpPr>
                <p:cNvPr id="753" name="Feature relation"/>
                <p:cNvCxnSpPr/>
                <p:nvPr/>
              </p:nvCxnSpPr>
              <p:spPr>
                <a:xfrm flipH="1">
                  <a:off x="9753600" y="5086350"/>
                  <a:ext cx="314325" cy="152400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754" name="Feature relation"/>
                <p:cNvCxnSpPr/>
                <p:nvPr/>
              </p:nvCxnSpPr>
              <p:spPr>
                <a:xfrm>
                  <a:off x="10067925" y="5086350"/>
                  <a:ext cx="266700" cy="152400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755" name="Feature relation"/>
                <p:cNvCxnSpPr/>
                <p:nvPr/>
              </p:nvCxnSpPr>
              <p:spPr>
                <a:xfrm flipH="1">
                  <a:off x="9848850" y="5086350"/>
                  <a:ext cx="219075" cy="438150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756" name="Feature relation"/>
                <p:cNvCxnSpPr/>
                <p:nvPr/>
              </p:nvCxnSpPr>
              <p:spPr>
                <a:xfrm>
                  <a:off x="10067925" y="5086350"/>
                  <a:ext cx="219075" cy="590550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757" name="Feature relation"/>
                <p:cNvCxnSpPr/>
                <p:nvPr/>
              </p:nvCxnSpPr>
              <p:spPr>
                <a:xfrm>
                  <a:off x="9753600" y="5238750"/>
                  <a:ext cx="581025" cy="0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758" name="Feature relation"/>
                <p:cNvCxnSpPr/>
                <p:nvPr/>
              </p:nvCxnSpPr>
              <p:spPr>
                <a:xfrm>
                  <a:off x="9753600" y="5238750"/>
                  <a:ext cx="95250" cy="285750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759" name="Feature relation"/>
                <p:cNvCxnSpPr/>
                <p:nvPr/>
              </p:nvCxnSpPr>
              <p:spPr>
                <a:xfrm>
                  <a:off x="9753600" y="5238750"/>
                  <a:ext cx="533400" cy="438150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760" name="Feature relation"/>
                <p:cNvCxnSpPr/>
                <p:nvPr/>
              </p:nvCxnSpPr>
              <p:spPr>
                <a:xfrm flipH="1">
                  <a:off x="9848850" y="5238750"/>
                  <a:ext cx="485775" cy="285750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761" name="Feature relation"/>
                <p:cNvCxnSpPr/>
                <p:nvPr/>
              </p:nvCxnSpPr>
              <p:spPr>
                <a:xfrm flipH="1">
                  <a:off x="10287000" y="5238750"/>
                  <a:ext cx="47625" cy="438150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762" name="Feature relation"/>
                <p:cNvCxnSpPr/>
                <p:nvPr/>
              </p:nvCxnSpPr>
              <p:spPr>
                <a:xfrm>
                  <a:off x="9848850" y="5524500"/>
                  <a:ext cx="438150" cy="152400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sp>
              <p:nvSpPr>
                <p:cNvPr id="763" name="Circle feature"/>
                <p:cNvSpPr/>
                <p:nvPr/>
              </p:nvSpPr>
              <p:spPr>
                <a:xfrm>
                  <a:off x="9991725" y="5010150"/>
                  <a:ext cx="152400" cy="152400"/>
                </a:xfrm>
                <a:prstGeom prst="ellipse">
                  <a:avLst/>
                </a:prstGeom>
                <a:solidFill>
                  <a:srgbClr val="2E75B6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4" name="Square feature"/>
                <p:cNvSpPr/>
                <p:nvPr/>
              </p:nvSpPr>
              <p:spPr>
                <a:xfrm>
                  <a:off x="9677400" y="5162550"/>
                  <a:ext cx="152400" cy="152400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5" name="Triangle feature"/>
                <p:cNvSpPr/>
                <p:nvPr/>
              </p:nvSpPr>
              <p:spPr>
                <a:xfrm>
                  <a:off x="10257472" y="5153025"/>
                  <a:ext cx="154305" cy="14573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6200" h="15300">
                      <a:moveTo>
                        <a:pt x="8100" y="0"/>
                      </a:moveTo>
                      <a:lnTo>
                        <a:pt x="0" y="15300"/>
                      </a:lnTo>
                      <a:lnTo>
                        <a:pt x="16200" y="15300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6" name="Triangle feature"/>
                <p:cNvSpPr/>
                <p:nvPr/>
              </p:nvSpPr>
              <p:spPr>
                <a:xfrm>
                  <a:off x="9771698" y="5438775"/>
                  <a:ext cx="154305" cy="14573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6200" h="15300">
                      <a:moveTo>
                        <a:pt x="8100" y="0"/>
                      </a:moveTo>
                      <a:lnTo>
                        <a:pt x="0" y="15300"/>
                      </a:lnTo>
                      <a:lnTo>
                        <a:pt x="16200" y="15300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7" name="Star feature"/>
                <p:cNvSpPr/>
                <p:nvPr/>
              </p:nvSpPr>
              <p:spPr>
                <a:xfrm>
                  <a:off x="10196412" y="5581650"/>
                  <a:ext cx="181176" cy="17230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9021" h="18090">
                      <a:moveTo>
                        <a:pt x="9511" y="0"/>
                      </a:moveTo>
                      <a:lnTo>
                        <a:pt x="11685" y="7007"/>
                      </a:lnTo>
                      <a:lnTo>
                        <a:pt x="19021" y="6910"/>
                      </a:lnTo>
                      <a:lnTo>
                        <a:pt x="13029" y="11143"/>
                      </a:lnTo>
                      <a:lnTo>
                        <a:pt x="15388" y="18090"/>
                      </a:lnTo>
                      <a:lnTo>
                        <a:pt x="9511" y="13700"/>
                      </a:lnTo>
                      <a:lnTo>
                        <a:pt x="3633" y="18090"/>
                      </a:lnTo>
                      <a:lnTo>
                        <a:pt x="5992" y="11143"/>
                      </a:lnTo>
                      <a:lnTo>
                        <a:pt x="0" y="6910"/>
                      </a:lnTo>
                      <a:lnTo>
                        <a:pt x="7336" y="7007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8" name="Feature weights W1"/>
                <p:cNvSpPr txBox="1"/>
                <p:nvPr/>
              </p:nvSpPr>
              <p:spPr>
                <a:xfrm>
                  <a:off x="9477375" y="5372633"/>
                  <a:ext cx="280340" cy="346710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rIns="0" tIns="0" bIns="0" anchor="t">
                  <a:noAutofit/>
                </a:bodyPr>
                <a:lstStyle/>
                <a:p>
                  <a:pPr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2100" b="0" i="0" kern="0">
                      <a:ln w="3200">
                        <a:solidFill>
                          <a:srgbClr val="000000"/>
                        </a:solidFill>
                      </a:ln>
                      <a:solidFill>
                        <a:srgbClr val="000000"/>
                      </a:solidFill>
                      <a:latin typeface="Latin Modern Math"/>
                    </a:rPr>
                    <a:t>𝑊</a:t>
                  </a:r>
                  <a:endParaRPr sz="2100"/>
                </a:p>
              </p:txBody>
            </p:sp>
            <p:sp>
              <p:nvSpPr>
                <p:cNvPr id="769" name="Feature weights W1"/>
                <p:cNvSpPr txBox="1"/>
                <p:nvPr/>
              </p:nvSpPr>
              <p:spPr>
                <a:xfrm>
                  <a:off x="9729140" y="5515356"/>
                  <a:ext cx="123825" cy="247650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rIns="0" tIns="0" bIns="0" anchor="t">
                  <a:noAutofit/>
                </a:bodyPr>
                <a:lstStyle/>
                <a:p>
                  <a:pPr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500" b="0" i="0" kern="0">
                      <a:ln w="2286">
                        <a:solidFill>
                          <a:srgbClr val="000000"/>
                        </a:solidFill>
                      </a:ln>
                      <a:solidFill>
                        <a:srgbClr val="000000"/>
                      </a:solidFill>
                      <a:latin typeface="Latin Modern Math"/>
                    </a:rPr>
                    <a:t>1</a:t>
                  </a:r>
                  <a:endParaRPr sz="1500"/>
                </a:p>
              </p:txBody>
            </p:sp>
          </p:grpSp>
          <p:grpSp>
            <p:nvGrpSpPr>
              <p:cNvPr id="789" name="Old feature graph 2"/>
              <p:cNvGrpSpPr/>
              <p:nvPr/>
            </p:nvGrpSpPr>
            <p:grpSpPr>
              <a:xfrm>
                <a:off x="10810875" y="4914900"/>
                <a:ext cx="1162050" cy="1048131"/>
                <a:chOff x="10810875" y="4914900"/>
                <a:chExt cx="1162050" cy="1048131"/>
              </a:xfrm>
            </p:grpSpPr>
            <p:sp>
              <p:nvSpPr>
                <p:cNvPr id="771" name="Feature space dotted boundary"/>
                <p:cNvSpPr/>
                <p:nvPr/>
              </p:nvSpPr>
              <p:spPr>
                <a:xfrm>
                  <a:off x="10810875" y="4914900"/>
                  <a:ext cx="1162050" cy="10096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22000" h="106000">
                      <a:moveTo>
                        <a:pt x="11000" y="13000"/>
                      </a:moveTo>
                      <a:lnTo>
                        <a:pt x="122000" y="0"/>
                      </a:lnTo>
                      <a:lnTo>
                        <a:pt x="107000" y="96000"/>
                      </a:lnTo>
                      <a:lnTo>
                        <a:pt x="0" y="10600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5B7FC1"/>
                  </a:solidFill>
                  <a:custDash>
                    <a:ds d="100000" sp="100000"/>
                  </a:custDash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cxnSp>
              <p:nvCxnSpPr>
                <p:cNvPr id="772" name="Feature relation"/>
                <p:cNvCxnSpPr/>
                <p:nvPr/>
              </p:nvCxnSpPr>
              <p:spPr>
                <a:xfrm flipH="1">
                  <a:off x="11068050" y="5114925"/>
                  <a:ext cx="295275" cy="209550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773" name="Feature relation"/>
                <p:cNvCxnSpPr/>
                <p:nvPr/>
              </p:nvCxnSpPr>
              <p:spPr>
                <a:xfrm>
                  <a:off x="11363325" y="5114925"/>
                  <a:ext cx="285750" cy="161925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774" name="Feature relation"/>
                <p:cNvCxnSpPr/>
                <p:nvPr/>
              </p:nvCxnSpPr>
              <p:spPr>
                <a:xfrm flipH="1">
                  <a:off x="11153775" y="5114925"/>
                  <a:ext cx="209550" cy="542925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775" name="Feature relation"/>
                <p:cNvCxnSpPr/>
                <p:nvPr/>
              </p:nvCxnSpPr>
              <p:spPr>
                <a:xfrm>
                  <a:off x="11363325" y="5114925"/>
                  <a:ext cx="323850" cy="561975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776" name="Feature relation"/>
                <p:cNvCxnSpPr/>
                <p:nvPr/>
              </p:nvCxnSpPr>
              <p:spPr>
                <a:xfrm flipV="1">
                  <a:off x="11068050" y="5276850"/>
                  <a:ext cx="581025" cy="47625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777" name="Feature relation"/>
                <p:cNvCxnSpPr/>
                <p:nvPr/>
              </p:nvCxnSpPr>
              <p:spPr>
                <a:xfrm>
                  <a:off x="11068050" y="5324475"/>
                  <a:ext cx="85725" cy="333375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778" name="Feature relation"/>
                <p:cNvCxnSpPr/>
                <p:nvPr/>
              </p:nvCxnSpPr>
              <p:spPr>
                <a:xfrm>
                  <a:off x="11068050" y="5324475"/>
                  <a:ext cx="619125" cy="352425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779" name="Feature relation"/>
                <p:cNvCxnSpPr/>
                <p:nvPr/>
              </p:nvCxnSpPr>
              <p:spPr>
                <a:xfrm flipH="1">
                  <a:off x="11153775" y="5276850"/>
                  <a:ext cx="495300" cy="381000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780" name="Feature relation"/>
                <p:cNvCxnSpPr/>
                <p:nvPr/>
              </p:nvCxnSpPr>
              <p:spPr>
                <a:xfrm>
                  <a:off x="11649075" y="5276850"/>
                  <a:ext cx="38100" cy="400050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781" name="Feature relation"/>
                <p:cNvCxnSpPr/>
                <p:nvPr/>
              </p:nvCxnSpPr>
              <p:spPr>
                <a:xfrm>
                  <a:off x="11153775" y="5657850"/>
                  <a:ext cx="533400" cy="19050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sp>
              <p:nvSpPr>
                <p:cNvPr id="782" name="Circle feature"/>
                <p:cNvSpPr/>
                <p:nvPr/>
              </p:nvSpPr>
              <p:spPr>
                <a:xfrm>
                  <a:off x="11287125" y="5038725"/>
                  <a:ext cx="152400" cy="152400"/>
                </a:xfrm>
                <a:prstGeom prst="ellipse">
                  <a:avLst/>
                </a:prstGeom>
                <a:solidFill>
                  <a:srgbClr val="2E75B6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83" name="Square feature"/>
                <p:cNvSpPr/>
                <p:nvPr/>
              </p:nvSpPr>
              <p:spPr>
                <a:xfrm>
                  <a:off x="10991850" y="5248275"/>
                  <a:ext cx="152400" cy="152400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84" name="Triangle feature"/>
                <p:cNvSpPr/>
                <p:nvPr/>
              </p:nvSpPr>
              <p:spPr>
                <a:xfrm>
                  <a:off x="11571922" y="5191125"/>
                  <a:ext cx="154305" cy="14573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6200" h="15300">
                      <a:moveTo>
                        <a:pt x="8100" y="0"/>
                      </a:moveTo>
                      <a:lnTo>
                        <a:pt x="0" y="15300"/>
                      </a:lnTo>
                      <a:lnTo>
                        <a:pt x="16200" y="15300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85" name="Triangle feature"/>
                <p:cNvSpPr/>
                <p:nvPr/>
              </p:nvSpPr>
              <p:spPr>
                <a:xfrm>
                  <a:off x="11076622" y="5572125"/>
                  <a:ext cx="154305" cy="14573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6200" h="15300">
                      <a:moveTo>
                        <a:pt x="8100" y="0"/>
                      </a:moveTo>
                      <a:lnTo>
                        <a:pt x="0" y="15300"/>
                      </a:lnTo>
                      <a:lnTo>
                        <a:pt x="16200" y="15300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86" name="Star feature"/>
                <p:cNvSpPr/>
                <p:nvPr/>
              </p:nvSpPr>
              <p:spPr>
                <a:xfrm>
                  <a:off x="11596587" y="5581650"/>
                  <a:ext cx="181176" cy="17230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9021" h="18090">
                      <a:moveTo>
                        <a:pt x="9511" y="0"/>
                      </a:moveTo>
                      <a:lnTo>
                        <a:pt x="11685" y="7007"/>
                      </a:lnTo>
                      <a:lnTo>
                        <a:pt x="19021" y="6910"/>
                      </a:lnTo>
                      <a:lnTo>
                        <a:pt x="13029" y="11143"/>
                      </a:lnTo>
                      <a:lnTo>
                        <a:pt x="15388" y="18090"/>
                      </a:lnTo>
                      <a:lnTo>
                        <a:pt x="9511" y="13700"/>
                      </a:lnTo>
                      <a:lnTo>
                        <a:pt x="3633" y="18090"/>
                      </a:lnTo>
                      <a:lnTo>
                        <a:pt x="5992" y="11143"/>
                      </a:lnTo>
                      <a:lnTo>
                        <a:pt x="0" y="6910"/>
                      </a:lnTo>
                      <a:lnTo>
                        <a:pt x="7336" y="7007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87" name="Feature weights W2"/>
                <p:cNvSpPr txBox="1"/>
                <p:nvPr/>
              </p:nvSpPr>
              <p:spPr>
                <a:xfrm>
                  <a:off x="10858500" y="5572658"/>
                  <a:ext cx="280340" cy="346710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rIns="0" tIns="0" bIns="0" anchor="t">
                  <a:noAutofit/>
                </a:bodyPr>
                <a:lstStyle/>
                <a:p>
                  <a:pPr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2100" b="0" i="0" kern="0">
                      <a:ln w="3200">
                        <a:solidFill>
                          <a:srgbClr val="000000"/>
                        </a:solidFill>
                      </a:ln>
                      <a:solidFill>
                        <a:srgbClr val="000000"/>
                      </a:solidFill>
                      <a:latin typeface="Latin Modern Math"/>
                    </a:rPr>
                    <a:t>𝑊</a:t>
                  </a:r>
                  <a:endParaRPr sz="2100"/>
                </a:p>
              </p:txBody>
            </p:sp>
            <p:sp>
              <p:nvSpPr>
                <p:cNvPr id="788" name="Feature weights W2"/>
                <p:cNvSpPr txBox="1"/>
                <p:nvPr/>
              </p:nvSpPr>
              <p:spPr>
                <a:xfrm>
                  <a:off x="11110265" y="5715381"/>
                  <a:ext cx="123825" cy="247650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rIns="0" tIns="0" bIns="0" anchor="t">
                  <a:noAutofit/>
                </a:bodyPr>
                <a:lstStyle/>
                <a:p>
                  <a:pPr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500" b="0" i="0" kern="0">
                      <a:ln w="2286">
                        <a:solidFill>
                          <a:srgbClr val="000000"/>
                        </a:solidFill>
                      </a:ln>
                      <a:solidFill>
                        <a:srgbClr val="000000"/>
                      </a:solidFill>
                      <a:latin typeface="Latin Modern Math"/>
                    </a:rPr>
                    <a:t>2</a:t>
                  </a:r>
                  <a:endParaRPr sz="1500"/>
                </a:p>
              </p:txBody>
            </p:sp>
          </p:grpSp>
          <p:sp>
            <p:nvSpPr>
              <p:cNvPr id="790" name="⋯"/>
              <p:cNvSpPr txBox="1"/>
              <p:nvPr/>
            </p:nvSpPr>
            <p:spPr>
              <a:xfrm>
                <a:off x="11982450" y="5087112"/>
                <a:ext cx="324230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ln w="4572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⋯</a:t>
                </a:r>
                <a:endParaRPr sz="3000"/>
              </a:p>
            </p:txBody>
          </p:sp>
          <p:grpSp>
            <p:nvGrpSpPr>
              <p:cNvPr id="809" name="Old feature graph K"/>
              <p:cNvGrpSpPr/>
              <p:nvPr/>
            </p:nvGrpSpPr>
            <p:grpSpPr>
              <a:xfrm>
                <a:off x="12287250" y="4819650"/>
                <a:ext cx="1085850" cy="1104900"/>
                <a:chOff x="12287250" y="4819650"/>
                <a:chExt cx="1085850" cy="1104900"/>
              </a:xfrm>
            </p:grpSpPr>
            <p:sp>
              <p:nvSpPr>
                <p:cNvPr id="791" name="Feature space dotted boundary"/>
                <p:cNvSpPr/>
                <p:nvPr/>
              </p:nvSpPr>
              <p:spPr>
                <a:xfrm>
                  <a:off x="12287250" y="4819650"/>
                  <a:ext cx="1085850" cy="11049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14000" h="116000">
                      <a:moveTo>
                        <a:pt x="6000" y="20000"/>
                      </a:moveTo>
                      <a:lnTo>
                        <a:pt x="114000" y="0"/>
                      </a:lnTo>
                      <a:lnTo>
                        <a:pt x="109000" y="101000"/>
                      </a:lnTo>
                      <a:lnTo>
                        <a:pt x="0" y="11600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5B7FC1"/>
                  </a:solidFill>
                  <a:custDash>
                    <a:ds d="100000" sp="100000"/>
                  </a:custDash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cxnSp>
              <p:nvCxnSpPr>
                <p:cNvPr id="792" name="Feature relation"/>
                <p:cNvCxnSpPr/>
                <p:nvPr/>
              </p:nvCxnSpPr>
              <p:spPr>
                <a:xfrm flipH="1">
                  <a:off x="12534900" y="5067300"/>
                  <a:ext cx="314325" cy="180975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793" name="Feature relation"/>
                <p:cNvCxnSpPr/>
                <p:nvPr/>
              </p:nvCxnSpPr>
              <p:spPr>
                <a:xfrm>
                  <a:off x="12849225" y="5067300"/>
                  <a:ext cx="266700" cy="104775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794" name="Feature relation"/>
                <p:cNvCxnSpPr/>
                <p:nvPr/>
              </p:nvCxnSpPr>
              <p:spPr>
                <a:xfrm flipH="1">
                  <a:off x="12687300" y="5067300"/>
                  <a:ext cx="161925" cy="485775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795" name="Feature relation"/>
                <p:cNvCxnSpPr/>
                <p:nvPr/>
              </p:nvCxnSpPr>
              <p:spPr>
                <a:xfrm>
                  <a:off x="12849225" y="5067300"/>
                  <a:ext cx="266700" cy="523875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796" name="Feature relation"/>
                <p:cNvCxnSpPr/>
                <p:nvPr/>
              </p:nvCxnSpPr>
              <p:spPr>
                <a:xfrm flipV="1">
                  <a:off x="12534900" y="5172075"/>
                  <a:ext cx="581025" cy="76200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797" name="Feature relation"/>
                <p:cNvCxnSpPr/>
                <p:nvPr/>
              </p:nvCxnSpPr>
              <p:spPr>
                <a:xfrm>
                  <a:off x="12534900" y="5248275"/>
                  <a:ext cx="152400" cy="304800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798" name="Feature relation"/>
                <p:cNvCxnSpPr/>
                <p:nvPr/>
              </p:nvCxnSpPr>
              <p:spPr>
                <a:xfrm>
                  <a:off x="12534900" y="5248275"/>
                  <a:ext cx="581025" cy="342900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799" name="Feature relation"/>
                <p:cNvCxnSpPr/>
                <p:nvPr/>
              </p:nvCxnSpPr>
              <p:spPr>
                <a:xfrm flipH="1">
                  <a:off x="12687300" y="5172075"/>
                  <a:ext cx="428625" cy="381000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800" name="Feature relation"/>
                <p:cNvCxnSpPr/>
                <p:nvPr/>
              </p:nvCxnSpPr>
              <p:spPr>
                <a:xfrm>
                  <a:off x="13115925" y="5172075"/>
                  <a:ext cx="0" cy="419100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801" name="Feature relation"/>
                <p:cNvCxnSpPr/>
                <p:nvPr/>
              </p:nvCxnSpPr>
              <p:spPr>
                <a:xfrm>
                  <a:off x="12687300" y="5553075"/>
                  <a:ext cx="428625" cy="38100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sp>
              <p:nvSpPr>
                <p:cNvPr id="802" name="Circle feature"/>
                <p:cNvSpPr/>
                <p:nvPr/>
              </p:nvSpPr>
              <p:spPr>
                <a:xfrm>
                  <a:off x="12773025" y="4991100"/>
                  <a:ext cx="152400" cy="152400"/>
                </a:xfrm>
                <a:prstGeom prst="ellipse">
                  <a:avLst/>
                </a:prstGeom>
                <a:solidFill>
                  <a:srgbClr val="2E75B6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3" name="Square feature"/>
                <p:cNvSpPr/>
                <p:nvPr/>
              </p:nvSpPr>
              <p:spPr>
                <a:xfrm>
                  <a:off x="12458700" y="5172075"/>
                  <a:ext cx="152400" cy="152400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4" name="Triangle feature"/>
                <p:cNvSpPr/>
                <p:nvPr/>
              </p:nvSpPr>
              <p:spPr>
                <a:xfrm>
                  <a:off x="13038772" y="5086350"/>
                  <a:ext cx="154305" cy="14573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6200" h="15300">
                      <a:moveTo>
                        <a:pt x="8100" y="0"/>
                      </a:moveTo>
                      <a:lnTo>
                        <a:pt x="0" y="15300"/>
                      </a:lnTo>
                      <a:lnTo>
                        <a:pt x="16200" y="15300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5" name="Triangle feature"/>
                <p:cNvSpPr/>
                <p:nvPr/>
              </p:nvSpPr>
              <p:spPr>
                <a:xfrm>
                  <a:off x="12610148" y="5467350"/>
                  <a:ext cx="154305" cy="14573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6200" h="15300">
                      <a:moveTo>
                        <a:pt x="8100" y="0"/>
                      </a:moveTo>
                      <a:lnTo>
                        <a:pt x="0" y="15300"/>
                      </a:lnTo>
                      <a:lnTo>
                        <a:pt x="16200" y="15300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6" name="Star feature"/>
                <p:cNvSpPr/>
                <p:nvPr/>
              </p:nvSpPr>
              <p:spPr>
                <a:xfrm>
                  <a:off x="13025337" y="5495925"/>
                  <a:ext cx="181176" cy="17230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9021" h="18090">
                      <a:moveTo>
                        <a:pt x="9511" y="0"/>
                      </a:moveTo>
                      <a:lnTo>
                        <a:pt x="11685" y="7007"/>
                      </a:lnTo>
                      <a:lnTo>
                        <a:pt x="19021" y="6910"/>
                      </a:lnTo>
                      <a:lnTo>
                        <a:pt x="13029" y="11143"/>
                      </a:lnTo>
                      <a:lnTo>
                        <a:pt x="15388" y="18090"/>
                      </a:lnTo>
                      <a:lnTo>
                        <a:pt x="9511" y="13700"/>
                      </a:lnTo>
                      <a:lnTo>
                        <a:pt x="3633" y="18090"/>
                      </a:lnTo>
                      <a:lnTo>
                        <a:pt x="5992" y="11143"/>
                      </a:lnTo>
                      <a:lnTo>
                        <a:pt x="0" y="6910"/>
                      </a:lnTo>
                      <a:lnTo>
                        <a:pt x="7336" y="7007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7" name="Feature weights WK"/>
                <p:cNvSpPr txBox="1"/>
                <p:nvPr/>
              </p:nvSpPr>
              <p:spPr>
                <a:xfrm>
                  <a:off x="12344400" y="5515508"/>
                  <a:ext cx="280340" cy="346710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rIns="0" tIns="0" bIns="0" anchor="t">
                  <a:noAutofit/>
                </a:bodyPr>
                <a:lstStyle/>
                <a:p>
                  <a:pPr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2100" b="0" i="0" kern="0">
                      <a:ln w="3200">
                        <a:solidFill>
                          <a:srgbClr val="000000"/>
                        </a:solidFill>
                      </a:ln>
                      <a:solidFill>
                        <a:srgbClr val="000000"/>
                      </a:solidFill>
                      <a:latin typeface="Latin Modern Math"/>
                    </a:rPr>
                    <a:t>𝑊</a:t>
                  </a:r>
                  <a:endParaRPr sz="2100"/>
                </a:p>
              </p:txBody>
            </p:sp>
            <p:sp>
              <p:nvSpPr>
                <p:cNvPr id="808" name="Feature weights WK"/>
                <p:cNvSpPr txBox="1"/>
                <p:nvPr/>
              </p:nvSpPr>
              <p:spPr>
                <a:xfrm>
                  <a:off x="12596165" y="5658231"/>
                  <a:ext cx="190307" cy="247650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rIns="0" tIns="0" bIns="0" anchor="t">
                  <a:noAutofit/>
                </a:bodyPr>
                <a:lstStyle/>
                <a:p>
                  <a:pPr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500" b="0" i="0" kern="0">
                      <a:ln w="2286">
                        <a:solidFill>
                          <a:srgbClr val="000000"/>
                        </a:solidFill>
                      </a:ln>
                      <a:solidFill>
                        <a:srgbClr val="000000"/>
                      </a:solidFill>
                      <a:latin typeface="Latin Modern Math"/>
                    </a:rPr>
                    <a:t>𝐾</a:t>
                  </a:r>
                  <a:endParaRPr sz="1500"/>
                </a:p>
              </p:txBody>
            </p:sp>
          </p:grpSp>
          <p:sp>
            <p:nvSpPr>
              <p:cNvPr id="810" name="Old feature space"/>
              <p:cNvSpPr txBox="1"/>
              <p:nvPr/>
            </p:nvSpPr>
            <p:spPr>
              <a:xfrm>
                <a:off x="9878169" y="5868162"/>
                <a:ext cx="2694087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solidFill>
                      <a:srgbClr val="000000"/>
                    </a:solidFill>
                    <a:latin typeface="Times New Roman"/>
                  </a:rPr>
                  <a:t>Old feature space</a:t>
                </a:r>
                <a:endParaRPr sz="3000"/>
              </a:p>
            </p:txBody>
          </p:sp>
          <p:sp>
            <p:nvSpPr>
              <p:cNvPr id="811" name="Old feature loss arrow"/>
              <p:cNvSpPr/>
              <p:nvPr/>
            </p:nvSpPr>
            <p:spPr>
              <a:xfrm>
                <a:off x="11068050" y="6315075"/>
                <a:ext cx="257175" cy="200025"/>
              </a:xfrm>
              <a:custGeom>
                <a:avLst/>
                <a:gdLst/>
                <a:ahLst/>
                <a:cxnLst/>
                <a:rect l="0" t="0" r="r" b="b"/>
                <a:pathLst>
                  <a:path w="27000" h="21000">
                    <a:moveTo>
                      <a:pt x="7020" y="0"/>
                    </a:moveTo>
                    <a:lnTo>
                      <a:pt x="19980" y="0"/>
                    </a:lnTo>
                    <a:lnTo>
                      <a:pt x="19980" y="11130"/>
                    </a:lnTo>
                    <a:lnTo>
                      <a:pt x="27000" y="11130"/>
                    </a:lnTo>
                    <a:lnTo>
                      <a:pt x="13500" y="21000"/>
                    </a:lnTo>
                    <a:lnTo>
                      <a:pt x="0" y="11130"/>
                    </a:lnTo>
                    <a:lnTo>
                      <a:pt x="7020" y="11130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2" name="CTIRD loss"/>
              <p:cNvSpPr/>
              <p:nvPr/>
            </p:nvSpPr>
            <p:spPr>
              <a:xfrm>
                <a:off x="10544175" y="6543675"/>
                <a:ext cx="1333500" cy="419100"/>
              </a:xfrm>
              <a:prstGeom prst="roundRect">
                <a:avLst>
                  <a:gd name="adj" fmla="val 18181"/>
                </a:avLst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3" name="L CTIRD"/>
              <p:cNvSpPr txBox="1"/>
              <p:nvPr/>
            </p:nvSpPr>
            <p:spPr>
              <a:xfrm>
                <a:off x="10620710" y="6468237"/>
                <a:ext cx="321945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ln w="4572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ℒ</a:t>
                </a:r>
                <a:endParaRPr sz="3000"/>
              </a:p>
            </p:txBody>
          </p:sp>
          <p:sp>
            <p:nvSpPr>
              <p:cNvPr id="814" name="L CTIRD"/>
              <p:cNvSpPr txBox="1"/>
              <p:nvPr/>
            </p:nvSpPr>
            <p:spPr>
              <a:xfrm>
                <a:off x="10914080" y="6648983"/>
                <a:ext cx="915635" cy="34671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100" b="0" i="0" kern="0">
                    <a:ln w="3200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𝐶𝑇𝐼𝑅𝐷</a:t>
                </a:r>
                <a:endParaRPr sz="2100"/>
              </a:p>
            </p:txBody>
          </p:sp>
          <p:sp>
            <p:nvSpPr>
              <p:cNvPr id="815" name="New feature loss arrow"/>
              <p:cNvSpPr/>
              <p:nvPr/>
            </p:nvSpPr>
            <p:spPr>
              <a:xfrm>
                <a:off x="11058525" y="6972300"/>
                <a:ext cx="266700" cy="219075"/>
              </a:xfrm>
              <a:custGeom>
                <a:avLst/>
                <a:gdLst/>
                <a:ahLst/>
                <a:cxnLst/>
                <a:rect l="0" t="0" r="r" b="b"/>
                <a:pathLst>
                  <a:path w="28000" h="23000">
                    <a:moveTo>
                      <a:pt x="7280" y="23000"/>
                    </a:moveTo>
                    <a:lnTo>
                      <a:pt x="20720" y="23000"/>
                    </a:lnTo>
                    <a:lnTo>
                      <a:pt x="20720" y="10810"/>
                    </a:lnTo>
                    <a:lnTo>
                      <a:pt x="28000" y="10810"/>
                    </a:lnTo>
                    <a:lnTo>
                      <a:pt x="14000" y="0"/>
                    </a:lnTo>
                    <a:lnTo>
                      <a:pt x="0" y="10810"/>
                    </a:lnTo>
                    <a:lnTo>
                      <a:pt x="7280" y="10810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6" name="New feature space background"/>
              <p:cNvSpPr/>
              <p:nvPr/>
            </p:nvSpPr>
            <p:spPr>
              <a:xfrm>
                <a:off x="9267825" y="7181850"/>
                <a:ext cx="4210050" cy="1181100"/>
              </a:xfrm>
              <a:prstGeom prst="roundRect">
                <a:avLst>
                  <a:gd name="adj" fmla="val 18548"/>
                </a:avLst>
              </a:prstGeom>
              <a:solidFill>
                <a:srgbClr val="FFF2CC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835" name="New feature graph t"/>
              <p:cNvGrpSpPr/>
              <p:nvPr/>
            </p:nvGrpSpPr>
            <p:grpSpPr>
              <a:xfrm>
                <a:off x="10363200" y="7210425"/>
                <a:ext cx="1514475" cy="819531"/>
                <a:chOff x="10363200" y="7210425"/>
                <a:chExt cx="1514475" cy="819531"/>
              </a:xfrm>
            </p:grpSpPr>
            <p:sp>
              <p:nvSpPr>
                <p:cNvPr id="817" name="Feature space dotted boundary"/>
                <p:cNvSpPr/>
                <p:nvPr/>
              </p:nvSpPr>
              <p:spPr>
                <a:xfrm>
                  <a:off x="10363200" y="7210425"/>
                  <a:ext cx="1514475" cy="77152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9000" h="81000">
                      <a:moveTo>
                        <a:pt x="21000" y="0"/>
                      </a:moveTo>
                      <a:lnTo>
                        <a:pt x="159000" y="0"/>
                      </a:lnTo>
                      <a:lnTo>
                        <a:pt x="140000" y="81000"/>
                      </a:lnTo>
                      <a:lnTo>
                        <a:pt x="0" y="8000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ED7D31"/>
                  </a:solidFill>
                  <a:custDash>
                    <a:ds d="100000" sp="100000"/>
                  </a:custDash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cxnSp>
              <p:nvCxnSpPr>
                <p:cNvPr id="818" name="Feature relation"/>
                <p:cNvCxnSpPr/>
                <p:nvPr/>
              </p:nvCxnSpPr>
              <p:spPr>
                <a:xfrm flipH="1">
                  <a:off x="10744200" y="7343775"/>
                  <a:ext cx="409575" cy="161925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819" name="Feature relation"/>
                <p:cNvCxnSpPr/>
                <p:nvPr/>
              </p:nvCxnSpPr>
              <p:spPr>
                <a:xfrm>
                  <a:off x="11153775" y="7343775"/>
                  <a:ext cx="495300" cy="9525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820" name="Feature relation"/>
                <p:cNvCxnSpPr/>
                <p:nvPr/>
              </p:nvCxnSpPr>
              <p:spPr>
                <a:xfrm flipH="1">
                  <a:off x="10925175" y="7343775"/>
                  <a:ext cx="228600" cy="466725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821" name="Feature relation"/>
                <p:cNvCxnSpPr/>
                <p:nvPr/>
              </p:nvCxnSpPr>
              <p:spPr>
                <a:xfrm>
                  <a:off x="11153775" y="7343775"/>
                  <a:ext cx="352425" cy="523875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822" name="Feature relation"/>
                <p:cNvCxnSpPr/>
                <p:nvPr/>
              </p:nvCxnSpPr>
              <p:spPr>
                <a:xfrm flipV="1">
                  <a:off x="10744200" y="7353300"/>
                  <a:ext cx="904875" cy="152400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823" name="Feature relation"/>
                <p:cNvCxnSpPr/>
                <p:nvPr/>
              </p:nvCxnSpPr>
              <p:spPr>
                <a:xfrm>
                  <a:off x="10744200" y="7505700"/>
                  <a:ext cx="180975" cy="304800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824" name="Feature relation"/>
                <p:cNvCxnSpPr/>
                <p:nvPr/>
              </p:nvCxnSpPr>
              <p:spPr>
                <a:xfrm>
                  <a:off x="10744200" y="7505700"/>
                  <a:ext cx="762000" cy="361950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825" name="Feature relation"/>
                <p:cNvCxnSpPr/>
                <p:nvPr/>
              </p:nvCxnSpPr>
              <p:spPr>
                <a:xfrm flipH="1">
                  <a:off x="10925175" y="7353300"/>
                  <a:ext cx="723900" cy="457200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826" name="Feature relation"/>
                <p:cNvCxnSpPr/>
                <p:nvPr/>
              </p:nvCxnSpPr>
              <p:spPr>
                <a:xfrm flipH="1">
                  <a:off x="11506200" y="7353300"/>
                  <a:ext cx="142875" cy="514350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cxnSp>
              <p:nvCxnSpPr>
                <p:cNvPr id="827" name="Feature relation"/>
                <p:cNvCxnSpPr/>
                <p:nvPr/>
              </p:nvCxnSpPr>
              <p:spPr>
                <a:xfrm>
                  <a:off x="10925175" y="7810500"/>
                  <a:ext cx="581025" cy="57150"/>
                </a:xfrm>
                <a:prstGeom prst="line">
                  <a:avLst/>
                </a:prstGeom>
                <a:ln w="20002">
                  <a:solidFill>
                    <a:srgbClr val="000000"/>
                  </a:solidFill>
                </a:ln>
                <a:effectLst/>
              </p:spPr>
            </p:cxnSp>
            <p:sp>
              <p:nvSpPr>
                <p:cNvPr id="828" name="Circle feature"/>
                <p:cNvSpPr/>
                <p:nvPr/>
              </p:nvSpPr>
              <p:spPr>
                <a:xfrm>
                  <a:off x="11077575" y="7267575"/>
                  <a:ext cx="152400" cy="152400"/>
                </a:xfrm>
                <a:prstGeom prst="ellipse">
                  <a:avLst/>
                </a:prstGeom>
                <a:solidFill>
                  <a:srgbClr val="EC648F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29" name="Square feature"/>
                <p:cNvSpPr/>
                <p:nvPr/>
              </p:nvSpPr>
              <p:spPr>
                <a:xfrm>
                  <a:off x="10668000" y="7429500"/>
                  <a:ext cx="152400" cy="152400"/>
                </a:xfrm>
                <a:prstGeom prst="rect">
                  <a:avLst/>
                </a:prstGeom>
                <a:solidFill>
                  <a:srgbClr val="EC648F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30" name="Triangle feature"/>
                <p:cNvSpPr/>
                <p:nvPr/>
              </p:nvSpPr>
              <p:spPr>
                <a:xfrm>
                  <a:off x="11571922" y="7267575"/>
                  <a:ext cx="154305" cy="14573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6200" h="15300">
                      <a:moveTo>
                        <a:pt x="8100" y="0"/>
                      </a:moveTo>
                      <a:lnTo>
                        <a:pt x="0" y="15300"/>
                      </a:lnTo>
                      <a:lnTo>
                        <a:pt x="16200" y="15300"/>
                      </a:lnTo>
                      <a:close/>
                    </a:path>
                  </a:pathLst>
                </a:custGeom>
                <a:solidFill>
                  <a:srgbClr val="EC648F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31" name="Triangle feature"/>
                <p:cNvSpPr/>
                <p:nvPr/>
              </p:nvSpPr>
              <p:spPr>
                <a:xfrm>
                  <a:off x="10848022" y="7724775"/>
                  <a:ext cx="154305" cy="14573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6200" h="15300">
                      <a:moveTo>
                        <a:pt x="8100" y="0"/>
                      </a:moveTo>
                      <a:lnTo>
                        <a:pt x="0" y="15300"/>
                      </a:lnTo>
                      <a:lnTo>
                        <a:pt x="16200" y="15300"/>
                      </a:lnTo>
                      <a:close/>
                    </a:path>
                  </a:pathLst>
                </a:custGeom>
                <a:solidFill>
                  <a:srgbClr val="EC648F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32" name="Star feature"/>
                <p:cNvSpPr/>
                <p:nvPr/>
              </p:nvSpPr>
              <p:spPr>
                <a:xfrm>
                  <a:off x="11415612" y="7772400"/>
                  <a:ext cx="181176" cy="17230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9021" h="18090">
                      <a:moveTo>
                        <a:pt x="9511" y="0"/>
                      </a:moveTo>
                      <a:lnTo>
                        <a:pt x="11685" y="7007"/>
                      </a:lnTo>
                      <a:lnTo>
                        <a:pt x="19021" y="6910"/>
                      </a:lnTo>
                      <a:lnTo>
                        <a:pt x="13029" y="11143"/>
                      </a:lnTo>
                      <a:lnTo>
                        <a:pt x="15388" y="18090"/>
                      </a:lnTo>
                      <a:lnTo>
                        <a:pt x="9511" y="13700"/>
                      </a:lnTo>
                      <a:lnTo>
                        <a:pt x="3633" y="18090"/>
                      </a:lnTo>
                      <a:lnTo>
                        <a:pt x="5992" y="11143"/>
                      </a:lnTo>
                      <a:lnTo>
                        <a:pt x="0" y="6910"/>
                      </a:lnTo>
                      <a:lnTo>
                        <a:pt x="7336" y="7007"/>
                      </a:lnTo>
                      <a:close/>
                    </a:path>
                  </a:pathLst>
                </a:custGeom>
                <a:solidFill>
                  <a:srgbClr val="EC648F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33" name="Feature weights Wt"/>
                <p:cNvSpPr txBox="1"/>
                <p:nvPr/>
              </p:nvSpPr>
              <p:spPr>
                <a:xfrm>
                  <a:off x="10458450" y="7639583"/>
                  <a:ext cx="280340" cy="346710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rIns="0" tIns="0" bIns="0" anchor="t">
                  <a:noAutofit/>
                </a:bodyPr>
                <a:lstStyle/>
                <a:p>
                  <a:pPr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2100" b="0" i="0" kern="0">
                      <a:ln w="3200">
                        <a:solidFill>
                          <a:srgbClr val="000000"/>
                        </a:solidFill>
                      </a:ln>
                      <a:solidFill>
                        <a:srgbClr val="000000"/>
                      </a:solidFill>
                      <a:latin typeface="Latin Modern Math"/>
                    </a:rPr>
                    <a:t>𝑊</a:t>
                  </a:r>
                  <a:endParaRPr sz="2100"/>
                </a:p>
              </p:txBody>
            </p:sp>
            <p:sp>
              <p:nvSpPr>
                <p:cNvPr id="834" name="Feature weights Wt"/>
                <p:cNvSpPr txBox="1"/>
                <p:nvPr/>
              </p:nvSpPr>
              <p:spPr>
                <a:xfrm>
                  <a:off x="10710215" y="7782306"/>
                  <a:ext cx="97348" cy="247650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rIns="0" tIns="0" bIns="0" anchor="t">
                  <a:noAutofit/>
                </a:bodyPr>
                <a:lstStyle/>
                <a:p>
                  <a:pPr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500" b="0" i="0" kern="0">
                      <a:ln w="2286">
                        <a:solidFill>
                          <a:srgbClr val="000000"/>
                        </a:solidFill>
                      </a:ln>
                      <a:solidFill>
                        <a:srgbClr val="000000"/>
                      </a:solidFill>
                      <a:latin typeface="Latin Modern Math"/>
                    </a:rPr>
                    <a:t>𝑡</a:t>
                  </a:r>
                  <a:endParaRPr sz="1500"/>
                </a:p>
              </p:txBody>
            </p:sp>
          </p:grpSp>
          <p:sp>
            <p:nvSpPr>
              <p:cNvPr id="836" name="New feature space"/>
              <p:cNvSpPr txBox="1"/>
              <p:nvPr/>
            </p:nvSpPr>
            <p:spPr>
              <a:xfrm>
                <a:off x="9804220" y="7916037"/>
                <a:ext cx="2841985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solidFill>
                      <a:srgbClr val="000000"/>
                    </a:solidFill>
                    <a:latin typeface="Times New Roman"/>
                  </a:rPr>
                  <a:t>New feature space</a:t>
                </a:r>
                <a:endParaRPr sz="3000"/>
              </a:p>
            </p:txBody>
          </p:sp>
        </p:grpSp>
      </p:grpSp>
      <p:grpSp>
        <p:nvGrpSpPr>
          <p:cNvPr id="840" name="Inference to training transfer"/>
          <p:cNvGrpSpPr/>
          <p:nvPr/>
        </p:nvGrpSpPr>
        <p:grpSpPr>
          <a:xfrm>
            <a:off x="6638925" y="4038600"/>
            <a:ext cx="419100" cy="666750"/>
            <a:chOff x="6638925" y="4038600"/>
            <a:chExt cx="419100" cy="666750"/>
          </a:xfrm>
        </p:grpSpPr>
        <p:sp>
          <p:nvSpPr>
            <p:cNvPr id="839" name="Inference head training arrow"/>
            <p:cNvSpPr/>
            <p:nvPr/>
          </p:nvSpPr>
          <p:spPr>
            <a:xfrm>
              <a:off x="6638925" y="4038600"/>
              <a:ext cx="419100" cy="666750"/>
            </a:xfrm>
            <a:custGeom>
              <a:avLst/>
              <a:gdLst/>
              <a:ahLst/>
              <a:cxnLst/>
              <a:rect l="0" t="0" r="r" b="b"/>
              <a:pathLst>
                <a:path w="44000" h="70000">
                  <a:moveTo>
                    <a:pt x="13000" y="0"/>
                  </a:moveTo>
                  <a:lnTo>
                    <a:pt x="34000" y="0"/>
                  </a:lnTo>
                  <a:lnTo>
                    <a:pt x="34000" y="51000"/>
                  </a:lnTo>
                  <a:lnTo>
                    <a:pt x="44000" y="51000"/>
                  </a:lnTo>
                  <a:lnTo>
                    <a:pt x="23000" y="70000"/>
                  </a:lnTo>
                  <a:lnTo>
                    <a:pt x="0" y="51000"/>
                  </a:lnTo>
                  <a:lnTo>
                    <a:pt x="13000" y="51000"/>
                  </a:lnTo>
                  <a:close/>
                </a:path>
              </a:pathLst>
            </a:custGeom>
            <a:solidFill>
              <a:srgbClr val="D9D9D9"/>
            </a:solidFill>
            <a:ln w="38100" cap="flat" cmpd="sng">
              <a:solidFill>
                <a:srgbClr val="000000"/>
              </a:solidFill>
              <a:miter lim="800000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5" name="Rematching strategy"/>
          <p:cNvGrpSpPr/>
          <p:nvPr/>
        </p:nvGrpSpPr>
        <p:grpSpPr>
          <a:xfrm>
            <a:off x="14097000" y="105537"/>
            <a:ext cx="4435283" cy="8352663"/>
            <a:chOff x="14097000" y="105537"/>
            <a:chExt cx="4435283" cy="8352663"/>
          </a:xfrm>
        </p:grpSpPr>
        <p:sp>
          <p:nvSpPr>
            <p:cNvPr id="841" name="Rematching"/>
            <p:cNvSpPr txBox="1"/>
            <p:nvPr/>
          </p:nvSpPr>
          <p:spPr>
            <a:xfrm>
              <a:off x="14097000" y="105537"/>
              <a:ext cx="1996827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b="1" i="0" kern="0">
                  <a:solidFill>
                    <a:srgbClr val="FF0000"/>
                  </a:solidFill>
                  <a:latin typeface="Times New Roman"/>
                </a:rPr>
                <a:t>Rematching</a:t>
              </a:r>
              <a:endParaRPr sz="3000"/>
            </a:p>
          </p:txBody>
        </p:sp>
        <p:grpSp>
          <p:nvGrpSpPr>
            <p:cNvPr id="888" name="Direct rematching flow"/>
            <p:cNvGrpSpPr/>
            <p:nvPr/>
          </p:nvGrpSpPr>
          <p:grpSpPr>
            <a:xfrm>
              <a:off x="14116050" y="505644"/>
              <a:ext cx="3460906" cy="3646742"/>
              <a:chOff x="14116050" y="505644"/>
              <a:chExt cx="3460906" cy="3646742"/>
            </a:xfrm>
          </p:grpSpPr>
          <p:sp>
            <p:nvSpPr>
              <p:cNvPr id="842" name="Direct rematching background"/>
              <p:cNvSpPr/>
              <p:nvPr/>
            </p:nvSpPr>
            <p:spPr>
              <a:xfrm>
                <a:off x="14116050" y="581025"/>
                <a:ext cx="3133725" cy="3524250"/>
              </a:xfrm>
              <a:prstGeom prst="rect">
                <a:avLst/>
              </a:prstGeom>
              <a:solidFill>
                <a:srgbClr val="DDEAF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3" name="Direct classifier banner"/>
              <p:cNvSpPr/>
              <p:nvPr/>
            </p:nvSpPr>
            <p:spPr>
              <a:xfrm>
                <a:off x="14430375" y="590550"/>
                <a:ext cx="2286000" cy="409575"/>
              </a:xfrm>
              <a:prstGeom prst="rect">
                <a:avLst/>
              </a:prstGeom>
              <a:solidFill>
                <a:srgbClr val="8FAADC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4" name="Classifier g theta g"/>
              <p:cNvSpPr txBox="1"/>
              <p:nvPr/>
            </p:nvSpPr>
            <p:spPr>
              <a:xfrm>
                <a:off x="14628610" y="534162"/>
                <a:ext cx="1584015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solidFill>
                      <a:srgbClr val="FFFFFF"/>
                    </a:solidFill>
                    <a:latin typeface="Times New Roman"/>
                  </a:rPr>
                  <a:t>Classifier </a:t>
                </a:r>
                <a:endParaRPr sz="3000"/>
              </a:p>
            </p:txBody>
          </p:sp>
          <p:sp>
            <p:nvSpPr>
              <p:cNvPr id="845" name="Classifier g theta g"/>
              <p:cNvSpPr txBox="1"/>
              <p:nvPr/>
            </p:nvSpPr>
            <p:spPr>
              <a:xfrm>
                <a:off x="16184050" y="505644"/>
                <a:ext cx="224037" cy="53244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225" b="0" i="0" kern="0">
                    <a:ln w="4915">
                      <a:solidFill>
                        <a:srgbClr val="FFFFFF"/>
                      </a:solidFill>
                    </a:ln>
                    <a:solidFill>
                      <a:srgbClr val="FFFFFF"/>
                    </a:solidFill>
                    <a:latin typeface="Latin Modern Math"/>
                  </a:rPr>
                  <a:t>𝑔</a:t>
                </a:r>
                <a:endParaRPr sz="3225"/>
              </a:p>
            </p:txBody>
          </p:sp>
          <p:sp>
            <p:nvSpPr>
              <p:cNvPr id="846" name="Classifier g theta g"/>
              <p:cNvSpPr txBox="1"/>
              <p:nvPr/>
            </p:nvSpPr>
            <p:spPr>
              <a:xfrm>
                <a:off x="16379417" y="657796"/>
                <a:ext cx="162595" cy="37147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250" b="0" i="0" kern="0">
                    <a:ln w="3429">
                      <a:solidFill>
                        <a:srgbClr val="FFFFFF"/>
                      </a:solidFill>
                    </a:ln>
                    <a:solidFill>
                      <a:srgbClr val="FFFFFF"/>
                    </a:solidFill>
                    <a:latin typeface="Latin Modern Math"/>
                  </a:rPr>
                  <a:t>𝜃</a:t>
                </a:r>
                <a:endParaRPr sz="2250"/>
              </a:p>
            </p:txBody>
          </p:sp>
          <p:sp>
            <p:nvSpPr>
              <p:cNvPr id="847" name="Classifier g theta g"/>
              <p:cNvSpPr txBox="1"/>
              <p:nvPr/>
            </p:nvSpPr>
            <p:spPr>
              <a:xfrm>
                <a:off x="16513437" y="800519"/>
                <a:ext cx="128528" cy="27241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50" b="0" i="0" kern="0">
                    <a:ln w="2515">
                      <a:solidFill>
                        <a:srgbClr val="FFFFFF"/>
                      </a:solidFill>
                    </a:ln>
                    <a:solidFill>
                      <a:srgbClr val="FFFFFF"/>
                    </a:solidFill>
                    <a:latin typeface="Latin Modern Math"/>
                  </a:rPr>
                  <a:t>𝑔</a:t>
                </a:r>
                <a:endParaRPr sz="1650"/>
              </a:p>
            </p:txBody>
          </p:sp>
          <p:cxnSp>
            <p:nvCxnSpPr>
              <p:cNvPr id="848" name="Element 819"/>
              <p:cNvCxnSpPr/>
              <p:nvPr/>
            </p:nvCxnSpPr>
            <p:spPr>
              <a:xfrm>
                <a:off x="15525750" y="1019175"/>
                <a:ext cx="0" cy="129921"/>
              </a:xfrm>
              <a:prstGeom prst="line">
                <a:avLst/>
              </a:prstGeom>
              <a:ln w="38100">
                <a:solidFill>
                  <a:srgbClr val="000000"/>
                </a:solidFill>
              </a:ln>
              <a:effectLst/>
            </p:spPr>
          </p:cxnSp>
          <p:sp>
            <p:nvSpPr>
              <p:cNvPr id="849" name="Arrow arrowhead"/>
              <p:cNvSpPr/>
              <p:nvPr/>
            </p:nvSpPr>
            <p:spPr>
              <a:xfrm>
                <a:off x="15401925" y="1066800"/>
                <a:ext cx="247650" cy="228600"/>
              </a:xfrm>
              <a:custGeom>
                <a:avLst/>
                <a:gdLst/>
                <a:ahLst/>
                <a:cxnLst/>
                <a:rect l="0" t="0" r="r" b="b"/>
                <a:pathLst>
                  <a:path w="26000" h="24000">
                    <a:moveTo>
                      <a:pt x="13000" y="24000"/>
                    </a:moveTo>
                    <a:lnTo>
                      <a:pt x="0" y="0"/>
                    </a:lnTo>
                    <a:lnTo>
                      <a:pt x="13000" y="8640"/>
                    </a:lnTo>
                    <a:lnTo>
                      <a:pt x="260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0" name="Predicted class box"/>
              <p:cNvSpPr/>
              <p:nvPr/>
            </p:nvSpPr>
            <p:spPr>
              <a:xfrm>
                <a:off x="14544675" y="1304925"/>
                <a:ext cx="1914525" cy="495300"/>
              </a:xfrm>
              <a:prstGeom prst="roundRect">
                <a:avLst>
                  <a:gd name="adj" fmla="val 19230"/>
                </a:avLst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1" name="Class y hat"/>
              <p:cNvSpPr txBox="1"/>
              <p:nvPr/>
            </p:nvSpPr>
            <p:spPr>
              <a:xfrm>
                <a:off x="14872052" y="1305687"/>
                <a:ext cx="949449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solidFill>
                      <a:srgbClr val="000000"/>
                    </a:solidFill>
                    <a:latin typeface="Times New Roman"/>
                  </a:rPr>
                  <a:t>Class </a:t>
                </a:r>
                <a:endParaRPr sz="3000"/>
              </a:p>
            </p:txBody>
          </p:sp>
          <p:sp>
            <p:nvSpPr>
              <p:cNvPr id="852" name="Class y hat"/>
              <p:cNvSpPr txBox="1"/>
              <p:nvPr/>
            </p:nvSpPr>
            <p:spPr>
              <a:xfrm>
                <a:off x="15792926" y="1286675"/>
                <a:ext cx="224597" cy="52006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150" b="0" i="0" kern="0">
                    <a:ln w="4801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𝑦</a:t>
                </a:r>
                <a:endParaRPr sz="3150"/>
              </a:p>
            </p:txBody>
          </p:sp>
          <p:sp>
            <p:nvSpPr>
              <p:cNvPr id="853" name="Editable mathematical accent"/>
              <p:cNvSpPr/>
              <p:nvPr/>
            </p:nvSpPr>
            <p:spPr>
              <a:xfrm>
                <a:off x="15892537" y="1417892"/>
                <a:ext cx="92012" cy="48006"/>
              </a:xfrm>
              <a:custGeom>
                <a:avLst/>
                <a:gdLst/>
                <a:ahLst/>
                <a:cxnLst/>
                <a:rect l="0" t="0" r="r" b="b"/>
                <a:pathLst>
                  <a:path w="9660" h="5040">
                    <a:moveTo>
                      <a:pt x="0" y="5040"/>
                    </a:moveTo>
                    <a:lnTo>
                      <a:pt x="4830" y="0"/>
                    </a:lnTo>
                    <a:lnTo>
                      <a:pt x="9660" y="5040"/>
                    </a:lnTo>
                  </a:path>
                </a:pathLst>
              </a:custGeom>
              <a:noFill/>
              <a:ln w="26003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854" name="Element 825"/>
              <p:cNvCxnSpPr/>
              <p:nvPr/>
            </p:nvCxnSpPr>
            <p:spPr>
              <a:xfrm>
                <a:off x="15525750" y="1809750"/>
                <a:ext cx="0" cy="78867"/>
              </a:xfrm>
              <a:prstGeom prst="line">
                <a:avLst/>
              </a:prstGeom>
              <a:ln w="38100">
                <a:solidFill>
                  <a:srgbClr val="000000"/>
                </a:solidFill>
              </a:ln>
              <a:effectLst/>
            </p:spPr>
          </p:cxnSp>
          <p:sp>
            <p:nvSpPr>
              <p:cNvPr id="855" name="Arrow arrowhead"/>
              <p:cNvSpPr/>
              <p:nvPr/>
            </p:nvSpPr>
            <p:spPr>
              <a:xfrm>
                <a:off x="15401925" y="1809750"/>
                <a:ext cx="247650" cy="219075"/>
              </a:xfrm>
              <a:custGeom>
                <a:avLst/>
                <a:gdLst/>
                <a:ahLst/>
                <a:cxnLst/>
                <a:rect l="0" t="0" r="r" b="b"/>
                <a:pathLst>
                  <a:path w="26000" h="23000">
                    <a:moveTo>
                      <a:pt x="13000" y="23000"/>
                    </a:moveTo>
                    <a:lnTo>
                      <a:pt x="0" y="0"/>
                    </a:lnTo>
                    <a:lnTo>
                      <a:pt x="13000" y="8280"/>
                    </a:lnTo>
                    <a:lnTo>
                      <a:pt x="260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6" name="Class-derived task ID box"/>
              <p:cNvSpPr/>
              <p:nvPr/>
            </p:nvSpPr>
            <p:spPr>
              <a:xfrm>
                <a:off x="14563725" y="2038350"/>
                <a:ext cx="1914525" cy="504825"/>
              </a:xfrm>
              <a:prstGeom prst="roundRect">
                <a:avLst>
                  <a:gd name="adj" fmla="val 20754"/>
                </a:avLst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7" name="Task ID t hat s"/>
              <p:cNvSpPr txBox="1"/>
              <p:nvPr/>
            </p:nvSpPr>
            <p:spPr>
              <a:xfrm>
                <a:off x="14737739" y="2048637"/>
                <a:ext cx="1335100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solidFill>
                      <a:srgbClr val="000000"/>
                    </a:solidFill>
                    <a:latin typeface="Times New Roman"/>
                  </a:rPr>
                  <a:t>Task ID </a:t>
                </a:r>
                <a:endParaRPr sz="3000"/>
              </a:p>
            </p:txBody>
          </p:sp>
          <p:sp>
            <p:nvSpPr>
              <p:cNvPr id="858" name="Task ID t hat s"/>
              <p:cNvSpPr txBox="1"/>
              <p:nvPr/>
            </p:nvSpPr>
            <p:spPr>
              <a:xfrm>
                <a:off x="16044263" y="2029625"/>
                <a:ext cx="172990" cy="52006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150" b="0" i="0" kern="0">
                    <a:ln w="4801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𝑡</a:t>
                </a:r>
                <a:endParaRPr sz="3150"/>
              </a:p>
            </p:txBody>
          </p:sp>
          <p:sp>
            <p:nvSpPr>
              <p:cNvPr id="859" name="Task ID t hat s"/>
              <p:cNvSpPr txBox="1"/>
              <p:nvPr/>
            </p:nvSpPr>
            <p:spPr>
              <a:xfrm>
                <a:off x="16188679" y="2257958"/>
                <a:ext cx="153658" cy="34671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100" b="0" i="0" kern="0">
                    <a:ln w="3200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𝑠</a:t>
                </a:r>
                <a:endParaRPr sz="2100"/>
              </a:p>
            </p:txBody>
          </p:sp>
          <p:sp>
            <p:nvSpPr>
              <p:cNvPr id="860" name="Editable mathematical accent"/>
              <p:cNvSpPr/>
              <p:nvPr/>
            </p:nvSpPr>
            <p:spPr>
              <a:xfrm>
                <a:off x="16112910" y="2116836"/>
                <a:ext cx="92011" cy="48006"/>
              </a:xfrm>
              <a:custGeom>
                <a:avLst/>
                <a:gdLst/>
                <a:ahLst/>
                <a:cxnLst/>
                <a:rect l="0" t="0" r="r" b="b"/>
                <a:pathLst>
                  <a:path w="9660" h="5040">
                    <a:moveTo>
                      <a:pt x="0" y="5040"/>
                    </a:moveTo>
                    <a:lnTo>
                      <a:pt x="4830" y="0"/>
                    </a:lnTo>
                    <a:lnTo>
                      <a:pt x="9660" y="5040"/>
                    </a:lnTo>
                  </a:path>
                </a:pathLst>
              </a:custGeom>
              <a:noFill/>
              <a:ln w="26003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861" name="Element 832"/>
              <p:cNvCxnSpPr/>
              <p:nvPr/>
            </p:nvCxnSpPr>
            <p:spPr>
              <a:xfrm>
                <a:off x="15525750" y="2552700"/>
                <a:ext cx="0" cy="107442"/>
              </a:xfrm>
              <a:prstGeom prst="line">
                <a:avLst/>
              </a:prstGeom>
              <a:ln w="38100">
                <a:solidFill>
                  <a:srgbClr val="000000"/>
                </a:solidFill>
              </a:ln>
              <a:effectLst/>
            </p:spPr>
          </p:cxnSp>
          <p:sp>
            <p:nvSpPr>
              <p:cNvPr id="862" name="Arrow arrowhead"/>
              <p:cNvSpPr/>
              <p:nvPr/>
            </p:nvSpPr>
            <p:spPr>
              <a:xfrm>
                <a:off x="15401925" y="2581275"/>
                <a:ext cx="247650" cy="219075"/>
              </a:xfrm>
              <a:custGeom>
                <a:avLst/>
                <a:gdLst/>
                <a:ahLst/>
                <a:cxnLst/>
                <a:rect l="0" t="0" r="r" b="b"/>
                <a:pathLst>
                  <a:path w="26000" h="23000">
                    <a:moveTo>
                      <a:pt x="13000" y="23000"/>
                    </a:moveTo>
                    <a:lnTo>
                      <a:pt x="0" y="0"/>
                    </a:lnTo>
                    <a:lnTo>
                      <a:pt x="13000" y="8280"/>
                    </a:lnTo>
                    <a:lnTo>
                      <a:pt x="260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3" name="Compare predicted task IDs"/>
              <p:cNvSpPr/>
              <p:nvPr/>
            </p:nvSpPr>
            <p:spPr>
              <a:xfrm>
                <a:off x="14544675" y="2800350"/>
                <a:ext cx="1962150" cy="923925"/>
              </a:xfrm>
              <a:custGeom>
                <a:avLst/>
                <a:gdLst/>
                <a:ahLst/>
                <a:cxnLst/>
                <a:rect l="0" t="0" r="r" b="b"/>
                <a:pathLst>
                  <a:path w="206000" h="97000">
                    <a:moveTo>
                      <a:pt x="103000" y="0"/>
                    </a:moveTo>
                    <a:lnTo>
                      <a:pt x="206000" y="48000"/>
                    </a:lnTo>
                    <a:lnTo>
                      <a:pt x="103000" y="97000"/>
                    </a:lnTo>
                    <a:lnTo>
                      <a:pt x="0" y="4800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4" name="tf differs from ts"/>
              <p:cNvSpPr txBox="1"/>
              <p:nvPr/>
            </p:nvSpPr>
            <p:spPr>
              <a:xfrm>
                <a:off x="15043658" y="3020225"/>
                <a:ext cx="172990" cy="52006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150" b="0" i="0" kern="0">
                    <a:ln w="4801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𝑡</a:t>
                </a:r>
                <a:endParaRPr sz="3150"/>
              </a:p>
            </p:txBody>
          </p:sp>
          <p:sp>
            <p:nvSpPr>
              <p:cNvPr id="865" name="tf differs from ts"/>
              <p:cNvSpPr txBox="1"/>
              <p:nvPr/>
            </p:nvSpPr>
            <p:spPr>
              <a:xfrm>
                <a:off x="15188074" y="3258083"/>
                <a:ext cx="159261" cy="34671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100" b="0" i="0" kern="0">
                    <a:ln w="3200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𝑓</a:t>
                </a:r>
                <a:endParaRPr sz="2100"/>
              </a:p>
            </p:txBody>
          </p:sp>
          <p:sp>
            <p:nvSpPr>
              <p:cNvPr id="866" name="tf differs from ts"/>
              <p:cNvSpPr txBox="1"/>
              <p:nvPr/>
            </p:nvSpPr>
            <p:spPr>
              <a:xfrm>
                <a:off x="15318760" y="3020225"/>
                <a:ext cx="448159" cy="52006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150" b="0" i="0" kern="0">
                    <a:solidFill>
                      <a:srgbClr val="000000"/>
                    </a:solidFill>
                    <a:latin typeface="Times New Roman"/>
                  </a:rPr>
                  <a:t> ≠ </a:t>
                </a:r>
                <a:endParaRPr sz="3150"/>
              </a:p>
            </p:txBody>
          </p:sp>
          <p:sp>
            <p:nvSpPr>
              <p:cNvPr id="867" name="tf differs from ts"/>
              <p:cNvSpPr txBox="1"/>
              <p:nvPr/>
            </p:nvSpPr>
            <p:spPr>
              <a:xfrm>
                <a:off x="15738344" y="3020225"/>
                <a:ext cx="172990" cy="52006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150" b="0" i="0" kern="0">
                    <a:ln w="4801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𝑡</a:t>
                </a:r>
                <a:endParaRPr sz="3150"/>
              </a:p>
            </p:txBody>
          </p:sp>
          <p:sp>
            <p:nvSpPr>
              <p:cNvPr id="868" name="tf differs from ts"/>
              <p:cNvSpPr txBox="1"/>
              <p:nvPr/>
            </p:nvSpPr>
            <p:spPr>
              <a:xfrm>
                <a:off x="15882759" y="3258083"/>
                <a:ext cx="153658" cy="34671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100" b="0" i="0" kern="0">
                    <a:ln w="3200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𝑠</a:t>
                </a:r>
                <a:endParaRPr sz="2100"/>
              </a:p>
            </p:txBody>
          </p:sp>
          <p:sp>
            <p:nvSpPr>
              <p:cNvPr id="869" name="Editable mathematical accent"/>
              <p:cNvSpPr/>
              <p:nvPr/>
            </p:nvSpPr>
            <p:spPr>
              <a:xfrm>
                <a:off x="15112305" y="3107436"/>
                <a:ext cx="92012" cy="48006"/>
              </a:xfrm>
              <a:custGeom>
                <a:avLst/>
                <a:gdLst/>
                <a:ahLst/>
                <a:cxnLst/>
                <a:rect l="0" t="0" r="r" b="b"/>
                <a:pathLst>
                  <a:path w="9660" h="5040">
                    <a:moveTo>
                      <a:pt x="0" y="5040"/>
                    </a:moveTo>
                    <a:lnTo>
                      <a:pt x="4830" y="0"/>
                    </a:lnTo>
                    <a:lnTo>
                      <a:pt x="9660" y="5040"/>
                    </a:lnTo>
                  </a:path>
                </a:pathLst>
              </a:custGeom>
              <a:noFill/>
              <a:ln w="26003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0" name="Editable mathematical accent"/>
              <p:cNvSpPr/>
              <p:nvPr/>
            </p:nvSpPr>
            <p:spPr>
              <a:xfrm>
                <a:off x="15806991" y="3107436"/>
                <a:ext cx="92012" cy="48006"/>
              </a:xfrm>
              <a:custGeom>
                <a:avLst/>
                <a:gdLst/>
                <a:ahLst/>
                <a:cxnLst/>
                <a:rect l="0" t="0" r="r" b="b"/>
                <a:pathLst>
                  <a:path w="9660" h="5040">
                    <a:moveTo>
                      <a:pt x="0" y="5040"/>
                    </a:moveTo>
                    <a:lnTo>
                      <a:pt x="4830" y="0"/>
                    </a:lnTo>
                    <a:lnTo>
                      <a:pt x="9660" y="5040"/>
                    </a:lnTo>
                  </a:path>
                </a:pathLst>
              </a:custGeom>
              <a:noFill/>
              <a:ln w="26003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871" name="Element 842"/>
              <p:cNvCxnSpPr/>
              <p:nvPr/>
            </p:nvCxnSpPr>
            <p:spPr>
              <a:xfrm flipH="1">
                <a:off x="14373225" y="3257550"/>
                <a:ext cx="171450" cy="0"/>
              </a:xfrm>
              <a:prstGeom prst="line">
                <a:avLst/>
              </a:prstGeom>
              <a:ln w="38100">
                <a:solidFill>
                  <a:srgbClr val="000000"/>
                </a:solidFill>
              </a:ln>
              <a:effectLst/>
            </p:spPr>
          </p:cxnSp>
          <p:cxnSp>
            <p:nvCxnSpPr>
              <p:cNvPr id="872" name="Element 843"/>
              <p:cNvCxnSpPr/>
              <p:nvPr/>
            </p:nvCxnSpPr>
            <p:spPr>
              <a:xfrm>
                <a:off x="14373225" y="3257550"/>
                <a:ext cx="0" cy="187071"/>
              </a:xfrm>
              <a:prstGeom prst="line">
                <a:avLst/>
              </a:prstGeom>
              <a:ln w="38100">
                <a:solidFill>
                  <a:srgbClr val="000000"/>
                </a:solidFill>
              </a:ln>
              <a:effectLst/>
            </p:spPr>
          </p:cxnSp>
          <p:sp>
            <p:nvSpPr>
              <p:cNvPr id="873" name="Arrow arrowhead"/>
              <p:cNvSpPr/>
              <p:nvPr/>
            </p:nvSpPr>
            <p:spPr>
              <a:xfrm>
                <a:off x="14249400" y="3362325"/>
                <a:ext cx="247650" cy="228600"/>
              </a:xfrm>
              <a:custGeom>
                <a:avLst/>
                <a:gdLst/>
                <a:ahLst/>
                <a:cxnLst/>
                <a:rect l="0" t="0" r="r" b="b"/>
                <a:pathLst>
                  <a:path w="26000" h="24000">
                    <a:moveTo>
                      <a:pt x="13000" y="24000"/>
                    </a:moveTo>
                    <a:lnTo>
                      <a:pt x="0" y="0"/>
                    </a:lnTo>
                    <a:lnTo>
                      <a:pt x="13000" y="8640"/>
                    </a:lnTo>
                    <a:lnTo>
                      <a:pt x="260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874" name="Element 845"/>
              <p:cNvCxnSpPr/>
              <p:nvPr/>
            </p:nvCxnSpPr>
            <p:spPr>
              <a:xfrm>
                <a:off x="16506825" y="3257550"/>
                <a:ext cx="209550" cy="0"/>
              </a:xfrm>
              <a:prstGeom prst="line">
                <a:avLst/>
              </a:prstGeom>
              <a:ln w="38100">
                <a:solidFill>
                  <a:srgbClr val="000000"/>
                </a:solidFill>
              </a:ln>
              <a:effectLst/>
            </p:spPr>
          </p:cxnSp>
          <p:cxnSp>
            <p:nvCxnSpPr>
              <p:cNvPr id="875" name="Element 846"/>
              <p:cNvCxnSpPr/>
              <p:nvPr/>
            </p:nvCxnSpPr>
            <p:spPr>
              <a:xfrm>
                <a:off x="16716375" y="3257550"/>
                <a:ext cx="0" cy="187071"/>
              </a:xfrm>
              <a:prstGeom prst="line">
                <a:avLst/>
              </a:prstGeom>
              <a:ln w="38100">
                <a:solidFill>
                  <a:srgbClr val="000000"/>
                </a:solidFill>
              </a:ln>
              <a:effectLst/>
            </p:spPr>
          </p:cxnSp>
          <p:sp>
            <p:nvSpPr>
              <p:cNvPr id="876" name="Arrow arrowhead"/>
              <p:cNvSpPr/>
              <p:nvPr/>
            </p:nvSpPr>
            <p:spPr>
              <a:xfrm>
                <a:off x="16592550" y="3362325"/>
                <a:ext cx="247650" cy="228600"/>
              </a:xfrm>
              <a:custGeom>
                <a:avLst/>
                <a:gdLst/>
                <a:ahLst/>
                <a:cxnLst/>
                <a:rect l="0" t="0" r="r" b="b"/>
                <a:pathLst>
                  <a:path w="26000" h="24000">
                    <a:moveTo>
                      <a:pt x="13000" y="24000"/>
                    </a:moveTo>
                    <a:lnTo>
                      <a:pt x="0" y="0"/>
                    </a:lnTo>
                    <a:lnTo>
                      <a:pt x="13000" y="8640"/>
                    </a:lnTo>
                    <a:lnTo>
                      <a:pt x="260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7" name="Yes"/>
              <p:cNvSpPr txBox="1"/>
              <p:nvPr/>
            </p:nvSpPr>
            <p:spPr>
              <a:xfrm>
                <a:off x="14125575" y="2801112"/>
                <a:ext cx="582960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solidFill>
                      <a:srgbClr val="000000"/>
                    </a:solidFill>
                    <a:latin typeface="Times New Roman"/>
                  </a:rPr>
                  <a:t>Yes</a:t>
                </a:r>
                <a:endParaRPr sz="3000"/>
              </a:p>
            </p:txBody>
          </p:sp>
          <p:sp>
            <p:nvSpPr>
              <p:cNvPr id="878" name="No"/>
              <p:cNvSpPr txBox="1"/>
              <p:nvPr/>
            </p:nvSpPr>
            <p:spPr>
              <a:xfrm>
                <a:off x="16506825" y="2810637"/>
                <a:ext cx="494221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solidFill>
                      <a:srgbClr val="000000"/>
                    </a:solidFill>
                    <a:latin typeface="Times New Roman"/>
                  </a:rPr>
                  <a:t>No</a:t>
                </a:r>
                <a:endParaRPr sz="3000"/>
              </a:p>
            </p:txBody>
          </p:sp>
          <p:sp>
            <p:nvSpPr>
              <p:cNvPr id="879" name="Choose rematched parameter"/>
              <p:cNvSpPr txBox="1"/>
              <p:nvPr/>
            </p:nvSpPr>
            <p:spPr>
              <a:xfrm>
                <a:off x="14230350" y="3553625"/>
                <a:ext cx="229798" cy="52006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150" b="0" i="0" kern="0">
                    <a:ln w="4801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𝑝</a:t>
                </a:r>
                <a:endParaRPr sz="3150"/>
              </a:p>
            </p:txBody>
          </p:sp>
          <p:sp>
            <p:nvSpPr>
              <p:cNvPr id="880" name="Choose rematched parameter"/>
              <p:cNvSpPr txBox="1"/>
              <p:nvPr/>
            </p:nvSpPr>
            <p:spPr>
              <a:xfrm>
                <a:off x="14431573" y="3753402"/>
                <a:ext cx="128290" cy="35909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175" b="0" i="0" kern="0">
                    <a:ln w="3315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𝑡</a:t>
                </a:r>
                <a:endParaRPr sz="2175"/>
              </a:p>
            </p:txBody>
          </p:sp>
          <p:sp>
            <p:nvSpPr>
              <p:cNvPr id="881" name="Choose rematched parameter"/>
              <p:cNvSpPr txBox="1"/>
              <p:nvPr/>
            </p:nvSpPr>
            <p:spPr>
              <a:xfrm>
                <a:off x="14531288" y="3867588"/>
                <a:ext cx="131318" cy="28479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25" b="0" i="0" kern="0">
                    <a:ln w="2629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𝑠</a:t>
                </a:r>
                <a:endParaRPr sz="1725"/>
              </a:p>
            </p:txBody>
          </p:sp>
          <p:sp>
            <p:nvSpPr>
              <p:cNvPr id="882" name="Editable mathematical accent"/>
              <p:cNvSpPr/>
              <p:nvPr/>
            </p:nvSpPr>
            <p:spPr>
              <a:xfrm>
                <a:off x="14478972" y="3813620"/>
                <a:ext cx="63532" cy="33147"/>
              </a:xfrm>
              <a:custGeom>
                <a:avLst/>
                <a:gdLst/>
                <a:ahLst/>
                <a:cxnLst/>
                <a:rect l="0" t="0" r="r" b="b"/>
                <a:pathLst>
                  <a:path w="6670" h="3480">
                    <a:moveTo>
                      <a:pt x="0" y="3480"/>
                    </a:moveTo>
                    <a:lnTo>
                      <a:pt x="3335" y="0"/>
                    </a:lnTo>
                    <a:lnTo>
                      <a:pt x="6670" y="3480"/>
                    </a:lnTo>
                  </a:path>
                </a:pathLst>
              </a:custGeom>
              <a:noFill/>
              <a:ln w="17954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3" name="Choose initial parameter"/>
              <p:cNvSpPr txBox="1"/>
              <p:nvPr/>
            </p:nvSpPr>
            <p:spPr>
              <a:xfrm>
                <a:off x="16563975" y="3553625"/>
                <a:ext cx="229798" cy="52006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150" b="0" i="0" kern="0">
                    <a:ln w="4801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𝑝</a:t>
                </a:r>
                <a:endParaRPr sz="3150"/>
              </a:p>
            </p:txBody>
          </p:sp>
          <p:sp>
            <p:nvSpPr>
              <p:cNvPr id="884" name="Choose initial parameter"/>
              <p:cNvSpPr txBox="1"/>
              <p:nvPr/>
            </p:nvSpPr>
            <p:spPr>
              <a:xfrm>
                <a:off x="16765198" y="3753402"/>
                <a:ext cx="128290" cy="35909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175" b="0" i="0" kern="0">
                    <a:ln w="3315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𝑡</a:t>
                </a:r>
                <a:endParaRPr sz="2175"/>
              </a:p>
            </p:txBody>
          </p:sp>
          <p:sp>
            <p:nvSpPr>
              <p:cNvPr id="885" name="Choose initial parameter"/>
              <p:cNvSpPr txBox="1"/>
              <p:nvPr/>
            </p:nvSpPr>
            <p:spPr>
              <a:xfrm>
                <a:off x="16864913" y="3867588"/>
                <a:ext cx="135925" cy="28479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25" b="0" i="0" kern="0">
                    <a:ln w="2629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𝑓</a:t>
                </a:r>
                <a:endParaRPr sz="1725"/>
              </a:p>
            </p:txBody>
          </p:sp>
          <p:sp>
            <p:nvSpPr>
              <p:cNvPr id="886" name="Editable mathematical accent"/>
              <p:cNvSpPr/>
              <p:nvPr/>
            </p:nvSpPr>
            <p:spPr>
              <a:xfrm>
                <a:off x="16812597" y="3813620"/>
                <a:ext cx="63532" cy="33147"/>
              </a:xfrm>
              <a:custGeom>
                <a:avLst/>
                <a:gdLst/>
                <a:ahLst/>
                <a:cxnLst/>
                <a:rect l="0" t="0" r="r" b="b"/>
                <a:pathLst>
                  <a:path w="6670" h="3480">
                    <a:moveTo>
                      <a:pt x="0" y="3480"/>
                    </a:moveTo>
                    <a:lnTo>
                      <a:pt x="3335" y="0"/>
                    </a:lnTo>
                    <a:lnTo>
                      <a:pt x="6670" y="3480"/>
                    </a:lnTo>
                  </a:path>
                </a:pathLst>
              </a:custGeom>
              <a:noFill/>
              <a:ln w="17954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7" name="Direct"/>
              <p:cNvSpPr txBox="1"/>
              <p:nvPr/>
            </p:nvSpPr>
            <p:spPr>
              <a:xfrm rot="5400000">
                <a:off x="16540070" y="2024062"/>
                <a:ext cx="1036886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1" i="0" kern="0">
                    <a:solidFill>
                      <a:srgbClr val="000000"/>
                    </a:solidFill>
                    <a:latin typeface="Times New Roman"/>
                  </a:rPr>
                  <a:t>Direct</a:t>
                </a:r>
                <a:endParaRPr sz="3000"/>
              </a:p>
            </p:txBody>
          </p:sp>
        </p:grpSp>
        <p:grpSp>
          <p:nvGrpSpPr>
            <p:cNvPr id="924" name="Confidence based rematching flow"/>
            <p:cNvGrpSpPr/>
            <p:nvPr/>
          </p:nvGrpSpPr>
          <p:grpSpPr>
            <a:xfrm>
              <a:off x="14116050" y="4115619"/>
              <a:ext cx="4416233" cy="4342581"/>
              <a:chOff x="14116050" y="4115619"/>
              <a:chExt cx="4416233" cy="4342581"/>
            </a:xfrm>
          </p:grpSpPr>
          <p:sp>
            <p:nvSpPr>
              <p:cNvPr id="889" name="Confidence rematching background"/>
              <p:cNvSpPr/>
              <p:nvPr/>
            </p:nvSpPr>
            <p:spPr>
              <a:xfrm>
                <a:off x="14116050" y="4143375"/>
                <a:ext cx="3133725" cy="4314825"/>
              </a:xfrm>
              <a:prstGeom prst="rect">
                <a:avLst/>
              </a:prstGeom>
              <a:solidFill>
                <a:srgbClr val="E2F0D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0" name="Confidence classifier banner"/>
              <p:cNvSpPr/>
              <p:nvPr/>
            </p:nvSpPr>
            <p:spPr>
              <a:xfrm>
                <a:off x="14401800" y="4200525"/>
                <a:ext cx="2286000" cy="390525"/>
              </a:xfrm>
              <a:prstGeom prst="rect">
                <a:avLst/>
              </a:prstGeom>
              <a:solidFill>
                <a:srgbClr val="8FAADC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1" name="Classifier g theta g"/>
              <p:cNvSpPr txBox="1"/>
              <p:nvPr/>
            </p:nvSpPr>
            <p:spPr>
              <a:xfrm>
                <a:off x="14609560" y="4144137"/>
                <a:ext cx="1584015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solidFill>
                      <a:srgbClr val="FFFFFF"/>
                    </a:solidFill>
                    <a:latin typeface="Times New Roman"/>
                  </a:rPr>
                  <a:t>Classifier </a:t>
                </a:r>
                <a:endParaRPr sz="3000"/>
              </a:p>
            </p:txBody>
          </p:sp>
          <p:sp>
            <p:nvSpPr>
              <p:cNvPr id="892" name="Classifier g theta g"/>
              <p:cNvSpPr txBox="1"/>
              <p:nvPr/>
            </p:nvSpPr>
            <p:spPr>
              <a:xfrm>
                <a:off x="16165000" y="4115619"/>
                <a:ext cx="224037" cy="53244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225" b="0" i="0" kern="0">
                    <a:ln w="4915">
                      <a:solidFill>
                        <a:srgbClr val="FFFFFF"/>
                      </a:solidFill>
                    </a:ln>
                    <a:solidFill>
                      <a:srgbClr val="FFFFFF"/>
                    </a:solidFill>
                    <a:latin typeface="Latin Modern Math"/>
                  </a:rPr>
                  <a:t>𝑔</a:t>
                </a:r>
                <a:endParaRPr sz="3225"/>
              </a:p>
            </p:txBody>
          </p:sp>
          <p:sp>
            <p:nvSpPr>
              <p:cNvPr id="893" name="Classifier g theta g"/>
              <p:cNvSpPr txBox="1"/>
              <p:nvPr/>
            </p:nvSpPr>
            <p:spPr>
              <a:xfrm>
                <a:off x="16360367" y="4267772"/>
                <a:ext cx="162595" cy="37147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250" b="0" i="0" kern="0">
                    <a:ln w="3429">
                      <a:solidFill>
                        <a:srgbClr val="FFFFFF"/>
                      </a:solidFill>
                    </a:ln>
                    <a:solidFill>
                      <a:srgbClr val="FFFFFF"/>
                    </a:solidFill>
                    <a:latin typeface="Latin Modern Math"/>
                  </a:rPr>
                  <a:t>𝜃</a:t>
                </a:r>
                <a:endParaRPr sz="2250"/>
              </a:p>
            </p:txBody>
          </p:sp>
          <p:sp>
            <p:nvSpPr>
              <p:cNvPr id="894" name="Classifier g theta g"/>
              <p:cNvSpPr txBox="1"/>
              <p:nvPr/>
            </p:nvSpPr>
            <p:spPr>
              <a:xfrm>
                <a:off x="16494387" y="4410494"/>
                <a:ext cx="128528" cy="27241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50" b="0" i="0" kern="0">
                    <a:ln w="2515">
                      <a:solidFill>
                        <a:srgbClr val="FFFFFF"/>
                      </a:solidFill>
                    </a:ln>
                    <a:solidFill>
                      <a:srgbClr val="FFFFFF"/>
                    </a:solidFill>
                    <a:latin typeface="Latin Modern Math"/>
                  </a:rPr>
                  <a:t>𝑔</a:t>
                </a:r>
                <a:endParaRPr sz="1650"/>
              </a:p>
            </p:txBody>
          </p:sp>
          <p:cxnSp>
            <p:nvCxnSpPr>
              <p:cNvPr id="895" name="Element 865"/>
              <p:cNvCxnSpPr/>
              <p:nvPr/>
            </p:nvCxnSpPr>
            <p:spPr>
              <a:xfrm>
                <a:off x="15506700" y="4610100"/>
                <a:ext cx="0" cy="276225"/>
              </a:xfrm>
              <a:prstGeom prst="line">
                <a:avLst/>
              </a:prstGeom>
              <a:ln w="38100">
                <a:solidFill>
                  <a:srgbClr val="000000"/>
                </a:solidFill>
              </a:ln>
              <a:effectLst/>
            </p:spPr>
          </p:cxnSp>
          <p:sp>
            <p:nvSpPr>
              <p:cNvPr id="896" name="Arrow arrowhead"/>
              <p:cNvSpPr/>
              <p:nvPr/>
            </p:nvSpPr>
            <p:spPr>
              <a:xfrm>
                <a:off x="15382875" y="4800600"/>
                <a:ext cx="247650" cy="238125"/>
              </a:xfrm>
              <a:custGeom>
                <a:avLst/>
                <a:gdLst/>
                <a:ahLst/>
                <a:cxnLst/>
                <a:rect l="0" t="0" r="r" b="b"/>
                <a:pathLst>
                  <a:path w="26000" h="25000">
                    <a:moveTo>
                      <a:pt x="13000" y="25000"/>
                    </a:moveTo>
                    <a:lnTo>
                      <a:pt x="0" y="0"/>
                    </a:lnTo>
                    <a:lnTo>
                      <a:pt x="13000" y="9000"/>
                    </a:lnTo>
                    <a:lnTo>
                      <a:pt x="260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7" name="Direct"/>
              <p:cNvSpPr txBox="1"/>
              <p:nvPr/>
            </p:nvSpPr>
            <p:spPr>
              <a:xfrm>
                <a:off x="15687675" y="4553712"/>
                <a:ext cx="980517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solidFill>
                      <a:srgbClr val="000000"/>
                    </a:solidFill>
                    <a:latin typeface="Times New Roman"/>
                  </a:rPr>
                  <a:t>Direct</a:t>
                </a:r>
                <a:endParaRPr sz="3000"/>
              </a:p>
            </p:txBody>
          </p:sp>
          <p:sp>
            <p:nvSpPr>
              <p:cNvPr id="898" name="Class distribution box"/>
              <p:cNvSpPr/>
              <p:nvPr/>
            </p:nvSpPr>
            <p:spPr>
              <a:xfrm>
                <a:off x="14382750" y="5057775"/>
                <a:ext cx="2314575" cy="495300"/>
              </a:xfrm>
              <a:prstGeom prst="roundRect">
                <a:avLst>
                  <a:gd name="adj" fmla="val 19230"/>
                </a:avLst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9" name="Distribution d tilde"/>
              <p:cNvSpPr txBox="1"/>
              <p:nvPr/>
            </p:nvSpPr>
            <p:spPr>
              <a:xfrm>
                <a:off x="14453332" y="5068062"/>
                <a:ext cx="1965387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solidFill>
                      <a:srgbClr val="000000"/>
                    </a:solidFill>
                    <a:latin typeface="Times New Roman"/>
                  </a:rPr>
                  <a:t>Distribution </a:t>
                </a:r>
                <a:endParaRPr sz="3000"/>
              </a:p>
            </p:txBody>
          </p:sp>
          <p:sp>
            <p:nvSpPr>
              <p:cNvPr id="900" name="Distribution d tilde"/>
              <p:cNvSpPr txBox="1"/>
              <p:nvPr/>
            </p:nvSpPr>
            <p:spPr>
              <a:xfrm>
                <a:off x="16390144" y="5049050"/>
                <a:ext cx="236600" cy="52006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150" b="0" i="0" kern="0">
                    <a:ln w="4801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𝑑</a:t>
                </a:r>
                <a:endParaRPr sz="3150"/>
              </a:p>
            </p:txBody>
          </p:sp>
          <p:sp>
            <p:nvSpPr>
              <p:cNvPr id="901" name="Editable mathematical accent"/>
              <p:cNvSpPr/>
              <p:nvPr/>
            </p:nvSpPr>
            <p:spPr>
              <a:xfrm>
                <a:off x="16458951" y="5056251"/>
                <a:ext cx="164021" cy="104013"/>
              </a:xfrm>
              <a:custGeom>
                <a:avLst/>
                <a:gdLst/>
                <a:ahLst/>
                <a:cxnLst/>
                <a:rect l="0" t="0" r="r" b="b"/>
                <a:pathLst>
                  <a:path w="17220" h="10920">
                    <a:moveTo>
                      <a:pt x="0" y="6300"/>
                    </a:moveTo>
                    <a:cubicBezTo>
                      <a:pt x="4620" y="0"/>
                      <a:pt x="12180" y="10920"/>
                      <a:pt x="17220" y="4200"/>
                    </a:cubicBezTo>
                  </a:path>
                </a:pathLst>
              </a:custGeom>
              <a:noFill/>
              <a:ln w="24003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902" name="Element 872"/>
              <p:cNvCxnSpPr/>
              <p:nvPr/>
            </p:nvCxnSpPr>
            <p:spPr>
              <a:xfrm>
                <a:off x="15506700" y="5562600"/>
                <a:ext cx="0" cy="78867"/>
              </a:xfrm>
              <a:prstGeom prst="line">
                <a:avLst/>
              </a:prstGeom>
              <a:ln w="38100">
                <a:solidFill>
                  <a:srgbClr val="000000"/>
                </a:solidFill>
              </a:ln>
              <a:effectLst/>
            </p:spPr>
          </p:cxnSp>
          <p:sp>
            <p:nvSpPr>
              <p:cNvPr id="903" name="Arrow arrowhead"/>
              <p:cNvSpPr/>
              <p:nvPr/>
            </p:nvSpPr>
            <p:spPr>
              <a:xfrm>
                <a:off x="15382875" y="5562600"/>
                <a:ext cx="247650" cy="219075"/>
              </a:xfrm>
              <a:custGeom>
                <a:avLst/>
                <a:gdLst/>
                <a:ahLst/>
                <a:cxnLst/>
                <a:rect l="0" t="0" r="r" b="b"/>
                <a:pathLst>
                  <a:path w="26000" h="23000">
                    <a:moveTo>
                      <a:pt x="13000" y="23000"/>
                    </a:moveTo>
                    <a:lnTo>
                      <a:pt x="0" y="0"/>
                    </a:lnTo>
                    <a:lnTo>
                      <a:pt x="13000" y="8280"/>
                    </a:lnTo>
                    <a:lnTo>
                      <a:pt x="260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4" name="Confidence score box"/>
              <p:cNvSpPr/>
              <p:nvPr/>
            </p:nvSpPr>
            <p:spPr>
              <a:xfrm>
                <a:off x="14373225" y="5791200"/>
                <a:ext cx="2352675" cy="495300"/>
              </a:xfrm>
              <a:prstGeom prst="roundRect">
                <a:avLst>
                  <a:gd name="adj" fmla="val 19230"/>
                </a:avLst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5" name="Confidence E"/>
              <p:cNvSpPr txBox="1"/>
              <p:nvPr/>
            </p:nvSpPr>
            <p:spPr>
              <a:xfrm>
                <a:off x="14461945" y="5791962"/>
                <a:ext cx="1879997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solidFill>
                      <a:srgbClr val="000000"/>
                    </a:solidFill>
                    <a:latin typeface="Times New Roman"/>
                  </a:rPr>
                  <a:t>Confidence </a:t>
                </a:r>
                <a:endParaRPr sz="3000"/>
              </a:p>
            </p:txBody>
          </p:sp>
          <p:sp>
            <p:nvSpPr>
              <p:cNvPr id="906" name="Confidence E"/>
              <p:cNvSpPr txBox="1"/>
              <p:nvPr/>
            </p:nvSpPr>
            <p:spPr>
              <a:xfrm>
                <a:off x="16313367" y="5772950"/>
                <a:ext cx="323813" cy="52006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150" b="0" i="0" kern="0">
                    <a:ln w="4801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𝐸</a:t>
                </a:r>
                <a:endParaRPr sz="3150"/>
              </a:p>
            </p:txBody>
          </p:sp>
          <p:cxnSp>
            <p:nvCxnSpPr>
              <p:cNvPr id="907" name="Element 877"/>
              <p:cNvCxnSpPr/>
              <p:nvPr/>
            </p:nvCxnSpPr>
            <p:spPr>
              <a:xfrm>
                <a:off x="15506700" y="6296025"/>
                <a:ext cx="0" cy="82296"/>
              </a:xfrm>
              <a:prstGeom prst="line">
                <a:avLst/>
              </a:prstGeom>
              <a:ln w="38100">
                <a:solidFill>
                  <a:srgbClr val="000000"/>
                </a:solidFill>
              </a:ln>
              <a:effectLst/>
            </p:spPr>
          </p:cxnSp>
          <p:sp>
            <p:nvSpPr>
              <p:cNvPr id="908" name="Arrow arrowhead"/>
              <p:cNvSpPr/>
              <p:nvPr/>
            </p:nvSpPr>
            <p:spPr>
              <a:xfrm>
                <a:off x="15382875" y="6296025"/>
                <a:ext cx="247650" cy="228600"/>
              </a:xfrm>
              <a:custGeom>
                <a:avLst/>
                <a:gdLst/>
                <a:ahLst/>
                <a:cxnLst/>
                <a:rect l="0" t="0" r="r" b="b"/>
                <a:pathLst>
                  <a:path w="26000" h="24000">
                    <a:moveTo>
                      <a:pt x="13000" y="24000"/>
                    </a:moveTo>
                    <a:lnTo>
                      <a:pt x="0" y="0"/>
                    </a:lnTo>
                    <a:lnTo>
                      <a:pt x="13000" y="8640"/>
                    </a:lnTo>
                    <a:lnTo>
                      <a:pt x="260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9" name="Confidence threshold decision"/>
              <p:cNvSpPr/>
              <p:nvPr/>
            </p:nvSpPr>
            <p:spPr>
              <a:xfrm>
                <a:off x="14516100" y="6524625"/>
                <a:ext cx="1990725" cy="638175"/>
              </a:xfrm>
              <a:custGeom>
                <a:avLst/>
                <a:gdLst/>
                <a:ahLst/>
                <a:cxnLst/>
                <a:rect l="0" t="0" r="r" b="b"/>
                <a:pathLst>
                  <a:path w="209000" h="67000">
                    <a:moveTo>
                      <a:pt x="104000" y="0"/>
                    </a:moveTo>
                    <a:lnTo>
                      <a:pt x="209000" y="33000"/>
                    </a:lnTo>
                    <a:lnTo>
                      <a:pt x="104000" y="67000"/>
                    </a:lnTo>
                    <a:lnTo>
                      <a:pt x="0" y="3300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0" name="E below tau"/>
              <p:cNvSpPr txBox="1"/>
              <p:nvPr/>
            </p:nvSpPr>
            <p:spPr>
              <a:xfrm>
                <a:off x="14983238" y="6544475"/>
                <a:ext cx="1075499" cy="52006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150" b="0" i="0" kern="0">
                    <a:ln w="4801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𝐸 &lt; 𝜏</a:t>
                </a:r>
                <a:endParaRPr sz="3150"/>
              </a:p>
            </p:txBody>
          </p:sp>
          <p:cxnSp>
            <p:nvCxnSpPr>
              <p:cNvPr id="911" name="Element 881"/>
              <p:cNvCxnSpPr/>
              <p:nvPr/>
            </p:nvCxnSpPr>
            <p:spPr>
              <a:xfrm>
                <a:off x="15506700" y="7172325"/>
                <a:ext cx="0" cy="75438"/>
              </a:xfrm>
              <a:prstGeom prst="line">
                <a:avLst/>
              </a:prstGeom>
              <a:ln w="38100">
                <a:solidFill>
                  <a:srgbClr val="000000"/>
                </a:solidFill>
              </a:ln>
              <a:effectLst/>
            </p:spPr>
          </p:cxnSp>
          <p:sp>
            <p:nvSpPr>
              <p:cNvPr id="912" name="Arrow arrowhead"/>
              <p:cNvSpPr/>
              <p:nvPr/>
            </p:nvSpPr>
            <p:spPr>
              <a:xfrm>
                <a:off x="15382875" y="7172325"/>
                <a:ext cx="247650" cy="209550"/>
              </a:xfrm>
              <a:custGeom>
                <a:avLst/>
                <a:gdLst/>
                <a:ahLst/>
                <a:cxnLst/>
                <a:rect l="0" t="0" r="r" b="b"/>
                <a:pathLst>
                  <a:path w="26000" h="22000">
                    <a:moveTo>
                      <a:pt x="13000" y="22000"/>
                    </a:moveTo>
                    <a:lnTo>
                      <a:pt x="0" y="0"/>
                    </a:lnTo>
                    <a:lnTo>
                      <a:pt x="13000" y="7920"/>
                    </a:lnTo>
                    <a:lnTo>
                      <a:pt x="260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3" name="Yes"/>
              <p:cNvSpPr txBox="1"/>
              <p:nvPr/>
            </p:nvSpPr>
            <p:spPr>
              <a:xfrm>
                <a:off x="15954375" y="6944487"/>
                <a:ext cx="582960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0" i="0" kern="0">
                    <a:solidFill>
                      <a:srgbClr val="000000"/>
                    </a:solidFill>
                    <a:latin typeface="Times New Roman"/>
                  </a:rPr>
                  <a:t>Yes</a:t>
                </a:r>
                <a:endParaRPr sz="3000"/>
              </a:p>
            </p:txBody>
          </p:sp>
          <p:sp>
            <p:nvSpPr>
              <p:cNvPr id="914" name="Select most confident task"/>
              <p:cNvSpPr/>
              <p:nvPr/>
            </p:nvSpPr>
            <p:spPr>
              <a:xfrm>
                <a:off x="14154150" y="7381875"/>
                <a:ext cx="2933700" cy="933450"/>
              </a:xfrm>
              <a:prstGeom prst="roundRect">
                <a:avLst>
                  <a:gd name="adj" fmla="val 18367"/>
                </a:avLst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5" name="Argmax confidence task rematching"/>
              <p:cNvSpPr txBox="1"/>
              <p:nvPr/>
            </p:nvSpPr>
            <p:spPr>
              <a:xfrm>
                <a:off x="14190892" y="7477811"/>
                <a:ext cx="152363" cy="44577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700" b="0" i="0" kern="0">
                    <a:ln w="4115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𝑡</a:t>
                </a:r>
                <a:endParaRPr sz="2700"/>
              </a:p>
            </p:txBody>
          </p:sp>
          <p:sp>
            <p:nvSpPr>
              <p:cNvPr id="916" name="Argmax confidence task rematching"/>
              <p:cNvSpPr txBox="1"/>
              <p:nvPr/>
            </p:nvSpPr>
            <p:spPr>
              <a:xfrm>
                <a:off x="14314680" y="7668101"/>
                <a:ext cx="140256" cy="30956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5" b="0" i="0" kern="0">
                    <a:ln w="2858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𝑠</a:t>
                </a:r>
                <a:endParaRPr sz="1875"/>
              </a:p>
            </p:txBody>
          </p:sp>
          <p:sp>
            <p:nvSpPr>
              <p:cNvPr id="917" name="Argmax confidence task rematching"/>
              <p:cNvSpPr txBox="1"/>
              <p:nvPr/>
            </p:nvSpPr>
            <p:spPr>
              <a:xfrm>
                <a:off x="14426360" y="7477811"/>
                <a:ext cx="2437782" cy="44577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700" b="0" i="0" kern="0">
                    <a:ln w="4115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=𝑎𝑟𝑔𝑚𝑎𝑥 𝐸(𝑥;𝑝</a:t>
                </a:r>
                <a:endParaRPr sz="2700"/>
              </a:p>
            </p:txBody>
          </p:sp>
          <p:sp>
            <p:nvSpPr>
              <p:cNvPr id="918" name="Argmax confidence task rematching"/>
              <p:cNvSpPr txBox="1"/>
              <p:nvPr/>
            </p:nvSpPr>
            <p:spPr>
              <a:xfrm>
                <a:off x="16835568" y="7658576"/>
                <a:ext cx="110728" cy="30956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5" b="0" i="0" kern="0">
                    <a:ln w="2858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𝑖</a:t>
                </a:r>
                <a:endParaRPr sz="1875"/>
              </a:p>
            </p:txBody>
          </p:sp>
          <p:sp>
            <p:nvSpPr>
              <p:cNvPr id="919" name="Argmax confidence task rematching"/>
              <p:cNvSpPr txBox="1"/>
              <p:nvPr/>
            </p:nvSpPr>
            <p:spPr>
              <a:xfrm>
                <a:off x="16917721" y="7477811"/>
                <a:ext cx="161962" cy="44577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700" b="0" i="0" kern="0">
                    <a:ln w="4115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)</a:t>
                </a:r>
                <a:endParaRPr sz="2700"/>
              </a:p>
            </p:txBody>
          </p:sp>
          <p:sp>
            <p:nvSpPr>
              <p:cNvPr id="920" name="Editable mathematical accent"/>
              <p:cNvSpPr/>
              <p:nvPr/>
            </p:nvSpPr>
            <p:spPr>
              <a:xfrm>
                <a:off x="14249734" y="7552563"/>
                <a:ext cx="78867" cy="41148"/>
              </a:xfrm>
              <a:custGeom>
                <a:avLst/>
                <a:gdLst/>
                <a:ahLst/>
                <a:cxnLst/>
                <a:rect l="0" t="0" r="r" b="b"/>
                <a:pathLst>
                  <a:path w="8280" h="4320">
                    <a:moveTo>
                      <a:pt x="0" y="4320"/>
                    </a:moveTo>
                    <a:lnTo>
                      <a:pt x="4140" y="0"/>
                    </a:lnTo>
                    <a:lnTo>
                      <a:pt x="8280" y="4320"/>
                    </a:lnTo>
                  </a:path>
                </a:pathLst>
              </a:custGeom>
              <a:noFill/>
              <a:ln w="22288" cap="flat" cmpd="sng">
                <a:solidFill>
                  <a:srgbClr val="000000"/>
                </a:solidFill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1" name="Task candidate set"/>
              <p:cNvSpPr txBox="1"/>
              <p:nvPr/>
            </p:nvSpPr>
            <p:spPr>
              <a:xfrm>
                <a:off x="15274115" y="7858811"/>
                <a:ext cx="146878" cy="44577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700" b="0" i="0" kern="0">
                    <a:ln w="4115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𝑖</a:t>
                </a:r>
                <a:endParaRPr sz="2700"/>
              </a:p>
            </p:txBody>
          </p:sp>
          <p:sp>
            <p:nvSpPr>
              <p:cNvPr id="922" name="Task candidate set"/>
              <p:cNvSpPr txBox="1"/>
              <p:nvPr/>
            </p:nvSpPr>
            <p:spPr>
              <a:xfrm>
                <a:off x="15392419" y="7858811"/>
                <a:ext cx="699291" cy="44577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700" b="0" i="0" kern="0">
                    <a:ln w="4115">
                      <a:solidFill>
                        <a:srgbClr val="000000"/>
                      </a:solidFill>
                    </a:ln>
                    <a:solidFill>
                      <a:srgbClr val="000000"/>
                    </a:solidFill>
                    <a:latin typeface="Latin Modern Math"/>
                  </a:rPr>
                  <a:t> ∈ Γ</a:t>
                </a:r>
                <a:endParaRPr sz="2700"/>
              </a:p>
            </p:txBody>
          </p:sp>
          <p:sp>
            <p:nvSpPr>
              <p:cNvPr id="923" name="Confidence-based"/>
              <p:cNvSpPr txBox="1"/>
              <p:nvPr/>
            </p:nvSpPr>
            <p:spPr>
              <a:xfrm rot="5400000">
                <a:off x="15603792" y="5472112"/>
                <a:ext cx="2928491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00" b="1" i="0" kern="0">
                    <a:solidFill>
                      <a:srgbClr val="000000"/>
                    </a:solidFill>
                    <a:latin typeface="Times New Roman"/>
                  </a:rPr>
                  <a:t>Confidence-based</a:t>
                </a:r>
                <a:endParaRPr sz="3000"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Hybrid Re-matching for Continual Learning with Parameter-Efficient Tuning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373600" cy="8591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Re-matching for Continual Learning with Parameter-Efficient Tuning</dc:title>
  <dc:subject>Editable diagram reconstruction from the supplied reference</dc:subject>
  <dc:creator/>
  <cp:keywords>editable; native shapes; continual learning; hybrid rematching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