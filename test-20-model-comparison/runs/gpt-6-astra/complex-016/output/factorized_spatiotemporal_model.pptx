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8288000" cy="98393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9839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149" name="01_Multi_Frequency_Augmentation"/>
          <p:cNvGrpSpPr/>
          <p:nvPr/>
        </p:nvGrpSpPr>
        <p:grpSpPr>
          <a:xfrm>
            <a:off x="76200" y="133350"/>
            <a:ext cx="8801100" cy="2676525"/>
            <a:chOff x="76200" y="133350"/>
            <a:chExt cx="8801100" cy="2676525"/>
          </a:xfrm>
        </p:grpSpPr>
        <p:sp>
          <p:nvSpPr>
            <p:cNvPr id="3" name="Rectangle 2"/>
            <p:cNvSpPr/>
            <p:nvPr/>
          </p:nvSpPr>
          <p:spPr>
            <a:xfrm>
              <a:off x="76200" y="133350"/>
              <a:ext cx="8801100" cy="2676525"/>
            </a:xfrm>
            <a:prstGeom prst="rect">
              <a:avLst/>
            </a:prstGeom>
            <a:solidFill>
              <a:srgbClr val="EDF4F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: Multi-Frequency Augmentation"/>
            <p:cNvSpPr txBox="1"/>
            <p:nvPr/>
          </p:nvSpPr>
          <p:spPr>
            <a:xfrm>
              <a:off x="2773226" y="192977"/>
              <a:ext cx="3426098" cy="3714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950" b="1" i="0">
                  <a:solidFill>
                    <a:srgbClr val="111111"/>
                  </a:solidFill>
                  <a:latin typeface="Liberation Serif"/>
                </a:rPr>
                <a:t>Multi-Frequency Augmentation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323850" y="723900"/>
              <a:ext cx="367665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14325" y="514350"/>
              <a:ext cx="952" cy="723900"/>
            </a:xfrm>
            <a:custGeom>
              <a:avLst/>
              <a:gdLst/>
              <a:ahLst/>
              <a:cxnLst/>
              <a:rect l="0" t="0" r="r" b="b"/>
              <a:pathLst>
                <a:path w="100" h="76000" fill="none">
                  <a:moveTo>
                    <a:pt x="0" y="76000"/>
                  </a:moveTo>
                  <a:lnTo>
                    <a:pt x="0" y="0"/>
                  </a:lnTo>
                </a:path>
              </a:pathLst>
            </a:custGeom>
            <a:noFill/>
            <a:ln w="11429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78320" y="514350"/>
              <a:ext cx="72009" cy="85725"/>
            </a:xfrm>
            <a:custGeom>
              <a:avLst/>
              <a:gdLst/>
              <a:ahLst/>
              <a:cxnLst/>
              <a:rect l="0" t="0" r="r" b="b"/>
              <a:pathLst>
                <a:path w="7560" h="9000" fill="norm">
                  <a:moveTo>
                    <a:pt x="3780" y="0"/>
                  </a:moveTo>
                  <a:lnTo>
                    <a:pt x="0" y="9000"/>
                  </a:lnTo>
                  <a:lnTo>
                    <a:pt x="3780" y="6030"/>
                  </a:lnTo>
                  <a:lnTo>
                    <a:pt x="7560" y="900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14325" y="1228725"/>
              <a:ext cx="3914775" cy="952"/>
            </a:xfrm>
            <a:custGeom>
              <a:avLst/>
              <a:gdLst/>
              <a:ahLst/>
              <a:cxnLst/>
              <a:rect l="0" t="0" r="r" b="b"/>
              <a:pathLst>
                <a:path w="411000" h="100" fill="none">
                  <a:moveTo>
                    <a:pt x="0" y="0"/>
                  </a:moveTo>
                  <a:lnTo>
                    <a:pt x="411000" y="0"/>
                  </a:lnTo>
                </a:path>
              </a:pathLst>
            </a:custGeom>
            <a:noFill/>
            <a:ln w="11429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143375" y="1192720"/>
              <a:ext cx="85725" cy="72009"/>
            </a:xfrm>
            <a:custGeom>
              <a:avLst/>
              <a:gdLst/>
              <a:ahLst/>
              <a:cxnLst/>
              <a:rect l="0" t="0" r="r" b="b"/>
              <a:pathLst>
                <a:path w="9000" h="7560" fill="norm">
                  <a:moveTo>
                    <a:pt x="9000" y="3780"/>
                  </a:moveTo>
                  <a:lnTo>
                    <a:pt x="0" y="0"/>
                  </a:lnTo>
                  <a:lnTo>
                    <a:pt x="2970" y="3780"/>
                  </a:lnTo>
                  <a:lnTo>
                    <a:pt x="0" y="756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: Value"/>
            <p:cNvSpPr txBox="1"/>
            <p:nvPr/>
          </p:nvSpPr>
          <p:spPr>
            <a:xfrm>
              <a:off x="419100" y="459105"/>
              <a:ext cx="500416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Value</a:t>
              </a:r>
            </a:p>
          </p:txBody>
        </p:sp>
        <p:sp>
          <p:nvSpPr>
            <p:cNvPr id="11" name="Text: Time"/>
            <p:cNvSpPr txBox="1"/>
            <p:nvPr/>
          </p:nvSpPr>
          <p:spPr>
            <a:xfrm>
              <a:off x="3667125" y="1230630"/>
              <a:ext cx="462000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Time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71475" y="771525"/>
              <a:ext cx="3609975" cy="200025"/>
            </a:xfrm>
            <a:custGeom>
              <a:avLst/>
              <a:gdLst/>
              <a:ahLst/>
              <a:cxnLst/>
              <a:rect l="0" t="0" r="r" b="b"/>
              <a:pathLst>
                <a:path w="379000" h="21000" fill="none">
                  <a:moveTo>
                    <a:pt x="0" y="14000"/>
                  </a:moveTo>
                  <a:lnTo>
                    <a:pt x="1000" y="12500"/>
                  </a:lnTo>
                  <a:lnTo>
                    <a:pt x="2000" y="11000"/>
                  </a:lnTo>
                  <a:lnTo>
                    <a:pt x="3000" y="10000"/>
                  </a:lnTo>
                  <a:lnTo>
                    <a:pt x="4000" y="8000"/>
                  </a:lnTo>
                  <a:lnTo>
                    <a:pt x="5000" y="7000"/>
                  </a:lnTo>
                  <a:lnTo>
                    <a:pt x="6000" y="6000"/>
                  </a:lnTo>
                  <a:lnTo>
                    <a:pt x="7000" y="5000"/>
                  </a:lnTo>
                  <a:lnTo>
                    <a:pt x="8000" y="4500"/>
                  </a:lnTo>
                  <a:lnTo>
                    <a:pt x="9000" y="4500"/>
                  </a:lnTo>
                  <a:lnTo>
                    <a:pt x="10000" y="6000"/>
                  </a:lnTo>
                  <a:lnTo>
                    <a:pt x="11000" y="7500"/>
                  </a:lnTo>
                  <a:lnTo>
                    <a:pt x="12000" y="9000"/>
                  </a:lnTo>
                  <a:lnTo>
                    <a:pt x="13000" y="10500"/>
                  </a:lnTo>
                  <a:lnTo>
                    <a:pt x="14000" y="10500"/>
                  </a:lnTo>
                  <a:lnTo>
                    <a:pt x="15000" y="9000"/>
                  </a:lnTo>
                  <a:lnTo>
                    <a:pt x="16000" y="7500"/>
                  </a:lnTo>
                  <a:lnTo>
                    <a:pt x="17000" y="6000"/>
                  </a:lnTo>
                  <a:lnTo>
                    <a:pt x="18000" y="5500"/>
                  </a:lnTo>
                  <a:lnTo>
                    <a:pt x="19000" y="7500"/>
                  </a:lnTo>
                  <a:lnTo>
                    <a:pt x="20000" y="10500"/>
                  </a:lnTo>
                  <a:lnTo>
                    <a:pt x="21000" y="12500"/>
                  </a:lnTo>
                  <a:lnTo>
                    <a:pt x="22000" y="11500"/>
                  </a:lnTo>
                  <a:lnTo>
                    <a:pt x="23000" y="9500"/>
                  </a:lnTo>
                  <a:lnTo>
                    <a:pt x="24000" y="9000"/>
                  </a:lnTo>
                  <a:lnTo>
                    <a:pt x="25000" y="10500"/>
                  </a:lnTo>
                  <a:lnTo>
                    <a:pt x="26000" y="12500"/>
                  </a:lnTo>
                  <a:lnTo>
                    <a:pt x="27000" y="14500"/>
                  </a:lnTo>
                  <a:lnTo>
                    <a:pt x="28000" y="17000"/>
                  </a:lnTo>
                  <a:lnTo>
                    <a:pt x="29000" y="19000"/>
                  </a:lnTo>
                  <a:lnTo>
                    <a:pt x="30000" y="20500"/>
                  </a:lnTo>
                  <a:lnTo>
                    <a:pt x="31000" y="20500"/>
                  </a:lnTo>
                  <a:lnTo>
                    <a:pt x="32000" y="20000"/>
                  </a:lnTo>
                  <a:lnTo>
                    <a:pt x="33000" y="19000"/>
                  </a:lnTo>
                  <a:lnTo>
                    <a:pt x="34000" y="18500"/>
                  </a:lnTo>
                  <a:lnTo>
                    <a:pt x="35000" y="19500"/>
                  </a:lnTo>
                  <a:lnTo>
                    <a:pt x="36000" y="19500"/>
                  </a:lnTo>
                  <a:lnTo>
                    <a:pt x="37000" y="20500"/>
                  </a:lnTo>
                  <a:lnTo>
                    <a:pt x="38000" y="20500"/>
                  </a:lnTo>
                  <a:lnTo>
                    <a:pt x="39000" y="21000"/>
                  </a:lnTo>
                  <a:lnTo>
                    <a:pt x="40000" y="20500"/>
                  </a:lnTo>
                  <a:lnTo>
                    <a:pt x="41000" y="18500"/>
                  </a:lnTo>
                  <a:lnTo>
                    <a:pt x="42000" y="14500"/>
                  </a:lnTo>
                  <a:lnTo>
                    <a:pt x="43000" y="11500"/>
                  </a:lnTo>
                  <a:lnTo>
                    <a:pt x="44000" y="9000"/>
                  </a:lnTo>
                  <a:lnTo>
                    <a:pt x="45000" y="9000"/>
                  </a:lnTo>
                  <a:lnTo>
                    <a:pt x="46000" y="10500"/>
                  </a:lnTo>
                  <a:lnTo>
                    <a:pt x="47000" y="12500"/>
                  </a:lnTo>
                  <a:lnTo>
                    <a:pt x="48000" y="15000"/>
                  </a:lnTo>
                  <a:lnTo>
                    <a:pt x="49000" y="17000"/>
                  </a:lnTo>
                  <a:lnTo>
                    <a:pt x="50000" y="17500"/>
                  </a:lnTo>
                  <a:lnTo>
                    <a:pt x="51000" y="16000"/>
                  </a:lnTo>
                  <a:lnTo>
                    <a:pt x="52000" y="14500"/>
                  </a:lnTo>
                  <a:lnTo>
                    <a:pt x="53000" y="13000"/>
                  </a:lnTo>
                  <a:lnTo>
                    <a:pt x="54000" y="13000"/>
                  </a:lnTo>
                  <a:lnTo>
                    <a:pt x="55000" y="14000"/>
                  </a:lnTo>
                  <a:lnTo>
                    <a:pt x="56000" y="15500"/>
                  </a:lnTo>
                  <a:lnTo>
                    <a:pt x="57000" y="16500"/>
                  </a:lnTo>
                  <a:lnTo>
                    <a:pt x="58000" y="17500"/>
                  </a:lnTo>
                  <a:lnTo>
                    <a:pt x="59000" y="17000"/>
                  </a:lnTo>
                  <a:lnTo>
                    <a:pt x="60000" y="16500"/>
                  </a:lnTo>
                  <a:lnTo>
                    <a:pt x="61000" y="15500"/>
                  </a:lnTo>
                  <a:lnTo>
                    <a:pt x="62000" y="15500"/>
                  </a:lnTo>
                  <a:lnTo>
                    <a:pt x="63000" y="15500"/>
                  </a:lnTo>
                  <a:lnTo>
                    <a:pt x="64000" y="15500"/>
                  </a:lnTo>
                  <a:lnTo>
                    <a:pt x="65000" y="16500"/>
                  </a:lnTo>
                  <a:lnTo>
                    <a:pt x="66000" y="18000"/>
                  </a:lnTo>
                  <a:lnTo>
                    <a:pt x="67000" y="19000"/>
                  </a:lnTo>
                  <a:lnTo>
                    <a:pt x="68000" y="20000"/>
                  </a:lnTo>
                  <a:lnTo>
                    <a:pt x="69000" y="20500"/>
                  </a:lnTo>
                  <a:lnTo>
                    <a:pt x="70000" y="19000"/>
                  </a:lnTo>
                  <a:lnTo>
                    <a:pt x="71000" y="17000"/>
                  </a:lnTo>
                  <a:lnTo>
                    <a:pt x="72000" y="16500"/>
                  </a:lnTo>
                  <a:lnTo>
                    <a:pt x="73000" y="17000"/>
                  </a:lnTo>
                  <a:lnTo>
                    <a:pt x="74000" y="18000"/>
                  </a:lnTo>
                  <a:lnTo>
                    <a:pt x="75000" y="19000"/>
                  </a:lnTo>
                  <a:lnTo>
                    <a:pt x="76000" y="19500"/>
                  </a:lnTo>
                  <a:lnTo>
                    <a:pt x="77000" y="19500"/>
                  </a:lnTo>
                  <a:lnTo>
                    <a:pt x="78000" y="17500"/>
                  </a:lnTo>
                  <a:lnTo>
                    <a:pt x="79000" y="14000"/>
                  </a:lnTo>
                  <a:lnTo>
                    <a:pt x="80000" y="10000"/>
                  </a:lnTo>
                  <a:lnTo>
                    <a:pt x="81000" y="6000"/>
                  </a:lnTo>
                  <a:lnTo>
                    <a:pt x="82000" y="4000"/>
                  </a:lnTo>
                  <a:lnTo>
                    <a:pt x="83000" y="5000"/>
                  </a:lnTo>
                  <a:lnTo>
                    <a:pt x="84000" y="7500"/>
                  </a:lnTo>
                  <a:lnTo>
                    <a:pt x="85000" y="10500"/>
                  </a:lnTo>
                  <a:lnTo>
                    <a:pt x="86000" y="12500"/>
                  </a:lnTo>
                  <a:lnTo>
                    <a:pt x="87000" y="14000"/>
                  </a:lnTo>
                  <a:lnTo>
                    <a:pt x="88000" y="14000"/>
                  </a:lnTo>
                  <a:lnTo>
                    <a:pt x="89000" y="13000"/>
                  </a:lnTo>
                  <a:lnTo>
                    <a:pt x="90000" y="12000"/>
                  </a:lnTo>
                  <a:lnTo>
                    <a:pt x="91000" y="11000"/>
                  </a:lnTo>
                  <a:lnTo>
                    <a:pt x="92000" y="10500"/>
                  </a:lnTo>
                  <a:lnTo>
                    <a:pt x="93000" y="11000"/>
                  </a:lnTo>
                  <a:lnTo>
                    <a:pt x="94000" y="13500"/>
                  </a:lnTo>
                  <a:lnTo>
                    <a:pt x="95000" y="13500"/>
                  </a:lnTo>
                  <a:lnTo>
                    <a:pt x="96000" y="11500"/>
                  </a:lnTo>
                  <a:lnTo>
                    <a:pt x="97000" y="9500"/>
                  </a:lnTo>
                  <a:lnTo>
                    <a:pt x="98000" y="9500"/>
                  </a:lnTo>
                  <a:lnTo>
                    <a:pt x="99000" y="10500"/>
                  </a:lnTo>
                  <a:lnTo>
                    <a:pt x="100000" y="11500"/>
                  </a:lnTo>
                  <a:lnTo>
                    <a:pt x="101000" y="11500"/>
                  </a:lnTo>
                  <a:lnTo>
                    <a:pt x="102000" y="12500"/>
                  </a:lnTo>
                  <a:lnTo>
                    <a:pt x="103000" y="13000"/>
                  </a:lnTo>
                  <a:lnTo>
                    <a:pt x="104000" y="12500"/>
                  </a:lnTo>
                  <a:lnTo>
                    <a:pt x="105000" y="10000"/>
                  </a:lnTo>
                  <a:lnTo>
                    <a:pt x="106000" y="6500"/>
                  </a:lnTo>
                  <a:lnTo>
                    <a:pt x="107000" y="4500"/>
                  </a:lnTo>
                  <a:lnTo>
                    <a:pt x="108000" y="3000"/>
                  </a:lnTo>
                  <a:lnTo>
                    <a:pt x="109000" y="5500"/>
                  </a:lnTo>
                  <a:lnTo>
                    <a:pt x="110000" y="7500"/>
                  </a:lnTo>
                  <a:lnTo>
                    <a:pt x="111000" y="8500"/>
                  </a:lnTo>
                  <a:lnTo>
                    <a:pt x="112000" y="8000"/>
                  </a:lnTo>
                  <a:lnTo>
                    <a:pt x="113000" y="6000"/>
                  </a:lnTo>
                  <a:lnTo>
                    <a:pt x="114000" y="5500"/>
                  </a:lnTo>
                  <a:lnTo>
                    <a:pt x="115000" y="10000"/>
                  </a:lnTo>
                  <a:lnTo>
                    <a:pt x="116000" y="10500"/>
                  </a:lnTo>
                  <a:lnTo>
                    <a:pt x="117000" y="12500"/>
                  </a:lnTo>
                  <a:lnTo>
                    <a:pt x="118000" y="16000"/>
                  </a:lnTo>
                  <a:lnTo>
                    <a:pt x="119000" y="12000"/>
                  </a:lnTo>
                  <a:lnTo>
                    <a:pt x="120000" y="11000"/>
                  </a:lnTo>
                  <a:lnTo>
                    <a:pt x="121000" y="12000"/>
                  </a:lnTo>
                  <a:lnTo>
                    <a:pt x="122000" y="16000"/>
                  </a:lnTo>
                  <a:lnTo>
                    <a:pt x="123000" y="17000"/>
                  </a:lnTo>
                  <a:lnTo>
                    <a:pt x="124000" y="18000"/>
                  </a:lnTo>
                  <a:lnTo>
                    <a:pt x="125000" y="14000"/>
                  </a:lnTo>
                  <a:lnTo>
                    <a:pt x="126000" y="14000"/>
                  </a:lnTo>
                  <a:lnTo>
                    <a:pt x="127000" y="16000"/>
                  </a:lnTo>
                  <a:lnTo>
                    <a:pt x="128000" y="14000"/>
                  </a:lnTo>
                  <a:lnTo>
                    <a:pt x="129000" y="12500"/>
                  </a:lnTo>
                  <a:lnTo>
                    <a:pt x="130000" y="12000"/>
                  </a:lnTo>
                  <a:lnTo>
                    <a:pt x="131000" y="13000"/>
                  </a:lnTo>
                  <a:lnTo>
                    <a:pt x="132000" y="16500"/>
                  </a:lnTo>
                  <a:lnTo>
                    <a:pt x="133000" y="15000"/>
                  </a:lnTo>
                  <a:lnTo>
                    <a:pt x="134000" y="14500"/>
                  </a:lnTo>
                  <a:lnTo>
                    <a:pt x="135000" y="17000"/>
                  </a:lnTo>
                  <a:lnTo>
                    <a:pt x="136000" y="17000"/>
                  </a:lnTo>
                  <a:lnTo>
                    <a:pt x="137000" y="14500"/>
                  </a:lnTo>
                  <a:lnTo>
                    <a:pt x="138000" y="13000"/>
                  </a:lnTo>
                  <a:lnTo>
                    <a:pt x="139000" y="13500"/>
                  </a:lnTo>
                  <a:lnTo>
                    <a:pt x="140000" y="12000"/>
                  </a:lnTo>
                  <a:lnTo>
                    <a:pt x="141000" y="14000"/>
                  </a:lnTo>
                  <a:lnTo>
                    <a:pt x="142000" y="11500"/>
                  </a:lnTo>
                  <a:lnTo>
                    <a:pt x="143000" y="12500"/>
                  </a:lnTo>
                  <a:lnTo>
                    <a:pt x="144000" y="18500"/>
                  </a:lnTo>
                  <a:lnTo>
                    <a:pt x="145000" y="20000"/>
                  </a:lnTo>
                  <a:lnTo>
                    <a:pt x="146000" y="14000"/>
                  </a:lnTo>
                  <a:lnTo>
                    <a:pt x="147000" y="14500"/>
                  </a:lnTo>
                  <a:lnTo>
                    <a:pt x="148000" y="17000"/>
                  </a:lnTo>
                  <a:lnTo>
                    <a:pt x="149000" y="16500"/>
                  </a:lnTo>
                  <a:lnTo>
                    <a:pt x="150000" y="13000"/>
                  </a:lnTo>
                  <a:lnTo>
                    <a:pt x="151000" y="14000"/>
                  </a:lnTo>
                  <a:lnTo>
                    <a:pt x="152000" y="14000"/>
                  </a:lnTo>
                  <a:lnTo>
                    <a:pt x="153000" y="19500"/>
                  </a:lnTo>
                  <a:lnTo>
                    <a:pt x="154000" y="18000"/>
                  </a:lnTo>
                  <a:lnTo>
                    <a:pt x="155000" y="13000"/>
                  </a:lnTo>
                  <a:lnTo>
                    <a:pt x="156000" y="13500"/>
                  </a:lnTo>
                  <a:lnTo>
                    <a:pt x="157000" y="16000"/>
                  </a:lnTo>
                  <a:lnTo>
                    <a:pt x="158000" y="16000"/>
                  </a:lnTo>
                  <a:lnTo>
                    <a:pt x="159000" y="13000"/>
                  </a:lnTo>
                  <a:lnTo>
                    <a:pt x="160000" y="13500"/>
                  </a:lnTo>
                  <a:lnTo>
                    <a:pt x="161000" y="17000"/>
                  </a:lnTo>
                  <a:lnTo>
                    <a:pt x="162000" y="18500"/>
                  </a:lnTo>
                  <a:lnTo>
                    <a:pt x="163000" y="19500"/>
                  </a:lnTo>
                  <a:lnTo>
                    <a:pt x="164000" y="20000"/>
                  </a:lnTo>
                  <a:lnTo>
                    <a:pt x="165000" y="19000"/>
                  </a:lnTo>
                  <a:lnTo>
                    <a:pt x="166000" y="17000"/>
                  </a:lnTo>
                  <a:lnTo>
                    <a:pt x="167000" y="15500"/>
                  </a:lnTo>
                  <a:lnTo>
                    <a:pt x="168000" y="14000"/>
                  </a:lnTo>
                  <a:lnTo>
                    <a:pt x="169000" y="13500"/>
                  </a:lnTo>
                  <a:lnTo>
                    <a:pt x="170000" y="11000"/>
                  </a:lnTo>
                  <a:lnTo>
                    <a:pt x="171000" y="11000"/>
                  </a:lnTo>
                  <a:lnTo>
                    <a:pt x="172000" y="17000"/>
                  </a:lnTo>
                  <a:lnTo>
                    <a:pt x="173000" y="19000"/>
                  </a:lnTo>
                  <a:lnTo>
                    <a:pt x="174000" y="20000"/>
                  </a:lnTo>
                  <a:lnTo>
                    <a:pt x="175000" y="20000"/>
                  </a:lnTo>
                  <a:lnTo>
                    <a:pt x="176000" y="18000"/>
                  </a:lnTo>
                  <a:lnTo>
                    <a:pt x="177000" y="16500"/>
                  </a:lnTo>
                  <a:lnTo>
                    <a:pt x="178000" y="13000"/>
                  </a:lnTo>
                  <a:lnTo>
                    <a:pt x="179000" y="10500"/>
                  </a:lnTo>
                  <a:lnTo>
                    <a:pt x="180000" y="8500"/>
                  </a:lnTo>
                  <a:lnTo>
                    <a:pt x="181000" y="7500"/>
                  </a:lnTo>
                  <a:lnTo>
                    <a:pt x="182000" y="8500"/>
                  </a:lnTo>
                  <a:lnTo>
                    <a:pt x="183000" y="11500"/>
                  </a:lnTo>
                  <a:lnTo>
                    <a:pt x="184000" y="15000"/>
                  </a:lnTo>
                  <a:lnTo>
                    <a:pt x="185000" y="17000"/>
                  </a:lnTo>
                  <a:lnTo>
                    <a:pt x="186000" y="17500"/>
                  </a:lnTo>
                  <a:lnTo>
                    <a:pt x="187000" y="16000"/>
                  </a:lnTo>
                  <a:lnTo>
                    <a:pt x="188000" y="13500"/>
                  </a:lnTo>
                  <a:lnTo>
                    <a:pt x="189000" y="11000"/>
                  </a:lnTo>
                  <a:lnTo>
                    <a:pt x="190000" y="8000"/>
                  </a:lnTo>
                  <a:lnTo>
                    <a:pt x="191000" y="5500"/>
                  </a:lnTo>
                  <a:lnTo>
                    <a:pt x="192000" y="4000"/>
                  </a:lnTo>
                  <a:lnTo>
                    <a:pt x="193000" y="3500"/>
                  </a:lnTo>
                  <a:lnTo>
                    <a:pt x="194000" y="5000"/>
                  </a:lnTo>
                  <a:lnTo>
                    <a:pt x="195000" y="8000"/>
                  </a:lnTo>
                  <a:lnTo>
                    <a:pt x="196000" y="11000"/>
                  </a:lnTo>
                  <a:lnTo>
                    <a:pt x="197000" y="13000"/>
                  </a:lnTo>
                  <a:lnTo>
                    <a:pt x="198000" y="13000"/>
                  </a:lnTo>
                  <a:lnTo>
                    <a:pt x="199000" y="11000"/>
                  </a:lnTo>
                  <a:lnTo>
                    <a:pt x="200000" y="8500"/>
                  </a:lnTo>
                  <a:lnTo>
                    <a:pt x="201000" y="6000"/>
                  </a:lnTo>
                  <a:lnTo>
                    <a:pt x="202000" y="3000"/>
                  </a:lnTo>
                  <a:lnTo>
                    <a:pt x="203000" y="1000"/>
                  </a:lnTo>
                  <a:lnTo>
                    <a:pt x="204000" y="500"/>
                  </a:lnTo>
                  <a:lnTo>
                    <a:pt x="205000" y="2000"/>
                  </a:lnTo>
                  <a:lnTo>
                    <a:pt x="206000" y="3500"/>
                  </a:lnTo>
                  <a:lnTo>
                    <a:pt x="207000" y="5500"/>
                  </a:lnTo>
                  <a:lnTo>
                    <a:pt x="208000" y="7000"/>
                  </a:lnTo>
                  <a:lnTo>
                    <a:pt x="209000" y="7500"/>
                  </a:lnTo>
                  <a:lnTo>
                    <a:pt x="210000" y="7000"/>
                  </a:lnTo>
                  <a:lnTo>
                    <a:pt x="211000" y="6000"/>
                  </a:lnTo>
                  <a:lnTo>
                    <a:pt x="212000" y="4000"/>
                  </a:lnTo>
                  <a:lnTo>
                    <a:pt x="213000" y="2500"/>
                  </a:lnTo>
                  <a:lnTo>
                    <a:pt x="214000" y="1500"/>
                  </a:lnTo>
                  <a:lnTo>
                    <a:pt x="215000" y="1500"/>
                  </a:lnTo>
                  <a:lnTo>
                    <a:pt x="216000" y="2000"/>
                  </a:lnTo>
                  <a:lnTo>
                    <a:pt x="217000" y="3000"/>
                  </a:lnTo>
                  <a:lnTo>
                    <a:pt x="218000" y="4500"/>
                  </a:lnTo>
                  <a:lnTo>
                    <a:pt x="219000" y="4500"/>
                  </a:lnTo>
                  <a:lnTo>
                    <a:pt x="220000" y="4000"/>
                  </a:lnTo>
                  <a:lnTo>
                    <a:pt x="221000" y="3000"/>
                  </a:lnTo>
                  <a:lnTo>
                    <a:pt x="222000" y="2000"/>
                  </a:lnTo>
                  <a:lnTo>
                    <a:pt x="223000" y="500"/>
                  </a:lnTo>
                  <a:lnTo>
                    <a:pt x="224000" y="500"/>
                  </a:lnTo>
                  <a:lnTo>
                    <a:pt x="225000" y="1500"/>
                  </a:lnTo>
                  <a:lnTo>
                    <a:pt x="226000" y="2500"/>
                  </a:lnTo>
                  <a:lnTo>
                    <a:pt x="227000" y="3500"/>
                  </a:lnTo>
                  <a:lnTo>
                    <a:pt x="228000" y="4500"/>
                  </a:lnTo>
                  <a:lnTo>
                    <a:pt x="229000" y="4000"/>
                  </a:lnTo>
                  <a:lnTo>
                    <a:pt x="230000" y="2500"/>
                  </a:lnTo>
                  <a:lnTo>
                    <a:pt x="231000" y="1000"/>
                  </a:lnTo>
                  <a:lnTo>
                    <a:pt x="232000" y="0"/>
                  </a:lnTo>
                  <a:lnTo>
                    <a:pt x="233000" y="500"/>
                  </a:lnTo>
                  <a:lnTo>
                    <a:pt x="234000" y="1500"/>
                  </a:lnTo>
                  <a:lnTo>
                    <a:pt x="235000" y="3500"/>
                  </a:lnTo>
                  <a:lnTo>
                    <a:pt x="236000" y="5500"/>
                  </a:lnTo>
                  <a:lnTo>
                    <a:pt x="237000" y="7000"/>
                  </a:lnTo>
                  <a:lnTo>
                    <a:pt x="238000" y="8500"/>
                  </a:lnTo>
                  <a:lnTo>
                    <a:pt x="239000" y="10000"/>
                  </a:lnTo>
                  <a:lnTo>
                    <a:pt x="240000" y="9000"/>
                  </a:lnTo>
                  <a:lnTo>
                    <a:pt x="241000" y="6000"/>
                  </a:lnTo>
                  <a:lnTo>
                    <a:pt x="242000" y="3000"/>
                  </a:lnTo>
                  <a:lnTo>
                    <a:pt x="243000" y="2500"/>
                  </a:lnTo>
                  <a:lnTo>
                    <a:pt x="244000" y="3000"/>
                  </a:lnTo>
                  <a:lnTo>
                    <a:pt x="245000" y="4500"/>
                  </a:lnTo>
                  <a:lnTo>
                    <a:pt x="246000" y="6000"/>
                  </a:lnTo>
                  <a:lnTo>
                    <a:pt x="247000" y="7000"/>
                  </a:lnTo>
                  <a:lnTo>
                    <a:pt x="248000" y="7500"/>
                  </a:lnTo>
                  <a:lnTo>
                    <a:pt x="249000" y="7500"/>
                  </a:lnTo>
                  <a:lnTo>
                    <a:pt x="250000" y="6000"/>
                  </a:lnTo>
                  <a:lnTo>
                    <a:pt x="251000" y="4000"/>
                  </a:lnTo>
                  <a:lnTo>
                    <a:pt x="252000" y="2500"/>
                  </a:lnTo>
                  <a:lnTo>
                    <a:pt x="253000" y="2500"/>
                  </a:lnTo>
                  <a:lnTo>
                    <a:pt x="254000" y="2500"/>
                  </a:lnTo>
                  <a:lnTo>
                    <a:pt x="255000" y="3500"/>
                  </a:lnTo>
                  <a:lnTo>
                    <a:pt x="256000" y="2500"/>
                  </a:lnTo>
                  <a:lnTo>
                    <a:pt x="257000" y="2000"/>
                  </a:lnTo>
                  <a:lnTo>
                    <a:pt x="258000" y="1500"/>
                  </a:lnTo>
                  <a:lnTo>
                    <a:pt x="259000" y="500"/>
                  </a:lnTo>
                  <a:lnTo>
                    <a:pt x="260000" y="3000"/>
                  </a:lnTo>
                  <a:lnTo>
                    <a:pt x="261000" y="6500"/>
                  </a:lnTo>
                  <a:lnTo>
                    <a:pt x="262000" y="10000"/>
                  </a:lnTo>
                  <a:lnTo>
                    <a:pt x="263000" y="14500"/>
                  </a:lnTo>
                  <a:lnTo>
                    <a:pt x="264000" y="16500"/>
                  </a:lnTo>
                  <a:lnTo>
                    <a:pt x="265000" y="15500"/>
                  </a:lnTo>
                  <a:lnTo>
                    <a:pt x="266000" y="14000"/>
                  </a:lnTo>
                  <a:lnTo>
                    <a:pt x="267000" y="12500"/>
                  </a:lnTo>
                  <a:lnTo>
                    <a:pt x="268000" y="13000"/>
                  </a:lnTo>
                  <a:lnTo>
                    <a:pt x="269000" y="15000"/>
                  </a:lnTo>
                  <a:lnTo>
                    <a:pt x="270000" y="17500"/>
                  </a:lnTo>
                  <a:lnTo>
                    <a:pt x="271000" y="17500"/>
                  </a:lnTo>
                  <a:lnTo>
                    <a:pt x="272000" y="14500"/>
                  </a:lnTo>
                  <a:lnTo>
                    <a:pt x="273000" y="11500"/>
                  </a:lnTo>
                  <a:lnTo>
                    <a:pt x="274000" y="9500"/>
                  </a:lnTo>
                  <a:lnTo>
                    <a:pt x="275000" y="8500"/>
                  </a:lnTo>
                  <a:lnTo>
                    <a:pt x="276000" y="8500"/>
                  </a:lnTo>
                  <a:lnTo>
                    <a:pt x="277000" y="8500"/>
                  </a:lnTo>
                  <a:lnTo>
                    <a:pt x="278000" y="9500"/>
                  </a:lnTo>
                  <a:lnTo>
                    <a:pt x="279000" y="10500"/>
                  </a:lnTo>
                  <a:lnTo>
                    <a:pt x="280000" y="11500"/>
                  </a:lnTo>
                  <a:lnTo>
                    <a:pt x="281000" y="11500"/>
                  </a:lnTo>
                  <a:lnTo>
                    <a:pt x="282000" y="10500"/>
                  </a:lnTo>
                  <a:lnTo>
                    <a:pt x="283000" y="8000"/>
                  </a:lnTo>
                  <a:lnTo>
                    <a:pt x="284000" y="7500"/>
                  </a:lnTo>
                  <a:lnTo>
                    <a:pt x="285000" y="9000"/>
                  </a:lnTo>
                  <a:lnTo>
                    <a:pt x="286000" y="10500"/>
                  </a:lnTo>
                  <a:lnTo>
                    <a:pt x="287000" y="10500"/>
                  </a:lnTo>
                  <a:lnTo>
                    <a:pt x="288000" y="9000"/>
                  </a:lnTo>
                  <a:lnTo>
                    <a:pt x="289000" y="8000"/>
                  </a:lnTo>
                  <a:lnTo>
                    <a:pt x="290000" y="7500"/>
                  </a:lnTo>
                  <a:lnTo>
                    <a:pt x="291000" y="6500"/>
                  </a:lnTo>
                  <a:lnTo>
                    <a:pt x="292000" y="7500"/>
                  </a:lnTo>
                  <a:lnTo>
                    <a:pt x="293000" y="10000"/>
                  </a:lnTo>
                  <a:lnTo>
                    <a:pt x="294000" y="12500"/>
                  </a:lnTo>
                  <a:lnTo>
                    <a:pt x="295000" y="15000"/>
                  </a:lnTo>
                  <a:lnTo>
                    <a:pt x="296000" y="17000"/>
                  </a:lnTo>
                  <a:lnTo>
                    <a:pt x="297000" y="16000"/>
                  </a:lnTo>
                  <a:lnTo>
                    <a:pt x="298000" y="12000"/>
                  </a:lnTo>
                  <a:lnTo>
                    <a:pt x="299000" y="8000"/>
                  </a:lnTo>
                  <a:lnTo>
                    <a:pt x="300000" y="4500"/>
                  </a:lnTo>
                  <a:lnTo>
                    <a:pt x="301000" y="2000"/>
                  </a:lnTo>
                  <a:lnTo>
                    <a:pt x="302000" y="1500"/>
                  </a:lnTo>
                  <a:lnTo>
                    <a:pt x="303000" y="1500"/>
                  </a:lnTo>
                  <a:lnTo>
                    <a:pt x="304000" y="3000"/>
                  </a:lnTo>
                  <a:lnTo>
                    <a:pt x="305000" y="3500"/>
                  </a:lnTo>
                  <a:lnTo>
                    <a:pt x="306000" y="4500"/>
                  </a:lnTo>
                  <a:lnTo>
                    <a:pt x="307000" y="4500"/>
                  </a:lnTo>
                  <a:lnTo>
                    <a:pt x="308000" y="2500"/>
                  </a:lnTo>
                  <a:lnTo>
                    <a:pt x="309000" y="1000"/>
                  </a:lnTo>
                  <a:lnTo>
                    <a:pt x="310000" y="500"/>
                  </a:lnTo>
                  <a:lnTo>
                    <a:pt x="311000" y="2000"/>
                  </a:lnTo>
                  <a:lnTo>
                    <a:pt x="312000" y="3000"/>
                  </a:lnTo>
                  <a:lnTo>
                    <a:pt x="313000" y="4000"/>
                  </a:lnTo>
                  <a:lnTo>
                    <a:pt x="314000" y="5000"/>
                  </a:lnTo>
                  <a:lnTo>
                    <a:pt x="315000" y="5500"/>
                  </a:lnTo>
                  <a:lnTo>
                    <a:pt x="316000" y="5500"/>
                  </a:lnTo>
                  <a:lnTo>
                    <a:pt x="317000" y="5500"/>
                  </a:lnTo>
                  <a:lnTo>
                    <a:pt x="318000" y="4500"/>
                  </a:lnTo>
                  <a:lnTo>
                    <a:pt x="319000" y="4500"/>
                  </a:lnTo>
                  <a:lnTo>
                    <a:pt x="320000" y="3500"/>
                  </a:lnTo>
                  <a:lnTo>
                    <a:pt x="321000" y="4500"/>
                  </a:lnTo>
                  <a:lnTo>
                    <a:pt x="322000" y="5000"/>
                  </a:lnTo>
                  <a:lnTo>
                    <a:pt x="323000" y="7000"/>
                  </a:lnTo>
                  <a:lnTo>
                    <a:pt x="324000" y="7500"/>
                  </a:lnTo>
                  <a:lnTo>
                    <a:pt x="325000" y="8500"/>
                  </a:lnTo>
                  <a:lnTo>
                    <a:pt x="326000" y="7000"/>
                  </a:lnTo>
                  <a:lnTo>
                    <a:pt x="327000" y="5500"/>
                  </a:lnTo>
                  <a:lnTo>
                    <a:pt x="328000" y="4000"/>
                  </a:lnTo>
                  <a:lnTo>
                    <a:pt x="329000" y="4000"/>
                  </a:lnTo>
                  <a:lnTo>
                    <a:pt x="330000" y="5500"/>
                  </a:lnTo>
                  <a:lnTo>
                    <a:pt x="331000" y="7500"/>
                  </a:lnTo>
                  <a:lnTo>
                    <a:pt x="332000" y="10000"/>
                  </a:lnTo>
                  <a:lnTo>
                    <a:pt x="333000" y="11500"/>
                  </a:lnTo>
                  <a:lnTo>
                    <a:pt x="334000" y="12500"/>
                  </a:lnTo>
                  <a:lnTo>
                    <a:pt x="335000" y="10500"/>
                  </a:lnTo>
                  <a:lnTo>
                    <a:pt x="336000" y="7500"/>
                  </a:lnTo>
                  <a:lnTo>
                    <a:pt x="337000" y="3500"/>
                  </a:lnTo>
                  <a:lnTo>
                    <a:pt x="338000" y="1000"/>
                  </a:lnTo>
                  <a:lnTo>
                    <a:pt x="339000" y="0"/>
                  </a:lnTo>
                  <a:lnTo>
                    <a:pt x="340000" y="500"/>
                  </a:lnTo>
                  <a:lnTo>
                    <a:pt x="341000" y="500"/>
                  </a:lnTo>
                  <a:lnTo>
                    <a:pt x="342000" y="1500"/>
                  </a:lnTo>
                  <a:lnTo>
                    <a:pt x="343000" y="1500"/>
                  </a:lnTo>
                  <a:lnTo>
                    <a:pt x="344000" y="2500"/>
                  </a:lnTo>
                  <a:lnTo>
                    <a:pt x="345000" y="2500"/>
                  </a:lnTo>
                  <a:lnTo>
                    <a:pt x="346000" y="1000"/>
                  </a:lnTo>
                  <a:lnTo>
                    <a:pt x="347000" y="500"/>
                  </a:lnTo>
                  <a:lnTo>
                    <a:pt x="348000" y="500"/>
                  </a:lnTo>
                  <a:lnTo>
                    <a:pt x="349000" y="1500"/>
                  </a:lnTo>
                  <a:lnTo>
                    <a:pt x="350000" y="3500"/>
                  </a:lnTo>
                  <a:lnTo>
                    <a:pt x="351000" y="6000"/>
                  </a:lnTo>
                  <a:lnTo>
                    <a:pt x="352000" y="8000"/>
                  </a:lnTo>
                  <a:lnTo>
                    <a:pt x="353000" y="10500"/>
                  </a:lnTo>
                  <a:lnTo>
                    <a:pt x="354000" y="12000"/>
                  </a:lnTo>
                  <a:lnTo>
                    <a:pt x="355000" y="12500"/>
                  </a:lnTo>
                  <a:lnTo>
                    <a:pt x="356000" y="10000"/>
                  </a:lnTo>
                  <a:lnTo>
                    <a:pt x="357000" y="8500"/>
                  </a:lnTo>
                  <a:lnTo>
                    <a:pt x="358000" y="10000"/>
                  </a:lnTo>
                  <a:lnTo>
                    <a:pt x="359000" y="12500"/>
                  </a:lnTo>
                  <a:lnTo>
                    <a:pt x="360000" y="14500"/>
                  </a:lnTo>
                  <a:lnTo>
                    <a:pt x="361000" y="15500"/>
                  </a:lnTo>
                  <a:lnTo>
                    <a:pt x="362000" y="14000"/>
                  </a:lnTo>
                  <a:lnTo>
                    <a:pt x="363000" y="12500"/>
                  </a:lnTo>
                  <a:lnTo>
                    <a:pt x="364000" y="11000"/>
                  </a:lnTo>
                  <a:lnTo>
                    <a:pt x="365000" y="10500"/>
                  </a:lnTo>
                  <a:lnTo>
                    <a:pt x="366000" y="11500"/>
                  </a:lnTo>
                  <a:lnTo>
                    <a:pt x="367000" y="13500"/>
                  </a:lnTo>
                  <a:lnTo>
                    <a:pt x="368000" y="15000"/>
                  </a:lnTo>
                  <a:lnTo>
                    <a:pt x="369000" y="16000"/>
                  </a:lnTo>
                  <a:lnTo>
                    <a:pt x="370000" y="16500"/>
                  </a:lnTo>
                  <a:lnTo>
                    <a:pt x="371000" y="16500"/>
                  </a:lnTo>
                  <a:lnTo>
                    <a:pt x="372000" y="15500"/>
                  </a:lnTo>
                  <a:lnTo>
                    <a:pt x="373000" y="14500"/>
                  </a:lnTo>
                  <a:lnTo>
                    <a:pt x="374000" y="13000"/>
                  </a:lnTo>
                  <a:lnTo>
                    <a:pt x="375000" y="12000"/>
                  </a:lnTo>
                  <a:lnTo>
                    <a:pt x="376000" y="10500"/>
                  </a:lnTo>
                  <a:lnTo>
                    <a:pt x="377000" y="9000"/>
                  </a:lnTo>
                  <a:lnTo>
                    <a:pt x="378000" y="7000"/>
                  </a:lnTo>
                  <a:lnTo>
                    <a:pt x="379000" y="6000"/>
                  </a:lnTo>
                </a:path>
              </a:pathLst>
            </a:custGeom>
            <a:noFill/>
            <a:ln w="9525" cap="rnd">
              <a:solidFill>
                <a:srgbClr val="C8682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71475" y="1014412"/>
              <a:ext cx="3609975" cy="161925"/>
            </a:xfrm>
            <a:custGeom>
              <a:avLst/>
              <a:gdLst/>
              <a:ahLst/>
              <a:cxnLst/>
              <a:rect l="0" t="0" r="r" b="b"/>
              <a:pathLst>
                <a:path w="379000" h="17000" fill="none">
                  <a:moveTo>
                    <a:pt x="0" y="6000"/>
                  </a:moveTo>
                  <a:lnTo>
                    <a:pt x="1000" y="5000"/>
                  </a:lnTo>
                  <a:lnTo>
                    <a:pt x="2000" y="4000"/>
                  </a:lnTo>
                  <a:lnTo>
                    <a:pt x="3000" y="3000"/>
                  </a:lnTo>
                  <a:lnTo>
                    <a:pt x="4000" y="2000"/>
                  </a:lnTo>
                  <a:lnTo>
                    <a:pt x="5000" y="1500"/>
                  </a:lnTo>
                  <a:lnTo>
                    <a:pt x="6000" y="1000"/>
                  </a:lnTo>
                  <a:lnTo>
                    <a:pt x="7000" y="0"/>
                  </a:lnTo>
                  <a:lnTo>
                    <a:pt x="8000" y="0"/>
                  </a:lnTo>
                  <a:lnTo>
                    <a:pt x="9000" y="0"/>
                  </a:lnTo>
                  <a:lnTo>
                    <a:pt x="10000" y="500"/>
                  </a:lnTo>
                  <a:lnTo>
                    <a:pt x="11000" y="1500"/>
                  </a:lnTo>
                  <a:lnTo>
                    <a:pt x="12000" y="2500"/>
                  </a:lnTo>
                  <a:lnTo>
                    <a:pt x="13000" y="4500"/>
                  </a:lnTo>
                  <a:lnTo>
                    <a:pt x="14000" y="6500"/>
                  </a:lnTo>
                  <a:lnTo>
                    <a:pt x="15000" y="8500"/>
                  </a:lnTo>
                  <a:lnTo>
                    <a:pt x="16000" y="10000"/>
                  </a:lnTo>
                  <a:lnTo>
                    <a:pt x="17000" y="11000"/>
                  </a:lnTo>
                  <a:lnTo>
                    <a:pt x="18000" y="11000"/>
                  </a:lnTo>
                  <a:lnTo>
                    <a:pt x="19000" y="9500"/>
                  </a:lnTo>
                  <a:lnTo>
                    <a:pt x="20000" y="7500"/>
                  </a:lnTo>
                  <a:lnTo>
                    <a:pt x="21000" y="6500"/>
                  </a:lnTo>
                  <a:lnTo>
                    <a:pt x="22000" y="6500"/>
                  </a:lnTo>
                  <a:lnTo>
                    <a:pt x="23000" y="7500"/>
                  </a:lnTo>
                  <a:lnTo>
                    <a:pt x="24000" y="9000"/>
                  </a:lnTo>
                  <a:lnTo>
                    <a:pt x="25000" y="10000"/>
                  </a:lnTo>
                  <a:lnTo>
                    <a:pt x="26000" y="11000"/>
                  </a:lnTo>
                  <a:lnTo>
                    <a:pt x="27000" y="12000"/>
                  </a:lnTo>
                  <a:lnTo>
                    <a:pt x="28000" y="11000"/>
                  </a:lnTo>
                  <a:lnTo>
                    <a:pt x="29000" y="10000"/>
                  </a:lnTo>
                  <a:lnTo>
                    <a:pt x="30000" y="9500"/>
                  </a:lnTo>
                  <a:lnTo>
                    <a:pt x="31000" y="10000"/>
                  </a:lnTo>
                  <a:lnTo>
                    <a:pt x="32000" y="11000"/>
                  </a:lnTo>
                  <a:lnTo>
                    <a:pt x="33000" y="12000"/>
                  </a:lnTo>
                  <a:lnTo>
                    <a:pt x="34000" y="13000"/>
                  </a:lnTo>
                  <a:lnTo>
                    <a:pt x="35000" y="14000"/>
                  </a:lnTo>
                  <a:lnTo>
                    <a:pt x="36000" y="15000"/>
                  </a:lnTo>
                  <a:lnTo>
                    <a:pt x="37000" y="15000"/>
                  </a:lnTo>
                  <a:lnTo>
                    <a:pt x="38000" y="15000"/>
                  </a:lnTo>
                  <a:lnTo>
                    <a:pt x="39000" y="14000"/>
                  </a:lnTo>
                  <a:lnTo>
                    <a:pt x="40000" y="12500"/>
                  </a:lnTo>
                  <a:lnTo>
                    <a:pt x="41000" y="11000"/>
                  </a:lnTo>
                  <a:lnTo>
                    <a:pt x="42000" y="10000"/>
                  </a:lnTo>
                  <a:lnTo>
                    <a:pt x="43000" y="10000"/>
                  </a:lnTo>
                  <a:lnTo>
                    <a:pt x="44000" y="11000"/>
                  </a:lnTo>
                  <a:lnTo>
                    <a:pt x="45000" y="12000"/>
                  </a:lnTo>
                  <a:lnTo>
                    <a:pt x="46000" y="13500"/>
                  </a:lnTo>
                  <a:lnTo>
                    <a:pt x="47000" y="15500"/>
                  </a:lnTo>
                  <a:lnTo>
                    <a:pt x="48000" y="17000"/>
                  </a:lnTo>
                  <a:lnTo>
                    <a:pt x="49000" y="17000"/>
                  </a:lnTo>
                  <a:lnTo>
                    <a:pt x="50000" y="16500"/>
                  </a:lnTo>
                  <a:lnTo>
                    <a:pt x="51000" y="14500"/>
                  </a:lnTo>
                  <a:lnTo>
                    <a:pt x="52000" y="13000"/>
                  </a:lnTo>
                  <a:lnTo>
                    <a:pt x="53000" y="10000"/>
                  </a:lnTo>
                  <a:lnTo>
                    <a:pt x="54000" y="8000"/>
                  </a:lnTo>
                  <a:lnTo>
                    <a:pt x="55000" y="5500"/>
                  </a:lnTo>
                  <a:lnTo>
                    <a:pt x="56000" y="5000"/>
                  </a:lnTo>
                  <a:lnTo>
                    <a:pt x="57000" y="5500"/>
                  </a:lnTo>
                  <a:lnTo>
                    <a:pt x="58000" y="7000"/>
                  </a:lnTo>
                  <a:lnTo>
                    <a:pt x="59000" y="9500"/>
                  </a:lnTo>
                  <a:lnTo>
                    <a:pt x="60000" y="11000"/>
                  </a:lnTo>
                  <a:lnTo>
                    <a:pt x="61000" y="10500"/>
                  </a:lnTo>
                  <a:lnTo>
                    <a:pt x="62000" y="8500"/>
                  </a:lnTo>
                  <a:lnTo>
                    <a:pt x="63000" y="5000"/>
                  </a:lnTo>
                  <a:lnTo>
                    <a:pt x="64000" y="2000"/>
                  </a:lnTo>
                  <a:lnTo>
                    <a:pt x="65000" y="1000"/>
                  </a:lnTo>
                  <a:lnTo>
                    <a:pt x="66000" y="1000"/>
                  </a:lnTo>
                  <a:lnTo>
                    <a:pt x="67000" y="2000"/>
                  </a:lnTo>
                  <a:lnTo>
                    <a:pt x="68000" y="3000"/>
                  </a:lnTo>
                  <a:lnTo>
                    <a:pt x="69000" y="4500"/>
                  </a:lnTo>
                  <a:lnTo>
                    <a:pt x="70000" y="6500"/>
                  </a:lnTo>
                  <a:lnTo>
                    <a:pt x="71000" y="7500"/>
                  </a:lnTo>
                  <a:lnTo>
                    <a:pt x="72000" y="9000"/>
                  </a:lnTo>
                  <a:lnTo>
                    <a:pt x="73000" y="9000"/>
                  </a:lnTo>
                  <a:lnTo>
                    <a:pt x="74000" y="6000"/>
                  </a:lnTo>
                  <a:lnTo>
                    <a:pt x="75000" y="4000"/>
                  </a:lnTo>
                  <a:lnTo>
                    <a:pt x="76000" y="4000"/>
                  </a:lnTo>
                  <a:lnTo>
                    <a:pt x="77000" y="5000"/>
                  </a:lnTo>
                  <a:lnTo>
                    <a:pt x="78000" y="6500"/>
                  </a:lnTo>
                  <a:lnTo>
                    <a:pt x="79000" y="8000"/>
                  </a:lnTo>
                  <a:lnTo>
                    <a:pt x="80000" y="9500"/>
                  </a:lnTo>
                  <a:lnTo>
                    <a:pt x="81000" y="11000"/>
                  </a:lnTo>
                  <a:lnTo>
                    <a:pt x="82000" y="12000"/>
                  </a:lnTo>
                  <a:lnTo>
                    <a:pt x="83000" y="13000"/>
                  </a:lnTo>
                  <a:lnTo>
                    <a:pt x="84000" y="13000"/>
                  </a:lnTo>
                  <a:lnTo>
                    <a:pt x="85000" y="12000"/>
                  </a:lnTo>
                  <a:lnTo>
                    <a:pt x="86000" y="11000"/>
                  </a:lnTo>
                  <a:lnTo>
                    <a:pt x="87000" y="10000"/>
                  </a:lnTo>
                  <a:lnTo>
                    <a:pt x="88000" y="10000"/>
                  </a:lnTo>
                  <a:lnTo>
                    <a:pt x="89000" y="10500"/>
                  </a:lnTo>
                  <a:lnTo>
                    <a:pt x="90000" y="11000"/>
                  </a:lnTo>
                  <a:lnTo>
                    <a:pt x="91000" y="12000"/>
                  </a:lnTo>
                  <a:lnTo>
                    <a:pt x="92000" y="12500"/>
                  </a:lnTo>
                  <a:lnTo>
                    <a:pt x="93000" y="13000"/>
                  </a:lnTo>
                  <a:lnTo>
                    <a:pt x="94000" y="14000"/>
                  </a:lnTo>
                  <a:lnTo>
                    <a:pt x="95000" y="14000"/>
                  </a:lnTo>
                  <a:lnTo>
                    <a:pt x="96000" y="14000"/>
                  </a:lnTo>
                  <a:lnTo>
                    <a:pt x="97000" y="13500"/>
                  </a:lnTo>
                  <a:lnTo>
                    <a:pt x="98000" y="13000"/>
                  </a:lnTo>
                  <a:lnTo>
                    <a:pt x="99000" y="12000"/>
                  </a:lnTo>
                  <a:lnTo>
                    <a:pt x="100000" y="12000"/>
                  </a:lnTo>
                  <a:lnTo>
                    <a:pt x="101000" y="12500"/>
                  </a:lnTo>
                  <a:lnTo>
                    <a:pt x="102000" y="12500"/>
                  </a:lnTo>
                  <a:lnTo>
                    <a:pt x="103000" y="13000"/>
                  </a:lnTo>
                  <a:lnTo>
                    <a:pt x="104000" y="13500"/>
                  </a:lnTo>
                  <a:lnTo>
                    <a:pt x="105000" y="14000"/>
                  </a:lnTo>
                  <a:lnTo>
                    <a:pt x="106000" y="14500"/>
                  </a:lnTo>
                  <a:lnTo>
                    <a:pt x="107000" y="14500"/>
                  </a:lnTo>
                  <a:lnTo>
                    <a:pt x="108000" y="15000"/>
                  </a:lnTo>
                  <a:lnTo>
                    <a:pt x="109000" y="15000"/>
                  </a:lnTo>
                  <a:lnTo>
                    <a:pt x="110000" y="14000"/>
                  </a:lnTo>
                  <a:lnTo>
                    <a:pt x="111000" y="13500"/>
                  </a:lnTo>
                  <a:lnTo>
                    <a:pt x="112000" y="13000"/>
                  </a:lnTo>
                  <a:lnTo>
                    <a:pt x="113000" y="13000"/>
                  </a:lnTo>
                  <a:lnTo>
                    <a:pt x="114000" y="13500"/>
                  </a:lnTo>
                  <a:lnTo>
                    <a:pt x="115000" y="14000"/>
                  </a:lnTo>
                  <a:lnTo>
                    <a:pt x="116000" y="15000"/>
                  </a:lnTo>
                  <a:lnTo>
                    <a:pt x="117000" y="15500"/>
                  </a:lnTo>
                  <a:lnTo>
                    <a:pt x="118000" y="16000"/>
                  </a:lnTo>
                  <a:lnTo>
                    <a:pt x="119000" y="16000"/>
                  </a:lnTo>
                  <a:lnTo>
                    <a:pt x="120000" y="14500"/>
                  </a:lnTo>
                  <a:lnTo>
                    <a:pt x="121000" y="11500"/>
                  </a:lnTo>
                  <a:lnTo>
                    <a:pt x="122000" y="8500"/>
                  </a:lnTo>
                  <a:lnTo>
                    <a:pt x="123000" y="5500"/>
                  </a:lnTo>
                  <a:lnTo>
                    <a:pt x="124000" y="3500"/>
                  </a:lnTo>
                  <a:lnTo>
                    <a:pt x="125000" y="2000"/>
                  </a:lnTo>
                  <a:lnTo>
                    <a:pt x="126000" y="2000"/>
                  </a:lnTo>
                  <a:lnTo>
                    <a:pt x="127000" y="3000"/>
                  </a:lnTo>
                  <a:lnTo>
                    <a:pt x="128000" y="4000"/>
                  </a:lnTo>
                  <a:lnTo>
                    <a:pt x="129000" y="5000"/>
                  </a:lnTo>
                  <a:lnTo>
                    <a:pt x="130000" y="6000"/>
                  </a:lnTo>
                  <a:lnTo>
                    <a:pt x="131000" y="7000"/>
                  </a:lnTo>
                  <a:lnTo>
                    <a:pt x="132000" y="8000"/>
                  </a:lnTo>
                  <a:lnTo>
                    <a:pt x="133000" y="8500"/>
                  </a:lnTo>
                  <a:lnTo>
                    <a:pt x="134000" y="8000"/>
                  </a:lnTo>
                  <a:lnTo>
                    <a:pt x="135000" y="6500"/>
                  </a:lnTo>
                  <a:lnTo>
                    <a:pt x="136000" y="5000"/>
                  </a:lnTo>
                  <a:lnTo>
                    <a:pt x="137000" y="2500"/>
                  </a:lnTo>
                  <a:lnTo>
                    <a:pt x="138000" y="1000"/>
                  </a:lnTo>
                  <a:lnTo>
                    <a:pt x="139000" y="0"/>
                  </a:lnTo>
                  <a:lnTo>
                    <a:pt x="140000" y="1000"/>
                  </a:lnTo>
                  <a:lnTo>
                    <a:pt x="141000" y="2000"/>
                  </a:lnTo>
                  <a:lnTo>
                    <a:pt x="142000" y="3500"/>
                  </a:lnTo>
                  <a:lnTo>
                    <a:pt x="143000" y="5500"/>
                  </a:lnTo>
                  <a:lnTo>
                    <a:pt x="144000" y="6500"/>
                  </a:lnTo>
                  <a:lnTo>
                    <a:pt x="145000" y="7500"/>
                  </a:lnTo>
                  <a:lnTo>
                    <a:pt x="146000" y="8000"/>
                  </a:lnTo>
                  <a:lnTo>
                    <a:pt x="147000" y="6500"/>
                  </a:lnTo>
                  <a:lnTo>
                    <a:pt x="148000" y="5000"/>
                  </a:lnTo>
                  <a:lnTo>
                    <a:pt x="149000" y="4000"/>
                  </a:lnTo>
                  <a:lnTo>
                    <a:pt x="150000" y="3500"/>
                  </a:lnTo>
                  <a:lnTo>
                    <a:pt x="151000" y="3500"/>
                  </a:lnTo>
                  <a:lnTo>
                    <a:pt x="152000" y="4000"/>
                  </a:lnTo>
                  <a:lnTo>
                    <a:pt x="153000" y="5000"/>
                  </a:lnTo>
                  <a:lnTo>
                    <a:pt x="154000" y="6000"/>
                  </a:lnTo>
                  <a:lnTo>
                    <a:pt x="155000" y="6500"/>
                  </a:lnTo>
                  <a:lnTo>
                    <a:pt x="156000" y="7000"/>
                  </a:lnTo>
                  <a:lnTo>
                    <a:pt x="157000" y="8000"/>
                  </a:lnTo>
                  <a:lnTo>
                    <a:pt x="158000" y="8000"/>
                  </a:lnTo>
                  <a:lnTo>
                    <a:pt x="159000" y="8000"/>
                  </a:lnTo>
                  <a:lnTo>
                    <a:pt x="160000" y="7000"/>
                  </a:lnTo>
                  <a:lnTo>
                    <a:pt x="161000" y="5500"/>
                  </a:lnTo>
                  <a:lnTo>
                    <a:pt x="162000" y="3500"/>
                  </a:lnTo>
                  <a:lnTo>
                    <a:pt x="163000" y="2500"/>
                  </a:lnTo>
                  <a:lnTo>
                    <a:pt x="164000" y="1000"/>
                  </a:lnTo>
                  <a:lnTo>
                    <a:pt x="165000" y="1000"/>
                  </a:lnTo>
                  <a:lnTo>
                    <a:pt x="166000" y="1000"/>
                  </a:lnTo>
                  <a:lnTo>
                    <a:pt x="167000" y="2000"/>
                  </a:lnTo>
                  <a:lnTo>
                    <a:pt x="168000" y="3000"/>
                  </a:lnTo>
                  <a:lnTo>
                    <a:pt x="169000" y="4500"/>
                  </a:lnTo>
                  <a:lnTo>
                    <a:pt x="170000" y="6500"/>
                  </a:lnTo>
                  <a:lnTo>
                    <a:pt x="171000" y="7500"/>
                  </a:lnTo>
                  <a:lnTo>
                    <a:pt x="172000" y="9500"/>
                  </a:lnTo>
                  <a:lnTo>
                    <a:pt x="173000" y="11500"/>
                  </a:lnTo>
                  <a:lnTo>
                    <a:pt x="174000" y="13000"/>
                  </a:lnTo>
                  <a:lnTo>
                    <a:pt x="175000" y="14000"/>
                  </a:lnTo>
                  <a:lnTo>
                    <a:pt x="176000" y="15000"/>
                  </a:lnTo>
                  <a:lnTo>
                    <a:pt x="177000" y="14000"/>
                  </a:lnTo>
                  <a:lnTo>
                    <a:pt x="178000" y="11000"/>
                  </a:lnTo>
                  <a:lnTo>
                    <a:pt x="179000" y="7500"/>
                  </a:lnTo>
                  <a:lnTo>
                    <a:pt x="180000" y="6500"/>
                  </a:lnTo>
                  <a:lnTo>
                    <a:pt x="181000" y="7000"/>
                  </a:lnTo>
                  <a:lnTo>
                    <a:pt x="182000" y="7500"/>
                  </a:lnTo>
                  <a:lnTo>
                    <a:pt x="183000" y="8000"/>
                  </a:lnTo>
                  <a:lnTo>
                    <a:pt x="184000" y="9000"/>
                  </a:lnTo>
                  <a:lnTo>
                    <a:pt x="185000" y="10000"/>
                  </a:lnTo>
                  <a:lnTo>
                    <a:pt x="186000" y="11000"/>
                  </a:lnTo>
                  <a:lnTo>
                    <a:pt x="187000" y="12000"/>
                  </a:lnTo>
                  <a:lnTo>
                    <a:pt x="188000" y="13000"/>
                  </a:lnTo>
                  <a:lnTo>
                    <a:pt x="189000" y="14000"/>
                  </a:lnTo>
                  <a:lnTo>
                    <a:pt x="190000" y="15000"/>
                  </a:lnTo>
                  <a:lnTo>
                    <a:pt x="191000" y="15500"/>
                  </a:lnTo>
                  <a:lnTo>
                    <a:pt x="192000" y="15000"/>
                  </a:lnTo>
                  <a:lnTo>
                    <a:pt x="193000" y="14000"/>
                  </a:lnTo>
                  <a:lnTo>
                    <a:pt x="194000" y="12000"/>
                  </a:lnTo>
                  <a:lnTo>
                    <a:pt x="195000" y="11000"/>
                  </a:lnTo>
                  <a:lnTo>
                    <a:pt x="196000" y="10000"/>
                  </a:lnTo>
                  <a:lnTo>
                    <a:pt x="197000" y="11000"/>
                  </a:lnTo>
                  <a:lnTo>
                    <a:pt x="198000" y="12500"/>
                  </a:lnTo>
                  <a:lnTo>
                    <a:pt x="199000" y="14500"/>
                  </a:lnTo>
                  <a:lnTo>
                    <a:pt x="200000" y="16000"/>
                  </a:lnTo>
                  <a:lnTo>
                    <a:pt x="201000" y="16500"/>
                  </a:lnTo>
                  <a:lnTo>
                    <a:pt x="202000" y="16500"/>
                  </a:lnTo>
                  <a:lnTo>
                    <a:pt x="203000" y="15500"/>
                  </a:lnTo>
                  <a:lnTo>
                    <a:pt x="204000" y="14500"/>
                  </a:lnTo>
                  <a:lnTo>
                    <a:pt x="205000" y="13000"/>
                  </a:lnTo>
                  <a:lnTo>
                    <a:pt x="206000" y="12000"/>
                  </a:lnTo>
                  <a:lnTo>
                    <a:pt x="207000" y="11000"/>
                  </a:lnTo>
                  <a:lnTo>
                    <a:pt x="208000" y="11000"/>
                  </a:lnTo>
                  <a:lnTo>
                    <a:pt x="209000" y="11500"/>
                  </a:lnTo>
                  <a:lnTo>
                    <a:pt x="210000" y="12000"/>
                  </a:lnTo>
                  <a:lnTo>
                    <a:pt x="211000" y="13000"/>
                  </a:lnTo>
                  <a:lnTo>
                    <a:pt x="212000" y="13500"/>
                  </a:lnTo>
                  <a:lnTo>
                    <a:pt x="213000" y="14000"/>
                  </a:lnTo>
                  <a:lnTo>
                    <a:pt x="214000" y="12500"/>
                  </a:lnTo>
                  <a:lnTo>
                    <a:pt x="215000" y="10000"/>
                  </a:lnTo>
                  <a:lnTo>
                    <a:pt x="216000" y="7000"/>
                  </a:lnTo>
                  <a:lnTo>
                    <a:pt x="217000" y="5500"/>
                  </a:lnTo>
                  <a:lnTo>
                    <a:pt x="218000" y="5500"/>
                  </a:lnTo>
                  <a:lnTo>
                    <a:pt x="219000" y="6000"/>
                  </a:lnTo>
                  <a:lnTo>
                    <a:pt x="220000" y="7000"/>
                  </a:lnTo>
                  <a:lnTo>
                    <a:pt x="221000" y="8000"/>
                  </a:lnTo>
                  <a:lnTo>
                    <a:pt x="222000" y="9000"/>
                  </a:lnTo>
                  <a:lnTo>
                    <a:pt x="223000" y="10000"/>
                  </a:lnTo>
                  <a:lnTo>
                    <a:pt x="224000" y="11000"/>
                  </a:lnTo>
                  <a:lnTo>
                    <a:pt x="225000" y="12000"/>
                  </a:lnTo>
                  <a:lnTo>
                    <a:pt x="226000" y="12000"/>
                  </a:lnTo>
                  <a:lnTo>
                    <a:pt x="227000" y="11500"/>
                  </a:lnTo>
                  <a:lnTo>
                    <a:pt x="228000" y="10500"/>
                  </a:lnTo>
                  <a:lnTo>
                    <a:pt x="229000" y="9000"/>
                  </a:lnTo>
                  <a:lnTo>
                    <a:pt x="230000" y="7000"/>
                  </a:lnTo>
                  <a:lnTo>
                    <a:pt x="231000" y="5000"/>
                  </a:lnTo>
                  <a:lnTo>
                    <a:pt x="232000" y="3500"/>
                  </a:lnTo>
                  <a:lnTo>
                    <a:pt x="233000" y="2500"/>
                  </a:lnTo>
                  <a:lnTo>
                    <a:pt x="235000" y="2500"/>
                  </a:lnTo>
                  <a:lnTo>
                    <a:pt x="236000" y="3000"/>
                  </a:lnTo>
                  <a:lnTo>
                    <a:pt x="237000" y="4500"/>
                  </a:lnTo>
                  <a:lnTo>
                    <a:pt x="238000" y="5500"/>
                  </a:lnTo>
                  <a:lnTo>
                    <a:pt x="239000" y="7000"/>
                  </a:lnTo>
                  <a:lnTo>
                    <a:pt x="240000" y="8500"/>
                  </a:lnTo>
                  <a:lnTo>
                    <a:pt x="241000" y="9500"/>
                  </a:lnTo>
                  <a:lnTo>
                    <a:pt x="242000" y="10500"/>
                  </a:lnTo>
                  <a:lnTo>
                    <a:pt x="245000" y="10500"/>
                  </a:lnTo>
                  <a:lnTo>
                    <a:pt x="246000" y="9000"/>
                  </a:lnTo>
                  <a:lnTo>
                    <a:pt x="247000" y="7500"/>
                  </a:lnTo>
                  <a:lnTo>
                    <a:pt x="248000" y="6500"/>
                  </a:lnTo>
                  <a:lnTo>
                    <a:pt x="249000" y="6500"/>
                  </a:lnTo>
                  <a:lnTo>
                    <a:pt x="250000" y="6500"/>
                  </a:lnTo>
                  <a:lnTo>
                    <a:pt x="251000" y="5500"/>
                  </a:lnTo>
                  <a:lnTo>
                    <a:pt x="252000" y="6000"/>
                  </a:lnTo>
                  <a:lnTo>
                    <a:pt x="253000" y="6500"/>
                  </a:lnTo>
                  <a:lnTo>
                    <a:pt x="254000" y="5500"/>
                  </a:lnTo>
                  <a:lnTo>
                    <a:pt x="255000" y="5500"/>
                  </a:lnTo>
                  <a:lnTo>
                    <a:pt x="256000" y="11500"/>
                  </a:lnTo>
                  <a:lnTo>
                    <a:pt x="257000" y="12500"/>
                  </a:lnTo>
                  <a:lnTo>
                    <a:pt x="258000" y="13000"/>
                  </a:lnTo>
                  <a:lnTo>
                    <a:pt x="259000" y="9000"/>
                  </a:lnTo>
                  <a:lnTo>
                    <a:pt x="260000" y="9000"/>
                  </a:lnTo>
                  <a:lnTo>
                    <a:pt x="261000" y="10500"/>
                  </a:lnTo>
                  <a:lnTo>
                    <a:pt x="262000" y="11500"/>
                  </a:lnTo>
                  <a:lnTo>
                    <a:pt x="263000" y="7500"/>
                  </a:lnTo>
                  <a:lnTo>
                    <a:pt x="264000" y="7500"/>
                  </a:lnTo>
                  <a:lnTo>
                    <a:pt x="265000" y="9500"/>
                  </a:lnTo>
                  <a:lnTo>
                    <a:pt x="266000" y="13500"/>
                  </a:lnTo>
                  <a:lnTo>
                    <a:pt x="267000" y="10500"/>
                  </a:lnTo>
                  <a:lnTo>
                    <a:pt x="268000" y="9500"/>
                  </a:lnTo>
                  <a:lnTo>
                    <a:pt x="269000" y="12500"/>
                  </a:lnTo>
                  <a:lnTo>
                    <a:pt x="270000" y="11500"/>
                  </a:lnTo>
                  <a:lnTo>
                    <a:pt x="271000" y="9000"/>
                  </a:lnTo>
                  <a:lnTo>
                    <a:pt x="272000" y="8500"/>
                  </a:lnTo>
                  <a:lnTo>
                    <a:pt x="273000" y="12000"/>
                  </a:lnTo>
                  <a:lnTo>
                    <a:pt x="274000" y="16500"/>
                  </a:lnTo>
                  <a:lnTo>
                    <a:pt x="275000" y="11500"/>
                  </a:lnTo>
                  <a:lnTo>
                    <a:pt x="276000" y="7500"/>
                  </a:lnTo>
                  <a:lnTo>
                    <a:pt x="277000" y="7500"/>
                  </a:lnTo>
                  <a:lnTo>
                    <a:pt x="278000" y="12000"/>
                  </a:lnTo>
                  <a:lnTo>
                    <a:pt x="280000" y="9000"/>
                  </a:lnTo>
                  <a:lnTo>
                    <a:pt x="281000" y="9000"/>
                  </a:lnTo>
                  <a:lnTo>
                    <a:pt x="282000" y="12000"/>
                  </a:lnTo>
                  <a:lnTo>
                    <a:pt x="283000" y="11500"/>
                  </a:lnTo>
                  <a:lnTo>
                    <a:pt x="284000" y="8500"/>
                  </a:lnTo>
                  <a:lnTo>
                    <a:pt x="285000" y="9000"/>
                  </a:lnTo>
                  <a:lnTo>
                    <a:pt x="286000" y="9000"/>
                  </a:lnTo>
                  <a:lnTo>
                    <a:pt x="287000" y="13000"/>
                  </a:lnTo>
                  <a:lnTo>
                    <a:pt x="288000" y="10500"/>
                  </a:lnTo>
                  <a:lnTo>
                    <a:pt x="289000" y="8000"/>
                  </a:lnTo>
                  <a:lnTo>
                    <a:pt x="290000" y="8000"/>
                  </a:lnTo>
                  <a:lnTo>
                    <a:pt x="291000" y="6500"/>
                  </a:lnTo>
                  <a:lnTo>
                    <a:pt x="292000" y="5500"/>
                  </a:lnTo>
                  <a:lnTo>
                    <a:pt x="293000" y="8000"/>
                  </a:lnTo>
                  <a:lnTo>
                    <a:pt x="294000" y="8500"/>
                  </a:lnTo>
                  <a:lnTo>
                    <a:pt x="295000" y="12000"/>
                  </a:lnTo>
                  <a:lnTo>
                    <a:pt x="296000" y="13500"/>
                  </a:lnTo>
                  <a:lnTo>
                    <a:pt x="297000" y="14500"/>
                  </a:lnTo>
                  <a:lnTo>
                    <a:pt x="298000" y="14500"/>
                  </a:lnTo>
                  <a:lnTo>
                    <a:pt x="299000" y="13500"/>
                  </a:lnTo>
                  <a:lnTo>
                    <a:pt x="300000" y="12000"/>
                  </a:lnTo>
                  <a:lnTo>
                    <a:pt x="301000" y="9500"/>
                  </a:lnTo>
                  <a:lnTo>
                    <a:pt x="302000" y="8000"/>
                  </a:lnTo>
                  <a:lnTo>
                    <a:pt x="303000" y="6500"/>
                  </a:lnTo>
                  <a:lnTo>
                    <a:pt x="304000" y="4500"/>
                  </a:lnTo>
                  <a:lnTo>
                    <a:pt x="305000" y="5000"/>
                  </a:lnTo>
                  <a:lnTo>
                    <a:pt x="306000" y="7500"/>
                  </a:lnTo>
                  <a:lnTo>
                    <a:pt x="307000" y="8000"/>
                  </a:lnTo>
                  <a:lnTo>
                    <a:pt x="308000" y="7500"/>
                  </a:lnTo>
                  <a:lnTo>
                    <a:pt x="309000" y="5000"/>
                  </a:lnTo>
                  <a:lnTo>
                    <a:pt x="310000" y="7000"/>
                  </a:lnTo>
                  <a:lnTo>
                    <a:pt x="311000" y="9000"/>
                  </a:lnTo>
                  <a:lnTo>
                    <a:pt x="312000" y="10500"/>
                  </a:lnTo>
                  <a:lnTo>
                    <a:pt x="313000" y="11500"/>
                  </a:lnTo>
                  <a:lnTo>
                    <a:pt x="314000" y="10500"/>
                  </a:lnTo>
                  <a:lnTo>
                    <a:pt x="315000" y="9000"/>
                  </a:lnTo>
                  <a:lnTo>
                    <a:pt x="316000" y="6000"/>
                  </a:lnTo>
                  <a:lnTo>
                    <a:pt x="317000" y="4500"/>
                  </a:lnTo>
                  <a:lnTo>
                    <a:pt x="318000" y="4500"/>
                  </a:lnTo>
                  <a:lnTo>
                    <a:pt x="319000" y="4500"/>
                  </a:lnTo>
                  <a:lnTo>
                    <a:pt x="320000" y="5500"/>
                  </a:lnTo>
                  <a:lnTo>
                    <a:pt x="321000" y="6500"/>
                  </a:lnTo>
                  <a:lnTo>
                    <a:pt x="322000" y="7500"/>
                  </a:lnTo>
                  <a:lnTo>
                    <a:pt x="323000" y="8500"/>
                  </a:lnTo>
                  <a:lnTo>
                    <a:pt x="324000" y="9500"/>
                  </a:lnTo>
                  <a:lnTo>
                    <a:pt x="325000" y="10500"/>
                  </a:lnTo>
                  <a:lnTo>
                    <a:pt x="326000" y="10500"/>
                  </a:lnTo>
                  <a:lnTo>
                    <a:pt x="327000" y="10000"/>
                  </a:lnTo>
                  <a:lnTo>
                    <a:pt x="328000" y="8000"/>
                  </a:lnTo>
                  <a:lnTo>
                    <a:pt x="329000" y="5000"/>
                  </a:lnTo>
                  <a:lnTo>
                    <a:pt x="330000" y="2500"/>
                  </a:lnTo>
                  <a:lnTo>
                    <a:pt x="331000" y="1000"/>
                  </a:lnTo>
                  <a:lnTo>
                    <a:pt x="332000" y="0"/>
                  </a:lnTo>
                  <a:lnTo>
                    <a:pt x="333000" y="1000"/>
                  </a:lnTo>
                  <a:lnTo>
                    <a:pt x="334000" y="2000"/>
                  </a:lnTo>
                  <a:lnTo>
                    <a:pt x="335000" y="3000"/>
                  </a:lnTo>
                  <a:lnTo>
                    <a:pt x="336000" y="4500"/>
                  </a:lnTo>
                  <a:lnTo>
                    <a:pt x="337000" y="6000"/>
                  </a:lnTo>
                  <a:lnTo>
                    <a:pt x="338000" y="7500"/>
                  </a:lnTo>
                  <a:lnTo>
                    <a:pt x="339000" y="9000"/>
                  </a:lnTo>
                  <a:lnTo>
                    <a:pt x="340000" y="10000"/>
                  </a:lnTo>
                  <a:lnTo>
                    <a:pt x="341000" y="10500"/>
                  </a:lnTo>
                  <a:lnTo>
                    <a:pt x="342000" y="10000"/>
                  </a:lnTo>
                  <a:lnTo>
                    <a:pt x="343000" y="9000"/>
                  </a:lnTo>
                  <a:lnTo>
                    <a:pt x="344000" y="7500"/>
                  </a:lnTo>
                  <a:lnTo>
                    <a:pt x="345000" y="5500"/>
                  </a:lnTo>
                  <a:lnTo>
                    <a:pt x="346000" y="4000"/>
                  </a:lnTo>
                  <a:lnTo>
                    <a:pt x="347000" y="3000"/>
                  </a:lnTo>
                  <a:lnTo>
                    <a:pt x="348000" y="3000"/>
                  </a:lnTo>
                  <a:lnTo>
                    <a:pt x="349000" y="5000"/>
                  </a:lnTo>
                  <a:lnTo>
                    <a:pt x="350000" y="7500"/>
                  </a:lnTo>
                  <a:lnTo>
                    <a:pt x="351000" y="10500"/>
                  </a:lnTo>
                  <a:lnTo>
                    <a:pt x="352000" y="13000"/>
                  </a:lnTo>
                  <a:lnTo>
                    <a:pt x="353000" y="15000"/>
                  </a:lnTo>
                  <a:lnTo>
                    <a:pt x="354000" y="15000"/>
                  </a:lnTo>
                  <a:lnTo>
                    <a:pt x="355000" y="13000"/>
                  </a:lnTo>
                  <a:lnTo>
                    <a:pt x="356000" y="11000"/>
                  </a:lnTo>
                  <a:lnTo>
                    <a:pt x="357000" y="8500"/>
                  </a:lnTo>
                  <a:lnTo>
                    <a:pt x="358000" y="8000"/>
                  </a:lnTo>
                  <a:lnTo>
                    <a:pt x="359000" y="7000"/>
                  </a:lnTo>
                  <a:lnTo>
                    <a:pt x="360000" y="7500"/>
                  </a:lnTo>
                  <a:lnTo>
                    <a:pt x="361000" y="8000"/>
                  </a:lnTo>
                  <a:lnTo>
                    <a:pt x="362000" y="9000"/>
                  </a:lnTo>
                  <a:lnTo>
                    <a:pt x="363000" y="10000"/>
                  </a:lnTo>
                  <a:lnTo>
                    <a:pt x="364000" y="11000"/>
                  </a:lnTo>
                  <a:lnTo>
                    <a:pt x="365000" y="12000"/>
                  </a:lnTo>
                  <a:lnTo>
                    <a:pt x="366000" y="12500"/>
                  </a:lnTo>
                  <a:lnTo>
                    <a:pt x="367000" y="13000"/>
                  </a:lnTo>
                  <a:lnTo>
                    <a:pt x="368000" y="14000"/>
                  </a:lnTo>
                  <a:lnTo>
                    <a:pt x="369000" y="14500"/>
                  </a:lnTo>
                  <a:lnTo>
                    <a:pt x="370000" y="14000"/>
                  </a:lnTo>
                  <a:lnTo>
                    <a:pt x="371000" y="13000"/>
                  </a:lnTo>
                  <a:lnTo>
                    <a:pt x="372000" y="11500"/>
                  </a:lnTo>
                  <a:lnTo>
                    <a:pt x="373000" y="10000"/>
                  </a:lnTo>
                  <a:lnTo>
                    <a:pt x="374000" y="9500"/>
                  </a:lnTo>
                  <a:lnTo>
                    <a:pt x="375000" y="10000"/>
                  </a:lnTo>
                  <a:lnTo>
                    <a:pt x="376000" y="10500"/>
                  </a:lnTo>
                  <a:lnTo>
                    <a:pt x="377000" y="11000"/>
                  </a:lnTo>
                  <a:lnTo>
                    <a:pt x="378000" y="12000"/>
                  </a:lnTo>
                  <a:lnTo>
                    <a:pt x="379000" y="13000"/>
                  </a:lnTo>
                </a:path>
              </a:pathLst>
            </a:custGeom>
            <a:noFill/>
            <a:ln w="9525" cap="rnd">
              <a:solidFill>
                <a:srgbClr val="57627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390650" y="809625"/>
              <a:ext cx="619125" cy="1714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: Region 1"/>
            <p:cNvSpPr txBox="1"/>
            <p:nvPr/>
          </p:nvSpPr>
          <p:spPr>
            <a:xfrm>
              <a:off x="1447800" y="801624"/>
              <a:ext cx="621209" cy="228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CC743B"/>
                  </a:solidFill>
                  <a:latin typeface="Liberation Serif"/>
                </a:rPr>
                <a:t>Region 1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676525" y="990600"/>
              <a:ext cx="628650" cy="1714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: Region n"/>
            <p:cNvSpPr txBox="1"/>
            <p:nvPr/>
          </p:nvSpPr>
          <p:spPr>
            <a:xfrm>
              <a:off x="2724150" y="982599"/>
              <a:ext cx="621209" cy="228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111111"/>
                  </a:solidFill>
                  <a:latin typeface="Liberation Serif"/>
                </a:rPr>
                <a:t>Region n</a:t>
              </a:r>
            </a:p>
          </p:txBody>
        </p:sp>
        <p:sp>
          <p:nvSpPr>
            <p:cNvPr id="18" name="Text: FFT"/>
            <p:cNvSpPr txBox="1"/>
            <p:nvPr/>
          </p:nvSpPr>
          <p:spPr>
            <a:xfrm>
              <a:off x="4295775" y="716375"/>
              <a:ext cx="422300" cy="30003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75" b="0" i="1">
                  <a:solidFill>
                    <a:srgbClr val="76AB43"/>
                  </a:solidFill>
                  <a:latin typeface="Liberation Serif"/>
                </a:rPr>
                <a:t>FFT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248150" y="933450"/>
              <a:ext cx="419100" cy="152400"/>
            </a:xfrm>
            <a:custGeom>
              <a:avLst/>
              <a:gdLst/>
              <a:ahLst/>
              <a:cxnLst/>
              <a:rect l="0" t="0" r="r" b="b"/>
              <a:pathLst>
                <a:path w="44000" h="16000" fill="norm">
                  <a:moveTo>
                    <a:pt x="0" y="4000"/>
                  </a:moveTo>
                  <a:lnTo>
                    <a:pt x="33000" y="4000"/>
                  </a:lnTo>
                  <a:lnTo>
                    <a:pt x="33000" y="0"/>
                  </a:lnTo>
                  <a:lnTo>
                    <a:pt x="44000" y="8000"/>
                  </a:lnTo>
                  <a:lnTo>
                    <a:pt x="33000" y="16000"/>
                  </a:lnTo>
                  <a:lnTo>
                    <a:pt x="33000" y="12000"/>
                  </a:lnTo>
                  <a:lnTo>
                    <a:pt x="0" y="12000"/>
                  </a:lnTo>
                  <a:close/>
                </a:path>
              </a:pathLst>
            </a:custGeom>
            <a:solidFill>
              <a:srgbClr val="79AF4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895850" y="800100"/>
              <a:ext cx="367665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876800" y="581025"/>
              <a:ext cx="952" cy="676275"/>
            </a:xfrm>
            <a:custGeom>
              <a:avLst/>
              <a:gdLst/>
              <a:ahLst/>
              <a:cxnLst/>
              <a:rect l="0" t="0" r="r" b="b"/>
              <a:pathLst>
                <a:path w="100" h="71000" fill="none">
                  <a:moveTo>
                    <a:pt x="0" y="71000"/>
                  </a:moveTo>
                  <a:lnTo>
                    <a:pt x="0" y="0"/>
                  </a:lnTo>
                </a:path>
              </a:pathLst>
            </a:custGeom>
            <a:noFill/>
            <a:ln w="1047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40796" y="581025"/>
              <a:ext cx="72009" cy="85725"/>
            </a:xfrm>
            <a:custGeom>
              <a:avLst/>
              <a:gdLst/>
              <a:ahLst/>
              <a:cxnLst/>
              <a:rect l="0" t="0" r="r" b="b"/>
              <a:pathLst>
                <a:path w="7560" h="9000" fill="norm">
                  <a:moveTo>
                    <a:pt x="3780" y="0"/>
                  </a:moveTo>
                  <a:lnTo>
                    <a:pt x="0" y="9000"/>
                  </a:lnTo>
                  <a:lnTo>
                    <a:pt x="3780" y="6030"/>
                  </a:lnTo>
                  <a:lnTo>
                    <a:pt x="7560" y="900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876800" y="1257300"/>
              <a:ext cx="3924300" cy="952"/>
            </a:xfrm>
            <a:custGeom>
              <a:avLst/>
              <a:gdLst/>
              <a:ahLst/>
              <a:cxnLst/>
              <a:rect l="0" t="0" r="r" b="b"/>
              <a:pathLst>
                <a:path w="412000" h="100" fill="none">
                  <a:moveTo>
                    <a:pt x="0" y="0"/>
                  </a:moveTo>
                  <a:lnTo>
                    <a:pt x="412000" y="0"/>
                  </a:lnTo>
                </a:path>
              </a:pathLst>
            </a:custGeom>
            <a:noFill/>
            <a:ln w="1047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715375" y="1221296"/>
              <a:ext cx="85725" cy="72009"/>
            </a:xfrm>
            <a:custGeom>
              <a:avLst/>
              <a:gdLst/>
              <a:ahLst/>
              <a:cxnLst/>
              <a:rect l="0" t="0" r="r" b="b"/>
              <a:pathLst>
                <a:path w="9000" h="7560" fill="norm">
                  <a:moveTo>
                    <a:pt x="9000" y="3780"/>
                  </a:moveTo>
                  <a:lnTo>
                    <a:pt x="0" y="0"/>
                  </a:lnTo>
                  <a:lnTo>
                    <a:pt x="2970" y="3780"/>
                  </a:lnTo>
                  <a:lnTo>
                    <a:pt x="0" y="756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: Amplitude"/>
            <p:cNvSpPr txBox="1"/>
            <p:nvPr/>
          </p:nvSpPr>
          <p:spPr>
            <a:xfrm>
              <a:off x="4981575" y="525780"/>
              <a:ext cx="881509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Amplitude</a:t>
              </a:r>
            </a:p>
          </p:txBody>
        </p:sp>
        <p:sp>
          <p:nvSpPr>
            <p:cNvPr id="26" name="Text: Frequency"/>
            <p:cNvSpPr txBox="1"/>
            <p:nvPr/>
          </p:nvSpPr>
          <p:spPr>
            <a:xfrm>
              <a:off x="7715250" y="1259110"/>
              <a:ext cx="830535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Frequency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924425" y="838200"/>
              <a:ext cx="3638550" cy="400050"/>
            </a:xfrm>
            <a:custGeom>
              <a:avLst/>
              <a:gdLst/>
              <a:ahLst/>
              <a:cxnLst/>
              <a:rect l="0" t="0" r="r" b="b"/>
              <a:pathLst>
                <a:path w="382000" h="42000" fill="none">
                  <a:moveTo>
                    <a:pt x="0" y="0"/>
                  </a:moveTo>
                  <a:lnTo>
                    <a:pt x="1000" y="5000"/>
                  </a:lnTo>
                  <a:lnTo>
                    <a:pt x="2000" y="9000"/>
                  </a:lnTo>
                  <a:lnTo>
                    <a:pt x="3000" y="13500"/>
                  </a:lnTo>
                  <a:lnTo>
                    <a:pt x="4000" y="17500"/>
                  </a:lnTo>
                  <a:lnTo>
                    <a:pt x="5000" y="22000"/>
                  </a:lnTo>
                  <a:lnTo>
                    <a:pt x="6000" y="26000"/>
                  </a:lnTo>
                  <a:lnTo>
                    <a:pt x="7000" y="30000"/>
                  </a:lnTo>
                  <a:lnTo>
                    <a:pt x="8000" y="32500"/>
                  </a:lnTo>
                  <a:lnTo>
                    <a:pt x="9000" y="36000"/>
                  </a:lnTo>
                  <a:lnTo>
                    <a:pt x="10000" y="38000"/>
                  </a:lnTo>
                  <a:lnTo>
                    <a:pt x="11000" y="38000"/>
                  </a:lnTo>
                  <a:lnTo>
                    <a:pt x="12000" y="34500"/>
                  </a:lnTo>
                  <a:lnTo>
                    <a:pt x="13000" y="29500"/>
                  </a:lnTo>
                  <a:lnTo>
                    <a:pt x="14000" y="24500"/>
                  </a:lnTo>
                  <a:lnTo>
                    <a:pt x="15000" y="22000"/>
                  </a:lnTo>
                  <a:lnTo>
                    <a:pt x="16000" y="24000"/>
                  </a:lnTo>
                  <a:lnTo>
                    <a:pt x="17000" y="27000"/>
                  </a:lnTo>
                  <a:lnTo>
                    <a:pt x="18000" y="30500"/>
                  </a:lnTo>
                  <a:lnTo>
                    <a:pt x="19000" y="34000"/>
                  </a:lnTo>
                  <a:lnTo>
                    <a:pt x="20000" y="37500"/>
                  </a:lnTo>
                  <a:lnTo>
                    <a:pt x="21000" y="39500"/>
                  </a:lnTo>
                  <a:lnTo>
                    <a:pt x="22000" y="37000"/>
                  </a:lnTo>
                  <a:lnTo>
                    <a:pt x="23000" y="28000"/>
                  </a:lnTo>
                  <a:lnTo>
                    <a:pt x="24000" y="20500"/>
                  </a:lnTo>
                  <a:lnTo>
                    <a:pt x="25000" y="12000"/>
                  </a:lnTo>
                  <a:lnTo>
                    <a:pt x="26000" y="11500"/>
                  </a:lnTo>
                  <a:lnTo>
                    <a:pt x="27000" y="13500"/>
                  </a:lnTo>
                  <a:lnTo>
                    <a:pt x="28000" y="17000"/>
                  </a:lnTo>
                  <a:lnTo>
                    <a:pt x="29000" y="20000"/>
                  </a:lnTo>
                  <a:lnTo>
                    <a:pt x="30000" y="24000"/>
                  </a:lnTo>
                  <a:lnTo>
                    <a:pt x="31000" y="27500"/>
                  </a:lnTo>
                  <a:lnTo>
                    <a:pt x="32000" y="31000"/>
                  </a:lnTo>
                  <a:lnTo>
                    <a:pt x="33000" y="34500"/>
                  </a:lnTo>
                  <a:lnTo>
                    <a:pt x="34000" y="37500"/>
                  </a:lnTo>
                  <a:lnTo>
                    <a:pt x="35000" y="39500"/>
                  </a:lnTo>
                  <a:lnTo>
                    <a:pt x="36000" y="41500"/>
                  </a:lnTo>
                  <a:lnTo>
                    <a:pt x="37000" y="42000"/>
                  </a:lnTo>
                  <a:lnTo>
                    <a:pt x="38000" y="42000"/>
                  </a:lnTo>
                  <a:lnTo>
                    <a:pt x="39000" y="42000"/>
                  </a:lnTo>
                  <a:lnTo>
                    <a:pt x="40000" y="41500"/>
                  </a:lnTo>
                  <a:lnTo>
                    <a:pt x="41000" y="41500"/>
                  </a:lnTo>
                  <a:lnTo>
                    <a:pt x="42000" y="40500"/>
                  </a:lnTo>
                  <a:lnTo>
                    <a:pt x="43000" y="39500"/>
                  </a:lnTo>
                  <a:lnTo>
                    <a:pt x="44000" y="38500"/>
                  </a:lnTo>
                  <a:lnTo>
                    <a:pt x="45000" y="38000"/>
                  </a:lnTo>
                  <a:lnTo>
                    <a:pt x="46000" y="37500"/>
                  </a:lnTo>
                  <a:lnTo>
                    <a:pt x="47000" y="36500"/>
                  </a:lnTo>
                  <a:lnTo>
                    <a:pt x="48000" y="36500"/>
                  </a:lnTo>
                  <a:lnTo>
                    <a:pt x="49000" y="36500"/>
                  </a:lnTo>
                  <a:lnTo>
                    <a:pt x="50000" y="36500"/>
                  </a:lnTo>
                  <a:lnTo>
                    <a:pt x="51000" y="36500"/>
                  </a:lnTo>
                  <a:lnTo>
                    <a:pt x="52000" y="37500"/>
                  </a:lnTo>
                  <a:lnTo>
                    <a:pt x="53000" y="37500"/>
                  </a:lnTo>
                  <a:lnTo>
                    <a:pt x="54000" y="37500"/>
                  </a:lnTo>
                  <a:lnTo>
                    <a:pt x="55000" y="38500"/>
                  </a:lnTo>
                  <a:lnTo>
                    <a:pt x="56000" y="38500"/>
                  </a:lnTo>
                  <a:lnTo>
                    <a:pt x="57000" y="39500"/>
                  </a:lnTo>
                  <a:lnTo>
                    <a:pt x="58000" y="38500"/>
                  </a:lnTo>
                  <a:lnTo>
                    <a:pt x="59000" y="37500"/>
                  </a:lnTo>
                  <a:lnTo>
                    <a:pt x="60000" y="36000"/>
                  </a:lnTo>
                  <a:lnTo>
                    <a:pt x="61000" y="35500"/>
                  </a:lnTo>
                  <a:lnTo>
                    <a:pt x="62000" y="35500"/>
                  </a:lnTo>
                  <a:lnTo>
                    <a:pt x="63000" y="35500"/>
                  </a:lnTo>
                  <a:lnTo>
                    <a:pt x="64000" y="35500"/>
                  </a:lnTo>
                  <a:lnTo>
                    <a:pt x="65000" y="36500"/>
                  </a:lnTo>
                  <a:lnTo>
                    <a:pt x="66000" y="36500"/>
                  </a:lnTo>
                  <a:lnTo>
                    <a:pt x="67000" y="37500"/>
                  </a:lnTo>
                  <a:lnTo>
                    <a:pt x="68000" y="38000"/>
                  </a:lnTo>
                  <a:lnTo>
                    <a:pt x="69000" y="38500"/>
                  </a:lnTo>
                  <a:lnTo>
                    <a:pt x="70000" y="38500"/>
                  </a:lnTo>
                  <a:lnTo>
                    <a:pt x="71000" y="39500"/>
                  </a:lnTo>
                  <a:lnTo>
                    <a:pt x="72000" y="39500"/>
                  </a:lnTo>
                  <a:lnTo>
                    <a:pt x="73000" y="39500"/>
                  </a:lnTo>
                  <a:lnTo>
                    <a:pt x="74000" y="38500"/>
                  </a:lnTo>
                  <a:lnTo>
                    <a:pt x="75000" y="37500"/>
                  </a:lnTo>
                  <a:lnTo>
                    <a:pt x="76000" y="36000"/>
                  </a:lnTo>
                  <a:lnTo>
                    <a:pt x="77000" y="35000"/>
                  </a:lnTo>
                  <a:lnTo>
                    <a:pt x="78000" y="34500"/>
                  </a:lnTo>
                  <a:lnTo>
                    <a:pt x="79000" y="34500"/>
                  </a:lnTo>
                  <a:lnTo>
                    <a:pt x="80000" y="34500"/>
                  </a:lnTo>
                  <a:lnTo>
                    <a:pt x="81000" y="35500"/>
                  </a:lnTo>
                  <a:lnTo>
                    <a:pt x="82000" y="36500"/>
                  </a:lnTo>
                  <a:lnTo>
                    <a:pt x="83000" y="37000"/>
                  </a:lnTo>
                  <a:lnTo>
                    <a:pt x="84000" y="38500"/>
                  </a:lnTo>
                  <a:lnTo>
                    <a:pt x="85000" y="39500"/>
                  </a:lnTo>
                  <a:lnTo>
                    <a:pt x="86000" y="40000"/>
                  </a:lnTo>
                  <a:lnTo>
                    <a:pt x="87000" y="41000"/>
                  </a:lnTo>
                  <a:lnTo>
                    <a:pt x="88000" y="41500"/>
                  </a:lnTo>
                  <a:lnTo>
                    <a:pt x="89000" y="41500"/>
                  </a:lnTo>
                  <a:lnTo>
                    <a:pt x="90000" y="41000"/>
                  </a:lnTo>
                  <a:lnTo>
                    <a:pt x="91000" y="39500"/>
                  </a:lnTo>
                  <a:lnTo>
                    <a:pt x="92000" y="38000"/>
                  </a:lnTo>
                  <a:lnTo>
                    <a:pt x="93000" y="35000"/>
                  </a:lnTo>
                  <a:lnTo>
                    <a:pt x="94000" y="32500"/>
                  </a:lnTo>
                  <a:lnTo>
                    <a:pt x="95000" y="30000"/>
                  </a:lnTo>
                  <a:lnTo>
                    <a:pt x="96000" y="27500"/>
                  </a:lnTo>
                  <a:lnTo>
                    <a:pt x="97000" y="26000"/>
                  </a:lnTo>
                  <a:lnTo>
                    <a:pt x="98000" y="26000"/>
                  </a:lnTo>
                  <a:lnTo>
                    <a:pt x="99000" y="27500"/>
                  </a:lnTo>
                  <a:lnTo>
                    <a:pt x="100000" y="30500"/>
                  </a:lnTo>
                  <a:lnTo>
                    <a:pt x="101000" y="34000"/>
                  </a:lnTo>
                  <a:lnTo>
                    <a:pt x="102000" y="37500"/>
                  </a:lnTo>
                  <a:lnTo>
                    <a:pt x="103000" y="40500"/>
                  </a:lnTo>
                  <a:lnTo>
                    <a:pt x="104000" y="41500"/>
                  </a:lnTo>
                  <a:lnTo>
                    <a:pt x="105000" y="41500"/>
                  </a:lnTo>
                  <a:lnTo>
                    <a:pt x="106000" y="41500"/>
                  </a:lnTo>
                  <a:lnTo>
                    <a:pt x="107000" y="40500"/>
                  </a:lnTo>
                  <a:lnTo>
                    <a:pt x="108000" y="39500"/>
                  </a:lnTo>
                  <a:lnTo>
                    <a:pt x="109000" y="39000"/>
                  </a:lnTo>
                  <a:lnTo>
                    <a:pt x="110000" y="38000"/>
                  </a:lnTo>
                  <a:lnTo>
                    <a:pt x="111000" y="37000"/>
                  </a:lnTo>
                  <a:lnTo>
                    <a:pt x="112000" y="36500"/>
                  </a:lnTo>
                  <a:lnTo>
                    <a:pt x="113000" y="35500"/>
                  </a:lnTo>
                  <a:lnTo>
                    <a:pt x="114000" y="35500"/>
                  </a:lnTo>
                  <a:lnTo>
                    <a:pt x="115000" y="35500"/>
                  </a:lnTo>
                  <a:lnTo>
                    <a:pt x="116000" y="35500"/>
                  </a:lnTo>
                  <a:lnTo>
                    <a:pt x="117000" y="36500"/>
                  </a:lnTo>
                  <a:lnTo>
                    <a:pt x="118000" y="38000"/>
                  </a:lnTo>
                  <a:lnTo>
                    <a:pt x="119000" y="39000"/>
                  </a:lnTo>
                  <a:lnTo>
                    <a:pt x="120000" y="39500"/>
                  </a:lnTo>
                  <a:lnTo>
                    <a:pt x="121000" y="39500"/>
                  </a:lnTo>
                  <a:lnTo>
                    <a:pt x="122000" y="39500"/>
                  </a:lnTo>
                  <a:lnTo>
                    <a:pt x="123000" y="39500"/>
                  </a:lnTo>
                  <a:lnTo>
                    <a:pt x="124000" y="39500"/>
                  </a:lnTo>
                  <a:lnTo>
                    <a:pt x="125000" y="38500"/>
                  </a:lnTo>
                  <a:lnTo>
                    <a:pt x="126000" y="38500"/>
                  </a:lnTo>
                  <a:lnTo>
                    <a:pt x="127000" y="37500"/>
                  </a:lnTo>
                  <a:lnTo>
                    <a:pt x="128000" y="36500"/>
                  </a:lnTo>
                  <a:lnTo>
                    <a:pt x="129000" y="36500"/>
                  </a:lnTo>
                  <a:lnTo>
                    <a:pt x="130000" y="35500"/>
                  </a:lnTo>
                  <a:lnTo>
                    <a:pt x="131000" y="35500"/>
                  </a:lnTo>
                  <a:lnTo>
                    <a:pt x="132000" y="35500"/>
                  </a:lnTo>
                  <a:lnTo>
                    <a:pt x="133000" y="35500"/>
                  </a:lnTo>
                  <a:lnTo>
                    <a:pt x="134000" y="36500"/>
                  </a:lnTo>
                  <a:lnTo>
                    <a:pt x="135000" y="37500"/>
                  </a:lnTo>
                  <a:lnTo>
                    <a:pt x="136000" y="37500"/>
                  </a:lnTo>
                  <a:lnTo>
                    <a:pt x="137000" y="38500"/>
                  </a:lnTo>
                  <a:lnTo>
                    <a:pt x="138000" y="38500"/>
                  </a:lnTo>
                  <a:lnTo>
                    <a:pt x="139000" y="38500"/>
                  </a:lnTo>
                  <a:lnTo>
                    <a:pt x="140000" y="38000"/>
                  </a:lnTo>
                  <a:lnTo>
                    <a:pt x="141000" y="37000"/>
                  </a:lnTo>
                  <a:lnTo>
                    <a:pt x="142000" y="36000"/>
                  </a:lnTo>
                  <a:lnTo>
                    <a:pt x="143000" y="35000"/>
                  </a:lnTo>
                  <a:lnTo>
                    <a:pt x="144000" y="34000"/>
                  </a:lnTo>
                  <a:lnTo>
                    <a:pt x="145000" y="33500"/>
                  </a:lnTo>
                  <a:lnTo>
                    <a:pt x="146000" y="32500"/>
                  </a:lnTo>
                  <a:lnTo>
                    <a:pt x="147000" y="32500"/>
                  </a:lnTo>
                  <a:lnTo>
                    <a:pt x="148000" y="32500"/>
                  </a:lnTo>
                  <a:lnTo>
                    <a:pt x="149000" y="32500"/>
                  </a:lnTo>
                  <a:lnTo>
                    <a:pt x="150000" y="33500"/>
                  </a:lnTo>
                  <a:lnTo>
                    <a:pt x="151000" y="34000"/>
                  </a:lnTo>
                  <a:lnTo>
                    <a:pt x="152000" y="34500"/>
                  </a:lnTo>
                  <a:lnTo>
                    <a:pt x="153000" y="35500"/>
                  </a:lnTo>
                  <a:lnTo>
                    <a:pt x="154000" y="35500"/>
                  </a:lnTo>
                  <a:lnTo>
                    <a:pt x="155000" y="36500"/>
                  </a:lnTo>
                  <a:lnTo>
                    <a:pt x="156000" y="36500"/>
                  </a:lnTo>
                  <a:lnTo>
                    <a:pt x="157000" y="37500"/>
                  </a:lnTo>
                  <a:lnTo>
                    <a:pt x="158000" y="37500"/>
                  </a:lnTo>
                  <a:lnTo>
                    <a:pt x="159000" y="37000"/>
                  </a:lnTo>
                  <a:lnTo>
                    <a:pt x="160000" y="36500"/>
                  </a:lnTo>
                  <a:lnTo>
                    <a:pt x="161000" y="36500"/>
                  </a:lnTo>
                  <a:lnTo>
                    <a:pt x="162000" y="35500"/>
                  </a:lnTo>
                  <a:lnTo>
                    <a:pt x="163000" y="35000"/>
                  </a:lnTo>
                  <a:lnTo>
                    <a:pt x="164000" y="34500"/>
                  </a:lnTo>
                  <a:lnTo>
                    <a:pt x="165000" y="33500"/>
                  </a:lnTo>
                  <a:lnTo>
                    <a:pt x="166000" y="33500"/>
                  </a:lnTo>
                  <a:lnTo>
                    <a:pt x="167000" y="34000"/>
                  </a:lnTo>
                  <a:lnTo>
                    <a:pt x="168000" y="35500"/>
                  </a:lnTo>
                  <a:lnTo>
                    <a:pt x="169000" y="36500"/>
                  </a:lnTo>
                  <a:lnTo>
                    <a:pt x="170000" y="37500"/>
                  </a:lnTo>
                  <a:lnTo>
                    <a:pt x="171000" y="37500"/>
                  </a:lnTo>
                  <a:lnTo>
                    <a:pt x="172000" y="36500"/>
                  </a:lnTo>
                  <a:lnTo>
                    <a:pt x="173000" y="36500"/>
                  </a:lnTo>
                  <a:lnTo>
                    <a:pt x="174000" y="36000"/>
                  </a:lnTo>
                  <a:lnTo>
                    <a:pt x="175000" y="35500"/>
                  </a:lnTo>
                  <a:lnTo>
                    <a:pt x="176000" y="34500"/>
                  </a:lnTo>
                  <a:lnTo>
                    <a:pt x="177000" y="34500"/>
                  </a:lnTo>
                  <a:lnTo>
                    <a:pt x="178000" y="34000"/>
                  </a:lnTo>
                  <a:lnTo>
                    <a:pt x="179000" y="33500"/>
                  </a:lnTo>
                  <a:lnTo>
                    <a:pt x="180000" y="33500"/>
                  </a:lnTo>
                  <a:lnTo>
                    <a:pt x="181000" y="33500"/>
                  </a:lnTo>
                  <a:lnTo>
                    <a:pt x="182000" y="33500"/>
                  </a:lnTo>
                  <a:lnTo>
                    <a:pt x="183000" y="33500"/>
                  </a:lnTo>
                  <a:lnTo>
                    <a:pt x="184000" y="34500"/>
                  </a:lnTo>
                  <a:lnTo>
                    <a:pt x="185000" y="36000"/>
                  </a:lnTo>
                  <a:lnTo>
                    <a:pt x="186000" y="37000"/>
                  </a:lnTo>
                  <a:lnTo>
                    <a:pt x="187000" y="38500"/>
                  </a:lnTo>
                  <a:lnTo>
                    <a:pt x="188000" y="39500"/>
                  </a:lnTo>
                  <a:lnTo>
                    <a:pt x="189000" y="39500"/>
                  </a:lnTo>
                  <a:lnTo>
                    <a:pt x="190000" y="39000"/>
                  </a:lnTo>
                  <a:lnTo>
                    <a:pt x="191000" y="38000"/>
                  </a:lnTo>
                  <a:lnTo>
                    <a:pt x="192000" y="36500"/>
                  </a:lnTo>
                  <a:lnTo>
                    <a:pt x="193000" y="34500"/>
                  </a:lnTo>
                  <a:lnTo>
                    <a:pt x="194000" y="33000"/>
                  </a:lnTo>
                  <a:lnTo>
                    <a:pt x="195000" y="32000"/>
                  </a:lnTo>
                  <a:lnTo>
                    <a:pt x="196000" y="31500"/>
                  </a:lnTo>
                  <a:lnTo>
                    <a:pt x="197000" y="32000"/>
                  </a:lnTo>
                  <a:lnTo>
                    <a:pt x="198000" y="34000"/>
                  </a:lnTo>
                  <a:lnTo>
                    <a:pt x="199000" y="36000"/>
                  </a:lnTo>
                  <a:lnTo>
                    <a:pt x="200000" y="38500"/>
                  </a:lnTo>
                  <a:lnTo>
                    <a:pt x="201000" y="40000"/>
                  </a:lnTo>
                  <a:lnTo>
                    <a:pt x="202000" y="40500"/>
                  </a:lnTo>
                  <a:lnTo>
                    <a:pt x="203000" y="40500"/>
                  </a:lnTo>
                  <a:lnTo>
                    <a:pt x="204000" y="40500"/>
                  </a:lnTo>
                  <a:lnTo>
                    <a:pt x="205000" y="39500"/>
                  </a:lnTo>
                  <a:lnTo>
                    <a:pt x="206000" y="39000"/>
                  </a:lnTo>
                  <a:lnTo>
                    <a:pt x="207000" y="38000"/>
                  </a:lnTo>
                  <a:lnTo>
                    <a:pt x="208000" y="37500"/>
                  </a:lnTo>
                  <a:lnTo>
                    <a:pt x="209000" y="36500"/>
                  </a:lnTo>
                  <a:lnTo>
                    <a:pt x="210000" y="36500"/>
                  </a:lnTo>
                  <a:lnTo>
                    <a:pt x="211000" y="35500"/>
                  </a:lnTo>
                  <a:lnTo>
                    <a:pt x="212000" y="35500"/>
                  </a:lnTo>
                  <a:lnTo>
                    <a:pt x="213000" y="35500"/>
                  </a:lnTo>
                  <a:lnTo>
                    <a:pt x="214000" y="35500"/>
                  </a:lnTo>
                  <a:lnTo>
                    <a:pt x="215000" y="35500"/>
                  </a:lnTo>
                  <a:lnTo>
                    <a:pt x="216000" y="36500"/>
                  </a:lnTo>
                  <a:lnTo>
                    <a:pt x="217000" y="36500"/>
                  </a:lnTo>
                  <a:lnTo>
                    <a:pt x="218000" y="37500"/>
                  </a:lnTo>
                  <a:lnTo>
                    <a:pt x="219000" y="37500"/>
                  </a:lnTo>
                  <a:lnTo>
                    <a:pt x="220000" y="38500"/>
                  </a:lnTo>
                  <a:lnTo>
                    <a:pt x="221000" y="38500"/>
                  </a:lnTo>
                  <a:lnTo>
                    <a:pt x="222000" y="39000"/>
                  </a:lnTo>
                  <a:lnTo>
                    <a:pt x="223000" y="38500"/>
                  </a:lnTo>
                  <a:lnTo>
                    <a:pt x="224000" y="38500"/>
                  </a:lnTo>
                  <a:lnTo>
                    <a:pt x="225000" y="36500"/>
                  </a:lnTo>
                  <a:lnTo>
                    <a:pt x="226000" y="34000"/>
                  </a:lnTo>
                  <a:lnTo>
                    <a:pt x="227000" y="30000"/>
                  </a:lnTo>
                  <a:lnTo>
                    <a:pt x="228000" y="26500"/>
                  </a:lnTo>
                  <a:lnTo>
                    <a:pt x="229000" y="23500"/>
                  </a:lnTo>
                  <a:lnTo>
                    <a:pt x="230000" y="22500"/>
                  </a:lnTo>
                  <a:lnTo>
                    <a:pt x="231000" y="24000"/>
                  </a:lnTo>
                  <a:lnTo>
                    <a:pt x="232000" y="25500"/>
                  </a:lnTo>
                  <a:lnTo>
                    <a:pt x="233000" y="27000"/>
                  </a:lnTo>
                  <a:lnTo>
                    <a:pt x="234000" y="29500"/>
                  </a:lnTo>
                  <a:lnTo>
                    <a:pt x="235000" y="32000"/>
                  </a:lnTo>
                  <a:lnTo>
                    <a:pt x="236000" y="34000"/>
                  </a:lnTo>
                  <a:lnTo>
                    <a:pt x="237000" y="36500"/>
                  </a:lnTo>
                  <a:lnTo>
                    <a:pt x="238000" y="38000"/>
                  </a:lnTo>
                  <a:lnTo>
                    <a:pt x="239000" y="39000"/>
                  </a:lnTo>
                  <a:lnTo>
                    <a:pt x="240000" y="40500"/>
                  </a:lnTo>
                  <a:lnTo>
                    <a:pt x="241000" y="40500"/>
                  </a:lnTo>
                  <a:lnTo>
                    <a:pt x="242000" y="40500"/>
                  </a:lnTo>
                  <a:lnTo>
                    <a:pt x="243000" y="40500"/>
                  </a:lnTo>
                  <a:lnTo>
                    <a:pt x="244000" y="39500"/>
                  </a:lnTo>
                  <a:lnTo>
                    <a:pt x="245000" y="39000"/>
                  </a:lnTo>
                  <a:lnTo>
                    <a:pt x="246000" y="38000"/>
                  </a:lnTo>
                  <a:lnTo>
                    <a:pt x="247000" y="37000"/>
                  </a:lnTo>
                  <a:lnTo>
                    <a:pt x="248000" y="36000"/>
                  </a:lnTo>
                  <a:lnTo>
                    <a:pt x="249000" y="35000"/>
                  </a:lnTo>
                  <a:lnTo>
                    <a:pt x="250000" y="34000"/>
                  </a:lnTo>
                  <a:lnTo>
                    <a:pt x="251000" y="33500"/>
                  </a:lnTo>
                  <a:lnTo>
                    <a:pt x="252000" y="32500"/>
                  </a:lnTo>
                  <a:lnTo>
                    <a:pt x="253000" y="32500"/>
                  </a:lnTo>
                  <a:lnTo>
                    <a:pt x="254000" y="32500"/>
                  </a:lnTo>
                  <a:lnTo>
                    <a:pt x="255000" y="32500"/>
                  </a:lnTo>
                  <a:lnTo>
                    <a:pt x="256000" y="33500"/>
                  </a:lnTo>
                  <a:lnTo>
                    <a:pt x="257000" y="34000"/>
                  </a:lnTo>
                  <a:lnTo>
                    <a:pt x="258000" y="35000"/>
                  </a:lnTo>
                  <a:lnTo>
                    <a:pt x="259000" y="36000"/>
                  </a:lnTo>
                  <a:lnTo>
                    <a:pt x="260000" y="37000"/>
                  </a:lnTo>
                  <a:lnTo>
                    <a:pt x="261000" y="37500"/>
                  </a:lnTo>
                  <a:lnTo>
                    <a:pt x="262000" y="39000"/>
                  </a:lnTo>
                  <a:lnTo>
                    <a:pt x="263000" y="39500"/>
                  </a:lnTo>
                  <a:lnTo>
                    <a:pt x="264000" y="40500"/>
                  </a:lnTo>
                  <a:lnTo>
                    <a:pt x="265000" y="40500"/>
                  </a:lnTo>
                  <a:lnTo>
                    <a:pt x="266000" y="39000"/>
                  </a:lnTo>
                  <a:lnTo>
                    <a:pt x="267000" y="37000"/>
                  </a:lnTo>
                  <a:lnTo>
                    <a:pt x="268000" y="34500"/>
                  </a:lnTo>
                  <a:lnTo>
                    <a:pt x="269000" y="33500"/>
                  </a:lnTo>
                  <a:lnTo>
                    <a:pt x="270000" y="34500"/>
                  </a:lnTo>
                  <a:lnTo>
                    <a:pt x="271000" y="35500"/>
                  </a:lnTo>
                  <a:lnTo>
                    <a:pt x="272000" y="36000"/>
                  </a:lnTo>
                  <a:lnTo>
                    <a:pt x="273000" y="37000"/>
                  </a:lnTo>
                  <a:lnTo>
                    <a:pt x="274000" y="38000"/>
                  </a:lnTo>
                  <a:lnTo>
                    <a:pt x="275000" y="39000"/>
                  </a:lnTo>
                  <a:lnTo>
                    <a:pt x="276000" y="40000"/>
                  </a:lnTo>
                  <a:lnTo>
                    <a:pt x="277000" y="41000"/>
                  </a:lnTo>
                  <a:lnTo>
                    <a:pt x="278000" y="41500"/>
                  </a:lnTo>
                  <a:lnTo>
                    <a:pt x="279000" y="41500"/>
                  </a:lnTo>
                  <a:lnTo>
                    <a:pt x="280000" y="40500"/>
                  </a:lnTo>
                  <a:lnTo>
                    <a:pt x="281000" y="39000"/>
                  </a:lnTo>
                  <a:lnTo>
                    <a:pt x="282000" y="38500"/>
                  </a:lnTo>
                  <a:lnTo>
                    <a:pt x="283000" y="38500"/>
                  </a:lnTo>
                  <a:lnTo>
                    <a:pt x="284000" y="38500"/>
                  </a:lnTo>
                  <a:lnTo>
                    <a:pt x="285000" y="39500"/>
                  </a:lnTo>
                  <a:lnTo>
                    <a:pt x="286000" y="39500"/>
                  </a:lnTo>
                  <a:lnTo>
                    <a:pt x="287000" y="40500"/>
                  </a:lnTo>
                  <a:lnTo>
                    <a:pt x="288000" y="40500"/>
                  </a:lnTo>
                  <a:lnTo>
                    <a:pt x="289000" y="41500"/>
                  </a:lnTo>
                  <a:lnTo>
                    <a:pt x="290000" y="41500"/>
                  </a:lnTo>
                  <a:lnTo>
                    <a:pt x="291000" y="42000"/>
                  </a:lnTo>
                  <a:lnTo>
                    <a:pt x="292000" y="42000"/>
                  </a:lnTo>
                  <a:lnTo>
                    <a:pt x="293000" y="42000"/>
                  </a:lnTo>
                  <a:lnTo>
                    <a:pt x="294000" y="42000"/>
                  </a:lnTo>
                  <a:lnTo>
                    <a:pt x="295000" y="42000"/>
                  </a:lnTo>
                  <a:lnTo>
                    <a:pt x="296000" y="41500"/>
                  </a:lnTo>
                  <a:lnTo>
                    <a:pt x="297000" y="41000"/>
                  </a:lnTo>
                  <a:lnTo>
                    <a:pt x="298000" y="40000"/>
                  </a:lnTo>
                  <a:lnTo>
                    <a:pt x="299000" y="39000"/>
                  </a:lnTo>
                  <a:lnTo>
                    <a:pt x="300000" y="37500"/>
                  </a:lnTo>
                  <a:lnTo>
                    <a:pt x="301000" y="37500"/>
                  </a:lnTo>
                  <a:lnTo>
                    <a:pt x="302000" y="37500"/>
                  </a:lnTo>
                  <a:lnTo>
                    <a:pt x="303000" y="37500"/>
                  </a:lnTo>
                  <a:lnTo>
                    <a:pt x="304000" y="38500"/>
                  </a:lnTo>
                  <a:lnTo>
                    <a:pt x="305000" y="38500"/>
                  </a:lnTo>
                  <a:lnTo>
                    <a:pt x="306000" y="39500"/>
                  </a:lnTo>
                  <a:lnTo>
                    <a:pt x="307000" y="40000"/>
                  </a:lnTo>
                  <a:lnTo>
                    <a:pt x="308000" y="40500"/>
                  </a:lnTo>
                  <a:lnTo>
                    <a:pt x="309000" y="41000"/>
                  </a:lnTo>
                  <a:lnTo>
                    <a:pt x="310000" y="41500"/>
                  </a:lnTo>
                  <a:lnTo>
                    <a:pt x="311000" y="41500"/>
                  </a:lnTo>
                  <a:lnTo>
                    <a:pt x="312000" y="41500"/>
                  </a:lnTo>
                  <a:lnTo>
                    <a:pt x="313000" y="41000"/>
                  </a:lnTo>
                  <a:lnTo>
                    <a:pt x="314000" y="40500"/>
                  </a:lnTo>
                  <a:lnTo>
                    <a:pt x="315000" y="40500"/>
                  </a:lnTo>
                  <a:lnTo>
                    <a:pt x="316000" y="39500"/>
                  </a:lnTo>
                  <a:lnTo>
                    <a:pt x="317000" y="39500"/>
                  </a:lnTo>
                  <a:lnTo>
                    <a:pt x="318000" y="38500"/>
                  </a:lnTo>
                  <a:lnTo>
                    <a:pt x="319000" y="38500"/>
                  </a:lnTo>
                  <a:lnTo>
                    <a:pt x="320000" y="38500"/>
                  </a:lnTo>
                  <a:lnTo>
                    <a:pt x="321000" y="38500"/>
                  </a:lnTo>
                  <a:lnTo>
                    <a:pt x="322000" y="39500"/>
                  </a:lnTo>
                  <a:lnTo>
                    <a:pt x="323000" y="39500"/>
                  </a:lnTo>
                  <a:lnTo>
                    <a:pt x="324000" y="39500"/>
                  </a:lnTo>
                  <a:lnTo>
                    <a:pt x="325000" y="40500"/>
                  </a:lnTo>
                  <a:lnTo>
                    <a:pt x="326000" y="40500"/>
                  </a:lnTo>
                  <a:lnTo>
                    <a:pt x="327000" y="41500"/>
                  </a:lnTo>
                  <a:lnTo>
                    <a:pt x="328000" y="41500"/>
                  </a:lnTo>
                  <a:lnTo>
                    <a:pt x="329000" y="41500"/>
                  </a:lnTo>
                  <a:lnTo>
                    <a:pt x="330000" y="41500"/>
                  </a:lnTo>
                  <a:lnTo>
                    <a:pt x="331000" y="41500"/>
                  </a:lnTo>
                  <a:lnTo>
                    <a:pt x="332000" y="40500"/>
                  </a:lnTo>
                  <a:lnTo>
                    <a:pt x="333000" y="40500"/>
                  </a:lnTo>
                  <a:lnTo>
                    <a:pt x="334000" y="40500"/>
                  </a:lnTo>
                  <a:lnTo>
                    <a:pt x="335000" y="39500"/>
                  </a:lnTo>
                  <a:lnTo>
                    <a:pt x="336000" y="39500"/>
                  </a:lnTo>
                  <a:lnTo>
                    <a:pt x="337000" y="39500"/>
                  </a:lnTo>
                  <a:lnTo>
                    <a:pt x="338000" y="38500"/>
                  </a:lnTo>
                  <a:lnTo>
                    <a:pt x="339000" y="38500"/>
                  </a:lnTo>
                  <a:lnTo>
                    <a:pt x="340000" y="38500"/>
                  </a:lnTo>
                  <a:lnTo>
                    <a:pt x="341000" y="37500"/>
                  </a:lnTo>
                  <a:lnTo>
                    <a:pt x="342000" y="37500"/>
                  </a:lnTo>
                  <a:lnTo>
                    <a:pt x="343000" y="37500"/>
                  </a:lnTo>
                  <a:lnTo>
                    <a:pt x="344000" y="37500"/>
                  </a:lnTo>
                  <a:lnTo>
                    <a:pt x="345000" y="38500"/>
                  </a:lnTo>
                  <a:lnTo>
                    <a:pt x="346000" y="39500"/>
                  </a:lnTo>
                  <a:lnTo>
                    <a:pt x="347000" y="40500"/>
                  </a:lnTo>
                  <a:lnTo>
                    <a:pt x="348000" y="41500"/>
                  </a:lnTo>
                  <a:lnTo>
                    <a:pt x="349000" y="41500"/>
                  </a:lnTo>
                  <a:lnTo>
                    <a:pt x="350000" y="41500"/>
                  </a:lnTo>
                  <a:lnTo>
                    <a:pt x="351000" y="41000"/>
                  </a:lnTo>
                  <a:lnTo>
                    <a:pt x="352000" y="40500"/>
                  </a:lnTo>
                  <a:lnTo>
                    <a:pt x="353000" y="39500"/>
                  </a:lnTo>
                  <a:lnTo>
                    <a:pt x="354000" y="39500"/>
                  </a:lnTo>
                  <a:lnTo>
                    <a:pt x="355000" y="38500"/>
                  </a:lnTo>
                  <a:lnTo>
                    <a:pt x="356000" y="38500"/>
                  </a:lnTo>
                  <a:lnTo>
                    <a:pt x="357000" y="37500"/>
                  </a:lnTo>
                  <a:lnTo>
                    <a:pt x="358000" y="37500"/>
                  </a:lnTo>
                  <a:lnTo>
                    <a:pt x="359000" y="37500"/>
                  </a:lnTo>
                  <a:lnTo>
                    <a:pt x="360000" y="37500"/>
                  </a:lnTo>
                  <a:lnTo>
                    <a:pt x="361000" y="37500"/>
                  </a:lnTo>
                  <a:lnTo>
                    <a:pt x="362000" y="38500"/>
                  </a:lnTo>
                  <a:lnTo>
                    <a:pt x="363000" y="39000"/>
                  </a:lnTo>
                  <a:lnTo>
                    <a:pt x="364000" y="39500"/>
                  </a:lnTo>
                  <a:lnTo>
                    <a:pt x="365000" y="40500"/>
                  </a:lnTo>
                  <a:lnTo>
                    <a:pt x="366000" y="41500"/>
                  </a:lnTo>
                  <a:lnTo>
                    <a:pt x="367000" y="41500"/>
                  </a:lnTo>
                  <a:lnTo>
                    <a:pt x="368000" y="42000"/>
                  </a:lnTo>
                  <a:lnTo>
                    <a:pt x="369000" y="42000"/>
                  </a:lnTo>
                  <a:lnTo>
                    <a:pt x="370000" y="42000"/>
                  </a:lnTo>
                  <a:lnTo>
                    <a:pt x="371000" y="41000"/>
                  </a:lnTo>
                  <a:lnTo>
                    <a:pt x="372000" y="37500"/>
                  </a:lnTo>
                  <a:lnTo>
                    <a:pt x="373000" y="33500"/>
                  </a:lnTo>
                  <a:lnTo>
                    <a:pt x="374000" y="30500"/>
                  </a:lnTo>
                  <a:lnTo>
                    <a:pt x="375000" y="27500"/>
                  </a:lnTo>
                  <a:lnTo>
                    <a:pt x="376000" y="29000"/>
                  </a:lnTo>
                  <a:lnTo>
                    <a:pt x="377000" y="31000"/>
                  </a:lnTo>
                  <a:lnTo>
                    <a:pt x="378000" y="33500"/>
                  </a:lnTo>
                  <a:lnTo>
                    <a:pt x="379000" y="36000"/>
                  </a:lnTo>
                  <a:lnTo>
                    <a:pt x="380000" y="39000"/>
                  </a:lnTo>
                  <a:lnTo>
                    <a:pt x="381000" y="40500"/>
                  </a:lnTo>
                  <a:lnTo>
                    <a:pt x="382000" y="41500"/>
                  </a:lnTo>
                </a:path>
              </a:pathLst>
            </a:custGeom>
            <a:noFill/>
            <a:ln w="9525" cap="rnd">
              <a:solidFill>
                <a:srgbClr val="9380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000625" y="819150"/>
              <a:ext cx="685800" cy="247650"/>
            </a:xfrm>
            <a:custGeom>
              <a:avLst/>
              <a:gdLst/>
              <a:ahLst/>
              <a:cxnLst/>
              <a:rect l="0" t="0" r="r" b="b"/>
              <a:pathLst>
                <a:path w="72000" h="26000" fill="none">
                  <a:moveTo>
                    <a:pt x="0" y="26000"/>
                  </a:moveTo>
                  <a:lnTo>
                    <a:pt x="19000" y="0"/>
                  </a:lnTo>
                  <a:lnTo>
                    <a:pt x="72000" y="0"/>
                  </a:lnTo>
                </a:path>
              </a:pathLst>
            </a:custGeom>
            <a:noFill/>
            <a:ln w="9525" cap="rnd">
              <a:solidFill>
                <a:srgbClr val="EE211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857875" y="1038225"/>
              <a:ext cx="838200" cy="66675"/>
            </a:xfrm>
            <a:custGeom>
              <a:avLst/>
              <a:gdLst/>
              <a:ahLst/>
              <a:cxnLst/>
              <a:rect l="0" t="0" r="r" b="b"/>
              <a:pathLst>
                <a:path w="88000" h="7000" fill="none">
                  <a:moveTo>
                    <a:pt x="0" y="7000"/>
                  </a:moveTo>
                  <a:lnTo>
                    <a:pt x="9000" y="0"/>
                  </a:lnTo>
                  <a:lnTo>
                    <a:pt x="88000" y="0"/>
                  </a:lnTo>
                </a:path>
              </a:pathLst>
            </a:custGeom>
            <a:noFill/>
            <a:ln w="9525" cap="rnd">
              <a:solidFill>
                <a:srgbClr val="EE211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: Frequency 1"/>
            <p:cNvSpPr txBox="1"/>
            <p:nvPr/>
          </p:nvSpPr>
          <p:spPr>
            <a:xfrm>
              <a:off x="5372100" y="820769"/>
              <a:ext cx="871556" cy="2428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EF0000"/>
                  </a:solidFill>
                  <a:latin typeface="Liberation Serif"/>
                </a:rPr>
                <a:t>Frequency 1</a:t>
              </a:r>
            </a:p>
          </p:txBody>
        </p:sp>
        <p:sp>
          <p:nvSpPr>
            <p:cNvPr id="31" name="Text: Frequency 2"/>
            <p:cNvSpPr txBox="1"/>
            <p:nvPr/>
          </p:nvSpPr>
          <p:spPr>
            <a:xfrm>
              <a:off x="6343650" y="858869"/>
              <a:ext cx="871556" cy="2428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EF0000"/>
                  </a:solidFill>
                  <a:latin typeface="Liberation Serif"/>
                </a:rPr>
                <a:t>Frequency 2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05025" y="1295400"/>
              <a:ext cx="4657725" cy="323850"/>
            </a:xfrm>
            <a:custGeom>
              <a:avLst/>
              <a:gdLst/>
              <a:ahLst/>
              <a:cxnLst/>
              <a:rect l="0" t="0" r="r" b="b"/>
              <a:pathLst>
                <a:path w="489000" h="34000" fill="none">
                  <a:moveTo>
                    <a:pt x="1000" y="0"/>
                  </a:moveTo>
                  <a:quadBezTo>
                    <a:pt x="0" y="17000"/>
                    <a:pt x="4000" y="17000"/>
                  </a:quadBezTo>
                  <a:lnTo>
                    <a:pt x="240000" y="17000"/>
                  </a:lnTo>
                  <a:quadBezTo>
                    <a:pt x="245000" y="17000"/>
                    <a:pt x="245000" y="34000"/>
                  </a:quadBezTo>
                  <a:quadBezTo>
                    <a:pt x="245000" y="17000"/>
                    <a:pt x="251000" y="17000"/>
                  </a:quadBezTo>
                  <a:lnTo>
                    <a:pt x="483000" y="17000"/>
                  </a:lnTo>
                  <a:quadBezTo>
                    <a:pt x="488000" y="17000"/>
                    <a:pt x="489000" y="0"/>
                  </a:quadBezTo>
                </a:path>
              </a:pathLst>
            </a:custGeom>
            <a:noFill/>
            <a:ln w="1047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: Random Threshold"/>
            <p:cNvSpPr txBox="1"/>
            <p:nvPr/>
          </p:nvSpPr>
          <p:spPr>
            <a:xfrm>
              <a:off x="314325" y="1259110"/>
              <a:ext cx="1455744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EE0000"/>
                  </a:solidFill>
                  <a:latin typeface="Liberation Serif"/>
                </a:rPr>
                <a:t>Random Threshold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14325" y="1543050"/>
              <a:ext cx="3733800" cy="38100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61950" y="1581150"/>
              <a:ext cx="3657600" cy="280988"/>
            </a:xfrm>
            <a:custGeom>
              <a:avLst/>
              <a:gdLst/>
              <a:ahLst/>
              <a:cxnLst/>
              <a:rect l="0" t="0" r="r" b="b"/>
              <a:pathLst>
                <a:path w="384000" h="29500" fill="none">
                  <a:moveTo>
                    <a:pt x="0" y="0"/>
                  </a:moveTo>
                  <a:lnTo>
                    <a:pt x="1000" y="3000"/>
                  </a:lnTo>
                  <a:lnTo>
                    <a:pt x="2000" y="5500"/>
                  </a:lnTo>
                  <a:lnTo>
                    <a:pt x="3000" y="8500"/>
                  </a:lnTo>
                  <a:lnTo>
                    <a:pt x="4000" y="11500"/>
                  </a:lnTo>
                  <a:lnTo>
                    <a:pt x="5000" y="14000"/>
                  </a:lnTo>
                  <a:lnTo>
                    <a:pt x="6000" y="17000"/>
                  </a:lnTo>
                  <a:lnTo>
                    <a:pt x="7000" y="19000"/>
                  </a:lnTo>
                  <a:lnTo>
                    <a:pt x="8000" y="21500"/>
                  </a:lnTo>
                  <a:lnTo>
                    <a:pt x="9000" y="23500"/>
                  </a:lnTo>
                  <a:lnTo>
                    <a:pt x="10000" y="25500"/>
                  </a:lnTo>
                  <a:lnTo>
                    <a:pt x="11000" y="26500"/>
                  </a:lnTo>
                  <a:lnTo>
                    <a:pt x="12000" y="27000"/>
                  </a:lnTo>
                  <a:lnTo>
                    <a:pt x="13000" y="24000"/>
                  </a:lnTo>
                  <a:lnTo>
                    <a:pt x="14000" y="21000"/>
                  </a:lnTo>
                  <a:lnTo>
                    <a:pt x="15000" y="17000"/>
                  </a:lnTo>
                  <a:lnTo>
                    <a:pt x="16000" y="16000"/>
                  </a:lnTo>
                  <a:lnTo>
                    <a:pt x="17000" y="17500"/>
                  </a:lnTo>
                  <a:lnTo>
                    <a:pt x="18000" y="19500"/>
                  </a:lnTo>
                  <a:lnTo>
                    <a:pt x="19000" y="22000"/>
                  </a:lnTo>
                  <a:lnTo>
                    <a:pt x="20000" y="24000"/>
                  </a:lnTo>
                  <a:lnTo>
                    <a:pt x="21000" y="26000"/>
                  </a:lnTo>
                  <a:lnTo>
                    <a:pt x="22000" y="27500"/>
                  </a:lnTo>
                  <a:lnTo>
                    <a:pt x="23000" y="26000"/>
                  </a:lnTo>
                  <a:lnTo>
                    <a:pt x="24000" y="19500"/>
                  </a:lnTo>
                  <a:lnTo>
                    <a:pt x="25000" y="15500"/>
                  </a:lnTo>
                  <a:lnTo>
                    <a:pt x="26000" y="9500"/>
                  </a:lnTo>
                  <a:lnTo>
                    <a:pt x="27000" y="9000"/>
                  </a:lnTo>
                  <a:lnTo>
                    <a:pt x="28000" y="10500"/>
                  </a:lnTo>
                  <a:lnTo>
                    <a:pt x="29000" y="12500"/>
                  </a:lnTo>
                  <a:lnTo>
                    <a:pt x="30000" y="15000"/>
                  </a:lnTo>
                  <a:lnTo>
                    <a:pt x="31000" y="17000"/>
                  </a:lnTo>
                  <a:lnTo>
                    <a:pt x="32000" y="20000"/>
                  </a:lnTo>
                  <a:lnTo>
                    <a:pt x="33000" y="22000"/>
                  </a:lnTo>
                  <a:lnTo>
                    <a:pt x="34000" y="24000"/>
                  </a:lnTo>
                  <a:lnTo>
                    <a:pt x="35000" y="26000"/>
                  </a:lnTo>
                  <a:lnTo>
                    <a:pt x="36000" y="27500"/>
                  </a:lnTo>
                  <a:lnTo>
                    <a:pt x="37000" y="28500"/>
                  </a:lnTo>
                  <a:lnTo>
                    <a:pt x="38000" y="29500"/>
                  </a:lnTo>
                  <a:lnTo>
                    <a:pt x="39000" y="29500"/>
                  </a:lnTo>
                  <a:lnTo>
                    <a:pt x="40000" y="29500"/>
                  </a:lnTo>
                  <a:lnTo>
                    <a:pt x="41000" y="29000"/>
                  </a:lnTo>
                  <a:lnTo>
                    <a:pt x="42000" y="28500"/>
                  </a:lnTo>
                  <a:lnTo>
                    <a:pt x="43000" y="28500"/>
                  </a:lnTo>
                  <a:lnTo>
                    <a:pt x="44000" y="27500"/>
                  </a:lnTo>
                  <a:lnTo>
                    <a:pt x="45000" y="27000"/>
                  </a:lnTo>
                  <a:lnTo>
                    <a:pt x="46000" y="26500"/>
                  </a:lnTo>
                  <a:lnTo>
                    <a:pt x="47000" y="25500"/>
                  </a:lnTo>
                  <a:lnTo>
                    <a:pt x="48000" y="25500"/>
                  </a:lnTo>
                  <a:lnTo>
                    <a:pt x="49000" y="25500"/>
                  </a:lnTo>
                  <a:lnTo>
                    <a:pt x="50000" y="25500"/>
                  </a:lnTo>
                  <a:lnTo>
                    <a:pt x="51000" y="25500"/>
                  </a:lnTo>
                  <a:lnTo>
                    <a:pt x="52000" y="25500"/>
                  </a:lnTo>
                  <a:lnTo>
                    <a:pt x="53000" y="25500"/>
                  </a:lnTo>
                  <a:lnTo>
                    <a:pt x="54000" y="26500"/>
                  </a:lnTo>
                  <a:lnTo>
                    <a:pt x="55000" y="26500"/>
                  </a:lnTo>
                  <a:lnTo>
                    <a:pt x="56000" y="26500"/>
                  </a:lnTo>
                  <a:lnTo>
                    <a:pt x="57000" y="26500"/>
                  </a:lnTo>
                  <a:lnTo>
                    <a:pt x="58000" y="27500"/>
                  </a:lnTo>
                  <a:lnTo>
                    <a:pt x="59000" y="27000"/>
                  </a:lnTo>
                  <a:lnTo>
                    <a:pt x="60000" y="26000"/>
                  </a:lnTo>
                  <a:lnTo>
                    <a:pt x="61000" y="25500"/>
                  </a:lnTo>
                  <a:lnTo>
                    <a:pt x="62000" y="24500"/>
                  </a:lnTo>
                  <a:lnTo>
                    <a:pt x="63000" y="24500"/>
                  </a:lnTo>
                  <a:lnTo>
                    <a:pt x="64000" y="24500"/>
                  </a:lnTo>
                  <a:lnTo>
                    <a:pt x="65000" y="24500"/>
                  </a:lnTo>
                  <a:lnTo>
                    <a:pt x="66000" y="25500"/>
                  </a:lnTo>
                  <a:lnTo>
                    <a:pt x="67000" y="25500"/>
                  </a:lnTo>
                  <a:lnTo>
                    <a:pt x="68000" y="25500"/>
                  </a:lnTo>
                  <a:lnTo>
                    <a:pt x="69000" y="26500"/>
                  </a:lnTo>
                  <a:lnTo>
                    <a:pt x="70000" y="26500"/>
                  </a:lnTo>
                  <a:lnTo>
                    <a:pt x="71000" y="26500"/>
                  </a:lnTo>
                  <a:lnTo>
                    <a:pt x="72000" y="27500"/>
                  </a:lnTo>
                  <a:lnTo>
                    <a:pt x="73000" y="27500"/>
                  </a:lnTo>
                  <a:lnTo>
                    <a:pt x="74000" y="27500"/>
                  </a:lnTo>
                  <a:lnTo>
                    <a:pt x="75000" y="26500"/>
                  </a:lnTo>
                  <a:lnTo>
                    <a:pt x="76000" y="26500"/>
                  </a:lnTo>
                  <a:lnTo>
                    <a:pt x="77000" y="25500"/>
                  </a:lnTo>
                  <a:lnTo>
                    <a:pt x="78000" y="25000"/>
                  </a:lnTo>
                  <a:lnTo>
                    <a:pt x="79000" y="24500"/>
                  </a:lnTo>
                  <a:lnTo>
                    <a:pt x="80000" y="24500"/>
                  </a:lnTo>
                  <a:lnTo>
                    <a:pt x="81000" y="24500"/>
                  </a:lnTo>
                  <a:lnTo>
                    <a:pt x="82000" y="24500"/>
                  </a:lnTo>
                  <a:lnTo>
                    <a:pt x="85000" y="26500"/>
                  </a:lnTo>
                  <a:lnTo>
                    <a:pt x="86000" y="26500"/>
                  </a:lnTo>
                  <a:lnTo>
                    <a:pt x="87000" y="27500"/>
                  </a:lnTo>
                  <a:lnTo>
                    <a:pt x="88000" y="28000"/>
                  </a:lnTo>
                  <a:lnTo>
                    <a:pt x="89000" y="28500"/>
                  </a:lnTo>
                  <a:lnTo>
                    <a:pt x="90000" y="28500"/>
                  </a:lnTo>
                  <a:lnTo>
                    <a:pt x="91000" y="28500"/>
                  </a:lnTo>
                  <a:lnTo>
                    <a:pt x="92000" y="28000"/>
                  </a:lnTo>
                  <a:lnTo>
                    <a:pt x="93000" y="27000"/>
                  </a:lnTo>
                  <a:lnTo>
                    <a:pt x="94000" y="26000"/>
                  </a:lnTo>
                  <a:lnTo>
                    <a:pt x="95000" y="24000"/>
                  </a:lnTo>
                  <a:lnTo>
                    <a:pt x="96000" y="22500"/>
                  </a:lnTo>
                  <a:lnTo>
                    <a:pt x="97000" y="20500"/>
                  </a:lnTo>
                  <a:lnTo>
                    <a:pt x="98000" y="19000"/>
                  </a:lnTo>
                  <a:lnTo>
                    <a:pt x="99000" y="18500"/>
                  </a:lnTo>
                  <a:lnTo>
                    <a:pt x="100000" y="18500"/>
                  </a:lnTo>
                  <a:lnTo>
                    <a:pt x="101000" y="19000"/>
                  </a:lnTo>
                  <a:lnTo>
                    <a:pt x="102000" y="22000"/>
                  </a:lnTo>
                  <a:lnTo>
                    <a:pt x="103000" y="24500"/>
                  </a:lnTo>
                  <a:lnTo>
                    <a:pt x="104000" y="27000"/>
                  </a:lnTo>
                  <a:lnTo>
                    <a:pt x="105000" y="28000"/>
                  </a:lnTo>
                  <a:lnTo>
                    <a:pt x="106000" y="28500"/>
                  </a:lnTo>
                  <a:lnTo>
                    <a:pt x="107000" y="28500"/>
                  </a:lnTo>
                  <a:lnTo>
                    <a:pt x="108000" y="28500"/>
                  </a:lnTo>
                  <a:lnTo>
                    <a:pt x="109000" y="28000"/>
                  </a:lnTo>
                  <a:lnTo>
                    <a:pt x="110000" y="27500"/>
                  </a:lnTo>
                  <a:lnTo>
                    <a:pt x="111000" y="26500"/>
                  </a:lnTo>
                  <a:lnTo>
                    <a:pt x="112000" y="26500"/>
                  </a:lnTo>
                  <a:lnTo>
                    <a:pt x="113000" y="26000"/>
                  </a:lnTo>
                  <a:lnTo>
                    <a:pt x="114000" y="25500"/>
                  </a:lnTo>
                  <a:lnTo>
                    <a:pt x="115000" y="24500"/>
                  </a:lnTo>
                  <a:lnTo>
                    <a:pt x="116000" y="24500"/>
                  </a:lnTo>
                  <a:lnTo>
                    <a:pt x="117000" y="24500"/>
                  </a:lnTo>
                  <a:lnTo>
                    <a:pt x="118000" y="25500"/>
                  </a:lnTo>
                  <a:lnTo>
                    <a:pt x="119000" y="25500"/>
                  </a:lnTo>
                  <a:lnTo>
                    <a:pt x="120000" y="26500"/>
                  </a:lnTo>
                  <a:lnTo>
                    <a:pt x="121000" y="26500"/>
                  </a:lnTo>
                  <a:lnTo>
                    <a:pt x="122000" y="27500"/>
                  </a:lnTo>
                  <a:lnTo>
                    <a:pt x="123000" y="27500"/>
                  </a:lnTo>
                  <a:lnTo>
                    <a:pt x="124000" y="27500"/>
                  </a:lnTo>
                  <a:lnTo>
                    <a:pt x="125000" y="27500"/>
                  </a:lnTo>
                  <a:lnTo>
                    <a:pt x="126000" y="27000"/>
                  </a:lnTo>
                  <a:lnTo>
                    <a:pt x="127000" y="26500"/>
                  </a:lnTo>
                  <a:lnTo>
                    <a:pt x="128000" y="26500"/>
                  </a:lnTo>
                  <a:lnTo>
                    <a:pt x="129000" y="26000"/>
                  </a:lnTo>
                  <a:lnTo>
                    <a:pt x="132000" y="25000"/>
                  </a:lnTo>
                  <a:lnTo>
                    <a:pt x="133000" y="25000"/>
                  </a:lnTo>
                  <a:lnTo>
                    <a:pt x="134000" y="25000"/>
                  </a:lnTo>
                  <a:lnTo>
                    <a:pt x="135000" y="25000"/>
                  </a:lnTo>
                  <a:moveTo>
                    <a:pt x="139000" y="26000"/>
                  </a:moveTo>
                  <a:lnTo>
                    <a:pt x="140000" y="26000"/>
                  </a:lnTo>
                  <a:lnTo>
                    <a:pt x="141000" y="26000"/>
                  </a:lnTo>
                  <a:moveTo>
                    <a:pt x="146000" y="24000"/>
                  </a:moveTo>
                  <a:lnTo>
                    <a:pt x="149000" y="23000"/>
                  </a:lnTo>
                  <a:lnTo>
                    <a:pt x="150000" y="23000"/>
                  </a:lnTo>
                  <a:lnTo>
                    <a:pt x="153000" y="24000"/>
                  </a:lnTo>
                  <a:lnTo>
                    <a:pt x="154000" y="25000"/>
                  </a:lnTo>
                  <a:moveTo>
                    <a:pt x="159000" y="26000"/>
                  </a:moveTo>
                  <a:lnTo>
                    <a:pt x="160000" y="26000"/>
                  </a:lnTo>
                  <a:lnTo>
                    <a:pt x="161000" y="26000"/>
                  </a:lnTo>
                  <a:lnTo>
                    <a:pt x="163000" y="25000"/>
                  </a:lnTo>
                  <a:lnTo>
                    <a:pt x="164000" y="25000"/>
                  </a:lnTo>
                  <a:lnTo>
                    <a:pt x="165000" y="25000"/>
                  </a:lnTo>
                  <a:lnTo>
                    <a:pt x="168000" y="24000"/>
                  </a:lnTo>
                  <a:lnTo>
                    <a:pt x="170000" y="25000"/>
                  </a:lnTo>
                  <a:lnTo>
                    <a:pt x="171000" y="25000"/>
                  </a:lnTo>
                  <a:lnTo>
                    <a:pt x="173000" y="26000"/>
                  </a:lnTo>
                  <a:lnTo>
                    <a:pt x="174000" y="26000"/>
                  </a:lnTo>
                  <a:lnTo>
                    <a:pt x="177000" y="25000"/>
                  </a:lnTo>
                  <a:lnTo>
                    <a:pt x="178000" y="24000"/>
                  </a:lnTo>
                  <a:lnTo>
                    <a:pt x="179000" y="24000"/>
                  </a:lnTo>
                  <a:lnTo>
                    <a:pt x="180000" y="24000"/>
                  </a:lnTo>
                  <a:lnTo>
                    <a:pt x="181000" y="24000"/>
                  </a:lnTo>
                  <a:moveTo>
                    <a:pt x="185000" y="23000"/>
                  </a:moveTo>
                  <a:moveTo>
                    <a:pt x="195000" y="25000"/>
                  </a:moveTo>
                  <a:moveTo>
                    <a:pt x="202000" y="27000"/>
                  </a:moveTo>
                  <a:lnTo>
                    <a:pt x="203000" y="27000"/>
                  </a:lnTo>
                  <a:lnTo>
                    <a:pt x="204000" y="28000"/>
                  </a:lnTo>
                  <a:lnTo>
                    <a:pt x="205000" y="28000"/>
                  </a:lnTo>
                  <a:lnTo>
                    <a:pt x="206000" y="28000"/>
                  </a:lnTo>
                  <a:lnTo>
                    <a:pt x="207000" y="28000"/>
                  </a:lnTo>
                  <a:lnTo>
                    <a:pt x="209000" y="27000"/>
                  </a:lnTo>
                  <a:lnTo>
                    <a:pt x="210000" y="26000"/>
                  </a:lnTo>
                  <a:moveTo>
                    <a:pt x="218000" y="25000"/>
                  </a:moveTo>
                  <a:lnTo>
                    <a:pt x="221000" y="26000"/>
                  </a:lnTo>
                  <a:lnTo>
                    <a:pt x="222000" y="26000"/>
                  </a:lnTo>
                  <a:lnTo>
                    <a:pt x="223000" y="27000"/>
                  </a:lnTo>
                  <a:lnTo>
                    <a:pt x="224000" y="27000"/>
                  </a:lnTo>
                  <a:lnTo>
                    <a:pt x="225000" y="27000"/>
                  </a:lnTo>
                  <a:moveTo>
                    <a:pt x="229000" y="24500"/>
                  </a:moveTo>
                  <a:lnTo>
                    <a:pt x="230000" y="21000"/>
                  </a:lnTo>
                  <a:lnTo>
                    <a:pt x="231000" y="18500"/>
                  </a:lnTo>
                  <a:moveTo>
                    <a:pt x="235000" y="18000"/>
                  </a:moveTo>
                  <a:lnTo>
                    <a:pt x="236000" y="19000"/>
                  </a:lnTo>
                  <a:lnTo>
                    <a:pt x="238000" y="22000"/>
                  </a:lnTo>
                  <a:lnTo>
                    <a:pt x="239000" y="24000"/>
                  </a:lnTo>
                  <a:lnTo>
                    <a:pt x="240000" y="25000"/>
                  </a:lnTo>
                  <a:lnTo>
                    <a:pt x="242000" y="27000"/>
                  </a:lnTo>
                  <a:lnTo>
                    <a:pt x="244000" y="28000"/>
                  </a:lnTo>
                  <a:lnTo>
                    <a:pt x="245000" y="28000"/>
                  </a:lnTo>
                  <a:lnTo>
                    <a:pt x="246000" y="28000"/>
                  </a:lnTo>
                  <a:lnTo>
                    <a:pt x="249000" y="27000"/>
                  </a:lnTo>
                  <a:moveTo>
                    <a:pt x="266000" y="27000"/>
                  </a:moveTo>
                  <a:moveTo>
                    <a:pt x="276000" y="26000"/>
                  </a:moveTo>
                  <a:lnTo>
                    <a:pt x="277000" y="26000"/>
                  </a:lnTo>
                  <a:lnTo>
                    <a:pt x="279000" y="27000"/>
                  </a:lnTo>
                  <a:lnTo>
                    <a:pt x="281000" y="29000"/>
                  </a:lnTo>
                  <a:lnTo>
                    <a:pt x="282000" y="29000"/>
                  </a:lnTo>
                  <a:lnTo>
                    <a:pt x="283000" y="29000"/>
                  </a:lnTo>
                  <a:lnTo>
                    <a:pt x="284000" y="27000"/>
                  </a:lnTo>
                  <a:lnTo>
                    <a:pt x="285000" y="27000"/>
                  </a:lnTo>
                  <a:lnTo>
                    <a:pt x="286000" y="27000"/>
                  </a:lnTo>
                  <a:lnTo>
                    <a:pt x="287000" y="27000"/>
                  </a:lnTo>
                  <a:lnTo>
                    <a:pt x="288000" y="27000"/>
                  </a:lnTo>
                  <a:lnTo>
                    <a:pt x="289000" y="27000"/>
                  </a:lnTo>
                  <a:lnTo>
                    <a:pt x="290000" y="28000"/>
                  </a:lnTo>
                  <a:lnTo>
                    <a:pt x="291000" y="28000"/>
                  </a:lnTo>
                  <a:lnTo>
                    <a:pt x="294000" y="29000"/>
                  </a:lnTo>
                  <a:lnTo>
                    <a:pt x="295000" y="29000"/>
                  </a:lnTo>
                  <a:lnTo>
                    <a:pt x="296000" y="29500"/>
                  </a:lnTo>
                  <a:lnTo>
                    <a:pt x="297000" y="29500"/>
                  </a:lnTo>
                  <a:lnTo>
                    <a:pt x="298000" y="29500"/>
                  </a:lnTo>
                  <a:lnTo>
                    <a:pt x="299000" y="29500"/>
                  </a:lnTo>
                  <a:lnTo>
                    <a:pt x="300000" y="29000"/>
                  </a:lnTo>
                  <a:moveTo>
                    <a:pt x="304000" y="26000"/>
                  </a:moveTo>
                  <a:lnTo>
                    <a:pt x="305000" y="26000"/>
                  </a:lnTo>
                  <a:lnTo>
                    <a:pt x="306000" y="26000"/>
                  </a:lnTo>
                  <a:lnTo>
                    <a:pt x="307000" y="26000"/>
                  </a:lnTo>
                  <a:lnTo>
                    <a:pt x="309000" y="27000"/>
                  </a:lnTo>
                  <a:lnTo>
                    <a:pt x="310000" y="27000"/>
                  </a:lnTo>
                  <a:lnTo>
                    <a:pt x="312000" y="28000"/>
                  </a:lnTo>
                  <a:lnTo>
                    <a:pt x="313000" y="28000"/>
                  </a:lnTo>
                  <a:lnTo>
                    <a:pt x="314000" y="29000"/>
                  </a:lnTo>
                  <a:lnTo>
                    <a:pt x="315000" y="29000"/>
                  </a:lnTo>
                  <a:moveTo>
                    <a:pt x="319000" y="28000"/>
                  </a:moveTo>
                  <a:lnTo>
                    <a:pt x="320000" y="27500"/>
                  </a:lnTo>
                  <a:lnTo>
                    <a:pt x="321000" y="27500"/>
                  </a:lnTo>
                  <a:lnTo>
                    <a:pt x="322000" y="27000"/>
                  </a:lnTo>
                  <a:lnTo>
                    <a:pt x="323000" y="27000"/>
                  </a:lnTo>
                  <a:lnTo>
                    <a:pt x="324000" y="27000"/>
                  </a:lnTo>
                  <a:lnTo>
                    <a:pt x="325000" y="27000"/>
                  </a:lnTo>
                  <a:lnTo>
                    <a:pt x="326000" y="27000"/>
                  </a:lnTo>
                  <a:moveTo>
                    <a:pt x="330000" y="28000"/>
                  </a:moveTo>
                  <a:lnTo>
                    <a:pt x="331000" y="28500"/>
                  </a:lnTo>
                  <a:lnTo>
                    <a:pt x="332000" y="28500"/>
                  </a:lnTo>
                  <a:lnTo>
                    <a:pt x="333000" y="28500"/>
                  </a:lnTo>
                  <a:lnTo>
                    <a:pt x="334000" y="28500"/>
                  </a:lnTo>
                  <a:lnTo>
                    <a:pt x="335000" y="28500"/>
                  </a:lnTo>
                  <a:lnTo>
                    <a:pt x="336000" y="28500"/>
                  </a:lnTo>
                  <a:lnTo>
                    <a:pt x="337000" y="28000"/>
                  </a:lnTo>
                  <a:lnTo>
                    <a:pt x="338000" y="27500"/>
                  </a:lnTo>
                  <a:lnTo>
                    <a:pt x="339000" y="27500"/>
                  </a:lnTo>
                  <a:lnTo>
                    <a:pt x="340000" y="27500"/>
                  </a:lnTo>
                  <a:lnTo>
                    <a:pt x="341000" y="27000"/>
                  </a:lnTo>
                  <a:lnTo>
                    <a:pt x="342000" y="27000"/>
                  </a:lnTo>
                  <a:lnTo>
                    <a:pt x="343000" y="26500"/>
                  </a:lnTo>
                  <a:lnTo>
                    <a:pt x="344000" y="26500"/>
                  </a:lnTo>
                  <a:lnTo>
                    <a:pt x="345000" y="26500"/>
                  </a:lnTo>
                  <a:lnTo>
                    <a:pt x="346000" y="26000"/>
                  </a:lnTo>
                  <a:lnTo>
                    <a:pt x="347000" y="26000"/>
                  </a:lnTo>
                  <a:lnTo>
                    <a:pt x="348000" y="26000"/>
                  </a:lnTo>
                  <a:lnTo>
                    <a:pt x="349000" y="26500"/>
                  </a:lnTo>
                  <a:lnTo>
                    <a:pt x="350000" y="27500"/>
                  </a:lnTo>
                  <a:lnTo>
                    <a:pt x="351000" y="27500"/>
                  </a:lnTo>
                  <a:lnTo>
                    <a:pt x="352000" y="28500"/>
                  </a:lnTo>
                  <a:lnTo>
                    <a:pt x="353000" y="28500"/>
                  </a:lnTo>
                  <a:lnTo>
                    <a:pt x="354000" y="28500"/>
                  </a:lnTo>
                  <a:lnTo>
                    <a:pt x="355000" y="28500"/>
                  </a:lnTo>
                  <a:lnTo>
                    <a:pt x="356000" y="28000"/>
                  </a:lnTo>
                  <a:lnTo>
                    <a:pt x="357000" y="27500"/>
                  </a:lnTo>
                  <a:lnTo>
                    <a:pt x="358000" y="27500"/>
                  </a:lnTo>
                  <a:lnTo>
                    <a:pt x="359000" y="27000"/>
                  </a:lnTo>
                  <a:lnTo>
                    <a:pt x="360000" y="26500"/>
                  </a:lnTo>
                  <a:lnTo>
                    <a:pt x="361000" y="26500"/>
                  </a:lnTo>
                  <a:lnTo>
                    <a:pt x="362000" y="26500"/>
                  </a:lnTo>
                  <a:lnTo>
                    <a:pt x="363000" y="26000"/>
                  </a:lnTo>
                  <a:lnTo>
                    <a:pt x="364000" y="26000"/>
                  </a:lnTo>
                  <a:lnTo>
                    <a:pt x="365000" y="26000"/>
                  </a:lnTo>
                  <a:lnTo>
                    <a:pt x="366000" y="26500"/>
                  </a:lnTo>
                  <a:lnTo>
                    <a:pt x="367000" y="26500"/>
                  </a:lnTo>
                  <a:lnTo>
                    <a:pt x="368000" y="27500"/>
                  </a:lnTo>
                  <a:lnTo>
                    <a:pt x="369000" y="27500"/>
                  </a:lnTo>
                  <a:lnTo>
                    <a:pt x="370000" y="28500"/>
                  </a:lnTo>
                  <a:lnTo>
                    <a:pt x="371000" y="28500"/>
                  </a:lnTo>
                  <a:lnTo>
                    <a:pt x="372000" y="29000"/>
                  </a:lnTo>
                  <a:lnTo>
                    <a:pt x="373000" y="29500"/>
                  </a:lnTo>
                  <a:lnTo>
                    <a:pt x="374000" y="29500"/>
                  </a:lnTo>
                  <a:lnTo>
                    <a:pt x="375000" y="29500"/>
                  </a:lnTo>
                  <a:lnTo>
                    <a:pt x="376000" y="28000"/>
                  </a:lnTo>
                  <a:lnTo>
                    <a:pt x="377000" y="25500"/>
                  </a:lnTo>
                  <a:lnTo>
                    <a:pt x="378000" y="23000"/>
                  </a:lnTo>
                  <a:lnTo>
                    <a:pt x="379000" y="21000"/>
                  </a:lnTo>
                  <a:lnTo>
                    <a:pt x="380000" y="20000"/>
                  </a:lnTo>
                  <a:lnTo>
                    <a:pt x="381000" y="20500"/>
                  </a:lnTo>
                  <a:lnTo>
                    <a:pt x="382000" y="22000"/>
                  </a:lnTo>
                  <a:lnTo>
                    <a:pt x="383000" y="24000"/>
                  </a:lnTo>
                  <a:lnTo>
                    <a:pt x="384000" y="25500"/>
                  </a:lnTo>
                </a:path>
              </a:pathLst>
            </a:custGeom>
            <a:noFill/>
            <a:ln w="9525" cap="rnd">
              <a:solidFill>
                <a:srgbClr val="9785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152525" y="1552575"/>
              <a:ext cx="2895600" cy="36195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152525" y="1552575"/>
              <a:ext cx="952" cy="952"/>
            </a:xfrm>
            <a:custGeom>
              <a:avLst/>
              <a:gdLst/>
              <a:ahLst/>
              <a:cxnLst/>
              <a:rect l="0" t="0" r="r" b="b"/>
              <a:pathLst>
                <a:path w="100" h="100" fill="none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152525" y="1552575"/>
              <a:ext cx="66675" cy="66675"/>
            </a:xfrm>
            <a:custGeom>
              <a:avLst/>
              <a:gdLst/>
              <a:ahLst/>
              <a:cxnLst/>
              <a:rect l="0" t="0" r="r" b="b"/>
              <a:pathLst>
                <a:path w="7000" h="7000" fill="none">
                  <a:moveTo>
                    <a:pt x="0" y="7000"/>
                  </a:moveTo>
                  <a:lnTo>
                    <a:pt x="7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152525" y="1552575"/>
              <a:ext cx="133350" cy="133350"/>
            </a:xfrm>
            <a:custGeom>
              <a:avLst/>
              <a:gdLst/>
              <a:ahLst/>
              <a:cxnLst/>
              <a:rect l="0" t="0" r="r" b="b"/>
              <a:pathLst>
                <a:path w="14000" h="14000" fill="none">
                  <a:moveTo>
                    <a:pt x="0" y="14000"/>
                  </a:moveTo>
                  <a:lnTo>
                    <a:pt x="14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152525" y="1552575"/>
              <a:ext cx="200025" cy="200025"/>
            </a:xfrm>
            <a:custGeom>
              <a:avLst/>
              <a:gdLst/>
              <a:ahLst/>
              <a:cxnLst/>
              <a:rect l="0" t="0" r="r" b="b"/>
              <a:pathLst>
                <a:path w="21000" h="21000" fill="none">
                  <a:moveTo>
                    <a:pt x="0" y="21000"/>
                  </a:moveTo>
                  <a:lnTo>
                    <a:pt x="21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152525" y="1552575"/>
              <a:ext cx="266700" cy="266700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152525" y="1552575"/>
              <a:ext cx="333375" cy="333375"/>
            </a:xfrm>
            <a:custGeom>
              <a:avLst/>
              <a:gdLst/>
              <a:ahLst/>
              <a:cxnLst/>
              <a:rect l="0" t="0" r="r" b="b"/>
              <a:pathLst>
                <a:path w="35000" h="35000" fill="none">
                  <a:moveTo>
                    <a:pt x="0" y="35000"/>
                  </a:moveTo>
                  <a:lnTo>
                    <a:pt x="35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190625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257300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323975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390650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457325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524000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590675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657350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724025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790700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857375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924050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990725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2057400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2124075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2190750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2257425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324100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390775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457450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524125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590800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2657475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724150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790825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857500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924175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990850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057525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3124200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190875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3257550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3324225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3390900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3457575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3524250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3590925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3657600" y="155257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 fill="none">
                  <a:moveTo>
                    <a:pt x="0" y="38000"/>
                  </a:moveTo>
                  <a:lnTo>
                    <a:pt x="38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724275" y="1590675"/>
              <a:ext cx="323850" cy="323850"/>
            </a:xfrm>
            <a:custGeom>
              <a:avLst/>
              <a:gdLst/>
              <a:ahLst/>
              <a:cxnLst/>
              <a:rect l="0" t="0" r="r" b="b"/>
              <a:pathLst>
                <a:path w="34000" h="34000" fill="none">
                  <a:moveTo>
                    <a:pt x="0" y="34000"/>
                  </a:moveTo>
                  <a:lnTo>
                    <a:pt x="34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3790950" y="1657350"/>
              <a:ext cx="257175" cy="257175"/>
            </a:xfrm>
            <a:custGeom>
              <a:avLst/>
              <a:gdLst/>
              <a:ahLst/>
              <a:cxnLst/>
              <a:rect l="0" t="0" r="r" b="b"/>
              <a:pathLst>
                <a:path w="27000" h="27000" fill="none">
                  <a:moveTo>
                    <a:pt x="0" y="27000"/>
                  </a:moveTo>
                  <a:lnTo>
                    <a:pt x="27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3857625" y="17240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20000" h="20000" fill="none">
                  <a:moveTo>
                    <a:pt x="0" y="20000"/>
                  </a:moveTo>
                  <a:lnTo>
                    <a:pt x="20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924300" y="1790700"/>
              <a:ext cx="123825" cy="123825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3990975" y="1857375"/>
              <a:ext cx="57150" cy="57150"/>
            </a:xfrm>
            <a:custGeom>
              <a:avLst/>
              <a:gdLst/>
              <a:ahLst/>
              <a:cxnLst/>
              <a:rect l="0" t="0" r="r" b="b"/>
              <a:pathLst>
                <a:path w="6000" h="6000" fill="none">
                  <a:moveTo>
                    <a:pt x="0" y="6000"/>
                  </a:moveTo>
                  <a:lnTo>
                    <a:pt x="6000" y="0"/>
                  </a:lnTo>
                </a:path>
              </a:pathLst>
            </a:custGeom>
            <a:noFill/>
            <a:ln w="12382" cap="rnd">
              <a:solidFill>
                <a:srgbClr val="F4F4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1609725" y="1590675"/>
              <a:ext cx="1895475" cy="285750"/>
            </a:xfrm>
            <a:prstGeom prst="rect">
              <a:avLst/>
            </a:prstGeom>
            <a:solidFill>
              <a:srgbClr val="D5D5D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1171575" y="1752600"/>
              <a:ext cx="2847975" cy="109538"/>
            </a:xfrm>
            <a:custGeom>
              <a:avLst/>
              <a:gdLst/>
              <a:ahLst/>
              <a:cxnLst/>
              <a:rect l="0" t="0" r="r" b="b"/>
              <a:pathLst>
                <a:path w="299000" h="11500" fill="none">
                  <a:moveTo>
                    <a:pt x="0" y="8500"/>
                  </a:moveTo>
                  <a:lnTo>
                    <a:pt x="1000" y="8500"/>
                  </a:lnTo>
                  <a:lnTo>
                    <a:pt x="2000" y="9500"/>
                  </a:lnTo>
                  <a:lnTo>
                    <a:pt x="3000" y="10000"/>
                  </a:lnTo>
                  <a:lnTo>
                    <a:pt x="4000" y="10500"/>
                  </a:lnTo>
                  <a:lnTo>
                    <a:pt x="5000" y="10500"/>
                  </a:lnTo>
                  <a:lnTo>
                    <a:pt x="6000" y="10500"/>
                  </a:lnTo>
                  <a:lnTo>
                    <a:pt x="7000" y="10000"/>
                  </a:lnTo>
                  <a:lnTo>
                    <a:pt x="8000" y="9000"/>
                  </a:lnTo>
                  <a:lnTo>
                    <a:pt x="9000" y="8000"/>
                  </a:lnTo>
                  <a:lnTo>
                    <a:pt x="10000" y="6000"/>
                  </a:lnTo>
                  <a:lnTo>
                    <a:pt x="11000" y="4500"/>
                  </a:lnTo>
                  <a:lnTo>
                    <a:pt x="12000" y="2500"/>
                  </a:lnTo>
                  <a:lnTo>
                    <a:pt x="13000" y="1000"/>
                  </a:lnTo>
                  <a:lnTo>
                    <a:pt x="14000" y="500"/>
                  </a:lnTo>
                  <a:lnTo>
                    <a:pt x="15000" y="500"/>
                  </a:lnTo>
                  <a:lnTo>
                    <a:pt x="16000" y="1000"/>
                  </a:lnTo>
                  <a:lnTo>
                    <a:pt x="17000" y="4000"/>
                  </a:lnTo>
                  <a:lnTo>
                    <a:pt x="18000" y="6500"/>
                  </a:lnTo>
                  <a:lnTo>
                    <a:pt x="19000" y="9000"/>
                  </a:lnTo>
                  <a:lnTo>
                    <a:pt x="20000" y="10000"/>
                  </a:lnTo>
                  <a:lnTo>
                    <a:pt x="21000" y="10500"/>
                  </a:lnTo>
                  <a:lnTo>
                    <a:pt x="22000" y="10500"/>
                  </a:lnTo>
                  <a:lnTo>
                    <a:pt x="23000" y="10500"/>
                  </a:lnTo>
                  <a:lnTo>
                    <a:pt x="24000" y="10000"/>
                  </a:lnTo>
                  <a:lnTo>
                    <a:pt x="25000" y="9500"/>
                  </a:lnTo>
                  <a:lnTo>
                    <a:pt x="26000" y="8500"/>
                  </a:lnTo>
                  <a:lnTo>
                    <a:pt x="27000" y="8500"/>
                  </a:lnTo>
                  <a:lnTo>
                    <a:pt x="28000" y="8000"/>
                  </a:lnTo>
                  <a:lnTo>
                    <a:pt x="29000" y="7500"/>
                  </a:lnTo>
                  <a:lnTo>
                    <a:pt x="30000" y="6500"/>
                  </a:lnTo>
                  <a:lnTo>
                    <a:pt x="31000" y="6500"/>
                  </a:lnTo>
                  <a:lnTo>
                    <a:pt x="32000" y="6500"/>
                  </a:lnTo>
                  <a:lnTo>
                    <a:pt x="33000" y="7500"/>
                  </a:lnTo>
                  <a:lnTo>
                    <a:pt x="34000" y="7500"/>
                  </a:lnTo>
                  <a:lnTo>
                    <a:pt x="35000" y="8500"/>
                  </a:lnTo>
                  <a:lnTo>
                    <a:pt x="36000" y="8500"/>
                  </a:lnTo>
                  <a:lnTo>
                    <a:pt x="37000" y="9500"/>
                  </a:lnTo>
                  <a:lnTo>
                    <a:pt x="38000" y="9500"/>
                  </a:lnTo>
                  <a:lnTo>
                    <a:pt x="39000" y="9500"/>
                  </a:lnTo>
                  <a:lnTo>
                    <a:pt x="40000" y="9500"/>
                  </a:lnTo>
                  <a:lnTo>
                    <a:pt x="41000" y="9000"/>
                  </a:lnTo>
                  <a:lnTo>
                    <a:pt x="42000" y="8500"/>
                  </a:lnTo>
                  <a:lnTo>
                    <a:pt x="43000" y="8500"/>
                  </a:lnTo>
                  <a:lnTo>
                    <a:pt x="44000" y="8000"/>
                  </a:lnTo>
                  <a:lnTo>
                    <a:pt x="47000" y="7000"/>
                  </a:lnTo>
                  <a:lnTo>
                    <a:pt x="48000" y="7000"/>
                  </a:lnTo>
                  <a:lnTo>
                    <a:pt x="49000" y="7000"/>
                  </a:lnTo>
                  <a:lnTo>
                    <a:pt x="50000" y="7000"/>
                  </a:lnTo>
                  <a:moveTo>
                    <a:pt x="54000" y="8000"/>
                  </a:moveTo>
                  <a:lnTo>
                    <a:pt x="55000" y="8000"/>
                  </a:lnTo>
                  <a:lnTo>
                    <a:pt x="56000" y="8000"/>
                  </a:lnTo>
                  <a:moveTo>
                    <a:pt x="61000" y="6000"/>
                  </a:moveTo>
                  <a:lnTo>
                    <a:pt x="64000" y="5000"/>
                  </a:lnTo>
                  <a:lnTo>
                    <a:pt x="65000" y="5000"/>
                  </a:lnTo>
                  <a:lnTo>
                    <a:pt x="68000" y="6000"/>
                  </a:lnTo>
                  <a:lnTo>
                    <a:pt x="69000" y="7000"/>
                  </a:lnTo>
                  <a:moveTo>
                    <a:pt x="74000" y="8000"/>
                  </a:moveTo>
                  <a:lnTo>
                    <a:pt x="75000" y="8000"/>
                  </a:lnTo>
                  <a:lnTo>
                    <a:pt x="76000" y="8000"/>
                  </a:lnTo>
                  <a:lnTo>
                    <a:pt x="78000" y="7000"/>
                  </a:lnTo>
                  <a:lnTo>
                    <a:pt x="79000" y="7000"/>
                  </a:lnTo>
                  <a:lnTo>
                    <a:pt x="80000" y="7000"/>
                  </a:lnTo>
                  <a:lnTo>
                    <a:pt x="83000" y="6000"/>
                  </a:lnTo>
                  <a:lnTo>
                    <a:pt x="85000" y="7000"/>
                  </a:lnTo>
                  <a:lnTo>
                    <a:pt x="86000" y="7000"/>
                  </a:lnTo>
                  <a:lnTo>
                    <a:pt x="88000" y="8000"/>
                  </a:lnTo>
                  <a:lnTo>
                    <a:pt x="89000" y="8000"/>
                  </a:lnTo>
                  <a:lnTo>
                    <a:pt x="92000" y="7000"/>
                  </a:lnTo>
                  <a:lnTo>
                    <a:pt x="93000" y="6000"/>
                  </a:lnTo>
                  <a:lnTo>
                    <a:pt x="94000" y="6000"/>
                  </a:lnTo>
                  <a:lnTo>
                    <a:pt x="95000" y="6000"/>
                  </a:lnTo>
                  <a:lnTo>
                    <a:pt x="96000" y="6000"/>
                  </a:lnTo>
                  <a:moveTo>
                    <a:pt x="100000" y="5000"/>
                  </a:moveTo>
                  <a:moveTo>
                    <a:pt x="110000" y="7000"/>
                  </a:moveTo>
                  <a:moveTo>
                    <a:pt x="117000" y="9000"/>
                  </a:moveTo>
                  <a:lnTo>
                    <a:pt x="118000" y="9000"/>
                  </a:lnTo>
                  <a:lnTo>
                    <a:pt x="119000" y="10000"/>
                  </a:lnTo>
                  <a:lnTo>
                    <a:pt x="120000" y="10000"/>
                  </a:lnTo>
                  <a:lnTo>
                    <a:pt x="121000" y="10000"/>
                  </a:lnTo>
                  <a:lnTo>
                    <a:pt x="122000" y="10000"/>
                  </a:lnTo>
                  <a:lnTo>
                    <a:pt x="124000" y="9000"/>
                  </a:lnTo>
                  <a:lnTo>
                    <a:pt x="125000" y="8000"/>
                  </a:lnTo>
                  <a:moveTo>
                    <a:pt x="133000" y="7000"/>
                  </a:moveTo>
                  <a:lnTo>
                    <a:pt x="136000" y="8000"/>
                  </a:lnTo>
                  <a:lnTo>
                    <a:pt x="137000" y="8000"/>
                  </a:lnTo>
                  <a:lnTo>
                    <a:pt x="138000" y="9000"/>
                  </a:lnTo>
                  <a:lnTo>
                    <a:pt x="139000" y="9000"/>
                  </a:lnTo>
                  <a:lnTo>
                    <a:pt x="140000" y="9000"/>
                  </a:lnTo>
                  <a:moveTo>
                    <a:pt x="144000" y="6500"/>
                  </a:moveTo>
                  <a:lnTo>
                    <a:pt x="145000" y="3000"/>
                  </a:lnTo>
                  <a:lnTo>
                    <a:pt x="146000" y="500"/>
                  </a:lnTo>
                  <a:moveTo>
                    <a:pt x="150000" y="0"/>
                  </a:moveTo>
                  <a:lnTo>
                    <a:pt x="151000" y="1000"/>
                  </a:lnTo>
                  <a:lnTo>
                    <a:pt x="153000" y="4000"/>
                  </a:lnTo>
                  <a:lnTo>
                    <a:pt x="154000" y="6000"/>
                  </a:lnTo>
                  <a:lnTo>
                    <a:pt x="155000" y="7000"/>
                  </a:lnTo>
                  <a:lnTo>
                    <a:pt x="157000" y="9000"/>
                  </a:lnTo>
                  <a:lnTo>
                    <a:pt x="159000" y="10000"/>
                  </a:lnTo>
                  <a:lnTo>
                    <a:pt x="160000" y="10000"/>
                  </a:lnTo>
                  <a:lnTo>
                    <a:pt x="161000" y="10000"/>
                  </a:lnTo>
                  <a:lnTo>
                    <a:pt x="164000" y="9000"/>
                  </a:lnTo>
                  <a:moveTo>
                    <a:pt x="181000" y="9000"/>
                  </a:moveTo>
                  <a:moveTo>
                    <a:pt x="191000" y="8000"/>
                  </a:moveTo>
                  <a:lnTo>
                    <a:pt x="192000" y="8000"/>
                  </a:lnTo>
                  <a:lnTo>
                    <a:pt x="194000" y="9000"/>
                  </a:lnTo>
                  <a:lnTo>
                    <a:pt x="196000" y="11000"/>
                  </a:lnTo>
                  <a:lnTo>
                    <a:pt x="197000" y="11000"/>
                  </a:lnTo>
                  <a:lnTo>
                    <a:pt x="198000" y="11000"/>
                  </a:lnTo>
                  <a:lnTo>
                    <a:pt x="199000" y="9000"/>
                  </a:lnTo>
                  <a:lnTo>
                    <a:pt x="200000" y="9000"/>
                  </a:lnTo>
                  <a:lnTo>
                    <a:pt x="201000" y="9000"/>
                  </a:lnTo>
                  <a:lnTo>
                    <a:pt x="202000" y="9000"/>
                  </a:lnTo>
                  <a:lnTo>
                    <a:pt x="203000" y="9000"/>
                  </a:lnTo>
                  <a:lnTo>
                    <a:pt x="204000" y="9000"/>
                  </a:lnTo>
                  <a:lnTo>
                    <a:pt x="205000" y="10000"/>
                  </a:lnTo>
                  <a:lnTo>
                    <a:pt x="206000" y="10000"/>
                  </a:lnTo>
                  <a:lnTo>
                    <a:pt x="209000" y="11000"/>
                  </a:lnTo>
                  <a:lnTo>
                    <a:pt x="210000" y="11000"/>
                  </a:lnTo>
                  <a:lnTo>
                    <a:pt x="211000" y="11500"/>
                  </a:lnTo>
                  <a:lnTo>
                    <a:pt x="212000" y="11500"/>
                  </a:lnTo>
                  <a:lnTo>
                    <a:pt x="213000" y="11500"/>
                  </a:lnTo>
                  <a:lnTo>
                    <a:pt x="214000" y="11500"/>
                  </a:lnTo>
                  <a:lnTo>
                    <a:pt x="215000" y="11000"/>
                  </a:lnTo>
                  <a:moveTo>
                    <a:pt x="219000" y="8000"/>
                  </a:moveTo>
                  <a:lnTo>
                    <a:pt x="220000" y="8000"/>
                  </a:lnTo>
                  <a:lnTo>
                    <a:pt x="221000" y="8000"/>
                  </a:lnTo>
                  <a:lnTo>
                    <a:pt x="222000" y="8000"/>
                  </a:lnTo>
                  <a:lnTo>
                    <a:pt x="224000" y="9000"/>
                  </a:lnTo>
                  <a:lnTo>
                    <a:pt x="225000" y="9000"/>
                  </a:lnTo>
                  <a:lnTo>
                    <a:pt x="227000" y="10000"/>
                  </a:lnTo>
                  <a:lnTo>
                    <a:pt x="228000" y="10000"/>
                  </a:lnTo>
                  <a:lnTo>
                    <a:pt x="229000" y="11000"/>
                  </a:lnTo>
                  <a:lnTo>
                    <a:pt x="230000" y="11000"/>
                  </a:lnTo>
                  <a:moveTo>
                    <a:pt x="234000" y="10000"/>
                  </a:moveTo>
                  <a:lnTo>
                    <a:pt x="235000" y="9500"/>
                  </a:lnTo>
                  <a:lnTo>
                    <a:pt x="236000" y="9500"/>
                  </a:lnTo>
                  <a:lnTo>
                    <a:pt x="237000" y="9000"/>
                  </a:lnTo>
                  <a:lnTo>
                    <a:pt x="238000" y="9000"/>
                  </a:lnTo>
                  <a:lnTo>
                    <a:pt x="239000" y="9000"/>
                  </a:lnTo>
                  <a:lnTo>
                    <a:pt x="240000" y="9000"/>
                  </a:lnTo>
                  <a:lnTo>
                    <a:pt x="241000" y="9000"/>
                  </a:lnTo>
                  <a:moveTo>
                    <a:pt x="245000" y="10000"/>
                  </a:moveTo>
                  <a:lnTo>
                    <a:pt x="246000" y="10500"/>
                  </a:lnTo>
                  <a:lnTo>
                    <a:pt x="247000" y="10500"/>
                  </a:lnTo>
                  <a:lnTo>
                    <a:pt x="248000" y="10500"/>
                  </a:lnTo>
                  <a:lnTo>
                    <a:pt x="249000" y="10500"/>
                  </a:lnTo>
                  <a:lnTo>
                    <a:pt x="250000" y="10500"/>
                  </a:lnTo>
                  <a:lnTo>
                    <a:pt x="251000" y="10500"/>
                  </a:lnTo>
                  <a:lnTo>
                    <a:pt x="252000" y="10000"/>
                  </a:lnTo>
                  <a:lnTo>
                    <a:pt x="253000" y="9500"/>
                  </a:lnTo>
                  <a:lnTo>
                    <a:pt x="254000" y="9500"/>
                  </a:lnTo>
                  <a:lnTo>
                    <a:pt x="255000" y="9500"/>
                  </a:lnTo>
                  <a:lnTo>
                    <a:pt x="256000" y="9000"/>
                  </a:lnTo>
                  <a:lnTo>
                    <a:pt x="257000" y="9000"/>
                  </a:lnTo>
                  <a:lnTo>
                    <a:pt x="258000" y="8500"/>
                  </a:lnTo>
                  <a:lnTo>
                    <a:pt x="259000" y="8500"/>
                  </a:lnTo>
                  <a:lnTo>
                    <a:pt x="260000" y="8500"/>
                  </a:lnTo>
                  <a:lnTo>
                    <a:pt x="261000" y="8000"/>
                  </a:lnTo>
                  <a:lnTo>
                    <a:pt x="262000" y="8000"/>
                  </a:lnTo>
                  <a:lnTo>
                    <a:pt x="263000" y="8000"/>
                  </a:lnTo>
                  <a:lnTo>
                    <a:pt x="264000" y="8500"/>
                  </a:lnTo>
                  <a:lnTo>
                    <a:pt x="265000" y="9500"/>
                  </a:lnTo>
                  <a:lnTo>
                    <a:pt x="266000" y="9500"/>
                  </a:lnTo>
                  <a:lnTo>
                    <a:pt x="267000" y="10500"/>
                  </a:lnTo>
                  <a:lnTo>
                    <a:pt x="268000" y="10500"/>
                  </a:lnTo>
                  <a:lnTo>
                    <a:pt x="269000" y="10500"/>
                  </a:lnTo>
                  <a:lnTo>
                    <a:pt x="270000" y="10500"/>
                  </a:lnTo>
                  <a:lnTo>
                    <a:pt x="271000" y="10000"/>
                  </a:lnTo>
                  <a:lnTo>
                    <a:pt x="272000" y="9500"/>
                  </a:lnTo>
                  <a:lnTo>
                    <a:pt x="273000" y="9500"/>
                  </a:lnTo>
                  <a:lnTo>
                    <a:pt x="274000" y="9000"/>
                  </a:lnTo>
                  <a:lnTo>
                    <a:pt x="275000" y="8500"/>
                  </a:lnTo>
                  <a:lnTo>
                    <a:pt x="276000" y="8500"/>
                  </a:lnTo>
                  <a:lnTo>
                    <a:pt x="277000" y="8500"/>
                  </a:lnTo>
                  <a:lnTo>
                    <a:pt x="278000" y="8000"/>
                  </a:lnTo>
                  <a:lnTo>
                    <a:pt x="279000" y="8000"/>
                  </a:lnTo>
                  <a:lnTo>
                    <a:pt x="280000" y="8000"/>
                  </a:lnTo>
                  <a:lnTo>
                    <a:pt x="281000" y="8500"/>
                  </a:lnTo>
                  <a:lnTo>
                    <a:pt x="282000" y="8500"/>
                  </a:lnTo>
                  <a:lnTo>
                    <a:pt x="283000" y="9500"/>
                  </a:lnTo>
                  <a:lnTo>
                    <a:pt x="284000" y="9500"/>
                  </a:lnTo>
                  <a:lnTo>
                    <a:pt x="285000" y="10500"/>
                  </a:lnTo>
                  <a:lnTo>
                    <a:pt x="286000" y="10500"/>
                  </a:lnTo>
                  <a:lnTo>
                    <a:pt x="287000" y="11000"/>
                  </a:lnTo>
                  <a:lnTo>
                    <a:pt x="288000" y="11500"/>
                  </a:lnTo>
                  <a:lnTo>
                    <a:pt x="289000" y="11500"/>
                  </a:lnTo>
                  <a:lnTo>
                    <a:pt x="290000" y="11500"/>
                  </a:lnTo>
                  <a:lnTo>
                    <a:pt x="291000" y="10000"/>
                  </a:lnTo>
                  <a:lnTo>
                    <a:pt x="292000" y="7500"/>
                  </a:lnTo>
                  <a:lnTo>
                    <a:pt x="293000" y="5000"/>
                  </a:lnTo>
                  <a:lnTo>
                    <a:pt x="294000" y="3000"/>
                  </a:lnTo>
                  <a:lnTo>
                    <a:pt x="295000" y="2000"/>
                  </a:lnTo>
                  <a:lnTo>
                    <a:pt x="296000" y="2500"/>
                  </a:lnTo>
                  <a:lnTo>
                    <a:pt x="297000" y="4000"/>
                  </a:lnTo>
                  <a:lnTo>
                    <a:pt x="298000" y="6000"/>
                  </a:lnTo>
                  <a:lnTo>
                    <a:pt x="299000" y="7500"/>
                  </a:lnTo>
                </a:path>
              </a:pathLst>
            </a:custGeom>
            <a:noFill/>
            <a:ln w="8572" cap="rnd">
              <a:solidFill>
                <a:srgbClr val="A4A0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Text: Truncate"/>
            <p:cNvSpPr txBox="1"/>
            <p:nvPr/>
          </p:nvSpPr>
          <p:spPr>
            <a:xfrm>
              <a:off x="2269992" y="1602105"/>
              <a:ext cx="736867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Truncate</a:t>
              </a: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1152525" y="1543050"/>
              <a:ext cx="952" cy="381000"/>
            </a:xfrm>
            <a:custGeom>
              <a:avLst/>
              <a:gdLst/>
              <a:ahLst/>
              <a:cxnLst/>
              <a:rect l="0" t="0" r="r" b="b"/>
              <a:pathLst>
                <a:path w="100" h="40000" fill="none">
                  <a:moveTo>
                    <a:pt x="0" y="0"/>
                  </a:moveTo>
                  <a:lnTo>
                    <a:pt x="0" y="40000"/>
                  </a:lnTo>
                </a:path>
              </a:pathLst>
            </a:custGeom>
            <a:noFill/>
            <a:ln w="10477" cap="rnd">
              <a:solidFill>
                <a:srgbClr val="D71C12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314325" y="1543050"/>
              <a:ext cx="3733800" cy="381000"/>
            </a:xfrm>
            <a:prstGeom prst="rect">
              <a:avLst/>
            </a:pr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4886325" y="1533525"/>
              <a:ext cx="3667125" cy="39052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4924425" y="1562100"/>
              <a:ext cx="3600450" cy="300038"/>
            </a:xfrm>
            <a:custGeom>
              <a:avLst/>
              <a:gdLst/>
              <a:ahLst/>
              <a:cxnLst/>
              <a:rect l="0" t="0" r="r" b="b"/>
              <a:pathLst>
                <a:path w="378000" h="31500" fill="none">
                  <a:moveTo>
                    <a:pt x="0" y="0"/>
                  </a:moveTo>
                  <a:lnTo>
                    <a:pt x="1000" y="1500"/>
                  </a:lnTo>
                  <a:lnTo>
                    <a:pt x="2000" y="4500"/>
                  </a:lnTo>
                  <a:lnTo>
                    <a:pt x="3000" y="7000"/>
                  </a:lnTo>
                  <a:lnTo>
                    <a:pt x="4000" y="10500"/>
                  </a:lnTo>
                  <a:lnTo>
                    <a:pt x="5000" y="13000"/>
                  </a:lnTo>
                  <a:lnTo>
                    <a:pt x="6000" y="16000"/>
                  </a:lnTo>
                  <a:lnTo>
                    <a:pt x="7000" y="19000"/>
                  </a:lnTo>
                  <a:lnTo>
                    <a:pt x="8000" y="21500"/>
                  </a:lnTo>
                  <a:lnTo>
                    <a:pt x="9000" y="23500"/>
                  </a:lnTo>
                  <a:lnTo>
                    <a:pt x="10000" y="25500"/>
                  </a:lnTo>
                  <a:lnTo>
                    <a:pt x="11000" y="27000"/>
                  </a:lnTo>
                  <a:lnTo>
                    <a:pt x="12000" y="28500"/>
                  </a:lnTo>
                  <a:lnTo>
                    <a:pt x="13000" y="28000"/>
                  </a:lnTo>
                  <a:lnTo>
                    <a:pt x="14000" y="25000"/>
                  </a:lnTo>
                  <a:lnTo>
                    <a:pt x="15000" y="21500"/>
                  </a:lnTo>
                  <a:lnTo>
                    <a:pt x="16000" y="18500"/>
                  </a:lnTo>
                  <a:lnTo>
                    <a:pt x="18000" y="20000"/>
                  </a:lnTo>
                  <a:lnTo>
                    <a:pt x="19000" y="21500"/>
                  </a:lnTo>
                  <a:lnTo>
                    <a:pt x="21000" y="26500"/>
                  </a:lnTo>
                  <a:lnTo>
                    <a:pt x="22000" y="28000"/>
                  </a:lnTo>
                  <a:lnTo>
                    <a:pt x="23000" y="28000"/>
                  </a:lnTo>
                  <a:lnTo>
                    <a:pt x="24000" y="26500"/>
                  </a:lnTo>
                  <a:lnTo>
                    <a:pt x="25000" y="20000"/>
                  </a:lnTo>
                  <a:lnTo>
                    <a:pt x="26000" y="12500"/>
                  </a:lnTo>
                  <a:lnTo>
                    <a:pt x="28000" y="12000"/>
                  </a:lnTo>
                  <a:lnTo>
                    <a:pt x="29000" y="12000"/>
                  </a:lnTo>
                  <a:lnTo>
                    <a:pt x="30000" y="15500"/>
                  </a:lnTo>
                  <a:lnTo>
                    <a:pt x="32000" y="20000"/>
                  </a:lnTo>
                  <a:lnTo>
                    <a:pt x="35000" y="28000"/>
                  </a:lnTo>
                  <a:lnTo>
                    <a:pt x="38000" y="31000"/>
                  </a:lnTo>
                  <a:lnTo>
                    <a:pt x="39000" y="31000"/>
                  </a:lnTo>
                  <a:lnTo>
                    <a:pt x="40000" y="31000"/>
                  </a:lnTo>
                  <a:lnTo>
                    <a:pt x="41000" y="31000"/>
                  </a:lnTo>
                  <a:lnTo>
                    <a:pt x="42000" y="31000"/>
                  </a:lnTo>
                  <a:lnTo>
                    <a:pt x="43000" y="30000"/>
                  </a:lnTo>
                  <a:lnTo>
                    <a:pt x="46000" y="28000"/>
                  </a:lnTo>
                  <a:lnTo>
                    <a:pt x="47000" y="28000"/>
                  </a:lnTo>
                  <a:moveTo>
                    <a:pt x="51000" y="28000"/>
                  </a:moveTo>
                  <a:lnTo>
                    <a:pt x="52000" y="28000"/>
                  </a:lnTo>
                  <a:lnTo>
                    <a:pt x="53000" y="28000"/>
                  </a:lnTo>
                  <a:lnTo>
                    <a:pt x="56000" y="29000"/>
                  </a:lnTo>
                  <a:lnTo>
                    <a:pt x="57000" y="29000"/>
                  </a:lnTo>
                  <a:lnTo>
                    <a:pt x="58000" y="29000"/>
                  </a:lnTo>
                  <a:moveTo>
                    <a:pt x="63000" y="27000"/>
                  </a:moveTo>
                  <a:lnTo>
                    <a:pt x="64000" y="27000"/>
                  </a:lnTo>
                  <a:lnTo>
                    <a:pt x="67000" y="28000"/>
                  </a:lnTo>
                  <a:lnTo>
                    <a:pt x="68000" y="28000"/>
                  </a:lnTo>
                  <a:lnTo>
                    <a:pt x="69000" y="28000"/>
                  </a:lnTo>
                  <a:lnTo>
                    <a:pt x="70000" y="28000"/>
                  </a:lnTo>
                  <a:lnTo>
                    <a:pt x="72000" y="29000"/>
                  </a:lnTo>
                  <a:lnTo>
                    <a:pt x="73000" y="29000"/>
                  </a:lnTo>
                  <a:lnTo>
                    <a:pt x="74000" y="29000"/>
                  </a:lnTo>
                  <a:moveTo>
                    <a:pt x="79000" y="26000"/>
                  </a:moveTo>
                  <a:lnTo>
                    <a:pt x="80000" y="26000"/>
                  </a:lnTo>
                  <a:lnTo>
                    <a:pt x="81000" y="26000"/>
                  </a:lnTo>
                  <a:lnTo>
                    <a:pt x="82000" y="26000"/>
                  </a:lnTo>
                  <a:moveTo>
                    <a:pt x="86000" y="29000"/>
                  </a:moveTo>
                  <a:lnTo>
                    <a:pt x="87000" y="29000"/>
                  </a:lnTo>
                  <a:lnTo>
                    <a:pt x="90000" y="31000"/>
                  </a:lnTo>
                  <a:moveTo>
                    <a:pt x="98000" y="20000"/>
                  </a:moveTo>
                  <a:moveTo>
                    <a:pt x="107000" y="30000"/>
                  </a:moveTo>
                  <a:lnTo>
                    <a:pt x="109000" y="29000"/>
                  </a:lnTo>
                  <a:lnTo>
                    <a:pt x="111000" y="28000"/>
                  </a:lnTo>
                  <a:lnTo>
                    <a:pt x="114000" y="27000"/>
                  </a:lnTo>
                  <a:lnTo>
                    <a:pt x="115000" y="27000"/>
                  </a:lnTo>
                  <a:moveTo>
                    <a:pt x="123000" y="29000"/>
                  </a:moveTo>
                  <a:lnTo>
                    <a:pt x="124000" y="29000"/>
                  </a:lnTo>
                  <a:lnTo>
                    <a:pt x="125000" y="29000"/>
                  </a:lnTo>
                  <a:moveTo>
                    <a:pt x="130000" y="27000"/>
                  </a:moveTo>
                  <a:lnTo>
                    <a:pt x="131000" y="27000"/>
                  </a:lnTo>
                  <a:lnTo>
                    <a:pt x="132000" y="27000"/>
                  </a:lnTo>
                  <a:moveTo>
                    <a:pt x="137000" y="28000"/>
                  </a:moveTo>
                  <a:lnTo>
                    <a:pt x="138000" y="28000"/>
                  </a:lnTo>
                  <a:lnTo>
                    <a:pt x="139000" y="28000"/>
                  </a:lnTo>
                  <a:moveTo>
                    <a:pt x="147000" y="25000"/>
                  </a:moveTo>
                  <a:lnTo>
                    <a:pt x="148000" y="25000"/>
                  </a:lnTo>
                  <a:lnTo>
                    <a:pt x="149000" y="25000"/>
                  </a:lnTo>
                  <a:lnTo>
                    <a:pt x="152000" y="26000"/>
                  </a:lnTo>
                  <a:lnTo>
                    <a:pt x="153000" y="26000"/>
                  </a:lnTo>
                  <a:lnTo>
                    <a:pt x="154000" y="26000"/>
                  </a:lnTo>
                  <a:lnTo>
                    <a:pt x="155000" y="27000"/>
                  </a:lnTo>
                  <a:lnTo>
                    <a:pt x="158000" y="28000"/>
                  </a:lnTo>
                  <a:lnTo>
                    <a:pt x="159000" y="27500"/>
                  </a:lnTo>
                  <a:lnTo>
                    <a:pt x="160000" y="27000"/>
                  </a:lnTo>
                  <a:lnTo>
                    <a:pt x="161000" y="27000"/>
                  </a:lnTo>
                  <a:lnTo>
                    <a:pt x="162000" y="27000"/>
                  </a:lnTo>
                  <a:lnTo>
                    <a:pt x="163000" y="26500"/>
                  </a:lnTo>
                  <a:lnTo>
                    <a:pt x="164000" y="26000"/>
                  </a:lnTo>
                  <a:lnTo>
                    <a:pt x="165000" y="25500"/>
                  </a:lnTo>
                  <a:lnTo>
                    <a:pt x="166000" y="25000"/>
                  </a:lnTo>
                  <a:lnTo>
                    <a:pt x="167000" y="25500"/>
                  </a:lnTo>
                  <a:lnTo>
                    <a:pt x="168000" y="26500"/>
                  </a:lnTo>
                  <a:lnTo>
                    <a:pt x="169000" y="27000"/>
                  </a:lnTo>
                  <a:lnTo>
                    <a:pt x="170000" y="27500"/>
                  </a:lnTo>
                  <a:lnTo>
                    <a:pt x="171000" y="27500"/>
                  </a:lnTo>
                  <a:lnTo>
                    <a:pt x="172000" y="27500"/>
                  </a:lnTo>
                  <a:lnTo>
                    <a:pt x="173000" y="27500"/>
                  </a:lnTo>
                  <a:lnTo>
                    <a:pt x="174000" y="27000"/>
                  </a:lnTo>
                  <a:lnTo>
                    <a:pt x="175000" y="26500"/>
                  </a:lnTo>
                  <a:lnTo>
                    <a:pt x="176000" y="26500"/>
                  </a:lnTo>
                  <a:lnTo>
                    <a:pt x="177000" y="25500"/>
                  </a:lnTo>
                  <a:lnTo>
                    <a:pt x="178000" y="25500"/>
                  </a:lnTo>
                  <a:lnTo>
                    <a:pt x="179000" y="25500"/>
                  </a:lnTo>
                  <a:lnTo>
                    <a:pt x="180000" y="25500"/>
                  </a:lnTo>
                  <a:lnTo>
                    <a:pt x="181000" y="25000"/>
                  </a:lnTo>
                  <a:lnTo>
                    <a:pt x="182000" y="25000"/>
                  </a:lnTo>
                  <a:lnTo>
                    <a:pt x="183000" y="25500"/>
                  </a:lnTo>
                  <a:lnTo>
                    <a:pt x="184000" y="25500"/>
                  </a:lnTo>
                  <a:lnTo>
                    <a:pt x="185000" y="26500"/>
                  </a:lnTo>
                  <a:lnTo>
                    <a:pt x="186000" y="27500"/>
                  </a:lnTo>
                  <a:lnTo>
                    <a:pt x="187000" y="28500"/>
                  </a:lnTo>
                  <a:lnTo>
                    <a:pt x="188000" y="29500"/>
                  </a:lnTo>
                  <a:lnTo>
                    <a:pt x="189000" y="29500"/>
                  </a:lnTo>
                  <a:lnTo>
                    <a:pt x="190000" y="29000"/>
                  </a:lnTo>
                  <a:lnTo>
                    <a:pt x="191000" y="28000"/>
                  </a:lnTo>
                  <a:lnTo>
                    <a:pt x="192000" y="27000"/>
                  </a:lnTo>
                  <a:lnTo>
                    <a:pt x="193000" y="26000"/>
                  </a:lnTo>
                  <a:lnTo>
                    <a:pt x="194000" y="25000"/>
                  </a:lnTo>
                  <a:lnTo>
                    <a:pt x="195000" y="24500"/>
                  </a:lnTo>
                  <a:lnTo>
                    <a:pt x="196000" y="23500"/>
                  </a:lnTo>
                  <a:lnTo>
                    <a:pt x="197000" y="24500"/>
                  </a:lnTo>
                  <a:lnTo>
                    <a:pt x="198000" y="25500"/>
                  </a:lnTo>
                  <a:lnTo>
                    <a:pt x="199000" y="27500"/>
                  </a:lnTo>
                  <a:lnTo>
                    <a:pt x="200000" y="28500"/>
                  </a:lnTo>
                  <a:lnTo>
                    <a:pt x="201000" y="29500"/>
                  </a:lnTo>
                  <a:lnTo>
                    <a:pt x="202000" y="29500"/>
                  </a:lnTo>
                  <a:lnTo>
                    <a:pt x="203000" y="29500"/>
                  </a:lnTo>
                  <a:lnTo>
                    <a:pt x="204000" y="29500"/>
                  </a:lnTo>
                  <a:lnTo>
                    <a:pt x="205000" y="29500"/>
                  </a:lnTo>
                  <a:lnTo>
                    <a:pt x="206000" y="28500"/>
                  </a:lnTo>
                  <a:lnTo>
                    <a:pt x="207000" y="28500"/>
                  </a:lnTo>
                  <a:lnTo>
                    <a:pt x="208000" y="27500"/>
                  </a:lnTo>
                  <a:lnTo>
                    <a:pt x="209000" y="27500"/>
                  </a:lnTo>
                  <a:lnTo>
                    <a:pt x="210000" y="26500"/>
                  </a:lnTo>
                  <a:lnTo>
                    <a:pt x="211000" y="26500"/>
                  </a:lnTo>
                  <a:lnTo>
                    <a:pt x="212000" y="26500"/>
                  </a:lnTo>
                  <a:lnTo>
                    <a:pt x="213000" y="26500"/>
                  </a:lnTo>
                  <a:lnTo>
                    <a:pt x="214000" y="26500"/>
                  </a:lnTo>
                  <a:lnTo>
                    <a:pt x="215000" y="26500"/>
                  </a:lnTo>
                  <a:lnTo>
                    <a:pt x="216000" y="27500"/>
                  </a:lnTo>
                  <a:lnTo>
                    <a:pt x="217000" y="27500"/>
                  </a:lnTo>
                  <a:lnTo>
                    <a:pt x="218000" y="27500"/>
                  </a:lnTo>
                  <a:lnTo>
                    <a:pt x="219000" y="28500"/>
                  </a:lnTo>
                  <a:lnTo>
                    <a:pt x="220000" y="28500"/>
                  </a:lnTo>
                  <a:lnTo>
                    <a:pt x="221000" y="28500"/>
                  </a:lnTo>
                  <a:lnTo>
                    <a:pt x="222000" y="28500"/>
                  </a:lnTo>
                  <a:lnTo>
                    <a:pt x="223000" y="28500"/>
                  </a:lnTo>
                  <a:lnTo>
                    <a:pt x="224000" y="28500"/>
                  </a:lnTo>
                  <a:lnTo>
                    <a:pt x="225000" y="27000"/>
                  </a:lnTo>
                  <a:lnTo>
                    <a:pt x="226000" y="25000"/>
                  </a:lnTo>
                  <a:lnTo>
                    <a:pt x="227000" y="22500"/>
                  </a:lnTo>
                  <a:lnTo>
                    <a:pt x="228000" y="20500"/>
                  </a:lnTo>
                  <a:lnTo>
                    <a:pt x="229000" y="18500"/>
                  </a:lnTo>
                  <a:lnTo>
                    <a:pt x="230000" y="18500"/>
                  </a:lnTo>
                  <a:lnTo>
                    <a:pt x="231000" y="19000"/>
                  </a:lnTo>
                  <a:lnTo>
                    <a:pt x="232000" y="20000"/>
                  </a:lnTo>
                  <a:lnTo>
                    <a:pt x="233000" y="21500"/>
                  </a:lnTo>
                  <a:lnTo>
                    <a:pt x="234000" y="23000"/>
                  </a:lnTo>
                  <a:lnTo>
                    <a:pt x="235000" y="24500"/>
                  </a:lnTo>
                  <a:lnTo>
                    <a:pt x="236000" y="26000"/>
                  </a:lnTo>
                  <a:lnTo>
                    <a:pt x="237000" y="27000"/>
                  </a:lnTo>
                  <a:lnTo>
                    <a:pt x="238000" y="28500"/>
                  </a:lnTo>
                  <a:lnTo>
                    <a:pt x="239000" y="29500"/>
                  </a:lnTo>
                  <a:lnTo>
                    <a:pt x="240000" y="30000"/>
                  </a:lnTo>
                  <a:lnTo>
                    <a:pt x="241000" y="30000"/>
                  </a:lnTo>
                  <a:lnTo>
                    <a:pt x="242000" y="30000"/>
                  </a:lnTo>
                  <a:lnTo>
                    <a:pt x="243000" y="29500"/>
                  </a:lnTo>
                  <a:lnTo>
                    <a:pt x="244000" y="29500"/>
                  </a:lnTo>
                  <a:lnTo>
                    <a:pt x="245000" y="28500"/>
                  </a:lnTo>
                  <a:lnTo>
                    <a:pt x="246000" y="27500"/>
                  </a:lnTo>
                  <a:lnTo>
                    <a:pt x="247000" y="27500"/>
                  </a:lnTo>
                  <a:lnTo>
                    <a:pt x="248000" y="26500"/>
                  </a:lnTo>
                  <a:lnTo>
                    <a:pt x="249000" y="26000"/>
                  </a:lnTo>
                  <a:lnTo>
                    <a:pt x="250000" y="25500"/>
                  </a:lnTo>
                  <a:lnTo>
                    <a:pt x="251000" y="24500"/>
                  </a:lnTo>
                  <a:lnTo>
                    <a:pt x="252000" y="24500"/>
                  </a:lnTo>
                  <a:lnTo>
                    <a:pt x="253000" y="24500"/>
                  </a:lnTo>
                  <a:lnTo>
                    <a:pt x="254000" y="24500"/>
                  </a:lnTo>
                  <a:lnTo>
                    <a:pt x="255000" y="24500"/>
                  </a:lnTo>
                  <a:lnTo>
                    <a:pt x="256000" y="25500"/>
                  </a:lnTo>
                  <a:lnTo>
                    <a:pt x="257000" y="26000"/>
                  </a:lnTo>
                  <a:lnTo>
                    <a:pt x="258000" y="26500"/>
                  </a:lnTo>
                  <a:lnTo>
                    <a:pt x="259000" y="27000"/>
                  </a:lnTo>
                  <a:lnTo>
                    <a:pt x="260000" y="27500"/>
                  </a:lnTo>
                  <a:lnTo>
                    <a:pt x="261000" y="28500"/>
                  </a:lnTo>
                  <a:lnTo>
                    <a:pt x="262000" y="29000"/>
                  </a:lnTo>
                  <a:lnTo>
                    <a:pt x="263000" y="29500"/>
                  </a:lnTo>
                  <a:lnTo>
                    <a:pt x="264000" y="29500"/>
                  </a:lnTo>
                  <a:lnTo>
                    <a:pt x="265000" y="29500"/>
                  </a:lnTo>
                  <a:lnTo>
                    <a:pt x="266000" y="28000"/>
                  </a:lnTo>
                  <a:lnTo>
                    <a:pt x="267000" y="26500"/>
                  </a:lnTo>
                  <a:lnTo>
                    <a:pt x="268000" y="25500"/>
                  </a:lnTo>
                  <a:lnTo>
                    <a:pt x="269000" y="25500"/>
                  </a:lnTo>
                  <a:lnTo>
                    <a:pt x="270000" y="26500"/>
                  </a:lnTo>
                  <a:lnTo>
                    <a:pt x="271000" y="26500"/>
                  </a:lnTo>
                  <a:lnTo>
                    <a:pt x="272000" y="27500"/>
                  </a:lnTo>
                  <a:lnTo>
                    <a:pt x="273000" y="28000"/>
                  </a:lnTo>
                  <a:lnTo>
                    <a:pt x="274000" y="28500"/>
                  </a:lnTo>
                  <a:lnTo>
                    <a:pt x="275000" y="29500"/>
                  </a:lnTo>
                  <a:lnTo>
                    <a:pt x="276000" y="30000"/>
                  </a:lnTo>
                  <a:lnTo>
                    <a:pt x="277000" y="30500"/>
                  </a:lnTo>
                  <a:lnTo>
                    <a:pt x="278000" y="30500"/>
                  </a:lnTo>
                  <a:lnTo>
                    <a:pt x="279000" y="30000"/>
                  </a:lnTo>
                  <a:lnTo>
                    <a:pt x="280000" y="29500"/>
                  </a:lnTo>
                  <a:lnTo>
                    <a:pt x="281000" y="28500"/>
                  </a:lnTo>
                  <a:lnTo>
                    <a:pt x="282000" y="28500"/>
                  </a:lnTo>
                  <a:lnTo>
                    <a:pt x="283000" y="28500"/>
                  </a:lnTo>
                  <a:lnTo>
                    <a:pt x="284000" y="29000"/>
                  </a:lnTo>
                  <a:lnTo>
                    <a:pt x="285000" y="29500"/>
                  </a:lnTo>
                  <a:lnTo>
                    <a:pt x="286000" y="29500"/>
                  </a:lnTo>
                  <a:lnTo>
                    <a:pt x="287000" y="29500"/>
                  </a:lnTo>
                  <a:lnTo>
                    <a:pt x="288000" y="30500"/>
                  </a:lnTo>
                  <a:lnTo>
                    <a:pt x="289000" y="30500"/>
                  </a:lnTo>
                  <a:lnTo>
                    <a:pt x="290000" y="30500"/>
                  </a:lnTo>
                  <a:lnTo>
                    <a:pt x="291000" y="31000"/>
                  </a:lnTo>
                  <a:lnTo>
                    <a:pt x="292000" y="31500"/>
                  </a:lnTo>
                  <a:lnTo>
                    <a:pt x="293000" y="31500"/>
                  </a:lnTo>
                  <a:lnTo>
                    <a:pt x="294000" y="31500"/>
                  </a:lnTo>
                  <a:lnTo>
                    <a:pt x="295000" y="30500"/>
                  </a:lnTo>
                  <a:lnTo>
                    <a:pt x="296000" y="30500"/>
                  </a:lnTo>
                  <a:lnTo>
                    <a:pt x="297000" y="29500"/>
                  </a:lnTo>
                  <a:lnTo>
                    <a:pt x="298000" y="28500"/>
                  </a:lnTo>
                  <a:lnTo>
                    <a:pt x="299000" y="28000"/>
                  </a:lnTo>
                  <a:lnTo>
                    <a:pt x="300000" y="27500"/>
                  </a:lnTo>
                  <a:lnTo>
                    <a:pt x="301000" y="27500"/>
                  </a:lnTo>
                  <a:lnTo>
                    <a:pt x="302000" y="27500"/>
                  </a:lnTo>
                  <a:lnTo>
                    <a:pt x="303000" y="28500"/>
                  </a:lnTo>
                  <a:lnTo>
                    <a:pt x="304000" y="28500"/>
                  </a:lnTo>
                  <a:lnTo>
                    <a:pt x="305000" y="28500"/>
                  </a:lnTo>
                  <a:lnTo>
                    <a:pt x="306000" y="29500"/>
                  </a:lnTo>
                  <a:lnTo>
                    <a:pt x="307000" y="29500"/>
                  </a:lnTo>
                  <a:lnTo>
                    <a:pt x="308000" y="30500"/>
                  </a:lnTo>
                  <a:lnTo>
                    <a:pt x="309000" y="30500"/>
                  </a:lnTo>
                  <a:lnTo>
                    <a:pt x="310000" y="30500"/>
                  </a:lnTo>
                  <a:lnTo>
                    <a:pt x="311000" y="30500"/>
                  </a:lnTo>
                  <a:lnTo>
                    <a:pt x="312000" y="30500"/>
                  </a:lnTo>
                  <a:lnTo>
                    <a:pt x="313000" y="29500"/>
                  </a:lnTo>
                  <a:lnTo>
                    <a:pt x="314000" y="29500"/>
                  </a:lnTo>
                  <a:lnTo>
                    <a:pt x="315000" y="29500"/>
                  </a:lnTo>
                  <a:lnTo>
                    <a:pt x="316000" y="29500"/>
                  </a:lnTo>
                  <a:lnTo>
                    <a:pt x="317000" y="28500"/>
                  </a:lnTo>
                  <a:lnTo>
                    <a:pt x="318000" y="28500"/>
                  </a:lnTo>
                  <a:lnTo>
                    <a:pt x="319000" y="28500"/>
                  </a:lnTo>
                  <a:lnTo>
                    <a:pt x="320000" y="28500"/>
                  </a:lnTo>
                  <a:lnTo>
                    <a:pt x="321000" y="28500"/>
                  </a:lnTo>
                  <a:lnTo>
                    <a:pt x="322000" y="29500"/>
                  </a:lnTo>
                  <a:lnTo>
                    <a:pt x="323000" y="29500"/>
                  </a:lnTo>
                  <a:lnTo>
                    <a:pt x="324000" y="29500"/>
                  </a:lnTo>
                  <a:lnTo>
                    <a:pt x="325000" y="30500"/>
                  </a:lnTo>
                  <a:lnTo>
                    <a:pt x="326000" y="30500"/>
                  </a:lnTo>
                  <a:lnTo>
                    <a:pt x="327000" y="30500"/>
                  </a:lnTo>
                  <a:lnTo>
                    <a:pt x="328000" y="30500"/>
                  </a:lnTo>
                  <a:lnTo>
                    <a:pt x="329000" y="30500"/>
                  </a:lnTo>
                  <a:lnTo>
                    <a:pt x="330000" y="30500"/>
                  </a:lnTo>
                  <a:lnTo>
                    <a:pt x="331000" y="30000"/>
                  </a:lnTo>
                  <a:lnTo>
                    <a:pt x="332000" y="29500"/>
                  </a:lnTo>
                  <a:lnTo>
                    <a:pt x="333000" y="29500"/>
                  </a:lnTo>
                  <a:lnTo>
                    <a:pt x="334000" y="29500"/>
                  </a:lnTo>
                  <a:lnTo>
                    <a:pt x="335000" y="29500"/>
                  </a:lnTo>
                  <a:lnTo>
                    <a:pt x="336000" y="28500"/>
                  </a:lnTo>
                  <a:lnTo>
                    <a:pt x="337000" y="28500"/>
                  </a:lnTo>
                  <a:lnTo>
                    <a:pt x="338000" y="28500"/>
                  </a:lnTo>
                  <a:lnTo>
                    <a:pt x="339000" y="28500"/>
                  </a:lnTo>
                  <a:lnTo>
                    <a:pt x="340000" y="27500"/>
                  </a:lnTo>
                  <a:lnTo>
                    <a:pt x="341000" y="27500"/>
                  </a:lnTo>
                  <a:lnTo>
                    <a:pt x="342000" y="27500"/>
                  </a:lnTo>
                  <a:lnTo>
                    <a:pt x="343000" y="28500"/>
                  </a:lnTo>
                  <a:lnTo>
                    <a:pt x="344000" y="28500"/>
                  </a:lnTo>
                  <a:lnTo>
                    <a:pt x="345000" y="29500"/>
                  </a:lnTo>
                  <a:lnTo>
                    <a:pt x="346000" y="29500"/>
                  </a:lnTo>
                  <a:lnTo>
                    <a:pt x="347000" y="30500"/>
                  </a:lnTo>
                  <a:lnTo>
                    <a:pt x="348000" y="30500"/>
                  </a:lnTo>
                  <a:lnTo>
                    <a:pt x="349000" y="30500"/>
                  </a:lnTo>
                  <a:lnTo>
                    <a:pt x="350000" y="30500"/>
                  </a:lnTo>
                  <a:lnTo>
                    <a:pt x="351000" y="29500"/>
                  </a:lnTo>
                  <a:lnTo>
                    <a:pt x="352000" y="29500"/>
                  </a:lnTo>
                  <a:lnTo>
                    <a:pt x="353000" y="28500"/>
                  </a:lnTo>
                  <a:lnTo>
                    <a:pt x="354000" y="28500"/>
                  </a:lnTo>
                  <a:lnTo>
                    <a:pt x="355000" y="28500"/>
                  </a:lnTo>
                  <a:lnTo>
                    <a:pt x="356000" y="28000"/>
                  </a:lnTo>
                  <a:lnTo>
                    <a:pt x="357000" y="27500"/>
                  </a:lnTo>
                  <a:lnTo>
                    <a:pt x="358000" y="27500"/>
                  </a:lnTo>
                  <a:lnTo>
                    <a:pt x="359000" y="27500"/>
                  </a:lnTo>
                  <a:lnTo>
                    <a:pt x="360000" y="28500"/>
                  </a:lnTo>
                  <a:lnTo>
                    <a:pt x="361000" y="28500"/>
                  </a:lnTo>
                  <a:lnTo>
                    <a:pt x="362000" y="29000"/>
                  </a:lnTo>
                  <a:lnTo>
                    <a:pt x="363000" y="29500"/>
                  </a:lnTo>
                  <a:lnTo>
                    <a:pt x="364000" y="30500"/>
                  </a:lnTo>
                  <a:lnTo>
                    <a:pt x="365000" y="30500"/>
                  </a:lnTo>
                  <a:lnTo>
                    <a:pt x="366000" y="31500"/>
                  </a:lnTo>
                  <a:lnTo>
                    <a:pt x="367000" y="31500"/>
                  </a:lnTo>
                  <a:lnTo>
                    <a:pt x="368000" y="31500"/>
                  </a:lnTo>
                  <a:lnTo>
                    <a:pt x="369000" y="31000"/>
                  </a:lnTo>
                  <a:lnTo>
                    <a:pt x="370000" y="29500"/>
                  </a:lnTo>
                  <a:lnTo>
                    <a:pt x="371000" y="26500"/>
                  </a:lnTo>
                  <a:lnTo>
                    <a:pt x="372000" y="24000"/>
                  </a:lnTo>
                  <a:lnTo>
                    <a:pt x="373000" y="22000"/>
                  </a:lnTo>
                  <a:lnTo>
                    <a:pt x="374000" y="22000"/>
                  </a:lnTo>
                  <a:lnTo>
                    <a:pt x="375000" y="23000"/>
                  </a:lnTo>
                  <a:lnTo>
                    <a:pt x="376000" y="24500"/>
                  </a:lnTo>
                  <a:lnTo>
                    <a:pt x="377000" y="26500"/>
                  </a:lnTo>
                  <a:lnTo>
                    <a:pt x="378000" y="27500"/>
                  </a:lnTo>
                </a:path>
              </a:pathLst>
            </a:custGeom>
            <a:noFill/>
            <a:ln w="9525" cap="rnd">
              <a:solidFill>
                <a:srgbClr val="9785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4895850" y="1543050"/>
              <a:ext cx="1762125" cy="371475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895850" y="1543050"/>
              <a:ext cx="952" cy="952"/>
            </a:xfrm>
            <a:custGeom>
              <a:avLst/>
              <a:gdLst/>
              <a:ahLst/>
              <a:cxnLst/>
              <a:rect l="0" t="0" r="r" b="b"/>
              <a:pathLst>
                <a:path w="100" h="100" fill="none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4895850" y="1543050"/>
              <a:ext cx="66675" cy="66675"/>
            </a:xfrm>
            <a:custGeom>
              <a:avLst/>
              <a:gdLst/>
              <a:ahLst/>
              <a:cxnLst/>
              <a:rect l="0" t="0" r="r" b="b"/>
              <a:pathLst>
                <a:path w="7000" h="7000" fill="none">
                  <a:moveTo>
                    <a:pt x="0" y="7000"/>
                  </a:moveTo>
                  <a:lnTo>
                    <a:pt x="7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4895850" y="1543050"/>
              <a:ext cx="133350" cy="133350"/>
            </a:xfrm>
            <a:custGeom>
              <a:avLst/>
              <a:gdLst/>
              <a:ahLst/>
              <a:cxnLst/>
              <a:rect l="0" t="0" r="r" b="b"/>
              <a:pathLst>
                <a:path w="14000" h="14000" fill="none">
                  <a:moveTo>
                    <a:pt x="0" y="14000"/>
                  </a:moveTo>
                  <a:lnTo>
                    <a:pt x="14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4895850" y="1543050"/>
              <a:ext cx="200025" cy="200025"/>
            </a:xfrm>
            <a:custGeom>
              <a:avLst/>
              <a:gdLst/>
              <a:ahLst/>
              <a:cxnLst/>
              <a:rect l="0" t="0" r="r" b="b"/>
              <a:pathLst>
                <a:path w="21000" h="21000" fill="none">
                  <a:moveTo>
                    <a:pt x="0" y="21000"/>
                  </a:moveTo>
                  <a:lnTo>
                    <a:pt x="21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4895850" y="1543050"/>
              <a:ext cx="266700" cy="266700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4895850" y="1543050"/>
              <a:ext cx="333375" cy="333375"/>
            </a:xfrm>
            <a:custGeom>
              <a:avLst/>
              <a:gdLst/>
              <a:ahLst/>
              <a:cxnLst/>
              <a:rect l="0" t="0" r="r" b="b"/>
              <a:pathLst>
                <a:path w="35000" h="35000" fill="none">
                  <a:moveTo>
                    <a:pt x="0" y="35000"/>
                  </a:moveTo>
                  <a:lnTo>
                    <a:pt x="35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4924425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4991100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5057775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5124450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5191125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5257800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5324475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5391150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5457825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5524500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5591175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5657850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724525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5791200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5857875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5924550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5991225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6057900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6124575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6191250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6257925" y="1543050"/>
              <a:ext cx="371475" cy="371475"/>
            </a:xfrm>
            <a:custGeom>
              <a:avLst/>
              <a:gdLst/>
              <a:ahLst/>
              <a:cxnLst/>
              <a:rect l="0" t="0" r="r" b="b"/>
              <a:pathLst>
                <a:path w="39000" h="39000" fill="none">
                  <a:moveTo>
                    <a:pt x="0" y="39000"/>
                  </a:moveTo>
                  <a:lnTo>
                    <a:pt x="39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6324600" y="1581150"/>
              <a:ext cx="333375" cy="333375"/>
            </a:xfrm>
            <a:custGeom>
              <a:avLst/>
              <a:gdLst/>
              <a:ahLst/>
              <a:cxnLst/>
              <a:rect l="0" t="0" r="r" b="b"/>
              <a:pathLst>
                <a:path w="35000" h="35000" fill="none">
                  <a:moveTo>
                    <a:pt x="0" y="35000"/>
                  </a:moveTo>
                  <a:lnTo>
                    <a:pt x="35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6391275" y="1647825"/>
              <a:ext cx="266700" cy="266700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6457950" y="1714500"/>
              <a:ext cx="200025" cy="200025"/>
            </a:xfrm>
            <a:custGeom>
              <a:avLst/>
              <a:gdLst/>
              <a:ahLst/>
              <a:cxnLst/>
              <a:rect l="0" t="0" r="r" b="b"/>
              <a:pathLst>
                <a:path w="21000" h="21000" fill="none">
                  <a:moveTo>
                    <a:pt x="0" y="21000"/>
                  </a:moveTo>
                  <a:lnTo>
                    <a:pt x="21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6524625" y="1781175"/>
              <a:ext cx="133350" cy="133350"/>
            </a:xfrm>
            <a:custGeom>
              <a:avLst/>
              <a:gdLst/>
              <a:ahLst/>
              <a:cxnLst/>
              <a:rect l="0" t="0" r="r" b="b"/>
              <a:pathLst>
                <a:path w="14000" h="14000" fill="none">
                  <a:moveTo>
                    <a:pt x="0" y="14000"/>
                  </a:moveTo>
                  <a:lnTo>
                    <a:pt x="14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6591300" y="1847850"/>
              <a:ext cx="66675" cy="66675"/>
            </a:xfrm>
            <a:custGeom>
              <a:avLst/>
              <a:gdLst/>
              <a:ahLst/>
              <a:cxnLst/>
              <a:rect l="0" t="0" r="r" b="b"/>
              <a:pathLst>
                <a:path w="7000" h="7000" fill="none">
                  <a:moveTo>
                    <a:pt x="0" y="7000"/>
                  </a:moveTo>
                  <a:lnTo>
                    <a:pt x="700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6657975" y="1914525"/>
              <a:ext cx="952" cy="952"/>
            </a:xfrm>
            <a:custGeom>
              <a:avLst/>
              <a:gdLst/>
              <a:ahLst/>
              <a:cxnLst/>
              <a:rect l="0" t="0" r="r" b="b"/>
              <a:pathLst>
                <a:path w="100" h="100" fill="none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2382" cap="rnd">
              <a:solidFill>
                <a:srgbClr val="F3F3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5219700" y="1590675"/>
              <a:ext cx="1219200" cy="285750"/>
            </a:xfrm>
            <a:prstGeom prst="rect">
              <a:avLst/>
            </a:prstGeom>
            <a:solidFill>
              <a:srgbClr val="D5D5D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Text: Truncate"/>
            <p:cNvSpPr txBox="1"/>
            <p:nvPr/>
          </p:nvSpPr>
          <p:spPr>
            <a:xfrm>
              <a:off x="5441817" y="1602105"/>
              <a:ext cx="736867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Truncate</a:t>
              </a:r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4924425" y="1562100"/>
              <a:ext cx="1714500" cy="295275"/>
            </a:xfrm>
            <a:custGeom>
              <a:avLst/>
              <a:gdLst/>
              <a:ahLst/>
              <a:cxnLst/>
              <a:rect l="0" t="0" r="r" b="b"/>
              <a:pathLst>
                <a:path w="180000" h="31000" fill="none">
                  <a:moveTo>
                    <a:pt x="0" y="0"/>
                  </a:moveTo>
                  <a:lnTo>
                    <a:pt x="1000" y="1500"/>
                  </a:lnTo>
                  <a:lnTo>
                    <a:pt x="2000" y="4500"/>
                  </a:lnTo>
                  <a:lnTo>
                    <a:pt x="3000" y="7000"/>
                  </a:lnTo>
                  <a:lnTo>
                    <a:pt x="4000" y="10500"/>
                  </a:lnTo>
                  <a:lnTo>
                    <a:pt x="5000" y="13000"/>
                  </a:lnTo>
                  <a:lnTo>
                    <a:pt x="6000" y="16000"/>
                  </a:lnTo>
                  <a:lnTo>
                    <a:pt x="7000" y="19000"/>
                  </a:lnTo>
                  <a:lnTo>
                    <a:pt x="8000" y="21500"/>
                  </a:lnTo>
                  <a:lnTo>
                    <a:pt x="9000" y="23500"/>
                  </a:lnTo>
                  <a:lnTo>
                    <a:pt x="10000" y="25500"/>
                  </a:lnTo>
                  <a:lnTo>
                    <a:pt x="11000" y="27000"/>
                  </a:lnTo>
                  <a:lnTo>
                    <a:pt x="12000" y="28500"/>
                  </a:lnTo>
                  <a:lnTo>
                    <a:pt x="13000" y="28000"/>
                  </a:lnTo>
                  <a:lnTo>
                    <a:pt x="14000" y="25000"/>
                  </a:lnTo>
                  <a:lnTo>
                    <a:pt x="15000" y="21500"/>
                  </a:lnTo>
                  <a:lnTo>
                    <a:pt x="16000" y="18500"/>
                  </a:lnTo>
                  <a:lnTo>
                    <a:pt x="18000" y="20000"/>
                  </a:lnTo>
                  <a:lnTo>
                    <a:pt x="19000" y="21500"/>
                  </a:lnTo>
                  <a:lnTo>
                    <a:pt x="21000" y="26500"/>
                  </a:lnTo>
                  <a:lnTo>
                    <a:pt x="22000" y="28000"/>
                  </a:lnTo>
                  <a:lnTo>
                    <a:pt x="23000" y="28000"/>
                  </a:lnTo>
                  <a:lnTo>
                    <a:pt x="24000" y="26500"/>
                  </a:lnTo>
                  <a:lnTo>
                    <a:pt x="25000" y="20000"/>
                  </a:lnTo>
                  <a:lnTo>
                    <a:pt x="26000" y="12500"/>
                  </a:lnTo>
                  <a:lnTo>
                    <a:pt x="28000" y="12000"/>
                  </a:lnTo>
                  <a:lnTo>
                    <a:pt x="29000" y="12000"/>
                  </a:lnTo>
                  <a:lnTo>
                    <a:pt x="30000" y="15500"/>
                  </a:lnTo>
                  <a:lnTo>
                    <a:pt x="32000" y="20000"/>
                  </a:lnTo>
                  <a:lnTo>
                    <a:pt x="35000" y="28000"/>
                  </a:lnTo>
                  <a:lnTo>
                    <a:pt x="38000" y="31000"/>
                  </a:lnTo>
                  <a:lnTo>
                    <a:pt x="39000" y="31000"/>
                  </a:lnTo>
                  <a:lnTo>
                    <a:pt x="40000" y="31000"/>
                  </a:lnTo>
                  <a:lnTo>
                    <a:pt x="41000" y="31000"/>
                  </a:lnTo>
                  <a:lnTo>
                    <a:pt x="42000" y="31000"/>
                  </a:lnTo>
                  <a:lnTo>
                    <a:pt x="43000" y="30000"/>
                  </a:lnTo>
                  <a:lnTo>
                    <a:pt x="46000" y="28000"/>
                  </a:lnTo>
                  <a:lnTo>
                    <a:pt x="47000" y="28000"/>
                  </a:lnTo>
                  <a:moveTo>
                    <a:pt x="51000" y="28000"/>
                  </a:moveTo>
                  <a:lnTo>
                    <a:pt x="52000" y="28000"/>
                  </a:lnTo>
                  <a:lnTo>
                    <a:pt x="53000" y="28000"/>
                  </a:lnTo>
                  <a:lnTo>
                    <a:pt x="56000" y="29000"/>
                  </a:lnTo>
                  <a:lnTo>
                    <a:pt x="57000" y="29000"/>
                  </a:lnTo>
                  <a:lnTo>
                    <a:pt x="58000" y="29000"/>
                  </a:lnTo>
                  <a:moveTo>
                    <a:pt x="63000" y="27000"/>
                  </a:moveTo>
                  <a:lnTo>
                    <a:pt x="64000" y="27000"/>
                  </a:lnTo>
                  <a:lnTo>
                    <a:pt x="67000" y="28000"/>
                  </a:lnTo>
                  <a:lnTo>
                    <a:pt x="68000" y="28000"/>
                  </a:lnTo>
                  <a:lnTo>
                    <a:pt x="69000" y="28000"/>
                  </a:lnTo>
                  <a:lnTo>
                    <a:pt x="70000" y="28000"/>
                  </a:lnTo>
                  <a:lnTo>
                    <a:pt x="72000" y="29000"/>
                  </a:lnTo>
                  <a:lnTo>
                    <a:pt x="73000" y="29000"/>
                  </a:lnTo>
                  <a:lnTo>
                    <a:pt x="74000" y="29000"/>
                  </a:lnTo>
                  <a:moveTo>
                    <a:pt x="79000" y="26000"/>
                  </a:moveTo>
                  <a:lnTo>
                    <a:pt x="80000" y="26000"/>
                  </a:lnTo>
                  <a:lnTo>
                    <a:pt x="81000" y="26000"/>
                  </a:lnTo>
                  <a:lnTo>
                    <a:pt x="82000" y="26000"/>
                  </a:lnTo>
                  <a:moveTo>
                    <a:pt x="86000" y="29000"/>
                  </a:moveTo>
                  <a:lnTo>
                    <a:pt x="87000" y="29000"/>
                  </a:lnTo>
                  <a:lnTo>
                    <a:pt x="90000" y="31000"/>
                  </a:lnTo>
                  <a:moveTo>
                    <a:pt x="98000" y="20000"/>
                  </a:moveTo>
                  <a:moveTo>
                    <a:pt x="107000" y="30000"/>
                  </a:moveTo>
                  <a:lnTo>
                    <a:pt x="109000" y="29000"/>
                  </a:lnTo>
                  <a:lnTo>
                    <a:pt x="111000" y="28000"/>
                  </a:lnTo>
                  <a:lnTo>
                    <a:pt x="114000" y="27000"/>
                  </a:lnTo>
                  <a:lnTo>
                    <a:pt x="115000" y="27000"/>
                  </a:lnTo>
                  <a:moveTo>
                    <a:pt x="123000" y="29000"/>
                  </a:moveTo>
                  <a:lnTo>
                    <a:pt x="124000" y="29000"/>
                  </a:lnTo>
                  <a:lnTo>
                    <a:pt x="125000" y="29000"/>
                  </a:lnTo>
                  <a:moveTo>
                    <a:pt x="130000" y="27000"/>
                  </a:moveTo>
                  <a:lnTo>
                    <a:pt x="131000" y="27000"/>
                  </a:lnTo>
                  <a:lnTo>
                    <a:pt x="132000" y="27000"/>
                  </a:lnTo>
                  <a:moveTo>
                    <a:pt x="137000" y="28000"/>
                  </a:moveTo>
                  <a:lnTo>
                    <a:pt x="138000" y="28000"/>
                  </a:lnTo>
                  <a:lnTo>
                    <a:pt x="139000" y="28000"/>
                  </a:lnTo>
                  <a:moveTo>
                    <a:pt x="147000" y="25000"/>
                  </a:moveTo>
                  <a:lnTo>
                    <a:pt x="148000" y="25000"/>
                  </a:lnTo>
                  <a:lnTo>
                    <a:pt x="149000" y="25000"/>
                  </a:lnTo>
                  <a:lnTo>
                    <a:pt x="152000" y="26000"/>
                  </a:lnTo>
                  <a:lnTo>
                    <a:pt x="153000" y="26000"/>
                  </a:lnTo>
                  <a:lnTo>
                    <a:pt x="154000" y="26000"/>
                  </a:lnTo>
                  <a:lnTo>
                    <a:pt x="155000" y="27000"/>
                  </a:lnTo>
                  <a:lnTo>
                    <a:pt x="158000" y="28000"/>
                  </a:lnTo>
                  <a:lnTo>
                    <a:pt x="159000" y="27500"/>
                  </a:lnTo>
                  <a:lnTo>
                    <a:pt x="160000" y="27000"/>
                  </a:lnTo>
                  <a:lnTo>
                    <a:pt x="161000" y="27000"/>
                  </a:lnTo>
                  <a:lnTo>
                    <a:pt x="162000" y="27000"/>
                  </a:lnTo>
                  <a:lnTo>
                    <a:pt x="163000" y="26500"/>
                  </a:lnTo>
                  <a:lnTo>
                    <a:pt x="164000" y="26000"/>
                  </a:lnTo>
                  <a:lnTo>
                    <a:pt x="165000" y="25500"/>
                  </a:lnTo>
                  <a:lnTo>
                    <a:pt x="166000" y="25000"/>
                  </a:lnTo>
                  <a:lnTo>
                    <a:pt x="167000" y="25500"/>
                  </a:lnTo>
                  <a:lnTo>
                    <a:pt x="168000" y="26500"/>
                  </a:lnTo>
                  <a:lnTo>
                    <a:pt x="169000" y="27000"/>
                  </a:lnTo>
                  <a:lnTo>
                    <a:pt x="170000" y="27500"/>
                  </a:lnTo>
                  <a:lnTo>
                    <a:pt x="171000" y="27500"/>
                  </a:lnTo>
                  <a:lnTo>
                    <a:pt x="172000" y="27500"/>
                  </a:lnTo>
                  <a:lnTo>
                    <a:pt x="173000" y="27500"/>
                  </a:lnTo>
                  <a:lnTo>
                    <a:pt x="174000" y="27000"/>
                  </a:lnTo>
                  <a:lnTo>
                    <a:pt x="175000" y="26500"/>
                  </a:lnTo>
                  <a:lnTo>
                    <a:pt x="176000" y="26500"/>
                  </a:lnTo>
                  <a:lnTo>
                    <a:pt x="177000" y="25500"/>
                  </a:lnTo>
                  <a:lnTo>
                    <a:pt x="178000" y="25500"/>
                  </a:lnTo>
                  <a:lnTo>
                    <a:pt x="179000" y="25500"/>
                  </a:lnTo>
                  <a:lnTo>
                    <a:pt x="180000" y="25500"/>
                  </a:lnTo>
                </a:path>
              </a:pathLst>
            </a:custGeom>
            <a:noFill/>
            <a:ln w="8572" cap="rnd">
              <a:solidFill>
                <a:srgbClr val="A4A0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6657975" y="1543050"/>
              <a:ext cx="952" cy="381000"/>
            </a:xfrm>
            <a:custGeom>
              <a:avLst/>
              <a:gdLst/>
              <a:ahLst/>
              <a:cxnLst/>
              <a:rect l="0" t="0" r="r" b="b"/>
              <a:pathLst>
                <a:path w="100" h="40000" fill="none">
                  <a:moveTo>
                    <a:pt x="0" y="0"/>
                  </a:moveTo>
                  <a:lnTo>
                    <a:pt x="0" y="40000"/>
                  </a:lnTo>
                </a:path>
              </a:pathLst>
            </a:custGeom>
            <a:noFill/>
            <a:ln w="11429" cap="rnd">
              <a:solidFill>
                <a:srgbClr val="E21508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4886325" y="1533525"/>
              <a:ext cx="3667125" cy="390525"/>
            </a:xfrm>
            <a:prstGeom prst="rect">
              <a:avLst/>
            </a:pr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Text: iFFT"/>
            <p:cNvSpPr txBox="1"/>
            <p:nvPr/>
          </p:nvSpPr>
          <p:spPr>
            <a:xfrm>
              <a:off x="1438275" y="1925955"/>
              <a:ext cx="458279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E97B2C"/>
                  </a:solidFill>
                  <a:latin typeface="Liberation Serif"/>
                </a:rPr>
                <a:t>iFFT</a:t>
              </a:r>
            </a:p>
          </p:txBody>
        </p:sp>
        <p:sp>
          <p:nvSpPr>
            <p:cNvPr id="133" name="Text: iFFT"/>
            <p:cNvSpPr txBox="1"/>
            <p:nvPr/>
          </p:nvSpPr>
          <p:spPr>
            <a:xfrm>
              <a:off x="6943725" y="1925955"/>
              <a:ext cx="458279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E97B2C"/>
                  </a:solidFill>
                  <a:latin typeface="Liberation Serif"/>
                </a:rPr>
                <a:t>iFFT</a:t>
              </a:r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2009775" y="1933575"/>
              <a:ext cx="171450" cy="257175"/>
            </a:xfrm>
            <a:custGeom>
              <a:avLst/>
              <a:gdLst/>
              <a:ahLst/>
              <a:cxnLst/>
              <a:rect l="0" t="0" r="r" b="b"/>
              <a:pathLst>
                <a:path w="18000" h="27000" fill="norm">
                  <a:moveTo>
                    <a:pt x="5000" y="0"/>
                  </a:moveTo>
                  <a:lnTo>
                    <a:pt x="13000" y="0"/>
                  </a:lnTo>
                  <a:lnTo>
                    <a:pt x="13000" y="18000"/>
                  </a:lnTo>
                  <a:lnTo>
                    <a:pt x="18000" y="18000"/>
                  </a:lnTo>
                  <a:lnTo>
                    <a:pt x="9000" y="27000"/>
                  </a:lnTo>
                  <a:lnTo>
                    <a:pt x="0" y="18000"/>
                  </a:lnTo>
                  <a:lnTo>
                    <a:pt x="5000" y="18000"/>
                  </a:lnTo>
                  <a:close/>
                </a:path>
              </a:pathLst>
            </a:custGeom>
            <a:solidFill>
              <a:srgbClr val="EF863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6572250" y="1933575"/>
              <a:ext cx="171450" cy="257175"/>
            </a:xfrm>
            <a:custGeom>
              <a:avLst/>
              <a:gdLst/>
              <a:ahLst/>
              <a:cxnLst/>
              <a:rect l="0" t="0" r="r" b="b"/>
              <a:pathLst>
                <a:path w="18000" h="27000" fill="norm">
                  <a:moveTo>
                    <a:pt x="5000" y="0"/>
                  </a:moveTo>
                  <a:lnTo>
                    <a:pt x="13000" y="0"/>
                  </a:lnTo>
                  <a:lnTo>
                    <a:pt x="13000" y="18000"/>
                  </a:lnTo>
                  <a:lnTo>
                    <a:pt x="18000" y="18000"/>
                  </a:lnTo>
                  <a:lnTo>
                    <a:pt x="9000" y="27000"/>
                  </a:lnTo>
                  <a:lnTo>
                    <a:pt x="0" y="18000"/>
                  </a:lnTo>
                  <a:lnTo>
                    <a:pt x="5000" y="18000"/>
                  </a:lnTo>
                  <a:close/>
                </a:path>
              </a:pathLst>
            </a:custGeom>
            <a:solidFill>
              <a:srgbClr val="EF863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" name="Text: Hybrid Frequency Input"/>
            <p:cNvSpPr txBox="1"/>
            <p:nvPr/>
          </p:nvSpPr>
          <p:spPr>
            <a:xfrm>
              <a:off x="2428875" y="1973485"/>
              <a:ext cx="1815759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Hybrid Frequency Input</a:t>
              </a:r>
            </a:p>
          </p:txBody>
        </p:sp>
        <p:sp>
          <p:nvSpPr>
            <p:cNvPr id="137" name="Text: x_{aug}"/>
            <p:cNvSpPr txBox="1"/>
            <p:nvPr/>
          </p:nvSpPr>
          <p:spPr>
            <a:xfrm>
              <a:off x="4267200" y="1964055"/>
              <a:ext cx="359825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E40000"/>
                  </a:solidFill>
                  <a:latin typeface="Liberation Serif"/>
                </a:rPr>
                <a:t>x</a:t>
              </a:r>
              <a:r>
                <a:rPr sz="1500" b="0" i="1" baseline="-25000">
                  <a:solidFill>
                    <a:srgbClr val="E40000"/>
                  </a:solidFill>
                  <a:latin typeface="Liberation Serif"/>
                </a:rPr>
                <a:t>aug</a:t>
              </a:r>
            </a:p>
          </p:txBody>
        </p:sp>
        <p:sp>
          <p:nvSpPr>
            <p:cNvPr id="138" name="Text: with Raw Input"/>
            <p:cNvSpPr txBox="1"/>
            <p:nvPr/>
          </p:nvSpPr>
          <p:spPr>
            <a:xfrm>
              <a:off x="4676775" y="1973485"/>
              <a:ext cx="1192671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with Raw Input</a:t>
              </a:r>
            </a:p>
          </p:txBody>
        </p:sp>
        <p:sp>
          <p:nvSpPr>
            <p:cNvPr id="139" name="Text: x_{e}"/>
            <p:cNvSpPr txBox="1"/>
            <p:nvPr/>
          </p:nvSpPr>
          <p:spPr>
            <a:xfrm>
              <a:off x="5876925" y="1964055"/>
              <a:ext cx="212952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E40000"/>
                  </a:solidFill>
                  <a:latin typeface="Liberation Serif"/>
                </a:rPr>
                <a:t>x</a:t>
              </a:r>
              <a:r>
                <a:rPr sz="1500" b="0" i="1" baseline="-25000">
                  <a:solidFill>
                    <a:srgbClr val="E40000"/>
                  </a:solidFill>
                  <a:latin typeface="Liberation Serif"/>
                </a:rPr>
                <a:t>e</a:t>
              </a:r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314325" y="2247900"/>
              <a:ext cx="8258175" cy="485775"/>
            </a:xfrm>
            <a:prstGeom prst="rect">
              <a:avLst/>
            </a:prstGeom>
            <a:solidFill>
              <a:srgbClr val="C9CAC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409575" y="2295525"/>
              <a:ext cx="1924050" cy="390525"/>
            </a:xfrm>
            <a:prstGeom prst="rect">
              <a:avLst/>
            </a:prstGeom>
            <a:solidFill>
              <a:srgbClr val="FFFFFF"/>
            </a:solidFill>
            <a:ln w="10001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438150" y="2333625"/>
              <a:ext cx="1857375" cy="323850"/>
            </a:xfrm>
            <a:custGeom>
              <a:avLst/>
              <a:gdLst/>
              <a:ahLst/>
              <a:cxnLst/>
              <a:rect l="0" t="0" r="r" b="b"/>
              <a:pathLst>
                <a:path w="195000" h="34000" fill="norm">
                  <a:moveTo>
                    <a:pt x="0" y="6000"/>
                  </a:moveTo>
                  <a:lnTo>
                    <a:pt x="0" y="12000"/>
                  </a:lnTo>
                  <a:lnTo>
                    <a:pt x="1000" y="12000"/>
                  </a:lnTo>
                  <a:lnTo>
                    <a:pt x="2000" y="13000"/>
                  </a:lnTo>
                  <a:lnTo>
                    <a:pt x="2000" y="21000"/>
                  </a:lnTo>
                  <a:lnTo>
                    <a:pt x="4000" y="23000"/>
                  </a:lnTo>
                  <a:lnTo>
                    <a:pt x="4000" y="24000"/>
                  </a:lnTo>
                  <a:lnTo>
                    <a:pt x="5000" y="25000"/>
                  </a:lnTo>
                  <a:lnTo>
                    <a:pt x="5000" y="29000"/>
                  </a:lnTo>
                  <a:lnTo>
                    <a:pt x="7000" y="31000"/>
                  </a:lnTo>
                  <a:lnTo>
                    <a:pt x="7000" y="33000"/>
                  </a:lnTo>
                  <a:lnTo>
                    <a:pt x="8000" y="34000"/>
                  </a:lnTo>
                  <a:lnTo>
                    <a:pt x="8000" y="24000"/>
                  </a:lnTo>
                  <a:lnTo>
                    <a:pt x="9000" y="23000"/>
                  </a:lnTo>
                  <a:lnTo>
                    <a:pt x="9000" y="20000"/>
                  </a:lnTo>
                  <a:lnTo>
                    <a:pt x="10000" y="19000"/>
                  </a:lnTo>
                  <a:lnTo>
                    <a:pt x="11000" y="19000"/>
                  </a:lnTo>
                  <a:lnTo>
                    <a:pt x="12000" y="20000"/>
                  </a:lnTo>
                  <a:lnTo>
                    <a:pt x="12000" y="27000"/>
                  </a:lnTo>
                  <a:lnTo>
                    <a:pt x="13000" y="27000"/>
                  </a:lnTo>
                  <a:lnTo>
                    <a:pt x="14000" y="28000"/>
                  </a:lnTo>
                  <a:lnTo>
                    <a:pt x="15000" y="28000"/>
                  </a:lnTo>
                  <a:lnTo>
                    <a:pt x="17000" y="30000"/>
                  </a:lnTo>
                  <a:lnTo>
                    <a:pt x="17000" y="31000"/>
                  </a:lnTo>
                  <a:lnTo>
                    <a:pt x="18000" y="31000"/>
                  </a:lnTo>
                  <a:lnTo>
                    <a:pt x="18000" y="18000"/>
                  </a:lnTo>
                  <a:lnTo>
                    <a:pt x="19000" y="17000"/>
                  </a:lnTo>
                  <a:lnTo>
                    <a:pt x="20000" y="17000"/>
                  </a:lnTo>
                  <a:lnTo>
                    <a:pt x="22000" y="15000"/>
                  </a:lnTo>
                  <a:lnTo>
                    <a:pt x="23000" y="16000"/>
                  </a:lnTo>
                  <a:lnTo>
                    <a:pt x="24000" y="15000"/>
                  </a:lnTo>
                  <a:lnTo>
                    <a:pt x="25000" y="16000"/>
                  </a:lnTo>
                  <a:lnTo>
                    <a:pt x="25000" y="29000"/>
                  </a:lnTo>
                  <a:lnTo>
                    <a:pt x="26000" y="30000"/>
                  </a:lnTo>
                  <a:lnTo>
                    <a:pt x="26000" y="31000"/>
                  </a:lnTo>
                  <a:lnTo>
                    <a:pt x="26000" y="29000"/>
                  </a:lnTo>
                  <a:lnTo>
                    <a:pt x="27000" y="28000"/>
                  </a:lnTo>
                  <a:lnTo>
                    <a:pt x="28000" y="29000"/>
                  </a:lnTo>
                  <a:lnTo>
                    <a:pt x="28000" y="30000"/>
                  </a:lnTo>
                  <a:lnTo>
                    <a:pt x="29000" y="31000"/>
                  </a:lnTo>
                  <a:lnTo>
                    <a:pt x="29000" y="34000"/>
                  </a:lnTo>
                  <a:lnTo>
                    <a:pt x="30000" y="33000"/>
                  </a:lnTo>
                  <a:lnTo>
                    <a:pt x="30000" y="29000"/>
                  </a:lnTo>
                  <a:lnTo>
                    <a:pt x="31000" y="28000"/>
                  </a:lnTo>
                  <a:lnTo>
                    <a:pt x="31000" y="26000"/>
                  </a:lnTo>
                  <a:lnTo>
                    <a:pt x="33000" y="24000"/>
                  </a:lnTo>
                  <a:lnTo>
                    <a:pt x="33000" y="22000"/>
                  </a:lnTo>
                  <a:lnTo>
                    <a:pt x="34000" y="21000"/>
                  </a:lnTo>
                  <a:lnTo>
                    <a:pt x="37000" y="23000"/>
                  </a:lnTo>
                  <a:lnTo>
                    <a:pt x="37000" y="29000"/>
                  </a:lnTo>
                  <a:lnTo>
                    <a:pt x="39000" y="31000"/>
                  </a:lnTo>
                  <a:lnTo>
                    <a:pt x="39000" y="33000"/>
                  </a:lnTo>
                  <a:lnTo>
                    <a:pt x="40000" y="33000"/>
                  </a:lnTo>
                  <a:lnTo>
                    <a:pt x="40000" y="31000"/>
                  </a:lnTo>
                  <a:lnTo>
                    <a:pt x="41000" y="30000"/>
                  </a:lnTo>
                  <a:lnTo>
                    <a:pt x="42000" y="30000"/>
                  </a:lnTo>
                  <a:lnTo>
                    <a:pt x="42000" y="29000"/>
                  </a:lnTo>
                  <a:lnTo>
                    <a:pt x="43000" y="28000"/>
                  </a:lnTo>
                  <a:lnTo>
                    <a:pt x="44000" y="28000"/>
                  </a:lnTo>
                  <a:lnTo>
                    <a:pt x="44000" y="23000"/>
                  </a:lnTo>
                  <a:lnTo>
                    <a:pt x="45000" y="22000"/>
                  </a:lnTo>
                  <a:lnTo>
                    <a:pt x="46000" y="22000"/>
                  </a:lnTo>
                  <a:lnTo>
                    <a:pt x="49000" y="20000"/>
                  </a:lnTo>
                  <a:lnTo>
                    <a:pt x="51000" y="22000"/>
                  </a:lnTo>
                  <a:lnTo>
                    <a:pt x="51000" y="29000"/>
                  </a:lnTo>
                  <a:lnTo>
                    <a:pt x="52000" y="30000"/>
                  </a:lnTo>
                  <a:lnTo>
                    <a:pt x="52000" y="29000"/>
                  </a:lnTo>
                  <a:lnTo>
                    <a:pt x="53000" y="28000"/>
                  </a:lnTo>
                  <a:lnTo>
                    <a:pt x="54000" y="29000"/>
                  </a:lnTo>
                  <a:lnTo>
                    <a:pt x="55000" y="28000"/>
                  </a:lnTo>
                  <a:lnTo>
                    <a:pt x="56000" y="29000"/>
                  </a:lnTo>
                  <a:lnTo>
                    <a:pt x="56000" y="25000"/>
                  </a:lnTo>
                  <a:lnTo>
                    <a:pt x="57000" y="24000"/>
                  </a:lnTo>
                  <a:lnTo>
                    <a:pt x="58000" y="25000"/>
                  </a:lnTo>
                  <a:lnTo>
                    <a:pt x="58000" y="30000"/>
                  </a:lnTo>
                  <a:lnTo>
                    <a:pt x="59000" y="29000"/>
                  </a:lnTo>
                  <a:lnTo>
                    <a:pt x="59000" y="22000"/>
                  </a:lnTo>
                  <a:lnTo>
                    <a:pt x="61000" y="20000"/>
                  </a:lnTo>
                  <a:lnTo>
                    <a:pt x="61000" y="19000"/>
                  </a:lnTo>
                  <a:lnTo>
                    <a:pt x="62000" y="18000"/>
                  </a:lnTo>
                  <a:lnTo>
                    <a:pt x="63000" y="19000"/>
                  </a:lnTo>
                  <a:lnTo>
                    <a:pt x="63000" y="21000"/>
                  </a:lnTo>
                  <a:lnTo>
                    <a:pt x="64000" y="20000"/>
                  </a:lnTo>
                  <a:lnTo>
                    <a:pt x="65000" y="21000"/>
                  </a:lnTo>
                  <a:lnTo>
                    <a:pt x="65000" y="22000"/>
                  </a:lnTo>
                  <a:lnTo>
                    <a:pt x="66000" y="21000"/>
                  </a:lnTo>
                  <a:lnTo>
                    <a:pt x="67000" y="22000"/>
                  </a:lnTo>
                  <a:lnTo>
                    <a:pt x="67000" y="28000"/>
                  </a:lnTo>
                  <a:lnTo>
                    <a:pt x="69000" y="28000"/>
                  </a:lnTo>
                  <a:lnTo>
                    <a:pt x="70000" y="29000"/>
                  </a:lnTo>
                  <a:lnTo>
                    <a:pt x="70000" y="30000"/>
                  </a:lnTo>
                  <a:lnTo>
                    <a:pt x="72000" y="32000"/>
                  </a:lnTo>
                  <a:lnTo>
                    <a:pt x="72000" y="33000"/>
                  </a:lnTo>
                  <a:lnTo>
                    <a:pt x="72000" y="32000"/>
                  </a:lnTo>
                  <a:lnTo>
                    <a:pt x="75000" y="29000"/>
                  </a:lnTo>
                  <a:lnTo>
                    <a:pt x="75000" y="21000"/>
                  </a:lnTo>
                  <a:lnTo>
                    <a:pt x="76000" y="20000"/>
                  </a:lnTo>
                  <a:lnTo>
                    <a:pt x="77000" y="21000"/>
                  </a:lnTo>
                  <a:lnTo>
                    <a:pt x="77000" y="22000"/>
                  </a:lnTo>
                  <a:lnTo>
                    <a:pt x="77000" y="21000"/>
                  </a:lnTo>
                  <a:lnTo>
                    <a:pt x="78000" y="20000"/>
                  </a:lnTo>
                  <a:lnTo>
                    <a:pt x="79000" y="21000"/>
                  </a:lnTo>
                  <a:lnTo>
                    <a:pt x="79000" y="23000"/>
                  </a:lnTo>
                  <a:lnTo>
                    <a:pt x="80000" y="24000"/>
                  </a:lnTo>
                  <a:lnTo>
                    <a:pt x="81000" y="23000"/>
                  </a:lnTo>
                  <a:lnTo>
                    <a:pt x="82000" y="24000"/>
                  </a:lnTo>
                  <a:lnTo>
                    <a:pt x="82000" y="28000"/>
                  </a:lnTo>
                  <a:lnTo>
                    <a:pt x="84000" y="30000"/>
                  </a:lnTo>
                  <a:lnTo>
                    <a:pt x="84000" y="34000"/>
                  </a:lnTo>
                  <a:lnTo>
                    <a:pt x="84000" y="32000"/>
                  </a:lnTo>
                  <a:lnTo>
                    <a:pt x="86000" y="30000"/>
                  </a:lnTo>
                  <a:lnTo>
                    <a:pt x="86000" y="27000"/>
                  </a:lnTo>
                  <a:lnTo>
                    <a:pt x="87000" y="26000"/>
                  </a:lnTo>
                  <a:lnTo>
                    <a:pt x="88000" y="27000"/>
                  </a:lnTo>
                  <a:lnTo>
                    <a:pt x="88000" y="31000"/>
                  </a:lnTo>
                  <a:lnTo>
                    <a:pt x="88000" y="30000"/>
                  </a:lnTo>
                  <a:lnTo>
                    <a:pt x="89000" y="29000"/>
                  </a:lnTo>
                  <a:lnTo>
                    <a:pt x="89000" y="15000"/>
                  </a:lnTo>
                  <a:lnTo>
                    <a:pt x="90000" y="14000"/>
                  </a:lnTo>
                  <a:lnTo>
                    <a:pt x="91000" y="15000"/>
                  </a:lnTo>
                  <a:lnTo>
                    <a:pt x="91000" y="16000"/>
                  </a:lnTo>
                  <a:lnTo>
                    <a:pt x="92000" y="16000"/>
                  </a:lnTo>
                  <a:lnTo>
                    <a:pt x="93000" y="15000"/>
                  </a:lnTo>
                  <a:lnTo>
                    <a:pt x="95000" y="17000"/>
                  </a:lnTo>
                  <a:lnTo>
                    <a:pt x="96000" y="17000"/>
                  </a:lnTo>
                  <a:lnTo>
                    <a:pt x="97000" y="18000"/>
                  </a:lnTo>
                  <a:lnTo>
                    <a:pt x="97000" y="25000"/>
                  </a:lnTo>
                  <a:lnTo>
                    <a:pt x="98000" y="26000"/>
                  </a:lnTo>
                  <a:lnTo>
                    <a:pt x="98000" y="31000"/>
                  </a:lnTo>
                  <a:lnTo>
                    <a:pt x="101000" y="28000"/>
                  </a:lnTo>
                  <a:lnTo>
                    <a:pt x="102000" y="28000"/>
                  </a:lnTo>
                  <a:lnTo>
                    <a:pt x="102000" y="27000"/>
                  </a:lnTo>
                  <a:lnTo>
                    <a:pt x="103000" y="26000"/>
                  </a:lnTo>
                  <a:lnTo>
                    <a:pt x="104000" y="27000"/>
                  </a:lnTo>
                  <a:lnTo>
                    <a:pt x="104000" y="25000"/>
                  </a:lnTo>
                  <a:lnTo>
                    <a:pt x="105000" y="24000"/>
                  </a:lnTo>
                  <a:lnTo>
                    <a:pt x="105000" y="20000"/>
                  </a:lnTo>
                  <a:lnTo>
                    <a:pt x="106000" y="19000"/>
                  </a:lnTo>
                  <a:lnTo>
                    <a:pt x="107000" y="19000"/>
                  </a:lnTo>
                  <a:lnTo>
                    <a:pt x="108000" y="20000"/>
                  </a:lnTo>
                  <a:lnTo>
                    <a:pt x="108000" y="23000"/>
                  </a:lnTo>
                  <a:lnTo>
                    <a:pt x="109000" y="24000"/>
                  </a:lnTo>
                  <a:lnTo>
                    <a:pt x="109000" y="32000"/>
                  </a:lnTo>
                  <a:lnTo>
                    <a:pt x="110000" y="33000"/>
                  </a:lnTo>
                  <a:lnTo>
                    <a:pt x="110000" y="31000"/>
                  </a:lnTo>
                  <a:lnTo>
                    <a:pt x="111000" y="30000"/>
                  </a:lnTo>
                  <a:lnTo>
                    <a:pt x="112000" y="30000"/>
                  </a:lnTo>
                  <a:lnTo>
                    <a:pt x="112000" y="28000"/>
                  </a:lnTo>
                  <a:lnTo>
                    <a:pt x="113000" y="27000"/>
                  </a:lnTo>
                  <a:lnTo>
                    <a:pt x="113000" y="25000"/>
                  </a:lnTo>
                  <a:lnTo>
                    <a:pt x="114000" y="24000"/>
                  </a:lnTo>
                  <a:lnTo>
                    <a:pt x="114000" y="23000"/>
                  </a:lnTo>
                  <a:lnTo>
                    <a:pt x="116000" y="21000"/>
                  </a:lnTo>
                  <a:lnTo>
                    <a:pt x="116000" y="12000"/>
                  </a:lnTo>
                  <a:lnTo>
                    <a:pt x="117000" y="11000"/>
                  </a:lnTo>
                  <a:lnTo>
                    <a:pt x="119000" y="14000"/>
                  </a:lnTo>
                  <a:lnTo>
                    <a:pt x="119000" y="21000"/>
                  </a:lnTo>
                  <a:lnTo>
                    <a:pt x="123000" y="25000"/>
                  </a:lnTo>
                  <a:lnTo>
                    <a:pt x="123000" y="29000"/>
                  </a:lnTo>
                  <a:lnTo>
                    <a:pt x="124000" y="30000"/>
                  </a:lnTo>
                  <a:lnTo>
                    <a:pt x="125000" y="29000"/>
                  </a:lnTo>
                  <a:lnTo>
                    <a:pt x="126000" y="30000"/>
                  </a:lnTo>
                  <a:lnTo>
                    <a:pt x="126000" y="33000"/>
                  </a:lnTo>
                  <a:lnTo>
                    <a:pt x="127000" y="33000"/>
                  </a:lnTo>
                  <a:lnTo>
                    <a:pt x="127000" y="24000"/>
                  </a:lnTo>
                  <a:lnTo>
                    <a:pt x="128000" y="23000"/>
                  </a:lnTo>
                  <a:lnTo>
                    <a:pt x="129000" y="23000"/>
                  </a:lnTo>
                  <a:lnTo>
                    <a:pt x="129000" y="16000"/>
                  </a:lnTo>
                  <a:lnTo>
                    <a:pt x="130000" y="15000"/>
                  </a:lnTo>
                  <a:lnTo>
                    <a:pt x="131000" y="16000"/>
                  </a:lnTo>
                  <a:lnTo>
                    <a:pt x="131000" y="19000"/>
                  </a:lnTo>
                  <a:lnTo>
                    <a:pt x="132000" y="19000"/>
                  </a:lnTo>
                  <a:lnTo>
                    <a:pt x="133000" y="20000"/>
                  </a:lnTo>
                  <a:lnTo>
                    <a:pt x="133000" y="26000"/>
                  </a:lnTo>
                  <a:lnTo>
                    <a:pt x="136000" y="28000"/>
                  </a:lnTo>
                  <a:lnTo>
                    <a:pt x="137000" y="27000"/>
                  </a:lnTo>
                  <a:lnTo>
                    <a:pt x="138000" y="28000"/>
                  </a:lnTo>
                  <a:lnTo>
                    <a:pt x="138000" y="29000"/>
                  </a:lnTo>
                  <a:lnTo>
                    <a:pt x="139000" y="29000"/>
                  </a:lnTo>
                  <a:lnTo>
                    <a:pt x="140000" y="30000"/>
                  </a:lnTo>
                  <a:lnTo>
                    <a:pt x="140000" y="31000"/>
                  </a:lnTo>
                  <a:lnTo>
                    <a:pt x="141000" y="31000"/>
                  </a:lnTo>
                  <a:lnTo>
                    <a:pt x="141000" y="24000"/>
                  </a:lnTo>
                  <a:lnTo>
                    <a:pt x="142000" y="23000"/>
                  </a:lnTo>
                  <a:lnTo>
                    <a:pt x="142000" y="18000"/>
                  </a:lnTo>
                  <a:lnTo>
                    <a:pt x="143000" y="17000"/>
                  </a:lnTo>
                  <a:lnTo>
                    <a:pt x="144000" y="17000"/>
                  </a:lnTo>
                  <a:lnTo>
                    <a:pt x="144000" y="14000"/>
                  </a:lnTo>
                  <a:lnTo>
                    <a:pt x="145000" y="13000"/>
                  </a:lnTo>
                  <a:lnTo>
                    <a:pt x="146000" y="14000"/>
                  </a:lnTo>
                  <a:lnTo>
                    <a:pt x="146000" y="16000"/>
                  </a:lnTo>
                  <a:lnTo>
                    <a:pt x="147000" y="15000"/>
                  </a:lnTo>
                  <a:lnTo>
                    <a:pt x="148000" y="15000"/>
                  </a:lnTo>
                  <a:lnTo>
                    <a:pt x="149000" y="16000"/>
                  </a:lnTo>
                  <a:lnTo>
                    <a:pt x="150000" y="15000"/>
                  </a:lnTo>
                  <a:lnTo>
                    <a:pt x="152000" y="17000"/>
                  </a:lnTo>
                  <a:lnTo>
                    <a:pt x="152000" y="29000"/>
                  </a:lnTo>
                  <a:lnTo>
                    <a:pt x="153000" y="30000"/>
                  </a:lnTo>
                  <a:lnTo>
                    <a:pt x="153000" y="24000"/>
                  </a:lnTo>
                  <a:lnTo>
                    <a:pt x="154000" y="23000"/>
                  </a:lnTo>
                  <a:lnTo>
                    <a:pt x="155000" y="24000"/>
                  </a:lnTo>
                  <a:lnTo>
                    <a:pt x="155000" y="29000"/>
                  </a:lnTo>
                  <a:lnTo>
                    <a:pt x="158000" y="32000"/>
                  </a:lnTo>
                  <a:lnTo>
                    <a:pt x="158000" y="33000"/>
                  </a:lnTo>
                  <a:lnTo>
                    <a:pt x="158000" y="32000"/>
                  </a:lnTo>
                  <a:lnTo>
                    <a:pt x="159000" y="31000"/>
                  </a:lnTo>
                  <a:lnTo>
                    <a:pt x="159000" y="29000"/>
                  </a:lnTo>
                  <a:lnTo>
                    <a:pt x="161000" y="27000"/>
                  </a:lnTo>
                  <a:lnTo>
                    <a:pt x="161000" y="23000"/>
                  </a:lnTo>
                  <a:lnTo>
                    <a:pt x="162000" y="22000"/>
                  </a:lnTo>
                  <a:lnTo>
                    <a:pt x="163000" y="23000"/>
                  </a:lnTo>
                  <a:lnTo>
                    <a:pt x="163000" y="24000"/>
                  </a:lnTo>
                  <a:lnTo>
                    <a:pt x="164000" y="23000"/>
                  </a:lnTo>
                  <a:lnTo>
                    <a:pt x="164000" y="14000"/>
                  </a:lnTo>
                  <a:lnTo>
                    <a:pt x="165000" y="13000"/>
                  </a:lnTo>
                  <a:lnTo>
                    <a:pt x="166000" y="14000"/>
                  </a:lnTo>
                  <a:lnTo>
                    <a:pt x="166000" y="22000"/>
                  </a:lnTo>
                  <a:lnTo>
                    <a:pt x="167000" y="22000"/>
                  </a:lnTo>
                  <a:lnTo>
                    <a:pt x="167000" y="19000"/>
                  </a:lnTo>
                  <a:lnTo>
                    <a:pt x="168000" y="18000"/>
                  </a:lnTo>
                  <a:lnTo>
                    <a:pt x="169000" y="19000"/>
                  </a:lnTo>
                  <a:lnTo>
                    <a:pt x="169000" y="28000"/>
                  </a:lnTo>
                  <a:lnTo>
                    <a:pt x="170000" y="29000"/>
                  </a:lnTo>
                  <a:lnTo>
                    <a:pt x="170000" y="30000"/>
                  </a:lnTo>
                  <a:lnTo>
                    <a:pt x="171000" y="29000"/>
                  </a:lnTo>
                  <a:lnTo>
                    <a:pt x="172000" y="30000"/>
                  </a:lnTo>
                  <a:lnTo>
                    <a:pt x="172000" y="33000"/>
                  </a:lnTo>
                  <a:lnTo>
                    <a:pt x="173000" y="33000"/>
                  </a:lnTo>
                  <a:lnTo>
                    <a:pt x="173000" y="31000"/>
                  </a:lnTo>
                  <a:lnTo>
                    <a:pt x="174000" y="30000"/>
                  </a:lnTo>
                  <a:lnTo>
                    <a:pt x="176000" y="30000"/>
                  </a:lnTo>
                  <a:lnTo>
                    <a:pt x="176000" y="28000"/>
                  </a:lnTo>
                  <a:lnTo>
                    <a:pt x="177000" y="27000"/>
                  </a:lnTo>
                  <a:lnTo>
                    <a:pt x="178000" y="28000"/>
                  </a:lnTo>
                  <a:lnTo>
                    <a:pt x="179000" y="27000"/>
                  </a:lnTo>
                  <a:lnTo>
                    <a:pt x="179000" y="17000"/>
                  </a:lnTo>
                  <a:lnTo>
                    <a:pt x="180000" y="16000"/>
                  </a:lnTo>
                  <a:lnTo>
                    <a:pt x="181000" y="17000"/>
                  </a:lnTo>
                  <a:lnTo>
                    <a:pt x="181000" y="22000"/>
                  </a:lnTo>
                  <a:lnTo>
                    <a:pt x="183000" y="20000"/>
                  </a:lnTo>
                  <a:lnTo>
                    <a:pt x="184000" y="21000"/>
                  </a:lnTo>
                  <a:lnTo>
                    <a:pt x="184000" y="17000"/>
                  </a:lnTo>
                  <a:lnTo>
                    <a:pt x="185000" y="16000"/>
                  </a:lnTo>
                  <a:lnTo>
                    <a:pt x="187000" y="19000"/>
                  </a:lnTo>
                  <a:lnTo>
                    <a:pt x="187000" y="21000"/>
                  </a:lnTo>
                  <a:lnTo>
                    <a:pt x="188000" y="20000"/>
                  </a:lnTo>
                  <a:lnTo>
                    <a:pt x="189000" y="21000"/>
                  </a:lnTo>
                  <a:lnTo>
                    <a:pt x="189000" y="29000"/>
                  </a:lnTo>
                  <a:lnTo>
                    <a:pt x="190000" y="30000"/>
                  </a:lnTo>
                  <a:lnTo>
                    <a:pt x="190000" y="22000"/>
                  </a:lnTo>
                  <a:lnTo>
                    <a:pt x="191000" y="21000"/>
                  </a:lnTo>
                  <a:lnTo>
                    <a:pt x="192000" y="22000"/>
                  </a:lnTo>
                  <a:lnTo>
                    <a:pt x="192000" y="27000"/>
                  </a:lnTo>
                  <a:lnTo>
                    <a:pt x="193000" y="28000"/>
                  </a:lnTo>
                  <a:lnTo>
                    <a:pt x="193000" y="29000"/>
                  </a:lnTo>
                  <a:lnTo>
                    <a:pt x="193000" y="27000"/>
                  </a:lnTo>
                  <a:lnTo>
                    <a:pt x="194000" y="26000"/>
                  </a:lnTo>
                  <a:lnTo>
                    <a:pt x="195000" y="27000"/>
                  </a:lnTo>
                  <a:lnTo>
                    <a:pt x="195000" y="21000"/>
                  </a:lnTo>
                  <a:lnTo>
                    <a:pt x="194000" y="20000"/>
                  </a:lnTo>
                  <a:lnTo>
                    <a:pt x="194000" y="17000"/>
                  </a:lnTo>
                  <a:lnTo>
                    <a:pt x="194000" y="18000"/>
                  </a:lnTo>
                  <a:lnTo>
                    <a:pt x="193000" y="19000"/>
                  </a:lnTo>
                  <a:lnTo>
                    <a:pt x="191000" y="16000"/>
                  </a:lnTo>
                  <a:lnTo>
                    <a:pt x="191000" y="14000"/>
                  </a:lnTo>
                  <a:lnTo>
                    <a:pt x="190000" y="15000"/>
                  </a:lnTo>
                  <a:lnTo>
                    <a:pt x="189000" y="14000"/>
                  </a:lnTo>
                  <a:lnTo>
                    <a:pt x="189000" y="6000"/>
                  </a:lnTo>
                  <a:lnTo>
                    <a:pt x="188000" y="5000"/>
                  </a:lnTo>
                  <a:lnTo>
                    <a:pt x="188000" y="10000"/>
                  </a:lnTo>
                  <a:lnTo>
                    <a:pt x="187000" y="11000"/>
                  </a:lnTo>
                  <a:lnTo>
                    <a:pt x="186000" y="10000"/>
                  </a:lnTo>
                  <a:lnTo>
                    <a:pt x="186000" y="2000"/>
                  </a:lnTo>
                  <a:lnTo>
                    <a:pt x="185000" y="1000"/>
                  </a:lnTo>
                  <a:lnTo>
                    <a:pt x="185000" y="0"/>
                  </a:lnTo>
                  <a:lnTo>
                    <a:pt x="185000" y="4000"/>
                  </a:lnTo>
                  <a:lnTo>
                    <a:pt x="184000" y="5000"/>
                  </a:lnTo>
                  <a:lnTo>
                    <a:pt x="184000" y="8000"/>
                  </a:lnTo>
                  <a:lnTo>
                    <a:pt x="183000" y="9000"/>
                  </a:lnTo>
                  <a:lnTo>
                    <a:pt x="182000" y="8000"/>
                  </a:lnTo>
                  <a:lnTo>
                    <a:pt x="181000" y="9000"/>
                  </a:lnTo>
                  <a:lnTo>
                    <a:pt x="180000" y="8000"/>
                  </a:lnTo>
                  <a:lnTo>
                    <a:pt x="180000" y="4000"/>
                  </a:lnTo>
                  <a:lnTo>
                    <a:pt x="179000" y="4000"/>
                  </a:lnTo>
                  <a:lnTo>
                    <a:pt x="179000" y="17000"/>
                  </a:lnTo>
                  <a:lnTo>
                    <a:pt x="178000" y="18000"/>
                  </a:lnTo>
                  <a:lnTo>
                    <a:pt x="177000" y="17000"/>
                  </a:lnTo>
                  <a:lnTo>
                    <a:pt x="177000" y="15000"/>
                  </a:lnTo>
                  <a:lnTo>
                    <a:pt x="176000" y="15000"/>
                  </a:lnTo>
                  <a:lnTo>
                    <a:pt x="176000" y="22000"/>
                  </a:lnTo>
                  <a:lnTo>
                    <a:pt x="175000" y="23000"/>
                  </a:lnTo>
                  <a:lnTo>
                    <a:pt x="174000" y="23000"/>
                  </a:lnTo>
                  <a:lnTo>
                    <a:pt x="174000" y="24000"/>
                  </a:lnTo>
                  <a:lnTo>
                    <a:pt x="173000" y="25000"/>
                  </a:lnTo>
                  <a:lnTo>
                    <a:pt x="172000" y="24000"/>
                  </a:lnTo>
                  <a:lnTo>
                    <a:pt x="172000" y="19000"/>
                  </a:lnTo>
                  <a:lnTo>
                    <a:pt x="170000" y="22000"/>
                  </a:lnTo>
                  <a:lnTo>
                    <a:pt x="169000" y="21000"/>
                  </a:lnTo>
                  <a:lnTo>
                    <a:pt x="169000" y="9000"/>
                  </a:lnTo>
                  <a:lnTo>
                    <a:pt x="168000" y="8000"/>
                  </a:lnTo>
                  <a:lnTo>
                    <a:pt x="168000" y="11000"/>
                  </a:lnTo>
                  <a:lnTo>
                    <a:pt x="167000" y="12000"/>
                  </a:lnTo>
                  <a:lnTo>
                    <a:pt x="166000" y="11000"/>
                  </a:lnTo>
                  <a:lnTo>
                    <a:pt x="166000" y="7000"/>
                  </a:lnTo>
                  <a:lnTo>
                    <a:pt x="165000" y="6000"/>
                  </a:lnTo>
                  <a:lnTo>
                    <a:pt x="165000" y="4000"/>
                  </a:lnTo>
                  <a:lnTo>
                    <a:pt x="164000" y="4000"/>
                  </a:lnTo>
                  <a:lnTo>
                    <a:pt x="164000" y="15000"/>
                  </a:lnTo>
                  <a:lnTo>
                    <a:pt x="163000" y="16000"/>
                  </a:lnTo>
                  <a:lnTo>
                    <a:pt x="162000" y="15000"/>
                  </a:lnTo>
                  <a:lnTo>
                    <a:pt x="162000" y="11000"/>
                  </a:lnTo>
                  <a:lnTo>
                    <a:pt x="161000" y="10000"/>
                  </a:lnTo>
                  <a:lnTo>
                    <a:pt x="161000" y="20000"/>
                  </a:lnTo>
                  <a:lnTo>
                    <a:pt x="160000" y="21000"/>
                  </a:lnTo>
                  <a:lnTo>
                    <a:pt x="159000" y="21000"/>
                  </a:lnTo>
                  <a:lnTo>
                    <a:pt x="159000" y="22000"/>
                  </a:lnTo>
                  <a:lnTo>
                    <a:pt x="158000" y="23000"/>
                  </a:lnTo>
                  <a:lnTo>
                    <a:pt x="157000" y="22000"/>
                  </a:lnTo>
                  <a:lnTo>
                    <a:pt x="157000" y="19000"/>
                  </a:lnTo>
                  <a:lnTo>
                    <a:pt x="156000" y="20000"/>
                  </a:lnTo>
                  <a:lnTo>
                    <a:pt x="154000" y="17000"/>
                  </a:lnTo>
                  <a:lnTo>
                    <a:pt x="154000" y="12000"/>
                  </a:lnTo>
                  <a:lnTo>
                    <a:pt x="153000" y="12000"/>
                  </a:lnTo>
                  <a:lnTo>
                    <a:pt x="152000" y="11000"/>
                  </a:lnTo>
                  <a:lnTo>
                    <a:pt x="152000" y="9000"/>
                  </a:lnTo>
                  <a:lnTo>
                    <a:pt x="151000" y="8000"/>
                  </a:lnTo>
                  <a:lnTo>
                    <a:pt x="151000" y="2000"/>
                  </a:lnTo>
                  <a:lnTo>
                    <a:pt x="150000" y="2000"/>
                  </a:lnTo>
                  <a:lnTo>
                    <a:pt x="150000" y="8000"/>
                  </a:lnTo>
                  <a:lnTo>
                    <a:pt x="149000" y="9000"/>
                  </a:lnTo>
                  <a:lnTo>
                    <a:pt x="148000" y="8000"/>
                  </a:lnTo>
                  <a:lnTo>
                    <a:pt x="148000" y="7000"/>
                  </a:lnTo>
                  <a:lnTo>
                    <a:pt x="146000" y="5000"/>
                  </a:lnTo>
                  <a:lnTo>
                    <a:pt x="146000" y="2000"/>
                  </a:lnTo>
                  <a:lnTo>
                    <a:pt x="145000" y="1000"/>
                  </a:lnTo>
                  <a:lnTo>
                    <a:pt x="145000" y="0"/>
                  </a:lnTo>
                  <a:lnTo>
                    <a:pt x="145000" y="2000"/>
                  </a:lnTo>
                  <a:lnTo>
                    <a:pt x="144000" y="3000"/>
                  </a:lnTo>
                  <a:lnTo>
                    <a:pt x="144000" y="4000"/>
                  </a:lnTo>
                  <a:lnTo>
                    <a:pt x="143000" y="5000"/>
                  </a:lnTo>
                  <a:lnTo>
                    <a:pt x="142000" y="4000"/>
                  </a:lnTo>
                  <a:lnTo>
                    <a:pt x="142000" y="8000"/>
                  </a:lnTo>
                  <a:lnTo>
                    <a:pt x="141000" y="9000"/>
                  </a:lnTo>
                  <a:lnTo>
                    <a:pt x="141000" y="24000"/>
                  </a:lnTo>
                  <a:lnTo>
                    <a:pt x="140000" y="25000"/>
                  </a:lnTo>
                  <a:lnTo>
                    <a:pt x="138000" y="25000"/>
                  </a:lnTo>
                  <a:lnTo>
                    <a:pt x="137000" y="24000"/>
                  </a:lnTo>
                  <a:lnTo>
                    <a:pt x="137000" y="23000"/>
                  </a:lnTo>
                  <a:lnTo>
                    <a:pt x="136000" y="24000"/>
                  </a:lnTo>
                  <a:lnTo>
                    <a:pt x="135000" y="23000"/>
                  </a:lnTo>
                  <a:lnTo>
                    <a:pt x="135000" y="20000"/>
                  </a:lnTo>
                  <a:lnTo>
                    <a:pt x="133000" y="18000"/>
                  </a:lnTo>
                  <a:lnTo>
                    <a:pt x="133000" y="11000"/>
                  </a:lnTo>
                  <a:lnTo>
                    <a:pt x="132000" y="10000"/>
                  </a:lnTo>
                  <a:lnTo>
                    <a:pt x="132000" y="6000"/>
                  </a:lnTo>
                  <a:lnTo>
                    <a:pt x="131000" y="6000"/>
                  </a:lnTo>
                  <a:lnTo>
                    <a:pt x="130000" y="5000"/>
                  </a:lnTo>
                  <a:lnTo>
                    <a:pt x="130000" y="1000"/>
                  </a:lnTo>
                  <a:lnTo>
                    <a:pt x="129000" y="1000"/>
                  </a:lnTo>
                  <a:lnTo>
                    <a:pt x="129000" y="8000"/>
                  </a:lnTo>
                  <a:lnTo>
                    <a:pt x="127000" y="10000"/>
                  </a:lnTo>
                  <a:lnTo>
                    <a:pt x="127000" y="20000"/>
                  </a:lnTo>
                  <a:lnTo>
                    <a:pt x="126000" y="21000"/>
                  </a:lnTo>
                  <a:lnTo>
                    <a:pt x="125000" y="20000"/>
                  </a:lnTo>
                  <a:lnTo>
                    <a:pt x="125000" y="18000"/>
                  </a:lnTo>
                  <a:lnTo>
                    <a:pt x="125000" y="19000"/>
                  </a:lnTo>
                  <a:lnTo>
                    <a:pt x="124000" y="20000"/>
                  </a:lnTo>
                  <a:lnTo>
                    <a:pt x="121000" y="17000"/>
                  </a:lnTo>
                  <a:lnTo>
                    <a:pt x="121000" y="12000"/>
                  </a:lnTo>
                  <a:lnTo>
                    <a:pt x="120000" y="12000"/>
                  </a:lnTo>
                  <a:lnTo>
                    <a:pt x="119000" y="11000"/>
                  </a:lnTo>
                  <a:lnTo>
                    <a:pt x="119000" y="2000"/>
                  </a:lnTo>
                  <a:lnTo>
                    <a:pt x="118000" y="1000"/>
                  </a:lnTo>
                  <a:lnTo>
                    <a:pt x="118000" y="0"/>
                  </a:lnTo>
                  <a:lnTo>
                    <a:pt x="116000" y="0"/>
                  </a:lnTo>
                  <a:lnTo>
                    <a:pt x="116000" y="10000"/>
                  </a:lnTo>
                  <a:lnTo>
                    <a:pt x="114000" y="12000"/>
                  </a:lnTo>
                  <a:lnTo>
                    <a:pt x="114000" y="17000"/>
                  </a:lnTo>
                  <a:lnTo>
                    <a:pt x="112000" y="20000"/>
                  </a:lnTo>
                  <a:lnTo>
                    <a:pt x="111000" y="19000"/>
                  </a:lnTo>
                  <a:lnTo>
                    <a:pt x="111000" y="18000"/>
                  </a:lnTo>
                  <a:lnTo>
                    <a:pt x="110000" y="19000"/>
                  </a:lnTo>
                  <a:lnTo>
                    <a:pt x="109000" y="18000"/>
                  </a:lnTo>
                  <a:lnTo>
                    <a:pt x="109000" y="8000"/>
                  </a:lnTo>
                  <a:lnTo>
                    <a:pt x="108000" y="7000"/>
                  </a:lnTo>
                  <a:lnTo>
                    <a:pt x="108000" y="3000"/>
                  </a:lnTo>
                  <a:lnTo>
                    <a:pt x="107000" y="2000"/>
                  </a:lnTo>
                  <a:lnTo>
                    <a:pt x="107000" y="1000"/>
                  </a:lnTo>
                  <a:lnTo>
                    <a:pt x="107000" y="4000"/>
                  </a:lnTo>
                  <a:lnTo>
                    <a:pt x="106000" y="5000"/>
                  </a:lnTo>
                  <a:lnTo>
                    <a:pt x="105000" y="5000"/>
                  </a:lnTo>
                  <a:lnTo>
                    <a:pt x="105000" y="15000"/>
                  </a:lnTo>
                  <a:lnTo>
                    <a:pt x="104000" y="16000"/>
                  </a:lnTo>
                  <a:lnTo>
                    <a:pt x="104000" y="18000"/>
                  </a:lnTo>
                  <a:lnTo>
                    <a:pt x="103000" y="19000"/>
                  </a:lnTo>
                  <a:lnTo>
                    <a:pt x="103000" y="22000"/>
                  </a:lnTo>
                  <a:lnTo>
                    <a:pt x="102000" y="23000"/>
                  </a:lnTo>
                  <a:lnTo>
                    <a:pt x="101000" y="23000"/>
                  </a:lnTo>
                  <a:lnTo>
                    <a:pt x="101000" y="24000"/>
                  </a:lnTo>
                  <a:lnTo>
                    <a:pt x="100000" y="25000"/>
                  </a:lnTo>
                  <a:lnTo>
                    <a:pt x="99000" y="25000"/>
                  </a:lnTo>
                  <a:lnTo>
                    <a:pt x="98000" y="24000"/>
                  </a:lnTo>
                  <a:lnTo>
                    <a:pt x="98000" y="8000"/>
                  </a:lnTo>
                  <a:lnTo>
                    <a:pt x="97000" y="7000"/>
                  </a:lnTo>
                  <a:lnTo>
                    <a:pt x="97000" y="4000"/>
                  </a:lnTo>
                  <a:lnTo>
                    <a:pt x="96000" y="5000"/>
                  </a:lnTo>
                  <a:lnTo>
                    <a:pt x="95000" y="4000"/>
                  </a:lnTo>
                  <a:lnTo>
                    <a:pt x="95000" y="0"/>
                  </a:lnTo>
                  <a:lnTo>
                    <a:pt x="94000" y="1000"/>
                  </a:lnTo>
                  <a:lnTo>
                    <a:pt x="94000" y="5000"/>
                  </a:lnTo>
                  <a:lnTo>
                    <a:pt x="92000" y="7000"/>
                  </a:lnTo>
                  <a:lnTo>
                    <a:pt x="91000" y="6000"/>
                  </a:lnTo>
                  <a:lnTo>
                    <a:pt x="91000" y="2000"/>
                  </a:lnTo>
                  <a:lnTo>
                    <a:pt x="90000" y="2000"/>
                  </a:lnTo>
                  <a:lnTo>
                    <a:pt x="90000" y="5000"/>
                  </a:lnTo>
                  <a:lnTo>
                    <a:pt x="89000" y="6000"/>
                  </a:lnTo>
                  <a:lnTo>
                    <a:pt x="89000" y="11000"/>
                  </a:lnTo>
                  <a:lnTo>
                    <a:pt x="87000" y="13000"/>
                  </a:lnTo>
                  <a:lnTo>
                    <a:pt x="87000" y="19000"/>
                  </a:lnTo>
                  <a:lnTo>
                    <a:pt x="86000" y="20000"/>
                  </a:lnTo>
                  <a:lnTo>
                    <a:pt x="85000" y="19000"/>
                  </a:lnTo>
                  <a:lnTo>
                    <a:pt x="85000" y="18000"/>
                  </a:lnTo>
                  <a:lnTo>
                    <a:pt x="85000" y="20000"/>
                  </a:lnTo>
                  <a:lnTo>
                    <a:pt x="84000" y="21000"/>
                  </a:lnTo>
                  <a:lnTo>
                    <a:pt x="83000" y="21000"/>
                  </a:lnTo>
                  <a:lnTo>
                    <a:pt x="82000" y="20000"/>
                  </a:lnTo>
                  <a:lnTo>
                    <a:pt x="82000" y="10000"/>
                  </a:lnTo>
                  <a:lnTo>
                    <a:pt x="81000" y="10000"/>
                  </a:lnTo>
                  <a:lnTo>
                    <a:pt x="81000" y="12000"/>
                  </a:lnTo>
                  <a:lnTo>
                    <a:pt x="80000" y="13000"/>
                  </a:lnTo>
                  <a:lnTo>
                    <a:pt x="79000" y="12000"/>
                  </a:lnTo>
                  <a:lnTo>
                    <a:pt x="79000" y="4000"/>
                  </a:lnTo>
                  <a:lnTo>
                    <a:pt x="78000" y="4000"/>
                  </a:lnTo>
                  <a:lnTo>
                    <a:pt x="78000" y="10000"/>
                  </a:lnTo>
                  <a:lnTo>
                    <a:pt x="77000" y="11000"/>
                  </a:lnTo>
                  <a:lnTo>
                    <a:pt x="76000" y="10000"/>
                  </a:lnTo>
                  <a:lnTo>
                    <a:pt x="76000" y="8000"/>
                  </a:lnTo>
                  <a:lnTo>
                    <a:pt x="75000" y="9000"/>
                  </a:lnTo>
                  <a:lnTo>
                    <a:pt x="75000" y="19000"/>
                  </a:lnTo>
                  <a:lnTo>
                    <a:pt x="74000" y="20000"/>
                  </a:lnTo>
                  <a:lnTo>
                    <a:pt x="73000" y="19000"/>
                  </a:lnTo>
                  <a:lnTo>
                    <a:pt x="73000" y="22000"/>
                  </a:lnTo>
                  <a:lnTo>
                    <a:pt x="72000" y="23000"/>
                  </a:lnTo>
                  <a:lnTo>
                    <a:pt x="71000" y="23000"/>
                  </a:lnTo>
                  <a:lnTo>
                    <a:pt x="70000" y="22000"/>
                  </a:lnTo>
                  <a:lnTo>
                    <a:pt x="70000" y="19000"/>
                  </a:lnTo>
                  <a:lnTo>
                    <a:pt x="69000" y="18000"/>
                  </a:lnTo>
                  <a:lnTo>
                    <a:pt x="69000" y="14000"/>
                  </a:lnTo>
                  <a:lnTo>
                    <a:pt x="69000" y="15000"/>
                  </a:lnTo>
                  <a:lnTo>
                    <a:pt x="68000" y="16000"/>
                  </a:lnTo>
                  <a:lnTo>
                    <a:pt x="67000" y="15000"/>
                  </a:lnTo>
                  <a:lnTo>
                    <a:pt x="67000" y="4000"/>
                  </a:lnTo>
                  <a:lnTo>
                    <a:pt x="66000" y="4000"/>
                  </a:lnTo>
                  <a:lnTo>
                    <a:pt x="66000" y="7000"/>
                  </a:lnTo>
                  <a:lnTo>
                    <a:pt x="65000" y="8000"/>
                  </a:lnTo>
                  <a:lnTo>
                    <a:pt x="64000" y="8000"/>
                  </a:lnTo>
                  <a:lnTo>
                    <a:pt x="63000" y="7000"/>
                  </a:lnTo>
                  <a:lnTo>
                    <a:pt x="63000" y="5000"/>
                  </a:lnTo>
                  <a:lnTo>
                    <a:pt x="62000" y="4000"/>
                  </a:lnTo>
                  <a:lnTo>
                    <a:pt x="62000" y="0"/>
                  </a:lnTo>
                  <a:lnTo>
                    <a:pt x="62000" y="1000"/>
                  </a:lnTo>
                  <a:lnTo>
                    <a:pt x="61000" y="2000"/>
                  </a:lnTo>
                  <a:lnTo>
                    <a:pt x="61000" y="5000"/>
                  </a:lnTo>
                  <a:lnTo>
                    <a:pt x="60000" y="6000"/>
                  </a:lnTo>
                  <a:lnTo>
                    <a:pt x="59000" y="5000"/>
                  </a:lnTo>
                  <a:lnTo>
                    <a:pt x="59000" y="13000"/>
                  </a:lnTo>
                  <a:lnTo>
                    <a:pt x="58000" y="14000"/>
                  </a:lnTo>
                  <a:lnTo>
                    <a:pt x="57000" y="14000"/>
                  </a:lnTo>
                  <a:lnTo>
                    <a:pt x="57000" y="18000"/>
                  </a:lnTo>
                  <a:lnTo>
                    <a:pt x="56000" y="19000"/>
                  </a:lnTo>
                  <a:lnTo>
                    <a:pt x="55000" y="18000"/>
                  </a:lnTo>
                  <a:lnTo>
                    <a:pt x="55000" y="17000"/>
                  </a:lnTo>
                  <a:lnTo>
                    <a:pt x="54000" y="17000"/>
                  </a:lnTo>
                  <a:lnTo>
                    <a:pt x="53000" y="16000"/>
                  </a:lnTo>
                  <a:lnTo>
                    <a:pt x="53000" y="15000"/>
                  </a:lnTo>
                  <a:lnTo>
                    <a:pt x="51000" y="13000"/>
                  </a:lnTo>
                  <a:lnTo>
                    <a:pt x="51000" y="6000"/>
                  </a:lnTo>
                  <a:lnTo>
                    <a:pt x="49000" y="4000"/>
                  </a:lnTo>
                  <a:lnTo>
                    <a:pt x="49000" y="1000"/>
                  </a:lnTo>
                  <a:lnTo>
                    <a:pt x="48000" y="0"/>
                  </a:lnTo>
                  <a:lnTo>
                    <a:pt x="48000" y="7000"/>
                  </a:lnTo>
                  <a:lnTo>
                    <a:pt x="47000" y="8000"/>
                  </a:lnTo>
                  <a:lnTo>
                    <a:pt x="45000" y="6000"/>
                  </a:lnTo>
                  <a:lnTo>
                    <a:pt x="45000" y="4000"/>
                  </a:lnTo>
                  <a:lnTo>
                    <a:pt x="44000" y="3000"/>
                  </a:lnTo>
                  <a:lnTo>
                    <a:pt x="44000" y="14000"/>
                  </a:lnTo>
                  <a:lnTo>
                    <a:pt x="43000" y="15000"/>
                  </a:lnTo>
                  <a:lnTo>
                    <a:pt x="42000" y="14000"/>
                  </a:lnTo>
                  <a:lnTo>
                    <a:pt x="42000" y="21000"/>
                  </a:lnTo>
                  <a:lnTo>
                    <a:pt x="40000" y="23000"/>
                  </a:lnTo>
                  <a:lnTo>
                    <a:pt x="39000" y="22000"/>
                  </a:lnTo>
                  <a:lnTo>
                    <a:pt x="39000" y="19000"/>
                  </a:lnTo>
                  <a:lnTo>
                    <a:pt x="38000" y="19000"/>
                  </a:lnTo>
                  <a:lnTo>
                    <a:pt x="37000" y="18000"/>
                  </a:lnTo>
                  <a:lnTo>
                    <a:pt x="37000" y="8000"/>
                  </a:lnTo>
                  <a:lnTo>
                    <a:pt x="36000" y="9000"/>
                  </a:lnTo>
                  <a:lnTo>
                    <a:pt x="35000" y="8000"/>
                  </a:lnTo>
                  <a:lnTo>
                    <a:pt x="35000" y="5000"/>
                  </a:lnTo>
                  <a:lnTo>
                    <a:pt x="34000" y="4000"/>
                  </a:lnTo>
                  <a:lnTo>
                    <a:pt x="34000" y="3000"/>
                  </a:lnTo>
                  <a:lnTo>
                    <a:pt x="34000" y="8000"/>
                  </a:lnTo>
                  <a:lnTo>
                    <a:pt x="32000" y="10000"/>
                  </a:lnTo>
                  <a:lnTo>
                    <a:pt x="31000" y="10000"/>
                  </a:lnTo>
                  <a:lnTo>
                    <a:pt x="31000" y="20000"/>
                  </a:lnTo>
                  <a:lnTo>
                    <a:pt x="30000" y="21000"/>
                  </a:lnTo>
                  <a:lnTo>
                    <a:pt x="29000" y="20000"/>
                  </a:lnTo>
                  <a:lnTo>
                    <a:pt x="29000" y="18000"/>
                  </a:lnTo>
                  <a:lnTo>
                    <a:pt x="28000" y="19000"/>
                  </a:lnTo>
                  <a:lnTo>
                    <a:pt x="27000" y="18000"/>
                  </a:lnTo>
                  <a:lnTo>
                    <a:pt x="27000" y="13000"/>
                  </a:lnTo>
                  <a:lnTo>
                    <a:pt x="25000" y="11000"/>
                  </a:lnTo>
                  <a:lnTo>
                    <a:pt x="25000" y="2000"/>
                  </a:lnTo>
                  <a:lnTo>
                    <a:pt x="24000" y="1000"/>
                  </a:lnTo>
                  <a:lnTo>
                    <a:pt x="24000" y="5000"/>
                  </a:lnTo>
                  <a:lnTo>
                    <a:pt x="23000" y="6000"/>
                  </a:lnTo>
                  <a:lnTo>
                    <a:pt x="21000" y="4000"/>
                  </a:lnTo>
                  <a:lnTo>
                    <a:pt x="21000" y="1000"/>
                  </a:lnTo>
                  <a:lnTo>
                    <a:pt x="20000" y="0"/>
                  </a:lnTo>
                  <a:lnTo>
                    <a:pt x="20000" y="3000"/>
                  </a:lnTo>
                  <a:lnTo>
                    <a:pt x="19000" y="4000"/>
                  </a:lnTo>
                  <a:lnTo>
                    <a:pt x="18000" y="4000"/>
                  </a:lnTo>
                  <a:lnTo>
                    <a:pt x="18000" y="22000"/>
                  </a:lnTo>
                  <a:lnTo>
                    <a:pt x="16000" y="25000"/>
                  </a:lnTo>
                  <a:lnTo>
                    <a:pt x="15000" y="24000"/>
                  </a:lnTo>
                  <a:lnTo>
                    <a:pt x="15000" y="23000"/>
                  </a:lnTo>
                  <a:lnTo>
                    <a:pt x="13000" y="20000"/>
                  </a:lnTo>
                  <a:lnTo>
                    <a:pt x="13000" y="18000"/>
                  </a:lnTo>
                  <a:lnTo>
                    <a:pt x="12000" y="17000"/>
                  </a:lnTo>
                  <a:lnTo>
                    <a:pt x="12000" y="7000"/>
                  </a:lnTo>
                  <a:lnTo>
                    <a:pt x="10000" y="4000"/>
                  </a:lnTo>
                  <a:lnTo>
                    <a:pt x="10000" y="1000"/>
                  </a:lnTo>
                  <a:lnTo>
                    <a:pt x="9000" y="1000"/>
                  </a:lnTo>
                  <a:lnTo>
                    <a:pt x="9000" y="7000"/>
                  </a:lnTo>
                  <a:lnTo>
                    <a:pt x="8000" y="8000"/>
                  </a:lnTo>
                  <a:lnTo>
                    <a:pt x="8000" y="17000"/>
                  </a:lnTo>
                  <a:lnTo>
                    <a:pt x="7000" y="18000"/>
                  </a:lnTo>
                  <a:lnTo>
                    <a:pt x="5000" y="18000"/>
                  </a:lnTo>
                  <a:lnTo>
                    <a:pt x="4000" y="17000"/>
                  </a:lnTo>
                  <a:lnTo>
                    <a:pt x="4000" y="12000"/>
                  </a:lnTo>
                  <a:lnTo>
                    <a:pt x="2000" y="9000"/>
                  </a:lnTo>
                  <a:lnTo>
                    <a:pt x="2000" y="0"/>
                  </a:lnTo>
                  <a:lnTo>
                    <a:pt x="1000" y="0"/>
                  </a:lnTo>
                  <a:lnTo>
                    <a:pt x="1000" y="5000"/>
                  </a:lnTo>
                  <a:close/>
                </a:path>
              </a:pathLst>
            </a:custGeom>
            <a:solidFill>
              <a:srgbClr val="405369"/>
            </a:solidFill>
            <a:ln w="6667" cap="rnd">
              <a:solidFill>
                <a:srgbClr val="40536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2409825" y="2295525"/>
              <a:ext cx="1924050" cy="390525"/>
            </a:xfrm>
            <a:prstGeom prst="rect">
              <a:avLst/>
            </a:prstGeom>
            <a:solidFill>
              <a:srgbClr val="FFFFFF"/>
            </a:solidFill>
            <a:ln w="10001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2438400" y="2338388"/>
              <a:ext cx="1857375" cy="295275"/>
            </a:xfrm>
            <a:custGeom>
              <a:avLst/>
              <a:gdLst/>
              <a:ahLst/>
              <a:cxnLst/>
              <a:rect l="0" t="0" r="r" b="b"/>
              <a:pathLst>
                <a:path w="195000" h="31000" fill="none">
                  <a:moveTo>
                    <a:pt x="0" y="11000"/>
                  </a:moveTo>
                  <a:lnTo>
                    <a:pt x="1000" y="9000"/>
                  </a:lnTo>
                  <a:lnTo>
                    <a:pt x="2000" y="5000"/>
                  </a:lnTo>
                  <a:lnTo>
                    <a:pt x="3000" y="2000"/>
                  </a:lnTo>
                  <a:lnTo>
                    <a:pt x="4000" y="0"/>
                  </a:lnTo>
                  <a:lnTo>
                    <a:pt x="5000" y="500"/>
                  </a:lnTo>
                  <a:lnTo>
                    <a:pt x="6000" y="4000"/>
                  </a:lnTo>
                  <a:lnTo>
                    <a:pt x="7000" y="10000"/>
                  </a:lnTo>
                  <a:lnTo>
                    <a:pt x="8000" y="16000"/>
                  </a:lnTo>
                  <a:lnTo>
                    <a:pt x="9000" y="20000"/>
                  </a:lnTo>
                  <a:lnTo>
                    <a:pt x="10000" y="17000"/>
                  </a:lnTo>
                  <a:lnTo>
                    <a:pt x="11000" y="13500"/>
                  </a:lnTo>
                  <a:lnTo>
                    <a:pt x="12000" y="14500"/>
                  </a:lnTo>
                  <a:lnTo>
                    <a:pt x="13000" y="18500"/>
                  </a:lnTo>
                  <a:lnTo>
                    <a:pt x="14000" y="21500"/>
                  </a:lnTo>
                  <a:lnTo>
                    <a:pt x="15000" y="20000"/>
                  </a:lnTo>
                  <a:lnTo>
                    <a:pt x="16000" y="19000"/>
                  </a:lnTo>
                  <a:lnTo>
                    <a:pt x="17000" y="22000"/>
                  </a:lnTo>
                  <a:lnTo>
                    <a:pt x="18000" y="25500"/>
                  </a:lnTo>
                  <a:lnTo>
                    <a:pt x="19000" y="28000"/>
                  </a:lnTo>
                  <a:lnTo>
                    <a:pt x="20000" y="26500"/>
                  </a:lnTo>
                  <a:lnTo>
                    <a:pt x="21000" y="23000"/>
                  </a:lnTo>
                  <a:lnTo>
                    <a:pt x="22000" y="20000"/>
                  </a:lnTo>
                  <a:lnTo>
                    <a:pt x="23000" y="21000"/>
                  </a:lnTo>
                  <a:lnTo>
                    <a:pt x="24000" y="26000"/>
                  </a:lnTo>
                  <a:lnTo>
                    <a:pt x="25000" y="30500"/>
                  </a:lnTo>
                  <a:lnTo>
                    <a:pt x="26000" y="30000"/>
                  </a:lnTo>
                  <a:lnTo>
                    <a:pt x="27000" y="24500"/>
                  </a:lnTo>
                  <a:lnTo>
                    <a:pt x="28000" y="16500"/>
                  </a:lnTo>
                  <a:lnTo>
                    <a:pt x="29000" y="10500"/>
                  </a:lnTo>
                  <a:lnTo>
                    <a:pt x="30000" y="13000"/>
                  </a:lnTo>
                  <a:lnTo>
                    <a:pt x="31000" y="18500"/>
                  </a:lnTo>
                  <a:lnTo>
                    <a:pt x="32000" y="16500"/>
                  </a:lnTo>
                  <a:lnTo>
                    <a:pt x="33000" y="8500"/>
                  </a:lnTo>
                  <a:lnTo>
                    <a:pt x="34000" y="2000"/>
                  </a:lnTo>
                  <a:lnTo>
                    <a:pt x="35000" y="4500"/>
                  </a:lnTo>
                  <a:lnTo>
                    <a:pt x="36000" y="9500"/>
                  </a:lnTo>
                  <a:lnTo>
                    <a:pt x="37000" y="14500"/>
                  </a:lnTo>
                  <a:lnTo>
                    <a:pt x="38000" y="13500"/>
                  </a:lnTo>
                  <a:lnTo>
                    <a:pt x="39000" y="11000"/>
                  </a:lnTo>
                  <a:lnTo>
                    <a:pt x="40000" y="9500"/>
                  </a:lnTo>
                  <a:lnTo>
                    <a:pt x="41000" y="14500"/>
                  </a:lnTo>
                  <a:lnTo>
                    <a:pt x="42000" y="20000"/>
                  </a:lnTo>
                  <a:lnTo>
                    <a:pt x="43000" y="23500"/>
                  </a:lnTo>
                  <a:lnTo>
                    <a:pt x="44000" y="23000"/>
                  </a:lnTo>
                  <a:lnTo>
                    <a:pt x="45000" y="20500"/>
                  </a:lnTo>
                  <a:lnTo>
                    <a:pt x="46000" y="19500"/>
                  </a:lnTo>
                  <a:lnTo>
                    <a:pt x="47000" y="22000"/>
                  </a:lnTo>
                  <a:lnTo>
                    <a:pt x="48000" y="24000"/>
                  </a:lnTo>
                  <a:lnTo>
                    <a:pt x="49000" y="26500"/>
                  </a:lnTo>
                  <a:lnTo>
                    <a:pt x="50000" y="26500"/>
                  </a:lnTo>
                  <a:lnTo>
                    <a:pt x="51000" y="24500"/>
                  </a:lnTo>
                  <a:lnTo>
                    <a:pt x="52000" y="23000"/>
                  </a:lnTo>
                  <a:lnTo>
                    <a:pt x="53000" y="24000"/>
                  </a:lnTo>
                  <a:lnTo>
                    <a:pt x="54000" y="25500"/>
                  </a:lnTo>
                  <a:lnTo>
                    <a:pt x="55000" y="27000"/>
                  </a:lnTo>
                  <a:lnTo>
                    <a:pt x="56000" y="28000"/>
                  </a:lnTo>
                  <a:lnTo>
                    <a:pt x="57000" y="27500"/>
                  </a:lnTo>
                  <a:lnTo>
                    <a:pt x="58000" y="25500"/>
                  </a:lnTo>
                  <a:lnTo>
                    <a:pt x="59000" y="25500"/>
                  </a:lnTo>
                  <a:lnTo>
                    <a:pt x="60000" y="28000"/>
                  </a:lnTo>
                  <a:lnTo>
                    <a:pt x="61000" y="29500"/>
                  </a:lnTo>
                  <a:lnTo>
                    <a:pt x="62000" y="27500"/>
                  </a:lnTo>
                  <a:lnTo>
                    <a:pt x="63000" y="19500"/>
                  </a:lnTo>
                  <a:lnTo>
                    <a:pt x="64000" y="11000"/>
                  </a:lnTo>
                  <a:lnTo>
                    <a:pt x="65000" y="5000"/>
                  </a:lnTo>
                  <a:lnTo>
                    <a:pt x="66000" y="6000"/>
                  </a:lnTo>
                  <a:lnTo>
                    <a:pt x="67000" y="9500"/>
                  </a:lnTo>
                  <a:lnTo>
                    <a:pt x="68000" y="13500"/>
                  </a:lnTo>
                  <a:lnTo>
                    <a:pt x="69000" y="15500"/>
                  </a:lnTo>
                  <a:lnTo>
                    <a:pt x="70000" y="12500"/>
                  </a:lnTo>
                  <a:lnTo>
                    <a:pt x="71000" y="6500"/>
                  </a:lnTo>
                  <a:lnTo>
                    <a:pt x="72000" y="1500"/>
                  </a:lnTo>
                  <a:lnTo>
                    <a:pt x="73000" y="3500"/>
                  </a:lnTo>
                  <a:lnTo>
                    <a:pt x="74000" y="7500"/>
                  </a:lnTo>
                  <a:lnTo>
                    <a:pt x="75000" y="12000"/>
                  </a:lnTo>
                  <a:lnTo>
                    <a:pt x="76000" y="12500"/>
                  </a:lnTo>
                  <a:lnTo>
                    <a:pt x="77000" y="9500"/>
                  </a:lnTo>
                  <a:lnTo>
                    <a:pt x="78000" y="6500"/>
                  </a:lnTo>
                  <a:lnTo>
                    <a:pt x="79000" y="8000"/>
                  </a:lnTo>
                  <a:lnTo>
                    <a:pt x="80000" y="11000"/>
                  </a:lnTo>
                  <a:lnTo>
                    <a:pt x="81000" y="13500"/>
                  </a:lnTo>
                  <a:lnTo>
                    <a:pt x="82000" y="15000"/>
                  </a:lnTo>
                  <a:lnTo>
                    <a:pt x="83000" y="12500"/>
                  </a:lnTo>
                  <a:lnTo>
                    <a:pt x="84000" y="8000"/>
                  </a:lnTo>
                  <a:lnTo>
                    <a:pt x="85000" y="3500"/>
                  </a:lnTo>
                  <a:lnTo>
                    <a:pt x="86000" y="2000"/>
                  </a:lnTo>
                  <a:lnTo>
                    <a:pt x="87000" y="5000"/>
                  </a:lnTo>
                  <a:lnTo>
                    <a:pt x="88000" y="10500"/>
                  </a:lnTo>
                  <a:lnTo>
                    <a:pt x="89000" y="16000"/>
                  </a:lnTo>
                  <a:lnTo>
                    <a:pt x="90000" y="22500"/>
                  </a:lnTo>
                  <a:lnTo>
                    <a:pt x="91000" y="27000"/>
                  </a:lnTo>
                  <a:lnTo>
                    <a:pt x="92000" y="22500"/>
                  </a:lnTo>
                  <a:lnTo>
                    <a:pt x="93000" y="17500"/>
                  </a:lnTo>
                  <a:lnTo>
                    <a:pt x="94000" y="13000"/>
                  </a:lnTo>
                  <a:lnTo>
                    <a:pt x="95000" y="15500"/>
                  </a:lnTo>
                  <a:lnTo>
                    <a:pt x="96000" y="19000"/>
                  </a:lnTo>
                  <a:lnTo>
                    <a:pt x="97000" y="23000"/>
                  </a:lnTo>
                  <a:lnTo>
                    <a:pt x="98000" y="26500"/>
                  </a:lnTo>
                  <a:lnTo>
                    <a:pt x="99000" y="28500"/>
                  </a:lnTo>
                  <a:lnTo>
                    <a:pt x="100000" y="26000"/>
                  </a:lnTo>
                  <a:lnTo>
                    <a:pt x="101000" y="23000"/>
                  </a:lnTo>
                  <a:lnTo>
                    <a:pt x="102000" y="21500"/>
                  </a:lnTo>
                  <a:lnTo>
                    <a:pt x="103000" y="25500"/>
                  </a:lnTo>
                  <a:lnTo>
                    <a:pt x="104000" y="30000"/>
                  </a:lnTo>
                  <a:lnTo>
                    <a:pt x="105000" y="30500"/>
                  </a:lnTo>
                  <a:lnTo>
                    <a:pt x="106000" y="26500"/>
                  </a:lnTo>
                  <a:lnTo>
                    <a:pt x="107000" y="22500"/>
                  </a:lnTo>
                  <a:lnTo>
                    <a:pt x="108000" y="21500"/>
                  </a:lnTo>
                  <a:lnTo>
                    <a:pt x="109000" y="23500"/>
                  </a:lnTo>
                  <a:lnTo>
                    <a:pt x="110000" y="25500"/>
                  </a:lnTo>
                  <a:lnTo>
                    <a:pt x="111000" y="21500"/>
                  </a:lnTo>
                  <a:lnTo>
                    <a:pt x="112000" y="16500"/>
                  </a:lnTo>
                  <a:lnTo>
                    <a:pt x="113000" y="10500"/>
                  </a:lnTo>
                  <a:lnTo>
                    <a:pt x="114000" y="13000"/>
                  </a:lnTo>
                  <a:lnTo>
                    <a:pt x="115000" y="17000"/>
                  </a:lnTo>
                  <a:lnTo>
                    <a:pt x="116000" y="20000"/>
                  </a:lnTo>
                  <a:lnTo>
                    <a:pt x="117000" y="22500"/>
                  </a:lnTo>
                  <a:lnTo>
                    <a:pt x="118000" y="20500"/>
                  </a:lnTo>
                  <a:lnTo>
                    <a:pt x="119000" y="15500"/>
                  </a:lnTo>
                  <a:lnTo>
                    <a:pt x="120000" y="9500"/>
                  </a:lnTo>
                  <a:lnTo>
                    <a:pt x="121000" y="5000"/>
                  </a:lnTo>
                  <a:lnTo>
                    <a:pt x="122000" y="5000"/>
                  </a:lnTo>
                  <a:lnTo>
                    <a:pt x="123000" y="8500"/>
                  </a:lnTo>
                  <a:lnTo>
                    <a:pt x="124000" y="13000"/>
                  </a:lnTo>
                  <a:lnTo>
                    <a:pt x="125000" y="17500"/>
                  </a:lnTo>
                  <a:lnTo>
                    <a:pt x="126000" y="20500"/>
                  </a:lnTo>
                  <a:lnTo>
                    <a:pt x="127000" y="19500"/>
                  </a:lnTo>
                  <a:lnTo>
                    <a:pt x="128000" y="15000"/>
                  </a:lnTo>
                  <a:lnTo>
                    <a:pt x="129000" y="11000"/>
                  </a:lnTo>
                  <a:lnTo>
                    <a:pt x="130000" y="8500"/>
                  </a:lnTo>
                  <a:lnTo>
                    <a:pt x="131000" y="11500"/>
                  </a:lnTo>
                  <a:lnTo>
                    <a:pt x="132000" y="17000"/>
                  </a:lnTo>
                  <a:lnTo>
                    <a:pt x="133000" y="22500"/>
                  </a:lnTo>
                  <a:lnTo>
                    <a:pt x="134000" y="27500"/>
                  </a:lnTo>
                  <a:lnTo>
                    <a:pt x="135000" y="28500"/>
                  </a:lnTo>
                  <a:lnTo>
                    <a:pt x="136000" y="26000"/>
                  </a:lnTo>
                  <a:lnTo>
                    <a:pt x="137000" y="23000"/>
                  </a:lnTo>
                  <a:lnTo>
                    <a:pt x="138000" y="19500"/>
                  </a:lnTo>
                  <a:lnTo>
                    <a:pt x="139000" y="22500"/>
                  </a:lnTo>
                  <a:lnTo>
                    <a:pt x="140000" y="26500"/>
                  </a:lnTo>
                  <a:lnTo>
                    <a:pt x="141000" y="31000"/>
                  </a:lnTo>
                  <a:lnTo>
                    <a:pt x="142000" y="31000"/>
                  </a:lnTo>
                  <a:lnTo>
                    <a:pt x="143000" y="28500"/>
                  </a:lnTo>
                  <a:lnTo>
                    <a:pt x="144000" y="25000"/>
                  </a:lnTo>
                  <a:lnTo>
                    <a:pt x="145000" y="23000"/>
                  </a:lnTo>
                  <a:lnTo>
                    <a:pt x="146000" y="24500"/>
                  </a:lnTo>
                  <a:lnTo>
                    <a:pt x="147000" y="27500"/>
                  </a:lnTo>
                  <a:lnTo>
                    <a:pt x="148000" y="28000"/>
                  </a:lnTo>
                  <a:lnTo>
                    <a:pt x="149000" y="24000"/>
                  </a:lnTo>
                  <a:lnTo>
                    <a:pt x="150000" y="18000"/>
                  </a:lnTo>
                  <a:lnTo>
                    <a:pt x="151000" y="15500"/>
                  </a:lnTo>
                  <a:lnTo>
                    <a:pt x="152000" y="18500"/>
                  </a:lnTo>
                  <a:lnTo>
                    <a:pt x="153000" y="22500"/>
                  </a:lnTo>
                  <a:lnTo>
                    <a:pt x="154000" y="26000"/>
                  </a:lnTo>
                  <a:lnTo>
                    <a:pt x="155000" y="25500"/>
                  </a:lnTo>
                  <a:lnTo>
                    <a:pt x="156000" y="20000"/>
                  </a:lnTo>
                  <a:lnTo>
                    <a:pt x="157000" y="12500"/>
                  </a:lnTo>
                  <a:lnTo>
                    <a:pt x="158000" y="6500"/>
                  </a:lnTo>
                  <a:lnTo>
                    <a:pt x="159000" y="4000"/>
                  </a:lnTo>
                  <a:lnTo>
                    <a:pt x="160000" y="8500"/>
                  </a:lnTo>
                  <a:lnTo>
                    <a:pt x="161000" y="14000"/>
                  </a:lnTo>
                  <a:lnTo>
                    <a:pt x="162000" y="19000"/>
                  </a:lnTo>
                  <a:lnTo>
                    <a:pt x="163000" y="18000"/>
                  </a:lnTo>
                  <a:lnTo>
                    <a:pt x="164000" y="13000"/>
                  </a:lnTo>
                  <a:lnTo>
                    <a:pt x="165000" y="8500"/>
                  </a:lnTo>
                  <a:lnTo>
                    <a:pt x="166000" y="10500"/>
                  </a:lnTo>
                  <a:lnTo>
                    <a:pt x="167000" y="14500"/>
                  </a:lnTo>
                  <a:lnTo>
                    <a:pt x="168000" y="17500"/>
                  </a:lnTo>
                  <a:lnTo>
                    <a:pt x="169000" y="19500"/>
                  </a:lnTo>
                  <a:lnTo>
                    <a:pt x="170000" y="14000"/>
                  </a:lnTo>
                  <a:lnTo>
                    <a:pt x="171000" y="7000"/>
                  </a:lnTo>
                  <a:lnTo>
                    <a:pt x="172000" y="1500"/>
                  </a:lnTo>
                  <a:lnTo>
                    <a:pt x="173000" y="3000"/>
                  </a:lnTo>
                  <a:lnTo>
                    <a:pt x="174000" y="7000"/>
                  </a:lnTo>
                  <a:lnTo>
                    <a:pt x="175000" y="12000"/>
                  </a:lnTo>
                  <a:lnTo>
                    <a:pt x="176000" y="17000"/>
                  </a:lnTo>
                  <a:lnTo>
                    <a:pt x="177000" y="19500"/>
                  </a:lnTo>
                  <a:lnTo>
                    <a:pt x="178000" y="16500"/>
                  </a:lnTo>
                  <a:lnTo>
                    <a:pt x="179000" y="11000"/>
                  </a:lnTo>
                  <a:lnTo>
                    <a:pt x="180000" y="6500"/>
                  </a:lnTo>
                  <a:lnTo>
                    <a:pt x="181000" y="10500"/>
                  </a:lnTo>
                  <a:lnTo>
                    <a:pt x="182000" y="19000"/>
                  </a:lnTo>
                  <a:lnTo>
                    <a:pt x="183000" y="26000"/>
                  </a:lnTo>
                  <a:lnTo>
                    <a:pt x="184000" y="24500"/>
                  </a:lnTo>
                  <a:lnTo>
                    <a:pt x="185000" y="19000"/>
                  </a:lnTo>
                  <a:lnTo>
                    <a:pt x="186000" y="14500"/>
                  </a:lnTo>
                  <a:lnTo>
                    <a:pt x="187000" y="15000"/>
                  </a:lnTo>
                  <a:lnTo>
                    <a:pt x="188000" y="17500"/>
                  </a:lnTo>
                  <a:lnTo>
                    <a:pt x="189000" y="21000"/>
                  </a:lnTo>
                  <a:lnTo>
                    <a:pt x="190000" y="24500"/>
                  </a:lnTo>
                  <a:lnTo>
                    <a:pt x="191000" y="26500"/>
                  </a:lnTo>
                  <a:lnTo>
                    <a:pt x="192000" y="25500"/>
                  </a:lnTo>
                  <a:lnTo>
                    <a:pt x="193000" y="21500"/>
                  </a:lnTo>
                  <a:lnTo>
                    <a:pt x="194000" y="18500"/>
                  </a:lnTo>
                  <a:lnTo>
                    <a:pt x="195000" y="20000"/>
                  </a:lnTo>
                </a:path>
              </a:pathLst>
            </a:custGeom>
            <a:noFill/>
            <a:ln w="9525" cap="rnd">
              <a:solidFill>
                <a:srgbClr val="40536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4410075" y="2295525"/>
              <a:ext cx="1924050" cy="390525"/>
            </a:xfrm>
            <a:prstGeom prst="rect">
              <a:avLst/>
            </a:prstGeom>
            <a:solidFill>
              <a:srgbClr val="FFFFFF"/>
            </a:solidFill>
            <a:ln w="10001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4438650" y="2386012"/>
              <a:ext cx="1857375" cy="209550"/>
            </a:xfrm>
            <a:custGeom>
              <a:avLst/>
              <a:gdLst/>
              <a:ahLst/>
              <a:cxnLst/>
              <a:rect l="0" t="0" r="r" b="b"/>
              <a:pathLst>
                <a:path w="195000" h="22000" fill="none">
                  <a:moveTo>
                    <a:pt x="0" y="7500"/>
                  </a:moveTo>
                  <a:lnTo>
                    <a:pt x="1000" y="7000"/>
                  </a:lnTo>
                  <a:lnTo>
                    <a:pt x="2000" y="5500"/>
                  </a:lnTo>
                  <a:lnTo>
                    <a:pt x="3000" y="4500"/>
                  </a:lnTo>
                  <a:lnTo>
                    <a:pt x="4000" y="3500"/>
                  </a:lnTo>
                  <a:lnTo>
                    <a:pt x="5000" y="2500"/>
                  </a:lnTo>
                  <a:lnTo>
                    <a:pt x="6000" y="1500"/>
                  </a:lnTo>
                  <a:lnTo>
                    <a:pt x="7000" y="1000"/>
                  </a:lnTo>
                  <a:lnTo>
                    <a:pt x="8000" y="0"/>
                  </a:lnTo>
                  <a:lnTo>
                    <a:pt x="9000" y="0"/>
                  </a:lnTo>
                  <a:lnTo>
                    <a:pt x="10000" y="0"/>
                  </a:lnTo>
                  <a:lnTo>
                    <a:pt x="11000" y="1500"/>
                  </a:lnTo>
                  <a:lnTo>
                    <a:pt x="12000" y="3000"/>
                  </a:lnTo>
                  <a:lnTo>
                    <a:pt x="13000" y="4500"/>
                  </a:lnTo>
                  <a:lnTo>
                    <a:pt x="14000" y="6500"/>
                  </a:lnTo>
                  <a:lnTo>
                    <a:pt x="15000" y="9000"/>
                  </a:lnTo>
                  <a:lnTo>
                    <a:pt x="16000" y="11000"/>
                  </a:lnTo>
                  <a:lnTo>
                    <a:pt x="17000" y="13000"/>
                  </a:lnTo>
                  <a:lnTo>
                    <a:pt x="18000" y="14000"/>
                  </a:lnTo>
                  <a:lnTo>
                    <a:pt x="19000" y="14000"/>
                  </a:lnTo>
                  <a:lnTo>
                    <a:pt x="20000" y="13000"/>
                  </a:lnTo>
                  <a:lnTo>
                    <a:pt x="21000" y="11500"/>
                  </a:lnTo>
                  <a:lnTo>
                    <a:pt x="22000" y="10000"/>
                  </a:lnTo>
                  <a:lnTo>
                    <a:pt x="23000" y="9000"/>
                  </a:lnTo>
                  <a:lnTo>
                    <a:pt x="24000" y="9000"/>
                  </a:lnTo>
                  <a:lnTo>
                    <a:pt x="25000" y="10000"/>
                  </a:lnTo>
                  <a:lnTo>
                    <a:pt x="26000" y="11500"/>
                  </a:lnTo>
                  <a:lnTo>
                    <a:pt x="27000" y="13000"/>
                  </a:lnTo>
                  <a:lnTo>
                    <a:pt x="28000" y="14500"/>
                  </a:lnTo>
                  <a:lnTo>
                    <a:pt x="29000" y="15500"/>
                  </a:lnTo>
                  <a:lnTo>
                    <a:pt x="30000" y="15000"/>
                  </a:lnTo>
                  <a:lnTo>
                    <a:pt x="31000" y="14000"/>
                  </a:lnTo>
                  <a:lnTo>
                    <a:pt x="32000" y="13000"/>
                  </a:lnTo>
                  <a:lnTo>
                    <a:pt x="33000" y="13000"/>
                  </a:lnTo>
                  <a:lnTo>
                    <a:pt x="34000" y="13500"/>
                  </a:lnTo>
                  <a:lnTo>
                    <a:pt x="35000" y="15000"/>
                  </a:lnTo>
                  <a:lnTo>
                    <a:pt x="36000" y="16000"/>
                  </a:lnTo>
                  <a:lnTo>
                    <a:pt x="37000" y="17500"/>
                  </a:lnTo>
                  <a:lnTo>
                    <a:pt x="38000" y="18500"/>
                  </a:lnTo>
                  <a:lnTo>
                    <a:pt x="39000" y="19000"/>
                  </a:lnTo>
                  <a:lnTo>
                    <a:pt x="40000" y="20000"/>
                  </a:lnTo>
                  <a:lnTo>
                    <a:pt x="41000" y="20000"/>
                  </a:lnTo>
                  <a:lnTo>
                    <a:pt x="42000" y="18500"/>
                  </a:lnTo>
                  <a:lnTo>
                    <a:pt x="43000" y="17000"/>
                  </a:lnTo>
                  <a:lnTo>
                    <a:pt x="44000" y="16000"/>
                  </a:lnTo>
                  <a:lnTo>
                    <a:pt x="45000" y="14500"/>
                  </a:lnTo>
                  <a:lnTo>
                    <a:pt x="46000" y="13500"/>
                  </a:lnTo>
                  <a:lnTo>
                    <a:pt x="47000" y="13000"/>
                  </a:lnTo>
                  <a:lnTo>
                    <a:pt x="48000" y="14000"/>
                  </a:lnTo>
                  <a:lnTo>
                    <a:pt x="49000" y="15500"/>
                  </a:lnTo>
                  <a:lnTo>
                    <a:pt x="50000" y="17500"/>
                  </a:lnTo>
                  <a:lnTo>
                    <a:pt x="51000" y="19500"/>
                  </a:lnTo>
                  <a:lnTo>
                    <a:pt x="52000" y="21000"/>
                  </a:lnTo>
                  <a:lnTo>
                    <a:pt x="53000" y="22000"/>
                  </a:lnTo>
                  <a:lnTo>
                    <a:pt x="54000" y="22000"/>
                  </a:lnTo>
                  <a:lnTo>
                    <a:pt x="55000" y="21000"/>
                  </a:lnTo>
                  <a:lnTo>
                    <a:pt x="56000" y="19000"/>
                  </a:lnTo>
                  <a:lnTo>
                    <a:pt x="57000" y="16500"/>
                  </a:lnTo>
                  <a:lnTo>
                    <a:pt x="58000" y="13500"/>
                  </a:lnTo>
                  <a:lnTo>
                    <a:pt x="59000" y="10500"/>
                  </a:lnTo>
                  <a:lnTo>
                    <a:pt x="60000" y="8500"/>
                  </a:lnTo>
                  <a:lnTo>
                    <a:pt x="61000" y="7000"/>
                  </a:lnTo>
                  <a:lnTo>
                    <a:pt x="62000" y="7000"/>
                  </a:lnTo>
                  <a:lnTo>
                    <a:pt x="63000" y="9000"/>
                  </a:lnTo>
                  <a:lnTo>
                    <a:pt x="64000" y="11000"/>
                  </a:lnTo>
                  <a:lnTo>
                    <a:pt x="65000" y="13000"/>
                  </a:lnTo>
                  <a:lnTo>
                    <a:pt x="66000" y="14500"/>
                  </a:lnTo>
                  <a:lnTo>
                    <a:pt x="67000" y="13000"/>
                  </a:lnTo>
                  <a:lnTo>
                    <a:pt x="68000" y="10500"/>
                  </a:lnTo>
                  <a:lnTo>
                    <a:pt x="69000" y="7000"/>
                  </a:lnTo>
                  <a:lnTo>
                    <a:pt x="70000" y="4500"/>
                  </a:lnTo>
                  <a:lnTo>
                    <a:pt x="71000" y="2000"/>
                  </a:lnTo>
                  <a:lnTo>
                    <a:pt x="72000" y="1000"/>
                  </a:lnTo>
                  <a:lnTo>
                    <a:pt x="73000" y="2000"/>
                  </a:lnTo>
                  <a:lnTo>
                    <a:pt x="74000" y="3000"/>
                  </a:lnTo>
                  <a:lnTo>
                    <a:pt x="75000" y="5000"/>
                  </a:lnTo>
                  <a:lnTo>
                    <a:pt x="76000" y="6500"/>
                  </a:lnTo>
                  <a:lnTo>
                    <a:pt x="77000" y="8500"/>
                  </a:lnTo>
                  <a:lnTo>
                    <a:pt x="78000" y="10500"/>
                  </a:lnTo>
                  <a:lnTo>
                    <a:pt x="79000" y="11500"/>
                  </a:lnTo>
                  <a:lnTo>
                    <a:pt x="80000" y="11000"/>
                  </a:lnTo>
                  <a:lnTo>
                    <a:pt x="81000" y="9000"/>
                  </a:lnTo>
                  <a:lnTo>
                    <a:pt x="82000" y="7500"/>
                  </a:lnTo>
                  <a:lnTo>
                    <a:pt x="83000" y="5500"/>
                  </a:lnTo>
                  <a:lnTo>
                    <a:pt x="84000" y="6000"/>
                  </a:lnTo>
                  <a:lnTo>
                    <a:pt x="85000" y="7500"/>
                  </a:lnTo>
                  <a:lnTo>
                    <a:pt x="86000" y="9500"/>
                  </a:lnTo>
                  <a:lnTo>
                    <a:pt x="87000" y="11000"/>
                  </a:lnTo>
                  <a:lnTo>
                    <a:pt x="88000" y="12500"/>
                  </a:lnTo>
                  <a:lnTo>
                    <a:pt x="89000" y="14500"/>
                  </a:lnTo>
                  <a:lnTo>
                    <a:pt x="90000" y="16000"/>
                  </a:lnTo>
                  <a:lnTo>
                    <a:pt x="91000" y="17000"/>
                  </a:lnTo>
                  <a:lnTo>
                    <a:pt x="92000" y="17000"/>
                  </a:lnTo>
                  <a:lnTo>
                    <a:pt x="93000" y="16000"/>
                  </a:lnTo>
                  <a:lnTo>
                    <a:pt x="94000" y="15000"/>
                  </a:lnTo>
                  <a:lnTo>
                    <a:pt x="95000" y="14000"/>
                  </a:lnTo>
                  <a:lnTo>
                    <a:pt x="96000" y="13000"/>
                  </a:lnTo>
                  <a:lnTo>
                    <a:pt x="97000" y="13500"/>
                  </a:lnTo>
                  <a:lnTo>
                    <a:pt x="98000" y="14000"/>
                  </a:lnTo>
                  <a:lnTo>
                    <a:pt x="99000" y="14500"/>
                  </a:lnTo>
                  <a:lnTo>
                    <a:pt x="100000" y="15500"/>
                  </a:lnTo>
                  <a:lnTo>
                    <a:pt x="101000" y="16500"/>
                  </a:lnTo>
                  <a:lnTo>
                    <a:pt x="102000" y="17500"/>
                  </a:lnTo>
                  <a:lnTo>
                    <a:pt x="103000" y="18000"/>
                  </a:lnTo>
                  <a:lnTo>
                    <a:pt x="104000" y="18500"/>
                  </a:lnTo>
                  <a:lnTo>
                    <a:pt x="105000" y="19000"/>
                  </a:lnTo>
                  <a:lnTo>
                    <a:pt x="106000" y="18000"/>
                  </a:lnTo>
                  <a:lnTo>
                    <a:pt x="107000" y="17500"/>
                  </a:lnTo>
                  <a:lnTo>
                    <a:pt x="108000" y="16500"/>
                  </a:lnTo>
                  <a:lnTo>
                    <a:pt x="109000" y="16000"/>
                  </a:lnTo>
                  <a:lnTo>
                    <a:pt x="110000" y="16000"/>
                  </a:lnTo>
                  <a:lnTo>
                    <a:pt x="111000" y="16000"/>
                  </a:lnTo>
                  <a:lnTo>
                    <a:pt x="112000" y="17000"/>
                  </a:lnTo>
                  <a:lnTo>
                    <a:pt x="113000" y="17000"/>
                  </a:lnTo>
                  <a:lnTo>
                    <a:pt x="114000" y="18000"/>
                  </a:lnTo>
                  <a:lnTo>
                    <a:pt x="115000" y="18000"/>
                  </a:lnTo>
                  <a:lnTo>
                    <a:pt x="116000" y="19000"/>
                  </a:lnTo>
                  <a:lnTo>
                    <a:pt x="117000" y="19000"/>
                  </a:lnTo>
                  <a:lnTo>
                    <a:pt x="118000" y="19500"/>
                  </a:lnTo>
                  <a:lnTo>
                    <a:pt x="119000" y="19500"/>
                  </a:lnTo>
                  <a:lnTo>
                    <a:pt x="120000" y="19000"/>
                  </a:lnTo>
                  <a:lnTo>
                    <a:pt x="121000" y="19000"/>
                  </a:lnTo>
                  <a:lnTo>
                    <a:pt x="122000" y="18000"/>
                  </a:lnTo>
                  <a:lnTo>
                    <a:pt x="123000" y="17000"/>
                  </a:lnTo>
                  <a:lnTo>
                    <a:pt x="124000" y="17000"/>
                  </a:lnTo>
                  <a:lnTo>
                    <a:pt x="125000" y="18000"/>
                  </a:lnTo>
                  <a:lnTo>
                    <a:pt x="126000" y="18500"/>
                  </a:lnTo>
                  <a:lnTo>
                    <a:pt x="127000" y="19500"/>
                  </a:lnTo>
                  <a:lnTo>
                    <a:pt x="128000" y="20000"/>
                  </a:lnTo>
                  <a:lnTo>
                    <a:pt x="129000" y="21000"/>
                  </a:lnTo>
                  <a:lnTo>
                    <a:pt x="130000" y="21000"/>
                  </a:lnTo>
                  <a:lnTo>
                    <a:pt x="131000" y="20000"/>
                  </a:lnTo>
                  <a:lnTo>
                    <a:pt x="132000" y="18000"/>
                  </a:lnTo>
                  <a:lnTo>
                    <a:pt x="133000" y="15000"/>
                  </a:lnTo>
                  <a:lnTo>
                    <a:pt x="134000" y="12000"/>
                  </a:lnTo>
                  <a:lnTo>
                    <a:pt x="135000" y="8500"/>
                  </a:lnTo>
                  <a:lnTo>
                    <a:pt x="136000" y="6000"/>
                  </a:lnTo>
                  <a:lnTo>
                    <a:pt x="137000" y="3500"/>
                  </a:lnTo>
                  <a:lnTo>
                    <a:pt x="138000" y="3000"/>
                  </a:lnTo>
                  <a:lnTo>
                    <a:pt x="139000" y="3500"/>
                  </a:lnTo>
                  <a:lnTo>
                    <a:pt x="140000" y="4500"/>
                  </a:lnTo>
                  <a:lnTo>
                    <a:pt x="141000" y="6000"/>
                  </a:lnTo>
                  <a:lnTo>
                    <a:pt x="142000" y="7000"/>
                  </a:lnTo>
                  <a:lnTo>
                    <a:pt x="143000" y="8500"/>
                  </a:lnTo>
                  <a:lnTo>
                    <a:pt x="144000" y="9500"/>
                  </a:lnTo>
                  <a:lnTo>
                    <a:pt x="145000" y="10500"/>
                  </a:lnTo>
                  <a:lnTo>
                    <a:pt x="146000" y="11000"/>
                  </a:lnTo>
                  <a:lnTo>
                    <a:pt x="147000" y="11000"/>
                  </a:lnTo>
                  <a:lnTo>
                    <a:pt x="148000" y="9500"/>
                  </a:lnTo>
                  <a:lnTo>
                    <a:pt x="149000" y="8000"/>
                  </a:lnTo>
                  <a:lnTo>
                    <a:pt x="150000" y="5500"/>
                  </a:lnTo>
                  <a:lnTo>
                    <a:pt x="151000" y="3500"/>
                  </a:lnTo>
                  <a:lnTo>
                    <a:pt x="152000" y="1500"/>
                  </a:lnTo>
                  <a:lnTo>
                    <a:pt x="153000" y="1000"/>
                  </a:lnTo>
                  <a:lnTo>
                    <a:pt x="154000" y="1500"/>
                  </a:lnTo>
                  <a:lnTo>
                    <a:pt x="155000" y="3000"/>
                  </a:lnTo>
                  <a:lnTo>
                    <a:pt x="156000" y="4500"/>
                  </a:lnTo>
                  <a:lnTo>
                    <a:pt x="157000" y="6000"/>
                  </a:lnTo>
                  <a:lnTo>
                    <a:pt x="158000" y="8000"/>
                  </a:lnTo>
                  <a:lnTo>
                    <a:pt x="159000" y="9500"/>
                  </a:lnTo>
                  <a:lnTo>
                    <a:pt x="160000" y="10000"/>
                  </a:lnTo>
                  <a:lnTo>
                    <a:pt x="161000" y="9500"/>
                  </a:lnTo>
                  <a:lnTo>
                    <a:pt x="162000" y="8000"/>
                  </a:lnTo>
                  <a:lnTo>
                    <a:pt x="163000" y="6500"/>
                  </a:lnTo>
                  <a:lnTo>
                    <a:pt x="164000" y="5500"/>
                  </a:lnTo>
                  <a:lnTo>
                    <a:pt x="165000" y="4500"/>
                  </a:lnTo>
                  <a:lnTo>
                    <a:pt x="166000" y="5000"/>
                  </a:lnTo>
                  <a:lnTo>
                    <a:pt x="167000" y="5500"/>
                  </a:lnTo>
                  <a:lnTo>
                    <a:pt x="168000" y="6500"/>
                  </a:lnTo>
                  <a:lnTo>
                    <a:pt x="169000" y="7500"/>
                  </a:lnTo>
                  <a:lnTo>
                    <a:pt x="170000" y="8500"/>
                  </a:lnTo>
                  <a:lnTo>
                    <a:pt x="171000" y="9000"/>
                  </a:lnTo>
                  <a:lnTo>
                    <a:pt x="172000" y="10000"/>
                  </a:lnTo>
                  <a:lnTo>
                    <a:pt x="173000" y="10500"/>
                  </a:lnTo>
                  <a:lnTo>
                    <a:pt x="174000" y="11000"/>
                  </a:lnTo>
                  <a:lnTo>
                    <a:pt x="175000" y="10000"/>
                  </a:lnTo>
                  <a:lnTo>
                    <a:pt x="176000" y="9000"/>
                  </a:lnTo>
                  <a:lnTo>
                    <a:pt x="177000" y="7500"/>
                  </a:lnTo>
                  <a:lnTo>
                    <a:pt x="178000" y="5500"/>
                  </a:lnTo>
                  <a:lnTo>
                    <a:pt x="179000" y="4000"/>
                  </a:lnTo>
                  <a:lnTo>
                    <a:pt x="180000" y="2500"/>
                  </a:lnTo>
                  <a:lnTo>
                    <a:pt x="181000" y="1500"/>
                  </a:lnTo>
                  <a:lnTo>
                    <a:pt x="182000" y="1000"/>
                  </a:lnTo>
                  <a:lnTo>
                    <a:pt x="183000" y="2000"/>
                  </a:lnTo>
                  <a:lnTo>
                    <a:pt x="184000" y="3000"/>
                  </a:lnTo>
                  <a:lnTo>
                    <a:pt x="185000" y="4000"/>
                  </a:lnTo>
                  <a:lnTo>
                    <a:pt x="186000" y="6000"/>
                  </a:lnTo>
                  <a:lnTo>
                    <a:pt x="187000" y="8000"/>
                  </a:lnTo>
                  <a:lnTo>
                    <a:pt x="188000" y="10000"/>
                  </a:lnTo>
                  <a:lnTo>
                    <a:pt x="189000" y="12000"/>
                  </a:lnTo>
                  <a:lnTo>
                    <a:pt x="190000" y="14500"/>
                  </a:lnTo>
                  <a:lnTo>
                    <a:pt x="191000" y="16000"/>
                  </a:lnTo>
                  <a:lnTo>
                    <a:pt x="192000" y="18000"/>
                  </a:lnTo>
                  <a:lnTo>
                    <a:pt x="193000" y="19000"/>
                  </a:lnTo>
                  <a:lnTo>
                    <a:pt x="194000" y="19500"/>
                  </a:lnTo>
                  <a:lnTo>
                    <a:pt x="195000" y="16500"/>
                  </a:lnTo>
                </a:path>
              </a:pathLst>
            </a:custGeom>
            <a:noFill/>
            <a:ln w="9525" cap="rnd">
              <a:solidFill>
                <a:srgbClr val="40536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6419850" y="2295525"/>
              <a:ext cx="2038350" cy="390525"/>
            </a:xfrm>
            <a:prstGeom prst="rect">
              <a:avLst/>
            </a:prstGeom>
            <a:solidFill>
              <a:srgbClr val="FFFFFF"/>
            </a:solidFill>
            <a:ln w="10001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6477000" y="2324100"/>
              <a:ext cx="1914525" cy="323850"/>
            </a:xfrm>
            <a:custGeom>
              <a:avLst/>
              <a:gdLst/>
              <a:ahLst/>
              <a:cxnLst/>
              <a:rect l="0" t="0" r="r" b="b"/>
              <a:pathLst>
                <a:path w="201000" h="34000" fill="norm">
                  <a:moveTo>
                    <a:pt x="201000" y="7000"/>
                  </a:moveTo>
                  <a:lnTo>
                    <a:pt x="200000" y="6000"/>
                  </a:lnTo>
                  <a:lnTo>
                    <a:pt x="200000" y="2000"/>
                  </a:lnTo>
                  <a:lnTo>
                    <a:pt x="199000" y="1000"/>
                  </a:lnTo>
                  <a:lnTo>
                    <a:pt x="199000" y="0"/>
                  </a:lnTo>
                  <a:lnTo>
                    <a:pt x="198000" y="0"/>
                  </a:lnTo>
                  <a:lnTo>
                    <a:pt x="198000" y="5000"/>
                  </a:lnTo>
                  <a:lnTo>
                    <a:pt x="197000" y="6000"/>
                  </a:lnTo>
                  <a:lnTo>
                    <a:pt x="197000" y="12000"/>
                  </a:lnTo>
                  <a:lnTo>
                    <a:pt x="196000" y="13000"/>
                  </a:lnTo>
                  <a:lnTo>
                    <a:pt x="195000" y="12000"/>
                  </a:lnTo>
                  <a:lnTo>
                    <a:pt x="195000" y="14000"/>
                  </a:lnTo>
                  <a:lnTo>
                    <a:pt x="194000" y="15000"/>
                  </a:lnTo>
                  <a:lnTo>
                    <a:pt x="194000" y="17000"/>
                  </a:lnTo>
                  <a:lnTo>
                    <a:pt x="192000" y="20000"/>
                  </a:lnTo>
                  <a:lnTo>
                    <a:pt x="192000" y="24000"/>
                  </a:lnTo>
                  <a:lnTo>
                    <a:pt x="191000" y="25000"/>
                  </a:lnTo>
                  <a:lnTo>
                    <a:pt x="190000" y="24000"/>
                  </a:lnTo>
                  <a:lnTo>
                    <a:pt x="190000" y="19000"/>
                  </a:lnTo>
                  <a:lnTo>
                    <a:pt x="189000" y="19000"/>
                  </a:lnTo>
                  <a:lnTo>
                    <a:pt x="189000" y="23000"/>
                  </a:lnTo>
                  <a:lnTo>
                    <a:pt x="188000" y="24000"/>
                  </a:lnTo>
                  <a:lnTo>
                    <a:pt x="187000" y="23000"/>
                  </a:lnTo>
                  <a:lnTo>
                    <a:pt x="187000" y="16000"/>
                  </a:lnTo>
                  <a:lnTo>
                    <a:pt x="186000" y="15000"/>
                  </a:lnTo>
                  <a:lnTo>
                    <a:pt x="186000" y="9000"/>
                  </a:lnTo>
                  <a:lnTo>
                    <a:pt x="185000" y="10000"/>
                  </a:lnTo>
                  <a:lnTo>
                    <a:pt x="184000" y="9000"/>
                  </a:lnTo>
                  <a:lnTo>
                    <a:pt x="184000" y="2000"/>
                  </a:lnTo>
                  <a:lnTo>
                    <a:pt x="183000" y="1000"/>
                  </a:lnTo>
                  <a:lnTo>
                    <a:pt x="183000" y="3000"/>
                  </a:lnTo>
                  <a:lnTo>
                    <a:pt x="182000" y="4000"/>
                  </a:lnTo>
                  <a:lnTo>
                    <a:pt x="182000" y="6000"/>
                  </a:lnTo>
                  <a:lnTo>
                    <a:pt x="181000" y="7000"/>
                  </a:lnTo>
                  <a:lnTo>
                    <a:pt x="180000" y="6000"/>
                  </a:lnTo>
                  <a:lnTo>
                    <a:pt x="180000" y="12000"/>
                  </a:lnTo>
                  <a:lnTo>
                    <a:pt x="179000" y="13000"/>
                  </a:lnTo>
                  <a:lnTo>
                    <a:pt x="179000" y="19000"/>
                  </a:lnTo>
                  <a:lnTo>
                    <a:pt x="178000" y="20000"/>
                  </a:lnTo>
                  <a:lnTo>
                    <a:pt x="177000" y="19000"/>
                  </a:lnTo>
                  <a:lnTo>
                    <a:pt x="177000" y="20000"/>
                  </a:lnTo>
                  <a:lnTo>
                    <a:pt x="176000" y="21000"/>
                  </a:lnTo>
                  <a:lnTo>
                    <a:pt x="176000" y="24000"/>
                  </a:lnTo>
                  <a:lnTo>
                    <a:pt x="175000" y="25000"/>
                  </a:lnTo>
                  <a:lnTo>
                    <a:pt x="174000" y="24000"/>
                  </a:lnTo>
                  <a:lnTo>
                    <a:pt x="174000" y="23000"/>
                  </a:lnTo>
                  <a:lnTo>
                    <a:pt x="173000" y="24000"/>
                  </a:lnTo>
                  <a:lnTo>
                    <a:pt x="173000" y="26000"/>
                  </a:lnTo>
                  <a:lnTo>
                    <a:pt x="172000" y="27000"/>
                  </a:lnTo>
                  <a:lnTo>
                    <a:pt x="170000" y="25000"/>
                  </a:lnTo>
                  <a:lnTo>
                    <a:pt x="170000" y="26000"/>
                  </a:lnTo>
                  <a:lnTo>
                    <a:pt x="169000" y="27000"/>
                  </a:lnTo>
                  <a:lnTo>
                    <a:pt x="168000" y="26000"/>
                  </a:lnTo>
                  <a:lnTo>
                    <a:pt x="168000" y="7000"/>
                  </a:lnTo>
                  <a:lnTo>
                    <a:pt x="167000" y="6000"/>
                  </a:lnTo>
                  <a:lnTo>
                    <a:pt x="167000" y="4000"/>
                  </a:lnTo>
                  <a:lnTo>
                    <a:pt x="166000" y="5000"/>
                  </a:lnTo>
                  <a:lnTo>
                    <a:pt x="166000" y="10000"/>
                  </a:lnTo>
                  <a:lnTo>
                    <a:pt x="165000" y="11000"/>
                  </a:lnTo>
                  <a:lnTo>
                    <a:pt x="164000" y="10000"/>
                  </a:lnTo>
                  <a:lnTo>
                    <a:pt x="164000" y="1000"/>
                  </a:lnTo>
                  <a:lnTo>
                    <a:pt x="163000" y="0"/>
                  </a:lnTo>
                  <a:lnTo>
                    <a:pt x="163000" y="2000"/>
                  </a:lnTo>
                  <a:lnTo>
                    <a:pt x="162000" y="3000"/>
                  </a:lnTo>
                  <a:lnTo>
                    <a:pt x="162000" y="6000"/>
                  </a:lnTo>
                  <a:lnTo>
                    <a:pt x="161000" y="7000"/>
                  </a:lnTo>
                  <a:lnTo>
                    <a:pt x="160000" y="6000"/>
                  </a:lnTo>
                  <a:lnTo>
                    <a:pt x="160000" y="7000"/>
                  </a:lnTo>
                  <a:lnTo>
                    <a:pt x="159000" y="8000"/>
                  </a:lnTo>
                  <a:lnTo>
                    <a:pt x="159000" y="11000"/>
                  </a:lnTo>
                  <a:lnTo>
                    <a:pt x="158000" y="12000"/>
                  </a:lnTo>
                  <a:lnTo>
                    <a:pt x="157000" y="11000"/>
                  </a:lnTo>
                  <a:lnTo>
                    <a:pt x="157000" y="3000"/>
                  </a:lnTo>
                  <a:lnTo>
                    <a:pt x="156000" y="2000"/>
                  </a:lnTo>
                  <a:lnTo>
                    <a:pt x="155000" y="3000"/>
                  </a:lnTo>
                  <a:lnTo>
                    <a:pt x="155000" y="11000"/>
                  </a:lnTo>
                  <a:lnTo>
                    <a:pt x="154000" y="12000"/>
                  </a:lnTo>
                  <a:lnTo>
                    <a:pt x="154000" y="14000"/>
                  </a:lnTo>
                  <a:lnTo>
                    <a:pt x="153000" y="15000"/>
                  </a:lnTo>
                  <a:lnTo>
                    <a:pt x="152000" y="14000"/>
                  </a:lnTo>
                  <a:lnTo>
                    <a:pt x="152000" y="12000"/>
                  </a:lnTo>
                  <a:lnTo>
                    <a:pt x="152000" y="13000"/>
                  </a:lnTo>
                  <a:lnTo>
                    <a:pt x="151000" y="14000"/>
                  </a:lnTo>
                  <a:lnTo>
                    <a:pt x="151000" y="18000"/>
                  </a:lnTo>
                  <a:lnTo>
                    <a:pt x="150000" y="19000"/>
                  </a:lnTo>
                  <a:lnTo>
                    <a:pt x="150000" y="24000"/>
                  </a:lnTo>
                  <a:lnTo>
                    <a:pt x="149000" y="25000"/>
                  </a:lnTo>
                  <a:lnTo>
                    <a:pt x="148000" y="24000"/>
                  </a:lnTo>
                  <a:lnTo>
                    <a:pt x="148000" y="19000"/>
                  </a:lnTo>
                  <a:lnTo>
                    <a:pt x="147000" y="20000"/>
                  </a:lnTo>
                  <a:lnTo>
                    <a:pt x="147000" y="25000"/>
                  </a:lnTo>
                  <a:lnTo>
                    <a:pt x="146000" y="26000"/>
                  </a:lnTo>
                  <a:lnTo>
                    <a:pt x="145000" y="25000"/>
                  </a:lnTo>
                  <a:lnTo>
                    <a:pt x="145000" y="21000"/>
                  </a:lnTo>
                  <a:lnTo>
                    <a:pt x="144000" y="21000"/>
                  </a:lnTo>
                  <a:lnTo>
                    <a:pt x="143000" y="20000"/>
                  </a:lnTo>
                  <a:lnTo>
                    <a:pt x="143000" y="14000"/>
                  </a:lnTo>
                  <a:lnTo>
                    <a:pt x="142000" y="13000"/>
                  </a:lnTo>
                  <a:lnTo>
                    <a:pt x="142000" y="10000"/>
                  </a:lnTo>
                  <a:lnTo>
                    <a:pt x="141000" y="11000"/>
                  </a:lnTo>
                  <a:lnTo>
                    <a:pt x="141000" y="16000"/>
                  </a:lnTo>
                  <a:lnTo>
                    <a:pt x="140000" y="17000"/>
                  </a:lnTo>
                  <a:lnTo>
                    <a:pt x="139000" y="16000"/>
                  </a:lnTo>
                  <a:lnTo>
                    <a:pt x="139000" y="14000"/>
                  </a:lnTo>
                  <a:lnTo>
                    <a:pt x="138000" y="13000"/>
                  </a:lnTo>
                  <a:lnTo>
                    <a:pt x="138000" y="4000"/>
                  </a:lnTo>
                  <a:lnTo>
                    <a:pt x="137000" y="4000"/>
                  </a:lnTo>
                  <a:lnTo>
                    <a:pt x="137000" y="6000"/>
                  </a:lnTo>
                  <a:lnTo>
                    <a:pt x="136000" y="7000"/>
                  </a:lnTo>
                  <a:lnTo>
                    <a:pt x="136000" y="15000"/>
                  </a:lnTo>
                  <a:lnTo>
                    <a:pt x="135000" y="16000"/>
                  </a:lnTo>
                  <a:lnTo>
                    <a:pt x="134000" y="15000"/>
                  </a:lnTo>
                  <a:lnTo>
                    <a:pt x="134000" y="11000"/>
                  </a:lnTo>
                  <a:lnTo>
                    <a:pt x="133000" y="10000"/>
                  </a:lnTo>
                  <a:lnTo>
                    <a:pt x="133000" y="9000"/>
                  </a:lnTo>
                  <a:lnTo>
                    <a:pt x="132000" y="9000"/>
                  </a:lnTo>
                  <a:lnTo>
                    <a:pt x="132000" y="16000"/>
                  </a:lnTo>
                  <a:lnTo>
                    <a:pt x="131000" y="17000"/>
                  </a:lnTo>
                  <a:lnTo>
                    <a:pt x="131000" y="24000"/>
                  </a:lnTo>
                  <a:lnTo>
                    <a:pt x="130000" y="25000"/>
                  </a:lnTo>
                  <a:lnTo>
                    <a:pt x="129000" y="24000"/>
                  </a:lnTo>
                  <a:lnTo>
                    <a:pt x="129000" y="20000"/>
                  </a:lnTo>
                  <a:lnTo>
                    <a:pt x="128000" y="19000"/>
                  </a:lnTo>
                  <a:lnTo>
                    <a:pt x="128000" y="24000"/>
                  </a:lnTo>
                  <a:lnTo>
                    <a:pt x="127000" y="25000"/>
                  </a:lnTo>
                  <a:lnTo>
                    <a:pt x="126000" y="25000"/>
                  </a:lnTo>
                  <a:lnTo>
                    <a:pt x="125000" y="24000"/>
                  </a:lnTo>
                  <a:lnTo>
                    <a:pt x="125000" y="23000"/>
                  </a:lnTo>
                  <a:lnTo>
                    <a:pt x="124000" y="24000"/>
                  </a:lnTo>
                  <a:lnTo>
                    <a:pt x="123000" y="23000"/>
                  </a:lnTo>
                  <a:lnTo>
                    <a:pt x="123000" y="19000"/>
                  </a:lnTo>
                  <a:lnTo>
                    <a:pt x="122000" y="18000"/>
                  </a:lnTo>
                  <a:lnTo>
                    <a:pt x="122000" y="15000"/>
                  </a:lnTo>
                  <a:lnTo>
                    <a:pt x="121000" y="16000"/>
                  </a:lnTo>
                  <a:lnTo>
                    <a:pt x="121000" y="21000"/>
                  </a:lnTo>
                  <a:lnTo>
                    <a:pt x="120000" y="22000"/>
                  </a:lnTo>
                  <a:lnTo>
                    <a:pt x="119000" y="21000"/>
                  </a:lnTo>
                  <a:lnTo>
                    <a:pt x="119000" y="9000"/>
                  </a:lnTo>
                  <a:lnTo>
                    <a:pt x="118000" y="8000"/>
                  </a:lnTo>
                  <a:lnTo>
                    <a:pt x="118000" y="4000"/>
                  </a:lnTo>
                  <a:lnTo>
                    <a:pt x="117000" y="4000"/>
                  </a:lnTo>
                  <a:lnTo>
                    <a:pt x="117000" y="10000"/>
                  </a:lnTo>
                  <a:lnTo>
                    <a:pt x="116000" y="11000"/>
                  </a:lnTo>
                  <a:lnTo>
                    <a:pt x="115000" y="10000"/>
                  </a:lnTo>
                  <a:lnTo>
                    <a:pt x="115000" y="8000"/>
                  </a:lnTo>
                  <a:lnTo>
                    <a:pt x="114000" y="8000"/>
                  </a:lnTo>
                  <a:lnTo>
                    <a:pt x="114000" y="11000"/>
                  </a:lnTo>
                  <a:lnTo>
                    <a:pt x="113000" y="12000"/>
                  </a:lnTo>
                  <a:lnTo>
                    <a:pt x="112000" y="11000"/>
                  </a:lnTo>
                  <a:lnTo>
                    <a:pt x="112000" y="8000"/>
                  </a:lnTo>
                  <a:lnTo>
                    <a:pt x="111000" y="7000"/>
                  </a:lnTo>
                  <a:lnTo>
                    <a:pt x="111000" y="0"/>
                  </a:lnTo>
                  <a:lnTo>
                    <a:pt x="110000" y="1000"/>
                  </a:lnTo>
                  <a:lnTo>
                    <a:pt x="110000" y="6000"/>
                  </a:lnTo>
                  <a:lnTo>
                    <a:pt x="109000" y="7000"/>
                  </a:lnTo>
                  <a:lnTo>
                    <a:pt x="109000" y="13000"/>
                  </a:lnTo>
                  <a:lnTo>
                    <a:pt x="108000" y="14000"/>
                  </a:lnTo>
                  <a:lnTo>
                    <a:pt x="107000" y="13000"/>
                  </a:lnTo>
                  <a:lnTo>
                    <a:pt x="107000" y="6000"/>
                  </a:lnTo>
                  <a:lnTo>
                    <a:pt x="106000" y="6000"/>
                  </a:lnTo>
                  <a:lnTo>
                    <a:pt x="106000" y="12000"/>
                  </a:lnTo>
                  <a:lnTo>
                    <a:pt x="105000" y="13000"/>
                  </a:lnTo>
                  <a:lnTo>
                    <a:pt x="105000" y="14000"/>
                  </a:lnTo>
                  <a:lnTo>
                    <a:pt x="104000" y="15000"/>
                  </a:lnTo>
                  <a:lnTo>
                    <a:pt x="103000" y="14000"/>
                  </a:lnTo>
                  <a:lnTo>
                    <a:pt x="103000" y="15000"/>
                  </a:lnTo>
                  <a:lnTo>
                    <a:pt x="102000" y="16000"/>
                  </a:lnTo>
                  <a:lnTo>
                    <a:pt x="102000" y="21000"/>
                  </a:lnTo>
                  <a:lnTo>
                    <a:pt x="101000" y="22000"/>
                  </a:lnTo>
                  <a:lnTo>
                    <a:pt x="100000" y="21000"/>
                  </a:lnTo>
                  <a:lnTo>
                    <a:pt x="100000" y="19000"/>
                  </a:lnTo>
                  <a:lnTo>
                    <a:pt x="99000" y="18000"/>
                  </a:lnTo>
                  <a:lnTo>
                    <a:pt x="98000" y="19000"/>
                  </a:lnTo>
                  <a:lnTo>
                    <a:pt x="97000" y="18000"/>
                  </a:lnTo>
                  <a:lnTo>
                    <a:pt x="97000" y="22000"/>
                  </a:lnTo>
                  <a:lnTo>
                    <a:pt x="96000" y="23000"/>
                  </a:lnTo>
                  <a:lnTo>
                    <a:pt x="95000" y="22000"/>
                  </a:lnTo>
                  <a:lnTo>
                    <a:pt x="95000" y="19000"/>
                  </a:lnTo>
                  <a:lnTo>
                    <a:pt x="94000" y="18000"/>
                  </a:lnTo>
                  <a:lnTo>
                    <a:pt x="94000" y="15000"/>
                  </a:lnTo>
                  <a:lnTo>
                    <a:pt x="93000" y="15000"/>
                  </a:lnTo>
                  <a:lnTo>
                    <a:pt x="93000" y="17000"/>
                  </a:lnTo>
                  <a:lnTo>
                    <a:pt x="92000" y="18000"/>
                  </a:lnTo>
                  <a:lnTo>
                    <a:pt x="91000" y="17000"/>
                  </a:lnTo>
                  <a:lnTo>
                    <a:pt x="91000" y="7000"/>
                  </a:lnTo>
                  <a:lnTo>
                    <a:pt x="90000" y="6000"/>
                  </a:lnTo>
                  <a:lnTo>
                    <a:pt x="90000" y="13000"/>
                  </a:lnTo>
                  <a:lnTo>
                    <a:pt x="89000" y="14000"/>
                  </a:lnTo>
                  <a:lnTo>
                    <a:pt x="88000" y="13000"/>
                  </a:lnTo>
                  <a:lnTo>
                    <a:pt x="88000" y="7000"/>
                  </a:lnTo>
                  <a:lnTo>
                    <a:pt x="87000" y="6000"/>
                  </a:lnTo>
                  <a:lnTo>
                    <a:pt x="87000" y="2000"/>
                  </a:lnTo>
                  <a:lnTo>
                    <a:pt x="86000" y="1000"/>
                  </a:lnTo>
                  <a:lnTo>
                    <a:pt x="86000" y="9000"/>
                  </a:lnTo>
                  <a:lnTo>
                    <a:pt x="84000" y="12000"/>
                  </a:lnTo>
                  <a:lnTo>
                    <a:pt x="83000" y="11000"/>
                  </a:lnTo>
                  <a:lnTo>
                    <a:pt x="83000" y="9000"/>
                  </a:lnTo>
                  <a:lnTo>
                    <a:pt x="82000" y="10000"/>
                  </a:lnTo>
                  <a:lnTo>
                    <a:pt x="81000" y="9000"/>
                  </a:lnTo>
                  <a:lnTo>
                    <a:pt x="81000" y="8000"/>
                  </a:lnTo>
                  <a:lnTo>
                    <a:pt x="80000" y="7000"/>
                  </a:lnTo>
                  <a:lnTo>
                    <a:pt x="80000" y="4000"/>
                  </a:lnTo>
                  <a:lnTo>
                    <a:pt x="79000" y="5000"/>
                  </a:lnTo>
                  <a:lnTo>
                    <a:pt x="79000" y="15000"/>
                  </a:lnTo>
                  <a:lnTo>
                    <a:pt x="78000" y="16000"/>
                  </a:lnTo>
                  <a:lnTo>
                    <a:pt x="78000" y="18000"/>
                  </a:lnTo>
                  <a:lnTo>
                    <a:pt x="77000" y="19000"/>
                  </a:lnTo>
                  <a:lnTo>
                    <a:pt x="76000" y="18000"/>
                  </a:lnTo>
                  <a:lnTo>
                    <a:pt x="76000" y="16000"/>
                  </a:lnTo>
                  <a:lnTo>
                    <a:pt x="75000" y="17000"/>
                  </a:lnTo>
                  <a:lnTo>
                    <a:pt x="75000" y="24000"/>
                  </a:lnTo>
                  <a:lnTo>
                    <a:pt x="74000" y="25000"/>
                  </a:lnTo>
                  <a:lnTo>
                    <a:pt x="73000" y="24000"/>
                  </a:lnTo>
                  <a:lnTo>
                    <a:pt x="72000" y="25000"/>
                  </a:lnTo>
                  <a:lnTo>
                    <a:pt x="72000" y="27000"/>
                  </a:lnTo>
                  <a:lnTo>
                    <a:pt x="71000" y="28000"/>
                  </a:lnTo>
                  <a:lnTo>
                    <a:pt x="70000" y="27000"/>
                  </a:lnTo>
                  <a:lnTo>
                    <a:pt x="70000" y="20000"/>
                  </a:lnTo>
                  <a:lnTo>
                    <a:pt x="69000" y="21000"/>
                  </a:lnTo>
                  <a:lnTo>
                    <a:pt x="69000" y="24000"/>
                  </a:lnTo>
                  <a:lnTo>
                    <a:pt x="68000" y="25000"/>
                  </a:lnTo>
                  <a:lnTo>
                    <a:pt x="67000" y="24000"/>
                  </a:lnTo>
                  <a:lnTo>
                    <a:pt x="67000" y="18000"/>
                  </a:lnTo>
                  <a:lnTo>
                    <a:pt x="66000" y="17000"/>
                  </a:lnTo>
                  <a:lnTo>
                    <a:pt x="66000" y="10000"/>
                  </a:lnTo>
                  <a:lnTo>
                    <a:pt x="65000" y="9000"/>
                  </a:lnTo>
                  <a:lnTo>
                    <a:pt x="65000" y="13000"/>
                  </a:lnTo>
                  <a:lnTo>
                    <a:pt x="64000" y="14000"/>
                  </a:lnTo>
                  <a:lnTo>
                    <a:pt x="63000" y="14000"/>
                  </a:lnTo>
                  <a:lnTo>
                    <a:pt x="62000" y="13000"/>
                  </a:lnTo>
                  <a:lnTo>
                    <a:pt x="62000" y="6000"/>
                  </a:lnTo>
                  <a:lnTo>
                    <a:pt x="61000" y="5000"/>
                  </a:lnTo>
                  <a:lnTo>
                    <a:pt x="60000" y="6000"/>
                  </a:lnTo>
                  <a:lnTo>
                    <a:pt x="60000" y="18000"/>
                  </a:lnTo>
                  <a:lnTo>
                    <a:pt x="59000" y="19000"/>
                  </a:lnTo>
                  <a:lnTo>
                    <a:pt x="58000" y="18000"/>
                  </a:lnTo>
                  <a:lnTo>
                    <a:pt x="58000" y="14000"/>
                  </a:lnTo>
                  <a:lnTo>
                    <a:pt x="57000" y="13000"/>
                  </a:lnTo>
                  <a:lnTo>
                    <a:pt x="57000" y="11000"/>
                  </a:lnTo>
                  <a:lnTo>
                    <a:pt x="56000" y="12000"/>
                  </a:lnTo>
                  <a:lnTo>
                    <a:pt x="56000" y="22000"/>
                  </a:lnTo>
                  <a:lnTo>
                    <a:pt x="55000" y="23000"/>
                  </a:lnTo>
                  <a:lnTo>
                    <a:pt x="54000" y="22000"/>
                  </a:lnTo>
                  <a:lnTo>
                    <a:pt x="54000" y="23000"/>
                  </a:lnTo>
                  <a:lnTo>
                    <a:pt x="53000" y="24000"/>
                  </a:lnTo>
                  <a:lnTo>
                    <a:pt x="52000" y="23000"/>
                  </a:lnTo>
                  <a:lnTo>
                    <a:pt x="52000" y="21000"/>
                  </a:lnTo>
                  <a:lnTo>
                    <a:pt x="51000" y="20000"/>
                  </a:lnTo>
                  <a:lnTo>
                    <a:pt x="51000" y="23000"/>
                  </a:lnTo>
                  <a:lnTo>
                    <a:pt x="50000" y="24000"/>
                  </a:lnTo>
                  <a:lnTo>
                    <a:pt x="49000" y="23000"/>
                  </a:lnTo>
                  <a:lnTo>
                    <a:pt x="49000" y="20000"/>
                  </a:lnTo>
                  <a:lnTo>
                    <a:pt x="48000" y="19000"/>
                  </a:lnTo>
                  <a:lnTo>
                    <a:pt x="48000" y="14000"/>
                  </a:lnTo>
                  <a:lnTo>
                    <a:pt x="47000" y="13000"/>
                  </a:lnTo>
                  <a:lnTo>
                    <a:pt x="47000" y="15000"/>
                  </a:lnTo>
                  <a:lnTo>
                    <a:pt x="46000" y="16000"/>
                  </a:lnTo>
                  <a:lnTo>
                    <a:pt x="45000" y="15000"/>
                  </a:lnTo>
                  <a:lnTo>
                    <a:pt x="45000" y="10000"/>
                  </a:lnTo>
                  <a:lnTo>
                    <a:pt x="44000" y="9000"/>
                  </a:lnTo>
                  <a:lnTo>
                    <a:pt x="44000" y="3000"/>
                  </a:lnTo>
                  <a:lnTo>
                    <a:pt x="43000" y="2000"/>
                  </a:lnTo>
                  <a:lnTo>
                    <a:pt x="43000" y="5000"/>
                  </a:lnTo>
                  <a:lnTo>
                    <a:pt x="42000" y="6000"/>
                  </a:lnTo>
                  <a:lnTo>
                    <a:pt x="42000" y="11000"/>
                  </a:lnTo>
                  <a:lnTo>
                    <a:pt x="41000" y="12000"/>
                  </a:lnTo>
                  <a:lnTo>
                    <a:pt x="40000" y="11000"/>
                  </a:lnTo>
                  <a:lnTo>
                    <a:pt x="40000" y="8000"/>
                  </a:lnTo>
                  <a:lnTo>
                    <a:pt x="39000" y="7000"/>
                  </a:lnTo>
                  <a:lnTo>
                    <a:pt x="38000" y="8000"/>
                  </a:lnTo>
                  <a:lnTo>
                    <a:pt x="37000" y="7000"/>
                  </a:lnTo>
                  <a:lnTo>
                    <a:pt x="37000" y="2000"/>
                  </a:lnTo>
                  <a:lnTo>
                    <a:pt x="36000" y="1000"/>
                  </a:lnTo>
                  <a:lnTo>
                    <a:pt x="36000" y="9000"/>
                  </a:lnTo>
                  <a:lnTo>
                    <a:pt x="35000" y="10000"/>
                  </a:lnTo>
                  <a:lnTo>
                    <a:pt x="34000" y="9000"/>
                  </a:lnTo>
                  <a:lnTo>
                    <a:pt x="34000" y="7000"/>
                  </a:lnTo>
                  <a:lnTo>
                    <a:pt x="33000" y="6000"/>
                  </a:lnTo>
                  <a:lnTo>
                    <a:pt x="33000" y="5000"/>
                  </a:lnTo>
                  <a:lnTo>
                    <a:pt x="32000" y="6000"/>
                  </a:lnTo>
                  <a:lnTo>
                    <a:pt x="32000" y="24000"/>
                  </a:lnTo>
                  <a:lnTo>
                    <a:pt x="30000" y="26000"/>
                  </a:lnTo>
                  <a:lnTo>
                    <a:pt x="29000" y="26000"/>
                  </a:lnTo>
                  <a:lnTo>
                    <a:pt x="28000" y="27000"/>
                  </a:lnTo>
                  <a:lnTo>
                    <a:pt x="26000" y="24000"/>
                  </a:lnTo>
                  <a:lnTo>
                    <a:pt x="25000" y="25000"/>
                  </a:lnTo>
                  <a:lnTo>
                    <a:pt x="24000" y="24000"/>
                  </a:lnTo>
                  <a:lnTo>
                    <a:pt x="24000" y="21000"/>
                  </a:lnTo>
                  <a:lnTo>
                    <a:pt x="21000" y="19000"/>
                  </a:lnTo>
                  <a:lnTo>
                    <a:pt x="21000" y="10000"/>
                  </a:lnTo>
                  <a:lnTo>
                    <a:pt x="20000" y="9000"/>
                  </a:lnTo>
                  <a:lnTo>
                    <a:pt x="20000" y="7000"/>
                  </a:lnTo>
                  <a:lnTo>
                    <a:pt x="19000" y="8000"/>
                  </a:lnTo>
                  <a:lnTo>
                    <a:pt x="18000" y="7000"/>
                  </a:lnTo>
                  <a:lnTo>
                    <a:pt x="18000" y="2000"/>
                  </a:lnTo>
                  <a:lnTo>
                    <a:pt x="17000" y="2000"/>
                  </a:lnTo>
                  <a:lnTo>
                    <a:pt x="17000" y="9000"/>
                  </a:lnTo>
                  <a:lnTo>
                    <a:pt x="16000" y="10000"/>
                  </a:lnTo>
                  <a:lnTo>
                    <a:pt x="15000" y="10000"/>
                  </a:lnTo>
                  <a:lnTo>
                    <a:pt x="15000" y="11000"/>
                  </a:lnTo>
                  <a:lnTo>
                    <a:pt x="14000" y="12000"/>
                  </a:lnTo>
                  <a:lnTo>
                    <a:pt x="14000" y="24000"/>
                  </a:lnTo>
                  <a:lnTo>
                    <a:pt x="13000" y="25000"/>
                  </a:lnTo>
                  <a:lnTo>
                    <a:pt x="12000" y="24000"/>
                  </a:lnTo>
                  <a:lnTo>
                    <a:pt x="12000" y="19000"/>
                  </a:lnTo>
                  <a:lnTo>
                    <a:pt x="11000" y="20000"/>
                  </a:lnTo>
                  <a:lnTo>
                    <a:pt x="11000" y="24000"/>
                  </a:lnTo>
                  <a:lnTo>
                    <a:pt x="10000" y="25000"/>
                  </a:lnTo>
                  <a:lnTo>
                    <a:pt x="9000" y="24000"/>
                  </a:lnTo>
                  <a:lnTo>
                    <a:pt x="9000" y="20000"/>
                  </a:lnTo>
                  <a:lnTo>
                    <a:pt x="7000" y="18000"/>
                  </a:lnTo>
                  <a:lnTo>
                    <a:pt x="7000" y="15000"/>
                  </a:lnTo>
                  <a:lnTo>
                    <a:pt x="6000" y="14000"/>
                  </a:lnTo>
                  <a:lnTo>
                    <a:pt x="6000" y="13000"/>
                  </a:lnTo>
                  <a:lnTo>
                    <a:pt x="5000" y="14000"/>
                  </a:lnTo>
                  <a:lnTo>
                    <a:pt x="4000" y="13000"/>
                  </a:lnTo>
                  <a:lnTo>
                    <a:pt x="4000" y="4000"/>
                  </a:lnTo>
                  <a:lnTo>
                    <a:pt x="3000" y="3000"/>
                  </a:lnTo>
                  <a:lnTo>
                    <a:pt x="3000" y="1000"/>
                  </a:lnTo>
                  <a:lnTo>
                    <a:pt x="2000" y="1000"/>
                  </a:lnTo>
                  <a:lnTo>
                    <a:pt x="2000" y="3000"/>
                  </a:lnTo>
                  <a:lnTo>
                    <a:pt x="1000" y="4000"/>
                  </a:lnTo>
                  <a:lnTo>
                    <a:pt x="1000" y="10000"/>
                  </a:lnTo>
                  <a:lnTo>
                    <a:pt x="0" y="11000"/>
                  </a:lnTo>
                  <a:lnTo>
                    <a:pt x="0" y="13000"/>
                  </a:lnTo>
                  <a:lnTo>
                    <a:pt x="1000" y="13000"/>
                  </a:lnTo>
                  <a:lnTo>
                    <a:pt x="1000" y="8000"/>
                  </a:lnTo>
                  <a:lnTo>
                    <a:pt x="2000" y="7000"/>
                  </a:lnTo>
                  <a:lnTo>
                    <a:pt x="3000" y="8000"/>
                  </a:lnTo>
                  <a:lnTo>
                    <a:pt x="3000" y="10000"/>
                  </a:lnTo>
                  <a:lnTo>
                    <a:pt x="4000" y="11000"/>
                  </a:lnTo>
                  <a:lnTo>
                    <a:pt x="4000" y="22000"/>
                  </a:lnTo>
                  <a:lnTo>
                    <a:pt x="5000" y="23000"/>
                  </a:lnTo>
                  <a:lnTo>
                    <a:pt x="5000" y="22000"/>
                  </a:lnTo>
                  <a:lnTo>
                    <a:pt x="6000" y="21000"/>
                  </a:lnTo>
                  <a:lnTo>
                    <a:pt x="7000" y="22000"/>
                  </a:lnTo>
                  <a:lnTo>
                    <a:pt x="7000" y="24000"/>
                  </a:lnTo>
                  <a:lnTo>
                    <a:pt x="9000" y="26000"/>
                  </a:lnTo>
                  <a:lnTo>
                    <a:pt x="9000" y="29000"/>
                  </a:lnTo>
                  <a:lnTo>
                    <a:pt x="10000" y="30000"/>
                  </a:lnTo>
                  <a:lnTo>
                    <a:pt x="10000" y="31000"/>
                  </a:lnTo>
                  <a:lnTo>
                    <a:pt x="10000" y="30000"/>
                  </a:lnTo>
                  <a:lnTo>
                    <a:pt x="11000" y="29000"/>
                  </a:lnTo>
                  <a:lnTo>
                    <a:pt x="12000" y="30000"/>
                  </a:lnTo>
                  <a:lnTo>
                    <a:pt x="12000" y="32000"/>
                  </a:lnTo>
                  <a:lnTo>
                    <a:pt x="13000" y="33000"/>
                  </a:lnTo>
                  <a:lnTo>
                    <a:pt x="13000" y="34000"/>
                  </a:lnTo>
                  <a:lnTo>
                    <a:pt x="14000" y="34000"/>
                  </a:lnTo>
                  <a:lnTo>
                    <a:pt x="14000" y="23000"/>
                  </a:lnTo>
                  <a:lnTo>
                    <a:pt x="15000" y="22000"/>
                  </a:lnTo>
                  <a:lnTo>
                    <a:pt x="16000" y="23000"/>
                  </a:lnTo>
                  <a:lnTo>
                    <a:pt x="16000" y="24000"/>
                  </a:lnTo>
                  <a:lnTo>
                    <a:pt x="16000" y="22000"/>
                  </a:lnTo>
                  <a:lnTo>
                    <a:pt x="17000" y="21000"/>
                  </a:lnTo>
                  <a:lnTo>
                    <a:pt x="17000" y="16000"/>
                  </a:lnTo>
                  <a:lnTo>
                    <a:pt x="18000" y="15000"/>
                  </a:lnTo>
                  <a:lnTo>
                    <a:pt x="19000" y="16000"/>
                  </a:lnTo>
                  <a:lnTo>
                    <a:pt x="19000" y="20000"/>
                  </a:lnTo>
                  <a:lnTo>
                    <a:pt x="20000" y="19000"/>
                  </a:lnTo>
                  <a:lnTo>
                    <a:pt x="21000" y="20000"/>
                  </a:lnTo>
                  <a:lnTo>
                    <a:pt x="21000" y="25000"/>
                  </a:lnTo>
                  <a:lnTo>
                    <a:pt x="22000" y="26000"/>
                  </a:lnTo>
                  <a:lnTo>
                    <a:pt x="22000" y="27000"/>
                  </a:lnTo>
                  <a:lnTo>
                    <a:pt x="23000" y="26000"/>
                  </a:lnTo>
                  <a:lnTo>
                    <a:pt x="25000" y="28000"/>
                  </a:lnTo>
                  <a:lnTo>
                    <a:pt x="25000" y="29000"/>
                  </a:lnTo>
                  <a:lnTo>
                    <a:pt x="26000" y="28000"/>
                  </a:lnTo>
                  <a:lnTo>
                    <a:pt x="27000" y="28000"/>
                  </a:lnTo>
                  <a:lnTo>
                    <a:pt x="28000" y="29000"/>
                  </a:lnTo>
                  <a:lnTo>
                    <a:pt x="28000" y="30000"/>
                  </a:lnTo>
                  <a:lnTo>
                    <a:pt x="29000" y="30000"/>
                  </a:lnTo>
                  <a:lnTo>
                    <a:pt x="31000" y="32000"/>
                  </a:lnTo>
                  <a:lnTo>
                    <a:pt x="32000" y="31000"/>
                  </a:lnTo>
                  <a:lnTo>
                    <a:pt x="32000" y="14000"/>
                  </a:lnTo>
                  <a:lnTo>
                    <a:pt x="33000" y="13000"/>
                  </a:lnTo>
                  <a:lnTo>
                    <a:pt x="34000" y="14000"/>
                  </a:lnTo>
                  <a:lnTo>
                    <a:pt x="34000" y="17000"/>
                  </a:lnTo>
                  <a:lnTo>
                    <a:pt x="35000" y="18000"/>
                  </a:lnTo>
                  <a:lnTo>
                    <a:pt x="35000" y="17000"/>
                  </a:lnTo>
                  <a:lnTo>
                    <a:pt x="36000" y="16000"/>
                  </a:lnTo>
                  <a:lnTo>
                    <a:pt x="36000" y="14000"/>
                  </a:lnTo>
                  <a:lnTo>
                    <a:pt x="37000" y="13000"/>
                  </a:lnTo>
                  <a:lnTo>
                    <a:pt x="38000" y="14000"/>
                  </a:lnTo>
                  <a:lnTo>
                    <a:pt x="38000" y="17000"/>
                  </a:lnTo>
                  <a:lnTo>
                    <a:pt x="40000" y="14000"/>
                  </a:lnTo>
                  <a:lnTo>
                    <a:pt x="41000" y="15000"/>
                  </a:lnTo>
                  <a:lnTo>
                    <a:pt x="41000" y="17000"/>
                  </a:lnTo>
                  <a:lnTo>
                    <a:pt x="42000" y="17000"/>
                  </a:lnTo>
                  <a:lnTo>
                    <a:pt x="42000" y="12000"/>
                  </a:lnTo>
                  <a:lnTo>
                    <a:pt x="43000" y="11000"/>
                  </a:lnTo>
                  <a:lnTo>
                    <a:pt x="44000" y="12000"/>
                  </a:lnTo>
                  <a:lnTo>
                    <a:pt x="44000" y="16000"/>
                  </a:lnTo>
                  <a:lnTo>
                    <a:pt x="45000" y="17000"/>
                  </a:lnTo>
                  <a:lnTo>
                    <a:pt x="45000" y="28000"/>
                  </a:lnTo>
                  <a:lnTo>
                    <a:pt x="46000" y="29000"/>
                  </a:lnTo>
                  <a:lnTo>
                    <a:pt x="46000" y="31000"/>
                  </a:lnTo>
                  <a:lnTo>
                    <a:pt x="47000" y="30000"/>
                  </a:lnTo>
                  <a:lnTo>
                    <a:pt x="47000" y="24000"/>
                  </a:lnTo>
                  <a:lnTo>
                    <a:pt x="48000" y="23000"/>
                  </a:lnTo>
                  <a:lnTo>
                    <a:pt x="49000" y="24000"/>
                  </a:lnTo>
                  <a:lnTo>
                    <a:pt x="49000" y="30000"/>
                  </a:lnTo>
                  <a:lnTo>
                    <a:pt x="50000" y="31000"/>
                  </a:lnTo>
                  <a:lnTo>
                    <a:pt x="51000" y="30000"/>
                  </a:lnTo>
                  <a:lnTo>
                    <a:pt x="52000" y="31000"/>
                  </a:lnTo>
                  <a:lnTo>
                    <a:pt x="52000" y="34000"/>
                  </a:lnTo>
                  <a:lnTo>
                    <a:pt x="53000" y="34000"/>
                  </a:lnTo>
                  <a:lnTo>
                    <a:pt x="53000" y="30000"/>
                  </a:lnTo>
                  <a:lnTo>
                    <a:pt x="55000" y="28000"/>
                  </a:lnTo>
                  <a:lnTo>
                    <a:pt x="56000" y="28000"/>
                  </a:lnTo>
                  <a:lnTo>
                    <a:pt x="56000" y="20000"/>
                  </a:lnTo>
                  <a:lnTo>
                    <a:pt x="57000" y="19000"/>
                  </a:lnTo>
                  <a:lnTo>
                    <a:pt x="58000" y="20000"/>
                  </a:lnTo>
                  <a:lnTo>
                    <a:pt x="58000" y="23000"/>
                  </a:lnTo>
                  <a:lnTo>
                    <a:pt x="59000" y="24000"/>
                  </a:lnTo>
                  <a:lnTo>
                    <a:pt x="59000" y="25000"/>
                  </a:lnTo>
                  <a:lnTo>
                    <a:pt x="60000" y="24000"/>
                  </a:lnTo>
                  <a:lnTo>
                    <a:pt x="60000" y="13000"/>
                  </a:lnTo>
                  <a:lnTo>
                    <a:pt x="61000" y="12000"/>
                  </a:lnTo>
                  <a:lnTo>
                    <a:pt x="62000" y="13000"/>
                  </a:lnTo>
                  <a:lnTo>
                    <a:pt x="62000" y="18000"/>
                  </a:lnTo>
                  <a:lnTo>
                    <a:pt x="63000" y="19000"/>
                  </a:lnTo>
                  <a:lnTo>
                    <a:pt x="63000" y="23000"/>
                  </a:lnTo>
                  <a:lnTo>
                    <a:pt x="64000" y="23000"/>
                  </a:lnTo>
                  <a:lnTo>
                    <a:pt x="64000" y="19000"/>
                  </a:lnTo>
                  <a:lnTo>
                    <a:pt x="65000" y="18000"/>
                  </a:lnTo>
                  <a:lnTo>
                    <a:pt x="66000" y="19000"/>
                  </a:lnTo>
                  <a:lnTo>
                    <a:pt x="66000" y="23000"/>
                  </a:lnTo>
                  <a:lnTo>
                    <a:pt x="67000" y="24000"/>
                  </a:lnTo>
                  <a:lnTo>
                    <a:pt x="67000" y="31000"/>
                  </a:lnTo>
                  <a:lnTo>
                    <a:pt x="68000" y="31000"/>
                  </a:lnTo>
                  <a:lnTo>
                    <a:pt x="68000" y="30000"/>
                  </a:lnTo>
                  <a:lnTo>
                    <a:pt x="69000" y="29000"/>
                  </a:lnTo>
                  <a:lnTo>
                    <a:pt x="70000" y="30000"/>
                  </a:lnTo>
                  <a:lnTo>
                    <a:pt x="70000" y="32000"/>
                  </a:lnTo>
                  <a:lnTo>
                    <a:pt x="71000" y="33000"/>
                  </a:lnTo>
                  <a:lnTo>
                    <a:pt x="71000" y="34000"/>
                  </a:lnTo>
                  <a:lnTo>
                    <a:pt x="72000" y="33000"/>
                  </a:lnTo>
                  <a:lnTo>
                    <a:pt x="72000" y="29000"/>
                  </a:lnTo>
                  <a:lnTo>
                    <a:pt x="73000" y="28000"/>
                  </a:lnTo>
                  <a:lnTo>
                    <a:pt x="74000" y="29000"/>
                  </a:lnTo>
                  <a:lnTo>
                    <a:pt x="74000" y="31000"/>
                  </a:lnTo>
                  <a:lnTo>
                    <a:pt x="75000" y="31000"/>
                  </a:lnTo>
                  <a:lnTo>
                    <a:pt x="75000" y="24000"/>
                  </a:lnTo>
                  <a:lnTo>
                    <a:pt x="76000" y="23000"/>
                  </a:lnTo>
                  <a:lnTo>
                    <a:pt x="77000" y="24000"/>
                  </a:lnTo>
                  <a:lnTo>
                    <a:pt x="77000" y="29000"/>
                  </a:lnTo>
                  <a:lnTo>
                    <a:pt x="78000" y="29000"/>
                  </a:lnTo>
                  <a:lnTo>
                    <a:pt x="78000" y="25000"/>
                  </a:lnTo>
                  <a:lnTo>
                    <a:pt x="79000" y="24000"/>
                  </a:lnTo>
                  <a:lnTo>
                    <a:pt x="79000" y="14000"/>
                  </a:lnTo>
                  <a:lnTo>
                    <a:pt x="80000" y="13000"/>
                  </a:lnTo>
                  <a:lnTo>
                    <a:pt x="81000" y="14000"/>
                  </a:lnTo>
                  <a:lnTo>
                    <a:pt x="81000" y="23000"/>
                  </a:lnTo>
                  <a:lnTo>
                    <a:pt x="82000" y="23000"/>
                  </a:lnTo>
                  <a:lnTo>
                    <a:pt x="82000" y="17000"/>
                  </a:lnTo>
                  <a:lnTo>
                    <a:pt x="83000" y="16000"/>
                  </a:lnTo>
                  <a:lnTo>
                    <a:pt x="84000" y="17000"/>
                  </a:lnTo>
                  <a:lnTo>
                    <a:pt x="84000" y="21000"/>
                  </a:lnTo>
                  <a:lnTo>
                    <a:pt x="85000" y="22000"/>
                  </a:lnTo>
                  <a:lnTo>
                    <a:pt x="85000" y="21000"/>
                  </a:lnTo>
                  <a:lnTo>
                    <a:pt x="86000" y="20000"/>
                  </a:lnTo>
                  <a:lnTo>
                    <a:pt x="86000" y="13000"/>
                  </a:lnTo>
                  <a:lnTo>
                    <a:pt x="87000" y="12000"/>
                  </a:lnTo>
                  <a:lnTo>
                    <a:pt x="88000" y="13000"/>
                  </a:lnTo>
                  <a:lnTo>
                    <a:pt x="88000" y="21000"/>
                  </a:lnTo>
                  <a:lnTo>
                    <a:pt x="89000" y="22000"/>
                  </a:lnTo>
                  <a:lnTo>
                    <a:pt x="89000" y="21000"/>
                  </a:lnTo>
                  <a:lnTo>
                    <a:pt x="90000" y="20000"/>
                  </a:lnTo>
                  <a:lnTo>
                    <a:pt x="91000" y="21000"/>
                  </a:lnTo>
                  <a:lnTo>
                    <a:pt x="91000" y="28000"/>
                  </a:lnTo>
                  <a:lnTo>
                    <a:pt x="92000" y="29000"/>
                  </a:lnTo>
                  <a:lnTo>
                    <a:pt x="92000" y="31000"/>
                  </a:lnTo>
                  <a:lnTo>
                    <a:pt x="92000" y="30000"/>
                  </a:lnTo>
                  <a:lnTo>
                    <a:pt x="93000" y="29000"/>
                  </a:lnTo>
                  <a:lnTo>
                    <a:pt x="93000" y="22000"/>
                  </a:lnTo>
                  <a:lnTo>
                    <a:pt x="94000" y="21000"/>
                  </a:lnTo>
                  <a:lnTo>
                    <a:pt x="95000" y="22000"/>
                  </a:lnTo>
                  <a:lnTo>
                    <a:pt x="95000" y="27000"/>
                  </a:lnTo>
                  <a:lnTo>
                    <a:pt x="96000" y="28000"/>
                  </a:lnTo>
                  <a:lnTo>
                    <a:pt x="96000" y="29000"/>
                  </a:lnTo>
                  <a:lnTo>
                    <a:pt x="97000" y="28000"/>
                  </a:lnTo>
                  <a:lnTo>
                    <a:pt x="101000" y="28000"/>
                  </a:lnTo>
                  <a:lnTo>
                    <a:pt x="101000" y="25000"/>
                  </a:lnTo>
                  <a:lnTo>
                    <a:pt x="102000" y="24000"/>
                  </a:lnTo>
                  <a:lnTo>
                    <a:pt x="102000" y="20000"/>
                  </a:lnTo>
                  <a:lnTo>
                    <a:pt x="103000" y="19000"/>
                  </a:lnTo>
                  <a:lnTo>
                    <a:pt x="104000" y="20000"/>
                  </a:lnTo>
                  <a:lnTo>
                    <a:pt x="104000" y="29000"/>
                  </a:lnTo>
                  <a:lnTo>
                    <a:pt x="105000" y="30000"/>
                  </a:lnTo>
                  <a:lnTo>
                    <a:pt x="105000" y="24000"/>
                  </a:lnTo>
                  <a:lnTo>
                    <a:pt x="106000" y="23000"/>
                  </a:lnTo>
                  <a:lnTo>
                    <a:pt x="106000" y="20000"/>
                  </a:lnTo>
                  <a:lnTo>
                    <a:pt x="107000" y="19000"/>
                  </a:lnTo>
                  <a:lnTo>
                    <a:pt x="108000" y="20000"/>
                  </a:lnTo>
                  <a:lnTo>
                    <a:pt x="108000" y="21000"/>
                  </a:lnTo>
                  <a:lnTo>
                    <a:pt x="109000" y="20000"/>
                  </a:lnTo>
                  <a:lnTo>
                    <a:pt x="109000" y="12000"/>
                  </a:lnTo>
                  <a:lnTo>
                    <a:pt x="110000" y="11000"/>
                  </a:lnTo>
                  <a:lnTo>
                    <a:pt x="111000" y="12000"/>
                  </a:lnTo>
                  <a:lnTo>
                    <a:pt x="111000" y="17000"/>
                  </a:lnTo>
                  <a:lnTo>
                    <a:pt x="112000" y="18000"/>
                  </a:lnTo>
                  <a:lnTo>
                    <a:pt x="112000" y="21000"/>
                  </a:lnTo>
                  <a:lnTo>
                    <a:pt x="113000" y="21000"/>
                  </a:lnTo>
                  <a:lnTo>
                    <a:pt x="113000" y="16000"/>
                  </a:lnTo>
                  <a:lnTo>
                    <a:pt x="114000" y="15000"/>
                  </a:lnTo>
                  <a:lnTo>
                    <a:pt x="115000" y="16000"/>
                  </a:lnTo>
                  <a:lnTo>
                    <a:pt x="115000" y="22000"/>
                  </a:lnTo>
                  <a:lnTo>
                    <a:pt x="116000" y="22000"/>
                  </a:lnTo>
                  <a:lnTo>
                    <a:pt x="116000" y="18000"/>
                  </a:lnTo>
                  <a:lnTo>
                    <a:pt x="118000" y="15000"/>
                  </a:lnTo>
                  <a:lnTo>
                    <a:pt x="119000" y="16000"/>
                  </a:lnTo>
                  <a:lnTo>
                    <a:pt x="119000" y="28000"/>
                  </a:lnTo>
                  <a:lnTo>
                    <a:pt x="120000" y="28000"/>
                  </a:lnTo>
                  <a:lnTo>
                    <a:pt x="121000" y="27000"/>
                  </a:lnTo>
                  <a:lnTo>
                    <a:pt x="121000" y="25000"/>
                  </a:lnTo>
                  <a:lnTo>
                    <a:pt x="122000" y="24000"/>
                  </a:lnTo>
                  <a:lnTo>
                    <a:pt x="123000" y="25000"/>
                  </a:lnTo>
                  <a:lnTo>
                    <a:pt x="123000" y="30000"/>
                  </a:lnTo>
                  <a:lnTo>
                    <a:pt x="124000" y="30000"/>
                  </a:lnTo>
                  <a:lnTo>
                    <a:pt x="124000" y="28000"/>
                  </a:lnTo>
                  <a:lnTo>
                    <a:pt x="125000" y="27000"/>
                  </a:lnTo>
                  <a:lnTo>
                    <a:pt x="126000" y="28000"/>
                  </a:lnTo>
                  <a:lnTo>
                    <a:pt x="126000" y="32000"/>
                  </a:lnTo>
                  <a:lnTo>
                    <a:pt x="127000" y="33000"/>
                  </a:lnTo>
                  <a:lnTo>
                    <a:pt x="127000" y="31000"/>
                  </a:lnTo>
                  <a:lnTo>
                    <a:pt x="129000" y="28000"/>
                  </a:lnTo>
                  <a:lnTo>
                    <a:pt x="130000" y="29000"/>
                  </a:lnTo>
                  <a:lnTo>
                    <a:pt x="130000" y="30000"/>
                  </a:lnTo>
                  <a:lnTo>
                    <a:pt x="131000" y="30000"/>
                  </a:lnTo>
                  <a:lnTo>
                    <a:pt x="131000" y="24000"/>
                  </a:lnTo>
                  <a:lnTo>
                    <a:pt x="132000" y="23000"/>
                  </a:lnTo>
                  <a:lnTo>
                    <a:pt x="132000" y="16000"/>
                  </a:lnTo>
                  <a:lnTo>
                    <a:pt x="133000" y="15000"/>
                  </a:lnTo>
                  <a:lnTo>
                    <a:pt x="134000" y="16000"/>
                  </a:lnTo>
                  <a:lnTo>
                    <a:pt x="134000" y="22000"/>
                  </a:lnTo>
                  <a:lnTo>
                    <a:pt x="135000" y="22000"/>
                  </a:lnTo>
                  <a:lnTo>
                    <a:pt x="135000" y="20000"/>
                  </a:lnTo>
                  <a:lnTo>
                    <a:pt x="136000" y="19000"/>
                  </a:lnTo>
                  <a:lnTo>
                    <a:pt x="136000" y="11000"/>
                  </a:lnTo>
                  <a:lnTo>
                    <a:pt x="137000" y="10000"/>
                  </a:lnTo>
                  <a:lnTo>
                    <a:pt x="138000" y="11000"/>
                  </a:lnTo>
                  <a:lnTo>
                    <a:pt x="138000" y="19000"/>
                  </a:lnTo>
                  <a:lnTo>
                    <a:pt x="139000" y="20000"/>
                  </a:lnTo>
                  <a:lnTo>
                    <a:pt x="139000" y="24000"/>
                  </a:lnTo>
                  <a:lnTo>
                    <a:pt x="140000" y="24000"/>
                  </a:lnTo>
                  <a:lnTo>
                    <a:pt x="140000" y="20000"/>
                  </a:lnTo>
                  <a:lnTo>
                    <a:pt x="141000" y="19000"/>
                  </a:lnTo>
                  <a:lnTo>
                    <a:pt x="142000" y="20000"/>
                  </a:lnTo>
                  <a:lnTo>
                    <a:pt x="142000" y="26000"/>
                  </a:lnTo>
                  <a:lnTo>
                    <a:pt x="143000" y="27000"/>
                  </a:lnTo>
                  <a:lnTo>
                    <a:pt x="143000" y="28000"/>
                  </a:lnTo>
                  <a:lnTo>
                    <a:pt x="143000" y="27000"/>
                  </a:lnTo>
                  <a:lnTo>
                    <a:pt x="144000" y="26000"/>
                  </a:lnTo>
                  <a:lnTo>
                    <a:pt x="145000" y="27000"/>
                  </a:lnTo>
                  <a:lnTo>
                    <a:pt x="145000" y="31000"/>
                  </a:lnTo>
                  <a:lnTo>
                    <a:pt x="146000" y="32000"/>
                  </a:lnTo>
                  <a:lnTo>
                    <a:pt x="146000" y="33000"/>
                  </a:lnTo>
                  <a:lnTo>
                    <a:pt x="147000" y="32000"/>
                  </a:lnTo>
                  <a:lnTo>
                    <a:pt x="147000" y="30000"/>
                  </a:lnTo>
                  <a:lnTo>
                    <a:pt x="148000" y="29000"/>
                  </a:lnTo>
                  <a:lnTo>
                    <a:pt x="149000" y="30000"/>
                  </a:lnTo>
                  <a:lnTo>
                    <a:pt x="150000" y="29000"/>
                  </a:lnTo>
                  <a:lnTo>
                    <a:pt x="150000" y="23000"/>
                  </a:lnTo>
                  <a:lnTo>
                    <a:pt x="151000" y="22000"/>
                  </a:lnTo>
                  <a:lnTo>
                    <a:pt x="152000" y="23000"/>
                  </a:lnTo>
                  <a:lnTo>
                    <a:pt x="152000" y="28000"/>
                  </a:lnTo>
                  <a:lnTo>
                    <a:pt x="153000" y="29000"/>
                  </a:lnTo>
                  <a:lnTo>
                    <a:pt x="153000" y="30000"/>
                  </a:lnTo>
                  <a:lnTo>
                    <a:pt x="153000" y="29000"/>
                  </a:lnTo>
                  <a:lnTo>
                    <a:pt x="154000" y="28000"/>
                  </a:lnTo>
                  <a:lnTo>
                    <a:pt x="154000" y="18000"/>
                  </a:lnTo>
                  <a:lnTo>
                    <a:pt x="155000" y="17000"/>
                  </a:lnTo>
                  <a:lnTo>
                    <a:pt x="155000" y="9000"/>
                  </a:lnTo>
                  <a:lnTo>
                    <a:pt x="156000" y="8000"/>
                  </a:lnTo>
                  <a:lnTo>
                    <a:pt x="157000" y="9000"/>
                  </a:lnTo>
                  <a:lnTo>
                    <a:pt x="157000" y="15000"/>
                  </a:lnTo>
                  <a:lnTo>
                    <a:pt x="158000" y="16000"/>
                  </a:lnTo>
                  <a:lnTo>
                    <a:pt x="159000" y="15000"/>
                  </a:lnTo>
                  <a:lnTo>
                    <a:pt x="159000" y="12000"/>
                  </a:lnTo>
                  <a:lnTo>
                    <a:pt x="160000" y="11000"/>
                  </a:lnTo>
                  <a:lnTo>
                    <a:pt x="161000" y="12000"/>
                  </a:lnTo>
                  <a:lnTo>
                    <a:pt x="161000" y="16000"/>
                  </a:lnTo>
                  <a:lnTo>
                    <a:pt x="162000" y="15000"/>
                  </a:lnTo>
                  <a:lnTo>
                    <a:pt x="162000" y="10000"/>
                  </a:lnTo>
                  <a:lnTo>
                    <a:pt x="163000" y="9000"/>
                  </a:lnTo>
                  <a:lnTo>
                    <a:pt x="164000" y="10000"/>
                  </a:lnTo>
                  <a:lnTo>
                    <a:pt x="164000" y="17000"/>
                  </a:lnTo>
                  <a:lnTo>
                    <a:pt x="165000" y="17000"/>
                  </a:lnTo>
                  <a:lnTo>
                    <a:pt x="165000" y="16000"/>
                  </a:lnTo>
                  <a:lnTo>
                    <a:pt x="166000" y="15000"/>
                  </a:lnTo>
                  <a:lnTo>
                    <a:pt x="168000" y="17000"/>
                  </a:lnTo>
                  <a:lnTo>
                    <a:pt x="168000" y="31000"/>
                  </a:lnTo>
                  <a:lnTo>
                    <a:pt x="169000" y="31000"/>
                  </a:lnTo>
                  <a:lnTo>
                    <a:pt x="171000" y="29000"/>
                  </a:lnTo>
                  <a:lnTo>
                    <a:pt x="172000" y="29000"/>
                  </a:lnTo>
                  <a:lnTo>
                    <a:pt x="172000" y="28000"/>
                  </a:lnTo>
                  <a:lnTo>
                    <a:pt x="173000" y="27000"/>
                  </a:lnTo>
                  <a:lnTo>
                    <a:pt x="174000" y="27000"/>
                  </a:lnTo>
                  <a:lnTo>
                    <a:pt x="175000" y="28000"/>
                  </a:lnTo>
                  <a:lnTo>
                    <a:pt x="176000" y="27000"/>
                  </a:lnTo>
                  <a:lnTo>
                    <a:pt x="176000" y="24000"/>
                  </a:lnTo>
                  <a:lnTo>
                    <a:pt x="177000" y="23000"/>
                  </a:lnTo>
                  <a:lnTo>
                    <a:pt x="178000" y="24000"/>
                  </a:lnTo>
                  <a:lnTo>
                    <a:pt x="178000" y="27000"/>
                  </a:lnTo>
                  <a:lnTo>
                    <a:pt x="179000" y="26000"/>
                  </a:lnTo>
                  <a:lnTo>
                    <a:pt x="179000" y="19000"/>
                  </a:lnTo>
                  <a:lnTo>
                    <a:pt x="180000" y="18000"/>
                  </a:lnTo>
                  <a:lnTo>
                    <a:pt x="181000" y="19000"/>
                  </a:lnTo>
                  <a:lnTo>
                    <a:pt x="182000" y="18000"/>
                  </a:lnTo>
                  <a:lnTo>
                    <a:pt x="182000" y="12000"/>
                  </a:lnTo>
                  <a:lnTo>
                    <a:pt x="183000" y="11000"/>
                  </a:lnTo>
                  <a:lnTo>
                    <a:pt x="184000" y="12000"/>
                  </a:lnTo>
                  <a:lnTo>
                    <a:pt x="184000" y="23000"/>
                  </a:lnTo>
                  <a:lnTo>
                    <a:pt x="185000" y="23000"/>
                  </a:lnTo>
                  <a:lnTo>
                    <a:pt x="186000" y="22000"/>
                  </a:lnTo>
                  <a:lnTo>
                    <a:pt x="187000" y="23000"/>
                  </a:lnTo>
                  <a:lnTo>
                    <a:pt x="187000" y="33000"/>
                  </a:lnTo>
                  <a:lnTo>
                    <a:pt x="188000" y="33000"/>
                  </a:lnTo>
                  <a:lnTo>
                    <a:pt x="188000" y="30000"/>
                  </a:lnTo>
                  <a:lnTo>
                    <a:pt x="189000" y="29000"/>
                  </a:lnTo>
                  <a:lnTo>
                    <a:pt x="190000" y="29000"/>
                  </a:lnTo>
                  <a:lnTo>
                    <a:pt x="191000" y="30000"/>
                  </a:lnTo>
                  <a:lnTo>
                    <a:pt x="191000" y="29000"/>
                  </a:lnTo>
                  <a:lnTo>
                    <a:pt x="192000" y="28000"/>
                  </a:lnTo>
                  <a:lnTo>
                    <a:pt x="192000" y="25000"/>
                  </a:lnTo>
                  <a:lnTo>
                    <a:pt x="193000" y="24000"/>
                  </a:lnTo>
                  <a:lnTo>
                    <a:pt x="194000" y="24000"/>
                  </a:lnTo>
                  <a:lnTo>
                    <a:pt x="194000" y="20000"/>
                  </a:lnTo>
                  <a:lnTo>
                    <a:pt x="195000" y="19000"/>
                  </a:lnTo>
                  <a:lnTo>
                    <a:pt x="196000" y="20000"/>
                  </a:lnTo>
                  <a:lnTo>
                    <a:pt x="196000" y="22000"/>
                  </a:lnTo>
                  <a:lnTo>
                    <a:pt x="197000" y="21000"/>
                  </a:lnTo>
                  <a:lnTo>
                    <a:pt x="197000" y="13000"/>
                  </a:lnTo>
                  <a:lnTo>
                    <a:pt x="198000" y="12000"/>
                  </a:lnTo>
                  <a:lnTo>
                    <a:pt x="198000" y="4000"/>
                  </a:lnTo>
                  <a:lnTo>
                    <a:pt x="199000" y="3000"/>
                  </a:lnTo>
                  <a:lnTo>
                    <a:pt x="200000" y="4000"/>
                  </a:lnTo>
                  <a:lnTo>
                    <a:pt x="200000" y="10000"/>
                  </a:lnTo>
                  <a:lnTo>
                    <a:pt x="201000" y="11000"/>
                  </a:lnTo>
                  <a:lnTo>
                    <a:pt x="201000" y="13000"/>
                  </a:lnTo>
                  <a:close/>
                </a:path>
              </a:pathLst>
            </a:custGeom>
            <a:solidFill>
              <a:srgbClr val="405369"/>
            </a:solidFill>
            <a:ln w="6667" cap="rnd">
              <a:solidFill>
                <a:srgbClr val="40536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0" name="02_Multi_Domain_Prompting"/>
          <p:cNvGrpSpPr/>
          <p:nvPr/>
        </p:nvGrpSpPr>
        <p:grpSpPr>
          <a:xfrm>
            <a:off x="83787" y="2981325"/>
            <a:ext cx="8803038" cy="2647950"/>
            <a:chOff x="83787" y="2981325"/>
            <a:chExt cx="8803038" cy="2647950"/>
          </a:xfrm>
        </p:grpSpPr>
        <p:sp>
          <p:nvSpPr>
            <p:cNvPr id="150" name="Rectangle 149"/>
            <p:cNvSpPr/>
            <p:nvPr/>
          </p:nvSpPr>
          <p:spPr>
            <a:xfrm>
              <a:off x="85725" y="2981325"/>
              <a:ext cx="8801100" cy="2647950"/>
            </a:xfrm>
            <a:prstGeom prst="rect">
              <a:avLst/>
            </a:prstGeom>
            <a:solidFill>
              <a:srgbClr val="FFF8E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1" name="Text: Multi-Domain Prompting"/>
            <p:cNvSpPr txBox="1"/>
            <p:nvPr/>
          </p:nvSpPr>
          <p:spPr>
            <a:xfrm>
              <a:off x="3096546" y="3050476"/>
              <a:ext cx="2779458" cy="3714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950" b="1" i="0">
                  <a:solidFill>
                    <a:srgbClr val="111111"/>
                  </a:solidFill>
                  <a:latin typeface="Liberation Serif"/>
                </a:rPr>
                <a:t>Multi-Domain Prompting</a:t>
              </a:r>
            </a:p>
          </p:txBody>
        </p:sp>
        <p:sp>
          <p:nvSpPr>
            <p:cNvPr id="152" name="Text: Norm &amp; Patchify"/>
            <p:cNvSpPr txBox="1"/>
            <p:nvPr/>
          </p:nvSpPr>
          <p:spPr>
            <a:xfrm>
              <a:off x="1013408" y="3440049"/>
              <a:ext cx="1116434" cy="228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0" i="1">
                  <a:solidFill>
                    <a:srgbClr val="888888"/>
                  </a:solidFill>
                  <a:latin typeface="Liberation Serif"/>
                </a:rPr>
                <a:t>Norm &amp; Patchify</a:t>
              </a:r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390525" y="3638550"/>
              <a:ext cx="2438400" cy="457200"/>
            </a:xfrm>
            <a:prstGeom prst="rect">
              <a:avLst/>
            </a:prstGeom>
            <a:noFill/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438150" y="3724275"/>
              <a:ext cx="24765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447675" y="3805238"/>
              <a:ext cx="228600" cy="157162"/>
            </a:xfrm>
            <a:custGeom>
              <a:avLst/>
              <a:gdLst/>
              <a:ahLst/>
              <a:cxnLst/>
              <a:rect l="0" t="0" r="r" b="b"/>
              <a:pathLst>
                <a:path w="24000" h="16500" fill="none">
                  <a:moveTo>
                    <a:pt x="0" y="15000"/>
                  </a:moveTo>
                  <a:lnTo>
                    <a:pt x="1000" y="13000"/>
                  </a:lnTo>
                  <a:lnTo>
                    <a:pt x="2000" y="10000"/>
                  </a:lnTo>
                  <a:lnTo>
                    <a:pt x="3000" y="6500"/>
                  </a:lnTo>
                  <a:lnTo>
                    <a:pt x="4000" y="3000"/>
                  </a:lnTo>
                  <a:lnTo>
                    <a:pt x="5000" y="500"/>
                  </a:lnTo>
                  <a:lnTo>
                    <a:pt x="6000" y="0"/>
                  </a:lnTo>
                  <a:lnTo>
                    <a:pt x="7000" y="1500"/>
                  </a:lnTo>
                  <a:lnTo>
                    <a:pt x="8000" y="5000"/>
                  </a:lnTo>
                  <a:lnTo>
                    <a:pt x="9000" y="9000"/>
                  </a:lnTo>
                  <a:lnTo>
                    <a:pt x="10000" y="12000"/>
                  </a:lnTo>
                  <a:lnTo>
                    <a:pt x="11000" y="14500"/>
                  </a:lnTo>
                  <a:lnTo>
                    <a:pt x="12000" y="15000"/>
                  </a:lnTo>
                  <a:lnTo>
                    <a:pt x="13000" y="13000"/>
                  </a:lnTo>
                  <a:lnTo>
                    <a:pt x="14000" y="10500"/>
                  </a:lnTo>
                  <a:lnTo>
                    <a:pt x="15000" y="7500"/>
                  </a:lnTo>
                  <a:lnTo>
                    <a:pt x="16000" y="5500"/>
                  </a:lnTo>
                  <a:lnTo>
                    <a:pt x="17000" y="4000"/>
                  </a:lnTo>
                  <a:lnTo>
                    <a:pt x="18000" y="4500"/>
                  </a:lnTo>
                  <a:lnTo>
                    <a:pt x="19000" y="6000"/>
                  </a:lnTo>
                  <a:lnTo>
                    <a:pt x="20000" y="8000"/>
                  </a:lnTo>
                  <a:lnTo>
                    <a:pt x="21000" y="10000"/>
                  </a:lnTo>
                  <a:lnTo>
                    <a:pt x="22000" y="12000"/>
                  </a:lnTo>
                  <a:lnTo>
                    <a:pt x="23000" y="14500"/>
                  </a:lnTo>
                  <a:lnTo>
                    <a:pt x="24000" y="16500"/>
                  </a:lnTo>
                </a:path>
              </a:pathLst>
            </a:custGeom>
            <a:noFill/>
            <a:ln w="15240" cap="rnd">
              <a:solidFill>
                <a:srgbClr val="28282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438150" y="4029075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99999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781050" y="3724275"/>
              <a:ext cx="24765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790575" y="3748088"/>
              <a:ext cx="228600" cy="238125"/>
            </a:xfrm>
            <a:custGeom>
              <a:avLst/>
              <a:gdLst/>
              <a:ahLst/>
              <a:cxnLst/>
              <a:rect l="0" t="0" r="r" b="b"/>
              <a:pathLst>
                <a:path w="24000" h="25000" fill="none">
                  <a:moveTo>
                    <a:pt x="0" y="10000"/>
                  </a:moveTo>
                  <a:lnTo>
                    <a:pt x="1000" y="11500"/>
                  </a:lnTo>
                  <a:lnTo>
                    <a:pt x="2000" y="13500"/>
                  </a:lnTo>
                  <a:lnTo>
                    <a:pt x="3000" y="15500"/>
                  </a:lnTo>
                  <a:lnTo>
                    <a:pt x="4000" y="18000"/>
                  </a:lnTo>
                  <a:lnTo>
                    <a:pt x="5000" y="20000"/>
                  </a:lnTo>
                  <a:lnTo>
                    <a:pt x="6000" y="22500"/>
                  </a:lnTo>
                  <a:lnTo>
                    <a:pt x="7000" y="24000"/>
                  </a:lnTo>
                  <a:lnTo>
                    <a:pt x="8000" y="25000"/>
                  </a:lnTo>
                  <a:lnTo>
                    <a:pt x="9000" y="23000"/>
                  </a:lnTo>
                  <a:lnTo>
                    <a:pt x="10000" y="16500"/>
                  </a:lnTo>
                  <a:lnTo>
                    <a:pt x="11000" y="12000"/>
                  </a:lnTo>
                  <a:lnTo>
                    <a:pt x="12000" y="7000"/>
                  </a:lnTo>
                  <a:lnTo>
                    <a:pt x="13000" y="500"/>
                  </a:lnTo>
                  <a:lnTo>
                    <a:pt x="14000" y="0"/>
                  </a:lnTo>
                  <a:lnTo>
                    <a:pt x="15000" y="2500"/>
                  </a:lnTo>
                  <a:lnTo>
                    <a:pt x="16000" y="4500"/>
                  </a:lnTo>
                  <a:lnTo>
                    <a:pt x="17000" y="8500"/>
                  </a:lnTo>
                  <a:lnTo>
                    <a:pt x="18000" y="12000"/>
                  </a:lnTo>
                  <a:lnTo>
                    <a:pt x="19000" y="15500"/>
                  </a:lnTo>
                  <a:lnTo>
                    <a:pt x="20000" y="19000"/>
                  </a:lnTo>
                  <a:lnTo>
                    <a:pt x="21000" y="21500"/>
                  </a:lnTo>
                  <a:lnTo>
                    <a:pt x="22000" y="24000"/>
                  </a:lnTo>
                  <a:lnTo>
                    <a:pt x="23000" y="25000"/>
                  </a:lnTo>
                  <a:lnTo>
                    <a:pt x="24000" y="25000"/>
                  </a:lnTo>
                </a:path>
              </a:pathLst>
            </a:custGeom>
            <a:noFill/>
            <a:ln w="15240" cap="rnd">
              <a:solidFill>
                <a:srgbClr val="28282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781050" y="4029075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99999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1123950" y="3724275"/>
              <a:ext cx="24765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1133475" y="3819525"/>
              <a:ext cx="228600" cy="166688"/>
            </a:xfrm>
            <a:custGeom>
              <a:avLst/>
              <a:gdLst/>
              <a:ahLst/>
              <a:cxnLst/>
              <a:rect l="0" t="0" r="r" b="b"/>
              <a:pathLst>
                <a:path w="24000" h="17500" fill="none">
                  <a:moveTo>
                    <a:pt x="0" y="11500"/>
                  </a:moveTo>
                  <a:lnTo>
                    <a:pt x="1000" y="13500"/>
                  </a:lnTo>
                  <a:lnTo>
                    <a:pt x="2000" y="15500"/>
                  </a:lnTo>
                  <a:lnTo>
                    <a:pt x="3000" y="17000"/>
                  </a:lnTo>
                  <a:lnTo>
                    <a:pt x="4000" y="17500"/>
                  </a:lnTo>
                  <a:lnTo>
                    <a:pt x="5000" y="16500"/>
                  </a:lnTo>
                  <a:lnTo>
                    <a:pt x="6000" y="14500"/>
                  </a:lnTo>
                  <a:lnTo>
                    <a:pt x="7000" y="12500"/>
                  </a:lnTo>
                  <a:lnTo>
                    <a:pt x="8000" y="10500"/>
                  </a:lnTo>
                  <a:lnTo>
                    <a:pt x="9000" y="8500"/>
                  </a:lnTo>
                  <a:lnTo>
                    <a:pt x="10000" y="7000"/>
                  </a:lnTo>
                  <a:lnTo>
                    <a:pt x="11000" y="7000"/>
                  </a:lnTo>
                  <a:lnTo>
                    <a:pt x="12000" y="8000"/>
                  </a:lnTo>
                  <a:lnTo>
                    <a:pt x="13000" y="9500"/>
                  </a:lnTo>
                  <a:lnTo>
                    <a:pt x="14000" y="11000"/>
                  </a:lnTo>
                  <a:lnTo>
                    <a:pt x="15000" y="13000"/>
                  </a:lnTo>
                  <a:lnTo>
                    <a:pt x="16000" y="15000"/>
                  </a:lnTo>
                  <a:lnTo>
                    <a:pt x="17000" y="16500"/>
                  </a:lnTo>
                  <a:lnTo>
                    <a:pt x="18000" y="17500"/>
                  </a:lnTo>
                  <a:lnTo>
                    <a:pt x="19000" y="17500"/>
                  </a:lnTo>
                  <a:lnTo>
                    <a:pt x="20000" y="15000"/>
                  </a:lnTo>
                  <a:lnTo>
                    <a:pt x="21000" y="12000"/>
                  </a:lnTo>
                  <a:lnTo>
                    <a:pt x="22000" y="7500"/>
                  </a:lnTo>
                  <a:lnTo>
                    <a:pt x="23000" y="3500"/>
                  </a:lnTo>
                  <a:lnTo>
                    <a:pt x="24000" y="0"/>
                  </a:lnTo>
                </a:path>
              </a:pathLst>
            </a:custGeom>
            <a:noFill/>
            <a:ln w="15240" cap="rnd">
              <a:solidFill>
                <a:srgbClr val="28282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1123950" y="4029075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99999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1466850" y="3724275"/>
              <a:ext cx="24765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1476375" y="3733800"/>
              <a:ext cx="228600" cy="252412"/>
            </a:xfrm>
            <a:custGeom>
              <a:avLst/>
              <a:gdLst/>
              <a:ahLst/>
              <a:cxnLst/>
              <a:rect l="0" t="0" r="r" b="b"/>
              <a:pathLst>
                <a:path w="24000" h="26500" fill="none">
                  <a:moveTo>
                    <a:pt x="0" y="23000"/>
                  </a:moveTo>
                  <a:lnTo>
                    <a:pt x="1000" y="20000"/>
                  </a:lnTo>
                  <a:lnTo>
                    <a:pt x="2000" y="16000"/>
                  </a:lnTo>
                  <a:lnTo>
                    <a:pt x="3000" y="12000"/>
                  </a:lnTo>
                  <a:lnTo>
                    <a:pt x="4000" y="9000"/>
                  </a:lnTo>
                  <a:lnTo>
                    <a:pt x="5000" y="8000"/>
                  </a:lnTo>
                  <a:lnTo>
                    <a:pt x="6000" y="9500"/>
                  </a:lnTo>
                  <a:lnTo>
                    <a:pt x="7000" y="12500"/>
                  </a:lnTo>
                  <a:lnTo>
                    <a:pt x="8000" y="15500"/>
                  </a:lnTo>
                  <a:lnTo>
                    <a:pt x="9000" y="19000"/>
                  </a:lnTo>
                  <a:lnTo>
                    <a:pt x="10000" y="21500"/>
                  </a:lnTo>
                  <a:lnTo>
                    <a:pt x="11000" y="24500"/>
                  </a:lnTo>
                  <a:lnTo>
                    <a:pt x="12000" y="26000"/>
                  </a:lnTo>
                  <a:lnTo>
                    <a:pt x="13000" y="26500"/>
                  </a:lnTo>
                  <a:lnTo>
                    <a:pt x="14000" y="25500"/>
                  </a:lnTo>
                  <a:lnTo>
                    <a:pt x="15000" y="24000"/>
                  </a:lnTo>
                  <a:lnTo>
                    <a:pt x="16000" y="21000"/>
                  </a:lnTo>
                  <a:lnTo>
                    <a:pt x="17000" y="17500"/>
                  </a:lnTo>
                  <a:lnTo>
                    <a:pt x="18000" y="13500"/>
                  </a:lnTo>
                  <a:lnTo>
                    <a:pt x="19000" y="10000"/>
                  </a:lnTo>
                  <a:lnTo>
                    <a:pt x="20000" y="7000"/>
                  </a:lnTo>
                  <a:lnTo>
                    <a:pt x="21000" y="4000"/>
                  </a:lnTo>
                  <a:lnTo>
                    <a:pt x="22000" y="1500"/>
                  </a:lnTo>
                  <a:lnTo>
                    <a:pt x="23000" y="500"/>
                  </a:lnTo>
                  <a:lnTo>
                    <a:pt x="24000" y="0"/>
                  </a:lnTo>
                </a:path>
              </a:pathLst>
            </a:custGeom>
            <a:noFill/>
            <a:ln w="15240" cap="rnd">
              <a:solidFill>
                <a:srgbClr val="28282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1466850" y="4029075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99999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1809750" y="3724275"/>
              <a:ext cx="24765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1819275" y="3733800"/>
              <a:ext cx="228600" cy="233362"/>
            </a:xfrm>
            <a:custGeom>
              <a:avLst/>
              <a:gdLst/>
              <a:ahLst/>
              <a:cxnLst/>
              <a:rect l="0" t="0" r="r" b="b"/>
              <a:pathLst>
                <a:path w="24000" h="24500" fill="none">
                  <a:moveTo>
                    <a:pt x="0" y="24500"/>
                  </a:moveTo>
                  <a:lnTo>
                    <a:pt x="1000" y="22000"/>
                  </a:lnTo>
                  <a:lnTo>
                    <a:pt x="2000" y="19000"/>
                  </a:lnTo>
                  <a:lnTo>
                    <a:pt x="3000" y="15500"/>
                  </a:lnTo>
                  <a:lnTo>
                    <a:pt x="4000" y="11500"/>
                  </a:lnTo>
                  <a:lnTo>
                    <a:pt x="5000" y="7000"/>
                  </a:lnTo>
                  <a:lnTo>
                    <a:pt x="6000" y="4000"/>
                  </a:lnTo>
                  <a:lnTo>
                    <a:pt x="7000" y="2000"/>
                  </a:lnTo>
                  <a:lnTo>
                    <a:pt x="8000" y="500"/>
                  </a:lnTo>
                  <a:lnTo>
                    <a:pt x="9000" y="0"/>
                  </a:lnTo>
                  <a:lnTo>
                    <a:pt x="10000" y="1000"/>
                  </a:lnTo>
                  <a:lnTo>
                    <a:pt x="11000" y="2000"/>
                  </a:lnTo>
                  <a:lnTo>
                    <a:pt x="12000" y="4500"/>
                  </a:lnTo>
                  <a:lnTo>
                    <a:pt x="13000" y="7000"/>
                  </a:lnTo>
                  <a:lnTo>
                    <a:pt x="14000" y="10000"/>
                  </a:lnTo>
                  <a:lnTo>
                    <a:pt x="15000" y="13000"/>
                  </a:lnTo>
                  <a:lnTo>
                    <a:pt x="16000" y="15500"/>
                  </a:lnTo>
                  <a:lnTo>
                    <a:pt x="17000" y="18500"/>
                  </a:lnTo>
                  <a:lnTo>
                    <a:pt x="18000" y="20000"/>
                  </a:lnTo>
                  <a:lnTo>
                    <a:pt x="19000" y="22000"/>
                  </a:lnTo>
                  <a:lnTo>
                    <a:pt x="20000" y="21500"/>
                  </a:lnTo>
                  <a:lnTo>
                    <a:pt x="21000" y="19000"/>
                  </a:lnTo>
                  <a:lnTo>
                    <a:pt x="22000" y="16000"/>
                  </a:lnTo>
                  <a:lnTo>
                    <a:pt x="23000" y="12500"/>
                  </a:lnTo>
                  <a:lnTo>
                    <a:pt x="24000" y="10000"/>
                  </a:lnTo>
                </a:path>
              </a:pathLst>
            </a:custGeom>
            <a:noFill/>
            <a:ln w="15240" cap="rnd">
              <a:solidFill>
                <a:srgbClr val="28282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1809750" y="4029075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99999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2152650" y="3724275"/>
              <a:ext cx="24765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2162175" y="3771900"/>
              <a:ext cx="228600" cy="209550"/>
            </a:xfrm>
            <a:custGeom>
              <a:avLst/>
              <a:gdLst/>
              <a:ahLst/>
              <a:cxnLst/>
              <a:rect l="0" t="0" r="r" b="b"/>
              <a:pathLst>
                <a:path w="24000" h="22000" fill="none">
                  <a:moveTo>
                    <a:pt x="0" y="16000"/>
                  </a:moveTo>
                  <a:lnTo>
                    <a:pt x="1000" y="17500"/>
                  </a:lnTo>
                  <a:lnTo>
                    <a:pt x="2000" y="18000"/>
                  </a:lnTo>
                  <a:lnTo>
                    <a:pt x="3000" y="16500"/>
                  </a:lnTo>
                  <a:lnTo>
                    <a:pt x="4000" y="13500"/>
                  </a:lnTo>
                  <a:lnTo>
                    <a:pt x="5000" y="10000"/>
                  </a:lnTo>
                  <a:lnTo>
                    <a:pt x="6000" y="7500"/>
                  </a:lnTo>
                  <a:lnTo>
                    <a:pt x="7000" y="4500"/>
                  </a:lnTo>
                  <a:lnTo>
                    <a:pt x="8000" y="6000"/>
                  </a:lnTo>
                  <a:lnTo>
                    <a:pt x="9000" y="9000"/>
                  </a:lnTo>
                  <a:lnTo>
                    <a:pt x="10000" y="12500"/>
                  </a:lnTo>
                  <a:lnTo>
                    <a:pt x="11000" y="16500"/>
                  </a:lnTo>
                  <a:lnTo>
                    <a:pt x="12000" y="20000"/>
                  </a:lnTo>
                  <a:lnTo>
                    <a:pt x="13000" y="22000"/>
                  </a:lnTo>
                  <a:lnTo>
                    <a:pt x="14000" y="21000"/>
                  </a:lnTo>
                  <a:lnTo>
                    <a:pt x="15000" y="18500"/>
                  </a:lnTo>
                  <a:lnTo>
                    <a:pt x="16000" y="15000"/>
                  </a:lnTo>
                  <a:lnTo>
                    <a:pt x="17000" y="11500"/>
                  </a:lnTo>
                  <a:lnTo>
                    <a:pt x="18000" y="8000"/>
                  </a:lnTo>
                  <a:lnTo>
                    <a:pt x="19000" y="4500"/>
                  </a:lnTo>
                  <a:lnTo>
                    <a:pt x="20000" y="2500"/>
                  </a:lnTo>
                  <a:lnTo>
                    <a:pt x="21000" y="1000"/>
                  </a:lnTo>
                  <a:lnTo>
                    <a:pt x="22000" y="0"/>
                  </a:lnTo>
                  <a:lnTo>
                    <a:pt x="23000" y="500"/>
                  </a:lnTo>
                  <a:lnTo>
                    <a:pt x="24000" y="1500"/>
                  </a:lnTo>
                </a:path>
              </a:pathLst>
            </a:custGeom>
            <a:noFill/>
            <a:ln w="15240" cap="rnd">
              <a:solidFill>
                <a:srgbClr val="28282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2152650" y="4029075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99999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2495550" y="3724275"/>
              <a:ext cx="24765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2505075" y="3776662"/>
              <a:ext cx="200025" cy="200025"/>
            </a:xfrm>
            <a:custGeom>
              <a:avLst/>
              <a:gdLst/>
              <a:ahLst/>
              <a:cxnLst/>
              <a:rect l="0" t="0" r="r" b="b"/>
              <a:pathLst>
                <a:path w="21000" h="21000" fill="none">
                  <a:moveTo>
                    <a:pt x="0" y="11500"/>
                  </a:moveTo>
                  <a:lnTo>
                    <a:pt x="1000" y="15000"/>
                  </a:lnTo>
                  <a:lnTo>
                    <a:pt x="2000" y="18500"/>
                  </a:lnTo>
                  <a:lnTo>
                    <a:pt x="3000" y="21000"/>
                  </a:lnTo>
                  <a:lnTo>
                    <a:pt x="4000" y="20500"/>
                  </a:lnTo>
                  <a:lnTo>
                    <a:pt x="5000" y="18500"/>
                  </a:lnTo>
                  <a:lnTo>
                    <a:pt x="6000" y="16000"/>
                  </a:lnTo>
                  <a:lnTo>
                    <a:pt x="7000" y="12500"/>
                  </a:lnTo>
                  <a:lnTo>
                    <a:pt x="8000" y="8500"/>
                  </a:lnTo>
                  <a:lnTo>
                    <a:pt x="9000" y="5000"/>
                  </a:lnTo>
                  <a:lnTo>
                    <a:pt x="10000" y="3000"/>
                  </a:lnTo>
                  <a:lnTo>
                    <a:pt x="11000" y="1000"/>
                  </a:lnTo>
                  <a:lnTo>
                    <a:pt x="12000" y="0"/>
                  </a:lnTo>
                  <a:lnTo>
                    <a:pt x="13000" y="0"/>
                  </a:lnTo>
                  <a:lnTo>
                    <a:pt x="14000" y="500"/>
                  </a:lnTo>
                  <a:lnTo>
                    <a:pt x="15000" y="1500"/>
                  </a:lnTo>
                  <a:lnTo>
                    <a:pt x="16000" y="3000"/>
                  </a:lnTo>
                  <a:lnTo>
                    <a:pt x="17000" y="4500"/>
                  </a:lnTo>
                  <a:lnTo>
                    <a:pt x="18000" y="6500"/>
                  </a:lnTo>
                  <a:lnTo>
                    <a:pt x="19000" y="8500"/>
                  </a:lnTo>
                  <a:lnTo>
                    <a:pt x="20000" y="10000"/>
                  </a:lnTo>
                  <a:lnTo>
                    <a:pt x="21000" y="11500"/>
                  </a:lnTo>
                </a:path>
              </a:pathLst>
            </a:custGeom>
            <a:noFill/>
            <a:ln w="15240" cap="rnd">
              <a:solidFill>
                <a:srgbClr val="28282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2495550" y="4029075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99999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2838450" y="3867150"/>
              <a:ext cx="581025" cy="952"/>
            </a:xfrm>
            <a:custGeom>
              <a:avLst/>
              <a:gdLst/>
              <a:ahLst/>
              <a:cxnLst/>
              <a:rect l="0" t="0" r="r" b="b"/>
              <a:pathLst>
                <a:path w="61000" h="100" fill="none">
                  <a:moveTo>
                    <a:pt x="0" y="0"/>
                  </a:moveTo>
                  <a:lnTo>
                    <a:pt x="6100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3352800" y="3839146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7000" y="2940"/>
                  </a:moveTo>
                  <a:lnTo>
                    <a:pt x="0" y="0"/>
                  </a:lnTo>
                  <a:lnTo>
                    <a:pt x="2310" y="2940"/>
                  </a:lnTo>
                  <a:lnTo>
                    <a:pt x="0" y="588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Text: Projection"/>
            <p:cNvSpPr txBox="1"/>
            <p:nvPr/>
          </p:nvSpPr>
          <p:spPr>
            <a:xfrm>
              <a:off x="3800735" y="3440049"/>
              <a:ext cx="704329" cy="228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0" i="1">
                  <a:solidFill>
                    <a:srgbClr val="888888"/>
                  </a:solidFill>
                  <a:latin typeface="Liberation Serif"/>
                </a:rPr>
                <a:t>Projection</a:t>
              </a:r>
            </a:p>
          </p:txBody>
        </p:sp>
        <p:sp>
          <p:nvSpPr>
            <p:cNvPr id="178" name="Rounded Rectangle 177"/>
            <p:cNvSpPr/>
            <p:nvPr/>
          </p:nvSpPr>
          <p:spPr>
            <a:xfrm>
              <a:off x="3419475" y="3667125"/>
              <a:ext cx="1409700" cy="419100"/>
            </a:xfrm>
            <a:prstGeom prst="roundRect">
              <a:avLst>
                <a:gd name="adj" fmla="val 11363"/>
              </a:avLst>
            </a:prstGeom>
            <a:solidFill>
              <a:srgbClr val="F7CAA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Text: Linear"/>
            <p:cNvSpPr txBox="1"/>
            <p:nvPr/>
          </p:nvSpPr>
          <p:spPr>
            <a:xfrm>
              <a:off x="3851970" y="3754755"/>
              <a:ext cx="563761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Linear</a:t>
              </a:r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4518660" y="3714750"/>
              <a:ext cx="251460" cy="228600"/>
            </a:xfrm>
            <a:custGeom>
              <a:avLst/>
              <a:gdLst/>
              <a:ahLst/>
              <a:cxnLst/>
              <a:rect l="0" t="0" r="r" b="b"/>
              <a:pathLst>
                <a:path w="26400" h="24000" fill="norm">
                  <a:moveTo>
                    <a:pt x="9600" y="21600"/>
                  </a:moveTo>
                  <a:cubicBezTo>
                    <a:pt x="0" y="20800"/>
                    <a:pt x="1600" y="11200"/>
                    <a:pt x="6400" y="8000"/>
                  </a:cubicBezTo>
                  <a:cubicBezTo>
                    <a:pt x="5600" y="12800"/>
                    <a:pt x="8800" y="14400"/>
                    <a:pt x="9600" y="9600"/>
                  </a:cubicBezTo>
                  <a:cubicBezTo>
                    <a:pt x="10400" y="4800"/>
                    <a:pt x="13600" y="4800"/>
                    <a:pt x="11200" y="0"/>
                  </a:cubicBezTo>
                  <a:cubicBezTo>
                    <a:pt x="20000" y="4800"/>
                    <a:pt x="16000" y="10400"/>
                    <a:pt x="20000" y="12000"/>
                  </a:cubicBezTo>
                  <a:cubicBezTo>
                    <a:pt x="21600" y="10400"/>
                    <a:pt x="20800" y="8000"/>
                    <a:pt x="20800" y="7200"/>
                  </a:cubicBezTo>
                  <a:cubicBezTo>
                    <a:pt x="26400" y="16000"/>
                    <a:pt x="23200" y="22400"/>
                    <a:pt x="16000" y="23200"/>
                  </a:cubicBezTo>
                  <a:cubicBezTo>
                    <a:pt x="13600" y="24000"/>
                    <a:pt x="11200" y="23200"/>
                    <a:pt x="9600" y="21600"/>
                  </a:cubicBezTo>
                  <a:close/>
                </a:path>
              </a:pathLst>
            </a:custGeom>
            <a:solidFill>
              <a:srgbClr val="F8894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4572000" y="3806190"/>
              <a:ext cx="160020" cy="129540"/>
            </a:xfrm>
            <a:custGeom>
              <a:avLst/>
              <a:gdLst/>
              <a:ahLst/>
              <a:cxnLst/>
              <a:rect l="0" t="0" r="r" b="b"/>
              <a:pathLst>
                <a:path w="16800" h="13600" fill="norm">
                  <a:moveTo>
                    <a:pt x="3200" y="10400"/>
                  </a:moveTo>
                  <a:cubicBezTo>
                    <a:pt x="0" y="5600"/>
                    <a:pt x="4000" y="2400"/>
                    <a:pt x="4000" y="800"/>
                  </a:cubicBezTo>
                  <a:cubicBezTo>
                    <a:pt x="4000" y="5600"/>
                    <a:pt x="7200" y="4800"/>
                    <a:pt x="8000" y="0"/>
                  </a:cubicBezTo>
                  <a:cubicBezTo>
                    <a:pt x="12000" y="3200"/>
                    <a:pt x="11200" y="8000"/>
                    <a:pt x="13600" y="7200"/>
                  </a:cubicBezTo>
                  <a:cubicBezTo>
                    <a:pt x="13600" y="4800"/>
                    <a:pt x="13600" y="4000"/>
                    <a:pt x="14400" y="4000"/>
                  </a:cubicBezTo>
                  <a:cubicBezTo>
                    <a:pt x="16800" y="10400"/>
                    <a:pt x="12000" y="13600"/>
                    <a:pt x="8000" y="12800"/>
                  </a:cubicBezTo>
                  <a:cubicBezTo>
                    <a:pt x="5600" y="12800"/>
                    <a:pt x="4000" y="12000"/>
                    <a:pt x="3200" y="10400"/>
                  </a:cubicBezTo>
                  <a:close/>
                </a:path>
              </a:pathLst>
            </a:custGeom>
            <a:solidFill>
              <a:srgbClr val="FFC56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4617720" y="3851910"/>
              <a:ext cx="68580" cy="76200"/>
            </a:xfrm>
            <a:custGeom>
              <a:avLst/>
              <a:gdLst/>
              <a:ahLst/>
              <a:cxnLst/>
              <a:rect l="0" t="0" r="r" b="b"/>
              <a:pathLst>
                <a:path w="7200" h="8000" fill="norm">
                  <a:moveTo>
                    <a:pt x="1600" y="6400"/>
                  </a:moveTo>
                  <a:cubicBezTo>
                    <a:pt x="0" y="3200"/>
                    <a:pt x="3200" y="1600"/>
                    <a:pt x="3200" y="0"/>
                  </a:cubicBezTo>
                  <a:cubicBezTo>
                    <a:pt x="7200" y="4000"/>
                    <a:pt x="6400" y="7200"/>
                    <a:pt x="4000" y="8000"/>
                  </a:cubicBezTo>
                  <a:close/>
                </a:path>
              </a:pathLst>
            </a:custGeom>
            <a:solidFill>
              <a:srgbClr val="FFE2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4838700" y="3876675"/>
              <a:ext cx="666750" cy="952"/>
            </a:xfrm>
            <a:custGeom>
              <a:avLst/>
              <a:gdLst/>
              <a:ahLst/>
              <a:cxnLst/>
              <a:rect l="0" t="0" r="r" b="b"/>
              <a:pathLst>
                <a:path w="70000" h="100" fill="none">
                  <a:moveTo>
                    <a:pt x="0" y="0"/>
                  </a:moveTo>
                  <a:lnTo>
                    <a:pt x="7000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5438775" y="3848672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7000" y="2940"/>
                  </a:moveTo>
                  <a:lnTo>
                    <a:pt x="0" y="0"/>
                  </a:lnTo>
                  <a:lnTo>
                    <a:pt x="2310" y="2940"/>
                  </a:lnTo>
                  <a:lnTo>
                    <a:pt x="0" y="588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5505450" y="3467100"/>
              <a:ext cx="3076575" cy="676275"/>
            </a:xfrm>
            <a:prstGeom prst="rect">
              <a:avLst/>
            </a:prstGeom>
            <a:noFill/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5610225" y="3533775"/>
              <a:ext cx="171450" cy="5238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5643562" y="3571875"/>
              <a:ext cx="104775" cy="104775"/>
            </a:xfrm>
            <a:prstGeom prst="rect">
              <a:avLst/>
            </a:prstGeom>
            <a:solidFill>
              <a:srgbClr val="FFDD58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5643562" y="3695700"/>
              <a:ext cx="104775" cy="104775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5643562" y="3914775"/>
              <a:ext cx="104775" cy="104775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0" name="Oval 189"/>
            <p:cNvSpPr/>
            <p:nvPr/>
          </p:nvSpPr>
          <p:spPr>
            <a:xfrm>
              <a:off x="5690235" y="3823335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1" name="Oval 190"/>
            <p:cNvSpPr/>
            <p:nvPr/>
          </p:nvSpPr>
          <p:spPr>
            <a:xfrm>
              <a:off x="5690235" y="38519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2" name="Oval 191"/>
            <p:cNvSpPr/>
            <p:nvPr/>
          </p:nvSpPr>
          <p:spPr>
            <a:xfrm>
              <a:off x="5690235" y="3880485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6143625" y="3533775"/>
              <a:ext cx="171450" cy="5238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6176962" y="3571875"/>
              <a:ext cx="104775" cy="104775"/>
            </a:xfrm>
            <a:prstGeom prst="rect">
              <a:avLst/>
            </a:prstGeom>
            <a:solidFill>
              <a:srgbClr val="FFDD58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6176962" y="3695700"/>
              <a:ext cx="104775" cy="104775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6176962" y="3914775"/>
              <a:ext cx="104775" cy="104775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7" name="Oval 196"/>
            <p:cNvSpPr/>
            <p:nvPr/>
          </p:nvSpPr>
          <p:spPr>
            <a:xfrm>
              <a:off x="6223635" y="3823335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8" name="Oval 197"/>
            <p:cNvSpPr/>
            <p:nvPr/>
          </p:nvSpPr>
          <p:spPr>
            <a:xfrm>
              <a:off x="6223635" y="38519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9" name="Oval 198"/>
            <p:cNvSpPr/>
            <p:nvPr/>
          </p:nvSpPr>
          <p:spPr>
            <a:xfrm>
              <a:off x="6223635" y="3880485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6505575" y="3533775"/>
              <a:ext cx="171450" cy="5238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6538912" y="3571875"/>
              <a:ext cx="104775" cy="104775"/>
            </a:xfrm>
            <a:prstGeom prst="rect">
              <a:avLst/>
            </a:prstGeom>
            <a:solidFill>
              <a:srgbClr val="FFDD58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6538912" y="3695700"/>
              <a:ext cx="104775" cy="104775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6538912" y="3914775"/>
              <a:ext cx="104775" cy="104775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4" name="Oval 203"/>
            <p:cNvSpPr/>
            <p:nvPr/>
          </p:nvSpPr>
          <p:spPr>
            <a:xfrm>
              <a:off x="6585585" y="3823335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5" name="Oval 204"/>
            <p:cNvSpPr/>
            <p:nvPr/>
          </p:nvSpPr>
          <p:spPr>
            <a:xfrm>
              <a:off x="6585585" y="38519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6" name="Oval 205"/>
            <p:cNvSpPr/>
            <p:nvPr/>
          </p:nvSpPr>
          <p:spPr>
            <a:xfrm>
              <a:off x="6585585" y="3880485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6867525" y="3533775"/>
              <a:ext cx="171450" cy="5238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6900862" y="3571875"/>
              <a:ext cx="104775" cy="104775"/>
            </a:xfrm>
            <a:prstGeom prst="rect">
              <a:avLst/>
            </a:prstGeom>
            <a:solidFill>
              <a:srgbClr val="FFDD58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6900862" y="3695700"/>
              <a:ext cx="104775" cy="104775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6900862" y="3914775"/>
              <a:ext cx="104775" cy="104775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1" name="Oval 210"/>
            <p:cNvSpPr/>
            <p:nvPr/>
          </p:nvSpPr>
          <p:spPr>
            <a:xfrm>
              <a:off x="6947535" y="3823335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2" name="Oval 211"/>
            <p:cNvSpPr/>
            <p:nvPr/>
          </p:nvSpPr>
          <p:spPr>
            <a:xfrm>
              <a:off x="6947535" y="38519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3" name="Oval 212"/>
            <p:cNvSpPr/>
            <p:nvPr/>
          </p:nvSpPr>
          <p:spPr>
            <a:xfrm>
              <a:off x="6947535" y="3880485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7229475" y="3533775"/>
              <a:ext cx="171450" cy="5238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5" name="Rectangle 214"/>
            <p:cNvSpPr/>
            <p:nvPr/>
          </p:nvSpPr>
          <p:spPr>
            <a:xfrm>
              <a:off x="7262812" y="3571875"/>
              <a:ext cx="104775" cy="104775"/>
            </a:xfrm>
            <a:prstGeom prst="rect">
              <a:avLst/>
            </a:prstGeom>
            <a:solidFill>
              <a:srgbClr val="FFDD58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6" name="Rectangle 215"/>
            <p:cNvSpPr/>
            <p:nvPr/>
          </p:nvSpPr>
          <p:spPr>
            <a:xfrm>
              <a:off x="7262812" y="3695700"/>
              <a:ext cx="104775" cy="104775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7" name="Rectangle 216"/>
            <p:cNvSpPr/>
            <p:nvPr/>
          </p:nvSpPr>
          <p:spPr>
            <a:xfrm>
              <a:off x="7262812" y="3914775"/>
              <a:ext cx="104775" cy="104775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8" name="Oval 217"/>
            <p:cNvSpPr/>
            <p:nvPr/>
          </p:nvSpPr>
          <p:spPr>
            <a:xfrm>
              <a:off x="7309485" y="3823335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9" name="Oval 218"/>
            <p:cNvSpPr/>
            <p:nvPr/>
          </p:nvSpPr>
          <p:spPr>
            <a:xfrm>
              <a:off x="7309485" y="38519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0" name="Oval 219"/>
            <p:cNvSpPr/>
            <p:nvPr/>
          </p:nvSpPr>
          <p:spPr>
            <a:xfrm>
              <a:off x="7309485" y="3880485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7591425" y="3533775"/>
              <a:ext cx="171450" cy="5238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7624762" y="3571875"/>
              <a:ext cx="104775" cy="104775"/>
            </a:xfrm>
            <a:prstGeom prst="rect">
              <a:avLst/>
            </a:prstGeom>
            <a:solidFill>
              <a:srgbClr val="FFDD58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7624762" y="3695700"/>
              <a:ext cx="104775" cy="104775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7624762" y="3914775"/>
              <a:ext cx="104775" cy="104775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5" name="Oval 224"/>
            <p:cNvSpPr/>
            <p:nvPr/>
          </p:nvSpPr>
          <p:spPr>
            <a:xfrm>
              <a:off x="7671435" y="3823335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6" name="Oval 225"/>
            <p:cNvSpPr/>
            <p:nvPr/>
          </p:nvSpPr>
          <p:spPr>
            <a:xfrm>
              <a:off x="7671435" y="38519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7" name="Oval 226"/>
            <p:cNvSpPr/>
            <p:nvPr/>
          </p:nvSpPr>
          <p:spPr>
            <a:xfrm>
              <a:off x="7671435" y="3880485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7953375" y="3533775"/>
              <a:ext cx="171450" cy="5238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7986712" y="3571875"/>
              <a:ext cx="104775" cy="104775"/>
            </a:xfrm>
            <a:prstGeom prst="rect">
              <a:avLst/>
            </a:prstGeom>
            <a:solidFill>
              <a:srgbClr val="FFDD58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0" name="Rectangle 229"/>
            <p:cNvSpPr/>
            <p:nvPr/>
          </p:nvSpPr>
          <p:spPr>
            <a:xfrm>
              <a:off x="7986712" y="3695700"/>
              <a:ext cx="104775" cy="104775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7986712" y="3914775"/>
              <a:ext cx="104775" cy="104775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Oval 231"/>
            <p:cNvSpPr/>
            <p:nvPr/>
          </p:nvSpPr>
          <p:spPr>
            <a:xfrm>
              <a:off x="8033385" y="3823335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3" name="Oval 232"/>
            <p:cNvSpPr/>
            <p:nvPr/>
          </p:nvSpPr>
          <p:spPr>
            <a:xfrm>
              <a:off x="8033385" y="38519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4" name="Oval 233"/>
            <p:cNvSpPr/>
            <p:nvPr/>
          </p:nvSpPr>
          <p:spPr>
            <a:xfrm>
              <a:off x="8033385" y="3880485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8315325" y="3533775"/>
              <a:ext cx="171450" cy="5238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6" name="Rectangle 235"/>
            <p:cNvSpPr/>
            <p:nvPr/>
          </p:nvSpPr>
          <p:spPr>
            <a:xfrm>
              <a:off x="8348662" y="3571875"/>
              <a:ext cx="104775" cy="104775"/>
            </a:xfrm>
            <a:prstGeom prst="rect">
              <a:avLst/>
            </a:prstGeom>
            <a:solidFill>
              <a:srgbClr val="FFDD58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7" name="Rectangle 236"/>
            <p:cNvSpPr/>
            <p:nvPr/>
          </p:nvSpPr>
          <p:spPr>
            <a:xfrm>
              <a:off x="8348662" y="3695700"/>
              <a:ext cx="104775" cy="104775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8348662" y="3914775"/>
              <a:ext cx="104775" cy="104775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9" name="Oval 238"/>
            <p:cNvSpPr/>
            <p:nvPr/>
          </p:nvSpPr>
          <p:spPr>
            <a:xfrm>
              <a:off x="8395335" y="3823335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0" name="Oval 239"/>
            <p:cNvSpPr/>
            <p:nvPr/>
          </p:nvSpPr>
          <p:spPr>
            <a:xfrm>
              <a:off x="8395335" y="38519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1" name="Oval 240"/>
            <p:cNvSpPr/>
            <p:nvPr/>
          </p:nvSpPr>
          <p:spPr>
            <a:xfrm>
              <a:off x="8395335" y="3880485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2" name="Text: ..."/>
            <p:cNvSpPr txBox="1"/>
            <p:nvPr/>
          </p:nvSpPr>
          <p:spPr>
            <a:xfrm>
              <a:off x="5848350" y="3726180"/>
              <a:ext cx="209550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...</a:t>
              </a:r>
            </a:p>
          </p:txBody>
        </p:sp>
        <p:sp>
          <p:nvSpPr>
            <p:cNvPr id="243" name="Text: Discrete Prompt Tokens"/>
            <p:cNvSpPr txBox="1"/>
            <p:nvPr/>
          </p:nvSpPr>
          <p:spPr>
            <a:xfrm>
              <a:off x="4029075" y="4164330"/>
              <a:ext cx="1901633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D85E00"/>
                  </a:solidFill>
                  <a:latin typeface="Liberation Serif"/>
                </a:rPr>
                <a:t>Discrete Prompt Tokens</a:t>
              </a:r>
            </a:p>
          </p:txBody>
        </p:sp>
        <p:sp>
          <p:nvSpPr>
            <p:cNvPr id="244" name="Oval 243"/>
            <p:cNvSpPr/>
            <p:nvPr/>
          </p:nvSpPr>
          <p:spPr>
            <a:xfrm>
              <a:off x="6067425" y="4200525"/>
              <a:ext cx="190500" cy="190500"/>
            </a:xfrm>
            <a:prstGeom prst="ellipse">
              <a:avLst/>
            </a:prstGeom>
            <a:noFill/>
            <a:ln w="10477" cap="rnd">
              <a:solidFill>
                <a:srgbClr val="284B6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6113145" y="4295775"/>
              <a:ext cx="99060" cy="952"/>
            </a:xfrm>
            <a:custGeom>
              <a:avLst/>
              <a:gdLst/>
              <a:ahLst/>
              <a:cxnLst/>
              <a:rect l="0" t="0" r="r" b="b"/>
              <a:pathLst>
                <a:path w="10400" h="100" fill="none">
                  <a:moveTo>
                    <a:pt x="0" y="0"/>
                  </a:moveTo>
                  <a:lnTo>
                    <a:pt x="10400" y="0"/>
                  </a:lnTo>
                </a:path>
              </a:pathLst>
            </a:custGeom>
            <a:noFill/>
            <a:ln w="8572" cap="rnd">
              <a:solidFill>
                <a:srgbClr val="284B6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6" name="Rectangle 245"/>
            <p:cNvSpPr/>
            <p:nvPr/>
          </p:nvSpPr>
          <p:spPr>
            <a:xfrm>
              <a:off x="6162675" y="4246245"/>
              <a:ext cx="952" cy="99060"/>
            </a:xfrm>
            <a:custGeom>
              <a:avLst/>
              <a:gdLst/>
              <a:ahLst/>
              <a:cxnLst/>
              <a:rect l="0" t="0" r="r" b="b"/>
              <a:pathLst>
                <a:path w="100" h="10400" fill="none">
                  <a:moveTo>
                    <a:pt x="0" y="0"/>
                  </a:moveTo>
                  <a:lnTo>
                    <a:pt x="0" y="10400"/>
                  </a:lnTo>
                </a:path>
              </a:pathLst>
            </a:custGeom>
            <a:noFill/>
            <a:ln w="8572" cap="rnd">
              <a:solidFill>
                <a:srgbClr val="284B6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7" name="Text: Continuous Input Tokens"/>
            <p:cNvSpPr txBox="1"/>
            <p:nvPr/>
          </p:nvSpPr>
          <p:spPr>
            <a:xfrm>
              <a:off x="6419850" y="4164330"/>
              <a:ext cx="1986651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315BA2"/>
                  </a:solidFill>
                  <a:latin typeface="Liberation Serif"/>
                </a:rPr>
                <a:t>Continuous Input Tokens</a:t>
              </a:r>
            </a:p>
          </p:txBody>
        </p:sp>
        <p:sp>
          <p:nvSpPr>
            <p:cNvPr id="248" name="Text: x_{e}"/>
            <p:cNvSpPr txBox="1"/>
            <p:nvPr/>
          </p:nvSpPr>
          <p:spPr>
            <a:xfrm>
              <a:off x="8410575" y="4154900"/>
              <a:ext cx="220257" cy="30003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75" b="0" i="1">
                  <a:solidFill>
                    <a:srgbClr val="EE0000"/>
                  </a:solidFill>
                  <a:latin typeface="Liberation Serif"/>
                </a:rPr>
                <a:t>x</a:t>
              </a:r>
              <a:r>
                <a:rPr sz="1575" b="0" i="1" baseline="-25000">
                  <a:solidFill>
                    <a:srgbClr val="EE0000"/>
                  </a:solidFill>
                  <a:latin typeface="Liberation Serif"/>
                </a:rPr>
                <a:t>e</a:t>
              </a:r>
            </a:p>
          </p:txBody>
        </p:sp>
        <p:sp>
          <p:nvSpPr>
            <p:cNvPr id="249" name="Text: Top-k Similarity &amp; Softmax Calculation"/>
            <p:cNvSpPr txBox="1"/>
            <p:nvPr/>
          </p:nvSpPr>
          <p:spPr>
            <a:xfrm>
              <a:off x="945747" y="4192619"/>
              <a:ext cx="2642406" cy="2428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75" b="0" i="1">
                  <a:solidFill>
                    <a:srgbClr val="888888"/>
                  </a:solidFill>
                  <a:latin typeface="Liberation Serif"/>
                </a:rPr>
                <a:t>Top-k Similarity &amp; Softmax Calculation</a:t>
              </a:r>
            </a:p>
          </p:txBody>
        </p:sp>
        <p:sp>
          <p:nvSpPr>
            <p:cNvPr id="250" name="Rounded Rectangle 249"/>
            <p:cNvSpPr/>
            <p:nvPr/>
          </p:nvSpPr>
          <p:spPr>
            <a:xfrm>
              <a:off x="314325" y="4543425"/>
              <a:ext cx="409575" cy="981075"/>
            </a:xfrm>
            <a:prstGeom prst="roundRect">
              <a:avLst>
                <a:gd name="adj" fmla="val 11627"/>
              </a:avLst>
            </a:prstGeom>
            <a:solidFill>
              <a:srgbClr val="F7CAA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1" name="Text: Projection"/>
            <p:cNvSpPr txBox="1"/>
            <p:nvPr/>
          </p:nvSpPr>
          <p:spPr>
            <a:xfrm rot="16200000">
              <a:off x="83787" y="4895850"/>
              <a:ext cx="849697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Projection</a:t>
              </a:r>
            </a:p>
          </p:txBody>
        </p:sp>
        <p:sp>
          <p:nvSpPr>
            <p:cNvPr id="252" name="Rectangle 251"/>
            <p:cNvSpPr/>
            <p:nvPr/>
          </p:nvSpPr>
          <p:spPr>
            <a:xfrm>
              <a:off x="376809" y="4933950"/>
              <a:ext cx="226314" cy="205740"/>
            </a:xfrm>
            <a:custGeom>
              <a:avLst/>
              <a:gdLst/>
              <a:ahLst/>
              <a:cxnLst/>
              <a:rect l="0" t="0" r="r" b="b"/>
              <a:pathLst>
                <a:path w="23760" h="21600" fill="norm">
                  <a:moveTo>
                    <a:pt x="8640" y="19440"/>
                  </a:moveTo>
                  <a:cubicBezTo>
                    <a:pt x="0" y="18720"/>
                    <a:pt x="1440" y="10080"/>
                    <a:pt x="5760" y="7200"/>
                  </a:cubicBezTo>
                  <a:cubicBezTo>
                    <a:pt x="5040" y="11520"/>
                    <a:pt x="7920" y="12960"/>
                    <a:pt x="8640" y="8640"/>
                  </a:cubicBezTo>
                  <a:cubicBezTo>
                    <a:pt x="9360" y="4320"/>
                    <a:pt x="12240" y="4320"/>
                    <a:pt x="10080" y="0"/>
                  </a:cubicBezTo>
                  <a:cubicBezTo>
                    <a:pt x="18000" y="4320"/>
                    <a:pt x="14400" y="9360"/>
                    <a:pt x="18000" y="10800"/>
                  </a:cubicBezTo>
                  <a:cubicBezTo>
                    <a:pt x="19440" y="9360"/>
                    <a:pt x="18720" y="7200"/>
                    <a:pt x="18720" y="6480"/>
                  </a:cubicBezTo>
                  <a:cubicBezTo>
                    <a:pt x="23760" y="14400"/>
                    <a:pt x="20880" y="20160"/>
                    <a:pt x="14400" y="20880"/>
                  </a:cubicBezTo>
                  <a:cubicBezTo>
                    <a:pt x="12240" y="21600"/>
                    <a:pt x="10080" y="20880"/>
                    <a:pt x="8640" y="19440"/>
                  </a:cubicBezTo>
                  <a:close/>
                </a:path>
              </a:pathLst>
            </a:custGeom>
            <a:solidFill>
              <a:srgbClr val="F8894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424815" y="5016246"/>
              <a:ext cx="144018" cy="116586"/>
            </a:xfrm>
            <a:custGeom>
              <a:avLst/>
              <a:gdLst/>
              <a:ahLst/>
              <a:cxnLst/>
              <a:rect l="0" t="0" r="r" b="b"/>
              <a:pathLst>
                <a:path w="15120" h="12240" fill="norm">
                  <a:moveTo>
                    <a:pt x="2880" y="9360"/>
                  </a:moveTo>
                  <a:cubicBezTo>
                    <a:pt x="0" y="5040"/>
                    <a:pt x="3600" y="2160"/>
                    <a:pt x="3600" y="720"/>
                  </a:cubicBezTo>
                  <a:cubicBezTo>
                    <a:pt x="3600" y="5040"/>
                    <a:pt x="6480" y="4320"/>
                    <a:pt x="7200" y="0"/>
                  </a:cubicBezTo>
                  <a:cubicBezTo>
                    <a:pt x="10800" y="2880"/>
                    <a:pt x="10080" y="7200"/>
                    <a:pt x="12240" y="6480"/>
                  </a:cubicBezTo>
                  <a:cubicBezTo>
                    <a:pt x="12240" y="4320"/>
                    <a:pt x="12240" y="3600"/>
                    <a:pt x="12960" y="3600"/>
                  </a:cubicBezTo>
                  <a:cubicBezTo>
                    <a:pt x="15120" y="9360"/>
                    <a:pt x="10800" y="12240"/>
                    <a:pt x="7200" y="11520"/>
                  </a:cubicBezTo>
                  <a:cubicBezTo>
                    <a:pt x="5040" y="11520"/>
                    <a:pt x="3600" y="10800"/>
                    <a:pt x="2880" y="9360"/>
                  </a:cubicBezTo>
                  <a:close/>
                </a:path>
              </a:pathLst>
            </a:custGeom>
            <a:solidFill>
              <a:srgbClr val="FFC56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465963" y="5057394"/>
              <a:ext cx="61722" cy="68580"/>
            </a:xfrm>
            <a:custGeom>
              <a:avLst/>
              <a:gdLst/>
              <a:ahLst/>
              <a:cxnLst/>
              <a:rect l="0" t="0" r="r" b="b"/>
              <a:pathLst>
                <a:path w="6480" h="7200" fill="norm">
                  <a:moveTo>
                    <a:pt x="1440" y="5760"/>
                  </a:moveTo>
                  <a:cubicBezTo>
                    <a:pt x="0" y="2880"/>
                    <a:pt x="2880" y="1440"/>
                    <a:pt x="2880" y="0"/>
                  </a:cubicBezTo>
                  <a:cubicBezTo>
                    <a:pt x="6480" y="3600"/>
                    <a:pt x="5760" y="6480"/>
                    <a:pt x="3600" y="7200"/>
                  </a:cubicBezTo>
                  <a:close/>
                </a:path>
              </a:pathLst>
            </a:custGeom>
            <a:solidFill>
              <a:srgbClr val="FFE2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5" name="Rectangle 254"/>
            <p:cNvSpPr/>
            <p:nvPr/>
          </p:nvSpPr>
          <p:spPr>
            <a:xfrm>
              <a:off x="733425" y="4819650"/>
              <a:ext cx="342900" cy="952"/>
            </a:xfrm>
            <a:custGeom>
              <a:avLst/>
              <a:gdLst/>
              <a:ahLst/>
              <a:cxnLst/>
              <a:rect l="0" t="0" r="r" b="b"/>
              <a:pathLst>
                <a:path w="36000" h="100" fill="none">
                  <a:moveTo>
                    <a:pt x="0" y="0"/>
                  </a:moveTo>
                  <a:lnTo>
                    <a:pt x="3600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1009650" y="4791646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7000" y="2940"/>
                  </a:moveTo>
                  <a:lnTo>
                    <a:pt x="0" y="0"/>
                  </a:lnTo>
                  <a:lnTo>
                    <a:pt x="2310" y="2940"/>
                  </a:lnTo>
                  <a:lnTo>
                    <a:pt x="0" y="588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7" name="Rectangle 256"/>
            <p:cNvSpPr/>
            <p:nvPr/>
          </p:nvSpPr>
          <p:spPr>
            <a:xfrm>
              <a:off x="1095375" y="4610100"/>
              <a:ext cx="180975" cy="419100"/>
            </a:xfrm>
            <a:prstGeom prst="rect">
              <a:avLst/>
            </a:prstGeom>
            <a:solidFill>
              <a:srgbClr val="8C8D8C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1095375" y="4610100"/>
              <a:ext cx="180975" cy="180975"/>
            </a:xfrm>
            <a:prstGeom prst="rect">
              <a:avLst/>
            </a:prstGeom>
            <a:solidFill>
              <a:srgbClr val="FFFFFF"/>
            </a:solidFill>
            <a:ln w="5714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9" name="Text: x_{e}"/>
            <p:cNvSpPr txBox="1"/>
            <p:nvPr/>
          </p:nvSpPr>
          <p:spPr>
            <a:xfrm>
              <a:off x="1083040" y="4573810"/>
              <a:ext cx="205646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1">
                  <a:solidFill>
                    <a:srgbClr val="111111"/>
                  </a:solidFill>
                  <a:latin typeface="Liberation Serif"/>
                </a:rPr>
                <a:t>x</a:t>
              </a:r>
              <a:r>
                <a:rPr sz="1425" b="0" i="1" baseline="-25000">
                  <a:solidFill>
                    <a:srgbClr val="111111"/>
                  </a:solidFill>
                  <a:latin typeface="Liberation Serif"/>
                </a:rPr>
                <a:t>e</a:t>
              </a:r>
            </a:p>
          </p:txBody>
        </p:sp>
        <p:sp>
          <p:nvSpPr>
            <p:cNvPr id="260" name="Oval 259"/>
            <p:cNvSpPr/>
            <p:nvPr/>
          </p:nvSpPr>
          <p:spPr>
            <a:xfrm>
              <a:off x="1323975" y="4752975"/>
              <a:ext cx="190500" cy="190500"/>
            </a:xfrm>
            <a:prstGeom prst="ellipse">
              <a:avLst/>
            </a:prstGeom>
            <a:solidFill>
              <a:srgbClr val="FFFFFF"/>
            </a:solidFill>
            <a:ln w="10477" cap="rnd">
              <a:solidFill>
                <a:srgbClr val="2E53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1" name="Oval 260"/>
            <p:cNvSpPr/>
            <p:nvPr/>
          </p:nvSpPr>
          <p:spPr>
            <a:xfrm>
              <a:off x="1405890" y="4834890"/>
              <a:ext cx="26670" cy="26670"/>
            </a:xfrm>
            <a:prstGeom prst="ellipse">
              <a:avLst/>
            </a:prstGeom>
            <a:solidFill>
              <a:srgbClr val="2E536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1590675" y="4533900"/>
              <a:ext cx="2466975" cy="542925"/>
            </a:xfrm>
            <a:prstGeom prst="rect">
              <a:avLst/>
            </a:prstGeom>
            <a:solidFill>
              <a:srgbClr val="FBE8D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1666875" y="4581525"/>
              <a:ext cx="171450" cy="419100"/>
            </a:xfrm>
            <a:prstGeom prst="rect">
              <a:avLst/>
            </a:prstGeom>
            <a:solidFill>
              <a:srgbClr val="DB7F79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1666875" y="4581525"/>
              <a:ext cx="171450" cy="171450"/>
            </a:xfrm>
            <a:prstGeom prst="rect">
              <a:avLst/>
            </a:prstGeom>
            <a:solidFill>
              <a:srgbClr val="FFFFFF"/>
            </a:solidFill>
            <a:ln w="7620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5" name="Text: p_{1}"/>
            <p:cNvSpPr txBox="1"/>
            <p:nvPr/>
          </p:nvSpPr>
          <p:spPr>
            <a:xfrm>
              <a:off x="1636871" y="4526280"/>
              <a:ext cx="231458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p</a:t>
              </a:r>
              <a:r>
                <a:rPr sz="1500" b="0" i="1" baseline="-2500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266" name="Rectangle 265"/>
            <p:cNvSpPr/>
            <p:nvPr/>
          </p:nvSpPr>
          <p:spPr>
            <a:xfrm>
              <a:off x="1965484" y="4581525"/>
              <a:ext cx="171450" cy="419100"/>
            </a:xfrm>
            <a:prstGeom prst="rect">
              <a:avLst/>
            </a:prstGeom>
            <a:solidFill>
              <a:srgbClr val="DB7F79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1965484" y="4581525"/>
              <a:ext cx="171450" cy="171450"/>
            </a:xfrm>
            <a:prstGeom prst="rect">
              <a:avLst/>
            </a:prstGeom>
            <a:solidFill>
              <a:srgbClr val="FFFFFF"/>
            </a:solidFill>
            <a:ln w="7620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8" name="Text: p_{2}"/>
            <p:cNvSpPr txBox="1"/>
            <p:nvPr/>
          </p:nvSpPr>
          <p:spPr>
            <a:xfrm>
              <a:off x="1935480" y="4526280"/>
              <a:ext cx="231458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p</a:t>
              </a:r>
              <a:r>
                <a:rPr sz="1500" b="0" i="1" baseline="-25000">
                  <a:solidFill>
                    <a:srgbClr val="111111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2264092" y="4581525"/>
              <a:ext cx="171450" cy="419100"/>
            </a:xfrm>
            <a:prstGeom prst="rect">
              <a:avLst/>
            </a:prstGeom>
            <a:solidFill>
              <a:srgbClr val="DB7F79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0" name="Rectangle 269"/>
            <p:cNvSpPr/>
            <p:nvPr/>
          </p:nvSpPr>
          <p:spPr>
            <a:xfrm>
              <a:off x="2264092" y="4581525"/>
              <a:ext cx="171450" cy="171450"/>
            </a:xfrm>
            <a:prstGeom prst="rect">
              <a:avLst/>
            </a:prstGeom>
            <a:solidFill>
              <a:srgbClr val="FFFFFF"/>
            </a:solidFill>
            <a:ln w="7620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1" name="Text: p_{3}"/>
            <p:cNvSpPr txBox="1"/>
            <p:nvPr/>
          </p:nvSpPr>
          <p:spPr>
            <a:xfrm>
              <a:off x="2234089" y="4526280"/>
              <a:ext cx="231458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p</a:t>
              </a:r>
              <a:r>
                <a:rPr sz="1500" b="0" i="1" baseline="-25000">
                  <a:solidFill>
                    <a:srgbClr val="111111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272" name="Rectangle 271"/>
            <p:cNvSpPr/>
            <p:nvPr/>
          </p:nvSpPr>
          <p:spPr>
            <a:xfrm>
              <a:off x="2562701" y="4581525"/>
              <a:ext cx="171450" cy="419100"/>
            </a:xfrm>
            <a:prstGeom prst="rect">
              <a:avLst/>
            </a:prstGeom>
            <a:solidFill>
              <a:srgbClr val="DB7F79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2562701" y="4581525"/>
              <a:ext cx="171450" cy="171450"/>
            </a:xfrm>
            <a:prstGeom prst="rect">
              <a:avLst/>
            </a:prstGeom>
            <a:solidFill>
              <a:srgbClr val="FFFFFF"/>
            </a:solidFill>
            <a:ln w="7620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4" name="Text: p_{4}"/>
            <p:cNvSpPr txBox="1"/>
            <p:nvPr/>
          </p:nvSpPr>
          <p:spPr>
            <a:xfrm>
              <a:off x="2532698" y="4526280"/>
              <a:ext cx="231458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p</a:t>
              </a:r>
              <a:r>
                <a:rPr sz="1500" b="0" i="1" baseline="-25000">
                  <a:solidFill>
                    <a:srgbClr val="111111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275" name="Rectangle 274"/>
            <p:cNvSpPr/>
            <p:nvPr/>
          </p:nvSpPr>
          <p:spPr>
            <a:xfrm>
              <a:off x="2861310" y="4581525"/>
              <a:ext cx="171450" cy="419100"/>
            </a:xfrm>
            <a:prstGeom prst="rect">
              <a:avLst/>
            </a:prstGeom>
            <a:solidFill>
              <a:srgbClr val="DB7F79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6" name="Rectangle 275"/>
            <p:cNvSpPr/>
            <p:nvPr/>
          </p:nvSpPr>
          <p:spPr>
            <a:xfrm>
              <a:off x="2861310" y="4581525"/>
              <a:ext cx="171450" cy="171450"/>
            </a:xfrm>
            <a:prstGeom prst="rect">
              <a:avLst/>
            </a:prstGeom>
            <a:solidFill>
              <a:srgbClr val="FFFFFF"/>
            </a:solidFill>
            <a:ln w="7620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7" name="Text: p_{5}"/>
            <p:cNvSpPr txBox="1"/>
            <p:nvPr/>
          </p:nvSpPr>
          <p:spPr>
            <a:xfrm>
              <a:off x="2831306" y="4526280"/>
              <a:ext cx="231458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p</a:t>
              </a:r>
              <a:r>
                <a:rPr sz="1500" b="0" i="1" baseline="-25000">
                  <a:solidFill>
                    <a:srgbClr val="111111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278" name="Rectangle 277"/>
            <p:cNvSpPr/>
            <p:nvPr/>
          </p:nvSpPr>
          <p:spPr>
            <a:xfrm>
              <a:off x="3159919" y="4581525"/>
              <a:ext cx="171450" cy="419100"/>
            </a:xfrm>
            <a:prstGeom prst="rect">
              <a:avLst/>
            </a:prstGeom>
            <a:solidFill>
              <a:srgbClr val="DB7F79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3159919" y="4581525"/>
              <a:ext cx="171450" cy="171450"/>
            </a:xfrm>
            <a:prstGeom prst="rect">
              <a:avLst/>
            </a:prstGeom>
            <a:solidFill>
              <a:srgbClr val="FFFFFF"/>
            </a:solidFill>
            <a:ln w="7620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0" name="Text: p_{6}"/>
            <p:cNvSpPr txBox="1"/>
            <p:nvPr/>
          </p:nvSpPr>
          <p:spPr>
            <a:xfrm>
              <a:off x="3129915" y="4526280"/>
              <a:ext cx="231458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p</a:t>
              </a:r>
              <a:r>
                <a:rPr sz="1500" b="0" i="1" baseline="-25000">
                  <a:solidFill>
                    <a:srgbClr val="111111"/>
                  </a:solidFill>
                  <a:latin typeface="Liberation Serif"/>
                </a:rPr>
                <a:t>6</a:t>
              </a:r>
            </a:p>
          </p:txBody>
        </p:sp>
        <p:sp>
          <p:nvSpPr>
            <p:cNvPr id="281" name="Rectangle 280"/>
            <p:cNvSpPr/>
            <p:nvPr/>
          </p:nvSpPr>
          <p:spPr>
            <a:xfrm>
              <a:off x="3458528" y="4581525"/>
              <a:ext cx="171450" cy="419100"/>
            </a:xfrm>
            <a:prstGeom prst="rect">
              <a:avLst/>
            </a:prstGeom>
            <a:solidFill>
              <a:srgbClr val="DB7F79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Rectangle 281"/>
            <p:cNvSpPr/>
            <p:nvPr/>
          </p:nvSpPr>
          <p:spPr>
            <a:xfrm>
              <a:off x="3458528" y="4581525"/>
              <a:ext cx="171450" cy="171450"/>
            </a:xfrm>
            <a:prstGeom prst="rect">
              <a:avLst/>
            </a:prstGeom>
            <a:solidFill>
              <a:srgbClr val="FFFFFF"/>
            </a:solidFill>
            <a:ln w="7620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Text: p_{7}"/>
            <p:cNvSpPr txBox="1"/>
            <p:nvPr/>
          </p:nvSpPr>
          <p:spPr>
            <a:xfrm>
              <a:off x="3428524" y="4526280"/>
              <a:ext cx="231458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p</a:t>
              </a:r>
              <a:r>
                <a:rPr sz="1500" b="0" i="1" baseline="-25000">
                  <a:solidFill>
                    <a:srgbClr val="111111"/>
                  </a:solidFill>
                  <a:latin typeface="Liberation Serif"/>
                </a:rPr>
                <a:t>7</a:t>
              </a:r>
            </a:p>
          </p:txBody>
        </p:sp>
        <p:sp>
          <p:nvSpPr>
            <p:cNvPr id="284" name="Rectangle 283"/>
            <p:cNvSpPr/>
            <p:nvPr/>
          </p:nvSpPr>
          <p:spPr>
            <a:xfrm>
              <a:off x="3757136" y="4581525"/>
              <a:ext cx="171450" cy="419100"/>
            </a:xfrm>
            <a:prstGeom prst="rect">
              <a:avLst/>
            </a:prstGeom>
            <a:solidFill>
              <a:srgbClr val="DB7F79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3757136" y="4581525"/>
              <a:ext cx="171450" cy="171450"/>
            </a:xfrm>
            <a:prstGeom prst="rect">
              <a:avLst/>
            </a:prstGeom>
            <a:solidFill>
              <a:srgbClr val="FFFFFF"/>
            </a:solidFill>
            <a:ln w="7620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6" name="Text: p_{8}"/>
            <p:cNvSpPr txBox="1"/>
            <p:nvPr/>
          </p:nvSpPr>
          <p:spPr>
            <a:xfrm>
              <a:off x="3727133" y="4526280"/>
              <a:ext cx="231458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p</a:t>
              </a:r>
              <a:r>
                <a:rPr sz="1500" b="0" i="1" baseline="-25000">
                  <a:solidFill>
                    <a:srgbClr val="111111"/>
                  </a:solidFill>
                  <a:latin typeface="Liberation Serif"/>
                </a:rPr>
                <a:t>8</a:t>
              </a:r>
            </a:p>
          </p:txBody>
        </p:sp>
        <p:sp>
          <p:nvSpPr>
            <p:cNvPr id="287" name="Rectangle 286"/>
            <p:cNvSpPr/>
            <p:nvPr/>
          </p:nvSpPr>
          <p:spPr>
            <a:xfrm>
              <a:off x="1905000" y="4514850"/>
              <a:ext cx="276225" cy="561975"/>
            </a:xfrm>
            <a:prstGeom prst="rect">
              <a:avLst/>
            </a:prstGeom>
            <a:noFill/>
            <a:ln w="9525" cap="rnd">
              <a:solidFill>
                <a:srgbClr val="DA1A1B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Rectangle 287"/>
            <p:cNvSpPr/>
            <p:nvPr/>
          </p:nvSpPr>
          <p:spPr>
            <a:xfrm>
              <a:off x="2505075" y="4514850"/>
              <a:ext cx="276225" cy="561975"/>
            </a:xfrm>
            <a:prstGeom prst="rect">
              <a:avLst/>
            </a:prstGeom>
            <a:noFill/>
            <a:ln w="9525" cap="rnd">
              <a:solidFill>
                <a:srgbClr val="DA1A1B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Rectangle 288"/>
            <p:cNvSpPr/>
            <p:nvPr/>
          </p:nvSpPr>
          <p:spPr>
            <a:xfrm>
              <a:off x="3400425" y="4514850"/>
              <a:ext cx="276225" cy="561975"/>
            </a:xfrm>
            <a:prstGeom prst="rect">
              <a:avLst/>
            </a:prstGeom>
            <a:noFill/>
            <a:ln w="9525" cap="rnd">
              <a:solidFill>
                <a:srgbClr val="DA1A1B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0" name="Rectangle 289"/>
            <p:cNvSpPr/>
            <p:nvPr/>
          </p:nvSpPr>
          <p:spPr>
            <a:xfrm>
              <a:off x="3917442" y="4829175"/>
              <a:ext cx="270320" cy="245745"/>
            </a:xfrm>
            <a:custGeom>
              <a:avLst/>
              <a:gdLst/>
              <a:ahLst/>
              <a:cxnLst/>
              <a:rect l="0" t="0" r="r" b="b"/>
              <a:pathLst>
                <a:path w="28380" h="25800" fill="norm">
                  <a:moveTo>
                    <a:pt x="10320" y="23220"/>
                  </a:moveTo>
                  <a:cubicBezTo>
                    <a:pt x="0" y="22360"/>
                    <a:pt x="1720" y="12040"/>
                    <a:pt x="6880" y="8600"/>
                  </a:cubicBezTo>
                  <a:cubicBezTo>
                    <a:pt x="6020" y="13760"/>
                    <a:pt x="9460" y="15480"/>
                    <a:pt x="10320" y="10320"/>
                  </a:cubicBezTo>
                  <a:cubicBezTo>
                    <a:pt x="11180" y="5160"/>
                    <a:pt x="14620" y="5160"/>
                    <a:pt x="12040" y="0"/>
                  </a:cubicBezTo>
                  <a:cubicBezTo>
                    <a:pt x="21500" y="5160"/>
                    <a:pt x="17200" y="11180"/>
                    <a:pt x="21500" y="12900"/>
                  </a:cubicBezTo>
                  <a:cubicBezTo>
                    <a:pt x="23220" y="11180"/>
                    <a:pt x="22360" y="8600"/>
                    <a:pt x="22360" y="7740"/>
                  </a:cubicBezTo>
                  <a:cubicBezTo>
                    <a:pt x="28380" y="17200"/>
                    <a:pt x="24940" y="24080"/>
                    <a:pt x="17200" y="24940"/>
                  </a:cubicBezTo>
                  <a:cubicBezTo>
                    <a:pt x="14620" y="25800"/>
                    <a:pt x="12040" y="24940"/>
                    <a:pt x="10320" y="23220"/>
                  </a:cubicBezTo>
                  <a:close/>
                </a:path>
              </a:pathLst>
            </a:custGeom>
            <a:solidFill>
              <a:srgbClr val="F8894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1" name="Rectangle 290"/>
            <p:cNvSpPr/>
            <p:nvPr/>
          </p:nvSpPr>
          <p:spPr>
            <a:xfrm>
              <a:off x="3974782" y="4927473"/>
              <a:ext cx="172022" cy="139256"/>
            </a:xfrm>
            <a:custGeom>
              <a:avLst/>
              <a:gdLst/>
              <a:ahLst/>
              <a:cxnLst/>
              <a:rect l="0" t="0" r="r" b="b"/>
              <a:pathLst>
                <a:path w="18060" h="14620" fill="norm">
                  <a:moveTo>
                    <a:pt x="3440" y="11180"/>
                  </a:moveTo>
                  <a:cubicBezTo>
                    <a:pt x="0" y="6020"/>
                    <a:pt x="4300" y="2580"/>
                    <a:pt x="4300" y="860"/>
                  </a:cubicBezTo>
                  <a:cubicBezTo>
                    <a:pt x="4300" y="6020"/>
                    <a:pt x="7740" y="5160"/>
                    <a:pt x="8600" y="0"/>
                  </a:cubicBezTo>
                  <a:cubicBezTo>
                    <a:pt x="12900" y="3440"/>
                    <a:pt x="12040" y="8600"/>
                    <a:pt x="14620" y="7740"/>
                  </a:cubicBezTo>
                  <a:cubicBezTo>
                    <a:pt x="14620" y="5160"/>
                    <a:pt x="14620" y="4300"/>
                    <a:pt x="15480" y="4300"/>
                  </a:cubicBezTo>
                  <a:cubicBezTo>
                    <a:pt x="18060" y="11180"/>
                    <a:pt x="12900" y="14620"/>
                    <a:pt x="8600" y="13760"/>
                  </a:cubicBezTo>
                  <a:cubicBezTo>
                    <a:pt x="6020" y="13760"/>
                    <a:pt x="4300" y="12900"/>
                    <a:pt x="3440" y="11180"/>
                  </a:cubicBezTo>
                  <a:close/>
                </a:path>
              </a:pathLst>
            </a:custGeom>
            <a:solidFill>
              <a:srgbClr val="FFC56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Rectangle 291"/>
            <p:cNvSpPr/>
            <p:nvPr/>
          </p:nvSpPr>
          <p:spPr>
            <a:xfrm>
              <a:off x="4023932" y="4976622"/>
              <a:ext cx="73724" cy="81915"/>
            </a:xfrm>
            <a:custGeom>
              <a:avLst/>
              <a:gdLst/>
              <a:ahLst/>
              <a:cxnLst/>
              <a:rect l="0" t="0" r="r" b="b"/>
              <a:pathLst>
                <a:path w="7740" h="8600" fill="norm">
                  <a:moveTo>
                    <a:pt x="1720" y="6880"/>
                  </a:moveTo>
                  <a:cubicBezTo>
                    <a:pt x="0" y="3440"/>
                    <a:pt x="3440" y="1720"/>
                    <a:pt x="3440" y="0"/>
                  </a:cubicBezTo>
                  <a:cubicBezTo>
                    <a:pt x="7740" y="4300"/>
                    <a:pt x="6880" y="7740"/>
                    <a:pt x="4300" y="8600"/>
                  </a:cubicBezTo>
                  <a:close/>
                </a:path>
              </a:pathLst>
            </a:custGeom>
            <a:solidFill>
              <a:srgbClr val="FFE2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Rectangle 292"/>
            <p:cNvSpPr/>
            <p:nvPr/>
          </p:nvSpPr>
          <p:spPr>
            <a:xfrm>
              <a:off x="1190625" y="5029200"/>
              <a:ext cx="2352675" cy="352425"/>
            </a:xfrm>
            <a:custGeom>
              <a:avLst/>
              <a:gdLst/>
              <a:ahLst/>
              <a:cxnLst/>
              <a:rect l="0" t="0" r="r" b="b"/>
              <a:pathLst>
                <a:path w="247000" h="37000" fill="none">
                  <a:moveTo>
                    <a:pt x="0" y="0"/>
                  </a:moveTo>
                  <a:lnTo>
                    <a:pt x="0" y="37000"/>
                  </a:lnTo>
                  <a:lnTo>
                    <a:pt x="247000" y="37000"/>
                  </a:lnTo>
                  <a:lnTo>
                    <a:pt x="247000" y="500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Rectangle 293"/>
            <p:cNvSpPr/>
            <p:nvPr/>
          </p:nvSpPr>
          <p:spPr>
            <a:xfrm>
              <a:off x="3515296" y="5076825"/>
              <a:ext cx="56007" cy="66675"/>
            </a:xfrm>
            <a:custGeom>
              <a:avLst/>
              <a:gdLst/>
              <a:ahLst/>
              <a:cxnLst/>
              <a:rect l="0" t="0" r="r" b="b"/>
              <a:pathLst>
                <a:path w="5880" h="7000" fill="norm">
                  <a:moveTo>
                    <a:pt x="2940" y="0"/>
                  </a:moveTo>
                  <a:lnTo>
                    <a:pt x="0" y="7000"/>
                  </a:lnTo>
                  <a:lnTo>
                    <a:pt x="2940" y="4690"/>
                  </a:lnTo>
                  <a:lnTo>
                    <a:pt x="5880" y="700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5" name="Rectangle 294"/>
            <p:cNvSpPr/>
            <p:nvPr/>
          </p:nvSpPr>
          <p:spPr>
            <a:xfrm>
              <a:off x="2038350" y="5086350"/>
              <a:ext cx="952" cy="295275"/>
            </a:xfrm>
            <a:custGeom>
              <a:avLst/>
              <a:gdLst/>
              <a:ahLst/>
              <a:cxnLst/>
              <a:rect l="0" t="0" r="r" b="b"/>
              <a:pathLst>
                <a:path w="100" h="31000" fill="none">
                  <a:moveTo>
                    <a:pt x="0" y="31000"/>
                  </a:move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6" name="Rectangle 295"/>
            <p:cNvSpPr/>
            <p:nvPr/>
          </p:nvSpPr>
          <p:spPr>
            <a:xfrm>
              <a:off x="2010346" y="5086350"/>
              <a:ext cx="56007" cy="66675"/>
            </a:xfrm>
            <a:custGeom>
              <a:avLst/>
              <a:gdLst/>
              <a:ahLst/>
              <a:cxnLst/>
              <a:rect l="0" t="0" r="r" b="b"/>
              <a:pathLst>
                <a:path w="5880" h="7000" fill="norm">
                  <a:moveTo>
                    <a:pt x="2940" y="0"/>
                  </a:moveTo>
                  <a:lnTo>
                    <a:pt x="0" y="7000"/>
                  </a:lnTo>
                  <a:lnTo>
                    <a:pt x="2940" y="4690"/>
                  </a:lnTo>
                  <a:lnTo>
                    <a:pt x="5880" y="700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7" name="Rectangle 296"/>
            <p:cNvSpPr/>
            <p:nvPr/>
          </p:nvSpPr>
          <p:spPr>
            <a:xfrm>
              <a:off x="2638425" y="5086350"/>
              <a:ext cx="952" cy="295275"/>
            </a:xfrm>
            <a:custGeom>
              <a:avLst/>
              <a:gdLst/>
              <a:ahLst/>
              <a:cxnLst/>
              <a:rect l="0" t="0" r="r" b="b"/>
              <a:pathLst>
                <a:path w="100" h="31000" fill="none">
                  <a:moveTo>
                    <a:pt x="0" y="31000"/>
                  </a:move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8" name="Rectangle 297"/>
            <p:cNvSpPr/>
            <p:nvPr/>
          </p:nvSpPr>
          <p:spPr>
            <a:xfrm>
              <a:off x="2610422" y="5086350"/>
              <a:ext cx="56007" cy="66675"/>
            </a:xfrm>
            <a:custGeom>
              <a:avLst/>
              <a:gdLst/>
              <a:ahLst/>
              <a:cxnLst/>
              <a:rect l="0" t="0" r="r" b="b"/>
              <a:pathLst>
                <a:path w="5880" h="7000" fill="norm">
                  <a:moveTo>
                    <a:pt x="2940" y="0"/>
                  </a:moveTo>
                  <a:lnTo>
                    <a:pt x="0" y="7000"/>
                  </a:lnTo>
                  <a:lnTo>
                    <a:pt x="2940" y="4690"/>
                  </a:lnTo>
                  <a:lnTo>
                    <a:pt x="5880" y="700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9" name="Text: α_{1}"/>
            <p:cNvSpPr txBox="1"/>
            <p:nvPr/>
          </p:nvSpPr>
          <p:spPr>
            <a:xfrm>
              <a:off x="1668359" y="5050250"/>
              <a:ext cx="244682" cy="30003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75" b="0" i="1">
                  <a:solidFill>
                    <a:srgbClr val="111111"/>
                  </a:solidFill>
                  <a:latin typeface="Liberation Serif"/>
                </a:rPr>
                <a:t>α</a:t>
              </a:r>
              <a:r>
                <a:rPr sz="1575" b="0" i="1" baseline="-2500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300" name="Text: α_{2}"/>
            <p:cNvSpPr txBox="1"/>
            <p:nvPr/>
          </p:nvSpPr>
          <p:spPr>
            <a:xfrm>
              <a:off x="2297009" y="5050250"/>
              <a:ext cx="244682" cy="30003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75" b="0" i="1">
                  <a:solidFill>
                    <a:srgbClr val="111111"/>
                  </a:solidFill>
                  <a:latin typeface="Liberation Serif"/>
                </a:rPr>
                <a:t>α</a:t>
              </a:r>
              <a:r>
                <a:rPr sz="1575" b="0" i="1" baseline="-25000">
                  <a:solidFill>
                    <a:srgbClr val="111111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301" name="Text: α_{3}"/>
            <p:cNvSpPr txBox="1"/>
            <p:nvPr/>
          </p:nvSpPr>
          <p:spPr>
            <a:xfrm>
              <a:off x="3201884" y="5050250"/>
              <a:ext cx="244682" cy="30003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75" b="0" i="1">
                  <a:solidFill>
                    <a:srgbClr val="111111"/>
                  </a:solidFill>
                  <a:latin typeface="Liberation Serif"/>
                </a:rPr>
                <a:t>α</a:t>
              </a:r>
              <a:r>
                <a:rPr sz="1575" b="0" i="1" baseline="-25000">
                  <a:solidFill>
                    <a:srgbClr val="111111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302" name="Text: Patchify"/>
            <p:cNvSpPr txBox="1"/>
            <p:nvPr/>
          </p:nvSpPr>
          <p:spPr>
            <a:xfrm>
              <a:off x="3695700" y="5116639"/>
              <a:ext cx="638008" cy="2571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50" b="0" i="1">
                  <a:solidFill>
                    <a:srgbClr val="111111"/>
                  </a:solidFill>
                  <a:latin typeface="Liberation Serif"/>
                </a:rPr>
                <a:t>Patchify</a:t>
              </a:r>
            </a:p>
          </p:txBody>
        </p:sp>
        <p:sp>
          <p:nvSpPr>
            <p:cNvPr id="303" name="Rectangle 302"/>
            <p:cNvSpPr/>
            <p:nvPr/>
          </p:nvSpPr>
          <p:spPr>
            <a:xfrm>
              <a:off x="4067175" y="4829175"/>
              <a:ext cx="504825" cy="952"/>
            </a:xfrm>
            <a:custGeom>
              <a:avLst/>
              <a:gdLst/>
              <a:ahLst/>
              <a:cxnLst/>
              <a:rect l="0" t="0" r="r" b="b"/>
              <a:pathLst>
                <a:path w="53000" h="100" fill="none">
                  <a:moveTo>
                    <a:pt x="0" y="0"/>
                  </a:moveTo>
                  <a:lnTo>
                    <a:pt x="5300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Rectangle 303"/>
            <p:cNvSpPr/>
            <p:nvPr/>
          </p:nvSpPr>
          <p:spPr>
            <a:xfrm>
              <a:off x="4505325" y="4801172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7000" y="2940"/>
                  </a:moveTo>
                  <a:lnTo>
                    <a:pt x="0" y="0"/>
                  </a:lnTo>
                  <a:lnTo>
                    <a:pt x="2310" y="2940"/>
                  </a:lnTo>
                  <a:lnTo>
                    <a:pt x="0" y="588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5" name="Rectangle 304"/>
            <p:cNvSpPr/>
            <p:nvPr/>
          </p:nvSpPr>
          <p:spPr>
            <a:xfrm>
              <a:off x="4600575" y="4543425"/>
              <a:ext cx="942975" cy="666750"/>
            </a:xfrm>
            <a:prstGeom prst="rect">
              <a:avLst/>
            </a:prstGeom>
            <a:noFill/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6" name="Rectangle 305"/>
            <p:cNvSpPr/>
            <p:nvPr/>
          </p:nvSpPr>
          <p:spPr>
            <a:xfrm>
              <a:off x="4695825" y="4600575"/>
              <a:ext cx="161925" cy="5524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7" name="Rectangle 306"/>
            <p:cNvSpPr/>
            <p:nvPr/>
          </p:nvSpPr>
          <p:spPr>
            <a:xfrm>
              <a:off x="4724400" y="4629150"/>
              <a:ext cx="104775" cy="85725"/>
            </a:xfrm>
            <a:prstGeom prst="rect">
              <a:avLst/>
            </a:prstGeom>
            <a:solidFill>
              <a:srgbClr val="D1D7DD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8" name="Rectangle 307"/>
            <p:cNvSpPr/>
            <p:nvPr/>
          </p:nvSpPr>
          <p:spPr>
            <a:xfrm>
              <a:off x="4724400" y="4743450"/>
              <a:ext cx="104775" cy="85725"/>
            </a:xfrm>
            <a:prstGeom prst="rect">
              <a:avLst/>
            </a:prstGeom>
            <a:solidFill>
              <a:srgbClr val="BAC5D0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9" name="Rectangle 308"/>
            <p:cNvSpPr/>
            <p:nvPr/>
          </p:nvSpPr>
          <p:spPr>
            <a:xfrm>
              <a:off x="4724400" y="4914900"/>
              <a:ext cx="104775" cy="85725"/>
            </a:xfrm>
            <a:prstGeom prst="rect">
              <a:avLst/>
            </a:prstGeom>
            <a:solidFill>
              <a:srgbClr val="8594A3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0" name="Rectangle 309"/>
            <p:cNvSpPr/>
            <p:nvPr/>
          </p:nvSpPr>
          <p:spPr>
            <a:xfrm>
              <a:off x="4724400" y="5029200"/>
              <a:ext cx="104775" cy="85725"/>
            </a:xfrm>
            <a:prstGeom prst="rect">
              <a:avLst/>
            </a:prstGeom>
            <a:solidFill>
              <a:srgbClr val="566A7C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1" name="Oval 310"/>
            <p:cNvSpPr/>
            <p:nvPr/>
          </p:nvSpPr>
          <p:spPr>
            <a:xfrm>
              <a:off x="4771072" y="4852035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2" name="Oval 311"/>
            <p:cNvSpPr/>
            <p:nvPr/>
          </p:nvSpPr>
          <p:spPr>
            <a:xfrm>
              <a:off x="4771072" y="48806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3" name="Rectangle 312"/>
            <p:cNvSpPr/>
            <p:nvPr/>
          </p:nvSpPr>
          <p:spPr>
            <a:xfrm>
              <a:off x="4991100" y="4600575"/>
              <a:ext cx="161925" cy="5524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4" name="Rectangle 313"/>
            <p:cNvSpPr/>
            <p:nvPr/>
          </p:nvSpPr>
          <p:spPr>
            <a:xfrm>
              <a:off x="5019675" y="4629150"/>
              <a:ext cx="104775" cy="85725"/>
            </a:xfrm>
            <a:prstGeom prst="rect">
              <a:avLst/>
            </a:prstGeom>
            <a:solidFill>
              <a:srgbClr val="D1D7DD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5" name="Rectangle 314"/>
            <p:cNvSpPr/>
            <p:nvPr/>
          </p:nvSpPr>
          <p:spPr>
            <a:xfrm>
              <a:off x="5019675" y="4743450"/>
              <a:ext cx="104775" cy="85725"/>
            </a:xfrm>
            <a:prstGeom prst="rect">
              <a:avLst/>
            </a:prstGeom>
            <a:solidFill>
              <a:srgbClr val="BAC5D0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6" name="Rectangle 315"/>
            <p:cNvSpPr/>
            <p:nvPr/>
          </p:nvSpPr>
          <p:spPr>
            <a:xfrm>
              <a:off x="5019675" y="4914900"/>
              <a:ext cx="104775" cy="85725"/>
            </a:xfrm>
            <a:prstGeom prst="rect">
              <a:avLst/>
            </a:prstGeom>
            <a:solidFill>
              <a:srgbClr val="8594A3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7" name="Rectangle 316"/>
            <p:cNvSpPr/>
            <p:nvPr/>
          </p:nvSpPr>
          <p:spPr>
            <a:xfrm>
              <a:off x="5019675" y="5029200"/>
              <a:ext cx="104775" cy="85725"/>
            </a:xfrm>
            <a:prstGeom prst="rect">
              <a:avLst/>
            </a:prstGeom>
            <a:solidFill>
              <a:srgbClr val="566A7C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8" name="Oval 317"/>
            <p:cNvSpPr/>
            <p:nvPr/>
          </p:nvSpPr>
          <p:spPr>
            <a:xfrm>
              <a:off x="5066348" y="4852035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9" name="Oval 318"/>
            <p:cNvSpPr/>
            <p:nvPr/>
          </p:nvSpPr>
          <p:spPr>
            <a:xfrm>
              <a:off x="5066348" y="48806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0" name="Rectangle 319"/>
            <p:cNvSpPr/>
            <p:nvPr/>
          </p:nvSpPr>
          <p:spPr>
            <a:xfrm>
              <a:off x="5286375" y="4600575"/>
              <a:ext cx="161925" cy="5524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1" name="Rectangle 320"/>
            <p:cNvSpPr/>
            <p:nvPr/>
          </p:nvSpPr>
          <p:spPr>
            <a:xfrm>
              <a:off x="5314950" y="4629150"/>
              <a:ext cx="104775" cy="85725"/>
            </a:xfrm>
            <a:prstGeom prst="rect">
              <a:avLst/>
            </a:prstGeom>
            <a:solidFill>
              <a:srgbClr val="D1D7DD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2" name="Rectangle 321"/>
            <p:cNvSpPr/>
            <p:nvPr/>
          </p:nvSpPr>
          <p:spPr>
            <a:xfrm>
              <a:off x="5314950" y="4743450"/>
              <a:ext cx="104775" cy="85725"/>
            </a:xfrm>
            <a:prstGeom prst="rect">
              <a:avLst/>
            </a:prstGeom>
            <a:solidFill>
              <a:srgbClr val="BAC5D0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3" name="Rectangle 322"/>
            <p:cNvSpPr/>
            <p:nvPr/>
          </p:nvSpPr>
          <p:spPr>
            <a:xfrm>
              <a:off x="5314950" y="4914900"/>
              <a:ext cx="104775" cy="85725"/>
            </a:xfrm>
            <a:prstGeom prst="rect">
              <a:avLst/>
            </a:prstGeom>
            <a:solidFill>
              <a:srgbClr val="8594A3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4" name="Rectangle 323"/>
            <p:cNvSpPr/>
            <p:nvPr/>
          </p:nvSpPr>
          <p:spPr>
            <a:xfrm>
              <a:off x="5314950" y="5029200"/>
              <a:ext cx="104775" cy="85725"/>
            </a:xfrm>
            <a:prstGeom prst="rect">
              <a:avLst/>
            </a:prstGeom>
            <a:solidFill>
              <a:srgbClr val="566A7C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5" name="Oval 324"/>
            <p:cNvSpPr/>
            <p:nvPr/>
          </p:nvSpPr>
          <p:spPr>
            <a:xfrm>
              <a:off x="5361622" y="4852035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6" name="Oval 325"/>
            <p:cNvSpPr/>
            <p:nvPr/>
          </p:nvSpPr>
          <p:spPr>
            <a:xfrm>
              <a:off x="5361622" y="48806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7" name="Text: x_{p}"/>
            <p:cNvSpPr txBox="1"/>
            <p:nvPr/>
          </p:nvSpPr>
          <p:spPr>
            <a:xfrm>
              <a:off x="4943545" y="5240750"/>
              <a:ext cx="228460" cy="30003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75" b="0" i="1">
                  <a:solidFill>
                    <a:srgbClr val="EF0000"/>
                  </a:solidFill>
                  <a:latin typeface="Liberation Serif"/>
                </a:rPr>
                <a:t>x</a:t>
              </a:r>
              <a:r>
                <a:rPr sz="1575" b="0" i="1" baseline="-25000">
                  <a:solidFill>
                    <a:srgbClr val="EF0000"/>
                  </a:solidFill>
                  <a:latin typeface="Liberation Serif"/>
                </a:rPr>
                <a:t>p</a:t>
              </a:r>
            </a:p>
          </p:txBody>
        </p:sp>
        <p:sp>
          <p:nvSpPr>
            <p:cNvPr id="328" name="Text: Concat"/>
            <p:cNvSpPr txBox="1"/>
            <p:nvPr/>
          </p:nvSpPr>
          <p:spPr>
            <a:xfrm>
              <a:off x="5610225" y="4554664"/>
              <a:ext cx="561956" cy="2571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50" b="0" i="1">
                  <a:solidFill>
                    <a:srgbClr val="888888"/>
                  </a:solidFill>
                  <a:latin typeface="Liberation Serif"/>
                </a:rPr>
                <a:t>Concat</a:t>
              </a:r>
            </a:p>
          </p:txBody>
        </p:sp>
        <p:sp>
          <p:nvSpPr>
            <p:cNvPr id="329" name="Rectangle 328"/>
            <p:cNvSpPr/>
            <p:nvPr/>
          </p:nvSpPr>
          <p:spPr>
            <a:xfrm>
              <a:off x="6162675" y="4419600"/>
              <a:ext cx="952" cy="409575"/>
            </a:xfrm>
            <a:custGeom>
              <a:avLst/>
              <a:gdLst/>
              <a:ahLst/>
              <a:cxnLst/>
              <a:rect l="0" t="0" r="r" b="b"/>
              <a:pathLst>
                <a:path w="100" h="43000" fill="none">
                  <a:moveTo>
                    <a:pt x="0" y="0"/>
                  </a:moveTo>
                  <a:lnTo>
                    <a:pt x="0" y="4300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0" name="Rectangle 329"/>
            <p:cNvSpPr/>
            <p:nvPr/>
          </p:nvSpPr>
          <p:spPr>
            <a:xfrm>
              <a:off x="6134671" y="4762500"/>
              <a:ext cx="56007" cy="66675"/>
            </a:xfrm>
            <a:custGeom>
              <a:avLst/>
              <a:gdLst/>
              <a:ahLst/>
              <a:cxnLst/>
              <a:rect l="0" t="0" r="r" b="b"/>
              <a:pathLst>
                <a:path w="5880" h="7000" fill="norm">
                  <a:moveTo>
                    <a:pt x="2940" y="7000"/>
                  </a:moveTo>
                  <a:lnTo>
                    <a:pt x="5880" y="0"/>
                  </a:lnTo>
                  <a:lnTo>
                    <a:pt x="2940" y="23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1" name="Text: Contextual Input"/>
            <p:cNvSpPr txBox="1"/>
            <p:nvPr/>
          </p:nvSpPr>
          <p:spPr>
            <a:xfrm>
              <a:off x="7210611" y="4592955"/>
              <a:ext cx="1352364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F00000"/>
                  </a:solidFill>
                  <a:latin typeface="Liberation Serif"/>
                </a:rPr>
                <a:t>Contextual Input</a:t>
              </a:r>
            </a:p>
          </p:txBody>
        </p:sp>
        <p:sp>
          <p:nvSpPr>
            <p:cNvPr id="332" name="Rectangle 331"/>
            <p:cNvSpPr/>
            <p:nvPr/>
          </p:nvSpPr>
          <p:spPr>
            <a:xfrm>
              <a:off x="5715000" y="4867275"/>
              <a:ext cx="2857500" cy="409575"/>
            </a:xfrm>
            <a:prstGeom prst="rect">
              <a:avLst/>
            </a:prstGeom>
            <a:noFill/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3" name="Rounded Rectangle 332"/>
            <p:cNvSpPr/>
            <p:nvPr/>
          </p:nvSpPr>
          <p:spPr>
            <a:xfrm>
              <a:off x="5762625" y="4933950"/>
              <a:ext cx="123825" cy="295275"/>
            </a:xfrm>
            <a:prstGeom prst="roundRect">
              <a:avLst>
                <a:gd name="adj" fmla="val 50000"/>
              </a:avLst>
            </a:prstGeom>
            <a:solidFill>
              <a:srgbClr val="C8D1DC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Text: *"/>
            <p:cNvSpPr txBox="1"/>
            <p:nvPr/>
          </p:nvSpPr>
          <p:spPr>
            <a:xfrm>
              <a:off x="5734050" y="4937950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*</a:t>
              </a:r>
            </a:p>
          </p:txBody>
        </p:sp>
        <p:sp>
          <p:nvSpPr>
            <p:cNvPr id="335" name="Rounded Rectangle 334"/>
            <p:cNvSpPr/>
            <p:nvPr/>
          </p:nvSpPr>
          <p:spPr>
            <a:xfrm>
              <a:off x="5938838" y="4933950"/>
              <a:ext cx="152400" cy="295275"/>
            </a:xfrm>
            <a:prstGeom prst="roundRect">
              <a:avLst>
                <a:gd name="adj" fmla="val 43750"/>
              </a:avLst>
            </a:prstGeom>
            <a:solidFill>
              <a:srgbClr val="C8D1DC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6" name="Text: 1"/>
            <p:cNvSpPr txBox="1"/>
            <p:nvPr/>
          </p:nvSpPr>
          <p:spPr>
            <a:xfrm>
              <a:off x="5924550" y="4937950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337" name="Text: ···"/>
            <p:cNvSpPr txBox="1"/>
            <p:nvPr/>
          </p:nvSpPr>
          <p:spPr>
            <a:xfrm>
              <a:off x="6105609" y="4966240"/>
              <a:ext cx="266533" cy="30003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75" b="0" i="0">
                  <a:solidFill>
                    <a:srgbClr val="111111"/>
                  </a:solidFill>
                  <a:latin typeface="Liberation Serif"/>
                </a:rPr>
                <a:t>···</a:t>
              </a:r>
            </a:p>
          </p:txBody>
        </p:sp>
        <p:sp>
          <p:nvSpPr>
            <p:cNvPr id="338" name="Rounded Rectangle 337"/>
            <p:cNvSpPr/>
            <p:nvPr/>
          </p:nvSpPr>
          <p:spPr>
            <a:xfrm>
              <a:off x="6391275" y="4933950"/>
              <a:ext cx="123825" cy="295275"/>
            </a:xfrm>
            <a:prstGeom prst="roundRect">
              <a:avLst>
                <a:gd name="adj" fmla="val 50000"/>
              </a:avLst>
            </a:prstGeom>
            <a:solidFill>
              <a:srgbClr val="C8D1DC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Text: *"/>
            <p:cNvSpPr txBox="1"/>
            <p:nvPr/>
          </p:nvSpPr>
          <p:spPr>
            <a:xfrm>
              <a:off x="6362700" y="4937950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*</a:t>
              </a:r>
            </a:p>
          </p:txBody>
        </p:sp>
        <p:sp>
          <p:nvSpPr>
            <p:cNvPr id="340" name="Rounded Rectangle 339"/>
            <p:cNvSpPr/>
            <p:nvPr/>
          </p:nvSpPr>
          <p:spPr>
            <a:xfrm>
              <a:off x="6567488" y="4933950"/>
              <a:ext cx="152400" cy="295275"/>
            </a:xfrm>
            <a:prstGeom prst="roundRect">
              <a:avLst>
                <a:gd name="adj" fmla="val 43750"/>
              </a:avLst>
            </a:prstGeom>
            <a:solidFill>
              <a:srgbClr val="C8D1DC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1" name="Text: N"/>
            <p:cNvSpPr txBox="1"/>
            <p:nvPr/>
          </p:nvSpPr>
          <p:spPr>
            <a:xfrm>
              <a:off x="6527806" y="4937950"/>
              <a:ext cx="231763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N</a:t>
              </a:r>
            </a:p>
          </p:txBody>
        </p:sp>
        <p:sp>
          <p:nvSpPr>
            <p:cNvPr id="342" name="Rounded Rectangle 341"/>
            <p:cNvSpPr/>
            <p:nvPr/>
          </p:nvSpPr>
          <p:spPr>
            <a:xfrm>
              <a:off x="6772275" y="4933950"/>
              <a:ext cx="123825" cy="295275"/>
            </a:xfrm>
            <a:prstGeom prst="roundRect">
              <a:avLst>
                <a:gd name="adj" fmla="val 50000"/>
              </a:avLst>
            </a:prstGeom>
            <a:solidFill>
              <a:srgbClr val="BBD2F1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Text: *"/>
            <p:cNvSpPr txBox="1"/>
            <p:nvPr/>
          </p:nvSpPr>
          <p:spPr>
            <a:xfrm>
              <a:off x="6743700" y="4937950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*</a:t>
              </a:r>
            </a:p>
          </p:txBody>
        </p:sp>
        <p:sp>
          <p:nvSpPr>
            <p:cNvPr id="344" name="Rounded Rectangle 343"/>
            <p:cNvSpPr/>
            <p:nvPr/>
          </p:nvSpPr>
          <p:spPr>
            <a:xfrm>
              <a:off x="6948488" y="4933950"/>
              <a:ext cx="152400" cy="295275"/>
            </a:xfrm>
            <a:prstGeom prst="roundRect">
              <a:avLst>
                <a:gd name="adj" fmla="val 43750"/>
              </a:avLst>
            </a:prstGeom>
            <a:solidFill>
              <a:srgbClr val="BBD2F1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5" name="Text: 0"/>
            <p:cNvSpPr txBox="1"/>
            <p:nvPr/>
          </p:nvSpPr>
          <p:spPr>
            <a:xfrm>
              <a:off x="6934200" y="4937950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346" name="Rounded Rectangle 345"/>
            <p:cNvSpPr/>
            <p:nvPr/>
          </p:nvSpPr>
          <p:spPr>
            <a:xfrm>
              <a:off x="7153275" y="4933950"/>
              <a:ext cx="123825" cy="295275"/>
            </a:xfrm>
            <a:prstGeom prst="roundRect">
              <a:avLst>
                <a:gd name="adj" fmla="val 50000"/>
              </a:avLst>
            </a:prstGeom>
            <a:solidFill>
              <a:srgbClr val="BBD2F1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" name="Text: *"/>
            <p:cNvSpPr txBox="1"/>
            <p:nvPr/>
          </p:nvSpPr>
          <p:spPr>
            <a:xfrm>
              <a:off x="7124700" y="4937950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*</a:t>
              </a:r>
            </a:p>
          </p:txBody>
        </p:sp>
        <p:sp>
          <p:nvSpPr>
            <p:cNvPr id="348" name="Rounded Rectangle 347"/>
            <p:cNvSpPr/>
            <p:nvPr/>
          </p:nvSpPr>
          <p:spPr>
            <a:xfrm>
              <a:off x="7329488" y="4933950"/>
              <a:ext cx="152400" cy="295275"/>
            </a:xfrm>
            <a:prstGeom prst="roundRect">
              <a:avLst>
                <a:gd name="adj" fmla="val 43750"/>
              </a:avLst>
            </a:prstGeom>
            <a:solidFill>
              <a:srgbClr val="BBD2F1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Text: 1"/>
            <p:cNvSpPr txBox="1"/>
            <p:nvPr/>
          </p:nvSpPr>
          <p:spPr>
            <a:xfrm>
              <a:off x="7315200" y="4937950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350" name="Rounded Rectangle 349"/>
            <p:cNvSpPr/>
            <p:nvPr/>
          </p:nvSpPr>
          <p:spPr>
            <a:xfrm>
              <a:off x="7534275" y="4933950"/>
              <a:ext cx="123825" cy="295275"/>
            </a:xfrm>
            <a:prstGeom prst="roundRect">
              <a:avLst>
                <a:gd name="adj" fmla="val 50000"/>
              </a:avLst>
            </a:prstGeom>
            <a:solidFill>
              <a:srgbClr val="BBD2F1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1" name="Text: *"/>
            <p:cNvSpPr txBox="1"/>
            <p:nvPr/>
          </p:nvSpPr>
          <p:spPr>
            <a:xfrm>
              <a:off x="7505700" y="4937950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*</a:t>
              </a:r>
            </a:p>
          </p:txBody>
        </p:sp>
        <p:sp>
          <p:nvSpPr>
            <p:cNvPr id="352" name="Rounded Rectangle 351"/>
            <p:cNvSpPr/>
            <p:nvPr/>
          </p:nvSpPr>
          <p:spPr>
            <a:xfrm>
              <a:off x="7710488" y="4933950"/>
              <a:ext cx="152400" cy="295275"/>
            </a:xfrm>
            <a:prstGeom prst="roundRect">
              <a:avLst>
                <a:gd name="adj" fmla="val 43750"/>
              </a:avLst>
            </a:prstGeom>
            <a:solidFill>
              <a:srgbClr val="BBD2F1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Text: 2"/>
            <p:cNvSpPr txBox="1"/>
            <p:nvPr/>
          </p:nvSpPr>
          <p:spPr>
            <a:xfrm>
              <a:off x="7696200" y="4937950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354" name="Text: ···"/>
            <p:cNvSpPr txBox="1"/>
            <p:nvPr/>
          </p:nvSpPr>
          <p:spPr>
            <a:xfrm>
              <a:off x="7877259" y="4966240"/>
              <a:ext cx="266533" cy="30003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75" b="0" i="0">
                  <a:solidFill>
                    <a:srgbClr val="111111"/>
                  </a:solidFill>
                  <a:latin typeface="Liberation Serif"/>
                </a:rPr>
                <a:t>···</a:t>
              </a:r>
            </a:p>
          </p:txBody>
        </p:sp>
        <p:sp>
          <p:nvSpPr>
            <p:cNvPr id="355" name="Rounded Rectangle 354"/>
            <p:cNvSpPr/>
            <p:nvPr/>
          </p:nvSpPr>
          <p:spPr>
            <a:xfrm>
              <a:off x="8162925" y="4933950"/>
              <a:ext cx="123825" cy="295275"/>
            </a:xfrm>
            <a:prstGeom prst="roundRect">
              <a:avLst>
                <a:gd name="adj" fmla="val 50000"/>
              </a:avLst>
            </a:prstGeom>
            <a:solidFill>
              <a:srgbClr val="BBD2F1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6" name="Text: *"/>
            <p:cNvSpPr txBox="1"/>
            <p:nvPr/>
          </p:nvSpPr>
          <p:spPr>
            <a:xfrm>
              <a:off x="8134350" y="4937950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*</a:t>
              </a:r>
            </a:p>
          </p:txBody>
        </p:sp>
        <p:sp>
          <p:nvSpPr>
            <p:cNvPr id="357" name="Rounded Rectangle 356"/>
            <p:cNvSpPr/>
            <p:nvPr/>
          </p:nvSpPr>
          <p:spPr>
            <a:xfrm>
              <a:off x="8339138" y="4933950"/>
              <a:ext cx="152400" cy="295275"/>
            </a:xfrm>
            <a:prstGeom prst="roundRect">
              <a:avLst>
                <a:gd name="adj" fmla="val 43750"/>
              </a:avLst>
            </a:prstGeom>
            <a:solidFill>
              <a:srgbClr val="BBD2F1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Text: L"/>
            <p:cNvSpPr txBox="1"/>
            <p:nvPr/>
          </p:nvSpPr>
          <p:spPr>
            <a:xfrm>
              <a:off x="8312181" y="4937950"/>
              <a:ext cx="206313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L</a:t>
              </a:r>
            </a:p>
          </p:txBody>
        </p:sp>
        <p:sp>
          <p:nvSpPr>
            <p:cNvPr id="359" name="Text: x_{ctx}"/>
            <p:cNvSpPr txBox="1"/>
            <p:nvPr/>
          </p:nvSpPr>
          <p:spPr>
            <a:xfrm>
              <a:off x="7911019" y="5259705"/>
              <a:ext cx="313312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E60000"/>
                  </a:solidFill>
                  <a:latin typeface="Liberation Serif"/>
                </a:rPr>
                <a:t>x</a:t>
              </a:r>
              <a:r>
                <a:rPr sz="1500" b="0" i="1" baseline="-25000">
                  <a:solidFill>
                    <a:srgbClr val="E60000"/>
                  </a:solidFill>
                  <a:latin typeface="Liberation Serif"/>
                </a:rPr>
                <a:t>ctx</a:t>
              </a:r>
            </a:p>
          </p:txBody>
        </p:sp>
      </p:grpSp>
      <p:grpSp>
        <p:nvGrpSpPr>
          <p:cNvPr id="424" name="03_Multi_Task_Pretraining"/>
          <p:cNvGrpSpPr/>
          <p:nvPr/>
        </p:nvGrpSpPr>
        <p:grpSpPr>
          <a:xfrm>
            <a:off x="95250" y="5800725"/>
            <a:ext cx="8801100" cy="3552825"/>
            <a:chOff x="95250" y="5800725"/>
            <a:chExt cx="8801100" cy="3552825"/>
          </a:xfrm>
        </p:grpSpPr>
        <p:sp>
          <p:nvSpPr>
            <p:cNvPr id="361" name="Rectangle 360"/>
            <p:cNvSpPr/>
            <p:nvPr/>
          </p:nvSpPr>
          <p:spPr>
            <a:xfrm>
              <a:off x="95250" y="5800725"/>
              <a:ext cx="8801100" cy="3552825"/>
            </a:xfrm>
            <a:prstGeom prst="rect">
              <a:avLst/>
            </a:prstGeom>
            <a:solidFill>
              <a:srgbClr val="F0F8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2" name="Text: Multi-Task Pretraining"/>
            <p:cNvSpPr txBox="1"/>
            <p:nvPr/>
          </p:nvSpPr>
          <p:spPr>
            <a:xfrm>
              <a:off x="3224836" y="5869876"/>
              <a:ext cx="2522879" cy="3714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950" b="1" i="0">
                  <a:solidFill>
                    <a:srgbClr val="111111"/>
                  </a:solidFill>
                  <a:latin typeface="Liberation Serif"/>
                </a:rPr>
                <a:t>Multi-Task Pretraining</a:t>
              </a:r>
            </a:p>
          </p:txBody>
        </p:sp>
        <p:sp>
          <p:nvSpPr>
            <p:cNvPr id="363" name="Text: Encoder"/>
            <p:cNvSpPr txBox="1"/>
            <p:nvPr/>
          </p:nvSpPr>
          <p:spPr>
            <a:xfrm>
              <a:off x="304800" y="6497955"/>
              <a:ext cx="701334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Encoder</a:t>
              </a:r>
            </a:p>
          </p:txBody>
        </p:sp>
        <p:sp>
          <p:nvSpPr>
            <p:cNvPr id="364" name="Text: Decoder"/>
            <p:cNvSpPr txBox="1"/>
            <p:nvPr/>
          </p:nvSpPr>
          <p:spPr>
            <a:xfrm>
              <a:off x="276225" y="7288530"/>
              <a:ext cx="711845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Decoder</a:t>
              </a:r>
            </a:p>
          </p:txBody>
        </p:sp>
        <p:sp>
          <p:nvSpPr>
            <p:cNvPr id="365" name="Rounded Rectangle 364"/>
            <p:cNvSpPr/>
            <p:nvPr/>
          </p:nvSpPr>
          <p:spPr>
            <a:xfrm>
              <a:off x="1076325" y="6276975"/>
              <a:ext cx="7038975" cy="304800"/>
            </a:xfrm>
            <a:prstGeom prst="roundRect">
              <a:avLst>
                <a:gd name="adj" fmla="val 18750"/>
              </a:avLst>
            </a:prstGeom>
            <a:solidFill>
              <a:srgbClr val="E2EFD7"/>
            </a:solidFill>
            <a:ln w="1047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6" name="Rounded Rectangle 365"/>
            <p:cNvSpPr/>
            <p:nvPr/>
          </p:nvSpPr>
          <p:spPr>
            <a:xfrm>
              <a:off x="1076325" y="6657975"/>
              <a:ext cx="7048500" cy="304800"/>
            </a:xfrm>
            <a:prstGeom prst="roundRect">
              <a:avLst>
                <a:gd name="adj" fmla="val 18750"/>
              </a:avLst>
            </a:prstGeom>
            <a:solidFill>
              <a:srgbClr val="EAEDF2"/>
            </a:solidFill>
            <a:ln w="1047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7" name="Text: Multi-Head Attention"/>
            <p:cNvSpPr txBox="1"/>
            <p:nvPr/>
          </p:nvSpPr>
          <p:spPr>
            <a:xfrm>
              <a:off x="3744497" y="6316980"/>
              <a:ext cx="1712156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Multi-Head Attention</a:t>
              </a:r>
            </a:p>
          </p:txBody>
        </p:sp>
        <p:sp>
          <p:nvSpPr>
            <p:cNvPr id="368" name="Text: Feed Forward Network"/>
            <p:cNvSpPr txBox="1"/>
            <p:nvPr/>
          </p:nvSpPr>
          <p:spPr>
            <a:xfrm>
              <a:off x="3678455" y="6697980"/>
              <a:ext cx="1844241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Feed Forward Network</a:t>
              </a:r>
            </a:p>
          </p:txBody>
        </p:sp>
        <p:sp>
          <p:nvSpPr>
            <p:cNvPr id="369" name="Rectangle 368"/>
            <p:cNvSpPr/>
            <p:nvPr/>
          </p:nvSpPr>
          <p:spPr>
            <a:xfrm>
              <a:off x="1137476" y="6305550"/>
              <a:ext cx="248317" cy="225743"/>
            </a:xfrm>
            <a:custGeom>
              <a:avLst/>
              <a:gdLst/>
              <a:ahLst/>
              <a:cxnLst/>
              <a:rect l="0" t="0" r="r" b="b"/>
              <a:pathLst>
                <a:path w="26070" h="23700" fill="norm">
                  <a:moveTo>
                    <a:pt x="9480" y="21330"/>
                  </a:moveTo>
                  <a:cubicBezTo>
                    <a:pt x="0" y="20540"/>
                    <a:pt x="1580" y="11060"/>
                    <a:pt x="6320" y="7900"/>
                  </a:cubicBezTo>
                  <a:cubicBezTo>
                    <a:pt x="5530" y="12640"/>
                    <a:pt x="8690" y="14220"/>
                    <a:pt x="9480" y="9480"/>
                  </a:cubicBezTo>
                  <a:cubicBezTo>
                    <a:pt x="10270" y="4740"/>
                    <a:pt x="13430" y="4740"/>
                    <a:pt x="11060" y="0"/>
                  </a:cubicBezTo>
                  <a:cubicBezTo>
                    <a:pt x="19750" y="4740"/>
                    <a:pt x="15800" y="10270"/>
                    <a:pt x="19750" y="11850"/>
                  </a:cubicBezTo>
                  <a:cubicBezTo>
                    <a:pt x="21330" y="10270"/>
                    <a:pt x="20540" y="7900"/>
                    <a:pt x="20540" y="7110"/>
                  </a:cubicBezTo>
                  <a:cubicBezTo>
                    <a:pt x="26070" y="15800"/>
                    <a:pt x="22910" y="22120"/>
                    <a:pt x="15800" y="22910"/>
                  </a:cubicBezTo>
                  <a:cubicBezTo>
                    <a:pt x="13430" y="23700"/>
                    <a:pt x="11060" y="22910"/>
                    <a:pt x="9480" y="21330"/>
                  </a:cubicBezTo>
                  <a:close/>
                </a:path>
              </a:pathLst>
            </a:custGeom>
            <a:solidFill>
              <a:srgbClr val="F8894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0" name="Rectangle 369"/>
            <p:cNvSpPr/>
            <p:nvPr/>
          </p:nvSpPr>
          <p:spPr>
            <a:xfrm>
              <a:off x="1190149" y="6395847"/>
              <a:ext cx="158020" cy="127921"/>
            </a:xfrm>
            <a:custGeom>
              <a:avLst/>
              <a:gdLst/>
              <a:ahLst/>
              <a:cxnLst/>
              <a:rect l="0" t="0" r="r" b="b"/>
              <a:pathLst>
                <a:path w="16590" h="13430" fill="norm">
                  <a:moveTo>
                    <a:pt x="3160" y="10270"/>
                  </a:moveTo>
                  <a:cubicBezTo>
                    <a:pt x="0" y="5530"/>
                    <a:pt x="3950" y="2370"/>
                    <a:pt x="3950" y="790"/>
                  </a:cubicBezTo>
                  <a:cubicBezTo>
                    <a:pt x="3950" y="5530"/>
                    <a:pt x="7110" y="4740"/>
                    <a:pt x="7900" y="0"/>
                  </a:cubicBezTo>
                  <a:cubicBezTo>
                    <a:pt x="11850" y="3160"/>
                    <a:pt x="11060" y="7900"/>
                    <a:pt x="13430" y="7110"/>
                  </a:cubicBezTo>
                  <a:cubicBezTo>
                    <a:pt x="13430" y="4740"/>
                    <a:pt x="13430" y="3950"/>
                    <a:pt x="14220" y="3950"/>
                  </a:cubicBezTo>
                  <a:cubicBezTo>
                    <a:pt x="16590" y="10270"/>
                    <a:pt x="11850" y="13430"/>
                    <a:pt x="7900" y="12640"/>
                  </a:cubicBezTo>
                  <a:cubicBezTo>
                    <a:pt x="5530" y="12640"/>
                    <a:pt x="3950" y="11850"/>
                    <a:pt x="3160" y="10270"/>
                  </a:cubicBezTo>
                  <a:close/>
                </a:path>
              </a:pathLst>
            </a:custGeom>
            <a:solidFill>
              <a:srgbClr val="FFC56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1" name="Rectangle 370"/>
            <p:cNvSpPr/>
            <p:nvPr/>
          </p:nvSpPr>
          <p:spPr>
            <a:xfrm>
              <a:off x="1235297" y="6440996"/>
              <a:ext cx="67723" cy="75247"/>
            </a:xfrm>
            <a:custGeom>
              <a:avLst/>
              <a:gdLst/>
              <a:ahLst/>
              <a:cxnLst/>
              <a:rect l="0" t="0" r="r" b="b"/>
              <a:pathLst>
                <a:path w="7110" h="7900" fill="norm">
                  <a:moveTo>
                    <a:pt x="1580" y="6320"/>
                  </a:moveTo>
                  <a:cubicBezTo>
                    <a:pt x="0" y="3160"/>
                    <a:pt x="3160" y="1580"/>
                    <a:pt x="3160" y="0"/>
                  </a:cubicBezTo>
                  <a:cubicBezTo>
                    <a:pt x="7110" y="3950"/>
                    <a:pt x="6320" y="7110"/>
                    <a:pt x="3950" y="7900"/>
                  </a:cubicBezTo>
                  <a:close/>
                </a:path>
              </a:pathLst>
            </a:custGeom>
            <a:solidFill>
              <a:srgbClr val="FFE2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2" name="Rectangle 371"/>
            <p:cNvSpPr/>
            <p:nvPr/>
          </p:nvSpPr>
          <p:spPr>
            <a:xfrm>
              <a:off x="1137476" y="6686550"/>
              <a:ext cx="248317" cy="225743"/>
            </a:xfrm>
            <a:custGeom>
              <a:avLst/>
              <a:gdLst/>
              <a:ahLst/>
              <a:cxnLst/>
              <a:rect l="0" t="0" r="r" b="b"/>
              <a:pathLst>
                <a:path w="26070" h="23700" fill="norm">
                  <a:moveTo>
                    <a:pt x="9480" y="21330"/>
                  </a:moveTo>
                  <a:cubicBezTo>
                    <a:pt x="0" y="20540"/>
                    <a:pt x="1580" y="11060"/>
                    <a:pt x="6320" y="7900"/>
                  </a:cubicBezTo>
                  <a:cubicBezTo>
                    <a:pt x="5530" y="12640"/>
                    <a:pt x="8690" y="14220"/>
                    <a:pt x="9480" y="9480"/>
                  </a:cubicBezTo>
                  <a:cubicBezTo>
                    <a:pt x="10270" y="4740"/>
                    <a:pt x="13430" y="4740"/>
                    <a:pt x="11060" y="0"/>
                  </a:cubicBezTo>
                  <a:cubicBezTo>
                    <a:pt x="19750" y="4740"/>
                    <a:pt x="15800" y="10270"/>
                    <a:pt x="19750" y="11850"/>
                  </a:cubicBezTo>
                  <a:cubicBezTo>
                    <a:pt x="21330" y="10270"/>
                    <a:pt x="20540" y="7900"/>
                    <a:pt x="20540" y="7110"/>
                  </a:cubicBezTo>
                  <a:cubicBezTo>
                    <a:pt x="26070" y="15800"/>
                    <a:pt x="22910" y="22120"/>
                    <a:pt x="15800" y="22910"/>
                  </a:cubicBezTo>
                  <a:cubicBezTo>
                    <a:pt x="13430" y="23700"/>
                    <a:pt x="11060" y="22910"/>
                    <a:pt x="9480" y="21330"/>
                  </a:cubicBezTo>
                  <a:close/>
                </a:path>
              </a:pathLst>
            </a:custGeom>
            <a:solidFill>
              <a:srgbClr val="F8894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3" name="Rectangle 372"/>
            <p:cNvSpPr/>
            <p:nvPr/>
          </p:nvSpPr>
          <p:spPr>
            <a:xfrm>
              <a:off x="1190149" y="6776847"/>
              <a:ext cx="158020" cy="127921"/>
            </a:xfrm>
            <a:custGeom>
              <a:avLst/>
              <a:gdLst/>
              <a:ahLst/>
              <a:cxnLst/>
              <a:rect l="0" t="0" r="r" b="b"/>
              <a:pathLst>
                <a:path w="16590" h="13430" fill="norm">
                  <a:moveTo>
                    <a:pt x="3160" y="10270"/>
                  </a:moveTo>
                  <a:cubicBezTo>
                    <a:pt x="0" y="5530"/>
                    <a:pt x="3950" y="2370"/>
                    <a:pt x="3950" y="790"/>
                  </a:cubicBezTo>
                  <a:cubicBezTo>
                    <a:pt x="3950" y="5530"/>
                    <a:pt x="7110" y="4740"/>
                    <a:pt x="7900" y="0"/>
                  </a:cubicBezTo>
                  <a:cubicBezTo>
                    <a:pt x="11850" y="3160"/>
                    <a:pt x="11060" y="7900"/>
                    <a:pt x="13430" y="7110"/>
                  </a:cubicBezTo>
                  <a:cubicBezTo>
                    <a:pt x="13430" y="4740"/>
                    <a:pt x="13430" y="3950"/>
                    <a:pt x="14220" y="3950"/>
                  </a:cubicBezTo>
                  <a:cubicBezTo>
                    <a:pt x="16590" y="10270"/>
                    <a:pt x="11850" y="13430"/>
                    <a:pt x="7900" y="12640"/>
                  </a:cubicBezTo>
                  <a:cubicBezTo>
                    <a:pt x="5530" y="12640"/>
                    <a:pt x="3950" y="11850"/>
                    <a:pt x="3160" y="10270"/>
                  </a:cubicBezTo>
                  <a:close/>
                </a:path>
              </a:pathLst>
            </a:custGeom>
            <a:solidFill>
              <a:srgbClr val="FFC56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4" name="Rectangle 373"/>
            <p:cNvSpPr/>
            <p:nvPr/>
          </p:nvSpPr>
          <p:spPr>
            <a:xfrm>
              <a:off x="1235297" y="6821996"/>
              <a:ext cx="67723" cy="75247"/>
            </a:xfrm>
            <a:custGeom>
              <a:avLst/>
              <a:gdLst/>
              <a:ahLst/>
              <a:cxnLst/>
              <a:rect l="0" t="0" r="r" b="b"/>
              <a:pathLst>
                <a:path w="7110" h="7900" fill="norm">
                  <a:moveTo>
                    <a:pt x="1580" y="6320"/>
                  </a:moveTo>
                  <a:cubicBezTo>
                    <a:pt x="0" y="3160"/>
                    <a:pt x="3160" y="1580"/>
                    <a:pt x="3160" y="0"/>
                  </a:cubicBezTo>
                  <a:cubicBezTo>
                    <a:pt x="7110" y="3950"/>
                    <a:pt x="6320" y="7110"/>
                    <a:pt x="3950" y="7900"/>
                  </a:cubicBezTo>
                  <a:close/>
                </a:path>
              </a:pathLst>
            </a:custGeom>
            <a:solidFill>
              <a:srgbClr val="FFE2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5" name="Rectangle 374"/>
            <p:cNvSpPr/>
            <p:nvPr/>
          </p:nvSpPr>
          <p:spPr>
            <a:xfrm>
              <a:off x="8181975" y="6276975"/>
              <a:ext cx="85725" cy="685800"/>
            </a:xfrm>
            <a:custGeom>
              <a:avLst/>
              <a:gdLst/>
              <a:ahLst/>
              <a:cxnLst/>
              <a:rect l="0" t="0" r="r" b="b"/>
              <a:pathLst>
                <a:path w="9000" h="72000" fill="none">
                  <a:moveTo>
                    <a:pt x="0" y="0"/>
                  </a:moveTo>
                  <a:lnTo>
                    <a:pt x="5000" y="0"/>
                  </a:lnTo>
                  <a:lnTo>
                    <a:pt x="5000" y="30960"/>
                  </a:lnTo>
                  <a:quadBezTo>
                    <a:pt x="5000" y="36000"/>
                    <a:pt x="9000" y="36000"/>
                  </a:quadBezTo>
                  <a:quadBezTo>
                    <a:pt x="5000" y="36000"/>
                    <a:pt x="5000" y="41040"/>
                  </a:quadBezTo>
                  <a:lnTo>
                    <a:pt x="5000" y="72000"/>
                  </a:lnTo>
                  <a:lnTo>
                    <a:pt x="0" y="72000"/>
                  </a:lnTo>
                </a:path>
              </a:pathLst>
            </a:custGeom>
            <a:noFill/>
            <a:ln w="1047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6" name="Text: x N"/>
            <p:cNvSpPr txBox="1"/>
            <p:nvPr/>
          </p:nvSpPr>
          <p:spPr>
            <a:xfrm>
              <a:off x="8391525" y="6497860"/>
              <a:ext cx="333096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x N</a:t>
              </a:r>
            </a:p>
          </p:txBody>
        </p:sp>
        <p:sp>
          <p:nvSpPr>
            <p:cNvPr id="377" name="Rounded Rectangle 376"/>
            <p:cNvSpPr/>
            <p:nvPr/>
          </p:nvSpPr>
          <p:spPr>
            <a:xfrm>
              <a:off x="1076325" y="7105650"/>
              <a:ext cx="7038975" cy="304800"/>
            </a:xfrm>
            <a:prstGeom prst="roundRect">
              <a:avLst>
                <a:gd name="adj" fmla="val 18750"/>
              </a:avLst>
            </a:prstGeom>
            <a:solidFill>
              <a:srgbClr val="E2EFD7"/>
            </a:solidFill>
            <a:ln w="1047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8" name="Rounded Rectangle 377"/>
            <p:cNvSpPr/>
            <p:nvPr/>
          </p:nvSpPr>
          <p:spPr>
            <a:xfrm>
              <a:off x="1076325" y="7486650"/>
              <a:ext cx="7048500" cy="304800"/>
            </a:xfrm>
            <a:prstGeom prst="roundRect">
              <a:avLst>
                <a:gd name="adj" fmla="val 18750"/>
              </a:avLst>
            </a:prstGeom>
            <a:solidFill>
              <a:srgbClr val="EAEDF2"/>
            </a:solidFill>
            <a:ln w="1047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9" name="Text: Multi-Head Attention"/>
            <p:cNvSpPr txBox="1"/>
            <p:nvPr/>
          </p:nvSpPr>
          <p:spPr>
            <a:xfrm>
              <a:off x="3744497" y="7145655"/>
              <a:ext cx="1712156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Multi-Head Attention</a:t>
              </a:r>
            </a:p>
          </p:txBody>
        </p:sp>
        <p:sp>
          <p:nvSpPr>
            <p:cNvPr id="380" name="Text: Feed Forward Network"/>
            <p:cNvSpPr txBox="1"/>
            <p:nvPr/>
          </p:nvSpPr>
          <p:spPr>
            <a:xfrm>
              <a:off x="3678455" y="7526655"/>
              <a:ext cx="1844241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Feed Forward Network</a:t>
              </a:r>
            </a:p>
          </p:txBody>
        </p:sp>
        <p:sp>
          <p:nvSpPr>
            <p:cNvPr id="381" name="Rectangle 380"/>
            <p:cNvSpPr/>
            <p:nvPr/>
          </p:nvSpPr>
          <p:spPr>
            <a:xfrm>
              <a:off x="1137476" y="7134225"/>
              <a:ext cx="248317" cy="225743"/>
            </a:xfrm>
            <a:custGeom>
              <a:avLst/>
              <a:gdLst/>
              <a:ahLst/>
              <a:cxnLst/>
              <a:rect l="0" t="0" r="r" b="b"/>
              <a:pathLst>
                <a:path w="26070" h="23700" fill="norm">
                  <a:moveTo>
                    <a:pt x="9480" y="21330"/>
                  </a:moveTo>
                  <a:cubicBezTo>
                    <a:pt x="0" y="20540"/>
                    <a:pt x="1580" y="11060"/>
                    <a:pt x="6320" y="7900"/>
                  </a:cubicBezTo>
                  <a:cubicBezTo>
                    <a:pt x="5530" y="12640"/>
                    <a:pt x="8690" y="14220"/>
                    <a:pt x="9480" y="9480"/>
                  </a:cubicBezTo>
                  <a:cubicBezTo>
                    <a:pt x="10270" y="4740"/>
                    <a:pt x="13430" y="4740"/>
                    <a:pt x="11060" y="0"/>
                  </a:cubicBezTo>
                  <a:cubicBezTo>
                    <a:pt x="19750" y="4740"/>
                    <a:pt x="15800" y="10270"/>
                    <a:pt x="19750" y="11850"/>
                  </a:cubicBezTo>
                  <a:cubicBezTo>
                    <a:pt x="21330" y="10270"/>
                    <a:pt x="20540" y="7900"/>
                    <a:pt x="20540" y="7110"/>
                  </a:cubicBezTo>
                  <a:cubicBezTo>
                    <a:pt x="26070" y="15800"/>
                    <a:pt x="22910" y="22120"/>
                    <a:pt x="15800" y="22910"/>
                  </a:cubicBezTo>
                  <a:cubicBezTo>
                    <a:pt x="13430" y="23700"/>
                    <a:pt x="11060" y="22910"/>
                    <a:pt x="9480" y="21330"/>
                  </a:cubicBezTo>
                  <a:close/>
                </a:path>
              </a:pathLst>
            </a:custGeom>
            <a:solidFill>
              <a:srgbClr val="F8894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2" name="Rectangle 381"/>
            <p:cNvSpPr/>
            <p:nvPr/>
          </p:nvSpPr>
          <p:spPr>
            <a:xfrm>
              <a:off x="1190149" y="7224522"/>
              <a:ext cx="158020" cy="127921"/>
            </a:xfrm>
            <a:custGeom>
              <a:avLst/>
              <a:gdLst/>
              <a:ahLst/>
              <a:cxnLst/>
              <a:rect l="0" t="0" r="r" b="b"/>
              <a:pathLst>
                <a:path w="16590" h="13430" fill="norm">
                  <a:moveTo>
                    <a:pt x="3160" y="10270"/>
                  </a:moveTo>
                  <a:cubicBezTo>
                    <a:pt x="0" y="5530"/>
                    <a:pt x="3950" y="2370"/>
                    <a:pt x="3950" y="790"/>
                  </a:cubicBezTo>
                  <a:cubicBezTo>
                    <a:pt x="3950" y="5530"/>
                    <a:pt x="7110" y="4740"/>
                    <a:pt x="7900" y="0"/>
                  </a:cubicBezTo>
                  <a:cubicBezTo>
                    <a:pt x="11850" y="3160"/>
                    <a:pt x="11060" y="7900"/>
                    <a:pt x="13430" y="7110"/>
                  </a:cubicBezTo>
                  <a:cubicBezTo>
                    <a:pt x="13430" y="4740"/>
                    <a:pt x="13430" y="3950"/>
                    <a:pt x="14220" y="3950"/>
                  </a:cubicBezTo>
                  <a:cubicBezTo>
                    <a:pt x="16590" y="10270"/>
                    <a:pt x="11850" y="13430"/>
                    <a:pt x="7900" y="12640"/>
                  </a:cubicBezTo>
                  <a:cubicBezTo>
                    <a:pt x="5530" y="12640"/>
                    <a:pt x="3950" y="11850"/>
                    <a:pt x="3160" y="10270"/>
                  </a:cubicBezTo>
                  <a:close/>
                </a:path>
              </a:pathLst>
            </a:custGeom>
            <a:solidFill>
              <a:srgbClr val="FFC56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3" name="Rectangle 382"/>
            <p:cNvSpPr/>
            <p:nvPr/>
          </p:nvSpPr>
          <p:spPr>
            <a:xfrm>
              <a:off x="1235297" y="7269670"/>
              <a:ext cx="67723" cy="75247"/>
            </a:xfrm>
            <a:custGeom>
              <a:avLst/>
              <a:gdLst/>
              <a:ahLst/>
              <a:cxnLst/>
              <a:rect l="0" t="0" r="r" b="b"/>
              <a:pathLst>
                <a:path w="7110" h="7900" fill="norm">
                  <a:moveTo>
                    <a:pt x="1580" y="6320"/>
                  </a:moveTo>
                  <a:cubicBezTo>
                    <a:pt x="0" y="3160"/>
                    <a:pt x="3160" y="1580"/>
                    <a:pt x="3160" y="0"/>
                  </a:cubicBezTo>
                  <a:cubicBezTo>
                    <a:pt x="7110" y="3950"/>
                    <a:pt x="6320" y="7110"/>
                    <a:pt x="3950" y="7900"/>
                  </a:cubicBezTo>
                  <a:close/>
                </a:path>
              </a:pathLst>
            </a:custGeom>
            <a:solidFill>
              <a:srgbClr val="FFE2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4" name="Rectangle 383"/>
            <p:cNvSpPr/>
            <p:nvPr/>
          </p:nvSpPr>
          <p:spPr>
            <a:xfrm>
              <a:off x="1137476" y="7515225"/>
              <a:ext cx="248317" cy="225743"/>
            </a:xfrm>
            <a:custGeom>
              <a:avLst/>
              <a:gdLst/>
              <a:ahLst/>
              <a:cxnLst/>
              <a:rect l="0" t="0" r="r" b="b"/>
              <a:pathLst>
                <a:path w="26070" h="23700" fill="norm">
                  <a:moveTo>
                    <a:pt x="9480" y="21330"/>
                  </a:moveTo>
                  <a:cubicBezTo>
                    <a:pt x="0" y="20540"/>
                    <a:pt x="1580" y="11060"/>
                    <a:pt x="6320" y="7900"/>
                  </a:cubicBezTo>
                  <a:cubicBezTo>
                    <a:pt x="5530" y="12640"/>
                    <a:pt x="8690" y="14220"/>
                    <a:pt x="9480" y="9480"/>
                  </a:cubicBezTo>
                  <a:cubicBezTo>
                    <a:pt x="10270" y="4740"/>
                    <a:pt x="13430" y="4740"/>
                    <a:pt x="11060" y="0"/>
                  </a:cubicBezTo>
                  <a:cubicBezTo>
                    <a:pt x="19750" y="4740"/>
                    <a:pt x="15800" y="10270"/>
                    <a:pt x="19750" y="11850"/>
                  </a:cubicBezTo>
                  <a:cubicBezTo>
                    <a:pt x="21330" y="10270"/>
                    <a:pt x="20540" y="7900"/>
                    <a:pt x="20540" y="7110"/>
                  </a:cubicBezTo>
                  <a:cubicBezTo>
                    <a:pt x="26070" y="15800"/>
                    <a:pt x="22910" y="22120"/>
                    <a:pt x="15800" y="22910"/>
                  </a:cubicBezTo>
                  <a:cubicBezTo>
                    <a:pt x="13430" y="23700"/>
                    <a:pt x="11060" y="22910"/>
                    <a:pt x="9480" y="21330"/>
                  </a:cubicBezTo>
                  <a:close/>
                </a:path>
              </a:pathLst>
            </a:custGeom>
            <a:solidFill>
              <a:srgbClr val="F8894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5" name="Rectangle 384"/>
            <p:cNvSpPr/>
            <p:nvPr/>
          </p:nvSpPr>
          <p:spPr>
            <a:xfrm>
              <a:off x="1190149" y="7605522"/>
              <a:ext cx="158020" cy="127921"/>
            </a:xfrm>
            <a:custGeom>
              <a:avLst/>
              <a:gdLst/>
              <a:ahLst/>
              <a:cxnLst/>
              <a:rect l="0" t="0" r="r" b="b"/>
              <a:pathLst>
                <a:path w="16590" h="13430" fill="norm">
                  <a:moveTo>
                    <a:pt x="3160" y="10270"/>
                  </a:moveTo>
                  <a:cubicBezTo>
                    <a:pt x="0" y="5530"/>
                    <a:pt x="3950" y="2370"/>
                    <a:pt x="3950" y="790"/>
                  </a:cubicBezTo>
                  <a:cubicBezTo>
                    <a:pt x="3950" y="5530"/>
                    <a:pt x="7110" y="4740"/>
                    <a:pt x="7900" y="0"/>
                  </a:cubicBezTo>
                  <a:cubicBezTo>
                    <a:pt x="11850" y="3160"/>
                    <a:pt x="11060" y="7900"/>
                    <a:pt x="13430" y="7110"/>
                  </a:cubicBezTo>
                  <a:cubicBezTo>
                    <a:pt x="13430" y="4740"/>
                    <a:pt x="13430" y="3950"/>
                    <a:pt x="14220" y="3950"/>
                  </a:cubicBezTo>
                  <a:cubicBezTo>
                    <a:pt x="16590" y="10270"/>
                    <a:pt x="11850" y="13430"/>
                    <a:pt x="7900" y="12640"/>
                  </a:cubicBezTo>
                  <a:cubicBezTo>
                    <a:pt x="5530" y="12640"/>
                    <a:pt x="3950" y="11850"/>
                    <a:pt x="3160" y="10270"/>
                  </a:cubicBezTo>
                  <a:close/>
                </a:path>
              </a:pathLst>
            </a:custGeom>
            <a:solidFill>
              <a:srgbClr val="FFC56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6" name="Rectangle 385"/>
            <p:cNvSpPr/>
            <p:nvPr/>
          </p:nvSpPr>
          <p:spPr>
            <a:xfrm>
              <a:off x="1235297" y="7650670"/>
              <a:ext cx="67723" cy="75247"/>
            </a:xfrm>
            <a:custGeom>
              <a:avLst/>
              <a:gdLst/>
              <a:ahLst/>
              <a:cxnLst/>
              <a:rect l="0" t="0" r="r" b="b"/>
              <a:pathLst>
                <a:path w="7110" h="7900" fill="norm">
                  <a:moveTo>
                    <a:pt x="1580" y="6320"/>
                  </a:moveTo>
                  <a:cubicBezTo>
                    <a:pt x="0" y="3160"/>
                    <a:pt x="3160" y="1580"/>
                    <a:pt x="3160" y="0"/>
                  </a:cubicBezTo>
                  <a:cubicBezTo>
                    <a:pt x="7110" y="3950"/>
                    <a:pt x="6320" y="7110"/>
                    <a:pt x="3950" y="7900"/>
                  </a:cubicBezTo>
                  <a:close/>
                </a:path>
              </a:pathLst>
            </a:custGeom>
            <a:solidFill>
              <a:srgbClr val="FFE2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7" name="Rectangle 386"/>
            <p:cNvSpPr/>
            <p:nvPr/>
          </p:nvSpPr>
          <p:spPr>
            <a:xfrm>
              <a:off x="8181975" y="7105650"/>
              <a:ext cx="85725" cy="685800"/>
            </a:xfrm>
            <a:custGeom>
              <a:avLst/>
              <a:gdLst/>
              <a:ahLst/>
              <a:cxnLst/>
              <a:rect l="0" t="0" r="r" b="b"/>
              <a:pathLst>
                <a:path w="9000" h="72000" fill="none">
                  <a:moveTo>
                    <a:pt x="0" y="0"/>
                  </a:moveTo>
                  <a:lnTo>
                    <a:pt x="5000" y="0"/>
                  </a:lnTo>
                  <a:lnTo>
                    <a:pt x="5000" y="30960"/>
                  </a:lnTo>
                  <a:quadBezTo>
                    <a:pt x="5000" y="36000"/>
                    <a:pt x="9000" y="36000"/>
                  </a:quadBezTo>
                  <a:quadBezTo>
                    <a:pt x="5000" y="36000"/>
                    <a:pt x="5000" y="41040"/>
                  </a:quadBezTo>
                  <a:lnTo>
                    <a:pt x="5000" y="72000"/>
                  </a:lnTo>
                  <a:lnTo>
                    <a:pt x="0" y="72000"/>
                  </a:lnTo>
                </a:path>
              </a:pathLst>
            </a:custGeom>
            <a:noFill/>
            <a:ln w="1047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8" name="Text: x N"/>
            <p:cNvSpPr txBox="1"/>
            <p:nvPr/>
          </p:nvSpPr>
          <p:spPr>
            <a:xfrm>
              <a:off x="8391525" y="7326535"/>
              <a:ext cx="333096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x N</a:t>
              </a:r>
            </a:p>
          </p:txBody>
        </p:sp>
        <p:sp>
          <p:nvSpPr>
            <p:cNvPr id="389" name="Rectangle 388"/>
            <p:cNvSpPr/>
            <p:nvPr/>
          </p:nvSpPr>
          <p:spPr>
            <a:xfrm>
              <a:off x="4600575" y="6962775"/>
              <a:ext cx="952" cy="133350"/>
            </a:xfrm>
            <a:custGeom>
              <a:avLst/>
              <a:gdLst/>
              <a:ahLst/>
              <a:cxnLst/>
              <a:rect l="0" t="0" r="r" b="b"/>
              <a:pathLst>
                <a:path w="100" h="14000" fill="none">
                  <a:moveTo>
                    <a:pt x="0" y="0"/>
                  </a:moveTo>
                  <a:lnTo>
                    <a:pt x="0" y="1400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0" name="Rectangle 389"/>
            <p:cNvSpPr/>
            <p:nvPr/>
          </p:nvSpPr>
          <p:spPr>
            <a:xfrm>
              <a:off x="4572572" y="7029450"/>
              <a:ext cx="56007" cy="66675"/>
            </a:xfrm>
            <a:custGeom>
              <a:avLst/>
              <a:gdLst/>
              <a:ahLst/>
              <a:cxnLst/>
              <a:rect l="0" t="0" r="r" b="b"/>
              <a:pathLst>
                <a:path w="5880" h="7000" fill="norm">
                  <a:moveTo>
                    <a:pt x="2940" y="7000"/>
                  </a:moveTo>
                  <a:lnTo>
                    <a:pt x="5880" y="0"/>
                  </a:lnTo>
                  <a:lnTo>
                    <a:pt x="2940" y="23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1" name="Rectangle 390"/>
            <p:cNvSpPr/>
            <p:nvPr/>
          </p:nvSpPr>
          <p:spPr>
            <a:xfrm>
              <a:off x="2543175" y="7800975"/>
              <a:ext cx="2047875" cy="209550"/>
            </a:xfrm>
            <a:custGeom>
              <a:avLst/>
              <a:gdLst/>
              <a:ahLst/>
              <a:cxnLst/>
              <a:rect l="0" t="0" r="r" b="b"/>
              <a:pathLst>
                <a:path w="215000" h="22000" fill="none">
                  <a:moveTo>
                    <a:pt x="215000" y="0"/>
                  </a:moveTo>
                  <a:lnTo>
                    <a:pt x="0" y="2200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2" name="Rectangle 391"/>
            <p:cNvSpPr/>
            <p:nvPr/>
          </p:nvSpPr>
          <p:spPr>
            <a:xfrm>
              <a:off x="2543175" y="7975880"/>
              <a:ext cx="69179" cy="55716"/>
            </a:xfrm>
            <a:custGeom>
              <a:avLst/>
              <a:gdLst/>
              <a:ahLst/>
              <a:cxnLst/>
              <a:rect l="0" t="0" r="r" b="b"/>
              <a:pathLst>
                <a:path w="7263" h="5849" fill="norm">
                  <a:moveTo>
                    <a:pt x="0" y="3637"/>
                  </a:moveTo>
                  <a:lnTo>
                    <a:pt x="7263" y="5849"/>
                  </a:lnTo>
                  <a:lnTo>
                    <a:pt x="4666" y="3160"/>
                  </a:lnTo>
                  <a:lnTo>
                    <a:pt x="6664" y="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3" name="Rectangle 392"/>
            <p:cNvSpPr/>
            <p:nvPr/>
          </p:nvSpPr>
          <p:spPr>
            <a:xfrm>
              <a:off x="4591050" y="7800975"/>
              <a:ext cx="2209800" cy="209550"/>
            </a:xfrm>
            <a:custGeom>
              <a:avLst/>
              <a:gdLst/>
              <a:ahLst/>
              <a:cxnLst/>
              <a:rect l="0" t="0" r="r" b="b"/>
              <a:pathLst>
                <a:path w="232000" h="22000" fill="none">
                  <a:moveTo>
                    <a:pt x="0" y="0"/>
                  </a:moveTo>
                  <a:lnTo>
                    <a:pt x="232000" y="2200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4" name="Rectangle 393"/>
            <p:cNvSpPr/>
            <p:nvPr/>
          </p:nvSpPr>
          <p:spPr>
            <a:xfrm>
              <a:off x="6731829" y="7976352"/>
              <a:ext cx="69021" cy="55757"/>
            </a:xfrm>
            <a:custGeom>
              <a:avLst/>
              <a:gdLst/>
              <a:ahLst/>
              <a:cxnLst/>
              <a:rect l="0" t="0" r="r" b="b"/>
              <a:pathLst>
                <a:path w="7246" h="5854" fill="norm">
                  <a:moveTo>
                    <a:pt x="7246" y="3588"/>
                  </a:moveTo>
                  <a:lnTo>
                    <a:pt x="555" y="0"/>
                  </a:lnTo>
                  <a:lnTo>
                    <a:pt x="2577" y="3145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5" name="Rounded Rectangle 394"/>
            <p:cNvSpPr/>
            <p:nvPr/>
          </p:nvSpPr>
          <p:spPr>
            <a:xfrm>
              <a:off x="1295400" y="8010525"/>
              <a:ext cx="2495550" cy="400050"/>
            </a:xfrm>
            <a:prstGeom prst="roundRect">
              <a:avLst>
                <a:gd name="adj" fmla="val 16666"/>
              </a:avLst>
            </a:prstGeom>
            <a:solidFill>
              <a:srgbClr val="C7E0B4"/>
            </a:solidFill>
            <a:ln w="10477" cap="rnd">
              <a:solidFill>
                <a:srgbClr val="7CB84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6" name="Rounded Rectangle 395"/>
            <p:cNvSpPr/>
            <p:nvPr/>
          </p:nvSpPr>
          <p:spPr>
            <a:xfrm>
              <a:off x="5562600" y="8010525"/>
              <a:ext cx="2476500" cy="400050"/>
            </a:xfrm>
            <a:prstGeom prst="roundRect">
              <a:avLst>
                <a:gd name="adj" fmla="val 16666"/>
              </a:avLst>
            </a:prstGeom>
            <a:solidFill>
              <a:srgbClr val="C7E0B4"/>
            </a:solidFill>
            <a:ln w="10477" cap="rnd">
              <a:solidFill>
                <a:srgbClr val="7CB84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7" name="Text: Recover Head"/>
            <p:cNvSpPr txBox="1"/>
            <p:nvPr/>
          </p:nvSpPr>
          <p:spPr>
            <a:xfrm>
              <a:off x="1967731" y="8088630"/>
              <a:ext cx="1150888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Recover Head</a:t>
              </a:r>
            </a:p>
          </p:txBody>
        </p:sp>
        <p:sp>
          <p:nvSpPr>
            <p:cNvPr id="398" name="Text: Prediction Head"/>
            <p:cNvSpPr txBox="1"/>
            <p:nvPr/>
          </p:nvSpPr>
          <p:spPr>
            <a:xfrm>
              <a:off x="6151225" y="8088630"/>
              <a:ext cx="1299251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Prediction Head</a:t>
              </a:r>
            </a:p>
          </p:txBody>
        </p:sp>
        <p:sp>
          <p:nvSpPr>
            <p:cNvPr id="399" name="Rectangle 398"/>
            <p:cNvSpPr/>
            <p:nvPr/>
          </p:nvSpPr>
          <p:spPr>
            <a:xfrm>
              <a:off x="1365885" y="8067675"/>
              <a:ext cx="251460" cy="228600"/>
            </a:xfrm>
            <a:custGeom>
              <a:avLst/>
              <a:gdLst/>
              <a:ahLst/>
              <a:cxnLst/>
              <a:rect l="0" t="0" r="r" b="b"/>
              <a:pathLst>
                <a:path w="26400" h="24000" fill="norm">
                  <a:moveTo>
                    <a:pt x="9600" y="21600"/>
                  </a:moveTo>
                  <a:cubicBezTo>
                    <a:pt x="0" y="20800"/>
                    <a:pt x="1600" y="11200"/>
                    <a:pt x="6400" y="8000"/>
                  </a:cubicBezTo>
                  <a:cubicBezTo>
                    <a:pt x="5600" y="12800"/>
                    <a:pt x="8800" y="14400"/>
                    <a:pt x="9600" y="9600"/>
                  </a:cubicBezTo>
                  <a:cubicBezTo>
                    <a:pt x="10400" y="4800"/>
                    <a:pt x="13600" y="4800"/>
                    <a:pt x="11200" y="0"/>
                  </a:cubicBezTo>
                  <a:cubicBezTo>
                    <a:pt x="20000" y="4800"/>
                    <a:pt x="16000" y="10400"/>
                    <a:pt x="20000" y="12000"/>
                  </a:cubicBezTo>
                  <a:cubicBezTo>
                    <a:pt x="21600" y="10400"/>
                    <a:pt x="20800" y="8000"/>
                    <a:pt x="20800" y="7200"/>
                  </a:cubicBezTo>
                  <a:cubicBezTo>
                    <a:pt x="26400" y="16000"/>
                    <a:pt x="23200" y="22400"/>
                    <a:pt x="16000" y="23200"/>
                  </a:cubicBezTo>
                  <a:cubicBezTo>
                    <a:pt x="13600" y="24000"/>
                    <a:pt x="11200" y="23200"/>
                    <a:pt x="9600" y="21600"/>
                  </a:cubicBezTo>
                  <a:close/>
                </a:path>
              </a:pathLst>
            </a:custGeom>
            <a:solidFill>
              <a:srgbClr val="F8894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0" name="Rectangle 399"/>
            <p:cNvSpPr/>
            <p:nvPr/>
          </p:nvSpPr>
          <p:spPr>
            <a:xfrm>
              <a:off x="1419225" y="8159115"/>
              <a:ext cx="160020" cy="129540"/>
            </a:xfrm>
            <a:custGeom>
              <a:avLst/>
              <a:gdLst/>
              <a:ahLst/>
              <a:cxnLst/>
              <a:rect l="0" t="0" r="r" b="b"/>
              <a:pathLst>
                <a:path w="16800" h="13600" fill="norm">
                  <a:moveTo>
                    <a:pt x="3200" y="10400"/>
                  </a:moveTo>
                  <a:cubicBezTo>
                    <a:pt x="0" y="5600"/>
                    <a:pt x="4000" y="2400"/>
                    <a:pt x="4000" y="800"/>
                  </a:cubicBezTo>
                  <a:cubicBezTo>
                    <a:pt x="4000" y="5600"/>
                    <a:pt x="7200" y="4800"/>
                    <a:pt x="8000" y="0"/>
                  </a:cubicBezTo>
                  <a:cubicBezTo>
                    <a:pt x="12000" y="3200"/>
                    <a:pt x="11200" y="8000"/>
                    <a:pt x="13600" y="7200"/>
                  </a:cubicBezTo>
                  <a:cubicBezTo>
                    <a:pt x="13600" y="4800"/>
                    <a:pt x="13600" y="4000"/>
                    <a:pt x="14400" y="4000"/>
                  </a:cubicBezTo>
                  <a:cubicBezTo>
                    <a:pt x="16800" y="10400"/>
                    <a:pt x="12000" y="13600"/>
                    <a:pt x="8000" y="12800"/>
                  </a:cubicBezTo>
                  <a:cubicBezTo>
                    <a:pt x="5600" y="12800"/>
                    <a:pt x="4000" y="12000"/>
                    <a:pt x="3200" y="10400"/>
                  </a:cubicBezTo>
                  <a:close/>
                </a:path>
              </a:pathLst>
            </a:custGeom>
            <a:solidFill>
              <a:srgbClr val="FFC56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1" name="Rectangle 400"/>
            <p:cNvSpPr/>
            <p:nvPr/>
          </p:nvSpPr>
          <p:spPr>
            <a:xfrm>
              <a:off x="1464945" y="8204835"/>
              <a:ext cx="68580" cy="76200"/>
            </a:xfrm>
            <a:custGeom>
              <a:avLst/>
              <a:gdLst/>
              <a:ahLst/>
              <a:cxnLst/>
              <a:rect l="0" t="0" r="r" b="b"/>
              <a:pathLst>
                <a:path w="7200" h="8000" fill="norm">
                  <a:moveTo>
                    <a:pt x="1600" y="6400"/>
                  </a:moveTo>
                  <a:cubicBezTo>
                    <a:pt x="0" y="3200"/>
                    <a:pt x="3200" y="1600"/>
                    <a:pt x="3200" y="0"/>
                  </a:cubicBezTo>
                  <a:cubicBezTo>
                    <a:pt x="7200" y="4000"/>
                    <a:pt x="6400" y="7200"/>
                    <a:pt x="4000" y="8000"/>
                  </a:cubicBezTo>
                  <a:close/>
                </a:path>
              </a:pathLst>
            </a:custGeom>
            <a:solidFill>
              <a:srgbClr val="FFE2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2" name="Rectangle 401"/>
            <p:cNvSpPr/>
            <p:nvPr/>
          </p:nvSpPr>
          <p:spPr>
            <a:xfrm>
              <a:off x="7680960" y="8067675"/>
              <a:ext cx="251460" cy="228600"/>
            </a:xfrm>
            <a:custGeom>
              <a:avLst/>
              <a:gdLst/>
              <a:ahLst/>
              <a:cxnLst/>
              <a:rect l="0" t="0" r="r" b="b"/>
              <a:pathLst>
                <a:path w="26400" h="24000" fill="norm">
                  <a:moveTo>
                    <a:pt x="9600" y="21600"/>
                  </a:moveTo>
                  <a:cubicBezTo>
                    <a:pt x="0" y="20800"/>
                    <a:pt x="1600" y="11200"/>
                    <a:pt x="6400" y="8000"/>
                  </a:cubicBezTo>
                  <a:cubicBezTo>
                    <a:pt x="5600" y="12800"/>
                    <a:pt x="8800" y="14400"/>
                    <a:pt x="9600" y="9600"/>
                  </a:cubicBezTo>
                  <a:cubicBezTo>
                    <a:pt x="10400" y="4800"/>
                    <a:pt x="13600" y="4800"/>
                    <a:pt x="11200" y="0"/>
                  </a:cubicBezTo>
                  <a:cubicBezTo>
                    <a:pt x="20000" y="4800"/>
                    <a:pt x="16000" y="10400"/>
                    <a:pt x="20000" y="12000"/>
                  </a:cubicBezTo>
                  <a:cubicBezTo>
                    <a:pt x="21600" y="10400"/>
                    <a:pt x="20800" y="8000"/>
                    <a:pt x="20800" y="7200"/>
                  </a:cubicBezTo>
                  <a:cubicBezTo>
                    <a:pt x="26400" y="16000"/>
                    <a:pt x="23200" y="22400"/>
                    <a:pt x="16000" y="23200"/>
                  </a:cubicBezTo>
                  <a:cubicBezTo>
                    <a:pt x="13600" y="24000"/>
                    <a:pt x="11200" y="23200"/>
                    <a:pt x="9600" y="21600"/>
                  </a:cubicBezTo>
                  <a:close/>
                </a:path>
              </a:pathLst>
            </a:custGeom>
            <a:solidFill>
              <a:srgbClr val="F8894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Rectangle 402"/>
            <p:cNvSpPr/>
            <p:nvPr/>
          </p:nvSpPr>
          <p:spPr>
            <a:xfrm>
              <a:off x="7734300" y="8159115"/>
              <a:ext cx="160020" cy="129540"/>
            </a:xfrm>
            <a:custGeom>
              <a:avLst/>
              <a:gdLst/>
              <a:ahLst/>
              <a:cxnLst/>
              <a:rect l="0" t="0" r="r" b="b"/>
              <a:pathLst>
                <a:path w="16800" h="13600" fill="norm">
                  <a:moveTo>
                    <a:pt x="3200" y="10400"/>
                  </a:moveTo>
                  <a:cubicBezTo>
                    <a:pt x="0" y="5600"/>
                    <a:pt x="4000" y="2400"/>
                    <a:pt x="4000" y="800"/>
                  </a:cubicBezTo>
                  <a:cubicBezTo>
                    <a:pt x="4000" y="5600"/>
                    <a:pt x="7200" y="4800"/>
                    <a:pt x="8000" y="0"/>
                  </a:cubicBezTo>
                  <a:cubicBezTo>
                    <a:pt x="12000" y="3200"/>
                    <a:pt x="11200" y="8000"/>
                    <a:pt x="13600" y="7200"/>
                  </a:cubicBezTo>
                  <a:cubicBezTo>
                    <a:pt x="13600" y="4800"/>
                    <a:pt x="13600" y="4000"/>
                    <a:pt x="14400" y="4000"/>
                  </a:cubicBezTo>
                  <a:cubicBezTo>
                    <a:pt x="16800" y="10400"/>
                    <a:pt x="12000" y="13600"/>
                    <a:pt x="8000" y="12800"/>
                  </a:cubicBezTo>
                  <a:cubicBezTo>
                    <a:pt x="5600" y="12800"/>
                    <a:pt x="4000" y="12000"/>
                    <a:pt x="3200" y="10400"/>
                  </a:cubicBezTo>
                  <a:close/>
                </a:path>
              </a:pathLst>
            </a:custGeom>
            <a:solidFill>
              <a:srgbClr val="FFC56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4" name="Rectangle 403"/>
            <p:cNvSpPr/>
            <p:nvPr/>
          </p:nvSpPr>
          <p:spPr>
            <a:xfrm>
              <a:off x="7780020" y="8204835"/>
              <a:ext cx="68580" cy="76200"/>
            </a:xfrm>
            <a:custGeom>
              <a:avLst/>
              <a:gdLst/>
              <a:ahLst/>
              <a:cxnLst/>
              <a:rect l="0" t="0" r="r" b="b"/>
              <a:pathLst>
                <a:path w="7200" h="8000" fill="norm">
                  <a:moveTo>
                    <a:pt x="1600" y="6400"/>
                  </a:moveTo>
                  <a:cubicBezTo>
                    <a:pt x="0" y="3200"/>
                    <a:pt x="3200" y="1600"/>
                    <a:pt x="3200" y="0"/>
                  </a:cubicBezTo>
                  <a:cubicBezTo>
                    <a:pt x="7200" y="4000"/>
                    <a:pt x="6400" y="7200"/>
                    <a:pt x="4000" y="8000"/>
                  </a:cubicBezTo>
                  <a:close/>
                </a:path>
              </a:pathLst>
            </a:custGeom>
            <a:solidFill>
              <a:srgbClr val="FFE2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5" name="Text: self-supervised"/>
            <p:cNvSpPr txBox="1"/>
            <p:nvPr/>
          </p:nvSpPr>
          <p:spPr>
            <a:xfrm>
              <a:off x="228600" y="8078724"/>
              <a:ext cx="989261" cy="228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E90000"/>
                  </a:solidFill>
                  <a:latin typeface="Liberation Serif"/>
                </a:rPr>
                <a:t>self-supervised</a:t>
              </a:r>
            </a:p>
          </p:txBody>
        </p:sp>
        <p:sp>
          <p:nvSpPr>
            <p:cNvPr id="406" name="Text: supervised"/>
            <p:cNvSpPr txBox="1"/>
            <p:nvPr/>
          </p:nvSpPr>
          <p:spPr>
            <a:xfrm>
              <a:off x="8086725" y="8078724"/>
              <a:ext cx="718468" cy="228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E90000"/>
                  </a:solidFill>
                  <a:latin typeface="Liberation Serif"/>
                </a:rPr>
                <a:t>supervised</a:t>
              </a:r>
            </a:p>
          </p:txBody>
        </p:sp>
        <p:sp>
          <p:nvSpPr>
            <p:cNvPr id="407" name="Text: x_{aug}"/>
            <p:cNvSpPr txBox="1"/>
            <p:nvPr/>
          </p:nvSpPr>
          <p:spPr>
            <a:xfrm>
              <a:off x="3848100" y="8145780"/>
              <a:ext cx="359825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E50000"/>
                  </a:solidFill>
                  <a:latin typeface="Liberation Serif"/>
                </a:rPr>
                <a:t>x</a:t>
              </a:r>
              <a:r>
                <a:rPr sz="1500" b="0" i="1" baseline="-25000">
                  <a:solidFill>
                    <a:srgbClr val="E50000"/>
                  </a:solidFill>
                  <a:latin typeface="Liberation Serif"/>
                </a:rPr>
                <a:t>aug</a:t>
              </a:r>
            </a:p>
          </p:txBody>
        </p:sp>
        <p:sp>
          <p:nvSpPr>
            <p:cNvPr id="408" name="Text: x_{ctx}"/>
            <p:cNvSpPr txBox="1"/>
            <p:nvPr/>
          </p:nvSpPr>
          <p:spPr>
            <a:xfrm>
              <a:off x="5162550" y="8145780"/>
              <a:ext cx="313312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E50000"/>
                  </a:solidFill>
                  <a:latin typeface="Liberation Serif"/>
                </a:rPr>
                <a:t>x</a:t>
              </a:r>
              <a:r>
                <a:rPr sz="1500" b="0" i="1" baseline="-25000">
                  <a:solidFill>
                    <a:srgbClr val="E50000"/>
                  </a:solidFill>
                  <a:latin typeface="Liberation Serif"/>
                </a:rPr>
                <a:t>ctx</a:t>
              </a:r>
            </a:p>
          </p:txBody>
        </p:sp>
        <p:sp>
          <p:nvSpPr>
            <p:cNvPr id="409" name="Rectangle 408"/>
            <p:cNvSpPr/>
            <p:nvPr/>
          </p:nvSpPr>
          <p:spPr>
            <a:xfrm>
              <a:off x="333375" y="8410575"/>
              <a:ext cx="4114800" cy="190500"/>
            </a:xfrm>
            <a:custGeom>
              <a:avLst/>
              <a:gdLst/>
              <a:ahLst/>
              <a:cxnLst/>
              <a:rect l="0" t="0" r="r" b="b"/>
              <a:pathLst>
                <a:path w="432000" h="20000" fill="norm">
                  <a:moveTo>
                    <a:pt x="0" y="20000"/>
                  </a:moveTo>
                  <a:lnTo>
                    <a:pt x="101000" y="0"/>
                  </a:lnTo>
                  <a:lnTo>
                    <a:pt x="363000" y="0"/>
                  </a:lnTo>
                  <a:lnTo>
                    <a:pt x="432000" y="20000"/>
                  </a:lnTo>
                  <a:close/>
                </a:path>
              </a:pathLst>
            </a:custGeom>
            <a:solidFill>
              <a:srgbClr val="C1CDC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0" name="Rectangle 409"/>
            <p:cNvSpPr/>
            <p:nvPr/>
          </p:nvSpPr>
          <p:spPr>
            <a:xfrm>
              <a:off x="5067300" y="8410575"/>
              <a:ext cx="3533775" cy="190500"/>
            </a:xfrm>
            <a:custGeom>
              <a:avLst/>
              <a:gdLst/>
              <a:ahLst/>
              <a:cxnLst/>
              <a:rect l="0" t="0" r="r" b="b"/>
              <a:pathLst>
                <a:path w="371000" h="20000" fill="norm">
                  <a:moveTo>
                    <a:pt x="0" y="20000"/>
                  </a:moveTo>
                  <a:lnTo>
                    <a:pt x="52000" y="0"/>
                  </a:lnTo>
                  <a:lnTo>
                    <a:pt x="313000" y="0"/>
                  </a:lnTo>
                  <a:lnTo>
                    <a:pt x="371000" y="20000"/>
                  </a:lnTo>
                  <a:close/>
                </a:path>
              </a:pathLst>
            </a:custGeom>
            <a:solidFill>
              <a:srgbClr val="C1CDC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1" name="Rectangle 410"/>
            <p:cNvSpPr/>
            <p:nvPr/>
          </p:nvSpPr>
          <p:spPr>
            <a:xfrm>
              <a:off x="333375" y="8601075"/>
              <a:ext cx="2066925" cy="16192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2" name="Rectangle 411"/>
            <p:cNvSpPr/>
            <p:nvPr/>
          </p:nvSpPr>
          <p:spPr>
            <a:xfrm>
              <a:off x="361950" y="8620125"/>
              <a:ext cx="1990725" cy="114300"/>
            </a:xfrm>
            <a:custGeom>
              <a:avLst/>
              <a:gdLst/>
              <a:ahLst/>
              <a:cxnLst/>
              <a:rect l="0" t="0" r="r" b="b"/>
              <a:pathLst>
                <a:path w="209000" h="12000" fill="norm">
                  <a:moveTo>
                    <a:pt x="0" y="1000"/>
                  </a:moveTo>
                  <a:lnTo>
                    <a:pt x="0" y="4000"/>
                  </a:lnTo>
                  <a:lnTo>
                    <a:pt x="0" y="3000"/>
                  </a:lnTo>
                  <a:lnTo>
                    <a:pt x="1000" y="2000"/>
                  </a:lnTo>
                  <a:lnTo>
                    <a:pt x="2000" y="3000"/>
                  </a:lnTo>
                  <a:lnTo>
                    <a:pt x="2000" y="8000"/>
                  </a:lnTo>
                  <a:lnTo>
                    <a:pt x="3000" y="8000"/>
                  </a:lnTo>
                  <a:lnTo>
                    <a:pt x="5000" y="10000"/>
                  </a:lnTo>
                  <a:lnTo>
                    <a:pt x="5000" y="11000"/>
                  </a:lnTo>
                  <a:lnTo>
                    <a:pt x="6000" y="11000"/>
                  </a:lnTo>
                  <a:lnTo>
                    <a:pt x="7000" y="12000"/>
                  </a:lnTo>
                  <a:lnTo>
                    <a:pt x="8000" y="12000"/>
                  </a:lnTo>
                  <a:lnTo>
                    <a:pt x="8000" y="10000"/>
                  </a:lnTo>
                  <a:lnTo>
                    <a:pt x="10000" y="7000"/>
                  </a:lnTo>
                  <a:lnTo>
                    <a:pt x="11000" y="7000"/>
                  </a:lnTo>
                  <a:lnTo>
                    <a:pt x="13000" y="10000"/>
                  </a:lnTo>
                  <a:lnTo>
                    <a:pt x="14000" y="10000"/>
                  </a:lnTo>
                  <a:lnTo>
                    <a:pt x="15000" y="11000"/>
                  </a:lnTo>
                  <a:lnTo>
                    <a:pt x="17000" y="11000"/>
                  </a:lnTo>
                  <a:lnTo>
                    <a:pt x="18000" y="12000"/>
                  </a:lnTo>
                  <a:lnTo>
                    <a:pt x="19000" y="11000"/>
                  </a:lnTo>
                  <a:lnTo>
                    <a:pt x="19000" y="7000"/>
                  </a:lnTo>
                  <a:lnTo>
                    <a:pt x="22000" y="5000"/>
                  </a:lnTo>
                  <a:lnTo>
                    <a:pt x="23000" y="5000"/>
                  </a:lnTo>
                  <a:lnTo>
                    <a:pt x="24000" y="6000"/>
                  </a:lnTo>
                  <a:lnTo>
                    <a:pt x="25000" y="6000"/>
                  </a:lnTo>
                  <a:lnTo>
                    <a:pt x="27000" y="8000"/>
                  </a:lnTo>
                  <a:lnTo>
                    <a:pt x="27000" y="12000"/>
                  </a:lnTo>
                  <a:lnTo>
                    <a:pt x="27000" y="11000"/>
                  </a:lnTo>
                  <a:lnTo>
                    <a:pt x="28000" y="10000"/>
                  </a:lnTo>
                  <a:lnTo>
                    <a:pt x="29000" y="11000"/>
                  </a:lnTo>
                  <a:lnTo>
                    <a:pt x="30000" y="11000"/>
                  </a:lnTo>
                  <a:lnTo>
                    <a:pt x="31000" y="12000"/>
                  </a:lnTo>
                  <a:lnTo>
                    <a:pt x="32000" y="12000"/>
                  </a:lnTo>
                  <a:lnTo>
                    <a:pt x="32000" y="11000"/>
                  </a:lnTo>
                  <a:lnTo>
                    <a:pt x="33000" y="10000"/>
                  </a:lnTo>
                  <a:lnTo>
                    <a:pt x="33000" y="9000"/>
                  </a:lnTo>
                  <a:lnTo>
                    <a:pt x="34000" y="8000"/>
                  </a:lnTo>
                  <a:lnTo>
                    <a:pt x="35000" y="9000"/>
                  </a:lnTo>
                  <a:lnTo>
                    <a:pt x="35000" y="8000"/>
                  </a:lnTo>
                  <a:lnTo>
                    <a:pt x="36000" y="7000"/>
                  </a:lnTo>
                  <a:lnTo>
                    <a:pt x="37000" y="8000"/>
                  </a:lnTo>
                  <a:lnTo>
                    <a:pt x="39000" y="8000"/>
                  </a:lnTo>
                  <a:lnTo>
                    <a:pt x="40000" y="9000"/>
                  </a:lnTo>
                  <a:lnTo>
                    <a:pt x="40000" y="12000"/>
                  </a:lnTo>
                  <a:lnTo>
                    <a:pt x="41000" y="11000"/>
                  </a:lnTo>
                  <a:lnTo>
                    <a:pt x="42000" y="12000"/>
                  </a:lnTo>
                  <a:lnTo>
                    <a:pt x="44000" y="12000"/>
                  </a:lnTo>
                  <a:lnTo>
                    <a:pt x="44000" y="11000"/>
                  </a:lnTo>
                  <a:lnTo>
                    <a:pt x="45000" y="10000"/>
                  </a:lnTo>
                  <a:lnTo>
                    <a:pt x="46000" y="11000"/>
                  </a:lnTo>
                  <a:lnTo>
                    <a:pt x="46000" y="10000"/>
                  </a:lnTo>
                  <a:lnTo>
                    <a:pt x="48000" y="8000"/>
                  </a:lnTo>
                  <a:lnTo>
                    <a:pt x="51000" y="8000"/>
                  </a:lnTo>
                  <a:lnTo>
                    <a:pt x="52000" y="7000"/>
                  </a:lnTo>
                  <a:lnTo>
                    <a:pt x="54000" y="9000"/>
                  </a:lnTo>
                  <a:lnTo>
                    <a:pt x="54000" y="10000"/>
                  </a:lnTo>
                  <a:lnTo>
                    <a:pt x="55000" y="11000"/>
                  </a:lnTo>
                  <a:lnTo>
                    <a:pt x="55000" y="10000"/>
                  </a:lnTo>
                  <a:lnTo>
                    <a:pt x="56000" y="9000"/>
                  </a:lnTo>
                  <a:lnTo>
                    <a:pt x="57000" y="10000"/>
                  </a:lnTo>
                  <a:lnTo>
                    <a:pt x="57000" y="11000"/>
                  </a:lnTo>
                  <a:lnTo>
                    <a:pt x="58000" y="10000"/>
                  </a:lnTo>
                  <a:lnTo>
                    <a:pt x="59000" y="11000"/>
                  </a:lnTo>
                  <a:lnTo>
                    <a:pt x="61000" y="8000"/>
                  </a:lnTo>
                  <a:lnTo>
                    <a:pt x="62000" y="9000"/>
                  </a:lnTo>
                  <a:lnTo>
                    <a:pt x="62000" y="11000"/>
                  </a:lnTo>
                  <a:lnTo>
                    <a:pt x="63000" y="10000"/>
                  </a:lnTo>
                  <a:lnTo>
                    <a:pt x="63000" y="9000"/>
                  </a:lnTo>
                  <a:lnTo>
                    <a:pt x="65000" y="7000"/>
                  </a:lnTo>
                  <a:lnTo>
                    <a:pt x="65000" y="5000"/>
                  </a:lnTo>
                  <a:lnTo>
                    <a:pt x="66000" y="4000"/>
                  </a:lnTo>
                  <a:lnTo>
                    <a:pt x="67000" y="5000"/>
                  </a:lnTo>
                  <a:lnTo>
                    <a:pt x="67000" y="8000"/>
                  </a:lnTo>
                  <a:lnTo>
                    <a:pt x="68000" y="7000"/>
                  </a:lnTo>
                  <a:lnTo>
                    <a:pt x="69000" y="8000"/>
                  </a:lnTo>
                  <a:lnTo>
                    <a:pt x="70000" y="8000"/>
                  </a:lnTo>
                  <a:lnTo>
                    <a:pt x="70000" y="7000"/>
                  </a:lnTo>
                  <a:lnTo>
                    <a:pt x="71000" y="6000"/>
                  </a:lnTo>
                  <a:lnTo>
                    <a:pt x="72000" y="7000"/>
                  </a:lnTo>
                  <a:lnTo>
                    <a:pt x="72000" y="11000"/>
                  </a:lnTo>
                  <a:lnTo>
                    <a:pt x="73000" y="10000"/>
                  </a:lnTo>
                  <a:lnTo>
                    <a:pt x="75000" y="12000"/>
                  </a:lnTo>
                  <a:lnTo>
                    <a:pt x="77000" y="12000"/>
                  </a:lnTo>
                  <a:lnTo>
                    <a:pt x="78000" y="11000"/>
                  </a:lnTo>
                  <a:lnTo>
                    <a:pt x="79000" y="12000"/>
                  </a:lnTo>
                  <a:lnTo>
                    <a:pt x="80000" y="11000"/>
                  </a:lnTo>
                  <a:lnTo>
                    <a:pt x="80000" y="7000"/>
                  </a:lnTo>
                  <a:lnTo>
                    <a:pt x="81000" y="6000"/>
                  </a:lnTo>
                  <a:lnTo>
                    <a:pt x="82000" y="7000"/>
                  </a:lnTo>
                  <a:lnTo>
                    <a:pt x="82000" y="8000"/>
                  </a:lnTo>
                  <a:lnTo>
                    <a:pt x="84000" y="5000"/>
                  </a:lnTo>
                  <a:lnTo>
                    <a:pt x="85000" y="6000"/>
                  </a:lnTo>
                  <a:lnTo>
                    <a:pt x="85000" y="9000"/>
                  </a:lnTo>
                  <a:lnTo>
                    <a:pt x="86000" y="8000"/>
                  </a:lnTo>
                  <a:lnTo>
                    <a:pt x="87000" y="9000"/>
                  </a:lnTo>
                  <a:lnTo>
                    <a:pt x="87000" y="10000"/>
                  </a:lnTo>
                  <a:lnTo>
                    <a:pt x="88000" y="10000"/>
                  </a:lnTo>
                  <a:lnTo>
                    <a:pt x="89000" y="11000"/>
                  </a:lnTo>
                  <a:lnTo>
                    <a:pt x="89000" y="12000"/>
                  </a:lnTo>
                  <a:lnTo>
                    <a:pt x="90000" y="12000"/>
                  </a:lnTo>
                  <a:lnTo>
                    <a:pt x="91000" y="11000"/>
                  </a:lnTo>
                  <a:lnTo>
                    <a:pt x="92000" y="12000"/>
                  </a:lnTo>
                  <a:lnTo>
                    <a:pt x="92000" y="10000"/>
                  </a:lnTo>
                  <a:lnTo>
                    <a:pt x="93000" y="9000"/>
                  </a:lnTo>
                  <a:lnTo>
                    <a:pt x="94000" y="10000"/>
                  </a:lnTo>
                  <a:lnTo>
                    <a:pt x="94000" y="12000"/>
                  </a:lnTo>
                  <a:lnTo>
                    <a:pt x="95000" y="11000"/>
                  </a:lnTo>
                  <a:lnTo>
                    <a:pt x="95000" y="6000"/>
                  </a:lnTo>
                  <a:lnTo>
                    <a:pt x="96000" y="5000"/>
                  </a:lnTo>
                  <a:lnTo>
                    <a:pt x="97000" y="5000"/>
                  </a:lnTo>
                  <a:lnTo>
                    <a:pt x="98000" y="6000"/>
                  </a:lnTo>
                  <a:lnTo>
                    <a:pt x="99000" y="5000"/>
                  </a:lnTo>
                  <a:lnTo>
                    <a:pt x="100000" y="6000"/>
                  </a:lnTo>
                  <a:lnTo>
                    <a:pt x="100000" y="5000"/>
                  </a:lnTo>
                  <a:lnTo>
                    <a:pt x="101000" y="4000"/>
                  </a:lnTo>
                  <a:lnTo>
                    <a:pt x="102000" y="5000"/>
                  </a:lnTo>
                  <a:lnTo>
                    <a:pt x="102000" y="6000"/>
                  </a:lnTo>
                  <a:lnTo>
                    <a:pt x="103000" y="6000"/>
                  </a:lnTo>
                  <a:lnTo>
                    <a:pt x="104000" y="7000"/>
                  </a:lnTo>
                  <a:lnTo>
                    <a:pt x="104000" y="10000"/>
                  </a:lnTo>
                  <a:lnTo>
                    <a:pt x="105000" y="11000"/>
                  </a:lnTo>
                  <a:lnTo>
                    <a:pt x="105000" y="12000"/>
                  </a:lnTo>
                  <a:lnTo>
                    <a:pt x="108000" y="10000"/>
                  </a:lnTo>
                  <a:lnTo>
                    <a:pt x="109000" y="11000"/>
                  </a:lnTo>
                  <a:lnTo>
                    <a:pt x="110000" y="10000"/>
                  </a:lnTo>
                  <a:lnTo>
                    <a:pt x="111000" y="10000"/>
                  </a:lnTo>
                  <a:lnTo>
                    <a:pt x="112000" y="9000"/>
                  </a:lnTo>
                  <a:lnTo>
                    <a:pt x="112000" y="8000"/>
                  </a:lnTo>
                  <a:lnTo>
                    <a:pt x="114000" y="6000"/>
                  </a:lnTo>
                  <a:lnTo>
                    <a:pt x="115000" y="7000"/>
                  </a:lnTo>
                  <a:lnTo>
                    <a:pt x="115000" y="9000"/>
                  </a:lnTo>
                  <a:lnTo>
                    <a:pt x="116000" y="8000"/>
                  </a:lnTo>
                  <a:lnTo>
                    <a:pt x="117000" y="9000"/>
                  </a:lnTo>
                  <a:lnTo>
                    <a:pt x="117000" y="12000"/>
                  </a:lnTo>
                  <a:lnTo>
                    <a:pt x="118000" y="12000"/>
                  </a:lnTo>
                  <a:lnTo>
                    <a:pt x="119000" y="11000"/>
                  </a:lnTo>
                  <a:lnTo>
                    <a:pt x="120000" y="11000"/>
                  </a:lnTo>
                  <a:lnTo>
                    <a:pt x="120000" y="10000"/>
                  </a:lnTo>
                  <a:lnTo>
                    <a:pt x="121000" y="9000"/>
                  </a:lnTo>
                  <a:lnTo>
                    <a:pt x="122000" y="9000"/>
                  </a:lnTo>
                  <a:lnTo>
                    <a:pt x="123000" y="8000"/>
                  </a:lnTo>
                  <a:lnTo>
                    <a:pt x="124000" y="8000"/>
                  </a:lnTo>
                  <a:lnTo>
                    <a:pt x="124000" y="5000"/>
                  </a:lnTo>
                  <a:lnTo>
                    <a:pt x="125000" y="4000"/>
                  </a:lnTo>
                  <a:lnTo>
                    <a:pt x="126000" y="4000"/>
                  </a:lnTo>
                  <a:lnTo>
                    <a:pt x="127000" y="5000"/>
                  </a:lnTo>
                  <a:lnTo>
                    <a:pt x="127000" y="6000"/>
                  </a:lnTo>
                  <a:lnTo>
                    <a:pt x="128000" y="7000"/>
                  </a:lnTo>
                  <a:lnTo>
                    <a:pt x="128000" y="8000"/>
                  </a:lnTo>
                  <a:lnTo>
                    <a:pt x="129000" y="7000"/>
                  </a:lnTo>
                  <a:lnTo>
                    <a:pt x="130000" y="8000"/>
                  </a:lnTo>
                  <a:lnTo>
                    <a:pt x="130000" y="9000"/>
                  </a:lnTo>
                  <a:lnTo>
                    <a:pt x="131000" y="9000"/>
                  </a:lnTo>
                  <a:lnTo>
                    <a:pt x="132000" y="10000"/>
                  </a:lnTo>
                  <a:lnTo>
                    <a:pt x="132000" y="11000"/>
                  </a:lnTo>
                  <a:lnTo>
                    <a:pt x="134000" y="11000"/>
                  </a:lnTo>
                  <a:lnTo>
                    <a:pt x="135000" y="12000"/>
                  </a:lnTo>
                  <a:lnTo>
                    <a:pt x="136000" y="12000"/>
                  </a:lnTo>
                  <a:lnTo>
                    <a:pt x="136000" y="9000"/>
                  </a:lnTo>
                  <a:lnTo>
                    <a:pt x="137000" y="8000"/>
                  </a:lnTo>
                  <a:lnTo>
                    <a:pt x="138000" y="9000"/>
                  </a:lnTo>
                  <a:lnTo>
                    <a:pt x="138000" y="5000"/>
                  </a:lnTo>
                  <a:lnTo>
                    <a:pt x="139000" y="4000"/>
                  </a:lnTo>
                  <a:lnTo>
                    <a:pt x="140000" y="5000"/>
                  </a:lnTo>
                  <a:lnTo>
                    <a:pt x="140000" y="7000"/>
                  </a:lnTo>
                  <a:lnTo>
                    <a:pt x="141000" y="7000"/>
                  </a:lnTo>
                  <a:lnTo>
                    <a:pt x="143000" y="10000"/>
                  </a:lnTo>
                  <a:lnTo>
                    <a:pt x="144000" y="9000"/>
                  </a:lnTo>
                  <a:lnTo>
                    <a:pt x="145000" y="10000"/>
                  </a:lnTo>
                  <a:lnTo>
                    <a:pt x="145000" y="11000"/>
                  </a:lnTo>
                  <a:lnTo>
                    <a:pt x="146000" y="11000"/>
                  </a:lnTo>
                  <a:lnTo>
                    <a:pt x="147000" y="10000"/>
                  </a:lnTo>
                  <a:lnTo>
                    <a:pt x="148000" y="11000"/>
                  </a:lnTo>
                  <a:lnTo>
                    <a:pt x="149000" y="11000"/>
                  </a:lnTo>
                  <a:lnTo>
                    <a:pt x="150000" y="12000"/>
                  </a:lnTo>
                  <a:lnTo>
                    <a:pt x="151000" y="12000"/>
                  </a:lnTo>
                  <a:lnTo>
                    <a:pt x="151000" y="8000"/>
                  </a:lnTo>
                  <a:lnTo>
                    <a:pt x="152000" y="7000"/>
                  </a:lnTo>
                  <a:lnTo>
                    <a:pt x="152000" y="6000"/>
                  </a:lnTo>
                  <a:lnTo>
                    <a:pt x="153000" y="5000"/>
                  </a:lnTo>
                  <a:lnTo>
                    <a:pt x="154000" y="6000"/>
                  </a:lnTo>
                  <a:lnTo>
                    <a:pt x="155000" y="5000"/>
                  </a:lnTo>
                  <a:lnTo>
                    <a:pt x="156000" y="5000"/>
                  </a:lnTo>
                  <a:lnTo>
                    <a:pt x="157000" y="6000"/>
                  </a:lnTo>
                  <a:lnTo>
                    <a:pt x="157000" y="5000"/>
                  </a:lnTo>
                  <a:lnTo>
                    <a:pt x="158000" y="4000"/>
                  </a:lnTo>
                  <a:lnTo>
                    <a:pt x="159000" y="5000"/>
                  </a:lnTo>
                  <a:lnTo>
                    <a:pt x="159000" y="6000"/>
                  </a:lnTo>
                  <a:lnTo>
                    <a:pt x="160000" y="6000"/>
                  </a:lnTo>
                  <a:lnTo>
                    <a:pt x="160000" y="3000"/>
                  </a:lnTo>
                  <a:lnTo>
                    <a:pt x="161000" y="2000"/>
                  </a:lnTo>
                  <a:lnTo>
                    <a:pt x="162000" y="3000"/>
                  </a:lnTo>
                  <a:lnTo>
                    <a:pt x="162000" y="6000"/>
                  </a:lnTo>
                  <a:lnTo>
                    <a:pt x="163000" y="7000"/>
                  </a:lnTo>
                  <a:lnTo>
                    <a:pt x="163000" y="11000"/>
                  </a:lnTo>
                  <a:lnTo>
                    <a:pt x="164000" y="11000"/>
                  </a:lnTo>
                  <a:lnTo>
                    <a:pt x="164000" y="8000"/>
                  </a:lnTo>
                  <a:lnTo>
                    <a:pt x="165000" y="7000"/>
                  </a:lnTo>
                  <a:lnTo>
                    <a:pt x="166000" y="8000"/>
                  </a:lnTo>
                  <a:lnTo>
                    <a:pt x="166000" y="11000"/>
                  </a:lnTo>
                  <a:lnTo>
                    <a:pt x="167000" y="12000"/>
                  </a:lnTo>
                  <a:lnTo>
                    <a:pt x="168000" y="11000"/>
                  </a:lnTo>
                  <a:lnTo>
                    <a:pt x="169000" y="12000"/>
                  </a:lnTo>
                  <a:lnTo>
                    <a:pt x="170000" y="12000"/>
                  </a:lnTo>
                  <a:lnTo>
                    <a:pt x="170000" y="11000"/>
                  </a:lnTo>
                  <a:lnTo>
                    <a:pt x="171000" y="10000"/>
                  </a:lnTo>
                  <a:lnTo>
                    <a:pt x="172000" y="10000"/>
                  </a:lnTo>
                  <a:lnTo>
                    <a:pt x="172000" y="7000"/>
                  </a:lnTo>
                  <a:lnTo>
                    <a:pt x="173000" y="6000"/>
                  </a:lnTo>
                  <a:lnTo>
                    <a:pt x="174000" y="7000"/>
                  </a:lnTo>
                  <a:lnTo>
                    <a:pt x="174000" y="9000"/>
                  </a:lnTo>
                  <a:lnTo>
                    <a:pt x="175000" y="9000"/>
                  </a:lnTo>
                  <a:lnTo>
                    <a:pt x="175000" y="7000"/>
                  </a:lnTo>
                  <a:lnTo>
                    <a:pt x="177000" y="5000"/>
                  </a:lnTo>
                  <a:lnTo>
                    <a:pt x="178000" y="6000"/>
                  </a:lnTo>
                  <a:lnTo>
                    <a:pt x="178000" y="8000"/>
                  </a:lnTo>
                  <a:lnTo>
                    <a:pt x="179000" y="8000"/>
                  </a:lnTo>
                  <a:lnTo>
                    <a:pt x="179000" y="6000"/>
                  </a:lnTo>
                  <a:lnTo>
                    <a:pt x="180000" y="5000"/>
                  </a:lnTo>
                  <a:lnTo>
                    <a:pt x="181000" y="6000"/>
                  </a:lnTo>
                  <a:lnTo>
                    <a:pt x="181000" y="10000"/>
                  </a:lnTo>
                  <a:lnTo>
                    <a:pt x="182000" y="11000"/>
                  </a:lnTo>
                  <a:lnTo>
                    <a:pt x="182000" y="12000"/>
                  </a:lnTo>
                  <a:lnTo>
                    <a:pt x="183000" y="11000"/>
                  </a:lnTo>
                  <a:lnTo>
                    <a:pt x="184000" y="11000"/>
                  </a:lnTo>
                  <a:lnTo>
                    <a:pt x="185000" y="12000"/>
                  </a:lnTo>
                  <a:lnTo>
                    <a:pt x="186000" y="12000"/>
                  </a:lnTo>
                  <a:lnTo>
                    <a:pt x="187000" y="11000"/>
                  </a:lnTo>
                  <a:lnTo>
                    <a:pt x="188000" y="12000"/>
                  </a:lnTo>
                  <a:lnTo>
                    <a:pt x="188000" y="10000"/>
                  </a:lnTo>
                  <a:lnTo>
                    <a:pt x="189000" y="9000"/>
                  </a:lnTo>
                  <a:lnTo>
                    <a:pt x="191000" y="11000"/>
                  </a:lnTo>
                  <a:lnTo>
                    <a:pt x="191000" y="9000"/>
                  </a:lnTo>
                  <a:lnTo>
                    <a:pt x="193000" y="6000"/>
                  </a:lnTo>
                  <a:lnTo>
                    <a:pt x="194000" y="7000"/>
                  </a:lnTo>
                  <a:lnTo>
                    <a:pt x="194000" y="8000"/>
                  </a:lnTo>
                  <a:lnTo>
                    <a:pt x="195000" y="7000"/>
                  </a:lnTo>
                  <a:lnTo>
                    <a:pt x="196000" y="7000"/>
                  </a:lnTo>
                  <a:lnTo>
                    <a:pt x="197000" y="8000"/>
                  </a:lnTo>
                  <a:lnTo>
                    <a:pt x="197000" y="7000"/>
                  </a:lnTo>
                  <a:lnTo>
                    <a:pt x="199000" y="5000"/>
                  </a:lnTo>
                  <a:lnTo>
                    <a:pt x="200000" y="6000"/>
                  </a:lnTo>
                  <a:lnTo>
                    <a:pt x="200000" y="8000"/>
                  </a:lnTo>
                  <a:lnTo>
                    <a:pt x="201000" y="7000"/>
                  </a:lnTo>
                  <a:lnTo>
                    <a:pt x="203000" y="9000"/>
                  </a:lnTo>
                  <a:lnTo>
                    <a:pt x="203000" y="12000"/>
                  </a:lnTo>
                  <a:lnTo>
                    <a:pt x="203000" y="11000"/>
                  </a:lnTo>
                  <a:lnTo>
                    <a:pt x="205000" y="8000"/>
                  </a:lnTo>
                  <a:lnTo>
                    <a:pt x="206000" y="9000"/>
                  </a:lnTo>
                  <a:lnTo>
                    <a:pt x="206000" y="11000"/>
                  </a:lnTo>
                  <a:lnTo>
                    <a:pt x="207000" y="11000"/>
                  </a:lnTo>
                  <a:lnTo>
                    <a:pt x="207000" y="10000"/>
                  </a:lnTo>
                  <a:lnTo>
                    <a:pt x="208000" y="9000"/>
                  </a:lnTo>
                  <a:lnTo>
                    <a:pt x="209000" y="10000"/>
                  </a:lnTo>
                  <a:lnTo>
                    <a:pt x="209000" y="9000"/>
                  </a:lnTo>
                  <a:lnTo>
                    <a:pt x="208000" y="8000"/>
                  </a:lnTo>
                  <a:lnTo>
                    <a:pt x="208000" y="7000"/>
                  </a:lnTo>
                  <a:lnTo>
                    <a:pt x="207000" y="7000"/>
                  </a:lnTo>
                  <a:lnTo>
                    <a:pt x="206000" y="8000"/>
                  </a:lnTo>
                  <a:lnTo>
                    <a:pt x="205000" y="7000"/>
                  </a:lnTo>
                  <a:lnTo>
                    <a:pt x="205000" y="5000"/>
                  </a:lnTo>
                  <a:lnTo>
                    <a:pt x="204000" y="5000"/>
                  </a:lnTo>
                  <a:lnTo>
                    <a:pt x="203000" y="6000"/>
                  </a:lnTo>
                  <a:lnTo>
                    <a:pt x="202000" y="5000"/>
                  </a:lnTo>
                  <a:lnTo>
                    <a:pt x="202000" y="2000"/>
                  </a:lnTo>
                  <a:lnTo>
                    <a:pt x="201000" y="2000"/>
                  </a:lnTo>
                  <a:lnTo>
                    <a:pt x="201000" y="3000"/>
                  </a:lnTo>
                  <a:lnTo>
                    <a:pt x="200000" y="4000"/>
                  </a:lnTo>
                  <a:lnTo>
                    <a:pt x="199000" y="3000"/>
                  </a:lnTo>
                  <a:lnTo>
                    <a:pt x="199000" y="0"/>
                  </a:lnTo>
                  <a:lnTo>
                    <a:pt x="198000" y="0"/>
                  </a:lnTo>
                  <a:lnTo>
                    <a:pt x="198000" y="4000"/>
                  </a:lnTo>
                  <a:lnTo>
                    <a:pt x="197000" y="5000"/>
                  </a:lnTo>
                  <a:lnTo>
                    <a:pt x="196000" y="4000"/>
                  </a:lnTo>
                  <a:lnTo>
                    <a:pt x="196000" y="3000"/>
                  </a:lnTo>
                  <a:lnTo>
                    <a:pt x="195000" y="3000"/>
                  </a:lnTo>
                  <a:lnTo>
                    <a:pt x="194000" y="4000"/>
                  </a:lnTo>
                  <a:lnTo>
                    <a:pt x="193000" y="3000"/>
                  </a:lnTo>
                  <a:lnTo>
                    <a:pt x="193000" y="1000"/>
                  </a:lnTo>
                  <a:lnTo>
                    <a:pt x="192000" y="1000"/>
                  </a:lnTo>
                  <a:lnTo>
                    <a:pt x="192000" y="5000"/>
                  </a:lnTo>
                  <a:lnTo>
                    <a:pt x="191000" y="6000"/>
                  </a:lnTo>
                  <a:lnTo>
                    <a:pt x="190000" y="6000"/>
                  </a:lnTo>
                  <a:lnTo>
                    <a:pt x="189000" y="5000"/>
                  </a:lnTo>
                  <a:lnTo>
                    <a:pt x="189000" y="7000"/>
                  </a:lnTo>
                  <a:lnTo>
                    <a:pt x="187000" y="9000"/>
                  </a:lnTo>
                  <a:lnTo>
                    <a:pt x="186000" y="9000"/>
                  </a:lnTo>
                  <a:lnTo>
                    <a:pt x="186000" y="10000"/>
                  </a:lnTo>
                  <a:lnTo>
                    <a:pt x="185000" y="11000"/>
                  </a:lnTo>
                  <a:lnTo>
                    <a:pt x="184000" y="10000"/>
                  </a:lnTo>
                  <a:lnTo>
                    <a:pt x="184000" y="7000"/>
                  </a:lnTo>
                  <a:lnTo>
                    <a:pt x="182000" y="9000"/>
                  </a:lnTo>
                  <a:lnTo>
                    <a:pt x="181000" y="8000"/>
                  </a:lnTo>
                  <a:lnTo>
                    <a:pt x="181000" y="4000"/>
                  </a:lnTo>
                  <a:lnTo>
                    <a:pt x="180000" y="3000"/>
                  </a:lnTo>
                  <a:lnTo>
                    <a:pt x="180000" y="4000"/>
                  </a:lnTo>
                  <a:lnTo>
                    <a:pt x="179000" y="5000"/>
                  </a:lnTo>
                  <a:lnTo>
                    <a:pt x="177000" y="3000"/>
                  </a:lnTo>
                  <a:lnTo>
                    <a:pt x="177000" y="1000"/>
                  </a:lnTo>
                  <a:lnTo>
                    <a:pt x="176000" y="1000"/>
                  </a:lnTo>
                  <a:lnTo>
                    <a:pt x="176000" y="4000"/>
                  </a:lnTo>
                  <a:lnTo>
                    <a:pt x="175000" y="5000"/>
                  </a:lnTo>
                  <a:lnTo>
                    <a:pt x="174000" y="5000"/>
                  </a:lnTo>
                  <a:lnTo>
                    <a:pt x="173000" y="4000"/>
                  </a:lnTo>
                  <a:lnTo>
                    <a:pt x="173000" y="3000"/>
                  </a:lnTo>
                  <a:lnTo>
                    <a:pt x="172000" y="4000"/>
                  </a:lnTo>
                  <a:lnTo>
                    <a:pt x="172000" y="7000"/>
                  </a:lnTo>
                  <a:lnTo>
                    <a:pt x="171000" y="8000"/>
                  </a:lnTo>
                  <a:lnTo>
                    <a:pt x="170000" y="8000"/>
                  </a:lnTo>
                  <a:lnTo>
                    <a:pt x="170000" y="9000"/>
                  </a:lnTo>
                  <a:lnTo>
                    <a:pt x="169000" y="10000"/>
                  </a:lnTo>
                  <a:lnTo>
                    <a:pt x="168000" y="9000"/>
                  </a:lnTo>
                  <a:lnTo>
                    <a:pt x="168000" y="7000"/>
                  </a:lnTo>
                  <a:lnTo>
                    <a:pt x="168000" y="8000"/>
                  </a:lnTo>
                  <a:lnTo>
                    <a:pt x="167000" y="9000"/>
                  </a:lnTo>
                  <a:lnTo>
                    <a:pt x="166000" y="8000"/>
                  </a:lnTo>
                  <a:lnTo>
                    <a:pt x="166000" y="7000"/>
                  </a:lnTo>
                  <a:lnTo>
                    <a:pt x="164000" y="4000"/>
                  </a:lnTo>
                  <a:lnTo>
                    <a:pt x="164000" y="5000"/>
                  </a:lnTo>
                  <a:lnTo>
                    <a:pt x="163000" y="6000"/>
                  </a:lnTo>
                  <a:lnTo>
                    <a:pt x="162000" y="5000"/>
                  </a:lnTo>
                  <a:lnTo>
                    <a:pt x="162000" y="1000"/>
                  </a:lnTo>
                  <a:lnTo>
                    <a:pt x="161000" y="0"/>
                  </a:lnTo>
                  <a:lnTo>
                    <a:pt x="161000" y="1000"/>
                  </a:lnTo>
                  <a:lnTo>
                    <a:pt x="159000" y="4000"/>
                  </a:lnTo>
                  <a:lnTo>
                    <a:pt x="158000" y="3000"/>
                  </a:lnTo>
                  <a:lnTo>
                    <a:pt x="158000" y="2000"/>
                  </a:lnTo>
                  <a:lnTo>
                    <a:pt x="157000" y="3000"/>
                  </a:lnTo>
                  <a:lnTo>
                    <a:pt x="156000" y="2000"/>
                  </a:lnTo>
                  <a:lnTo>
                    <a:pt x="156000" y="0"/>
                  </a:lnTo>
                  <a:lnTo>
                    <a:pt x="155000" y="0"/>
                  </a:lnTo>
                  <a:lnTo>
                    <a:pt x="155000" y="3000"/>
                  </a:lnTo>
                  <a:lnTo>
                    <a:pt x="154000" y="4000"/>
                  </a:lnTo>
                  <a:lnTo>
                    <a:pt x="152000" y="1000"/>
                  </a:lnTo>
                  <a:lnTo>
                    <a:pt x="152000" y="4000"/>
                  </a:lnTo>
                  <a:lnTo>
                    <a:pt x="151000" y="5000"/>
                  </a:lnTo>
                  <a:lnTo>
                    <a:pt x="151000" y="9000"/>
                  </a:lnTo>
                  <a:lnTo>
                    <a:pt x="150000" y="10000"/>
                  </a:lnTo>
                  <a:lnTo>
                    <a:pt x="148000" y="10000"/>
                  </a:lnTo>
                  <a:lnTo>
                    <a:pt x="147000" y="9000"/>
                  </a:lnTo>
                  <a:lnTo>
                    <a:pt x="145000" y="9000"/>
                  </a:lnTo>
                  <a:lnTo>
                    <a:pt x="144000" y="8000"/>
                  </a:lnTo>
                  <a:lnTo>
                    <a:pt x="144000" y="7000"/>
                  </a:lnTo>
                  <a:lnTo>
                    <a:pt x="143000" y="8000"/>
                  </a:lnTo>
                  <a:lnTo>
                    <a:pt x="142000" y="7000"/>
                  </a:lnTo>
                  <a:lnTo>
                    <a:pt x="142000" y="3000"/>
                  </a:lnTo>
                  <a:lnTo>
                    <a:pt x="141000" y="2000"/>
                  </a:lnTo>
                  <a:lnTo>
                    <a:pt x="140000" y="2000"/>
                  </a:lnTo>
                  <a:lnTo>
                    <a:pt x="139000" y="1000"/>
                  </a:lnTo>
                  <a:lnTo>
                    <a:pt x="139000" y="0"/>
                  </a:lnTo>
                  <a:lnTo>
                    <a:pt x="138000" y="1000"/>
                  </a:lnTo>
                  <a:lnTo>
                    <a:pt x="138000" y="2000"/>
                  </a:lnTo>
                  <a:lnTo>
                    <a:pt x="136000" y="4000"/>
                  </a:lnTo>
                  <a:lnTo>
                    <a:pt x="136000" y="9000"/>
                  </a:lnTo>
                  <a:lnTo>
                    <a:pt x="135000" y="10000"/>
                  </a:lnTo>
                  <a:lnTo>
                    <a:pt x="134000" y="9000"/>
                  </a:lnTo>
                  <a:lnTo>
                    <a:pt x="134000" y="7000"/>
                  </a:lnTo>
                  <a:lnTo>
                    <a:pt x="132000" y="9000"/>
                  </a:lnTo>
                  <a:lnTo>
                    <a:pt x="131000" y="8000"/>
                  </a:lnTo>
                  <a:lnTo>
                    <a:pt x="131000" y="7000"/>
                  </a:lnTo>
                  <a:lnTo>
                    <a:pt x="129000" y="5000"/>
                  </a:lnTo>
                  <a:lnTo>
                    <a:pt x="129000" y="4000"/>
                  </a:lnTo>
                  <a:lnTo>
                    <a:pt x="128000" y="5000"/>
                  </a:lnTo>
                  <a:lnTo>
                    <a:pt x="127000" y="4000"/>
                  </a:lnTo>
                  <a:lnTo>
                    <a:pt x="127000" y="0"/>
                  </a:lnTo>
                  <a:lnTo>
                    <a:pt x="124000" y="0"/>
                  </a:lnTo>
                  <a:lnTo>
                    <a:pt x="124000" y="3000"/>
                  </a:lnTo>
                  <a:lnTo>
                    <a:pt x="122000" y="5000"/>
                  </a:lnTo>
                  <a:lnTo>
                    <a:pt x="122000" y="6000"/>
                  </a:lnTo>
                  <a:lnTo>
                    <a:pt x="120000" y="9000"/>
                  </a:lnTo>
                  <a:lnTo>
                    <a:pt x="119000" y="8000"/>
                  </a:lnTo>
                  <a:lnTo>
                    <a:pt x="119000" y="7000"/>
                  </a:lnTo>
                  <a:lnTo>
                    <a:pt x="118000" y="8000"/>
                  </a:lnTo>
                  <a:lnTo>
                    <a:pt x="117000" y="7000"/>
                  </a:lnTo>
                  <a:lnTo>
                    <a:pt x="117000" y="4000"/>
                  </a:lnTo>
                  <a:lnTo>
                    <a:pt x="115000" y="2000"/>
                  </a:lnTo>
                  <a:lnTo>
                    <a:pt x="115000" y="0"/>
                  </a:lnTo>
                  <a:lnTo>
                    <a:pt x="114000" y="0"/>
                  </a:lnTo>
                  <a:lnTo>
                    <a:pt x="114000" y="1000"/>
                  </a:lnTo>
                  <a:lnTo>
                    <a:pt x="112000" y="3000"/>
                  </a:lnTo>
                  <a:lnTo>
                    <a:pt x="112000" y="6000"/>
                  </a:lnTo>
                  <a:lnTo>
                    <a:pt x="111000" y="7000"/>
                  </a:lnTo>
                  <a:lnTo>
                    <a:pt x="110000" y="7000"/>
                  </a:lnTo>
                  <a:lnTo>
                    <a:pt x="110000" y="8000"/>
                  </a:lnTo>
                  <a:lnTo>
                    <a:pt x="107000" y="10000"/>
                  </a:lnTo>
                  <a:lnTo>
                    <a:pt x="106000" y="10000"/>
                  </a:lnTo>
                  <a:lnTo>
                    <a:pt x="104000" y="7000"/>
                  </a:lnTo>
                  <a:lnTo>
                    <a:pt x="104000" y="1000"/>
                  </a:lnTo>
                  <a:lnTo>
                    <a:pt x="102000" y="1000"/>
                  </a:lnTo>
                  <a:lnTo>
                    <a:pt x="101000" y="0"/>
                  </a:lnTo>
                  <a:lnTo>
                    <a:pt x="101000" y="1000"/>
                  </a:lnTo>
                  <a:lnTo>
                    <a:pt x="100000" y="2000"/>
                  </a:lnTo>
                  <a:lnTo>
                    <a:pt x="99000" y="2000"/>
                  </a:lnTo>
                  <a:lnTo>
                    <a:pt x="99000" y="3000"/>
                  </a:lnTo>
                  <a:lnTo>
                    <a:pt x="98000" y="4000"/>
                  </a:lnTo>
                  <a:lnTo>
                    <a:pt x="97000" y="3000"/>
                  </a:lnTo>
                  <a:lnTo>
                    <a:pt x="97000" y="0"/>
                  </a:lnTo>
                  <a:lnTo>
                    <a:pt x="96000" y="0"/>
                  </a:lnTo>
                  <a:lnTo>
                    <a:pt x="96000" y="3000"/>
                  </a:lnTo>
                  <a:lnTo>
                    <a:pt x="93000" y="5000"/>
                  </a:lnTo>
                  <a:lnTo>
                    <a:pt x="93000" y="8000"/>
                  </a:lnTo>
                  <a:lnTo>
                    <a:pt x="92000" y="9000"/>
                  </a:lnTo>
                  <a:lnTo>
                    <a:pt x="91000" y="8000"/>
                  </a:lnTo>
                  <a:lnTo>
                    <a:pt x="91000" y="7000"/>
                  </a:lnTo>
                  <a:lnTo>
                    <a:pt x="91000" y="8000"/>
                  </a:lnTo>
                  <a:lnTo>
                    <a:pt x="90000" y="9000"/>
                  </a:lnTo>
                  <a:lnTo>
                    <a:pt x="89000" y="8000"/>
                  </a:lnTo>
                  <a:lnTo>
                    <a:pt x="88000" y="8000"/>
                  </a:lnTo>
                  <a:lnTo>
                    <a:pt x="87000" y="7000"/>
                  </a:lnTo>
                  <a:lnTo>
                    <a:pt x="87000" y="3000"/>
                  </a:lnTo>
                  <a:lnTo>
                    <a:pt x="87000" y="4000"/>
                  </a:lnTo>
                  <a:lnTo>
                    <a:pt x="86000" y="5000"/>
                  </a:lnTo>
                  <a:lnTo>
                    <a:pt x="85000" y="4000"/>
                  </a:lnTo>
                  <a:lnTo>
                    <a:pt x="85000" y="3000"/>
                  </a:lnTo>
                  <a:lnTo>
                    <a:pt x="84000" y="2000"/>
                  </a:lnTo>
                  <a:lnTo>
                    <a:pt x="84000" y="1000"/>
                  </a:lnTo>
                  <a:lnTo>
                    <a:pt x="83000" y="2000"/>
                  </a:lnTo>
                  <a:lnTo>
                    <a:pt x="83000" y="4000"/>
                  </a:lnTo>
                  <a:lnTo>
                    <a:pt x="82000" y="5000"/>
                  </a:lnTo>
                  <a:lnTo>
                    <a:pt x="81000" y="4000"/>
                  </a:lnTo>
                  <a:lnTo>
                    <a:pt x="81000" y="3000"/>
                  </a:lnTo>
                  <a:lnTo>
                    <a:pt x="80000" y="4000"/>
                  </a:lnTo>
                  <a:lnTo>
                    <a:pt x="80000" y="8000"/>
                  </a:lnTo>
                  <a:lnTo>
                    <a:pt x="79000" y="9000"/>
                  </a:lnTo>
                  <a:lnTo>
                    <a:pt x="78000" y="8000"/>
                  </a:lnTo>
                  <a:lnTo>
                    <a:pt x="78000" y="7000"/>
                  </a:lnTo>
                  <a:lnTo>
                    <a:pt x="78000" y="8000"/>
                  </a:lnTo>
                  <a:lnTo>
                    <a:pt x="77000" y="9000"/>
                  </a:lnTo>
                  <a:lnTo>
                    <a:pt x="75000" y="9000"/>
                  </a:lnTo>
                  <a:lnTo>
                    <a:pt x="74000" y="8000"/>
                  </a:lnTo>
                  <a:lnTo>
                    <a:pt x="74000" y="5000"/>
                  </a:lnTo>
                  <a:lnTo>
                    <a:pt x="73000" y="6000"/>
                  </a:lnTo>
                  <a:lnTo>
                    <a:pt x="72000" y="5000"/>
                  </a:lnTo>
                  <a:lnTo>
                    <a:pt x="72000" y="4000"/>
                  </a:lnTo>
                  <a:lnTo>
                    <a:pt x="71000" y="3000"/>
                  </a:lnTo>
                  <a:lnTo>
                    <a:pt x="71000" y="1000"/>
                  </a:lnTo>
                  <a:lnTo>
                    <a:pt x="69000" y="3000"/>
                  </a:lnTo>
                  <a:lnTo>
                    <a:pt x="68000" y="3000"/>
                  </a:lnTo>
                  <a:lnTo>
                    <a:pt x="66000" y="0"/>
                  </a:lnTo>
                  <a:lnTo>
                    <a:pt x="66000" y="1000"/>
                  </a:lnTo>
                  <a:lnTo>
                    <a:pt x="65000" y="2000"/>
                  </a:lnTo>
                  <a:lnTo>
                    <a:pt x="63000" y="2000"/>
                  </a:lnTo>
                  <a:lnTo>
                    <a:pt x="63000" y="5000"/>
                  </a:lnTo>
                  <a:lnTo>
                    <a:pt x="62000" y="6000"/>
                  </a:lnTo>
                  <a:lnTo>
                    <a:pt x="61000" y="5000"/>
                  </a:lnTo>
                  <a:lnTo>
                    <a:pt x="61000" y="6000"/>
                  </a:lnTo>
                  <a:lnTo>
                    <a:pt x="60000" y="7000"/>
                  </a:lnTo>
                  <a:lnTo>
                    <a:pt x="59000" y="7000"/>
                  </a:lnTo>
                  <a:lnTo>
                    <a:pt x="58000" y="6000"/>
                  </a:lnTo>
                  <a:lnTo>
                    <a:pt x="57000" y="7000"/>
                  </a:lnTo>
                  <a:lnTo>
                    <a:pt x="56000" y="6000"/>
                  </a:lnTo>
                  <a:lnTo>
                    <a:pt x="56000" y="5000"/>
                  </a:lnTo>
                  <a:lnTo>
                    <a:pt x="55000" y="5000"/>
                  </a:lnTo>
                  <a:lnTo>
                    <a:pt x="54000" y="4000"/>
                  </a:lnTo>
                  <a:lnTo>
                    <a:pt x="54000" y="1000"/>
                  </a:lnTo>
                  <a:lnTo>
                    <a:pt x="54000" y="2000"/>
                  </a:lnTo>
                  <a:lnTo>
                    <a:pt x="53000" y="3000"/>
                  </a:lnTo>
                  <a:lnTo>
                    <a:pt x="52000" y="2000"/>
                  </a:lnTo>
                  <a:lnTo>
                    <a:pt x="52000" y="0"/>
                  </a:lnTo>
                  <a:lnTo>
                    <a:pt x="51000" y="0"/>
                  </a:lnTo>
                  <a:lnTo>
                    <a:pt x="51000" y="2000"/>
                  </a:lnTo>
                  <a:lnTo>
                    <a:pt x="50000" y="3000"/>
                  </a:lnTo>
                  <a:lnTo>
                    <a:pt x="48000" y="1000"/>
                  </a:lnTo>
                  <a:lnTo>
                    <a:pt x="47000" y="1000"/>
                  </a:lnTo>
                  <a:lnTo>
                    <a:pt x="47000" y="5000"/>
                  </a:lnTo>
                  <a:lnTo>
                    <a:pt x="46000" y="6000"/>
                  </a:lnTo>
                  <a:lnTo>
                    <a:pt x="45000" y="5000"/>
                  </a:lnTo>
                  <a:lnTo>
                    <a:pt x="45000" y="7000"/>
                  </a:lnTo>
                  <a:lnTo>
                    <a:pt x="43000" y="9000"/>
                  </a:lnTo>
                  <a:lnTo>
                    <a:pt x="41000" y="7000"/>
                  </a:lnTo>
                  <a:lnTo>
                    <a:pt x="40000" y="7000"/>
                  </a:lnTo>
                  <a:lnTo>
                    <a:pt x="39000" y="6000"/>
                  </a:lnTo>
                  <a:lnTo>
                    <a:pt x="39000" y="3000"/>
                  </a:lnTo>
                  <a:lnTo>
                    <a:pt x="38000" y="3000"/>
                  </a:lnTo>
                  <a:lnTo>
                    <a:pt x="36000" y="1000"/>
                  </a:lnTo>
                  <a:lnTo>
                    <a:pt x="36000" y="4000"/>
                  </a:lnTo>
                  <a:lnTo>
                    <a:pt x="35000" y="5000"/>
                  </a:lnTo>
                  <a:lnTo>
                    <a:pt x="34000" y="4000"/>
                  </a:lnTo>
                  <a:lnTo>
                    <a:pt x="33000" y="4000"/>
                  </a:lnTo>
                  <a:lnTo>
                    <a:pt x="33000" y="7000"/>
                  </a:lnTo>
                  <a:lnTo>
                    <a:pt x="32000" y="8000"/>
                  </a:lnTo>
                  <a:lnTo>
                    <a:pt x="31000" y="8000"/>
                  </a:lnTo>
                  <a:lnTo>
                    <a:pt x="28000" y="6000"/>
                  </a:lnTo>
                  <a:lnTo>
                    <a:pt x="28000" y="4000"/>
                  </a:lnTo>
                  <a:lnTo>
                    <a:pt x="27000" y="5000"/>
                  </a:lnTo>
                  <a:lnTo>
                    <a:pt x="26000" y="4000"/>
                  </a:lnTo>
                  <a:lnTo>
                    <a:pt x="26000" y="0"/>
                  </a:lnTo>
                  <a:lnTo>
                    <a:pt x="25000" y="0"/>
                  </a:lnTo>
                  <a:lnTo>
                    <a:pt x="25000" y="2000"/>
                  </a:lnTo>
                  <a:lnTo>
                    <a:pt x="24000" y="3000"/>
                  </a:lnTo>
                  <a:lnTo>
                    <a:pt x="22000" y="1000"/>
                  </a:lnTo>
                  <a:lnTo>
                    <a:pt x="22000" y="0"/>
                  </a:lnTo>
                  <a:lnTo>
                    <a:pt x="21000" y="0"/>
                  </a:lnTo>
                  <a:lnTo>
                    <a:pt x="20000" y="1000"/>
                  </a:lnTo>
                  <a:lnTo>
                    <a:pt x="19000" y="1000"/>
                  </a:lnTo>
                  <a:lnTo>
                    <a:pt x="19000" y="8000"/>
                  </a:lnTo>
                  <a:lnTo>
                    <a:pt x="17000" y="10000"/>
                  </a:lnTo>
                  <a:lnTo>
                    <a:pt x="16000" y="9000"/>
                  </a:lnTo>
                  <a:lnTo>
                    <a:pt x="15000" y="9000"/>
                  </a:lnTo>
                  <a:lnTo>
                    <a:pt x="14000" y="8000"/>
                  </a:lnTo>
                  <a:lnTo>
                    <a:pt x="14000" y="7000"/>
                  </a:lnTo>
                  <a:lnTo>
                    <a:pt x="13000" y="7000"/>
                  </a:lnTo>
                  <a:lnTo>
                    <a:pt x="12000" y="6000"/>
                  </a:lnTo>
                  <a:lnTo>
                    <a:pt x="12000" y="2000"/>
                  </a:lnTo>
                  <a:lnTo>
                    <a:pt x="11000" y="2000"/>
                  </a:lnTo>
                  <a:lnTo>
                    <a:pt x="10000" y="1000"/>
                  </a:lnTo>
                  <a:lnTo>
                    <a:pt x="10000" y="0"/>
                  </a:lnTo>
                  <a:lnTo>
                    <a:pt x="10000" y="2000"/>
                  </a:lnTo>
                  <a:lnTo>
                    <a:pt x="9000" y="3000"/>
                  </a:lnTo>
                  <a:lnTo>
                    <a:pt x="8000" y="3000"/>
                  </a:lnTo>
                  <a:lnTo>
                    <a:pt x="8000" y="6000"/>
                  </a:lnTo>
                  <a:lnTo>
                    <a:pt x="7000" y="7000"/>
                  </a:lnTo>
                  <a:lnTo>
                    <a:pt x="5000" y="7000"/>
                  </a:lnTo>
                  <a:lnTo>
                    <a:pt x="4000" y="6000"/>
                  </a:lnTo>
                  <a:lnTo>
                    <a:pt x="4000" y="5000"/>
                  </a:lnTo>
                  <a:lnTo>
                    <a:pt x="2000" y="3000"/>
                  </a:lnTo>
                  <a:lnTo>
                    <a:pt x="2000" y="0"/>
                  </a:lnTo>
                  <a:lnTo>
                    <a:pt x="1000" y="0"/>
                  </a:lnTo>
                  <a:close/>
                </a:path>
              </a:pathLst>
            </a:custGeom>
            <a:solidFill>
              <a:srgbClr val="405369"/>
            </a:solidFill>
            <a:ln w="6667" cap="rnd">
              <a:solidFill>
                <a:srgbClr val="40536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3" name="Rectangle 412"/>
            <p:cNvSpPr/>
            <p:nvPr/>
          </p:nvSpPr>
          <p:spPr>
            <a:xfrm>
              <a:off x="333375" y="8763000"/>
              <a:ext cx="2066925" cy="16192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4" name="Rectangle 413"/>
            <p:cNvSpPr/>
            <p:nvPr/>
          </p:nvSpPr>
          <p:spPr>
            <a:xfrm>
              <a:off x="361950" y="8782050"/>
              <a:ext cx="2009775" cy="114300"/>
            </a:xfrm>
            <a:custGeom>
              <a:avLst/>
              <a:gdLst/>
              <a:ahLst/>
              <a:cxnLst/>
              <a:rect l="0" t="0" r="r" b="b"/>
              <a:pathLst>
                <a:path w="211000" h="12000" fill="none">
                  <a:moveTo>
                    <a:pt x="0" y="4500"/>
                  </a:moveTo>
                  <a:lnTo>
                    <a:pt x="1000" y="3000"/>
                  </a:lnTo>
                  <a:lnTo>
                    <a:pt x="2000" y="1500"/>
                  </a:lnTo>
                  <a:lnTo>
                    <a:pt x="3000" y="500"/>
                  </a:lnTo>
                  <a:lnTo>
                    <a:pt x="4000" y="0"/>
                  </a:lnTo>
                  <a:lnTo>
                    <a:pt x="5000" y="0"/>
                  </a:lnTo>
                  <a:lnTo>
                    <a:pt x="6000" y="1000"/>
                  </a:lnTo>
                  <a:lnTo>
                    <a:pt x="7000" y="3500"/>
                  </a:lnTo>
                  <a:lnTo>
                    <a:pt x="8000" y="5500"/>
                  </a:lnTo>
                  <a:lnTo>
                    <a:pt x="9000" y="7500"/>
                  </a:lnTo>
                  <a:lnTo>
                    <a:pt x="10000" y="7500"/>
                  </a:lnTo>
                  <a:lnTo>
                    <a:pt x="11000" y="6000"/>
                  </a:lnTo>
                  <a:lnTo>
                    <a:pt x="12000" y="4500"/>
                  </a:lnTo>
                  <a:lnTo>
                    <a:pt x="13000" y="6000"/>
                  </a:lnTo>
                  <a:lnTo>
                    <a:pt x="14000" y="8000"/>
                  </a:lnTo>
                  <a:lnTo>
                    <a:pt x="15000" y="8500"/>
                  </a:lnTo>
                  <a:lnTo>
                    <a:pt x="16000" y="8000"/>
                  </a:lnTo>
                  <a:lnTo>
                    <a:pt x="17000" y="7500"/>
                  </a:lnTo>
                  <a:lnTo>
                    <a:pt x="18000" y="9000"/>
                  </a:lnTo>
                  <a:lnTo>
                    <a:pt x="19000" y="10500"/>
                  </a:lnTo>
                  <a:lnTo>
                    <a:pt x="20000" y="11500"/>
                  </a:lnTo>
                  <a:lnTo>
                    <a:pt x="21000" y="11500"/>
                  </a:lnTo>
                  <a:lnTo>
                    <a:pt x="22000" y="10000"/>
                  </a:lnTo>
                  <a:lnTo>
                    <a:pt x="23000" y="8000"/>
                  </a:lnTo>
                  <a:lnTo>
                    <a:pt x="24000" y="7500"/>
                  </a:lnTo>
                  <a:lnTo>
                    <a:pt x="25000" y="9500"/>
                  </a:lnTo>
                  <a:lnTo>
                    <a:pt x="26000" y="11000"/>
                  </a:lnTo>
                  <a:lnTo>
                    <a:pt x="27000" y="12000"/>
                  </a:lnTo>
                  <a:lnTo>
                    <a:pt x="28000" y="11000"/>
                  </a:lnTo>
                  <a:lnTo>
                    <a:pt x="29000" y="9000"/>
                  </a:lnTo>
                  <a:lnTo>
                    <a:pt x="30000" y="6000"/>
                  </a:lnTo>
                  <a:lnTo>
                    <a:pt x="31000" y="3500"/>
                  </a:lnTo>
                  <a:lnTo>
                    <a:pt x="32000" y="5500"/>
                  </a:lnTo>
                  <a:lnTo>
                    <a:pt x="33000" y="7500"/>
                  </a:lnTo>
                  <a:lnTo>
                    <a:pt x="34000" y="7000"/>
                  </a:lnTo>
                  <a:lnTo>
                    <a:pt x="35000" y="3500"/>
                  </a:lnTo>
                  <a:lnTo>
                    <a:pt x="36000" y="500"/>
                  </a:lnTo>
                  <a:lnTo>
                    <a:pt x="37000" y="1000"/>
                  </a:lnTo>
                  <a:lnTo>
                    <a:pt x="38000" y="2500"/>
                  </a:lnTo>
                  <a:lnTo>
                    <a:pt x="39000" y="5000"/>
                  </a:lnTo>
                  <a:lnTo>
                    <a:pt x="40000" y="6500"/>
                  </a:lnTo>
                  <a:lnTo>
                    <a:pt x="41000" y="4500"/>
                  </a:lnTo>
                  <a:lnTo>
                    <a:pt x="42000" y="3000"/>
                  </a:lnTo>
                  <a:lnTo>
                    <a:pt x="43000" y="4000"/>
                  </a:lnTo>
                  <a:lnTo>
                    <a:pt x="44000" y="6500"/>
                  </a:lnTo>
                  <a:lnTo>
                    <a:pt x="45000" y="8000"/>
                  </a:lnTo>
                  <a:lnTo>
                    <a:pt x="46000" y="9500"/>
                  </a:lnTo>
                  <a:lnTo>
                    <a:pt x="47000" y="9500"/>
                  </a:lnTo>
                  <a:lnTo>
                    <a:pt x="48000" y="8000"/>
                  </a:lnTo>
                  <a:lnTo>
                    <a:pt x="49000" y="7500"/>
                  </a:lnTo>
                  <a:lnTo>
                    <a:pt x="50000" y="8500"/>
                  </a:lnTo>
                  <a:lnTo>
                    <a:pt x="51000" y="9500"/>
                  </a:lnTo>
                  <a:lnTo>
                    <a:pt x="52000" y="10500"/>
                  </a:lnTo>
                  <a:lnTo>
                    <a:pt x="53000" y="11000"/>
                  </a:lnTo>
                  <a:lnTo>
                    <a:pt x="54000" y="10500"/>
                  </a:lnTo>
                  <a:lnTo>
                    <a:pt x="55000" y="9500"/>
                  </a:lnTo>
                  <a:lnTo>
                    <a:pt x="56000" y="9500"/>
                  </a:lnTo>
                  <a:lnTo>
                    <a:pt x="57000" y="10000"/>
                  </a:lnTo>
                  <a:lnTo>
                    <a:pt x="58000" y="10500"/>
                  </a:lnTo>
                  <a:lnTo>
                    <a:pt x="59000" y="11000"/>
                  </a:lnTo>
                  <a:lnTo>
                    <a:pt x="60000" y="11500"/>
                  </a:lnTo>
                  <a:lnTo>
                    <a:pt x="61000" y="11000"/>
                  </a:lnTo>
                  <a:lnTo>
                    <a:pt x="62000" y="10500"/>
                  </a:lnTo>
                  <a:lnTo>
                    <a:pt x="63000" y="10500"/>
                  </a:lnTo>
                  <a:lnTo>
                    <a:pt x="64000" y="11500"/>
                  </a:lnTo>
                  <a:lnTo>
                    <a:pt x="65000" y="12000"/>
                  </a:lnTo>
                  <a:lnTo>
                    <a:pt x="66000" y="11500"/>
                  </a:lnTo>
                  <a:lnTo>
                    <a:pt x="67000" y="9500"/>
                  </a:lnTo>
                  <a:lnTo>
                    <a:pt x="68000" y="5500"/>
                  </a:lnTo>
                  <a:lnTo>
                    <a:pt x="69000" y="2500"/>
                  </a:lnTo>
                  <a:lnTo>
                    <a:pt x="70000" y="1500"/>
                  </a:lnTo>
                  <a:lnTo>
                    <a:pt x="71000" y="2500"/>
                  </a:lnTo>
                  <a:lnTo>
                    <a:pt x="72000" y="4000"/>
                  </a:lnTo>
                  <a:lnTo>
                    <a:pt x="73000" y="5500"/>
                  </a:lnTo>
                  <a:lnTo>
                    <a:pt x="74000" y="6500"/>
                  </a:lnTo>
                  <a:lnTo>
                    <a:pt x="75000" y="4500"/>
                  </a:lnTo>
                  <a:lnTo>
                    <a:pt x="76000" y="2000"/>
                  </a:lnTo>
                  <a:lnTo>
                    <a:pt x="77000" y="500"/>
                  </a:lnTo>
                  <a:lnTo>
                    <a:pt x="78000" y="1000"/>
                  </a:lnTo>
                  <a:lnTo>
                    <a:pt x="79000" y="2500"/>
                  </a:lnTo>
                  <a:lnTo>
                    <a:pt x="80000" y="5000"/>
                  </a:lnTo>
                  <a:lnTo>
                    <a:pt x="81000" y="5500"/>
                  </a:lnTo>
                  <a:lnTo>
                    <a:pt x="82000" y="4000"/>
                  </a:lnTo>
                  <a:lnTo>
                    <a:pt x="83000" y="2500"/>
                  </a:lnTo>
                  <a:lnTo>
                    <a:pt x="84000" y="2500"/>
                  </a:lnTo>
                  <a:lnTo>
                    <a:pt x="85000" y="3500"/>
                  </a:lnTo>
                  <a:lnTo>
                    <a:pt x="86000" y="4500"/>
                  </a:lnTo>
                  <a:lnTo>
                    <a:pt x="87000" y="5500"/>
                  </a:lnTo>
                  <a:lnTo>
                    <a:pt x="88000" y="6000"/>
                  </a:lnTo>
                  <a:lnTo>
                    <a:pt x="89000" y="5000"/>
                  </a:lnTo>
                  <a:lnTo>
                    <a:pt x="90000" y="3000"/>
                  </a:lnTo>
                  <a:lnTo>
                    <a:pt x="91000" y="1000"/>
                  </a:lnTo>
                  <a:lnTo>
                    <a:pt x="92000" y="500"/>
                  </a:lnTo>
                  <a:lnTo>
                    <a:pt x="93000" y="1500"/>
                  </a:lnTo>
                  <a:lnTo>
                    <a:pt x="94000" y="3500"/>
                  </a:lnTo>
                  <a:lnTo>
                    <a:pt x="95000" y="5500"/>
                  </a:lnTo>
                  <a:lnTo>
                    <a:pt x="96000" y="8500"/>
                  </a:lnTo>
                  <a:lnTo>
                    <a:pt x="97000" y="10000"/>
                  </a:lnTo>
                  <a:lnTo>
                    <a:pt x="98000" y="11000"/>
                  </a:lnTo>
                  <a:lnTo>
                    <a:pt x="99000" y="8000"/>
                  </a:lnTo>
                  <a:lnTo>
                    <a:pt x="100000" y="4500"/>
                  </a:lnTo>
                  <a:lnTo>
                    <a:pt x="101000" y="5500"/>
                  </a:lnTo>
                  <a:lnTo>
                    <a:pt x="102000" y="6500"/>
                  </a:lnTo>
                  <a:lnTo>
                    <a:pt x="103000" y="8000"/>
                  </a:lnTo>
                  <a:lnTo>
                    <a:pt x="104000" y="9500"/>
                  </a:lnTo>
                  <a:lnTo>
                    <a:pt x="105000" y="10500"/>
                  </a:lnTo>
                  <a:lnTo>
                    <a:pt x="106000" y="11500"/>
                  </a:lnTo>
                  <a:lnTo>
                    <a:pt x="107000" y="11000"/>
                  </a:lnTo>
                  <a:lnTo>
                    <a:pt x="108000" y="9000"/>
                  </a:lnTo>
                  <a:lnTo>
                    <a:pt x="109000" y="8000"/>
                  </a:lnTo>
                  <a:lnTo>
                    <a:pt x="110000" y="9500"/>
                  </a:lnTo>
                  <a:lnTo>
                    <a:pt x="111000" y="11500"/>
                  </a:lnTo>
                  <a:lnTo>
                    <a:pt x="112000" y="12000"/>
                  </a:lnTo>
                  <a:lnTo>
                    <a:pt x="113000" y="11000"/>
                  </a:lnTo>
                  <a:lnTo>
                    <a:pt x="114000" y="10000"/>
                  </a:lnTo>
                  <a:lnTo>
                    <a:pt x="115000" y="8500"/>
                  </a:lnTo>
                  <a:lnTo>
                    <a:pt x="116000" y="8500"/>
                  </a:lnTo>
                  <a:lnTo>
                    <a:pt x="117000" y="9500"/>
                  </a:lnTo>
                  <a:lnTo>
                    <a:pt x="118000" y="10500"/>
                  </a:lnTo>
                  <a:lnTo>
                    <a:pt x="119000" y="8500"/>
                  </a:lnTo>
                  <a:lnTo>
                    <a:pt x="120000" y="6000"/>
                  </a:lnTo>
                  <a:lnTo>
                    <a:pt x="121000" y="4000"/>
                  </a:lnTo>
                  <a:lnTo>
                    <a:pt x="122000" y="5000"/>
                  </a:lnTo>
                  <a:lnTo>
                    <a:pt x="123000" y="6000"/>
                  </a:lnTo>
                  <a:lnTo>
                    <a:pt x="124000" y="7500"/>
                  </a:lnTo>
                  <a:lnTo>
                    <a:pt x="125000" y="8500"/>
                  </a:lnTo>
                  <a:lnTo>
                    <a:pt x="126000" y="9000"/>
                  </a:lnTo>
                  <a:lnTo>
                    <a:pt x="127000" y="7500"/>
                  </a:lnTo>
                  <a:lnTo>
                    <a:pt x="128000" y="5000"/>
                  </a:lnTo>
                  <a:lnTo>
                    <a:pt x="129000" y="3000"/>
                  </a:lnTo>
                  <a:lnTo>
                    <a:pt x="130000" y="1500"/>
                  </a:lnTo>
                  <a:lnTo>
                    <a:pt x="131000" y="2000"/>
                  </a:lnTo>
                  <a:lnTo>
                    <a:pt x="132000" y="3500"/>
                  </a:lnTo>
                  <a:lnTo>
                    <a:pt x="133000" y="5000"/>
                  </a:lnTo>
                  <a:lnTo>
                    <a:pt x="134000" y="7000"/>
                  </a:lnTo>
                  <a:lnTo>
                    <a:pt x="135000" y="8500"/>
                  </a:lnTo>
                  <a:lnTo>
                    <a:pt x="136000" y="7500"/>
                  </a:lnTo>
                  <a:lnTo>
                    <a:pt x="137000" y="6000"/>
                  </a:lnTo>
                  <a:lnTo>
                    <a:pt x="138000" y="4000"/>
                  </a:lnTo>
                  <a:lnTo>
                    <a:pt x="139000" y="3500"/>
                  </a:lnTo>
                  <a:lnTo>
                    <a:pt x="140000" y="4000"/>
                  </a:lnTo>
                  <a:lnTo>
                    <a:pt x="141000" y="5500"/>
                  </a:lnTo>
                  <a:lnTo>
                    <a:pt x="142000" y="8000"/>
                  </a:lnTo>
                  <a:lnTo>
                    <a:pt x="143000" y="10000"/>
                  </a:lnTo>
                  <a:lnTo>
                    <a:pt x="144000" y="11500"/>
                  </a:lnTo>
                  <a:lnTo>
                    <a:pt x="145000" y="11500"/>
                  </a:lnTo>
                  <a:lnTo>
                    <a:pt x="146000" y="10000"/>
                  </a:lnTo>
                  <a:lnTo>
                    <a:pt x="147000" y="9000"/>
                  </a:lnTo>
                  <a:lnTo>
                    <a:pt x="148000" y="7500"/>
                  </a:lnTo>
                  <a:lnTo>
                    <a:pt x="149000" y="9000"/>
                  </a:lnTo>
                  <a:lnTo>
                    <a:pt x="150000" y="10500"/>
                  </a:lnTo>
                  <a:lnTo>
                    <a:pt x="151000" y="12000"/>
                  </a:lnTo>
                  <a:lnTo>
                    <a:pt x="152000" y="12000"/>
                  </a:lnTo>
                  <a:lnTo>
                    <a:pt x="153000" y="11500"/>
                  </a:lnTo>
                  <a:lnTo>
                    <a:pt x="154000" y="10500"/>
                  </a:lnTo>
                  <a:lnTo>
                    <a:pt x="155000" y="9500"/>
                  </a:lnTo>
                  <a:lnTo>
                    <a:pt x="156000" y="9500"/>
                  </a:lnTo>
                  <a:lnTo>
                    <a:pt x="157000" y="10500"/>
                  </a:lnTo>
                  <a:lnTo>
                    <a:pt x="158000" y="11500"/>
                  </a:lnTo>
                  <a:lnTo>
                    <a:pt x="159000" y="11000"/>
                  </a:lnTo>
                  <a:lnTo>
                    <a:pt x="160000" y="8500"/>
                  </a:lnTo>
                  <a:lnTo>
                    <a:pt x="161000" y="7000"/>
                  </a:lnTo>
                  <a:lnTo>
                    <a:pt x="162000" y="6000"/>
                  </a:lnTo>
                  <a:lnTo>
                    <a:pt x="163000" y="7000"/>
                  </a:lnTo>
                  <a:lnTo>
                    <a:pt x="164000" y="9000"/>
                  </a:lnTo>
                  <a:lnTo>
                    <a:pt x="165000" y="10500"/>
                  </a:lnTo>
                  <a:lnTo>
                    <a:pt x="166000" y="10500"/>
                  </a:lnTo>
                  <a:lnTo>
                    <a:pt x="167000" y="8500"/>
                  </a:lnTo>
                  <a:lnTo>
                    <a:pt x="168000" y="6000"/>
                  </a:lnTo>
                  <a:lnTo>
                    <a:pt x="169000" y="2500"/>
                  </a:lnTo>
                  <a:lnTo>
                    <a:pt x="170000" y="1500"/>
                  </a:lnTo>
                  <a:lnTo>
                    <a:pt x="171000" y="2000"/>
                  </a:lnTo>
                  <a:lnTo>
                    <a:pt x="172000" y="4500"/>
                  </a:lnTo>
                  <a:lnTo>
                    <a:pt x="173000" y="6500"/>
                  </a:lnTo>
                  <a:lnTo>
                    <a:pt x="174000" y="8000"/>
                  </a:lnTo>
                  <a:lnTo>
                    <a:pt x="175000" y="6500"/>
                  </a:lnTo>
                  <a:lnTo>
                    <a:pt x="176000" y="4500"/>
                  </a:lnTo>
                  <a:lnTo>
                    <a:pt x="177000" y="3500"/>
                  </a:lnTo>
                  <a:lnTo>
                    <a:pt x="178000" y="4000"/>
                  </a:lnTo>
                  <a:lnTo>
                    <a:pt x="179000" y="5500"/>
                  </a:lnTo>
                  <a:lnTo>
                    <a:pt x="180000" y="7000"/>
                  </a:lnTo>
                  <a:lnTo>
                    <a:pt x="181000" y="8000"/>
                  </a:lnTo>
                  <a:lnTo>
                    <a:pt x="182000" y="6500"/>
                  </a:lnTo>
                  <a:lnTo>
                    <a:pt x="183000" y="3500"/>
                  </a:lnTo>
                  <a:lnTo>
                    <a:pt x="184000" y="1000"/>
                  </a:lnTo>
                  <a:lnTo>
                    <a:pt x="185000" y="500"/>
                  </a:lnTo>
                  <a:lnTo>
                    <a:pt x="186000" y="2000"/>
                  </a:lnTo>
                  <a:lnTo>
                    <a:pt x="187000" y="3500"/>
                  </a:lnTo>
                  <a:lnTo>
                    <a:pt x="188000" y="6000"/>
                  </a:lnTo>
                  <a:lnTo>
                    <a:pt x="189000" y="7500"/>
                  </a:lnTo>
                  <a:lnTo>
                    <a:pt x="190000" y="7500"/>
                  </a:lnTo>
                  <a:lnTo>
                    <a:pt x="191000" y="6000"/>
                  </a:lnTo>
                  <a:lnTo>
                    <a:pt x="192000" y="4000"/>
                  </a:lnTo>
                  <a:lnTo>
                    <a:pt x="193000" y="2500"/>
                  </a:lnTo>
                  <a:lnTo>
                    <a:pt x="194000" y="4000"/>
                  </a:lnTo>
                  <a:lnTo>
                    <a:pt x="195000" y="7000"/>
                  </a:lnTo>
                  <a:lnTo>
                    <a:pt x="196000" y="10500"/>
                  </a:lnTo>
                  <a:lnTo>
                    <a:pt x="197000" y="10500"/>
                  </a:lnTo>
                  <a:lnTo>
                    <a:pt x="198000" y="8500"/>
                  </a:lnTo>
                  <a:lnTo>
                    <a:pt x="199000" y="6000"/>
                  </a:lnTo>
                  <a:lnTo>
                    <a:pt x="200000" y="5500"/>
                  </a:lnTo>
                  <a:lnTo>
                    <a:pt x="201000" y="6500"/>
                  </a:lnTo>
                  <a:lnTo>
                    <a:pt x="202000" y="7500"/>
                  </a:lnTo>
                  <a:lnTo>
                    <a:pt x="203000" y="9000"/>
                  </a:lnTo>
                  <a:lnTo>
                    <a:pt x="204000" y="10500"/>
                  </a:lnTo>
                  <a:lnTo>
                    <a:pt x="205000" y="11000"/>
                  </a:lnTo>
                  <a:lnTo>
                    <a:pt x="206000" y="10000"/>
                  </a:lnTo>
                  <a:lnTo>
                    <a:pt x="207000" y="8500"/>
                  </a:lnTo>
                  <a:lnTo>
                    <a:pt x="208000" y="7500"/>
                  </a:lnTo>
                  <a:lnTo>
                    <a:pt x="209000" y="7500"/>
                  </a:lnTo>
                  <a:lnTo>
                    <a:pt x="210000" y="9000"/>
                  </a:lnTo>
                  <a:lnTo>
                    <a:pt x="211000" y="10500"/>
                  </a:lnTo>
                </a:path>
              </a:pathLst>
            </a:custGeom>
            <a:noFill/>
            <a:ln w="7620" cap="rnd">
              <a:solidFill>
                <a:srgbClr val="40536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5" name="Rectangle 414"/>
            <p:cNvSpPr/>
            <p:nvPr/>
          </p:nvSpPr>
          <p:spPr>
            <a:xfrm>
              <a:off x="333375" y="8924925"/>
              <a:ext cx="2066925" cy="16192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6" name="Rectangle 415"/>
            <p:cNvSpPr/>
            <p:nvPr/>
          </p:nvSpPr>
          <p:spPr>
            <a:xfrm>
              <a:off x="361950" y="8953500"/>
              <a:ext cx="2009775" cy="95250"/>
            </a:xfrm>
            <a:custGeom>
              <a:avLst/>
              <a:gdLst/>
              <a:ahLst/>
              <a:cxnLst/>
              <a:rect l="0" t="0" r="r" b="b"/>
              <a:pathLst>
                <a:path w="211000" h="10000" fill="none">
                  <a:moveTo>
                    <a:pt x="0" y="4000"/>
                  </a:moveTo>
                  <a:lnTo>
                    <a:pt x="1000" y="3500"/>
                  </a:lnTo>
                  <a:lnTo>
                    <a:pt x="2000" y="3000"/>
                  </a:lnTo>
                  <a:lnTo>
                    <a:pt x="3000" y="2500"/>
                  </a:lnTo>
                  <a:lnTo>
                    <a:pt x="4000" y="2000"/>
                  </a:lnTo>
                  <a:lnTo>
                    <a:pt x="5000" y="1500"/>
                  </a:lnTo>
                  <a:lnTo>
                    <a:pt x="6000" y="1000"/>
                  </a:lnTo>
                  <a:lnTo>
                    <a:pt x="7000" y="1000"/>
                  </a:lnTo>
                  <a:lnTo>
                    <a:pt x="8000" y="1000"/>
                  </a:lnTo>
                  <a:lnTo>
                    <a:pt x="9000" y="0"/>
                  </a:lnTo>
                  <a:lnTo>
                    <a:pt x="11000" y="1000"/>
                  </a:lnTo>
                  <a:lnTo>
                    <a:pt x="12000" y="1000"/>
                  </a:lnTo>
                  <a:lnTo>
                    <a:pt x="13000" y="1500"/>
                  </a:lnTo>
                  <a:lnTo>
                    <a:pt x="14000" y="2500"/>
                  </a:lnTo>
                  <a:lnTo>
                    <a:pt x="15000" y="3000"/>
                  </a:lnTo>
                  <a:lnTo>
                    <a:pt x="16000" y="4000"/>
                  </a:lnTo>
                  <a:lnTo>
                    <a:pt x="17000" y="5000"/>
                  </a:lnTo>
                  <a:lnTo>
                    <a:pt x="18000" y="5500"/>
                  </a:lnTo>
                  <a:lnTo>
                    <a:pt x="19000" y="6500"/>
                  </a:lnTo>
                  <a:lnTo>
                    <a:pt x="20000" y="7000"/>
                  </a:lnTo>
                  <a:lnTo>
                    <a:pt x="21000" y="6500"/>
                  </a:lnTo>
                  <a:lnTo>
                    <a:pt x="22000" y="5500"/>
                  </a:lnTo>
                  <a:lnTo>
                    <a:pt x="23000" y="5500"/>
                  </a:lnTo>
                  <a:lnTo>
                    <a:pt x="24000" y="4500"/>
                  </a:lnTo>
                  <a:lnTo>
                    <a:pt x="25000" y="4000"/>
                  </a:lnTo>
                  <a:lnTo>
                    <a:pt x="26000" y="4500"/>
                  </a:lnTo>
                  <a:lnTo>
                    <a:pt x="27000" y="5000"/>
                  </a:lnTo>
                  <a:lnTo>
                    <a:pt x="28000" y="5500"/>
                  </a:lnTo>
                  <a:lnTo>
                    <a:pt x="29000" y="6000"/>
                  </a:lnTo>
                  <a:lnTo>
                    <a:pt x="30000" y="6500"/>
                  </a:lnTo>
                  <a:lnTo>
                    <a:pt x="31000" y="7000"/>
                  </a:lnTo>
                  <a:lnTo>
                    <a:pt x="32000" y="7000"/>
                  </a:lnTo>
                  <a:lnTo>
                    <a:pt x="33000" y="6500"/>
                  </a:lnTo>
                  <a:lnTo>
                    <a:pt x="34000" y="6500"/>
                  </a:lnTo>
                  <a:lnTo>
                    <a:pt x="35000" y="6000"/>
                  </a:lnTo>
                  <a:lnTo>
                    <a:pt x="36000" y="6000"/>
                  </a:lnTo>
                  <a:lnTo>
                    <a:pt x="37000" y="6500"/>
                  </a:lnTo>
                  <a:lnTo>
                    <a:pt x="38000" y="7000"/>
                  </a:lnTo>
                  <a:lnTo>
                    <a:pt x="39000" y="7500"/>
                  </a:lnTo>
                  <a:lnTo>
                    <a:pt x="40000" y="8000"/>
                  </a:lnTo>
                  <a:lnTo>
                    <a:pt x="41000" y="8500"/>
                  </a:lnTo>
                  <a:lnTo>
                    <a:pt x="42000" y="9000"/>
                  </a:lnTo>
                  <a:lnTo>
                    <a:pt x="43000" y="9000"/>
                  </a:lnTo>
                  <a:lnTo>
                    <a:pt x="44000" y="9000"/>
                  </a:lnTo>
                  <a:lnTo>
                    <a:pt x="45000" y="9000"/>
                  </a:lnTo>
                  <a:lnTo>
                    <a:pt x="46000" y="8500"/>
                  </a:lnTo>
                  <a:lnTo>
                    <a:pt x="47000" y="7500"/>
                  </a:lnTo>
                  <a:lnTo>
                    <a:pt x="48000" y="7500"/>
                  </a:lnTo>
                  <a:lnTo>
                    <a:pt x="49000" y="6500"/>
                  </a:lnTo>
                  <a:lnTo>
                    <a:pt x="50000" y="6000"/>
                  </a:lnTo>
                  <a:lnTo>
                    <a:pt x="51000" y="6000"/>
                  </a:lnTo>
                  <a:lnTo>
                    <a:pt x="52000" y="6500"/>
                  </a:lnTo>
                  <a:lnTo>
                    <a:pt x="53000" y="7500"/>
                  </a:lnTo>
                  <a:lnTo>
                    <a:pt x="54000" y="8500"/>
                  </a:lnTo>
                  <a:lnTo>
                    <a:pt x="55000" y="9000"/>
                  </a:lnTo>
                  <a:lnTo>
                    <a:pt x="56000" y="9500"/>
                  </a:lnTo>
                  <a:lnTo>
                    <a:pt x="57000" y="10000"/>
                  </a:lnTo>
                  <a:lnTo>
                    <a:pt x="58000" y="10000"/>
                  </a:lnTo>
                  <a:lnTo>
                    <a:pt x="59000" y="9500"/>
                  </a:lnTo>
                  <a:lnTo>
                    <a:pt x="60000" y="9000"/>
                  </a:lnTo>
                  <a:lnTo>
                    <a:pt x="61000" y="8000"/>
                  </a:lnTo>
                  <a:lnTo>
                    <a:pt x="62000" y="7000"/>
                  </a:lnTo>
                  <a:lnTo>
                    <a:pt x="63000" y="6000"/>
                  </a:lnTo>
                  <a:lnTo>
                    <a:pt x="64000" y="5000"/>
                  </a:lnTo>
                  <a:lnTo>
                    <a:pt x="65000" y="4000"/>
                  </a:lnTo>
                  <a:lnTo>
                    <a:pt x="66000" y="3500"/>
                  </a:lnTo>
                  <a:lnTo>
                    <a:pt x="67000" y="3500"/>
                  </a:lnTo>
                  <a:lnTo>
                    <a:pt x="68000" y="4500"/>
                  </a:lnTo>
                  <a:lnTo>
                    <a:pt x="69000" y="5000"/>
                  </a:lnTo>
                  <a:lnTo>
                    <a:pt x="70000" y="6000"/>
                  </a:lnTo>
                  <a:lnTo>
                    <a:pt x="71000" y="7000"/>
                  </a:lnTo>
                  <a:lnTo>
                    <a:pt x="72000" y="6500"/>
                  </a:lnTo>
                  <a:lnTo>
                    <a:pt x="73000" y="5500"/>
                  </a:lnTo>
                  <a:lnTo>
                    <a:pt x="74000" y="4000"/>
                  </a:lnTo>
                  <a:lnTo>
                    <a:pt x="75000" y="2500"/>
                  </a:lnTo>
                  <a:lnTo>
                    <a:pt x="76000" y="1500"/>
                  </a:lnTo>
                  <a:lnTo>
                    <a:pt x="77000" y="1000"/>
                  </a:lnTo>
                  <a:lnTo>
                    <a:pt x="78000" y="1000"/>
                  </a:lnTo>
                  <a:lnTo>
                    <a:pt x="79000" y="1500"/>
                  </a:lnTo>
                  <a:lnTo>
                    <a:pt x="80000" y="2500"/>
                  </a:lnTo>
                  <a:lnTo>
                    <a:pt x="81000" y="2500"/>
                  </a:lnTo>
                  <a:lnTo>
                    <a:pt x="82000" y="3500"/>
                  </a:lnTo>
                  <a:lnTo>
                    <a:pt x="83000" y="4500"/>
                  </a:lnTo>
                  <a:lnTo>
                    <a:pt x="84000" y="5500"/>
                  </a:lnTo>
                  <a:lnTo>
                    <a:pt x="85000" y="5500"/>
                  </a:lnTo>
                  <a:lnTo>
                    <a:pt x="86000" y="5500"/>
                  </a:lnTo>
                  <a:lnTo>
                    <a:pt x="87000" y="4500"/>
                  </a:lnTo>
                  <a:lnTo>
                    <a:pt x="88000" y="4000"/>
                  </a:lnTo>
                  <a:lnTo>
                    <a:pt x="89000" y="2500"/>
                  </a:lnTo>
                  <a:lnTo>
                    <a:pt x="90000" y="2500"/>
                  </a:lnTo>
                  <a:lnTo>
                    <a:pt x="91000" y="3500"/>
                  </a:lnTo>
                  <a:lnTo>
                    <a:pt x="92000" y="4000"/>
                  </a:lnTo>
                  <a:lnTo>
                    <a:pt x="93000" y="4500"/>
                  </a:lnTo>
                  <a:lnTo>
                    <a:pt x="94000" y="5500"/>
                  </a:lnTo>
                  <a:lnTo>
                    <a:pt x="95000" y="6500"/>
                  </a:lnTo>
                  <a:lnTo>
                    <a:pt x="96000" y="6500"/>
                  </a:lnTo>
                  <a:lnTo>
                    <a:pt x="97000" y="7500"/>
                  </a:lnTo>
                  <a:lnTo>
                    <a:pt x="98000" y="8000"/>
                  </a:lnTo>
                  <a:lnTo>
                    <a:pt x="99000" y="8000"/>
                  </a:lnTo>
                  <a:lnTo>
                    <a:pt x="100000" y="7500"/>
                  </a:lnTo>
                  <a:lnTo>
                    <a:pt x="101000" y="7500"/>
                  </a:lnTo>
                  <a:lnTo>
                    <a:pt x="102000" y="6500"/>
                  </a:lnTo>
                  <a:lnTo>
                    <a:pt x="103000" y="6000"/>
                  </a:lnTo>
                  <a:lnTo>
                    <a:pt x="104000" y="6000"/>
                  </a:lnTo>
                  <a:lnTo>
                    <a:pt x="105000" y="6500"/>
                  </a:lnTo>
                  <a:lnTo>
                    <a:pt x="106000" y="7000"/>
                  </a:lnTo>
                  <a:lnTo>
                    <a:pt x="107000" y="7000"/>
                  </a:lnTo>
                  <a:lnTo>
                    <a:pt x="108000" y="7500"/>
                  </a:lnTo>
                  <a:lnTo>
                    <a:pt x="109000" y="8000"/>
                  </a:lnTo>
                  <a:lnTo>
                    <a:pt x="110000" y="8000"/>
                  </a:lnTo>
                  <a:lnTo>
                    <a:pt x="111000" y="8000"/>
                  </a:lnTo>
                  <a:lnTo>
                    <a:pt x="112000" y="9000"/>
                  </a:lnTo>
                  <a:lnTo>
                    <a:pt x="113000" y="9000"/>
                  </a:lnTo>
                  <a:lnTo>
                    <a:pt x="114000" y="8500"/>
                  </a:lnTo>
                  <a:lnTo>
                    <a:pt x="115000" y="8000"/>
                  </a:lnTo>
                  <a:lnTo>
                    <a:pt x="116000" y="8000"/>
                  </a:lnTo>
                  <a:lnTo>
                    <a:pt x="119000" y="8000"/>
                  </a:lnTo>
                  <a:lnTo>
                    <a:pt x="120000" y="8000"/>
                  </a:lnTo>
                  <a:lnTo>
                    <a:pt x="121000" y="8000"/>
                  </a:lnTo>
                  <a:lnTo>
                    <a:pt x="122000" y="8000"/>
                  </a:lnTo>
                  <a:lnTo>
                    <a:pt x="123000" y="8000"/>
                  </a:lnTo>
                  <a:lnTo>
                    <a:pt x="124000" y="9000"/>
                  </a:lnTo>
                  <a:lnTo>
                    <a:pt x="125000" y="9000"/>
                  </a:lnTo>
                  <a:lnTo>
                    <a:pt x="126000" y="9000"/>
                  </a:lnTo>
                  <a:lnTo>
                    <a:pt x="127000" y="9000"/>
                  </a:lnTo>
                  <a:lnTo>
                    <a:pt x="128000" y="9000"/>
                  </a:lnTo>
                  <a:lnTo>
                    <a:pt x="129000" y="9000"/>
                  </a:lnTo>
                  <a:lnTo>
                    <a:pt x="130000" y="9000"/>
                  </a:lnTo>
                  <a:lnTo>
                    <a:pt x="131000" y="8500"/>
                  </a:lnTo>
                  <a:lnTo>
                    <a:pt x="132000" y="8000"/>
                  </a:lnTo>
                  <a:lnTo>
                    <a:pt x="133000" y="8000"/>
                  </a:lnTo>
                  <a:lnTo>
                    <a:pt x="134000" y="8000"/>
                  </a:lnTo>
                  <a:lnTo>
                    <a:pt x="135000" y="8500"/>
                  </a:lnTo>
                  <a:lnTo>
                    <a:pt x="136000" y="9000"/>
                  </a:lnTo>
                  <a:lnTo>
                    <a:pt x="137000" y="9000"/>
                  </a:lnTo>
                  <a:lnTo>
                    <a:pt x="138000" y="9000"/>
                  </a:lnTo>
                  <a:lnTo>
                    <a:pt x="139000" y="10000"/>
                  </a:lnTo>
                  <a:lnTo>
                    <a:pt x="140000" y="10000"/>
                  </a:lnTo>
                  <a:lnTo>
                    <a:pt x="141000" y="9500"/>
                  </a:lnTo>
                  <a:lnTo>
                    <a:pt x="142000" y="8500"/>
                  </a:lnTo>
                  <a:lnTo>
                    <a:pt x="143000" y="7500"/>
                  </a:lnTo>
                  <a:lnTo>
                    <a:pt x="144000" y="6000"/>
                  </a:lnTo>
                  <a:lnTo>
                    <a:pt x="145000" y="4500"/>
                  </a:lnTo>
                  <a:lnTo>
                    <a:pt x="146000" y="3000"/>
                  </a:lnTo>
                  <a:lnTo>
                    <a:pt x="147000" y="2500"/>
                  </a:lnTo>
                  <a:lnTo>
                    <a:pt x="148000" y="2000"/>
                  </a:lnTo>
                  <a:lnTo>
                    <a:pt x="149000" y="2000"/>
                  </a:lnTo>
                  <a:lnTo>
                    <a:pt x="150000" y="2000"/>
                  </a:lnTo>
                  <a:lnTo>
                    <a:pt x="151000" y="2500"/>
                  </a:lnTo>
                  <a:lnTo>
                    <a:pt x="152000" y="3000"/>
                  </a:lnTo>
                  <a:lnTo>
                    <a:pt x="153000" y="3500"/>
                  </a:lnTo>
                  <a:lnTo>
                    <a:pt x="154000" y="4000"/>
                  </a:lnTo>
                  <a:lnTo>
                    <a:pt x="155000" y="4500"/>
                  </a:lnTo>
                  <a:lnTo>
                    <a:pt x="156000" y="5000"/>
                  </a:lnTo>
                  <a:lnTo>
                    <a:pt x="157000" y="5000"/>
                  </a:lnTo>
                  <a:lnTo>
                    <a:pt x="158000" y="5000"/>
                  </a:lnTo>
                  <a:lnTo>
                    <a:pt x="159000" y="4500"/>
                  </a:lnTo>
                  <a:lnTo>
                    <a:pt x="160000" y="4000"/>
                  </a:lnTo>
                  <a:lnTo>
                    <a:pt x="161000" y="3000"/>
                  </a:lnTo>
                  <a:lnTo>
                    <a:pt x="162000" y="2000"/>
                  </a:lnTo>
                  <a:lnTo>
                    <a:pt x="163000" y="1500"/>
                  </a:lnTo>
                  <a:lnTo>
                    <a:pt x="164000" y="1000"/>
                  </a:lnTo>
                  <a:lnTo>
                    <a:pt x="165000" y="1000"/>
                  </a:lnTo>
                  <a:lnTo>
                    <a:pt x="166000" y="1500"/>
                  </a:lnTo>
                  <a:lnTo>
                    <a:pt x="167000" y="1500"/>
                  </a:lnTo>
                  <a:lnTo>
                    <a:pt x="168000" y="2500"/>
                  </a:lnTo>
                  <a:lnTo>
                    <a:pt x="169000" y="3500"/>
                  </a:lnTo>
                  <a:lnTo>
                    <a:pt x="170000" y="3500"/>
                  </a:lnTo>
                  <a:lnTo>
                    <a:pt x="171000" y="4500"/>
                  </a:lnTo>
                  <a:lnTo>
                    <a:pt x="172000" y="5000"/>
                  </a:lnTo>
                  <a:lnTo>
                    <a:pt x="173000" y="5000"/>
                  </a:lnTo>
                  <a:lnTo>
                    <a:pt x="174000" y="4500"/>
                  </a:lnTo>
                  <a:lnTo>
                    <a:pt x="175000" y="3500"/>
                  </a:lnTo>
                  <a:lnTo>
                    <a:pt x="176000" y="3000"/>
                  </a:lnTo>
                  <a:lnTo>
                    <a:pt x="177000" y="2500"/>
                  </a:lnTo>
                  <a:lnTo>
                    <a:pt x="178000" y="2000"/>
                  </a:lnTo>
                  <a:lnTo>
                    <a:pt x="179000" y="3000"/>
                  </a:lnTo>
                  <a:lnTo>
                    <a:pt x="180000" y="3000"/>
                  </a:lnTo>
                  <a:lnTo>
                    <a:pt x="181000" y="3000"/>
                  </a:lnTo>
                  <a:lnTo>
                    <a:pt x="182000" y="3500"/>
                  </a:lnTo>
                  <a:lnTo>
                    <a:pt x="183000" y="4000"/>
                  </a:lnTo>
                  <a:lnTo>
                    <a:pt x="184000" y="4500"/>
                  </a:lnTo>
                  <a:lnTo>
                    <a:pt x="185000" y="5000"/>
                  </a:lnTo>
                  <a:lnTo>
                    <a:pt x="186000" y="5000"/>
                  </a:lnTo>
                  <a:lnTo>
                    <a:pt x="187000" y="5000"/>
                  </a:lnTo>
                  <a:lnTo>
                    <a:pt x="188000" y="5000"/>
                  </a:lnTo>
                  <a:lnTo>
                    <a:pt x="189000" y="4500"/>
                  </a:lnTo>
                  <a:lnTo>
                    <a:pt x="190000" y="4000"/>
                  </a:lnTo>
                  <a:lnTo>
                    <a:pt x="191000" y="3500"/>
                  </a:lnTo>
                  <a:lnTo>
                    <a:pt x="192000" y="2500"/>
                  </a:lnTo>
                  <a:lnTo>
                    <a:pt x="193000" y="1500"/>
                  </a:lnTo>
                  <a:lnTo>
                    <a:pt x="194000" y="1500"/>
                  </a:lnTo>
                  <a:lnTo>
                    <a:pt x="195000" y="1000"/>
                  </a:lnTo>
                  <a:lnTo>
                    <a:pt x="196000" y="1000"/>
                  </a:lnTo>
                  <a:lnTo>
                    <a:pt x="197000" y="1000"/>
                  </a:lnTo>
                  <a:lnTo>
                    <a:pt x="198000" y="1500"/>
                  </a:lnTo>
                  <a:lnTo>
                    <a:pt x="199000" y="2500"/>
                  </a:lnTo>
                  <a:lnTo>
                    <a:pt x="200000" y="3000"/>
                  </a:lnTo>
                  <a:lnTo>
                    <a:pt x="201000" y="3500"/>
                  </a:lnTo>
                  <a:lnTo>
                    <a:pt x="202000" y="4500"/>
                  </a:lnTo>
                  <a:lnTo>
                    <a:pt x="203000" y="5500"/>
                  </a:lnTo>
                  <a:lnTo>
                    <a:pt x="204000" y="6500"/>
                  </a:lnTo>
                  <a:lnTo>
                    <a:pt x="205000" y="7500"/>
                  </a:lnTo>
                  <a:lnTo>
                    <a:pt x="206000" y="7500"/>
                  </a:lnTo>
                  <a:lnTo>
                    <a:pt x="207000" y="8500"/>
                  </a:lnTo>
                  <a:lnTo>
                    <a:pt x="208000" y="9000"/>
                  </a:lnTo>
                  <a:lnTo>
                    <a:pt x="209000" y="8500"/>
                  </a:lnTo>
                  <a:lnTo>
                    <a:pt x="210000" y="7500"/>
                  </a:lnTo>
                  <a:lnTo>
                    <a:pt x="211000" y="7000"/>
                  </a:lnTo>
                </a:path>
              </a:pathLst>
            </a:custGeom>
            <a:noFill/>
            <a:ln w="7620" cap="rnd">
              <a:solidFill>
                <a:srgbClr val="40536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7" name="Rectangle 416"/>
            <p:cNvSpPr/>
            <p:nvPr/>
          </p:nvSpPr>
          <p:spPr>
            <a:xfrm>
              <a:off x="333375" y="9086850"/>
              <a:ext cx="2066925" cy="16192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8" name="Rectangle 417"/>
            <p:cNvSpPr/>
            <p:nvPr/>
          </p:nvSpPr>
          <p:spPr>
            <a:xfrm>
              <a:off x="400050" y="9105900"/>
              <a:ext cx="1933575" cy="114300"/>
            </a:xfrm>
            <a:custGeom>
              <a:avLst/>
              <a:gdLst/>
              <a:ahLst/>
              <a:cxnLst/>
              <a:rect l="0" t="0" r="r" b="b"/>
              <a:pathLst>
                <a:path w="203000" h="12000" fill="norm">
                  <a:moveTo>
                    <a:pt x="0" y="4000"/>
                  </a:moveTo>
                  <a:lnTo>
                    <a:pt x="1000" y="4000"/>
                  </a:lnTo>
                  <a:lnTo>
                    <a:pt x="1000" y="2000"/>
                  </a:lnTo>
                  <a:lnTo>
                    <a:pt x="2000" y="1000"/>
                  </a:lnTo>
                  <a:lnTo>
                    <a:pt x="4000" y="4000"/>
                  </a:lnTo>
                  <a:lnTo>
                    <a:pt x="4000" y="8000"/>
                  </a:lnTo>
                  <a:lnTo>
                    <a:pt x="5000" y="8000"/>
                  </a:lnTo>
                  <a:lnTo>
                    <a:pt x="6000" y="7000"/>
                  </a:lnTo>
                  <a:lnTo>
                    <a:pt x="7000" y="8000"/>
                  </a:lnTo>
                  <a:lnTo>
                    <a:pt x="7000" y="9000"/>
                  </a:lnTo>
                  <a:lnTo>
                    <a:pt x="8000" y="9000"/>
                  </a:lnTo>
                  <a:lnTo>
                    <a:pt x="10000" y="12000"/>
                  </a:lnTo>
                  <a:lnTo>
                    <a:pt x="11000" y="11000"/>
                  </a:lnTo>
                  <a:lnTo>
                    <a:pt x="12000" y="12000"/>
                  </a:lnTo>
                  <a:lnTo>
                    <a:pt x="14000" y="12000"/>
                  </a:lnTo>
                  <a:lnTo>
                    <a:pt x="14000" y="8000"/>
                  </a:lnTo>
                  <a:lnTo>
                    <a:pt x="15000" y="7000"/>
                  </a:lnTo>
                  <a:lnTo>
                    <a:pt x="16000" y="8000"/>
                  </a:lnTo>
                  <a:lnTo>
                    <a:pt x="16000" y="9000"/>
                  </a:lnTo>
                  <a:lnTo>
                    <a:pt x="16000" y="8000"/>
                  </a:lnTo>
                  <a:lnTo>
                    <a:pt x="18000" y="5000"/>
                  </a:lnTo>
                  <a:lnTo>
                    <a:pt x="19000" y="6000"/>
                  </a:lnTo>
                  <a:lnTo>
                    <a:pt x="19000" y="7000"/>
                  </a:lnTo>
                  <a:lnTo>
                    <a:pt x="20000" y="7000"/>
                  </a:lnTo>
                  <a:lnTo>
                    <a:pt x="22000" y="10000"/>
                  </a:lnTo>
                  <a:lnTo>
                    <a:pt x="23000" y="9000"/>
                  </a:lnTo>
                  <a:lnTo>
                    <a:pt x="25000" y="11000"/>
                  </a:lnTo>
                  <a:lnTo>
                    <a:pt x="26000" y="10000"/>
                  </a:lnTo>
                  <a:lnTo>
                    <a:pt x="27000" y="10000"/>
                  </a:lnTo>
                  <a:lnTo>
                    <a:pt x="28000" y="11000"/>
                  </a:lnTo>
                  <a:lnTo>
                    <a:pt x="30000" y="11000"/>
                  </a:lnTo>
                  <a:lnTo>
                    <a:pt x="31000" y="12000"/>
                  </a:lnTo>
                  <a:lnTo>
                    <a:pt x="32000" y="12000"/>
                  </a:lnTo>
                  <a:lnTo>
                    <a:pt x="32000" y="5000"/>
                  </a:lnTo>
                  <a:lnTo>
                    <a:pt x="33000" y="4000"/>
                  </a:lnTo>
                  <a:lnTo>
                    <a:pt x="35000" y="6000"/>
                  </a:lnTo>
                  <a:lnTo>
                    <a:pt x="35000" y="7000"/>
                  </a:lnTo>
                  <a:lnTo>
                    <a:pt x="36000" y="6000"/>
                  </a:lnTo>
                  <a:lnTo>
                    <a:pt x="36000" y="4000"/>
                  </a:lnTo>
                  <a:lnTo>
                    <a:pt x="37000" y="3000"/>
                  </a:lnTo>
                  <a:lnTo>
                    <a:pt x="38000" y="4000"/>
                  </a:lnTo>
                  <a:lnTo>
                    <a:pt x="38000" y="6000"/>
                  </a:lnTo>
                  <a:lnTo>
                    <a:pt x="39000" y="6000"/>
                  </a:lnTo>
                  <a:lnTo>
                    <a:pt x="39000" y="5000"/>
                  </a:lnTo>
                  <a:lnTo>
                    <a:pt x="40000" y="4000"/>
                  </a:lnTo>
                  <a:lnTo>
                    <a:pt x="41000" y="5000"/>
                  </a:lnTo>
                  <a:lnTo>
                    <a:pt x="41000" y="6000"/>
                  </a:lnTo>
                  <a:lnTo>
                    <a:pt x="42000" y="6000"/>
                  </a:lnTo>
                  <a:lnTo>
                    <a:pt x="42000" y="5000"/>
                  </a:lnTo>
                  <a:lnTo>
                    <a:pt x="44000" y="3000"/>
                  </a:lnTo>
                  <a:lnTo>
                    <a:pt x="45000" y="4000"/>
                  </a:lnTo>
                  <a:lnTo>
                    <a:pt x="45000" y="9000"/>
                  </a:lnTo>
                  <a:lnTo>
                    <a:pt x="46000" y="10000"/>
                  </a:lnTo>
                  <a:lnTo>
                    <a:pt x="46000" y="12000"/>
                  </a:lnTo>
                  <a:lnTo>
                    <a:pt x="47000" y="12000"/>
                  </a:lnTo>
                  <a:lnTo>
                    <a:pt x="47000" y="8000"/>
                  </a:lnTo>
                  <a:lnTo>
                    <a:pt x="48000" y="7000"/>
                  </a:lnTo>
                  <a:lnTo>
                    <a:pt x="49000" y="8000"/>
                  </a:lnTo>
                  <a:lnTo>
                    <a:pt x="49000" y="10000"/>
                  </a:lnTo>
                  <a:lnTo>
                    <a:pt x="50000" y="11000"/>
                  </a:lnTo>
                  <a:lnTo>
                    <a:pt x="50000" y="12000"/>
                  </a:lnTo>
                  <a:lnTo>
                    <a:pt x="54000" y="12000"/>
                  </a:lnTo>
                  <a:lnTo>
                    <a:pt x="54000" y="11000"/>
                  </a:lnTo>
                  <a:lnTo>
                    <a:pt x="55000" y="10000"/>
                  </a:lnTo>
                  <a:lnTo>
                    <a:pt x="56000" y="11000"/>
                  </a:lnTo>
                  <a:lnTo>
                    <a:pt x="56000" y="9000"/>
                  </a:lnTo>
                  <a:lnTo>
                    <a:pt x="58000" y="7000"/>
                  </a:lnTo>
                  <a:lnTo>
                    <a:pt x="59000" y="8000"/>
                  </a:lnTo>
                  <a:lnTo>
                    <a:pt x="59000" y="9000"/>
                  </a:lnTo>
                  <a:lnTo>
                    <a:pt x="60000" y="9000"/>
                  </a:lnTo>
                  <a:lnTo>
                    <a:pt x="60000" y="7000"/>
                  </a:lnTo>
                  <a:lnTo>
                    <a:pt x="62000" y="4000"/>
                  </a:lnTo>
                  <a:lnTo>
                    <a:pt x="63000" y="5000"/>
                  </a:lnTo>
                  <a:lnTo>
                    <a:pt x="63000" y="8000"/>
                  </a:lnTo>
                  <a:lnTo>
                    <a:pt x="64000" y="9000"/>
                  </a:lnTo>
                  <a:lnTo>
                    <a:pt x="64000" y="8000"/>
                  </a:lnTo>
                  <a:lnTo>
                    <a:pt x="65000" y="7000"/>
                  </a:lnTo>
                  <a:lnTo>
                    <a:pt x="65000" y="6000"/>
                  </a:lnTo>
                  <a:lnTo>
                    <a:pt x="66000" y="5000"/>
                  </a:lnTo>
                  <a:lnTo>
                    <a:pt x="67000" y="6000"/>
                  </a:lnTo>
                  <a:lnTo>
                    <a:pt x="67000" y="10000"/>
                  </a:lnTo>
                  <a:lnTo>
                    <a:pt x="68000" y="11000"/>
                  </a:lnTo>
                  <a:lnTo>
                    <a:pt x="68000" y="12000"/>
                  </a:lnTo>
                  <a:lnTo>
                    <a:pt x="70000" y="10000"/>
                  </a:lnTo>
                  <a:lnTo>
                    <a:pt x="71000" y="11000"/>
                  </a:lnTo>
                  <a:lnTo>
                    <a:pt x="71000" y="12000"/>
                  </a:lnTo>
                  <a:lnTo>
                    <a:pt x="72000" y="12000"/>
                  </a:lnTo>
                  <a:lnTo>
                    <a:pt x="73000" y="11000"/>
                  </a:lnTo>
                  <a:lnTo>
                    <a:pt x="74000" y="11000"/>
                  </a:lnTo>
                  <a:lnTo>
                    <a:pt x="75000" y="12000"/>
                  </a:lnTo>
                  <a:lnTo>
                    <a:pt x="75000" y="10000"/>
                  </a:lnTo>
                  <a:lnTo>
                    <a:pt x="76000" y="9000"/>
                  </a:lnTo>
                  <a:lnTo>
                    <a:pt x="78000" y="11000"/>
                  </a:lnTo>
                  <a:lnTo>
                    <a:pt x="79000" y="11000"/>
                  </a:lnTo>
                  <a:lnTo>
                    <a:pt x="79000" y="6000"/>
                  </a:lnTo>
                  <a:lnTo>
                    <a:pt x="80000" y="5000"/>
                  </a:lnTo>
                  <a:lnTo>
                    <a:pt x="82000" y="7000"/>
                  </a:lnTo>
                  <a:lnTo>
                    <a:pt x="82000" y="9000"/>
                  </a:lnTo>
                  <a:lnTo>
                    <a:pt x="84000" y="6000"/>
                  </a:lnTo>
                  <a:lnTo>
                    <a:pt x="85000" y="7000"/>
                  </a:lnTo>
                  <a:lnTo>
                    <a:pt x="85000" y="8000"/>
                  </a:lnTo>
                  <a:lnTo>
                    <a:pt x="86000" y="8000"/>
                  </a:lnTo>
                  <a:lnTo>
                    <a:pt x="86000" y="4000"/>
                  </a:lnTo>
                  <a:lnTo>
                    <a:pt x="87000" y="3000"/>
                  </a:lnTo>
                  <a:lnTo>
                    <a:pt x="89000" y="6000"/>
                  </a:lnTo>
                  <a:lnTo>
                    <a:pt x="89000" y="8000"/>
                  </a:lnTo>
                  <a:lnTo>
                    <a:pt x="90000" y="8000"/>
                  </a:lnTo>
                  <a:lnTo>
                    <a:pt x="90000" y="6000"/>
                  </a:lnTo>
                  <a:lnTo>
                    <a:pt x="91000" y="5000"/>
                  </a:lnTo>
                  <a:lnTo>
                    <a:pt x="92000" y="6000"/>
                  </a:lnTo>
                  <a:lnTo>
                    <a:pt x="92000" y="11000"/>
                  </a:lnTo>
                  <a:lnTo>
                    <a:pt x="93000" y="12000"/>
                  </a:lnTo>
                  <a:lnTo>
                    <a:pt x="93000" y="9000"/>
                  </a:lnTo>
                  <a:lnTo>
                    <a:pt x="94000" y="8000"/>
                  </a:lnTo>
                  <a:lnTo>
                    <a:pt x="95000" y="8000"/>
                  </a:lnTo>
                  <a:lnTo>
                    <a:pt x="97000" y="11000"/>
                  </a:lnTo>
                  <a:lnTo>
                    <a:pt x="98000" y="10000"/>
                  </a:lnTo>
                  <a:lnTo>
                    <a:pt x="100000" y="10000"/>
                  </a:lnTo>
                  <a:lnTo>
                    <a:pt x="101000" y="11000"/>
                  </a:lnTo>
                  <a:lnTo>
                    <a:pt x="102000" y="10000"/>
                  </a:lnTo>
                  <a:lnTo>
                    <a:pt x="102000" y="9000"/>
                  </a:lnTo>
                  <a:lnTo>
                    <a:pt x="104000" y="6000"/>
                  </a:lnTo>
                  <a:lnTo>
                    <a:pt x="105000" y="7000"/>
                  </a:lnTo>
                  <a:lnTo>
                    <a:pt x="105000" y="11000"/>
                  </a:lnTo>
                  <a:lnTo>
                    <a:pt x="106000" y="11000"/>
                  </a:lnTo>
                  <a:lnTo>
                    <a:pt x="106000" y="7000"/>
                  </a:lnTo>
                  <a:lnTo>
                    <a:pt x="107000" y="6000"/>
                  </a:lnTo>
                  <a:lnTo>
                    <a:pt x="109000" y="8000"/>
                  </a:lnTo>
                  <a:lnTo>
                    <a:pt x="109000" y="7000"/>
                  </a:lnTo>
                  <a:lnTo>
                    <a:pt x="110000" y="6000"/>
                  </a:lnTo>
                  <a:lnTo>
                    <a:pt x="110000" y="3000"/>
                  </a:lnTo>
                  <a:lnTo>
                    <a:pt x="111000" y="2000"/>
                  </a:lnTo>
                  <a:lnTo>
                    <a:pt x="112000" y="3000"/>
                  </a:lnTo>
                  <a:lnTo>
                    <a:pt x="112000" y="6000"/>
                  </a:lnTo>
                  <a:lnTo>
                    <a:pt x="113000" y="7000"/>
                  </a:lnTo>
                  <a:lnTo>
                    <a:pt x="113000" y="8000"/>
                  </a:lnTo>
                  <a:lnTo>
                    <a:pt x="114000" y="7000"/>
                  </a:lnTo>
                  <a:lnTo>
                    <a:pt x="114000" y="5000"/>
                  </a:lnTo>
                  <a:lnTo>
                    <a:pt x="115000" y="4000"/>
                  </a:lnTo>
                  <a:lnTo>
                    <a:pt x="116000" y="5000"/>
                  </a:lnTo>
                  <a:lnTo>
                    <a:pt x="116000" y="8000"/>
                  </a:lnTo>
                  <a:lnTo>
                    <a:pt x="117000" y="8000"/>
                  </a:lnTo>
                  <a:lnTo>
                    <a:pt x="117000" y="6000"/>
                  </a:lnTo>
                  <a:lnTo>
                    <a:pt x="118000" y="5000"/>
                  </a:lnTo>
                  <a:lnTo>
                    <a:pt x="119000" y="5000"/>
                  </a:lnTo>
                  <a:lnTo>
                    <a:pt x="120000" y="6000"/>
                  </a:lnTo>
                  <a:lnTo>
                    <a:pt x="120000" y="10000"/>
                  </a:lnTo>
                  <a:lnTo>
                    <a:pt x="121000" y="11000"/>
                  </a:lnTo>
                  <a:lnTo>
                    <a:pt x="121000" y="10000"/>
                  </a:lnTo>
                  <a:lnTo>
                    <a:pt x="123000" y="8000"/>
                  </a:lnTo>
                  <a:lnTo>
                    <a:pt x="124000" y="9000"/>
                  </a:lnTo>
                  <a:lnTo>
                    <a:pt x="124000" y="12000"/>
                  </a:lnTo>
                  <a:lnTo>
                    <a:pt x="126000" y="10000"/>
                  </a:lnTo>
                  <a:lnTo>
                    <a:pt x="127000" y="11000"/>
                  </a:lnTo>
                  <a:lnTo>
                    <a:pt x="127000" y="12000"/>
                  </a:lnTo>
                  <a:lnTo>
                    <a:pt x="128000" y="12000"/>
                  </a:lnTo>
                  <a:lnTo>
                    <a:pt x="130000" y="10000"/>
                  </a:lnTo>
                  <a:lnTo>
                    <a:pt x="131000" y="11000"/>
                  </a:lnTo>
                  <a:lnTo>
                    <a:pt x="131000" y="12000"/>
                  </a:lnTo>
                  <a:lnTo>
                    <a:pt x="132000" y="11000"/>
                  </a:lnTo>
                  <a:lnTo>
                    <a:pt x="132000" y="9000"/>
                  </a:lnTo>
                  <a:lnTo>
                    <a:pt x="133000" y="8000"/>
                  </a:lnTo>
                  <a:lnTo>
                    <a:pt x="133000" y="6000"/>
                  </a:lnTo>
                  <a:lnTo>
                    <a:pt x="134000" y="5000"/>
                  </a:lnTo>
                  <a:lnTo>
                    <a:pt x="135000" y="6000"/>
                  </a:lnTo>
                  <a:lnTo>
                    <a:pt x="135000" y="8000"/>
                  </a:lnTo>
                  <a:lnTo>
                    <a:pt x="136000" y="8000"/>
                  </a:lnTo>
                  <a:lnTo>
                    <a:pt x="137000" y="7000"/>
                  </a:lnTo>
                  <a:lnTo>
                    <a:pt x="137000" y="4000"/>
                  </a:lnTo>
                  <a:lnTo>
                    <a:pt x="138000" y="3000"/>
                  </a:lnTo>
                  <a:lnTo>
                    <a:pt x="140000" y="6000"/>
                  </a:lnTo>
                  <a:lnTo>
                    <a:pt x="140000" y="9000"/>
                  </a:lnTo>
                  <a:lnTo>
                    <a:pt x="141000" y="9000"/>
                  </a:lnTo>
                  <a:lnTo>
                    <a:pt x="141000" y="8000"/>
                  </a:lnTo>
                  <a:lnTo>
                    <a:pt x="142000" y="7000"/>
                  </a:lnTo>
                  <a:lnTo>
                    <a:pt x="143000" y="7000"/>
                  </a:lnTo>
                  <a:lnTo>
                    <a:pt x="144000" y="8000"/>
                  </a:lnTo>
                  <a:lnTo>
                    <a:pt x="144000" y="10000"/>
                  </a:lnTo>
                  <a:lnTo>
                    <a:pt x="146000" y="10000"/>
                  </a:lnTo>
                  <a:lnTo>
                    <a:pt x="147000" y="11000"/>
                  </a:lnTo>
                  <a:lnTo>
                    <a:pt x="147000" y="12000"/>
                  </a:lnTo>
                  <a:lnTo>
                    <a:pt x="148000" y="12000"/>
                  </a:lnTo>
                  <a:lnTo>
                    <a:pt x="148000" y="11000"/>
                  </a:lnTo>
                  <a:lnTo>
                    <a:pt x="149000" y="10000"/>
                  </a:lnTo>
                  <a:lnTo>
                    <a:pt x="150000" y="11000"/>
                  </a:lnTo>
                  <a:lnTo>
                    <a:pt x="150000" y="12000"/>
                  </a:lnTo>
                  <a:lnTo>
                    <a:pt x="151000" y="11000"/>
                  </a:lnTo>
                  <a:lnTo>
                    <a:pt x="151000" y="10000"/>
                  </a:lnTo>
                  <a:lnTo>
                    <a:pt x="152000" y="9000"/>
                  </a:lnTo>
                  <a:lnTo>
                    <a:pt x="152000" y="7000"/>
                  </a:lnTo>
                  <a:lnTo>
                    <a:pt x="153000" y="6000"/>
                  </a:lnTo>
                  <a:lnTo>
                    <a:pt x="154000" y="7000"/>
                  </a:lnTo>
                  <a:lnTo>
                    <a:pt x="154000" y="12000"/>
                  </a:lnTo>
                  <a:lnTo>
                    <a:pt x="155000" y="11000"/>
                  </a:lnTo>
                  <a:lnTo>
                    <a:pt x="155000" y="8000"/>
                  </a:lnTo>
                  <a:lnTo>
                    <a:pt x="156000" y="7000"/>
                  </a:lnTo>
                  <a:lnTo>
                    <a:pt x="156000" y="3000"/>
                  </a:lnTo>
                  <a:lnTo>
                    <a:pt x="157000" y="2000"/>
                  </a:lnTo>
                  <a:lnTo>
                    <a:pt x="158000" y="3000"/>
                  </a:lnTo>
                  <a:lnTo>
                    <a:pt x="158000" y="4000"/>
                  </a:lnTo>
                  <a:lnTo>
                    <a:pt x="159000" y="5000"/>
                  </a:lnTo>
                  <a:lnTo>
                    <a:pt x="159000" y="6000"/>
                  </a:lnTo>
                  <a:lnTo>
                    <a:pt x="161000" y="4000"/>
                  </a:lnTo>
                  <a:lnTo>
                    <a:pt x="163000" y="6000"/>
                  </a:lnTo>
                  <a:lnTo>
                    <a:pt x="163000" y="4000"/>
                  </a:lnTo>
                  <a:lnTo>
                    <a:pt x="164000" y="3000"/>
                  </a:lnTo>
                  <a:lnTo>
                    <a:pt x="166000" y="5000"/>
                  </a:lnTo>
                  <a:lnTo>
                    <a:pt x="166000" y="6000"/>
                  </a:lnTo>
                  <a:lnTo>
                    <a:pt x="167000" y="6000"/>
                  </a:lnTo>
                  <a:lnTo>
                    <a:pt x="167000" y="4000"/>
                  </a:lnTo>
                  <a:lnTo>
                    <a:pt x="168000" y="3000"/>
                  </a:lnTo>
                  <a:lnTo>
                    <a:pt x="169000" y="4000"/>
                  </a:lnTo>
                  <a:lnTo>
                    <a:pt x="169000" y="9000"/>
                  </a:lnTo>
                  <a:lnTo>
                    <a:pt x="170000" y="10000"/>
                  </a:lnTo>
                  <a:lnTo>
                    <a:pt x="170000" y="12000"/>
                  </a:lnTo>
                  <a:lnTo>
                    <a:pt x="171000" y="12000"/>
                  </a:lnTo>
                  <a:lnTo>
                    <a:pt x="171000" y="11000"/>
                  </a:lnTo>
                  <a:lnTo>
                    <a:pt x="172000" y="10000"/>
                  </a:lnTo>
                  <a:lnTo>
                    <a:pt x="173000" y="11000"/>
                  </a:lnTo>
                  <a:lnTo>
                    <a:pt x="174000" y="11000"/>
                  </a:lnTo>
                  <a:lnTo>
                    <a:pt x="175000" y="10000"/>
                  </a:lnTo>
                  <a:lnTo>
                    <a:pt x="176000" y="10000"/>
                  </a:lnTo>
                  <a:lnTo>
                    <a:pt x="177000" y="11000"/>
                  </a:lnTo>
                  <a:lnTo>
                    <a:pt x="177000" y="10000"/>
                  </a:lnTo>
                  <a:lnTo>
                    <a:pt x="178000" y="9000"/>
                  </a:lnTo>
                  <a:lnTo>
                    <a:pt x="179000" y="9000"/>
                  </a:lnTo>
                  <a:lnTo>
                    <a:pt x="180000" y="10000"/>
                  </a:lnTo>
                  <a:lnTo>
                    <a:pt x="180000" y="9000"/>
                  </a:lnTo>
                  <a:lnTo>
                    <a:pt x="181000" y="8000"/>
                  </a:lnTo>
                  <a:lnTo>
                    <a:pt x="181000" y="7000"/>
                  </a:lnTo>
                  <a:lnTo>
                    <a:pt x="182000" y="6000"/>
                  </a:lnTo>
                  <a:lnTo>
                    <a:pt x="183000" y="7000"/>
                  </a:lnTo>
                  <a:lnTo>
                    <a:pt x="183000" y="6000"/>
                  </a:lnTo>
                  <a:lnTo>
                    <a:pt x="184000" y="5000"/>
                  </a:lnTo>
                  <a:lnTo>
                    <a:pt x="185000" y="5000"/>
                  </a:lnTo>
                  <a:lnTo>
                    <a:pt x="186000" y="6000"/>
                  </a:lnTo>
                  <a:lnTo>
                    <a:pt x="186000" y="9000"/>
                  </a:lnTo>
                  <a:lnTo>
                    <a:pt x="187000" y="8000"/>
                  </a:lnTo>
                  <a:lnTo>
                    <a:pt x="188000" y="9000"/>
                  </a:lnTo>
                  <a:lnTo>
                    <a:pt x="188000" y="10000"/>
                  </a:lnTo>
                  <a:lnTo>
                    <a:pt x="189000" y="11000"/>
                  </a:lnTo>
                  <a:lnTo>
                    <a:pt x="189000" y="12000"/>
                  </a:lnTo>
                  <a:lnTo>
                    <a:pt x="190000" y="12000"/>
                  </a:lnTo>
                  <a:lnTo>
                    <a:pt x="190000" y="10000"/>
                  </a:lnTo>
                  <a:lnTo>
                    <a:pt x="191000" y="9000"/>
                  </a:lnTo>
                  <a:lnTo>
                    <a:pt x="192000" y="10000"/>
                  </a:lnTo>
                  <a:lnTo>
                    <a:pt x="192000" y="11000"/>
                  </a:lnTo>
                  <a:lnTo>
                    <a:pt x="193000" y="11000"/>
                  </a:lnTo>
                  <a:lnTo>
                    <a:pt x="193000" y="10000"/>
                  </a:lnTo>
                  <a:lnTo>
                    <a:pt x="194000" y="9000"/>
                  </a:lnTo>
                  <a:lnTo>
                    <a:pt x="195000" y="9000"/>
                  </a:lnTo>
                  <a:lnTo>
                    <a:pt x="197000" y="7000"/>
                  </a:lnTo>
                  <a:lnTo>
                    <a:pt x="198000" y="8000"/>
                  </a:lnTo>
                  <a:lnTo>
                    <a:pt x="199000" y="7000"/>
                  </a:lnTo>
                  <a:lnTo>
                    <a:pt x="199000" y="3000"/>
                  </a:lnTo>
                  <a:lnTo>
                    <a:pt x="201000" y="1000"/>
                  </a:lnTo>
                  <a:lnTo>
                    <a:pt x="202000" y="2000"/>
                  </a:lnTo>
                  <a:lnTo>
                    <a:pt x="202000" y="4000"/>
                  </a:lnTo>
                  <a:lnTo>
                    <a:pt x="203000" y="4000"/>
                  </a:lnTo>
                  <a:lnTo>
                    <a:pt x="202000" y="3000"/>
                  </a:lnTo>
                  <a:lnTo>
                    <a:pt x="202000" y="1000"/>
                  </a:lnTo>
                  <a:lnTo>
                    <a:pt x="201000" y="0"/>
                  </a:lnTo>
                  <a:lnTo>
                    <a:pt x="200000" y="0"/>
                  </a:lnTo>
                  <a:lnTo>
                    <a:pt x="199000" y="1000"/>
                  </a:lnTo>
                  <a:lnTo>
                    <a:pt x="199000" y="5000"/>
                  </a:lnTo>
                  <a:lnTo>
                    <a:pt x="198000" y="6000"/>
                  </a:lnTo>
                  <a:lnTo>
                    <a:pt x="197000" y="5000"/>
                  </a:lnTo>
                  <a:lnTo>
                    <a:pt x="197000" y="4000"/>
                  </a:lnTo>
                  <a:lnTo>
                    <a:pt x="196000" y="5000"/>
                  </a:lnTo>
                  <a:lnTo>
                    <a:pt x="196000" y="6000"/>
                  </a:lnTo>
                  <a:lnTo>
                    <a:pt x="195000" y="7000"/>
                  </a:lnTo>
                  <a:lnTo>
                    <a:pt x="194000" y="7000"/>
                  </a:lnTo>
                  <a:lnTo>
                    <a:pt x="194000" y="9000"/>
                  </a:lnTo>
                  <a:lnTo>
                    <a:pt x="193000" y="10000"/>
                  </a:lnTo>
                  <a:lnTo>
                    <a:pt x="191000" y="7000"/>
                  </a:lnTo>
                  <a:lnTo>
                    <a:pt x="189000" y="9000"/>
                  </a:lnTo>
                  <a:lnTo>
                    <a:pt x="188000" y="8000"/>
                  </a:lnTo>
                  <a:lnTo>
                    <a:pt x="188000" y="3000"/>
                  </a:lnTo>
                  <a:lnTo>
                    <a:pt x="186000" y="3000"/>
                  </a:lnTo>
                  <a:lnTo>
                    <a:pt x="185000" y="2000"/>
                  </a:lnTo>
                  <a:lnTo>
                    <a:pt x="185000" y="0"/>
                  </a:lnTo>
                  <a:lnTo>
                    <a:pt x="184000" y="0"/>
                  </a:lnTo>
                  <a:lnTo>
                    <a:pt x="184000" y="2000"/>
                  </a:lnTo>
                  <a:lnTo>
                    <a:pt x="183000" y="3000"/>
                  </a:lnTo>
                  <a:lnTo>
                    <a:pt x="182000" y="2000"/>
                  </a:lnTo>
                  <a:lnTo>
                    <a:pt x="182000" y="3000"/>
                  </a:lnTo>
                  <a:lnTo>
                    <a:pt x="181000" y="4000"/>
                  </a:lnTo>
                  <a:lnTo>
                    <a:pt x="181000" y="7000"/>
                  </a:lnTo>
                  <a:lnTo>
                    <a:pt x="180000" y="8000"/>
                  </a:lnTo>
                  <a:lnTo>
                    <a:pt x="179000" y="7000"/>
                  </a:lnTo>
                  <a:lnTo>
                    <a:pt x="177000" y="9000"/>
                  </a:lnTo>
                  <a:lnTo>
                    <a:pt x="175000" y="9000"/>
                  </a:lnTo>
                  <a:lnTo>
                    <a:pt x="173000" y="11000"/>
                  </a:lnTo>
                  <a:lnTo>
                    <a:pt x="172000" y="10000"/>
                  </a:lnTo>
                  <a:lnTo>
                    <a:pt x="171000" y="10000"/>
                  </a:lnTo>
                  <a:lnTo>
                    <a:pt x="169000" y="7000"/>
                  </a:lnTo>
                  <a:lnTo>
                    <a:pt x="169000" y="1000"/>
                  </a:lnTo>
                  <a:lnTo>
                    <a:pt x="168000" y="1000"/>
                  </a:lnTo>
                  <a:lnTo>
                    <a:pt x="168000" y="2000"/>
                  </a:lnTo>
                  <a:lnTo>
                    <a:pt x="166000" y="4000"/>
                  </a:lnTo>
                  <a:lnTo>
                    <a:pt x="165000" y="3000"/>
                  </a:lnTo>
                  <a:lnTo>
                    <a:pt x="165000" y="0"/>
                  </a:lnTo>
                  <a:lnTo>
                    <a:pt x="164000" y="0"/>
                  </a:lnTo>
                  <a:lnTo>
                    <a:pt x="164000" y="2000"/>
                  </a:lnTo>
                  <a:lnTo>
                    <a:pt x="163000" y="3000"/>
                  </a:lnTo>
                  <a:lnTo>
                    <a:pt x="162000" y="2000"/>
                  </a:lnTo>
                  <a:lnTo>
                    <a:pt x="161000" y="2000"/>
                  </a:lnTo>
                  <a:lnTo>
                    <a:pt x="161000" y="3000"/>
                  </a:lnTo>
                  <a:lnTo>
                    <a:pt x="160000" y="4000"/>
                  </a:lnTo>
                  <a:lnTo>
                    <a:pt x="159000" y="4000"/>
                  </a:lnTo>
                  <a:lnTo>
                    <a:pt x="158000" y="3000"/>
                  </a:lnTo>
                  <a:lnTo>
                    <a:pt x="158000" y="0"/>
                  </a:lnTo>
                  <a:lnTo>
                    <a:pt x="157000" y="0"/>
                  </a:lnTo>
                  <a:lnTo>
                    <a:pt x="157000" y="1000"/>
                  </a:lnTo>
                  <a:lnTo>
                    <a:pt x="156000" y="2000"/>
                  </a:lnTo>
                  <a:lnTo>
                    <a:pt x="156000" y="6000"/>
                  </a:lnTo>
                  <a:lnTo>
                    <a:pt x="155000" y="7000"/>
                  </a:lnTo>
                  <a:lnTo>
                    <a:pt x="153000" y="4000"/>
                  </a:lnTo>
                  <a:lnTo>
                    <a:pt x="153000" y="5000"/>
                  </a:lnTo>
                  <a:lnTo>
                    <a:pt x="152000" y="6000"/>
                  </a:lnTo>
                  <a:lnTo>
                    <a:pt x="152000" y="8000"/>
                  </a:lnTo>
                  <a:lnTo>
                    <a:pt x="150000" y="10000"/>
                  </a:lnTo>
                  <a:lnTo>
                    <a:pt x="149000" y="9000"/>
                  </a:lnTo>
                  <a:lnTo>
                    <a:pt x="149000" y="7000"/>
                  </a:lnTo>
                  <a:lnTo>
                    <a:pt x="147000" y="10000"/>
                  </a:lnTo>
                  <a:lnTo>
                    <a:pt x="146000" y="9000"/>
                  </a:lnTo>
                  <a:lnTo>
                    <a:pt x="146000" y="8000"/>
                  </a:lnTo>
                  <a:lnTo>
                    <a:pt x="145000" y="9000"/>
                  </a:lnTo>
                  <a:lnTo>
                    <a:pt x="144000" y="8000"/>
                  </a:lnTo>
                  <a:lnTo>
                    <a:pt x="144000" y="5000"/>
                  </a:lnTo>
                  <a:lnTo>
                    <a:pt x="143000" y="4000"/>
                  </a:lnTo>
                  <a:lnTo>
                    <a:pt x="143000" y="3000"/>
                  </a:lnTo>
                  <a:lnTo>
                    <a:pt x="142000" y="4000"/>
                  </a:lnTo>
                  <a:lnTo>
                    <a:pt x="142000" y="6000"/>
                  </a:lnTo>
                  <a:lnTo>
                    <a:pt x="141000" y="7000"/>
                  </a:lnTo>
                  <a:lnTo>
                    <a:pt x="139000" y="4000"/>
                  </a:lnTo>
                  <a:lnTo>
                    <a:pt x="139000" y="1000"/>
                  </a:lnTo>
                  <a:lnTo>
                    <a:pt x="138000" y="1000"/>
                  </a:lnTo>
                  <a:lnTo>
                    <a:pt x="138000" y="2000"/>
                  </a:lnTo>
                  <a:lnTo>
                    <a:pt x="137000" y="3000"/>
                  </a:lnTo>
                  <a:lnTo>
                    <a:pt x="137000" y="6000"/>
                  </a:lnTo>
                  <a:lnTo>
                    <a:pt x="136000" y="7000"/>
                  </a:lnTo>
                  <a:lnTo>
                    <a:pt x="135000" y="6000"/>
                  </a:lnTo>
                  <a:lnTo>
                    <a:pt x="135000" y="4000"/>
                  </a:lnTo>
                  <a:lnTo>
                    <a:pt x="134000" y="3000"/>
                  </a:lnTo>
                  <a:lnTo>
                    <a:pt x="133000" y="4000"/>
                  </a:lnTo>
                  <a:lnTo>
                    <a:pt x="133000" y="7000"/>
                  </a:lnTo>
                  <a:lnTo>
                    <a:pt x="132000" y="8000"/>
                  </a:lnTo>
                  <a:lnTo>
                    <a:pt x="132000" y="9000"/>
                  </a:lnTo>
                  <a:lnTo>
                    <a:pt x="131000" y="10000"/>
                  </a:lnTo>
                  <a:lnTo>
                    <a:pt x="129000" y="7000"/>
                  </a:lnTo>
                  <a:lnTo>
                    <a:pt x="129000" y="10000"/>
                  </a:lnTo>
                  <a:lnTo>
                    <a:pt x="128000" y="11000"/>
                  </a:lnTo>
                  <a:lnTo>
                    <a:pt x="126000" y="9000"/>
                  </a:lnTo>
                  <a:lnTo>
                    <a:pt x="125000" y="9000"/>
                  </a:lnTo>
                  <a:lnTo>
                    <a:pt x="123000" y="7000"/>
                  </a:lnTo>
                  <a:lnTo>
                    <a:pt x="123000" y="5000"/>
                  </a:lnTo>
                  <a:lnTo>
                    <a:pt x="122000" y="6000"/>
                  </a:lnTo>
                  <a:lnTo>
                    <a:pt x="122000" y="8000"/>
                  </a:lnTo>
                  <a:lnTo>
                    <a:pt x="121000" y="9000"/>
                  </a:lnTo>
                  <a:lnTo>
                    <a:pt x="120000" y="8000"/>
                  </a:lnTo>
                  <a:lnTo>
                    <a:pt x="120000" y="4000"/>
                  </a:lnTo>
                  <a:lnTo>
                    <a:pt x="119000" y="3000"/>
                  </a:lnTo>
                  <a:lnTo>
                    <a:pt x="119000" y="1000"/>
                  </a:lnTo>
                  <a:lnTo>
                    <a:pt x="118000" y="1000"/>
                  </a:lnTo>
                  <a:lnTo>
                    <a:pt x="118000" y="3000"/>
                  </a:lnTo>
                  <a:lnTo>
                    <a:pt x="117000" y="4000"/>
                  </a:lnTo>
                  <a:lnTo>
                    <a:pt x="116000" y="3000"/>
                  </a:lnTo>
                  <a:lnTo>
                    <a:pt x="115000" y="3000"/>
                  </a:lnTo>
                  <a:lnTo>
                    <a:pt x="115000" y="4000"/>
                  </a:lnTo>
                  <a:lnTo>
                    <a:pt x="114000" y="5000"/>
                  </a:lnTo>
                  <a:lnTo>
                    <a:pt x="113000" y="5000"/>
                  </a:lnTo>
                  <a:lnTo>
                    <a:pt x="112000" y="4000"/>
                  </a:lnTo>
                  <a:lnTo>
                    <a:pt x="112000" y="0"/>
                  </a:lnTo>
                  <a:lnTo>
                    <a:pt x="111000" y="0"/>
                  </a:lnTo>
                  <a:lnTo>
                    <a:pt x="111000" y="1000"/>
                  </a:lnTo>
                  <a:lnTo>
                    <a:pt x="110000" y="2000"/>
                  </a:lnTo>
                  <a:lnTo>
                    <a:pt x="110000" y="5000"/>
                  </a:lnTo>
                  <a:lnTo>
                    <a:pt x="109000" y="6000"/>
                  </a:lnTo>
                  <a:lnTo>
                    <a:pt x="108000" y="5000"/>
                  </a:lnTo>
                  <a:lnTo>
                    <a:pt x="108000" y="2000"/>
                  </a:lnTo>
                  <a:lnTo>
                    <a:pt x="107000" y="1000"/>
                  </a:lnTo>
                  <a:lnTo>
                    <a:pt x="107000" y="4000"/>
                  </a:lnTo>
                  <a:lnTo>
                    <a:pt x="105000" y="6000"/>
                  </a:lnTo>
                  <a:lnTo>
                    <a:pt x="104000" y="5000"/>
                  </a:lnTo>
                  <a:lnTo>
                    <a:pt x="102000" y="8000"/>
                  </a:lnTo>
                  <a:lnTo>
                    <a:pt x="101000" y="8000"/>
                  </a:lnTo>
                  <a:lnTo>
                    <a:pt x="100000" y="7000"/>
                  </a:lnTo>
                  <a:lnTo>
                    <a:pt x="98000" y="7000"/>
                  </a:lnTo>
                  <a:lnTo>
                    <a:pt x="98000" y="8000"/>
                  </a:lnTo>
                  <a:lnTo>
                    <a:pt x="97000" y="9000"/>
                  </a:lnTo>
                  <a:lnTo>
                    <a:pt x="95000" y="7000"/>
                  </a:lnTo>
                  <a:lnTo>
                    <a:pt x="95000" y="6000"/>
                  </a:lnTo>
                  <a:lnTo>
                    <a:pt x="94000" y="5000"/>
                  </a:lnTo>
                  <a:lnTo>
                    <a:pt x="94000" y="6000"/>
                  </a:lnTo>
                  <a:lnTo>
                    <a:pt x="93000" y="7000"/>
                  </a:lnTo>
                  <a:lnTo>
                    <a:pt x="92000" y="6000"/>
                  </a:lnTo>
                  <a:lnTo>
                    <a:pt x="92000" y="3000"/>
                  </a:lnTo>
                  <a:lnTo>
                    <a:pt x="91000" y="2000"/>
                  </a:lnTo>
                  <a:lnTo>
                    <a:pt x="91000" y="3000"/>
                  </a:lnTo>
                  <a:lnTo>
                    <a:pt x="89000" y="5000"/>
                  </a:lnTo>
                  <a:lnTo>
                    <a:pt x="88000" y="4000"/>
                  </a:lnTo>
                  <a:lnTo>
                    <a:pt x="88000" y="1000"/>
                  </a:lnTo>
                  <a:lnTo>
                    <a:pt x="87000" y="0"/>
                  </a:lnTo>
                  <a:lnTo>
                    <a:pt x="87000" y="1000"/>
                  </a:lnTo>
                  <a:lnTo>
                    <a:pt x="86000" y="2000"/>
                  </a:lnTo>
                  <a:lnTo>
                    <a:pt x="86000" y="5000"/>
                  </a:lnTo>
                  <a:lnTo>
                    <a:pt x="85000" y="6000"/>
                  </a:lnTo>
                  <a:lnTo>
                    <a:pt x="84000" y="5000"/>
                  </a:lnTo>
                  <a:lnTo>
                    <a:pt x="84000" y="3000"/>
                  </a:lnTo>
                  <a:lnTo>
                    <a:pt x="83000" y="3000"/>
                  </a:lnTo>
                  <a:lnTo>
                    <a:pt x="83000" y="4000"/>
                  </a:lnTo>
                  <a:lnTo>
                    <a:pt x="82000" y="5000"/>
                  </a:lnTo>
                  <a:lnTo>
                    <a:pt x="81000" y="4000"/>
                  </a:lnTo>
                  <a:lnTo>
                    <a:pt x="81000" y="1000"/>
                  </a:lnTo>
                  <a:lnTo>
                    <a:pt x="80000" y="1000"/>
                  </a:lnTo>
                  <a:lnTo>
                    <a:pt x="80000" y="3000"/>
                  </a:lnTo>
                  <a:lnTo>
                    <a:pt x="79000" y="4000"/>
                  </a:lnTo>
                  <a:lnTo>
                    <a:pt x="79000" y="8000"/>
                  </a:lnTo>
                  <a:lnTo>
                    <a:pt x="78000" y="9000"/>
                  </a:lnTo>
                  <a:lnTo>
                    <a:pt x="77000" y="8000"/>
                  </a:lnTo>
                  <a:lnTo>
                    <a:pt x="77000" y="6000"/>
                  </a:lnTo>
                  <a:lnTo>
                    <a:pt x="76000" y="6000"/>
                  </a:lnTo>
                  <a:lnTo>
                    <a:pt x="76000" y="8000"/>
                  </a:lnTo>
                  <a:lnTo>
                    <a:pt x="75000" y="9000"/>
                  </a:lnTo>
                  <a:lnTo>
                    <a:pt x="73000" y="9000"/>
                  </a:lnTo>
                  <a:lnTo>
                    <a:pt x="73000" y="10000"/>
                  </a:lnTo>
                  <a:lnTo>
                    <a:pt x="72000" y="11000"/>
                  </a:lnTo>
                  <a:lnTo>
                    <a:pt x="70000" y="8000"/>
                  </a:lnTo>
                  <a:lnTo>
                    <a:pt x="68000" y="10000"/>
                  </a:lnTo>
                  <a:lnTo>
                    <a:pt x="67000" y="9000"/>
                  </a:lnTo>
                  <a:lnTo>
                    <a:pt x="67000" y="5000"/>
                  </a:lnTo>
                  <a:lnTo>
                    <a:pt x="66000" y="4000"/>
                  </a:lnTo>
                  <a:lnTo>
                    <a:pt x="66000" y="3000"/>
                  </a:lnTo>
                  <a:lnTo>
                    <a:pt x="65000" y="4000"/>
                  </a:lnTo>
                  <a:lnTo>
                    <a:pt x="65000" y="6000"/>
                  </a:lnTo>
                  <a:lnTo>
                    <a:pt x="64000" y="7000"/>
                  </a:lnTo>
                  <a:lnTo>
                    <a:pt x="63000" y="6000"/>
                  </a:lnTo>
                  <a:lnTo>
                    <a:pt x="63000" y="4000"/>
                  </a:lnTo>
                  <a:lnTo>
                    <a:pt x="62000" y="3000"/>
                  </a:lnTo>
                  <a:lnTo>
                    <a:pt x="62000" y="1000"/>
                  </a:lnTo>
                  <a:lnTo>
                    <a:pt x="61000" y="1000"/>
                  </a:lnTo>
                  <a:lnTo>
                    <a:pt x="61000" y="4000"/>
                  </a:lnTo>
                  <a:lnTo>
                    <a:pt x="60000" y="5000"/>
                  </a:lnTo>
                  <a:lnTo>
                    <a:pt x="60000" y="7000"/>
                  </a:lnTo>
                  <a:lnTo>
                    <a:pt x="59000" y="8000"/>
                  </a:lnTo>
                  <a:lnTo>
                    <a:pt x="58000" y="7000"/>
                  </a:lnTo>
                  <a:lnTo>
                    <a:pt x="58000" y="5000"/>
                  </a:lnTo>
                  <a:lnTo>
                    <a:pt x="57000" y="4000"/>
                  </a:lnTo>
                  <a:lnTo>
                    <a:pt x="57000" y="6000"/>
                  </a:lnTo>
                  <a:lnTo>
                    <a:pt x="56000" y="7000"/>
                  </a:lnTo>
                  <a:lnTo>
                    <a:pt x="56000" y="8000"/>
                  </a:lnTo>
                  <a:lnTo>
                    <a:pt x="55000" y="9000"/>
                  </a:lnTo>
                  <a:lnTo>
                    <a:pt x="54000" y="9000"/>
                  </a:lnTo>
                  <a:lnTo>
                    <a:pt x="54000" y="10000"/>
                  </a:lnTo>
                  <a:lnTo>
                    <a:pt x="53000" y="11000"/>
                  </a:lnTo>
                  <a:lnTo>
                    <a:pt x="52000" y="10000"/>
                  </a:lnTo>
                  <a:lnTo>
                    <a:pt x="52000" y="8000"/>
                  </a:lnTo>
                  <a:lnTo>
                    <a:pt x="51000" y="8000"/>
                  </a:lnTo>
                  <a:lnTo>
                    <a:pt x="51000" y="9000"/>
                  </a:lnTo>
                  <a:lnTo>
                    <a:pt x="50000" y="10000"/>
                  </a:lnTo>
                  <a:lnTo>
                    <a:pt x="49000" y="9000"/>
                  </a:lnTo>
                  <a:lnTo>
                    <a:pt x="49000" y="7000"/>
                  </a:lnTo>
                  <a:lnTo>
                    <a:pt x="48000" y="6000"/>
                  </a:lnTo>
                  <a:lnTo>
                    <a:pt x="48000" y="5000"/>
                  </a:lnTo>
                  <a:lnTo>
                    <a:pt x="47000" y="5000"/>
                  </a:lnTo>
                  <a:lnTo>
                    <a:pt x="47000" y="7000"/>
                  </a:lnTo>
                  <a:lnTo>
                    <a:pt x="46000" y="8000"/>
                  </a:lnTo>
                  <a:lnTo>
                    <a:pt x="45000" y="7000"/>
                  </a:lnTo>
                  <a:lnTo>
                    <a:pt x="45000" y="3000"/>
                  </a:lnTo>
                  <a:lnTo>
                    <a:pt x="44000" y="2000"/>
                  </a:lnTo>
                  <a:lnTo>
                    <a:pt x="44000" y="0"/>
                  </a:lnTo>
                  <a:lnTo>
                    <a:pt x="43000" y="0"/>
                  </a:lnTo>
                  <a:lnTo>
                    <a:pt x="43000" y="2000"/>
                  </a:lnTo>
                  <a:lnTo>
                    <a:pt x="41000" y="4000"/>
                  </a:lnTo>
                  <a:lnTo>
                    <a:pt x="40000" y="3000"/>
                  </a:lnTo>
                  <a:lnTo>
                    <a:pt x="40000" y="2000"/>
                  </a:lnTo>
                  <a:lnTo>
                    <a:pt x="39000" y="2000"/>
                  </a:lnTo>
                  <a:lnTo>
                    <a:pt x="38000" y="3000"/>
                  </a:lnTo>
                  <a:lnTo>
                    <a:pt x="37000" y="2000"/>
                  </a:lnTo>
                  <a:lnTo>
                    <a:pt x="37000" y="0"/>
                  </a:lnTo>
                  <a:lnTo>
                    <a:pt x="36000" y="0"/>
                  </a:lnTo>
                  <a:lnTo>
                    <a:pt x="36000" y="4000"/>
                  </a:lnTo>
                  <a:lnTo>
                    <a:pt x="35000" y="5000"/>
                  </a:lnTo>
                  <a:lnTo>
                    <a:pt x="34000" y="4000"/>
                  </a:lnTo>
                  <a:lnTo>
                    <a:pt x="34000" y="2000"/>
                  </a:lnTo>
                  <a:lnTo>
                    <a:pt x="33000" y="1000"/>
                  </a:lnTo>
                  <a:lnTo>
                    <a:pt x="33000" y="2000"/>
                  </a:lnTo>
                  <a:lnTo>
                    <a:pt x="32000" y="3000"/>
                  </a:lnTo>
                  <a:lnTo>
                    <a:pt x="32000" y="10000"/>
                  </a:lnTo>
                  <a:lnTo>
                    <a:pt x="31000" y="11000"/>
                  </a:lnTo>
                  <a:lnTo>
                    <a:pt x="30000" y="10000"/>
                  </a:lnTo>
                  <a:lnTo>
                    <a:pt x="29000" y="10000"/>
                  </a:lnTo>
                  <a:lnTo>
                    <a:pt x="28000" y="11000"/>
                  </a:lnTo>
                  <a:lnTo>
                    <a:pt x="27000" y="10000"/>
                  </a:lnTo>
                  <a:lnTo>
                    <a:pt x="27000" y="9000"/>
                  </a:lnTo>
                  <a:lnTo>
                    <a:pt x="26000" y="9000"/>
                  </a:lnTo>
                  <a:lnTo>
                    <a:pt x="25000" y="10000"/>
                  </a:lnTo>
                  <a:lnTo>
                    <a:pt x="23000" y="7000"/>
                  </a:lnTo>
                  <a:lnTo>
                    <a:pt x="22000" y="8000"/>
                  </a:lnTo>
                  <a:lnTo>
                    <a:pt x="21000" y="7000"/>
                  </a:lnTo>
                  <a:lnTo>
                    <a:pt x="21000" y="4000"/>
                  </a:lnTo>
                  <a:lnTo>
                    <a:pt x="20000" y="3000"/>
                  </a:lnTo>
                  <a:lnTo>
                    <a:pt x="20000" y="2000"/>
                  </a:lnTo>
                  <a:lnTo>
                    <a:pt x="19000" y="3000"/>
                  </a:lnTo>
                  <a:lnTo>
                    <a:pt x="18000" y="2000"/>
                  </a:lnTo>
                  <a:lnTo>
                    <a:pt x="18000" y="0"/>
                  </a:lnTo>
                  <a:lnTo>
                    <a:pt x="17000" y="0"/>
                  </a:lnTo>
                  <a:lnTo>
                    <a:pt x="17000" y="3000"/>
                  </a:lnTo>
                  <a:lnTo>
                    <a:pt x="16000" y="4000"/>
                  </a:lnTo>
                  <a:lnTo>
                    <a:pt x="15000" y="3000"/>
                  </a:lnTo>
                  <a:lnTo>
                    <a:pt x="15000" y="4000"/>
                  </a:lnTo>
                  <a:lnTo>
                    <a:pt x="14000" y="5000"/>
                  </a:lnTo>
                  <a:lnTo>
                    <a:pt x="14000" y="10000"/>
                  </a:lnTo>
                  <a:lnTo>
                    <a:pt x="13000" y="11000"/>
                  </a:lnTo>
                  <a:lnTo>
                    <a:pt x="12000" y="10000"/>
                  </a:lnTo>
                  <a:lnTo>
                    <a:pt x="12000" y="8000"/>
                  </a:lnTo>
                  <a:lnTo>
                    <a:pt x="11000" y="7000"/>
                  </a:lnTo>
                  <a:lnTo>
                    <a:pt x="11000" y="9000"/>
                  </a:lnTo>
                  <a:lnTo>
                    <a:pt x="10000" y="10000"/>
                  </a:lnTo>
                  <a:lnTo>
                    <a:pt x="9000" y="9000"/>
                  </a:lnTo>
                  <a:lnTo>
                    <a:pt x="9000" y="8000"/>
                  </a:lnTo>
                  <a:lnTo>
                    <a:pt x="6000" y="6000"/>
                  </a:lnTo>
                  <a:lnTo>
                    <a:pt x="6000" y="5000"/>
                  </a:lnTo>
                  <a:lnTo>
                    <a:pt x="5000" y="6000"/>
                  </a:lnTo>
                  <a:lnTo>
                    <a:pt x="4000" y="5000"/>
                  </a:lnTo>
                  <a:lnTo>
                    <a:pt x="4000" y="2000"/>
                  </a:lnTo>
                  <a:lnTo>
                    <a:pt x="3000" y="1000"/>
                  </a:lnTo>
                  <a:lnTo>
                    <a:pt x="3000" y="0"/>
                  </a:lnTo>
                  <a:lnTo>
                    <a:pt x="2000" y="0"/>
                  </a:lnTo>
                  <a:lnTo>
                    <a:pt x="1000" y="1000"/>
                  </a:lnTo>
                  <a:lnTo>
                    <a:pt x="1000" y="3000"/>
                  </a:lnTo>
                  <a:close/>
                </a:path>
              </a:pathLst>
            </a:custGeom>
            <a:solidFill>
              <a:srgbClr val="405369"/>
            </a:solidFill>
            <a:ln w="6667" cap="rnd">
              <a:solidFill>
                <a:srgbClr val="40536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9" name="Rectangle 418"/>
            <p:cNvSpPr/>
            <p:nvPr/>
          </p:nvSpPr>
          <p:spPr>
            <a:xfrm>
              <a:off x="2524125" y="8601075"/>
              <a:ext cx="1924050" cy="64770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0" name="Rectangle 419"/>
            <p:cNvSpPr/>
            <p:nvPr/>
          </p:nvSpPr>
          <p:spPr>
            <a:xfrm>
              <a:off x="2562225" y="8667750"/>
              <a:ext cx="1847850" cy="495300"/>
            </a:xfrm>
            <a:custGeom>
              <a:avLst/>
              <a:gdLst/>
              <a:ahLst/>
              <a:cxnLst/>
              <a:rect l="0" t="0" r="r" b="b"/>
              <a:pathLst>
                <a:path w="194000" h="52000" fill="none">
                  <a:moveTo>
                    <a:pt x="0" y="16500"/>
                  </a:moveTo>
                  <a:lnTo>
                    <a:pt x="1000" y="11000"/>
                  </a:lnTo>
                  <a:lnTo>
                    <a:pt x="2000" y="5500"/>
                  </a:lnTo>
                  <a:lnTo>
                    <a:pt x="3000" y="1500"/>
                  </a:lnTo>
                  <a:lnTo>
                    <a:pt x="4000" y="0"/>
                  </a:lnTo>
                  <a:lnTo>
                    <a:pt x="5000" y="4500"/>
                  </a:lnTo>
                  <a:lnTo>
                    <a:pt x="6000" y="12500"/>
                  </a:lnTo>
                  <a:lnTo>
                    <a:pt x="7000" y="23500"/>
                  </a:lnTo>
                  <a:lnTo>
                    <a:pt x="8000" y="31000"/>
                  </a:lnTo>
                  <a:lnTo>
                    <a:pt x="9000" y="30000"/>
                  </a:lnTo>
                  <a:lnTo>
                    <a:pt x="10000" y="25000"/>
                  </a:lnTo>
                  <a:lnTo>
                    <a:pt x="11000" y="23000"/>
                  </a:lnTo>
                  <a:lnTo>
                    <a:pt x="12000" y="28500"/>
                  </a:lnTo>
                  <a:lnTo>
                    <a:pt x="13000" y="34000"/>
                  </a:lnTo>
                  <a:lnTo>
                    <a:pt x="14000" y="34000"/>
                  </a:lnTo>
                  <a:lnTo>
                    <a:pt x="15000" y="31500"/>
                  </a:lnTo>
                  <a:lnTo>
                    <a:pt x="16000" y="35000"/>
                  </a:lnTo>
                  <a:lnTo>
                    <a:pt x="17000" y="41000"/>
                  </a:lnTo>
                  <a:lnTo>
                    <a:pt x="18000" y="45500"/>
                  </a:lnTo>
                  <a:lnTo>
                    <a:pt x="19000" y="45500"/>
                  </a:lnTo>
                  <a:lnTo>
                    <a:pt x="20000" y="40000"/>
                  </a:lnTo>
                  <a:lnTo>
                    <a:pt x="21000" y="34000"/>
                  </a:lnTo>
                  <a:lnTo>
                    <a:pt x="22000" y="34000"/>
                  </a:lnTo>
                  <a:lnTo>
                    <a:pt x="23000" y="41000"/>
                  </a:lnTo>
                  <a:lnTo>
                    <a:pt x="24000" y="49000"/>
                  </a:lnTo>
                  <a:lnTo>
                    <a:pt x="25000" y="51000"/>
                  </a:lnTo>
                  <a:lnTo>
                    <a:pt x="26000" y="43000"/>
                  </a:lnTo>
                  <a:lnTo>
                    <a:pt x="27000" y="30000"/>
                  </a:lnTo>
                  <a:lnTo>
                    <a:pt x="28000" y="19500"/>
                  </a:lnTo>
                  <a:lnTo>
                    <a:pt x="29000" y="20500"/>
                  </a:lnTo>
                  <a:lnTo>
                    <a:pt x="30000" y="28500"/>
                  </a:lnTo>
                  <a:lnTo>
                    <a:pt x="31000" y="29000"/>
                  </a:lnTo>
                  <a:lnTo>
                    <a:pt x="32000" y="16500"/>
                  </a:lnTo>
                  <a:lnTo>
                    <a:pt x="33000" y="5000"/>
                  </a:lnTo>
                  <a:lnTo>
                    <a:pt x="34000" y="6500"/>
                  </a:lnTo>
                  <a:lnTo>
                    <a:pt x="35000" y="14000"/>
                  </a:lnTo>
                  <a:lnTo>
                    <a:pt x="36000" y="23000"/>
                  </a:lnTo>
                  <a:lnTo>
                    <a:pt x="37000" y="24000"/>
                  </a:lnTo>
                  <a:lnTo>
                    <a:pt x="38000" y="19500"/>
                  </a:lnTo>
                  <a:lnTo>
                    <a:pt x="39000" y="15000"/>
                  </a:lnTo>
                  <a:lnTo>
                    <a:pt x="40000" y="23000"/>
                  </a:lnTo>
                  <a:lnTo>
                    <a:pt x="41000" y="31500"/>
                  </a:lnTo>
                  <a:lnTo>
                    <a:pt x="42000" y="38500"/>
                  </a:lnTo>
                  <a:lnTo>
                    <a:pt x="43000" y="38500"/>
                  </a:lnTo>
                  <a:lnTo>
                    <a:pt x="44000" y="34500"/>
                  </a:lnTo>
                  <a:lnTo>
                    <a:pt x="45000" y="32500"/>
                  </a:lnTo>
                  <a:lnTo>
                    <a:pt x="46000" y="35500"/>
                  </a:lnTo>
                  <a:lnTo>
                    <a:pt x="47000" y="40000"/>
                  </a:lnTo>
                  <a:lnTo>
                    <a:pt x="48000" y="43000"/>
                  </a:lnTo>
                  <a:lnTo>
                    <a:pt x="49000" y="43500"/>
                  </a:lnTo>
                  <a:lnTo>
                    <a:pt x="50000" y="40500"/>
                  </a:lnTo>
                  <a:lnTo>
                    <a:pt x="51000" y="38500"/>
                  </a:lnTo>
                  <a:lnTo>
                    <a:pt x="52000" y="40000"/>
                  </a:lnTo>
                  <a:lnTo>
                    <a:pt x="53000" y="42500"/>
                  </a:lnTo>
                  <a:lnTo>
                    <a:pt x="54000" y="45000"/>
                  </a:lnTo>
                  <a:lnTo>
                    <a:pt x="55000" y="46500"/>
                  </a:lnTo>
                  <a:lnTo>
                    <a:pt x="56000" y="45000"/>
                  </a:lnTo>
                  <a:lnTo>
                    <a:pt x="57000" y="43000"/>
                  </a:lnTo>
                  <a:lnTo>
                    <a:pt x="58000" y="42500"/>
                  </a:lnTo>
                  <a:lnTo>
                    <a:pt x="59000" y="46000"/>
                  </a:lnTo>
                  <a:lnTo>
                    <a:pt x="60000" y="49500"/>
                  </a:lnTo>
                  <a:lnTo>
                    <a:pt x="61000" y="45000"/>
                  </a:lnTo>
                  <a:lnTo>
                    <a:pt x="62000" y="32000"/>
                  </a:lnTo>
                  <a:lnTo>
                    <a:pt x="63000" y="17500"/>
                  </a:lnTo>
                  <a:lnTo>
                    <a:pt x="64000" y="8500"/>
                  </a:lnTo>
                  <a:lnTo>
                    <a:pt x="65000" y="10500"/>
                  </a:lnTo>
                  <a:lnTo>
                    <a:pt x="66000" y="16000"/>
                  </a:lnTo>
                  <a:lnTo>
                    <a:pt x="67000" y="23000"/>
                  </a:lnTo>
                  <a:lnTo>
                    <a:pt x="68000" y="26000"/>
                  </a:lnTo>
                  <a:lnTo>
                    <a:pt x="69000" y="19500"/>
                  </a:lnTo>
                  <a:lnTo>
                    <a:pt x="70000" y="10000"/>
                  </a:lnTo>
                  <a:lnTo>
                    <a:pt x="71000" y="2500"/>
                  </a:lnTo>
                  <a:lnTo>
                    <a:pt x="72000" y="6000"/>
                  </a:lnTo>
                  <a:lnTo>
                    <a:pt x="73000" y="14500"/>
                  </a:lnTo>
                  <a:lnTo>
                    <a:pt x="74000" y="21500"/>
                  </a:lnTo>
                  <a:lnTo>
                    <a:pt x="75000" y="20500"/>
                  </a:lnTo>
                  <a:lnTo>
                    <a:pt x="76000" y="15000"/>
                  </a:lnTo>
                  <a:lnTo>
                    <a:pt x="77000" y="11500"/>
                  </a:lnTo>
                  <a:lnTo>
                    <a:pt x="78000" y="14000"/>
                  </a:lnTo>
                  <a:lnTo>
                    <a:pt x="79000" y="19000"/>
                  </a:lnTo>
                  <a:lnTo>
                    <a:pt x="80000" y="23000"/>
                  </a:lnTo>
                  <a:lnTo>
                    <a:pt x="81000" y="24500"/>
                  </a:lnTo>
                  <a:lnTo>
                    <a:pt x="82000" y="19500"/>
                  </a:lnTo>
                  <a:lnTo>
                    <a:pt x="83000" y="12500"/>
                  </a:lnTo>
                  <a:lnTo>
                    <a:pt x="84000" y="5000"/>
                  </a:lnTo>
                  <a:lnTo>
                    <a:pt x="85000" y="4000"/>
                  </a:lnTo>
                  <a:lnTo>
                    <a:pt x="86000" y="9500"/>
                  </a:lnTo>
                  <a:lnTo>
                    <a:pt x="87000" y="19000"/>
                  </a:lnTo>
                  <a:lnTo>
                    <a:pt x="88000" y="29500"/>
                  </a:lnTo>
                  <a:lnTo>
                    <a:pt x="89000" y="39000"/>
                  </a:lnTo>
                  <a:lnTo>
                    <a:pt x="90000" y="45000"/>
                  </a:lnTo>
                  <a:lnTo>
                    <a:pt x="91000" y="35500"/>
                  </a:lnTo>
                  <a:lnTo>
                    <a:pt x="92000" y="24500"/>
                  </a:lnTo>
                  <a:lnTo>
                    <a:pt x="93000" y="22500"/>
                  </a:lnTo>
                  <a:lnTo>
                    <a:pt x="94000" y="28000"/>
                  </a:lnTo>
                  <a:lnTo>
                    <a:pt x="95000" y="33500"/>
                  </a:lnTo>
                  <a:lnTo>
                    <a:pt x="96000" y="40000"/>
                  </a:lnTo>
                  <a:lnTo>
                    <a:pt x="97000" y="45000"/>
                  </a:lnTo>
                  <a:lnTo>
                    <a:pt x="98000" y="47500"/>
                  </a:lnTo>
                  <a:lnTo>
                    <a:pt x="99000" y="41000"/>
                  </a:lnTo>
                  <a:lnTo>
                    <a:pt x="100000" y="36500"/>
                  </a:lnTo>
                  <a:lnTo>
                    <a:pt x="101000" y="37500"/>
                  </a:lnTo>
                  <a:lnTo>
                    <a:pt x="102000" y="45500"/>
                  </a:lnTo>
                  <a:lnTo>
                    <a:pt x="103000" y="51500"/>
                  </a:lnTo>
                  <a:lnTo>
                    <a:pt x="104000" y="48500"/>
                  </a:lnTo>
                  <a:lnTo>
                    <a:pt x="105000" y="41500"/>
                  </a:lnTo>
                  <a:lnTo>
                    <a:pt x="106000" y="36000"/>
                  </a:lnTo>
                  <a:lnTo>
                    <a:pt x="107000" y="37000"/>
                  </a:lnTo>
                  <a:lnTo>
                    <a:pt x="108000" y="40500"/>
                  </a:lnTo>
                  <a:lnTo>
                    <a:pt x="109000" y="42500"/>
                  </a:lnTo>
                  <a:lnTo>
                    <a:pt x="110000" y="32000"/>
                  </a:lnTo>
                  <a:lnTo>
                    <a:pt x="111000" y="22000"/>
                  </a:lnTo>
                  <a:lnTo>
                    <a:pt x="112000" y="19500"/>
                  </a:lnTo>
                  <a:lnTo>
                    <a:pt x="113000" y="24000"/>
                  </a:lnTo>
                  <a:lnTo>
                    <a:pt x="114000" y="30000"/>
                  </a:lnTo>
                  <a:lnTo>
                    <a:pt x="115000" y="35000"/>
                  </a:lnTo>
                  <a:lnTo>
                    <a:pt x="116000" y="37000"/>
                  </a:lnTo>
                  <a:lnTo>
                    <a:pt x="117000" y="31500"/>
                  </a:lnTo>
                  <a:lnTo>
                    <a:pt x="118000" y="21500"/>
                  </a:lnTo>
                  <a:lnTo>
                    <a:pt x="119000" y="13000"/>
                  </a:lnTo>
                  <a:lnTo>
                    <a:pt x="120000" y="7500"/>
                  </a:lnTo>
                  <a:lnTo>
                    <a:pt x="121000" y="10500"/>
                  </a:lnTo>
                  <a:lnTo>
                    <a:pt x="122000" y="17500"/>
                  </a:lnTo>
                  <a:lnTo>
                    <a:pt x="123000" y="25000"/>
                  </a:lnTo>
                  <a:lnTo>
                    <a:pt x="124000" y="31500"/>
                  </a:lnTo>
                  <a:lnTo>
                    <a:pt x="125000" y="33500"/>
                  </a:lnTo>
                  <a:lnTo>
                    <a:pt x="126000" y="29000"/>
                  </a:lnTo>
                  <a:lnTo>
                    <a:pt x="127000" y="22000"/>
                  </a:lnTo>
                  <a:lnTo>
                    <a:pt x="128000" y="16000"/>
                  </a:lnTo>
                  <a:lnTo>
                    <a:pt x="129000" y="17000"/>
                  </a:lnTo>
                  <a:lnTo>
                    <a:pt x="130000" y="24000"/>
                  </a:lnTo>
                  <a:lnTo>
                    <a:pt x="131000" y="33500"/>
                  </a:lnTo>
                  <a:lnTo>
                    <a:pt x="132000" y="42500"/>
                  </a:lnTo>
                  <a:lnTo>
                    <a:pt x="133000" y="47500"/>
                  </a:lnTo>
                  <a:lnTo>
                    <a:pt x="134000" y="45000"/>
                  </a:lnTo>
                  <a:lnTo>
                    <a:pt x="135000" y="40500"/>
                  </a:lnTo>
                  <a:lnTo>
                    <a:pt x="136000" y="35000"/>
                  </a:lnTo>
                  <a:lnTo>
                    <a:pt x="137000" y="34500"/>
                  </a:lnTo>
                  <a:lnTo>
                    <a:pt x="138000" y="41000"/>
                  </a:lnTo>
                  <a:lnTo>
                    <a:pt x="139000" y="48500"/>
                  </a:lnTo>
                  <a:lnTo>
                    <a:pt x="140000" y="52000"/>
                  </a:lnTo>
                  <a:lnTo>
                    <a:pt x="141000" y="48500"/>
                  </a:lnTo>
                  <a:lnTo>
                    <a:pt x="142000" y="43500"/>
                  </a:lnTo>
                  <a:lnTo>
                    <a:pt x="143000" y="39000"/>
                  </a:lnTo>
                  <a:lnTo>
                    <a:pt x="144000" y="39000"/>
                  </a:lnTo>
                  <a:lnTo>
                    <a:pt x="145000" y="43500"/>
                  </a:lnTo>
                  <a:lnTo>
                    <a:pt x="146000" y="47000"/>
                  </a:lnTo>
                  <a:lnTo>
                    <a:pt x="147000" y="42000"/>
                  </a:lnTo>
                  <a:lnTo>
                    <a:pt x="148000" y="33500"/>
                  </a:lnTo>
                  <a:lnTo>
                    <a:pt x="149000" y="26500"/>
                  </a:lnTo>
                  <a:lnTo>
                    <a:pt x="150000" y="28000"/>
                  </a:lnTo>
                  <a:lnTo>
                    <a:pt x="151000" y="35000"/>
                  </a:lnTo>
                  <a:lnTo>
                    <a:pt x="152000" y="42000"/>
                  </a:lnTo>
                  <a:lnTo>
                    <a:pt x="153000" y="44000"/>
                  </a:lnTo>
                  <a:lnTo>
                    <a:pt x="154000" y="36000"/>
                  </a:lnTo>
                  <a:lnTo>
                    <a:pt x="155000" y="25000"/>
                  </a:lnTo>
                  <a:lnTo>
                    <a:pt x="156000" y="13500"/>
                  </a:lnTo>
                  <a:lnTo>
                    <a:pt x="157000" y="7000"/>
                  </a:lnTo>
                  <a:lnTo>
                    <a:pt x="158000" y="11500"/>
                  </a:lnTo>
                  <a:lnTo>
                    <a:pt x="159000" y="20500"/>
                  </a:lnTo>
                  <a:lnTo>
                    <a:pt x="160000" y="29000"/>
                  </a:lnTo>
                  <a:lnTo>
                    <a:pt x="161000" y="31000"/>
                  </a:lnTo>
                  <a:lnTo>
                    <a:pt x="162000" y="23500"/>
                  </a:lnTo>
                  <a:lnTo>
                    <a:pt x="163000" y="15500"/>
                  </a:lnTo>
                  <a:lnTo>
                    <a:pt x="164000" y="16500"/>
                  </a:lnTo>
                  <a:lnTo>
                    <a:pt x="165000" y="22500"/>
                  </a:lnTo>
                  <a:lnTo>
                    <a:pt x="166000" y="28000"/>
                  </a:lnTo>
                  <a:lnTo>
                    <a:pt x="167000" y="32500"/>
                  </a:lnTo>
                  <a:lnTo>
                    <a:pt x="168000" y="26500"/>
                  </a:lnTo>
                  <a:lnTo>
                    <a:pt x="169000" y="14500"/>
                  </a:lnTo>
                  <a:lnTo>
                    <a:pt x="170000" y="4000"/>
                  </a:lnTo>
                  <a:lnTo>
                    <a:pt x="171000" y="4000"/>
                  </a:lnTo>
                  <a:lnTo>
                    <a:pt x="172000" y="10000"/>
                  </a:lnTo>
                  <a:lnTo>
                    <a:pt x="173000" y="19000"/>
                  </a:lnTo>
                  <a:lnTo>
                    <a:pt x="174000" y="27000"/>
                  </a:lnTo>
                  <a:lnTo>
                    <a:pt x="175000" y="31500"/>
                  </a:lnTo>
                  <a:lnTo>
                    <a:pt x="176000" y="28000"/>
                  </a:lnTo>
                  <a:lnTo>
                    <a:pt x="177000" y="19500"/>
                  </a:lnTo>
                  <a:lnTo>
                    <a:pt x="178000" y="12000"/>
                  </a:lnTo>
                  <a:lnTo>
                    <a:pt x="179000" y="16500"/>
                  </a:lnTo>
                  <a:lnTo>
                    <a:pt x="180000" y="29000"/>
                  </a:lnTo>
                  <a:lnTo>
                    <a:pt x="181000" y="41000"/>
                  </a:lnTo>
                  <a:lnTo>
                    <a:pt x="182000" y="41500"/>
                  </a:lnTo>
                  <a:lnTo>
                    <a:pt x="183000" y="32500"/>
                  </a:lnTo>
                  <a:lnTo>
                    <a:pt x="184000" y="24500"/>
                  </a:lnTo>
                  <a:lnTo>
                    <a:pt x="185000" y="25000"/>
                  </a:lnTo>
                  <a:lnTo>
                    <a:pt x="186000" y="29000"/>
                  </a:lnTo>
                  <a:lnTo>
                    <a:pt x="187000" y="34000"/>
                  </a:lnTo>
                  <a:lnTo>
                    <a:pt x="188000" y="39500"/>
                  </a:lnTo>
                  <a:lnTo>
                    <a:pt x="189000" y="44000"/>
                  </a:lnTo>
                  <a:lnTo>
                    <a:pt x="190000" y="42500"/>
                  </a:lnTo>
                  <a:lnTo>
                    <a:pt x="191000" y="36500"/>
                  </a:lnTo>
                  <a:lnTo>
                    <a:pt x="192000" y="30500"/>
                  </a:lnTo>
                  <a:lnTo>
                    <a:pt x="193000" y="33000"/>
                  </a:lnTo>
                  <a:lnTo>
                    <a:pt x="194000" y="38000"/>
                  </a:lnTo>
                </a:path>
              </a:pathLst>
            </a:custGeom>
            <a:noFill/>
            <a:ln w="10477" cap="rnd">
              <a:solidFill>
                <a:srgbClr val="40536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1" name="Rectangle 420"/>
            <p:cNvSpPr/>
            <p:nvPr/>
          </p:nvSpPr>
          <p:spPr>
            <a:xfrm>
              <a:off x="5057775" y="8601075"/>
              <a:ext cx="3543300" cy="64770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2" name="Rectangle 421"/>
            <p:cNvSpPr/>
            <p:nvPr/>
          </p:nvSpPr>
          <p:spPr>
            <a:xfrm>
              <a:off x="5114925" y="8662988"/>
              <a:ext cx="3448050" cy="481012"/>
            </a:xfrm>
            <a:custGeom>
              <a:avLst/>
              <a:gdLst/>
              <a:ahLst/>
              <a:cxnLst/>
              <a:rect l="0" t="0" r="r" b="b"/>
              <a:pathLst>
                <a:path w="362000" h="50500" fill="none">
                  <a:moveTo>
                    <a:pt x="0" y="37000"/>
                  </a:moveTo>
                  <a:lnTo>
                    <a:pt x="1000" y="35000"/>
                  </a:lnTo>
                  <a:lnTo>
                    <a:pt x="2000" y="34500"/>
                  </a:lnTo>
                  <a:lnTo>
                    <a:pt x="3000" y="30500"/>
                  </a:lnTo>
                  <a:lnTo>
                    <a:pt x="4000" y="30000"/>
                  </a:lnTo>
                  <a:lnTo>
                    <a:pt x="5000" y="33000"/>
                  </a:lnTo>
                  <a:lnTo>
                    <a:pt x="6000" y="34500"/>
                  </a:lnTo>
                  <a:lnTo>
                    <a:pt x="7000" y="36000"/>
                  </a:lnTo>
                  <a:lnTo>
                    <a:pt x="8000" y="38000"/>
                  </a:lnTo>
                  <a:lnTo>
                    <a:pt x="9000" y="36500"/>
                  </a:lnTo>
                  <a:lnTo>
                    <a:pt x="10000" y="33000"/>
                  </a:lnTo>
                  <a:lnTo>
                    <a:pt x="11000" y="30500"/>
                  </a:lnTo>
                  <a:lnTo>
                    <a:pt x="12000" y="28000"/>
                  </a:lnTo>
                  <a:lnTo>
                    <a:pt x="13000" y="26000"/>
                  </a:lnTo>
                  <a:lnTo>
                    <a:pt x="14000" y="24500"/>
                  </a:lnTo>
                  <a:lnTo>
                    <a:pt x="15000" y="28500"/>
                  </a:lnTo>
                  <a:lnTo>
                    <a:pt x="16000" y="33000"/>
                  </a:lnTo>
                  <a:lnTo>
                    <a:pt x="17000" y="34500"/>
                  </a:lnTo>
                  <a:lnTo>
                    <a:pt x="18000" y="37500"/>
                  </a:lnTo>
                  <a:lnTo>
                    <a:pt x="19000" y="33500"/>
                  </a:lnTo>
                  <a:lnTo>
                    <a:pt x="20000" y="25000"/>
                  </a:lnTo>
                  <a:lnTo>
                    <a:pt x="21000" y="20000"/>
                  </a:lnTo>
                  <a:lnTo>
                    <a:pt x="22000" y="17000"/>
                  </a:lnTo>
                  <a:lnTo>
                    <a:pt x="23000" y="18500"/>
                  </a:lnTo>
                  <a:lnTo>
                    <a:pt x="24000" y="22500"/>
                  </a:lnTo>
                  <a:lnTo>
                    <a:pt x="25000" y="28000"/>
                  </a:lnTo>
                  <a:lnTo>
                    <a:pt x="26000" y="29500"/>
                  </a:lnTo>
                  <a:lnTo>
                    <a:pt x="27000" y="27500"/>
                  </a:lnTo>
                  <a:lnTo>
                    <a:pt x="28000" y="26000"/>
                  </a:lnTo>
                  <a:lnTo>
                    <a:pt x="29000" y="21500"/>
                  </a:lnTo>
                  <a:lnTo>
                    <a:pt x="30000" y="15500"/>
                  </a:lnTo>
                  <a:lnTo>
                    <a:pt x="31000" y="11500"/>
                  </a:lnTo>
                  <a:lnTo>
                    <a:pt x="32000" y="11000"/>
                  </a:lnTo>
                  <a:lnTo>
                    <a:pt x="33000" y="12000"/>
                  </a:lnTo>
                  <a:lnTo>
                    <a:pt x="34000" y="17500"/>
                  </a:lnTo>
                  <a:lnTo>
                    <a:pt x="35000" y="25000"/>
                  </a:lnTo>
                  <a:lnTo>
                    <a:pt x="36000" y="30000"/>
                  </a:lnTo>
                  <a:lnTo>
                    <a:pt x="37000" y="29500"/>
                  </a:lnTo>
                  <a:lnTo>
                    <a:pt x="38000" y="28500"/>
                  </a:lnTo>
                  <a:lnTo>
                    <a:pt x="39000" y="25000"/>
                  </a:lnTo>
                  <a:lnTo>
                    <a:pt x="40000" y="21000"/>
                  </a:lnTo>
                  <a:lnTo>
                    <a:pt x="41000" y="18500"/>
                  </a:lnTo>
                  <a:lnTo>
                    <a:pt x="42000" y="21500"/>
                  </a:lnTo>
                  <a:lnTo>
                    <a:pt x="43000" y="24000"/>
                  </a:lnTo>
                  <a:lnTo>
                    <a:pt x="44000" y="26500"/>
                  </a:lnTo>
                  <a:lnTo>
                    <a:pt x="45000" y="30000"/>
                  </a:lnTo>
                  <a:lnTo>
                    <a:pt x="46000" y="26000"/>
                  </a:lnTo>
                  <a:lnTo>
                    <a:pt x="47000" y="22500"/>
                  </a:lnTo>
                  <a:lnTo>
                    <a:pt x="48000" y="19500"/>
                  </a:lnTo>
                  <a:lnTo>
                    <a:pt x="49000" y="14000"/>
                  </a:lnTo>
                  <a:lnTo>
                    <a:pt x="50000" y="13500"/>
                  </a:lnTo>
                  <a:lnTo>
                    <a:pt x="51000" y="19000"/>
                  </a:lnTo>
                  <a:lnTo>
                    <a:pt x="52000" y="25500"/>
                  </a:lnTo>
                  <a:lnTo>
                    <a:pt x="53000" y="27500"/>
                  </a:lnTo>
                  <a:lnTo>
                    <a:pt x="54000" y="34000"/>
                  </a:lnTo>
                  <a:lnTo>
                    <a:pt x="55000" y="38000"/>
                  </a:lnTo>
                  <a:lnTo>
                    <a:pt x="56000" y="37000"/>
                  </a:lnTo>
                  <a:lnTo>
                    <a:pt x="57000" y="33000"/>
                  </a:lnTo>
                  <a:lnTo>
                    <a:pt x="58000" y="31000"/>
                  </a:lnTo>
                  <a:lnTo>
                    <a:pt x="59000" y="28000"/>
                  </a:lnTo>
                  <a:lnTo>
                    <a:pt x="60000" y="26500"/>
                  </a:lnTo>
                  <a:lnTo>
                    <a:pt x="61000" y="30500"/>
                  </a:lnTo>
                  <a:lnTo>
                    <a:pt x="62000" y="35500"/>
                  </a:lnTo>
                  <a:lnTo>
                    <a:pt x="63000" y="37000"/>
                  </a:lnTo>
                  <a:lnTo>
                    <a:pt x="64000" y="40000"/>
                  </a:lnTo>
                  <a:lnTo>
                    <a:pt x="65000" y="39500"/>
                  </a:lnTo>
                  <a:lnTo>
                    <a:pt x="66000" y="36500"/>
                  </a:lnTo>
                  <a:lnTo>
                    <a:pt x="67000" y="35500"/>
                  </a:lnTo>
                  <a:lnTo>
                    <a:pt x="68000" y="36500"/>
                  </a:lnTo>
                  <a:lnTo>
                    <a:pt x="69000" y="37000"/>
                  </a:lnTo>
                  <a:lnTo>
                    <a:pt x="70000" y="40000"/>
                  </a:lnTo>
                  <a:lnTo>
                    <a:pt x="71000" y="42500"/>
                  </a:lnTo>
                  <a:lnTo>
                    <a:pt x="72000" y="44000"/>
                  </a:lnTo>
                  <a:lnTo>
                    <a:pt x="73000" y="41000"/>
                  </a:lnTo>
                  <a:lnTo>
                    <a:pt x="74000" y="39000"/>
                  </a:lnTo>
                  <a:lnTo>
                    <a:pt x="75000" y="35000"/>
                  </a:lnTo>
                  <a:lnTo>
                    <a:pt x="76000" y="31500"/>
                  </a:lnTo>
                  <a:lnTo>
                    <a:pt x="77000" y="32500"/>
                  </a:lnTo>
                  <a:lnTo>
                    <a:pt x="78000" y="36000"/>
                  </a:lnTo>
                  <a:lnTo>
                    <a:pt x="79000" y="37500"/>
                  </a:lnTo>
                  <a:lnTo>
                    <a:pt x="80000" y="40000"/>
                  </a:lnTo>
                  <a:lnTo>
                    <a:pt x="81000" y="40500"/>
                  </a:lnTo>
                  <a:lnTo>
                    <a:pt x="82000" y="36500"/>
                  </a:lnTo>
                  <a:lnTo>
                    <a:pt x="83000" y="32500"/>
                  </a:lnTo>
                  <a:lnTo>
                    <a:pt x="84000" y="29000"/>
                  </a:lnTo>
                  <a:lnTo>
                    <a:pt x="85000" y="24500"/>
                  </a:lnTo>
                  <a:lnTo>
                    <a:pt x="86000" y="19500"/>
                  </a:lnTo>
                  <a:lnTo>
                    <a:pt x="87000" y="19000"/>
                  </a:lnTo>
                  <a:lnTo>
                    <a:pt x="88000" y="22500"/>
                  </a:lnTo>
                  <a:lnTo>
                    <a:pt x="89000" y="24000"/>
                  </a:lnTo>
                  <a:lnTo>
                    <a:pt x="90000" y="27000"/>
                  </a:lnTo>
                  <a:lnTo>
                    <a:pt x="91000" y="31500"/>
                  </a:lnTo>
                  <a:lnTo>
                    <a:pt x="92000" y="31000"/>
                  </a:lnTo>
                  <a:lnTo>
                    <a:pt x="93000" y="27500"/>
                  </a:lnTo>
                  <a:lnTo>
                    <a:pt x="94000" y="26000"/>
                  </a:lnTo>
                  <a:lnTo>
                    <a:pt x="95000" y="22000"/>
                  </a:lnTo>
                  <a:lnTo>
                    <a:pt x="96000" y="17000"/>
                  </a:lnTo>
                  <a:lnTo>
                    <a:pt x="97000" y="13500"/>
                  </a:lnTo>
                  <a:lnTo>
                    <a:pt x="98000" y="14000"/>
                  </a:lnTo>
                  <a:lnTo>
                    <a:pt x="99000" y="17500"/>
                  </a:lnTo>
                  <a:lnTo>
                    <a:pt x="100000" y="19500"/>
                  </a:lnTo>
                  <a:lnTo>
                    <a:pt x="101000" y="26500"/>
                  </a:lnTo>
                  <a:lnTo>
                    <a:pt x="102000" y="31000"/>
                  </a:lnTo>
                  <a:lnTo>
                    <a:pt x="103000" y="32000"/>
                  </a:lnTo>
                  <a:lnTo>
                    <a:pt x="104000" y="32000"/>
                  </a:lnTo>
                  <a:lnTo>
                    <a:pt x="105000" y="31500"/>
                  </a:lnTo>
                  <a:lnTo>
                    <a:pt x="106000" y="28000"/>
                  </a:lnTo>
                  <a:lnTo>
                    <a:pt x="107000" y="24000"/>
                  </a:lnTo>
                  <a:lnTo>
                    <a:pt x="108000" y="21000"/>
                  </a:lnTo>
                  <a:lnTo>
                    <a:pt x="109000" y="26000"/>
                  </a:lnTo>
                  <a:lnTo>
                    <a:pt x="110000" y="26000"/>
                  </a:lnTo>
                  <a:lnTo>
                    <a:pt x="111000" y="30000"/>
                  </a:lnTo>
                  <a:lnTo>
                    <a:pt x="112000" y="37000"/>
                  </a:lnTo>
                  <a:lnTo>
                    <a:pt x="113000" y="36000"/>
                  </a:lnTo>
                  <a:lnTo>
                    <a:pt x="114000" y="34500"/>
                  </a:lnTo>
                  <a:lnTo>
                    <a:pt x="115000" y="33000"/>
                  </a:lnTo>
                  <a:lnTo>
                    <a:pt x="116000" y="33000"/>
                  </a:lnTo>
                  <a:lnTo>
                    <a:pt x="117000" y="36000"/>
                  </a:lnTo>
                  <a:lnTo>
                    <a:pt x="118000" y="40500"/>
                  </a:lnTo>
                  <a:lnTo>
                    <a:pt x="119000" y="41500"/>
                  </a:lnTo>
                  <a:lnTo>
                    <a:pt x="120000" y="42000"/>
                  </a:lnTo>
                  <a:lnTo>
                    <a:pt x="121000" y="40500"/>
                  </a:lnTo>
                  <a:lnTo>
                    <a:pt x="122000" y="35500"/>
                  </a:lnTo>
                  <a:lnTo>
                    <a:pt x="123000" y="32500"/>
                  </a:lnTo>
                  <a:lnTo>
                    <a:pt x="124000" y="35000"/>
                  </a:lnTo>
                  <a:lnTo>
                    <a:pt x="125000" y="36000"/>
                  </a:lnTo>
                  <a:lnTo>
                    <a:pt x="126000" y="39500"/>
                  </a:lnTo>
                  <a:lnTo>
                    <a:pt x="127000" y="40500"/>
                  </a:lnTo>
                  <a:lnTo>
                    <a:pt x="128000" y="37500"/>
                  </a:lnTo>
                  <a:lnTo>
                    <a:pt x="129000" y="34500"/>
                  </a:lnTo>
                  <a:lnTo>
                    <a:pt x="130000" y="32500"/>
                  </a:lnTo>
                  <a:lnTo>
                    <a:pt x="131000" y="30000"/>
                  </a:lnTo>
                  <a:lnTo>
                    <a:pt x="132000" y="26000"/>
                  </a:lnTo>
                  <a:lnTo>
                    <a:pt x="133000" y="23000"/>
                  </a:lnTo>
                  <a:lnTo>
                    <a:pt x="134000" y="28500"/>
                  </a:lnTo>
                  <a:lnTo>
                    <a:pt x="135000" y="30500"/>
                  </a:lnTo>
                  <a:lnTo>
                    <a:pt x="136000" y="32500"/>
                  </a:lnTo>
                  <a:lnTo>
                    <a:pt x="137000" y="38000"/>
                  </a:lnTo>
                  <a:lnTo>
                    <a:pt x="138000" y="35000"/>
                  </a:lnTo>
                  <a:lnTo>
                    <a:pt x="139000" y="28500"/>
                  </a:lnTo>
                  <a:lnTo>
                    <a:pt x="140000" y="23500"/>
                  </a:lnTo>
                  <a:lnTo>
                    <a:pt x="141000" y="18000"/>
                  </a:lnTo>
                  <a:lnTo>
                    <a:pt x="142000" y="8500"/>
                  </a:lnTo>
                  <a:lnTo>
                    <a:pt x="143000" y="4000"/>
                  </a:lnTo>
                  <a:lnTo>
                    <a:pt x="144000" y="1000"/>
                  </a:lnTo>
                  <a:lnTo>
                    <a:pt x="145000" y="0"/>
                  </a:lnTo>
                  <a:lnTo>
                    <a:pt x="146000" y="3000"/>
                  </a:lnTo>
                  <a:lnTo>
                    <a:pt x="147000" y="9500"/>
                  </a:lnTo>
                  <a:lnTo>
                    <a:pt x="148000" y="18500"/>
                  </a:lnTo>
                  <a:lnTo>
                    <a:pt x="149000" y="27000"/>
                  </a:lnTo>
                  <a:lnTo>
                    <a:pt x="150000" y="31500"/>
                  </a:lnTo>
                  <a:lnTo>
                    <a:pt x="151000" y="27500"/>
                  </a:lnTo>
                  <a:lnTo>
                    <a:pt x="152000" y="23000"/>
                  </a:lnTo>
                  <a:lnTo>
                    <a:pt x="153000" y="21500"/>
                  </a:lnTo>
                  <a:lnTo>
                    <a:pt x="154000" y="26000"/>
                  </a:lnTo>
                  <a:lnTo>
                    <a:pt x="155000" y="32000"/>
                  </a:lnTo>
                  <a:lnTo>
                    <a:pt x="156000" y="33500"/>
                  </a:lnTo>
                  <a:lnTo>
                    <a:pt x="157000" y="31500"/>
                  </a:lnTo>
                  <a:lnTo>
                    <a:pt x="158000" y="31000"/>
                  </a:lnTo>
                  <a:lnTo>
                    <a:pt x="159000" y="35000"/>
                  </a:lnTo>
                  <a:lnTo>
                    <a:pt x="160000" y="40000"/>
                  </a:lnTo>
                  <a:lnTo>
                    <a:pt x="161000" y="43500"/>
                  </a:lnTo>
                  <a:lnTo>
                    <a:pt x="162000" y="45000"/>
                  </a:lnTo>
                  <a:lnTo>
                    <a:pt x="163000" y="40000"/>
                  </a:lnTo>
                  <a:lnTo>
                    <a:pt x="164000" y="34000"/>
                  </a:lnTo>
                  <a:lnTo>
                    <a:pt x="165000" y="30500"/>
                  </a:lnTo>
                  <a:lnTo>
                    <a:pt x="166000" y="34500"/>
                  </a:lnTo>
                  <a:lnTo>
                    <a:pt x="167000" y="42000"/>
                  </a:lnTo>
                  <a:lnTo>
                    <a:pt x="168000" y="48000"/>
                  </a:lnTo>
                  <a:lnTo>
                    <a:pt x="169000" y="50000"/>
                  </a:lnTo>
                  <a:lnTo>
                    <a:pt x="170000" y="43000"/>
                  </a:lnTo>
                  <a:lnTo>
                    <a:pt x="171000" y="31500"/>
                  </a:lnTo>
                  <a:lnTo>
                    <a:pt x="172000" y="21000"/>
                  </a:lnTo>
                  <a:lnTo>
                    <a:pt x="173000" y="16500"/>
                  </a:lnTo>
                  <a:lnTo>
                    <a:pt x="174000" y="23500"/>
                  </a:lnTo>
                  <a:lnTo>
                    <a:pt x="175000" y="30500"/>
                  </a:lnTo>
                  <a:lnTo>
                    <a:pt x="176000" y="26500"/>
                  </a:lnTo>
                  <a:lnTo>
                    <a:pt x="177000" y="15000"/>
                  </a:lnTo>
                  <a:lnTo>
                    <a:pt x="178000" y="4500"/>
                  </a:lnTo>
                  <a:lnTo>
                    <a:pt x="179000" y="5000"/>
                  </a:lnTo>
                  <a:lnTo>
                    <a:pt x="180000" y="11000"/>
                  </a:lnTo>
                  <a:lnTo>
                    <a:pt x="181000" y="18500"/>
                  </a:lnTo>
                  <a:lnTo>
                    <a:pt x="182000" y="25500"/>
                  </a:lnTo>
                  <a:lnTo>
                    <a:pt x="183000" y="21000"/>
                  </a:lnTo>
                  <a:lnTo>
                    <a:pt x="184000" y="16500"/>
                  </a:lnTo>
                  <a:lnTo>
                    <a:pt x="185000" y="14500"/>
                  </a:lnTo>
                  <a:lnTo>
                    <a:pt x="186000" y="21500"/>
                  </a:lnTo>
                  <a:lnTo>
                    <a:pt x="187000" y="29500"/>
                  </a:lnTo>
                  <a:lnTo>
                    <a:pt x="188000" y="36000"/>
                  </a:lnTo>
                  <a:lnTo>
                    <a:pt x="189000" y="39000"/>
                  </a:lnTo>
                  <a:lnTo>
                    <a:pt x="190000" y="35500"/>
                  </a:lnTo>
                  <a:lnTo>
                    <a:pt x="191000" y="31500"/>
                  </a:lnTo>
                  <a:lnTo>
                    <a:pt x="192000" y="31500"/>
                  </a:lnTo>
                  <a:lnTo>
                    <a:pt x="193000" y="34500"/>
                  </a:lnTo>
                  <a:lnTo>
                    <a:pt x="194000" y="38000"/>
                  </a:lnTo>
                  <a:lnTo>
                    <a:pt x="195000" y="41000"/>
                  </a:lnTo>
                  <a:lnTo>
                    <a:pt x="196000" y="42500"/>
                  </a:lnTo>
                  <a:lnTo>
                    <a:pt x="197000" y="40000"/>
                  </a:lnTo>
                  <a:lnTo>
                    <a:pt x="198000" y="37500"/>
                  </a:lnTo>
                  <a:lnTo>
                    <a:pt x="199000" y="37000"/>
                  </a:lnTo>
                  <a:lnTo>
                    <a:pt x="200000" y="39000"/>
                  </a:lnTo>
                  <a:lnTo>
                    <a:pt x="201000" y="41000"/>
                  </a:lnTo>
                  <a:lnTo>
                    <a:pt x="202000" y="43000"/>
                  </a:lnTo>
                  <a:lnTo>
                    <a:pt x="203000" y="45000"/>
                  </a:lnTo>
                  <a:lnTo>
                    <a:pt x="204000" y="44000"/>
                  </a:lnTo>
                  <a:lnTo>
                    <a:pt x="205000" y="41500"/>
                  </a:lnTo>
                  <a:lnTo>
                    <a:pt x="206000" y="39500"/>
                  </a:lnTo>
                  <a:lnTo>
                    <a:pt x="207000" y="41500"/>
                  </a:lnTo>
                  <a:lnTo>
                    <a:pt x="208000" y="45000"/>
                  </a:lnTo>
                  <a:lnTo>
                    <a:pt x="209000" y="47500"/>
                  </a:lnTo>
                  <a:lnTo>
                    <a:pt x="210000" y="44000"/>
                  </a:lnTo>
                  <a:lnTo>
                    <a:pt x="211000" y="33500"/>
                  </a:lnTo>
                  <a:lnTo>
                    <a:pt x="212000" y="20500"/>
                  </a:lnTo>
                  <a:lnTo>
                    <a:pt x="213000" y="10000"/>
                  </a:lnTo>
                  <a:lnTo>
                    <a:pt x="214000" y="8000"/>
                  </a:lnTo>
                  <a:lnTo>
                    <a:pt x="215000" y="12000"/>
                  </a:lnTo>
                  <a:lnTo>
                    <a:pt x="216000" y="17500"/>
                  </a:lnTo>
                  <a:lnTo>
                    <a:pt x="217000" y="22500"/>
                  </a:lnTo>
                  <a:lnTo>
                    <a:pt x="218000" y="25500"/>
                  </a:lnTo>
                  <a:lnTo>
                    <a:pt x="219000" y="21000"/>
                  </a:lnTo>
                  <a:lnTo>
                    <a:pt x="220000" y="11500"/>
                  </a:lnTo>
                  <a:lnTo>
                    <a:pt x="221000" y="4000"/>
                  </a:lnTo>
                  <a:lnTo>
                    <a:pt x="222000" y="3000"/>
                  </a:lnTo>
                  <a:lnTo>
                    <a:pt x="223000" y="8500"/>
                  </a:lnTo>
                  <a:lnTo>
                    <a:pt x="224000" y="16000"/>
                  </a:lnTo>
                  <a:lnTo>
                    <a:pt x="225000" y="21500"/>
                  </a:lnTo>
                  <a:lnTo>
                    <a:pt x="226000" y="19500"/>
                  </a:lnTo>
                  <a:lnTo>
                    <a:pt x="227000" y="15000"/>
                  </a:lnTo>
                  <a:lnTo>
                    <a:pt x="228000" y="10500"/>
                  </a:lnTo>
                  <a:lnTo>
                    <a:pt x="229000" y="12500"/>
                  </a:lnTo>
                  <a:lnTo>
                    <a:pt x="230000" y="16000"/>
                  </a:lnTo>
                  <a:lnTo>
                    <a:pt x="231000" y="20000"/>
                  </a:lnTo>
                  <a:lnTo>
                    <a:pt x="232000" y="23000"/>
                  </a:lnTo>
                  <a:lnTo>
                    <a:pt x="233000" y="23500"/>
                  </a:lnTo>
                  <a:lnTo>
                    <a:pt x="234000" y="19000"/>
                  </a:lnTo>
                  <a:lnTo>
                    <a:pt x="235000" y="12000"/>
                  </a:lnTo>
                  <a:lnTo>
                    <a:pt x="236000" y="6000"/>
                  </a:lnTo>
                  <a:lnTo>
                    <a:pt x="237000" y="3000"/>
                  </a:lnTo>
                  <a:lnTo>
                    <a:pt x="238000" y="6000"/>
                  </a:lnTo>
                  <a:lnTo>
                    <a:pt x="239000" y="12500"/>
                  </a:lnTo>
                  <a:lnTo>
                    <a:pt x="240000" y="21000"/>
                  </a:lnTo>
                  <a:lnTo>
                    <a:pt x="241000" y="29500"/>
                  </a:lnTo>
                  <a:lnTo>
                    <a:pt x="242000" y="38000"/>
                  </a:lnTo>
                  <a:lnTo>
                    <a:pt x="243000" y="43500"/>
                  </a:lnTo>
                  <a:lnTo>
                    <a:pt x="244000" y="35500"/>
                  </a:lnTo>
                  <a:lnTo>
                    <a:pt x="245000" y="29000"/>
                  </a:lnTo>
                  <a:lnTo>
                    <a:pt x="246000" y="20500"/>
                  </a:lnTo>
                  <a:lnTo>
                    <a:pt x="247000" y="24000"/>
                  </a:lnTo>
                  <a:lnTo>
                    <a:pt x="248000" y="28000"/>
                  </a:lnTo>
                  <a:lnTo>
                    <a:pt x="249000" y="33000"/>
                  </a:lnTo>
                  <a:lnTo>
                    <a:pt x="250000" y="38500"/>
                  </a:lnTo>
                  <a:lnTo>
                    <a:pt x="251000" y="43000"/>
                  </a:lnTo>
                  <a:lnTo>
                    <a:pt x="252000" y="45500"/>
                  </a:lnTo>
                  <a:lnTo>
                    <a:pt x="253000" y="42500"/>
                  </a:lnTo>
                  <a:lnTo>
                    <a:pt x="254000" y="36500"/>
                  </a:lnTo>
                  <a:lnTo>
                    <a:pt x="255000" y="32500"/>
                  </a:lnTo>
                  <a:lnTo>
                    <a:pt x="256000" y="38000"/>
                  </a:lnTo>
                  <a:lnTo>
                    <a:pt x="257000" y="44500"/>
                  </a:lnTo>
                  <a:lnTo>
                    <a:pt x="258000" y="49500"/>
                  </a:lnTo>
                  <a:lnTo>
                    <a:pt x="259000" y="47000"/>
                  </a:lnTo>
                  <a:lnTo>
                    <a:pt x="260000" y="41500"/>
                  </a:lnTo>
                  <a:lnTo>
                    <a:pt x="261000" y="36000"/>
                  </a:lnTo>
                  <a:lnTo>
                    <a:pt x="262000" y="34500"/>
                  </a:lnTo>
                  <a:lnTo>
                    <a:pt x="263000" y="36500"/>
                  </a:lnTo>
                  <a:lnTo>
                    <a:pt x="264000" y="39500"/>
                  </a:lnTo>
                  <a:lnTo>
                    <a:pt x="265000" y="40500"/>
                  </a:lnTo>
                  <a:lnTo>
                    <a:pt x="266000" y="30500"/>
                  </a:lnTo>
                  <a:lnTo>
                    <a:pt x="267000" y="21000"/>
                  </a:lnTo>
                  <a:lnTo>
                    <a:pt x="268000" y="17500"/>
                  </a:lnTo>
                  <a:lnTo>
                    <a:pt x="269000" y="21500"/>
                  </a:lnTo>
                  <a:lnTo>
                    <a:pt x="270000" y="26000"/>
                  </a:lnTo>
                  <a:lnTo>
                    <a:pt x="271000" y="31500"/>
                  </a:lnTo>
                  <a:lnTo>
                    <a:pt x="272000" y="35000"/>
                  </a:lnTo>
                  <a:lnTo>
                    <a:pt x="273000" y="35000"/>
                  </a:lnTo>
                  <a:lnTo>
                    <a:pt x="274000" y="30000"/>
                  </a:lnTo>
                  <a:lnTo>
                    <a:pt x="275000" y="21000"/>
                  </a:lnTo>
                  <a:lnTo>
                    <a:pt x="276000" y="13000"/>
                  </a:lnTo>
                  <a:lnTo>
                    <a:pt x="277000" y="7500"/>
                  </a:lnTo>
                  <a:lnTo>
                    <a:pt x="278000" y="8500"/>
                  </a:lnTo>
                  <a:lnTo>
                    <a:pt x="279000" y="12500"/>
                  </a:lnTo>
                  <a:lnTo>
                    <a:pt x="280000" y="19000"/>
                  </a:lnTo>
                  <a:lnTo>
                    <a:pt x="281000" y="26000"/>
                  </a:lnTo>
                  <a:lnTo>
                    <a:pt x="282000" y="31000"/>
                  </a:lnTo>
                  <a:lnTo>
                    <a:pt x="283000" y="33000"/>
                  </a:lnTo>
                  <a:lnTo>
                    <a:pt x="284000" y="29500"/>
                  </a:lnTo>
                  <a:lnTo>
                    <a:pt x="285000" y="22500"/>
                  </a:lnTo>
                  <a:lnTo>
                    <a:pt x="286000" y="17000"/>
                  </a:lnTo>
                  <a:lnTo>
                    <a:pt x="287000" y="14000"/>
                  </a:lnTo>
                  <a:lnTo>
                    <a:pt x="288000" y="17500"/>
                  </a:lnTo>
                  <a:lnTo>
                    <a:pt x="289000" y="24500"/>
                  </a:lnTo>
                  <a:lnTo>
                    <a:pt x="290000" y="33500"/>
                  </a:lnTo>
                  <a:lnTo>
                    <a:pt x="291000" y="41000"/>
                  </a:lnTo>
                  <a:lnTo>
                    <a:pt x="292000" y="45000"/>
                  </a:lnTo>
                  <a:lnTo>
                    <a:pt x="293000" y="45000"/>
                  </a:lnTo>
                  <a:lnTo>
                    <a:pt x="294000" y="41000"/>
                  </a:lnTo>
                  <a:lnTo>
                    <a:pt x="295000" y="36000"/>
                  </a:lnTo>
                  <a:lnTo>
                    <a:pt x="296000" y="32000"/>
                  </a:lnTo>
                  <a:lnTo>
                    <a:pt x="297000" y="34000"/>
                  </a:lnTo>
                  <a:lnTo>
                    <a:pt x="298000" y="40500"/>
                  </a:lnTo>
                  <a:lnTo>
                    <a:pt x="299000" y="47000"/>
                  </a:lnTo>
                  <a:lnTo>
                    <a:pt x="300000" y="50500"/>
                  </a:lnTo>
                  <a:lnTo>
                    <a:pt x="301000" y="48000"/>
                  </a:lnTo>
                  <a:lnTo>
                    <a:pt x="302000" y="43500"/>
                  </a:lnTo>
                  <a:lnTo>
                    <a:pt x="303000" y="39000"/>
                  </a:lnTo>
                  <a:lnTo>
                    <a:pt x="304000" y="36500"/>
                  </a:lnTo>
                  <a:lnTo>
                    <a:pt x="305000" y="38500"/>
                  </a:lnTo>
                  <a:lnTo>
                    <a:pt x="306000" y="42500"/>
                  </a:lnTo>
                  <a:lnTo>
                    <a:pt x="307000" y="45500"/>
                  </a:lnTo>
                  <a:lnTo>
                    <a:pt x="308000" y="41500"/>
                  </a:lnTo>
                  <a:lnTo>
                    <a:pt x="309000" y="34000"/>
                  </a:lnTo>
                  <a:lnTo>
                    <a:pt x="310000" y="27000"/>
                  </a:lnTo>
                  <a:lnTo>
                    <a:pt x="311000" y="25000"/>
                  </a:lnTo>
                  <a:lnTo>
                    <a:pt x="312000" y="29000"/>
                  </a:lnTo>
                  <a:lnTo>
                    <a:pt x="313000" y="36000"/>
                  </a:lnTo>
                  <a:lnTo>
                    <a:pt x="314000" y="41000"/>
                  </a:lnTo>
                  <a:lnTo>
                    <a:pt x="315000" y="42500"/>
                  </a:lnTo>
                  <a:lnTo>
                    <a:pt x="316000" y="36000"/>
                  </a:lnTo>
                  <a:lnTo>
                    <a:pt x="317000" y="27000"/>
                  </a:lnTo>
                  <a:lnTo>
                    <a:pt x="318000" y="16000"/>
                  </a:lnTo>
                  <a:lnTo>
                    <a:pt x="319000" y="8500"/>
                  </a:lnTo>
                  <a:lnTo>
                    <a:pt x="320000" y="7500"/>
                  </a:lnTo>
                  <a:lnTo>
                    <a:pt x="321000" y="13000"/>
                  </a:lnTo>
                  <a:lnTo>
                    <a:pt x="322000" y="21000"/>
                  </a:lnTo>
                  <a:lnTo>
                    <a:pt x="323000" y="29000"/>
                  </a:lnTo>
                  <a:lnTo>
                    <a:pt x="324000" y="31500"/>
                  </a:lnTo>
                  <a:lnTo>
                    <a:pt x="325000" y="24000"/>
                  </a:lnTo>
                  <a:lnTo>
                    <a:pt x="326000" y="17000"/>
                  </a:lnTo>
                  <a:lnTo>
                    <a:pt x="327000" y="14000"/>
                  </a:lnTo>
                  <a:lnTo>
                    <a:pt x="328000" y="18000"/>
                  </a:lnTo>
                  <a:lnTo>
                    <a:pt x="329000" y="23500"/>
                  </a:lnTo>
                  <a:lnTo>
                    <a:pt x="330000" y="28500"/>
                  </a:lnTo>
                  <a:lnTo>
                    <a:pt x="331000" y="31500"/>
                  </a:lnTo>
                  <a:lnTo>
                    <a:pt x="332000" y="26500"/>
                  </a:lnTo>
                  <a:lnTo>
                    <a:pt x="333000" y="16500"/>
                  </a:lnTo>
                  <a:lnTo>
                    <a:pt x="334000" y="6500"/>
                  </a:lnTo>
                  <a:lnTo>
                    <a:pt x="335000" y="2000"/>
                  </a:lnTo>
                  <a:lnTo>
                    <a:pt x="336000" y="6000"/>
                  </a:lnTo>
                  <a:lnTo>
                    <a:pt x="337000" y="12500"/>
                  </a:lnTo>
                  <a:lnTo>
                    <a:pt x="338000" y="20000"/>
                  </a:lnTo>
                  <a:lnTo>
                    <a:pt x="339000" y="26500"/>
                  </a:lnTo>
                  <a:lnTo>
                    <a:pt x="340000" y="30500"/>
                  </a:lnTo>
                  <a:lnTo>
                    <a:pt x="341000" y="28500"/>
                  </a:lnTo>
                  <a:lnTo>
                    <a:pt x="342000" y="22000"/>
                  </a:lnTo>
                  <a:lnTo>
                    <a:pt x="343000" y="13500"/>
                  </a:lnTo>
                  <a:lnTo>
                    <a:pt x="344000" y="11000"/>
                  </a:lnTo>
                  <a:lnTo>
                    <a:pt x="345000" y="18500"/>
                  </a:lnTo>
                  <a:lnTo>
                    <a:pt x="346000" y="31500"/>
                  </a:lnTo>
                  <a:lnTo>
                    <a:pt x="347000" y="41500"/>
                  </a:lnTo>
                  <a:lnTo>
                    <a:pt x="348000" y="41000"/>
                  </a:lnTo>
                  <a:lnTo>
                    <a:pt x="349000" y="33000"/>
                  </a:lnTo>
                  <a:lnTo>
                    <a:pt x="350000" y="25000"/>
                  </a:lnTo>
                  <a:lnTo>
                    <a:pt x="351000" y="22500"/>
                  </a:lnTo>
                  <a:lnTo>
                    <a:pt x="352000" y="25500"/>
                  </a:lnTo>
                  <a:lnTo>
                    <a:pt x="353000" y="29500"/>
                  </a:lnTo>
                  <a:lnTo>
                    <a:pt x="354000" y="34500"/>
                  </a:lnTo>
                  <a:lnTo>
                    <a:pt x="355000" y="38500"/>
                  </a:lnTo>
                  <a:lnTo>
                    <a:pt x="356000" y="42000"/>
                  </a:lnTo>
                  <a:lnTo>
                    <a:pt x="357000" y="42500"/>
                  </a:lnTo>
                  <a:lnTo>
                    <a:pt x="358000" y="36500"/>
                  </a:lnTo>
                  <a:lnTo>
                    <a:pt x="359000" y="31000"/>
                  </a:lnTo>
                  <a:lnTo>
                    <a:pt x="360000" y="29500"/>
                  </a:lnTo>
                  <a:lnTo>
                    <a:pt x="361000" y="33500"/>
                  </a:lnTo>
                  <a:lnTo>
                    <a:pt x="362000" y="38000"/>
                  </a:lnTo>
                </a:path>
              </a:pathLst>
            </a:custGeom>
            <a:noFill/>
            <a:ln w="10001" cap="rnd">
              <a:solidFill>
                <a:srgbClr val="40536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3" name="Rectangle 422"/>
            <p:cNvSpPr/>
            <p:nvPr/>
          </p:nvSpPr>
          <p:spPr>
            <a:xfrm>
              <a:off x="5105400" y="8786812"/>
              <a:ext cx="1352550" cy="280988"/>
            </a:xfrm>
            <a:custGeom>
              <a:avLst/>
              <a:gdLst/>
              <a:ahLst/>
              <a:cxnLst/>
              <a:rect l="0" t="0" r="r" b="b"/>
              <a:pathLst>
                <a:path w="142000" h="29500" fill="none">
                  <a:moveTo>
                    <a:pt x="0" y="25000"/>
                  </a:moveTo>
                  <a:lnTo>
                    <a:pt x="1000" y="23000"/>
                  </a:lnTo>
                  <a:lnTo>
                    <a:pt x="2000" y="22000"/>
                  </a:lnTo>
                  <a:lnTo>
                    <a:pt x="3000" y="21000"/>
                  </a:lnTo>
                  <a:lnTo>
                    <a:pt x="4000" y="18500"/>
                  </a:lnTo>
                  <a:lnTo>
                    <a:pt x="5000" y="18000"/>
                  </a:lnTo>
                  <a:lnTo>
                    <a:pt x="6000" y="20500"/>
                  </a:lnTo>
                  <a:lnTo>
                    <a:pt x="7000" y="21000"/>
                  </a:lnTo>
                  <a:lnTo>
                    <a:pt x="8000" y="22000"/>
                  </a:lnTo>
                  <a:lnTo>
                    <a:pt x="9000" y="24500"/>
                  </a:lnTo>
                  <a:lnTo>
                    <a:pt x="10000" y="22500"/>
                  </a:lnTo>
                  <a:lnTo>
                    <a:pt x="11000" y="20000"/>
                  </a:lnTo>
                  <a:lnTo>
                    <a:pt x="12000" y="17500"/>
                  </a:lnTo>
                  <a:lnTo>
                    <a:pt x="13000" y="15500"/>
                  </a:lnTo>
                  <a:lnTo>
                    <a:pt x="14000" y="13500"/>
                  </a:lnTo>
                  <a:lnTo>
                    <a:pt x="15000" y="13000"/>
                  </a:lnTo>
                  <a:lnTo>
                    <a:pt x="16000" y="17500"/>
                  </a:lnTo>
                  <a:lnTo>
                    <a:pt x="17000" y="19000"/>
                  </a:lnTo>
                  <a:lnTo>
                    <a:pt x="18000" y="20500"/>
                  </a:lnTo>
                  <a:lnTo>
                    <a:pt x="19000" y="22500"/>
                  </a:lnTo>
                  <a:lnTo>
                    <a:pt x="20000" y="18000"/>
                  </a:lnTo>
                  <a:lnTo>
                    <a:pt x="21000" y="13500"/>
                  </a:lnTo>
                  <a:lnTo>
                    <a:pt x="22000" y="11000"/>
                  </a:lnTo>
                  <a:lnTo>
                    <a:pt x="23000" y="7000"/>
                  </a:lnTo>
                  <a:lnTo>
                    <a:pt x="24000" y="7500"/>
                  </a:lnTo>
                  <a:lnTo>
                    <a:pt x="25000" y="10000"/>
                  </a:lnTo>
                  <a:lnTo>
                    <a:pt x="26000" y="13000"/>
                  </a:lnTo>
                  <a:lnTo>
                    <a:pt x="27000" y="15000"/>
                  </a:lnTo>
                  <a:lnTo>
                    <a:pt x="28000" y="13000"/>
                  </a:lnTo>
                  <a:lnTo>
                    <a:pt x="29000" y="12000"/>
                  </a:lnTo>
                  <a:lnTo>
                    <a:pt x="30000" y="7500"/>
                  </a:lnTo>
                  <a:lnTo>
                    <a:pt x="31000" y="4000"/>
                  </a:lnTo>
                  <a:lnTo>
                    <a:pt x="32000" y="1000"/>
                  </a:lnTo>
                  <a:lnTo>
                    <a:pt x="33000" y="0"/>
                  </a:lnTo>
                  <a:lnTo>
                    <a:pt x="34000" y="3500"/>
                  </a:lnTo>
                  <a:lnTo>
                    <a:pt x="35000" y="6500"/>
                  </a:lnTo>
                  <a:lnTo>
                    <a:pt x="36000" y="8500"/>
                  </a:lnTo>
                  <a:lnTo>
                    <a:pt x="37000" y="12500"/>
                  </a:lnTo>
                  <a:lnTo>
                    <a:pt x="38000" y="14500"/>
                  </a:lnTo>
                  <a:lnTo>
                    <a:pt x="39000" y="14000"/>
                  </a:lnTo>
                  <a:lnTo>
                    <a:pt x="40000" y="11500"/>
                  </a:lnTo>
                  <a:lnTo>
                    <a:pt x="41000" y="9000"/>
                  </a:lnTo>
                  <a:lnTo>
                    <a:pt x="42000" y="7000"/>
                  </a:lnTo>
                  <a:lnTo>
                    <a:pt x="43000" y="10000"/>
                  </a:lnTo>
                  <a:lnTo>
                    <a:pt x="44000" y="12000"/>
                  </a:lnTo>
                  <a:lnTo>
                    <a:pt x="45000" y="12000"/>
                  </a:lnTo>
                  <a:lnTo>
                    <a:pt x="46000" y="15500"/>
                  </a:lnTo>
                  <a:lnTo>
                    <a:pt x="47000" y="12500"/>
                  </a:lnTo>
                  <a:lnTo>
                    <a:pt x="48000" y="9000"/>
                  </a:lnTo>
                  <a:lnTo>
                    <a:pt x="49000" y="7000"/>
                  </a:lnTo>
                  <a:lnTo>
                    <a:pt x="50000" y="3500"/>
                  </a:lnTo>
                  <a:lnTo>
                    <a:pt x="51000" y="3000"/>
                  </a:lnTo>
                  <a:lnTo>
                    <a:pt x="52000" y="7000"/>
                  </a:lnTo>
                  <a:lnTo>
                    <a:pt x="53000" y="11500"/>
                  </a:lnTo>
                  <a:lnTo>
                    <a:pt x="54000" y="15000"/>
                  </a:lnTo>
                  <a:lnTo>
                    <a:pt x="55000" y="19500"/>
                  </a:lnTo>
                  <a:lnTo>
                    <a:pt x="56000" y="23500"/>
                  </a:lnTo>
                  <a:lnTo>
                    <a:pt x="57000" y="23000"/>
                  </a:lnTo>
                  <a:lnTo>
                    <a:pt x="58000" y="20000"/>
                  </a:lnTo>
                  <a:lnTo>
                    <a:pt x="59000" y="18500"/>
                  </a:lnTo>
                  <a:lnTo>
                    <a:pt x="60000" y="16500"/>
                  </a:lnTo>
                  <a:lnTo>
                    <a:pt x="61000" y="14500"/>
                  </a:lnTo>
                  <a:lnTo>
                    <a:pt x="62000" y="18500"/>
                  </a:lnTo>
                  <a:lnTo>
                    <a:pt x="63000" y="20500"/>
                  </a:lnTo>
                  <a:lnTo>
                    <a:pt x="64000" y="21500"/>
                  </a:lnTo>
                  <a:lnTo>
                    <a:pt x="65000" y="25000"/>
                  </a:lnTo>
                  <a:lnTo>
                    <a:pt x="66000" y="25000"/>
                  </a:lnTo>
                  <a:lnTo>
                    <a:pt x="67000" y="24000"/>
                  </a:lnTo>
                  <a:lnTo>
                    <a:pt x="68000" y="23000"/>
                  </a:lnTo>
                  <a:lnTo>
                    <a:pt x="69000" y="23500"/>
                  </a:lnTo>
                  <a:lnTo>
                    <a:pt x="70000" y="25000"/>
                  </a:lnTo>
                  <a:lnTo>
                    <a:pt x="71000" y="27000"/>
                  </a:lnTo>
                  <a:lnTo>
                    <a:pt x="72000" y="29500"/>
                  </a:lnTo>
                  <a:lnTo>
                    <a:pt x="73000" y="29000"/>
                  </a:lnTo>
                  <a:lnTo>
                    <a:pt x="74000" y="26000"/>
                  </a:lnTo>
                  <a:lnTo>
                    <a:pt x="75000" y="24500"/>
                  </a:lnTo>
                  <a:lnTo>
                    <a:pt x="76000" y="23000"/>
                  </a:lnTo>
                  <a:lnTo>
                    <a:pt x="77000" y="19500"/>
                  </a:lnTo>
                  <a:lnTo>
                    <a:pt x="78000" y="20000"/>
                  </a:lnTo>
                  <a:lnTo>
                    <a:pt x="79000" y="22000"/>
                  </a:lnTo>
                  <a:lnTo>
                    <a:pt x="80000" y="23500"/>
                  </a:lnTo>
                  <a:lnTo>
                    <a:pt x="81000" y="25500"/>
                  </a:lnTo>
                  <a:lnTo>
                    <a:pt x="82000" y="26000"/>
                  </a:lnTo>
                  <a:lnTo>
                    <a:pt x="83000" y="22500"/>
                  </a:lnTo>
                  <a:lnTo>
                    <a:pt x="84000" y="19000"/>
                  </a:lnTo>
                  <a:lnTo>
                    <a:pt x="85000" y="15500"/>
                  </a:lnTo>
                  <a:lnTo>
                    <a:pt x="86000" y="12000"/>
                  </a:lnTo>
                  <a:lnTo>
                    <a:pt x="87000" y="8000"/>
                  </a:lnTo>
                  <a:lnTo>
                    <a:pt x="88000" y="7000"/>
                  </a:lnTo>
                  <a:lnTo>
                    <a:pt x="89000" y="10000"/>
                  </a:lnTo>
                  <a:lnTo>
                    <a:pt x="90000" y="11500"/>
                  </a:lnTo>
                  <a:lnTo>
                    <a:pt x="91000" y="13500"/>
                  </a:lnTo>
                  <a:lnTo>
                    <a:pt x="92000" y="17000"/>
                  </a:lnTo>
                  <a:lnTo>
                    <a:pt x="93000" y="17000"/>
                  </a:lnTo>
                  <a:lnTo>
                    <a:pt x="94000" y="13000"/>
                  </a:lnTo>
                  <a:lnTo>
                    <a:pt x="95000" y="12000"/>
                  </a:lnTo>
                  <a:lnTo>
                    <a:pt x="96000" y="8000"/>
                  </a:lnTo>
                  <a:lnTo>
                    <a:pt x="97000" y="5000"/>
                  </a:lnTo>
                  <a:lnTo>
                    <a:pt x="98000" y="1500"/>
                  </a:lnTo>
                  <a:lnTo>
                    <a:pt x="99000" y="3000"/>
                  </a:lnTo>
                  <a:lnTo>
                    <a:pt x="100000" y="6500"/>
                  </a:lnTo>
                  <a:lnTo>
                    <a:pt x="101000" y="8000"/>
                  </a:lnTo>
                  <a:lnTo>
                    <a:pt x="102000" y="12000"/>
                  </a:lnTo>
                  <a:lnTo>
                    <a:pt x="103000" y="16000"/>
                  </a:lnTo>
                  <a:lnTo>
                    <a:pt x="104000" y="18000"/>
                  </a:lnTo>
                  <a:lnTo>
                    <a:pt x="105000" y="19000"/>
                  </a:lnTo>
                  <a:lnTo>
                    <a:pt x="106000" y="17000"/>
                  </a:lnTo>
                  <a:lnTo>
                    <a:pt x="107000" y="14500"/>
                  </a:lnTo>
                  <a:lnTo>
                    <a:pt x="108000" y="11000"/>
                  </a:lnTo>
                  <a:lnTo>
                    <a:pt x="109000" y="9500"/>
                  </a:lnTo>
                  <a:lnTo>
                    <a:pt x="110000" y="14000"/>
                  </a:lnTo>
                  <a:lnTo>
                    <a:pt x="111000" y="15500"/>
                  </a:lnTo>
                  <a:lnTo>
                    <a:pt x="112000" y="16000"/>
                  </a:lnTo>
                  <a:lnTo>
                    <a:pt x="113000" y="20000"/>
                  </a:lnTo>
                  <a:lnTo>
                    <a:pt x="114000" y="23000"/>
                  </a:lnTo>
                  <a:lnTo>
                    <a:pt x="115000" y="22500"/>
                  </a:lnTo>
                  <a:lnTo>
                    <a:pt x="116000" y="21000"/>
                  </a:lnTo>
                  <a:lnTo>
                    <a:pt x="117000" y="21000"/>
                  </a:lnTo>
                  <a:lnTo>
                    <a:pt x="118000" y="24000"/>
                  </a:lnTo>
                  <a:lnTo>
                    <a:pt x="119000" y="26000"/>
                  </a:lnTo>
                  <a:lnTo>
                    <a:pt x="120000" y="28000"/>
                  </a:lnTo>
                  <a:lnTo>
                    <a:pt x="121000" y="28500"/>
                  </a:lnTo>
                  <a:lnTo>
                    <a:pt x="122000" y="26000"/>
                  </a:lnTo>
                  <a:lnTo>
                    <a:pt x="123000" y="24000"/>
                  </a:lnTo>
                  <a:lnTo>
                    <a:pt x="124000" y="21000"/>
                  </a:lnTo>
                  <a:lnTo>
                    <a:pt x="125000" y="22500"/>
                  </a:lnTo>
                  <a:lnTo>
                    <a:pt x="126000" y="22500"/>
                  </a:lnTo>
                  <a:lnTo>
                    <a:pt x="127000" y="24000"/>
                  </a:lnTo>
                  <a:lnTo>
                    <a:pt x="128000" y="26000"/>
                  </a:lnTo>
                  <a:lnTo>
                    <a:pt x="129000" y="24500"/>
                  </a:lnTo>
                  <a:lnTo>
                    <a:pt x="130000" y="21500"/>
                  </a:lnTo>
                  <a:lnTo>
                    <a:pt x="131000" y="19500"/>
                  </a:lnTo>
                  <a:lnTo>
                    <a:pt x="132000" y="17000"/>
                  </a:lnTo>
                  <a:lnTo>
                    <a:pt x="133000" y="13500"/>
                  </a:lnTo>
                  <a:lnTo>
                    <a:pt x="134000" y="11500"/>
                  </a:lnTo>
                  <a:lnTo>
                    <a:pt x="135000" y="18000"/>
                  </a:lnTo>
                  <a:lnTo>
                    <a:pt x="136000" y="18500"/>
                  </a:lnTo>
                  <a:lnTo>
                    <a:pt x="137000" y="18500"/>
                  </a:lnTo>
                  <a:lnTo>
                    <a:pt x="138000" y="22500"/>
                  </a:lnTo>
                  <a:lnTo>
                    <a:pt x="139000" y="21000"/>
                  </a:lnTo>
                  <a:lnTo>
                    <a:pt x="140000" y="16500"/>
                  </a:lnTo>
                  <a:lnTo>
                    <a:pt x="141000" y="12500"/>
                  </a:lnTo>
                  <a:lnTo>
                    <a:pt x="142000" y="8000"/>
                  </a:lnTo>
                </a:path>
              </a:pathLst>
            </a:custGeom>
            <a:noFill/>
            <a:ln w="19050" cap="rnd">
              <a:solidFill>
                <a:srgbClr val="88B747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2" name="04_Spatio_Temporal_Metadata_Fusion"/>
          <p:cNvGrpSpPr/>
          <p:nvPr/>
        </p:nvGrpSpPr>
        <p:grpSpPr>
          <a:xfrm>
            <a:off x="9020175" y="133350"/>
            <a:ext cx="9267825" cy="2676525"/>
            <a:chOff x="9020175" y="133350"/>
            <a:chExt cx="9267825" cy="2676525"/>
          </a:xfrm>
        </p:grpSpPr>
        <p:sp>
          <p:nvSpPr>
            <p:cNvPr id="425" name="Rectangle 424"/>
            <p:cNvSpPr/>
            <p:nvPr/>
          </p:nvSpPr>
          <p:spPr>
            <a:xfrm>
              <a:off x="9058275" y="133350"/>
              <a:ext cx="9229725" cy="2676525"/>
            </a:xfrm>
            <a:prstGeom prst="rect">
              <a:avLst/>
            </a:prstGeom>
            <a:solidFill>
              <a:srgbClr val="FBF0E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6" name="Text: Spatio-Temporal Metadata Fusion (STMF)"/>
            <p:cNvSpPr txBox="1"/>
            <p:nvPr/>
          </p:nvSpPr>
          <p:spPr>
            <a:xfrm>
              <a:off x="11263815" y="192977"/>
              <a:ext cx="4618620" cy="3714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950" b="1" i="0">
                  <a:solidFill>
                    <a:srgbClr val="111111"/>
                  </a:solidFill>
                  <a:latin typeface="Liberation Serif"/>
                </a:rPr>
                <a:t>Spatio-Temporal Metadata Fusion (STMF)</a:t>
              </a:r>
            </a:p>
          </p:txBody>
        </p:sp>
        <p:sp>
          <p:nvSpPr>
            <p:cNvPr id="427" name="Rectangle 426"/>
            <p:cNvSpPr/>
            <p:nvPr/>
          </p:nvSpPr>
          <p:spPr>
            <a:xfrm>
              <a:off x="9324975" y="619125"/>
              <a:ext cx="3276600" cy="428625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D3D3D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8" name="Rectangle 427"/>
            <p:cNvSpPr/>
            <p:nvPr/>
          </p:nvSpPr>
          <p:spPr>
            <a:xfrm>
              <a:off x="9353550" y="642938"/>
              <a:ext cx="3209925" cy="261938"/>
            </a:xfrm>
            <a:custGeom>
              <a:avLst/>
              <a:gdLst/>
              <a:ahLst/>
              <a:cxnLst/>
              <a:rect l="0" t="0" r="r" b="b"/>
              <a:pathLst>
                <a:path w="337000" h="27500" fill="none">
                  <a:moveTo>
                    <a:pt x="0" y="25000"/>
                  </a:moveTo>
                  <a:lnTo>
                    <a:pt x="1000" y="23000"/>
                  </a:lnTo>
                  <a:lnTo>
                    <a:pt x="2000" y="21000"/>
                  </a:lnTo>
                  <a:lnTo>
                    <a:pt x="3000" y="18500"/>
                  </a:lnTo>
                  <a:lnTo>
                    <a:pt x="4000" y="17000"/>
                  </a:lnTo>
                  <a:lnTo>
                    <a:pt x="5000" y="16500"/>
                  </a:lnTo>
                  <a:lnTo>
                    <a:pt x="6000" y="15500"/>
                  </a:lnTo>
                  <a:lnTo>
                    <a:pt x="7000" y="15500"/>
                  </a:lnTo>
                  <a:lnTo>
                    <a:pt x="8000" y="15500"/>
                  </a:lnTo>
                  <a:lnTo>
                    <a:pt x="9000" y="16500"/>
                  </a:lnTo>
                  <a:lnTo>
                    <a:pt x="10000" y="17000"/>
                  </a:lnTo>
                  <a:lnTo>
                    <a:pt x="11000" y="17500"/>
                  </a:lnTo>
                  <a:lnTo>
                    <a:pt x="12000" y="18500"/>
                  </a:lnTo>
                  <a:lnTo>
                    <a:pt x="13000" y="19000"/>
                  </a:lnTo>
                  <a:lnTo>
                    <a:pt x="14000" y="19500"/>
                  </a:lnTo>
                  <a:lnTo>
                    <a:pt x="15000" y="20500"/>
                  </a:lnTo>
                  <a:lnTo>
                    <a:pt x="16000" y="21000"/>
                  </a:lnTo>
                  <a:lnTo>
                    <a:pt x="17000" y="21000"/>
                  </a:lnTo>
                  <a:lnTo>
                    <a:pt x="18000" y="20500"/>
                  </a:lnTo>
                  <a:lnTo>
                    <a:pt x="19000" y="12000"/>
                  </a:lnTo>
                  <a:lnTo>
                    <a:pt x="20000" y="9500"/>
                  </a:lnTo>
                  <a:lnTo>
                    <a:pt x="21000" y="1000"/>
                  </a:lnTo>
                  <a:lnTo>
                    <a:pt x="22000" y="1000"/>
                  </a:lnTo>
                  <a:lnTo>
                    <a:pt x="23000" y="2500"/>
                  </a:lnTo>
                  <a:lnTo>
                    <a:pt x="24000" y="4500"/>
                  </a:lnTo>
                  <a:lnTo>
                    <a:pt x="25000" y="7500"/>
                  </a:lnTo>
                  <a:lnTo>
                    <a:pt x="26000" y="10500"/>
                  </a:lnTo>
                  <a:lnTo>
                    <a:pt x="27000" y="13000"/>
                  </a:lnTo>
                  <a:lnTo>
                    <a:pt x="28000" y="16000"/>
                  </a:lnTo>
                  <a:lnTo>
                    <a:pt x="29000" y="19500"/>
                  </a:lnTo>
                  <a:lnTo>
                    <a:pt x="30000" y="22500"/>
                  </a:lnTo>
                  <a:lnTo>
                    <a:pt x="31000" y="26000"/>
                  </a:lnTo>
                  <a:lnTo>
                    <a:pt x="32000" y="27500"/>
                  </a:lnTo>
                  <a:moveTo>
                    <a:pt x="47000" y="20500"/>
                  </a:moveTo>
                  <a:lnTo>
                    <a:pt x="48000" y="17500"/>
                  </a:lnTo>
                  <a:lnTo>
                    <a:pt x="49000" y="15000"/>
                  </a:lnTo>
                  <a:lnTo>
                    <a:pt x="50000" y="12500"/>
                  </a:lnTo>
                  <a:lnTo>
                    <a:pt x="51000" y="15000"/>
                  </a:lnTo>
                  <a:lnTo>
                    <a:pt x="52000" y="18500"/>
                  </a:lnTo>
                  <a:lnTo>
                    <a:pt x="53000" y="20500"/>
                  </a:lnTo>
                  <a:lnTo>
                    <a:pt x="54000" y="23000"/>
                  </a:lnTo>
                  <a:moveTo>
                    <a:pt x="61000" y="23000"/>
                  </a:moveTo>
                  <a:lnTo>
                    <a:pt x="62000" y="22000"/>
                  </a:lnTo>
                  <a:lnTo>
                    <a:pt x="63000" y="20500"/>
                  </a:lnTo>
                  <a:lnTo>
                    <a:pt x="64000" y="18500"/>
                  </a:lnTo>
                  <a:lnTo>
                    <a:pt x="65000" y="17500"/>
                  </a:lnTo>
                  <a:lnTo>
                    <a:pt x="66000" y="19000"/>
                  </a:lnTo>
                  <a:lnTo>
                    <a:pt x="67000" y="21000"/>
                  </a:lnTo>
                  <a:lnTo>
                    <a:pt x="68000" y="22000"/>
                  </a:lnTo>
                  <a:moveTo>
                    <a:pt x="75000" y="22500"/>
                  </a:moveTo>
                  <a:lnTo>
                    <a:pt x="76000" y="19500"/>
                  </a:lnTo>
                  <a:lnTo>
                    <a:pt x="77000" y="16000"/>
                  </a:lnTo>
                  <a:lnTo>
                    <a:pt x="78000" y="11000"/>
                  </a:lnTo>
                  <a:lnTo>
                    <a:pt x="79000" y="6000"/>
                  </a:lnTo>
                  <a:lnTo>
                    <a:pt x="80000" y="3500"/>
                  </a:lnTo>
                  <a:lnTo>
                    <a:pt x="81000" y="1000"/>
                  </a:lnTo>
                  <a:lnTo>
                    <a:pt x="82000" y="500"/>
                  </a:lnTo>
                  <a:lnTo>
                    <a:pt x="83000" y="1500"/>
                  </a:lnTo>
                  <a:lnTo>
                    <a:pt x="84000" y="4000"/>
                  </a:lnTo>
                  <a:lnTo>
                    <a:pt x="85000" y="7500"/>
                  </a:lnTo>
                  <a:lnTo>
                    <a:pt x="86000" y="11500"/>
                  </a:lnTo>
                  <a:lnTo>
                    <a:pt x="87000" y="16000"/>
                  </a:lnTo>
                  <a:lnTo>
                    <a:pt x="88000" y="19500"/>
                  </a:lnTo>
                  <a:lnTo>
                    <a:pt x="89000" y="22000"/>
                  </a:lnTo>
                  <a:moveTo>
                    <a:pt x="101000" y="21500"/>
                  </a:moveTo>
                  <a:lnTo>
                    <a:pt x="102000" y="20500"/>
                  </a:lnTo>
                  <a:lnTo>
                    <a:pt x="103000" y="18500"/>
                  </a:lnTo>
                  <a:lnTo>
                    <a:pt x="104000" y="18000"/>
                  </a:lnTo>
                  <a:lnTo>
                    <a:pt x="105000" y="18000"/>
                  </a:lnTo>
                  <a:lnTo>
                    <a:pt x="106000" y="18500"/>
                  </a:lnTo>
                  <a:lnTo>
                    <a:pt x="107000" y="19000"/>
                  </a:lnTo>
                  <a:moveTo>
                    <a:pt x="115000" y="22000"/>
                  </a:moveTo>
                  <a:lnTo>
                    <a:pt x="116000" y="16500"/>
                  </a:lnTo>
                  <a:lnTo>
                    <a:pt x="117000" y="11000"/>
                  </a:lnTo>
                  <a:lnTo>
                    <a:pt x="118000" y="9500"/>
                  </a:lnTo>
                  <a:lnTo>
                    <a:pt x="119000" y="9000"/>
                  </a:lnTo>
                  <a:lnTo>
                    <a:pt x="120000" y="10000"/>
                  </a:lnTo>
                  <a:lnTo>
                    <a:pt x="121000" y="10500"/>
                  </a:lnTo>
                  <a:lnTo>
                    <a:pt x="122000" y="12000"/>
                  </a:lnTo>
                  <a:lnTo>
                    <a:pt x="123000" y="13000"/>
                  </a:lnTo>
                  <a:lnTo>
                    <a:pt x="124000" y="12500"/>
                  </a:lnTo>
                  <a:lnTo>
                    <a:pt x="126000" y="19000"/>
                  </a:lnTo>
                  <a:lnTo>
                    <a:pt x="127000" y="19000"/>
                  </a:lnTo>
                  <a:lnTo>
                    <a:pt x="128000" y="19000"/>
                  </a:lnTo>
                  <a:moveTo>
                    <a:pt x="135000" y="19000"/>
                  </a:moveTo>
                  <a:lnTo>
                    <a:pt x="136000" y="18000"/>
                  </a:lnTo>
                  <a:lnTo>
                    <a:pt x="137000" y="15000"/>
                  </a:lnTo>
                  <a:lnTo>
                    <a:pt x="138000" y="13000"/>
                  </a:lnTo>
                  <a:lnTo>
                    <a:pt x="139000" y="12500"/>
                  </a:lnTo>
                  <a:lnTo>
                    <a:pt x="140000" y="13000"/>
                  </a:lnTo>
                  <a:lnTo>
                    <a:pt x="141000" y="15500"/>
                  </a:lnTo>
                  <a:lnTo>
                    <a:pt x="142000" y="19500"/>
                  </a:lnTo>
                  <a:lnTo>
                    <a:pt x="143000" y="22000"/>
                  </a:lnTo>
                  <a:moveTo>
                    <a:pt x="152000" y="21000"/>
                  </a:moveTo>
                  <a:lnTo>
                    <a:pt x="153000" y="20500"/>
                  </a:lnTo>
                  <a:lnTo>
                    <a:pt x="154000" y="13000"/>
                  </a:lnTo>
                  <a:lnTo>
                    <a:pt x="155000" y="11500"/>
                  </a:lnTo>
                  <a:lnTo>
                    <a:pt x="156000" y="9500"/>
                  </a:lnTo>
                  <a:lnTo>
                    <a:pt x="157000" y="6000"/>
                  </a:lnTo>
                  <a:lnTo>
                    <a:pt x="158000" y="3500"/>
                  </a:lnTo>
                  <a:lnTo>
                    <a:pt x="159000" y="1500"/>
                  </a:lnTo>
                  <a:lnTo>
                    <a:pt x="160000" y="1000"/>
                  </a:lnTo>
                  <a:lnTo>
                    <a:pt x="161000" y="3500"/>
                  </a:lnTo>
                  <a:lnTo>
                    <a:pt x="162000" y="8000"/>
                  </a:lnTo>
                  <a:lnTo>
                    <a:pt x="163000" y="13500"/>
                  </a:lnTo>
                  <a:lnTo>
                    <a:pt x="164000" y="19500"/>
                  </a:lnTo>
                  <a:lnTo>
                    <a:pt x="165000" y="22500"/>
                  </a:lnTo>
                  <a:moveTo>
                    <a:pt x="169000" y="23000"/>
                  </a:moveTo>
                  <a:lnTo>
                    <a:pt x="172000" y="17000"/>
                  </a:lnTo>
                  <a:lnTo>
                    <a:pt x="173000" y="17000"/>
                  </a:lnTo>
                  <a:lnTo>
                    <a:pt x="174000" y="17000"/>
                  </a:lnTo>
                  <a:lnTo>
                    <a:pt x="175000" y="17500"/>
                  </a:lnTo>
                  <a:lnTo>
                    <a:pt x="176000" y="20000"/>
                  </a:lnTo>
                  <a:lnTo>
                    <a:pt x="177000" y="21500"/>
                  </a:lnTo>
                  <a:moveTo>
                    <a:pt x="186000" y="19000"/>
                  </a:moveTo>
                  <a:lnTo>
                    <a:pt x="187000" y="14500"/>
                  </a:lnTo>
                  <a:lnTo>
                    <a:pt x="188000" y="6500"/>
                  </a:lnTo>
                  <a:lnTo>
                    <a:pt x="189000" y="4500"/>
                  </a:lnTo>
                  <a:lnTo>
                    <a:pt x="190000" y="5000"/>
                  </a:lnTo>
                  <a:lnTo>
                    <a:pt x="191000" y="7000"/>
                  </a:lnTo>
                  <a:lnTo>
                    <a:pt x="192000" y="9000"/>
                  </a:lnTo>
                  <a:lnTo>
                    <a:pt x="193000" y="12000"/>
                  </a:lnTo>
                  <a:lnTo>
                    <a:pt x="194000" y="14000"/>
                  </a:lnTo>
                  <a:lnTo>
                    <a:pt x="195000" y="17000"/>
                  </a:lnTo>
                  <a:lnTo>
                    <a:pt x="196000" y="19500"/>
                  </a:lnTo>
                  <a:lnTo>
                    <a:pt x="197000" y="21500"/>
                  </a:lnTo>
                  <a:lnTo>
                    <a:pt x="198000" y="23000"/>
                  </a:lnTo>
                  <a:moveTo>
                    <a:pt x="207000" y="23500"/>
                  </a:moveTo>
                  <a:lnTo>
                    <a:pt x="208000" y="21500"/>
                  </a:lnTo>
                  <a:lnTo>
                    <a:pt x="209000" y="19500"/>
                  </a:lnTo>
                  <a:lnTo>
                    <a:pt x="210000" y="16000"/>
                  </a:lnTo>
                  <a:lnTo>
                    <a:pt x="211000" y="13000"/>
                  </a:lnTo>
                  <a:lnTo>
                    <a:pt x="212000" y="10500"/>
                  </a:lnTo>
                  <a:lnTo>
                    <a:pt x="213000" y="11500"/>
                  </a:lnTo>
                  <a:lnTo>
                    <a:pt x="214000" y="13500"/>
                  </a:lnTo>
                  <a:lnTo>
                    <a:pt x="215000" y="17500"/>
                  </a:lnTo>
                  <a:lnTo>
                    <a:pt x="216000" y="20000"/>
                  </a:lnTo>
                  <a:lnTo>
                    <a:pt x="217000" y="22000"/>
                  </a:lnTo>
                  <a:moveTo>
                    <a:pt x="226000" y="21000"/>
                  </a:moveTo>
                  <a:lnTo>
                    <a:pt x="227000" y="17500"/>
                  </a:lnTo>
                  <a:lnTo>
                    <a:pt x="228000" y="11500"/>
                  </a:lnTo>
                  <a:lnTo>
                    <a:pt x="229000" y="7000"/>
                  </a:lnTo>
                  <a:lnTo>
                    <a:pt x="230000" y="3000"/>
                  </a:lnTo>
                  <a:lnTo>
                    <a:pt x="231000" y="500"/>
                  </a:lnTo>
                  <a:lnTo>
                    <a:pt x="234000" y="0"/>
                  </a:lnTo>
                  <a:lnTo>
                    <a:pt x="235000" y="2000"/>
                  </a:lnTo>
                  <a:lnTo>
                    <a:pt x="236000" y="5000"/>
                  </a:lnTo>
                  <a:lnTo>
                    <a:pt x="237000" y="8500"/>
                  </a:lnTo>
                  <a:lnTo>
                    <a:pt x="238000" y="13000"/>
                  </a:lnTo>
                  <a:lnTo>
                    <a:pt x="239000" y="18000"/>
                  </a:lnTo>
                  <a:lnTo>
                    <a:pt x="240000" y="20000"/>
                  </a:lnTo>
                  <a:lnTo>
                    <a:pt x="241000" y="23000"/>
                  </a:lnTo>
                  <a:moveTo>
                    <a:pt x="248000" y="21000"/>
                  </a:moveTo>
                  <a:lnTo>
                    <a:pt x="249000" y="19000"/>
                  </a:lnTo>
                  <a:lnTo>
                    <a:pt x="250000" y="16500"/>
                  </a:lnTo>
                  <a:lnTo>
                    <a:pt x="251000" y="14000"/>
                  </a:lnTo>
                  <a:lnTo>
                    <a:pt x="252000" y="14000"/>
                  </a:lnTo>
                  <a:lnTo>
                    <a:pt x="253000" y="15500"/>
                  </a:lnTo>
                  <a:lnTo>
                    <a:pt x="254000" y="17500"/>
                  </a:lnTo>
                  <a:lnTo>
                    <a:pt x="255000" y="20500"/>
                  </a:lnTo>
                  <a:lnTo>
                    <a:pt x="256000" y="21500"/>
                  </a:lnTo>
                  <a:lnTo>
                    <a:pt x="257000" y="23000"/>
                  </a:lnTo>
                  <a:moveTo>
                    <a:pt x="264000" y="23500"/>
                  </a:moveTo>
                  <a:lnTo>
                    <a:pt x="265000" y="20500"/>
                  </a:lnTo>
                  <a:lnTo>
                    <a:pt x="266000" y="18500"/>
                  </a:lnTo>
                  <a:lnTo>
                    <a:pt x="267000" y="15500"/>
                  </a:lnTo>
                  <a:lnTo>
                    <a:pt x="268000" y="14500"/>
                  </a:lnTo>
                  <a:lnTo>
                    <a:pt x="269000" y="15500"/>
                  </a:lnTo>
                  <a:lnTo>
                    <a:pt x="270000" y="18000"/>
                  </a:lnTo>
                  <a:lnTo>
                    <a:pt x="271000" y="20500"/>
                  </a:lnTo>
                  <a:lnTo>
                    <a:pt x="272000" y="22000"/>
                  </a:lnTo>
                  <a:moveTo>
                    <a:pt x="285000" y="23000"/>
                  </a:moveTo>
                  <a:lnTo>
                    <a:pt x="286000" y="22500"/>
                  </a:lnTo>
                  <a:lnTo>
                    <a:pt x="287000" y="22000"/>
                  </a:lnTo>
                  <a:lnTo>
                    <a:pt x="288000" y="22000"/>
                  </a:lnTo>
                  <a:lnTo>
                    <a:pt x="289000" y="22500"/>
                  </a:lnTo>
                  <a:lnTo>
                    <a:pt x="290000" y="23000"/>
                  </a:lnTo>
                  <a:moveTo>
                    <a:pt x="301000" y="23000"/>
                  </a:moveTo>
                  <a:lnTo>
                    <a:pt x="302000" y="20000"/>
                  </a:lnTo>
                  <a:lnTo>
                    <a:pt x="303000" y="18000"/>
                  </a:lnTo>
                  <a:lnTo>
                    <a:pt x="304000" y="13000"/>
                  </a:lnTo>
                  <a:lnTo>
                    <a:pt x="305000" y="8500"/>
                  </a:lnTo>
                  <a:lnTo>
                    <a:pt x="306000" y="5500"/>
                  </a:lnTo>
                  <a:lnTo>
                    <a:pt x="307000" y="3000"/>
                  </a:lnTo>
                  <a:lnTo>
                    <a:pt x="308000" y="1000"/>
                  </a:lnTo>
                  <a:lnTo>
                    <a:pt x="309000" y="500"/>
                  </a:lnTo>
                  <a:lnTo>
                    <a:pt x="310000" y="500"/>
                  </a:lnTo>
                  <a:lnTo>
                    <a:pt x="311000" y="2000"/>
                  </a:lnTo>
                  <a:lnTo>
                    <a:pt x="312000" y="3500"/>
                  </a:lnTo>
                  <a:lnTo>
                    <a:pt x="313000" y="6000"/>
                  </a:lnTo>
                  <a:lnTo>
                    <a:pt x="314000" y="8500"/>
                  </a:lnTo>
                  <a:lnTo>
                    <a:pt x="315000" y="11500"/>
                  </a:lnTo>
                  <a:lnTo>
                    <a:pt x="316000" y="14500"/>
                  </a:lnTo>
                  <a:lnTo>
                    <a:pt x="317000" y="17500"/>
                  </a:lnTo>
                  <a:lnTo>
                    <a:pt x="318000" y="20500"/>
                  </a:lnTo>
                  <a:lnTo>
                    <a:pt x="319000" y="22000"/>
                  </a:lnTo>
                  <a:lnTo>
                    <a:pt x="320000" y="23000"/>
                  </a:lnTo>
                  <a:moveTo>
                    <a:pt x="336000" y="23000"/>
                  </a:moveTo>
                  <a:lnTo>
                    <a:pt x="337000" y="23000"/>
                  </a:lnTo>
                </a:path>
              </a:pathLst>
            </a:custGeom>
            <a:noFill/>
            <a:ln w="13811" cap="rnd">
              <a:solidFill>
                <a:srgbClr val="7EA45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9" name="Rectangle 428"/>
            <p:cNvSpPr/>
            <p:nvPr/>
          </p:nvSpPr>
          <p:spPr>
            <a:xfrm>
              <a:off x="10287000" y="695325"/>
              <a:ext cx="838200" cy="2095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0" name="Text: Region 1"/>
            <p:cNvSpPr txBox="1"/>
            <p:nvPr/>
          </p:nvSpPr>
          <p:spPr>
            <a:xfrm>
              <a:off x="10297604" y="687705"/>
              <a:ext cx="759842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Region 1</a:t>
              </a:r>
            </a:p>
          </p:txBody>
        </p:sp>
        <p:sp>
          <p:nvSpPr>
            <p:cNvPr id="431" name="Rectangle 430"/>
            <p:cNvSpPr/>
            <p:nvPr/>
          </p:nvSpPr>
          <p:spPr>
            <a:xfrm>
              <a:off x="9658350" y="876300"/>
              <a:ext cx="3276600" cy="428625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D3D3D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2" name="Rectangle 431"/>
            <p:cNvSpPr/>
            <p:nvPr/>
          </p:nvSpPr>
          <p:spPr>
            <a:xfrm>
              <a:off x="9686925" y="900112"/>
              <a:ext cx="3038475" cy="261938"/>
            </a:xfrm>
            <a:custGeom>
              <a:avLst/>
              <a:gdLst/>
              <a:ahLst/>
              <a:cxnLst/>
              <a:rect l="0" t="0" r="r" b="b"/>
              <a:pathLst>
                <a:path w="319000" h="27500" fill="none">
                  <a:moveTo>
                    <a:pt x="0" y="24500"/>
                  </a:moveTo>
                  <a:lnTo>
                    <a:pt x="1000" y="22500"/>
                  </a:lnTo>
                  <a:lnTo>
                    <a:pt x="2000" y="20000"/>
                  </a:lnTo>
                  <a:lnTo>
                    <a:pt x="3000" y="18500"/>
                  </a:lnTo>
                  <a:lnTo>
                    <a:pt x="4000" y="17000"/>
                  </a:lnTo>
                  <a:lnTo>
                    <a:pt x="5000" y="15500"/>
                  </a:lnTo>
                  <a:lnTo>
                    <a:pt x="6000" y="15000"/>
                  </a:lnTo>
                  <a:lnTo>
                    <a:pt x="7000" y="15000"/>
                  </a:lnTo>
                  <a:lnTo>
                    <a:pt x="8000" y="15500"/>
                  </a:lnTo>
                  <a:lnTo>
                    <a:pt x="9000" y="16000"/>
                  </a:lnTo>
                  <a:lnTo>
                    <a:pt x="10000" y="16500"/>
                  </a:lnTo>
                  <a:lnTo>
                    <a:pt x="11000" y="17500"/>
                  </a:lnTo>
                  <a:lnTo>
                    <a:pt x="12000" y="18000"/>
                  </a:lnTo>
                  <a:lnTo>
                    <a:pt x="13000" y="18500"/>
                  </a:lnTo>
                  <a:lnTo>
                    <a:pt x="14000" y="19000"/>
                  </a:lnTo>
                  <a:lnTo>
                    <a:pt x="15000" y="19500"/>
                  </a:lnTo>
                  <a:lnTo>
                    <a:pt x="16000" y="20500"/>
                  </a:lnTo>
                  <a:lnTo>
                    <a:pt x="17000" y="20500"/>
                  </a:lnTo>
                  <a:lnTo>
                    <a:pt x="18000" y="20000"/>
                  </a:lnTo>
                  <a:lnTo>
                    <a:pt x="19000" y="10500"/>
                  </a:lnTo>
                  <a:lnTo>
                    <a:pt x="20000" y="9500"/>
                  </a:lnTo>
                  <a:lnTo>
                    <a:pt x="21000" y="500"/>
                  </a:lnTo>
                  <a:lnTo>
                    <a:pt x="22000" y="1000"/>
                  </a:lnTo>
                  <a:lnTo>
                    <a:pt x="23000" y="2500"/>
                  </a:lnTo>
                  <a:lnTo>
                    <a:pt x="24000" y="4000"/>
                  </a:lnTo>
                  <a:lnTo>
                    <a:pt x="25000" y="7500"/>
                  </a:lnTo>
                  <a:lnTo>
                    <a:pt x="26000" y="9500"/>
                  </a:lnTo>
                  <a:lnTo>
                    <a:pt x="27000" y="13500"/>
                  </a:lnTo>
                  <a:lnTo>
                    <a:pt x="28000" y="16500"/>
                  </a:lnTo>
                  <a:lnTo>
                    <a:pt x="29000" y="18500"/>
                  </a:lnTo>
                  <a:lnTo>
                    <a:pt x="30000" y="21500"/>
                  </a:lnTo>
                  <a:lnTo>
                    <a:pt x="31000" y="24500"/>
                  </a:lnTo>
                  <a:lnTo>
                    <a:pt x="32000" y="27500"/>
                  </a:lnTo>
                  <a:moveTo>
                    <a:pt x="47000" y="19500"/>
                  </a:moveTo>
                  <a:lnTo>
                    <a:pt x="48000" y="16500"/>
                  </a:lnTo>
                  <a:lnTo>
                    <a:pt x="49000" y="13000"/>
                  </a:lnTo>
                  <a:lnTo>
                    <a:pt x="50000" y="12500"/>
                  </a:lnTo>
                  <a:lnTo>
                    <a:pt x="51000" y="15000"/>
                  </a:lnTo>
                  <a:lnTo>
                    <a:pt x="52000" y="17500"/>
                  </a:lnTo>
                  <a:lnTo>
                    <a:pt x="53000" y="20000"/>
                  </a:lnTo>
                  <a:lnTo>
                    <a:pt x="54000" y="22000"/>
                  </a:lnTo>
                  <a:moveTo>
                    <a:pt x="61000" y="22000"/>
                  </a:moveTo>
                  <a:lnTo>
                    <a:pt x="62000" y="21000"/>
                  </a:lnTo>
                  <a:lnTo>
                    <a:pt x="63000" y="19500"/>
                  </a:lnTo>
                  <a:lnTo>
                    <a:pt x="64000" y="17500"/>
                  </a:lnTo>
                  <a:lnTo>
                    <a:pt x="65000" y="17500"/>
                  </a:lnTo>
                  <a:lnTo>
                    <a:pt x="66000" y="18500"/>
                  </a:lnTo>
                  <a:lnTo>
                    <a:pt x="67000" y="20500"/>
                  </a:lnTo>
                  <a:lnTo>
                    <a:pt x="68000" y="21500"/>
                  </a:lnTo>
                  <a:moveTo>
                    <a:pt x="75000" y="21000"/>
                  </a:moveTo>
                  <a:lnTo>
                    <a:pt x="76000" y="18500"/>
                  </a:lnTo>
                  <a:lnTo>
                    <a:pt x="77000" y="15000"/>
                  </a:lnTo>
                  <a:lnTo>
                    <a:pt x="78000" y="10000"/>
                  </a:lnTo>
                  <a:lnTo>
                    <a:pt x="79000" y="5500"/>
                  </a:lnTo>
                  <a:lnTo>
                    <a:pt x="80000" y="3000"/>
                  </a:lnTo>
                  <a:lnTo>
                    <a:pt x="81000" y="1000"/>
                  </a:lnTo>
                  <a:lnTo>
                    <a:pt x="82000" y="0"/>
                  </a:lnTo>
                  <a:lnTo>
                    <a:pt x="83000" y="1500"/>
                  </a:lnTo>
                  <a:lnTo>
                    <a:pt x="84000" y="3500"/>
                  </a:lnTo>
                  <a:lnTo>
                    <a:pt x="85000" y="7500"/>
                  </a:lnTo>
                  <a:lnTo>
                    <a:pt x="86000" y="10500"/>
                  </a:lnTo>
                  <a:lnTo>
                    <a:pt x="87000" y="15500"/>
                  </a:lnTo>
                  <a:lnTo>
                    <a:pt x="88000" y="19000"/>
                  </a:lnTo>
                  <a:lnTo>
                    <a:pt x="89000" y="21000"/>
                  </a:lnTo>
                  <a:moveTo>
                    <a:pt x="101000" y="21000"/>
                  </a:moveTo>
                  <a:lnTo>
                    <a:pt x="102000" y="19500"/>
                  </a:lnTo>
                  <a:lnTo>
                    <a:pt x="103000" y="18000"/>
                  </a:lnTo>
                  <a:lnTo>
                    <a:pt x="104000" y="17500"/>
                  </a:lnTo>
                  <a:lnTo>
                    <a:pt x="105000" y="17500"/>
                  </a:lnTo>
                  <a:lnTo>
                    <a:pt x="106000" y="19000"/>
                  </a:lnTo>
                  <a:lnTo>
                    <a:pt x="107000" y="19500"/>
                  </a:lnTo>
                  <a:lnTo>
                    <a:pt x="108000" y="21500"/>
                  </a:lnTo>
                  <a:moveTo>
                    <a:pt x="116000" y="17500"/>
                  </a:moveTo>
                  <a:lnTo>
                    <a:pt x="117000" y="10000"/>
                  </a:lnTo>
                  <a:lnTo>
                    <a:pt x="118000" y="9500"/>
                  </a:lnTo>
                  <a:lnTo>
                    <a:pt x="119000" y="9500"/>
                  </a:lnTo>
                  <a:lnTo>
                    <a:pt x="120000" y="9500"/>
                  </a:lnTo>
                  <a:lnTo>
                    <a:pt x="121000" y="10000"/>
                  </a:lnTo>
                  <a:lnTo>
                    <a:pt x="122000" y="11000"/>
                  </a:lnTo>
                  <a:lnTo>
                    <a:pt x="123000" y="11500"/>
                  </a:lnTo>
                  <a:lnTo>
                    <a:pt x="126000" y="16500"/>
                  </a:lnTo>
                  <a:lnTo>
                    <a:pt x="127000" y="17500"/>
                  </a:lnTo>
                  <a:lnTo>
                    <a:pt x="128000" y="18000"/>
                  </a:lnTo>
                  <a:moveTo>
                    <a:pt x="134000" y="21500"/>
                  </a:moveTo>
                  <a:lnTo>
                    <a:pt x="135000" y="20500"/>
                  </a:lnTo>
                  <a:lnTo>
                    <a:pt x="136000" y="17500"/>
                  </a:lnTo>
                  <a:lnTo>
                    <a:pt x="137000" y="13500"/>
                  </a:lnTo>
                  <a:lnTo>
                    <a:pt x="139000" y="12000"/>
                  </a:lnTo>
                  <a:lnTo>
                    <a:pt x="140000" y="13000"/>
                  </a:lnTo>
                  <a:lnTo>
                    <a:pt x="141000" y="14500"/>
                  </a:lnTo>
                  <a:lnTo>
                    <a:pt x="142000" y="18000"/>
                  </a:lnTo>
                  <a:moveTo>
                    <a:pt x="154000" y="14000"/>
                  </a:moveTo>
                  <a:lnTo>
                    <a:pt x="155000" y="12500"/>
                  </a:lnTo>
                  <a:lnTo>
                    <a:pt x="156000" y="8500"/>
                  </a:lnTo>
                  <a:lnTo>
                    <a:pt x="157000" y="5500"/>
                  </a:lnTo>
                  <a:lnTo>
                    <a:pt x="158000" y="2500"/>
                  </a:lnTo>
                  <a:lnTo>
                    <a:pt x="159000" y="1000"/>
                  </a:lnTo>
                  <a:lnTo>
                    <a:pt x="160000" y="1000"/>
                  </a:lnTo>
                  <a:lnTo>
                    <a:pt x="161000" y="2000"/>
                  </a:lnTo>
                  <a:lnTo>
                    <a:pt x="162000" y="7500"/>
                  </a:lnTo>
                  <a:lnTo>
                    <a:pt x="163000" y="11000"/>
                  </a:lnTo>
                  <a:moveTo>
                    <a:pt x="170000" y="20000"/>
                  </a:moveTo>
                  <a:lnTo>
                    <a:pt x="171000" y="19500"/>
                  </a:lnTo>
                  <a:lnTo>
                    <a:pt x="172000" y="17500"/>
                  </a:lnTo>
                  <a:lnTo>
                    <a:pt x="173000" y="16500"/>
                  </a:lnTo>
                  <a:lnTo>
                    <a:pt x="174000" y="16500"/>
                  </a:lnTo>
                  <a:lnTo>
                    <a:pt x="175000" y="18000"/>
                  </a:lnTo>
                  <a:lnTo>
                    <a:pt x="176000" y="20000"/>
                  </a:lnTo>
                  <a:lnTo>
                    <a:pt x="177000" y="21000"/>
                  </a:lnTo>
                  <a:moveTo>
                    <a:pt x="186000" y="18500"/>
                  </a:moveTo>
                  <a:lnTo>
                    <a:pt x="187000" y="13500"/>
                  </a:lnTo>
                  <a:lnTo>
                    <a:pt x="188000" y="5000"/>
                  </a:lnTo>
                  <a:lnTo>
                    <a:pt x="189000" y="5000"/>
                  </a:lnTo>
                  <a:lnTo>
                    <a:pt x="190000" y="5000"/>
                  </a:lnTo>
                  <a:lnTo>
                    <a:pt x="191000" y="7000"/>
                  </a:lnTo>
                  <a:lnTo>
                    <a:pt x="192000" y="9500"/>
                  </a:lnTo>
                  <a:lnTo>
                    <a:pt x="193000" y="11000"/>
                  </a:lnTo>
                  <a:lnTo>
                    <a:pt x="194000" y="13000"/>
                  </a:lnTo>
                  <a:lnTo>
                    <a:pt x="195000" y="16500"/>
                  </a:lnTo>
                  <a:lnTo>
                    <a:pt x="196000" y="19500"/>
                  </a:lnTo>
                  <a:lnTo>
                    <a:pt x="197000" y="21000"/>
                  </a:lnTo>
                  <a:moveTo>
                    <a:pt x="208000" y="20500"/>
                  </a:moveTo>
                  <a:lnTo>
                    <a:pt x="209000" y="19000"/>
                  </a:lnTo>
                  <a:lnTo>
                    <a:pt x="210000" y="16000"/>
                  </a:lnTo>
                  <a:lnTo>
                    <a:pt x="211000" y="12500"/>
                  </a:lnTo>
                  <a:lnTo>
                    <a:pt x="212000" y="10500"/>
                  </a:lnTo>
                  <a:lnTo>
                    <a:pt x="213000" y="10500"/>
                  </a:lnTo>
                  <a:lnTo>
                    <a:pt x="214000" y="13000"/>
                  </a:lnTo>
                  <a:lnTo>
                    <a:pt x="215000" y="16000"/>
                  </a:lnTo>
                  <a:lnTo>
                    <a:pt x="216000" y="19000"/>
                  </a:lnTo>
                  <a:lnTo>
                    <a:pt x="217000" y="21000"/>
                  </a:lnTo>
                  <a:moveTo>
                    <a:pt x="226000" y="20000"/>
                  </a:moveTo>
                  <a:lnTo>
                    <a:pt x="227000" y="17000"/>
                  </a:lnTo>
                  <a:lnTo>
                    <a:pt x="228000" y="12500"/>
                  </a:lnTo>
                  <a:lnTo>
                    <a:pt x="229000" y="7000"/>
                  </a:lnTo>
                  <a:lnTo>
                    <a:pt x="230000" y="3000"/>
                  </a:lnTo>
                  <a:lnTo>
                    <a:pt x="231000" y="500"/>
                  </a:lnTo>
                  <a:lnTo>
                    <a:pt x="234000" y="0"/>
                  </a:lnTo>
                  <a:lnTo>
                    <a:pt x="235000" y="2000"/>
                  </a:lnTo>
                  <a:lnTo>
                    <a:pt x="236000" y="5500"/>
                  </a:lnTo>
                  <a:lnTo>
                    <a:pt x="237000" y="8000"/>
                  </a:lnTo>
                  <a:lnTo>
                    <a:pt x="238000" y="12500"/>
                  </a:lnTo>
                  <a:lnTo>
                    <a:pt x="239000" y="16500"/>
                  </a:lnTo>
                  <a:lnTo>
                    <a:pt x="240000" y="19500"/>
                  </a:lnTo>
                  <a:lnTo>
                    <a:pt x="241000" y="22000"/>
                  </a:lnTo>
                  <a:moveTo>
                    <a:pt x="248000" y="20500"/>
                  </a:moveTo>
                  <a:lnTo>
                    <a:pt x="249000" y="18500"/>
                  </a:lnTo>
                  <a:lnTo>
                    <a:pt x="250000" y="16500"/>
                  </a:lnTo>
                  <a:lnTo>
                    <a:pt x="251000" y="13500"/>
                  </a:lnTo>
                  <a:lnTo>
                    <a:pt x="252000" y="13500"/>
                  </a:lnTo>
                  <a:lnTo>
                    <a:pt x="253000" y="15000"/>
                  </a:lnTo>
                  <a:lnTo>
                    <a:pt x="254000" y="17500"/>
                  </a:lnTo>
                  <a:lnTo>
                    <a:pt x="255000" y="19500"/>
                  </a:lnTo>
                  <a:lnTo>
                    <a:pt x="256000" y="21000"/>
                  </a:lnTo>
                  <a:moveTo>
                    <a:pt x="265000" y="20000"/>
                  </a:moveTo>
                  <a:lnTo>
                    <a:pt x="266000" y="18000"/>
                  </a:lnTo>
                  <a:lnTo>
                    <a:pt x="267000" y="15500"/>
                  </a:lnTo>
                  <a:lnTo>
                    <a:pt x="268000" y="14000"/>
                  </a:lnTo>
                  <a:lnTo>
                    <a:pt x="269000" y="15500"/>
                  </a:lnTo>
                  <a:lnTo>
                    <a:pt x="270000" y="18000"/>
                  </a:lnTo>
                  <a:lnTo>
                    <a:pt x="271000" y="20000"/>
                  </a:lnTo>
                  <a:lnTo>
                    <a:pt x="272000" y="21500"/>
                  </a:lnTo>
                  <a:moveTo>
                    <a:pt x="285000" y="21500"/>
                  </a:moveTo>
                  <a:lnTo>
                    <a:pt x="286000" y="21500"/>
                  </a:lnTo>
                  <a:lnTo>
                    <a:pt x="287000" y="21000"/>
                  </a:lnTo>
                  <a:lnTo>
                    <a:pt x="288000" y="21000"/>
                  </a:lnTo>
                  <a:lnTo>
                    <a:pt x="289000" y="21500"/>
                  </a:lnTo>
                  <a:lnTo>
                    <a:pt x="290000" y="22000"/>
                  </a:lnTo>
                  <a:moveTo>
                    <a:pt x="302000" y="20000"/>
                  </a:moveTo>
                  <a:lnTo>
                    <a:pt x="303000" y="17000"/>
                  </a:lnTo>
                  <a:lnTo>
                    <a:pt x="304000" y="13000"/>
                  </a:lnTo>
                  <a:lnTo>
                    <a:pt x="305000" y="9000"/>
                  </a:lnTo>
                  <a:lnTo>
                    <a:pt x="306000" y="5000"/>
                  </a:lnTo>
                  <a:lnTo>
                    <a:pt x="307000" y="2500"/>
                  </a:lnTo>
                  <a:lnTo>
                    <a:pt x="308000" y="1000"/>
                  </a:lnTo>
                  <a:lnTo>
                    <a:pt x="309000" y="0"/>
                  </a:lnTo>
                  <a:lnTo>
                    <a:pt x="310000" y="500"/>
                  </a:lnTo>
                  <a:lnTo>
                    <a:pt x="311000" y="2000"/>
                  </a:lnTo>
                  <a:lnTo>
                    <a:pt x="312000" y="3500"/>
                  </a:lnTo>
                  <a:lnTo>
                    <a:pt x="313000" y="6000"/>
                  </a:lnTo>
                  <a:lnTo>
                    <a:pt x="314000" y="8000"/>
                  </a:lnTo>
                  <a:lnTo>
                    <a:pt x="315000" y="10500"/>
                  </a:lnTo>
                  <a:lnTo>
                    <a:pt x="316000" y="13500"/>
                  </a:lnTo>
                  <a:lnTo>
                    <a:pt x="317000" y="16500"/>
                  </a:lnTo>
                  <a:lnTo>
                    <a:pt x="318000" y="19500"/>
                  </a:lnTo>
                  <a:lnTo>
                    <a:pt x="319000" y="21000"/>
                  </a:lnTo>
                </a:path>
              </a:pathLst>
            </a:custGeom>
            <a:noFill/>
            <a:ln w="13811" cap="rnd">
              <a:solidFill>
                <a:srgbClr val="DD853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3" name="Rectangle 432"/>
            <p:cNvSpPr/>
            <p:nvPr/>
          </p:nvSpPr>
          <p:spPr>
            <a:xfrm>
              <a:off x="10753725" y="952500"/>
              <a:ext cx="838200" cy="2095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4" name="Text: Region 2"/>
            <p:cNvSpPr txBox="1"/>
            <p:nvPr/>
          </p:nvSpPr>
          <p:spPr>
            <a:xfrm>
              <a:off x="10764329" y="944880"/>
              <a:ext cx="759842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Region 2</a:t>
              </a:r>
            </a:p>
          </p:txBody>
        </p:sp>
        <p:sp>
          <p:nvSpPr>
            <p:cNvPr id="435" name="Rectangle 434"/>
            <p:cNvSpPr/>
            <p:nvPr/>
          </p:nvSpPr>
          <p:spPr>
            <a:xfrm>
              <a:off x="10001250" y="1114425"/>
              <a:ext cx="3267075" cy="4381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D3D3D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6" name="Rectangle 435"/>
            <p:cNvSpPr/>
            <p:nvPr/>
          </p:nvSpPr>
          <p:spPr>
            <a:xfrm>
              <a:off x="10029825" y="1133475"/>
              <a:ext cx="3200400" cy="390525"/>
            </a:xfrm>
            <a:custGeom>
              <a:avLst/>
              <a:gdLst/>
              <a:ahLst/>
              <a:cxnLst/>
              <a:rect l="0" t="0" r="r" b="b"/>
              <a:pathLst>
                <a:path w="336000" h="41000" fill="none">
                  <a:moveTo>
                    <a:pt x="0" y="23500"/>
                  </a:moveTo>
                  <a:lnTo>
                    <a:pt x="1000" y="21000"/>
                  </a:lnTo>
                  <a:lnTo>
                    <a:pt x="2000" y="19000"/>
                  </a:lnTo>
                  <a:lnTo>
                    <a:pt x="3000" y="18000"/>
                  </a:lnTo>
                  <a:lnTo>
                    <a:pt x="4000" y="17000"/>
                  </a:lnTo>
                  <a:lnTo>
                    <a:pt x="5000" y="16500"/>
                  </a:lnTo>
                  <a:lnTo>
                    <a:pt x="6000" y="16500"/>
                  </a:lnTo>
                  <a:lnTo>
                    <a:pt x="7000" y="16500"/>
                  </a:lnTo>
                  <a:lnTo>
                    <a:pt x="8000" y="17000"/>
                  </a:lnTo>
                  <a:lnTo>
                    <a:pt x="9000" y="17500"/>
                  </a:lnTo>
                  <a:lnTo>
                    <a:pt x="10000" y="18000"/>
                  </a:lnTo>
                  <a:lnTo>
                    <a:pt x="11000" y="19000"/>
                  </a:lnTo>
                  <a:lnTo>
                    <a:pt x="12000" y="20000"/>
                  </a:lnTo>
                  <a:lnTo>
                    <a:pt x="13000" y="20500"/>
                  </a:lnTo>
                  <a:lnTo>
                    <a:pt x="14000" y="21000"/>
                  </a:lnTo>
                  <a:lnTo>
                    <a:pt x="15000" y="21500"/>
                  </a:lnTo>
                  <a:lnTo>
                    <a:pt x="16000" y="21500"/>
                  </a:lnTo>
                  <a:lnTo>
                    <a:pt x="17000" y="21000"/>
                  </a:lnTo>
                  <a:lnTo>
                    <a:pt x="18000" y="12500"/>
                  </a:lnTo>
                  <a:lnTo>
                    <a:pt x="19000" y="10500"/>
                  </a:lnTo>
                  <a:lnTo>
                    <a:pt x="20000" y="2000"/>
                  </a:lnTo>
                  <a:lnTo>
                    <a:pt x="21000" y="1500"/>
                  </a:lnTo>
                  <a:lnTo>
                    <a:pt x="22000" y="3500"/>
                  </a:lnTo>
                  <a:lnTo>
                    <a:pt x="23000" y="5500"/>
                  </a:lnTo>
                  <a:lnTo>
                    <a:pt x="24000" y="8500"/>
                  </a:lnTo>
                  <a:lnTo>
                    <a:pt x="25000" y="11500"/>
                  </a:lnTo>
                  <a:lnTo>
                    <a:pt x="26000" y="14000"/>
                  </a:lnTo>
                  <a:lnTo>
                    <a:pt x="27000" y="17000"/>
                  </a:lnTo>
                  <a:lnTo>
                    <a:pt x="28000" y="20000"/>
                  </a:lnTo>
                  <a:lnTo>
                    <a:pt x="29000" y="23000"/>
                  </a:lnTo>
                  <a:lnTo>
                    <a:pt x="30000" y="26000"/>
                  </a:lnTo>
                  <a:lnTo>
                    <a:pt x="31000" y="28500"/>
                  </a:lnTo>
                  <a:lnTo>
                    <a:pt x="32000" y="31500"/>
                  </a:lnTo>
                  <a:lnTo>
                    <a:pt x="33000" y="34000"/>
                  </a:lnTo>
                  <a:lnTo>
                    <a:pt x="34000" y="36000"/>
                  </a:lnTo>
                  <a:lnTo>
                    <a:pt x="35000" y="38000"/>
                  </a:lnTo>
                  <a:lnTo>
                    <a:pt x="36000" y="39000"/>
                  </a:lnTo>
                  <a:lnTo>
                    <a:pt x="37000" y="40000"/>
                  </a:lnTo>
                  <a:lnTo>
                    <a:pt x="38000" y="40500"/>
                  </a:lnTo>
                  <a:lnTo>
                    <a:pt x="39000" y="40000"/>
                  </a:lnTo>
                  <a:lnTo>
                    <a:pt x="40000" y="39000"/>
                  </a:lnTo>
                  <a:lnTo>
                    <a:pt x="41000" y="37500"/>
                  </a:lnTo>
                  <a:lnTo>
                    <a:pt x="42000" y="35500"/>
                  </a:lnTo>
                  <a:lnTo>
                    <a:pt x="43000" y="33000"/>
                  </a:lnTo>
                  <a:lnTo>
                    <a:pt x="44000" y="30500"/>
                  </a:lnTo>
                  <a:lnTo>
                    <a:pt x="45000" y="27500"/>
                  </a:lnTo>
                  <a:lnTo>
                    <a:pt x="46000" y="23500"/>
                  </a:lnTo>
                  <a:lnTo>
                    <a:pt x="47000" y="18500"/>
                  </a:lnTo>
                  <a:lnTo>
                    <a:pt x="48000" y="15000"/>
                  </a:lnTo>
                  <a:lnTo>
                    <a:pt x="49000" y="13500"/>
                  </a:lnTo>
                  <a:lnTo>
                    <a:pt x="50000" y="15500"/>
                  </a:lnTo>
                  <a:lnTo>
                    <a:pt x="51000" y="19000"/>
                  </a:lnTo>
                  <a:lnTo>
                    <a:pt x="52000" y="22500"/>
                  </a:lnTo>
                  <a:lnTo>
                    <a:pt x="53000" y="26000"/>
                  </a:lnTo>
                  <a:lnTo>
                    <a:pt x="54000" y="29500"/>
                  </a:lnTo>
                  <a:lnTo>
                    <a:pt x="55000" y="31500"/>
                  </a:lnTo>
                  <a:lnTo>
                    <a:pt x="56000" y="33000"/>
                  </a:lnTo>
                  <a:lnTo>
                    <a:pt x="57000" y="32000"/>
                  </a:lnTo>
                  <a:lnTo>
                    <a:pt x="58000" y="30500"/>
                  </a:lnTo>
                  <a:lnTo>
                    <a:pt x="59000" y="28500"/>
                  </a:lnTo>
                  <a:lnTo>
                    <a:pt x="60000" y="25500"/>
                  </a:lnTo>
                  <a:lnTo>
                    <a:pt x="61000" y="23500"/>
                  </a:lnTo>
                  <a:lnTo>
                    <a:pt x="62000" y="20500"/>
                  </a:lnTo>
                  <a:lnTo>
                    <a:pt x="63000" y="19000"/>
                  </a:lnTo>
                  <a:lnTo>
                    <a:pt x="64000" y="18000"/>
                  </a:lnTo>
                  <a:lnTo>
                    <a:pt x="65000" y="19500"/>
                  </a:lnTo>
                  <a:lnTo>
                    <a:pt x="66000" y="22000"/>
                  </a:lnTo>
                  <a:lnTo>
                    <a:pt x="67000" y="26000"/>
                  </a:lnTo>
                  <a:lnTo>
                    <a:pt x="68000" y="30000"/>
                  </a:lnTo>
                  <a:lnTo>
                    <a:pt x="69000" y="33000"/>
                  </a:lnTo>
                  <a:lnTo>
                    <a:pt x="70000" y="35500"/>
                  </a:lnTo>
                  <a:lnTo>
                    <a:pt x="71000" y="37000"/>
                  </a:lnTo>
                  <a:lnTo>
                    <a:pt x="72000" y="35000"/>
                  </a:lnTo>
                  <a:lnTo>
                    <a:pt x="73000" y="32000"/>
                  </a:lnTo>
                  <a:lnTo>
                    <a:pt x="74000" y="27000"/>
                  </a:lnTo>
                  <a:lnTo>
                    <a:pt x="75000" y="22500"/>
                  </a:lnTo>
                  <a:lnTo>
                    <a:pt x="76000" y="16500"/>
                  </a:lnTo>
                  <a:lnTo>
                    <a:pt x="77000" y="11500"/>
                  </a:lnTo>
                  <a:lnTo>
                    <a:pt x="78000" y="7000"/>
                  </a:lnTo>
                  <a:lnTo>
                    <a:pt x="79000" y="3500"/>
                  </a:lnTo>
                  <a:lnTo>
                    <a:pt x="80000" y="2000"/>
                  </a:lnTo>
                  <a:lnTo>
                    <a:pt x="81000" y="1500"/>
                  </a:lnTo>
                  <a:lnTo>
                    <a:pt x="82000" y="3000"/>
                  </a:lnTo>
                  <a:lnTo>
                    <a:pt x="83000" y="5000"/>
                  </a:lnTo>
                  <a:lnTo>
                    <a:pt x="84000" y="8500"/>
                  </a:lnTo>
                  <a:lnTo>
                    <a:pt x="85000" y="12000"/>
                  </a:lnTo>
                  <a:lnTo>
                    <a:pt x="86000" y="17000"/>
                  </a:lnTo>
                  <a:lnTo>
                    <a:pt x="87000" y="21000"/>
                  </a:lnTo>
                  <a:lnTo>
                    <a:pt x="88000" y="25000"/>
                  </a:lnTo>
                  <a:lnTo>
                    <a:pt x="89000" y="29500"/>
                  </a:lnTo>
                  <a:lnTo>
                    <a:pt x="90000" y="33500"/>
                  </a:lnTo>
                  <a:lnTo>
                    <a:pt x="91000" y="37000"/>
                  </a:lnTo>
                  <a:lnTo>
                    <a:pt x="92000" y="39500"/>
                  </a:lnTo>
                  <a:lnTo>
                    <a:pt x="93000" y="41000"/>
                  </a:lnTo>
                  <a:lnTo>
                    <a:pt x="95000" y="40500"/>
                  </a:lnTo>
                  <a:lnTo>
                    <a:pt x="96000" y="38500"/>
                  </a:lnTo>
                  <a:lnTo>
                    <a:pt x="97000" y="35500"/>
                  </a:lnTo>
                  <a:lnTo>
                    <a:pt x="98000" y="32000"/>
                  </a:lnTo>
                  <a:lnTo>
                    <a:pt x="99000" y="28000"/>
                  </a:lnTo>
                  <a:lnTo>
                    <a:pt x="100000" y="24500"/>
                  </a:lnTo>
                  <a:lnTo>
                    <a:pt x="101000" y="21500"/>
                  </a:lnTo>
                  <a:lnTo>
                    <a:pt x="102000" y="18500"/>
                  </a:lnTo>
                  <a:lnTo>
                    <a:pt x="103000" y="18000"/>
                  </a:lnTo>
                  <a:lnTo>
                    <a:pt x="104000" y="18000"/>
                  </a:lnTo>
                  <a:lnTo>
                    <a:pt x="105000" y="19500"/>
                  </a:lnTo>
                  <a:lnTo>
                    <a:pt x="106000" y="21000"/>
                  </a:lnTo>
                  <a:lnTo>
                    <a:pt x="107000" y="23000"/>
                  </a:lnTo>
                  <a:lnTo>
                    <a:pt x="108000" y="25000"/>
                  </a:lnTo>
                  <a:lnTo>
                    <a:pt x="109000" y="27000"/>
                  </a:lnTo>
                  <a:lnTo>
                    <a:pt x="110000" y="29000"/>
                  </a:lnTo>
                  <a:lnTo>
                    <a:pt x="111000" y="30500"/>
                  </a:lnTo>
                  <a:lnTo>
                    <a:pt x="112000" y="32000"/>
                  </a:lnTo>
                  <a:lnTo>
                    <a:pt x="113000" y="31500"/>
                  </a:lnTo>
                  <a:lnTo>
                    <a:pt x="114000" y="26000"/>
                  </a:lnTo>
                  <a:lnTo>
                    <a:pt x="115000" y="21000"/>
                  </a:lnTo>
                  <a:lnTo>
                    <a:pt x="116000" y="15000"/>
                  </a:lnTo>
                  <a:lnTo>
                    <a:pt x="117000" y="11000"/>
                  </a:lnTo>
                  <a:lnTo>
                    <a:pt x="118000" y="10500"/>
                  </a:lnTo>
                  <a:lnTo>
                    <a:pt x="119000" y="11000"/>
                  </a:lnTo>
                  <a:lnTo>
                    <a:pt x="120000" y="11500"/>
                  </a:lnTo>
                  <a:lnTo>
                    <a:pt x="121000" y="12500"/>
                  </a:lnTo>
                  <a:lnTo>
                    <a:pt x="122000" y="13500"/>
                  </a:lnTo>
                  <a:lnTo>
                    <a:pt x="123000" y="15000"/>
                  </a:lnTo>
                  <a:lnTo>
                    <a:pt x="124000" y="16500"/>
                  </a:lnTo>
                  <a:lnTo>
                    <a:pt x="125000" y="17500"/>
                  </a:lnTo>
                  <a:lnTo>
                    <a:pt x="126000" y="18500"/>
                  </a:lnTo>
                  <a:lnTo>
                    <a:pt x="127000" y="20000"/>
                  </a:lnTo>
                  <a:lnTo>
                    <a:pt x="128000" y="21500"/>
                  </a:lnTo>
                  <a:lnTo>
                    <a:pt x="129000" y="22500"/>
                  </a:lnTo>
                  <a:lnTo>
                    <a:pt x="130000" y="23500"/>
                  </a:lnTo>
                  <a:lnTo>
                    <a:pt x="131000" y="24000"/>
                  </a:lnTo>
                  <a:lnTo>
                    <a:pt x="132000" y="24000"/>
                  </a:lnTo>
                  <a:lnTo>
                    <a:pt x="133000" y="23500"/>
                  </a:lnTo>
                  <a:lnTo>
                    <a:pt x="134000" y="21500"/>
                  </a:lnTo>
                  <a:lnTo>
                    <a:pt x="135000" y="19000"/>
                  </a:lnTo>
                  <a:lnTo>
                    <a:pt x="136000" y="15500"/>
                  </a:lnTo>
                  <a:lnTo>
                    <a:pt x="137000" y="13500"/>
                  </a:lnTo>
                  <a:lnTo>
                    <a:pt x="138000" y="13000"/>
                  </a:lnTo>
                  <a:lnTo>
                    <a:pt x="139000" y="14500"/>
                  </a:lnTo>
                  <a:lnTo>
                    <a:pt x="140000" y="16000"/>
                  </a:lnTo>
                  <a:lnTo>
                    <a:pt x="141000" y="19500"/>
                  </a:lnTo>
                  <a:lnTo>
                    <a:pt x="142000" y="20500"/>
                  </a:lnTo>
                  <a:lnTo>
                    <a:pt x="143000" y="24000"/>
                  </a:lnTo>
                  <a:lnTo>
                    <a:pt x="145000" y="30000"/>
                  </a:lnTo>
                  <a:lnTo>
                    <a:pt x="146000" y="30500"/>
                  </a:lnTo>
                  <a:lnTo>
                    <a:pt x="147000" y="30000"/>
                  </a:lnTo>
                  <a:lnTo>
                    <a:pt x="148000" y="30000"/>
                  </a:lnTo>
                  <a:lnTo>
                    <a:pt x="149000" y="29000"/>
                  </a:lnTo>
                  <a:lnTo>
                    <a:pt x="150000" y="25500"/>
                  </a:lnTo>
                  <a:lnTo>
                    <a:pt x="151000" y="22500"/>
                  </a:lnTo>
                  <a:lnTo>
                    <a:pt x="152000" y="19000"/>
                  </a:lnTo>
                  <a:lnTo>
                    <a:pt x="153000" y="16500"/>
                  </a:lnTo>
                  <a:lnTo>
                    <a:pt x="154000" y="13500"/>
                  </a:lnTo>
                  <a:lnTo>
                    <a:pt x="155000" y="9500"/>
                  </a:lnTo>
                  <a:lnTo>
                    <a:pt x="156000" y="6000"/>
                  </a:lnTo>
                  <a:lnTo>
                    <a:pt x="157000" y="4000"/>
                  </a:lnTo>
                  <a:lnTo>
                    <a:pt x="158000" y="3000"/>
                  </a:lnTo>
                  <a:lnTo>
                    <a:pt x="159000" y="3000"/>
                  </a:lnTo>
                  <a:lnTo>
                    <a:pt x="160000" y="4000"/>
                  </a:lnTo>
                  <a:lnTo>
                    <a:pt x="161000" y="7500"/>
                  </a:lnTo>
                  <a:lnTo>
                    <a:pt x="162000" y="14000"/>
                  </a:lnTo>
                  <a:lnTo>
                    <a:pt x="163000" y="19000"/>
                  </a:lnTo>
                  <a:lnTo>
                    <a:pt x="164000" y="25500"/>
                  </a:lnTo>
                  <a:lnTo>
                    <a:pt x="165000" y="28500"/>
                  </a:lnTo>
                  <a:lnTo>
                    <a:pt x="166000" y="28500"/>
                  </a:lnTo>
                  <a:lnTo>
                    <a:pt x="167000" y="26500"/>
                  </a:lnTo>
                  <a:lnTo>
                    <a:pt x="169000" y="22500"/>
                  </a:lnTo>
                  <a:lnTo>
                    <a:pt x="170000" y="20000"/>
                  </a:lnTo>
                  <a:lnTo>
                    <a:pt x="171000" y="18500"/>
                  </a:lnTo>
                  <a:lnTo>
                    <a:pt x="172000" y="17500"/>
                  </a:lnTo>
                  <a:lnTo>
                    <a:pt x="173000" y="17500"/>
                  </a:lnTo>
                  <a:lnTo>
                    <a:pt x="174000" y="18500"/>
                  </a:lnTo>
                  <a:lnTo>
                    <a:pt x="175000" y="19500"/>
                  </a:lnTo>
                  <a:lnTo>
                    <a:pt x="176000" y="23000"/>
                  </a:lnTo>
                  <a:lnTo>
                    <a:pt x="177000" y="25500"/>
                  </a:lnTo>
                  <a:lnTo>
                    <a:pt x="178000" y="30000"/>
                  </a:lnTo>
                  <a:lnTo>
                    <a:pt x="179000" y="32000"/>
                  </a:lnTo>
                  <a:lnTo>
                    <a:pt x="180000" y="35000"/>
                  </a:lnTo>
                  <a:lnTo>
                    <a:pt x="181000" y="37500"/>
                  </a:lnTo>
                  <a:lnTo>
                    <a:pt x="182000" y="39000"/>
                  </a:lnTo>
                  <a:lnTo>
                    <a:pt x="183000" y="40000"/>
                  </a:lnTo>
                  <a:lnTo>
                    <a:pt x="184000" y="37500"/>
                  </a:lnTo>
                  <a:lnTo>
                    <a:pt x="185000" y="29500"/>
                  </a:lnTo>
                  <a:lnTo>
                    <a:pt x="186000" y="16000"/>
                  </a:lnTo>
                  <a:lnTo>
                    <a:pt x="187000" y="6500"/>
                  </a:lnTo>
                  <a:lnTo>
                    <a:pt x="188000" y="5500"/>
                  </a:lnTo>
                  <a:lnTo>
                    <a:pt x="189000" y="6000"/>
                  </a:lnTo>
                  <a:lnTo>
                    <a:pt x="190000" y="8000"/>
                  </a:lnTo>
                  <a:lnTo>
                    <a:pt x="191000" y="10000"/>
                  </a:lnTo>
                  <a:lnTo>
                    <a:pt x="192000" y="12500"/>
                  </a:lnTo>
                  <a:lnTo>
                    <a:pt x="193000" y="14500"/>
                  </a:lnTo>
                  <a:lnTo>
                    <a:pt x="194000" y="17500"/>
                  </a:lnTo>
                  <a:lnTo>
                    <a:pt x="195000" y="20000"/>
                  </a:lnTo>
                  <a:lnTo>
                    <a:pt x="196000" y="22500"/>
                  </a:lnTo>
                  <a:lnTo>
                    <a:pt x="197000" y="25000"/>
                  </a:lnTo>
                  <a:lnTo>
                    <a:pt x="198000" y="27500"/>
                  </a:lnTo>
                  <a:lnTo>
                    <a:pt x="199000" y="30500"/>
                  </a:lnTo>
                  <a:lnTo>
                    <a:pt x="200000" y="32000"/>
                  </a:lnTo>
                  <a:lnTo>
                    <a:pt x="201000" y="34000"/>
                  </a:lnTo>
                  <a:lnTo>
                    <a:pt x="202000" y="34500"/>
                  </a:lnTo>
                  <a:lnTo>
                    <a:pt x="203000" y="34500"/>
                  </a:lnTo>
                  <a:lnTo>
                    <a:pt x="204000" y="34000"/>
                  </a:lnTo>
                  <a:lnTo>
                    <a:pt x="205000" y="31500"/>
                  </a:lnTo>
                  <a:lnTo>
                    <a:pt x="206000" y="28000"/>
                  </a:lnTo>
                  <a:lnTo>
                    <a:pt x="207000" y="24000"/>
                  </a:lnTo>
                  <a:lnTo>
                    <a:pt x="208000" y="20500"/>
                  </a:lnTo>
                  <a:lnTo>
                    <a:pt x="209000" y="16500"/>
                  </a:lnTo>
                  <a:lnTo>
                    <a:pt x="210000" y="13500"/>
                  </a:lnTo>
                  <a:lnTo>
                    <a:pt x="211000" y="11500"/>
                  </a:lnTo>
                  <a:lnTo>
                    <a:pt x="212000" y="11500"/>
                  </a:lnTo>
                  <a:lnTo>
                    <a:pt x="213000" y="13500"/>
                  </a:lnTo>
                  <a:lnTo>
                    <a:pt x="214000" y="16500"/>
                  </a:lnTo>
                  <a:lnTo>
                    <a:pt x="215000" y="21500"/>
                  </a:lnTo>
                  <a:lnTo>
                    <a:pt x="216000" y="26000"/>
                  </a:lnTo>
                  <a:lnTo>
                    <a:pt x="217000" y="30500"/>
                  </a:lnTo>
                  <a:lnTo>
                    <a:pt x="218000" y="34500"/>
                  </a:lnTo>
                  <a:lnTo>
                    <a:pt x="219000" y="38000"/>
                  </a:lnTo>
                  <a:lnTo>
                    <a:pt x="220000" y="40000"/>
                  </a:lnTo>
                  <a:lnTo>
                    <a:pt x="221000" y="40000"/>
                  </a:lnTo>
                  <a:lnTo>
                    <a:pt x="222000" y="38000"/>
                  </a:lnTo>
                  <a:lnTo>
                    <a:pt x="223000" y="34500"/>
                  </a:lnTo>
                  <a:lnTo>
                    <a:pt x="224000" y="30000"/>
                  </a:lnTo>
                  <a:lnTo>
                    <a:pt x="225000" y="24500"/>
                  </a:lnTo>
                  <a:lnTo>
                    <a:pt x="226000" y="18500"/>
                  </a:lnTo>
                  <a:lnTo>
                    <a:pt x="227000" y="13000"/>
                  </a:lnTo>
                  <a:lnTo>
                    <a:pt x="228000" y="7500"/>
                  </a:lnTo>
                  <a:lnTo>
                    <a:pt x="229000" y="3500"/>
                  </a:lnTo>
                  <a:lnTo>
                    <a:pt x="230000" y="1500"/>
                  </a:lnTo>
                  <a:lnTo>
                    <a:pt x="231000" y="0"/>
                  </a:lnTo>
                  <a:lnTo>
                    <a:pt x="232000" y="0"/>
                  </a:lnTo>
                  <a:lnTo>
                    <a:pt x="233000" y="1000"/>
                  </a:lnTo>
                  <a:lnTo>
                    <a:pt x="234000" y="2500"/>
                  </a:lnTo>
                  <a:lnTo>
                    <a:pt x="235000" y="6000"/>
                  </a:lnTo>
                  <a:lnTo>
                    <a:pt x="236000" y="9500"/>
                  </a:lnTo>
                  <a:lnTo>
                    <a:pt x="237000" y="14000"/>
                  </a:lnTo>
                  <a:lnTo>
                    <a:pt x="238000" y="18000"/>
                  </a:lnTo>
                  <a:lnTo>
                    <a:pt x="239000" y="22500"/>
                  </a:lnTo>
                  <a:lnTo>
                    <a:pt x="240000" y="27000"/>
                  </a:lnTo>
                  <a:lnTo>
                    <a:pt x="241000" y="30500"/>
                  </a:lnTo>
                  <a:lnTo>
                    <a:pt x="242000" y="34000"/>
                  </a:lnTo>
                  <a:lnTo>
                    <a:pt x="243000" y="37000"/>
                  </a:lnTo>
                  <a:lnTo>
                    <a:pt x="244000" y="38000"/>
                  </a:lnTo>
                  <a:lnTo>
                    <a:pt x="245000" y="37000"/>
                  </a:lnTo>
                  <a:lnTo>
                    <a:pt x="246000" y="32500"/>
                  </a:lnTo>
                  <a:lnTo>
                    <a:pt x="247000" y="27000"/>
                  </a:lnTo>
                  <a:lnTo>
                    <a:pt x="248000" y="21500"/>
                  </a:lnTo>
                  <a:lnTo>
                    <a:pt x="249000" y="16500"/>
                  </a:lnTo>
                  <a:lnTo>
                    <a:pt x="250000" y="14500"/>
                  </a:lnTo>
                  <a:lnTo>
                    <a:pt x="251000" y="15000"/>
                  </a:lnTo>
                  <a:lnTo>
                    <a:pt x="252000" y="16000"/>
                  </a:lnTo>
                  <a:lnTo>
                    <a:pt x="253000" y="18000"/>
                  </a:lnTo>
                  <a:lnTo>
                    <a:pt x="254000" y="20500"/>
                  </a:lnTo>
                  <a:lnTo>
                    <a:pt x="255000" y="23000"/>
                  </a:lnTo>
                  <a:lnTo>
                    <a:pt x="256000" y="25500"/>
                  </a:lnTo>
                  <a:lnTo>
                    <a:pt x="257000" y="28000"/>
                  </a:lnTo>
                  <a:lnTo>
                    <a:pt x="258000" y="30500"/>
                  </a:lnTo>
                  <a:lnTo>
                    <a:pt x="259000" y="33000"/>
                  </a:lnTo>
                  <a:lnTo>
                    <a:pt x="260000" y="34500"/>
                  </a:lnTo>
                  <a:lnTo>
                    <a:pt x="261000" y="36000"/>
                  </a:lnTo>
                  <a:lnTo>
                    <a:pt x="262000" y="35000"/>
                  </a:lnTo>
                  <a:lnTo>
                    <a:pt x="263000" y="30500"/>
                  </a:lnTo>
                  <a:lnTo>
                    <a:pt x="264000" y="26000"/>
                  </a:lnTo>
                  <a:lnTo>
                    <a:pt x="265000" y="20000"/>
                  </a:lnTo>
                  <a:lnTo>
                    <a:pt x="266000" y="16000"/>
                  </a:lnTo>
                  <a:lnTo>
                    <a:pt x="267000" y="15000"/>
                  </a:lnTo>
                  <a:lnTo>
                    <a:pt x="268000" y="16500"/>
                  </a:lnTo>
                  <a:lnTo>
                    <a:pt x="269000" y="18500"/>
                  </a:lnTo>
                  <a:lnTo>
                    <a:pt x="270000" y="21500"/>
                  </a:lnTo>
                  <a:lnTo>
                    <a:pt x="271000" y="25000"/>
                  </a:lnTo>
                  <a:lnTo>
                    <a:pt x="272000" y="27000"/>
                  </a:lnTo>
                  <a:lnTo>
                    <a:pt x="273000" y="31000"/>
                  </a:lnTo>
                  <a:lnTo>
                    <a:pt x="274000" y="33500"/>
                  </a:lnTo>
                  <a:lnTo>
                    <a:pt x="275000" y="36000"/>
                  </a:lnTo>
                  <a:lnTo>
                    <a:pt x="276000" y="39000"/>
                  </a:lnTo>
                  <a:lnTo>
                    <a:pt x="277000" y="40000"/>
                  </a:lnTo>
                  <a:lnTo>
                    <a:pt x="278000" y="41000"/>
                  </a:lnTo>
                  <a:lnTo>
                    <a:pt x="279000" y="40500"/>
                  </a:lnTo>
                  <a:lnTo>
                    <a:pt x="280000" y="39500"/>
                  </a:lnTo>
                  <a:lnTo>
                    <a:pt x="281000" y="36500"/>
                  </a:lnTo>
                  <a:lnTo>
                    <a:pt x="282000" y="34000"/>
                  </a:lnTo>
                  <a:lnTo>
                    <a:pt x="283000" y="30000"/>
                  </a:lnTo>
                  <a:lnTo>
                    <a:pt x="284000" y="26000"/>
                  </a:lnTo>
                  <a:lnTo>
                    <a:pt x="285000" y="24000"/>
                  </a:lnTo>
                  <a:lnTo>
                    <a:pt x="286000" y="22000"/>
                  </a:lnTo>
                  <a:lnTo>
                    <a:pt x="287000" y="22000"/>
                  </a:lnTo>
                  <a:lnTo>
                    <a:pt x="288000" y="23000"/>
                  </a:lnTo>
                  <a:lnTo>
                    <a:pt x="289000" y="25000"/>
                  </a:lnTo>
                  <a:lnTo>
                    <a:pt x="290000" y="27000"/>
                  </a:lnTo>
                  <a:lnTo>
                    <a:pt x="291000" y="29500"/>
                  </a:lnTo>
                  <a:lnTo>
                    <a:pt x="292000" y="31500"/>
                  </a:lnTo>
                  <a:lnTo>
                    <a:pt x="293000" y="34000"/>
                  </a:lnTo>
                  <a:lnTo>
                    <a:pt x="294000" y="35500"/>
                  </a:lnTo>
                  <a:lnTo>
                    <a:pt x="295000" y="37000"/>
                  </a:lnTo>
                  <a:lnTo>
                    <a:pt x="296000" y="37000"/>
                  </a:lnTo>
                  <a:lnTo>
                    <a:pt x="297000" y="36500"/>
                  </a:lnTo>
                  <a:lnTo>
                    <a:pt x="298000" y="34500"/>
                  </a:lnTo>
                  <a:lnTo>
                    <a:pt x="299000" y="31500"/>
                  </a:lnTo>
                  <a:lnTo>
                    <a:pt x="300000" y="27000"/>
                  </a:lnTo>
                  <a:lnTo>
                    <a:pt x="301000" y="23000"/>
                  </a:lnTo>
                  <a:lnTo>
                    <a:pt x="302000" y="18500"/>
                  </a:lnTo>
                  <a:lnTo>
                    <a:pt x="303000" y="14000"/>
                  </a:lnTo>
                  <a:lnTo>
                    <a:pt x="304000" y="10000"/>
                  </a:lnTo>
                  <a:lnTo>
                    <a:pt x="305000" y="6500"/>
                  </a:lnTo>
                  <a:lnTo>
                    <a:pt x="306000" y="4000"/>
                  </a:lnTo>
                  <a:lnTo>
                    <a:pt x="307000" y="2500"/>
                  </a:lnTo>
                  <a:lnTo>
                    <a:pt x="308000" y="1500"/>
                  </a:lnTo>
                  <a:lnTo>
                    <a:pt x="309000" y="2000"/>
                  </a:lnTo>
                  <a:lnTo>
                    <a:pt x="310000" y="3500"/>
                  </a:lnTo>
                  <a:lnTo>
                    <a:pt x="311000" y="5000"/>
                  </a:lnTo>
                  <a:lnTo>
                    <a:pt x="312000" y="7000"/>
                  </a:lnTo>
                  <a:lnTo>
                    <a:pt x="313000" y="9500"/>
                  </a:lnTo>
                  <a:lnTo>
                    <a:pt x="314000" y="12500"/>
                  </a:lnTo>
                  <a:lnTo>
                    <a:pt x="315000" y="15000"/>
                  </a:lnTo>
                  <a:lnTo>
                    <a:pt x="316000" y="18000"/>
                  </a:lnTo>
                  <a:lnTo>
                    <a:pt x="317000" y="21000"/>
                  </a:lnTo>
                  <a:lnTo>
                    <a:pt x="318000" y="23500"/>
                  </a:lnTo>
                  <a:lnTo>
                    <a:pt x="319000" y="27000"/>
                  </a:lnTo>
                  <a:lnTo>
                    <a:pt x="320000" y="29500"/>
                  </a:lnTo>
                  <a:lnTo>
                    <a:pt x="321000" y="32500"/>
                  </a:lnTo>
                  <a:lnTo>
                    <a:pt x="322000" y="35000"/>
                  </a:lnTo>
                  <a:lnTo>
                    <a:pt x="323000" y="37000"/>
                  </a:lnTo>
                  <a:lnTo>
                    <a:pt x="324000" y="38500"/>
                  </a:lnTo>
                  <a:lnTo>
                    <a:pt x="325000" y="39500"/>
                  </a:lnTo>
                  <a:lnTo>
                    <a:pt x="326000" y="40000"/>
                  </a:lnTo>
                  <a:lnTo>
                    <a:pt x="327000" y="40000"/>
                  </a:lnTo>
                  <a:lnTo>
                    <a:pt x="328000" y="39000"/>
                  </a:lnTo>
                  <a:lnTo>
                    <a:pt x="329000" y="37500"/>
                  </a:lnTo>
                  <a:lnTo>
                    <a:pt x="330000" y="36000"/>
                  </a:lnTo>
                  <a:lnTo>
                    <a:pt x="331000" y="33500"/>
                  </a:lnTo>
                  <a:lnTo>
                    <a:pt x="332000" y="31000"/>
                  </a:lnTo>
                  <a:lnTo>
                    <a:pt x="333000" y="29000"/>
                  </a:lnTo>
                  <a:lnTo>
                    <a:pt x="334000" y="27000"/>
                  </a:lnTo>
                  <a:lnTo>
                    <a:pt x="335000" y="24500"/>
                  </a:lnTo>
                  <a:lnTo>
                    <a:pt x="336000" y="24000"/>
                  </a:lnTo>
                </a:path>
              </a:pathLst>
            </a:custGeom>
            <a:noFill/>
            <a:ln w="13811" cap="rnd">
              <a:solidFill>
                <a:srgbClr val="659CC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7" name="Rectangle 436"/>
            <p:cNvSpPr/>
            <p:nvPr/>
          </p:nvSpPr>
          <p:spPr>
            <a:xfrm>
              <a:off x="11268075" y="1238250"/>
              <a:ext cx="838200" cy="2095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8" name="Text: Region 3"/>
            <p:cNvSpPr txBox="1"/>
            <p:nvPr/>
          </p:nvSpPr>
          <p:spPr>
            <a:xfrm>
              <a:off x="11278679" y="1230630"/>
              <a:ext cx="759842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Region 3</a:t>
              </a:r>
            </a:p>
          </p:txBody>
        </p:sp>
        <p:sp>
          <p:nvSpPr>
            <p:cNvPr id="439" name="Rectangle 438"/>
            <p:cNvSpPr/>
            <p:nvPr/>
          </p:nvSpPr>
          <p:spPr>
            <a:xfrm>
              <a:off x="9020175" y="895350"/>
              <a:ext cx="504825" cy="342900"/>
            </a:xfrm>
            <a:custGeom>
              <a:avLst/>
              <a:gdLst/>
              <a:ahLst/>
              <a:cxnLst/>
              <a:rect l="0" t="0" r="r" b="b"/>
              <a:pathLst>
                <a:path w="53000" h="36000" fill="none">
                  <a:moveTo>
                    <a:pt x="32000" y="0"/>
                  </a:moveTo>
                  <a:cubicBezTo>
                    <a:pt x="0" y="29000"/>
                    <a:pt x="27000" y="36000"/>
                    <a:pt x="53000" y="25000"/>
                  </a:cubicBezTo>
                </a:path>
              </a:pathLst>
            </a:custGeom>
            <a:noFill/>
            <a:ln w="47625" cap="rnd">
              <a:solidFill>
                <a:srgbClr val="AAAAA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0" name="Rectangle 439"/>
            <p:cNvSpPr/>
            <p:nvPr/>
          </p:nvSpPr>
          <p:spPr>
            <a:xfrm>
              <a:off x="9452683" y="1133475"/>
              <a:ext cx="72317" cy="51770"/>
            </a:xfrm>
            <a:custGeom>
              <a:avLst/>
              <a:gdLst/>
              <a:ahLst/>
              <a:cxnLst/>
              <a:rect l="0" t="0" r="r" b="b"/>
              <a:pathLst>
                <a:path w="7592" h="5435" fill="norm">
                  <a:moveTo>
                    <a:pt x="7592" y="0"/>
                  </a:moveTo>
                  <a:lnTo>
                    <a:pt x="0" y="20"/>
                  </a:lnTo>
                  <a:lnTo>
                    <a:pt x="3273" y="1827"/>
                  </a:lnTo>
                  <a:lnTo>
                    <a:pt x="2291" y="5435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1" name="Rectangle 440"/>
            <p:cNvSpPr/>
            <p:nvPr/>
          </p:nvSpPr>
          <p:spPr>
            <a:xfrm>
              <a:off x="9286875" y="1228725"/>
              <a:ext cx="609600" cy="466725"/>
            </a:xfrm>
            <a:custGeom>
              <a:avLst/>
              <a:gdLst/>
              <a:ahLst/>
              <a:cxnLst/>
              <a:rect l="0" t="0" r="r" b="b"/>
              <a:pathLst>
                <a:path w="64000" h="49000" fill="none">
                  <a:moveTo>
                    <a:pt x="33000" y="0"/>
                  </a:moveTo>
                  <a:cubicBezTo>
                    <a:pt x="0" y="30000"/>
                    <a:pt x="33000" y="49000"/>
                    <a:pt x="64000" y="32000"/>
                  </a:cubicBezTo>
                </a:path>
              </a:pathLst>
            </a:custGeom>
            <a:noFill/>
            <a:ln w="47625" cap="rnd">
              <a:solidFill>
                <a:srgbClr val="AAAAA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2" name="Rectangle 441"/>
            <p:cNvSpPr/>
            <p:nvPr/>
          </p:nvSpPr>
          <p:spPr>
            <a:xfrm>
              <a:off x="9824549" y="1533525"/>
              <a:ext cx="71926" cy="56613"/>
            </a:xfrm>
            <a:custGeom>
              <a:avLst/>
              <a:gdLst/>
              <a:ahLst/>
              <a:cxnLst/>
              <a:rect l="0" t="0" r="r" b="b"/>
              <a:pathLst>
                <a:path w="7551" h="5944" fill="norm">
                  <a:moveTo>
                    <a:pt x="7551" y="0"/>
                  </a:moveTo>
                  <a:lnTo>
                    <a:pt x="0" y="788"/>
                  </a:lnTo>
                  <a:lnTo>
                    <a:pt x="3439" y="2255"/>
                  </a:lnTo>
                  <a:lnTo>
                    <a:pt x="2827" y="5944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3" name="Rectangle 442"/>
            <p:cNvSpPr/>
            <p:nvPr/>
          </p:nvSpPr>
          <p:spPr>
            <a:xfrm>
              <a:off x="13058775" y="1057275"/>
              <a:ext cx="1104900" cy="952"/>
            </a:xfrm>
            <a:custGeom>
              <a:avLst/>
              <a:gdLst/>
              <a:ahLst/>
              <a:cxnLst/>
              <a:rect l="0" t="0" r="r" b="b"/>
              <a:pathLst>
                <a:path w="116000" h="100" fill="none">
                  <a:moveTo>
                    <a:pt x="0" y="0"/>
                  </a:moveTo>
                  <a:lnTo>
                    <a:pt x="11600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4" name="Rectangle 443"/>
            <p:cNvSpPr/>
            <p:nvPr/>
          </p:nvSpPr>
          <p:spPr>
            <a:xfrm>
              <a:off x="14097000" y="1029272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7000" y="2940"/>
                  </a:moveTo>
                  <a:lnTo>
                    <a:pt x="0" y="0"/>
                  </a:lnTo>
                  <a:lnTo>
                    <a:pt x="2310" y="2940"/>
                  </a:lnTo>
                  <a:lnTo>
                    <a:pt x="0" y="588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5" name="Text: Norm &amp;"/>
            <p:cNvSpPr txBox="1"/>
            <p:nvPr/>
          </p:nvSpPr>
          <p:spPr>
            <a:xfrm>
              <a:off x="13320126" y="763905"/>
              <a:ext cx="696497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Norm &amp;</a:t>
              </a:r>
            </a:p>
          </p:txBody>
        </p:sp>
        <p:sp>
          <p:nvSpPr>
            <p:cNvPr id="446" name="Text: Patchify"/>
            <p:cNvSpPr txBox="1"/>
            <p:nvPr/>
          </p:nvSpPr>
          <p:spPr>
            <a:xfrm>
              <a:off x="13346237" y="1087755"/>
              <a:ext cx="701427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Patchify</a:t>
              </a:r>
            </a:p>
          </p:txBody>
        </p:sp>
        <p:sp>
          <p:nvSpPr>
            <p:cNvPr id="447" name="Rectangle 446"/>
            <p:cNvSpPr/>
            <p:nvPr/>
          </p:nvSpPr>
          <p:spPr>
            <a:xfrm>
              <a:off x="14230350" y="657225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8" name="Rectangle 447"/>
            <p:cNvSpPr/>
            <p:nvPr/>
          </p:nvSpPr>
          <p:spPr>
            <a:xfrm>
              <a:off x="14239875" y="723900"/>
              <a:ext cx="219075" cy="128588"/>
            </a:xfrm>
            <a:custGeom>
              <a:avLst/>
              <a:gdLst/>
              <a:ahLst/>
              <a:cxnLst/>
              <a:rect l="0" t="0" r="r" b="b"/>
              <a:pathLst>
                <a:path w="23000" h="13500" fill="none">
                  <a:moveTo>
                    <a:pt x="0" y="11000"/>
                  </a:moveTo>
                  <a:lnTo>
                    <a:pt x="1000" y="8000"/>
                  </a:lnTo>
                  <a:lnTo>
                    <a:pt x="2000" y="5000"/>
                  </a:lnTo>
                  <a:lnTo>
                    <a:pt x="3000" y="2000"/>
                  </a:lnTo>
                  <a:lnTo>
                    <a:pt x="4000" y="0"/>
                  </a:lnTo>
                  <a:lnTo>
                    <a:pt x="5000" y="0"/>
                  </a:lnTo>
                  <a:lnTo>
                    <a:pt x="6000" y="1500"/>
                  </a:lnTo>
                  <a:lnTo>
                    <a:pt x="7000" y="4000"/>
                  </a:lnTo>
                  <a:lnTo>
                    <a:pt x="8000" y="7500"/>
                  </a:lnTo>
                  <a:lnTo>
                    <a:pt x="9000" y="10000"/>
                  </a:lnTo>
                  <a:lnTo>
                    <a:pt x="10000" y="12000"/>
                  </a:lnTo>
                  <a:lnTo>
                    <a:pt x="11000" y="12500"/>
                  </a:lnTo>
                  <a:lnTo>
                    <a:pt x="12000" y="11000"/>
                  </a:lnTo>
                  <a:lnTo>
                    <a:pt x="13000" y="9000"/>
                  </a:lnTo>
                  <a:lnTo>
                    <a:pt x="14000" y="6500"/>
                  </a:lnTo>
                  <a:lnTo>
                    <a:pt x="15000" y="4500"/>
                  </a:lnTo>
                  <a:lnTo>
                    <a:pt x="16000" y="3500"/>
                  </a:lnTo>
                  <a:lnTo>
                    <a:pt x="17000" y="4000"/>
                  </a:lnTo>
                  <a:lnTo>
                    <a:pt x="18000" y="5000"/>
                  </a:lnTo>
                  <a:lnTo>
                    <a:pt x="19000" y="6500"/>
                  </a:lnTo>
                  <a:lnTo>
                    <a:pt x="20000" y="8000"/>
                  </a:lnTo>
                  <a:lnTo>
                    <a:pt x="21000" y="10000"/>
                  </a:lnTo>
                  <a:lnTo>
                    <a:pt x="22000" y="12000"/>
                  </a:lnTo>
                  <a:lnTo>
                    <a:pt x="23000" y="13500"/>
                  </a:lnTo>
                </a:path>
              </a:pathLst>
            </a:custGeom>
            <a:noFill/>
            <a:ln w="14287" cap="rnd">
              <a:solidFill>
                <a:srgbClr val="A4C6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9" name="Rectangle 448"/>
            <p:cNvSpPr/>
            <p:nvPr/>
          </p:nvSpPr>
          <p:spPr>
            <a:xfrm>
              <a:off x="14573250" y="657225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0" name="Rectangle 449"/>
            <p:cNvSpPr/>
            <p:nvPr/>
          </p:nvSpPr>
          <p:spPr>
            <a:xfrm>
              <a:off x="14582775" y="676275"/>
              <a:ext cx="219075" cy="204788"/>
            </a:xfrm>
            <a:custGeom>
              <a:avLst/>
              <a:gdLst/>
              <a:ahLst/>
              <a:cxnLst/>
              <a:rect l="0" t="0" r="r" b="b"/>
              <a:pathLst>
                <a:path w="23000" h="21500" fill="none">
                  <a:moveTo>
                    <a:pt x="0" y="9500"/>
                  </a:moveTo>
                  <a:lnTo>
                    <a:pt x="1000" y="11000"/>
                  </a:lnTo>
                  <a:lnTo>
                    <a:pt x="2000" y="13000"/>
                  </a:lnTo>
                  <a:lnTo>
                    <a:pt x="3000" y="15000"/>
                  </a:lnTo>
                  <a:lnTo>
                    <a:pt x="4000" y="17000"/>
                  </a:lnTo>
                  <a:lnTo>
                    <a:pt x="5000" y="18500"/>
                  </a:lnTo>
                  <a:lnTo>
                    <a:pt x="6000" y="20000"/>
                  </a:lnTo>
                  <a:lnTo>
                    <a:pt x="7000" y="20500"/>
                  </a:lnTo>
                  <a:lnTo>
                    <a:pt x="8000" y="19000"/>
                  </a:lnTo>
                  <a:lnTo>
                    <a:pt x="9000" y="14500"/>
                  </a:lnTo>
                  <a:lnTo>
                    <a:pt x="10000" y="9500"/>
                  </a:lnTo>
                  <a:lnTo>
                    <a:pt x="11000" y="6000"/>
                  </a:lnTo>
                  <a:lnTo>
                    <a:pt x="12000" y="1000"/>
                  </a:lnTo>
                  <a:lnTo>
                    <a:pt x="13000" y="0"/>
                  </a:lnTo>
                  <a:lnTo>
                    <a:pt x="14000" y="1500"/>
                  </a:lnTo>
                  <a:lnTo>
                    <a:pt x="15000" y="4000"/>
                  </a:lnTo>
                  <a:lnTo>
                    <a:pt x="16000" y="7000"/>
                  </a:lnTo>
                  <a:lnTo>
                    <a:pt x="17000" y="10500"/>
                  </a:lnTo>
                  <a:lnTo>
                    <a:pt x="18000" y="13000"/>
                  </a:lnTo>
                  <a:lnTo>
                    <a:pt x="19000" y="16000"/>
                  </a:lnTo>
                  <a:lnTo>
                    <a:pt x="20000" y="18500"/>
                  </a:lnTo>
                  <a:lnTo>
                    <a:pt x="21000" y="20000"/>
                  </a:lnTo>
                  <a:lnTo>
                    <a:pt x="22000" y="21500"/>
                  </a:lnTo>
                  <a:lnTo>
                    <a:pt x="23000" y="21000"/>
                  </a:lnTo>
                </a:path>
              </a:pathLst>
            </a:custGeom>
            <a:noFill/>
            <a:ln w="14287" cap="rnd">
              <a:solidFill>
                <a:srgbClr val="A4C6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1" name="Rectangle 450"/>
            <p:cNvSpPr/>
            <p:nvPr/>
          </p:nvSpPr>
          <p:spPr>
            <a:xfrm>
              <a:off x="14916150" y="657225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2" name="Rectangle 451"/>
            <p:cNvSpPr/>
            <p:nvPr/>
          </p:nvSpPr>
          <p:spPr>
            <a:xfrm>
              <a:off x="14925675" y="728662"/>
              <a:ext cx="219075" cy="152400"/>
            </a:xfrm>
            <a:custGeom>
              <a:avLst/>
              <a:gdLst/>
              <a:ahLst/>
              <a:cxnLst/>
              <a:rect l="0" t="0" r="r" b="b"/>
              <a:pathLst>
                <a:path w="23000" h="16000" fill="none">
                  <a:moveTo>
                    <a:pt x="0" y="13500"/>
                  </a:moveTo>
                  <a:lnTo>
                    <a:pt x="1000" y="15000"/>
                  </a:lnTo>
                  <a:lnTo>
                    <a:pt x="2000" y="15000"/>
                  </a:lnTo>
                  <a:lnTo>
                    <a:pt x="3000" y="14500"/>
                  </a:lnTo>
                  <a:lnTo>
                    <a:pt x="4000" y="13500"/>
                  </a:lnTo>
                  <a:lnTo>
                    <a:pt x="5000" y="11500"/>
                  </a:lnTo>
                  <a:lnTo>
                    <a:pt x="6000" y="9500"/>
                  </a:lnTo>
                  <a:lnTo>
                    <a:pt x="7000" y="8000"/>
                  </a:lnTo>
                  <a:lnTo>
                    <a:pt x="8000" y="7000"/>
                  </a:lnTo>
                  <a:lnTo>
                    <a:pt x="9000" y="6500"/>
                  </a:lnTo>
                  <a:lnTo>
                    <a:pt x="10000" y="7500"/>
                  </a:lnTo>
                  <a:lnTo>
                    <a:pt x="11000" y="8000"/>
                  </a:lnTo>
                  <a:lnTo>
                    <a:pt x="12000" y="9500"/>
                  </a:lnTo>
                  <a:lnTo>
                    <a:pt x="13000" y="11000"/>
                  </a:lnTo>
                  <a:lnTo>
                    <a:pt x="14000" y="13000"/>
                  </a:lnTo>
                  <a:lnTo>
                    <a:pt x="15000" y="14000"/>
                  </a:lnTo>
                  <a:lnTo>
                    <a:pt x="16000" y="15500"/>
                  </a:lnTo>
                  <a:lnTo>
                    <a:pt x="17000" y="16000"/>
                  </a:lnTo>
                  <a:lnTo>
                    <a:pt x="18000" y="15000"/>
                  </a:lnTo>
                  <a:lnTo>
                    <a:pt x="19000" y="12000"/>
                  </a:lnTo>
                  <a:lnTo>
                    <a:pt x="20000" y="8500"/>
                  </a:lnTo>
                  <a:lnTo>
                    <a:pt x="21000" y="5500"/>
                  </a:lnTo>
                  <a:lnTo>
                    <a:pt x="22000" y="2500"/>
                  </a:lnTo>
                  <a:lnTo>
                    <a:pt x="23000" y="0"/>
                  </a:lnTo>
                </a:path>
              </a:pathLst>
            </a:custGeom>
            <a:noFill/>
            <a:ln w="14287" cap="rnd">
              <a:solidFill>
                <a:srgbClr val="A4C6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3" name="Rectangle 452"/>
            <p:cNvSpPr/>
            <p:nvPr/>
          </p:nvSpPr>
          <p:spPr>
            <a:xfrm>
              <a:off x="15259050" y="657225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4" name="Rectangle 453"/>
            <p:cNvSpPr/>
            <p:nvPr/>
          </p:nvSpPr>
          <p:spPr>
            <a:xfrm>
              <a:off x="15268575" y="666750"/>
              <a:ext cx="219075" cy="214312"/>
            </a:xfrm>
            <a:custGeom>
              <a:avLst/>
              <a:gdLst/>
              <a:ahLst/>
              <a:cxnLst/>
              <a:rect l="0" t="0" r="r" b="b"/>
              <a:pathLst>
                <a:path w="23000" h="22500" fill="none">
                  <a:moveTo>
                    <a:pt x="0" y="11000"/>
                  </a:moveTo>
                  <a:lnTo>
                    <a:pt x="1000" y="8000"/>
                  </a:lnTo>
                  <a:lnTo>
                    <a:pt x="2000" y="6500"/>
                  </a:lnTo>
                  <a:lnTo>
                    <a:pt x="3000" y="7500"/>
                  </a:lnTo>
                  <a:lnTo>
                    <a:pt x="4000" y="9000"/>
                  </a:lnTo>
                  <a:lnTo>
                    <a:pt x="5000" y="11500"/>
                  </a:lnTo>
                  <a:lnTo>
                    <a:pt x="6000" y="14000"/>
                  </a:lnTo>
                  <a:lnTo>
                    <a:pt x="7000" y="17000"/>
                  </a:lnTo>
                  <a:lnTo>
                    <a:pt x="8000" y="19500"/>
                  </a:lnTo>
                  <a:lnTo>
                    <a:pt x="9000" y="21000"/>
                  </a:lnTo>
                  <a:lnTo>
                    <a:pt x="10000" y="22500"/>
                  </a:lnTo>
                  <a:lnTo>
                    <a:pt x="11000" y="22000"/>
                  </a:lnTo>
                  <a:lnTo>
                    <a:pt x="12000" y="20500"/>
                  </a:lnTo>
                  <a:lnTo>
                    <a:pt x="13000" y="18500"/>
                  </a:lnTo>
                  <a:lnTo>
                    <a:pt x="14000" y="15500"/>
                  </a:lnTo>
                  <a:lnTo>
                    <a:pt x="15000" y="12500"/>
                  </a:lnTo>
                  <a:lnTo>
                    <a:pt x="16000" y="9500"/>
                  </a:lnTo>
                  <a:lnTo>
                    <a:pt x="17000" y="6000"/>
                  </a:lnTo>
                  <a:lnTo>
                    <a:pt x="18000" y="4000"/>
                  </a:lnTo>
                  <a:lnTo>
                    <a:pt x="19000" y="2000"/>
                  </a:lnTo>
                  <a:lnTo>
                    <a:pt x="20000" y="500"/>
                  </a:lnTo>
                  <a:lnTo>
                    <a:pt x="21000" y="0"/>
                  </a:lnTo>
                  <a:lnTo>
                    <a:pt x="22000" y="500"/>
                  </a:lnTo>
                  <a:lnTo>
                    <a:pt x="23000" y="500"/>
                  </a:lnTo>
                </a:path>
              </a:pathLst>
            </a:custGeom>
            <a:noFill/>
            <a:ln w="14287" cap="rnd">
              <a:solidFill>
                <a:srgbClr val="A4C6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5" name="Rectangle 454"/>
            <p:cNvSpPr/>
            <p:nvPr/>
          </p:nvSpPr>
          <p:spPr>
            <a:xfrm>
              <a:off x="15601950" y="657225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6" name="Rectangle 455"/>
            <p:cNvSpPr/>
            <p:nvPr/>
          </p:nvSpPr>
          <p:spPr>
            <a:xfrm>
              <a:off x="15611475" y="666750"/>
              <a:ext cx="209550" cy="171450"/>
            </a:xfrm>
            <a:custGeom>
              <a:avLst/>
              <a:gdLst/>
              <a:ahLst/>
              <a:cxnLst/>
              <a:rect l="0" t="0" r="r" b="b"/>
              <a:pathLst>
                <a:path w="22000" h="18000" fill="none">
                  <a:moveTo>
                    <a:pt x="0" y="17000"/>
                  </a:moveTo>
                  <a:lnTo>
                    <a:pt x="1000" y="13500"/>
                  </a:lnTo>
                  <a:lnTo>
                    <a:pt x="2000" y="10500"/>
                  </a:lnTo>
                  <a:lnTo>
                    <a:pt x="3000" y="7500"/>
                  </a:lnTo>
                  <a:lnTo>
                    <a:pt x="4000" y="4500"/>
                  </a:lnTo>
                  <a:lnTo>
                    <a:pt x="5000" y="2000"/>
                  </a:lnTo>
                  <a:lnTo>
                    <a:pt x="6000" y="1000"/>
                  </a:lnTo>
                  <a:lnTo>
                    <a:pt x="7000" y="0"/>
                  </a:lnTo>
                  <a:lnTo>
                    <a:pt x="8000" y="500"/>
                  </a:lnTo>
                  <a:lnTo>
                    <a:pt x="9000" y="1500"/>
                  </a:lnTo>
                  <a:lnTo>
                    <a:pt x="10000" y="3000"/>
                  </a:lnTo>
                  <a:lnTo>
                    <a:pt x="11000" y="5000"/>
                  </a:lnTo>
                  <a:lnTo>
                    <a:pt x="12000" y="7500"/>
                  </a:lnTo>
                  <a:lnTo>
                    <a:pt x="13000" y="10000"/>
                  </a:lnTo>
                  <a:lnTo>
                    <a:pt x="14000" y="12500"/>
                  </a:lnTo>
                  <a:lnTo>
                    <a:pt x="15000" y="14500"/>
                  </a:lnTo>
                  <a:lnTo>
                    <a:pt x="16000" y="16500"/>
                  </a:lnTo>
                  <a:lnTo>
                    <a:pt x="17000" y="18000"/>
                  </a:lnTo>
                  <a:lnTo>
                    <a:pt x="18000" y="18000"/>
                  </a:lnTo>
                  <a:lnTo>
                    <a:pt x="19000" y="16000"/>
                  </a:lnTo>
                  <a:lnTo>
                    <a:pt x="20000" y="13500"/>
                  </a:lnTo>
                  <a:lnTo>
                    <a:pt x="21000" y="11000"/>
                  </a:lnTo>
                  <a:lnTo>
                    <a:pt x="22000" y="8000"/>
                  </a:lnTo>
                </a:path>
              </a:pathLst>
            </a:custGeom>
            <a:noFill/>
            <a:ln w="14287" cap="rnd">
              <a:solidFill>
                <a:srgbClr val="A4C6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Rectangle 456"/>
            <p:cNvSpPr/>
            <p:nvPr/>
          </p:nvSpPr>
          <p:spPr>
            <a:xfrm>
              <a:off x="15944850" y="657225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Rectangle 457"/>
            <p:cNvSpPr/>
            <p:nvPr/>
          </p:nvSpPr>
          <p:spPr>
            <a:xfrm>
              <a:off x="15954375" y="695325"/>
              <a:ext cx="219075" cy="171450"/>
            </a:xfrm>
            <a:custGeom>
              <a:avLst/>
              <a:gdLst/>
              <a:ahLst/>
              <a:cxnLst/>
              <a:rect l="0" t="0" r="r" b="b"/>
              <a:pathLst>
                <a:path w="23000" h="18000" fill="none">
                  <a:moveTo>
                    <a:pt x="0" y="15000"/>
                  </a:moveTo>
                  <a:lnTo>
                    <a:pt x="1000" y="15500"/>
                  </a:lnTo>
                  <a:lnTo>
                    <a:pt x="2000" y="14000"/>
                  </a:lnTo>
                  <a:lnTo>
                    <a:pt x="3000" y="11500"/>
                  </a:lnTo>
                  <a:lnTo>
                    <a:pt x="4000" y="9000"/>
                  </a:lnTo>
                  <a:lnTo>
                    <a:pt x="5000" y="6000"/>
                  </a:lnTo>
                  <a:lnTo>
                    <a:pt x="6000" y="4500"/>
                  </a:lnTo>
                  <a:lnTo>
                    <a:pt x="7000" y="5000"/>
                  </a:lnTo>
                  <a:lnTo>
                    <a:pt x="8000" y="7500"/>
                  </a:lnTo>
                  <a:lnTo>
                    <a:pt x="9000" y="11000"/>
                  </a:lnTo>
                  <a:lnTo>
                    <a:pt x="10000" y="14000"/>
                  </a:lnTo>
                  <a:lnTo>
                    <a:pt x="11000" y="17000"/>
                  </a:lnTo>
                  <a:lnTo>
                    <a:pt x="12000" y="18000"/>
                  </a:lnTo>
                  <a:lnTo>
                    <a:pt x="13000" y="17000"/>
                  </a:lnTo>
                  <a:lnTo>
                    <a:pt x="14000" y="15500"/>
                  </a:lnTo>
                  <a:lnTo>
                    <a:pt x="15000" y="12500"/>
                  </a:lnTo>
                  <a:lnTo>
                    <a:pt x="16000" y="9500"/>
                  </a:lnTo>
                  <a:lnTo>
                    <a:pt x="17000" y="7000"/>
                  </a:lnTo>
                  <a:lnTo>
                    <a:pt x="18000" y="3500"/>
                  </a:lnTo>
                  <a:lnTo>
                    <a:pt x="19000" y="2000"/>
                  </a:lnTo>
                  <a:lnTo>
                    <a:pt x="20000" y="1000"/>
                  </a:lnTo>
                  <a:lnTo>
                    <a:pt x="21000" y="0"/>
                  </a:lnTo>
                  <a:lnTo>
                    <a:pt x="22000" y="500"/>
                  </a:lnTo>
                  <a:lnTo>
                    <a:pt x="23000" y="1500"/>
                  </a:lnTo>
                </a:path>
              </a:pathLst>
            </a:custGeom>
            <a:noFill/>
            <a:ln w="14287" cap="rnd">
              <a:solidFill>
                <a:srgbClr val="A4C6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Rectangle 458"/>
            <p:cNvSpPr/>
            <p:nvPr/>
          </p:nvSpPr>
          <p:spPr>
            <a:xfrm>
              <a:off x="16287750" y="657225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0" name="Rectangle 459"/>
            <p:cNvSpPr/>
            <p:nvPr/>
          </p:nvSpPr>
          <p:spPr>
            <a:xfrm>
              <a:off x="16297275" y="700088"/>
              <a:ext cx="190500" cy="166688"/>
            </a:xfrm>
            <a:custGeom>
              <a:avLst/>
              <a:gdLst/>
              <a:ahLst/>
              <a:cxnLst/>
              <a:rect l="0" t="0" r="r" b="b"/>
              <a:pathLst>
                <a:path w="20000" h="17500" fill="none">
                  <a:moveTo>
                    <a:pt x="0" y="13000"/>
                  </a:moveTo>
                  <a:lnTo>
                    <a:pt x="1000" y="15500"/>
                  </a:lnTo>
                  <a:lnTo>
                    <a:pt x="2000" y="17500"/>
                  </a:lnTo>
                  <a:lnTo>
                    <a:pt x="3000" y="17000"/>
                  </a:lnTo>
                  <a:lnTo>
                    <a:pt x="4000" y="15500"/>
                  </a:lnTo>
                  <a:lnTo>
                    <a:pt x="5000" y="13000"/>
                  </a:lnTo>
                  <a:lnTo>
                    <a:pt x="6000" y="10000"/>
                  </a:lnTo>
                  <a:lnTo>
                    <a:pt x="7000" y="7000"/>
                  </a:lnTo>
                  <a:lnTo>
                    <a:pt x="8000" y="4500"/>
                  </a:lnTo>
                  <a:lnTo>
                    <a:pt x="9000" y="2000"/>
                  </a:lnTo>
                  <a:lnTo>
                    <a:pt x="10000" y="500"/>
                  </a:lnTo>
                  <a:lnTo>
                    <a:pt x="11000" y="0"/>
                  </a:lnTo>
                  <a:lnTo>
                    <a:pt x="12000" y="0"/>
                  </a:lnTo>
                  <a:lnTo>
                    <a:pt x="13000" y="500"/>
                  </a:lnTo>
                  <a:lnTo>
                    <a:pt x="14000" y="1500"/>
                  </a:lnTo>
                  <a:lnTo>
                    <a:pt x="15000" y="2500"/>
                  </a:lnTo>
                  <a:lnTo>
                    <a:pt x="16000" y="4000"/>
                  </a:lnTo>
                  <a:lnTo>
                    <a:pt x="17000" y="5500"/>
                  </a:lnTo>
                  <a:lnTo>
                    <a:pt x="18000" y="7500"/>
                  </a:lnTo>
                  <a:lnTo>
                    <a:pt x="19000" y="9000"/>
                  </a:lnTo>
                  <a:lnTo>
                    <a:pt x="20000" y="9000"/>
                  </a:lnTo>
                </a:path>
              </a:pathLst>
            </a:custGeom>
            <a:noFill/>
            <a:ln w="14287" cap="rnd">
              <a:solidFill>
                <a:srgbClr val="A4C6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1" name="Rectangle 460"/>
            <p:cNvSpPr/>
            <p:nvPr/>
          </p:nvSpPr>
          <p:spPr>
            <a:xfrm>
              <a:off x="14230350" y="971550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2" name="Rectangle 461"/>
            <p:cNvSpPr/>
            <p:nvPr/>
          </p:nvSpPr>
          <p:spPr>
            <a:xfrm>
              <a:off x="14239875" y="1028700"/>
              <a:ext cx="219075" cy="138112"/>
            </a:xfrm>
            <a:custGeom>
              <a:avLst/>
              <a:gdLst/>
              <a:ahLst/>
              <a:cxnLst/>
              <a:rect l="0" t="0" r="r" b="b"/>
              <a:pathLst>
                <a:path w="23000" h="14500" fill="none">
                  <a:moveTo>
                    <a:pt x="0" y="11500"/>
                  </a:moveTo>
                  <a:lnTo>
                    <a:pt x="1000" y="9000"/>
                  </a:lnTo>
                  <a:lnTo>
                    <a:pt x="2000" y="6000"/>
                  </a:lnTo>
                  <a:lnTo>
                    <a:pt x="3000" y="2500"/>
                  </a:lnTo>
                  <a:lnTo>
                    <a:pt x="4000" y="500"/>
                  </a:lnTo>
                  <a:lnTo>
                    <a:pt x="5000" y="0"/>
                  </a:lnTo>
                  <a:lnTo>
                    <a:pt x="6000" y="2500"/>
                  </a:lnTo>
                  <a:lnTo>
                    <a:pt x="7000" y="5500"/>
                  </a:lnTo>
                  <a:lnTo>
                    <a:pt x="8000" y="7500"/>
                  </a:lnTo>
                  <a:lnTo>
                    <a:pt x="9000" y="11000"/>
                  </a:lnTo>
                  <a:lnTo>
                    <a:pt x="10000" y="12500"/>
                  </a:lnTo>
                  <a:lnTo>
                    <a:pt x="11000" y="13000"/>
                  </a:lnTo>
                  <a:lnTo>
                    <a:pt x="12000" y="11500"/>
                  </a:lnTo>
                  <a:lnTo>
                    <a:pt x="13000" y="10000"/>
                  </a:lnTo>
                  <a:lnTo>
                    <a:pt x="14000" y="7500"/>
                  </a:lnTo>
                  <a:lnTo>
                    <a:pt x="15000" y="5000"/>
                  </a:lnTo>
                  <a:lnTo>
                    <a:pt x="16000" y="4500"/>
                  </a:lnTo>
                  <a:lnTo>
                    <a:pt x="17000" y="4500"/>
                  </a:lnTo>
                  <a:lnTo>
                    <a:pt x="18000" y="5500"/>
                  </a:lnTo>
                  <a:lnTo>
                    <a:pt x="19000" y="7500"/>
                  </a:lnTo>
                  <a:lnTo>
                    <a:pt x="20000" y="9000"/>
                  </a:lnTo>
                  <a:lnTo>
                    <a:pt x="21000" y="11000"/>
                  </a:lnTo>
                  <a:lnTo>
                    <a:pt x="22000" y="12500"/>
                  </a:lnTo>
                  <a:lnTo>
                    <a:pt x="23000" y="14500"/>
                  </a:lnTo>
                </a:path>
              </a:pathLst>
            </a:custGeom>
            <a:noFill/>
            <a:ln w="14287" cap="rnd">
              <a:solidFill>
                <a:srgbClr val="EAB08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Rectangle 462"/>
            <p:cNvSpPr/>
            <p:nvPr/>
          </p:nvSpPr>
          <p:spPr>
            <a:xfrm>
              <a:off x="14230350" y="971550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BEBE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4" name="Rectangle 463"/>
            <p:cNvSpPr/>
            <p:nvPr/>
          </p:nvSpPr>
          <p:spPr>
            <a:xfrm>
              <a:off x="14573250" y="971550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5" name="Rectangle 464"/>
            <p:cNvSpPr/>
            <p:nvPr/>
          </p:nvSpPr>
          <p:spPr>
            <a:xfrm>
              <a:off x="14582775" y="990600"/>
              <a:ext cx="219075" cy="195262"/>
            </a:xfrm>
            <a:custGeom>
              <a:avLst/>
              <a:gdLst/>
              <a:ahLst/>
              <a:cxnLst/>
              <a:rect l="0" t="0" r="r" b="b"/>
              <a:pathLst>
                <a:path w="23000" h="20500" fill="none">
                  <a:moveTo>
                    <a:pt x="0" y="9500"/>
                  </a:moveTo>
                  <a:lnTo>
                    <a:pt x="1000" y="10500"/>
                  </a:lnTo>
                  <a:lnTo>
                    <a:pt x="2000" y="12500"/>
                  </a:lnTo>
                  <a:lnTo>
                    <a:pt x="3000" y="14500"/>
                  </a:lnTo>
                  <a:lnTo>
                    <a:pt x="4000" y="16000"/>
                  </a:lnTo>
                  <a:lnTo>
                    <a:pt x="5000" y="18000"/>
                  </a:lnTo>
                  <a:lnTo>
                    <a:pt x="6000" y="19500"/>
                  </a:lnTo>
                  <a:lnTo>
                    <a:pt x="7000" y="20500"/>
                  </a:lnTo>
                  <a:lnTo>
                    <a:pt x="8000" y="19000"/>
                  </a:lnTo>
                  <a:lnTo>
                    <a:pt x="9000" y="14000"/>
                  </a:lnTo>
                  <a:lnTo>
                    <a:pt x="10000" y="9500"/>
                  </a:lnTo>
                  <a:lnTo>
                    <a:pt x="11000" y="5000"/>
                  </a:lnTo>
                  <a:lnTo>
                    <a:pt x="12000" y="500"/>
                  </a:lnTo>
                  <a:lnTo>
                    <a:pt x="13000" y="0"/>
                  </a:lnTo>
                  <a:lnTo>
                    <a:pt x="14000" y="1000"/>
                  </a:lnTo>
                  <a:lnTo>
                    <a:pt x="15000" y="3500"/>
                  </a:lnTo>
                  <a:lnTo>
                    <a:pt x="16000" y="6500"/>
                  </a:lnTo>
                  <a:lnTo>
                    <a:pt x="17000" y="9500"/>
                  </a:lnTo>
                  <a:lnTo>
                    <a:pt x="18000" y="13000"/>
                  </a:lnTo>
                  <a:lnTo>
                    <a:pt x="19000" y="16000"/>
                  </a:lnTo>
                  <a:lnTo>
                    <a:pt x="20000" y="18000"/>
                  </a:lnTo>
                  <a:lnTo>
                    <a:pt x="21000" y="19500"/>
                  </a:lnTo>
                  <a:lnTo>
                    <a:pt x="22000" y="20500"/>
                  </a:lnTo>
                  <a:lnTo>
                    <a:pt x="23000" y="20500"/>
                  </a:lnTo>
                </a:path>
              </a:pathLst>
            </a:custGeom>
            <a:noFill/>
            <a:ln w="14287" cap="rnd">
              <a:solidFill>
                <a:srgbClr val="EAB08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6" name="Rectangle 465"/>
            <p:cNvSpPr/>
            <p:nvPr/>
          </p:nvSpPr>
          <p:spPr>
            <a:xfrm>
              <a:off x="14573250" y="971550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BEBE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7" name="Rectangle 466"/>
            <p:cNvSpPr/>
            <p:nvPr/>
          </p:nvSpPr>
          <p:spPr>
            <a:xfrm>
              <a:off x="14916150" y="971550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8" name="Rectangle 467"/>
            <p:cNvSpPr/>
            <p:nvPr/>
          </p:nvSpPr>
          <p:spPr>
            <a:xfrm>
              <a:off x="14925675" y="1038225"/>
              <a:ext cx="219075" cy="152400"/>
            </a:xfrm>
            <a:custGeom>
              <a:avLst/>
              <a:gdLst/>
              <a:ahLst/>
              <a:cxnLst/>
              <a:rect l="0" t="0" r="r" b="b"/>
              <a:pathLst>
                <a:path w="23000" h="16000" fill="none">
                  <a:moveTo>
                    <a:pt x="0" y="13500"/>
                  </a:moveTo>
                  <a:lnTo>
                    <a:pt x="1000" y="15500"/>
                  </a:lnTo>
                  <a:lnTo>
                    <a:pt x="2000" y="15500"/>
                  </a:lnTo>
                  <a:lnTo>
                    <a:pt x="3000" y="15000"/>
                  </a:lnTo>
                  <a:lnTo>
                    <a:pt x="4000" y="13500"/>
                  </a:lnTo>
                  <a:lnTo>
                    <a:pt x="5000" y="11500"/>
                  </a:lnTo>
                  <a:lnTo>
                    <a:pt x="6000" y="10000"/>
                  </a:lnTo>
                  <a:lnTo>
                    <a:pt x="7000" y="8500"/>
                  </a:lnTo>
                  <a:lnTo>
                    <a:pt x="8000" y="7000"/>
                  </a:lnTo>
                  <a:lnTo>
                    <a:pt x="9000" y="6500"/>
                  </a:lnTo>
                  <a:lnTo>
                    <a:pt x="10000" y="7500"/>
                  </a:lnTo>
                  <a:lnTo>
                    <a:pt x="11000" y="8500"/>
                  </a:lnTo>
                  <a:lnTo>
                    <a:pt x="12000" y="9500"/>
                  </a:lnTo>
                  <a:lnTo>
                    <a:pt x="13000" y="11500"/>
                  </a:lnTo>
                  <a:lnTo>
                    <a:pt x="14000" y="13000"/>
                  </a:lnTo>
                  <a:lnTo>
                    <a:pt x="15000" y="14000"/>
                  </a:lnTo>
                  <a:lnTo>
                    <a:pt x="16000" y="16000"/>
                  </a:lnTo>
                  <a:lnTo>
                    <a:pt x="17000" y="16000"/>
                  </a:lnTo>
                  <a:lnTo>
                    <a:pt x="18000" y="14500"/>
                  </a:lnTo>
                  <a:lnTo>
                    <a:pt x="19000" y="12500"/>
                  </a:lnTo>
                  <a:lnTo>
                    <a:pt x="20000" y="9500"/>
                  </a:lnTo>
                  <a:lnTo>
                    <a:pt x="21000" y="5500"/>
                  </a:lnTo>
                  <a:lnTo>
                    <a:pt x="22000" y="2500"/>
                  </a:lnTo>
                  <a:lnTo>
                    <a:pt x="23000" y="0"/>
                  </a:lnTo>
                </a:path>
              </a:pathLst>
            </a:custGeom>
            <a:noFill/>
            <a:ln w="14287" cap="rnd">
              <a:solidFill>
                <a:srgbClr val="EAB08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Rectangle 468"/>
            <p:cNvSpPr/>
            <p:nvPr/>
          </p:nvSpPr>
          <p:spPr>
            <a:xfrm>
              <a:off x="14916150" y="971550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BEBE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Rectangle 469"/>
            <p:cNvSpPr/>
            <p:nvPr/>
          </p:nvSpPr>
          <p:spPr>
            <a:xfrm>
              <a:off x="15259050" y="971550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Rectangle 470"/>
            <p:cNvSpPr/>
            <p:nvPr/>
          </p:nvSpPr>
          <p:spPr>
            <a:xfrm>
              <a:off x="15268575" y="981075"/>
              <a:ext cx="219075" cy="204788"/>
            </a:xfrm>
            <a:custGeom>
              <a:avLst/>
              <a:gdLst/>
              <a:ahLst/>
              <a:cxnLst/>
              <a:rect l="0" t="0" r="r" b="b"/>
              <a:pathLst>
                <a:path w="23000" h="21500" fill="none">
                  <a:moveTo>
                    <a:pt x="0" y="10000"/>
                  </a:moveTo>
                  <a:lnTo>
                    <a:pt x="1000" y="7000"/>
                  </a:lnTo>
                  <a:lnTo>
                    <a:pt x="2000" y="6000"/>
                  </a:lnTo>
                  <a:lnTo>
                    <a:pt x="3000" y="6500"/>
                  </a:lnTo>
                  <a:lnTo>
                    <a:pt x="4000" y="8500"/>
                  </a:lnTo>
                  <a:lnTo>
                    <a:pt x="5000" y="11500"/>
                  </a:lnTo>
                  <a:lnTo>
                    <a:pt x="6000" y="14000"/>
                  </a:lnTo>
                  <a:lnTo>
                    <a:pt x="7000" y="16500"/>
                  </a:lnTo>
                  <a:lnTo>
                    <a:pt x="8000" y="19000"/>
                  </a:lnTo>
                  <a:lnTo>
                    <a:pt x="9000" y="20500"/>
                  </a:lnTo>
                  <a:lnTo>
                    <a:pt x="10000" y="21500"/>
                  </a:lnTo>
                  <a:lnTo>
                    <a:pt x="11000" y="21500"/>
                  </a:lnTo>
                  <a:lnTo>
                    <a:pt x="12000" y="20000"/>
                  </a:lnTo>
                  <a:lnTo>
                    <a:pt x="13000" y="18500"/>
                  </a:lnTo>
                  <a:lnTo>
                    <a:pt x="14000" y="15000"/>
                  </a:lnTo>
                  <a:lnTo>
                    <a:pt x="15000" y="12500"/>
                  </a:lnTo>
                  <a:lnTo>
                    <a:pt x="16000" y="9000"/>
                  </a:lnTo>
                  <a:lnTo>
                    <a:pt x="17000" y="6000"/>
                  </a:lnTo>
                  <a:lnTo>
                    <a:pt x="18000" y="3500"/>
                  </a:lnTo>
                  <a:lnTo>
                    <a:pt x="19000" y="1500"/>
                  </a:lnTo>
                  <a:lnTo>
                    <a:pt x="20000" y="0"/>
                  </a:lnTo>
                  <a:lnTo>
                    <a:pt x="21000" y="0"/>
                  </a:lnTo>
                  <a:lnTo>
                    <a:pt x="22000" y="0"/>
                  </a:lnTo>
                  <a:lnTo>
                    <a:pt x="23000" y="500"/>
                  </a:lnTo>
                </a:path>
              </a:pathLst>
            </a:custGeom>
            <a:noFill/>
            <a:ln w="14287" cap="rnd">
              <a:solidFill>
                <a:srgbClr val="EAB08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2" name="Rectangle 471"/>
            <p:cNvSpPr/>
            <p:nvPr/>
          </p:nvSpPr>
          <p:spPr>
            <a:xfrm>
              <a:off x="15259050" y="971550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BEBE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Rectangle 472"/>
            <p:cNvSpPr/>
            <p:nvPr/>
          </p:nvSpPr>
          <p:spPr>
            <a:xfrm>
              <a:off x="15601950" y="971550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Rectangle 473"/>
            <p:cNvSpPr/>
            <p:nvPr/>
          </p:nvSpPr>
          <p:spPr>
            <a:xfrm>
              <a:off x="15611475" y="981075"/>
              <a:ext cx="209550" cy="166688"/>
            </a:xfrm>
            <a:custGeom>
              <a:avLst/>
              <a:gdLst/>
              <a:ahLst/>
              <a:cxnLst/>
              <a:rect l="0" t="0" r="r" b="b"/>
              <a:pathLst>
                <a:path w="22000" h="17500" fill="none">
                  <a:moveTo>
                    <a:pt x="0" y="17000"/>
                  </a:moveTo>
                  <a:lnTo>
                    <a:pt x="1000" y="13500"/>
                  </a:lnTo>
                  <a:lnTo>
                    <a:pt x="2000" y="10500"/>
                  </a:lnTo>
                  <a:lnTo>
                    <a:pt x="3000" y="7000"/>
                  </a:lnTo>
                  <a:lnTo>
                    <a:pt x="4000" y="3500"/>
                  </a:lnTo>
                  <a:lnTo>
                    <a:pt x="5000" y="2000"/>
                  </a:lnTo>
                  <a:lnTo>
                    <a:pt x="6000" y="500"/>
                  </a:lnTo>
                  <a:lnTo>
                    <a:pt x="7000" y="0"/>
                  </a:lnTo>
                  <a:lnTo>
                    <a:pt x="8000" y="0"/>
                  </a:lnTo>
                  <a:lnTo>
                    <a:pt x="9000" y="1000"/>
                  </a:lnTo>
                  <a:lnTo>
                    <a:pt x="10000" y="2000"/>
                  </a:lnTo>
                  <a:lnTo>
                    <a:pt x="11000" y="4500"/>
                  </a:lnTo>
                  <a:lnTo>
                    <a:pt x="12000" y="7500"/>
                  </a:lnTo>
                  <a:lnTo>
                    <a:pt x="13000" y="9500"/>
                  </a:lnTo>
                  <a:lnTo>
                    <a:pt x="14000" y="12500"/>
                  </a:lnTo>
                  <a:lnTo>
                    <a:pt x="15000" y="14000"/>
                  </a:lnTo>
                  <a:lnTo>
                    <a:pt x="16000" y="16500"/>
                  </a:lnTo>
                  <a:lnTo>
                    <a:pt x="17000" y="17500"/>
                  </a:lnTo>
                  <a:lnTo>
                    <a:pt x="18000" y="17500"/>
                  </a:lnTo>
                  <a:lnTo>
                    <a:pt x="19000" y="16000"/>
                  </a:lnTo>
                  <a:lnTo>
                    <a:pt x="20000" y="13500"/>
                  </a:lnTo>
                  <a:lnTo>
                    <a:pt x="21000" y="10500"/>
                  </a:lnTo>
                  <a:lnTo>
                    <a:pt x="22000" y="8000"/>
                  </a:lnTo>
                </a:path>
              </a:pathLst>
            </a:custGeom>
            <a:noFill/>
            <a:ln w="14287" cap="rnd">
              <a:solidFill>
                <a:srgbClr val="EAB08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Rectangle 474"/>
            <p:cNvSpPr/>
            <p:nvPr/>
          </p:nvSpPr>
          <p:spPr>
            <a:xfrm>
              <a:off x="15601950" y="971550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BEBE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6" name="Rectangle 475"/>
            <p:cNvSpPr/>
            <p:nvPr/>
          </p:nvSpPr>
          <p:spPr>
            <a:xfrm>
              <a:off x="15944850" y="971550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Rectangle 476"/>
            <p:cNvSpPr/>
            <p:nvPr/>
          </p:nvSpPr>
          <p:spPr>
            <a:xfrm>
              <a:off x="15954375" y="1009650"/>
              <a:ext cx="219075" cy="171450"/>
            </a:xfrm>
            <a:custGeom>
              <a:avLst/>
              <a:gdLst/>
              <a:ahLst/>
              <a:cxnLst/>
              <a:rect l="0" t="0" r="r" b="b"/>
              <a:pathLst>
                <a:path w="23000" h="18000" fill="none">
                  <a:moveTo>
                    <a:pt x="0" y="14500"/>
                  </a:moveTo>
                  <a:lnTo>
                    <a:pt x="1000" y="14500"/>
                  </a:lnTo>
                  <a:lnTo>
                    <a:pt x="2000" y="13500"/>
                  </a:lnTo>
                  <a:lnTo>
                    <a:pt x="3000" y="11000"/>
                  </a:lnTo>
                  <a:lnTo>
                    <a:pt x="4000" y="8500"/>
                  </a:lnTo>
                  <a:lnTo>
                    <a:pt x="5000" y="5500"/>
                  </a:lnTo>
                  <a:lnTo>
                    <a:pt x="6000" y="3500"/>
                  </a:lnTo>
                  <a:lnTo>
                    <a:pt x="7000" y="5000"/>
                  </a:lnTo>
                  <a:lnTo>
                    <a:pt x="8000" y="7000"/>
                  </a:lnTo>
                  <a:lnTo>
                    <a:pt x="9000" y="10500"/>
                  </a:lnTo>
                  <a:lnTo>
                    <a:pt x="10000" y="14000"/>
                  </a:lnTo>
                  <a:lnTo>
                    <a:pt x="11000" y="16000"/>
                  </a:lnTo>
                  <a:lnTo>
                    <a:pt x="12000" y="18000"/>
                  </a:lnTo>
                  <a:lnTo>
                    <a:pt x="13000" y="17500"/>
                  </a:lnTo>
                  <a:lnTo>
                    <a:pt x="14000" y="15500"/>
                  </a:lnTo>
                  <a:lnTo>
                    <a:pt x="15000" y="12500"/>
                  </a:lnTo>
                  <a:lnTo>
                    <a:pt x="16000" y="9500"/>
                  </a:lnTo>
                  <a:lnTo>
                    <a:pt x="17000" y="6000"/>
                  </a:lnTo>
                  <a:lnTo>
                    <a:pt x="18000" y="3500"/>
                  </a:lnTo>
                  <a:lnTo>
                    <a:pt x="19000" y="1500"/>
                  </a:lnTo>
                  <a:lnTo>
                    <a:pt x="20000" y="500"/>
                  </a:lnTo>
                  <a:lnTo>
                    <a:pt x="21000" y="0"/>
                  </a:lnTo>
                  <a:lnTo>
                    <a:pt x="22000" y="500"/>
                  </a:lnTo>
                  <a:lnTo>
                    <a:pt x="23000" y="500"/>
                  </a:lnTo>
                </a:path>
              </a:pathLst>
            </a:custGeom>
            <a:noFill/>
            <a:ln w="14287" cap="rnd">
              <a:solidFill>
                <a:srgbClr val="EAB08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Rectangle 477"/>
            <p:cNvSpPr/>
            <p:nvPr/>
          </p:nvSpPr>
          <p:spPr>
            <a:xfrm>
              <a:off x="15944850" y="971550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BEBE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Rectangle 478"/>
            <p:cNvSpPr/>
            <p:nvPr/>
          </p:nvSpPr>
          <p:spPr>
            <a:xfrm>
              <a:off x="16287750" y="971550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0" name="Rectangle 479"/>
            <p:cNvSpPr/>
            <p:nvPr/>
          </p:nvSpPr>
          <p:spPr>
            <a:xfrm>
              <a:off x="16297275" y="1009650"/>
              <a:ext cx="190500" cy="171450"/>
            </a:xfrm>
            <a:custGeom>
              <a:avLst/>
              <a:gdLst/>
              <a:ahLst/>
              <a:cxnLst/>
              <a:rect l="0" t="0" r="r" b="b"/>
              <a:pathLst>
                <a:path w="20000" h="18000" fill="none">
                  <a:moveTo>
                    <a:pt x="0" y="13000"/>
                  </a:moveTo>
                  <a:lnTo>
                    <a:pt x="1000" y="15500"/>
                  </a:lnTo>
                  <a:lnTo>
                    <a:pt x="2000" y="18000"/>
                  </a:lnTo>
                  <a:lnTo>
                    <a:pt x="3000" y="17500"/>
                  </a:lnTo>
                  <a:lnTo>
                    <a:pt x="4000" y="15500"/>
                  </a:lnTo>
                  <a:lnTo>
                    <a:pt x="5000" y="13000"/>
                  </a:lnTo>
                  <a:lnTo>
                    <a:pt x="6000" y="10000"/>
                  </a:lnTo>
                  <a:lnTo>
                    <a:pt x="7000" y="7000"/>
                  </a:lnTo>
                  <a:lnTo>
                    <a:pt x="8000" y="4500"/>
                  </a:lnTo>
                  <a:lnTo>
                    <a:pt x="9000" y="2000"/>
                  </a:lnTo>
                  <a:lnTo>
                    <a:pt x="10000" y="500"/>
                  </a:lnTo>
                  <a:lnTo>
                    <a:pt x="11000" y="0"/>
                  </a:lnTo>
                  <a:lnTo>
                    <a:pt x="12000" y="0"/>
                  </a:lnTo>
                  <a:lnTo>
                    <a:pt x="13000" y="500"/>
                  </a:lnTo>
                  <a:lnTo>
                    <a:pt x="14000" y="1500"/>
                  </a:lnTo>
                  <a:lnTo>
                    <a:pt x="15000" y="2500"/>
                  </a:lnTo>
                  <a:lnTo>
                    <a:pt x="16000" y="4000"/>
                  </a:lnTo>
                  <a:lnTo>
                    <a:pt x="17000" y="5500"/>
                  </a:lnTo>
                  <a:lnTo>
                    <a:pt x="18000" y="7500"/>
                  </a:lnTo>
                  <a:lnTo>
                    <a:pt x="19000" y="8500"/>
                  </a:lnTo>
                  <a:lnTo>
                    <a:pt x="20000" y="9500"/>
                  </a:lnTo>
                </a:path>
              </a:pathLst>
            </a:custGeom>
            <a:noFill/>
            <a:ln w="14287" cap="rnd">
              <a:solidFill>
                <a:srgbClr val="EAB08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1" name="Rectangle 480"/>
            <p:cNvSpPr/>
            <p:nvPr/>
          </p:nvSpPr>
          <p:spPr>
            <a:xfrm>
              <a:off x="16287750" y="971550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BEBE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Rectangle 481"/>
            <p:cNvSpPr/>
            <p:nvPr/>
          </p:nvSpPr>
          <p:spPr>
            <a:xfrm>
              <a:off x="14230350" y="1285875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Rectangle 482"/>
            <p:cNvSpPr/>
            <p:nvPr/>
          </p:nvSpPr>
          <p:spPr>
            <a:xfrm>
              <a:off x="14239875" y="1343025"/>
              <a:ext cx="219075" cy="128588"/>
            </a:xfrm>
            <a:custGeom>
              <a:avLst/>
              <a:gdLst/>
              <a:ahLst/>
              <a:cxnLst/>
              <a:rect l="0" t="0" r="r" b="b"/>
              <a:pathLst>
                <a:path w="23000" h="13500" fill="none">
                  <a:moveTo>
                    <a:pt x="0" y="10500"/>
                  </a:moveTo>
                  <a:lnTo>
                    <a:pt x="1000" y="8500"/>
                  </a:lnTo>
                  <a:lnTo>
                    <a:pt x="2000" y="5000"/>
                  </a:lnTo>
                  <a:lnTo>
                    <a:pt x="3000" y="2500"/>
                  </a:lnTo>
                  <a:lnTo>
                    <a:pt x="4000" y="0"/>
                  </a:lnTo>
                  <a:lnTo>
                    <a:pt x="5000" y="0"/>
                  </a:lnTo>
                  <a:lnTo>
                    <a:pt x="6000" y="2000"/>
                  </a:lnTo>
                  <a:lnTo>
                    <a:pt x="7000" y="4500"/>
                  </a:lnTo>
                  <a:lnTo>
                    <a:pt x="8000" y="7500"/>
                  </a:lnTo>
                  <a:lnTo>
                    <a:pt x="9000" y="10500"/>
                  </a:lnTo>
                  <a:lnTo>
                    <a:pt x="10000" y="12000"/>
                  </a:lnTo>
                  <a:lnTo>
                    <a:pt x="11000" y="12500"/>
                  </a:lnTo>
                  <a:lnTo>
                    <a:pt x="12000" y="11000"/>
                  </a:lnTo>
                  <a:lnTo>
                    <a:pt x="13000" y="9000"/>
                  </a:lnTo>
                  <a:lnTo>
                    <a:pt x="14000" y="6500"/>
                  </a:lnTo>
                  <a:lnTo>
                    <a:pt x="15000" y="4500"/>
                  </a:lnTo>
                  <a:lnTo>
                    <a:pt x="16000" y="3500"/>
                  </a:lnTo>
                  <a:lnTo>
                    <a:pt x="17000" y="4000"/>
                  </a:lnTo>
                  <a:lnTo>
                    <a:pt x="18000" y="5000"/>
                  </a:lnTo>
                  <a:lnTo>
                    <a:pt x="19000" y="6500"/>
                  </a:lnTo>
                  <a:lnTo>
                    <a:pt x="20000" y="8500"/>
                  </a:lnTo>
                  <a:lnTo>
                    <a:pt x="21000" y="10500"/>
                  </a:lnTo>
                  <a:lnTo>
                    <a:pt x="22000" y="12000"/>
                  </a:lnTo>
                  <a:lnTo>
                    <a:pt x="23000" y="13500"/>
                  </a:lnTo>
                </a:path>
              </a:pathLst>
            </a:custGeom>
            <a:noFill/>
            <a:ln w="14287" cap="rnd">
              <a:solidFill>
                <a:srgbClr val="94AED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4" name="Rectangle 483"/>
            <p:cNvSpPr/>
            <p:nvPr/>
          </p:nvSpPr>
          <p:spPr>
            <a:xfrm>
              <a:off x="14230350" y="1285875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BEBE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5" name="Rectangle 484"/>
            <p:cNvSpPr/>
            <p:nvPr/>
          </p:nvSpPr>
          <p:spPr>
            <a:xfrm>
              <a:off x="14573250" y="1285875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6" name="Rectangle 485"/>
            <p:cNvSpPr/>
            <p:nvPr/>
          </p:nvSpPr>
          <p:spPr>
            <a:xfrm>
              <a:off x="14582775" y="1300162"/>
              <a:ext cx="219075" cy="195262"/>
            </a:xfrm>
            <a:custGeom>
              <a:avLst/>
              <a:gdLst/>
              <a:ahLst/>
              <a:cxnLst/>
              <a:rect l="0" t="0" r="r" b="b"/>
              <a:pathLst>
                <a:path w="23000" h="20500" fill="none">
                  <a:moveTo>
                    <a:pt x="0" y="9500"/>
                  </a:moveTo>
                  <a:lnTo>
                    <a:pt x="1000" y="11000"/>
                  </a:lnTo>
                  <a:lnTo>
                    <a:pt x="2000" y="12000"/>
                  </a:lnTo>
                  <a:lnTo>
                    <a:pt x="3000" y="14500"/>
                  </a:lnTo>
                  <a:lnTo>
                    <a:pt x="4000" y="16000"/>
                  </a:lnTo>
                  <a:lnTo>
                    <a:pt x="5000" y="18000"/>
                  </a:lnTo>
                  <a:lnTo>
                    <a:pt x="6000" y="19500"/>
                  </a:lnTo>
                  <a:lnTo>
                    <a:pt x="7000" y="20000"/>
                  </a:lnTo>
                  <a:lnTo>
                    <a:pt x="8000" y="19000"/>
                  </a:lnTo>
                  <a:lnTo>
                    <a:pt x="9000" y="14500"/>
                  </a:lnTo>
                  <a:lnTo>
                    <a:pt x="10000" y="9000"/>
                  </a:lnTo>
                  <a:lnTo>
                    <a:pt x="11000" y="5000"/>
                  </a:lnTo>
                  <a:lnTo>
                    <a:pt x="12000" y="500"/>
                  </a:lnTo>
                  <a:lnTo>
                    <a:pt x="13000" y="0"/>
                  </a:lnTo>
                  <a:lnTo>
                    <a:pt x="14000" y="1500"/>
                  </a:lnTo>
                  <a:lnTo>
                    <a:pt x="15000" y="4000"/>
                  </a:lnTo>
                  <a:lnTo>
                    <a:pt x="16000" y="6500"/>
                  </a:lnTo>
                  <a:lnTo>
                    <a:pt x="17000" y="9500"/>
                  </a:lnTo>
                  <a:lnTo>
                    <a:pt x="18000" y="12500"/>
                  </a:lnTo>
                  <a:lnTo>
                    <a:pt x="19000" y="15000"/>
                  </a:lnTo>
                  <a:lnTo>
                    <a:pt x="20000" y="17500"/>
                  </a:lnTo>
                  <a:lnTo>
                    <a:pt x="21000" y="19500"/>
                  </a:lnTo>
                  <a:lnTo>
                    <a:pt x="22000" y="20500"/>
                  </a:lnTo>
                  <a:lnTo>
                    <a:pt x="23000" y="20000"/>
                  </a:lnTo>
                </a:path>
              </a:pathLst>
            </a:custGeom>
            <a:noFill/>
            <a:ln w="14287" cap="rnd">
              <a:solidFill>
                <a:srgbClr val="94AED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7" name="Rectangle 486"/>
            <p:cNvSpPr/>
            <p:nvPr/>
          </p:nvSpPr>
          <p:spPr>
            <a:xfrm>
              <a:off x="14573250" y="1285875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BEBE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8" name="Rectangle 487"/>
            <p:cNvSpPr/>
            <p:nvPr/>
          </p:nvSpPr>
          <p:spPr>
            <a:xfrm>
              <a:off x="14916150" y="1285875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9" name="Rectangle 488"/>
            <p:cNvSpPr/>
            <p:nvPr/>
          </p:nvSpPr>
          <p:spPr>
            <a:xfrm>
              <a:off x="14925675" y="1352550"/>
              <a:ext cx="219075" cy="142875"/>
            </a:xfrm>
            <a:custGeom>
              <a:avLst/>
              <a:gdLst/>
              <a:ahLst/>
              <a:cxnLst/>
              <a:rect l="0" t="0" r="r" b="b"/>
              <a:pathLst>
                <a:path w="23000" h="15000" fill="none">
                  <a:moveTo>
                    <a:pt x="0" y="13500"/>
                  </a:moveTo>
                  <a:lnTo>
                    <a:pt x="1000" y="14500"/>
                  </a:lnTo>
                  <a:lnTo>
                    <a:pt x="2000" y="14500"/>
                  </a:lnTo>
                  <a:lnTo>
                    <a:pt x="3000" y="14000"/>
                  </a:lnTo>
                  <a:lnTo>
                    <a:pt x="4000" y="12500"/>
                  </a:lnTo>
                  <a:lnTo>
                    <a:pt x="5000" y="11000"/>
                  </a:lnTo>
                  <a:lnTo>
                    <a:pt x="6000" y="9500"/>
                  </a:lnTo>
                  <a:lnTo>
                    <a:pt x="7000" y="7500"/>
                  </a:lnTo>
                  <a:lnTo>
                    <a:pt x="8000" y="6500"/>
                  </a:lnTo>
                  <a:lnTo>
                    <a:pt x="9000" y="6000"/>
                  </a:lnTo>
                  <a:lnTo>
                    <a:pt x="10000" y="6500"/>
                  </a:lnTo>
                  <a:lnTo>
                    <a:pt x="11000" y="8000"/>
                  </a:lnTo>
                  <a:lnTo>
                    <a:pt x="12000" y="9000"/>
                  </a:lnTo>
                  <a:lnTo>
                    <a:pt x="13000" y="10500"/>
                  </a:lnTo>
                  <a:lnTo>
                    <a:pt x="14000" y="12000"/>
                  </a:lnTo>
                  <a:lnTo>
                    <a:pt x="15000" y="13500"/>
                  </a:lnTo>
                  <a:lnTo>
                    <a:pt x="16000" y="14500"/>
                  </a:lnTo>
                  <a:lnTo>
                    <a:pt x="17000" y="15000"/>
                  </a:lnTo>
                  <a:lnTo>
                    <a:pt x="18000" y="14000"/>
                  </a:lnTo>
                  <a:lnTo>
                    <a:pt x="19000" y="12000"/>
                  </a:lnTo>
                  <a:lnTo>
                    <a:pt x="20000" y="8500"/>
                  </a:lnTo>
                  <a:lnTo>
                    <a:pt x="21000" y="5000"/>
                  </a:lnTo>
                  <a:lnTo>
                    <a:pt x="22000" y="1500"/>
                  </a:lnTo>
                  <a:lnTo>
                    <a:pt x="23000" y="0"/>
                  </a:lnTo>
                </a:path>
              </a:pathLst>
            </a:custGeom>
            <a:noFill/>
            <a:ln w="14287" cap="rnd">
              <a:solidFill>
                <a:srgbClr val="94AED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0" name="Rectangle 489"/>
            <p:cNvSpPr/>
            <p:nvPr/>
          </p:nvSpPr>
          <p:spPr>
            <a:xfrm>
              <a:off x="14916150" y="1285875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BEBE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1" name="Rectangle 490"/>
            <p:cNvSpPr/>
            <p:nvPr/>
          </p:nvSpPr>
          <p:spPr>
            <a:xfrm>
              <a:off x="15259050" y="1285875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2" name="Rectangle 491"/>
            <p:cNvSpPr/>
            <p:nvPr/>
          </p:nvSpPr>
          <p:spPr>
            <a:xfrm>
              <a:off x="15268575" y="1295400"/>
              <a:ext cx="219075" cy="195262"/>
            </a:xfrm>
            <a:custGeom>
              <a:avLst/>
              <a:gdLst/>
              <a:ahLst/>
              <a:cxnLst/>
              <a:rect l="0" t="0" r="r" b="b"/>
              <a:pathLst>
                <a:path w="23000" h="20500" fill="none">
                  <a:moveTo>
                    <a:pt x="0" y="10000"/>
                  </a:moveTo>
                  <a:lnTo>
                    <a:pt x="1000" y="7000"/>
                  </a:lnTo>
                  <a:lnTo>
                    <a:pt x="2000" y="5500"/>
                  </a:lnTo>
                  <a:lnTo>
                    <a:pt x="3000" y="6500"/>
                  </a:lnTo>
                  <a:lnTo>
                    <a:pt x="4000" y="8000"/>
                  </a:lnTo>
                  <a:lnTo>
                    <a:pt x="5000" y="10500"/>
                  </a:lnTo>
                  <a:lnTo>
                    <a:pt x="6000" y="13500"/>
                  </a:lnTo>
                  <a:lnTo>
                    <a:pt x="7000" y="16000"/>
                  </a:lnTo>
                  <a:lnTo>
                    <a:pt x="8000" y="18000"/>
                  </a:lnTo>
                  <a:lnTo>
                    <a:pt x="9000" y="20000"/>
                  </a:lnTo>
                  <a:lnTo>
                    <a:pt x="10000" y="20500"/>
                  </a:lnTo>
                  <a:lnTo>
                    <a:pt x="11000" y="20500"/>
                  </a:lnTo>
                  <a:lnTo>
                    <a:pt x="12000" y="19500"/>
                  </a:lnTo>
                  <a:lnTo>
                    <a:pt x="13000" y="17000"/>
                  </a:lnTo>
                  <a:lnTo>
                    <a:pt x="14000" y="14500"/>
                  </a:lnTo>
                  <a:lnTo>
                    <a:pt x="15000" y="12000"/>
                  </a:lnTo>
                  <a:lnTo>
                    <a:pt x="16000" y="9000"/>
                  </a:lnTo>
                  <a:lnTo>
                    <a:pt x="17000" y="6000"/>
                  </a:lnTo>
                  <a:lnTo>
                    <a:pt x="18000" y="3000"/>
                  </a:lnTo>
                  <a:lnTo>
                    <a:pt x="19000" y="1500"/>
                  </a:lnTo>
                  <a:lnTo>
                    <a:pt x="20000" y="0"/>
                  </a:lnTo>
                  <a:lnTo>
                    <a:pt x="22000" y="0"/>
                  </a:lnTo>
                  <a:lnTo>
                    <a:pt x="23000" y="500"/>
                  </a:lnTo>
                </a:path>
              </a:pathLst>
            </a:custGeom>
            <a:noFill/>
            <a:ln w="14287" cap="rnd">
              <a:solidFill>
                <a:srgbClr val="94AED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3" name="Rectangle 492"/>
            <p:cNvSpPr/>
            <p:nvPr/>
          </p:nvSpPr>
          <p:spPr>
            <a:xfrm>
              <a:off x="15259050" y="1285875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BEBE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4" name="Rectangle 493"/>
            <p:cNvSpPr/>
            <p:nvPr/>
          </p:nvSpPr>
          <p:spPr>
            <a:xfrm>
              <a:off x="15601950" y="1285875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5" name="Rectangle 494"/>
            <p:cNvSpPr/>
            <p:nvPr/>
          </p:nvSpPr>
          <p:spPr>
            <a:xfrm>
              <a:off x="15611475" y="1295400"/>
              <a:ext cx="209550" cy="157162"/>
            </a:xfrm>
            <a:custGeom>
              <a:avLst/>
              <a:gdLst/>
              <a:ahLst/>
              <a:cxnLst/>
              <a:rect l="0" t="0" r="r" b="b"/>
              <a:pathLst>
                <a:path w="22000" h="16500" fill="none">
                  <a:moveTo>
                    <a:pt x="0" y="16000"/>
                  </a:moveTo>
                  <a:lnTo>
                    <a:pt x="1000" y="12500"/>
                  </a:lnTo>
                  <a:lnTo>
                    <a:pt x="2000" y="9500"/>
                  </a:lnTo>
                  <a:lnTo>
                    <a:pt x="3000" y="7000"/>
                  </a:lnTo>
                  <a:lnTo>
                    <a:pt x="4000" y="3500"/>
                  </a:lnTo>
                  <a:lnTo>
                    <a:pt x="5000" y="1500"/>
                  </a:lnTo>
                  <a:lnTo>
                    <a:pt x="6000" y="500"/>
                  </a:lnTo>
                  <a:lnTo>
                    <a:pt x="8000" y="0"/>
                  </a:lnTo>
                  <a:lnTo>
                    <a:pt x="9000" y="1000"/>
                  </a:lnTo>
                  <a:lnTo>
                    <a:pt x="10000" y="2500"/>
                  </a:lnTo>
                  <a:lnTo>
                    <a:pt x="11000" y="4000"/>
                  </a:lnTo>
                  <a:lnTo>
                    <a:pt x="12000" y="6500"/>
                  </a:lnTo>
                  <a:lnTo>
                    <a:pt x="13000" y="9000"/>
                  </a:lnTo>
                  <a:lnTo>
                    <a:pt x="14000" y="11500"/>
                  </a:lnTo>
                  <a:lnTo>
                    <a:pt x="15000" y="14000"/>
                  </a:lnTo>
                  <a:lnTo>
                    <a:pt x="16000" y="15500"/>
                  </a:lnTo>
                  <a:lnTo>
                    <a:pt x="17000" y="16500"/>
                  </a:lnTo>
                  <a:lnTo>
                    <a:pt x="18000" y="16500"/>
                  </a:lnTo>
                  <a:lnTo>
                    <a:pt x="19000" y="15000"/>
                  </a:lnTo>
                  <a:lnTo>
                    <a:pt x="20000" y="12500"/>
                  </a:lnTo>
                  <a:lnTo>
                    <a:pt x="21000" y="9500"/>
                  </a:lnTo>
                  <a:lnTo>
                    <a:pt x="22000" y="7000"/>
                  </a:lnTo>
                </a:path>
              </a:pathLst>
            </a:custGeom>
            <a:noFill/>
            <a:ln w="14287" cap="rnd">
              <a:solidFill>
                <a:srgbClr val="94AED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6" name="Rectangle 495"/>
            <p:cNvSpPr/>
            <p:nvPr/>
          </p:nvSpPr>
          <p:spPr>
            <a:xfrm>
              <a:off x="15601950" y="1285875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BEBE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7" name="Rectangle 496"/>
            <p:cNvSpPr/>
            <p:nvPr/>
          </p:nvSpPr>
          <p:spPr>
            <a:xfrm>
              <a:off x="15944850" y="1285875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8" name="Rectangle 497"/>
            <p:cNvSpPr/>
            <p:nvPr/>
          </p:nvSpPr>
          <p:spPr>
            <a:xfrm>
              <a:off x="15954375" y="1323975"/>
              <a:ext cx="209550" cy="161925"/>
            </a:xfrm>
            <a:custGeom>
              <a:avLst/>
              <a:gdLst/>
              <a:ahLst/>
              <a:cxnLst/>
              <a:rect l="0" t="0" r="r" b="b"/>
              <a:pathLst>
                <a:path w="22000" h="17000" fill="none">
                  <a:moveTo>
                    <a:pt x="0" y="13500"/>
                  </a:moveTo>
                  <a:lnTo>
                    <a:pt x="1000" y="13500"/>
                  </a:lnTo>
                  <a:lnTo>
                    <a:pt x="2000" y="12500"/>
                  </a:lnTo>
                  <a:lnTo>
                    <a:pt x="3000" y="10500"/>
                  </a:lnTo>
                  <a:lnTo>
                    <a:pt x="4000" y="8000"/>
                  </a:lnTo>
                  <a:lnTo>
                    <a:pt x="5000" y="5500"/>
                  </a:lnTo>
                  <a:lnTo>
                    <a:pt x="6000" y="3000"/>
                  </a:lnTo>
                  <a:lnTo>
                    <a:pt x="7000" y="4000"/>
                  </a:lnTo>
                  <a:lnTo>
                    <a:pt x="8000" y="6500"/>
                  </a:lnTo>
                  <a:lnTo>
                    <a:pt x="9000" y="9500"/>
                  </a:lnTo>
                  <a:lnTo>
                    <a:pt x="10000" y="13500"/>
                  </a:lnTo>
                  <a:lnTo>
                    <a:pt x="11000" y="15500"/>
                  </a:lnTo>
                  <a:lnTo>
                    <a:pt x="12000" y="17000"/>
                  </a:lnTo>
                  <a:lnTo>
                    <a:pt x="13000" y="16500"/>
                  </a:lnTo>
                  <a:lnTo>
                    <a:pt x="14000" y="14500"/>
                  </a:lnTo>
                  <a:lnTo>
                    <a:pt x="15000" y="12000"/>
                  </a:lnTo>
                  <a:lnTo>
                    <a:pt x="16000" y="9000"/>
                  </a:lnTo>
                  <a:lnTo>
                    <a:pt x="17000" y="6000"/>
                  </a:lnTo>
                  <a:lnTo>
                    <a:pt x="18000" y="3500"/>
                  </a:lnTo>
                  <a:lnTo>
                    <a:pt x="19000" y="1500"/>
                  </a:lnTo>
                  <a:lnTo>
                    <a:pt x="20000" y="500"/>
                  </a:lnTo>
                  <a:lnTo>
                    <a:pt x="21000" y="0"/>
                  </a:lnTo>
                  <a:lnTo>
                    <a:pt x="22000" y="0"/>
                  </a:lnTo>
                </a:path>
              </a:pathLst>
            </a:custGeom>
            <a:noFill/>
            <a:ln w="14287" cap="rnd">
              <a:solidFill>
                <a:srgbClr val="94AED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9" name="Rectangle 498"/>
            <p:cNvSpPr/>
            <p:nvPr/>
          </p:nvSpPr>
          <p:spPr>
            <a:xfrm>
              <a:off x="15944850" y="1285875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BEBE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0" name="Rectangle 499"/>
            <p:cNvSpPr/>
            <p:nvPr/>
          </p:nvSpPr>
          <p:spPr>
            <a:xfrm>
              <a:off x="16287750" y="1285875"/>
              <a:ext cx="247650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1" name="Rectangle 500"/>
            <p:cNvSpPr/>
            <p:nvPr/>
          </p:nvSpPr>
          <p:spPr>
            <a:xfrm>
              <a:off x="16297275" y="1323975"/>
              <a:ext cx="190500" cy="161925"/>
            </a:xfrm>
            <a:custGeom>
              <a:avLst/>
              <a:gdLst/>
              <a:ahLst/>
              <a:cxnLst/>
              <a:rect l="0" t="0" r="r" b="b"/>
              <a:pathLst>
                <a:path w="20000" h="17000" fill="none">
                  <a:moveTo>
                    <a:pt x="0" y="12500"/>
                  </a:moveTo>
                  <a:lnTo>
                    <a:pt x="1000" y="15000"/>
                  </a:lnTo>
                  <a:lnTo>
                    <a:pt x="2000" y="17000"/>
                  </a:lnTo>
                  <a:lnTo>
                    <a:pt x="3000" y="16500"/>
                  </a:lnTo>
                  <a:lnTo>
                    <a:pt x="4000" y="15000"/>
                  </a:lnTo>
                  <a:lnTo>
                    <a:pt x="5000" y="12500"/>
                  </a:lnTo>
                  <a:lnTo>
                    <a:pt x="6000" y="10000"/>
                  </a:lnTo>
                  <a:lnTo>
                    <a:pt x="7000" y="6500"/>
                  </a:lnTo>
                  <a:lnTo>
                    <a:pt x="8000" y="3500"/>
                  </a:lnTo>
                  <a:lnTo>
                    <a:pt x="9000" y="1500"/>
                  </a:lnTo>
                  <a:lnTo>
                    <a:pt x="10000" y="500"/>
                  </a:lnTo>
                  <a:lnTo>
                    <a:pt x="11000" y="0"/>
                  </a:lnTo>
                  <a:lnTo>
                    <a:pt x="12000" y="0"/>
                  </a:lnTo>
                  <a:lnTo>
                    <a:pt x="13000" y="500"/>
                  </a:lnTo>
                  <a:lnTo>
                    <a:pt x="14000" y="1000"/>
                  </a:lnTo>
                  <a:lnTo>
                    <a:pt x="15000" y="2000"/>
                  </a:lnTo>
                  <a:lnTo>
                    <a:pt x="16000" y="3000"/>
                  </a:lnTo>
                  <a:lnTo>
                    <a:pt x="17000" y="5000"/>
                  </a:lnTo>
                  <a:lnTo>
                    <a:pt x="18000" y="6500"/>
                  </a:lnTo>
                  <a:lnTo>
                    <a:pt x="19000" y="8000"/>
                  </a:lnTo>
                  <a:lnTo>
                    <a:pt x="20000" y="9000"/>
                  </a:lnTo>
                </a:path>
              </a:pathLst>
            </a:custGeom>
            <a:noFill/>
            <a:ln w="14287" cap="rnd">
              <a:solidFill>
                <a:srgbClr val="94AED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2" name="Rectangle 501"/>
            <p:cNvSpPr/>
            <p:nvPr/>
          </p:nvSpPr>
          <p:spPr>
            <a:xfrm>
              <a:off x="16287750" y="1285875"/>
              <a:ext cx="247650" cy="952"/>
            </a:xfrm>
            <a:custGeom>
              <a:avLst/>
              <a:gdLst/>
              <a:ahLst/>
              <a:cxnLst/>
              <a:rect l="0" t="0" r="r" b="b"/>
              <a:pathLst>
                <a:path w="26000" h="100" fill="none">
                  <a:moveTo>
                    <a:pt x="0" y="0"/>
                  </a:moveTo>
                  <a:lnTo>
                    <a:pt x="26000" y="0"/>
                  </a:lnTo>
                </a:path>
              </a:pathLst>
            </a:custGeom>
            <a:noFill/>
            <a:ln w="5714" cap="rnd">
              <a:solidFill>
                <a:srgbClr val="BEBE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3" name="Rectangle 502"/>
            <p:cNvSpPr/>
            <p:nvPr/>
          </p:nvSpPr>
          <p:spPr>
            <a:xfrm>
              <a:off x="16535400" y="1085850"/>
              <a:ext cx="504825" cy="9525"/>
            </a:xfrm>
            <a:custGeom>
              <a:avLst/>
              <a:gdLst/>
              <a:ahLst/>
              <a:cxnLst/>
              <a:rect l="0" t="0" r="r" b="b"/>
              <a:pathLst>
                <a:path w="53000" h="1000" fill="none">
                  <a:moveTo>
                    <a:pt x="0" y="0"/>
                  </a:moveTo>
                  <a:lnTo>
                    <a:pt x="53000" y="100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4" name="Rectangle 503"/>
            <p:cNvSpPr/>
            <p:nvPr/>
          </p:nvSpPr>
          <p:spPr>
            <a:xfrm>
              <a:off x="16973034" y="1066119"/>
              <a:ext cx="67191" cy="55997"/>
            </a:xfrm>
            <a:custGeom>
              <a:avLst/>
              <a:gdLst/>
              <a:ahLst/>
              <a:cxnLst/>
              <a:rect l="0" t="0" r="r" b="b"/>
              <a:pathLst>
                <a:path w="7054" h="5879" fill="norm">
                  <a:moveTo>
                    <a:pt x="7054" y="3072"/>
                  </a:moveTo>
                  <a:lnTo>
                    <a:pt x="111" y="0"/>
                  </a:lnTo>
                  <a:lnTo>
                    <a:pt x="2365" y="2983"/>
                  </a:lnTo>
                  <a:lnTo>
                    <a:pt x="0" y="5879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5" name="Rounded Rectangle 504"/>
            <p:cNvSpPr/>
            <p:nvPr/>
          </p:nvSpPr>
          <p:spPr>
            <a:xfrm>
              <a:off x="17059275" y="676275"/>
              <a:ext cx="419100" cy="800100"/>
            </a:xfrm>
            <a:prstGeom prst="roundRect">
              <a:avLst>
                <a:gd name="adj" fmla="val 11363"/>
              </a:avLst>
            </a:prstGeom>
            <a:solidFill>
              <a:srgbClr val="F7CAA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6" name="Text: Linear"/>
            <p:cNvSpPr txBox="1"/>
            <p:nvPr/>
          </p:nvSpPr>
          <p:spPr>
            <a:xfrm rot="16200000">
              <a:off x="16990755" y="942975"/>
              <a:ext cx="563761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Linear</a:t>
              </a:r>
            </a:p>
          </p:txBody>
        </p:sp>
        <p:sp>
          <p:nvSpPr>
            <p:cNvPr id="507" name="Rectangle 506"/>
            <p:cNvSpPr/>
            <p:nvPr/>
          </p:nvSpPr>
          <p:spPr>
            <a:xfrm>
              <a:off x="17411700" y="1400175"/>
              <a:ext cx="114300" cy="952"/>
            </a:xfrm>
            <a:custGeom>
              <a:avLst/>
              <a:gdLst/>
              <a:ahLst/>
              <a:cxnLst/>
              <a:rect l="0" t="0" r="r" b="b"/>
              <a:pathLst>
                <a:path w="12000" h="100" fill="none">
                  <a:moveTo>
                    <a:pt x="0" y="0"/>
                  </a:moveTo>
                  <a:lnTo>
                    <a:pt x="12000" y="0"/>
                  </a:lnTo>
                </a:path>
              </a:pathLst>
            </a:custGeom>
            <a:noFill/>
            <a:ln w="14287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8" name="Rectangle 507"/>
            <p:cNvSpPr/>
            <p:nvPr/>
          </p:nvSpPr>
          <p:spPr>
            <a:xfrm>
              <a:off x="17455622" y="1377277"/>
              <a:ext cx="18943" cy="22898"/>
            </a:xfrm>
            <a:custGeom>
              <a:avLst/>
              <a:gdLst/>
              <a:ahLst/>
              <a:cxnLst/>
              <a:rect l="0" t="0" r="r" b="b"/>
              <a:pathLst>
                <a:path w="1989" h="2404" fill="none">
                  <a:moveTo>
                    <a:pt x="1989" y="2404"/>
                  </a:moveTo>
                  <a:lnTo>
                    <a:pt x="0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Rectangle 508"/>
            <p:cNvSpPr/>
            <p:nvPr/>
          </p:nvSpPr>
          <p:spPr>
            <a:xfrm>
              <a:off x="17455622" y="1400175"/>
              <a:ext cx="18943" cy="22898"/>
            </a:xfrm>
            <a:custGeom>
              <a:avLst/>
              <a:gdLst/>
              <a:ahLst/>
              <a:cxnLst/>
              <a:rect l="0" t="0" r="r" b="b"/>
              <a:pathLst>
                <a:path w="1989" h="2404" fill="none">
                  <a:moveTo>
                    <a:pt x="1989" y="0"/>
                  </a:moveTo>
                  <a:lnTo>
                    <a:pt x="0" y="2404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0" name="Rectangle 509"/>
            <p:cNvSpPr/>
            <p:nvPr/>
          </p:nvSpPr>
          <p:spPr>
            <a:xfrm>
              <a:off x="17486483" y="1377277"/>
              <a:ext cx="18943" cy="22898"/>
            </a:xfrm>
            <a:custGeom>
              <a:avLst/>
              <a:gdLst/>
              <a:ahLst/>
              <a:cxnLst/>
              <a:rect l="0" t="0" r="r" b="b"/>
              <a:pathLst>
                <a:path w="1989" h="2404" fill="none">
                  <a:moveTo>
                    <a:pt x="1989" y="2404"/>
                  </a:moveTo>
                  <a:lnTo>
                    <a:pt x="0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1" name="Rectangle 510"/>
            <p:cNvSpPr/>
            <p:nvPr/>
          </p:nvSpPr>
          <p:spPr>
            <a:xfrm>
              <a:off x="17486483" y="1400175"/>
              <a:ext cx="18943" cy="22898"/>
            </a:xfrm>
            <a:custGeom>
              <a:avLst/>
              <a:gdLst/>
              <a:ahLst/>
              <a:cxnLst/>
              <a:rect l="0" t="0" r="r" b="b"/>
              <a:pathLst>
                <a:path w="1989" h="2404" fill="none">
                  <a:moveTo>
                    <a:pt x="1989" y="0"/>
                  </a:moveTo>
                  <a:lnTo>
                    <a:pt x="0" y="2404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2" name="Rectangle 511"/>
            <p:cNvSpPr/>
            <p:nvPr/>
          </p:nvSpPr>
          <p:spPr>
            <a:xfrm>
              <a:off x="17411700" y="1400175"/>
              <a:ext cx="57150" cy="98987"/>
            </a:xfrm>
            <a:custGeom>
              <a:avLst/>
              <a:gdLst/>
              <a:ahLst/>
              <a:cxnLst/>
              <a:rect l="0" t="0" r="r" b="b"/>
              <a:pathLst>
                <a:path w="6000" h="10392" fill="none">
                  <a:moveTo>
                    <a:pt x="0" y="0"/>
                  </a:moveTo>
                  <a:lnTo>
                    <a:pt x="6000" y="10392"/>
                  </a:lnTo>
                </a:path>
              </a:pathLst>
            </a:custGeom>
            <a:noFill/>
            <a:ln w="14287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Rectangle 512"/>
            <p:cNvSpPr/>
            <p:nvPr/>
          </p:nvSpPr>
          <p:spPr>
            <a:xfrm>
              <a:off x="17443132" y="1426764"/>
              <a:ext cx="10359" cy="27854"/>
            </a:xfrm>
            <a:custGeom>
              <a:avLst/>
              <a:gdLst/>
              <a:ahLst/>
              <a:cxnLst/>
              <a:rect l="0" t="0" r="r" b="b"/>
              <a:pathLst>
                <a:path w="1088" h="2924" fill="none">
                  <a:moveTo>
                    <a:pt x="0" y="2924"/>
                  </a:moveTo>
                  <a:lnTo>
                    <a:pt x="1088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Rectangle 513"/>
            <p:cNvSpPr/>
            <p:nvPr/>
          </p:nvSpPr>
          <p:spPr>
            <a:xfrm>
              <a:off x="17413831" y="1449662"/>
              <a:ext cx="29302" cy="4956"/>
            </a:xfrm>
            <a:custGeom>
              <a:avLst/>
              <a:gdLst/>
              <a:ahLst/>
              <a:cxnLst/>
              <a:rect l="0" t="0" r="r" b="b"/>
              <a:pathLst>
                <a:path w="3076" h="520" fill="none">
                  <a:moveTo>
                    <a:pt x="3076" y="520"/>
                  </a:moveTo>
                  <a:lnTo>
                    <a:pt x="0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5" name="Rectangle 514"/>
            <p:cNvSpPr/>
            <p:nvPr/>
          </p:nvSpPr>
          <p:spPr>
            <a:xfrm>
              <a:off x="17458563" y="1453490"/>
              <a:ext cx="10359" cy="27854"/>
            </a:xfrm>
            <a:custGeom>
              <a:avLst/>
              <a:gdLst/>
              <a:ahLst/>
              <a:cxnLst/>
              <a:rect l="0" t="0" r="r" b="b"/>
              <a:pathLst>
                <a:path w="1088" h="2924" fill="none">
                  <a:moveTo>
                    <a:pt x="0" y="2924"/>
                  </a:moveTo>
                  <a:lnTo>
                    <a:pt x="1088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6" name="Rectangle 515"/>
            <p:cNvSpPr/>
            <p:nvPr/>
          </p:nvSpPr>
          <p:spPr>
            <a:xfrm>
              <a:off x="17429261" y="1476388"/>
              <a:ext cx="29302" cy="4956"/>
            </a:xfrm>
            <a:custGeom>
              <a:avLst/>
              <a:gdLst/>
              <a:ahLst/>
              <a:cxnLst/>
              <a:rect l="0" t="0" r="r" b="b"/>
              <a:pathLst>
                <a:path w="3076" h="520" fill="none">
                  <a:moveTo>
                    <a:pt x="3076" y="520"/>
                  </a:moveTo>
                  <a:lnTo>
                    <a:pt x="0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Rectangle 516"/>
            <p:cNvSpPr/>
            <p:nvPr/>
          </p:nvSpPr>
          <p:spPr>
            <a:xfrm>
              <a:off x="17354550" y="1400175"/>
              <a:ext cx="57150" cy="98987"/>
            </a:xfrm>
            <a:custGeom>
              <a:avLst/>
              <a:gdLst/>
              <a:ahLst/>
              <a:cxnLst/>
              <a:rect l="0" t="0" r="r" b="b"/>
              <a:pathLst>
                <a:path w="6000" h="10392" fill="none">
                  <a:moveTo>
                    <a:pt x="6000" y="0"/>
                  </a:moveTo>
                  <a:lnTo>
                    <a:pt x="0" y="10392"/>
                  </a:lnTo>
                </a:path>
              </a:pathLst>
            </a:custGeom>
            <a:noFill/>
            <a:ln w="14287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Rectangle 517"/>
            <p:cNvSpPr/>
            <p:nvPr/>
          </p:nvSpPr>
          <p:spPr>
            <a:xfrm>
              <a:off x="17380268" y="1449662"/>
              <a:ext cx="29302" cy="4956"/>
            </a:xfrm>
            <a:custGeom>
              <a:avLst/>
              <a:gdLst/>
              <a:ahLst/>
              <a:cxnLst/>
              <a:rect l="0" t="0" r="r" b="b"/>
              <a:pathLst>
                <a:path w="3076" h="520" fill="none">
                  <a:moveTo>
                    <a:pt x="0" y="520"/>
                  </a:moveTo>
                  <a:lnTo>
                    <a:pt x="3076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Rectangle 518"/>
            <p:cNvSpPr/>
            <p:nvPr/>
          </p:nvSpPr>
          <p:spPr>
            <a:xfrm>
              <a:off x="17369909" y="1426764"/>
              <a:ext cx="10359" cy="27854"/>
            </a:xfrm>
            <a:custGeom>
              <a:avLst/>
              <a:gdLst/>
              <a:ahLst/>
              <a:cxnLst/>
              <a:rect l="0" t="0" r="r" b="b"/>
              <a:pathLst>
                <a:path w="1088" h="2924" fill="none">
                  <a:moveTo>
                    <a:pt x="1088" y="2924"/>
                  </a:moveTo>
                  <a:lnTo>
                    <a:pt x="0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0" name="Rectangle 519"/>
            <p:cNvSpPr/>
            <p:nvPr/>
          </p:nvSpPr>
          <p:spPr>
            <a:xfrm>
              <a:off x="17364837" y="1476388"/>
              <a:ext cx="29302" cy="4956"/>
            </a:xfrm>
            <a:custGeom>
              <a:avLst/>
              <a:gdLst/>
              <a:ahLst/>
              <a:cxnLst/>
              <a:rect l="0" t="0" r="r" b="b"/>
              <a:pathLst>
                <a:path w="3076" h="520" fill="none">
                  <a:moveTo>
                    <a:pt x="0" y="520"/>
                  </a:moveTo>
                  <a:lnTo>
                    <a:pt x="3076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1" name="Rectangle 520"/>
            <p:cNvSpPr/>
            <p:nvPr/>
          </p:nvSpPr>
          <p:spPr>
            <a:xfrm>
              <a:off x="17354478" y="1453490"/>
              <a:ext cx="10359" cy="27854"/>
            </a:xfrm>
            <a:custGeom>
              <a:avLst/>
              <a:gdLst/>
              <a:ahLst/>
              <a:cxnLst/>
              <a:rect l="0" t="0" r="r" b="b"/>
              <a:pathLst>
                <a:path w="1088" h="2924" fill="none">
                  <a:moveTo>
                    <a:pt x="1088" y="2924"/>
                  </a:moveTo>
                  <a:lnTo>
                    <a:pt x="0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Rectangle 521"/>
            <p:cNvSpPr/>
            <p:nvPr/>
          </p:nvSpPr>
          <p:spPr>
            <a:xfrm>
              <a:off x="17297400" y="1400175"/>
              <a:ext cx="114300" cy="952"/>
            </a:xfrm>
            <a:custGeom>
              <a:avLst/>
              <a:gdLst/>
              <a:ahLst/>
              <a:cxnLst/>
              <a:rect l="0" t="0" r="r" b="b"/>
              <a:pathLst>
                <a:path w="12000" h="100" fill="none">
                  <a:moveTo>
                    <a:pt x="12000" y="0"/>
                  </a:moveTo>
                  <a:lnTo>
                    <a:pt x="0" y="0"/>
                  </a:lnTo>
                </a:path>
              </a:pathLst>
            </a:custGeom>
            <a:noFill/>
            <a:ln w="14287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3" name="Rectangle 522"/>
            <p:cNvSpPr/>
            <p:nvPr/>
          </p:nvSpPr>
          <p:spPr>
            <a:xfrm>
              <a:off x="17348835" y="1400175"/>
              <a:ext cx="18943" cy="22898"/>
            </a:xfrm>
            <a:custGeom>
              <a:avLst/>
              <a:gdLst/>
              <a:ahLst/>
              <a:cxnLst/>
              <a:rect l="0" t="0" r="r" b="b"/>
              <a:pathLst>
                <a:path w="1989" h="2404" fill="none">
                  <a:moveTo>
                    <a:pt x="0" y="0"/>
                  </a:moveTo>
                  <a:lnTo>
                    <a:pt x="1989" y="2404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4" name="Rectangle 523"/>
            <p:cNvSpPr/>
            <p:nvPr/>
          </p:nvSpPr>
          <p:spPr>
            <a:xfrm>
              <a:off x="17348835" y="1377277"/>
              <a:ext cx="18943" cy="22898"/>
            </a:xfrm>
            <a:custGeom>
              <a:avLst/>
              <a:gdLst/>
              <a:ahLst/>
              <a:cxnLst/>
              <a:rect l="0" t="0" r="r" b="b"/>
              <a:pathLst>
                <a:path w="1989" h="2404" fill="none">
                  <a:moveTo>
                    <a:pt x="0" y="2404"/>
                  </a:moveTo>
                  <a:lnTo>
                    <a:pt x="1989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5" name="Rectangle 524"/>
            <p:cNvSpPr/>
            <p:nvPr/>
          </p:nvSpPr>
          <p:spPr>
            <a:xfrm>
              <a:off x="17317974" y="1400175"/>
              <a:ext cx="18943" cy="22898"/>
            </a:xfrm>
            <a:custGeom>
              <a:avLst/>
              <a:gdLst/>
              <a:ahLst/>
              <a:cxnLst/>
              <a:rect l="0" t="0" r="r" b="b"/>
              <a:pathLst>
                <a:path w="1989" h="2404" fill="none">
                  <a:moveTo>
                    <a:pt x="0" y="0"/>
                  </a:moveTo>
                  <a:lnTo>
                    <a:pt x="1989" y="2404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6" name="Rectangle 525"/>
            <p:cNvSpPr/>
            <p:nvPr/>
          </p:nvSpPr>
          <p:spPr>
            <a:xfrm>
              <a:off x="17317974" y="1377277"/>
              <a:ext cx="18943" cy="22898"/>
            </a:xfrm>
            <a:custGeom>
              <a:avLst/>
              <a:gdLst/>
              <a:ahLst/>
              <a:cxnLst/>
              <a:rect l="0" t="0" r="r" b="b"/>
              <a:pathLst>
                <a:path w="1989" h="2404" fill="none">
                  <a:moveTo>
                    <a:pt x="0" y="2404"/>
                  </a:moveTo>
                  <a:lnTo>
                    <a:pt x="1989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7" name="Rectangle 526"/>
            <p:cNvSpPr/>
            <p:nvPr/>
          </p:nvSpPr>
          <p:spPr>
            <a:xfrm>
              <a:off x="17354550" y="1301188"/>
              <a:ext cx="57150" cy="98987"/>
            </a:xfrm>
            <a:custGeom>
              <a:avLst/>
              <a:gdLst/>
              <a:ahLst/>
              <a:cxnLst/>
              <a:rect l="0" t="0" r="r" b="b"/>
              <a:pathLst>
                <a:path w="6000" h="10392" fill="none">
                  <a:moveTo>
                    <a:pt x="6000" y="10392"/>
                  </a:moveTo>
                  <a:lnTo>
                    <a:pt x="0" y="0"/>
                  </a:lnTo>
                </a:path>
              </a:pathLst>
            </a:custGeom>
            <a:noFill/>
            <a:ln w="14287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8" name="Rectangle 527"/>
            <p:cNvSpPr/>
            <p:nvPr/>
          </p:nvSpPr>
          <p:spPr>
            <a:xfrm>
              <a:off x="17369909" y="1345732"/>
              <a:ext cx="10359" cy="27854"/>
            </a:xfrm>
            <a:custGeom>
              <a:avLst/>
              <a:gdLst/>
              <a:ahLst/>
              <a:cxnLst/>
              <a:rect l="0" t="0" r="r" b="b"/>
              <a:pathLst>
                <a:path w="1088" h="2924" fill="none">
                  <a:moveTo>
                    <a:pt x="1088" y="0"/>
                  </a:moveTo>
                  <a:lnTo>
                    <a:pt x="0" y="2924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9" name="Rectangle 528"/>
            <p:cNvSpPr/>
            <p:nvPr/>
          </p:nvSpPr>
          <p:spPr>
            <a:xfrm>
              <a:off x="17380268" y="1345732"/>
              <a:ext cx="29302" cy="4956"/>
            </a:xfrm>
            <a:custGeom>
              <a:avLst/>
              <a:gdLst/>
              <a:ahLst/>
              <a:cxnLst/>
              <a:rect l="0" t="0" r="r" b="b"/>
              <a:pathLst>
                <a:path w="3076" h="520" fill="none">
                  <a:moveTo>
                    <a:pt x="0" y="0"/>
                  </a:moveTo>
                  <a:lnTo>
                    <a:pt x="3076" y="52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0" name="Rectangle 529"/>
            <p:cNvSpPr/>
            <p:nvPr/>
          </p:nvSpPr>
          <p:spPr>
            <a:xfrm>
              <a:off x="17354478" y="1319006"/>
              <a:ext cx="10359" cy="27854"/>
            </a:xfrm>
            <a:custGeom>
              <a:avLst/>
              <a:gdLst/>
              <a:ahLst/>
              <a:cxnLst/>
              <a:rect l="0" t="0" r="r" b="b"/>
              <a:pathLst>
                <a:path w="1088" h="2924" fill="none">
                  <a:moveTo>
                    <a:pt x="1088" y="0"/>
                  </a:moveTo>
                  <a:lnTo>
                    <a:pt x="0" y="2924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1" name="Rectangle 530"/>
            <p:cNvSpPr/>
            <p:nvPr/>
          </p:nvSpPr>
          <p:spPr>
            <a:xfrm>
              <a:off x="17364837" y="1319006"/>
              <a:ext cx="29302" cy="4956"/>
            </a:xfrm>
            <a:custGeom>
              <a:avLst/>
              <a:gdLst/>
              <a:ahLst/>
              <a:cxnLst/>
              <a:rect l="0" t="0" r="r" b="b"/>
              <a:pathLst>
                <a:path w="3076" h="520" fill="none">
                  <a:moveTo>
                    <a:pt x="0" y="0"/>
                  </a:moveTo>
                  <a:lnTo>
                    <a:pt x="3076" y="52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2" name="Rectangle 531"/>
            <p:cNvSpPr/>
            <p:nvPr/>
          </p:nvSpPr>
          <p:spPr>
            <a:xfrm>
              <a:off x="17411700" y="1301188"/>
              <a:ext cx="57150" cy="98987"/>
            </a:xfrm>
            <a:custGeom>
              <a:avLst/>
              <a:gdLst/>
              <a:ahLst/>
              <a:cxnLst/>
              <a:rect l="0" t="0" r="r" b="b"/>
              <a:pathLst>
                <a:path w="6000" h="10392" fill="none">
                  <a:moveTo>
                    <a:pt x="0" y="10392"/>
                  </a:moveTo>
                  <a:lnTo>
                    <a:pt x="6000" y="0"/>
                  </a:lnTo>
                </a:path>
              </a:pathLst>
            </a:custGeom>
            <a:noFill/>
            <a:ln w="14287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3" name="Rectangle 532"/>
            <p:cNvSpPr/>
            <p:nvPr/>
          </p:nvSpPr>
          <p:spPr>
            <a:xfrm>
              <a:off x="17413831" y="1345732"/>
              <a:ext cx="29302" cy="4956"/>
            </a:xfrm>
            <a:custGeom>
              <a:avLst/>
              <a:gdLst/>
              <a:ahLst/>
              <a:cxnLst/>
              <a:rect l="0" t="0" r="r" b="b"/>
              <a:pathLst>
                <a:path w="3076" h="520" fill="none">
                  <a:moveTo>
                    <a:pt x="3076" y="0"/>
                  </a:moveTo>
                  <a:lnTo>
                    <a:pt x="0" y="52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4" name="Rectangle 533"/>
            <p:cNvSpPr/>
            <p:nvPr/>
          </p:nvSpPr>
          <p:spPr>
            <a:xfrm>
              <a:off x="17443132" y="1345732"/>
              <a:ext cx="10359" cy="27854"/>
            </a:xfrm>
            <a:custGeom>
              <a:avLst/>
              <a:gdLst/>
              <a:ahLst/>
              <a:cxnLst/>
              <a:rect l="0" t="0" r="r" b="b"/>
              <a:pathLst>
                <a:path w="1088" h="2924" fill="none">
                  <a:moveTo>
                    <a:pt x="0" y="0"/>
                  </a:moveTo>
                  <a:lnTo>
                    <a:pt x="1088" y="2924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5" name="Rectangle 534"/>
            <p:cNvSpPr/>
            <p:nvPr/>
          </p:nvSpPr>
          <p:spPr>
            <a:xfrm>
              <a:off x="17429261" y="1319006"/>
              <a:ext cx="29302" cy="4956"/>
            </a:xfrm>
            <a:custGeom>
              <a:avLst/>
              <a:gdLst/>
              <a:ahLst/>
              <a:cxnLst/>
              <a:rect l="0" t="0" r="r" b="b"/>
              <a:pathLst>
                <a:path w="3076" h="520" fill="none">
                  <a:moveTo>
                    <a:pt x="3076" y="0"/>
                  </a:moveTo>
                  <a:lnTo>
                    <a:pt x="0" y="52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6" name="Rectangle 535"/>
            <p:cNvSpPr/>
            <p:nvPr/>
          </p:nvSpPr>
          <p:spPr>
            <a:xfrm>
              <a:off x="17458563" y="1319006"/>
              <a:ext cx="10359" cy="27854"/>
            </a:xfrm>
            <a:custGeom>
              <a:avLst/>
              <a:gdLst/>
              <a:ahLst/>
              <a:cxnLst/>
              <a:rect l="0" t="0" r="r" b="b"/>
              <a:pathLst>
                <a:path w="1088" h="2924" fill="none">
                  <a:moveTo>
                    <a:pt x="0" y="0"/>
                  </a:moveTo>
                  <a:lnTo>
                    <a:pt x="1088" y="2924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7" name="Text: H_{t}"/>
            <p:cNvSpPr txBox="1"/>
            <p:nvPr/>
          </p:nvSpPr>
          <p:spPr>
            <a:xfrm>
              <a:off x="17630775" y="802005"/>
              <a:ext cx="242885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H</a:t>
              </a:r>
              <a:r>
                <a:rPr sz="1500" b="0" i="1" baseline="-25000">
                  <a:solidFill>
                    <a:srgbClr val="111111"/>
                  </a:solidFill>
                  <a:latin typeface="Liberation Serif"/>
                </a:rPr>
                <a:t>t</a:t>
              </a:r>
            </a:p>
          </p:txBody>
        </p:sp>
        <p:sp>
          <p:nvSpPr>
            <p:cNvPr id="538" name="Rectangle 537"/>
            <p:cNvSpPr/>
            <p:nvPr/>
          </p:nvSpPr>
          <p:spPr>
            <a:xfrm>
              <a:off x="17459325" y="1095375"/>
              <a:ext cx="619125" cy="1428750"/>
            </a:xfrm>
            <a:custGeom>
              <a:avLst/>
              <a:gdLst/>
              <a:ahLst/>
              <a:cxnLst/>
              <a:rect l="0" t="0" r="r" b="b"/>
              <a:pathLst>
                <a:path w="65000" h="150000" fill="none">
                  <a:moveTo>
                    <a:pt x="3000" y="0"/>
                  </a:moveTo>
                  <a:lnTo>
                    <a:pt x="65000" y="0"/>
                  </a:lnTo>
                  <a:lnTo>
                    <a:pt x="65000" y="150000"/>
                  </a:lnTo>
                  <a:lnTo>
                    <a:pt x="0" y="150000"/>
                  </a:lnTo>
                </a:path>
              </a:pathLst>
            </a:custGeom>
            <a:noFill/>
            <a:ln w="1047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9" name="Rectangle 538"/>
            <p:cNvSpPr/>
            <p:nvPr/>
          </p:nvSpPr>
          <p:spPr>
            <a:xfrm>
              <a:off x="17459325" y="2496122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0" y="2940"/>
                  </a:moveTo>
                  <a:lnTo>
                    <a:pt x="7000" y="5880"/>
                  </a:lnTo>
                  <a:lnTo>
                    <a:pt x="4690" y="2940"/>
                  </a:lnTo>
                  <a:lnTo>
                    <a:pt x="7000" y="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0" name="Rectangle 539"/>
            <p:cNvSpPr/>
            <p:nvPr/>
          </p:nvSpPr>
          <p:spPr>
            <a:xfrm>
              <a:off x="9182100" y="1676400"/>
              <a:ext cx="2495550" cy="1085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1" name="Oval 540"/>
            <p:cNvSpPr/>
            <p:nvPr/>
          </p:nvSpPr>
          <p:spPr>
            <a:xfrm>
              <a:off x="9267825" y="1714500"/>
              <a:ext cx="209550" cy="209550"/>
            </a:xfrm>
            <a:prstGeom prst="ellipse">
              <a:avLst/>
            </a:prstGeom>
            <a:solidFill>
              <a:srgbClr val="FAFAFA"/>
            </a:solidFill>
            <a:ln w="11429" cap="rnd">
              <a:solidFill>
                <a:srgbClr val="4B4B4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2" name="Oval 541"/>
            <p:cNvSpPr/>
            <p:nvPr/>
          </p:nvSpPr>
          <p:spPr>
            <a:xfrm>
              <a:off x="9293542" y="1740218"/>
              <a:ext cx="158115" cy="158115"/>
            </a:xfrm>
            <a:prstGeom prst="ellipse">
              <a:avLst/>
            </a:prstGeom>
            <a:noFill/>
            <a:ln w="8572" cap="rnd">
              <a:solidFill>
                <a:srgbClr val="4B4B4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3" name="Rectangle 542"/>
            <p:cNvSpPr/>
            <p:nvPr/>
          </p:nvSpPr>
          <p:spPr>
            <a:xfrm>
              <a:off x="9372600" y="1762125"/>
              <a:ext cx="952" cy="57150"/>
            </a:xfrm>
            <a:custGeom>
              <a:avLst/>
              <a:gdLst/>
              <a:ahLst/>
              <a:cxnLst/>
              <a:rect l="0" t="0" r="r" b="b"/>
              <a:pathLst>
                <a:path w="100" h="6000" fill="none">
                  <a:moveTo>
                    <a:pt x="0" y="0"/>
                  </a:moveTo>
                  <a:lnTo>
                    <a:pt x="0" y="6000"/>
                  </a:lnTo>
                </a:path>
              </a:pathLst>
            </a:custGeom>
            <a:noFill/>
            <a:ln w="10477" cap="rnd">
              <a:solidFill>
                <a:srgbClr val="4B4B4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4" name="Rectangle 543"/>
            <p:cNvSpPr/>
            <p:nvPr/>
          </p:nvSpPr>
          <p:spPr>
            <a:xfrm>
              <a:off x="9334500" y="1819275"/>
              <a:ext cx="38100" cy="38100"/>
            </a:xfrm>
            <a:custGeom>
              <a:avLst/>
              <a:gdLst/>
              <a:ahLst/>
              <a:cxnLst/>
              <a:rect l="0" t="0" r="r" b="b"/>
              <a:pathLst>
                <a:path w="4000" h="4000" fill="none">
                  <a:moveTo>
                    <a:pt x="4000" y="0"/>
                  </a:moveTo>
                  <a:lnTo>
                    <a:pt x="0" y="4000"/>
                  </a:lnTo>
                </a:path>
              </a:pathLst>
            </a:custGeom>
            <a:noFill/>
            <a:ln w="10477" cap="rnd">
              <a:solidFill>
                <a:srgbClr val="4B4B4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Oval 544"/>
            <p:cNvSpPr/>
            <p:nvPr/>
          </p:nvSpPr>
          <p:spPr>
            <a:xfrm>
              <a:off x="9358312" y="1804988"/>
              <a:ext cx="28575" cy="28575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4B4B4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Rounded Rectangle 545"/>
            <p:cNvSpPr/>
            <p:nvPr/>
          </p:nvSpPr>
          <p:spPr>
            <a:xfrm>
              <a:off x="9267825" y="2009775"/>
              <a:ext cx="219075" cy="190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1429" cap="rnd">
              <a:solidFill>
                <a:srgbClr val="4B4B4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Oval 546"/>
            <p:cNvSpPr/>
            <p:nvPr/>
          </p:nvSpPr>
          <p:spPr>
            <a:xfrm>
              <a:off x="9295448" y="1975485"/>
              <a:ext cx="40005" cy="49530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4B4B4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8" name="Oval 547"/>
            <p:cNvSpPr/>
            <p:nvPr/>
          </p:nvSpPr>
          <p:spPr>
            <a:xfrm>
              <a:off x="9381172" y="1975485"/>
              <a:ext cx="40005" cy="49530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4B4B4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Oval 548"/>
            <p:cNvSpPr/>
            <p:nvPr/>
          </p:nvSpPr>
          <p:spPr>
            <a:xfrm>
              <a:off x="9447848" y="1975485"/>
              <a:ext cx="40005" cy="49530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4B4B4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Oval 549"/>
            <p:cNvSpPr/>
            <p:nvPr/>
          </p:nvSpPr>
          <p:spPr>
            <a:xfrm>
              <a:off x="9310688" y="2043112"/>
              <a:ext cx="123825" cy="123825"/>
            </a:xfrm>
            <a:prstGeom prst="ellipse">
              <a:avLst/>
            </a:prstGeom>
            <a:noFill/>
            <a:ln w="9525" cap="rnd">
              <a:solidFill>
                <a:srgbClr val="4B4B4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Rectangle 550"/>
            <p:cNvSpPr/>
            <p:nvPr/>
          </p:nvSpPr>
          <p:spPr>
            <a:xfrm>
              <a:off x="9372600" y="2066925"/>
              <a:ext cx="952" cy="38100"/>
            </a:xfrm>
            <a:custGeom>
              <a:avLst/>
              <a:gdLst/>
              <a:ahLst/>
              <a:cxnLst/>
              <a:rect l="0" t="0" r="r" b="b"/>
              <a:pathLst>
                <a:path w="100" h="4000" fill="none">
                  <a:moveTo>
                    <a:pt x="0" y="0"/>
                  </a:moveTo>
                  <a:lnTo>
                    <a:pt x="0" y="4000"/>
                  </a:lnTo>
                </a:path>
              </a:pathLst>
            </a:custGeom>
            <a:noFill/>
            <a:ln w="9525" cap="rnd">
              <a:solidFill>
                <a:srgbClr val="4B4B4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2" name="Rectangle 551"/>
            <p:cNvSpPr/>
            <p:nvPr/>
          </p:nvSpPr>
          <p:spPr>
            <a:xfrm>
              <a:off x="9344025" y="2105025"/>
              <a:ext cx="28575" cy="19050"/>
            </a:xfrm>
            <a:custGeom>
              <a:avLst/>
              <a:gdLst/>
              <a:ahLst/>
              <a:cxnLst/>
              <a:rect l="0" t="0" r="r" b="b"/>
              <a:pathLst>
                <a:path w="3000" h="2000" fill="none">
                  <a:moveTo>
                    <a:pt x="3000" y="0"/>
                  </a:moveTo>
                  <a:lnTo>
                    <a:pt x="0" y="2000"/>
                  </a:lnTo>
                </a:path>
              </a:pathLst>
            </a:custGeom>
            <a:noFill/>
            <a:ln w="9525" cap="rnd">
              <a:solidFill>
                <a:srgbClr val="4B4B4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Rounded Rectangle 552"/>
            <p:cNvSpPr/>
            <p:nvPr/>
          </p:nvSpPr>
          <p:spPr>
            <a:xfrm>
              <a:off x="9258300" y="2247900"/>
              <a:ext cx="219075" cy="171450"/>
            </a:xfrm>
            <a:prstGeom prst="roundRect">
              <a:avLst>
                <a:gd name="adj" fmla="val 5555"/>
              </a:avLst>
            </a:prstGeom>
            <a:solidFill>
              <a:srgbClr val="FFFFFF"/>
            </a:solidFill>
            <a:ln w="10477" cap="rnd">
              <a:solidFill>
                <a:srgbClr val="4B4B4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Oval 553"/>
            <p:cNvSpPr/>
            <p:nvPr/>
          </p:nvSpPr>
          <p:spPr>
            <a:xfrm>
              <a:off x="9298305" y="2214562"/>
              <a:ext cx="34290" cy="47625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4B4B4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Oval 554"/>
            <p:cNvSpPr/>
            <p:nvPr/>
          </p:nvSpPr>
          <p:spPr>
            <a:xfrm>
              <a:off x="9412605" y="2214562"/>
              <a:ext cx="34290" cy="47625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4B4B4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6" name="Rectangle 555"/>
            <p:cNvSpPr/>
            <p:nvPr/>
          </p:nvSpPr>
          <p:spPr>
            <a:xfrm>
              <a:off x="9258300" y="2286000"/>
              <a:ext cx="219075" cy="952"/>
            </a:xfrm>
            <a:custGeom>
              <a:avLst/>
              <a:gdLst/>
              <a:ahLst/>
              <a:cxnLst/>
              <a:rect l="0" t="0" r="r" b="b"/>
              <a:pathLst>
                <a:path w="23000" h="100" fill="none">
                  <a:moveTo>
                    <a:pt x="0" y="0"/>
                  </a:moveTo>
                  <a:lnTo>
                    <a:pt x="23000" y="0"/>
                  </a:lnTo>
                </a:path>
              </a:pathLst>
            </a:custGeom>
            <a:noFill/>
            <a:ln w="9525" cap="rnd">
              <a:solidFill>
                <a:srgbClr val="4B4B4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Text: WED"/>
            <p:cNvSpPr txBox="1"/>
            <p:nvPr/>
          </p:nvSpPr>
          <p:spPr>
            <a:xfrm>
              <a:off x="9249761" y="2301945"/>
              <a:ext cx="226628" cy="10572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555" b="0" i="0">
                  <a:solidFill>
                    <a:srgbClr val="111111"/>
                  </a:solidFill>
                  <a:latin typeface="Liberation Serif"/>
                </a:rPr>
                <a:t>WED</a:t>
              </a:r>
            </a:p>
          </p:txBody>
        </p:sp>
        <p:sp>
          <p:nvSpPr>
            <p:cNvPr id="558" name="Rectangle 557"/>
            <p:cNvSpPr/>
            <p:nvPr/>
          </p:nvSpPr>
          <p:spPr>
            <a:xfrm>
              <a:off x="9239250" y="2543175"/>
              <a:ext cx="257175" cy="123825"/>
            </a:xfrm>
            <a:custGeom>
              <a:avLst/>
              <a:gdLst/>
              <a:ahLst/>
              <a:cxnLst/>
              <a:rect l="0" t="0" r="r" b="b"/>
              <a:pathLst>
                <a:path w="27000" h="13000" fill="norm">
                  <a:moveTo>
                    <a:pt x="0" y="4000"/>
                  </a:moveTo>
                  <a:lnTo>
                    <a:pt x="7000" y="0"/>
                  </a:lnTo>
                  <a:lnTo>
                    <a:pt x="15000" y="4000"/>
                  </a:lnTo>
                  <a:lnTo>
                    <a:pt x="23000" y="0"/>
                  </a:lnTo>
                  <a:lnTo>
                    <a:pt x="27000" y="3000"/>
                  </a:lnTo>
                  <a:lnTo>
                    <a:pt x="27000" y="13000"/>
                  </a:lnTo>
                  <a:lnTo>
                    <a:pt x="16000" y="9000"/>
                  </a:lnTo>
                  <a:lnTo>
                    <a:pt x="8000" y="13000"/>
                  </a:lnTo>
                  <a:lnTo>
                    <a:pt x="0" y="9000"/>
                  </a:lnTo>
                  <a:close/>
                </a:path>
              </a:pathLst>
            </a:custGeom>
            <a:solidFill>
              <a:srgbClr val="FFFFFF"/>
            </a:solidFill>
            <a:ln w="11429" cap="rnd">
              <a:solidFill>
                <a:srgbClr val="4B4B4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Rectangle 558"/>
            <p:cNvSpPr/>
            <p:nvPr/>
          </p:nvSpPr>
          <p:spPr>
            <a:xfrm>
              <a:off x="9286875" y="2419350"/>
              <a:ext cx="152400" cy="219075"/>
            </a:xfrm>
            <a:custGeom>
              <a:avLst/>
              <a:gdLst/>
              <a:ahLst/>
              <a:cxnLst/>
              <a:rect l="0" t="0" r="r" b="b"/>
              <a:pathLst>
                <a:path w="16000" h="23000" fill="norm">
                  <a:moveTo>
                    <a:pt x="9000" y="23000"/>
                  </a:moveTo>
                  <a:cubicBezTo>
                    <a:pt x="5000" y="17000"/>
                    <a:pt x="0" y="13000"/>
                    <a:pt x="3000" y="8000"/>
                  </a:cubicBezTo>
                  <a:cubicBezTo>
                    <a:pt x="5000" y="0"/>
                    <a:pt x="16000" y="3000"/>
                    <a:pt x="16000" y="10000"/>
                  </a:cubicBezTo>
                  <a:cubicBezTo>
                    <a:pt x="16000" y="15000"/>
                    <a:pt x="11000" y="19000"/>
                    <a:pt x="9000" y="23000"/>
                  </a:cubicBezTo>
                  <a:close/>
                </a:path>
              </a:pathLst>
            </a:custGeom>
            <a:solidFill>
              <a:srgbClr val="FFFFFF"/>
            </a:solidFill>
            <a:ln w="11429" cap="rnd">
              <a:solidFill>
                <a:srgbClr val="4B4B4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0" name="Oval 559"/>
            <p:cNvSpPr/>
            <p:nvPr/>
          </p:nvSpPr>
          <p:spPr>
            <a:xfrm>
              <a:off x="9349740" y="2482215"/>
              <a:ext cx="45720" cy="45720"/>
            </a:xfrm>
            <a:prstGeom prst="ellipse">
              <a:avLst/>
            </a:prstGeom>
            <a:noFill/>
            <a:ln w="9525" cap="rnd">
              <a:solidFill>
                <a:srgbClr val="4B4B4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1" name="Rectangle 560"/>
            <p:cNvSpPr/>
            <p:nvPr/>
          </p:nvSpPr>
          <p:spPr>
            <a:xfrm>
              <a:off x="9610725" y="1714500"/>
              <a:ext cx="85725" cy="752475"/>
            </a:xfrm>
            <a:custGeom>
              <a:avLst/>
              <a:gdLst/>
              <a:ahLst/>
              <a:cxnLst/>
              <a:rect l="0" t="0" r="r" b="b"/>
              <a:pathLst>
                <a:path w="9000" h="79000" fill="none">
                  <a:moveTo>
                    <a:pt x="0" y="0"/>
                  </a:moveTo>
                  <a:lnTo>
                    <a:pt x="5000" y="0"/>
                  </a:lnTo>
                  <a:lnTo>
                    <a:pt x="5000" y="33970"/>
                  </a:lnTo>
                  <a:quadBezTo>
                    <a:pt x="5000" y="39500"/>
                    <a:pt x="9000" y="39500"/>
                  </a:quadBezTo>
                  <a:quadBezTo>
                    <a:pt x="5000" y="39500"/>
                    <a:pt x="5000" y="45030"/>
                  </a:quadBezTo>
                  <a:lnTo>
                    <a:pt x="5000" y="79000"/>
                  </a:lnTo>
                  <a:lnTo>
                    <a:pt x="0" y="79000"/>
                  </a:lnTo>
                </a:path>
              </a:pathLst>
            </a:custGeom>
            <a:noFill/>
            <a:ln w="1047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2" name="Rectangle 561"/>
            <p:cNvSpPr/>
            <p:nvPr/>
          </p:nvSpPr>
          <p:spPr>
            <a:xfrm>
              <a:off x="9610725" y="2495550"/>
              <a:ext cx="85725" cy="161925"/>
            </a:xfrm>
            <a:custGeom>
              <a:avLst/>
              <a:gdLst/>
              <a:ahLst/>
              <a:cxnLst/>
              <a:rect l="0" t="0" r="r" b="b"/>
              <a:pathLst>
                <a:path w="9000" h="17000" fill="none">
                  <a:moveTo>
                    <a:pt x="0" y="0"/>
                  </a:moveTo>
                  <a:lnTo>
                    <a:pt x="5000" y="0"/>
                  </a:lnTo>
                  <a:lnTo>
                    <a:pt x="5000" y="7310"/>
                  </a:lnTo>
                  <a:quadBezTo>
                    <a:pt x="5000" y="8500"/>
                    <a:pt x="9000" y="8500"/>
                  </a:quadBezTo>
                  <a:quadBezTo>
                    <a:pt x="5000" y="8500"/>
                    <a:pt x="5000" y="9690"/>
                  </a:quadBezTo>
                  <a:lnTo>
                    <a:pt x="5000" y="17000"/>
                  </a:lnTo>
                  <a:lnTo>
                    <a:pt x="0" y="17000"/>
                  </a:lnTo>
                </a:path>
              </a:pathLst>
            </a:custGeom>
            <a:noFill/>
            <a:ln w="1047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3" name="Text: min-of-hour"/>
            <p:cNvSpPr txBox="1"/>
            <p:nvPr/>
          </p:nvSpPr>
          <p:spPr>
            <a:xfrm>
              <a:off x="9782175" y="1706594"/>
              <a:ext cx="858143" cy="2428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111111"/>
                  </a:solidFill>
                  <a:latin typeface="Liberation Serif"/>
                </a:rPr>
                <a:t>min-of-hour</a:t>
              </a:r>
            </a:p>
          </p:txBody>
        </p:sp>
        <p:sp>
          <p:nvSpPr>
            <p:cNvPr id="564" name="Text: hour-of-day"/>
            <p:cNvSpPr txBox="1"/>
            <p:nvPr/>
          </p:nvSpPr>
          <p:spPr>
            <a:xfrm>
              <a:off x="9782175" y="1906619"/>
              <a:ext cx="836805" cy="2428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111111"/>
                  </a:solidFill>
                  <a:latin typeface="Liberation Serif"/>
                </a:rPr>
                <a:t>hour-of-day</a:t>
              </a:r>
            </a:p>
          </p:txBody>
        </p:sp>
        <p:sp>
          <p:nvSpPr>
            <p:cNvPr id="565" name="Text: day-of-week"/>
            <p:cNvSpPr txBox="1"/>
            <p:nvPr/>
          </p:nvSpPr>
          <p:spPr>
            <a:xfrm>
              <a:off x="9782175" y="2097119"/>
              <a:ext cx="884858" cy="2428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111111"/>
                  </a:solidFill>
                  <a:latin typeface="Liberation Serif"/>
                </a:rPr>
                <a:t>day-of-week</a:t>
              </a:r>
            </a:p>
          </p:txBody>
        </p:sp>
        <p:sp>
          <p:nvSpPr>
            <p:cNvPr id="566" name="Text: day-of-month"/>
            <p:cNvSpPr txBox="1"/>
            <p:nvPr/>
          </p:nvSpPr>
          <p:spPr>
            <a:xfrm>
              <a:off x="9782175" y="2287619"/>
              <a:ext cx="957039" cy="2428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111111"/>
                  </a:solidFill>
                  <a:latin typeface="Liberation Serif"/>
                </a:rPr>
                <a:t>day-of-month</a:t>
              </a:r>
            </a:p>
          </p:txBody>
        </p:sp>
        <p:sp>
          <p:nvSpPr>
            <p:cNvPr id="567" name="Text: coordinate"/>
            <p:cNvSpPr txBox="1"/>
            <p:nvPr/>
          </p:nvSpPr>
          <p:spPr>
            <a:xfrm>
              <a:off x="9782175" y="2478119"/>
              <a:ext cx="750019" cy="2428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111111"/>
                  </a:solidFill>
                  <a:latin typeface="Liberation Serif"/>
                </a:rPr>
                <a:t>coordinate</a:t>
              </a:r>
            </a:p>
          </p:txBody>
        </p:sp>
        <p:sp>
          <p:nvSpPr>
            <p:cNvPr id="568" name="Rectangle 567"/>
            <p:cNvSpPr/>
            <p:nvPr/>
          </p:nvSpPr>
          <p:spPr>
            <a:xfrm>
              <a:off x="10763250" y="1724025"/>
              <a:ext cx="166688" cy="157162"/>
            </a:xfrm>
            <a:prstGeom prst="rect">
              <a:avLst/>
            </a:prstGeom>
            <a:solidFill>
              <a:srgbClr val="888B8D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9" name="Rectangle 568"/>
            <p:cNvSpPr/>
            <p:nvPr/>
          </p:nvSpPr>
          <p:spPr>
            <a:xfrm>
              <a:off x="10929938" y="1724025"/>
              <a:ext cx="166688" cy="157162"/>
            </a:xfrm>
            <a:prstGeom prst="rect">
              <a:avLst/>
            </a:prstGeom>
            <a:solidFill>
              <a:srgbClr val="F4F7F8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0" name="Rectangle 569"/>
            <p:cNvSpPr/>
            <p:nvPr/>
          </p:nvSpPr>
          <p:spPr>
            <a:xfrm>
              <a:off x="11096625" y="1724025"/>
              <a:ext cx="166688" cy="157162"/>
            </a:xfrm>
            <a:prstGeom prst="rect">
              <a:avLst/>
            </a:prstGeom>
            <a:solidFill>
              <a:srgbClr val="85898C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1" name="Rectangle 570"/>
            <p:cNvSpPr/>
            <p:nvPr/>
          </p:nvSpPr>
          <p:spPr>
            <a:xfrm>
              <a:off x="11263312" y="1724025"/>
              <a:ext cx="166688" cy="157162"/>
            </a:xfrm>
            <a:prstGeom prst="rect">
              <a:avLst/>
            </a:prstGeom>
            <a:solidFill>
              <a:srgbClr val="D6DADD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2" name="Rectangle 571"/>
            <p:cNvSpPr/>
            <p:nvPr/>
          </p:nvSpPr>
          <p:spPr>
            <a:xfrm>
              <a:off x="11430000" y="1724025"/>
              <a:ext cx="166688" cy="157162"/>
            </a:xfrm>
            <a:prstGeom prst="rect">
              <a:avLst/>
            </a:prstGeom>
            <a:solidFill>
              <a:srgbClr val="828588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3" name="Rectangle 572"/>
            <p:cNvSpPr/>
            <p:nvPr/>
          </p:nvSpPr>
          <p:spPr>
            <a:xfrm>
              <a:off x="10763250" y="1886902"/>
              <a:ext cx="166688" cy="157162"/>
            </a:xfrm>
            <a:prstGeom prst="rect">
              <a:avLst/>
            </a:prstGeom>
            <a:solidFill>
              <a:srgbClr val="888B8D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4" name="Rectangle 573"/>
            <p:cNvSpPr/>
            <p:nvPr/>
          </p:nvSpPr>
          <p:spPr>
            <a:xfrm>
              <a:off x="10929938" y="1886902"/>
              <a:ext cx="166688" cy="157162"/>
            </a:xfrm>
            <a:prstGeom prst="rect">
              <a:avLst/>
            </a:prstGeom>
            <a:solidFill>
              <a:srgbClr val="F4F7F8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5" name="Rectangle 574"/>
            <p:cNvSpPr/>
            <p:nvPr/>
          </p:nvSpPr>
          <p:spPr>
            <a:xfrm>
              <a:off x="11096625" y="1886902"/>
              <a:ext cx="166688" cy="157162"/>
            </a:xfrm>
            <a:prstGeom prst="rect">
              <a:avLst/>
            </a:prstGeom>
            <a:solidFill>
              <a:srgbClr val="85898C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6" name="Rectangle 575"/>
            <p:cNvSpPr/>
            <p:nvPr/>
          </p:nvSpPr>
          <p:spPr>
            <a:xfrm>
              <a:off x="11263312" y="1886902"/>
              <a:ext cx="166688" cy="157162"/>
            </a:xfrm>
            <a:prstGeom prst="rect">
              <a:avLst/>
            </a:prstGeom>
            <a:solidFill>
              <a:srgbClr val="D6DADD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7" name="Rectangle 576"/>
            <p:cNvSpPr/>
            <p:nvPr/>
          </p:nvSpPr>
          <p:spPr>
            <a:xfrm>
              <a:off x="11430000" y="1886902"/>
              <a:ext cx="166688" cy="157162"/>
            </a:xfrm>
            <a:prstGeom prst="rect">
              <a:avLst/>
            </a:prstGeom>
            <a:solidFill>
              <a:srgbClr val="828588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8" name="Rectangle 577"/>
            <p:cNvSpPr/>
            <p:nvPr/>
          </p:nvSpPr>
          <p:spPr>
            <a:xfrm>
              <a:off x="10763250" y="2049780"/>
              <a:ext cx="166688" cy="157162"/>
            </a:xfrm>
            <a:prstGeom prst="rect">
              <a:avLst/>
            </a:prstGeom>
            <a:solidFill>
              <a:srgbClr val="888B8D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9" name="Rectangle 578"/>
            <p:cNvSpPr/>
            <p:nvPr/>
          </p:nvSpPr>
          <p:spPr>
            <a:xfrm>
              <a:off x="10929938" y="2049780"/>
              <a:ext cx="166688" cy="157162"/>
            </a:xfrm>
            <a:prstGeom prst="rect">
              <a:avLst/>
            </a:prstGeom>
            <a:solidFill>
              <a:srgbClr val="F4F7F8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0" name="Rectangle 579"/>
            <p:cNvSpPr/>
            <p:nvPr/>
          </p:nvSpPr>
          <p:spPr>
            <a:xfrm>
              <a:off x="11096625" y="2049780"/>
              <a:ext cx="166688" cy="157162"/>
            </a:xfrm>
            <a:prstGeom prst="rect">
              <a:avLst/>
            </a:prstGeom>
            <a:solidFill>
              <a:srgbClr val="85898C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1" name="Rectangle 580"/>
            <p:cNvSpPr/>
            <p:nvPr/>
          </p:nvSpPr>
          <p:spPr>
            <a:xfrm>
              <a:off x="11263312" y="2049780"/>
              <a:ext cx="166688" cy="157162"/>
            </a:xfrm>
            <a:prstGeom prst="rect">
              <a:avLst/>
            </a:prstGeom>
            <a:solidFill>
              <a:srgbClr val="D6DADD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2" name="Rectangle 581"/>
            <p:cNvSpPr/>
            <p:nvPr/>
          </p:nvSpPr>
          <p:spPr>
            <a:xfrm>
              <a:off x="11430000" y="2049780"/>
              <a:ext cx="166688" cy="157162"/>
            </a:xfrm>
            <a:prstGeom prst="rect">
              <a:avLst/>
            </a:prstGeom>
            <a:solidFill>
              <a:srgbClr val="828588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3" name="Rectangle 582"/>
            <p:cNvSpPr/>
            <p:nvPr/>
          </p:nvSpPr>
          <p:spPr>
            <a:xfrm>
              <a:off x="10763250" y="2212658"/>
              <a:ext cx="166688" cy="157162"/>
            </a:xfrm>
            <a:prstGeom prst="rect">
              <a:avLst/>
            </a:prstGeom>
            <a:solidFill>
              <a:srgbClr val="888B8D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4" name="Rectangle 583"/>
            <p:cNvSpPr/>
            <p:nvPr/>
          </p:nvSpPr>
          <p:spPr>
            <a:xfrm>
              <a:off x="10929938" y="2212658"/>
              <a:ext cx="166688" cy="157162"/>
            </a:xfrm>
            <a:prstGeom prst="rect">
              <a:avLst/>
            </a:prstGeom>
            <a:solidFill>
              <a:srgbClr val="F4F7F8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5" name="Rectangle 584"/>
            <p:cNvSpPr/>
            <p:nvPr/>
          </p:nvSpPr>
          <p:spPr>
            <a:xfrm>
              <a:off x="11096625" y="2212658"/>
              <a:ext cx="166688" cy="157162"/>
            </a:xfrm>
            <a:prstGeom prst="rect">
              <a:avLst/>
            </a:prstGeom>
            <a:solidFill>
              <a:srgbClr val="85898C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6" name="Rectangle 585"/>
            <p:cNvSpPr/>
            <p:nvPr/>
          </p:nvSpPr>
          <p:spPr>
            <a:xfrm>
              <a:off x="11263312" y="2212658"/>
              <a:ext cx="166688" cy="157162"/>
            </a:xfrm>
            <a:prstGeom prst="rect">
              <a:avLst/>
            </a:prstGeom>
            <a:solidFill>
              <a:srgbClr val="D6DADD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7" name="Rectangle 586"/>
            <p:cNvSpPr/>
            <p:nvPr/>
          </p:nvSpPr>
          <p:spPr>
            <a:xfrm>
              <a:off x="11430000" y="2212658"/>
              <a:ext cx="166688" cy="157162"/>
            </a:xfrm>
            <a:prstGeom prst="rect">
              <a:avLst/>
            </a:prstGeom>
            <a:solidFill>
              <a:srgbClr val="828588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8" name="Rectangle 587"/>
            <p:cNvSpPr/>
            <p:nvPr/>
          </p:nvSpPr>
          <p:spPr>
            <a:xfrm>
              <a:off x="10763250" y="2375535"/>
              <a:ext cx="166688" cy="157162"/>
            </a:xfrm>
            <a:prstGeom prst="rect">
              <a:avLst/>
            </a:prstGeom>
            <a:solidFill>
              <a:srgbClr val="888B8D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9" name="Rectangle 588"/>
            <p:cNvSpPr/>
            <p:nvPr/>
          </p:nvSpPr>
          <p:spPr>
            <a:xfrm>
              <a:off x="10929938" y="2375535"/>
              <a:ext cx="166688" cy="157162"/>
            </a:xfrm>
            <a:prstGeom prst="rect">
              <a:avLst/>
            </a:prstGeom>
            <a:solidFill>
              <a:srgbClr val="F4F7F8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0" name="Rectangle 589"/>
            <p:cNvSpPr/>
            <p:nvPr/>
          </p:nvSpPr>
          <p:spPr>
            <a:xfrm>
              <a:off x="11096625" y="2375535"/>
              <a:ext cx="166688" cy="157162"/>
            </a:xfrm>
            <a:prstGeom prst="rect">
              <a:avLst/>
            </a:prstGeom>
            <a:solidFill>
              <a:srgbClr val="85898C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1" name="Rectangle 590"/>
            <p:cNvSpPr/>
            <p:nvPr/>
          </p:nvSpPr>
          <p:spPr>
            <a:xfrm>
              <a:off x="11263312" y="2375535"/>
              <a:ext cx="166688" cy="157162"/>
            </a:xfrm>
            <a:prstGeom prst="rect">
              <a:avLst/>
            </a:prstGeom>
            <a:solidFill>
              <a:srgbClr val="D6DADD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2" name="Rectangle 591"/>
            <p:cNvSpPr/>
            <p:nvPr/>
          </p:nvSpPr>
          <p:spPr>
            <a:xfrm>
              <a:off x="11430000" y="2375535"/>
              <a:ext cx="166688" cy="157162"/>
            </a:xfrm>
            <a:prstGeom prst="rect">
              <a:avLst/>
            </a:prstGeom>
            <a:solidFill>
              <a:srgbClr val="828588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3" name="Rectangle 592"/>
            <p:cNvSpPr/>
            <p:nvPr/>
          </p:nvSpPr>
          <p:spPr>
            <a:xfrm>
              <a:off x="10763250" y="2538412"/>
              <a:ext cx="166688" cy="157162"/>
            </a:xfrm>
            <a:prstGeom prst="rect">
              <a:avLst/>
            </a:prstGeom>
            <a:solidFill>
              <a:srgbClr val="888B8D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4" name="Rectangle 593"/>
            <p:cNvSpPr/>
            <p:nvPr/>
          </p:nvSpPr>
          <p:spPr>
            <a:xfrm>
              <a:off x="10929938" y="2538412"/>
              <a:ext cx="166688" cy="157162"/>
            </a:xfrm>
            <a:prstGeom prst="rect">
              <a:avLst/>
            </a:prstGeom>
            <a:solidFill>
              <a:srgbClr val="F4F7F8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5" name="Rectangle 594"/>
            <p:cNvSpPr/>
            <p:nvPr/>
          </p:nvSpPr>
          <p:spPr>
            <a:xfrm>
              <a:off x="11096625" y="2538412"/>
              <a:ext cx="166688" cy="157162"/>
            </a:xfrm>
            <a:prstGeom prst="rect">
              <a:avLst/>
            </a:prstGeom>
            <a:solidFill>
              <a:srgbClr val="85898C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6" name="Rectangle 595"/>
            <p:cNvSpPr/>
            <p:nvPr/>
          </p:nvSpPr>
          <p:spPr>
            <a:xfrm>
              <a:off x="11263312" y="2538412"/>
              <a:ext cx="166688" cy="157162"/>
            </a:xfrm>
            <a:prstGeom prst="rect">
              <a:avLst/>
            </a:prstGeom>
            <a:solidFill>
              <a:srgbClr val="D6DADD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7" name="Rectangle 596"/>
            <p:cNvSpPr/>
            <p:nvPr/>
          </p:nvSpPr>
          <p:spPr>
            <a:xfrm>
              <a:off x="11430000" y="2538412"/>
              <a:ext cx="166688" cy="157162"/>
            </a:xfrm>
            <a:prstGeom prst="rect">
              <a:avLst/>
            </a:prstGeom>
            <a:solidFill>
              <a:srgbClr val="828588"/>
            </a:solidFill>
            <a:ln w="8096" cap="rnd">
              <a:solidFill>
                <a:srgbClr val="3D61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8" name="Text: E_{c}"/>
            <p:cNvSpPr txBox="1"/>
            <p:nvPr/>
          </p:nvSpPr>
          <p:spPr>
            <a:xfrm>
              <a:off x="11753850" y="1859185"/>
              <a:ext cx="235858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25" b="0" i="1">
                  <a:solidFill>
                    <a:srgbClr val="111111"/>
                  </a:solidFill>
                  <a:latin typeface="Liberation Serif"/>
                </a:rPr>
                <a:t>E</a:t>
              </a:r>
              <a:r>
                <a:rPr sz="1425" b="0" i="1" baseline="-25000">
                  <a:solidFill>
                    <a:srgbClr val="111111"/>
                  </a:solidFill>
                  <a:latin typeface="Liberation Serif"/>
                </a:rPr>
                <a:t>c</a:t>
              </a:r>
            </a:p>
          </p:txBody>
        </p:sp>
        <p:sp>
          <p:nvSpPr>
            <p:cNvPr id="599" name="Text: E_{n}"/>
            <p:cNvSpPr txBox="1"/>
            <p:nvPr/>
          </p:nvSpPr>
          <p:spPr>
            <a:xfrm>
              <a:off x="11753850" y="2364010"/>
              <a:ext cx="243273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25" b="0" i="1">
                  <a:solidFill>
                    <a:srgbClr val="111111"/>
                  </a:solidFill>
                  <a:latin typeface="Liberation Serif"/>
                </a:rPr>
                <a:t>E</a:t>
              </a:r>
              <a:r>
                <a:rPr sz="1425" b="0" i="1" baseline="-25000">
                  <a:solidFill>
                    <a:srgbClr val="111111"/>
                  </a:solidFill>
                  <a:latin typeface="Liberation Serif"/>
                </a:rPr>
                <a:t>n</a:t>
              </a:r>
            </a:p>
          </p:txBody>
        </p:sp>
        <p:sp>
          <p:nvSpPr>
            <p:cNvPr id="600" name="Rounded Rectangle 599"/>
            <p:cNvSpPr/>
            <p:nvPr/>
          </p:nvSpPr>
          <p:spPr>
            <a:xfrm>
              <a:off x="12039600" y="1790700"/>
              <a:ext cx="885825" cy="333375"/>
            </a:xfrm>
            <a:prstGeom prst="roundRect">
              <a:avLst>
                <a:gd name="adj" fmla="val 14285"/>
              </a:avLst>
            </a:prstGeom>
            <a:solidFill>
              <a:srgbClr val="F7CAA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1" name="Text: Linear"/>
            <p:cNvSpPr txBox="1"/>
            <p:nvPr/>
          </p:nvSpPr>
          <p:spPr>
            <a:xfrm>
              <a:off x="12195870" y="1840230"/>
              <a:ext cx="563761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Linear</a:t>
              </a:r>
            </a:p>
          </p:txBody>
        </p:sp>
        <p:sp>
          <p:nvSpPr>
            <p:cNvPr id="602" name="Rectangle 601"/>
            <p:cNvSpPr/>
            <p:nvPr/>
          </p:nvSpPr>
          <p:spPr>
            <a:xfrm>
              <a:off x="12652629" y="1943100"/>
              <a:ext cx="257747" cy="234315"/>
            </a:xfrm>
            <a:custGeom>
              <a:avLst/>
              <a:gdLst/>
              <a:ahLst/>
              <a:cxnLst/>
              <a:rect l="0" t="0" r="r" b="b"/>
              <a:pathLst>
                <a:path w="27060" h="24600" fill="norm">
                  <a:moveTo>
                    <a:pt x="9840" y="22140"/>
                  </a:moveTo>
                  <a:cubicBezTo>
                    <a:pt x="0" y="21320"/>
                    <a:pt x="1640" y="11480"/>
                    <a:pt x="6560" y="8200"/>
                  </a:cubicBezTo>
                  <a:cubicBezTo>
                    <a:pt x="5740" y="13120"/>
                    <a:pt x="9020" y="14760"/>
                    <a:pt x="9840" y="9840"/>
                  </a:cubicBezTo>
                  <a:cubicBezTo>
                    <a:pt x="10660" y="4920"/>
                    <a:pt x="13940" y="4920"/>
                    <a:pt x="11480" y="0"/>
                  </a:cubicBezTo>
                  <a:cubicBezTo>
                    <a:pt x="20500" y="4920"/>
                    <a:pt x="16400" y="10660"/>
                    <a:pt x="20500" y="12300"/>
                  </a:cubicBezTo>
                  <a:cubicBezTo>
                    <a:pt x="22140" y="10660"/>
                    <a:pt x="21320" y="8200"/>
                    <a:pt x="21320" y="7380"/>
                  </a:cubicBezTo>
                  <a:cubicBezTo>
                    <a:pt x="27060" y="16400"/>
                    <a:pt x="23780" y="22960"/>
                    <a:pt x="16400" y="23780"/>
                  </a:cubicBezTo>
                  <a:cubicBezTo>
                    <a:pt x="13940" y="24600"/>
                    <a:pt x="11480" y="23780"/>
                    <a:pt x="9840" y="22140"/>
                  </a:cubicBezTo>
                  <a:close/>
                </a:path>
              </a:pathLst>
            </a:custGeom>
            <a:solidFill>
              <a:srgbClr val="F8894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3" name="Rectangle 602"/>
            <p:cNvSpPr/>
            <p:nvPr/>
          </p:nvSpPr>
          <p:spPr>
            <a:xfrm>
              <a:off x="12707302" y="2036826"/>
              <a:ext cx="164021" cy="132778"/>
            </a:xfrm>
            <a:custGeom>
              <a:avLst/>
              <a:gdLst/>
              <a:ahLst/>
              <a:cxnLst/>
              <a:rect l="0" t="0" r="r" b="b"/>
              <a:pathLst>
                <a:path w="17220" h="13940" fill="norm">
                  <a:moveTo>
                    <a:pt x="3280" y="10660"/>
                  </a:moveTo>
                  <a:cubicBezTo>
                    <a:pt x="0" y="5740"/>
                    <a:pt x="4100" y="2460"/>
                    <a:pt x="4100" y="820"/>
                  </a:cubicBezTo>
                  <a:cubicBezTo>
                    <a:pt x="4100" y="5740"/>
                    <a:pt x="7380" y="4920"/>
                    <a:pt x="8200" y="0"/>
                  </a:cubicBezTo>
                  <a:cubicBezTo>
                    <a:pt x="12300" y="3280"/>
                    <a:pt x="11480" y="8200"/>
                    <a:pt x="13940" y="7380"/>
                  </a:cubicBezTo>
                  <a:cubicBezTo>
                    <a:pt x="13940" y="4920"/>
                    <a:pt x="13940" y="4100"/>
                    <a:pt x="14760" y="4100"/>
                  </a:cubicBezTo>
                  <a:cubicBezTo>
                    <a:pt x="17220" y="10660"/>
                    <a:pt x="12300" y="13940"/>
                    <a:pt x="8200" y="13120"/>
                  </a:cubicBezTo>
                  <a:cubicBezTo>
                    <a:pt x="5740" y="13120"/>
                    <a:pt x="4100" y="12300"/>
                    <a:pt x="3280" y="10660"/>
                  </a:cubicBezTo>
                  <a:close/>
                </a:path>
              </a:pathLst>
            </a:custGeom>
            <a:solidFill>
              <a:srgbClr val="FFC56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4" name="Rectangle 603"/>
            <p:cNvSpPr/>
            <p:nvPr/>
          </p:nvSpPr>
          <p:spPr>
            <a:xfrm>
              <a:off x="12754166" y="2083689"/>
              <a:ext cx="70295" cy="78105"/>
            </a:xfrm>
            <a:custGeom>
              <a:avLst/>
              <a:gdLst/>
              <a:ahLst/>
              <a:cxnLst/>
              <a:rect l="0" t="0" r="r" b="b"/>
              <a:pathLst>
                <a:path w="7380" h="8200" fill="norm">
                  <a:moveTo>
                    <a:pt x="1640" y="6560"/>
                  </a:moveTo>
                  <a:cubicBezTo>
                    <a:pt x="0" y="3280"/>
                    <a:pt x="3280" y="1640"/>
                    <a:pt x="3280" y="0"/>
                  </a:cubicBezTo>
                  <a:cubicBezTo>
                    <a:pt x="7380" y="4100"/>
                    <a:pt x="6560" y="7380"/>
                    <a:pt x="4100" y="8200"/>
                  </a:cubicBezTo>
                  <a:close/>
                </a:path>
              </a:pathLst>
            </a:custGeom>
            <a:solidFill>
              <a:srgbClr val="FFE2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5" name="Rounded Rectangle 604"/>
            <p:cNvSpPr/>
            <p:nvPr/>
          </p:nvSpPr>
          <p:spPr>
            <a:xfrm>
              <a:off x="12039600" y="2295525"/>
              <a:ext cx="885825" cy="333375"/>
            </a:xfrm>
            <a:prstGeom prst="roundRect">
              <a:avLst>
                <a:gd name="adj" fmla="val 14285"/>
              </a:avLst>
            </a:prstGeom>
            <a:solidFill>
              <a:srgbClr val="F7CAA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6" name="Text: Linear"/>
            <p:cNvSpPr txBox="1"/>
            <p:nvPr/>
          </p:nvSpPr>
          <p:spPr>
            <a:xfrm>
              <a:off x="12195870" y="2345055"/>
              <a:ext cx="563761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Linear</a:t>
              </a:r>
            </a:p>
          </p:txBody>
        </p:sp>
        <p:sp>
          <p:nvSpPr>
            <p:cNvPr id="607" name="Rectangle 606"/>
            <p:cNvSpPr/>
            <p:nvPr/>
          </p:nvSpPr>
          <p:spPr>
            <a:xfrm>
              <a:off x="12652629" y="2447925"/>
              <a:ext cx="257747" cy="234315"/>
            </a:xfrm>
            <a:custGeom>
              <a:avLst/>
              <a:gdLst/>
              <a:ahLst/>
              <a:cxnLst/>
              <a:rect l="0" t="0" r="r" b="b"/>
              <a:pathLst>
                <a:path w="27060" h="24600" fill="norm">
                  <a:moveTo>
                    <a:pt x="9840" y="22140"/>
                  </a:moveTo>
                  <a:cubicBezTo>
                    <a:pt x="0" y="21320"/>
                    <a:pt x="1640" y="11480"/>
                    <a:pt x="6560" y="8200"/>
                  </a:cubicBezTo>
                  <a:cubicBezTo>
                    <a:pt x="5740" y="13120"/>
                    <a:pt x="9020" y="14760"/>
                    <a:pt x="9840" y="9840"/>
                  </a:cubicBezTo>
                  <a:cubicBezTo>
                    <a:pt x="10660" y="4920"/>
                    <a:pt x="13940" y="4920"/>
                    <a:pt x="11480" y="0"/>
                  </a:cubicBezTo>
                  <a:cubicBezTo>
                    <a:pt x="20500" y="4920"/>
                    <a:pt x="16400" y="10660"/>
                    <a:pt x="20500" y="12300"/>
                  </a:cubicBezTo>
                  <a:cubicBezTo>
                    <a:pt x="22140" y="10660"/>
                    <a:pt x="21320" y="8200"/>
                    <a:pt x="21320" y="7380"/>
                  </a:cubicBezTo>
                  <a:cubicBezTo>
                    <a:pt x="27060" y="16400"/>
                    <a:pt x="23780" y="22960"/>
                    <a:pt x="16400" y="23780"/>
                  </a:cubicBezTo>
                  <a:cubicBezTo>
                    <a:pt x="13940" y="24600"/>
                    <a:pt x="11480" y="23780"/>
                    <a:pt x="9840" y="22140"/>
                  </a:cubicBezTo>
                  <a:close/>
                </a:path>
              </a:pathLst>
            </a:custGeom>
            <a:solidFill>
              <a:srgbClr val="F8894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8" name="Rectangle 607"/>
            <p:cNvSpPr/>
            <p:nvPr/>
          </p:nvSpPr>
          <p:spPr>
            <a:xfrm>
              <a:off x="12707302" y="2541651"/>
              <a:ext cx="164021" cy="132778"/>
            </a:xfrm>
            <a:custGeom>
              <a:avLst/>
              <a:gdLst/>
              <a:ahLst/>
              <a:cxnLst/>
              <a:rect l="0" t="0" r="r" b="b"/>
              <a:pathLst>
                <a:path w="17220" h="13940" fill="norm">
                  <a:moveTo>
                    <a:pt x="3280" y="10660"/>
                  </a:moveTo>
                  <a:cubicBezTo>
                    <a:pt x="0" y="5740"/>
                    <a:pt x="4100" y="2460"/>
                    <a:pt x="4100" y="820"/>
                  </a:cubicBezTo>
                  <a:cubicBezTo>
                    <a:pt x="4100" y="5740"/>
                    <a:pt x="7380" y="4920"/>
                    <a:pt x="8200" y="0"/>
                  </a:cubicBezTo>
                  <a:cubicBezTo>
                    <a:pt x="12300" y="3280"/>
                    <a:pt x="11480" y="8200"/>
                    <a:pt x="13940" y="7380"/>
                  </a:cubicBezTo>
                  <a:cubicBezTo>
                    <a:pt x="13940" y="4920"/>
                    <a:pt x="13940" y="4100"/>
                    <a:pt x="14760" y="4100"/>
                  </a:cubicBezTo>
                  <a:cubicBezTo>
                    <a:pt x="17220" y="10660"/>
                    <a:pt x="12300" y="13940"/>
                    <a:pt x="8200" y="13120"/>
                  </a:cubicBezTo>
                  <a:cubicBezTo>
                    <a:pt x="5740" y="13120"/>
                    <a:pt x="4100" y="12300"/>
                    <a:pt x="3280" y="10660"/>
                  </a:cubicBezTo>
                  <a:close/>
                </a:path>
              </a:pathLst>
            </a:custGeom>
            <a:solidFill>
              <a:srgbClr val="FFC56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9" name="Rectangle 608"/>
            <p:cNvSpPr/>
            <p:nvPr/>
          </p:nvSpPr>
          <p:spPr>
            <a:xfrm>
              <a:off x="12754166" y="2588514"/>
              <a:ext cx="70295" cy="78105"/>
            </a:xfrm>
            <a:custGeom>
              <a:avLst/>
              <a:gdLst/>
              <a:ahLst/>
              <a:cxnLst/>
              <a:rect l="0" t="0" r="r" b="b"/>
              <a:pathLst>
                <a:path w="7380" h="8200" fill="norm">
                  <a:moveTo>
                    <a:pt x="1640" y="6560"/>
                  </a:moveTo>
                  <a:cubicBezTo>
                    <a:pt x="0" y="3280"/>
                    <a:pt x="3280" y="1640"/>
                    <a:pt x="3280" y="0"/>
                  </a:cubicBezTo>
                  <a:cubicBezTo>
                    <a:pt x="7380" y="4100"/>
                    <a:pt x="6560" y="7380"/>
                    <a:pt x="4100" y="8200"/>
                  </a:cubicBezTo>
                  <a:close/>
                </a:path>
              </a:pathLst>
            </a:custGeom>
            <a:solidFill>
              <a:srgbClr val="FFE2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0" name="Rectangle 609"/>
            <p:cNvSpPr/>
            <p:nvPr/>
          </p:nvSpPr>
          <p:spPr>
            <a:xfrm>
              <a:off x="12477750" y="1657350"/>
              <a:ext cx="733425" cy="314325"/>
            </a:xfrm>
            <a:custGeom>
              <a:avLst/>
              <a:gdLst/>
              <a:ahLst/>
              <a:cxnLst/>
              <a:rect l="0" t="0" r="r" b="b"/>
              <a:pathLst>
                <a:path w="77000" h="33000" fill="none">
                  <a:moveTo>
                    <a:pt x="0" y="14000"/>
                  </a:moveTo>
                  <a:lnTo>
                    <a:pt x="0" y="0"/>
                  </a:lnTo>
                  <a:lnTo>
                    <a:pt x="77000" y="0"/>
                  </a:lnTo>
                  <a:lnTo>
                    <a:pt x="77000" y="3300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1" name="Rectangle 610"/>
            <p:cNvSpPr/>
            <p:nvPr/>
          </p:nvSpPr>
          <p:spPr>
            <a:xfrm>
              <a:off x="13183172" y="1905000"/>
              <a:ext cx="56007" cy="66675"/>
            </a:xfrm>
            <a:custGeom>
              <a:avLst/>
              <a:gdLst/>
              <a:ahLst/>
              <a:cxnLst/>
              <a:rect l="0" t="0" r="r" b="b"/>
              <a:pathLst>
                <a:path w="5880" h="7000" fill="norm">
                  <a:moveTo>
                    <a:pt x="2940" y="7000"/>
                  </a:moveTo>
                  <a:lnTo>
                    <a:pt x="5880" y="0"/>
                  </a:lnTo>
                  <a:lnTo>
                    <a:pt x="2940" y="23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2" name="Rectangle 611"/>
            <p:cNvSpPr/>
            <p:nvPr/>
          </p:nvSpPr>
          <p:spPr>
            <a:xfrm>
              <a:off x="12477750" y="2476500"/>
              <a:ext cx="733425" cy="266700"/>
            </a:xfrm>
            <a:custGeom>
              <a:avLst/>
              <a:gdLst/>
              <a:ahLst/>
              <a:cxnLst/>
              <a:rect l="0" t="0" r="r" b="b"/>
              <a:pathLst>
                <a:path w="77000" h="28000" fill="none">
                  <a:moveTo>
                    <a:pt x="0" y="16000"/>
                  </a:moveTo>
                  <a:lnTo>
                    <a:pt x="0" y="28000"/>
                  </a:lnTo>
                  <a:lnTo>
                    <a:pt x="77000" y="28000"/>
                  </a:lnTo>
                  <a:lnTo>
                    <a:pt x="7700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3" name="Rectangle 612"/>
            <p:cNvSpPr/>
            <p:nvPr/>
          </p:nvSpPr>
          <p:spPr>
            <a:xfrm>
              <a:off x="13183172" y="2476500"/>
              <a:ext cx="56007" cy="66675"/>
            </a:xfrm>
            <a:custGeom>
              <a:avLst/>
              <a:gdLst/>
              <a:ahLst/>
              <a:cxnLst/>
              <a:rect l="0" t="0" r="r" b="b"/>
              <a:pathLst>
                <a:path w="5880" h="7000" fill="norm">
                  <a:moveTo>
                    <a:pt x="2940" y="0"/>
                  </a:moveTo>
                  <a:lnTo>
                    <a:pt x="0" y="7000"/>
                  </a:lnTo>
                  <a:lnTo>
                    <a:pt x="2940" y="4690"/>
                  </a:lnTo>
                  <a:lnTo>
                    <a:pt x="5880" y="700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4" name="Rectangle 613"/>
            <p:cNvSpPr/>
            <p:nvPr/>
          </p:nvSpPr>
          <p:spPr>
            <a:xfrm>
              <a:off x="13020675" y="1943100"/>
              <a:ext cx="381000" cy="590550"/>
            </a:xfrm>
            <a:custGeom>
              <a:avLst/>
              <a:gdLst/>
              <a:ahLst/>
              <a:cxnLst/>
              <a:rect l="0" t="0" r="r" b="b"/>
              <a:pathLst>
                <a:path w="40000" h="62000" fill="norm">
                  <a:moveTo>
                    <a:pt x="0" y="9000"/>
                  </a:moveTo>
                  <a:lnTo>
                    <a:pt x="40000" y="0"/>
                  </a:lnTo>
                  <a:lnTo>
                    <a:pt x="40000" y="62000"/>
                  </a:lnTo>
                  <a:lnTo>
                    <a:pt x="0" y="54000"/>
                  </a:lnTo>
                  <a:close/>
                </a:path>
              </a:pathLst>
            </a:custGeom>
            <a:solidFill>
              <a:srgbClr val="F4F6F7"/>
            </a:solidFill>
            <a:ln w="10477" cap="rnd">
              <a:solidFill>
                <a:srgbClr val="37566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5" name="Text: concat"/>
            <p:cNvSpPr txBox="1"/>
            <p:nvPr/>
          </p:nvSpPr>
          <p:spPr>
            <a:xfrm rot="5400000">
              <a:off x="12898314" y="2128838"/>
              <a:ext cx="514090" cy="2571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111111"/>
                  </a:solidFill>
                  <a:latin typeface="Liberation Serif"/>
                </a:rPr>
                <a:t>concat</a:t>
              </a:r>
            </a:p>
          </p:txBody>
        </p:sp>
        <p:sp>
          <p:nvSpPr>
            <p:cNvPr id="616" name="Text: H_{st}"/>
            <p:cNvSpPr txBox="1"/>
            <p:nvPr/>
          </p:nvSpPr>
          <p:spPr>
            <a:xfrm>
              <a:off x="13496925" y="1887855"/>
              <a:ext cx="297003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H</a:t>
              </a:r>
              <a:r>
                <a:rPr sz="1500" b="0" i="1" baseline="-25000">
                  <a:solidFill>
                    <a:srgbClr val="111111"/>
                  </a:solidFill>
                  <a:latin typeface="Liberation Serif"/>
                </a:rPr>
                <a:t>st</a:t>
              </a:r>
            </a:p>
          </p:txBody>
        </p:sp>
        <p:sp>
          <p:nvSpPr>
            <p:cNvPr id="617" name="Rectangle 616"/>
            <p:cNvSpPr/>
            <p:nvPr/>
          </p:nvSpPr>
          <p:spPr>
            <a:xfrm>
              <a:off x="13449300" y="2219325"/>
              <a:ext cx="323850" cy="952"/>
            </a:xfrm>
            <a:custGeom>
              <a:avLst/>
              <a:gdLst/>
              <a:ahLst/>
              <a:cxnLst/>
              <a:rect l="0" t="0" r="r" b="b"/>
              <a:pathLst>
                <a:path w="34000" h="100" fill="none">
                  <a:moveTo>
                    <a:pt x="0" y="0"/>
                  </a:moveTo>
                  <a:lnTo>
                    <a:pt x="3400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8" name="Rectangle 617"/>
            <p:cNvSpPr/>
            <p:nvPr/>
          </p:nvSpPr>
          <p:spPr>
            <a:xfrm>
              <a:off x="13706475" y="2191322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7000" y="2940"/>
                  </a:moveTo>
                  <a:lnTo>
                    <a:pt x="0" y="0"/>
                  </a:lnTo>
                  <a:lnTo>
                    <a:pt x="2310" y="2940"/>
                  </a:lnTo>
                  <a:lnTo>
                    <a:pt x="0" y="588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9" name="Rectangle 618"/>
            <p:cNvSpPr/>
            <p:nvPr/>
          </p:nvSpPr>
          <p:spPr>
            <a:xfrm>
              <a:off x="13830300" y="1628775"/>
              <a:ext cx="3590925" cy="1114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0" name="Rectangle 619"/>
            <p:cNvSpPr/>
            <p:nvPr/>
          </p:nvSpPr>
          <p:spPr>
            <a:xfrm>
              <a:off x="13868400" y="1685925"/>
              <a:ext cx="161925" cy="4095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1" name="Rectangle 620"/>
            <p:cNvSpPr/>
            <p:nvPr/>
          </p:nvSpPr>
          <p:spPr>
            <a:xfrm>
              <a:off x="13896975" y="1714500"/>
              <a:ext cx="104775" cy="104775"/>
            </a:xfrm>
            <a:prstGeom prst="rect">
              <a:avLst/>
            </a:prstGeom>
            <a:solidFill>
              <a:srgbClr val="B59ACA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2" name="Rectangle 621"/>
            <p:cNvSpPr/>
            <p:nvPr/>
          </p:nvSpPr>
          <p:spPr>
            <a:xfrm>
              <a:off x="13896975" y="1831975"/>
              <a:ext cx="104775" cy="104775"/>
            </a:xfrm>
            <a:prstGeom prst="rect">
              <a:avLst/>
            </a:prstGeom>
            <a:solidFill>
              <a:srgbClr val="E5B4B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3" name="Rectangle 622"/>
            <p:cNvSpPr/>
            <p:nvPr/>
          </p:nvSpPr>
          <p:spPr>
            <a:xfrm>
              <a:off x="13896975" y="1949450"/>
              <a:ext cx="104775" cy="104775"/>
            </a:xfrm>
            <a:prstGeom prst="rect">
              <a:avLst/>
            </a:prstGeom>
            <a:solidFill>
              <a:srgbClr val="A8C3E7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4" name="Text: +"/>
            <p:cNvSpPr txBox="1"/>
            <p:nvPr/>
          </p:nvSpPr>
          <p:spPr>
            <a:xfrm>
              <a:off x="13864996" y="2049685"/>
              <a:ext cx="168734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+</a:t>
              </a:r>
            </a:p>
          </p:txBody>
        </p:sp>
        <p:sp>
          <p:nvSpPr>
            <p:cNvPr id="625" name="Rectangle 624"/>
            <p:cNvSpPr/>
            <p:nvPr/>
          </p:nvSpPr>
          <p:spPr>
            <a:xfrm>
              <a:off x="13868400" y="2238375"/>
              <a:ext cx="161925" cy="45720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6" name="Rectangle 625"/>
            <p:cNvSpPr/>
            <p:nvPr/>
          </p:nvSpPr>
          <p:spPr>
            <a:xfrm>
              <a:off x="13901738" y="2276475"/>
              <a:ext cx="95250" cy="95250"/>
            </a:xfrm>
            <a:prstGeom prst="rect">
              <a:avLst/>
            </a:prstGeom>
            <a:solidFill>
              <a:srgbClr val="FFDD58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7" name="Rectangle 626"/>
            <p:cNvSpPr/>
            <p:nvPr/>
          </p:nvSpPr>
          <p:spPr>
            <a:xfrm>
              <a:off x="13901738" y="2390775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8" name="Rectangle 627"/>
            <p:cNvSpPr/>
            <p:nvPr/>
          </p:nvSpPr>
          <p:spPr>
            <a:xfrm>
              <a:off x="13901738" y="2562225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9" name="Oval 628"/>
            <p:cNvSpPr/>
            <p:nvPr/>
          </p:nvSpPr>
          <p:spPr>
            <a:xfrm>
              <a:off x="13943648" y="24993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0" name="Oval 629"/>
            <p:cNvSpPr/>
            <p:nvPr/>
          </p:nvSpPr>
          <p:spPr>
            <a:xfrm>
              <a:off x="13943648" y="25184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1" name="Oval 630"/>
            <p:cNvSpPr/>
            <p:nvPr/>
          </p:nvSpPr>
          <p:spPr>
            <a:xfrm>
              <a:off x="13943648" y="25374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2" name="Rectangle 631"/>
            <p:cNvSpPr/>
            <p:nvPr/>
          </p:nvSpPr>
          <p:spPr>
            <a:xfrm>
              <a:off x="14201775" y="1685925"/>
              <a:ext cx="161925" cy="4095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3" name="Rectangle 632"/>
            <p:cNvSpPr/>
            <p:nvPr/>
          </p:nvSpPr>
          <p:spPr>
            <a:xfrm>
              <a:off x="14230350" y="1714500"/>
              <a:ext cx="104775" cy="104775"/>
            </a:xfrm>
            <a:prstGeom prst="rect">
              <a:avLst/>
            </a:prstGeom>
            <a:solidFill>
              <a:srgbClr val="B59ACA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4" name="Rectangle 633"/>
            <p:cNvSpPr/>
            <p:nvPr/>
          </p:nvSpPr>
          <p:spPr>
            <a:xfrm>
              <a:off x="14230350" y="1831975"/>
              <a:ext cx="104775" cy="104775"/>
            </a:xfrm>
            <a:prstGeom prst="rect">
              <a:avLst/>
            </a:prstGeom>
            <a:solidFill>
              <a:srgbClr val="E5B4B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5" name="Rectangle 634"/>
            <p:cNvSpPr/>
            <p:nvPr/>
          </p:nvSpPr>
          <p:spPr>
            <a:xfrm>
              <a:off x="14230350" y="1949450"/>
              <a:ext cx="104775" cy="104775"/>
            </a:xfrm>
            <a:prstGeom prst="rect">
              <a:avLst/>
            </a:prstGeom>
            <a:solidFill>
              <a:srgbClr val="A8C3E7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6" name="Text: +"/>
            <p:cNvSpPr txBox="1"/>
            <p:nvPr/>
          </p:nvSpPr>
          <p:spPr>
            <a:xfrm>
              <a:off x="14198371" y="2049685"/>
              <a:ext cx="168734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+</a:t>
              </a:r>
            </a:p>
          </p:txBody>
        </p:sp>
        <p:sp>
          <p:nvSpPr>
            <p:cNvPr id="637" name="Rectangle 636"/>
            <p:cNvSpPr/>
            <p:nvPr/>
          </p:nvSpPr>
          <p:spPr>
            <a:xfrm>
              <a:off x="14201775" y="2238375"/>
              <a:ext cx="161925" cy="45720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8" name="Rectangle 637"/>
            <p:cNvSpPr/>
            <p:nvPr/>
          </p:nvSpPr>
          <p:spPr>
            <a:xfrm>
              <a:off x="14235112" y="2276475"/>
              <a:ext cx="95250" cy="95250"/>
            </a:xfrm>
            <a:prstGeom prst="rect">
              <a:avLst/>
            </a:prstGeom>
            <a:solidFill>
              <a:srgbClr val="FFDD58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9" name="Rectangle 638"/>
            <p:cNvSpPr/>
            <p:nvPr/>
          </p:nvSpPr>
          <p:spPr>
            <a:xfrm>
              <a:off x="14235112" y="2390775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0" name="Rectangle 639"/>
            <p:cNvSpPr/>
            <p:nvPr/>
          </p:nvSpPr>
          <p:spPr>
            <a:xfrm>
              <a:off x="14235112" y="2562225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1" name="Oval 640"/>
            <p:cNvSpPr/>
            <p:nvPr/>
          </p:nvSpPr>
          <p:spPr>
            <a:xfrm>
              <a:off x="14277022" y="24993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2" name="Oval 641"/>
            <p:cNvSpPr/>
            <p:nvPr/>
          </p:nvSpPr>
          <p:spPr>
            <a:xfrm>
              <a:off x="14277022" y="25184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3" name="Oval 642"/>
            <p:cNvSpPr/>
            <p:nvPr/>
          </p:nvSpPr>
          <p:spPr>
            <a:xfrm>
              <a:off x="14277022" y="25374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4" name="Rectangle 643"/>
            <p:cNvSpPr/>
            <p:nvPr/>
          </p:nvSpPr>
          <p:spPr>
            <a:xfrm>
              <a:off x="14535150" y="1685925"/>
              <a:ext cx="161925" cy="4095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5" name="Rectangle 644"/>
            <p:cNvSpPr/>
            <p:nvPr/>
          </p:nvSpPr>
          <p:spPr>
            <a:xfrm>
              <a:off x="14563725" y="1714500"/>
              <a:ext cx="104775" cy="104775"/>
            </a:xfrm>
            <a:prstGeom prst="rect">
              <a:avLst/>
            </a:prstGeom>
            <a:solidFill>
              <a:srgbClr val="B59ACA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6" name="Rectangle 645"/>
            <p:cNvSpPr/>
            <p:nvPr/>
          </p:nvSpPr>
          <p:spPr>
            <a:xfrm>
              <a:off x="14563725" y="1831975"/>
              <a:ext cx="104775" cy="104775"/>
            </a:xfrm>
            <a:prstGeom prst="rect">
              <a:avLst/>
            </a:prstGeom>
            <a:solidFill>
              <a:srgbClr val="E5B4B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7" name="Rectangle 646"/>
            <p:cNvSpPr/>
            <p:nvPr/>
          </p:nvSpPr>
          <p:spPr>
            <a:xfrm>
              <a:off x="14563725" y="1949450"/>
              <a:ext cx="104775" cy="104775"/>
            </a:xfrm>
            <a:prstGeom prst="rect">
              <a:avLst/>
            </a:prstGeom>
            <a:solidFill>
              <a:srgbClr val="A8C3E7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8" name="Text: +"/>
            <p:cNvSpPr txBox="1"/>
            <p:nvPr/>
          </p:nvSpPr>
          <p:spPr>
            <a:xfrm>
              <a:off x="14531746" y="2049685"/>
              <a:ext cx="168734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+</a:t>
              </a:r>
            </a:p>
          </p:txBody>
        </p:sp>
        <p:sp>
          <p:nvSpPr>
            <p:cNvPr id="649" name="Rectangle 648"/>
            <p:cNvSpPr/>
            <p:nvPr/>
          </p:nvSpPr>
          <p:spPr>
            <a:xfrm>
              <a:off x="14535150" y="2238375"/>
              <a:ext cx="161925" cy="45720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0" name="Rectangle 649"/>
            <p:cNvSpPr/>
            <p:nvPr/>
          </p:nvSpPr>
          <p:spPr>
            <a:xfrm>
              <a:off x="14568488" y="2276475"/>
              <a:ext cx="95250" cy="95250"/>
            </a:xfrm>
            <a:prstGeom prst="rect">
              <a:avLst/>
            </a:prstGeom>
            <a:solidFill>
              <a:srgbClr val="FFDD58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1" name="Rectangle 650"/>
            <p:cNvSpPr/>
            <p:nvPr/>
          </p:nvSpPr>
          <p:spPr>
            <a:xfrm>
              <a:off x="14568488" y="2390775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2" name="Rectangle 651"/>
            <p:cNvSpPr/>
            <p:nvPr/>
          </p:nvSpPr>
          <p:spPr>
            <a:xfrm>
              <a:off x="14568488" y="2562225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3" name="Oval 652"/>
            <p:cNvSpPr/>
            <p:nvPr/>
          </p:nvSpPr>
          <p:spPr>
            <a:xfrm>
              <a:off x="14610398" y="24993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4" name="Oval 653"/>
            <p:cNvSpPr/>
            <p:nvPr/>
          </p:nvSpPr>
          <p:spPr>
            <a:xfrm>
              <a:off x="14610398" y="25184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5" name="Oval 654"/>
            <p:cNvSpPr/>
            <p:nvPr/>
          </p:nvSpPr>
          <p:spPr>
            <a:xfrm>
              <a:off x="14610398" y="25374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6" name="Rectangle 655"/>
            <p:cNvSpPr/>
            <p:nvPr/>
          </p:nvSpPr>
          <p:spPr>
            <a:xfrm>
              <a:off x="14868525" y="1685925"/>
              <a:ext cx="161925" cy="4095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7" name="Rectangle 656"/>
            <p:cNvSpPr/>
            <p:nvPr/>
          </p:nvSpPr>
          <p:spPr>
            <a:xfrm>
              <a:off x="14897100" y="1714500"/>
              <a:ext cx="104775" cy="104775"/>
            </a:xfrm>
            <a:prstGeom prst="rect">
              <a:avLst/>
            </a:prstGeom>
            <a:solidFill>
              <a:srgbClr val="B59ACA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8" name="Rectangle 657"/>
            <p:cNvSpPr/>
            <p:nvPr/>
          </p:nvSpPr>
          <p:spPr>
            <a:xfrm>
              <a:off x="14897100" y="1831975"/>
              <a:ext cx="104775" cy="104775"/>
            </a:xfrm>
            <a:prstGeom prst="rect">
              <a:avLst/>
            </a:prstGeom>
            <a:solidFill>
              <a:srgbClr val="E5B4B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9" name="Rectangle 658"/>
            <p:cNvSpPr/>
            <p:nvPr/>
          </p:nvSpPr>
          <p:spPr>
            <a:xfrm>
              <a:off x="14897100" y="1949450"/>
              <a:ext cx="104775" cy="104775"/>
            </a:xfrm>
            <a:prstGeom prst="rect">
              <a:avLst/>
            </a:prstGeom>
            <a:solidFill>
              <a:srgbClr val="A8C3E7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0" name="Text: +"/>
            <p:cNvSpPr txBox="1"/>
            <p:nvPr/>
          </p:nvSpPr>
          <p:spPr>
            <a:xfrm>
              <a:off x="14865121" y="2049685"/>
              <a:ext cx="168734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+</a:t>
              </a:r>
            </a:p>
          </p:txBody>
        </p:sp>
        <p:sp>
          <p:nvSpPr>
            <p:cNvPr id="661" name="Rectangle 660"/>
            <p:cNvSpPr/>
            <p:nvPr/>
          </p:nvSpPr>
          <p:spPr>
            <a:xfrm>
              <a:off x="14868525" y="2238375"/>
              <a:ext cx="161925" cy="45720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2" name="Rectangle 661"/>
            <p:cNvSpPr/>
            <p:nvPr/>
          </p:nvSpPr>
          <p:spPr>
            <a:xfrm>
              <a:off x="14901862" y="2276475"/>
              <a:ext cx="95250" cy="95250"/>
            </a:xfrm>
            <a:prstGeom prst="rect">
              <a:avLst/>
            </a:prstGeom>
            <a:solidFill>
              <a:srgbClr val="FFDD58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3" name="Rectangle 662"/>
            <p:cNvSpPr/>
            <p:nvPr/>
          </p:nvSpPr>
          <p:spPr>
            <a:xfrm>
              <a:off x="14901862" y="2390775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4" name="Rectangle 663"/>
            <p:cNvSpPr/>
            <p:nvPr/>
          </p:nvSpPr>
          <p:spPr>
            <a:xfrm>
              <a:off x="14901862" y="2562225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5" name="Oval 664"/>
            <p:cNvSpPr/>
            <p:nvPr/>
          </p:nvSpPr>
          <p:spPr>
            <a:xfrm>
              <a:off x="14943772" y="24993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6" name="Oval 665"/>
            <p:cNvSpPr/>
            <p:nvPr/>
          </p:nvSpPr>
          <p:spPr>
            <a:xfrm>
              <a:off x="14943772" y="25184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7" name="Oval 666"/>
            <p:cNvSpPr/>
            <p:nvPr/>
          </p:nvSpPr>
          <p:spPr>
            <a:xfrm>
              <a:off x="14943772" y="25374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8" name="Rectangle 667"/>
            <p:cNvSpPr/>
            <p:nvPr/>
          </p:nvSpPr>
          <p:spPr>
            <a:xfrm>
              <a:off x="15201900" y="1685925"/>
              <a:ext cx="161925" cy="4095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9" name="Rectangle 668"/>
            <p:cNvSpPr/>
            <p:nvPr/>
          </p:nvSpPr>
          <p:spPr>
            <a:xfrm>
              <a:off x="15230475" y="1714500"/>
              <a:ext cx="104775" cy="104775"/>
            </a:xfrm>
            <a:prstGeom prst="rect">
              <a:avLst/>
            </a:prstGeom>
            <a:solidFill>
              <a:srgbClr val="B59ACA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0" name="Rectangle 669"/>
            <p:cNvSpPr/>
            <p:nvPr/>
          </p:nvSpPr>
          <p:spPr>
            <a:xfrm>
              <a:off x="15230475" y="1831975"/>
              <a:ext cx="104775" cy="104775"/>
            </a:xfrm>
            <a:prstGeom prst="rect">
              <a:avLst/>
            </a:prstGeom>
            <a:solidFill>
              <a:srgbClr val="E5B4B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1" name="Rectangle 670"/>
            <p:cNvSpPr/>
            <p:nvPr/>
          </p:nvSpPr>
          <p:spPr>
            <a:xfrm>
              <a:off x="15230475" y="1949450"/>
              <a:ext cx="104775" cy="104775"/>
            </a:xfrm>
            <a:prstGeom prst="rect">
              <a:avLst/>
            </a:prstGeom>
            <a:solidFill>
              <a:srgbClr val="A8C3E7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2" name="Text: +"/>
            <p:cNvSpPr txBox="1"/>
            <p:nvPr/>
          </p:nvSpPr>
          <p:spPr>
            <a:xfrm>
              <a:off x="15198496" y="2049685"/>
              <a:ext cx="168734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+</a:t>
              </a:r>
            </a:p>
          </p:txBody>
        </p:sp>
        <p:sp>
          <p:nvSpPr>
            <p:cNvPr id="673" name="Rectangle 672"/>
            <p:cNvSpPr/>
            <p:nvPr/>
          </p:nvSpPr>
          <p:spPr>
            <a:xfrm>
              <a:off x="15201900" y="2238375"/>
              <a:ext cx="161925" cy="45720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4" name="Rectangle 673"/>
            <p:cNvSpPr/>
            <p:nvPr/>
          </p:nvSpPr>
          <p:spPr>
            <a:xfrm>
              <a:off x="15235238" y="2276475"/>
              <a:ext cx="95250" cy="95250"/>
            </a:xfrm>
            <a:prstGeom prst="rect">
              <a:avLst/>
            </a:prstGeom>
            <a:solidFill>
              <a:srgbClr val="FFDD58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5" name="Rectangle 674"/>
            <p:cNvSpPr/>
            <p:nvPr/>
          </p:nvSpPr>
          <p:spPr>
            <a:xfrm>
              <a:off x="15235238" y="2390775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6" name="Rectangle 675"/>
            <p:cNvSpPr/>
            <p:nvPr/>
          </p:nvSpPr>
          <p:spPr>
            <a:xfrm>
              <a:off x="15235238" y="2562225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7" name="Oval 676"/>
            <p:cNvSpPr/>
            <p:nvPr/>
          </p:nvSpPr>
          <p:spPr>
            <a:xfrm>
              <a:off x="15277148" y="24993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8" name="Oval 677"/>
            <p:cNvSpPr/>
            <p:nvPr/>
          </p:nvSpPr>
          <p:spPr>
            <a:xfrm>
              <a:off x="15277148" y="25184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9" name="Oval 678"/>
            <p:cNvSpPr/>
            <p:nvPr/>
          </p:nvSpPr>
          <p:spPr>
            <a:xfrm>
              <a:off x="15277148" y="25374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0" name="Rectangle 679"/>
            <p:cNvSpPr/>
            <p:nvPr/>
          </p:nvSpPr>
          <p:spPr>
            <a:xfrm>
              <a:off x="15535275" y="1685925"/>
              <a:ext cx="161925" cy="4095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1" name="Rectangle 680"/>
            <p:cNvSpPr/>
            <p:nvPr/>
          </p:nvSpPr>
          <p:spPr>
            <a:xfrm>
              <a:off x="15563850" y="1714500"/>
              <a:ext cx="104775" cy="104775"/>
            </a:xfrm>
            <a:prstGeom prst="rect">
              <a:avLst/>
            </a:prstGeom>
            <a:solidFill>
              <a:srgbClr val="B59ACA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2" name="Rectangle 681"/>
            <p:cNvSpPr/>
            <p:nvPr/>
          </p:nvSpPr>
          <p:spPr>
            <a:xfrm>
              <a:off x="15563850" y="1831975"/>
              <a:ext cx="104775" cy="104775"/>
            </a:xfrm>
            <a:prstGeom prst="rect">
              <a:avLst/>
            </a:prstGeom>
            <a:solidFill>
              <a:srgbClr val="E5B4B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3" name="Rectangle 682"/>
            <p:cNvSpPr/>
            <p:nvPr/>
          </p:nvSpPr>
          <p:spPr>
            <a:xfrm>
              <a:off x="15563850" y="1949450"/>
              <a:ext cx="104775" cy="104775"/>
            </a:xfrm>
            <a:prstGeom prst="rect">
              <a:avLst/>
            </a:prstGeom>
            <a:solidFill>
              <a:srgbClr val="A8C3E7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4" name="Text: +"/>
            <p:cNvSpPr txBox="1"/>
            <p:nvPr/>
          </p:nvSpPr>
          <p:spPr>
            <a:xfrm>
              <a:off x="15531871" y="2049685"/>
              <a:ext cx="168734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+</a:t>
              </a:r>
            </a:p>
          </p:txBody>
        </p:sp>
        <p:sp>
          <p:nvSpPr>
            <p:cNvPr id="685" name="Rectangle 684"/>
            <p:cNvSpPr/>
            <p:nvPr/>
          </p:nvSpPr>
          <p:spPr>
            <a:xfrm>
              <a:off x="15535275" y="2238375"/>
              <a:ext cx="161925" cy="45720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6" name="Rectangle 685"/>
            <p:cNvSpPr/>
            <p:nvPr/>
          </p:nvSpPr>
          <p:spPr>
            <a:xfrm>
              <a:off x="15568612" y="2276475"/>
              <a:ext cx="95250" cy="95250"/>
            </a:xfrm>
            <a:prstGeom prst="rect">
              <a:avLst/>
            </a:prstGeom>
            <a:solidFill>
              <a:srgbClr val="FFDD58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Rectangle 686"/>
            <p:cNvSpPr/>
            <p:nvPr/>
          </p:nvSpPr>
          <p:spPr>
            <a:xfrm>
              <a:off x="15568612" y="2390775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Rectangle 687"/>
            <p:cNvSpPr/>
            <p:nvPr/>
          </p:nvSpPr>
          <p:spPr>
            <a:xfrm>
              <a:off x="15568612" y="2562225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Oval 688"/>
            <p:cNvSpPr/>
            <p:nvPr/>
          </p:nvSpPr>
          <p:spPr>
            <a:xfrm>
              <a:off x="15610522" y="24993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0" name="Oval 689"/>
            <p:cNvSpPr/>
            <p:nvPr/>
          </p:nvSpPr>
          <p:spPr>
            <a:xfrm>
              <a:off x="15610522" y="25184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1" name="Oval 690"/>
            <p:cNvSpPr/>
            <p:nvPr/>
          </p:nvSpPr>
          <p:spPr>
            <a:xfrm>
              <a:off x="15610522" y="25374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Rectangle 691"/>
            <p:cNvSpPr/>
            <p:nvPr/>
          </p:nvSpPr>
          <p:spPr>
            <a:xfrm>
              <a:off x="15868650" y="1685925"/>
              <a:ext cx="161925" cy="4095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Rectangle 692"/>
            <p:cNvSpPr/>
            <p:nvPr/>
          </p:nvSpPr>
          <p:spPr>
            <a:xfrm>
              <a:off x="15897225" y="1714500"/>
              <a:ext cx="104775" cy="104775"/>
            </a:xfrm>
            <a:prstGeom prst="rect">
              <a:avLst/>
            </a:prstGeom>
            <a:solidFill>
              <a:srgbClr val="B59ACA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4" name="Rectangle 693"/>
            <p:cNvSpPr/>
            <p:nvPr/>
          </p:nvSpPr>
          <p:spPr>
            <a:xfrm>
              <a:off x="15897225" y="1831975"/>
              <a:ext cx="104775" cy="104775"/>
            </a:xfrm>
            <a:prstGeom prst="rect">
              <a:avLst/>
            </a:prstGeom>
            <a:solidFill>
              <a:srgbClr val="E5B4B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5" name="Rectangle 694"/>
            <p:cNvSpPr/>
            <p:nvPr/>
          </p:nvSpPr>
          <p:spPr>
            <a:xfrm>
              <a:off x="15897225" y="1949450"/>
              <a:ext cx="104775" cy="104775"/>
            </a:xfrm>
            <a:prstGeom prst="rect">
              <a:avLst/>
            </a:prstGeom>
            <a:solidFill>
              <a:srgbClr val="A8C3E7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6" name="Text: +"/>
            <p:cNvSpPr txBox="1"/>
            <p:nvPr/>
          </p:nvSpPr>
          <p:spPr>
            <a:xfrm>
              <a:off x="15865246" y="2049685"/>
              <a:ext cx="168734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+</a:t>
              </a:r>
            </a:p>
          </p:txBody>
        </p:sp>
        <p:sp>
          <p:nvSpPr>
            <p:cNvPr id="697" name="Rectangle 696"/>
            <p:cNvSpPr/>
            <p:nvPr/>
          </p:nvSpPr>
          <p:spPr>
            <a:xfrm>
              <a:off x="15868650" y="2238375"/>
              <a:ext cx="161925" cy="45720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8" name="Rectangle 697"/>
            <p:cNvSpPr/>
            <p:nvPr/>
          </p:nvSpPr>
          <p:spPr>
            <a:xfrm>
              <a:off x="15901988" y="2276475"/>
              <a:ext cx="95250" cy="95250"/>
            </a:xfrm>
            <a:prstGeom prst="rect">
              <a:avLst/>
            </a:prstGeom>
            <a:solidFill>
              <a:srgbClr val="FFDD58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Rectangle 698"/>
            <p:cNvSpPr/>
            <p:nvPr/>
          </p:nvSpPr>
          <p:spPr>
            <a:xfrm>
              <a:off x="15901988" y="2390775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0" name="Rectangle 699"/>
            <p:cNvSpPr/>
            <p:nvPr/>
          </p:nvSpPr>
          <p:spPr>
            <a:xfrm>
              <a:off x="15901988" y="2562225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1" name="Oval 700"/>
            <p:cNvSpPr/>
            <p:nvPr/>
          </p:nvSpPr>
          <p:spPr>
            <a:xfrm>
              <a:off x="15943898" y="24993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2" name="Oval 701"/>
            <p:cNvSpPr/>
            <p:nvPr/>
          </p:nvSpPr>
          <p:spPr>
            <a:xfrm>
              <a:off x="15943898" y="25184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3" name="Oval 702"/>
            <p:cNvSpPr/>
            <p:nvPr/>
          </p:nvSpPr>
          <p:spPr>
            <a:xfrm>
              <a:off x="15943898" y="25374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4" name="Rectangle 703"/>
            <p:cNvSpPr/>
            <p:nvPr/>
          </p:nvSpPr>
          <p:spPr>
            <a:xfrm>
              <a:off x="16202025" y="1685925"/>
              <a:ext cx="161925" cy="4095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5" name="Rectangle 704"/>
            <p:cNvSpPr/>
            <p:nvPr/>
          </p:nvSpPr>
          <p:spPr>
            <a:xfrm>
              <a:off x="16230600" y="1714500"/>
              <a:ext cx="104775" cy="104775"/>
            </a:xfrm>
            <a:prstGeom prst="rect">
              <a:avLst/>
            </a:prstGeom>
            <a:solidFill>
              <a:srgbClr val="B59ACA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6" name="Rectangle 705"/>
            <p:cNvSpPr/>
            <p:nvPr/>
          </p:nvSpPr>
          <p:spPr>
            <a:xfrm>
              <a:off x="16230600" y="1831975"/>
              <a:ext cx="104775" cy="104775"/>
            </a:xfrm>
            <a:prstGeom prst="rect">
              <a:avLst/>
            </a:prstGeom>
            <a:solidFill>
              <a:srgbClr val="E5B4B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7" name="Rectangle 706"/>
            <p:cNvSpPr/>
            <p:nvPr/>
          </p:nvSpPr>
          <p:spPr>
            <a:xfrm>
              <a:off x="16230600" y="1949450"/>
              <a:ext cx="104775" cy="104775"/>
            </a:xfrm>
            <a:prstGeom prst="rect">
              <a:avLst/>
            </a:prstGeom>
            <a:solidFill>
              <a:srgbClr val="A8C3E7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8" name="Text: +"/>
            <p:cNvSpPr txBox="1"/>
            <p:nvPr/>
          </p:nvSpPr>
          <p:spPr>
            <a:xfrm>
              <a:off x="16198621" y="2049685"/>
              <a:ext cx="168734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+</a:t>
              </a:r>
            </a:p>
          </p:txBody>
        </p:sp>
        <p:sp>
          <p:nvSpPr>
            <p:cNvPr id="709" name="Rectangle 708"/>
            <p:cNvSpPr/>
            <p:nvPr/>
          </p:nvSpPr>
          <p:spPr>
            <a:xfrm>
              <a:off x="16202025" y="2238375"/>
              <a:ext cx="161925" cy="45720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0" name="Rectangle 709"/>
            <p:cNvSpPr/>
            <p:nvPr/>
          </p:nvSpPr>
          <p:spPr>
            <a:xfrm>
              <a:off x="16235362" y="2276475"/>
              <a:ext cx="95250" cy="95250"/>
            </a:xfrm>
            <a:prstGeom prst="rect">
              <a:avLst/>
            </a:prstGeom>
            <a:solidFill>
              <a:srgbClr val="FFDD58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1" name="Rectangle 710"/>
            <p:cNvSpPr/>
            <p:nvPr/>
          </p:nvSpPr>
          <p:spPr>
            <a:xfrm>
              <a:off x="16235362" y="2390775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2" name="Rectangle 711"/>
            <p:cNvSpPr/>
            <p:nvPr/>
          </p:nvSpPr>
          <p:spPr>
            <a:xfrm>
              <a:off x="16235362" y="2562225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3" name="Oval 712"/>
            <p:cNvSpPr/>
            <p:nvPr/>
          </p:nvSpPr>
          <p:spPr>
            <a:xfrm>
              <a:off x="16277272" y="24993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4" name="Oval 713"/>
            <p:cNvSpPr/>
            <p:nvPr/>
          </p:nvSpPr>
          <p:spPr>
            <a:xfrm>
              <a:off x="16277272" y="25184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5" name="Oval 714"/>
            <p:cNvSpPr/>
            <p:nvPr/>
          </p:nvSpPr>
          <p:spPr>
            <a:xfrm>
              <a:off x="16277272" y="25374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6" name="Rectangle 715"/>
            <p:cNvSpPr/>
            <p:nvPr/>
          </p:nvSpPr>
          <p:spPr>
            <a:xfrm>
              <a:off x="16535400" y="1685925"/>
              <a:ext cx="161925" cy="4095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7" name="Rectangle 716"/>
            <p:cNvSpPr/>
            <p:nvPr/>
          </p:nvSpPr>
          <p:spPr>
            <a:xfrm>
              <a:off x="16563975" y="1714500"/>
              <a:ext cx="104775" cy="104775"/>
            </a:xfrm>
            <a:prstGeom prst="rect">
              <a:avLst/>
            </a:prstGeom>
            <a:solidFill>
              <a:srgbClr val="B59ACA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8" name="Rectangle 717"/>
            <p:cNvSpPr/>
            <p:nvPr/>
          </p:nvSpPr>
          <p:spPr>
            <a:xfrm>
              <a:off x="16563975" y="1831975"/>
              <a:ext cx="104775" cy="104775"/>
            </a:xfrm>
            <a:prstGeom prst="rect">
              <a:avLst/>
            </a:prstGeom>
            <a:solidFill>
              <a:srgbClr val="E5B4B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9" name="Rectangle 718"/>
            <p:cNvSpPr/>
            <p:nvPr/>
          </p:nvSpPr>
          <p:spPr>
            <a:xfrm>
              <a:off x="16563975" y="1949450"/>
              <a:ext cx="104775" cy="104775"/>
            </a:xfrm>
            <a:prstGeom prst="rect">
              <a:avLst/>
            </a:prstGeom>
            <a:solidFill>
              <a:srgbClr val="A8C3E7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0" name="Text: +"/>
            <p:cNvSpPr txBox="1"/>
            <p:nvPr/>
          </p:nvSpPr>
          <p:spPr>
            <a:xfrm>
              <a:off x="16531996" y="2049685"/>
              <a:ext cx="168734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+</a:t>
              </a:r>
            </a:p>
          </p:txBody>
        </p:sp>
        <p:sp>
          <p:nvSpPr>
            <p:cNvPr id="721" name="Rectangle 720"/>
            <p:cNvSpPr/>
            <p:nvPr/>
          </p:nvSpPr>
          <p:spPr>
            <a:xfrm>
              <a:off x="16535400" y="2238375"/>
              <a:ext cx="161925" cy="45720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2" name="Rectangle 721"/>
            <p:cNvSpPr/>
            <p:nvPr/>
          </p:nvSpPr>
          <p:spPr>
            <a:xfrm>
              <a:off x="16568738" y="2276475"/>
              <a:ext cx="95250" cy="95250"/>
            </a:xfrm>
            <a:prstGeom prst="rect">
              <a:avLst/>
            </a:prstGeom>
            <a:solidFill>
              <a:srgbClr val="FFDD58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3" name="Rectangle 722"/>
            <p:cNvSpPr/>
            <p:nvPr/>
          </p:nvSpPr>
          <p:spPr>
            <a:xfrm>
              <a:off x="16568738" y="2390775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4" name="Rectangle 723"/>
            <p:cNvSpPr/>
            <p:nvPr/>
          </p:nvSpPr>
          <p:spPr>
            <a:xfrm>
              <a:off x="16568738" y="2562225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5" name="Oval 724"/>
            <p:cNvSpPr/>
            <p:nvPr/>
          </p:nvSpPr>
          <p:spPr>
            <a:xfrm>
              <a:off x="16610648" y="24993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6" name="Oval 725"/>
            <p:cNvSpPr/>
            <p:nvPr/>
          </p:nvSpPr>
          <p:spPr>
            <a:xfrm>
              <a:off x="16610648" y="25184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7" name="Oval 726"/>
            <p:cNvSpPr/>
            <p:nvPr/>
          </p:nvSpPr>
          <p:spPr>
            <a:xfrm>
              <a:off x="16610648" y="25374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8" name="Rectangle 727"/>
            <p:cNvSpPr/>
            <p:nvPr/>
          </p:nvSpPr>
          <p:spPr>
            <a:xfrm>
              <a:off x="16868775" y="1685925"/>
              <a:ext cx="161925" cy="4095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9" name="Rectangle 728"/>
            <p:cNvSpPr/>
            <p:nvPr/>
          </p:nvSpPr>
          <p:spPr>
            <a:xfrm>
              <a:off x="16897350" y="1714500"/>
              <a:ext cx="104775" cy="104775"/>
            </a:xfrm>
            <a:prstGeom prst="rect">
              <a:avLst/>
            </a:prstGeom>
            <a:solidFill>
              <a:srgbClr val="B59ACA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0" name="Rectangle 729"/>
            <p:cNvSpPr/>
            <p:nvPr/>
          </p:nvSpPr>
          <p:spPr>
            <a:xfrm>
              <a:off x="16897350" y="1831975"/>
              <a:ext cx="104775" cy="104775"/>
            </a:xfrm>
            <a:prstGeom prst="rect">
              <a:avLst/>
            </a:prstGeom>
            <a:solidFill>
              <a:srgbClr val="E5B4B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1" name="Rectangle 730"/>
            <p:cNvSpPr/>
            <p:nvPr/>
          </p:nvSpPr>
          <p:spPr>
            <a:xfrm>
              <a:off x="16897350" y="1949450"/>
              <a:ext cx="104775" cy="104775"/>
            </a:xfrm>
            <a:prstGeom prst="rect">
              <a:avLst/>
            </a:prstGeom>
            <a:solidFill>
              <a:srgbClr val="A8C3E7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2" name="Text: +"/>
            <p:cNvSpPr txBox="1"/>
            <p:nvPr/>
          </p:nvSpPr>
          <p:spPr>
            <a:xfrm>
              <a:off x="16865371" y="2049685"/>
              <a:ext cx="168734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+</a:t>
              </a:r>
            </a:p>
          </p:txBody>
        </p:sp>
        <p:sp>
          <p:nvSpPr>
            <p:cNvPr id="733" name="Rectangle 732"/>
            <p:cNvSpPr/>
            <p:nvPr/>
          </p:nvSpPr>
          <p:spPr>
            <a:xfrm>
              <a:off x="16868775" y="2238375"/>
              <a:ext cx="161925" cy="45720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4" name="Rectangle 733"/>
            <p:cNvSpPr/>
            <p:nvPr/>
          </p:nvSpPr>
          <p:spPr>
            <a:xfrm>
              <a:off x="16902112" y="2276475"/>
              <a:ext cx="95250" cy="95250"/>
            </a:xfrm>
            <a:prstGeom prst="rect">
              <a:avLst/>
            </a:prstGeom>
            <a:solidFill>
              <a:srgbClr val="FFDD58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5" name="Rectangle 734"/>
            <p:cNvSpPr/>
            <p:nvPr/>
          </p:nvSpPr>
          <p:spPr>
            <a:xfrm>
              <a:off x="16902112" y="2390775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6" name="Rectangle 735"/>
            <p:cNvSpPr/>
            <p:nvPr/>
          </p:nvSpPr>
          <p:spPr>
            <a:xfrm>
              <a:off x="16902112" y="2562225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7" name="Oval 736"/>
            <p:cNvSpPr/>
            <p:nvPr/>
          </p:nvSpPr>
          <p:spPr>
            <a:xfrm>
              <a:off x="16944022" y="24993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8" name="Oval 737"/>
            <p:cNvSpPr/>
            <p:nvPr/>
          </p:nvSpPr>
          <p:spPr>
            <a:xfrm>
              <a:off x="16944022" y="25184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9" name="Oval 738"/>
            <p:cNvSpPr/>
            <p:nvPr/>
          </p:nvSpPr>
          <p:spPr>
            <a:xfrm>
              <a:off x="16944022" y="25374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0" name="Rectangle 739"/>
            <p:cNvSpPr/>
            <p:nvPr/>
          </p:nvSpPr>
          <p:spPr>
            <a:xfrm>
              <a:off x="17202150" y="1685925"/>
              <a:ext cx="161925" cy="4095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1" name="Rectangle 740"/>
            <p:cNvSpPr/>
            <p:nvPr/>
          </p:nvSpPr>
          <p:spPr>
            <a:xfrm>
              <a:off x="17230725" y="1714500"/>
              <a:ext cx="104775" cy="104775"/>
            </a:xfrm>
            <a:prstGeom prst="rect">
              <a:avLst/>
            </a:prstGeom>
            <a:solidFill>
              <a:srgbClr val="B59ACA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2" name="Rectangle 741"/>
            <p:cNvSpPr/>
            <p:nvPr/>
          </p:nvSpPr>
          <p:spPr>
            <a:xfrm>
              <a:off x="17230725" y="1831975"/>
              <a:ext cx="104775" cy="104775"/>
            </a:xfrm>
            <a:prstGeom prst="rect">
              <a:avLst/>
            </a:prstGeom>
            <a:solidFill>
              <a:srgbClr val="E5B4B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3" name="Rectangle 742"/>
            <p:cNvSpPr/>
            <p:nvPr/>
          </p:nvSpPr>
          <p:spPr>
            <a:xfrm>
              <a:off x="17230725" y="1949450"/>
              <a:ext cx="104775" cy="104775"/>
            </a:xfrm>
            <a:prstGeom prst="rect">
              <a:avLst/>
            </a:prstGeom>
            <a:solidFill>
              <a:srgbClr val="A8C3E7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4" name="Text: +"/>
            <p:cNvSpPr txBox="1"/>
            <p:nvPr/>
          </p:nvSpPr>
          <p:spPr>
            <a:xfrm>
              <a:off x="17198746" y="2049685"/>
              <a:ext cx="168734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+</a:t>
              </a:r>
            </a:p>
          </p:txBody>
        </p:sp>
        <p:sp>
          <p:nvSpPr>
            <p:cNvPr id="745" name="Rectangle 744"/>
            <p:cNvSpPr/>
            <p:nvPr/>
          </p:nvSpPr>
          <p:spPr>
            <a:xfrm>
              <a:off x="17202150" y="2238375"/>
              <a:ext cx="161925" cy="45720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6" name="Rectangle 745"/>
            <p:cNvSpPr/>
            <p:nvPr/>
          </p:nvSpPr>
          <p:spPr>
            <a:xfrm>
              <a:off x="17235488" y="2276475"/>
              <a:ext cx="95250" cy="95250"/>
            </a:xfrm>
            <a:prstGeom prst="rect">
              <a:avLst/>
            </a:prstGeom>
            <a:solidFill>
              <a:srgbClr val="FFDD58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7" name="Rectangle 746"/>
            <p:cNvSpPr/>
            <p:nvPr/>
          </p:nvSpPr>
          <p:spPr>
            <a:xfrm>
              <a:off x="17235488" y="2390775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8" name="Rectangle 747"/>
            <p:cNvSpPr/>
            <p:nvPr/>
          </p:nvSpPr>
          <p:spPr>
            <a:xfrm>
              <a:off x="17235488" y="2562225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9" name="Oval 748"/>
            <p:cNvSpPr/>
            <p:nvPr/>
          </p:nvSpPr>
          <p:spPr>
            <a:xfrm>
              <a:off x="17277398" y="24993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0" name="Oval 749"/>
            <p:cNvSpPr/>
            <p:nvPr/>
          </p:nvSpPr>
          <p:spPr>
            <a:xfrm>
              <a:off x="17277398" y="251841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1" name="Oval 750"/>
            <p:cNvSpPr/>
            <p:nvPr/>
          </p:nvSpPr>
          <p:spPr>
            <a:xfrm>
              <a:off x="17277398" y="25374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3" name="05_Spatio_Temporal_Filtering"/>
          <p:cNvGrpSpPr/>
          <p:nvPr/>
        </p:nvGrpSpPr>
        <p:grpSpPr>
          <a:xfrm>
            <a:off x="9058275" y="2990850"/>
            <a:ext cx="9229725" cy="2638425"/>
            <a:chOff x="9058275" y="2990850"/>
            <a:chExt cx="9229725" cy="2638425"/>
          </a:xfrm>
        </p:grpSpPr>
        <p:sp>
          <p:nvSpPr>
            <p:cNvPr id="753" name="Rectangle 752"/>
            <p:cNvSpPr/>
            <p:nvPr/>
          </p:nvSpPr>
          <p:spPr>
            <a:xfrm>
              <a:off x="9058275" y="2990850"/>
              <a:ext cx="9229725" cy="2638425"/>
            </a:xfrm>
            <a:prstGeom prst="rect">
              <a:avLst/>
            </a:prstGeom>
            <a:solidFill>
              <a:srgbClr val="F1F5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4" name="Text: Spatio-Temporal Filtering (STF)"/>
            <p:cNvSpPr txBox="1"/>
            <p:nvPr/>
          </p:nvSpPr>
          <p:spPr>
            <a:xfrm>
              <a:off x="11836701" y="3040952"/>
              <a:ext cx="3510948" cy="3714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950" b="1" i="0">
                  <a:solidFill>
                    <a:srgbClr val="111111"/>
                  </a:solidFill>
                  <a:latin typeface="Liberation Serif"/>
                </a:rPr>
                <a:t>Spatio-Temporal Filtering (STF)</a:t>
              </a:r>
            </a:p>
          </p:txBody>
        </p:sp>
        <p:sp>
          <p:nvSpPr>
            <p:cNvPr id="755" name="Rectangle 754"/>
            <p:cNvSpPr/>
            <p:nvPr/>
          </p:nvSpPr>
          <p:spPr>
            <a:xfrm>
              <a:off x="9210675" y="3419475"/>
              <a:ext cx="3962400" cy="10858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6" name="Rectangle 755"/>
            <p:cNvSpPr/>
            <p:nvPr/>
          </p:nvSpPr>
          <p:spPr>
            <a:xfrm>
              <a:off x="13249275" y="3419475"/>
              <a:ext cx="2295525" cy="10858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7" name="Rectangle 756"/>
            <p:cNvSpPr/>
            <p:nvPr/>
          </p:nvSpPr>
          <p:spPr>
            <a:xfrm>
              <a:off x="15611475" y="3419475"/>
              <a:ext cx="2524125" cy="10858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8" name="Rectangle 757"/>
            <p:cNvSpPr/>
            <p:nvPr/>
          </p:nvSpPr>
          <p:spPr>
            <a:xfrm>
              <a:off x="9344025" y="3552825"/>
              <a:ext cx="161925" cy="247650"/>
            </a:xfrm>
            <a:custGeom>
              <a:avLst/>
              <a:gdLst/>
              <a:ahLst/>
              <a:cxnLst/>
              <a:rect l="0" t="0" r="r" b="b"/>
              <a:pathLst>
                <a:path w="17000" h="26000" fill="none">
                  <a:moveTo>
                    <a:pt x="0" y="26000"/>
                  </a:moveTo>
                  <a:lnTo>
                    <a:pt x="1700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9" name="Rectangle 758"/>
            <p:cNvSpPr/>
            <p:nvPr/>
          </p:nvSpPr>
          <p:spPr>
            <a:xfrm>
              <a:off x="9344025" y="3800475"/>
              <a:ext cx="190500" cy="133350"/>
            </a:xfrm>
            <a:custGeom>
              <a:avLst/>
              <a:gdLst/>
              <a:ahLst/>
              <a:cxnLst/>
              <a:rect l="0" t="0" r="r" b="b"/>
              <a:pathLst>
                <a:path w="20000" h="14000" fill="none">
                  <a:moveTo>
                    <a:pt x="0" y="0"/>
                  </a:moveTo>
                  <a:lnTo>
                    <a:pt x="20000" y="1400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0" name="Rectangle 759"/>
            <p:cNvSpPr/>
            <p:nvPr/>
          </p:nvSpPr>
          <p:spPr>
            <a:xfrm>
              <a:off x="9505950" y="3552825"/>
              <a:ext cx="28575" cy="381000"/>
            </a:xfrm>
            <a:custGeom>
              <a:avLst/>
              <a:gdLst/>
              <a:ahLst/>
              <a:cxnLst/>
              <a:rect l="0" t="0" r="r" b="b"/>
              <a:pathLst>
                <a:path w="3000" h="40000" fill="none">
                  <a:moveTo>
                    <a:pt x="0" y="0"/>
                  </a:moveTo>
                  <a:lnTo>
                    <a:pt x="3000" y="4000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1" name="Rectangle 760"/>
            <p:cNvSpPr/>
            <p:nvPr/>
          </p:nvSpPr>
          <p:spPr>
            <a:xfrm>
              <a:off x="9505950" y="3552825"/>
              <a:ext cx="209550" cy="247650"/>
            </a:xfrm>
            <a:custGeom>
              <a:avLst/>
              <a:gdLst/>
              <a:ahLst/>
              <a:cxnLst/>
              <a:rect l="0" t="0" r="r" b="b"/>
              <a:pathLst>
                <a:path w="22000" h="26000" fill="none">
                  <a:moveTo>
                    <a:pt x="0" y="0"/>
                  </a:moveTo>
                  <a:lnTo>
                    <a:pt x="22000" y="2600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2" name="Rectangle 761"/>
            <p:cNvSpPr/>
            <p:nvPr/>
          </p:nvSpPr>
          <p:spPr>
            <a:xfrm>
              <a:off x="9505950" y="3552825"/>
              <a:ext cx="342900" cy="66675"/>
            </a:xfrm>
            <a:custGeom>
              <a:avLst/>
              <a:gdLst/>
              <a:ahLst/>
              <a:cxnLst/>
              <a:rect l="0" t="0" r="r" b="b"/>
              <a:pathLst>
                <a:path w="36000" h="7000" fill="none">
                  <a:moveTo>
                    <a:pt x="0" y="0"/>
                  </a:moveTo>
                  <a:lnTo>
                    <a:pt x="36000" y="700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3" name="Rectangle 762"/>
            <p:cNvSpPr/>
            <p:nvPr/>
          </p:nvSpPr>
          <p:spPr>
            <a:xfrm>
              <a:off x="9534525" y="3800475"/>
              <a:ext cx="180975" cy="133350"/>
            </a:xfrm>
            <a:custGeom>
              <a:avLst/>
              <a:gdLst/>
              <a:ahLst/>
              <a:cxnLst/>
              <a:rect l="0" t="0" r="r" b="b"/>
              <a:pathLst>
                <a:path w="19000" h="14000" fill="none">
                  <a:moveTo>
                    <a:pt x="0" y="14000"/>
                  </a:moveTo>
                  <a:lnTo>
                    <a:pt x="1900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4" name="Rectangle 763"/>
            <p:cNvSpPr/>
            <p:nvPr/>
          </p:nvSpPr>
          <p:spPr>
            <a:xfrm>
              <a:off x="9534525" y="3933825"/>
              <a:ext cx="276225" cy="161925"/>
            </a:xfrm>
            <a:custGeom>
              <a:avLst/>
              <a:gdLst/>
              <a:ahLst/>
              <a:cxnLst/>
              <a:rect l="0" t="0" r="r" b="b"/>
              <a:pathLst>
                <a:path w="29000" h="17000" fill="none">
                  <a:moveTo>
                    <a:pt x="0" y="0"/>
                  </a:moveTo>
                  <a:lnTo>
                    <a:pt x="29000" y="1700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5" name="Rectangle 764"/>
            <p:cNvSpPr/>
            <p:nvPr/>
          </p:nvSpPr>
          <p:spPr>
            <a:xfrm>
              <a:off x="9715500" y="3619500"/>
              <a:ext cx="133350" cy="180975"/>
            </a:xfrm>
            <a:custGeom>
              <a:avLst/>
              <a:gdLst/>
              <a:ahLst/>
              <a:cxnLst/>
              <a:rect l="0" t="0" r="r" b="b"/>
              <a:pathLst>
                <a:path w="14000" h="19000" fill="none">
                  <a:moveTo>
                    <a:pt x="0" y="19000"/>
                  </a:moveTo>
                  <a:lnTo>
                    <a:pt x="1400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6" name="Rectangle 765"/>
            <p:cNvSpPr/>
            <p:nvPr/>
          </p:nvSpPr>
          <p:spPr>
            <a:xfrm>
              <a:off x="9715500" y="3800475"/>
              <a:ext cx="95250" cy="295275"/>
            </a:xfrm>
            <a:custGeom>
              <a:avLst/>
              <a:gdLst/>
              <a:ahLst/>
              <a:cxnLst/>
              <a:rect l="0" t="0" r="r" b="b"/>
              <a:pathLst>
                <a:path w="10000" h="31000" fill="none">
                  <a:moveTo>
                    <a:pt x="0" y="0"/>
                  </a:moveTo>
                  <a:lnTo>
                    <a:pt x="10000" y="3100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7" name="Oval 766"/>
            <p:cNvSpPr/>
            <p:nvPr/>
          </p:nvSpPr>
          <p:spPr>
            <a:xfrm>
              <a:off x="9289732" y="3746182"/>
              <a:ext cx="108585" cy="108585"/>
            </a:xfrm>
            <a:prstGeom prst="ellipse">
              <a:avLst/>
            </a:prstGeom>
            <a:solidFill>
              <a:srgbClr val="80BAE7"/>
            </a:solidFill>
            <a:ln w="9525" cap="rnd">
              <a:solidFill>
                <a:srgbClr val="3154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8" name="Oval 767"/>
            <p:cNvSpPr/>
            <p:nvPr/>
          </p:nvSpPr>
          <p:spPr>
            <a:xfrm>
              <a:off x="9451658" y="3498532"/>
              <a:ext cx="108585" cy="108585"/>
            </a:xfrm>
            <a:prstGeom prst="ellipse">
              <a:avLst/>
            </a:prstGeom>
            <a:solidFill>
              <a:srgbClr val="91C1E8"/>
            </a:solidFill>
            <a:ln w="9525" cap="rnd">
              <a:solidFill>
                <a:srgbClr val="3154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9" name="Oval 768"/>
            <p:cNvSpPr/>
            <p:nvPr/>
          </p:nvSpPr>
          <p:spPr>
            <a:xfrm>
              <a:off x="9480232" y="3879532"/>
              <a:ext cx="108585" cy="108585"/>
            </a:xfrm>
            <a:prstGeom prst="ellipse">
              <a:avLst/>
            </a:prstGeom>
            <a:solidFill>
              <a:srgbClr val="BBD9ED"/>
            </a:solidFill>
            <a:ln w="9525" cap="rnd">
              <a:solidFill>
                <a:srgbClr val="3154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0" name="Oval 769"/>
            <p:cNvSpPr/>
            <p:nvPr/>
          </p:nvSpPr>
          <p:spPr>
            <a:xfrm>
              <a:off x="9661208" y="3746182"/>
              <a:ext cx="108585" cy="108585"/>
            </a:xfrm>
            <a:prstGeom prst="ellipse">
              <a:avLst/>
            </a:prstGeom>
            <a:solidFill>
              <a:srgbClr val="62A4D7"/>
            </a:solidFill>
            <a:ln w="9525" cap="rnd">
              <a:solidFill>
                <a:srgbClr val="3154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1" name="Oval 770"/>
            <p:cNvSpPr/>
            <p:nvPr/>
          </p:nvSpPr>
          <p:spPr>
            <a:xfrm>
              <a:off x="9794558" y="3565208"/>
              <a:ext cx="108585" cy="108585"/>
            </a:xfrm>
            <a:prstGeom prst="ellipse">
              <a:avLst/>
            </a:prstGeom>
            <a:solidFill>
              <a:srgbClr val="68AADE"/>
            </a:solidFill>
            <a:ln w="9525" cap="rnd">
              <a:solidFill>
                <a:srgbClr val="3154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2" name="Oval 771"/>
            <p:cNvSpPr/>
            <p:nvPr/>
          </p:nvSpPr>
          <p:spPr>
            <a:xfrm>
              <a:off x="9756458" y="4041458"/>
              <a:ext cx="108585" cy="108585"/>
            </a:xfrm>
            <a:prstGeom prst="ellipse">
              <a:avLst/>
            </a:prstGeom>
            <a:solidFill>
              <a:srgbClr val="CCE4F2"/>
            </a:solidFill>
            <a:ln w="9525" cap="rnd">
              <a:solidFill>
                <a:srgbClr val="3154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3" name="Rectangle 772"/>
            <p:cNvSpPr/>
            <p:nvPr/>
          </p:nvSpPr>
          <p:spPr>
            <a:xfrm>
              <a:off x="9991725" y="347662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4" name="Text: 1"/>
            <p:cNvSpPr txBox="1"/>
            <p:nvPr/>
          </p:nvSpPr>
          <p:spPr>
            <a:xfrm>
              <a:off x="9992320" y="345792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775" name="Rectangle 774"/>
            <p:cNvSpPr/>
            <p:nvPr/>
          </p:nvSpPr>
          <p:spPr>
            <a:xfrm>
              <a:off x="10125075" y="347662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6" name="Text: 0"/>
            <p:cNvSpPr txBox="1"/>
            <p:nvPr/>
          </p:nvSpPr>
          <p:spPr>
            <a:xfrm>
              <a:off x="10125670" y="345792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777" name="Rectangle 776"/>
            <p:cNvSpPr/>
            <p:nvPr/>
          </p:nvSpPr>
          <p:spPr>
            <a:xfrm>
              <a:off x="10258425" y="347662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8" name="Text: 0"/>
            <p:cNvSpPr txBox="1"/>
            <p:nvPr/>
          </p:nvSpPr>
          <p:spPr>
            <a:xfrm>
              <a:off x="10259020" y="345792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779" name="Rectangle 778"/>
            <p:cNvSpPr/>
            <p:nvPr/>
          </p:nvSpPr>
          <p:spPr>
            <a:xfrm>
              <a:off x="10391775" y="347662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0" name="Text: 1"/>
            <p:cNvSpPr txBox="1"/>
            <p:nvPr/>
          </p:nvSpPr>
          <p:spPr>
            <a:xfrm>
              <a:off x="10392370" y="345792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781" name="Rectangle 780"/>
            <p:cNvSpPr/>
            <p:nvPr/>
          </p:nvSpPr>
          <p:spPr>
            <a:xfrm>
              <a:off x="10525125" y="347662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2" name="Text: 0"/>
            <p:cNvSpPr txBox="1"/>
            <p:nvPr/>
          </p:nvSpPr>
          <p:spPr>
            <a:xfrm>
              <a:off x="10525720" y="345792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783" name="Rectangle 782"/>
            <p:cNvSpPr/>
            <p:nvPr/>
          </p:nvSpPr>
          <p:spPr>
            <a:xfrm>
              <a:off x="10658475" y="347662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4" name="Text: 0"/>
            <p:cNvSpPr txBox="1"/>
            <p:nvPr/>
          </p:nvSpPr>
          <p:spPr>
            <a:xfrm>
              <a:off x="10659070" y="345792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785" name="Rectangle 784"/>
            <p:cNvSpPr/>
            <p:nvPr/>
          </p:nvSpPr>
          <p:spPr>
            <a:xfrm>
              <a:off x="9991725" y="360997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6" name="Text: 1"/>
            <p:cNvSpPr txBox="1"/>
            <p:nvPr/>
          </p:nvSpPr>
          <p:spPr>
            <a:xfrm>
              <a:off x="9992320" y="359127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787" name="Rectangle 786"/>
            <p:cNvSpPr/>
            <p:nvPr/>
          </p:nvSpPr>
          <p:spPr>
            <a:xfrm>
              <a:off x="10125075" y="360997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8" name="Text: 0"/>
            <p:cNvSpPr txBox="1"/>
            <p:nvPr/>
          </p:nvSpPr>
          <p:spPr>
            <a:xfrm>
              <a:off x="10125670" y="359127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789" name="Rectangle 788"/>
            <p:cNvSpPr/>
            <p:nvPr/>
          </p:nvSpPr>
          <p:spPr>
            <a:xfrm>
              <a:off x="10258425" y="360997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0" name="Text: 1"/>
            <p:cNvSpPr txBox="1"/>
            <p:nvPr/>
          </p:nvSpPr>
          <p:spPr>
            <a:xfrm>
              <a:off x="10259020" y="359127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791" name="Rectangle 790"/>
            <p:cNvSpPr/>
            <p:nvPr/>
          </p:nvSpPr>
          <p:spPr>
            <a:xfrm>
              <a:off x="10391775" y="360997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2" name="Text: 0"/>
            <p:cNvSpPr txBox="1"/>
            <p:nvPr/>
          </p:nvSpPr>
          <p:spPr>
            <a:xfrm>
              <a:off x="10392370" y="359127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793" name="Rectangle 792"/>
            <p:cNvSpPr/>
            <p:nvPr/>
          </p:nvSpPr>
          <p:spPr>
            <a:xfrm>
              <a:off x="10525125" y="360997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4" name="Text: 1"/>
            <p:cNvSpPr txBox="1"/>
            <p:nvPr/>
          </p:nvSpPr>
          <p:spPr>
            <a:xfrm>
              <a:off x="10525720" y="359127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795" name="Rectangle 794"/>
            <p:cNvSpPr/>
            <p:nvPr/>
          </p:nvSpPr>
          <p:spPr>
            <a:xfrm>
              <a:off x="10658475" y="360997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6" name="Text: 0"/>
            <p:cNvSpPr txBox="1"/>
            <p:nvPr/>
          </p:nvSpPr>
          <p:spPr>
            <a:xfrm>
              <a:off x="10659070" y="359127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797" name="Rectangle 796"/>
            <p:cNvSpPr/>
            <p:nvPr/>
          </p:nvSpPr>
          <p:spPr>
            <a:xfrm>
              <a:off x="9991725" y="374332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8" name="Text: 0"/>
            <p:cNvSpPr txBox="1"/>
            <p:nvPr/>
          </p:nvSpPr>
          <p:spPr>
            <a:xfrm>
              <a:off x="9992320" y="372462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799" name="Rectangle 798"/>
            <p:cNvSpPr/>
            <p:nvPr/>
          </p:nvSpPr>
          <p:spPr>
            <a:xfrm>
              <a:off x="10125075" y="374332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0" name="Text: 0"/>
            <p:cNvSpPr txBox="1"/>
            <p:nvPr/>
          </p:nvSpPr>
          <p:spPr>
            <a:xfrm>
              <a:off x="10125670" y="372462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801" name="Rectangle 800"/>
            <p:cNvSpPr/>
            <p:nvPr/>
          </p:nvSpPr>
          <p:spPr>
            <a:xfrm>
              <a:off x="10258425" y="374332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2" name="Text: 1"/>
            <p:cNvSpPr txBox="1"/>
            <p:nvPr/>
          </p:nvSpPr>
          <p:spPr>
            <a:xfrm>
              <a:off x="10259020" y="372462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803" name="Rectangle 802"/>
            <p:cNvSpPr/>
            <p:nvPr/>
          </p:nvSpPr>
          <p:spPr>
            <a:xfrm>
              <a:off x="10391775" y="374332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4" name="Text: 0"/>
            <p:cNvSpPr txBox="1"/>
            <p:nvPr/>
          </p:nvSpPr>
          <p:spPr>
            <a:xfrm>
              <a:off x="10392370" y="372462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805" name="Rectangle 804"/>
            <p:cNvSpPr/>
            <p:nvPr/>
          </p:nvSpPr>
          <p:spPr>
            <a:xfrm>
              <a:off x="10525125" y="374332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6" name="Text: 1"/>
            <p:cNvSpPr txBox="1"/>
            <p:nvPr/>
          </p:nvSpPr>
          <p:spPr>
            <a:xfrm>
              <a:off x="10525720" y="372462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807" name="Rectangle 806"/>
            <p:cNvSpPr/>
            <p:nvPr/>
          </p:nvSpPr>
          <p:spPr>
            <a:xfrm>
              <a:off x="10658475" y="374332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8" name="Text: 1"/>
            <p:cNvSpPr txBox="1"/>
            <p:nvPr/>
          </p:nvSpPr>
          <p:spPr>
            <a:xfrm>
              <a:off x="10659070" y="372462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809" name="Rectangle 808"/>
            <p:cNvSpPr/>
            <p:nvPr/>
          </p:nvSpPr>
          <p:spPr>
            <a:xfrm>
              <a:off x="9991725" y="387667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0" name="Text: 0"/>
            <p:cNvSpPr txBox="1"/>
            <p:nvPr/>
          </p:nvSpPr>
          <p:spPr>
            <a:xfrm>
              <a:off x="9992320" y="385797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811" name="Rectangle 810"/>
            <p:cNvSpPr/>
            <p:nvPr/>
          </p:nvSpPr>
          <p:spPr>
            <a:xfrm>
              <a:off x="10125075" y="387667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2" name="Text: 1"/>
            <p:cNvSpPr txBox="1"/>
            <p:nvPr/>
          </p:nvSpPr>
          <p:spPr>
            <a:xfrm>
              <a:off x="10125670" y="385797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813" name="Rectangle 812"/>
            <p:cNvSpPr/>
            <p:nvPr/>
          </p:nvSpPr>
          <p:spPr>
            <a:xfrm>
              <a:off x="10258425" y="387667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4" name="Text: 0"/>
            <p:cNvSpPr txBox="1"/>
            <p:nvPr/>
          </p:nvSpPr>
          <p:spPr>
            <a:xfrm>
              <a:off x="10259020" y="385797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815" name="Rectangle 814"/>
            <p:cNvSpPr/>
            <p:nvPr/>
          </p:nvSpPr>
          <p:spPr>
            <a:xfrm>
              <a:off x="10391775" y="387667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6" name="Text: 1"/>
            <p:cNvSpPr txBox="1"/>
            <p:nvPr/>
          </p:nvSpPr>
          <p:spPr>
            <a:xfrm>
              <a:off x="10392370" y="385797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817" name="Rectangle 816"/>
            <p:cNvSpPr/>
            <p:nvPr/>
          </p:nvSpPr>
          <p:spPr>
            <a:xfrm>
              <a:off x="10525125" y="387667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8" name="Text: 0"/>
            <p:cNvSpPr txBox="1"/>
            <p:nvPr/>
          </p:nvSpPr>
          <p:spPr>
            <a:xfrm>
              <a:off x="10525720" y="385797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819" name="Rectangle 818"/>
            <p:cNvSpPr/>
            <p:nvPr/>
          </p:nvSpPr>
          <p:spPr>
            <a:xfrm>
              <a:off x="10658475" y="387667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0" name="Text: 1"/>
            <p:cNvSpPr txBox="1"/>
            <p:nvPr/>
          </p:nvSpPr>
          <p:spPr>
            <a:xfrm>
              <a:off x="10659070" y="385797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821" name="Rectangle 820"/>
            <p:cNvSpPr/>
            <p:nvPr/>
          </p:nvSpPr>
          <p:spPr>
            <a:xfrm>
              <a:off x="9991725" y="401002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2" name="Text: 1"/>
            <p:cNvSpPr txBox="1"/>
            <p:nvPr/>
          </p:nvSpPr>
          <p:spPr>
            <a:xfrm>
              <a:off x="9992320" y="399132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823" name="Rectangle 822"/>
            <p:cNvSpPr/>
            <p:nvPr/>
          </p:nvSpPr>
          <p:spPr>
            <a:xfrm>
              <a:off x="10125075" y="401002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4" name="Text: 0"/>
            <p:cNvSpPr txBox="1"/>
            <p:nvPr/>
          </p:nvSpPr>
          <p:spPr>
            <a:xfrm>
              <a:off x="10125670" y="399132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825" name="Rectangle 824"/>
            <p:cNvSpPr/>
            <p:nvPr/>
          </p:nvSpPr>
          <p:spPr>
            <a:xfrm>
              <a:off x="10258425" y="401002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6" name="Text: 0"/>
            <p:cNvSpPr txBox="1"/>
            <p:nvPr/>
          </p:nvSpPr>
          <p:spPr>
            <a:xfrm>
              <a:off x="10259020" y="399132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827" name="Rectangle 826"/>
            <p:cNvSpPr/>
            <p:nvPr/>
          </p:nvSpPr>
          <p:spPr>
            <a:xfrm>
              <a:off x="10391775" y="401002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8" name="Text: 0"/>
            <p:cNvSpPr txBox="1"/>
            <p:nvPr/>
          </p:nvSpPr>
          <p:spPr>
            <a:xfrm>
              <a:off x="10392370" y="399132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829" name="Rectangle 828"/>
            <p:cNvSpPr/>
            <p:nvPr/>
          </p:nvSpPr>
          <p:spPr>
            <a:xfrm>
              <a:off x="10525125" y="401002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0" name="Text: 0"/>
            <p:cNvSpPr txBox="1"/>
            <p:nvPr/>
          </p:nvSpPr>
          <p:spPr>
            <a:xfrm>
              <a:off x="10525720" y="399132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831" name="Rectangle 830"/>
            <p:cNvSpPr/>
            <p:nvPr/>
          </p:nvSpPr>
          <p:spPr>
            <a:xfrm>
              <a:off x="10658475" y="4010025"/>
              <a:ext cx="133350" cy="133350"/>
            </a:xfrm>
            <a:prstGeom prst="rect">
              <a:avLst/>
            </a:prstGeom>
            <a:solidFill>
              <a:srgbClr val="FFFFF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2" name="Text: 0"/>
            <p:cNvSpPr txBox="1"/>
            <p:nvPr/>
          </p:nvSpPr>
          <p:spPr>
            <a:xfrm>
              <a:off x="10659070" y="3991329"/>
              <a:ext cx="132159" cy="1960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28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833" name="Oval 832"/>
            <p:cNvSpPr/>
            <p:nvPr/>
          </p:nvSpPr>
          <p:spPr>
            <a:xfrm>
              <a:off x="10887075" y="3762375"/>
              <a:ext cx="152400" cy="152400"/>
            </a:xfrm>
            <a:prstGeom prst="ellipse">
              <a:avLst/>
            </a:prstGeom>
            <a:solidFill>
              <a:srgbClr val="FFFFFF"/>
            </a:solidFill>
            <a:ln w="8572" cap="rnd">
              <a:solidFill>
                <a:srgbClr val="2E53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4" name="Rectangle 833"/>
            <p:cNvSpPr/>
            <p:nvPr/>
          </p:nvSpPr>
          <p:spPr>
            <a:xfrm>
              <a:off x="10934700" y="3810000"/>
              <a:ext cx="57150" cy="57150"/>
            </a:xfrm>
            <a:custGeom>
              <a:avLst/>
              <a:gdLst/>
              <a:ahLst/>
              <a:cxnLst/>
              <a:rect l="0" t="0" r="r" b="b"/>
              <a:pathLst>
                <a:path w="6000" h="6000" fill="none">
                  <a:moveTo>
                    <a:pt x="0" y="0"/>
                  </a:moveTo>
                  <a:lnTo>
                    <a:pt x="6000" y="6000"/>
                  </a:lnTo>
                </a:path>
              </a:pathLst>
            </a:custGeom>
            <a:noFill/>
            <a:ln w="8572" cap="rnd">
              <a:solidFill>
                <a:srgbClr val="2E53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5" name="Rectangle 834"/>
            <p:cNvSpPr/>
            <p:nvPr/>
          </p:nvSpPr>
          <p:spPr>
            <a:xfrm>
              <a:off x="10934700" y="3810000"/>
              <a:ext cx="57150" cy="57150"/>
            </a:xfrm>
            <a:custGeom>
              <a:avLst/>
              <a:gdLst/>
              <a:ahLst/>
              <a:cxnLst/>
              <a:rect l="0" t="0" r="r" b="b"/>
              <a:pathLst>
                <a:path w="6000" h="6000" fill="none">
                  <a:moveTo>
                    <a:pt x="0" y="6000"/>
                  </a:moveTo>
                  <a:lnTo>
                    <a:pt x="6000" y="0"/>
                  </a:lnTo>
                </a:path>
              </a:pathLst>
            </a:custGeom>
            <a:noFill/>
            <a:ln w="8572" cap="rnd">
              <a:solidFill>
                <a:srgbClr val="2E53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6" name="Rectangle 835"/>
            <p:cNvSpPr/>
            <p:nvPr/>
          </p:nvSpPr>
          <p:spPr>
            <a:xfrm>
              <a:off x="11125200" y="3476625"/>
              <a:ext cx="136208" cy="136208"/>
            </a:xfrm>
            <a:prstGeom prst="rect">
              <a:avLst/>
            </a:prstGeom>
            <a:solidFill>
              <a:srgbClr val="AA81C5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7" name="Rectangle 836"/>
            <p:cNvSpPr/>
            <p:nvPr/>
          </p:nvSpPr>
          <p:spPr>
            <a:xfrm>
              <a:off x="11261408" y="3476625"/>
              <a:ext cx="136208" cy="136208"/>
            </a:xfrm>
            <a:prstGeom prst="rect">
              <a:avLst/>
            </a:prstGeom>
            <a:solidFill>
              <a:srgbClr val="8B59B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8" name="Rectangle 837"/>
            <p:cNvSpPr/>
            <p:nvPr/>
          </p:nvSpPr>
          <p:spPr>
            <a:xfrm>
              <a:off x="11397615" y="3476625"/>
              <a:ext cx="136208" cy="136208"/>
            </a:xfrm>
            <a:prstGeom prst="rect">
              <a:avLst/>
            </a:prstGeom>
            <a:solidFill>
              <a:srgbClr val="996DB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9" name="Rectangle 838"/>
            <p:cNvSpPr/>
            <p:nvPr/>
          </p:nvSpPr>
          <p:spPr>
            <a:xfrm>
              <a:off x="11533822" y="3476625"/>
              <a:ext cx="136208" cy="136208"/>
            </a:xfrm>
            <a:prstGeom prst="rect">
              <a:avLst/>
            </a:prstGeom>
            <a:solidFill>
              <a:srgbClr val="8B56B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0" name="Rectangle 839"/>
            <p:cNvSpPr/>
            <p:nvPr/>
          </p:nvSpPr>
          <p:spPr>
            <a:xfrm>
              <a:off x="11670030" y="3476625"/>
              <a:ext cx="136208" cy="136208"/>
            </a:xfrm>
            <a:prstGeom prst="rect">
              <a:avLst/>
            </a:prstGeom>
            <a:solidFill>
              <a:srgbClr val="A982C5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1" name="Rectangle 840"/>
            <p:cNvSpPr/>
            <p:nvPr/>
          </p:nvSpPr>
          <p:spPr>
            <a:xfrm>
              <a:off x="11806238" y="3476625"/>
              <a:ext cx="136208" cy="136208"/>
            </a:xfrm>
            <a:prstGeom prst="rect">
              <a:avLst/>
            </a:prstGeom>
            <a:solidFill>
              <a:srgbClr val="8B58B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2" name="Rectangle 841"/>
            <p:cNvSpPr/>
            <p:nvPr/>
          </p:nvSpPr>
          <p:spPr>
            <a:xfrm>
              <a:off x="11125200" y="3612832"/>
              <a:ext cx="136208" cy="136208"/>
            </a:xfrm>
            <a:prstGeom prst="rect">
              <a:avLst/>
            </a:prstGeom>
            <a:solidFill>
              <a:srgbClr val="AA81C5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3" name="Rectangle 842"/>
            <p:cNvSpPr/>
            <p:nvPr/>
          </p:nvSpPr>
          <p:spPr>
            <a:xfrm>
              <a:off x="11261408" y="3612832"/>
              <a:ext cx="136208" cy="136208"/>
            </a:xfrm>
            <a:prstGeom prst="rect">
              <a:avLst/>
            </a:prstGeom>
            <a:solidFill>
              <a:srgbClr val="854DAE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4" name="Rectangle 843"/>
            <p:cNvSpPr/>
            <p:nvPr/>
          </p:nvSpPr>
          <p:spPr>
            <a:xfrm>
              <a:off x="11397615" y="3612832"/>
              <a:ext cx="136208" cy="136208"/>
            </a:xfrm>
            <a:prstGeom prst="rect">
              <a:avLst/>
            </a:prstGeom>
            <a:solidFill>
              <a:srgbClr val="8B59B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5" name="Rectangle 844"/>
            <p:cNvSpPr/>
            <p:nvPr/>
          </p:nvSpPr>
          <p:spPr>
            <a:xfrm>
              <a:off x="11533822" y="3612832"/>
              <a:ext cx="136208" cy="136208"/>
            </a:xfrm>
            <a:prstGeom prst="rect">
              <a:avLst/>
            </a:prstGeom>
            <a:solidFill>
              <a:srgbClr val="A982C5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6" name="Rectangle 845"/>
            <p:cNvSpPr/>
            <p:nvPr/>
          </p:nvSpPr>
          <p:spPr>
            <a:xfrm>
              <a:off x="11670030" y="3612832"/>
              <a:ext cx="136208" cy="136208"/>
            </a:xfrm>
            <a:prstGeom prst="rect">
              <a:avLst/>
            </a:prstGeom>
            <a:solidFill>
              <a:srgbClr val="A982C5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7" name="Rectangle 846"/>
            <p:cNvSpPr/>
            <p:nvPr/>
          </p:nvSpPr>
          <p:spPr>
            <a:xfrm>
              <a:off x="11806238" y="3612832"/>
              <a:ext cx="136208" cy="136208"/>
            </a:xfrm>
            <a:prstGeom prst="rect">
              <a:avLst/>
            </a:prstGeom>
            <a:solidFill>
              <a:srgbClr val="A982C5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8" name="Rectangle 847"/>
            <p:cNvSpPr/>
            <p:nvPr/>
          </p:nvSpPr>
          <p:spPr>
            <a:xfrm>
              <a:off x="11125200" y="3749040"/>
              <a:ext cx="136208" cy="136208"/>
            </a:xfrm>
            <a:prstGeom prst="rect">
              <a:avLst/>
            </a:prstGeom>
            <a:solidFill>
              <a:srgbClr val="9464B7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9" name="Rectangle 848"/>
            <p:cNvSpPr/>
            <p:nvPr/>
          </p:nvSpPr>
          <p:spPr>
            <a:xfrm>
              <a:off x="11261408" y="3749040"/>
              <a:ext cx="136208" cy="136208"/>
            </a:xfrm>
            <a:prstGeom prst="rect">
              <a:avLst/>
            </a:prstGeom>
            <a:solidFill>
              <a:srgbClr val="915FB6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0" name="Rectangle 849"/>
            <p:cNvSpPr/>
            <p:nvPr/>
          </p:nvSpPr>
          <p:spPr>
            <a:xfrm>
              <a:off x="11397615" y="3749040"/>
              <a:ext cx="136208" cy="136208"/>
            </a:xfrm>
            <a:prstGeom prst="rect">
              <a:avLst/>
            </a:prstGeom>
            <a:solidFill>
              <a:srgbClr val="854DAE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1" name="Rectangle 850"/>
            <p:cNvSpPr/>
            <p:nvPr/>
          </p:nvSpPr>
          <p:spPr>
            <a:xfrm>
              <a:off x="11533822" y="3749040"/>
              <a:ext cx="136208" cy="136208"/>
            </a:xfrm>
            <a:prstGeom prst="rect">
              <a:avLst/>
            </a:prstGeom>
            <a:solidFill>
              <a:srgbClr val="A780C3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2" name="Rectangle 851"/>
            <p:cNvSpPr/>
            <p:nvPr/>
          </p:nvSpPr>
          <p:spPr>
            <a:xfrm>
              <a:off x="11670030" y="3749040"/>
              <a:ext cx="136208" cy="136208"/>
            </a:xfrm>
            <a:prstGeom prst="rect">
              <a:avLst/>
            </a:prstGeom>
            <a:solidFill>
              <a:srgbClr val="A982C5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3" name="Rectangle 852"/>
            <p:cNvSpPr/>
            <p:nvPr/>
          </p:nvSpPr>
          <p:spPr>
            <a:xfrm>
              <a:off x="11806238" y="3749040"/>
              <a:ext cx="136208" cy="136208"/>
            </a:xfrm>
            <a:prstGeom prst="rect">
              <a:avLst/>
            </a:prstGeom>
            <a:solidFill>
              <a:srgbClr val="8B58B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4" name="Rectangle 853"/>
            <p:cNvSpPr/>
            <p:nvPr/>
          </p:nvSpPr>
          <p:spPr>
            <a:xfrm>
              <a:off x="11125200" y="3885248"/>
              <a:ext cx="136208" cy="136208"/>
            </a:xfrm>
            <a:prstGeom prst="rect">
              <a:avLst/>
            </a:prstGeom>
            <a:solidFill>
              <a:srgbClr val="8852AE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5" name="Rectangle 854"/>
            <p:cNvSpPr/>
            <p:nvPr/>
          </p:nvSpPr>
          <p:spPr>
            <a:xfrm>
              <a:off x="11261408" y="3885248"/>
              <a:ext cx="136208" cy="136208"/>
            </a:xfrm>
            <a:prstGeom prst="rect">
              <a:avLst/>
            </a:prstGeom>
            <a:solidFill>
              <a:srgbClr val="A981C3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6" name="Rectangle 855"/>
            <p:cNvSpPr/>
            <p:nvPr/>
          </p:nvSpPr>
          <p:spPr>
            <a:xfrm>
              <a:off x="11397615" y="3885248"/>
              <a:ext cx="136208" cy="136208"/>
            </a:xfrm>
            <a:prstGeom prst="rect">
              <a:avLst/>
            </a:prstGeom>
            <a:solidFill>
              <a:srgbClr val="AA81C3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7" name="Rectangle 856"/>
            <p:cNvSpPr/>
            <p:nvPr/>
          </p:nvSpPr>
          <p:spPr>
            <a:xfrm>
              <a:off x="11533822" y="3885248"/>
              <a:ext cx="136208" cy="136208"/>
            </a:xfrm>
            <a:prstGeom prst="rect">
              <a:avLst/>
            </a:prstGeom>
            <a:solidFill>
              <a:srgbClr val="8751A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8" name="Rectangle 857"/>
            <p:cNvSpPr/>
            <p:nvPr/>
          </p:nvSpPr>
          <p:spPr>
            <a:xfrm>
              <a:off x="11670030" y="3885248"/>
              <a:ext cx="136208" cy="136208"/>
            </a:xfrm>
            <a:prstGeom prst="rect">
              <a:avLst/>
            </a:prstGeom>
            <a:solidFill>
              <a:srgbClr val="7D44AA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9" name="Rectangle 858"/>
            <p:cNvSpPr/>
            <p:nvPr/>
          </p:nvSpPr>
          <p:spPr>
            <a:xfrm>
              <a:off x="11806238" y="3885248"/>
              <a:ext cx="136208" cy="136208"/>
            </a:xfrm>
            <a:prstGeom prst="rect">
              <a:avLst/>
            </a:prstGeom>
            <a:solidFill>
              <a:srgbClr val="A981C7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0" name="Rectangle 859"/>
            <p:cNvSpPr/>
            <p:nvPr/>
          </p:nvSpPr>
          <p:spPr>
            <a:xfrm>
              <a:off x="11125200" y="4021455"/>
              <a:ext cx="136208" cy="136208"/>
            </a:xfrm>
            <a:prstGeom prst="rect">
              <a:avLst/>
            </a:prstGeom>
            <a:solidFill>
              <a:srgbClr val="A277C4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1" name="Rectangle 860"/>
            <p:cNvSpPr/>
            <p:nvPr/>
          </p:nvSpPr>
          <p:spPr>
            <a:xfrm>
              <a:off x="11261408" y="4021455"/>
              <a:ext cx="136208" cy="136208"/>
            </a:xfrm>
            <a:prstGeom prst="rect">
              <a:avLst/>
            </a:prstGeom>
            <a:solidFill>
              <a:srgbClr val="A982C4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2" name="Rectangle 861"/>
            <p:cNvSpPr/>
            <p:nvPr/>
          </p:nvSpPr>
          <p:spPr>
            <a:xfrm>
              <a:off x="11397615" y="4021455"/>
              <a:ext cx="136208" cy="136208"/>
            </a:xfrm>
            <a:prstGeom prst="rect">
              <a:avLst/>
            </a:prstGeom>
            <a:solidFill>
              <a:srgbClr val="A982C4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3" name="Rectangle 862"/>
            <p:cNvSpPr/>
            <p:nvPr/>
          </p:nvSpPr>
          <p:spPr>
            <a:xfrm>
              <a:off x="11533822" y="4021455"/>
              <a:ext cx="136208" cy="136208"/>
            </a:xfrm>
            <a:prstGeom prst="rect">
              <a:avLst/>
            </a:prstGeom>
            <a:solidFill>
              <a:srgbClr val="8F5DB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4" name="Rectangle 863"/>
            <p:cNvSpPr/>
            <p:nvPr/>
          </p:nvSpPr>
          <p:spPr>
            <a:xfrm>
              <a:off x="11670030" y="4021455"/>
              <a:ext cx="136208" cy="136208"/>
            </a:xfrm>
            <a:prstGeom prst="rect">
              <a:avLst/>
            </a:prstGeom>
            <a:solidFill>
              <a:srgbClr val="A980C4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5" name="Rectangle 864"/>
            <p:cNvSpPr/>
            <p:nvPr/>
          </p:nvSpPr>
          <p:spPr>
            <a:xfrm>
              <a:off x="11806238" y="4021455"/>
              <a:ext cx="136208" cy="136208"/>
            </a:xfrm>
            <a:prstGeom prst="rect">
              <a:avLst/>
            </a:prstGeom>
            <a:solidFill>
              <a:srgbClr val="A578B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6" name="Rectangle 865"/>
            <p:cNvSpPr/>
            <p:nvPr/>
          </p:nvSpPr>
          <p:spPr>
            <a:xfrm>
              <a:off x="11796712" y="3981450"/>
              <a:ext cx="235744" cy="214312"/>
            </a:xfrm>
            <a:custGeom>
              <a:avLst/>
              <a:gdLst/>
              <a:ahLst/>
              <a:cxnLst/>
              <a:rect l="0" t="0" r="r" b="b"/>
              <a:pathLst>
                <a:path w="24750" h="22500" fill="norm">
                  <a:moveTo>
                    <a:pt x="9000" y="20250"/>
                  </a:moveTo>
                  <a:cubicBezTo>
                    <a:pt x="0" y="19500"/>
                    <a:pt x="1500" y="10500"/>
                    <a:pt x="6000" y="7500"/>
                  </a:cubicBezTo>
                  <a:cubicBezTo>
                    <a:pt x="5250" y="12000"/>
                    <a:pt x="8250" y="13500"/>
                    <a:pt x="9000" y="9000"/>
                  </a:cubicBezTo>
                  <a:cubicBezTo>
                    <a:pt x="9750" y="4500"/>
                    <a:pt x="12750" y="4500"/>
                    <a:pt x="10500" y="0"/>
                  </a:cubicBezTo>
                  <a:cubicBezTo>
                    <a:pt x="18750" y="4500"/>
                    <a:pt x="15000" y="9750"/>
                    <a:pt x="18750" y="11250"/>
                  </a:cubicBezTo>
                  <a:cubicBezTo>
                    <a:pt x="20250" y="9750"/>
                    <a:pt x="19500" y="7500"/>
                    <a:pt x="19500" y="6750"/>
                  </a:cubicBezTo>
                  <a:cubicBezTo>
                    <a:pt x="24750" y="15000"/>
                    <a:pt x="21750" y="21000"/>
                    <a:pt x="15000" y="21750"/>
                  </a:cubicBezTo>
                  <a:cubicBezTo>
                    <a:pt x="12750" y="22500"/>
                    <a:pt x="10500" y="21750"/>
                    <a:pt x="9000" y="20250"/>
                  </a:cubicBezTo>
                  <a:close/>
                </a:path>
              </a:pathLst>
            </a:custGeom>
            <a:solidFill>
              <a:srgbClr val="F8894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7" name="Rectangle 866"/>
            <p:cNvSpPr/>
            <p:nvPr/>
          </p:nvSpPr>
          <p:spPr>
            <a:xfrm>
              <a:off x="11846719" y="4067175"/>
              <a:ext cx="150019" cy="121444"/>
            </a:xfrm>
            <a:custGeom>
              <a:avLst/>
              <a:gdLst/>
              <a:ahLst/>
              <a:cxnLst/>
              <a:rect l="0" t="0" r="r" b="b"/>
              <a:pathLst>
                <a:path w="15750" h="12750" fill="norm">
                  <a:moveTo>
                    <a:pt x="3000" y="9750"/>
                  </a:moveTo>
                  <a:cubicBezTo>
                    <a:pt x="0" y="5250"/>
                    <a:pt x="3750" y="2250"/>
                    <a:pt x="3750" y="750"/>
                  </a:cubicBezTo>
                  <a:cubicBezTo>
                    <a:pt x="3750" y="5250"/>
                    <a:pt x="6750" y="4500"/>
                    <a:pt x="7500" y="0"/>
                  </a:cubicBezTo>
                  <a:cubicBezTo>
                    <a:pt x="11250" y="3000"/>
                    <a:pt x="10500" y="7500"/>
                    <a:pt x="12750" y="6750"/>
                  </a:cubicBezTo>
                  <a:cubicBezTo>
                    <a:pt x="12750" y="4500"/>
                    <a:pt x="12750" y="3750"/>
                    <a:pt x="13500" y="3750"/>
                  </a:cubicBezTo>
                  <a:cubicBezTo>
                    <a:pt x="15750" y="9750"/>
                    <a:pt x="11250" y="12750"/>
                    <a:pt x="7500" y="12000"/>
                  </a:cubicBezTo>
                  <a:cubicBezTo>
                    <a:pt x="5250" y="12000"/>
                    <a:pt x="3750" y="11250"/>
                    <a:pt x="3000" y="9750"/>
                  </a:cubicBezTo>
                  <a:close/>
                </a:path>
              </a:pathLst>
            </a:custGeom>
            <a:solidFill>
              <a:srgbClr val="FFC56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8" name="Rectangle 867"/>
            <p:cNvSpPr/>
            <p:nvPr/>
          </p:nvSpPr>
          <p:spPr>
            <a:xfrm>
              <a:off x="11889581" y="4110038"/>
              <a:ext cx="64294" cy="71438"/>
            </a:xfrm>
            <a:custGeom>
              <a:avLst/>
              <a:gdLst/>
              <a:ahLst/>
              <a:cxnLst/>
              <a:rect l="0" t="0" r="r" b="b"/>
              <a:pathLst>
                <a:path w="6750" h="7500" fill="norm">
                  <a:moveTo>
                    <a:pt x="1500" y="6000"/>
                  </a:moveTo>
                  <a:cubicBezTo>
                    <a:pt x="0" y="3000"/>
                    <a:pt x="3000" y="1500"/>
                    <a:pt x="3000" y="0"/>
                  </a:cubicBezTo>
                  <a:cubicBezTo>
                    <a:pt x="6750" y="3750"/>
                    <a:pt x="6000" y="6750"/>
                    <a:pt x="3750" y="7500"/>
                  </a:cubicBezTo>
                  <a:close/>
                </a:path>
              </a:pathLst>
            </a:custGeom>
            <a:solidFill>
              <a:srgbClr val="FFE2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9" name="Text: S_{s}"/>
            <p:cNvSpPr txBox="1"/>
            <p:nvPr/>
          </p:nvSpPr>
          <p:spPr>
            <a:xfrm>
              <a:off x="12020550" y="3773805"/>
              <a:ext cx="216044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S</a:t>
              </a:r>
              <a:r>
                <a:rPr sz="1500" b="0" i="1" baseline="-25000">
                  <a:solidFill>
                    <a:srgbClr val="111111"/>
                  </a:solidFill>
                  <a:latin typeface="Liberation Serif"/>
                </a:rPr>
                <a:t>s</a:t>
              </a:r>
            </a:p>
          </p:txBody>
        </p:sp>
        <p:sp>
          <p:nvSpPr>
            <p:cNvPr id="870" name="Text: Adjacency Matrix"/>
            <p:cNvSpPr txBox="1"/>
            <p:nvPr/>
          </p:nvSpPr>
          <p:spPr>
            <a:xfrm>
              <a:off x="9407370" y="4221385"/>
              <a:ext cx="1378260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Adjacency Matrix</a:t>
              </a:r>
            </a:p>
          </p:txBody>
        </p:sp>
        <p:sp>
          <p:nvSpPr>
            <p:cNvPr id="871" name="Text: Spatial Affinity"/>
            <p:cNvSpPr txBox="1"/>
            <p:nvPr/>
          </p:nvSpPr>
          <p:spPr>
            <a:xfrm>
              <a:off x="10961638" y="4221385"/>
              <a:ext cx="1184374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Spatial Affinity</a:t>
              </a:r>
            </a:p>
          </p:txBody>
        </p:sp>
        <p:sp>
          <p:nvSpPr>
            <p:cNvPr id="872" name="Rectangle 871"/>
            <p:cNvSpPr/>
            <p:nvPr/>
          </p:nvSpPr>
          <p:spPr>
            <a:xfrm>
              <a:off x="12249150" y="3552825"/>
              <a:ext cx="85725" cy="752475"/>
            </a:xfrm>
            <a:custGeom>
              <a:avLst/>
              <a:gdLst/>
              <a:ahLst/>
              <a:cxnLst/>
              <a:rect l="0" t="0" r="r" b="b"/>
              <a:pathLst>
                <a:path w="9000" h="79000" fill="none">
                  <a:moveTo>
                    <a:pt x="9000" y="0"/>
                  </a:moveTo>
                  <a:lnTo>
                    <a:pt x="4000" y="0"/>
                  </a:lnTo>
                  <a:lnTo>
                    <a:pt x="4000" y="33970"/>
                  </a:lnTo>
                  <a:quadBezTo>
                    <a:pt x="4000" y="39500"/>
                    <a:pt x="0" y="39500"/>
                  </a:quadBezTo>
                  <a:quadBezTo>
                    <a:pt x="4000" y="39500"/>
                    <a:pt x="4000" y="45030"/>
                  </a:quadBezTo>
                  <a:lnTo>
                    <a:pt x="4000" y="79000"/>
                  </a:lnTo>
                  <a:lnTo>
                    <a:pt x="9000" y="79000"/>
                  </a:lnTo>
                </a:path>
              </a:pathLst>
            </a:custGeom>
            <a:noFill/>
            <a:ln w="1047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3" name="Rectangle 872"/>
            <p:cNvSpPr/>
            <p:nvPr/>
          </p:nvSpPr>
          <p:spPr>
            <a:xfrm>
              <a:off x="12344400" y="3543300"/>
              <a:ext cx="723900" cy="2095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4" name="Rectangle 873"/>
            <p:cNvSpPr/>
            <p:nvPr/>
          </p:nvSpPr>
          <p:spPr>
            <a:xfrm>
              <a:off x="12392025" y="3581400"/>
              <a:ext cx="133350" cy="133350"/>
            </a:xfrm>
            <a:prstGeom prst="rect">
              <a:avLst/>
            </a:prstGeom>
            <a:solidFill>
              <a:srgbClr val="AAC9E9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5" name="Rectangle 874"/>
            <p:cNvSpPr/>
            <p:nvPr/>
          </p:nvSpPr>
          <p:spPr>
            <a:xfrm>
              <a:off x="12573000" y="3581400"/>
              <a:ext cx="133350" cy="133350"/>
            </a:xfrm>
            <a:prstGeom prst="rect">
              <a:avLst/>
            </a:prstGeom>
            <a:solidFill>
              <a:srgbClr val="AAC9E9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6" name="Rectangle 875"/>
            <p:cNvSpPr/>
            <p:nvPr/>
          </p:nvSpPr>
          <p:spPr>
            <a:xfrm>
              <a:off x="12887325" y="3581400"/>
              <a:ext cx="133350" cy="133350"/>
            </a:xfrm>
            <a:prstGeom prst="rect">
              <a:avLst/>
            </a:prstGeom>
            <a:solidFill>
              <a:srgbClr val="AAC9E9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7" name="Text: ..."/>
            <p:cNvSpPr txBox="1"/>
            <p:nvPr/>
          </p:nvSpPr>
          <p:spPr>
            <a:xfrm>
              <a:off x="12673012" y="3563684"/>
              <a:ext cx="166688" cy="20002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1050" b="0" i="0">
                  <a:solidFill>
                    <a:srgbClr val="111111"/>
                  </a:solidFill>
                  <a:latin typeface="Liberation Serif"/>
                </a:rPr>
                <a:t>...</a:t>
              </a:r>
            </a:p>
          </p:txBody>
        </p:sp>
        <p:sp>
          <p:nvSpPr>
            <p:cNvPr id="878" name="Text: E_{n}"/>
            <p:cNvSpPr txBox="1"/>
            <p:nvPr/>
          </p:nvSpPr>
          <p:spPr>
            <a:xfrm>
              <a:off x="12392025" y="3783425"/>
              <a:ext cx="261872" cy="30003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75" b="0" i="1">
                  <a:solidFill>
                    <a:srgbClr val="111111"/>
                  </a:solidFill>
                  <a:latin typeface="Liberation Serif"/>
                </a:rPr>
                <a:t>E</a:t>
              </a:r>
              <a:r>
                <a:rPr sz="1575" b="0" i="1" baseline="-25000">
                  <a:solidFill>
                    <a:srgbClr val="111111"/>
                  </a:solidFill>
                  <a:latin typeface="Liberation Serif"/>
                </a:rPr>
                <a:t>n</a:t>
              </a:r>
            </a:p>
          </p:txBody>
        </p:sp>
        <p:sp>
          <p:nvSpPr>
            <p:cNvPr id="879" name="Oval 878"/>
            <p:cNvSpPr/>
            <p:nvPr/>
          </p:nvSpPr>
          <p:spPr>
            <a:xfrm>
              <a:off x="12620625" y="38481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8572" cap="rnd">
              <a:solidFill>
                <a:srgbClr val="2E53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0" name="Rectangle 879"/>
            <p:cNvSpPr/>
            <p:nvPr/>
          </p:nvSpPr>
          <p:spPr>
            <a:xfrm>
              <a:off x="12668250" y="3895725"/>
              <a:ext cx="57150" cy="57150"/>
            </a:xfrm>
            <a:custGeom>
              <a:avLst/>
              <a:gdLst/>
              <a:ahLst/>
              <a:cxnLst/>
              <a:rect l="0" t="0" r="r" b="b"/>
              <a:pathLst>
                <a:path w="6000" h="6000" fill="none">
                  <a:moveTo>
                    <a:pt x="0" y="0"/>
                  </a:moveTo>
                  <a:lnTo>
                    <a:pt x="6000" y="6000"/>
                  </a:lnTo>
                </a:path>
              </a:pathLst>
            </a:custGeom>
            <a:noFill/>
            <a:ln w="8572" cap="rnd">
              <a:solidFill>
                <a:srgbClr val="2E53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1" name="Rectangle 880"/>
            <p:cNvSpPr/>
            <p:nvPr/>
          </p:nvSpPr>
          <p:spPr>
            <a:xfrm>
              <a:off x="12668250" y="3895725"/>
              <a:ext cx="57150" cy="57150"/>
            </a:xfrm>
            <a:custGeom>
              <a:avLst/>
              <a:gdLst/>
              <a:ahLst/>
              <a:cxnLst/>
              <a:rect l="0" t="0" r="r" b="b"/>
              <a:pathLst>
                <a:path w="6000" h="6000" fill="none">
                  <a:moveTo>
                    <a:pt x="0" y="6000"/>
                  </a:moveTo>
                  <a:lnTo>
                    <a:pt x="6000" y="0"/>
                  </a:lnTo>
                </a:path>
              </a:pathLst>
            </a:custGeom>
            <a:noFill/>
            <a:ln w="8572" cap="rnd">
              <a:solidFill>
                <a:srgbClr val="2E53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2" name="Text: H_{st}"/>
            <p:cNvSpPr txBox="1"/>
            <p:nvPr/>
          </p:nvSpPr>
          <p:spPr>
            <a:xfrm>
              <a:off x="12839700" y="3792855"/>
              <a:ext cx="297003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H</a:t>
              </a:r>
              <a:r>
                <a:rPr sz="1500" b="0" i="0" baseline="-25000">
                  <a:solidFill>
                    <a:srgbClr val="111111"/>
                  </a:solidFill>
                  <a:latin typeface="Liberation Serif"/>
                </a:rPr>
                <a:t>st</a:t>
              </a:r>
            </a:p>
          </p:txBody>
        </p:sp>
        <p:sp>
          <p:nvSpPr>
            <p:cNvPr id="883" name="Rectangle 882"/>
            <p:cNvSpPr/>
            <p:nvPr/>
          </p:nvSpPr>
          <p:spPr>
            <a:xfrm>
              <a:off x="12344400" y="4095750"/>
              <a:ext cx="723900" cy="2190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4" name="Rectangle 883"/>
            <p:cNvSpPr/>
            <p:nvPr/>
          </p:nvSpPr>
          <p:spPr>
            <a:xfrm>
              <a:off x="12392025" y="4133850"/>
              <a:ext cx="142875" cy="142875"/>
            </a:xfrm>
            <a:prstGeom prst="rect">
              <a:avLst/>
            </a:prstGeom>
            <a:solidFill>
              <a:srgbClr val="FFDD58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5" name="Rectangle 884"/>
            <p:cNvSpPr/>
            <p:nvPr/>
          </p:nvSpPr>
          <p:spPr>
            <a:xfrm>
              <a:off x="12582525" y="4133850"/>
              <a:ext cx="142875" cy="142875"/>
            </a:xfrm>
            <a:prstGeom prst="rect">
              <a:avLst/>
            </a:prstGeom>
            <a:solidFill>
              <a:srgbClr val="7FA5D5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6" name="Rectangle 885"/>
            <p:cNvSpPr/>
            <p:nvPr/>
          </p:nvSpPr>
          <p:spPr>
            <a:xfrm>
              <a:off x="12877800" y="4133850"/>
              <a:ext cx="142875" cy="142875"/>
            </a:xfrm>
            <a:prstGeom prst="rect">
              <a:avLst/>
            </a:prstGeom>
            <a:solidFill>
              <a:srgbClr val="9CC879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7" name="Text: ..."/>
            <p:cNvSpPr txBox="1"/>
            <p:nvPr/>
          </p:nvSpPr>
          <p:spPr>
            <a:xfrm>
              <a:off x="12663488" y="4125658"/>
              <a:ext cx="166688" cy="20002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1050" b="0" i="0">
                  <a:solidFill>
                    <a:srgbClr val="111111"/>
                  </a:solidFill>
                  <a:latin typeface="Liberation Serif"/>
                </a:rPr>
                <a:t>...</a:t>
              </a:r>
            </a:p>
          </p:txBody>
        </p:sp>
        <p:sp>
          <p:nvSpPr>
            <p:cNvPr id="888" name="Rectangle 887"/>
            <p:cNvSpPr/>
            <p:nvPr/>
          </p:nvSpPr>
          <p:spPr>
            <a:xfrm>
              <a:off x="13401675" y="3486150"/>
              <a:ext cx="136208" cy="136208"/>
            </a:xfrm>
            <a:prstGeom prst="rect">
              <a:avLst/>
            </a:prstGeom>
            <a:solidFill>
              <a:srgbClr val="E58F91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9" name="Rectangle 888"/>
            <p:cNvSpPr/>
            <p:nvPr/>
          </p:nvSpPr>
          <p:spPr>
            <a:xfrm>
              <a:off x="13537882" y="3486150"/>
              <a:ext cx="136208" cy="136208"/>
            </a:xfrm>
            <a:prstGeom prst="rect">
              <a:avLst/>
            </a:prstGeom>
            <a:solidFill>
              <a:srgbClr val="E79B9E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0" name="Rectangle 889"/>
            <p:cNvSpPr/>
            <p:nvPr/>
          </p:nvSpPr>
          <p:spPr>
            <a:xfrm>
              <a:off x="13674090" y="3486150"/>
              <a:ext cx="136208" cy="136208"/>
            </a:xfrm>
            <a:prstGeom prst="rect">
              <a:avLst/>
            </a:prstGeom>
            <a:solidFill>
              <a:srgbClr val="E79B9E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1" name="Rectangle 890"/>
            <p:cNvSpPr/>
            <p:nvPr/>
          </p:nvSpPr>
          <p:spPr>
            <a:xfrm>
              <a:off x="13810298" y="3486150"/>
              <a:ext cx="136208" cy="136208"/>
            </a:xfrm>
            <a:prstGeom prst="rect">
              <a:avLst/>
            </a:prstGeom>
            <a:solidFill>
              <a:srgbClr val="E58F91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2" name="Rectangle 891"/>
            <p:cNvSpPr/>
            <p:nvPr/>
          </p:nvSpPr>
          <p:spPr>
            <a:xfrm>
              <a:off x="13946505" y="3486150"/>
              <a:ext cx="136208" cy="136208"/>
            </a:xfrm>
            <a:prstGeom prst="rect">
              <a:avLst/>
            </a:prstGeom>
            <a:solidFill>
              <a:srgbClr val="E58F91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3" name="Rectangle 892"/>
            <p:cNvSpPr/>
            <p:nvPr/>
          </p:nvSpPr>
          <p:spPr>
            <a:xfrm>
              <a:off x="14082712" y="3486150"/>
              <a:ext cx="136208" cy="136208"/>
            </a:xfrm>
            <a:prstGeom prst="rect">
              <a:avLst/>
            </a:prstGeom>
            <a:solidFill>
              <a:srgbClr val="E58F91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4" name="Rectangle 893"/>
            <p:cNvSpPr/>
            <p:nvPr/>
          </p:nvSpPr>
          <p:spPr>
            <a:xfrm>
              <a:off x="13401675" y="3622358"/>
              <a:ext cx="136208" cy="136208"/>
            </a:xfrm>
            <a:prstGeom prst="rect">
              <a:avLst/>
            </a:prstGeom>
            <a:solidFill>
              <a:srgbClr val="E79B9E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5" name="Rectangle 894"/>
            <p:cNvSpPr/>
            <p:nvPr/>
          </p:nvSpPr>
          <p:spPr>
            <a:xfrm>
              <a:off x="13537882" y="3622358"/>
              <a:ext cx="136208" cy="136208"/>
            </a:xfrm>
            <a:prstGeom prst="rect">
              <a:avLst/>
            </a:prstGeom>
            <a:solidFill>
              <a:srgbClr val="E8A3A1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6" name="Rectangle 895"/>
            <p:cNvSpPr/>
            <p:nvPr/>
          </p:nvSpPr>
          <p:spPr>
            <a:xfrm>
              <a:off x="13674090" y="3622358"/>
              <a:ext cx="136208" cy="136208"/>
            </a:xfrm>
            <a:prstGeom prst="rect">
              <a:avLst/>
            </a:prstGeom>
            <a:solidFill>
              <a:srgbClr val="D7575B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7" name="Rectangle 896"/>
            <p:cNvSpPr/>
            <p:nvPr/>
          </p:nvSpPr>
          <p:spPr>
            <a:xfrm>
              <a:off x="13810298" y="3622358"/>
              <a:ext cx="136208" cy="136208"/>
            </a:xfrm>
            <a:prstGeom prst="rect">
              <a:avLst/>
            </a:prstGeom>
            <a:solidFill>
              <a:srgbClr val="E79B9E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8" name="Rectangle 897"/>
            <p:cNvSpPr/>
            <p:nvPr/>
          </p:nvSpPr>
          <p:spPr>
            <a:xfrm>
              <a:off x="13946505" y="3622358"/>
              <a:ext cx="136208" cy="136208"/>
            </a:xfrm>
            <a:prstGeom prst="rect">
              <a:avLst/>
            </a:prstGeom>
            <a:solidFill>
              <a:srgbClr val="D7575B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9" name="Rectangle 898"/>
            <p:cNvSpPr/>
            <p:nvPr/>
          </p:nvSpPr>
          <p:spPr>
            <a:xfrm>
              <a:off x="14082712" y="3622358"/>
              <a:ext cx="136208" cy="136208"/>
            </a:xfrm>
            <a:prstGeom prst="rect">
              <a:avLst/>
            </a:prstGeom>
            <a:solidFill>
              <a:srgbClr val="CC555B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0" name="Rectangle 899"/>
            <p:cNvSpPr/>
            <p:nvPr/>
          </p:nvSpPr>
          <p:spPr>
            <a:xfrm>
              <a:off x="13401675" y="3758565"/>
              <a:ext cx="136208" cy="136208"/>
            </a:xfrm>
            <a:prstGeom prst="rect">
              <a:avLst/>
            </a:prstGeom>
            <a:solidFill>
              <a:srgbClr val="CC555B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1" name="Rectangle 900"/>
            <p:cNvSpPr/>
            <p:nvPr/>
          </p:nvSpPr>
          <p:spPr>
            <a:xfrm>
              <a:off x="13537882" y="3758565"/>
              <a:ext cx="136208" cy="136208"/>
            </a:xfrm>
            <a:prstGeom prst="rect">
              <a:avLst/>
            </a:prstGeom>
            <a:solidFill>
              <a:srgbClr val="E79B9E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2" name="Rectangle 901"/>
            <p:cNvSpPr/>
            <p:nvPr/>
          </p:nvSpPr>
          <p:spPr>
            <a:xfrm>
              <a:off x="13674090" y="3758565"/>
              <a:ext cx="136208" cy="136208"/>
            </a:xfrm>
            <a:prstGeom prst="rect">
              <a:avLst/>
            </a:prstGeom>
            <a:solidFill>
              <a:srgbClr val="E79B9E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3" name="Rectangle 902"/>
            <p:cNvSpPr/>
            <p:nvPr/>
          </p:nvSpPr>
          <p:spPr>
            <a:xfrm>
              <a:off x="13810298" y="3758565"/>
              <a:ext cx="136208" cy="136208"/>
            </a:xfrm>
            <a:prstGeom prst="rect">
              <a:avLst/>
            </a:prstGeom>
            <a:solidFill>
              <a:srgbClr val="CC555B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4" name="Rectangle 903"/>
            <p:cNvSpPr/>
            <p:nvPr/>
          </p:nvSpPr>
          <p:spPr>
            <a:xfrm>
              <a:off x="13946505" y="3758565"/>
              <a:ext cx="136208" cy="136208"/>
            </a:xfrm>
            <a:prstGeom prst="rect">
              <a:avLst/>
            </a:prstGeom>
            <a:solidFill>
              <a:srgbClr val="E8A3A1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5" name="Rectangle 904"/>
            <p:cNvSpPr/>
            <p:nvPr/>
          </p:nvSpPr>
          <p:spPr>
            <a:xfrm>
              <a:off x="14082712" y="3758565"/>
              <a:ext cx="136208" cy="136208"/>
            </a:xfrm>
            <a:prstGeom prst="rect">
              <a:avLst/>
            </a:prstGeom>
            <a:solidFill>
              <a:srgbClr val="E79B9E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6" name="Rectangle 905"/>
            <p:cNvSpPr/>
            <p:nvPr/>
          </p:nvSpPr>
          <p:spPr>
            <a:xfrm>
              <a:off x="13401675" y="3894772"/>
              <a:ext cx="136208" cy="136208"/>
            </a:xfrm>
            <a:prstGeom prst="rect">
              <a:avLst/>
            </a:prstGeom>
            <a:solidFill>
              <a:srgbClr val="CC555B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7" name="Rectangle 906"/>
            <p:cNvSpPr/>
            <p:nvPr/>
          </p:nvSpPr>
          <p:spPr>
            <a:xfrm>
              <a:off x="13537882" y="3894772"/>
              <a:ext cx="136208" cy="136208"/>
            </a:xfrm>
            <a:prstGeom prst="rect">
              <a:avLst/>
            </a:prstGeom>
            <a:solidFill>
              <a:srgbClr val="E8A3A1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8" name="Rectangle 907"/>
            <p:cNvSpPr/>
            <p:nvPr/>
          </p:nvSpPr>
          <p:spPr>
            <a:xfrm>
              <a:off x="13674090" y="3894772"/>
              <a:ext cx="136208" cy="136208"/>
            </a:xfrm>
            <a:prstGeom prst="rect">
              <a:avLst/>
            </a:prstGeom>
            <a:solidFill>
              <a:srgbClr val="D7575B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9" name="Rectangle 908"/>
            <p:cNvSpPr/>
            <p:nvPr/>
          </p:nvSpPr>
          <p:spPr>
            <a:xfrm>
              <a:off x="13810298" y="3894772"/>
              <a:ext cx="136208" cy="136208"/>
            </a:xfrm>
            <a:prstGeom prst="rect">
              <a:avLst/>
            </a:prstGeom>
            <a:solidFill>
              <a:srgbClr val="E8A3A1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0" name="Rectangle 909"/>
            <p:cNvSpPr/>
            <p:nvPr/>
          </p:nvSpPr>
          <p:spPr>
            <a:xfrm>
              <a:off x="13946505" y="3894772"/>
              <a:ext cx="136208" cy="136208"/>
            </a:xfrm>
            <a:prstGeom prst="rect">
              <a:avLst/>
            </a:prstGeom>
            <a:solidFill>
              <a:srgbClr val="D7575B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1" name="Rectangle 910"/>
            <p:cNvSpPr/>
            <p:nvPr/>
          </p:nvSpPr>
          <p:spPr>
            <a:xfrm>
              <a:off x="14082712" y="3894772"/>
              <a:ext cx="136208" cy="136208"/>
            </a:xfrm>
            <a:prstGeom prst="rect">
              <a:avLst/>
            </a:prstGeom>
            <a:solidFill>
              <a:srgbClr val="CC555B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2" name="Rectangle 911"/>
            <p:cNvSpPr/>
            <p:nvPr/>
          </p:nvSpPr>
          <p:spPr>
            <a:xfrm>
              <a:off x="13401675" y="4030980"/>
              <a:ext cx="136208" cy="136208"/>
            </a:xfrm>
            <a:prstGeom prst="rect">
              <a:avLst/>
            </a:prstGeom>
            <a:solidFill>
              <a:srgbClr val="E49A99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3" name="Rectangle 912"/>
            <p:cNvSpPr/>
            <p:nvPr/>
          </p:nvSpPr>
          <p:spPr>
            <a:xfrm>
              <a:off x="13537882" y="4030980"/>
              <a:ext cx="136208" cy="136208"/>
            </a:xfrm>
            <a:prstGeom prst="rect">
              <a:avLst/>
            </a:prstGeom>
            <a:solidFill>
              <a:srgbClr val="D56C70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4" name="Rectangle 913"/>
            <p:cNvSpPr/>
            <p:nvPr/>
          </p:nvSpPr>
          <p:spPr>
            <a:xfrm>
              <a:off x="13674090" y="4030980"/>
              <a:ext cx="136208" cy="136208"/>
            </a:xfrm>
            <a:prstGeom prst="rect">
              <a:avLst/>
            </a:prstGeom>
            <a:solidFill>
              <a:srgbClr val="D56C70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5" name="Rectangle 914"/>
            <p:cNvSpPr/>
            <p:nvPr/>
          </p:nvSpPr>
          <p:spPr>
            <a:xfrm>
              <a:off x="13810298" y="4030980"/>
              <a:ext cx="136208" cy="136208"/>
            </a:xfrm>
            <a:prstGeom prst="rect">
              <a:avLst/>
            </a:prstGeom>
            <a:solidFill>
              <a:srgbClr val="E79B9E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6" name="Rectangle 915"/>
            <p:cNvSpPr/>
            <p:nvPr/>
          </p:nvSpPr>
          <p:spPr>
            <a:xfrm>
              <a:off x="13946505" y="4030980"/>
              <a:ext cx="136208" cy="136208"/>
            </a:xfrm>
            <a:prstGeom prst="rect">
              <a:avLst/>
            </a:prstGeom>
            <a:solidFill>
              <a:srgbClr val="E8A3A1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7" name="Rectangle 916"/>
            <p:cNvSpPr/>
            <p:nvPr/>
          </p:nvSpPr>
          <p:spPr>
            <a:xfrm>
              <a:off x="14082712" y="4030980"/>
              <a:ext cx="136208" cy="136208"/>
            </a:xfrm>
            <a:prstGeom prst="rect">
              <a:avLst/>
            </a:prstGeom>
            <a:solidFill>
              <a:srgbClr val="D56C70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8" name="Rectangle 917"/>
            <p:cNvSpPr/>
            <p:nvPr/>
          </p:nvSpPr>
          <p:spPr>
            <a:xfrm>
              <a:off x="14168438" y="3990975"/>
              <a:ext cx="235744" cy="214312"/>
            </a:xfrm>
            <a:custGeom>
              <a:avLst/>
              <a:gdLst/>
              <a:ahLst/>
              <a:cxnLst/>
              <a:rect l="0" t="0" r="r" b="b"/>
              <a:pathLst>
                <a:path w="24750" h="22500" fill="norm">
                  <a:moveTo>
                    <a:pt x="9000" y="20250"/>
                  </a:moveTo>
                  <a:cubicBezTo>
                    <a:pt x="0" y="19500"/>
                    <a:pt x="1500" y="10500"/>
                    <a:pt x="6000" y="7500"/>
                  </a:cubicBezTo>
                  <a:cubicBezTo>
                    <a:pt x="5250" y="12000"/>
                    <a:pt x="8250" y="13500"/>
                    <a:pt x="9000" y="9000"/>
                  </a:cubicBezTo>
                  <a:cubicBezTo>
                    <a:pt x="9750" y="4500"/>
                    <a:pt x="12750" y="4500"/>
                    <a:pt x="10500" y="0"/>
                  </a:cubicBezTo>
                  <a:cubicBezTo>
                    <a:pt x="18750" y="4500"/>
                    <a:pt x="15000" y="9750"/>
                    <a:pt x="18750" y="11250"/>
                  </a:cubicBezTo>
                  <a:cubicBezTo>
                    <a:pt x="20250" y="9750"/>
                    <a:pt x="19500" y="7500"/>
                    <a:pt x="19500" y="6750"/>
                  </a:cubicBezTo>
                  <a:cubicBezTo>
                    <a:pt x="24750" y="15000"/>
                    <a:pt x="21750" y="21000"/>
                    <a:pt x="15000" y="21750"/>
                  </a:cubicBezTo>
                  <a:cubicBezTo>
                    <a:pt x="12750" y="22500"/>
                    <a:pt x="10500" y="21750"/>
                    <a:pt x="9000" y="20250"/>
                  </a:cubicBezTo>
                  <a:close/>
                </a:path>
              </a:pathLst>
            </a:custGeom>
            <a:solidFill>
              <a:srgbClr val="F8894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9" name="Rectangle 918"/>
            <p:cNvSpPr/>
            <p:nvPr/>
          </p:nvSpPr>
          <p:spPr>
            <a:xfrm>
              <a:off x="14218444" y="4076700"/>
              <a:ext cx="150019" cy="121444"/>
            </a:xfrm>
            <a:custGeom>
              <a:avLst/>
              <a:gdLst/>
              <a:ahLst/>
              <a:cxnLst/>
              <a:rect l="0" t="0" r="r" b="b"/>
              <a:pathLst>
                <a:path w="15750" h="12750" fill="norm">
                  <a:moveTo>
                    <a:pt x="3000" y="9750"/>
                  </a:moveTo>
                  <a:cubicBezTo>
                    <a:pt x="0" y="5250"/>
                    <a:pt x="3750" y="2250"/>
                    <a:pt x="3750" y="750"/>
                  </a:cubicBezTo>
                  <a:cubicBezTo>
                    <a:pt x="3750" y="5250"/>
                    <a:pt x="6750" y="4500"/>
                    <a:pt x="7500" y="0"/>
                  </a:cubicBezTo>
                  <a:cubicBezTo>
                    <a:pt x="11250" y="3000"/>
                    <a:pt x="10500" y="7500"/>
                    <a:pt x="12750" y="6750"/>
                  </a:cubicBezTo>
                  <a:cubicBezTo>
                    <a:pt x="12750" y="4500"/>
                    <a:pt x="12750" y="3750"/>
                    <a:pt x="13500" y="3750"/>
                  </a:cubicBezTo>
                  <a:cubicBezTo>
                    <a:pt x="15750" y="9750"/>
                    <a:pt x="11250" y="12750"/>
                    <a:pt x="7500" y="12000"/>
                  </a:cubicBezTo>
                  <a:cubicBezTo>
                    <a:pt x="5250" y="12000"/>
                    <a:pt x="3750" y="11250"/>
                    <a:pt x="3000" y="9750"/>
                  </a:cubicBezTo>
                  <a:close/>
                </a:path>
              </a:pathLst>
            </a:custGeom>
            <a:solidFill>
              <a:srgbClr val="FFC56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0" name="Rectangle 919"/>
            <p:cNvSpPr/>
            <p:nvPr/>
          </p:nvSpPr>
          <p:spPr>
            <a:xfrm>
              <a:off x="14261306" y="4119562"/>
              <a:ext cx="64294" cy="71438"/>
            </a:xfrm>
            <a:custGeom>
              <a:avLst/>
              <a:gdLst/>
              <a:ahLst/>
              <a:cxnLst/>
              <a:rect l="0" t="0" r="r" b="b"/>
              <a:pathLst>
                <a:path w="6750" h="7500" fill="norm">
                  <a:moveTo>
                    <a:pt x="1500" y="6000"/>
                  </a:moveTo>
                  <a:cubicBezTo>
                    <a:pt x="0" y="3000"/>
                    <a:pt x="3000" y="1500"/>
                    <a:pt x="3000" y="0"/>
                  </a:cubicBezTo>
                  <a:cubicBezTo>
                    <a:pt x="6750" y="3750"/>
                    <a:pt x="6000" y="6750"/>
                    <a:pt x="3750" y="7500"/>
                  </a:cubicBezTo>
                  <a:close/>
                </a:path>
              </a:pathLst>
            </a:custGeom>
            <a:solidFill>
              <a:srgbClr val="FFE2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1" name="Text: S_{t}"/>
            <p:cNvSpPr txBox="1"/>
            <p:nvPr/>
          </p:nvSpPr>
          <p:spPr>
            <a:xfrm>
              <a:off x="14287500" y="3783330"/>
              <a:ext cx="200562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S</a:t>
              </a:r>
              <a:r>
                <a:rPr sz="1500" b="0" i="1" baseline="-25000">
                  <a:solidFill>
                    <a:srgbClr val="111111"/>
                  </a:solidFill>
                  <a:latin typeface="Liberation Serif"/>
                </a:rPr>
                <a:t>t</a:t>
              </a:r>
            </a:p>
          </p:txBody>
        </p:sp>
        <p:sp>
          <p:nvSpPr>
            <p:cNvPr id="922" name="Text: Temporal Affinity"/>
            <p:cNvSpPr txBox="1"/>
            <p:nvPr/>
          </p:nvSpPr>
          <p:spPr>
            <a:xfrm>
              <a:off x="13315448" y="4221385"/>
              <a:ext cx="1372605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Temporal Affinity</a:t>
              </a:r>
            </a:p>
          </p:txBody>
        </p:sp>
        <p:sp>
          <p:nvSpPr>
            <p:cNvPr id="923" name="Rectangle 922"/>
            <p:cNvSpPr/>
            <p:nvPr/>
          </p:nvSpPr>
          <p:spPr>
            <a:xfrm>
              <a:off x="14582775" y="3552825"/>
              <a:ext cx="85725" cy="752475"/>
            </a:xfrm>
            <a:custGeom>
              <a:avLst/>
              <a:gdLst/>
              <a:ahLst/>
              <a:cxnLst/>
              <a:rect l="0" t="0" r="r" b="b"/>
              <a:pathLst>
                <a:path w="9000" h="79000" fill="none">
                  <a:moveTo>
                    <a:pt x="9000" y="0"/>
                  </a:moveTo>
                  <a:lnTo>
                    <a:pt x="4000" y="0"/>
                  </a:lnTo>
                  <a:lnTo>
                    <a:pt x="4000" y="33970"/>
                  </a:lnTo>
                  <a:quadBezTo>
                    <a:pt x="4000" y="39500"/>
                    <a:pt x="0" y="39500"/>
                  </a:quadBezTo>
                  <a:quadBezTo>
                    <a:pt x="4000" y="39500"/>
                    <a:pt x="4000" y="45030"/>
                  </a:quadBezTo>
                  <a:lnTo>
                    <a:pt x="4000" y="79000"/>
                  </a:lnTo>
                  <a:lnTo>
                    <a:pt x="9000" y="79000"/>
                  </a:lnTo>
                </a:path>
              </a:pathLst>
            </a:custGeom>
            <a:noFill/>
            <a:ln w="1047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4" name="Rectangle 923"/>
            <p:cNvSpPr/>
            <p:nvPr/>
          </p:nvSpPr>
          <p:spPr>
            <a:xfrm>
              <a:off x="14697075" y="3533775"/>
              <a:ext cx="742950" cy="2095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5" name="Rectangle 924"/>
            <p:cNvSpPr/>
            <p:nvPr/>
          </p:nvSpPr>
          <p:spPr>
            <a:xfrm>
              <a:off x="14744700" y="3571875"/>
              <a:ext cx="133350" cy="133350"/>
            </a:xfrm>
            <a:prstGeom prst="rect">
              <a:avLst/>
            </a:prstGeom>
            <a:solidFill>
              <a:srgbClr val="B59ACA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6" name="Rectangle 925"/>
            <p:cNvSpPr/>
            <p:nvPr/>
          </p:nvSpPr>
          <p:spPr>
            <a:xfrm>
              <a:off x="14925675" y="3571875"/>
              <a:ext cx="133350" cy="133350"/>
            </a:xfrm>
            <a:prstGeom prst="rect">
              <a:avLst/>
            </a:prstGeom>
            <a:solidFill>
              <a:srgbClr val="E5B2B4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7" name="Rectangle 926"/>
            <p:cNvSpPr/>
            <p:nvPr/>
          </p:nvSpPr>
          <p:spPr>
            <a:xfrm>
              <a:off x="15259050" y="3571875"/>
              <a:ext cx="133350" cy="133350"/>
            </a:xfrm>
            <a:prstGeom prst="rect">
              <a:avLst/>
            </a:prstGeom>
            <a:solidFill>
              <a:srgbClr val="B59ACA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8" name="Text: ..."/>
            <p:cNvSpPr txBox="1"/>
            <p:nvPr/>
          </p:nvSpPr>
          <p:spPr>
            <a:xfrm>
              <a:off x="15044738" y="3554158"/>
              <a:ext cx="166688" cy="20002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1050" b="0" i="0">
                  <a:solidFill>
                    <a:srgbClr val="111111"/>
                  </a:solidFill>
                  <a:latin typeface="Liberation Serif"/>
                </a:rPr>
                <a:t>...</a:t>
              </a:r>
            </a:p>
          </p:txBody>
        </p:sp>
        <p:sp>
          <p:nvSpPr>
            <p:cNvPr id="929" name="Text: E_{n}"/>
            <p:cNvSpPr txBox="1"/>
            <p:nvPr/>
          </p:nvSpPr>
          <p:spPr>
            <a:xfrm>
              <a:off x="14735175" y="3773900"/>
              <a:ext cx="261872" cy="30003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75" b="0" i="1">
                  <a:solidFill>
                    <a:srgbClr val="111111"/>
                  </a:solidFill>
                  <a:latin typeface="Liberation Serif"/>
                </a:rPr>
                <a:t>E</a:t>
              </a:r>
              <a:r>
                <a:rPr sz="1575" b="0" i="1" baseline="-25000">
                  <a:solidFill>
                    <a:srgbClr val="111111"/>
                  </a:solidFill>
                  <a:latin typeface="Liberation Serif"/>
                </a:rPr>
                <a:t>n</a:t>
              </a:r>
            </a:p>
          </p:txBody>
        </p:sp>
        <p:sp>
          <p:nvSpPr>
            <p:cNvPr id="930" name="Oval 929"/>
            <p:cNvSpPr/>
            <p:nvPr/>
          </p:nvSpPr>
          <p:spPr>
            <a:xfrm>
              <a:off x="14982825" y="3838575"/>
              <a:ext cx="152400" cy="152400"/>
            </a:xfrm>
            <a:prstGeom prst="ellipse">
              <a:avLst/>
            </a:prstGeom>
            <a:solidFill>
              <a:srgbClr val="FFFFFF"/>
            </a:solidFill>
            <a:ln w="8572" cap="rnd">
              <a:solidFill>
                <a:srgbClr val="2E53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1" name="Rectangle 930"/>
            <p:cNvSpPr/>
            <p:nvPr/>
          </p:nvSpPr>
          <p:spPr>
            <a:xfrm>
              <a:off x="15030450" y="3886200"/>
              <a:ext cx="57150" cy="57150"/>
            </a:xfrm>
            <a:custGeom>
              <a:avLst/>
              <a:gdLst/>
              <a:ahLst/>
              <a:cxnLst/>
              <a:rect l="0" t="0" r="r" b="b"/>
              <a:pathLst>
                <a:path w="6000" h="6000" fill="none">
                  <a:moveTo>
                    <a:pt x="0" y="0"/>
                  </a:moveTo>
                  <a:lnTo>
                    <a:pt x="6000" y="6000"/>
                  </a:lnTo>
                </a:path>
              </a:pathLst>
            </a:custGeom>
            <a:noFill/>
            <a:ln w="8572" cap="rnd">
              <a:solidFill>
                <a:srgbClr val="2E53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2" name="Rectangle 931"/>
            <p:cNvSpPr/>
            <p:nvPr/>
          </p:nvSpPr>
          <p:spPr>
            <a:xfrm>
              <a:off x="15030450" y="3886200"/>
              <a:ext cx="57150" cy="57150"/>
            </a:xfrm>
            <a:custGeom>
              <a:avLst/>
              <a:gdLst/>
              <a:ahLst/>
              <a:cxnLst/>
              <a:rect l="0" t="0" r="r" b="b"/>
              <a:pathLst>
                <a:path w="6000" h="6000" fill="none">
                  <a:moveTo>
                    <a:pt x="0" y="6000"/>
                  </a:moveTo>
                  <a:lnTo>
                    <a:pt x="6000" y="0"/>
                  </a:lnTo>
                </a:path>
              </a:pathLst>
            </a:custGeom>
            <a:noFill/>
            <a:ln w="8572" cap="rnd">
              <a:solidFill>
                <a:srgbClr val="2E53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3" name="Text: H_{st}"/>
            <p:cNvSpPr txBox="1"/>
            <p:nvPr/>
          </p:nvSpPr>
          <p:spPr>
            <a:xfrm>
              <a:off x="15182850" y="3783330"/>
              <a:ext cx="297003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H</a:t>
              </a:r>
              <a:r>
                <a:rPr sz="1500" b="0" i="0" baseline="-25000">
                  <a:solidFill>
                    <a:srgbClr val="111111"/>
                  </a:solidFill>
                  <a:latin typeface="Liberation Serif"/>
                </a:rPr>
                <a:t>st</a:t>
              </a:r>
            </a:p>
          </p:txBody>
        </p:sp>
        <p:sp>
          <p:nvSpPr>
            <p:cNvPr id="934" name="Rectangle 933"/>
            <p:cNvSpPr/>
            <p:nvPr/>
          </p:nvSpPr>
          <p:spPr>
            <a:xfrm>
              <a:off x="14697075" y="4076700"/>
              <a:ext cx="742950" cy="2095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5" name="Rectangle 934"/>
            <p:cNvSpPr/>
            <p:nvPr/>
          </p:nvSpPr>
          <p:spPr>
            <a:xfrm>
              <a:off x="14744700" y="4114800"/>
              <a:ext cx="133350" cy="133350"/>
            </a:xfrm>
            <a:prstGeom prst="rect">
              <a:avLst/>
            </a:prstGeom>
            <a:solidFill>
              <a:srgbClr val="FFDD58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6" name="Rectangle 935"/>
            <p:cNvSpPr/>
            <p:nvPr/>
          </p:nvSpPr>
          <p:spPr>
            <a:xfrm>
              <a:off x="14925675" y="4114800"/>
              <a:ext cx="133350" cy="133350"/>
            </a:xfrm>
            <a:prstGeom prst="rect">
              <a:avLst/>
            </a:prstGeom>
            <a:solidFill>
              <a:srgbClr val="7FA5D5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7" name="Rectangle 936"/>
            <p:cNvSpPr/>
            <p:nvPr/>
          </p:nvSpPr>
          <p:spPr>
            <a:xfrm>
              <a:off x="15259050" y="4114800"/>
              <a:ext cx="133350" cy="133350"/>
            </a:xfrm>
            <a:prstGeom prst="rect">
              <a:avLst/>
            </a:prstGeom>
            <a:solidFill>
              <a:srgbClr val="9CC879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8" name="Text: ..."/>
            <p:cNvSpPr txBox="1"/>
            <p:nvPr/>
          </p:nvSpPr>
          <p:spPr>
            <a:xfrm>
              <a:off x="15044738" y="4097084"/>
              <a:ext cx="166688" cy="20002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1050" b="0" i="0">
                  <a:solidFill>
                    <a:srgbClr val="111111"/>
                  </a:solidFill>
                  <a:latin typeface="Liberation Serif"/>
                </a:rPr>
                <a:t>...</a:t>
              </a:r>
            </a:p>
          </p:txBody>
        </p:sp>
        <p:sp>
          <p:nvSpPr>
            <p:cNvPr id="939" name="Rectangle 938"/>
            <p:cNvSpPr/>
            <p:nvPr/>
          </p:nvSpPr>
          <p:spPr>
            <a:xfrm>
              <a:off x="15744825" y="3486150"/>
              <a:ext cx="133350" cy="133350"/>
            </a:xfrm>
            <a:prstGeom prst="rect">
              <a:avLst/>
            </a:prstGeom>
            <a:solidFill>
              <a:srgbClr val="A4BAE3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0" name="Rectangle 939"/>
            <p:cNvSpPr/>
            <p:nvPr/>
          </p:nvSpPr>
          <p:spPr>
            <a:xfrm>
              <a:off x="15878175" y="3486150"/>
              <a:ext cx="133350" cy="133350"/>
            </a:xfrm>
            <a:prstGeom prst="rect">
              <a:avLst/>
            </a:prstGeom>
            <a:solidFill>
              <a:srgbClr val="8E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1" name="Rectangle 940"/>
            <p:cNvSpPr/>
            <p:nvPr/>
          </p:nvSpPr>
          <p:spPr>
            <a:xfrm>
              <a:off x="16011525" y="3486150"/>
              <a:ext cx="133350" cy="133350"/>
            </a:xfrm>
            <a:prstGeom prst="rect">
              <a:avLst/>
            </a:prstGeom>
            <a:solidFill>
              <a:srgbClr val="ADC4E6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2" name="Rectangle 941"/>
            <p:cNvSpPr/>
            <p:nvPr/>
          </p:nvSpPr>
          <p:spPr>
            <a:xfrm>
              <a:off x="16144875" y="3486150"/>
              <a:ext cx="133350" cy="133350"/>
            </a:xfrm>
            <a:prstGeom prst="rect">
              <a:avLst/>
            </a:prstGeom>
            <a:solidFill>
              <a:srgbClr val="BCCBEA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3" name="Rectangle 942"/>
            <p:cNvSpPr/>
            <p:nvPr/>
          </p:nvSpPr>
          <p:spPr>
            <a:xfrm>
              <a:off x="16278225" y="3486150"/>
              <a:ext cx="133350" cy="133350"/>
            </a:xfrm>
            <a:prstGeom prst="rect">
              <a:avLst/>
            </a:prstGeom>
            <a:solidFill>
              <a:srgbClr val="A7BDE4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4" name="Rectangle 943"/>
            <p:cNvSpPr/>
            <p:nvPr/>
          </p:nvSpPr>
          <p:spPr>
            <a:xfrm>
              <a:off x="16411575" y="3486150"/>
              <a:ext cx="133350" cy="133350"/>
            </a:xfrm>
            <a:prstGeom prst="rect">
              <a:avLst/>
            </a:prstGeom>
            <a:solidFill>
              <a:srgbClr val="9CB4E0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5" name="Rectangle 944"/>
            <p:cNvSpPr/>
            <p:nvPr/>
          </p:nvSpPr>
          <p:spPr>
            <a:xfrm>
              <a:off x="15744825" y="3619500"/>
              <a:ext cx="133350" cy="133350"/>
            </a:xfrm>
            <a:prstGeom prst="rect">
              <a:avLst/>
            </a:prstGeom>
            <a:solidFill>
              <a:srgbClr val="8E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6" name="Rectangle 945"/>
            <p:cNvSpPr/>
            <p:nvPr/>
          </p:nvSpPr>
          <p:spPr>
            <a:xfrm>
              <a:off x="15878175" y="3619500"/>
              <a:ext cx="133350" cy="133350"/>
            </a:xfrm>
            <a:prstGeom prst="rect">
              <a:avLst/>
            </a:prstGeom>
            <a:solidFill>
              <a:srgbClr val="8E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7" name="Rectangle 946"/>
            <p:cNvSpPr/>
            <p:nvPr/>
          </p:nvSpPr>
          <p:spPr>
            <a:xfrm>
              <a:off x="16011525" y="3619500"/>
              <a:ext cx="133350" cy="133350"/>
            </a:xfrm>
            <a:prstGeom prst="rect">
              <a:avLst/>
            </a:prstGeom>
            <a:solidFill>
              <a:srgbClr val="8DABDB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8" name="Rectangle 947"/>
            <p:cNvSpPr/>
            <p:nvPr/>
          </p:nvSpPr>
          <p:spPr>
            <a:xfrm>
              <a:off x="16144875" y="3619500"/>
              <a:ext cx="133350" cy="133350"/>
            </a:xfrm>
            <a:prstGeom prst="rect">
              <a:avLst/>
            </a:prstGeom>
            <a:solidFill>
              <a:srgbClr val="8E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9" name="Rectangle 948"/>
            <p:cNvSpPr/>
            <p:nvPr/>
          </p:nvSpPr>
          <p:spPr>
            <a:xfrm>
              <a:off x="16278225" y="3619500"/>
              <a:ext cx="133350" cy="133350"/>
            </a:xfrm>
            <a:prstGeom prst="rect">
              <a:avLst/>
            </a:prstGeom>
            <a:solidFill>
              <a:srgbClr val="8E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0" name="Rectangle 949"/>
            <p:cNvSpPr/>
            <p:nvPr/>
          </p:nvSpPr>
          <p:spPr>
            <a:xfrm>
              <a:off x="16411575" y="3619500"/>
              <a:ext cx="133350" cy="133350"/>
            </a:xfrm>
            <a:prstGeom prst="rect">
              <a:avLst/>
            </a:prstGeom>
            <a:solidFill>
              <a:srgbClr val="8E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1" name="Rectangle 950"/>
            <p:cNvSpPr/>
            <p:nvPr/>
          </p:nvSpPr>
          <p:spPr>
            <a:xfrm>
              <a:off x="15744825" y="3752850"/>
              <a:ext cx="133350" cy="133350"/>
            </a:xfrm>
            <a:prstGeom prst="rect">
              <a:avLst/>
            </a:prstGeom>
            <a:solidFill>
              <a:srgbClr val="B4C7E8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2" name="Rectangle 951"/>
            <p:cNvSpPr/>
            <p:nvPr/>
          </p:nvSpPr>
          <p:spPr>
            <a:xfrm>
              <a:off x="15878175" y="3752850"/>
              <a:ext cx="133350" cy="133350"/>
            </a:xfrm>
            <a:prstGeom prst="rect">
              <a:avLst/>
            </a:prstGeom>
            <a:solidFill>
              <a:srgbClr val="8E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3" name="Rectangle 952"/>
            <p:cNvSpPr/>
            <p:nvPr/>
          </p:nvSpPr>
          <p:spPr>
            <a:xfrm>
              <a:off x="16011525" y="3752850"/>
              <a:ext cx="133350" cy="133350"/>
            </a:xfrm>
            <a:prstGeom prst="rect">
              <a:avLst/>
            </a:prstGeom>
            <a:solidFill>
              <a:srgbClr val="A1BAE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4" name="Rectangle 953"/>
            <p:cNvSpPr/>
            <p:nvPr/>
          </p:nvSpPr>
          <p:spPr>
            <a:xfrm>
              <a:off x="16144875" y="3752850"/>
              <a:ext cx="133350" cy="133350"/>
            </a:xfrm>
            <a:prstGeom prst="rect">
              <a:avLst/>
            </a:prstGeom>
            <a:solidFill>
              <a:srgbClr val="ADC1E6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5" name="Rectangle 954"/>
            <p:cNvSpPr/>
            <p:nvPr/>
          </p:nvSpPr>
          <p:spPr>
            <a:xfrm>
              <a:off x="16278225" y="3752850"/>
              <a:ext cx="133350" cy="133350"/>
            </a:xfrm>
            <a:prstGeom prst="rect">
              <a:avLst/>
            </a:prstGeom>
            <a:solidFill>
              <a:srgbClr val="9AB2E0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6" name="Rectangle 955"/>
            <p:cNvSpPr/>
            <p:nvPr/>
          </p:nvSpPr>
          <p:spPr>
            <a:xfrm>
              <a:off x="16411575" y="3752850"/>
              <a:ext cx="133350" cy="133350"/>
            </a:xfrm>
            <a:prstGeom prst="rect">
              <a:avLst/>
            </a:prstGeom>
            <a:solidFill>
              <a:srgbClr val="8E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7" name="Rectangle 956"/>
            <p:cNvSpPr/>
            <p:nvPr/>
          </p:nvSpPr>
          <p:spPr>
            <a:xfrm>
              <a:off x="15744825" y="3886200"/>
              <a:ext cx="133350" cy="133350"/>
            </a:xfrm>
            <a:prstGeom prst="rect">
              <a:avLst/>
            </a:prstGeom>
            <a:solidFill>
              <a:srgbClr val="B8C8E9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8" name="Rectangle 957"/>
            <p:cNvSpPr/>
            <p:nvPr/>
          </p:nvSpPr>
          <p:spPr>
            <a:xfrm>
              <a:off x="15878175" y="3886200"/>
              <a:ext cx="133350" cy="133350"/>
            </a:xfrm>
            <a:prstGeom prst="rect">
              <a:avLst/>
            </a:prstGeom>
            <a:solidFill>
              <a:srgbClr val="8E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9" name="Rectangle 958"/>
            <p:cNvSpPr/>
            <p:nvPr/>
          </p:nvSpPr>
          <p:spPr>
            <a:xfrm>
              <a:off x="16011525" y="3886200"/>
              <a:ext cx="133350" cy="133350"/>
            </a:xfrm>
            <a:prstGeom prst="rect">
              <a:avLst/>
            </a:prstGeom>
            <a:solidFill>
              <a:srgbClr val="8E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0" name="Rectangle 959"/>
            <p:cNvSpPr/>
            <p:nvPr/>
          </p:nvSpPr>
          <p:spPr>
            <a:xfrm>
              <a:off x="16144875" y="3886200"/>
              <a:ext cx="133350" cy="133350"/>
            </a:xfrm>
            <a:prstGeom prst="rect">
              <a:avLst/>
            </a:prstGeom>
            <a:solidFill>
              <a:srgbClr val="8E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1" name="Rectangle 960"/>
            <p:cNvSpPr/>
            <p:nvPr/>
          </p:nvSpPr>
          <p:spPr>
            <a:xfrm>
              <a:off x="16278225" y="3886200"/>
              <a:ext cx="133350" cy="133350"/>
            </a:xfrm>
            <a:prstGeom prst="rect">
              <a:avLst/>
            </a:prstGeom>
            <a:solidFill>
              <a:srgbClr val="8E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2" name="Rectangle 961"/>
            <p:cNvSpPr/>
            <p:nvPr/>
          </p:nvSpPr>
          <p:spPr>
            <a:xfrm>
              <a:off x="16411575" y="3886200"/>
              <a:ext cx="133350" cy="133350"/>
            </a:xfrm>
            <a:prstGeom prst="rect">
              <a:avLst/>
            </a:prstGeom>
            <a:solidFill>
              <a:srgbClr val="A9BFE4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3" name="Rectangle 962"/>
            <p:cNvSpPr/>
            <p:nvPr/>
          </p:nvSpPr>
          <p:spPr>
            <a:xfrm>
              <a:off x="15744825" y="4019550"/>
              <a:ext cx="133350" cy="133350"/>
            </a:xfrm>
            <a:prstGeom prst="rect">
              <a:avLst/>
            </a:prstGeom>
            <a:solidFill>
              <a:srgbClr val="8CAADA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4" name="Rectangle 963"/>
            <p:cNvSpPr/>
            <p:nvPr/>
          </p:nvSpPr>
          <p:spPr>
            <a:xfrm>
              <a:off x="15878175" y="4019550"/>
              <a:ext cx="133350" cy="133350"/>
            </a:xfrm>
            <a:prstGeom prst="rect">
              <a:avLst/>
            </a:prstGeom>
            <a:solidFill>
              <a:srgbClr val="8E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5" name="Rectangle 964"/>
            <p:cNvSpPr/>
            <p:nvPr/>
          </p:nvSpPr>
          <p:spPr>
            <a:xfrm>
              <a:off x="16011525" y="4019550"/>
              <a:ext cx="133350" cy="133350"/>
            </a:xfrm>
            <a:prstGeom prst="rect">
              <a:avLst/>
            </a:prstGeom>
            <a:solidFill>
              <a:srgbClr val="99B1E0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6" name="Rectangle 965"/>
            <p:cNvSpPr/>
            <p:nvPr/>
          </p:nvSpPr>
          <p:spPr>
            <a:xfrm>
              <a:off x="16144875" y="4019550"/>
              <a:ext cx="133350" cy="133350"/>
            </a:xfrm>
            <a:prstGeom prst="rect">
              <a:avLst/>
            </a:prstGeom>
            <a:solidFill>
              <a:srgbClr val="8E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7" name="Rectangle 966"/>
            <p:cNvSpPr/>
            <p:nvPr/>
          </p:nvSpPr>
          <p:spPr>
            <a:xfrm>
              <a:off x="16278225" y="4019550"/>
              <a:ext cx="133350" cy="133350"/>
            </a:xfrm>
            <a:prstGeom prst="rect">
              <a:avLst/>
            </a:prstGeom>
            <a:solidFill>
              <a:srgbClr val="97AFDB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8" name="Rectangle 967"/>
            <p:cNvSpPr/>
            <p:nvPr/>
          </p:nvSpPr>
          <p:spPr>
            <a:xfrm>
              <a:off x="16411575" y="4019550"/>
              <a:ext cx="133350" cy="133350"/>
            </a:xfrm>
            <a:prstGeom prst="rect">
              <a:avLst/>
            </a:prstGeom>
            <a:solidFill>
              <a:srgbClr val="8EAADD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9" name="Rectangle 968"/>
            <p:cNvSpPr/>
            <p:nvPr/>
          </p:nvSpPr>
          <p:spPr>
            <a:xfrm>
              <a:off x="16539782" y="3981450"/>
              <a:ext cx="242030" cy="220028"/>
            </a:xfrm>
            <a:custGeom>
              <a:avLst/>
              <a:gdLst/>
              <a:ahLst/>
              <a:cxnLst/>
              <a:rect l="0" t="0" r="r" b="b"/>
              <a:pathLst>
                <a:path w="25410" h="23100" fill="norm">
                  <a:moveTo>
                    <a:pt x="9240" y="20790"/>
                  </a:moveTo>
                  <a:cubicBezTo>
                    <a:pt x="0" y="20020"/>
                    <a:pt x="1540" y="10780"/>
                    <a:pt x="6160" y="7700"/>
                  </a:cubicBezTo>
                  <a:cubicBezTo>
                    <a:pt x="5390" y="12320"/>
                    <a:pt x="8470" y="13860"/>
                    <a:pt x="9240" y="9240"/>
                  </a:cubicBezTo>
                  <a:cubicBezTo>
                    <a:pt x="10010" y="4620"/>
                    <a:pt x="13090" y="4620"/>
                    <a:pt x="10780" y="0"/>
                  </a:cubicBezTo>
                  <a:cubicBezTo>
                    <a:pt x="19250" y="4620"/>
                    <a:pt x="15400" y="10010"/>
                    <a:pt x="19250" y="11550"/>
                  </a:cubicBezTo>
                  <a:cubicBezTo>
                    <a:pt x="20790" y="10010"/>
                    <a:pt x="20020" y="7700"/>
                    <a:pt x="20020" y="6930"/>
                  </a:cubicBezTo>
                  <a:cubicBezTo>
                    <a:pt x="25410" y="15400"/>
                    <a:pt x="22330" y="21560"/>
                    <a:pt x="15400" y="22330"/>
                  </a:cubicBezTo>
                  <a:cubicBezTo>
                    <a:pt x="13090" y="23100"/>
                    <a:pt x="10780" y="22330"/>
                    <a:pt x="9240" y="20790"/>
                  </a:cubicBezTo>
                  <a:close/>
                </a:path>
              </a:pathLst>
            </a:custGeom>
            <a:solidFill>
              <a:srgbClr val="F8894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0" name="Rectangle 969"/>
            <p:cNvSpPr/>
            <p:nvPr/>
          </p:nvSpPr>
          <p:spPr>
            <a:xfrm>
              <a:off x="16591121" y="4069461"/>
              <a:ext cx="154019" cy="124682"/>
            </a:xfrm>
            <a:custGeom>
              <a:avLst/>
              <a:gdLst/>
              <a:ahLst/>
              <a:cxnLst/>
              <a:rect l="0" t="0" r="r" b="b"/>
              <a:pathLst>
                <a:path w="16170" h="13090" fill="norm">
                  <a:moveTo>
                    <a:pt x="3080" y="10010"/>
                  </a:moveTo>
                  <a:cubicBezTo>
                    <a:pt x="0" y="5390"/>
                    <a:pt x="3850" y="2310"/>
                    <a:pt x="3850" y="770"/>
                  </a:cubicBezTo>
                  <a:cubicBezTo>
                    <a:pt x="3850" y="5390"/>
                    <a:pt x="6930" y="4620"/>
                    <a:pt x="7700" y="0"/>
                  </a:cubicBezTo>
                  <a:cubicBezTo>
                    <a:pt x="11550" y="3080"/>
                    <a:pt x="10780" y="7700"/>
                    <a:pt x="13090" y="6930"/>
                  </a:cubicBezTo>
                  <a:cubicBezTo>
                    <a:pt x="13090" y="4620"/>
                    <a:pt x="13090" y="3850"/>
                    <a:pt x="13860" y="3850"/>
                  </a:cubicBezTo>
                  <a:cubicBezTo>
                    <a:pt x="16170" y="10010"/>
                    <a:pt x="11550" y="13090"/>
                    <a:pt x="7700" y="12320"/>
                  </a:cubicBezTo>
                  <a:cubicBezTo>
                    <a:pt x="5390" y="12320"/>
                    <a:pt x="3850" y="11550"/>
                    <a:pt x="3080" y="10010"/>
                  </a:cubicBezTo>
                  <a:close/>
                </a:path>
              </a:pathLst>
            </a:custGeom>
            <a:solidFill>
              <a:srgbClr val="FFC56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1" name="Rectangle 970"/>
            <p:cNvSpPr/>
            <p:nvPr/>
          </p:nvSpPr>
          <p:spPr>
            <a:xfrm>
              <a:off x="16635127" y="4113466"/>
              <a:ext cx="66008" cy="73342"/>
            </a:xfrm>
            <a:custGeom>
              <a:avLst/>
              <a:gdLst/>
              <a:ahLst/>
              <a:cxnLst/>
              <a:rect l="0" t="0" r="r" b="b"/>
              <a:pathLst>
                <a:path w="6930" h="7700" fill="norm">
                  <a:moveTo>
                    <a:pt x="1540" y="6160"/>
                  </a:moveTo>
                  <a:cubicBezTo>
                    <a:pt x="0" y="3080"/>
                    <a:pt x="3080" y="1540"/>
                    <a:pt x="3080" y="0"/>
                  </a:cubicBezTo>
                  <a:cubicBezTo>
                    <a:pt x="6930" y="3850"/>
                    <a:pt x="6160" y="6930"/>
                    <a:pt x="3850" y="7700"/>
                  </a:cubicBezTo>
                  <a:close/>
                </a:path>
              </a:pathLst>
            </a:custGeom>
            <a:solidFill>
              <a:srgbClr val="FFE2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2" name="Text: S_{d}"/>
            <p:cNvSpPr txBox="1"/>
            <p:nvPr/>
          </p:nvSpPr>
          <p:spPr>
            <a:xfrm>
              <a:off x="16668750" y="3792855"/>
              <a:ext cx="231458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S</a:t>
              </a:r>
              <a:r>
                <a:rPr sz="1500" b="0" i="1" baseline="-25000">
                  <a:solidFill>
                    <a:srgbClr val="111111"/>
                  </a:solidFill>
                  <a:latin typeface="Liberation Serif"/>
                </a:rPr>
                <a:t>d</a:t>
              </a:r>
            </a:p>
          </p:txBody>
        </p:sp>
        <p:sp>
          <p:nvSpPr>
            <p:cNvPr id="973" name="Text: Time-Lagged Affinity"/>
            <p:cNvSpPr txBox="1"/>
            <p:nvPr/>
          </p:nvSpPr>
          <p:spPr>
            <a:xfrm>
              <a:off x="15648133" y="4221385"/>
              <a:ext cx="1660234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Time-Lagged Affinity</a:t>
              </a:r>
            </a:p>
          </p:txBody>
        </p:sp>
        <p:sp>
          <p:nvSpPr>
            <p:cNvPr id="974" name="Rectangle 973"/>
            <p:cNvSpPr/>
            <p:nvPr/>
          </p:nvSpPr>
          <p:spPr>
            <a:xfrm>
              <a:off x="16944975" y="3543300"/>
              <a:ext cx="85725" cy="647700"/>
            </a:xfrm>
            <a:custGeom>
              <a:avLst/>
              <a:gdLst/>
              <a:ahLst/>
              <a:cxnLst/>
              <a:rect l="0" t="0" r="r" b="b"/>
              <a:pathLst>
                <a:path w="9000" h="68000" fill="none">
                  <a:moveTo>
                    <a:pt x="9000" y="0"/>
                  </a:moveTo>
                  <a:lnTo>
                    <a:pt x="4000" y="0"/>
                  </a:lnTo>
                  <a:lnTo>
                    <a:pt x="4000" y="29240"/>
                  </a:lnTo>
                  <a:quadBezTo>
                    <a:pt x="4000" y="34000"/>
                    <a:pt x="0" y="34000"/>
                  </a:quadBezTo>
                  <a:quadBezTo>
                    <a:pt x="4000" y="34000"/>
                    <a:pt x="4000" y="38760"/>
                  </a:quadBezTo>
                  <a:lnTo>
                    <a:pt x="4000" y="68000"/>
                  </a:lnTo>
                  <a:lnTo>
                    <a:pt x="9000" y="68000"/>
                  </a:lnTo>
                </a:path>
              </a:pathLst>
            </a:custGeom>
            <a:noFill/>
            <a:ln w="1047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5" name="Rectangle 974"/>
            <p:cNvSpPr/>
            <p:nvPr/>
          </p:nvSpPr>
          <p:spPr>
            <a:xfrm>
              <a:off x="17135475" y="3486150"/>
              <a:ext cx="723900" cy="2190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6" name="Rectangle 975"/>
            <p:cNvSpPr/>
            <p:nvPr/>
          </p:nvSpPr>
          <p:spPr>
            <a:xfrm>
              <a:off x="17183100" y="3524250"/>
              <a:ext cx="142875" cy="142875"/>
            </a:xfrm>
            <a:prstGeom prst="rect">
              <a:avLst/>
            </a:prstGeom>
            <a:solidFill>
              <a:srgbClr val="FFDD58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7" name="Rectangle 976"/>
            <p:cNvSpPr/>
            <p:nvPr/>
          </p:nvSpPr>
          <p:spPr>
            <a:xfrm>
              <a:off x="17373600" y="3524250"/>
              <a:ext cx="142875" cy="142875"/>
            </a:xfrm>
            <a:prstGeom prst="rect">
              <a:avLst/>
            </a:prstGeom>
            <a:solidFill>
              <a:srgbClr val="7FA5D5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8" name="Rectangle 977"/>
            <p:cNvSpPr/>
            <p:nvPr/>
          </p:nvSpPr>
          <p:spPr>
            <a:xfrm>
              <a:off x="17668875" y="3524250"/>
              <a:ext cx="142875" cy="142875"/>
            </a:xfrm>
            <a:prstGeom prst="rect">
              <a:avLst/>
            </a:prstGeom>
            <a:solidFill>
              <a:srgbClr val="9CC879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9" name="Text: ..."/>
            <p:cNvSpPr txBox="1"/>
            <p:nvPr/>
          </p:nvSpPr>
          <p:spPr>
            <a:xfrm>
              <a:off x="17454562" y="3516058"/>
              <a:ext cx="166688" cy="20002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1050" b="0" i="0">
                  <a:solidFill>
                    <a:srgbClr val="111111"/>
                  </a:solidFill>
                  <a:latin typeface="Liberation Serif"/>
                </a:rPr>
                <a:t>...</a:t>
              </a:r>
            </a:p>
          </p:txBody>
        </p:sp>
        <p:sp>
          <p:nvSpPr>
            <p:cNvPr id="980" name="Rectangle 979"/>
            <p:cNvSpPr/>
            <p:nvPr/>
          </p:nvSpPr>
          <p:spPr>
            <a:xfrm>
              <a:off x="17221200" y="3562350"/>
              <a:ext cx="723900" cy="2190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1" name="Rectangle 980"/>
            <p:cNvSpPr/>
            <p:nvPr/>
          </p:nvSpPr>
          <p:spPr>
            <a:xfrm>
              <a:off x="17268825" y="3600450"/>
              <a:ext cx="142875" cy="142875"/>
            </a:xfrm>
            <a:prstGeom prst="rect">
              <a:avLst/>
            </a:prstGeom>
            <a:solidFill>
              <a:srgbClr val="FFDD58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2" name="Rectangle 981"/>
            <p:cNvSpPr/>
            <p:nvPr/>
          </p:nvSpPr>
          <p:spPr>
            <a:xfrm>
              <a:off x="17459325" y="3600450"/>
              <a:ext cx="142875" cy="142875"/>
            </a:xfrm>
            <a:prstGeom prst="rect">
              <a:avLst/>
            </a:prstGeom>
            <a:solidFill>
              <a:srgbClr val="7FA5D5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3" name="Rectangle 982"/>
            <p:cNvSpPr/>
            <p:nvPr/>
          </p:nvSpPr>
          <p:spPr>
            <a:xfrm>
              <a:off x="17754600" y="3600450"/>
              <a:ext cx="142875" cy="142875"/>
            </a:xfrm>
            <a:prstGeom prst="rect">
              <a:avLst/>
            </a:prstGeom>
            <a:solidFill>
              <a:srgbClr val="9CC879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4" name="Text: ..."/>
            <p:cNvSpPr txBox="1"/>
            <p:nvPr/>
          </p:nvSpPr>
          <p:spPr>
            <a:xfrm>
              <a:off x="17540288" y="3592258"/>
              <a:ext cx="166688" cy="20002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1050" b="0" i="0">
                  <a:solidFill>
                    <a:srgbClr val="111111"/>
                  </a:solidFill>
                  <a:latin typeface="Liberation Serif"/>
                </a:rPr>
                <a:t>...</a:t>
              </a:r>
            </a:p>
          </p:txBody>
        </p:sp>
        <p:sp>
          <p:nvSpPr>
            <p:cNvPr id="985" name="Rectangle 984"/>
            <p:cNvSpPr/>
            <p:nvPr/>
          </p:nvSpPr>
          <p:spPr>
            <a:xfrm>
              <a:off x="17306925" y="3638550"/>
              <a:ext cx="723900" cy="2190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6" name="Rectangle 985"/>
            <p:cNvSpPr/>
            <p:nvPr/>
          </p:nvSpPr>
          <p:spPr>
            <a:xfrm>
              <a:off x="17354550" y="3676650"/>
              <a:ext cx="142875" cy="142875"/>
            </a:xfrm>
            <a:prstGeom prst="rect">
              <a:avLst/>
            </a:prstGeom>
            <a:solidFill>
              <a:srgbClr val="FFDD58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7" name="Rectangle 986"/>
            <p:cNvSpPr/>
            <p:nvPr/>
          </p:nvSpPr>
          <p:spPr>
            <a:xfrm>
              <a:off x="17545050" y="3676650"/>
              <a:ext cx="142875" cy="142875"/>
            </a:xfrm>
            <a:prstGeom prst="rect">
              <a:avLst/>
            </a:prstGeom>
            <a:solidFill>
              <a:srgbClr val="7FA5D5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8" name="Rectangle 987"/>
            <p:cNvSpPr/>
            <p:nvPr/>
          </p:nvSpPr>
          <p:spPr>
            <a:xfrm>
              <a:off x="17840325" y="3676650"/>
              <a:ext cx="142875" cy="142875"/>
            </a:xfrm>
            <a:prstGeom prst="rect">
              <a:avLst/>
            </a:prstGeom>
            <a:solidFill>
              <a:srgbClr val="9CC879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9" name="Text: ..."/>
            <p:cNvSpPr txBox="1"/>
            <p:nvPr/>
          </p:nvSpPr>
          <p:spPr>
            <a:xfrm>
              <a:off x="17626012" y="3668458"/>
              <a:ext cx="166688" cy="20002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1050" b="0" i="0">
                  <a:solidFill>
                    <a:srgbClr val="111111"/>
                  </a:solidFill>
                  <a:latin typeface="Liberation Serif"/>
                </a:rPr>
                <a:t>...</a:t>
              </a:r>
            </a:p>
          </p:txBody>
        </p:sp>
        <p:sp>
          <p:nvSpPr>
            <p:cNvPr id="990" name="Rectangle 989"/>
            <p:cNvSpPr/>
            <p:nvPr/>
          </p:nvSpPr>
          <p:spPr>
            <a:xfrm>
              <a:off x="17002125" y="3619500"/>
              <a:ext cx="304800" cy="247650"/>
            </a:xfrm>
            <a:custGeom>
              <a:avLst/>
              <a:gdLst/>
              <a:ahLst/>
              <a:cxnLst/>
              <a:rect l="0" t="0" r="r" b="b"/>
              <a:pathLst>
                <a:path w="32000" h="26000" fill="none">
                  <a:moveTo>
                    <a:pt x="9000" y="0"/>
                  </a:moveTo>
                  <a:cubicBezTo>
                    <a:pt x="0" y="13000"/>
                    <a:pt x="14000" y="26000"/>
                    <a:pt x="32000" y="26000"/>
                  </a:cubicBezTo>
                </a:path>
              </a:pathLst>
            </a:custGeom>
            <a:noFill/>
            <a:ln w="9525" cap="rnd">
              <a:solidFill>
                <a:srgbClr val="B0B0B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1" name="Rectangle 990"/>
            <p:cNvSpPr/>
            <p:nvPr/>
          </p:nvSpPr>
          <p:spPr>
            <a:xfrm>
              <a:off x="17240250" y="3839146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7000" y="2940"/>
                  </a:moveTo>
                  <a:lnTo>
                    <a:pt x="0" y="0"/>
                  </a:lnTo>
                  <a:lnTo>
                    <a:pt x="2310" y="2940"/>
                  </a:lnTo>
                  <a:lnTo>
                    <a:pt x="0" y="5880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2" name="Text: H_{st}^{t−δ}"/>
            <p:cNvSpPr txBox="1"/>
            <p:nvPr/>
          </p:nvSpPr>
          <p:spPr>
            <a:xfrm>
              <a:off x="17125950" y="3840480"/>
              <a:ext cx="494125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H</a:t>
              </a:r>
              <a:r>
                <a:rPr sz="1500" b="0" i="1" baseline="-25000">
                  <a:solidFill>
                    <a:srgbClr val="111111"/>
                  </a:solidFill>
                  <a:latin typeface="Liberation Serif"/>
                </a:rPr>
                <a:t>st</a:t>
              </a:r>
              <a:r>
                <a:rPr sz="1500" b="0" i="1" baseline="32000">
                  <a:solidFill>
                    <a:srgbClr val="111111"/>
                  </a:solidFill>
                  <a:latin typeface="Liberation Serif"/>
                </a:rPr>
                <a:t>t−δ</a:t>
              </a:r>
            </a:p>
          </p:txBody>
        </p:sp>
        <p:sp>
          <p:nvSpPr>
            <p:cNvPr id="993" name="Oval 992"/>
            <p:cNvSpPr/>
            <p:nvPr/>
          </p:nvSpPr>
          <p:spPr>
            <a:xfrm>
              <a:off x="17497425" y="3895725"/>
              <a:ext cx="190500" cy="190500"/>
            </a:xfrm>
            <a:prstGeom prst="ellipse">
              <a:avLst/>
            </a:prstGeom>
            <a:solidFill>
              <a:srgbClr val="FFFFFF"/>
            </a:solidFill>
            <a:ln w="8572" cap="rnd">
              <a:solidFill>
                <a:srgbClr val="2E53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4" name="Rectangle 993"/>
            <p:cNvSpPr/>
            <p:nvPr/>
          </p:nvSpPr>
          <p:spPr>
            <a:xfrm>
              <a:off x="17564100" y="3962400"/>
              <a:ext cx="57150" cy="57150"/>
            </a:xfrm>
            <a:custGeom>
              <a:avLst/>
              <a:gdLst/>
              <a:ahLst/>
              <a:cxnLst/>
              <a:rect l="0" t="0" r="r" b="b"/>
              <a:pathLst>
                <a:path w="6000" h="6000" fill="none">
                  <a:moveTo>
                    <a:pt x="0" y="0"/>
                  </a:moveTo>
                  <a:lnTo>
                    <a:pt x="6000" y="6000"/>
                  </a:lnTo>
                </a:path>
              </a:pathLst>
            </a:custGeom>
            <a:noFill/>
            <a:ln w="8572" cap="rnd">
              <a:solidFill>
                <a:srgbClr val="2E53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5" name="Rectangle 994"/>
            <p:cNvSpPr/>
            <p:nvPr/>
          </p:nvSpPr>
          <p:spPr>
            <a:xfrm>
              <a:off x="17564100" y="3962400"/>
              <a:ext cx="57150" cy="57150"/>
            </a:xfrm>
            <a:custGeom>
              <a:avLst/>
              <a:gdLst/>
              <a:ahLst/>
              <a:cxnLst/>
              <a:rect l="0" t="0" r="r" b="b"/>
              <a:pathLst>
                <a:path w="6000" h="6000" fill="none">
                  <a:moveTo>
                    <a:pt x="0" y="6000"/>
                  </a:moveTo>
                  <a:lnTo>
                    <a:pt x="6000" y="0"/>
                  </a:lnTo>
                </a:path>
              </a:pathLst>
            </a:custGeom>
            <a:noFill/>
            <a:ln w="8572" cap="rnd">
              <a:solidFill>
                <a:srgbClr val="2E53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6" name="Text: H_{st}"/>
            <p:cNvSpPr txBox="1"/>
            <p:nvPr/>
          </p:nvSpPr>
          <p:spPr>
            <a:xfrm>
              <a:off x="17706975" y="3869055"/>
              <a:ext cx="297003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H</a:t>
              </a:r>
              <a:r>
                <a:rPr sz="1500" b="0" i="0" baseline="-25000">
                  <a:solidFill>
                    <a:srgbClr val="111111"/>
                  </a:solidFill>
                  <a:latin typeface="Liberation Serif"/>
                </a:rPr>
                <a:t>st</a:t>
              </a:r>
            </a:p>
          </p:txBody>
        </p:sp>
        <p:sp>
          <p:nvSpPr>
            <p:cNvPr id="997" name="Rectangle 996"/>
            <p:cNvSpPr/>
            <p:nvPr/>
          </p:nvSpPr>
          <p:spPr>
            <a:xfrm>
              <a:off x="17316450" y="4114800"/>
              <a:ext cx="714375" cy="2190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8" name="Rectangle 997"/>
            <p:cNvSpPr/>
            <p:nvPr/>
          </p:nvSpPr>
          <p:spPr>
            <a:xfrm>
              <a:off x="17364075" y="4152900"/>
              <a:ext cx="142875" cy="142875"/>
            </a:xfrm>
            <a:prstGeom prst="rect">
              <a:avLst/>
            </a:prstGeom>
            <a:solidFill>
              <a:srgbClr val="FFDD58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9" name="Rectangle 998"/>
            <p:cNvSpPr/>
            <p:nvPr/>
          </p:nvSpPr>
          <p:spPr>
            <a:xfrm>
              <a:off x="17554575" y="4152900"/>
              <a:ext cx="142875" cy="142875"/>
            </a:xfrm>
            <a:prstGeom prst="rect">
              <a:avLst/>
            </a:prstGeom>
            <a:solidFill>
              <a:srgbClr val="7FA5D5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0" name="Rectangle 999"/>
            <p:cNvSpPr/>
            <p:nvPr/>
          </p:nvSpPr>
          <p:spPr>
            <a:xfrm>
              <a:off x="17840325" y="4152900"/>
              <a:ext cx="142875" cy="142875"/>
            </a:xfrm>
            <a:prstGeom prst="rect">
              <a:avLst/>
            </a:prstGeom>
            <a:solidFill>
              <a:srgbClr val="9CC879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1" name="Text: ..."/>
            <p:cNvSpPr txBox="1"/>
            <p:nvPr/>
          </p:nvSpPr>
          <p:spPr>
            <a:xfrm>
              <a:off x="17626012" y="4144708"/>
              <a:ext cx="166688" cy="20002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1050" b="0" i="0">
                  <a:solidFill>
                    <a:srgbClr val="111111"/>
                  </a:solidFill>
                  <a:latin typeface="Liberation Serif"/>
                </a:rPr>
                <a:t>...</a:t>
              </a:r>
            </a:p>
          </p:txBody>
        </p:sp>
        <p:sp>
          <p:nvSpPr>
            <p:cNvPr id="1002" name="Rectangle 1001"/>
            <p:cNvSpPr/>
            <p:nvPr/>
          </p:nvSpPr>
          <p:spPr>
            <a:xfrm>
              <a:off x="9210675" y="4562475"/>
              <a:ext cx="2647950" cy="9810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3" name="Text: N"/>
            <p:cNvSpPr txBox="1"/>
            <p:nvPr/>
          </p:nvSpPr>
          <p:spPr>
            <a:xfrm>
              <a:off x="9334500" y="4764596"/>
              <a:ext cx="206443" cy="31432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50" b="0" i="1">
                  <a:solidFill>
                    <a:srgbClr val="111111"/>
                  </a:solidFill>
                  <a:latin typeface="Liberation Serif"/>
                </a:rPr>
                <a:t>N</a:t>
              </a:r>
            </a:p>
          </p:txBody>
        </p:sp>
        <p:sp>
          <p:nvSpPr>
            <p:cNvPr id="1004" name="Rectangle 1003"/>
            <p:cNvSpPr/>
            <p:nvPr/>
          </p:nvSpPr>
          <p:spPr>
            <a:xfrm>
              <a:off x="9505950" y="4743450"/>
              <a:ext cx="57150" cy="238125"/>
            </a:xfrm>
            <a:prstGeom prst="rect">
              <a:avLst/>
            </a:prstGeom>
            <a:solidFill>
              <a:srgbClr val="A980C1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5" name="Text: ×"/>
            <p:cNvSpPr txBox="1"/>
            <p:nvPr/>
          </p:nvSpPr>
          <p:spPr>
            <a:xfrm>
              <a:off x="9648825" y="4745831"/>
              <a:ext cx="200974" cy="3571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75" b="0" i="0">
                  <a:solidFill>
                    <a:srgbClr val="111111"/>
                  </a:solidFill>
                  <a:latin typeface="Liberation Serif"/>
                </a:rPr>
                <a:t>×</a:t>
              </a:r>
            </a:p>
          </p:txBody>
        </p:sp>
        <p:sp>
          <p:nvSpPr>
            <p:cNvPr id="1006" name="Rectangle 1005"/>
            <p:cNvSpPr/>
            <p:nvPr/>
          </p:nvSpPr>
          <p:spPr>
            <a:xfrm>
              <a:off x="9639300" y="5000625"/>
              <a:ext cx="228600" cy="57150"/>
            </a:xfrm>
            <a:prstGeom prst="rect">
              <a:avLst/>
            </a:prstGeom>
            <a:solidFill>
              <a:srgbClr val="A980C1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7" name="Text: R"/>
            <p:cNvSpPr txBox="1"/>
            <p:nvPr/>
          </p:nvSpPr>
          <p:spPr>
            <a:xfrm>
              <a:off x="9652555" y="5050155"/>
              <a:ext cx="183040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R</a:t>
              </a:r>
            </a:p>
          </p:txBody>
        </p:sp>
        <p:sp>
          <p:nvSpPr>
            <p:cNvPr id="1008" name="Oval 1007"/>
            <p:cNvSpPr/>
            <p:nvPr/>
          </p:nvSpPr>
          <p:spPr>
            <a:xfrm>
              <a:off x="9915525" y="4838700"/>
              <a:ext cx="171450" cy="171450"/>
            </a:xfrm>
            <a:prstGeom prst="ellipse">
              <a:avLst/>
            </a:prstGeom>
            <a:solidFill>
              <a:srgbClr val="FFFFFF"/>
            </a:solidFill>
            <a:ln w="10477" cap="rnd">
              <a:solidFill>
                <a:srgbClr val="2E53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9" name="Oval 1008"/>
            <p:cNvSpPr/>
            <p:nvPr/>
          </p:nvSpPr>
          <p:spPr>
            <a:xfrm>
              <a:off x="9987915" y="4911090"/>
              <a:ext cx="26670" cy="26670"/>
            </a:xfrm>
            <a:prstGeom prst="ellipse">
              <a:avLst/>
            </a:prstGeom>
            <a:solidFill>
              <a:srgbClr val="2E536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0" name="Text: R"/>
            <p:cNvSpPr txBox="1"/>
            <p:nvPr/>
          </p:nvSpPr>
          <p:spPr>
            <a:xfrm>
              <a:off x="10144125" y="4774025"/>
              <a:ext cx="188863" cy="30003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75" b="0" i="1">
                  <a:solidFill>
                    <a:srgbClr val="111111"/>
                  </a:solidFill>
                  <a:latin typeface="Liberation Serif"/>
                </a:rPr>
                <a:t>R</a:t>
              </a:r>
            </a:p>
          </p:txBody>
        </p:sp>
        <p:sp>
          <p:nvSpPr>
            <p:cNvPr id="1011" name="Rectangle 1010"/>
            <p:cNvSpPr/>
            <p:nvPr/>
          </p:nvSpPr>
          <p:spPr>
            <a:xfrm>
              <a:off x="10287000" y="4743450"/>
              <a:ext cx="57150" cy="238125"/>
            </a:xfrm>
            <a:prstGeom prst="rect">
              <a:avLst/>
            </a:prstGeom>
            <a:solidFill>
              <a:srgbClr val="A980C1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2" name="Text: ×"/>
            <p:cNvSpPr txBox="1"/>
            <p:nvPr/>
          </p:nvSpPr>
          <p:spPr>
            <a:xfrm>
              <a:off x="10420350" y="4745831"/>
              <a:ext cx="200974" cy="3571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75" b="0" i="0">
                  <a:solidFill>
                    <a:srgbClr val="111111"/>
                  </a:solidFill>
                  <a:latin typeface="Liberation Serif"/>
                </a:rPr>
                <a:t>×</a:t>
              </a:r>
            </a:p>
          </p:txBody>
        </p:sp>
        <p:sp>
          <p:nvSpPr>
            <p:cNvPr id="1013" name="Rectangle 1012"/>
            <p:cNvSpPr/>
            <p:nvPr/>
          </p:nvSpPr>
          <p:spPr>
            <a:xfrm>
              <a:off x="10420350" y="5000625"/>
              <a:ext cx="228600" cy="57150"/>
            </a:xfrm>
            <a:prstGeom prst="rect">
              <a:avLst/>
            </a:prstGeom>
            <a:solidFill>
              <a:srgbClr val="A980C1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4" name="Text: N"/>
            <p:cNvSpPr txBox="1"/>
            <p:nvPr/>
          </p:nvSpPr>
          <p:spPr>
            <a:xfrm>
              <a:off x="10437781" y="5050155"/>
              <a:ext cx="193737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N</a:t>
              </a:r>
            </a:p>
          </p:txBody>
        </p:sp>
        <p:sp>
          <p:nvSpPr>
            <p:cNvPr id="1015" name="Text: top-k"/>
            <p:cNvSpPr txBox="1"/>
            <p:nvPr/>
          </p:nvSpPr>
          <p:spPr>
            <a:xfrm>
              <a:off x="10626217" y="4668774"/>
              <a:ext cx="388367" cy="228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919191"/>
                  </a:solidFill>
                  <a:latin typeface="Liberation Serif"/>
                </a:rPr>
                <a:t>top-k</a:t>
              </a:r>
            </a:p>
          </p:txBody>
        </p:sp>
        <p:sp>
          <p:nvSpPr>
            <p:cNvPr id="1016" name="Rectangle 1015"/>
            <p:cNvSpPr/>
            <p:nvPr/>
          </p:nvSpPr>
          <p:spPr>
            <a:xfrm>
              <a:off x="10706100" y="4810125"/>
              <a:ext cx="285750" cy="161925"/>
            </a:xfrm>
            <a:custGeom>
              <a:avLst/>
              <a:gdLst/>
              <a:ahLst/>
              <a:cxnLst/>
              <a:rect l="0" t="0" r="r" b="b"/>
              <a:pathLst>
                <a:path w="30000" h="17000" fill="norm">
                  <a:moveTo>
                    <a:pt x="0" y="5000"/>
                  </a:moveTo>
                  <a:lnTo>
                    <a:pt x="22000" y="5000"/>
                  </a:lnTo>
                  <a:lnTo>
                    <a:pt x="22000" y="0"/>
                  </a:lnTo>
                  <a:lnTo>
                    <a:pt x="30000" y="9000"/>
                  </a:lnTo>
                  <a:lnTo>
                    <a:pt x="22000" y="17000"/>
                  </a:lnTo>
                  <a:lnTo>
                    <a:pt x="22000" y="12000"/>
                  </a:lnTo>
                  <a:lnTo>
                    <a:pt x="0" y="1200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7" name="Rectangle 1016"/>
            <p:cNvSpPr/>
            <p:nvPr/>
          </p:nvSpPr>
          <p:spPr>
            <a:xfrm>
              <a:off x="11068050" y="4638675"/>
              <a:ext cx="109538" cy="109538"/>
            </a:xfrm>
            <a:prstGeom prst="rect">
              <a:avLst/>
            </a:prstGeom>
            <a:solidFill>
              <a:srgbClr val="F2F2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8" name="Rectangle 1017"/>
            <p:cNvSpPr/>
            <p:nvPr/>
          </p:nvSpPr>
          <p:spPr>
            <a:xfrm>
              <a:off x="11177588" y="4638675"/>
              <a:ext cx="109538" cy="109538"/>
            </a:xfrm>
            <a:prstGeom prst="rect">
              <a:avLst/>
            </a:prstGeom>
            <a:solidFill>
              <a:srgbClr val="8B58B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9" name="Rectangle 1018"/>
            <p:cNvSpPr/>
            <p:nvPr/>
          </p:nvSpPr>
          <p:spPr>
            <a:xfrm>
              <a:off x="11287125" y="4638675"/>
              <a:ext cx="109538" cy="109538"/>
            </a:xfrm>
            <a:prstGeom prst="rect">
              <a:avLst/>
            </a:prstGeom>
            <a:solidFill>
              <a:srgbClr val="996CB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0" name="Rectangle 1019"/>
            <p:cNvSpPr/>
            <p:nvPr/>
          </p:nvSpPr>
          <p:spPr>
            <a:xfrm>
              <a:off x="11396662" y="4638675"/>
              <a:ext cx="109538" cy="109538"/>
            </a:xfrm>
            <a:prstGeom prst="rect">
              <a:avLst/>
            </a:prstGeom>
            <a:solidFill>
              <a:srgbClr val="8B56B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1" name="Rectangle 1020"/>
            <p:cNvSpPr/>
            <p:nvPr/>
          </p:nvSpPr>
          <p:spPr>
            <a:xfrm>
              <a:off x="11506200" y="4638675"/>
              <a:ext cx="109538" cy="109538"/>
            </a:xfrm>
            <a:prstGeom prst="rect">
              <a:avLst/>
            </a:prstGeom>
            <a:solidFill>
              <a:srgbClr val="A982C5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2" name="Rectangle 1021"/>
            <p:cNvSpPr/>
            <p:nvPr/>
          </p:nvSpPr>
          <p:spPr>
            <a:xfrm>
              <a:off x="11615738" y="4638675"/>
              <a:ext cx="109538" cy="109538"/>
            </a:xfrm>
            <a:prstGeom prst="rect">
              <a:avLst/>
            </a:prstGeom>
            <a:solidFill>
              <a:srgbClr val="8C58B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3" name="Rectangle 1022"/>
            <p:cNvSpPr/>
            <p:nvPr/>
          </p:nvSpPr>
          <p:spPr>
            <a:xfrm>
              <a:off x="11068050" y="4748212"/>
              <a:ext cx="109538" cy="109538"/>
            </a:xfrm>
            <a:prstGeom prst="rect">
              <a:avLst/>
            </a:prstGeom>
            <a:solidFill>
              <a:srgbClr val="A982C4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4" name="Rectangle 1023"/>
            <p:cNvSpPr/>
            <p:nvPr/>
          </p:nvSpPr>
          <p:spPr>
            <a:xfrm>
              <a:off x="11177588" y="4748212"/>
              <a:ext cx="109538" cy="109538"/>
            </a:xfrm>
            <a:prstGeom prst="rect">
              <a:avLst/>
            </a:prstGeom>
            <a:solidFill>
              <a:srgbClr val="854CAF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5" name="Rectangle 1024"/>
            <p:cNvSpPr/>
            <p:nvPr/>
          </p:nvSpPr>
          <p:spPr>
            <a:xfrm>
              <a:off x="11287125" y="4748212"/>
              <a:ext cx="109538" cy="109538"/>
            </a:xfrm>
            <a:prstGeom prst="rect">
              <a:avLst/>
            </a:prstGeom>
            <a:solidFill>
              <a:srgbClr val="8D5AB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6" name="Rectangle 1025"/>
            <p:cNvSpPr/>
            <p:nvPr/>
          </p:nvSpPr>
          <p:spPr>
            <a:xfrm>
              <a:off x="11396662" y="4748212"/>
              <a:ext cx="109538" cy="109538"/>
            </a:xfrm>
            <a:prstGeom prst="rect">
              <a:avLst/>
            </a:prstGeom>
            <a:solidFill>
              <a:srgbClr val="F2F2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7" name="Rectangle 1026"/>
            <p:cNvSpPr/>
            <p:nvPr/>
          </p:nvSpPr>
          <p:spPr>
            <a:xfrm>
              <a:off x="11506200" y="4748212"/>
              <a:ext cx="109538" cy="109538"/>
            </a:xfrm>
            <a:prstGeom prst="rect">
              <a:avLst/>
            </a:prstGeom>
            <a:solidFill>
              <a:srgbClr val="F3F2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8" name="Rectangle 1027"/>
            <p:cNvSpPr/>
            <p:nvPr/>
          </p:nvSpPr>
          <p:spPr>
            <a:xfrm>
              <a:off x="11615738" y="4748212"/>
              <a:ext cx="109538" cy="109538"/>
            </a:xfrm>
            <a:prstGeom prst="rect">
              <a:avLst/>
            </a:prstGeom>
            <a:solidFill>
              <a:srgbClr val="F3F1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9" name="Rectangle 1028"/>
            <p:cNvSpPr/>
            <p:nvPr/>
          </p:nvSpPr>
          <p:spPr>
            <a:xfrm>
              <a:off x="11068050" y="4857750"/>
              <a:ext cx="109538" cy="109538"/>
            </a:xfrm>
            <a:prstGeom prst="rect">
              <a:avLst/>
            </a:prstGeom>
            <a:solidFill>
              <a:srgbClr val="9464B8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0" name="Rectangle 1029"/>
            <p:cNvSpPr/>
            <p:nvPr/>
          </p:nvSpPr>
          <p:spPr>
            <a:xfrm>
              <a:off x="11177588" y="4857750"/>
              <a:ext cx="109538" cy="109538"/>
            </a:xfrm>
            <a:prstGeom prst="rect">
              <a:avLst/>
            </a:prstGeom>
            <a:solidFill>
              <a:srgbClr val="915FB6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1" name="Rectangle 1030"/>
            <p:cNvSpPr/>
            <p:nvPr/>
          </p:nvSpPr>
          <p:spPr>
            <a:xfrm>
              <a:off x="11287125" y="4857750"/>
              <a:ext cx="109538" cy="109538"/>
            </a:xfrm>
            <a:prstGeom prst="rect">
              <a:avLst/>
            </a:prstGeom>
            <a:solidFill>
              <a:srgbClr val="864DAE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2" name="Rectangle 1031"/>
            <p:cNvSpPr/>
            <p:nvPr/>
          </p:nvSpPr>
          <p:spPr>
            <a:xfrm>
              <a:off x="11396662" y="4857750"/>
              <a:ext cx="109538" cy="109538"/>
            </a:xfrm>
            <a:prstGeom prst="rect">
              <a:avLst/>
            </a:prstGeom>
            <a:solidFill>
              <a:srgbClr val="F7F7F7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3" name="Rectangle 1032"/>
            <p:cNvSpPr/>
            <p:nvPr/>
          </p:nvSpPr>
          <p:spPr>
            <a:xfrm>
              <a:off x="11506200" y="4857750"/>
              <a:ext cx="109538" cy="109538"/>
            </a:xfrm>
            <a:prstGeom prst="rect">
              <a:avLst/>
            </a:prstGeom>
            <a:solidFill>
              <a:srgbClr val="F2F2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4" name="Rectangle 1033"/>
            <p:cNvSpPr/>
            <p:nvPr/>
          </p:nvSpPr>
          <p:spPr>
            <a:xfrm>
              <a:off x="11615738" y="4857750"/>
              <a:ext cx="109538" cy="109538"/>
            </a:xfrm>
            <a:prstGeom prst="rect">
              <a:avLst/>
            </a:prstGeom>
            <a:solidFill>
              <a:srgbClr val="8C58B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5" name="Rectangle 1034"/>
            <p:cNvSpPr/>
            <p:nvPr/>
          </p:nvSpPr>
          <p:spPr>
            <a:xfrm>
              <a:off x="11068050" y="4967288"/>
              <a:ext cx="109538" cy="109538"/>
            </a:xfrm>
            <a:prstGeom prst="rect">
              <a:avLst/>
            </a:prstGeom>
            <a:solidFill>
              <a:srgbClr val="8753B0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6" name="Rectangle 1035"/>
            <p:cNvSpPr/>
            <p:nvPr/>
          </p:nvSpPr>
          <p:spPr>
            <a:xfrm>
              <a:off x="11177588" y="4967288"/>
              <a:ext cx="109538" cy="109538"/>
            </a:xfrm>
            <a:prstGeom prst="rect">
              <a:avLst/>
            </a:prstGeom>
            <a:solidFill>
              <a:srgbClr val="F1F2F1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7" name="Rectangle 1036"/>
            <p:cNvSpPr/>
            <p:nvPr/>
          </p:nvSpPr>
          <p:spPr>
            <a:xfrm>
              <a:off x="11287125" y="4967288"/>
              <a:ext cx="109538" cy="109538"/>
            </a:xfrm>
            <a:prstGeom prst="rect">
              <a:avLst/>
            </a:prstGeom>
            <a:solidFill>
              <a:srgbClr val="F1F2F3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8" name="Rectangle 1037"/>
            <p:cNvSpPr/>
            <p:nvPr/>
          </p:nvSpPr>
          <p:spPr>
            <a:xfrm>
              <a:off x="11396662" y="4967288"/>
              <a:ext cx="109538" cy="109538"/>
            </a:xfrm>
            <a:prstGeom prst="rect">
              <a:avLst/>
            </a:prstGeom>
            <a:solidFill>
              <a:srgbClr val="8652AE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9" name="Rectangle 1038"/>
            <p:cNvSpPr/>
            <p:nvPr/>
          </p:nvSpPr>
          <p:spPr>
            <a:xfrm>
              <a:off x="11506200" y="4967288"/>
              <a:ext cx="109538" cy="109538"/>
            </a:xfrm>
            <a:prstGeom prst="rect">
              <a:avLst/>
            </a:prstGeom>
            <a:solidFill>
              <a:srgbClr val="7E44AA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0" name="Rectangle 1039"/>
            <p:cNvSpPr/>
            <p:nvPr/>
          </p:nvSpPr>
          <p:spPr>
            <a:xfrm>
              <a:off x="11615738" y="4967288"/>
              <a:ext cx="109538" cy="109538"/>
            </a:xfrm>
            <a:prstGeom prst="rect">
              <a:avLst/>
            </a:prstGeom>
            <a:solidFill>
              <a:srgbClr val="F3F1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1" name="Rectangle 1040"/>
            <p:cNvSpPr/>
            <p:nvPr/>
          </p:nvSpPr>
          <p:spPr>
            <a:xfrm>
              <a:off x="11068050" y="5076825"/>
              <a:ext cx="109538" cy="109538"/>
            </a:xfrm>
            <a:prstGeom prst="rect">
              <a:avLst/>
            </a:prstGeom>
            <a:solidFill>
              <a:srgbClr val="A177C1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2" name="Rectangle 1041"/>
            <p:cNvSpPr/>
            <p:nvPr/>
          </p:nvSpPr>
          <p:spPr>
            <a:xfrm>
              <a:off x="11177588" y="5076825"/>
              <a:ext cx="109538" cy="109538"/>
            </a:xfrm>
            <a:prstGeom prst="rect">
              <a:avLst/>
            </a:prstGeom>
            <a:solidFill>
              <a:srgbClr val="F3F3F3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3" name="Rectangle 1042"/>
            <p:cNvSpPr/>
            <p:nvPr/>
          </p:nvSpPr>
          <p:spPr>
            <a:xfrm>
              <a:off x="11287125" y="5076825"/>
              <a:ext cx="109538" cy="109538"/>
            </a:xfrm>
            <a:prstGeom prst="rect">
              <a:avLst/>
            </a:prstGeom>
            <a:solidFill>
              <a:srgbClr val="F2F2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4" name="Rectangle 1043"/>
            <p:cNvSpPr/>
            <p:nvPr/>
          </p:nvSpPr>
          <p:spPr>
            <a:xfrm>
              <a:off x="11396662" y="5076825"/>
              <a:ext cx="109538" cy="109538"/>
            </a:xfrm>
            <a:prstGeom prst="rect">
              <a:avLst/>
            </a:prstGeom>
            <a:solidFill>
              <a:srgbClr val="8F5DB4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5" name="Rectangle 1044"/>
            <p:cNvSpPr/>
            <p:nvPr/>
          </p:nvSpPr>
          <p:spPr>
            <a:xfrm>
              <a:off x="11506200" y="5076825"/>
              <a:ext cx="109538" cy="109538"/>
            </a:xfrm>
            <a:prstGeom prst="rect">
              <a:avLst/>
            </a:prstGeom>
            <a:solidFill>
              <a:srgbClr val="F2F2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6" name="Rectangle 1045"/>
            <p:cNvSpPr/>
            <p:nvPr/>
          </p:nvSpPr>
          <p:spPr>
            <a:xfrm>
              <a:off x="11615738" y="5076825"/>
              <a:ext cx="109538" cy="109538"/>
            </a:xfrm>
            <a:prstGeom prst="rect">
              <a:avLst/>
            </a:prstGeom>
            <a:solidFill>
              <a:srgbClr val="8B56B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7" name="Text: α_{s} M_{s}"/>
            <p:cNvSpPr txBox="1"/>
            <p:nvPr/>
          </p:nvSpPr>
          <p:spPr>
            <a:xfrm>
              <a:off x="11258550" y="5212080"/>
              <a:ext cx="491730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α</a:t>
              </a:r>
              <a:r>
                <a:rPr sz="1500" b="0" i="0" baseline="-25000">
                  <a:solidFill>
                    <a:srgbClr val="111111"/>
                  </a:solidFill>
                  <a:latin typeface="Liberation Serif"/>
                </a:rPr>
                <a:t>s</a:t>
              </a: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 M</a:t>
              </a:r>
              <a:r>
                <a:rPr sz="1500" b="0" i="0" baseline="-25000">
                  <a:solidFill>
                    <a:srgbClr val="111111"/>
                  </a:solidFill>
                  <a:latin typeface="Liberation Serif"/>
                </a:rPr>
                <a:t>s</a:t>
              </a:r>
            </a:p>
          </p:txBody>
        </p:sp>
        <p:sp>
          <p:nvSpPr>
            <p:cNvPr id="1048" name="Rectangle 1047"/>
            <p:cNvSpPr/>
            <p:nvPr/>
          </p:nvSpPr>
          <p:spPr>
            <a:xfrm>
              <a:off x="9820275" y="4972050"/>
              <a:ext cx="1019175" cy="400050"/>
            </a:xfrm>
            <a:custGeom>
              <a:avLst/>
              <a:gdLst/>
              <a:ahLst/>
              <a:cxnLst/>
              <a:rect l="0" t="0" r="r" b="b"/>
              <a:pathLst>
                <a:path w="107000" h="42000" fill="none">
                  <a:moveTo>
                    <a:pt x="107000" y="0"/>
                  </a:moveTo>
                  <a:cubicBezTo>
                    <a:pt x="107000" y="30000"/>
                    <a:pt x="45000" y="42000"/>
                    <a:pt x="0" y="42000"/>
                  </a:cubicBezTo>
                </a:path>
              </a:pathLst>
            </a:custGeom>
            <a:noFill/>
            <a:ln w="9525" cap="rnd">
              <a:solidFill>
                <a:srgbClr val="CCCC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9" name="Rectangle 1048"/>
            <p:cNvSpPr/>
            <p:nvPr/>
          </p:nvSpPr>
          <p:spPr>
            <a:xfrm>
              <a:off x="9820275" y="5344096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0" y="2940"/>
                  </a:moveTo>
                  <a:lnTo>
                    <a:pt x="7000" y="5880"/>
                  </a:lnTo>
                  <a:lnTo>
                    <a:pt x="4690" y="2940"/>
                  </a:lnTo>
                  <a:lnTo>
                    <a:pt x="700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0" name="Rectangle 1049"/>
            <p:cNvSpPr/>
            <p:nvPr/>
          </p:nvSpPr>
          <p:spPr>
            <a:xfrm>
              <a:off x="9372600" y="5295900"/>
              <a:ext cx="400050" cy="1714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1" name="Rectangle 1050"/>
            <p:cNvSpPr/>
            <p:nvPr/>
          </p:nvSpPr>
          <p:spPr>
            <a:xfrm>
              <a:off x="9410700" y="5334000"/>
              <a:ext cx="95250" cy="95250"/>
            </a:xfrm>
            <a:prstGeom prst="rect">
              <a:avLst/>
            </a:prstGeom>
            <a:solidFill>
              <a:srgbClr val="B59ACA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2" name="Rectangle 1051"/>
            <p:cNvSpPr/>
            <p:nvPr/>
          </p:nvSpPr>
          <p:spPr>
            <a:xfrm>
              <a:off x="9534525" y="5334000"/>
              <a:ext cx="95250" cy="95250"/>
            </a:xfrm>
            <a:prstGeom prst="rect">
              <a:avLst/>
            </a:prstGeom>
            <a:solidFill>
              <a:srgbClr val="E5B2B4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3" name="Rectangle 1052"/>
            <p:cNvSpPr/>
            <p:nvPr/>
          </p:nvSpPr>
          <p:spPr>
            <a:xfrm>
              <a:off x="9658350" y="5334000"/>
              <a:ext cx="95250" cy="95250"/>
            </a:xfrm>
            <a:prstGeom prst="rect">
              <a:avLst/>
            </a:prstGeom>
            <a:solidFill>
              <a:srgbClr val="A8C6E6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4" name="Text: dynamic filter"/>
            <p:cNvSpPr txBox="1"/>
            <p:nvPr/>
          </p:nvSpPr>
          <p:spPr>
            <a:xfrm>
              <a:off x="9982200" y="5230939"/>
              <a:ext cx="1033165" cy="2571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A2A2A2"/>
                  </a:solidFill>
                  <a:latin typeface="Liberation Serif"/>
                </a:rPr>
                <a:t>dynamic filter</a:t>
              </a:r>
            </a:p>
          </p:txBody>
        </p:sp>
        <p:sp>
          <p:nvSpPr>
            <p:cNvPr id="1055" name="Oval 1054"/>
            <p:cNvSpPr/>
            <p:nvPr/>
          </p:nvSpPr>
          <p:spPr>
            <a:xfrm>
              <a:off x="12001500" y="5038725"/>
              <a:ext cx="190500" cy="190500"/>
            </a:xfrm>
            <a:prstGeom prst="ellipse">
              <a:avLst/>
            </a:prstGeom>
            <a:noFill/>
            <a:ln w="10477" cap="rnd">
              <a:solidFill>
                <a:srgbClr val="284B6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6" name="Rectangle 1055"/>
            <p:cNvSpPr/>
            <p:nvPr/>
          </p:nvSpPr>
          <p:spPr>
            <a:xfrm>
              <a:off x="12047220" y="5133975"/>
              <a:ext cx="99060" cy="952"/>
            </a:xfrm>
            <a:custGeom>
              <a:avLst/>
              <a:gdLst/>
              <a:ahLst/>
              <a:cxnLst/>
              <a:rect l="0" t="0" r="r" b="b"/>
              <a:pathLst>
                <a:path w="10400" h="100" fill="none">
                  <a:moveTo>
                    <a:pt x="0" y="0"/>
                  </a:moveTo>
                  <a:lnTo>
                    <a:pt x="10400" y="0"/>
                  </a:lnTo>
                </a:path>
              </a:pathLst>
            </a:custGeom>
            <a:noFill/>
            <a:ln w="8572" cap="rnd">
              <a:solidFill>
                <a:srgbClr val="284B6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7" name="Rectangle 1056"/>
            <p:cNvSpPr/>
            <p:nvPr/>
          </p:nvSpPr>
          <p:spPr>
            <a:xfrm>
              <a:off x="12096750" y="5084445"/>
              <a:ext cx="952" cy="99060"/>
            </a:xfrm>
            <a:custGeom>
              <a:avLst/>
              <a:gdLst/>
              <a:ahLst/>
              <a:cxnLst/>
              <a:rect l="0" t="0" r="r" b="b"/>
              <a:pathLst>
                <a:path w="100" h="10400" fill="none">
                  <a:moveTo>
                    <a:pt x="0" y="0"/>
                  </a:moveTo>
                  <a:lnTo>
                    <a:pt x="0" y="10400"/>
                  </a:lnTo>
                </a:path>
              </a:pathLst>
            </a:custGeom>
            <a:noFill/>
            <a:ln w="8572" cap="rnd">
              <a:solidFill>
                <a:srgbClr val="284B6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8" name="Rectangle 1057"/>
            <p:cNvSpPr/>
            <p:nvPr/>
          </p:nvSpPr>
          <p:spPr>
            <a:xfrm>
              <a:off x="12344400" y="4562475"/>
              <a:ext cx="2647950" cy="9810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9" name="Text: N"/>
            <p:cNvSpPr txBox="1"/>
            <p:nvPr/>
          </p:nvSpPr>
          <p:spPr>
            <a:xfrm>
              <a:off x="12468225" y="4764596"/>
              <a:ext cx="206443" cy="31432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50" b="0" i="1">
                  <a:solidFill>
                    <a:srgbClr val="111111"/>
                  </a:solidFill>
                  <a:latin typeface="Liberation Serif"/>
                </a:rPr>
                <a:t>N</a:t>
              </a:r>
            </a:p>
          </p:txBody>
        </p:sp>
        <p:sp>
          <p:nvSpPr>
            <p:cNvPr id="1060" name="Rectangle 1059"/>
            <p:cNvSpPr/>
            <p:nvPr/>
          </p:nvSpPr>
          <p:spPr>
            <a:xfrm>
              <a:off x="12639675" y="4743450"/>
              <a:ext cx="57150" cy="238125"/>
            </a:xfrm>
            <a:prstGeom prst="rect">
              <a:avLst/>
            </a:prstGeom>
            <a:solidFill>
              <a:srgbClr val="DD757A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1" name="Text: ×"/>
            <p:cNvSpPr txBox="1"/>
            <p:nvPr/>
          </p:nvSpPr>
          <p:spPr>
            <a:xfrm>
              <a:off x="12782550" y="4745831"/>
              <a:ext cx="200974" cy="3571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75" b="0" i="0">
                  <a:solidFill>
                    <a:srgbClr val="111111"/>
                  </a:solidFill>
                  <a:latin typeface="Liberation Serif"/>
                </a:rPr>
                <a:t>×</a:t>
              </a:r>
            </a:p>
          </p:txBody>
        </p:sp>
        <p:sp>
          <p:nvSpPr>
            <p:cNvPr id="1062" name="Rectangle 1061"/>
            <p:cNvSpPr/>
            <p:nvPr/>
          </p:nvSpPr>
          <p:spPr>
            <a:xfrm>
              <a:off x="12773025" y="5000625"/>
              <a:ext cx="228600" cy="57150"/>
            </a:xfrm>
            <a:prstGeom prst="rect">
              <a:avLst/>
            </a:prstGeom>
            <a:solidFill>
              <a:srgbClr val="DD757A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3" name="Text: R"/>
            <p:cNvSpPr txBox="1"/>
            <p:nvPr/>
          </p:nvSpPr>
          <p:spPr>
            <a:xfrm>
              <a:off x="12786280" y="5050155"/>
              <a:ext cx="183040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R</a:t>
              </a:r>
            </a:p>
          </p:txBody>
        </p:sp>
        <p:sp>
          <p:nvSpPr>
            <p:cNvPr id="1064" name="Oval 1063"/>
            <p:cNvSpPr/>
            <p:nvPr/>
          </p:nvSpPr>
          <p:spPr>
            <a:xfrm>
              <a:off x="13049250" y="4838700"/>
              <a:ext cx="171450" cy="171450"/>
            </a:xfrm>
            <a:prstGeom prst="ellipse">
              <a:avLst/>
            </a:prstGeom>
            <a:solidFill>
              <a:srgbClr val="FFFFFF"/>
            </a:solidFill>
            <a:ln w="10477" cap="rnd">
              <a:solidFill>
                <a:srgbClr val="2E53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5" name="Oval 1064"/>
            <p:cNvSpPr/>
            <p:nvPr/>
          </p:nvSpPr>
          <p:spPr>
            <a:xfrm>
              <a:off x="13121640" y="4911090"/>
              <a:ext cx="26670" cy="26670"/>
            </a:xfrm>
            <a:prstGeom prst="ellipse">
              <a:avLst/>
            </a:prstGeom>
            <a:solidFill>
              <a:srgbClr val="2E536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6" name="Text: R"/>
            <p:cNvSpPr txBox="1"/>
            <p:nvPr/>
          </p:nvSpPr>
          <p:spPr>
            <a:xfrm>
              <a:off x="13277850" y="4774025"/>
              <a:ext cx="188863" cy="30003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75" b="0" i="1">
                  <a:solidFill>
                    <a:srgbClr val="111111"/>
                  </a:solidFill>
                  <a:latin typeface="Liberation Serif"/>
                </a:rPr>
                <a:t>R</a:t>
              </a:r>
            </a:p>
          </p:txBody>
        </p:sp>
        <p:sp>
          <p:nvSpPr>
            <p:cNvPr id="1067" name="Rectangle 1066"/>
            <p:cNvSpPr/>
            <p:nvPr/>
          </p:nvSpPr>
          <p:spPr>
            <a:xfrm>
              <a:off x="13420725" y="4743450"/>
              <a:ext cx="57150" cy="238125"/>
            </a:xfrm>
            <a:prstGeom prst="rect">
              <a:avLst/>
            </a:prstGeom>
            <a:solidFill>
              <a:srgbClr val="DD757A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8" name="Text: ×"/>
            <p:cNvSpPr txBox="1"/>
            <p:nvPr/>
          </p:nvSpPr>
          <p:spPr>
            <a:xfrm>
              <a:off x="13554075" y="4745831"/>
              <a:ext cx="200974" cy="3571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75" b="0" i="0">
                  <a:solidFill>
                    <a:srgbClr val="111111"/>
                  </a:solidFill>
                  <a:latin typeface="Liberation Serif"/>
                </a:rPr>
                <a:t>×</a:t>
              </a:r>
            </a:p>
          </p:txBody>
        </p:sp>
        <p:sp>
          <p:nvSpPr>
            <p:cNvPr id="1069" name="Rectangle 1068"/>
            <p:cNvSpPr/>
            <p:nvPr/>
          </p:nvSpPr>
          <p:spPr>
            <a:xfrm>
              <a:off x="13554075" y="5000625"/>
              <a:ext cx="228600" cy="57150"/>
            </a:xfrm>
            <a:prstGeom prst="rect">
              <a:avLst/>
            </a:prstGeom>
            <a:solidFill>
              <a:srgbClr val="DD757A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0" name="Text: N"/>
            <p:cNvSpPr txBox="1"/>
            <p:nvPr/>
          </p:nvSpPr>
          <p:spPr>
            <a:xfrm>
              <a:off x="13571506" y="5050155"/>
              <a:ext cx="193737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N</a:t>
              </a:r>
            </a:p>
          </p:txBody>
        </p:sp>
        <p:sp>
          <p:nvSpPr>
            <p:cNvPr id="1071" name="Text: top-k"/>
            <p:cNvSpPr txBox="1"/>
            <p:nvPr/>
          </p:nvSpPr>
          <p:spPr>
            <a:xfrm>
              <a:off x="13759942" y="4668774"/>
              <a:ext cx="388367" cy="228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919191"/>
                  </a:solidFill>
                  <a:latin typeface="Liberation Serif"/>
                </a:rPr>
                <a:t>top-k</a:t>
              </a:r>
            </a:p>
          </p:txBody>
        </p:sp>
        <p:sp>
          <p:nvSpPr>
            <p:cNvPr id="1072" name="Rectangle 1071"/>
            <p:cNvSpPr/>
            <p:nvPr/>
          </p:nvSpPr>
          <p:spPr>
            <a:xfrm>
              <a:off x="13839825" y="4810125"/>
              <a:ext cx="285750" cy="161925"/>
            </a:xfrm>
            <a:custGeom>
              <a:avLst/>
              <a:gdLst/>
              <a:ahLst/>
              <a:cxnLst/>
              <a:rect l="0" t="0" r="r" b="b"/>
              <a:pathLst>
                <a:path w="30000" h="17000" fill="norm">
                  <a:moveTo>
                    <a:pt x="0" y="5000"/>
                  </a:moveTo>
                  <a:lnTo>
                    <a:pt x="22000" y="5000"/>
                  </a:lnTo>
                  <a:lnTo>
                    <a:pt x="22000" y="0"/>
                  </a:lnTo>
                  <a:lnTo>
                    <a:pt x="30000" y="9000"/>
                  </a:lnTo>
                  <a:lnTo>
                    <a:pt x="22000" y="17000"/>
                  </a:lnTo>
                  <a:lnTo>
                    <a:pt x="22000" y="12000"/>
                  </a:lnTo>
                  <a:lnTo>
                    <a:pt x="0" y="1200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3" name="Rectangle 1072"/>
            <p:cNvSpPr/>
            <p:nvPr/>
          </p:nvSpPr>
          <p:spPr>
            <a:xfrm>
              <a:off x="14201775" y="4638675"/>
              <a:ext cx="109538" cy="109538"/>
            </a:xfrm>
            <a:prstGeom prst="rect">
              <a:avLst/>
            </a:prstGeom>
            <a:solidFill>
              <a:srgbClr val="F2F2F0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4" name="Rectangle 1073"/>
            <p:cNvSpPr/>
            <p:nvPr/>
          </p:nvSpPr>
          <p:spPr>
            <a:xfrm>
              <a:off x="14311312" y="4638675"/>
              <a:ext cx="109538" cy="109538"/>
            </a:xfrm>
            <a:prstGeom prst="rect">
              <a:avLst/>
            </a:prstGeom>
            <a:solidFill>
              <a:srgbClr val="E8A3A1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5" name="Rectangle 1074"/>
            <p:cNvSpPr/>
            <p:nvPr/>
          </p:nvSpPr>
          <p:spPr>
            <a:xfrm>
              <a:off x="14420850" y="4638675"/>
              <a:ext cx="109538" cy="109538"/>
            </a:xfrm>
            <a:prstGeom prst="rect">
              <a:avLst/>
            </a:prstGeom>
            <a:solidFill>
              <a:srgbClr val="F3F1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6" name="Rectangle 1075"/>
            <p:cNvSpPr/>
            <p:nvPr/>
          </p:nvSpPr>
          <p:spPr>
            <a:xfrm>
              <a:off x="14530388" y="4638675"/>
              <a:ext cx="109538" cy="109538"/>
            </a:xfrm>
            <a:prstGeom prst="rect">
              <a:avLst/>
            </a:prstGeom>
            <a:solidFill>
              <a:srgbClr val="D56C70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7" name="Rectangle 1076"/>
            <p:cNvSpPr/>
            <p:nvPr/>
          </p:nvSpPr>
          <p:spPr>
            <a:xfrm>
              <a:off x="14639925" y="4638675"/>
              <a:ext cx="109538" cy="109538"/>
            </a:xfrm>
            <a:prstGeom prst="rect">
              <a:avLst/>
            </a:prstGeom>
            <a:solidFill>
              <a:srgbClr val="F2F3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8" name="Rectangle 1077"/>
            <p:cNvSpPr/>
            <p:nvPr/>
          </p:nvSpPr>
          <p:spPr>
            <a:xfrm>
              <a:off x="14749462" y="4638675"/>
              <a:ext cx="109538" cy="109538"/>
            </a:xfrm>
            <a:prstGeom prst="rect">
              <a:avLst/>
            </a:prstGeom>
            <a:solidFill>
              <a:srgbClr val="F7F7F7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9" name="Rectangle 1078"/>
            <p:cNvSpPr/>
            <p:nvPr/>
          </p:nvSpPr>
          <p:spPr>
            <a:xfrm>
              <a:off x="14201775" y="4748212"/>
              <a:ext cx="109538" cy="109538"/>
            </a:xfrm>
            <a:prstGeom prst="rect">
              <a:avLst/>
            </a:prstGeom>
            <a:solidFill>
              <a:srgbClr val="F7F7F7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0" name="Rectangle 1079"/>
            <p:cNvSpPr/>
            <p:nvPr/>
          </p:nvSpPr>
          <p:spPr>
            <a:xfrm>
              <a:off x="14311312" y="4748212"/>
              <a:ext cx="109538" cy="109538"/>
            </a:xfrm>
            <a:prstGeom prst="rect">
              <a:avLst/>
            </a:prstGeom>
            <a:solidFill>
              <a:srgbClr val="D7575B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1" name="Rectangle 1080"/>
            <p:cNvSpPr/>
            <p:nvPr/>
          </p:nvSpPr>
          <p:spPr>
            <a:xfrm>
              <a:off x="14420850" y="4748212"/>
              <a:ext cx="109538" cy="109538"/>
            </a:xfrm>
            <a:prstGeom prst="rect">
              <a:avLst/>
            </a:prstGeom>
            <a:solidFill>
              <a:srgbClr val="E79B9E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2" name="Rectangle 1081"/>
            <p:cNvSpPr/>
            <p:nvPr/>
          </p:nvSpPr>
          <p:spPr>
            <a:xfrm>
              <a:off x="14530388" y="4748212"/>
              <a:ext cx="109538" cy="109538"/>
            </a:xfrm>
            <a:prstGeom prst="rect">
              <a:avLst/>
            </a:prstGeom>
            <a:solidFill>
              <a:srgbClr val="F2F2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3" name="Rectangle 1082"/>
            <p:cNvSpPr/>
            <p:nvPr/>
          </p:nvSpPr>
          <p:spPr>
            <a:xfrm>
              <a:off x="14639925" y="4748212"/>
              <a:ext cx="109538" cy="109538"/>
            </a:xfrm>
            <a:prstGeom prst="rect">
              <a:avLst/>
            </a:prstGeom>
            <a:solidFill>
              <a:srgbClr val="F2F3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4" name="Rectangle 1083"/>
            <p:cNvSpPr/>
            <p:nvPr/>
          </p:nvSpPr>
          <p:spPr>
            <a:xfrm>
              <a:off x="14749462" y="4748212"/>
              <a:ext cx="109538" cy="109538"/>
            </a:xfrm>
            <a:prstGeom prst="rect">
              <a:avLst/>
            </a:prstGeom>
            <a:solidFill>
              <a:srgbClr val="F2F3F3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5" name="Rectangle 1084"/>
            <p:cNvSpPr/>
            <p:nvPr/>
          </p:nvSpPr>
          <p:spPr>
            <a:xfrm>
              <a:off x="14201775" y="4857750"/>
              <a:ext cx="109538" cy="109538"/>
            </a:xfrm>
            <a:prstGeom prst="rect">
              <a:avLst/>
            </a:prstGeom>
            <a:solidFill>
              <a:srgbClr val="E49A99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6" name="Rectangle 1085"/>
            <p:cNvSpPr/>
            <p:nvPr/>
          </p:nvSpPr>
          <p:spPr>
            <a:xfrm>
              <a:off x="14311312" y="4857750"/>
              <a:ext cx="109538" cy="109538"/>
            </a:xfrm>
            <a:prstGeom prst="rect">
              <a:avLst/>
            </a:prstGeom>
            <a:solidFill>
              <a:srgbClr val="D56C70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7" name="Rectangle 1086"/>
            <p:cNvSpPr/>
            <p:nvPr/>
          </p:nvSpPr>
          <p:spPr>
            <a:xfrm>
              <a:off x="14420850" y="4857750"/>
              <a:ext cx="109538" cy="109538"/>
            </a:xfrm>
            <a:prstGeom prst="rect">
              <a:avLst/>
            </a:prstGeom>
            <a:solidFill>
              <a:srgbClr val="F7F7F7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8" name="Rectangle 1087"/>
            <p:cNvSpPr/>
            <p:nvPr/>
          </p:nvSpPr>
          <p:spPr>
            <a:xfrm>
              <a:off x="14530388" y="4857750"/>
              <a:ext cx="109538" cy="109538"/>
            </a:xfrm>
            <a:prstGeom prst="rect">
              <a:avLst/>
            </a:prstGeom>
            <a:solidFill>
              <a:srgbClr val="F2F2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9" name="Rectangle 1088"/>
            <p:cNvSpPr/>
            <p:nvPr/>
          </p:nvSpPr>
          <p:spPr>
            <a:xfrm>
              <a:off x="14639925" y="4857750"/>
              <a:ext cx="109538" cy="109538"/>
            </a:xfrm>
            <a:prstGeom prst="rect">
              <a:avLst/>
            </a:prstGeom>
            <a:solidFill>
              <a:srgbClr val="D56C70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0" name="Rectangle 1089"/>
            <p:cNvSpPr/>
            <p:nvPr/>
          </p:nvSpPr>
          <p:spPr>
            <a:xfrm>
              <a:off x="14749462" y="4857750"/>
              <a:ext cx="109538" cy="109538"/>
            </a:xfrm>
            <a:prstGeom prst="rect">
              <a:avLst/>
            </a:prstGeom>
            <a:solidFill>
              <a:srgbClr val="E8A3A1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1" name="Rectangle 1090"/>
            <p:cNvSpPr/>
            <p:nvPr/>
          </p:nvSpPr>
          <p:spPr>
            <a:xfrm>
              <a:off x="14201775" y="4967288"/>
              <a:ext cx="109538" cy="109538"/>
            </a:xfrm>
            <a:prstGeom prst="rect">
              <a:avLst/>
            </a:prstGeom>
            <a:solidFill>
              <a:srgbClr val="CC555B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2" name="Rectangle 1091"/>
            <p:cNvSpPr/>
            <p:nvPr/>
          </p:nvSpPr>
          <p:spPr>
            <a:xfrm>
              <a:off x="14311312" y="4967288"/>
              <a:ext cx="109538" cy="109538"/>
            </a:xfrm>
            <a:prstGeom prst="rect">
              <a:avLst/>
            </a:prstGeom>
            <a:solidFill>
              <a:srgbClr val="F2F2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3" name="Rectangle 1092"/>
            <p:cNvSpPr/>
            <p:nvPr/>
          </p:nvSpPr>
          <p:spPr>
            <a:xfrm>
              <a:off x="14420850" y="4967288"/>
              <a:ext cx="109538" cy="109538"/>
            </a:xfrm>
            <a:prstGeom prst="rect">
              <a:avLst/>
            </a:prstGeom>
            <a:solidFill>
              <a:srgbClr val="D7575B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4" name="Rectangle 1093"/>
            <p:cNvSpPr/>
            <p:nvPr/>
          </p:nvSpPr>
          <p:spPr>
            <a:xfrm>
              <a:off x="14530388" y="4967288"/>
              <a:ext cx="109538" cy="109538"/>
            </a:xfrm>
            <a:prstGeom prst="rect">
              <a:avLst/>
            </a:prstGeom>
            <a:solidFill>
              <a:srgbClr val="E79B9E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5" name="Rectangle 1094"/>
            <p:cNvSpPr/>
            <p:nvPr/>
          </p:nvSpPr>
          <p:spPr>
            <a:xfrm>
              <a:off x="14639925" y="4967288"/>
              <a:ext cx="109538" cy="109538"/>
            </a:xfrm>
            <a:prstGeom prst="rect">
              <a:avLst/>
            </a:prstGeom>
            <a:solidFill>
              <a:srgbClr val="E58F91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6" name="Rectangle 1095"/>
            <p:cNvSpPr/>
            <p:nvPr/>
          </p:nvSpPr>
          <p:spPr>
            <a:xfrm>
              <a:off x="14749462" y="4967288"/>
              <a:ext cx="109538" cy="109538"/>
            </a:xfrm>
            <a:prstGeom prst="rect">
              <a:avLst/>
            </a:prstGeom>
            <a:solidFill>
              <a:srgbClr val="D56C70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7" name="Rectangle 1096"/>
            <p:cNvSpPr/>
            <p:nvPr/>
          </p:nvSpPr>
          <p:spPr>
            <a:xfrm>
              <a:off x="14201775" y="5076825"/>
              <a:ext cx="109538" cy="109538"/>
            </a:xfrm>
            <a:prstGeom prst="rect">
              <a:avLst/>
            </a:prstGeom>
            <a:solidFill>
              <a:srgbClr val="F2F2F0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8" name="Rectangle 1097"/>
            <p:cNvSpPr/>
            <p:nvPr/>
          </p:nvSpPr>
          <p:spPr>
            <a:xfrm>
              <a:off x="14311312" y="5076825"/>
              <a:ext cx="109538" cy="109538"/>
            </a:xfrm>
            <a:prstGeom prst="rect">
              <a:avLst/>
            </a:prstGeom>
            <a:solidFill>
              <a:srgbClr val="E8A3A1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9" name="Rectangle 1098"/>
            <p:cNvSpPr/>
            <p:nvPr/>
          </p:nvSpPr>
          <p:spPr>
            <a:xfrm>
              <a:off x="14420850" y="5076825"/>
              <a:ext cx="109538" cy="109538"/>
            </a:xfrm>
            <a:prstGeom prst="rect">
              <a:avLst/>
            </a:prstGeom>
            <a:solidFill>
              <a:srgbClr val="D7575B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0" name="Rectangle 1099"/>
            <p:cNvSpPr/>
            <p:nvPr/>
          </p:nvSpPr>
          <p:spPr>
            <a:xfrm>
              <a:off x="14530388" y="5076825"/>
              <a:ext cx="109538" cy="109538"/>
            </a:xfrm>
            <a:prstGeom prst="rect">
              <a:avLst/>
            </a:prstGeom>
            <a:solidFill>
              <a:srgbClr val="E8A3A1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1" name="Rectangle 1100"/>
            <p:cNvSpPr/>
            <p:nvPr/>
          </p:nvSpPr>
          <p:spPr>
            <a:xfrm>
              <a:off x="14639925" y="5076825"/>
              <a:ext cx="109538" cy="109538"/>
            </a:xfrm>
            <a:prstGeom prst="rect">
              <a:avLst/>
            </a:prstGeom>
            <a:solidFill>
              <a:srgbClr val="D7575B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2" name="Rectangle 1101"/>
            <p:cNvSpPr/>
            <p:nvPr/>
          </p:nvSpPr>
          <p:spPr>
            <a:xfrm>
              <a:off x="14749462" y="5076825"/>
              <a:ext cx="109538" cy="109538"/>
            </a:xfrm>
            <a:prstGeom prst="rect">
              <a:avLst/>
            </a:prstGeom>
            <a:solidFill>
              <a:srgbClr val="E79B9E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3" name="Rectangle 1102"/>
            <p:cNvSpPr/>
            <p:nvPr/>
          </p:nvSpPr>
          <p:spPr>
            <a:xfrm>
              <a:off x="14680692" y="5076825"/>
              <a:ext cx="270320" cy="245745"/>
            </a:xfrm>
            <a:custGeom>
              <a:avLst/>
              <a:gdLst/>
              <a:ahLst/>
              <a:cxnLst/>
              <a:rect l="0" t="0" r="r" b="b"/>
              <a:pathLst>
                <a:path w="28380" h="25800" fill="norm">
                  <a:moveTo>
                    <a:pt x="10320" y="23220"/>
                  </a:moveTo>
                  <a:cubicBezTo>
                    <a:pt x="0" y="22360"/>
                    <a:pt x="1720" y="12040"/>
                    <a:pt x="6880" y="8600"/>
                  </a:cubicBezTo>
                  <a:cubicBezTo>
                    <a:pt x="6020" y="13760"/>
                    <a:pt x="9460" y="15480"/>
                    <a:pt x="10320" y="10320"/>
                  </a:cubicBezTo>
                  <a:cubicBezTo>
                    <a:pt x="11180" y="5160"/>
                    <a:pt x="14620" y="5160"/>
                    <a:pt x="12040" y="0"/>
                  </a:cubicBezTo>
                  <a:cubicBezTo>
                    <a:pt x="21500" y="5160"/>
                    <a:pt x="17200" y="11180"/>
                    <a:pt x="21500" y="12900"/>
                  </a:cubicBezTo>
                  <a:cubicBezTo>
                    <a:pt x="23220" y="11180"/>
                    <a:pt x="22360" y="8600"/>
                    <a:pt x="22360" y="7740"/>
                  </a:cubicBezTo>
                  <a:cubicBezTo>
                    <a:pt x="28380" y="17200"/>
                    <a:pt x="24940" y="24080"/>
                    <a:pt x="17200" y="24940"/>
                  </a:cubicBezTo>
                  <a:cubicBezTo>
                    <a:pt x="14620" y="25800"/>
                    <a:pt x="12040" y="24940"/>
                    <a:pt x="10320" y="23220"/>
                  </a:cubicBezTo>
                  <a:close/>
                </a:path>
              </a:pathLst>
            </a:custGeom>
            <a:solidFill>
              <a:srgbClr val="F8894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4" name="Rectangle 1103"/>
            <p:cNvSpPr/>
            <p:nvPr/>
          </p:nvSpPr>
          <p:spPr>
            <a:xfrm>
              <a:off x="14738032" y="5175123"/>
              <a:ext cx="172021" cy="139256"/>
            </a:xfrm>
            <a:custGeom>
              <a:avLst/>
              <a:gdLst/>
              <a:ahLst/>
              <a:cxnLst/>
              <a:rect l="0" t="0" r="r" b="b"/>
              <a:pathLst>
                <a:path w="18060" h="14620" fill="norm">
                  <a:moveTo>
                    <a:pt x="3440" y="11180"/>
                  </a:moveTo>
                  <a:cubicBezTo>
                    <a:pt x="0" y="6020"/>
                    <a:pt x="4300" y="2580"/>
                    <a:pt x="4300" y="860"/>
                  </a:cubicBezTo>
                  <a:cubicBezTo>
                    <a:pt x="4300" y="6020"/>
                    <a:pt x="7740" y="5160"/>
                    <a:pt x="8600" y="0"/>
                  </a:cubicBezTo>
                  <a:cubicBezTo>
                    <a:pt x="12900" y="3440"/>
                    <a:pt x="12040" y="8600"/>
                    <a:pt x="14620" y="7740"/>
                  </a:cubicBezTo>
                  <a:cubicBezTo>
                    <a:pt x="14620" y="5160"/>
                    <a:pt x="14620" y="4300"/>
                    <a:pt x="15480" y="4300"/>
                  </a:cubicBezTo>
                  <a:cubicBezTo>
                    <a:pt x="18060" y="11180"/>
                    <a:pt x="12900" y="14620"/>
                    <a:pt x="8600" y="13760"/>
                  </a:cubicBezTo>
                  <a:cubicBezTo>
                    <a:pt x="6020" y="13760"/>
                    <a:pt x="4300" y="12900"/>
                    <a:pt x="3440" y="11180"/>
                  </a:cubicBezTo>
                  <a:close/>
                </a:path>
              </a:pathLst>
            </a:custGeom>
            <a:solidFill>
              <a:srgbClr val="FFC56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5" name="Rectangle 1104"/>
            <p:cNvSpPr/>
            <p:nvPr/>
          </p:nvSpPr>
          <p:spPr>
            <a:xfrm>
              <a:off x="14787182" y="5224272"/>
              <a:ext cx="73724" cy="81915"/>
            </a:xfrm>
            <a:custGeom>
              <a:avLst/>
              <a:gdLst/>
              <a:ahLst/>
              <a:cxnLst/>
              <a:rect l="0" t="0" r="r" b="b"/>
              <a:pathLst>
                <a:path w="7740" h="8600" fill="norm">
                  <a:moveTo>
                    <a:pt x="1720" y="6880"/>
                  </a:moveTo>
                  <a:cubicBezTo>
                    <a:pt x="0" y="3440"/>
                    <a:pt x="3440" y="1720"/>
                    <a:pt x="3440" y="0"/>
                  </a:cubicBezTo>
                  <a:cubicBezTo>
                    <a:pt x="7740" y="4300"/>
                    <a:pt x="6880" y="7740"/>
                    <a:pt x="4300" y="8600"/>
                  </a:cubicBezTo>
                  <a:close/>
                </a:path>
              </a:pathLst>
            </a:custGeom>
            <a:solidFill>
              <a:srgbClr val="FFE2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6" name="Text: α_{t} M_{t}"/>
            <p:cNvSpPr txBox="1"/>
            <p:nvPr/>
          </p:nvSpPr>
          <p:spPr>
            <a:xfrm>
              <a:off x="14392275" y="5212080"/>
              <a:ext cx="460766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α</a:t>
              </a:r>
              <a:r>
                <a:rPr sz="1500" b="0" i="0" baseline="-25000">
                  <a:solidFill>
                    <a:srgbClr val="111111"/>
                  </a:solidFill>
                  <a:latin typeface="Liberation Serif"/>
                </a:rPr>
                <a:t>t</a:t>
              </a: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 M</a:t>
              </a:r>
              <a:r>
                <a:rPr sz="1500" b="0" i="0" baseline="-25000">
                  <a:solidFill>
                    <a:srgbClr val="111111"/>
                  </a:solidFill>
                  <a:latin typeface="Liberation Serif"/>
                </a:rPr>
                <a:t>t</a:t>
              </a:r>
            </a:p>
          </p:txBody>
        </p:sp>
        <p:sp>
          <p:nvSpPr>
            <p:cNvPr id="1107" name="Rectangle 1106"/>
            <p:cNvSpPr/>
            <p:nvPr/>
          </p:nvSpPr>
          <p:spPr>
            <a:xfrm>
              <a:off x="12954000" y="4972050"/>
              <a:ext cx="1019175" cy="400050"/>
            </a:xfrm>
            <a:custGeom>
              <a:avLst/>
              <a:gdLst/>
              <a:ahLst/>
              <a:cxnLst/>
              <a:rect l="0" t="0" r="r" b="b"/>
              <a:pathLst>
                <a:path w="107000" h="42000" fill="none">
                  <a:moveTo>
                    <a:pt x="107000" y="0"/>
                  </a:moveTo>
                  <a:cubicBezTo>
                    <a:pt x="107000" y="30000"/>
                    <a:pt x="45000" y="42000"/>
                    <a:pt x="0" y="42000"/>
                  </a:cubicBezTo>
                </a:path>
              </a:pathLst>
            </a:custGeom>
            <a:noFill/>
            <a:ln w="9525" cap="rnd">
              <a:solidFill>
                <a:srgbClr val="CCCC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8" name="Rectangle 1107"/>
            <p:cNvSpPr/>
            <p:nvPr/>
          </p:nvSpPr>
          <p:spPr>
            <a:xfrm>
              <a:off x="12954000" y="5344096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0" y="2940"/>
                  </a:moveTo>
                  <a:lnTo>
                    <a:pt x="7000" y="5880"/>
                  </a:lnTo>
                  <a:lnTo>
                    <a:pt x="4690" y="2940"/>
                  </a:lnTo>
                  <a:lnTo>
                    <a:pt x="700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9" name="Rectangle 1108"/>
            <p:cNvSpPr/>
            <p:nvPr/>
          </p:nvSpPr>
          <p:spPr>
            <a:xfrm>
              <a:off x="12506325" y="5295900"/>
              <a:ext cx="400050" cy="1714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0" name="Rectangle 1109"/>
            <p:cNvSpPr/>
            <p:nvPr/>
          </p:nvSpPr>
          <p:spPr>
            <a:xfrm>
              <a:off x="12544425" y="5334000"/>
              <a:ext cx="95250" cy="95250"/>
            </a:xfrm>
            <a:prstGeom prst="rect">
              <a:avLst/>
            </a:prstGeom>
            <a:solidFill>
              <a:srgbClr val="B59ACA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1" name="Rectangle 1110"/>
            <p:cNvSpPr/>
            <p:nvPr/>
          </p:nvSpPr>
          <p:spPr>
            <a:xfrm>
              <a:off x="12668250" y="5334000"/>
              <a:ext cx="95250" cy="95250"/>
            </a:xfrm>
            <a:prstGeom prst="rect">
              <a:avLst/>
            </a:prstGeom>
            <a:solidFill>
              <a:srgbClr val="E5B2B4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2" name="Rectangle 1111"/>
            <p:cNvSpPr/>
            <p:nvPr/>
          </p:nvSpPr>
          <p:spPr>
            <a:xfrm>
              <a:off x="12792075" y="5334000"/>
              <a:ext cx="95250" cy="95250"/>
            </a:xfrm>
            <a:prstGeom prst="rect">
              <a:avLst/>
            </a:prstGeom>
            <a:solidFill>
              <a:srgbClr val="A8C6E6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3" name="Text: dynamic filter"/>
            <p:cNvSpPr txBox="1"/>
            <p:nvPr/>
          </p:nvSpPr>
          <p:spPr>
            <a:xfrm>
              <a:off x="13115925" y="5230939"/>
              <a:ext cx="1033165" cy="2571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A2A2A2"/>
                  </a:solidFill>
                  <a:latin typeface="Liberation Serif"/>
                </a:rPr>
                <a:t>dynamic filter</a:t>
              </a:r>
            </a:p>
          </p:txBody>
        </p:sp>
        <p:sp>
          <p:nvSpPr>
            <p:cNvPr id="1114" name="Oval 1113"/>
            <p:cNvSpPr/>
            <p:nvPr/>
          </p:nvSpPr>
          <p:spPr>
            <a:xfrm>
              <a:off x="15135225" y="5038725"/>
              <a:ext cx="190500" cy="190500"/>
            </a:xfrm>
            <a:prstGeom prst="ellipse">
              <a:avLst/>
            </a:prstGeom>
            <a:noFill/>
            <a:ln w="10477" cap="rnd">
              <a:solidFill>
                <a:srgbClr val="284B6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5" name="Rectangle 1114"/>
            <p:cNvSpPr/>
            <p:nvPr/>
          </p:nvSpPr>
          <p:spPr>
            <a:xfrm>
              <a:off x="15180945" y="5133975"/>
              <a:ext cx="99060" cy="952"/>
            </a:xfrm>
            <a:custGeom>
              <a:avLst/>
              <a:gdLst/>
              <a:ahLst/>
              <a:cxnLst/>
              <a:rect l="0" t="0" r="r" b="b"/>
              <a:pathLst>
                <a:path w="10400" h="100" fill="none">
                  <a:moveTo>
                    <a:pt x="0" y="0"/>
                  </a:moveTo>
                  <a:lnTo>
                    <a:pt x="10400" y="0"/>
                  </a:lnTo>
                </a:path>
              </a:pathLst>
            </a:custGeom>
            <a:noFill/>
            <a:ln w="8572" cap="rnd">
              <a:solidFill>
                <a:srgbClr val="284B6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6" name="Rectangle 1115"/>
            <p:cNvSpPr/>
            <p:nvPr/>
          </p:nvSpPr>
          <p:spPr>
            <a:xfrm>
              <a:off x="15230475" y="5084445"/>
              <a:ext cx="952" cy="99060"/>
            </a:xfrm>
            <a:custGeom>
              <a:avLst/>
              <a:gdLst/>
              <a:ahLst/>
              <a:cxnLst/>
              <a:rect l="0" t="0" r="r" b="b"/>
              <a:pathLst>
                <a:path w="100" h="10400" fill="none">
                  <a:moveTo>
                    <a:pt x="0" y="0"/>
                  </a:moveTo>
                  <a:lnTo>
                    <a:pt x="0" y="10400"/>
                  </a:lnTo>
                </a:path>
              </a:pathLst>
            </a:custGeom>
            <a:noFill/>
            <a:ln w="8572" cap="rnd">
              <a:solidFill>
                <a:srgbClr val="284B6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7" name="Rectangle 1116"/>
            <p:cNvSpPr/>
            <p:nvPr/>
          </p:nvSpPr>
          <p:spPr>
            <a:xfrm>
              <a:off x="15487650" y="4562475"/>
              <a:ext cx="2647950" cy="981075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8" name="Text: N"/>
            <p:cNvSpPr txBox="1"/>
            <p:nvPr/>
          </p:nvSpPr>
          <p:spPr>
            <a:xfrm>
              <a:off x="15611475" y="4764596"/>
              <a:ext cx="206443" cy="31432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50" b="0" i="1">
                  <a:solidFill>
                    <a:srgbClr val="111111"/>
                  </a:solidFill>
                  <a:latin typeface="Liberation Serif"/>
                </a:rPr>
                <a:t>N</a:t>
              </a:r>
            </a:p>
          </p:txBody>
        </p:sp>
        <p:sp>
          <p:nvSpPr>
            <p:cNvPr id="1119" name="Rectangle 1118"/>
            <p:cNvSpPr/>
            <p:nvPr/>
          </p:nvSpPr>
          <p:spPr>
            <a:xfrm>
              <a:off x="15782925" y="4743450"/>
              <a:ext cx="57150" cy="238125"/>
            </a:xfrm>
            <a:prstGeom prst="rect">
              <a:avLst/>
            </a:prstGeom>
            <a:solidFill>
              <a:srgbClr val="89A7D4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0" name="Text: ×"/>
            <p:cNvSpPr txBox="1"/>
            <p:nvPr/>
          </p:nvSpPr>
          <p:spPr>
            <a:xfrm>
              <a:off x="15925800" y="4745831"/>
              <a:ext cx="200974" cy="3571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75" b="0" i="0">
                  <a:solidFill>
                    <a:srgbClr val="111111"/>
                  </a:solidFill>
                  <a:latin typeface="Liberation Serif"/>
                </a:rPr>
                <a:t>×</a:t>
              </a:r>
            </a:p>
          </p:txBody>
        </p:sp>
        <p:sp>
          <p:nvSpPr>
            <p:cNvPr id="1121" name="Rectangle 1120"/>
            <p:cNvSpPr/>
            <p:nvPr/>
          </p:nvSpPr>
          <p:spPr>
            <a:xfrm>
              <a:off x="15916275" y="5000625"/>
              <a:ext cx="228600" cy="57150"/>
            </a:xfrm>
            <a:prstGeom prst="rect">
              <a:avLst/>
            </a:prstGeom>
            <a:solidFill>
              <a:srgbClr val="89A7D4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2" name="Text: R"/>
            <p:cNvSpPr txBox="1"/>
            <p:nvPr/>
          </p:nvSpPr>
          <p:spPr>
            <a:xfrm>
              <a:off x="15929530" y="5050155"/>
              <a:ext cx="183040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R</a:t>
              </a:r>
            </a:p>
          </p:txBody>
        </p:sp>
        <p:sp>
          <p:nvSpPr>
            <p:cNvPr id="1123" name="Oval 1122"/>
            <p:cNvSpPr/>
            <p:nvPr/>
          </p:nvSpPr>
          <p:spPr>
            <a:xfrm>
              <a:off x="16192500" y="4838700"/>
              <a:ext cx="171450" cy="171450"/>
            </a:xfrm>
            <a:prstGeom prst="ellipse">
              <a:avLst/>
            </a:prstGeom>
            <a:solidFill>
              <a:srgbClr val="FFFFFF"/>
            </a:solidFill>
            <a:ln w="10477" cap="rnd">
              <a:solidFill>
                <a:srgbClr val="2E53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4" name="Oval 1123"/>
            <p:cNvSpPr/>
            <p:nvPr/>
          </p:nvSpPr>
          <p:spPr>
            <a:xfrm>
              <a:off x="16264890" y="4911090"/>
              <a:ext cx="26670" cy="26670"/>
            </a:xfrm>
            <a:prstGeom prst="ellipse">
              <a:avLst/>
            </a:prstGeom>
            <a:solidFill>
              <a:srgbClr val="2E536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5" name="Text: R"/>
            <p:cNvSpPr txBox="1"/>
            <p:nvPr/>
          </p:nvSpPr>
          <p:spPr>
            <a:xfrm>
              <a:off x="16421100" y="4774025"/>
              <a:ext cx="188863" cy="30003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75" b="0" i="1">
                  <a:solidFill>
                    <a:srgbClr val="111111"/>
                  </a:solidFill>
                  <a:latin typeface="Liberation Serif"/>
                </a:rPr>
                <a:t>R</a:t>
              </a:r>
            </a:p>
          </p:txBody>
        </p:sp>
        <p:sp>
          <p:nvSpPr>
            <p:cNvPr id="1126" name="Rectangle 1125"/>
            <p:cNvSpPr/>
            <p:nvPr/>
          </p:nvSpPr>
          <p:spPr>
            <a:xfrm>
              <a:off x="16563975" y="4743450"/>
              <a:ext cx="57150" cy="238125"/>
            </a:xfrm>
            <a:prstGeom prst="rect">
              <a:avLst/>
            </a:prstGeom>
            <a:solidFill>
              <a:srgbClr val="89A7D4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7" name="Text: ×"/>
            <p:cNvSpPr txBox="1"/>
            <p:nvPr/>
          </p:nvSpPr>
          <p:spPr>
            <a:xfrm>
              <a:off x="16697325" y="4745831"/>
              <a:ext cx="200974" cy="3571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75" b="0" i="0">
                  <a:solidFill>
                    <a:srgbClr val="111111"/>
                  </a:solidFill>
                  <a:latin typeface="Liberation Serif"/>
                </a:rPr>
                <a:t>×</a:t>
              </a:r>
            </a:p>
          </p:txBody>
        </p:sp>
        <p:sp>
          <p:nvSpPr>
            <p:cNvPr id="1128" name="Rectangle 1127"/>
            <p:cNvSpPr/>
            <p:nvPr/>
          </p:nvSpPr>
          <p:spPr>
            <a:xfrm>
              <a:off x="16697325" y="5000625"/>
              <a:ext cx="228600" cy="57150"/>
            </a:xfrm>
            <a:prstGeom prst="rect">
              <a:avLst/>
            </a:prstGeom>
            <a:solidFill>
              <a:srgbClr val="89A7D4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9" name="Text: N"/>
            <p:cNvSpPr txBox="1"/>
            <p:nvPr/>
          </p:nvSpPr>
          <p:spPr>
            <a:xfrm>
              <a:off x="16714756" y="5050155"/>
              <a:ext cx="193737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N</a:t>
              </a:r>
            </a:p>
          </p:txBody>
        </p:sp>
        <p:sp>
          <p:nvSpPr>
            <p:cNvPr id="1130" name="Text: top-k"/>
            <p:cNvSpPr txBox="1"/>
            <p:nvPr/>
          </p:nvSpPr>
          <p:spPr>
            <a:xfrm>
              <a:off x="16903192" y="4668774"/>
              <a:ext cx="388367" cy="228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919191"/>
                  </a:solidFill>
                  <a:latin typeface="Liberation Serif"/>
                </a:rPr>
                <a:t>top-k</a:t>
              </a:r>
            </a:p>
          </p:txBody>
        </p:sp>
        <p:sp>
          <p:nvSpPr>
            <p:cNvPr id="1131" name="Rectangle 1130"/>
            <p:cNvSpPr/>
            <p:nvPr/>
          </p:nvSpPr>
          <p:spPr>
            <a:xfrm>
              <a:off x="16983075" y="4810125"/>
              <a:ext cx="285750" cy="161925"/>
            </a:xfrm>
            <a:custGeom>
              <a:avLst/>
              <a:gdLst/>
              <a:ahLst/>
              <a:cxnLst/>
              <a:rect l="0" t="0" r="r" b="b"/>
              <a:pathLst>
                <a:path w="30000" h="17000" fill="norm">
                  <a:moveTo>
                    <a:pt x="0" y="5000"/>
                  </a:moveTo>
                  <a:lnTo>
                    <a:pt x="22000" y="5000"/>
                  </a:lnTo>
                  <a:lnTo>
                    <a:pt x="22000" y="0"/>
                  </a:lnTo>
                  <a:lnTo>
                    <a:pt x="30000" y="9000"/>
                  </a:lnTo>
                  <a:lnTo>
                    <a:pt x="22000" y="17000"/>
                  </a:lnTo>
                  <a:lnTo>
                    <a:pt x="22000" y="12000"/>
                  </a:lnTo>
                  <a:lnTo>
                    <a:pt x="0" y="1200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2" name="Rectangle 1131"/>
            <p:cNvSpPr/>
            <p:nvPr/>
          </p:nvSpPr>
          <p:spPr>
            <a:xfrm>
              <a:off x="17345025" y="4638675"/>
              <a:ext cx="109538" cy="109538"/>
            </a:xfrm>
            <a:prstGeom prst="rect">
              <a:avLst/>
            </a:prstGeom>
            <a:solidFill>
              <a:srgbClr val="A3B9E3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3" name="Rectangle 1132"/>
            <p:cNvSpPr/>
            <p:nvPr/>
          </p:nvSpPr>
          <p:spPr>
            <a:xfrm>
              <a:off x="17454562" y="4638675"/>
              <a:ext cx="109538" cy="109538"/>
            </a:xfrm>
            <a:prstGeom prst="rect">
              <a:avLst/>
            </a:prstGeom>
            <a:solidFill>
              <a:srgbClr val="8EAADB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4" name="Rectangle 1133"/>
            <p:cNvSpPr/>
            <p:nvPr/>
          </p:nvSpPr>
          <p:spPr>
            <a:xfrm>
              <a:off x="17564100" y="4638675"/>
              <a:ext cx="109538" cy="109538"/>
            </a:xfrm>
            <a:prstGeom prst="rect">
              <a:avLst/>
            </a:prstGeom>
            <a:solidFill>
              <a:srgbClr val="F2F2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5" name="Rectangle 1134"/>
            <p:cNvSpPr/>
            <p:nvPr/>
          </p:nvSpPr>
          <p:spPr>
            <a:xfrm>
              <a:off x="17673638" y="4638675"/>
              <a:ext cx="109538" cy="109538"/>
            </a:xfrm>
            <a:prstGeom prst="rect">
              <a:avLst/>
            </a:prstGeom>
            <a:solidFill>
              <a:srgbClr val="F2F2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6" name="Rectangle 1135"/>
            <p:cNvSpPr/>
            <p:nvPr/>
          </p:nvSpPr>
          <p:spPr>
            <a:xfrm>
              <a:off x="17783175" y="4638675"/>
              <a:ext cx="109538" cy="109538"/>
            </a:xfrm>
            <a:prstGeom prst="rect">
              <a:avLst/>
            </a:prstGeom>
            <a:solidFill>
              <a:srgbClr val="A6BEE5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7" name="Rectangle 1136"/>
            <p:cNvSpPr/>
            <p:nvPr/>
          </p:nvSpPr>
          <p:spPr>
            <a:xfrm>
              <a:off x="17892712" y="4638675"/>
              <a:ext cx="109538" cy="109538"/>
            </a:xfrm>
            <a:prstGeom prst="rect">
              <a:avLst/>
            </a:prstGeom>
            <a:solidFill>
              <a:srgbClr val="9CB5E0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8" name="Rectangle 1137"/>
            <p:cNvSpPr/>
            <p:nvPr/>
          </p:nvSpPr>
          <p:spPr>
            <a:xfrm>
              <a:off x="17345025" y="4748212"/>
              <a:ext cx="109538" cy="109538"/>
            </a:xfrm>
            <a:prstGeom prst="rect">
              <a:avLst/>
            </a:prstGeom>
            <a:solidFill>
              <a:srgbClr val="8EA9DD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9" name="Rectangle 1138"/>
            <p:cNvSpPr/>
            <p:nvPr/>
          </p:nvSpPr>
          <p:spPr>
            <a:xfrm>
              <a:off x="17454562" y="4748212"/>
              <a:ext cx="109538" cy="109538"/>
            </a:xfrm>
            <a:prstGeom prst="rect">
              <a:avLst/>
            </a:prstGeom>
            <a:solidFill>
              <a:srgbClr val="8FAADB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0" name="Rectangle 1139"/>
            <p:cNvSpPr/>
            <p:nvPr/>
          </p:nvSpPr>
          <p:spPr>
            <a:xfrm>
              <a:off x="17564100" y="4748212"/>
              <a:ext cx="109538" cy="109538"/>
            </a:xfrm>
            <a:prstGeom prst="rect">
              <a:avLst/>
            </a:prstGeom>
            <a:solidFill>
              <a:srgbClr val="8CAB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1" name="Rectangle 1140"/>
            <p:cNvSpPr/>
            <p:nvPr/>
          </p:nvSpPr>
          <p:spPr>
            <a:xfrm>
              <a:off x="17673638" y="4748212"/>
              <a:ext cx="109538" cy="109538"/>
            </a:xfrm>
            <a:prstGeom prst="rect">
              <a:avLst/>
            </a:prstGeom>
            <a:solidFill>
              <a:srgbClr val="8E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2" name="Rectangle 1141"/>
            <p:cNvSpPr/>
            <p:nvPr/>
          </p:nvSpPr>
          <p:spPr>
            <a:xfrm>
              <a:off x="17783175" y="4748212"/>
              <a:ext cx="109538" cy="109538"/>
            </a:xfrm>
            <a:prstGeom prst="rect">
              <a:avLst/>
            </a:prstGeom>
            <a:solidFill>
              <a:srgbClr val="8EAADD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3" name="Rectangle 1142"/>
            <p:cNvSpPr/>
            <p:nvPr/>
          </p:nvSpPr>
          <p:spPr>
            <a:xfrm>
              <a:off x="17892712" y="4748212"/>
              <a:ext cx="109538" cy="109538"/>
            </a:xfrm>
            <a:prstGeom prst="rect">
              <a:avLst/>
            </a:prstGeom>
            <a:solidFill>
              <a:srgbClr val="8E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4" name="Rectangle 1143"/>
            <p:cNvSpPr/>
            <p:nvPr/>
          </p:nvSpPr>
          <p:spPr>
            <a:xfrm>
              <a:off x="17345025" y="4857750"/>
              <a:ext cx="109538" cy="109538"/>
            </a:xfrm>
            <a:prstGeom prst="rect">
              <a:avLst/>
            </a:prstGeom>
            <a:solidFill>
              <a:srgbClr val="F2F2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5" name="Rectangle 1144"/>
            <p:cNvSpPr/>
            <p:nvPr/>
          </p:nvSpPr>
          <p:spPr>
            <a:xfrm>
              <a:off x="17454562" y="4857750"/>
              <a:ext cx="109538" cy="109538"/>
            </a:xfrm>
            <a:prstGeom prst="rect">
              <a:avLst/>
            </a:prstGeom>
            <a:solidFill>
              <a:srgbClr val="8C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6" name="Rectangle 1145"/>
            <p:cNvSpPr/>
            <p:nvPr/>
          </p:nvSpPr>
          <p:spPr>
            <a:xfrm>
              <a:off x="17564100" y="4857750"/>
              <a:ext cx="109538" cy="109538"/>
            </a:xfrm>
            <a:prstGeom prst="rect">
              <a:avLst/>
            </a:prstGeom>
            <a:solidFill>
              <a:srgbClr val="F2F2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7" name="Rectangle 1146"/>
            <p:cNvSpPr/>
            <p:nvPr/>
          </p:nvSpPr>
          <p:spPr>
            <a:xfrm>
              <a:off x="17673638" y="4857750"/>
              <a:ext cx="109538" cy="109538"/>
            </a:xfrm>
            <a:prstGeom prst="rect">
              <a:avLst/>
            </a:prstGeom>
            <a:solidFill>
              <a:srgbClr val="F2F2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8" name="Rectangle 1147"/>
            <p:cNvSpPr/>
            <p:nvPr/>
          </p:nvSpPr>
          <p:spPr>
            <a:xfrm>
              <a:off x="17783175" y="4857750"/>
              <a:ext cx="109538" cy="109538"/>
            </a:xfrm>
            <a:prstGeom prst="rect">
              <a:avLst/>
            </a:prstGeom>
            <a:solidFill>
              <a:srgbClr val="9AB2DE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9" name="Rectangle 1148"/>
            <p:cNvSpPr/>
            <p:nvPr/>
          </p:nvSpPr>
          <p:spPr>
            <a:xfrm>
              <a:off x="17892712" y="4857750"/>
              <a:ext cx="109538" cy="109538"/>
            </a:xfrm>
            <a:prstGeom prst="rect">
              <a:avLst/>
            </a:prstGeom>
            <a:solidFill>
              <a:srgbClr val="8E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0" name="Rectangle 1149"/>
            <p:cNvSpPr/>
            <p:nvPr/>
          </p:nvSpPr>
          <p:spPr>
            <a:xfrm>
              <a:off x="17345025" y="4967288"/>
              <a:ext cx="109538" cy="109538"/>
            </a:xfrm>
            <a:prstGeom prst="rect">
              <a:avLst/>
            </a:prstGeom>
            <a:solidFill>
              <a:srgbClr val="F1F2F2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1" name="Rectangle 1150"/>
            <p:cNvSpPr/>
            <p:nvPr/>
          </p:nvSpPr>
          <p:spPr>
            <a:xfrm>
              <a:off x="17454562" y="4967288"/>
              <a:ext cx="109538" cy="109538"/>
            </a:xfrm>
            <a:prstGeom prst="rect">
              <a:avLst/>
            </a:prstGeom>
            <a:solidFill>
              <a:srgbClr val="8DAADB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2" name="Rectangle 1151"/>
            <p:cNvSpPr/>
            <p:nvPr/>
          </p:nvSpPr>
          <p:spPr>
            <a:xfrm>
              <a:off x="17564100" y="4967288"/>
              <a:ext cx="109538" cy="109538"/>
            </a:xfrm>
            <a:prstGeom prst="rect">
              <a:avLst/>
            </a:prstGeom>
            <a:solidFill>
              <a:srgbClr val="8C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3" name="Rectangle 1152"/>
            <p:cNvSpPr/>
            <p:nvPr/>
          </p:nvSpPr>
          <p:spPr>
            <a:xfrm>
              <a:off x="17673638" y="4967288"/>
              <a:ext cx="109538" cy="109538"/>
            </a:xfrm>
            <a:prstGeom prst="rect">
              <a:avLst/>
            </a:prstGeom>
            <a:solidFill>
              <a:srgbClr val="8C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4" name="Rectangle 1153"/>
            <p:cNvSpPr/>
            <p:nvPr/>
          </p:nvSpPr>
          <p:spPr>
            <a:xfrm>
              <a:off x="17783175" y="4967288"/>
              <a:ext cx="109538" cy="109538"/>
            </a:xfrm>
            <a:prstGeom prst="rect">
              <a:avLst/>
            </a:prstGeom>
            <a:solidFill>
              <a:srgbClr val="8EAADD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5" name="Rectangle 1154"/>
            <p:cNvSpPr/>
            <p:nvPr/>
          </p:nvSpPr>
          <p:spPr>
            <a:xfrm>
              <a:off x="17892712" y="4967288"/>
              <a:ext cx="109538" cy="109538"/>
            </a:xfrm>
            <a:prstGeom prst="rect">
              <a:avLst/>
            </a:prstGeom>
            <a:solidFill>
              <a:srgbClr val="F3F2F4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6" name="Rectangle 1155"/>
            <p:cNvSpPr/>
            <p:nvPr/>
          </p:nvSpPr>
          <p:spPr>
            <a:xfrm>
              <a:off x="17345025" y="5076825"/>
              <a:ext cx="109538" cy="109538"/>
            </a:xfrm>
            <a:prstGeom prst="rect">
              <a:avLst/>
            </a:prstGeom>
            <a:solidFill>
              <a:srgbClr val="8E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7" name="Rectangle 1156"/>
            <p:cNvSpPr/>
            <p:nvPr/>
          </p:nvSpPr>
          <p:spPr>
            <a:xfrm>
              <a:off x="17454562" y="5076825"/>
              <a:ext cx="109538" cy="109538"/>
            </a:xfrm>
            <a:prstGeom prst="rect">
              <a:avLst/>
            </a:prstGeom>
            <a:solidFill>
              <a:srgbClr val="8C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8" name="Rectangle 1157"/>
            <p:cNvSpPr/>
            <p:nvPr/>
          </p:nvSpPr>
          <p:spPr>
            <a:xfrm>
              <a:off x="17564100" y="5076825"/>
              <a:ext cx="109538" cy="109538"/>
            </a:xfrm>
            <a:prstGeom prst="rect">
              <a:avLst/>
            </a:prstGeom>
            <a:solidFill>
              <a:srgbClr val="9AB2E0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9" name="Rectangle 1158"/>
            <p:cNvSpPr/>
            <p:nvPr/>
          </p:nvSpPr>
          <p:spPr>
            <a:xfrm>
              <a:off x="17673638" y="5076825"/>
              <a:ext cx="109538" cy="109538"/>
            </a:xfrm>
            <a:prstGeom prst="rect">
              <a:avLst/>
            </a:prstGeom>
            <a:solidFill>
              <a:srgbClr val="8EAA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0" name="Rectangle 1159"/>
            <p:cNvSpPr/>
            <p:nvPr/>
          </p:nvSpPr>
          <p:spPr>
            <a:xfrm>
              <a:off x="17783175" y="5076825"/>
              <a:ext cx="109538" cy="109538"/>
            </a:xfrm>
            <a:prstGeom prst="rect">
              <a:avLst/>
            </a:prstGeom>
            <a:solidFill>
              <a:srgbClr val="93B1DC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1" name="Rectangle 1160"/>
            <p:cNvSpPr/>
            <p:nvPr/>
          </p:nvSpPr>
          <p:spPr>
            <a:xfrm>
              <a:off x="17892712" y="5076825"/>
              <a:ext cx="109538" cy="109538"/>
            </a:xfrm>
            <a:prstGeom prst="rect">
              <a:avLst/>
            </a:prstGeom>
            <a:solidFill>
              <a:srgbClr val="ABC0E3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2" name="Rectangle 1161"/>
            <p:cNvSpPr/>
            <p:nvPr/>
          </p:nvSpPr>
          <p:spPr>
            <a:xfrm>
              <a:off x="17823942" y="5076825"/>
              <a:ext cx="270320" cy="245745"/>
            </a:xfrm>
            <a:custGeom>
              <a:avLst/>
              <a:gdLst/>
              <a:ahLst/>
              <a:cxnLst/>
              <a:rect l="0" t="0" r="r" b="b"/>
              <a:pathLst>
                <a:path w="28380" h="25800" fill="norm">
                  <a:moveTo>
                    <a:pt x="10320" y="23220"/>
                  </a:moveTo>
                  <a:cubicBezTo>
                    <a:pt x="0" y="22360"/>
                    <a:pt x="1720" y="12040"/>
                    <a:pt x="6880" y="8600"/>
                  </a:cubicBezTo>
                  <a:cubicBezTo>
                    <a:pt x="6020" y="13760"/>
                    <a:pt x="9460" y="15480"/>
                    <a:pt x="10320" y="10320"/>
                  </a:cubicBezTo>
                  <a:cubicBezTo>
                    <a:pt x="11180" y="5160"/>
                    <a:pt x="14620" y="5160"/>
                    <a:pt x="12040" y="0"/>
                  </a:cubicBezTo>
                  <a:cubicBezTo>
                    <a:pt x="21500" y="5160"/>
                    <a:pt x="17200" y="11180"/>
                    <a:pt x="21500" y="12900"/>
                  </a:cubicBezTo>
                  <a:cubicBezTo>
                    <a:pt x="23220" y="11180"/>
                    <a:pt x="22360" y="8600"/>
                    <a:pt x="22360" y="7740"/>
                  </a:cubicBezTo>
                  <a:cubicBezTo>
                    <a:pt x="28380" y="17200"/>
                    <a:pt x="24940" y="24080"/>
                    <a:pt x="17200" y="24940"/>
                  </a:cubicBezTo>
                  <a:cubicBezTo>
                    <a:pt x="14620" y="25800"/>
                    <a:pt x="12040" y="24940"/>
                    <a:pt x="10320" y="23220"/>
                  </a:cubicBezTo>
                  <a:close/>
                </a:path>
              </a:pathLst>
            </a:custGeom>
            <a:solidFill>
              <a:srgbClr val="F8894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3" name="Rectangle 1162"/>
            <p:cNvSpPr/>
            <p:nvPr/>
          </p:nvSpPr>
          <p:spPr>
            <a:xfrm>
              <a:off x="17881282" y="5175123"/>
              <a:ext cx="172021" cy="139256"/>
            </a:xfrm>
            <a:custGeom>
              <a:avLst/>
              <a:gdLst/>
              <a:ahLst/>
              <a:cxnLst/>
              <a:rect l="0" t="0" r="r" b="b"/>
              <a:pathLst>
                <a:path w="18060" h="14620" fill="norm">
                  <a:moveTo>
                    <a:pt x="3440" y="11180"/>
                  </a:moveTo>
                  <a:cubicBezTo>
                    <a:pt x="0" y="6020"/>
                    <a:pt x="4300" y="2580"/>
                    <a:pt x="4300" y="860"/>
                  </a:cubicBezTo>
                  <a:cubicBezTo>
                    <a:pt x="4300" y="6020"/>
                    <a:pt x="7740" y="5160"/>
                    <a:pt x="8600" y="0"/>
                  </a:cubicBezTo>
                  <a:cubicBezTo>
                    <a:pt x="12900" y="3440"/>
                    <a:pt x="12040" y="8600"/>
                    <a:pt x="14620" y="7740"/>
                  </a:cubicBezTo>
                  <a:cubicBezTo>
                    <a:pt x="14620" y="5160"/>
                    <a:pt x="14620" y="4300"/>
                    <a:pt x="15480" y="4300"/>
                  </a:cubicBezTo>
                  <a:cubicBezTo>
                    <a:pt x="18060" y="11180"/>
                    <a:pt x="12900" y="14620"/>
                    <a:pt x="8600" y="13760"/>
                  </a:cubicBezTo>
                  <a:cubicBezTo>
                    <a:pt x="6020" y="13760"/>
                    <a:pt x="4300" y="12900"/>
                    <a:pt x="3440" y="11180"/>
                  </a:cubicBezTo>
                  <a:close/>
                </a:path>
              </a:pathLst>
            </a:custGeom>
            <a:solidFill>
              <a:srgbClr val="FFC56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4" name="Rectangle 1163"/>
            <p:cNvSpPr/>
            <p:nvPr/>
          </p:nvSpPr>
          <p:spPr>
            <a:xfrm>
              <a:off x="17930432" y="5224272"/>
              <a:ext cx="73724" cy="81915"/>
            </a:xfrm>
            <a:custGeom>
              <a:avLst/>
              <a:gdLst/>
              <a:ahLst/>
              <a:cxnLst/>
              <a:rect l="0" t="0" r="r" b="b"/>
              <a:pathLst>
                <a:path w="7740" h="8600" fill="norm">
                  <a:moveTo>
                    <a:pt x="1720" y="6880"/>
                  </a:moveTo>
                  <a:cubicBezTo>
                    <a:pt x="0" y="3440"/>
                    <a:pt x="3440" y="1720"/>
                    <a:pt x="3440" y="0"/>
                  </a:cubicBezTo>
                  <a:cubicBezTo>
                    <a:pt x="7740" y="4300"/>
                    <a:pt x="6880" y="7740"/>
                    <a:pt x="4300" y="8600"/>
                  </a:cubicBezTo>
                  <a:close/>
                </a:path>
              </a:pathLst>
            </a:custGeom>
            <a:solidFill>
              <a:srgbClr val="FFE2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5" name="Text: α_{d} M_{d}"/>
            <p:cNvSpPr txBox="1"/>
            <p:nvPr/>
          </p:nvSpPr>
          <p:spPr>
            <a:xfrm>
              <a:off x="17535525" y="5212080"/>
              <a:ext cx="522558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α</a:t>
              </a:r>
              <a:r>
                <a:rPr sz="1500" b="0" i="0" baseline="-25000">
                  <a:solidFill>
                    <a:srgbClr val="111111"/>
                  </a:solidFill>
                  <a:latin typeface="Liberation Serif"/>
                </a:rPr>
                <a:t>d</a:t>
              </a: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 M</a:t>
              </a:r>
              <a:r>
                <a:rPr sz="1500" b="0" i="0" baseline="-25000">
                  <a:solidFill>
                    <a:srgbClr val="111111"/>
                  </a:solidFill>
                  <a:latin typeface="Liberation Serif"/>
                </a:rPr>
                <a:t>d</a:t>
              </a:r>
            </a:p>
          </p:txBody>
        </p:sp>
        <p:sp>
          <p:nvSpPr>
            <p:cNvPr id="1166" name="Rectangle 1165"/>
            <p:cNvSpPr/>
            <p:nvPr/>
          </p:nvSpPr>
          <p:spPr>
            <a:xfrm>
              <a:off x="16097250" y="4972050"/>
              <a:ext cx="1019175" cy="400050"/>
            </a:xfrm>
            <a:custGeom>
              <a:avLst/>
              <a:gdLst/>
              <a:ahLst/>
              <a:cxnLst/>
              <a:rect l="0" t="0" r="r" b="b"/>
              <a:pathLst>
                <a:path w="107000" h="42000" fill="none">
                  <a:moveTo>
                    <a:pt x="107000" y="0"/>
                  </a:moveTo>
                  <a:cubicBezTo>
                    <a:pt x="107000" y="30000"/>
                    <a:pt x="45000" y="42000"/>
                    <a:pt x="0" y="42000"/>
                  </a:cubicBezTo>
                </a:path>
              </a:pathLst>
            </a:custGeom>
            <a:noFill/>
            <a:ln w="9525" cap="rnd">
              <a:solidFill>
                <a:srgbClr val="CCCC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7" name="Rectangle 1166"/>
            <p:cNvSpPr/>
            <p:nvPr/>
          </p:nvSpPr>
          <p:spPr>
            <a:xfrm>
              <a:off x="16097250" y="5344096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0" y="2940"/>
                  </a:moveTo>
                  <a:lnTo>
                    <a:pt x="7000" y="5880"/>
                  </a:lnTo>
                  <a:lnTo>
                    <a:pt x="4690" y="2940"/>
                  </a:lnTo>
                  <a:lnTo>
                    <a:pt x="700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8" name="Rectangle 1167"/>
            <p:cNvSpPr/>
            <p:nvPr/>
          </p:nvSpPr>
          <p:spPr>
            <a:xfrm>
              <a:off x="15649575" y="5295900"/>
              <a:ext cx="400050" cy="1714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9" name="Rectangle 1168"/>
            <p:cNvSpPr/>
            <p:nvPr/>
          </p:nvSpPr>
          <p:spPr>
            <a:xfrm>
              <a:off x="15687675" y="5334000"/>
              <a:ext cx="95250" cy="95250"/>
            </a:xfrm>
            <a:prstGeom prst="rect">
              <a:avLst/>
            </a:prstGeom>
            <a:solidFill>
              <a:srgbClr val="B59ACA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0" name="Rectangle 1169"/>
            <p:cNvSpPr/>
            <p:nvPr/>
          </p:nvSpPr>
          <p:spPr>
            <a:xfrm>
              <a:off x="15811500" y="5334000"/>
              <a:ext cx="95250" cy="95250"/>
            </a:xfrm>
            <a:prstGeom prst="rect">
              <a:avLst/>
            </a:prstGeom>
            <a:solidFill>
              <a:srgbClr val="E5B2B4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1" name="Rectangle 1170"/>
            <p:cNvSpPr/>
            <p:nvPr/>
          </p:nvSpPr>
          <p:spPr>
            <a:xfrm>
              <a:off x="15935325" y="5334000"/>
              <a:ext cx="95250" cy="95250"/>
            </a:xfrm>
            <a:prstGeom prst="rect">
              <a:avLst/>
            </a:prstGeom>
            <a:solidFill>
              <a:srgbClr val="A8C6E6"/>
            </a:solidFill>
            <a:ln w="9525" cap="rnd">
              <a:solidFill>
                <a:srgbClr val="3658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2" name="Text: dynamic filter"/>
            <p:cNvSpPr txBox="1"/>
            <p:nvPr/>
          </p:nvSpPr>
          <p:spPr>
            <a:xfrm>
              <a:off x="16259175" y="5230939"/>
              <a:ext cx="1033165" cy="2571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A2A2A2"/>
                  </a:solidFill>
                  <a:latin typeface="Liberation Serif"/>
                </a:rPr>
                <a:t>dynamic filter</a:t>
              </a:r>
            </a:p>
          </p:txBody>
        </p:sp>
      </p:grpSp>
      <p:grpSp>
        <p:nvGrpSpPr>
          <p:cNvPr id="1349" name="06_Hierarchical_Domain_Alignment"/>
          <p:cNvGrpSpPr/>
          <p:nvPr/>
        </p:nvGrpSpPr>
        <p:grpSpPr>
          <a:xfrm>
            <a:off x="9077325" y="5800725"/>
            <a:ext cx="9210675" cy="1621155"/>
            <a:chOff x="9077325" y="5800725"/>
            <a:chExt cx="9210675" cy="1621155"/>
          </a:xfrm>
        </p:grpSpPr>
        <p:sp>
          <p:nvSpPr>
            <p:cNvPr id="1174" name="Rectangle 1173"/>
            <p:cNvSpPr/>
            <p:nvPr/>
          </p:nvSpPr>
          <p:spPr>
            <a:xfrm>
              <a:off x="9077325" y="5800725"/>
              <a:ext cx="9210675" cy="1590675"/>
            </a:xfrm>
            <a:prstGeom prst="rect">
              <a:avLst/>
            </a:prstGeom>
            <a:solidFill>
              <a:srgbClr val="F1F7F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5" name="Text: Hierarchical Domain Alignment (HDA)"/>
            <p:cNvSpPr txBox="1"/>
            <p:nvPr/>
          </p:nvSpPr>
          <p:spPr>
            <a:xfrm>
              <a:off x="11568661" y="5822252"/>
              <a:ext cx="4237527" cy="3714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950" b="1" i="0">
                  <a:solidFill>
                    <a:srgbClr val="111111"/>
                  </a:solidFill>
                  <a:latin typeface="Liberation Serif"/>
                </a:rPr>
                <a:t>Hierarchical Domain Alignment (HDA)</a:t>
              </a:r>
            </a:p>
          </p:txBody>
        </p:sp>
        <p:sp>
          <p:nvSpPr>
            <p:cNvPr id="1176" name="Text: w/ Position Embedding"/>
            <p:cNvSpPr txBox="1"/>
            <p:nvPr/>
          </p:nvSpPr>
          <p:spPr>
            <a:xfrm>
              <a:off x="9782175" y="5811869"/>
              <a:ext cx="1577913" cy="2428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75" b="0" i="1">
                  <a:solidFill>
                    <a:srgbClr val="888888"/>
                  </a:solidFill>
                  <a:latin typeface="Liberation Serif"/>
                </a:rPr>
                <a:t>w/ Position Embedding</a:t>
              </a:r>
            </a:p>
          </p:txBody>
        </p:sp>
        <p:sp>
          <p:nvSpPr>
            <p:cNvPr id="1177" name="Rounded Rectangle 1176"/>
            <p:cNvSpPr/>
            <p:nvPr/>
          </p:nvSpPr>
          <p:spPr>
            <a:xfrm>
              <a:off x="9324975" y="6305550"/>
              <a:ext cx="409575" cy="981075"/>
            </a:xfrm>
            <a:prstGeom prst="roundRect">
              <a:avLst>
                <a:gd name="adj" fmla="val 11627"/>
              </a:avLst>
            </a:prstGeom>
            <a:solidFill>
              <a:srgbClr val="CBCBC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8" name="Text: Projection"/>
            <p:cNvSpPr txBox="1"/>
            <p:nvPr/>
          </p:nvSpPr>
          <p:spPr>
            <a:xfrm rot="16200000">
              <a:off x="9113487" y="6648450"/>
              <a:ext cx="849697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Projection</a:t>
              </a:r>
            </a:p>
          </p:txBody>
        </p:sp>
        <p:sp>
          <p:nvSpPr>
            <p:cNvPr id="1179" name="Rectangle 1178"/>
            <p:cNvSpPr/>
            <p:nvPr/>
          </p:nvSpPr>
          <p:spPr>
            <a:xfrm>
              <a:off x="9744075" y="6781800"/>
              <a:ext cx="333375" cy="952"/>
            </a:xfrm>
            <a:custGeom>
              <a:avLst/>
              <a:gdLst/>
              <a:ahLst/>
              <a:cxnLst/>
              <a:rect l="0" t="0" r="r" b="b"/>
              <a:pathLst>
                <a:path w="35000" h="100" fill="none">
                  <a:moveTo>
                    <a:pt x="0" y="0"/>
                  </a:moveTo>
                  <a:lnTo>
                    <a:pt x="3500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0" name="Rectangle 1179"/>
            <p:cNvSpPr/>
            <p:nvPr/>
          </p:nvSpPr>
          <p:spPr>
            <a:xfrm>
              <a:off x="10010775" y="6753796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7000" y="2940"/>
                  </a:moveTo>
                  <a:lnTo>
                    <a:pt x="0" y="0"/>
                  </a:lnTo>
                  <a:lnTo>
                    <a:pt x="2310" y="2940"/>
                  </a:lnTo>
                  <a:lnTo>
                    <a:pt x="0" y="588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1" name="Text: Layer level Alignment"/>
            <p:cNvSpPr txBox="1"/>
            <p:nvPr/>
          </p:nvSpPr>
          <p:spPr>
            <a:xfrm>
              <a:off x="10863542" y="6202680"/>
              <a:ext cx="1780617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285BA4"/>
                  </a:solidFill>
                  <a:latin typeface="Liberation Serif"/>
                </a:rPr>
                <a:t>Layer level Alignment</a:t>
              </a:r>
            </a:p>
          </p:txBody>
        </p:sp>
        <p:sp>
          <p:nvSpPr>
            <p:cNvPr id="1182" name="Text: Token level Alignment"/>
            <p:cNvSpPr txBox="1"/>
            <p:nvPr/>
          </p:nvSpPr>
          <p:spPr>
            <a:xfrm>
              <a:off x="13115888" y="6202680"/>
              <a:ext cx="1809824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D36112"/>
                  </a:solidFill>
                  <a:latin typeface="Liberation Serif"/>
                </a:rPr>
                <a:t>Token level Alignment</a:t>
              </a:r>
            </a:p>
          </p:txBody>
        </p:sp>
        <p:sp>
          <p:nvSpPr>
            <p:cNvPr id="1183" name="Rectangle 1182"/>
            <p:cNvSpPr/>
            <p:nvPr/>
          </p:nvSpPr>
          <p:spPr>
            <a:xfrm>
              <a:off x="10086975" y="6600825"/>
              <a:ext cx="180975" cy="371475"/>
            </a:xfrm>
            <a:prstGeom prst="rect">
              <a:avLst/>
            </a:prstGeom>
            <a:solidFill>
              <a:srgbClr val="A5ACB0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4" name="Rectangle 1183"/>
            <p:cNvSpPr/>
            <p:nvPr/>
          </p:nvSpPr>
          <p:spPr>
            <a:xfrm>
              <a:off x="10086975" y="6600825"/>
              <a:ext cx="180975" cy="161925"/>
            </a:xfrm>
            <a:prstGeom prst="rect">
              <a:avLst/>
            </a:prstGeom>
            <a:solidFill>
              <a:srgbClr val="FFFFFF"/>
            </a:solidFill>
            <a:ln w="666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5" name="Text: x_{e}"/>
            <p:cNvSpPr txBox="1"/>
            <p:nvPr/>
          </p:nvSpPr>
          <p:spPr>
            <a:xfrm>
              <a:off x="10069877" y="6555010"/>
              <a:ext cx="205646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1">
                  <a:solidFill>
                    <a:srgbClr val="111111"/>
                  </a:solidFill>
                  <a:latin typeface="Liberation Serif"/>
                </a:rPr>
                <a:t>x</a:t>
              </a:r>
              <a:r>
                <a:rPr sz="1425" b="0" i="1" baseline="-25000">
                  <a:solidFill>
                    <a:srgbClr val="111111"/>
                  </a:solidFill>
                  <a:latin typeface="Liberation Serif"/>
                </a:rPr>
                <a:t>e</a:t>
              </a:r>
            </a:p>
          </p:txBody>
        </p:sp>
        <p:sp>
          <p:nvSpPr>
            <p:cNvPr id="1186" name="Oval 1185"/>
            <p:cNvSpPr/>
            <p:nvPr/>
          </p:nvSpPr>
          <p:spPr>
            <a:xfrm>
              <a:off x="10334625" y="6686550"/>
              <a:ext cx="190500" cy="190500"/>
            </a:xfrm>
            <a:prstGeom prst="ellipse">
              <a:avLst/>
            </a:prstGeom>
            <a:solidFill>
              <a:srgbClr val="FFFFFF"/>
            </a:solidFill>
            <a:ln w="10477" cap="rnd">
              <a:solidFill>
                <a:srgbClr val="2E53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7" name="Oval 1186"/>
            <p:cNvSpPr/>
            <p:nvPr/>
          </p:nvSpPr>
          <p:spPr>
            <a:xfrm>
              <a:off x="10416540" y="6768465"/>
              <a:ext cx="26670" cy="26670"/>
            </a:xfrm>
            <a:prstGeom prst="ellipse">
              <a:avLst/>
            </a:prstGeom>
            <a:solidFill>
              <a:srgbClr val="2E536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8" name="Rectangle 1187"/>
            <p:cNvSpPr/>
            <p:nvPr/>
          </p:nvSpPr>
          <p:spPr>
            <a:xfrm>
              <a:off x="10553700" y="6515100"/>
              <a:ext cx="2486025" cy="4857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9" name="Rectangle 1188"/>
            <p:cNvSpPr/>
            <p:nvPr/>
          </p:nvSpPr>
          <p:spPr>
            <a:xfrm>
              <a:off x="10658475" y="6572250"/>
              <a:ext cx="171450" cy="371475"/>
            </a:xfrm>
            <a:prstGeom prst="rect">
              <a:avLst/>
            </a:prstGeom>
            <a:solidFill>
              <a:srgbClr val="A1B3D1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0" name="Rectangle 1189"/>
            <p:cNvSpPr/>
            <p:nvPr/>
          </p:nvSpPr>
          <p:spPr>
            <a:xfrm>
              <a:off x="10658475" y="6572250"/>
              <a:ext cx="171450" cy="171450"/>
            </a:xfrm>
            <a:prstGeom prst="rect">
              <a:avLst/>
            </a:prstGeom>
            <a:solidFill>
              <a:srgbClr val="FFFFFF"/>
            </a:solidFill>
            <a:ln w="666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1" name="Text: e_{1}"/>
            <p:cNvSpPr txBox="1"/>
            <p:nvPr/>
          </p:nvSpPr>
          <p:spPr>
            <a:xfrm>
              <a:off x="10637670" y="6535960"/>
              <a:ext cx="213061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e</a:t>
              </a:r>
              <a:r>
                <a:rPr sz="1425" b="0" i="0" baseline="-2500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1192" name="Rectangle 1191"/>
            <p:cNvSpPr/>
            <p:nvPr/>
          </p:nvSpPr>
          <p:spPr>
            <a:xfrm>
              <a:off x="10957560" y="6572250"/>
              <a:ext cx="171450" cy="371475"/>
            </a:xfrm>
            <a:prstGeom prst="rect">
              <a:avLst/>
            </a:prstGeom>
            <a:solidFill>
              <a:srgbClr val="A1B3D1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3" name="Rectangle 1192"/>
            <p:cNvSpPr/>
            <p:nvPr/>
          </p:nvSpPr>
          <p:spPr>
            <a:xfrm>
              <a:off x="10957560" y="6572250"/>
              <a:ext cx="171450" cy="171450"/>
            </a:xfrm>
            <a:prstGeom prst="rect">
              <a:avLst/>
            </a:prstGeom>
            <a:solidFill>
              <a:srgbClr val="FFFFFF"/>
            </a:solidFill>
            <a:ln w="666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4" name="Text: e_{2}"/>
            <p:cNvSpPr txBox="1"/>
            <p:nvPr/>
          </p:nvSpPr>
          <p:spPr>
            <a:xfrm>
              <a:off x="10936755" y="6535960"/>
              <a:ext cx="213061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e</a:t>
              </a:r>
              <a:r>
                <a:rPr sz="1425" b="0" i="0" baseline="-25000">
                  <a:solidFill>
                    <a:srgbClr val="111111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1195" name="Rectangle 1194"/>
            <p:cNvSpPr/>
            <p:nvPr/>
          </p:nvSpPr>
          <p:spPr>
            <a:xfrm>
              <a:off x="11256645" y="6572250"/>
              <a:ext cx="171450" cy="371475"/>
            </a:xfrm>
            <a:prstGeom prst="rect">
              <a:avLst/>
            </a:prstGeom>
            <a:solidFill>
              <a:srgbClr val="A1B3D1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6" name="Rectangle 1195"/>
            <p:cNvSpPr/>
            <p:nvPr/>
          </p:nvSpPr>
          <p:spPr>
            <a:xfrm>
              <a:off x="11256645" y="6572250"/>
              <a:ext cx="171450" cy="171450"/>
            </a:xfrm>
            <a:prstGeom prst="rect">
              <a:avLst/>
            </a:prstGeom>
            <a:solidFill>
              <a:srgbClr val="FFFFFF"/>
            </a:solidFill>
            <a:ln w="666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7" name="Text: e_{3}"/>
            <p:cNvSpPr txBox="1"/>
            <p:nvPr/>
          </p:nvSpPr>
          <p:spPr>
            <a:xfrm>
              <a:off x="11235840" y="6535960"/>
              <a:ext cx="213061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e</a:t>
              </a:r>
              <a:r>
                <a:rPr sz="1425" b="0" i="0" baseline="-25000">
                  <a:solidFill>
                    <a:srgbClr val="111111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1198" name="Rectangle 1197"/>
            <p:cNvSpPr/>
            <p:nvPr/>
          </p:nvSpPr>
          <p:spPr>
            <a:xfrm>
              <a:off x="11555730" y="6572250"/>
              <a:ext cx="171450" cy="371475"/>
            </a:xfrm>
            <a:prstGeom prst="rect">
              <a:avLst/>
            </a:prstGeom>
            <a:solidFill>
              <a:srgbClr val="A1B3D1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9" name="Rectangle 1198"/>
            <p:cNvSpPr/>
            <p:nvPr/>
          </p:nvSpPr>
          <p:spPr>
            <a:xfrm>
              <a:off x="11555730" y="6572250"/>
              <a:ext cx="171450" cy="171450"/>
            </a:xfrm>
            <a:prstGeom prst="rect">
              <a:avLst/>
            </a:prstGeom>
            <a:solidFill>
              <a:srgbClr val="FFFFFF"/>
            </a:solidFill>
            <a:ln w="666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0" name="Text: e_{4}"/>
            <p:cNvSpPr txBox="1"/>
            <p:nvPr/>
          </p:nvSpPr>
          <p:spPr>
            <a:xfrm>
              <a:off x="11534925" y="6535960"/>
              <a:ext cx="213061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e</a:t>
              </a:r>
              <a:r>
                <a:rPr sz="1425" b="0" i="0" baseline="-25000">
                  <a:solidFill>
                    <a:srgbClr val="111111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1201" name="Rectangle 1200"/>
            <p:cNvSpPr/>
            <p:nvPr/>
          </p:nvSpPr>
          <p:spPr>
            <a:xfrm>
              <a:off x="11854815" y="6572250"/>
              <a:ext cx="171450" cy="371475"/>
            </a:xfrm>
            <a:prstGeom prst="rect">
              <a:avLst/>
            </a:prstGeom>
            <a:solidFill>
              <a:srgbClr val="A1B3D1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2" name="Rectangle 1201"/>
            <p:cNvSpPr/>
            <p:nvPr/>
          </p:nvSpPr>
          <p:spPr>
            <a:xfrm>
              <a:off x="11854815" y="6572250"/>
              <a:ext cx="171450" cy="171450"/>
            </a:xfrm>
            <a:prstGeom prst="rect">
              <a:avLst/>
            </a:prstGeom>
            <a:solidFill>
              <a:srgbClr val="FFFFFF"/>
            </a:solidFill>
            <a:ln w="666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3" name="Text: e_{5}"/>
            <p:cNvSpPr txBox="1"/>
            <p:nvPr/>
          </p:nvSpPr>
          <p:spPr>
            <a:xfrm>
              <a:off x="11834010" y="6535960"/>
              <a:ext cx="213061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e</a:t>
              </a:r>
              <a:r>
                <a:rPr sz="1425" b="0" i="0" baseline="-25000">
                  <a:solidFill>
                    <a:srgbClr val="111111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1204" name="Rectangle 1203"/>
            <p:cNvSpPr/>
            <p:nvPr/>
          </p:nvSpPr>
          <p:spPr>
            <a:xfrm>
              <a:off x="12153900" y="6572250"/>
              <a:ext cx="171450" cy="371475"/>
            </a:xfrm>
            <a:prstGeom prst="rect">
              <a:avLst/>
            </a:prstGeom>
            <a:solidFill>
              <a:srgbClr val="A1B3D1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5" name="Rectangle 1204"/>
            <p:cNvSpPr/>
            <p:nvPr/>
          </p:nvSpPr>
          <p:spPr>
            <a:xfrm>
              <a:off x="12153900" y="6572250"/>
              <a:ext cx="171450" cy="171450"/>
            </a:xfrm>
            <a:prstGeom prst="rect">
              <a:avLst/>
            </a:prstGeom>
            <a:solidFill>
              <a:srgbClr val="FFFFFF"/>
            </a:solidFill>
            <a:ln w="666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6" name="Text: e_{6}"/>
            <p:cNvSpPr txBox="1"/>
            <p:nvPr/>
          </p:nvSpPr>
          <p:spPr>
            <a:xfrm>
              <a:off x="12133095" y="6535960"/>
              <a:ext cx="213061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e</a:t>
              </a:r>
              <a:r>
                <a:rPr sz="1425" b="0" i="0" baseline="-25000">
                  <a:solidFill>
                    <a:srgbClr val="111111"/>
                  </a:solidFill>
                  <a:latin typeface="Liberation Serif"/>
                </a:rPr>
                <a:t>6</a:t>
              </a:r>
            </a:p>
          </p:txBody>
        </p:sp>
        <p:sp>
          <p:nvSpPr>
            <p:cNvPr id="1207" name="Rectangle 1206"/>
            <p:cNvSpPr/>
            <p:nvPr/>
          </p:nvSpPr>
          <p:spPr>
            <a:xfrm>
              <a:off x="12452985" y="6572250"/>
              <a:ext cx="171450" cy="371475"/>
            </a:xfrm>
            <a:prstGeom prst="rect">
              <a:avLst/>
            </a:prstGeom>
            <a:solidFill>
              <a:srgbClr val="A1B3D1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8" name="Rectangle 1207"/>
            <p:cNvSpPr/>
            <p:nvPr/>
          </p:nvSpPr>
          <p:spPr>
            <a:xfrm>
              <a:off x="12452985" y="6572250"/>
              <a:ext cx="171450" cy="171450"/>
            </a:xfrm>
            <a:prstGeom prst="rect">
              <a:avLst/>
            </a:prstGeom>
            <a:solidFill>
              <a:srgbClr val="FFFFFF"/>
            </a:solidFill>
            <a:ln w="666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9" name="Text: e_{7}"/>
            <p:cNvSpPr txBox="1"/>
            <p:nvPr/>
          </p:nvSpPr>
          <p:spPr>
            <a:xfrm>
              <a:off x="12432180" y="6535960"/>
              <a:ext cx="213061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e</a:t>
              </a:r>
              <a:r>
                <a:rPr sz="1425" b="0" i="0" baseline="-25000">
                  <a:solidFill>
                    <a:srgbClr val="111111"/>
                  </a:solidFill>
                  <a:latin typeface="Liberation Serif"/>
                </a:rPr>
                <a:t>7</a:t>
              </a:r>
            </a:p>
          </p:txBody>
        </p:sp>
        <p:sp>
          <p:nvSpPr>
            <p:cNvPr id="1210" name="Rectangle 1209"/>
            <p:cNvSpPr/>
            <p:nvPr/>
          </p:nvSpPr>
          <p:spPr>
            <a:xfrm>
              <a:off x="12752070" y="6572250"/>
              <a:ext cx="171450" cy="371475"/>
            </a:xfrm>
            <a:prstGeom prst="rect">
              <a:avLst/>
            </a:prstGeom>
            <a:solidFill>
              <a:srgbClr val="A1B3D1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1" name="Rectangle 1210"/>
            <p:cNvSpPr/>
            <p:nvPr/>
          </p:nvSpPr>
          <p:spPr>
            <a:xfrm>
              <a:off x="12752070" y="6572250"/>
              <a:ext cx="171450" cy="171450"/>
            </a:xfrm>
            <a:prstGeom prst="rect">
              <a:avLst/>
            </a:prstGeom>
            <a:solidFill>
              <a:srgbClr val="FFFFFF"/>
            </a:solidFill>
            <a:ln w="666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2" name="Text: e_{8}"/>
            <p:cNvSpPr txBox="1"/>
            <p:nvPr/>
          </p:nvSpPr>
          <p:spPr>
            <a:xfrm>
              <a:off x="12731265" y="6535960"/>
              <a:ext cx="213061" cy="2714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111111"/>
                  </a:solidFill>
                  <a:latin typeface="Liberation Serif"/>
                </a:rPr>
                <a:t>e</a:t>
              </a:r>
              <a:r>
                <a:rPr sz="1425" b="0" i="0" baseline="-25000">
                  <a:solidFill>
                    <a:srgbClr val="111111"/>
                  </a:solidFill>
                  <a:latin typeface="Liberation Serif"/>
                </a:rPr>
                <a:t>8</a:t>
              </a:r>
            </a:p>
          </p:txBody>
        </p:sp>
        <p:sp>
          <p:nvSpPr>
            <p:cNvPr id="1213" name="Rectangle 1212"/>
            <p:cNvSpPr/>
            <p:nvPr/>
          </p:nvSpPr>
          <p:spPr>
            <a:xfrm>
              <a:off x="10896600" y="6496050"/>
              <a:ext cx="276225" cy="504825"/>
            </a:xfrm>
            <a:prstGeom prst="rect">
              <a:avLst/>
            </a:prstGeom>
            <a:noFill/>
            <a:ln w="9525" cap="rnd">
              <a:solidFill>
                <a:srgbClr val="D8242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4" name="Rectangle 1213"/>
            <p:cNvSpPr/>
            <p:nvPr/>
          </p:nvSpPr>
          <p:spPr>
            <a:xfrm>
              <a:off x="11496675" y="6496050"/>
              <a:ext cx="276225" cy="504825"/>
            </a:xfrm>
            <a:prstGeom prst="rect">
              <a:avLst/>
            </a:prstGeom>
            <a:noFill/>
            <a:ln w="9525" cap="rnd">
              <a:solidFill>
                <a:srgbClr val="D8242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5" name="Rectangle 1214"/>
            <p:cNvSpPr/>
            <p:nvPr/>
          </p:nvSpPr>
          <p:spPr>
            <a:xfrm>
              <a:off x="12401550" y="6496050"/>
              <a:ext cx="276225" cy="504825"/>
            </a:xfrm>
            <a:prstGeom prst="rect">
              <a:avLst/>
            </a:prstGeom>
            <a:noFill/>
            <a:ln w="9525" cap="rnd">
              <a:solidFill>
                <a:srgbClr val="D8242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6" name="Rectangle 1215"/>
            <p:cNvSpPr/>
            <p:nvPr/>
          </p:nvSpPr>
          <p:spPr>
            <a:xfrm>
              <a:off x="10182225" y="6972300"/>
              <a:ext cx="2371725" cy="304800"/>
            </a:xfrm>
            <a:custGeom>
              <a:avLst/>
              <a:gdLst/>
              <a:ahLst/>
              <a:cxnLst/>
              <a:rect l="0" t="0" r="r" b="b"/>
              <a:pathLst>
                <a:path w="249000" h="32000" fill="none">
                  <a:moveTo>
                    <a:pt x="0" y="0"/>
                  </a:moveTo>
                  <a:lnTo>
                    <a:pt x="0" y="32000"/>
                  </a:lnTo>
                  <a:lnTo>
                    <a:pt x="249000" y="32000"/>
                  </a:lnTo>
                  <a:lnTo>
                    <a:pt x="249000" y="3000"/>
                  </a:lnTo>
                </a:path>
              </a:pathLst>
            </a:custGeom>
            <a:noFill/>
            <a:ln w="11429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7" name="Rectangle 1216"/>
            <p:cNvSpPr/>
            <p:nvPr/>
          </p:nvSpPr>
          <p:spPr>
            <a:xfrm>
              <a:off x="12525946" y="7000875"/>
              <a:ext cx="56007" cy="66675"/>
            </a:xfrm>
            <a:custGeom>
              <a:avLst/>
              <a:gdLst/>
              <a:ahLst/>
              <a:cxnLst/>
              <a:rect l="0" t="0" r="r" b="b"/>
              <a:pathLst>
                <a:path w="5880" h="7000" fill="norm">
                  <a:moveTo>
                    <a:pt x="2940" y="0"/>
                  </a:moveTo>
                  <a:lnTo>
                    <a:pt x="0" y="7000"/>
                  </a:lnTo>
                  <a:lnTo>
                    <a:pt x="2940" y="4690"/>
                  </a:lnTo>
                  <a:lnTo>
                    <a:pt x="5880" y="700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8" name="Rectangle 1217"/>
            <p:cNvSpPr/>
            <p:nvPr/>
          </p:nvSpPr>
          <p:spPr>
            <a:xfrm>
              <a:off x="11039475" y="7000875"/>
              <a:ext cx="952" cy="276225"/>
            </a:xfrm>
            <a:custGeom>
              <a:avLst/>
              <a:gdLst/>
              <a:ahLst/>
              <a:cxnLst/>
              <a:rect l="0" t="0" r="r" b="b"/>
              <a:pathLst>
                <a:path w="100" h="29000" fill="none">
                  <a:moveTo>
                    <a:pt x="0" y="29000"/>
                  </a:moveTo>
                  <a:lnTo>
                    <a:pt x="0" y="0"/>
                  </a:lnTo>
                </a:path>
              </a:pathLst>
            </a:custGeom>
            <a:noFill/>
            <a:ln w="1047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9" name="Rectangle 1218"/>
            <p:cNvSpPr/>
            <p:nvPr/>
          </p:nvSpPr>
          <p:spPr>
            <a:xfrm>
              <a:off x="11011472" y="7000875"/>
              <a:ext cx="56007" cy="66675"/>
            </a:xfrm>
            <a:custGeom>
              <a:avLst/>
              <a:gdLst/>
              <a:ahLst/>
              <a:cxnLst/>
              <a:rect l="0" t="0" r="r" b="b"/>
              <a:pathLst>
                <a:path w="5880" h="7000" fill="norm">
                  <a:moveTo>
                    <a:pt x="2940" y="0"/>
                  </a:moveTo>
                  <a:lnTo>
                    <a:pt x="0" y="7000"/>
                  </a:lnTo>
                  <a:lnTo>
                    <a:pt x="2940" y="4690"/>
                  </a:lnTo>
                  <a:lnTo>
                    <a:pt x="5880" y="700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0" name="Rectangle 1219"/>
            <p:cNvSpPr/>
            <p:nvPr/>
          </p:nvSpPr>
          <p:spPr>
            <a:xfrm>
              <a:off x="11639550" y="7000875"/>
              <a:ext cx="952" cy="276225"/>
            </a:xfrm>
            <a:custGeom>
              <a:avLst/>
              <a:gdLst/>
              <a:ahLst/>
              <a:cxnLst/>
              <a:rect l="0" t="0" r="r" b="b"/>
              <a:pathLst>
                <a:path w="100" h="29000" fill="none">
                  <a:moveTo>
                    <a:pt x="0" y="29000"/>
                  </a:moveTo>
                  <a:lnTo>
                    <a:pt x="0" y="0"/>
                  </a:lnTo>
                </a:path>
              </a:pathLst>
            </a:custGeom>
            <a:noFill/>
            <a:ln w="1047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1" name="Rectangle 1220"/>
            <p:cNvSpPr/>
            <p:nvPr/>
          </p:nvSpPr>
          <p:spPr>
            <a:xfrm>
              <a:off x="11611546" y="7000875"/>
              <a:ext cx="56007" cy="66675"/>
            </a:xfrm>
            <a:custGeom>
              <a:avLst/>
              <a:gdLst/>
              <a:ahLst/>
              <a:cxnLst/>
              <a:rect l="0" t="0" r="r" b="b"/>
              <a:pathLst>
                <a:path w="5880" h="7000" fill="norm">
                  <a:moveTo>
                    <a:pt x="2940" y="0"/>
                  </a:moveTo>
                  <a:lnTo>
                    <a:pt x="0" y="7000"/>
                  </a:lnTo>
                  <a:lnTo>
                    <a:pt x="2940" y="4690"/>
                  </a:lnTo>
                  <a:lnTo>
                    <a:pt x="5880" y="700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2" name="Text: α_{1}"/>
            <p:cNvSpPr txBox="1"/>
            <p:nvPr/>
          </p:nvSpPr>
          <p:spPr>
            <a:xfrm>
              <a:off x="10654674" y="6993255"/>
              <a:ext cx="236201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α</a:t>
              </a:r>
              <a:r>
                <a:rPr sz="1500" b="0" i="1" baseline="-2500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1223" name="Text: α_{2}"/>
            <p:cNvSpPr txBox="1"/>
            <p:nvPr/>
          </p:nvSpPr>
          <p:spPr>
            <a:xfrm>
              <a:off x="11311899" y="6993255"/>
              <a:ext cx="236201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α</a:t>
              </a:r>
              <a:r>
                <a:rPr sz="1500" b="0" i="1" baseline="-25000">
                  <a:solidFill>
                    <a:srgbClr val="111111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1224" name="Text: α_{3}"/>
            <p:cNvSpPr txBox="1"/>
            <p:nvPr/>
          </p:nvSpPr>
          <p:spPr>
            <a:xfrm>
              <a:off x="12150099" y="6993255"/>
              <a:ext cx="236201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α</a:t>
              </a:r>
              <a:r>
                <a:rPr sz="1500" b="0" i="1" baseline="-25000">
                  <a:solidFill>
                    <a:srgbClr val="111111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1225" name="Text: Mean"/>
            <p:cNvSpPr txBox="1"/>
            <p:nvPr/>
          </p:nvSpPr>
          <p:spPr>
            <a:xfrm>
              <a:off x="12649200" y="7012305"/>
              <a:ext cx="500416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Mean</a:t>
              </a:r>
            </a:p>
          </p:txBody>
        </p:sp>
        <p:sp>
          <p:nvSpPr>
            <p:cNvPr id="1226" name="Rectangle 1225"/>
            <p:cNvSpPr/>
            <p:nvPr/>
          </p:nvSpPr>
          <p:spPr>
            <a:xfrm>
              <a:off x="13049250" y="6924675"/>
              <a:ext cx="104775" cy="952"/>
            </a:xfrm>
            <a:custGeom>
              <a:avLst/>
              <a:gdLst/>
              <a:ahLst/>
              <a:cxnLst/>
              <a:rect l="0" t="0" r="r" b="b"/>
              <a:pathLst>
                <a:path w="11000" h="100" fill="none">
                  <a:moveTo>
                    <a:pt x="0" y="0"/>
                  </a:moveTo>
                  <a:lnTo>
                    <a:pt x="11000" y="0"/>
                  </a:lnTo>
                </a:path>
              </a:pathLst>
            </a:custGeom>
            <a:noFill/>
            <a:ln w="14287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7" name="Rectangle 1226"/>
            <p:cNvSpPr/>
            <p:nvPr/>
          </p:nvSpPr>
          <p:spPr>
            <a:xfrm>
              <a:off x="13089512" y="6903685"/>
              <a:ext cx="17364" cy="20990"/>
            </a:xfrm>
            <a:custGeom>
              <a:avLst/>
              <a:gdLst/>
              <a:ahLst/>
              <a:cxnLst/>
              <a:rect l="0" t="0" r="r" b="b"/>
              <a:pathLst>
                <a:path w="1823" h="2204" fill="none">
                  <a:moveTo>
                    <a:pt x="1823" y="2204"/>
                  </a:moveTo>
                  <a:lnTo>
                    <a:pt x="0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8" name="Rectangle 1227"/>
            <p:cNvSpPr/>
            <p:nvPr/>
          </p:nvSpPr>
          <p:spPr>
            <a:xfrm>
              <a:off x="13089512" y="6924675"/>
              <a:ext cx="17364" cy="20990"/>
            </a:xfrm>
            <a:custGeom>
              <a:avLst/>
              <a:gdLst/>
              <a:ahLst/>
              <a:cxnLst/>
              <a:rect l="0" t="0" r="r" b="b"/>
              <a:pathLst>
                <a:path w="1823" h="2204" fill="none">
                  <a:moveTo>
                    <a:pt x="1823" y="0"/>
                  </a:moveTo>
                  <a:lnTo>
                    <a:pt x="0" y="2204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9" name="Rectangle 1228"/>
            <p:cNvSpPr/>
            <p:nvPr/>
          </p:nvSpPr>
          <p:spPr>
            <a:xfrm>
              <a:off x="13117801" y="6903685"/>
              <a:ext cx="17364" cy="20990"/>
            </a:xfrm>
            <a:custGeom>
              <a:avLst/>
              <a:gdLst/>
              <a:ahLst/>
              <a:cxnLst/>
              <a:rect l="0" t="0" r="r" b="b"/>
              <a:pathLst>
                <a:path w="1823" h="2204" fill="none">
                  <a:moveTo>
                    <a:pt x="1823" y="2204"/>
                  </a:moveTo>
                  <a:lnTo>
                    <a:pt x="0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0" name="Rectangle 1229"/>
            <p:cNvSpPr/>
            <p:nvPr/>
          </p:nvSpPr>
          <p:spPr>
            <a:xfrm>
              <a:off x="13117801" y="6924675"/>
              <a:ext cx="17364" cy="20990"/>
            </a:xfrm>
            <a:custGeom>
              <a:avLst/>
              <a:gdLst/>
              <a:ahLst/>
              <a:cxnLst/>
              <a:rect l="0" t="0" r="r" b="b"/>
              <a:pathLst>
                <a:path w="1823" h="2204" fill="none">
                  <a:moveTo>
                    <a:pt x="1823" y="0"/>
                  </a:moveTo>
                  <a:lnTo>
                    <a:pt x="0" y="2204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1" name="Rectangle 1230"/>
            <p:cNvSpPr/>
            <p:nvPr/>
          </p:nvSpPr>
          <p:spPr>
            <a:xfrm>
              <a:off x="13049250" y="6924675"/>
              <a:ext cx="52388" cy="90738"/>
            </a:xfrm>
            <a:custGeom>
              <a:avLst/>
              <a:gdLst/>
              <a:ahLst/>
              <a:cxnLst/>
              <a:rect l="0" t="0" r="r" b="b"/>
              <a:pathLst>
                <a:path w="5500" h="9526" fill="none">
                  <a:moveTo>
                    <a:pt x="0" y="0"/>
                  </a:moveTo>
                  <a:lnTo>
                    <a:pt x="5500" y="9526"/>
                  </a:lnTo>
                </a:path>
              </a:pathLst>
            </a:custGeom>
            <a:noFill/>
            <a:ln w="14287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2" name="Rectangle 1231"/>
            <p:cNvSpPr/>
            <p:nvPr/>
          </p:nvSpPr>
          <p:spPr>
            <a:xfrm>
              <a:off x="13078063" y="6949048"/>
              <a:ext cx="9496" cy="25533"/>
            </a:xfrm>
            <a:custGeom>
              <a:avLst/>
              <a:gdLst/>
              <a:ahLst/>
              <a:cxnLst/>
              <a:rect l="0" t="0" r="r" b="b"/>
              <a:pathLst>
                <a:path w="997" h="2681" fill="none">
                  <a:moveTo>
                    <a:pt x="0" y="2681"/>
                  </a:moveTo>
                  <a:lnTo>
                    <a:pt x="997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3" name="Rectangle 1232"/>
            <p:cNvSpPr/>
            <p:nvPr/>
          </p:nvSpPr>
          <p:spPr>
            <a:xfrm>
              <a:off x="13051203" y="6970038"/>
              <a:ext cx="26860" cy="4543"/>
            </a:xfrm>
            <a:custGeom>
              <a:avLst/>
              <a:gdLst/>
              <a:ahLst/>
              <a:cxnLst/>
              <a:rect l="0" t="0" r="r" b="b"/>
              <a:pathLst>
                <a:path w="2820" h="477" fill="none">
                  <a:moveTo>
                    <a:pt x="2820" y="477"/>
                  </a:moveTo>
                  <a:lnTo>
                    <a:pt x="0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4" name="Rectangle 1233"/>
            <p:cNvSpPr/>
            <p:nvPr/>
          </p:nvSpPr>
          <p:spPr>
            <a:xfrm>
              <a:off x="13092208" y="6973547"/>
              <a:ext cx="9496" cy="25533"/>
            </a:xfrm>
            <a:custGeom>
              <a:avLst/>
              <a:gdLst/>
              <a:ahLst/>
              <a:cxnLst/>
              <a:rect l="0" t="0" r="r" b="b"/>
              <a:pathLst>
                <a:path w="997" h="2681" fill="none">
                  <a:moveTo>
                    <a:pt x="0" y="2681"/>
                  </a:moveTo>
                  <a:lnTo>
                    <a:pt x="997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5" name="Rectangle 1234"/>
            <p:cNvSpPr/>
            <p:nvPr/>
          </p:nvSpPr>
          <p:spPr>
            <a:xfrm>
              <a:off x="13065348" y="6994537"/>
              <a:ext cx="26860" cy="4543"/>
            </a:xfrm>
            <a:custGeom>
              <a:avLst/>
              <a:gdLst/>
              <a:ahLst/>
              <a:cxnLst/>
              <a:rect l="0" t="0" r="r" b="b"/>
              <a:pathLst>
                <a:path w="2820" h="477" fill="none">
                  <a:moveTo>
                    <a:pt x="2820" y="477"/>
                  </a:moveTo>
                  <a:lnTo>
                    <a:pt x="0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6" name="Rectangle 1235"/>
            <p:cNvSpPr/>
            <p:nvPr/>
          </p:nvSpPr>
          <p:spPr>
            <a:xfrm>
              <a:off x="12996862" y="6924675"/>
              <a:ext cx="52388" cy="90738"/>
            </a:xfrm>
            <a:custGeom>
              <a:avLst/>
              <a:gdLst/>
              <a:ahLst/>
              <a:cxnLst/>
              <a:rect l="0" t="0" r="r" b="b"/>
              <a:pathLst>
                <a:path w="5500" h="9526" fill="none">
                  <a:moveTo>
                    <a:pt x="5500" y="0"/>
                  </a:moveTo>
                  <a:lnTo>
                    <a:pt x="0" y="9526"/>
                  </a:lnTo>
                </a:path>
              </a:pathLst>
            </a:custGeom>
            <a:noFill/>
            <a:ln w="14287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7" name="Rectangle 1236"/>
            <p:cNvSpPr/>
            <p:nvPr/>
          </p:nvSpPr>
          <p:spPr>
            <a:xfrm>
              <a:off x="13020437" y="6970038"/>
              <a:ext cx="26860" cy="4543"/>
            </a:xfrm>
            <a:custGeom>
              <a:avLst/>
              <a:gdLst/>
              <a:ahLst/>
              <a:cxnLst/>
              <a:rect l="0" t="0" r="r" b="b"/>
              <a:pathLst>
                <a:path w="2820" h="477" fill="none">
                  <a:moveTo>
                    <a:pt x="0" y="477"/>
                  </a:moveTo>
                  <a:lnTo>
                    <a:pt x="2820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8" name="Rectangle 1237"/>
            <p:cNvSpPr/>
            <p:nvPr/>
          </p:nvSpPr>
          <p:spPr>
            <a:xfrm>
              <a:off x="13010941" y="6949048"/>
              <a:ext cx="9496" cy="25533"/>
            </a:xfrm>
            <a:custGeom>
              <a:avLst/>
              <a:gdLst/>
              <a:ahLst/>
              <a:cxnLst/>
              <a:rect l="0" t="0" r="r" b="b"/>
              <a:pathLst>
                <a:path w="997" h="2681" fill="none">
                  <a:moveTo>
                    <a:pt x="997" y="2681"/>
                  </a:moveTo>
                  <a:lnTo>
                    <a:pt x="0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9" name="Rectangle 1238"/>
            <p:cNvSpPr/>
            <p:nvPr/>
          </p:nvSpPr>
          <p:spPr>
            <a:xfrm>
              <a:off x="13006292" y="6994537"/>
              <a:ext cx="26860" cy="4543"/>
            </a:xfrm>
            <a:custGeom>
              <a:avLst/>
              <a:gdLst/>
              <a:ahLst/>
              <a:cxnLst/>
              <a:rect l="0" t="0" r="r" b="b"/>
              <a:pathLst>
                <a:path w="2820" h="477" fill="none">
                  <a:moveTo>
                    <a:pt x="0" y="477"/>
                  </a:moveTo>
                  <a:lnTo>
                    <a:pt x="2820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0" name="Rectangle 1239"/>
            <p:cNvSpPr/>
            <p:nvPr/>
          </p:nvSpPr>
          <p:spPr>
            <a:xfrm>
              <a:off x="12996797" y="6973547"/>
              <a:ext cx="9496" cy="25533"/>
            </a:xfrm>
            <a:custGeom>
              <a:avLst/>
              <a:gdLst/>
              <a:ahLst/>
              <a:cxnLst/>
              <a:rect l="0" t="0" r="r" b="b"/>
              <a:pathLst>
                <a:path w="997" h="2681" fill="none">
                  <a:moveTo>
                    <a:pt x="997" y="2681"/>
                  </a:moveTo>
                  <a:lnTo>
                    <a:pt x="0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1" name="Rectangle 1240"/>
            <p:cNvSpPr/>
            <p:nvPr/>
          </p:nvSpPr>
          <p:spPr>
            <a:xfrm>
              <a:off x="12944475" y="6924675"/>
              <a:ext cx="104775" cy="952"/>
            </a:xfrm>
            <a:custGeom>
              <a:avLst/>
              <a:gdLst/>
              <a:ahLst/>
              <a:cxnLst/>
              <a:rect l="0" t="0" r="r" b="b"/>
              <a:pathLst>
                <a:path w="11000" h="100" fill="none">
                  <a:moveTo>
                    <a:pt x="11000" y="0"/>
                  </a:moveTo>
                  <a:lnTo>
                    <a:pt x="0" y="0"/>
                  </a:lnTo>
                </a:path>
              </a:pathLst>
            </a:custGeom>
            <a:noFill/>
            <a:ln w="14287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2" name="Rectangle 1241"/>
            <p:cNvSpPr/>
            <p:nvPr/>
          </p:nvSpPr>
          <p:spPr>
            <a:xfrm>
              <a:off x="12991624" y="6924675"/>
              <a:ext cx="17364" cy="20990"/>
            </a:xfrm>
            <a:custGeom>
              <a:avLst/>
              <a:gdLst/>
              <a:ahLst/>
              <a:cxnLst/>
              <a:rect l="0" t="0" r="r" b="b"/>
              <a:pathLst>
                <a:path w="1823" h="2204" fill="none">
                  <a:moveTo>
                    <a:pt x="0" y="0"/>
                  </a:moveTo>
                  <a:lnTo>
                    <a:pt x="1823" y="2204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3" name="Rectangle 1242"/>
            <p:cNvSpPr/>
            <p:nvPr/>
          </p:nvSpPr>
          <p:spPr>
            <a:xfrm>
              <a:off x="12991624" y="6903685"/>
              <a:ext cx="17364" cy="20990"/>
            </a:xfrm>
            <a:custGeom>
              <a:avLst/>
              <a:gdLst/>
              <a:ahLst/>
              <a:cxnLst/>
              <a:rect l="0" t="0" r="r" b="b"/>
              <a:pathLst>
                <a:path w="1823" h="2204" fill="none">
                  <a:moveTo>
                    <a:pt x="0" y="2204"/>
                  </a:moveTo>
                  <a:lnTo>
                    <a:pt x="1823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4" name="Rectangle 1243"/>
            <p:cNvSpPr/>
            <p:nvPr/>
          </p:nvSpPr>
          <p:spPr>
            <a:xfrm>
              <a:off x="12963334" y="6924675"/>
              <a:ext cx="17364" cy="20990"/>
            </a:xfrm>
            <a:custGeom>
              <a:avLst/>
              <a:gdLst/>
              <a:ahLst/>
              <a:cxnLst/>
              <a:rect l="0" t="0" r="r" b="b"/>
              <a:pathLst>
                <a:path w="1823" h="2204" fill="none">
                  <a:moveTo>
                    <a:pt x="0" y="0"/>
                  </a:moveTo>
                  <a:lnTo>
                    <a:pt x="1823" y="2204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5" name="Rectangle 1244"/>
            <p:cNvSpPr/>
            <p:nvPr/>
          </p:nvSpPr>
          <p:spPr>
            <a:xfrm>
              <a:off x="12963334" y="6903685"/>
              <a:ext cx="17364" cy="20990"/>
            </a:xfrm>
            <a:custGeom>
              <a:avLst/>
              <a:gdLst/>
              <a:ahLst/>
              <a:cxnLst/>
              <a:rect l="0" t="0" r="r" b="b"/>
              <a:pathLst>
                <a:path w="1823" h="2204" fill="none">
                  <a:moveTo>
                    <a:pt x="0" y="2204"/>
                  </a:moveTo>
                  <a:lnTo>
                    <a:pt x="1823" y="0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6" name="Rectangle 1245"/>
            <p:cNvSpPr/>
            <p:nvPr/>
          </p:nvSpPr>
          <p:spPr>
            <a:xfrm>
              <a:off x="12996862" y="6833937"/>
              <a:ext cx="52388" cy="90738"/>
            </a:xfrm>
            <a:custGeom>
              <a:avLst/>
              <a:gdLst/>
              <a:ahLst/>
              <a:cxnLst/>
              <a:rect l="0" t="0" r="r" b="b"/>
              <a:pathLst>
                <a:path w="5500" h="9526" fill="none">
                  <a:moveTo>
                    <a:pt x="5500" y="9526"/>
                  </a:moveTo>
                  <a:lnTo>
                    <a:pt x="0" y="0"/>
                  </a:lnTo>
                </a:path>
              </a:pathLst>
            </a:custGeom>
            <a:noFill/>
            <a:ln w="14287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7" name="Rectangle 1246"/>
            <p:cNvSpPr/>
            <p:nvPr/>
          </p:nvSpPr>
          <p:spPr>
            <a:xfrm>
              <a:off x="13010941" y="6874769"/>
              <a:ext cx="9496" cy="25533"/>
            </a:xfrm>
            <a:custGeom>
              <a:avLst/>
              <a:gdLst/>
              <a:ahLst/>
              <a:cxnLst/>
              <a:rect l="0" t="0" r="r" b="b"/>
              <a:pathLst>
                <a:path w="997" h="2681" fill="none">
                  <a:moveTo>
                    <a:pt x="997" y="0"/>
                  </a:moveTo>
                  <a:lnTo>
                    <a:pt x="0" y="2681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8" name="Rectangle 1247"/>
            <p:cNvSpPr/>
            <p:nvPr/>
          </p:nvSpPr>
          <p:spPr>
            <a:xfrm>
              <a:off x="13020437" y="6874769"/>
              <a:ext cx="26860" cy="4543"/>
            </a:xfrm>
            <a:custGeom>
              <a:avLst/>
              <a:gdLst/>
              <a:ahLst/>
              <a:cxnLst/>
              <a:rect l="0" t="0" r="r" b="b"/>
              <a:pathLst>
                <a:path w="2820" h="477" fill="none">
                  <a:moveTo>
                    <a:pt x="0" y="0"/>
                  </a:moveTo>
                  <a:lnTo>
                    <a:pt x="2820" y="477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9" name="Rectangle 1248"/>
            <p:cNvSpPr/>
            <p:nvPr/>
          </p:nvSpPr>
          <p:spPr>
            <a:xfrm>
              <a:off x="12996797" y="6850270"/>
              <a:ext cx="9496" cy="25533"/>
            </a:xfrm>
            <a:custGeom>
              <a:avLst/>
              <a:gdLst/>
              <a:ahLst/>
              <a:cxnLst/>
              <a:rect l="0" t="0" r="r" b="b"/>
              <a:pathLst>
                <a:path w="997" h="2681" fill="none">
                  <a:moveTo>
                    <a:pt x="997" y="0"/>
                  </a:moveTo>
                  <a:lnTo>
                    <a:pt x="0" y="2681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0" name="Rectangle 1249"/>
            <p:cNvSpPr/>
            <p:nvPr/>
          </p:nvSpPr>
          <p:spPr>
            <a:xfrm>
              <a:off x="13006292" y="6850270"/>
              <a:ext cx="26860" cy="4543"/>
            </a:xfrm>
            <a:custGeom>
              <a:avLst/>
              <a:gdLst/>
              <a:ahLst/>
              <a:cxnLst/>
              <a:rect l="0" t="0" r="r" b="b"/>
              <a:pathLst>
                <a:path w="2820" h="477" fill="none">
                  <a:moveTo>
                    <a:pt x="0" y="0"/>
                  </a:moveTo>
                  <a:lnTo>
                    <a:pt x="2820" y="477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1" name="Rectangle 1250"/>
            <p:cNvSpPr/>
            <p:nvPr/>
          </p:nvSpPr>
          <p:spPr>
            <a:xfrm>
              <a:off x="13049250" y="6833937"/>
              <a:ext cx="52388" cy="90738"/>
            </a:xfrm>
            <a:custGeom>
              <a:avLst/>
              <a:gdLst/>
              <a:ahLst/>
              <a:cxnLst/>
              <a:rect l="0" t="0" r="r" b="b"/>
              <a:pathLst>
                <a:path w="5500" h="9526" fill="none">
                  <a:moveTo>
                    <a:pt x="0" y="9526"/>
                  </a:moveTo>
                  <a:lnTo>
                    <a:pt x="5500" y="0"/>
                  </a:lnTo>
                </a:path>
              </a:pathLst>
            </a:custGeom>
            <a:noFill/>
            <a:ln w="14287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2" name="Rectangle 1251"/>
            <p:cNvSpPr/>
            <p:nvPr/>
          </p:nvSpPr>
          <p:spPr>
            <a:xfrm>
              <a:off x="13051203" y="6874769"/>
              <a:ext cx="26860" cy="4543"/>
            </a:xfrm>
            <a:custGeom>
              <a:avLst/>
              <a:gdLst/>
              <a:ahLst/>
              <a:cxnLst/>
              <a:rect l="0" t="0" r="r" b="b"/>
              <a:pathLst>
                <a:path w="2820" h="477" fill="none">
                  <a:moveTo>
                    <a:pt x="2820" y="0"/>
                  </a:moveTo>
                  <a:lnTo>
                    <a:pt x="0" y="477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3" name="Rectangle 1252"/>
            <p:cNvSpPr/>
            <p:nvPr/>
          </p:nvSpPr>
          <p:spPr>
            <a:xfrm>
              <a:off x="13078063" y="6874769"/>
              <a:ext cx="9496" cy="25533"/>
            </a:xfrm>
            <a:custGeom>
              <a:avLst/>
              <a:gdLst/>
              <a:ahLst/>
              <a:cxnLst/>
              <a:rect l="0" t="0" r="r" b="b"/>
              <a:pathLst>
                <a:path w="997" h="2681" fill="none">
                  <a:moveTo>
                    <a:pt x="0" y="0"/>
                  </a:moveTo>
                  <a:lnTo>
                    <a:pt x="997" y="2681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4" name="Rectangle 1253"/>
            <p:cNvSpPr/>
            <p:nvPr/>
          </p:nvSpPr>
          <p:spPr>
            <a:xfrm>
              <a:off x="13065348" y="6850270"/>
              <a:ext cx="26860" cy="4543"/>
            </a:xfrm>
            <a:custGeom>
              <a:avLst/>
              <a:gdLst/>
              <a:ahLst/>
              <a:cxnLst/>
              <a:rect l="0" t="0" r="r" b="b"/>
              <a:pathLst>
                <a:path w="2820" h="477" fill="none">
                  <a:moveTo>
                    <a:pt x="2820" y="0"/>
                  </a:moveTo>
                  <a:lnTo>
                    <a:pt x="0" y="477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5" name="Rectangle 1254"/>
            <p:cNvSpPr/>
            <p:nvPr/>
          </p:nvSpPr>
          <p:spPr>
            <a:xfrm>
              <a:off x="13092208" y="6850270"/>
              <a:ext cx="9496" cy="25533"/>
            </a:xfrm>
            <a:custGeom>
              <a:avLst/>
              <a:gdLst/>
              <a:ahLst/>
              <a:cxnLst/>
              <a:rect l="0" t="0" r="r" b="b"/>
              <a:pathLst>
                <a:path w="997" h="2681" fill="none">
                  <a:moveTo>
                    <a:pt x="0" y="0"/>
                  </a:moveTo>
                  <a:lnTo>
                    <a:pt x="997" y="2681"/>
                  </a:lnTo>
                </a:path>
              </a:pathLst>
            </a:custGeom>
            <a:noFill/>
            <a:ln w="11906" cap="rnd">
              <a:solidFill>
                <a:srgbClr val="4AA6C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6" name="Rectangle 1255"/>
            <p:cNvSpPr/>
            <p:nvPr/>
          </p:nvSpPr>
          <p:spPr>
            <a:xfrm>
              <a:off x="13087350" y="6781800"/>
              <a:ext cx="304800" cy="952"/>
            </a:xfrm>
            <a:custGeom>
              <a:avLst/>
              <a:gdLst/>
              <a:ahLst/>
              <a:cxnLst/>
              <a:rect l="0" t="0" r="r" b="b"/>
              <a:pathLst>
                <a:path w="32000" h="100" fill="none">
                  <a:moveTo>
                    <a:pt x="0" y="0"/>
                  </a:moveTo>
                  <a:lnTo>
                    <a:pt x="3200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7" name="Rectangle 1256"/>
            <p:cNvSpPr/>
            <p:nvPr/>
          </p:nvSpPr>
          <p:spPr>
            <a:xfrm>
              <a:off x="13325475" y="6753796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7000" y="2940"/>
                  </a:moveTo>
                  <a:lnTo>
                    <a:pt x="0" y="0"/>
                  </a:lnTo>
                  <a:lnTo>
                    <a:pt x="2310" y="2940"/>
                  </a:lnTo>
                  <a:lnTo>
                    <a:pt x="0" y="588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8" name="Rectangle 1257"/>
            <p:cNvSpPr/>
            <p:nvPr/>
          </p:nvSpPr>
          <p:spPr>
            <a:xfrm>
              <a:off x="13458825" y="6600825"/>
              <a:ext cx="171450" cy="361950"/>
            </a:xfrm>
            <a:prstGeom prst="rect">
              <a:avLst/>
            </a:prstGeom>
            <a:solidFill>
              <a:srgbClr val="FFDD58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9" name="Rectangle 1258"/>
            <p:cNvSpPr/>
            <p:nvPr/>
          </p:nvSpPr>
          <p:spPr>
            <a:xfrm>
              <a:off x="13458825" y="6600825"/>
              <a:ext cx="171450" cy="171450"/>
            </a:xfrm>
            <a:prstGeom prst="rect">
              <a:avLst/>
            </a:prstGeom>
            <a:solidFill>
              <a:srgbClr val="FFFFFF"/>
            </a:solidFill>
            <a:ln w="6667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0" name="Text: e_{g}"/>
            <p:cNvSpPr txBox="1"/>
            <p:nvPr/>
          </p:nvSpPr>
          <p:spPr>
            <a:xfrm>
              <a:off x="13434170" y="6545580"/>
              <a:ext cx="220760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e</a:t>
              </a:r>
              <a:r>
                <a:rPr sz="1500" b="0" i="1" baseline="-25000">
                  <a:solidFill>
                    <a:srgbClr val="111111"/>
                  </a:solidFill>
                  <a:latin typeface="Liberation Serif"/>
                </a:rPr>
                <a:t>g</a:t>
              </a:r>
            </a:p>
          </p:txBody>
        </p:sp>
        <p:sp>
          <p:nvSpPr>
            <p:cNvPr id="1261" name="Oval 1260"/>
            <p:cNvSpPr/>
            <p:nvPr/>
          </p:nvSpPr>
          <p:spPr>
            <a:xfrm>
              <a:off x="13735050" y="6677025"/>
              <a:ext cx="190500" cy="190500"/>
            </a:xfrm>
            <a:prstGeom prst="ellipse">
              <a:avLst/>
            </a:prstGeom>
            <a:solidFill>
              <a:srgbClr val="FFFFFF"/>
            </a:solidFill>
            <a:ln w="10477" cap="rnd">
              <a:solidFill>
                <a:srgbClr val="2E536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2" name="Oval 1261"/>
            <p:cNvSpPr/>
            <p:nvPr/>
          </p:nvSpPr>
          <p:spPr>
            <a:xfrm>
              <a:off x="13816965" y="6758940"/>
              <a:ext cx="26670" cy="26670"/>
            </a:xfrm>
            <a:prstGeom prst="ellipse">
              <a:avLst/>
            </a:prstGeom>
            <a:solidFill>
              <a:srgbClr val="2E536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3" name="Rectangle 1262"/>
            <p:cNvSpPr/>
            <p:nvPr/>
          </p:nvSpPr>
          <p:spPr>
            <a:xfrm>
              <a:off x="14049375" y="6572250"/>
              <a:ext cx="138112" cy="138112"/>
            </a:xfrm>
            <a:prstGeom prst="rect">
              <a:avLst/>
            </a:prstGeom>
            <a:solidFill>
              <a:srgbClr val="FFE699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4" name="Rectangle 1263"/>
            <p:cNvSpPr/>
            <p:nvPr/>
          </p:nvSpPr>
          <p:spPr>
            <a:xfrm>
              <a:off x="14187488" y="6572250"/>
              <a:ext cx="138112" cy="138112"/>
            </a:xfrm>
            <a:prstGeom prst="rect">
              <a:avLst/>
            </a:prstGeom>
            <a:solidFill>
              <a:srgbClr val="F9CF44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5" name="Rectangle 1264"/>
            <p:cNvSpPr/>
            <p:nvPr/>
          </p:nvSpPr>
          <p:spPr>
            <a:xfrm>
              <a:off x="14325600" y="6572250"/>
              <a:ext cx="138112" cy="138112"/>
            </a:xfrm>
            <a:prstGeom prst="rect">
              <a:avLst/>
            </a:prstGeom>
            <a:solidFill>
              <a:srgbClr val="FFE59A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6" name="Rectangle 1265"/>
            <p:cNvSpPr/>
            <p:nvPr/>
          </p:nvSpPr>
          <p:spPr>
            <a:xfrm>
              <a:off x="14049375" y="6710362"/>
              <a:ext cx="138112" cy="138112"/>
            </a:xfrm>
            <a:prstGeom prst="rect">
              <a:avLst/>
            </a:prstGeom>
            <a:solidFill>
              <a:srgbClr val="FFE699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7" name="Rectangle 1266"/>
            <p:cNvSpPr/>
            <p:nvPr/>
          </p:nvSpPr>
          <p:spPr>
            <a:xfrm>
              <a:off x="14187488" y="6710362"/>
              <a:ext cx="138112" cy="138112"/>
            </a:xfrm>
            <a:prstGeom prst="rect">
              <a:avLst/>
            </a:prstGeom>
            <a:solidFill>
              <a:srgbClr val="FFD137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8" name="Rectangle 1267"/>
            <p:cNvSpPr/>
            <p:nvPr/>
          </p:nvSpPr>
          <p:spPr>
            <a:xfrm>
              <a:off x="14325600" y="6710362"/>
              <a:ext cx="138112" cy="138112"/>
            </a:xfrm>
            <a:prstGeom prst="rect">
              <a:avLst/>
            </a:prstGeom>
            <a:solidFill>
              <a:srgbClr val="FFD137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9" name="Rectangle 1268"/>
            <p:cNvSpPr/>
            <p:nvPr/>
          </p:nvSpPr>
          <p:spPr>
            <a:xfrm>
              <a:off x="14049375" y="6848475"/>
              <a:ext cx="138112" cy="138112"/>
            </a:xfrm>
            <a:prstGeom prst="rect">
              <a:avLst/>
            </a:prstGeom>
            <a:solidFill>
              <a:srgbClr val="FFD137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0" name="Rectangle 1269"/>
            <p:cNvSpPr/>
            <p:nvPr/>
          </p:nvSpPr>
          <p:spPr>
            <a:xfrm>
              <a:off x="14187488" y="6848475"/>
              <a:ext cx="138112" cy="138112"/>
            </a:xfrm>
            <a:prstGeom prst="rect">
              <a:avLst/>
            </a:prstGeom>
            <a:solidFill>
              <a:srgbClr val="FFD867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1" name="Rectangle 1270"/>
            <p:cNvSpPr/>
            <p:nvPr/>
          </p:nvSpPr>
          <p:spPr>
            <a:xfrm>
              <a:off x="14325600" y="6848475"/>
              <a:ext cx="138112" cy="138112"/>
            </a:xfrm>
            <a:prstGeom prst="rect">
              <a:avLst/>
            </a:prstGeom>
            <a:solidFill>
              <a:srgbClr val="FFE58A"/>
            </a:solidFill>
            <a:ln w="8096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2" name="Rectangle 1271"/>
            <p:cNvSpPr/>
            <p:nvPr/>
          </p:nvSpPr>
          <p:spPr>
            <a:xfrm>
              <a:off x="14338554" y="6734175"/>
              <a:ext cx="257747" cy="234315"/>
            </a:xfrm>
            <a:custGeom>
              <a:avLst/>
              <a:gdLst/>
              <a:ahLst/>
              <a:cxnLst/>
              <a:rect l="0" t="0" r="r" b="b"/>
              <a:pathLst>
                <a:path w="27060" h="24600" fill="norm">
                  <a:moveTo>
                    <a:pt x="9840" y="22140"/>
                  </a:moveTo>
                  <a:cubicBezTo>
                    <a:pt x="0" y="21320"/>
                    <a:pt x="1640" y="11480"/>
                    <a:pt x="6560" y="8200"/>
                  </a:cubicBezTo>
                  <a:cubicBezTo>
                    <a:pt x="5740" y="13120"/>
                    <a:pt x="9020" y="14760"/>
                    <a:pt x="9840" y="9840"/>
                  </a:cubicBezTo>
                  <a:cubicBezTo>
                    <a:pt x="10660" y="4920"/>
                    <a:pt x="13940" y="4920"/>
                    <a:pt x="11480" y="0"/>
                  </a:cubicBezTo>
                  <a:cubicBezTo>
                    <a:pt x="20500" y="4920"/>
                    <a:pt x="16400" y="10660"/>
                    <a:pt x="20500" y="12300"/>
                  </a:cubicBezTo>
                  <a:cubicBezTo>
                    <a:pt x="22140" y="10660"/>
                    <a:pt x="21320" y="8200"/>
                    <a:pt x="21320" y="7380"/>
                  </a:cubicBezTo>
                  <a:cubicBezTo>
                    <a:pt x="27060" y="16400"/>
                    <a:pt x="23780" y="22960"/>
                    <a:pt x="16400" y="23780"/>
                  </a:cubicBezTo>
                  <a:cubicBezTo>
                    <a:pt x="13940" y="24600"/>
                    <a:pt x="11480" y="23780"/>
                    <a:pt x="9840" y="22140"/>
                  </a:cubicBezTo>
                  <a:close/>
                </a:path>
              </a:pathLst>
            </a:custGeom>
            <a:solidFill>
              <a:srgbClr val="F8894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3" name="Rectangle 1272"/>
            <p:cNvSpPr/>
            <p:nvPr/>
          </p:nvSpPr>
          <p:spPr>
            <a:xfrm>
              <a:off x="14393228" y="6827901"/>
              <a:ext cx="164021" cy="132778"/>
            </a:xfrm>
            <a:custGeom>
              <a:avLst/>
              <a:gdLst/>
              <a:ahLst/>
              <a:cxnLst/>
              <a:rect l="0" t="0" r="r" b="b"/>
              <a:pathLst>
                <a:path w="17220" h="13940" fill="norm">
                  <a:moveTo>
                    <a:pt x="3280" y="10660"/>
                  </a:moveTo>
                  <a:cubicBezTo>
                    <a:pt x="0" y="5740"/>
                    <a:pt x="4100" y="2460"/>
                    <a:pt x="4100" y="820"/>
                  </a:cubicBezTo>
                  <a:cubicBezTo>
                    <a:pt x="4100" y="5740"/>
                    <a:pt x="7380" y="4920"/>
                    <a:pt x="8200" y="0"/>
                  </a:cubicBezTo>
                  <a:cubicBezTo>
                    <a:pt x="12300" y="3280"/>
                    <a:pt x="11480" y="8200"/>
                    <a:pt x="13940" y="7380"/>
                  </a:cubicBezTo>
                  <a:cubicBezTo>
                    <a:pt x="13940" y="4920"/>
                    <a:pt x="13940" y="4100"/>
                    <a:pt x="14760" y="4100"/>
                  </a:cubicBezTo>
                  <a:cubicBezTo>
                    <a:pt x="17220" y="10660"/>
                    <a:pt x="12300" y="13940"/>
                    <a:pt x="8200" y="13120"/>
                  </a:cubicBezTo>
                  <a:cubicBezTo>
                    <a:pt x="5740" y="13120"/>
                    <a:pt x="4100" y="12300"/>
                    <a:pt x="3280" y="10660"/>
                  </a:cubicBezTo>
                  <a:close/>
                </a:path>
              </a:pathLst>
            </a:custGeom>
            <a:solidFill>
              <a:srgbClr val="FFC56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4" name="Rectangle 1273"/>
            <p:cNvSpPr/>
            <p:nvPr/>
          </p:nvSpPr>
          <p:spPr>
            <a:xfrm>
              <a:off x="14440090" y="6874764"/>
              <a:ext cx="70295" cy="78105"/>
            </a:xfrm>
            <a:custGeom>
              <a:avLst/>
              <a:gdLst/>
              <a:ahLst/>
              <a:cxnLst/>
              <a:rect l="0" t="0" r="r" b="b"/>
              <a:pathLst>
                <a:path w="7380" h="8200" fill="norm">
                  <a:moveTo>
                    <a:pt x="1640" y="6560"/>
                  </a:moveTo>
                  <a:cubicBezTo>
                    <a:pt x="0" y="3280"/>
                    <a:pt x="3280" y="1640"/>
                    <a:pt x="3280" y="0"/>
                  </a:cubicBezTo>
                  <a:cubicBezTo>
                    <a:pt x="7380" y="4100"/>
                    <a:pt x="6560" y="7380"/>
                    <a:pt x="4100" y="8200"/>
                  </a:cubicBezTo>
                  <a:close/>
                </a:path>
              </a:pathLst>
            </a:custGeom>
            <a:solidFill>
              <a:srgbClr val="FFE2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5" name="Rectangle 1274"/>
            <p:cNvSpPr/>
            <p:nvPr/>
          </p:nvSpPr>
          <p:spPr>
            <a:xfrm>
              <a:off x="13792200" y="6981825"/>
              <a:ext cx="66675" cy="209550"/>
            </a:xfrm>
            <a:prstGeom prst="rect">
              <a:avLst/>
            </a:prstGeom>
            <a:solidFill>
              <a:srgbClr val="FFCA13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6" name="Text: v"/>
            <p:cNvSpPr txBox="1"/>
            <p:nvPr/>
          </p:nvSpPr>
          <p:spPr>
            <a:xfrm>
              <a:off x="13639800" y="6983730"/>
              <a:ext cx="151228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v</a:t>
              </a:r>
            </a:p>
          </p:txBody>
        </p:sp>
        <p:sp>
          <p:nvSpPr>
            <p:cNvPr id="1277" name="Rectangle 1276"/>
            <p:cNvSpPr/>
            <p:nvPr/>
          </p:nvSpPr>
          <p:spPr>
            <a:xfrm>
              <a:off x="13954125" y="7219950"/>
              <a:ext cx="238125" cy="57150"/>
            </a:xfrm>
            <a:prstGeom prst="rect">
              <a:avLst/>
            </a:prstGeom>
            <a:solidFill>
              <a:srgbClr val="FFCA13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8" name="Text: u"/>
            <p:cNvSpPr txBox="1"/>
            <p:nvPr/>
          </p:nvSpPr>
          <p:spPr>
            <a:xfrm>
              <a:off x="13792200" y="7136130"/>
              <a:ext cx="161925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u</a:t>
              </a:r>
            </a:p>
          </p:txBody>
        </p:sp>
        <p:sp>
          <p:nvSpPr>
            <p:cNvPr id="1279" name="Text: ×"/>
            <p:cNvSpPr txBox="1"/>
            <p:nvPr/>
          </p:nvSpPr>
          <p:spPr>
            <a:xfrm>
              <a:off x="13954125" y="6955536"/>
              <a:ext cx="195597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×</a:t>
              </a:r>
            </a:p>
          </p:txBody>
        </p:sp>
        <p:sp>
          <p:nvSpPr>
            <p:cNvPr id="1280" name="Rectangle 1279"/>
            <p:cNvSpPr/>
            <p:nvPr/>
          </p:nvSpPr>
          <p:spPr>
            <a:xfrm>
              <a:off x="14211300" y="6943725"/>
              <a:ext cx="390525" cy="323850"/>
            </a:xfrm>
            <a:custGeom>
              <a:avLst/>
              <a:gdLst/>
              <a:ahLst/>
              <a:cxnLst/>
              <a:rect l="0" t="0" r="r" b="b"/>
              <a:pathLst>
                <a:path w="41000" h="34000" fill="none">
                  <a:moveTo>
                    <a:pt x="25000" y="0"/>
                  </a:moveTo>
                  <a:cubicBezTo>
                    <a:pt x="41000" y="16000"/>
                    <a:pt x="16000" y="34000"/>
                    <a:pt x="0" y="32000"/>
                  </a:cubicBezTo>
                </a:path>
              </a:pathLst>
            </a:custGeom>
            <a:noFill/>
            <a:ln w="9525" cap="rnd">
              <a:solidFill>
                <a:srgbClr val="AAAAAA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1" name="Rectangle 1280"/>
            <p:cNvSpPr/>
            <p:nvPr/>
          </p:nvSpPr>
          <p:spPr>
            <a:xfrm>
              <a:off x="14211300" y="7229008"/>
              <a:ext cx="69634" cy="55575"/>
            </a:xfrm>
            <a:custGeom>
              <a:avLst/>
              <a:gdLst/>
              <a:ahLst/>
              <a:cxnLst/>
              <a:rect l="0" t="0" r="r" b="b"/>
              <a:pathLst>
                <a:path w="7311" h="5835" fill="norm">
                  <a:moveTo>
                    <a:pt x="0" y="2049"/>
                  </a:moveTo>
                  <a:lnTo>
                    <a:pt x="6581" y="5835"/>
                  </a:lnTo>
                  <a:lnTo>
                    <a:pt x="4654" y="2631"/>
                  </a:lnTo>
                  <a:lnTo>
                    <a:pt x="7311" y="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2" name="Rectangle 1281"/>
            <p:cNvSpPr/>
            <p:nvPr/>
          </p:nvSpPr>
          <p:spPr>
            <a:xfrm>
              <a:off x="13515975" y="6962775"/>
              <a:ext cx="266700" cy="266700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>
                  <a:moveTo>
                    <a:pt x="28000" y="28000"/>
                  </a:moveTo>
                  <a:cubicBezTo>
                    <a:pt x="13000" y="21000"/>
                    <a:pt x="3000" y="12000"/>
                    <a:pt x="0" y="0"/>
                  </a:cubicBezTo>
                </a:path>
              </a:pathLst>
            </a:custGeom>
            <a:noFill/>
            <a:ln w="9525" cap="rnd">
              <a:solidFill>
                <a:srgbClr val="AAAAAA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3" name="Rectangle 1282"/>
            <p:cNvSpPr/>
            <p:nvPr/>
          </p:nvSpPr>
          <p:spPr>
            <a:xfrm>
              <a:off x="13504979" y="6962775"/>
              <a:ext cx="54335" cy="71476"/>
            </a:xfrm>
            <a:custGeom>
              <a:avLst/>
              <a:gdLst/>
              <a:ahLst/>
              <a:cxnLst/>
              <a:rect l="0" t="0" r="r" b="b"/>
              <a:pathLst>
                <a:path w="5704" h="7504" fill="norm">
                  <a:moveTo>
                    <a:pt x="1154" y="0"/>
                  </a:moveTo>
                  <a:lnTo>
                    <a:pt x="0" y="7504"/>
                  </a:lnTo>
                  <a:lnTo>
                    <a:pt x="2292" y="4550"/>
                  </a:lnTo>
                  <a:lnTo>
                    <a:pt x="5704" y="6078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4" name="Rectangle 1283"/>
            <p:cNvSpPr/>
            <p:nvPr/>
          </p:nvSpPr>
          <p:spPr>
            <a:xfrm>
              <a:off x="14525625" y="6772275"/>
              <a:ext cx="390525" cy="952"/>
            </a:xfrm>
            <a:custGeom>
              <a:avLst/>
              <a:gdLst/>
              <a:ahLst/>
              <a:cxnLst/>
              <a:rect l="0" t="0" r="r" b="b"/>
              <a:pathLst>
                <a:path w="41000" h="100" fill="none">
                  <a:moveTo>
                    <a:pt x="0" y="0"/>
                  </a:moveTo>
                  <a:lnTo>
                    <a:pt x="4100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5" name="Rectangle 1284"/>
            <p:cNvSpPr/>
            <p:nvPr/>
          </p:nvSpPr>
          <p:spPr>
            <a:xfrm>
              <a:off x="14849475" y="6744271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7000" y="2940"/>
                  </a:moveTo>
                  <a:lnTo>
                    <a:pt x="0" y="0"/>
                  </a:lnTo>
                  <a:lnTo>
                    <a:pt x="2310" y="2940"/>
                  </a:lnTo>
                  <a:lnTo>
                    <a:pt x="0" y="588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6" name="Rectangle 1285"/>
            <p:cNvSpPr/>
            <p:nvPr/>
          </p:nvSpPr>
          <p:spPr>
            <a:xfrm>
              <a:off x="14963775" y="6572250"/>
              <a:ext cx="942975" cy="657225"/>
            </a:xfrm>
            <a:prstGeom prst="rect">
              <a:avLst/>
            </a:prstGeom>
            <a:noFill/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7" name="Rectangle 1286"/>
            <p:cNvSpPr/>
            <p:nvPr/>
          </p:nvSpPr>
          <p:spPr>
            <a:xfrm>
              <a:off x="15059025" y="6638925"/>
              <a:ext cx="161925" cy="53340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8" name="Rectangle 1287"/>
            <p:cNvSpPr/>
            <p:nvPr/>
          </p:nvSpPr>
          <p:spPr>
            <a:xfrm>
              <a:off x="15092362" y="6677025"/>
              <a:ext cx="95250" cy="95250"/>
            </a:xfrm>
            <a:prstGeom prst="rect">
              <a:avLst/>
            </a:prstGeom>
            <a:solidFill>
              <a:srgbClr val="D6DCE2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9" name="Rectangle 1288"/>
            <p:cNvSpPr/>
            <p:nvPr/>
          </p:nvSpPr>
          <p:spPr>
            <a:xfrm>
              <a:off x="15092362" y="6791325"/>
              <a:ext cx="95250" cy="95250"/>
            </a:xfrm>
            <a:prstGeom prst="rect">
              <a:avLst/>
            </a:prstGeom>
            <a:solidFill>
              <a:srgbClr val="BDC9D2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0" name="Rectangle 1289"/>
            <p:cNvSpPr/>
            <p:nvPr/>
          </p:nvSpPr>
          <p:spPr>
            <a:xfrm>
              <a:off x="15092362" y="7038975"/>
              <a:ext cx="95250" cy="95250"/>
            </a:xfrm>
            <a:prstGeom prst="rect">
              <a:avLst/>
            </a:prstGeom>
            <a:solidFill>
              <a:srgbClr val="94A9B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1" name="Oval 1290"/>
            <p:cNvSpPr/>
            <p:nvPr/>
          </p:nvSpPr>
          <p:spPr>
            <a:xfrm>
              <a:off x="15134272" y="69189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2" name="Oval 1291"/>
            <p:cNvSpPr/>
            <p:nvPr/>
          </p:nvSpPr>
          <p:spPr>
            <a:xfrm>
              <a:off x="15134272" y="69570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3" name="Oval 1292"/>
            <p:cNvSpPr/>
            <p:nvPr/>
          </p:nvSpPr>
          <p:spPr>
            <a:xfrm>
              <a:off x="15134272" y="69951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4" name="Rectangle 1293"/>
            <p:cNvSpPr/>
            <p:nvPr/>
          </p:nvSpPr>
          <p:spPr>
            <a:xfrm>
              <a:off x="15354300" y="6638925"/>
              <a:ext cx="161925" cy="53340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5" name="Rectangle 1294"/>
            <p:cNvSpPr/>
            <p:nvPr/>
          </p:nvSpPr>
          <p:spPr>
            <a:xfrm>
              <a:off x="15387638" y="6677025"/>
              <a:ext cx="95250" cy="95250"/>
            </a:xfrm>
            <a:prstGeom prst="rect">
              <a:avLst/>
            </a:prstGeom>
            <a:solidFill>
              <a:srgbClr val="D6DCE2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6" name="Rectangle 1295"/>
            <p:cNvSpPr/>
            <p:nvPr/>
          </p:nvSpPr>
          <p:spPr>
            <a:xfrm>
              <a:off x="15387638" y="6791325"/>
              <a:ext cx="95250" cy="95250"/>
            </a:xfrm>
            <a:prstGeom prst="rect">
              <a:avLst/>
            </a:prstGeom>
            <a:solidFill>
              <a:srgbClr val="BDC9D2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7" name="Rectangle 1296"/>
            <p:cNvSpPr/>
            <p:nvPr/>
          </p:nvSpPr>
          <p:spPr>
            <a:xfrm>
              <a:off x="15387638" y="7038975"/>
              <a:ext cx="95250" cy="95250"/>
            </a:xfrm>
            <a:prstGeom prst="rect">
              <a:avLst/>
            </a:prstGeom>
            <a:solidFill>
              <a:srgbClr val="94A9B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8" name="Oval 1297"/>
            <p:cNvSpPr/>
            <p:nvPr/>
          </p:nvSpPr>
          <p:spPr>
            <a:xfrm>
              <a:off x="15429548" y="69189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9" name="Oval 1298"/>
            <p:cNvSpPr/>
            <p:nvPr/>
          </p:nvSpPr>
          <p:spPr>
            <a:xfrm>
              <a:off x="15429548" y="69570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0" name="Oval 1299"/>
            <p:cNvSpPr/>
            <p:nvPr/>
          </p:nvSpPr>
          <p:spPr>
            <a:xfrm>
              <a:off x="15429548" y="69951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1" name="Rectangle 1300"/>
            <p:cNvSpPr/>
            <p:nvPr/>
          </p:nvSpPr>
          <p:spPr>
            <a:xfrm>
              <a:off x="15649575" y="6638925"/>
              <a:ext cx="161925" cy="53340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2" name="Rectangle 1301"/>
            <p:cNvSpPr/>
            <p:nvPr/>
          </p:nvSpPr>
          <p:spPr>
            <a:xfrm>
              <a:off x="15682912" y="6677025"/>
              <a:ext cx="95250" cy="95250"/>
            </a:xfrm>
            <a:prstGeom prst="rect">
              <a:avLst/>
            </a:prstGeom>
            <a:solidFill>
              <a:srgbClr val="FFF3C3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3" name="Rectangle 1302"/>
            <p:cNvSpPr/>
            <p:nvPr/>
          </p:nvSpPr>
          <p:spPr>
            <a:xfrm>
              <a:off x="15682912" y="6791325"/>
              <a:ext cx="95250" cy="95250"/>
            </a:xfrm>
            <a:prstGeom prst="rect">
              <a:avLst/>
            </a:prstGeom>
            <a:solidFill>
              <a:srgbClr val="FFF3C3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4" name="Rectangle 1303"/>
            <p:cNvSpPr/>
            <p:nvPr/>
          </p:nvSpPr>
          <p:spPr>
            <a:xfrm>
              <a:off x="15682912" y="7038975"/>
              <a:ext cx="95250" cy="95250"/>
            </a:xfrm>
            <a:prstGeom prst="rect">
              <a:avLst/>
            </a:prstGeom>
            <a:solidFill>
              <a:srgbClr val="FFE58A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5" name="Oval 1304"/>
            <p:cNvSpPr/>
            <p:nvPr/>
          </p:nvSpPr>
          <p:spPr>
            <a:xfrm>
              <a:off x="15724822" y="69189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6" name="Oval 1305"/>
            <p:cNvSpPr/>
            <p:nvPr/>
          </p:nvSpPr>
          <p:spPr>
            <a:xfrm>
              <a:off x="15724822" y="69570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7" name="Oval 1306"/>
            <p:cNvSpPr/>
            <p:nvPr/>
          </p:nvSpPr>
          <p:spPr>
            <a:xfrm>
              <a:off x="15724822" y="6995160"/>
              <a:ext cx="11430" cy="1143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8" name="Rectangle 1307"/>
            <p:cNvSpPr/>
            <p:nvPr/>
          </p:nvSpPr>
          <p:spPr>
            <a:xfrm>
              <a:off x="15916275" y="6905625"/>
              <a:ext cx="390525" cy="952"/>
            </a:xfrm>
            <a:custGeom>
              <a:avLst/>
              <a:gdLst/>
              <a:ahLst/>
              <a:cxnLst/>
              <a:rect l="0" t="0" r="r" b="b"/>
              <a:pathLst>
                <a:path w="41000" h="100" fill="none">
                  <a:moveTo>
                    <a:pt x="0" y="0"/>
                  </a:moveTo>
                  <a:lnTo>
                    <a:pt x="4100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9" name="Rectangle 1308"/>
            <p:cNvSpPr/>
            <p:nvPr/>
          </p:nvSpPr>
          <p:spPr>
            <a:xfrm>
              <a:off x="16240125" y="6877621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7000" y="2940"/>
                  </a:moveTo>
                  <a:lnTo>
                    <a:pt x="0" y="0"/>
                  </a:lnTo>
                  <a:lnTo>
                    <a:pt x="2310" y="2940"/>
                  </a:lnTo>
                  <a:lnTo>
                    <a:pt x="0" y="588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0" name="Rectangle 1309"/>
            <p:cNvSpPr/>
            <p:nvPr/>
          </p:nvSpPr>
          <p:spPr>
            <a:xfrm>
              <a:off x="16325850" y="6029325"/>
              <a:ext cx="1647825" cy="342900"/>
            </a:xfrm>
            <a:prstGeom prst="rect">
              <a:avLst/>
            </a:prstGeom>
            <a:noFill/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1" name="Rounded Rectangle 1310"/>
            <p:cNvSpPr/>
            <p:nvPr/>
          </p:nvSpPr>
          <p:spPr>
            <a:xfrm>
              <a:off x="16373475" y="6086475"/>
              <a:ext cx="123825" cy="247650"/>
            </a:xfrm>
            <a:prstGeom prst="roundRect">
              <a:avLst>
                <a:gd name="adj" fmla="val 50000"/>
              </a:avLst>
            </a:prstGeom>
            <a:solidFill>
              <a:srgbClr val="BBD2F1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2" name="Text: *"/>
            <p:cNvSpPr txBox="1"/>
            <p:nvPr/>
          </p:nvSpPr>
          <p:spPr>
            <a:xfrm>
              <a:off x="16344900" y="6053328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*</a:t>
              </a:r>
            </a:p>
          </p:txBody>
        </p:sp>
        <p:sp>
          <p:nvSpPr>
            <p:cNvPr id="1313" name="Rounded Rectangle 1312"/>
            <p:cNvSpPr/>
            <p:nvPr/>
          </p:nvSpPr>
          <p:spPr>
            <a:xfrm>
              <a:off x="16516350" y="6086475"/>
              <a:ext cx="152400" cy="247650"/>
            </a:xfrm>
            <a:prstGeom prst="roundRect">
              <a:avLst>
                <a:gd name="adj" fmla="val 43750"/>
              </a:avLst>
            </a:prstGeom>
            <a:solidFill>
              <a:srgbClr val="BBD2F1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4" name="Text: 0"/>
            <p:cNvSpPr txBox="1"/>
            <p:nvPr/>
          </p:nvSpPr>
          <p:spPr>
            <a:xfrm>
              <a:off x="16502062" y="6053328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1315" name="Rounded Rectangle 1314"/>
            <p:cNvSpPr/>
            <p:nvPr/>
          </p:nvSpPr>
          <p:spPr>
            <a:xfrm>
              <a:off x="16687800" y="6086475"/>
              <a:ext cx="123825" cy="247650"/>
            </a:xfrm>
            <a:prstGeom prst="roundRect">
              <a:avLst>
                <a:gd name="adj" fmla="val 50000"/>
              </a:avLst>
            </a:prstGeom>
            <a:solidFill>
              <a:srgbClr val="BBD2F1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6" name="Text: *"/>
            <p:cNvSpPr txBox="1"/>
            <p:nvPr/>
          </p:nvSpPr>
          <p:spPr>
            <a:xfrm>
              <a:off x="16659225" y="6053328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*</a:t>
              </a:r>
            </a:p>
          </p:txBody>
        </p:sp>
        <p:sp>
          <p:nvSpPr>
            <p:cNvPr id="1317" name="Rounded Rectangle 1316"/>
            <p:cNvSpPr/>
            <p:nvPr/>
          </p:nvSpPr>
          <p:spPr>
            <a:xfrm>
              <a:off x="16830675" y="6086475"/>
              <a:ext cx="152400" cy="247650"/>
            </a:xfrm>
            <a:prstGeom prst="roundRect">
              <a:avLst>
                <a:gd name="adj" fmla="val 43750"/>
              </a:avLst>
            </a:prstGeom>
            <a:solidFill>
              <a:srgbClr val="BBD2F1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8" name="Text: 1"/>
            <p:cNvSpPr txBox="1"/>
            <p:nvPr/>
          </p:nvSpPr>
          <p:spPr>
            <a:xfrm>
              <a:off x="16816388" y="6053328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1319" name="Rounded Rectangle 1318"/>
            <p:cNvSpPr/>
            <p:nvPr/>
          </p:nvSpPr>
          <p:spPr>
            <a:xfrm>
              <a:off x="17002125" y="6086475"/>
              <a:ext cx="123825" cy="247650"/>
            </a:xfrm>
            <a:prstGeom prst="roundRect">
              <a:avLst>
                <a:gd name="adj" fmla="val 50000"/>
              </a:avLst>
            </a:prstGeom>
            <a:solidFill>
              <a:srgbClr val="BBD2F1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0" name="Text: *"/>
            <p:cNvSpPr txBox="1"/>
            <p:nvPr/>
          </p:nvSpPr>
          <p:spPr>
            <a:xfrm>
              <a:off x="16973550" y="6053328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*</a:t>
              </a:r>
            </a:p>
          </p:txBody>
        </p:sp>
        <p:sp>
          <p:nvSpPr>
            <p:cNvPr id="1321" name="Rounded Rectangle 1320"/>
            <p:cNvSpPr/>
            <p:nvPr/>
          </p:nvSpPr>
          <p:spPr>
            <a:xfrm>
              <a:off x="17145000" y="6086475"/>
              <a:ext cx="152400" cy="247650"/>
            </a:xfrm>
            <a:prstGeom prst="roundRect">
              <a:avLst>
                <a:gd name="adj" fmla="val 43750"/>
              </a:avLst>
            </a:prstGeom>
            <a:solidFill>
              <a:srgbClr val="BBD2F1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2" name="Text: 2"/>
            <p:cNvSpPr txBox="1"/>
            <p:nvPr/>
          </p:nvSpPr>
          <p:spPr>
            <a:xfrm>
              <a:off x="17130712" y="6053328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1323" name="Text: ···"/>
            <p:cNvSpPr txBox="1"/>
            <p:nvPr/>
          </p:nvSpPr>
          <p:spPr>
            <a:xfrm>
              <a:off x="17278434" y="6081617"/>
              <a:ext cx="266533" cy="30003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75" b="0" i="0">
                  <a:solidFill>
                    <a:srgbClr val="111111"/>
                  </a:solidFill>
                  <a:latin typeface="Liberation Serif"/>
                </a:rPr>
                <a:t>···</a:t>
              </a:r>
            </a:p>
          </p:txBody>
        </p:sp>
        <p:sp>
          <p:nvSpPr>
            <p:cNvPr id="1324" name="Rounded Rectangle 1323"/>
            <p:cNvSpPr/>
            <p:nvPr/>
          </p:nvSpPr>
          <p:spPr>
            <a:xfrm>
              <a:off x="17564100" y="6086475"/>
              <a:ext cx="123825" cy="247650"/>
            </a:xfrm>
            <a:prstGeom prst="roundRect">
              <a:avLst>
                <a:gd name="adj" fmla="val 50000"/>
              </a:avLst>
            </a:prstGeom>
            <a:solidFill>
              <a:srgbClr val="BBD2F1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5" name="Text: *"/>
            <p:cNvSpPr txBox="1"/>
            <p:nvPr/>
          </p:nvSpPr>
          <p:spPr>
            <a:xfrm>
              <a:off x="17535525" y="6053328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*</a:t>
              </a:r>
            </a:p>
          </p:txBody>
        </p:sp>
        <p:sp>
          <p:nvSpPr>
            <p:cNvPr id="1326" name="Rounded Rectangle 1325"/>
            <p:cNvSpPr/>
            <p:nvPr/>
          </p:nvSpPr>
          <p:spPr>
            <a:xfrm>
              <a:off x="17706975" y="6086475"/>
              <a:ext cx="152400" cy="247650"/>
            </a:xfrm>
            <a:prstGeom prst="roundRect">
              <a:avLst>
                <a:gd name="adj" fmla="val 43750"/>
              </a:avLst>
            </a:prstGeom>
            <a:solidFill>
              <a:srgbClr val="BBD2F1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7" name="Text: L"/>
            <p:cNvSpPr txBox="1"/>
            <p:nvPr/>
          </p:nvSpPr>
          <p:spPr>
            <a:xfrm>
              <a:off x="17680019" y="6053328"/>
              <a:ext cx="206313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L</a:t>
              </a:r>
            </a:p>
          </p:txBody>
        </p:sp>
        <p:sp>
          <p:nvSpPr>
            <p:cNvPr id="1328" name="Text: Spatio-Temporal Tokens"/>
            <p:cNvSpPr txBox="1"/>
            <p:nvPr/>
          </p:nvSpPr>
          <p:spPr>
            <a:xfrm>
              <a:off x="16196118" y="6412230"/>
              <a:ext cx="1935863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Spatio-Temporal Tokens</a:t>
              </a:r>
            </a:p>
          </p:txBody>
        </p:sp>
        <p:sp>
          <p:nvSpPr>
            <p:cNvPr id="1329" name="Rectangle 1328"/>
            <p:cNvSpPr/>
            <p:nvPr/>
          </p:nvSpPr>
          <p:spPr>
            <a:xfrm>
              <a:off x="16325850" y="6743700"/>
              <a:ext cx="1647825" cy="333375"/>
            </a:xfrm>
            <a:prstGeom prst="rect">
              <a:avLst/>
            </a:prstGeom>
            <a:noFill/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0" name="Rounded Rectangle 1329"/>
            <p:cNvSpPr/>
            <p:nvPr/>
          </p:nvSpPr>
          <p:spPr>
            <a:xfrm>
              <a:off x="16373475" y="6800850"/>
              <a:ext cx="123825" cy="238125"/>
            </a:xfrm>
            <a:prstGeom prst="roundRect">
              <a:avLst>
                <a:gd name="adj" fmla="val 50000"/>
              </a:avLst>
            </a:prstGeom>
            <a:solidFill>
              <a:srgbClr val="C4CDD7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1" name="Text: *"/>
            <p:cNvSpPr txBox="1"/>
            <p:nvPr/>
          </p:nvSpPr>
          <p:spPr>
            <a:xfrm>
              <a:off x="16344900" y="6760274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*</a:t>
              </a:r>
            </a:p>
          </p:txBody>
        </p:sp>
        <p:sp>
          <p:nvSpPr>
            <p:cNvPr id="1332" name="Rounded Rectangle 1331"/>
            <p:cNvSpPr/>
            <p:nvPr/>
          </p:nvSpPr>
          <p:spPr>
            <a:xfrm>
              <a:off x="16516350" y="6800850"/>
              <a:ext cx="152400" cy="238125"/>
            </a:xfrm>
            <a:prstGeom prst="roundRect">
              <a:avLst>
                <a:gd name="adj" fmla="val 43750"/>
              </a:avLst>
            </a:prstGeom>
            <a:solidFill>
              <a:srgbClr val="C4CDD7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3" name="Text: 0"/>
            <p:cNvSpPr txBox="1"/>
            <p:nvPr/>
          </p:nvSpPr>
          <p:spPr>
            <a:xfrm>
              <a:off x="16502062" y="6760274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1334" name="Rounded Rectangle 1333"/>
            <p:cNvSpPr/>
            <p:nvPr/>
          </p:nvSpPr>
          <p:spPr>
            <a:xfrm>
              <a:off x="16687800" y="6800850"/>
              <a:ext cx="123825" cy="238125"/>
            </a:xfrm>
            <a:prstGeom prst="roundRect">
              <a:avLst>
                <a:gd name="adj" fmla="val 50000"/>
              </a:avLst>
            </a:prstGeom>
            <a:solidFill>
              <a:srgbClr val="C4CDD7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5" name="Text: *"/>
            <p:cNvSpPr txBox="1"/>
            <p:nvPr/>
          </p:nvSpPr>
          <p:spPr>
            <a:xfrm>
              <a:off x="16659225" y="6760274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*</a:t>
              </a:r>
            </a:p>
          </p:txBody>
        </p:sp>
        <p:sp>
          <p:nvSpPr>
            <p:cNvPr id="1336" name="Rounded Rectangle 1335"/>
            <p:cNvSpPr/>
            <p:nvPr/>
          </p:nvSpPr>
          <p:spPr>
            <a:xfrm>
              <a:off x="16830675" y="6800850"/>
              <a:ext cx="152400" cy="238125"/>
            </a:xfrm>
            <a:prstGeom prst="roundRect">
              <a:avLst>
                <a:gd name="adj" fmla="val 43750"/>
              </a:avLst>
            </a:prstGeom>
            <a:solidFill>
              <a:srgbClr val="C4CDD7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7" name="Text: 1"/>
            <p:cNvSpPr txBox="1"/>
            <p:nvPr/>
          </p:nvSpPr>
          <p:spPr>
            <a:xfrm>
              <a:off x="16816388" y="6760274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1338" name="Rounded Rectangle 1337"/>
            <p:cNvSpPr/>
            <p:nvPr/>
          </p:nvSpPr>
          <p:spPr>
            <a:xfrm>
              <a:off x="17002125" y="6800850"/>
              <a:ext cx="123825" cy="238125"/>
            </a:xfrm>
            <a:prstGeom prst="roundRect">
              <a:avLst>
                <a:gd name="adj" fmla="val 50000"/>
              </a:avLst>
            </a:prstGeom>
            <a:solidFill>
              <a:srgbClr val="FFECAA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9" name="Text: *"/>
            <p:cNvSpPr txBox="1"/>
            <p:nvPr/>
          </p:nvSpPr>
          <p:spPr>
            <a:xfrm>
              <a:off x="16973550" y="6760274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*</a:t>
              </a:r>
            </a:p>
          </p:txBody>
        </p:sp>
        <p:sp>
          <p:nvSpPr>
            <p:cNvPr id="1340" name="Rounded Rectangle 1339"/>
            <p:cNvSpPr/>
            <p:nvPr/>
          </p:nvSpPr>
          <p:spPr>
            <a:xfrm>
              <a:off x="17145000" y="6800850"/>
              <a:ext cx="152400" cy="238125"/>
            </a:xfrm>
            <a:prstGeom prst="roundRect">
              <a:avLst>
                <a:gd name="adj" fmla="val 43750"/>
              </a:avLst>
            </a:prstGeom>
            <a:solidFill>
              <a:srgbClr val="FFECAA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1" name="Text: 2"/>
            <p:cNvSpPr txBox="1"/>
            <p:nvPr/>
          </p:nvSpPr>
          <p:spPr>
            <a:xfrm>
              <a:off x="17130712" y="6760274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1342" name="Text: ···"/>
            <p:cNvSpPr txBox="1"/>
            <p:nvPr/>
          </p:nvSpPr>
          <p:spPr>
            <a:xfrm>
              <a:off x="17278434" y="6788563"/>
              <a:ext cx="266533" cy="30003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75" b="0" i="0">
                  <a:solidFill>
                    <a:srgbClr val="111111"/>
                  </a:solidFill>
                  <a:latin typeface="Liberation Serif"/>
                </a:rPr>
                <a:t>···</a:t>
              </a:r>
            </a:p>
          </p:txBody>
        </p:sp>
        <p:sp>
          <p:nvSpPr>
            <p:cNvPr id="1343" name="Rounded Rectangle 1342"/>
            <p:cNvSpPr/>
            <p:nvPr/>
          </p:nvSpPr>
          <p:spPr>
            <a:xfrm>
              <a:off x="17564100" y="6800850"/>
              <a:ext cx="123825" cy="238125"/>
            </a:xfrm>
            <a:prstGeom prst="roundRect">
              <a:avLst>
                <a:gd name="adj" fmla="val 50000"/>
              </a:avLst>
            </a:prstGeom>
            <a:solidFill>
              <a:srgbClr val="FFECAA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4" name="Text: *"/>
            <p:cNvSpPr txBox="1"/>
            <p:nvPr/>
          </p:nvSpPr>
          <p:spPr>
            <a:xfrm>
              <a:off x="17535525" y="6760274"/>
              <a:ext cx="180975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*</a:t>
              </a:r>
            </a:p>
          </p:txBody>
        </p:sp>
        <p:sp>
          <p:nvSpPr>
            <p:cNvPr id="1345" name="Rounded Rectangle 1344"/>
            <p:cNvSpPr/>
            <p:nvPr/>
          </p:nvSpPr>
          <p:spPr>
            <a:xfrm>
              <a:off x="17706975" y="6800850"/>
              <a:ext cx="152400" cy="238125"/>
            </a:xfrm>
            <a:prstGeom prst="roundRect">
              <a:avLst>
                <a:gd name="adj" fmla="val 43750"/>
              </a:avLst>
            </a:prstGeom>
            <a:solidFill>
              <a:srgbClr val="FFECAA"/>
            </a:solidFill>
            <a:ln w="9525" cap="rnd">
              <a:solidFill>
                <a:srgbClr val="32577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6" name="Text: L"/>
            <p:cNvSpPr txBox="1"/>
            <p:nvPr/>
          </p:nvSpPr>
          <p:spPr>
            <a:xfrm>
              <a:off x="17680019" y="6760274"/>
              <a:ext cx="206313" cy="3429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11111"/>
                  </a:solidFill>
                  <a:latin typeface="Liberation Serif"/>
                </a:rPr>
                <a:t>L</a:t>
              </a:r>
            </a:p>
          </p:txBody>
        </p:sp>
        <p:sp>
          <p:nvSpPr>
            <p:cNvPr id="1347" name="Text: Domain Prompt Tokens"/>
            <p:cNvSpPr txBox="1"/>
            <p:nvPr/>
          </p:nvSpPr>
          <p:spPr>
            <a:xfrm>
              <a:off x="16185598" y="7098030"/>
              <a:ext cx="1880704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Domain Prompt Tokens</a:t>
              </a:r>
            </a:p>
          </p:txBody>
        </p:sp>
        <p:sp>
          <p:nvSpPr>
            <p:cNvPr id="1348" name="Rectangle 1347"/>
            <p:cNvSpPr/>
            <p:nvPr/>
          </p:nvSpPr>
          <p:spPr>
            <a:xfrm>
              <a:off x="17983200" y="6200775"/>
              <a:ext cx="247650" cy="704850"/>
            </a:xfrm>
            <a:custGeom>
              <a:avLst/>
              <a:gdLst/>
              <a:ahLst/>
              <a:cxnLst/>
              <a:rect l="0" t="0" r="r" b="b"/>
              <a:pathLst>
                <a:path w="26000" h="74000" fill="none">
                  <a:moveTo>
                    <a:pt x="0" y="0"/>
                  </a:moveTo>
                  <a:lnTo>
                    <a:pt x="26000" y="0"/>
                  </a:lnTo>
                  <a:lnTo>
                    <a:pt x="26000" y="74000"/>
                  </a:lnTo>
                  <a:lnTo>
                    <a:pt x="0" y="74000"/>
                  </a:lnTo>
                </a:path>
              </a:pathLst>
            </a:custGeom>
            <a:noFill/>
            <a:ln w="9525" cap="rnd">
              <a:solidFill>
                <a:srgbClr val="929292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42" name="07_Continual_Memory_Replay"/>
          <p:cNvGrpSpPr/>
          <p:nvPr/>
        </p:nvGrpSpPr>
        <p:grpSpPr>
          <a:xfrm>
            <a:off x="9077325" y="7572375"/>
            <a:ext cx="9210675" cy="1809750"/>
            <a:chOff x="9077325" y="7572375"/>
            <a:chExt cx="9210675" cy="1809750"/>
          </a:xfrm>
        </p:grpSpPr>
        <p:sp>
          <p:nvSpPr>
            <p:cNvPr id="1350" name="Rectangle 1349"/>
            <p:cNvSpPr/>
            <p:nvPr/>
          </p:nvSpPr>
          <p:spPr>
            <a:xfrm>
              <a:off x="9077325" y="7572375"/>
              <a:ext cx="9210675" cy="1809750"/>
            </a:xfrm>
            <a:prstGeom prst="rect">
              <a:avLst/>
            </a:prstGeom>
            <a:solidFill>
              <a:srgbClr val="FFEFE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1" name="Text: Continual Memory Replay (CMR)"/>
            <p:cNvSpPr txBox="1"/>
            <p:nvPr/>
          </p:nvSpPr>
          <p:spPr>
            <a:xfrm>
              <a:off x="11837361" y="7651052"/>
              <a:ext cx="3719178" cy="3714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950" b="1" i="0">
                  <a:solidFill>
                    <a:srgbClr val="111111"/>
                  </a:solidFill>
                  <a:latin typeface="Liberation Serif"/>
                </a:rPr>
                <a:t>Continual Memory Replay (CMR)</a:t>
              </a:r>
            </a:p>
          </p:txBody>
        </p:sp>
        <p:sp>
          <p:nvSpPr>
            <p:cNvPr id="1352" name="Rectangle 1351"/>
            <p:cNvSpPr/>
            <p:nvPr/>
          </p:nvSpPr>
          <p:spPr>
            <a:xfrm>
              <a:off x="9353550" y="8039100"/>
              <a:ext cx="895350" cy="466725"/>
            </a:xfrm>
            <a:prstGeom prst="rect">
              <a:avLst/>
            </a:prstGeom>
            <a:noFill/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3" name="Rectangle 1352"/>
            <p:cNvSpPr/>
            <p:nvPr/>
          </p:nvSpPr>
          <p:spPr>
            <a:xfrm>
              <a:off x="9439275" y="8096250"/>
              <a:ext cx="152400" cy="3619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4" name="Rectangle 1353"/>
            <p:cNvSpPr/>
            <p:nvPr/>
          </p:nvSpPr>
          <p:spPr>
            <a:xfrm>
              <a:off x="9467850" y="8124825"/>
              <a:ext cx="95250" cy="95250"/>
            </a:xfrm>
            <a:prstGeom prst="rect">
              <a:avLst/>
            </a:prstGeom>
            <a:solidFill>
              <a:srgbClr val="80A7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5" name="Rectangle 1354"/>
            <p:cNvSpPr/>
            <p:nvPr/>
          </p:nvSpPr>
          <p:spPr>
            <a:xfrm>
              <a:off x="9467850" y="8226425"/>
              <a:ext cx="95250" cy="95250"/>
            </a:xfrm>
            <a:prstGeom prst="rect">
              <a:avLst/>
            </a:prstGeom>
            <a:solidFill>
              <a:srgbClr val="80A7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6" name="Rectangle 1355"/>
            <p:cNvSpPr/>
            <p:nvPr/>
          </p:nvSpPr>
          <p:spPr>
            <a:xfrm>
              <a:off x="9467850" y="8328025"/>
              <a:ext cx="95250" cy="95250"/>
            </a:xfrm>
            <a:prstGeom prst="rect">
              <a:avLst/>
            </a:prstGeom>
            <a:solidFill>
              <a:srgbClr val="80A7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7" name="Rectangle 1356"/>
            <p:cNvSpPr/>
            <p:nvPr/>
          </p:nvSpPr>
          <p:spPr>
            <a:xfrm>
              <a:off x="9715500" y="8096250"/>
              <a:ext cx="152400" cy="3619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8" name="Rectangle 1357"/>
            <p:cNvSpPr/>
            <p:nvPr/>
          </p:nvSpPr>
          <p:spPr>
            <a:xfrm>
              <a:off x="9744075" y="8124825"/>
              <a:ext cx="95250" cy="95250"/>
            </a:xfrm>
            <a:prstGeom prst="rect">
              <a:avLst/>
            </a:prstGeom>
            <a:solidFill>
              <a:srgbClr val="80A7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9" name="Rectangle 1358"/>
            <p:cNvSpPr/>
            <p:nvPr/>
          </p:nvSpPr>
          <p:spPr>
            <a:xfrm>
              <a:off x="9744075" y="8226425"/>
              <a:ext cx="95250" cy="95250"/>
            </a:xfrm>
            <a:prstGeom prst="rect">
              <a:avLst/>
            </a:prstGeom>
            <a:solidFill>
              <a:srgbClr val="80A7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0" name="Rectangle 1359"/>
            <p:cNvSpPr/>
            <p:nvPr/>
          </p:nvSpPr>
          <p:spPr>
            <a:xfrm>
              <a:off x="9744075" y="8328025"/>
              <a:ext cx="95250" cy="95250"/>
            </a:xfrm>
            <a:prstGeom prst="rect">
              <a:avLst/>
            </a:prstGeom>
            <a:solidFill>
              <a:srgbClr val="80A7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1" name="Rectangle 1360"/>
            <p:cNvSpPr/>
            <p:nvPr/>
          </p:nvSpPr>
          <p:spPr>
            <a:xfrm>
              <a:off x="9991725" y="8096250"/>
              <a:ext cx="152400" cy="3619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2" name="Rectangle 1361"/>
            <p:cNvSpPr/>
            <p:nvPr/>
          </p:nvSpPr>
          <p:spPr>
            <a:xfrm>
              <a:off x="10020300" y="8124825"/>
              <a:ext cx="95250" cy="95250"/>
            </a:xfrm>
            <a:prstGeom prst="rect">
              <a:avLst/>
            </a:prstGeom>
            <a:solidFill>
              <a:srgbClr val="80A7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3" name="Rectangle 1362"/>
            <p:cNvSpPr/>
            <p:nvPr/>
          </p:nvSpPr>
          <p:spPr>
            <a:xfrm>
              <a:off x="10020300" y="8226425"/>
              <a:ext cx="95250" cy="95250"/>
            </a:xfrm>
            <a:prstGeom prst="rect">
              <a:avLst/>
            </a:prstGeom>
            <a:solidFill>
              <a:srgbClr val="80A7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4" name="Rectangle 1363"/>
            <p:cNvSpPr/>
            <p:nvPr/>
          </p:nvSpPr>
          <p:spPr>
            <a:xfrm>
              <a:off x="10020300" y="8328025"/>
              <a:ext cx="95250" cy="95250"/>
            </a:xfrm>
            <a:prstGeom prst="rect">
              <a:avLst/>
            </a:prstGeom>
            <a:solidFill>
              <a:srgbClr val="80A7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5" name="Rectangle 1364"/>
            <p:cNvSpPr/>
            <p:nvPr/>
          </p:nvSpPr>
          <p:spPr>
            <a:xfrm>
              <a:off x="10458450" y="8096250"/>
              <a:ext cx="3762375" cy="409575"/>
            </a:xfrm>
            <a:prstGeom prst="rect">
              <a:avLst/>
            </a:prstGeom>
            <a:solidFill>
              <a:srgbClr val="FFFFFF"/>
            </a:solidFill>
            <a:ln w="7620" cap="rnd">
              <a:solidFill>
                <a:srgbClr val="A8A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6" name="Rectangle 1365"/>
            <p:cNvSpPr/>
            <p:nvPr/>
          </p:nvSpPr>
          <p:spPr>
            <a:xfrm>
              <a:off x="10467975" y="8105775"/>
              <a:ext cx="381000" cy="390525"/>
            </a:xfrm>
            <a:prstGeom prst="rect">
              <a:avLst/>
            </a:prstGeom>
            <a:solidFill>
              <a:srgbClr val="F3F5F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7" name="Rectangle 1366"/>
            <p:cNvSpPr/>
            <p:nvPr/>
          </p:nvSpPr>
          <p:spPr>
            <a:xfrm>
              <a:off x="10848975" y="8105775"/>
              <a:ext cx="295275" cy="390525"/>
            </a:xfrm>
            <a:prstGeom prst="rect">
              <a:avLst/>
            </a:prstGeom>
            <a:solidFill>
              <a:srgbClr val="F3F5F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8" name="Rectangle 1367"/>
            <p:cNvSpPr/>
            <p:nvPr/>
          </p:nvSpPr>
          <p:spPr>
            <a:xfrm>
              <a:off x="11458575" y="8105775"/>
              <a:ext cx="466725" cy="390525"/>
            </a:xfrm>
            <a:prstGeom prst="rect">
              <a:avLst/>
            </a:prstGeom>
            <a:solidFill>
              <a:srgbClr val="F3F5F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9" name="Rectangle 1368"/>
            <p:cNvSpPr/>
            <p:nvPr/>
          </p:nvSpPr>
          <p:spPr>
            <a:xfrm>
              <a:off x="12382500" y="8105775"/>
              <a:ext cx="447675" cy="390525"/>
            </a:xfrm>
            <a:prstGeom prst="rect">
              <a:avLst/>
            </a:prstGeom>
            <a:solidFill>
              <a:srgbClr val="F3F5F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0" name="Rectangle 1369"/>
            <p:cNvSpPr/>
            <p:nvPr/>
          </p:nvSpPr>
          <p:spPr>
            <a:xfrm>
              <a:off x="13487400" y="8105775"/>
              <a:ext cx="409575" cy="390525"/>
            </a:xfrm>
            <a:prstGeom prst="rect">
              <a:avLst/>
            </a:prstGeom>
            <a:solidFill>
              <a:srgbClr val="F3F5F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1" name="Rectangle 1370"/>
            <p:cNvSpPr/>
            <p:nvPr/>
          </p:nvSpPr>
          <p:spPr>
            <a:xfrm>
              <a:off x="10496550" y="8115300"/>
              <a:ext cx="3686175" cy="361950"/>
            </a:xfrm>
            <a:custGeom>
              <a:avLst/>
              <a:gdLst/>
              <a:ahLst/>
              <a:cxnLst/>
              <a:rect l="0" t="0" r="r" b="b"/>
              <a:pathLst>
                <a:path w="387000" h="38000" fill="none">
                  <a:moveTo>
                    <a:pt x="0" y="24000"/>
                  </a:moveTo>
                  <a:lnTo>
                    <a:pt x="1000" y="22500"/>
                  </a:lnTo>
                  <a:lnTo>
                    <a:pt x="2000" y="20000"/>
                  </a:lnTo>
                  <a:lnTo>
                    <a:pt x="3000" y="21000"/>
                  </a:lnTo>
                  <a:lnTo>
                    <a:pt x="4000" y="17000"/>
                  </a:lnTo>
                  <a:lnTo>
                    <a:pt x="5000" y="18000"/>
                  </a:lnTo>
                  <a:lnTo>
                    <a:pt x="6000" y="18500"/>
                  </a:lnTo>
                  <a:lnTo>
                    <a:pt x="7000" y="21000"/>
                  </a:lnTo>
                  <a:lnTo>
                    <a:pt x="8000" y="24000"/>
                  </a:lnTo>
                  <a:lnTo>
                    <a:pt x="9000" y="24500"/>
                  </a:lnTo>
                  <a:lnTo>
                    <a:pt x="10000" y="23000"/>
                  </a:lnTo>
                  <a:lnTo>
                    <a:pt x="11000" y="20500"/>
                  </a:lnTo>
                  <a:lnTo>
                    <a:pt x="12000" y="19500"/>
                  </a:lnTo>
                  <a:lnTo>
                    <a:pt x="13000" y="18000"/>
                  </a:lnTo>
                  <a:lnTo>
                    <a:pt x="14000" y="21000"/>
                  </a:lnTo>
                  <a:lnTo>
                    <a:pt x="15000" y="21000"/>
                  </a:lnTo>
                  <a:lnTo>
                    <a:pt x="16000" y="19500"/>
                  </a:lnTo>
                  <a:lnTo>
                    <a:pt x="17000" y="20000"/>
                  </a:lnTo>
                  <a:lnTo>
                    <a:pt x="18000" y="20500"/>
                  </a:lnTo>
                  <a:lnTo>
                    <a:pt x="19000" y="23000"/>
                  </a:lnTo>
                  <a:lnTo>
                    <a:pt x="20000" y="22500"/>
                  </a:lnTo>
                  <a:lnTo>
                    <a:pt x="21000" y="23500"/>
                  </a:lnTo>
                  <a:lnTo>
                    <a:pt x="22000" y="12000"/>
                  </a:lnTo>
                  <a:lnTo>
                    <a:pt x="23000" y="19000"/>
                  </a:lnTo>
                  <a:lnTo>
                    <a:pt x="24000" y="20500"/>
                  </a:lnTo>
                  <a:lnTo>
                    <a:pt x="25000" y="21000"/>
                  </a:lnTo>
                  <a:lnTo>
                    <a:pt x="26000" y="2500"/>
                  </a:lnTo>
                  <a:lnTo>
                    <a:pt x="27000" y="6000"/>
                  </a:lnTo>
                  <a:lnTo>
                    <a:pt x="28000" y="21500"/>
                  </a:lnTo>
                  <a:lnTo>
                    <a:pt x="29000" y="21500"/>
                  </a:lnTo>
                  <a:lnTo>
                    <a:pt x="30000" y="12500"/>
                  </a:lnTo>
                  <a:lnTo>
                    <a:pt x="31000" y="15500"/>
                  </a:lnTo>
                  <a:lnTo>
                    <a:pt x="32000" y="18000"/>
                  </a:lnTo>
                  <a:lnTo>
                    <a:pt x="33000" y="22500"/>
                  </a:lnTo>
                  <a:lnTo>
                    <a:pt x="34000" y="23000"/>
                  </a:lnTo>
                  <a:lnTo>
                    <a:pt x="35000" y="23500"/>
                  </a:lnTo>
                  <a:lnTo>
                    <a:pt x="36000" y="26000"/>
                  </a:lnTo>
                  <a:lnTo>
                    <a:pt x="37000" y="27500"/>
                  </a:lnTo>
                  <a:lnTo>
                    <a:pt x="38000" y="24500"/>
                  </a:lnTo>
                  <a:lnTo>
                    <a:pt x="39000" y="25000"/>
                  </a:lnTo>
                  <a:lnTo>
                    <a:pt x="40000" y="25000"/>
                  </a:lnTo>
                  <a:lnTo>
                    <a:pt x="41000" y="36500"/>
                  </a:lnTo>
                  <a:lnTo>
                    <a:pt x="42000" y="38000"/>
                  </a:lnTo>
                  <a:moveTo>
                    <a:pt x="46000" y="38000"/>
                  </a:moveTo>
                  <a:lnTo>
                    <a:pt x="47000" y="32000"/>
                  </a:lnTo>
                  <a:lnTo>
                    <a:pt x="48000" y="21500"/>
                  </a:lnTo>
                  <a:lnTo>
                    <a:pt x="49000" y="22000"/>
                  </a:lnTo>
                  <a:lnTo>
                    <a:pt x="50000" y="22500"/>
                  </a:lnTo>
                  <a:lnTo>
                    <a:pt x="51000" y="28000"/>
                  </a:lnTo>
                  <a:lnTo>
                    <a:pt x="52000" y="27000"/>
                  </a:lnTo>
                  <a:lnTo>
                    <a:pt x="53000" y="25000"/>
                  </a:lnTo>
                  <a:lnTo>
                    <a:pt x="54000" y="21000"/>
                  </a:lnTo>
                  <a:lnTo>
                    <a:pt x="55000" y="18000"/>
                  </a:lnTo>
                  <a:lnTo>
                    <a:pt x="56000" y="20000"/>
                  </a:lnTo>
                  <a:lnTo>
                    <a:pt x="57000" y="19500"/>
                  </a:lnTo>
                  <a:lnTo>
                    <a:pt x="58000" y="19000"/>
                  </a:lnTo>
                  <a:lnTo>
                    <a:pt x="59000" y="17500"/>
                  </a:lnTo>
                  <a:lnTo>
                    <a:pt x="60000" y="20000"/>
                  </a:lnTo>
                  <a:lnTo>
                    <a:pt x="61000" y="23000"/>
                  </a:lnTo>
                  <a:lnTo>
                    <a:pt x="62000" y="23500"/>
                  </a:lnTo>
                  <a:lnTo>
                    <a:pt x="63000" y="28500"/>
                  </a:lnTo>
                  <a:lnTo>
                    <a:pt x="64000" y="31000"/>
                  </a:lnTo>
                  <a:lnTo>
                    <a:pt x="65000" y="26500"/>
                  </a:lnTo>
                  <a:lnTo>
                    <a:pt x="66000" y="24000"/>
                  </a:lnTo>
                  <a:lnTo>
                    <a:pt x="67000" y="24000"/>
                  </a:lnTo>
                  <a:lnTo>
                    <a:pt x="68000" y="27500"/>
                  </a:lnTo>
                  <a:lnTo>
                    <a:pt x="69000" y="26500"/>
                  </a:lnTo>
                  <a:lnTo>
                    <a:pt x="70000" y="23500"/>
                  </a:lnTo>
                  <a:lnTo>
                    <a:pt x="71000" y="22000"/>
                  </a:lnTo>
                  <a:lnTo>
                    <a:pt x="72000" y="21500"/>
                  </a:lnTo>
                  <a:lnTo>
                    <a:pt x="73000" y="20000"/>
                  </a:lnTo>
                  <a:lnTo>
                    <a:pt x="74000" y="17000"/>
                  </a:lnTo>
                  <a:lnTo>
                    <a:pt x="75000" y="17000"/>
                  </a:lnTo>
                  <a:lnTo>
                    <a:pt x="76000" y="19000"/>
                  </a:lnTo>
                  <a:lnTo>
                    <a:pt x="77000" y="21000"/>
                  </a:lnTo>
                  <a:lnTo>
                    <a:pt x="78000" y="22500"/>
                  </a:lnTo>
                  <a:lnTo>
                    <a:pt x="79000" y="23500"/>
                  </a:lnTo>
                  <a:lnTo>
                    <a:pt x="80000" y="31000"/>
                  </a:lnTo>
                  <a:lnTo>
                    <a:pt x="81000" y="23000"/>
                  </a:lnTo>
                  <a:lnTo>
                    <a:pt x="82000" y="16000"/>
                  </a:lnTo>
                  <a:lnTo>
                    <a:pt x="83000" y="23000"/>
                  </a:lnTo>
                  <a:lnTo>
                    <a:pt x="84000" y="25000"/>
                  </a:lnTo>
                  <a:lnTo>
                    <a:pt x="85000" y="28000"/>
                  </a:lnTo>
                  <a:lnTo>
                    <a:pt x="86000" y="25000"/>
                  </a:lnTo>
                  <a:lnTo>
                    <a:pt x="87000" y="22000"/>
                  </a:lnTo>
                  <a:lnTo>
                    <a:pt x="88000" y="18000"/>
                  </a:lnTo>
                  <a:lnTo>
                    <a:pt x="89000" y="20000"/>
                  </a:lnTo>
                  <a:lnTo>
                    <a:pt x="90000" y="7000"/>
                  </a:lnTo>
                  <a:lnTo>
                    <a:pt x="91000" y="5000"/>
                  </a:lnTo>
                  <a:lnTo>
                    <a:pt x="92000" y="22000"/>
                  </a:lnTo>
                  <a:lnTo>
                    <a:pt x="93000" y="21500"/>
                  </a:lnTo>
                  <a:lnTo>
                    <a:pt x="94000" y="19000"/>
                  </a:lnTo>
                  <a:lnTo>
                    <a:pt x="95000" y="3000"/>
                  </a:lnTo>
                  <a:lnTo>
                    <a:pt x="96000" y="5000"/>
                  </a:lnTo>
                  <a:lnTo>
                    <a:pt x="97000" y="7000"/>
                  </a:lnTo>
                  <a:lnTo>
                    <a:pt x="98000" y="10500"/>
                  </a:lnTo>
                  <a:lnTo>
                    <a:pt x="99000" y="13500"/>
                  </a:lnTo>
                  <a:lnTo>
                    <a:pt x="100000" y="18000"/>
                  </a:lnTo>
                  <a:lnTo>
                    <a:pt x="101000" y="21500"/>
                  </a:lnTo>
                  <a:lnTo>
                    <a:pt x="102000" y="25500"/>
                  </a:lnTo>
                  <a:lnTo>
                    <a:pt x="103000" y="29000"/>
                  </a:lnTo>
                  <a:lnTo>
                    <a:pt x="104000" y="32500"/>
                  </a:lnTo>
                  <a:lnTo>
                    <a:pt x="105000" y="35500"/>
                  </a:lnTo>
                  <a:lnTo>
                    <a:pt x="106000" y="37000"/>
                  </a:lnTo>
                  <a:moveTo>
                    <a:pt x="111000" y="37000"/>
                  </a:moveTo>
                  <a:lnTo>
                    <a:pt x="112000" y="35000"/>
                  </a:lnTo>
                  <a:lnTo>
                    <a:pt x="113000" y="31500"/>
                  </a:lnTo>
                  <a:lnTo>
                    <a:pt x="114000" y="28500"/>
                  </a:lnTo>
                  <a:lnTo>
                    <a:pt x="115000" y="24500"/>
                  </a:lnTo>
                  <a:lnTo>
                    <a:pt x="116000" y="21500"/>
                  </a:lnTo>
                  <a:lnTo>
                    <a:pt x="117000" y="19000"/>
                  </a:lnTo>
                  <a:lnTo>
                    <a:pt x="118000" y="18000"/>
                  </a:lnTo>
                  <a:lnTo>
                    <a:pt x="119000" y="17000"/>
                  </a:lnTo>
                  <a:lnTo>
                    <a:pt x="120000" y="17500"/>
                  </a:lnTo>
                  <a:lnTo>
                    <a:pt x="121000" y="18000"/>
                  </a:lnTo>
                  <a:lnTo>
                    <a:pt x="122000" y="19500"/>
                  </a:lnTo>
                  <a:lnTo>
                    <a:pt x="123000" y="21000"/>
                  </a:lnTo>
                  <a:lnTo>
                    <a:pt x="124000" y="22500"/>
                  </a:lnTo>
                  <a:lnTo>
                    <a:pt x="125000" y="24500"/>
                  </a:lnTo>
                  <a:lnTo>
                    <a:pt x="126000" y="26500"/>
                  </a:lnTo>
                  <a:lnTo>
                    <a:pt x="127000" y="27500"/>
                  </a:lnTo>
                  <a:lnTo>
                    <a:pt x="128000" y="29500"/>
                  </a:lnTo>
                  <a:lnTo>
                    <a:pt x="129000" y="31000"/>
                  </a:lnTo>
                  <a:lnTo>
                    <a:pt x="130000" y="31000"/>
                  </a:lnTo>
                  <a:lnTo>
                    <a:pt x="131000" y="29500"/>
                  </a:lnTo>
                  <a:lnTo>
                    <a:pt x="132000" y="23500"/>
                  </a:lnTo>
                  <a:lnTo>
                    <a:pt x="133000" y="18500"/>
                  </a:lnTo>
                  <a:lnTo>
                    <a:pt x="134000" y="12500"/>
                  </a:lnTo>
                  <a:lnTo>
                    <a:pt x="135000" y="10000"/>
                  </a:lnTo>
                  <a:lnTo>
                    <a:pt x="136000" y="9500"/>
                  </a:lnTo>
                  <a:lnTo>
                    <a:pt x="137000" y="10000"/>
                  </a:lnTo>
                  <a:lnTo>
                    <a:pt x="138000" y="10500"/>
                  </a:lnTo>
                  <a:lnTo>
                    <a:pt x="139000" y="11000"/>
                  </a:lnTo>
                  <a:lnTo>
                    <a:pt x="140000" y="12000"/>
                  </a:lnTo>
                  <a:lnTo>
                    <a:pt x="141000" y="13000"/>
                  </a:lnTo>
                  <a:lnTo>
                    <a:pt x="142000" y="14000"/>
                  </a:lnTo>
                  <a:lnTo>
                    <a:pt x="143000" y="15000"/>
                  </a:lnTo>
                  <a:lnTo>
                    <a:pt x="144000" y="16000"/>
                  </a:lnTo>
                  <a:lnTo>
                    <a:pt x="145000" y="18000"/>
                  </a:lnTo>
                  <a:lnTo>
                    <a:pt x="146000" y="19000"/>
                  </a:lnTo>
                  <a:lnTo>
                    <a:pt x="147000" y="20000"/>
                  </a:lnTo>
                  <a:lnTo>
                    <a:pt x="148000" y="21000"/>
                  </a:lnTo>
                  <a:lnTo>
                    <a:pt x="149000" y="22000"/>
                  </a:lnTo>
                  <a:lnTo>
                    <a:pt x="150000" y="22500"/>
                  </a:lnTo>
                  <a:lnTo>
                    <a:pt x="151000" y="23000"/>
                  </a:lnTo>
                  <a:lnTo>
                    <a:pt x="152000" y="23500"/>
                  </a:lnTo>
                  <a:lnTo>
                    <a:pt x="153000" y="23000"/>
                  </a:lnTo>
                  <a:lnTo>
                    <a:pt x="154000" y="21500"/>
                  </a:lnTo>
                  <a:lnTo>
                    <a:pt x="155000" y="19500"/>
                  </a:lnTo>
                  <a:lnTo>
                    <a:pt x="156000" y="17000"/>
                  </a:lnTo>
                  <a:lnTo>
                    <a:pt x="157000" y="15000"/>
                  </a:lnTo>
                  <a:lnTo>
                    <a:pt x="158000" y="13000"/>
                  </a:lnTo>
                  <a:lnTo>
                    <a:pt x="159000" y="12500"/>
                  </a:lnTo>
                  <a:lnTo>
                    <a:pt x="160000" y="13000"/>
                  </a:lnTo>
                  <a:lnTo>
                    <a:pt x="161000" y="15000"/>
                  </a:lnTo>
                  <a:lnTo>
                    <a:pt x="162000" y="17000"/>
                  </a:lnTo>
                  <a:lnTo>
                    <a:pt x="163000" y="19500"/>
                  </a:lnTo>
                  <a:lnTo>
                    <a:pt x="164000" y="22000"/>
                  </a:lnTo>
                  <a:lnTo>
                    <a:pt x="165000" y="24500"/>
                  </a:lnTo>
                  <a:lnTo>
                    <a:pt x="166000" y="27000"/>
                  </a:lnTo>
                  <a:lnTo>
                    <a:pt x="167000" y="28000"/>
                  </a:lnTo>
                  <a:lnTo>
                    <a:pt x="168000" y="29500"/>
                  </a:lnTo>
                  <a:lnTo>
                    <a:pt x="169000" y="30000"/>
                  </a:lnTo>
                  <a:lnTo>
                    <a:pt x="170000" y="29500"/>
                  </a:lnTo>
                  <a:lnTo>
                    <a:pt x="171000" y="28500"/>
                  </a:lnTo>
                  <a:lnTo>
                    <a:pt x="172000" y="27000"/>
                  </a:lnTo>
                  <a:lnTo>
                    <a:pt x="173000" y="25000"/>
                  </a:lnTo>
                  <a:lnTo>
                    <a:pt x="174000" y="22000"/>
                  </a:lnTo>
                  <a:lnTo>
                    <a:pt x="175000" y="19500"/>
                  </a:lnTo>
                  <a:lnTo>
                    <a:pt x="176000" y="16500"/>
                  </a:lnTo>
                  <a:lnTo>
                    <a:pt x="177000" y="13500"/>
                  </a:lnTo>
                  <a:lnTo>
                    <a:pt x="178000" y="11000"/>
                  </a:lnTo>
                  <a:lnTo>
                    <a:pt x="179000" y="8000"/>
                  </a:lnTo>
                  <a:lnTo>
                    <a:pt x="180000" y="5500"/>
                  </a:lnTo>
                  <a:lnTo>
                    <a:pt x="181000" y="3500"/>
                  </a:lnTo>
                  <a:lnTo>
                    <a:pt x="182000" y="2000"/>
                  </a:lnTo>
                  <a:lnTo>
                    <a:pt x="183000" y="1500"/>
                  </a:lnTo>
                  <a:lnTo>
                    <a:pt x="184000" y="2500"/>
                  </a:lnTo>
                  <a:lnTo>
                    <a:pt x="185000" y="5000"/>
                  </a:lnTo>
                  <a:lnTo>
                    <a:pt x="186000" y="9500"/>
                  </a:lnTo>
                  <a:lnTo>
                    <a:pt x="187000" y="16000"/>
                  </a:lnTo>
                  <a:lnTo>
                    <a:pt x="188000" y="20500"/>
                  </a:lnTo>
                  <a:lnTo>
                    <a:pt x="189000" y="24500"/>
                  </a:lnTo>
                  <a:lnTo>
                    <a:pt x="190000" y="27000"/>
                  </a:lnTo>
                  <a:lnTo>
                    <a:pt x="191000" y="27000"/>
                  </a:lnTo>
                  <a:lnTo>
                    <a:pt x="192000" y="26500"/>
                  </a:lnTo>
                  <a:lnTo>
                    <a:pt x="194000" y="24000"/>
                  </a:lnTo>
                  <a:lnTo>
                    <a:pt x="195000" y="21000"/>
                  </a:lnTo>
                  <a:lnTo>
                    <a:pt x="196000" y="19500"/>
                  </a:lnTo>
                  <a:lnTo>
                    <a:pt x="197000" y="17000"/>
                  </a:lnTo>
                  <a:lnTo>
                    <a:pt x="198000" y="16500"/>
                  </a:lnTo>
                  <a:lnTo>
                    <a:pt x="199000" y="16500"/>
                  </a:lnTo>
                  <a:lnTo>
                    <a:pt x="200000" y="17000"/>
                  </a:lnTo>
                  <a:lnTo>
                    <a:pt x="201000" y="17500"/>
                  </a:lnTo>
                  <a:lnTo>
                    <a:pt x="204000" y="24000"/>
                  </a:lnTo>
                  <a:lnTo>
                    <a:pt x="205000" y="28000"/>
                  </a:lnTo>
                  <a:lnTo>
                    <a:pt x="206000" y="30500"/>
                  </a:lnTo>
                  <a:lnTo>
                    <a:pt x="207000" y="32500"/>
                  </a:lnTo>
                  <a:lnTo>
                    <a:pt x="208000" y="35000"/>
                  </a:lnTo>
                  <a:lnTo>
                    <a:pt x="209000" y="37000"/>
                  </a:lnTo>
                  <a:lnTo>
                    <a:pt x="212000" y="37000"/>
                  </a:lnTo>
                  <a:lnTo>
                    <a:pt x="213000" y="29000"/>
                  </a:lnTo>
                  <a:lnTo>
                    <a:pt x="214000" y="14000"/>
                  </a:lnTo>
                  <a:lnTo>
                    <a:pt x="215000" y="8500"/>
                  </a:lnTo>
                  <a:lnTo>
                    <a:pt x="216000" y="4500"/>
                  </a:lnTo>
                  <a:lnTo>
                    <a:pt x="217000" y="4500"/>
                  </a:lnTo>
                  <a:lnTo>
                    <a:pt x="218000" y="5500"/>
                  </a:lnTo>
                  <a:lnTo>
                    <a:pt x="219000" y="7000"/>
                  </a:lnTo>
                  <a:lnTo>
                    <a:pt x="220000" y="9000"/>
                  </a:lnTo>
                  <a:lnTo>
                    <a:pt x="221000" y="11000"/>
                  </a:lnTo>
                  <a:lnTo>
                    <a:pt x="222000" y="13000"/>
                  </a:lnTo>
                  <a:lnTo>
                    <a:pt x="223000" y="15500"/>
                  </a:lnTo>
                  <a:lnTo>
                    <a:pt x="224000" y="17000"/>
                  </a:lnTo>
                  <a:lnTo>
                    <a:pt x="225000" y="21000"/>
                  </a:lnTo>
                  <a:lnTo>
                    <a:pt x="226000" y="22500"/>
                  </a:lnTo>
                  <a:lnTo>
                    <a:pt x="227000" y="25000"/>
                  </a:lnTo>
                  <a:lnTo>
                    <a:pt x="228000" y="27000"/>
                  </a:lnTo>
                  <a:lnTo>
                    <a:pt x="229000" y="29000"/>
                  </a:lnTo>
                  <a:lnTo>
                    <a:pt x="230000" y="30500"/>
                  </a:lnTo>
                  <a:lnTo>
                    <a:pt x="231000" y="32500"/>
                  </a:lnTo>
                  <a:lnTo>
                    <a:pt x="232000" y="33500"/>
                  </a:lnTo>
                  <a:lnTo>
                    <a:pt x="233000" y="34000"/>
                  </a:lnTo>
                  <a:lnTo>
                    <a:pt x="234000" y="33500"/>
                  </a:lnTo>
                  <a:lnTo>
                    <a:pt x="235000" y="32500"/>
                  </a:lnTo>
                  <a:lnTo>
                    <a:pt x="236000" y="30000"/>
                  </a:lnTo>
                  <a:lnTo>
                    <a:pt x="237000" y="27000"/>
                  </a:lnTo>
                  <a:lnTo>
                    <a:pt x="238000" y="24000"/>
                  </a:lnTo>
                  <a:lnTo>
                    <a:pt x="239000" y="21000"/>
                  </a:lnTo>
                  <a:lnTo>
                    <a:pt x="240000" y="17500"/>
                  </a:lnTo>
                  <a:lnTo>
                    <a:pt x="241000" y="14500"/>
                  </a:lnTo>
                  <a:lnTo>
                    <a:pt x="242000" y="12000"/>
                  </a:lnTo>
                  <a:lnTo>
                    <a:pt x="243000" y="10500"/>
                  </a:lnTo>
                  <a:lnTo>
                    <a:pt x="244000" y="10500"/>
                  </a:lnTo>
                  <a:lnTo>
                    <a:pt x="245000" y="12000"/>
                  </a:lnTo>
                  <a:lnTo>
                    <a:pt x="246000" y="15500"/>
                  </a:lnTo>
                  <a:lnTo>
                    <a:pt x="247000" y="17000"/>
                  </a:lnTo>
                  <a:lnTo>
                    <a:pt x="248000" y="23500"/>
                  </a:lnTo>
                  <a:lnTo>
                    <a:pt x="249000" y="28000"/>
                  </a:lnTo>
                  <a:lnTo>
                    <a:pt x="250000" y="30500"/>
                  </a:lnTo>
                  <a:lnTo>
                    <a:pt x="251000" y="34000"/>
                  </a:lnTo>
                  <a:lnTo>
                    <a:pt x="252000" y="37000"/>
                  </a:lnTo>
                  <a:lnTo>
                    <a:pt x="253000" y="38000"/>
                  </a:lnTo>
                  <a:lnTo>
                    <a:pt x="255000" y="38000"/>
                  </a:lnTo>
                  <a:lnTo>
                    <a:pt x="256000" y="36500"/>
                  </a:lnTo>
                  <a:lnTo>
                    <a:pt x="257000" y="32500"/>
                  </a:lnTo>
                  <a:lnTo>
                    <a:pt x="258000" y="28000"/>
                  </a:lnTo>
                  <a:lnTo>
                    <a:pt x="259000" y="23500"/>
                  </a:lnTo>
                  <a:lnTo>
                    <a:pt x="260000" y="17000"/>
                  </a:lnTo>
                  <a:lnTo>
                    <a:pt x="261000" y="14000"/>
                  </a:lnTo>
                  <a:lnTo>
                    <a:pt x="262000" y="8500"/>
                  </a:lnTo>
                  <a:lnTo>
                    <a:pt x="263000" y="5000"/>
                  </a:lnTo>
                  <a:lnTo>
                    <a:pt x="264000" y="2000"/>
                  </a:lnTo>
                  <a:lnTo>
                    <a:pt x="265000" y="0"/>
                  </a:lnTo>
                  <a:lnTo>
                    <a:pt x="268000" y="0"/>
                  </a:lnTo>
                  <a:lnTo>
                    <a:pt x="269000" y="1000"/>
                  </a:lnTo>
                  <a:lnTo>
                    <a:pt x="270000" y="3500"/>
                  </a:lnTo>
                  <a:lnTo>
                    <a:pt x="271000" y="7000"/>
                  </a:lnTo>
                  <a:lnTo>
                    <a:pt x="272000" y="9500"/>
                  </a:lnTo>
                  <a:lnTo>
                    <a:pt x="273000" y="13500"/>
                  </a:lnTo>
                  <a:lnTo>
                    <a:pt x="274000" y="16500"/>
                  </a:lnTo>
                  <a:lnTo>
                    <a:pt x="275000" y="21000"/>
                  </a:lnTo>
                  <a:lnTo>
                    <a:pt x="276000" y="24500"/>
                  </a:lnTo>
                  <a:lnTo>
                    <a:pt x="277000" y="28500"/>
                  </a:lnTo>
                  <a:lnTo>
                    <a:pt x="278000" y="31500"/>
                  </a:lnTo>
                  <a:lnTo>
                    <a:pt x="279000" y="34500"/>
                  </a:lnTo>
                  <a:lnTo>
                    <a:pt x="280000" y="36500"/>
                  </a:lnTo>
                  <a:lnTo>
                    <a:pt x="281000" y="37500"/>
                  </a:lnTo>
                  <a:lnTo>
                    <a:pt x="282000" y="36500"/>
                  </a:lnTo>
                  <a:lnTo>
                    <a:pt x="283000" y="33500"/>
                  </a:lnTo>
                  <a:lnTo>
                    <a:pt x="284000" y="29500"/>
                  </a:lnTo>
                  <a:lnTo>
                    <a:pt x="285000" y="22000"/>
                  </a:lnTo>
                  <a:lnTo>
                    <a:pt x="286000" y="16000"/>
                  </a:lnTo>
                  <a:lnTo>
                    <a:pt x="287000" y="14500"/>
                  </a:lnTo>
                  <a:lnTo>
                    <a:pt x="288000" y="13500"/>
                  </a:lnTo>
                  <a:lnTo>
                    <a:pt x="289000" y="14500"/>
                  </a:lnTo>
                  <a:lnTo>
                    <a:pt x="290000" y="15000"/>
                  </a:lnTo>
                  <a:lnTo>
                    <a:pt x="291000" y="16500"/>
                  </a:lnTo>
                  <a:lnTo>
                    <a:pt x="292000" y="20000"/>
                  </a:lnTo>
                  <a:lnTo>
                    <a:pt x="293000" y="20500"/>
                  </a:lnTo>
                  <a:lnTo>
                    <a:pt x="295000" y="27000"/>
                  </a:lnTo>
                  <a:lnTo>
                    <a:pt x="296000" y="28000"/>
                  </a:lnTo>
                  <a:lnTo>
                    <a:pt x="297000" y="30000"/>
                  </a:lnTo>
                  <a:lnTo>
                    <a:pt x="298000" y="32000"/>
                  </a:lnTo>
                  <a:lnTo>
                    <a:pt x="299000" y="33500"/>
                  </a:lnTo>
                  <a:lnTo>
                    <a:pt x="300000" y="34500"/>
                  </a:lnTo>
                  <a:lnTo>
                    <a:pt x="301000" y="35000"/>
                  </a:lnTo>
                  <a:lnTo>
                    <a:pt x="302000" y="34000"/>
                  </a:lnTo>
                  <a:lnTo>
                    <a:pt x="303000" y="29500"/>
                  </a:lnTo>
                  <a:lnTo>
                    <a:pt x="304000" y="23500"/>
                  </a:lnTo>
                  <a:lnTo>
                    <a:pt x="305000" y="17000"/>
                  </a:lnTo>
                  <a:lnTo>
                    <a:pt x="306000" y="14500"/>
                  </a:lnTo>
                  <a:lnTo>
                    <a:pt x="307000" y="14000"/>
                  </a:lnTo>
                  <a:lnTo>
                    <a:pt x="308000" y="15000"/>
                  </a:lnTo>
                  <a:lnTo>
                    <a:pt x="309000" y="16500"/>
                  </a:lnTo>
                  <a:lnTo>
                    <a:pt x="310000" y="19000"/>
                  </a:lnTo>
                  <a:lnTo>
                    <a:pt x="311000" y="21500"/>
                  </a:lnTo>
                  <a:lnTo>
                    <a:pt x="312000" y="24000"/>
                  </a:lnTo>
                  <a:lnTo>
                    <a:pt x="313000" y="26000"/>
                  </a:lnTo>
                  <a:lnTo>
                    <a:pt x="314000" y="29500"/>
                  </a:lnTo>
                  <a:lnTo>
                    <a:pt x="315000" y="32000"/>
                  </a:lnTo>
                  <a:lnTo>
                    <a:pt x="316000" y="34500"/>
                  </a:lnTo>
                  <a:lnTo>
                    <a:pt x="317000" y="36500"/>
                  </a:lnTo>
                  <a:lnTo>
                    <a:pt x="318000" y="37500"/>
                  </a:lnTo>
                  <a:moveTo>
                    <a:pt x="322000" y="37500"/>
                  </a:moveTo>
                  <a:lnTo>
                    <a:pt x="323000" y="36000"/>
                  </a:lnTo>
                  <a:lnTo>
                    <a:pt x="324000" y="33500"/>
                  </a:lnTo>
                  <a:lnTo>
                    <a:pt x="325000" y="31000"/>
                  </a:lnTo>
                  <a:lnTo>
                    <a:pt x="326000" y="27500"/>
                  </a:lnTo>
                  <a:lnTo>
                    <a:pt x="327000" y="24500"/>
                  </a:lnTo>
                  <a:lnTo>
                    <a:pt x="328000" y="22500"/>
                  </a:lnTo>
                  <a:lnTo>
                    <a:pt x="329000" y="21000"/>
                  </a:lnTo>
                  <a:lnTo>
                    <a:pt x="330000" y="21000"/>
                  </a:lnTo>
                  <a:lnTo>
                    <a:pt x="331000" y="22000"/>
                  </a:lnTo>
                  <a:lnTo>
                    <a:pt x="332000" y="23500"/>
                  </a:lnTo>
                  <a:lnTo>
                    <a:pt x="333000" y="25000"/>
                  </a:lnTo>
                  <a:lnTo>
                    <a:pt x="334000" y="27000"/>
                  </a:lnTo>
                  <a:lnTo>
                    <a:pt x="335000" y="29000"/>
                  </a:lnTo>
                  <a:lnTo>
                    <a:pt x="336000" y="31000"/>
                  </a:lnTo>
                  <a:lnTo>
                    <a:pt x="337000" y="32500"/>
                  </a:lnTo>
                  <a:lnTo>
                    <a:pt x="338000" y="34500"/>
                  </a:lnTo>
                  <a:lnTo>
                    <a:pt x="339000" y="36000"/>
                  </a:lnTo>
                  <a:lnTo>
                    <a:pt x="340000" y="36500"/>
                  </a:lnTo>
                  <a:lnTo>
                    <a:pt x="341000" y="36000"/>
                  </a:lnTo>
                  <a:lnTo>
                    <a:pt x="342000" y="34500"/>
                  </a:lnTo>
                  <a:lnTo>
                    <a:pt x="343000" y="33000"/>
                  </a:lnTo>
                  <a:lnTo>
                    <a:pt x="344000" y="30000"/>
                  </a:lnTo>
                  <a:lnTo>
                    <a:pt x="345000" y="26500"/>
                  </a:lnTo>
                  <a:lnTo>
                    <a:pt x="346000" y="22500"/>
                  </a:lnTo>
                  <a:lnTo>
                    <a:pt x="347000" y="19000"/>
                  </a:lnTo>
                  <a:lnTo>
                    <a:pt x="348000" y="15500"/>
                  </a:lnTo>
                  <a:lnTo>
                    <a:pt x="349000" y="11000"/>
                  </a:lnTo>
                  <a:lnTo>
                    <a:pt x="350000" y="8000"/>
                  </a:lnTo>
                  <a:lnTo>
                    <a:pt x="351000" y="5000"/>
                  </a:lnTo>
                  <a:lnTo>
                    <a:pt x="352000" y="3000"/>
                  </a:lnTo>
                  <a:lnTo>
                    <a:pt x="353000" y="2000"/>
                  </a:lnTo>
                  <a:lnTo>
                    <a:pt x="354000" y="1000"/>
                  </a:lnTo>
                  <a:lnTo>
                    <a:pt x="355000" y="1000"/>
                  </a:lnTo>
                  <a:lnTo>
                    <a:pt x="356000" y="2000"/>
                  </a:lnTo>
                  <a:lnTo>
                    <a:pt x="357000" y="3000"/>
                  </a:lnTo>
                  <a:lnTo>
                    <a:pt x="358000" y="4500"/>
                  </a:lnTo>
                  <a:lnTo>
                    <a:pt x="359000" y="6500"/>
                  </a:lnTo>
                  <a:lnTo>
                    <a:pt x="360000" y="9000"/>
                  </a:lnTo>
                  <a:lnTo>
                    <a:pt x="361000" y="11000"/>
                  </a:lnTo>
                  <a:lnTo>
                    <a:pt x="362000" y="13500"/>
                  </a:lnTo>
                  <a:lnTo>
                    <a:pt x="363000" y="16000"/>
                  </a:lnTo>
                  <a:lnTo>
                    <a:pt x="364000" y="18500"/>
                  </a:lnTo>
                  <a:lnTo>
                    <a:pt x="365000" y="21000"/>
                  </a:lnTo>
                  <a:lnTo>
                    <a:pt x="366000" y="23500"/>
                  </a:lnTo>
                  <a:lnTo>
                    <a:pt x="367000" y="26500"/>
                  </a:lnTo>
                  <a:lnTo>
                    <a:pt x="368000" y="29000"/>
                  </a:lnTo>
                  <a:lnTo>
                    <a:pt x="369000" y="31000"/>
                  </a:lnTo>
                  <a:lnTo>
                    <a:pt x="370000" y="33000"/>
                  </a:lnTo>
                  <a:lnTo>
                    <a:pt x="371000" y="35500"/>
                  </a:lnTo>
                  <a:lnTo>
                    <a:pt x="372000" y="37000"/>
                  </a:lnTo>
                  <a:lnTo>
                    <a:pt x="373000" y="37500"/>
                  </a:lnTo>
                  <a:lnTo>
                    <a:pt x="374000" y="38000"/>
                  </a:lnTo>
                  <a:lnTo>
                    <a:pt x="376000" y="38000"/>
                  </a:lnTo>
                  <a:lnTo>
                    <a:pt x="377000" y="37500"/>
                  </a:lnTo>
                  <a:lnTo>
                    <a:pt x="378000" y="37000"/>
                  </a:lnTo>
                  <a:lnTo>
                    <a:pt x="379000" y="35500"/>
                  </a:lnTo>
                  <a:lnTo>
                    <a:pt x="380000" y="33500"/>
                  </a:lnTo>
                  <a:lnTo>
                    <a:pt x="381000" y="32000"/>
                  </a:lnTo>
                  <a:lnTo>
                    <a:pt x="382000" y="29500"/>
                  </a:lnTo>
                  <a:lnTo>
                    <a:pt x="383000" y="27500"/>
                  </a:lnTo>
                  <a:lnTo>
                    <a:pt x="384000" y="25500"/>
                  </a:lnTo>
                  <a:lnTo>
                    <a:pt x="385000" y="24500"/>
                  </a:lnTo>
                  <a:lnTo>
                    <a:pt x="386000" y="23000"/>
                  </a:lnTo>
                  <a:lnTo>
                    <a:pt x="387000" y="23000"/>
                  </a:lnTo>
                </a:path>
              </a:pathLst>
            </a:custGeom>
            <a:noFill/>
            <a:ln w="14287" cap="rnd">
              <a:solidFill>
                <a:srgbClr val="86ACC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2" name="Rectangle 1371"/>
            <p:cNvSpPr/>
            <p:nvPr/>
          </p:nvSpPr>
          <p:spPr>
            <a:xfrm>
              <a:off x="11449050" y="8096250"/>
              <a:ext cx="952" cy="409575"/>
            </a:xfrm>
            <a:custGeom>
              <a:avLst/>
              <a:gdLst/>
              <a:ahLst/>
              <a:cxnLst/>
              <a:rect l="0" t="0" r="r" b="b"/>
              <a:pathLst>
                <a:path w="100" h="43000" fill="none">
                  <a:moveTo>
                    <a:pt x="0" y="0"/>
                  </a:moveTo>
                  <a:lnTo>
                    <a:pt x="0" y="4300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3" name="Text: Mem Buffer"/>
            <p:cNvSpPr txBox="1"/>
            <p:nvPr/>
          </p:nvSpPr>
          <p:spPr>
            <a:xfrm>
              <a:off x="10496550" y="8193405"/>
              <a:ext cx="1010152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2D5F9E"/>
                  </a:solidFill>
                  <a:latin typeface="Liberation Serif"/>
                </a:rPr>
                <a:t>Mem Buffer</a:t>
              </a:r>
            </a:p>
          </p:txBody>
        </p:sp>
        <p:sp>
          <p:nvSpPr>
            <p:cNvPr id="1374" name="Text: Current Stream"/>
            <p:cNvSpPr txBox="1"/>
            <p:nvPr/>
          </p:nvSpPr>
          <p:spPr>
            <a:xfrm>
              <a:off x="12182475" y="8193405"/>
              <a:ext cx="1235813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749E36"/>
                  </a:solidFill>
                  <a:latin typeface="Liberation Serif"/>
                </a:rPr>
                <a:t>Current Stream</a:t>
              </a:r>
            </a:p>
          </p:txBody>
        </p:sp>
        <p:sp>
          <p:nvSpPr>
            <p:cNvPr id="1375" name="Rectangle 1374"/>
            <p:cNvSpPr/>
            <p:nvPr/>
          </p:nvSpPr>
          <p:spPr>
            <a:xfrm>
              <a:off x="9782175" y="7829550"/>
              <a:ext cx="1162050" cy="266700"/>
            </a:xfrm>
            <a:custGeom>
              <a:avLst/>
              <a:gdLst/>
              <a:ahLst/>
              <a:cxnLst/>
              <a:rect l="0" t="0" r="r" b="b"/>
              <a:pathLst>
                <a:path w="122000" h="28000" fill="none">
                  <a:moveTo>
                    <a:pt x="122000" y="28000"/>
                  </a:moveTo>
                  <a:cubicBezTo>
                    <a:pt x="122000" y="10000"/>
                    <a:pt x="42000" y="0"/>
                    <a:pt x="0" y="20000"/>
                  </a:cubicBezTo>
                </a:path>
              </a:pathLst>
            </a:custGeom>
            <a:noFill/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6" name="Rectangle 1375"/>
            <p:cNvSpPr/>
            <p:nvPr/>
          </p:nvSpPr>
          <p:spPr>
            <a:xfrm>
              <a:off x="9782175" y="7966101"/>
              <a:ext cx="72238" cy="53949"/>
            </a:xfrm>
            <a:custGeom>
              <a:avLst/>
              <a:gdLst/>
              <a:ahLst/>
              <a:cxnLst/>
              <a:rect l="0" t="0" r="r" b="b"/>
              <a:pathLst>
                <a:path w="7584" h="5664" fill="norm">
                  <a:moveTo>
                    <a:pt x="0" y="5664"/>
                  </a:moveTo>
                  <a:lnTo>
                    <a:pt x="7584" y="5309"/>
                  </a:lnTo>
                  <a:lnTo>
                    <a:pt x="4234" y="3648"/>
                  </a:lnTo>
                  <a:lnTo>
                    <a:pt x="5056" y="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7" name="Rectangle 1376"/>
            <p:cNvSpPr/>
            <p:nvPr/>
          </p:nvSpPr>
          <p:spPr>
            <a:xfrm>
              <a:off x="12553950" y="8505825"/>
              <a:ext cx="2686050" cy="200025"/>
            </a:xfrm>
            <a:custGeom>
              <a:avLst/>
              <a:gdLst/>
              <a:ahLst/>
              <a:cxnLst/>
              <a:rect l="0" t="0" r="r" b="b"/>
              <a:pathLst>
                <a:path w="282000" h="21000" fill="none">
                  <a:moveTo>
                    <a:pt x="0" y="0"/>
                  </a:moveTo>
                  <a:cubicBezTo>
                    <a:pt x="43000" y="21000"/>
                    <a:pt x="218000" y="21000"/>
                    <a:pt x="282000" y="2000"/>
                  </a:cubicBezTo>
                </a:path>
              </a:pathLst>
            </a:custGeom>
            <a:noFill/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8" name="Rectangle 1377"/>
            <p:cNvSpPr/>
            <p:nvPr/>
          </p:nvSpPr>
          <p:spPr>
            <a:xfrm>
              <a:off x="15168112" y="8517005"/>
              <a:ext cx="71888" cy="53691"/>
            </a:xfrm>
            <a:custGeom>
              <a:avLst/>
              <a:gdLst/>
              <a:ahLst/>
              <a:cxnLst/>
              <a:rect l="0" t="0" r="r" b="b"/>
              <a:pathLst>
                <a:path w="7547" h="5637" fill="norm">
                  <a:moveTo>
                    <a:pt x="7547" y="826"/>
                  </a:moveTo>
                  <a:lnTo>
                    <a:pt x="0" y="0"/>
                  </a:lnTo>
                  <a:lnTo>
                    <a:pt x="3051" y="2161"/>
                  </a:lnTo>
                  <a:lnTo>
                    <a:pt x="1673" y="5637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9" name="Rectangle 1378"/>
            <p:cNvSpPr/>
            <p:nvPr/>
          </p:nvSpPr>
          <p:spPr>
            <a:xfrm>
              <a:off x="14420850" y="8077200"/>
              <a:ext cx="1695450" cy="428625"/>
            </a:xfrm>
            <a:prstGeom prst="rect">
              <a:avLst/>
            </a:prstGeom>
            <a:noFill/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0" name="Rectangle 1379"/>
            <p:cNvSpPr/>
            <p:nvPr/>
          </p:nvSpPr>
          <p:spPr>
            <a:xfrm>
              <a:off x="14497050" y="8124825"/>
              <a:ext cx="152400" cy="3619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1" name="Rectangle 1380"/>
            <p:cNvSpPr/>
            <p:nvPr/>
          </p:nvSpPr>
          <p:spPr>
            <a:xfrm>
              <a:off x="14525625" y="8153400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2" name="Rectangle 1381"/>
            <p:cNvSpPr/>
            <p:nvPr/>
          </p:nvSpPr>
          <p:spPr>
            <a:xfrm>
              <a:off x="14525625" y="8255000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3" name="Rectangle 1382"/>
            <p:cNvSpPr/>
            <p:nvPr/>
          </p:nvSpPr>
          <p:spPr>
            <a:xfrm>
              <a:off x="14525625" y="8356600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4" name="Rectangle 1383"/>
            <p:cNvSpPr/>
            <p:nvPr/>
          </p:nvSpPr>
          <p:spPr>
            <a:xfrm>
              <a:off x="14773275" y="8124825"/>
              <a:ext cx="152400" cy="3619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5" name="Rectangle 1384"/>
            <p:cNvSpPr/>
            <p:nvPr/>
          </p:nvSpPr>
          <p:spPr>
            <a:xfrm>
              <a:off x="14801850" y="8153400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6" name="Rectangle 1385"/>
            <p:cNvSpPr/>
            <p:nvPr/>
          </p:nvSpPr>
          <p:spPr>
            <a:xfrm>
              <a:off x="14801850" y="8255000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7" name="Rectangle 1386"/>
            <p:cNvSpPr/>
            <p:nvPr/>
          </p:nvSpPr>
          <p:spPr>
            <a:xfrm>
              <a:off x="14801850" y="8356600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8" name="Rectangle 1387"/>
            <p:cNvSpPr/>
            <p:nvPr/>
          </p:nvSpPr>
          <p:spPr>
            <a:xfrm>
              <a:off x="15049500" y="8124825"/>
              <a:ext cx="152400" cy="3619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9" name="Rectangle 1388"/>
            <p:cNvSpPr/>
            <p:nvPr/>
          </p:nvSpPr>
          <p:spPr>
            <a:xfrm>
              <a:off x="15078075" y="8153400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0" name="Rectangle 1389"/>
            <p:cNvSpPr/>
            <p:nvPr/>
          </p:nvSpPr>
          <p:spPr>
            <a:xfrm>
              <a:off x="15078075" y="8255000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1" name="Rectangle 1390"/>
            <p:cNvSpPr/>
            <p:nvPr/>
          </p:nvSpPr>
          <p:spPr>
            <a:xfrm>
              <a:off x="15078075" y="8356600"/>
              <a:ext cx="95250" cy="95250"/>
            </a:xfrm>
            <a:prstGeom prst="rect">
              <a:avLst/>
            </a:prstGeom>
            <a:solidFill>
              <a:srgbClr val="7FA5D5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2" name="Rectangle 1391"/>
            <p:cNvSpPr/>
            <p:nvPr/>
          </p:nvSpPr>
          <p:spPr>
            <a:xfrm>
              <a:off x="15325725" y="8124825"/>
              <a:ext cx="152400" cy="3619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3" name="Rectangle 1392"/>
            <p:cNvSpPr/>
            <p:nvPr/>
          </p:nvSpPr>
          <p:spPr>
            <a:xfrm>
              <a:off x="15354300" y="8153400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4" name="Rectangle 1393"/>
            <p:cNvSpPr/>
            <p:nvPr/>
          </p:nvSpPr>
          <p:spPr>
            <a:xfrm>
              <a:off x="15354300" y="8255000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5" name="Rectangle 1394"/>
            <p:cNvSpPr/>
            <p:nvPr/>
          </p:nvSpPr>
          <p:spPr>
            <a:xfrm>
              <a:off x="15354300" y="8356600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6" name="Rectangle 1395"/>
            <p:cNvSpPr/>
            <p:nvPr/>
          </p:nvSpPr>
          <p:spPr>
            <a:xfrm>
              <a:off x="15601950" y="8124825"/>
              <a:ext cx="152400" cy="3619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7" name="Rectangle 1396"/>
            <p:cNvSpPr/>
            <p:nvPr/>
          </p:nvSpPr>
          <p:spPr>
            <a:xfrm>
              <a:off x="15630525" y="8153400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8" name="Rectangle 1397"/>
            <p:cNvSpPr/>
            <p:nvPr/>
          </p:nvSpPr>
          <p:spPr>
            <a:xfrm>
              <a:off x="15630525" y="8255000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9" name="Rectangle 1398"/>
            <p:cNvSpPr/>
            <p:nvPr/>
          </p:nvSpPr>
          <p:spPr>
            <a:xfrm>
              <a:off x="15630525" y="8356600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0" name="Rectangle 1399"/>
            <p:cNvSpPr/>
            <p:nvPr/>
          </p:nvSpPr>
          <p:spPr>
            <a:xfrm>
              <a:off x="15878175" y="8124825"/>
              <a:ext cx="152400" cy="361950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1" name="Rectangle 1400"/>
            <p:cNvSpPr/>
            <p:nvPr/>
          </p:nvSpPr>
          <p:spPr>
            <a:xfrm>
              <a:off x="15906750" y="8153400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2" name="Rectangle 1401"/>
            <p:cNvSpPr/>
            <p:nvPr/>
          </p:nvSpPr>
          <p:spPr>
            <a:xfrm>
              <a:off x="15906750" y="8255000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3" name="Rectangle 1402"/>
            <p:cNvSpPr/>
            <p:nvPr/>
          </p:nvSpPr>
          <p:spPr>
            <a:xfrm>
              <a:off x="15906750" y="8356600"/>
              <a:ext cx="95250" cy="95250"/>
            </a:xfrm>
            <a:prstGeom prst="rect">
              <a:avLst/>
            </a:prstGeom>
            <a:solidFill>
              <a:srgbClr val="9CC879"/>
            </a:solidFill>
            <a:ln w="7620" cap="rnd">
              <a:solidFill>
                <a:srgbClr val="345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4" name="Text: data mixing"/>
            <p:cNvSpPr txBox="1"/>
            <p:nvPr/>
          </p:nvSpPr>
          <p:spPr>
            <a:xfrm>
              <a:off x="15706725" y="7812024"/>
              <a:ext cx="790426" cy="228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8D8D8D"/>
                  </a:solidFill>
                  <a:latin typeface="Liberation Serif"/>
                </a:rPr>
                <a:t>data mixing</a:t>
              </a:r>
            </a:p>
          </p:txBody>
        </p:sp>
        <p:sp>
          <p:nvSpPr>
            <p:cNvPr id="1405" name="Rectangle 1404"/>
            <p:cNvSpPr/>
            <p:nvPr/>
          </p:nvSpPr>
          <p:spPr>
            <a:xfrm>
              <a:off x="16144875" y="8239125"/>
              <a:ext cx="409575" cy="952"/>
            </a:xfrm>
            <a:custGeom>
              <a:avLst/>
              <a:gdLst/>
              <a:ahLst/>
              <a:cxnLst/>
              <a:rect l="0" t="0" r="r" b="b"/>
              <a:pathLst>
                <a:path w="43000" h="100" fill="none">
                  <a:moveTo>
                    <a:pt x="0" y="0"/>
                  </a:moveTo>
                  <a:lnTo>
                    <a:pt x="4300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6" name="Rectangle 1405"/>
            <p:cNvSpPr/>
            <p:nvPr/>
          </p:nvSpPr>
          <p:spPr>
            <a:xfrm>
              <a:off x="16487775" y="8211121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7000" y="2940"/>
                  </a:moveTo>
                  <a:lnTo>
                    <a:pt x="0" y="0"/>
                  </a:lnTo>
                  <a:lnTo>
                    <a:pt x="2310" y="2940"/>
                  </a:lnTo>
                  <a:lnTo>
                    <a:pt x="0" y="588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7" name="Rectangle 1406"/>
            <p:cNvSpPr/>
            <p:nvPr/>
          </p:nvSpPr>
          <p:spPr>
            <a:xfrm>
              <a:off x="16611600" y="8077200"/>
              <a:ext cx="1381125" cy="323850"/>
            </a:xfrm>
            <a:prstGeom prst="rect">
              <a:avLst/>
            </a:prstGeom>
            <a:noFill/>
            <a:ln w="9525" cap="rnd">
              <a:solidFill>
                <a:srgbClr val="111111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8" name="Rounded Rectangle 1407"/>
            <p:cNvSpPr/>
            <p:nvPr/>
          </p:nvSpPr>
          <p:spPr>
            <a:xfrm>
              <a:off x="16678275" y="8124825"/>
              <a:ext cx="114300" cy="238125"/>
            </a:xfrm>
            <a:prstGeom prst="roundRect">
              <a:avLst>
                <a:gd name="adj" fmla="val 50000"/>
              </a:avLst>
            </a:prstGeom>
            <a:solidFill>
              <a:srgbClr val="B7C5D6"/>
            </a:solidFill>
            <a:ln w="9525" cap="rnd">
              <a:solidFill>
                <a:srgbClr val="375A7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9" name="Rounded Rectangle 1408"/>
            <p:cNvSpPr/>
            <p:nvPr/>
          </p:nvSpPr>
          <p:spPr>
            <a:xfrm>
              <a:off x="16840200" y="8124825"/>
              <a:ext cx="114300" cy="238125"/>
            </a:xfrm>
            <a:prstGeom prst="roundRect">
              <a:avLst>
                <a:gd name="adj" fmla="val 50000"/>
              </a:avLst>
            </a:prstGeom>
            <a:solidFill>
              <a:srgbClr val="B7C5D6"/>
            </a:solidFill>
            <a:ln w="9525" cap="rnd">
              <a:solidFill>
                <a:srgbClr val="375A7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0" name="Rounded Rectangle 1409"/>
            <p:cNvSpPr/>
            <p:nvPr/>
          </p:nvSpPr>
          <p:spPr>
            <a:xfrm>
              <a:off x="17002125" y="8124825"/>
              <a:ext cx="114300" cy="238125"/>
            </a:xfrm>
            <a:prstGeom prst="roundRect">
              <a:avLst>
                <a:gd name="adj" fmla="val 50000"/>
              </a:avLst>
            </a:prstGeom>
            <a:solidFill>
              <a:srgbClr val="FFEBAB"/>
            </a:solidFill>
            <a:ln w="9525" cap="rnd">
              <a:solidFill>
                <a:srgbClr val="375A7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1" name="Rounded Rectangle 1410"/>
            <p:cNvSpPr/>
            <p:nvPr/>
          </p:nvSpPr>
          <p:spPr>
            <a:xfrm>
              <a:off x="17164050" y="8124825"/>
              <a:ext cx="114300" cy="238125"/>
            </a:xfrm>
            <a:prstGeom prst="roundRect">
              <a:avLst>
                <a:gd name="adj" fmla="val 50000"/>
              </a:avLst>
            </a:prstGeom>
            <a:solidFill>
              <a:srgbClr val="FFEBAB"/>
            </a:solidFill>
            <a:ln w="9525" cap="rnd">
              <a:solidFill>
                <a:srgbClr val="375A7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2" name="Rounded Rectangle 1411"/>
            <p:cNvSpPr/>
            <p:nvPr/>
          </p:nvSpPr>
          <p:spPr>
            <a:xfrm>
              <a:off x="17325975" y="8124825"/>
              <a:ext cx="114300" cy="238125"/>
            </a:xfrm>
            <a:prstGeom prst="roundRect">
              <a:avLst>
                <a:gd name="adj" fmla="val 50000"/>
              </a:avLst>
            </a:prstGeom>
            <a:solidFill>
              <a:srgbClr val="B5D3A3"/>
            </a:solidFill>
            <a:ln w="9525" cap="rnd">
              <a:solidFill>
                <a:srgbClr val="375A7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3" name="Rounded Rectangle 1412"/>
            <p:cNvSpPr/>
            <p:nvPr/>
          </p:nvSpPr>
          <p:spPr>
            <a:xfrm>
              <a:off x="17487900" y="8124825"/>
              <a:ext cx="114300" cy="238125"/>
            </a:xfrm>
            <a:prstGeom prst="roundRect">
              <a:avLst>
                <a:gd name="adj" fmla="val 50000"/>
              </a:avLst>
            </a:prstGeom>
            <a:solidFill>
              <a:srgbClr val="B5D3A3"/>
            </a:solidFill>
            <a:ln w="9525" cap="rnd">
              <a:solidFill>
                <a:srgbClr val="375A7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4" name="Rounded Rectangle 1413"/>
            <p:cNvSpPr/>
            <p:nvPr/>
          </p:nvSpPr>
          <p:spPr>
            <a:xfrm>
              <a:off x="17649825" y="8124825"/>
              <a:ext cx="114300" cy="238125"/>
            </a:xfrm>
            <a:prstGeom prst="roundRect">
              <a:avLst>
                <a:gd name="adj" fmla="val 50000"/>
              </a:avLst>
            </a:prstGeom>
            <a:solidFill>
              <a:srgbClr val="B5CDE8"/>
            </a:solidFill>
            <a:ln w="9525" cap="rnd">
              <a:solidFill>
                <a:srgbClr val="375A7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5" name="Rounded Rectangle 1414"/>
            <p:cNvSpPr/>
            <p:nvPr/>
          </p:nvSpPr>
          <p:spPr>
            <a:xfrm>
              <a:off x="17811750" y="8124825"/>
              <a:ext cx="114300" cy="238125"/>
            </a:xfrm>
            <a:prstGeom prst="roundRect">
              <a:avLst>
                <a:gd name="adj" fmla="val 50000"/>
              </a:avLst>
            </a:prstGeom>
            <a:solidFill>
              <a:srgbClr val="B5CDE8"/>
            </a:solidFill>
            <a:ln w="9525" cap="rnd">
              <a:solidFill>
                <a:srgbClr val="375A7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6" name="Text: Combined Tokens"/>
            <p:cNvSpPr txBox="1"/>
            <p:nvPr/>
          </p:nvSpPr>
          <p:spPr>
            <a:xfrm>
              <a:off x="16580886" y="8460105"/>
              <a:ext cx="1452079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Combined Tokens</a:t>
              </a:r>
            </a:p>
          </p:txBody>
        </p:sp>
        <p:sp>
          <p:nvSpPr>
            <p:cNvPr id="1417" name="Rounded Rectangle 1416"/>
            <p:cNvSpPr/>
            <p:nvPr/>
          </p:nvSpPr>
          <p:spPr>
            <a:xfrm>
              <a:off x="15821025" y="8772525"/>
              <a:ext cx="2171700" cy="419100"/>
            </a:xfrm>
            <a:prstGeom prst="roundRect">
              <a:avLst>
                <a:gd name="adj" fmla="val 20454"/>
              </a:avLst>
            </a:prstGeom>
            <a:solidFill>
              <a:srgbClr val="E2EFD7"/>
            </a:solidFill>
            <a:ln w="10953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8" name="Rounded Rectangle 1417"/>
            <p:cNvSpPr/>
            <p:nvPr/>
          </p:nvSpPr>
          <p:spPr>
            <a:xfrm>
              <a:off x="12934950" y="8772525"/>
              <a:ext cx="2314575" cy="419100"/>
            </a:xfrm>
            <a:prstGeom prst="roundRect">
              <a:avLst>
                <a:gd name="adj" fmla="val 20454"/>
              </a:avLst>
            </a:prstGeom>
            <a:solidFill>
              <a:srgbClr val="E2EFD7"/>
            </a:solidFill>
            <a:ln w="10953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9" name="Rounded Rectangle 1418"/>
            <p:cNvSpPr/>
            <p:nvPr/>
          </p:nvSpPr>
          <p:spPr>
            <a:xfrm>
              <a:off x="10277475" y="8772525"/>
              <a:ext cx="2085975" cy="419100"/>
            </a:xfrm>
            <a:prstGeom prst="roundRect">
              <a:avLst>
                <a:gd name="adj" fmla="val 20454"/>
              </a:avLst>
            </a:prstGeom>
            <a:solidFill>
              <a:srgbClr val="C6E1B0"/>
            </a:solidFill>
            <a:ln w="10953" cap="rnd">
              <a:solidFill>
                <a:srgbClr val="7BB64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0" name="Text: Transformer Encoder"/>
            <p:cNvSpPr txBox="1"/>
            <p:nvPr/>
          </p:nvSpPr>
          <p:spPr>
            <a:xfrm>
              <a:off x="16069252" y="8869680"/>
              <a:ext cx="1694297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Transformer Encoder</a:t>
              </a:r>
            </a:p>
          </p:txBody>
        </p:sp>
        <p:sp>
          <p:nvSpPr>
            <p:cNvPr id="1421" name="Text: Transformer Decoder"/>
            <p:cNvSpPr txBox="1"/>
            <p:nvPr/>
          </p:nvSpPr>
          <p:spPr>
            <a:xfrm>
              <a:off x="13244596" y="8869680"/>
              <a:ext cx="1704808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Transformer Decoder</a:t>
              </a:r>
            </a:p>
          </p:txBody>
        </p:sp>
        <p:sp>
          <p:nvSpPr>
            <p:cNvPr id="1422" name="Text: Prediction Head"/>
            <p:cNvSpPr txBox="1"/>
            <p:nvPr/>
          </p:nvSpPr>
          <p:spPr>
            <a:xfrm>
              <a:off x="10675600" y="8869680"/>
              <a:ext cx="1299251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Prediction Head</a:t>
              </a:r>
            </a:p>
          </p:txBody>
        </p:sp>
        <p:sp>
          <p:nvSpPr>
            <p:cNvPr id="1423" name="Rectangle 1422"/>
            <p:cNvSpPr/>
            <p:nvPr/>
          </p:nvSpPr>
          <p:spPr>
            <a:xfrm>
              <a:off x="17758029" y="8829675"/>
              <a:ext cx="257747" cy="234315"/>
            </a:xfrm>
            <a:custGeom>
              <a:avLst/>
              <a:gdLst/>
              <a:ahLst/>
              <a:cxnLst/>
              <a:rect l="0" t="0" r="r" b="b"/>
              <a:pathLst>
                <a:path w="27060" h="24600" fill="norm">
                  <a:moveTo>
                    <a:pt x="9840" y="22140"/>
                  </a:moveTo>
                  <a:cubicBezTo>
                    <a:pt x="0" y="21320"/>
                    <a:pt x="1640" y="11480"/>
                    <a:pt x="6560" y="8200"/>
                  </a:cubicBezTo>
                  <a:cubicBezTo>
                    <a:pt x="5740" y="13120"/>
                    <a:pt x="9020" y="14760"/>
                    <a:pt x="9840" y="9840"/>
                  </a:cubicBezTo>
                  <a:cubicBezTo>
                    <a:pt x="10660" y="4920"/>
                    <a:pt x="13940" y="4920"/>
                    <a:pt x="11480" y="0"/>
                  </a:cubicBezTo>
                  <a:cubicBezTo>
                    <a:pt x="20500" y="4920"/>
                    <a:pt x="16400" y="10660"/>
                    <a:pt x="20500" y="12300"/>
                  </a:cubicBezTo>
                  <a:cubicBezTo>
                    <a:pt x="22140" y="10660"/>
                    <a:pt x="21320" y="8200"/>
                    <a:pt x="21320" y="7380"/>
                  </a:cubicBezTo>
                  <a:cubicBezTo>
                    <a:pt x="27060" y="16400"/>
                    <a:pt x="23780" y="22960"/>
                    <a:pt x="16400" y="23780"/>
                  </a:cubicBezTo>
                  <a:cubicBezTo>
                    <a:pt x="13940" y="24600"/>
                    <a:pt x="11480" y="23780"/>
                    <a:pt x="9840" y="22140"/>
                  </a:cubicBezTo>
                  <a:close/>
                </a:path>
              </a:pathLst>
            </a:custGeom>
            <a:solidFill>
              <a:srgbClr val="4884A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4" name="Rectangle 1423"/>
            <p:cNvSpPr/>
            <p:nvPr/>
          </p:nvSpPr>
          <p:spPr>
            <a:xfrm>
              <a:off x="17812702" y="8923401"/>
              <a:ext cx="164021" cy="132778"/>
            </a:xfrm>
            <a:custGeom>
              <a:avLst/>
              <a:gdLst/>
              <a:ahLst/>
              <a:cxnLst/>
              <a:rect l="0" t="0" r="r" b="b"/>
              <a:pathLst>
                <a:path w="17220" h="13940" fill="norm">
                  <a:moveTo>
                    <a:pt x="3280" y="10660"/>
                  </a:moveTo>
                  <a:cubicBezTo>
                    <a:pt x="0" y="5740"/>
                    <a:pt x="4100" y="2460"/>
                    <a:pt x="4100" y="820"/>
                  </a:cubicBezTo>
                  <a:cubicBezTo>
                    <a:pt x="4100" y="5740"/>
                    <a:pt x="7380" y="4920"/>
                    <a:pt x="8200" y="0"/>
                  </a:cubicBezTo>
                  <a:cubicBezTo>
                    <a:pt x="12300" y="3280"/>
                    <a:pt x="11480" y="8200"/>
                    <a:pt x="13940" y="7380"/>
                  </a:cubicBezTo>
                  <a:cubicBezTo>
                    <a:pt x="13940" y="4920"/>
                    <a:pt x="13940" y="4100"/>
                    <a:pt x="14760" y="4100"/>
                  </a:cubicBezTo>
                  <a:cubicBezTo>
                    <a:pt x="17220" y="10660"/>
                    <a:pt x="12300" y="13940"/>
                    <a:pt x="8200" y="13120"/>
                  </a:cubicBezTo>
                  <a:cubicBezTo>
                    <a:pt x="5740" y="13120"/>
                    <a:pt x="4100" y="12300"/>
                    <a:pt x="3280" y="10660"/>
                  </a:cubicBezTo>
                  <a:close/>
                </a:path>
              </a:pathLst>
            </a:custGeom>
            <a:solidFill>
              <a:srgbClr val="8BBCC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5" name="Rectangle 1424"/>
            <p:cNvSpPr/>
            <p:nvPr/>
          </p:nvSpPr>
          <p:spPr>
            <a:xfrm>
              <a:off x="17859566" y="8970264"/>
              <a:ext cx="70295" cy="78105"/>
            </a:xfrm>
            <a:custGeom>
              <a:avLst/>
              <a:gdLst/>
              <a:ahLst/>
              <a:cxnLst/>
              <a:rect l="0" t="0" r="r" b="b"/>
              <a:pathLst>
                <a:path w="7380" h="8200" fill="norm">
                  <a:moveTo>
                    <a:pt x="1640" y="6560"/>
                  </a:moveTo>
                  <a:cubicBezTo>
                    <a:pt x="0" y="3280"/>
                    <a:pt x="3280" y="1640"/>
                    <a:pt x="3280" y="0"/>
                  </a:cubicBezTo>
                  <a:cubicBezTo>
                    <a:pt x="7380" y="4100"/>
                    <a:pt x="6560" y="7380"/>
                    <a:pt x="4100" y="8200"/>
                  </a:cubicBezTo>
                  <a:close/>
                </a:path>
              </a:pathLst>
            </a:custGeom>
            <a:solidFill>
              <a:srgbClr val="BEDAD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6" name="Rectangle 1425"/>
            <p:cNvSpPr/>
            <p:nvPr/>
          </p:nvSpPr>
          <p:spPr>
            <a:xfrm>
              <a:off x="14957679" y="8829675"/>
              <a:ext cx="257747" cy="234315"/>
            </a:xfrm>
            <a:custGeom>
              <a:avLst/>
              <a:gdLst/>
              <a:ahLst/>
              <a:cxnLst/>
              <a:rect l="0" t="0" r="r" b="b"/>
              <a:pathLst>
                <a:path w="27060" h="24600" fill="norm">
                  <a:moveTo>
                    <a:pt x="9840" y="22140"/>
                  </a:moveTo>
                  <a:cubicBezTo>
                    <a:pt x="0" y="21320"/>
                    <a:pt x="1640" y="11480"/>
                    <a:pt x="6560" y="8200"/>
                  </a:cubicBezTo>
                  <a:cubicBezTo>
                    <a:pt x="5740" y="13120"/>
                    <a:pt x="9020" y="14760"/>
                    <a:pt x="9840" y="9840"/>
                  </a:cubicBezTo>
                  <a:cubicBezTo>
                    <a:pt x="10660" y="4920"/>
                    <a:pt x="13940" y="4920"/>
                    <a:pt x="11480" y="0"/>
                  </a:cubicBezTo>
                  <a:cubicBezTo>
                    <a:pt x="20500" y="4920"/>
                    <a:pt x="16400" y="10660"/>
                    <a:pt x="20500" y="12300"/>
                  </a:cubicBezTo>
                  <a:cubicBezTo>
                    <a:pt x="22140" y="10660"/>
                    <a:pt x="21320" y="8200"/>
                    <a:pt x="21320" y="7380"/>
                  </a:cubicBezTo>
                  <a:cubicBezTo>
                    <a:pt x="27060" y="16400"/>
                    <a:pt x="23780" y="22960"/>
                    <a:pt x="16400" y="23780"/>
                  </a:cubicBezTo>
                  <a:cubicBezTo>
                    <a:pt x="13940" y="24600"/>
                    <a:pt x="11480" y="23780"/>
                    <a:pt x="9840" y="22140"/>
                  </a:cubicBezTo>
                  <a:close/>
                </a:path>
              </a:pathLst>
            </a:custGeom>
            <a:solidFill>
              <a:srgbClr val="4884A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7" name="Rectangle 1426"/>
            <p:cNvSpPr/>
            <p:nvPr/>
          </p:nvSpPr>
          <p:spPr>
            <a:xfrm>
              <a:off x="15012352" y="8923401"/>
              <a:ext cx="164021" cy="132778"/>
            </a:xfrm>
            <a:custGeom>
              <a:avLst/>
              <a:gdLst/>
              <a:ahLst/>
              <a:cxnLst/>
              <a:rect l="0" t="0" r="r" b="b"/>
              <a:pathLst>
                <a:path w="17220" h="13940" fill="norm">
                  <a:moveTo>
                    <a:pt x="3280" y="10660"/>
                  </a:moveTo>
                  <a:cubicBezTo>
                    <a:pt x="0" y="5740"/>
                    <a:pt x="4100" y="2460"/>
                    <a:pt x="4100" y="820"/>
                  </a:cubicBezTo>
                  <a:cubicBezTo>
                    <a:pt x="4100" y="5740"/>
                    <a:pt x="7380" y="4920"/>
                    <a:pt x="8200" y="0"/>
                  </a:cubicBezTo>
                  <a:cubicBezTo>
                    <a:pt x="12300" y="3280"/>
                    <a:pt x="11480" y="8200"/>
                    <a:pt x="13940" y="7380"/>
                  </a:cubicBezTo>
                  <a:cubicBezTo>
                    <a:pt x="13940" y="4920"/>
                    <a:pt x="13940" y="4100"/>
                    <a:pt x="14760" y="4100"/>
                  </a:cubicBezTo>
                  <a:cubicBezTo>
                    <a:pt x="17220" y="10660"/>
                    <a:pt x="12300" y="13940"/>
                    <a:pt x="8200" y="13120"/>
                  </a:cubicBezTo>
                  <a:cubicBezTo>
                    <a:pt x="5740" y="13120"/>
                    <a:pt x="4100" y="12300"/>
                    <a:pt x="3280" y="10660"/>
                  </a:cubicBezTo>
                  <a:close/>
                </a:path>
              </a:pathLst>
            </a:custGeom>
            <a:solidFill>
              <a:srgbClr val="8BBCC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8" name="Rectangle 1427"/>
            <p:cNvSpPr/>
            <p:nvPr/>
          </p:nvSpPr>
          <p:spPr>
            <a:xfrm>
              <a:off x="15059216" y="8970264"/>
              <a:ext cx="70295" cy="78105"/>
            </a:xfrm>
            <a:custGeom>
              <a:avLst/>
              <a:gdLst/>
              <a:ahLst/>
              <a:cxnLst/>
              <a:rect l="0" t="0" r="r" b="b"/>
              <a:pathLst>
                <a:path w="7380" h="8200" fill="norm">
                  <a:moveTo>
                    <a:pt x="1640" y="6560"/>
                  </a:moveTo>
                  <a:cubicBezTo>
                    <a:pt x="0" y="3280"/>
                    <a:pt x="3280" y="1640"/>
                    <a:pt x="3280" y="0"/>
                  </a:cubicBezTo>
                  <a:cubicBezTo>
                    <a:pt x="7380" y="4100"/>
                    <a:pt x="6560" y="7380"/>
                    <a:pt x="4100" y="8200"/>
                  </a:cubicBezTo>
                  <a:close/>
                </a:path>
              </a:pathLst>
            </a:custGeom>
            <a:solidFill>
              <a:srgbClr val="BEDAD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9" name="Rectangle 1428"/>
            <p:cNvSpPr/>
            <p:nvPr/>
          </p:nvSpPr>
          <p:spPr>
            <a:xfrm>
              <a:off x="12023979" y="8829675"/>
              <a:ext cx="257747" cy="234315"/>
            </a:xfrm>
            <a:custGeom>
              <a:avLst/>
              <a:gdLst/>
              <a:ahLst/>
              <a:cxnLst/>
              <a:rect l="0" t="0" r="r" b="b"/>
              <a:pathLst>
                <a:path w="27060" h="24600" fill="norm">
                  <a:moveTo>
                    <a:pt x="9840" y="22140"/>
                  </a:moveTo>
                  <a:cubicBezTo>
                    <a:pt x="0" y="21320"/>
                    <a:pt x="1640" y="11480"/>
                    <a:pt x="6560" y="8200"/>
                  </a:cubicBezTo>
                  <a:cubicBezTo>
                    <a:pt x="5740" y="13120"/>
                    <a:pt x="9020" y="14760"/>
                    <a:pt x="9840" y="9840"/>
                  </a:cubicBezTo>
                  <a:cubicBezTo>
                    <a:pt x="10660" y="4920"/>
                    <a:pt x="13940" y="4920"/>
                    <a:pt x="11480" y="0"/>
                  </a:cubicBezTo>
                  <a:cubicBezTo>
                    <a:pt x="20500" y="4920"/>
                    <a:pt x="16400" y="10660"/>
                    <a:pt x="20500" y="12300"/>
                  </a:cubicBezTo>
                  <a:cubicBezTo>
                    <a:pt x="22140" y="10660"/>
                    <a:pt x="21320" y="8200"/>
                    <a:pt x="21320" y="7380"/>
                  </a:cubicBezTo>
                  <a:cubicBezTo>
                    <a:pt x="27060" y="16400"/>
                    <a:pt x="23780" y="22960"/>
                    <a:pt x="16400" y="23780"/>
                  </a:cubicBezTo>
                  <a:cubicBezTo>
                    <a:pt x="13940" y="24600"/>
                    <a:pt x="11480" y="23780"/>
                    <a:pt x="9840" y="22140"/>
                  </a:cubicBezTo>
                  <a:close/>
                </a:path>
              </a:pathLst>
            </a:custGeom>
            <a:solidFill>
              <a:srgbClr val="4884A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0" name="Rectangle 1429"/>
            <p:cNvSpPr/>
            <p:nvPr/>
          </p:nvSpPr>
          <p:spPr>
            <a:xfrm>
              <a:off x="12078652" y="8923401"/>
              <a:ext cx="164021" cy="132778"/>
            </a:xfrm>
            <a:custGeom>
              <a:avLst/>
              <a:gdLst/>
              <a:ahLst/>
              <a:cxnLst/>
              <a:rect l="0" t="0" r="r" b="b"/>
              <a:pathLst>
                <a:path w="17220" h="13940" fill="norm">
                  <a:moveTo>
                    <a:pt x="3280" y="10660"/>
                  </a:moveTo>
                  <a:cubicBezTo>
                    <a:pt x="0" y="5740"/>
                    <a:pt x="4100" y="2460"/>
                    <a:pt x="4100" y="820"/>
                  </a:cubicBezTo>
                  <a:cubicBezTo>
                    <a:pt x="4100" y="5740"/>
                    <a:pt x="7380" y="4920"/>
                    <a:pt x="8200" y="0"/>
                  </a:cubicBezTo>
                  <a:cubicBezTo>
                    <a:pt x="12300" y="3280"/>
                    <a:pt x="11480" y="8200"/>
                    <a:pt x="13940" y="7380"/>
                  </a:cubicBezTo>
                  <a:cubicBezTo>
                    <a:pt x="13940" y="4920"/>
                    <a:pt x="13940" y="4100"/>
                    <a:pt x="14760" y="4100"/>
                  </a:cubicBezTo>
                  <a:cubicBezTo>
                    <a:pt x="17220" y="10660"/>
                    <a:pt x="12300" y="13940"/>
                    <a:pt x="8200" y="13120"/>
                  </a:cubicBezTo>
                  <a:cubicBezTo>
                    <a:pt x="5740" y="13120"/>
                    <a:pt x="4100" y="12300"/>
                    <a:pt x="3280" y="10660"/>
                  </a:cubicBezTo>
                  <a:close/>
                </a:path>
              </a:pathLst>
            </a:custGeom>
            <a:solidFill>
              <a:srgbClr val="8BBCC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1" name="Rectangle 1430"/>
            <p:cNvSpPr/>
            <p:nvPr/>
          </p:nvSpPr>
          <p:spPr>
            <a:xfrm>
              <a:off x="12125516" y="8970264"/>
              <a:ext cx="70295" cy="78105"/>
            </a:xfrm>
            <a:custGeom>
              <a:avLst/>
              <a:gdLst/>
              <a:ahLst/>
              <a:cxnLst/>
              <a:rect l="0" t="0" r="r" b="b"/>
              <a:pathLst>
                <a:path w="7380" h="8200" fill="norm">
                  <a:moveTo>
                    <a:pt x="1640" y="6560"/>
                  </a:moveTo>
                  <a:cubicBezTo>
                    <a:pt x="0" y="3280"/>
                    <a:pt x="3280" y="1640"/>
                    <a:pt x="3280" y="0"/>
                  </a:cubicBezTo>
                  <a:cubicBezTo>
                    <a:pt x="7380" y="4100"/>
                    <a:pt x="6560" y="7380"/>
                    <a:pt x="4100" y="8200"/>
                  </a:cubicBezTo>
                  <a:close/>
                </a:path>
              </a:pathLst>
            </a:custGeom>
            <a:solidFill>
              <a:srgbClr val="BEDAD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2" name="Rectangle 1431"/>
            <p:cNvSpPr/>
            <p:nvPr/>
          </p:nvSpPr>
          <p:spPr>
            <a:xfrm>
              <a:off x="15268575" y="8991600"/>
              <a:ext cx="542925" cy="952"/>
            </a:xfrm>
            <a:custGeom>
              <a:avLst/>
              <a:gdLst/>
              <a:ahLst/>
              <a:cxnLst/>
              <a:rect l="0" t="0" r="r" b="b"/>
              <a:pathLst>
                <a:path w="57000" h="100" fill="none">
                  <a:moveTo>
                    <a:pt x="57000" y="0"/>
                  </a:move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3" name="Rectangle 1432"/>
            <p:cNvSpPr/>
            <p:nvPr/>
          </p:nvSpPr>
          <p:spPr>
            <a:xfrm>
              <a:off x="15268575" y="8963596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0" y="2940"/>
                  </a:moveTo>
                  <a:lnTo>
                    <a:pt x="7000" y="5880"/>
                  </a:lnTo>
                  <a:lnTo>
                    <a:pt x="4690" y="2940"/>
                  </a:lnTo>
                  <a:lnTo>
                    <a:pt x="7000" y="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4" name="Rectangle 1433"/>
            <p:cNvSpPr/>
            <p:nvPr/>
          </p:nvSpPr>
          <p:spPr>
            <a:xfrm>
              <a:off x="12363450" y="8991600"/>
              <a:ext cx="561975" cy="952"/>
            </a:xfrm>
            <a:custGeom>
              <a:avLst/>
              <a:gdLst/>
              <a:ahLst/>
              <a:cxnLst/>
              <a:rect l="0" t="0" r="r" b="b"/>
              <a:pathLst>
                <a:path w="59000" h="100" fill="none">
                  <a:moveTo>
                    <a:pt x="59000" y="0"/>
                  </a:move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5" name="Rectangle 1434"/>
            <p:cNvSpPr/>
            <p:nvPr/>
          </p:nvSpPr>
          <p:spPr>
            <a:xfrm>
              <a:off x="12363450" y="8963596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0" y="2940"/>
                  </a:moveTo>
                  <a:lnTo>
                    <a:pt x="7000" y="5880"/>
                  </a:lnTo>
                  <a:lnTo>
                    <a:pt x="4690" y="2940"/>
                  </a:lnTo>
                  <a:lnTo>
                    <a:pt x="7000" y="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6" name="Rectangle 1435"/>
            <p:cNvSpPr/>
            <p:nvPr/>
          </p:nvSpPr>
          <p:spPr>
            <a:xfrm>
              <a:off x="9867900" y="8991600"/>
              <a:ext cx="409575" cy="952"/>
            </a:xfrm>
            <a:custGeom>
              <a:avLst/>
              <a:gdLst/>
              <a:ahLst/>
              <a:cxnLst/>
              <a:rect l="0" t="0" r="r" b="b"/>
              <a:pathLst>
                <a:path w="43000" h="100" fill="none">
                  <a:moveTo>
                    <a:pt x="43000" y="0"/>
                  </a:move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11111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7" name="Rectangle 1436"/>
            <p:cNvSpPr/>
            <p:nvPr/>
          </p:nvSpPr>
          <p:spPr>
            <a:xfrm>
              <a:off x="9867900" y="8963596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0" y="2940"/>
                  </a:moveTo>
                  <a:lnTo>
                    <a:pt x="7000" y="5880"/>
                  </a:lnTo>
                  <a:lnTo>
                    <a:pt x="4690" y="2940"/>
                  </a:lnTo>
                  <a:lnTo>
                    <a:pt x="7000" y="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8" name="Text: Future"/>
            <p:cNvSpPr txBox="1"/>
            <p:nvPr/>
          </p:nvSpPr>
          <p:spPr>
            <a:xfrm>
              <a:off x="9277350" y="8755380"/>
              <a:ext cx="564040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Future</a:t>
              </a:r>
            </a:p>
          </p:txBody>
        </p:sp>
        <p:sp>
          <p:nvSpPr>
            <p:cNvPr id="1439" name="Text: Value"/>
            <p:cNvSpPr txBox="1"/>
            <p:nvPr/>
          </p:nvSpPr>
          <p:spPr>
            <a:xfrm>
              <a:off x="9277350" y="8955405"/>
              <a:ext cx="500416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11111"/>
                  </a:solidFill>
                  <a:latin typeface="Liberation Serif"/>
                </a:rPr>
                <a:t>Value</a:t>
              </a:r>
            </a:p>
          </p:txBody>
        </p:sp>
        <p:sp>
          <p:nvSpPr>
            <p:cNvPr id="1440" name="Rectangle 1439"/>
            <p:cNvSpPr/>
            <p:nvPr/>
          </p:nvSpPr>
          <p:spPr>
            <a:xfrm>
              <a:off x="18002250" y="8248650"/>
              <a:ext cx="219075" cy="742950"/>
            </a:xfrm>
            <a:custGeom>
              <a:avLst/>
              <a:gdLst/>
              <a:ahLst/>
              <a:cxnLst/>
              <a:rect l="0" t="0" r="r" b="b"/>
              <a:pathLst>
                <a:path w="23000" h="78000" fill="none">
                  <a:moveTo>
                    <a:pt x="0" y="0"/>
                  </a:moveTo>
                  <a:lnTo>
                    <a:pt x="23000" y="0"/>
                  </a:lnTo>
                  <a:lnTo>
                    <a:pt x="23000" y="78000"/>
                  </a:lnTo>
                  <a:lnTo>
                    <a:pt x="2000" y="78000"/>
                  </a:lnTo>
                </a:path>
              </a:pathLst>
            </a:custGeom>
            <a:noFill/>
            <a:ln w="9525" cap="rnd">
              <a:solidFill>
                <a:srgbClr val="929292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1" name="Rectangle 1440"/>
            <p:cNvSpPr/>
            <p:nvPr/>
          </p:nvSpPr>
          <p:spPr>
            <a:xfrm>
              <a:off x="18021300" y="8963596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0" y="2940"/>
                  </a:moveTo>
                  <a:lnTo>
                    <a:pt x="7000" y="5880"/>
                  </a:lnTo>
                  <a:lnTo>
                    <a:pt x="4690" y="2940"/>
                  </a:lnTo>
                  <a:lnTo>
                    <a:pt x="7000" y="0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56" name="08_Cross_Module_Connections"/>
          <p:cNvGrpSpPr/>
          <p:nvPr/>
        </p:nvGrpSpPr>
        <p:grpSpPr>
          <a:xfrm>
            <a:off x="142875" y="2495550"/>
            <a:ext cx="17087278" cy="5553075"/>
            <a:chOff x="142875" y="2495550"/>
            <a:chExt cx="17087278" cy="5553075"/>
          </a:xfrm>
        </p:grpSpPr>
        <p:sp>
          <p:nvSpPr>
            <p:cNvPr id="1443" name="Rectangle 1442"/>
            <p:cNvSpPr/>
            <p:nvPr/>
          </p:nvSpPr>
          <p:spPr>
            <a:xfrm>
              <a:off x="142875" y="2495550"/>
              <a:ext cx="257175" cy="1371600"/>
            </a:xfrm>
            <a:custGeom>
              <a:avLst/>
              <a:gdLst/>
              <a:ahLst/>
              <a:cxnLst/>
              <a:rect l="0" t="0" r="r" b="b"/>
              <a:pathLst>
                <a:path w="27000" h="144000" fill="none">
                  <a:moveTo>
                    <a:pt x="27000" y="0"/>
                  </a:moveTo>
                  <a:lnTo>
                    <a:pt x="0" y="0"/>
                  </a:lnTo>
                  <a:lnTo>
                    <a:pt x="0" y="144000"/>
                  </a:lnTo>
                  <a:lnTo>
                    <a:pt x="25000" y="144000"/>
                  </a:lnTo>
                </a:path>
              </a:pathLst>
            </a:custGeom>
            <a:noFill/>
            <a:ln w="9525" cap="rnd">
              <a:solidFill>
                <a:srgbClr val="939393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4" name="Rectangle 1443"/>
            <p:cNvSpPr/>
            <p:nvPr/>
          </p:nvSpPr>
          <p:spPr>
            <a:xfrm>
              <a:off x="314325" y="3839146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7000" y="2940"/>
                  </a:moveTo>
                  <a:lnTo>
                    <a:pt x="0" y="0"/>
                  </a:lnTo>
                  <a:lnTo>
                    <a:pt x="2310" y="2940"/>
                  </a:lnTo>
                  <a:lnTo>
                    <a:pt x="0" y="5880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5" name="Rectangle 1444"/>
            <p:cNvSpPr/>
            <p:nvPr/>
          </p:nvSpPr>
          <p:spPr>
            <a:xfrm>
              <a:off x="190500" y="3810000"/>
              <a:ext cx="8515350" cy="1143000"/>
            </a:xfrm>
            <a:custGeom>
              <a:avLst/>
              <a:gdLst/>
              <a:ahLst/>
              <a:cxnLst/>
              <a:rect l="0" t="0" r="r" b="b"/>
              <a:pathLst>
                <a:path w="894000" h="120000" fill="none">
                  <a:moveTo>
                    <a:pt x="881000" y="0"/>
                  </a:moveTo>
                  <a:lnTo>
                    <a:pt x="894000" y="0"/>
                  </a:lnTo>
                  <a:lnTo>
                    <a:pt x="894000" y="66000"/>
                  </a:lnTo>
                  <a:lnTo>
                    <a:pt x="0" y="66000"/>
                  </a:lnTo>
                  <a:lnTo>
                    <a:pt x="0" y="120000"/>
                  </a:lnTo>
                  <a:lnTo>
                    <a:pt x="13000" y="120000"/>
                  </a:lnTo>
                </a:path>
              </a:pathLst>
            </a:custGeom>
            <a:noFill/>
            <a:ln w="9525" cap="rnd">
              <a:solidFill>
                <a:srgbClr val="939393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6" name="Rectangle 1445"/>
            <p:cNvSpPr/>
            <p:nvPr/>
          </p:nvSpPr>
          <p:spPr>
            <a:xfrm>
              <a:off x="247650" y="4924996"/>
              <a:ext cx="66675" cy="56007"/>
            </a:xfrm>
            <a:custGeom>
              <a:avLst/>
              <a:gdLst/>
              <a:ahLst/>
              <a:cxnLst/>
              <a:rect l="0" t="0" r="r" b="b"/>
              <a:pathLst>
                <a:path w="7000" h="5880" fill="norm">
                  <a:moveTo>
                    <a:pt x="7000" y="2940"/>
                  </a:moveTo>
                  <a:lnTo>
                    <a:pt x="0" y="0"/>
                  </a:lnTo>
                  <a:lnTo>
                    <a:pt x="2310" y="2940"/>
                  </a:lnTo>
                  <a:lnTo>
                    <a:pt x="0" y="5880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7" name="Rectangle 1446"/>
            <p:cNvSpPr/>
            <p:nvPr/>
          </p:nvSpPr>
          <p:spPr>
            <a:xfrm>
              <a:off x="7239000" y="5305425"/>
              <a:ext cx="952" cy="933450"/>
            </a:xfrm>
            <a:custGeom>
              <a:avLst/>
              <a:gdLst/>
              <a:ahLst/>
              <a:cxnLst/>
              <a:rect l="0" t="0" r="r" b="b"/>
              <a:pathLst>
                <a:path w="100" h="98000" fill="none">
                  <a:moveTo>
                    <a:pt x="0" y="0"/>
                  </a:moveTo>
                  <a:lnTo>
                    <a:pt x="0" y="98000"/>
                  </a:lnTo>
                </a:path>
              </a:pathLst>
            </a:custGeom>
            <a:noFill/>
            <a:ln w="9525" cap="rnd">
              <a:solidFill>
                <a:srgbClr val="888888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8" name="Rectangle 1447"/>
            <p:cNvSpPr/>
            <p:nvPr/>
          </p:nvSpPr>
          <p:spPr>
            <a:xfrm>
              <a:off x="7210996" y="6172200"/>
              <a:ext cx="56007" cy="66675"/>
            </a:xfrm>
            <a:custGeom>
              <a:avLst/>
              <a:gdLst/>
              <a:ahLst/>
              <a:cxnLst/>
              <a:rect l="0" t="0" r="r" b="b"/>
              <a:pathLst>
                <a:path w="5880" h="7000" fill="norm">
                  <a:moveTo>
                    <a:pt x="2940" y="7000"/>
                  </a:moveTo>
                  <a:lnTo>
                    <a:pt x="5880" y="0"/>
                  </a:lnTo>
                  <a:lnTo>
                    <a:pt x="2940" y="23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888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9" name="Rectangle 1448"/>
            <p:cNvSpPr/>
            <p:nvPr/>
          </p:nvSpPr>
          <p:spPr>
            <a:xfrm>
              <a:off x="15621000" y="2733675"/>
              <a:ext cx="1247775" cy="666750"/>
            </a:xfrm>
            <a:custGeom>
              <a:avLst/>
              <a:gdLst/>
              <a:ahLst/>
              <a:cxnLst/>
              <a:rect l="0" t="0" r="r" b="b"/>
              <a:pathLst>
                <a:path w="131000" h="70000" fill="none">
                  <a:moveTo>
                    <a:pt x="0" y="0"/>
                  </a:moveTo>
                  <a:lnTo>
                    <a:pt x="0" y="36000"/>
                  </a:lnTo>
                  <a:lnTo>
                    <a:pt x="131000" y="36000"/>
                  </a:lnTo>
                  <a:lnTo>
                    <a:pt x="131000" y="70000"/>
                  </a:lnTo>
                </a:path>
              </a:pathLst>
            </a:custGeom>
            <a:noFill/>
            <a:ln w="9525" cap="rnd">
              <a:solidFill>
                <a:srgbClr val="939393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0" name="Rectangle 1449"/>
            <p:cNvSpPr/>
            <p:nvPr/>
          </p:nvSpPr>
          <p:spPr>
            <a:xfrm>
              <a:off x="16840772" y="3333750"/>
              <a:ext cx="56007" cy="66675"/>
            </a:xfrm>
            <a:custGeom>
              <a:avLst/>
              <a:gdLst/>
              <a:ahLst/>
              <a:cxnLst/>
              <a:rect l="0" t="0" r="r" b="b"/>
              <a:pathLst>
                <a:path w="5880" h="7000" fill="norm">
                  <a:moveTo>
                    <a:pt x="2940" y="7000"/>
                  </a:moveTo>
                  <a:lnTo>
                    <a:pt x="5880" y="0"/>
                  </a:lnTo>
                  <a:lnTo>
                    <a:pt x="2940" y="23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1" name="Text: H_{fused}"/>
            <p:cNvSpPr txBox="1"/>
            <p:nvPr/>
          </p:nvSpPr>
          <p:spPr>
            <a:xfrm>
              <a:off x="15782925" y="2783205"/>
              <a:ext cx="497792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11111"/>
                  </a:solidFill>
                  <a:latin typeface="Liberation Serif"/>
                </a:rPr>
                <a:t>H</a:t>
              </a:r>
              <a:r>
                <a:rPr sz="1500" b="0" i="1" baseline="-25000">
                  <a:solidFill>
                    <a:srgbClr val="111111"/>
                  </a:solidFill>
                  <a:latin typeface="Liberation Serif"/>
                </a:rPr>
                <a:t>fused</a:t>
              </a:r>
            </a:p>
          </p:txBody>
        </p:sp>
        <p:sp>
          <p:nvSpPr>
            <p:cNvPr id="1452" name="Rectangle 1451"/>
            <p:cNvSpPr/>
            <p:nvPr/>
          </p:nvSpPr>
          <p:spPr>
            <a:xfrm>
              <a:off x="9525000" y="5581650"/>
              <a:ext cx="1009650" cy="714375"/>
            </a:xfrm>
            <a:custGeom>
              <a:avLst/>
              <a:gdLst/>
              <a:ahLst/>
              <a:cxnLst/>
              <a:rect l="0" t="0" r="r" b="b"/>
              <a:pathLst>
                <a:path w="106000" h="75000" fill="none">
                  <a:moveTo>
                    <a:pt x="106000" y="0"/>
                  </a:moveTo>
                  <a:lnTo>
                    <a:pt x="106000" y="51000"/>
                  </a:lnTo>
                  <a:lnTo>
                    <a:pt x="0" y="51000"/>
                  </a:lnTo>
                  <a:lnTo>
                    <a:pt x="0" y="75000"/>
                  </a:lnTo>
                </a:path>
              </a:pathLst>
            </a:custGeom>
            <a:noFill/>
            <a:ln w="9525" cap="rnd">
              <a:solidFill>
                <a:srgbClr val="939393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3" name="Rectangle 1452"/>
            <p:cNvSpPr/>
            <p:nvPr/>
          </p:nvSpPr>
          <p:spPr>
            <a:xfrm>
              <a:off x="9496996" y="6229350"/>
              <a:ext cx="56007" cy="66675"/>
            </a:xfrm>
            <a:custGeom>
              <a:avLst/>
              <a:gdLst/>
              <a:ahLst/>
              <a:cxnLst/>
              <a:rect l="0" t="0" r="r" b="b"/>
              <a:pathLst>
                <a:path w="5880" h="7000" fill="norm">
                  <a:moveTo>
                    <a:pt x="2940" y="7000"/>
                  </a:moveTo>
                  <a:lnTo>
                    <a:pt x="5880" y="0"/>
                  </a:lnTo>
                  <a:lnTo>
                    <a:pt x="2940" y="23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4" name="Rectangle 1453"/>
            <p:cNvSpPr/>
            <p:nvPr/>
          </p:nvSpPr>
          <p:spPr>
            <a:xfrm>
              <a:off x="17202150" y="7086600"/>
              <a:ext cx="952" cy="962025"/>
            </a:xfrm>
            <a:custGeom>
              <a:avLst/>
              <a:gdLst/>
              <a:ahLst/>
              <a:cxnLst/>
              <a:rect l="0" t="0" r="r" b="b"/>
              <a:pathLst>
                <a:path w="100" h="101000" fill="none">
                  <a:moveTo>
                    <a:pt x="0" y="0"/>
                  </a:moveTo>
                  <a:lnTo>
                    <a:pt x="0" y="101000"/>
                  </a:lnTo>
                </a:path>
              </a:pathLst>
            </a:custGeom>
            <a:noFill/>
            <a:ln w="9525" cap="rnd">
              <a:solidFill>
                <a:srgbClr val="939393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5" name="Rectangle 1454"/>
            <p:cNvSpPr/>
            <p:nvPr/>
          </p:nvSpPr>
          <p:spPr>
            <a:xfrm>
              <a:off x="17174146" y="7981950"/>
              <a:ext cx="56007" cy="66675"/>
            </a:xfrm>
            <a:custGeom>
              <a:avLst/>
              <a:gdLst/>
              <a:ahLst/>
              <a:cxnLst/>
              <a:rect l="0" t="0" r="r" b="b"/>
              <a:pathLst>
                <a:path w="5880" h="7000" fill="norm">
                  <a:moveTo>
                    <a:pt x="2940" y="7000"/>
                  </a:moveTo>
                  <a:lnTo>
                    <a:pt x="5880" y="0"/>
                  </a:lnTo>
                  <a:lnTo>
                    <a:pt x="2940" y="23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59" name="09_Stage_Captions"/>
          <p:cNvGrpSpPr/>
          <p:nvPr/>
        </p:nvGrpSpPr>
        <p:grpSpPr>
          <a:xfrm>
            <a:off x="1813471" y="9518047"/>
            <a:ext cx="14355487" cy="385762"/>
            <a:chOff x="1813471" y="9518047"/>
            <a:chExt cx="14355487" cy="385762"/>
          </a:xfrm>
        </p:grpSpPr>
        <p:sp>
          <p:nvSpPr>
            <p:cNvPr id="1457" name="Text: Stage 1: Universal Temporal Pretraining (UTP)"/>
            <p:cNvSpPr txBox="1"/>
            <p:nvPr/>
          </p:nvSpPr>
          <p:spPr>
            <a:xfrm>
              <a:off x="1813471" y="9518047"/>
              <a:ext cx="5269409" cy="3857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25" b="1" i="0">
                  <a:solidFill>
                    <a:srgbClr val="111111"/>
                  </a:solidFill>
                  <a:latin typeface="Liberation Serif"/>
                </a:rPr>
                <a:t>Stage 1: Universal Temporal Pretraining (UTP)</a:t>
              </a:r>
            </a:p>
          </p:txBody>
        </p:sp>
        <p:sp>
          <p:nvSpPr>
            <p:cNvPr id="1458" name="Text: Stage 2: Spatio-Temporal Adaptation (STA)"/>
            <p:cNvSpPr txBox="1"/>
            <p:nvPr/>
          </p:nvSpPr>
          <p:spPr>
            <a:xfrm>
              <a:off x="11301143" y="9518047"/>
              <a:ext cx="4867815" cy="3857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25" b="1" i="0">
                  <a:solidFill>
                    <a:srgbClr val="111111"/>
                  </a:solidFill>
                  <a:latin typeface="Liberation Serif"/>
                </a:rPr>
                <a:t>Stage 2: Spatio-Temporal Adaptation (STA)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Learning to Factorize Spatio-Temporal Foundation Model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8393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to Factorize Spatio-Temporal Foundation Models</dc:title>
  <dc:subject>Editable reconstruction of the supplied architecture diagram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