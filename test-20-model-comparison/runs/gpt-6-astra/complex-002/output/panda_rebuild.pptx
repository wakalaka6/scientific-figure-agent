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7721072" cy="1155801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Reconstructed from the supplied reference image. All text, panel shapes, arrows, banners, film-strip perforations and memory-loop shapes are editable PowerPoint objects. Video thumbnails, pandas, and small illustrated icons are individual picture objects. Source spelling and wording are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00 White canvas"/>
          <p:cNvSpPr/>
          <p:nvPr/>
        </p:nvSpPr>
        <p:spPr>
          <a:xfrm>
            <a:off x="0" y="0"/>
            <a:ext cx="17721072" cy="1155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001 Anomaly Knowledge background"/>
          <p:cNvSpPr/>
          <p:nvPr/>
        </p:nvSpPr>
        <p:spPr>
          <a:xfrm>
            <a:off x="192024" y="2615184"/>
            <a:ext cx="2825496" cy="2276856"/>
          </a:xfrm>
          <a:prstGeom prst="roundRect">
            <a:avLst>
              <a:gd name="adj" fmla="val 18072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002 Anomaly Knowledge hatch 5"/>
          <p:cNvSpPr/>
          <p:nvPr/>
        </p:nvSpPr>
        <p:spPr>
          <a:xfrm>
            <a:off x="232197" y="4657893"/>
            <a:ext cx="193974" cy="193974"/>
          </a:xfrm>
          <a:custGeom>
            <a:avLst/>
            <a:gdLst/>
            <a:ahLst/>
            <a:cxnLst/>
            <a:rect l="0" t="0" r="r" b="b"/>
            <a:pathLst>
              <a:path w="193974" h="193974">
                <a:moveTo>
                  <a:pt x="0" y="0"/>
                </a:moveTo>
                <a:lnTo>
                  <a:pt x="193974" y="19397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003 Anomaly Knowledge hatch 6"/>
          <p:cNvSpPr/>
          <p:nvPr/>
        </p:nvSpPr>
        <p:spPr>
          <a:xfrm>
            <a:off x="198023" y="4550567"/>
            <a:ext cx="335474" cy="335474"/>
          </a:xfrm>
          <a:custGeom>
            <a:avLst/>
            <a:gdLst/>
            <a:ahLst/>
            <a:cxnLst/>
            <a:rect l="0" t="0" r="r" b="b"/>
            <a:pathLst>
              <a:path w="335474" h="335474">
                <a:moveTo>
                  <a:pt x="0" y="0"/>
                </a:moveTo>
                <a:lnTo>
                  <a:pt x="335474" y="33547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004 Anomaly Knowledge hatch 7"/>
          <p:cNvSpPr/>
          <p:nvPr/>
        </p:nvSpPr>
        <p:spPr>
          <a:xfrm>
            <a:off x="192024" y="4471416"/>
            <a:ext cx="420624" cy="420624"/>
          </a:xfrm>
          <a:custGeom>
            <a:avLst/>
            <a:gdLst/>
            <a:ahLst/>
            <a:cxnLst/>
            <a:rect l="0" t="0" r="r" b="b"/>
            <a:pathLst>
              <a:path w="420624" h="420624">
                <a:moveTo>
                  <a:pt x="0" y="0"/>
                </a:moveTo>
                <a:lnTo>
                  <a:pt x="420624" y="42062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005 Anomaly Knowledge hatch 8"/>
          <p:cNvSpPr/>
          <p:nvPr/>
        </p:nvSpPr>
        <p:spPr>
          <a:xfrm>
            <a:off x="192024" y="4398264"/>
            <a:ext cx="493776" cy="493776"/>
          </a:xfrm>
          <a:custGeom>
            <a:avLst/>
            <a:gdLst/>
            <a:ahLst/>
            <a:cxnLst/>
            <a:rect l="0" t="0" r="r" b="b"/>
            <a:pathLst>
              <a:path w="493776" h="493776">
                <a:moveTo>
                  <a:pt x="0" y="0"/>
                </a:moveTo>
                <a:lnTo>
                  <a:pt x="493776" y="49377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006 Anomaly Knowledge hatch 9"/>
          <p:cNvSpPr/>
          <p:nvPr/>
        </p:nvSpPr>
        <p:spPr>
          <a:xfrm>
            <a:off x="192024" y="4325112"/>
            <a:ext cx="566928" cy="566928"/>
          </a:xfrm>
          <a:custGeom>
            <a:avLst/>
            <a:gdLst/>
            <a:ahLst/>
            <a:cxnLst/>
            <a:rect l="0" t="0" r="r" b="b"/>
            <a:pathLst>
              <a:path w="566928" h="566928">
                <a:moveTo>
                  <a:pt x="0" y="0"/>
                </a:moveTo>
                <a:lnTo>
                  <a:pt x="566928" y="56692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007 Anomaly Knowledge hatch 10"/>
          <p:cNvSpPr/>
          <p:nvPr/>
        </p:nvSpPr>
        <p:spPr>
          <a:xfrm>
            <a:off x="192024" y="4251960"/>
            <a:ext cx="640080" cy="640080"/>
          </a:xfrm>
          <a:custGeom>
            <a:avLst/>
            <a:gdLst/>
            <a:ahLst/>
            <a:cxnLst/>
            <a:rect l="0" t="0" r="r" b="b"/>
            <a:pathLst>
              <a:path w="640080" h="640080">
                <a:moveTo>
                  <a:pt x="0" y="0"/>
                </a:moveTo>
                <a:lnTo>
                  <a:pt x="640080" y="64008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008 Anomaly Knowledge hatch 11"/>
          <p:cNvSpPr/>
          <p:nvPr/>
        </p:nvSpPr>
        <p:spPr>
          <a:xfrm>
            <a:off x="192024" y="4178808"/>
            <a:ext cx="713232" cy="713232"/>
          </a:xfrm>
          <a:custGeom>
            <a:avLst/>
            <a:gdLst/>
            <a:ahLst/>
            <a:cxnLst/>
            <a:rect l="0" t="0" r="r" b="b"/>
            <a:pathLst>
              <a:path w="713232" h="713232">
                <a:moveTo>
                  <a:pt x="0" y="0"/>
                </a:moveTo>
                <a:lnTo>
                  <a:pt x="713232" y="71323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009 Anomaly Knowledge hatch 12"/>
          <p:cNvSpPr/>
          <p:nvPr/>
        </p:nvSpPr>
        <p:spPr>
          <a:xfrm>
            <a:off x="192024" y="4105656"/>
            <a:ext cx="786384" cy="786384"/>
          </a:xfrm>
          <a:custGeom>
            <a:avLst/>
            <a:gdLst/>
            <a:ahLst/>
            <a:cxnLst/>
            <a:rect l="0" t="0" r="r" b="b"/>
            <a:pathLst>
              <a:path w="786384" h="786384">
                <a:moveTo>
                  <a:pt x="0" y="0"/>
                </a:moveTo>
                <a:lnTo>
                  <a:pt x="786384" y="78638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010 Anomaly Knowledge hatch 13"/>
          <p:cNvSpPr/>
          <p:nvPr/>
        </p:nvSpPr>
        <p:spPr>
          <a:xfrm>
            <a:off x="192024" y="4032504"/>
            <a:ext cx="859536" cy="859536"/>
          </a:xfrm>
          <a:custGeom>
            <a:avLst/>
            <a:gdLst/>
            <a:ahLst/>
            <a:cxnLst/>
            <a:rect l="0" t="0" r="r" b="b"/>
            <a:pathLst>
              <a:path w="859536" h="859536">
                <a:moveTo>
                  <a:pt x="0" y="0"/>
                </a:moveTo>
                <a:lnTo>
                  <a:pt x="859536" y="85953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011 Anomaly Knowledge hatch 14"/>
          <p:cNvSpPr/>
          <p:nvPr/>
        </p:nvSpPr>
        <p:spPr>
          <a:xfrm>
            <a:off x="192024" y="3959352"/>
            <a:ext cx="932688" cy="932688"/>
          </a:xfrm>
          <a:custGeom>
            <a:avLst/>
            <a:gdLst/>
            <a:ahLst/>
            <a:cxnLst/>
            <a:rect l="0" t="0" r="r" b="b"/>
            <a:pathLst>
              <a:path w="932688" h="932688">
                <a:moveTo>
                  <a:pt x="0" y="0"/>
                </a:moveTo>
                <a:lnTo>
                  <a:pt x="932688" y="93268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012 Anomaly Knowledge hatch 15"/>
          <p:cNvSpPr/>
          <p:nvPr/>
        </p:nvSpPr>
        <p:spPr>
          <a:xfrm>
            <a:off x="192024" y="3886200"/>
            <a:ext cx="1005840" cy="1005840"/>
          </a:xfrm>
          <a:custGeom>
            <a:avLst/>
            <a:gdLst/>
            <a:ahLst/>
            <a:cxnLst/>
            <a:rect l="0" t="0" r="r" b="b"/>
            <a:pathLst>
              <a:path w="1005840" h="1005840">
                <a:moveTo>
                  <a:pt x="0" y="0"/>
                </a:moveTo>
                <a:lnTo>
                  <a:pt x="1005840" y="100584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013 Anomaly Knowledge hatch 16"/>
          <p:cNvSpPr/>
          <p:nvPr/>
        </p:nvSpPr>
        <p:spPr>
          <a:xfrm>
            <a:off x="192024" y="3813048"/>
            <a:ext cx="1078992" cy="1078992"/>
          </a:xfrm>
          <a:custGeom>
            <a:avLst/>
            <a:gdLst/>
            <a:ahLst/>
            <a:cxnLst/>
            <a:rect l="0" t="0" r="r" b="b"/>
            <a:pathLst>
              <a:path w="1078992" h="1078992">
                <a:moveTo>
                  <a:pt x="0" y="0"/>
                </a:moveTo>
                <a:lnTo>
                  <a:pt x="1078992" y="107899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014 Anomaly Knowledge hatch 17"/>
          <p:cNvSpPr/>
          <p:nvPr/>
        </p:nvSpPr>
        <p:spPr>
          <a:xfrm>
            <a:off x="192024" y="3739896"/>
            <a:ext cx="1152144" cy="1152144"/>
          </a:xfrm>
          <a:custGeom>
            <a:avLst/>
            <a:gdLst/>
            <a:ahLst/>
            <a:cxnLst/>
            <a:rect l="0" t="0" r="r" b="b"/>
            <a:pathLst>
              <a:path w="1152144" h="1152144">
                <a:moveTo>
                  <a:pt x="0" y="0"/>
                </a:moveTo>
                <a:lnTo>
                  <a:pt x="1152144" y="115214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015 Anomaly Knowledge hatch 18"/>
          <p:cNvSpPr/>
          <p:nvPr/>
        </p:nvSpPr>
        <p:spPr>
          <a:xfrm>
            <a:off x="192024" y="3666744"/>
            <a:ext cx="1225296" cy="1225296"/>
          </a:xfrm>
          <a:custGeom>
            <a:avLst/>
            <a:gdLst/>
            <a:ahLst/>
            <a:cxnLst/>
            <a:rect l="0" t="0" r="r" b="b"/>
            <a:pathLst>
              <a:path w="1225296" h="1225296">
                <a:moveTo>
                  <a:pt x="0" y="0"/>
                </a:moveTo>
                <a:lnTo>
                  <a:pt x="1225296" y="122529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016 Anomaly Knowledge hatch 19"/>
          <p:cNvSpPr/>
          <p:nvPr/>
        </p:nvSpPr>
        <p:spPr>
          <a:xfrm>
            <a:off x="192024" y="3593592"/>
            <a:ext cx="1298448" cy="1298448"/>
          </a:xfrm>
          <a:custGeom>
            <a:avLst/>
            <a:gdLst/>
            <a:ahLst/>
            <a:cxnLst/>
            <a:rect l="0" t="0" r="r" b="b"/>
            <a:pathLst>
              <a:path w="1298448" h="1298448">
                <a:moveTo>
                  <a:pt x="0" y="0"/>
                </a:moveTo>
                <a:lnTo>
                  <a:pt x="1298448" y="129844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017 Anomaly Knowledge hatch 20"/>
          <p:cNvSpPr/>
          <p:nvPr/>
        </p:nvSpPr>
        <p:spPr>
          <a:xfrm>
            <a:off x="192024" y="3520440"/>
            <a:ext cx="1371600" cy="1371600"/>
          </a:xfrm>
          <a:custGeom>
            <a:avLst/>
            <a:gdLst/>
            <a:ahLst/>
            <a:cxnLst/>
            <a:rect l="0" t="0" r="r" b="b"/>
            <a:pathLst>
              <a:path w="1371600" h="1371600">
                <a:moveTo>
                  <a:pt x="0" y="0"/>
                </a:moveTo>
                <a:lnTo>
                  <a:pt x="1371600" y="13716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018 Anomaly Knowledge hatch 21"/>
          <p:cNvSpPr/>
          <p:nvPr/>
        </p:nvSpPr>
        <p:spPr>
          <a:xfrm>
            <a:off x="192024" y="3447288"/>
            <a:ext cx="1444752" cy="1444752"/>
          </a:xfrm>
          <a:custGeom>
            <a:avLst/>
            <a:gdLst/>
            <a:ahLst/>
            <a:cxnLst/>
            <a:rect l="0" t="0" r="r" b="b"/>
            <a:pathLst>
              <a:path w="1444752" h="1444752">
                <a:moveTo>
                  <a:pt x="0" y="0"/>
                </a:moveTo>
                <a:lnTo>
                  <a:pt x="1444752" y="144475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019 Anomaly Knowledge hatch 22"/>
          <p:cNvSpPr/>
          <p:nvPr/>
        </p:nvSpPr>
        <p:spPr>
          <a:xfrm>
            <a:off x="192024" y="3374136"/>
            <a:ext cx="1517904" cy="1517904"/>
          </a:xfrm>
          <a:custGeom>
            <a:avLst/>
            <a:gdLst/>
            <a:ahLst/>
            <a:cxnLst/>
            <a:rect l="0" t="0" r="r" b="b"/>
            <a:pathLst>
              <a:path w="1517904" h="1517904">
                <a:moveTo>
                  <a:pt x="0" y="0"/>
                </a:moveTo>
                <a:lnTo>
                  <a:pt x="1517904" y="151790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020 Anomaly Knowledge hatch 23"/>
          <p:cNvSpPr/>
          <p:nvPr/>
        </p:nvSpPr>
        <p:spPr>
          <a:xfrm>
            <a:off x="192024" y="3300984"/>
            <a:ext cx="1591056" cy="1591056"/>
          </a:xfrm>
          <a:custGeom>
            <a:avLst/>
            <a:gdLst/>
            <a:ahLst/>
            <a:cxnLst/>
            <a:rect l="0" t="0" r="r" b="b"/>
            <a:pathLst>
              <a:path w="1591056" h="1591056">
                <a:moveTo>
                  <a:pt x="0" y="0"/>
                </a:moveTo>
                <a:lnTo>
                  <a:pt x="1591056" y="159105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021 Anomaly Knowledge hatch 24"/>
          <p:cNvSpPr/>
          <p:nvPr/>
        </p:nvSpPr>
        <p:spPr>
          <a:xfrm>
            <a:off x="192024" y="3227832"/>
            <a:ext cx="1664208" cy="1664208"/>
          </a:xfrm>
          <a:custGeom>
            <a:avLst/>
            <a:gdLst/>
            <a:ahLst/>
            <a:cxnLst/>
            <a:rect l="0" t="0" r="r" b="b"/>
            <a:pathLst>
              <a:path w="1664208" h="1664208">
                <a:moveTo>
                  <a:pt x="0" y="0"/>
                </a:moveTo>
                <a:lnTo>
                  <a:pt x="1664208" y="166420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022 Anomaly Knowledge hatch 25"/>
          <p:cNvSpPr/>
          <p:nvPr/>
        </p:nvSpPr>
        <p:spPr>
          <a:xfrm>
            <a:off x="192024" y="3154680"/>
            <a:ext cx="1737360" cy="1737360"/>
          </a:xfrm>
          <a:custGeom>
            <a:avLst/>
            <a:gdLst/>
            <a:ahLst/>
            <a:cxnLst/>
            <a:rect l="0" t="0" r="r" b="b"/>
            <a:pathLst>
              <a:path w="1737360" h="1737360">
                <a:moveTo>
                  <a:pt x="0" y="0"/>
                </a:moveTo>
                <a:lnTo>
                  <a:pt x="1737360" y="173736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023 Anomaly Knowledge hatch 26"/>
          <p:cNvSpPr/>
          <p:nvPr/>
        </p:nvSpPr>
        <p:spPr>
          <a:xfrm>
            <a:off x="192024" y="3081528"/>
            <a:ext cx="1810512" cy="1810512"/>
          </a:xfrm>
          <a:custGeom>
            <a:avLst/>
            <a:gdLst/>
            <a:ahLst/>
            <a:cxnLst/>
            <a:rect l="0" t="0" r="r" b="b"/>
            <a:pathLst>
              <a:path w="1810512" h="1810512">
                <a:moveTo>
                  <a:pt x="0" y="0"/>
                </a:moveTo>
                <a:lnTo>
                  <a:pt x="1810512" y="181051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024 Anomaly Knowledge hatch 27"/>
          <p:cNvSpPr/>
          <p:nvPr/>
        </p:nvSpPr>
        <p:spPr>
          <a:xfrm>
            <a:off x="192413" y="3008765"/>
            <a:ext cx="1883275" cy="1883275"/>
          </a:xfrm>
          <a:custGeom>
            <a:avLst/>
            <a:gdLst/>
            <a:ahLst/>
            <a:cxnLst/>
            <a:rect l="0" t="0" r="r" b="b"/>
            <a:pathLst>
              <a:path w="1883275" h="1883275">
                <a:moveTo>
                  <a:pt x="0" y="0"/>
                </a:moveTo>
                <a:lnTo>
                  <a:pt x="1883275" y="1883275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025 Anomaly Knowledge hatch 28"/>
          <p:cNvSpPr/>
          <p:nvPr/>
        </p:nvSpPr>
        <p:spPr>
          <a:xfrm>
            <a:off x="200479" y="2943679"/>
            <a:ext cx="1948361" cy="1948361"/>
          </a:xfrm>
          <a:custGeom>
            <a:avLst/>
            <a:gdLst/>
            <a:ahLst/>
            <a:cxnLst/>
            <a:rect l="0" t="0" r="r" b="b"/>
            <a:pathLst>
              <a:path w="1948361" h="1948361">
                <a:moveTo>
                  <a:pt x="0" y="0"/>
                </a:moveTo>
                <a:lnTo>
                  <a:pt x="1948361" y="1948361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026 Anomaly Knowledge hatch 29"/>
          <p:cNvSpPr/>
          <p:nvPr/>
        </p:nvSpPr>
        <p:spPr>
          <a:xfrm>
            <a:off x="216584" y="2886632"/>
            <a:ext cx="2005408" cy="2005408"/>
          </a:xfrm>
          <a:custGeom>
            <a:avLst/>
            <a:gdLst/>
            <a:ahLst/>
            <a:cxnLst/>
            <a:rect l="0" t="0" r="r" b="b"/>
            <a:pathLst>
              <a:path w="2005408" h="2005408">
                <a:moveTo>
                  <a:pt x="0" y="0"/>
                </a:moveTo>
                <a:lnTo>
                  <a:pt x="2005408" y="200540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027 Anomaly Knowledge hatch 30"/>
          <p:cNvSpPr/>
          <p:nvPr/>
        </p:nvSpPr>
        <p:spPr>
          <a:xfrm>
            <a:off x="238946" y="2835842"/>
            <a:ext cx="2056198" cy="2056198"/>
          </a:xfrm>
          <a:custGeom>
            <a:avLst/>
            <a:gdLst/>
            <a:ahLst/>
            <a:cxnLst/>
            <a:rect l="0" t="0" r="r" b="b"/>
            <a:pathLst>
              <a:path w="2056198" h="2056198">
                <a:moveTo>
                  <a:pt x="0" y="0"/>
                </a:moveTo>
                <a:lnTo>
                  <a:pt x="2056198" y="205619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028 Anomaly Knowledge hatch 31"/>
          <p:cNvSpPr/>
          <p:nvPr/>
        </p:nvSpPr>
        <p:spPr>
          <a:xfrm>
            <a:off x="266631" y="2790375"/>
            <a:ext cx="2101665" cy="2101665"/>
          </a:xfrm>
          <a:custGeom>
            <a:avLst/>
            <a:gdLst/>
            <a:ahLst/>
            <a:cxnLst/>
            <a:rect l="0" t="0" r="r" b="b"/>
            <a:pathLst>
              <a:path w="2101665" h="2101665">
                <a:moveTo>
                  <a:pt x="0" y="0"/>
                </a:moveTo>
                <a:lnTo>
                  <a:pt x="2101665" y="2101665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029 Anomaly Knowledge hatch 32"/>
          <p:cNvSpPr/>
          <p:nvPr/>
        </p:nvSpPr>
        <p:spPr>
          <a:xfrm>
            <a:off x="299151" y="2749743"/>
            <a:ext cx="2142297" cy="2142297"/>
          </a:xfrm>
          <a:custGeom>
            <a:avLst/>
            <a:gdLst/>
            <a:ahLst/>
            <a:cxnLst/>
            <a:rect l="0" t="0" r="r" b="b"/>
            <a:pathLst>
              <a:path w="2142297" h="2142297">
                <a:moveTo>
                  <a:pt x="0" y="0"/>
                </a:moveTo>
                <a:lnTo>
                  <a:pt x="2142297" y="2142297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030 Anomaly Knowledge hatch 33"/>
          <p:cNvSpPr/>
          <p:nvPr/>
        </p:nvSpPr>
        <p:spPr>
          <a:xfrm>
            <a:off x="336303" y="2713743"/>
            <a:ext cx="2178297" cy="2178297"/>
          </a:xfrm>
          <a:custGeom>
            <a:avLst/>
            <a:gdLst/>
            <a:ahLst/>
            <a:cxnLst/>
            <a:rect l="0" t="0" r="r" b="b"/>
            <a:pathLst>
              <a:path w="2178297" h="2178297">
                <a:moveTo>
                  <a:pt x="0" y="0"/>
                </a:moveTo>
                <a:lnTo>
                  <a:pt x="2178297" y="2178297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031 Anomaly Knowledge hatch 34"/>
          <p:cNvSpPr/>
          <p:nvPr/>
        </p:nvSpPr>
        <p:spPr>
          <a:xfrm>
            <a:off x="378115" y="2682403"/>
            <a:ext cx="2209637" cy="2209637"/>
          </a:xfrm>
          <a:custGeom>
            <a:avLst/>
            <a:gdLst/>
            <a:ahLst/>
            <a:cxnLst/>
            <a:rect l="0" t="0" r="r" b="b"/>
            <a:pathLst>
              <a:path w="2209637" h="2209637">
                <a:moveTo>
                  <a:pt x="0" y="0"/>
                </a:moveTo>
                <a:lnTo>
                  <a:pt x="2209637" y="2209637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032 Anomaly Knowledge hatch 35"/>
          <p:cNvSpPr/>
          <p:nvPr/>
        </p:nvSpPr>
        <p:spPr>
          <a:xfrm>
            <a:off x="424853" y="2655989"/>
            <a:ext cx="2232801" cy="2232801"/>
          </a:xfrm>
          <a:custGeom>
            <a:avLst/>
            <a:gdLst/>
            <a:ahLst/>
            <a:cxnLst/>
            <a:rect l="0" t="0" r="r" b="b"/>
            <a:pathLst>
              <a:path w="2232801" h="2232801">
                <a:moveTo>
                  <a:pt x="0" y="0"/>
                </a:moveTo>
                <a:lnTo>
                  <a:pt x="2232801" y="2232801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033 Anomaly Knowledge hatch 36"/>
          <p:cNvSpPr/>
          <p:nvPr/>
        </p:nvSpPr>
        <p:spPr>
          <a:xfrm>
            <a:off x="477097" y="2635081"/>
            <a:ext cx="2241317" cy="2241317"/>
          </a:xfrm>
          <a:custGeom>
            <a:avLst/>
            <a:gdLst/>
            <a:ahLst/>
            <a:cxnLst/>
            <a:rect l="0" t="0" r="r" b="b"/>
            <a:pathLst>
              <a:path w="2241317" h="2241317">
                <a:moveTo>
                  <a:pt x="0" y="0"/>
                </a:moveTo>
                <a:lnTo>
                  <a:pt x="2241317" y="2241317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034 Anomaly Knowledge hatch 37"/>
          <p:cNvSpPr/>
          <p:nvPr/>
        </p:nvSpPr>
        <p:spPr>
          <a:xfrm>
            <a:off x="535937" y="2620769"/>
            <a:ext cx="2236240" cy="2236240"/>
          </a:xfrm>
          <a:custGeom>
            <a:avLst/>
            <a:gdLst/>
            <a:ahLst/>
            <a:cxnLst/>
            <a:rect l="0" t="0" r="r" b="b"/>
            <a:pathLst>
              <a:path w="2236240" h="2236240">
                <a:moveTo>
                  <a:pt x="0" y="0"/>
                </a:moveTo>
                <a:lnTo>
                  <a:pt x="2236240" y="223624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035 Anomaly Knowledge hatch 38"/>
          <p:cNvSpPr/>
          <p:nvPr/>
        </p:nvSpPr>
        <p:spPr>
          <a:xfrm>
            <a:off x="603504" y="2615184"/>
            <a:ext cx="2216719" cy="2216719"/>
          </a:xfrm>
          <a:custGeom>
            <a:avLst/>
            <a:gdLst/>
            <a:ahLst/>
            <a:cxnLst/>
            <a:rect l="0" t="0" r="r" b="b"/>
            <a:pathLst>
              <a:path w="2216719" h="2216719">
                <a:moveTo>
                  <a:pt x="0" y="0"/>
                </a:moveTo>
                <a:lnTo>
                  <a:pt x="2216719" y="2216719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036 Anomaly Knowledge hatch 39"/>
          <p:cNvSpPr/>
          <p:nvPr/>
        </p:nvSpPr>
        <p:spPr>
          <a:xfrm>
            <a:off x="676656" y="2615184"/>
            <a:ext cx="2186575" cy="2186575"/>
          </a:xfrm>
          <a:custGeom>
            <a:avLst/>
            <a:gdLst/>
            <a:ahLst/>
            <a:cxnLst/>
            <a:rect l="0" t="0" r="r" b="b"/>
            <a:pathLst>
              <a:path w="2186575" h="2186575">
                <a:moveTo>
                  <a:pt x="0" y="0"/>
                </a:moveTo>
                <a:lnTo>
                  <a:pt x="2186575" y="2186575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037 Anomaly Knowledge hatch 40"/>
          <p:cNvSpPr/>
          <p:nvPr/>
        </p:nvSpPr>
        <p:spPr>
          <a:xfrm>
            <a:off x="749808" y="2615184"/>
            <a:ext cx="2151728" cy="2151728"/>
          </a:xfrm>
          <a:custGeom>
            <a:avLst/>
            <a:gdLst/>
            <a:ahLst/>
            <a:cxnLst/>
            <a:rect l="0" t="0" r="r" b="b"/>
            <a:pathLst>
              <a:path w="2151728" h="2151728">
                <a:moveTo>
                  <a:pt x="0" y="0"/>
                </a:moveTo>
                <a:lnTo>
                  <a:pt x="2151728" y="215172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038 Anomaly Knowledge hatch 41"/>
          <p:cNvSpPr/>
          <p:nvPr/>
        </p:nvSpPr>
        <p:spPr>
          <a:xfrm>
            <a:off x="822960" y="2615184"/>
            <a:ext cx="2112264" cy="2112264"/>
          </a:xfrm>
          <a:custGeom>
            <a:avLst/>
            <a:gdLst/>
            <a:ahLst/>
            <a:cxnLst/>
            <a:rect l="0" t="0" r="r" b="b"/>
            <a:pathLst>
              <a:path w="2112264" h="2112264">
                <a:moveTo>
                  <a:pt x="0" y="0"/>
                </a:moveTo>
                <a:lnTo>
                  <a:pt x="2112264" y="211226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039 Anomaly Knowledge hatch 42"/>
          <p:cNvSpPr/>
          <p:nvPr/>
        </p:nvSpPr>
        <p:spPr>
          <a:xfrm>
            <a:off x="896112" y="2615184"/>
            <a:ext cx="2068039" cy="2068039"/>
          </a:xfrm>
          <a:custGeom>
            <a:avLst/>
            <a:gdLst/>
            <a:ahLst/>
            <a:cxnLst/>
            <a:rect l="0" t="0" r="r" b="b"/>
            <a:pathLst>
              <a:path w="2068039" h="2068039">
                <a:moveTo>
                  <a:pt x="0" y="0"/>
                </a:moveTo>
                <a:lnTo>
                  <a:pt x="2068039" y="2068039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040 Anomaly Knowledge hatch 43"/>
          <p:cNvSpPr/>
          <p:nvPr/>
        </p:nvSpPr>
        <p:spPr>
          <a:xfrm>
            <a:off x="969264" y="2615184"/>
            <a:ext cx="2018645" cy="2018645"/>
          </a:xfrm>
          <a:custGeom>
            <a:avLst/>
            <a:gdLst/>
            <a:ahLst/>
            <a:cxnLst/>
            <a:rect l="0" t="0" r="r" b="b"/>
            <a:pathLst>
              <a:path w="2018645" h="2018645">
                <a:moveTo>
                  <a:pt x="0" y="0"/>
                </a:moveTo>
                <a:lnTo>
                  <a:pt x="2018645" y="2018645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041 Anomaly Knowledge hatch 44"/>
          <p:cNvSpPr/>
          <p:nvPr/>
        </p:nvSpPr>
        <p:spPr>
          <a:xfrm>
            <a:off x="1042416" y="2615184"/>
            <a:ext cx="1963286" cy="1963286"/>
          </a:xfrm>
          <a:custGeom>
            <a:avLst/>
            <a:gdLst/>
            <a:ahLst/>
            <a:cxnLst/>
            <a:rect l="0" t="0" r="r" b="b"/>
            <a:pathLst>
              <a:path w="1963286" h="1963286">
                <a:moveTo>
                  <a:pt x="0" y="0"/>
                </a:moveTo>
                <a:lnTo>
                  <a:pt x="1963286" y="196328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042 Anomaly Knowledge hatch 45"/>
          <p:cNvSpPr/>
          <p:nvPr/>
        </p:nvSpPr>
        <p:spPr>
          <a:xfrm>
            <a:off x="1115568" y="2615184"/>
            <a:ext cx="1900454" cy="1900454"/>
          </a:xfrm>
          <a:custGeom>
            <a:avLst/>
            <a:gdLst/>
            <a:ahLst/>
            <a:cxnLst/>
            <a:rect l="0" t="0" r="r" b="b"/>
            <a:pathLst>
              <a:path w="1900454" h="1900454">
                <a:moveTo>
                  <a:pt x="0" y="0"/>
                </a:moveTo>
                <a:lnTo>
                  <a:pt x="1900454" y="190045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043 Anomaly Knowledge hatch 46"/>
          <p:cNvSpPr/>
          <p:nvPr/>
        </p:nvSpPr>
        <p:spPr>
          <a:xfrm>
            <a:off x="1188720" y="2615184"/>
            <a:ext cx="1828800" cy="1828800"/>
          </a:xfrm>
          <a:custGeom>
            <a:avLst/>
            <a:gdLst/>
            <a:ahLst/>
            <a:cxnLst/>
            <a:rect l="0" t="0" r="r" b="b"/>
            <a:pathLst>
              <a:path w="1828800" h="1828800">
                <a:moveTo>
                  <a:pt x="0" y="0"/>
                </a:moveTo>
                <a:lnTo>
                  <a:pt x="1828800" y="1828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044 Anomaly Knowledge hatch 47"/>
          <p:cNvSpPr/>
          <p:nvPr/>
        </p:nvSpPr>
        <p:spPr>
          <a:xfrm>
            <a:off x="1261872" y="2615184"/>
            <a:ext cx="1755648" cy="1755648"/>
          </a:xfrm>
          <a:custGeom>
            <a:avLst/>
            <a:gdLst/>
            <a:ahLst/>
            <a:cxnLst/>
            <a:rect l="0" t="0" r="r" b="b"/>
            <a:pathLst>
              <a:path w="1755648" h="1755648">
                <a:moveTo>
                  <a:pt x="0" y="0"/>
                </a:moveTo>
                <a:lnTo>
                  <a:pt x="1755648" y="175564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045 Anomaly Knowledge hatch 48"/>
          <p:cNvSpPr/>
          <p:nvPr/>
        </p:nvSpPr>
        <p:spPr>
          <a:xfrm>
            <a:off x="1335024" y="2615184"/>
            <a:ext cx="1682496" cy="1682496"/>
          </a:xfrm>
          <a:custGeom>
            <a:avLst/>
            <a:gdLst/>
            <a:ahLst/>
            <a:cxnLst/>
            <a:rect l="0" t="0" r="r" b="b"/>
            <a:pathLst>
              <a:path w="1682496" h="1682496">
                <a:moveTo>
                  <a:pt x="0" y="0"/>
                </a:moveTo>
                <a:lnTo>
                  <a:pt x="1682496" y="168249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046 Anomaly Knowledge hatch 49"/>
          <p:cNvSpPr/>
          <p:nvPr/>
        </p:nvSpPr>
        <p:spPr>
          <a:xfrm>
            <a:off x="1408176" y="2615184"/>
            <a:ext cx="1609344" cy="1609344"/>
          </a:xfrm>
          <a:custGeom>
            <a:avLst/>
            <a:gdLst/>
            <a:ahLst/>
            <a:cxnLst/>
            <a:rect l="0" t="0" r="r" b="b"/>
            <a:pathLst>
              <a:path w="1609344" h="1609344">
                <a:moveTo>
                  <a:pt x="0" y="0"/>
                </a:moveTo>
                <a:lnTo>
                  <a:pt x="1609344" y="160934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047 Anomaly Knowledge hatch 50"/>
          <p:cNvSpPr/>
          <p:nvPr/>
        </p:nvSpPr>
        <p:spPr>
          <a:xfrm>
            <a:off x="1481328" y="2615184"/>
            <a:ext cx="1536192" cy="1536192"/>
          </a:xfrm>
          <a:custGeom>
            <a:avLst/>
            <a:gdLst/>
            <a:ahLst/>
            <a:cxnLst/>
            <a:rect l="0" t="0" r="r" b="b"/>
            <a:pathLst>
              <a:path w="1536192" h="1536192">
                <a:moveTo>
                  <a:pt x="0" y="0"/>
                </a:moveTo>
                <a:lnTo>
                  <a:pt x="1536192" y="153619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048 Anomaly Knowledge hatch 51"/>
          <p:cNvSpPr/>
          <p:nvPr/>
        </p:nvSpPr>
        <p:spPr>
          <a:xfrm>
            <a:off x="1554480" y="2615184"/>
            <a:ext cx="1463040" cy="1463040"/>
          </a:xfrm>
          <a:custGeom>
            <a:avLst/>
            <a:gdLst/>
            <a:ahLst/>
            <a:cxnLst/>
            <a:rect l="0" t="0" r="r" b="b"/>
            <a:pathLst>
              <a:path w="1463040" h="1463040">
                <a:moveTo>
                  <a:pt x="0" y="0"/>
                </a:moveTo>
                <a:lnTo>
                  <a:pt x="1463040" y="146304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049 Anomaly Knowledge hatch 52"/>
          <p:cNvSpPr/>
          <p:nvPr/>
        </p:nvSpPr>
        <p:spPr>
          <a:xfrm>
            <a:off x="1627632" y="2615184"/>
            <a:ext cx="1389888" cy="1389888"/>
          </a:xfrm>
          <a:custGeom>
            <a:avLst/>
            <a:gdLst/>
            <a:ahLst/>
            <a:cxnLst/>
            <a:rect l="0" t="0" r="r" b="b"/>
            <a:pathLst>
              <a:path w="1389888" h="1389888">
                <a:moveTo>
                  <a:pt x="0" y="0"/>
                </a:moveTo>
                <a:lnTo>
                  <a:pt x="1389888" y="138988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050 Anomaly Knowledge hatch 53"/>
          <p:cNvSpPr/>
          <p:nvPr/>
        </p:nvSpPr>
        <p:spPr>
          <a:xfrm>
            <a:off x="1700784" y="2615184"/>
            <a:ext cx="1316736" cy="1316736"/>
          </a:xfrm>
          <a:custGeom>
            <a:avLst/>
            <a:gdLst/>
            <a:ahLst/>
            <a:cxnLst/>
            <a:rect l="0" t="0" r="r" b="b"/>
            <a:pathLst>
              <a:path w="1316736" h="1316736">
                <a:moveTo>
                  <a:pt x="0" y="0"/>
                </a:moveTo>
                <a:lnTo>
                  <a:pt x="1316736" y="131673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051 Anomaly Knowledge hatch 54"/>
          <p:cNvSpPr/>
          <p:nvPr/>
        </p:nvSpPr>
        <p:spPr>
          <a:xfrm>
            <a:off x="1773936" y="2615184"/>
            <a:ext cx="1243584" cy="1243584"/>
          </a:xfrm>
          <a:custGeom>
            <a:avLst/>
            <a:gdLst/>
            <a:ahLst/>
            <a:cxnLst/>
            <a:rect l="0" t="0" r="r" b="b"/>
            <a:pathLst>
              <a:path w="1243584" h="1243584">
                <a:moveTo>
                  <a:pt x="0" y="0"/>
                </a:moveTo>
                <a:lnTo>
                  <a:pt x="1243584" y="124358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052 Anomaly Knowledge hatch 55"/>
          <p:cNvSpPr/>
          <p:nvPr/>
        </p:nvSpPr>
        <p:spPr>
          <a:xfrm>
            <a:off x="1847088" y="2615184"/>
            <a:ext cx="1170432" cy="1170432"/>
          </a:xfrm>
          <a:custGeom>
            <a:avLst/>
            <a:gdLst/>
            <a:ahLst/>
            <a:cxnLst/>
            <a:rect l="0" t="0" r="r" b="b"/>
            <a:pathLst>
              <a:path w="1170432" h="1170432">
                <a:moveTo>
                  <a:pt x="0" y="0"/>
                </a:moveTo>
                <a:lnTo>
                  <a:pt x="1170432" y="117043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053 Anomaly Knowledge hatch 56"/>
          <p:cNvSpPr/>
          <p:nvPr/>
        </p:nvSpPr>
        <p:spPr>
          <a:xfrm>
            <a:off x="1920240" y="2615184"/>
            <a:ext cx="1097280" cy="1097280"/>
          </a:xfrm>
          <a:custGeom>
            <a:avLst/>
            <a:gdLst/>
            <a:ahLst/>
            <a:cxnLst/>
            <a:rect l="0" t="0" r="r" b="b"/>
            <a:pathLst>
              <a:path w="1097280" h="1097280">
                <a:moveTo>
                  <a:pt x="0" y="0"/>
                </a:moveTo>
                <a:lnTo>
                  <a:pt x="1097280" y="109728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054 Anomaly Knowledge hatch 57"/>
          <p:cNvSpPr/>
          <p:nvPr/>
        </p:nvSpPr>
        <p:spPr>
          <a:xfrm>
            <a:off x="1993392" y="2615184"/>
            <a:ext cx="1024128" cy="1024128"/>
          </a:xfrm>
          <a:custGeom>
            <a:avLst/>
            <a:gdLst/>
            <a:ahLst/>
            <a:cxnLst/>
            <a:rect l="0" t="0" r="r" b="b"/>
            <a:pathLst>
              <a:path w="1024128" h="1024128">
                <a:moveTo>
                  <a:pt x="0" y="0"/>
                </a:moveTo>
                <a:lnTo>
                  <a:pt x="1024128" y="102412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055 Anomaly Knowledge hatch 58"/>
          <p:cNvSpPr/>
          <p:nvPr/>
        </p:nvSpPr>
        <p:spPr>
          <a:xfrm>
            <a:off x="2066544" y="2615184"/>
            <a:ext cx="950976" cy="950976"/>
          </a:xfrm>
          <a:custGeom>
            <a:avLst/>
            <a:gdLst/>
            <a:ahLst/>
            <a:cxnLst/>
            <a:rect l="0" t="0" r="r" b="b"/>
            <a:pathLst>
              <a:path w="950976" h="950976">
                <a:moveTo>
                  <a:pt x="0" y="0"/>
                </a:moveTo>
                <a:lnTo>
                  <a:pt x="950976" y="95097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056 Anomaly Knowledge hatch 59"/>
          <p:cNvSpPr/>
          <p:nvPr/>
        </p:nvSpPr>
        <p:spPr>
          <a:xfrm>
            <a:off x="2139696" y="2615184"/>
            <a:ext cx="877824" cy="877824"/>
          </a:xfrm>
          <a:custGeom>
            <a:avLst/>
            <a:gdLst/>
            <a:ahLst/>
            <a:cxnLst/>
            <a:rect l="0" t="0" r="r" b="b"/>
            <a:pathLst>
              <a:path w="877824" h="877824">
                <a:moveTo>
                  <a:pt x="0" y="0"/>
                </a:moveTo>
                <a:lnTo>
                  <a:pt x="877824" y="87782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057 Anomaly Knowledge hatch 60"/>
          <p:cNvSpPr/>
          <p:nvPr/>
        </p:nvSpPr>
        <p:spPr>
          <a:xfrm>
            <a:off x="2212848" y="2615184"/>
            <a:ext cx="804672" cy="804672"/>
          </a:xfrm>
          <a:custGeom>
            <a:avLst/>
            <a:gdLst/>
            <a:ahLst/>
            <a:cxnLst/>
            <a:rect l="0" t="0" r="r" b="b"/>
            <a:pathLst>
              <a:path w="804672" h="804672">
                <a:moveTo>
                  <a:pt x="0" y="0"/>
                </a:moveTo>
                <a:lnTo>
                  <a:pt x="804672" y="80467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058 Anomaly Knowledge hatch 61"/>
          <p:cNvSpPr/>
          <p:nvPr/>
        </p:nvSpPr>
        <p:spPr>
          <a:xfrm>
            <a:off x="2286000" y="2615184"/>
            <a:ext cx="731520" cy="731520"/>
          </a:xfrm>
          <a:custGeom>
            <a:avLst/>
            <a:gdLst/>
            <a:ahLst/>
            <a:cxnLst/>
            <a:rect l="0" t="0" r="r" b="b"/>
            <a:pathLst>
              <a:path w="731520" h="731520">
                <a:moveTo>
                  <a:pt x="0" y="0"/>
                </a:moveTo>
                <a:lnTo>
                  <a:pt x="731520" y="73152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059 Anomaly Knowledge hatch 62"/>
          <p:cNvSpPr/>
          <p:nvPr/>
        </p:nvSpPr>
        <p:spPr>
          <a:xfrm>
            <a:off x="2359152" y="2615184"/>
            <a:ext cx="658368" cy="658368"/>
          </a:xfrm>
          <a:custGeom>
            <a:avLst/>
            <a:gdLst/>
            <a:ahLst/>
            <a:cxnLst/>
            <a:rect l="0" t="0" r="r" b="b"/>
            <a:pathLst>
              <a:path w="658368" h="658368">
                <a:moveTo>
                  <a:pt x="0" y="0"/>
                </a:moveTo>
                <a:lnTo>
                  <a:pt x="658368" y="65836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060 Anomaly Knowledge hatch 63"/>
          <p:cNvSpPr/>
          <p:nvPr/>
        </p:nvSpPr>
        <p:spPr>
          <a:xfrm>
            <a:off x="2432304" y="2615184"/>
            <a:ext cx="585216" cy="585216"/>
          </a:xfrm>
          <a:custGeom>
            <a:avLst/>
            <a:gdLst/>
            <a:ahLst/>
            <a:cxnLst/>
            <a:rect l="0" t="0" r="r" b="b"/>
            <a:pathLst>
              <a:path w="585216" h="585216">
                <a:moveTo>
                  <a:pt x="0" y="0"/>
                </a:moveTo>
                <a:lnTo>
                  <a:pt x="585216" y="58521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061 Anomaly Knowledge hatch 64"/>
          <p:cNvSpPr/>
          <p:nvPr/>
        </p:nvSpPr>
        <p:spPr>
          <a:xfrm>
            <a:off x="2505456" y="2615184"/>
            <a:ext cx="512064" cy="512064"/>
          </a:xfrm>
          <a:custGeom>
            <a:avLst/>
            <a:gdLst/>
            <a:ahLst/>
            <a:cxnLst/>
            <a:rect l="0" t="0" r="r" b="b"/>
            <a:pathLst>
              <a:path w="512064" h="512064">
                <a:moveTo>
                  <a:pt x="0" y="0"/>
                </a:moveTo>
                <a:lnTo>
                  <a:pt x="512064" y="51206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062 Anomaly Knowledge hatch 65"/>
          <p:cNvSpPr/>
          <p:nvPr/>
        </p:nvSpPr>
        <p:spPr>
          <a:xfrm>
            <a:off x="2578608" y="2615184"/>
            <a:ext cx="438912" cy="438912"/>
          </a:xfrm>
          <a:custGeom>
            <a:avLst/>
            <a:gdLst/>
            <a:ahLst/>
            <a:cxnLst/>
            <a:rect l="0" t="0" r="r" b="b"/>
            <a:pathLst>
              <a:path w="438912" h="438912">
                <a:moveTo>
                  <a:pt x="0" y="0"/>
                </a:moveTo>
                <a:lnTo>
                  <a:pt x="438912" y="43891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063 Anomaly Knowledge hatch 66"/>
          <p:cNvSpPr/>
          <p:nvPr/>
        </p:nvSpPr>
        <p:spPr>
          <a:xfrm>
            <a:off x="2654640" y="2618064"/>
            <a:ext cx="360000" cy="360000"/>
          </a:xfrm>
          <a:custGeom>
            <a:avLst/>
            <a:gdLst/>
            <a:ahLst/>
            <a:cxnLst/>
            <a:rect l="0" t="0" r="r" b="b"/>
            <a:pathLst>
              <a:path w="360000" h="360000">
                <a:moveTo>
                  <a:pt x="0" y="0"/>
                </a:moveTo>
                <a:lnTo>
                  <a:pt x="360000" y="3600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064 Anomaly Knowledge hatch 67"/>
          <p:cNvSpPr/>
          <p:nvPr/>
        </p:nvSpPr>
        <p:spPr>
          <a:xfrm>
            <a:off x="2751468" y="2641740"/>
            <a:ext cx="239496" cy="239496"/>
          </a:xfrm>
          <a:custGeom>
            <a:avLst/>
            <a:gdLst/>
            <a:ahLst/>
            <a:cxnLst/>
            <a:rect l="0" t="0" r="r" b="b"/>
            <a:pathLst>
              <a:path w="239496" h="239496">
                <a:moveTo>
                  <a:pt x="0" y="0"/>
                </a:moveTo>
                <a:lnTo>
                  <a:pt x="239496" y="23949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065 Anomaly Knowledge dashed border"/>
          <p:cNvSpPr/>
          <p:nvPr/>
        </p:nvSpPr>
        <p:spPr>
          <a:xfrm>
            <a:off x="192024" y="2615184"/>
            <a:ext cx="2825496" cy="2276856"/>
          </a:xfrm>
          <a:prstGeom prst="roundRect">
            <a:avLst>
              <a:gd name="adj" fmla="val 18072"/>
            </a:avLst>
          </a:prstGeom>
          <a:noFill/>
          <a:ln w="32918">
            <a:solidFill>
              <a:srgbClr val="AAAAA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066 Toolkit background"/>
          <p:cNvSpPr/>
          <p:nvPr/>
        </p:nvSpPr>
        <p:spPr>
          <a:xfrm>
            <a:off x="164592" y="5367528"/>
            <a:ext cx="2971800" cy="627278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067 Toolkit hatch 5"/>
          <p:cNvSpPr/>
          <p:nvPr/>
        </p:nvSpPr>
        <p:spPr>
          <a:xfrm>
            <a:off x="256032" y="11457432"/>
            <a:ext cx="91440" cy="91440"/>
          </a:xfrm>
          <a:custGeom>
            <a:avLst/>
            <a:gdLst/>
            <a:ahLst/>
            <a:cxnLst/>
            <a:rect l="0" t="0" r="r" b="b"/>
            <a:pathLst>
              <a:path w="91440" h="91440">
                <a:moveTo>
                  <a:pt x="0" y="0"/>
                </a:moveTo>
                <a:lnTo>
                  <a:pt x="91440" y="9144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068 Toolkit hatch 6"/>
          <p:cNvSpPr/>
          <p:nvPr/>
        </p:nvSpPr>
        <p:spPr>
          <a:xfrm>
            <a:off x="182880" y="11311128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310896" h="310896">
                <a:moveTo>
                  <a:pt x="0" y="0"/>
                </a:moveTo>
                <a:lnTo>
                  <a:pt x="310896" y="31089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069 Toolkit hatch 7"/>
          <p:cNvSpPr/>
          <p:nvPr/>
        </p:nvSpPr>
        <p:spPr>
          <a:xfrm>
            <a:off x="166188" y="11221284"/>
            <a:ext cx="417431" cy="417431"/>
          </a:xfrm>
          <a:custGeom>
            <a:avLst/>
            <a:gdLst/>
            <a:ahLst/>
            <a:cxnLst/>
            <a:rect l="0" t="0" r="r" b="b"/>
            <a:pathLst>
              <a:path w="417431" h="417431">
                <a:moveTo>
                  <a:pt x="0" y="0"/>
                </a:moveTo>
                <a:lnTo>
                  <a:pt x="417431" y="417431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070 Toolkit hatch 8"/>
          <p:cNvSpPr/>
          <p:nvPr/>
        </p:nvSpPr>
        <p:spPr>
          <a:xfrm>
            <a:off x="164592" y="11146536"/>
            <a:ext cx="493776" cy="493776"/>
          </a:xfrm>
          <a:custGeom>
            <a:avLst/>
            <a:gdLst/>
            <a:ahLst/>
            <a:cxnLst/>
            <a:rect l="0" t="0" r="r" b="b"/>
            <a:pathLst>
              <a:path w="493776" h="493776">
                <a:moveTo>
                  <a:pt x="0" y="0"/>
                </a:moveTo>
                <a:lnTo>
                  <a:pt x="493776" y="49377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071 Toolkit hatch 9"/>
          <p:cNvSpPr/>
          <p:nvPr/>
        </p:nvSpPr>
        <p:spPr>
          <a:xfrm>
            <a:off x="164592" y="11073384"/>
            <a:ext cx="566928" cy="566928"/>
          </a:xfrm>
          <a:custGeom>
            <a:avLst/>
            <a:gdLst/>
            <a:ahLst/>
            <a:cxnLst/>
            <a:rect l="0" t="0" r="r" b="b"/>
            <a:pathLst>
              <a:path w="566928" h="566928">
                <a:moveTo>
                  <a:pt x="0" y="0"/>
                </a:moveTo>
                <a:lnTo>
                  <a:pt x="566928" y="56692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072 Toolkit hatch 10"/>
          <p:cNvSpPr/>
          <p:nvPr/>
        </p:nvSpPr>
        <p:spPr>
          <a:xfrm>
            <a:off x="164592" y="11000232"/>
            <a:ext cx="640080" cy="640080"/>
          </a:xfrm>
          <a:custGeom>
            <a:avLst/>
            <a:gdLst/>
            <a:ahLst/>
            <a:cxnLst/>
            <a:rect l="0" t="0" r="r" b="b"/>
            <a:pathLst>
              <a:path w="640080" h="640080">
                <a:moveTo>
                  <a:pt x="0" y="0"/>
                </a:moveTo>
                <a:lnTo>
                  <a:pt x="640080" y="64008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073 Toolkit hatch 11"/>
          <p:cNvSpPr/>
          <p:nvPr/>
        </p:nvSpPr>
        <p:spPr>
          <a:xfrm>
            <a:off x="164592" y="10927080"/>
            <a:ext cx="713232" cy="713232"/>
          </a:xfrm>
          <a:custGeom>
            <a:avLst/>
            <a:gdLst/>
            <a:ahLst/>
            <a:cxnLst/>
            <a:rect l="0" t="0" r="r" b="b"/>
            <a:pathLst>
              <a:path w="713232" h="713232">
                <a:moveTo>
                  <a:pt x="0" y="0"/>
                </a:moveTo>
                <a:lnTo>
                  <a:pt x="713232" y="71323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074 Toolkit hatch 12"/>
          <p:cNvSpPr/>
          <p:nvPr/>
        </p:nvSpPr>
        <p:spPr>
          <a:xfrm>
            <a:off x="164592" y="10853928"/>
            <a:ext cx="786384" cy="786384"/>
          </a:xfrm>
          <a:custGeom>
            <a:avLst/>
            <a:gdLst/>
            <a:ahLst/>
            <a:cxnLst/>
            <a:rect l="0" t="0" r="r" b="b"/>
            <a:pathLst>
              <a:path w="786384" h="786384">
                <a:moveTo>
                  <a:pt x="0" y="0"/>
                </a:moveTo>
                <a:lnTo>
                  <a:pt x="786384" y="78638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075 Toolkit hatch 13"/>
          <p:cNvSpPr/>
          <p:nvPr/>
        </p:nvSpPr>
        <p:spPr>
          <a:xfrm>
            <a:off x="164592" y="10780776"/>
            <a:ext cx="859536" cy="859536"/>
          </a:xfrm>
          <a:custGeom>
            <a:avLst/>
            <a:gdLst/>
            <a:ahLst/>
            <a:cxnLst/>
            <a:rect l="0" t="0" r="r" b="b"/>
            <a:pathLst>
              <a:path w="859536" h="859536">
                <a:moveTo>
                  <a:pt x="0" y="0"/>
                </a:moveTo>
                <a:lnTo>
                  <a:pt x="859536" y="85953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076 Toolkit hatch 14"/>
          <p:cNvSpPr/>
          <p:nvPr/>
        </p:nvSpPr>
        <p:spPr>
          <a:xfrm>
            <a:off x="164592" y="10707624"/>
            <a:ext cx="932688" cy="932688"/>
          </a:xfrm>
          <a:custGeom>
            <a:avLst/>
            <a:gdLst/>
            <a:ahLst/>
            <a:cxnLst/>
            <a:rect l="0" t="0" r="r" b="b"/>
            <a:pathLst>
              <a:path w="932688" h="932688">
                <a:moveTo>
                  <a:pt x="0" y="0"/>
                </a:moveTo>
                <a:lnTo>
                  <a:pt x="932688" y="93268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077 Toolkit hatch 15"/>
          <p:cNvSpPr/>
          <p:nvPr/>
        </p:nvSpPr>
        <p:spPr>
          <a:xfrm>
            <a:off x="164592" y="10634472"/>
            <a:ext cx="1005840" cy="1005840"/>
          </a:xfrm>
          <a:custGeom>
            <a:avLst/>
            <a:gdLst/>
            <a:ahLst/>
            <a:cxnLst/>
            <a:rect l="0" t="0" r="r" b="b"/>
            <a:pathLst>
              <a:path w="1005840" h="1005840">
                <a:moveTo>
                  <a:pt x="0" y="0"/>
                </a:moveTo>
                <a:lnTo>
                  <a:pt x="1005840" y="100584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078 Toolkit hatch 16"/>
          <p:cNvSpPr/>
          <p:nvPr/>
        </p:nvSpPr>
        <p:spPr>
          <a:xfrm>
            <a:off x="164592" y="10561320"/>
            <a:ext cx="1078992" cy="1078992"/>
          </a:xfrm>
          <a:custGeom>
            <a:avLst/>
            <a:gdLst/>
            <a:ahLst/>
            <a:cxnLst/>
            <a:rect l="0" t="0" r="r" b="b"/>
            <a:pathLst>
              <a:path w="1078992" h="1078992">
                <a:moveTo>
                  <a:pt x="0" y="0"/>
                </a:moveTo>
                <a:lnTo>
                  <a:pt x="1078992" y="107899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079 Toolkit hatch 17"/>
          <p:cNvSpPr/>
          <p:nvPr/>
        </p:nvSpPr>
        <p:spPr>
          <a:xfrm>
            <a:off x="164592" y="10488168"/>
            <a:ext cx="1152144" cy="1152144"/>
          </a:xfrm>
          <a:custGeom>
            <a:avLst/>
            <a:gdLst/>
            <a:ahLst/>
            <a:cxnLst/>
            <a:rect l="0" t="0" r="r" b="b"/>
            <a:pathLst>
              <a:path w="1152144" h="1152144">
                <a:moveTo>
                  <a:pt x="0" y="0"/>
                </a:moveTo>
                <a:lnTo>
                  <a:pt x="1152144" y="115214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080 Toolkit hatch 18"/>
          <p:cNvSpPr/>
          <p:nvPr/>
        </p:nvSpPr>
        <p:spPr>
          <a:xfrm>
            <a:off x="164592" y="10415016"/>
            <a:ext cx="1225296" cy="1225296"/>
          </a:xfrm>
          <a:custGeom>
            <a:avLst/>
            <a:gdLst/>
            <a:ahLst/>
            <a:cxnLst/>
            <a:rect l="0" t="0" r="r" b="b"/>
            <a:pathLst>
              <a:path w="1225296" h="1225296">
                <a:moveTo>
                  <a:pt x="0" y="0"/>
                </a:moveTo>
                <a:lnTo>
                  <a:pt x="1225296" y="122529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081 Toolkit hatch 19"/>
          <p:cNvSpPr/>
          <p:nvPr/>
        </p:nvSpPr>
        <p:spPr>
          <a:xfrm>
            <a:off x="164592" y="10341864"/>
            <a:ext cx="1298448" cy="1298448"/>
          </a:xfrm>
          <a:custGeom>
            <a:avLst/>
            <a:gdLst/>
            <a:ahLst/>
            <a:cxnLst/>
            <a:rect l="0" t="0" r="r" b="b"/>
            <a:pathLst>
              <a:path w="1298448" h="1298448">
                <a:moveTo>
                  <a:pt x="0" y="0"/>
                </a:moveTo>
                <a:lnTo>
                  <a:pt x="1298448" y="129844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082 Toolkit hatch 20"/>
          <p:cNvSpPr/>
          <p:nvPr/>
        </p:nvSpPr>
        <p:spPr>
          <a:xfrm>
            <a:off x="164592" y="10268712"/>
            <a:ext cx="1371600" cy="1371600"/>
          </a:xfrm>
          <a:custGeom>
            <a:avLst/>
            <a:gdLst/>
            <a:ahLst/>
            <a:cxnLst/>
            <a:rect l="0" t="0" r="r" b="b"/>
            <a:pathLst>
              <a:path w="1371600" h="1371600">
                <a:moveTo>
                  <a:pt x="0" y="0"/>
                </a:moveTo>
                <a:lnTo>
                  <a:pt x="1371600" y="13716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083 Toolkit hatch 21"/>
          <p:cNvSpPr/>
          <p:nvPr/>
        </p:nvSpPr>
        <p:spPr>
          <a:xfrm>
            <a:off x="164592" y="10195560"/>
            <a:ext cx="1444752" cy="1444752"/>
          </a:xfrm>
          <a:custGeom>
            <a:avLst/>
            <a:gdLst/>
            <a:ahLst/>
            <a:cxnLst/>
            <a:rect l="0" t="0" r="r" b="b"/>
            <a:pathLst>
              <a:path w="1444752" h="1444752">
                <a:moveTo>
                  <a:pt x="0" y="0"/>
                </a:moveTo>
                <a:lnTo>
                  <a:pt x="1444752" y="144475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084 Toolkit hatch 22"/>
          <p:cNvSpPr/>
          <p:nvPr/>
        </p:nvSpPr>
        <p:spPr>
          <a:xfrm>
            <a:off x="164592" y="10122408"/>
            <a:ext cx="1517904" cy="1517904"/>
          </a:xfrm>
          <a:custGeom>
            <a:avLst/>
            <a:gdLst/>
            <a:ahLst/>
            <a:cxnLst/>
            <a:rect l="0" t="0" r="r" b="b"/>
            <a:pathLst>
              <a:path w="1517904" h="1517904">
                <a:moveTo>
                  <a:pt x="0" y="0"/>
                </a:moveTo>
                <a:lnTo>
                  <a:pt x="1517904" y="151790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085 Toolkit hatch 23"/>
          <p:cNvSpPr/>
          <p:nvPr/>
        </p:nvSpPr>
        <p:spPr>
          <a:xfrm>
            <a:off x="164592" y="10049256"/>
            <a:ext cx="1591056" cy="1591056"/>
          </a:xfrm>
          <a:custGeom>
            <a:avLst/>
            <a:gdLst/>
            <a:ahLst/>
            <a:cxnLst/>
            <a:rect l="0" t="0" r="r" b="b"/>
            <a:pathLst>
              <a:path w="1591056" h="1591056">
                <a:moveTo>
                  <a:pt x="0" y="0"/>
                </a:moveTo>
                <a:lnTo>
                  <a:pt x="1591056" y="159105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086 Toolkit hatch 24"/>
          <p:cNvSpPr/>
          <p:nvPr/>
        </p:nvSpPr>
        <p:spPr>
          <a:xfrm>
            <a:off x="164592" y="9976104"/>
            <a:ext cx="1664208" cy="1664208"/>
          </a:xfrm>
          <a:custGeom>
            <a:avLst/>
            <a:gdLst/>
            <a:ahLst/>
            <a:cxnLst/>
            <a:rect l="0" t="0" r="r" b="b"/>
            <a:pathLst>
              <a:path w="1664208" h="1664208">
                <a:moveTo>
                  <a:pt x="0" y="0"/>
                </a:moveTo>
                <a:lnTo>
                  <a:pt x="1664208" y="166420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087 Toolkit hatch 25"/>
          <p:cNvSpPr/>
          <p:nvPr/>
        </p:nvSpPr>
        <p:spPr>
          <a:xfrm>
            <a:off x="164592" y="9902952"/>
            <a:ext cx="1737360" cy="1737360"/>
          </a:xfrm>
          <a:custGeom>
            <a:avLst/>
            <a:gdLst/>
            <a:ahLst/>
            <a:cxnLst/>
            <a:rect l="0" t="0" r="r" b="b"/>
            <a:pathLst>
              <a:path w="1737360" h="1737360">
                <a:moveTo>
                  <a:pt x="0" y="0"/>
                </a:moveTo>
                <a:lnTo>
                  <a:pt x="1737360" y="173736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088 Toolkit hatch 26"/>
          <p:cNvSpPr/>
          <p:nvPr/>
        </p:nvSpPr>
        <p:spPr>
          <a:xfrm>
            <a:off x="164592" y="9829800"/>
            <a:ext cx="1810512" cy="1810512"/>
          </a:xfrm>
          <a:custGeom>
            <a:avLst/>
            <a:gdLst/>
            <a:ahLst/>
            <a:cxnLst/>
            <a:rect l="0" t="0" r="r" b="b"/>
            <a:pathLst>
              <a:path w="1810512" h="1810512">
                <a:moveTo>
                  <a:pt x="0" y="0"/>
                </a:moveTo>
                <a:lnTo>
                  <a:pt x="1810512" y="181051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089 Toolkit hatch 27"/>
          <p:cNvSpPr/>
          <p:nvPr/>
        </p:nvSpPr>
        <p:spPr>
          <a:xfrm>
            <a:off x="164592" y="9756648"/>
            <a:ext cx="1883664" cy="1883664"/>
          </a:xfrm>
          <a:custGeom>
            <a:avLst/>
            <a:gdLst/>
            <a:ahLst/>
            <a:cxnLst/>
            <a:rect l="0" t="0" r="r" b="b"/>
            <a:pathLst>
              <a:path w="1883664" h="1883664">
                <a:moveTo>
                  <a:pt x="0" y="0"/>
                </a:moveTo>
                <a:lnTo>
                  <a:pt x="1883664" y="188366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090 Toolkit hatch 28"/>
          <p:cNvSpPr/>
          <p:nvPr/>
        </p:nvSpPr>
        <p:spPr>
          <a:xfrm>
            <a:off x="164592" y="9683496"/>
            <a:ext cx="1956816" cy="1956816"/>
          </a:xfrm>
          <a:custGeom>
            <a:avLst/>
            <a:gdLst/>
            <a:ahLst/>
            <a:cxnLst/>
            <a:rect l="0" t="0" r="r" b="b"/>
            <a:pathLst>
              <a:path w="1956816" h="1956816">
                <a:moveTo>
                  <a:pt x="0" y="0"/>
                </a:moveTo>
                <a:lnTo>
                  <a:pt x="1956816" y="195681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091 Toolkit hatch 29"/>
          <p:cNvSpPr/>
          <p:nvPr/>
        </p:nvSpPr>
        <p:spPr>
          <a:xfrm>
            <a:off x="164592" y="9610344"/>
            <a:ext cx="2029968" cy="2029968"/>
          </a:xfrm>
          <a:custGeom>
            <a:avLst/>
            <a:gdLst/>
            <a:ahLst/>
            <a:cxnLst/>
            <a:rect l="0" t="0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092 Toolkit hatch 30"/>
          <p:cNvSpPr/>
          <p:nvPr/>
        </p:nvSpPr>
        <p:spPr>
          <a:xfrm>
            <a:off x="164592" y="9537192"/>
            <a:ext cx="2103120" cy="2103120"/>
          </a:xfrm>
          <a:custGeom>
            <a:avLst/>
            <a:gdLst/>
            <a:ahLst/>
            <a:cxnLst/>
            <a:rect l="0" t="0" r="r" b="b"/>
            <a:pathLst>
              <a:path w="2103120" h="2103120">
                <a:moveTo>
                  <a:pt x="0" y="0"/>
                </a:moveTo>
                <a:lnTo>
                  <a:pt x="2103120" y="210312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093 Toolkit hatch 31"/>
          <p:cNvSpPr/>
          <p:nvPr/>
        </p:nvSpPr>
        <p:spPr>
          <a:xfrm>
            <a:off x="164592" y="9464040"/>
            <a:ext cx="2176272" cy="2176272"/>
          </a:xfrm>
          <a:custGeom>
            <a:avLst/>
            <a:gdLst/>
            <a:ahLst/>
            <a:cxnLst/>
            <a:rect l="0" t="0" r="r" b="b"/>
            <a:pathLst>
              <a:path w="2176272" h="2176272">
                <a:moveTo>
                  <a:pt x="0" y="0"/>
                </a:moveTo>
                <a:lnTo>
                  <a:pt x="2176272" y="217627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094 Toolkit hatch 32"/>
          <p:cNvSpPr/>
          <p:nvPr/>
        </p:nvSpPr>
        <p:spPr>
          <a:xfrm>
            <a:off x="164592" y="9390888"/>
            <a:ext cx="2249424" cy="2249424"/>
          </a:xfrm>
          <a:custGeom>
            <a:avLst/>
            <a:gdLst/>
            <a:ahLst/>
            <a:cxnLst/>
            <a:rect l="0" t="0" r="r" b="b"/>
            <a:pathLst>
              <a:path w="2249424" h="2249424">
                <a:moveTo>
                  <a:pt x="0" y="0"/>
                </a:moveTo>
                <a:lnTo>
                  <a:pt x="2249424" y="224942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095 Toolkit hatch 33"/>
          <p:cNvSpPr/>
          <p:nvPr/>
        </p:nvSpPr>
        <p:spPr>
          <a:xfrm>
            <a:off x="164592" y="9317736"/>
            <a:ext cx="2322576" cy="2322576"/>
          </a:xfrm>
          <a:custGeom>
            <a:avLst/>
            <a:gdLst/>
            <a:ahLst/>
            <a:cxnLst/>
            <a:rect l="0" t="0" r="r" b="b"/>
            <a:pathLst>
              <a:path w="2322576" h="2322576">
                <a:moveTo>
                  <a:pt x="0" y="0"/>
                </a:moveTo>
                <a:lnTo>
                  <a:pt x="2322576" y="232257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096 Toolkit hatch 34"/>
          <p:cNvSpPr/>
          <p:nvPr/>
        </p:nvSpPr>
        <p:spPr>
          <a:xfrm>
            <a:off x="164592" y="9244584"/>
            <a:ext cx="2395728" cy="2395728"/>
          </a:xfrm>
          <a:custGeom>
            <a:avLst/>
            <a:gdLst/>
            <a:ahLst/>
            <a:cxnLst/>
            <a:rect l="0" t="0" r="r" b="b"/>
            <a:pathLst>
              <a:path w="2395728" h="2395728">
                <a:moveTo>
                  <a:pt x="0" y="0"/>
                </a:moveTo>
                <a:lnTo>
                  <a:pt x="2395728" y="239572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097 Toolkit hatch 35"/>
          <p:cNvSpPr/>
          <p:nvPr/>
        </p:nvSpPr>
        <p:spPr>
          <a:xfrm>
            <a:off x="164592" y="9171432"/>
            <a:ext cx="2468880" cy="2468880"/>
          </a:xfrm>
          <a:custGeom>
            <a:avLst/>
            <a:gdLst/>
            <a:ahLst/>
            <a:cxnLst/>
            <a:rect l="0" t="0" r="r" b="b"/>
            <a:pathLst>
              <a:path w="2468880" h="2468880">
                <a:moveTo>
                  <a:pt x="0" y="0"/>
                </a:moveTo>
                <a:lnTo>
                  <a:pt x="2468880" y="246888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098 Toolkit hatch 36"/>
          <p:cNvSpPr/>
          <p:nvPr/>
        </p:nvSpPr>
        <p:spPr>
          <a:xfrm>
            <a:off x="164592" y="9098280"/>
            <a:ext cx="2541254" cy="2541254"/>
          </a:xfrm>
          <a:custGeom>
            <a:avLst/>
            <a:gdLst/>
            <a:ahLst/>
            <a:cxnLst/>
            <a:rect l="0" t="0" r="r" b="b"/>
            <a:pathLst>
              <a:path w="2541254" h="2541254">
                <a:moveTo>
                  <a:pt x="0" y="0"/>
                </a:moveTo>
                <a:lnTo>
                  <a:pt x="2541254" y="254125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099 Toolkit hatch 37"/>
          <p:cNvSpPr/>
          <p:nvPr/>
        </p:nvSpPr>
        <p:spPr>
          <a:xfrm>
            <a:off x="164592" y="9025128"/>
            <a:ext cx="2605962" cy="2605962"/>
          </a:xfrm>
          <a:custGeom>
            <a:avLst/>
            <a:gdLst/>
            <a:ahLst/>
            <a:cxnLst/>
            <a:rect l="0" t="0" r="r" b="b"/>
            <a:pathLst>
              <a:path w="2605962" h="2605962">
                <a:moveTo>
                  <a:pt x="0" y="0"/>
                </a:moveTo>
                <a:lnTo>
                  <a:pt x="2605962" y="260596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100 Toolkit hatch 38"/>
          <p:cNvSpPr/>
          <p:nvPr/>
        </p:nvSpPr>
        <p:spPr>
          <a:xfrm>
            <a:off x="164592" y="8951976"/>
            <a:ext cx="2663433" cy="2663433"/>
          </a:xfrm>
          <a:custGeom>
            <a:avLst/>
            <a:gdLst/>
            <a:ahLst/>
            <a:cxnLst/>
            <a:rect l="0" t="0" r="r" b="b"/>
            <a:pathLst>
              <a:path w="2663433" h="2663433">
                <a:moveTo>
                  <a:pt x="0" y="0"/>
                </a:moveTo>
                <a:lnTo>
                  <a:pt x="2663433" y="2663433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101 Toolkit hatch 39"/>
          <p:cNvSpPr/>
          <p:nvPr/>
        </p:nvSpPr>
        <p:spPr>
          <a:xfrm>
            <a:off x="164592" y="8878824"/>
            <a:ext cx="2715153" cy="2715153"/>
          </a:xfrm>
          <a:custGeom>
            <a:avLst/>
            <a:gdLst/>
            <a:ahLst/>
            <a:cxnLst/>
            <a:rect l="0" t="0" r="r" b="b"/>
            <a:pathLst>
              <a:path w="2715153" h="2715153">
                <a:moveTo>
                  <a:pt x="0" y="0"/>
                </a:moveTo>
                <a:lnTo>
                  <a:pt x="2715153" y="2715153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102 Toolkit hatch 40"/>
          <p:cNvSpPr/>
          <p:nvPr/>
        </p:nvSpPr>
        <p:spPr>
          <a:xfrm>
            <a:off x="164592" y="8805672"/>
            <a:ext cx="2761951" cy="2761951"/>
          </a:xfrm>
          <a:custGeom>
            <a:avLst/>
            <a:gdLst/>
            <a:ahLst/>
            <a:cxnLst/>
            <a:rect l="0" t="0" r="r" b="b"/>
            <a:pathLst>
              <a:path w="2761951" h="2761951">
                <a:moveTo>
                  <a:pt x="0" y="0"/>
                </a:moveTo>
                <a:lnTo>
                  <a:pt x="2761951" y="2761951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103 Toolkit hatch 41"/>
          <p:cNvSpPr/>
          <p:nvPr/>
        </p:nvSpPr>
        <p:spPr>
          <a:xfrm>
            <a:off x="164592" y="8732520"/>
            <a:ext cx="2804297" cy="2804297"/>
          </a:xfrm>
          <a:custGeom>
            <a:avLst/>
            <a:gdLst/>
            <a:ahLst/>
            <a:cxnLst/>
            <a:rect l="0" t="0" r="r" b="b"/>
            <a:pathLst>
              <a:path w="2804297" h="2804297">
                <a:moveTo>
                  <a:pt x="0" y="0"/>
                </a:moveTo>
                <a:lnTo>
                  <a:pt x="2804297" y="2804297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104 Toolkit hatch 42"/>
          <p:cNvSpPr/>
          <p:nvPr/>
        </p:nvSpPr>
        <p:spPr>
          <a:xfrm>
            <a:off x="164592" y="8659368"/>
            <a:ext cx="2842429" cy="2842429"/>
          </a:xfrm>
          <a:custGeom>
            <a:avLst/>
            <a:gdLst/>
            <a:ahLst/>
            <a:cxnLst/>
            <a:rect l="0" t="0" r="r" b="b"/>
            <a:pathLst>
              <a:path w="2842429" h="2842429">
                <a:moveTo>
                  <a:pt x="0" y="0"/>
                </a:moveTo>
                <a:lnTo>
                  <a:pt x="2842429" y="2842429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105 Toolkit hatch 43"/>
          <p:cNvSpPr/>
          <p:nvPr/>
        </p:nvSpPr>
        <p:spPr>
          <a:xfrm>
            <a:off x="164592" y="8586216"/>
            <a:ext cx="2876408" cy="2876408"/>
          </a:xfrm>
          <a:custGeom>
            <a:avLst/>
            <a:gdLst/>
            <a:ahLst/>
            <a:cxnLst/>
            <a:rect l="0" t="0" r="r" b="b"/>
            <a:pathLst>
              <a:path w="2876408" h="2876408">
                <a:moveTo>
                  <a:pt x="0" y="0"/>
                </a:moveTo>
                <a:lnTo>
                  <a:pt x="2876408" y="287640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106 Toolkit hatch 44"/>
          <p:cNvSpPr/>
          <p:nvPr/>
        </p:nvSpPr>
        <p:spPr>
          <a:xfrm>
            <a:off x="164592" y="8513064"/>
            <a:ext cx="2906131" cy="2906131"/>
          </a:xfrm>
          <a:custGeom>
            <a:avLst/>
            <a:gdLst/>
            <a:ahLst/>
            <a:cxnLst/>
            <a:rect l="0" t="0" r="r" b="b"/>
            <a:pathLst>
              <a:path w="2906131" h="2906131">
                <a:moveTo>
                  <a:pt x="0" y="0"/>
                </a:moveTo>
                <a:lnTo>
                  <a:pt x="2906131" y="2906131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107 Toolkit hatch 45"/>
          <p:cNvSpPr/>
          <p:nvPr/>
        </p:nvSpPr>
        <p:spPr>
          <a:xfrm>
            <a:off x="164592" y="8439912"/>
            <a:ext cx="2931309" cy="2931309"/>
          </a:xfrm>
          <a:custGeom>
            <a:avLst/>
            <a:gdLst/>
            <a:ahLst/>
            <a:cxnLst/>
            <a:rect l="0" t="0" r="r" b="b"/>
            <a:pathLst>
              <a:path w="2931309" h="2931309">
                <a:moveTo>
                  <a:pt x="0" y="0"/>
                </a:moveTo>
                <a:lnTo>
                  <a:pt x="2931309" y="2931309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108 Toolkit hatch 46"/>
          <p:cNvSpPr/>
          <p:nvPr/>
        </p:nvSpPr>
        <p:spPr>
          <a:xfrm>
            <a:off x="164592" y="8366760"/>
            <a:ext cx="2951400" cy="2951400"/>
          </a:xfrm>
          <a:custGeom>
            <a:avLst/>
            <a:gdLst/>
            <a:ahLst/>
            <a:cxnLst/>
            <a:rect l="0" t="0" r="r" b="b"/>
            <a:pathLst>
              <a:path w="2951400" h="2951400">
                <a:moveTo>
                  <a:pt x="0" y="0"/>
                </a:moveTo>
                <a:lnTo>
                  <a:pt x="2951400" y="29514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109 Toolkit hatch 47"/>
          <p:cNvSpPr/>
          <p:nvPr/>
        </p:nvSpPr>
        <p:spPr>
          <a:xfrm>
            <a:off x="164592" y="8293608"/>
            <a:ext cx="2965448" cy="2965448"/>
          </a:xfrm>
          <a:custGeom>
            <a:avLst/>
            <a:gdLst/>
            <a:ahLst/>
            <a:cxnLst/>
            <a:rect l="0" t="0" r="r" b="b"/>
            <a:pathLst>
              <a:path w="2965448" h="2965448">
                <a:moveTo>
                  <a:pt x="0" y="0"/>
                </a:moveTo>
                <a:lnTo>
                  <a:pt x="2965448" y="296544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110 Toolkit hatch 48"/>
          <p:cNvSpPr/>
          <p:nvPr/>
        </p:nvSpPr>
        <p:spPr>
          <a:xfrm>
            <a:off x="164592" y="8220456"/>
            <a:ext cx="2971710" cy="2971710"/>
          </a:xfrm>
          <a:custGeom>
            <a:avLst/>
            <a:gdLst/>
            <a:ahLst/>
            <a:cxnLst/>
            <a:rect l="0" t="0" r="r" b="b"/>
            <a:pathLst>
              <a:path w="2971710" h="2971710">
                <a:moveTo>
                  <a:pt x="0" y="0"/>
                </a:moveTo>
                <a:lnTo>
                  <a:pt x="2971710" y="297171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111 Toolkit hatch 49"/>
          <p:cNvSpPr/>
          <p:nvPr/>
        </p:nvSpPr>
        <p:spPr>
          <a:xfrm>
            <a:off x="164592" y="8147304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112 Toolkit hatch 50"/>
          <p:cNvSpPr/>
          <p:nvPr/>
        </p:nvSpPr>
        <p:spPr>
          <a:xfrm>
            <a:off x="164592" y="8074152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113 Toolkit hatch 51"/>
          <p:cNvSpPr/>
          <p:nvPr/>
        </p:nvSpPr>
        <p:spPr>
          <a:xfrm>
            <a:off x="164592" y="8001000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114 Toolkit hatch 52"/>
          <p:cNvSpPr/>
          <p:nvPr/>
        </p:nvSpPr>
        <p:spPr>
          <a:xfrm>
            <a:off x="164592" y="7927848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115 Toolkit hatch 53"/>
          <p:cNvSpPr/>
          <p:nvPr/>
        </p:nvSpPr>
        <p:spPr>
          <a:xfrm>
            <a:off x="164592" y="7854696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116 Toolkit hatch 54"/>
          <p:cNvSpPr/>
          <p:nvPr/>
        </p:nvSpPr>
        <p:spPr>
          <a:xfrm>
            <a:off x="164592" y="7781544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117 Toolkit hatch 55"/>
          <p:cNvSpPr/>
          <p:nvPr/>
        </p:nvSpPr>
        <p:spPr>
          <a:xfrm>
            <a:off x="164592" y="7708392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118 Toolkit hatch 56"/>
          <p:cNvSpPr/>
          <p:nvPr/>
        </p:nvSpPr>
        <p:spPr>
          <a:xfrm>
            <a:off x="164592" y="7635240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119 Toolkit hatch 57"/>
          <p:cNvSpPr/>
          <p:nvPr/>
        </p:nvSpPr>
        <p:spPr>
          <a:xfrm>
            <a:off x="164592" y="7562088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120 Toolkit hatch 58"/>
          <p:cNvSpPr/>
          <p:nvPr/>
        </p:nvSpPr>
        <p:spPr>
          <a:xfrm>
            <a:off x="164592" y="7488936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121 Toolkit hatch 59"/>
          <p:cNvSpPr/>
          <p:nvPr/>
        </p:nvSpPr>
        <p:spPr>
          <a:xfrm>
            <a:off x="164592" y="7415784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122 Toolkit hatch 60"/>
          <p:cNvSpPr/>
          <p:nvPr/>
        </p:nvSpPr>
        <p:spPr>
          <a:xfrm>
            <a:off x="164592" y="7342632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123 Toolkit hatch 61"/>
          <p:cNvSpPr/>
          <p:nvPr/>
        </p:nvSpPr>
        <p:spPr>
          <a:xfrm>
            <a:off x="164592" y="7269480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124 Toolkit hatch 62"/>
          <p:cNvSpPr/>
          <p:nvPr/>
        </p:nvSpPr>
        <p:spPr>
          <a:xfrm>
            <a:off x="164592" y="7196328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125 Toolkit hatch 63"/>
          <p:cNvSpPr/>
          <p:nvPr/>
        </p:nvSpPr>
        <p:spPr>
          <a:xfrm>
            <a:off x="164592" y="7123176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126 Toolkit hatch 64"/>
          <p:cNvSpPr/>
          <p:nvPr/>
        </p:nvSpPr>
        <p:spPr>
          <a:xfrm>
            <a:off x="164592" y="7050024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127 Toolkit hatch 65"/>
          <p:cNvSpPr/>
          <p:nvPr/>
        </p:nvSpPr>
        <p:spPr>
          <a:xfrm>
            <a:off x="164592" y="6976872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128 Toolkit hatch 66"/>
          <p:cNvSpPr/>
          <p:nvPr/>
        </p:nvSpPr>
        <p:spPr>
          <a:xfrm>
            <a:off x="164592" y="6903720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129 Toolkit hatch 67"/>
          <p:cNvSpPr/>
          <p:nvPr/>
        </p:nvSpPr>
        <p:spPr>
          <a:xfrm>
            <a:off x="164592" y="6830568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130 Toolkit hatch 68"/>
          <p:cNvSpPr/>
          <p:nvPr/>
        </p:nvSpPr>
        <p:spPr>
          <a:xfrm>
            <a:off x="164592" y="6757416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131 Toolkit hatch 69"/>
          <p:cNvSpPr/>
          <p:nvPr/>
        </p:nvSpPr>
        <p:spPr>
          <a:xfrm>
            <a:off x="164592" y="6684264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132 Toolkit hatch 70"/>
          <p:cNvSpPr/>
          <p:nvPr/>
        </p:nvSpPr>
        <p:spPr>
          <a:xfrm>
            <a:off x="164592" y="6611112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133 Toolkit hatch 71"/>
          <p:cNvSpPr/>
          <p:nvPr/>
        </p:nvSpPr>
        <p:spPr>
          <a:xfrm>
            <a:off x="164592" y="6537960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134 Toolkit hatch 72"/>
          <p:cNvSpPr/>
          <p:nvPr/>
        </p:nvSpPr>
        <p:spPr>
          <a:xfrm>
            <a:off x="164592" y="6464808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135 Toolkit hatch 73"/>
          <p:cNvSpPr/>
          <p:nvPr/>
        </p:nvSpPr>
        <p:spPr>
          <a:xfrm>
            <a:off x="164592" y="6391656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136 Toolkit hatch 74"/>
          <p:cNvSpPr/>
          <p:nvPr/>
        </p:nvSpPr>
        <p:spPr>
          <a:xfrm>
            <a:off x="164592" y="6318504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137 Toolkit hatch 75"/>
          <p:cNvSpPr/>
          <p:nvPr/>
        </p:nvSpPr>
        <p:spPr>
          <a:xfrm>
            <a:off x="164592" y="6245352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138 Toolkit hatch 76"/>
          <p:cNvSpPr/>
          <p:nvPr/>
        </p:nvSpPr>
        <p:spPr>
          <a:xfrm>
            <a:off x="164592" y="6172200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139 Toolkit hatch 77"/>
          <p:cNvSpPr/>
          <p:nvPr/>
        </p:nvSpPr>
        <p:spPr>
          <a:xfrm>
            <a:off x="164592" y="6099048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140 Toolkit hatch 78"/>
          <p:cNvSpPr/>
          <p:nvPr/>
        </p:nvSpPr>
        <p:spPr>
          <a:xfrm>
            <a:off x="164592" y="6025896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141 Toolkit hatch 79"/>
          <p:cNvSpPr/>
          <p:nvPr/>
        </p:nvSpPr>
        <p:spPr>
          <a:xfrm>
            <a:off x="164592" y="5952744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142 Toolkit hatch 80"/>
          <p:cNvSpPr/>
          <p:nvPr/>
        </p:nvSpPr>
        <p:spPr>
          <a:xfrm>
            <a:off x="164592" y="5879592"/>
            <a:ext cx="2971800" cy="2971800"/>
          </a:xfrm>
          <a:custGeom>
            <a:avLst/>
            <a:gdLst/>
            <a:ahLst/>
            <a:cxnLst/>
            <a:rect l="0" t="0" r="r" b="b"/>
            <a:pathLst>
              <a:path w="2971800" h="2971800">
                <a:moveTo>
                  <a:pt x="0" y="0"/>
                </a:moveTo>
                <a:lnTo>
                  <a:pt x="2971800" y="29718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143 Toolkit hatch 81"/>
          <p:cNvSpPr/>
          <p:nvPr/>
        </p:nvSpPr>
        <p:spPr>
          <a:xfrm>
            <a:off x="164944" y="5806792"/>
            <a:ext cx="2971448" cy="2971448"/>
          </a:xfrm>
          <a:custGeom>
            <a:avLst/>
            <a:gdLst/>
            <a:ahLst/>
            <a:cxnLst/>
            <a:rect l="0" t="0" r="r" b="b"/>
            <a:pathLst>
              <a:path w="2971448" h="2971448">
                <a:moveTo>
                  <a:pt x="0" y="0"/>
                </a:moveTo>
                <a:lnTo>
                  <a:pt x="2971448" y="297144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144 Toolkit hatch 82"/>
          <p:cNvSpPr/>
          <p:nvPr/>
        </p:nvSpPr>
        <p:spPr>
          <a:xfrm>
            <a:off x="172321" y="5741017"/>
            <a:ext cx="2964071" cy="2964071"/>
          </a:xfrm>
          <a:custGeom>
            <a:avLst/>
            <a:gdLst/>
            <a:ahLst/>
            <a:cxnLst/>
            <a:rect l="0" t="0" r="r" b="b"/>
            <a:pathLst>
              <a:path w="2964071" h="2964071">
                <a:moveTo>
                  <a:pt x="0" y="0"/>
                </a:moveTo>
                <a:lnTo>
                  <a:pt x="2964071" y="2964071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145 Toolkit hatch 83"/>
          <p:cNvSpPr/>
          <p:nvPr/>
        </p:nvSpPr>
        <p:spPr>
          <a:xfrm>
            <a:off x="187198" y="5682742"/>
            <a:ext cx="2949194" cy="2949194"/>
          </a:xfrm>
          <a:custGeom>
            <a:avLst/>
            <a:gdLst/>
            <a:ahLst/>
            <a:cxnLst/>
            <a:rect l="0" t="0" r="r" b="b"/>
            <a:pathLst>
              <a:path w="2949194" h="2949194">
                <a:moveTo>
                  <a:pt x="0" y="0"/>
                </a:moveTo>
                <a:lnTo>
                  <a:pt x="2949194" y="294919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146 Toolkit hatch 84"/>
          <p:cNvSpPr/>
          <p:nvPr/>
        </p:nvSpPr>
        <p:spPr>
          <a:xfrm>
            <a:off x="207966" y="5630358"/>
            <a:ext cx="2928426" cy="2928426"/>
          </a:xfrm>
          <a:custGeom>
            <a:avLst/>
            <a:gdLst/>
            <a:ahLst/>
            <a:cxnLst/>
            <a:rect l="0" t="0" r="r" b="b"/>
            <a:pathLst>
              <a:path w="2928426" h="2928426">
                <a:moveTo>
                  <a:pt x="0" y="0"/>
                </a:moveTo>
                <a:lnTo>
                  <a:pt x="2928426" y="292842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147 Toolkit hatch 85"/>
          <p:cNvSpPr/>
          <p:nvPr/>
        </p:nvSpPr>
        <p:spPr>
          <a:xfrm>
            <a:off x="233736" y="5582976"/>
            <a:ext cx="2902656" cy="2902656"/>
          </a:xfrm>
          <a:custGeom>
            <a:avLst/>
            <a:gdLst/>
            <a:ahLst/>
            <a:cxnLst/>
            <a:rect l="0" t="0" r="r" b="b"/>
            <a:pathLst>
              <a:path w="2902656" h="2902656">
                <a:moveTo>
                  <a:pt x="0" y="0"/>
                </a:moveTo>
                <a:lnTo>
                  <a:pt x="2902656" y="290265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148 Toolkit hatch 86"/>
          <p:cNvSpPr/>
          <p:nvPr/>
        </p:nvSpPr>
        <p:spPr>
          <a:xfrm>
            <a:off x="264002" y="5540090"/>
            <a:ext cx="2872390" cy="2872390"/>
          </a:xfrm>
          <a:custGeom>
            <a:avLst/>
            <a:gdLst/>
            <a:ahLst/>
            <a:cxnLst/>
            <a:rect l="0" t="0" r="r" b="b"/>
            <a:pathLst>
              <a:path w="2872390" h="2872390">
                <a:moveTo>
                  <a:pt x="0" y="0"/>
                </a:moveTo>
                <a:lnTo>
                  <a:pt x="2872390" y="287239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149 Toolkit hatch 87"/>
          <p:cNvSpPr/>
          <p:nvPr/>
        </p:nvSpPr>
        <p:spPr>
          <a:xfrm>
            <a:off x="298503" y="5501439"/>
            <a:ext cx="2837889" cy="2837889"/>
          </a:xfrm>
          <a:custGeom>
            <a:avLst/>
            <a:gdLst/>
            <a:ahLst/>
            <a:cxnLst/>
            <a:rect l="0" t="0" r="r" b="b"/>
            <a:pathLst>
              <a:path w="2837889" h="2837889">
                <a:moveTo>
                  <a:pt x="0" y="0"/>
                </a:moveTo>
                <a:lnTo>
                  <a:pt x="2837889" y="2837889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150 Toolkit hatch 88"/>
          <p:cNvSpPr/>
          <p:nvPr/>
        </p:nvSpPr>
        <p:spPr>
          <a:xfrm>
            <a:off x="337155" y="5466939"/>
            <a:ext cx="2799237" cy="2799237"/>
          </a:xfrm>
          <a:custGeom>
            <a:avLst/>
            <a:gdLst/>
            <a:ahLst/>
            <a:cxnLst/>
            <a:rect l="0" t="0" r="r" b="b"/>
            <a:pathLst>
              <a:path w="2799237" h="2799237">
                <a:moveTo>
                  <a:pt x="0" y="0"/>
                </a:moveTo>
                <a:lnTo>
                  <a:pt x="2799237" y="2799237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151 Toolkit hatch 89"/>
          <p:cNvSpPr/>
          <p:nvPr/>
        </p:nvSpPr>
        <p:spPr>
          <a:xfrm>
            <a:off x="380040" y="5436672"/>
            <a:ext cx="2756352" cy="2756352"/>
          </a:xfrm>
          <a:custGeom>
            <a:avLst/>
            <a:gdLst/>
            <a:ahLst/>
            <a:cxnLst/>
            <a:rect l="0" t="0" r="r" b="b"/>
            <a:pathLst>
              <a:path w="2756352" h="2756352">
                <a:moveTo>
                  <a:pt x="0" y="0"/>
                </a:moveTo>
                <a:lnTo>
                  <a:pt x="2756352" y="275635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152 Toolkit hatch 90"/>
          <p:cNvSpPr/>
          <p:nvPr/>
        </p:nvSpPr>
        <p:spPr>
          <a:xfrm>
            <a:off x="427422" y="5410902"/>
            <a:ext cx="2708970" cy="2708970"/>
          </a:xfrm>
          <a:custGeom>
            <a:avLst/>
            <a:gdLst/>
            <a:ahLst/>
            <a:cxnLst/>
            <a:rect l="0" t="0" r="r" b="b"/>
            <a:pathLst>
              <a:path w="2708970" h="2708970">
                <a:moveTo>
                  <a:pt x="0" y="0"/>
                </a:moveTo>
                <a:lnTo>
                  <a:pt x="2708970" y="270897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153 Toolkit hatch 91"/>
          <p:cNvSpPr/>
          <p:nvPr/>
        </p:nvSpPr>
        <p:spPr>
          <a:xfrm>
            <a:off x="479806" y="5390134"/>
            <a:ext cx="2656586" cy="2656586"/>
          </a:xfrm>
          <a:custGeom>
            <a:avLst/>
            <a:gdLst/>
            <a:ahLst/>
            <a:cxnLst/>
            <a:rect l="0" t="0" r="r" b="b"/>
            <a:pathLst>
              <a:path w="2656586" h="2656586">
                <a:moveTo>
                  <a:pt x="0" y="0"/>
                </a:moveTo>
                <a:lnTo>
                  <a:pt x="2656586" y="265658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154 Toolkit hatch 92"/>
          <p:cNvSpPr/>
          <p:nvPr/>
        </p:nvSpPr>
        <p:spPr>
          <a:xfrm>
            <a:off x="538081" y="5375257"/>
            <a:ext cx="2598311" cy="2598311"/>
          </a:xfrm>
          <a:custGeom>
            <a:avLst/>
            <a:gdLst/>
            <a:ahLst/>
            <a:cxnLst/>
            <a:rect l="0" t="0" r="r" b="b"/>
            <a:pathLst>
              <a:path w="2598311" h="2598311">
                <a:moveTo>
                  <a:pt x="0" y="0"/>
                </a:moveTo>
                <a:lnTo>
                  <a:pt x="2598311" y="2598311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155 Toolkit hatch 93"/>
          <p:cNvSpPr/>
          <p:nvPr/>
        </p:nvSpPr>
        <p:spPr>
          <a:xfrm>
            <a:off x="603856" y="5367880"/>
            <a:ext cx="2532536" cy="2532536"/>
          </a:xfrm>
          <a:custGeom>
            <a:avLst/>
            <a:gdLst/>
            <a:ahLst/>
            <a:cxnLst/>
            <a:rect l="0" t="0" r="r" b="b"/>
            <a:pathLst>
              <a:path w="2532536" h="2532536">
                <a:moveTo>
                  <a:pt x="0" y="0"/>
                </a:moveTo>
                <a:lnTo>
                  <a:pt x="2532536" y="253253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156 Toolkit hatch 94"/>
          <p:cNvSpPr/>
          <p:nvPr/>
        </p:nvSpPr>
        <p:spPr>
          <a:xfrm>
            <a:off x="676656" y="5367528"/>
            <a:ext cx="2459736" cy="2459736"/>
          </a:xfrm>
          <a:custGeom>
            <a:avLst/>
            <a:gdLst/>
            <a:ahLst/>
            <a:cxnLst/>
            <a:rect l="0" t="0" r="r" b="b"/>
            <a:pathLst>
              <a:path w="2459736" h="2459736">
                <a:moveTo>
                  <a:pt x="0" y="0"/>
                </a:moveTo>
                <a:lnTo>
                  <a:pt x="2459736" y="245973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157 Toolkit hatch 95"/>
          <p:cNvSpPr/>
          <p:nvPr/>
        </p:nvSpPr>
        <p:spPr>
          <a:xfrm>
            <a:off x="749808" y="5367528"/>
            <a:ext cx="2386584" cy="2386584"/>
          </a:xfrm>
          <a:custGeom>
            <a:avLst/>
            <a:gdLst/>
            <a:ahLst/>
            <a:cxnLst/>
            <a:rect l="0" t="0" r="r" b="b"/>
            <a:pathLst>
              <a:path w="2386584" h="2386584">
                <a:moveTo>
                  <a:pt x="0" y="0"/>
                </a:moveTo>
                <a:lnTo>
                  <a:pt x="2386584" y="238658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158 Toolkit hatch 96"/>
          <p:cNvSpPr/>
          <p:nvPr/>
        </p:nvSpPr>
        <p:spPr>
          <a:xfrm>
            <a:off x="822960" y="5367528"/>
            <a:ext cx="2313432" cy="2313432"/>
          </a:xfrm>
          <a:custGeom>
            <a:avLst/>
            <a:gdLst/>
            <a:ahLst/>
            <a:cxnLst/>
            <a:rect l="0" t="0" r="r" b="b"/>
            <a:pathLst>
              <a:path w="2313432" h="2313432">
                <a:moveTo>
                  <a:pt x="0" y="0"/>
                </a:moveTo>
                <a:lnTo>
                  <a:pt x="2313432" y="231343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159 Toolkit hatch 97"/>
          <p:cNvSpPr/>
          <p:nvPr/>
        </p:nvSpPr>
        <p:spPr>
          <a:xfrm>
            <a:off x="896112" y="5367528"/>
            <a:ext cx="2240280" cy="2240280"/>
          </a:xfrm>
          <a:custGeom>
            <a:avLst/>
            <a:gdLst/>
            <a:ahLst/>
            <a:cxnLst/>
            <a:rect l="0" t="0" r="r" b="b"/>
            <a:pathLst>
              <a:path w="2240280" h="2240280">
                <a:moveTo>
                  <a:pt x="0" y="0"/>
                </a:moveTo>
                <a:lnTo>
                  <a:pt x="2240280" y="224028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160 Toolkit hatch 98"/>
          <p:cNvSpPr/>
          <p:nvPr/>
        </p:nvSpPr>
        <p:spPr>
          <a:xfrm>
            <a:off x="969264" y="5367528"/>
            <a:ext cx="2167128" cy="2167128"/>
          </a:xfrm>
          <a:custGeom>
            <a:avLst/>
            <a:gdLst/>
            <a:ahLst/>
            <a:cxnLst/>
            <a:rect l="0" t="0" r="r" b="b"/>
            <a:pathLst>
              <a:path w="2167128" h="2167128">
                <a:moveTo>
                  <a:pt x="0" y="0"/>
                </a:moveTo>
                <a:lnTo>
                  <a:pt x="2167128" y="216712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161 Toolkit hatch 99"/>
          <p:cNvSpPr/>
          <p:nvPr/>
        </p:nvSpPr>
        <p:spPr>
          <a:xfrm>
            <a:off x="1042416" y="5367528"/>
            <a:ext cx="2093976" cy="2093976"/>
          </a:xfrm>
          <a:custGeom>
            <a:avLst/>
            <a:gdLst/>
            <a:ahLst/>
            <a:cxnLst/>
            <a:rect l="0" t="0" r="r" b="b"/>
            <a:pathLst>
              <a:path w="2093976" h="2093976">
                <a:moveTo>
                  <a:pt x="0" y="0"/>
                </a:moveTo>
                <a:lnTo>
                  <a:pt x="2093976" y="209397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162 Toolkit hatch 100"/>
          <p:cNvSpPr/>
          <p:nvPr/>
        </p:nvSpPr>
        <p:spPr>
          <a:xfrm>
            <a:off x="1115568" y="5367528"/>
            <a:ext cx="2020824" cy="2020824"/>
          </a:xfrm>
          <a:custGeom>
            <a:avLst/>
            <a:gdLst/>
            <a:ahLst/>
            <a:cxnLst/>
            <a:rect l="0" t="0" r="r" b="b"/>
            <a:pathLst>
              <a:path w="2020824" h="2020824">
                <a:moveTo>
                  <a:pt x="0" y="0"/>
                </a:moveTo>
                <a:lnTo>
                  <a:pt x="2020824" y="202082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163 Toolkit hatch 101"/>
          <p:cNvSpPr/>
          <p:nvPr/>
        </p:nvSpPr>
        <p:spPr>
          <a:xfrm>
            <a:off x="1188720" y="5367528"/>
            <a:ext cx="1947672" cy="1947672"/>
          </a:xfrm>
          <a:custGeom>
            <a:avLst/>
            <a:gdLst/>
            <a:ahLst/>
            <a:cxnLst/>
            <a:rect l="0" t="0" r="r" b="b"/>
            <a:pathLst>
              <a:path w="1947672" h="1947672">
                <a:moveTo>
                  <a:pt x="0" y="0"/>
                </a:moveTo>
                <a:lnTo>
                  <a:pt x="1947672" y="194767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164 Toolkit hatch 102"/>
          <p:cNvSpPr/>
          <p:nvPr/>
        </p:nvSpPr>
        <p:spPr>
          <a:xfrm>
            <a:off x="1261872" y="5367528"/>
            <a:ext cx="1874520" cy="1874520"/>
          </a:xfrm>
          <a:custGeom>
            <a:avLst/>
            <a:gdLst/>
            <a:ahLst/>
            <a:cxnLst/>
            <a:rect l="0" t="0" r="r" b="b"/>
            <a:pathLst>
              <a:path w="1874520" h="1874520">
                <a:moveTo>
                  <a:pt x="0" y="0"/>
                </a:moveTo>
                <a:lnTo>
                  <a:pt x="1874520" y="187452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165 Toolkit hatch 103"/>
          <p:cNvSpPr/>
          <p:nvPr/>
        </p:nvSpPr>
        <p:spPr>
          <a:xfrm>
            <a:off x="1335024" y="5367528"/>
            <a:ext cx="1801368" cy="1801368"/>
          </a:xfrm>
          <a:custGeom>
            <a:avLst/>
            <a:gdLst/>
            <a:ahLst/>
            <a:cxnLst/>
            <a:rect l="0" t="0" r="r" b="b"/>
            <a:pathLst>
              <a:path w="1801368" h="1801368">
                <a:moveTo>
                  <a:pt x="0" y="0"/>
                </a:moveTo>
                <a:lnTo>
                  <a:pt x="1801368" y="180136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166 Toolkit hatch 104"/>
          <p:cNvSpPr/>
          <p:nvPr/>
        </p:nvSpPr>
        <p:spPr>
          <a:xfrm>
            <a:off x="1408176" y="5367528"/>
            <a:ext cx="1728216" cy="1728216"/>
          </a:xfrm>
          <a:custGeom>
            <a:avLst/>
            <a:gdLst/>
            <a:ahLst/>
            <a:cxnLst/>
            <a:rect l="0" t="0" r="r" b="b"/>
            <a:pathLst>
              <a:path w="1728216" h="1728216">
                <a:moveTo>
                  <a:pt x="0" y="0"/>
                </a:moveTo>
                <a:lnTo>
                  <a:pt x="1728216" y="172821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167 Toolkit hatch 105"/>
          <p:cNvSpPr/>
          <p:nvPr/>
        </p:nvSpPr>
        <p:spPr>
          <a:xfrm>
            <a:off x="1481328" y="5367528"/>
            <a:ext cx="1655064" cy="1655064"/>
          </a:xfrm>
          <a:custGeom>
            <a:avLst/>
            <a:gdLst/>
            <a:ahLst/>
            <a:cxnLst/>
            <a:rect l="0" t="0" r="r" b="b"/>
            <a:pathLst>
              <a:path w="1655064" h="1655064">
                <a:moveTo>
                  <a:pt x="0" y="0"/>
                </a:moveTo>
                <a:lnTo>
                  <a:pt x="1655064" y="165506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168 Toolkit hatch 106"/>
          <p:cNvSpPr/>
          <p:nvPr/>
        </p:nvSpPr>
        <p:spPr>
          <a:xfrm>
            <a:off x="1554480" y="5367528"/>
            <a:ext cx="1581912" cy="1581912"/>
          </a:xfrm>
          <a:custGeom>
            <a:avLst/>
            <a:gdLst/>
            <a:ahLst/>
            <a:cxnLst/>
            <a:rect l="0" t="0" r="r" b="b"/>
            <a:pathLst>
              <a:path w="1581912" h="1581912">
                <a:moveTo>
                  <a:pt x="0" y="0"/>
                </a:moveTo>
                <a:lnTo>
                  <a:pt x="1581912" y="158191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169 Toolkit hatch 107"/>
          <p:cNvSpPr/>
          <p:nvPr/>
        </p:nvSpPr>
        <p:spPr>
          <a:xfrm>
            <a:off x="1627632" y="5367528"/>
            <a:ext cx="1508760" cy="1508760"/>
          </a:xfrm>
          <a:custGeom>
            <a:avLst/>
            <a:gdLst/>
            <a:ahLst/>
            <a:cxnLst/>
            <a:rect l="0" t="0" r="r" b="b"/>
            <a:pathLst>
              <a:path w="1508760" h="1508760">
                <a:moveTo>
                  <a:pt x="0" y="0"/>
                </a:moveTo>
                <a:lnTo>
                  <a:pt x="1508760" y="150876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170 Toolkit hatch 108"/>
          <p:cNvSpPr/>
          <p:nvPr/>
        </p:nvSpPr>
        <p:spPr>
          <a:xfrm>
            <a:off x="1700784" y="5367528"/>
            <a:ext cx="1435608" cy="1435608"/>
          </a:xfrm>
          <a:custGeom>
            <a:avLst/>
            <a:gdLst/>
            <a:ahLst/>
            <a:cxnLst/>
            <a:rect l="0" t="0" r="r" b="b"/>
            <a:pathLst>
              <a:path w="1435608" h="1435608">
                <a:moveTo>
                  <a:pt x="0" y="0"/>
                </a:moveTo>
                <a:lnTo>
                  <a:pt x="1435608" y="143560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171 Toolkit hatch 109"/>
          <p:cNvSpPr/>
          <p:nvPr/>
        </p:nvSpPr>
        <p:spPr>
          <a:xfrm>
            <a:off x="1773936" y="5367528"/>
            <a:ext cx="1362456" cy="1362456"/>
          </a:xfrm>
          <a:custGeom>
            <a:avLst/>
            <a:gdLst/>
            <a:ahLst/>
            <a:cxnLst/>
            <a:rect l="0" t="0" r="r" b="b"/>
            <a:pathLst>
              <a:path w="1362456" h="1362456">
                <a:moveTo>
                  <a:pt x="0" y="0"/>
                </a:moveTo>
                <a:lnTo>
                  <a:pt x="1362456" y="136245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172 Toolkit hatch 110"/>
          <p:cNvSpPr/>
          <p:nvPr/>
        </p:nvSpPr>
        <p:spPr>
          <a:xfrm>
            <a:off x="1847088" y="5367528"/>
            <a:ext cx="1289304" cy="1289304"/>
          </a:xfrm>
          <a:custGeom>
            <a:avLst/>
            <a:gdLst/>
            <a:ahLst/>
            <a:cxnLst/>
            <a:rect l="0" t="0" r="r" b="b"/>
            <a:pathLst>
              <a:path w="1289304" h="1289304">
                <a:moveTo>
                  <a:pt x="0" y="0"/>
                </a:moveTo>
                <a:lnTo>
                  <a:pt x="1289304" y="128930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173 Toolkit hatch 111"/>
          <p:cNvSpPr/>
          <p:nvPr/>
        </p:nvSpPr>
        <p:spPr>
          <a:xfrm>
            <a:off x="1920240" y="5367528"/>
            <a:ext cx="1216152" cy="1216152"/>
          </a:xfrm>
          <a:custGeom>
            <a:avLst/>
            <a:gdLst/>
            <a:ahLst/>
            <a:cxnLst/>
            <a:rect l="0" t="0" r="r" b="b"/>
            <a:pathLst>
              <a:path w="1216152" h="1216152">
                <a:moveTo>
                  <a:pt x="0" y="0"/>
                </a:moveTo>
                <a:lnTo>
                  <a:pt x="1216152" y="121615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174 Toolkit hatch 112"/>
          <p:cNvSpPr/>
          <p:nvPr/>
        </p:nvSpPr>
        <p:spPr>
          <a:xfrm>
            <a:off x="1993392" y="5367528"/>
            <a:ext cx="1143000" cy="1143000"/>
          </a:xfrm>
          <a:custGeom>
            <a:avLst/>
            <a:gdLst/>
            <a:ahLst/>
            <a:cxnLst/>
            <a:rect l="0" t="0" r="r" b="b"/>
            <a:pathLst>
              <a:path w="1143000" h="1143000">
                <a:moveTo>
                  <a:pt x="0" y="0"/>
                </a:moveTo>
                <a:lnTo>
                  <a:pt x="1143000" y="114300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175 Toolkit hatch 113"/>
          <p:cNvSpPr/>
          <p:nvPr/>
        </p:nvSpPr>
        <p:spPr>
          <a:xfrm>
            <a:off x="2066544" y="5367528"/>
            <a:ext cx="1069848" cy="1069848"/>
          </a:xfrm>
          <a:custGeom>
            <a:avLst/>
            <a:gdLst/>
            <a:ahLst/>
            <a:cxnLst/>
            <a:rect l="0" t="0" r="r" b="b"/>
            <a:pathLst>
              <a:path w="1069848" h="1069848">
                <a:moveTo>
                  <a:pt x="0" y="0"/>
                </a:moveTo>
                <a:lnTo>
                  <a:pt x="1069848" y="106984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176 Toolkit hatch 114"/>
          <p:cNvSpPr/>
          <p:nvPr/>
        </p:nvSpPr>
        <p:spPr>
          <a:xfrm>
            <a:off x="2139696" y="5367528"/>
            <a:ext cx="996696" cy="996696"/>
          </a:xfrm>
          <a:custGeom>
            <a:avLst/>
            <a:gdLst/>
            <a:ahLst/>
            <a:cxnLst/>
            <a:rect l="0" t="0" r="r" b="b"/>
            <a:pathLst>
              <a:path w="996696" h="996696">
                <a:moveTo>
                  <a:pt x="0" y="0"/>
                </a:moveTo>
                <a:lnTo>
                  <a:pt x="996696" y="99669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177 Toolkit hatch 115"/>
          <p:cNvSpPr/>
          <p:nvPr/>
        </p:nvSpPr>
        <p:spPr>
          <a:xfrm>
            <a:off x="2212848" y="5367528"/>
            <a:ext cx="923544" cy="923544"/>
          </a:xfrm>
          <a:custGeom>
            <a:avLst/>
            <a:gdLst/>
            <a:ahLst/>
            <a:cxnLst/>
            <a:rect l="0" t="0" r="r" b="b"/>
            <a:pathLst>
              <a:path w="923544" h="923544">
                <a:moveTo>
                  <a:pt x="0" y="0"/>
                </a:moveTo>
                <a:lnTo>
                  <a:pt x="923544" y="92354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178 Toolkit hatch 116"/>
          <p:cNvSpPr/>
          <p:nvPr/>
        </p:nvSpPr>
        <p:spPr>
          <a:xfrm>
            <a:off x="2286000" y="5367528"/>
            <a:ext cx="850392" cy="850392"/>
          </a:xfrm>
          <a:custGeom>
            <a:avLst/>
            <a:gdLst/>
            <a:ahLst/>
            <a:cxnLst/>
            <a:rect l="0" t="0" r="r" b="b"/>
            <a:pathLst>
              <a:path w="850392" h="850392">
                <a:moveTo>
                  <a:pt x="0" y="0"/>
                </a:moveTo>
                <a:lnTo>
                  <a:pt x="850392" y="85039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179 Toolkit hatch 117"/>
          <p:cNvSpPr/>
          <p:nvPr/>
        </p:nvSpPr>
        <p:spPr>
          <a:xfrm>
            <a:off x="2359152" y="5367528"/>
            <a:ext cx="777240" cy="777240"/>
          </a:xfrm>
          <a:custGeom>
            <a:avLst/>
            <a:gdLst/>
            <a:ahLst/>
            <a:cxnLst/>
            <a:rect l="0" t="0" r="r" b="b"/>
            <a:pathLst>
              <a:path w="777240" h="777240">
                <a:moveTo>
                  <a:pt x="0" y="0"/>
                </a:moveTo>
                <a:lnTo>
                  <a:pt x="777240" y="777240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180 Toolkit hatch 118"/>
          <p:cNvSpPr/>
          <p:nvPr/>
        </p:nvSpPr>
        <p:spPr>
          <a:xfrm>
            <a:off x="2432304" y="5367528"/>
            <a:ext cx="704088" cy="704088"/>
          </a:xfrm>
          <a:custGeom>
            <a:avLst/>
            <a:gdLst/>
            <a:ahLst/>
            <a:cxnLst/>
            <a:rect l="0" t="0" r="r" b="b"/>
            <a:pathLst>
              <a:path w="704088" h="704088">
                <a:moveTo>
                  <a:pt x="0" y="0"/>
                </a:moveTo>
                <a:lnTo>
                  <a:pt x="704088" y="70408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181 Toolkit hatch 119"/>
          <p:cNvSpPr/>
          <p:nvPr/>
        </p:nvSpPr>
        <p:spPr>
          <a:xfrm>
            <a:off x="2505456" y="5367528"/>
            <a:ext cx="630936" cy="630936"/>
          </a:xfrm>
          <a:custGeom>
            <a:avLst/>
            <a:gdLst/>
            <a:ahLst/>
            <a:cxnLst/>
            <a:rect l="0" t="0" r="r" b="b"/>
            <a:pathLst>
              <a:path w="630936" h="630936">
                <a:moveTo>
                  <a:pt x="0" y="0"/>
                </a:moveTo>
                <a:lnTo>
                  <a:pt x="630936" y="63093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182 Toolkit hatch 120"/>
          <p:cNvSpPr/>
          <p:nvPr/>
        </p:nvSpPr>
        <p:spPr>
          <a:xfrm>
            <a:off x="2578608" y="5367528"/>
            <a:ext cx="557784" cy="557784"/>
          </a:xfrm>
          <a:custGeom>
            <a:avLst/>
            <a:gdLst/>
            <a:ahLst/>
            <a:cxnLst/>
            <a:rect l="0" t="0" r="r" b="b"/>
            <a:pathLst>
              <a:path w="557784" h="557784">
                <a:moveTo>
                  <a:pt x="0" y="0"/>
                </a:moveTo>
                <a:lnTo>
                  <a:pt x="557784" y="557784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183 Toolkit hatch 121"/>
          <p:cNvSpPr/>
          <p:nvPr/>
        </p:nvSpPr>
        <p:spPr>
          <a:xfrm>
            <a:off x="2651760" y="5367528"/>
            <a:ext cx="484632" cy="484632"/>
          </a:xfrm>
          <a:custGeom>
            <a:avLst/>
            <a:gdLst/>
            <a:ahLst/>
            <a:cxnLst/>
            <a:rect l="0" t="0" r="r" b="b"/>
            <a:pathLst>
              <a:path w="484632" h="484632">
                <a:moveTo>
                  <a:pt x="0" y="0"/>
                </a:moveTo>
                <a:lnTo>
                  <a:pt x="484632" y="484632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184 Toolkit hatch 122"/>
          <p:cNvSpPr/>
          <p:nvPr/>
        </p:nvSpPr>
        <p:spPr>
          <a:xfrm>
            <a:off x="2727468" y="5370084"/>
            <a:ext cx="406368" cy="406368"/>
          </a:xfrm>
          <a:custGeom>
            <a:avLst/>
            <a:gdLst/>
            <a:ahLst/>
            <a:cxnLst/>
            <a:rect l="0" t="0" r="r" b="b"/>
            <a:pathLst>
              <a:path w="406368" h="406368">
                <a:moveTo>
                  <a:pt x="0" y="0"/>
                </a:moveTo>
                <a:lnTo>
                  <a:pt x="406368" y="406368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185 Toolkit hatch 123"/>
          <p:cNvSpPr/>
          <p:nvPr/>
        </p:nvSpPr>
        <p:spPr>
          <a:xfrm>
            <a:off x="2820425" y="5389889"/>
            <a:ext cx="293606" cy="293606"/>
          </a:xfrm>
          <a:custGeom>
            <a:avLst/>
            <a:gdLst/>
            <a:ahLst/>
            <a:cxnLst/>
            <a:rect l="0" t="0" r="r" b="b"/>
            <a:pathLst>
              <a:path w="293606" h="293606">
                <a:moveTo>
                  <a:pt x="0" y="0"/>
                </a:moveTo>
                <a:lnTo>
                  <a:pt x="293606" y="293606"/>
                </a:lnTo>
              </a:path>
            </a:pathLst>
          </a:custGeom>
          <a:noFill/>
          <a:ln w="21031">
            <a:solidFill>
              <a:srgbClr val="DEEB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186 Toolkit dashed border"/>
          <p:cNvSpPr/>
          <p:nvPr/>
        </p:nvSpPr>
        <p:spPr>
          <a:xfrm>
            <a:off x="164592" y="5367528"/>
            <a:ext cx="2971800" cy="6272784"/>
          </a:xfrm>
          <a:prstGeom prst="roundRect">
            <a:avLst>
              <a:gd name="adj" fmla="val 15384"/>
            </a:avLst>
          </a:prstGeom>
          <a:noFill/>
          <a:ln w="32918">
            <a:solidFill>
              <a:srgbClr val="AAAAA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187 Initial perception and planning stage"/>
          <p:cNvSpPr/>
          <p:nvPr/>
        </p:nvSpPr>
        <p:spPr>
          <a:xfrm>
            <a:off x="3493008" y="2194560"/>
            <a:ext cx="9619488" cy="2752344"/>
          </a:xfrm>
          <a:prstGeom prst="roundRect">
            <a:avLst>
              <a:gd name="adj" fmla="val 17275"/>
            </a:avLst>
          </a:prstGeom>
          <a:solidFill>
            <a:srgbClr val="FAE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188 First reflection stage"/>
          <p:cNvSpPr/>
          <p:nvPr/>
        </p:nvSpPr>
        <p:spPr>
          <a:xfrm>
            <a:off x="3493008" y="5221224"/>
            <a:ext cx="9619488" cy="2971800"/>
          </a:xfrm>
          <a:prstGeom prst="roundRect">
            <a:avLst>
              <a:gd name="adj" fmla="val 16000"/>
            </a:avLst>
          </a:prstGeom>
          <a:solidFill>
            <a:srgbClr val="FAE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189 Second reflection stage"/>
          <p:cNvSpPr/>
          <p:nvPr/>
        </p:nvSpPr>
        <p:spPr>
          <a:xfrm>
            <a:off x="3447288" y="8494776"/>
            <a:ext cx="9683496" cy="3063240"/>
          </a:xfrm>
          <a:prstGeom prst="roundRect">
            <a:avLst>
              <a:gd name="adj" fmla="val 15522"/>
            </a:avLst>
          </a:prstGeom>
          <a:solidFill>
            <a:srgbClr val="FAE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190 Initial VLM reasoning stage"/>
          <p:cNvSpPr/>
          <p:nvPr/>
        </p:nvSpPr>
        <p:spPr>
          <a:xfrm>
            <a:off x="13423392" y="2212848"/>
            <a:ext cx="4169664" cy="2734056"/>
          </a:xfrm>
          <a:prstGeom prst="roundRect">
            <a:avLst>
              <a:gd name="adj" fmla="val 17056"/>
            </a:avLst>
          </a:prstGeom>
          <a:solidFill>
            <a:srgbClr val="E1EF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191 Refined VLM reasoning stage"/>
          <p:cNvSpPr/>
          <p:nvPr/>
        </p:nvSpPr>
        <p:spPr>
          <a:xfrm>
            <a:off x="13423392" y="5230368"/>
            <a:ext cx="4197096" cy="2953512"/>
          </a:xfrm>
          <a:prstGeom prst="roundRect">
            <a:avLst>
              <a:gd name="adj" fmla="val 15789"/>
            </a:avLst>
          </a:prstGeom>
          <a:solidFill>
            <a:srgbClr val="E1EF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192 Final VLM reasoning stage"/>
          <p:cNvSpPr/>
          <p:nvPr/>
        </p:nvSpPr>
        <p:spPr>
          <a:xfrm>
            <a:off x="13423392" y="8494776"/>
            <a:ext cx="4197096" cy="3063240"/>
          </a:xfrm>
          <a:prstGeom prst="roundRect">
            <a:avLst>
              <a:gd name="adj" fmla="val 15223"/>
            </a:avLst>
          </a:prstGeom>
          <a:solidFill>
            <a:srgbClr val="E1EF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193 User request speech bubble"/>
          <p:cNvSpPr/>
          <p:nvPr/>
        </p:nvSpPr>
        <p:spPr>
          <a:xfrm>
            <a:off x="2258568" y="164592"/>
            <a:ext cx="12682728" cy="603504"/>
          </a:xfrm>
          <a:custGeom>
            <a:avLst/>
            <a:gdLst/>
            <a:ahLst/>
            <a:cxnLst/>
            <a:rect l="0" t="0" r="r" b="b"/>
            <a:pathLst>
              <a:path w="12682728" h="603504">
                <a:moveTo>
                  <a:pt x="466344" y="0"/>
                </a:moveTo>
                <a:lnTo>
                  <a:pt x="12573000" y="0"/>
                </a:lnTo>
                <a:cubicBezTo>
                  <a:pt x="12637008" y="0"/>
                  <a:pt x="12682728" y="45720"/>
                  <a:pt x="12682728" y="118872"/>
                </a:cubicBezTo>
                <a:lnTo>
                  <a:pt x="12682728" y="484632"/>
                </a:lnTo>
                <a:cubicBezTo>
                  <a:pt x="12682728" y="557784"/>
                  <a:pt x="12637008" y="603504"/>
                  <a:pt x="12573000" y="603504"/>
                </a:cubicBezTo>
                <a:lnTo>
                  <a:pt x="466344" y="603504"/>
                </a:lnTo>
                <a:cubicBezTo>
                  <a:pt x="393192" y="603504"/>
                  <a:pt x="356616" y="566928"/>
                  <a:pt x="356616" y="493776"/>
                </a:cubicBezTo>
                <a:lnTo>
                  <a:pt x="356616" y="246888"/>
                </a:lnTo>
                <a:lnTo>
                  <a:pt x="0" y="192024"/>
                </a:lnTo>
                <a:lnTo>
                  <a:pt x="356616" y="91440"/>
                </a:lnTo>
                <a:cubicBezTo>
                  <a:pt x="365760" y="36576"/>
                  <a:pt x="402336" y="0"/>
                  <a:pt x="466344" y="0"/>
                </a:cubicBezTo>
                <a:close/>
              </a:path>
            </a:pathLst>
          </a:custGeom>
          <a:solidFill>
            <a:srgbClr val="DFEBF6"/>
          </a:solidFill>
          <a:ln w="15544">
            <a:solidFill>
              <a:srgbClr val="237D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6" name="194 Requesting user" descr="business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2" y="73152"/>
            <a:ext cx="393192" cy="804672"/>
          </a:xfrm>
          <a:prstGeom prst="rect">
            <a:avLst/>
          </a:prstGeom>
        </p:spPr>
      </p:pic>
      <p:sp>
        <p:nvSpPr>
          <p:cNvPr id="197" name="195 User request first line"/>
          <p:cNvSpPr txBox="1"/>
          <p:nvPr/>
        </p:nvSpPr>
        <p:spPr>
          <a:xfrm>
            <a:off x="2788920" y="246888"/>
            <a:ext cx="11960352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Please help me detect the following types of abnormal events: Abuse, Arrest, Arson, Assault, Burglary, Explosion, Fighting, Road Accidents,</a:t>
            </a:r>
          </a:p>
        </p:txBody>
      </p:sp>
      <p:sp>
        <p:nvSpPr>
          <p:cNvPr id="198" name="196 User request second line"/>
          <p:cNvSpPr txBox="1"/>
          <p:nvPr/>
        </p:nvSpPr>
        <p:spPr>
          <a:xfrm>
            <a:off x="2788920" y="475488"/>
            <a:ext cx="11960352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Robbery, Shooting, Shoplifting, Stealing, Vandalism.</a:t>
            </a:r>
          </a:p>
        </p:txBody>
      </p:sp>
      <p:sp>
        <p:nvSpPr>
          <p:cNvPr id="199" name="197 Video temporal direction shaft"/>
          <p:cNvSpPr/>
          <p:nvPr/>
        </p:nvSpPr>
        <p:spPr>
          <a:xfrm>
            <a:off x="100584" y="896112"/>
            <a:ext cx="17318736" cy="91"/>
          </a:xfrm>
          <a:custGeom>
            <a:avLst/>
            <a:gdLst/>
            <a:ahLst/>
            <a:cxnLst/>
            <a:rect l="0" t="0" r="r" b="b"/>
            <a:pathLst>
              <a:path w="17318736" h="91">
                <a:moveTo>
                  <a:pt x="0" y="0"/>
                </a:moveTo>
                <a:lnTo>
                  <a:pt x="17318736" y="0"/>
                </a:lnTo>
              </a:path>
            </a:pathLst>
          </a:custGeom>
          <a:noFill/>
          <a:ln w="21031">
            <a:solidFill>
              <a:srgbClr val="56A1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198 Video temporal direction arrowhead"/>
          <p:cNvSpPr/>
          <p:nvPr/>
        </p:nvSpPr>
        <p:spPr>
          <a:xfrm>
            <a:off x="17419320" y="821497"/>
            <a:ext cx="155448" cy="149230"/>
          </a:xfrm>
          <a:custGeom>
            <a:avLst/>
            <a:gdLst/>
            <a:ahLst/>
            <a:cxnLst/>
            <a:rect l="0" t="0" r="r" b="b"/>
            <a:pathLst>
              <a:path w="155448" h="149230">
                <a:moveTo>
                  <a:pt x="155448" y="74615"/>
                </a:moveTo>
                <a:lnTo>
                  <a:pt x="0" y="149230"/>
                </a:lnTo>
                <a:lnTo>
                  <a:pt x="0" y="0"/>
                </a:lnTo>
                <a:close/>
              </a:path>
            </a:pathLst>
          </a:custGeom>
          <a:solidFill>
            <a:srgbClr val="56A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1" name="199 Video source camera" descr="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133856"/>
            <a:ext cx="886968" cy="685800"/>
          </a:xfrm>
          <a:prstGeom prst="rect">
            <a:avLst/>
          </a:prstGeom>
        </p:spPr>
      </p:pic>
      <p:sp>
        <p:nvSpPr>
          <p:cNvPr id="202" name="200 Additional video frames"/>
          <p:cNvSpPr txBox="1"/>
          <p:nvPr/>
        </p:nvSpPr>
        <p:spPr>
          <a:xfrm>
            <a:off x="1353312" y="1399032"/>
            <a:ext cx="256032" cy="249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000000"/>
                </a:solidFill>
                <a:latin typeface="Arial"/>
                <a:ea typeface="Arial"/>
              </a:rPr>
              <a:t>...</a:t>
            </a:r>
          </a:p>
        </p:txBody>
      </p:sp>
      <p:sp>
        <p:nvSpPr>
          <p:cNvPr id="203" name="201 Film strip body"/>
          <p:cNvSpPr/>
          <p:nvPr/>
        </p:nvSpPr>
        <p:spPr>
          <a:xfrm>
            <a:off x="1600200" y="996696"/>
            <a:ext cx="15791688" cy="1106424"/>
          </a:xfrm>
          <a:prstGeom prst="roundRect">
            <a:avLst>
              <a:gd name="adj" fmla="val 2479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4" name="202 Video frame 01" descr="frame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1161288"/>
            <a:ext cx="1399032" cy="768096"/>
          </a:xfrm>
          <a:prstGeom prst="rect">
            <a:avLst/>
          </a:prstGeom>
        </p:spPr>
      </p:pic>
      <p:pic>
        <p:nvPicPr>
          <p:cNvPr id="205" name="203 Video frame 02" descr="frame_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1161288"/>
            <a:ext cx="1444752" cy="768096"/>
          </a:xfrm>
          <a:prstGeom prst="rect">
            <a:avLst/>
          </a:prstGeom>
        </p:spPr>
      </p:pic>
      <p:pic>
        <p:nvPicPr>
          <p:cNvPr id="206" name="204 Video frame 03" descr="frame_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1161288"/>
            <a:ext cx="1453896" cy="768096"/>
          </a:xfrm>
          <a:prstGeom prst="rect">
            <a:avLst/>
          </a:prstGeom>
        </p:spPr>
      </p:pic>
      <p:pic>
        <p:nvPicPr>
          <p:cNvPr id="207" name="205 Video frame 04" descr="frame_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096" y="1161288"/>
            <a:ext cx="1417320" cy="768096"/>
          </a:xfrm>
          <a:prstGeom prst="rect">
            <a:avLst/>
          </a:prstGeom>
        </p:spPr>
      </p:pic>
      <p:pic>
        <p:nvPicPr>
          <p:cNvPr id="208" name="206 Video frame 05" descr="frame_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1161288"/>
            <a:ext cx="1444752" cy="768096"/>
          </a:xfrm>
          <a:prstGeom prst="rect">
            <a:avLst/>
          </a:prstGeom>
        </p:spPr>
      </p:pic>
      <p:pic>
        <p:nvPicPr>
          <p:cNvPr id="209" name="207 Video frame 06" descr="frame_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1161288"/>
            <a:ext cx="1426464" cy="768096"/>
          </a:xfrm>
          <a:prstGeom prst="rect">
            <a:avLst/>
          </a:prstGeom>
        </p:spPr>
      </p:pic>
      <p:pic>
        <p:nvPicPr>
          <p:cNvPr id="210" name="208 Video frame 07" descr="frame_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19688" y="1161288"/>
            <a:ext cx="1426464" cy="768096"/>
          </a:xfrm>
          <a:prstGeom prst="rect">
            <a:avLst/>
          </a:prstGeom>
        </p:spPr>
      </p:pic>
      <p:pic>
        <p:nvPicPr>
          <p:cNvPr id="211" name="209 Video frame 08" descr="frame_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10744" y="1161288"/>
            <a:ext cx="1435608" cy="768096"/>
          </a:xfrm>
          <a:prstGeom prst="rect">
            <a:avLst/>
          </a:prstGeom>
        </p:spPr>
      </p:pic>
      <p:pic>
        <p:nvPicPr>
          <p:cNvPr id="212" name="210 Video frame 09" descr="frame_0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01800" y="1161288"/>
            <a:ext cx="1344168" cy="768096"/>
          </a:xfrm>
          <a:prstGeom prst="rect">
            <a:avLst/>
          </a:prstGeom>
        </p:spPr>
      </p:pic>
      <p:pic>
        <p:nvPicPr>
          <p:cNvPr id="213" name="211 Video frame 10" descr="frame_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92272" y="1161288"/>
            <a:ext cx="1426464" cy="768096"/>
          </a:xfrm>
          <a:prstGeom prst="rect">
            <a:avLst/>
          </a:prstGeom>
        </p:spPr>
      </p:pic>
      <p:sp>
        <p:nvSpPr>
          <p:cNvPr id="214" name="212 Film top perforation 1"/>
          <p:cNvSpPr/>
          <p:nvPr/>
        </p:nvSpPr>
        <p:spPr>
          <a:xfrm>
            <a:off x="1664208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213 Film bottom perforation 1"/>
          <p:cNvSpPr/>
          <p:nvPr/>
        </p:nvSpPr>
        <p:spPr>
          <a:xfrm>
            <a:off x="1664208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214 Film top perforation 2"/>
          <p:cNvSpPr/>
          <p:nvPr/>
        </p:nvSpPr>
        <p:spPr>
          <a:xfrm>
            <a:off x="1910182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215 Film bottom perforation 2"/>
          <p:cNvSpPr/>
          <p:nvPr/>
        </p:nvSpPr>
        <p:spPr>
          <a:xfrm>
            <a:off x="1910182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216 Film top perforation 3"/>
          <p:cNvSpPr/>
          <p:nvPr/>
        </p:nvSpPr>
        <p:spPr>
          <a:xfrm>
            <a:off x="2156155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217 Film bottom perforation 3"/>
          <p:cNvSpPr/>
          <p:nvPr/>
        </p:nvSpPr>
        <p:spPr>
          <a:xfrm>
            <a:off x="2156155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218 Film top perforation 4"/>
          <p:cNvSpPr/>
          <p:nvPr/>
        </p:nvSpPr>
        <p:spPr>
          <a:xfrm>
            <a:off x="2402129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219 Film bottom perforation 4"/>
          <p:cNvSpPr/>
          <p:nvPr/>
        </p:nvSpPr>
        <p:spPr>
          <a:xfrm>
            <a:off x="2402129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220 Film top perforation 5"/>
          <p:cNvSpPr/>
          <p:nvPr/>
        </p:nvSpPr>
        <p:spPr>
          <a:xfrm>
            <a:off x="2648102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221 Film bottom perforation 5"/>
          <p:cNvSpPr/>
          <p:nvPr/>
        </p:nvSpPr>
        <p:spPr>
          <a:xfrm>
            <a:off x="2648102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222 Film top perforation 6"/>
          <p:cNvSpPr/>
          <p:nvPr/>
        </p:nvSpPr>
        <p:spPr>
          <a:xfrm>
            <a:off x="2894076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223 Film bottom perforation 6"/>
          <p:cNvSpPr/>
          <p:nvPr/>
        </p:nvSpPr>
        <p:spPr>
          <a:xfrm>
            <a:off x="2894076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224 Film top perforation 7"/>
          <p:cNvSpPr/>
          <p:nvPr/>
        </p:nvSpPr>
        <p:spPr>
          <a:xfrm>
            <a:off x="3140050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225 Film bottom perforation 7"/>
          <p:cNvSpPr/>
          <p:nvPr/>
        </p:nvSpPr>
        <p:spPr>
          <a:xfrm>
            <a:off x="3140050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226 Film top perforation 8"/>
          <p:cNvSpPr/>
          <p:nvPr/>
        </p:nvSpPr>
        <p:spPr>
          <a:xfrm>
            <a:off x="3386023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227 Film bottom perforation 8"/>
          <p:cNvSpPr/>
          <p:nvPr/>
        </p:nvSpPr>
        <p:spPr>
          <a:xfrm>
            <a:off x="3386023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228 Film top perforation 9"/>
          <p:cNvSpPr/>
          <p:nvPr/>
        </p:nvSpPr>
        <p:spPr>
          <a:xfrm>
            <a:off x="3631997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229 Film bottom perforation 9"/>
          <p:cNvSpPr/>
          <p:nvPr/>
        </p:nvSpPr>
        <p:spPr>
          <a:xfrm>
            <a:off x="3631997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230 Film top perforation 10"/>
          <p:cNvSpPr/>
          <p:nvPr/>
        </p:nvSpPr>
        <p:spPr>
          <a:xfrm>
            <a:off x="3877970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231 Film bottom perforation 10"/>
          <p:cNvSpPr/>
          <p:nvPr/>
        </p:nvSpPr>
        <p:spPr>
          <a:xfrm>
            <a:off x="3877970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232 Film top perforation 11"/>
          <p:cNvSpPr/>
          <p:nvPr/>
        </p:nvSpPr>
        <p:spPr>
          <a:xfrm>
            <a:off x="4123944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233 Film bottom perforation 11"/>
          <p:cNvSpPr/>
          <p:nvPr/>
        </p:nvSpPr>
        <p:spPr>
          <a:xfrm>
            <a:off x="4123944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234 Film top perforation 12"/>
          <p:cNvSpPr/>
          <p:nvPr/>
        </p:nvSpPr>
        <p:spPr>
          <a:xfrm>
            <a:off x="4369918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235 Film bottom perforation 12"/>
          <p:cNvSpPr/>
          <p:nvPr/>
        </p:nvSpPr>
        <p:spPr>
          <a:xfrm>
            <a:off x="4369918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236 Film top perforation 13"/>
          <p:cNvSpPr/>
          <p:nvPr/>
        </p:nvSpPr>
        <p:spPr>
          <a:xfrm>
            <a:off x="4615891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237 Film bottom perforation 13"/>
          <p:cNvSpPr/>
          <p:nvPr/>
        </p:nvSpPr>
        <p:spPr>
          <a:xfrm>
            <a:off x="4615891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238 Film top perforation 14"/>
          <p:cNvSpPr/>
          <p:nvPr/>
        </p:nvSpPr>
        <p:spPr>
          <a:xfrm>
            <a:off x="4861865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239 Film bottom perforation 14"/>
          <p:cNvSpPr/>
          <p:nvPr/>
        </p:nvSpPr>
        <p:spPr>
          <a:xfrm>
            <a:off x="4861865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240 Film top perforation 15"/>
          <p:cNvSpPr/>
          <p:nvPr/>
        </p:nvSpPr>
        <p:spPr>
          <a:xfrm>
            <a:off x="5107838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241 Film bottom perforation 15"/>
          <p:cNvSpPr/>
          <p:nvPr/>
        </p:nvSpPr>
        <p:spPr>
          <a:xfrm>
            <a:off x="5107838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242 Film top perforation 16"/>
          <p:cNvSpPr/>
          <p:nvPr/>
        </p:nvSpPr>
        <p:spPr>
          <a:xfrm>
            <a:off x="5353812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243 Film bottom perforation 16"/>
          <p:cNvSpPr/>
          <p:nvPr/>
        </p:nvSpPr>
        <p:spPr>
          <a:xfrm>
            <a:off x="5353812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244 Film top perforation 17"/>
          <p:cNvSpPr/>
          <p:nvPr/>
        </p:nvSpPr>
        <p:spPr>
          <a:xfrm>
            <a:off x="5599786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245 Film bottom perforation 17"/>
          <p:cNvSpPr/>
          <p:nvPr/>
        </p:nvSpPr>
        <p:spPr>
          <a:xfrm>
            <a:off x="5599786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246 Film top perforation 18"/>
          <p:cNvSpPr/>
          <p:nvPr/>
        </p:nvSpPr>
        <p:spPr>
          <a:xfrm>
            <a:off x="5845759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247 Film bottom perforation 18"/>
          <p:cNvSpPr/>
          <p:nvPr/>
        </p:nvSpPr>
        <p:spPr>
          <a:xfrm>
            <a:off x="5845759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248 Film top perforation 19"/>
          <p:cNvSpPr/>
          <p:nvPr/>
        </p:nvSpPr>
        <p:spPr>
          <a:xfrm>
            <a:off x="6091733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249 Film bottom perforation 19"/>
          <p:cNvSpPr/>
          <p:nvPr/>
        </p:nvSpPr>
        <p:spPr>
          <a:xfrm>
            <a:off x="6091733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250 Film top perforation 20"/>
          <p:cNvSpPr/>
          <p:nvPr/>
        </p:nvSpPr>
        <p:spPr>
          <a:xfrm>
            <a:off x="6337706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251 Film bottom perforation 20"/>
          <p:cNvSpPr/>
          <p:nvPr/>
        </p:nvSpPr>
        <p:spPr>
          <a:xfrm>
            <a:off x="6337706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252 Film top perforation 21"/>
          <p:cNvSpPr/>
          <p:nvPr/>
        </p:nvSpPr>
        <p:spPr>
          <a:xfrm>
            <a:off x="6583680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253 Film bottom perforation 21"/>
          <p:cNvSpPr/>
          <p:nvPr/>
        </p:nvSpPr>
        <p:spPr>
          <a:xfrm>
            <a:off x="6583680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254 Film top perforation 22"/>
          <p:cNvSpPr/>
          <p:nvPr/>
        </p:nvSpPr>
        <p:spPr>
          <a:xfrm>
            <a:off x="6829654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255 Film bottom perforation 22"/>
          <p:cNvSpPr/>
          <p:nvPr/>
        </p:nvSpPr>
        <p:spPr>
          <a:xfrm>
            <a:off x="6829654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256 Film top perforation 23"/>
          <p:cNvSpPr/>
          <p:nvPr/>
        </p:nvSpPr>
        <p:spPr>
          <a:xfrm>
            <a:off x="7075627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257 Film bottom perforation 23"/>
          <p:cNvSpPr/>
          <p:nvPr/>
        </p:nvSpPr>
        <p:spPr>
          <a:xfrm>
            <a:off x="7075627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258 Film top perforation 24"/>
          <p:cNvSpPr/>
          <p:nvPr/>
        </p:nvSpPr>
        <p:spPr>
          <a:xfrm>
            <a:off x="7321601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259 Film bottom perforation 24"/>
          <p:cNvSpPr/>
          <p:nvPr/>
        </p:nvSpPr>
        <p:spPr>
          <a:xfrm>
            <a:off x="7321601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260 Film top perforation 25"/>
          <p:cNvSpPr/>
          <p:nvPr/>
        </p:nvSpPr>
        <p:spPr>
          <a:xfrm>
            <a:off x="7567574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261 Film bottom perforation 25"/>
          <p:cNvSpPr/>
          <p:nvPr/>
        </p:nvSpPr>
        <p:spPr>
          <a:xfrm>
            <a:off x="7567574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262 Film top perforation 26"/>
          <p:cNvSpPr/>
          <p:nvPr/>
        </p:nvSpPr>
        <p:spPr>
          <a:xfrm>
            <a:off x="7813548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263 Film bottom perforation 26"/>
          <p:cNvSpPr/>
          <p:nvPr/>
        </p:nvSpPr>
        <p:spPr>
          <a:xfrm>
            <a:off x="7813548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264 Film top perforation 27"/>
          <p:cNvSpPr/>
          <p:nvPr/>
        </p:nvSpPr>
        <p:spPr>
          <a:xfrm>
            <a:off x="8059522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265 Film bottom perforation 27"/>
          <p:cNvSpPr/>
          <p:nvPr/>
        </p:nvSpPr>
        <p:spPr>
          <a:xfrm>
            <a:off x="8059522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266 Film top perforation 28"/>
          <p:cNvSpPr/>
          <p:nvPr/>
        </p:nvSpPr>
        <p:spPr>
          <a:xfrm>
            <a:off x="8305495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267 Film bottom perforation 28"/>
          <p:cNvSpPr/>
          <p:nvPr/>
        </p:nvSpPr>
        <p:spPr>
          <a:xfrm>
            <a:off x="8305495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268 Film top perforation 29"/>
          <p:cNvSpPr/>
          <p:nvPr/>
        </p:nvSpPr>
        <p:spPr>
          <a:xfrm>
            <a:off x="8551469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269 Film bottom perforation 29"/>
          <p:cNvSpPr/>
          <p:nvPr/>
        </p:nvSpPr>
        <p:spPr>
          <a:xfrm>
            <a:off x="8551469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270 Film top perforation 30"/>
          <p:cNvSpPr/>
          <p:nvPr/>
        </p:nvSpPr>
        <p:spPr>
          <a:xfrm>
            <a:off x="8797442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271 Film bottom perforation 30"/>
          <p:cNvSpPr/>
          <p:nvPr/>
        </p:nvSpPr>
        <p:spPr>
          <a:xfrm>
            <a:off x="8797442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272 Film top perforation 31"/>
          <p:cNvSpPr/>
          <p:nvPr/>
        </p:nvSpPr>
        <p:spPr>
          <a:xfrm>
            <a:off x="9043416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273 Film bottom perforation 31"/>
          <p:cNvSpPr/>
          <p:nvPr/>
        </p:nvSpPr>
        <p:spPr>
          <a:xfrm>
            <a:off x="9043416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274 Film top perforation 32"/>
          <p:cNvSpPr/>
          <p:nvPr/>
        </p:nvSpPr>
        <p:spPr>
          <a:xfrm>
            <a:off x="9289390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275 Film bottom perforation 32"/>
          <p:cNvSpPr/>
          <p:nvPr/>
        </p:nvSpPr>
        <p:spPr>
          <a:xfrm>
            <a:off x="9289390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276 Film top perforation 33"/>
          <p:cNvSpPr/>
          <p:nvPr/>
        </p:nvSpPr>
        <p:spPr>
          <a:xfrm>
            <a:off x="9535363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277 Film bottom perforation 33"/>
          <p:cNvSpPr/>
          <p:nvPr/>
        </p:nvSpPr>
        <p:spPr>
          <a:xfrm>
            <a:off x="9535363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278 Film top perforation 34"/>
          <p:cNvSpPr/>
          <p:nvPr/>
        </p:nvSpPr>
        <p:spPr>
          <a:xfrm>
            <a:off x="9781337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279 Film bottom perforation 34"/>
          <p:cNvSpPr/>
          <p:nvPr/>
        </p:nvSpPr>
        <p:spPr>
          <a:xfrm>
            <a:off x="9781337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280 Film top perforation 35"/>
          <p:cNvSpPr/>
          <p:nvPr/>
        </p:nvSpPr>
        <p:spPr>
          <a:xfrm>
            <a:off x="10027310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281 Film bottom perforation 35"/>
          <p:cNvSpPr/>
          <p:nvPr/>
        </p:nvSpPr>
        <p:spPr>
          <a:xfrm>
            <a:off x="10027310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282 Film top perforation 36"/>
          <p:cNvSpPr/>
          <p:nvPr/>
        </p:nvSpPr>
        <p:spPr>
          <a:xfrm>
            <a:off x="10273284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283 Film bottom perforation 36"/>
          <p:cNvSpPr/>
          <p:nvPr/>
        </p:nvSpPr>
        <p:spPr>
          <a:xfrm>
            <a:off x="10273284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284 Film top perforation 37"/>
          <p:cNvSpPr/>
          <p:nvPr/>
        </p:nvSpPr>
        <p:spPr>
          <a:xfrm>
            <a:off x="10519258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285 Film bottom perforation 37"/>
          <p:cNvSpPr/>
          <p:nvPr/>
        </p:nvSpPr>
        <p:spPr>
          <a:xfrm>
            <a:off x="10519258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286 Film top perforation 38"/>
          <p:cNvSpPr/>
          <p:nvPr/>
        </p:nvSpPr>
        <p:spPr>
          <a:xfrm>
            <a:off x="10765231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287 Film bottom perforation 38"/>
          <p:cNvSpPr/>
          <p:nvPr/>
        </p:nvSpPr>
        <p:spPr>
          <a:xfrm>
            <a:off x="10765231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288 Film top perforation 39"/>
          <p:cNvSpPr/>
          <p:nvPr/>
        </p:nvSpPr>
        <p:spPr>
          <a:xfrm>
            <a:off x="11011205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289 Film bottom perforation 39"/>
          <p:cNvSpPr/>
          <p:nvPr/>
        </p:nvSpPr>
        <p:spPr>
          <a:xfrm>
            <a:off x="11011205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290 Film top perforation 40"/>
          <p:cNvSpPr/>
          <p:nvPr/>
        </p:nvSpPr>
        <p:spPr>
          <a:xfrm>
            <a:off x="11257178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291 Film bottom perforation 40"/>
          <p:cNvSpPr/>
          <p:nvPr/>
        </p:nvSpPr>
        <p:spPr>
          <a:xfrm>
            <a:off x="11257178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292 Film top perforation 41"/>
          <p:cNvSpPr/>
          <p:nvPr/>
        </p:nvSpPr>
        <p:spPr>
          <a:xfrm>
            <a:off x="11503152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293 Film bottom perforation 41"/>
          <p:cNvSpPr/>
          <p:nvPr/>
        </p:nvSpPr>
        <p:spPr>
          <a:xfrm>
            <a:off x="11503152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294 Film top perforation 42"/>
          <p:cNvSpPr/>
          <p:nvPr/>
        </p:nvSpPr>
        <p:spPr>
          <a:xfrm>
            <a:off x="11749126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295 Film bottom perforation 42"/>
          <p:cNvSpPr/>
          <p:nvPr/>
        </p:nvSpPr>
        <p:spPr>
          <a:xfrm>
            <a:off x="11749126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296 Film top perforation 43"/>
          <p:cNvSpPr/>
          <p:nvPr/>
        </p:nvSpPr>
        <p:spPr>
          <a:xfrm>
            <a:off x="11995099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297 Film bottom perforation 43"/>
          <p:cNvSpPr/>
          <p:nvPr/>
        </p:nvSpPr>
        <p:spPr>
          <a:xfrm>
            <a:off x="11995099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298 Film top perforation 44"/>
          <p:cNvSpPr/>
          <p:nvPr/>
        </p:nvSpPr>
        <p:spPr>
          <a:xfrm>
            <a:off x="12241073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299 Film bottom perforation 44"/>
          <p:cNvSpPr/>
          <p:nvPr/>
        </p:nvSpPr>
        <p:spPr>
          <a:xfrm>
            <a:off x="12241073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300 Film top perforation 45"/>
          <p:cNvSpPr/>
          <p:nvPr/>
        </p:nvSpPr>
        <p:spPr>
          <a:xfrm>
            <a:off x="12487046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301 Film bottom perforation 45"/>
          <p:cNvSpPr/>
          <p:nvPr/>
        </p:nvSpPr>
        <p:spPr>
          <a:xfrm>
            <a:off x="12487046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302 Film top perforation 46"/>
          <p:cNvSpPr/>
          <p:nvPr/>
        </p:nvSpPr>
        <p:spPr>
          <a:xfrm>
            <a:off x="12733020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303 Film bottom perforation 46"/>
          <p:cNvSpPr/>
          <p:nvPr/>
        </p:nvSpPr>
        <p:spPr>
          <a:xfrm>
            <a:off x="12733020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304 Film top perforation 47"/>
          <p:cNvSpPr/>
          <p:nvPr/>
        </p:nvSpPr>
        <p:spPr>
          <a:xfrm>
            <a:off x="12978994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305 Film bottom perforation 47"/>
          <p:cNvSpPr/>
          <p:nvPr/>
        </p:nvSpPr>
        <p:spPr>
          <a:xfrm>
            <a:off x="12978994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306 Film top perforation 48"/>
          <p:cNvSpPr/>
          <p:nvPr/>
        </p:nvSpPr>
        <p:spPr>
          <a:xfrm>
            <a:off x="13224967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307 Film bottom perforation 48"/>
          <p:cNvSpPr/>
          <p:nvPr/>
        </p:nvSpPr>
        <p:spPr>
          <a:xfrm>
            <a:off x="13224967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308 Film top perforation 49"/>
          <p:cNvSpPr/>
          <p:nvPr/>
        </p:nvSpPr>
        <p:spPr>
          <a:xfrm>
            <a:off x="13470941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309 Film bottom perforation 49"/>
          <p:cNvSpPr/>
          <p:nvPr/>
        </p:nvSpPr>
        <p:spPr>
          <a:xfrm>
            <a:off x="13470941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310 Film top perforation 50"/>
          <p:cNvSpPr/>
          <p:nvPr/>
        </p:nvSpPr>
        <p:spPr>
          <a:xfrm>
            <a:off x="13716914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311 Film bottom perforation 50"/>
          <p:cNvSpPr/>
          <p:nvPr/>
        </p:nvSpPr>
        <p:spPr>
          <a:xfrm>
            <a:off x="13716914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312 Film top perforation 51"/>
          <p:cNvSpPr/>
          <p:nvPr/>
        </p:nvSpPr>
        <p:spPr>
          <a:xfrm>
            <a:off x="13962888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313 Film bottom perforation 51"/>
          <p:cNvSpPr/>
          <p:nvPr/>
        </p:nvSpPr>
        <p:spPr>
          <a:xfrm>
            <a:off x="13962888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314 Film top perforation 52"/>
          <p:cNvSpPr/>
          <p:nvPr/>
        </p:nvSpPr>
        <p:spPr>
          <a:xfrm>
            <a:off x="14208862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315 Film bottom perforation 52"/>
          <p:cNvSpPr/>
          <p:nvPr/>
        </p:nvSpPr>
        <p:spPr>
          <a:xfrm>
            <a:off x="14208862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316 Film top perforation 53"/>
          <p:cNvSpPr/>
          <p:nvPr/>
        </p:nvSpPr>
        <p:spPr>
          <a:xfrm>
            <a:off x="14454835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317 Film bottom perforation 53"/>
          <p:cNvSpPr/>
          <p:nvPr/>
        </p:nvSpPr>
        <p:spPr>
          <a:xfrm>
            <a:off x="14454835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318 Film top perforation 54"/>
          <p:cNvSpPr/>
          <p:nvPr/>
        </p:nvSpPr>
        <p:spPr>
          <a:xfrm>
            <a:off x="14700809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319 Film bottom perforation 54"/>
          <p:cNvSpPr/>
          <p:nvPr/>
        </p:nvSpPr>
        <p:spPr>
          <a:xfrm>
            <a:off x="14700809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320 Film top perforation 55"/>
          <p:cNvSpPr/>
          <p:nvPr/>
        </p:nvSpPr>
        <p:spPr>
          <a:xfrm>
            <a:off x="14946782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321 Film bottom perforation 55"/>
          <p:cNvSpPr/>
          <p:nvPr/>
        </p:nvSpPr>
        <p:spPr>
          <a:xfrm>
            <a:off x="14946782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322 Film top perforation 56"/>
          <p:cNvSpPr/>
          <p:nvPr/>
        </p:nvSpPr>
        <p:spPr>
          <a:xfrm>
            <a:off x="15192756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323 Film bottom perforation 56"/>
          <p:cNvSpPr/>
          <p:nvPr/>
        </p:nvSpPr>
        <p:spPr>
          <a:xfrm>
            <a:off x="15192756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324 Film top perforation 57"/>
          <p:cNvSpPr/>
          <p:nvPr/>
        </p:nvSpPr>
        <p:spPr>
          <a:xfrm>
            <a:off x="15438730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325 Film bottom perforation 57"/>
          <p:cNvSpPr/>
          <p:nvPr/>
        </p:nvSpPr>
        <p:spPr>
          <a:xfrm>
            <a:off x="15438730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326 Film top perforation 58"/>
          <p:cNvSpPr/>
          <p:nvPr/>
        </p:nvSpPr>
        <p:spPr>
          <a:xfrm>
            <a:off x="15684703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327 Film bottom perforation 58"/>
          <p:cNvSpPr/>
          <p:nvPr/>
        </p:nvSpPr>
        <p:spPr>
          <a:xfrm>
            <a:off x="15684703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328 Film top perforation 59"/>
          <p:cNvSpPr/>
          <p:nvPr/>
        </p:nvSpPr>
        <p:spPr>
          <a:xfrm>
            <a:off x="15930677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329 Film bottom perforation 59"/>
          <p:cNvSpPr/>
          <p:nvPr/>
        </p:nvSpPr>
        <p:spPr>
          <a:xfrm>
            <a:off x="15930677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330 Film top perforation 60"/>
          <p:cNvSpPr/>
          <p:nvPr/>
        </p:nvSpPr>
        <p:spPr>
          <a:xfrm>
            <a:off x="16176650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331 Film bottom perforation 60"/>
          <p:cNvSpPr/>
          <p:nvPr/>
        </p:nvSpPr>
        <p:spPr>
          <a:xfrm>
            <a:off x="16176650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332 Film top perforation 61"/>
          <p:cNvSpPr/>
          <p:nvPr/>
        </p:nvSpPr>
        <p:spPr>
          <a:xfrm>
            <a:off x="16422624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333 Film bottom perforation 61"/>
          <p:cNvSpPr/>
          <p:nvPr/>
        </p:nvSpPr>
        <p:spPr>
          <a:xfrm>
            <a:off x="16422624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334 Film top perforation 62"/>
          <p:cNvSpPr/>
          <p:nvPr/>
        </p:nvSpPr>
        <p:spPr>
          <a:xfrm>
            <a:off x="16668598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335 Film bottom perforation 62"/>
          <p:cNvSpPr/>
          <p:nvPr/>
        </p:nvSpPr>
        <p:spPr>
          <a:xfrm>
            <a:off x="16668598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336 Film top perforation 63"/>
          <p:cNvSpPr/>
          <p:nvPr/>
        </p:nvSpPr>
        <p:spPr>
          <a:xfrm>
            <a:off x="16914571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337 Film bottom perforation 63"/>
          <p:cNvSpPr/>
          <p:nvPr/>
        </p:nvSpPr>
        <p:spPr>
          <a:xfrm>
            <a:off x="16914571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338 Film top perforation 64"/>
          <p:cNvSpPr/>
          <p:nvPr/>
        </p:nvSpPr>
        <p:spPr>
          <a:xfrm>
            <a:off x="17160545" y="1033272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339 Film bottom perforation 64"/>
          <p:cNvSpPr/>
          <p:nvPr/>
        </p:nvSpPr>
        <p:spPr>
          <a:xfrm>
            <a:off x="17160545" y="1965960"/>
            <a:ext cx="157277" cy="87782"/>
          </a:xfrm>
          <a:prstGeom prst="roundRect">
            <a:avLst>
              <a:gd name="adj" fmla="val 11458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340 Perception input vertical"/>
          <p:cNvSpPr/>
          <p:nvPr/>
        </p:nvSpPr>
        <p:spPr>
          <a:xfrm>
            <a:off x="3218688" y="2103120"/>
            <a:ext cx="91" cy="402336"/>
          </a:xfrm>
          <a:custGeom>
            <a:avLst/>
            <a:gdLst/>
            <a:ahLst/>
            <a:cxnLst/>
            <a:rect l="0" t="0" r="r" b="b"/>
            <a:pathLst>
              <a:path w="91" h="402336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32918">
            <a:solidFill>
              <a:srgbClr val="56A1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341 Perception input arrow shaft"/>
          <p:cNvSpPr/>
          <p:nvPr/>
        </p:nvSpPr>
        <p:spPr>
          <a:xfrm>
            <a:off x="3218688" y="2505456"/>
            <a:ext cx="100584" cy="91"/>
          </a:xfrm>
          <a:custGeom>
            <a:avLst/>
            <a:gdLst/>
            <a:ahLst/>
            <a:cxnLst/>
            <a:rect l="0" t="0" r="r" b="b"/>
            <a:pathLst>
              <a:path w="100584" h="91">
                <a:moveTo>
                  <a:pt x="0" y="0"/>
                </a:moveTo>
                <a:lnTo>
                  <a:pt x="100584" y="0"/>
                </a:lnTo>
              </a:path>
            </a:pathLst>
          </a:custGeom>
          <a:noFill/>
          <a:ln w="32918">
            <a:solidFill>
              <a:srgbClr val="56A1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342 Perception input arrow arrowhead"/>
          <p:cNvSpPr/>
          <p:nvPr/>
        </p:nvSpPr>
        <p:spPr>
          <a:xfrm>
            <a:off x="3319272" y="2448397"/>
            <a:ext cx="118872" cy="114117"/>
          </a:xfrm>
          <a:custGeom>
            <a:avLst/>
            <a:gdLst/>
            <a:ahLst/>
            <a:cxnLst/>
            <a:rect l="0" t="0" r="r" b="b"/>
            <a:pathLst>
              <a:path w="118872" h="114117">
                <a:moveTo>
                  <a:pt x="118872" y="57059"/>
                </a:moveTo>
                <a:lnTo>
                  <a:pt x="0" y="114117"/>
                </a:lnTo>
                <a:lnTo>
                  <a:pt x="0" y="0"/>
                </a:lnTo>
                <a:close/>
              </a:path>
            </a:pathLst>
          </a:custGeom>
          <a:solidFill>
            <a:srgbClr val="56A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343 Knowledge heading"/>
          <p:cNvSpPr txBox="1"/>
          <p:nvPr/>
        </p:nvSpPr>
        <p:spPr>
          <a:xfrm>
            <a:off x="292608" y="2752344"/>
            <a:ext cx="2542032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00000"/>
                </a:solidFill>
                <a:latin typeface="Arial"/>
                <a:ea typeface="Arial"/>
              </a:rPr>
              <a:t>Anomaly Knowledge</a:t>
            </a:r>
          </a:p>
        </p:txBody>
      </p:sp>
      <p:pic>
        <p:nvPicPr>
          <p:cNvPr id="346" name="344 Knowledge event icon" descr="even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3154680"/>
            <a:ext cx="438912" cy="429768"/>
          </a:xfrm>
          <a:prstGeom prst="rect">
            <a:avLst/>
          </a:prstGeom>
        </p:spPr>
      </p:pic>
      <p:sp>
        <p:nvSpPr>
          <p:cNvPr id="347" name="345 Knowledge Event Type"/>
          <p:cNvSpPr txBox="1"/>
          <p:nvPr/>
        </p:nvSpPr>
        <p:spPr>
          <a:xfrm>
            <a:off x="886968" y="3255264"/>
            <a:ext cx="2103120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000000"/>
                </a:solidFill>
                <a:latin typeface="Arial"/>
                <a:ea typeface="Arial"/>
              </a:rPr>
              <a:t>Event Type</a:t>
            </a:r>
          </a:p>
        </p:txBody>
      </p:sp>
      <p:pic>
        <p:nvPicPr>
          <p:cNvPr id="348" name="346 Knowledge rules icon" descr="rule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0896" y="3703320"/>
            <a:ext cx="448056" cy="411480"/>
          </a:xfrm>
          <a:prstGeom prst="rect">
            <a:avLst/>
          </a:prstGeom>
        </p:spPr>
      </p:pic>
      <p:sp>
        <p:nvSpPr>
          <p:cNvPr id="349" name="347 Knowledge Anomaly Rules"/>
          <p:cNvSpPr txBox="1"/>
          <p:nvPr/>
        </p:nvSpPr>
        <p:spPr>
          <a:xfrm>
            <a:off x="886968" y="3785616"/>
            <a:ext cx="2103120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000000"/>
                </a:solidFill>
                <a:latin typeface="Arial"/>
                <a:ea typeface="Arial"/>
              </a:rPr>
              <a:t>Anomaly Rules</a:t>
            </a:r>
          </a:p>
        </p:txBody>
      </p:sp>
      <p:pic>
        <p:nvPicPr>
          <p:cNvPr id="350" name="348 Knowledge scenes icon" descr="scene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9184" y="4224528"/>
            <a:ext cx="411480" cy="411480"/>
          </a:xfrm>
          <a:prstGeom prst="rect">
            <a:avLst/>
          </a:prstGeom>
        </p:spPr>
      </p:pic>
      <p:sp>
        <p:nvSpPr>
          <p:cNvPr id="351" name="349 Knowledge Applicable Scenes"/>
          <p:cNvSpPr txBox="1"/>
          <p:nvPr/>
        </p:nvSpPr>
        <p:spPr>
          <a:xfrm>
            <a:off x="886968" y="4334256"/>
            <a:ext cx="2103120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000000"/>
                </a:solidFill>
                <a:latin typeface="Arial"/>
                <a:ea typeface="Arial"/>
              </a:rPr>
              <a:t>Applicable Scenes</a:t>
            </a:r>
          </a:p>
        </p:txBody>
      </p:sp>
      <p:sp>
        <p:nvSpPr>
          <p:cNvPr id="352" name="350 Toolkit heading"/>
          <p:cNvSpPr txBox="1"/>
          <p:nvPr/>
        </p:nvSpPr>
        <p:spPr>
          <a:xfrm>
            <a:off x="246888" y="5577840"/>
            <a:ext cx="2523744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00000"/>
                </a:solidFill>
                <a:latin typeface="Arial"/>
                <a:ea typeface="Arial"/>
              </a:rPr>
              <a:t>Toolkit</a:t>
            </a:r>
          </a:p>
        </p:txBody>
      </p:sp>
      <p:pic>
        <p:nvPicPr>
          <p:cNvPr id="353" name="351 Toolkit denoise icon" descr="denois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6888" y="5907024"/>
            <a:ext cx="493776" cy="502920"/>
          </a:xfrm>
          <a:prstGeom prst="rect">
            <a:avLst/>
          </a:prstGeom>
        </p:spPr>
      </p:pic>
      <p:sp>
        <p:nvSpPr>
          <p:cNvPr id="354" name="352 Toolkit Image Denoise"/>
          <p:cNvSpPr txBox="1"/>
          <p:nvPr/>
        </p:nvSpPr>
        <p:spPr>
          <a:xfrm>
            <a:off x="804672" y="6053328"/>
            <a:ext cx="2286000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000000"/>
                </a:solidFill>
                <a:latin typeface="Arial"/>
                <a:ea typeface="Arial"/>
              </a:rPr>
              <a:t>Image Denoise</a:t>
            </a:r>
          </a:p>
        </p:txBody>
      </p:sp>
      <p:pic>
        <p:nvPicPr>
          <p:cNvPr id="355" name="353 Toolkit brightness icon" descr="brightnes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6888" y="6574536"/>
            <a:ext cx="493776" cy="393192"/>
          </a:xfrm>
          <a:prstGeom prst="rect">
            <a:avLst/>
          </a:prstGeom>
        </p:spPr>
      </p:pic>
      <p:sp>
        <p:nvSpPr>
          <p:cNvPr id="356" name="354 Toolkit Brightness Enhance"/>
          <p:cNvSpPr txBox="1"/>
          <p:nvPr/>
        </p:nvSpPr>
        <p:spPr>
          <a:xfrm>
            <a:off x="804672" y="6647688"/>
            <a:ext cx="2286000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000000"/>
                </a:solidFill>
                <a:latin typeface="Arial"/>
                <a:ea typeface="Arial"/>
              </a:rPr>
              <a:t>Brightness Enhance</a:t>
            </a:r>
          </a:p>
        </p:txBody>
      </p:sp>
      <p:pic>
        <p:nvPicPr>
          <p:cNvPr id="357" name="355 Toolkit super icon" descr="supe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6888" y="7187184"/>
            <a:ext cx="493776" cy="448056"/>
          </a:xfrm>
          <a:prstGeom prst="rect">
            <a:avLst/>
          </a:prstGeom>
        </p:spPr>
      </p:pic>
      <p:sp>
        <p:nvSpPr>
          <p:cNvPr id="358" name="356 Toolkit Image Super-resolution"/>
          <p:cNvSpPr txBox="1"/>
          <p:nvPr/>
        </p:nvSpPr>
        <p:spPr>
          <a:xfrm>
            <a:off x="804672" y="7269480"/>
            <a:ext cx="2286000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000000"/>
                </a:solidFill>
                <a:latin typeface="Arial"/>
                <a:ea typeface="Arial"/>
              </a:rPr>
              <a:t>Image Super-resolution</a:t>
            </a:r>
          </a:p>
        </p:txBody>
      </p:sp>
      <p:pic>
        <p:nvPicPr>
          <p:cNvPr id="359" name="357 Toolkit detect icon" descr="detec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6888" y="7845552"/>
            <a:ext cx="502920" cy="429768"/>
          </a:xfrm>
          <a:prstGeom prst="rect">
            <a:avLst/>
          </a:prstGeom>
        </p:spPr>
      </p:pic>
      <p:sp>
        <p:nvSpPr>
          <p:cNvPr id="360" name="358 Toolkit Object Detection"/>
          <p:cNvSpPr txBox="1"/>
          <p:nvPr/>
        </p:nvSpPr>
        <p:spPr>
          <a:xfrm>
            <a:off x="804672" y="7918704"/>
            <a:ext cx="2286000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000000"/>
                </a:solidFill>
                <a:latin typeface="Arial"/>
                <a:ea typeface="Arial"/>
              </a:rPr>
              <a:t>Object Detection</a:t>
            </a:r>
          </a:p>
        </p:txBody>
      </p:sp>
      <p:pic>
        <p:nvPicPr>
          <p:cNvPr id="361" name="359 Toolkit retrieve icon" descr="retriev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3464" y="8412480"/>
            <a:ext cx="429768" cy="521208"/>
          </a:xfrm>
          <a:prstGeom prst="rect">
            <a:avLst/>
          </a:prstGeom>
        </p:spPr>
      </p:pic>
      <p:sp>
        <p:nvSpPr>
          <p:cNvPr id="362" name="360 Toolkit Image Retrive"/>
          <p:cNvSpPr txBox="1"/>
          <p:nvPr/>
        </p:nvSpPr>
        <p:spPr>
          <a:xfrm>
            <a:off x="804672" y="8604504"/>
            <a:ext cx="2286000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000000"/>
                </a:solidFill>
                <a:latin typeface="Arial"/>
                <a:ea typeface="Arial"/>
              </a:rPr>
              <a:t>Image Retrive</a:t>
            </a:r>
          </a:p>
        </p:txBody>
      </p:sp>
      <p:pic>
        <p:nvPicPr>
          <p:cNvPr id="363" name="361 Toolkit deblur icon" descr="deblur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5176" y="9153144"/>
            <a:ext cx="484632" cy="484632"/>
          </a:xfrm>
          <a:prstGeom prst="rect">
            <a:avLst/>
          </a:prstGeom>
        </p:spPr>
      </p:pic>
      <p:sp>
        <p:nvSpPr>
          <p:cNvPr id="364" name="362 Toolkit Image Deblur"/>
          <p:cNvSpPr txBox="1"/>
          <p:nvPr/>
        </p:nvSpPr>
        <p:spPr>
          <a:xfrm>
            <a:off x="804672" y="9244584"/>
            <a:ext cx="2286000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000000"/>
                </a:solidFill>
                <a:latin typeface="Arial"/>
                <a:ea typeface="Arial"/>
              </a:rPr>
              <a:t>Image Deblur</a:t>
            </a:r>
          </a:p>
        </p:txBody>
      </p:sp>
      <p:pic>
        <p:nvPicPr>
          <p:cNvPr id="365" name="363 Toolkit zoom icon" descr="zoom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6032" y="9802368"/>
            <a:ext cx="512064" cy="438912"/>
          </a:xfrm>
          <a:prstGeom prst="rect">
            <a:avLst/>
          </a:prstGeom>
        </p:spPr>
      </p:pic>
      <p:sp>
        <p:nvSpPr>
          <p:cNvPr id="366" name="364 Toolkit Image Zoom"/>
          <p:cNvSpPr txBox="1"/>
          <p:nvPr/>
        </p:nvSpPr>
        <p:spPr>
          <a:xfrm>
            <a:off x="804672" y="9902952"/>
            <a:ext cx="2286000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000000"/>
                </a:solidFill>
                <a:latin typeface="Arial"/>
                <a:ea typeface="Arial"/>
              </a:rPr>
              <a:t>Image Zoom</a:t>
            </a:r>
          </a:p>
        </p:txBody>
      </p:sp>
      <p:pic>
        <p:nvPicPr>
          <p:cNvPr id="367" name="365 Toolkit web icon" descr="web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7744" y="10387584"/>
            <a:ext cx="530352" cy="484632"/>
          </a:xfrm>
          <a:prstGeom prst="rect">
            <a:avLst/>
          </a:prstGeom>
        </p:spPr>
      </p:pic>
      <p:sp>
        <p:nvSpPr>
          <p:cNvPr id="368" name="366 Toolkit Web Search"/>
          <p:cNvSpPr txBox="1"/>
          <p:nvPr/>
        </p:nvSpPr>
        <p:spPr>
          <a:xfrm>
            <a:off x="804672" y="10570464"/>
            <a:ext cx="2286000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000000"/>
                </a:solidFill>
                <a:latin typeface="Arial"/>
                <a:ea typeface="Arial"/>
              </a:rPr>
              <a:t>Web Search</a:t>
            </a:r>
          </a:p>
        </p:txBody>
      </p:sp>
      <p:sp>
        <p:nvSpPr>
          <p:cNvPr id="369" name="367 Additional tools"/>
          <p:cNvSpPr txBox="1"/>
          <p:nvPr/>
        </p:nvSpPr>
        <p:spPr>
          <a:xfrm>
            <a:off x="338328" y="10927080"/>
            <a:ext cx="566928" cy="3328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>
                <a:solidFill>
                  <a:srgbClr val="000000"/>
                </a:solidFill>
                <a:latin typeface="Arial"/>
                <a:ea typeface="Arial"/>
              </a:rPr>
              <a:t>...</a:t>
            </a:r>
          </a:p>
        </p:txBody>
      </p:sp>
      <p:sp>
        <p:nvSpPr>
          <p:cNvPr id="370" name="368 Knowledge retrieval arrow"/>
          <p:cNvSpPr/>
          <p:nvPr/>
        </p:nvSpPr>
        <p:spPr>
          <a:xfrm>
            <a:off x="3127248" y="3520440"/>
            <a:ext cx="338328" cy="365760"/>
          </a:xfrm>
          <a:custGeom>
            <a:avLst/>
            <a:gdLst/>
            <a:ahLst/>
            <a:cxnLst/>
            <a:rect l="0" t="0" r="r" b="b"/>
            <a:pathLst>
              <a:path w="338328" h="365760">
                <a:moveTo>
                  <a:pt x="0" y="84125"/>
                </a:moveTo>
                <a:lnTo>
                  <a:pt x="189464" y="84125"/>
                </a:lnTo>
                <a:lnTo>
                  <a:pt x="189464" y="0"/>
                </a:lnTo>
                <a:lnTo>
                  <a:pt x="338328" y="182880"/>
                </a:lnTo>
                <a:lnTo>
                  <a:pt x="189464" y="365760"/>
                </a:lnTo>
                <a:lnTo>
                  <a:pt x="189464" y="281635"/>
                </a:lnTo>
                <a:lnTo>
                  <a:pt x="0" y="281635"/>
                </a:lnTo>
                <a:close/>
              </a:path>
            </a:pathLst>
          </a:custGeom>
          <a:ln>
            <a:noFill/>
          </a:ln>
          <a:effectLst/>
          <a:gradFill rotWithShape="1">
            <a:gsLst>
              <a:gs pos="0">
                <a:srgbClr val="FFE3CF"/>
              </a:gs>
              <a:gs pos="100000">
                <a:srgbClr val="F87925"/>
              </a:gs>
            </a:gsLst>
            <a:lin ang="5400000" scaled="1"/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71" name="369 Retrieval augmented generation"/>
          <p:cNvSpPr txBox="1"/>
          <p:nvPr/>
        </p:nvSpPr>
        <p:spPr>
          <a:xfrm>
            <a:off x="3035808" y="3931920"/>
            <a:ext cx="448056" cy="249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000000"/>
                </a:solidFill>
                <a:latin typeface="Arial"/>
                <a:ea typeface="Arial"/>
              </a:rPr>
              <a:t>RAG</a:t>
            </a:r>
          </a:p>
        </p:txBody>
      </p:sp>
      <p:sp>
        <p:nvSpPr>
          <p:cNvPr id="372" name="370 Toolkit to first reflection"/>
          <p:cNvSpPr/>
          <p:nvPr/>
        </p:nvSpPr>
        <p:spPr>
          <a:xfrm>
            <a:off x="3172968" y="6583680"/>
            <a:ext cx="283464" cy="356616"/>
          </a:xfrm>
          <a:custGeom>
            <a:avLst/>
            <a:gdLst/>
            <a:ahLst/>
            <a:cxnLst/>
            <a:rect l="0" t="0" r="r" b="b"/>
            <a:pathLst>
              <a:path w="283464" h="356616">
                <a:moveTo>
                  <a:pt x="0" y="82022"/>
                </a:moveTo>
                <a:lnTo>
                  <a:pt x="158740" y="82022"/>
                </a:lnTo>
                <a:lnTo>
                  <a:pt x="158740" y="0"/>
                </a:lnTo>
                <a:lnTo>
                  <a:pt x="283464" y="178308"/>
                </a:lnTo>
                <a:lnTo>
                  <a:pt x="158740" y="356616"/>
                </a:lnTo>
                <a:lnTo>
                  <a:pt x="158740" y="274594"/>
                </a:lnTo>
                <a:lnTo>
                  <a:pt x="0" y="274594"/>
                </a:lnTo>
                <a:close/>
              </a:path>
            </a:pathLst>
          </a:custGeom>
          <a:ln>
            <a:noFill/>
          </a:ln>
          <a:effectLst/>
          <a:gradFill rotWithShape="1">
            <a:gsLst>
              <a:gs pos="0">
                <a:srgbClr val="FFE3CF"/>
              </a:gs>
              <a:gs pos="100000">
                <a:srgbClr val="F87925"/>
              </a:gs>
            </a:gsLst>
            <a:lin ang="5400000" scaled="1"/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73" name="371 Toolkit to second reflection"/>
          <p:cNvSpPr/>
          <p:nvPr/>
        </p:nvSpPr>
        <p:spPr>
          <a:xfrm>
            <a:off x="3172968" y="9884664"/>
            <a:ext cx="283464" cy="384048"/>
          </a:xfrm>
          <a:custGeom>
            <a:avLst/>
            <a:gdLst/>
            <a:ahLst/>
            <a:cxnLst/>
            <a:rect l="0" t="0" r="r" b="b"/>
            <a:pathLst>
              <a:path w="283464" h="384048">
                <a:moveTo>
                  <a:pt x="0" y="88331"/>
                </a:moveTo>
                <a:lnTo>
                  <a:pt x="158740" y="88331"/>
                </a:lnTo>
                <a:lnTo>
                  <a:pt x="158740" y="0"/>
                </a:lnTo>
                <a:lnTo>
                  <a:pt x="283464" y="192024"/>
                </a:lnTo>
                <a:lnTo>
                  <a:pt x="158740" y="384048"/>
                </a:lnTo>
                <a:lnTo>
                  <a:pt x="158740" y="295717"/>
                </a:lnTo>
                <a:lnTo>
                  <a:pt x="0" y="295717"/>
                </a:lnTo>
                <a:close/>
              </a:path>
            </a:pathLst>
          </a:custGeom>
          <a:ln>
            <a:noFill/>
          </a:ln>
          <a:effectLst/>
          <a:gradFill rotWithShape="1">
            <a:gsLst>
              <a:gs pos="0">
                <a:srgbClr val="FFE3CF"/>
              </a:gs>
              <a:gs pos="100000">
                <a:srgbClr val="F87925"/>
              </a:gs>
            </a:gsLst>
            <a:lin ang="5400000" scaled="1"/>
          </a:gradFill>
        </p:spPr>
        <p:txBody>
          <a:bodyPr rtlCol="0" anchor="ctr"/>
          <a:lstStyle/>
          <a:p>
            <a:pPr algn="ctr"/>
          </a:p>
        </p:txBody>
      </p:sp>
      <p:pic>
        <p:nvPicPr>
          <p:cNvPr id="374" name="372 Perception engineer panda" descr="panda_perception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29000" y="2103120"/>
            <a:ext cx="694944" cy="868680"/>
          </a:xfrm>
          <a:prstGeom prst="rect">
            <a:avLst/>
          </a:prstGeom>
        </p:spPr>
      </p:pic>
      <p:pic>
        <p:nvPicPr>
          <p:cNvPr id="375" name="373 VLM perception icon" descr="goggles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815584" y="2240280"/>
            <a:ext cx="521208" cy="329184"/>
          </a:xfrm>
          <a:prstGeom prst="rect">
            <a:avLst/>
          </a:prstGeom>
        </p:spPr>
      </p:pic>
      <p:sp>
        <p:nvSpPr>
          <p:cNvPr id="376" name="374 VLM perception label"/>
          <p:cNvSpPr txBox="1"/>
          <p:nvPr/>
        </p:nvSpPr>
        <p:spPr>
          <a:xfrm>
            <a:off x="5056632" y="2578608"/>
            <a:ext cx="202996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VLM Perception</a:t>
            </a:r>
          </a:p>
        </p:txBody>
      </p:sp>
      <p:pic>
        <p:nvPicPr>
          <p:cNvPr id="377" name="375 MLLM planning icon" descr="plan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945368" y="2212848"/>
            <a:ext cx="374904" cy="393192"/>
          </a:xfrm>
          <a:prstGeom prst="rect">
            <a:avLst/>
          </a:prstGeom>
        </p:spPr>
      </p:pic>
      <p:sp>
        <p:nvSpPr>
          <p:cNvPr id="378" name="376 MLLM planning label"/>
          <p:cNvSpPr txBox="1"/>
          <p:nvPr/>
        </p:nvSpPr>
        <p:spPr>
          <a:xfrm>
            <a:off x="10241280" y="2578608"/>
            <a:ext cx="178308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MLLM Planning</a:t>
            </a:r>
          </a:p>
        </p:txBody>
      </p:sp>
      <p:sp>
        <p:nvSpPr>
          <p:cNvPr id="379" name="377 Perception to planning shaft"/>
          <p:cNvSpPr/>
          <p:nvPr/>
        </p:nvSpPr>
        <p:spPr>
          <a:xfrm>
            <a:off x="7964424" y="2578608"/>
            <a:ext cx="1051560" cy="91"/>
          </a:xfrm>
          <a:custGeom>
            <a:avLst/>
            <a:gdLst/>
            <a:ahLst/>
            <a:cxnLst/>
            <a:rect l="0" t="0" r="r" b="b"/>
            <a:pathLst>
              <a:path w="1051560" h="91">
                <a:moveTo>
                  <a:pt x="0" y="0"/>
                </a:moveTo>
                <a:lnTo>
                  <a:pt x="1051560" y="0"/>
                </a:lnTo>
              </a:path>
            </a:pathLst>
          </a:custGeom>
          <a:noFill/>
          <a:ln w="34747">
            <a:solidFill>
              <a:srgbClr val="56A1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378 Perception to planning arrowhead"/>
          <p:cNvSpPr/>
          <p:nvPr/>
        </p:nvSpPr>
        <p:spPr>
          <a:xfrm>
            <a:off x="9015984" y="2525939"/>
            <a:ext cx="109728" cy="105339"/>
          </a:xfrm>
          <a:custGeom>
            <a:avLst/>
            <a:gdLst/>
            <a:ahLst/>
            <a:cxnLst/>
            <a:rect l="0" t="0" r="r" b="b"/>
            <a:pathLst>
              <a:path w="109728" h="105339">
                <a:moveTo>
                  <a:pt x="109728" y="52669"/>
                </a:moveTo>
                <a:lnTo>
                  <a:pt x="0" y="105339"/>
                </a:lnTo>
                <a:lnTo>
                  <a:pt x="0" y="0"/>
                </a:lnTo>
                <a:close/>
              </a:path>
            </a:pathLst>
          </a:custGeom>
          <a:solidFill>
            <a:srgbClr val="56A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379 Environmental information panel"/>
          <p:cNvSpPr/>
          <p:nvPr/>
        </p:nvSpPr>
        <p:spPr>
          <a:xfrm>
            <a:off x="3675888" y="3008376"/>
            <a:ext cx="5248656" cy="1755648"/>
          </a:xfrm>
          <a:prstGeom prst="roundRect">
            <a:avLst>
              <a:gd name="adj" fmla="val 18750"/>
            </a:avLst>
          </a:prstGeom>
          <a:solidFill>
            <a:srgbClr val="DCDDE1"/>
          </a:solidFill>
          <a:ln w="33832">
            <a:solidFill>
              <a:srgbClr val="AAAAA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380 Detection strategy planning panel"/>
          <p:cNvSpPr/>
          <p:nvPr/>
        </p:nvSpPr>
        <p:spPr>
          <a:xfrm>
            <a:off x="9180576" y="3008376"/>
            <a:ext cx="3813048" cy="1755648"/>
          </a:xfrm>
          <a:prstGeom prst="roundRect">
            <a:avLst>
              <a:gd name="adj" fmla="val 18750"/>
            </a:avLst>
          </a:prstGeom>
          <a:solidFill>
            <a:srgbClr val="F1F1F1"/>
          </a:solidFill>
          <a:ln w="33832">
            <a:solidFill>
              <a:srgbClr val="AAAAA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381 Environmental Information title"/>
          <p:cNvSpPr txBox="1"/>
          <p:nvPr/>
        </p:nvSpPr>
        <p:spPr>
          <a:xfrm>
            <a:off x="3803904" y="3058668"/>
            <a:ext cx="4855464" cy="2555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>
                <a:solidFill>
                  <a:srgbClr val="000000"/>
                </a:solidFill>
                <a:latin typeface="Arial"/>
                <a:ea typeface="Arial"/>
              </a:rPr>
              <a:t>Environmental Information</a:t>
            </a:r>
          </a:p>
        </p:txBody>
      </p:sp>
      <p:sp>
        <p:nvSpPr>
          <p:cNvPr id="384" name="382 Scene Overview label"/>
          <p:cNvSpPr txBox="1"/>
          <p:nvPr/>
        </p:nvSpPr>
        <p:spPr>
          <a:xfrm>
            <a:off x="3831336" y="3337560"/>
            <a:ext cx="301752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Arial"/>
                <a:ea typeface="Arial"/>
              </a:rPr>
              <a:t>Scene Overview</a:t>
            </a:r>
          </a:p>
        </p:txBody>
      </p:sp>
      <p:sp>
        <p:nvSpPr>
          <p:cNvPr id="385" name="383 Scene Overview bullet"/>
          <p:cNvSpPr txBox="1"/>
          <p:nvPr/>
        </p:nvSpPr>
        <p:spPr>
          <a:xfrm>
            <a:off x="3831336" y="3557016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386" name="384 Scene Overview"/>
          <p:cNvSpPr txBox="1"/>
          <p:nvPr/>
        </p:nvSpPr>
        <p:spPr>
          <a:xfrm>
            <a:off x="4041648" y="3557016"/>
            <a:ext cx="289864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The video depicts a store with...</a:t>
            </a:r>
          </a:p>
        </p:txBody>
      </p:sp>
      <p:sp>
        <p:nvSpPr>
          <p:cNvPr id="387" name="385 Weather Condition label"/>
          <p:cNvSpPr txBox="1"/>
          <p:nvPr/>
        </p:nvSpPr>
        <p:spPr>
          <a:xfrm>
            <a:off x="3831336" y="3785616"/>
            <a:ext cx="301752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Arial"/>
                <a:ea typeface="Arial"/>
              </a:rPr>
              <a:t>Weather Condition</a:t>
            </a:r>
          </a:p>
        </p:txBody>
      </p:sp>
      <p:sp>
        <p:nvSpPr>
          <p:cNvPr id="388" name="386 Weather Condition bullet"/>
          <p:cNvSpPr txBox="1"/>
          <p:nvPr/>
        </p:nvSpPr>
        <p:spPr>
          <a:xfrm>
            <a:off x="3831336" y="4014216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389" name="387 Weather Condition"/>
          <p:cNvSpPr txBox="1"/>
          <p:nvPr/>
        </p:nvSpPr>
        <p:spPr>
          <a:xfrm>
            <a:off x="4041648" y="4014216"/>
            <a:ext cx="285292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Daytime, bright light</a:t>
            </a:r>
          </a:p>
        </p:txBody>
      </p:sp>
      <p:sp>
        <p:nvSpPr>
          <p:cNvPr id="390" name="388 Video Quality label"/>
          <p:cNvSpPr txBox="1"/>
          <p:nvPr/>
        </p:nvSpPr>
        <p:spPr>
          <a:xfrm>
            <a:off x="3831336" y="4242816"/>
            <a:ext cx="457200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Arial"/>
                <a:ea typeface="Arial"/>
              </a:rPr>
              <a:t>Video Quality</a:t>
            </a:r>
          </a:p>
        </p:txBody>
      </p:sp>
      <p:sp>
        <p:nvSpPr>
          <p:cNvPr id="391" name="389 Video Quality bullet"/>
          <p:cNvSpPr txBox="1"/>
          <p:nvPr/>
        </p:nvSpPr>
        <p:spPr>
          <a:xfrm>
            <a:off x="3831336" y="4462272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392" name="390 Video Quality"/>
          <p:cNvSpPr txBox="1"/>
          <p:nvPr/>
        </p:nvSpPr>
        <p:spPr>
          <a:xfrm>
            <a:off x="4041648" y="4462272"/>
            <a:ext cx="481888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The overall quality of the video is low and blurry.</a:t>
            </a:r>
          </a:p>
        </p:txBody>
      </p:sp>
      <p:sp>
        <p:nvSpPr>
          <p:cNvPr id="393" name="391 Potential Anomalies label"/>
          <p:cNvSpPr txBox="1"/>
          <p:nvPr/>
        </p:nvSpPr>
        <p:spPr>
          <a:xfrm>
            <a:off x="6931152" y="3346704"/>
            <a:ext cx="196596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Arial"/>
                <a:ea typeface="Arial"/>
              </a:rPr>
              <a:t>Potential Anomalies</a:t>
            </a:r>
          </a:p>
        </p:txBody>
      </p:sp>
      <p:sp>
        <p:nvSpPr>
          <p:cNvPr id="394" name="392 Potential anomaly Burglary bullet"/>
          <p:cNvSpPr txBox="1"/>
          <p:nvPr/>
        </p:nvSpPr>
        <p:spPr>
          <a:xfrm>
            <a:off x="6931152" y="3575304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395" name="393 Potential anomaly Burglary"/>
          <p:cNvSpPr txBox="1"/>
          <p:nvPr/>
        </p:nvSpPr>
        <p:spPr>
          <a:xfrm>
            <a:off x="7141464" y="3575304"/>
            <a:ext cx="166420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Burglary</a:t>
            </a:r>
          </a:p>
        </p:txBody>
      </p:sp>
      <p:sp>
        <p:nvSpPr>
          <p:cNvPr id="396" name="394 Potential anomaly Shoplifting bullet"/>
          <p:cNvSpPr txBox="1"/>
          <p:nvPr/>
        </p:nvSpPr>
        <p:spPr>
          <a:xfrm>
            <a:off x="6931152" y="3794760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397" name="395 Potential anomaly Shoplifting"/>
          <p:cNvSpPr txBox="1"/>
          <p:nvPr/>
        </p:nvSpPr>
        <p:spPr>
          <a:xfrm>
            <a:off x="7141464" y="3794760"/>
            <a:ext cx="166420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Shoplifting</a:t>
            </a:r>
          </a:p>
        </p:txBody>
      </p:sp>
      <p:sp>
        <p:nvSpPr>
          <p:cNvPr id="398" name="396 Potential anomaly Stealing bullet"/>
          <p:cNvSpPr txBox="1"/>
          <p:nvPr/>
        </p:nvSpPr>
        <p:spPr>
          <a:xfrm>
            <a:off x="6931152" y="4014216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399" name="397 Potential anomaly Stealing"/>
          <p:cNvSpPr txBox="1"/>
          <p:nvPr/>
        </p:nvSpPr>
        <p:spPr>
          <a:xfrm>
            <a:off x="7141464" y="4014216"/>
            <a:ext cx="166420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Stealing</a:t>
            </a:r>
          </a:p>
        </p:txBody>
      </p:sp>
      <p:sp>
        <p:nvSpPr>
          <p:cNvPr id="400" name="398 Detection Strategy Planning title"/>
          <p:cNvSpPr txBox="1"/>
          <p:nvPr/>
        </p:nvSpPr>
        <p:spPr>
          <a:xfrm>
            <a:off x="9336024" y="3058668"/>
            <a:ext cx="3566160" cy="2555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>
                <a:solidFill>
                  <a:srgbClr val="000000"/>
                </a:solidFill>
                <a:latin typeface="Arial"/>
                <a:ea typeface="Arial"/>
              </a:rPr>
              <a:t>Detection Strategy Planning</a:t>
            </a:r>
          </a:p>
        </p:txBody>
      </p:sp>
      <p:sp>
        <p:nvSpPr>
          <p:cNvPr id="401" name="399 Preprocessing label"/>
          <p:cNvSpPr txBox="1"/>
          <p:nvPr/>
        </p:nvSpPr>
        <p:spPr>
          <a:xfrm>
            <a:off x="9336024" y="3346704"/>
            <a:ext cx="3547872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Arial"/>
                <a:ea typeface="Arial"/>
              </a:rPr>
              <a:t>Preprocessing</a:t>
            </a:r>
          </a:p>
        </p:txBody>
      </p:sp>
      <p:sp>
        <p:nvSpPr>
          <p:cNvPr id="402" name="400 Preprocessing choice bullet"/>
          <p:cNvSpPr txBox="1"/>
          <p:nvPr/>
        </p:nvSpPr>
        <p:spPr>
          <a:xfrm>
            <a:off x="9336024" y="3575304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403" name="401 Preprocessing choice"/>
          <p:cNvSpPr txBox="1"/>
          <p:nvPr/>
        </p:nvSpPr>
        <p:spPr>
          <a:xfrm>
            <a:off x="9546336" y="3575304"/>
            <a:ext cx="33284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Image Deblur</a:t>
            </a:r>
          </a:p>
        </p:txBody>
      </p:sp>
      <p:sp>
        <p:nvSpPr>
          <p:cNvPr id="404" name="402 Anomaly Rules label"/>
          <p:cNvSpPr txBox="1"/>
          <p:nvPr/>
        </p:nvSpPr>
        <p:spPr>
          <a:xfrm>
            <a:off x="9336024" y="3803904"/>
            <a:ext cx="347472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Arial"/>
                <a:ea typeface="Arial"/>
              </a:rPr>
              <a:t>Anomaly Rules</a:t>
            </a:r>
          </a:p>
        </p:txBody>
      </p:sp>
      <p:sp>
        <p:nvSpPr>
          <p:cNvPr id="405" name="403 Initial anomaly rule bullet"/>
          <p:cNvSpPr txBox="1"/>
          <p:nvPr/>
        </p:nvSpPr>
        <p:spPr>
          <a:xfrm>
            <a:off x="9336024" y="4023360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406" name="404 Initial anomaly rule"/>
          <p:cNvSpPr txBox="1"/>
          <p:nvPr/>
        </p:nvSpPr>
        <p:spPr>
          <a:xfrm>
            <a:off x="9546336" y="4023360"/>
            <a:ext cx="3364992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Companion distracts clerk while theft ...</a:t>
            </a:r>
          </a:p>
        </p:txBody>
      </p:sp>
      <p:sp>
        <p:nvSpPr>
          <p:cNvPr id="407" name="405 Heuristic Prompt label"/>
          <p:cNvSpPr txBox="1"/>
          <p:nvPr/>
        </p:nvSpPr>
        <p:spPr>
          <a:xfrm>
            <a:off x="9336024" y="4251960"/>
            <a:ext cx="347472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Arial"/>
                <a:ea typeface="Arial"/>
              </a:rPr>
              <a:t>Heuristic Prompt</a:t>
            </a:r>
          </a:p>
        </p:txBody>
      </p:sp>
      <p:sp>
        <p:nvSpPr>
          <p:cNvPr id="408" name="406 Initial heuristic bullet"/>
          <p:cNvSpPr txBox="1"/>
          <p:nvPr/>
        </p:nvSpPr>
        <p:spPr>
          <a:xfrm>
            <a:off x="9336024" y="4480560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409" name="407 Initial heuristic"/>
          <p:cNvSpPr txBox="1"/>
          <p:nvPr/>
        </p:nvSpPr>
        <p:spPr>
          <a:xfrm>
            <a:off x="9546336" y="4480560"/>
            <a:ext cx="3364992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Observe customer interactions with ...</a:t>
            </a:r>
          </a:p>
        </p:txBody>
      </p:sp>
      <p:sp>
        <p:nvSpPr>
          <p:cNvPr id="410" name="408 Initial plan to reasoning"/>
          <p:cNvSpPr/>
          <p:nvPr/>
        </p:nvSpPr>
        <p:spPr>
          <a:xfrm>
            <a:off x="13139928" y="3602736"/>
            <a:ext cx="265176" cy="292608"/>
          </a:xfrm>
          <a:custGeom>
            <a:avLst/>
            <a:gdLst/>
            <a:ahLst/>
            <a:cxnLst/>
            <a:rect l="0" t="0" r="r" b="b"/>
            <a:pathLst>
              <a:path w="265176" h="292608">
                <a:moveTo>
                  <a:pt x="0" y="67300"/>
                </a:moveTo>
                <a:lnTo>
                  <a:pt x="148499" y="67300"/>
                </a:lnTo>
                <a:lnTo>
                  <a:pt x="148499" y="0"/>
                </a:lnTo>
                <a:lnTo>
                  <a:pt x="265176" y="146304"/>
                </a:lnTo>
                <a:lnTo>
                  <a:pt x="148499" y="292608"/>
                </a:lnTo>
                <a:lnTo>
                  <a:pt x="148499" y="225308"/>
                </a:lnTo>
                <a:lnTo>
                  <a:pt x="0" y="225308"/>
                </a:lnTo>
                <a:close/>
              </a:path>
            </a:pathLst>
          </a:custGeom>
          <a:ln>
            <a:noFill/>
          </a:ln>
          <a:effectLst/>
          <a:gradFill rotWithShape="1">
            <a:gsLst>
              <a:gs pos="0">
                <a:srgbClr val="FFE3CF"/>
              </a:gs>
              <a:gs pos="100000">
                <a:srgbClr val="F87925"/>
              </a:gs>
            </a:gsLst>
            <a:lin ang="5400000" scaled="1"/>
          </a:gradFill>
        </p:spPr>
        <p:txBody>
          <a:bodyPr rtlCol="0" anchor="ctr"/>
          <a:lstStyle/>
          <a:p>
            <a:pPr algn="ctr"/>
          </a:p>
        </p:txBody>
      </p:sp>
      <p:pic>
        <p:nvPicPr>
          <p:cNvPr id="411" name="409 Initial VLM reasoning icon" descr="reason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334488" y="2267712"/>
            <a:ext cx="466344" cy="429768"/>
          </a:xfrm>
          <a:prstGeom prst="rect">
            <a:avLst/>
          </a:prstGeom>
        </p:spPr>
      </p:pic>
      <p:sp>
        <p:nvSpPr>
          <p:cNvPr id="412" name="410 Initial VLM reasoning label"/>
          <p:cNvSpPr txBox="1"/>
          <p:nvPr/>
        </p:nvSpPr>
        <p:spPr>
          <a:xfrm>
            <a:off x="14575536" y="2660904"/>
            <a:ext cx="1929384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VLM Reasoning</a:t>
            </a:r>
          </a:p>
        </p:txBody>
      </p:sp>
      <p:sp>
        <p:nvSpPr>
          <p:cNvPr id="413" name="411 Initial reasoning title box"/>
          <p:cNvSpPr/>
          <p:nvPr/>
        </p:nvSpPr>
        <p:spPr>
          <a:xfrm>
            <a:off x="13642848" y="3008376"/>
            <a:ext cx="3703320" cy="301752"/>
          </a:xfrm>
          <a:prstGeom prst="rect">
            <a:avLst/>
          </a:prstGeom>
          <a:solidFill>
            <a:srgbClr val="F1F1F1"/>
          </a:solidFill>
          <a:ln w="21945">
            <a:solidFill>
              <a:srgbClr val="BFC3B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4" name="412 Initial reasoning result title"/>
          <p:cNvSpPr txBox="1"/>
          <p:nvPr/>
        </p:nvSpPr>
        <p:spPr>
          <a:xfrm>
            <a:off x="13716000" y="3058668"/>
            <a:ext cx="3566160" cy="2555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>
                <a:solidFill>
                  <a:srgbClr val="000000"/>
                </a:solidFill>
                <a:latin typeface="Arial"/>
                <a:ea typeface="Arial"/>
              </a:rPr>
              <a:t>Reasoning Results</a:t>
            </a:r>
          </a:p>
        </p:txBody>
      </p:sp>
      <p:sp>
        <p:nvSpPr>
          <p:cNvPr id="415" name="413 Initial reasoning body"/>
          <p:cNvSpPr/>
          <p:nvPr/>
        </p:nvSpPr>
        <p:spPr>
          <a:xfrm>
            <a:off x="13642848" y="3383280"/>
            <a:ext cx="3703320" cy="1426464"/>
          </a:xfrm>
          <a:prstGeom prst="rect">
            <a:avLst/>
          </a:prstGeom>
          <a:solidFill>
            <a:srgbClr val="FAE4D6"/>
          </a:solidFill>
          <a:ln w="21945">
            <a:solidFill>
              <a:srgbClr val="BFC3B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414 Initial status"/>
          <p:cNvSpPr txBox="1"/>
          <p:nvPr/>
        </p:nvSpPr>
        <p:spPr>
          <a:xfrm>
            <a:off x="13743432" y="3429000"/>
            <a:ext cx="3502152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Status: </a:t>
            </a:r>
            <a:r>
              <a:rPr sz="1497" b="0">
                <a:solidFill>
                  <a:srgbClr val="BFBFBF"/>
                </a:solidFill>
                <a:latin typeface="Arial"/>
                <a:ea typeface="Arial"/>
              </a:rPr>
              <a:t>Normal / Abnormal / </a:t>
            </a:r>
            <a:r>
              <a:rPr sz="1497" b="0">
                <a:solidFill>
                  <a:srgbClr val="4BA5F3"/>
                </a:solidFill>
                <a:latin typeface="Arial"/>
                <a:ea typeface="Arial"/>
              </a:rPr>
              <a:t>Insufficient</a:t>
            </a:r>
          </a:p>
        </p:txBody>
      </p:sp>
      <p:sp>
        <p:nvSpPr>
          <p:cNvPr id="417" name="415 Initial anomaly score"/>
          <p:cNvSpPr txBox="1"/>
          <p:nvPr/>
        </p:nvSpPr>
        <p:spPr>
          <a:xfrm>
            <a:off x="13743432" y="3657600"/>
            <a:ext cx="3483864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Score: 0.5</a:t>
            </a:r>
          </a:p>
        </p:txBody>
      </p:sp>
      <p:sp>
        <p:nvSpPr>
          <p:cNvPr id="418" name="416 Initial reason line 1"/>
          <p:cNvSpPr txBox="1"/>
          <p:nvPr/>
        </p:nvSpPr>
        <p:spPr>
          <a:xfrm>
            <a:off x="13743432" y="3877056"/>
            <a:ext cx="3557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Reason: </a:t>
            </a:r>
            <a:r>
              <a:rPr sz="1497" b="0">
                <a:solidFill>
                  <a:srgbClr val="4BA5F3"/>
                </a:solidFill>
                <a:latin typeface="Arial"/>
                <a:ea typeface="Arial"/>
              </a:rPr>
              <a:t>The video shows two individuals</a:t>
            </a:r>
          </a:p>
        </p:txBody>
      </p:sp>
      <p:sp>
        <p:nvSpPr>
          <p:cNvPr id="419" name="417 Initial reason line 2"/>
          <p:cNvSpPr txBox="1"/>
          <p:nvPr/>
        </p:nvSpPr>
        <p:spPr>
          <a:xfrm>
            <a:off x="13743432" y="4105656"/>
            <a:ext cx="356616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4BA5F3"/>
                </a:solidFill>
                <a:latin typeface="Arial"/>
                <a:ea typeface="Arial"/>
              </a:rPr>
              <a:t>browsing items in a store. The scene</a:t>
            </a:r>
          </a:p>
        </p:txBody>
      </p:sp>
      <p:sp>
        <p:nvSpPr>
          <p:cNvPr id="420" name="418 Initial reason line 3"/>
          <p:cNvSpPr txBox="1"/>
          <p:nvPr/>
        </p:nvSpPr>
        <p:spPr>
          <a:xfrm>
            <a:off x="13743432" y="4334256"/>
            <a:ext cx="356616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4BA5F3"/>
                </a:solidFill>
                <a:latin typeface="Arial"/>
                <a:ea typeface="Arial"/>
              </a:rPr>
              <a:t>lacks sufficient detail to confidently</a:t>
            </a:r>
          </a:p>
        </p:txBody>
      </p:sp>
      <p:sp>
        <p:nvSpPr>
          <p:cNvPr id="421" name="419 Initial reason line 4"/>
          <p:cNvSpPr txBox="1"/>
          <p:nvPr/>
        </p:nvSpPr>
        <p:spPr>
          <a:xfrm>
            <a:off x="13743432" y="4562856"/>
            <a:ext cx="356616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4BA5F3"/>
                </a:solidFill>
                <a:latin typeface="Arial"/>
                <a:ea typeface="Arial"/>
              </a:rPr>
              <a:t>classify it as normal or abnormal.</a:t>
            </a:r>
          </a:p>
        </p:txBody>
      </p:sp>
      <p:sp>
        <p:nvSpPr>
          <p:cNvPr id="422" name="420 First feedback down"/>
          <p:cNvSpPr/>
          <p:nvPr/>
        </p:nvSpPr>
        <p:spPr>
          <a:xfrm>
            <a:off x="15499080" y="4919472"/>
            <a:ext cx="91" cy="118872"/>
          </a:xfrm>
          <a:custGeom>
            <a:avLst/>
            <a:gdLst/>
            <a:ahLst/>
            <a:cxnLst/>
            <a:rect l="0" t="0" r="r" b="b"/>
            <a:pathLst>
              <a:path w="91" h="118872">
                <a:moveTo>
                  <a:pt x="0" y="0"/>
                </a:moveTo>
                <a:lnTo>
                  <a:pt x="0" y="118872"/>
                </a:lnTo>
              </a:path>
            </a:pathLst>
          </a:custGeom>
          <a:noFill/>
          <a:ln w="34747">
            <a:solidFill>
              <a:srgbClr val="F579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421 First feedback left"/>
          <p:cNvSpPr/>
          <p:nvPr/>
        </p:nvSpPr>
        <p:spPr>
          <a:xfrm>
            <a:off x="8412480" y="5038344"/>
            <a:ext cx="7086600" cy="91"/>
          </a:xfrm>
          <a:custGeom>
            <a:avLst/>
            <a:gdLst/>
            <a:ahLst/>
            <a:cxnLst/>
            <a:rect l="0" t="0" r="r" b="b"/>
            <a:pathLst>
              <a:path w="7086600" h="91">
                <a:moveTo>
                  <a:pt x="7086600" y="0"/>
                </a:moveTo>
                <a:lnTo>
                  <a:pt x="0" y="0"/>
                </a:lnTo>
              </a:path>
            </a:pathLst>
          </a:custGeom>
          <a:noFill/>
          <a:ln w="34747">
            <a:solidFill>
              <a:srgbClr val="F579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422 First feedback into reflection shaft"/>
          <p:cNvSpPr/>
          <p:nvPr/>
        </p:nvSpPr>
        <p:spPr>
          <a:xfrm>
            <a:off x="8412480" y="5038344"/>
            <a:ext cx="91" cy="54864"/>
          </a:xfrm>
          <a:custGeom>
            <a:avLst/>
            <a:gdLst/>
            <a:ahLst/>
            <a:cxnLst/>
            <a:rect l="0" t="0" r="r" b="b"/>
            <a:pathLst>
              <a:path w="91" h="54864">
                <a:moveTo>
                  <a:pt x="0" y="0"/>
                </a:moveTo>
                <a:lnTo>
                  <a:pt x="0" y="54864"/>
                </a:lnTo>
              </a:path>
            </a:pathLst>
          </a:custGeom>
          <a:noFill/>
          <a:ln w="32004">
            <a:solidFill>
              <a:srgbClr val="F579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423 First feedback into reflection arrowhead"/>
          <p:cNvSpPr/>
          <p:nvPr/>
        </p:nvSpPr>
        <p:spPr>
          <a:xfrm>
            <a:off x="8359811" y="5093208"/>
            <a:ext cx="105339" cy="109728"/>
          </a:xfrm>
          <a:custGeom>
            <a:avLst/>
            <a:gdLst/>
            <a:ahLst/>
            <a:cxnLst/>
            <a:rect l="0" t="0" r="r" b="b"/>
            <a:pathLst>
              <a:path w="105339" h="109728">
                <a:moveTo>
                  <a:pt x="52669" y="109728"/>
                </a:moveTo>
                <a:lnTo>
                  <a:pt x="0" y="0"/>
                </a:lnTo>
                <a:lnTo>
                  <a:pt x="105339" y="0"/>
                </a:lnTo>
                <a:close/>
              </a:path>
            </a:pathLst>
          </a:custGeom>
          <a:solidFill>
            <a:srgbClr val="F579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424 First reflection banner"/>
          <p:cNvSpPr/>
          <p:nvPr/>
        </p:nvSpPr>
        <p:spPr>
          <a:xfrm>
            <a:off x="7114032" y="5202936"/>
            <a:ext cx="2596896" cy="246888"/>
          </a:xfrm>
          <a:prstGeom prst="rect">
            <a:avLst/>
          </a:prstGeom>
          <a:ln w="5486">
            <a:solidFill>
              <a:srgbClr val="E3B58C"/>
            </a:solidFill>
          </a:ln>
          <a:effectLst/>
          <a:gradFill rotWithShape="1">
            <a:gsLst>
              <a:gs pos="0">
                <a:srgbClr val="FFF1E9"/>
              </a:gs>
              <a:gs pos="100000">
                <a:srgbClr val="EA710C"/>
              </a:gs>
            </a:gsLst>
            <a:lin ang="5400000" scaled="1"/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427" name="425 First round of reflection"/>
          <p:cNvSpPr txBox="1"/>
          <p:nvPr/>
        </p:nvSpPr>
        <p:spPr>
          <a:xfrm>
            <a:off x="7150608" y="5212080"/>
            <a:ext cx="2523744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Times New Roman"/>
                <a:ea typeface="Times New Roman"/>
              </a:rPr>
              <a:t>First round of reflection</a:t>
            </a:r>
          </a:p>
        </p:txBody>
      </p:sp>
      <p:pic>
        <p:nvPicPr>
          <p:cNvPr id="428" name="426 First reflection engineer panda" descr="panda_reflection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493008" y="5001768"/>
            <a:ext cx="667512" cy="896112"/>
          </a:xfrm>
          <a:prstGeom prst="rect">
            <a:avLst/>
          </a:prstGeom>
        </p:spPr>
      </p:pic>
      <p:sp>
        <p:nvSpPr>
          <p:cNvPr id="429" name="427 First experience recall thought bubble"/>
          <p:cNvSpPr/>
          <p:nvPr/>
        </p:nvSpPr>
        <p:spPr>
          <a:xfrm>
            <a:off x="4133820" y="4782312"/>
            <a:ext cx="2027773" cy="507492"/>
          </a:xfrm>
          <a:custGeom>
            <a:avLst/>
            <a:gdLst/>
            <a:ahLst/>
            <a:cxnLst/>
            <a:rect l="0" t="0" r="r" b="b"/>
            <a:pathLst>
              <a:path w="2027773" h="507492">
                <a:moveTo>
                  <a:pt x="307787" y="374904"/>
                </a:moveTo>
                <a:cubicBezTo>
                  <a:pt x="36210" y="374904"/>
                  <a:pt x="0" y="269748"/>
                  <a:pt x="217261" y="256032"/>
                </a:cubicBezTo>
                <a:cubicBezTo>
                  <a:pt x="36210" y="196596"/>
                  <a:pt x="181051" y="114300"/>
                  <a:pt x="380208" y="123444"/>
                </a:cubicBezTo>
                <a:cubicBezTo>
                  <a:pt x="362102" y="27432"/>
                  <a:pt x="651784" y="9144"/>
                  <a:pt x="760415" y="86868"/>
                </a:cubicBezTo>
                <a:cubicBezTo>
                  <a:pt x="905256" y="18288"/>
                  <a:pt x="1050097" y="9144"/>
                  <a:pt x="1194938" y="77724"/>
                </a:cubicBezTo>
                <a:cubicBezTo>
                  <a:pt x="1448410" y="0"/>
                  <a:pt x="1665671" y="41148"/>
                  <a:pt x="1683776" y="118872"/>
                </a:cubicBezTo>
                <a:cubicBezTo>
                  <a:pt x="1901038" y="114300"/>
                  <a:pt x="1973458" y="214884"/>
                  <a:pt x="1792407" y="237744"/>
                </a:cubicBezTo>
                <a:cubicBezTo>
                  <a:pt x="2027773" y="301752"/>
                  <a:pt x="1810512" y="397764"/>
                  <a:pt x="1629461" y="384048"/>
                </a:cubicBezTo>
                <a:cubicBezTo>
                  <a:pt x="1593251" y="484632"/>
                  <a:pt x="1285464" y="484632"/>
                  <a:pt x="1176833" y="429768"/>
                </a:cubicBezTo>
                <a:cubicBezTo>
                  <a:pt x="941466" y="507492"/>
                  <a:pt x="687995" y="461772"/>
                  <a:pt x="633679" y="411480"/>
                </a:cubicBezTo>
                <a:cubicBezTo>
                  <a:pt x="470733" y="475488"/>
                  <a:pt x="271577" y="452628"/>
                  <a:pt x="307787" y="374904"/>
                </a:cubicBezTo>
                <a:close/>
              </a:path>
            </a:pathLst>
          </a:custGeom>
          <a:solidFill>
            <a:srgbClr val="FFFFFF"/>
          </a:solidFill>
          <a:ln w="12344">
            <a:solidFill>
              <a:srgbClr val="F8752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0" name="428 First experience recall thought bubble thought 1"/>
          <p:cNvSpPr/>
          <p:nvPr/>
        </p:nvSpPr>
        <p:spPr>
          <a:xfrm>
            <a:off x="4279392" y="5276088"/>
            <a:ext cx="82296" cy="64008"/>
          </a:xfrm>
          <a:prstGeom prst="ellipse">
            <a:avLst/>
          </a:prstGeom>
          <a:solidFill>
            <a:srgbClr val="FFFFFF"/>
          </a:solidFill>
          <a:ln w="11887">
            <a:solidFill>
              <a:srgbClr val="F8752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1" name="429 First experience recall thought bubble thought 2"/>
          <p:cNvSpPr/>
          <p:nvPr/>
        </p:nvSpPr>
        <p:spPr>
          <a:xfrm>
            <a:off x="4133088" y="5340096"/>
            <a:ext cx="45720" cy="36576"/>
          </a:xfrm>
          <a:prstGeom prst="ellipse">
            <a:avLst/>
          </a:prstGeom>
          <a:solidFill>
            <a:srgbClr val="FFFFFF"/>
          </a:solidFill>
          <a:ln w="10058">
            <a:solidFill>
              <a:srgbClr val="F8752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2" name="430 First experience recall thought bubble thought 3"/>
          <p:cNvSpPr/>
          <p:nvPr/>
        </p:nvSpPr>
        <p:spPr>
          <a:xfrm>
            <a:off x="4059936" y="5385816"/>
            <a:ext cx="29261" cy="27432"/>
          </a:xfrm>
          <a:prstGeom prst="ellipse">
            <a:avLst/>
          </a:prstGeom>
          <a:solidFill>
            <a:srgbClr val="FFFFFF"/>
          </a:solidFill>
          <a:ln w="9144">
            <a:solidFill>
              <a:srgbClr val="F8752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431 First recall first line"/>
          <p:cNvSpPr txBox="1"/>
          <p:nvPr/>
        </p:nvSpPr>
        <p:spPr>
          <a:xfrm>
            <a:off x="4334256" y="4864608"/>
            <a:ext cx="1563624" cy="1806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1">
                <a:solidFill>
                  <a:srgbClr val="000000"/>
                </a:solidFill>
                <a:latin typeface="Arial"/>
                <a:ea typeface="Arial"/>
              </a:rPr>
              <a:t>Recalling past</a:t>
            </a:r>
          </a:p>
        </p:txBody>
      </p:sp>
      <p:sp>
        <p:nvSpPr>
          <p:cNvPr id="434" name="432 First recall second line"/>
          <p:cNvSpPr txBox="1"/>
          <p:nvPr/>
        </p:nvSpPr>
        <p:spPr>
          <a:xfrm>
            <a:off x="4334256" y="5029200"/>
            <a:ext cx="1563624" cy="1806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1">
                <a:solidFill>
                  <a:srgbClr val="000000"/>
                </a:solidFill>
                <a:latin typeface="Arial"/>
                <a:ea typeface="Arial"/>
              </a:rPr>
              <a:t>experience ...</a:t>
            </a:r>
          </a:p>
        </p:txBody>
      </p:sp>
      <p:pic>
        <p:nvPicPr>
          <p:cNvPr id="435" name="433 First MLLM reflection icon" descr="reflection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928616" y="5367528"/>
            <a:ext cx="530352" cy="420624"/>
          </a:xfrm>
          <a:prstGeom prst="rect">
            <a:avLst/>
          </a:prstGeom>
        </p:spPr>
      </p:pic>
      <p:sp>
        <p:nvSpPr>
          <p:cNvPr id="436" name="434 First MLLM reflection label"/>
          <p:cNvSpPr txBox="1"/>
          <p:nvPr/>
        </p:nvSpPr>
        <p:spPr>
          <a:xfrm>
            <a:off x="4361688" y="5769864"/>
            <a:ext cx="173736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MLLM Reflection</a:t>
            </a:r>
          </a:p>
        </p:txBody>
      </p:sp>
      <p:pic>
        <p:nvPicPr>
          <p:cNvPr id="437" name="435 First tool invoke icon" descr="invok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973568" y="5440680"/>
            <a:ext cx="466344" cy="393192"/>
          </a:xfrm>
          <a:prstGeom prst="rect">
            <a:avLst/>
          </a:prstGeom>
        </p:spPr>
      </p:pic>
      <p:sp>
        <p:nvSpPr>
          <p:cNvPr id="438" name="436 First tool invoke label"/>
          <p:cNvSpPr txBox="1"/>
          <p:nvPr/>
        </p:nvSpPr>
        <p:spPr>
          <a:xfrm>
            <a:off x="7461504" y="5769864"/>
            <a:ext cx="1472184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Tool Invoke</a:t>
            </a:r>
          </a:p>
        </p:txBody>
      </p:sp>
      <p:pic>
        <p:nvPicPr>
          <p:cNvPr id="439" name="437 First MLLM replanning icon" descr="plan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420856" y="5367528"/>
            <a:ext cx="374904" cy="393192"/>
          </a:xfrm>
          <a:prstGeom prst="rect">
            <a:avLst/>
          </a:prstGeom>
        </p:spPr>
      </p:pic>
      <p:sp>
        <p:nvSpPr>
          <p:cNvPr id="440" name="438 First MLLM replanning label"/>
          <p:cNvSpPr txBox="1"/>
          <p:nvPr/>
        </p:nvSpPr>
        <p:spPr>
          <a:xfrm>
            <a:off x="10698480" y="5760720"/>
            <a:ext cx="1837944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MLLM Replanning</a:t>
            </a:r>
          </a:p>
        </p:txBody>
      </p:sp>
      <p:sp>
        <p:nvSpPr>
          <p:cNvPr id="441" name="439 First reflection to tool shaft"/>
          <p:cNvSpPr/>
          <p:nvPr/>
        </p:nvSpPr>
        <p:spPr>
          <a:xfrm>
            <a:off x="6089904" y="5623560"/>
            <a:ext cx="841248" cy="91"/>
          </a:xfrm>
          <a:custGeom>
            <a:avLst/>
            <a:gdLst/>
            <a:ahLst/>
            <a:cxnLst/>
            <a:rect l="0" t="0" r="r" b="b"/>
            <a:pathLst>
              <a:path w="841248" h="91">
                <a:moveTo>
                  <a:pt x="0" y="0"/>
                </a:moveTo>
                <a:lnTo>
                  <a:pt x="841248" y="0"/>
                </a:lnTo>
              </a:path>
            </a:pathLst>
          </a:custGeom>
          <a:noFill/>
          <a:ln w="32918">
            <a:solidFill>
              <a:srgbClr val="56A1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2" name="440 First reflection to tool arrowhead"/>
          <p:cNvSpPr/>
          <p:nvPr/>
        </p:nvSpPr>
        <p:spPr>
          <a:xfrm>
            <a:off x="6931152" y="5570891"/>
            <a:ext cx="109728" cy="105339"/>
          </a:xfrm>
          <a:custGeom>
            <a:avLst/>
            <a:gdLst/>
            <a:ahLst/>
            <a:cxnLst/>
            <a:rect l="0" t="0" r="r" b="b"/>
            <a:pathLst>
              <a:path w="109728" h="105339">
                <a:moveTo>
                  <a:pt x="109728" y="52669"/>
                </a:moveTo>
                <a:lnTo>
                  <a:pt x="0" y="105339"/>
                </a:lnTo>
                <a:lnTo>
                  <a:pt x="0" y="0"/>
                </a:lnTo>
                <a:close/>
              </a:path>
            </a:pathLst>
          </a:custGeom>
          <a:solidFill>
            <a:srgbClr val="56A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3" name="441 First tool to replan shaft"/>
          <p:cNvSpPr/>
          <p:nvPr/>
        </p:nvSpPr>
        <p:spPr>
          <a:xfrm>
            <a:off x="9518904" y="5623560"/>
            <a:ext cx="822960" cy="91"/>
          </a:xfrm>
          <a:custGeom>
            <a:avLst/>
            <a:gdLst/>
            <a:ahLst/>
            <a:cxnLst/>
            <a:rect l="0" t="0" r="r" b="b"/>
            <a:pathLst>
              <a:path w="822960" h="91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32918">
            <a:solidFill>
              <a:srgbClr val="56A1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4" name="442 First tool to replan arrowhead"/>
          <p:cNvSpPr/>
          <p:nvPr/>
        </p:nvSpPr>
        <p:spPr>
          <a:xfrm>
            <a:off x="10341864" y="5570891"/>
            <a:ext cx="109728" cy="105339"/>
          </a:xfrm>
          <a:custGeom>
            <a:avLst/>
            <a:gdLst/>
            <a:ahLst/>
            <a:cxnLst/>
            <a:rect l="0" t="0" r="r" b="b"/>
            <a:pathLst>
              <a:path w="109728" h="105339">
                <a:moveTo>
                  <a:pt x="109728" y="52669"/>
                </a:moveTo>
                <a:lnTo>
                  <a:pt x="0" y="105339"/>
                </a:lnTo>
                <a:lnTo>
                  <a:pt x="0" y="0"/>
                </a:lnTo>
                <a:close/>
              </a:path>
            </a:pathLst>
          </a:custGeom>
          <a:solidFill>
            <a:srgbClr val="56A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5" name="443 First self-reflection panel"/>
          <p:cNvSpPr/>
          <p:nvPr/>
        </p:nvSpPr>
        <p:spPr>
          <a:xfrm>
            <a:off x="3675888" y="6053328"/>
            <a:ext cx="2953512" cy="2011680"/>
          </a:xfrm>
          <a:prstGeom prst="roundRect">
            <a:avLst>
              <a:gd name="adj" fmla="val 18636"/>
            </a:avLst>
          </a:prstGeom>
          <a:solidFill>
            <a:srgbClr val="FFF1CC"/>
          </a:solidFill>
          <a:ln w="33832">
            <a:solidFill>
              <a:srgbClr val="AAAAA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6" name="444 First tool invocation panel"/>
          <p:cNvSpPr/>
          <p:nvPr/>
        </p:nvSpPr>
        <p:spPr>
          <a:xfrm>
            <a:off x="6711696" y="6053328"/>
            <a:ext cx="3566160" cy="2011680"/>
          </a:xfrm>
          <a:prstGeom prst="roundRect">
            <a:avLst>
              <a:gd name="adj" fmla="val 18636"/>
            </a:avLst>
          </a:prstGeom>
          <a:ln w="33832">
            <a:solidFill>
              <a:srgbClr val="AAAAAA"/>
            </a:solidFill>
            <a:prstDash val="dash"/>
          </a:ln>
          <a:effectLst/>
          <a:gradFill rotWithShape="1">
            <a:gsLst>
              <a:gs pos="0">
                <a:srgbClr val="FFEEEE"/>
              </a:gs>
              <a:gs pos="100000">
                <a:srgbClr val="DFEDB6"/>
              </a:gs>
            </a:gsLst>
            <a:lin ang="0" scaled="1"/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447" name="445 First strategy update panel"/>
          <p:cNvSpPr/>
          <p:nvPr/>
        </p:nvSpPr>
        <p:spPr>
          <a:xfrm>
            <a:off x="10332720" y="6053328"/>
            <a:ext cx="2688336" cy="2011680"/>
          </a:xfrm>
          <a:prstGeom prst="roundRect">
            <a:avLst>
              <a:gd name="adj" fmla="val 18636"/>
            </a:avLst>
          </a:prstGeom>
          <a:ln w="33832">
            <a:solidFill>
              <a:srgbClr val="AAAAAA"/>
            </a:solidFill>
            <a:prstDash val="dash"/>
          </a:ln>
          <a:effectLst/>
          <a:gradFill rotWithShape="1">
            <a:gsLst>
              <a:gs pos="0">
                <a:srgbClr val="FFEEEE"/>
              </a:gs>
              <a:gs pos="100000">
                <a:srgbClr val="DFEDB6"/>
              </a:gs>
            </a:gsLst>
            <a:lin ang="0" scaled="1"/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448" name="446 First self-reflection title"/>
          <p:cNvSpPr txBox="1"/>
          <p:nvPr/>
        </p:nvSpPr>
        <p:spPr>
          <a:xfrm>
            <a:off x="3749040" y="6131052"/>
            <a:ext cx="2724912" cy="2555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>
                <a:solidFill>
                  <a:srgbClr val="000000"/>
                </a:solidFill>
                <a:latin typeface="Arial"/>
                <a:ea typeface="Arial"/>
              </a:rPr>
              <a:t>Self-Reflection</a:t>
            </a:r>
          </a:p>
        </p:txBody>
      </p:sp>
      <p:sp>
        <p:nvSpPr>
          <p:cNvPr id="449" name="447 First reason analysis label"/>
          <p:cNvSpPr txBox="1"/>
          <p:nvPr/>
        </p:nvSpPr>
        <p:spPr>
          <a:xfrm>
            <a:off x="3767328" y="6428232"/>
            <a:ext cx="274320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Arial"/>
                <a:ea typeface="Arial"/>
              </a:rPr>
              <a:t>Reason Analysis</a:t>
            </a:r>
          </a:p>
        </p:txBody>
      </p:sp>
      <p:sp>
        <p:nvSpPr>
          <p:cNvPr id="450" name="448 First analysis line 1 bullet"/>
          <p:cNvSpPr txBox="1"/>
          <p:nvPr/>
        </p:nvSpPr>
        <p:spPr>
          <a:xfrm>
            <a:off x="3767328" y="6656832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451" name="449 First analysis line 1"/>
          <p:cNvSpPr txBox="1"/>
          <p:nvPr/>
        </p:nvSpPr>
        <p:spPr>
          <a:xfrm>
            <a:off x="3977640" y="6656832"/>
            <a:ext cx="255117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Need for further enhancement</a:t>
            </a:r>
          </a:p>
        </p:txBody>
      </p:sp>
      <p:sp>
        <p:nvSpPr>
          <p:cNvPr id="452" name="450 First analysis line 2"/>
          <p:cNvSpPr txBox="1"/>
          <p:nvPr/>
        </p:nvSpPr>
        <p:spPr>
          <a:xfrm>
            <a:off x="3977640" y="6885432"/>
            <a:ext cx="253288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of image details and semantic</a:t>
            </a:r>
          </a:p>
        </p:txBody>
      </p:sp>
      <p:sp>
        <p:nvSpPr>
          <p:cNvPr id="453" name="451 First analysis line 3"/>
          <p:cNvSpPr txBox="1"/>
          <p:nvPr/>
        </p:nvSpPr>
        <p:spPr>
          <a:xfrm>
            <a:off x="3977640" y="7114032"/>
            <a:ext cx="253288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information.</a:t>
            </a:r>
          </a:p>
        </p:txBody>
      </p:sp>
      <p:sp>
        <p:nvSpPr>
          <p:cNvPr id="454" name="452 First tools to use label"/>
          <p:cNvSpPr txBox="1"/>
          <p:nvPr/>
        </p:nvSpPr>
        <p:spPr>
          <a:xfrm>
            <a:off x="3767328" y="7342632"/>
            <a:ext cx="274320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Arial"/>
                <a:ea typeface="Arial"/>
              </a:rPr>
              <a:t>Tools to use</a:t>
            </a:r>
          </a:p>
        </p:txBody>
      </p:sp>
      <p:sp>
        <p:nvSpPr>
          <p:cNvPr id="455" name="453 First required tool 1 bullet"/>
          <p:cNvSpPr txBox="1"/>
          <p:nvPr/>
        </p:nvSpPr>
        <p:spPr>
          <a:xfrm>
            <a:off x="3767328" y="7571232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456" name="454 First required tool 1"/>
          <p:cNvSpPr txBox="1"/>
          <p:nvPr/>
        </p:nvSpPr>
        <p:spPr>
          <a:xfrm>
            <a:off x="3977640" y="7571232"/>
            <a:ext cx="2542032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Image Super-resolution</a:t>
            </a:r>
          </a:p>
        </p:txBody>
      </p:sp>
      <p:sp>
        <p:nvSpPr>
          <p:cNvPr id="457" name="455 First required tool 2 bullet"/>
          <p:cNvSpPr txBox="1"/>
          <p:nvPr/>
        </p:nvSpPr>
        <p:spPr>
          <a:xfrm>
            <a:off x="3767328" y="7790688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458" name="456 First required tool 2"/>
          <p:cNvSpPr txBox="1"/>
          <p:nvPr/>
        </p:nvSpPr>
        <p:spPr>
          <a:xfrm>
            <a:off x="3977640" y="7790688"/>
            <a:ext cx="2542032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Object Detection</a:t>
            </a:r>
          </a:p>
        </p:txBody>
      </p:sp>
      <p:pic>
        <p:nvPicPr>
          <p:cNvPr id="459" name="457 Super-resolution input frames" descr="stack_befor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803136" y="6446520"/>
            <a:ext cx="685800" cy="484632"/>
          </a:xfrm>
          <a:prstGeom prst="rect">
            <a:avLst/>
          </a:prstGeom>
        </p:spPr>
      </p:pic>
      <p:pic>
        <p:nvPicPr>
          <p:cNvPr id="460" name="458 Super-resolution output frames" descr="stack_after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454896" y="6428232"/>
            <a:ext cx="749808" cy="566928"/>
          </a:xfrm>
          <a:prstGeom prst="rect">
            <a:avLst/>
          </a:prstGeom>
        </p:spPr>
      </p:pic>
      <p:pic>
        <p:nvPicPr>
          <p:cNvPr id="461" name="459 Super-resolution small icon" descr="super_small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29016" y="6199632"/>
            <a:ext cx="329184" cy="310896"/>
          </a:xfrm>
          <a:prstGeom prst="rect">
            <a:avLst/>
          </a:prstGeom>
        </p:spPr>
      </p:pic>
      <p:sp>
        <p:nvSpPr>
          <p:cNvPr id="462" name="460 Super-resolution invocation label"/>
          <p:cNvSpPr txBox="1"/>
          <p:nvPr/>
        </p:nvSpPr>
        <p:spPr>
          <a:xfrm>
            <a:off x="7479792" y="6483096"/>
            <a:ext cx="200253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Image Super-resolution</a:t>
            </a:r>
          </a:p>
        </p:txBody>
      </p:sp>
      <p:sp>
        <p:nvSpPr>
          <p:cNvPr id="463" name="461 Super-resolution transform shaft"/>
          <p:cNvSpPr/>
          <p:nvPr/>
        </p:nvSpPr>
        <p:spPr>
          <a:xfrm>
            <a:off x="7781544" y="6775704"/>
            <a:ext cx="1060704" cy="91"/>
          </a:xfrm>
          <a:custGeom>
            <a:avLst/>
            <a:gdLst/>
            <a:ahLst/>
            <a:cxnLst/>
            <a:rect l="0" t="0" r="r" b="b"/>
            <a:pathLst>
              <a:path w="1060704" h="91">
                <a:moveTo>
                  <a:pt x="0" y="0"/>
                </a:moveTo>
                <a:lnTo>
                  <a:pt x="1060704" y="0"/>
                </a:lnTo>
              </a:path>
            </a:pathLst>
          </a:custGeom>
          <a:noFill/>
          <a:ln w="16459">
            <a:solidFill>
              <a:srgbClr val="56A1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4" name="462 Super-resolution transform arrowhead"/>
          <p:cNvSpPr/>
          <p:nvPr/>
        </p:nvSpPr>
        <p:spPr>
          <a:xfrm>
            <a:off x="8842248" y="6731813"/>
            <a:ext cx="91440" cy="87782"/>
          </a:xfrm>
          <a:custGeom>
            <a:avLst/>
            <a:gdLst/>
            <a:ahLst/>
            <a:cxnLst/>
            <a:rect l="0" t="0" r="r" b="b"/>
            <a:pathLst>
              <a:path w="91440" h="87782">
                <a:moveTo>
                  <a:pt x="91440" y="43891"/>
                </a:moveTo>
                <a:lnTo>
                  <a:pt x="0" y="87782"/>
                </a:lnTo>
                <a:lnTo>
                  <a:pt x="0" y="0"/>
                </a:lnTo>
                <a:close/>
              </a:path>
            </a:pathLst>
          </a:custGeom>
          <a:solidFill>
            <a:srgbClr val="56A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65" name="463 Object detection input frame" descr="object_befor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39712" y="7370064"/>
            <a:ext cx="649224" cy="384048"/>
          </a:xfrm>
          <a:prstGeom prst="rect">
            <a:avLst/>
          </a:prstGeom>
        </p:spPr>
      </p:pic>
      <p:pic>
        <p:nvPicPr>
          <p:cNvPr id="466" name="464 Object detection output frame" descr="object_after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454896" y="7388352"/>
            <a:ext cx="667512" cy="384048"/>
          </a:xfrm>
          <a:prstGeom prst="rect">
            <a:avLst/>
          </a:prstGeom>
        </p:spPr>
      </p:pic>
      <p:pic>
        <p:nvPicPr>
          <p:cNvPr id="467" name="465 Object detection small icon" descr="detect_small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129016" y="7114032"/>
            <a:ext cx="329184" cy="265176"/>
          </a:xfrm>
          <a:prstGeom prst="rect">
            <a:avLst/>
          </a:prstGeom>
        </p:spPr>
      </p:pic>
      <p:sp>
        <p:nvSpPr>
          <p:cNvPr id="468" name="466 Object detection invocation label"/>
          <p:cNvSpPr txBox="1"/>
          <p:nvPr/>
        </p:nvSpPr>
        <p:spPr>
          <a:xfrm>
            <a:off x="7607808" y="7351776"/>
            <a:ext cx="168249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Object Detection</a:t>
            </a:r>
          </a:p>
        </p:txBody>
      </p:sp>
      <p:sp>
        <p:nvSpPr>
          <p:cNvPr id="469" name="467 Object detection transform shaft"/>
          <p:cNvSpPr/>
          <p:nvPr/>
        </p:nvSpPr>
        <p:spPr>
          <a:xfrm>
            <a:off x="7772400" y="7635240"/>
            <a:ext cx="1069848" cy="91"/>
          </a:xfrm>
          <a:custGeom>
            <a:avLst/>
            <a:gdLst/>
            <a:ahLst/>
            <a:cxnLst/>
            <a:rect l="0" t="0" r="r" b="b"/>
            <a:pathLst>
              <a:path w="1069848" h="91">
                <a:moveTo>
                  <a:pt x="0" y="0"/>
                </a:moveTo>
                <a:lnTo>
                  <a:pt x="1069848" y="0"/>
                </a:lnTo>
              </a:path>
            </a:pathLst>
          </a:custGeom>
          <a:noFill/>
          <a:ln w="16459">
            <a:solidFill>
              <a:srgbClr val="56A1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0" name="468 Object detection transform arrowhead"/>
          <p:cNvSpPr/>
          <p:nvPr/>
        </p:nvSpPr>
        <p:spPr>
          <a:xfrm>
            <a:off x="8842248" y="7591349"/>
            <a:ext cx="91440" cy="87782"/>
          </a:xfrm>
          <a:custGeom>
            <a:avLst/>
            <a:gdLst/>
            <a:ahLst/>
            <a:cxnLst/>
            <a:rect l="0" t="0" r="r" b="b"/>
            <a:pathLst>
              <a:path w="91440" h="87782">
                <a:moveTo>
                  <a:pt x="91440" y="43891"/>
                </a:moveTo>
                <a:lnTo>
                  <a:pt x="0" y="87782"/>
                </a:lnTo>
                <a:lnTo>
                  <a:pt x="0" y="0"/>
                </a:lnTo>
                <a:close/>
              </a:path>
            </a:pathLst>
          </a:custGeom>
          <a:solidFill>
            <a:srgbClr val="56A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1" name="469 First strategy update title"/>
          <p:cNvSpPr txBox="1"/>
          <p:nvPr/>
        </p:nvSpPr>
        <p:spPr>
          <a:xfrm>
            <a:off x="10442448" y="6163056"/>
            <a:ext cx="2496312" cy="249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>
                <a:solidFill>
                  <a:srgbClr val="000000"/>
                </a:solidFill>
                <a:latin typeface="Arial"/>
                <a:ea typeface="Arial"/>
              </a:rPr>
              <a:t>Detection Strategy Update</a:t>
            </a:r>
          </a:p>
        </p:txBody>
      </p:sp>
      <p:sp>
        <p:nvSpPr>
          <p:cNvPr id="472" name="470 First new anomaly rules label"/>
          <p:cNvSpPr txBox="1"/>
          <p:nvPr/>
        </p:nvSpPr>
        <p:spPr>
          <a:xfrm>
            <a:off x="10433304" y="6492240"/>
            <a:ext cx="246888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Arial"/>
                <a:ea typeface="Arial"/>
              </a:rPr>
              <a:t>New Anomaly Rules</a:t>
            </a:r>
          </a:p>
        </p:txBody>
      </p:sp>
      <p:sp>
        <p:nvSpPr>
          <p:cNvPr id="473" name="471 First new anomaly rules line 1 bullet"/>
          <p:cNvSpPr txBox="1"/>
          <p:nvPr/>
        </p:nvSpPr>
        <p:spPr>
          <a:xfrm>
            <a:off x="10433304" y="6720840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474" name="472 First new anomaly rules line 1"/>
          <p:cNvSpPr txBox="1"/>
          <p:nvPr/>
        </p:nvSpPr>
        <p:spPr>
          <a:xfrm>
            <a:off x="10643616" y="6720840"/>
            <a:ext cx="2295144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Customers repeatedly pick</a:t>
            </a:r>
          </a:p>
        </p:txBody>
      </p:sp>
      <p:sp>
        <p:nvSpPr>
          <p:cNvPr id="475" name="473 First new anomaly rules line 2"/>
          <p:cNvSpPr txBox="1"/>
          <p:nvPr/>
        </p:nvSpPr>
        <p:spPr>
          <a:xfrm>
            <a:off x="10643616" y="6949440"/>
            <a:ext cx="2313432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up items and look around...</a:t>
            </a:r>
          </a:p>
        </p:txBody>
      </p:sp>
      <p:sp>
        <p:nvSpPr>
          <p:cNvPr id="476" name="474 First new heuristic label"/>
          <p:cNvSpPr txBox="1"/>
          <p:nvPr/>
        </p:nvSpPr>
        <p:spPr>
          <a:xfrm>
            <a:off x="10433304" y="7178040"/>
            <a:ext cx="2523744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Arial"/>
                <a:ea typeface="Arial"/>
              </a:rPr>
              <a:t>New Heuristic Prompt</a:t>
            </a:r>
          </a:p>
        </p:txBody>
      </p:sp>
      <p:sp>
        <p:nvSpPr>
          <p:cNvPr id="477" name="475 First new heuristic line 1 bullet"/>
          <p:cNvSpPr txBox="1"/>
          <p:nvPr/>
        </p:nvSpPr>
        <p:spPr>
          <a:xfrm>
            <a:off x="10433304" y="7406640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478" name="476 First new heuristic line 1"/>
          <p:cNvSpPr txBox="1"/>
          <p:nvPr/>
        </p:nvSpPr>
        <p:spPr>
          <a:xfrm>
            <a:off x="10643616" y="7406640"/>
            <a:ext cx="227685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Focusing on customer</a:t>
            </a:r>
          </a:p>
        </p:txBody>
      </p:sp>
      <p:sp>
        <p:nvSpPr>
          <p:cNvPr id="479" name="477 First new heuristic line 2"/>
          <p:cNvSpPr txBox="1"/>
          <p:nvPr/>
        </p:nvSpPr>
        <p:spPr>
          <a:xfrm>
            <a:off x="10643616" y="7635240"/>
            <a:ext cx="228600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behavior in the store...</a:t>
            </a:r>
          </a:p>
        </p:txBody>
      </p:sp>
      <p:sp>
        <p:nvSpPr>
          <p:cNvPr id="480" name="478 First replan to reasoning"/>
          <p:cNvSpPr/>
          <p:nvPr/>
        </p:nvSpPr>
        <p:spPr>
          <a:xfrm>
            <a:off x="13139928" y="6665976"/>
            <a:ext cx="265176" cy="283464"/>
          </a:xfrm>
          <a:custGeom>
            <a:avLst/>
            <a:gdLst/>
            <a:ahLst/>
            <a:cxnLst/>
            <a:rect l="0" t="0" r="r" b="b"/>
            <a:pathLst>
              <a:path w="265176" h="283464">
                <a:moveTo>
                  <a:pt x="0" y="65197"/>
                </a:moveTo>
                <a:lnTo>
                  <a:pt x="148499" y="65197"/>
                </a:lnTo>
                <a:lnTo>
                  <a:pt x="148499" y="0"/>
                </a:lnTo>
                <a:lnTo>
                  <a:pt x="265176" y="141732"/>
                </a:lnTo>
                <a:lnTo>
                  <a:pt x="148499" y="283464"/>
                </a:lnTo>
                <a:lnTo>
                  <a:pt x="148499" y="218267"/>
                </a:lnTo>
                <a:lnTo>
                  <a:pt x="0" y="218267"/>
                </a:lnTo>
                <a:close/>
              </a:path>
            </a:pathLst>
          </a:custGeom>
          <a:ln>
            <a:noFill/>
          </a:ln>
          <a:effectLst/>
          <a:gradFill rotWithShape="1">
            <a:gsLst>
              <a:gs pos="0">
                <a:srgbClr val="FFE3CF"/>
              </a:gs>
              <a:gs pos="100000">
                <a:srgbClr val="F87925"/>
              </a:gs>
            </a:gsLst>
            <a:lin ang="5400000" scaled="1"/>
          </a:gradFill>
        </p:spPr>
        <p:txBody>
          <a:bodyPr rtlCol="0" anchor="ctr"/>
          <a:lstStyle/>
          <a:p>
            <a:pPr algn="ctr"/>
          </a:p>
        </p:txBody>
      </p:sp>
      <p:pic>
        <p:nvPicPr>
          <p:cNvPr id="481" name="479 Second VLM reasoning icon" descr="reason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334488" y="5321808"/>
            <a:ext cx="466344" cy="429768"/>
          </a:xfrm>
          <a:prstGeom prst="rect">
            <a:avLst/>
          </a:prstGeom>
        </p:spPr>
      </p:pic>
      <p:sp>
        <p:nvSpPr>
          <p:cNvPr id="482" name="480 Second VLM reasoning label"/>
          <p:cNvSpPr txBox="1"/>
          <p:nvPr/>
        </p:nvSpPr>
        <p:spPr>
          <a:xfrm>
            <a:off x="14575536" y="5687568"/>
            <a:ext cx="1929384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VLM Reasoning</a:t>
            </a:r>
          </a:p>
        </p:txBody>
      </p:sp>
      <p:sp>
        <p:nvSpPr>
          <p:cNvPr id="483" name="481 Second reasoning title box"/>
          <p:cNvSpPr/>
          <p:nvPr/>
        </p:nvSpPr>
        <p:spPr>
          <a:xfrm>
            <a:off x="13670280" y="6062472"/>
            <a:ext cx="3721608" cy="301752"/>
          </a:xfrm>
          <a:prstGeom prst="rect">
            <a:avLst/>
          </a:prstGeom>
          <a:solidFill>
            <a:srgbClr val="F1F1F1"/>
          </a:solidFill>
          <a:ln w="21945">
            <a:solidFill>
              <a:srgbClr val="BFC3B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4" name="482 Second reasoning result title"/>
          <p:cNvSpPr txBox="1"/>
          <p:nvPr/>
        </p:nvSpPr>
        <p:spPr>
          <a:xfrm>
            <a:off x="13761720" y="6112764"/>
            <a:ext cx="3538728" cy="2555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>
                <a:solidFill>
                  <a:srgbClr val="000000"/>
                </a:solidFill>
                <a:latin typeface="Arial"/>
                <a:ea typeface="Arial"/>
              </a:rPr>
              <a:t>Refined Reasoning Results</a:t>
            </a:r>
          </a:p>
        </p:txBody>
      </p:sp>
      <p:sp>
        <p:nvSpPr>
          <p:cNvPr id="485" name="483 Second reasoning body"/>
          <p:cNvSpPr/>
          <p:nvPr/>
        </p:nvSpPr>
        <p:spPr>
          <a:xfrm>
            <a:off x="13670280" y="6446520"/>
            <a:ext cx="3721608" cy="1426464"/>
          </a:xfrm>
          <a:prstGeom prst="rect">
            <a:avLst/>
          </a:prstGeom>
          <a:solidFill>
            <a:srgbClr val="FAE4D6"/>
          </a:solidFill>
          <a:ln w="21945">
            <a:solidFill>
              <a:srgbClr val="BFC3B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6" name="484 Second status"/>
          <p:cNvSpPr txBox="1"/>
          <p:nvPr/>
        </p:nvSpPr>
        <p:spPr>
          <a:xfrm>
            <a:off x="13780008" y="6483096"/>
            <a:ext cx="352044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Status: </a:t>
            </a:r>
            <a:r>
              <a:rPr sz="1497" b="0">
                <a:solidFill>
                  <a:srgbClr val="BFBFBF"/>
                </a:solidFill>
                <a:latin typeface="Arial"/>
                <a:ea typeface="Arial"/>
              </a:rPr>
              <a:t>Normal / Abnormal / </a:t>
            </a:r>
            <a:r>
              <a:rPr sz="1497" b="0">
                <a:solidFill>
                  <a:srgbClr val="4BA5F3"/>
                </a:solidFill>
                <a:latin typeface="Arial"/>
                <a:ea typeface="Arial"/>
              </a:rPr>
              <a:t>Insufficient</a:t>
            </a:r>
          </a:p>
        </p:txBody>
      </p:sp>
      <p:sp>
        <p:nvSpPr>
          <p:cNvPr id="487" name="485 Second anomaly score"/>
          <p:cNvSpPr txBox="1"/>
          <p:nvPr/>
        </p:nvSpPr>
        <p:spPr>
          <a:xfrm>
            <a:off x="13780008" y="6711696"/>
            <a:ext cx="349300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Score: 0.6</a:t>
            </a:r>
          </a:p>
        </p:txBody>
      </p:sp>
      <p:sp>
        <p:nvSpPr>
          <p:cNvPr id="488" name="486 Second reason line 1"/>
          <p:cNvSpPr txBox="1"/>
          <p:nvPr/>
        </p:nvSpPr>
        <p:spPr>
          <a:xfrm>
            <a:off x="13780008" y="6931152"/>
            <a:ext cx="353872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Reason: </a:t>
            </a:r>
            <a:r>
              <a:rPr sz="1497" b="0">
                <a:solidFill>
                  <a:srgbClr val="4BA5F3"/>
                </a:solidFill>
                <a:latin typeface="Arial"/>
                <a:ea typeface="Arial"/>
              </a:rPr>
              <a:t>The woman is browsing the</a:t>
            </a:r>
          </a:p>
        </p:txBody>
      </p:sp>
      <p:sp>
        <p:nvSpPr>
          <p:cNvPr id="489" name="487 Second reason line 2"/>
          <p:cNvSpPr txBox="1"/>
          <p:nvPr/>
        </p:nvSpPr>
        <p:spPr>
          <a:xfrm>
            <a:off x="13780008" y="7159752"/>
            <a:ext cx="353872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4BA5F3"/>
                </a:solidFill>
                <a:latin typeface="Arial"/>
                <a:ea typeface="Arial"/>
              </a:rPr>
              <a:t>items with suspicious behavior, but</a:t>
            </a:r>
          </a:p>
        </p:txBody>
      </p:sp>
      <p:sp>
        <p:nvSpPr>
          <p:cNvPr id="490" name="488 Second reason line 3"/>
          <p:cNvSpPr txBox="1"/>
          <p:nvPr/>
        </p:nvSpPr>
        <p:spPr>
          <a:xfrm>
            <a:off x="13780008" y="7388352"/>
            <a:ext cx="353872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4BA5F3"/>
                </a:solidFill>
                <a:latin typeface="Arial"/>
                <a:ea typeface="Arial"/>
              </a:rPr>
              <a:t>based on the current clip it is not clear if</a:t>
            </a:r>
          </a:p>
        </p:txBody>
      </p:sp>
      <p:sp>
        <p:nvSpPr>
          <p:cNvPr id="491" name="489 Second reason line 4"/>
          <p:cNvSpPr txBox="1"/>
          <p:nvPr/>
        </p:nvSpPr>
        <p:spPr>
          <a:xfrm>
            <a:off x="13780008" y="7616952"/>
            <a:ext cx="353872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4BA5F3"/>
                </a:solidFill>
                <a:latin typeface="Arial"/>
                <a:ea typeface="Arial"/>
              </a:rPr>
              <a:t>there is a shoplifting anomaly.</a:t>
            </a:r>
          </a:p>
        </p:txBody>
      </p:sp>
      <p:sp>
        <p:nvSpPr>
          <p:cNvPr id="492" name="490 Second feedback down"/>
          <p:cNvSpPr/>
          <p:nvPr/>
        </p:nvSpPr>
        <p:spPr>
          <a:xfrm>
            <a:off x="15526512" y="8183880"/>
            <a:ext cx="91" cy="146304"/>
          </a:xfrm>
          <a:custGeom>
            <a:avLst/>
            <a:gdLst/>
            <a:ahLst/>
            <a:cxnLst/>
            <a:rect l="0" t="0" r="r" b="b"/>
            <a:pathLst>
              <a:path w="91" h="146304">
                <a:moveTo>
                  <a:pt x="0" y="0"/>
                </a:moveTo>
                <a:lnTo>
                  <a:pt x="0" y="146304"/>
                </a:lnTo>
              </a:path>
            </a:pathLst>
          </a:custGeom>
          <a:noFill/>
          <a:ln w="34747">
            <a:solidFill>
              <a:srgbClr val="F579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3" name="491 Second feedback left"/>
          <p:cNvSpPr/>
          <p:nvPr/>
        </p:nvSpPr>
        <p:spPr>
          <a:xfrm>
            <a:off x="8412480" y="8330184"/>
            <a:ext cx="7114032" cy="91"/>
          </a:xfrm>
          <a:custGeom>
            <a:avLst/>
            <a:gdLst/>
            <a:ahLst/>
            <a:cxnLst/>
            <a:rect l="0" t="0" r="r" b="b"/>
            <a:pathLst>
              <a:path w="7114032" h="91">
                <a:moveTo>
                  <a:pt x="7114032" y="0"/>
                </a:moveTo>
                <a:lnTo>
                  <a:pt x="0" y="0"/>
                </a:lnTo>
              </a:path>
            </a:pathLst>
          </a:custGeom>
          <a:noFill/>
          <a:ln w="34747">
            <a:solidFill>
              <a:srgbClr val="F579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4" name="492 Second feedback into reflection shaft"/>
          <p:cNvSpPr/>
          <p:nvPr/>
        </p:nvSpPr>
        <p:spPr>
          <a:xfrm>
            <a:off x="8412480" y="8330184"/>
            <a:ext cx="91" cy="54864"/>
          </a:xfrm>
          <a:custGeom>
            <a:avLst/>
            <a:gdLst/>
            <a:ahLst/>
            <a:cxnLst/>
            <a:rect l="0" t="0" r="r" b="b"/>
            <a:pathLst>
              <a:path w="91" h="54864">
                <a:moveTo>
                  <a:pt x="0" y="0"/>
                </a:moveTo>
                <a:lnTo>
                  <a:pt x="0" y="54864"/>
                </a:lnTo>
              </a:path>
            </a:pathLst>
          </a:custGeom>
          <a:noFill/>
          <a:ln w="32004">
            <a:solidFill>
              <a:srgbClr val="F579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5" name="493 Second feedback into reflection arrowhead"/>
          <p:cNvSpPr/>
          <p:nvPr/>
        </p:nvSpPr>
        <p:spPr>
          <a:xfrm>
            <a:off x="8359811" y="8385048"/>
            <a:ext cx="105339" cy="109728"/>
          </a:xfrm>
          <a:custGeom>
            <a:avLst/>
            <a:gdLst/>
            <a:ahLst/>
            <a:cxnLst/>
            <a:rect l="0" t="0" r="r" b="b"/>
            <a:pathLst>
              <a:path w="105339" h="109728">
                <a:moveTo>
                  <a:pt x="52669" y="109728"/>
                </a:moveTo>
                <a:lnTo>
                  <a:pt x="0" y="0"/>
                </a:lnTo>
                <a:lnTo>
                  <a:pt x="105339" y="0"/>
                </a:lnTo>
                <a:close/>
              </a:path>
            </a:pathLst>
          </a:custGeom>
          <a:solidFill>
            <a:srgbClr val="F579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6" name="494 Second reflection banner"/>
          <p:cNvSpPr/>
          <p:nvPr/>
        </p:nvSpPr>
        <p:spPr>
          <a:xfrm>
            <a:off x="7114032" y="8485632"/>
            <a:ext cx="2596896" cy="246888"/>
          </a:xfrm>
          <a:prstGeom prst="rect">
            <a:avLst/>
          </a:prstGeom>
          <a:ln w="5486">
            <a:solidFill>
              <a:srgbClr val="E3B58C"/>
            </a:solidFill>
          </a:ln>
          <a:effectLst/>
          <a:gradFill rotWithShape="1">
            <a:gsLst>
              <a:gs pos="0">
                <a:srgbClr val="FFF1E9"/>
              </a:gs>
              <a:gs pos="100000">
                <a:srgbClr val="EA710C"/>
              </a:gs>
            </a:gsLst>
            <a:lin ang="5400000" scaled="1"/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497" name="495 Second round of reflection"/>
          <p:cNvSpPr txBox="1"/>
          <p:nvPr/>
        </p:nvSpPr>
        <p:spPr>
          <a:xfrm>
            <a:off x="7150608" y="8494776"/>
            <a:ext cx="2523744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Times New Roman"/>
                <a:ea typeface="Times New Roman"/>
              </a:rPr>
              <a:t>Second round of reflection</a:t>
            </a:r>
          </a:p>
        </p:txBody>
      </p:sp>
      <p:pic>
        <p:nvPicPr>
          <p:cNvPr id="498" name="496 Second reflection engineer panda" descr="panda_last_reflection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438144" y="8293608"/>
            <a:ext cx="667512" cy="914400"/>
          </a:xfrm>
          <a:prstGeom prst="rect">
            <a:avLst/>
          </a:prstGeom>
        </p:spPr>
      </p:pic>
      <p:sp>
        <p:nvSpPr>
          <p:cNvPr id="499" name="497 Second experience recall thought bubble"/>
          <p:cNvSpPr/>
          <p:nvPr/>
        </p:nvSpPr>
        <p:spPr>
          <a:xfrm>
            <a:off x="4106022" y="8055864"/>
            <a:ext cx="2038015" cy="507492"/>
          </a:xfrm>
          <a:custGeom>
            <a:avLst/>
            <a:gdLst/>
            <a:ahLst/>
            <a:cxnLst/>
            <a:rect l="0" t="0" r="r" b="b"/>
            <a:pathLst>
              <a:path w="2038015" h="507492">
                <a:moveTo>
                  <a:pt x="309342" y="374904"/>
                </a:moveTo>
                <a:cubicBezTo>
                  <a:pt x="36393" y="374904"/>
                  <a:pt x="0" y="269748"/>
                  <a:pt x="218359" y="256032"/>
                </a:cubicBezTo>
                <a:cubicBezTo>
                  <a:pt x="36393" y="196596"/>
                  <a:pt x="181966" y="114300"/>
                  <a:pt x="382128" y="123444"/>
                </a:cubicBezTo>
                <a:cubicBezTo>
                  <a:pt x="363931" y="27432"/>
                  <a:pt x="655076" y="9144"/>
                  <a:pt x="764256" y="86868"/>
                </a:cubicBezTo>
                <a:cubicBezTo>
                  <a:pt x="909828" y="18288"/>
                  <a:pt x="1055400" y="9144"/>
                  <a:pt x="1200973" y="77724"/>
                </a:cubicBezTo>
                <a:cubicBezTo>
                  <a:pt x="1455725" y="0"/>
                  <a:pt x="1674084" y="41148"/>
                  <a:pt x="1692280" y="118872"/>
                </a:cubicBezTo>
                <a:cubicBezTo>
                  <a:pt x="1910639" y="114300"/>
                  <a:pt x="1983425" y="214884"/>
                  <a:pt x="1801459" y="237744"/>
                </a:cubicBezTo>
                <a:cubicBezTo>
                  <a:pt x="2038015" y="301752"/>
                  <a:pt x="1819656" y="397764"/>
                  <a:pt x="1637690" y="384048"/>
                </a:cubicBezTo>
                <a:cubicBezTo>
                  <a:pt x="1601297" y="484632"/>
                  <a:pt x="1291956" y="484632"/>
                  <a:pt x="1182776" y="429768"/>
                </a:cubicBezTo>
                <a:cubicBezTo>
                  <a:pt x="946221" y="507492"/>
                  <a:pt x="691469" y="461772"/>
                  <a:pt x="636880" y="411480"/>
                </a:cubicBezTo>
                <a:cubicBezTo>
                  <a:pt x="473111" y="475488"/>
                  <a:pt x="272948" y="452628"/>
                  <a:pt x="309342" y="374904"/>
                </a:cubicBezTo>
                <a:close/>
              </a:path>
            </a:pathLst>
          </a:custGeom>
          <a:solidFill>
            <a:srgbClr val="FFFFFF"/>
          </a:solidFill>
          <a:ln w="12344">
            <a:solidFill>
              <a:srgbClr val="F8752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0" name="498 Second experience recall thought bubble thought 1"/>
          <p:cNvSpPr/>
          <p:nvPr/>
        </p:nvSpPr>
        <p:spPr>
          <a:xfrm>
            <a:off x="4251960" y="8549640"/>
            <a:ext cx="82296" cy="64008"/>
          </a:xfrm>
          <a:prstGeom prst="ellipse">
            <a:avLst/>
          </a:prstGeom>
          <a:solidFill>
            <a:srgbClr val="FFFFFF"/>
          </a:solidFill>
          <a:ln w="11887">
            <a:solidFill>
              <a:srgbClr val="F8752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1" name="499 Second experience recall thought bubble thought 2"/>
          <p:cNvSpPr/>
          <p:nvPr/>
        </p:nvSpPr>
        <p:spPr>
          <a:xfrm>
            <a:off x="4105656" y="8613648"/>
            <a:ext cx="45720" cy="36576"/>
          </a:xfrm>
          <a:prstGeom prst="ellipse">
            <a:avLst/>
          </a:prstGeom>
          <a:solidFill>
            <a:srgbClr val="FFFFFF"/>
          </a:solidFill>
          <a:ln w="10058">
            <a:solidFill>
              <a:srgbClr val="F8752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2" name="500 Second experience recall thought bubble thought 3"/>
          <p:cNvSpPr/>
          <p:nvPr/>
        </p:nvSpPr>
        <p:spPr>
          <a:xfrm>
            <a:off x="4032504" y="8659368"/>
            <a:ext cx="29261" cy="27432"/>
          </a:xfrm>
          <a:prstGeom prst="ellipse">
            <a:avLst/>
          </a:prstGeom>
          <a:solidFill>
            <a:srgbClr val="FFFFFF"/>
          </a:solidFill>
          <a:ln w="9144">
            <a:solidFill>
              <a:srgbClr val="F8752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3" name="501 Second recall first line"/>
          <p:cNvSpPr txBox="1"/>
          <p:nvPr/>
        </p:nvSpPr>
        <p:spPr>
          <a:xfrm>
            <a:off x="4315968" y="8138160"/>
            <a:ext cx="1554480" cy="1806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1">
                <a:solidFill>
                  <a:srgbClr val="000000"/>
                </a:solidFill>
                <a:latin typeface="Arial"/>
                <a:ea typeface="Arial"/>
              </a:rPr>
              <a:t>Recalling past</a:t>
            </a:r>
          </a:p>
        </p:txBody>
      </p:sp>
      <p:sp>
        <p:nvSpPr>
          <p:cNvPr id="504" name="502 Second recall second line"/>
          <p:cNvSpPr txBox="1"/>
          <p:nvPr/>
        </p:nvSpPr>
        <p:spPr>
          <a:xfrm>
            <a:off x="4315968" y="8302752"/>
            <a:ext cx="1554480" cy="1806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1">
                <a:solidFill>
                  <a:srgbClr val="000000"/>
                </a:solidFill>
                <a:latin typeface="Arial"/>
                <a:ea typeface="Arial"/>
              </a:rPr>
              <a:t>experience ...</a:t>
            </a:r>
          </a:p>
        </p:txBody>
      </p:sp>
      <p:pic>
        <p:nvPicPr>
          <p:cNvPr id="505" name="503 Second MLLM reflection icon" descr="reflection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882896" y="8650224"/>
            <a:ext cx="530352" cy="420624"/>
          </a:xfrm>
          <a:prstGeom prst="rect">
            <a:avLst/>
          </a:prstGeom>
        </p:spPr>
      </p:pic>
      <p:sp>
        <p:nvSpPr>
          <p:cNvPr id="506" name="504 Second MLLM reflection label"/>
          <p:cNvSpPr txBox="1"/>
          <p:nvPr/>
        </p:nvSpPr>
        <p:spPr>
          <a:xfrm>
            <a:off x="4325112" y="9043416"/>
            <a:ext cx="1746504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MLLM Reflection</a:t>
            </a:r>
          </a:p>
        </p:txBody>
      </p:sp>
      <p:pic>
        <p:nvPicPr>
          <p:cNvPr id="507" name="505 Second tool invoke icon" descr="invok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973568" y="8714232"/>
            <a:ext cx="466344" cy="393192"/>
          </a:xfrm>
          <a:prstGeom prst="rect">
            <a:avLst/>
          </a:prstGeom>
        </p:spPr>
      </p:pic>
      <p:sp>
        <p:nvSpPr>
          <p:cNvPr id="508" name="506 Second tool invoke label"/>
          <p:cNvSpPr txBox="1"/>
          <p:nvPr/>
        </p:nvSpPr>
        <p:spPr>
          <a:xfrm>
            <a:off x="7461504" y="9043416"/>
            <a:ext cx="1472184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Tool Invoke</a:t>
            </a:r>
          </a:p>
        </p:txBody>
      </p:sp>
      <p:pic>
        <p:nvPicPr>
          <p:cNvPr id="509" name="507 Second MLLM replanning icon" descr="plan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466576" y="8650224"/>
            <a:ext cx="374904" cy="393192"/>
          </a:xfrm>
          <a:prstGeom prst="rect">
            <a:avLst/>
          </a:prstGeom>
        </p:spPr>
      </p:pic>
      <p:sp>
        <p:nvSpPr>
          <p:cNvPr id="510" name="508 Second MLLM replanning label"/>
          <p:cNvSpPr txBox="1"/>
          <p:nvPr/>
        </p:nvSpPr>
        <p:spPr>
          <a:xfrm>
            <a:off x="10725912" y="9034272"/>
            <a:ext cx="1883664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MLLM Replanning</a:t>
            </a:r>
          </a:p>
        </p:txBody>
      </p:sp>
      <p:sp>
        <p:nvSpPr>
          <p:cNvPr id="511" name="509 Second reflection to tool shaft"/>
          <p:cNvSpPr/>
          <p:nvPr/>
        </p:nvSpPr>
        <p:spPr>
          <a:xfrm>
            <a:off x="6062472" y="8924544"/>
            <a:ext cx="841248" cy="91"/>
          </a:xfrm>
          <a:custGeom>
            <a:avLst/>
            <a:gdLst/>
            <a:ahLst/>
            <a:cxnLst/>
            <a:rect l="0" t="0" r="r" b="b"/>
            <a:pathLst>
              <a:path w="841248" h="91">
                <a:moveTo>
                  <a:pt x="0" y="0"/>
                </a:moveTo>
                <a:lnTo>
                  <a:pt x="841248" y="0"/>
                </a:lnTo>
              </a:path>
            </a:pathLst>
          </a:custGeom>
          <a:noFill/>
          <a:ln w="32918">
            <a:solidFill>
              <a:srgbClr val="56A1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2" name="510 Second reflection to tool arrowhead"/>
          <p:cNvSpPr/>
          <p:nvPr/>
        </p:nvSpPr>
        <p:spPr>
          <a:xfrm>
            <a:off x="6903720" y="8871875"/>
            <a:ext cx="109728" cy="105339"/>
          </a:xfrm>
          <a:custGeom>
            <a:avLst/>
            <a:gdLst/>
            <a:ahLst/>
            <a:cxnLst/>
            <a:rect l="0" t="0" r="r" b="b"/>
            <a:pathLst>
              <a:path w="109728" h="105339">
                <a:moveTo>
                  <a:pt x="109728" y="52669"/>
                </a:moveTo>
                <a:lnTo>
                  <a:pt x="0" y="105339"/>
                </a:lnTo>
                <a:lnTo>
                  <a:pt x="0" y="0"/>
                </a:lnTo>
                <a:close/>
              </a:path>
            </a:pathLst>
          </a:custGeom>
          <a:solidFill>
            <a:srgbClr val="56A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3" name="511 Second tool to replan shaft"/>
          <p:cNvSpPr/>
          <p:nvPr/>
        </p:nvSpPr>
        <p:spPr>
          <a:xfrm>
            <a:off x="9518904" y="8924544"/>
            <a:ext cx="822960" cy="91"/>
          </a:xfrm>
          <a:custGeom>
            <a:avLst/>
            <a:gdLst/>
            <a:ahLst/>
            <a:cxnLst/>
            <a:rect l="0" t="0" r="r" b="b"/>
            <a:pathLst>
              <a:path w="822960" h="91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32918">
            <a:solidFill>
              <a:srgbClr val="56A1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4" name="512 Second tool to replan arrowhead"/>
          <p:cNvSpPr/>
          <p:nvPr/>
        </p:nvSpPr>
        <p:spPr>
          <a:xfrm>
            <a:off x="10341864" y="8871875"/>
            <a:ext cx="109728" cy="105339"/>
          </a:xfrm>
          <a:custGeom>
            <a:avLst/>
            <a:gdLst/>
            <a:ahLst/>
            <a:cxnLst/>
            <a:rect l="0" t="0" r="r" b="b"/>
            <a:pathLst>
              <a:path w="109728" h="105339">
                <a:moveTo>
                  <a:pt x="109728" y="52669"/>
                </a:moveTo>
                <a:lnTo>
                  <a:pt x="0" y="105339"/>
                </a:lnTo>
                <a:lnTo>
                  <a:pt x="0" y="0"/>
                </a:lnTo>
                <a:close/>
              </a:path>
            </a:pathLst>
          </a:custGeom>
          <a:solidFill>
            <a:srgbClr val="56A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5" name="513 Second self-reflection panel"/>
          <p:cNvSpPr/>
          <p:nvPr/>
        </p:nvSpPr>
        <p:spPr>
          <a:xfrm>
            <a:off x="3630168" y="9317736"/>
            <a:ext cx="2953512" cy="2157984"/>
          </a:xfrm>
          <a:prstGeom prst="roundRect">
            <a:avLst>
              <a:gd name="adj" fmla="val 17372"/>
            </a:avLst>
          </a:prstGeom>
          <a:solidFill>
            <a:srgbClr val="FFF1CC"/>
          </a:solidFill>
          <a:ln w="33832">
            <a:solidFill>
              <a:srgbClr val="AAAAA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6" name="514 Second tool invocation panel"/>
          <p:cNvSpPr/>
          <p:nvPr/>
        </p:nvSpPr>
        <p:spPr>
          <a:xfrm>
            <a:off x="6665976" y="9317736"/>
            <a:ext cx="3557016" cy="2157984"/>
          </a:xfrm>
          <a:prstGeom prst="roundRect">
            <a:avLst>
              <a:gd name="adj" fmla="val 17372"/>
            </a:avLst>
          </a:prstGeom>
          <a:ln w="33832">
            <a:solidFill>
              <a:srgbClr val="AAAAAA"/>
            </a:solidFill>
            <a:prstDash val="dash"/>
          </a:ln>
          <a:effectLst/>
          <a:gradFill rotWithShape="1">
            <a:gsLst>
              <a:gs pos="0">
                <a:srgbClr val="FFEEEE"/>
              </a:gs>
              <a:gs pos="100000">
                <a:srgbClr val="DFEDB6"/>
              </a:gs>
            </a:gsLst>
            <a:lin ang="0" scaled="1"/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517" name="515 Second strategy update panel"/>
          <p:cNvSpPr/>
          <p:nvPr/>
        </p:nvSpPr>
        <p:spPr>
          <a:xfrm>
            <a:off x="10314432" y="9317736"/>
            <a:ext cx="2697480" cy="2157984"/>
          </a:xfrm>
          <a:prstGeom prst="roundRect">
            <a:avLst>
              <a:gd name="adj" fmla="val 17372"/>
            </a:avLst>
          </a:prstGeom>
          <a:ln w="33832">
            <a:solidFill>
              <a:srgbClr val="AAAAAA"/>
            </a:solidFill>
            <a:prstDash val="dash"/>
          </a:ln>
          <a:effectLst/>
          <a:gradFill rotWithShape="1">
            <a:gsLst>
              <a:gs pos="0">
                <a:srgbClr val="FFEEEE"/>
              </a:gs>
              <a:gs pos="100000">
                <a:srgbClr val="DFEDB6"/>
              </a:gs>
            </a:gsLst>
            <a:lin ang="0" scaled="1"/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518" name="516 Second self-reflection title"/>
          <p:cNvSpPr txBox="1"/>
          <p:nvPr/>
        </p:nvSpPr>
        <p:spPr>
          <a:xfrm>
            <a:off x="3730752" y="9386316"/>
            <a:ext cx="2752344" cy="2555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>
                <a:solidFill>
                  <a:srgbClr val="000000"/>
                </a:solidFill>
                <a:latin typeface="Arial"/>
                <a:ea typeface="Arial"/>
              </a:rPr>
              <a:t>Self-Reflection</a:t>
            </a:r>
          </a:p>
        </p:txBody>
      </p:sp>
      <p:sp>
        <p:nvSpPr>
          <p:cNvPr id="519" name="517 Second reason analysis label"/>
          <p:cNvSpPr txBox="1"/>
          <p:nvPr/>
        </p:nvSpPr>
        <p:spPr>
          <a:xfrm>
            <a:off x="3758184" y="9710928"/>
            <a:ext cx="268833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Arial"/>
                <a:ea typeface="Arial"/>
              </a:rPr>
              <a:t>Reason Analysis</a:t>
            </a:r>
          </a:p>
        </p:txBody>
      </p:sp>
      <p:sp>
        <p:nvSpPr>
          <p:cNvPr id="520" name="518 Second analysis line 1 bullet"/>
          <p:cNvSpPr txBox="1"/>
          <p:nvPr/>
        </p:nvSpPr>
        <p:spPr>
          <a:xfrm>
            <a:off x="3758184" y="9939528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521" name="519 Second analysis line 1"/>
          <p:cNvSpPr txBox="1"/>
          <p:nvPr/>
        </p:nvSpPr>
        <p:spPr>
          <a:xfrm>
            <a:off x="3968496" y="9939528"/>
            <a:ext cx="248716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More information is needed</a:t>
            </a:r>
          </a:p>
        </p:txBody>
      </p:sp>
      <p:sp>
        <p:nvSpPr>
          <p:cNvPr id="522" name="520 Second analysis line 2"/>
          <p:cNvSpPr txBox="1"/>
          <p:nvPr/>
        </p:nvSpPr>
        <p:spPr>
          <a:xfrm>
            <a:off x="3968496" y="10158984"/>
            <a:ext cx="2496312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to determine if the woman's</a:t>
            </a:r>
          </a:p>
        </p:txBody>
      </p:sp>
      <p:sp>
        <p:nvSpPr>
          <p:cNvPr id="523" name="521 Second analysis line 3"/>
          <p:cNvSpPr txBox="1"/>
          <p:nvPr/>
        </p:nvSpPr>
        <p:spPr>
          <a:xfrm>
            <a:off x="3968496" y="10387584"/>
            <a:ext cx="2496312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behavior...</a:t>
            </a:r>
          </a:p>
        </p:txBody>
      </p:sp>
      <p:sp>
        <p:nvSpPr>
          <p:cNvPr id="524" name="522 Second tools to use label"/>
          <p:cNvSpPr txBox="1"/>
          <p:nvPr/>
        </p:nvSpPr>
        <p:spPr>
          <a:xfrm>
            <a:off x="3758184" y="10625328"/>
            <a:ext cx="269748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Arial"/>
                <a:ea typeface="Arial"/>
              </a:rPr>
              <a:t>Tools to use</a:t>
            </a:r>
          </a:p>
        </p:txBody>
      </p:sp>
      <p:sp>
        <p:nvSpPr>
          <p:cNvPr id="525" name="523 Second required tool 1 bullet"/>
          <p:cNvSpPr txBox="1"/>
          <p:nvPr/>
        </p:nvSpPr>
        <p:spPr>
          <a:xfrm>
            <a:off x="3758184" y="10844784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526" name="524 Second required tool 1"/>
          <p:cNvSpPr txBox="1"/>
          <p:nvPr/>
        </p:nvSpPr>
        <p:spPr>
          <a:xfrm>
            <a:off x="3968496" y="10844784"/>
            <a:ext cx="248716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Image Retrive</a:t>
            </a:r>
          </a:p>
        </p:txBody>
      </p:sp>
      <p:sp>
        <p:nvSpPr>
          <p:cNvPr id="527" name="525 Second required tool 2 bullet"/>
          <p:cNvSpPr txBox="1"/>
          <p:nvPr/>
        </p:nvSpPr>
        <p:spPr>
          <a:xfrm>
            <a:off x="3758184" y="11073384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528" name="526 Second required tool 2"/>
          <p:cNvSpPr txBox="1"/>
          <p:nvPr/>
        </p:nvSpPr>
        <p:spPr>
          <a:xfrm>
            <a:off x="3968496" y="11073384"/>
            <a:ext cx="248716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Web Search</a:t>
            </a:r>
          </a:p>
        </p:txBody>
      </p:sp>
      <p:pic>
        <p:nvPicPr>
          <p:cNvPr id="529" name="527 Retrieve video icon" descr="film_small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775704" y="9436608"/>
            <a:ext cx="475488" cy="438912"/>
          </a:xfrm>
          <a:prstGeom prst="rect">
            <a:avLst/>
          </a:prstGeom>
        </p:spPr>
      </p:pic>
      <p:pic>
        <p:nvPicPr>
          <p:cNvPr id="530" name="528 Retrieve tool icon" descr="retrieve_small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516368" y="9381744"/>
            <a:ext cx="274320" cy="310896"/>
          </a:xfrm>
          <a:prstGeom prst="rect">
            <a:avLst/>
          </a:prstGeom>
        </p:spPr>
      </p:pic>
      <p:sp>
        <p:nvSpPr>
          <p:cNvPr id="531" name="529 Image retrieval label"/>
          <p:cNvSpPr txBox="1"/>
          <p:nvPr/>
        </p:nvSpPr>
        <p:spPr>
          <a:xfrm>
            <a:off x="7808976" y="9445752"/>
            <a:ext cx="1673352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Image Retrive</a:t>
            </a:r>
          </a:p>
        </p:txBody>
      </p:sp>
      <p:sp>
        <p:nvSpPr>
          <p:cNvPr id="532" name="530 Image retrieval transform shaft"/>
          <p:cNvSpPr/>
          <p:nvPr/>
        </p:nvSpPr>
        <p:spPr>
          <a:xfrm>
            <a:off x="7699248" y="9720072"/>
            <a:ext cx="1051560" cy="91"/>
          </a:xfrm>
          <a:custGeom>
            <a:avLst/>
            <a:gdLst/>
            <a:ahLst/>
            <a:cxnLst/>
            <a:rect l="0" t="0" r="r" b="b"/>
            <a:pathLst>
              <a:path w="1051560" h="91">
                <a:moveTo>
                  <a:pt x="0" y="0"/>
                </a:moveTo>
                <a:lnTo>
                  <a:pt x="1051560" y="0"/>
                </a:lnTo>
              </a:path>
            </a:pathLst>
          </a:custGeom>
          <a:noFill/>
          <a:ln w="16459">
            <a:solidFill>
              <a:srgbClr val="56A1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3" name="531 Image retrieval transform arrowhead"/>
          <p:cNvSpPr/>
          <p:nvPr/>
        </p:nvSpPr>
        <p:spPr>
          <a:xfrm>
            <a:off x="8750808" y="9676181"/>
            <a:ext cx="91440" cy="87782"/>
          </a:xfrm>
          <a:custGeom>
            <a:avLst/>
            <a:gdLst/>
            <a:ahLst/>
            <a:cxnLst/>
            <a:rect l="0" t="0" r="r" b="b"/>
            <a:pathLst>
              <a:path w="91440" h="87782">
                <a:moveTo>
                  <a:pt x="91440" y="43891"/>
                </a:moveTo>
                <a:lnTo>
                  <a:pt x="0" y="87782"/>
                </a:lnTo>
                <a:lnTo>
                  <a:pt x="0" y="0"/>
                </a:lnTo>
                <a:close/>
              </a:path>
            </a:pathLst>
          </a:custGeom>
          <a:solidFill>
            <a:srgbClr val="56A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34" name="532 Retrieved video frames" descr="retrieved_stack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299448" y="9400032"/>
            <a:ext cx="786384" cy="557784"/>
          </a:xfrm>
          <a:prstGeom prst="rect">
            <a:avLst/>
          </a:prstGeom>
        </p:spPr>
      </p:pic>
      <p:sp>
        <p:nvSpPr>
          <p:cNvPr id="535" name="533 Image retrieval query line 1"/>
          <p:cNvSpPr txBox="1"/>
          <p:nvPr/>
        </p:nvSpPr>
        <p:spPr>
          <a:xfrm>
            <a:off x="7040880" y="9884664"/>
            <a:ext cx="3081528" cy="1961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0">
                <a:solidFill>
                  <a:srgbClr val="000000"/>
                </a:solidFill>
                <a:latin typeface="Arial"/>
                <a:ea typeface="Arial"/>
              </a:rPr>
              <a:t>Retrive query: A woman is suspiciously</a:t>
            </a:r>
          </a:p>
        </p:txBody>
      </p:sp>
      <p:sp>
        <p:nvSpPr>
          <p:cNvPr id="536" name="534 Image retrieval query line 2"/>
          <p:cNvSpPr txBox="1"/>
          <p:nvPr/>
        </p:nvSpPr>
        <p:spPr>
          <a:xfrm>
            <a:off x="7040880" y="10067544"/>
            <a:ext cx="3081528" cy="1961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0">
                <a:solidFill>
                  <a:srgbClr val="000000"/>
                </a:solidFill>
                <a:latin typeface="Arial"/>
                <a:ea typeface="Arial"/>
              </a:rPr>
              <a:t>browsing items in the store.</a:t>
            </a:r>
          </a:p>
        </p:txBody>
      </p:sp>
      <p:pic>
        <p:nvPicPr>
          <p:cNvPr id="537" name="535 Web search monitor" descr="monitor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766560" y="10515600"/>
            <a:ext cx="466344" cy="457200"/>
          </a:xfrm>
          <a:prstGeom prst="rect">
            <a:avLst/>
          </a:prstGeom>
        </p:spPr>
      </p:pic>
      <p:pic>
        <p:nvPicPr>
          <p:cNvPr id="538" name="536 Web search small icon" descr="web_small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98080" y="10387584"/>
            <a:ext cx="292608" cy="301752"/>
          </a:xfrm>
          <a:prstGeom prst="rect">
            <a:avLst/>
          </a:prstGeom>
        </p:spPr>
      </p:pic>
      <p:sp>
        <p:nvSpPr>
          <p:cNvPr id="539" name="537 Web search invocation label"/>
          <p:cNvSpPr txBox="1"/>
          <p:nvPr/>
        </p:nvSpPr>
        <p:spPr>
          <a:xfrm>
            <a:off x="7808976" y="10479024"/>
            <a:ext cx="132588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Web Search</a:t>
            </a:r>
          </a:p>
        </p:txBody>
      </p:sp>
      <p:sp>
        <p:nvSpPr>
          <p:cNvPr id="540" name="538 Web search transform shaft"/>
          <p:cNvSpPr/>
          <p:nvPr/>
        </p:nvSpPr>
        <p:spPr>
          <a:xfrm>
            <a:off x="7699248" y="10744200"/>
            <a:ext cx="1051560" cy="91"/>
          </a:xfrm>
          <a:custGeom>
            <a:avLst/>
            <a:gdLst/>
            <a:ahLst/>
            <a:cxnLst/>
            <a:rect l="0" t="0" r="r" b="b"/>
            <a:pathLst>
              <a:path w="1051560" h="91">
                <a:moveTo>
                  <a:pt x="0" y="0"/>
                </a:moveTo>
                <a:lnTo>
                  <a:pt x="1051560" y="0"/>
                </a:lnTo>
              </a:path>
            </a:pathLst>
          </a:custGeom>
          <a:noFill/>
          <a:ln w="16459">
            <a:solidFill>
              <a:srgbClr val="56A1D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1" name="539 Web search transform arrowhead"/>
          <p:cNvSpPr/>
          <p:nvPr/>
        </p:nvSpPr>
        <p:spPr>
          <a:xfrm>
            <a:off x="8750808" y="10700309"/>
            <a:ext cx="91440" cy="87782"/>
          </a:xfrm>
          <a:custGeom>
            <a:avLst/>
            <a:gdLst/>
            <a:ahLst/>
            <a:cxnLst/>
            <a:rect l="0" t="0" r="r" b="b"/>
            <a:pathLst>
              <a:path w="91440" h="87782">
                <a:moveTo>
                  <a:pt x="91440" y="43891"/>
                </a:moveTo>
                <a:lnTo>
                  <a:pt x="0" y="87782"/>
                </a:lnTo>
                <a:lnTo>
                  <a:pt x="0" y="0"/>
                </a:lnTo>
                <a:close/>
              </a:path>
            </a:pathLst>
          </a:custGeom>
          <a:solidFill>
            <a:srgbClr val="56A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2" name="540 Web search query line 1"/>
          <p:cNvSpPr txBox="1"/>
          <p:nvPr/>
        </p:nvSpPr>
        <p:spPr>
          <a:xfrm>
            <a:off x="7333488" y="10826496"/>
            <a:ext cx="1719072" cy="1961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0">
                <a:solidFill>
                  <a:srgbClr val="000000"/>
                </a:solidFill>
                <a:latin typeface="Arial"/>
                <a:ea typeface="Arial"/>
              </a:rPr>
              <a:t>Search query: What are</a:t>
            </a:r>
          </a:p>
        </p:txBody>
      </p:sp>
      <p:sp>
        <p:nvSpPr>
          <p:cNvPr id="543" name="541 Web search query line 2"/>
          <p:cNvSpPr txBox="1"/>
          <p:nvPr/>
        </p:nvSpPr>
        <p:spPr>
          <a:xfrm>
            <a:off x="7333488" y="11018520"/>
            <a:ext cx="1655064" cy="1961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0">
                <a:solidFill>
                  <a:srgbClr val="000000"/>
                </a:solidFill>
                <a:latin typeface="Arial"/>
                <a:ea typeface="Arial"/>
              </a:rPr>
              <a:t>typical shoplifting</a:t>
            </a:r>
          </a:p>
        </p:txBody>
      </p:sp>
      <p:sp>
        <p:nvSpPr>
          <p:cNvPr id="544" name="542 Web search query line 3"/>
          <p:cNvSpPr txBox="1"/>
          <p:nvPr/>
        </p:nvSpPr>
        <p:spPr>
          <a:xfrm>
            <a:off x="7333488" y="11201400"/>
            <a:ext cx="1655064" cy="1961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8" b="0">
                <a:solidFill>
                  <a:srgbClr val="000000"/>
                </a:solidFill>
                <a:latin typeface="Arial"/>
                <a:ea typeface="Arial"/>
              </a:rPr>
              <a:t>behaviors in a store?</a:t>
            </a:r>
          </a:p>
        </p:txBody>
      </p:sp>
      <p:sp>
        <p:nvSpPr>
          <p:cNvPr id="545" name="543 Web evidence note"/>
          <p:cNvSpPr/>
          <p:nvPr/>
        </p:nvSpPr>
        <p:spPr>
          <a:xfrm>
            <a:off x="9025128" y="10341864"/>
            <a:ext cx="1106424" cy="795528"/>
          </a:xfrm>
          <a:custGeom>
            <a:avLst/>
            <a:gdLst/>
            <a:ahLst/>
            <a:cxnLst/>
            <a:rect l="0" t="0" r="r" b="b"/>
            <a:pathLst>
              <a:path w="1106424" h="795528">
                <a:moveTo>
                  <a:pt x="310896" y="0"/>
                </a:moveTo>
                <a:lnTo>
                  <a:pt x="1106424" y="0"/>
                </a:lnTo>
                <a:lnTo>
                  <a:pt x="1106424" y="484632"/>
                </a:lnTo>
                <a:cubicBezTo>
                  <a:pt x="1106424" y="667512"/>
                  <a:pt x="987552" y="795528"/>
                  <a:pt x="804672" y="795528"/>
                </a:cubicBezTo>
                <a:lnTo>
                  <a:pt x="0" y="795528"/>
                </a:lnTo>
                <a:lnTo>
                  <a:pt x="0" y="292608"/>
                </a:lnTo>
                <a:cubicBezTo>
                  <a:pt x="0" y="118872"/>
                  <a:pt x="128016" y="0"/>
                  <a:pt x="310896" y="0"/>
                </a:cubicBezTo>
                <a:close/>
              </a:path>
            </a:pathLst>
          </a:custGeom>
          <a:solidFill>
            <a:srgbClr val="D4D8DB"/>
          </a:solidFill>
          <a:ln w="12801">
            <a:solidFill>
              <a:srgbClr val="2381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6" name="544 Web evidence line 1"/>
          <p:cNvSpPr txBox="1"/>
          <p:nvPr/>
        </p:nvSpPr>
        <p:spPr>
          <a:xfrm>
            <a:off x="9107424" y="10433304"/>
            <a:ext cx="978408" cy="16047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>
                <a:solidFill>
                  <a:srgbClr val="000000"/>
                </a:solidFill>
                <a:latin typeface="Arial"/>
                <a:ea typeface="Arial"/>
              </a:rPr>
              <a:t>1. Customers put</a:t>
            </a:r>
          </a:p>
        </p:txBody>
      </p:sp>
      <p:sp>
        <p:nvSpPr>
          <p:cNvPr id="547" name="545 Web evidence line 2"/>
          <p:cNvSpPr txBox="1"/>
          <p:nvPr/>
        </p:nvSpPr>
        <p:spPr>
          <a:xfrm>
            <a:off x="9107424" y="10585094"/>
            <a:ext cx="978408" cy="16047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>
                <a:solidFill>
                  <a:srgbClr val="000000"/>
                </a:solidFill>
                <a:latin typeface="Arial"/>
                <a:ea typeface="Arial"/>
              </a:rPr>
              <a:t>unpaid items in</a:t>
            </a:r>
          </a:p>
        </p:txBody>
      </p:sp>
      <p:sp>
        <p:nvSpPr>
          <p:cNvPr id="548" name="546 Web evidence line 3"/>
          <p:cNvSpPr txBox="1"/>
          <p:nvPr/>
        </p:nvSpPr>
        <p:spPr>
          <a:xfrm>
            <a:off x="9107424" y="10736885"/>
            <a:ext cx="978408" cy="16047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>
                <a:solidFill>
                  <a:srgbClr val="000000"/>
                </a:solidFill>
                <a:latin typeface="Arial"/>
                <a:ea typeface="Arial"/>
              </a:rPr>
              <a:t>their bags...</a:t>
            </a:r>
          </a:p>
        </p:txBody>
      </p:sp>
      <p:sp>
        <p:nvSpPr>
          <p:cNvPr id="549" name="547 Web evidence line 4"/>
          <p:cNvSpPr txBox="1"/>
          <p:nvPr/>
        </p:nvSpPr>
        <p:spPr>
          <a:xfrm>
            <a:off x="9107424" y="10888675"/>
            <a:ext cx="978408" cy="16047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>
                <a:solidFill>
                  <a:srgbClr val="000000"/>
                </a:solidFill>
                <a:latin typeface="Arial"/>
                <a:ea typeface="Arial"/>
              </a:rPr>
              <a:t>2. Customers...</a:t>
            </a:r>
          </a:p>
        </p:txBody>
      </p:sp>
      <p:sp>
        <p:nvSpPr>
          <p:cNvPr id="550" name="548 Second strategy update title"/>
          <p:cNvSpPr txBox="1"/>
          <p:nvPr/>
        </p:nvSpPr>
        <p:spPr>
          <a:xfrm>
            <a:off x="10387584" y="9400032"/>
            <a:ext cx="2560320" cy="249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000000"/>
                </a:solidFill>
                <a:latin typeface="Arial"/>
                <a:ea typeface="Arial"/>
              </a:rPr>
              <a:t>Detection Strategy Update</a:t>
            </a:r>
          </a:p>
        </p:txBody>
      </p:sp>
      <p:sp>
        <p:nvSpPr>
          <p:cNvPr id="551" name="549 Second new anomaly rules label"/>
          <p:cNvSpPr txBox="1"/>
          <p:nvPr/>
        </p:nvSpPr>
        <p:spPr>
          <a:xfrm>
            <a:off x="10378440" y="9729216"/>
            <a:ext cx="2523744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Arial"/>
                <a:ea typeface="Arial"/>
              </a:rPr>
              <a:t>New Anomaly Rules</a:t>
            </a:r>
          </a:p>
        </p:txBody>
      </p:sp>
      <p:sp>
        <p:nvSpPr>
          <p:cNvPr id="552" name="550 Second new anomaly rules line 1 bullet"/>
          <p:cNvSpPr txBox="1"/>
          <p:nvPr/>
        </p:nvSpPr>
        <p:spPr>
          <a:xfrm>
            <a:off x="10378440" y="9957816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553" name="551 Second new anomaly rules line 1"/>
          <p:cNvSpPr txBox="1"/>
          <p:nvPr/>
        </p:nvSpPr>
        <p:spPr>
          <a:xfrm>
            <a:off x="10588752" y="9957816"/>
            <a:ext cx="2359152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Customers taking items</a:t>
            </a:r>
          </a:p>
        </p:txBody>
      </p:sp>
      <p:sp>
        <p:nvSpPr>
          <p:cNvPr id="554" name="552 Second new anomaly rules line 2"/>
          <p:cNvSpPr txBox="1"/>
          <p:nvPr/>
        </p:nvSpPr>
        <p:spPr>
          <a:xfrm>
            <a:off x="10588752" y="10186416"/>
            <a:ext cx="2295144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without paying...</a:t>
            </a:r>
          </a:p>
        </p:txBody>
      </p:sp>
      <p:sp>
        <p:nvSpPr>
          <p:cNvPr id="555" name="553 Second new heuristic label"/>
          <p:cNvSpPr txBox="1"/>
          <p:nvPr/>
        </p:nvSpPr>
        <p:spPr>
          <a:xfrm>
            <a:off x="10378440" y="10405872"/>
            <a:ext cx="253288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6" b="1">
                <a:solidFill>
                  <a:srgbClr val="000000"/>
                </a:solidFill>
                <a:latin typeface="Arial"/>
                <a:ea typeface="Arial"/>
              </a:rPr>
              <a:t>New Heuristic Prompt</a:t>
            </a:r>
          </a:p>
        </p:txBody>
      </p:sp>
      <p:sp>
        <p:nvSpPr>
          <p:cNvPr id="556" name="554 Second new heuristic line 1 bullet"/>
          <p:cNvSpPr txBox="1"/>
          <p:nvPr/>
        </p:nvSpPr>
        <p:spPr>
          <a:xfrm>
            <a:off x="10378440" y="10634472"/>
            <a:ext cx="128016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•</a:t>
            </a:r>
          </a:p>
        </p:txBody>
      </p:sp>
      <p:sp>
        <p:nvSpPr>
          <p:cNvPr id="557" name="555 Second new heuristic line 1"/>
          <p:cNvSpPr txBox="1"/>
          <p:nvPr/>
        </p:nvSpPr>
        <p:spPr>
          <a:xfrm>
            <a:off x="10588752" y="10634472"/>
            <a:ext cx="2359152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Focusing on the woman's</a:t>
            </a:r>
          </a:p>
        </p:txBody>
      </p:sp>
      <p:sp>
        <p:nvSpPr>
          <p:cNvPr id="558" name="556 Second new heuristic line 2"/>
          <p:cNvSpPr txBox="1"/>
          <p:nvPr/>
        </p:nvSpPr>
        <p:spPr>
          <a:xfrm>
            <a:off x="10588752" y="10863072"/>
            <a:ext cx="239572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interaction behavior with the</a:t>
            </a:r>
          </a:p>
        </p:txBody>
      </p:sp>
      <p:sp>
        <p:nvSpPr>
          <p:cNvPr id="559" name="557 Second new heuristic line 3"/>
          <p:cNvSpPr txBox="1"/>
          <p:nvPr/>
        </p:nvSpPr>
        <p:spPr>
          <a:xfrm>
            <a:off x="10588752" y="11082528"/>
            <a:ext cx="239572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items...</a:t>
            </a:r>
          </a:p>
        </p:txBody>
      </p:sp>
      <p:sp>
        <p:nvSpPr>
          <p:cNvPr id="560" name="558 Second replan to reasoning"/>
          <p:cNvSpPr/>
          <p:nvPr/>
        </p:nvSpPr>
        <p:spPr>
          <a:xfrm>
            <a:off x="13139928" y="9966960"/>
            <a:ext cx="265176" cy="292608"/>
          </a:xfrm>
          <a:custGeom>
            <a:avLst/>
            <a:gdLst/>
            <a:ahLst/>
            <a:cxnLst/>
            <a:rect l="0" t="0" r="r" b="b"/>
            <a:pathLst>
              <a:path w="265176" h="292608">
                <a:moveTo>
                  <a:pt x="0" y="67300"/>
                </a:moveTo>
                <a:lnTo>
                  <a:pt x="148499" y="67300"/>
                </a:lnTo>
                <a:lnTo>
                  <a:pt x="148499" y="0"/>
                </a:lnTo>
                <a:lnTo>
                  <a:pt x="265176" y="146304"/>
                </a:lnTo>
                <a:lnTo>
                  <a:pt x="148499" y="292608"/>
                </a:lnTo>
                <a:lnTo>
                  <a:pt x="148499" y="225308"/>
                </a:lnTo>
                <a:lnTo>
                  <a:pt x="0" y="225308"/>
                </a:lnTo>
                <a:close/>
              </a:path>
            </a:pathLst>
          </a:custGeom>
          <a:ln>
            <a:noFill/>
          </a:ln>
          <a:effectLst/>
          <a:gradFill rotWithShape="1">
            <a:gsLst>
              <a:gs pos="0">
                <a:srgbClr val="FFE3CF"/>
              </a:gs>
              <a:gs pos="100000">
                <a:srgbClr val="F87925"/>
              </a:gs>
            </a:gsLst>
            <a:lin ang="5400000" scaled="1"/>
          </a:gradFill>
        </p:spPr>
        <p:txBody>
          <a:bodyPr rtlCol="0" anchor="ctr"/>
          <a:lstStyle/>
          <a:p>
            <a:pPr algn="ctr"/>
          </a:p>
        </p:txBody>
      </p:sp>
      <p:pic>
        <p:nvPicPr>
          <p:cNvPr id="561" name="559 Final VLM reasoning icon" descr="reason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5334488" y="8659368"/>
            <a:ext cx="466344" cy="429768"/>
          </a:xfrm>
          <a:prstGeom prst="rect">
            <a:avLst/>
          </a:prstGeom>
        </p:spPr>
      </p:pic>
      <p:sp>
        <p:nvSpPr>
          <p:cNvPr id="562" name="560 Final VLM reasoning label"/>
          <p:cNvSpPr txBox="1"/>
          <p:nvPr/>
        </p:nvSpPr>
        <p:spPr>
          <a:xfrm>
            <a:off x="14575536" y="9070848"/>
            <a:ext cx="1929384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VLM Reasoning</a:t>
            </a:r>
          </a:p>
        </p:txBody>
      </p:sp>
      <p:pic>
        <p:nvPicPr>
          <p:cNvPr id="563" name="561 Final engineer panda" descr="panda_final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7062704" y="8275320"/>
            <a:ext cx="640080" cy="932688"/>
          </a:xfrm>
          <a:prstGeom prst="rect">
            <a:avLst/>
          </a:prstGeom>
        </p:spPr>
      </p:pic>
      <p:sp>
        <p:nvSpPr>
          <p:cNvPr id="564" name="562 Final reasoning title box"/>
          <p:cNvSpPr/>
          <p:nvPr/>
        </p:nvSpPr>
        <p:spPr>
          <a:xfrm>
            <a:off x="13670280" y="9436608"/>
            <a:ext cx="3721608" cy="301752"/>
          </a:xfrm>
          <a:prstGeom prst="rect">
            <a:avLst/>
          </a:prstGeom>
          <a:solidFill>
            <a:srgbClr val="F1F1F1"/>
          </a:solidFill>
          <a:ln w="21945">
            <a:solidFill>
              <a:srgbClr val="BFC3B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5" name="563 Final reasoning result title"/>
          <p:cNvSpPr txBox="1"/>
          <p:nvPr/>
        </p:nvSpPr>
        <p:spPr>
          <a:xfrm>
            <a:off x="13761720" y="9486900"/>
            <a:ext cx="3538728" cy="2555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1">
                <a:solidFill>
                  <a:srgbClr val="000000"/>
                </a:solidFill>
                <a:latin typeface="Arial"/>
                <a:ea typeface="Arial"/>
              </a:rPr>
              <a:t>Refined Reasoning Results</a:t>
            </a:r>
          </a:p>
        </p:txBody>
      </p:sp>
      <p:sp>
        <p:nvSpPr>
          <p:cNvPr id="566" name="564 Final reasoning body"/>
          <p:cNvSpPr/>
          <p:nvPr/>
        </p:nvSpPr>
        <p:spPr>
          <a:xfrm>
            <a:off x="13670280" y="9829800"/>
            <a:ext cx="3721608" cy="1453896"/>
          </a:xfrm>
          <a:prstGeom prst="rect">
            <a:avLst/>
          </a:prstGeom>
          <a:solidFill>
            <a:srgbClr val="FAE4D6"/>
          </a:solidFill>
          <a:ln w="21945">
            <a:solidFill>
              <a:srgbClr val="BFC3B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7" name="565 Final status"/>
          <p:cNvSpPr txBox="1"/>
          <p:nvPr/>
        </p:nvSpPr>
        <p:spPr>
          <a:xfrm>
            <a:off x="13780008" y="9994392"/>
            <a:ext cx="3520440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Status: </a:t>
            </a:r>
            <a:r>
              <a:rPr sz="1497" b="0">
                <a:solidFill>
                  <a:srgbClr val="BFBFBF"/>
                </a:solidFill>
                <a:latin typeface="Arial"/>
                <a:ea typeface="Arial"/>
              </a:rPr>
              <a:t>Normal / </a:t>
            </a:r>
            <a:r>
              <a:rPr sz="1497" b="0">
                <a:solidFill>
                  <a:srgbClr val="FF0000"/>
                </a:solidFill>
                <a:latin typeface="Arial"/>
                <a:ea typeface="Arial"/>
              </a:rPr>
              <a:t>Abnormal</a:t>
            </a:r>
            <a:r>
              <a:rPr sz="1497" b="0">
                <a:solidFill>
                  <a:srgbClr val="BFBFBF"/>
                </a:solidFill>
                <a:latin typeface="Arial"/>
                <a:ea typeface="Arial"/>
              </a:rPr>
              <a:t> / Insufficient</a:t>
            </a:r>
          </a:p>
        </p:txBody>
      </p:sp>
      <p:sp>
        <p:nvSpPr>
          <p:cNvPr id="568" name="566 Final anomaly score"/>
          <p:cNvSpPr txBox="1"/>
          <p:nvPr/>
        </p:nvSpPr>
        <p:spPr>
          <a:xfrm>
            <a:off x="13780008" y="10222992"/>
            <a:ext cx="349300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Score: 0.9</a:t>
            </a:r>
          </a:p>
        </p:txBody>
      </p:sp>
      <p:sp>
        <p:nvSpPr>
          <p:cNvPr id="569" name="567 Final reason line 1"/>
          <p:cNvSpPr txBox="1"/>
          <p:nvPr/>
        </p:nvSpPr>
        <p:spPr>
          <a:xfrm>
            <a:off x="13780008" y="10442448"/>
            <a:ext cx="3538728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000000"/>
                </a:solidFill>
                <a:latin typeface="Arial"/>
                <a:ea typeface="Arial"/>
              </a:rPr>
              <a:t>Reason: </a:t>
            </a:r>
            <a:r>
              <a:rPr sz="1497" b="0">
                <a:solidFill>
                  <a:srgbClr val="FF0000"/>
                </a:solidFill>
                <a:latin typeface="Arial"/>
                <a:ea typeface="Arial"/>
              </a:rPr>
              <a:t>The woman carrying the bag on</a:t>
            </a:r>
          </a:p>
        </p:txBody>
      </p:sp>
      <p:sp>
        <p:nvSpPr>
          <p:cNvPr id="570" name="568 Final reason line 2"/>
          <p:cNvSpPr txBox="1"/>
          <p:nvPr/>
        </p:nvSpPr>
        <p:spPr>
          <a:xfrm>
            <a:off x="13780008" y="10671048"/>
            <a:ext cx="3547872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FF0000"/>
                </a:solidFill>
                <a:latin typeface="Arial"/>
                <a:ea typeface="Arial"/>
              </a:rPr>
              <a:t>her back without paying, which is a</a:t>
            </a:r>
          </a:p>
        </p:txBody>
      </p:sp>
      <p:sp>
        <p:nvSpPr>
          <p:cNvPr id="571" name="569 Final reason line 3"/>
          <p:cNvSpPr txBox="1"/>
          <p:nvPr/>
        </p:nvSpPr>
        <p:spPr>
          <a:xfrm>
            <a:off x="13780008" y="10899648"/>
            <a:ext cx="3547872" cy="243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97" b="0">
                <a:solidFill>
                  <a:srgbClr val="FF0000"/>
                </a:solidFill>
                <a:latin typeface="Arial"/>
                <a:ea typeface="Arial"/>
              </a:rPr>
              <a:t>typical shoplifting event.</a:t>
            </a:r>
          </a:p>
        </p:txBody>
      </p:sp>
      <p:sp>
        <p:nvSpPr>
          <p:cNvPr id="572" name="570 Short CoM white center"/>
          <p:cNvSpPr/>
          <p:nvPr/>
        </p:nvSpPr>
        <p:spPr>
          <a:xfrm>
            <a:off x="12646152" y="4425696"/>
            <a:ext cx="1170432" cy="11704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3" name="571 Short CoM upper right arrow"/>
          <p:cNvSpPr/>
          <p:nvPr/>
        </p:nvSpPr>
        <p:spPr>
          <a:xfrm>
            <a:off x="13294887" y="4393755"/>
            <a:ext cx="619654" cy="908210"/>
          </a:xfrm>
          <a:custGeom>
            <a:avLst/>
            <a:gdLst/>
            <a:ahLst/>
            <a:cxnLst/>
            <a:rect l="0" t="0" r="r" b="b"/>
            <a:pathLst>
              <a:path w="619654" h="908210">
                <a:moveTo>
                  <a:pt x="12258" y="0"/>
                </a:moveTo>
                <a:lnTo>
                  <a:pt x="38303" y="3759"/>
                </a:lnTo>
                <a:lnTo>
                  <a:pt x="64166" y="8617"/>
                </a:lnTo>
                <a:lnTo>
                  <a:pt x="89800" y="14564"/>
                </a:lnTo>
                <a:lnTo>
                  <a:pt x="115159" y="21591"/>
                </a:lnTo>
                <a:lnTo>
                  <a:pt x="140199" y="29684"/>
                </a:lnTo>
                <a:lnTo>
                  <a:pt x="164873" y="38830"/>
                </a:lnTo>
                <a:lnTo>
                  <a:pt x="189138" y="49012"/>
                </a:lnTo>
                <a:lnTo>
                  <a:pt x="212951" y="60211"/>
                </a:lnTo>
                <a:lnTo>
                  <a:pt x="236269" y="72408"/>
                </a:lnTo>
                <a:lnTo>
                  <a:pt x="259050" y="85580"/>
                </a:lnTo>
                <a:lnTo>
                  <a:pt x="281253" y="99704"/>
                </a:lnTo>
                <a:lnTo>
                  <a:pt x="302838" y="114756"/>
                </a:lnTo>
                <a:lnTo>
                  <a:pt x="323768" y="130707"/>
                </a:lnTo>
                <a:lnTo>
                  <a:pt x="344003" y="147529"/>
                </a:lnTo>
                <a:lnTo>
                  <a:pt x="363509" y="165193"/>
                </a:lnTo>
                <a:lnTo>
                  <a:pt x="382250" y="183666"/>
                </a:lnTo>
                <a:lnTo>
                  <a:pt x="400193" y="202915"/>
                </a:lnTo>
                <a:lnTo>
                  <a:pt x="417305" y="222906"/>
                </a:lnTo>
                <a:lnTo>
                  <a:pt x="433555" y="243604"/>
                </a:lnTo>
                <a:lnTo>
                  <a:pt x="448916" y="264970"/>
                </a:lnTo>
                <a:lnTo>
                  <a:pt x="463358" y="286968"/>
                </a:lnTo>
                <a:lnTo>
                  <a:pt x="476857" y="309556"/>
                </a:lnTo>
                <a:lnTo>
                  <a:pt x="489389" y="332696"/>
                </a:lnTo>
                <a:lnTo>
                  <a:pt x="500929" y="356345"/>
                </a:lnTo>
                <a:lnTo>
                  <a:pt x="511459" y="380462"/>
                </a:lnTo>
                <a:lnTo>
                  <a:pt x="520959" y="405002"/>
                </a:lnTo>
                <a:lnTo>
                  <a:pt x="529413" y="429922"/>
                </a:lnTo>
                <a:lnTo>
                  <a:pt x="536804" y="455178"/>
                </a:lnTo>
                <a:lnTo>
                  <a:pt x="543120" y="480723"/>
                </a:lnTo>
                <a:lnTo>
                  <a:pt x="548349" y="506513"/>
                </a:lnTo>
                <a:lnTo>
                  <a:pt x="552483" y="532502"/>
                </a:lnTo>
                <a:lnTo>
                  <a:pt x="555513" y="558641"/>
                </a:lnTo>
                <a:lnTo>
                  <a:pt x="557435" y="584886"/>
                </a:lnTo>
                <a:lnTo>
                  <a:pt x="558244" y="611189"/>
                </a:lnTo>
                <a:lnTo>
                  <a:pt x="557940" y="637502"/>
                </a:lnTo>
                <a:lnTo>
                  <a:pt x="556522" y="663778"/>
                </a:lnTo>
                <a:lnTo>
                  <a:pt x="553995" y="689972"/>
                </a:lnTo>
                <a:lnTo>
                  <a:pt x="550361" y="716034"/>
                </a:lnTo>
                <a:lnTo>
                  <a:pt x="545627" y="741920"/>
                </a:lnTo>
                <a:lnTo>
                  <a:pt x="539803" y="767582"/>
                </a:lnTo>
                <a:lnTo>
                  <a:pt x="619654" y="787492"/>
                </a:lnTo>
                <a:lnTo>
                  <a:pt x="428315" y="908210"/>
                </a:lnTo>
                <a:lnTo>
                  <a:pt x="371228" y="725552"/>
                </a:lnTo>
                <a:lnTo>
                  <a:pt x="442207" y="743249"/>
                </a:lnTo>
                <a:lnTo>
                  <a:pt x="447089" y="721738"/>
                </a:lnTo>
                <a:lnTo>
                  <a:pt x="451057" y="700040"/>
                </a:lnTo>
                <a:lnTo>
                  <a:pt x="454103" y="678193"/>
                </a:lnTo>
                <a:lnTo>
                  <a:pt x="456222" y="656237"/>
                </a:lnTo>
                <a:lnTo>
                  <a:pt x="457410" y="634211"/>
                </a:lnTo>
                <a:lnTo>
                  <a:pt x="457665" y="612154"/>
                </a:lnTo>
                <a:lnTo>
                  <a:pt x="456986" y="590106"/>
                </a:lnTo>
                <a:lnTo>
                  <a:pt x="455376" y="568107"/>
                </a:lnTo>
                <a:lnTo>
                  <a:pt x="452836" y="546196"/>
                </a:lnTo>
                <a:lnTo>
                  <a:pt x="449371" y="524412"/>
                </a:lnTo>
                <a:lnTo>
                  <a:pt x="444987" y="502794"/>
                </a:lnTo>
                <a:lnTo>
                  <a:pt x="439693" y="481380"/>
                </a:lnTo>
                <a:lnTo>
                  <a:pt x="433497" y="460210"/>
                </a:lnTo>
                <a:lnTo>
                  <a:pt x="426411" y="439321"/>
                </a:lnTo>
                <a:lnTo>
                  <a:pt x="418448" y="418751"/>
                </a:lnTo>
                <a:lnTo>
                  <a:pt x="409622" y="398535"/>
                </a:lnTo>
                <a:lnTo>
                  <a:pt x="399948" y="378712"/>
                </a:lnTo>
                <a:lnTo>
                  <a:pt x="389444" y="359315"/>
                </a:lnTo>
                <a:lnTo>
                  <a:pt x="378128" y="340381"/>
                </a:lnTo>
                <a:lnTo>
                  <a:pt x="366022" y="321942"/>
                </a:lnTo>
                <a:lnTo>
                  <a:pt x="353146" y="304032"/>
                </a:lnTo>
                <a:lnTo>
                  <a:pt x="339524" y="286682"/>
                </a:lnTo>
                <a:lnTo>
                  <a:pt x="325180" y="269925"/>
                </a:lnTo>
                <a:lnTo>
                  <a:pt x="310140" y="253789"/>
                </a:lnTo>
                <a:lnTo>
                  <a:pt x="294431" y="238305"/>
                </a:lnTo>
                <a:lnTo>
                  <a:pt x="278081" y="223498"/>
                </a:lnTo>
                <a:lnTo>
                  <a:pt x="261118" y="209397"/>
                </a:lnTo>
                <a:lnTo>
                  <a:pt x="243575" y="196026"/>
                </a:lnTo>
                <a:lnTo>
                  <a:pt x="225481" y="183410"/>
                </a:lnTo>
                <a:lnTo>
                  <a:pt x="206869" y="171570"/>
                </a:lnTo>
                <a:lnTo>
                  <a:pt x="187774" y="160529"/>
                </a:lnTo>
                <a:lnTo>
                  <a:pt x="168228" y="150305"/>
                </a:lnTo>
                <a:lnTo>
                  <a:pt x="148267" y="140918"/>
                </a:lnTo>
                <a:lnTo>
                  <a:pt x="127927" y="132383"/>
                </a:lnTo>
                <a:lnTo>
                  <a:pt x="107244" y="124717"/>
                </a:lnTo>
                <a:lnTo>
                  <a:pt x="86255" y="117933"/>
                </a:lnTo>
                <a:lnTo>
                  <a:pt x="64998" y="112042"/>
                </a:lnTo>
                <a:lnTo>
                  <a:pt x="43511" y="107057"/>
                </a:lnTo>
                <a:lnTo>
                  <a:pt x="21832" y="102985"/>
                </a:lnTo>
                <a:lnTo>
                  <a:pt x="0" y="99834"/>
                </a:lnTo>
                <a:close/>
              </a:path>
            </a:pathLst>
          </a:custGeom>
          <a:ln>
            <a:noFill/>
          </a:ln>
          <a:effectLst/>
          <a:gradFill rotWithShape="1">
            <a:gsLst>
              <a:gs pos="0">
                <a:srgbClr val="FFDCC4"/>
              </a:gs>
              <a:gs pos="100000">
                <a:srgbClr val="ED721D"/>
              </a:gs>
            </a:gsLst>
            <a:lin ang="5400000" scaled="1"/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574" name="572 Short CoM lower arrow"/>
          <p:cNvSpPr/>
          <p:nvPr/>
        </p:nvSpPr>
        <p:spPr>
          <a:xfrm>
            <a:off x="12716431" y="5264880"/>
            <a:ext cx="991258" cy="367743"/>
          </a:xfrm>
          <a:custGeom>
            <a:avLst/>
            <a:gdLst/>
            <a:ahLst/>
            <a:cxnLst/>
            <a:rect l="0" t="0" r="r" b="b"/>
            <a:pathLst>
              <a:path w="991258" h="367743">
                <a:moveTo>
                  <a:pt x="991258" y="145712"/>
                </a:moveTo>
                <a:lnTo>
                  <a:pt x="973920" y="165508"/>
                </a:lnTo>
                <a:lnTo>
                  <a:pt x="955760" y="184553"/>
                </a:lnTo>
                <a:lnTo>
                  <a:pt x="936811" y="202812"/>
                </a:lnTo>
                <a:lnTo>
                  <a:pt x="917106" y="220253"/>
                </a:lnTo>
                <a:lnTo>
                  <a:pt x="896681" y="236845"/>
                </a:lnTo>
                <a:lnTo>
                  <a:pt x="875572" y="252557"/>
                </a:lnTo>
                <a:lnTo>
                  <a:pt x="853817" y="267363"/>
                </a:lnTo>
                <a:lnTo>
                  <a:pt x="831455" y="281234"/>
                </a:lnTo>
                <a:lnTo>
                  <a:pt x="808527" y="294148"/>
                </a:lnTo>
                <a:lnTo>
                  <a:pt x="785072" y="306079"/>
                </a:lnTo>
                <a:lnTo>
                  <a:pt x="761134" y="317007"/>
                </a:lnTo>
                <a:lnTo>
                  <a:pt x="736754" y="326913"/>
                </a:lnTo>
                <a:lnTo>
                  <a:pt x="711978" y="335778"/>
                </a:lnTo>
                <a:lnTo>
                  <a:pt x="686848" y="343587"/>
                </a:lnTo>
                <a:lnTo>
                  <a:pt x="661411" y="350326"/>
                </a:lnTo>
                <a:lnTo>
                  <a:pt x="635711" y="355982"/>
                </a:lnTo>
                <a:lnTo>
                  <a:pt x="609795" y="360546"/>
                </a:lnTo>
                <a:lnTo>
                  <a:pt x="583709" y="364009"/>
                </a:lnTo>
                <a:lnTo>
                  <a:pt x="557499" y="366366"/>
                </a:lnTo>
                <a:lnTo>
                  <a:pt x="531214" y="367611"/>
                </a:lnTo>
                <a:lnTo>
                  <a:pt x="504899" y="367743"/>
                </a:lnTo>
                <a:lnTo>
                  <a:pt x="478603" y="366761"/>
                </a:lnTo>
                <a:lnTo>
                  <a:pt x="452371" y="364668"/>
                </a:lnTo>
                <a:lnTo>
                  <a:pt x="426252" y="361467"/>
                </a:lnTo>
                <a:lnTo>
                  <a:pt x="400291" y="357163"/>
                </a:lnTo>
                <a:lnTo>
                  <a:pt x="374536" y="351765"/>
                </a:lnTo>
                <a:lnTo>
                  <a:pt x="349032" y="345282"/>
                </a:lnTo>
                <a:lnTo>
                  <a:pt x="323825" y="337726"/>
                </a:lnTo>
                <a:lnTo>
                  <a:pt x="298961" y="329110"/>
                </a:lnTo>
                <a:lnTo>
                  <a:pt x="274484" y="319449"/>
                </a:lnTo>
                <a:lnTo>
                  <a:pt x="250437" y="308762"/>
                </a:lnTo>
                <a:lnTo>
                  <a:pt x="226864" y="297066"/>
                </a:lnTo>
                <a:lnTo>
                  <a:pt x="203806" y="284384"/>
                </a:lnTo>
                <a:lnTo>
                  <a:pt x="181307" y="270737"/>
                </a:lnTo>
                <a:lnTo>
                  <a:pt x="159404" y="256151"/>
                </a:lnTo>
                <a:lnTo>
                  <a:pt x="138139" y="240651"/>
                </a:lnTo>
                <a:lnTo>
                  <a:pt x="117548" y="224265"/>
                </a:lnTo>
                <a:lnTo>
                  <a:pt x="97669" y="207023"/>
                </a:lnTo>
                <a:lnTo>
                  <a:pt x="78537" y="188955"/>
                </a:lnTo>
                <a:lnTo>
                  <a:pt x="60187" y="170093"/>
                </a:lnTo>
                <a:lnTo>
                  <a:pt x="0" y="226219"/>
                </a:lnTo>
                <a:lnTo>
                  <a:pt x="2968" y="0"/>
                </a:lnTo>
                <a:lnTo>
                  <a:pt x="187250" y="51605"/>
                </a:lnTo>
                <a:lnTo>
                  <a:pt x="133750" y="101495"/>
                </a:lnTo>
                <a:lnTo>
                  <a:pt x="149132" y="117305"/>
                </a:lnTo>
                <a:lnTo>
                  <a:pt x="165168" y="132451"/>
                </a:lnTo>
                <a:lnTo>
                  <a:pt x="181832" y="146904"/>
                </a:lnTo>
                <a:lnTo>
                  <a:pt x="199091" y="160639"/>
                </a:lnTo>
                <a:lnTo>
                  <a:pt x="216917" y="173632"/>
                </a:lnTo>
                <a:lnTo>
                  <a:pt x="235276" y="185859"/>
                </a:lnTo>
                <a:lnTo>
                  <a:pt x="254136" y="197298"/>
                </a:lnTo>
                <a:lnTo>
                  <a:pt x="273464" y="207928"/>
                </a:lnTo>
                <a:lnTo>
                  <a:pt x="293224" y="217732"/>
                </a:lnTo>
                <a:lnTo>
                  <a:pt x="313381" y="226690"/>
                </a:lnTo>
                <a:lnTo>
                  <a:pt x="333898" y="234788"/>
                </a:lnTo>
                <a:lnTo>
                  <a:pt x="354741" y="242011"/>
                </a:lnTo>
                <a:lnTo>
                  <a:pt x="375870" y="248345"/>
                </a:lnTo>
                <a:lnTo>
                  <a:pt x="397248" y="253779"/>
                </a:lnTo>
                <a:lnTo>
                  <a:pt x="418837" y="258304"/>
                </a:lnTo>
                <a:lnTo>
                  <a:pt x="440598" y="261911"/>
                </a:lnTo>
                <a:lnTo>
                  <a:pt x="462492" y="264595"/>
                </a:lnTo>
                <a:lnTo>
                  <a:pt x="484480" y="266349"/>
                </a:lnTo>
                <a:lnTo>
                  <a:pt x="506523" y="267172"/>
                </a:lnTo>
                <a:lnTo>
                  <a:pt x="528581" y="267061"/>
                </a:lnTo>
                <a:lnTo>
                  <a:pt x="550614" y="266017"/>
                </a:lnTo>
                <a:lnTo>
                  <a:pt x="572584" y="264042"/>
                </a:lnTo>
                <a:lnTo>
                  <a:pt x="594450" y="261139"/>
                </a:lnTo>
                <a:lnTo>
                  <a:pt x="616174" y="257314"/>
                </a:lnTo>
                <a:lnTo>
                  <a:pt x="637716" y="252572"/>
                </a:lnTo>
                <a:lnTo>
                  <a:pt x="659039" y="246924"/>
                </a:lnTo>
                <a:lnTo>
                  <a:pt x="680103" y="240378"/>
                </a:lnTo>
                <a:lnTo>
                  <a:pt x="700872" y="232947"/>
                </a:lnTo>
                <a:lnTo>
                  <a:pt x="721308" y="224644"/>
                </a:lnTo>
                <a:lnTo>
                  <a:pt x="741374" y="215483"/>
                </a:lnTo>
                <a:lnTo>
                  <a:pt x="761034" y="205482"/>
                </a:lnTo>
                <a:lnTo>
                  <a:pt x="780254" y="194658"/>
                </a:lnTo>
                <a:lnTo>
                  <a:pt x="798998" y="183030"/>
                </a:lnTo>
                <a:lnTo>
                  <a:pt x="817234" y="170619"/>
                </a:lnTo>
                <a:lnTo>
                  <a:pt x="834928" y="157449"/>
                </a:lnTo>
                <a:lnTo>
                  <a:pt x="852049" y="143541"/>
                </a:lnTo>
                <a:lnTo>
                  <a:pt x="868567" y="128921"/>
                </a:lnTo>
                <a:lnTo>
                  <a:pt x="884451" y="113616"/>
                </a:lnTo>
                <a:lnTo>
                  <a:pt x="899673" y="97652"/>
                </a:lnTo>
                <a:lnTo>
                  <a:pt x="914206" y="81058"/>
                </a:lnTo>
                <a:close/>
              </a:path>
            </a:pathLst>
          </a:custGeom>
          <a:ln>
            <a:noFill/>
          </a:ln>
          <a:effectLst/>
          <a:gradFill rotWithShape="1">
            <a:gsLst>
              <a:gs pos="0">
                <a:srgbClr val="FFDCC4"/>
              </a:gs>
              <a:gs pos="100000">
                <a:srgbClr val="ED721D"/>
              </a:gs>
            </a:gsLst>
            <a:lin ang="5400000" scaled="1"/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575" name="573 Short CoM upper left arrow"/>
          <p:cNvSpPr/>
          <p:nvPr/>
        </p:nvSpPr>
        <p:spPr>
          <a:xfrm>
            <a:off x="12609610" y="4324870"/>
            <a:ext cx="657800" cy="898708"/>
          </a:xfrm>
          <a:custGeom>
            <a:avLst/>
            <a:gdLst/>
            <a:ahLst/>
            <a:cxnLst/>
            <a:rect l="0" t="0" r="r" b="b"/>
            <a:pathLst>
              <a:path w="657800" h="898708">
                <a:moveTo>
                  <a:pt x="37465" y="898708"/>
                </a:moveTo>
                <a:lnTo>
                  <a:pt x="28990" y="873795"/>
                </a:lnTo>
                <a:lnTo>
                  <a:pt x="21576" y="848546"/>
                </a:lnTo>
                <a:lnTo>
                  <a:pt x="15238" y="823006"/>
                </a:lnTo>
                <a:lnTo>
                  <a:pt x="9986" y="797220"/>
                </a:lnTo>
                <a:lnTo>
                  <a:pt x="5830" y="771235"/>
                </a:lnTo>
                <a:lnTo>
                  <a:pt x="2777" y="745098"/>
                </a:lnTo>
                <a:lnTo>
                  <a:pt x="832" y="718855"/>
                </a:lnTo>
                <a:lnTo>
                  <a:pt x="0" y="692554"/>
                </a:lnTo>
                <a:lnTo>
                  <a:pt x="281" y="666240"/>
                </a:lnTo>
                <a:lnTo>
                  <a:pt x="1676" y="639962"/>
                </a:lnTo>
                <a:lnTo>
                  <a:pt x="4181" y="613767"/>
                </a:lnTo>
                <a:lnTo>
                  <a:pt x="7792" y="587701"/>
                </a:lnTo>
                <a:lnTo>
                  <a:pt x="12503" y="561811"/>
                </a:lnTo>
                <a:lnTo>
                  <a:pt x="18305" y="536144"/>
                </a:lnTo>
                <a:lnTo>
                  <a:pt x="25188" y="510745"/>
                </a:lnTo>
                <a:lnTo>
                  <a:pt x="33139" y="485660"/>
                </a:lnTo>
                <a:lnTo>
                  <a:pt x="42145" y="460934"/>
                </a:lnTo>
                <a:lnTo>
                  <a:pt x="52188" y="436611"/>
                </a:lnTo>
                <a:lnTo>
                  <a:pt x="63252" y="412735"/>
                </a:lnTo>
                <a:lnTo>
                  <a:pt x="75316" y="389349"/>
                </a:lnTo>
                <a:lnTo>
                  <a:pt x="88359" y="366494"/>
                </a:lnTo>
                <a:lnTo>
                  <a:pt x="102358" y="344211"/>
                </a:lnTo>
                <a:lnTo>
                  <a:pt x="117286" y="322540"/>
                </a:lnTo>
                <a:lnTo>
                  <a:pt x="133118" y="301521"/>
                </a:lnTo>
                <a:lnTo>
                  <a:pt x="149826" y="281190"/>
                </a:lnTo>
                <a:lnTo>
                  <a:pt x="167378" y="261584"/>
                </a:lnTo>
                <a:lnTo>
                  <a:pt x="185745" y="242739"/>
                </a:lnTo>
                <a:lnTo>
                  <a:pt x="204892" y="224688"/>
                </a:lnTo>
                <a:lnTo>
                  <a:pt x="224786" y="207463"/>
                </a:lnTo>
                <a:lnTo>
                  <a:pt x="245391" y="191095"/>
                </a:lnTo>
                <a:lnTo>
                  <a:pt x="266670" y="175613"/>
                </a:lnTo>
                <a:lnTo>
                  <a:pt x="288585" y="161046"/>
                </a:lnTo>
                <a:lnTo>
                  <a:pt x="311097" y="147419"/>
                </a:lnTo>
                <a:lnTo>
                  <a:pt x="334165" y="134757"/>
                </a:lnTo>
                <a:lnTo>
                  <a:pt x="357748" y="123082"/>
                </a:lnTo>
                <a:lnTo>
                  <a:pt x="381805" y="112415"/>
                </a:lnTo>
                <a:lnTo>
                  <a:pt x="406291" y="102776"/>
                </a:lnTo>
                <a:lnTo>
                  <a:pt x="431162" y="94182"/>
                </a:lnTo>
                <a:lnTo>
                  <a:pt x="456376" y="86648"/>
                </a:lnTo>
                <a:lnTo>
                  <a:pt x="481885" y="80187"/>
                </a:lnTo>
                <a:lnTo>
                  <a:pt x="463373" y="0"/>
                </a:lnTo>
                <a:lnTo>
                  <a:pt x="657800" y="115680"/>
                </a:lnTo>
                <a:lnTo>
                  <a:pt x="520967" y="249470"/>
                </a:lnTo>
                <a:lnTo>
                  <a:pt x="504512" y="178193"/>
                </a:lnTo>
                <a:lnTo>
                  <a:pt x="483129" y="183608"/>
                </a:lnTo>
                <a:lnTo>
                  <a:pt x="461994" y="189924"/>
                </a:lnTo>
                <a:lnTo>
                  <a:pt x="441146" y="197128"/>
                </a:lnTo>
                <a:lnTo>
                  <a:pt x="420621" y="205208"/>
                </a:lnTo>
                <a:lnTo>
                  <a:pt x="400456" y="214149"/>
                </a:lnTo>
                <a:lnTo>
                  <a:pt x="380687" y="223935"/>
                </a:lnTo>
                <a:lnTo>
                  <a:pt x="361351" y="234549"/>
                </a:lnTo>
                <a:lnTo>
                  <a:pt x="342481" y="245972"/>
                </a:lnTo>
                <a:lnTo>
                  <a:pt x="324111" y="258183"/>
                </a:lnTo>
                <a:lnTo>
                  <a:pt x="306274" y="271160"/>
                </a:lnTo>
                <a:lnTo>
                  <a:pt x="289002" y="284880"/>
                </a:lnTo>
                <a:lnTo>
                  <a:pt x="272326" y="299319"/>
                </a:lnTo>
                <a:lnTo>
                  <a:pt x="256276" y="314450"/>
                </a:lnTo>
                <a:lnTo>
                  <a:pt x="240881" y="330247"/>
                </a:lnTo>
                <a:lnTo>
                  <a:pt x="226168" y="346681"/>
                </a:lnTo>
                <a:lnTo>
                  <a:pt x="212163" y="363723"/>
                </a:lnTo>
                <a:lnTo>
                  <a:pt x="198892" y="381342"/>
                </a:lnTo>
                <a:lnTo>
                  <a:pt x="186378" y="399507"/>
                </a:lnTo>
                <a:lnTo>
                  <a:pt x="174644" y="418185"/>
                </a:lnTo>
                <a:lnTo>
                  <a:pt x="163711" y="437343"/>
                </a:lnTo>
                <a:lnTo>
                  <a:pt x="153599" y="456947"/>
                </a:lnTo>
                <a:lnTo>
                  <a:pt x="144325" y="476960"/>
                </a:lnTo>
                <a:lnTo>
                  <a:pt x="135906" y="497349"/>
                </a:lnTo>
                <a:lnTo>
                  <a:pt x="128357" y="518075"/>
                </a:lnTo>
                <a:lnTo>
                  <a:pt x="121692" y="539102"/>
                </a:lnTo>
                <a:lnTo>
                  <a:pt x="115922" y="560392"/>
                </a:lnTo>
                <a:lnTo>
                  <a:pt x="111059" y="581907"/>
                </a:lnTo>
                <a:lnTo>
                  <a:pt x="107110" y="603609"/>
                </a:lnTo>
                <a:lnTo>
                  <a:pt x="104083" y="625458"/>
                </a:lnTo>
                <a:lnTo>
                  <a:pt x="101983" y="647416"/>
                </a:lnTo>
                <a:lnTo>
                  <a:pt x="100814" y="669443"/>
                </a:lnTo>
                <a:lnTo>
                  <a:pt x="100578" y="691500"/>
                </a:lnTo>
                <a:lnTo>
                  <a:pt x="101276" y="713547"/>
                </a:lnTo>
                <a:lnTo>
                  <a:pt x="102906" y="735545"/>
                </a:lnTo>
                <a:lnTo>
                  <a:pt x="105465" y="757454"/>
                </a:lnTo>
                <a:lnTo>
                  <a:pt x="108949" y="779235"/>
                </a:lnTo>
                <a:lnTo>
                  <a:pt x="113352" y="800850"/>
                </a:lnTo>
                <a:lnTo>
                  <a:pt x="118665" y="822258"/>
                </a:lnTo>
                <a:lnTo>
                  <a:pt x="124879" y="843423"/>
                </a:lnTo>
                <a:lnTo>
                  <a:pt x="131983" y="864306"/>
                </a:lnTo>
                <a:close/>
              </a:path>
            </a:pathLst>
          </a:custGeom>
          <a:ln>
            <a:noFill/>
          </a:ln>
          <a:effectLst/>
          <a:gradFill rotWithShape="1">
            <a:gsLst>
              <a:gs pos="0">
                <a:srgbClr val="FFDCC4"/>
              </a:gs>
              <a:gs pos="100000">
                <a:srgbClr val="ED721D"/>
              </a:gs>
            </a:gsLst>
            <a:lin ang="5400000" scaled="1"/>
          </a:gradFill>
        </p:spPr>
        <p:txBody>
          <a:bodyPr rtlCol="0" anchor="ctr"/>
          <a:lstStyle/>
          <a:p>
            <a:pPr algn="ctr"/>
          </a:p>
        </p:txBody>
      </p:sp>
      <p:pic>
        <p:nvPicPr>
          <p:cNvPr id="576" name="574 Short CoM brain" descr="brain_short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3057632" y="4599432"/>
            <a:ext cx="347472" cy="329184"/>
          </a:xfrm>
          <a:prstGeom prst="rect">
            <a:avLst/>
          </a:prstGeom>
        </p:spPr>
      </p:pic>
      <p:sp>
        <p:nvSpPr>
          <p:cNvPr id="577" name="575 Short CoM first line"/>
          <p:cNvSpPr txBox="1"/>
          <p:nvPr/>
        </p:nvSpPr>
        <p:spPr>
          <a:xfrm>
            <a:off x="12755880" y="4873752"/>
            <a:ext cx="877824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00000"/>
                </a:solidFill>
                <a:latin typeface="Arial"/>
                <a:ea typeface="Arial"/>
              </a:rPr>
              <a:t>Short</a:t>
            </a:r>
          </a:p>
        </p:txBody>
      </p:sp>
      <p:sp>
        <p:nvSpPr>
          <p:cNvPr id="578" name="576 Short CoM CoM"/>
          <p:cNvSpPr txBox="1"/>
          <p:nvPr/>
        </p:nvSpPr>
        <p:spPr>
          <a:xfrm>
            <a:off x="12755880" y="5129784"/>
            <a:ext cx="877824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00000"/>
                </a:solidFill>
                <a:latin typeface="Arial"/>
                <a:ea typeface="Arial"/>
              </a:rPr>
              <a:t>CoM</a:t>
            </a:r>
          </a:p>
        </p:txBody>
      </p:sp>
      <p:sp>
        <p:nvSpPr>
          <p:cNvPr id="579" name="577 Long CoM white center"/>
          <p:cNvSpPr/>
          <p:nvPr/>
        </p:nvSpPr>
        <p:spPr>
          <a:xfrm>
            <a:off x="12710160" y="7708392"/>
            <a:ext cx="1170432" cy="11704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0" name="578 Long CoM upper right arrow"/>
          <p:cNvSpPr/>
          <p:nvPr/>
        </p:nvSpPr>
        <p:spPr>
          <a:xfrm>
            <a:off x="13358895" y="7676451"/>
            <a:ext cx="619654" cy="908210"/>
          </a:xfrm>
          <a:custGeom>
            <a:avLst/>
            <a:gdLst/>
            <a:ahLst/>
            <a:cxnLst/>
            <a:rect l="0" t="0" r="r" b="b"/>
            <a:pathLst>
              <a:path w="619654" h="908210">
                <a:moveTo>
                  <a:pt x="12258" y="0"/>
                </a:moveTo>
                <a:lnTo>
                  <a:pt x="38303" y="3759"/>
                </a:lnTo>
                <a:lnTo>
                  <a:pt x="64166" y="8617"/>
                </a:lnTo>
                <a:lnTo>
                  <a:pt x="89800" y="14564"/>
                </a:lnTo>
                <a:lnTo>
                  <a:pt x="115159" y="21591"/>
                </a:lnTo>
                <a:lnTo>
                  <a:pt x="140199" y="29684"/>
                </a:lnTo>
                <a:lnTo>
                  <a:pt x="164873" y="38830"/>
                </a:lnTo>
                <a:lnTo>
                  <a:pt x="189138" y="49012"/>
                </a:lnTo>
                <a:lnTo>
                  <a:pt x="212951" y="60211"/>
                </a:lnTo>
                <a:lnTo>
                  <a:pt x="236269" y="72408"/>
                </a:lnTo>
                <a:lnTo>
                  <a:pt x="259050" y="85580"/>
                </a:lnTo>
                <a:lnTo>
                  <a:pt x="281253" y="99704"/>
                </a:lnTo>
                <a:lnTo>
                  <a:pt x="302838" y="114756"/>
                </a:lnTo>
                <a:lnTo>
                  <a:pt x="323768" y="130707"/>
                </a:lnTo>
                <a:lnTo>
                  <a:pt x="344003" y="147529"/>
                </a:lnTo>
                <a:lnTo>
                  <a:pt x="363509" y="165193"/>
                </a:lnTo>
                <a:lnTo>
                  <a:pt x="382250" y="183666"/>
                </a:lnTo>
                <a:lnTo>
                  <a:pt x="400193" y="202915"/>
                </a:lnTo>
                <a:lnTo>
                  <a:pt x="417305" y="222906"/>
                </a:lnTo>
                <a:lnTo>
                  <a:pt x="433555" y="243604"/>
                </a:lnTo>
                <a:lnTo>
                  <a:pt x="448916" y="264970"/>
                </a:lnTo>
                <a:lnTo>
                  <a:pt x="463358" y="286968"/>
                </a:lnTo>
                <a:lnTo>
                  <a:pt x="476857" y="309556"/>
                </a:lnTo>
                <a:lnTo>
                  <a:pt x="489389" y="332696"/>
                </a:lnTo>
                <a:lnTo>
                  <a:pt x="500929" y="356345"/>
                </a:lnTo>
                <a:lnTo>
                  <a:pt x="511459" y="380462"/>
                </a:lnTo>
                <a:lnTo>
                  <a:pt x="520959" y="405002"/>
                </a:lnTo>
                <a:lnTo>
                  <a:pt x="529413" y="429922"/>
                </a:lnTo>
                <a:lnTo>
                  <a:pt x="536804" y="455178"/>
                </a:lnTo>
                <a:lnTo>
                  <a:pt x="543120" y="480723"/>
                </a:lnTo>
                <a:lnTo>
                  <a:pt x="548349" y="506513"/>
                </a:lnTo>
                <a:lnTo>
                  <a:pt x="552483" y="532502"/>
                </a:lnTo>
                <a:lnTo>
                  <a:pt x="555513" y="558641"/>
                </a:lnTo>
                <a:lnTo>
                  <a:pt x="557435" y="584886"/>
                </a:lnTo>
                <a:lnTo>
                  <a:pt x="558244" y="611189"/>
                </a:lnTo>
                <a:lnTo>
                  <a:pt x="557940" y="637502"/>
                </a:lnTo>
                <a:lnTo>
                  <a:pt x="556522" y="663778"/>
                </a:lnTo>
                <a:lnTo>
                  <a:pt x="553995" y="689972"/>
                </a:lnTo>
                <a:lnTo>
                  <a:pt x="550361" y="716034"/>
                </a:lnTo>
                <a:lnTo>
                  <a:pt x="545627" y="741920"/>
                </a:lnTo>
                <a:lnTo>
                  <a:pt x="539803" y="767582"/>
                </a:lnTo>
                <a:lnTo>
                  <a:pt x="619654" y="787492"/>
                </a:lnTo>
                <a:lnTo>
                  <a:pt x="428315" y="908210"/>
                </a:lnTo>
                <a:lnTo>
                  <a:pt x="371228" y="725552"/>
                </a:lnTo>
                <a:lnTo>
                  <a:pt x="442207" y="743249"/>
                </a:lnTo>
                <a:lnTo>
                  <a:pt x="447089" y="721738"/>
                </a:lnTo>
                <a:lnTo>
                  <a:pt x="451057" y="700040"/>
                </a:lnTo>
                <a:lnTo>
                  <a:pt x="454103" y="678193"/>
                </a:lnTo>
                <a:lnTo>
                  <a:pt x="456222" y="656237"/>
                </a:lnTo>
                <a:lnTo>
                  <a:pt x="457410" y="634211"/>
                </a:lnTo>
                <a:lnTo>
                  <a:pt x="457665" y="612154"/>
                </a:lnTo>
                <a:lnTo>
                  <a:pt x="456986" y="590106"/>
                </a:lnTo>
                <a:lnTo>
                  <a:pt x="455376" y="568107"/>
                </a:lnTo>
                <a:lnTo>
                  <a:pt x="452836" y="546196"/>
                </a:lnTo>
                <a:lnTo>
                  <a:pt x="449371" y="524412"/>
                </a:lnTo>
                <a:lnTo>
                  <a:pt x="444987" y="502794"/>
                </a:lnTo>
                <a:lnTo>
                  <a:pt x="439693" y="481380"/>
                </a:lnTo>
                <a:lnTo>
                  <a:pt x="433497" y="460210"/>
                </a:lnTo>
                <a:lnTo>
                  <a:pt x="426411" y="439321"/>
                </a:lnTo>
                <a:lnTo>
                  <a:pt x="418448" y="418751"/>
                </a:lnTo>
                <a:lnTo>
                  <a:pt x="409622" y="398535"/>
                </a:lnTo>
                <a:lnTo>
                  <a:pt x="399948" y="378712"/>
                </a:lnTo>
                <a:lnTo>
                  <a:pt x="389444" y="359315"/>
                </a:lnTo>
                <a:lnTo>
                  <a:pt x="378128" y="340381"/>
                </a:lnTo>
                <a:lnTo>
                  <a:pt x="366022" y="321942"/>
                </a:lnTo>
                <a:lnTo>
                  <a:pt x="353146" y="304032"/>
                </a:lnTo>
                <a:lnTo>
                  <a:pt x="339524" y="286682"/>
                </a:lnTo>
                <a:lnTo>
                  <a:pt x="325180" y="269925"/>
                </a:lnTo>
                <a:lnTo>
                  <a:pt x="310140" y="253789"/>
                </a:lnTo>
                <a:lnTo>
                  <a:pt x="294431" y="238305"/>
                </a:lnTo>
                <a:lnTo>
                  <a:pt x="278081" y="223498"/>
                </a:lnTo>
                <a:lnTo>
                  <a:pt x="261118" y="209397"/>
                </a:lnTo>
                <a:lnTo>
                  <a:pt x="243575" y="196026"/>
                </a:lnTo>
                <a:lnTo>
                  <a:pt x="225481" y="183410"/>
                </a:lnTo>
                <a:lnTo>
                  <a:pt x="206869" y="171570"/>
                </a:lnTo>
                <a:lnTo>
                  <a:pt x="187774" y="160529"/>
                </a:lnTo>
                <a:lnTo>
                  <a:pt x="168228" y="150305"/>
                </a:lnTo>
                <a:lnTo>
                  <a:pt x="148267" y="140918"/>
                </a:lnTo>
                <a:lnTo>
                  <a:pt x="127927" y="132383"/>
                </a:lnTo>
                <a:lnTo>
                  <a:pt x="107244" y="124717"/>
                </a:lnTo>
                <a:lnTo>
                  <a:pt x="86255" y="117933"/>
                </a:lnTo>
                <a:lnTo>
                  <a:pt x="64998" y="112042"/>
                </a:lnTo>
                <a:lnTo>
                  <a:pt x="43511" y="107057"/>
                </a:lnTo>
                <a:lnTo>
                  <a:pt x="21832" y="102985"/>
                </a:lnTo>
                <a:lnTo>
                  <a:pt x="0" y="99834"/>
                </a:lnTo>
                <a:close/>
              </a:path>
            </a:pathLst>
          </a:custGeom>
          <a:ln>
            <a:noFill/>
          </a:ln>
          <a:effectLst/>
          <a:gradFill rotWithShape="1">
            <a:gsLst>
              <a:gs pos="0">
                <a:srgbClr val="FFDCC4"/>
              </a:gs>
              <a:gs pos="100000">
                <a:srgbClr val="ED721D"/>
              </a:gs>
            </a:gsLst>
            <a:lin ang="5400000" scaled="1"/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581" name="579 Long CoM lower arrow"/>
          <p:cNvSpPr/>
          <p:nvPr/>
        </p:nvSpPr>
        <p:spPr>
          <a:xfrm>
            <a:off x="12780439" y="8547576"/>
            <a:ext cx="991258" cy="367743"/>
          </a:xfrm>
          <a:custGeom>
            <a:avLst/>
            <a:gdLst/>
            <a:ahLst/>
            <a:cxnLst/>
            <a:rect l="0" t="0" r="r" b="b"/>
            <a:pathLst>
              <a:path w="991258" h="367743">
                <a:moveTo>
                  <a:pt x="991258" y="145712"/>
                </a:moveTo>
                <a:lnTo>
                  <a:pt x="973920" y="165508"/>
                </a:lnTo>
                <a:lnTo>
                  <a:pt x="955760" y="184553"/>
                </a:lnTo>
                <a:lnTo>
                  <a:pt x="936811" y="202812"/>
                </a:lnTo>
                <a:lnTo>
                  <a:pt x="917106" y="220253"/>
                </a:lnTo>
                <a:lnTo>
                  <a:pt x="896681" y="236845"/>
                </a:lnTo>
                <a:lnTo>
                  <a:pt x="875572" y="252557"/>
                </a:lnTo>
                <a:lnTo>
                  <a:pt x="853817" y="267363"/>
                </a:lnTo>
                <a:lnTo>
                  <a:pt x="831455" y="281234"/>
                </a:lnTo>
                <a:lnTo>
                  <a:pt x="808527" y="294148"/>
                </a:lnTo>
                <a:lnTo>
                  <a:pt x="785072" y="306079"/>
                </a:lnTo>
                <a:lnTo>
                  <a:pt x="761134" y="317007"/>
                </a:lnTo>
                <a:lnTo>
                  <a:pt x="736754" y="326913"/>
                </a:lnTo>
                <a:lnTo>
                  <a:pt x="711978" y="335778"/>
                </a:lnTo>
                <a:lnTo>
                  <a:pt x="686848" y="343587"/>
                </a:lnTo>
                <a:lnTo>
                  <a:pt x="661411" y="350326"/>
                </a:lnTo>
                <a:lnTo>
                  <a:pt x="635711" y="355982"/>
                </a:lnTo>
                <a:lnTo>
                  <a:pt x="609795" y="360546"/>
                </a:lnTo>
                <a:lnTo>
                  <a:pt x="583709" y="364009"/>
                </a:lnTo>
                <a:lnTo>
                  <a:pt x="557499" y="366366"/>
                </a:lnTo>
                <a:lnTo>
                  <a:pt x="531214" y="367611"/>
                </a:lnTo>
                <a:lnTo>
                  <a:pt x="504899" y="367743"/>
                </a:lnTo>
                <a:lnTo>
                  <a:pt x="478603" y="366761"/>
                </a:lnTo>
                <a:lnTo>
                  <a:pt x="452371" y="364668"/>
                </a:lnTo>
                <a:lnTo>
                  <a:pt x="426252" y="361467"/>
                </a:lnTo>
                <a:lnTo>
                  <a:pt x="400291" y="357163"/>
                </a:lnTo>
                <a:lnTo>
                  <a:pt x="374536" y="351765"/>
                </a:lnTo>
                <a:lnTo>
                  <a:pt x="349032" y="345282"/>
                </a:lnTo>
                <a:lnTo>
                  <a:pt x="323825" y="337726"/>
                </a:lnTo>
                <a:lnTo>
                  <a:pt x="298961" y="329110"/>
                </a:lnTo>
                <a:lnTo>
                  <a:pt x="274484" y="319449"/>
                </a:lnTo>
                <a:lnTo>
                  <a:pt x="250437" y="308762"/>
                </a:lnTo>
                <a:lnTo>
                  <a:pt x="226864" y="297066"/>
                </a:lnTo>
                <a:lnTo>
                  <a:pt x="203806" y="284384"/>
                </a:lnTo>
                <a:lnTo>
                  <a:pt x="181307" y="270737"/>
                </a:lnTo>
                <a:lnTo>
                  <a:pt x="159404" y="256151"/>
                </a:lnTo>
                <a:lnTo>
                  <a:pt x="138139" y="240651"/>
                </a:lnTo>
                <a:lnTo>
                  <a:pt x="117548" y="224265"/>
                </a:lnTo>
                <a:lnTo>
                  <a:pt x="97669" y="207023"/>
                </a:lnTo>
                <a:lnTo>
                  <a:pt x="78537" y="188955"/>
                </a:lnTo>
                <a:lnTo>
                  <a:pt x="60187" y="170093"/>
                </a:lnTo>
                <a:lnTo>
                  <a:pt x="0" y="226219"/>
                </a:lnTo>
                <a:lnTo>
                  <a:pt x="2968" y="0"/>
                </a:lnTo>
                <a:lnTo>
                  <a:pt x="187250" y="51605"/>
                </a:lnTo>
                <a:lnTo>
                  <a:pt x="133750" y="101495"/>
                </a:lnTo>
                <a:lnTo>
                  <a:pt x="149132" y="117305"/>
                </a:lnTo>
                <a:lnTo>
                  <a:pt x="165168" y="132451"/>
                </a:lnTo>
                <a:lnTo>
                  <a:pt x="181832" y="146904"/>
                </a:lnTo>
                <a:lnTo>
                  <a:pt x="199091" y="160639"/>
                </a:lnTo>
                <a:lnTo>
                  <a:pt x="216917" y="173632"/>
                </a:lnTo>
                <a:lnTo>
                  <a:pt x="235276" y="185859"/>
                </a:lnTo>
                <a:lnTo>
                  <a:pt x="254136" y="197298"/>
                </a:lnTo>
                <a:lnTo>
                  <a:pt x="273464" y="207928"/>
                </a:lnTo>
                <a:lnTo>
                  <a:pt x="293224" y="217732"/>
                </a:lnTo>
                <a:lnTo>
                  <a:pt x="313381" y="226690"/>
                </a:lnTo>
                <a:lnTo>
                  <a:pt x="333898" y="234788"/>
                </a:lnTo>
                <a:lnTo>
                  <a:pt x="354741" y="242011"/>
                </a:lnTo>
                <a:lnTo>
                  <a:pt x="375870" y="248345"/>
                </a:lnTo>
                <a:lnTo>
                  <a:pt x="397248" y="253779"/>
                </a:lnTo>
                <a:lnTo>
                  <a:pt x="418837" y="258304"/>
                </a:lnTo>
                <a:lnTo>
                  <a:pt x="440598" y="261911"/>
                </a:lnTo>
                <a:lnTo>
                  <a:pt x="462492" y="264595"/>
                </a:lnTo>
                <a:lnTo>
                  <a:pt x="484480" y="266349"/>
                </a:lnTo>
                <a:lnTo>
                  <a:pt x="506523" y="267172"/>
                </a:lnTo>
                <a:lnTo>
                  <a:pt x="528581" y="267061"/>
                </a:lnTo>
                <a:lnTo>
                  <a:pt x="550614" y="266017"/>
                </a:lnTo>
                <a:lnTo>
                  <a:pt x="572584" y="264042"/>
                </a:lnTo>
                <a:lnTo>
                  <a:pt x="594450" y="261139"/>
                </a:lnTo>
                <a:lnTo>
                  <a:pt x="616174" y="257314"/>
                </a:lnTo>
                <a:lnTo>
                  <a:pt x="637716" y="252572"/>
                </a:lnTo>
                <a:lnTo>
                  <a:pt x="659039" y="246924"/>
                </a:lnTo>
                <a:lnTo>
                  <a:pt x="680103" y="240378"/>
                </a:lnTo>
                <a:lnTo>
                  <a:pt x="700872" y="232947"/>
                </a:lnTo>
                <a:lnTo>
                  <a:pt x="721308" y="224644"/>
                </a:lnTo>
                <a:lnTo>
                  <a:pt x="741374" y="215483"/>
                </a:lnTo>
                <a:lnTo>
                  <a:pt x="761034" y="205482"/>
                </a:lnTo>
                <a:lnTo>
                  <a:pt x="780254" y="194658"/>
                </a:lnTo>
                <a:lnTo>
                  <a:pt x="798998" y="183030"/>
                </a:lnTo>
                <a:lnTo>
                  <a:pt x="817234" y="170619"/>
                </a:lnTo>
                <a:lnTo>
                  <a:pt x="834928" y="157449"/>
                </a:lnTo>
                <a:lnTo>
                  <a:pt x="852049" y="143541"/>
                </a:lnTo>
                <a:lnTo>
                  <a:pt x="868567" y="128921"/>
                </a:lnTo>
                <a:lnTo>
                  <a:pt x="884451" y="113616"/>
                </a:lnTo>
                <a:lnTo>
                  <a:pt x="899673" y="97652"/>
                </a:lnTo>
                <a:lnTo>
                  <a:pt x="914206" y="81058"/>
                </a:lnTo>
                <a:close/>
              </a:path>
            </a:pathLst>
          </a:custGeom>
          <a:ln>
            <a:noFill/>
          </a:ln>
          <a:effectLst/>
          <a:gradFill rotWithShape="1">
            <a:gsLst>
              <a:gs pos="0">
                <a:srgbClr val="FFDCC4"/>
              </a:gs>
              <a:gs pos="100000">
                <a:srgbClr val="ED721D"/>
              </a:gs>
            </a:gsLst>
            <a:lin ang="5400000" scaled="1"/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582" name="580 Long CoM upper left arrow"/>
          <p:cNvSpPr/>
          <p:nvPr/>
        </p:nvSpPr>
        <p:spPr>
          <a:xfrm>
            <a:off x="12673618" y="7607566"/>
            <a:ext cx="657800" cy="898708"/>
          </a:xfrm>
          <a:custGeom>
            <a:avLst/>
            <a:gdLst/>
            <a:ahLst/>
            <a:cxnLst/>
            <a:rect l="0" t="0" r="r" b="b"/>
            <a:pathLst>
              <a:path w="657800" h="898708">
                <a:moveTo>
                  <a:pt x="37465" y="898708"/>
                </a:moveTo>
                <a:lnTo>
                  <a:pt x="28990" y="873795"/>
                </a:lnTo>
                <a:lnTo>
                  <a:pt x="21576" y="848546"/>
                </a:lnTo>
                <a:lnTo>
                  <a:pt x="15238" y="823006"/>
                </a:lnTo>
                <a:lnTo>
                  <a:pt x="9986" y="797220"/>
                </a:lnTo>
                <a:lnTo>
                  <a:pt x="5830" y="771235"/>
                </a:lnTo>
                <a:lnTo>
                  <a:pt x="2777" y="745098"/>
                </a:lnTo>
                <a:lnTo>
                  <a:pt x="832" y="718855"/>
                </a:lnTo>
                <a:lnTo>
                  <a:pt x="0" y="692554"/>
                </a:lnTo>
                <a:lnTo>
                  <a:pt x="281" y="666240"/>
                </a:lnTo>
                <a:lnTo>
                  <a:pt x="1676" y="639962"/>
                </a:lnTo>
                <a:lnTo>
                  <a:pt x="4181" y="613767"/>
                </a:lnTo>
                <a:lnTo>
                  <a:pt x="7792" y="587701"/>
                </a:lnTo>
                <a:lnTo>
                  <a:pt x="12503" y="561811"/>
                </a:lnTo>
                <a:lnTo>
                  <a:pt x="18305" y="536144"/>
                </a:lnTo>
                <a:lnTo>
                  <a:pt x="25188" y="510745"/>
                </a:lnTo>
                <a:lnTo>
                  <a:pt x="33139" y="485660"/>
                </a:lnTo>
                <a:lnTo>
                  <a:pt x="42145" y="460934"/>
                </a:lnTo>
                <a:lnTo>
                  <a:pt x="52188" y="436611"/>
                </a:lnTo>
                <a:lnTo>
                  <a:pt x="63252" y="412735"/>
                </a:lnTo>
                <a:lnTo>
                  <a:pt x="75316" y="389349"/>
                </a:lnTo>
                <a:lnTo>
                  <a:pt x="88359" y="366494"/>
                </a:lnTo>
                <a:lnTo>
                  <a:pt x="102358" y="344211"/>
                </a:lnTo>
                <a:lnTo>
                  <a:pt x="117286" y="322540"/>
                </a:lnTo>
                <a:lnTo>
                  <a:pt x="133118" y="301521"/>
                </a:lnTo>
                <a:lnTo>
                  <a:pt x="149826" y="281190"/>
                </a:lnTo>
                <a:lnTo>
                  <a:pt x="167378" y="261584"/>
                </a:lnTo>
                <a:lnTo>
                  <a:pt x="185745" y="242739"/>
                </a:lnTo>
                <a:lnTo>
                  <a:pt x="204892" y="224688"/>
                </a:lnTo>
                <a:lnTo>
                  <a:pt x="224786" y="207463"/>
                </a:lnTo>
                <a:lnTo>
                  <a:pt x="245391" y="191095"/>
                </a:lnTo>
                <a:lnTo>
                  <a:pt x="266670" y="175613"/>
                </a:lnTo>
                <a:lnTo>
                  <a:pt x="288585" y="161046"/>
                </a:lnTo>
                <a:lnTo>
                  <a:pt x="311097" y="147419"/>
                </a:lnTo>
                <a:lnTo>
                  <a:pt x="334165" y="134757"/>
                </a:lnTo>
                <a:lnTo>
                  <a:pt x="357748" y="123082"/>
                </a:lnTo>
                <a:lnTo>
                  <a:pt x="381805" y="112415"/>
                </a:lnTo>
                <a:lnTo>
                  <a:pt x="406291" y="102776"/>
                </a:lnTo>
                <a:lnTo>
                  <a:pt x="431162" y="94182"/>
                </a:lnTo>
                <a:lnTo>
                  <a:pt x="456376" y="86648"/>
                </a:lnTo>
                <a:lnTo>
                  <a:pt x="481885" y="80187"/>
                </a:lnTo>
                <a:lnTo>
                  <a:pt x="463373" y="0"/>
                </a:lnTo>
                <a:lnTo>
                  <a:pt x="657800" y="115680"/>
                </a:lnTo>
                <a:lnTo>
                  <a:pt x="520967" y="249470"/>
                </a:lnTo>
                <a:lnTo>
                  <a:pt x="504512" y="178193"/>
                </a:lnTo>
                <a:lnTo>
                  <a:pt x="483129" y="183608"/>
                </a:lnTo>
                <a:lnTo>
                  <a:pt x="461994" y="189924"/>
                </a:lnTo>
                <a:lnTo>
                  <a:pt x="441146" y="197128"/>
                </a:lnTo>
                <a:lnTo>
                  <a:pt x="420621" y="205208"/>
                </a:lnTo>
                <a:lnTo>
                  <a:pt x="400456" y="214149"/>
                </a:lnTo>
                <a:lnTo>
                  <a:pt x="380687" y="223935"/>
                </a:lnTo>
                <a:lnTo>
                  <a:pt x="361351" y="234549"/>
                </a:lnTo>
                <a:lnTo>
                  <a:pt x="342481" y="245972"/>
                </a:lnTo>
                <a:lnTo>
                  <a:pt x="324111" y="258183"/>
                </a:lnTo>
                <a:lnTo>
                  <a:pt x="306274" y="271160"/>
                </a:lnTo>
                <a:lnTo>
                  <a:pt x="289002" y="284880"/>
                </a:lnTo>
                <a:lnTo>
                  <a:pt x="272326" y="299319"/>
                </a:lnTo>
                <a:lnTo>
                  <a:pt x="256276" y="314450"/>
                </a:lnTo>
                <a:lnTo>
                  <a:pt x="240881" y="330247"/>
                </a:lnTo>
                <a:lnTo>
                  <a:pt x="226168" y="346681"/>
                </a:lnTo>
                <a:lnTo>
                  <a:pt x="212163" y="363723"/>
                </a:lnTo>
                <a:lnTo>
                  <a:pt x="198892" y="381342"/>
                </a:lnTo>
                <a:lnTo>
                  <a:pt x="186378" y="399507"/>
                </a:lnTo>
                <a:lnTo>
                  <a:pt x="174644" y="418185"/>
                </a:lnTo>
                <a:lnTo>
                  <a:pt x="163711" y="437343"/>
                </a:lnTo>
                <a:lnTo>
                  <a:pt x="153599" y="456947"/>
                </a:lnTo>
                <a:lnTo>
                  <a:pt x="144325" y="476960"/>
                </a:lnTo>
                <a:lnTo>
                  <a:pt x="135906" y="497349"/>
                </a:lnTo>
                <a:lnTo>
                  <a:pt x="128357" y="518075"/>
                </a:lnTo>
                <a:lnTo>
                  <a:pt x="121692" y="539102"/>
                </a:lnTo>
                <a:lnTo>
                  <a:pt x="115922" y="560392"/>
                </a:lnTo>
                <a:lnTo>
                  <a:pt x="111059" y="581907"/>
                </a:lnTo>
                <a:lnTo>
                  <a:pt x="107110" y="603609"/>
                </a:lnTo>
                <a:lnTo>
                  <a:pt x="104083" y="625458"/>
                </a:lnTo>
                <a:lnTo>
                  <a:pt x="101983" y="647416"/>
                </a:lnTo>
                <a:lnTo>
                  <a:pt x="100814" y="669443"/>
                </a:lnTo>
                <a:lnTo>
                  <a:pt x="100578" y="691500"/>
                </a:lnTo>
                <a:lnTo>
                  <a:pt x="101276" y="713547"/>
                </a:lnTo>
                <a:lnTo>
                  <a:pt x="102906" y="735545"/>
                </a:lnTo>
                <a:lnTo>
                  <a:pt x="105465" y="757454"/>
                </a:lnTo>
                <a:lnTo>
                  <a:pt x="108949" y="779235"/>
                </a:lnTo>
                <a:lnTo>
                  <a:pt x="113352" y="800850"/>
                </a:lnTo>
                <a:lnTo>
                  <a:pt x="118665" y="822258"/>
                </a:lnTo>
                <a:lnTo>
                  <a:pt x="124879" y="843423"/>
                </a:lnTo>
                <a:lnTo>
                  <a:pt x="131983" y="864306"/>
                </a:lnTo>
                <a:close/>
              </a:path>
            </a:pathLst>
          </a:custGeom>
          <a:ln>
            <a:noFill/>
          </a:ln>
          <a:effectLst/>
          <a:gradFill rotWithShape="1">
            <a:gsLst>
              <a:gs pos="0">
                <a:srgbClr val="FFDCC4"/>
              </a:gs>
              <a:gs pos="100000">
                <a:srgbClr val="ED721D"/>
              </a:gs>
            </a:gsLst>
            <a:lin ang="5400000" scaled="1"/>
          </a:gradFill>
        </p:spPr>
        <p:txBody>
          <a:bodyPr rtlCol="0" anchor="ctr"/>
          <a:lstStyle/>
          <a:p>
            <a:pPr algn="ctr"/>
          </a:p>
        </p:txBody>
      </p:sp>
      <p:pic>
        <p:nvPicPr>
          <p:cNvPr id="583" name="581 Long CoM brain" descr="brain_long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3121640" y="7882128"/>
            <a:ext cx="347472" cy="329184"/>
          </a:xfrm>
          <a:prstGeom prst="rect">
            <a:avLst/>
          </a:prstGeom>
        </p:spPr>
      </p:pic>
      <p:sp>
        <p:nvSpPr>
          <p:cNvPr id="584" name="582 Long CoM first line"/>
          <p:cNvSpPr txBox="1"/>
          <p:nvPr/>
        </p:nvSpPr>
        <p:spPr>
          <a:xfrm>
            <a:off x="12819888" y="8156448"/>
            <a:ext cx="877824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00000"/>
                </a:solidFill>
                <a:latin typeface="Arial"/>
                <a:ea typeface="Arial"/>
              </a:rPr>
              <a:t>Long</a:t>
            </a:r>
          </a:p>
        </p:txBody>
      </p:sp>
      <p:sp>
        <p:nvSpPr>
          <p:cNvPr id="585" name="583 Long CoM CoM"/>
          <p:cNvSpPr txBox="1"/>
          <p:nvPr/>
        </p:nvSpPr>
        <p:spPr>
          <a:xfrm>
            <a:off x="12819888" y="8412480"/>
            <a:ext cx="877824" cy="2852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00000"/>
                </a:solidFill>
                <a:latin typeface="Arial"/>
                <a:ea typeface="Arial"/>
              </a:rPr>
              <a:t>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PANDA Towards Generalist Video Anomaly Detection via Agentic AI Engineer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21072" cy="115580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 — Generalist Video Anomaly Detection</dc:title>
  <dc:subject>Editable reconstruction from supplied reference diagram</dc:subject>
  <dc:creator/>
  <cp:keywords>PANDA, video anomaly detection, editable diagram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